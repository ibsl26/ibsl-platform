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95" r:id="rId27"/>
    <p:sldId id="296" r:id="rId36"/>
    <p:sldId id="297" r:id="rId37"/>
    <p:sldId id="298" r:id="rId38"/>
    <p:sldId id="299" r:id="rId39"/>
    <p:sldId id="262" r:id="rId8"/>
    <p:sldId id="300" r:id="rId40"/>
    <p:sldId id="301" r:id="rId41"/>
    <p:sldId id="291" r:id="rId12"/>
    <p:sldId id="265" r:id="rId13"/>
    <p:sldId id="266" r:id="rId14"/>
    <p:sldId id="302" r:id="rId42"/>
    <p:sldId id="267" r:id="rId15"/>
    <p:sldId id="303" r:id="rId43"/>
    <p:sldId id="270" r:id="rId18"/>
    <p:sldId id="271" r:id="rId19"/>
    <p:sldId id="304" r:id="rId44"/>
    <p:sldId id="274" r:id="rId21"/>
    <p:sldId id="305" r:id="rId45"/>
    <p:sldId id="275" r:id="rId22"/>
    <p:sldId id="306" r:id="rId46"/>
    <p:sldId id="307" r:id="rId47"/>
    <p:sldId id="308" r:id="rId48"/>
    <p:sldId id="279" r:id="rId24"/>
    <p:sldId id="280" r:id="rId25"/>
    <p:sldId id="293" r:id="rId34"/>
    <p:sldId id="309" r:id="rId35"/>
    <p:sldId id="283"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48796" autoAdjust="0"/>
  </p:normalViewPr>
  <p:slideViewPr>
    <p:cSldViewPr snapToGrid="0" snapToObjects="1">
      <p:cViewPr>
        <p:scale>
          <a:sx n="57" d="100"/>
          <a:sy n="57" d="100"/>
        </p:scale>
        <p:origin x="806" y="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12.xml"/><Relationship Id="rId12" Type="http://schemas.openxmlformats.org/officeDocument/2006/relationships/slide" Target="slides/slide15.xml"/><Relationship Id="rId13" Type="http://schemas.openxmlformats.org/officeDocument/2006/relationships/slide" Target="slides/slide16.xml"/><Relationship Id="rId14" Type="http://schemas.openxmlformats.org/officeDocument/2006/relationships/slide" Target="slides/slide17.xml"/><Relationship Id="rId15" Type="http://schemas.openxmlformats.org/officeDocument/2006/relationships/slide" Target="slides/slide19.xml"/><Relationship Id="rId18" Type="http://schemas.openxmlformats.org/officeDocument/2006/relationships/slide" Target="slides/slide21.xml"/><Relationship Id="rId19" Type="http://schemas.openxmlformats.org/officeDocument/2006/relationships/slide" Target="slides/slide22.xml"/><Relationship Id="rId21" Type="http://schemas.openxmlformats.org/officeDocument/2006/relationships/slide" Target="slides/slide24.xml"/><Relationship Id="rId22" Type="http://schemas.openxmlformats.org/officeDocument/2006/relationships/slide" Target="slides/slide26.xml"/><Relationship Id="rId24" Type="http://schemas.openxmlformats.org/officeDocument/2006/relationships/slide" Target="slides/slide30.xml"/><Relationship Id="rId25" Type="http://schemas.openxmlformats.org/officeDocument/2006/relationships/slide" Target="slides/slide31.xml"/><Relationship Id="rId27" Type="http://schemas.openxmlformats.org/officeDocument/2006/relationships/slide" Target="slides/slide7.xml"/><Relationship Id="rId28" Type="http://schemas.openxmlformats.org/officeDocument/2006/relationships/slide" Target="slides/slide34.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8.xml"/><Relationship Id="rId37" Type="http://schemas.openxmlformats.org/officeDocument/2006/relationships/slide" Target="slides/slide9.xml"/><Relationship Id="rId38" Type="http://schemas.openxmlformats.org/officeDocument/2006/relationships/slide" Target="slides/slide10.xml"/><Relationship Id="rId39" Type="http://schemas.openxmlformats.org/officeDocument/2006/relationships/slide" Target="slides/slide11.xml"/><Relationship Id="rId40" Type="http://schemas.openxmlformats.org/officeDocument/2006/relationships/slide" Target="slides/slide13.xml"/><Relationship Id="rId41" Type="http://schemas.openxmlformats.org/officeDocument/2006/relationships/slide" Target="slides/slide14.xml"/><Relationship Id="rId42" Type="http://schemas.openxmlformats.org/officeDocument/2006/relationships/slide" Target="slides/slide18.xml"/><Relationship Id="rId43" Type="http://schemas.openxmlformats.org/officeDocument/2006/relationships/slide" Target="slides/slide20.xml"/><Relationship Id="rId44" Type="http://schemas.openxmlformats.org/officeDocument/2006/relationships/slide" Target="slides/slide23.xml"/><Relationship Id="rId45" Type="http://schemas.openxmlformats.org/officeDocument/2006/relationships/slide" Target="slides/slide25.xml"/><Relationship Id="rId46" Type="http://schemas.openxmlformats.org/officeDocument/2006/relationships/slide" Target="slides/slide27.xml"/><Relationship Id="rId47" Type="http://schemas.openxmlformats.org/officeDocument/2006/relationships/slide" Target="slides/slide28.xml"/><Relationship Id="rId48"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5949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UNIT 6 · PERFORMANCE MANAGEMENT SETUP</a:t>
            </a:r>
          </a:p>
          <a:p>
            <a:r>
              <a:rPr lang="en-GB" dirty="0"/>
              <a:t>Module 3 · Influence · Unit 6</a:t>
            </a:r>
          </a:p>
          <a:p>
            <a:endParaRPr lang="en-GB" dirty="0"/>
          </a:p>
          <a:p>
            <a:r>
              <a:rPr lang="en-GB" b="1" dirty="0"/>
              <a:t>HOW TO USE THIS SLIDE:</a:t>
            </a:r>
          </a:p>
          <a:p>
            <a:endParaRPr lang="en-GB" dirty="0"/>
          </a:p>
          <a:p>
            <a:r>
              <a:rPr lang="en-GB" b="1" dirty="0"/>
              <a:t>1. Open the unit with its intent.</a:t>
            </a:r>
          </a:p>
          <a:p>
            <a:r>
              <a:rPr lang="en-GB" dirty="0"/>
              <a:t>Unit 6 sets up enterprise performance management on two operating systems: people performance, what people deliver (the Human Operating System), and organisational performance, what the organisation enables through its organisational conditions (the Organisational Operating System).</a:t>
            </a:r>
          </a:p>
          <a:p>
            <a:r>
              <a:rPr lang="en-GB" dirty="0"/>
              <a:t>Participants learn the S2R® Contribution Map™, which connects an enterprise Key Result to the contributions of business functions, people and organisational conditions, and FACES, the five functions through which those contributions are managed. In Section 5 each group builds both for its own Capstone strategy.</a:t>
            </a:r>
          </a:p>
          <a:p>
            <a:endParaRPr lang="en-GB" dirty="0"/>
          </a:p>
          <a:p>
            <a:r>
              <a:rPr lang="en-GB" b="1" dirty="0"/>
              <a:t>2. Set the tone.</a:t>
            </a:r>
          </a:p>
          <a:p>
            <a:r>
              <a:rPr lang="en-GB" dirty="0"/>
              <a:t>Avoid: turning the Contribution Map or FACES into a compliance checklist. They are design and management tools.</a:t>
            </a:r>
          </a:p>
          <a:p>
            <a:r>
              <a:rPr lang="en-GB" dirty="0"/>
              <a:t>Keep in view: a missed target is evidence of a performance gap; it does not establish its cause.</a:t>
            </a:r>
          </a:p>
          <a:p>
            <a:r>
              <a:rPr lang="en-GB" dirty="0"/>
              <a:t>Probe leaders who equate "we have a scorecard" with "we have a PM system": "What happens after you look at the scorecard? What changes? Who decides what?"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KEY LEARNING OUTCOMES (identical in the participant and facilitator files)</a:t>
            </a:r>
          </a:p>
          <a:p>
            <a:endParaRPr lang="en-GB" dirty="0"/>
          </a:p>
          <a:p>
            <a:r>
              <a:rPr lang="en-GB" b="1" dirty="0"/>
              <a:t>HOW TO USE THIS SLIDE:</a:t>
            </a:r>
          </a:p>
          <a:p>
            <a:endParaRPr lang="en-GB" dirty="0"/>
          </a:p>
          <a:p>
            <a:r>
              <a:rPr lang="en-GB" b="1" dirty="0"/>
              <a:t>1. Read the four outcomes.</a:t>
            </a:r>
          </a:p>
          <a:p>
            <a:r>
              <a:rPr lang="en-GB" dirty="0"/>
              <a:t>1. Evaluate and improve performance management arrangements against strategic priorities.</a:t>
            </a:r>
          </a:p>
          <a:p>
            <a:r>
              <a:rPr lang="en-GB" dirty="0"/>
              <a:t>2. Integrate enterprise results, leadership accountability and performance evidence into a coherent management system.</a:t>
            </a:r>
          </a:p>
          <a:p>
            <a:r>
              <a:rPr lang="en-GB" dirty="0"/>
              <a:t>3. Apply consistent executive judgement to performance status and its strategic implications.</a:t>
            </a:r>
          </a:p>
          <a:p>
            <a:r>
              <a:rPr lang="en-GB" dirty="0"/>
              <a:t>4. Use performance insight to improve accountability, decisions and organisational responsiveness.</a:t>
            </a:r>
          </a:p>
          <a:p>
            <a:endParaRPr lang="en-GB" dirty="0"/>
          </a:p>
          <a:p>
            <a:r>
              <a:rPr lang="en-GB" dirty="0"/>
              <a:t>Each section slide carries that section’s learning outcomes.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THE UNIT JOURNEY</a:t>
            </a:r>
          </a:p>
          <a:p>
            <a:endParaRPr lang="en-GB" dirty="0"/>
          </a:p>
          <a:p>
            <a:r>
              <a:rPr lang="en-GB" b="1" dirty="0"/>
              <a:t>HOW TO USE THIS SLIDE:</a:t>
            </a:r>
          </a:p>
          <a:p>
            <a:endParaRPr lang="en-GB" dirty="0"/>
          </a:p>
          <a:p>
            <a:r>
              <a:rPr lang="en-GB" b="1" dirty="0"/>
              <a:t>1. Walk the five sections.</a:t>
            </a:r>
          </a:p>
          <a:p>
            <a:r>
              <a:rPr lang="en-GB" dirty="0"/>
              <a:t>Section 1 · Awareness: measurement and management, people performance and organisational performance, the S2R® Contribution Map™ and FACES.</a:t>
            </a:r>
          </a:p>
          <a:p>
            <a:r>
              <a:rPr lang="en-GB" dirty="0"/>
              <a:t>Section 2 · Intelligence: performance management as the execution bridge, and compliance and commitment architecture.</a:t>
            </a:r>
          </a:p>
          <a:p>
            <a:r>
              <a:rPr lang="en-GB" dirty="0"/>
              <a:t>Section 3 · Extrapolating: executive performance perspectives and the continuous performance management shift.</a:t>
            </a:r>
          </a:p>
          <a:p>
            <a:r>
              <a:rPr lang="en-GB" dirty="0"/>
              <a:t>Section 4 · Integration: one worked example that maps the contributions to an enterprise Key Result and manages them through FACES.</a:t>
            </a:r>
          </a:p>
          <a:p>
            <a:r>
              <a:rPr lang="en-GB" dirty="0"/>
              <a:t>Section 5 · Application: each group builds its own Contribution Map and FACES application, as Capstone work.</a:t>
            </a:r>
          </a:p>
          <a:p>
            <a:endParaRPr lang="en-GB" dirty="0"/>
          </a:p>
          <a:p>
            <a:r>
              <a:rPr lang="en-GB" b="1" dirty="0"/>
              <a:t>2. Name the questions the unit keeps asking.</a:t>
            </a:r>
          </a:p>
          <a:p>
            <a:r>
              <a:rPr lang="en-GB" dirty="0"/>
              <a:t>"If your organisation stopped producing its performance reports tomorrow, which decisions would leaders no longer be able to make?"</a:t>
            </a:r>
          </a:p>
          <a:p>
            <a:r>
              <a:rPr lang="en-GB" dirty="0"/>
              <a:t>"When a target is missed, how do you distinguish an individual contribution problem from an organisational delivery problem?"</a:t>
            </a:r>
          </a:p>
          <a:p>
            <a:r>
              <a:rPr lang="en-GB" dirty="0"/>
              <a:t>"If employees are meeting their performance commitments but system outages continue to delay customer resolution, who must take responsibility for the performance gap?"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1 · AWARENESS — WHAT</a:t>
            </a:r>
          </a:p>
          <a:p>
            <a:r>
              <a:rPr lang="en-GB" dirty="0"/>
              <a:t>Foundations of Enterprise Performance Management System Design</a:t>
            </a:r>
          </a:p>
          <a:p>
            <a:r>
              <a:rPr lang="en-GB" dirty="0"/>
              <a:t>What performance management must manage: the contribution of people and the conditions the organisation provides, connected to enterprise results.</a:t>
            </a:r>
          </a:p>
          <a:p>
            <a:endParaRPr lang="en-GB" dirty="0"/>
          </a:p>
          <a:p>
            <a:r>
              <a:rPr lang="en-GB" b="1" dirty="0"/>
              <a:t>Section learning outcomes:</a:t>
            </a:r>
          </a:p>
          <a:p>
            <a:r>
              <a:rPr lang="en-GB" dirty="0"/>
              <a:t>1. Convert performance evidence into accountable decisions and follow-through.</a:t>
            </a:r>
          </a:p>
          <a:p>
            <a:r>
              <a:rPr lang="en-GB" dirty="0"/>
              <a:t>2. Manage human contributions and organisational conditions as interdependent drivers of results.</a:t>
            </a:r>
          </a:p>
          <a:p>
            <a:endParaRPr lang="en-GB" dirty="0"/>
          </a:p>
          <a:p>
            <a:r>
              <a:rPr lang="en-GB" b="1" dirty="0"/>
              <a:t>HOW TO TEACH IT:</a:t>
            </a:r>
          </a:p>
          <a:p>
            <a:endParaRPr lang="en-GB" dirty="0"/>
          </a:p>
          <a:p>
            <a:r>
              <a:rPr lang="en-GB" b="1" dirty="0"/>
              <a:t>1. Frame the section.</a:t>
            </a:r>
          </a:p>
          <a:p>
            <a:r>
              <a:rPr lang="en-GB" dirty="0"/>
              <a:t>Say: "This section sets the foundations: what performance management is, people performance and organisational performance behind enterprise performance, the S2R® Contribution Map™ that connects them to an enterprise result, and FACES, the five functions that manage them."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1.1 — MEASUREMENT VS MANAGEMENT (The core distinction)</a:t>
            </a:r>
          </a:p>
          <a:p>
            <a:endParaRPr lang="en-GB" dirty="0"/>
          </a:p>
          <a:p>
            <a:r>
              <a:rPr lang="en-GB" b="1" dirty="0"/>
              <a:t>HOW TO TEACH IT:</a:t>
            </a:r>
          </a:p>
          <a:p>
            <a:endParaRPr lang="en-GB" dirty="0"/>
          </a:p>
          <a:p>
            <a:r>
              <a:rPr lang="en-GB" b="1" dirty="0"/>
              <a:t>1. Reframe performance management before you define it.</a:t>
            </a:r>
          </a:p>
          <a:p>
            <a:r>
              <a:rPr lang="en-GB" dirty="0"/>
              <a:t>Ask leaders to clear their minds of the words "surveillance" and "pressure" and to picture the dashboard of a high-performance vehicle. A dashboard gives the driver accurate, real-time information so that they can make better decisions: whether to accelerate, adjust course, or pull over and refuel. It passes no judgement on the driver. The performance management system is the organisational equivalent: the visibility infrastructure of strategy execution.</a:t>
            </a:r>
          </a:p>
          <a:p>
            <a:endParaRPr lang="en-GB" dirty="0"/>
          </a:p>
          <a:p>
            <a:r>
              <a:rPr lang="en-GB" b="1" dirty="0"/>
              <a:t>2. Teach the distinction.</a:t>
            </a:r>
          </a:p>
          <a:p>
            <a:r>
              <a:rPr lang="en-GB" dirty="0"/>
              <a:t>Say: "Performance management (PM) and performance measurement are distinct disciplines. Measurement answers: What happened? It provides data, results, scores and dashboards. Management answers: What do we do about it? It establishes the conversations, decisions, actions and accountability through which leaders respond to that evidence."</a:t>
            </a:r>
          </a:p>
          <a:p>
            <a:endParaRPr lang="en-GB" dirty="0"/>
          </a:p>
          <a:p>
            <a:r>
              <a:rPr lang="en-GB" b="1" dirty="0"/>
              <a:t>3. Give the example.</a:t>
            </a:r>
          </a:p>
          <a:p>
            <a:r>
              <a:rPr lang="en-GB" dirty="0"/>
              <a:t>Say: "An organisation can measure a missed service target accurately without managing the cause. A dashboard may show that customer requests take twelve days against a standard of five. Effective management asks whether the delay reflects unclear individual expectations, insufficient capacity, a broken hand-off, slow approval rights, or a combination. Each explanation calls for a different response."</a:t>
            </a:r>
          </a:p>
          <a:p>
            <a:endParaRPr lang="en-GB" dirty="0"/>
          </a:p>
          <a:p>
            <a:r>
              <a:rPr lang="en-GB" b="1" dirty="0"/>
              <a:t>4. Ask, now that the distinction is taught.</a:t>
            </a:r>
          </a:p>
          <a:p>
            <a:r>
              <a:rPr lang="en-GB" dirty="0"/>
              <a:t>Ask: "If your organisation stopped producing its performance reports tomorrow, which decisions would leaders no longer be able to make?"</a:t>
            </a:r>
          </a:p>
          <a:p>
            <a:r>
              <a:rPr lang="en-GB" dirty="0"/>
              <a:t>Follow with: "When a target is missed, how do you distinguish an individual contribution problem from an organisational delivery problem?" Take two or three answers in the chat.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1.1 — THE DESIGN SEQUENCE</a:t>
            </a:r>
          </a:p>
          <a:p>
            <a:endParaRPr lang="en-GB" dirty="0"/>
          </a:p>
          <a:p>
            <a:r>
              <a:rPr lang="en-GB" b="1" dirty="0"/>
              <a:t>HOW TO TEACH IT:</a:t>
            </a:r>
          </a:p>
          <a:p>
            <a:endParaRPr lang="en-GB" dirty="0"/>
          </a:p>
          <a:p>
            <a:r>
              <a:rPr lang="en-GB" b="1" dirty="0"/>
              <a:t>1. Teach the four steps in order.</a:t>
            </a:r>
          </a:p>
          <a:p>
            <a:r>
              <a:rPr lang="en-GB" dirty="0"/>
              <a:t>Say: "The design sequence is deliberate: define success; design how performance will be managed; identify the evidence that management decisions require; then use that evidence to recognise contribution, correct constraints and improve delivery."</a:t>
            </a:r>
          </a:p>
          <a:p>
            <a:r>
              <a:rPr lang="en-GB" dirty="0"/>
              <a:t>Step 1 · Define success: Agree the result the organisation must achieve.</a:t>
            </a:r>
          </a:p>
          <a:p>
            <a:r>
              <a:rPr lang="en-GB" dirty="0"/>
              <a:t>Step 2 · Design how performance will be managed: Agree the conversations, decisions, actions and accountability that will respond to the evidence.</a:t>
            </a:r>
          </a:p>
          <a:p>
            <a:r>
              <a:rPr lang="en-GB" dirty="0"/>
              <a:t>Step 3 · Identify the evidence that management decisions require: Collect the data the management decisions need.</a:t>
            </a:r>
          </a:p>
          <a:p>
            <a:r>
              <a:rPr lang="en-GB" dirty="0"/>
              <a:t>Step 4 · Use the evidence: Recognise contribution, correct constraints and improve delivery.</a:t>
            </a:r>
          </a:p>
          <a:p>
            <a:endParaRPr lang="en-GB" dirty="0"/>
          </a:p>
          <a:p>
            <a:r>
              <a:rPr lang="en-GB" b="1" dirty="0"/>
              <a:t>2. Close the part.</a:t>
            </a:r>
          </a:p>
          <a:p>
            <a:r>
              <a:rPr lang="en-GB" dirty="0"/>
              <a:t>Say: "Reports become useful because the organisation has decided who will act on them and how."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THE FACES FRAMEWORK (Five functions of an integrated Enterprise Performance Management system)</a:t>
            </a:r>
          </a:p>
          <a:p>
            <a:endParaRPr lang="en-GB" dirty="0"/>
          </a:p>
          <a:p>
            <a:r>
              <a:rPr lang="en-GB" b="1" dirty="0"/>
              <a:t>HOW TO TEACH IT:</a:t>
            </a:r>
          </a:p>
          <a:p>
            <a:endParaRPr lang="en-GB" dirty="0"/>
          </a:p>
          <a:p>
            <a:r>
              <a:rPr lang="en-GB" b="1" dirty="0"/>
              <a:t>1. Teach what FACES is.</a:t>
            </a:r>
          </a:p>
          <a:p>
            <a:r>
              <a:rPr lang="en-GB" dirty="0"/>
              <a:t>Say: "The FACES Framework defines five interconnected functions that an effective Enterprise Performance Management (EPM) system must fulfil."</a:t>
            </a:r>
          </a:p>
          <a:p>
            <a:r>
              <a:rPr lang="en-GB" dirty="0"/>
              <a:t>Say: "Each function applies to people performance and organisational performance. People Performance: what individuals and teams deliver through their KPIs, OKRs and demonstrated behaviours. Organisational Performance: how effectively the organisational conditions enable the achievement of intended results."</a:t>
            </a:r>
          </a:p>
          <a:p>
            <a:endParaRPr lang="en-GB" dirty="0"/>
          </a:p>
          <a:p>
            <a:r>
              <a:rPr lang="en-GB" b="1" dirty="0"/>
              <a:t>2. Name the five functions on the slide.</a:t>
            </a:r>
          </a:p>
          <a:p>
            <a:r>
              <a:rPr lang="en-GB" dirty="0"/>
              <a:t>F · Foster a Results Culture · A · Align Performance · C · Create Measurement Transparency · E · Embed Shared Accountability · S · Support Continuous Development.</a:t>
            </a:r>
          </a:p>
          <a:p>
            <a:r>
              <a:rPr lang="en-GB" dirty="0"/>
              <a:t>The next slide sets out each function for the people and for the organisational conditions.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1 REFLECTIONS</a:t>
            </a:r>
          </a:p>
          <a:p>
            <a:endParaRPr lang="en-GB" dirty="0"/>
          </a:p>
          <a:p>
            <a:r>
              <a:rPr lang="en-GB" b="1" dirty="0"/>
              <a:t>HOW TO USE THIS SLIDE:</a:t>
            </a:r>
          </a:p>
          <a:p>
            <a:endParaRPr lang="en-GB" dirty="0"/>
          </a:p>
          <a:p>
            <a:r>
              <a:rPr lang="en-GB" b="1" dirty="0"/>
              <a:t>1. Show the slide and read the three prompts aloud.</a:t>
            </a:r>
          </a:p>
          <a:p>
            <a:r>
              <a:rPr lang="en-GB" dirty="0"/>
              <a:t>1.2 Reflection — Two Operating Systems: "Think of a recurring performance shortfall in your organisation. Does your current performance management system assess both dimensions, the Human Operating System and the Organisational Operating System, and assign accountability for addressing them?"</a:t>
            </a:r>
          </a:p>
          <a:p>
            <a:r>
              <a:rPr lang="en-GB" dirty="0"/>
              <a:t>1.3 Reflection — Contributions in Your Organisation: "Choose one enterprise Key Result in your own organisation. Which business functions must contribute to it? For one of those functions, what must its people deliver, and which Environment, Systems, Resources or Governance conditions must the organisation provide for that delivery? Where is the connection weakest today?"</a:t>
            </a:r>
          </a:p>
          <a:p>
            <a:r>
              <a:rPr lang="en-GB" dirty="0"/>
              <a:t>1.4 Reflection — FACES in Your Organisation: "For the Key Result you chose in part 1.3: which FACES function is weakest in the way your organisation manages these contributions today, for the people and for the organisational conditions? Which one management arrangement would strengthen it?"</a:t>
            </a:r>
          </a:p>
          <a:p>
            <a:endParaRPr lang="en-GB" dirty="0"/>
          </a:p>
          <a:p>
            <a:r>
              <a:rPr lang="en-GB" b="1" dirty="0"/>
              <a:t>2. Say what the reflections are for.</a:t>
            </a:r>
          </a:p>
          <a:p>
            <a:r>
              <a:rPr lang="en-GB" dirty="0"/>
              <a:t>Say: "These reflections are personal. Name one real, recurring shortfall and look at whether your system covers the people and the organisational conditions. Then map one of your own organisation’s Key Results the way the Contribution Map does, and look at how your organisation manages those contributions through FACES."</a:t>
            </a:r>
          </a:p>
          <a:p>
            <a:endParaRPr lang="en-GB" dirty="0"/>
          </a:p>
          <a:p>
            <a:r>
              <a:rPr lang="en-GB" b="1" dirty="0"/>
              <a:t>3. Bridge to Section 2.</a:t>
            </a:r>
          </a:p>
          <a:p>
            <a:r>
              <a:rPr lang="en-GB" dirty="0"/>
              <a:t>Say: "You now know what must be managed. Section 2 shows how performance management keeps strategy connected to performance throughout delivery."</a:t>
            </a:r>
          </a:p>
          <a:p>
            <a:endParaRPr lang="en-GB" dirty="0"/>
          </a:p>
          <a:p>
            <a:r>
              <a:rPr lang="en-GB" b="1" dirty="0"/>
              <a:t>ON THE PORTAL, AFTER THE TEACHING:</a:t>
            </a:r>
          </a:p>
          <a:p>
            <a:r>
              <a:rPr lang="en-GB" dirty="0"/>
              <a:t>Participants write these personal reflections at the foot of parts 1.2, 1.3 and 1.4 of the participant file. They go into their Learning Portfolio when they submit the unit.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2 · INTELLIGENCE — WHY</a:t>
            </a:r>
          </a:p>
          <a:p>
            <a:r>
              <a:rPr lang="en-GB" dirty="0"/>
              <a:t>Performance Management as the Execution Bridge</a:t>
            </a:r>
          </a:p>
          <a:p>
            <a:r>
              <a:rPr lang="en-GB" dirty="0"/>
              <a:t>Understanding why enterprise performance depends on connecting strategic outcomes, human contributions and organisational operating capability through an integrated management system.</a:t>
            </a:r>
          </a:p>
          <a:p>
            <a:endParaRPr lang="en-GB" dirty="0"/>
          </a:p>
          <a:p>
            <a:r>
              <a:rPr lang="en-GB" b="1" dirty="0"/>
              <a:t>Section learning outcomes:</a:t>
            </a:r>
          </a:p>
          <a:p>
            <a:r>
              <a:rPr lang="en-GB" dirty="0"/>
              <a:t>1. Establish management disciplines that sustain the connection between strategy and performance.</a:t>
            </a:r>
          </a:p>
          <a:p>
            <a:r>
              <a:rPr lang="en-GB" dirty="0"/>
              <a:t>2. Evaluate whether performance practices build genuine commitment or merely compliance.</a:t>
            </a:r>
          </a:p>
          <a:p>
            <a:endParaRPr lang="en-GB" dirty="0"/>
          </a:p>
          <a:p>
            <a:r>
              <a:rPr lang="en-GB" b="1" dirty="0"/>
              <a:t>HOW TO TEACH IT:</a:t>
            </a:r>
          </a:p>
          <a:p>
            <a:endParaRPr lang="en-GB" dirty="0"/>
          </a:p>
          <a:p>
            <a:r>
              <a:rPr lang="en-GB" b="1" dirty="0"/>
              <a:t>1. Frame the section.</a:t>
            </a:r>
          </a:p>
          <a:p>
            <a:r>
              <a:rPr lang="en-GB" dirty="0"/>
              <a:t>Say: "Section 1 set out what must be managed. Section 2 explains why performance management is the bridge that keeps strategy connected to performance throughout delivery, and how the architecture you choose shapes accountability."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2.1 — PERFORMANCE MANAGEMENT AS THE EXECUTION BRIDGE (Four execution bridges)</a:t>
            </a:r>
          </a:p>
          <a:p>
            <a:endParaRPr lang="en-GB" dirty="0"/>
          </a:p>
          <a:p>
            <a:r>
              <a:rPr lang="en-GB" b="1" dirty="0"/>
              <a:t>HOW TO TEACH IT:</a:t>
            </a:r>
          </a:p>
          <a:p>
            <a:endParaRPr lang="en-GB" dirty="0"/>
          </a:p>
          <a:p>
            <a:r>
              <a:rPr lang="en-GB" b="1" dirty="0"/>
              <a:t>1. Name the challenge.</a:t>
            </a:r>
          </a:p>
          <a:p>
            <a:r>
              <a:rPr lang="en-GB" dirty="0"/>
              <a:t>Say: "The S2R® Contribution Map™ establishes the contributions required to achieve enterprise results. FACES defines the five functions through which human and organisational performance are managed. The next challenge is sustaining the connection between these contributions and the intended results throughout execution."</a:t>
            </a:r>
          </a:p>
          <a:p>
            <a:r>
              <a:rPr lang="en-GB" dirty="0"/>
              <a:t>Say: "Strategy is delivered over time. Performance expectations must remain clear, progress must be visible, and emerging gaps must lead to timely management responses. Without these disciplines, the connection between strategic intent and actual delivery gradually weakens."</a:t>
            </a:r>
          </a:p>
          <a:p>
            <a:r>
              <a:rPr lang="en-GB" dirty="0"/>
              <a:t>Without this bridge, organisations generate what might be called random acts of excellence: genuine effort, real capability, strong intentions, none of which reliably move the needle.</a:t>
            </a:r>
          </a:p>
          <a:p>
            <a:endParaRPr lang="en-GB" dirty="0"/>
          </a:p>
          <a:p>
            <a:r>
              <a:rPr lang="en-GB" b="1" dirty="0"/>
              <a:t>2. Teach the bridge.</a:t>
            </a:r>
          </a:p>
          <a:p>
            <a:r>
              <a:rPr lang="en-GB" dirty="0"/>
              <a:t>Say: "This is why performance management serves as an execution bridge: it provides the disciplines that keep strategy connected to performance throughout delivery."</a:t>
            </a:r>
          </a:p>
          <a:p>
            <a:endParaRPr lang="en-GB" dirty="0"/>
          </a:p>
          <a:p>
            <a:r>
              <a:rPr lang="en-GB" b="1" dirty="0"/>
              <a:t>3. Teach the four bridges, one row at a time.</a:t>
            </a:r>
          </a:p>
          <a:p>
            <a:r>
              <a:rPr lang="en-GB" dirty="0"/>
              <a:t>Bridge 1 · Decomposing the Big Picture: Connecting strategic outcomes to actionable performance expectations.</a:t>
            </a:r>
          </a:p>
          <a:p>
            <a:r>
              <a:rPr lang="en-GB" dirty="0"/>
              <a:t>Bridge 2 · Defining the Logic of Success: Establishing how successful performance is understood and evaluated.</a:t>
            </a:r>
          </a:p>
          <a:p>
            <a:r>
              <a:rPr lang="en-GB" dirty="0"/>
              <a:t>Bridge 3 · Calibrating the Rhythm: Maintaining visibility of progress throughout the execution period.</a:t>
            </a:r>
          </a:p>
          <a:p>
            <a:r>
              <a:rPr lang="en-GB" dirty="0"/>
              <a:t>Bridge 4 · Structuring the Dialogue: Converting performance evidence into decisions and action.</a:t>
            </a:r>
          </a:p>
          <a:p>
            <a:r>
              <a:rPr lang="en-GB" dirty="0"/>
              <a:t>Say: "Together, these bridges explain why performance management is essential to sustaining the connection between strategy, human contribution, organisational capability and enterprise results."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2.2 — COMPLIANCE VS COMMITMENT ARCHITECTURE (The design choice that shapes performance behaviour)</a:t>
            </a:r>
          </a:p>
          <a:p>
            <a:endParaRPr lang="en-GB" dirty="0"/>
          </a:p>
          <a:p>
            <a:r>
              <a:rPr lang="en-GB" b="1" dirty="0"/>
              <a:t>HOW TO TEACH IT:</a:t>
            </a:r>
          </a:p>
          <a:p>
            <a:endParaRPr lang="en-GB" dirty="0"/>
          </a:p>
          <a:p>
            <a:r>
              <a:rPr lang="en-GB" b="1" dirty="0"/>
              <a:t>1. Name the design choice.</a:t>
            </a:r>
          </a:p>
          <a:p>
            <a:r>
              <a:rPr lang="en-GB" dirty="0"/>
              <a:t>Teach the two architectures first, then the four dimensions, then how each applies to the people and to the organisational conditions.</a:t>
            </a:r>
          </a:p>
          <a:p>
            <a:r>
              <a:rPr lang="en-GB" dirty="0"/>
              <a:t>Say: "The four execution bridges establish the disciplines required to sustain the connection between strategy and results. However, their effectiveness is influenced by the way an organisation approaches performance expectations, accountability and performance conversations. This introduces an important distinction between compliance-driven and commitment-driven performance management architectures."</a:t>
            </a:r>
          </a:p>
          <a:p>
            <a:endParaRPr lang="en-GB" dirty="0"/>
          </a:p>
          <a:p>
            <a:r>
              <a:rPr lang="en-GB" b="1" dirty="0"/>
              <a:t>2. Teach the two architectures.</a:t>
            </a:r>
          </a:p>
          <a:p>
            <a:r>
              <a:rPr lang="en-GB" dirty="0"/>
              <a:t>A compliance-driven architecture emphasises adherence to prescribed expectations, monitoring performance and correcting deviations.</a:t>
            </a:r>
          </a:p>
          <a:p>
            <a:r>
              <a:rPr lang="en-GB" dirty="0"/>
              <a:t>A commitment-driven architecture emphasises shared understanding of expected results, ownership of contributions, constructive performance dialogue and collective responsibility for improvement.</a:t>
            </a:r>
          </a:p>
          <a:p>
            <a:r>
              <a:rPr lang="en-GB" dirty="0"/>
              <a:t>Say: "Both approaches recognise the importance of standards and accountability. Their differences become visible in how performance is experienced and how the organisation responds when results fall short."</a:t>
            </a:r>
          </a:p>
          <a:p>
            <a:endParaRPr lang="en-GB" dirty="0"/>
          </a:p>
          <a:p>
            <a:r>
              <a:rPr lang="en-GB" b="1" dirty="0"/>
              <a:t>3. Teach the four dimensions, one row at a time.</a:t>
            </a:r>
          </a:p>
          <a:p>
            <a:r>
              <a:rPr lang="en-GB" dirty="0"/>
              <a:t>Purpose. Compliance-driven: Ensure minimum standards are met and deviations corrected. Commitment-driven: Generate shared ownership of results and continuous improvement.</a:t>
            </a:r>
          </a:p>
          <a:p>
            <a:r>
              <a:rPr lang="en-GB" dirty="0"/>
              <a:t>Ownership. Compliance-driven: Leader holds accountability; team is subject to it. Commitment-driven: Team co-owns accountability; leader facilitates.</a:t>
            </a:r>
          </a:p>
          <a:p>
            <a:r>
              <a:rPr lang="en-GB" dirty="0"/>
              <a:t>Tone. Compliance-driven: Assessment and judgement; hierarchical. Commitment-driven: Inquiry and problem-solving; collaborative.</a:t>
            </a:r>
          </a:p>
          <a:p>
            <a:r>
              <a:rPr lang="en-GB" dirty="0"/>
              <a:t>PM Experience. Compliance-driven: Anxiety-producing; done to the individual. Commitment-driven: Energy-generating; done with the individual.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3 · EXTRAPOLATING — WHERE</a:t>
            </a:r>
          </a:p>
          <a:p>
            <a:r>
              <a:rPr lang="en-GB" dirty="0"/>
              <a:t>Executive Performance Integration and the Evolution of Performance Management</a:t>
            </a:r>
          </a:p>
          <a:p>
            <a:r>
              <a:rPr lang="en-GB" dirty="0"/>
              <a:t>Where does enterprise performance management become vulnerable? How executive performance perspectives and the evolution of performance management practice shape what leaders see and how they respond.</a:t>
            </a:r>
          </a:p>
          <a:p>
            <a:endParaRPr lang="en-GB" dirty="0"/>
          </a:p>
          <a:p>
            <a:r>
              <a:rPr lang="en-GB" b="1" dirty="0"/>
              <a:t>Section learning outcomes:</a:t>
            </a:r>
          </a:p>
          <a:p>
            <a:r>
              <a:rPr lang="en-GB" dirty="0"/>
              <a:t>1. Diagnose executive performance blind spots and determine corrective responses.</a:t>
            </a:r>
          </a:p>
          <a:p>
            <a:r>
              <a:rPr lang="en-GB" dirty="0"/>
              <a:t>2. Redesign performance practices towards continuous, developmental and team-based management.</a:t>
            </a:r>
          </a:p>
          <a:p>
            <a:endParaRPr lang="en-GB" dirty="0"/>
          </a:p>
          <a:p>
            <a:r>
              <a:rPr lang="en-GB" b="1" dirty="0"/>
              <a:t>HOW TO TEACH IT:</a:t>
            </a:r>
          </a:p>
          <a:p>
            <a:endParaRPr lang="en-GB" dirty="0"/>
          </a:p>
          <a:p>
            <a:r>
              <a:rPr lang="en-GB" b="1" dirty="0"/>
              <a:t>1. Frame the section.</a:t>
            </a:r>
          </a:p>
          <a:p>
            <a:r>
              <a:rPr lang="en-GB" dirty="0"/>
              <a:t>Say: "Section 2 established the four execution bridges that sustain the connection between strategy and results. It also examined how compliance-driven and commitment-driven approaches influence accountability, performance behaviour and management responses."</a:t>
            </a:r>
          </a:p>
          <a:p>
            <a:r>
              <a:rPr lang="en-GB" dirty="0"/>
              <a:t>Say: "Section 3 examines where enterprise performance management becomes vulnerable, through two areas: Unity in Diversity, how executive performance perspectives influence what leaders notice, prioritise and interpret; and the Continuous Performance Management Shift, how performance management practices are evolving to strengthen timely feedback, development and collective performance."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3.1 — UNITY IN DIVERSITY: EXECUTIVE PERFORMANCE PERSPECTIVES (Different executive perspectives, one enterprise result)</a:t>
            </a:r>
          </a:p>
          <a:p>
            <a:endParaRPr lang="en-GB" dirty="0"/>
          </a:p>
          <a:p>
            <a:r>
              <a:rPr lang="en-GB" b="1" dirty="0"/>
              <a:t>HOW TO TEACH IT:</a:t>
            </a:r>
          </a:p>
          <a:p>
            <a:endParaRPr lang="en-GB" dirty="0"/>
          </a:p>
          <a:p>
            <a:r>
              <a:rPr lang="en-GB" b="1" dirty="0"/>
              <a:t>1. Teach functional bias first.</a:t>
            </a:r>
          </a:p>
          <a:p>
            <a:r>
              <a:rPr lang="en-GB" dirty="0"/>
              <a:t>Teach functional bias first: what executives notice, prioritise and interpret.</a:t>
            </a:r>
          </a:p>
          <a:p>
            <a:r>
              <a:rPr lang="en-GB" dirty="0"/>
              <a:t>Say: "Enterprise performance management depends on the collective contribution of executive leaders who hold different responsibilities. Each executive function develops a particular understanding of performance based on its mandate, expertise, operating priorities and the evidence it routinely examines. These perspectives are necessary because enterprise performance is multidimensional."</a:t>
            </a:r>
          </a:p>
          <a:p>
            <a:r>
              <a:rPr lang="en-GB" dirty="0"/>
              <a:t>Say: "This reflects the principle of functional bias, introduced earlier in CESI: leaders may interpret organisational situations primarily through the priorities and assumptions associated with their professional responsibilities."</a:t>
            </a:r>
          </a:p>
          <a:p>
            <a:r>
              <a:rPr lang="en-GB" dirty="0"/>
              <a:t>Within enterprise performance management, functional bias can influence what executives notice (the performance indicators and developments that attract their attention), what executives prioritise (the results, risks and improvements they consider most important) and how executives interpret evidence (the conclusions they draw about organisational performance and its underlying causes).</a:t>
            </a:r>
          </a:p>
          <a:p>
            <a:endParaRPr lang="en-GB" dirty="0"/>
          </a:p>
          <a:p>
            <a:r>
              <a:rPr lang="en-GB" b="1" dirty="0"/>
              <a:t>2. Name Unity in Diversity.</a:t>
            </a:r>
          </a:p>
          <a:p>
            <a:r>
              <a:rPr lang="en-GB" dirty="0"/>
              <a:t>Say: "The challenge for executive teams is to bring these perspectives together so that functional performance information supports a coherent understanding of enterprise results."</a:t>
            </a:r>
          </a:p>
          <a:p>
            <a:r>
              <a:rPr lang="en-GB" dirty="0"/>
              <a:t>Say: "Unity in Diversity means integrating different executive performance perspectives into one collective understanding of enterprise progress."</a:t>
            </a:r>
          </a:p>
          <a:p>
            <a:endParaRPr lang="en-GB" dirty="0"/>
          </a:p>
          <a:p>
            <a:r>
              <a:rPr lang="en-GB" b="1" dirty="0"/>
              <a:t>3. Teach what the executive team must establish.</a:t>
            </a:r>
          </a:p>
          <a:p>
            <a:r>
              <a:rPr lang="en-GB" dirty="0"/>
              <a:t>Say: "The executive team must establish whether the performance reported by individual functions is sufficient to produce the intended collective outcome. This requires attention to people performance and organisational performance."</a:t>
            </a:r>
          </a:p>
          <a:p>
            <a:r>
              <a:rPr lang="en-GB" dirty="0"/>
              <a:t>People performance. Say: "Executives examine whether individuals and teams are delivering their agreed KPIs, OKRs and behavioural expectations. They also consider whether the required contributions are being coordinated effectively across functions."</a:t>
            </a:r>
          </a:p>
          <a:p>
            <a:r>
              <a:rPr lang="en-GB" dirty="0"/>
              <a:t>Organisational performance. Say: "Executives examine whether the relevant organisational conditions are enabling those contributions. Where organisational constraints affect delivery, the appropriate executive owners must take responsibility for resolving them."</a:t>
            </a:r>
          </a:p>
          <a:p>
            <a:r>
              <a:rPr lang="en-GB" dirty="0"/>
              <a:t>Enterprise Integration. The executive team brings the evidence together to determine whether functional performance is supporting the intended enterprise result; where human contribution or organisational capability is weakening delivery; and which executive decisions or coordinated interventions are required.</a:t>
            </a:r>
          </a:p>
          <a:p>
            <a:r>
              <a:rPr lang="en-GB" dirty="0"/>
              <a:t>Say: "The S2R® Contribution Map™ provides the established relationships between contributions. The four execution bridges provide the disciplines for sustaining those relationships. Executive integration ensures that the resulting performance evidence is interpreted and acted upon collectively."</a:t>
            </a:r>
          </a:p>
          <a:p>
            <a:r>
              <a:rPr lang="en-GB" dirty="0"/>
              <a:t>Key insight. Say: "Executive performance integration requires leaders to recognise the limits of their functional perspectives and use collective performance evidence to make decisions in the interests of enterprise results."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3.2 — THE CONTINUOUS PERFORMANCE MANAGEMENT SHIFT (How performance management practices are evolving)</a:t>
            </a:r>
          </a:p>
          <a:p>
            <a:endParaRPr lang="en-GB" dirty="0"/>
          </a:p>
          <a:p>
            <a:r>
              <a:rPr lang="en-GB" b="1" dirty="0"/>
              <a:t>HOW TO TEACH IT:</a:t>
            </a:r>
          </a:p>
          <a:p>
            <a:endParaRPr lang="en-GB" dirty="0"/>
          </a:p>
          <a:p>
            <a:r>
              <a:rPr lang="en-GB" b="1" dirty="0"/>
              <a:t>1. Name the shift.</a:t>
            </a:r>
          </a:p>
          <a:p>
            <a:r>
              <a:rPr lang="en-GB" dirty="0"/>
              <a:t>Say: "Organisations are increasingly recognising the limitations of performance management systems built primarily around periodic assessments and individual ratings. Three important shifts are influencing how performance management is approached."</a:t>
            </a:r>
          </a:p>
          <a:p>
            <a:endParaRPr lang="en-GB" dirty="0"/>
          </a:p>
          <a:p>
            <a:r>
              <a:rPr lang="en-GB" b="1" dirty="0"/>
              <a:t>2. Walk through the three shifts, then the implication of each for people performance and organisational performance.</a:t>
            </a:r>
          </a:p>
          <a:p>
            <a:r>
              <a:rPr lang="en-GB" dirty="0"/>
              <a:t>Shift 1 · From Annual to Continuous. Traditional orientation: Performance is formally evaluated at annual or biannual intervals. Evolving orientation: Regular check-ins, periodic reviews and timely feedback support performance throughout execution. Implication for people performance and organisational performance: Human contributions and relevant organisational conditions are reviewed frequently enough to identify emerging gaps and influence results.</a:t>
            </a:r>
          </a:p>
          <a:p>
            <a:r>
              <a:rPr lang="en-GB" dirty="0"/>
              <a:t>Shift 2 · From Rating-Centric to Development-Centric. Traditional orientation: Performance conversations concentrate heavily on ratings and historical achievement. Evolving orientation: Performance evidence informs development, capability strengthening and future improvement. Implication for people performance and organisational performance: Individual development is considered alongside improvements to organisational processes, systems, resources and governance arrangements.</a:t>
            </a:r>
          </a:p>
          <a:p>
            <a:r>
              <a:rPr lang="en-GB" dirty="0"/>
              <a:t>Shift 3 · From Individual to Team Performance. Traditional orientation: Performance assessment concentrates primarily on individual achievement. Evolving orientation: Individual accountability is complemented by attention to team and cross-functional contributions. Implication for people performance and organisational performance: Human collaboration and organisational dependencies become more visible within the performance management system.</a:t>
            </a:r>
          </a:p>
          <a:p>
            <a:endParaRPr lang="en-GB" dirty="0"/>
          </a:p>
          <a:p>
            <a:r>
              <a:rPr lang="en-GB" b="1" dirty="0"/>
              <a:t>3. Broaden the conversation.</a:t>
            </a:r>
          </a:p>
          <a:p>
            <a:r>
              <a:rPr lang="en-GB" dirty="0"/>
              <a:t>Say: "These developments reinforce the importance of managing performance while execution is unfolding. They also broaden the performance management conversation."</a:t>
            </a:r>
          </a:p>
          <a:p>
            <a:r>
              <a:rPr lang="en-GB" dirty="0"/>
              <a:t>Employee development remains important, but organisations must also improve the operating conditions that influence performance.</a:t>
            </a:r>
          </a:p>
          <a:p>
            <a:r>
              <a:rPr lang="en-GB" dirty="0"/>
              <a:t>Individual accountability remains necessary, but enterprise results often require coordinated contributions across teams and functions.</a:t>
            </a:r>
          </a:p>
          <a:p>
            <a:r>
              <a:rPr lang="en-GB" dirty="0"/>
              <a:t>Periodic assessments remain relevant, but they must be supported by timely performance conversations that allow leaders to respond to emerging challenges.</a:t>
            </a:r>
          </a:p>
          <a:p>
            <a:r>
              <a:rPr lang="en-GB" dirty="0"/>
              <a:t>Key insight. Say: "Continuous performance management strengthens the organisation’s ability to recognise, interpret and respond to performance conditions while there is still an opportunity to influence results."</a:t>
            </a:r>
          </a:p>
          <a:p>
            <a:endParaRPr lang="en-GB" dirty="0"/>
          </a:p>
          <a:p>
            <a:r>
              <a:rPr lang="en-GB" b="1" dirty="0"/>
              <a:t>4. Ask, now that the shifts are taught.</a:t>
            </a:r>
          </a:p>
          <a:p>
            <a:r>
              <a:rPr lang="en-GB" dirty="0"/>
              <a:t>Ask: "Where does your organisation sit on each of the three shifts today?" Take two or three answers in the chat.</a:t>
            </a:r>
          </a:p>
          <a:p>
            <a:endParaRPr lang="en-GB" dirty="0"/>
          </a:p>
          <a:p>
            <a:r>
              <a:rPr lang="en-GB" b="1" dirty="0"/>
              <a:t>ON THE PORTAL, AFTER THE TEACHING:</a:t>
            </a:r>
          </a:p>
          <a:p>
            <a:r>
              <a:rPr lang="en-GB" dirty="0"/>
              <a:t>Participants write a personal reflection at the foot of part 3.2 (Learning Portfolio): What is the current PM architecture of your organisation? Which PM system is currently being used?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SECTION 4 · INTEGRATION — COLLECTIVE</a:t>
            </a:r>
          </a:p>
          <a:p>
            <a:r>
              <a:rPr lang="en-GB" dirty="0"/>
              <a:t>Integration of Human and Organisational Performance</a:t>
            </a:r>
          </a:p>
          <a:p>
            <a:r>
              <a:rPr lang="en-GB" dirty="0"/>
              <a:t>One worked example brings the unit together: the contributions an enterprise Key Result requires, mapped across four functions, and how FACES manages them.</a:t>
            </a:r>
          </a:p>
          <a:p>
            <a:endParaRPr lang="en-GB" dirty="0"/>
          </a:p>
          <a:p>
            <a:r>
              <a:rPr lang="en-GB" b="1" dirty="0"/>
              <a:t>Section learning outcomes:</a:t>
            </a:r>
          </a:p>
          <a:p>
            <a:r>
              <a:rPr lang="en-GB" dirty="0"/>
              <a:t>1. Map the functional, human and organisational contributions required for enterprise results.</a:t>
            </a:r>
          </a:p>
          <a:p>
            <a:r>
              <a:rPr lang="en-GB" dirty="0"/>
              <a:t>2. Coordinate cross-functional contributions and enabling conditions towards shared results.</a:t>
            </a:r>
          </a:p>
          <a:p>
            <a:endParaRPr lang="en-GB" dirty="0"/>
          </a:p>
          <a:p>
            <a:r>
              <a:rPr lang="en-GB" b="1" dirty="0"/>
              <a:t>HOW TO TEACH IT:</a:t>
            </a:r>
          </a:p>
          <a:p>
            <a:endParaRPr lang="en-GB" dirty="0"/>
          </a:p>
          <a:p>
            <a:r>
              <a:rPr lang="en-GB" b="1" dirty="0"/>
              <a:t>1. Frame the section.</a:t>
            </a:r>
          </a:p>
          <a:p>
            <a:r>
              <a:rPr lang="en-GB" dirty="0"/>
              <a:t>Say: "The previous sections established the foundations of enterprise performance management, the disciplines that sustain execution and the importance of integrating executive performance perspectives. We now bring these concepts together through a worked example."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5 · APPLICATION — IN PRACTICE</a:t>
            </a:r>
          </a:p>
          <a:p>
            <a:r>
              <a:rPr lang="en-GB"/>
              <a:t>Building Your Enterprise Performance Management System</a:t>
            </a:r>
          </a:p>
          <a:p>
            <a:r>
              <a:rPr lang="en-GB"/>
              <a:t>Application · Each group builds three connected components of the Enterprise Performance Management System for the strategy in its Capstone Blueprint: the S2R® Contribution Map™, the FACES application and the WARD check-up for its enterprise Key Result.</a:t>
            </a:r>
          </a:p>
          <a:p>
            <a:endParaRPr lang="en-GB"/>
          </a:p>
          <a:p>
            <a:r>
              <a:rPr lang="en-GB"/>
              <a:t>Section learning outcomes:</a:t>
            </a:r>
          </a:p>
          <a:p>
            <a:r>
              <a:rPr lang="en-GB"/>
              <a:t>1. Design the contribution arrangements required to deliver a chosen enterprise Key Result.</a:t>
            </a:r>
          </a:p>
          <a:p>
            <a:r>
              <a:rPr lang="en-GB"/>
              <a:t>2. Establish shared management accountability for contributions across functions.</a:t>
            </a:r>
          </a:p>
          <a:p>
            <a:endParaRPr lang="en-GB"/>
          </a:p>
          <a:p>
            <a:r>
              <a:rPr lang="en-GB"/>
              <a:t>HOW TO TEACH IT:</a:t>
            </a:r>
          </a:p>
          <a:p>
            <a:endParaRPr lang="en-GB"/>
          </a:p>
          <a:p>
            <a:r>
              <a:rPr lang="en-GB"/>
              <a:t>1. Frame the application.</a:t>
            </a:r>
          </a:p>
          <a:p>
            <a:r>
              <a:rPr lang="en-GB"/>
              <a:t>Say: "You have already established your capstone organisation’s strategic direction, strategic objectives and Key Results. In this application, your group uses that work to develop three connected components of your Enterprise Performance Management System: Activity 1, the S2R® Contribution Map™, Activity 2, the FACES application, and Activity 3, the WARD check-up for your enterprise Key Result."</a:t>
            </a:r>
          </a:p>
          <a:p>
            <a:r>
              <a:rPr lang="en-GB"/>
              <a:t>Order: all three activities are group work and Capstone work. Activity 1 needs the group’s confirmed Enterprise OKRs from Unit 3, part 5.2. Activity 2 uses the business functions the group names in Activity 1. Activity 3 sets the WARD check-up for the Key Result chosen in Activity 1, using the conditions named in the Contribution Map.</a:t>
            </a:r>
          </a:p>
          <a:p>
            <a:r>
              <a:rPr lang="en-GB"/>
              <a:t>How to guide the work: brief each activity from the worked example in Section 4, then let the groups work through the steps on their own pages. The group chooses its scribe; the entries appear on every member’s page.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5.1 — ACTIVITY 1: BUILD YOUR S2R® CONTRIBUTION MAP™ (CAPSTONE WORK)</a:t>
            </a:r>
          </a:p>
          <a:p>
            <a:endParaRPr lang="en-GB" dirty="0"/>
          </a:p>
          <a:p>
            <a:r>
              <a:rPr lang="en-GB" b="1" dirty="0"/>
              <a:t>HOW TO TEACH IT:</a:t>
            </a:r>
          </a:p>
          <a:p>
            <a:endParaRPr lang="en-GB" dirty="0"/>
          </a:p>
          <a:p>
            <a:r>
              <a:rPr lang="en-GB" b="1" dirty="0"/>
              <a:t>1. Brief the activity.</a:t>
            </a:r>
          </a:p>
          <a:p>
            <a:r>
              <a:rPr lang="en-GB" dirty="0"/>
              <a:t>Briefing: each group selects one enterprise Key Result from its Unit 3 Objectives and Key Results that requires contributions from several business functions. It then identifies three or four business functions and completes the six fields for each. Point the groups to the field guidance and to the worked example in part 4.1.</a:t>
            </a:r>
          </a:p>
          <a:p>
            <a:endParaRPr lang="en-GB" dirty="0"/>
          </a:p>
          <a:p>
            <a:r>
              <a:rPr lang="en-GB" b="1" dirty="0"/>
              <a:t>2. Step 1 · Select the enterprise Key Result.</a:t>
            </a:r>
          </a:p>
          <a:p>
            <a:r>
              <a:rPr lang="en-GB" dirty="0"/>
              <a:t>The group’s Objectives and Key Results from Unit 3 are in two drop-down lists on each participant’s page: the Objective first, then its Key Results. For the purposes of the programme, the group selects one enterprise Key Result from its capstone strategy that requires contributions from several business functions.</a:t>
            </a:r>
          </a:p>
          <a:p>
            <a:endParaRPr lang="en-GB" dirty="0"/>
          </a:p>
          <a:p>
            <a:r>
              <a:rPr lang="en-GB" b="1" dirty="0"/>
              <a:t>3. Step 2 · Teach the six fields.</a:t>
            </a:r>
          </a:p>
          <a:p>
            <a:r>
              <a:rPr lang="en-GB" dirty="0"/>
              <a:t>Business Function: The department or function responsible for contributing to the enterprise Key Result.</a:t>
            </a:r>
          </a:p>
          <a:p>
            <a:r>
              <a:rPr lang="en-GB" dirty="0"/>
              <a:t>Required Functional Contribution: The specific result the function must deliver.</a:t>
            </a:r>
          </a:p>
          <a:p>
            <a:r>
              <a:rPr lang="en-GB" dirty="0"/>
              <a:t>People Performance — Required Contribution: The work, results or behaviours expected from individuals and teams.</a:t>
            </a:r>
          </a:p>
          <a:p>
            <a:r>
              <a:rPr lang="en-GB" dirty="0"/>
              <a:t>People Performance — Performance Measure: One or two KPIs, OKRs or observable behavioural measures that demonstrate the required contribution.</a:t>
            </a:r>
          </a:p>
          <a:p>
            <a:r>
              <a:rPr lang="en-GB" dirty="0"/>
              <a:t>Required Organisational Condition: The critical organisational conditions needed to enable performance. Identify the relevant Environment, Systems, Resources or Governance requirements.</a:t>
            </a:r>
          </a:p>
          <a:p>
            <a:r>
              <a:rPr lang="en-GB" dirty="0"/>
              <a:t>Organisational Conditions — Measure or Evidence: A measure or evidence showing whether the required organisational conditions are available and functioning effectively.</a:t>
            </a:r>
          </a:p>
          <a:p>
            <a:r>
              <a:rPr lang="en-GB" dirty="0"/>
              <a:t>Say: "Identify three or four business functions that must contribute to the selected Key Result. For each function, complete the six fields."</a:t>
            </a:r>
          </a:p>
          <a:p>
            <a:r>
              <a:rPr lang="en-GB" dirty="0"/>
              <a:t>The template on each page asks, for each function: What must this function deliver? What must individuals or teams deliver? How will their contribution be measured? What Environment, Systems, Resources or Governance conditions are required? How will the effectiveness or readiness of these conditions be assessed?</a:t>
            </a:r>
          </a:p>
          <a:p>
            <a:endParaRPr lang="en-GB" dirty="0"/>
          </a:p>
          <a:p>
            <a:r>
              <a:rPr lang="en-GB" b="1" dirty="0"/>
              <a:t>4. Read the completion check.</a:t>
            </a:r>
          </a:p>
          <a:p>
            <a:r>
              <a:rPr lang="en-GB" dirty="0"/>
              <a:t>Before proceeding, the group confirms that:</a:t>
            </a:r>
          </a:p>
          <a:p>
            <a:r>
              <a:rPr lang="en-GB" dirty="0"/>
              <a:t>1. Each functional contribution supports the selected enterprise Key Result.</a:t>
            </a:r>
          </a:p>
          <a:p>
            <a:r>
              <a:rPr lang="en-GB" dirty="0"/>
              <a:t>2. People performance expectations are clearly distinguished from organisational enabling conditions.</a:t>
            </a:r>
          </a:p>
          <a:p>
            <a:r>
              <a:rPr lang="en-GB" dirty="0"/>
              <a:t>3. Each contribution has an appropriate measure or evidence of performance.</a:t>
            </a:r>
          </a:p>
          <a:p>
            <a:r>
              <a:rPr lang="en-GB" dirty="0"/>
              <a:t>Output 1: the completed S2R® Contribution Map™.</a:t>
            </a:r>
          </a:p>
          <a:p>
            <a:endParaRPr lang="en-GB" dirty="0"/>
          </a:p>
          <a:p>
            <a:r>
              <a:rPr lang="en-GB" b="1" dirty="0"/>
              <a:t>ON THE PORTAL, AFTER THE TEACHING:</a:t>
            </a:r>
          </a:p>
          <a:p>
            <a:r>
              <a:rPr lang="en-GB" dirty="0"/>
              <a:t>Participants work as a group in Activity 1 of Section 5 of the participant file. This is Capstone work. The group chooses its scribe for this work. The scribe types what the group agrees, and the entries appear on every member’s page.</a:t>
            </a:r>
          </a:p>
          <a:p>
            <a:r>
              <a:rPr lang="en-GB" dirty="0"/>
              <a:t>1. The group chooses an Objective from its Unit 3 OKRs, then one of its Key Results that requires contributions from several business functions, from the two drop-down lists on each page.</a:t>
            </a:r>
          </a:p>
          <a:p>
            <a:r>
              <a:rPr lang="en-GB" dirty="0"/>
              <a:t>2. The group identifies three or four business functions that must contribute to that Key Result.</a:t>
            </a:r>
          </a:p>
          <a:p>
            <a:r>
              <a:rPr lang="en-GB" dirty="0"/>
              <a:t>3. For each function, the group completes the six fields: business function, required functional contribution, people performance required contribution and performance measure, required organisational condition and its measure or evidence.</a:t>
            </a:r>
          </a:p>
          <a:p>
            <a:r>
              <a:rPr lang="en-GB" dirty="0"/>
              <a:t>4. The group reads the completion check, then goes to Activity 2.</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TWO OPERATING SYSTEMS BEHIND ENTERPRISE PERFORMANCE (Understanding what people deliver and what the organisation enables)</a:t>
            </a:r>
          </a:p>
          <a:p>
            <a:endParaRPr lang="en-GB" dirty="0"/>
          </a:p>
          <a:p>
            <a:r>
              <a:rPr lang="en-GB" b="1" dirty="0"/>
              <a:t>HOW TO TEACH IT:</a:t>
            </a:r>
          </a:p>
          <a:p>
            <a:endParaRPr lang="en-GB" dirty="0"/>
          </a:p>
          <a:p>
            <a:r>
              <a:rPr lang="en-GB" b="1" dirty="0"/>
              <a:t>1. Open with the question.</a:t>
            </a:r>
          </a:p>
          <a:p>
            <a:r>
              <a:rPr lang="en-GB" dirty="0"/>
              <a:t>Begin by asking participants: "When an employee or department misses a performance target, how does your organisation determine whether the problem is with individual performance or the conditions under which the work is performed?" Take two or three answers in the chat.</a:t>
            </a:r>
          </a:p>
          <a:p>
            <a:endParaRPr lang="en-GB" dirty="0"/>
          </a:p>
          <a:p>
            <a:r>
              <a:rPr lang="en-GB" b="1" dirty="0"/>
              <a:t>2. Teach why there are two systems.</a:t>
            </a:r>
          </a:p>
          <a:p>
            <a:r>
              <a:rPr lang="en-GB" dirty="0"/>
              <a:t>Say: "Enterprise performance is the combined result of individual and collective contributions, supported by the organisational conditions required to deliver those results."</a:t>
            </a:r>
          </a:p>
          <a:p>
            <a:r>
              <a:rPr lang="en-GB" dirty="0"/>
              <a:t>Say: "An organisation may have capable employees who consistently work towards their targets, yet still struggle to achieve its strategic outcomes. Equally, an organisation may have strong systems, sufficient resources and well-designed processes, but fail to achieve results because individuals are not delivering the contributions expected of them."</a:t>
            </a:r>
          </a:p>
          <a:p>
            <a:r>
              <a:rPr lang="en-GB" dirty="0"/>
              <a:t>Say: "This distinction is fundamental to Enterprise Performance Management (EPM). A complete performance management system must evaluate what people contribute and whether the organisation provides the conditions necessary for those contributions to produce the intended results. We refer to these as two interconnected operating systems."</a:t>
            </a:r>
          </a:p>
          <a:p>
            <a:endParaRPr lang="en-GB" dirty="0"/>
          </a:p>
          <a:p>
            <a:r>
              <a:rPr lang="en-GB" b="1" dirty="0"/>
              <a:t>3. Teach the Human Operating System (left card).</a:t>
            </a:r>
          </a:p>
          <a:p>
            <a:r>
              <a:rPr lang="en-GB" dirty="0"/>
              <a:t>Say: "The Human Operating System concerns the measurable performance of people within the organisation. It examines whether individuals and teams deliver the results expected of them and demonstrate the behaviours required to achieve those results. Human performance has two primary dimensions."</a:t>
            </a:r>
          </a:p>
          <a:p>
            <a:r>
              <a:rPr lang="en-GB" dirty="0"/>
              <a:t>Performance against KPIs and objectives. Say: "These establish what an individual or team is expected to deliver. For example, a customer service employee may be expected to resolve 90% of enquiries within an agreed turnaround time, while a sales manager may be accountable for achieving a quarterly revenue target. The performance management system must establish clear targets, evidence of achievement and a consistent basis for evaluating actual performance."</a:t>
            </a:r>
          </a:p>
          <a:p>
            <a:r>
              <a:rPr lang="en-GB" dirty="0"/>
              <a:t>They may include strategic contributions expressed through OKRs, operational outputs measured through key performance indicators (KPIs), and specific performance commitments.</a:t>
            </a:r>
          </a:p>
          <a:p>
            <a:r>
              <a:rPr lang="en-GB" dirty="0"/>
              <a:t>Performance against behavioural expectations. Say: "These establish how individuals are expected to perform their responsibilities. For example, a manager may achieve departmental targets while consistently withholding information from other departments, undermining collaboration and delaying enterprise-wide delivery. A complete assessment must therefore consider both the results achieved and the behaviours demonstrated."</a:t>
            </a:r>
          </a:p>
          <a:p>
            <a:r>
              <a:rPr lang="en-GB" dirty="0"/>
              <a:t>They include observable behaviours such as collaboration, accountability, adherence to organisational values, responsiveness, ethical conduct and leadership effectiveness.</a:t>
            </a:r>
          </a:p>
          <a:p>
            <a:r>
              <a:rPr lang="en-GB" dirty="0"/>
              <a:t>The Human Operating System answers: "Are individuals and teams delivering their expected results and demonstrating the behaviours required for sustained organisational performance?"</a:t>
            </a:r>
          </a:p>
          <a:p>
            <a:endParaRPr lang="en-GB" dirty="0"/>
          </a:p>
          <a:p>
            <a:r>
              <a:rPr lang="en-GB" b="1" dirty="0"/>
              <a:t>4. Introduce the Organisational Operating System (right card).</a:t>
            </a:r>
          </a:p>
          <a:p>
            <a:r>
              <a:rPr lang="en-GB" dirty="0"/>
              <a:t>Say: "The Organisational Operating System concerns the conditions that enable or constrain performance."</a:t>
            </a:r>
          </a:p>
          <a:p>
            <a:r>
              <a:rPr lang="en-GB" dirty="0"/>
              <a:t>Say: "Within S2R®, these conditions are examined through ESRG: Environment, Systems, Resources and Governance. ESRG provides the structure for evaluating whether the organisation has the operating capability necessary to support its strategic ambition." The next slide takes the four elements one at a time.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UNIT SUMMARY (UNIT 6 SYNTHESIS)</a:t>
            </a:r>
          </a:p>
          <a:p>
            <a:endParaRPr lang="en-GB"/>
          </a:p>
          <a:p>
            <a:r>
              <a:rPr lang="en-GB"/>
              <a:t>HOW TO TEACH IT:</a:t>
            </a:r>
          </a:p>
          <a:p>
            <a:endParaRPr lang="en-GB"/>
          </a:p>
          <a:p>
            <a:r>
              <a:rPr lang="en-GB"/>
              <a:t>1. Recap the unit, section by section.</a:t>
            </a:r>
          </a:p>
          <a:p>
            <a:r>
              <a:rPr lang="en-GB"/>
              <a:t>- 1 · Awareness: Performance measurement answers what happened; performance management decides what to do about it. Enterprise performance comes from people performance (results against KPIs and OKRs, and behaviours) and organisational performance (the organisational conditions: environment, systems, resources and governance). The S2R® Contribution Map™ connects an enterprise Key Result to the contribution each function, its people and the organisation must make. FACES names the five functions that manage those contributions across both systems.</a:t>
            </a:r>
          </a:p>
          <a:p>
            <a:r>
              <a:rPr lang="en-GB"/>
              <a:t>- 2 · Intelligence: Performance management is the execution bridge that keeps strategy connected to performance throughout delivery. Four bridges sustain it: Decomposing the Big Picture, Defining the Logic of Success, Calibrating the Rhythm and Structuring the Dialogue. Compliance-driven and commitment-driven architectures shape how accountability works for people and for the organisation when results fall short.</a:t>
            </a:r>
          </a:p>
          <a:p>
            <a:r>
              <a:rPr lang="en-GB"/>
              <a:t>- 3 · Extrapolating: Each executive brings a natural performance focus and a potential blind spot. Unity in Diversity integrates the ten executive performance perspectives into one view of enterprise progress. Three shifts are moving performance management from annual to continuous, from rating-centric to development-centric, and from individual to team performance.</a:t>
            </a:r>
          </a:p>
          <a:p>
            <a:r>
              <a:rPr lang="en-GB"/>
              <a:t>- 4 · Integration: The worked example mapped one enterprise Key Result across Customer Service, IT, Operations and Workforce Planning: each function’s contribution, what its people must deliver and the organisational conditions that enable them, each with a measure or evidence. FACES then showed how those contributions are managed in practice.</a:t>
            </a:r>
          </a:p>
          <a:p>
            <a:r>
              <a:rPr lang="en-GB"/>
              <a:t>- 5 · Application: Each group built an S2R® Contribution Map™ for one of its own enterprise Key Results, applied FACES to manage each function’s contribution and set the WARD check-up for the Key Result. The confirmed record feeds the team’s Capstone Blueprint.</a:t>
            </a:r>
          </a:p>
          <a:p>
            <a:endParaRPr lang="en-GB"/>
          </a:p>
          <a:p>
            <a:r>
              <a:rPr lang="en-GB"/>
              <a:t>2. Ask the closing question on the slide.</a:t>
            </a:r>
          </a:p>
          <a:p>
            <a:r>
              <a:rPr lang="en-GB"/>
              <a:t>Ask: "Which contribution in your group’s map was hardest to agree, and what does that tell you about the performance management system in your own organisation?" Take an answer from each group.</a:t>
            </a:r>
          </a:p>
          <a:p>
            <a:endParaRPr lang="en-GB"/>
          </a:p>
          <a:p>
            <a:r>
              <a:rPr lang="en-GB"/>
              <a:t>3. Close the unit.</a:t>
            </a:r>
          </a:p>
          <a:p>
            <a:r>
              <a:rPr lang="en-GB"/>
              <a:t>Say: "A performance management system that only measures has not yet become a management system. The moment measurement becomes the basis for a decision, a conversation, and an accountable intervention — that is the moment execution begins."</a:t>
            </a:r>
          </a:p>
          <a:p>
            <a:endParaRPr lang="en-GB"/>
          </a:p>
          <a:p>
            <a:r>
              <a:rPr lang="en-GB"/>
              <a:t>4. Say what happens on the portal.</a:t>
            </a:r>
          </a:p>
          <a:p>
            <a:r>
              <a:rPr lang="en-GB"/>
              <a:t>Say: "You now complete the unit on the portal: your four personal reflections and your group’s record in Section 5. When your page is complete, you submit the unit."</a:t>
            </a:r>
          </a:p>
          <a:p>
            <a:endParaRPr lang="en-GB"/>
          </a:p>
          <a:p>
            <a:r>
              <a:rPr lang="en-GB"/>
              <a:t>ON THE PORTAL, AFTER THE TEACHING:</a:t>
            </a:r>
          </a:p>
          <a:p>
            <a:r>
              <a:rPr lang="en-GB"/>
              <a:t>Participants complete every part of the participant file and submit the unit to the facilitator from the end of Section 5.</a:t>
            </a:r>
          </a:p>
          <a:p>
            <a:endParaRPr lang="en-GB"/>
          </a:p>
          <a:p>
            <a:r>
              <a:rPr lang="en-GB"/>
              <a:t>AFTER THE SESSION:</a:t>
            </a:r>
          </a:p>
          <a:p>
            <a:r>
              <a:rPr lang="en-GB"/>
              <a:t>Each submission reaches you in the facilitator dashboard. The personal reflections go to each participant’s Learning Portfolio; the group’s confirmed record feeds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5.2 — ACTIVITY 2: APPLY FACES TO YOUR CONTRIBUTION MAP™ (CAPSTONE WORK)</a:t>
            </a:r>
          </a:p>
          <a:p>
            <a:endParaRPr lang="en-GB"/>
          </a:p>
          <a:p>
            <a:r>
              <a:rPr lang="en-GB"/>
              <a:t>HOW TO TEACH IT:</a:t>
            </a:r>
          </a:p>
          <a:p>
            <a:endParaRPr lang="en-GB"/>
          </a:p>
          <a:p>
            <a:r>
              <a:rPr lang="en-GB"/>
              <a:t>1. Brief the activity.</a:t>
            </a:r>
          </a:p>
          <a:p>
            <a:r>
              <a:rPr lang="en-GB"/>
              <a:t>Briefing: each group applies FACES to the contributions it mapped in Activity 1. For each business function it describes one practical management arrangement for each FACES function. Point the groups to the application questions and to the worked example in part 4.2.</a:t>
            </a:r>
          </a:p>
          <a:p>
            <a:endParaRPr lang="en-GB"/>
          </a:p>
          <a:p>
            <a:r>
              <a:rPr lang="en-GB"/>
              <a:t>The group has established the contributions required to achieve its enterprise Key Result. It now applies FACES to determine how these contributions will be managed. The business functions named in Activity 1 are shown in the FACES template on each participant’s page.</a:t>
            </a:r>
          </a:p>
          <a:p>
            <a:endParaRPr lang="en-GB"/>
          </a:p>
          <a:p>
            <a:r>
              <a:rPr lang="en-GB"/>
              <a:t>2. Step 3 · Teach the application question for each function.</a:t>
            </a:r>
          </a:p>
          <a:p>
            <a:r>
              <a:rPr lang="en-GB"/>
              <a:t>F · Foster a Results Culture: What routine or leadership practice will reinforce ownership of performance commitments and delivery obstacles? The template asks: How will employees and leaders demonstrate ownership of results?</a:t>
            </a:r>
          </a:p>
          <a:p>
            <a:r>
              <a:rPr lang="en-GB"/>
              <a:t>A · Align Performance: How will the function’s performance expectations and enabling conditions remain connected to the enterprise Key Result? The template asks: How will human contributions and organisational conditions remain aligned with the enterprise Key Result?</a:t>
            </a:r>
          </a:p>
          <a:p>
            <a:r>
              <a:rPr lang="en-GB"/>
              <a:t>C · Create Measurement Transparency: What evidence will make both people performance and organisational constraints visible? The template asks: How will people performance and the effectiveness of the organisational conditions be made visible?</a:t>
            </a:r>
          </a:p>
          <a:p>
            <a:r>
              <a:rPr lang="en-GB"/>
              <a:t>E · Embed Shared Accountability: Who will own performance commitments, enabling conditions and decisions required to address performance gaps? The template asks: Who will be responsible for contributions, enabling conditions and corrective decisions?</a:t>
            </a:r>
          </a:p>
          <a:p>
            <a:r>
              <a:rPr lang="en-GB"/>
              <a:t>S · Support Continuous Development: How will performance findings be used to strengthen employee capability and organisational effectiveness? The template asks: How will performance findings lead to improvements in human capability and organisational conditions?</a:t>
            </a:r>
          </a:p>
          <a:p>
            <a:endParaRPr lang="en-GB"/>
          </a:p>
          <a:p>
            <a:r>
              <a:rPr lang="en-GB"/>
              <a:t>3. Read the completion check.</a:t>
            </a:r>
          </a:p>
          <a:p>
            <a:r>
              <a:rPr lang="en-GB"/>
              <a:t>Before confirming, the group checks that:</a:t>
            </a:r>
          </a:p>
          <a:p>
            <a:r>
              <a:rPr lang="en-GB"/>
              <a:t>1. All five FACES functions have been addressed for each business function.</a:t>
            </a:r>
          </a:p>
          <a:p>
            <a:r>
              <a:rPr lang="en-GB"/>
              <a:t>2. Your responses describe practical management arrangements.</a:t>
            </a:r>
          </a:p>
          <a:p>
            <a:r>
              <a:rPr lang="en-GB"/>
              <a:t>3. Your FACES application uses the contributions and performance requirements established in Activity 1.</a:t>
            </a:r>
          </a:p>
          <a:p>
            <a:r>
              <a:rPr lang="en-GB"/>
              <a:t>Say: "The S2R® Contribution Map™ establishes the contributions required to achieve an enterprise result. FACES establishes how those contributions will be managed across the organisation. Together, they connect enterprise strategy to functional performance, human contribution, organisational enablement and collective accountability."</a:t>
            </a:r>
          </a:p>
          <a:p>
            <a:endParaRPr lang="en-GB"/>
          </a:p>
          <a:p>
            <a:r>
              <a:rPr lang="en-GB"/>
              <a:t>ON THE PORTAL, AFTER THE TEACHING:</a:t>
            </a:r>
          </a:p>
          <a:p>
            <a:r>
              <a:rPr lang="en-GB"/>
              <a:t>Participants work as a group in Activity 2 of Section 5 of the participant file. This is Capstone work. The group chooses its scribe for this work. The scribe types what the group agrees, and the entries appear on every member’s page.</a:t>
            </a:r>
          </a:p>
          <a:p>
            <a:r>
              <a:rPr lang="en-GB"/>
              <a:t>1. For each business function named in Activity 1, the group describes one practical management arrangement for each of the five FACES functions.</a:t>
            </a:r>
          </a:p>
          <a:p>
            <a:r>
              <a:rPr lang="en-GB"/>
              <a:t>2. The group reads the completion check, then goes to Activity 3.</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5.3 — ACTIVITY 3: WARD · YOUR KEY RESULT’S VITAL CHECK-UP (CAPSTONE WORK)</a:t>
            </a:r>
          </a:p>
          <a:p>
            <a:endParaRPr lang="en-GB"/>
          </a:p>
          <a:p>
            <a:r>
              <a:rPr lang="en-GB"/>
              <a:t>HOW TO TEACH IT:</a:t>
            </a:r>
          </a:p>
          <a:p>
            <a:endParaRPr lang="en-GB"/>
          </a:p>
          <a:p>
            <a:r>
              <a:rPr lang="en-GB"/>
              <a:t>1. Open with the check-up.</a:t>
            </a:r>
          </a:p>
          <a:p>
            <a:r>
              <a:rPr lang="en-GB"/>
              <a:t>Say: "Every Key Result your group set in Unit 3 has a baseline, a target and a deadline. Performance management must set out in advance when a Key Result will be checked and which result raises a red flag. Corrective action then starts early, while the gap is still small enough to close. WARD is the vital check-up that sets these points for your Key Result."</a:t>
            </a:r>
          </a:p>
          <a:p>
            <a:endParaRPr lang="en-GB"/>
          </a:p>
          <a:p>
            <a:r>
              <a:rPr lang="en-GB"/>
              <a:t>2. Teach the four letters.</a:t>
            </a:r>
          </a:p>
          <a:p>
            <a:r>
              <a:rPr lang="en-GB"/>
              <a:t>W · Waypoints: The dates on which the Key Result is checked, and the level it must have reached by each.</a:t>
            </a:r>
          </a:p>
          <a:p>
            <a:r>
              <a:rPr lang="en-GB"/>
              <a:t>A · Alert: How far off a waypoint the result can be before it raises a red flag.</a:t>
            </a:r>
          </a:p>
          <a:p>
            <a:r>
              <a:rPr lang="en-GB"/>
              <a:t>R · Recovery: The corrective action that follows a red flag, for the individuals and for the organisational conditions.</a:t>
            </a:r>
          </a:p>
          <a:p>
            <a:r>
              <a:rPr lang="en-GB"/>
              <a:t>D · Decider: The executive who decides on the recovery and sees it through.</a:t>
            </a:r>
          </a:p>
          <a:p>
            <a:endParaRPr lang="en-GB"/>
          </a:p>
          <a:p>
            <a:r>
              <a:rPr lang="en-GB"/>
              <a:t>3. Take the worked example through WARD.</a:t>
            </a:r>
          </a:p>
          <a:p>
            <a:r>
              <a:rPr lang="en-GB"/>
              <a:t>Enterprise Key Result from part 4.1: Increase customer enquiries resolved within 48 hours from 65% to 90% by year-end.</a:t>
            </a:r>
          </a:p>
          <a:p>
            <a:r>
              <a:rPr lang="en-GB"/>
              <a:t>W · Waypoints: 72% by the end of March, 80% by the end of June and 85% by the end of September, on the way to 90% at year-end.</a:t>
            </a:r>
          </a:p>
          <a:p>
            <a:r>
              <a:rPr lang="en-GB"/>
              <a:t>A · Alert: More than three percentage points below a waypoint at a monthly review.</a:t>
            </a:r>
          </a:p>
          <a:p>
            <a:r>
              <a:rPr lang="en-GB"/>
              <a:t>R · Recovery · individuals: Team leaders review every open enquiry with its owner each morning, and agents with repeated follow-through gaps are coached.</a:t>
            </a:r>
          </a:p>
          <a:p>
            <a:r>
              <a:rPr lang="en-GB"/>
              <a:t>R · Recovery · organisational conditions: The owner of the condition named in the Contribution Map restores it: IT for system availability, Workforce Planning for staffing coverage, Operations for approval delays.</a:t>
            </a:r>
          </a:p>
          <a:p>
            <a:r>
              <a:rPr lang="en-GB"/>
              <a:t>D · Decider: The Customer Service Executive.</a:t>
            </a:r>
          </a:p>
          <a:p>
            <a:r>
              <a:rPr lang="en-GB"/>
              <a:t>Ask: "At the end of June the result is 74%. What happens on Monday morning, and who decides?"</a:t>
            </a:r>
          </a:p>
          <a:p>
            <a:r>
              <a:rPr lang="en-GB"/>
              <a:t>Guide the groups to see that the waypoint, the alert and the recovery answer the question before the review takes place.</a:t>
            </a:r>
          </a:p>
          <a:p>
            <a:endParaRPr lang="en-GB"/>
          </a:p>
          <a:p>
            <a:r>
              <a:rPr lang="en-GB"/>
              <a:t>4. Read the completion check.</a:t>
            </a:r>
          </a:p>
          <a:p>
            <a:r>
              <a:rPr lang="en-GB"/>
              <a:t>1. Each waypoint has a date and a level, and the waypoints lead to the target by the deadline.</a:t>
            </a:r>
          </a:p>
          <a:p>
            <a:r>
              <a:rPr lang="en-GB"/>
              <a:t>2. The alert is specific enough that every member reads the same result the same way.</a:t>
            </a:r>
          </a:p>
          <a:p>
            <a:r>
              <a:rPr lang="en-GB"/>
              <a:t>3. The recovery covers the individuals and the organisational conditions named in the Contribution Map.</a:t>
            </a:r>
          </a:p>
          <a:p>
            <a:r>
              <a:rPr lang="en-GB"/>
              <a:t>4. One executive is named as the decider.</a:t>
            </a:r>
          </a:p>
          <a:p>
            <a:r>
              <a:rPr lang="en-GB"/>
              <a:t>Say: "In Unit 8 your group tests its WARD: the alert fires, and you run the recovery."</a:t>
            </a:r>
          </a:p>
          <a:p>
            <a:endParaRPr lang="en-GB"/>
          </a:p>
          <a:p>
            <a:r>
              <a:rPr lang="en-GB"/>
              <a:t>ON THE PORTAL, AFTER THE TEACHING:</a:t>
            </a:r>
          </a:p>
          <a:p>
            <a:r>
              <a:rPr lang="en-GB"/>
              <a:t>Participants work as a group in Activity 3 of Section 5 of the participant file. This is Capstone work. The group chooses its scribe for this work. The scribe types what the group agrees, and the entries appear on every member’s page.</a:t>
            </a:r>
          </a:p>
          <a:p>
            <a:r>
              <a:rPr lang="en-GB"/>
              <a:t>1. The group sets two or three waypoints for its enterprise Key Result: a date and a level for each.</a:t>
            </a:r>
          </a:p>
          <a:p>
            <a:r>
              <a:rPr lang="en-GB"/>
              <a:t>2. The group sets the alert, the recovery for the individuals and for the organisational conditions, and the decider.</a:t>
            </a:r>
          </a:p>
          <a:p>
            <a:r>
              <a:rPr lang="en-GB"/>
              <a:t>3. The group reads the completion check.</a:t>
            </a:r>
          </a:p>
          <a:p>
            <a:r>
              <a:rPr lang="en-GB"/>
              <a:t>4. Each participant reads the record and selects Agree. Print gives a copy.</a:t>
            </a:r>
          </a:p>
          <a:p>
            <a:r>
              <a:rPr lang="en-GB"/>
              <a:t>The agreed record feeds the team’s Capstone Blueprint.</a:t>
            </a:r>
          </a:p>
          <a:p>
            <a:endParaRPr lang="en-GB"/>
          </a:p>
          <a:p>
            <a:r>
              <a:rPr lang="en-GB"/>
              <a:t>AFTER THE SESSION:</a:t>
            </a:r>
          </a:p>
          <a:p>
            <a:r>
              <a:rPr lang="en-GB"/>
              <a:t>The record reaches you with each participant’s submission, under the heading of Section 5. The agreed record feeds the Unit 6 boxes of the team’s Capstone Blueprint: the Contribution Map in 6A, the FACES application in 6B and the WARD check-up in 6C.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THE ORGANISATIONAL OPERATING SYSTEM · ESRG</a:t>
            </a:r>
          </a:p>
          <a:p>
            <a:endParaRPr lang="en-GB" dirty="0"/>
          </a:p>
          <a:p>
            <a:r>
              <a:rPr lang="en-GB" b="1" dirty="0"/>
              <a:t>HOW TO TEACH IT:</a:t>
            </a:r>
          </a:p>
          <a:p>
            <a:endParaRPr lang="en-GB" dirty="0"/>
          </a:p>
          <a:p>
            <a:r>
              <a:rPr lang="en-GB" b="1" dirty="0"/>
              <a:t>1. Teach the four elements, one row at a time.</a:t>
            </a:r>
          </a:p>
          <a:p>
            <a:r>
              <a:rPr lang="en-GB" dirty="0"/>
              <a:t>E · Environment. Say: "The conditions within which people and organisational processes operate. These include the working environment, organisational climate, cross-functional relationships and external operating conditions that influence delivery."</a:t>
            </a:r>
          </a:p>
          <a:p>
            <a:r>
              <a:rPr lang="en-GB" dirty="0"/>
              <a:t>Example: a customer service team may have clear targets, but persistent conflict between departments prevents timely resolution of customer enquiries.</a:t>
            </a:r>
          </a:p>
          <a:p>
            <a:r>
              <a:rPr lang="en-GB" dirty="0"/>
              <a:t>Performance management consideration: Are the operating conditions supporting or obstructing the achievement of expected results?</a:t>
            </a:r>
          </a:p>
          <a:p>
            <a:endParaRPr lang="en-GB" dirty="0"/>
          </a:p>
          <a:p>
            <a:r>
              <a:rPr lang="en-GB" dirty="0"/>
              <a:t>S · Systems. Say: "The processes, workflows, technologies and operating mechanisms through which work is performed. Systems determine how efficiently and reliably the organisation converts effort and resources into outputs."</a:t>
            </a:r>
          </a:p>
          <a:p>
            <a:r>
              <a:rPr lang="en-GB" dirty="0"/>
              <a:t>Example: employees may be expected to process 100 applications daily, but an unreliable processing system limits actual throughput to 60 applications.</a:t>
            </a:r>
          </a:p>
          <a:p>
            <a:r>
              <a:rPr lang="en-GB" dirty="0"/>
              <a:t>Performance management consideration: Are the systems and processes capable of supporting the required performance standards?</a:t>
            </a:r>
          </a:p>
          <a:p>
            <a:endParaRPr lang="en-GB" dirty="0"/>
          </a:p>
          <a:p>
            <a:r>
              <a:rPr lang="en-GB" dirty="0"/>
              <a:t>R · Resources. Say: "The people, skills, capacity, funding, equipment, information and other resources required to deliver results. Resource adequacy must be evaluated against the level of performance the organisation expects."</a:t>
            </a:r>
          </a:p>
          <a:p>
            <a:r>
              <a:rPr lang="en-GB" dirty="0"/>
              <a:t>Example: a department may be required to double its service output while operating with the same capacity and equipment.</a:t>
            </a:r>
          </a:p>
          <a:p>
            <a:r>
              <a:rPr lang="en-GB" dirty="0"/>
              <a:t>Performance management consideration: Does the organisation have sufficient and appropriately deployed resources to achieve its targets?</a:t>
            </a:r>
          </a:p>
          <a:p>
            <a:endParaRPr lang="en-GB" dirty="0"/>
          </a:p>
          <a:p>
            <a:r>
              <a:rPr lang="en-GB" dirty="0"/>
              <a:t>G · Governance. Say: "The decision rights, accountability arrangements, policies, controls and escalation mechanisms that guide organisational execution. Governance determines whether decisions can be made at the appropriate level and whether constraints can be resolved in time."</a:t>
            </a:r>
          </a:p>
          <a:p>
            <a:r>
              <a:rPr lang="en-GB" dirty="0"/>
              <a:t>Example: a department may have the resources to complete a project, but repeated approval delays prevent it from meeting agreed milestones.</a:t>
            </a:r>
          </a:p>
          <a:p>
            <a:r>
              <a:rPr lang="en-GB" dirty="0"/>
              <a:t>Performance management consideration: Do governance arrangements enable timely decisions, clear accountability and effective resolution of performance constraints?</a:t>
            </a:r>
          </a:p>
          <a:p>
            <a:endParaRPr lang="en-GB" dirty="0"/>
          </a:p>
          <a:p>
            <a:r>
              <a:rPr lang="en-GB" b="1" dirty="0"/>
              <a:t>2. Close the slide.</a:t>
            </a:r>
          </a:p>
          <a:p>
            <a:r>
              <a:rPr lang="en-GB" dirty="0"/>
              <a:t>The Organisational Operating System answers: "Does the organisation have the environment, systems, resources and governance necessary to deliver its expected results consistently?"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1.2 — HOW THE TWO OPERATING SYSTEMS INTERACT</a:t>
            </a:r>
          </a:p>
          <a:p>
            <a:endParaRPr lang="en-GB" dirty="0"/>
          </a:p>
          <a:p>
            <a:r>
              <a:rPr lang="en-GB" b="1" dirty="0"/>
              <a:t>HOW TO TEACH IT:</a:t>
            </a:r>
          </a:p>
          <a:p>
            <a:endParaRPr lang="en-GB" dirty="0"/>
          </a:p>
          <a:p>
            <a:r>
              <a:rPr lang="en-GB" b="1" dirty="0"/>
              <a:t>1. Teach the interdependence.</a:t>
            </a:r>
          </a:p>
          <a:p>
            <a:r>
              <a:rPr lang="en-GB" dirty="0"/>
              <a:t>Say: "The two systems are interdependent. Human performance measures what individuals and teams contribute. Organisational performance examines whether ESRG provides the conditions required for those contributions to produce enterprise results."</a:t>
            </a:r>
          </a:p>
          <a:p>
            <a:endParaRPr lang="en-GB" dirty="0"/>
          </a:p>
          <a:p>
            <a:r>
              <a:rPr lang="en-GB" b="1" dirty="0"/>
              <a:t>2. Use the customer service example.</a:t>
            </a:r>
          </a:p>
          <a:p>
            <a:r>
              <a:rPr lang="en-GB" dirty="0"/>
              <a:t>Say: "Consider a customer service department with a target of resolving 90% of enquiries within 48 hours. At the end of the month, the department achieves only 65%. A conventional performance review may conclude that the employees are underperforming. An integrated EPM system examines both operating systems before determining the appropriate management response."</a:t>
            </a:r>
          </a:p>
          <a:p>
            <a:r>
              <a:rPr lang="en-GB" dirty="0"/>
              <a:t>Read the questions on each side (Human Operating System | ESRG):</a:t>
            </a:r>
          </a:p>
          <a:p>
            <a:r>
              <a:rPr lang="en-GB" dirty="0"/>
              <a:t>Are employees meeting their individual resolution targets? | Environment: Are cross-functional working conditions supporting timely resolution?</a:t>
            </a:r>
          </a:p>
          <a:p>
            <a:r>
              <a:rPr lang="en-GB" dirty="0"/>
              <a:t>Are employees following the required service procedures? | Systems: Is the customer management system functioning reliably?</a:t>
            </a:r>
          </a:p>
          <a:p>
            <a:r>
              <a:rPr lang="en-GB" dirty="0"/>
              <a:t>Are employees demonstrating accountability and responsiveness? | Resources: Is staffing capacity sufficient for the volume of enquiries?</a:t>
            </a:r>
          </a:p>
          <a:p>
            <a:r>
              <a:rPr lang="en-GB" dirty="0"/>
              <a:t>Are team leaders meeting their supervisory commitments? | Governance: Are decisions and escalations being resolved within the required time?</a:t>
            </a:r>
          </a:p>
          <a:p>
            <a:endParaRPr lang="en-GB" dirty="0"/>
          </a:p>
          <a:p>
            <a:r>
              <a:rPr lang="en-GB" b="1" dirty="0"/>
              <a:t>3. Show the two possible findings.</a:t>
            </a:r>
          </a:p>
          <a:p>
            <a:r>
              <a:rPr lang="en-GB" dirty="0"/>
              <a:t>Say: "The evidence may reveal that employees are performing their responsibilities correctly, but system failures and approval delays are preventing the department from achieving its targets. Alternatively, ESRG conditions may be adequate, while employees are consistently failing to meet agreed performance expectations."</a:t>
            </a:r>
          </a:p>
          <a:p>
            <a:r>
              <a:rPr lang="en-GB" dirty="0"/>
              <a:t>Say: "Both situations produce disappointing results, but they require different management responses. This is why an enterprise performance management system must distinguish between human performance shortfalls and organisational operating constraints. It enables leaders to establish accountability fairly, direct interventions appropriately and avoid repeatedly holding individuals responsible for conditions outside their control."</a:t>
            </a:r>
          </a:p>
          <a:p>
            <a:r>
              <a:rPr lang="en-GB" dirty="0"/>
              <a:t>Use the customer service example to demonstrate that a missed target is evidence of a performance gap, but does not automatically establish its cause.</a:t>
            </a:r>
          </a:p>
          <a:p>
            <a:r>
              <a:rPr lang="en-GB" dirty="0"/>
              <a:t>Emphasise that leaders must examine both the contribution expected from people and the ESRG conditions required to enable delivery.</a:t>
            </a:r>
          </a:p>
          <a:p>
            <a:endParaRPr lang="en-GB" dirty="0"/>
          </a:p>
          <a:p>
            <a:r>
              <a:rPr lang="en-GB" b="1" dirty="0"/>
              <a:t>4. Teach the Enterprise Performance Principle.</a:t>
            </a:r>
          </a:p>
          <a:p>
            <a:r>
              <a:rPr lang="en-GB" dirty="0"/>
              <a:t>Say: "Organisational performance emerges from the interaction between what individuals and teams contribute and how effectively the organisation’s Environment, Systems, Resources and Governance enable those contributions to produce results."</a:t>
            </a:r>
          </a:p>
          <a:p>
            <a:r>
              <a:rPr lang="en-GB" dirty="0"/>
              <a:t>Say: "An integrated EPM system must therefore establish two connected lines of performance accountability. Human Performance: individual and team KPIs, OKRs and behavioural expectations. Organisational Performance: ESRG effectiveness in enabling the achievement of enterprise outcomes. Both must be visible, measured, reviewed and managed."</a:t>
            </a:r>
          </a:p>
          <a:p>
            <a:r>
              <a:rPr lang="en-GB" dirty="0"/>
              <a:t>The central teaching point is that performance accountability must extend to those responsible for organisational operating conditions as well as those responsible for individual and team targets.</a:t>
            </a:r>
          </a:p>
          <a:p>
            <a:endParaRPr lang="en-GB" dirty="0"/>
          </a:p>
          <a:p>
            <a:r>
              <a:rPr lang="en-GB" b="1" dirty="0"/>
              <a:t>ON THE PORTAL, AFTER THE TEACHING:</a:t>
            </a:r>
          </a:p>
          <a:p>
            <a:r>
              <a:rPr lang="en-GB" dirty="0"/>
              <a:t>Participants write a personal reflection at the foot of part 1.2 (Learning Portfolio): Think of a recurring performance shortfall in your organisation. Does your current performance management system assess both dimensions, the Human Operating System and the Organisational Operating System, and assign accountability for addressing them?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THE S2R® CONTRIBUTION MAP™ (Connecting enterprise strategic outcomes to functional contributions)</a:t>
            </a:r>
          </a:p>
          <a:p>
            <a:endParaRPr lang="en-GB" dirty="0"/>
          </a:p>
          <a:p>
            <a:r>
              <a:rPr lang="en-GB" b="1" dirty="0"/>
              <a:t>HOW TO TEACH IT:</a:t>
            </a:r>
          </a:p>
          <a:p>
            <a:endParaRPr lang="en-GB" dirty="0"/>
          </a:p>
          <a:p>
            <a:r>
              <a:rPr lang="en-GB" b="1" dirty="0"/>
              <a:t>1. Introduce the map with the customer service example.</a:t>
            </a:r>
          </a:p>
          <a:p>
            <a:r>
              <a:rPr lang="en-GB" dirty="0"/>
              <a:t>Introduce the Contribution Map using the customer service example. Begin with the enterprise key result of improving 48-hour customer enquiry resolution from 65% to 90%.</a:t>
            </a:r>
          </a:p>
          <a:p>
            <a:r>
              <a:rPr lang="en-GB" dirty="0"/>
              <a:t>Explain that achieving this outcome requires contributions from several functions, each with different responsibilities. Walk participants through the map, showing how Customer Service, IT, Operations and Workforce Planning contribute to the same enterprise result.</a:t>
            </a:r>
          </a:p>
          <a:p>
            <a:endParaRPr lang="en-GB" dirty="0"/>
          </a:p>
          <a:p>
            <a:r>
              <a:rPr lang="en-GB" b="1" dirty="0"/>
              <a:t>2. Teach what the map is.</a:t>
            </a:r>
          </a:p>
          <a:p>
            <a:r>
              <a:rPr lang="en-GB" dirty="0"/>
              <a:t>Say: "The S2R® Contribution Map™ is a strategy-to-execution tool that identifies the interconnected contributions required from business functions, individuals and teams, and organisational operating conditions to achieve an enterprise strategic outcome."</a:t>
            </a:r>
          </a:p>
          <a:p>
            <a:r>
              <a:rPr lang="en-GB" dirty="0"/>
              <a:t>Say: "It establishes a clear line of sight between the organisation’s strategic intent and the contributions required across people performance and organisational performance: people performance, the results and behaviours individuals and teams must deliver; and organisational performance, the organisational conditions (environment, systems, resources and governance) necessary to enable those contributions."</a:t>
            </a:r>
          </a:p>
          <a:p>
            <a:r>
              <a:rPr lang="en-GB" dirty="0"/>
              <a:t>Say: "The map identifies the relationships and dependencies between functions, making visible how their combined contributions support enterprise results. Where appropriate, it also establishes measurable performance commitments or evidence that the required organisational conditions support delivery."</a:t>
            </a:r>
          </a:p>
          <a:p>
            <a:r>
              <a:rPr lang="en-GB" dirty="0"/>
              <a:t>Say: "The central principle: enterprise results are achieved through connected human and organisational contributions, supported by clear functional accountability."</a:t>
            </a:r>
          </a:p>
          <a:p>
            <a:endParaRPr lang="en-GB" dirty="0"/>
          </a:p>
          <a:p>
            <a:r>
              <a:rPr lang="en-GB" b="1" dirty="0"/>
              <a:t>3. Teach why the map matters.</a:t>
            </a:r>
          </a:p>
          <a:p>
            <a:r>
              <a:rPr lang="en-GB" dirty="0"/>
              <a:t>Say: "An organisation achieves its strategic results through the combined contributions of its business functions. Each function performs different activities, possesses different capabilities and carries different responsibilities. However, these contributions must ultimately support the same enterprise strategic outcomes."</a:t>
            </a:r>
          </a:p>
          <a:p>
            <a:r>
              <a:rPr lang="en-GB" dirty="0"/>
              <a:t>Say: "A common weakness in performance management is that departments establish their own KPIs and measure their performance independently. Finance measures financial performance, HR measures people-related outcomes, IT measures technology performance, and Operations measures operational efficiency. Each department may report satisfactory performance while the organisation continues to miss its strategic targets. This happens when functional performance is managed without sufficient clarity about how the contributions connect to enterprise results."</a:t>
            </a:r>
          </a:p>
          <a:p>
            <a:r>
              <a:rPr lang="en-GB" dirty="0"/>
              <a:t>Say: "For example, an organisation may have an enterprise objective to improve customer service. Customer Service may focus on resolving enquiries, IT on maintaining system availability, Operations on processing requests, and HR on ensuring adequate staffing. All four functions may have relevant KPIs. However, unless their contributions are connected to the enterprise objective, leaders may struggle to establish whether the combined performance of these functions is sufficient to achieve the intended result."</a:t>
            </a:r>
          </a:p>
          <a:p>
            <a:r>
              <a:rPr lang="en-GB" dirty="0"/>
              <a:t>Say: "The S2R® Contribution Map™ provides that connection."</a:t>
            </a:r>
          </a:p>
          <a:p>
            <a:endParaRPr lang="en-GB" dirty="0"/>
          </a:p>
          <a:p>
            <a:r>
              <a:rPr lang="en-GB" b="1" dirty="0"/>
              <a:t>4. Teach the logic, one card at a time.</a:t>
            </a:r>
          </a:p>
          <a:p>
            <a:r>
              <a:rPr lang="en-GB" dirty="0"/>
              <a:t>Step 1 · Enterprise OKR: what must the organisation achieve? Identify the agreed enterprise strategic objective and its measurable key result. This establishes the collective outcome towards which the organisation is working.</a:t>
            </a:r>
          </a:p>
          <a:p>
            <a:r>
              <a:rPr lang="en-GB" dirty="0"/>
              <a:t>Step 2 · Required functional contributions: what must each function deliver? Identify the specific contribution each business function must make towards achieving the enterprise outcome. These contributions must reflect the interdependencies between functions.</a:t>
            </a:r>
          </a:p>
          <a:p>
            <a:r>
              <a:rPr lang="en-GB" dirty="0"/>
              <a:t>Step 3 · Human and organisational contributions: what is required to deliver each functional contribution? For each function, identify the results and behaviours required from individuals and teams, together with measurable performance commitments wherever practical; and the specific organisational conditions necessary to enable delivery, together with appropriate performance measures or evidence that those conditions are established and functioning.</a:t>
            </a:r>
          </a:p>
          <a:p>
            <a:r>
              <a:rPr lang="en-GB" dirty="0"/>
              <a:t>Only the organisational conditions relevant to the required contribution are included. Not every organisational condition needs a numerical metric.</a:t>
            </a:r>
          </a:p>
          <a:p>
            <a:endParaRPr lang="en-GB" dirty="0"/>
          </a:p>
          <a:p>
            <a:r>
              <a:rPr lang="en-GB" b="1" dirty="0"/>
              <a:t>5. Emphasise the three teaching points.</a:t>
            </a:r>
          </a:p>
          <a:p>
            <a:r>
              <a:rPr lang="en-GB" dirty="0"/>
              <a:t>1. Functional KPIs must have a clear connection to enterprise outcomes. A department can perform well against its own measures without making the contribution the enterprise requires.</a:t>
            </a:r>
          </a:p>
          <a:p>
            <a:r>
              <a:rPr lang="en-GB" dirty="0"/>
              <a:t>2. Functional contributions are interdependent. A weakness in one function can undermine the results of several others.</a:t>
            </a:r>
          </a:p>
          <a:p>
            <a:r>
              <a:rPr lang="en-GB" dirty="0"/>
              <a:t>3. Accountability must follow the contribution. Each function must be accountable for the performance commitments it controls, while collective enterprise results remain a shared leadership responsibility.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1.3 — HOW THE CONTRIBUTION MAP CONNECTS PEOPLE PERFORMANCE AND ORGANISATIONAL PERFORMANCE</a:t>
            </a:r>
          </a:p>
          <a:p>
            <a:endParaRPr lang="en-GB" dirty="0"/>
          </a:p>
          <a:p>
            <a:r>
              <a:rPr lang="en-GB" b="1" dirty="0"/>
              <a:t>HOW TO TEACH IT:</a:t>
            </a:r>
          </a:p>
          <a:p>
            <a:endParaRPr lang="en-GB" dirty="0"/>
          </a:p>
          <a:p>
            <a:r>
              <a:rPr lang="en-GB" b="1" dirty="0"/>
              <a:t>1. Teach the two dimensions.</a:t>
            </a:r>
          </a:p>
          <a:p>
            <a:r>
              <a:rPr lang="en-GB" dirty="0"/>
              <a:t>Say: "The S2R® Contribution Map™ integrates people performance and organisational performance into the design of enterprise performance. For every required functional contribution, the map identifies two interconnected dimensions."</a:t>
            </a:r>
          </a:p>
          <a:p>
            <a:r>
              <a:rPr lang="en-GB" dirty="0"/>
              <a:t>People Performance: what must people deliver? The map establishes the expected results and behaviours of individuals and teams, supported by measurable performance commitments wherever practical.</a:t>
            </a:r>
          </a:p>
          <a:p>
            <a:r>
              <a:rPr lang="en-GB" dirty="0"/>
              <a:t>Organisational Performance: what must the organisation enable? The map identifies the specific organisational conditions necessary for people to deliver their contributions. These requirements may be expressed through numerical performance standards or other evidence of organisational readiness and effectiveness.</a:t>
            </a:r>
          </a:p>
          <a:p>
            <a:endParaRPr lang="en-GB" dirty="0"/>
          </a:p>
          <a:p>
            <a:r>
              <a:rPr lang="en-GB" b="1" dirty="0"/>
              <a:t>2. Give the IT example.</a:t>
            </a:r>
          </a:p>
          <a:p>
            <a:r>
              <a:rPr lang="en-GB" dirty="0"/>
              <a:t>Say: "For example, maintaining reliable customer management systems requires IT employees to monitor and resolve incidents promptly. It also requires reliable infrastructure and sufficient technical support capacity. The human contribution can be assessed through incident-resolution performance. Organisational capability can be assessed through system availability and evidence of adequate technical support arrangements."</a:t>
            </a:r>
          </a:p>
          <a:p>
            <a:r>
              <a:rPr lang="en-GB" dirty="0"/>
              <a:t>Say: "The two dimensions are connected but require distinct management attention. The Contribution Map therefore establishes what must be delivered by people, what must be enabled by the organisation, and how both contribute to the enterprise result."</a:t>
            </a:r>
          </a:p>
          <a:p>
            <a:endParaRPr lang="en-GB" dirty="0"/>
          </a:p>
          <a:p>
            <a:r>
              <a:rPr lang="en-GB" b="1" dirty="0"/>
              <a:t>3. Bridge to FACES.</a:t>
            </a:r>
          </a:p>
          <a:p>
            <a:r>
              <a:rPr lang="en-GB" dirty="0"/>
              <a:t>Say: "The S2R® Contribution Map™ establishes what each function must contribute, what people must deliver and which organisational conditions must support their performance. It also identifies the measures and evidence required to assess these contributions."</a:t>
            </a:r>
          </a:p>
          <a:p>
            <a:r>
              <a:rPr lang="en-GB" dirty="0"/>
              <a:t>Say: "The next challenge is to ensure that these commitments are consistently delivered and that performance gaps trigger appropriate management action. The FACES Framework establishes the five management functions required to achieve this across people performance and organisational performance."</a:t>
            </a:r>
          </a:p>
          <a:p>
            <a:endParaRPr lang="en-GB" dirty="0"/>
          </a:p>
          <a:p>
            <a:r>
              <a:rPr lang="en-GB" b="1" dirty="0"/>
              <a:t>ON THE PORTAL, AFTER THE TEACHING:</a:t>
            </a:r>
          </a:p>
          <a:p>
            <a:r>
              <a:rPr lang="en-GB" dirty="0"/>
              <a:t>Participants write a personal reflection at the foot of part 1.3 (Learning Portfolio): Choose one enterprise Key Result in your own organisation. Which business functions must contribute to it? For one of those functions, what must its people deliver, and which Environment, Systems, Resources or Governance conditions must the organisation provide for that delivery? Where is the connection weakest today?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FACES: COMPARING HUMAN AND ORGANISATIONAL PERFORMANCE</a:t>
            </a:r>
          </a:p>
          <a:p>
            <a:endParaRPr lang="en-GB" dirty="0"/>
          </a:p>
          <a:p>
            <a:r>
              <a:rPr lang="en-GB" b="1" dirty="0"/>
              <a:t>HOW TO TEACH IT:</a:t>
            </a:r>
          </a:p>
          <a:p>
            <a:endParaRPr lang="en-GB" dirty="0"/>
          </a:p>
          <a:p>
            <a:r>
              <a:rPr lang="en-GB" b="1" dirty="0"/>
              <a:t>1. Take each function across both columns, the people first, then the organisational conditions.</a:t>
            </a:r>
          </a:p>
          <a:p>
            <a:endParaRPr lang="en-GB" dirty="0"/>
          </a:p>
          <a:p>
            <a:r>
              <a:rPr lang="en-GB" dirty="0"/>
              <a:t>F · Foster a Results Culture.</a:t>
            </a:r>
          </a:p>
          <a:p>
            <a:r>
              <a:rPr lang="en-GB" dirty="0"/>
              <a:t>People performance. Say: "Establish a culture of individual and team performance ownership. Employees understand their targets, take responsibility for commitments and demonstrate expected behaviours. Leaders reinforce performance through regular feedback, recognition of dependable contributors and consistent responses to underperformance. Achieving results through behaviours that undermine colleagues, customers or organisational values is not acceptable performance."</a:t>
            </a:r>
          </a:p>
          <a:p>
            <a:r>
              <a:rPr lang="en-GB" dirty="0"/>
              <a:t>Organisational performance. Say: "Establish organisational responsibility for enabling results. Leaders must demonstrate the same commitment to maintaining effective operating conditions that they expect employees to demonstrate towards their targets. Recurring system failures, inadequate resources or governance delays cannot be continually tolerated while employees are held accountable for missed results. A results culture requires leaders to address constraints in the organisational conditions that repeatedly undermine delivery."</a:t>
            </a:r>
          </a:p>
          <a:p>
            <a:endParaRPr lang="en-GB" dirty="0"/>
          </a:p>
          <a:p>
            <a:r>
              <a:rPr lang="en-GB" dirty="0"/>
              <a:t>A · Align Performance.</a:t>
            </a:r>
          </a:p>
          <a:p>
            <a:r>
              <a:rPr lang="en-GB" dirty="0"/>
              <a:t>People performance. Say: "Connect individual and team performance to enterprise strategic outcomes. Strategic priorities must translate into meaningful KPIs, OKRs and behavioural expectations. Employees should understand how their work contributes to broader organisational results. Alignment also includes collaboration where successful delivery depends on contributions across departments."</a:t>
            </a:r>
          </a:p>
          <a:p>
            <a:r>
              <a:rPr lang="en-GB" dirty="0"/>
              <a:t>Organisational performance. Say: "Align the organisational conditions with enterprise strategic requirements. The working environment, systems, resources and governance arrangements must be configured to support the results the organisation intends to achieve. For example, a strategic commitment to faster customer service must be supported by efficient workflows, sufficient capacity and timely decision-making. Targets become difficult to achieve when organisational capability is misaligned with strategic ambition."</a:t>
            </a:r>
          </a:p>
          <a:p>
            <a:endParaRPr lang="en-GB" dirty="0"/>
          </a:p>
          <a:p>
            <a:r>
              <a:rPr lang="en-GB" dirty="0"/>
              <a:t>C · Create Measurement Transparency.</a:t>
            </a:r>
          </a:p>
          <a:p>
            <a:r>
              <a:rPr lang="en-GB" dirty="0"/>
              <a:t>People performance. Say: "Make performance expectations and assessment criteria clear and credible. Employees must understand their KPIs, targets, weightings, behavioural standards and rating criteria. Performance assessments should rest on observable evidence. Transparency allows employees to understand their progress and builds confidence in the fairness of performance evaluations."</a:t>
            </a:r>
          </a:p>
          <a:p>
            <a:r>
              <a:rPr lang="en-GB" dirty="0"/>
              <a:t>Organisational performance. Say: "Make organisational performance conditions measurable and visible. Leaders need evidence of whether the organisational conditions are supporting or constraining delivery. This includes system availability, process efficiency, capacity against demand, cross-functional coordination and decision turnaround times. A missed departmental target reveals a performance gap; evidence on the organisational conditions helps establish why that gap exists and where intervention is required."</a:t>
            </a:r>
          </a:p>
          <a:p>
            <a:endParaRPr lang="en-GB" dirty="0"/>
          </a:p>
          <a:p>
            <a:r>
              <a:rPr lang="en-GB" dirty="0"/>
              <a:t>E · Embed Shared Accountability.</a:t>
            </a:r>
          </a:p>
          <a:p>
            <a:r>
              <a:rPr lang="en-GB" dirty="0"/>
              <a:t>People performance. Say: "Clarify responsibility for individual contributions and collective results. Individuals remain accountable for their KPIs, OKRs and behaviours. Managers are accountable for setting expectations, providing feedback and addressing performance concerns. Where results require teamwork, each person’s contribution and responsibilities must be clear. Shared accountability should strengthen ownership without making responsibility ambiguous."</a:t>
            </a:r>
          </a:p>
          <a:p>
            <a:r>
              <a:rPr lang="en-GB" dirty="0"/>
              <a:t>Organisational performance. Say: "Assign accountability for organisational enablement and constraint resolution. Responsibility for each organisational condition must sit with the appropriate leader. Operations may own process efficiency, IT may own system reliability, resource owners may own capacity, and executives may own governance decisions. Where one function’s performance depends on another, the dependency, accountable owner and escalation arrangements must be explicit. This forms part of the foundation for the S2R® Contribution Map™."</a:t>
            </a:r>
          </a:p>
          <a:p>
            <a:endParaRPr lang="en-GB" dirty="0"/>
          </a:p>
          <a:p>
            <a:r>
              <a:rPr lang="en-GB" dirty="0"/>
              <a:t>S · Support Continuous Development.</a:t>
            </a:r>
          </a:p>
          <a:p>
            <a:r>
              <a:rPr lang="en-GB" dirty="0"/>
              <a:t>People performance. Say: "Use performance evidence to strengthen individual and team capability. Reviews should identify development needs linked to actual performance requirements. These may include technical skills, planning, decision-making, leadership, collaboration or behavioural improvement. Development actions should have clear objectives and follow-up reviews to determine whether performance has improved."</a:t>
            </a:r>
          </a:p>
          <a:p>
            <a:r>
              <a:rPr lang="en-GB" dirty="0"/>
              <a:t>Organisational performance. Say: "Use performance evidence to strengthen organisational operating capability. Recurring constraints in the organisational conditions should trigger improvements to workflows, technologies, resource allocation, operating conditions or governance arrangements. For example, repeated approval delays may require redesigned decision rights, while persistent capacity shortages may require resource reallocation. Organisational improvement must be monitored to establish whether the intervention strengthens delivery."</a:t>
            </a:r>
          </a:p>
          <a:p>
            <a:endParaRPr lang="en-GB"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1.4 — HOW FACES WORKS WHEN THE ENTERPRISE RESULT FALLS SHORT</a:t>
            </a:r>
          </a:p>
          <a:p>
            <a:endParaRPr lang="en-GB" dirty="0"/>
          </a:p>
          <a:p>
            <a:r>
              <a:rPr lang="en-GB" b="1" dirty="0"/>
              <a:t>HOW TO TEACH IT:</a:t>
            </a:r>
          </a:p>
          <a:p>
            <a:endParaRPr lang="en-GB" dirty="0"/>
          </a:p>
          <a:p>
            <a:r>
              <a:rPr lang="en-GB" b="1" dirty="0"/>
              <a:t>1. Set the scene.</a:t>
            </a:r>
          </a:p>
          <a:p>
            <a:r>
              <a:rPr lang="en-GB" dirty="0"/>
              <a:t>Say: "Assume the organisation reviews its performance and finds that only 65% of customer enquiries are being resolved within 48 hours, against the year-end target of 90%. The review reveals different performance conditions across the four functions."</a:t>
            </a:r>
          </a:p>
          <a:p>
            <a:endParaRPr lang="en-GB" dirty="0"/>
          </a:p>
          <a:p>
            <a:r>
              <a:rPr lang="en-GB" b="1" dirty="0"/>
              <a:t>2. Walk through the four functions.</a:t>
            </a:r>
          </a:p>
          <a:p>
            <a:r>
              <a:rPr lang="en-GB" dirty="0"/>
              <a:t>Walk participants through the four functions, showing how the same FACES principles are applied differently according to the contributions required.</a:t>
            </a:r>
          </a:p>
          <a:p>
            <a:r>
              <a:rPr lang="en-GB" dirty="0"/>
              <a:t>Customer Service. Evidence: Follow-through on outstanding enquiries is below the agreed standard. How FACES is applied: Outstanding cases are reviewed against assigned responsibilities. Employees receive feedback on missed commitments, recurring obstacles are escalated, and subsequent follow-through results establish whether performance is improving.</a:t>
            </a:r>
          </a:p>
          <a:p>
            <a:r>
              <a:rPr lang="en-GB" dirty="0"/>
              <a:t>IT. Evidence: Incident-response commitments are being achieved, but system availability remains below the required standard. How FACES is applied: Incident-response performance and system availability are examined separately. IT leadership investigates recurring outages, assigns responsibility for correcting the underlying infrastructure problems and reviews subsequent availability results.</a:t>
            </a:r>
          </a:p>
          <a:p>
            <a:r>
              <a:rPr lang="en-GB" dirty="0"/>
              <a:t>Operations. Evidence: Processing performance is affected by approval delays and some employee processing gaps. How FACES is applied: Processing records distinguish employee-related delays from approval bottlenecks. Employees receive support where performance gaps are identified, while the appropriate decision owners review approval arrangements that are slowing delivery.</a:t>
            </a:r>
          </a:p>
          <a:p>
            <a:r>
              <a:rPr lang="en-GB" dirty="0"/>
              <a:t>HR / Workforce Planning. Evidence: Staffing schedules are completed as required, but actual staffing coverage remains insufficient. How FACES is applied: Completed schedules are compared with actual staffing requirements. Workforce Planning coordinates available staffing adjustments, while unresolved capacity requirements are submitted to the appropriate resource decision-makers.</a:t>
            </a:r>
          </a:p>
          <a:p>
            <a:endParaRPr lang="en-GB" dirty="0"/>
          </a:p>
          <a:p>
            <a:r>
              <a:rPr lang="en-GB" b="1" dirty="0"/>
              <a:t>3. Draw the distinction.</a:t>
            </a:r>
          </a:p>
          <a:p>
            <a:r>
              <a:rPr lang="en-GB" dirty="0"/>
              <a:t>Draw attention to the distinction between people performance accountability and organisational enablement accountability.</a:t>
            </a:r>
          </a:p>
          <a:p>
            <a:endParaRPr lang="en-GB" dirty="0"/>
          </a:p>
          <a:p>
            <a:r>
              <a:rPr lang="en-GB" b="1" dirty="0"/>
              <a:t>4. Conclude by reinforcing the connection.</a:t>
            </a:r>
          </a:p>
          <a:p>
            <a:r>
              <a:rPr lang="en-GB" dirty="0"/>
              <a:t>Say: "The S2R® Contribution Map™ establishes the contributions, performance measures and enabling conditions required for enterprise results. FACES establishes the management disciplines through which those contributions are aligned, evaluated, acted upon and continuously strengthened."</a:t>
            </a:r>
          </a:p>
          <a:p>
            <a:endParaRPr lang="en-GB" dirty="0"/>
          </a:p>
          <a:p>
            <a:r>
              <a:rPr lang="en-GB" b="1" dirty="0"/>
              <a:t>ON THE PORTAL, AFTER THE TEACHING:</a:t>
            </a:r>
          </a:p>
          <a:p>
            <a:r>
              <a:rPr lang="en-GB" dirty="0"/>
              <a:t>Participants write a personal reflection at the foot of part 1.4 (Learning Portfolio): For the Key Result you chose in part 1.3: which FACES function is weakest in the way your organisation manages these contributions today, for the people and for the organisational conditions? Which one management arrangement would strengthen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2.1.1 — HOW THE FOUR EXECUTION BRIDGES WORK TOGETHER</a:t>
            </a:r>
          </a:p>
          <a:p>
            <a:endParaRPr lang="en-GB" dirty="0"/>
          </a:p>
          <a:p>
            <a:r>
              <a:rPr lang="en-GB" b="1" dirty="0"/>
              <a:t>HOW TO TEACH IT:</a:t>
            </a:r>
          </a:p>
          <a:p>
            <a:endParaRPr lang="en-GB" dirty="0"/>
          </a:p>
          <a:p>
            <a:r>
              <a:rPr lang="en-GB" b="1" dirty="0"/>
              <a:t>1. Frame the slide.</a:t>
            </a:r>
          </a:p>
          <a:p>
            <a:r>
              <a:rPr lang="en-GB" dirty="0"/>
              <a:t>Say: "The four bridges work together to sustain the connection between strategy and results. Each addresses a particular risk that can weaken execution across people performance and organisational performance."</a:t>
            </a:r>
          </a:p>
          <a:p>
            <a:r>
              <a:rPr lang="en-GB" dirty="0"/>
              <a:t>Take the bridges one at a time through the table: why each matters, what it sustains for the people, what it sustains for the organisational conditions, and what happens when it weakens.</a:t>
            </a:r>
          </a:p>
          <a:p>
            <a:endParaRPr lang="en-GB" dirty="0"/>
          </a:p>
          <a:p>
            <a:r>
              <a:rPr lang="en-GB" b="1" dirty="0"/>
              <a:t>2. Teach each bridge.</a:t>
            </a:r>
          </a:p>
          <a:p>
            <a:endParaRPr lang="en-GB" dirty="0"/>
          </a:p>
          <a:p>
            <a:r>
              <a:rPr lang="en-GB" dirty="0"/>
              <a:t>Bridge 1. Decomposing the Big Picture.</a:t>
            </a:r>
          </a:p>
          <a:p>
            <a:r>
              <a:rPr lang="en-GB" dirty="0"/>
              <a:t>Why it matters. Say: "Enterprise strategy must remain connected to the contributions through which it is delivered. As priorities and operating demands change, the relationship between functional performance and enterprise outcomes must remain clear."</a:t>
            </a:r>
          </a:p>
          <a:p>
            <a:r>
              <a:rPr lang="en-GB" dirty="0"/>
              <a:t>People performance: Maintains the line of sight between enterprise objectives and individual or team expectations. Employees understand how their contributions support the intended result, including where delivery depends on other functions.</a:t>
            </a:r>
          </a:p>
          <a:p>
            <a:r>
              <a:rPr lang="en-GB" dirty="0"/>
              <a:t>Organisational performance: Maintains alignment between strategic requirements and the organisational conditions needed to support them. Systems, resources, workflows and decision arrangements must remain appropriate to the demands of execution.</a:t>
            </a:r>
          </a:p>
          <a:p>
            <a:r>
              <a:rPr lang="en-GB" dirty="0"/>
              <a:t>What happens when the bridge weakens: Functions become increasingly focused on their own activities and targets. Individual performance may appear satisfactory while the collective contribution to enterprise results weakens.</a:t>
            </a:r>
          </a:p>
          <a:p>
            <a:endParaRPr lang="en-GB" dirty="0"/>
          </a:p>
          <a:p>
            <a:r>
              <a:rPr lang="en-GB" dirty="0"/>
              <a:t>Bridge 2. Defining the Logic of Success.</a:t>
            </a:r>
          </a:p>
          <a:p>
            <a:r>
              <a:rPr lang="en-GB" dirty="0"/>
              <a:t>Why it matters. Say: "Performance must be evaluated against a shared understanding of successful delivery. Completing an activity or achieving an isolated target does not necessarily establish that the intended contribution has been achieved."</a:t>
            </a:r>
          </a:p>
          <a:p>
            <a:r>
              <a:rPr lang="en-GB" dirty="0"/>
              <a:t>People performance: Establishes clear expectations for results, performance standards, behaviours and evidence of achievement. Employees and managers have a credible basis for evaluating contribution.</a:t>
            </a:r>
          </a:p>
          <a:p>
            <a:r>
              <a:rPr lang="en-GB" dirty="0"/>
              <a:t>Organisational performance: Establishes how effective organisational enablement will be recognised. Relevant organisational conditions are assessed through appropriate measures or qualitative evidence of their effectiveness.</a:t>
            </a:r>
          </a:p>
          <a:p>
            <a:r>
              <a:rPr lang="en-GB" dirty="0"/>
              <a:t>What happens when the bridge weakens: Different functions interpret success differently. People performance may be rated positively while organisational constraints remain unresolved, creating a misleading picture of execution readiness and achievement.</a:t>
            </a:r>
          </a:p>
          <a:p>
            <a:endParaRPr lang="en-GB" dirty="0"/>
          </a:p>
          <a:p>
            <a:r>
              <a:rPr lang="en-GB" dirty="0"/>
              <a:t>Bridge 3. Calibrating the Rhythm.</a:t>
            </a:r>
          </a:p>
          <a:p>
            <a:r>
              <a:rPr lang="en-GB" dirty="0"/>
              <a:t>Why it matters. Say: "Execution unfolds over time. Changes in performance, demand and operating conditions must become visible early enough for leaders to influence the outcome."</a:t>
            </a:r>
          </a:p>
          <a:p>
            <a:r>
              <a:rPr lang="en-GB" dirty="0"/>
              <a:t>People performance: Provides regular visibility of individual and team progress, emerging performance gaps and development needs. Review frequency reflects the nature of the contribution and its effect on results.</a:t>
            </a:r>
          </a:p>
          <a:p>
            <a:r>
              <a:rPr lang="en-GB" dirty="0"/>
              <a:t>Organisational performance: Provides visibility of changing organisational conditions, such as system reliability, staffing capacity, process efficiency and decision delays. Monitoring frequency reflects the nature and significance of each condition.</a:t>
            </a:r>
          </a:p>
          <a:p>
            <a:r>
              <a:rPr lang="en-GB" dirty="0"/>
              <a:t>What happens when the bridge weakens: Performance deterioration is recognised too late. Employees continue working against targets while emerging organisational constraints accumulate, leaving limited opportunity for recovery.</a:t>
            </a:r>
          </a:p>
          <a:p>
            <a:endParaRPr lang="en-GB" dirty="0"/>
          </a:p>
          <a:p>
            <a:r>
              <a:rPr lang="en-GB" dirty="0"/>
              <a:t>Bridge 4. Structuring the Dialogue.</a:t>
            </a:r>
          </a:p>
          <a:p>
            <a:r>
              <a:rPr lang="en-GB" dirty="0"/>
              <a:t>Why it matters. Say: "Performance evidence creates value when it informs decisions and action. Reviews must establish what is influencing results, who is responsible and what response is required."</a:t>
            </a:r>
          </a:p>
          <a:p>
            <a:r>
              <a:rPr lang="en-GB" dirty="0"/>
              <a:t>People performance: Enables evidence-based conversations about contribution, achievement, behaviour, performance gaps and improvement. Employees and managers establish appropriate responses and follow-through.</a:t>
            </a:r>
          </a:p>
          <a:p>
            <a:r>
              <a:rPr lang="en-GB" dirty="0"/>
              <a:t>Organisational performance: Enables leaders to examine constraints in the organisational conditions, determine their effect on delivery and assign decisions or interventions to the appropriate leaders. Cross-functional dependencies are addressed collectively.</a:t>
            </a:r>
          </a:p>
          <a:p>
            <a:r>
              <a:rPr lang="en-GB" dirty="0"/>
              <a:t>What happens when the bridge weakens: Performance meetings become reporting exercises. The same gaps recur because evidence does not consistently lead to decisions, coordinated interventions and accountable follow-through.</a:t>
            </a:r>
          </a:p>
          <a:p>
            <a:endParaRPr lang="en-GB" dirty="0"/>
          </a:p>
          <a:p>
            <a:r>
              <a:rPr lang="en-GB" b="1" dirty="0"/>
              <a:t>3. Ask, now that the bridges are taught.</a:t>
            </a:r>
          </a:p>
          <a:p>
            <a:r>
              <a:rPr lang="en-GB" dirty="0"/>
              <a:t>Ask: "Which of the four bridges is weakest in your organisation, and what do you see happening as a result?" Take two or three answers in the chat.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2.2.2 — ACCOUNTABILITY FOR PEOPLE PERFORMANCE AND ORGANISATIONAL PERFORMANCE</a:t>
            </a:r>
          </a:p>
          <a:p>
            <a:endParaRPr lang="en-GB" dirty="0"/>
          </a:p>
          <a:p>
            <a:r>
              <a:rPr lang="en-GB" b="1" dirty="0"/>
              <a:t>HOW TO TEACH IT:</a:t>
            </a:r>
          </a:p>
          <a:p>
            <a:endParaRPr lang="en-GB" dirty="0"/>
          </a:p>
          <a:p>
            <a:r>
              <a:rPr lang="en-GB" b="1" dirty="0"/>
              <a:t>1. Apply the distinction to both systems.</a:t>
            </a:r>
          </a:p>
          <a:p>
            <a:r>
              <a:rPr lang="en-GB" dirty="0"/>
              <a:t>Say: "The distinction between compliance and commitment applies to both human and organisational performance."</a:t>
            </a:r>
          </a:p>
          <a:p>
            <a:r>
              <a:rPr lang="en-GB" dirty="0"/>
              <a:t>People performance. Say: "A compliance-driven approach tends to emphasise whether employees have met prescribed KPIs, OKRs and behavioural standards. A commitment-driven approach maintains these expectations while strengthening employees’ understanding of their contribution, ownership of results and participation in performance improvement."</a:t>
            </a:r>
          </a:p>
          <a:p>
            <a:r>
              <a:rPr lang="en-GB" dirty="0"/>
              <a:t>Organisational performance. Say: "A compliance-driven approach may establish requirements for systems, resources, processes and governance, but concentrate primarily on whether prescribed arrangements have been followed. A commitment-driven approach also examines whether those arrangements are effective in supporting the intended results and whether emerging constraints are being addressed."</a:t>
            </a:r>
          </a:p>
          <a:p>
            <a:endParaRPr lang="en-GB" dirty="0"/>
          </a:p>
          <a:p>
            <a:r>
              <a:rPr lang="en-GB" b="1" dirty="0"/>
              <a:t>2. Show why it matters when performance falls short.</a:t>
            </a:r>
          </a:p>
          <a:p>
            <a:r>
              <a:rPr lang="en-GB" dirty="0"/>
              <a:t>Say: "This distinction becomes particularly important when performance falls short. An employee may miss a target because of inadequate follow-through, an organisational constraint or a combination of both. A credible performance management system distinguishes between these causes before determining the appropriate response."</a:t>
            </a:r>
          </a:p>
          <a:p>
            <a:r>
              <a:rPr lang="en-GB" dirty="0"/>
              <a:t>Say: "Commitment strengthens accountability when employees remain responsible for their contributions and organisational leaders remain equally responsible for the enabling conditions within their authority."</a:t>
            </a:r>
          </a:p>
          <a:p>
            <a:endParaRPr lang="en-GB" dirty="0"/>
          </a:p>
          <a:p>
            <a:r>
              <a:rPr lang="en-GB" b="1" dirty="0"/>
              <a:t>3. Ask, now that the architectures are taught.</a:t>
            </a:r>
          </a:p>
          <a:p>
            <a:r>
              <a:rPr lang="en-GB" dirty="0"/>
              <a:t>Ask: "When a target is missed in your organisation, which of the two architectures does the review conversation sound like?" Take two or three answers in the chat.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3.1.1 — THE TEN EXECUTIVE PERFORMANCE HOT ZONES</a:t>
            </a:r>
          </a:p>
          <a:p>
            <a:endParaRPr lang="en-GB" dirty="0"/>
          </a:p>
          <a:p>
            <a:r>
              <a:rPr lang="en-GB" b="1" dirty="0"/>
              <a:t>HOW TO TEACH IT:</a:t>
            </a:r>
          </a:p>
          <a:p>
            <a:endParaRPr lang="en-GB" dirty="0"/>
          </a:p>
          <a:p>
            <a:r>
              <a:rPr lang="en-GB" b="1" dirty="0"/>
              <a:t>1. Frame the slide.</a:t>
            </a:r>
          </a:p>
          <a:p>
            <a:r>
              <a:rPr lang="en-GB" dirty="0"/>
              <a:t>Say: "The ten executive performance perspectives show the blind spots each may create and the integration required to support enterprise results."</a:t>
            </a:r>
          </a:p>
          <a:p>
            <a:r>
              <a:rPr lang="en-GB" dirty="0"/>
              <a:t>Then open the role cards, starting with the CEO, and read the natural focus, the blind spot and the integration requirement of each.</a:t>
            </a:r>
          </a:p>
          <a:p>
            <a:endParaRPr lang="en-GB" dirty="0"/>
          </a:p>
          <a:p>
            <a:r>
              <a:rPr lang="en-GB" b="1" dirty="0"/>
              <a:t>2. Teach each role, one row at a time.</a:t>
            </a:r>
          </a:p>
          <a:p>
            <a:endParaRPr lang="en-GB" dirty="0"/>
          </a:p>
          <a:p>
            <a:r>
              <a:rPr lang="en-GB" dirty="0"/>
              <a:t>CEO — Chief Executive Officer.</a:t>
            </a:r>
          </a:p>
          <a:p>
            <a:r>
              <a:rPr lang="en-GB" dirty="0"/>
              <a:t>Natural performance focus: Enterprise results, strategic priorities, organisational performance and long-term sustainability.</a:t>
            </a:r>
          </a:p>
          <a:p>
            <a:r>
              <a:rPr lang="en-GB" dirty="0"/>
              <a:t>Potential performance blind spot: Accepting positive functional performance reports without establishing whether their combined contributions are producing the intended enterprise outcomes.</a:t>
            </a:r>
          </a:p>
          <a:p>
            <a:r>
              <a:rPr lang="en-GB" dirty="0"/>
              <a:t>Enterprise integration requirement: Integrate functional performance evidence into a coherent view of strategic progress. Identify where collective performance is weakening and coordinate executive responses.</a:t>
            </a:r>
          </a:p>
          <a:p>
            <a:endParaRPr lang="en-GB" dirty="0"/>
          </a:p>
          <a:p>
            <a:r>
              <a:rPr lang="en-GB" dirty="0"/>
              <a:t>CFO — Chief Financial Officer.</a:t>
            </a:r>
          </a:p>
          <a:p>
            <a:r>
              <a:rPr lang="en-GB" dirty="0"/>
              <a:t>Natural performance focus: Financial performance, profitability, cost efficiency, cash flow and returns on investment.</a:t>
            </a:r>
          </a:p>
          <a:p>
            <a:r>
              <a:rPr lang="en-GB" dirty="0"/>
              <a:t>Potential performance blind spot: Interpreting cost containment or favourable financial variances as success when resource constraints are weakening delivery capability.</a:t>
            </a:r>
          </a:p>
          <a:p>
            <a:r>
              <a:rPr lang="en-GB" dirty="0"/>
              <a:t>Enterprise integration requirement: Establish whether financial decisions and resource allocations sustain the organisational capability required to achieve strategic results.</a:t>
            </a:r>
          </a:p>
          <a:p>
            <a:endParaRPr lang="en-GB" dirty="0"/>
          </a:p>
          <a:p>
            <a:r>
              <a:rPr lang="en-GB" dirty="0"/>
              <a:t>COO — Chief Operating Officer.</a:t>
            </a:r>
          </a:p>
          <a:p>
            <a:r>
              <a:rPr lang="en-GB" dirty="0"/>
              <a:t>Natural performance focus: Operational efficiency, productivity, throughput, quality and delivery reliability.</a:t>
            </a:r>
          </a:p>
          <a:p>
            <a:r>
              <a:rPr lang="en-GB" dirty="0"/>
              <a:t>Potential performance blind spot: Concentrating on operational efficiency and output targets without establishing whether these outputs are producing the intended customer or enterprise outcomes.</a:t>
            </a:r>
          </a:p>
          <a:p>
            <a:r>
              <a:rPr lang="en-GB" dirty="0"/>
              <a:t>Enterprise integration requirement: Connect operational performance to strategic outcomes and examine dependencies affecting delivery across functions.</a:t>
            </a:r>
          </a:p>
          <a:p>
            <a:endParaRPr lang="en-GB" dirty="0"/>
          </a:p>
          <a:p>
            <a:r>
              <a:rPr lang="en-GB" dirty="0"/>
              <a:t>CHRO — Chief Human Resources Officer.</a:t>
            </a:r>
          </a:p>
          <a:p>
            <a:r>
              <a:rPr lang="en-GB" dirty="0"/>
              <a:t>Natural performance focus: Employee performance, workforce capability, leadership effectiveness, engagement and organisational culture.</a:t>
            </a:r>
          </a:p>
          <a:p>
            <a:r>
              <a:rPr lang="en-GB" dirty="0"/>
              <a:t>Potential performance blind spot: Concentrating on individual performance achievement, employee development or HR process completion while organisational conditions continue to constrain delivery.</a:t>
            </a:r>
          </a:p>
          <a:p>
            <a:r>
              <a:rPr lang="en-GB" dirty="0"/>
              <a:t>Enterprise integration requirement: Interpret people performance evidence alongside relevant organisational conditions. Establish whether workforce capability and organisational arrangements support the results expected from people.</a:t>
            </a:r>
          </a:p>
          <a:p>
            <a:endParaRPr lang="en-GB" dirty="0"/>
          </a:p>
          <a:p>
            <a:r>
              <a:rPr lang="en-GB" dirty="0"/>
              <a:t>CIO/CTO — Chief Information/Technology Officer.</a:t>
            </a:r>
          </a:p>
          <a:p>
            <a:r>
              <a:rPr lang="en-GB" dirty="0"/>
              <a:t>Natural performance focus: System reliability, technology performance, digital capability, cybersecurity and information infrastructure.</a:t>
            </a:r>
          </a:p>
          <a:p>
            <a:r>
              <a:rPr lang="en-GB" dirty="0"/>
              <a:t>Potential performance blind spot: Reporting satisfactory technical performance without establishing whether technology is effectively enabling business processes and strategic delivery requirements.</a:t>
            </a:r>
          </a:p>
          <a:p>
            <a:r>
              <a:rPr lang="en-GB" dirty="0"/>
              <a:t>Enterprise integration requirement: Connect technology measures to the operating requirements of dependent functions and the enterprise outcomes those functions support.</a:t>
            </a:r>
          </a:p>
          <a:p>
            <a:endParaRPr lang="en-GB" dirty="0"/>
          </a:p>
          <a:p>
            <a:r>
              <a:rPr lang="en-GB" dirty="0"/>
              <a:t>CMO — Chief Marketing Officer.</a:t>
            </a:r>
          </a:p>
          <a:p>
            <a:r>
              <a:rPr lang="en-GB" dirty="0"/>
              <a:t>Natural performance focus: Market positioning, brand performance, customer engagement, acquisition and market response.</a:t>
            </a:r>
          </a:p>
          <a:p>
            <a:r>
              <a:rPr lang="en-GB" dirty="0"/>
              <a:t>Potential performance blind spot: Interpreting strong campaign results, engagement or customer acquisition as success without establishing whether the organisation can deliver and sustain the value promised.</a:t>
            </a:r>
          </a:p>
          <a:p>
            <a:r>
              <a:rPr lang="en-GB" dirty="0"/>
              <a:t>Enterprise integration requirement: Connect market performance to customer experience, operational delivery capability and the organisation’s strategic value proposition.</a:t>
            </a:r>
          </a:p>
          <a:p>
            <a:endParaRPr lang="en-GB" dirty="0"/>
          </a:p>
          <a:p>
            <a:r>
              <a:rPr lang="en-GB" dirty="0"/>
              <a:t>CCO — Chief Commercial Officer.</a:t>
            </a:r>
          </a:p>
          <a:p>
            <a:r>
              <a:rPr lang="en-GB" dirty="0"/>
              <a:t>Natural performance focus: Revenue growth, sales conversion, commercial pipeline, customer retention and commercial relationships.</a:t>
            </a:r>
          </a:p>
          <a:p>
            <a:r>
              <a:rPr lang="en-GB" dirty="0"/>
              <a:t>Potential performance blind spot: Prioritising sales volumes or revenue targets without adequately considering delivery capacity, profitability or the organisation’s ability to fulfil commitments.</a:t>
            </a:r>
          </a:p>
          <a:p>
            <a:r>
              <a:rPr lang="en-GB" dirty="0"/>
              <a:t>Enterprise integration requirement: Connect commercial performance to financial sustainability, operational capability and customer value delivery.</a:t>
            </a:r>
          </a:p>
          <a:p>
            <a:endParaRPr lang="en-GB" dirty="0"/>
          </a:p>
          <a:p>
            <a:r>
              <a:rPr lang="en-GB" dirty="0"/>
              <a:t>CPO — Chief Procurement Officer.</a:t>
            </a:r>
          </a:p>
          <a:p>
            <a:r>
              <a:rPr lang="en-GB" dirty="0"/>
              <a:t>Natural performance focus: Procurement efficiency, supplier performance, purchasing costs, supply reliability and contract management.</a:t>
            </a:r>
          </a:p>
          <a:p>
            <a:r>
              <a:rPr lang="en-GB" dirty="0"/>
              <a:t>Potential performance blind spot: Prioritising purchasing savings or procurement compliance while overlooking the effects of supplier quality, availability or lead times on operational delivery.</a:t>
            </a:r>
          </a:p>
          <a:p>
            <a:r>
              <a:rPr lang="en-GB" dirty="0"/>
              <a:t>Enterprise integration requirement: Establish whether procurement decisions and supplier arrangements support the quality, reliability and timing required for enterprise performance.</a:t>
            </a:r>
          </a:p>
          <a:p>
            <a:endParaRPr lang="en-GB" dirty="0"/>
          </a:p>
          <a:p>
            <a:r>
              <a:rPr lang="en-GB" dirty="0"/>
              <a:t>CRO — Chief Risk Officer.</a:t>
            </a:r>
          </a:p>
          <a:p>
            <a:r>
              <a:rPr lang="en-GB" dirty="0"/>
              <a:t>Natural performance focus: Risk exposure, regulatory compliance, internal controls and governance effectiveness.</a:t>
            </a:r>
          </a:p>
          <a:p>
            <a:r>
              <a:rPr lang="en-GB" dirty="0"/>
              <a:t>Potential performance blind spot: Concentrating on control compliance or risk avoidance without adequately examining whether governance arrangements are enabling timely and effective execution.</a:t>
            </a:r>
          </a:p>
          <a:p>
            <a:r>
              <a:rPr lang="en-GB" dirty="0"/>
              <a:t>Enterprise integration requirement: Balance risk management requirements with the decision rights, controls and escalation arrangements necessary for reliable delivery.</a:t>
            </a:r>
          </a:p>
          <a:p>
            <a:endParaRPr lang="en-GB" dirty="0"/>
          </a:p>
          <a:p>
            <a:r>
              <a:rPr lang="en-GB" dirty="0"/>
              <a:t>CSO — Chief Strategy Officer.</a:t>
            </a:r>
          </a:p>
          <a:p>
            <a:r>
              <a:rPr lang="en-GB" dirty="0"/>
              <a:t>Natural performance focus: Strategic alignment, strategic initiatives, portfolio priorities and long-term organisational direction.</a:t>
            </a:r>
          </a:p>
          <a:p>
            <a:r>
              <a:rPr lang="en-GB" dirty="0"/>
              <a:t>Potential performance blind spot: Concentrating on strategic milestones, initiative completion or reported alignment without establishing whether execution is producing the intended strategic outcomes.</a:t>
            </a:r>
          </a:p>
          <a:p>
            <a:r>
              <a:rPr lang="en-GB" dirty="0"/>
              <a:t>Enterprise integration requirement: Connect strategic progress reporting to actual enterprise results, functional contributions and the organisational conditions influencing delivery.</a:t>
            </a:r>
          </a:p>
          <a:p>
            <a:endParaRPr lang="en-GB" dirty="0"/>
          </a:p>
          <a:p>
            <a:r>
              <a:rPr lang="en-GB" dirty="0"/>
              <a:t>Executive titles and responsibilities vary between organisations. The table illustrates functional perspectives. Each organisation reads it against its own executive structure.</a:t>
            </a:r>
          </a:p>
          <a:p>
            <a:endParaRPr lang="en-GB" dirty="0"/>
          </a:p>
          <a:p>
            <a:r>
              <a:rPr lang="en-GB" b="1" dirty="0"/>
              <a:t>3. Ask, now that the hot zones are taught.</a:t>
            </a:r>
          </a:p>
          <a:p>
            <a:r>
              <a:rPr lang="en-GB" dirty="0"/>
              <a:t>Ask: "Which blind spot do you recognise in your own executive team, and what does it cost the enterprise result?" Take two or three answers in the chat.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b="1" dirty="0"/>
              <a:t>SECTION 3 REFLECTIONS</a:t>
            </a:r>
          </a:p>
          <a:p>
            <a:endParaRPr lang="en-GB" dirty="0"/>
          </a:p>
          <a:p>
            <a:r>
              <a:rPr lang="en-GB" b="1" dirty="0"/>
              <a:t>HOW TO USE THIS SLIDE:</a:t>
            </a:r>
          </a:p>
          <a:p>
            <a:endParaRPr lang="en-GB" dirty="0"/>
          </a:p>
          <a:p>
            <a:r>
              <a:rPr lang="en-GB" b="1" dirty="0"/>
              <a:t>1. Show the slide and read the prompt aloud.</a:t>
            </a:r>
          </a:p>
          <a:p>
            <a:r>
              <a:rPr lang="en-GB" dirty="0"/>
              <a:t>3.2 Reflection — Your Current PM System: "What is the current PM architecture of your organisation? Which PM system is currently being used?"</a:t>
            </a:r>
          </a:p>
          <a:p>
            <a:endParaRPr lang="en-GB" dirty="0"/>
          </a:p>
          <a:p>
            <a:r>
              <a:rPr lang="en-GB" b="1" dirty="0"/>
              <a:t>2. Say what the reflection is for.</a:t>
            </a:r>
          </a:p>
          <a:p>
            <a:r>
              <a:rPr lang="en-GB" dirty="0"/>
              <a:t>Say: "Describe the architecture you actually have today, against the three shifts, and name the system your organisation uses."</a:t>
            </a:r>
          </a:p>
          <a:p>
            <a:endParaRPr lang="en-GB" dirty="0"/>
          </a:p>
          <a:p>
            <a:r>
              <a:rPr lang="en-GB" b="1" dirty="0"/>
              <a:t>3. Bridge to Section 4.</a:t>
            </a:r>
          </a:p>
          <a:p>
            <a:r>
              <a:rPr lang="en-GB" dirty="0"/>
              <a:t>Say: "Section 4 brings the unit together in one worked example: the contributions an enterprise Key Result requires, and how FACES manages them."</a:t>
            </a:r>
          </a:p>
          <a:p>
            <a:endParaRPr lang="en-GB" dirty="0"/>
          </a:p>
          <a:p>
            <a:r>
              <a:rPr lang="en-GB" b="1" dirty="0"/>
              <a:t>ON THE PORTAL, AFTER THE TEACHING:</a:t>
            </a:r>
          </a:p>
          <a:p>
            <a:r>
              <a:rPr lang="en-GB" dirty="0"/>
              <a:t>Participants write this personal reflection at the foot of part 3.2 of the participant file. It goes into their Learning Portfolio when they submit the unit.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4.1 — MAPPING THE CONTRIBUTIONS REQUIRED FOR ENTERPRISE RESULTS (Worked example: improving customer service)</a:t>
            </a:r>
          </a:p>
          <a:p>
            <a:endParaRPr lang="en-GB" dirty="0"/>
          </a:p>
          <a:p>
            <a:r>
              <a:rPr lang="en-GB" b="1" dirty="0"/>
              <a:t>HOW TO TEACH IT:</a:t>
            </a:r>
          </a:p>
          <a:p>
            <a:endParaRPr lang="en-GB" dirty="0"/>
          </a:p>
          <a:p>
            <a:r>
              <a:rPr lang="en-GB" b="1" dirty="0"/>
              <a:t>1. Frame the worked example.</a:t>
            </a:r>
          </a:p>
          <a:p>
            <a:r>
              <a:rPr lang="en-GB" dirty="0"/>
              <a:t>Say: "The S2R® Contribution Map™ establishes the interconnected contributions required to achieve an enterprise result. It identifies what each function must deliver, the performance expected from individuals and teams, and the organisational conditions necessary to enable those contributions. The following example demonstrates how these requirements are connected across four business functions."</a:t>
            </a:r>
          </a:p>
          <a:p>
            <a:endParaRPr lang="en-GB" dirty="0"/>
          </a:p>
          <a:p>
            <a:r>
              <a:rPr lang="en-GB" b="1" dirty="0"/>
              <a:t>2. Establish the enterprise result.</a:t>
            </a:r>
          </a:p>
          <a:p>
            <a:r>
              <a:rPr lang="en-GB" dirty="0"/>
              <a:t>Enterprise Objective: Deliver a reliable and responsive customer service experience.</a:t>
            </a:r>
          </a:p>
          <a:p>
            <a:r>
              <a:rPr lang="en-GB" dirty="0"/>
              <a:t>Begin with the enterprise key result: "Increase customer enquiries resolved within 48 hours from 65% to 90% by year-end."</a:t>
            </a:r>
          </a:p>
          <a:p>
            <a:r>
              <a:rPr lang="en-GB" dirty="0"/>
              <a:t>Ask: "Which functions must contribute to achieving this result?" Draw attention to Customer Service, IT, Operations and Workforce Planning.</a:t>
            </a:r>
          </a:p>
          <a:p>
            <a:endParaRPr lang="en-GB" dirty="0"/>
          </a:p>
          <a:p>
            <a:r>
              <a:rPr lang="en-GB" b="1" dirty="0"/>
              <a:t>3. Walk through the Contribution Map.</a:t>
            </a:r>
          </a:p>
          <a:p>
            <a:r>
              <a:rPr lang="en-GB" dirty="0"/>
              <a:t>Use Customer Service to demonstrate the distinction between the functional contribution, people performance and organisational enablement. Emphasise that the enterprise target covers all customer enquiries, while the employee resolution measure covers enquiries within employees’ control. Then examine the remaining functions, highlighting how their contributions support the same enterprise result.</a:t>
            </a:r>
          </a:p>
          <a:p>
            <a:endParaRPr lang="en-GB" dirty="0"/>
          </a:p>
          <a:p>
            <a:r>
              <a:rPr lang="en-GB" dirty="0"/>
              <a:t>Customer Service.</a:t>
            </a:r>
          </a:p>
          <a:p>
            <a:r>
              <a:rPr lang="en-GB" dirty="0"/>
              <a:t>Required functional contribution: Resolve customer enquiries accurately and within 48 hours.</a:t>
            </a:r>
          </a:p>
          <a:p>
            <a:r>
              <a:rPr lang="en-GB" dirty="0"/>
              <a:t>People performance, required contribution: Employees resolve assigned enquiries, follow up on outstanding cases and escalate delays requiring support from other functions.</a:t>
            </a:r>
          </a:p>
          <a:p>
            <a:r>
              <a:rPr lang="en-GB" dirty="0"/>
              <a:t>People performance metric: Resolution: ≥90% of enquiries within employees’ control resolved within 48 hours. Follow-through: ≥95% of outstanding enquiries followed up within the agreed period.</a:t>
            </a:r>
          </a:p>
          <a:p>
            <a:r>
              <a:rPr lang="en-GB" dirty="0"/>
              <a:t>Required organisational condition: Systems: An enquiry management system that records ownership, progress and resolution times. Governance: Clear escalation authority for enquiries requiring decisions outside Customer Service.</a:t>
            </a:r>
          </a:p>
          <a:p>
            <a:r>
              <a:rPr lang="en-GB" dirty="0"/>
              <a:t>Organisational conditions, measure or evidence of readiness: Systems: Enquiry records provide complete timestamps and assigned ownership. Governance: Documented escalation routes and named decision owners.</a:t>
            </a:r>
          </a:p>
          <a:p>
            <a:endParaRPr lang="en-GB" dirty="0"/>
          </a:p>
          <a:p>
            <a:r>
              <a:rPr lang="en-GB" dirty="0"/>
              <a:t>IT.</a:t>
            </a:r>
          </a:p>
          <a:p>
            <a:r>
              <a:rPr lang="en-GB" dirty="0"/>
              <a:t>Required functional contribution: Maintain reliable customer management systems to support uninterrupted enquiry processing.</a:t>
            </a:r>
          </a:p>
          <a:p>
            <a:r>
              <a:rPr lang="en-GB" dirty="0"/>
              <a:t>People performance, required contribution: IT employees monitor system performance, respond to incidents and restore disrupted services.</a:t>
            </a:r>
          </a:p>
          <a:p>
            <a:r>
              <a:rPr lang="en-GB" dirty="0"/>
              <a:t>People performance metric: Incident resolution: ≥95% of critical incidents resolved within two hours. Communication: ≥95% of confirmed critical incidents communicated to affected departments within 15 minutes.</a:t>
            </a:r>
          </a:p>
          <a:p>
            <a:r>
              <a:rPr lang="en-GB" dirty="0"/>
              <a:t>Required organisational condition: Systems: Reliable infrastructure and monitoring capability to maintain system availability. Resources: Sufficient technical support coverage during service hours.</a:t>
            </a:r>
          </a:p>
          <a:p>
            <a:r>
              <a:rPr lang="en-GB" dirty="0"/>
              <a:t>Organisational conditions, measure or evidence of readiness: Systems: ≥99% customer management system availability during service hours. Resources: Approved technical support roster covering required service hours.</a:t>
            </a:r>
          </a:p>
          <a:p>
            <a:endParaRPr lang="en-GB" dirty="0"/>
          </a:p>
          <a:p>
            <a:r>
              <a:rPr lang="en-GB" dirty="0"/>
              <a:t>Operations.</a:t>
            </a:r>
          </a:p>
          <a:p>
            <a:r>
              <a:rPr lang="en-GB" dirty="0"/>
              <a:t>Required functional contribution: Complete internal processing and approvals within the turnaround required for customer resolution.</a:t>
            </a:r>
          </a:p>
          <a:p>
            <a:r>
              <a:rPr lang="en-GB" dirty="0"/>
              <a:t>People performance, required contribution: Employees process assigned requests accurately and escalate exceptions that could delay customer resolution.</a:t>
            </a:r>
          </a:p>
          <a:p>
            <a:r>
              <a:rPr lang="en-GB" dirty="0"/>
              <a:t>People performance metric: Turnaround: ≥95% of assigned requests completed within eight working hours. Accuracy: ≥98% processing accuracy.</a:t>
            </a:r>
          </a:p>
          <a:p>
            <a:r>
              <a:rPr lang="en-GB" dirty="0"/>
              <a:t>Required organisational condition: Governance: Approval authority must be assigned at the appropriate level to prevent avoidable delays. Systems: Processing workflows must support timely handovers between Operations and Customer Service.</a:t>
            </a:r>
          </a:p>
          <a:p>
            <a:r>
              <a:rPr lang="en-GB" dirty="0"/>
              <a:t>Organisational conditions, measure or evidence of readiness: Governance: Documented approval limits and designated decision owners. Systems: ≥95% of internal processing requests completed within the agreed turnaround time.</a:t>
            </a:r>
          </a:p>
          <a:p>
            <a:endParaRPr lang="en-GB" dirty="0"/>
          </a:p>
          <a:p>
            <a:r>
              <a:rPr lang="en-GB" dirty="0"/>
              <a:t>HR / Workforce Planning.</a:t>
            </a:r>
          </a:p>
          <a:p>
            <a:r>
              <a:rPr lang="en-GB" dirty="0"/>
              <a:t>Required functional contribution: Ensure customer-facing operations have sufficient staffing capacity and capabilities to meet enquiry demand.</a:t>
            </a:r>
          </a:p>
          <a:p>
            <a:r>
              <a:rPr lang="en-GB" dirty="0"/>
              <a:t>People performance, required contribution: Workforce Planning employees forecast staffing requirements, prepare schedules and coordinate responses to identified capacity gaps.</a:t>
            </a:r>
          </a:p>
          <a:p>
            <a:r>
              <a:rPr lang="en-GB" dirty="0"/>
              <a:t>People performance metric: Planning: 100% of staffing schedules completed before the agreed deadline. Responsiveness: ≥95% of identified staffing gaps addressed within the agreed response period.</a:t>
            </a:r>
          </a:p>
          <a:p>
            <a:r>
              <a:rPr lang="en-GB" dirty="0"/>
              <a:t>Required organisational condition: Resources: Sufficient qualified staff available to meet forecast customer enquiry volumes. Governance: Authority to approve staffing adjustments when demand exceeds available capacity.</a:t>
            </a:r>
          </a:p>
          <a:p>
            <a:r>
              <a:rPr lang="en-GB" dirty="0"/>
              <a:t>Organisational conditions, measure or evidence of readiness: Resources: ≥95% staffing coverage against demand-based requirements. Governance: Agreed staffing adjustment authority and escalation arrangements.</a:t>
            </a:r>
          </a:p>
          <a:p>
            <a:endParaRPr lang="en-GB" dirty="0"/>
          </a:p>
          <a:p>
            <a:r>
              <a:rPr lang="en-GB" dirty="0"/>
              <a:t>Performance targets are illustrative. The purpose is to establish sufficient evidence to determine whether the required contribution is being delivered and whether the organisation is enabling it.</a:t>
            </a:r>
          </a:p>
          <a:p>
            <a:endParaRPr lang="en-GB" dirty="0"/>
          </a:p>
          <a:p>
            <a:r>
              <a:rPr lang="en-GB" b="1" dirty="0"/>
              <a:t>4. Examine the measures.</a:t>
            </a:r>
          </a:p>
          <a:p>
            <a:r>
              <a:rPr lang="en-GB" dirty="0"/>
              <a:t>Ask: "Why do we measure both employee incident-response performance and system availability in IT?" Guide participants to recognise that employees may fulfil their responsibilities while the underlying organisational capability remains inadequate.</a:t>
            </a:r>
          </a:p>
          <a:p>
            <a:endParaRPr lang="en-GB" dirty="0"/>
          </a:p>
          <a:p>
            <a:r>
              <a:rPr lang="en-GB" b="1" dirty="0"/>
              <a:t>5. Consolidate the learning.</a:t>
            </a:r>
          </a:p>
          <a:p>
            <a:r>
              <a:rPr lang="en-GB" dirty="0"/>
              <a:t>Say: "The Contribution Map gives us an integrated view of what must be delivered and enabled across the organisation. It establishes the performance requirements against which contributions can be assessed."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4.1.2 — INTERPRETING THE CONTRIBUTION MAP</a:t>
            </a:r>
          </a:p>
          <a:p>
            <a:endParaRPr lang="en-GB" dirty="0"/>
          </a:p>
          <a:p>
            <a:r>
              <a:rPr lang="en-GB" b="1" dirty="0"/>
              <a:t>HOW TO TEACH IT:</a:t>
            </a:r>
          </a:p>
          <a:p>
            <a:endParaRPr lang="en-GB" dirty="0"/>
          </a:p>
          <a:p>
            <a:r>
              <a:rPr lang="en-GB" b="1" dirty="0"/>
              <a:t>1. Teach the three elements, one card at a time.</a:t>
            </a:r>
          </a:p>
          <a:p>
            <a:r>
              <a:rPr lang="en-GB" dirty="0"/>
              <a:t>Say: "The Contribution Map establishes the relationship between three elements."</a:t>
            </a:r>
          </a:p>
          <a:p>
            <a:r>
              <a:rPr lang="en-GB" dirty="0"/>
              <a:t>1 · Functional contribution: what must the function deliver? Each function has a defined contribution to the enterprise key result.</a:t>
            </a:r>
          </a:p>
          <a:p>
            <a:r>
              <a:rPr lang="en-GB" dirty="0"/>
              <a:t>2 · People performance: what must individuals and teams deliver? The map identifies the results and behaviours required from people, supported by measurable performance expectations wherever practical.</a:t>
            </a:r>
          </a:p>
          <a:p>
            <a:r>
              <a:rPr lang="en-GB" dirty="0"/>
              <a:t>3 · Organisational performance: what conditions must the organisation provide? The map identifies the relevant organisational conditions necessary to enable the human contribution.</a:t>
            </a:r>
          </a:p>
          <a:p>
            <a:endParaRPr lang="en-GB" dirty="0"/>
          </a:p>
          <a:p>
            <a:r>
              <a:rPr lang="en-GB" b="1" dirty="0"/>
              <a:t>2. Close on the measures for the organisational conditions.</a:t>
            </a:r>
          </a:p>
          <a:p>
            <a:r>
              <a:rPr lang="en-GB" dirty="0"/>
              <a:t>Say: "Only the organisational conditions that materially affect delivery are included. Some require numerical performance measures, such as system availability or staffing coverage. Others require evidence that an arrangement or capability exists and is functioning, such as documented approval authority or established escalation procedures."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4.2 — MANAGING THE CONTRIBUTIONS THROUGH FACES (Applying FACES across the four functions)</a:t>
            </a:r>
          </a:p>
          <a:p>
            <a:endParaRPr lang="en-GB" dirty="0"/>
          </a:p>
          <a:p>
            <a:r>
              <a:rPr lang="en-GB" b="1" dirty="0"/>
              <a:t>HOW TO TEACH IT:</a:t>
            </a:r>
          </a:p>
          <a:p>
            <a:endParaRPr lang="en-GB" dirty="0"/>
          </a:p>
          <a:p>
            <a:r>
              <a:rPr lang="en-GB" b="1" dirty="0"/>
              <a:t>1. Connect FACES to the Contribution Map.</a:t>
            </a:r>
          </a:p>
          <a:p>
            <a:r>
              <a:rPr lang="en-GB" dirty="0"/>
              <a:t>Say: "The Contribution Map™ has established the contributions required from Customer Service, IT, Operations and Workforce Planning, including the expected people performance and the organisational conditions necessary to enable delivery. The following example demonstrates how each FACES function is achieved in practice across the four business functions."</a:t>
            </a:r>
          </a:p>
          <a:p>
            <a:r>
              <a:rPr lang="en-GB" dirty="0"/>
              <a:t>Say: "In the first part of this example, we established what each function must contribute and what the organisation must enable. We now examine how these contributions are managed. FACES provides the five management functions required to sustain delivery."</a:t>
            </a:r>
          </a:p>
          <a:p>
            <a:r>
              <a:rPr lang="en-GB" dirty="0"/>
              <a:t>Say: "The next requirement is to manage these contributions consistently throughout execution. FACES provides the five management functions through which performance expectations are aligned, evidence is examined, accountability is maintained and improvement is supported."</a:t>
            </a:r>
          </a:p>
          <a:p>
            <a:endParaRPr lang="en-GB" dirty="0"/>
          </a:p>
          <a:p>
            <a:r>
              <a:rPr lang="en-GB" b="1" dirty="0"/>
              <a:t>2. Demonstrate how FACES operates across functions.</a:t>
            </a:r>
          </a:p>
          <a:p>
            <a:r>
              <a:rPr lang="en-GB" dirty="0"/>
              <a:t>Begin with Customer Service and work through the five FACES functions. Then select IT to demonstrate how the same management functions apply to different performance responsibilities. Emphasise that FACES applies to both employee contributions and organisational enabling conditions.</a:t>
            </a:r>
          </a:p>
          <a:p>
            <a:endParaRPr lang="en-GB" dirty="0"/>
          </a:p>
          <a:p>
            <a:r>
              <a:rPr lang="en-GB" dirty="0"/>
              <a:t>F · Foster a Results Culture.</a:t>
            </a:r>
          </a:p>
          <a:p>
            <a:r>
              <a:rPr lang="en-GB" dirty="0"/>
              <a:t>Customer Service: Customer enquiries have clear ownership through to resolution. Employees discuss outstanding commitments, explain delays and recognise colleagues who consistently deliver reliable service. Managers demonstrate the same ownership by addressing obstacles raised by their teams.</a:t>
            </a:r>
          </a:p>
          <a:p>
            <a:r>
              <a:rPr lang="en-GB" dirty="0"/>
              <a:t>IT: System incidents are openly reviewed to understand what happened, how the team responded and what must improve. Employees raise emerging reliability risks early, while IT leadership follows through on recurring infrastructure problems.</a:t>
            </a:r>
          </a:p>
          <a:p>
            <a:r>
              <a:rPr lang="en-GB" dirty="0"/>
              <a:t>Operations: Processing delays and errors are discussed openly, with attention to their consequences for customer resolution. Employees raise potential bottlenecks early, and managers respond to reported constraints so that they do not recur.</a:t>
            </a:r>
          </a:p>
          <a:p>
            <a:r>
              <a:rPr lang="en-GB" dirty="0"/>
              <a:t>HR / Workforce Planning: Staffing gaps are discussed as performance risks requiring action. Workforce Planning and operational managers jointly examine whether available capacity can meet expected demand and raise emerging shortages before service delivery is affected.</a:t>
            </a:r>
          </a:p>
          <a:p>
            <a:endParaRPr lang="en-GB" dirty="0"/>
          </a:p>
          <a:p>
            <a:r>
              <a:rPr lang="en-GB" dirty="0"/>
              <a:t>A · Align Performance.</a:t>
            </a:r>
          </a:p>
          <a:p>
            <a:r>
              <a:rPr lang="en-GB" dirty="0"/>
              <a:t>Customer Service: Individual resolution and follow-through commitments are linked to the enterprise 48-hour target. The enquiry management system and escalation arrangements are checked against the requirements for timely resolution.</a:t>
            </a:r>
          </a:p>
          <a:p>
            <a:r>
              <a:rPr lang="en-GB" dirty="0"/>
              <a:t>IT: Incident-resolution and communication commitments are linked to the required system availability. Technical support arrangements are matched to the service hours and reliability requirements established in the Contribution Map.</a:t>
            </a:r>
          </a:p>
          <a:p>
            <a:r>
              <a:rPr lang="en-GB" dirty="0"/>
              <a:t>Operations: Processing turnaround and accuracy expectations are agreed in relation to the time available for customer enquiry resolution. Workflows and approval authority are checked to ensure they support the required turnaround.</a:t>
            </a:r>
          </a:p>
          <a:p>
            <a:r>
              <a:rPr lang="en-GB" dirty="0"/>
              <a:t>HR / Workforce Planning: Staffing forecasts and schedules are based on expected enquiry volumes and the service capacity required. Staffing coverage requirements are agreed with the operational functions that depend on them.</a:t>
            </a:r>
          </a:p>
          <a:p>
            <a:endParaRPr lang="en-GB" dirty="0"/>
          </a:p>
          <a:p>
            <a:r>
              <a:rPr lang="en-GB" dirty="0"/>
              <a:t>C · Create Measurement Transparency.</a:t>
            </a:r>
          </a:p>
          <a:p>
            <a:r>
              <a:rPr lang="en-GB" dirty="0"/>
              <a:t>Customer Service: Resolution and follow-through results are visible against agreed standards. Outstanding enquiries show their assigned owners, elapsed time and any unresolved dependencies on other functions.</a:t>
            </a:r>
          </a:p>
          <a:p>
            <a:r>
              <a:rPr lang="en-GB" dirty="0"/>
              <a:t>IT: Incident-response results and system availability are reported together. The evidence distinguishes how effectively employees respond to incidents from whether the infrastructure is delivering the required reliability.</a:t>
            </a:r>
          </a:p>
          <a:p>
            <a:r>
              <a:rPr lang="en-GB" dirty="0"/>
              <a:t>Operations: Processing reports show turnaround, accuracy and the causes of delays. Approval waiting times are visible alongside employee processing performance.</a:t>
            </a:r>
          </a:p>
          <a:p>
            <a:r>
              <a:rPr lang="en-GB" dirty="0"/>
              <a:t>HR / Workforce Planning: Staffing schedules, forecast demand and actual staffing coverage are reviewed together. The evidence shows whether scheduling commitments have been fulfilled and whether sufficient qualified employees are available.</a:t>
            </a:r>
          </a:p>
          <a:p>
            <a:endParaRPr lang="en-GB" dirty="0"/>
          </a:p>
          <a:p>
            <a:r>
              <a:rPr lang="en-GB" dirty="0"/>
              <a:t>E · Embed Shared Accountability.</a:t>
            </a:r>
          </a:p>
          <a:p>
            <a:r>
              <a:rPr lang="en-GB" dirty="0"/>
              <a:t>Customer Service: Each enquiry has an assigned owner responsible for follow-through. Delays requiring IT, Operations or staffing support are recorded against the responsible function, with agreed escalation and resolution arrangements.</a:t>
            </a:r>
          </a:p>
          <a:p>
            <a:r>
              <a:rPr lang="en-GB" dirty="0"/>
              <a:t>IT: Incident owners are responsible for response and communication commitments. IT leadership is responsible for system reliability and for securing decisions or resources needed to correct infrastructure constraints.</a:t>
            </a:r>
          </a:p>
          <a:p>
            <a:r>
              <a:rPr lang="en-GB" dirty="0"/>
              <a:t>Operations: Processing responsibilities are assigned to employees and supervisors. Approval delays are referred to the managers who control the relevant decision rights, with unresolved constraints escalated to the Operations Executive.</a:t>
            </a:r>
          </a:p>
          <a:p>
            <a:r>
              <a:rPr lang="en-GB" dirty="0"/>
              <a:t>HR / Workforce Planning: Workforce Planning is responsible for forecasts, schedules and coordinating staffing adjustments. Operational managers confirm their staffing requirements, while decisions on additional capacity are referred to the appropriate resource authority.</a:t>
            </a:r>
          </a:p>
          <a:p>
            <a:endParaRPr lang="en-GB" dirty="0"/>
          </a:p>
          <a:p>
            <a:r>
              <a:rPr lang="en-GB" dirty="0"/>
              <a:t>S · Support Continuous Development.</a:t>
            </a:r>
          </a:p>
          <a:p>
            <a:r>
              <a:rPr lang="en-GB" dirty="0"/>
              <a:t>Customer Service: Repeated follow-through gaps are examined using actual enquiry records. Coaching addresses employee capability gaps, while recurring problems with case tracking or escalation lead to improvements in the supporting arrangements. Subsequent results establish whether performance has improved.</a:t>
            </a:r>
          </a:p>
          <a:p>
            <a:r>
              <a:rPr lang="en-GB" dirty="0"/>
              <a:t>IT: Incident trends identify technical skills requiring development and recurring infrastructure weaknesses requiring correction. Subsequent incident-response and availability results show whether the improvements have strengthened service reliability.</a:t>
            </a:r>
          </a:p>
          <a:p>
            <a:r>
              <a:rPr lang="en-GB" dirty="0"/>
              <a:t>Operations: Processing errors inform targeted employee development. Recurring workflow and approval delays inform process or governance improvements. Changes are evaluated against turnaround and accuracy performance.</a:t>
            </a:r>
          </a:p>
          <a:p>
            <a:r>
              <a:rPr lang="en-GB" dirty="0"/>
              <a:t>HR / Workforce Planning: Differences between forecast and actual demand inform improvements to workforce planning. Recurring staffing shortages lead to adjustments in scheduling, deployment or capacity arrangements, with staffing coverage used to evaluate their effectiveness.</a:t>
            </a:r>
          </a:p>
          <a:p>
            <a:endParaRPr lang="en-GB" dirty="0"/>
          </a:p>
          <a:p>
            <a:r>
              <a:rPr lang="en-GB" b="1" dirty="0"/>
              <a:t>3. Examine shared accountability.</a:t>
            </a:r>
          </a:p>
          <a:p>
            <a:r>
              <a:rPr lang="en-GB" dirty="0"/>
              <a:t>Ask: "If Customer Service employees are meeting their performance commitments but system outages continue to delay customer resolution, who must take responsibility for the performance gap?" Guide participants to distinguish employee accountability from the organisational responsibility for system reliability.</a:t>
            </a:r>
          </a:p>
          <a:p>
            <a:endParaRPr lang="en-GB" dirty="0"/>
          </a:p>
          <a:p>
            <a:r>
              <a:rPr lang="en-GB" b="1" dirty="0"/>
              <a:t>4. Connect management action to improvement.</a:t>
            </a:r>
          </a:p>
          <a:p>
            <a:r>
              <a:rPr lang="en-GB" dirty="0"/>
              <a:t>Ask: "What should happen when performance reviews repeatedly identify the same approval delays or staffing shortages?" Emphasise that performance management must lead to appropriate decisions, assigned responsibilities and follow-through.</a:t>
            </a:r>
          </a:p>
          <a:p>
            <a:endParaRPr lang="en-GB" dirty="0"/>
          </a:p>
          <a:p>
            <a:r>
              <a:rPr lang="en-GB" b="1" dirty="0"/>
              <a:t>5. Interpret the worked example (the five rows on the slide).</a:t>
            </a:r>
          </a:p>
          <a:p>
            <a:r>
              <a:rPr lang="en-GB" dirty="0"/>
              <a:t>Say: "FACES operates through five connected disciplines."</a:t>
            </a:r>
          </a:p>
          <a:p>
            <a:r>
              <a:rPr lang="en-GB" dirty="0"/>
              <a:t>Foster: Performance commitments and delivery obstacles are discussed openly, with consistent follow-through from employees and leaders.</a:t>
            </a:r>
          </a:p>
          <a:p>
            <a:r>
              <a:rPr lang="en-GB" dirty="0"/>
              <a:t>Align: Human contributions and organisational conditions are connected to the requirements of the enterprise key result.</a:t>
            </a:r>
          </a:p>
          <a:p>
            <a:r>
              <a:rPr lang="en-GB" dirty="0"/>
              <a:t>Create Measurement Transparency: Performance evidence makes both employee contributions and organisational constraints visible.</a:t>
            </a:r>
          </a:p>
          <a:p>
            <a:r>
              <a:rPr lang="en-GB" dirty="0"/>
              <a:t>Embed Shared Accountability: Responsibilities for delivering contributions and resolving constraints are assigned to the people and functions with the relevant authority.</a:t>
            </a:r>
          </a:p>
          <a:p>
            <a:r>
              <a:rPr lang="en-GB" dirty="0"/>
              <a:t>Support Continuous Development: Performance findings lead to improvements in employee capability and organisational operating conditions, with subsequent results used to evaluate progress.</a:t>
            </a:r>
          </a:p>
          <a:p>
            <a:r>
              <a:rPr lang="en-GB" dirty="0"/>
              <a:t>Say: "Together, these disciplines ensure that the contributions established in the S2R® Contribution Map™ are actively managed towards the enterprise result."</a:t>
            </a:r>
          </a:p>
          <a:p>
            <a:endParaRPr lang="en-GB" dirty="0"/>
          </a:p>
          <a:p>
            <a:r>
              <a:rPr lang="en-GB" b="1" dirty="0"/>
              <a:t>6. Consolidate the learning.</a:t>
            </a:r>
          </a:p>
          <a:p>
            <a:r>
              <a:rPr lang="en-GB" dirty="0"/>
              <a:t>Say: "The Contribution Map establishes the contributions, performance measures and enabling conditions required for enterprise results. FACES establishes the management disciplines through which those contributions are aligned, evaluated, acted upon and continuously strengthened."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3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1.png"/><Relationship Id="rId4" Type="http://schemas.openxmlformats.org/officeDocument/2006/relationships/notesSlide" Target="../notesSlides/notesSlide3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3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3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3.png"/><Relationship Id="rId6" Type="http://schemas.openxmlformats.org/officeDocument/2006/relationships/image" Target="../media/image6.png"/><Relationship Id="rId7"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1.png"/><Relationship Id="rId4" Type="http://schemas.openxmlformats.org/officeDocument/2006/relationships/notesSlide" Target="../notesSlides/notesSlide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3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31.png"/><Relationship Id="rId4" Type="http://schemas.openxmlformats.org/officeDocument/2006/relationships/notesSlide" Target="../notesSlides/notesSlide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3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4.png"/><Relationship Id="rId4" Type="http://schemas.openxmlformats.org/officeDocument/2006/relationships/image" Target="../media/image17.png"/><Relationship Id="rId5"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 Id="rId3" Type="http://schemas.openxmlformats.org/officeDocument/2006/relationships/notesSlide" Target="../notesSlides/notesSlide39.xml"/><Relationship Id="rId4" Type="http://schemas.openxmlformats.org/officeDocument/2006/relationships/image" Target="../media/image4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4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4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3.png"/><Relationship Id="rId5" Type="http://schemas.openxmlformats.org/officeDocument/2006/relationships/image" Target="../media/image6.png"/><Relationship Id="rId6" Type="http://schemas.openxmlformats.org/officeDocument/2006/relationships/image" Target="../media/image17.png"/><Relationship Id="rId7" Type="http://schemas.openxmlformats.org/officeDocument/2006/relationships/notesSlide" Target="../notesSlides/notesSlide4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7.png"/><Relationship Id="rId4" Type="http://schemas.openxmlformats.org/officeDocument/2006/relationships/image" Target="../media/image38.png"/><Relationship Id="rId5" Type="http://schemas.openxmlformats.org/officeDocument/2006/relationships/image" Target="../media/image3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notesSlide" Target="../notesSlides/notesSlide2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7.png"/><Relationship Id="rId4" Type="http://schemas.openxmlformats.org/officeDocument/2006/relationships/image" Target="../media/image6.png"/><Relationship Id="rId5" Type="http://schemas.openxmlformats.org/officeDocument/2006/relationships/image" Target="../media/image3.png"/><Relationship Id="rId6" Type="http://schemas.openxmlformats.org/officeDocument/2006/relationships/image" Target="../media/image16.png"/><Relationship Id="rId7" Type="http://schemas.openxmlformats.org/officeDocument/2006/relationships/notesSlide" Target="../notesSlides/notesSlide29.xml"/><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image" Target="../media/image3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a:effectLst/>
      </p:bgPr>
    </p:bg>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Module 3 · Influence · Unit 6</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Performance Management Setup</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marL="0" indent="0">
              <a:buNone/>
            </a:pPr>
            <a:r>
              <a:rPr lang="en-US" sz="2400" i="1" dirty="0">
                <a:solidFill>
                  <a:srgbClr val="DDE8DF"/>
                </a:solidFill>
                <a:latin typeface="Calibri" pitchFamily="34" charset="0"/>
                <a:ea typeface="Calibri" pitchFamily="34" charset="-122"/>
                <a:cs typeface="Calibri" pitchFamily="34" charset="-120"/>
              </a:rPr>
              <a:t>Building the architecture of execution accountability</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Evaluate and improve performance management arrangements against strategic priorities.</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Integrate enterprise results, leadership accountability and performance evidence into a coherent management system.</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Apply consistent executive judgement to performance status and its strategic implications.</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3"/>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400" dirty="0">
                <a:solidFill>
                  <a:srgbClr val="1F2A22"/>
                </a:solidFill>
                <a:latin typeface="Calibri" pitchFamily="34" charset="0"/>
                <a:ea typeface="Calibri" pitchFamily="34" charset="-122"/>
                <a:cs typeface="Calibri" pitchFamily="34" charset="-120"/>
              </a:rPr>
              <a:t>Use performance insight to improve accountability, decisions and organisational responsiveness.</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1 · Awareness  </a:t>
            </a: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2 · Intelligence  </a:t>
            </a: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3 · Extrapolating  </a:t>
            </a: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4 · Integration  </a:t>
            </a: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800" b="1" dirty="0">
                <a:solidFill>
                  <a:srgbClr val="1A5C2C"/>
                </a:solidFill>
                <a:latin typeface="Cambria" pitchFamily="34" charset="0"/>
                <a:ea typeface="Cambria" pitchFamily="34" charset="-122"/>
                <a:cs typeface="Cambria" pitchFamily="34" charset="-120"/>
              </a:rPr>
              <a:t>Section 5 · Application  </a:t>
            </a: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Foundations of Enterprise Performance Management System Design</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Convert performance evidence into accountable decisions and follow-through.</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Manage human contributions and organisational conditions as interdependent drivers of results.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Measurement and management</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Measurement</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What happened?</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An input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Data, results, scores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Dashboards and reports</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4"/>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Management</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What do we do about it?</a:t>
            </a:r>
            <a:endParaRPr lang="en-US" sz="2400" dirty="0"/>
          </a:p>
        </p:txBody>
      </p:sp>
      <p:sp>
        <p:nvSpPr>
          <p:cNvPr id="14" name="Text 10"/>
          <p:cNvSpPr txBox="1"/>
          <p:nvPr/>
        </p:nvSpPr>
        <p:spPr>
          <a:xfrm>
            <a:off x="6565392"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The leadership response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Decisions and actions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Accountability</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A management system converts reports into movement.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1.1 · The design sequence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1 · Define success</a:t>
            </a:r>
            <a:r>
              <a:rPr lang="en-US" sz="2600" dirty="0">
                <a:solidFill>
                  <a:srgbClr val="1F2A22"/>
                </a:solidFill>
                <a:latin typeface="Calibri" pitchFamily="34" charset="0"/>
                <a:ea typeface="Calibri" pitchFamily="34" charset="-122"/>
                <a:cs typeface="Calibri" pitchFamily="34" charset="-120"/>
              </a:rPr>
              <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2 · Design how performance will be managed</a:t>
            </a:r>
            <a:r>
              <a:rPr lang="en-US" sz="2600" dirty="0">
                <a:solidFill>
                  <a:srgbClr val="1F2A22"/>
                </a:solidFill>
                <a:latin typeface="Calibri" pitchFamily="34" charset="0"/>
                <a:ea typeface="Calibri" pitchFamily="34" charset="-122"/>
                <a:cs typeface="Calibri" pitchFamily="34" charset="-120"/>
              </a:rPr>
              <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3 · Identify the evidence decisions require</a:t>
            </a:r>
            <a:r>
              <a:rPr lang="en-US" sz="2600" dirty="0">
                <a:solidFill>
                  <a:srgbClr val="1F2A22"/>
                </a:solidFill>
                <a:latin typeface="Calibri" pitchFamily="34" charset="0"/>
                <a:ea typeface="Calibri" pitchFamily="34" charset="-122"/>
                <a:cs typeface="Calibri" pitchFamily="34" charset="-120"/>
              </a:rPr>
              <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4 · Use the evidence  </a:t>
            </a:r>
            <a:r>
              <a:rPr lang="en-US" sz="2600" dirty="0">
                <a:solidFill>
                  <a:srgbClr val="1F2A22"/>
                </a:solidFill>
                <a:latin typeface="Calibri" pitchFamily="34" charset="0"/>
                <a:ea typeface="Calibri" pitchFamily="34" charset="-122"/>
                <a:cs typeface="Calibri" pitchFamily="34" charset="-120"/>
              </a:rPr>
              <a:t>recognise, correct, improve</a:t>
            </a:r>
            <a:endParaRPr lang="en-US" sz="26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Two operating systems</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Human Operating System</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What people deliver</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Results against KPIs and OKRs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Behavioural expectations</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Organisational Operating System</a:t>
            </a:r>
            <a:endParaRPr lang="en-US" sz="2800" dirty="0"/>
          </a:p>
        </p:txBody>
      </p:sp>
      <p:sp>
        <p:nvSpPr>
          <p:cNvPr id="13" name="Text 9"/>
          <p:cNvSpPr txBox="1"/>
          <p:nvPr/>
        </p:nvSpPr>
        <p:spPr>
          <a:xfrm>
            <a:off x="7434072" y="260604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What the organisation enables</a:t>
            </a:r>
            <a:endParaRPr lang="en-US" sz="2400" dirty="0"/>
          </a:p>
        </p:txBody>
      </p:sp>
      <p:sp>
        <p:nvSpPr>
          <p:cNvPr id="14" name="Text 10"/>
          <p:cNvSpPr txBox="1"/>
          <p:nvPr/>
        </p:nvSpPr>
        <p:spPr>
          <a:xfrm>
            <a:off x="6565392" y="3538728"/>
            <a:ext cx="4846320" cy="1810512"/>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Environment and Systems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Resources and Governance (ESRG)</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Both must be visible, measured, reviewed and managed.</a:t>
            </a:r>
            <a:endParaRPr lang="en-US" sz="24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The Organisational Operating System · ESRG</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E  </a:t>
            </a:r>
            <a:r>
              <a:rPr lang="en-US" sz="2600" dirty="0">
                <a:solidFill>
                  <a:srgbClr val="1F2A22"/>
                </a:solidFill>
                <a:latin typeface="Calibri" pitchFamily="34" charset="0"/>
                <a:ea typeface="Calibri" pitchFamily="34" charset="-122"/>
                <a:cs typeface="Calibri" pitchFamily="34" charset="-120"/>
              </a:rPr>
              <a:t>Environment: the conditions people work in</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  </a:t>
            </a:r>
            <a:r>
              <a:rPr lang="en-US" sz="2600" dirty="0">
                <a:solidFill>
                  <a:srgbClr val="1F2A22"/>
                </a:solidFill>
                <a:latin typeface="Calibri" pitchFamily="34" charset="0"/>
                <a:ea typeface="Calibri" pitchFamily="34" charset="-122"/>
                <a:cs typeface="Calibri" pitchFamily="34" charset="-120"/>
              </a:rPr>
              <a:t>Systems: processes, workflows, technology</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  </a:t>
            </a:r>
            <a:r>
              <a:rPr lang="en-US" sz="2600" dirty="0">
                <a:solidFill>
                  <a:srgbClr val="1F2A22"/>
                </a:solidFill>
                <a:latin typeface="Calibri" pitchFamily="34" charset="0"/>
                <a:ea typeface="Calibri" pitchFamily="34" charset="-122"/>
                <a:cs typeface="Calibri" pitchFamily="34" charset="-120"/>
              </a:rPr>
              <a:t>Resources: people, skills, capacity, funding</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G  </a:t>
            </a:r>
            <a:r>
              <a:rPr lang="en-US" sz="2600" dirty="0">
                <a:solidFill>
                  <a:srgbClr val="1F2A22"/>
                </a:solidFill>
                <a:latin typeface="Calibri" pitchFamily="34" charset="0"/>
                <a:ea typeface="Calibri" pitchFamily="34" charset="-122"/>
                <a:cs typeface="Calibri" pitchFamily="34" charset="-120"/>
              </a:rPr>
              <a:t>Governance: decision rights, escalation</a:t>
            </a:r>
            <a:endParaRPr lang="en-US" sz="26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1.2 · How the two operating systems interact</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Human Operating System</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asks</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Individual targets met?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Procedures followed?</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Accountable and responsive?</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Supervisory commitments met?</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ESRG</a:t>
            </a:r>
            <a:endParaRPr lang="en-US" sz="2800" dirty="0"/>
          </a:p>
        </p:txBody>
      </p:sp>
      <p:sp>
        <p:nvSpPr>
          <p:cNvPr id="13" name="Text 9"/>
          <p:cNvSpPr txBox="1"/>
          <p:nvPr/>
        </p:nvSpPr>
        <p:spPr>
          <a:xfrm>
            <a:off x="7434072" y="219456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asks</a:t>
            </a:r>
            <a:endParaRPr lang="en-US" sz="2400" dirty="0"/>
          </a:p>
        </p:txBody>
      </p:sp>
      <p:sp>
        <p:nvSpPr>
          <p:cNvPr id="14" name="Text 10"/>
          <p:cNvSpPr txBox="1"/>
          <p:nvPr/>
        </p:nvSpPr>
        <p:spPr>
          <a:xfrm>
            <a:off x="6565392"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Working conditions support it?</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System reliable?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Capacity sufficient?</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Decisions on time?</a:t>
            </a:r>
            <a:endParaRPr lang="en-US" sz="24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The S2R® Contribution Map™</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1 · Enterprise OKR</a:t>
            </a:r>
            <a:endParaRPr lang="en-US" sz="2600" dirty="0"/>
          </a:p>
        </p:txBody>
      </p:sp>
      <p:sp>
        <p:nvSpPr>
          <p:cNvPr id="7" name="Text 4"/>
          <p:cNvSpPr txBox="1"/>
          <p:nvPr/>
        </p:nvSpPr>
        <p:spPr>
          <a:xfrm>
            <a:off x="777240" y="3575304"/>
            <a:ext cx="3057144" cy="26426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must the organisation achieve?</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3"/>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2 · Functions</a:t>
            </a:r>
            <a:endParaRPr lang="en-US" sz="2600" dirty="0"/>
          </a:p>
        </p:txBody>
      </p:sp>
      <p:sp>
        <p:nvSpPr>
          <p:cNvPr id="12" name="Text 8"/>
          <p:cNvSpPr txBox="1"/>
          <p:nvPr/>
        </p:nvSpPr>
        <p:spPr>
          <a:xfrm>
            <a:off x="4565904" y="3575304"/>
            <a:ext cx="3057144" cy="26426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must each function deliver?</a:t>
            </a:r>
            <a:endParaRPr lang="en-US" sz="2400" dirty="0"/>
          </a:p>
        </p:txBody>
      </p:sp>
      <p:sp>
        <p:nvSpPr>
          <p:cNvPr id="13" name="Shape 9"/>
          <p:cNvSpPr/>
          <p:nvPr/>
        </p:nvSpPr>
        <p:spPr>
          <a:xfrm>
            <a:off x="8125968"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4"/>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3 · People and organisational conditions</a:t>
            </a:r>
            <a:endParaRPr lang="en-US" sz="2600" dirty="0"/>
          </a:p>
        </p:txBody>
      </p:sp>
      <p:sp>
        <p:nvSpPr>
          <p:cNvPr id="17" name="Text 12"/>
          <p:cNvSpPr txBox="1"/>
          <p:nvPr/>
        </p:nvSpPr>
        <p:spPr>
          <a:xfrm>
            <a:off x="8354568" y="3931920"/>
            <a:ext cx="3057144" cy="131753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is required to deliver each contribution?</a:t>
            </a:r>
            <a:endParaRPr lang="en-US" sz="24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1.3 · How the map connects the two systems</a:t>
            </a:r>
            <a:endParaRPr lang="en-US" sz="3600" dirty="0"/>
          </a:p>
        </p:txBody>
      </p:sp>
      <p:sp>
        <p:nvSpPr>
          <p:cNvPr id="3" name="Shape 1"/>
          <p:cNvSpPr/>
          <p:nvPr/>
        </p:nvSpPr>
        <p:spPr>
          <a:xfrm>
            <a:off x="548640" y="1508760"/>
            <a:ext cx="5394960" cy="3931920"/>
          </a:xfrm>
          <a:prstGeom prst="roundRect">
            <a:avLst>
              <a:gd name="adj" fmla="val 2326"/>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People Performance</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What must people deliver?</a:t>
            </a:r>
            <a:endParaRPr lang="en-US" sz="2400" dirty="0"/>
          </a:p>
        </p:txBody>
      </p:sp>
      <p:sp>
        <p:nvSpPr>
          <p:cNvPr id="8" name="Text 5"/>
          <p:cNvSpPr txBox="1"/>
          <p:nvPr/>
        </p:nvSpPr>
        <p:spPr>
          <a:xfrm>
            <a:off x="868680" y="2834640"/>
            <a:ext cx="4846320" cy="25146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Results and behaviours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Measurable commitments</a:t>
            </a:r>
            <a:endParaRPr lang="en-US" sz="2400" dirty="0"/>
          </a:p>
        </p:txBody>
      </p:sp>
      <p:sp>
        <p:nvSpPr>
          <p:cNvPr id="9" name="Shape 6"/>
          <p:cNvSpPr/>
          <p:nvPr/>
        </p:nvSpPr>
        <p:spPr>
          <a:xfrm>
            <a:off x="6245352" y="1508760"/>
            <a:ext cx="5394960" cy="3931920"/>
          </a:xfrm>
          <a:prstGeom prst="roundRect">
            <a:avLst>
              <a:gd name="adj" fmla="val 2326"/>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Organisational Performance</a:t>
            </a:r>
            <a:endParaRPr lang="en-US" sz="2800" dirty="0"/>
          </a:p>
        </p:txBody>
      </p:sp>
      <p:sp>
        <p:nvSpPr>
          <p:cNvPr id="13" name="Text 9"/>
          <p:cNvSpPr txBox="1"/>
          <p:nvPr/>
        </p:nvSpPr>
        <p:spPr>
          <a:xfrm>
            <a:off x="7434072" y="260604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What must the organisation enable?</a:t>
            </a:r>
            <a:endParaRPr lang="en-US" sz="2400" dirty="0"/>
          </a:p>
        </p:txBody>
      </p:sp>
      <p:sp>
        <p:nvSpPr>
          <p:cNvPr id="14" name="Text 10"/>
          <p:cNvSpPr txBox="1"/>
          <p:nvPr/>
        </p:nvSpPr>
        <p:spPr>
          <a:xfrm>
            <a:off x="6565392" y="3538728"/>
            <a:ext cx="4846320" cy="1810512"/>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Organisational conditions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Measures or evidence of readiness</a:t>
            </a:r>
            <a:endParaRPr lang="en-US" sz="2400" dirty="0"/>
          </a:p>
        </p:txBody>
      </p:sp>
      <p:sp>
        <p:nvSpPr>
          <p:cNvPr id="15" name="Shape 11"/>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6" name="Text 12"/>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Connected dimensions that require distinct management attention.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The FACES framework</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  </a:t>
            </a:r>
            <a:r>
              <a:rPr lang="en-US" sz="2600" dirty="0">
                <a:solidFill>
                  <a:srgbClr val="1F2A22"/>
                </a:solidFill>
                <a:latin typeface="Calibri" pitchFamily="34" charset="0"/>
                <a:ea typeface="Calibri" pitchFamily="34" charset="-122"/>
                <a:cs typeface="Calibri" pitchFamily="34" charset="-120"/>
              </a:rPr>
              <a:t>Foster a Results Culture</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  </a:t>
            </a:r>
            <a:r>
              <a:rPr lang="en-US" sz="2600" dirty="0">
                <a:solidFill>
                  <a:srgbClr val="1F2A22"/>
                </a:solidFill>
                <a:latin typeface="Calibri" pitchFamily="34" charset="0"/>
                <a:ea typeface="Calibri" pitchFamily="34" charset="-122"/>
                <a:cs typeface="Calibri" pitchFamily="34" charset="-120"/>
              </a:rPr>
              <a:t>Align Performance</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  </a:t>
            </a:r>
            <a:r>
              <a:rPr lang="en-US" sz="2600" dirty="0">
                <a:solidFill>
                  <a:srgbClr val="1F2A22"/>
                </a:solidFill>
                <a:latin typeface="Calibri" pitchFamily="34" charset="0"/>
                <a:ea typeface="Calibri" pitchFamily="34" charset="-122"/>
                <a:cs typeface="Calibri" pitchFamily="34" charset="-120"/>
              </a:rPr>
              <a:t>Create Measurement Transparency</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E  </a:t>
            </a:r>
            <a:r>
              <a:rPr lang="en-US" sz="2600" dirty="0">
                <a:solidFill>
                  <a:srgbClr val="1F2A22"/>
                </a:solidFill>
                <a:latin typeface="Calibri" pitchFamily="34" charset="0"/>
                <a:ea typeface="Calibri" pitchFamily="34" charset="-122"/>
                <a:cs typeface="Calibri" pitchFamily="34" charset="-120"/>
              </a:rPr>
              <a:t>Embed Shared Accountability</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7"/>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  </a:t>
            </a:r>
            <a:r>
              <a:rPr lang="en-US" sz="2600" dirty="0">
                <a:solidFill>
                  <a:srgbClr val="1F2A22"/>
                </a:solidFill>
                <a:latin typeface="Calibri" pitchFamily="34" charset="0"/>
                <a:ea typeface="Calibri" pitchFamily="34" charset="-122"/>
                <a:cs typeface="Calibri" pitchFamily="34" charset="-120"/>
              </a:rPr>
              <a:t>Support Continuous Development</a:t>
            </a:r>
            <a:endParaRPr lang="en-US" sz="26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FACES for people and organisational performance</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People performance</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KPIs, OKRs and behaviours</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F · Ownership of commitments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A · Line of sight to outcomes</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 · Clear, credible criteria</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E · Clear responsibility</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S · Capability development</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Organisational performance</a:t>
            </a:r>
            <a:endParaRPr lang="en-US" sz="2800" dirty="0"/>
          </a:p>
        </p:txBody>
      </p:sp>
      <p:sp>
        <p:nvSpPr>
          <p:cNvPr id="13" name="Text 9"/>
          <p:cNvSpPr txBox="1"/>
          <p:nvPr/>
        </p:nvSpPr>
        <p:spPr>
          <a:xfrm>
            <a:off x="7434072" y="260604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Organisational conditions</a:t>
            </a:r>
            <a:endParaRPr lang="en-US" sz="2400" dirty="0"/>
          </a:p>
        </p:txBody>
      </p:sp>
      <p:sp>
        <p:nvSpPr>
          <p:cNvPr id="14" name="Text 10"/>
          <p:cNvSpPr txBox="1"/>
          <p:nvPr/>
        </p:nvSpPr>
        <p:spPr>
          <a:xfrm>
            <a:off x="6565392" y="3246120"/>
            <a:ext cx="4846320" cy="30175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F · Leaders fix constraints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A · Conditions fit to strategy</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C · Conditions made visible</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E · Named leaders for the conditions</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S · Operating capability</a:t>
            </a:r>
            <a:endParaRPr lang="en-US" sz="24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1.4 · When the enterprise result falls short</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Customer Service  </a:t>
            </a:r>
            <a:r>
              <a:rPr lang="en-US" sz="2600" dirty="0">
                <a:solidFill>
                  <a:srgbClr val="1F2A22"/>
                </a:solidFill>
                <a:latin typeface="Calibri" pitchFamily="34" charset="0"/>
                <a:ea typeface="Calibri" pitchFamily="34" charset="-122"/>
                <a:cs typeface="Calibri" pitchFamily="34" charset="-120"/>
              </a:rPr>
              <a:t>follow-through below standard</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IT  </a:t>
            </a:r>
            <a:r>
              <a:rPr lang="en-US" sz="2600" dirty="0">
                <a:solidFill>
                  <a:srgbClr val="1F2A22"/>
                </a:solidFill>
                <a:latin typeface="Calibri" pitchFamily="34" charset="0"/>
                <a:ea typeface="Calibri" pitchFamily="34" charset="-122"/>
                <a:cs typeface="Calibri" pitchFamily="34" charset="-120"/>
              </a:rPr>
              <a:t>incidents handled, availability below standard</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Operations  </a:t>
            </a:r>
            <a:r>
              <a:rPr lang="en-US" sz="2600" dirty="0">
                <a:solidFill>
                  <a:srgbClr val="1F2A22"/>
                </a:solidFill>
                <a:latin typeface="Calibri" pitchFamily="34" charset="0"/>
                <a:ea typeface="Calibri" pitchFamily="34" charset="-122"/>
                <a:cs typeface="Calibri" pitchFamily="34" charset="-120"/>
              </a:rPr>
              <a:t>approval delays and processing gaps</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Workforce Planning  </a:t>
            </a:r>
            <a:r>
              <a:rPr lang="en-US" sz="2600" dirty="0">
                <a:solidFill>
                  <a:srgbClr val="1F2A22"/>
                </a:solidFill>
                <a:latin typeface="Calibri" pitchFamily="34" charset="0"/>
                <a:ea typeface="Calibri" pitchFamily="34" charset="-122"/>
                <a:cs typeface="Calibri" pitchFamily="34" charset="-120"/>
              </a:rPr>
              <a:t>schedules done, coverage short</a:t>
            </a:r>
            <a:endParaRPr lang="en-US" sz="26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48-hour resolution: 65% against a year-end target of 90%</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Section 1 Reflections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Reflection 1.2" descr="image.png"/>
          <p:cNvPicPr>
            <a:picLocks noChangeAspect="1"/>
          </p:cNvPicPr>
          <p:nvPr/>
        </p:nvPicPr>
        <p:blipFill>
          <a:blip r:embed="rId7"/>
          <a:stretch>
            <a:fillRect/>
          </a:stretch>
        </p:blipFill>
        <p:spPr>
          <a:xfrm>
            <a:off x="1691640" y="1463040"/>
            <a:ext cx="10035396" cy="1452113"/>
          </a:xfrm>
          <a:prstGeom prst="rect">
            <a:avLst/>
          </a:prstGeom>
        </p:spPr>
      </p:pic>
      <p:sp>
        <p:nvSpPr>
          <p:cNvPr id="4" name="Part 1.2"/>
          <p:cNvSpPr/>
          <p:nvPr/>
        </p:nvSpPr>
        <p:spPr>
          <a:xfrm>
            <a:off x="548640" y="1754756"/>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1.2</a:t>
            </a:r>
          </a:p>
        </p:txBody>
      </p:sp>
      <p:pic>
        <p:nvPicPr>
          <p:cNvPr id="10" name="Reflection 1.3" descr="image.png"/>
          <p:cNvPicPr>
            <a:picLocks noChangeAspect="1"/>
          </p:cNvPicPr>
          <p:nvPr/>
        </p:nvPicPr>
        <p:blipFill>
          <a:blip r:embed="rId8"/>
          <a:stretch>
            <a:fillRect/>
          </a:stretch>
        </p:blipFill>
        <p:spPr>
          <a:xfrm>
            <a:off x="1691640" y="3189473"/>
            <a:ext cx="10035396" cy="1797169"/>
          </a:xfrm>
          <a:prstGeom prst="rect">
            <a:avLst/>
          </a:prstGeom>
        </p:spPr>
      </p:pic>
      <p:sp>
        <p:nvSpPr>
          <p:cNvPr id="6" name="Part 1.3"/>
          <p:cNvSpPr/>
          <p:nvPr/>
        </p:nvSpPr>
        <p:spPr>
          <a:xfrm>
            <a:off x="548640" y="3653717"/>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1.3</a:t>
            </a:r>
          </a:p>
        </p:txBody>
      </p:sp>
      <p:pic>
        <p:nvPicPr>
          <p:cNvPr id="11" name="Reflection 1.4" descr="image.png"/>
          <p:cNvPicPr>
            <a:picLocks noChangeAspect="1"/>
          </p:cNvPicPr>
          <p:nvPr/>
        </p:nvPicPr>
        <p:blipFill>
          <a:blip r:embed="rId9"/>
          <a:stretch>
            <a:fillRect/>
          </a:stretch>
        </p:blipFill>
        <p:spPr>
          <a:xfrm>
            <a:off x="1691640" y="5260962"/>
            <a:ext cx="10035396" cy="1452113"/>
          </a:xfrm>
          <a:prstGeom prst="rect">
            <a:avLst/>
          </a:prstGeom>
        </p:spPr>
      </p:pic>
      <p:sp>
        <p:nvSpPr>
          <p:cNvPr id="8" name="Part 1.4"/>
          <p:cNvSpPr/>
          <p:nvPr/>
        </p:nvSpPr>
        <p:spPr>
          <a:xfrm>
            <a:off x="548640" y="5552678"/>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Performance Management as the Execution Bridge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Establish management disciplines that sustain the connection between strategy and performance.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Evaluate whether performance practices build genuine commitment or merely compliance.</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Performance management as the execution bridge</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3"/>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1  </a:t>
            </a:r>
            <a:r>
              <a:rPr lang="en-US" sz="2600" dirty="0">
                <a:solidFill>
                  <a:srgbClr val="1F2A22"/>
                </a:solidFill>
                <a:latin typeface="Calibri" pitchFamily="34" charset="0"/>
                <a:ea typeface="Calibri" pitchFamily="34" charset="-122"/>
                <a:cs typeface="Calibri" pitchFamily="34" charset="-120"/>
              </a:rPr>
              <a:t>Decomposing the Big Picture</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4"/>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2  </a:t>
            </a:r>
            <a:r>
              <a:rPr lang="en-US" sz="2600" dirty="0">
                <a:solidFill>
                  <a:srgbClr val="1F2A22"/>
                </a:solidFill>
                <a:latin typeface="Calibri" pitchFamily="34" charset="0"/>
                <a:ea typeface="Calibri" pitchFamily="34" charset="-122"/>
                <a:cs typeface="Calibri" pitchFamily="34" charset="-120"/>
              </a:rPr>
              <a:t>Defining the Logic of Success</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3  </a:t>
            </a:r>
            <a:r>
              <a:rPr lang="en-US" sz="2600" dirty="0">
                <a:solidFill>
                  <a:srgbClr val="1F2A22"/>
                </a:solidFill>
                <a:latin typeface="Calibri" pitchFamily="34" charset="0"/>
                <a:ea typeface="Calibri" pitchFamily="34" charset="-122"/>
                <a:cs typeface="Calibri" pitchFamily="34" charset="-120"/>
              </a:rPr>
              <a:t>Calibrating the Rhythm</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6"/>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4  </a:t>
            </a:r>
            <a:r>
              <a:rPr lang="en-US" sz="2600" dirty="0">
                <a:solidFill>
                  <a:srgbClr val="1F2A22"/>
                </a:solidFill>
                <a:latin typeface="Calibri" pitchFamily="34" charset="0"/>
                <a:ea typeface="Calibri" pitchFamily="34" charset="-122"/>
                <a:cs typeface="Calibri" pitchFamily="34" charset="-120"/>
              </a:rPr>
              <a:t>Structuring the Dialogue</a:t>
            </a:r>
            <a:endParaRPr lang="en-US" sz="26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Keeping strategy connected to performance throughout delivery.</a:t>
            </a:r>
            <a:endParaRPr lang="en-US" sz="2400" dirty="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2.1 · How the four bridges work together</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1  </a:t>
            </a:r>
            <a:r>
              <a:rPr lang="en-US" sz="2600" dirty="0">
                <a:solidFill>
                  <a:srgbClr val="1F2A22"/>
                </a:solidFill>
                <a:latin typeface="Calibri" pitchFamily="34" charset="0"/>
                <a:ea typeface="Calibri" pitchFamily="34" charset="-122"/>
                <a:cs typeface="Calibri" pitchFamily="34" charset="-120"/>
              </a:rPr>
              <a:t>line of sight and fit of conditions</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2  </a:t>
            </a:r>
            <a:r>
              <a:rPr lang="en-US" sz="2600" dirty="0">
                <a:solidFill>
                  <a:srgbClr val="1F2A22"/>
                </a:solidFill>
                <a:latin typeface="Calibri" pitchFamily="34" charset="0"/>
                <a:ea typeface="Calibri" pitchFamily="34" charset="-122"/>
                <a:cs typeface="Calibri" pitchFamily="34" charset="-120"/>
              </a:rPr>
              <a:t>a shared logic of success</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3  </a:t>
            </a:r>
            <a:r>
              <a:rPr lang="en-US" sz="2600" dirty="0">
                <a:solidFill>
                  <a:srgbClr val="1F2A22"/>
                </a:solidFill>
                <a:latin typeface="Calibri" pitchFamily="34" charset="0"/>
                <a:ea typeface="Calibri" pitchFamily="34" charset="-122"/>
                <a:cs typeface="Calibri" pitchFamily="34" charset="-120"/>
              </a:rPr>
              <a:t>visibility early enough to act</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Bridge 4  </a:t>
            </a:r>
            <a:r>
              <a:rPr lang="en-US" sz="2600" dirty="0">
                <a:solidFill>
                  <a:srgbClr val="1F2A22"/>
                </a:solidFill>
                <a:latin typeface="Calibri" pitchFamily="34" charset="0"/>
                <a:ea typeface="Calibri" pitchFamily="34" charset="-122"/>
                <a:cs typeface="Calibri" pitchFamily="34" charset="-120"/>
              </a:rPr>
              <a:t>evidence turned into decisions</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Compliance and commitment architecture</a:t>
            </a:r>
            <a:endParaRPr lang="en-US" sz="3600" dirty="0"/>
          </a:p>
        </p:txBody>
      </p:sp>
      <p:sp>
        <p:nvSpPr>
          <p:cNvPr id="18" name="Rectangle 17">
            <a:extLst>
              <a:ext uri="{FF2B5EF4-FFF2-40B4-BE49-F238E27FC236}">
                <a16:creationId xmlns:a16="http://schemas.microsoft.com/office/drawing/2014/main" id="{15F679BE-6D94-9515-DCEB-DE9FE48D7025}"/>
              </a:ext>
            </a:extLst>
          </p:cNvPr>
          <p:cNvSpPr>
            <a:spLocks noGrp="1"/>
          </p:cNvSpPr>
          <p:nvPr/>
        </p:nvSpPr>
        <p:spPr>
          <a:xfrm>
            <a:off x="548640" y="1504094"/>
            <a:ext cx="2095500" cy="266700"/>
          </a:xfrm>
          <a:prstGeom prst="rect">
            <a:avLst/>
          </a:prstGeom>
          <a:noFill/>
          <a:ln w="0">
            <a:noFill/>
            <a:prstDash val="solid"/>
          </a:ln>
        </p:spPr>
        <p:txBody>
          <a:bodyPr/>
          <a:lstStyle>
            <a:defPPr>
              <a:defRPr sz="2400" b="1">
                <a:solidFill>
                  <a:srgbClr val="B9C5B4"/>
                </a:solidFill>
              </a:defRPr>
            </a:defPPr>
          </a:lstStyle>
          <a:p>
            <a:pPr>
              <a:defRPr sz="2400" b="1">
                <a:solidFill>
                  <a:srgbClr val="B9C5B4"/>
                </a:solidFill>
              </a:defRPr>
            </a:pPr>
            <a:r>
              <a:rPr sz="2400" b="1" dirty="0">
                <a:solidFill>
                  <a:schemeClr val="accent6">
                    <a:lumMod val="50000"/>
                  </a:schemeClr>
                </a:solidFill>
              </a:rPr>
              <a:t>DIMENSION</a:t>
            </a:r>
          </a:p>
        </p:txBody>
      </p:sp>
      <p:sp>
        <p:nvSpPr>
          <p:cNvPr id="20" name="Rectangle 19">
            <a:extLst>
              <a:ext uri="{FF2B5EF4-FFF2-40B4-BE49-F238E27FC236}">
                <a16:creationId xmlns:a16="http://schemas.microsoft.com/office/drawing/2014/main" id="{6BF2423B-8BE9-782B-1A1B-1CD797F6B112}"/>
              </a:ext>
            </a:extLst>
          </p:cNvPr>
          <p:cNvSpPr>
            <a:spLocks noGrp="1"/>
          </p:cNvSpPr>
          <p:nvPr/>
        </p:nvSpPr>
        <p:spPr>
          <a:xfrm>
            <a:off x="2891790" y="1504094"/>
            <a:ext cx="4381500" cy="266700"/>
          </a:xfrm>
          <a:prstGeom prst="rect">
            <a:avLst/>
          </a:prstGeom>
          <a:noFill/>
          <a:ln w="0">
            <a:noFill/>
            <a:prstDash val="solid"/>
          </a:ln>
        </p:spPr>
        <p:txBody>
          <a:bodyPr/>
          <a:lstStyle>
            <a:defPPr>
              <a:defRPr sz="2400" b="1">
                <a:solidFill>
                  <a:srgbClr val="FFB1AC"/>
                </a:solidFill>
              </a:defRPr>
            </a:defPPr>
          </a:lstStyle>
          <a:p>
            <a:pPr>
              <a:defRPr sz="2400" b="1">
                <a:solidFill>
                  <a:srgbClr val="FFB1AC"/>
                </a:solidFill>
              </a:defRPr>
            </a:pPr>
            <a:r>
              <a:rPr sz="2400" b="1">
                <a:solidFill>
                  <a:schemeClr val="accent6">
                    <a:lumMod val="50000"/>
                  </a:schemeClr>
                </a:solidFill>
              </a:rPr>
              <a:t>COMPLIANCE</a:t>
            </a:r>
          </a:p>
        </p:txBody>
      </p:sp>
      <p:sp>
        <p:nvSpPr>
          <p:cNvPr id="22" name="Rectangle 21">
            <a:extLst>
              <a:ext uri="{FF2B5EF4-FFF2-40B4-BE49-F238E27FC236}">
                <a16:creationId xmlns:a16="http://schemas.microsoft.com/office/drawing/2014/main" id="{E3BE8242-AF8A-FC24-ED3D-9A6CFA6A1667}"/>
              </a:ext>
            </a:extLst>
          </p:cNvPr>
          <p:cNvSpPr>
            <a:spLocks noGrp="1"/>
          </p:cNvSpPr>
          <p:nvPr/>
        </p:nvSpPr>
        <p:spPr>
          <a:xfrm>
            <a:off x="7520940" y="1504094"/>
            <a:ext cx="4381500" cy="266700"/>
          </a:xfrm>
          <a:prstGeom prst="rect">
            <a:avLst/>
          </a:prstGeom>
          <a:noFill/>
          <a:ln w="0">
            <a:noFill/>
            <a:prstDash val="solid"/>
          </a:ln>
        </p:spPr>
        <p:txBody>
          <a:bodyPr/>
          <a:lstStyle>
            <a:defPPr>
              <a:defRPr sz="2400" b="1">
                <a:solidFill>
                  <a:srgbClr val="95E2C5"/>
                </a:solidFill>
              </a:defRPr>
            </a:defPPr>
          </a:lstStyle>
          <a:p>
            <a:pPr>
              <a:defRPr sz="2400" b="1">
                <a:solidFill>
                  <a:srgbClr val="95E2C5"/>
                </a:solidFill>
              </a:defRPr>
            </a:pPr>
            <a:r>
              <a:rPr sz="2400" b="1">
                <a:solidFill>
                  <a:schemeClr val="accent6">
                    <a:lumMod val="50000"/>
                  </a:schemeClr>
                </a:solidFill>
              </a:rPr>
              <a:t>COMMITMENT</a:t>
            </a:r>
          </a:p>
        </p:txBody>
      </p:sp>
      <p:sp>
        <p:nvSpPr>
          <p:cNvPr id="24" name="Rectangle 23">
            <a:extLst>
              <a:ext uri="{FF2B5EF4-FFF2-40B4-BE49-F238E27FC236}">
                <a16:creationId xmlns:a16="http://schemas.microsoft.com/office/drawing/2014/main" id="{26D4F17B-3F40-87E3-143D-964538A243A8}"/>
              </a:ext>
            </a:extLst>
          </p:cNvPr>
          <p:cNvSpPr>
            <a:spLocks noGrp="1"/>
          </p:cNvSpPr>
          <p:nvPr/>
        </p:nvSpPr>
        <p:spPr>
          <a:xfrm>
            <a:off x="548640" y="2084831"/>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
        <p:nvSpPr>
          <p:cNvPr id="26" name="Rectangle 25">
            <a:extLst>
              <a:ext uri="{FF2B5EF4-FFF2-40B4-BE49-F238E27FC236}">
                <a16:creationId xmlns:a16="http://schemas.microsoft.com/office/drawing/2014/main" id="{FCDB8BCE-D47C-2A69-DEAB-C3E3C342351A}"/>
              </a:ext>
            </a:extLst>
          </p:cNvPr>
          <p:cNvSpPr>
            <a:spLocks noGrp="1"/>
          </p:cNvSpPr>
          <p:nvPr/>
        </p:nvSpPr>
        <p:spPr>
          <a:xfrm>
            <a:off x="548639" y="2194559"/>
            <a:ext cx="2719999" cy="777240"/>
          </a:xfrm>
          <a:prstGeom prst="rect">
            <a:avLst/>
          </a:prstGeom>
          <a:noFill/>
          <a:ln w="0">
            <a:noFill/>
            <a:prstDash val="solid"/>
          </a:ln>
        </p:spPr>
        <p:txBody>
          <a:bodyPr/>
          <a:lstStyle>
            <a:defPPr>
              <a:defRPr sz="2400" b="1">
                <a:solidFill>
                  <a:srgbClr val="AAB5A6"/>
                </a:solidFill>
              </a:defRPr>
            </a:defPPr>
          </a:lstStyle>
          <a:p>
            <a:pPr>
              <a:defRPr sz="2400" b="1">
                <a:solidFill>
                  <a:srgbClr val="AAB5A6"/>
                </a:solidFill>
              </a:defRPr>
            </a:pPr>
            <a:r>
              <a:rPr sz="2400" b="1" dirty="0">
                <a:solidFill>
                  <a:schemeClr val="accent6">
                    <a:lumMod val="50000"/>
                  </a:schemeClr>
                </a:solidFill>
              </a:rPr>
              <a:t>PURPOSE</a:t>
            </a:r>
          </a:p>
        </p:txBody>
      </p:sp>
      <p:sp>
        <p:nvSpPr>
          <p:cNvPr id="28" name="Rectangle 27">
            <a:extLst>
              <a:ext uri="{FF2B5EF4-FFF2-40B4-BE49-F238E27FC236}">
                <a16:creationId xmlns:a16="http://schemas.microsoft.com/office/drawing/2014/main" id="{E3B9D6AA-5754-9C5F-52E0-0AC60ECE872A}"/>
              </a:ext>
            </a:extLst>
          </p:cNvPr>
          <p:cNvSpPr>
            <a:spLocks noGrp="1"/>
          </p:cNvSpPr>
          <p:nvPr/>
        </p:nvSpPr>
        <p:spPr>
          <a:xfrm>
            <a:off x="3097156" y="2194559"/>
            <a:ext cx="4297680" cy="777240"/>
          </a:xfrm>
          <a:prstGeom prst="rect">
            <a:avLst/>
          </a:prstGeom>
          <a:noFill/>
          <a:ln w="0">
            <a:noFill/>
            <a:prstDash val="solid"/>
          </a:ln>
        </p:spPr>
        <p:txBody>
          <a:bodyPr wrap="square"/>
          <a:lstStyle>
            <a:defPPr>
              <a:defRPr sz="2400" b="0">
                <a:solidFill>
                  <a:srgbClr val="F0F3EF"/>
                </a:solidFill>
              </a:defRPr>
            </a:defPPr>
          </a:lstStyle>
          <a:p>
            <a:pPr>
              <a:defRPr sz="2400" b="0">
                <a:solidFill>
                  <a:srgbClr val="F0F3EF"/>
                </a:solidFill>
              </a:defRPr>
            </a:pPr>
            <a:r>
              <a:rPr lang="en-ZA" sz="2400" dirty="0">
                <a:solidFill>
                  <a:schemeClr val="tx1">
                    <a:lumMod val="95000"/>
                    <a:lumOff val="5000"/>
                  </a:schemeClr>
                </a:solidFill>
              </a:rPr>
              <a:t>M</a:t>
            </a:r>
            <a:r>
              <a:rPr sz="2400" b="0" dirty="0" err="1">
                <a:solidFill>
                  <a:schemeClr val="tx1">
                    <a:lumMod val="95000"/>
                    <a:lumOff val="5000"/>
                  </a:schemeClr>
                </a:solidFill>
              </a:rPr>
              <a:t>inimum</a:t>
            </a:r>
            <a:r>
              <a:rPr sz="2400" b="0" dirty="0">
                <a:solidFill>
                  <a:schemeClr val="tx1">
                    <a:lumMod val="95000"/>
                    <a:lumOff val="5000"/>
                  </a:schemeClr>
                </a:solidFill>
              </a:rPr>
              <a:t> standards </a:t>
            </a:r>
            <a:r>
              <a:rPr lang="en-ZA" sz="2400" b="0" dirty="0">
                <a:solidFill>
                  <a:schemeClr val="tx1">
                    <a:lumMod val="95000"/>
                    <a:lumOff val="5000"/>
                  </a:schemeClr>
                </a:solidFill>
              </a:rPr>
              <a:t>and </a:t>
            </a:r>
            <a:r>
              <a:rPr sz="2400" b="0" dirty="0">
                <a:solidFill>
                  <a:schemeClr val="tx1">
                    <a:lumMod val="95000"/>
                    <a:lumOff val="5000"/>
                  </a:schemeClr>
                </a:solidFill>
              </a:rPr>
              <a:t>correct</a:t>
            </a:r>
            <a:r>
              <a:rPr lang="en-ZA" sz="2400" b="0" dirty="0">
                <a:solidFill>
                  <a:schemeClr val="tx1">
                    <a:lumMod val="95000"/>
                    <a:lumOff val="5000"/>
                  </a:schemeClr>
                </a:solidFill>
              </a:rPr>
              <a:t>ions</a:t>
            </a:r>
            <a:endParaRPr sz="2400" b="0" dirty="0">
              <a:solidFill>
                <a:schemeClr val="tx1">
                  <a:lumMod val="95000"/>
                  <a:lumOff val="5000"/>
                </a:schemeClr>
              </a:solidFill>
            </a:endParaRPr>
          </a:p>
        </p:txBody>
      </p:sp>
      <p:sp>
        <p:nvSpPr>
          <p:cNvPr id="30" name="Rectangle 29">
            <a:extLst>
              <a:ext uri="{FF2B5EF4-FFF2-40B4-BE49-F238E27FC236}">
                <a16:creationId xmlns:a16="http://schemas.microsoft.com/office/drawing/2014/main" id="{00D78F66-A20B-4E0A-756F-4F82ACEDD320}"/>
              </a:ext>
            </a:extLst>
          </p:cNvPr>
          <p:cNvSpPr>
            <a:spLocks noGrp="1"/>
          </p:cNvSpPr>
          <p:nvPr/>
        </p:nvSpPr>
        <p:spPr>
          <a:xfrm>
            <a:off x="7520940" y="2194559"/>
            <a:ext cx="4381500" cy="777240"/>
          </a:xfrm>
          <a:prstGeom prst="rect">
            <a:avLst/>
          </a:prstGeom>
          <a:noFill/>
          <a:ln w="0">
            <a:noFill/>
            <a:prstDash val="solid"/>
          </a:ln>
        </p:spPr>
        <p:txBody>
          <a:bodyPr/>
          <a:lstStyle>
            <a:defPPr>
              <a:defRPr sz="2400" b="0">
                <a:solidFill>
                  <a:srgbClr val="F0F3EF"/>
                </a:solidFill>
              </a:defRPr>
            </a:defPPr>
          </a:lstStyle>
          <a:p>
            <a:pPr>
              <a:defRPr sz="2400" b="0">
                <a:solidFill>
                  <a:srgbClr val="F0F3EF"/>
                </a:solidFill>
              </a:defRPr>
            </a:pPr>
            <a:r>
              <a:rPr lang="en-ZA" sz="2400" dirty="0">
                <a:solidFill>
                  <a:schemeClr val="tx1">
                    <a:lumMod val="95000"/>
                    <a:lumOff val="5000"/>
                  </a:schemeClr>
                </a:solidFill>
              </a:rPr>
              <a:t>S</a:t>
            </a:r>
            <a:r>
              <a:rPr sz="2400" b="0" dirty="0">
                <a:solidFill>
                  <a:schemeClr val="tx1">
                    <a:lumMod val="95000"/>
                    <a:lumOff val="5000"/>
                  </a:schemeClr>
                </a:solidFill>
              </a:rPr>
              <a:t>hared ownership of results</a:t>
            </a:r>
          </a:p>
        </p:txBody>
      </p:sp>
      <p:sp>
        <p:nvSpPr>
          <p:cNvPr id="32" name="Rectangle 31">
            <a:extLst>
              <a:ext uri="{FF2B5EF4-FFF2-40B4-BE49-F238E27FC236}">
                <a16:creationId xmlns:a16="http://schemas.microsoft.com/office/drawing/2014/main" id="{706F198F-AAEF-6B9B-F196-CC514152FE5D}"/>
              </a:ext>
            </a:extLst>
          </p:cNvPr>
          <p:cNvSpPr>
            <a:spLocks noGrp="1"/>
          </p:cNvSpPr>
          <p:nvPr/>
        </p:nvSpPr>
        <p:spPr>
          <a:xfrm>
            <a:off x="548640" y="3044952"/>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
        <p:nvSpPr>
          <p:cNvPr id="34" name="Rectangle 33">
            <a:extLst>
              <a:ext uri="{FF2B5EF4-FFF2-40B4-BE49-F238E27FC236}">
                <a16:creationId xmlns:a16="http://schemas.microsoft.com/office/drawing/2014/main" id="{2EC79F26-A96F-C316-5CD1-BAB0DA188A90}"/>
              </a:ext>
            </a:extLst>
          </p:cNvPr>
          <p:cNvSpPr>
            <a:spLocks noGrp="1"/>
          </p:cNvSpPr>
          <p:nvPr/>
        </p:nvSpPr>
        <p:spPr>
          <a:xfrm>
            <a:off x="548639" y="3154680"/>
            <a:ext cx="2719999" cy="777240"/>
          </a:xfrm>
          <a:prstGeom prst="rect">
            <a:avLst/>
          </a:prstGeom>
          <a:noFill/>
          <a:ln w="0">
            <a:noFill/>
            <a:prstDash val="solid"/>
          </a:ln>
        </p:spPr>
        <p:txBody>
          <a:bodyPr/>
          <a:lstStyle>
            <a:defPPr>
              <a:defRPr sz="2400" b="1">
                <a:solidFill>
                  <a:srgbClr val="AAB5A6"/>
                </a:solidFill>
              </a:defRPr>
            </a:defPPr>
          </a:lstStyle>
          <a:p>
            <a:pPr>
              <a:defRPr sz="2400" b="1">
                <a:solidFill>
                  <a:srgbClr val="AAB5A6"/>
                </a:solidFill>
              </a:defRPr>
            </a:pPr>
            <a:r>
              <a:rPr sz="2400" b="1">
                <a:solidFill>
                  <a:schemeClr val="accent6">
                    <a:lumMod val="50000"/>
                  </a:schemeClr>
                </a:solidFill>
              </a:rPr>
              <a:t>OWNERSHIP</a:t>
            </a:r>
          </a:p>
        </p:txBody>
      </p:sp>
      <p:sp>
        <p:nvSpPr>
          <p:cNvPr id="36" name="Rectangle 35">
            <a:extLst>
              <a:ext uri="{FF2B5EF4-FFF2-40B4-BE49-F238E27FC236}">
                <a16:creationId xmlns:a16="http://schemas.microsoft.com/office/drawing/2014/main" id="{4FEB652D-2DEE-B6DA-DBCF-104FCE0F8925}"/>
              </a:ext>
            </a:extLst>
          </p:cNvPr>
          <p:cNvSpPr>
            <a:spLocks noGrp="1"/>
          </p:cNvSpPr>
          <p:nvPr/>
        </p:nvSpPr>
        <p:spPr>
          <a:xfrm>
            <a:off x="3097157" y="3154680"/>
            <a:ext cx="4297680" cy="777240"/>
          </a:xfrm>
          <a:prstGeom prst="rect">
            <a:avLst/>
          </a:prstGeom>
          <a:noFill/>
          <a:ln w="0">
            <a:noFill/>
            <a:prstDash val="solid"/>
          </a:ln>
        </p:spPr>
        <p:txBody>
          <a:bodyPr wrap="square"/>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Leader holds accountability </a:t>
            </a:r>
          </a:p>
        </p:txBody>
      </p:sp>
      <p:sp>
        <p:nvSpPr>
          <p:cNvPr id="38" name="Rectangle 37">
            <a:extLst>
              <a:ext uri="{FF2B5EF4-FFF2-40B4-BE49-F238E27FC236}">
                <a16:creationId xmlns:a16="http://schemas.microsoft.com/office/drawing/2014/main" id="{0C47CEFA-9A6D-DB5F-8AA7-BE55B03FF40D}"/>
              </a:ext>
            </a:extLst>
          </p:cNvPr>
          <p:cNvSpPr>
            <a:spLocks noGrp="1"/>
          </p:cNvSpPr>
          <p:nvPr/>
        </p:nvSpPr>
        <p:spPr>
          <a:xfrm>
            <a:off x="7520940" y="3154680"/>
            <a:ext cx="4381500" cy="777240"/>
          </a:xfrm>
          <a:prstGeom prst="rect">
            <a:avLst/>
          </a:prstGeom>
          <a:noFill/>
          <a:ln w="0">
            <a:noFill/>
            <a:prstDash val="solid"/>
          </a:ln>
        </p:spPr>
        <p:txBody>
          <a:bodyPr/>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Team co-owns accountability</a:t>
            </a:r>
          </a:p>
        </p:txBody>
      </p:sp>
      <p:sp>
        <p:nvSpPr>
          <p:cNvPr id="40" name="Rectangle 39">
            <a:extLst>
              <a:ext uri="{FF2B5EF4-FFF2-40B4-BE49-F238E27FC236}">
                <a16:creationId xmlns:a16="http://schemas.microsoft.com/office/drawing/2014/main" id="{30766800-A731-AE17-211F-484C5EE73A15}"/>
              </a:ext>
            </a:extLst>
          </p:cNvPr>
          <p:cNvSpPr>
            <a:spLocks noGrp="1"/>
          </p:cNvSpPr>
          <p:nvPr/>
        </p:nvSpPr>
        <p:spPr>
          <a:xfrm>
            <a:off x="548640" y="4005072"/>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
        <p:nvSpPr>
          <p:cNvPr id="42" name="Rectangle 41">
            <a:extLst>
              <a:ext uri="{FF2B5EF4-FFF2-40B4-BE49-F238E27FC236}">
                <a16:creationId xmlns:a16="http://schemas.microsoft.com/office/drawing/2014/main" id="{44E76C88-659A-9C0E-9029-9B35837C1027}"/>
              </a:ext>
            </a:extLst>
          </p:cNvPr>
          <p:cNvSpPr>
            <a:spLocks noGrp="1"/>
          </p:cNvSpPr>
          <p:nvPr/>
        </p:nvSpPr>
        <p:spPr>
          <a:xfrm>
            <a:off x="548639" y="4114800"/>
            <a:ext cx="2719999" cy="777240"/>
          </a:xfrm>
          <a:prstGeom prst="rect">
            <a:avLst/>
          </a:prstGeom>
          <a:noFill/>
          <a:ln w="0">
            <a:noFill/>
            <a:prstDash val="solid"/>
          </a:ln>
        </p:spPr>
        <p:txBody>
          <a:bodyPr/>
          <a:lstStyle>
            <a:defPPr>
              <a:defRPr sz="2400" b="1">
                <a:solidFill>
                  <a:srgbClr val="AAB5A6"/>
                </a:solidFill>
              </a:defRPr>
            </a:defPPr>
          </a:lstStyle>
          <a:p>
            <a:pPr>
              <a:defRPr sz="2400" b="1">
                <a:solidFill>
                  <a:srgbClr val="AAB5A6"/>
                </a:solidFill>
              </a:defRPr>
            </a:pPr>
            <a:r>
              <a:rPr sz="2400" b="1">
                <a:solidFill>
                  <a:schemeClr val="accent6">
                    <a:lumMod val="50000"/>
                  </a:schemeClr>
                </a:solidFill>
              </a:rPr>
              <a:t>TONE</a:t>
            </a:r>
          </a:p>
        </p:txBody>
      </p:sp>
      <p:sp>
        <p:nvSpPr>
          <p:cNvPr id="44" name="Rectangle 43">
            <a:extLst>
              <a:ext uri="{FF2B5EF4-FFF2-40B4-BE49-F238E27FC236}">
                <a16:creationId xmlns:a16="http://schemas.microsoft.com/office/drawing/2014/main" id="{01C85AC6-4703-65F9-FFDE-2AB84E423E48}"/>
              </a:ext>
            </a:extLst>
          </p:cNvPr>
          <p:cNvSpPr>
            <a:spLocks noGrp="1"/>
          </p:cNvSpPr>
          <p:nvPr/>
        </p:nvSpPr>
        <p:spPr>
          <a:xfrm>
            <a:off x="3097157" y="4114800"/>
            <a:ext cx="4297680" cy="777240"/>
          </a:xfrm>
          <a:prstGeom prst="rect">
            <a:avLst/>
          </a:prstGeom>
          <a:noFill/>
          <a:ln w="0">
            <a:noFill/>
            <a:prstDash val="solid"/>
          </a:ln>
        </p:spPr>
        <p:txBody>
          <a:bodyPr wrap="square"/>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Assessment and judgement</a:t>
            </a:r>
          </a:p>
        </p:txBody>
      </p:sp>
      <p:sp>
        <p:nvSpPr>
          <p:cNvPr id="46" name="Rectangle 45">
            <a:extLst>
              <a:ext uri="{FF2B5EF4-FFF2-40B4-BE49-F238E27FC236}">
                <a16:creationId xmlns:a16="http://schemas.microsoft.com/office/drawing/2014/main" id="{7B89DD46-BE6D-0A0E-ED97-5D1A06512616}"/>
              </a:ext>
            </a:extLst>
          </p:cNvPr>
          <p:cNvSpPr>
            <a:spLocks noGrp="1"/>
          </p:cNvSpPr>
          <p:nvPr/>
        </p:nvSpPr>
        <p:spPr>
          <a:xfrm>
            <a:off x="7520940" y="4114800"/>
            <a:ext cx="4381500" cy="777240"/>
          </a:xfrm>
          <a:prstGeom prst="rect">
            <a:avLst/>
          </a:prstGeom>
          <a:noFill/>
          <a:ln w="0">
            <a:noFill/>
            <a:prstDash val="solid"/>
          </a:ln>
        </p:spPr>
        <p:txBody>
          <a:bodyPr/>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Inquiry and problem-solving</a:t>
            </a:r>
          </a:p>
        </p:txBody>
      </p:sp>
      <p:sp>
        <p:nvSpPr>
          <p:cNvPr id="48" name="Rectangle 47">
            <a:extLst>
              <a:ext uri="{FF2B5EF4-FFF2-40B4-BE49-F238E27FC236}">
                <a16:creationId xmlns:a16="http://schemas.microsoft.com/office/drawing/2014/main" id="{81D3D1E3-C63A-0624-80CC-C5B1F467E10F}"/>
              </a:ext>
            </a:extLst>
          </p:cNvPr>
          <p:cNvSpPr>
            <a:spLocks noGrp="1"/>
          </p:cNvSpPr>
          <p:nvPr/>
        </p:nvSpPr>
        <p:spPr>
          <a:xfrm>
            <a:off x="548640" y="4965192"/>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
        <p:nvSpPr>
          <p:cNvPr id="66" name="Rectangle 65">
            <a:extLst>
              <a:ext uri="{FF2B5EF4-FFF2-40B4-BE49-F238E27FC236}">
                <a16:creationId xmlns:a16="http://schemas.microsoft.com/office/drawing/2014/main" id="{5DE2347C-D6D4-FD78-0812-83B325A32D40}"/>
              </a:ext>
            </a:extLst>
          </p:cNvPr>
          <p:cNvSpPr>
            <a:spLocks noGrp="1"/>
          </p:cNvSpPr>
          <p:nvPr/>
        </p:nvSpPr>
        <p:spPr>
          <a:xfrm>
            <a:off x="548639" y="5074920"/>
            <a:ext cx="2719999" cy="777240"/>
          </a:xfrm>
          <a:prstGeom prst="rect">
            <a:avLst/>
          </a:prstGeom>
          <a:noFill/>
          <a:ln w="0">
            <a:noFill/>
            <a:prstDash val="solid"/>
          </a:ln>
        </p:spPr>
        <p:txBody>
          <a:bodyPr/>
          <a:lstStyle>
            <a:defPPr>
              <a:defRPr sz="2400" b="1">
                <a:solidFill>
                  <a:srgbClr val="AAB5A6"/>
                </a:solidFill>
              </a:defRPr>
            </a:defPPr>
          </a:lstStyle>
          <a:p>
            <a:pPr>
              <a:defRPr sz="2400" b="1">
                <a:solidFill>
                  <a:srgbClr val="AAB5A6"/>
                </a:solidFill>
              </a:defRPr>
            </a:pPr>
            <a:r>
              <a:rPr sz="2400" b="1" dirty="0">
                <a:solidFill>
                  <a:schemeClr val="accent6">
                    <a:lumMod val="50000"/>
                  </a:schemeClr>
                </a:solidFill>
              </a:rPr>
              <a:t>PM EXPERIENCE</a:t>
            </a:r>
          </a:p>
        </p:txBody>
      </p:sp>
      <p:sp>
        <p:nvSpPr>
          <p:cNvPr id="68" name="Rectangle 67">
            <a:extLst>
              <a:ext uri="{FF2B5EF4-FFF2-40B4-BE49-F238E27FC236}">
                <a16:creationId xmlns:a16="http://schemas.microsoft.com/office/drawing/2014/main" id="{45ECA6E9-1581-CE97-0951-3D2398881734}"/>
              </a:ext>
            </a:extLst>
          </p:cNvPr>
          <p:cNvSpPr>
            <a:spLocks noGrp="1"/>
          </p:cNvSpPr>
          <p:nvPr/>
        </p:nvSpPr>
        <p:spPr>
          <a:xfrm>
            <a:off x="3097157" y="5074920"/>
            <a:ext cx="4297680" cy="777240"/>
          </a:xfrm>
          <a:prstGeom prst="rect">
            <a:avLst/>
          </a:prstGeom>
          <a:noFill/>
          <a:ln w="0">
            <a:noFill/>
            <a:prstDash val="solid"/>
          </a:ln>
        </p:spPr>
        <p:txBody>
          <a:bodyPr wrap="square"/>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Anxiety-producing; done to the individual</a:t>
            </a:r>
          </a:p>
        </p:txBody>
      </p:sp>
      <p:sp>
        <p:nvSpPr>
          <p:cNvPr id="70" name="Rectangle 69">
            <a:extLst>
              <a:ext uri="{FF2B5EF4-FFF2-40B4-BE49-F238E27FC236}">
                <a16:creationId xmlns:a16="http://schemas.microsoft.com/office/drawing/2014/main" id="{4D38833D-C158-56FC-1A7C-F9055409B546}"/>
              </a:ext>
            </a:extLst>
          </p:cNvPr>
          <p:cNvSpPr>
            <a:spLocks noGrp="1"/>
          </p:cNvSpPr>
          <p:nvPr/>
        </p:nvSpPr>
        <p:spPr>
          <a:xfrm>
            <a:off x="7520940" y="5074920"/>
            <a:ext cx="4381500" cy="777240"/>
          </a:xfrm>
          <a:prstGeom prst="rect">
            <a:avLst/>
          </a:prstGeom>
          <a:noFill/>
          <a:ln w="0">
            <a:noFill/>
            <a:prstDash val="solid"/>
          </a:ln>
        </p:spPr>
        <p:txBody>
          <a:bodyPr/>
          <a:lstStyle>
            <a:defPPr>
              <a:defRPr sz="2400" b="0">
                <a:solidFill>
                  <a:srgbClr val="F0F3EF"/>
                </a:solidFill>
              </a:defRPr>
            </a:defPPr>
          </a:lstStyle>
          <a:p>
            <a:pPr>
              <a:defRPr sz="2400" b="0">
                <a:solidFill>
                  <a:srgbClr val="F0F3EF"/>
                </a:solidFill>
              </a:defRPr>
            </a:pPr>
            <a:r>
              <a:rPr sz="2400" b="0" dirty="0">
                <a:solidFill>
                  <a:schemeClr val="tx1">
                    <a:lumMod val="95000"/>
                    <a:lumOff val="5000"/>
                  </a:schemeClr>
                </a:solidFill>
              </a:rPr>
              <a:t>Energy-generating; done with the individual</a:t>
            </a:r>
          </a:p>
        </p:txBody>
      </p:sp>
      <p:sp>
        <p:nvSpPr>
          <p:cNvPr id="72" name="Rectangle 71">
            <a:extLst>
              <a:ext uri="{FF2B5EF4-FFF2-40B4-BE49-F238E27FC236}">
                <a16:creationId xmlns:a16="http://schemas.microsoft.com/office/drawing/2014/main" id="{D8189FF3-7283-A4F3-8CAA-F3609A0B756B}"/>
              </a:ext>
            </a:extLst>
          </p:cNvPr>
          <p:cNvSpPr>
            <a:spLocks noGrp="1"/>
          </p:cNvSpPr>
          <p:nvPr/>
        </p:nvSpPr>
        <p:spPr>
          <a:xfrm>
            <a:off x="548640" y="5925312"/>
            <a:ext cx="11125200" cy="9525"/>
          </a:xfrm>
          <a:prstGeom prst="rect">
            <a:avLst/>
          </a:prstGeom>
          <a:solidFill>
            <a:srgbClr val="2E5A42"/>
          </a:solidFill>
          <a:ln w="0">
            <a:solidFill>
              <a:srgbClr val="2E5A42"/>
            </a:solidFill>
            <a:prstDash val="solid"/>
          </a:ln>
        </p:spPr>
        <p:txBody>
          <a:bodyPr/>
          <a:lstStyle/>
          <a:p>
            <a:endParaRPr lang="en-ZA">
              <a:solidFill>
                <a:schemeClr val="tx1">
                  <a:lumMod val="95000"/>
                  <a:lumOff val="5000"/>
                </a:schemeClr>
              </a:solidFil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2.2 · Accountability for people and organisational performance</a:t>
            </a:r>
            <a:endParaRPr lang="en-US" sz="3600" dirty="0"/>
          </a:p>
        </p:txBody>
      </p:sp>
      <p:sp>
        <p:nvSpPr>
          <p:cNvPr id="3" name="Shape 1"/>
          <p:cNvSpPr/>
          <p:nvPr/>
        </p:nvSpPr>
        <p:spPr>
          <a:xfrm>
            <a:off x="548640" y="1508760"/>
            <a:ext cx="5394960" cy="4846320"/>
          </a:xfrm>
          <a:prstGeom prst="roundRect">
            <a:avLst>
              <a:gd name="adj" fmla="val 1887"/>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822960" y="1737360"/>
            <a:ext cx="731520" cy="73152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1005840" y="1920240"/>
            <a:ext cx="365760" cy="365760"/>
          </a:xfrm>
          <a:prstGeom prst="rect">
            <a:avLst/>
          </a:prstGeom>
        </p:spPr>
      </p:pic>
      <p:sp>
        <p:nvSpPr>
          <p:cNvPr id="6" name="Text 3"/>
          <p:cNvSpPr txBox="1"/>
          <p:nvPr/>
        </p:nvSpPr>
        <p:spPr>
          <a:xfrm>
            <a:off x="1737360" y="1691640"/>
            <a:ext cx="4069080" cy="502920"/>
          </a:xfrm>
          <a:prstGeom prst="rect">
            <a:avLst/>
          </a:prstGeom>
          <a:noFill/>
          <a:ln/>
        </p:spPr>
        <p:txBody>
          <a:bodyPr wrap="square" lIns="0" tIns="0" rIns="0" bIns="0" rtlCol="0" anchor="t"/>
          <a:lstStyle/>
          <a:p>
            <a:pPr marL="0" indent="0">
              <a:buNone/>
            </a:pPr>
            <a:r>
              <a:rPr lang="en-US" sz="2800" b="1" dirty="0">
                <a:solidFill>
                  <a:srgbClr val="1A5C2C"/>
                </a:solidFill>
                <a:latin typeface="Cambria" pitchFamily="34" charset="0"/>
                <a:ea typeface="Cambria" pitchFamily="34" charset="-122"/>
                <a:cs typeface="Cambria" pitchFamily="34" charset="-120"/>
              </a:rPr>
              <a:t>People performance</a:t>
            </a:r>
            <a:endParaRPr lang="en-US" sz="2800" dirty="0"/>
          </a:p>
        </p:txBody>
      </p:sp>
      <p:sp>
        <p:nvSpPr>
          <p:cNvPr id="7" name="Text 4"/>
          <p:cNvSpPr txBox="1"/>
          <p:nvPr/>
        </p:nvSpPr>
        <p:spPr>
          <a:xfrm>
            <a:off x="1737360" y="2194560"/>
            <a:ext cx="4069080" cy="457200"/>
          </a:xfrm>
          <a:prstGeom prst="rect">
            <a:avLst/>
          </a:prstGeom>
          <a:noFill/>
          <a:ln/>
        </p:spPr>
        <p:txBody>
          <a:bodyPr wrap="square" lIns="0" tIns="0" rIns="0" bIns="0" rtlCol="0" anchor="t"/>
          <a:lstStyle/>
          <a:p>
            <a:pPr marL="0" indent="0">
              <a:buNone/>
            </a:pPr>
            <a:r>
              <a:rPr lang="en-US" sz="2400" i="1" dirty="0">
                <a:solidFill>
                  <a:srgbClr val="4E5E53"/>
                </a:solidFill>
                <a:latin typeface="Calibri" pitchFamily="34" charset="0"/>
                <a:ea typeface="Calibri" pitchFamily="34" charset="-122"/>
                <a:cs typeface="Calibri" pitchFamily="34" charset="-120"/>
              </a:rPr>
              <a:t>compliance and commitment</a:t>
            </a:r>
            <a:endParaRPr lang="en-US" sz="2400" dirty="0"/>
          </a:p>
        </p:txBody>
      </p:sp>
      <p:sp>
        <p:nvSpPr>
          <p:cNvPr id="8" name="Text 5"/>
          <p:cNvSpPr txBox="1"/>
          <p:nvPr/>
        </p:nvSpPr>
        <p:spPr>
          <a:xfrm>
            <a:off x="868680" y="2834640"/>
            <a:ext cx="4846320" cy="342900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Compliance: targets and standards met?</a:t>
            </a:r>
            <a:endParaRPr lang="en-US" sz="2400" dirty="0"/>
          </a:p>
          <a:p>
            <a:pPr marL="342900" indent="-342900">
              <a:spcAft>
                <a:spcPts val="600"/>
              </a:spcAft>
              <a:buSzPct val="100000"/>
              <a:buChar char="•"/>
            </a:pPr>
            <a:r>
              <a:rPr lang="en-US" sz="2400" dirty="0">
                <a:solidFill>
                  <a:srgbClr val="1F2A22"/>
                </a:solidFill>
                <a:latin typeface="Calibri" pitchFamily="34" charset="0"/>
                <a:ea typeface="Calibri" pitchFamily="34" charset="-122"/>
                <a:cs typeface="Calibri" pitchFamily="34" charset="-120"/>
              </a:rPr>
              <a:t>Commitment: contribution understood and owned?</a:t>
            </a:r>
            <a:endParaRPr lang="en-US" sz="2400" dirty="0"/>
          </a:p>
        </p:txBody>
      </p:sp>
      <p:sp>
        <p:nvSpPr>
          <p:cNvPr id="9" name="Shape 6"/>
          <p:cNvSpPr/>
          <p:nvPr/>
        </p:nvSpPr>
        <p:spPr>
          <a:xfrm>
            <a:off x="6245352" y="1508760"/>
            <a:ext cx="5394960" cy="4846320"/>
          </a:xfrm>
          <a:prstGeom prst="roundRect">
            <a:avLst>
              <a:gd name="adj" fmla="val 1887"/>
            </a:avLst>
          </a:prstGeom>
          <a:solidFill>
            <a:srgbClr val="1A5C2C"/>
          </a:solidFill>
          <a:ln w="12700">
            <a:solidFill>
              <a:srgbClr val="1A5C2C"/>
            </a:solidFill>
            <a:prstDash val="solid"/>
          </a:ln>
        </p:spPr>
        <p:txBody>
          <a:bodyPr/>
          <a:lstStyle/>
          <a:p>
            <a:endParaRPr lang="en-ZA"/>
          </a:p>
        </p:txBody>
      </p:sp>
      <p:sp>
        <p:nvSpPr>
          <p:cNvPr id="10" name="Shape 7"/>
          <p:cNvSpPr/>
          <p:nvPr/>
        </p:nvSpPr>
        <p:spPr>
          <a:xfrm>
            <a:off x="6519672" y="1737360"/>
            <a:ext cx="731520" cy="731520"/>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6702552" y="1920240"/>
            <a:ext cx="365760" cy="365760"/>
          </a:xfrm>
          <a:prstGeom prst="rect">
            <a:avLst/>
          </a:prstGeom>
        </p:spPr>
      </p:pic>
      <p:sp>
        <p:nvSpPr>
          <p:cNvPr id="12" name="Text 8"/>
          <p:cNvSpPr txBox="1"/>
          <p:nvPr/>
        </p:nvSpPr>
        <p:spPr>
          <a:xfrm>
            <a:off x="7434072" y="1691640"/>
            <a:ext cx="4069080" cy="502920"/>
          </a:xfrm>
          <a:prstGeom prst="rect">
            <a:avLst/>
          </a:prstGeom>
          <a:noFill/>
          <a:ln/>
        </p:spPr>
        <p:txBody>
          <a:bodyPr wrap="square" lIns="0" tIns="0" rIns="0" bIns="0" rtlCol="0" anchor="t"/>
          <a:lstStyle/>
          <a:p>
            <a:pPr marL="0" indent="0">
              <a:buNone/>
            </a:pPr>
            <a:r>
              <a:rPr lang="en-US" sz="2800" b="1" dirty="0">
                <a:solidFill>
                  <a:srgbClr val="FFFFFF"/>
                </a:solidFill>
                <a:latin typeface="Cambria" pitchFamily="34" charset="0"/>
                <a:ea typeface="Cambria" pitchFamily="34" charset="-122"/>
                <a:cs typeface="Cambria" pitchFamily="34" charset="-120"/>
              </a:rPr>
              <a:t>Organisational performance</a:t>
            </a:r>
            <a:endParaRPr lang="en-US" sz="2800" dirty="0"/>
          </a:p>
        </p:txBody>
      </p:sp>
      <p:sp>
        <p:nvSpPr>
          <p:cNvPr id="13" name="Text 9"/>
          <p:cNvSpPr txBox="1"/>
          <p:nvPr/>
        </p:nvSpPr>
        <p:spPr>
          <a:xfrm>
            <a:off x="7434072" y="2606040"/>
            <a:ext cx="4069080" cy="457200"/>
          </a:xfrm>
          <a:prstGeom prst="rect">
            <a:avLst/>
          </a:prstGeom>
          <a:noFill/>
          <a:ln/>
        </p:spPr>
        <p:txBody>
          <a:bodyPr wrap="square" lIns="0" tIns="0" rIns="0" bIns="0" rtlCol="0" anchor="t"/>
          <a:lstStyle/>
          <a:p>
            <a:pPr marL="0" indent="0">
              <a:buNone/>
            </a:pPr>
            <a:r>
              <a:rPr lang="en-US" sz="2400" i="1" dirty="0">
                <a:solidFill>
                  <a:srgbClr val="E6D3A0"/>
                </a:solidFill>
                <a:latin typeface="Calibri" pitchFamily="34" charset="0"/>
                <a:ea typeface="Calibri" pitchFamily="34" charset="-122"/>
                <a:cs typeface="Calibri" pitchFamily="34" charset="-120"/>
              </a:rPr>
              <a:t>compliance and commitment</a:t>
            </a:r>
            <a:endParaRPr lang="en-US" sz="2400" dirty="0"/>
          </a:p>
        </p:txBody>
      </p:sp>
      <p:sp>
        <p:nvSpPr>
          <p:cNvPr id="14" name="Text 10"/>
          <p:cNvSpPr txBox="1"/>
          <p:nvPr/>
        </p:nvSpPr>
        <p:spPr>
          <a:xfrm>
            <a:off x="6565392" y="3246120"/>
            <a:ext cx="4846320" cy="3017520"/>
          </a:xfrm>
          <a:prstGeom prst="rect">
            <a:avLst/>
          </a:prstGeom>
          <a:noFill/>
          <a:ln/>
        </p:spPr>
        <p:txBody>
          <a:bodyPr wrap="square" lIns="0" tIns="0" rIns="0" bIns="0" rtlCol="0" anchor="t"/>
          <a:lstStyle/>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Compliance: arrangements followed?</a:t>
            </a:r>
            <a:endParaRPr lang="en-US" sz="2400" dirty="0"/>
          </a:p>
          <a:p>
            <a:pPr marL="342900" indent="-342900">
              <a:spcAft>
                <a:spcPts val="600"/>
              </a:spcAft>
              <a:buSzPct val="100000"/>
              <a:buChar char="•"/>
            </a:pPr>
            <a:r>
              <a:rPr lang="en-US" sz="2400" dirty="0">
                <a:solidFill>
                  <a:srgbClr val="FFFFFF"/>
                </a:solidFill>
                <a:latin typeface="Calibri" pitchFamily="34" charset="0"/>
                <a:ea typeface="Calibri" pitchFamily="34" charset="-122"/>
                <a:cs typeface="Calibri" pitchFamily="34" charset="-120"/>
              </a:rPr>
              <a:t>Commitment: arrangements effective, constraints addressed?</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Executive Performance Integration and the Evolution of Performance Management</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Diagnose executive performance blind spots and determine corrective responses.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Redesign performance practices towards continuous, developmental and team-based management.</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3.1 · Unity in Diversity: executive performance perspectives</a:t>
            </a:r>
            <a:endParaRPr lang="en-US" sz="2600" dirty="0"/>
          </a:p>
        </p:txBody>
      </p:sp>
      <p:pic>
        <p:nvPicPr>
          <p:cNvPr id="8" name="Picture 7">
            <a:extLst>
              <a:ext uri="{FF2B5EF4-FFF2-40B4-BE49-F238E27FC236}">
                <a16:creationId xmlns:a16="http://schemas.microsoft.com/office/drawing/2014/main" id="{F396C454-9F29-1E4F-756B-D14CB176E38C}"/>
              </a:ext>
            </a:extLst>
          </p:cNvPr>
          <p:cNvPicPr>
            <a:picLocks noChangeAspect="1"/>
          </p:cNvPicPr>
          <p:nvPr/>
        </p:nvPicPr>
        <p:blipFill>
          <a:blip r:embed="rId4"/>
          <a:stretch>
            <a:fillRect/>
          </a:stretch>
        </p:blipFill>
        <p:spPr>
          <a:xfrm>
            <a:off x="2003612" y="1920240"/>
            <a:ext cx="8773574" cy="4937759"/>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2" name=""/>
        <p:cNvGrpSpPr/>
        <p:nvPr/>
      </p:nvGrpSpPr>
      <p:grpSpPr/>
      <p:sp>
        <p:nvSpPr>
          <p:cNvPr id="3"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3.1 · The ten executive performance hot zones</a:t>
            </a:r>
            <a:endParaRPr lang="en-US" sz="3600" dirty="0"/>
          </a:p>
        </p:txBody>
      </p:sp>
      <p:sp>
        <p:nvSpPr>
          <p:cNvPr id="4" name="Shape 1 r0"/>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r0" descr="preencoded.png"/>
          <p:cNvPicPr>
            <a:picLocks noChangeAspect="1"/>
          </p:cNvPicPr>
          <p:nvPr/>
        </p:nvPicPr>
        <p:blipFill>
          <a:blip r:embed="rId2"/>
          <a:stretch>
            <a:fillRect/>
          </a:stretch>
        </p:blipFill>
        <p:spPr>
          <a:xfrm>
            <a:off x="708660" y="1837944"/>
            <a:ext cx="320040" cy="320040"/>
          </a:xfrm>
          <a:prstGeom prst="rect">
            <a:avLst/>
          </a:prstGeom>
        </p:spPr>
      </p:pic>
      <p:sp>
        <p:nvSpPr>
          <p:cNvPr id="6" name="Text 2 r0"/>
          <p:cNvSpPr txBox="1"/>
          <p:nvPr/>
        </p:nvSpPr>
        <p:spPr>
          <a:xfrm>
            <a:off x="1508760" y="1508760"/>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CEO  </a:t>
            </a:r>
            <a:r>
              <a:rPr lang="en-US" sz="2600" dirty="0">
                <a:solidFill>
                  <a:srgbClr val="1F2A22"/>
                </a:solidFill>
                <a:latin typeface="Calibri" pitchFamily="34" charset="0"/>
                <a:ea typeface="Calibri" pitchFamily="34" charset="-122"/>
                <a:cs typeface="Calibri" pitchFamily="34" charset="-120"/>
              </a:rPr>
              <a:t>combined result unchecked</a:t>
            </a:r>
            <a:endParaRPr lang="en-US" sz="2600" dirty="0"/>
          </a:p>
        </p:txBody>
      </p:sp>
      <p:sp>
        <p:nvSpPr>
          <p:cNvPr id="7" name="Shape 1 r1"/>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8" name="Image 0 r1" descr="preencoded.png"/>
          <p:cNvPicPr>
            <a:picLocks noChangeAspect="1"/>
          </p:cNvPicPr>
          <p:nvPr/>
        </p:nvPicPr>
        <p:blipFill>
          <a:blip r:embed="rId2"/>
          <a:stretch>
            <a:fillRect/>
          </a:stretch>
        </p:blipFill>
        <p:spPr>
          <a:xfrm>
            <a:off x="708660" y="2816352"/>
            <a:ext cx="320040" cy="320040"/>
          </a:xfrm>
          <a:prstGeom prst="rect">
            <a:avLst/>
          </a:prstGeom>
        </p:spPr>
      </p:pic>
      <p:sp>
        <p:nvSpPr>
          <p:cNvPr id="9" name="Text 2 r1"/>
          <p:cNvSpPr txBox="1"/>
          <p:nvPr/>
        </p:nvSpPr>
        <p:spPr>
          <a:xfrm>
            <a:off x="1508760" y="2487168"/>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CFO  </a:t>
            </a:r>
            <a:r>
              <a:rPr lang="en-US" sz="2600" dirty="0">
                <a:solidFill>
                  <a:srgbClr val="1F2A22"/>
                </a:solidFill>
                <a:latin typeface="Calibri" pitchFamily="34" charset="0"/>
                <a:ea typeface="Calibri" pitchFamily="34" charset="-122"/>
                <a:cs typeface="Calibri" pitchFamily="34" charset="-120"/>
              </a:rPr>
              <a:t>savings read as success</a:t>
            </a:r>
            <a:endParaRPr lang="en-US" sz="2600" dirty="0"/>
          </a:p>
        </p:txBody>
      </p:sp>
      <p:sp>
        <p:nvSpPr>
          <p:cNvPr id="10" name="Shape 1 r2"/>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1" name="Image 0 r2" descr="preencoded.png"/>
          <p:cNvPicPr>
            <a:picLocks noChangeAspect="1"/>
          </p:cNvPicPr>
          <p:nvPr/>
        </p:nvPicPr>
        <p:blipFill>
          <a:blip r:embed="rId2"/>
          <a:stretch>
            <a:fillRect/>
          </a:stretch>
        </p:blipFill>
        <p:spPr>
          <a:xfrm>
            <a:off x="708660" y="3794760"/>
            <a:ext cx="320040" cy="320040"/>
          </a:xfrm>
          <a:prstGeom prst="rect">
            <a:avLst/>
          </a:prstGeom>
        </p:spPr>
      </p:pic>
      <p:sp>
        <p:nvSpPr>
          <p:cNvPr id="12" name="Text 2 r2"/>
          <p:cNvSpPr txBox="1"/>
          <p:nvPr/>
        </p:nvSpPr>
        <p:spPr>
          <a:xfrm>
            <a:off x="1508760" y="3465576"/>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COO  </a:t>
            </a:r>
            <a:r>
              <a:rPr lang="en-US" sz="2600" dirty="0">
                <a:solidFill>
                  <a:srgbClr val="1F2A22"/>
                </a:solidFill>
                <a:latin typeface="Calibri" pitchFamily="34" charset="0"/>
                <a:ea typeface="Calibri" pitchFamily="34" charset="-122"/>
                <a:cs typeface="Calibri" pitchFamily="34" charset="-120"/>
              </a:rPr>
              <a:t>outputs without outcomes</a:t>
            </a:r>
            <a:endParaRPr lang="en-US" sz="2600" dirty="0"/>
          </a:p>
        </p:txBody>
      </p:sp>
      <p:sp>
        <p:nvSpPr>
          <p:cNvPr id="13" name="Shape 1 r3"/>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4" name="Image 0 r3" descr="preencoded.png"/>
          <p:cNvPicPr>
            <a:picLocks noChangeAspect="1"/>
          </p:cNvPicPr>
          <p:nvPr/>
        </p:nvPicPr>
        <p:blipFill>
          <a:blip r:embed="rId2"/>
          <a:stretch>
            <a:fillRect/>
          </a:stretch>
        </p:blipFill>
        <p:spPr>
          <a:xfrm>
            <a:off x="708660" y="4773168"/>
            <a:ext cx="320040" cy="320040"/>
          </a:xfrm>
          <a:prstGeom prst="rect">
            <a:avLst/>
          </a:prstGeom>
        </p:spPr>
      </p:pic>
      <p:sp>
        <p:nvSpPr>
          <p:cNvPr id="15" name="Text 2 r3"/>
          <p:cNvSpPr txBox="1"/>
          <p:nvPr/>
        </p:nvSpPr>
        <p:spPr>
          <a:xfrm>
            <a:off x="1508760" y="4443984"/>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CHRO  </a:t>
            </a:r>
            <a:r>
              <a:rPr lang="en-US" sz="2600" dirty="0">
                <a:solidFill>
                  <a:srgbClr val="1F2A22"/>
                </a:solidFill>
                <a:latin typeface="Calibri" pitchFamily="34" charset="0"/>
                <a:ea typeface="Calibri" pitchFamily="34" charset="-122"/>
                <a:cs typeface="Calibri" pitchFamily="34" charset="-120"/>
              </a:rPr>
              <a:t>conditions left unchecked</a:t>
            </a:r>
            <a:endParaRPr lang="en-US" sz="2600" dirty="0"/>
          </a:p>
        </p:txBody>
      </p:sp>
      <p:sp>
        <p:nvSpPr>
          <p:cNvPr id="16" name="Shape 1 r4"/>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7" name="Image 0 r4" descr="preencoded.png"/>
          <p:cNvPicPr>
            <a:picLocks noChangeAspect="1"/>
          </p:cNvPicPr>
          <p:nvPr/>
        </p:nvPicPr>
        <p:blipFill>
          <a:blip r:embed="rId2"/>
          <a:stretch>
            <a:fillRect/>
          </a:stretch>
        </p:blipFill>
        <p:spPr>
          <a:xfrm>
            <a:off x="708660" y="5751576"/>
            <a:ext cx="320040" cy="320040"/>
          </a:xfrm>
          <a:prstGeom prst="rect">
            <a:avLst/>
          </a:prstGeom>
        </p:spPr>
      </p:pic>
      <p:sp>
        <p:nvSpPr>
          <p:cNvPr id="18" name="Text 2 r4"/>
          <p:cNvSpPr txBox="1"/>
          <p:nvPr/>
        </p:nvSpPr>
        <p:spPr>
          <a:xfrm>
            <a:off x="1508760" y="5422392"/>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CIO/CTO  </a:t>
            </a:r>
            <a:r>
              <a:rPr lang="en-US" sz="2600" dirty="0">
                <a:solidFill>
                  <a:srgbClr val="1F2A22"/>
                </a:solidFill>
                <a:latin typeface="Calibri" pitchFamily="34" charset="0"/>
                <a:ea typeface="Calibri" pitchFamily="34" charset="-122"/>
                <a:cs typeface="Calibri" pitchFamily="34" charset="-120"/>
              </a:rPr>
              <a:t>uptime without enablement</a:t>
            </a:r>
            <a:endParaRPr lang="en-US" sz="2600" dirty="0"/>
          </a:p>
        </p:txBody>
      </p:sp>
      <p:sp>
        <p:nvSpPr>
          <p:cNvPr id="19" name="Shape 1 r5"/>
          <p:cNvSpPr/>
          <p:nvPr/>
        </p:nvSpPr>
        <p:spPr>
          <a:xfrm>
            <a:off x="617220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0" name="Image 0 r5" descr="preencoded.png"/>
          <p:cNvPicPr>
            <a:picLocks noChangeAspect="1"/>
          </p:cNvPicPr>
          <p:nvPr/>
        </p:nvPicPr>
        <p:blipFill>
          <a:blip r:embed="rId2"/>
          <a:stretch>
            <a:fillRect/>
          </a:stretch>
        </p:blipFill>
        <p:spPr>
          <a:xfrm>
            <a:off x="6332220" y="1837944"/>
            <a:ext cx="320040" cy="320040"/>
          </a:xfrm>
          <a:prstGeom prst="rect">
            <a:avLst/>
          </a:prstGeom>
        </p:spPr>
      </p:pic>
      <p:sp>
        <p:nvSpPr>
          <p:cNvPr id="21" name="Text 2 r5"/>
          <p:cNvSpPr txBox="1"/>
          <p:nvPr/>
        </p:nvSpPr>
        <p:spPr>
          <a:xfrm>
            <a:off x="7132320" y="1508760"/>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CMO  </a:t>
            </a:r>
            <a:r>
              <a:rPr lang="en-US" sz="2600" dirty="0">
                <a:solidFill>
                  <a:srgbClr val="1F2A22"/>
                </a:solidFill>
                <a:latin typeface="Calibri" pitchFamily="34" charset="0"/>
                <a:ea typeface="Calibri" pitchFamily="34" charset="-122"/>
                <a:cs typeface="Calibri" pitchFamily="34" charset="-120"/>
              </a:rPr>
              <a:t>promise beyond delivery</a:t>
            </a:r>
            <a:endParaRPr lang="en-US" sz="2600" dirty="0"/>
          </a:p>
        </p:txBody>
      </p:sp>
      <p:sp>
        <p:nvSpPr>
          <p:cNvPr id="22" name="Shape 1 r6"/>
          <p:cNvSpPr/>
          <p:nvPr/>
        </p:nvSpPr>
        <p:spPr>
          <a:xfrm>
            <a:off x="617220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3" name="Image 0 r6" descr="preencoded.png"/>
          <p:cNvPicPr>
            <a:picLocks noChangeAspect="1"/>
          </p:cNvPicPr>
          <p:nvPr/>
        </p:nvPicPr>
        <p:blipFill>
          <a:blip r:embed="rId2"/>
          <a:stretch>
            <a:fillRect/>
          </a:stretch>
        </p:blipFill>
        <p:spPr>
          <a:xfrm>
            <a:off x="6332220" y="2816352"/>
            <a:ext cx="320040" cy="320040"/>
          </a:xfrm>
          <a:prstGeom prst="rect">
            <a:avLst/>
          </a:prstGeom>
        </p:spPr>
      </p:pic>
      <p:sp>
        <p:nvSpPr>
          <p:cNvPr id="24" name="Text 2 r6"/>
          <p:cNvSpPr txBox="1"/>
          <p:nvPr/>
        </p:nvSpPr>
        <p:spPr>
          <a:xfrm>
            <a:off x="7132320" y="2487168"/>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CCO  </a:t>
            </a:r>
            <a:r>
              <a:rPr lang="en-US" sz="2600" dirty="0">
                <a:solidFill>
                  <a:srgbClr val="1F2A22"/>
                </a:solidFill>
                <a:latin typeface="Calibri" pitchFamily="34" charset="0"/>
                <a:ea typeface="Calibri" pitchFamily="34" charset="-122"/>
                <a:cs typeface="Calibri" pitchFamily="34" charset="-120"/>
              </a:rPr>
              <a:t>sales beyond capacity</a:t>
            </a:r>
            <a:endParaRPr lang="en-US" sz="2600" dirty="0"/>
          </a:p>
        </p:txBody>
      </p:sp>
      <p:sp>
        <p:nvSpPr>
          <p:cNvPr id="25" name="Shape 1 r7"/>
          <p:cNvSpPr/>
          <p:nvPr/>
        </p:nvSpPr>
        <p:spPr>
          <a:xfrm>
            <a:off x="617220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6" name="Image 0 r7" descr="preencoded.png"/>
          <p:cNvPicPr>
            <a:picLocks noChangeAspect="1"/>
          </p:cNvPicPr>
          <p:nvPr/>
        </p:nvPicPr>
        <p:blipFill>
          <a:blip r:embed="rId2"/>
          <a:stretch>
            <a:fillRect/>
          </a:stretch>
        </p:blipFill>
        <p:spPr>
          <a:xfrm>
            <a:off x="6332220" y="3794760"/>
            <a:ext cx="320040" cy="320040"/>
          </a:xfrm>
          <a:prstGeom prst="rect">
            <a:avLst/>
          </a:prstGeom>
        </p:spPr>
      </p:pic>
      <p:sp>
        <p:nvSpPr>
          <p:cNvPr id="27" name="Text 2 r7"/>
          <p:cNvSpPr txBox="1"/>
          <p:nvPr/>
        </p:nvSpPr>
        <p:spPr>
          <a:xfrm>
            <a:off x="7132320" y="3465576"/>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CPO  </a:t>
            </a:r>
            <a:r>
              <a:rPr lang="en-US" sz="2600" dirty="0">
                <a:solidFill>
                  <a:srgbClr val="1F2A22"/>
                </a:solidFill>
                <a:latin typeface="Calibri" pitchFamily="34" charset="0"/>
                <a:ea typeface="Calibri" pitchFamily="34" charset="-122"/>
                <a:cs typeface="Calibri" pitchFamily="34" charset="-120"/>
              </a:rPr>
              <a:t>savings over supply</a:t>
            </a:r>
            <a:endParaRPr lang="en-US" sz="2600" dirty="0"/>
          </a:p>
        </p:txBody>
      </p:sp>
      <p:sp>
        <p:nvSpPr>
          <p:cNvPr id="28" name="Shape 1 r8"/>
          <p:cNvSpPr/>
          <p:nvPr/>
        </p:nvSpPr>
        <p:spPr>
          <a:xfrm>
            <a:off x="617220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29" name="Image 0 r8" descr="preencoded.png"/>
          <p:cNvPicPr>
            <a:picLocks noChangeAspect="1"/>
          </p:cNvPicPr>
          <p:nvPr/>
        </p:nvPicPr>
        <p:blipFill>
          <a:blip r:embed="rId2"/>
          <a:stretch>
            <a:fillRect/>
          </a:stretch>
        </p:blipFill>
        <p:spPr>
          <a:xfrm>
            <a:off x="6332220" y="4773168"/>
            <a:ext cx="320040" cy="320040"/>
          </a:xfrm>
          <a:prstGeom prst="rect">
            <a:avLst/>
          </a:prstGeom>
        </p:spPr>
      </p:pic>
      <p:sp>
        <p:nvSpPr>
          <p:cNvPr id="30" name="Text 2 r8"/>
          <p:cNvSpPr txBox="1"/>
          <p:nvPr/>
        </p:nvSpPr>
        <p:spPr>
          <a:xfrm>
            <a:off x="7132320" y="4443984"/>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CRO  </a:t>
            </a:r>
            <a:r>
              <a:rPr lang="en-US" sz="2600" dirty="0">
                <a:solidFill>
                  <a:srgbClr val="1F2A22"/>
                </a:solidFill>
                <a:latin typeface="Calibri" pitchFamily="34" charset="0"/>
                <a:ea typeface="Calibri" pitchFamily="34" charset="-122"/>
                <a:cs typeface="Calibri" pitchFamily="34" charset="-120"/>
              </a:rPr>
              <a:t>control slowing execution</a:t>
            </a:r>
            <a:endParaRPr lang="en-US" sz="2600" dirty="0"/>
          </a:p>
        </p:txBody>
      </p:sp>
      <p:sp>
        <p:nvSpPr>
          <p:cNvPr id="31" name="Shape 1 r9"/>
          <p:cNvSpPr/>
          <p:nvPr/>
        </p:nvSpPr>
        <p:spPr>
          <a:xfrm>
            <a:off x="617220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32" name="Image 0 r9" descr="preencoded.png"/>
          <p:cNvPicPr>
            <a:picLocks noChangeAspect="1"/>
          </p:cNvPicPr>
          <p:nvPr/>
        </p:nvPicPr>
        <p:blipFill>
          <a:blip r:embed="rId2"/>
          <a:stretch>
            <a:fillRect/>
          </a:stretch>
        </p:blipFill>
        <p:spPr>
          <a:xfrm>
            <a:off x="6332220" y="5751576"/>
            <a:ext cx="320040" cy="320040"/>
          </a:xfrm>
          <a:prstGeom prst="rect">
            <a:avLst/>
          </a:prstGeom>
        </p:spPr>
      </p:pic>
      <p:sp>
        <p:nvSpPr>
          <p:cNvPr id="33" name="Text 2 r9"/>
          <p:cNvSpPr txBox="1"/>
          <p:nvPr/>
        </p:nvSpPr>
        <p:spPr>
          <a:xfrm>
            <a:off x="7132320" y="5422392"/>
            <a:ext cx="4572000"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CSO  </a:t>
            </a:r>
            <a:r>
              <a:rPr lang="en-US" sz="2600" dirty="0">
                <a:solidFill>
                  <a:srgbClr val="1F2A22"/>
                </a:solidFill>
                <a:latin typeface="Calibri" pitchFamily="34" charset="0"/>
                <a:ea typeface="Calibri" pitchFamily="34" charset="-122"/>
                <a:cs typeface="Calibri" pitchFamily="34" charset="-120"/>
              </a:rPr>
              <a:t>milestones without outcomes</a:t>
            </a:r>
            <a:endParaRPr lang="en-US" sz="2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3.2 · The continuous PM shift</a:t>
            </a:r>
            <a:endParaRPr lang="en-US" sz="3600" dirty="0"/>
          </a:p>
        </p:txBody>
      </p:sp>
      <p:sp>
        <p:nvSpPr>
          <p:cNvPr id="3" name="Shape 1"/>
          <p:cNvSpPr/>
          <p:nvPr/>
        </p:nvSpPr>
        <p:spPr>
          <a:xfrm>
            <a:off x="548640" y="1508760"/>
            <a:ext cx="3657600" cy="4846320"/>
          </a:xfrm>
          <a:prstGeom prst="roundRect">
            <a:avLst>
              <a:gd name="adj" fmla="val 2500"/>
            </a:avLst>
          </a:prstGeom>
          <a:solidFill>
            <a:srgbClr val="1A5C2C"/>
          </a:solidFill>
          <a:ln w="12700">
            <a:solidFill>
              <a:srgbClr val="1A5C2C"/>
            </a:solidFill>
            <a:prstDash val="solid"/>
          </a:ln>
        </p:spPr>
        <p:txBody>
          <a:bodyPr/>
          <a:lstStyle/>
          <a:p>
            <a:endParaRPr lang="en-ZA"/>
          </a:p>
        </p:txBody>
      </p:sp>
      <p:sp>
        <p:nvSpPr>
          <p:cNvPr id="4" name="Text 2"/>
          <p:cNvSpPr txBox="1"/>
          <p:nvPr/>
        </p:nvSpPr>
        <p:spPr>
          <a:xfrm>
            <a:off x="640080" y="1737360"/>
            <a:ext cx="3474720" cy="1463040"/>
          </a:xfrm>
          <a:prstGeom prst="rect">
            <a:avLst/>
          </a:prstGeom>
          <a:noFill/>
          <a:ln/>
        </p:spPr>
        <p:txBody>
          <a:bodyPr wrap="square" lIns="0" tIns="0" rIns="0" bIns="0" rtlCol="0" anchor="ctr"/>
          <a:lstStyle/>
          <a:p>
            <a:pPr marL="0" indent="0" algn="ctr">
              <a:buNone/>
            </a:pPr>
            <a:r>
              <a:rPr lang="en-US" sz="8000" b="1" dirty="0">
                <a:solidFill>
                  <a:srgbClr val="C6A24C"/>
                </a:solidFill>
                <a:latin typeface="Cambria" pitchFamily="34" charset="0"/>
                <a:ea typeface="Cambria" pitchFamily="34" charset="-122"/>
                <a:cs typeface="Cambria" pitchFamily="34" charset="-120"/>
              </a:rPr>
              <a:t>3</a:t>
            </a:r>
            <a:endParaRPr lang="en-US" sz="8000" dirty="0"/>
          </a:p>
        </p:txBody>
      </p:sp>
      <p:sp>
        <p:nvSpPr>
          <p:cNvPr id="5" name="Text 3"/>
          <p:cNvSpPr txBox="1"/>
          <p:nvPr/>
        </p:nvSpPr>
        <p:spPr>
          <a:xfrm>
            <a:off x="777240" y="3291840"/>
            <a:ext cx="3200400" cy="2926080"/>
          </a:xfrm>
          <a:prstGeom prst="rect">
            <a:avLst/>
          </a:prstGeom>
          <a:noFill/>
          <a:ln/>
        </p:spPr>
        <p:txBody>
          <a:bodyPr wrap="square" lIns="0" tIns="0" rIns="0" bIns="0" rtlCol="0" anchor="t"/>
          <a:lstStyle/>
          <a:p>
            <a:pPr marL="0" indent="0" algn="ctr">
              <a:buNone/>
            </a:pPr>
            <a:r>
              <a:rPr lang="en-US" sz="2400" dirty="0">
                <a:solidFill>
                  <a:srgbClr val="FFFFFF"/>
                </a:solidFill>
                <a:latin typeface="Calibri" pitchFamily="34" charset="0"/>
                <a:ea typeface="Calibri" pitchFamily="34" charset="-122"/>
                <a:cs typeface="Calibri" pitchFamily="34" charset="-120"/>
              </a:rPr>
              <a:t>shifts in performance management practice</a:t>
            </a:r>
            <a:endParaRPr lang="en-US" sz="2400" dirty="0"/>
          </a:p>
        </p:txBody>
      </p:sp>
      <p:sp>
        <p:nvSpPr>
          <p:cNvPr id="6" name="Shape 4"/>
          <p:cNvSpPr/>
          <p:nvPr/>
        </p:nvSpPr>
        <p:spPr>
          <a:xfrm>
            <a:off x="4526280" y="2033016"/>
            <a:ext cx="566928" cy="566928"/>
          </a:xfrm>
          <a:prstGeom prst="ellipse">
            <a:avLst/>
          </a:prstGeom>
          <a:solidFill>
            <a:srgbClr val="1A5C2C"/>
          </a:solidFill>
          <a:ln w="12700">
            <a:solidFill>
              <a:srgbClr val="1A5C2C"/>
            </a:solidFill>
            <a:prstDash val="solid"/>
          </a:ln>
        </p:spPr>
        <p:txBody>
          <a:bodyPr/>
          <a:lstStyle/>
          <a:p>
            <a:endParaRPr lang="en-ZA"/>
          </a:p>
        </p:txBody>
      </p:sp>
      <p:pic>
        <p:nvPicPr>
          <p:cNvPr id="7" name="Image 0" descr="preencoded.png"/>
          <p:cNvPicPr>
            <a:picLocks noChangeAspect="1"/>
          </p:cNvPicPr>
          <p:nvPr/>
        </p:nvPicPr>
        <p:blipFill>
          <a:blip r:embed="rId3"/>
          <a:stretch>
            <a:fillRect/>
          </a:stretch>
        </p:blipFill>
        <p:spPr>
          <a:xfrm>
            <a:off x="4668012" y="2174748"/>
            <a:ext cx="283464" cy="283464"/>
          </a:xfrm>
          <a:prstGeom prst="rect">
            <a:avLst/>
          </a:prstGeom>
        </p:spPr>
      </p:pic>
      <p:sp>
        <p:nvSpPr>
          <p:cNvPr id="8" name="Text 5"/>
          <p:cNvSpPr txBox="1"/>
          <p:nvPr/>
        </p:nvSpPr>
        <p:spPr>
          <a:xfrm>
            <a:off x="5303520" y="1508760"/>
            <a:ext cx="6336792" cy="16154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Shift 1  </a:t>
            </a:r>
            <a:r>
              <a:rPr lang="en-US" sz="2400" dirty="0">
                <a:solidFill>
                  <a:srgbClr val="4E5E53"/>
                </a:solidFill>
                <a:latin typeface="Calibri" pitchFamily="34" charset="0"/>
                <a:ea typeface="Calibri" pitchFamily="34" charset="-122"/>
                <a:cs typeface="Calibri" pitchFamily="34" charset="-120"/>
              </a:rPr>
              <a:t>From Annual to Continuous</a:t>
            </a:r>
            <a:endParaRPr lang="en-US" sz="2400" dirty="0"/>
          </a:p>
        </p:txBody>
      </p:sp>
      <p:sp>
        <p:nvSpPr>
          <p:cNvPr id="9" name="Shape 6"/>
          <p:cNvSpPr/>
          <p:nvPr/>
        </p:nvSpPr>
        <p:spPr>
          <a:xfrm>
            <a:off x="4526280" y="3648456"/>
            <a:ext cx="566928" cy="566928"/>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668012" y="3790188"/>
            <a:ext cx="283464" cy="283464"/>
          </a:xfrm>
          <a:prstGeom prst="rect">
            <a:avLst/>
          </a:prstGeom>
        </p:spPr>
      </p:pic>
      <p:sp>
        <p:nvSpPr>
          <p:cNvPr id="11" name="Text 7"/>
          <p:cNvSpPr txBox="1"/>
          <p:nvPr/>
        </p:nvSpPr>
        <p:spPr>
          <a:xfrm>
            <a:off x="5303520" y="3124200"/>
            <a:ext cx="6336792" cy="16154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Shift 2  </a:t>
            </a:r>
            <a:r>
              <a:rPr lang="en-US" sz="2400" dirty="0">
                <a:solidFill>
                  <a:srgbClr val="4E5E53"/>
                </a:solidFill>
                <a:latin typeface="Calibri" pitchFamily="34" charset="0"/>
                <a:ea typeface="Calibri" pitchFamily="34" charset="-122"/>
                <a:cs typeface="Calibri" pitchFamily="34" charset="-120"/>
              </a:rPr>
              <a:t>From Rating-Centric to Development-Centric</a:t>
            </a:r>
            <a:endParaRPr lang="en-US" sz="2400" dirty="0"/>
          </a:p>
        </p:txBody>
      </p:sp>
      <p:sp>
        <p:nvSpPr>
          <p:cNvPr id="12" name="Shape 8"/>
          <p:cNvSpPr/>
          <p:nvPr/>
        </p:nvSpPr>
        <p:spPr>
          <a:xfrm>
            <a:off x="4526280" y="5263896"/>
            <a:ext cx="566928" cy="566928"/>
          </a:xfrm>
          <a:prstGeom prst="ellipse">
            <a:avLst/>
          </a:prstGeom>
          <a:solidFill>
            <a:srgbClr val="1A5C2C"/>
          </a:solidFill>
          <a:ln w="12700">
            <a:solidFill>
              <a:srgbClr val="1A5C2C"/>
            </a:solidFill>
            <a:prstDash val="solid"/>
          </a:ln>
        </p:spPr>
        <p:txBody>
          <a:bodyPr/>
          <a:lstStyle/>
          <a:p>
            <a:endParaRPr lang="en-ZA"/>
          </a:p>
        </p:txBody>
      </p:sp>
      <p:pic>
        <p:nvPicPr>
          <p:cNvPr id="13" name="Image 2" descr="preencoded.png"/>
          <p:cNvPicPr>
            <a:picLocks noChangeAspect="1"/>
          </p:cNvPicPr>
          <p:nvPr/>
        </p:nvPicPr>
        <p:blipFill>
          <a:blip r:embed="rId5"/>
          <a:stretch>
            <a:fillRect/>
          </a:stretch>
        </p:blipFill>
        <p:spPr>
          <a:xfrm>
            <a:off x="4668012" y="5405628"/>
            <a:ext cx="283464" cy="283464"/>
          </a:xfrm>
          <a:prstGeom prst="rect">
            <a:avLst/>
          </a:prstGeom>
        </p:spPr>
      </p:pic>
      <p:sp>
        <p:nvSpPr>
          <p:cNvPr id="14" name="Text 9"/>
          <p:cNvSpPr txBox="1"/>
          <p:nvPr/>
        </p:nvSpPr>
        <p:spPr>
          <a:xfrm>
            <a:off x="5303520" y="4739640"/>
            <a:ext cx="6336792" cy="1615440"/>
          </a:xfrm>
          <a:prstGeom prst="rect">
            <a:avLst/>
          </a:prstGeom>
          <a:noFill/>
          <a:ln/>
        </p:spPr>
        <p:txBody>
          <a:bodyPr wrap="square" lIns="0" tIns="0" rIns="0" bIns="0" rtlCol="0" anchor="ctr"/>
          <a:lstStyle/>
          <a:p>
            <a:pPr marL="0" indent="0">
              <a:buNone/>
            </a:pPr>
            <a:r>
              <a:rPr lang="en-US" sz="2400" b="1" dirty="0">
                <a:solidFill>
                  <a:srgbClr val="1A5C2C"/>
                </a:solidFill>
                <a:latin typeface="Cambria" pitchFamily="34" charset="0"/>
                <a:ea typeface="Cambria" pitchFamily="34" charset="-122"/>
                <a:cs typeface="Cambria" pitchFamily="34" charset="-120"/>
              </a:rPr>
              <a:t>Shift 3  </a:t>
            </a:r>
            <a:r>
              <a:rPr lang="en-US" sz="2400" dirty="0">
                <a:solidFill>
                  <a:srgbClr val="4E5E53"/>
                </a:solidFill>
                <a:latin typeface="Calibri" pitchFamily="34" charset="0"/>
                <a:ea typeface="Calibri" pitchFamily="34" charset="-122"/>
                <a:cs typeface="Calibri" pitchFamily="34" charset="-120"/>
              </a:rPr>
              <a:t>From Individual to Team Performance</a:t>
            </a:r>
            <a:endParaRPr lang="en-US" sz="2400"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A5C2C"/>
                </a:solidFill>
                <a:effectLst/>
                <a:uLnTx/>
                <a:uFillTx/>
                <a:latin typeface="Cambria" pitchFamily="34" charset="0"/>
                <a:ea typeface="Cambria" pitchFamily="34" charset="-122"/>
                <a:cs typeface="Cambria" pitchFamily="34" charset="-120"/>
              </a:rPr>
              <a:t>Section 3 Reflections</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Reflection 3.2" descr="ref_3.2.png"/>
          <p:cNvPicPr>
            <a:picLocks noChangeAspect="1"/>
          </p:cNvPicPr>
          <p:nvPr/>
        </p:nvPicPr>
        <p:blipFill>
          <a:blip r:embed="rId4"/>
          <a:stretch>
            <a:fillRect/>
          </a:stretch>
        </p:blipFill>
        <p:spPr>
          <a:xfrm>
            <a:off x="1691640" y="1463040"/>
            <a:ext cx="10058400" cy="1066363"/>
          </a:xfrm>
          <a:prstGeom prst="rect">
            <a:avLst/>
          </a:prstGeom>
        </p:spPr>
      </p:pic>
      <p:sp>
        <p:nvSpPr>
          <p:cNvPr id="4" name="Part 3.2"/>
          <p:cNvSpPr/>
          <p:nvPr/>
        </p:nvSpPr>
        <p:spPr>
          <a:xfrm>
            <a:off x="548640" y="1561881"/>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3.2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Integration of Human and Organisational Performance</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Map the functional, human and organisational contributions required for enterprise results.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Coordinate cross-functional contributions and enabling conditions towards shared results.</a:t>
            </a:r>
            <a:endParaRPr lang="en-US" sz="24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Mapping the contributions: customer service</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Customer Service  </a:t>
            </a:r>
            <a:r>
              <a:rPr lang="en-US" sz="2600" dirty="0">
                <a:solidFill>
                  <a:srgbClr val="1F2A22"/>
                </a:solidFill>
                <a:latin typeface="Calibri" pitchFamily="34" charset="0"/>
                <a:ea typeface="Calibri" pitchFamily="34" charset="-122"/>
                <a:cs typeface="Calibri" pitchFamily="34" charset="-120"/>
              </a:rPr>
              <a:t>resolve enquiries within 48 hours</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IT  </a:t>
            </a:r>
            <a:r>
              <a:rPr lang="en-US" sz="2600" dirty="0">
                <a:solidFill>
                  <a:srgbClr val="1F2A22"/>
                </a:solidFill>
                <a:latin typeface="Calibri" pitchFamily="34" charset="0"/>
                <a:ea typeface="Calibri" pitchFamily="34" charset="-122"/>
                <a:cs typeface="Calibri" pitchFamily="34" charset="-120"/>
              </a:rPr>
              <a:t>reliable customer management systems</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Operations  </a:t>
            </a:r>
            <a:r>
              <a:rPr lang="en-US" sz="2600" dirty="0">
                <a:solidFill>
                  <a:srgbClr val="1F2A22"/>
                </a:solidFill>
                <a:latin typeface="Calibri" pitchFamily="34" charset="0"/>
                <a:ea typeface="Calibri" pitchFamily="34" charset="-122"/>
                <a:cs typeface="Calibri" pitchFamily="34" charset="-120"/>
              </a:rPr>
              <a:t>processing and approvals in time</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Workforce Planning  </a:t>
            </a:r>
            <a:r>
              <a:rPr lang="en-US" sz="2600" dirty="0">
                <a:solidFill>
                  <a:srgbClr val="1F2A22"/>
                </a:solidFill>
                <a:latin typeface="Calibri" pitchFamily="34" charset="0"/>
                <a:ea typeface="Calibri" pitchFamily="34" charset="-122"/>
                <a:cs typeface="Calibri" pitchFamily="34" charset="-120"/>
              </a:rPr>
              <a:t>enough staffing capacity</a:t>
            </a:r>
            <a:endParaRPr lang="en-US" sz="26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Key Result: 48-hour resolution from 65% to 90% by year-end</a:t>
            </a:r>
            <a:endParaRPr lang="en-US" sz="24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4.1 · Interpreting the Contribution Map</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2"/>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1 · Function</a:t>
            </a:r>
            <a:endParaRPr lang="en-US" sz="2600" dirty="0"/>
          </a:p>
        </p:txBody>
      </p:sp>
      <p:sp>
        <p:nvSpPr>
          <p:cNvPr id="7" name="Text 4"/>
          <p:cNvSpPr txBox="1"/>
          <p:nvPr/>
        </p:nvSpPr>
        <p:spPr>
          <a:xfrm>
            <a:off x="777240" y="3575304"/>
            <a:ext cx="3057144" cy="26426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must the function deliver?</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3"/>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2 · People performance</a:t>
            </a:r>
            <a:endParaRPr lang="en-US" sz="2600" dirty="0"/>
          </a:p>
        </p:txBody>
      </p:sp>
      <p:sp>
        <p:nvSpPr>
          <p:cNvPr id="12" name="Text 8"/>
          <p:cNvSpPr txBox="1"/>
          <p:nvPr/>
        </p:nvSpPr>
        <p:spPr>
          <a:xfrm>
            <a:off x="4565904" y="3575304"/>
            <a:ext cx="3057144" cy="2642616"/>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must individuals and teams deliver?</a:t>
            </a:r>
            <a:endParaRPr lang="en-US" sz="2400" dirty="0"/>
          </a:p>
        </p:txBody>
      </p:sp>
      <p:sp>
        <p:nvSpPr>
          <p:cNvPr id="13" name="Shape 9"/>
          <p:cNvSpPr/>
          <p:nvPr/>
        </p:nvSpPr>
        <p:spPr>
          <a:xfrm>
            <a:off x="8125968" y="1508760"/>
            <a:ext cx="3514344" cy="48463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4"/>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3 · Organisational performance</a:t>
            </a:r>
            <a:endParaRPr lang="en-US" sz="2600" dirty="0"/>
          </a:p>
        </p:txBody>
      </p:sp>
      <p:sp>
        <p:nvSpPr>
          <p:cNvPr id="17" name="Text 12"/>
          <p:cNvSpPr txBox="1"/>
          <p:nvPr/>
        </p:nvSpPr>
        <p:spPr>
          <a:xfrm>
            <a:off x="8354568" y="3931920"/>
            <a:ext cx="3057144" cy="131753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What conditions must the organisation provide?</a:t>
            </a:r>
            <a:endParaRPr lang="en-US" sz="24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4.2 · Managing the contributions through FACES</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  </a:t>
            </a:r>
            <a:r>
              <a:rPr lang="en-US" sz="2600" dirty="0">
                <a:solidFill>
                  <a:srgbClr val="1F2A22"/>
                </a:solidFill>
                <a:latin typeface="Calibri" pitchFamily="34" charset="0"/>
                <a:ea typeface="Calibri" pitchFamily="34" charset="-122"/>
                <a:cs typeface="Calibri" pitchFamily="34" charset="-120"/>
              </a:rPr>
              <a:t>Foster: commitments and obstacles discussed openly</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3"/>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  </a:t>
            </a:r>
            <a:r>
              <a:rPr lang="en-US" sz="2600" dirty="0">
                <a:solidFill>
                  <a:srgbClr val="1F2A22"/>
                </a:solidFill>
                <a:latin typeface="Calibri" pitchFamily="34" charset="0"/>
                <a:ea typeface="Calibri" pitchFamily="34" charset="-122"/>
                <a:cs typeface="Calibri" pitchFamily="34" charset="-120"/>
              </a:rPr>
              <a:t>Align: tied to the enterprise Key Result</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4"/>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  </a:t>
            </a:r>
            <a:r>
              <a:rPr lang="en-US" sz="2600" dirty="0">
                <a:solidFill>
                  <a:srgbClr val="1F2A22"/>
                </a:solidFill>
                <a:latin typeface="Calibri" pitchFamily="34" charset="0"/>
                <a:ea typeface="Calibri" pitchFamily="34" charset="-122"/>
                <a:cs typeface="Calibri" pitchFamily="34" charset="-120"/>
              </a:rPr>
              <a:t>Transparency: people and constraints visible</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5"/>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E  </a:t>
            </a:r>
            <a:r>
              <a:rPr lang="en-US" sz="2600" dirty="0">
                <a:solidFill>
                  <a:srgbClr val="1F2A22"/>
                </a:solidFill>
                <a:latin typeface="Calibri" pitchFamily="34" charset="0"/>
                <a:ea typeface="Calibri" pitchFamily="34" charset="-122"/>
                <a:cs typeface="Calibri" pitchFamily="34" charset="-120"/>
              </a:rPr>
              <a:t>Accountability: owners with the authority</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6"/>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  </a:t>
            </a:r>
            <a:r>
              <a:rPr lang="en-US" sz="2600" dirty="0">
                <a:solidFill>
                  <a:srgbClr val="1F2A22"/>
                </a:solidFill>
                <a:latin typeface="Calibri" pitchFamily="34" charset="0"/>
                <a:ea typeface="Calibri" pitchFamily="34" charset="-122"/>
                <a:cs typeface="Calibri" pitchFamily="34" charset="-120"/>
              </a:rPr>
              <a:t>Development: capability and conditions improve</a:t>
            </a:r>
            <a:endParaRPr lang="en-US" sz="2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1A5C2C"/>
        </a:solidFill>
        <a:effectLst/>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marL="0" indent="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marL="0" indent="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marL="0" indent="0">
              <a:buNone/>
            </a:pPr>
            <a:r>
              <a:rPr lang="en-US" sz="2600" i="1" dirty="0">
                <a:solidFill>
                  <a:srgbClr val="DDE8DF"/>
                </a:solidFill>
                <a:latin typeface="Calibri" pitchFamily="34" charset="0"/>
                <a:ea typeface="Calibri" pitchFamily="34" charset="-122"/>
                <a:cs typeface="Calibri" pitchFamily="34" charset="-120"/>
              </a:rPr>
              <a:t>Building Your Enterprise Performance Management System</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marL="0" indent="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8" name="Image 0" descr="preencoded.png"/>
          <p:cNvPicPr>
            <a:picLocks noChangeAspect="1"/>
          </p:cNvPicPr>
          <p:nvPr/>
        </p:nvPicPr>
        <p:blipFill>
          <a:blip r:embed="rId3"/>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Design the contribution arrangements required to deliver a chosen enterprise Key Result.</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lstStyle/>
          <a:p>
            <a:endParaRPr lang="en-ZA"/>
          </a:p>
        </p:txBody>
      </p:sp>
      <p:pic>
        <p:nvPicPr>
          <p:cNvPr id="11" name="Image 1" descr="preencoded.png"/>
          <p:cNvPicPr>
            <a:picLocks noChangeAspect="1"/>
          </p:cNvPicPr>
          <p:nvPr/>
        </p:nvPicPr>
        <p:blipFill>
          <a:blip r:embed="rId3"/>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Establish shared management accountability for contributions across functions.</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5.1 · Activity 1: Build your S2R® Contribution Map™</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5" name="Image 0" descr="preencoded.png"/>
          <p:cNvPicPr>
            <a:picLocks noChangeAspect="1"/>
          </p:cNvPicPr>
          <p:nvPr/>
        </p:nvPicPr>
        <p:blipFill>
          <a:blip r:embed="rId3"/>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1 · Key Result</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Choose an Objective, then one of its Key Results.</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1" descr="preencoded.png"/>
          <p:cNvPicPr>
            <a:picLocks noChangeAspect="1"/>
          </p:cNvPicPr>
          <p:nvPr/>
        </p:nvPicPr>
        <p:blipFill>
          <a:blip r:embed="rId4"/>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Step 2 · Functions</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Name three or four functions that must contribute.</a:t>
            </a:r>
            <a:endParaRPr lang="en-US" sz="2400" dirty="0"/>
          </a:p>
        </p:txBody>
      </p:sp>
      <p:sp>
        <p:nvSpPr>
          <p:cNvPr id="13" name="Shape 9"/>
          <p:cNvSpPr/>
          <p:nvPr/>
        </p:nvSpPr>
        <p:spPr>
          <a:xfrm>
            <a:off x="8125968" y="1508760"/>
            <a:ext cx="3514344" cy="3931920"/>
          </a:xfrm>
          <a:prstGeom prst="roundRect">
            <a:avLst>
              <a:gd name="adj" fmla="val 2602"/>
            </a:avLst>
          </a:prstGeom>
          <a:solidFill>
            <a:srgbClr val="EEF4EF"/>
          </a:solidFill>
          <a:ln w="12700">
            <a:solidFill>
              <a:srgbClr val="EEF4EF"/>
            </a:solidFill>
            <a:prstDash val="solid"/>
          </a:ln>
        </p:spPr>
        <p:txBody>
          <a:bodyPr/>
          <a:lstStyle/>
          <a:p>
            <a:endParaRPr lang="en-ZA"/>
          </a:p>
        </p:txBody>
      </p:sp>
      <p:sp>
        <p:nvSpPr>
          <p:cNvPr id="14" name="Shape 10"/>
          <p:cNvSpPr/>
          <p:nvPr/>
        </p:nvSpPr>
        <p:spPr>
          <a:xfrm>
            <a:off x="8354568" y="173736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5" name="Image 2" descr="preencoded.png"/>
          <p:cNvPicPr>
            <a:picLocks noChangeAspect="1"/>
          </p:cNvPicPr>
          <p:nvPr/>
        </p:nvPicPr>
        <p:blipFill>
          <a:blip r:embed="rId5"/>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marL="0" indent="0">
              <a:buNone/>
            </a:pPr>
            <a:r>
              <a:rPr lang="en-US" sz="2600" b="1" dirty="0">
                <a:solidFill>
                  <a:srgbClr val="1A5C2C"/>
                </a:solidFill>
                <a:latin typeface="Cambria" pitchFamily="34" charset="0"/>
                <a:ea typeface="Cambria" pitchFamily="34" charset="-122"/>
                <a:cs typeface="Cambria" pitchFamily="34" charset="-120"/>
              </a:rPr>
              <a:t>Six fields</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marL="0" indent="0">
              <a:buNone/>
            </a:pPr>
            <a:r>
              <a:rPr lang="en-US" sz="2400" dirty="0">
                <a:solidFill>
                  <a:srgbClr val="1F2A22"/>
                </a:solidFill>
                <a:latin typeface="Calibri" pitchFamily="34" charset="0"/>
                <a:ea typeface="Calibri" pitchFamily="34" charset="-122"/>
                <a:cs typeface="Calibri" pitchFamily="34" charset="-120"/>
              </a:rPr>
              <a:t>Contribution, people and organisational conditions, each with a measure.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lstStyle/>
          <a:p>
            <a:endParaRPr lang="en-ZA"/>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marL="0" indent="0">
              <a:buNone/>
            </a:pPr>
            <a:r>
              <a:rPr lang="en-US" sz="2400" i="1" dirty="0">
                <a:solidFill>
                  <a:srgbClr val="FFFFFF"/>
                </a:solidFill>
                <a:latin typeface="Calibri" pitchFamily="34" charset="0"/>
                <a:ea typeface="Calibri" pitchFamily="34" charset="-122"/>
                <a:cs typeface="Calibri" pitchFamily="34" charset="-120"/>
              </a:rPr>
              <a:t>Group work · Capstone work</a:t>
            </a:r>
            <a:endParaRPr lang="en-US" sz="24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5.2 · Activity 2: Apply FACES to your Contribution Map™</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2"/>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F  </a:t>
            </a:r>
            <a:r>
              <a:rPr lang="en-US" sz="2600" dirty="0">
                <a:solidFill>
                  <a:srgbClr val="1F2A22"/>
                </a:solidFill>
                <a:latin typeface="Calibri" pitchFamily="34" charset="0"/>
                <a:ea typeface="Calibri" pitchFamily="34" charset="-122"/>
                <a:cs typeface="Calibri" pitchFamily="34" charset="-120"/>
              </a:rPr>
              <a:t>Foster a Results Culture</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6"/>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  </a:t>
            </a:r>
            <a:r>
              <a:rPr lang="en-US" sz="2600" dirty="0">
                <a:solidFill>
                  <a:srgbClr val="1F2A22"/>
                </a:solidFill>
                <a:latin typeface="Calibri" pitchFamily="34" charset="0"/>
                <a:ea typeface="Calibri" pitchFamily="34" charset="-122"/>
                <a:cs typeface="Calibri" pitchFamily="34" charset="-120"/>
              </a:rPr>
              <a:t>Align Performance</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5"/>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C  </a:t>
            </a:r>
            <a:r>
              <a:rPr lang="en-US" sz="2600" dirty="0">
                <a:solidFill>
                  <a:srgbClr val="1F2A22"/>
                </a:solidFill>
                <a:latin typeface="Calibri" pitchFamily="34" charset="0"/>
                <a:ea typeface="Calibri" pitchFamily="34" charset="-122"/>
                <a:cs typeface="Calibri" pitchFamily="34" charset="-120"/>
              </a:rPr>
              <a:t>Create Measurement Transparency</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E  </a:t>
            </a:r>
            <a:r>
              <a:rPr lang="en-US" sz="2600" dirty="0">
                <a:solidFill>
                  <a:srgbClr val="1F2A22"/>
                </a:solidFill>
                <a:latin typeface="Calibri" pitchFamily="34" charset="0"/>
                <a:ea typeface="Calibri" pitchFamily="34" charset="-122"/>
                <a:cs typeface="Calibri" pitchFamily="34" charset="-120"/>
              </a:rPr>
              <a:t>Embed Shared Accountability</a:t>
            </a:r>
            <a:endParaRPr lang="en-US" sz="26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6" name="Image 4" descr="preencoded.png"/>
          <p:cNvPicPr>
            <a:picLocks noChangeAspect="1"/>
          </p:cNvPicPr>
          <p:nvPr/>
        </p:nvPicPr>
        <p:blipFill>
          <a:blip r:embed="rId3"/>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S  </a:t>
            </a:r>
            <a:r>
              <a:rPr lang="en-US" sz="2600" dirty="0">
                <a:solidFill>
                  <a:srgbClr val="1F2A22"/>
                </a:solidFill>
                <a:latin typeface="Calibri" pitchFamily="34" charset="0"/>
                <a:ea typeface="Calibri" pitchFamily="34" charset="-122"/>
                <a:cs typeface="Calibri" pitchFamily="34" charset="-120"/>
              </a:rPr>
              <a:t>Support Continuous Development</a:t>
            </a:r>
            <a:endParaRPr lang="en-US" sz="2600" dirty="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marL="0" indent="0">
              <a:buNone/>
            </a:pPr>
            <a:r>
              <a:rPr lang="en-US" sz="3600" b="1" dirty="0">
                <a:solidFill>
                  <a:srgbClr val="1A5C2C"/>
                </a:solidFill>
                <a:latin typeface="Cambria" pitchFamily="34" charset="0"/>
                <a:ea typeface="Cambria" pitchFamily="34" charset="-122"/>
                <a:cs typeface="Cambria" pitchFamily="34" charset="-120"/>
              </a:rPr>
              <a:t>5.3 · Activity 3: WARD check-up</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lstStyle/>
          <a:p>
            <a:endParaRPr lang="en-ZA"/>
          </a:p>
        </p:txBody>
      </p:sp>
      <p:pic>
        <p:nvPicPr>
          <p:cNvPr id="4" name="Image 0" descr="preencoded.png"/>
          <p:cNvPicPr>
            <a:picLocks noChangeAspect="1"/>
          </p:cNvPicPr>
          <p:nvPr/>
        </p:nvPicPr>
        <p:blipFill>
          <a:blip r:embed="rId8"/>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W  </a:t>
            </a:r>
            <a:r>
              <a:rPr lang="en-US" sz="2600" dirty="0">
                <a:solidFill>
                  <a:srgbClr val="1F2A22"/>
                </a:solidFill>
                <a:latin typeface="Calibri" pitchFamily="34" charset="0"/>
                <a:ea typeface="Calibri" pitchFamily="34" charset="-122"/>
                <a:cs typeface="Calibri" pitchFamily="34" charset="-120"/>
              </a:rPr>
              <a:t>Waypoints: when the Key Result is checked</a:t>
            </a:r>
            <a:endParaRPr lang="en-US" sz="26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lstStyle/>
          <a:p>
            <a:endParaRPr lang="en-ZA"/>
          </a:p>
        </p:txBody>
      </p:sp>
      <p:pic>
        <p:nvPicPr>
          <p:cNvPr id="7" name="Image 1" descr="preencoded.png"/>
          <p:cNvPicPr>
            <a:picLocks noChangeAspect="1"/>
          </p:cNvPicPr>
          <p:nvPr/>
        </p:nvPicPr>
        <p:blipFill>
          <a:blip r:embed="rId9"/>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A  </a:t>
            </a:r>
            <a:r>
              <a:rPr lang="en-US" sz="2600" dirty="0">
                <a:solidFill>
                  <a:srgbClr val="1F2A22"/>
                </a:solidFill>
                <a:latin typeface="Calibri" pitchFamily="34" charset="0"/>
                <a:ea typeface="Calibri" pitchFamily="34" charset="-122"/>
                <a:cs typeface="Calibri" pitchFamily="34" charset="-120"/>
              </a:rPr>
              <a:t>Alert: how far off raises a red flag</a:t>
            </a:r>
            <a:endParaRPr lang="en-US" sz="26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0" name="Image 2" descr="preencoded.png"/>
          <p:cNvPicPr>
            <a:picLocks noChangeAspect="1"/>
          </p:cNvPicPr>
          <p:nvPr/>
        </p:nvPicPr>
        <p:blipFill>
          <a:blip r:embed="rId10"/>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R  </a:t>
            </a:r>
            <a:r>
              <a:rPr lang="en-US" sz="2600" dirty="0">
                <a:solidFill>
                  <a:srgbClr val="1F2A22"/>
                </a:solidFill>
                <a:latin typeface="Calibri" pitchFamily="34" charset="0"/>
                <a:ea typeface="Calibri" pitchFamily="34" charset="-122"/>
                <a:cs typeface="Calibri" pitchFamily="34" charset="-120"/>
              </a:rPr>
              <a:t>Recovery: for individuals and conditions</a:t>
            </a:r>
            <a:endParaRPr lang="en-US" sz="26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lstStyle/>
          <a:p>
            <a:endParaRPr lang="en-ZA"/>
          </a:p>
        </p:txBody>
      </p:sp>
      <p:pic>
        <p:nvPicPr>
          <p:cNvPr id="13" name="Image 3" descr="preencoded.png"/>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marL="0" indent="0">
              <a:buNone/>
            </a:pPr>
            <a:r>
              <a:rPr lang="en-US" sz="2600" b="1" dirty="0">
                <a:solidFill>
                  <a:srgbClr val="1A5C2C"/>
                </a:solidFill>
                <a:latin typeface="Cambria" pitchFamily="34" charset="0"/>
                <a:ea typeface="Cambria" pitchFamily="34" charset="-122"/>
                <a:cs typeface="Cambria" pitchFamily="34" charset="-120"/>
              </a:rPr>
              <a:t>D  </a:t>
            </a:r>
            <a:r>
              <a:rPr lang="en-US" sz="2600" dirty="0">
                <a:solidFill>
                  <a:srgbClr val="1F2A22"/>
                </a:solidFill>
                <a:latin typeface="Calibri" pitchFamily="34" charset="0"/>
                <a:ea typeface="Calibri" pitchFamily="34" charset="-122"/>
                <a:cs typeface="Calibri" pitchFamily="34" charset="-120"/>
              </a:rPr>
              <a:t>Decider: who decides and acts</a:t>
            </a:r>
            <a:endParaRPr lang="en-US" sz="2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0F3B1C"/>
        </a:solidFill>
        <a:effectLst/>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lstStyle/>
          <a:p>
            <a:endParaRPr lang="en-ZA"/>
          </a:p>
        </p:txBody>
      </p:sp>
      <p:pic>
        <p:nvPicPr>
          <p:cNvPr id="3" name="Image 0" descr="preencoded.png"/>
          <p:cNvPicPr>
            <a:picLocks noChangeAspect="1"/>
          </p:cNvPicPr>
          <p:nvPr/>
        </p:nvPicPr>
        <p:blipFill>
          <a:blip r:embed="rId3"/>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marL="0" indent="0">
              <a:buNone/>
            </a:pPr>
            <a:r>
              <a:rPr lang="en-US" sz="2600" b="1" dirty="0">
                <a:solidFill>
                  <a:srgbClr val="C6A24C"/>
                </a:solidFill>
                <a:latin typeface="Calibri" pitchFamily="34" charset="0"/>
                <a:ea typeface="Calibri" pitchFamily="34" charset="-122"/>
                <a:cs typeface="Calibri" pitchFamily="34" charset="-120"/>
              </a:rPr>
              <a:t>Unit Summary · Closing</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marL="0" indent="0">
              <a:buNone/>
            </a:pPr>
            <a:r>
              <a:rPr lang="en-US" sz="3600" i="1" dirty="0">
                <a:solidFill>
                  <a:srgbClr val="FFFFFF"/>
                </a:solidFill>
                <a:latin typeface="Cambria" pitchFamily="34" charset="0"/>
                <a:ea typeface="Cambria" pitchFamily="34" charset="-122"/>
                <a:cs typeface="Cambria" pitchFamily="34" charset="-120"/>
              </a:rPr>
              <a:t>Which contribution in your group’s map was hardest to agree, and what does that tell you about the performance management system in your own organisation?</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marL="0" indent="0">
              <a:buNone/>
            </a:pPr>
            <a:r>
              <a:rPr lang="en-US" sz="2400" dirty="0">
                <a:solidFill>
                  <a:srgbClr val="DDE8DF"/>
                </a:solidFill>
                <a:latin typeface="Calibri" pitchFamily="34" charset="0"/>
                <a:ea typeface="Calibri" pitchFamily="34" charset="-122"/>
                <a:cs typeface="Calibri" pitchFamily="34" charset="-120"/>
              </a:rPr>
              <a:t>Specificity is the test of whether the unit has converted into intent.</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TotalTime>
  <Words>12913</Words>
  <Application>Microsoft Office PowerPoint</Application>
  <PresentationFormat>Widescreen</PresentationFormat>
  <Paragraphs>660</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6 · Performance Management Setup</dc:title>
  <dc:subject>PptxGenJS Presentation</dc:subject>
  <dc:creator>Institute of Behavioural Strategy &amp; Leadership</dc:creator>
  <cp:lastModifiedBy>Carol Lupiya</cp:lastModifiedBy>
  <cp:revision>2</cp:revision>
  <dcterms:created xsi:type="dcterms:W3CDTF">2026-09-29T13:20:29Z</dcterms:created>
  <dcterms:modified xsi:type="dcterms:W3CDTF">2026-10-09T14:40:59Z</dcterms:modified>
</cp:coreProperties>
</file>