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91" r:id="rId19"/>
    <p:sldId id="290" r:id="rId20"/>
    <p:sldId id="273" r:id="rId21"/>
    <p:sldId id="274" r:id="rId22"/>
    <p:sldId id="275" r:id="rId23"/>
    <p:sldId id="276" r:id="rId24"/>
    <p:sldId id="292" r:id="rId25"/>
    <p:sldId id="277" r:id="rId26"/>
    <p:sldId id="278" r:id="rId27"/>
    <p:sldId id="293" r:id="rId28"/>
    <p:sldId id="280" r:id="rId29"/>
    <p:sldId id="283" r:id="rId30"/>
    <p:sldId id="282" r:id="rId31"/>
    <p:sldId id="294" r:id="rId32"/>
    <p:sldId id="295" r:id="rId33"/>
    <p:sldId id="296" r:id="rId34"/>
    <p:sldId id="297" r:id="rId35"/>
    <p:sldId id="289" r:id="rId3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40326" autoAdjust="0"/>
  </p:normalViewPr>
  <p:slideViewPr>
    <p:cSldViewPr snapToGrid="0" snapToObjects="1">
      <p:cViewPr varScale="1">
        <p:scale>
          <a:sx n="28" d="100"/>
          <a:sy n="28" d="100"/>
        </p:scale>
        <p:origin x="1910" y="1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0518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UNIT 5 · ALIGNING HEART &amp; MIND</a:t>
            </a:r>
          </a:p>
          <a:p>
            <a:r>
              <a:rPr lang="en-GB" dirty="0"/>
              <a:t>Module 3 · Influence · Unit 5</a:t>
            </a:r>
          </a:p>
          <a:p>
            <a:endParaRPr lang="en-GB" dirty="0"/>
          </a:p>
          <a:p>
            <a:r>
              <a:rPr lang="en-GB" b="1" dirty="0"/>
              <a:t>UNIT INTENT</a:t>
            </a:r>
          </a:p>
          <a:p>
            <a:r>
              <a:rPr lang="en-GB" dirty="0"/>
              <a:t>Unit 5 establishes the human operating system of execution. Strategy moves through people, and functional expertise, bias and emotion shape how each leader interprets it.</a:t>
            </a:r>
          </a:p>
          <a:p>
            <a:r>
              <a:rPr lang="en-GB" dirty="0"/>
              <a:t>The unit builds a shared enterprise interpretation and the behaviours that sustain commitment.</a:t>
            </a:r>
          </a:p>
          <a:p>
            <a:endParaRPr lang="en-GB" dirty="0"/>
          </a:p>
          <a:p>
            <a:r>
              <a:rPr lang="en-GB" dirty="0"/>
              <a:t>SCARF explains resistance, ACE-IT sets the behaviour standard and the OCEAVL Assessment shows the behavioural profile the leadership team brings to the strategy.</a:t>
            </a:r>
          </a:p>
          <a:p>
            <a:endParaRPr lang="en-GB" dirty="0"/>
          </a:p>
          <a:p>
            <a:r>
              <a:rPr lang="en-GB" dirty="0"/>
              <a:t>The 4 Checks of Mind, Heart, Hands and Habit give leaders one discipline for leading people through the changes the strategy requires: 3S tests Mind, SCARF reads Heart, STAT tests Hands and ACE-IT holds Habit.</a:t>
            </a:r>
          </a:p>
          <a:p>
            <a:endParaRPr lang="en-GB" dirty="0"/>
          </a:p>
          <a:p>
            <a:r>
              <a:rPr lang="en-GB" b="1" dirty="0"/>
              <a:t>WHAT THE UNIT PRODUCES:</a:t>
            </a:r>
          </a:p>
          <a:p>
            <a:r>
              <a:rPr lang="en-GB" dirty="0"/>
              <a:t>1. Each participant completes the OCEAVL Assessment for themselves in 3.1. This is portfolio work.</a:t>
            </a:r>
          </a:p>
          <a:p>
            <a:r>
              <a:rPr lang="en-GB" dirty="0"/>
              <a:t>2. Each group produces its record in Section 5: its Shift, Stake and Step for the strategy, and the behaviour it expects from the leadership team under each ACE-IT behaviour. This is Capstone work.</a:t>
            </a:r>
          </a:p>
          <a:p>
            <a:r>
              <a:rPr lang="en-GB" dirty="0"/>
              <a:t>3. Each participant writes thirteen reflections.</a:t>
            </a:r>
          </a:p>
          <a:p>
            <a:endParaRPr lang="en-GB" dirty="0"/>
          </a:p>
          <a:p>
            <a:r>
              <a:rPr lang="en-GB" b="1" dirty="0"/>
              <a:t>HOW THE UNIT RUNS:</a:t>
            </a:r>
          </a:p>
          <a:p>
            <a:r>
              <a:rPr lang="en-GB" dirty="0"/>
              <a:t>1. You teach the whole unit from this deck first, from Section 1 to the Unit Summary. The deck is the teaching material.</a:t>
            </a:r>
          </a:p>
          <a:p>
            <a:r>
              <a:rPr lang="en-GB" dirty="0"/>
              <a:t>2. Participants then complete their own page on the portal, in the session or after it: the reflections, the OCEAVL Assessment and the two steps of Section 5.</a:t>
            </a:r>
          </a:p>
          <a:p>
            <a:r>
              <a:rPr lang="en-GB" dirty="0"/>
              <a:t>3. Both steps of Section 5 are group work for the Capstone. The group chooses its scribe for this work.</a:t>
            </a:r>
          </a:p>
          <a:p>
            <a:r>
              <a:rPr lang="en-GB" dirty="0"/>
              <a:t>The scribe types what the group agrees, the entries appear on every member’s page, and each member then selects Agree.</a:t>
            </a:r>
          </a:p>
          <a:p>
            <a:endParaRPr lang="en-GB" dirty="0"/>
          </a:p>
          <a:p>
            <a:r>
              <a:rPr lang="en-GB" dirty="0"/>
              <a:t>Each slide’s notes end with a block headed "On the portal, after the teaching" wherever participants have something to complete for that part.</a:t>
            </a:r>
          </a:p>
          <a:p>
            <a:endParaRPr lang="en-GB" dirty="0"/>
          </a:p>
          <a:p>
            <a:r>
              <a:rPr lang="en-GB" dirty="0"/>
              <a:t>Your preparation as facilitator:</a:t>
            </a:r>
          </a:p>
          <a:p>
            <a:r>
              <a:rPr lang="en-GB" dirty="0"/>
              <a:t>- Read the Facilitator Guide tab and every section of the facilitator file.</a:t>
            </a:r>
          </a:p>
          <a:p>
            <a:r>
              <a:rPr lang="en-GB" dirty="0"/>
              <a:t>- Each participant needs one live change their strategy requires of a named group. They write it down in 1.3 and carry it to the end of the unit.</a:t>
            </a:r>
          </a:p>
          <a:p>
            <a:r>
              <a:rPr lang="en-GB" dirty="0"/>
              <a:t>- Each group needs the KISS map it confirmed in Unit 3: Step 1 of Section 5 shows its Start and Stop lists.</a:t>
            </a:r>
          </a:p>
          <a:p>
            <a:r>
              <a:rPr lang="en-GB" dirty="0"/>
              <a:t>- OCEAVL is a personal assessment. No participant states a score to the group.</a:t>
            </a:r>
          </a:p>
          <a:p>
            <a:r>
              <a:rPr lang="en-GB" dirty="0"/>
              <a:t>- Step 2 of Section 5 shows the team’s OCEAVL profile. Every member of a team completes and submits the assessment in 3.1 first.</a:t>
            </a:r>
          </a:p>
          <a:p>
            <a:endParaRPr lang="en-GB" dirty="0"/>
          </a:p>
          <a:p>
            <a:r>
              <a:rPr lang="en-GB" dirty="0"/>
              <a:t>Where the outputs go next:</a:t>
            </a:r>
          </a:p>
          <a:p>
            <a:r>
              <a:rPr lang="en-GB" dirty="0"/>
              <a:t>- Each member’s submitted OCEAVL scores feed the team’s profile in the Capstone Blueprint once every member has submitted. The team sees levels and counts, with no names.</a:t>
            </a:r>
          </a:p>
          <a:p>
            <a:r>
              <a:rPr lang="en-GB" dirty="0"/>
              <a:t>- The group’s confirmed record from Section 5 feeds boxes 5B and 5C. The team writes box 5A under its team profile.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KEY LEARNING OUTCOMES</a:t>
            </a:r>
          </a:p>
          <a:p>
            <a:endParaRPr lang="en-GB" dirty="0"/>
          </a:p>
          <a:p>
            <a:r>
              <a:rPr lang="en-GB" b="1" dirty="0"/>
              <a:t>HOW TO USE THIS SLIDE:</a:t>
            </a:r>
          </a:p>
          <a:p>
            <a:r>
              <a:rPr lang="en-GB" dirty="0"/>
              <a:t>Read the four outcomes aloud and say where the unit delivers each one.</a:t>
            </a:r>
          </a:p>
          <a:p>
            <a:r>
              <a:rPr lang="en-GB" dirty="0"/>
              <a:t>- Outcome 1 is built in Section 1: the two human filters (1.1) and the five principles (1.2).</a:t>
            </a:r>
          </a:p>
          <a:p>
            <a:r>
              <a:rPr lang="en-GB" dirty="0"/>
              <a:t>- Outcome 2 is built in Section 2 (commitment and compliance) and Section 4 (the Converging Zone), and produced in Section 5, where each group confirms its record.</a:t>
            </a:r>
          </a:p>
          <a:p>
            <a:r>
              <a:rPr lang="en-GB" dirty="0"/>
              <a:t>- Outcome 3 is built in Section 3 (the OCEAVL Assessment) and in 4.2 (the Converging Zone Contribution and the Alignment Hot Zone of each role).</a:t>
            </a:r>
          </a:p>
          <a:p>
            <a:r>
              <a:rPr lang="en-GB" dirty="0"/>
              <a:t>- Outcome 4 is built in 1.3 and its four parts, 1.3.1 to 1.3.4 (the 4 Checks and their four tools), in 2.3 and 4.1, and produced in Section 5 (Leading with Clarity).</a:t>
            </a:r>
          </a:p>
          <a:p>
            <a:endParaRPr lang="en-GB" dirty="0"/>
          </a:p>
          <a:p>
            <a:r>
              <a:rPr lang="en-GB" dirty="0"/>
              <a:t>Each section slide carries that section’s two learning outcomes.</a:t>
            </a:r>
          </a:p>
          <a:p>
            <a:endParaRPr lang="en-GB" dirty="0"/>
          </a:p>
          <a:p>
            <a:r>
              <a:rPr lang="en-GB" b="1" dirty="0"/>
              <a:t>QUESTION TO ASK:</a:t>
            </a:r>
          </a:p>
          <a:p>
            <a:r>
              <a:rPr lang="en-GB" dirty="0"/>
              <a:t>"What is the dominant emotion your team carries into the current strategy, and how does it change what people invest?"</a:t>
            </a:r>
          </a:p>
          <a:p>
            <a:endParaRPr lang="en-GB" dirty="0"/>
          </a:p>
          <a:p>
            <a:r>
              <a:rPr lang="en-GB" dirty="0"/>
              <a:t>Take two or three answers. They tell you where the group expects the most from the unit.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FACILITATOR GUIDE · SESSION OVERVIEW</a:t>
            </a:r>
          </a:p>
          <a:p>
            <a:endParaRPr lang="en-GB" dirty="0"/>
          </a:p>
          <a:p>
            <a:r>
              <a:rPr lang="en-GB" b="1" dirty="0"/>
              <a:t>HOW TO USE THIS SLIDE:</a:t>
            </a:r>
          </a:p>
          <a:p>
            <a:r>
              <a:rPr lang="en-GB" dirty="0"/>
              <a:t>1. Walk the five sections in one sentence each, using the list below.</a:t>
            </a:r>
          </a:p>
          <a:p>
            <a:r>
              <a:rPr lang="en-GB" dirty="0"/>
              <a:t>2. Say plainly that Sections 1 to 4 prepare the thinking and Section 5 is where it is applied: the group work for the Capstone.</a:t>
            </a:r>
          </a:p>
          <a:p>
            <a:r>
              <a:rPr lang="en-GB" dirty="0"/>
              <a:t>3. Tell participants how the unit runs: you teach all five sections from the deck first, and they then complete the unit on the portal, in the session or after it.</a:t>
            </a:r>
          </a:p>
          <a:p>
            <a:endParaRPr lang="en-GB" dirty="0"/>
          </a:p>
          <a:p>
            <a:r>
              <a:rPr lang="en-GB" b="1" dirty="0"/>
              <a:t>THE FIVE SECTIONS:</a:t>
            </a:r>
          </a:p>
          <a:p>
            <a:r>
              <a:rPr lang="en-GB" dirty="0"/>
              <a:t>- Section 1 · Awareness — What: the two human filters, the five principles, then change management: the 4 Checks of Mind, Heart, Hands and Habit and the tool for each check (3S, SCARF, STAT, ACE-IT).</a:t>
            </a:r>
          </a:p>
          <a:p>
            <a:endParaRPr lang="en-GB" dirty="0"/>
          </a:p>
          <a:p>
            <a:r>
              <a:rPr lang="en-GB" dirty="0"/>
              <a:t>- Section 2 · Intelligence — Why: the ignition point of execution, the three foundational logics, and why a change delivers value only when it is adopted.</a:t>
            </a:r>
          </a:p>
          <a:p>
            <a:endParaRPr lang="en-GB" dirty="0"/>
          </a:p>
          <a:p>
            <a:r>
              <a:rPr lang="en-GB" dirty="0"/>
              <a:t>- Section 3 · Extrapolating — Where: the OCEAVL Assessment, which each participant completes for themselves, and the profile the team brings together.</a:t>
            </a:r>
          </a:p>
          <a:p>
            <a:endParaRPr lang="en-GB" dirty="0"/>
          </a:p>
          <a:p>
            <a:r>
              <a:rPr lang="en-GB" dirty="0"/>
              <a:t>- Section 4 · Integration — Collective: leading change with one voice, then the Converging Zone Contribution and the Alignment Hot Zone of each leadership role.</a:t>
            </a:r>
          </a:p>
          <a:p>
            <a:endParaRPr lang="en-GB" dirty="0"/>
          </a:p>
          <a:p>
            <a:r>
              <a:rPr lang="en-GB" dirty="0"/>
              <a:t>- Section 5 · Application — In Practice: Leading with Clarity. Each group states its Shift, Stake and Step, then the ACE-IT behaviours it expects from the leadership team.</a:t>
            </a:r>
          </a:p>
          <a:p>
            <a:endParaRPr lang="en-GB" dirty="0"/>
          </a:p>
          <a:p>
            <a:r>
              <a:rPr lang="en-GB" b="1" dirty="0"/>
              <a:t>KEY FACILITATION QUESTIONS:</a:t>
            </a:r>
          </a:p>
          <a:p>
            <a:r>
              <a:rPr lang="en-GB" dirty="0"/>
              <a:t>- "What is the dominant emotion your team carries into the current strategy, and how does it change what people invest?"</a:t>
            </a:r>
          </a:p>
          <a:p>
            <a:r>
              <a:rPr lang="en-GB" dirty="0"/>
              <a:t>- "Which SCARF trigger does the current strategy activate most for your people?"</a:t>
            </a:r>
          </a:p>
          <a:p>
            <a:r>
              <a:rPr lang="en-GB" dirty="0"/>
              <a:t>- "For the most important change in your strategy, which check would your people fail first: Mind, Heart, Hands or Habit?"</a:t>
            </a:r>
          </a:p>
          <a:p>
            <a:r>
              <a:rPr lang="en-GB" dirty="0"/>
              <a:t>- "On which OCEAVL dimension does your team’s level carry the highest risk for this strategy? Where has that risk already shown up?"</a:t>
            </a:r>
          </a:p>
          <a:p>
            <a:r>
              <a:rPr lang="en-GB" dirty="0"/>
              <a:t>- "What behavioural change will you model in the next month so others can see alignment in action?"</a:t>
            </a:r>
          </a:p>
          <a:p>
            <a:endParaRPr lang="en-GB" dirty="0"/>
          </a:p>
          <a:p>
            <a:r>
              <a:rPr lang="en-GB" b="1" dirty="0"/>
              <a:t>TONE AND WATCH POINTS:</a:t>
            </a:r>
          </a:p>
          <a:p>
            <a:r>
              <a:rPr lang="en-GB" dirty="0"/>
              <a:t>- Watch for compliance mistaken for commitment. Probe: "Would they still act this way if no one were checking?"</a:t>
            </a:r>
          </a:p>
          <a:p>
            <a:r>
              <a:rPr lang="en-GB" dirty="0"/>
              <a:t>- Watch for installation reported as adoption. Probe: "Would the new practice hold on a busy day with no one checking?"</a:t>
            </a:r>
          </a:p>
          <a:p>
            <a:r>
              <a:rPr lang="en-GB" dirty="0"/>
              <a:t>- Watch for emotion treated as a side topic. Connect each emotional state to an execution consequence.</a:t>
            </a:r>
          </a:p>
          <a:p>
            <a:r>
              <a:rPr lang="en-GB" dirty="0"/>
              <a:t>- Watch for expected behaviours that describe intentions. Each behaviour must be observable by the team.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SECTION 1 · AWARENESS — WHAT</a:t>
            </a:r>
          </a:p>
          <a:p>
            <a:endParaRPr lang="en-GB" dirty="0"/>
          </a:p>
          <a:p>
            <a:r>
              <a:rPr lang="en-GB" b="1" dirty="0"/>
              <a:t>HOW THIS SECTION RUNS:</a:t>
            </a:r>
          </a:p>
          <a:p>
            <a:r>
              <a:rPr lang="en-GB" dirty="0"/>
              <a:t>1. 1.1: the two human filters, Mind and Heart.</a:t>
            </a:r>
          </a:p>
          <a:p>
            <a:r>
              <a:rPr lang="en-GB" dirty="0"/>
              <a:t>2. 1.2: the five principles. One slide gives the overview and each principle then has its own slide.</a:t>
            </a:r>
          </a:p>
          <a:p>
            <a:r>
              <a:rPr lang="en-GB" dirty="0"/>
              <a:t>3. 1.3: change management, on two slides: the event and the transition, then the 4 Checks.</a:t>
            </a:r>
          </a:p>
          <a:p>
            <a:r>
              <a:rPr lang="en-GB" dirty="0"/>
              <a:t>4. 1.3.1 to 1.3.4: the four tools, one for each check: 3S, SCARF, STAT and ACE-IT. All four are parts of change management.</a:t>
            </a:r>
          </a:p>
          <a:p>
            <a:r>
              <a:rPr lang="en-GB" dirty="0"/>
              <a:t>5. Two Section 1 Reflections slides: the seven reflections participants write on the portal after the teaching.</a:t>
            </a:r>
          </a:p>
          <a:p>
            <a:endParaRPr lang="en-GB" dirty="0"/>
          </a:p>
          <a:p>
            <a:r>
              <a:rPr lang="en-GB" b="1" dirty="0"/>
              <a:t>SECTION LEARNING OUTCOMES:</a:t>
            </a:r>
          </a:p>
          <a:p>
            <a:r>
              <a:rPr lang="en-GB" dirty="0"/>
              <a:t>1. Interpret how expertise, cognitive bias and emotion affect strategic understanding and intervene to reduce distortion.</a:t>
            </a:r>
          </a:p>
          <a:p>
            <a:r>
              <a:rPr lang="en-GB" dirty="0"/>
              <a:t>2. Determine the behavioural and support conditions needed for people to adopt strategic change.</a:t>
            </a:r>
          </a:p>
          <a:p>
            <a:endParaRPr lang="en-GB" dirty="0"/>
          </a:p>
          <a:p>
            <a:r>
              <a:rPr lang="en-GB" b="1" dirty="0"/>
              <a:t>HOW TO OPEN THE SECTION:</a:t>
            </a:r>
          </a:p>
          <a:p>
            <a:endParaRPr lang="en-GB" dirty="0"/>
          </a:p>
          <a:p>
            <a:r>
              <a:rPr lang="en-GB" b="1" dirty="0"/>
              <a:t>1. Open with the question that anchors the unit.</a:t>
            </a:r>
          </a:p>
          <a:p>
            <a:r>
              <a:rPr lang="en-GB" dirty="0"/>
              <a:t>Ask: "Think of a strategy that was perfectly designed and then failed in execution. What broke? Was it the plan, or the people who had to carry it?"</a:t>
            </a:r>
          </a:p>
          <a:p>
            <a:r>
              <a:rPr lang="en-GB" dirty="0"/>
              <a:t>Pause. Use the silence. This question surfaces the lived experience that anchors the entire unit.</a:t>
            </a:r>
          </a:p>
          <a:p>
            <a:endParaRPr lang="en-GB" dirty="0"/>
          </a:p>
          <a:p>
            <a:r>
              <a:rPr lang="en-GB" b="1" dirty="0"/>
              <a:t>2. Name the insight of the section.</a:t>
            </a:r>
          </a:p>
          <a:p>
            <a:r>
              <a:rPr lang="en-GB" dirty="0"/>
              <a:t>Say: "Before any strategy can be executed, it must travel through people.</a:t>
            </a:r>
          </a:p>
          <a:p>
            <a:r>
              <a:rPr lang="en-GB" dirty="0"/>
              <a:t>People arrive at every strategy meeting carrying a personality profile, emotional defaults, and personal motives that determine how much energy they will invest in the organisation’s goals."</a:t>
            </a:r>
          </a:p>
          <a:p>
            <a:r>
              <a:rPr lang="en-GB" dirty="0"/>
              <a:t>Section intent: strategy is first and foremost a human interpretation problem. Leaders must feel this before they can act on it.</a:t>
            </a:r>
          </a:p>
          <a:p>
            <a:r>
              <a:rPr lang="en-GB" dirty="0"/>
              <a:t>Resist the urge to move to solutions quickly. Create space for recognition.</a:t>
            </a:r>
          </a:p>
          <a:p>
            <a:endParaRPr lang="en-GB" dirty="0"/>
          </a:p>
          <a:p>
            <a:r>
              <a:rPr lang="en-GB" b="1" dirty="0"/>
              <a:t>3. Say the order.</a:t>
            </a:r>
          </a:p>
          <a:p>
            <a:r>
              <a:rPr lang="en-GB" dirty="0"/>
              <a:t>Say: "We take the five principles in order. Each builds on the one before it."</a:t>
            </a:r>
          </a:p>
          <a:p>
            <a:r>
              <a:rPr lang="en-GB" dirty="0"/>
              <a:t>Do not allow leaders to skip to SCARF or ACE-IT without first establishing the foundational logic.</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1.1 — THE HUMAN TERRAIN OF STRATEGY EXECUTION (FOUNDATION)</a:t>
            </a:r>
          </a:p>
          <a:p>
            <a:endParaRPr lang="en-GB" dirty="0"/>
          </a:p>
          <a:p>
            <a:r>
              <a:rPr lang="en-GB" b="1" dirty="0"/>
              <a:t>HOW TO TEACH IT:</a:t>
            </a:r>
          </a:p>
          <a:p>
            <a:endParaRPr lang="en-GB" dirty="0"/>
          </a:p>
          <a:p>
            <a:r>
              <a:rPr lang="en-GB" b="1" dirty="0"/>
              <a:t>1. Say how strategy enters an organisation.</a:t>
            </a:r>
          </a:p>
          <a:p>
            <a:r>
              <a:rPr lang="en-GB" dirty="0"/>
              <a:t>Say: "Strategy enters an organisation through the people responsible for interpreting and acting on it.</a:t>
            </a:r>
          </a:p>
          <a:p>
            <a:r>
              <a:rPr lang="en-GB" dirty="0"/>
              <a:t>Before strategy becomes operational activity, it passes through two human filters."</a:t>
            </a:r>
          </a:p>
          <a:p>
            <a:endParaRPr lang="en-GB" dirty="0"/>
          </a:p>
          <a:p>
            <a:r>
              <a:rPr lang="en-GB" b="1" dirty="0"/>
              <a:t>2. Teach the first filter: Cognition — Mind.</a:t>
            </a:r>
          </a:p>
          <a:p>
            <a:r>
              <a:rPr lang="en-GB" dirty="0"/>
              <a:t>Say: "Cognition is how individuals interpret what strategy means.</a:t>
            </a:r>
          </a:p>
          <a:p>
            <a:r>
              <a:rPr lang="en-GB" dirty="0"/>
              <a:t>It is shaped by professional expertise, mental shortcuts, past experience, and risk perception."</a:t>
            </a:r>
          </a:p>
          <a:p>
            <a:endParaRPr lang="en-GB" dirty="0"/>
          </a:p>
          <a:p>
            <a:r>
              <a:rPr lang="en-GB" dirty="0"/>
              <a:t>Deepen, say: "Many leaders are one bad interior sentence away from a quarter of poor decisions: the silent conclusion that the situation is unwinnable or that the board has already decided.</a:t>
            </a:r>
          </a:p>
          <a:p>
            <a:r>
              <a:rPr lang="en-GB" dirty="0"/>
              <a:t>Write down the sentence running in your head about the future, and test it against the evidence."</a:t>
            </a:r>
          </a:p>
          <a:p>
            <a:r>
              <a:rPr lang="en-GB" dirty="0"/>
              <a:t>(Insight: Cognition · the interior sentence. Source: Journal, 18 May 2026 — Professional Insights: Strategy)</a:t>
            </a:r>
          </a:p>
          <a:p>
            <a:endParaRPr lang="en-GB" dirty="0"/>
          </a:p>
          <a:p>
            <a:r>
              <a:rPr lang="en-GB" b="1" dirty="0"/>
              <a:t>3. Teach the second filter: Emotion — Heart.</a:t>
            </a:r>
          </a:p>
          <a:p>
            <a:r>
              <a:rPr lang="en-GB" dirty="0"/>
              <a:t>Say: "Emotion is how individuals experience the strategy. It shapes engagement energy, morale, friction load, psychological safety, and values alignment."</a:t>
            </a:r>
          </a:p>
          <a:p>
            <a:endParaRPr lang="en-GB" dirty="0"/>
          </a:p>
          <a:p>
            <a:r>
              <a:rPr lang="en-GB" dirty="0"/>
              <a:t>Deepen, say: "Organisations that reduce everything to deliverables and KPIs, with no sense of what it is all for, produce people who show up physically and are absent in every other way.</a:t>
            </a:r>
          </a:p>
          <a:p>
            <a:r>
              <a:rPr lang="en-GB" dirty="0"/>
              <a:t>People need to feel the significance of what they are part of."</a:t>
            </a:r>
          </a:p>
          <a:p>
            <a:r>
              <a:rPr lang="en-GB" dirty="0"/>
              <a:t>(Insight: Emotion · significance. Source: Journal, 12 January 2026 — Professional Insights: Culture)</a:t>
            </a:r>
          </a:p>
          <a:p>
            <a:endParaRPr lang="en-GB" dirty="0"/>
          </a:p>
          <a:p>
            <a:r>
              <a:rPr lang="en-GB" b="1" dirty="0"/>
              <a:t>4. Name the result.</a:t>
            </a:r>
          </a:p>
          <a:p>
            <a:r>
              <a:rPr lang="en-GB" dirty="0"/>
              <a:t>Say: "The result is whether strategy produces clarity or confusion, commitment or compliance, momentum or hesitation.</a:t>
            </a:r>
          </a:p>
          <a:p>
            <a:r>
              <a:rPr lang="en-GB" dirty="0"/>
              <a:t>Execution begins inside the human system."</a:t>
            </a:r>
          </a:p>
          <a:p>
            <a:endParaRPr lang="en-GB" dirty="0"/>
          </a:p>
          <a:p>
            <a:r>
              <a:rPr lang="en-GB" b="1" dirty="0"/>
              <a:t>5. Name the Functional Bias Problem.</a:t>
            </a:r>
          </a:p>
          <a:p>
            <a:r>
              <a:rPr lang="en-GB" dirty="0"/>
              <a:t>Say: "Strategy is fundamentally a human interpretation problem.</a:t>
            </a:r>
          </a:p>
          <a:p>
            <a:r>
              <a:rPr lang="en-GB" dirty="0"/>
              <a:t>The Functional Bias Problem reveals that organisations do not interpret strategy as a single, shared reality.</a:t>
            </a:r>
          </a:p>
          <a:p>
            <a:r>
              <a:rPr lang="en-GB" dirty="0"/>
              <a:t>When perspectives diverge, even highly capable executives can unintentionally pull the organisation in different directions."</a:t>
            </a:r>
          </a:p>
          <a:p>
            <a:r>
              <a:rPr lang="en-GB" dirty="0"/>
              <a:t>Say: "The CFO thinks in capital efficiency.</a:t>
            </a:r>
          </a:p>
          <a:p>
            <a:r>
              <a:rPr lang="en-GB" dirty="0"/>
              <a:t>The COO in delivery flow.</a:t>
            </a:r>
          </a:p>
          <a:p>
            <a:r>
              <a:rPr lang="en-GB" dirty="0"/>
              <a:t>The CHRO in capability.</a:t>
            </a:r>
          </a:p>
          <a:p>
            <a:r>
              <a:rPr lang="en-GB" dirty="0"/>
              <a:t>None is wrong.</a:t>
            </a:r>
          </a:p>
          <a:p>
            <a:r>
              <a:rPr lang="en-GB" dirty="0"/>
              <a:t>When these operate without deliberate integration, strategy fragments invisibly."</a:t>
            </a:r>
          </a:p>
          <a:p>
            <a:r>
              <a:rPr lang="en-GB" dirty="0"/>
              <a:t>Ask leaders to honestly name their primary perspective. Online: ask them to post it in the chat.</a:t>
            </a:r>
          </a:p>
          <a:p>
            <a:endParaRPr lang="en-GB" dirty="0"/>
          </a:p>
          <a:p>
            <a:r>
              <a:rPr lang="en-GB" b="1" dirty="0"/>
              <a:t>6. Ask the key question.</a:t>
            </a:r>
          </a:p>
          <a:p>
            <a:r>
              <a:rPr lang="en-GB" dirty="0"/>
              <a:t>Ask: "When your leadership team last debated a strategic priority, were you all interpreting the same data from the same perspective? Or from the perspective of your function?"</a:t>
            </a:r>
          </a:p>
          <a:p>
            <a:endParaRPr lang="en-GB" dirty="0"/>
          </a:p>
          <a:p>
            <a:r>
              <a:rPr lang="en-GB" b="1" dirty="0"/>
              <a:t>ON THE PORTAL, AFTER THE TEACHING:</a:t>
            </a:r>
          </a:p>
          <a:p>
            <a:r>
              <a:rPr lang="en-GB" dirty="0"/>
              <a:t>Participants write the reflection of 1.1 in the participant file:</a:t>
            </a:r>
          </a:p>
          <a:p>
            <a:r>
              <a:rPr lang="en-GB" dirty="0"/>
              <a:t>"In your current role, which filter (Mind or Heart) tends to shape your first response to a new strategic priority? What are the implications?"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1.2 — THE FIVE PRINCIPLES OF ALIGNING HEART &amp; MIND (EXPAND EACH PRINCIPLE)</a:t>
            </a:r>
          </a:p>
          <a:p>
            <a:endParaRPr lang="en-GB" dirty="0"/>
          </a:p>
          <a:p>
            <a:r>
              <a:rPr lang="en-GB" b="1" dirty="0"/>
              <a:t>HOW TO TEACH IT:</a:t>
            </a:r>
          </a:p>
          <a:p>
            <a:endParaRPr lang="en-GB" dirty="0"/>
          </a:p>
          <a:p>
            <a:r>
              <a:rPr lang="en-GB" b="1" dirty="0"/>
              <a:t>1. Say what the five principles are for.</a:t>
            </a:r>
          </a:p>
          <a:p>
            <a:r>
              <a:rPr lang="en-GB" dirty="0"/>
              <a:t>Say: "The five principles explain how alignment is created and sustained.</a:t>
            </a:r>
          </a:p>
          <a:p>
            <a:r>
              <a:rPr lang="en-GB" dirty="0"/>
              <a:t>Together they describe the human operating system that enables strategy to move from intention to execution."</a:t>
            </a:r>
          </a:p>
          <a:p>
            <a:endParaRPr lang="en-GB" dirty="0"/>
          </a:p>
          <a:p>
            <a:r>
              <a:rPr lang="en-GB" b="1" dirty="0"/>
              <a:t>2. Walk the five lines on the slide.</a:t>
            </a:r>
          </a:p>
          <a:p>
            <a:r>
              <a:rPr lang="en-GB" dirty="0"/>
              <a:t>- Principle 1 · Strategy Moves Through People: the human entry point of execution.</a:t>
            </a:r>
          </a:p>
          <a:p>
            <a:r>
              <a:rPr lang="en-GB" dirty="0"/>
              <a:t>- Principle 2 · Misalignment Fragments Effort: the cost of ignoring the human system.</a:t>
            </a:r>
          </a:p>
          <a:p>
            <a:r>
              <a:rPr lang="en-GB" dirty="0"/>
              <a:t>- Principle 3 · Alignment Must Be Designed: the tools that create alignment.</a:t>
            </a:r>
          </a:p>
          <a:p>
            <a:r>
              <a:rPr lang="en-GB" dirty="0"/>
              <a:t>- Principle 4 · Human Reactions Are Predictable: the behavioural dynamics that influence execution.</a:t>
            </a:r>
          </a:p>
          <a:p>
            <a:r>
              <a:rPr lang="en-GB" dirty="0"/>
              <a:t>- Principle 5 · Execution Must Be Visible in Behaviour: the observable standard for alignment.</a:t>
            </a:r>
          </a:p>
          <a:p>
            <a:endParaRPr lang="en-GB" dirty="0"/>
          </a:p>
          <a:p>
            <a:r>
              <a:rPr lang="en-GB" b="1" dirty="0"/>
              <a:t>3. Say how the principles are taught.</a:t>
            </a:r>
          </a:p>
          <a:p>
            <a:r>
              <a:rPr lang="en-GB" dirty="0"/>
              <a:t>Say: "Each principle has its own slide. We work through them in order."</a:t>
            </a:r>
          </a:p>
          <a:p>
            <a:r>
              <a:rPr lang="en-GB" dirty="0"/>
              <a:t>Teach one principle at a time and give its insight before inviting reflection. Do not let the group race through.</a:t>
            </a:r>
          </a:p>
          <a:p>
            <a:r>
              <a:rPr lang="en-GB" dirty="0"/>
              <a:t>Principle 2 (Misalignment Fragments Effort) generates the most immediate recognition. Use it as a pivot.</a:t>
            </a:r>
          </a:p>
          <a:p>
            <a:endParaRPr lang="en-GB" dirty="0"/>
          </a:p>
          <a:p>
            <a:r>
              <a:rPr lang="en-GB" b="1" dirty="0"/>
              <a:t>ON THE PORTAL, AFTER THE TEACHING:</a:t>
            </a:r>
          </a:p>
          <a:p>
            <a:r>
              <a:rPr lang="en-GB" dirty="0"/>
              <a:t>Participants write the reflection of 1.2 in the participant file:</a:t>
            </a:r>
          </a:p>
          <a:p>
            <a:r>
              <a:rPr lang="en-GB" dirty="0"/>
              <a:t>"Which of the Five Principles describes the most critical gap in your leadership team right now? What is the evidence for this?"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1.2 · PRINCIPLE 1 — STRATEGY MOVES THROUGH PEOPLE</a:t>
            </a:r>
          </a:p>
          <a:p>
            <a:endParaRPr lang="en-GB" dirty="0"/>
          </a:p>
          <a:p>
            <a:r>
              <a:rPr lang="en-GB" b="1" dirty="0"/>
              <a:t>HOW TO TEACH IT:</a:t>
            </a:r>
          </a:p>
          <a:p>
            <a:endParaRPr lang="en-GB" dirty="0"/>
          </a:p>
          <a:p>
            <a:r>
              <a:rPr lang="en-GB" b="1" dirty="0"/>
              <a:t>1. State the principle.</a:t>
            </a:r>
          </a:p>
          <a:p>
            <a:r>
              <a:rPr lang="en-GB" dirty="0"/>
              <a:t>Say: "Strategy moves through people. This is the human entry point of execution. Alignment of the mind and the heart is the first execution system."</a:t>
            </a:r>
          </a:p>
          <a:p>
            <a:endParaRPr lang="en-GB" dirty="0"/>
          </a:p>
          <a:p>
            <a:r>
              <a:rPr lang="en-GB" b="1" dirty="0"/>
              <a:t>2. Walk the five links on the slide, in order.</a:t>
            </a:r>
          </a:p>
          <a:p>
            <a:r>
              <a:rPr lang="en-GB" dirty="0"/>
              <a:t>Interpretation</a:t>
            </a:r>
          </a:p>
          <a:p>
            <a:r>
              <a:rPr lang="en-GB" dirty="0"/>
              <a:t>Say: "People first make sense of the strategy.</a:t>
            </a:r>
          </a:p>
          <a:p>
            <a:r>
              <a:rPr lang="en-GB" dirty="0"/>
              <a:t>They interpret what it means, what matters, what has changed, what is expected, and what risks or opportunities they see.</a:t>
            </a:r>
          </a:p>
          <a:p>
            <a:r>
              <a:rPr lang="en-GB" dirty="0"/>
              <a:t>This is where assumptions, mental models, expertise, past experience and bias shape the meaning people attach to the strategy."</a:t>
            </a:r>
          </a:p>
          <a:p>
            <a:endParaRPr lang="en-GB" dirty="0"/>
          </a:p>
          <a:p>
            <a:r>
              <a:rPr lang="en-GB" dirty="0"/>
              <a:t>Deepen, say: "Leaders who consistently explain the why behind hard decisions, structural changes and accountability moments build a culture of understanding.</a:t>
            </a:r>
          </a:p>
          <a:p>
            <a:r>
              <a:rPr lang="en-GB" dirty="0"/>
              <a:t>Every significant leadership act should leave people knowing something true about the organisation’s direction and character."</a:t>
            </a:r>
          </a:p>
          <a:p>
            <a:r>
              <a:rPr lang="en-GB" dirty="0"/>
              <a:t>(Insight: Principle 1 · explain the why. Source: Journal, 2 March 2026 — Professional Insights)</a:t>
            </a:r>
          </a:p>
          <a:p>
            <a:endParaRPr lang="en-GB" dirty="0"/>
          </a:p>
          <a:p>
            <a:r>
              <a:rPr lang="en-GB" dirty="0"/>
              <a:t>Experience</a:t>
            </a:r>
          </a:p>
          <a:p>
            <a:r>
              <a:rPr lang="en-GB" dirty="0"/>
              <a:t>Say: "People then experience the strategy emotionally.</a:t>
            </a:r>
          </a:p>
          <a:p>
            <a:r>
              <a:rPr lang="en-GB" dirty="0"/>
              <a:t>They may feel energised, uncertain, threatened, excluded, hopeful, tired or resistant.</a:t>
            </a:r>
          </a:p>
          <a:p>
            <a:r>
              <a:rPr lang="en-GB" dirty="0"/>
              <a:t>This emotional state affects trust, morale, psychological safety, engagement energy and the willingness to participate honestly in execution."</a:t>
            </a:r>
          </a:p>
          <a:p>
            <a:endParaRPr lang="en-GB" dirty="0"/>
          </a:p>
          <a:p>
            <a:r>
              <a:rPr lang="en-GB" dirty="0"/>
              <a:t>Choices</a:t>
            </a:r>
          </a:p>
          <a:p>
            <a:r>
              <a:rPr lang="en-GB" dirty="0"/>
              <a:t>Say: "People then make choices and trade-offs.</a:t>
            </a:r>
          </a:p>
          <a:p>
            <a:r>
              <a:rPr lang="en-GB" dirty="0"/>
              <a:t>They decide what to prioritise, what to resource, what to protect, what to stop, what to challenge and what to support.</a:t>
            </a:r>
          </a:p>
          <a:p>
            <a:r>
              <a:rPr lang="en-GB" dirty="0"/>
              <a:t>This is where strategy becomes real through judgement, commitment, accountability and allocation of attention."</a:t>
            </a:r>
          </a:p>
          <a:p>
            <a:endParaRPr lang="en-GB" dirty="0"/>
          </a:p>
          <a:p>
            <a:r>
              <a:rPr lang="en-GB" dirty="0"/>
              <a:t>Actions</a:t>
            </a:r>
          </a:p>
          <a:p>
            <a:r>
              <a:rPr lang="en-GB" dirty="0"/>
              <a:t>Say: "People finally act in ways that either carry the strategy forward or weaken it.</a:t>
            </a:r>
          </a:p>
          <a:p>
            <a:r>
              <a:rPr lang="en-GB" dirty="0"/>
              <a:t>Behaviour shows up in follow-through, handovers, routines, conversations, ownership, discipline and how people respond when execution becomes difficult."</a:t>
            </a:r>
          </a:p>
          <a:p>
            <a:endParaRPr lang="en-GB" dirty="0"/>
          </a:p>
          <a:p>
            <a:r>
              <a:rPr lang="en-GB" dirty="0"/>
              <a:t>Results</a:t>
            </a:r>
          </a:p>
          <a:p>
            <a:r>
              <a:rPr lang="en-GB" dirty="0"/>
              <a:t>Say: "Results emerge when thinking is clear, feeling is aligned, decisions are coherent, and behaviour is disciplined.</a:t>
            </a:r>
          </a:p>
          <a:p>
            <a:r>
              <a:rPr lang="en-GB" dirty="0"/>
              <a:t>When any part of the chain is weak, execution begins to leak."</a:t>
            </a:r>
          </a:p>
          <a:p>
            <a:endParaRPr lang="en-GB" dirty="0"/>
          </a:p>
          <a:p>
            <a:r>
              <a:rPr lang="en-GB" b="1" dirty="0"/>
              <a:t>3. Give the closing line.</a:t>
            </a:r>
          </a:p>
          <a:p>
            <a:r>
              <a:rPr lang="en-GB" dirty="0"/>
              <a:t>Say: "Strategy does not jump from intention to outcome.</a:t>
            </a:r>
          </a:p>
          <a:p>
            <a:r>
              <a:rPr lang="en-GB" dirty="0"/>
              <a:t>It moves through people.</a:t>
            </a:r>
          </a:p>
          <a:p>
            <a:r>
              <a:rPr lang="en-GB" dirty="0"/>
              <a:t>It is interpreted through thinking, experienced through feeling, converted through deciding, and delivered through behaving."</a:t>
            </a:r>
          </a:p>
          <a:p>
            <a:endParaRPr lang="en-GB" dirty="0"/>
          </a:p>
          <a:p>
            <a:r>
              <a:rPr lang="en-GB" b="1" dirty="0"/>
              <a:t>4. Ask leaders to name the emotion.</a:t>
            </a:r>
          </a:p>
          <a:p>
            <a:r>
              <a:rPr lang="en-GB" dirty="0"/>
              <a:t>Ask: "What is the dominant emotion in your current team right now?"</a:t>
            </a:r>
          </a:p>
          <a:p>
            <a:r>
              <a:rPr lang="en-GB" dirty="0"/>
              <a:t>Online: ask for one word in the chat.</a:t>
            </a:r>
          </a:p>
          <a:p>
            <a:r>
              <a:rPr lang="en-GB" dirty="0"/>
              <a:t>Say: "If you cannot name it, you cannot manage it, and it will manage you."</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1.2 · PRINCIPLE 2 — MISALIGNMENT FRAGMENTS EFFORT</a:t>
            </a:r>
          </a:p>
          <a:p>
            <a:endParaRPr lang="en-GB" dirty="0"/>
          </a:p>
          <a:p>
            <a:r>
              <a:rPr lang="en-GB" b="1" dirty="0"/>
              <a:t>HOW TO TEACH IT:</a:t>
            </a:r>
          </a:p>
          <a:p>
            <a:endParaRPr lang="en-GB" dirty="0"/>
          </a:p>
          <a:p>
            <a:r>
              <a:rPr lang="en-GB" b="1" dirty="0"/>
              <a:t>1. State the principle.</a:t>
            </a:r>
          </a:p>
          <a:p>
            <a:r>
              <a:rPr lang="en-GB" dirty="0"/>
              <a:t>Say: "Misalignment fragments effort.</a:t>
            </a:r>
          </a:p>
          <a:p>
            <a:r>
              <a:rPr lang="en-GB" dirty="0"/>
              <a:t>This is the cost of ignoring the human system.</a:t>
            </a:r>
          </a:p>
          <a:p>
            <a:r>
              <a:rPr lang="en-GB" dirty="0"/>
              <a:t>When interpretation and emotional experience are not aligned, effort begins to fragment.</a:t>
            </a:r>
          </a:p>
          <a:p>
            <a:r>
              <a:rPr lang="en-GB" dirty="0"/>
              <a:t>Everyone remains active, yet the organisation moves with split effort."</a:t>
            </a:r>
          </a:p>
          <a:p>
            <a:endParaRPr lang="en-GB" dirty="0"/>
          </a:p>
          <a:p>
            <a:r>
              <a:rPr lang="en-GB" b="1" dirty="0"/>
              <a:t>2. Teach the three consequences on the slide.</a:t>
            </a:r>
          </a:p>
          <a:p>
            <a:r>
              <a:rPr lang="en-GB" dirty="0"/>
              <a:t>Chinese Whispers</a:t>
            </a:r>
          </a:p>
          <a:p>
            <a:r>
              <a:rPr lang="en-GB" dirty="0"/>
              <a:t>Say: "Intent mutates as it travels downward. Frontline execution bears little resemblance to boardroom intent."</a:t>
            </a:r>
          </a:p>
          <a:p>
            <a:endParaRPr lang="en-GB" dirty="0"/>
          </a:p>
          <a:p>
            <a:r>
              <a:rPr lang="en-GB" dirty="0"/>
              <a:t>Deepen, say: "Organisations that communicate direction only in crisis moments find that the alignment achieved has dissipated by the next one.</a:t>
            </a:r>
          </a:p>
          <a:p>
            <a:r>
              <a:rPr lang="en-GB" dirty="0"/>
              <a:t>Consistent, continuous direction communication produces lasting alignment."</a:t>
            </a:r>
          </a:p>
          <a:p>
            <a:r>
              <a:rPr lang="en-GB" dirty="0"/>
              <a:t>(Insight: Chinese Whispers · continuous direction. Source: Journal, 17 February 2026 — Professional Insights: Strategy)</a:t>
            </a:r>
          </a:p>
          <a:p>
            <a:endParaRPr lang="en-GB" dirty="0"/>
          </a:p>
          <a:p>
            <a:r>
              <a:rPr lang="en-GB" dirty="0"/>
              <a:t>Clarification Debt</a:t>
            </a:r>
          </a:p>
          <a:p>
            <a:r>
              <a:rPr lang="en-GB" dirty="0"/>
              <a:t>Say: "60–80% of leadership time is spent re-explaining, correcting, realigning. Leaders are patching."</a:t>
            </a:r>
          </a:p>
          <a:p>
            <a:endParaRPr lang="en-GB" dirty="0"/>
          </a:p>
          <a:p>
            <a:r>
              <a:rPr lang="en-GB" dirty="0"/>
              <a:t>Deepen, say: "Leadership communication must be designed for the receiver. Expertise becomes ineffective when it cannot be translated into clear understanding."</a:t>
            </a:r>
          </a:p>
          <a:p>
            <a:r>
              <a:rPr lang="en-GB" dirty="0"/>
              <a:t>(Insight: Clarification Debt · designed for the receiver. Source: Journal, 11 September 2026 — Professional Insights: Leadership)</a:t>
            </a:r>
          </a:p>
          <a:p>
            <a:endParaRPr lang="en-GB" dirty="0"/>
          </a:p>
          <a:p>
            <a:r>
              <a:rPr lang="en-GB" dirty="0"/>
              <a:t>Silent Disengagement</a:t>
            </a:r>
          </a:p>
          <a:p>
            <a:r>
              <a:rPr lang="en-GB" dirty="0"/>
              <a:t>Say: "People comply outwardly but withdraw inwardly. It looks like cooperation. It feels like exhaustion."</a:t>
            </a:r>
          </a:p>
          <a:p>
            <a:endParaRPr lang="en-GB" dirty="0"/>
          </a:p>
          <a:p>
            <a:r>
              <a:rPr lang="en-GB" b="1" dirty="0"/>
              <a:t>3. Give the data.</a:t>
            </a:r>
          </a:p>
          <a:p>
            <a:r>
              <a:rPr lang="en-GB" dirty="0"/>
              <a:t>Say: "Low-alignment organisations experience 41% lower productivity and 48% higher turnover.</a:t>
            </a:r>
          </a:p>
          <a:p>
            <a:r>
              <a:rPr lang="en-GB" dirty="0"/>
              <a:t>This drift is dangerous because it is gradual, rationalised, and expensive."</a:t>
            </a:r>
          </a:p>
          <a:p>
            <a:r>
              <a:rPr lang="en-GB" dirty="0"/>
              <a:t>Source on the page: Gallup; PMI.</a:t>
            </a:r>
          </a:p>
          <a:p>
            <a:endParaRPr lang="en-GB" dirty="0"/>
          </a:p>
          <a:p>
            <a:r>
              <a:rPr lang="en-GB" b="1" dirty="0"/>
              <a:t>4. Use the principle as the pivot.</a:t>
            </a:r>
          </a:p>
          <a:p>
            <a:r>
              <a:rPr lang="en-GB" dirty="0"/>
              <a:t>Ask: "Which of the three do you recognise in your own organisation this quarter?"</a:t>
            </a:r>
          </a:p>
          <a:p>
            <a:r>
              <a:rPr lang="en-GB" dirty="0"/>
              <a:t>Take two or three answers, or ask for one word in the chat.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1.2 · PRINCIPLE 3 — ALIGNMENT MUST BE DESIGNED</a:t>
            </a:r>
          </a:p>
          <a:p>
            <a:endParaRPr lang="en-GB" dirty="0"/>
          </a:p>
          <a:p>
            <a:r>
              <a:rPr lang="en-GB" b="1" dirty="0"/>
              <a:t>HOW TO TEACH IT:</a:t>
            </a:r>
          </a:p>
          <a:p>
            <a:endParaRPr lang="en-GB" dirty="0"/>
          </a:p>
          <a:p>
            <a:r>
              <a:rPr lang="en-GB" b="1" dirty="0"/>
              <a:t>1. State the principle.</a:t>
            </a:r>
          </a:p>
          <a:p>
            <a:r>
              <a:rPr lang="en-GB" dirty="0"/>
              <a:t>Say: "Alignment rarely emerges naturally.</a:t>
            </a:r>
          </a:p>
          <a:p>
            <a:r>
              <a:rPr lang="en-GB" dirty="0"/>
              <a:t>It must be intentionally designed through structured interventions that make interpretation and emotional climate visible."</a:t>
            </a:r>
          </a:p>
          <a:p>
            <a:endParaRPr lang="en-GB" dirty="0"/>
          </a:p>
          <a:p>
            <a:r>
              <a:rPr lang="en-GB" b="1" dirty="0"/>
              <a:t>2. Introduce the two diagnostic assessments on the slide.</a:t>
            </a:r>
          </a:p>
          <a:p>
            <a:r>
              <a:rPr lang="en-GB" dirty="0"/>
              <a:t>OCEAVL Assessment</a:t>
            </a:r>
          </a:p>
          <a:p>
            <a:r>
              <a:rPr lang="en-GB" dirty="0"/>
              <a:t>It surfaces psychological tendencies influencing executive decision-making.</a:t>
            </a:r>
          </a:p>
          <a:p>
            <a:r>
              <a:rPr lang="en-GB" dirty="0"/>
              <a:t>Dimensions: Openness, Conscientiousness, Extraversion, Agreeableness, Emotional Stability, Values Alignment, Learning Orientation.</a:t>
            </a:r>
          </a:p>
          <a:p>
            <a:endParaRPr lang="en-GB" dirty="0"/>
          </a:p>
          <a:p>
            <a:r>
              <a:rPr lang="en-GB" dirty="0"/>
              <a:t>Emotional Climate Assessment</a:t>
            </a:r>
          </a:p>
          <a:p>
            <a:r>
              <a:rPr lang="en-GB" dirty="0"/>
              <a:t>It identifies the prevailing state of being across six core emotional categories: Joy, Sadness, Anger, Fear, Disgust, Surprise.</a:t>
            </a:r>
          </a:p>
          <a:p>
            <a:r>
              <a:rPr lang="en-GB" dirty="0"/>
              <a:t>It allows leaders to stabilise engagement before demanding execution.</a:t>
            </a:r>
          </a:p>
          <a:p>
            <a:endParaRPr lang="en-GB" dirty="0"/>
          </a:p>
          <a:p>
            <a:r>
              <a:rPr lang="en-GB" b="1" dirty="0"/>
              <a:t>3. Frame the assessments.</a:t>
            </a:r>
          </a:p>
          <a:p>
            <a:r>
              <a:rPr lang="en-GB" dirty="0"/>
              <a:t>Say: "These assessments are diagnostic tools. Their power lies in the conversation they generate. Treat them as leadership mirrors."</a:t>
            </a:r>
          </a:p>
          <a:p>
            <a:r>
              <a:rPr lang="en-GB" dirty="0"/>
              <a:t>Each participant completes the OCEAVL Assessment in part 3.1. The Emotional Climate Assessment is available on demand.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1.2 · PRINCIPLE 4 — HUMAN REACTIONS ARE PREDICTABLE</a:t>
            </a:r>
          </a:p>
          <a:p>
            <a:endParaRPr lang="en-GB" dirty="0"/>
          </a:p>
          <a:p>
            <a:r>
              <a:rPr lang="en-GB" b="1" dirty="0"/>
              <a:t>HOW TO TEACH IT:</a:t>
            </a:r>
          </a:p>
          <a:p>
            <a:endParaRPr lang="en-GB" dirty="0"/>
          </a:p>
          <a:p>
            <a:r>
              <a:rPr lang="en-GB" b="1" dirty="0"/>
              <a:t>1. State the principle.</a:t>
            </a:r>
          </a:p>
          <a:p>
            <a:r>
              <a:rPr lang="en-GB" dirty="0"/>
              <a:t>Say: "Reactions to strategic change follow predictable psychological patterns."</a:t>
            </a:r>
          </a:p>
          <a:p>
            <a:endParaRPr lang="en-GB" dirty="0"/>
          </a:p>
          <a:p>
            <a:r>
              <a:rPr lang="en-GB" b="1" dirty="0"/>
              <a:t>2. Explain why.</a:t>
            </a:r>
          </a:p>
          <a:p>
            <a:r>
              <a:rPr lang="en-GB" dirty="0"/>
              <a:t>Say: "The SCARF Model, developed by David Rock, explains five social conditions that trigger emotional responses during change.</a:t>
            </a:r>
          </a:p>
          <a:p>
            <a:r>
              <a:rPr lang="en-GB" dirty="0"/>
              <a:t>The human brain processes social change using the same threat circuitry as physical danger.</a:t>
            </a:r>
          </a:p>
          <a:p>
            <a:r>
              <a:rPr lang="en-GB" dirty="0"/>
              <a:t>Any new goal, system, or way of working is evaluated emotionally before it is evaluated rationally."</a:t>
            </a:r>
          </a:p>
          <a:p>
            <a:endParaRPr lang="en-GB" dirty="0"/>
          </a:p>
          <a:p>
            <a:r>
              <a:rPr lang="en-GB" b="1" dirty="0"/>
              <a:t>3. Say where the model is taught.</a:t>
            </a:r>
          </a:p>
          <a:p>
            <a:r>
              <a:rPr lang="en-GB" dirty="0"/>
              <a:t>Say: "The five SCARF triggers are explored in detail in 1.3.2."</a:t>
            </a:r>
          </a:p>
          <a:p>
            <a:r>
              <a:rPr lang="en-GB" dirty="0"/>
              <a:t>Say: "The power of SCARF lies in the recognition. When a leader can name which trigger is driving resistance, they can address the root cause."</a:t>
            </a:r>
          </a:p>
          <a:p>
            <a:r>
              <a:rPr lang="en-GB" dirty="0"/>
              <a:t>The SCARF Tool is available on demand for leaders who want to monitor observable behaviours and proactively strengthen their alignment of heart and mind.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1.2 · PRINCIPLE 5 — EXECUTION MUST BE VISIBLE IN BEHAVIOUR</a:t>
            </a:r>
          </a:p>
          <a:p>
            <a:endParaRPr lang="en-GB" dirty="0"/>
          </a:p>
          <a:p>
            <a:r>
              <a:rPr lang="en-GB" b="1" dirty="0"/>
              <a:t>HOW TO TEACH IT:</a:t>
            </a:r>
          </a:p>
          <a:p>
            <a:endParaRPr lang="en-GB" dirty="0"/>
          </a:p>
          <a:p>
            <a:r>
              <a:rPr lang="en-GB" b="1" dirty="0"/>
              <a:t>1. State the principle.</a:t>
            </a:r>
          </a:p>
          <a:p>
            <a:r>
              <a:rPr lang="en-GB" dirty="0"/>
              <a:t>Say: "Strategic alignment ultimately becomes visible through behaviour.</a:t>
            </a:r>
          </a:p>
          <a:p>
            <a:r>
              <a:rPr lang="en-GB" dirty="0"/>
              <a:t>Without observable behaviour, alignment remains theoretical.</a:t>
            </a:r>
          </a:p>
          <a:p>
            <a:r>
              <a:rPr lang="en-GB" dirty="0"/>
              <a:t>With behavioural standards, alignment becomes visible, measurable, and sustainable."</a:t>
            </a:r>
          </a:p>
          <a:p>
            <a:endParaRPr lang="en-GB" dirty="0"/>
          </a:p>
          <a:p>
            <a:r>
              <a:rPr lang="en-GB" b="1" dirty="0"/>
              <a:t>2. Introduce ACE-IT.</a:t>
            </a:r>
          </a:p>
          <a:p>
            <a:r>
              <a:rPr lang="en-GB" dirty="0"/>
              <a:t>Say: "The ACE-IT Framework defines five universally desired behaviours: Accountability, Commitment, Engagement, Integrity, Transparency.</a:t>
            </a:r>
          </a:p>
          <a:p>
            <a:r>
              <a:rPr lang="en-GB" dirty="0"/>
              <a:t>These behaviours are independent of an organisation’s stated values.</a:t>
            </a:r>
          </a:p>
          <a:p>
            <a:r>
              <a:rPr lang="en-GB" dirty="0"/>
              <a:t>They represent the minimum behavioural standard for any leadership team serious about execution."</a:t>
            </a:r>
          </a:p>
          <a:p>
            <a:r>
              <a:rPr lang="en-GB" dirty="0"/>
              <a:t>ACE-IT is explored in detail in 1.3.4.</a:t>
            </a:r>
          </a:p>
          <a:p>
            <a:endParaRPr lang="en-GB" dirty="0"/>
          </a:p>
          <a:p>
            <a:r>
              <a:rPr lang="en-GB" b="1" dirty="0"/>
              <a:t>3. Ask the diagnostic question.</a:t>
            </a:r>
          </a:p>
          <a:p>
            <a:r>
              <a:rPr lang="en-GB" dirty="0"/>
              <a:t>Ask: "If someone external observed your team for one week, which ACE-IT behaviour would they see most clearly? Which would be absent?"</a:t>
            </a:r>
          </a:p>
          <a:p>
            <a:r>
              <a:rPr lang="en-GB" dirty="0"/>
              <a:t>The honest answer is a diagnostic.</a:t>
            </a:r>
          </a:p>
          <a:p>
            <a:endParaRPr lang="en-GB" dirty="0"/>
          </a:p>
          <a:p>
            <a:r>
              <a:rPr lang="en-GB" b="1" dirty="0"/>
              <a:t>4. Close the five principles.</a:t>
            </a:r>
          </a:p>
          <a:p>
            <a:r>
              <a:rPr lang="en-GB" dirty="0"/>
              <a:t>Ask: "Which principle describes the most critical gap in your leadership team right now? Choose one."</a:t>
            </a:r>
          </a:p>
          <a:p>
            <a:r>
              <a:rPr lang="en-GB" dirty="0"/>
              <a:t>The choice itself is diagnostic. Online: ask for the number of the principle in the chat.</a:t>
            </a:r>
          </a:p>
          <a:p>
            <a:endParaRPr lang="en-GB" dirty="0"/>
          </a:p>
          <a:p>
            <a:r>
              <a:rPr lang="en-GB" b="1" dirty="0"/>
              <a:t>5. Bridge to 1.3.</a:t>
            </a:r>
          </a:p>
          <a:p>
            <a:r>
              <a:rPr lang="en-GB" dirty="0"/>
              <a:t>Say: "1.1 showed that strategy reaches people through two filters, Mind and Heart. 1.2 showed that alignment has to be designed.</a:t>
            </a:r>
          </a:p>
          <a:p>
            <a:r>
              <a:rPr lang="en-GB" dirty="0"/>
              <a:t>We now apply both to the moment a strategy asks people to work differently."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1.3 — CHANGE MANAGEMENT: THE 4 CHECKS OF MIND, HEART, HANDS AND HABIT (EXPAND EACH CHECK) · THE EVENT AND THE TRANSITION</a:t>
            </a:r>
          </a:p>
          <a:p>
            <a:endParaRPr lang="en-GB" dirty="0"/>
          </a:p>
          <a:p>
            <a:r>
              <a:rPr lang="en-GB" b="1" dirty="0"/>
              <a:t>HOW TO TEACH IT:</a:t>
            </a:r>
          </a:p>
          <a:p>
            <a:endParaRPr lang="en-GB" dirty="0"/>
          </a:p>
          <a:p>
            <a:r>
              <a:rPr lang="en-GB" b="1" dirty="0"/>
              <a:t>1. Open with the question.</a:t>
            </a:r>
          </a:p>
          <a:p>
            <a:r>
              <a:rPr lang="en-GB" dirty="0"/>
              <a:t>Ask: "Think of a change your organisation announced well and still struggled to land. On the day after the announcement, what did you believe was done?"</a:t>
            </a:r>
          </a:p>
          <a:p>
            <a:r>
              <a:rPr lang="en-GB" dirty="0"/>
              <a:t>Use the answers to separate the event from the transition.</a:t>
            </a:r>
          </a:p>
          <a:p>
            <a:endParaRPr lang="en-GB" dirty="0"/>
          </a:p>
          <a:p>
            <a:r>
              <a:rPr lang="en-GB" b="1" dirty="0"/>
              <a:t>2. Define change management.</a:t>
            </a:r>
          </a:p>
          <a:p>
            <a:r>
              <a:rPr lang="en-GB" dirty="0"/>
              <a:t>Say: "Change management is the leadership discipline of moving people from current practice to the practice the strategy requires."</a:t>
            </a:r>
          </a:p>
          <a:p>
            <a:r>
              <a:rPr lang="en-GB" dirty="0"/>
              <a:t>Section intent: leaders leave 1.3 able to say which check a change has reached.</a:t>
            </a:r>
          </a:p>
          <a:p>
            <a:endParaRPr lang="en-GB" dirty="0"/>
          </a:p>
          <a:p>
            <a:r>
              <a:rPr lang="en-GB" b="1" dirty="0"/>
              <a:t>3. Teach the event.</a:t>
            </a:r>
          </a:p>
          <a:p>
            <a:r>
              <a:rPr lang="en-GB" dirty="0"/>
              <a:t>Say: "A change is an event.</a:t>
            </a:r>
          </a:p>
          <a:p>
            <a:r>
              <a:rPr lang="en-GB" dirty="0"/>
              <a:t>It is announced on a date, and on that date the structure, the system or the target is different.</a:t>
            </a:r>
          </a:p>
          <a:p>
            <a:r>
              <a:rPr lang="en-GB" dirty="0"/>
              <a:t>The event belongs to the organisation."</a:t>
            </a:r>
          </a:p>
          <a:p>
            <a:endParaRPr lang="en-GB" dirty="0"/>
          </a:p>
          <a:p>
            <a:r>
              <a:rPr lang="en-GB" b="1" dirty="0"/>
              <a:t>4. Teach the transition.</a:t>
            </a:r>
          </a:p>
          <a:p>
            <a:r>
              <a:rPr lang="en-GB" dirty="0"/>
              <a:t>Say: "The transition is what each affected person goes through afterwards: letting go of a familiar practice, working out what the new one asks of them, and becoming able to do it.</a:t>
            </a:r>
          </a:p>
          <a:p>
            <a:r>
              <a:rPr lang="en-GB" dirty="0"/>
              <a:t>The transition belongs to the person."</a:t>
            </a:r>
          </a:p>
          <a:p>
            <a:endParaRPr lang="en-GB" dirty="0"/>
          </a:p>
          <a:p>
            <a:r>
              <a:rPr lang="en-GB" b="1" dirty="0"/>
              <a:t>5. Name the distance between the two.</a:t>
            </a:r>
          </a:p>
          <a:p>
            <a:r>
              <a:rPr lang="en-GB" dirty="0"/>
              <a:t>Say: "A leadership team debates a change for months before announcing it.</a:t>
            </a:r>
          </a:p>
          <a:p>
            <a:r>
              <a:rPr lang="en-GB" dirty="0"/>
              <a:t>Leaders finish their own transition on the day everyone else begins theirs.</a:t>
            </a:r>
          </a:p>
          <a:p>
            <a:r>
              <a:rPr lang="en-GB" dirty="0"/>
              <a:t>The distance between the two is where impatience on one side meets resistance on the other.</a:t>
            </a:r>
          </a:p>
          <a:p>
            <a:r>
              <a:rPr lang="en-GB" dirty="0"/>
              <a:t>Change management is the work of leading people across that distance."</a:t>
            </a:r>
          </a:p>
          <a:p>
            <a:endParaRPr lang="en-GB" dirty="0"/>
          </a:p>
          <a:p>
            <a:r>
              <a:rPr lang="en-GB" dirty="0"/>
              <a:t>Deepen, say: "Teams that move straight from ‘here is what changed’ to ‘here is what we need you to do next’ produce resistance they cannot explain.</a:t>
            </a:r>
          </a:p>
          <a:p>
            <a:r>
              <a:rPr lang="en-GB" dirty="0"/>
              <a:t>The resistance signals that people do not yet feel understood."</a:t>
            </a:r>
          </a:p>
          <a:p>
            <a:r>
              <a:rPr lang="en-GB" dirty="0"/>
              <a:t>(Insight: Listening first. Source: Journal, 25 June 2026 — Professional Insights: Culture)</a:t>
            </a:r>
          </a:p>
          <a:p>
            <a:endParaRPr lang="en-GB" dirty="0"/>
          </a:p>
          <a:p>
            <a:r>
              <a:rPr lang="en-GB" b="1" dirty="0"/>
              <a:t>6. Set up the change each leader carries.</a:t>
            </a:r>
          </a:p>
          <a:p>
            <a:r>
              <a:rPr lang="en-GB" dirty="0"/>
              <a:t>Say: "Write down one live change your strategy requires of a named group. You carry it through every later part and into the Section 5 exercise."</a:t>
            </a:r>
          </a:p>
          <a:p>
            <a:endParaRPr lang="en-GB" dirty="0"/>
          </a:p>
          <a:p>
            <a:r>
              <a:rPr lang="en-GB" b="1" dirty="0"/>
              <a:t>ON THE PORTAL, AFTER THE TEACHING:</a:t>
            </a:r>
          </a:p>
          <a:p>
            <a:r>
              <a:rPr lang="en-GB" dirty="0"/>
              <a:t>Participants write the reflection of 1.3 in the participant file:</a:t>
            </a:r>
          </a:p>
          <a:p>
            <a:r>
              <a:rPr lang="en-GB" dirty="0"/>
              <a:t>"Write down one change your strategy requires of a named group. You will carry this change through the rest of the unit. On the day it was announced, how far through your own transition were you and your fellow leaders, and how far were the people affected?"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1.3 — CHANGE MANAGEMENT: THE 4 CHECKS OF MIND, HEART, HANDS AND HABIT (EXPAND EACH CHECK) · THE 4 CHECKS</a:t>
            </a:r>
          </a:p>
          <a:p>
            <a:endParaRPr lang="en-GB" dirty="0"/>
          </a:p>
          <a:p>
            <a:r>
              <a:rPr lang="en-GB" b="1" dirty="0"/>
              <a:t>HOW TO TEACH IT:</a:t>
            </a:r>
          </a:p>
          <a:p>
            <a:endParaRPr lang="en-GB" dirty="0"/>
          </a:p>
          <a:p>
            <a:r>
              <a:rPr lang="en-GB" b="1" dirty="0"/>
              <a:t>1. Introduce the 4 Checks.</a:t>
            </a:r>
          </a:p>
          <a:p>
            <a:r>
              <a:rPr lang="en-GB" dirty="0"/>
              <a:t>Say: "A change is adopted when it passes four checks for the people it affects.</a:t>
            </a:r>
          </a:p>
          <a:p>
            <a:r>
              <a:rPr lang="en-GB" dirty="0"/>
              <a:t>Mind and Heart are the two filters from 1.1.</a:t>
            </a:r>
          </a:p>
          <a:p>
            <a:r>
              <a:rPr lang="en-GB" dirty="0"/>
              <a:t>Hands and Habit extend the same path to the point where the new practice is real.</a:t>
            </a:r>
          </a:p>
          <a:p>
            <a:r>
              <a:rPr lang="en-GB" dirty="0"/>
              <a:t>Each check asks one question and has one tool."</a:t>
            </a:r>
          </a:p>
          <a:p>
            <a:endParaRPr lang="en-GB" dirty="0"/>
          </a:p>
          <a:p>
            <a:r>
              <a:rPr lang="en-GB" b="1" dirty="0"/>
              <a:t>2. Walk the four checks on the slide.</a:t>
            </a:r>
          </a:p>
          <a:p>
            <a:r>
              <a:rPr lang="en-GB" dirty="0"/>
              <a:t>Check 1 · Mind: they understand the change, why it matters and what they do differently.</a:t>
            </a:r>
          </a:p>
          <a:p>
            <a:r>
              <a:rPr lang="en-GB" dirty="0"/>
              <a:t>Tool: the 3S Check (1.3.1).</a:t>
            </a:r>
          </a:p>
          <a:p>
            <a:r>
              <a:rPr lang="en-GB" dirty="0"/>
              <a:t>Passed when: people in the same team describe the change in the same way.</a:t>
            </a:r>
          </a:p>
          <a:p>
            <a:r>
              <a:rPr lang="en-GB" dirty="0"/>
              <a:t>Failed when: people repeat the slogan and cannot say what they personally do differently.</a:t>
            </a:r>
          </a:p>
          <a:p>
            <a:endParaRPr lang="en-GB" dirty="0"/>
          </a:p>
          <a:p>
            <a:r>
              <a:rPr lang="en-GB" dirty="0"/>
              <a:t>Check 2 · Heart: they want it to succeed.</a:t>
            </a:r>
          </a:p>
          <a:p>
            <a:r>
              <a:rPr lang="en-GB" dirty="0"/>
              <a:t>Tool: the SCARF Model (1.3.2).</a:t>
            </a:r>
          </a:p>
          <a:p>
            <a:r>
              <a:rPr lang="en-GB" dirty="0"/>
              <a:t>Passed when: people bring problems and ideas to the change.</a:t>
            </a:r>
          </a:p>
          <a:p>
            <a:r>
              <a:rPr lang="en-GB" dirty="0"/>
              <a:t>Failed when: the room is quiet, effort is minimal and people say they are “waiting for alignment”.</a:t>
            </a:r>
          </a:p>
          <a:p>
            <a:endParaRPr lang="en-GB" dirty="0"/>
          </a:p>
          <a:p>
            <a:r>
              <a:rPr lang="en-GB" dirty="0"/>
              <a:t>Check 3 · Hands: they are able to do it.</a:t>
            </a:r>
          </a:p>
          <a:p>
            <a:r>
              <a:rPr lang="en-GB" dirty="0"/>
              <a:t>Tool: the STAT Check (1.3.3).</a:t>
            </a:r>
          </a:p>
          <a:p>
            <a:r>
              <a:rPr lang="en-GB" dirty="0"/>
              <a:t>Passed when: people do the new work unaided.</a:t>
            </a:r>
          </a:p>
          <a:p>
            <a:r>
              <a:rPr lang="en-GB" dirty="0"/>
              <a:t>Failed when: workarounds appear, decisions are passed upward and the new practice is done last.</a:t>
            </a:r>
          </a:p>
          <a:p>
            <a:endParaRPr lang="en-GB" dirty="0"/>
          </a:p>
          <a:p>
            <a:r>
              <a:rPr lang="en-GB" dirty="0"/>
              <a:t>Check 4 · Habit: it has become the way they work.</a:t>
            </a:r>
          </a:p>
          <a:p>
            <a:r>
              <a:rPr lang="en-GB" dirty="0"/>
              <a:t>Tool: ACE-IT (1.3.4).</a:t>
            </a:r>
          </a:p>
          <a:p>
            <a:r>
              <a:rPr lang="en-GB" dirty="0"/>
              <a:t>Passed when: the practice holds when the leader is absent.</a:t>
            </a:r>
          </a:p>
          <a:p>
            <a:r>
              <a:rPr lang="en-GB" dirty="0"/>
              <a:t>Failed when: the old way returns under the first pressure.</a:t>
            </a:r>
          </a:p>
          <a:p>
            <a:endParaRPr lang="en-GB" dirty="0"/>
          </a:p>
          <a:p>
            <a:r>
              <a:rPr lang="en-GB" b="1" dirty="0"/>
              <a:t>3. Explain why the order matters.</a:t>
            </a:r>
          </a:p>
          <a:p>
            <a:r>
              <a:rPr lang="en-GB" dirty="0"/>
              <a:t>Say: "Each check depends on the one before it.</a:t>
            </a:r>
          </a:p>
          <a:p>
            <a:r>
              <a:rPr lang="en-GB" dirty="0"/>
              <a:t>A person cannot want a change they have misread.</a:t>
            </a:r>
          </a:p>
          <a:p>
            <a:r>
              <a:rPr lang="en-GB" dirty="0"/>
              <a:t>They will not perform a change they do not want, and skill offered to an unwilling person is left unused.</a:t>
            </a:r>
          </a:p>
          <a:p>
            <a:r>
              <a:rPr lang="en-GB" dirty="0"/>
              <a:t>A practice cannot become habit while most people are unable to perform it."</a:t>
            </a:r>
          </a:p>
          <a:p>
            <a:r>
              <a:rPr lang="en-GB" dirty="0"/>
              <a:t>Say: "The practical rule follows.</a:t>
            </a:r>
          </a:p>
          <a:p>
            <a:r>
              <a:rPr lang="en-GB" dirty="0"/>
              <a:t>A change stalls at the first check it fails, and that check is where the leader’s effort belongs.</a:t>
            </a:r>
          </a:p>
          <a:p>
            <a:r>
              <a:rPr lang="en-GB" dirty="0"/>
              <a:t>Effort spent further along the path is lost."</a:t>
            </a:r>
          </a:p>
          <a:p>
            <a:endParaRPr lang="en-GB" dirty="0"/>
          </a:p>
          <a:p>
            <a:r>
              <a:rPr lang="en-GB" b="1" dirty="0"/>
              <a:t>EXAMPLE</a:t>
            </a:r>
          </a:p>
          <a:p>
            <a:r>
              <a:rPr lang="en-GB" dirty="0"/>
              <a:t>A team that understands a change and resents it has stalled at Heart. More explanation will not move it.</a:t>
            </a:r>
          </a:p>
          <a:p>
            <a:r>
              <a:rPr lang="en-GB" dirty="0"/>
              <a:t>A team that wants a change and has no authority to act has stalled at Hands. More encouragement will not move it.</a:t>
            </a:r>
          </a:p>
          <a:p>
            <a:r>
              <a:rPr lang="en-GB" dirty="0"/>
              <a:t>A team that did it well for a month and drifted back has stalled at Habit. A relaunch will not hold it.</a:t>
            </a:r>
          </a:p>
          <a:p>
            <a:endParaRPr lang="en-GB" dirty="0"/>
          </a:p>
          <a:p>
            <a:r>
              <a:rPr lang="en-GB" b="1" dirty="0"/>
              <a:t>4. Give the leader’s four jobs.</a:t>
            </a:r>
          </a:p>
          <a:p>
            <a:r>
              <a:rPr lang="en-GB" dirty="0"/>
              <a:t>Say: "Leading the transition means doing one job at each check. Each job is taught with its tool in the four parts that follow."</a:t>
            </a:r>
          </a:p>
          <a:p>
            <a:r>
              <a:rPr lang="en-GB" dirty="0"/>
              <a:t>- Mind · 3S · Explain. Complete when: three people from the affected group give the same Shift, Stake and Step.</a:t>
            </a:r>
          </a:p>
          <a:p>
            <a:r>
              <a:rPr lang="en-GB" dirty="0"/>
              <a:t>- Heart · SCARF · Involve. Complete when: the people affected can point to a part of the change they shaped.</a:t>
            </a:r>
          </a:p>
          <a:p>
            <a:r>
              <a:rPr lang="en-GB" dirty="0"/>
              <a:t>- Hands · STAT · Equip. Complete when: a person can perform the new practice from start to finish without asking permission or using a workaround.</a:t>
            </a:r>
          </a:p>
          <a:p>
            <a:r>
              <a:rPr lang="en-GB" dirty="0"/>
              <a:t>- Habit · ACE-IT · Reinforce. Complete when: the practice holds through a full review period with the leader absent.</a:t>
            </a:r>
          </a:p>
          <a:p>
            <a:r>
              <a:rPr lang="en-GB" dirty="0"/>
              <a:t>Industry parallel: the Prosci ADKAR® Model (Awareness, Desire, Knowledge, Ability, Reinforcement).</a:t>
            </a:r>
          </a:p>
          <a:p>
            <a:endParaRPr lang="en-GB" dirty="0"/>
          </a:p>
          <a:p>
            <a:r>
              <a:rPr lang="en-GB" b="1" dirty="0"/>
              <a:t>5. Ask the key question.</a:t>
            </a:r>
          </a:p>
          <a:p>
            <a:r>
              <a:rPr lang="en-GB" dirty="0"/>
              <a:t>Ask: "For the change you wrote down, which check would your people fail first?"</a:t>
            </a:r>
          </a:p>
          <a:p>
            <a:r>
              <a:rPr lang="en-GB" dirty="0"/>
              <a:t>Take three answers. Note which checks are named and which are left out, and return to the list in 1.3.3.</a:t>
            </a:r>
          </a:p>
          <a:p>
            <a:r>
              <a:rPr lang="en-GB" dirty="0"/>
              <a:t>Watch for: leaders who treat the four checks as four communications. Only the first is about the message.</a:t>
            </a:r>
          </a:p>
          <a:p>
            <a:endParaRPr lang="en-GB" dirty="0"/>
          </a:p>
          <a:p>
            <a:r>
              <a:rPr lang="en-GB" b="1" dirty="0"/>
              <a:t>6. Land the insight of the part.</a:t>
            </a:r>
          </a:p>
          <a:p>
            <a:r>
              <a:rPr lang="en-GB" dirty="0"/>
              <a:t>Ask: "For the last change you announced, which check has it reached today?"</a:t>
            </a:r>
          </a:p>
          <a:p>
            <a:r>
              <a:rPr lang="en-GB" dirty="0"/>
              <a:t>Say: "If you cannot name the check, the change has been announced and left to chance."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1.3.1 — THE 3S CHECK: SHIFT, STAKE, STEP (THREE QUESTIONS)</a:t>
            </a:r>
          </a:p>
          <a:p>
            <a:endParaRPr lang="en-GB" dirty="0"/>
          </a:p>
          <a:p>
            <a:r>
              <a:rPr lang="en-GB" b="1" dirty="0"/>
              <a:t>HOW TO TEACH IT:</a:t>
            </a:r>
          </a:p>
          <a:p>
            <a:endParaRPr lang="en-GB" dirty="0"/>
          </a:p>
          <a:p>
            <a:r>
              <a:rPr lang="en-GB" b="1" dirty="0"/>
              <a:t>1. Frame the check.</a:t>
            </a:r>
          </a:p>
          <a:p>
            <a:r>
              <a:rPr lang="en-GB" dirty="0"/>
              <a:t>Say: "3S is the Mind check.</a:t>
            </a:r>
          </a:p>
          <a:p>
            <a:r>
              <a:rPr lang="en-GB" dirty="0"/>
              <a:t>It asks whether the people affected have understood the change as the leader intended it.</a:t>
            </a:r>
          </a:p>
          <a:p>
            <a:r>
              <a:rPr lang="en-GB" dirty="0"/>
              <a:t>Understanding is interpretation.</a:t>
            </a:r>
          </a:p>
          <a:p>
            <a:r>
              <a:rPr lang="en-GB" dirty="0"/>
              <a:t>Each person rebuilds the message through their own expertise, mental shortcuts, past experience and risk perception."</a:t>
            </a:r>
          </a:p>
          <a:p>
            <a:r>
              <a:rPr lang="en-GB" dirty="0"/>
              <a:t>Say: "The Functional Bias Problem from 1.1 applies in full: finance hears a cost decision, operations hears a process change, and the front line hears a judgement on how they have worked until now."</a:t>
            </a:r>
          </a:p>
          <a:p>
            <a:r>
              <a:rPr lang="en-GB" dirty="0"/>
              <a:t>Say: "Leaders are poorly placed to judge this for themselves.</a:t>
            </a:r>
          </a:p>
          <a:p>
            <a:r>
              <a:rPr lang="en-GB" dirty="0"/>
              <a:t>After months inside a change, its logic feels obvious to them, and an obvious message feels like a clear one.</a:t>
            </a:r>
          </a:p>
          <a:p>
            <a:r>
              <a:rPr lang="en-GB" dirty="0"/>
              <a:t>The 3S Check replaces that feeling with a test.</a:t>
            </a:r>
          </a:p>
          <a:p>
            <a:r>
              <a:rPr lang="en-GB" dirty="0"/>
              <a:t>Mind passes when the people affected can say three things about the change in their own words."</a:t>
            </a:r>
          </a:p>
          <a:p>
            <a:endParaRPr lang="en-GB" dirty="0"/>
          </a:p>
          <a:p>
            <a:r>
              <a:rPr lang="en-GB" b="1" dirty="0"/>
              <a:t>2. Teach the three questions on the slide.</a:t>
            </a:r>
          </a:p>
          <a:p>
            <a:r>
              <a:rPr lang="en-GB" dirty="0"/>
              <a:t>Shift — “What is changing?”</a:t>
            </a:r>
          </a:p>
          <a:p>
            <a:r>
              <a:rPr lang="en-GB" dirty="0"/>
              <a:t>The Shift names the practice that ends and the practice that begins, for a named group, from a named date.</a:t>
            </a:r>
          </a:p>
          <a:p>
            <a:r>
              <a:rPr lang="en-GB" dirty="0"/>
              <a:t>Weak: “We are becoming more customer-focused.”</a:t>
            </a:r>
          </a:p>
          <a:p>
            <a:r>
              <a:rPr lang="en-GB" dirty="0"/>
              <a:t>Clear: “From March, agents resolve complaints on the first call.”</a:t>
            </a:r>
          </a:p>
          <a:p>
            <a:r>
              <a:rPr lang="en-GB" dirty="0"/>
              <a:t>Leader’s move: state the Shift as from and to: what stops, what starts, for whom, from when.</a:t>
            </a:r>
          </a:p>
          <a:p>
            <a:endParaRPr lang="en-GB" dirty="0"/>
          </a:p>
          <a:p>
            <a:r>
              <a:rPr lang="en-GB" dirty="0"/>
              <a:t>Stake — “What do we gain if we change, and what do we lose if we stay as we are?”</a:t>
            </a:r>
          </a:p>
          <a:p>
            <a:r>
              <a:rPr lang="en-GB" dirty="0"/>
              <a:t>The Stake is why the change matters, and it has two sides. Both are needed, because people weigh a loss more heavily than an equal gain.</a:t>
            </a:r>
          </a:p>
          <a:p>
            <a:r>
              <a:rPr lang="en-GB" dirty="0"/>
              <a:t>Weak: “It supports our strategy.”</a:t>
            </a:r>
          </a:p>
          <a:p>
            <a:r>
              <a:rPr lang="en-GB" dirty="0"/>
              <a:t>Clear: “We keep the customers who now leave after a two-day wait. If we stay as we are, we keep losing them.”</a:t>
            </a:r>
          </a:p>
          <a:p>
            <a:r>
              <a:rPr lang="en-GB" dirty="0"/>
              <a:t>Leader’s move: state the gain and the loss together, in the group’s own terms.</a:t>
            </a:r>
          </a:p>
          <a:p>
            <a:endParaRPr lang="en-GB" dirty="0"/>
          </a:p>
          <a:p>
            <a:r>
              <a:rPr lang="en-GB" dirty="0"/>
              <a:t>Step — “What do I do differently?”</a:t>
            </a:r>
          </a:p>
          <a:p>
            <a:r>
              <a:rPr lang="en-GB" dirty="0"/>
              <a:t>The Step is the person’s own part. It is said in the first person and is small enough to do next week.</a:t>
            </a:r>
          </a:p>
          <a:p>
            <a:r>
              <a:rPr lang="en-GB" dirty="0"/>
              <a:t>Weak: “Embrace the new process.”</a:t>
            </a:r>
          </a:p>
          <a:p>
            <a:r>
              <a:rPr lang="en-GB" dirty="0"/>
              <a:t>Clear: “I decide on the call, within my limit.”</a:t>
            </a:r>
          </a:p>
          <a:p>
            <a:r>
              <a:rPr lang="en-GB" dirty="0"/>
              <a:t>Leader’s move: give each affected role its own Step, and ask people to say it back.</a:t>
            </a:r>
          </a:p>
          <a:p>
            <a:endParaRPr lang="en-GB" dirty="0"/>
          </a:p>
          <a:p>
            <a:r>
              <a:rPr lang="en-GB" b="1" dirty="0"/>
              <a:t>3. Run the live demonstration.</a:t>
            </a:r>
          </a:p>
          <a:p>
            <a:r>
              <a:rPr lang="en-GB" dirty="0"/>
              <a:t>Ask two leaders to write the Shift, the Stake and the Step for the same change, without conferring, and post them in the chat.</a:t>
            </a:r>
          </a:p>
          <a:p>
            <a:r>
              <a:rPr lang="en-GB" dirty="0"/>
              <a:t>The difference between the two versions is the lesson.</a:t>
            </a:r>
          </a:p>
          <a:p>
            <a:r>
              <a:rPr lang="en-GB" dirty="0"/>
              <a:t>Say: "Two leaders with different versions pass on two different changes."</a:t>
            </a:r>
          </a:p>
          <a:p>
            <a:r>
              <a:rPr lang="en-GB" dirty="0"/>
              <a:t>Check that each Stake gives both sides. Where only the gain is given, ask: "What happens to this team in a year if nothing changes?"</a:t>
            </a:r>
          </a:p>
          <a:p>
            <a:endParaRPr lang="en-GB" dirty="0"/>
          </a:p>
          <a:p>
            <a:r>
              <a:rPr lang="en-GB" b="1" dirty="0"/>
              <a:t>4. Teach how to run the check and read the result.</a:t>
            </a:r>
          </a:p>
          <a:p>
            <a:r>
              <a:rPr lang="en-GB" dirty="0"/>
              <a:t>1. Write your own Shift, Stake and Step for the change.</a:t>
            </a:r>
          </a:p>
          <a:p>
            <a:r>
              <a:rPr lang="en-GB" dirty="0"/>
              <a:t>2. Ask three people from the affected group to say theirs, without prompting.</a:t>
            </a:r>
          </a:p>
          <a:p>
            <a:r>
              <a:rPr lang="en-GB" dirty="0"/>
              <a:t>3. Compare their versions with yours and with each other.</a:t>
            </a:r>
          </a:p>
          <a:p>
            <a:endParaRPr lang="en-GB" dirty="0"/>
          </a:p>
          <a:p>
            <a:r>
              <a:rPr lang="en-GB" dirty="0"/>
              <a:t>- The versions match: Mind passes. Move to the Heart check.</a:t>
            </a:r>
          </a:p>
          <a:p>
            <a:r>
              <a:rPr lang="en-GB" dirty="0"/>
              <a:t>- Same Shift, different Stake: people know what is changing and disagree on why. Restate the Stake in their terms.</a:t>
            </a:r>
          </a:p>
          <a:p>
            <a:r>
              <a:rPr lang="en-GB" dirty="0"/>
              <a:t>- Shift and Stake are clear, and there is no Step: people see the change as someone else’s. Give each role its own Step.</a:t>
            </a:r>
          </a:p>
          <a:p>
            <a:r>
              <a:rPr lang="en-GB" dirty="0"/>
              <a:t>- Different Shifts: Chinese Whispers. Return to one message, said in the same words by every leader.</a:t>
            </a:r>
          </a:p>
          <a:p>
            <a:endParaRPr lang="en-GB" dirty="0"/>
          </a:p>
          <a:p>
            <a:r>
              <a:rPr lang="en-GB" b="1" dirty="0"/>
              <a:t>5. Name the leader’s job at this check: Explain.</a:t>
            </a:r>
          </a:p>
          <a:p>
            <a:r>
              <a:rPr lang="en-GB" dirty="0"/>
              <a:t>Say: "The job is to give people a version of the change they can repeat.</a:t>
            </a:r>
          </a:p>
          <a:p>
            <a:r>
              <a:rPr lang="en-GB" dirty="0"/>
              <a:t>State the Shift, the Stake and the Step in the same words each time, in every forum, until people can say them back.</a:t>
            </a:r>
          </a:p>
          <a:p>
            <a:r>
              <a:rPr lang="en-GB" dirty="0"/>
              <a:t>Repetition feels excessive to the leader long before the message has landed."</a:t>
            </a:r>
          </a:p>
          <a:p>
            <a:r>
              <a:rPr lang="en-GB" dirty="0"/>
              <a:t>Complete when: three people from the affected group give the same Shift, Stake and Step.</a:t>
            </a:r>
          </a:p>
          <a:p>
            <a:r>
              <a:rPr lang="en-GB" dirty="0"/>
              <a:t>Sounds like: “From March, complaints are resolved on the first call. We are losing customers who wait two days for an answer. Your part is to decide on the call, within your limit.”</a:t>
            </a:r>
          </a:p>
          <a:p>
            <a:r>
              <a:rPr lang="en-GB" dirty="0"/>
              <a:t>When skipped: people fill the gap with their own version, and Clarification Debt builds.</a:t>
            </a:r>
          </a:p>
          <a:p>
            <a:endParaRPr lang="en-GB" dirty="0"/>
          </a:p>
          <a:p>
            <a:r>
              <a:rPr lang="en-GB" dirty="0"/>
              <a:t>Deepen, say: "Where people do not know the governing principles, the strategic direction or the cultural standards, drift follows.</a:t>
            </a:r>
          </a:p>
          <a:p>
            <a:r>
              <a:rPr lang="en-GB" dirty="0"/>
              <a:t>The leaders responsible for communicating them are accountable for the gap between what people know and what they need to know."</a:t>
            </a:r>
          </a:p>
          <a:p>
            <a:r>
              <a:rPr lang="en-GB" dirty="0"/>
              <a:t>(Insight: Leaders own the knowledge gap. Source: Journal, 26 March 2026 — Professional Insights)</a:t>
            </a:r>
          </a:p>
          <a:p>
            <a:endParaRPr lang="en-GB" dirty="0"/>
          </a:p>
          <a:p>
            <a:r>
              <a:rPr lang="en-GB" dirty="0"/>
              <a:t>Watch for: Explain rated as complete because an announcement went out. Probe: "What would a front-line employee say back to you?"</a:t>
            </a:r>
          </a:p>
          <a:p>
            <a:r>
              <a:rPr lang="en-GB" dirty="0"/>
              <a:t>Watch for: a Step written for the organisation. Ask the leader to say it in the first person, as a member of the affected group.</a:t>
            </a:r>
          </a:p>
          <a:p>
            <a:endParaRPr lang="en-GB" dirty="0"/>
          </a:p>
          <a:p>
            <a:r>
              <a:rPr lang="en-GB" b="1" dirty="0"/>
              <a:t>ON THE PORTAL, AFTER THE TEACHING:</a:t>
            </a:r>
          </a:p>
          <a:p>
            <a:r>
              <a:rPr lang="en-GB" dirty="0"/>
              <a:t>Participants write the reflection of 1.3.1 in the participant file:</a:t>
            </a:r>
          </a:p>
          <a:p>
            <a:r>
              <a:rPr lang="en-GB" dirty="0"/>
              <a:t>"Write the Shift, the Stake and the Step for the change you are carrying through this unit. Which of the three would your people find hardest to say back, and why?"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1.3.2 — THE SCARF MODEL: FIVE TRIGGERS OF HUMAN RESISTANCE (EXPAND EACH TRIGGER)</a:t>
            </a:r>
          </a:p>
          <a:p>
            <a:endParaRPr lang="en-GB" dirty="0"/>
          </a:p>
          <a:p>
            <a:r>
              <a:rPr lang="en-GB" b="1" dirty="0"/>
              <a:t>HOW TO TEACH IT:</a:t>
            </a:r>
          </a:p>
          <a:p>
            <a:endParaRPr lang="en-GB" dirty="0"/>
          </a:p>
          <a:p>
            <a:r>
              <a:rPr lang="en-GB" b="1" dirty="0"/>
              <a:t>1. Frame the model.</a:t>
            </a:r>
          </a:p>
          <a:p>
            <a:r>
              <a:rPr lang="en-GB" dirty="0"/>
              <a:t>Say: "SCARF is the Heart check. When a trigger fires, a person who understands the change still withholds their energy from it."</a:t>
            </a:r>
          </a:p>
          <a:p>
            <a:endParaRPr lang="en-GB" dirty="0"/>
          </a:p>
          <a:p>
            <a:r>
              <a:rPr lang="en-GB" b="1" dirty="0"/>
              <a:t>2. Give each trigger with its question.</a:t>
            </a:r>
          </a:p>
          <a:p>
            <a:r>
              <a:rPr lang="en-GB" dirty="0"/>
              <a:t>Status — “Will this reduce my importance?”</a:t>
            </a:r>
          </a:p>
          <a:p>
            <a:r>
              <a:rPr lang="en-GB" dirty="0"/>
              <a:t>Activated by: new leaders; new KPIs exposing performance; new systems shifting expertise; changed reporting lines.</a:t>
            </a:r>
          </a:p>
          <a:p>
            <a:r>
              <a:rPr lang="en-GB" dirty="0"/>
              <a:t>Shows up as: defensive behaviour; undermining decisions; withholding information or cooperation.</a:t>
            </a:r>
          </a:p>
          <a:p>
            <a:r>
              <a:rPr lang="en-GB" dirty="0"/>
              <a:t>Execution: political friction; slowed decisions; misalignment masked as professionalism.</a:t>
            </a:r>
          </a:p>
          <a:p>
            <a:r>
              <a:rPr lang="en-GB" dirty="0"/>
              <a:t>Counter: explicitly acknowledge existing credibility. Involve senior leaders in co-designing new structures. Status is protected when people have agency in the change.</a:t>
            </a:r>
          </a:p>
          <a:p>
            <a:endParaRPr lang="en-GB" dirty="0"/>
          </a:p>
          <a:p>
            <a:r>
              <a:rPr lang="en-GB" dirty="0"/>
              <a:t>Certainty — “Do I know what success looks like?”</a:t>
            </a:r>
          </a:p>
          <a:p>
            <a:r>
              <a:rPr lang="en-GB" dirty="0"/>
              <a:t>Activated by: new goals; ambiguous ownership; changing metrics or timelines; shifting review processes.</a:t>
            </a:r>
          </a:p>
          <a:p>
            <a:r>
              <a:rPr lang="en-GB" dirty="0"/>
              <a:t>Shows up as: repeated clarification requests; delay disguised as “waiting for alignment”; reversion to old habits.</a:t>
            </a:r>
          </a:p>
          <a:p>
            <a:r>
              <a:rPr lang="en-GB" dirty="0"/>
              <a:t>Execution: loss of momentum; paralysis under pressure; risk avoidance.</a:t>
            </a:r>
          </a:p>
          <a:p>
            <a:r>
              <a:rPr lang="en-GB" dirty="0"/>
              <a:t>Counter: create visible milestones early. The brain seeks pattern. Give it enough structure to move without removing all ambiguity.</a:t>
            </a:r>
          </a:p>
          <a:p>
            <a:endParaRPr lang="en-GB" dirty="0"/>
          </a:p>
          <a:p>
            <a:r>
              <a:rPr lang="en-GB" dirty="0"/>
              <a:t>Deepen, say: "In unfamiliar territory, address the fear in the team directly, promise presence and support, and describe what success looks like and how the team will know it has been achieved."</a:t>
            </a:r>
          </a:p>
          <a:p>
            <a:r>
              <a:rPr lang="en-GB" dirty="0"/>
              <a:t>(Insight: Certainty · unfamiliar territory. Source: Journal, 29 January 2026 — Professional Insights: Strategy)</a:t>
            </a:r>
          </a:p>
          <a:p>
            <a:endParaRPr lang="en-GB" dirty="0"/>
          </a:p>
          <a:p>
            <a:r>
              <a:rPr lang="en-GB" dirty="0"/>
              <a:t>Autonomy — “Am I losing control of my work?”</a:t>
            </a:r>
          </a:p>
          <a:p>
            <a:r>
              <a:rPr lang="en-GB" dirty="0"/>
              <a:t>Activated by: new systems; standardised processes; centralised decision rights; increased oversight or reporting.</a:t>
            </a:r>
          </a:p>
          <a:p>
            <a:r>
              <a:rPr lang="en-GB" dirty="0"/>
              <a:t>Shows up as: passive compliance; minimal effort delivery; resistance through bureaucracy.</a:t>
            </a:r>
          </a:p>
          <a:p>
            <a:r>
              <a:rPr lang="en-GB" dirty="0"/>
              <a:t>Execution: low engagement energy; mechanical execution; fragile performance.</a:t>
            </a:r>
          </a:p>
          <a:p>
            <a:r>
              <a:rPr lang="en-GB" dirty="0"/>
              <a:t>Counter: standardise the what and offer bounded choice on the how. Bounded choice preserves autonomy while honouring the mandate.</a:t>
            </a:r>
          </a:p>
          <a:p>
            <a:endParaRPr lang="en-GB" dirty="0"/>
          </a:p>
          <a:p>
            <a:r>
              <a:rPr lang="en-GB" dirty="0"/>
              <a:t>Relatedness — “Do I still belong here?”</a:t>
            </a:r>
          </a:p>
          <a:p>
            <a:r>
              <a:rPr lang="en-GB" dirty="0"/>
              <a:t>Activated by: team restructuring; new leaders or external hires; cross-functional initiatives; remote or hybrid shifts.</a:t>
            </a:r>
          </a:p>
          <a:p>
            <a:r>
              <a:rPr lang="en-GB" dirty="0"/>
              <a:t>Shows up as: silo behaviour; reduced collaboration; guarded communication.</a:t>
            </a:r>
          </a:p>
          <a:p>
            <a:r>
              <a:rPr lang="en-GB" dirty="0"/>
              <a:t>Execution: trust erosion; coordination breakdown; rework and duplication.</a:t>
            </a:r>
          </a:p>
          <a:p>
            <a:r>
              <a:rPr lang="en-GB" dirty="0"/>
              <a:t>Counter: create visible connection rituals during transitions. People need to feel part of the tribe before they will share resources or risk vulnerability.</a:t>
            </a:r>
          </a:p>
          <a:p>
            <a:endParaRPr lang="en-GB" dirty="0"/>
          </a:p>
          <a:p>
            <a:r>
              <a:rPr lang="en-GB" dirty="0"/>
              <a:t>Fairness — “Is this being applied equitably?”</a:t>
            </a:r>
          </a:p>
          <a:p>
            <a:r>
              <a:rPr lang="en-GB" dirty="0"/>
              <a:t>Activated by: uneven workload; selective enforcement of rules; inconsistent rewards; unclear decision rationale.</a:t>
            </a:r>
          </a:p>
          <a:p>
            <a:r>
              <a:rPr lang="en-GB" dirty="0"/>
              <a:t>Shows up as: cynicism; gossip replacing dialogue; emotional withdrawal.</a:t>
            </a:r>
          </a:p>
          <a:p>
            <a:r>
              <a:rPr lang="en-GB" dirty="0"/>
              <a:t>Execution: values misalignment; morale drain; cultural decay.</a:t>
            </a:r>
          </a:p>
          <a:p>
            <a:r>
              <a:rPr lang="en-GB" dirty="0"/>
              <a:t>Counter: proactively explain rationale behind decisions, especially asymmetric ones. Transparency about trade-offs is perceived as fairness even when outcomes differ.</a:t>
            </a:r>
          </a:p>
          <a:p>
            <a:endParaRPr lang="en-GB" dirty="0"/>
          </a:p>
          <a:p>
            <a:r>
              <a:rPr lang="en-GB" b="1" dirty="0"/>
              <a:t>3. Pause on recognition.</a:t>
            </a:r>
          </a:p>
          <a:p>
            <a:r>
              <a:rPr lang="en-GB" dirty="0"/>
              <a:t>Ask: "In your last major strategy implementation, which of these triggers did you observe most? How did you know?"</a:t>
            </a:r>
          </a:p>
          <a:p>
            <a:r>
              <a:rPr lang="en-GB" dirty="0"/>
              <a:t>Key distinction: the SCARF triggers activate universally. Leaders who manage it well are distinguished by awareness and deliberate counter-strategy.</a:t>
            </a:r>
          </a:p>
          <a:p>
            <a:endParaRPr lang="en-GB" dirty="0"/>
          </a:p>
          <a:p>
            <a:r>
              <a:rPr lang="en-GB" dirty="0"/>
              <a:t>Deepen, say: "Leaders who answer resistance with escalating force are solving for control when the problem is legitimacy.</a:t>
            </a:r>
          </a:p>
          <a:p>
            <a:r>
              <a:rPr lang="en-GB" dirty="0"/>
              <a:t>Ask why the resistance exists before deciding how to respond."</a:t>
            </a:r>
          </a:p>
          <a:p>
            <a:r>
              <a:rPr lang="en-GB" dirty="0"/>
              <a:t>(Insight: Resistance and legitimacy. Source: Journal, 3 February 2026 — Professional Insights: Strategy)</a:t>
            </a:r>
          </a:p>
          <a:p>
            <a:endParaRPr lang="en-GB" dirty="0"/>
          </a:p>
          <a:p>
            <a:r>
              <a:rPr lang="en-GB" b="1" dirty="0"/>
              <a:t>4. Name the leader’s job at this check: Involve.</a:t>
            </a:r>
          </a:p>
          <a:p>
            <a:r>
              <a:rPr lang="en-GB" dirty="0"/>
              <a:t>Say: "The job is to give people a hand in shaping how the change lands.</a:t>
            </a:r>
          </a:p>
          <a:p>
            <a:r>
              <a:rPr lang="en-GB" dirty="0"/>
              <a:t>The leader decides what changes and opens up how it is done.</a:t>
            </a:r>
          </a:p>
          <a:p>
            <a:r>
              <a:rPr lang="en-GB" dirty="0"/>
              <a:t>Name plainly what people give up.</a:t>
            </a:r>
          </a:p>
          <a:p>
            <a:r>
              <a:rPr lang="en-GB" dirty="0"/>
              <a:t>Identify the live SCARF trigger and apply its counter.</a:t>
            </a:r>
          </a:p>
          <a:p>
            <a:r>
              <a:rPr lang="en-GB" dirty="0"/>
              <a:t>Involve their managers first, because managers carry the change into every team conversation."</a:t>
            </a:r>
          </a:p>
          <a:p>
            <a:r>
              <a:rPr lang="en-GB" dirty="0"/>
              <a:t>Why it works: a part in the decision answers each trigger. Being consulted restores Status. Seeing the plan early restores Certainty. Choosing how restores Autonomy. Working on it together restores Relatedness. Hearing the reasons restores Fairness.</a:t>
            </a:r>
          </a:p>
          <a:p>
            <a:r>
              <a:rPr lang="en-GB" dirty="0"/>
              <a:t>Complete when: the people affected can point to a part of the change they shaped.</a:t>
            </a:r>
          </a:p>
          <a:p>
            <a:r>
              <a:rPr lang="en-GB" dirty="0"/>
              <a:t>Sounds like: “You know these calls better than I do. Where should the decision limit sit?”</a:t>
            </a:r>
          </a:p>
          <a:p>
            <a:r>
              <a:rPr lang="en-GB" dirty="0"/>
              <a:t>When skipped: Silent Disengagement. People comply, do the minimum and wait to be chased.</a:t>
            </a:r>
          </a:p>
          <a:p>
            <a:endParaRPr lang="en-GB" dirty="0"/>
          </a:p>
          <a:p>
            <a:r>
              <a:rPr lang="en-GB" dirty="0"/>
              <a:t>On involvement: involvement is about how the change is done. The decision that it will be done stays with the leader. Leaders who blur the two invite a debate they did not intend.</a:t>
            </a:r>
          </a:p>
          <a:p>
            <a:r>
              <a:rPr lang="en-GB" dirty="0"/>
              <a:t>The SCARF Tool is available on demand for leaders who want to actively monitor observable behaviours during strategy discussions or change initiatives.</a:t>
            </a:r>
          </a:p>
          <a:p>
            <a:endParaRPr lang="en-GB" dirty="0"/>
          </a:p>
          <a:p>
            <a:r>
              <a:rPr lang="en-GB" b="1" dirty="0"/>
              <a:t>ON THE PORTAL, AFTER THE TEACHING:</a:t>
            </a:r>
          </a:p>
          <a:p>
            <a:r>
              <a:rPr lang="en-GB" dirty="0"/>
              <a:t>Participants write the reflection of 1.3.2 in the participant file:</a:t>
            </a:r>
          </a:p>
          <a:p>
            <a:r>
              <a:rPr lang="en-GB" dirty="0"/>
              <a:t>"Which SCARF trigger is most frequently activated in your organisation during strategy implementation? What is the observable evidence? What counter-strategy would address the root cause?"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1.3.3 — THE STAT CHECK: SKILL, TIME, AUTHORITY, TOOLS (FOUR ELEMENTS)</a:t>
            </a:r>
          </a:p>
          <a:p>
            <a:endParaRPr lang="en-GB" dirty="0"/>
          </a:p>
          <a:p>
            <a:r>
              <a:rPr lang="en-GB" b="1" dirty="0"/>
              <a:t>HOW TO TEACH IT:</a:t>
            </a:r>
          </a:p>
          <a:p>
            <a:endParaRPr lang="en-GB" dirty="0"/>
          </a:p>
          <a:p>
            <a:r>
              <a:rPr lang="en-GB" b="1" dirty="0"/>
              <a:t>1. Frame the check.</a:t>
            </a:r>
          </a:p>
          <a:p>
            <a:r>
              <a:rPr lang="en-GB" dirty="0"/>
              <a:t>Say: "STAT is the Hands check.</a:t>
            </a:r>
          </a:p>
          <a:p>
            <a:r>
              <a:rPr lang="en-GB" dirty="0"/>
              <a:t>It asks whether people who understand a change and want it are able to carry it out on an ordinary working day.</a:t>
            </a:r>
          </a:p>
          <a:p>
            <a:r>
              <a:rPr lang="en-GB" dirty="0"/>
              <a:t>Mind and Heart sit inside the person.</a:t>
            </a:r>
          </a:p>
          <a:p>
            <a:r>
              <a:rPr lang="en-GB" dirty="0"/>
              <a:t>Hands sits largely in the conditions around the person, and those conditions are set by leaders."</a:t>
            </a:r>
          </a:p>
          <a:p>
            <a:endParaRPr lang="en-GB" dirty="0"/>
          </a:p>
          <a:p>
            <a:r>
              <a:rPr lang="en-GB" b="1" dirty="0"/>
              <a:t>2. Say why this check is misread.</a:t>
            </a:r>
          </a:p>
          <a:p>
            <a:r>
              <a:rPr lang="en-GB" dirty="0"/>
              <a:t>Say: "This is the check most easily misread.</a:t>
            </a:r>
          </a:p>
          <a:p>
            <a:r>
              <a:rPr lang="en-GB" dirty="0"/>
              <a:t>A person who is unable to perform a change looks, from a distance, like a person who is unwilling: the new practice is late, partial or missing.</a:t>
            </a:r>
          </a:p>
          <a:p>
            <a:r>
              <a:rPr lang="en-GB" dirty="0"/>
              <a:t>A leader who reads that as resistance answers with more persuasion, when the gap is a missing decision right or a system that still fits the old way.</a:t>
            </a:r>
          </a:p>
          <a:p>
            <a:r>
              <a:rPr lang="en-GB" dirty="0"/>
              <a:t>STAT separates the two.</a:t>
            </a:r>
          </a:p>
          <a:p>
            <a:r>
              <a:rPr lang="en-GB" dirty="0"/>
              <a:t>Hands passes when all four elements are in place."</a:t>
            </a:r>
          </a:p>
          <a:p>
            <a:endParaRPr lang="en-GB" dirty="0"/>
          </a:p>
          <a:p>
            <a:r>
              <a:rPr lang="en-GB" dirty="0"/>
              <a:t>Deepen, say: "Repeated resistance can be the signal of a genuine obstacle.</a:t>
            </a:r>
          </a:p>
          <a:p>
            <a:r>
              <a:rPr lang="en-GB" dirty="0"/>
              <a:t>Leaders who suppress it without investigating its source risk striking the messenger and missing the obstacle."</a:t>
            </a:r>
          </a:p>
          <a:p>
            <a:r>
              <a:rPr lang="en-GB" dirty="0"/>
              <a:t>(Insight: Resistance as information. Source: Journal, 11 March 2026 — Professional Insights)</a:t>
            </a:r>
          </a:p>
          <a:p>
            <a:endParaRPr lang="en-GB" dirty="0"/>
          </a:p>
          <a:p>
            <a:r>
              <a:rPr lang="en-GB" b="1" dirty="0"/>
              <a:t>3. Teach the four elements on the slide.</a:t>
            </a:r>
          </a:p>
          <a:p>
            <a:r>
              <a:rPr lang="en-GB" dirty="0"/>
              <a:t>Skill — “Do they know how to do it?”</a:t>
            </a:r>
          </a:p>
          <a:p>
            <a:r>
              <a:rPr lang="en-GB" dirty="0"/>
              <a:t>Skill is the practised ability to do the new work to standard. It is built by doing the work with feedback.</a:t>
            </a:r>
          </a:p>
          <a:p>
            <a:r>
              <a:rPr lang="en-GB" dirty="0"/>
              <a:t>Shows up as: errors and rework; reliance on one or two experts; people reverting to the old method “to get it done”.</a:t>
            </a:r>
          </a:p>
          <a:p>
            <a:r>
              <a:rPr lang="en-GB" dirty="0"/>
              <a:t>Leader’s move: teach, practise on real work and coach on the job. Pair the experts with the rest.</a:t>
            </a:r>
          </a:p>
          <a:p>
            <a:endParaRPr lang="en-GB" dirty="0"/>
          </a:p>
          <a:p>
            <a:r>
              <a:rPr lang="en-GB" dirty="0"/>
              <a:t>Time — “Do they have the hours to do it?”</a:t>
            </a:r>
          </a:p>
          <a:p>
            <a:r>
              <a:rPr lang="en-GB" dirty="0"/>
              <a:t>Time is the working capacity to perform the new practice properly. Most changes are added to a full day.</a:t>
            </a:r>
          </a:p>
          <a:p>
            <a:r>
              <a:rPr lang="en-GB" dirty="0"/>
              <a:t>Shows up as: the new practice is done last; done in a rush; dropped on a busy day.</a:t>
            </a:r>
          </a:p>
          <a:p>
            <a:r>
              <a:rPr lang="en-GB" dirty="0"/>
              <a:t>Leader’s move: take old work away before adding new work, and say what stops.</a:t>
            </a:r>
          </a:p>
          <a:p>
            <a:endParaRPr lang="en-GB" dirty="0"/>
          </a:p>
          <a:p>
            <a:r>
              <a:rPr lang="en-GB" dirty="0"/>
              <a:t>Authority — “Are they allowed to decide and act?”</a:t>
            </a:r>
          </a:p>
          <a:p>
            <a:r>
              <a:rPr lang="en-GB" dirty="0"/>
              <a:t>Authority is the permission to decide and act as the change requires. Until the limit of the new decision is stated, the safest course for the individual is to ask permission.</a:t>
            </a:r>
          </a:p>
          <a:p>
            <a:r>
              <a:rPr lang="en-GB" dirty="0"/>
              <a:t>Shows up as: escalations; people ask permission for what the change asks them to do.</a:t>
            </a:r>
          </a:p>
          <a:p>
            <a:r>
              <a:rPr lang="en-GB" dirty="0"/>
              <a:t>Leader’s move: set the decision limit, state it openly, and back the first decisions made under it. The first decision that is overruled teaches everyone to keep asking.</a:t>
            </a:r>
          </a:p>
          <a:p>
            <a:endParaRPr lang="en-GB" dirty="0"/>
          </a:p>
          <a:p>
            <a:r>
              <a:rPr lang="en-GB" dirty="0"/>
              <a:t>Tools — “Do they have the systems and resources?”</a:t>
            </a:r>
          </a:p>
          <a:p>
            <a:r>
              <a:rPr lang="en-GB" dirty="0"/>
              <a:t>Tools are the systems, information and resources the new practice depends on. Where the system, the form or the budget still fits the old way, people build workarounds.</a:t>
            </a:r>
          </a:p>
          <a:p>
            <a:r>
              <a:rPr lang="en-GB" dirty="0"/>
              <a:t>Shows up as: spreadsheets beside the system; manual steps; requests waiting on another team.</a:t>
            </a:r>
          </a:p>
          <a:p>
            <a:r>
              <a:rPr lang="en-GB" dirty="0"/>
              <a:t>Leader’s move: provide access and budget before the start date, and retire the old form or route.</a:t>
            </a:r>
          </a:p>
          <a:p>
            <a:endParaRPr lang="en-GB" dirty="0"/>
          </a:p>
          <a:p>
            <a:r>
              <a:rPr lang="en-GB" b="1" dirty="0"/>
              <a:t>4. Demonstrate on a live change.</a:t>
            </a:r>
          </a:p>
          <a:p>
            <a:r>
              <a:rPr lang="en-GB" dirty="0"/>
              <a:t>Take one leader’s change and run the four questions in front of the group. Stay longest on Authority.</a:t>
            </a:r>
          </a:p>
          <a:p>
            <a:r>
              <a:rPr lang="en-GB" dirty="0"/>
              <a:t>Ask: "What can this person now decide without asking you?"</a:t>
            </a:r>
          </a:p>
          <a:p>
            <a:endParaRPr lang="en-GB" dirty="0"/>
          </a:p>
          <a:p>
            <a:r>
              <a:rPr lang="en-GB" b="1" dirty="0"/>
              <a:t>5. Return to the list from 1.3.</a:t>
            </a:r>
          </a:p>
          <a:p>
            <a:r>
              <a:rPr lang="en-GB" dirty="0"/>
              <a:t>Revisit the checks leaders named as most likely to fail.</a:t>
            </a:r>
          </a:p>
          <a:p>
            <a:r>
              <a:rPr lang="en-GB" dirty="0"/>
              <a:t>Ask: "Could any of the resistance you described be a Hands gap?"</a:t>
            </a:r>
          </a:p>
          <a:p>
            <a:endParaRPr lang="en-GB" dirty="0"/>
          </a:p>
          <a:p>
            <a:r>
              <a:rPr lang="en-GB" b="1" dirty="0"/>
              <a:t>6. Name the leader’s job at this check: Equip.</a:t>
            </a:r>
          </a:p>
          <a:p>
            <a:r>
              <a:rPr lang="en-GB" dirty="0"/>
              <a:t>Say: "One missing element is enough to stop people who understand and want the change.</a:t>
            </a:r>
          </a:p>
          <a:p>
            <a:r>
              <a:rPr lang="en-GB" dirty="0"/>
              <a:t>Training closes a Skill gap.</a:t>
            </a:r>
          </a:p>
          <a:p>
            <a:r>
              <a:rPr lang="en-GB" dirty="0"/>
              <a:t>It leaves a Time, Authority or Tools gap exactly where it was."</a:t>
            </a:r>
          </a:p>
          <a:p>
            <a:r>
              <a:rPr lang="en-GB" dirty="0"/>
              <a:t>Say: "The job is to make the new practice possible on an ordinary working day.</a:t>
            </a:r>
          </a:p>
          <a:p>
            <a:r>
              <a:rPr lang="en-GB" dirty="0"/>
              <a:t>Run the STAT Check with the people affected, since they know what is missing.</a:t>
            </a:r>
          </a:p>
          <a:p>
            <a:r>
              <a:rPr lang="en-GB" dirty="0"/>
              <a:t>Supply it, and remove the old work, rules and approvals that stand in the way."</a:t>
            </a:r>
          </a:p>
          <a:p>
            <a:r>
              <a:rPr lang="en-GB" dirty="0"/>
              <a:t>Complete when: a person can perform the new practice from start to finish without asking permission or using a workaround.</a:t>
            </a:r>
          </a:p>
          <a:p>
            <a:r>
              <a:rPr lang="en-GB" dirty="0"/>
              <a:t>Sounds like: “What do you need from me to do this on Monday?”</a:t>
            </a:r>
          </a:p>
          <a:p>
            <a:r>
              <a:rPr lang="en-GB" dirty="0"/>
              <a:t>When skipped: willing people fail, and their failure is read as resistance. Heart, which had passed, begins to fail as well.</a:t>
            </a:r>
          </a:p>
          <a:p>
            <a:r>
              <a:rPr lang="en-GB" dirty="0"/>
              <a:t>Watch for: training offered as the answer to every Hands gap. Ask which STAT element the training closes.</a:t>
            </a:r>
          </a:p>
          <a:p>
            <a:r>
              <a:rPr lang="en-GB" dirty="0"/>
              <a:t>Ask: "Which of the four is your organisation quickest to supply, and which is it slowest to grant?"</a:t>
            </a:r>
          </a:p>
          <a:p>
            <a:endParaRPr lang="en-GB" dirty="0"/>
          </a:p>
          <a:p>
            <a:r>
              <a:rPr lang="en-GB" b="1" dirty="0"/>
              <a:t>ON THE PORTAL, AFTER THE TEACHING:</a:t>
            </a:r>
          </a:p>
          <a:p>
            <a:r>
              <a:rPr lang="en-GB" dirty="0"/>
              <a:t>Participants write the reflection of 1.3.3 in the participant file:</a:t>
            </a:r>
          </a:p>
          <a:p>
            <a:r>
              <a:rPr lang="en-GB" dirty="0"/>
              <a:t>"Run STAT for the change you are carrying through this unit. Which element is missing for the people it affects most? What is your evidence, and what is yours to supply?"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1.3.4 — ACE-IT: THE OBSERVABLE BEHAVIOUR STANDARD (EXPAND EACH BEHAVIOUR)</a:t>
            </a:r>
          </a:p>
          <a:p>
            <a:endParaRPr lang="en-GB" dirty="0"/>
          </a:p>
          <a:p>
            <a:r>
              <a:rPr lang="en-GB" b="1" dirty="0"/>
              <a:t>HOW TO TEACH IT:</a:t>
            </a:r>
          </a:p>
          <a:p>
            <a:endParaRPr lang="en-GB" dirty="0"/>
          </a:p>
          <a:p>
            <a:r>
              <a:rPr lang="en-GB" b="1" dirty="0"/>
              <a:t>1. Frame the standard.</a:t>
            </a:r>
          </a:p>
          <a:p>
            <a:r>
              <a:rPr lang="en-GB" dirty="0"/>
              <a:t>Say: "ACE-IT is the Habit check. These five behaviours are what hold a new practice in place."</a:t>
            </a:r>
          </a:p>
          <a:p>
            <a:r>
              <a:rPr lang="en-GB" dirty="0"/>
              <a:t>Key framing: ACE-IT is a behavioural standard, independent of the organisation’s stated values. It describes the minimum visible behaviours required for strategic alignment to be real and visible.</a:t>
            </a:r>
          </a:p>
          <a:p>
            <a:endParaRPr lang="en-GB" dirty="0"/>
          </a:p>
          <a:p>
            <a:r>
              <a:rPr lang="en-GB" b="1" dirty="0"/>
              <a:t>2. Teach the five behaviours on the slide.</a:t>
            </a:r>
          </a:p>
          <a:p>
            <a:r>
              <a:rPr lang="en-GB" dirty="0"/>
              <a:t>Accountability: taking full ownership for results. Acknowledging missteps and driving corrective action.</a:t>
            </a:r>
          </a:p>
          <a:p>
            <a:r>
              <a:rPr lang="en-GB" dirty="0"/>
              <a:t>Desired behaviour: defines clear ownership; acknowledges missteps; holds self and others to measurable standards.</a:t>
            </a:r>
          </a:p>
          <a:p>
            <a:r>
              <a:rPr lang="en-GB" dirty="0"/>
              <a:t>Observable: commitments tracked; reviews end with named owners; “We missed it, here’s the fix” language common.</a:t>
            </a:r>
          </a:p>
          <a:p>
            <a:endParaRPr lang="en-GB" dirty="0"/>
          </a:p>
          <a:p>
            <a:r>
              <a:rPr lang="en-GB" dirty="0"/>
              <a:t>Commitment: staying anchored to agreed strategic intent even when pressure rises. Following through despite discomfort.</a:t>
            </a:r>
          </a:p>
          <a:p>
            <a:r>
              <a:rPr lang="en-GB" dirty="0"/>
              <a:t>Desired behaviour: aligns daily choices to long-term direction; protects priorities from noise; closes loops they open.</a:t>
            </a:r>
          </a:p>
          <a:p>
            <a:r>
              <a:rPr lang="en-GB" dirty="0"/>
              <a:t>Observable: strategic priorities stay consistent; leaders decline non-strategic work; promises kept visibly.</a:t>
            </a:r>
          </a:p>
          <a:p>
            <a:endParaRPr lang="en-GB" dirty="0"/>
          </a:p>
          <a:p>
            <a:r>
              <a:rPr lang="en-GB" dirty="0"/>
              <a:t>Engagement: actively involving self and others in sense-making, dialogue, and execution. Listening to understand.</a:t>
            </a:r>
          </a:p>
          <a:p>
            <a:r>
              <a:rPr lang="en-GB" dirty="0"/>
              <a:t>Desired behaviour: invites participation and dissent; connects roles to purpose; creates two-way dialogue.</a:t>
            </a:r>
          </a:p>
          <a:p>
            <a:r>
              <a:rPr lang="en-GB" dirty="0"/>
              <a:t>Observable: team meetings are two-way; feedback loops visible; people quote the shared “why”.</a:t>
            </a:r>
          </a:p>
          <a:p>
            <a:endParaRPr lang="en-GB" dirty="0"/>
          </a:p>
          <a:p>
            <a:r>
              <a:rPr lang="en-GB" dirty="0"/>
              <a:t>Integrity: acting consistently with values, facts, and truth, even when inconvenient. Declaring conflicts of interest early.</a:t>
            </a:r>
          </a:p>
          <a:p>
            <a:r>
              <a:rPr lang="en-GB" dirty="0"/>
              <a:t>Desired behaviour: says what is true, even when it is hard; uses data to support choices; references values in trade-offs.</a:t>
            </a:r>
          </a:p>
          <a:p>
            <a:r>
              <a:rPr lang="en-GB" dirty="0"/>
              <a:t>Observable: evidence cited before decisions; values referenced in hard choices; teams trust word matches deed.</a:t>
            </a:r>
          </a:p>
          <a:p>
            <a:endParaRPr lang="en-GB" dirty="0"/>
          </a:p>
          <a:p>
            <a:r>
              <a:rPr lang="en-GB" dirty="0"/>
              <a:t>Deepen, say: "The team reads the practice and discounts the statement, and the gap between the two is where credibility erodes fastest.</a:t>
            </a:r>
          </a:p>
          <a:p>
            <a:r>
              <a:rPr lang="en-GB" dirty="0"/>
              <a:t>Name where your stated position and your lived practice run in opposite directions, and close the gap before someone else names it."</a:t>
            </a:r>
          </a:p>
          <a:p>
            <a:r>
              <a:rPr lang="en-GB" dirty="0"/>
              <a:t>(Insight: Integrity · practice and statement. Source: Journal, 21 April 2026 — Professional Insights: Leadership)</a:t>
            </a:r>
          </a:p>
          <a:p>
            <a:endParaRPr lang="en-GB" dirty="0"/>
          </a:p>
          <a:p>
            <a:r>
              <a:rPr lang="en-GB" dirty="0"/>
              <a:t>Transparency: making reasoning, progress, and constraints visible to all stakeholders. Sharing challenges openly.</a:t>
            </a:r>
          </a:p>
          <a:p>
            <a:r>
              <a:rPr lang="en-GB" dirty="0"/>
              <a:t>Desired behaviour: communicates decisions with rationale; documents choices and lessons; shares progress including setbacks.</a:t>
            </a:r>
          </a:p>
          <a:p>
            <a:r>
              <a:rPr lang="en-GB" dirty="0"/>
              <a:t>Observable: dashboards updated regularly; decisions logged and accessible; “no surprises” culture evident.</a:t>
            </a:r>
          </a:p>
          <a:p>
            <a:endParaRPr lang="en-GB" dirty="0"/>
          </a:p>
          <a:p>
            <a:r>
              <a:rPr lang="en-GB" b="1" dirty="0"/>
              <a:t>3. Show how ACE-IT holds a new practice.</a:t>
            </a:r>
          </a:p>
          <a:p>
            <a:r>
              <a:rPr lang="en-GB" dirty="0"/>
              <a:t>Say: "Habit is the last check and the one asked earliest.</a:t>
            </a:r>
          </a:p>
          <a:p>
            <a:r>
              <a:rPr lang="en-GB" dirty="0"/>
              <a:t>The question is put before the change starts: how will the five behaviours hold the new practice in place?</a:t>
            </a:r>
          </a:p>
          <a:p>
            <a:r>
              <a:rPr lang="en-GB" dirty="0"/>
              <a:t>A change with no answer has no plan for the day after launch."</a:t>
            </a:r>
          </a:p>
          <a:p>
            <a:r>
              <a:rPr lang="en-GB" dirty="0"/>
              <a:t>- Accountability: one named person owns the practice and its result.</a:t>
            </a:r>
          </a:p>
          <a:p>
            <a:r>
              <a:rPr lang="en-GB" dirty="0"/>
              <a:t>- Commitment: the practice is kept when pressure rises and the old way is quicker.</a:t>
            </a:r>
          </a:p>
          <a:p>
            <a:r>
              <a:rPr lang="en-GB" dirty="0"/>
              <a:t>- Engagement: people talk about how it is going and improve it together.</a:t>
            </a:r>
          </a:p>
          <a:p>
            <a:r>
              <a:rPr lang="en-GB" dirty="0"/>
              <a:t>- Integrity: slips are reported as they are, and early.</a:t>
            </a:r>
          </a:p>
          <a:p>
            <a:r>
              <a:rPr lang="en-GB" dirty="0"/>
              <a:t>- Transparency: its results are visible to everyone the change affects.</a:t>
            </a:r>
          </a:p>
          <a:p>
            <a:endParaRPr lang="en-GB" dirty="0"/>
          </a:p>
          <a:p>
            <a:r>
              <a:rPr lang="en-GB" b="1" dirty="0"/>
              <a:t>4. Name the leader’s job at this check: Reinforce.</a:t>
            </a:r>
          </a:p>
          <a:p>
            <a:r>
              <a:rPr lang="en-GB" dirty="0"/>
              <a:t>Say: "The job is to make the new practice the expected practice.</a:t>
            </a:r>
          </a:p>
          <a:p>
            <a:r>
              <a:rPr lang="en-GB" dirty="0"/>
              <a:t>Show it yourself first.</a:t>
            </a:r>
          </a:p>
          <a:p>
            <a:r>
              <a:rPr lang="en-GB" dirty="0"/>
              <a:t>Notice it when it happens, recognise it by name and correct a slip early.</a:t>
            </a:r>
          </a:p>
          <a:p>
            <a:r>
              <a:rPr lang="en-GB" dirty="0"/>
              <a:t>Put it into the regular review so that it is asked about every time.</a:t>
            </a:r>
          </a:p>
          <a:p>
            <a:r>
              <a:rPr lang="en-GB" dirty="0"/>
              <a:t>What leaders ask about, people repeat.</a:t>
            </a:r>
          </a:p>
          <a:p>
            <a:r>
              <a:rPr lang="en-GB" dirty="0"/>
              <a:t>A practice that is never asked about is understood to be optional."</a:t>
            </a:r>
          </a:p>
          <a:p>
            <a:r>
              <a:rPr lang="en-GB" dirty="0"/>
              <a:t>Complete when: the practice holds through a full review period with the leader absent.</a:t>
            </a:r>
          </a:p>
          <a:p>
            <a:r>
              <a:rPr lang="en-GB" dirty="0"/>
              <a:t>Sounds like: “I saw you close that case on the call. That is the standard.”</a:t>
            </a:r>
          </a:p>
          <a:p>
            <a:r>
              <a:rPr lang="en-GB" dirty="0"/>
              <a:t>When skipped: the old way returns under the first pressure, and the organisation concludes that the change was a phase.</a:t>
            </a:r>
          </a:p>
          <a:p>
            <a:endParaRPr lang="en-GB" dirty="0"/>
          </a:p>
          <a:p>
            <a:r>
              <a:rPr lang="en-GB" b="1" dirty="0"/>
              <a:t>5. Ask the audit question.</a:t>
            </a:r>
          </a:p>
          <a:p>
            <a:r>
              <a:rPr lang="en-GB" dirty="0"/>
              <a:t>Ask: "If you audited your last leadership review against these five behaviours, where would you find the biggest gap between the ideal and the observable?"</a:t>
            </a:r>
          </a:p>
          <a:p>
            <a:endParaRPr lang="en-GB" dirty="0"/>
          </a:p>
          <a:p>
            <a:r>
              <a:rPr lang="en-GB" b="1" dirty="0"/>
              <a:t>6. Close Section 1.</a:t>
            </a:r>
          </a:p>
          <a:p>
            <a:r>
              <a:rPr lang="en-GB" dirty="0"/>
              <a:t>Ask each leader to state, for the change they are carrying, the check they expect it to fail first and the job that follows. Online: ask them to post the sentence in the chat.</a:t>
            </a:r>
          </a:p>
          <a:p>
            <a:r>
              <a:rPr lang="en-GB" dirty="0"/>
              <a:t>This sentence is the bridge into Section 2.</a:t>
            </a:r>
          </a:p>
          <a:p>
            <a:endParaRPr lang="en-GB" dirty="0"/>
          </a:p>
          <a:p>
            <a:r>
              <a:rPr lang="en-GB" b="1" dirty="0"/>
              <a:t>ON THE PORTAL, AFTER THE TEACHING:</a:t>
            </a:r>
          </a:p>
          <a:p>
            <a:r>
              <a:rPr lang="en-GB" dirty="0"/>
              <a:t>Participants write the reflection of 1.3.4 in the participant file:</a:t>
            </a:r>
          </a:p>
          <a:p>
            <a:r>
              <a:rPr lang="en-GB" dirty="0"/>
              <a:t>"If you audited your last leadership review against the ACE-IT behaviours — where would you find the biggest gap between the ideal and the observable? What one behavioural change would create the most impact?"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b="1" dirty="0"/>
              <a:t>SECTION 1 REFLECTIONS · 1.1 TO 1.3</a:t>
            </a:r>
          </a:p>
          <a:p>
            <a:endParaRPr lang="en-GB" dirty="0"/>
          </a:p>
          <a:p>
            <a:r>
              <a:rPr lang="en-GB" b="1" dirty="0"/>
              <a:t>HOW TO USE THIS SLIDE:</a:t>
            </a:r>
          </a:p>
          <a:p>
            <a:endParaRPr lang="en-GB" dirty="0"/>
          </a:p>
          <a:p>
            <a:r>
              <a:rPr lang="en-GB" b="1" dirty="0"/>
              <a:t>1. Show the slide and read the prompts aloud.</a:t>
            </a:r>
          </a:p>
          <a:p>
            <a:r>
              <a:rPr lang="en-GB" dirty="0"/>
              <a:t>1.1 Reflection: "In your current role, which filter (Mind or Heart) tends to shape your first response to a new strategic priority? What are the implications?"</a:t>
            </a:r>
          </a:p>
          <a:p>
            <a:endParaRPr lang="en-GB" dirty="0"/>
          </a:p>
          <a:p>
            <a:r>
              <a:rPr lang="en-GB" dirty="0"/>
              <a:t>1.2 Reflection: "Which of the Five Principles describes the most critical gap in your leadership team right now? What is the evidence for this?"</a:t>
            </a:r>
          </a:p>
          <a:p>
            <a:endParaRPr lang="en-GB" dirty="0"/>
          </a:p>
          <a:p>
            <a:r>
              <a:rPr lang="en-GB" dirty="0"/>
              <a:t>1.3 Reflection — The event and the transition: "Write down one change your strategy requires of a named group. You will carry this change through the rest of the unit. On the day it was announced, how far through your own transition were you and your fellow leaders, and how far were the people affected?"</a:t>
            </a:r>
          </a:p>
          <a:p>
            <a:endParaRPr lang="en-GB" dirty="0"/>
          </a:p>
          <a:p>
            <a:r>
              <a:rPr lang="en-GB" b="1" dirty="0"/>
              <a:t>2. Say what the reflections are for.</a:t>
            </a:r>
          </a:p>
          <a:p>
            <a:r>
              <a:rPr lang="en-GB" dirty="0"/>
              <a:t>Point learners to the portal section that they will be required to complete with as much depth as possible.</a:t>
            </a:r>
          </a:p>
          <a:p>
            <a:r>
              <a:rPr lang="en-GB" dirty="0"/>
              <a:t>The reflections build the learning portfolio they receive at the end of the programme.</a:t>
            </a:r>
          </a:p>
          <a:p>
            <a:endParaRPr lang="en-GB" dirty="0"/>
          </a:p>
          <a:p>
            <a:r>
              <a:rPr lang="en-GB" dirty="0"/>
              <a:t>Say: "You write these reflections on the portal after the teaching, with as much depth as you can."</a:t>
            </a:r>
          </a:p>
          <a:p>
            <a:endParaRPr lang="en-GB" dirty="0"/>
          </a:p>
          <a:p>
            <a:r>
              <a:rPr lang="en-GB" b="1" dirty="0"/>
              <a:t>3. Set the standard.</a:t>
            </a:r>
          </a:p>
          <a:p>
            <a:r>
              <a:rPr lang="en-GB" dirty="0"/>
              <a:t>Say: "For 1.1 and 1.2, give the evidence: what you saw or heard. For 1.3, name the change, the group and the date."</a:t>
            </a:r>
          </a:p>
          <a:p>
            <a:r>
              <a:rPr lang="en-GB" dirty="0"/>
              <a:t>Watch for: a change with no named group. Ask: "Whose Monday morning changes?"</a:t>
            </a:r>
          </a:p>
          <a:p>
            <a:endParaRPr lang="en-GB" dirty="0"/>
          </a:p>
          <a:p>
            <a:r>
              <a:rPr lang="en-GB" b="1" dirty="0"/>
              <a:t>4. Say that four more follow.</a:t>
            </a:r>
          </a:p>
          <a:p>
            <a:r>
              <a:rPr lang="en-GB" dirty="0"/>
              <a:t>Say: "The next slide holds the reflections on the four tools."</a:t>
            </a:r>
          </a:p>
          <a:p>
            <a:endParaRPr lang="en-GB" dirty="0"/>
          </a:p>
          <a:p>
            <a:r>
              <a:rPr lang="en-GB" b="1" dirty="0"/>
              <a:t>ON THE PORTAL, AFTER THE TEACHING:</a:t>
            </a:r>
          </a:p>
          <a:p>
            <a:r>
              <a:rPr lang="en-GB" dirty="0"/>
              <a:t>Participants write these three reflections in Section 1 of the participant file, at the foot of parts 1.1, 1.2 and 1.3.</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b="1" dirty="0"/>
              <a:t>SECTION 1 REFLECTIONS · 1.3.1 TO 1.3.4</a:t>
            </a:r>
          </a:p>
          <a:p>
            <a:endParaRPr lang="en-GB" dirty="0"/>
          </a:p>
          <a:p>
            <a:r>
              <a:rPr lang="en-GB" b="1" dirty="0"/>
              <a:t>HOW TO USE THIS SLIDE:</a:t>
            </a:r>
          </a:p>
          <a:p>
            <a:endParaRPr lang="en-GB" dirty="0"/>
          </a:p>
          <a:p>
            <a:r>
              <a:rPr lang="en-GB" b="1" dirty="0"/>
              <a:t>1. Show the slide and read the prompts aloud.</a:t>
            </a:r>
          </a:p>
          <a:p>
            <a:r>
              <a:rPr lang="en-GB" dirty="0"/>
              <a:t>1.3.1 Reflection — The 3S Check: "Write the Shift, the Stake and the Step for the change you are carrying through this unit. Which of the three would your people find hardest to say back, and why?"</a:t>
            </a:r>
          </a:p>
          <a:p>
            <a:endParaRPr lang="en-GB" dirty="0"/>
          </a:p>
          <a:p>
            <a:r>
              <a:rPr lang="en-GB" dirty="0"/>
              <a:t>1.3.2 Reflection: "Which SCARF trigger is most frequently activated in your organisation during strategy implementation? What is the observable evidence? What counter-strategy would address the root cause?"</a:t>
            </a:r>
          </a:p>
          <a:p>
            <a:endParaRPr lang="en-GB" dirty="0"/>
          </a:p>
          <a:p>
            <a:r>
              <a:rPr lang="en-GB" dirty="0"/>
              <a:t>1.3.3 Reflection — The STAT Check: "Run STAT for the change you are carrying through this unit. Which element is missing for the people it affects most? What is your evidence, and what is yours to supply?"</a:t>
            </a:r>
          </a:p>
          <a:p>
            <a:endParaRPr lang="en-GB" dirty="0"/>
          </a:p>
          <a:p>
            <a:r>
              <a:rPr lang="en-GB" dirty="0"/>
              <a:t>1.3.4 Reflection: "If you audited your last leadership review against the ACE-IT behaviours — where would you find the biggest gap between the ideal and the observable? What one behavioural change would create the most impact?"</a:t>
            </a:r>
          </a:p>
          <a:p>
            <a:endParaRPr lang="en-GB" dirty="0"/>
          </a:p>
          <a:p>
            <a:r>
              <a:rPr lang="en-GB" b="1" dirty="0"/>
              <a:t>2. Say what the reflections are for.</a:t>
            </a:r>
          </a:p>
          <a:p>
            <a:r>
              <a:rPr lang="en-GB" dirty="0"/>
              <a:t>Point learners to the portal section that they will be required to complete with as much depth as possible.</a:t>
            </a:r>
          </a:p>
          <a:p>
            <a:r>
              <a:rPr lang="en-GB" dirty="0"/>
              <a:t>The reflections build the learning portfolio they receive at the end of the programme.</a:t>
            </a:r>
          </a:p>
          <a:p>
            <a:endParaRPr lang="en-GB" dirty="0"/>
          </a:p>
          <a:p>
            <a:r>
              <a:rPr lang="en-GB" dirty="0"/>
              <a:t>Say: "You write these reflections on the portal after the teaching, with as much depth as you can."</a:t>
            </a:r>
          </a:p>
          <a:p>
            <a:endParaRPr lang="en-GB" dirty="0"/>
          </a:p>
          <a:p>
            <a:r>
              <a:rPr lang="en-GB" b="1" dirty="0"/>
              <a:t>3. Set the standard.</a:t>
            </a:r>
          </a:p>
          <a:p>
            <a:r>
              <a:rPr lang="en-GB" dirty="0"/>
              <a:t>Say: "For 1.3.1, write the Shift, the Stake and the Step in the words your people would use.</a:t>
            </a:r>
          </a:p>
          <a:p>
            <a:r>
              <a:rPr lang="en-GB" dirty="0"/>
              <a:t>For 1.3.2 and 1.3.4, name the observable evidence.</a:t>
            </a:r>
          </a:p>
          <a:p>
            <a:r>
              <a:rPr lang="en-GB" dirty="0"/>
              <a:t>For 1.3.3, say which STAT element is missing and what is yours to supply."</a:t>
            </a:r>
          </a:p>
          <a:p>
            <a:r>
              <a:rPr lang="en-GB" dirty="0"/>
              <a:t>Watch for: resistance named with no trigger. Ask: "Which of the five triggers is live?"</a:t>
            </a:r>
          </a:p>
          <a:p>
            <a:endParaRPr lang="en-GB" dirty="0"/>
          </a:p>
          <a:p>
            <a:r>
              <a:rPr lang="en-GB" b="1" dirty="0"/>
              <a:t>4. Bridge to Section 2.</a:t>
            </a:r>
          </a:p>
          <a:p>
            <a:r>
              <a:rPr lang="en-GB" dirty="0"/>
              <a:t>Say: "We know what alignment is and what a change must pass. Section 2 shows why this decides execution outcomes."</a:t>
            </a:r>
          </a:p>
          <a:p>
            <a:endParaRPr lang="en-GB" dirty="0"/>
          </a:p>
          <a:p>
            <a:r>
              <a:rPr lang="en-GB" b="1" dirty="0"/>
              <a:t>ON THE PORTAL, AFTER THE TEACHING:</a:t>
            </a:r>
          </a:p>
          <a:p>
            <a:r>
              <a:rPr lang="en-GB" dirty="0"/>
              <a:t>Participants write these four reflections in Section 1 of the participant file, at the foot of parts 1.3.1, 1.3.2, 1.3.3 and 1.3.4.</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SECTION 2 · INTELLIGENCE — WHY</a:t>
            </a:r>
          </a:p>
          <a:p>
            <a:endParaRPr lang="en-GB" dirty="0"/>
          </a:p>
          <a:p>
            <a:r>
              <a:rPr lang="en-GB" b="1" dirty="0"/>
              <a:t>HOW THIS SECTION RUNS:</a:t>
            </a:r>
          </a:p>
          <a:p>
            <a:r>
              <a:rPr lang="en-GB" dirty="0"/>
              <a:t>1. 2.1: the ignition point of strategy execution.</a:t>
            </a:r>
          </a:p>
          <a:p>
            <a:r>
              <a:rPr lang="en-GB" dirty="0"/>
              <a:t>2. 2.2: the three foundational logics.</a:t>
            </a:r>
          </a:p>
          <a:p>
            <a:r>
              <a:rPr lang="en-GB" dirty="0"/>
              <a:t>3. 2.3: why change must be led. Installed and adopted.</a:t>
            </a:r>
          </a:p>
          <a:p>
            <a:r>
              <a:rPr lang="en-GB" dirty="0"/>
              <a:t>4. The Section 2 Reflections slide: the three reflections participants write on the portal after the teaching.</a:t>
            </a:r>
          </a:p>
          <a:p>
            <a:endParaRPr lang="en-GB" dirty="0"/>
          </a:p>
          <a:p>
            <a:r>
              <a:rPr lang="en-GB" b="1" dirty="0"/>
              <a:t>SECTION LEARNING OUTCOMES:</a:t>
            </a:r>
          </a:p>
          <a:p>
            <a:r>
              <a:rPr lang="en-GB" dirty="0"/>
              <a:t>1. Build shared understanding and commitment that translate strategy into coordinated action.</a:t>
            </a:r>
          </a:p>
          <a:p>
            <a:r>
              <a:rPr lang="en-GB" dirty="0"/>
              <a:t>2. Differentiate compliance from genuine adoption and strengthen commitment to change.</a:t>
            </a:r>
          </a:p>
          <a:p>
            <a:endParaRPr lang="en-GB" dirty="0"/>
          </a:p>
          <a:p>
            <a:r>
              <a:rPr lang="en-GB" b="1" dirty="0"/>
              <a:t>HOW TO OPEN THE SECTION:</a:t>
            </a:r>
          </a:p>
          <a:p>
            <a:endParaRPr lang="en-GB" dirty="0"/>
          </a:p>
          <a:p>
            <a:r>
              <a:rPr lang="en-GB" b="1" dirty="0"/>
              <a:t>1. Say what the section does.</a:t>
            </a:r>
          </a:p>
          <a:p>
            <a:r>
              <a:rPr lang="en-GB" dirty="0"/>
              <a:t>Say: "Section 1 described alignment. This section shows why it is a strategic necessity."</a:t>
            </a:r>
          </a:p>
          <a:p>
            <a:r>
              <a:rPr lang="en-GB" dirty="0"/>
              <a:t>Section intent: leaders must understand why this is the mechanical conversion point of strategy. The section should create a shift from intellectual understanding to operational conviction.</a:t>
            </a:r>
          </a:p>
          <a:p>
            <a:endParaRPr lang="en-GB" dirty="0"/>
          </a:p>
          <a:p>
            <a:r>
              <a:rPr lang="en-GB" b="1" dirty="0"/>
              <a:t>2. Place the unit in the process.</a:t>
            </a:r>
          </a:p>
          <a:p>
            <a:r>
              <a:rPr lang="en-GB" dirty="0"/>
              <a:t>Say: "Within the Strategy2Results® process, Aligning Heart &amp; Mind functions as the ignition point of execution: the moment where strategy transitions from a document describing intent into a system capable of producing movement."</a:t>
            </a:r>
          </a:p>
          <a:p>
            <a:endParaRPr lang="en-GB" dirty="0"/>
          </a:p>
          <a:p>
            <a:r>
              <a:rPr lang="en-GB" b="1" dirty="0"/>
              <a:t>3. Anchor on the energy analogy.</a:t>
            </a:r>
          </a:p>
          <a:p>
            <a:r>
              <a:rPr lang="en-GB" dirty="0"/>
              <a:t>The Potential vs. Kinetic Energy logic is highly effective with CXO-level audiences. Engineers, finance leaders, and operators all recognise this from their domain.</a:t>
            </a:r>
          </a:p>
          <a:p>
            <a:r>
              <a:rPr lang="en-GB" dirty="0"/>
              <a:t>Use it as an anchor before moving to the compliance and commitment distinction.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2.1 — THE IGNITION POINT OF STRATEGY EXECUTION (FOUNDATION LOGIC)</a:t>
            </a:r>
          </a:p>
          <a:p>
            <a:endParaRPr lang="en-GB" dirty="0"/>
          </a:p>
          <a:p>
            <a:r>
              <a:rPr lang="en-GB" b="1" dirty="0"/>
              <a:t>HOW TO TEACH IT:</a:t>
            </a:r>
          </a:p>
          <a:p>
            <a:endParaRPr lang="en-GB" dirty="0"/>
          </a:p>
          <a:p>
            <a:r>
              <a:rPr lang="en-GB" b="1" dirty="0"/>
              <a:t>1. Read the statement on the slide aloud.</a:t>
            </a:r>
          </a:p>
          <a:p>
            <a:r>
              <a:rPr lang="en-GB" dirty="0"/>
              <a:t>“This matters to me. I am willing to invest energy in making this succeed.”</a:t>
            </a:r>
          </a:p>
          <a:p>
            <a:endParaRPr lang="en-GB" dirty="0"/>
          </a:p>
          <a:p>
            <a:r>
              <a:rPr lang="en-GB" b="1" dirty="0"/>
              <a:t>2. Teach the energy logic.</a:t>
            </a:r>
          </a:p>
          <a:p>
            <a:r>
              <a:rPr lang="en-GB" dirty="0"/>
              <a:t>Say: "A strategy document contains strategic potential.</a:t>
            </a:r>
          </a:p>
          <a:p>
            <a:r>
              <a:rPr lang="en-GB" dirty="0"/>
              <a:t>It articulates direction, ambition, and possibility.</a:t>
            </a:r>
          </a:p>
          <a:p>
            <a:r>
              <a:rPr lang="en-GB" dirty="0"/>
              <a:t>Potential by definition represents energy at rest.</a:t>
            </a:r>
          </a:p>
          <a:p>
            <a:r>
              <a:rPr lang="en-GB" dirty="0"/>
              <a:t>For strategic potential to convert into kinetic energy, which is movement, execution, and results, human action must occur.</a:t>
            </a:r>
          </a:p>
          <a:p>
            <a:r>
              <a:rPr lang="en-GB" dirty="0"/>
              <a:t>No system executes itself."</a:t>
            </a:r>
          </a:p>
          <a:p>
            <a:endParaRPr lang="en-GB" dirty="0"/>
          </a:p>
          <a:p>
            <a:r>
              <a:rPr lang="en-GB" b="1" dirty="0"/>
              <a:t>3. Name the ignition point.</a:t>
            </a:r>
          </a:p>
          <a:p>
            <a:r>
              <a:rPr lang="en-GB" dirty="0"/>
              <a:t>Say: "Execution begins the moment an individual decides: ‘This matters to me.</a:t>
            </a:r>
          </a:p>
          <a:p>
            <a:r>
              <a:rPr lang="en-GB" dirty="0"/>
              <a:t>I am willing to invest energy in making this succeed.’ Until that moment occurs across the organisation, strategy remains theoretical.</a:t>
            </a:r>
          </a:p>
          <a:p>
            <a:r>
              <a:rPr lang="en-GB" dirty="0"/>
              <a:t>Aligning Heart &amp; Mind activates the human energy required to convert intention into action.</a:t>
            </a:r>
          </a:p>
          <a:p>
            <a:r>
              <a:rPr lang="en-GB" dirty="0"/>
              <a:t>This is the ignition point."</a:t>
            </a:r>
          </a:p>
          <a:p>
            <a:r>
              <a:rPr lang="en-GB" dirty="0"/>
              <a:t>On the metaphor: an ignition point is where fuel becomes power. A strategy document is stored potential. The moment a person decides “This matters to me” is when kinetic energy begins. Without that moment, the fuel stays fuel.</a:t>
            </a:r>
          </a:p>
          <a:p>
            <a:endParaRPr lang="en-GB" dirty="0"/>
          </a:p>
          <a:p>
            <a:r>
              <a:rPr lang="en-GB" dirty="0"/>
              <a:t>Deepen, say: "Strategic paralysis often comes from the gap between knowing what needs to happen and committing to do it.</a:t>
            </a:r>
          </a:p>
          <a:p>
            <a:r>
              <a:rPr lang="en-GB" dirty="0"/>
              <a:t>If the strategy has been articulated and nothing has moved in a quarter, the bottleneck is the commitment."</a:t>
            </a:r>
          </a:p>
          <a:p>
            <a:r>
              <a:rPr lang="en-GB" dirty="0"/>
              <a:t>(Insight: Knowing and committing. Source: Journal, 13 May 2026 — Professional Insights: Strategy)</a:t>
            </a:r>
          </a:p>
          <a:p>
            <a:endParaRPr lang="en-GB" dirty="0"/>
          </a:p>
          <a:p>
            <a:r>
              <a:rPr lang="en-GB" b="1" dirty="0"/>
              <a:t>4. Give the payoff.</a:t>
            </a:r>
          </a:p>
          <a:p>
            <a:r>
              <a:rPr lang="en-GB" dirty="0"/>
              <a:t>Say: "Without this ignition point, strategy remains defined but not delivered.</a:t>
            </a:r>
          </a:p>
          <a:p>
            <a:r>
              <a:rPr lang="en-GB" dirty="0"/>
              <a:t>With it, the organisation shifts from supervised effort to self-driven momentum.</a:t>
            </a:r>
          </a:p>
          <a:p>
            <a:r>
              <a:rPr lang="en-GB" dirty="0"/>
              <a:t>That is the strategic payoff that makes alignment the highest-leverage leadership intervention available."</a:t>
            </a:r>
          </a:p>
          <a:p>
            <a:endParaRPr lang="en-GB" dirty="0"/>
          </a:p>
          <a:p>
            <a:r>
              <a:rPr lang="en-GB" b="1" dirty="0"/>
              <a:t>5. Open the discussion.</a:t>
            </a:r>
          </a:p>
          <a:p>
            <a:r>
              <a:rPr lang="en-GB" dirty="0"/>
              <a:t>Ask: "Think of a time when you personally chose to go beyond compliance and genuinely committed to a strategic direction. What caused that shift? What would it take to create that same shift in your team?"</a:t>
            </a:r>
          </a:p>
          <a:p>
            <a:endParaRPr lang="en-GB" dirty="0"/>
          </a:p>
          <a:p>
            <a:r>
              <a:rPr lang="en-GB" b="1" dirty="0"/>
              <a:t>ON THE PORTAL, AFTER THE TEACHING:</a:t>
            </a:r>
          </a:p>
          <a:p>
            <a:r>
              <a:rPr lang="en-GB" dirty="0"/>
              <a:t>Participants write the reflection of 2.1 in the participant file:</a:t>
            </a:r>
          </a:p>
          <a:p>
            <a:r>
              <a:rPr lang="en-GB" dirty="0"/>
              <a:t>"Think of a time when you personally chose to go beyond compliance and genuinely committed to a strategic direction. What caused that shift? What would it take to create that same shift in your team?"</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2.2 — THREE FOUNDATIONAL LOGICS (WHY IT MATTERS OPERATIONALLY)</a:t>
            </a:r>
          </a:p>
          <a:p>
            <a:endParaRPr lang="en-GB" dirty="0"/>
          </a:p>
          <a:p>
            <a:r>
              <a:rPr lang="en-GB" b="1" dirty="0"/>
              <a:t>HOW TO TEACH IT:</a:t>
            </a:r>
          </a:p>
          <a:p>
            <a:endParaRPr lang="en-GB" dirty="0"/>
          </a:p>
          <a:p>
            <a:r>
              <a:rPr lang="en-GB" b="1" dirty="0"/>
              <a:t>1. Teach Logic I: Potential vs. Kinetic Energy.</a:t>
            </a:r>
          </a:p>
          <a:p>
            <a:r>
              <a:rPr lang="en-GB" dirty="0"/>
              <a:t>Say: "A strategy document is strategic potential: energy at rest.</a:t>
            </a:r>
          </a:p>
          <a:p>
            <a:r>
              <a:rPr lang="en-GB" dirty="0"/>
              <a:t>For it to become kinetic energy, a human decision must activate it.</a:t>
            </a:r>
          </a:p>
          <a:p>
            <a:r>
              <a:rPr lang="en-GB" dirty="0"/>
              <a:t>The alignment of heart and mind is precisely the conversion mechanism.</a:t>
            </a:r>
          </a:p>
          <a:p>
            <a:r>
              <a:rPr lang="en-GB" dirty="0"/>
              <a:t>Every day that decision is not made is a day strategic potential sits unused.</a:t>
            </a:r>
          </a:p>
          <a:p>
            <a:r>
              <a:rPr lang="en-GB" dirty="0"/>
              <a:t>The organisation does not move until people decide to move it.</a:t>
            </a:r>
          </a:p>
          <a:p>
            <a:r>
              <a:rPr lang="en-GB" dirty="0"/>
              <a:t>Leadership cannot shortcut this decision.</a:t>
            </a:r>
          </a:p>
          <a:p>
            <a:r>
              <a:rPr lang="en-GB" dirty="0"/>
              <a:t>It can only create the conditions for it."</a:t>
            </a:r>
          </a:p>
          <a:p>
            <a:endParaRPr lang="en-GB" dirty="0"/>
          </a:p>
          <a:p>
            <a:r>
              <a:rPr lang="en-GB" b="1" dirty="0"/>
              <a:t>2. Teach Logic II: Compliance vs. Commitment.</a:t>
            </a:r>
          </a:p>
          <a:p>
            <a:r>
              <a:rPr lang="en-GB" dirty="0"/>
              <a:t>Compliance — Mind Only</a:t>
            </a:r>
          </a:p>
          <a:p>
            <a:r>
              <a:rPr lang="en-GB" dirty="0"/>
              <a:t>Say: "People act because authority requires it, rules enforce it, or systems monitor it.</a:t>
            </a:r>
          </a:p>
          <a:p>
            <a:r>
              <a:rPr lang="en-GB" dirty="0"/>
              <a:t>It produces visible output short-term.</a:t>
            </a:r>
          </a:p>
          <a:p>
            <a:r>
              <a:rPr lang="en-GB" dirty="0"/>
              <a:t>It requires continuous supervision.</a:t>
            </a:r>
          </a:p>
          <a:p>
            <a:r>
              <a:rPr lang="en-GB" dirty="0"/>
              <a:t>It creates hidden costs: leadership time consumed by follow-ups, teams dependent on instruction, decision-making that slows as control increases.</a:t>
            </a:r>
          </a:p>
          <a:p>
            <a:r>
              <a:rPr lang="en-GB" dirty="0"/>
              <a:t>It is mechanical and brittle."</a:t>
            </a:r>
          </a:p>
          <a:p>
            <a:endParaRPr lang="en-GB" dirty="0"/>
          </a:p>
          <a:p>
            <a:r>
              <a:rPr lang="en-GB" dirty="0"/>
              <a:t>Commitment — Mind &amp; Heart</a:t>
            </a:r>
          </a:p>
          <a:p>
            <a:r>
              <a:rPr lang="en-GB" dirty="0"/>
              <a:t>Say: "People act because they understand strategic intent, believe the direction is meaningful, and feel personal ownership.</a:t>
            </a:r>
          </a:p>
          <a:p>
            <a:r>
              <a:rPr lang="en-GB" dirty="0"/>
              <a:t>It generates behaviours compliance cannot sustain: discretionary effort, adaptive problem-solving, resilience when conditions change.</a:t>
            </a:r>
          </a:p>
          <a:p>
            <a:r>
              <a:rPr lang="en-GB" dirty="0"/>
              <a:t>Execution continues even when leaders are not present."</a:t>
            </a:r>
          </a:p>
          <a:p>
            <a:endParaRPr lang="en-GB" dirty="0"/>
          </a:p>
          <a:p>
            <a:r>
              <a:rPr lang="en-GB" dirty="0"/>
              <a:t>Logic II typically generates the highest impact with CXO audiences. Leaders recognise compliance-driven execution immediately: they have managed it and been frustrated by it.</a:t>
            </a:r>
          </a:p>
          <a:p>
            <a:r>
              <a:rPr lang="en-GB" dirty="0"/>
              <a:t>Ask: "How much of your leadership time is currently spent enforcing compliance?"</a:t>
            </a:r>
          </a:p>
          <a:p>
            <a:r>
              <a:rPr lang="en-GB" dirty="0"/>
              <a:t>The honest answer is usually sobering.</a:t>
            </a:r>
          </a:p>
          <a:p>
            <a:endParaRPr lang="en-GB" dirty="0"/>
          </a:p>
          <a:p>
            <a:r>
              <a:rPr lang="en-GB" dirty="0"/>
              <a:t>Deepen, say: "A leader can manage someone’s conduct without ever securing their conviction.</a:t>
            </a:r>
          </a:p>
          <a:p>
            <a:r>
              <a:rPr lang="en-GB" dirty="0"/>
              <a:t>Ask this about the people you are developing: do they understand why well enough to sustain it without me?</a:t>
            </a:r>
          </a:p>
          <a:p>
            <a:r>
              <a:rPr lang="en-GB" dirty="0"/>
              <a:t>Dependence on the leader’s presence is managed behaviour."</a:t>
            </a:r>
          </a:p>
          <a:p>
            <a:r>
              <a:rPr lang="en-GB" dirty="0"/>
              <a:t>(Insight: Conduct and conviction. Source: Journal, 24 June 2026 — Professional Insights: Leadership)</a:t>
            </a:r>
          </a:p>
          <a:p>
            <a:endParaRPr lang="en-GB" dirty="0"/>
          </a:p>
          <a:p>
            <a:r>
              <a:rPr lang="en-GB" b="1" dirty="0"/>
              <a:t>3. Teach Logic III: The Strategic Payoff of Alignment.</a:t>
            </a:r>
          </a:p>
          <a:p>
            <a:r>
              <a:rPr lang="en-GB" dirty="0"/>
              <a:t>Say: "When both cognition and emotion are aligned: people act with ownership, coordination improves across functions, and leaders spend less time correcting and more time advancing strategy.</a:t>
            </a:r>
          </a:p>
          <a:p>
            <a:r>
              <a:rPr lang="en-GB" dirty="0"/>
              <a:t>This shift reduces rework, lowers escalation, and preserves leadership capacity for decisions that truly require executive attention."</a:t>
            </a:r>
          </a:p>
          <a:p>
            <a:endParaRPr lang="en-GB" dirty="0"/>
          </a:p>
          <a:p>
            <a:r>
              <a:rPr lang="en-GB" b="1" dirty="0"/>
              <a:t>4. Land the line at the foot of the slide.</a:t>
            </a:r>
          </a:p>
          <a:p>
            <a:r>
              <a:rPr lang="en-GB" dirty="0"/>
              <a:t>Read it in full: "Aligning Heart &amp; Mind is the mechanical conversion point where strategic potential becomes strategic movement."</a:t>
            </a:r>
          </a:p>
          <a:p>
            <a:endParaRPr lang="en-GB" dirty="0"/>
          </a:p>
          <a:p>
            <a:r>
              <a:rPr lang="en-GB" b="1" dirty="0"/>
              <a:t>ON THE PORTAL, AFTER THE TEACHING:</a:t>
            </a:r>
          </a:p>
          <a:p>
            <a:r>
              <a:rPr lang="en-GB" dirty="0"/>
              <a:t>Participants write the reflection of 2.2 in the participant file:</a:t>
            </a:r>
          </a:p>
          <a:p>
            <a:r>
              <a:rPr lang="en-GB" dirty="0"/>
              <a:t>"How much of your current leadership time is spent enforcing compliance? What is the opportunity cost of this?"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2.3 — WHY CHANGE MUST BE LED: INSTALLED AND ADOPTED (THE VALUE LOGIC)</a:t>
            </a:r>
          </a:p>
          <a:p>
            <a:endParaRPr lang="en-GB" dirty="0"/>
          </a:p>
          <a:p>
            <a:r>
              <a:rPr lang="en-GB" b="1" dirty="0"/>
              <a:t>HOW TO TEACH IT:</a:t>
            </a:r>
          </a:p>
          <a:p>
            <a:endParaRPr lang="en-GB" dirty="0"/>
          </a:p>
          <a:p>
            <a:r>
              <a:rPr lang="en-GB" b="1" dirty="0"/>
              <a:t>1. Link to 2.2.</a:t>
            </a:r>
          </a:p>
          <a:p>
            <a:r>
              <a:rPr lang="en-GB" dirty="0"/>
              <a:t>Say: "2.2 described a strategy as potential energy that a human decision converts into movement.</a:t>
            </a:r>
          </a:p>
          <a:p>
            <a:r>
              <a:rPr lang="en-GB" dirty="0"/>
              <a:t>A change follows the same logic.</a:t>
            </a:r>
          </a:p>
          <a:p>
            <a:r>
              <a:rPr lang="en-GB" dirty="0"/>
              <a:t>On the day it is installed, its value is still potential.</a:t>
            </a:r>
          </a:p>
          <a:p>
            <a:r>
              <a:rPr lang="en-GB" dirty="0"/>
              <a:t>The value is earned later, when people work the new way without being watched."</a:t>
            </a:r>
          </a:p>
          <a:p>
            <a:endParaRPr lang="en-GB" dirty="0"/>
          </a:p>
          <a:p>
            <a:r>
              <a:rPr lang="en-GB" b="1" dirty="0"/>
              <a:t>2. Teach Installed.</a:t>
            </a:r>
          </a:p>
          <a:p>
            <a:r>
              <a:rPr lang="en-GB" dirty="0"/>
              <a:t>Say: "Installed means the new system, structure or KPI is in place, and people have been told.</a:t>
            </a:r>
          </a:p>
          <a:p>
            <a:r>
              <a:rPr lang="en-GB" dirty="0"/>
              <a:t>Installation is a project outcome.</a:t>
            </a:r>
          </a:p>
          <a:p>
            <a:r>
              <a:rPr lang="en-GB" dirty="0"/>
              <a:t>It can be planned, funded and delivered on a date, and it is easy to report as success."</a:t>
            </a:r>
          </a:p>
          <a:p>
            <a:r>
              <a:rPr lang="en-GB" dirty="0"/>
              <a:t>What you see: the launch is complete, the training register is signed and the dashboard is live.</a:t>
            </a:r>
          </a:p>
          <a:p>
            <a:r>
              <a:rPr lang="en-GB" dirty="0"/>
              <a:t>What it yields: cost. The organisation has paid for the change and is still working the old way.</a:t>
            </a:r>
          </a:p>
          <a:p>
            <a:endParaRPr lang="en-GB" dirty="0"/>
          </a:p>
          <a:p>
            <a:r>
              <a:rPr lang="en-GB" b="1" dirty="0"/>
              <a:t>3. Teach Adopted.</a:t>
            </a:r>
          </a:p>
          <a:p>
            <a:r>
              <a:rPr lang="en-GB" dirty="0"/>
              <a:t>Say: "Adopted means people work the new way without supervision.</a:t>
            </a:r>
          </a:p>
          <a:p>
            <a:r>
              <a:rPr lang="en-GB" dirty="0"/>
              <a:t>The change has passed all four checks.</a:t>
            </a:r>
          </a:p>
          <a:p>
            <a:r>
              <a:rPr lang="en-GB" dirty="0"/>
              <a:t>Adoption is a behavioural outcome.</a:t>
            </a:r>
          </a:p>
          <a:p>
            <a:r>
              <a:rPr lang="en-GB" dirty="0"/>
              <a:t>It arrives group by group, at the pace of each group’s slowest check, and no launch date can declare it."</a:t>
            </a:r>
          </a:p>
          <a:p>
            <a:r>
              <a:rPr lang="en-GB" dirty="0"/>
              <a:t>What you see: the new practice holds on a busy day, people correct each other, and the old workaround has gone.</a:t>
            </a:r>
          </a:p>
          <a:p>
            <a:r>
              <a:rPr lang="en-GB" dirty="0"/>
              <a:t>What it yields: value. The benefit the strategy counted on is being earned.</a:t>
            </a:r>
          </a:p>
          <a:p>
            <a:endParaRPr lang="en-GB" dirty="0"/>
          </a:p>
          <a:p>
            <a:r>
              <a:rPr lang="en-GB" dirty="0"/>
              <a:t>Deepen, say: "Organisations often assume that completing a restructure, implementing a system or publishing a strategy means transformation has occurred.</a:t>
            </a:r>
          </a:p>
          <a:p>
            <a:r>
              <a:rPr lang="en-GB" dirty="0"/>
              <a:t>Sustainable results require people to understand what the change means, why it matters and what they must now do differently."</a:t>
            </a:r>
          </a:p>
          <a:p>
            <a:r>
              <a:rPr lang="en-GB" dirty="0"/>
              <a:t>(Insight: Published and understood. Source: Journal, 9 August 2026 — Professional Insights: Strategy)</a:t>
            </a:r>
          </a:p>
          <a:p>
            <a:endParaRPr lang="en-GB" dirty="0"/>
          </a:p>
          <a:p>
            <a:r>
              <a:rPr lang="en-GB" b="1" dirty="0"/>
              <a:t>4. Teach the adoption gap.</a:t>
            </a:r>
          </a:p>
          <a:p>
            <a:r>
              <a:rPr lang="en-GB" dirty="0"/>
              <a:t>Say: "The time between installed and adopted is the adoption gap.</a:t>
            </a:r>
          </a:p>
          <a:p>
            <a:r>
              <a:rPr lang="en-GB" dirty="0"/>
              <a:t>While it lasts, the organisation runs two practices at once: the new one it has built and the old one people still use.</a:t>
            </a:r>
          </a:p>
          <a:p>
            <a:r>
              <a:rPr lang="en-GB" dirty="0"/>
              <a:t>Supervision rises, because compliance has to be checked.</a:t>
            </a:r>
          </a:p>
          <a:p>
            <a:r>
              <a:rPr lang="en-GB" dirty="0"/>
              <a:t>The benefits counted when the strategy was approved remain unearned."</a:t>
            </a:r>
          </a:p>
          <a:p>
            <a:r>
              <a:rPr lang="en-GB" dirty="0"/>
              <a:t>Say: "The gap also has a cost that outlasts the change itself.</a:t>
            </a:r>
          </a:p>
          <a:p>
            <a:r>
              <a:rPr lang="en-GB" dirty="0"/>
              <a:t>Every change that is installed and left unadopted teaches the organisation that a change can be waited out.</a:t>
            </a:r>
          </a:p>
          <a:p>
            <a:r>
              <a:rPr lang="en-GB" dirty="0"/>
              <a:t>The next change starts with less belief, and Heart is harder to pass."</a:t>
            </a:r>
          </a:p>
          <a:p>
            <a:r>
              <a:rPr lang="en-GB" dirty="0"/>
              <a:t>Say: "The gap closes one check at a time.</a:t>
            </a:r>
          </a:p>
          <a:p>
            <a:r>
              <a:rPr lang="en-GB" dirty="0"/>
              <a:t>Compliance can install a change.</a:t>
            </a:r>
          </a:p>
          <a:p>
            <a:r>
              <a:rPr lang="en-GB" dirty="0"/>
              <a:t>Commitment is what carries it through to Habit, and adoption holds when leaders notice and reinforce the new practice."</a:t>
            </a:r>
          </a:p>
          <a:p>
            <a:endParaRPr lang="en-GB" dirty="0"/>
          </a:p>
          <a:p>
            <a:r>
              <a:rPr lang="en-GB" b="1" dirty="0"/>
              <a:t>5. Give the three signals and the data.</a:t>
            </a:r>
          </a:p>
          <a:p>
            <a:r>
              <a:rPr lang="en-GB" dirty="0"/>
              <a:t>Three signals a change is installed and awaiting adoption:</a:t>
            </a:r>
          </a:p>
          <a:p>
            <a:r>
              <a:rPr lang="en-GB" dirty="0"/>
              <a:t>1. Use of the new practice falls when the leader is absent.</a:t>
            </a:r>
          </a:p>
          <a:p>
            <a:r>
              <a:rPr lang="en-GB" dirty="0"/>
              <a:t>2. Reports are complete and the result has not moved.</a:t>
            </a:r>
          </a:p>
          <a:p>
            <a:r>
              <a:rPr lang="en-GB" dirty="0"/>
              <a:t>3. People call it “the new system” and describe their own work as unchanged.</a:t>
            </a:r>
          </a:p>
          <a:p>
            <a:endParaRPr lang="en-GB" dirty="0"/>
          </a:p>
          <a:p>
            <a:r>
              <a:rPr lang="en-GB" dirty="0"/>
              <a:t>Data: 81% of those who planned for reinforcement met or exceeded their project objectives (Prosci, Best Practices in Change Management, 12th edition).</a:t>
            </a:r>
          </a:p>
          <a:p>
            <a:endParaRPr lang="en-GB" dirty="0"/>
          </a:p>
          <a:p>
            <a:r>
              <a:rPr lang="en-GB" b="1" dirty="0"/>
              <a:t>6. Open the discussion.</a:t>
            </a:r>
          </a:p>
          <a:p>
            <a:r>
              <a:rPr lang="en-GB" dirty="0"/>
              <a:t>Key distinction: installation is a project milestone and adoption is a behaviour. Ask which of the two the leadership team currently reports on.</a:t>
            </a:r>
          </a:p>
          <a:p>
            <a:r>
              <a:rPr lang="en-GB" dirty="0"/>
              <a:t>Ask: "Name one change that is installed and still awaiting adoption. What has the wait cost in rework, supervision or lost benefit?"</a:t>
            </a:r>
          </a:p>
          <a:p>
            <a:r>
              <a:rPr lang="en-GB" dirty="0"/>
              <a:t>Ask for a figure, even a rough one.</a:t>
            </a:r>
          </a:p>
          <a:p>
            <a:r>
              <a:rPr lang="en-GB" dirty="0"/>
              <a:t>Watch for: the gap blamed on the people affected. Ask which check failed, and whose job that check was.</a:t>
            </a:r>
          </a:p>
          <a:p>
            <a:endParaRPr lang="en-GB" dirty="0"/>
          </a:p>
          <a:p>
            <a:r>
              <a:rPr lang="en-GB" b="1" dirty="0"/>
              <a:t>ON THE PORTAL, AFTER THE TEACHING:</a:t>
            </a:r>
          </a:p>
          <a:p>
            <a:r>
              <a:rPr lang="en-GB" dirty="0"/>
              <a:t>Participants write the reflection of 2.3 in the participant file:</a:t>
            </a:r>
          </a:p>
          <a:p>
            <a:r>
              <a:rPr lang="en-GB" dirty="0"/>
              <a:t>"Name one change in your organisation that is installed and still awaiting adoption. Which check did it fail: Mind, Heart, Hands or Habit? What has the adoption gap cost so far?"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b="1" dirty="0"/>
              <a:t>SECTION 2 REFLECTIONS</a:t>
            </a:r>
          </a:p>
          <a:p>
            <a:endParaRPr lang="en-GB" dirty="0"/>
          </a:p>
          <a:p>
            <a:r>
              <a:rPr lang="en-GB" b="1" dirty="0"/>
              <a:t>HOW TO USE THIS SLIDE:</a:t>
            </a:r>
          </a:p>
          <a:p>
            <a:endParaRPr lang="en-GB" dirty="0"/>
          </a:p>
          <a:p>
            <a:r>
              <a:rPr lang="en-GB" b="1" dirty="0"/>
              <a:t>1. Show the slide and read the prompts aloud.</a:t>
            </a:r>
          </a:p>
          <a:p>
            <a:r>
              <a:rPr lang="en-GB" dirty="0"/>
              <a:t>2.1 Reflection: "Think of a time when you personally chose to go beyond compliance and genuinely committed to a strategic direction. What caused that shift? What would it take to create that same shift in your team?"</a:t>
            </a:r>
          </a:p>
          <a:p>
            <a:endParaRPr lang="en-GB" dirty="0"/>
          </a:p>
          <a:p>
            <a:r>
              <a:rPr lang="en-GB" dirty="0"/>
              <a:t>2.2 Reflection: "How much of your current leadership time is spent enforcing compliance? What is the opportunity cost of this?"</a:t>
            </a:r>
          </a:p>
          <a:p>
            <a:endParaRPr lang="en-GB" dirty="0"/>
          </a:p>
          <a:p>
            <a:r>
              <a:rPr lang="en-GB" dirty="0"/>
              <a:t>2.3 Reflection — Installed and adopted: "Name one change in your organisation that is installed and still awaiting adoption. Which check did it fail: Mind, Heart, Hands or Habit? What has the adoption gap cost so far?"</a:t>
            </a:r>
          </a:p>
          <a:p>
            <a:endParaRPr lang="en-GB" dirty="0"/>
          </a:p>
          <a:p>
            <a:r>
              <a:rPr lang="en-GB" b="1" dirty="0"/>
              <a:t>2. Say what the reflections are for.</a:t>
            </a:r>
          </a:p>
          <a:p>
            <a:r>
              <a:rPr lang="en-GB" dirty="0"/>
              <a:t>Point learners to the portal section that they will be required to complete with as much depth as possible.</a:t>
            </a:r>
          </a:p>
          <a:p>
            <a:r>
              <a:rPr lang="en-GB" dirty="0"/>
              <a:t>The reflections build the learning portfolio they receive at the end of the programme.</a:t>
            </a:r>
          </a:p>
          <a:p>
            <a:endParaRPr lang="en-GB" dirty="0"/>
          </a:p>
          <a:p>
            <a:r>
              <a:rPr lang="en-GB" dirty="0"/>
              <a:t>Say: "You write these reflections on the portal after the teaching, with as much depth as you can."</a:t>
            </a:r>
          </a:p>
          <a:p>
            <a:endParaRPr lang="en-GB" dirty="0"/>
          </a:p>
          <a:p>
            <a:r>
              <a:rPr lang="en-GB" b="1" dirty="0"/>
              <a:t>3. Set the standard.</a:t>
            </a:r>
          </a:p>
          <a:p>
            <a:r>
              <a:rPr lang="en-GB" dirty="0"/>
              <a:t>Say: "For 2.1, name the moment and what caused it.</a:t>
            </a:r>
          </a:p>
          <a:p>
            <a:r>
              <a:rPr lang="en-GB" dirty="0"/>
              <a:t>For 2.2, give a share of your week and what it displaces.</a:t>
            </a:r>
          </a:p>
          <a:p>
            <a:r>
              <a:rPr lang="en-GB" dirty="0"/>
              <a:t>For 2.3, name the change, the check it failed and a figure for the cost."</a:t>
            </a:r>
          </a:p>
          <a:p>
            <a:r>
              <a:rPr lang="en-GB" dirty="0"/>
              <a:t>Watch for: a cost stated as a feeling. Ask: "What did it cost in rework, supervision or lost benefit?"</a:t>
            </a:r>
          </a:p>
          <a:p>
            <a:endParaRPr lang="en-GB" dirty="0"/>
          </a:p>
          <a:p>
            <a:r>
              <a:rPr lang="en-GB" b="1" dirty="0"/>
              <a:t>4. Bridge to Section 3.</a:t>
            </a:r>
          </a:p>
          <a:p>
            <a:r>
              <a:rPr lang="en-GB" dirty="0"/>
              <a:t>Say: "We know why alignment decides execution. Section 3 asks where in your organisation it is most at risk."</a:t>
            </a:r>
          </a:p>
          <a:p>
            <a:endParaRPr lang="en-GB" dirty="0"/>
          </a:p>
          <a:p>
            <a:r>
              <a:rPr lang="en-GB" b="1" dirty="0"/>
              <a:t>ON THE PORTAL, AFTER THE TEACHING:</a:t>
            </a:r>
          </a:p>
          <a:p>
            <a:r>
              <a:rPr lang="en-GB" dirty="0"/>
              <a:t>Participants write these three reflections in Section 2 of the participant file, at the foot of parts 2.1, 2.2 and 2.3.</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SECTION 3 · EXTRAPOLATING — WHERE</a:t>
            </a:r>
          </a:p>
          <a:p>
            <a:endParaRPr lang="en-GB" dirty="0"/>
          </a:p>
          <a:p>
            <a:r>
              <a:rPr lang="en-GB" b="1" dirty="0"/>
              <a:t>HOW THIS SECTION RUNS:</a:t>
            </a:r>
          </a:p>
          <a:p>
            <a:r>
              <a:rPr lang="en-GB" dirty="0"/>
              <a:t>1. 3.1: the OCEAVL Assessment and its seven dimensions.</a:t>
            </a:r>
          </a:p>
          <a:p>
            <a:r>
              <a:rPr lang="en-GB" dirty="0"/>
              <a:t>2. The Section 3 Reflections slide: the reflection participants write on the portal after the teaching.</a:t>
            </a:r>
          </a:p>
          <a:p>
            <a:endParaRPr lang="en-GB" dirty="0"/>
          </a:p>
          <a:p>
            <a:r>
              <a:rPr lang="en-GB" b="1" dirty="0"/>
              <a:t>SECTION LEARNING OUTCOMES:</a:t>
            </a:r>
          </a:p>
          <a:p>
            <a:r>
              <a:rPr lang="en-GB" dirty="0"/>
              <a:t>1. Detect emerging misalignment across interpretation, emotional climate and behaviour and respond early.</a:t>
            </a:r>
          </a:p>
          <a:p>
            <a:r>
              <a:rPr lang="en-GB" dirty="0"/>
              <a:t>2. Assess change readiness and tailor leadership responses to adoption barriers.</a:t>
            </a:r>
          </a:p>
          <a:p>
            <a:endParaRPr lang="en-GB" dirty="0"/>
          </a:p>
          <a:p>
            <a:r>
              <a:rPr lang="en-GB" b="1" dirty="0"/>
              <a:t>HOW TO OPEN THE SECTION:</a:t>
            </a:r>
          </a:p>
          <a:p>
            <a:endParaRPr lang="en-GB" dirty="0"/>
          </a:p>
          <a:p>
            <a:r>
              <a:rPr lang="en-GB" b="1" dirty="0"/>
              <a:t>1. Say what the section does.</a:t>
            </a:r>
          </a:p>
          <a:p>
            <a:r>
              <a:rPr lang="en-GB" dirty="0"/>
              <a:t>Say: "This section makes alignment specific to you and to your team.</a:t>
            </a:r>
          </a:p>
          <a:p>
            <a:r>
              <a:rPr lang="en-GB" dirty="0"/>
              <a:t>You finish it knowing the behavioural profile you bring to the strategy.</a:t>
            </a:r>
          </a:p>
          <a:p>
            <a:r>
              <a:rPr lang="en-GB" dirty="0"/>
              <a:t>Your team then sees the profile it brings together."</a:t>
            </a:r>
          </a:p>
          <a:p>
            <a:endParaRPr lang="en-GB" dirty="0"/>
          </a:p>
          <a:p>
            <a:r>
              <a:rPr lang="en-GB" b="1" dirty="0"/>
              <a:t>2. Say how the assessment runs.</a:t>
            </a:r>
          </a:p>
          <a:p>
            <a:r>
              <a:rPr lang="en-GB" dirty="0"/>
              <a:t>Say: "OCEAVL is a personal assessment. Each of you completes it alone, on your own page, after the teaching. No one states a score to the group."</a:t>
            </a:r>
          </a:p>
          <a:p>
            <a:r>
              <a:rPr lang="en-GB" dirty="0"/>
              <a:t>The team’s profile appears in the team’s Capstone Blueprint once every member has submitted.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3.1 — THE OCEAVL ASSESSMENT: PERSONAL AND TEAM BEHAVIOURAL PROFILE (SEVEN DIMENSIONS) · THE SEVEN DIMENSIONS</a:t>
            </a:r>
          </a:p>
          <a:p>
            <a:endParaRPr lang="en-GB" dirty="0"/>
          </a:p>
          <a:p>
            <a:r>
              <a:rPr lang="en-GB" b="1" dirty="0"/>
              <a:t>HOW TO TEACH IT:</a:t>
            </a:r>
          </a:p>
          <a:p>
            <a:endParaRPr lang="en-GB" dirty="0"/>
          </a:p>
          <a:p>
            <a:r>
              <a:rPr lang="en-ZA" b="1" dirty="0"/>
              <a:t>Link The Assessment To Principle 3</a:t>
            </a:r>
            <a:endParaRPr lang="en-ZA" dirty="0"/>
          </a:p>
          <a:p>
            <a:r>
              <a:rPr lang="en-ZA" b="1" dirty="0"/>
              <a:t>Say:</a:t>
            </a:r>
          </a:p>
          <a:p>
            <a:r>
              <a:rPr lang="en-ZA" dirty="0"/>
              <a:t>“Principle 3 established that alignment must be designed.</a:t>
            </a:r>
          </a:p>
          <a:p>
            <a:r>
              <a:rPr lang="en-ZA" dirty="0"/>
              <a:t>One way to design alignment is to understand the human tendencies that shape how leaders read strategy, handle disagreement, make decisions and respond under pressure.</a:t>
            </a:r>
          </a:p>
          <a:p>
            <a:endParaRPr lang="en-ZA" dirty="0"/>
          </a:p>
          <a:p>
            <a:r>
              <a:rPr lang="en-ZA" dirty="0"/>
              <a:t>For this programme, we use the OCEAVL Assessment.</a:t>
            </a:r>
          </a:p>
          <a:p>
            <a:r>
              <a:rPr lang="en-ZA" dirty="0"/>
              <a:t>OCEAVL is adapted from the Big Five personality model. We use it here as a strategy execution tool.</a:t>
            </a:r>
          </a:p>
          <a:p>
            <a:endParaRPr lang="en-ZA" dirty="0"/>
          </a:p>
          <a:p>
            <a:r>
              <a:rPr lang="en-ZA" dirty="0"/>
              <a:t>The assessment surfaces seven psychological tendencies that may influence executive decision-making and team coherence.</a:t>
            </a:r>
          </a:p>
          <a:p>
            <a:r>
              <a:rPr lang="en-ZA" dirty="0"/>
              <a:t>It gives each leader a profile across seven dimensions. </a:t>
            </a:r>
          </a:p>
          <a:p>
            <a:r>
              <a:rPr lang="en-ZA" dirty="0"/>
              <a:t>For each dimension, the tool shows whether the tendency is expressed at a low, balanced or high level.</a:t>
            </a:r>
          </a:p>
          <a:p>
            <a:endParaRPr lang="en-ZA" dirty="0"/>
          </a:p>
          <a:p>
            <a:r>
              <a:rPr lang="en-ZA" dirty="0"/>
              <a:t>Each level then gives three things:</a:t>
            </a:r>
          </a:p>
          <a:p>
            <a:pPr marL="228600" lvl="0" indent="-228600">
              <a:buFont typeface="+mj-lt"/>
              <a:buAutoNum type="arabicPeriod"/>
            </a:pPr>
            <a:r>
              <a:rPr lang="en-ZA" dirty="0"/>
              <a:t>The risk this disposition may create for strategy execution.</a:t>
            </a:r>
          </a:p>
          <a:p>
            <a:pPr marL="228600" lvl="0" indent="-228600">
              <a:buFont typeface="+mj-lt"/>
              <a:buAutoNum type="arabicPeriod"/>
            </a:pPr>
            <a:r>
              <a:rPr lang="en-ZA" dirty="0"/>
              <a:t>The response required to manage the risk.</a:t>
            </a:r>
          </a:p>
          <a:p>
            <a:pPr marL="228600" lvl="0" indent="-228600">
              <a:buFont typeface="+mj-lt"/>
              <a:buAutoNum type="arabicPeriod"/>
            </a:pPr>
            <a:r>
              <a:rPr lang="en-ZA" dirty="0"/>
              <a:t>The routine that turns the response into repeated leadership practice.”</a:t>
            </a:r>
          </a:p>
          <a:p>
            <a:endParaRPr lang="en-ZA" dirty="0"/>
          </a:p>
          <a:p>
            <a:r>
              <a:rPr lang="en-ZA" dirty="0"/>
              <a:t>Then add:</a:t>
            </a:r>
          </a:p>
          <a:p>
            <a:r>
              <a:rPr lang="en-ZA" dirty="0"/>
              <a:t>“The value of the tool is not the score. The value is the insight. </a:t>
            </a:r>
          </a:p>
          <a:p>
            <a:r>
              <a:rPr lang="en-ZA" dirty="0"/>
              <a:t>It helps us see how our personal disposition may be helping or hurting alignment before the strategy reaches execution.”</a:t>
            </a:r>
          </a:p>
          <a:p>
            <a:endParaRPr lang="en-ZA" b="1" dirty="0"/>
          </a:p>
          <a:p>
            <a:r>
              <a:rPr lang="en-ZA" b="1" dirty="0"/>
              <a:t>Explain How To Read The Tool</a:t>
            </a:r>
            <a:endParaRPr lang="en-ZA" dirty="0"/>
          </a:p>
          <a:p>
            <a:r>
              <a:rPr lang="en-ZA" b="1" dirty="0"/>
              <a:t>Say:</a:t>
            </a:r>
          </a:p>
          <a:p>
            <a:r>
              <a:rPr lang="en-ZA" dirty="0"/>
              <a:t>“When you read your profile, read it as a map of how the team tends to respond.</a:t>
            </a:r>
          </a:p>
          <a:p>
            <a:r>
              <a:rPr lang="en-ZA" dirty="0"/>
              <a:t>The tool is asking four simple questions:</a:t>
            </a:r>
          </a:p>
          <a:p>
            <a:pPr marL="228600" lvl="0" indent="-228600">
              <a:buFont typeface="+mj-lt"/>
              <a:buAutoNum type="arabicPeriod"/>
            </a:pPr>
            <a:r>
              <a:rPr lang="en-ZA" dirty="0"/>
              <a:t>What tendency is showing up?</a:t>
            </a:r>
          </a:p>
          <a:p>
            <a:pPr marL="228600" lvl="0" indent="-228600">
              <a:buFont typeface="+mj-lt"/>
              <a:buAutoNum type="arabicPeriod"/>
            </a:pPr>
            <a:r>
              <a:rPr lang="en-ZA" dirty="0"/>
              <a:t>At what level is it showing up? Low, balanced or high</a:t>
            </a:r>
          </a:p>
          <a:p>
            <a:pPr marL="228600" lvl="0" indent="-228600">
              <a:buFont typeface="+mj-lt"/>
              <a:buAutoNum type="arabicPeriod"/>
            </a:pPr>
            <a:r>
              <a:rPr lang="en-ZA" dirty="0"/>
              <a:t>What risk could this create for strategy execution?</a:t>
            </a:r>
          </a:p>
          <a:p>
            <a:pPr marL="228600" lvl="0" indent="-228600">
              <a:buFont typeface="+mj-lt"/>
              <a:buAutoNum type="arabicPeriod"/>
            </a:pPr>
            <a:r>
              <a:rPr lang="en-ZA" dirty="0"/>
              <a:t>What routine can help us manage that risk?”</a:t>
            </a:r>
          </a:p>
          <a:p>
            <a:endParaRPr lang="en-ZA" dirty="0"/>
          </a:p>
          <a:p>
            <a:r>
              <a:rPr lang="en-ZA" b="1" dirty="0"/>
              <a:t>Then explain:</a:t>
            </a:r>
          </a:p>
          <a:p>
            <a:r>
              <a:rPr lang="en-ZA" dirty="0"/>
              <a:t>“A low level is not automatically bad. </a:t>
            </a:r>
          </a:p>
          <a:p>
            <a:r>
              <a:rPr lang="en-ZA" dirty="0"/>
              <a:t>A high level is not automatically good. </a:t>
            </a:r>
          </a:p>
          <a:p>
            <a:r>
              <a:rPr lang="en-ZA" dirty="0"/>
              <a:t>A balanced level is not automatically safe.</a:t>
            </a:r>
          </a:p>
          <a:p>
            <a:endParaRPr lang="en-ZA" dirty="0"/>
          </a:p>
          <a:p>
            <a:r>
              <a:rPr lang="en-ZA" dirty="0"/>
              <a:t>Every level has a contribution. Every level also has a possible risk.</a:t>
            </a:r>
          </a:p>
          <a:p>
            <a:r>
              <a:rPr lang="en-ZA" dirty="0"/>
              <a:t>The question is: what does this strategy require from us now?”</a:t>
            </a:r>
          </a:p>
          <a:p>
            <a:endParaRPr lang="en-ZA" b="1" dirty="0"/>
          </a:p>
          <a:p>
            <a:r>
              <a:rPr lang="en-ZA" b="1" dirty="0"/>
              <a:t>Say How Each Participant Completes It</a:t>
            </a:r>
            <a:endParaRPr lang="en-ZA" dirty="0"/>
          </a:p>
          <a:p>
            <a:r>
              <a:rPr lang="en-ZA" b="1" dirty="0"/>
              <a:t>Say:</a:t>
            </a:r>
          </a:p>
          <a:p>
            <a:r>
              <a:rPr lang="en-ZA" dirty="0"/>
              <a:t>“You will complete the assessment alone, on your own page.</a:t>
            </a:r>
          </a:p>
          <a:p>
            <a:r>
              <a:rPr lang="en-ZA" dirty="0"/>
              <a:t>You will score yourself from 1 to 5 on each of the seven dimensions.</a:t>
            </a:r>
          </a:p>
          <a:p>
            <a:r>
              <a:rPr lang="en-ZA" dirty="0"/>
              <a:t>After that, you will read your own profile. Your profile will show your level for each dimension, the possible risk, the response and the suggested routine.</a:t>
            </a:r>
          </a:p>
          <a:p>
            <a:r>
              <a:rPr lang="en-ZA" dirty="0"/>
              <a:t>You will then select </a:t>
            </a:r>
            <a:r>
              <a:rPr lang="en-ZA" b="1" dirty="0"/>
              <a:t>Submit to My Team’s Capstone</a:t>
            </a:r>
            <a:r>
              <a:rPr lang="en-ZA" dirty="0"/>
              <a:t>.”</a:t>
            </a:r>
          </a:p>
          <a:p>
            <a:endParaRPr lang="en-ZA" dirty="0"/>
          </a:p>
          <a:p>
            <a:r>
              <a:rPr lang="en-ZA" b="1" dirty="0"/>
              <a:t>Add:</a:t>
            </a:r>
          </a:p>
          <a:p>
            <a:r>
              <a:rPr lang="en-ZA" dirty="0"/>
              <a:t>“This is personal reflection first. </a:t>
            </a:r>
          </a:p>
          <a:p>
            <a:r>
              <a:rPr lang="en-ZA" dirty="0"/>
              <a:t>Do not rush to compare yourself with others. </a:t>
            </a:r>
          </a:p>
          <a:p>
            <a:r>
              <a:rPr lang="en-ZA" dirty="0"/>
              <a:t>First ask: what does this reveal about how I read and lead strategy?”</a:t>
            </a:r>
          </a:p>
          <a:p>
            <a:endParaRPr lang="en-ZA" b="1" dirty="0"/>
          </a:p>
          <a:p>
            <a:r>
              <a:rPr lang="en-ZA" b="1" dirty="0"/>
              <a:t>Say What The Team Sees</a:t>
            </a:r>
            <a:endParaRPr lang="en-ZA" dirty="0"/>
          </a:p>
          <a:p>
            <a:r>
              <a:rPr lang="en-ZA" b="1" dirty="0"/>
              <a:t>Say:</a:t>
            </a:r>
          </a:p>
          <a:p>
            <a:r>
              <a:rPr lang="en-ZA" dirty="0"/>
              <a:t>“Your team does not see individual names or single personal scores.</a:t>
            </a:r>
          </a:p>
          <a:p>
            <a:r>
              <a:rPr lang="en-ZA" dirty="0"/>
              <a:t>The team sees the team’s overall level on each dimension and the count at each level.</a:t>
            </a:r>
          </a:p>
          <a:p>
            <a:r>
              <a:rPr lang="en-ZA" dirty="0"/>
              <a:t>This allows the team to discuss its collective behavioural pattern without exposing individual profiles.”</a:t>
            </a:r>
          </a:p>
          <a:p>
            <a:endParaRPr lang="en-ZA" dirty="0"/>
          </a:p>
          <a:p>
            <a:r>
              <a:rPr lang="en-ZA" b="1" dirty="0"/>
              <a:t>Then add:</a:t>
            </a:r>
          </a:p>
          <a:p>
            <a:r>
              <a:rPr lang="en-ZA" dirty="0"/>
              <a:t>“The team discussion is not about who scored what. It is about what the collective pattern could mean for the strategy.”</a:t>
            </a:r>
          </a:p>
          <a:p>
            <a:endParaRPr lang="en-ZA" b="1" dirty="0"/>
          </a:p>
          <a:p>
            <a:r>
              <a:rPr lang="en-ZA" b="1" dirty="0"/>
              <a:t>Walk The Seven Dimensions On The Slide</a:t>
            </a:r>
            <a:endParaRPr lang="en-ZA" dirty="0"/>
          </a:p>
          <a:p>
            <a:r>
              <a:rPr lang="en-ZA" b="1" dirty="0"/>
              <a:t>Say:</a:t>
            </a:r>
          </a:p>
          <a:p>
            <a:r>
              <a:rPr lang="en-ZA" dirty="0"/>
              <a:t>“These are the seven dimensions we are assessing. Each one tells us something about how leaders carry strategy.”</a:t>
            </a:r>
          </a:p>
          <a:p>
            <a:endParaRPr lang="en-ZA" b="1" dirty="0"/>
          </a:p>
          <a:p>
            <a:r>
              <a:rPr lang="en-ZA" b="1" dirty="0"/>
              <a:t>1. Openness</a:t>
            </a:r>
            <a:endParaRPr lang="en-ZA" dirty="0"/>
          </a:p>
          <a:p>
            <a:r>
              <a:rPr lang="en-ZA" dirty="0"/>
              <a:t>“Openness is about curiosity, creativity and adaptability to new approaches.</a:t>
            </a:r>
          </a:p>
          <a:p>
            <a:r>
              <a:rPr lang="en-ZA" dirty="0"/>
              <a:t>It shows how willing a leader is to consider new ideas, question old assumptions and respond to change.</a:t>
            </a:r>
          </a:p>
          <a:p>
            <a:r>
              <a:rPr lang="en-ZA" dirty="0"/>
              <a:t>In strategy, openness matters because the environment keeps changing. </a:t>
            </a:r>
          </a:p>
          <a:p>
            <a:r>
              <a:rPr lang="en-ZA" dirty="0"/>
              <a:t>A team with too little openness may stay too attached to familiar ways. </a:t>
            </a:r>
          </a:p>
          <a:p>
            <a:r>
              <a:rPr lang="en-ZA" dirty="0"/>
              <a:t>A team with too much openness may chase too many ideas at once.”</a:t>
            </a:r>
          </a:p>
          <a:p>
            <a:endParaRPr lang="en-ZA" b="1" dirty="0"/>
          </a:p>
          <a:p>
            <a:r>
              <a:rPr lang="en-ZA" b="1" dirty="0"/>
              <a:t>2. Conscientiousness</a:t>
            </a:r>
            <a:endParaRPr lang="en-ZA" dirty="0"/>
          </a:p>
          <a:p>
            <a:r>
              <a:rPr lang="en-ZA" dirty="0"/>
              <a:t>“Conscientiousness is about discipline, planning and follow-through on commitments.</a:t>
            </a:r>
          </a:p>
          <a:p>
            <a:r>
              <a:rPr lang="en-ZA" dirty="0"/>
              <a:t>It shows how reliably a leader organises work, tracks commitments and completes what has been agreed.</a:t>
            </a:r>
          </a:p>
          <a:p>
            <a:r>
              <a:rPr lang="en-ZA" dirty="0"/>
              <a:t>In strategy, conscientiousness matters because execution needs structure. </a:t>
            </a:r>
          </a:p>
          <a:p>
            <a:r>
              <a:rPr lang="en-ZA" dirty="0"/>
              <a:t>Without discipline, strategy remains a statement. </a:t>
            </a:r>
          </a:p>
          <a:p>
            <a:r>
              <a:rPr lang="en-ZA" dirty="0"/>
              <a:t>With discipline, strategy becomes action, ownership and review.”</a:t>
            </a:r>
          </a:p>
          <a:p>
            <a:endParaRPr lang="en-ZA" b="1" dirty="0"/>
          </a:p>
          <a:p>
            <a:r>
              <a:rPr lang="en-ZA" b="1" dirty="0"/>
              <a:t>3. Extraversion</a:t>
            </a:r>
            <a:endParaRPr lang="en-ZA" dirty="0"/>
          </a:p>
          <a:p>
            <a:r>
              <a:rPr lang="en-ZA" dirty="0"/>
              <a:t>“Extraversion is about outward energy, communication and comfort with collaboration.</a:t>
            </a:r>
          </a:p>
          <a:p>
            <a:r>
              <a:rPr lang="en-ZA" dirty="0"/>
              <a:t>It shows how easily a leader engages others, speaks into the room and helps move energy through the team.</a:t>
            </a:r>
          </a:p>
          <a:p>
            <a:r>
              <a:rPr lang="en-ZA" dirty="0"/>
              <a:t>In strategy, extraversion matters because strategy must be communicated. </a:t>
            </a:r>
          </a:p>
          <a:p>
            <a:r>
              <a:rPr lang="en-ZA" dirty="0"/>
              <a:t>People do not align to a document alone. They align through conversation, explanation and leadership signals.”</a:t>
            </a:r>
          </a:p>
          <a:p>
            <a:endParaRPr lang="en-ZA" b="1" dirty="0"/>
          </a:p>
          <a:p>
            <a:r>
              <a:rPr lang="en-ZA" b="1" dirty="0"/>
              <a:t>4. Agreeableness</a:t>
            </a:r>
            <a:endParaRPr lang="en-ZA" dirty="0"/>
          </a:p>
          <a:p>
            <a:r>
              <a:rPr lang="en-ZA" dirty="0"/>
              <a:t>“Agreeableness is about harmony, conflict management and cooperation.</a:t>
            </a:r>
          </a:p>
          <a:p>
            <a:r>
              <a:rPr lang="en-ZA" dirty="0"/>
              <a:t>It shows how a leader works with others, handles tension and protects relationships.</a:t>
            </a:r>
          </a:p>
          <a:p>
            <a:r>
              <a:rPr lang="en-ZA" dirty="0"/>
              <a:t>In strategy, agreeableness matters because execution depends on trust and cooperation. </a:t>
            </a:r>
          </a:p>
          <a:p>
            <a:r>
              <a:rPr lang="en-ZA" dirty="0"/>
              <a:t>But harmony must not replace honesty. A team can agree politely and still avoid the difficult issue.”</a:t>
            </a:r>
          </a:p>
          <a:p>
            <a:endParaRPr lang="en-ZA" b="1" dirty="0"/>
          </a:p>
          <a:p>
            <a:r>
              <a:rPr lang="en-ZA" b="1" dirty="0"/>
              <a:t>5. Emotional Stability</a:t>
            </a:r>
            <a:endParaRPr lang="en-ZA" dirty="0"/>
          </a:p>
          <a:p>
            <a:r>
              <a:rPr lang="en-ZA" dirty="0"/>
              <a:t>“Emotional Stability is about composure under pressure and emotional resilience.</a:t>
            </a:r>
          </a:p>
          <a:p>
            <a:r>
              <a:rPr lang="en-ZA" dirty="0"/>
              <a:t>It shows how a leader behaves when there is stress, criticism, uncertainty or failure.</a:t>
            </a:r>
          </a:p>
          <a:p>
            <a:r>
              <a:rPr lang="en-ZA" dirty="0"/>
              <a:t>In strategy, emotional stability matters because execution always brings pressure.</a:t>
            </a:r>
          </a:p>
          <a:p>
            <a:r>
              <a:rPr lang="en-ZA" dirty="0"/>
              <a:t>If leaders become reactive, the team spends its energy managing emotions, and the strategy waits.”</a:t>
            </a:r>
          </a:p>
          <a:p>
            <a:endParaRPr lang="en-ZA" b="1" dirty="0"/>
          </a:p>
          <a:p>
            <a:r>
              <a:rPr lang="en-ZA" b="1" dirty="0"/>
              <a:t>6. Values Alignment</a:t>
            </a:r>
            <a:endParaRPr lang="en-ZA" dirty="0"/>
          </a:p>
          <a:p>
            <a:r>
              <a:rPr lang="en-ZA" dirty="0"/>
              <a:t>“Values Alignment is about consistency between stated values and lived behaviour.</a:t>
            </a:r>
          </a:p>
          <a:p>
            <a:r>
              <a:rPr lang="en-ZA" dirty="0"/>
              <a:t>It shows whether a leader’s choices, actions and trade-offs match what the organisation says it stands for.</a:t>
            </a:r>
          </a:p>
          <a:p>
            <a:r>
              <a:rPr lang="en-ZA" dirty="0"/>
              <a:t>In strategy, values alignment matters because people watch behaviour more than slogans. </a:t>
            </a:r>
          </a:p>
          <a:p>
            <a:r>
              <a:rPr lang="en-ZA" dirty="0"/>
              <a:t>When values and decisions match, trust grows. When they do not match, people comply and commitment weakens.”</a:t>
            </a:r>
          </a:p>
          <a:p>
            <a:endParaRPr lang="en-ZA" b="1" dirty="0"/>
          </a:p>
          <a:p>
            <a:r>
              <a:rPr lang="en-ZA" b="1" dirty="0"/>
              <a:t>7. Learning Orientation</a:t>
            </a:r>
            <a:endParaRPr lang="en-ZA" dirty="0"/>
          </a:p>
          <a:p>
            <a:r>
              <a:rPr lang="en-ZA" dirty="0"/>
              <a:t>“Learning Orientation is about growth mindset, openness to feedback and skill development.</a:t>
            </a:r>
          </a:p>
          <a:p>
            <a:r>
              <a:rPr lang="en-ZA" dirty="0"/>
              <a:t>It shows whether a leader can learn, adapt and improve through experience.</a:t>
            </a:r>
          </a:p>
          <a:p>
            <a:r>
              <a:rPr lang="en-ZA" dirty="0"/>
              <a:t>In strategy, learning orientation matters because strategy is iterative. </a:t>
            </a:r>
          </a:p>
          <a:p>
            <a:r>
              <a:rPr lang="en-ZA" dirty="0"/>
              <a:t>We decide, test, learn and refine. A team that cannot learn will keep defending old choices even when reality has changed.”</a:t>
            </a:r>
          </a:p>
          <a:p>
            <a:endParaRPr lang="en-ZA" b="1" dirty="0"/>
          </a:p>
          <a:p>
            <a:r>
              <a:rPr lang="en-ZA" b="1" dirty="0"/>
              <a:t>Explain The Three Levels Of Disposition</a:t>
            </a:r>
            <a:endParaRPr lang="en-ZA" dirty="0"/>
          </a:p>
          <a:p>
            <a:r>
              <a:rPr lang="en-ZA" b="1" dirty="0"/>
              <a:t>Say:</a:t>
            </a:r>
          </a:p>
          <a:p>
            <a:r>
              <a:rPr lang="en-ZA" dirty="0"/>
              <a:t>“For each dimension, the tool reads the tendency at three levels: Low, Balanced and High.</a:t>
            </a:r>
          </a:p>
          <a:p>
            <a:r>
              <a:rPr lang="en-ZA" dirty="0"/>
              <a:t>Low means the tendency is less visible or less naturally used.</a:t>
            </a:r>
          </a:p>
          <a:p>
            <a:r>
              <a:rPr lang="en-ZA" dirty="0"/>
              <a:t>Balanced means the tendency is present in a moderate way.</a:t>
            </a:r>
          </a:p>
          <a:p>
            <a:r>
              <a:rPr lang="en-ZA" dirty="0"/>
              <a:t>High means the tendency is strongly visible.</a:t>
            </a:r>
          </a:p>
          <a:p>
            <a:endParaRPr lang="en-ZA" dirty="0"/>
          </a:p>
          <a:p>
            <a:r>
              <a:rPr lang="en-ZA" dirty="0"/>
              <a:t>None of these levels is automatically good or bad. </a:t>
            </a:r>
          </a:p>
          <a:p>
            <a:r>
              <a:rPr lang="en-ZA" dirty="0"/>
              <a:t>The level becomes useful or risky depending on the strategy being carried.”</a:t>
            </a:r>
          </a:p>
          <a:p>
            <a:endParaRPr lang="en-ZA" dirty="0"/>
          </a:p>
          <a:p>
            <a:r>
              <a:rPr lang="en-ZA" dirty="0"/>
              <a:t>Then add:</a:t>
            </a:r>
          </a:p>
          <a:p>
            <a:r>
              <a:rPr lang="en-ZA" dirty="0"/>
              <a:t>“For example, high openness may help innovation, but it may also create too many ideas. Low openness may protect stability, but it may also delay adaptation. Balanced openness may support careful experimentation, but it may still avoid uncomfortable change.”</a:t>
            </a:r>
          </a:p>
          <a:p>
            <a:endParaRPr lang="en-ZA" b="1" dirty="0"/>
          </a:p>
          <a:p>
            <a:r>
              <a:rPr lang="en-ZA" b="1" dirty="0"/>
              <a:t>Use One Worked Example</a:t>
            </a:r>
            <a:endParaRPr lang="en-ZA" dirty="0"/>
          </a:p>
          <a:p>
            <a:r>
              <a:rPr lang="en-ZA" b="1" dirty="0"/>
              <a:t>Say:</a:t>
            </a:r>
          </a:p>
          <a:p>
            <a:r>
              <a:rPr lang="en-ZA" dirty="0"/>
              <a:t>“Let us take one example so that you can see how the tool works.”</a:t>
            </a:r>
          </a:p>
          <a:p>
            <a:r>
              <a:rPr lang="en-ZA" b="1" dirty="0"/>
              <a:t>Example: High Agreeableness</a:t>
            </a:r>
            <a:endParaRPr lang="en-ZA" dirty="0"/>
          </a:p>
          <a:p>
            <a:r>
              <a:rPr lang="en-ZA" dirty="0"/>
              <a:t>“High agreeableness means the leader is kind, warm, cooperative and ready to help.</a:t>
            </a:r>
          </a:p>
          <a:p>
            <a:r>
              <a:rPr lang="en-ZA" dirty="0"/>
              <a:t>This is a strength because it builds trust. People feel supported and respected.</a:t>
            </a:r>
          </a:p>
          <a:p>
            <a:r>
              <a:rPr lang="en-ZA" dirty="0"/>
              <a:t>But the risk is that agreement may be given without real commitment. People may avoid saying no. The team may over-commit because nobody wants to disappoint others. Resentment may build under the surface.”</a:t>
            </a:r>
          </a:p>
          <a:p>
            <a:endParaRPr lang="en-ZA" dirty="0"/>
          </a:p>
          <a:p>
            <a:r>
              <a:rPr lang="en-ZA" b="1" dirty="0"/>
              <a:t>Say:</a:t>
            </a:r>
          </a:p>
          <a:p>
            <a:r>
              <a:rPr lang="en-ZA" dirty="0"/>
              <a:t>“The response is to create a formal challenge role. Someone must be allowed to ask the difficult question without being seen as negative.”</a:t>
            </a:r>
          </a:p>
          <a:p>
            <a:endParaRPr lang="en-ZA" dirty="0"/>
          </a:p>
          <a:p>
            <a:r>
              <a:rPr lang="en-ZA" b="1" dirty="0"/>
              <a:t>Say:</a:t>
            </a:r>
          </a:p>
          <a:p>
            <a:r>
              <a:rPr lang="en-ZA" dirty="0"/>
              <a:t>“The routine is the Rotating Challenger. In each major discussion, one person is assigned to challenge assumptions, name risks and ask what the team may be avoiding.”</a:t>
            </a:r>
          </a:p>
          <a:p>
            <a:endParaRPr lang="en-ZA" dirty="0"/>
          </a:p>
          <a:p>
            <a:r>
              <a:rPr lang="en-ZA" dirty="0"/>
              <a:t>Then connect to S2R®:</a:t>
            </a:r>
          </a:p>
          <a:p>
            <a:r>
              <a:rPr lang="en-ZA" dirty="0"/>
              <a:t>“In Strategy2Results®, this protects alignment. It helps the team move from polite agreement to real commitment.”</a:t>
            </a:r>
          </a:p>
          <a:p>
            <a:endParaRPr lang="en-ZA" b="1" dirty="0"/>
          </a:p>
          <a:p>
            <a:r>
              <a:rPr lang="en-ZA" b="1" dirty="0"/>
              <a:t>Refer Participants To The Portal</a:t>
            </a:r>
            <a:endParaRPr lang="en-ZA" dirty="0"/>
          </a:p>
          <a:p>
            <a:r>
              <a:rPr lang="en-ZA" dirty="0"/>
              <a:t>Say:</a:t>
            </a:r>
          </a:p>
          <a:p>
            <a:r>
              <a:rPr lang="en-ZA" dirty="0"/>
              <a:t>“We will not teach every risk, response and routine in class. The full detail is in the portal.</a:t>
            </a:r>
          </a:p>
          <a:p>
            <a:r>
              <a:rPr lang="en-ZA" dirty="0"/>
              <a:t>In the portal, you will find all seven dimensions. For each one, you will see the low, balanced and high levels, with the matching risk, response and routine.</a:t>
            </a:r>
          </a:p>
          <a:p>
            <a:r>
              <a:rPr lang="en-ZA" dirty="0"/>
              <a:t>Your task is to complete the assessment, read your personal profile and then reflect on the disposition that may carry the highest risk for how you read and lead strategy.”</a:t>
            </a:r>
          </a:p>
          <a:p>
            <a:endParaRPr lang="en-ZA" b="1" dirty="0"/>
          </a:p>
          <a:p>
            <a:r>
              <a:rPr lang="en-ZA" b="1" dirty="0"/>
              <a:t>Close</a:t>
            </a:r>
            <a:endParaRPr lang="en-ZA" dirty="0"/>
          </a:p>
          <a:p>
            <a:r>
              <a:rPr lang="en-ZA" dirty="0"/>
              <a:t>Say:</a:t>
            </a:r>
          </a:p>
          <a:p>
            <a:r>
              <a:rPr lang="en-ZA" dirty="0"/>
              <a:t>“OCEAVL helps us see the human pattern behind strategy execution. Once we can see the pattern, we can design the right guardrails. That is how alignment is designed.”</a:t>
            </a:r>
          </a:p>
          <a:p>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b="1" dirty="0"/>
              <a:t>SECTION 3 REFLECTIONS</a:t>
            </a:r>
          </a:p>
          <a:p>
            <a:endParaRPr lang="en-GB" dirty="0"/>
          </a:p>
          <a:p>
            <a:r>
              <a:rPr lang="en-GB" b="1" dirty="0"/>
              <a:t>HOW TO USE THIS SLIDE:</a:t>
            </a:r>
          </a:p>
          <a:p>
            <a:endParaRPr lang="en-GB" dirty="0"/>
          </a:p>
          <a:p>
            <a:r>
              <a:rPr lang="en-GB" b="1" dirty="0"/>
              <a:t>1. Show the slide and read the prompt aloud.</a:t>
            </a:r>
          </a:p>
          <a:p>
            <a:r>
              <a:rPr lang="en-GB" dirty="0"/>
              <a:t>3.1 Reflection — OCEAVL: "Which of your own levels carries the highest risk for how you read and lead the strategy? Where has that risk already shown up?"</a:t>
            </a:r>
          </a:p>
          <a:p>
            <a:endParaRPr lang="en-GB" dirty="0"/>
          </a:p>
          <a:p>
            <a:r>
              <a:rPr lang="en-GB" b="1" dirty="0"/>
              <a:t>2. Say what the reflections are for.</a:t>
            </a:r>
          </a:p>
          <a:p>
            <a:r>
              <a:rPr lang="en-GB" dirty="0"/>
              <a:t>Point learners to the portal section that they will be required to complete with as much depth as possible.</a:t>
            </a:r>
          </a:p>
          <a:p>
            <a:r>
              <a:rPr lang="en-GB" dirty="0"/>
              <a:t>The reflections build the learning portfolio they receive at the end of the programme.</a:t>
            </a:r>
          </a:p>
          <a:p>
            <a:endParaRPr lang="en-GB" dirty="0"/>
          </a:p>
          <a:p>
            <a:r>
              <a:rPr lang="en-GB" dirty="0"/>
              <a:t>Say: "You write these reflections on the portal after the teaching, with as much depth as you can."</a:t>
            </a:r>
          </a:p>
          <a:p>
            <a:endParaRPr lang="en-GB" dirty="0"/>
          </a:p>
          <a:p>
            <a:r>
              <a:rPr lang="en-GB" b="1" dirty="0"/>
              <a:t>3. Set the standard.</a:t>
            </a:r>
          </a:p>
          <a:p>
            <a:r>
              <a:rPr lang="en-GB" dirty="0"/>
              <a:t>Say: "Name the level, the risk it carries and one place where that risk has already shown up."</a:t>
            </a:r>
          </a:p>
          <a:p>
            <a:r>
              <a:rPr lang="en-GB" dirty="0"/>
              <a:t>Watch for: a reflection that lists scores. Ask for one level and its risk.</a:t>
            </a:r>
          </a:p>
          <a:p>
            <a:endParaRPr lang="en-GB" dirty="0"/>
          </a:p>
          <a:p>
            <a:r>
              <a:rPr lang="en-GB" b="1" dirty="0"/>
              <a:t>4. Bridge to Section 4.</a:t>
            </a:r>
          </a:p>
          <a:p>
            <a:r>
              <a:rPr lang="en-GB" dirty="0"/>
              <a:t>Say: "You know the profile you bring. Section 4 shows how the leadership team holds alignment together."</a:t>
            </a:r>
          </a:p>
          <a:p>
            <a:endParaRPr lang="en-GB" dirty="0"/>
          </a:p>
          <a:p>
            <a:r>
              <a:rPr lang="en-GB" b="1" dirty="0"/>
              <a:t>ON THE PORTAL, AFTER THE TEACHING:</a:t>
            </a:r>
          </a:p>
          <a:p>
            <a:r>
              <a:rPr lang="en-GB" dirty="0"/>
              <a:t>Participants write this reflection in Section 3 of the participant file, at the foot of part 3.1.</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SECTION 4 · INTEGRATION — COLLECTIVE</a:t>
            </a:r>
          </a:p>
          <a:p>
            <a:endParaRPr lang="en-GB" dirty="0"/>
          </a:p>
          <a:p>
            <a:r>
              <a:rPr lang="en-GB" b="1" dirty="0"/>
              <a:t>HOW THIS SECTION RUNS:</a:t>
            </a:r>
          </a:p>
          <a:p>
            <a:r>
              <a:rPr lang="en-GB" dirty="0"/>
              <a:t>1. 4.1: leading change with one voice, and its four commitments.</a:t>
            </a:r>
          </a:p>
          <a:p>
            <a:r>
              <a:rPr lang="en-GB" dirty="0"/>
              <a:t>2. 4.2: the Converging Zone Contribution and the Alignment Hot Zone of each leadership role.</a:t>
            </a:r>
          </a:p>
          <a:p>
            <a:r>
              <a:rPr lang="en-GB" dirty="0"/>
              <a:t>3. The Section 4 Reflections slide: the two reflections participants write on the portal after the teaching.</a:t>
            </a:r>
          </a:p>
          <a:p>
            <a:endParaRPr lang="en-GB" dirty="0"/>
          </a:p>
          <a:p>
            <a:r>
              <a:rPr lang="en-GB" b="1" dirty="0"/>
              <a:t>SECTION LEARNING OUTCOMES:</a:t>
            </a:r>
          </a:p>
          <a:p>
            <a:r>
              <a:rPr lang="en-GB" dirty="0"/>
              <a:t>1. Integrate leadership interpretations into one coherent enterprise message.</a:t>
            </a:r>
          </a:p>
          <a:p>
            <a:r>
              <a:rPr lang="en-GB" dirty="0"/>
              <a:t>2. Diagnose role-alignment gaps and competing change demands that threaten enterprise coherence.</a:t>
            </a:r>
          </a:p>
          <a:p>
            <a:endParaRPr lang="en-GB" dirty="0"/>
          </a:p>
          <a:p>
            <a:r>
              <a:rPr lang="en-GB" b="1" dirty="0"/>
              <a:t>HOW TO OPEN THE SECTION:</a:t>
            </a:r>
          </a:p>
          <a:p>
            <a:endParaRPr lang="en-GB" dirty="0"/>
          </a:p>
          <a:p>
            <a:r>
              <a:rPr lang="en-GB" b="1" dirty="0"/>
              <a:t>1. Say what the section does.</a:t>
            </a:r>
          </a:p>
          <a:p>
            <a:r>
              <a:rPr lang="en-GB" dirty="0"/>
              <a:t>Say: "This section lifts the focus from individual alignment to systemic leadership alignment.</a:t>
            </a:r>
          </a:p>
          <a:p>
            <a:r>
              <a:rPr lang="en-GB" dirty="0"/>
              <a:t>The Converging Zone is where individual functional expertise becomes coordinated leadership judgement."</a:t>
            </a:r>
          </a:p>
          <a:p>
            <a:endParaRPr lang="en-GB" dirty="0"/>
          </a:p>
          <a:p>
            <a:r>
              <a:rPr lang="en-GB" b="1" dirty="0"/>
              <a:t>2. Say what is at stake.</a:t>
            </a:r>
          </a:p>
          <a:p>
            <a:r>
              <a:rPr lang="en-GB" dirty="0"/>
              <a:t>Say: "The executive team enters the Converging Zone, where individual functional perspectives integrate into a shared leadership interpretation.</a:t>
            </a:r>
          </a:p>
          <a:p>
            <a:r>
              <a:rPr lang="en-GB" dirty="0"/>
              <a:t>At this point, the leadership team begins operating as a single leadership system."</a:t>
            </a:r>
          </a:p>
          <a:p>
            <a:r>
              <a:rPr lang="en-GB" dirty="0"/>
              <a:t>Without this, the organisation receives multiple interpretations of strategy, causing instability across the organisation.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4.1 — LEADING CHANGE WITH ONE VOICE (FOUR COMMITMENTS)</a:t>
            </a:r>
          </a:p>
          <a:p>
            <a:endParaRPr lang="en-GB" dirty="0"/>
          </a:p>
          <a:p>
            <a:r>
              <a:rPr lang="en-GB" b="1" dirty="0"/>
              <a:t>HOW TO TEACH IT:</a:t>
            </a:r>
          </a:p>
          <a:p>
            <a:endParaRPr lang="en-GB" dirty="0"/>
          </a:p>
          <a:p>
            <a:r>
              <a:rPr lang="en-GB" b="1" dirty="0"/>
              <a:t>1. Frame the part.</a:t>
            </a:r>
          </a:p>
          <a:p>
            <a:r>
              <a:rPr lang="en-GB" dirty="0"/>
              <a:t>Say: </a:t>
            </a:r>
            <a:r>
              <a:rPr lang="en-ZA" sz="1200" b="0" i="0" kern="1200" dirty="0">
                <a:solidFill>
                  <a:schemeClr val="tx1"/>
                </a:solidFill>
                <a:effectLst/>
                <a:latin typeface="+mn-lt"/>
                <a:ea typeface="+mn-ea"/>
                <a:cs typeface="+mn-cs"/>
              </a:rPr>
              <a:t>The Converging Zone is the point where the separate views of each function come together into one shared reading of the strategy. </a:t>
            </a:r>
          </a:p>
          <a:p>
            <a:r>
              <a:rPr lang="en-ZA" sz="1200" b="0" i="0" kern="1200" dirty="0">
                <a:solidFill>
                  <a:schemeClr val="tx1"/>
                </a:solidFill>
                <a:effectLst/>
                <a:latin typeface="+mn-lt"/>
                <a:ea typeface="+mn-ea"/>
                <a:cs typeface="+mn-cs"/>
              </a:rPr>
              <a:t>A leadership team that reaches it has Collective Intelligence, and the organisation hears one voice.</a:t>
            </a:r>
            <a:endParaRPr lang="en-GB" dirty="0"/>
          </a:p>
          <a:p>
            <a:endParaRPr lang="en-GB" dirty="0"/>
          </a:p>
          <a:p>
            <a:r>
              <a:rPr lang="en-GB" dirty="0"/>
              <a:t>To lead with one voice leaders must send one message, exhibit one example, demonstrate one way of landing the message and assign one leader to keep the glue tight.</a:t>
            </a:r>
          </a:p>
          <a:p>
            <a:endParaRPr lang="en-GB" dirty="0"/>
          </a:p>
          <a:p>
            <a:r>
              <a:rPr lang="en-GB" dirty="0"/>
              <a:t>"The 4 Checks describe what one group of people needs from one leadership team.</a:t>
            </a:r>
          </a:p>
          <a:p>
            <a:endParaRPr lang="en-GB" dirty="0"/>
          </a:p>
          <a:p>
            <a:r>
              <a:rPr lang="en-GB" dirty="0"/>
              <a:t>Most changes reach a group through several leaders at once.</a:t>
            </a:r>
          </a:p>
          <a:p>
            <a:r>
              <a:rPr lang="en-GB" dirty="0"/>
              <a:t>People hear from their own leader, watch the others, and compare.</a:t>
            </a:r>
          </a:p>
          <a:p>
            <a:endParaRPr lang="en-GB" dirty="0"/>
          </a:p>
          <a:p>
            <a:r>
              <a:rPr lang="en-GB" dirty="0"/>
              <a:t>Where the leaders differ, the group takes the difference as the real message."</a:t>
            </a:r>
          </a:p>
          <a:p>
            <a:endParaRPr lang="en-GB" dirty="0"/>
          </a:p>
          <a:p>
            <a:r>
              <a:rPr lang="en-GB" dirty="0"/>
              <a:t>Say: "In the Converging Zone, the leadership team makes four commitments that no single function can make alone. </a:t>
            </a:r>
          </a:p>
          <a:p>
            <a:endParaRPr lang="en-GB" b="1" dirty="0"/>
          </a:p>
          <a:p>
            <a:r>
              <a:rPr lang="en-GB" b="1" dirty="0"/>
              <a:t>2. Teach the four commitments on the slide.</a:t>
            </a:r>
          </a:p>
          <a:p>
            <a:r>
              <a:rPr lang="en-GB" b="1" dirty="0"/>
              <a:t>One message · Protects Mind</a:t>
            </a:r>
          </a:p>
          <a:p>
            <a:r>
              <a:rPr lang="en-GB" dirty="0"/>
              <a:t>Every leader gives the same Shift, Stake and Step for each change. </a:t>
            </a:r>
          </a:p>
          <a:p>
            <a:r>
              <a:rPr lang="en-GB" dirty="0"/>
              <a:t>The test is the 3S Check applied to the leadership team itself. </a:t>
            </a:r>
          </a:p>
          <a:p>
            <a:r>
              <a:rPr lang="en-GB" dirty="0"/>
              <a:t>Each leader writes the three for the same change, and the versions are compared before anyone speaks to their people.</a:t>
            </a:r>
          </a:p>
          <a:p>
            <a:r>
              <a:rPr lang="en-GB" dirty="0"/>
              <a:t>When absent: each function hears a different change, and the 3S Check fails across the organisation.</a:t>
            </a:r>
          </a:p>
          <a:p>
            <a:endParaRPr lang="en-GB" dirty="0"/>
          </a:p>
          <a:p>
            <a:r>
              <a:rPr lang="en-GB" b="1" dirty="0"/>
              <a:t>One example · Protects Heart</a:t>
            </a:r>
          </a:p>
          <a:p>
            <a:r>
              <a:rPr lang="en-GB" dirty="0"/>
              <a:t>Leaders show the ACE-IT behaviours the change needs before they ask for them. </a:t>
            </a:r>
          </a:p>
          <a:p>
            <a:r>
              <a:rPr lang="en-GB" dirty="0"/>
              <a:t>People read a leader’s diary, questions and decisions as the real message.</a:t>
            </a:r>
          </a:p>
          <a:p>
            <a:r>
              <a:rPr lang="en-GB" dirty="0"/>
              <a:t>When absent: people copy what leaders do and discount what leaders say.</a:t>
            </a:r>
          </a:p>
          <a:p>
            <a:endParaRPr lang="en-GB" dirty="0"/>
          </a:p>
          <a:p>
            <a:r>
              <a:rPr lang="en-GB" b="1" dirty="0"/>
              <a:t>One sequence · Protects Hands</a:t>
            </a:r>
          </a:p>
          <a:p>
            <a:r>
              <a:rPr lang="en-GB" dirty="0"/>
              <a:t>Leaders pool their changes and count how many land on the same group in the same period. </a:t>
            </a:r>
          </a:p>
          <a:p>
            <a:r>
              <a:rPr lang="en-GB" dirty="0"/>
              <a:t>The team then agrees the order and the pace. Time is the first STAT element to give way under the total load.</a:t>
            </a:r>
          </a:p>
          <a:p>
            <a:r>
              <a:rPr lang="en-GB" dirty="0"/>
              <a:t>When absent: one group is asked to absorb several changes together, and its willingness falls.</a:t>
            </a:r>
          </a:p>
          <a:p>
            <a:endParaRPr lang="en-GB" dirty="0"/>
          </a:p>
          <a:p>
            <a:r>
              <a:rPr lang="en-GB" dirty="0"/>
              <a:t>Data: employees’ willingness to support enterprise change fell from 74% in 2016 to 43% in 2022, while planned changes per employee rose from two to ten (Gartner, reported in Harvard Business Review, 2023).</a:t>
            </a:r>
          </a:p>
          <a:p>
            <a:endParaRPr lang="en-GB" dirty="0"/>
          </a:p>
          <a:p>
            <a:r>
              <a:rPr lang="en-GB" b="1" dirty="0"/>
              <a:t>One owner · Protects Habit</a:t>
            </a:r>
          </a:p>
          <a:p>
            <a:r>
              <a:rPr lang="en-GB" dirty="0"/>
              <a:t>Each transition has one named leader who answers for adoption, through to Habit. </a:t>
            </a:r>
          </a:p>
          <a:p>
            <a:r>
              <a:rPr lang="en-GB" dirty="0"/>
              <a:t>The owner runs the 4 Checks, reports which check the change has reached, and stays with it after the launch.</a:t>
            </a:r>
          </a:p>
          <a:p>
            <a:r>
              <a:rPr lang="en-GB" dirty="0"/>
              <a:t>When absent: the change is installed and nobody answers for whether it is adopted.</a:t>
            </a:r>
          </a:p>
          <a:p>
            <a:endParaRPr lang="en-GB" dirty="0"/>
          </a:p>
          <a:p>
            <a:r>
              <a:rPr lang="en-GB" dirty="0"/>
              <a:t>Data: projects with extremely effective sponsors were 79% likely to meet their objectives, against 27% with extremely ineffective sponsors (Prosci, Best Practices in Change Management, 12th edition).</a:t>
            </a:r>
          </a:p>
          <a:p>
            <a:endParaRPr lang="en-GB" dirty="0"/>
          </a:p>
          <a:p>
            <a:endParaRPr lang="en-GB" dirty="0"/>
          </a:p>
          <a:p>
            <a:r>
              <a:rPr lang="en-GB" b="1" dirty="0"/>
              <a:t>ON THE PORTAL, AFTER THE TEACHING:</a:t>
            </a:r>
          </a:p>
          <a:p>
            <a:r>
              <a:rPr lang="en-GB" dirty="0"/>
              <a:t>Participants write the reflection of 4.1 in the participant file:</a:t>
            </a:r>
          </a:p>
          <a:p>
            <a:r>
              <a:rPr lang="en-GB" dirty="0"/>
              <a:t>"Choose one group in your organisation. List every change the leadership team is asking of it this quarter. How many are there? Which of the four commitments is weakest in your team today?"</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4.2 — COLLECTIVE INTELLIGENCE ACROSS THE LEADERSHIP TEAM (CLICK A ROLE)</a:t>
            </a:r>
          </a:p>
          <a:p>
            <a:endParaRPr lang="en-GB" dirty="0"/>
          </a:p>
          <a:p>
            <a:r>
              <a:rPr lang="en-GB" b="1" dirty="0"/>
              <a:t>HOW TO TEACH IT:</a:t>
            </a:r>
          </a:p>
          <a:p>
            <a:endParaRPr lang="en-GB" dirty="0"/>
          </a:p>
          <a:p>
            <a:r>
              <a:rPr lang="en-GB" b="1" dirty="0"/>
              <a:t>1. Frame the grid on the slide.</a:t>
            </a:r>
          </a:p>
          <a:p>
            <a:r>
              <a:rPr lang="en-ZA" dirty="0"/>
              <a:t>They are the </a:t>
            </a:r>
            <a:r>
              <a:rPr lang="en-ZA" b="1" dirty="0"/>
              <a:t>specific alignment responsibilities each executive role must clarify when the organisation is moving through change or a new strategic trajectory</a:t>
            </a:r>
            <a:r>
              <a:rPr lang="en-ZA" dirty="0"/>
              <a:t>.</a:t>
            </a:r>
          </a:p>
          <a:p>
            <a:r>
              <a:rPr lang="en-ZA" dirty="0"/>
              <a:t>“Every role carries a different part of the change into the organisation. If that role does not clarify its part, people lose alignment at that point.”</a:t>
            </a:r>
          </a:p>
          <a:p>
            <a:endParaRPr lang="en-ZA" dirty="0"/>
          </a:p>
          <a:p>
            <a:r>
              <a:rPr lang="en-ZA" dirty="0"/>
              <a:t>That means for example - The CEO can clarify direction, but the CFO must clarify resource logic, the COO must clarify operating capacity, and the CHRO must clarify human capability.</a:t>
            </a:r>
          </a:p>
          <a:p>
            <a:endParaRPr lang="en-ZA" dirty="0"/>
          </a:p>
          <a:p>
            <a:r>
              <a:rPr lang="en-ZA" dirty="0"/>
              <a:t>What is important is for leaders to know which lever to pull when aligning people heart and mind to create collective intelligence for execution whether as a leadership team or as a leader for a team.</a:t>
            </a:r>
          </a:p>
          <a:p>
            <a:endParaRPr lang="en-GB" dirty="0"/>
          </a:p>
          <a:p>
            <a:r>
              <a:rPr lang="en-GB" b="1" dirty="0"/>
              <a:t>3. Walk some selected roles</a:t>
            </a:r>
          </a:p>
          <a:p>
            <a:r>
              <a:rPr lang="en-GB" dirty="0"/>
              <a:t>CEO · Shift · Mind (3S).</a:t>
            </a:r>
          </a:p>
          <a:p>
            <a:r>
              <a:rPr lang="en-GB" dirty="0"/>
              <a:t>What people need: People need to know exactly what is changing.</a:t>
            </a:r>
          </a:p>
          <a:p>
            <a:r>
              <a:rPr lang="en-GB" dirty="0"/>
              <a:t>Integrates the functional perspectives of the leadership team into one coherent strategic narrative. </a:t>
            </a:r>
          </a:p>
          <a:p>
            <a:r>
              <a:rPr lang="en-GB" dirty="0"/>
              <a:t>The CEO’s primary alignment responsibility is preventing the “Chinese Whispers” effect by keeping the strategic story intact as it moves through the organisation.</a:t>
            </a:r>
          </a:p>
          <a:p>
            <a:r>
              <a:rPr lang="en-GB" dirty="0"/>
              <a:t>Why the role is inclined to it: The CEO sets the direction for the whole organisation. A direction is broad, and it is easy to announce one without saying which practice changes, for which group, from which date. People then cannot picture the change, and each team fills the gap with its own version.</a:t>
            </a:r>
          </a:p>
          <a:p>
            <a:r>
              <a:rPr lang="en-GB" dirty="0"/>
              <a:t>What sets it off: The change is announced as a direction, such as “we are becoming more customer-focused”. Nobody says which practice stops, which practice starts, for which group and from which date.</a:t>
            </a:r>
          </a:p>
          <a:p>
            <a:r>
              <a:rPr lang="en-GB" dirty="0"/>
              <a:t>What is seen and heard: People keep working the old way and call it by the new name. Three teams asked what is changing give three different answers.</a:t>
            </a:r>
          </a:p>
          <a:p>
            <a:r>
              <a:rPr lang="en-GB" dirty="0"/>
              <a:t>What it costs: People cannot follow a change they cannot picture. Each team acts on its own version, and effort goes in different directions.</a:t>
            </a:r>
          </a:p>
          <a:p>
            <a:r>
              <a:rPr lang="en-GB" dirty="0"/>
              <a:t>When the CEO’s alignment is absent or inconsistent, all other roles struggle to converge.</a:t>
            </a:r>
          </a:p>
          <a:p>
            <a:endParaRPr lang="en-GB" dirty="0"/>
          </a:p>
          <a:p>
            <a:r>
              <a:rPr lang="en-GB" dirty="0"/>
              <a:t>CFO · Transparency · Habit (ACE-IT).</a:t>
            </a:r>
          </a:p>
          <a:p>
            <a:r>
              <a:rPr lang="en-GB" dirty="0"/>
              <a:t>What people need: People need to see the reasoning, the progress and the constraints.</a:t>
            </a:r>
          </a:p>
          <a:p>
            <a:r>
              <a:rPr lang="en-GB" dirty="0"/>
              <a:t>Ensures capital allocation and financial discipline reinforce strategic intent and concentrate resources on the agreed priorities.</a:t>
            </a:r>
          </a:p>
          <a:p>
            <a:r>
              <a:rPr lang="en-GB" dirty="0"/>
              <a:t>Why the role is inclined to it: The CFO decides where the money goes, and every budget decision is a trade-off. A trade-off is uncomfortable to show, so the decision often reaches people without its reasons. People then read the cut as the real message about the change.</a:t>
            </a:r>
          </a:p>
          <a:p>
            <a:r>
              <a:rPr lang="en-GB" dirty="0"/>
              <a:t>What sets it off: A budget is cut, frozen or moved, and people are told the decision without the reason. Good results are shared quickly and setbacks are shared late.</a:t>
            </a:r>
          </a:p>
          <a:p>
            <a:r>
              <a:rPr lang="en-GB" dirty="0"/>
              <a:t>What is seen and heard: People say “Finance said no” and cannot explain why. Teams stop keeping their own figures up to date, because they never see what the figures are used for.</a:t>
            </a:r>
          </a:p>
          <a:p>
            <a:r>
              <a:rPr lang="en-GB" dirty="0"/>
              <a:t>What it costs: People treat the change as a cost exercise that will pass. They keep the new practice while it is checked and drop it afterwards.</a:t>
            </a:r>
          </a:p>
          <a:p>
            <a:r>
              <a:rPr lang="en-GB" dirty="0"/>
              <a:t>When the CFO’s alignment is absent, resources follow inertia, and the credibility of strategic priorities collapses.</a:t>
            </a:r>
          </a:p>
          <a:p>
            <a:endParaRPr lang="en-GB" dirty="0"/>
          </a:p>
          <a:p>
            <a:r>
              <a:rPr lang="en-GB" dirty="0"/>
              <a:t>COO · Time · Hands (STAT).</a:t>
            </a:r>
          </a:p>
          <a:p>
            <a:r>
              <a:rPr lang="en-GB" dirty="0"/>
              <a:t>What people need: People need the hours to do the new work.</a:t>
            </a:r>
          </a:p>
          <a:p>
            <a:r>
              <a:rPr lang="en-GB" dirty="0"/>
              <a:t>Converts strategy into operational flow, ensuring execution routines, coordination, and hand-offs move the organisation forward.</a:t>
            </a:r>
          </a:p>
          <a:p>
            <a:r>
              <a:rPr lang="en-GB" dirty="0"/>
              <a:t>Why the role is inclined to it: The COO turns the strategy into daily work. Each new practice looks small when it is added, and it is easy to add it to a day that is already full without taking any old work away. People then want the change and have no hours to do it.</a:t>
            </a:r>
          </a:p>
          <a:p>
            <a:r>
              <a:rPr lang="en-GB" dirty="0"/>
              <a:t>What sets it off: A new practice is added to the working day and nothing is taken away. The old targets and deadlines stay as they were.</a:t>
            </a:r>
          </a:p>
          <a:p>
            <a:r>
              <a:rPr lang="en-GB" dirty="0"/>
              <a:t>What is seen and heard: The new practice is done at the end of the day, or dropped on a busy day. People say “we will get to it when things calm down.”</a:t>
            </a:r>
          </a:p>
          <a:p>
            <a:r>
              <a:rPr lang="en-GB" dirty="0"/>
              <a:t>What it costs: People who agree with the change still cannot do it. Their goodwill wears out, because they are asked for more than the day can hold.</a:t>
            </a:r>
          </a:p>
          <a:p>
            <a:r>
              <a:rPr lang="en-GB" dirty="0"/>
              <a:t>When COO alignment is absent, execution machinery runs efficiently but in the wrong direction.</a:t>
            </a:r>
          </a:p>
          <a:p>
            <a:endParaRPr lang="en-GB" dirty="0"/>
          </a:p>
          <a:p>
            <a:r>
              <a:rPr lang="en-GB" dirty="0"/>
              <a:t>CHRO · Skill · Hands (STAT).</a:t>
            </a:r>
          </a:p>
          <a:p>
            <a:r>
              <a:rPr lang="en-GB" dirty="0"/>
              <a:t>What people need: People need to know how to do the new work.</a:t>
            </a:r>
          </a:p>
          <a:p>
            <a:r>
              <a:rPr lang="en-GB" dirty="0"/>
              <a:t>Aligns leadership behaviour, capability development, and organisational trust with the strategic direction.</a:t>
            </a:r>
          </a:p>
          <a:p>
            <a:r>
              <a:rPr lang="en-GB" dirty="0"/>
              <a:t>Why the role is inclined to it: The CHRO leads the building of capability. A briefing or a training session is easy to count as capability built. People have heard about the new work and have not yet practised it, so they make errors and go back to the old method.</a:t>
            </a:r>
          </a:p>
          <a:p>
            <a:r>
              <a:rPr lang="en-GB" dirty="0"/>
              <a:t>What sets it off: People attend a briefing or a training session and are then expected to perform. Nobody watches them do the new work and corrects them.</a:t>
            </a:r>
          </a:p>
          <a:p>
            <a:r>
              <a:rPr lang="en-GB" dirty="0"/>
              <a:t>What is seen and heard: Errors and rework rise. Everyone goes to the same one or two experts. People say “let me do it the old way to get it done.”</a:t>
            </a:r>
          </a:p>
          <a:p>
            <a:r>
              <a:rPr lang="en-GB" dirty="0"/>
              <a:t>What it costs: People lose confidence in themselves and in the change, and the old way starts to look safer.</a:t>
            </a:r>
          </a:p>
          <a:p>
            <a:r>
              <a:rPr lang="en-GB" dirty="0"/>
              <a:t>When CHRO alignment is absent, strategy consistently exceeds the human system’s capacity to carry it.</a:t>
            </a:r>
          </a:p>
          <a:p>
            <a:endParaRPr lang="en-GB" dirty="0"/>
          </a:p>
          <a:p>
            <a:r>
              <a:rPr lang="en-GB" dirty="0"/>
              <a:t>CTO/CIO · Tools · Hands (STAT).</a:t>
            </a:r>
          </a:p>
          <a:p>
            <a:r>
              <a:rPr lang="en-GB" dirty="0"/>
              <a:t>What people need: People need the systems and resources the new work depends on.</a:t>
            </a:r>
          </a:p>
          <a:p>
            <a:r>
              <a:rPr lang="en-GB" dirty="0"/>
              <a:t>Aligns technology architecture and data capability with the organisation’s strategic priorities and future operating model.</a:t>
            </a:r>
          </a:p>
          <a:p>
            <a:r>
              <a:rPr lang="en-GB" dirty="0"/>
              <a:t>Why the role is inclined to it: The CTO or CIO supplies the systems people work in every day. A new practice can be agreed long before the system, the form or the budget has changed to fit it. People then try the new way, find that the system still fits the old way, and build workarounds.</a:t>
            </a:r>
          </a:p>
          <a:p>
            <a:r>
              <a:rPr lang="en-GB" dirty="0"/>
              <a:t>What sets it off: The new practice starts before the system, the form or the access rights have been changed to support it.</a:t>
            </a:r>
          </a:p>
          <a:p>
            <a:r>
              <a:rPr lang="en-GB" dirty="0"/>
              <a:t>What is seen and heard: People keep their own spreadsheets beside the system. Work waits on another team for access or data.</a:t>
            </a:r>
          </a:p>
          <a:p>
            <a:r>
              <a:rPr lang="en-GB" dirty="0"/>
              <a:t>What it costs: People do the work twice, once in the new way and once in the old. The extra effort turns willing people against the change.</a:t>
            </a:r>
          </a:p>
          <a:p>
            <a:r>
              <a:rPr lang="en-GB" dirty="0"/>
              <a:t>When CTO/CIO alignment is absent, technology investments produce demonstrations with no capability shift.</a:t>
            </a:r>
          </a:p>
          <a:p>
            <a:endParaRPr lang="en-GB" dirty="0"/>
          </a:p>
          <a:p>
            <a:r>
              <a:rPr lang="en-GB" dirty="0"/>
              <a:t>CMO · Engagement · Habit (ACE-IT).</a:t>
            </a:r>
          </a:p>
          <a:p>
            <a:r>
              <a:rPr lang="en-GB" dirty="0"/>
              <a:t>What people need: People need a say in how the change is going.</a:t>
            </a:r>
          </a:p>
          <a:p>
            <a:r>
              <a:rPr lang="en-GB" dirty="0"/>
              <a:t>Aligns market positioning and brand promise with the organisation’s operational ability to deliver.</a:t>
            </a:r>
          </a:p>
          <a:p>
            <a:r>
              <a:rPr lang="en-GB" dirty="0"/>
              <a:t>Why the role is inclined to it: The CMO shapes the message about the change. A strong message travels one way, from leaders to people, and it is easy to treat the message as the conversation. People then have nowhere to say how the change is going, and they stop owning it.</a:t>
            </a:r>
          </a:p>
          <a:p>
            <a:r>
              <a:rPr lang="en-GB" dirty="0"/>
              <a:t>What sets it off: The change is launched as a campaign: a town hall, emails and posters. People are told about it and are never asked how it is going.</a:t>
            </a:r>
          </a:p>
          <a:p>
            <a:r>
              <a:rPr lang="en-GB" dirty="0"/>
              <a:t>What is seen and heard: Meetings about the change are presentations, and people ask nothing. Asked why the change matters, they cannot say it in their own words.</a:t>
            </a:r>
          </a:p>
          <a:p>
            <a:r>
              <a:rPr lang="en-GB" dirty="0"/>
              <a:t>What it costs: People stay spectators of the change, so it fades when the campaign ends.</a:t>
            </a:r>
          </a:p>
          <a:p>
            <a:r>
              <a:rPr lang="en-GB" dirty="0"/>
              <a:t>When CMO alignment is absent, market signals are disconnected from strategic direction, and brand promises outpace operational reality.</a:t>
            </a:r>
          </a:p>
          <a:p>
            <a:endParaRPr lang="en-GB" dirty="0"/>
          </a:p>
          <a:p>
            <a:r>
              <a:rPr lang="en-GB" dirty="0"/>
              <a:t>CCO · Fairness · Heart (SCARF).</a:t>
            </a:r>
          </a:p>
          <a:p>
            <a:r>
              <a:rPr lang="en-GB" dirty="0"/>
              <a:t>What people need: People need to see the change applied evenly.</a:t>
            </a:r>
          </a:p>
          <a:p>
            <a:r>
              <a:rPr lang="en-GB" dirty="0"/>
              <a:t>Aligns revenue generation and customer growth strategies with enterprise positioning and operational capacity.</a:t>
            </a:r>
          </a:p>
          <a:p>
            <a:r>
              <a:rPr lang="en-GB" dirty="0"/>
              <a:t>Why the role is inclined to it: The CCO sets the targets and the rewards. People read every target and every reward as a signal of what is fair. When the change asks more of one team than of another, or the rewards still favour the old behaviour, people stop wanting it to succeed.</a:t>
            </a:r>
          </a:p>
          <a:p>
            <a:r>
              <a:rPr lang="en-GB" dirty="0"/>
              <a:t>What sets it off: The change asks more of one team than of another, or the targets and rewards still pay for the old behaviour.</a:t>
            </a:r>
          </a:p>
          <a:p>
            <a:r>
              <a:rPr lang="en-GB" dirty="0"/>
              <a:t>What is seen and heard: People ask “why us and never them?” They talk about the change in the corridor and say nothing in the meeting.</a:t>
            </a:r>
          </a:p>
          <a:p>
            <a:r>
              <a:rPr lang="en-GB" dirty="0"/>
              <a:t>What it costs: People stop wanting the change to succeed. They do what is measured and hold back the rest.</a:t>
            </a:r>
          </a:p>
          <a:p>
            <a:r>
              <a:rPr lang="en-GB" dirty="0"/>
              <a:t>When CCO alignment is absent, growth strategies create internal incoherence that compounds over time.</a:t>
            </a:r>
          </a:p>
          <a:p>
            <a:endParaRPr lang="en-GB" dirty="0"/>
          </a:p>
          <a:p>
            <a:r>
              <a:rPr lang="en-GB" dirty="0"/>
              <a:t>CPO · Authority · Hands (STAT).</a:t>
            </a:r>
          </a:p>
          <a:p>
            <a:r>
              <a:rPr lang="en-GB" dirty="0"/>
              <a:t>What people need: People need permission to decide and act.</a:t>
            </a:r>
          </a:p>
          <a:p>
            <a:r>
              <a:rPr lang="en-GB" dirty="0"/>
              <a:t>Ensures procurement decisions strengthen operational capability and reinforce strategic priorities.</a:t>
            </a:r>
          </a:p>
          <a:p>
            <a:r>
              <a:rPr lang="en-GB" dirty="0"/>
              <a:t>Why the role is inclined to it: The CPO sets the approval rules for spend. A change often moves a decision closer to the front line, and the approval rule stays where it was. People then ask permission for what the change has asked them to do, and the decision travels back up.</a:t>
            </a:r>
          </a:p>
          <a:p>
            <a:r>
              <a:rPr lang="en-GB" dirty="0"/>
              <a:t>What sets it off: The change asks front-line people to decide for themselves, and the approval limits stay where they were. The first person who decides alone is overruled.</a:t>
            </a:r>
          </a:p>
          <a:p>
            <a:r>
              <a:rPr lang="en-GB" dirty="0"/>
              <a:t>What is seen and heard: Requests for approval rise. People ask “am I allowed to do this?” about the very thing the change asks of them.</a:t>
            </a:r>
          </a:p>
          <a:p>
            <a:r>
              <a:rPr lang="en-GB" dirty="0"/>
              <a:t>What it costs: Decisions travel back up, and the new way runs slower than the old one. People conclude that the change is talk.</a:t>
            </a:r>
          </a:p>
          <a:p>
            <a:r>
              <a:rPr lang="en-GB" dirty="0"/>
              <a:t>When CPO alignment is absent, procurement optimises for cost at the expense of strategic capability.</a:t>
            </a:r>
          </a:p>
          <a:p>
            <a:endParaRPr lang="en-GB" dirty="0"/>
          </a:p>
          <a:p>
            <a:r>
              <a:rPr lang="en-GB" dirty="0"/>
              <a:t>CRO · Autonomy · Heart (SCARF).</a:t>
            </a:r>
          </a:p>
          <a:p>
            <a:r>
              <a:rPr lang="en-GB" dirty="0"/>
              <a:t>What people need: People need some control over how they do their own work.</a:t>
            </a:r>
          </a:p>
          <a:p>
            <a:r>
              <a:rPr lang="en-GB" dirty="0"/>
              <a:t>Aligns enterprise risk interpretation so that strategic initiatives operate within a shared risk appetite framework.</a:t>
            </a:r>
          </a:p>
          <a:p>
            <a:r>
              <a:rPr lang="en-GB" dirty="0"/>
              <a:t>Why the role is inclined to it: The CRO sets the controls and the reporting. Each control is added for a sound reason, and each one takes some discretion from the people doing the work. As the controls add up, people feel they have lost control of their own work, and they comply without energy.</a:t>
            </a:r>
          </a:p>
          <a:p>
            <a:r>
              <a:rPr lang="en-GB" dirty="0"/>
              <a:t>What sets it off: New controls, sign-offs or reports arrive with the change, and people are given no choice in how they meet them.</a:t>
            </a:r>
          </a:p>
          <a:p>
            <a:r>
              <a:rPr lang="en-GB" dirty="0"/>
              <a:t>What is seen and heard: People do exactly what the rule says and nothing more. Forms are completed and questions stop.</a:t>
            </a:r>
          </a:p>
          <a:p>
            <a:r>
              <a:rPr lang="en-GB" dirty="0"/>
              <a:t>What it costs: People comply and stop caring. The paperwork arrives, and the judgement and energy the change depends on are lost.</a:t>
            </a:r>
          </a:p>
          <a:p>
            <a:r>
              <a:rPr lang="en-GB" dirty="0"/>
              <a:t>When CRO alignment is absent, risk appetite becomes function-by-function interpretation, creating asymmetric exposure.</a:t>
            </a:r>
          </a:p>
          <a:p>
            <a:r>
              <a:rPr lang="en-GB" dirty="0"/>
              <a:t>CSO · Stake · Mind (3S).</a:t>
            </a:r>
          </a:p>
          <a:p>
            <a:r>
              <a:rPr lang="en-GB" dirty="0"/>
              <a:t>What people need: People need to know why the change matters to them.</a:t>
            </a:r>
          </a:p>
          <a:p>
            <a:r>
              <a:rPr lang="en-GB" dirty="0"/>
              <a:t>Maintains the integrity of the strategic narrative as it moves from formulation into execution across the organisation.</a:t>
            </a:r>
          </a:p>
          <a:p>
            <a:r>
              <a:rPr lang="en-GB" dirty="0"/>
              <a:t>Why the role is inclined to it: The CSO holds the reasoning behind the strategy. That reasoning is usually stated as a benefit to the enterprise: growth, margin or position. A benefit that never reaches a team’s own work sounds like someone else’s reason, so people can describe the change and cannot say what it is for.</a:t>
            </a:r>
          </a:p>
          <a:p>
            <a:r>
              <a:rPr lang="en-GB" dirty="0"/>
              <a:t>What sets it off: The reason for the change is given as a benefit to the organisation, such as growth or margin. Nobody says what the team gains, or what it loses by staying as it is.</a:t>
            </a:r>
          </a:p>
          <a:p>
            <a:r>
              <a:rPr lang="en-GB" dirty="0"/>
              <a:t>What is seen and heard: People say “because head office said so.” They can describe the change and cannot say what it is for.</a:t>
            </a:r>
          </a:p>
          <a:p>
            <a:r>
              <a:rPr lang="en-GB" dirty="0"/>
              <a:t>What it costs: People carry out the change while they are watched and set it aside under pressure. They have the instruction and are missing the reason.</a:t>
            </a:r>
          </a:p>
          <a:p>
            <a:r>
              <a:rPr lang="en-GB" dirty="0"/>
              <a:t>When CSO alignment is absent, the strategic narrative fragments and different layers execute different versions of the strategy.</a:t>
            </a:r>
          </a:p>
          <a:p>
            <a:endParaRPr lang="en-GB" dirty="0"/>
          </a:p>
          <a:p>
            <a:endParaRPr lang="en-GB" b="1" dirty="0"/>
          </a:p>
          <a:p>
            <a:r>
              <a:rPr lang="en-GB" b="1" dirty="0"/>
              <a:t>ON THE PORTAL, AFTER THE TEACHING:</a:t>
            </a:r>
          </a:p>
          <a:p>
            <a:r>
              <a:rPr lang="en-GB" dirty="0"/>
              <a:t>Participants write the reflection of 4.2 in the participant file:</a:t>
            </a:r>
          </a:p>
          <a:p>
            <a:r>
              <a:rPr lang="en-GB" dirty="0"/>
              <a:t>"What is the most important alignment conversation you need to have next with a closely adjacent role? What would that conversation need to address?"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b="1" dirty="0"/>
              <a:t>SECTION 4 REFLECTIONS</a:t>
            </a:r>
          </a:p>
          <a:p>
            <a:endParaRPr lang="en-GB" dirty="0"/>
          </a:p>
          <a:p>
            <a:r>
              <a:rPr lang="en-GB" b="1" dirty="0"/>
              <a:t>HOW TO USE THIS SLIDE:</a:t>
            </a:r>
          </a:p>
          <a:p>
            <a:endParaRPr lang="en-GB" dirty="0"/>
          </a:p>
          <a:p>
            <a:r>
              <a:rPr lang="en-GB" b="1" dirty="0"/>
              <a:t>1. Show the slide and read the prompts aloud.</a:t>
            </a:r>
          </a:p>
          <a:p>
            <a:r>
              <a:rPr lang="en-GB" dirty="0"/>
              <a:t>4.1 Reflection — One voice: "Choose one group in your organisation. List every change the leadership team is asking of it this quarter. How many are there? Which of the four commitments is weakest in your team today?"</a:t>
            </a:r>
          </a:p>
          <a:p>
            <a:endParaRPr lang="en-GB" dirty="0"/>
          </a:p>
          <a:p>
            <a:r>
              <a:rPr lang="en-GB" dirty="0"/>
              <a:t>4.2 Reflection: "What is the most important alignment conversation you need to have next with a closely adjacent role? What would that conversation need to address?"</a:t>
            </a:r>
          </a:p>
          <a:p>
            <a:endParaRPr lang="en-GB" dirty="0"/>
          </a:p>
          <a:p>
            <a:r>
              <a:rPr lang="en-GB" b="1" dirty="0"/>
              <a:t>2. Say what the reflections are for.</a:t>
            </a:r>
          </a:p>
          <a:p>
            <a:r>
              <a:rPr lang="en-GB" dirty="0"/>
              <a:t>Point learners to the portal section that they will be required to complete with as much depth as possible.</a:t>
            </a:r>
          </a:p>
          <a:p>
            <a:r>
              <a:rPr lang="en-GB" dirty="0"/>
              <a:t>The reflections build the learning portfolio they receive at the end of the programme.</a:t>
            </a:r>
          </a:p>
          <a:p>
            <a:endParaRPr lang="en-GB" dirty="0"/>
          </a:p>
          <a:p>
            <a:r>
              <a:rPr lang="en-GB" dirty="0"/>
              <a:t>Say: "You write these reflections on the portal after the teaching, with as much depth as you can."</a:t>
            </a:r>
          </a:p>
          <a:p>
            <a:endParaRPr lang="en-GB" dirty="0"/>
          </a:p>
          <a:p>
            <a:r>
              <a:rPr lang="en-GB" b="1" dirty="0"/>
              <a:t>3. Set the standard.</a:t>
            </a:r>
          </a:p>
          <a:p>
            <a:r>
              <a:rPr lang="en-GB" dirty="0"/>
              <a:t>Say: "For 4.1, count the changes and name the weakest commitment. For 4.2, name the role and what the conversation must address."</a:t>
            </a:r>
          </a:p>
          <a:p>
            <a:r>
              <a:rPr lang="en-GB" dirty="0"/>
              <a:t>Watch for: a conversation with no named role. Ask: "Which role, and by when?"</a:t>
            </a:r>
          </a:p>
          <a:p>
            <a:endParaRPr lang="en-GB" dirty="0"/>
          </a:p>
          <a:p>
            <a:r>
              <a:rPr lang="en-GB" b="1" dirty="0"/>
              <a:t>4. Bridge to Section 5.</a:t>
            </a:r>
          </a:p>
          <a:p>
            <a:r>
              <a:rPr lang="en-GB" dirty="0"/>
              <a:t>Say: "We have the checks, the commitments and the hot zones. Section 5 applies two of the tools to the strategy in your Capstone Blueprint."</a:t>
            </a:r>
          </a:p>
          <a:p>
            <a:endParaRPr lang="en-GB" dirty="0"/>
          </a:p>
          <a:p>
            <a:r>
              <a:rPr lang="en-GB" b="1" dirty="0"/>
              <a:t>ON THE PORTAL, AFTER THE TEACHING:</a:t>
            </a:r>
          </a:p>
          <a:p>
            <a:r>
              <a:rPr lang="en-GB" dirty="0"/>
              <a:t>Participants write these two reflections in Section 4 of the participant file, at the foot of parts 4.1 and 4.2.</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SECTION 5 · APPLICATION — IN PRACTICE</a:t>
            </a:r>
          </a:p>
          <a:p>
            <a:endParaRPr lang="en-GB"/>
          </a:p>
          <a:p>
            <a:r>
              <a:rPr lang="en-GB"/>
              <a:t>HOW THIS SECTION RUNS:</a:t>
            </a:r>
          </a:p>
          <a:p>
            <a:r>
              <a:rPr lang="en-GB"/>
              <a:t>Step 1 · The 3S Check. Your group states three things for the strategy in your Capstone Blueprint: the Shift (what is changing), the Stake (what the organisation gains if it changes, and what it loses if it stays as it is) and the Step (what must be done differently). The guide from part 1.3.1 sits beside each box.</a:t>
            </a:r>
          </a:p>
          <a:p>
            <a:endParaRPr lang="en-GB"/>
          </a:p>
          <a:p>
            <a:r>
              <a:rPr lang="en-GB"/>
              <a:t>Step 2 · ACE-IT. Your group reads its team OCEAVL profile and names the two dimensions on which the team carries the highest risk for the strategy, with the response to each. It then states the behaviour it expects from the leadership team under each of the five ACE-IT behaviours: Accountability, Commitment, Engagement, Integrity and Transparency. The guide from part 1.3.4 sits beside each box.</a:t>
            </a:r>
          </a:p>
          <a:p>
            <a:r>
              <a:rPr lang="en-GB"/>
              <a:t>You then select Agree. This is Capstone work, and when every member has agreed, your record feeds your team’s Capstone Blueprint.</a:t>
            </a:r>
          </a:p>
          <a:p>
            <a:endParaRPr lang="en-GB"/>
          </a:p>
          <a:p>
            <a:r>
              <a:rPr lang="en-GB"/>
              <a:t>SECTION LEARNING OUTCOMES:</a:t>
            </a:r>
          </a:p>
          <a:p>
            <a:r>
              <a:rPr lang="en-GB"/>
              <a:t>1. Develop an approach to landing the strategy that builds understanding, readiness and adoption.</a:t>
            </a:r>
          </a:p>
          <a:p>
            <a:r>
              <a:rPr lang="en-GB"/>
              <a:t>2. Model and reinforce leadership behaviours that strengthen collective strategic alignment.</a:t>
            </a:r>
          </a:p>
          <a:p>
            <a:endParaRPr lang="en-GB"/>
          </a:p>
          <a:p>
            <a:r>
              <a:rPr lang="en-GB"/>
              <a:t>HOW TO OPEN THE SECTION:</a:t>
            </a:r>
          </a:p>
          <a:p>
            <a:endParaRPr lang="en-GB"/>
          </a:p>
          <a:p>
            <a:r>
              <a:rPr lang="en-GB"/>
              <a:t>1. Say what the section does.</a:t>
            </a:r>
          </a:p>
          <a:p>
            <a:r>
              <a:rPr lang="en-GB"/>
              <a:t>Say: "In this section your group builds the case for the change your strategy asks of people.</a:t>
            </a:r>
          </a:p>
          <a:p>
            <a:r>
              <a:rPr lang="en-GB"/>
              <a:t>With the 3S Check you state the change.</a:t>
            </a:r>
          </a:p>
          <a:p>
            <a:r>
              <a:rPr lang="en-GB"/>
              <a:t>With ACE-IT you state the leadership behaviours that will hold it in place."</a:t>
            </a:r>
          </a:p>
          <a:p>
            <a:endParaRPr lang="en-GB"/>
          </a:p>
          <a:p>
            <a:r>
              <a:rPr lang="en-GB"/>
              <a:t>2. Say how the group works.</a:t>
            </a:r>
          </a:p>
          <a:p>
            <a:r>
              <a:rPr lang="en-GB"/>
              <a:t>Say: "Both steps are group work.</a:t>
            </a:r>
          </a:p>
          <a:p>
            <a:r>
              <a:rPr lang="en-GB"/>
              <a:t>Your group agrees each entry.</a:t>
            </a:r>
          </a:p>
          <a:p>
            <a:r>
              <a:rPr lang="en-GB"/>
              <a:t>Your group chooses its scribe for this work.</a:t>
            </a:r>
          </a:p>
          <a:p>
            <a:r>
              <a:rPr lang="en-GB"/>
              <a:t>The entries appear on every member’s page, and each member then selects Agree."</a:t>
            </a:r>
          </a:p>
          <a:p>
            <a:endParaRPr lang="en-GB"/>
          </a:p>
          <a:p>
            <a:r>
              <a:rPr lang="en-GB"/>
              <a:t>3. Say where the work goes.</a:t>
            </a:r>
          </a:p>
          <a:p>
            <a:r>
              <a:rPr lang="en-GB"/>
              <a:t>Say: "This is Capstone work. Your group’s confirmed record feeds your team’s Capstone Blueprint."</a:t>
            </a:r>
          </a:p>
          <a:p>
            <a:r>
              <a:rPr lang="en-GB"/>
              <a:t>Step 2 needs the team’s OCEAVL profile. Every member completes and submits the assessment in 3.1 first.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SECTION 5 · STEP 1 — THE 3S CHECK (CAPSTONE WORK)</a:t>
            </a:r>
          </a:p>
          <a:p>
            <a:endParaRPr lang="en-GB" dirty="0"/>
          </a:p>
          <a:p>
            <a:r>
              <a:rPr lang="en-GB" b="1" dirty="0"/>
              <a:t>HOW TO TEACH IT:</a:t>
            </a:r>
          </a:p>
          <a:p>
            <a:r>
              <a:rPr lang="en-ZA" sz="1200" b="0" i="0" kern="1200" dirty="0">
                <a:solidFill>
                  <a:schemeClr val="tx1"/>
                </a:solidFill>
                <a:effectLst/>
                <a:latin typeface="+mn-lt"/>
                <a:ea typeface="+mn-ea"/>
                <a:cs typeface="+mn-cs"/>
              </a:rPr>
              <a:t>This is group work. Your group builds the case for the change your strategy asks of people, in two steps:</a:t>
            </a:r>
          </a:p>
          <a:p>
            <a:pPr lvl="0"/>
            <a:endParaRPr lang="en-ZA" sz="1200" b="1" i="0" kern="1200" dirty="0">
              <a:solidFill>
                <a:schemeClr val="tx1"/>
              </a:solidFill>
              <a:effectLst/>
              <a:latin typeface="+mn-lt"/>
              <a:ea typeface="+mn-ea"/>
              <a:cs typeface="+mn-cs"/>
            </a:endParaRPr>
          </a:p>
          <a:p>
            <a:endParaRPr lang="en-GB" dirty="0"/>
          </a:p>
          <a:p>
            <a:r>
              <a:rPr lang="en-GB" b="1" dirty="0"/>
              <a:t>1. Brief the step.</a:t>
            </a:r>
          </a:p>
          <a:p>
            <a:r>
              <a:rPr lang="en-GB" dirty="0"/>
              <a:t>Say: "Your page shows the Start and Stop lists your group confirmed in Unit 3.</a:t>
            </a:r>
          </a:p>
          <a:p>
            <a:r>
              <a:rPr lang="en-GB" dirty="0"/>
              <a:t>These are the changes your strategy asks of people.</a:t>
            </a:r>
          </a:p>
          <a:p>
            <a:r>
              <a:rPr lang="en-GB" dirty="0"/>
              <a:t>Your group states one Shift, one Stake and one Step for the strategy."</a:t>
            </a:r>
          </a:p>
          <a:p>
            <a:endParaRPr lang="en-GB" dirty="0"/>
          </a:p>
          <a:p>
            <a:r>
              <a:rPr lang="en-GB" b="1" dirty="0"/>
              <a:t>2. Teach each of the three with its guide.</a:t>
            </a:r>
          </a:p>
          <a:p>
            <a:r>
              <a:rPr lang="en-GB" dirty="0"/>
              <a:t>The guide beside each box is the lesson of 1.3.1.</a:t>
            </a:r>
          </a:p>
          <a:p>
            <a:r>
              <a:rPr lang="en-GB" dirty="0"/>
              <a:t>Shift · “What is changing?”</a:t>
            </a:r>
          </a:p>
          <a:p>
            <a:r>
              <a:rPr lang="en-GB" dirty="0"/>
              <a:t>What it is: The Shift names the practice that ends and the practice that begins, for a named group, from a named date. </a:t>
            </a:r>
          </a:p>
          <a:p>
            <a:r>
              <a:rPr lang="en-GB" dirty="0"/>
              <a:t>It is concrete enough to be observed: someone watching the work could tell whether it is happening. </a:t>
            </a:r>
          </a:p>
          <a:p>
            <a:r>
              <a:rPr lang="en-GB" dirty="0"/>
              <a:t>A direction such as “more customer-focused” leaves every person to decide what it means, and each will decide differently.</a:t>
            </a:r>
          </a:p>
          <a:p>
            <a:r>
              <a:rPr lang="en-GB" dirty="0"/>
              <a:t>Weak: “We are becoming more customer-focused.”</a:t>
            </a:r>
          </a:p>
          <a:p>
            <a:r>
              <a:rPr lang="en-GB" dirty="0"/>
              <a:t>Clear: “From March, agents resolve complaints on the first call.”</a:t>
            </a:r>
          </a:p>
          <a:p>
            <a:r>
              <a:rPr lang="en-GB" dirty="0"/>
              <a:t>Leader’s move: State the Shift as from and to: what stops, what starts, for whom, from when.</a:t>
            </a:r>
          </a:p>
          <a:p>
            <a:r>
              <a:rPr lang="en-GB" dirty="0"/>
              <a:t>The group answers: What is changing?</a:t>
            </a:r>
          </a:p>
          <a:p>
            <a:endParaRPr lang="en-GB" dirty="0"/>
          </a:p>
          <a:p>
            <a:r>
              <a:rPr lang="en-GB" dirty="0"/>
              <a:t>Stake · “What do we gain if we change, and what do we lose if we stay as we are?”</a:t>
            </a:r>
          </a:p>
          <a:p>
            <a:r>
              <a:rPr lang="en-GB" dirty="0"/>
              <a:t>What it is: The Stake is why the change matters, and it has two sides. The gain says what the change is for. The loss says what standing still will cost. Both are needed, because people weigh a loss more heavily than an equal gain. A change described only by its benefits leaves the people affected holding the one visible loss: the practice they are asked to give up. Naming what is lost by staying put places a second loss on the scales. The Stake is stated in terms the affected group cares about. An enterprise benefit that never reaches their work reads as someone else’s reason.</a:t>
            </a:r>
          </a:p>
          <a:p>
            <a:r>
              <a:rPr lang="en-GB" dirty="0"/>
              <a:t>Weak: “It supports our strategy.”</a:t>
            </a:r>
          </a:p>
          <a:p>
            <a:r>
              <a:rPr lang="en-GB" dirty="0"/>
              <a:t>Clear: “We keep the customers who now leave after a two-day wait. If we stay as we are, we keep losing them.”</a:t>
            </a:r>
          </a:p>
          <a:p>
            <a:r>
              <a:rPr lang="en-GB" dirty="0"/>
              <a:t>Leader’s move: State the gain and the loss together, in the group’s own terms.</a:t>
            </a:r>
          </a:p>
          <a:p>
            <a:r>
              <a:rPr lang="en-GB" dirty="0"/>
              <a:t>The group answers: What will the organisation gain if it changes, and what will it lose if it stays as it is?</a:t>
            </a:r>
          </a:p>
          <a:p>
            <a:endParaRPr lang="en-GB" dirty="0"/>
          </a:p>
          <a:p>
            <a:r>
              <a:rPr lang="en-GB" dirty="0"/>
              <a:t>Step · “What do I do differently?”</a:t>
            </a:r>
          </a:p>
          <a:p>
            <a:r>
              <a:rPr lang="en-GB" dirty="0"/>
              <a:t>What it is: The Step is the person’s own part. It is said in the first person and is small enough to do next week. The Shift belongs to the organisation and the Step belongs to the person, so each role affected needs its own. A change with a clear Shift and no Step is understood as something that will happen to other people.</a:t>
            </a:r>
          </a:p>
          <a:p>
            <a:r>
              <a:rPr lang="en-GB" dirty="0"/>
              <a:t>Weak: “Embrace the new process.”</a:t>
            </a:r>
          </a:p>
          <a:p>
            <a:r>
              <a:rPr lang="en-GB" dirty="0"/>
              <a:t>Clear: “I decide on the call, within my limit.”</a:t>
            </a:r>
          </a:p>
          <a:p>
            <a:r>
              <a:rPr lang="en-GB" dirty="0"/>
              <a:t>Leader’s move: Give each affected role its own Step, and ask people to say it back.</a:t>
            </a:r>
          </a:p>
          <a:p>
            <a:r>
              <a:rPr lang="en-GB" dirty="0"/>
              <a:t>The group answers: What must be done differently?</a:t>
            </a:r>
          </a:p>
          <a:p>
            <a:endParaRPr lang="en-GB" dirty="0"/>
          </a:p>
          <a:p>
            <a:endParaRPr lang="en-GB" dirty="0"/>
          </a:p>
          <a:p>
            <a:r>
              <a:rPr lang="en-GB" b="1" dirty="0"/>
              <a:t>ON THE PORTAL, AFTER THE TEACHING:</a:t>
            </a:r>
          </a:p>
          <a:p>
            <a:r>
              <a:rPr lang="en-GB" dirty="0"/>
              <a:t>Participants work as a group in Step 1 of Section 5 of the participant file. This is Capstone work.</a:t>
            </a:r>
          </a:p>
          <a:p>
            <a:r>
              <a:rPr lang="en-GB" dirty="0"/>
              <a:t>1. The group reads the practices the strategy starts and stops. Each page shows the Start and Stop lists the group confirmed in Unit 3.</a:t>
            </a:r>
          </a:p>
          <a:p>
            <a:r>
              <a:rPr lang="en-GB" dirty="0"/>
              <a:t>2. The group reads the guide in each card. It is the lesson from part 1.3.1.</a:t>
            </a:r>
          </a:p>
          <a:p>
            <a:r>
              <a:rPr lang="en-GB" dirty="0"/>
              <a:t>3. The group agrees its Shift, Stake and Step for the strategy, and each participant writes them in the three boxes.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SECTION 5 · STEP 2 — ACE-IT (CAPSTONE WORK)</a:t>
            </a:r>
          </a:p>
          <a:p>
            <a:endParaRPr lang="en-GB"/>
          </a:p>
          <a:p>
            <a:r>
              <a:rPr lang="en-GB"/>
              <a:t>HOW TO TEACH IT:</a:t>
            </a:r>
          </a:p>
          <a:p>
            <a:endParaRPr lang="en-GB"/>
          </a:p>
          <a:p>
            <a:r>
              <a:rPr lang="en-GB"/>
              <a:t>1. Open with the team’s OCEAVL profile.</a:t>
            </a:r>
          </a:p>
          <a:p>
            <a:r>
              <a:rPr lang="en-GB"/>
              <a:t>Say: "Your page shows your team’s OCEAVL profile: the team’s level on each dimension, with its risk and its response.</a:t>
            </a:r>
          </a:p>
          <a:p>
            <a:r>
              <a:rPr lang="en-GB"/>
              <a:t>It appears once every member of your team has submitted their scores in part 3.1."</a:t>
            </a:r>
          </a:p>
          <a:p>
            <a:r>
              <a:rPr lang="en-GB"/>
              <a:t>Where a member has not yet submitted, the profile shows how many have. The group completes 3.1 first.</a:t>
            </a:r>
          </a:p>
          <a:p>
            <a:endParaRPr lang="en-GB"/>
          </a:p>
          <a:p>
            <a:r>
              <a:rPr lang="en-GB"/>
              <a:t>Deepen, say: "The same input lands differently depending on the ground it falls on.</a:t>
            </a:r>
          </a:p>
          <a:p>
            <a:r>
              <a:rPr lang="en-GB"/>
              <a:t>When a change initiative fails to take, the reflex is to blame the message.</a:t>
            </a:r>
          </a:p>
          <a:p>
            <a:r>
              <a:rPr lang="en-GB"/>
              <a:t>First diagnose the conditions stopping good input from rooting."</a:t>
            </a:r>
          </a:p>
          <a:p>
            <a:r>
              <a:rPr lang="en-GB"/>
              <a:t>(Insight: Diagnose the soil. Source: Journal, 21 May 2026 — Professional Insights: Culture)</a:t>
            </a:r>
          </a:p>
          <a:p>
            <a:endParaRPr lang="en-GB"/>
          </a:p>
          <a:p>
            <a:r>
              <a:rPr lang="en-GB"/>
              <a:t>2. Name the two highest-risk dimensions.</a:t>
            </a:r>
          </a:p>
          <a:p>
            <a:r>
              <a:rPr lang="en-GB"/>
              <a:t>Say: "From your team’s profile, your group names the two dimensions on which your executive team carries the highest risk for the strategy, and the response your team adopts for each.</a:t>
            </a:r>
          </a:p>
          <a:p>
            <a:r>
              <a:rPr lang="en-GB"/>
              <a:t>The profile gives the risk and the response at your team’s level."</a:t>
            </a:r>
          </a:p>
          <a:p>
            <a:r>
              <a:rPr lang="en-GB"/>
              <a:t>Ask: "Which level in your team’s profile carries the highest risk for this change? Which ACE-IT behaviour answers it?"</a:t>
            </a:r>
          </a:p>
          <a:p>
            <a:endParaRPr lang="en-GB"/>
          </a:p>
          <a:p>
            <a:r>
              <a:rPr lang="en-GB"/>
              <a:t>3. Teach each of the five behaviours with its guide.</a:t>
            </a:r>
          </a:p>
          <a:p>
            <a:r>
              <a:rPr lang="en-GB"/>
              <a:t>The guide beside each box is the lesson of 1.3.4.</a:t>
            </a:r>
          </a:p>
          <a:p>
            <a:r>
              <a:rPr lang="en-GB"/>
              <a:t>Accountability</a:t>
            </a:r>
          </a:p>
          <a:p>
            <a:r>
              <a:rPr lang="en-GB"/>
              <a:t>Definition: Taking full ownership for results. Acknowledging missteps and driving corrective action.</a:t>
            </a:r>
          </a:p>
          <a:p>
            <a:r>
              <a:rPr lang="en-GB"/>
              <a:t>What it does for a new practice: One named person owns the practice and its result.</a:t>
            </a:r>
          </a:p>
          <a:p>
            <a:r>
              <a:rPr lang="en-GB"/>
              <a:t>Observable: Commitments tracked • Reviews end with named owners • “We missed it, here’s the fix” language common</a:t>
            </a:r>
          </a:p>
          <a:p>
            <a:endParaRPr lang="en-GB"/>
          </a:p>
          <a:p>
            <a:r>
              <a:rPr lang="en-GB"/>
              <a:t>Commitment</a:t>
            </a:r>
          </a:p>
          <a:p>
            <a:r>
              <a:rPr lang="en-GB"/>
              <a:t>Definition: Staying anchored to agreed strategic intent even when pressure rises. Following through despite discomfort.</a:t>
            </a:r>
          </a:p>
          <a:p>
            <a:r>
              <a:rPr lang="en-GB"/>
              <a:t>What it does for a new practice: The practice is kept when pressure rises and the old way is quicker.</a:t>
            </a:r>
          </a:p>
          <a:p>
            <a:r>
              <a:rPr lang="en-GB"/>
              <a:t>Observable: Strategic priorities stay consistent • Leaders decline non-strategic work • Promises kept visibly</a:t>
            </a:r>
          </a:p>
          <a:p>
            <a:endParaRPr lang="en-GB"/>
          </a:p>
          <a:p>
            <a:r>
              <a:rPr lang="en-GB"/>
              <a:t>Engagement</a:t>
            </a:r>
          </a:p>
          <a:p>
            <a:r>
              <a:rPr lang="en-GB"/>
              <a:t>Definition: Actively involving self and others in sense-making, dialogue, and execution. Listening to understand.</a:t>
            </a:r>
          </a:p>
          <a:p>
            <a:r>
              <a:rPr lang="en-GB"/>
              <a:t>What it does for a new practice: People talk about how it is going and improve it together.</a:t>
            </a:r>
          </a:p>
          <a:p>
            <a:r>
              <a:rPr lang="en-GB"/>
              <a:t>Observable: Team meetings are two-way • Feedback loops visible • People quote the shared “why”</a:t>
            </a:r>
          </a:p>
          <a:p>
            <a:endParaRPr lang="en-GB"/>
          </a:p>
          <a:p>
            <a:r>
              <a:rPr lang="en-GB"/>
              <a:t>Integrity</a:t>
            </a:r>
          </a:p>
          <a:p>
            <a:r>
              <a:rPr lang="en-GB"/>
              <a:t>Definition: Acting consistently with values, facts, and truth — even when inconvenient. Declaring conflicts of interest early.</a:t>
            </a:r>
          </a:p>
          <a:p>
            <a:r>
              <a:rPr lang="en-GB"/>
              <a:t>What it does for a new practice: Slips are reported as they are, and early.</a:t>
            </a:r>
          </a:p>
          <a:p>
            <a:r>
              <a:rPr lang="en-GB"/>
              <a:t>Observable: Evidence cited before decisions • Values referenced in hard choices • Teams trust word matches deed</a:t>
            </a:r>
          </a:p>
          <a:p>
            <a:endParaRPr lang="en-GB"/>
          </a:p>
          <a:p>
            <a:r>
              <a:rPr lang="en-GB"/>
              <a:t>Transparency</a:t>
            </a:r>
          </a:p>
          <a:p>
            <a:r>
              <a:rPr lang="en-GB"/>
              <a:t>Definition: Making reasoning, progress, and constraints visible to all stakeholders. Sharing challenges openly.</a:t>
            </a:r>
          </a:p>
          <a:p>
            <a:r>
              <a:rPr lang="en-GB"/>
              <a:t>What it does for a new practice: Its results are visible to everyone the change affects.</a:t>
            </a:r>
          </a:p>
          <a:p>
            <a:r>
              <a:rPr lang="en-GB"/>
              <a:t>Observable: Dashboards updated regularly • Decisions logged and accessible • “No surprises” culture evident</a:t>
            </a:r>
          </a:p>
          <a:p>
            <a:endParaRPr lang="en-GB"/>
          </a:p>
          <a:p>
            <a:r>
              <a:rPr lang="en-GB"/>
              <a:t>For each behaviour the group writes: the behaviour we expect from our leadership team.</a:t>
            </a:r>
          </a:p>
          <a:p>
            <a:endParaRPr lang="en-GB"/>
          </a:p>
          <a:p>
            <a:r>
              <a:rPr lang="en-GB"/>
              <a:t>4. Give the example.</a:t>
            </a:r>
          </a:p>
          <a:p>
            <a:endParaRPr lang="en-GB"/>
          </a:p>
          <a:p>
            <a:r>
              <a:rPr lang="en-GB"/>
              <a:t>EXAMPLE</a:t>
            </a:r>
          </a:p>
          <a:p>
            <a:r>
              <a:rPr lang="en-GB"/>
              <a:t>The team’s level on Agreeableness is High.</a:t>
            </a:r>
          </a:p>
          <a:p>
            <a:r>
              <a:rPr lang="en-GB"/>
              <a:t>Risk: Agreement given without genuine commitment; team over-commits; resentment builds beneath surface harmony.</a:t>
            </a:r>
          </a:p>
          <a:p>
            <a:r>
              <a:rPr lang="en-GB"/>
              <a:t>Expected behaviour under Commitment: “Each of us states our capacity before we accept new work for this change.”</a:t>
            </a:r>
          </a:p>
          <a:p>
            <a:endParaRPr lang="en-GB"/>
          </a:p>
          <a:p>
            <a:r>
              <a:rPr lang="en-GB"/>
              <a:t>ON THE PORTAL, AFTER THE TEACHING:</a:t>
            </a:r>
          </a:p>
          <a:p>
            <a:r>
              <a:rPr lang="en-GB"/>
              <a:t>Participants work as a group in Step 2 of Section 5 of the participant file. This is Capstone work.</a:t>
            </a:r>
          </a:p>
          <a:p>
            <a:r>
              <a:rPr lang="en-GB"/>
              <a:t>1. The group reads its team OCEAVL profile, shown on each page once every member of the team has submitted their scores in part 3.1.</a:t>
            </a:r>
          </a:p>
          <a:p>
            <a:r>
              <a:rPr lang="en-GB"/>
              <a:t>2. The group names the two dimensions on which its executive team carries the highest risk for the strategy, and the response it adopts for each.</a:t>
            </a:r>
          </a:p>
          <a:p>
            <a:r>
              <a:rPr lang="en-GB"/>
              <a:t>3. The group reads the guide in each card. It is the lesson from part 1.3.4.</a:t>
            </a:r>
          </a:p>
          <a:p>
            <a:r>
              <a:rPr lang="en-GB"/>
              <a:t>4. For each behaviour, the group agrees what it expects to see the leadership team do so that the change in Step 1 holds. Where the team’s level carries a risk for this change, the group states the behaviour that answers it.</a:t>
            </a:r>
          </a:p>
          <a:p>
            <a:r>
              <a:rPr lang="en-GB"/>
              <a:t>5. Each participant reads the record and selects Agree. Print gives a copy of the record.</a:t>
            </a:r>
          </a:p>
          <a:p>
            <a:endParaRPr lang="en-GB"/>
          </a:p>
          <a:p>
            <a:r>
              <a:rPr lang="en-GB"/>
              <a:t>AFTER THE SESSION:</a:t>
            </a:r>
          </a:p>
          <a:p>
            <a:r>
              <a:rPr lang="en-GB"/>
              <a:t>The record reaches you with each participant’s submission, under the heading Leading with Clarity.</a:t>
            </a:r>
          </a:p>
          <a:p>
            <a:r>
              <a:rPr lang="en-GB"/>
              <a:t>The agreed record feeds boxes 5A to 5C of the team’s Capstone Blueprint: the two highest-risk dimensions in 5A, the Shift, Stake and Step in 5B, the expected leadership behaviours in 5C.</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UNIT SUMMARY (UNIT 5 SYNTHESIS)</a:t>
            </a:r>
          </a:p>
          <a:p>
            <a:endParaRPr lang="en-GB"/>
          </a:p>
          <a:p>
            <a:r>
              <a:rPr lang="en-GB"/>
              <a:t>HOW TO TEACH IT:</a:t>
            </a:r>
          </a:p>
          <a:p>
            <a:endParaRPr lang="en-GB"/>
          </a:p>
          <a:p>
            <a:r>
              <a:rPr lang="en-GB"/>
              <a:t>1. Recap the unit, section by section.</a:t>
            </a:r>
          </a:p>
          <a:p>
            <a:r>
              <a:rPr lang="en-GB"/>
              <a:t>Say: "This session was about the human conditions that decide whether a strategy ever moves.</a:t>
            </a:r>
          </a:p>
          <a:p>
            <a:r>
              <a:rPr lang="en-GB"/>
              <a:t>Aligning Heart &amp; Mind treated execution as first a human problem: strategy moves through people before it moves through systems."</a:t>
            </a:r>
          </a:p>
          <a:p>
            <a:r>
              <a:rPr lang="en-GB"/>
              <a:t>- 1 · Awareness: strategy enters through Cognition (Mind) and Emotion (Heart). Five principles describe how alignment is created and sustained.</a:t>
            </a:r>
          </a:p>
          <a:p>
            <a:r>
              <a:rPr lang="en-GB"/>
              <a:t>- 2 · Intelligence: Heart &amp; Mind alignment is the ignition point that converts strategic potential energy into kinetic energy. Compliance yields short-term output. Commitment sustains execution when leaders are not present.</a:t>
            </a:r>
          </a:p>
          <a:p>
            <a:r>
              <a:rPr lang="en-GB"/>
              <a:t>- 3 · Extrapolating: each participant completes the OCEAVL Assessment across seven dimensions. The level held by most members is the team’s level, and every level carries a risk, a response and three routines.</a:t>
            </a:r>
          </a:p>
          <a:p>
            <a:r>
              <a:rPr lang="en-GB"/>
              <a:t>- 4 · Integration: the leadership team leads change with one voice through four commitments. Each CXO role brings a Converging Zone Contribution and carries an Alignment Hot Zone.</a:t>
            </a:r>
          </a:p>
          <a:p>
            <a:r>
              <a:rPr lang="en-GB"/>
              <a:t>- 5 · Application: each group states its Shift, Stake and Step for the strategy, reads its team OCEAVL profile, names its two highest-risk dimensions with the response to each, and states the ACE-IT behaviours it expects from the leadership team.</a:t>
            </a:r>
          </a:p>
          <a:p>
            <a:r>
              <a:rPr lang="en-GB"/>
              <a:t>- Across the unit: a change is adopted when it passes the 4 Checks of Mind, Heart, Hands and Habit. The leader’s job is to explain, involve, equip and reinforce until it passes all four.</a:t>
            </a:r>
          </a:p>
          <a:p>
            <a:endParaRPr lang="en-GB"/>
          </a:p>
          <a:p>
            <a:r>
              <a:rPr lang="en-GB"/>
              <a:t>2. Ask the closing question on the slide.</a:t>
            </a:r>
          </a:p>
          <a:p>
            <a:r>
              <a:rPr lang="en-GB"/>
              <a:t>Ask: "Which ACE-IT behaviour in your record will be hardest for this leadership team to show, and what in the team’s OCEAVL profile makes it so?"</a:t>
            </a:r>
          </a:p>
          <a:p>
            <a:r>
              <a:rPr lang="en-GB"/>
              <a:t>Take an answer from each group.</a:t>
            </a:r>
          </a:p>
          <a:p>
            <a:endParaRPr lang="en-GB"/>
          </a:p>
          <a:p>
            <a:r>
              <a:rPr lang="en-GB"/>
              <a:t>3. Close the unit.</a:t>
            </a:r>
          </a:p>
          <a:p>
            <a:r>
              <a:rPr lang="en-GB"/>
              <a:t>Say: "Aligned hearts and minds turn a strategy from a document the organisation has read into a direction the organisation is willing to move on."</a:t>
            </a:r>
          </a:p>
          <a:p>
            <a:r>
              <a:rPr lang="en-GB"/>
              <a:t>Connect the unit to what follows: Performance Management Setup and the translation of strategy into individual accountability across the enterprise.</a:t>
            </a:r>
          </a:p>
          <a:p>
            <a:endParaRPr lang="en-GB"/>
          </a:p>
          <a:p>
            <a:r>
              <a:rPr lang="en-GB"/>
              <a:t>4. Say what happens on the portal.</a:t>
            </a:r>
          </a:p>
          <a:p>
            <a:r>
              <a:rPr lang="en-GB"/>
              <a:t>Say: "You now complete the unit on the portal: your reflections, your OCEAVL Assessment and your group’s record in Section 5.</a:t>
            </a:r>
          </a:p>
          <a:p>
            <a:r>
              <a:rPr lang="en-GB"/>
              <a:t>When your page is complete, you submit the unit."</a:t>
            </a:r>
          </a:p>
          <a:p>
            <a:endParaRPr lang="en-GB"/>
          </a:p>
          <a:p>
            <a:r>
              <a:rPr lang="en-GB"/>
              <a:t>ON THE PORTAL, AFTER THE TEACHING:</a:t>
            </a:r>
          </a:p>
          <a:p>
            <a:r>
              <a:rPr lang="en-GB"/>
              <a:t>Participants complete every part of the participant file and submit the unit to the facilitator from the end of Section 5.</a:t>
            </a:r>
          </a:p>
          <a:p>
            <a:endParaRPr lang="en-GB"/>
          </a:p>
          <a:p>
            <a:r>
              <a:rPr lang="en-GB"/>
              <a:t>AFTER THE SESSION:</a:t>
            </a:r>
          </a:p>
          <a:p>
            <a:r>
              <a:rPr lang="en-GB"/>
              <a:t>Each submission reaches you in the facilitator dashboard.</a:t>
            </a:r>
          </a:p>
          <a:p>
            <a:r>
              <a:rPr lang="en-GB"/>
              <a:t>Each member’s OCEAVL scores feed the team’s profile in the Capstone Blueprint. The group’s confirmed record feeds boxes 5B and 5C.</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1.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23.png"/><Relationship Id="rId5"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25.png"/><Relationship Id="rId5"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7.pn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image" Target="../media/image29.png"/><Relationship Id="rId6" Type="http://schemas.openxmlformats.org/officeDocument/2006/relationships/image" Target="../media/image3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1.png"/><Relationship Id="rId4" Type="http://schemas.openxmlformats.org/officeDocument/2006/relationships/image" Target="../media/image15.png"/><Relationship Id="rId5" Type="http://schemas.openxmlformats.org/officeDocument/2006/relationships/image" Target="../media/image3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5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54.png"/><Relationship Id="rId4" Type="http://schemas.openxmlformats.org/officeDocument/2006/relationships/image" Target="../media/image15.png"/><Relationship Id="rId5" Type="http://schemas.openxmlformats.org/officeDocument/2006/relationships/image" Target="../media/image5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56.png"/><Relationship Id="rId4" Type="http://schemas.openxmlformats.org/officeDocument/2006/relationships/image" Target="../media/image5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image" Target="../media/image6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4.png"/><Relationship Id="rId4" Type="http://schemas.openxmlformats.org/officeDocument/2006/relationships/image" Target="../media/image61.png"/><Relationship Id="rId5" Type="http://schemas.openxmlformats.org/officeDocument/2006/relationships/image" Target="../media/image43.png"/><Relationship Id="rId6" Type="http://schemas.openxmlformats.org/officeDocument/2006/relationships/image" Target="../media/image36.png"/><Relationship Id="rId7" Type="http://schemas.openxmlformats.org/officeDocument/2006/relationships/image" Target="../media/image42.png"/><Relationship Id="rId8" Type="http://schemas.openxmlformats.org/officeDocument/2006/relationships/image" Target="../media/image44.png"/><Relationship Id="rId9" Type="http://schemas.openxmlformats.org/officeDocument/2006/relationships/image" Target="../media/image3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6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6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68.png"/><Relationship Id="rId4" Type="http://schemas.openxmlformats.org/officeDocument/2006/relationships/image" Target="../media/image69.png"/><Relationship Id="rId5" Type="http://schemas.openxmlformats.org/officeDocument/2006/relationships/image" Target="../media/image7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1.png"/><Relationship Id="rId4" Type="http://schemas.openxmlformats.org/officeDocument/2006/relationships/image" Target="../media/image15.png"/><Relationship Id="rId5" Type="http://schemas.openxmlformats.org/officeDocument/2006/relationships/image" Target="../media/image3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7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B1C"/>
        </a:solidFill>
        <a:effectLst/>
      </p:bgPr>
    </p:bg>
    <p:spTree>
      <p:nvGrpSpPr>
        <p:cNvPr id="1" name=""/>
        <p:cNvGrpSpPr/>
        <p:nvPr/>
      </p:nvGrpSpPr>
      <p:grpSpPr>
        <a:xfrm>
          <a:off x="0" y="0"/>
          <a:ext cx="0" cy="0"/>
          <a:chOff x="0" y="0"/>
          <a:chExt cx="0" cy="0"/>
        </a:xfrm>
      </p:grpSpPr>
      <p:pic>
        <p:nvPicPr>
          <p:cNvPr id="2" name="Image 0" descr="/tmp/claude-0/-home-claude/1549d9eb-9b61-52ab-9438-5da152783dac/scratchpad/u5/build/logo.png"/>
          <p:cNvPicPr>
            <a:picLocks noChangeAspect="1"/>
          </p:cNvPicPr>
          <p:nvPr/>
        </p:nvPicPr>
        <p:blipFill>
          <a:blip r:embed="rId3"/>
          <a:stretch>
            <a:fillRect/>
          </a:stretch>
        </p:blipFill>
        <p:spPr>
          <a:xfrm>
            <a:off x="8259775" y="1325880"/>
            <a:ext cx="3108960" cy="3017520"/>
          </a:xfrm>
          <a:prstGeom prst="rect">
            <a:avLst/>
          </a:prstGeom>
        </p:spPr>
      </p:pic>
      <p:sp>
        <p:nvSpPr>
          <p:cNvPr id="3" name="Text 0"/>
          <p:cNvSpPr txBox="1"/>
          <p:nvPr/>
        </p:nvSpPr>
        <p:spPr>
          <a:xfrm>
            <a:off x="731520" y="1188720"/>
            <a:ext cx="73152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Module 3 · Influence · Unit 5</a:t>
            </a:r>
            <a:endParaRPr lang="en-US" sz="2400" dirty="0"/>
          </a:p>
        </p:txBody>
      </p:sp>
      <p:sp>
        <p:nvSpPr>
          <p:cNvPr id="4" name="Text 1"/>
          <p:cNvSpPr txBox="1"/>
          <p:nvPr/>
        </p:nvSpPr>
        <p:spPr>
          <a:xfrm>
            <a:off x="731520" y="1783080"/>
            <a:ext cx="7223760" cy="201168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Aligning Heart &amp; Mind</a:t>
            </a:r>
            <a:endParaRPr lang="en-US" sz="4800" dirty="0"/>
          </a:p>
        </p:txBody>
      </p:sp>
      <p:sp>
        <p:nvSpPr>
          <p:cNvPr id="5" name="Text 2"/>
          <p:cNvSpPr txBox="1"/>
          <p:nvPr/>
        </p:nvSpPr>
        <p:spPr>
          <a:xfrm>
            <a:off x="731520" y="3977640"/>
            <a:ext cx="7223760" cy="1188720"/>
          </a:xfrm>
          <a:prstGeom prst="rect">
            <a:avLst/>
          </a:prstGeom>
          <a:noFill/>
          <a:ln/>
        </p:spPr>
        <p:txBody>
          <a:bodyPr wrap="square" lIns="0" tIns="0" rIns="0" bIns="0" rtlCol="0" anchor="t"/>
          <a:lstStyle/>
          <a:p>
            <a:pPr marL="0" indent="0">
              <a:buNone/>
            </a:pPr>
            <a:r>
              <a:rPr lang="en-US" sz="2400" i="1" dirty="0">
                <a:solidFill>
                  <a:srgbClr val="DDE8DF"/>
                </a:solidFill>
                <a:latin typeface="Calibri" pitchFamily="34" charset="0"/>
                <a:ea typeface="Calibri" pitchFamily="34" charset="-122"/>
                <a:cs typeface="Calibri" pitchFamily="34" charset="-120"/>
              </a:rPr>
              <a:t>The human operating system that enables strategy to move from intention to execution</a:t>
            </a:r>
            <a:endParaRPr lang="en-US" sz="2400" dirty="0"/>
          </a:p>
        </p:txBody>
      </p:sp>
      <p:sp>
        <p:nvSpPr>
          <p:cNvPr id="6" name="Text 3"/>
          <p:cNvSpPr txBox="1"/>
          <p:nvPr/>
        </p:nvSpPr>
        <p:spPr>
          <a:xfrm>
            <a:off x="731520" y="5669280"/>
            <a:ext cx="7315200" cy="457200"/>
          </a:xfrm>
          <a:prstGeom prst="rect">
            <a:avLst/>
          </a:prstGeom>
          <a:noFill/>
          <a:ln/>
        </p:spPr>
        <p:txBody>
          <a:bodyPr wrap="square" lIns="0" tIns="0" rIns="0" bIns="0" rtlCol="0" anchor="t"/>
          <a:lstStyle/>
          <a:p>
            <a:pPr marL="0" indent="0">
              <a:buNone/>
            </a:pPr>
            <a:r>
              <a:rPr lang="en-US" sz="2400" dirty="0">
                <a:solidFill>
                  <a:srgbClr val="E6D3A0"/>
                </a:solidFill>
                <a:latin typeface="Calibri" pitchFamily="34" charset="0"/>
                <a:ea typeface="Calibri" pitchFamily="34" charset="-122"/>
                <a:cs typeface="Calibri" pitchFamily="34" charset="-120"/>
              </a:rPr>
              <a:t>Strategy2Results® · Facilitator deck</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Key learning outcomes</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Diagnose and mitigate distortions in strategic interpretation caused by expertise, personality, bias and emotion.</a:t>
            </a:r>
            <a:endParaRPr lang="en-US" sz="24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3"/>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Build shared strategic understanding and commitment across the leadership system.</a:t>
            </a:r>
            <a:endParaRPr lang="en-US" sz="24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3"/>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Assess and strengthen the human conditions required for sustained strategic alignment.</a:t>
            </a:r>
            <a:endParaRPr lang="en-US" sz="2400" dirty="0"/>
          </a:p>
        </p:txBody>
      </p:sp>
      <p:sp>
        <p:nvSpPr>
          <p:cNvPr id="12" name="Shape 7"/>
          <p:cNvSpPr/>
          <p:nvPr/>
        </p:nvSpPr>
        <p:spPr>
          <a:xfrm>
            <a:off x="548640" y="546925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3"/>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Lead strategic change by addressing readiness, resistance and behavioural adoption.</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The unit journey</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1 · Awareness  </a:t>
            </a:r>
            <a:r>
              <a:rPr lang="en-US" sz="2800" dirty="0">
                <a:solidFill>
                  <a:srgbClr val="1F2A22"/>
                </a:solidFill>
                <a:latin typeface="Calibri" pitchFamily="34" charset="0"/>
                <a:ea typeface="Calibri" pitchFamily="34" charset="-122"/>
                <a:cs typeface="Calibri" pitchFamily="34" charset="-120"/>
              </a:rPr>
              <a:t>— What</a:t>
            </a:r>
            <a:endParaRPr lang="en-US" sz="28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2 · Intelligence  </a:t>
            </a:r>
            <a:r>
              <a:rPr lang="en-US" sz="2800" dirty="0">
                <a:solidFill>
                  <a:srgbClr val="1F2A22"/>
                </a:solidFill>
                <a:latin typeface="Calibri" pitchFamily="34" charset="0"/>
                <a:ea typeface="Calibri" pitchFamily="34" charset="-122"/>
                <a:cs typeface="Calibri" pitchFamily="34" charset="-120"/>
              </a:rPr>
              <a:t>— Why</a:t>
            </a:r>
            <a:endParaRPr lang="en-US" sz="28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3 · Extrapolating  </a:t>
            </a:r>
            <a:r>
              <a:rPr lang="en-US" sz="2800" dirty="0">
                <a:solidFill>
                  <a:srgbClr val="1F2A22"/>
                </a:solidFill>
                <a:latin typeface="Calibri" pitchFamily="34" charset="0"/>
                <a:ea typeface="Calibri" pitchFamily="34" charset="-122"/>
                <a:cs typeface="Calibri" pitchFamily="34" charset="-120"/>
              </a:rPr>
              <a:t>— Where</a:t>
            </a:r>
            <a:endParaRPr lang="en-US" sz="28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4 · Integration  </a:t>
            </a:r>
            <a:r>
              <a:rPr lang="en-US" sz="2800" dirty="0">
                <a:solidFill>
                  <a:srgbClr val="1F2A22"/>
                </a:solidFill>
                <a:latin typeface="Calibri" pitchFamily="34" charset="0"/>
                <a:ea typeface="Calibri" pitchFamily="34" charset="-122"/>
                <a:cs typeface="Calibri" pitchFamily="34" charset="-120"/>
              </a:rPr>
              <a:t>— Collective</a:t>
            </a:r>
            <a:endParaRPr lang="en-US" sz="2800" dirty="0"/>
          </a:p>
        </p:txBody>
      </p:sp>
      <p:sp>
        <p:nvSpPr>
          <p:cNvPr id="15" name="Shape 9"/>
          <p:cNvSpPr/>
          <p:nvPr/>
        </p:nvSpPr>
        <p:spPr>
          <a:xfrm>
            <a:off x="548640" y="5591556"/>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6" name="Image 4" descr="preencoded.png"/>
          <p:cNvPicPr>
            <a:picLocks noChangeAspect="1"/>
          </p:cNvPicPr>
          <p:nvPr/>
        </p:nvPicPr>
        <p:blipFill>
          <a:blip r:embed="rId7"/>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5 · Application  </a:t>
            </a:r>
            <a:r>
              <a:rPr lang="en-US" sz="2800" dirty="0">
                <a:solidFill>
                  <a:srgbClr val="1F2A22"/>
                </a:solidFill>
                <a:latin typeface="Calibri" pitchFamily="34" charset="0"/>
                <a:ea typeface="Calibri" pitchFamily="34" charset="-122"/>
                <a:cs typeface="Calibri" pitchFamily="34" charset="-120"/>
              </a:rPr>
              <a:t>— In Practice</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1</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1</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Awareness — What</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What is Aligning Heart &amp; Mind?</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Interpret how expertise, cognitive bias and emotion affect strategic understanding and intervene to reduce distortion.</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Determine the behavioural and support conditions needed for people to adopt strategic change.</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1.1 · The Human Terrain of Strategy Execution</a:t>
            </a:r>
            <a:endParaRPr lang="en-US" sz="3600" dirty="0"/>
          </a:p>
        </p:txBody>
      </p:sp>
      <p:sp>
        <p:nvSpPr>
          <p:cNvPr id="3" name="Shape 1"/>
          <p:cNvSpPr/>
          <p:nvPr/>
        </p:nvSpPr>
        <p:spPr>
          <a:xfrm>
            <a:off x="548640" y="1508760"/>
            <a:ext cx="5394960" cy="3931920"/>
          </a:xfrm>
          <a:prstGeom prst="roundRect">
            <a:avLst>
              <a:gd name="adj" fmla="val 2326"/>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822960" y="1737360"/>
            <a:ext cx="731520" cy="73152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1005840" y="1920240"/>
            <a:ext cx="365760" cy="365760"/>
          </a:xfrm>
          <a:prstGeom prst="rect">
            <a:avLst/>
          </a:prstGeom>
        </p:spPr>
      </p:pic>
      <p:sp>
        <p:nvSpPr>
          <p:cNvPr id="6" name="Text 3"/>
          <p:cNvSpPr txBox="1"/>
          <p:nvPr/>
        </p:nvSpPr>
        <p:spPr>
          <a:xfrm>
            <a:off x="1737360" y="1737360"/>
            <a:ext cx="4069080" cy="73152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Cognition — Mind</a:t>
            </a:r>
            <a:endParaRPr lang="en-US" sz="2600" dirty="0"/>
          </a:p>
        </p:txBody>
      </p:sp>
      <p:sp>
        <p:nvSpPr>
          <p:cNvPr id="7" name="Text 4"/>
          <p:cNvSpPr txBox="1"/>
          <p:nvPr/>
        </p:nvSpPr>
        <p:spPr>
          <a:xfrm>
            <a:off x="868680" y="2697480"/>
            <a:ext cx="4846320" cy="265176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How individuals interpret what strategy means.</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Shaped by professional expertise, mental shortcuts, past experience, and risk perception.</a:t>
            </a:r>
            <a:endParaRPr lang="en-US" sz="2400" dirty="0"/>
          </a:p>
        </p:txBody>
      </p:sp>
      <p:sp>
        <p:nvSpPr>
          <p:cNvPr id="8" name="Shape 5"/>
          <p:cNvSpPr/>
          <p:nvPr/>
        </p:nvSpPr>
        <p:spPr>
          <a:xfrm>
            <a:off x="6245352" y="1508760"/>
            <a:ext cx="5394960" cy="3931920"/>
          </a:xfrm>
          <a:prstGeom prst="roundRect">
            <a:avLst>
              <a:gd name="adj" fmla="val 2326"/>
            </a:avLst>
          </a:prstGeom>
          <a:solidFill>
            <a:srgbClr val="1A5C2C"/>
          </a:solidFill>
          <a:ln w="12700">
            <a:solidFill>
              <a:srgbClr val="1A5C2C"/>
            </a:solidFill>
            <a:prstDash val="solid"/>
          </a:ln>
        </p:spPr>
        <p:txBody>
          <a:bodyPr/>
          <a:lstStyle/>
          <a:p>
            <a:endParaRPr lang="en-ZA"/>
          </a:p>
        </p:txBody>
      </p:sp>
      <p:sp>
        <p:nvSpPr>
          <p:cNvPr id="9" name="Shape 6"/>
          <p:cNvSpPr/>
          <p:nvPr/>
        </p:nvSpPr>
        <p:spPr>
          <a:xfrm>
            <a:off x="6519672" y="1737360"/>
            <a:ext cx="731520" cy="731520"/>
          </a:xfrm>
          <a:prstGeom prst="ellipse">
            <a:avLst/>
          </a:prstGeom>
          <a:solidFill>
            <a:srgbClr val="C6A24C"/>
          </a:solidFill>
          <a:ln w="12700">
            <a:solidFill>
              <a:srgbClr val="C6A24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6702552" y="1920240"/>
            <a:ext cx="365760" cy="365760"/>
          </a:xfrm>
          <a:prstGeom prst="rect">
            <a:avLst/>
          </a:prstGeom>
        </p:spPr>
      </p:pic>
      <p:sp>
        <p:nvSpPr>
          <p:cNvPr id="11" name="Text 7"/>
          <p:cNvSpPr txBox="1"/>
          <p:nvPr/>
        </p:nvSpPr>
        <p:spPr>
          <a:xfrm>
            <a:off x="7434072" y="1737360"/>
            <a:ext cx="4069080" cy="73152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Emotion — Heart</a:t>
            </a:r>
            <a:endParaRPr lang="en-US" sz="2600" dirty="0"/>
          </a:p>
        </p:txBody>
      </p:sp>
      <p:sp>
        <p:nvSpPr>
          <p:cNvPr id="12" name="Text 8"/>
          <p:cNvSpPr txBox="1"/>
          <p:nvPr/>
        </p:nvSpPr>
        <p:spPr>
          <a:xfrm>
            <a:off x="6565392" y="2697480"/>
            <a:ext cx="4846320" cy="265176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How individuals experience the strategy.</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Shapes engagement energy, morale, friction load, psychological safety, and values alignment.</a:t>
            </a:r>
            <a:endParaRPr lang="en-US" sz="2400" dirty="0"/>
          </a:p>
        </p:txBody>
      </p:sp>
      <p:sp>
        <p:nvSpPr>
          <p:cNvPr id="13" name="Shape 9"/>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4" name="Text 10"/>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Execution begins inside the human system.</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200" b="1" dirty="0">
                <a:solidFill>
                  <a:srgbClr val="1A5C2C"/>
                </a:solidFill>
                <a:latin typeface="Cambria" pitchFamily="34" charset="0"/>
                <a:ea typeface="Cambria" pitchFamily="34" charset="-122"/>
                <a:cs typeface="Cambria" pitchFamily="34" charset="-120"/>
              </a:rPr>
              <a:t>1.2 · The Five Principles of Aligning Heart &amp; Mind</a:t>
            </a:r>
            <a:endParaRPr lang="en-US" sz="32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Principle 1  </a:t>
            </a:r>
            <a:r>
              <a:rPr lang="en-US" sz="2400" dirty="0">
                <a:solidFill>
                  <a:srgbClr val="1F2A22"/>
                </a:solidFill>
                <a:latin typeface="Calibri" pitchFamily="34" charset="0"/>
                <a:ea typeface="Calibri" pitchFamily="34" charset="-122"/>
                <a:cs typeface="Calibri" pitchFamily="34" charset="-120"/>
              </a:rPr>
              <a:t>Strategy Moves Through People</a:t>
            </a:r>
            <a:r>
              <a:rPr lang="en-US" sz="2400" dirty="0">
                <a:solidFill>
                  <a:srgbClr val="4E5E53"/>
                </a:solidFill>
                <a:latin typeface="Calibri" pitchFamily="34" charset="0"/>
                <a:ea typeface="Calibri" pitchFamily="34" charset="-122"/>
                <a:cs typeface="Calibri" pitchFamily="34" charset="-120"/>
              </a:rPr>
              <a:t> · </a:t>
            </a:r>
            <a:r>
              <a:rPr lang="en-US" sz="2400" i="1" dirty="0">
                <a:solidFill>
                  <a:srgbClr val="4E5E53"/>
                </a:solidFill>
                <a:latin typeface="Calibri" pitchFamily="34" charset="0"/>
                <a:ea typeface="Calibri" pitchFamily="34" charset="-122"/>
                <a:cs typeface="Calibri" pitchFamily="34" charset="-120"/>
              </a:rPr>
              <a:t>the human entry point of execution</a:t>
            </a:r>
            <a:endParaRPr lang="en-US" sz="24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Principle 2  </a:t>
            </a:r>
            <a:r>
              <a:rPr lang="en-US" sz="2400" dirty="0">
                <a:solidFill>
                  <a:srgbClr val="1F2A22"/>
                </a:solidFill>
                <a:latin typeface="Calibri" pitchFamily="34" charset="0"/>
                <a:ea typeface="Calibri" pitchFamily="34" charset="-122"/>
                <a:cs typeface="Calibri" pitchFamily="34" charset="-120"/>
              </a:rPr>
              <a:t>Misalignment Fragments Effort</a:t>
            </a:r>
            <a:r>
              <a:rPr lang="en-US" sz="2400" dirty="0">
                <a:solidFill>
                  <a:srgbClr val="4E5E53"/>
                </a:solidFill>
                <a:latin typeface="Calibri" pitchFamily="34" charset="0"/>
                <a:ea typeface="Calibri" pitchFamily="34" charset="-122"/>
                <a:cs typeface="Calibri" pitchFamily="34" charset="-120"/>
              </a:rPr>
              <a:t> · </a:t>
            </a:r>
            <a:r>
              <a:rPr lang="en-US" sz="2400" i="1" dirty="0">
                <a:solidFill>
                  <a:srgbClr val="4E5E53"/>
                </a:solidFill>
                <a:latin typeface="Calibri" pitchFamily="34" charset="0"/>
                <a:ea typeface="Calibri" pitchFamily="34" charset="-122"/>
                <a:cs typeface="Calibri" pitchFamily="34" charset="-120"/>
              </a:rPr>
              <a:t>the cost of ignoring the human system</a:t>
            </a:r>
            <a:endParaRPr lang="en-US" sz="24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Principle 3  </a:t>
            </a:r>
            <a:r>
              <a:rPr lang="en-US" sz="2400" dirty="0">
                <a:solidFill>
                  <a:srgbClr val="1F2A22"/>
                </a:solidFill>
                <a:latin typeface="Calibri" pitchFamily="34" charset="0"/>
                <a:ea typeface="Calibri" pitchFamily="34" charset="-122"/>
                <a:cs typeface="Calibri" pitchFamily="34" charset="-120"/>
              </a:rPr>
              <a:t>Alignment Must Be Designed</a:t>
            </a:r>
            <a:r>
              <a:rPr lang="en-US" sz="2400" dirty="0">
                <a:solidFill>
                  <a:srgbClr val="4E5E53"/>
                </a:solidFill>
                <a:latin typeface="Calibri" pitchFamily="34" charset="0"/>
                <a:ea typeface="Calibri" pitchFamily="34" charset="-122"/>
                <a:cs typeface="Calibri" pitchFamily="34" charset="-120"/>
              </a:rPr>
              <a:t> · </a:t>
            </a:r>
            <a:r>
              <a:rPr lang="en-US" sz="2400" i="1" dirty="0">
                <a:solidFill>
                  <a:srgbClr val="4E5E53"/>
                </a:solidFill>
                <a:latin typeface="Calibri" pitchFamily="34" charset="0"/>
                <a:ea typeface="Calibri" pitchFamily="34" charset="-122"/>
                <a:cs typeface="Calibri" pitchFamily="34" charset="-120"/>
              </a:rPr>
              <a:t>the tools that create alignment</a:t>
            </a:r>
            <a:endParaRPr lang="en-US" sz="24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Principle 4  </a:t>
            </a:r>
            <a:r>
              <a:rPr lang="en-US" sz="2400" dirty="0">
                <a:solidFill>
                  <a:srgbClr val="1F2A22"/>
                </a:solidFill>
                <a:latin typeface="Calibri" pitchFamily="34" charset="0"/>
                <a:ea typeface="Calibri" pitchFamily="34" charset="-122"/>
                <a:cs typeface="Calibri" pitchFamily="34" charset="-120"/>
              </a:rPr>
              <a:t>Human Reactions Are Predictable</a:t>
            </a:r>
            <a:r>
              <a:rPr lang="en-US" sz="2400" dirty="0">
                <a:solidFill>
                  <a:srgbClr val="4E5E53"/>
                </a:solidFill>
                <a:latin typeface="Calibri" pitchFamily="34" charset="0"/>
                <a:ea typeface="Calibri" pitchFamily="34" charset="-122"/>
                <a:cs typeface="Calibri" pitchFamily="34" charset="-120"/>
              </a:rPr>
              <a:t> · </a:t>
            </a:r>
            <a:r>
              <a:rPr lang="en-US" sz="2400" i="1" dirty="0">
                <a:solidFill>
                  <a:srgbClr val="4E5E53"/>
                </a:solidFill>
                <a:latin typeface="Calibri" pitchFamily="34" charset="0"/>
                <a:ea typeface="Calibri" pitchFamily="34" charset="-122"/>
                <a:cs typeface="Calibri" pitchFamily="34" charset="-120"/>
              </a:rPr>
              <a:t>the behavioural dynamics that influence execution</a:t>
            </a:r>
            <a:endParaRPr lang="en-US" sz="2400" dirty="0"/>
          </a:p>
        </p:txBody>
      </p:sp>
      <p:sp>
        <p:nvSpPr>
          <p:cNvPr id="15" name="Shape 9"/>
          <p:cNvSpPr/>
          <p:nvPr/>
        </p:nvSpPr>
        <p:spPr>
          <a:xfrm>
            <a:off x="548640" y="5591556"/>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6" name="Image 4" descr="preencoded.png"/>
          <p:cNvPicPr>
            <a:picLocks noChangeAspect="1"/>
          </p:cNvPicPr>
          <p:nvPr/>
        </p:nvPicPr>
        <p:blipFill>
          <a:blip r:embed="rId7"/>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Principle 5  </a:t>
            </a:r>
            <a:r>
              <a:rPr lang="en-US" sz="2400" dirty="0">
                <a:solidFill>
                  <a:srgbClr val="1F2A22"/>
                </a:solidFill>
                <a:latin typeface="Calibri" pitchFamily="34" charset="0"/>
                <a:ea typeface="Calibri" pitchFamily="34" charset="-122"/>
                <a:cs typeface="Calibri" pitchFamily="34" charset="-120"/>
              </a:rPr>
              <a:t>Execution Must Be Visible in Behaviour</a:t>
            </a:r>
            <a:r>
              <a:rPr lang="en-US" sz="2400" dirty="0">
                <a:solidFill>
                  <a:srgbClr val="4E5E53"/>
                </a:solidFill>
                <a:latin typeface="Calibri" pitchFamily="34" charset="0"/>
                <a:ea typeface="Calibri" pitchFamily="34" charset="-122"/>
                <a:cs typeface="Calibri" pitchFamily="34" charset="-120"/>
              </a:rPr>
              <a:t> · </a:t>
            </a:r>
            <a:r>
              <a:rPr lang="en-US" sz="2400" i="1" dirty="0">
                <a:solidFill>
                  <a:srgbClr val="4E5E53"/>
                </a:solidFill>
                <a:latin typeface="Calibri" pitchFamily="34" charset="0"/>
                <a:ea typeface="Calibri" pitchFamily="34" charset="-122"/>
                <a:cs typeface="Calibri" pitchFamily="34" charset="-120"/>
              </a:rPr>
              <a:t>the observable standard for alignment</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Principle 1 — Strategy Moves Through People</a:t>
            </a:r>
            <a:endParaRPr lang="en-US" sz="3600" dirty="0"/>
          </a:p>
        </p:txBody>
      </p:sp>
      <p:sp>
        <p:nvSpPr>
          <p:cNvPr id="3" name="Shape 1"/>
          <p:cNvSpPr/>
          <p:nvPr/>
        </p:nvSpPr>
        <p:spPr>
          <a:xfrm>
            <a:off x="548640" y="1628089"/>
            <a:ext cx="556870" cy="55687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687857" y="1767307"/>
            <a:ext cx="278435" cy="278435"/>
          </a:xfrm>
          <a:prstGeom prst="rect">
            <a:avLst/>
          </a:prstGeom>
        </p:spPr>
      </p:pic>
      <p:sp>
        <p:nvSpPr>
          <p:cNvPr id="5" name="Text 2"/>
          <p:cNvSpPr txBox="1"/>
          <p:nvPr/>
        </p:nvSpPr>
        <p:spPr>
          <a:xfrm>
            <a:off x="1425550" y="1508760"/>
            <a:ext cx="10214762" cy="795528"/>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Interpretation  </a:t>
            </a:r>
            <a:r>
              <a:rPr lang="en-US" sz="2400" dirty="0">
                <a:solidFill>
                  <a:srgbClr val="1F2A22"/>
                </a:solidFill>
                <a:latin typeface="Calibri" pitchFamily="34" charset="0"/>
                <a:ea typeface="Calibri" pitchFamily="34" charset="-122"/>
                <a:cs typeface="Calibri" pitchFamily="34" charset="-120"/>
              </a:rPr>
              <a:t>People first make sense of the strategy.</a:t>
            </a:r>
            <a:endParaRPr lang="en-US" sz="2400" dirty="0"/>
          </a:p>
        </p:txBody>
      </p:sp>
      <p:sp>
        <p:nvSpPr>
          <p:cNvPr id="6" name="Shape 3"/>
          <p:cNvSpPr/>
          <p:nvPr/>
        </p:nvSpPr>
        <p:spPr>
          <a:xfrm>
            <a:off x="548640" y="2423617"/>
            <a:ext cx="556870" cy="55687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687857" y="2562835"/>
            <a:ext cx="278435" cy="278435"/>
          </a:xfrm>
          <a:prstGeom prst="rect">
            <a:avLst/>
          </a:prstGeom>
        </p:spPr>
      </p:pic>
      <p:sp>
        <p:nvSpPr>
          <p:cNvPr id="8" name="Text 4"/>
          <p:cNvSpPr txBox="1"/>
          <p:nvPr/>
        </p:nvSpPr>
        <p:spPr>
          <a:xfrm>
            <a:off x="1425550" y="2304288"/>
            <a:ext cx="10214762" cy="795528"/>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Experience  </a:t>
            </a:r>
            <a:r>
              <a:rPr lang="en-US" sz="2400" dirty="0">
                <a:solidFill>
                  <a:srgbClr val="1F2A22"/>
                </a:solidFill>
                <a:latin typeface="Calibri" pitchFamily="34" charset="0"/>
                <a:ea typeface="Calibri" pitchFamily="34" charset="-122"/>
                <a:cs typeface="Calibri" pitchFamily="34" charset="-120"/>
              </a:rPr>
              <a:t>People then experience the strategy emotionally.</a:t>
            </a:r>
            <a:endParaRPr lang="en-US" sz="2400" dirty="0"/>
          </a:p>
        </p:txBody>
      </p:sp>
      <p:sp>
        <p:nvSpPr>
          <p:cNvPr id="9" name="Shape 5"/>
          <p:cNvSpPr/>
          <p:nvPr/>
        </p:nvSpPr>
        <p:spPr>
          <a:xfrm>
            <a:off x="548640" y="3219145"/>
            <a:ext cx="556870" cy="55687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687857" y="3358363"/>
            <a:ext cx="278435" cy="278435"/>
          </a:xfrm>
          <a:prstGeom prst="rect">
            <a:avLst/>
          </a:prstGeom>
        </p:spPr>
      </p:pic>
      <p:sp>
        <p:nvSpPr>
          <p:cNvPr id="11" name="Text 6"/>
          <p:cNvSpPr txBox="1"/>
          <p:nvPr/>
        </p:nvSpPr>
        <p:spPr>
          <a:xfrm>
            <a:off x="1425550" y="3099816"/>
            <a:ext cx="10214762" cy="795528"/>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Choices  </a:t>
            </a:r>
            <a:r>
              <a:rPr lang="en-US" sz="2400" dirty="0">
                <a:solidFill>
                  <a:srgbClr val="1F2A22"/>
                </a:solidFill>
                <a:latin typeface="Calibri" pitchFamily="34" charset="0"/>
                <a:ea typeface="Calibri" pitchFamily="34" charset="-122"/>
                <a:cs typeface="Calibri" pitchFamily="34" charset="-120"/>
              </a:rPr>
              <a:t>People then make choices and trade-offs.</a:t>
            </a:r>
            <a:endParaRPr lang="en-US" sz="2400" dirty="0"/>
          </a:p>
        </p:txBody>
      </p:sp>
      <p:sp>
        <p:nvSpPr>
          <p:cNvPr id="12" name="Shape 7"/>
          <p:cNvSpPr/>
          <p:nvPr/>
        </p:nvSpPr>
        <p:spPr>
          <a:xfrm>
            <a:off x="548640" y="4014673"/>
            <a:ext cx="556870" cy="55687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687857" y="4153891"/>
            <a:ext cx="278435" cy="278435"/>
          </a:xfrm>
          <a:prstGeom prst="rect">
            <a:avLst/>
          </a:prstGeom>
        </p:spPr>
      </p:pic>
      <p:sp>
        <p:nvSpPr>
          <p:cNvPr id="14" name="Text 8"/>
          <p:cNvSpPr txBox="1"/>
          <p:nvPr/>
        </p:nvSpPr>
        <p:spPr>
          <a:xfrm>
            <a:off x="1425550" y="3895344"/>
            <a:ext cx="10214762" cy="795528"/>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Actions  </a:t>
            </a:r>
            <a:r>
              <a:rPr lang="en-US" sz="2400" dirty="0">
                <a:solidFill>
                  <a:srgbClr val="1F2A22"/>
                </a:solidFill>
                <a:latin typeface="Calibri" pitchFamily="34" charset="0"/>
                <a:ea typeface="Calibri" pitchFamily="34" charset="-122"/>
                <a:cs typeface="Calibri" pitchFamily="34" charset="-120"/>
              </a:rPr>
              <a:t>People finally act in ways that either carry the strategy forward or weaken it.</a:t>
            </a:r>
            <a:endParaRPr lang="en-US" sz="2400" dirty="0"/>
          </a:p>
        </p:txBody>
      </p:sp>
      <p:sp>
        <p:nvSpPr>
          <p:cNvPr id="15" name="Shape 9"/>
          <p:cNvSpPr/>
          <p:nvPr/>
        </p:nvSpPr>
        <p:spPr>
          <a:xfrm>
            <a:off x="548640" y="4810201"/>
            <a:ext cx="556870" cy="556870"/>
          </a:xfrm>
          <a:prstGeom prst="ellipse">
            <a:avLst/>
          </a:prstGeom>
          <a:solidFill>
            <a:srgbClr val="1A5C2C"/>
          </a:solidFill>
          <a:ln w="12700">
            <a:solidFill>
              <a:srgbClr val="1A5C2C"/>
            </a:solidFill>
            <a:prstDash val="solid"/>
          </a:ln>
        </p:spPr>
        <p:txBody>
          <a:bodyPr/>
          <a:lstStyle/>
          <a:p>
            <a:endParaRPr lang="en-ZA"/>
          </a:p>
        </p:txBody>
      </p:sp>
      <p:pic>
        <p:nvPicPr>
          <p:cNvPr id="16" name="Image 4" descr="preencoded.png"/>
          <p:cNvPicPr>
            <a:picLocks noChangeAspect="1"/>
          </p:cNvPicPr>
          <p:nvPr/>
        </p:nvPicPr>
        <p:blipFill>
          <a:blip r:embed="rId7"/>
          <a:stretch>
            <a:fillRect/>
          </a:stretch>
        </p:blipFill>
        <p:spPr>
          <a:xfrm>
            <a:off x="687857" y="4949419"/>
            <a:ext cx="278435" cy="278435"/>
          </a:xfrm>
          <a:prstGeom prst="rect">
            <a:avLst/>
          </a:prstGeom>
        </p:spPr>
      </p:pic>
      <p:sp>
        <p:nvSpPr>
          <p:cNvPr id="17" name="Text 10"/>
          <p:cNvSpPr txBox="1"/>
          <p:nvPr/>
        </p:nvSpPr>
        <p:spPr>
          <a:xfrm>
            <a:off x="1425550" y="4690872"/>
            <a:ext cx="10214762" cy="795528"/>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Results  </a:t>
            </a:r>
            <a:r>
              <a:rPr lang="en-US" sz="2400" dirty="0">
                <a:solidFill>
                  <a:srgbClr val="1F2A22"/>
                </a:solidFill>
                <a:latin typeface="Calibri" pitchFamily="34" charset="0"/>
                <a:ea typeface="Calibri" pitchFamily="34" charset="-122"/>
                <a:cs typeface="Calibri" pitchFamily="34" charset="-120"/>
              </a:rPr>
              <a:t>Results emerge when thinking is clear, feeling is aligned, decisions are coherent, and behaviour is disciplined.</a:t>
            </a:r>
            <a:endParaRPr lang="en-US" sz="2400" dirty="0"/>
          </a:p>
        </p:txBody>
      </p:sp>
      <p:sp>
        <p:nvSpPr>
          <p:cNvPr id="18" name="Shape 11"/>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2"/>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When any part of the chain is weak, execution begins to leak.</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Principle 2 — Misalignment Fragments Effort</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3057144" cy="507492"/>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Chinese Whispers</a:t>
            </a:r>
            <a:endParaRPr lang="en-US" sz="2600" dirty="0"/>
          </a:p>
        </p:txBody>
      </p:sp>
      <p:sp>
        <p:nvSpPr>
          <p:cNvPr id="7" name="Text 4"/>
          <p:cNvSpPr txBox="1"/>
          <p:nvPr/>
        </p:nvSpPr>
        <p:spPr>
          <a:xfrm>
            <a:off x="777240" y="3159252"/>
            <a:ext cx="3057144" cy="2144268"/>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Intent mutates as it travels downward.</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725924" y="1897380"/>
            <a:ext cx="320040" cy="320040"/>
          </a:xfrm>
          <a:prstGeom prst="rect">
            <a:avLst/>
          </a:prstGeom>
        </p:spPr>
      </p:pic>
      <p:sp>
        <p:nvSpPr>
          <p:cNvPr id="11" name="Text 7"/>
          <p:cNvSpPr txBox="1"/>
          <p:nvPr/>
        </p:nvSpPr>
        <p:spPr>
          <a:xfrm>
            <a:off x="4565904" y="2514600"/>
            <a:ext cx="3057144" cy="923544"/>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Clarification Debt</a:t>
            </a:r>
            <a:endParaRPr lang="en-US" sz="2600" dirty="0"/>
          </a:p>
        </p:txBody>
      </p:sp>
      <p:sp>
        <p:nvSpPr>
          <p:cNvPr id="12" name="Text 8"/>
          <p:cNvSpPr txBox="1"/>
          <p:nvPr/>
        </p:nvSpPr>
        <p:spPr>
          <a:xfrm>
            <a:off x="4565904" y="3575304"/>
            <a:ext cx="3057144" cy="172821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60–80% of leadership time spent re-explaining, correcting, realigning.</a:t>
            </a:r>
            <a:endParaRPr lang="en-US" sz="2400" dirty="0"/>
          </a:p>
        </p:txBody>
      </p:sp>
      <p:sp>
        <p:nvSpPr>
          <p:cNvPr id="13" name="Shape 9"/>
          <p:cNvSpPr/>
          <p:nvPr/>
        </p:nvSpPr>
        <p:spPr>
          <a:xfrm>
            <a:off x="8125968" y="1508760"/>
            <a:ext cx="3514344" cy="3931920"/>
          </a:xfrm>
          <a:prstGeom prst="roundRect">
            <a:avLst>
              <a:gd name="adj" fmla="val 2602"/>
            </a:avLst>
          </a:prstGeom>
          <a:solidFill>
            <a:srgbClr val="1A5C2C"/>
          </a:solidFill>
          <a:ln w="12700">
            <a:solidFill>
              <a:srgbClr val="1A5C2C"/>
            </a:solidFill>
            <a:prstDash val="solid"/>
          </a:ln>
        </p:spPr>
        <p:txBody>
          <a:bodyPr/>
          <a:lstStyle/>
          <a:p>
            <a:endParaRPr lang="en-ZA"/>
          </a:p>
        </p:txBody>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8514588" y="1897380"/>
            <a:ext cx="320040" cy="320040"/>
          </a:xfrm>
          <a:prstGeom prst="rect">
            <a:avLst/>
          </a:prstGeom>
        </p:spPr>
      </p:pic>
      <p:sp>
        <p:nvSpPr>
          <p:cNvPr id="16" name="Text 11"/>
          <p:cNvSpPr txBox="1"/>
          <p:nvPr/>
        </p:nvSpPr>
        <p:spPr>
          <a:xfrm>
            <a:off x="8354568" y="2514600"/>
            <a:ext cx="3057144" cy="923544"/>
          </a:xfrm>
          <a:prstGeom prst="rect">
            <a:avLst/>
          </a:prstGeom>
          <a:noFill/>
          <a:ln/>
        </p:spPr>
        <p:txBody>
          <a:bodyPr wrap="square" lIns="0" tIns="0" rIns="0" bIns="0" rtlCol="0" anchor="t"/>
          <a:lstStyle/>
          <a:p>
            <a:pPr marL="0" indent="0">
              <a:buNone/>
            </a:pPr>
            <a:r>
              <a:rPr lang="en-US" sz="2600" b="1" dirty="0">
                <a:solidFill>
                  <a:srgbClr val="FFFFFF"/>
                </a:solidFill>
                <a:latin typeface="Cambria" pitchFamily="34" charset="0"/>
                <a:ea typeface="Cambria" pitchFamily="34" charset="-122"/>
                <a:cs typeface="Cambria" pitchFamily="34" charset="-120"/>
              </a:rPr>
              <a:t>Silent Disengagement</a:t>
            </a:r>
            <a:endParaRPr lang="en-US" sz="2600" dirty="0"/>
          </a:p>
        </p:txBody>
      </p:sp>
      <p:sp>
        <p:nvSpPr>
          <p:cNvPr id="17" name="Text 12"/>
          <p:cNvSpPr txBox="1"/>
          <p:nvPr/>
        </p:nvSpPr>
        <p:spPr>
          <a:xfrm>
            <a:off x="8354568" y="3575304"/>
            <a:ext cx="3057144" cy="1728216"/>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People comply outwardly but withdraw inwardly.</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Low-alignment organisations experience 41% lower productivity and 48% higher turnover.</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Principle 3 — Alignment Must Be Designed</a:t>
            </a:r>
            <a:endParaRPr lang="en-US" sz="3600" dirty="0"/>
          </a:p>
        </p:txBody>
      </p:sp>
      <p:sp>
        <p:nvSpPr>
          <p:cNvPr id="3" name="Shape 1"/>
          <p:cNvSpPr/>
          <p:nvPr/>
        </p:nvSpPr>
        <p:spPr>
          <a:xfrm>
            <a:off x="548640" y="1508760"/>
            <a:ext cx="5408676" cy="3931920"/>
          </a:xfrm>
          <a:prstGeom prst="roundRect">
            <a:avLst>
              <a:gd name="adj" fmla="val 2326"/>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1600200" y="1691640"/>
            <a:ext cx="4128516" cy="73152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OCEAVL Assessment</a:t>
            </a:r>
            <a:endParaRPr lang="en-US" sz="2600" dirty="0"/>
          </a:p>
        </p:txBody>
      </p:sp>
      <p:sp>
        <p:nvSpPr>
          <p:cNvPr id="7" name="Text 4"/>
          <p:cNvSpPr txBox="1"/>
          <p:nvPr/>
        </p:nvSpPr>
        <p:spPr>
          <a:xfrm>
            <a:off x="777240" y="2560320"/>
            <a:ext cx="4951476" cy="274320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Surfaces psychological tendencies influencing executive decision-making.</a:t>
            </a:r>
            <a:endParaRPr lang="en-US" sz="2400" dirty="0"/>
          </a:p>
        </p:txBody>
      </p:sp>
      <p:sp>
        <p:nvSpPr>
          <p:cNvPr id="8" name="Shape 5"/>
          <p:cNvSpPr/>
          <p:nvPr/>
        </p:nvSpPr>
        <p:spPr>
          <a:xfrm>
            <a:off x="6231636" y="1508760"/>
            <a:ext cx="5408676" cy="3931920"/>
          </a:xfrm>
          <a:prstGeom prst="roundRect">
            <a:avLst>
              <a:gd name="adj" fmla="val 2326"/>
            </a:avLst>
          </a:prstGeom>
          <a:solidFill>
            <a:srgbClr val="1A5C2C"/>
          </a:solidFill>
          <a:ln w="12700">
            <a:solidFill>
              <a:srgbClr val="1A5C2C"/>
            </a:solidFill>
            <a:prstDash val="solid"/>
          </a:ln>
        </p:spPr>
        <p:txBody>
          <a:bodyPr/>
          <a:lstStyle/>
          <a:p>
            <a:endParaRPr lang="en-ZA"/>
          </a:p>
        </p:txBody>
      </p:sp>
      <p:sp>
        <p:nvSpPr>
          <p:cNvPr id="9" name="Shape 6"/>
          <p:cNvSpPr/>
          <p:nvPr/>
        </p:nvSpPr>
        <p:spPr>
          <a:xfrm>
            <a:off x="6460236" y="1737360"/>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6620256" y="1897380"/>
            <a:ext cx="320040" cy="320040"/>
          </a:xfrm>
          <a:prstGeom prst="rect">
            <a:avLst/>
          </a:prstGeom>
        </p:spPr>
      </p:pic>
      <p:sp>
        <p:nvSpPr>
          <p:cNvPr id="11" name="Text 7"/>
          <p:cNvSpPr txBox="1"/>
          <p:nvPr/>
        </p:nvSpPr>
        <p:spPr>
          <a:xfrm>
            <a:off x="7283196" y="1691640"/>
            <a:ext cx="4128516" cy="923544"/>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Emotional Climate Assessment</a:t>
            </a:r>
            <a:endParaRPr lang="en-US" sz="2600" dirty="0"/>
          </a:p>
        </p:txBody>
      </p:sp>
      <p:sp>
        <p:nvSpPr>
          <p:cNvPr id="12" name="Text 8"/>
          <p:cNvSpPr txBox="1"/>
          <p:nvPr/>
        </p:nvSpPr>
        <p:spPr>
          <a:xfrm>
            <a:off x="6460236" y="2752344"/>
            <a:ext cx="4951476" cy="2551176"/>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Identifies the prevailing state of being across six core emotional categories: Joy, Sadness, Anger, Fear, Disgust, Surprise.</a:t>
            </a:r>
            <a:endParaRPr lang="en-US" sz="2400" dirty="0"/>
          </a:p>
        </p:txBody>
      </p:sp>
      <p:sp>
        <p:nvSpPr>
          <p:cNvPr id="13" name="Shape 9"/>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4" name="Text 10"/>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Alignment rarely emerges naturally.</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Principle 4 — Human Reactions Are Predictable</a:t>
            </a:r>
            <a:endParaRPr lang="en-US" sz="3600" dirty="0"/>
          </a:p>
        </p:txBody>
      </p:sp>
      <p:sp>
        <p:nvSpPr>
          <p:cNvPr id="3" name="Shape 1"/>
          <p:cNvSpPr/>
          <p:nvPr/>
        </p:nvSpPr>
        <p:spPr>
          <a:xfrm>
            <a:off x="548640" y="182118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981200"/>
            <a:ext cx="320040" cy="320040"/>
          </a:xfrm>
          <a:prstGeom prst="rect">
            <a:avLst/>
          </a:prstGeom>
        </p:spPr>
      </p:pic>
      <p:sp>
        <p:nvSpPr>
          <p:cNvPr id="5" name="Text 2"/>
          <p:cNvSpPr txBox="1"/>
          <p:nvPr/>
        </p:nvSpPr>
        <p:spPr>
          <a:xfrm>
            <a:off x="1508760" y="1508760"/>
            <a:ext cx="10131552" cy="126492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Reactions to strategic change follow predictable psychological patterns.</a:t>
            </a:r>
            <a:endParaRPr lang="en-US" sz="2400" dirty="0"/>
          </a:p>
        </p:txBody>
      </p:sp>
      <p:sp>
        <p:nvSpPr>
          <p:cNvPr id="6" name="Shape 3"/>
          <p:cNvSpPr/>
          <p:nvPr/>
        </p:nvSpPr>
        <p:spPr>
          <a:xfrm>
            <a:off x="548640" y="308610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3246120"/>
            <a:ext cx="320040" cy="320040"/>
          </a:xfrm>
          <a:prstGeom prst="rect">
            <a:avLst/>
          </a:prstGeom>
        </p:spPr>
      </p:pic>
      <p:sp>
        <p:nvSpPr>
          <p:cNvPr id="8" name="Text 4"/>
          <p:cNvSpPr txBox="1"/>
          <p:nvPr/>
        </p:nvSpPr>
        <p:spPr>
          <a:xfrm>
            <a:off x="1508760" y="2773680"/>
            <a:ext cx="10131552" cy="126492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The human brain processes social change using the same threat circuitry as physical danger</a:t>
            </a:r>
            <a:endParaRPr lang="en-US" sz="2400" dirty="0"/>
          </a:p>
        </p:txBody>
      </p:sp>
      <p:sp>
        <p:nvSpPr>
          <p:cNvPr id="9" name="Shape 5"/>
          <p:cNvSpPr/>
          <p:nvPr/>
        </p:nvSpPr>
        <p:spPr>
          <a:xfrm>
            <a:off x="548640" y="435102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4511040"/>
            <a:ext cx="320040" cy="320040"/>
          </a:xfrm>
          <a:prstGeom prst="rect">
            <a:avLst/>
          </a:prstGeom>
        </p:spPr>
      </p:pic>
      <p:sp>
        <p:nvSpPr>
          <p:cNvPr id="11" name="Text 6"/>
          <p:cNvSpPr txBox="1"/>
          <p:nvPr/>
        </p:nvSpPr>
        <p:spPr>
          <a:xfrm>
            <a:off x="1508760" y="4038600"/>
            <a:ext cx="10131552" cy="126492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Any new goal, system, or way of working is evaluated emotionally before it is evaluated rationally</a:t>
            </a:r>
            <a:endParaRPr lang="en-US" sz="2400" dirty="0"/>
          </a:p>
        </p:txBody>
      </p:sp>
      <p:sp>
        <p:nvSpPr>
          <p:cNvPr id="12" name="Shape 7"/>
          <p:cNvSpPr/>
          <p:nvPr/>
        </p:nvSpPr>
        <p:spPr>
          <a:xfrm>
            <a:off x="548640" y="5440680"/>
            <a:ext cx="11091672" cy="960120"/>
          </a:xfrm>
          <a:prstGeom prst="roundRect">
            <a:avLst>
              <a:gd name="adj" fmla="val 9524"/>
            </a:avLst>
          </a:prstGeom>
          <a:solidFill>
            <a:srgbClr val="0F3B1C"/>
          </a:solidFill>
          <a:ln w="12700">
            <a:solidFill>
              <a:srgbClr val="0F3B1C"/>
            </a:solidFill>
            <a:prstDash val="solid"/>
          </a:ln>
        </p:spPr>
        <p:txBody>
          <a:bodyPr/>
          <a:lstStyle/>
          <a:p>
            <a:endParaRPr lang="en-ZA"/>
          </a:p>
        </p:txBody>
      </p:sp>
      <p:sp>
        <p:nvSpPr>
          <p:cNvPr id="13" name="Text 8"/>
          <p:cNvSpPr txBox="1"/>
          <p:nvPr/>
        </p:nvSpPr>
        <p:spPr>
          <a:xfrm>
            <a:off x="822960" y="5440680"/>
            <a:ext cx="10607040" cy="96012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The SCARF Model (David Rock) explains five social conditions that trigger emotional responses during change.</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200" b="1" dirty="0">
                <a:solidFill>
                  <a:srgbClr val="1A5C2C"/>
                </a:solidFill>
                <a:latin typeface="Cambria" pitchFamily="34" charset="0"/>
                <a:ea typeface="Cambria" pitchFamily="34" charset="-122"/>
                <a:cs typeface="Cambria" pitchFamily="34" charset="-120"/>
              </a:rPr>
              <a:t>Principle 5 — Execution Must Be Visible in Behaviour</a:t>
            </a:r>
            <a:endParaRPr lang="en-US" sz="3200" dirty="0"/>
          </a:p>
        </p:txBody>
      </p:sp>
      <p:sp>
        <p:nvSpPr>
          <p:cNvPr id="3" name="Shape 1"/>
          <p:cNvSpPr/>
          <p:nvPr/>
        </p:nvSpPr>
        <p:spPr>
          <a:xfrm>
            <a:off x="548640" y="18516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2011680"/>
            <a:ext cx="320040" cy="320040"/>
          </a:xfrm>
          <a:prstGeom prst="rect">
            <a:avLst/>
          </a:prstGeom>
        </p:spPr>
      </p:pic>
      <p:sp>
        <p:nvSpPr>
          <p:cNvPr id="5" name="Text 2"/>
          <p:cNvSpPr txBox="1"/>
          <p:nvPr/>
        </p:nvSpPr>
        <p:spPr>
          <a:xfrm>
            <a:off x="1508760" y="1508760"/>
            <a:ext cx="10131552" cy="132588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Strategic alignment ultimately becomes visible through behaviour.</a:t>
            </a:r>
            <a:endParaRPr lang="en-US" sz="2400" dirty="0"/>
          </a:p>
        </p:txBody>
      </p:sp>
      <p:sp>
        <p:nvSpPr>
          <p:cNvPr id="6" name="Shape 3"/>
          <p:cNvSpPr/>
          <p:nvPr/>
        </p:nvSpPr>
        <p:spPr>
          <a:xfrm>
            <a:off x="548640" y="31775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3337560"/>
            <a:ext cx="320040" cy="320040"/>
          </a:xfrm>
          <a:prstGeom prst="rect">
            <a:avLst/>
          </a:prstGeom>
        </p:spPr>
      </p:pic>
      <p:sp>
        <p:nvSpPr>
          <p:cNvPr id="8" name="Text 4"/>
          <p:cNvSpPr txBox="1"/>
          <p:nvPr/>
        </p:nvSpPr>
        <p:spPr>
          <a:xfrm>
            <a:off x="1508760" y="2834640"/>
            <a:ext cx="10131552" cy="132588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Without observable behaviour, alignment remains theoretical.</a:t>
            </a:r>
            <a:endParaRPr lang="en-US" sz="2400" dirty="0"/>
          </a:p>
        </p:txBody>
      </p:sp>
      <p:sp>
        <p:nvSpPr>
          <p:cNvPr id="9" name="Shape 5"/>
          <p:cNvSpPr/>
          <p:nvPr/>
        </p:nvSpPr>
        <p:spPr>
          <a:xfrm>
            <a:off x="548640" y="450342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4663440"/>
            <a:ext cx="320040" cy="320040"/>
          </a:xfrm>
          <a:prstGeom prst="rect">
            <a:avLst/>
          </a:prstGeom>
        </p:spPr>
      </p:pic>
      <p:sp>
        <p:nvSpPr>
          <p:cNvPr id="11" name="Text 6"/>
          <p:cNvSpPr txBox="1"/>
          <p:nvPr/>
        </p:nvSpPr>
        <p:spPr>
          <a:xfrm>
            <a:off x="1508760" y="4160520"/>
            <a:ext cx="10131552" cy="132588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With behavioural standards, alignment becomes visible, measurable, and sustainable.</a:t>
            </a:r>
            <a:endParaRPr lang="en-US" sz="2400" dirty="0"/>
          </a:p>
        </p:txBody>
      </p:sp>
      <p:sp>
        <p:nvSpPr>
          <p:cNvPr id="12" name="Shape 7"/>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3" name="Text 8"/>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Accountability, Commitment, Engagement, Integrity, Transparency</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000" b="1" dirty="0">
                <a:solidFill>
                  <a:srgbClr val="1A5C2C"/>
                </a:solidFill>
                <a:latin typeface="Cambria" pitchFamily="34" charset="0"/>
                <a:ea typeface="Cambria" pitchFamily="34" charset="-122"/>
                <a:cs typeface="Cambria" pitchFamily="34" charset="-120"/>
              </a:rPr>
              <a:t>1.3a · Change Management: The Event and the Transition</a:t>
            </a:r>
            <a:endParaRPr lang="en-US" sz="3000" dirty="0"/>
          </a:p>
        </p:txBody>
      </p:sp>
      <p:sp>
        <p:nvSpPr>
          <p:cNvPr id="3" name="Shape 1"/>
          <p:cNvSpPr/>
          <p:nvPr/>
        </p:nvSpPr>
        <p:spPr>
          <a:xfrm>
            <a:off x="548640" y="1508760"/>
            <a:ext cx="5394960" cy="3931920"/>
          </a:xfrm>
          <a:prstGeom prst="roundRect">
            <a:avLst>
              <a:gd name="adj" fmla="val 2326"/>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822960" y="1737360"/>
            <a:ext cx="731520" cy="73152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1005840" y="1920240"/>
            <a:ext cx="365760" cy="365760"/>
          </a:xfrm>
          <a:prstGeom prst="rect">
            <a:avLst/>
          </a:prstGeom>
        </p:spPr>
      </p:pic>
      <p:sp>
        <p:nvSpPr>
          <p:cNvPr id="6" name="Text 3"/>
          <p:cNvSpPr txBox="1"/>
          <p:nvPr/>
        </p:nvSpPr>
        <p:spPr>
          <a:xfrm>
            <a:off x="1737360" y="1737360"/>
            <a:ext cx="4069080" cy="73152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The event</a:t>
            </a:r>
            <a:endParaRPr lang="en-US" sz="2600" dirty="0"/>
          </a:p>
        </p:txBody>
      </p:sp>
      <p:sp>
        <p:nvSpPr>
          <p:cNvPr id="7" name="Text 4"/>
          <p:cNvSpPr txBox="1"/>
          <p:nvPr/>
        </p:nvSpPr>
        <p:spPr>
          <a:xfrm>
            <a:off x="868680" y="2697480"/>
            <a:ext cx="4846320" cy="265176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A change is an event.</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It is announced on a date, and on that date the structure, the system or the target is different.</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The event belongs to the organisation.</a:t>
            </a:r>
            <a:endParaRPr lang="en-US" sz="2400" dirty="0"/>
          </a:p>
        </p:txBody>
      </p:sp>
      <p:sp>
        <p:nvSpPr>
          <p:cNvPr id="8" name="Shape 5"/>
          <p:cNvSpPr/>
          <p:nvPr/>
        </p:nvSpPr>
        <p:spPr>
          <a:xfrm>
            <a:off x="6245352" y="1508760"/>
            <a:ext cx="5394960" cy="3931920"/>
          </a:xfrm>
          <a:prstGeom prst="roundRect">
            <a:avLst>
              <a:gd name="adj" fmla="val 2326"/>
            </a:avLst>
          </a:prstGeom>
          <a:solidFill>
            <a:srgbClr val="1A5C2C"/>
          </a:solidFill>
          <a:ln w="12700">
            <a:solidFill>
              <a:srgbClr val="1A5C2C"/>
            </a:solidFill>
            <a:prstDash val="solid"/>
          </a:ln>
        </p:spPr>
        <p:txBody>
          <a:bodyPr/>
          <a:lstStyle/>
          <a:p>
            <a:endParaRPr lang="en-ZA"/>
          </a:p>
        </p:txBody>
      </p:sp>
      <p:sp>
        <p:nvSpPr>
          <p:cNvPr id="9" name="Shape 6"/>
          <p:cNvSpPr/>
          <p:nvPr/>
        </p:nvSpPr>
        <p:spPr>
          <a:xfrm>
            <a:off x="6519672" y="1737360"/>
            <a:ext cx="731520" cy="731520"/>
          </a:xfrm>
          <a:prstGeom prst="ellipse">
            <a:avLst/>
          </a:prstGeom>
          <a:solidFill>
            <a:srgbClr val="C6A24C"/>
          </a:solidFill>
          <a:ln w="12700">
            <a:solidFill>
              <a:srgbClr val="C6A24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6702552" y="1920240"/>
            <a:ext cx="365760" cy="365760"/>
          </a:xfrm>
          <a:prstGeom prst="rect">
            <a:avLst/>
          </a:prstGeom>
        </p:spPr>
      </p:pic>
      <p:sp>
        <p:nvSpPr>
          <p:cNvPr id="11" name="Text 7"/>
          <p:cNvSpPr txBox="1"/>
          <p:nvPr/>
        </p:nvSpPr>
        <p:spPr>
          <a:xfrm>
            <a:off x="7434072" y="1737360"/>
            <a:ext cx="4069080" cy="73152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The transition</a:t>
            </a:r>
            <a:endParaRPr lang="en-US" sz="2600" dirty="0"/>
          </a:p>
        </p:txBody>
      </p:sp>
      <p:sp>
        <p:nvSpPr>
          <p:cNvPr id="12" name="Text 8"/>
          <p:cNvSpPr txBox="1"/>
          <p:nvPr/>
        </p:nvSpPr>
        <p:spPr>
          <a:xfrm>
            <a:off x="6565392" y="2697480"/>
            <a:ext cx="4846320" cy="265176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Letting go of a familiar practice</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Working out what the new one asks of them</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Becoming able to do it</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The transition belongs to the person.</a:t>
            </a:r>
            <a:endParaRPr lang="en-US" sz="2400" dirty="0"/>
          </a:p>
        </p:txBody>
      </p:sp>
      <p:sp>
        <p:nvSpPr>
          <p:cNvPr id="13" name="Shape 9"/>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4" name="Text 10"/>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Change management is the leadership discipline of moving people from current practice to the practice the strategy requires.</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1.3b · Change Management: The 4 Checks of Mind, Heart, Hands and Habit</a:t>
            </a:r>
            <a:endParaRPr lang="en-US" sz="2600" dirty="0"/>
          </a:p>
        </p:txBody>
      </p:sp>
      <p:sp>
        <p:nvSpPr>
          <p:cNvPr id="3" name="Shape 1"/>
          <p:cNvSpPr/>
          <p:nvPr/>
        </p:nvSpPr>
        <p:spPr>
          <a:xfrm>
            <a:off x="548640" y="16859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845945"/>
            <a:ext cx="320040" cy="320040"/>
          </a:xfrm>
          <a:prstGeom prst="rect">
            <a:avLst/>
          </a:prstGeom>
        </p:spPr>
      </p:pic>
      <p:sp>
        <p:nvSpPr>
          <p:cNvPr id="5" name="Text 2"/>
          <p:cNvSpPr txBox="1"/>
          <p:nvPr/>
        </p:nvSpPr>
        <p:spPr>
          <a:xfrm>
            <a:off x="1508760" y="150876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Mind · 3S · Explain  </a:t>
            </a:r>
            <a:r>
              <a:rPr lang="en-US" sz="2400" dirty="0">
                <a:solidFill>
                  <a:srgbClr val="1F2A22"/>
                </a:solidFill>
                <a:latin typeface="Calibri" pitchFamily="34" charset="0"/>
                <a:ea typeface="Calibri" pitchFamily="34" charset="-122"/>
                <a:cs typeface="Calibri" pitchFamily="34" charset="-120"/>
              </a:rPr>
              <a:t>They understand the change, why it matters and what they do differently.</a:t>
            </a:r>
            <a:endParaRPr lang="en-US" sz="2400" dirty="0"/>
          </a:p>
        </p:txBody>
      </p:sp>
      <p:sp>
        <p:nvSpPr>
          <p:cNvPr id="6" name="Shape 3"/>
          <p:cNvSpPr/>
          <p:nvPr/>
        </p:nvSpPr>
        <p:spPr>
          <a:xfrm>
            <a:off x="548640" y="26803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2840355"/>
            <a:ext cx="320040" cy="320040"/>
          </a:xfrm>
          <a:prstGeom prst="rect">
            <a:avLst/>
          </a:prstGeom>
        </p:spPr>
      </p:pic>
      <p:sp>
        <p:nvSpPr>
          <p:cNvPr id="8" name="Text 4"/>
          <p:cNvSpPr txBox="1"/>
          <p:nvPr/>
        </p:nvSpPr>
        <p:spPr>
          <a:xfrm>
            <a:off x="1508760" y="250317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Heart · SCARF · Involve  </a:t>
            </a:r>
            <a:r>
              <a:rPr lang="en-US" sz="2400" dirty="0">
                <a:solidFill>
                  <a:srgbClr val="1F2A22"/>
                </a:solidFill>
                <a:latin typeface="Calibri" pitchFamily="34" charset="0"/>
                <a:ea typeface="Calibri" pitchFamily="34" charset="-122"/>
                <a:cs typeface="Calibri" pitchFamily="34" charset="-120"/>
              </a:rPr>
              <a:t>They want it to succeed.</a:t>
            </a:r>
            <a:endParaRPr lang="en-US" sz="2400" dirty="0"/>
          </a:p>
        </p:txBody>
      </p:sp>
      <p:sp>
        <p:nvSpPr>
          <p:cNvPr id="9" name="Shape 5"/>
          <p:cNvSpPr/>
          <p:nvPr/>
        </p:nvSpPr>
        <p:spPr>
          <a:xfrm>
            <a:off x="548640" y="36747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3834765"/>
            <a:ext cx="320040" cy="320040"/>
          </a:xfrm>
          <a:prstGeom prst="rect">
            <a:avLst/>
          </a:prstGeom>
        </p:spPr>
      </p:pic>
      <p:sp>
        <p:nvSpPr>
          <p:cNvPr id="11" name="Text 6"/>
          <p:cNvSpPr txBox="1"/>
          <p:nvPr/>
        </p:nvSpPr>
        <p:spPr>
          <a:xfrm>
            <a:off x="1508760" y="349758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Hands · STAT · Equip  </a:t>
            </a:r>
            <a:r>
              <a:rPr lang="en-US" sz="2400" dirty="0">
                <a:solidFill>
                  <a:srgbClr val="1F2A22"/>
                </a:solidFill>
                <a:latin typeface="Calibri" pitchFamily="34" charset="0"/>
                <a:ea typeface="Calibri" pitchFamily="34" charset="-122"/>
                <a:cs typeface="Calibri" pitchFamily="34" charset="-120"/>
              </a:rPr>
              <a:t>They are able to do it.</a:t>
            </a:r>
            <a:endParaRPr lang="en-US" sz="2400" dirty="0"/>
          </a:p>
        </p:txBody>
      </p:sp>
      <p:sp>
        <p:nvSpPr>
          <p:cNvPr id="12" name="Shape 7"/>
          <p:cNvSpPr/>
          <p:nvPr/>
        </p:nvSpPr>
        <p:spPr>
          <a:xfrm>
            <a:off x="548640" y="466915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4829175"/>
            <a:ext cx="320040" cy="320040"/>
          </a:xfrm>
          <a:prstGeom prst="rect">
            <a:avLst/>
          </a:prstGeom>
        </p:spPr>
      </p:pic>
      <p:sp>
        <p:nvSpPr>
          <p:cNvPr id="14" name="Text 8"/>
          <p:cNvSpPr txBox="1"/>
          <p:nvPr/>
        </p:nvSpPr>
        <p:spPr>
          <a:xfrm>
            <a:off x="1508760" y="4491990"/>
            <a:ext cx="10131552" cy="99441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Habit · ACE-IT · Reinforce  </a:t>
            </a:r>
            <a:r>
              <a:rPr lang="en-US" sz="2400" dirty="0">
                <a:solidFill>
                  <a:srgbClr val="1F2A22"/>
                </a:solidFill>
                <a:latin typeface="Calibri" pitchFamily="34" charset="0"/>
                <a:ea typeface="Calibri" pitchFamily="34" charset="-122"/>
                <a:cs typeface="Calibri" pitchFamily="34" charset="-120"/>
              </a:rPr>
              <a:t>It has become the way they work.</a:t>
            </a:r>
            <a:endParaRPr lang="en-US" sz="2400" dirty="0"/>
          </a:p>
        </p:txBody>
      </p:sp>
      <p:sp>
        <p:nvSpPr>
          <p:cNvPr id="15" name="Shape 9"/>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6" name="Text 10"/>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A change stalls at the first check it fails.</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1.3.1 · The 3S Check: Shift, Stake, Step</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3057144" cy="539496"/>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Shift</a:t>
            </a:r>
            <a:endParaRPr lang="en-US" sz="2800" dirty="0"/>
          </a:p>
        </p:txBody>
      </p:sp>
      <p:sp>
        <p:nvSpPr>
          <p:cNvPr id="7" name="Text 4"/>
          <p:cNvSpPr txBox="1"/>
          <p:nvPr/>
        </p:nvSpPr>
        <p:spPr>
          <a:xfrm>
            <a:off x="777240" y="3191256"/>
            <a:ext cx="3057144" cy="2112264"/>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“What is changing?”</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725924" y="1897380"/>
            <a:ext cx="320040" cy="320040"/>
          </a:xfrm>
          <a:prstGeom prst="rect">
            <a:avLst/>
          </a:prstGeom>
        </p:spPr>
      </p:pic>
      <p:sp>
        <p:nvSpPr>
          <p:cNvPr id="11" name="Text 7"/>
          <p:cNvSpPr txBox="1"/>
          <p:nvPr/>
        </p:nvSpPr>
        <p:spPr>
          <a:xfrm>
            <a:off x="4565904" y="2514600"/>
            <a:ext cx="3057144" cy="539496"/>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Stake</a:t>
            </a:r>
            <a:endParaRPr lang="en-US" sz="2800" dirty="0"/>
          </a:p>
        </p:txBody>
      </p:sp>
      <p:sp>
        <p:nvSpPr>
          <p:cNvPr id="12" name="Text 8"/>
          <p:cNvSpPr txBox="1"/>
          <p:nvPr/>
        </p:nvSpPr>
        <p:spPr>
          <a:xfrm>
            <a:off x="4565904" y="3191256"/>
            <a:ext cx="3057144" cy="2112264"/>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“What do we gain if we change, and what do we lose if we stay as we are?”</a:t>
            </a:r>
            <a:endParaRPr lang="en-US" sz="2400" dirty="0"/>
          </a:p>
        </p:txBody>
      </p:sp>
      <p:sp>
        <p:nvSpPr>
          <p:cNvPr id="13" name="Shape 9"/>
          <p:cNvSpPr/>
          <p:nvPr/>
        </p:nvSpPr>
        <p:spPr>
          <a:xfrm>
            <a:off x="8125968" y="1508760"/>
            <a:ext cx="3514344" cy="3931920"/>
          </a:xfrm>
          <a:prstGeom prst="roundRect">
            <a:avLst>
              <a:gd name="adj" fmla="val 2602"/>
            </a:avLst>
          </a:prstGeom>
          <a:solidFill>
            <a:srgbClr val="1A5C2C"/>
          </a:solidFill>
          <a:ln w="12700">
            <a:solidFill>
              <a:srgbClr val="1A5C2C"/>
            </a:solidFill>
            <a:prstDash val="solid"/>
          </a:ln>
        </p:spPr>
        <p:txBody>
          <a:bodyPr/>
          <a:lstStyle/>
          <a:p>
            <a:endParaRPr lang="en-ZA"/>
          </a:p>
        </p:txBody>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8514588" y="1897380"/>
            <a:ext cx="320040" cy="320040"/>
          </a:xfrm>
          <a:prstGeom prst="rect">
            <a:avLst/>
          </a:prstGeom>
        </p:spPr>
      </p:pic>
      <p:sp>
        <p:nvSpPr>
          <p:cNvPr id="16" name="Text 11"/>
          <p:cNvSpPr txBox="1"/>
          <p:nvPr/>
        </p:nvSpPr>
        <p:spPr>
          <a:xfrm>
            <a:off x="8354568" y="2514600"/>
            <a:ext cx="3057144" cy="539496"/>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Step</a:t>
            </a:r>
            <a:endParaRPr lang="en-US" sz="2800" dirty="0"/>
          </a:p>
        </p:txBody>
      </p:sp>
      <p:sp>
        <p:nvSpPr>
          <p:cNvPr id="17" name="Text 12"/>
          <p:cNvSpPr txBox="1"/>
          <p:nvPr/>
        </p:nvSpPr>
        <p:spPr>
          <a:xfrm>
            <a:off x="8354568" y="3191256"/>
            <a:ext cx="3057144" cy="2112264"/>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“What do I do differently?”</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Mind passes when the people affected can say three things about the change in their own words.</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1.3.2 · The SCARF Model: Five Triggers of Human Resistance</a:t>
            </a:r>
            <a:endParaRPr lang="en-US" sz="28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Status  </a:t>
            </a:r>
            <a:r>
              <a:rPr lang="en-US" sz="2600" dirty="0">
                <a:solidFill>
                  <a:srgbClr val="1F2A22"/>
                </a:solidFill>
                <a:latin typeface="Calibri" pitchFamily="34" charset="0"/>
                <a:ea typeface="Calibri" pitchFamily="34" charset="-122"/>
                <a:cs typeface="Calibri" pitchFamily="34" charset="-120"/>
              </a:rPr>
              <a:t>“Will this reduce my importance?”</a:t>
            </a:r>
            <a:endParaRPr lang="en-US" sz="26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Certainty  </a:t>
            </a:r>
            <a:r>
              <a:rPr lang="en-US" sz="2600" dirty="0">
                <a:solidFill>
                  <a:srgbClr val="1F2A22"/>
                </a:solidFill>
                <a:latin typeface="Calibri" pitchFamily="34" charset="0"/>
                <a:ea typeface="Calibri" pitchFamily="34" charset="-122"/>
                <a:cs typeface="Calibri" pitchFamily="34" charset="-120"/>
              </a:rPr>
              <a:t>“Do I know what success looks like?”</a:t>
            </a:r>
            <a:endParaRPr lang="en-US" sz="26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Autonomy  </a:t>
            </a:r>
            <a:r>
              <a:rPr lang="en-US" sz="2600" dirty="0">
                <a:solidFill>
                  <a:srgbClr val="1F2A22"/>
                </a:solidFill>
                <a:latin typeface="Calibri" pitchFamily="34" charset="0"/>
                <a:ea typeface="Calibri" pitchFamily="34" charset="-122"/>
                <a:cs typeface="Calibri" pitchFamily="34" charset="-120"/>
              </a:rPr>
              <a:t>“Am I losing control of my work?”</a:t>
            </a:r>
            <a:endParaRPr lang="en-US" sz="26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Relatedness  </a:t>
            </a:r>
            <a:r>
              <a:rPr lang="en-US" sz="2600" dirty="0">
                <a:solidFill>
                  <a:srgbClr val="1F2A22"/>
                </a:solidFill>
                <a:latin typeface="Calibri" pitchFamily="34" charset="0"/>
                <a:ea typeface="Calibri" pitchFamily="34" charset="-122"/>
                <a:cs typeface="Calibri" pitchFamily="34" charset="-120"/>
              </a:rPr>
              <a:t>“Do I still belong here?”</a:t>
            </a:r>
            <a:endParaRPr lang="en-US" sz="2600" dirty="0"/>
          </a:p>
        </p:txBody>
      </p:sp>
      <p:sp>
        <p:nvSpPr>
          <p:cNvPr id="15" name="Shape 9"/>
          <p:cNvSpPr/>
          <p:nvPr/>
        </p:nvSpPr>
        <p:spPr>
          <a:xfrm>
            <a:off x="548640" y="5591556"/>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6" name="Image 4" descr="preencoded.png"/>
          <p:cNvPicPr>
            <a:picLocks noChangeAspect="1"/>
          </p:cNvPicPr>
          <p:nvPr/>
        </p:nvPicPr>
        <p:blipFill>
          <a:blip r:embed="rId7"/>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Fairness  </a:t>
            </a:r>
            <a:r>
              <a:rPr lang="en-US" sz="2600" dirty="0">
                <a:solidFill>
                  <a:srgbClr val="1F2A22"/>
                </a:solidFill>
                <a:latin typeface="Calibri" pitchFamily="34" charset="0"/>
                <a:ea typeface="Calibri" pitchFamily="34" charset="-122"/>
                <a:cs typeface="Calibri" pitchFamily="34" charset="-120"/>
              </a:rPr>
              <a:t>“Is this being applied equitably?”</a:t>
            </a:r>
            <a:endParaRPr lang="en-US" sz="2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200" b="1" dirty="0">
                <a:solidFill>
                  <a:srgbClr val="1A5C2C"/>
                </a:solidFill>
                <a:latin typeface="Cambria" pitchFamily="34" charset="0"/>
                <a:ea typeface="Cambria" pitchFamily="34" charset="-122"/>
                <a:cs typeface="Cambria" pitchFamily="34" charset="-120"/>
              </a:rPr>
              <a:t>1.3.3 · The STAT Check: Skill, Time, Authority, Tools</a:t>
            </a:r>
            <a:endParaRPr lang="en-US" sz="3200" dirty="0"/>
          </a:p>
        </p:txBody>
      </p:sp>
      <p:sp>
        <p:nvSpPr>
          <p:cNvPr id="3" name="Shape 1"/>
          <p:cNvSpPr/>
          <p:nvPr/>
        </p:nvSpPr>
        <p:spPr>
          <a:xfrm>
            <a:off x="548640" y="1508760"/>
            <a:ext cx="5408676" cy="1828800"/>
          </a:xfrm>
          <a:prstGeom prst="roundRect">
            <a:avLst>
              <a:gd name="adj" fmla="val 5000"/>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1600200" y="1691640"/>
            <a:ext cx="4128516" cy="731520"/>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Skill</a:t>
            </a:r>
            <a:endParaRPr lang="en-US" sz="2800" dirty="0"/>
          </a:p>
        </p:txBody>
      </p:sp>
      <p:sp>
        <p:nvSpPr>
          <p:cNvPr id="7" name="Text 4"/>
          <p:cNvSpPr txBox="1"/>
          <p:nvPr/>
        </p:nvSpPr>
        <p:spPr>
          <a:xfrm>
            <a:off x="777240" y="2560320"/>
            <a:ext cx="4951476" cy="64008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“Do they know how to do it?”</a:t>
            </a:r>
            <a:endParaRPr lang="en-US" sz="2400" dirty="0"/>
          </a:p>
        </p:txBody>
      </p:sp>
      <p:sp>
        <p:nvSpPr>
          <p:cNvPr id="8" name="Shape 5"/>
          <p:cNvSpPr/>
          <p:nvPr/>
        </p:nvSpPr>
        <p:spPr>
          <a:xfrm>
            <a:off x="6231636" y="1508760"/>
            <a:ext cx="5408676" cy="1828800"/>
          </a:xfrm>
          <a:prstGeom prst="roundRect">
            <a:avLst>
              <a:gd name="adj" fmla="val 5000"/>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6460236"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6620256" y="1897380"/>
            <a:ext cx="320040" cy="320040"/>
          </a:xfrm>
          <a:prstGeom prst="rect">
            <a:avLst/>
          </a:prstGeom>
        </p:spPr>
      </p:pic>
      <p:sp>
        <p:nvSpPr>
          <p:cNvPr id="11" name="Text 7"/>
          <p:cNvSpPr txBox="1"/>
          <p:nvPr/>
        </p:nvSpPr>
        <p:spPr>
          <a:xfrm>
            <a:off x="7283196" y="1691640"/>
            <a:ext cx="4128516" cy="731520"/>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Time</a:t>
            </a:r>
            <a:endParaRPr lang="en-US" sz="2800" dirty="0"/>
          </a:p>
        </p:txBody>
      </p:sp>
      <p:sp>
        <p:nvSpPr>
          <p:cNvPr id="12" name="Text 8"/>
          <p:cNvSpPr txBox="1"/>
          <p:nvPr/>
        </p:nvSpPr>
        <p:spPr>
          <a:xfrm>
            <a:off x="6460236" y="2560320"/>
            <a:ext cx="4951476" cy="64008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“Do they have the hours to do it?”</a:t>
            </a:r>
            <a:endParaRPr lang="en-US" sz="2400" dirty="0"/>
          </a:p>
        </p:txBody>
      </p:sp>
      <p:sp>
        <p:nvSpPr>
          <p:cNvPr id="13" name="Shape 9"/>
          <p:cNvSpPr/>
          <p:nvPr/>
        </p:nvSpPr>
        <p:spPr>
          <a:xfrm>
            <a:off x="548640" y="3611880"/>
            <a:ext cx="5408676" cy="1828800"/>
          </a:xfrm>
          <a:prstGeom prst="roundRect">
            <a:avLst>
              <a:gd name="adj" fmla="val 5000"/>
            </a:avLst>
          </a:prstGeom>
          <a:solidFill>
            <a:srgbClr val="1A5C2C"/>
          </a:solidFill>
          <a:ln w="12700">
            <a:solidFill>
              <a:srgbClr val="1A5C2C"/>
            </a:solidFill>
            <a:prstDash val="solid"/>
          </a:ln>
        </p:spPr>
        <p:txBody>
          <a:bodyPr/>
          <a:lstStyle/>
          <a:p>
            <a:endParaRPr lang="en-ZA"/>
          </a:p>
        </p:txBody>
      </p:sp>
      <p:sp>
        <p:nvSpPr>
          <p:cNvPr id="14" name="Shape 10"/>
          <p:cNvSpPr/>
          <p:nvPr/>
        </p:nvSpPr>
        <p:spPr>
          <a:xfrm>
            <a:off x="777240" y="3840480"/>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937260" y="4000500"/>
            <a:ext cx="320040" cy="320040"/>
          </a:xfrm>
          <a:prstGeom prst="rect">
            <a:avLst/>
          </a:prstGeom>
        </p:spPr>
      </p:pic>
      <p:sp>
        <p:nvSpPr>
          <p:cNvPr id="16" name="Text 11"/>
          <p:cNvSpPr txBox="1"/>
          <p:nvPr/>
        </p:nvSpPr>
        <p:spPr>
          <a:xfrm>
            <a:off x="1600200" y="3794760"/>
            <a:ext cx="4128516" cy="7315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Authority</a:t>
            </a:r>
            <a:endParaRPr lang="en-US" sz="2800" dirty="0"/>
          </a:p>
        </p:txBody>
      </p:sp>
      <p:sp>
        <p:nvSpPr>
          <p:cNvPr id="17" name="Text 12"/>
          <p:cNvSpPr txBox="1"/>
          <p:nvPr/>
        </p:nvSpPr>
        <p:spPr>
          <a:xfrm>
            <a:off x="777240" y="4663440"/>
            <a:ext cx="4951476" cy="6400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“Are they allowed to decide and act?”</a:t>
            </a:r>
            <a:endParaRPr lang="en-US" sz="2400" dirty="0"/>
          </a:p>
        </p:txBody>
      </p:sp>
      <p:sp>
        <p:nvSpPr>
          <p:cNvPr id="18" name="Shape 13"/>
          <p:cNvSpPr/>
          <p:nvPr/>
        </p:nvSpPr>
        <p:spPr>
          <a:xfrm>
            <a:off x="6231636" y="3611880"/>
            <a:ext cx="5408676" cy="1828800"/>
          </a:xfrm>
          <a:prstGeom prst="roundRect">
            <a:avLst>
              <a:gd name="adj" fmla="val 5000"/>
            </a:avLst>
          </a:prstGeom>
          <a:solidFill>
            <a:srgbClr val="1A5C2C"/>
          </a:solidFill>
          <a:ln w="12700">
            <a:solidFill>
              <a:srgbClr val="1A5C2C"/>
            </a:solidFill>
            <a:prstDash val="solid"/>
          </a:ln>
        </p:spPr>
        <p:txBody>
          <a:bodyPr/>
          <a:lstStyle/>
          <a:p>
            <a:endParaRPr lang="en-ZA"/>
          </a:p>
        </p:txBody>
      </p:sp>
      <p:sp>
        <p:nvSpPr>
          <p:cNvPr id="19" name="Shape 14"/>
          <p:cNvSpPr/>
          <p:nvPr/>
        </p:nvSpPr>
        <p:spPr>
          <a:xfrm>
            <a:off x="6460236" y="3840480"/>
            <a:ext cx="640080" cy="640080"/>
          </a:xfrm>
          <a:prstGeom prst="ellipse">
            <a:avLst/>
          </a:prstGeom>
          <a:solidFill>
            <a:srgbClr val="C6A24C"/>
          </a:solidFill>
          <a:ln w="12700">
            <a:solidFill>
              <a:srgbClr val="C6A24C"/>
            </a:solidFill>
            <a:prstDash val="solid"/>
          </a:ln>
        </p:spPr>
        <p:txBody>
          <a:bodyPr/>
          <a:lstStyle/>
          <a:p>
            <a:endParaRPr lang="en-ZA"/>
          </a:p>
        </p:txBody>
      </p:sp>
      <p:pic>
        <p:nvPicPr>
          <p:cNvPr id="20" name="Image 3" descr="preencoded.png"/>
          <p:cNvPicPr>
            <a:picLocks noChangeAspect="1"/>
          </p:cNvPicPr>
          <p:nvPr/>
        </p:nvPicPr>
        <p:blipFill>
          <a:blip r:embed="rId6"/>
          <a:stretch>
            <a:fillRect/>
          </a:stretch>
        </p:blipFill>
        <p:spPr>
          <a:xfrm>
            <a:off x="6620256" y="4000500"/>
            <a:ext cx="320040" cy="320040"/>
          </a:xfrm>
          <a:prstGeom prst="rect">
            <a:avLst/>
          </a:prstGeom>
        </p:spPr>
      </p:pic>
      <p:sp>
        <p:nvSpPr>
          <p:cNvPr id="21" name="Text 15"/>
          <p:cNvSpPr txBox="1"/>
          <p:nvPr/>
        </p:nvSpPr>
        <p:spPr>
          <a:xfrm>
            <a:off x="7283196" y="3794760"/>
            <a:ext cx="4128516" cy="7315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Tools</a:t>
            </a:r>
            <a:endParaRPr lang="en-US" sz="2800" dirty="0"/>
          </a:p>
        </p:txBody>
      </p:sp>
      <p:sp>
        <p:nvSpPr>
          <p:cNvPr id="22" name="Text 16"/>
          <p:cNvSpPr txBox="1"/>
          <p:nvPr/>
        </p:nvSpPr>
        <p:spPr>
          <a:xfrm>
            <a:off x="6460236" y="4663440"/>
            <a:ext cx="4951476" cy="6400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“Do they have the systems and resources?”</a:t>
            </a:r>
            <a:endParaRPr lang="en-US" sz="2400" dirty="0"/>
          </a:p>
        </p:txBody>
      </p:sp>
      <p:sp>
        <p:nvSpPr>
          <p:cNvPr id="23" name="Shape 17"/>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24" name="Text 18"/>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Hands passes when all four elements are in place.</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200" b="1" dirty="0">
                <a:solidFill>
                  <a:srgbClr val="1A5C2C"/>
                </a:solidFill>
                <a:latin typeface="Cambria" pitchFamily="34" charset="0"/>
                <a:ea typeface="Cambria" pitchFamily="34" charset="-122"/>
                <a:cs typeface="Cambria" pitchFamily="34" charset="-120"/>
              </a:rPr>
              <a:t>1.3.4 · ACE-IT: The Observable Behaviour Standard</a:t>
            </a:r>
            <a:endParaRPr lang="en-US" sz="3200" dirty="0"/>
          </a:p>
        </p:txBody>
      </p:sp>
      <p:sp>
        <p:nvSpPr>
          <p:cNvPr id="3" name="Shape 1"/>
          <p:cNvSpPr/>
          <p:nvPr/>
        </p:nvSpPr>
        <p:spPr>
          <a:xfrm>
            <a:off x="548640" y="1628089"/>
            <a:ext cx="556870" cy="55687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687857" y="1767307"/>
            <a:ext cx="278435" cy="278435"/>
          </a:xfrm>
          <a:prstGeom prst="rect">
            <a:avLst/>
          </a:prstGeom>
        </p:spPr>
      </p:pic>
      <p:sp>
        <p:nvSpPr>
          <p:cNvPr id="5" name="Text 2"/>
          <p:cNvSpPr txBox="1"/>
          <p:nvPr/>
        </p:nvSpPr>
        <p:spPr>
          <a:xfrm>
            <a:off x="1425550" y="1508760"/>
            <a:ext cx="10214762" cy="795528"/>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Accountability  </a:t>
            </a:r>
            <a:r>
              <a:rPr lang="en-US" sz="2400" dirty="0">
                <a:solidFill>
                  <a:srgbClr val="1F2A22"/>
                </a:solidFill>
                <a:latin typeface="Calibri" pitchFamily="34" charset="0"/>
                <a:ea typeface="Calibri" pitchFamily="34" charset="-122"/>
                <a:cs typeface="Calibri" pitchFamily="34" charset="-120"/>
              </a:rPr>
              <a:t>Taking full ownership for results.</a:t>
            </a:r>
            <a:endParaRPr lang="en-US" sz="2400" dirty="0"/>
          </a:p>
        </p:txBody>
      </p:sp>
      <p:sp>
        <p:nvSpPr>
          <p:cNvPr id="6" name="Shape 3"/>
          <p:cNvSpPr/>
          <p:nvPr/>
        </p:nvSpPr>
        <p:spPr>
          <a:xfrm>
            <a:off x="548640" y="2423617"/>
            <a:ext cx="556870" cy="55687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687857" y="2562835"/>
            <a:ext cx="278435" cy="278435"/>
          </a:xfrm>
          <a:prstGeom prst="rect">
            <a:avLst/>
          </a:prstGeom>
        </p:spPr>
      </p:pic>
      <p:sp>
        <p:nvSpPr>
          <p:cNvPr id="8" name="Text 4"/>
          <p:cNvSpPr txBox="1"/>
          <p:nvPr/>
        </p:nvSpPr>
        <p:spPr>
          <a:xfrm>
            <a:off x="1425550" y="2304288"/>
            <a:ext cx="10214762" cy="795528"/>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Commitment  </a:t>
            </a:r>
            <a:r>
              <a:rPr lang="en-US" sz="2400" dirty="0">
                <a:solidFill>
                  <a:srgbClr val="1F2A22"/>
                </a:solidFill>
                <a:latin typeface="Calibri" pitchFamily="34" charset="0"/>
                <a:ea typeface="Calibri" pitchFamily="34" charset="-122"/>
                <a:cs typeface="Calibri" pitchFamily="34" charset="-120"/>
              </a:rPr>
              <a:t>Staying anchored to agreed strategic intent even when pressure rises.</a:t>
            </a:r>
            <a:endParaRPr lang="en-US" sz="2400" dirty="0"/>
          </a:p>
        </p:txBody>
      </p:sp>
      <p:sp>
        <p:nvSpPr>
          <p:cNvPr id="9" name="Shape 5"/>
          <p:cNvSpPr/>
          <p:nvPr/>
        </p:nvSpPr>
        <p:spPr>
          <a:xfrm>
            <a:off x="548640" y="3219145"/>
            <a:ext cx="556870" cy="55687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687857" y="3358363"/>
            <a:ext cx="278435" cy="278435"/>
          </a:xfrm>
          <a:prstGeom prst="rect">
            <a:avLst/>
          </a:prstGeom>
        </p:spPr>
      </p:pic>
      <p:sp>
        <p:nvSpPr>
          <p:cNvPr id="11" name="Text 6"/>
          <p:cNvSpPr txBox="1"/>
          <p:nvPr/>
        </p:nvSpPr>
        <p:spPr>
          <a:xfrm>
            <a:off x="1425550" y="3099816"/>
            <a:ext cx="10214762" cy="795528"/>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Engagement  </a:t>
            </a:r>
            <a:r>
              <a:rPr lang="en-US" sz="2400" dirty="0">
                <a:solidFill>
                  <a:srgbClr val="1F2A22"/>
                </a:solidFill>
                <a:latin typeface="Calibri" pitchFamily="34" charset="0"/>
                <a:ea typeface="Calibri" pitchFamily="34" charset="-122"/>
                <a:cs typeface="Calibri" pitchFamily="34" charset="-120"/>
              </a:rPr>
              <a:t>Actively involving self and others in sense-making, dialogue, and execution.</a:t>
            </a:r>
            <a:endParaRPr lang="en-US" sz="2400" dirty="0"/>
          </a:p>
        </p:txBody>
      </p:sp>
      <p:sp>
        <p:nvSpPr>
          <p:cNvPr id="12" name="Shape 7"/>
          <p:cNvSpPr/>
          <p:nvPr/>
        </p:nvSpPr>
        <p:spPr>
          <a:xfrm>
            <a:off x="548640" y="4014673"/>
            <a:ext cx="556870" cy="55687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687857" y="4153891"/>
            <a:ext cx="278435" cy="278435"/>
          </a:xfrm>
          <a:prstGeom prst="rect">
            <a:avLst/>
          </a:prstGeom>
        </p:spPr>
      </p:pic>
      <p:sp>
        <p:nvSpPr>
          <p:cNvPr id="14" name="Text 8"/>
          <p:cNvSpPr txBox="1"/>
          <p:nvPr/>
        </p:nvSpPr>
        <p:spPr>
          <a:xfrm>
            <a:off x="1425550" y="3895344"/>
            <a:ext cx="10214762" cy="795528"/>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Integrity  </a:t>
            </a:r>
            <a:r>
              <a:rPr lang="en-US" sz="2400" dirty="0">
                <a:solidFill>
                  <a:srgbClr val="1F2A22"/>
                </a:solidFill>
                <a:latin typeface="Calibri" pitchFamily="34" charset="0"/>
                <a:ea typeface="Calibri" pitchFamily="34" charset="-122"/>
                <a:cs typeface="Calibri" pitchFamily="34" charset="-120"/>
              </a:rPr>
              <a:t>Acting consistently with values, facts, and truth — even when inconvenient.</a:t>
            </a:r>
            <a:endParaRPr lang="en-US" sz="2400" dirty="0"/>
          </a:p>
        </p:txBody>
      </p:sp>
      <p:sp>
        <p:nvSpPr>
          <p:cNvPr id="15" name="Shape 9"/>
          <p:cNvSpPr/>
          <p:nvPr/>
        </p:nvSpPr>
        <p:spPr>
          <a:xfrm>
            <a:off x="548640" y="4810201"/>
            <a:ext cx="556870" cy="556870"/>
          </a:xfrm>
          <a:prstGeom prst="ellipse">
            <a:avLst/>
          </a:prstGeom>
          <a:solidFill>
            <a:srgbClr val="1A5C2C"/>
          </a:solidFill>
          <a:ln w="12700">
            <a:solidFill>
              <a:srgbClr val="1A5C2C"/>
            </a:solidFill>
            <a:prstDash val="solid"/>
          </a:ln>
        </p:spPr>
        <p:txBody>
          <a:bodyPr/>
          <a:lstStyle/>
          <a:p>
            <a:endParaRPr lang="en-ZA"/>
          </a:p>
        </p:txBody>
      </p:sp>
      <p:pic>
        <p:nvPicPr>
          <p:cNvPr id="16" name="Image 4" descr="preencoded.png"/>
          <p:cNvPicPr>
            <a:picLocks noChangeAspect="1"/>
          </p:cNvPicPr>
          <p:nvPr/>
        </p:nvPicPr>
        <p:blipFill>
          <a:blip r:embed="rId7"/>
          <a:stretch>
            <a:fillRect/>
          </a:stretch>
        </p:blipFill>
        <p:spPr>
          <a:xfrm>
            <a:off x="687857" y="4949419"/>
            <a:ext cx="278435" cy="278435"/>
          </a:xfrm>
          <a:prstGeom prst="rect">
            <a:avLst/>
          </a:prstGeom>
        </p:spPr>
      </p:pic>
      <p:sp>
        <p:nvSpPr>
          <p:cNvPr id="17" name="Text 10"/>
          <p:cNvSpPr txBox="1"/>
          <p:nvPr/>
        </p:nvSpPr>
        <p:spPr>
          <a:xfrm>
            <a:off x="1425550" y="4690872"/>
            <a:ext cx="10214762" cy="795528"/>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Transparency  </a:t>
            </a:r>
            <a:r>
              <a:rPr lang="en-US" sz="2400" dirty="0">
                <a:solidFill>
                  <a:srgbClr val="1F2A22"/>
                </a:solidFill>
                <a:latin typeface="Calibri" pitchFamily="34" charset="0"/>
                <a:ea typeface="Calibri" pitchFamily="34" charset="-122"/>
                <a:cs typeface="Calibri" pitchFamily="34" charset="-120"/>
              </a:rPr>
              <a:t>Making reasoning, progress, and constraints visible to all stakeholders.</a:t>
            </a:r>
            <a:endParaRPr lang="en-US" sz="2400" dirty="0"/>
          </a:p>
        </p:txBody>
      </p:sp>
      <p:sp>
        <p:nvSpPr>
          <p:cNvPr id="18" name="Shape 11"/>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2"/>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These five behaviours are what hold a new practice in place.</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1 Reflections · 1.1 to 1.3</a:t>
            </a:r>
            <a:endParaRPr lang="en-US" sz="3600" dirty="0"/>
          </a:p>
        </p:txBody>
      </p:sp>
      <p:pic>
        <p:nvPicPr>
          <p:cNvPr id="3" name="Reflection 1.1" descr="1.1 Reflection: In your current role, which filter (Mind or Heart) tends to shape your first response to a new strategic priority? What are the implications?"/>
          <p:cNvPicPr>
            <a:picLocks noChangeAspect="1"/>
          </p:cNvPicPr>
          <p:nvPr/>
        </p:nvPicPr>
        <p:blipFill>
          <a:blip r:embed="rId3"/>
          <a:stretch>
            <a:fillRect/>
          </a:stretch>
        </p:blipFill>
        <p:spPr>
          <a:xfrm>
            <a:off x="1691640" y="1572768"/>
            <a:ext cx="9921240" cy="1023394"/>
          </a:xfrm>
          <a:prstGeom prst="rect">
            <a:avLst/>
          </a:prstGeom>
        </p:spPr>
      </p:pic>
      <p:sp>
        <p:nvSpPr>
          <p:cNvPr id="4" name="Part 1.1"/>
          <p:cNvSpPr/>
          <p:nvPr/>
        </p:nvSpPr>
        <p:spPr>
          <a:xfrm>
            <a:off x="548640" y="1650125"/>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1.1</a:t>
            </a:r>
          </a:p>
        </p:txBody>
      </p:sp>
      <p:pic>
        <p:nvPicPr>
          <p:cNvPr id="5" name="Reflection 1.2" descr="1.2 Reflection: Which of the Five Principles describes the most critical gap in your leadership team right now? What is the evidence for this?"/>
          <p:cNvPicPr>
            <a:picLocks noChangeAspect="1"/>
          </p:cNvPicPr>
          <p:nvPr/>
        </p:nvPicPr>
        <p:blipFill>
          <a:blip r:embed="rId4"/>
          <a:stretch>
            <a:fillRect/>
          </a:stretch>
        </p:blipFill>
        <p:spPr>
          <a:xfrm>
            <a:off x="1691640" y="2888770"/>
            <a:ext cx="9921240" cy="1023394"/>
          </a:xfrm>
          <a:prstGeom prst="rect">
            <a:avLst/>
          </a:prstGeom>
        </p:spPr>
      </p:pic>
      <p:sp>
        <p:nvSpPr>
          <p:cNvPr id="6" name="Part 1.2"/>
          <p:cNvSpPr/>
          <p:nvPr/>
        </p:nvSpPr>
        <p:spPr>
          <a:xfrm>
            <a:off x="548640" y="2966127"/>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1.2</a:t>
            </a:r>
          </a:p>
        </p:txBody>
      </p:sp>
      <p:pic>
        <p:nvPicPr>
          <p:cNvPr id="7" name="Reflection 1.3" descr="1.3 Reflection — The event and the transition: Write down one change your strategy requires of a named group. You will carry this change through the rest of the unit. On the day it was announced, how far through your own transition were you and your fellow leaders, and how far were the people affected?"/>
          <p:cNvPicPr>
            <a:picLocks noChangeAspect="1"/>
          </p:cNvPicPr>
          <p:nvPr/>
        </p:nvPicPr>
        <p:blipFill>
          <a:blip r:embed="rId5"/>
          <a:stretch>
            <a:fillRect/>
          </a:stretch>
        </p:blipFill>
        <p:spPr>
          <a:xfrm>
            <a:off x="1691640" y="4204772"/>
            <a:ext cx="9921240" cy="1208174"/>
          </a:xfrm>
          <a:prstGeom prst="rect">
            <a:avLst/>
          </a:prstGeom>
        </p:spPr>
      </p:pic>
      <p:sp>
        <p:nvSpPr>
          <p:cNvPr id="8" name="Part 1.3"/>
          <p:cNvSpPr/>
          <p:nvPr/>
        </p:nvSpPr>
        <p:spPr>
          <a:xfrm>
            <a:off x="548640" y="4374518"/>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1.3</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1 Reflections · 1.3.1 to 1.3.4</a:t>
            </a:r>
            <a:endParaRPr lang="en-US" sz="3600" dirty="0"/>
          </a:p>
        </p:txBody>
      </p:sp>
      <p:pic>
        <p:nvPicPr>
          <p:cNvPr id="3" name="Reflection 1.3.1" descr="1.3.1 Reflection — The 3S Check: Write the Shift, the Stake and the Step for the change you are carrying through this unit. Which of the three would your people find hardest to say back, and why?"/>
          <p:cNvPicPr>
            <a:picLocks noChangeAspect="1"/>
          </p:cNvPicPr>
          <p:nvPr/>
        </p:nvPicPr>
        <p:blipFill>
          <a:blip r:embed="rId3"/>
          <a:stretch>
            <a:fillRect/>
          </a:stretch>
        </p:blipFill>
        <p:spPr>
          <a:xfrm>
            <a:off x="1691640" y="1572768"/>
            <a:ext cx="9921240" cy="1059836"/>
          </a:xfrm>
          <a:prstGeom prst="rect">
            <a:avLst/>
          </a:prstGeom>
        </p:spPr>
      </p:pic>
      <p:sp>
        <p:nvSpPr>
          <p:cNvPr id="4" name="Part 1.3.1"/>
          <p:cNvSpPr/>
          <p:nvPr/>
        </p:nvSpPr>
        <p:spPr>
          <a:xfrm>
            <a:off x="548640" y="1668345"/>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1.3.1</a:t>
            </a:r>
          </a:p>
        </p:txBody>
      </p:sp>
      <p:pic>
        <p:nvPicPr>
          <p:cNvPr id="5" name="Reflection 1.3.2" descr="1.3.2 Reflection: Which SCARF trigger is most frequently activated in your organisation during strategy implementation? What is the observable evidence? What counter-strategy would address the root cause?"/>
          <p:cNvPicPr>
            <a:picLocks noChangeAspect="1"/>
          </p:cNvPicPr>
          <p:nvPr/>
        </p:nvPicPr>
        <p:blipFill>
          <a:blip r:embed="rId4"/>
          <a:stretch>
            <a:fillRect/>
          </a:stretch>
        </p:blipFill>
        <p:spPr>
          <a:xfrm>
            <a:off x="1691640" y="2925211"/>
            <a:ext cx="9921240" cy="1059836"/>
          </a:xfrm>
          <a:prstGeom prst="rect">
            <a:avLst/>
          </a:prstGeom>
        </p:spPr>
      </p:pic>
      <p:sp>
        <p:nvSpPr>
          <p:cNvPr id="6" name="Part 1.3.2"/>
          <p:cNvSpPr/>
          <p:nvPr/>
        </p:nvSpPr>
        <p:spPr>
          <a:xfrm>
            <a:off x="548640" y="3020788"/>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1.3.2</a:t>
            </a:r>
          </a:p>
        </p:txBody>
      </p:sp>
      <p:pic>
        <p:nvPicPr>
          <p:cNvPr id="7" name="Reflection 1.3.3" descr="1.3.3 Reflection — The STAT Check: Run STAT for the change you are carrying through this unit. Which element is missing for the people it affects most? What is your evidence, and what is yours to supply?"/>
          <p:cNvPicPr>
            <a:picLocks noChangeAspect="1"/>
          </p:cNvPicPr>
          <p:nvPr/>
        </p:nvPicPr>
        <p:blipFill>
          <a:blip r:embed="rId5"/>
          <a:stretch>
            <a:fillRect/>
          </a:stretch>
        </p:blipFill>
        <p:spPr>
          <a:xfrm>
            <a:off x="1691640" y="4277654"/>
            <a:ext cx="9921240" cy="1059836"/>
          </a:xfrm>
          <a:prstGeom prst="rect">
            <a:avLst/>
          </a:prstGeom>
        </p:spPr>
      </p:pic>
      <p:sp>
        <p:nvSpPr>
          <p:cNvPr id="8" name="Part 1.3.3"/>
          <p:cNvSpPr/>
          <p:nvPr/>
        </p:nvSpPr>
        <p:spPr>
          <a:xfrm>
            <a:off x="548640" y="4373231"/>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1.3.3</a:t>
            </a:r>
          </a:p>
        </p:txBody>
      </p:sp>
      <p:pic>
        <p:nvPicPr>
          <p:cNvPr id="9" name="Reflection 1.3.4" descr="1.3.4 Reflection: If you audited your last leadership review against the ACE-IT behaviours — where would you find the biggest gap between the ideal and the observable? What one behavioural change would create the most impact?"/>
          <p:cNvPicPr>
            <a:picLocks noChangeAspect="1"/>
          </p:cNvPicPr>
          <p:nvPr/>
        </p:nvPicPr>
        <p:blipFill>
          <a:blip r:embed="rId6"/>
          <a:stretch>
            <a:fillRect/>
          </a:stretch>
        </p:blipFill>
        <p:spPr>
          <a:xfrm>
            <a:off x="1691640" y="5630097"/>
            <a:ext cx="9921240" cy="1251195"/>
          </a:xfrm>
          <a:prstGeom prst="rect">
            <a:avLst/>
          </a:prstGeom>
        </p:spPr>
      </p:pic>
      <p:sp>
        <p:nvSpPr>
          <p:cNvPr id="10" name="Part 1.3.4"/>
          <p:cNvSpPr/>
          <p:nvPr/>
        </p:nvSpPr>
        <p:spPr>
          <a:xfrm>
            <a:off x="548640" y="5821354"/>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1.3.4</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2</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2</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Intelligence — Why</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Why Does Heart &amp; Mind Alignment Determine Execution Outcomes?</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Build shared understanding and commitment that translate strategy into coordinated action.</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Differentiate compliance from genuine adoption and strengthen commitment to change.</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0F3B1C"/>
        </a:solidFill>
        <a:effectLst/>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txBody>
          <a:bodyPr/>
          <a:lstStyle/>
          <a:p>
            <a:endParaRPr lang="en-ZA"/>
          </a:p>
        </p:txBody>
      </p:sp>
      <p:pic>
        <p:nvPicPr>
          <p:cNvPr id="3" name="Image 0" descr="preencoded.png"/>
          <p:cNvPicPr>
            <a:picLocks noChangeAspect="1"/>
          </p:cNvPicPr>
          <p:nvPr/>
        </p:nvPicPr>
        <p:blipFill>
          <a:blip r:embed="rId3"/>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marL="0" indent="0">
              <a:buNone/>
            </a:pPr>
            <a:r>
              <a:rPr lang="en-US" sz="2600" b="1" dirty="0">
                <a:solidFill>
                  <a:srgbClr val="C6A24C"/>
                </a:solidFill>
                <a:latin typeface="Calibri" pitchFamily="34" charset="0"/>
                <a:ea typeface="Calibri" pitchFamily="34" charset="-122"/>
                <a:cs typeface="Calibri" pitchFamily="34" charset="-120"/>
              </a:rPr>
              <a:t>2.1 · The Ignition Point of Strategy Execution</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marL="0" indent="0">
              <a:buNone/>
            </a:pPr>
            <a:r>
              <a:rPr lang="en-US" sz="3600" i="1" dirty="0">
                <a:solidFill>
                  <a:srgbClr val="FFFFFF"/>
                </a:solidFill>
                <a:latin typeface="Cambria" pitchFamily="34" charset="0"/>
                <a:ea typeface="Cambria" pitchFamily="34" charset="-122"/>
                <a:cs typeface="Cambria" pitchFamily="34" charset="-120"/>
              </a:rPr>
              <a:t>“This matters to me. I am willing to invest energy in making this succeed.”</a:t>
            </a:r>
            <a:endParaRPr lang="en-US" sz="3600" dirty="0"/>
          </a:p>
        </p:txBody>
      </p:sp>
      <p:sp>
        <p:nvSpPr>
          <p:cNvPr id="6" name="Text 3"/>
          <p:cNvSpPr txBox="1"/>
          <p:nvPr/>
        </p:nvSpPr>
        <p:spPr>
          <a:xfrm>
            <a:off x="2103120" y="5577840"/>
            <a:ext cx="9418320" cy="822960"/>
          </a:xfrm>
          <a:prstGeom prst="rect">
            <a:avLst/>
          </a:prstGeom>
          <a:noFill/>
          <a:ln/>
        </p:spPr>
        <p:txBody>
          <a:bodyPr wrap="square" lIns="0" tIns="0" rIns="0" bIns="0" rtlCol="0" anchor="t"/>
          <a:lstStyle/>
          <a:p>
            <a:pPr marL="0" indent="0">
              <a:buNone/>
            </a:pPr>
            <a:r>
              <a:rPr lang="en-US" sz="2400" dirty="0">
                <a:solidFill>
                  <a:srgbClr val="DDE8DF"/>
                </a:solidFill>
                <a:latin typeface="Calibri" pitchFamily="34" charset="0"/>
                <a:ea typeface="Calibri" pitchFamily="34" charset="-122"/>
                <a:cs typeface="Calibri" pitchFamily="34" charset="-120"/>
              </a:rPr>
              <a:t>Until that moment occurs across the organisation, strategy remains theoretical.</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2.2 · Three Foundational Logics</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3057144" cy="859536"/>
          </a:xfrm>
          <a:prstGeom prst="rect">
            <a:avLst/>
          </a:prstGeom>
          <a:noFill/>
          <a:ln/>
        </p:spPr>
        <p:txBody>
          <a:bodyPr wrap="square" lIns="0" tIns="0" rIns="0" bIns="0" rtlCol="0" anchor="t"/>
          <a:lstStyle/>
          <a:p>
            <a:pPr marL="0" indent="0">
              <a:buNone/>
            </a:pPr>
            <a:r>
              <a:rPr lang="en-US" sz="2400" b="1" dirty="0">
                <a:solidFill>
                  <a:srgbClr val="1A5C2C"/>
                </a:solidFill>
                <a:latin typeface="Cambria" pitchFamily="34" charset="0"/>
                <a:ea typeface="Cambria" pitchFamily="34" charset="-122"/>
                <a:cs typeface="Cambria" pitchFamily="34" charset="-120"/>
              </a:rPr>
              <a:t>I. Potential vs. Kinetic Energy Logic</a:t>
            </a:r>
            <a:endParaRPr lang="en-US" sz="2400" dirty="0"/>
          </a:p>
        </p:txBody>
      </p:sp>
      <p:sp>
        <p:nvSpPr>
          <p:cNvPr id="7" name="Text 4"/>
          <p:cNvSpPr txBox="1"/>
          <p:nvPr/>
        </p:nvSpPr>
        <p:spPr>
          <a:xfrm>
            <a:off x="777240" y="3511296"/>
            <a:ext cx="3057144" cy="1792224"/>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The organisation does not move until people decide to move it.</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725924" y="1897380"/>
            <a:ext cx="320040" cy="320040"/>
          </a:xfrm>
          <a:prstGeom prst="rect">
            <a:avLst/>
          </a:prstGeom>
        </p:spPr>
      </p:pic>
      <p:sp>
        <p:nvSpPr>
          <p:cNvPr id="11" name="Text 7"/>
          <p:cNvSpPr txBox="1"/>
          <p:nvPr/>
        </p:nvSpPr>
        <p:spPr>
          <a:xfrm>
            <a:off x="4565904" y="2514600"/>
            <a:ext cx="3057144" cy="859536"/>
          </a:xfrm>
          <a:prstGeom prst="rect">
            <a:avLst/>
          </a:prstGeom>
          <a:noFill/>
          <a:ln/>
        </p:spPr>
        <p:txBody>
          <a:bodyPr wrap="square" lIns="0" tIns="0" rIns="0" bIns="0" rtlCol="0" anchor="t"/>
          <a:lstStyle/>
          <a:p>
            <a:pPr marL="0" indent="0">
              <a:buNone/>
            </a:pPr>
            <a:r>
              <a:rPr lang="en-US" sz="2400" b="1" dirty="0">
                <a:solidFill>
                  <a:srgbClr val="1A5C2C"/>
                </a:solidFill>
                <a:latin typeface="Cambria" pitchFamily="34" charset="0"/>
                <a:ea typeface="Cambria" pitchFamily="34" charset="-122"/>
                <a:cs typeface="Cambria" pitchFamily="34" charset="-120"/>
              </a:rPr>
              <a:t>II. Compliance vs. Commitment Logic</a:t>
            </a:r>
            <a:endParaRPr lang="en-US" sz="2400" dirty="0"/>
          </a:p>
        </p:txBody>
      </p:sp>
      <p:sp>
        <p:nvSpPr>
          <p:cNvPr id="12" name="Text 8"/>
          <p:cNvSpPr txBox="1"/>
          <p:nvPr/>
        </p:nvSpPr>
        <p:spPr>
          <a:xfrm>
            <a:off x="4565904" y="3511296"/>
            <a:ext cx="3057144" cy="1792224"/>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Execution continues even when leaders are not present.</a:t>
            </a:r>
            <a:endParaRPr lang="en-US" sz="2400" dirty="0"/>
          </a:p>
        </p:txBody>
      </p:sp>
      <p:sp>
        <p:nvSpPr>
          <p:cNvPr id="13" name="Shape 9"/>
          <p:cNvSpPr/>
          <p:nvPr/>
        </p:nvSpPr>
        <p:spPr>
          <a:xfrm>
            <a:off x="8125968" y="1508760"/>
            <a:ext cx="3514344" cy="3931920"/>
          </a:xfrm>
          <a:prstGeom prst="roundRect">
            <a:avLst>
              <a:gd name="adj" fmla="val 2602"/>
            </a:avLst>
          </a:prstGeom>
          <a:solidFill>
            <a:srgbClr val="1A5C2C"/>
          </a:solidFill>
          <a:ln w="12700">
            <a:solidFill>
              <a:srgbClr val="1A5C2C"/>
            </a:solidFill>
            <a:prstDash val="solid"/>
          </a:ln>
        </p:spPr>
        <p:txBody>
          <a:bodyPr/>
          <a:lstStyle/>
          <a:p>
            <a:endParaRPr lang="en-ZA"/>
          </a:p>
        </p:txBody>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8514588" y="1897380"/>
            <a:ext cx="320040" cy="320040"/>
          </a:xfrm>
          <a:prstGeom prst="rect">
            <a:avLst/>
          </a:prstGeom>
        </p:spPr>
      </p:pic>
      <p:sp>
        <p:nvSpPr>
          <p:cNvPr id="16" name="Text 11"/>
          <p:cNvSpPr txBox="1"/>
          <p:nvPr/>
        </p:nvSpPr>
        <p:spPr>
          <a:xfrm>
            <a:off x="8354568" y="2514600"/>
            <a:ext cx="3057144" cy="1243584"/>
          </a:xfrm>
          <a:prstGeom prst="rect">
            <a:avLst/>
          </a:prstGeom>
          <a:noFill/>
          <a:ln/>
        </p:spPr>
        <p:txBody>
          <a:bodyPr wrap="square" lIns="0" tIns="0" rIns="0" bIns="0" rtlCol="0" anchor="t"/>
          <a:lstStyle/>
          <a:p>
            <a:pPr marL="0" indent="0">
              <a:buNone/>
            </a:pPr>
            <a:r>
              <a:rPr lang="en-US" sz="2400" b="1" dirty="0">
                <a:solidFill>
                  <a:srgbClr val="FFFFFF"/>
                </a:solidFill>
                <a:latin typeface="Cambria" pitchFamily="34" charset="0"/>
                <a:ea typeface="Cambria" pitchFamily="34" charset="-122"/>
                <a:cs typeface="Cambria" pitchFamily="34" charset="-120"/>
              </a:rPr>
              <a:t>III. The Strategic Payoff of Alignment</a:t>
            </a:r>
            <a:endParaRPr lang="en-US" sz="2400" dirty="0"/>
          </a:p>
        </p:txBody>
      </p:sp>
      <p:sp>
        <p:nvSpPr>
          <p:cNvPr id="17" name="Text 12"/>
          <p:cNvSpPr txBox="1"/>
          <p:nvPr/>
        </p:nvSpPr>
        <p:spPr>
          <a:xfrm>
            <a:off x="8354568" y="3895344"/>
            <a:ext cx="3057144" cy="1408176"/>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Leaders spend less time correcting and more time advancing strategy.</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Aligning Heart &amp; Mind is the mechanical conversion point where strategic potential becomes strategic movement.</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200" b="1" dirty="0">
                <a:solidFill>
                  <a:srgbClr val="1A5C2C"/>
                </a:solidFill>
                <a:latin typeface="Cambria" pitchFamily="34" charset="0"/>
                <a:ea typeface="Cambria" pitchFamily="34" charset="-122"/>
                <a:cs typeface="Cambria" pitchFamily="34" charset="-120"/>
              </a:rPr>
              <a:t>2.3 · Why Change Must Be Led: Installed and Adopted</a:t>
            </a:r>
            <a:endParaRPr lang="en-US" sz="3200" dirty="0"/>
          </a:p>
        </p:txBody>
      </p:sp>
      <p:sp>
        <p:nvSpPr>
          <p:cNvPr id="3" name="Shape 1"/>
          <p:cNvSpPr/>
          <p:nvPr/>
        </p:nvSpPr>
        <p:spPr>
          <a:xfrm>
            <a:off x="548640" y="1508760"/>
            <a:ext cx="5394960" cy="3931920"/>
          </a:xfrm>
          <a:prstGeom prst="roundRect">
            <a:avLst>
              <a:gd name="adj" fmla="val 2326"/>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822960" y="1737360"/>
            <a:ext cx="731520" cy="73152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1005840" y="1920240"/>
            <a:ext cx="365760" cy="365760"/>
          </a:xfrm>
          <a:prstGeom prst="rect">
            <a:avLst/>
          </a:prstGeom>
        </p:spPr>
      </p:pic>
      <p:sp>
        <p:nvSpPr>
          <p:cNvPr id="6" name="Text 3"/>
          <p:cNvSpPr txBox="1"/>
          <p:nvPr/>
        </p:nvSpPr>
        <p:spPr>
          <a:xfrm>
            <a:off x="1737360" y="1737360"/>
            <a:ext cx="4069080" cy="73152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Installed</a:t>
            </a:r>
            <a:endParaRPr lang="en-US" sz="2600" dirty="0"/>
          </a:p>
        </p:txBody>
      </p:sp>
      <p:sp>
        <p:nvSpPr>
          <p:cNvPr id="7" name="Text 4"/>
          <p:cNvSpPr txBox="1"/>
          <p:nvPr/>
        </p:nvSpPr>
        <p:spPr>
          <a:xfrm>
            <a:off x="868680" y="2697480"/>
            <a:ext cx="4846320" cy="265176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The new system, structure or KPI is in place, and people have been told.</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Installation is a project outcome.</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What it yields: cost.</a:t>
            </a:r>
            <a:endParaRPr lang="en-US" sz="2400" dirty="0"/>
          </a:p>
        </p:txBody>
      </p:sp>
      <p:sp>
        <p:nvSpPr>
          <p:cNvPr id="8" name="Shape 5"/>
          <p:cNvSpPr/>
          <p:nvPr/>
        </p:nvSpPr>
        <p:spPr>
          <a:xfrm>
            <a:off x="6245352" y="1508760"/>
            <a:ext cx="5394960" cy="3931920"/>
          </a:xfrm>
          <a:prstGeom prst="roundRect">
            <a:avLst>
              <a:gd name="adj" fmla="val 2326"/>
            </a:avLst>
          </a:prstGeom>
          <a:solidFill>
            <a:srgbClr val="1A5C2C"/>
          </a:solidFill>
          <a:ln w="12700">
            <a:solidFill>
              <a:srgbClr val="1A5C2C"/>
            </a:solidFill>
            <a:prstDash val="solid"/>
          </a:ln>
        </p:spPr>
        <p:txBody>
          <a:bodyPr/>
          <a:lstStyle/>
          <a:p>
            <a:endParaRPr lang="en-ZA"/>
          </a:p>
        </p:txBody>
      </p:sp>
      <p:sp>
        <p:nvSpPr>
          <p:cNvPr id="9" name="Shape 6"/>
          <p:cNvSpPr/>
          <p:nvPr/>
        </p:nvSpPr>
        <p:spPr>
          <a:xfrm>
            <a:off x="6519672" y="1737360"/>
            <a:ext cx="731520" cy="731520"/>
          </a:xfrm>
          <a:prstGeom prst="ellipse">
            <a:avLst/>
          </a:prstGeom>
          <a:solidFill>
            <a:srgbClr val="C6A24C"/>
          </a:solidFill>
          <a:ln w="12700">
            <a:solidFill>
              <a:srgbClr val="C6A24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6702552" y="1920240"/>
            <a:ext cx="365760" cy="365760"/>
          </a:xfrm>
          <a:prstGeom prst="rect">
            <a:avLst/>
          </a:prstGeom>
        </p:spPr>
      </p:pic>
      <p:sp>
        <p:nvSpPr>
          <p:cNvPr id="11" name="Text 7"/>
          <p:cNvSpPr txBox="1"/>
          <p:nvPr/>
        </p:nvSpPr>
        <p:spPr>
          <a:xfrm>
            <a:off x="7434072" y="1737360"/>
            <a:ext cx="4069080" cy="73152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Adopted</a:t>
            </a:r>
            <a:endParaRPr lang="en-US" sz="2600" dirty="0"/>
          </a:p>
        </p:txBody>
      </p:sp>
      <p:sp>
        <p:nvSpPr>
          <p:cNvPr id="12" name="Text 8"/>
          <p:cNvSpPr txBox="1"/>
          <p:nvPr/>
        </p:nvSpPr>
        <p:spPr>
          <a:xfrm>
            <a:off x="6565392" y="2697480"/>
            <a:ext cx="4846320" cy="265176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People work the new way without supervision.</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Adoption is a behavioural outcome.</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What it yields: value.</a:t>
            </a:r>
            <a:endParaRPr lang="en-US" sz="2400" dirty="0"/>
          </a:p>
        </p:txBody>
      </p:sp>
      <p:sp>
        <p:nvSpPr>
          <p:cNvPr id="13" name="Shape 9"/>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4" name="Text 10"/>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The time between installed and adopted is the adoption gap.</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2 Reflections</a:t>
            </a:r>
            <a:endParaRPr lang="en-US" sz="3600" dirty="0"/>
          </a:p>
        </p:txBody>
      </p:sp>
      <p:pic>
        <p:nvPicPr>
          <p:cNvPr id="3" name="Reflection 2.1" descr="2.1 Reflection: Think of a time when you personally chose to go beyond compliance and genuinely committed to a strategic direction. What caused that shift? What would it take to create that same shift in your team?"/>
          <p:cNvPicPr>
            <a:picLocks noChangeAspect="1"/>
          </p:cNvPicPr>
          <p:nvPr/>
        </p:nvPicPr>
        <p:blipFill>
          <a:blip r:embed="rId3"/>
          <a:stretch>
            <a:fillRect/>
          </a:stretch>
        </p:blipFill>
        <p:spPr>
          <a:xfrm>
            <a:off x="1691640" y="1572768"/>
            <a:ext cx="9921240" cy="1023394"/>
          </a:xfrm>
          <a:prstGeom prst="rect">
            <a:avLst/>
          </a:prstGeom>
        </p:spPr>
      </p:pic>
      <p:sp>
        <p:nvSpPr>
          <p:cNvPr id="4" name="Part 2.1"/>
          <p:cNvSpPr/>
          <p:nvPr/>
        </p:nvSpPr>
        <p:spPr>
          <a:xfrm>
            <a:off x="548640" y="1650125"/>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2.1</a:t>
            </a:r>
          </a:p>
        </p:txBody>
      </p:sp>
      <p:pic>
        <p:nvPicPr>
          <p:cNvPr id="5" name="Reflection 2.2" descr="2.2 Reflection: How much of your current leadership time is spent enforcing compliance? What is the opportunity cost of this?"/>
          <p:cNvPicPr>
            <a:picLocks noChangeAspect="1"/>
          </p:cNvPicPr>
          <p:nvPr/>
        </p:nvPicPr>
        <p:blipFill>
          <a:blip r:embed="rId4"/>
          <a:stretch>
            <a:fillRect/>
          </a:stretch>
        </p:blipFill>
        <p:spPr>
          <a:xfrm>
            <a:off x="1691640" y="2888770"/>
            <a:ext cx="9921240" cy="1023394"/>
          </a:xfrm>
          <a:prstGeom prst="rect">
            <a:avLst/>
          </a:prstGeom>
        </p:spPr>
      </p:pic>
      <p:sp>
        <p:nvSpPr>
          <p:cNvPr id="6" name="Part 2.2"/>
          <p:cNvSpPr/>
          <p:nvPr/>
        </p:nvSpPr>
        <p:spPr>
          <a:xfrm>
            <a:off x="548640" y="2966127"/>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2.2</a:t>
            </a:r>
          </a:p>
        </p:txBody>
      </p:sp>
      <p:pic>
        <p:nvPicPr>
          <p:cNvPr id="7" name="Reflection 2.3" descr="2.3 Reflection — Installed and adopted: Name one change in your organisation that is installed and still awaiting adoption. Which check did it fail: Mind, Heart, Hands or Habit? What has the adoption gap cost so far?"/>
          <p:cNvPicPr>
            <a:picLocks noChangeAspect="1"/>
          </p:cNvPicPr>
          <p:nvPr/>
        </p:nvPicPr>
        <p:blipFill>
          <a:blip r:embed="rId5"/>
          <a:stretch>
            <a:fillRect/>
          </a:stretch>
        </p:blipFill>
        <p:spPr>
          <a:xfrm>
            <a:off x="1691640" y="4204772"/>
            <a:ext cx="9921240" cy="1023394"/>
          </a:xfrm>
          <a:prstGeom prst="rect">
            <a:avLst/>
          </a:prstGeom>
        </p:spPr>
      </p:pic>
      <p:sp>
        <p:nvSpPr>
          <p:cNvPr id="8" name="Part 2.3"/>
          <p:cNvSpPr/>
          <p:nvPr/>
        </p:nvSpPr>
        <p:spPr>
          <a:xfrm>
            <a:off x="548640" y="4282129"/>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2.3</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2">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3</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3</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Extrapolating — Where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Where Does the Leadership Team Stand?</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Detect emerging misalignment across interpretation, emotional climate and behaviour and respond early.</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Assess change readiness and tailor leadership responses to adoption barriers.</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3.1 · The OCEAVL Assessment: </a:t>
            </a:r>
            <a:r>
              <a:rPr lang="en-GB" sz="2600" b="1" dirty="0">
                <a:solidFill>
                  <a:srgbClr val="1A5C2C"/>
                </a:solidFill>
                <a:latin typeface="Cambria" pitchFamily="34" charset="0"/>
                <a:ea typeface="Cambria" pitchFamily="34" charset="-122"/>
                <a:cs typeface="Cambria" pitchFamily="34" charset="-120"/>
              </a:rPr>
              <a:t>Where Does the Leadership Team Stand?</a:t>
            </a:r>
            <a:endParaRPr lang="en-US" sz="2600" dirty="0"/>
          </a:p>
        </p:txBody>
      </p:sp>
      <p:sp>
        <p:nvSpPr>
          <p:cNvPr id="3" name="Shape 1"/>
          <p:cNvSpPr/>
          <p:nvPr/>
        </p:nvSpPr>
        <p:spPr>
          <a:xfrm>
            <a:off x="548640" y="1613589"/>
            <a:ext cx="489204" cy="489204"/>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670941" y="1735890"/>
            <a:ext cx="244602" cy="244602"/>
          </a:xfrm>
          <a:prstGeom prst="rect">
            <a:avLst/>
          </a:prstGeom>
        </p:spPr>
      </p:pic>
      <p:sp>
        <p:nvSpPr>
          <p:cNvPr id="5" name="Text 2"/>
          <p:cNvSpPr txBox="1"/>
          <p:nvPr/>
        </p:nvSpPr>
        <p:spPr>
          <a:xfrm>
            <a:off x="1357884" y="1508760"/>
            <a:ext cx="10282428" cy="698863"/>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Openness  </a:t>
            </a:r>
            <a:r>
              <a:rPr lang="en-US" sz="2400" dirty="0">
                <a:solidFill>
                  <a:srgbClr val="1F2A22"/>
                </a:solidFill>
                <a:latin typeface="Calibri" pitchFamily="34" charset="0"/>
                <a:ea typeface="Calibri" pitchFamily="34" charset="-122"/>
                <a:cs typeface="Calibri" pitchFamily="34" charset="-120"/>
              </a:rPr>
              <a:t>Curiosity, creativity, adaptability to new approaches</a:t>
            </a:r>
            <a:endParaRPr lang="en-US" sz="2400" dirty="0"/>
          </a:p>
        </p:txBody>
      </p:sp>
      <p:sp>
        <p:nvSpPr>
          <p:cNvPr id="6" name="Shape 3"/>
          <p:cNvSpPr/>
          <p:nvPr/>
        </p:nvSpPr>
        <p:spPr>
          <a:xfrm>
            <a:off x="548640" y="2312452"/>
            <a:ext cx="489204" cy="489204"/>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670941" y="2434753"/>
            <a:ext cx="244602" cy="244602"/>
          </a:xfrm>
          <a:prstGeom prst="rect">
            <a:avLst/>
          </a:prstGeom>
        </p:spPr>
      </p:pic>
      <p:sp>
        <p:nvSpPr>
          <p:cNvPr id="8" name="Text 4"/>
          <p:cNvSpPr txBox="1"/>
          <p:nvPr/>
        </p:nvSpPr>
        <p:spPr>
          <a:xfrm>
            <a:off x="1357884" y="2207623"/>
            <a:ext cx="10282428" cy="698863"/>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Conscientiousness  </a:t>
            </a:r>
            <a:r>
              <a:rPr lang="en-US" sz="2400" dirty="0">
                <a:solidFill>
                  <a:srgbClr val="1F2A22"/>
                </a:solidFill>
                <a:latin typeface="Calibri" pitchFamily="34" charset="0"/>
                <a:ea typeface="Calibri" pitchFamily="34" charset="-122"/>
                <a:cs typeface="Calibri" pitchFamily="34" charset="-120"/>
              </a:rPr>
              <a:t>Discipline, planning, follow-through on commitments</a:t>
            </a:r>
            <a:endParaRPr lang="en-US" sz="2400" dirty="0"/>
          </a:p>
        </p:txBody>
      </p:sp>
      <p:sp>
        <p:nvSpPr>
          <p:cNvPr id="9" name="Shape 5"/>
          <p:cNvSpPr/>
          <p:nvPr/>
        </p:nvSpPr>
        <p:spPr>
          <a:xfrm>
            <a:off x="548640" y="3011315"/>
            <a:ext cx="489204" cy="489204"/>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670941" y="3133616"/>
            <a:ext cx="244602" cy="244602"/>
          </a:xfrm>
          <a:prstGeom prst="rect">
            <a:avLst/>
          </a:prstGeom>
        </p:spPr>
      </p:pic>
      <p:sp>
        <p:nvSpPr>
          <p:cNvPr id="11" name="Text 6"/>
          <p:cNvSpPr txBox="1"/>
          <p:nvPr/>
        </p:nvSpPr>
        <p:spPr>
          <a:xfrm>
            <a:off x="1357884" y="2906486"/>
            <a:ext cx="10282428" cy="698863"/>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Extraversion  </a:t>
            </a:r>
            <a:r>
              <a:rPr lang="en-US" sz="2400" dirty="0">
                <a:solidFill>
                  <a:srgbClr val="1F2A22"/>
                </a:solidFill>
                <a:latin typeface="Calibri" pitchFamily="34" charset="0"/>
                <a:ea typeface="Calibri" pitchFamily="34" charset="-122"/>
                <a:cs typeface="Calibri" pitchFamily="34" charset="-120"/>
              </a:rPr>
              <a:t>Outward energy, communication, collaboration comfort</a:t>
            </a:r>
            <a:endParaRPr lang="en-US" sz="2400" dirty="0"/>
          </a:p>
        </p:txBody>
      </p:sp>
      <p:sp>
        <p:nvSpPr>
          <p:cNvPr id="12" name="Shape 7"/>
          <p:cNvSpPr/>
          <p:nvPr/>
        </p:nvSpPr>
        <p:spPr>
          <a:xfrm>
            <a:off x="548640" y="3710178"/>
            <a:ext cx="489204" cy="489204"/>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670941" y="3832479"/>
            <a:ext cx="244602" cy="244602"/>
          </a:xfrm>
          <a:prstGeom prst="rect">
            <a:avLst/>
          </a:prstGeom>
        </p:spPr>
      </p:pic>
      <p:sp>
        <p:nvSpPr>
          <p:cNvPr id="14" name="Text 8"/>
          <p:cNvSpPr txBox="1"/>
          <p:nvPr/>
        </p:nvSpPr>
        <p:spPr>
          <a:xfrm>
            <a:off x="1357884" y="3605349"/>
            <a:ext cx="10282428" cy="698863"/>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Agreeableness  </a:t>
            </a:r>
            <a:r>
              <a:rPr lang="en-US" sz="2400" dirty="0">
                <a:solidFill>
                  <a:srgbClr val="1F2A22"/>
                </a:solidFill>
                <a:latin typeface="Calibri" pitchFamily="34" charset="0"/>
                <a:ea typeface="Calibri" pitchFamily="34" charset="-122"/>
                <a:cs typeface="Calibri" pitchFamily="34" charset="-120"/>
              </a:rPr>
              <a:t>Harmony orientation, conflict management, cooperation</a:t>
            </a:r>
            <a:endParaRPr lang="en-US" sz="2400" dirty="0"/>
          </a:p>
        </p:txBody>
      </p:sp>
      <p:sp>
        <p:nvSpPr>
          <p:cNvPr id="15" name="Shape 9"/>
          <p:cNvSpPr/>
          <p:nvPr/>
        </p:nvSpPr>
        <p:spPr>
          <a:xfrm>
            <a:off x="548640" y="4409041"/>
            <a:ext cx="489204" cy="489204"/>
          </a:xfrm>
          <a:prstGeom prst="ellipse">
            <a:avLst/>
          </a:prstGeom>
          <a:solidFill>
            <a:srgbClr val="1A5C2C"/>
          </a:solidFill>
          <a:ln w="12700">
            <a:solidFill>
              <a:srgbClr val="1A5C2C"/>
            </a:solidFill>
            <a:prstDash val="solid"/>
          </a:ln>
        </p:spPr>
        <p:txBody>
          <a:bodyPr/>
          <a:lstStyle/>
          <a:p>
            <a:endParaRPr lang="en-ZA"/>
          </a:p>
        </p:txBody>
      </p:sp>
      <p:pic>
        <p:nvPicPr>
          <p:cNvPr id="16" name="Image 4" descr="preencoded.png"/>
          <p:cNvPicPr>
            <a:picLocks noChangeAspect="1"/>
          </p:cNvPicPr>
          <p:nvPr/>
        </p:nvPicPr>
        <p:blipFill>
          <a:blip r:embed="rId7"/>
          <a:stretch>
            <a:fillRect/>
          </a:stretch>
        </p:blipFill>
        <p:spPr>
          <a:xfrm>
            <a:off x="670941" y="4531342"/>
            <a:ext cx="244602" cy="244602"/>
          </a:xfrm>
          <a:prstGeom prst="rect">
            <a:avLst/>
          </a:prstGeom>
        </p:spPr>
      </p:pic>
      <p:sp>
        <p:nvSpPr>
          <p:cNvPr id="17" name="Text 10"/>
          <p:cNvSpPr txBox="1"/>
          <p:nvPr/>
        </p:nvSpPr>
        <p:spPr>
          <a:xfrm>
            <a:off x="1357884" y="4304211"/>
            <a:ext cx="10282428" cy="698863"/>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Emotional Stability  </a:t>
            </a:r>
            <a:r>
              <a:rPr lang="en-US" sz="2400" dirty="0">
                <a:solidFill>
                  <a:srgbClr val="1F2A22"/>
                </a:solidFill>
                <a:latin typeface="Calibri" pitchFamily="34" charset="0"/>
                <a:ea typeface="Calibri" pitchFamily="34" charset="-122"/>
                <a:cs typeface="Calibri" pitchFamily="34" charset="-120"/>
              </a:rPr>
              <a:t>Composure under pressure, emotional resilience</a:t>
            </a:r>
            <a:endParaRPr lang="en-US" sz="2400" dirty="0"/>
          </a:p>
        </p:txBody>
      </p:sp>
      <p:sp>
        <p:nvSpPr>
          <p:cNvPr id="18" name="Shape 11"/>
          <p:cNvSpPr/>
          <p:nvPr/>
        </p:nvSpPr>
        <p:spPr>
          <a:xfrm>
            <a:off x="548640" y="5107904"/>
            <a:ext cx="489204" cy="489204"/>
          </a:xfrm>
          <a:prstGeom prst="ellipse">
            <a:avLst/>
          </a:prstGeom>
          <a:solidFill>
            <a:srgbClr val="1A5C2C"/>
          </a:solidFill>
          <a:ln w="12700">
            <a:solidFill>
              <a:srgbClr val="1A5C2C"/>
            </a:solidFill>
            <a:prstDash val="solid"/>
          </a:ln>
        </p:spPr>
        <p:txBody>
          <a:bodyPr/>
          <a:lstStyle/>
          <a:p>
            <a:endParaRPr lang="en-ZA"/>
          </a:p>
        </p:txBody>
      </p:sp>
      <p:pic>
        <p:nvPicPr>
          <p:cNvPr id="19" name="Image 5" descr="preencoded.png"/>
          <p:cNvPicPr>
            <a:picLocks noChangeAspect="1"/>
          </p:cNvPicPr>
          <p:nvPr/>
        </p:nvPicPr>
        <p:blipFill>
          <a:blip r:embed="rId8"/>
          <a:stretch>
            <a:fillRect/>
          </a:stretch>
        </p:blipFill>
        <p:spPr>
          <a:xfrm>
            <a:off x="670941" y="5230205"/>
            <a:ext cx="244602" cy="244602"/>
          </a:xfrm>
          <a:prstGeom prst="rect">
            <a:avLst/>
          </a:prstGeom>
        </p:spPr>
      </p:pic>
      <p:sp>
        <p:nvSpPr>
          <p:cNvPr id="20" name="Text 12"/>
          <p:cNvSpPr txBox="1"/>
          <p:nvPr/>
        </p:nvSpPr>
        <p:spPr>
          <a:xfrm>
            <a:off x="1357884" y="5003074"/>
            <a:ext cx="10282428" cy="698863"/>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Values Alignment  </a:t>
            </a:r>
            <a:r>
              <a:rPr lang="en-US" sz="2400" dirty="0">
                <a:solidFill>
                  <a:srgbClr val="1F2A22"/>
                </a:solidFill>
                <a:latin typeface="Calibri" pitchFamily="34" charset="0"/>
                <a:ea typeface="Calibri" pitchFamily="34" charset="-122"/>
                <a:cs typeface="Calibri" pitchFamily="34" charset="-120"/>
              </a:rPr>
              <a:t>Consistency between stated values and lived behaviour</a:t>
            </a:r>
            <a:endParaRPr lang="en-US" sz="2400" dirty="0"/>
          </a:p>
        </p:txBody>
      </p:sp>
      <p:sp>
        <p:nvSpPr>
          <p:cNvPr id="21" name="Shape 13"/>
          <p:cNvSpPr/>
          <p:nvPr/>
        </p:nvSpPr>
        <p:spPr>
          <a:xfrm>
            <a:off x="548640" y="5806767"/>
            <a:ext cx="489204" cy="489204"/>
          </a:xfrm>
          <a:prstGeom prst="ellipse">
            <a:avLst/>
          </a:prstGeom>
          <a:solidFill>
            <a:srgbClr val="1A5C2C"/>
          </a:solidFill>
          <a:ln w="12700">
            <a:solidFill>
              <a:srgbClr val="1A5C2C"/>
            </a:solidFill>
            <a:prstDash val="solid"/>
          </a:ln>
        </p:spPr>
        <p:txBody>
          <a:bodyPr/>
          <a:lstStyle/>
          <a:p>
            <a:endParaRPr lang="en-ZA"/>
          </a:p>
        </p:txBody>
      </p:sp>
      <p:pic>
        <p:nvPicPr>
          <p:cNvPr id="22" name="Image 6" descr="preencoded.png"/>
          <p:cNvPicPr>
            <a:picLocks noChangeAspect="1"/>
          </p:cNvPicPr>
          <p:nvPr/>
        </p:nvPicPr>
        <p:blipFill>
          <a:blip r:embed="rId9"/>
          <a:stretch>
            <a:fillRect/>
          </a:stretch>
        </p:blipFill>
        <p:spPr>
          <a:xfrm>
            <a:off x="670941" y="5929068"/>
            <a:ext cx="244602" cy="244602"/>
          </a:xfrm>
          <a:prstGeom prst="rect">
            <a:avLst/>
          </a:prstGeom>
        </p:spPr>
      </p:pic>
      <p:sp>
        <p:nvSpPr>
          <p:cNvPr id="23" name="Text 14"/>
          <p:cNvSpPr txBox="1"/>
          <p:nvPr/>
        </p:nvSpPr>
        <p:spPr>
          <a:xfrm>
            <a:off x="1357884" y="5701937"/>
            <a:ext cx="10282428" cy="698863"/>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Learning Orientation  </a:t>
            </a:r>
            <a:r>
              <a:rPr lang="en-US" sz="2400" dirty="0">
                <a:solidFill>
                  <a:srgbClr val="1F2A22"/>
                </a:solidFill>
                <a:latin typeface="Calibri" pitchFamily="34" charset="0"/>
                <a:ea typeface="Calibri" pitchFamily="34" charset="-122"/>
                <a:cs typeface="Calibri" pitchFamily="34" charset="-120"/>
              </a:rPr>
              <a:t>Growth mindset, openness to feedback, skill development</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3 Reflections</a:t>
            </a:r>
            <a:endParaRPr lang="en-US" sz="3600" dirty="0"/>
          </a:p>
        </p:txBody>
      </p:sp>
      <p:pic>
        <p:nvPicPr>
          <p:cNvPr id="3" name="Reflection 3.1" descr="3.1 Reflection — OCEAVL: Which of your own levels carries the highest risk for how you read and lead the strategy? Where has that risk already shown up?"/>
          <p:cNvPicPr>
            <a:picLocks noChangeAspect="1"/>
          </p:cNvPicPr>
          <p:nvPr/>
        </p:nvPicPr>
        <p:blipFill>
          <a:blip r:embed="rId3"/>
          <a:stretch>
            <a:fillRect/>
          </a:stretch>
        </p:blipFill>
        <p:spPr>
          <a:xfrm>
            <a:off x="1691640" y="1572768"/>
            <a:ext cx="9921240" cy="1023394"/>
          </a:xfrm>
          <a:prstGeom prst="rect">
            <a:avLst/>
          </a:prstGeom>
        </p:spPr>
      </p:pic>
      <p:sp>
        <p:nvSpPr>
          <p:cNvPr id="4" name="Part 3.1"/>
          <p:cNvSpPr/>
          <p:nvPr/>
        </p:nvSpPr>
        <p:spPr>
          <a:xfrm>
            <a:off x="548640" y="1650125"/>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3.1</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5">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4</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4</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Integration — Collective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How Aligning Heart &amp; Mind Creates Collective Intelligence</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Integrate leadership interpretations into one coherent enterprise message.</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Diagnose role-alignment gaps and competing change demands that threaten enterprise coherence.</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4.1 · Leading Change with One Voice</a:t>
            </a:r>
            <a:endParaRPr lang="en-US" sz="3600" dirty="0"/>
          </a:p>
        </p:txBody>
      </p:sp>
      <p:sp>
        <p:nvSpPr>
          <p:cNvPr id="3" name="Shape 1"/>
          <p:cNvSpPr/>
          <p:nvPr/>
        </p:nvSpPr>
        <p:spPr>
          <a:xfrm>
            <a:off x="548640" y="150876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09928"/>
            <a:ext cx="548640" cy="54864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14400" y="1847088"/>
            <a:ext cx="274320" cy="274320"/>
          </a:xfrm>
          <a:prstGeom prst="rect">
            <a:avLst/>
          </a:prstGeom>
        </p:spPr>
      </p:pic>
      <p:sp>
        <p:nvSpPr>
          <p:cNvPr id="6" name="Text 3"/>
          <p:cNvSpPr txBox="1"/>
          <p:nvPr/>
        </p:nvSpPr>
        <p:spPr>
          <a:xfrm>
            <a:off x="1508760" y="1691640"/>
            <a:ext cx="4219956" cy="59436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One message</a:t>
            </a:r>
            <a:r>
              <a:rPr lang="en-US" sz="2400" dirty="0">
                <a:solidFill>
                  <a:srgbClr val="4E5E53"/>
                </a:solidFill>
                <a:latin typeface="Calibri" pitchFamily="34" charset="0"/>
                <a:ea typeface="Calibri" pitchFamily="34" charset="-122"/>
                <a:cs typeface="Calibri" pitchFamily="34" charset="-120"/>
              </a:rPr>
              <a:t> · </a:t>
            </a:r>
            <a:r>
              <a:rPr lang="en-US" sz="2400" i="1" dirty="0">
                <a:solidFill>
                  <a:srgbClr val="4E5E53"/>
                </a:solidFill>
                <a:latin typeface="Calibri" pitchFamily="34" charset="0"/>
                <a:ea typeface="Calibri" pitchFamily="34" charset="-122"/>
                <a:cs typeface="Calibri" pitchFamily="34" charset="-120"/>
              </a:rPr>
              <a:t>Protects Mind</a:t>
            </a:r>
            <a:endParaRPr lang="en-US" sz="2400" dirty="0"/>
          </a:p>
        </p:txBody>
      </p:sp>
      <p:sp>
        <p:nvSpPr>
          <p:cNvPr id="7" name="Text 4"/>
          <p:cNvSpPr txBox="1"/>
          <p:nvPr/>
        </p:nvSpPr>
        <p:spPr>
          <a:xfrm>
            <a:off x="777240" y="2423160"/>
            <a:ext cx="4951476" cy="123444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Every leader gives the same Shift, Stake and Step for each change.</a:t>
            </a:r>
            <a:endParaRPr lang="en-US" sz="2400" dirty="0"/>
          </a:p>
        </p:txBody>
      </p:sp>
      <p:sp>
        <p:nvSpPr>
          <p:cNvPr id="8" name="Shape 5"/>
          <p:cNvSpPr/>
          <p:nvPr/>
        </p:nvSpPr>
        <p:spPr>
          <a:xfrm>
            <a:off x="6231636" y="150876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6460236" y="1709928"/>
            <a:ext cx="548640" cy="54864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6597396" y="1847088"/>
            <a:ext cx="274320" cy="274320"/>
          </a:xfrm>
          <a:prstGeom prst="rect">
            <a:avLst/>
          </a:prstGeom>
        </p:spPr>
      </p:pic>
      <p:sp>
        <p:nvSpPr>
          <p:cNvPr id="11" name="Text 7"/>
          <p:cNvSpPr txBox="1"/>
          <p:nvPr/>
        </p:nvSpPr>
        <p:spPr>
          <a:xfrm>
            <a:off x="7191756" y="1691640"/>
            <a:ext cx="4219956" cy="59436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One example</a:t>
            </a:r>
            <a:r>
              <a:rPr lang="en-US" sz="2400" dirty="0">
                <a:solidFill>
                  <a:srgbClr val="4E5E53"/>
                </a:solidFill>
                <a:latin typeface="Calibri" pitchFamily="34" charset="0"/>
                <a:ea typeface="Calibri" pitchFamily="34" charset="-122"/>
                <a:cs typeface="Calibri" pitchFamily="34" charset="-120"/>
              </a:rPr>
              <a:t> · </a:t>
            </a:r>
            <a:r>
              <a:rPr lang="en-US" sz="2400" i="1" dirty="0">
                <a:solidFill>
                  <a:srgbClr val="4E5E53"/>
                </a:solidFill>
                <a:latin typeface="Calibri" pitchFamily="34" charset="0"/>
                <a:ea typeface="Calibri" pitchFamily="34" charset="-122"/>
                <a:cs typeface="Calibri" pitchFamily="34" charset="-120"/>
              </a:rPr>
              <a:t>Protects Heart</a:t>
            </a:r>
            <a:endParaRPr lang="en-US" sz="2400" dirty="0"/>
          </a:p>
        </p:txBody>
      </p:sp>
      <p:sp>
        <p:nvSpPr>
          <p:cNvPr id="12" name="Text 8"/>
          <p:cNvSpPr txBox="1"/>
          <p:nvPr/>
        </p:nvSpPr>
        <p:spPr>
          <a:xfrm>
            <a:off x="6460236" y="2423160"/>
            <a:ext cx="4951476" cy="123444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Leaders show the ACE-IT behaviours the change needs before they ask for them.</a:t>
            </a:r>
            <a:endParaRPr lang="en-US" sz="2400" dirty="0"/>
          </a:p>
        </p:txBody>
      </p:sp>
      <p:sp>
        <p:nvSpPr>
          <p:cNvPr id="13" name="Shape 9"/>
          <p:cNvSpPr/>
          <p:nvPr/>
        </p:nvSpPr>
        <p:spPr>
          <a:xfrm>
            <a:off x="548640" y="4069080"/>
            <a:ext cx="5408676" cy="2286000"/>
          </a:xfrm>
          <a:prstGeom prst="roundRect">
            <a:avLst>
              <a:gd name="adj" fmla="val 4000"/>
            </a:avLst>
          </a:prstGeom>
          <a:solidFill>
            <a:srgbClr val="1A5C2C"/>
          </a:solidFill>
          <a:ln w="12700">
            <a:solidFill>
              <a:srgbClr val="1A5C2C"/>
            </a:solidFill>
            <a:prstDash val="solid"/>
          </a:ln>
        </p:spPr>
        <p:txBody>
          <a:bodyPr/>
          <a:lstStyle/>
          <a:p>
            <a:endParaRPr lang="en-ZA"/>
          </a:p>
        </p:txBody>
      </p:sp>
      <p:sp>
        <p:nvSpPr>
          <p:cNvPr id="14" name="Shape 10"/>
          <p:cNvSpPr/>
          <p:nvPr/>
        </p:nvSpPr>
        <p:spPr>
          <a:xfrm>
            <a:off x="777240" y="4270248"/>
            <a:ext cx="548640" cy="548640"/>
          </a:xfrm>
          <a:prstGeom prst="ellipse">
            <a:avLst/>
          </a:prstGeom>
          <a:solidFill>
            <a:srgbClr val="C6A24C"/>
          </a:solidFill>
          <a:ln w="12700">
            <a:solidFill>
              <a:srgbClr val="C6A24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914400" y="4407408"/>
            <a:ext cx="274320" cy="274320"/>
          </a:xfrm>
          <a:prstGeom prst="rect">
            <a:avLst/>
          </a:prstGeom>
        </p:spPr>
      </p:pic>
      <p:sp>
        <p:nvSpPr>
          <p:cNvPr id="16" name="Text 11"/>
          <p:cNvSpPr txBox="1"/>
          <p:nvPr/>
        </p:nvSpPr>
        <p:spPr>
          <a:xfrm>
            <a:off x="1508760" y="4251960"/>
            <a:ext cx="4219956" cy="59436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One sequence</a:t>
            </a:r>
            <a:r>
              <a:rPr lang="en-US" sz="2400" dirty="0">
                <a:solidFill>
                  <a:srgbClr val="E6D3A0"/>
                </a:solidFill>
                <a:latin typeface="Calibri" pitchFamily="34" charset="0"/>
                <a:ea typeface="Calibri" pitchFamily="34" charset="-122"/>
                <a:cs typeface="Calibri" pitchFamily="34" charset="-120"/>
              </a:rPr>
              <a:t> · </a:t>
            </a:r>
            <a:r>
              <a:rPr lang="en-US" sz="2400" i="1" dirty="0">
                <a:solidFill>
                  <a:srgbClr val="E6D3A0"/>
                </a:solidFill>
                <a:latin typeface="Calibri" pitchFamily="34" charset="0"/>
                <a:ea typeface="Calibri" pitchFamily="34" charset="-122"/>
                <a:cs typeface="Calibri" pitchFamily="34" charset="-120"/>
              </a:rPr>
              <a:t>Protects Hands</a:t>
            </a:r>
            <a:endParaRPr lang="en-US" sz="2400" dirty="0"/>
          </a:p>
        </p:txBody>
      </p:sp>
      <p:sp>
        <p:nvSpPr>
          <p:cNvPr id="17" name="Text 12"/>
          <p:cNvSpPr txBox="1"/>
          <p:nvPr/>
        </p:nvSpPr>
        <p:spPr>
          <a:xfrm>
            <a:off x="777240" y="4983480"/>
            <a:ext cx="4951476" cy="123444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The team then agrees the order and the pace.</a:t>
            </a:r>
            <a:endParaRPr lang="en-US" sz="2400" dirty="0"/>
          </a:p>
        </p:txBody>
      </p:sp>
      <p:sp>
        <p:nvSpPr>
          <p:cNvPr id="18" name="Shape 13"/>
          <p:cNvSpPr/>
          <p:nvPr/>
        </p:nvSpPr>
        <p:spPr>
          <a:xfrm>
            <a:off x="6231636" y="4069080"/>
            <a:ext cx="5408676" cy="2286000"/>
          </a:xfrm>
          <a:prstGeom prst="roundRect">
            <a:avLst>
              <a:gd name="adj" fmla="val 4000"/>
            </a:avLst>
          </a:prstGeom>
          <a:solidFill>
            <a:srgbClr val="1A5C2C"/>
          </a:solidFill>
          <a:ln w="12700">
            <a:solidFill>
              <a:srgbClr val="1A5C2C"/>
            </a:solidFill>
            <a:prstDash val="solid"/>
          </a:ln>
        </p:spPr>
        <p:txBody>
          <a:bodyPr/>
          <a:lstStyle/>
          <a:p>
            <a:endParaRPr lang="en-ZA"/>
          </a:p>
        </p:txBody>
      </p:sp>
      <p:sp>
        <p:nvSpPr>
          <p:cNvPr id="19" name="Shape 14"/>
          <p:cNvSpPr/>
          <p:nvPr/>
        </p:nvSpPr>
        <p:spPr>
          <a:xfrm>
            <a:off x="6460236" y="4270248"/>
            <a:ext cx="548640" cy="548640"/>
          </a:xfrm>
          <a:prstGeom prst="ellipse">
            <a:avLst/>
          </a:prstGeom>
          <a:solidFill>
            <a:srgbClr val="C6A24C"/>
          </a:solidFill>
          <a:ln w="12700">
            <a:solidFill>
              <a:srgbClr val="C6A24C"/>
            </a:solidFill>
            <a:prstDash val="solid"/>
          </a:ln>
        </p:spPr>
        <p:txBody>
          <a:bodyPr/>
          <a:lstStyle/>
          <a:p>
            <a:endParaRPr lang="en-ZA"/>
          </a:p>
        </p:txBody>
      </p:sp>
      <p:pic>
        <p:nvPicPr>
          <p:cNvPr id="20" name="Image 3" descr="preencoded.png"/>
          <p:cNvPicPr>
            <a:picLocks noChangeAspect="1"/>
          </p:cNvPicPr>
          <p:nvPr/>
        </p:nvPicPr>
        <p:blipFill>
          <a:blip r:embed="rId6"/>
          <a:stretch>
            <a:fillRect/>
          </a:stretch>
        </p:blipFill>
        <p:spPr>
          <a:xfrm>
            <a:off x="6597396" y="4407408"/>
            <a:ext cx="274320" cy="274320"/>
          </a:xfrm>
          <a:prstGeom prst="rect">
            <a:avLst/>
          </a:prstGeom>
        </p:spPr>
      </p:pic>
      <p:sp>
        <p:nvSpPr>
          <p:cNvPr id="21" name="Text 15"/>
          <p:cNvSpPr txBox="1"/>
          <p:nvPr/>
        </p:nvSpPr>
        <p:spPr>
          <a:xfrm>
            <a:off x="7191756" y="4251960"/>
            <a:ext cx="4219956" cy="59436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One owner</a:t>
            </a:r>
            <a:r>
              <a:rPr lang="en-US" sz="2400" dirty="0">
                <a:solidFill>
                  <a:srgbClr val="E6D3A0"/>
                </a:solidFill>
                <a:latin typeface="Calibri" pitchFamily="34" charset="0"/>
                <a:ea typeface="Calibri" pitchFamily="34" charset="-122"/>
                <a:cs typeface="Calibri" pitchFamily="34" charset="-120"/>
              </a:rPr>
              <a:t> · </a:t>
            </a:r>
            <a:r>
              <a:rPr lang="en-US" sz="2400" i="1" dirty="0">
                <a:solidFill>
                  <a:srgbClr val="E6D3A0"/>
                </a:solidFill>
                <a:latin typeface="Calibri" pitchFamily="34" charset="0"/>
                <a:ea typeface="Calibri" pitchFamily="34" charset="-122"/>
                <a:cs typeface="Calibri" pitchFamily="34" charset="-120"/>
              </a:rPr>
              <a:t>Protects Habit</a:t>
            </a:r>
            <a:endParaRPr lang="en-US" sz="2400" dirty="0"/>
          </a:p>
        </p:txBody>
      </p:sp>
      <p:sp>
        <p:nvSpPr>
          <p:cNvPr id="22" name="Text 16"/>
          <p:cNvSpPr txBox="1"/>
          <p:nvPr/>
        </p:nvSpPr>
        <p:spPr>
          <a:xfrm>
            <a:off x="6460236" y="4983480"/>
            <a:ext cx="4951476" cy="123444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Each transition has one named leader who answers for adoption, through to Habit.</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000" b="1" dirty="0">
                <a:solidFill>
                  <a:srgbClr val="1A5C2C"/>
                </a:solidFill>
                <a:latin typeface="Cambria" pitchFamily="34" charset="0"/>
                <a:ea typeface="Cambria" pitchFamily="34" charset="-122"/>
                <a:cs typeface="Cambria" pitchFamily="34" charset="-120"/>
              </a:rPr>
              <a:t>4.2 · Collective Intelligence Across the Leadership Team</a:t>
            </a:r>
            <a:endParaRPr lang="en-US" sz="3000" dirty="0"/>
          </a:p>
        </p:txBody>
      </p:sp>
      <p:pic>
        <p:nvPicPr>
          <p:cNvPr id="24" name="Picture 23">
            <a:extLst>
              <a:ext uri="{FF2B5EF4-FFF2-40B4-BE49-F238E27FC236}">
                <a16:creationId xmlns:a16="http://schemas.microsoft.com/office/drawing/2014/main" id="{8B71713E-C192-7B18-A95B-CA736E2C055F}"/>
              </a:ext>
            </a:extLst>
          </p:cNvPr>
          <p:cNvPicPr>
            <a:picLocks noChangeAspect="1"/>
          </p:cNvPicPr>
          <p:nvPr/>
        </p:nvPicPr>
        <p:blipFill>
          <a:blip r:embed="rId3"/>
          <a:srcRect t="-3114" r="49395"/>
          <a:stretch>
            <a:fillRect/>
          </a:stretch>
        </p:blipFill>
        <p:spPr>
          <a:xfrm>
            <a:off x="548640" y="1009934"/>
            <a:ext cx="5227093" cy="5920398"/>
          </a:xfrm>
          <a:prstGeom prst="rect">
            <a:avLst/>
          </a:prstGeom>
        </p:spPr>
      </p:pic>
      <p:pic>
        <p:nvPicPr>
          <p:cNvPr id="28" name="Picture 27">
            <a:extLst>
              <a:ext uri="{FF2B5EF4-FFF2-40B4-BE49-F238E27FC236}">
                <a16:creationId xmlns:a16="http://schemas.microsoft.com/office/drawing/2014/main" id="{DE7C4503-3508-7AC2-DD45-F17EFE4801FC}"/>
              </a:ext>
            </a:extLst>
          </p:cNvPr>
          <p:cNvPicPr>
            <a:picLocks noChangeAspect="1"/>
          </p:cNvPicPr>
          <p:nvPr/>
        </p:nvPicPr>
        <p:blipFill>
          <a:blip r:embed="rId3"/>
          <a:srcRect l="49646"/>
          <a:stretch>
            <a:fillRect/>
          </a:stretch>
        </p:blipFill>
        <p:spPr>
          <a:xfrm>
            <a:off x="6856635" y="1120289"/>
            <a:ext cx="4708478" cy="5737711"/>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4 Reflections</a:t>
            </a:r>
            <a:endParaRPr lang="en-US" sz="3600" dirty="0"/>
          </a:p>
        </p:txBody>
      </p:sp>
      <p:pic>
        <p:nvPicPr>
          <p:cNvPr id="9" name="Reflection 4.2" descr="image.png"/>
          <p:cNvPicPr>
            <a:picLocks noChangeAspect="1"/>
          </p:cNvPicPr>
          <p:nvPr/>
        </p:nvPicPr>
        <p:blipFill>
          <a:blip r:embed="rId5"/>
          <a:stretch>
            <a:fillRect/>
          </a:stretch>
        </p:blipFill>
        <p:spPr>
          <a:xfrm>
            <a:off x="1691640" y="2888770"/>
            <a:ext cx="9921240" cy="1066035"/>
          </a:xfrm>
          <a:prstGeom prst="rect">
            <a:avLst/>
          </a:prstGeom>
        </p:spPr>
      </p:pic>
      <p:sp>
        <p:nvSpPr>
          <p:cNvPr id="6" name="Part 4.2"/>
          <p:cNvSpPr/>
          <p:nvPr/>
        </p:nvSpPr>
        <p:spPr>
          <a:xfrm>
            <a:off x="548640" y="2987447"/>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4.2</a:t>
            </a:r>
          </a:p>
        </p:txBody>
      </p:sp>
      <p:pic>
        <p:nvPicPr>
          <p:cNvPr id="7" name="Reflection 4.1" descr="4.3 Reflection — One voice: Choose one group in your organisation. List every change the leadership team is asking of it this quarter. How many are there? Which of the four commitments is weakest in your team today?"/>
          <p:cNvPicPr>
            <a:picLocks noChangeAspect="1"/>
          </p:cNvPicPr>
          <p:nvPr/>
        </p:nvPicPr>
        <p:blipFill>
          <a:blip r:embed="rId4"/>
          <a:stretch>
            <a:fillRect/>
          </a:stretch>
        </p:blipFill>
        <p:spPr>
          <a:xfrm>
            <a:off x="1691640" y="1572768"/>
            <a:ext cx="9921240" cy="1023394"/>
          </a:xfrm>
          <a:prstGeom prst="rect">
            <a:avLst/>
          </a:prstGeom>
        </p:spPr>
      </p:pic>
      <p:sp>
        <p:nvSpPr>
          <p:cNvPr id="8" name="Part 4.1"/>
          <p:cNvSpPr/>
          <p:nvPr/>
        </p:nvSpPr>
        <p:spPr>
          <a:xfrm>
            <a:off x="548640" y="1650125"/>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4.1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0" b="1" i="0" u="none" strike="noStrike" kern="1200" cap="none" spc="0" normalizeH="0" baseline="0" noProof="0" dirty="0">
                <a:ln>
                  <a:noFill/>
                </a:ln>
                <a:solidFill>
                  <a:srgbClr val="C6A24C"/>
                </a:solidFill>
                <a:effectLst/>
                <a:uLnTx/>
                <a:uFillTx/>
                <a:latin typeface="Cambria" pitchFamily="34" charset="0"/>
                <a:ea typeface="Cambria" pitchFamily="34" charset="-122"/>
                <a:cs typeface="Cambria" pitchFamily="34" charset="-120"/>
              </a:rPr>
              <a:t>5</a:t>
            </a:r>
            <a:endParaRPr kumimoji="0" lang="en-US" sz="15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E6D3A0"/>
                </a:solidFill>
                <a:effectLst/>
                <a:uLnTx/>
                <a:uFillTx/>
                <a:latin typeface="Calibri" pitchFamily="34" charset="0"/>
                <a:ea typeface="Calibri" pitchFamily="34" charset="-122"/>
                <a:cs typeface="Calibri" pitchFamily="34" charset="-120"/>
              </a:rPr>
              <a:t>Section 5</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Application — In Practice</a:t>
            </a:r>
            <a:endParaRPr kumimoji="0" lang="en-US" sz="4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0" i="1" u="none" strike="noStrike" kern="1200" cap="none" spc="0" normalizeH="0" baseline="0" noProof="0" dirty="0">
                <a:ln>
                  <a:noFill/>
                </a:ln>
                <a:solidFill>
                  <a:srgbClr val="DDE8DF"/>
                </a:solidFill>
                <a:effectLst/>
                <a:uLnTx/>
                <a:uFillTx/>
                <a:latin typeface="Calibri" pitchFamily="34" charset="0"/>
                <a:ea typeface="Calibri" pitchFamily="34" charset="-122"/>
                <a:cs typeface="Calibri" pitchFamily="34" charset="-120"/>
              </a:rPr>
              <a:t>Leading with Clarity</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C6A24C"/>
                </a:solidFill>
                <a:effectLst/>
                <a:uLnTx/>
                <a:uFillTx/>
                <a:latin typeface="Calibri" pitchFamily="34" charset="0"/>
                <a:ea typeface="Calibri" pitchFamily="34" charset="-122"/>
                <a:cs typeface="Calibri" pitchFamily="34" charset="-120"/>
              </a:rPr>
              <a:t>Section learning outcomes</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Develop an approach to landing the strategy that builds understanding, readiness and adoption.</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Model and reinforce leadership behaviours that strengthen collective strategic alignment.</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1A5C2C"/>
                </a:solidFill>
                <a:effectLst/>
                <a:uLnTx/>
                <a:uFillTx/>
                <a:latin typeface="Cambria" pitchFamily="34" charset="0"/>
                <a:ea typeface="Cambria" pitchFamily="34" charset="-122"/>
                <a:cs typeface="Cambria" pitchFamily="34" charset="-120"/>
              </a:rPr>
              <a:t>Step 1 · The 3S Check</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3057144" cy="53949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A5C2C"/>
                </a:solidFill>
                <a:effectLst/>
                <a:uLnTx/>
                <a:uFillTx/>
                <a:latin typeface="Cambria" pitchFamily="34" charset="0"/>
                <a:ea typeface="Cambria" pitchFamily="34" charset="-122"/>
                <a:cs typeface="Cambria" pitchFamily="34" charset="-120"/>
              </a:rPr>
              <a:t>Shift</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txBox="1"/>
          <p:nvPr/>
        </p:nvSpPr>
        <p:spPr>
          <a:xfrm>
            <a:off x="777240" y="3191256"/>
            <a:ext cx="3057144" cy="211226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1F2A22"/>
                </a:solidFill>
                <a:effectLst/>
                <a:uLnTx/>
                <a:uFillTx/>
                <a:latin typeface="Calibri" pitchFamily="34" charset="0"/>
                <a:ea typeface="Calibri" pitchFamily="34" charset="-122"/>
                <a:cs typeface="Calibri" pitchFamily="34" charset="-120"/>
              </a:rPr>
              <a:t>What is changing?</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 name="Image 1" descr="preencoded.png"/>
          <p:cNvPicPr>
            <a:picLocks noChangeAspect="1"/>
          </p:cNvPicPr>
          <p:nvPr/>
        </p:nvPicPr>
        <p:blipFill>
          <a:blip r:embed="rId4"/>
          <a:stretch>
            <a:fillRect/>
          </a:stretch>
        </p:blipFill>
        <p:spPr>
          <a:xfrm>
            <a:off x="4725924" y="1897380"/>
            <a:ext cx="320040" cy="320040"/>
          </a:xfrm>
          <a:prstGeom prst="rect">
            <a:avLst/>
          </a:prstGeom>
        </p:spPr>
      </p:pic>
      <p:sp>
        <p:nvSpPr>
          <p:cNvPr id="11" name="Text 7"/>
          <p:cNvSpPr txBox="1"/>
          <p:nvPr/>
        </p:nvSpPr>
        <p:spPr>
          <a:xfrm>
            <a:off x="4565904" y="2514600"/>
            <a:ext cx="3057144" cy="53949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A5C2C"/>
                </a:solidFill>
                <a:effectLst/>
                <a:uLnTx/>
                <a:uFillTx/>
                <a:latin typeface="Cambria" pitchFamily="34" charset="0"/>
                <a:ea typeface="Cambria" pitchFamily="34" charset="-122"/>
                <a:cs typeface="Cambria" pitchFamily="34" charset="-120"/>
              </a:rPr>
              <a:t>Stake</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8"/>
          <p:cNvSpPr txBox="1"/>
          <p:nvPr/>
        </p:nvSpPr>
        <p:spPr>
          <a:xfrm>
            <a:off x="4565904" y="3191256"/>
            <a:ext cx="3057144" cy="211226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1F2A22"/>
                </a:solidFill>
                <a:effectLst/>
                <a:uLnTx/>
                <a:uFillTx/>
                <a:latin typeface="Calibri" pitchFamily="34" charset="0"/>
                <a:ea typeface="Calibri" pitchFamily="34" charset="-122"/>
                <a:cs typeface="Calibri" pitchFamily="34" charset="-120"/>
              </a:rPr>
              <a:t>What will the organisation gain if it changes, and what will it lose if it stays as it is?</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9"/>
          <p:cNvSpPr/>
          <p:nvPr/>
        </p:nvSpPr>
        <p:spPr>
          <a:xfrm>
            <a:off x="8125968" y="1508760"/>
            <a:ext cx="3514344" cy="3931920"/>
          </a:xfrm>
          <a:prstGeom prst="roundRect">
            <a:avLst>
              <a:gd name="adj" fmla="val 2602"/>
            </a:avLst>
          </a:prstGeom>
          <a:solidFill>
            <a:srgbClr val="1A5C2C"/>
          </a:solidFill>
          <a:ln w="12700">
            <a:solidFill>
              <a:srgbClr val="1A5C2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5" name="Image 2" descr="preencoded.png"/>
          <p:cNvPicPr>
            <a:picLocks noChangeAspect="1"/>
          </p:cNvPicPr>
          <p:nvPr/>
        </p:nvPicPr>
        <p:blipFill>
          <a:blip r:embed="rId5"/>
          <a:stretch>
            <a:fillRect/>
          </a:stretch>
        </p:blipFill>
        <p:spPr>
          <a:xfrm>
            <a:off x="8514588" y="1897380"/>
            <a:ext cx="320040" cy="320040"/>
          </a:xfrm>
          <a:prstGeom prst="rect">
            <a:avLst/>
          </a:prstGeom>
        </p:spPr>
      </p:pic>
      <p:sp>
        <p:nvSpPr>
          <p:cNvPr id="16" name="Text 11"/>
          <p:cNvSpPr txBox="1"/>
          <p:nvPr/>
        </p:nvSpPr>
        <p:spPr>
          <a:xfrm>
            <a:off x="8354568" y="2514600"/>
            <a:ext cx="3057144" cy="53949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Step</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2"/>
          <p:cNvSpPr txBox="1"/>
          <p:nvPr/>
        </p:nvSpPr>
        <p:spPr>
          <a:xfrm>
            <a:off x="8354568" y="3191256"/>
            <a:ext cx="3057144" cy="211226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What must be done differently?</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Your group states three things for the strategy in your Capstone Blueprint.</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1A5C2C"/>
                </a:solidFill>
                <a:effectLst/>
                <a:uLnTx/>
                <a:uFillTx/>
                <a:latin typeface="Cambria" pitchFamily="34" charset="0"/>
                <a:ea typeface="Cambria" pitchFamily="34" charset="-122"/>
                <a:cs typeface="Cambria" pitchFamily="34" charset="-120"/>
              </a:rPr>
              <a:t>Step 2 · ACE-IT</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548640" y="1622603"/>
            <a:ext cx="531266" cy="531266"/>
          </a:xfrm>
          <a:prstGeom prst="ellipse">
            <a:avLst/>
          </a:prstGeom>
          <a:solidFill>
            <a:srgbClr val="1A5C2C"/>
          </a:solidFill>
          <a:ln w="12700">
            <a:solidFill>
              <a:srgbClr val="1A5C2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 name="Image 0" descr="preencoded.png"/>
          <p:cNvPicPr>
            <a:picLocks noChangeAspect="1"/>
          </p:cNvPicPr>
          <p:nvPr/>
        </p:nvPicPr>
        <p:blipFill>
          <a:blip r:embed="rId3"/>
          <a:stretch>
            <a:fillRect/>
          </a:stretch>
        </p:blipFill>
        <p:spPr>
          <a:xfrm>
            <a:off x="681457" y="1755419"/>
            <a:ext cx="265633" cy="265633"/>
          </a:xfrm>
          <a:prstGeom prst="rect">
            <a:avLst/>
          </a:prstGeom>
        </p:spPr>
      </p:pic>
      <p:sp>
        <p:nvSpPr>
          <p:cNvPr id="5" name="Text 2"/>
          <p:cNvSpPr txBox="1"/>
          <p:nvPr/>
        </p:nvSpPr>
        <p:spPr>
          <a:xfrm>
            <a:off x="1399946" y="1508760"/>
            <a:ext cx="10240366" cy="7589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A5C2C"/>
                </a:solidFill>
                <a:effectLst/>
                <a:uLnTx/>
                <a:uFillTx/>
                <a:latin typeface="Cambria" pitchFamily="34" charset="0"/>
                <a:ea typeface="Cambria" pitchFamily="34" charset="-122"/>
                <a:cs typeface="Cambria" pitchFamily="34" charset="-120"/>
              </a:rPr>
              <a:t>Accountability  </a:t>
            </a:r>
            <a:r>
              <a:rPr kumimoji="0" lang="en-US" sz="2400" b="0" i="0" u="none" strike="noStrike" kern="1200" cap="none" spc="0" normalizeH="0" baseline="0" noProof="0" dirty="0">
                <a:ln>
                  <a:noFill/>
                </a:ln>
                <a:solidFill>
                  <a:srgbClr val="1F2A22"/>
                </a:solidFill>
                <a:effectLst/>
                <a:uLnTx/>
                <a:uFillTx/>
                <a:latin typeface="Calibri" pitchFamily="34" charset="0"/>
                <a:ea typeface="Calibri" pitchFamily="34" charset="-122"/>
                <a:cs typeface="Calibri" pitchFamily="34" charset="-120"/>
              </a:rPr>
              <a:t>One named person owns the practice and its result.</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3"/>
          <p:cNvSpPr/>
          <p:nvPr/>
        </p:nvSpPr>
        <p:spPr>
          <a:xfrm>
            <a:off x="548640" y="2381555"/>
            <a:ext cx="531266" cy="531266"/>
          </a:xfrm>
          <a:prstGeom prst="ellipse">
            <a:avLst/>
          </a:prstGeom>
          <a:solidFill>
            <a:srgbClr val="1A5C2C"/>
          </a:solidFill>
          <a:ln w="12700">
            <a:solidFill>
              <a:srgbClr val="1A5C2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 name="Image 1" descr="preencoded.png"/>
          <p:cNvPicPr>
            <a:picLocks noChangeAspect="1"/>
          </p:cNvPicPr>
          <p:nvPr/>
        </p:nvPicPr>
        <p:blipFill>
          <a:blip r:embed="rId4"/>
          <a:stretch>
            <a:fillRect/>
          </a:stretch>
        </p:blipFill>
        <p:spPr>
          <a:xfrm>
            <a:off x="681457" y="2514371"/>
            <a:ext cx="265633" cy="265633"/>
          </a:xfrm>
          <a:prstGeom prst="rect">
            <a:avLst/>
          </a:prstGeom>
        </p:spPr>
      </p:pic>
      <p:sp>
        <p:nvSpPr>
          <p:cNvPr id="8" name="Text 4"/>
          <p:cNvSpPr txBox="1"/>
          <p:nvPr/>
        </p:nvSpPr>
        <p:spPr>
          <a:xfrm>
            <a:off x="1399946" y="2267712"/>
            <a:ext cx="10240366" cy="7589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A5C2C"/>
                </a:solidFill>
                <a:effectLst/>
                <a:uLnTx/>
                <a:uFillTx/>
                <a:latin typeface="Cambria" pitchFamily="34" charset="0"/>
                <a:ea typeface="Cambria" pitchFamily="34" charset="-122"/>
                <a:cs typeface="Cambria" pitchFamily="34" charset="-120"/>
              </a:rPr>
              <a:t>Commitment  </a:t>
            </a:r>
            <a:r>
              <a:rPr kumimoji="0" lang="en-US" sz="2400" b="0" i="0" u="none" strike="noStrike" kern="1200" cap="none" spc="0" normalizeH="0" baseline="0" noProof="0" dirty="0">
                <a:ln>
                  <a:noFill/>
                </a:ln>
                <a:solidFill>
                  <a:srgbClr val="1F2A22"/>
                </a:solidFill>
                <a:effectLst/>
                <a:uLnTx/>
                <a:uFillTx/>
                <a:latin typeface="Calibri" pitchFamily="34" charset="0"/>
                <a:ea typeface="Calibri" pitchFamily="34" charset="-122"/>
                <a:cs typeface="Calibri" pitchFamily="34" charset="-120"/>
              </a:rPr>
              <a:t>The practice is kept when pressure rises and the old way is quicker.</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5"/>
          <p:cNvSpPr/>
          <p:nvPr/>
        </p:nvSpPr>
        <p:spPr>
          <a:xfrm>
            <a:off x="548640" y="3140507"/>
            <a:ext cx="531266" cy="531266"/>
          </a:xfrm>
          <a:prstGeom prst="ellipse">
            <a:avLst/>
          </a:prstGeom>
          <a:solidFill>
            <a:srgbClr val="1A5C2C"/>
          </a:solidFill>
          <a:ln w="12700">
            <a:solidFill>
              <a:srgbClr val="1A5C2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 name="Image 2" descr="preencoded.png"/>
          <p:cNvPicPr>
            <a:picLocks noChangeAspect="1"/>
          </p:cNvPicPr>
          <p:nvPr/>
        </p:nvPicPr>
        <p:blipFill>
          <a:blip r:embed="rId5"/>
          <a:stretch>
            <a:fillRect/>
          </a:stretch>
        </p:blipFill>
        <p:spPr>
          <a:xfrm>
            <a:off x="681457" y="3273323"/>
            <a:ext cx="265633" cy="265633"/>
          </a:xfrm>
          <a:prstGeom prst="rect">
            <a:avLst/>
          </a:prstGeom>
        </p:spPr>
      </p:pic>
      <p:sp>
        <p:nvSpPr>
          <p:cNvPr id="11" name="Text 6"/>
          <p:cNvSpPr txBox="1"/>
          <p:nvPr/>
        </p:nvSpPr>
        <p:spPr>
          <a:xfrm>
            <a:off x="1399946" y="3026664"/>
            <a:ext cx="10240366" cy="7589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A5C2C"/>
                </a:solidFill>
                <a:effectLst/>
                <a:uLnTx/>
                <a:uFillTx/>
                <a:latin typeface="Cambria" pitchFamily="34" charset="0"/>
                <a:ea typeface="Cambria" pitchFamily="34" charset="-122"/>
                <a:cs typeface="Cambria" pitchFamily="34" charset="-120"/>
              </a:rPr>
              <a:t>Engagement  </a:t>
            </a:r>
            <a:r>
              <a:rPr kumimoji="0" lang="en-US" sz="2400" b="0" i="0" u="none" strike="noStrike" kern="1200" cap="none" spc="0" normalizeH="0" baseline="0" noProof="0" dirty="0">
                <a:ln>
                  <a:noFill/>
                </a:ln>
                <a:solidFill>
                  <a:srgbClr val="1F2A22"/>
                </a:solidFill>
                <a:effectLst/>
                <a:uLnTx/>
                <a:uFillTx/>
                <a:latin typeface="Calibri" pitchFamily="34" charset="0"/>
                <a:ea typeface="Calibri" pitchFamily="34" charset="-122"/>
                <a:cs typeface="Calibri" pitchFamily="34" charset="-120"/>
              </a:rPr>
              <a:t>People talk about how it is going and improve it together.</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7"/>
          <p:cNvSpPr/>
          <p:nvPr/>
        </p:nvSpPr>
        <p:spPr>
          <a:xfrm>
            <a:off x="548640" y="3899459"/>
            <a:ext cx="531266" cy="531266"/>
          </a:xfrm>
          <a:prstGeom prst="ellipse">
            <a:avLst/>
          </a:prstGeom>
          <a:solidFill>
            <a:srgbClr val="1A5C2C"/>
          </a:solidFill>
          <a:ln w="12700">
            <a:solidFill>
              <a:srgbClr val="1A5C2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3" name="Image 3" descr="preencoded.png"/>
          <p:cNvPicPr>
            <a:picLocks noChangeAspect="1"/>
          </p:cNvPicPr>
          <p:nvPr/>
        </p:nvPicPr>
        <p:blipFill>
          <a:blip r:embed="rId6"/>
          <a:stretch>
            <a:fillRect/>
          </a:stretch>
        </p:blipFill>
        <p:spPr>
          <a:xfrm>
            <a:off x="681457" y="4032275"/>
            <a:ext cx="265633" cy="265633"/>
          </a:xfrm>
          <a:prstGeom prst="rect">
            <a:avLst/>
          </a:prstGeom>
        </p:spPr>
      </p:pic>
      <p:sp>
        <p:nvSpPr>
          <p:cNvPr id="14" name="Text 8"/>
          <p:cNvSpPr txBox="1"/>
          <p:nvPr/>
        </p:nvSpPr>
        <p:spPr>
          <a:xfrm>
            <a:off x="1399946" y="3785616"/>
            <a:ext cx="10240366" cy="7589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A5C2C"/>
                </a:solidFill>
                <a:effectLst/>
                <a:uLnTx/>
                <a:uFillTx/>
                <a:latin typeface="Cambria" pitchFamily="34" charset="0"/>
                <a:ea typeface="Cambria" pitchFamily="34" charset="-122"/>
                <a:cs typeface="Cambria" pitchFamily="34" charset="-120"/>
              </a:rPr>
              <a:t>Integrity  </a:t>
            </a:r>
            <a:r>
              <a:rPr kumimoji="0" lang="en-US" sz="2400" b="0" i="0" u="none" strike="noStrike" kern="1200" cap="none" spc="0" normalizeH="0" baseline="0" noProof="0" dirty="0">
                <a:ln>
                  <a:noFill/>
                </a:ln>
                <a:solidFill>
                  <a:srgbClr val="1F2A22"/>
                </a:solidFill>
                <a:effectLst/>
                <a:uLnTx/>
                <a:uFillTx/>
                <a:latin typeface="Calibri" pitchFamily="34" charset="0"/>
                <a:ea typeface="Calibri" pitchFamily="34" charset="-122"/>
                <a:cs typeface="Calibri" pitchFamily="34" charset="-120"/>
              </a:rPr>
              <a:t>Slips are reported as they are, and early.</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9"/>
          <p:cNvSpPr/>
          <p:nvPr/>
        </p:nvSpPr>
        <p:spPr>
          <a:xfrm>
            <a:off x="548640" y="4658411"/>
            <a:ext cx="531266" cy="531266"/>
          </a:xfrm>
          <a:prstGeom prst="ellipse">
            <a:avLst/>
          </a:prstGeom>
          <a:solidFill>
            <a:srgbClr val="1A5C2C"/>
          </a:solidFill>
          <a:ln w="12700">
            <a:solidFill>
              <a:srgbClr val="1A5C2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6" name="Image 4" descr="preencoded.png"/>
          <p:cNvPicPr>
            <a:picLocks noChangeAspect="1"/>
          </p:cNvPicPr>
          <p:nvPr/>
        </p:nvPicPr>
        <p:blipFill>
          <a:blip r:embed="rId7"/>
          <a:stretch>
            <a:fillRect/>
          </a:stretch>
        </p:blipFill>
        <p:spPr>
          <a:xfrm>
            <a:off x="681457" y="4791227"/>
            <a:ext cx="265633" cy="265633"/>
          </a:xfrm>
          <a:prstGeom prst="rect">
            <a:avLst/>
          </a:prstGeom>
        </p:spPr>
      </p:pic>
      <p:sp>
        <p:nvSpPr>
          <p:cNvPr id="17" name="Text 10"/>
          <p:cNvSpPr txBox="1"/>
          <p:nvPr/>
        </p:nvSpPr>
        <p:spPr>
          <a:xfrm>
            <a:off x="1399946" y="4544568"/>
            <a:ext cx="10240366" cy="7589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A5C2C"/>
                </a:solidFill>
                <a:effectLst/>
                <a:uLnTx/>
                <a:uFillTx/>
                <a:latin typeface="Cambria" pitchFamily="34" charset="0"/>
                <a:ea typeface="Cambria" pitchFamily="34" charset="-122"/>
                <a:cs typeface="Cambria" pitchFamily="34" charset="-120"/>
              </a:rPr>
              <a:t>Transparency  </a:t>
            </a:r>
            <a:r>
              <a:rPr kumimoji="0" lang="en-US" sz="2400" b="0" i="0" u="none" strike="noStrike" kern="1200" cap="none" spc="0" normalizeH="0" baseline="0" noProof="0" dirty="0">
                <a:ln>
                  <a:noFill/>
                </a:ln>
                <a:solidFill>
                  <a:srgbClr val="1F2A22"/>
                </a:solidFill>
                <a:effectLst/>
                <a:uLnTx/>
                <a:uFillTx/>
                <a:latin typeface="Calibri" pitchFamily="34" charset="0"/>
                <a:ea typeface="Calibri" pitchFamily="34" charset="-122"/>
                <a:cs typeface="Calibri" pitchFamily="34" charset="-120"/>
              </a:rPr>
              <a:t>Its results are visible to everyone the change affects.</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1"/>
          <p:cNvSpPr/>
          <p:nvPr/>
        </p:nvSpPr>
        <p:spPr>
          <a:xfrm>
            <a:off x="548640" y="5440680"/>
            <a:ext cx="11091672" cy="960120"/>
          </a:xfrm>
          <a:prstGeom prst="roundRect">
            <a:avLst>
              <a:gd name="adj" fmla="val 9524"/>
            </a:avLst>
          </a:prstGeom>
          <a:solidFill>
            <a:srgbClr val="0F3B1C"/>
          </a:solidFill>
          <a:ln w="12700">
            <a:solidFill>
              <a:srgbClr val="0F3B1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2"/>
          <p:cNvSpPr txBox="1"/>
          <p:nvPr/>
        </p:nvSpPr>
        <p:spPr>
          <a:xfrm>
            <a:off x="822960" y="5440680"/>
            <a:ext cx="10607040" cy="9601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First name your two highest-risk dimensions. Then state the behaviour that answers each risk.</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bg>
      <p:bgPr>
        <a:solidFill>
          <a:srgbClr val="0F3B1C"/>
        </a:solidFill>
        <a:effectLst/>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txBody>
          <a:bodyPr/>
          <a:lstStyle/>
          <a:p>
            <a:endParaRPr lang="en-ZA"/>
          </a:p>
        </p:txBody>
      </p:sp>
      <p:pic>
        <p:nvPicPr>
          <p:cNvPr id="3" name="Image 0" descr="preencoded.png"/>
          <p:cNvPicPr>
            <a:picLocks noChangeAspect="1"/>
          </p:cNvPicPr>
          <p:nvPr/>
        </p:nvPicPr>
        <p:blipFill>
          <a:blip r:embed="rId3"/>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marL="0" indent="0">
              <a:buNone/>
            </a:pPr>
            <a:r>
              <a:rPr lang="en-US" sz="2600" b="1" dirty="0">
                <a:solidFill>
                  <a:srgbClr val="C6A24C"/>
                </a:solidFill>
                <a:latin typeface="Calibri" pitchFamily="34" charset="0"/>
                <a:ea typeface="Calibri" pitchFamily="34" charset="-122"/>
                <a:cs typeface="Calibri" pitchFamily="34" charset="-120"/>
              </a:rPr>
              <a:t>Unit Summary · The closing question</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marL="0" indent="0">
              <a:buNone/>
            </a:pPr>
            <a:r>
              <a:rPr lang="en-US" sz="3600" i="1" dirty="0">
                <a:solidFill>
                  <a:srgbClr val="FFFFFF"/>
                </a:solidFill>
                <a:latin typeface="Cambria" pitchFamily="34" charset="0"/>
                <a:ea typeface="Cambria" pitchFamily="34" charset="-122"/>
                <a:cs typeface="Cambria" pitchFamily="34" charset="-120"/>
              </a:rPr>
              <a:t>Which ACE-IT behaviour in your record will be hardest for this leadership team to show, and what in the team’s OCEAVL profile makes it so?</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185</TotalTime>
  <Words>20905</Words>
  <Application>Microsoft Office PowerPoint</Application>
  <PresentationFormat>Widescreen</PresentationFormat>
  <Paragraphs>1729</Paragraphs>
  <Slides>35</Slides>
  <Notes>35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Aptos</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IBSL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5 · Aligning Heart &amp; Mind</dc:title>
  <dc:subject>PptxGenJS Presentation</dc:subject>
  <dc:creator>Institute of Behavioural Strategy &amp; Leadership</dc:creator>
  <cp:lastModifiedBy>Carol Lupiya</cp:lastModifiedBy>
  <cp:revision>3</cp:revision>
  <dcterms:created xsi:type="dcterms:W3CDTF">2026-10-08T18:35:59Z</dcterms:created>
  <dcterms:modified xsi:type="dcterms:W3CDTF">2026-10-09T12:29:32Z</dcterms:modified>
</cp:coreProperties>
</file>