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4" r:id="rId9"/>
    <p:sldId id="266" r:id="rId10"/>
    <p:sldId id="268" r:id="rId11"/>
    <p:sldId id="291" r:id="rId12"/>
    <p:sldId id="271" r:id="rId13"/>
    <p:sldId id="272" r:id="rId14"/>
    <p:sldId id="273" r:id="rId15"/>
    <p:sldId id="275" r:id="rId16"/>
    <p:sldId id="276" r:id="rId17"/>
    <p:sldId id="292" r:id="rId18"/>
    <p:sldId id="287" r:id="rId27"/>
    <p:sldId id="288" r:id="rId28"/>
    <p:sldId id="293" r:id="rId29"/>
    <p:sldId id="278" r:id="rId19"/>
    <p:sldId id="279" r:id="rId20"/>
    <p:sldId id="280" r:id="rId21"/>
    <p:sldId id="281" r:id="rId22"/>
    <p:sldId id="282" r:id="rId23"/>
    <p:sldId id="283" r:id="rId24"/>
    <p:sldId id="284" r:id="rId25"/>
    <p:sldId id="286" r:id="rId26"/>
    <p:sldId id="294" r:id="rId36"/>
    <p:sldId id="290"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2991" autoAdjust="0"/>
  </p:normalViewPr>
  <p:slideViewPr>
    <p:cSldViewPr snapToGrid="0" snapToObjects="1">
      <p:cViewPr varScale="1">
        <p:scale>
          <a:sx n="37" d="100"/>
          <a:sy n="37" d="100"/>
        </p:scale>
        <p:origin x="1574"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30.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14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UNIT 4 · DIRECTION INTEGRITY (ABCV-MBT)</a:t>
            </a:r>
          </a:p>
          <a:p>
            <a:r>
              <a:t>Module 2 · Direction · Unit 4</a:t>
            </a:r>
          </a:p>
          <a:p>
            <a:r>
              <a:t/>
            </a:r>
          </a:p>
          <a:p>
            <a:r>
              <a:rPr b="1"/>
              <a:t>UNIT INTENT</a:t>
            </a:r>
          </a:p>
          <a:p>
            <a:r>
              <a:t>Unit 4 tests whether the chosen direction is strategically sound. </a:t>
            </a:r>
          </a:p>
          <a:p>
            <a:r>
              <a:t>The four ABCV checkpoints (Arena, Boundaries, Competition and Value Proposition) and their Must-Be-True conditions turn assumptions into named, verifiable conditions.</a:t>
            </a:r>
          </a:p>
          <a:p>
            <a:r>
              <a:t/>
            </a:r>
          </a:p>
          <a:p>
            <a:r>
              <a:t>The Key Results tested are the ones the group confirmed in Unit 3: no new objective or metric enters the unit.</a:t>
            </a:r>
          </a:p>
          <a:p>
            <a:r>
              <a:t/>
            </a:r>
          </a:p>
          <a:p>
            <a:r>
              <a:rPr b="1"/>
              <a:t>WHAT THE UNIT PRODUCES:</a:t>
            </a:r>
          </a:p>
          <a:p>
            <a:r>
              <a:t>1. Each group produces its ABCV–MBT record: every Key Result it confirmed in Unit 3, taken through four steps, with one Must-Be-True condition named at each step. This is Capstone work.</a:t>
            </a:r>
          </a:p>
          <a:p>
            <a:r>
              <a:t>2. Each participant produces two pieces of portfolio work: the Industry Illusion game of Section 2 and the Cause of Death game of Section 4.</a:t>
            </a:r>
          </a:p>
          <a:p>
            <a:r>
              <a:rPr b="1"/>
              <a:t>3. Each participant writes four reflections, the last of them a closing commitment.</a:t>
            </a:r>
          </a:p>
          <a:p>
            <a:r>
              <a:t/>
            </a:r>
          </a:p>
          <a:p>
            <a:r>
              <a:rPr b="1"/>
              <a:t>HOW THE UNIT RUNS:</a:t>
            </a:r>
          </a:p>
          <a:p>
            <a:r>
              <a:t>1. You teach the whole unit from this deck first, from Section 1 to the Unit Summary. The deck is the teaching material. The teaching includes the Industry Illusion game, played with the room in groups.</a:t>
            </a:r>
          </a:p>
          <a:p>
            <a:r>
              <a:t>2. Participants then complete their own page on the portal, in the session or after it: the reflections, their own Industry Illusion game, the group work of Section 5 and the Cause of Death game.</a:t>
            </a:r>
          </a:p>
          <a:p>
            <a:r>
              <a:t>3. Section 5 on the portal is group work for the Capstone. The group chooses its scribe for this work.</a:t>
            </a:r>
          </a:p>
          <a:p>
            <a:r>
              <a:t>The scribe types what the group agrees, the entries appear on every member’s page, and each member then selects Agree.</a:t>
            </a:r>
          </a:p>
          <a:p>
            <a:r>
              <a:t>4. The Industry Illusion game in Section 2 and the Cause of Death game in Section 4 are portfolio work, completed by each participant alone.</a:t>
            </a:r>
          </a:p>
          <a:p>
            <a:r>
              <a:t/>
            </a:r>
          </a:p>
          <a:p>
            <a:r>
              <a:t>Each slide’s notes end with a block headed "On the portal, after the teaching" wherever participants have something to complete for that part.</a:t>
            </a:r>
          </a:p>
          <a:p>
            <a:r>
              <a:t/>
            </a:r>
          </a:p>
          <a:p>
            <a:r>
              <a:t>Your preparation as facilitator:</a:t>
            </a:r>
          </a:p>
          <a:p>
            <a:r>
              <a:t>- Read the Facilitator Guide tab and every section of the facilitator file.</a:t>
            </a:r>
          </a:p>
          <a:p>
            <a:r>
              <a:t>- Have the facilitator file ready in your browser at Section 2, part 2.2, so that the Industry Illusion game can be shared when you reach it.</a:t>
            </a:r>
          </a:p>
          <a:p>
            <a:r>
              <a:t>- Each group needs its confirmed Enterprise OKRs from Unit 3 in front of it: every exercise in this unit works on those Key Results.</a:t>
            </a:r>
          </a:p>
          <a:p>
            <a:r>
              <a:t/>
            </a:r>
          </a:p>
          <a:p>
            <a:r>
              <a:t>Where the outputs go next:</a:t>
            </a:r>
          </a:p>
          <a:p>
            <a:r>
              <a:t>- The confirmed Must-Be-True conditions feed boxes 4A to 4D of the team’s Capstone S2R® Blueprint; accountability assignment feeds 4E and the executive blind spot 4F.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KEY LEARNING OUTCOMES</a:t>
            </a:r>
          </a:p>
          <a:p>
            <a:endParaRPr lang="en-GB" dirty="0"/>
          </a:p>
          <a:p>
            <a:r>
              <a:rPr lang="en-GB" b="1" dirty="0"/>
              <a:t>HOW TO USE THIS SLIDE:</a:t>
            </a:r>
          </a:p>
          <a:p>
            <a:r>
              <a:rPr lang="en-GB" dirty="0"/>
              <a:t>Read the four outcomes aloud and say where the unit delivers each one.</a:t>
            </a:r>
          </a:p>
          <a:p>
            <a:pPr marL="171450" indent="-171450">
              <a:buFontTx/>
              <a:buChar char="-"/>
            </a:pPr>
            <a:r>
              <a:rPr lang="en-GB" dirty="0"/>
              <a:t>Outcome 1 is built in Section 1 (the four ABCV checkpoints) and produced in 5.2, where each group tests its own Key Results. </a:t>
            </a:r>
          </a:p>
          <a:p>
            <a:pPr marL="171450" indent="-171450">
              <a:buFontTx/>
              <a:buChar char="-"/>
            </a:pPr>
            <a:endParaRPr lang="en-GB" dirty="0"/>
          </a:p>
          <a:p>
            <a:pPr marL="171450" indent="-171450">
              <a:buFontTx/>
              <a:buChar char="-"/>
            </a:pPr>
            <a:r>
              <a:rPr lang="en-GB" dirty="0"/>
              <a:t>Outcome 2 is built at each checkpoint, where a Must-Be-True condition is named, and shown in 5.1 (the worked example: one Key Result, four steps, four conditions).</a:t>
            </a:r>
          </a:p>
          <a:p>
            <a:pPr marL="171450" indent="-171450">
              <a:buFontTx/>
              <a:buChar char="-"/>
            </a:pPr>
            <a:endParaRPr lang="en-GB" dirty="0"/>
          </a:p>
          <a:p>
            <a:pPr marL="171450" indent="-171450">
              <a:buFontTx/>
              <a:buChar char="-"/>
            </a:pPr>
            <a:r>
              <a:rPr lang="en-GB" dirty="0"/>
              <a:t>Outcome 3 is built in 1.3 and 1.4 (Competition and Value Proposition) and in Section 2 (the Industry Illusion).</a:t>
            </a:r>
          </a:p>
          <a:p>
            <a:pPr marL="171450" indent="-171450">
              <a:buFontTx/>
              <a:buChar char="-"/>
            </a:pPr>
            <a:endParaRPr lang="en-GB" dirty="0"/>
          </a:p>
          <a:p>
            <a:r>
              <a:rPr lang="en-GB" dirty="0"/>
              <a:t>- Outcome 4 is built in Section 3 (the blind spot of each executive role) and produced in 5.2, where the group confirms its conditions together.</a:t>
            </a:r>
          </a:p>
          <a:p>
            <a:endParaRPr lang="en-GB" dirty="0"/>
          </a:p>
          <a:p>
            <a:r>
              <a:rPr lang="en-GB" dirty="0"/>
              <a:t>Each section slide carries that section’s two learning outcomes.</a:t>
            </a:r>
          </a:p>
          <a:p>
            <a:endParaRPr lang="en-GB" dirty="0"/>
          </a:p>
          <a:p>
            <a:r>
              <a:rPr lang="en-GB" b="1" dirty="0"/>
              <a:t>QUESTION TO ASK:</a:t>
            </a:r>
          </a:p>
          <a:p>
            <a:r>
              <a:rPr lang="en-GB" dirty="0"/>
              <a:t>"What is your current strategy assuming about customers that nobody has verified?"</a:t>
            </a:r>
          </a:p>
          <a:p>
            <a:endParaRPr lang="en-GB" dirty="0"/>
          </a:p>
          <a:p>
            <a:r>
              <a:rPr lang="en-GB" dirty="0"/>
              <a:t>Take two or three answers. They tell you where the room expects the most from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FACILITATOR GUIDE · SESSION OVERVIEW</a:t>
            </a:r>
          </a:p>
          <a:p>
            <a:r>
              <a:t/>
            </a:r>
          </a:p>
          <a:p>
            <a:r>
              <a:rPr b="1"/>
              <a:t>HOW TO USE THIS SLIDE:</a:t>
            </a:r>
          </a:p>
          <a:p>
            <a:r>
              <a:rPr b="1"/>
              <a:t>1. Walk the five sections.</a:t>
            </a:r>
          </a:p>
          <a:p>
            <a:r>
              <a:t>Use the list below, one sentence for each section.</a:t>
            </a:r>
          </a:p>
          <a:p>
            <a:r>
              <a:t/>
            </a:r>
          </a:p>
          <a:p>
            <a:r>
              <a:rPr b="1"/>
              <a:t>2. Say how the sections fit together.</a:t>
            </a:r>
          </a:p>
          <a:p>
            <a:r>
              <a:rPr b="1"/>
              <a:t>Say:</a:t>
            </a:r>
            <a:r>
              <a:t> "Sections 1 to 3 prepare the thinking. Section 4 is a diagnosis game each of you plays alone. Section 5 is where your group tests its own Key Results for the Capstone."</a:t>
            </a:r>
          </a:p>
          <a:p>
            <a:r>
              <a:t/>
            </a:r>
          </a:p>
          <a:p>
            <a:r>
              <a:rPr b="1"/>
              <a:t>3. Say how the unit runs.</a:t>
            </a:r>
          </a:p>
          <a:p>
            <a:r>
              <a:rPr b="1"/>
              <a:t>Say:</a:t>
            </a:r>
            <a:r>
              <a:t> "I teach all five sections from this deck first. You then complete the unit on the portal, in the session or after it."</a:t>
            </a:r>
          </a:p>
          <a:p>
            <a:r>
              <a:t/>
            </a:r>
          </a:p>
          <a:p>
            <a:r>
              <a:rPr b="1"/>
              <a:t>4. Bridge to Section 1.</a:t>
            </a:r>
          </a:p>
          <a:p>
            <a:r>
              <a:rPr b="1"/>
              <a:t>Say:</a:t>
            </a:r>
            <a:r>
              <a:t> "We start with the four checkpoints."</a:t>
            </a:r>
          </a:p>
          <a:p>
            <a:r>
              <a:t/>
            </a:r>
          </a:p>
          <a:p>
            <a:r>
              <a:rPr b="1"/>
              <a:t>THE FIVE SECTIONS:</a:t>
            </a:r>
          </a:p>
          <a:p>
            <a:r>
              <a:t>- Section 1 · Awareness — What: four checkpoints that test whether measurable objectives are also strategically sound. The flow from Unit 3 to Unit 4, then Arena, Boundaries, Competition and Value Proposition one at a time, each with its Must-Be-True condition, then the four brought together.</a:t>
            </a:r>
          </a:p>
          <a:p>
            <a:r>
              <a:t>- Section 2 · Intelligence — Why: how a familiar industry definition narrows the range of options leaders examine. The Industry Illusion and its three traps (Familiarity, Exclusion, Complacency), then the Industry Illusion game on the case of a university.</a:t>
            </a:r>
          </a:p>
          <a:p>
            <a:r>
              <a:t>- Section 3 · Extrapolating — Where: the checkpoint each executive role is most likely to overlook, and why.</a:t>
            </a:r>
          </a:p>
          <a:p>
            <a:r>
              <a:t>- Section 4 · Integration — Collective: Cause of Death, matching realistic strategic failures to the checkpoint that would have prevented them.</a:t>
            </a:r>
          </a:p>
          <a:p>
            <a:r>
              <a:t>- Section 5 · Application — In Practice: one worked example, then each group stress-tests its Unit 3 Key Results on the four checkpoints. This is Capstone work: the confirmed outputs feed boxes 4A to 4F of the team's Capstone S2R® Blueprint.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1 · AWARENESS — WHAT</a:t>
            </a:r>
          </a:p>
          <a:p>
            <a:r>
              <a:t/>
            </a:r>
          </a:p>
          <a:p>
            <a:r>
              <a:rPr b="1"/>
              <a:t>HOW THIS SECTION RUNS:</a:t>
            </a:r>
          </a:p>
          <a:p>
            <a:r>
              <a:rPr b="1"/>
              <a:t>1. The overview: the flow from Unit 3 to Unit 4 and the logic of the four steps.</a:t>
            </a:r>
          </a:p>
          <a:p>
            <a:r>
              <a:t>2. 1.1 to 1.4: the four checkpoints, one at a time. Each has two slides: the checkpoint itself, then its Must-Be-True condition.</a:t>
            </a:r>
          </a:p>
          <a:p>
            <a:r>
              <a:rPr b="1"/>
              <a:t>3. Bringing ABCV Together: the integrated view.</a:t>
            </a:r>
          </a:p>
          <a:p>
            <a:r>
              <a:t>4. The Section 1 Reflections slide: the two reflections participants write on the portal after the teaching.</a:t>
            </a:r>
          </a:p>
          <a:p>
            <a:r>
              <a:t/>
            </a:r>
          </a:p>
          <a:p>
            <a:r>
              <a:rPr b="1"/>
              <a:t>SECTION LEARNING OUTCOMES:</a:t>
            </a:r>
          </a:p>
          <a:p>
            <a:r>
              <a:rPr b="1"/>
              <a:t>1. Assess whether measurable objectives are also strategically credible.</a:t>
            </a:r>
          </a:p>
          <a:p>
            <a:r>
              <a:rPr b="1"/>
              <a:t>2. Evaluate objectives against customer value, strategic boundaries and competitive realities.</a:t>
            </a:r>
          </a:p>
          <a:p>
            <a:r>
              <a:t/>
            </a:r>
          </a:p>
          <a:p>
            <a:r>
              <a:rPr b="1"/>
              <a:t>HOW TO OPEN THE SECTION:</a:t>
            </a:r>
          </a:p>
          <a:p>
            <a:r>
              <a:t/>
            </a:r>
          </a:p>
          <a:p>
            <a:r>
              <a:rPr b="1"/>
              <a:t>1. Open with the question that creates the need.</a:t>
            </a:r>
          </a:p>
          <a:p>
            <a:r>
              <a:rPr b="1"/>
              <a:t>Ask:</a:t>
            </a:r>
            <a:r>
              <a:t> "How many of you have experienced a well-crafted strategy that fell apart once execution started because of assumptions we hadn’t named until they broke?"</a:t>
            </a:r>
          </a:p>
          <a:p>
            <a:r>
              <a:t>Pause. Use the silence.</a:t>
            </a:r>
          </a:p>
          <a:p>
            <a:r>
              <a:t/>
            </a:r>
          </a:p>
          <a:p>
            <a:r>
              <a:rPr b="1"/>
              <a:t>2. Introduce ABCV–MBT.</a:t>
            </a:r>
          </a:p>
          <a:p>
            <a:r>
              <a:rPr b="1"/>
              <a:t>Say:</a:t>
            </a:r>
            <a:r>
              <a:t> "ABCV–MBT is the tool that names those invisible assumptions before they become expensive failures."</a:t>
            </a:r>
          </a:p>
          <a:p>
            <a:r>
              <a:t>Section intent: leaders must feel the danger of unnamed assumptions before they can value the discipline of naming them.</a:t>
            </a:r>
          </a:p>
          <a:p>
            <a:r>
              <a:t/>
            </a:r>
          </a:p>
          <a:p>
            <a:r>
              <a:rPr b="1"/>
              <a:t>3. Say what each group brings into the unit.</a:t>
            </a:r>
          </a:p>
          <a:p>
            <a:r>
              <a:rPr b="1"/>
              <a:t>Say:</a:t>
            </a:r>
            <a:r>
              <a:t> "You arrive with the Enterprise OKRs your group confirmed in Unit 3. Every exercise in this unit works on those Key Results."</a:t>
            </a:r>
          </a:p>
          <a:p>
            <a:r>
              <a:t/>
            </a:r>
          </a:p>
          <a:p>
            <a:r>
              <a:rPr b="1"/>
              <a:t>4. Bridge to the overview.</a:t>
            </a:r>
          </a:p>
          <a:p>
            <a:r>
              <a:rPr b="1"/>
              <a:t>Say:</a:t>
            </a:r>
            <a:r>
              <a:t> "First, the problem with well-written OKRs."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OVERVIEW — FROM UNIT 3 TO UNIT 4 (STRATEGIC CONTEXT)</a:t>
            </a:r>
          </a:p>
          <a:p>
            <a:r>
              <a:t/>
            </a:r>
          </a:p>
          <a:p>
            <a:r>
              <a:rPr b="1"/>
              <a:t>HOW TO TEACH IT:</a:t>
            </a:r>
          </a:p>
          <a:p>
            <a:r>
              <a:t/>
            </a:r>
          </a:p>
          <a:p>
            <a:r>
              <a:rPr b="1"/>
              <a:t>1. Read the statement on the slide aloud.</a:t>
            </a:r>
          </a:p>
          <a:p>
            <a:r>
              <a:t>"Your group has defined its OKRs. Now the question is whether they are strategically sound."</a:t>
            </a:r>
          </a:p>
          <a:p>
            <a:r>
              <a:t/>
            </a:r>
          </a:p>
          <a:p>
            <a:r>
              <a:rPr b="1"/>
              <a:t>2. Say where the room stands.</a:t>
            </a:r>
          </a:p>
          <a:p>
            <a:r>
              <a:rPr b="1"/>
              <a:t>Say:</a:t>
            </a:r>
            <a:r>
              <a:t> "In Unit 3 your group translated its Success in Practice into Enterprise OKRs.</a:t>
            </a:r>
          </a:p>
          <a:p>
            <a:r>
              <a:t>They are measurable, they are ambitious and they have deadlines.</a:t>
            </a:r>
          </a:p>
          <a:p>
            <a:r>
              <a:t>The next step is to move past well-written OKRs and ask whether they are strategically sound."</a:t>
            </a:r>
          </a:p>
          <a:p>
            <a:r>
              <a:t/>
            </a:r>
          </a:p>
          <a:p>
            <a:r>
              <a:rPr b="1"/>
              <a:t>3. Ask for the room's experience.</a:t>
            </a:r>
          </a:p>
          <a:p>
            <a:r>
              <a:rPr b="1"/>
              <a:t>Ask:</a:t>
            </a:r>
            <a:r>
              <a:t> "Think of a goal that failed in your organisation. Was it a lack of effort, or was there an assumption that turned out to be wrong, one you didn't name until it broke?"</a:t>
            </a:r>
          </a:p>
          <a:p>
            <a:r>
              <a:t>Take two or three answers.</a:t>
            </a:r>
          </a:p>
          <a:p>
            <a:r>
              <a:rPr b="1"/>
              <a:t>Say:</a:t>
            </a:r>
            <a:r>
              <a:t> "Most strategies fail from unnamed conditions. The cost of discovering those conditions during execution is far higher than naming them now."</a:t>
            </a:r>
          </a:p>
          <a:p>
            <a:r>
              <a:t/>
            </a:r>
          </a:p>
          <a:p>
            <a:r>
              <a:rPr b="1"/>
              <a:t>4. Tell the GPS story: perfect execution, wrong assumptions.</a:t>
            </a:r>
          </a:p>
          <a:p>
            <a:r>
              <a:rPr b="1"/>
              <a:t>Say:</a:t>
            </a:r>
            <a:r>
              <a:t/>
            </a:r>
          </a:p>
          <a:p>
            <a:r>
              <a:t>"Have you ever followed your GPS so faithfully that even when the road starts looking suspicious, you keep driving?</a:t>
            </a:r>
          </a:p>
          <a:p>
            <a:r>
              <a:t>The road gets narrower. The tar disappears. You pass a few goats.</a:t>
            </a:r>
          </a:p>
          <a:p>
            <a:r>
              <a:t/>
            </a:r>
          </a:p>
          <a:p>
            <a:r>
              <a:t>But the GPS confidently announces, 'You are on the fastest route.'</a:t>
            </a:r>
          </a:p>
          <a:p>
            <a:r>
              <a:t>And because we're committed to the destination, we keep going!</a:t>
            </a:r>
          </a:p>
          <a:p>
            <a:r>
              <a:t>Eventually, you arrive at a locked farm gate.</a:t>
            </a:r>
          </a:p>
          <a:p>
            <a:r>
              <a:t/>
            </a:r>
          </a:p>
          <a:p>
            <a:r>
              <a:t>Congratulations! You have executed the instructions perfectly. You are also completely lost."</a:t>
            </a:r>
          </a:p>
          <a:p>
            <a:r>
              <a:t>(Pause for laughter.)</a:t>
            </a:r>
          </a:p>
          <a:p>
            <a:r>
              <a:t/>
            </a:r>
          </a:p>
          <a:p>
            <a:r>
              <a:t>"That's the danger with strategy.</a:t>
            </a:r>
          </a:p>
          <a:p>
            <a:r>
              <a:t/>
            </a:r>
          </a:p>
          <a:p>
            <a:r>
              <a:t>Your OKRs can be perfectly written.</a:t>
            </a:r>
          </a:p>
          <a:p>
            <a:r>
              <a:t> Your targets can be measurable. Your deadlines can be clear. </a:t>
            </a:r>
          </a:p>
          <a:p>
            <a:r>
              <a:t>Everyone can be accountable.</a:t>
            </a:r>
          </a:p>
          <a:p>
            <a:r>
              <a:t>But what if the assumptions behind your chosen route are wrong?</a:t>
            </a:r>
          </a:p>
          <a:p>
            <a:r>
              <a:t>You can achieve every milestone on the way to the wrong outcome."</a:t>
            </a:r>
          </a:p>
          <a:p>
            <a:r>
              <a:t/>
            </a:r>
          </a:p>
          <a:p>
            <a:r>
              <a:rPr b="1"/>
              <a:t>5. Bridge to the four checkpoints.</a:t>
            </a:r>
          </a:p>
          <a:p>
            <a:r>
              <a:rPr b="1"/>
              <a:t>Say:</a:t>
            </a:r>
            <a:r>
              <a:t> "Unit 3 gave us the destination and the milestones.</a:t>
            </a:r>
          </a:p>
          <a:p>
            <a:r>
              <a:t>In Unit 4, ABCV helps us interrogate the strategic context before we commit to the route.</a:t>
            </a:r>
          </a:p>
          <a:p>
            <a:r>
              <a:t>Because sometimes the smartest strategic decision is to question the GPS before we run out of petrol."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OVERVIEW — THE LOGIC (4 STEPS · 1 CONDITION AT EACH)</a:t>
            </a:r>
          </a:p>
          <a:p>
            <a:endParaRPr lang="en-GB" dirty="0"/>
          </a:p>
          <a:p>
            <a:r>
              <a:rPr lang="en-GB" b="1" dirty="0"/>
              <a:t>HOW TO TEACH IT:</a:t>
            </a:r>
          </a:p>
          <a:p>
            <a:endParaRPr lang="en-GB" dirty="0"/>
          </a:p>
          <a:p>
            <a:r>
              <a:rPr lang="en-GB" b="1" dirty="0"/>
              <a:t>1. Walk the four steps on the slide.</a:t>
            </a:r>
          </a:p>
          <a:p>
            <a:r>
              <a:rPr lang="en-GB" dirty="0"/>
              <a:t>Say: "ABCV forces leaders to examine the strategic logic through four checkpoints."</a:t>
            </a:r>
          </a:p>
          <a:p>
            <a:r>
              <a:rPr lang="en-GB" dirty="0"/>
              <a:t>- Checkpoint 1 · Define the Arena. Are we anchored in the right customer end game?</a:t>
            </a:r>
          </a:p>
          <a:p>
            <a:r>
              <a:rPr lang="en-GB" dirty="0"/>
              <a:t>- Checkpoint 2 · Understand the Boundaries. What conditions could constrain our ability to deliver?</a:t>
            </a:r>
          </a:p>
          <a:p>
            <a:r>
              <a:rPr lang="en-GB" dirty="0"/>
              <a:t>- Checkpoint 3 · See the Competition. Who or what else can satisfy that end game?</a:t>
            </a:r>
          </a:p>
          <a:p>
            <a:r>
              <a:rPr lang="en-GB" dirty="0"/>
              <a:t>- Checkpoint 4 · Establish the Value Proposition. Why should the customer choose the value we create?</a:t>
            </a:r>
          </a:p>
          <a:p>
            <a:endParaRPr lang="en-GB" dirty="0"/>
          </a:p>
          <a:p>
            <a:r>
              <a:rPr lang="en-GB" b="1" dirty="0"/>
              <a:t>2. Introduce Must-Be-True, from the foot of the slide.</a:t>
            </a:r>
          </a:p>
          <a:p>
            <a:r>
              <a:rPr lang="en-GB" dirty="0"/>
              <a:t>Say: "For each checkpoint, there has to be an underlying assumption that hold true if we are to achieve our Key results. Must-Be-True, makes the underlying assumption explicit.</a:t>
            </a:r>
          </a:p>
          <a:p>
            <a:r>
              <a:rPr lang="en-GB" dirty="0"/>
              <a:t>It names the load-bearing walls of the goals: the specific condition that must remain true for a Key Result to survive.</a:t>
            </a:r>
          </a:p>
          <a:p>
            <a:r>
              <a:rPr lang="en-GB" dirty="0"/>
              <a:t>If one of these conditions shifts or fails, the Key Result becomes fragile by design."</a:t>
            </a:r>
          </a:p>
          <a:p>
            <a:endParaRPr lang="en-GB" dirty="0"/>
          </a:p>
          <a:p>
            <a:r>
              <a:rPr lang="en-GB" b="1" dirty="0"/>
              <a:t>3. Show the flow from Unit 3 to Unit 4.</a:t>
            </a:r>
          </a:p>
          <a:p>
            <a:r>
              <a:rPr lang="en-GB" b="1" dirty="0"/>
              <a:t>Say</a:t>
            </a:r>
            <a:r>
              <a:rPr lang="en-GB" dirty="0"/>
              <a:t> the three stages in order:</a:t>
            </a:r>
          </a:p>
          <a:p>
            <a:r>
              <a:rPr lang="en-GB" dirty="0"/>
              <a:t>- From Unit 3: the group’s Enterprise OKRs, the Objectives and Key Results it confirmed.</a:t>
            </a:r>
          </a:p>
          <a:p>
            <a:r>
              <a:rPr lang="en-GB" dirty="0"/>
              <a:t>- Four checkpoints: Arena, Boundaries, Competition, Value Proposition.</a:t>
            </a:r>
          </a:p>
          <a:p>
            <a:r>
              <a:rPr lang="en-GB" dirty="0"/>
              <a:t>- Must-Be-True conditions: one at each checkpoint, for each Key Result.</a:t>
            </a:r>
          </a:p>
          <a:p>
            <a:endParaRPr lang="en-GB" b="1" dirty="0"/>
          </a:p>
          <a:p>
            <a:r>
              <a:rPr lang="en-GB" b="1" dirty="0"/>
              <a:t>Say</a:t>
            </a:r>
            <a:r>
              <a:rPr lang="en-GB" dirty="0"/>
              <a:t>: "No new objective and no new measure enters this unit. We test the Key Results you already hold."</a:t>
            </a:r>
          </a:p>
          <a:p>
            <a:endParaRPr lang="en-GB" dirty="0"/>
          </a:p>
          <a:p>
            <a:r>
              <a:rPr lang="en-GB" b="1" dirty="0"/>
              <a:t>4. Say what the test secures.</a:t>
            </a:r>
          </a:p>
          <a:p>
            <a:r>
              <a:rPr lang="en-GB" b="1" dirty="0"/>
              <a:t>Say: </a:t>
            </a:r>
            <a:r>
              <a:rPr lang="en-GB" dirty="0"/>
              <a:t>"The test secures strategic priorities that are anchored in customer reality, designed to withstand operational constraints, positioned accurately against the competitive landscape, and coherent with the organisation’s core value.“</a:t>
            </a:r>
          </a:p>
          <a:p>
            <a:endParaRPr lang="en-GB" dirty="0"/>
          </a:p>
          <a:p>
            <a:r>
              <a:rPr lang="en-GB" b="1" dirty="0"/>
              <a:t>Say: </a:t>
            </a:r>
            <a:r>
              <a:rPr lang="en-GB" dirty="0"/>
              <a:t>"By naming these conditions early, you create an early-warning system that detects risks before a well-written ambition collapses under the weight of reality."</a:t>
            </a:r>
          </a:p>
          <a:p>
            <a:endParaRPr lang="en-GB" dirty="0"/>
          </a:p>
          <a:p>
            <a:r>
              <a:rPr lang="en-GB" b="1" dirty="0"/>
              <a:t>5. Bridge to 1.1.</a:t>
            </a:r>
          </a:p>
          <a:p>
            <a:r>
              <a:rPr lang="en-GB" dirty="0"/>
              <a:t>Say: "We take the four checkpoints one at a time. We start with Arena."</a:t>
            </a:r>
          </a:p>
          <a:p>
            <a:endParaRPr lang="en-GB" dirty="0"/>
          </a:p>
          <a:p>
            <a:r>
              <a:rPr lang="en-GB" b="1" dirty="0"/>
              <a:t>ON THE PORTAL, AFTER THE TEACHING:</a:t>
            </a:r>
          </a:p>
          <a:p>
            <a:r>
              <a:rPr lang="en-GB" dirty="0"/>
              <a:t>Participants write the first reflection in Section 1 of the participant file, under the overview. It is shown on the Section 1 Reflections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1.1 — ARENA (CUSTOMER END GAME)</a:t>
            </a:r>
          </a:p>
          <a:p>
            <a:r>
              <a:t/>
            </a:r>
          </a:p>
          <a:p>
            <a:r>
              <a:rPr b="1"/>
              <a:t>HOW TO TEACH IT:</a:t>
            </a:r>
          </a:p>
          <a:p>
            <a:r>
              <a:t/>
            </a:r>
          </a:p>
          <a:p>
            <a:r>
              <a:rPr b="1"/>
              <a:t>1. Read the question of the checkpoint.</a:t>
            </a:r>
          </a:p>
          <a:p>
            <a:r>
              <a:t>"What is the customer ultimately trying to achieve?"</a:t>
            </a:r>
          </a:p>
          <a:p>
            <a:r>
              <a:t/>
            </a:r>
          </a:p>
          <a:p>
            <a:r>
              <a:rPr b="1"/>
              <a:t>2. Give the strategic logic.</a:t>
            </a:r>
          </a:p>
          <a:p>
            <a:r>
              <a:rPr b="1"/>
              <a:t>Say:</a:t>
            </a:r>
            <a:r>
              <a:t> "Strategy starts with a shift in perspective: we compete for a customer need.</a:t>
            </a:r>
          </a:p>
          <a:p>
            <a:r>
              <a:t>If we define our arena by our products, we miss the forest for the trees."</a:t>
            </a:r>
          </a:p>
          <a:p>
            <a:r>
              <a:t/>
            </a:r>
          </a:p>
          <a:p>
            <a:r>
              <a:rPr b="1"/>
              <a:t>Say:</a:t>
            </a:r>
            <a:r>
              <a:t> "Arena defines the space in which value is being sought and contested."</a:t>
            </a:r>
          </a:p>
          <a:p>
            <a:r>
              <a:t/>
            </a:r>
          </a:p>
          <a:p>
            <a:r>
              <a:rPr b="1"/>
              <a:t>Say:</a:t>
            </a:r>
            <a:r>
              <a:t> "Organisations naturally describe themselves through what they produce or the industry in which they operate: </a:t>
            </a:r>
          </a:p>
          <a:p>
            <a:r>
              <a:t>we are a university, </a:t>
            </a:r>
          </a:p>
          <a:p>
            <a:r>
              <a:t>we are a bank, </a:t>
            </a:r>
          </a:p>
          <a:p>
            <a:r>
              <a:t>we are a mine, </a:t>
            </a:r>
          </a:p>
          <a:p>
            <a:r>
              <a:t>we provide insurance.</a:t>
            </a:r>
          </a:p>
          <a:p>
            <a:r>
              <a:t>Those descriptions tell us something important about the organisation.</a:t>
            </a:r>
          </a:p>
          <a:p>
            <a:r>
              <a:t>They do not necessarily tell us what customer need the organisation is ultimately trying to meet."</a:t>
            </a:r>
          </a:p>
          <a:p>
            <a:r>
              <a:t/>
            </a:r>
          </a:p>
          <a:p>
            <a:r>
              <a:rPr b="1"/>
              <a:t>3. Use the smartphone.</a:t>
            </a:r>
          </a:p>
          <a:p>
            <a:r>
              <a:rPr b="1"/>
              <a:t>Say:</a:t>
            </a:r>
            <a:r>
              <a:t> "Think about the smartphone.</a:t>
            </a:r>
          </a:p>
          <a:p>
            <a:r>
              <a:t>Inside the telecommunications industry, Nokia and Motorola were making phones.</a:t>
            </a:r>
          </a:p>
          <a:p>
            <a:r>
              <a:t>The smartphone became a camera, a map, a bank and a personal assistant.</a:t>
            </a:r>
          </a:p>
          <a:p>
            <a:r>
              <a:t>It moved into multiple Arenas simultaneously."</a:t>
            </a:r>
          </a:p>
          <a:p>
            <a:r>
              <a:t/>
            </a:r>
          </a:p>
          <a:p>
            <a:r>
              <a:rPr b="1"/>
              <a:t>Ask:</a:t>
            </a:r>
            <a:r>
              <a:t> "Who in your industry is playing a different game that you’re only just starting to notice?"</a:t>
            </a:r>
          </a:p>
          <a:p>
            <a:r>
              <a:t/>
            </a:r>
          </a:p>
          <a:p>
            <a:r>
              <a:rPr b="1"/>
              <a:t>Deepen, say:</a:t>
            </a:r>
            <a:r>
              <a:t> "Every organisation exists to do something specific for someone specific.</a:t>
            </a:r>
          </a:p>
          <a:p>
            <a:r>
              <a:t>When it loses its sense of who it serves and what it provides, it loses the culture built around that service.</a:t>
            </a:r>
          </a:p>
          <a:p>
            <a:r>
              <a:t>Keep the specific customer and mission visible."</a:t>
            </a:r>
          </a:p>
          <a:p>
            <a:r>
              <a:t>(Insight: Arena · who we serve. Source: Journal, 31 January 2026 — Professional Insights: Culture)</a:t>
            </a:r>
          </a:p>
          <a:p>
            <a:r>
              <a:t/>
            </a:r>
          </a:p>
          <a:p>
            <a:r>
              <a:rPr b="1"/>
              <a:t>4. Teach the three depths on the slide, one at a time.</a:t>
            </a:r>
          </a:p>
          <a:p>
            <a:r>
              <a:rPr b="1"/>
              <a:t>Say:</a:t>
            </a:r>
            <a:r>
              <a:t> "Arena deliberately returns attention to the Customer End Game. To understand that end game properly, we interrogate it at three depths."</a:t>
            </a:r>
          </a:p>
          <a:p>
            <a:r>
              <a:t/>
            </a:r>
          </a:p>
          <a:p>
            <a:r>
              <a:t>Functional — What are they trying to achieve?</a:t>
            </a:r>
          </a:p>
          <a:p>
            <a:r>
              <a:rPr b="1"/>
              <a:t>Ask:</a:t>
            </a:r>
            <a:r>
              <a:t> "What needs to get done, solved, accessed, changed or achieved?"</a:t>
            </a:r>
          </a:p>
          <a:p>
            <a:r>
              <a:t>Example: A learner wants to develop relevant capability.</a:t>
            </a:r>
          </a:p>
          <a:p>
            <a:r>
              <a:t/>
            </a:r>
          </a:p>
          <a:p>
            <a:r>
              <a:t>Experiential — What matters about how they achieve it?</a:t>
            </a:r>
          </a:p>
          <a:p>
            <a:r>
              <a:rPr b="1"/>
              <a:t>Ask:</a:t>
            </a:r>
            <a:r>
              <a:t> "What matters to the customer about the experience of achieving the functional outcome?"</a:t>
            </a:r>
          </a:p>
          <a:p>
            <a:r>
              <a:t>Example: For a working professional, developing capability may need to be flexible, accessible and compatible with employment.</a:t>
            </a:r>
          </a:p>
          <a:p>
            <a:r>
              <a:t/>
            </a:r>
          </a:p>
          <a:p>
            <a:r>
              <a:t>Consequential — What does achieving it ultimately enable?</a:t>
            </a:r>
          </a:p>
          <a:p>
            <a:r>
              <a:rPr b="1"/>
              <a:t>Ask:</a:t>
            </a:r>
            <a:r>
              <a:t> "What becomes possible, better or different for the customer once this outcome has been achieved?"</a:t>
            </a:r>
          </a:p>
          <a:p>
            <a:r>
              <a:t>Example: A learner develops capability → to progress professionally, access opportunity or improve earning potential.</a:t>
            </a:r>
          </a:p>
          <a:p>
            <a:r>
              <a:t/>
            </a:r>
          </a:p>
          <a:p>
            <a:r>
              <a:rPr b="1"/>
              <a:t>5. Read the three together.</a:t>
            </a:r>
          </a:p>
          <a:p>
            <a:r>
              <a:rPr b="1"/>
              <a:t>Say:</a:t>
            </a:r>
            <a:r>
              <a:t> "These are three depths of one interrogation. Together, they help define the Customer End Game."</a:t>
            </a:r>
          </a:p>
          <a:p>
            <a:r>
              <a:t/>
            </a:r>
          </a:p>
          <a:p>
            <a:r>
              <a:t/>
            </a:r>
          </a:p>
          <a:p>
            <a:r>
              <a:rPr b="1"/>
              <a:t>EXAMPLE</a:t>
            </a:r>
          </a:p>
          <a:p>
            <a:r>
              <a:t>Higher education.</a:t>
            </a:r>
          </a:p>
          <a:p>
            <a:r>
              <a:t>Functional: Build relevant and credible capability.</a:t>
            </a:r>
          </a:p>
          <a:p>
            <a:r>
              <a:t>Experiential: Do so through learning that is flexible, accessible and compatible with work.</a:t>
            </a:r>
          </a:p>
          <a:p>
            <a:r>
              <a:t>Consequential: Translate that capability into career progression and economic opportunity.</a:t>
            </a:r>
          </a:p>
          <a:p>
            <a:r>
              <a:t/>
            </a:r>
          </a:p>
          <a:p>
            <a:r>
              <a:t>The Arena can therefore be expressed as: Enabling working professionals to build credible capability, in ways compatible with their working lives, that advances career and economic opportunity.</a:t>
            </a:r>
          </a:p>
          <a:p>
            <a:r>
              <a:t/>
            </a:r>
          </a:p>
          <a:p>
            <a:r>
              <a:t>The organisation now has a much richer strategic space to interrogate than “We provide postgraduate education.”</a:t>
            </a:r>
          </a:p>
          <a:p>
            <a:r>
              <a:t/>
            </a:r>
          </a:p>
          <a:p>
            <a:r>
              <a:rPr b="1"/>
              <a:t>6. Name the Arena Must-Be-True.</a:t>
            </a:r>
          </a:p>
          <a:p>
            <a:r>
              <a:rPr b="1"/>
              <a:t>Ask:</a:t>
            </a:r>
            <a:r>
              <a:t> "What must remain true about customer need, behaviour or demand for this Arena to remain strategically relevant?"</a:t>
            </a:r>
          </a:p>
          <a:p>
            <a:r>
              <a:rPr b="1"/>
              <a:t>Say:</a:t>
            </a:r>
            <a:r>
              <a:t> "For that statement to hold, we are making an assumption we must monitor: working professionals must continue to value externally validated capability strongly enough to invest time and money in acquiring it.</a:t>
            </a:r>
          </a:p>
          <a:p>
            <a:r>
              <a:t>That is an assumption leadership can now monitor."</a:t>
            </a:r>
          </a:p>
          <a:p>
            <a:r>
              <a:t/>
            </a:r>
          </a:p>
          <a:p>
            <a:r>
              <a:rPr b="1"/>
              <a:t>7. Ask the room to apply the three depths.</a:t>
            </a:r>
          </a:p>
          <a:p>
            <a:r>
              <a:t>Ask leaders to apply the three depths to their primary customer. Online: ask them to post one line for each depth in the chat.</a:t>
            </a:r>
          </a:p>
          <a:p>
            <a:r>
              <a:rPr b="1"/>
              <a:t>Listen for:</a:t>
            </a:r>
            <a:r>
              <a:t> the experiential and consequential depths. Most leaders find these are rarely discussed in their strategy sessions. That is the blind spot.</a:t>
            </a:r>
          </a:p>
          <a:p>
            <a:r>
              <a:t/>
            </a:r>
          </a:p>
          <a:p>
            <a:r>
              <a:rPr b="1"/>
              <a:t>8. Land the line at the foot of the slide.</a:t>
            </a:r>
          </a:p>
          <a:p>
            <a:r>
              <a:rPr b="1"/>
              <a:t>Read it in full:</a:t>
            </a:r>
            <a:r>
              <a:t> "The Industry tells you who you think you are competing with. The Arena tells you who you are actually competing with."</a:t>
            </a:r>
          </a:p>
          <a:p>
            <a:r>
              <a:t/>
            </a:r>
          </a:p>
          <a:p>
            <a:r>
              <a:rPr b="1"/>
              <a:t>9. Apply it to a Key Result.</a:t>
            </a:r>
          </a:p>
          <a:p>
            <a:r>
              <a:t>Take one of the Key Results a group confirmed in Unit 3.</a:t>
            </a:r>
          </a:p>
          <a:p>
            <a:r>
              <a:rPr b="1"/>
              <a:t>Ask:</a:t>
            </a:r>
            <a:r>
              <a:t> "Which part of the Customer End Game does this Key Result serve: the functional outcome, the experience of achieving it, or what achieving it enables?"</a:t>
            </a:r>
          </a:p>
          <a:p>
            <a:r>
              <a:rPr b="1"/>
              <a:t>Then ask:</a:t>
            </a:r>
            <a:r>
              <a:t> "What must remain true about that functional, experiential or consequential need for this Key Result to stay relevant?"</a:t>
            </a:r>
          </a:p>
          <a:p>
            <a:r>
              <a:t>Hold out for a condition that is either true or false, and ask which depth it rests on.</a:t>
            </a:r>
          </a:p>
          <a:p>
            <a:r>
              <a:t>Read the two examples from the Unit 3 worked example:</a:t>
            </a:r>
          </a:p>
          <a:p>
            <a:r>
              <a:t>- Reduce average response time to customer requests from 12 hours to 4 hours by 30 June 2027: Experiential. Clients continue to rank speed of response among their top three reasons for choosing a service partner.</a:t>
            </a:r>
          </a:p>
          <a:p>
            <a:r>
              <a:t>- Improve operating margin from 14% to 18% by 31 December 2027: Consequential. Fast, consistent service continues to protect clients’ own operations, so they keep paying current price levels for it.</a:t>
            </a:r>
          </a:p>
          <a:p>
            <a:r>
              <a:rPr b="1"/>
              <a:t>Say:</a:t>
            </a:r>
            <a:r>
              <a:t> "The same two Key Results run through all four checkpoints."</a:t>
            </a:r>
          </a:p>
          <a:p>
            <a:r>
              <a:t/>
            </a:r>
          </a:p>
          <a:p>
            <a:r>
              <a:rPr b="1"/>
              <a:t>10. Bridge to 1.2.</a:t>
            </a:r>
          </a:p>
          <a:p>
            <a:r>
              <a:rPr b="1"/>
              <a:t>Say:</a:t>
            </a:r>
            <a:r>
              <a:t> "Defining the right Arena is the first test. The organisation must also be able to deliver within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1.2 — BOUNDARIES (FRICTION ARCHITECTURE)</a:t>
            </a:r>
          </a:p>
          <a:p>
            <a:r>
              <a:t/>
            </a:r>
          </a:p>
          <a:p>
            <a:r>
              <a:rPr b="1"/>
              <a:t>HOW TO TEACH IT:</a:t>
            </a:r>
          </a:p>
          <a:p>
            <a:r>
              <a:t/>
            </a:r>
          </a:p>
          <a:p>
            <a:r>
              <a:rPr b="1"/>
              <a:t>1. Read the question of the checkpoint.</a:t>
            </a:r>
          </a:p>
          <a:p>
            <a:r>
              <a:t>"What could constrain our ability to deliver within this Arena?"</a:t>
            </a:r>
          </a:p>
          <a:p>
            <a:r>
              <a:t/>
            </a:r>
          </a:p>
          <a:p>
            <a:r>
              <a:rPr b="1"/>
              <a:t>2. Give the strategic logic.</a:t>
            </a:r>
          </a:p>
          <a:p>
            <a:r>
              <a:rPr b="1"/>
              <a:t>Say:</a:t>
            </a:r>
            <a:r>
              <a:t> "Every arena has invisible walls: operational limits, regulations, or simple human resistance to change. A strategy that ignores friction is a wish."</a:t>
            </a:r>
          </a:p>
          <a:p>
            <a:r>
              <a:rPr b="1"/>
              <a:t>Say:</a:t>
            </a:r>
            <a:r>
              <a:t> "Every strategic choice operates within conditions that enable, restrict or shape what can actually be delivered. These are Boundaries."</a:t>
            </a:r>
          </a:p>
          <a:p>
            <a:r>
              <a:t>Key message: defining the right Arena is only the first test. The organisation must also be able to deliver within it.</a:t>
            </a:r>
          </a:p>
          <a:p>
            <a:r>
              <a:t/>
            </a:r>
          </a:p>
          <a:p>
            <a:r>
              <a:rPr b="1"/>
              <a:t>3. Walk the six kinds of boundary on the slide.</a:t>
            </a:r>
          </a:p>
          <a:p>
            <a:r>
              <a:t>- Regulatory: laws, licences, standards, accreditation.</a:t>
            </a:r>
          </a:p>
          <a:p>
            <a:r>
              <a:t>- Operational: processes, infrastructure, capacity, supply chains.</a:t>
            </a:r>
          </a:p>
          <a:p>
            <a:r>
              <a:t>- Technological: systems, data, interoperability, technical capability.</a:t>
            </a:r>
          </a:p>
          <a:p>
            <a:r>
              <a:t>- Structural: governance, decision rights, organisational dependencies.</a:t>
            </a:r>
          </a:p>
          <a:p>
            <a:r>
              <a:t>- Financial: capital, affordability, economics, funding.</a:t>
            </a:r>
          </a:p>
          <a:p>
            <a:r>
              <a:t>- Behavioural: capability, incentives, resistance, habits, adoption.</a:t>
            </a:r>
          </a:p>
          <a:p>
            <a:r>
              <a:rPr b="1"/>
              <a:t>Say:</a:t>
            </a:r>
            <a:r>
              <a:t> "The purpose is to find the boundaries material enough to affect the strategic outcome. A long risk register is of no use here."</a:t>
            </a:r>
          </a:p>
          <a:p>
            <a:r>
              <a:t/>
            </a:r>
          </a:p>
          <a:p>
            <a:r>
              <a:rPr b="1"/>
              <a:t>4. Give the example.</a:t>
            </a:r>
          </a:p>
          <a:p>
            <a:r>
              <a:t/>
            </a:r>
          </a:p>
          <a:p>
            <a:r>
              <a:rPr b="1"/>
              <a:t>EXAMPLE</a:t>
            </a:r>
          </a:p>
          <a:p>
            <a:r>
              <a:t>Higher education. The university’s Arena requires flexible capability development for working professionals. But:</a:t>
            </a:r>
          </a:p>
          <a:p>
            <a:r>
              <a:t>- Programme approvals take 12 months.</a:t>
            </a:r>
          </a:p>
          <a:p>
            <a:r>
              <a:t>- Faculty contracts are designed around semesters.</a:t>
            </a:r>
          </a:p>
          <a:p>
            <a:r>
              <a:t>- Systems require fixed annual enrolment periods.</a:t>
            </a:r>
          </a:p>
          <a:p>
            <a:r>
              <a:t>- Accreditation limits how credentials can be structured.</a:t>
            </a:r>
          </a:p>
          <a:p>
            <a:r>
              <a:t>These conditions reveal the friction architecture surrounding the Arena. The Arena itself still stands.</a:t>
            </a:r>
          </a:p>
          <a:p>
            <a:r>
              <a:t/>
            </a:r>
          </a:p>
          <a:p>
            <a:r>
              <a:rPr b="1"/>
              <a:t>5. Ask the strategic question.</a:t>
            </a:r>
          </a:p>
          <a:p>
            <a:r>
              <a:rPr b="1"/>
              <a:t>Ask:</a:t>
            </a:r>
            <a:r>
              <a:t> "Which conditions could materially slow, restrict or prevent us from delivering the customer end game we have defined?"</a:t>
            </a:r>
          </a:p>
          <a:p>
            <a:r>
              <a:t/>
            </a:r>
          </a:p>
          <a:p>
            <a:r>
              <a:rPr b="1"/>
              <a:t>Deepen, say:</a:t>
            </a:r>
            <a:r>
              <a:t> "Senior teams often act on the first piece of internal data about an opportunity and miss the second-order question.</a:t>
            </a:r>
          </a:p>
          <a:p>
            <a:r>
              <a:t>On every major opportunity, ask the question behind the question before committing."</a:t>
            </a:r>
          </a:p>
          <a:p>
            <a:r>
              <a:t>(Insight: The question behind the question. Source: Journal, 16 May 2026 — Professional Insights: Strategy)</a:t>
            </a:r>
          </a:p>
          <a:p>
            <a:r>
              <a:t/>
            </a:r>
          </a:p>
          <a:p>
            <a:r>
              <a:rPr b="1"/>
              <a:t>6. The three types of boundaries.</a:t>
            </a:r>
          </a:p>
          <a:p>
            <a:r>
              <a:t>Distinguish between three kinds:</a:t>
            </a:r>
          </a:p>
          <a:p>
            <a:r>
              <a:t>- A boundary we must accept. For example, legislation.</a:t>
            </a:r>
          </a:p>
          <a:p>
            <a:r>
              <a:t>- A boundary we can influence. Perhaps an industry standard.</a:t>
            </a:r>
          </a:p>
          <a:p>
            <a:r>
              <a:t>- A boundary we created ourselves. Perhaps an internal process, structure or policy.</a:t>
            </a:r>
          </a:p>
          <a:p>
            <a:r>
              <a:t/>
            </a:r>
          </a:p>
          <a:p>
            <a:r>
              <a:t>Again for each boundary – leaders must ask "What is going to push back against us? </a:t>
            </a:r>
          </a:p>
          <a:p>
            <a:r>
              <a:t>What internal or external friction could slow this Key Result down or stop it entirely?"</a:t>
            </a:r>
          </a:p>
          <a:p>
            <a:r>
              <a:rPr b="1"/>
              <a:t>Then ask:</a:t>
            </a:r>
            <a:r>
              <a:t> "What must remain true operationally or regulatorily for us to actually deliver this without breaking?"</a:t>
            </a:r>
          </a:p>
          <a:p>
            <a:r>
              <a:t>Hold out for a condition that is either true or false.</a:t>
            </a:r>
          </a:p>
          <a:p>
            <a:r>
              <a:t/>
            </a:r>
          </a:p>
          <a:p>
            <a:r>
              <a:rPr b="1"/>
              <a:t>Ask:</a:t>
            </a:r>
            <a:r>
              <a:t> "Which of your boundaries did your own organisation create?"</a:t>
            </a:r>
          </a:p>
          <a:p>
            <a:r>
              <a:t>Stay here. The self-created boundary generates particularly useful executive discussion.</a:t>
            </a:r>
          </a:p>
          <a:p>
            <a:r>
              <a:t/>
            </a:r>
          </a:p>
          <a:p>
            <a:r>
              <a:rPr b="1"/>
              <a:t>7. Name the Boundary Must-Be-True.</a:t>
            </a:r>
          </a:p>
          <a:p>
            <a:r>
              <a:rPr b="1"/>
              <a:t>Ask:</a:t>
            </a:r>
            <a:r>
              <a:t> "What must remain true operationally, structurally or regulatorily for this strategic direction to be deliverable?"</a:t>
            </a:r>
          </a:p>
          <a:p>
            <a:r>
              <a:rPr b="1"/>
              <a:t>Say:</a:t>
            </a:r>
            <a:r>
              <a:t> "In the university example: we must be able to approve and deploy new learning products within the timeframe demanded by the market. Now the boundary is connected directly to strategic viability."</a:t>
            </a:r>
          </a:p>
          <a:p>
            <a:r>
              <a:t/>
            </a:r>
          </a:p>
          <a:p>
            <a:r>
              <a:rPr b="1"/>
              <a:t>8. Apply it to a Key Result.</a:t>
            </a:r>
          </a:p>
          <a:p>
            <a:r>
              <a:rPr b="1"/>
              <a:t>Say:</a:t>
            </a:r>
            <a:r>
              <a:t> "If your Key Result relies on a new tech stack, then 'Our infrastructure must handle 10x load' is your Must-Be-True."</a:t>
            </a:r>
          </a:p>
          <a:p>
            <a:r>
              <a:t>Read the two examples from the Unit 3 worked example:</a:t>
            </a:r>
          </a:p>
          <a:p>
            <a:r>
              <a:t>- Reduce average response time to customer requests from 12 hours to 4 hours by 30 June 2027: Handovers between Commercial, Operations and Customer Service are completed inside four hours.</a:t>
            </a:r>
          </a:p>
          <a:p>
            <a:r>
              <a:t>- Improve operating margin from 14% to 18% by 31 December 2027: Salary, input and regulatory costs stay within the planning range.</a:t>
            </a:r>
          </a:p>
          <a:p>
            <a:r>
              <a:t/>
            </a:r>
          </a:p>
          <a:p>
            <a:r>
              <a:rPr b="1"/>
              <a:t>9. Bridge to 1.3.</a:t>
            </a:r>
          </a:p>
          <a:p>
            <a:r>
              <a:rPr b="1"/>
              <a:t>Say:</a:t>
            </a:r>
            <a:r>
              <a:t> "Once we know what could constrain delivery, we ask who else the customer can turn 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1.3 — COMPETITION (THE TRUE LANDSCAPE)</a:t>
            </a:r>
          </a:p>
          <a:p>
            <a:r>
              <a:t/>
            </a:r>
          </a:p>
          <a:p>
            <a:r>
              <a:rPr b="1"/>
              <a:t>HOW TO TEACH IT:</a:t>
            </a:r>
          </a:p>
          <a:p>
            <a:r>
              <a:t/>
            </a:r>
          </a:p>
          <a:p>
            <a:r>
              <a:rPr b="1"/>
              <a:t>1. Read the question of the checkpoint.</a:t>
            </a:r>
          </a:p>
          <a:p>
            <a:r>
              <a:t>"Who or what else can satisfy the same Customer End Game?"</a:t>
            </a:r>
          </a:p>
          <a:p>
            <a:r>
              <a:t/>
            </a:r>
          </a:p>
          <a:p>
            <a:r>
              <a:rPr b="1"/>
              <a:t>2. Give the strategic logic.</a:t>
            </a:r>
          </a:p>
          <a:p>
            <a:r>
              <a:rPr b="1"/>
              <a:t>Say:</a:t>
            </a:r>
            <a:r>
              <a:t> "Once you define the Arena by the customer’s need, your ‘competitors’ change.</a:t>
            </a:r>
          </a:p>
          <a:p>
            <a:r>
              <a:t>You are fighting anyone who solves that same problem in a different way, peers included."</a:t>
            </a:r>
          </a:p>
          <a:p>
            <a:r>
              <a:t/>
            </a:r>
          </a:p>
          <a:p>
            <a:r>
              <a:rPr b="1"/>
              <a:t>Say:</a:t>
            </a:r>
            <a:r>
              <a:t> "Competition follows Arena deliberately.</a:t>
            </a:r>
          </a:p>
          <a:p>
            <a:r>
              <a:t>If leaders define Arena through their industry, they will probably identify competitors through their industry.</a:t>
            </a:r>
          </a:p>
          <a:p>
            <a:r>
              <a:t>If Arena is defined around the Customer End Game, the competitive field can look very different."</a:t>
            </a:r>
          </a:p>
          <a:p>
            <a:r>
              <a:t/>
            </a:r>
          </a:p>
          <a:p>
            <a:r>
              <a:rPr b="1"/>
              <a:t>3. Read the two questions on the slide, left then right.</a:t>
            </a:r>
          </a:p>
          <a:p>
            <a:r>
              <a:t>- Who sells something similar to us?</a:t>
            </a:r>
          </a:p>
          <a:p>
            <a:r>
              <a:t>- What alternatives does the customer have for achieving the end game? </a:t>
            </a:r>
          </a:p>
          <a:p>
            <a:r>
              <a:t/>
            </a:r>
          </a:p>
          <a:p>
            <a:r>
              <a:t>The critical distinction is between these two questions.</a:t>
            </a:r>
          </a:p>
          <a:p>
            <a:r>
              <a:t/>
            </a:r>
          </a:p>
          <a:p>
            <a:r>
              <a:rPr b="1"/>
              <a:t>Say:</a:t>
            </a:r>
            <a:r>
              <a:t> "The competitor does not have to look like us, sell the same product, use the same business model or belong to the same industry.</a:t>
            </a:r>
          </a:p>
          <a:p>
            <a:r>
              <a:t>It only needs to offer the customer a credible alternative route to the outcome."</a:t>
            </a:r>
          </a:p>
          <a:p>
            <a:r>
              <a:t/>
            </a:r>
          </a:p>
          <a:p>
            <a:r>
              <a:rPr b="1"/>
              <a:t>4. Give the example.</a:t>
            </a:r>
          </a:p>
          <a:p>
            <a:r>
              <a:t/>
            </a:r>
          </a:p>
          <a:p>
            <a:r>
              <a:rPr b="1"/>
              <a:t>EXAMPLE</a:t>
            </a:r>
          </a:p>
          <a:p>
            <a:r>
              <a:t>Higher education. If we say “We provide postgraduate qualifications”, we will probably compare ourselves with other universities.</a:t>
            </a:r>
          </a:p>
          <a:p>
            <a:r>
              <a:t>The Arena has now been defined more deeply: build credible capability, flexibly, to advance career opportunity. Who or what else can enable that? The landscape may include:</a:t>
            </a:r>
          </a:p>
          <a:p>
            <a:r>
              <a:t>- Professional bodies.</a:t>
            </a:r>
          </a:p>
          <a:p>
            <a:r>
              <a:t>- Corporate academies.</a:t>
            </a:r>
          </a:p>
          <a:p>
            <a:r>
              <a:t>- Industry certifications.</a:t>
            </a:r>
          </a:p>
          <a:p>
            <a:r>
              <a:t>- Specialist training providers.</a:t>
            </a:r>
          </a:p>
          <a:p>
            <a:r>
              <a:t>- Digital learning platforms.</a:t>
            </a:r>
          </a:p>
          <a:p>
            <a:r>
              <a:t>- Employer-led development.</a:t>
            </a:r>
          </a:p>
          <a:p>
            <a:r>
              <a:t>- Alternative credential providers.</a:t>
            </a:r>
          </a:p>
          <a:p>
            <a:r>
              <a:t/>
            </a:r>
          </a:p>
          <a:p>
            <a:r>
              <a:t>And potentially emerging models we have not historically classified as higher education.</a:t>
            </a:r>
          </a:p>
          <a:p>
            <a:r>
              <a:t/>
            </a:r>
          </a:p>
          <a:p>
            <a:r>
              <a:rPr b="1"/>
              <a:t>5. Widen the list of alternatives, using the right-hand card.</a:t>
            </a:r>
          </a:p>
          <a:p>
            <a:r>
              <a:rPr b="1"/>
              <a:t>Say:</a:t>
            </a:r>
            <a:r>
              <a:t> "Competition can also be: do it internally, do it themselves, use technology, postpone it, choose a completely different solution, or do nothing."</a:t>
            </a:r>
          </a:p>
          <a:p>
            <a:r>
              <a:t/>
            </a:r>
          </a:p>
          <a:p>
            <a:r>
              <a:rPr b="1"/>
              <a:t>Ask:</a:t>
            </a:r>
            <a:r>
              <a:t> "Who else solves your customer’s problem, including those outside your industry?"</a:t>
            </a:r>
          </a:p>
          <a:p>
            <a:r>
              <a:rPr b="1"/>
              <a:t>Listen for:</a:t>
            </a:r>
            <a:r>
              <a:t> competition defined as industry rivals only. Push for every alternative route the customer has to the outcome, including doing nothing.</a:t>
            </a:r>
          </a:p>
          <a:p>
            <a:r>
              <a:t/>
            </a:r>
          </a:p>
          <a:p>
            <a:r>
              <a:rPr b="1"/>
              <a:t>Deepen, say:</a:t>
            </a:r>
            <a:r>
              <a:t> "The most effective competitive strategies target the specific assumptions on which a competitor’s position rests.</a:t>
            </a:r>
          </a:p>
          <a:p>
            <a:r>
              <a:t>Identify the foundational assumption, and the position built on it becomes unstable."</a:t>
            </a:r>
          </a:p>
          <a:p>
            <a:r>
              <a:t>(Insight: Competition. Source: Journal, 6 February 2026 — Professional Insights: Strategy)</a:t>
            </a:r>
          </a:p>
          <a:p>
            <a:r>
              <a:t/>
            </a:r>
          </a:p>
          <a:p>
            <a:r>
              <a:rPr b="1"/>
              <a:t>Say:</a:t>
            </a:r>
            <a:r>
              <a:t> Again leaders must ask what must be true for who else is meeting the customer needs for our strategy to hold.</a:t>
            </a:r>
          </a:p>
          <a:p>
            <a:r>
              <a:t>Example, from higher education: Employers and learners must continue to perceive our credential and learning experience as sufficiently valuable to justify its additional time and cost relative to alternative capability pathways.</a:t>
            </a:r>
          </a:p>
          <a:p>
            <a:r>
              <a:rPr b="1"/>
              <a:t>Say:</a:t>
            </a:r>
            <a:r>
              <a:t> "That assumption can be monitored. If it begins to weaken, the strategy receives an early-warning signal."</a:t>
            </a:r>
          </a:p>
          <a:p>
            <a:r>
              <a:t/>
            </a:r>
          </a:p>
          <a:p>
            <a:r>
              <a:rPr b="1"/>
              <a:t>6. Land the point.</a:t>
            </a:r>
          </a:p>
          <a:p>
            <a:r>
              <a:rPr b="1"/>
              <a:t>Say:</a:t>
            </a:r>
            <a:r>
              <a:t> "The customer is choosing between routes to an outcome."</a:t>
            </a:r>
          </a:p>
          <a:p>
            <a:r>
              <a:rPr b="1"/>
              <a:t>Add:</a:t>
            </a:r>
            <a:r>
              <a:t> "This is where the Industry Illusion becomes strategically important. Something excluded because 'that's not our industry' may become highly relevant once the Arena has been correctly defined."</a:t>
            </a:r>
          </a:p>
          <a:p>
            <a:r>
              <a:t/>
            </a:r>
          </a:p>
          <a:p>
            <a:r>
              <a:rPr b="1"/>
              <a:t>7. Apply it to a Key Result.</a:t>
            </a:r>
          </a:p>
          <a:p>
            <a:r>
              <a:rPr b="1"/>
              <a:t>Ask:</a:t>
            </a:r>
            <a:r>
              <a:t> "Who else is solving this problem, even if they look nothing like us? Who is the alternative the customer might choose?"</a:t>
            </a:r>
          </a:p>
          <a:p>
            <a:r>
              <a:rPr b="1"/>
              <a:t>Then ask:</a:t>
            </a:r>
            <a:r>
              <a:t> "What must remain true about our specific advantage compared to these other options?"</a:t>
            </a:r>
          </a:p>
          <a:p>
            <a:r>
              <a:t>Read the two examples from the Unit 3 worked example:</a:t>
            </a:r>
          </a:p>
          <a:p>
            <a:r>
              <a:t>- Reduce average response time to customer requests from 12 hours to 4 hours by 30 June 2027: A four-hour response remains faster than rival firms and clients’ in-house options provide.</a:t>
            </a:r>
          </a:p>
          <a:p>
            <a:r>
              <a:t>- Improve operating margin from 14% to 18% by 31 December 2027: Competitors and lower-cost alternatives force no price reduction in the core client segments.</a:t>
            </a:r>
          </a:p>
          <a:p>
            <a:r>
              <a:t/>
            </a:r>
          </a:p>
          <a:p>
            <a:r>
              <a:rPr b="1"/>
              <a:t>8. Bridge to 1.4.</a:t>
            </a:r>
          </a:p>
          <a:p>
            <a:r>
              <a:rPr b="1"/>
              <a:t>Say:</a:t>
            </a:r>
            <a:r>
              <a:t> "Given those alternatives, why should the customer choose 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1.4 — VALUE PROPOSITION (COHERENT ADVANTAGE)</a:t>
            </a:r>
          </a:p>
          <a:p>
            <a:r>
              <a:t/>
            </a:r>
          </a:p>
          <a:p>
            <a:r>
              <a:rPr b="1"/>
              <a:t>HOW TO TEACH IT:</a:t>
            </a:r>
          </a:p>
          <a:p>
            <a:r>
              <a:t/>
            </a:r>
          </a:p>
          <a:p>
            <a:r>
              <a:rPr b="1"/>
              <a:t>1. Read the question of the checkpoint.</a:t>
            </a:r>
          </a:p>
          <a:p>
            <a:r>
              <a:t>"Why should the customer choose the value we create?"</a:t>
            </a:r>
          </a:p>
          <a:p>
            <a:r>
              <a:t/>
            </a:r>
          </a:p>
          <a:p>
            <a:r>
              <a:rPr b="1"/>
              <a:t>2. Give the strategic logic.</a:t>
            </a:r>
          </a:p>
          <a:p>
            <a:r>
              <a:rPr b="1"/>
              <a:t>Say:</a:t>
            </a:r>
            <a:r>
              <a:t> "Strategy wins when you are distinct.</a:t>
            </a:r>
          </a:p>
          <a:p>
            <a:r>
              <a:t/>
            </a:r>
          </a:p>
          <a:p>
            <a:r>
              <a:t>Every Key Result should make your unique DNA stronger.</a:t>
            </a:r>
          </a:p>
          <a:p>
            <a:r>
              <a:t>If a goal dilutes your brand or confuses your value, it is a distraction."</a:t>
            </a:r>
          </a:p>
          <a:p>
            <a:r>
              <a:t/>
            </a:r>
          </a:p>
          <a:p>
            <a:r>
              <a:rPr b="1"/>
              <a:t>Say:</a:t>
            </a:r>
            <a:r>
              <a:t> "Arena established what the customer is ultimately trying to achieve.</a:t>
            </a:r>
          </a:p>
          <a:p>
            <a:r>
              <a:t>Boundaries established the conditions within which we must deliver it.</a:t>
            </a:r>
          </a:p>
          <a:p>
            <a:r>
              <a:t>Competition revealed the alternatives available to the customer.</a:t>
            </a:r>
          </a:p>
          <a:p>
            <a:r>
              <a:t>Value Proposition now asks: given those alternatives, why should the customer choose us?"</a:t>
            </a:r>
          </a:p>
          <a:p>
            <a:r>
              <a:t/>
            </a:r>
          </a:p>
          <a:p>
            <a:r>
              <a:rPr b="1"/>
              <a:t>3. Clear away the positive attributes.</a:t>
            </a:r>
          </a:p>
          <a:p>
            <a:r>
              <a:rPr b="1"/>
              <a:t>Say:</a:t>
            </a:r>
            <a:r>
              <a:t> "A Value Proposition is more than a description of what the organisation offers.</a:t>
            </a:r>
          </a:p>
          <a:p>
            <a:r>
              <a:t>High quality, customer focused, innovative, excellent service, experienced people: all of these may be positive attributes.</a:t>
            </a:r>
          </a:p>
          <a:p>
            <a:r>
              <a:t>On their own they establish no strategic value."</a:t>
            </a:r>
          </a:p>
          <a:p>
            <a:r>
              <a:rPr b="1"/>
              <a:t>Ask:</a:t>
            </a:r>
            <a:r>
              <a:t> "What combination of value do we create that matters to this customer, in this Arena, relative to the alternatives available?"</a:t>
            </a:r>
          </a:p>
          <a:p>
            <a:r>
              <a:t/>
            </a:r>
          </a:p>
          <a:p>
            <a:r>
              <a:rPr b="1"/>
              <a:t>4. Teach the three tests on the slide.</a:t>
            </a:r>
          </a:p>
          <a:p>
            <a:r>
              <a:t/>
            </a:r>
          </a:p>
          <a:p>
            <a:r>
              <a:t>Relevance — Does it matter?</a:t>
            </a:r>
          </a:p>
          <a:p>
            <a:r>
              <a:t>Does the value proposition address something important in the Customer End Game? If the customer does not materially value it, it is not an advantage.</a:t>
            </a:r>
          </a:p>
          <a:p>
            <a:r>
              <a:t/>
            </a:r>
          </a:p>
          <a:p>
            <a:r>
              <a:t>Distinctiveness — Does it differentiate?</a:t>
            </a:r>
          </a:p>
          <a:p>
            <a:r>
              <a:t>Is there something meaningfully different about the value created, or can credible alternatives make essentially the same claim?</a:t>
            </a:r>
          </a:p>
          <a:p>
            <a:r>
              <a:t/>
            </a:r>
          </a:p>
          <a:p>
            <a:r>
              <a:t>Deliverability — Can we consistently produce it?</a:t>
            </a:r>
          </a:p>
          <a:p>
            <a:r>
              <a:t>A promise becomes strategically valuable only when the organisation possesses the capability and system to deliver it repeatedly.</a:t>
            </a:r>
          </a:p>
          <a:p>
            <a:r>
              <a:t/>
            </a:r>
          </a:p>
          <a:p>
            <a:r>
              <a:t>Read the foot of the slide: RELEVANT + DISTINCTIVE + DELIVERABLE = STRATEGIC VALUE.</a:t>
            </a:r>
          </a:p>
          <a:p>
            <a:r>
              <a:t/>
            </a:r>
          </a:p>
          <a:p>
            <a:r>
              <a:rPr b="1"/>
              <a:t>Deepen, say:</a:t>
            </a:r>
            <a:r>
              <a:t> "Strategy is proven by the quality and consistency of the environment it produces.</a:t>
            </a:r>
          </a:p>
          <a:p>
            <a:r>
              <a:t>Organisations weaken their credibility when branding, claims or public positioning exceed the quality of the lived experience."</a:t>
            </a:r>
          </a:p>
          <a:p>
            <a:r>
              <a:t>(Insight: Value Proposition · coherence. Source: Journal, 16 July 2026 — Professional Insights: Strategy)</a:t>
            </a:r>
          </a:p>
          <a:p>
            <a:r>
              <a:t/>
            </a:r>
          </a:p>
          <a:p>
            <a:r>
              <a:rPr b="1"/>
              <a:t>5. Give the example.</a:t>
            </a:r>
          </a:p>
          <a:p>
            <a:r>
              <a:t/>
            </a:r>
          </a:p>
          <a:p>
            <a:r>
              <a:rPr b="1"/>
              <a:t>EXAMPLE</a:t>
            </a:r>
          </a:p>
          <a:p>
            <a:r>
              <a:t>S2R® EXAMPLE — RELEVANCE, DISTINCTIVENESS AND DELIVERABILITY</a:t>
            </a:r>
          </a:p>
          <a:p>
            <a:r>
              <a:rPr b="1"/>
              <a:t>Say:</a:t>
            </a:r>
            <a:r>
              <a:t/>
            </a:r>
          </a:p>
          <a:p>
            <a:r>
              <a:t>"Let me illustrate how we applied these three tests when developing Strategy2Results®.</a:t>
            </a:r>
          </a:p>
          <a:p>
            <a:r>
              <a:t/>
            </a:r>
          </a:p>
          <a:p>
            <a:r>
              <a:rPr b="1"/>
              <a:t>1. Relevance — Does it matter?</a:t>
            </a:r>
          </a:p>
          <a:p>
            <a:r>
              <a:t>We began by examining a persistent organisational problem: companies invest heavily in strategy development but struggle to translate strategic intent into consistent results.</a:t>
            </a:r>
          </a:p>
          <a:p>
            <a:r>
              <a:t>We identified the Customer End Game as achieving measurable, sustained strategic results. This became the problem S2R® was designed to address.</a:t>
            </a:r>
          </a:p>
          <a:p>
            <a:r>
              <a:t/>
            </a:r>
          </a:p>
          <a:p>
            <a:r>
              <a:rPr b="1"/>
              <a:t>2. Distinctiveness — Does it differentiate?</a:t>
            </a:r>
          </a:p>
          <a:p>
            <a:r>
              <a:t>We then asked why organisations would choose S2R® when other strategy and execution solutions already exist.</a:t>
            </a:r>
          </a:p>
          <a:p>
            <a:r>
              <a:t>We identified gaps between strategy design, functional contributions and execution discipline. This informed our DIG framework: Direction, Influence and Grounding.</a:t>
            </a:r>
          </a:p>
          <a:p>
            <a:r>
              <a:t>We developed an integrated methodology supported by diagnostics, contribution mapping and practical execution tools. Our intended differentiation lies in connecting these elements into one coherent strategy-to-results system.</a:t>
            </a:r>
          </a:p>
          <a:p>
            <a:r>
              <a:t/>
            </a:r>
          </a:p>
          <a:p>
            <a:r>
              <a:rPr b="1"/>
              <a:t>3. Deliverability — Can we consistently produce it?</a:t>
            </a:r>
          </a:p>
          <a:p>
            <a:r>
              <a:t>We recognised that different customers need different ways to access and apply S2R®. We therefore designed three delivery models:</a:t>
            </a:r>
          </a:p>
          <a:p>
            <a:r>
              <a:t>CESI Intensive and Flexi: Two pathways to the same professional credential, developing internal strategy integration capability.</a:t>
            </a:r>
          </a:p>
          <a:p>
            <a:r>
              <a:t>Company Retreats: Facilitated application of S2R® by leadership teams to address real organisational challenges and produce shared strategic outputs.</a:t>
            </a:r>
          </a:p>
          <a:p>
            <a:r>
              <a:t>Open Workshops: Focused learning experiences that develop specific strategic capabilities and practical skills.</a:t>
            </a:r>
          </a:p>
          <a:p>
            <a:r>
              <a:t/>
            </a:r>
          </a:p>
          <a:p>
            <a:r>
              <a:t>We established IBSL to deliver these capability-development programmes, while Impactis Consulting provides organisational diagnostics, consulting interventions and digital S2R® tools.</a:t>
            </a:r>
          </a:p>
          <a:p>
            <a:r>
              <a:t/>
            </a:r>
          </a:p>
          <a:p>
            <a:r>
              <a:t>This creates a structured foundation for consistent delivery, with repeatability to be demonstrated through client outcomes.</a:t>
            </a:r>
          </a:p>
          <a:p>
            <a:r>
              <a:t/>
            </a:r>
          </a:p>
          <a:p>
            <a:r>
              <a:t>Close:</a:t>
            </a:r>
          </a:p>
          <a:p>
            <a:r>
              <a:t>"Notice the sequence. We identified a problem customers genuinely care about, developed an approach intended to create distinctive value, and then designed the capabilities and delivery models needed to fulfil that promise.</a:t>
            </a:r>
          </a:p>
          <a:p>
            <a:r>
              <a:t>That is the discipline behind testing a value proposition for Relevance, Distinctiveness and Deliverability.“</a:t>
            </a:r>
          </a:p>
          <a:p>
            <a:r>
              <a:t/>
            </a:r>
          </a:p>
          <a:p>
            <a:r>
              <a:rPr b="1"/>
              <a:t>6. Apply it to your Key Results.</a:t>
            </a:r>
          </a:p>
          <a:p>
            <a:r>
              <a:t>Take one of the Key Results a group confirmed in Unit 3.</a:t>
            </a:r>
          </a:p>
          <a:p>
            <a:r>
              <a:rPr b="1"/>
              <a:t>Ask:</a:t>
            </a:r>
            <a:r>
              <a:t> "How does this goal make us more ‘us’? Does this Key Result sharpen our distinctive edge or just add noise?"</a:t>
            </a:r>
          </a:p>
          <a:p>
            <a:r>
              <a:rPr b="1"/>
              <a:t>Then ask:</a:t>
            </a:r>
            <a:r>
              <a:t> "What must remain true about our value architecture for this Key Result to stay coherent and profitable?"</a:t>
            </a:r>
          </a:p>
          <a:p>
            <a:r>
              <a:t>Hold out for a condition that is either true or false.</a:t>
            </a:r>
          </a:p>
          <a:p>
            <a:r>
              <a:t>Read the two examples from the Unit 3 worked example:</a:t>
            </a:r>
          </a:p>
          <a:p>
            <a:r>
              <a:t>- Reduce average response time to customer requests from 12 hours to 4 hours by 30 June 2027: Faster response is delivered with no loss in the quality of the answer the client receives.</a:t>
            </a:r>
          </a:p>
          <a:p>
            <a:r>
              <a:t>- Improve operating margin from 14% to 18% by 31 December 2027: No saving reduces the service quality clients choose the company for.</a:t>
            </a:r>
          </a:p>
          <a:p>
            <a:r>
              <a:t/>
            </a:r>
          </a:p>
          <a:p>
            <a:r>
              <a:rPr b="1"/>
              <a:t>7. Bring ABCV together.</a:t>
            </a:r>
          </a:p>
          <a:p>
            <a:r>
              <a:t>Walk down the chain once:</a:t>
            </a:r>
          </a:p>
          <a:p>
            <a:r>
              <a:t>- A — Arena: What is the customer ultimately trying to achieve? Functional, experiential, consequential.</a:t>
            </a:r>
          </a:p>
          <a:p>
            <a:r>
              <a:t>- B — Boundaries: What could constrain our ability to deliver that outcome?</a:t>
            </a:r>
          </a:p>
          <a:p>
            <a:r>
              <a:t>- C — Competition: Who or what else can enable the customer to achieve it?</a:t>
            </a:r>
          </a:p>
          <a:p>
            <a:r>
              <a:t>- V — Value Proposition: Why should the customer choose the value we create?</a:t>
            </a:r>
          </a:p>
          <a:p>
            <a:r>
              <a:t>- MBT — Must Be True: What conditions must hold for our strategic logic to remain valid?</a:t>
            </a:r>
          </a:p>
          <a:p>
            <a:r>
              <a:rPr b="1"/>
              <a:t>Say:</a:t>
            </a:r>
            <a:r>
              <a:t> "ABCV asks whether the strategic logic underneath an OKR can survive reality."</a:t>
            </a:r>
          </a:p>
          <a:p>
            <a:r>
              <a:t/>
            </a:r>
          </a:p>
          <a:p>
            <a:r>
              <a:rPr b="1"/>
              <a:t>8. Ask the question that closes the checkpoints.</a:t>
            </a:r>
          </a:p>
          <a:p>
            <a:r>
              <a:rPr b="1"/>
              <a:t>Ask:</a:t>
            </a:r>
            <a:r>
              <a:t> "If you had to identify the single ABCV checkpoint your organisation most consistently overlooks when setting strategy, which would it be? And what has that cost you?"</a:t>
            </a:r>
          </a:p>
          <a:p>
            <a:r>
              <a:t>Take three or four answers and note them. You return to them in Section 3.</a:t>
            </a:r>
          </a:p>
          <a:p>
            <a:r>
              <a:t/>
            </a:r>
          </a:p>
          <a:p>
            <a:r>
              <a:rPr b="1"/>
              <a:t>9. Close the section.</a:t>
            </a:r>
          </a:p>
          <a:p>
            <a:r>
              <a:rPr b="1"/>
              <a:t>Say:</a:t>
            </a:r>
            <a:r>
              <a:t> "A Key Result is strategically sound when the conditions it depends on hold at each of the four checkpoints."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SECTION 1 REFLECTIONS</a:t>
            </a:r>
          </a:p>
          <a:p>
            <a:r>
              <a:t/>
            </a:r>
          </a:p>
          <a:p>
            <a:r>
              <a:rPr b="1"/>
              <a:t>HOW TO USE THIS SLIDE:</a:t>
            </a:r>
          </a:p>
          <a:p>
            <a:r>
              <a:t/>
            </a:r>
          </a:p>
          <a:p>
            <a:r>
              <a:rPr b="1"/>
              <a:t>1. Show the slide and read the two prompts aloud.</a:t>
            </a:r>
          </a:p>
          <a:p>
            <a:r>
              <a:t>1 · Overview reflection: "Take one Key Result your group confirmed in Unit 3. What is it assuming about the world that has not yet been verified?"</a:t>
            </a:r>
          </a:p>
          <a:p>
            <a:r>
              <a:t/>
            </a:r>
          </a:p>
          <a:p>
            <a:r>
              <a:t>2 · Bringing ABCV Together reflection: "Which of the four ABCV checkpoints is your organisation least likely to examine rigorously before launching a new strategic initiative? What does that pattern cost you?"</a:t>
            </a:r>
          </a:p>
          <a:p>
            <a:r>
              <a:t/>
            </a:r>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
            </a:r>
          </a:p>
          <a:p>
            <a:r>
              <a:rPr b="1"/>
              <a:t>Say:</a:t>
            </a:r>
            <a:r>
              <a:t> "You write this reflection on the portal after the teaching, with as much depth as you can."</a:t>
            </a:r>
          </a:p>
          <a:p>
            <a:r>
              <a:t/>
            </a:r>
          </a:p>
          <a:p>
            <a:r>
              <a:rPr b="1"/>
              <a:t>3. Set the standard.</a:t>
            </a:r>
          </a:p>
          <a:p>
            <a:r>
              <a:rPr b="1"/>
              <a:t>Say:</a:t>
            </a:r>
            <a:r>
              <a:t> "For the first reflection, name one real Key Result of your group and one thing it assumes. For the second, name the checkpoint and one real cost."</a:t>
            </a:r>
          </a:p>
          <a:p>
            <a:r>
              <a:rPr b="1"/>
              <a:t>Listen for:</a:t>
            </a:r>
            <a:r>
              <a:t> an assumption stated as a worry. Ask: "Written as a condition, is it true or false today?"</a:t>
            </a:r>
          </a:p>
          <a:p>
            <a:r>
              <a:t/>
            </a:r>
          </a:p>
          <a:p>
            <a:r>
              <a:rPr b="1"/>
              <a:t>4. Bridge to Section 2.</a:t>
            </a:r>
          </a:p>
          <a:p>
            <a:r>
              <a:rPr b="1"/>
              <a:t>Say:</a:t>
            </a:r>
            <a:r>
              <a:t> "We have the four checkpoints. Section 2 examines why industry definitions mislead strategy, and how customer outcomes reveal the full field of competition."</a:t>
            </a:r>
          </a:p>
          <a:p>
            <a:r>
              <a:t/>
            </a:r>
          </a:p>
          <a:p>
            <a:r>
              <a:rPr b="1"/>
              <a:t>ON THE PORTAL, AFTER THE TEACHING:</a:t>
            </a:r>
          </a:p>
          <a:p>
            <a:r>
              <a:t>Participants write the two reflections in Section 1 of the participant file: under the overview, and under Bringing ABCV Together.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2 · INTELLIGENCE — WHY</a:t>
            </a:r>
          </a:p>
          <a:p>
            <a:r>
              <a:t/>
            </a:r>
          </a:p>
          <a:p>
            <a:r>
              <a:rPr b="1"/>
              <a:t>HOW THIS SECTION RUNS:</a:t>
            </a:r>
          </a:p>
          <a:p>
            <a:r>
              <a:rPr b="1"/>
              <a:t>1. 2.1: the Industry Illusion and its three traps.</a:t>
            </a:r>
          </a:p>
          <a:p>
            <a:r>
              <a:rPr b="1"/>
              <a:t>2. 2.2: the Industry Illusion game, played with the room in groups, from the facilitator file.</a:t>
            </a:r>
          </a:p>
          <a:p>
            <a:r>
              <a:t>3. 2.2, the last step of the game: Apply Arena, still on the facilitator file. Then back to the deck.</a:t>
            </a:r>
          </a:p>
          <a:p>
            <a:r>
              <a:t/>
            </a:r>
          </a:p>
          <a:p>
            <a:r>
              <a:rPr b="1"/>
              <a:t>SECTION LEARNING OUTCOMES:</a:t>
            </a:r>
          </a:p>
          <a:p>
            <a:r>
              <a:rPr b="1"/>
              <a:t>1. Test strategic priorities against the outcomes customers seek.</a:t>
            </a:r>
          </a:p>
          <a:p>
            <a:r>
              <a:rPr b="1"/>
              <a:t>2. Surface and challenge assumptions underpinning strategic objectives.</a:t>
            </a:r>
          </a:p>
          <a:p>
            <a:r>
              <a:t/>
            </a:r>
          </a:p>
          <a:p>
            <a:r>
              <a:rPr b="1"/>
              <a:t>HOW TO OPEN THE SECTION:</a:t>
            </a:r>
          </a:p>
          <a:p>
            <a:r>
              <a:t/>
            </a:r>
          </a:p>
          <a:p>
            <a:r>
              <a:rPr b="1"/>
              <a:t>1. Say what the section does.</a:t>
            </a:r>
          </a:p>
          <a:p>
            <a:r>
              <a:rPr b="1"/>
              <a:t>Say:</a:t>
            </a:r>
            <a:r>
              <a:t> "In this section you discover, through your own decisions, how an industry frame shapes what leaders notice, dismiss and trust."</a:t>
            </a:r>
          </a:p>
          <a:p>
            <a:r>
              <a:t>Section intent: the game supplies the evidence. Arena supplies the test.</a:t>
            </a:r>
          </a:p>
          <a:p>
            <a:r>
              <a:t/>
            </a:r>
          </a:p>
          <a:p>
            <a:r>
              <a:rPr b="1"/>
              <a:t>2. Read the line under the section title.</a:t>
            </a:r>
          </a:p>
          <a:p>
            <a:r>
              <a:t>"The industry we understand becomes the boundary of the world we examine."</a:t>
            </a:r>
          </a:p>
          <a:p>
            <a:r>
              <a:t/>
            </a:r>
          </a:p>
          <a:p>
            <a:r>
              <a:rPr b="1"/>
              <a:t>3. Bridge to 2.1.</a:t>
            </a:r>
          </a:p>
          <a:p>
            <a:r>
              <a:rPr b="1"/>
              <a:t>Say:</a:t>
            </a:r>
            <a:r>
              <a:t> "Industry knowledge is where the trap begins."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 — THE INDUSTRY ILLUSION (3 TRAPS)</a:t>
            </a:r>
          </a:p>
          <a:p>
            <a:endParaRPr lang="en-GB" dirty="0"/>
          </a:p>
          <a:p>
            <a:r>
              <a:rPr lang="en-GB" b="1" dirty="0"/>
              <a:t>HOW TO TEACH IT:</a:t>
            </a:r>
          </a:p>
          <a:p>
            <a:endParaRPr lang="en-GB" dirty="0"/>
          </a:p>
          <a:p>
            <a:r>
              <a:rPr lang="en-GB" b="1" dirty="0"/>
              <a:t>Start with the value of industry knowledge.</a:t>
            </a:r>
          </a:p>
          <a:p>
            <a:r>
              <a:rPr lang="en-GB" b="1" dirty="0"/>
              <a:t>Say: </a:t>
            </a:r>
            <a:r>
              <a:rPr lang="en-GB" dirty="0"/>
              <a:t>"Industry knowledge is essential to strategy.</a:t>
            </a:r>
          </a:p>
          <a:p>
            <a:r>
              <a:rPr lang="en-GB" dirty="0"/>
              <a:t>Over time, leaders build a deep understanding of how their industry works: its customers, competitors, economics, regulations, technologies and established ways of creating value.</a:t>
            </a:r>
          </a:p>
          <a:p>
            <a:r>
              <a:rPr lang="en-GB" dirty="0"/>
              <a:t>That knowledge also creates a frame through which leaders interpret their environment, birthing what we call the industry illusion.</a:t>
            </a:r>
          </a:p>
          <a:p>
            <a:endParaRPr lang="en-GB" dirty="0"/>
          </a:p>
          <a:p>
            <a:r>
              <a:rPr lang="en-GB" b="1" dirty="0"/>
              <a:t>Say: </a:t>
            </a:r>
            <a:r>
              <a:rPr lang="en-GB" dirty="0"/>
              <a:t>"The Industry Illusion occurs when that frame becomes so familiar that leaders begin to treat it as the boundary of what is strategically relevant.“</a:t>
            </a:r>
          </a:p>
          <a:p>
            <a:endParaRPr lang="en-GB" dirty="0"/>
          </a:p>
          <a:p>
            <a:r>
              <a:rPr lang="en-GB" b="1" dirty="0"/>
              <a:t>There are three forms of industry illusion</a:t>
            </a:r>
            <a:endParaRPr lang="en-GB" dirty="0"/>
          </a:p>
          <a:p>
            <a:endParaRPr lang="en-GB" dirty="0"/>
          </a:p>
          <a:p>
            <a:r>
              <a:rPr lang="en-GB" b="1" dirty="0"/>
              <a:t>1. Familiarity — We know this industry.</a:t>
            </a:r>
          </a:p>
          <a:p>
            <a:r>
              <a:rPr lang="en-GB" b="1" dirty="0"/>
              <a:t>Say: </a:t>
            </a:r>
            <a:r>
              <a:rPr lang="en-GB" dirty="0"/>
              <a:t>"Experience creates confidence in our understanding of how the industry works.</a:t>
            </a:r>
          </a:p>
          <a:p>
            <a:r>
              <a:rPr lang="en-GB" dirty="0"/>
              <a:t>We know the established players, customer patterns, sources of value and indicators we normally monitor.</a:t>
            </a:r>
          </a:p>
          <a:p>
            <a:endParaRPr lang="en-GB" dirty="0"/>
          </a:p>
          <a:p>
            <a:r>
              <a:rPr lang="en-GB" b="1" dirty="0"/>
              <a:t>The trap occurs </a:t>
            </a:r>
            <a:r>
              <a:rPr lang="en-GB" dirty="0"/>
              <a:t>when what we know becomes what we expect to continue seeing."</a:t>
            </a:r>
          </a:p>
          <a:p>
            <a:r>
              <a:rPr lang="en-GB" b="1" dirty="0"/>
              <a:t>Strategic risk: </a:t>
            </a:r>
            <a:r>
              <a:rPr lang="en-GB" dirty="0"/>
              <a:t>We interpret the future through patterns established by the past.</a:t>
            </a:r>
          </a:p>
          <a:p>
            <a:endParaRPr lang="en-GB" dirty="0"/>
          </a:p>
          <a:p>
            <a:r>
              <a:rPr lang="en-GB" b="1" dirty="0"/>
              <a:t>2. Exclusion — We discount what doesn’t fit it.</a:t>
            </a:r>
          </a:p>
          <a:p>
            <a:r>
              <a:rPr lang="en-GB" dirty="0"/>
              <a:t>Say: "Once we have a familiar picture of the industry, developments that fit that picture receive our attention.</a:t>
            </a:r>
          </a:p>
          <a:p>
            <a:r>
              <a:rPr lang="en-GB" dirty="0"/>
              <a:t>Signals that sit outside it can appear less relevant because they do not resemble the customers, competitors, technologies or business models we associate with our industry.</a:t>
            </a:r>
          </a:p>
          <a:p>
            <a:endParaRPr lang="en-GB" dirty="0"/>
          </a:p>
          <a:p>
            <a:r>
              <a:rPr lang="en-GB" b="1" dirty="0"/>
              <a:t>The trap </a:t>
            </a:r>
            <a:r>
              <a:rPr lang="en-GB" dirty="0"/>
              <a:t>is that we may see the signal but exclude it from serious strategic consideration."</a:t>
            </a:r>
          </a:p>
          <a:p>
            <a:r>
              <a:rPr lang="en-GB" b="1" dirty="0"/>
              <a:t>Strategic risk: </a:t>
            </a:r>
            <a:r>
              <a:rPr lang="en-GB" dirty="0"/>
              <a:t>What does not fit our industry frame gets underestimated.</a:t>
            </a:r>
          </a:p>
          <a:p>
            <a:endParaRPr lang="en-GB" dirty="0"/>
          </a:p>
          <a:p>
            <a:r>
              <a:rPr lang="en-GB" b="1" dirty="0"/>
              <a:t>3. Complacency — We become confident in the world we can see.</a:t>
            </a:r>
          </a:p>
          <a:p>
            <a:r>
              <a:rPr lang="en-GB" dirty="0"/>
              <a:t>Say: "When the organisation continues to perform, our established view of the industry appears to be validated.</a:t>
            </a:r>
          </a:p>
          <a:p>
            <a:r>
              <a:rPr lang="en-GB" dirty="0"/>
              <a:t>Market position, reputation, customer demand or past success can reinforce the belief that we understand what matters.</a:t>
            </a:r>
          </a:p>
          <a:p>
            <a:endParaRPr lang="en-GB" dirty="0"/>
          </a:p>
          <a:p>
            <a:r>
              <a:rPr lang="en-GB" b="1" dirty="0"/>
              <a:t>The trap occurs </a:t>
            </a:r>
            <a:r>
              <a:rPr lang="en-GB" dirty="0"/>
              <a:t>when evidence of current success becomes reassurance about future relevance."</a:t>
            </a:r>
          </a:p>
          <a:p>
            <a:r>
              <a:rPr lang="en-GB" b="1" dirty="0"/>
              <a:t>Strategic risk</a:t>
            </a:r>
            <a:r>
              <a:rPr lang="en-GB" dirty="0"/>
              <a:t>: We continue looking in the same places because nothing has yet forced us to look elsewhere.</a:t>
            </a:r>
          </a:p>
          <a:p>
            <a:endParaRPr lang="en-GB" dirty="0"/>
          </a:p>
          <a:p>
            <a:r>
              <a:rPr lang="en-GB" b="1" dirty="0"/>
              <a:t>Bridge to the game.</a:t>
            </a:r>
          </a:p>
          <a:p>
            <a:r>
              <a:rPr lang="en-GB" dirty="0"/>
              <a:t>Say: "You are about to make three decisions as an executive team. Make each one as you would at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2.2 — THE INDUSTRY ILLUSION GAME: THE FUTURE OF A UNIVERSITY (3 ROUNDS)</a:t>
            </a:r>
          </a:p>
          <a:p>
            <a:r>
              <a:t/>
            </a:r>
          </a:p>
          <a:p>
            <a:r>
              <a:rPr b="1"/>
              <a:t>HOW TO TEACH IT:</a:t>
            </a:r>
          </a:p>
          <a:p>
            <a:r>
              <a:t/>
            </a:r>
          </a:p>
          <a:p>
            <a:r>
              <a:rPr b="1"/>
              <a:t>1. Share the game.</a:t>
            </a:r>
          </a:p>
          <a:p>
            <a:r>
              <a:t>Stop sharing the deck and share the browser window that holds the facilitator file, at Section 2, part 2.2.</a:t>
            </a:r>
          </a:p>
          <a:p>
            <a:r>
              <a:t>Have that page ready before the lesson begins.</a:t>
            </a:r>
          </a:p>
          <a:p>
            <a:r>
              <a:t>The page holds six steps in order: Case Brief, Round 1, Round 2, Round 3, The Reveal, Apply Arena.</a:t>
            </a:r>
          </a:p>
          <a:p>
            <a:r>
              <a:t>Play the game with the room in groups. Each group makes its decision and defends it.</a:t>
            </a:r>
          </a:p>
          <a:p>
            <a:r>
              <a:t>Important: do not tell participants which trap each round is testing. Do not correct their answers during the game. Capture their decisions. Reveal the traps only at the end.</a:t>
            </a:r>
          </a:p>
          <a:p>
            <a:r>
              <a:t/>
            </a:r>
          </a:p>
          <a:p>
            <a:r>
              <a:rPr b="1"/>
              <a:t>2. Give the case brief.</a:t>
            </a:r>
          </a:p>
          <a:p>
            <a:r>
              <a:rPr b="1"/>
              <a:t>Say:</a:t>
            </a:r>
            <a:r>
              <a:t> "You are the executive team of Apex University, an established private university."</a:t>
            </a:r>
          </a:p>
          <a:p>
            <a:r>
              <a:t>Read the brief on the screen: 18,000 students; strong undergraduate and postgraduate programmes; recognised accreditation; a respected business school; growing online delivery; strong relationships with employers; good graduate employment outcomes; stable enrolment.</a:t>
            </a:r>
          </a:p>
          <a:p>
            <a:r>
              <a:rPr b="1"/>
              <a:t>Say:</a:t>
            </a:r>
            <a:r>
              <a:t> "The Board is beginning development of the university’s 2032 Strategy.</a:t>
            </a:r>
          </a:p>
          <a:p>
            <a:r>
              <a:t>Your task is to advise the Board on where it should focus its strategic attention."</a:t>
            </a:r>
          </a:p>
          <a:p>
            <a:r>
              <a:t/>
            </a:r>
          </a:p>
          <a:p>
            <a:r>
              <a:rPr b="1"/>
              <a:t>3. Round 1 — Where would you look?</a:t>
            </a:r>
          </a:p>
          <a:p>
            <a:r>
              <a:rPr b="1"/>
              <a:t>Say:</a:t>
            </a:r>
            <a:r>
              <a:t> "You have been asked to understand how Apex University’s environment is changing. Where would you look for intelligence?"</a:t>
            </a:r>
          </a:p>
          <a:p>
            <a:r>
              <a:t>Show the eight intelligence sources, A to H, on the screen:</a:t>
            </a:r>
          </a:p>
          <a:p>
            <a:r>
              <a:t>A. Enrolment trends across universities</a:t>
            </a:r>
          </a:p>
          <a:p>
            <a:r>
              <a:t>B. New programmes being introduced by competing universities</a:t>
            </a:r>
          </a:p>
          <a:p>
            <a:r>
              <a:t>C. Changes in university rankings and reputation</a:t>
            </a:r>
          </a:p>
          <a:p>
            <a:r>
              <a:t>D. Higher-education regulation and accreditation changes</a:t>
            </a:r>
          </a:p>
          <a:p>
            <a:r>
              <a:t>E. Changes in how major employers assess and recruit talent</a:t>
            </a:r>
          </a:p>
          <a:p>
            <a:r>
              <a:t>F. Growth in professional and industry credentials</a:t>
            </a:r>
          </a:p>
          <a:p>
            <a:r>
              <a:t>G. How working adults are building new capabilities outside formal education</a:t>
            </a:r>
          </a:p>
          <a:p>
            <a:r>
              <a:t>H. Changes in how employers recognise demonstrated skills versus qualifications</a:t>
            </a:r>
          </a:p>
          <a:p>
            <a:r>
              <a:rPr b="1"/>
              <a:t>Say:</a:t>
            </a:r>
            <a:r>
              <a:t> "Select four that you would prioritise."</a:t>
            </a:r>
          </a:p>
          <a:p>
            <a:r>
              <a:t>Each group posts its four letters in the chat. Record the choices.</a:t>
            </a:r>
          </a:p>
          <a:p>
            <a:r>
              <a:t>What this round tests, for you only: Familiarity. Do participants gravitate toward A to D because these are recognisably higher-education indicators? Do not reveal this.</a:t>
            </a:r>
          </a:p>
          <a:p>
            <a:r>
              <a:t/>
            </a:r>
          </a:p>
          <a:p>
            <a:r>
              <a:rPr b="1"/>
              <a:t>4. Round 2 — What deserves attention?</a:t>
            </a:r>
          </a:p>
          <a:p>
            <a:r>
              <a:rPr b="1"/>
              <a:t>Say:</a:t>
            </a:r>
            <a:r>
              <a:t> "Your strategy team has brought six developments to the executive committee. You only have capacity to investigate three in depth."</a:t>
            </a:r>
          </a:p>
          <a:p>
            <a:r>
              <a:t>Show the six signals on the screen:</a:t>
            </a:r>
          </a:p>
          <a:p>
            <a:r>
              <a:t>- Signal 1. A competing university has launched a new Executive MBA.</a:t>
            </a:r>
          </a:p>
          <a:p>
            <a:r>
              <a:t>- Signal 2. Applications to universities in your region are projected to grow by 8%.</a:t>
            </a:r>
          </a:p>
          <a:p>
            <a:r>
              <a:t>- Signal 3. Several major employers are removing degree requirements from selected roles and introducing capability assessments.</a:t>
            </a:r>
          </a:p>
          <a:p>
            <a:r>
              <a:t>- Signal 4. Working professionals are increasingly combining short courses, professional certifications and workplace experience in place of longer qualifications.</a:t>
            </a:r>
          </a:p>
          <a:p>
            <a:r>
              <a:t>- Signal 5. A leading university has reduced fees for several postgraduate programmes.</a:t>
            </a:r>
          </a:p>
          <a:p>
            <a:r>
              <a:t>- Signal 6. Employers are increasingly using portfolios, simulations and demonstrated capability to evaluate candidates.</a:t>
            </a:r>
          </a:p>
          <a:p>
            <a:r>
              <a:rPr b="1"/>
              <a:t>Ask:</a:t>
            </a:r>
            <a:r>
              <a:t> "Which three warrant immediate strategic investigation?"</a:t>
            </a:r>
          </a:p>
          <a:p>
            <a:r>
              <a:rPr b="1"/>
              <a:t>Then ask:</a:t>
            </a:r>
            <a:r>
              <a:t> "Which three would you deprioritise?"</a:t>
            </a:r>
          </a:p>
          <a:p>
            <a:r>
              <a:t>Require each group to make the decision. Capture what it excluded and, importantly, why.</a:t>
            </a:r>
          </a:p>
          <a:p>
            <a:r>
              <a:t>What this round tests, for you only: Exclusion. Are signals 3, 4 and 6 discounted because they do not initially look like developments inside higher education? Do not reveal the trap.</a:t>
            </a:r>
          </a:p>
          <a:p>
            <a:r>
              <a:t/>
            </a:r>
          </a:p>
          <a:p>
            <a:r>
              <a:rPr b="1"/>
              <a:t>5. Round 3 — Should we be worried?</a:t>
            </a:r>
          </a:p>
          <a:p>
            <a:r>
              <a:t>Show the Apex University performance report on the screen: enrolment +5%, revenue +7%, graduate employment 86%, accreditation strong, student satisfaction 82%, market position top 3 private university, online enrolment +12%.</a:t>
            </a:r>
          </a:p>
          <a:p>
            <a:r>
              <a:rPr b="1"/>
              <a:t>Say:</a:t>
            </a:r>
            <a:r>
              <a:t> "The Board asks whether the university needs to reconsider its fundamental strategic direction."</a:t>
            </a:r>
          </a:p>
          <a:p>
            <a:r>
              <a:t>Give the three choices: A, no major change; B, adjust; C, re-examine. Each group must select one and defend it.</a:t>
            </a:r>
          </a:p>
          <a:p>
            <a:r>
              <a:t>What this round tests, for you only: Complacency. Does strong current performance reassure participants that the university understands its future? Choice A is a reasonable answer on the page: the numbers genuinely look good.</a:t>
            </a:r>
          </a:p>
          <a:p>
            <a:r>
              <a:t/>
            </a:r>
          </a:p>
          <a:p>
            <a:r>
              <a:rPr b="1"/>
              <a:t>6. The Reveal.</a:t>
            </a:r>
          </a:p>
          <a:p>
            <a:r>
              <a:t>Now return to their decisions, round by round.</a:t>
            </a:r>
          </a:p>
          <a:p>
            <a:r>
              <a:t>Round 1, where did you look? Reveal Familiarity: We know this industry.</a:t>
            </a:r>
          </a:p>
          <a:p>
            <a:r>
              <a:rPr b="1"/>
              <a:t>Ask:</a:t>
            </a:r>
            <a:r>
              <a:t> "How much of your attention went toward the world you already recognised as higher education?"</a:t>
            </a:r>
          </a:p>
          <a:p>
            <a:r>
              <a:t>Round 2, what did you exclude? Reveal Exclusion: We discount what doesn’t fit it.</a:t>
            </a:r>
          </a:p>
          <a:p>
            <a:r>
              <a:rPr b="1"/>
              <a:t>Ask:</a:t>
            </a:r>
            <a:r>
              <a:t> "Which signals did you deprioritise because they appeared to sit outside the conventional higher-education environment?"</a:t>
            </a:r>
          </a:p>
          <a:p>
            <a:r>
              <a:t>Round 3, what reassured you? Reveal Complacency: We become confident in the world we can see.</a:t>
            </a:r>
          </a:p>
          <a:p>
            <a:r>
              <a:rPr b="1"/>
              <a:t>Ask:</a:t>
            </a:r>
            <a:r>
              <a:t> "Did strong current performance influence how urgently you believed the university needed to question its future?"</a:t>
            </a:r>
          </a:p>
          <a:p>
            <a:r>
              <a:t>Then show how the illusion forms: Familiarity, then Exclusion, then Complacency, until the industry we understand becomes the boundary of the world we examine.</a:t>
            </a:r>
          </a:p>
          <a:p>
            <a:r>
              <a:t>Then give the crucial insight.</a:t>
            </a:r>
          </a:p>
          <a:p>
            <a:r>
              <a:rPr b="1"/>
              <a:t>Say:</a:t>
            </a:r>
            <a:r>
              <a:t> "Apex did not lack information. The question is what its industry frame caused leaders to notice, dismiss and trust."</a:t>
            </a:r>
          </a:p>
          <a:p>
            <a:r>
              <a:t/>
            </a:r>
          </a:p>
          <a:p>
            <a:r>
              <a:rPr b="1"/>
              <a:t>7. Apply Arena.</a:t>
            </a:r>
          </a:p>
          <a:p>
            <a:r>
              <a:t>Only after the reveal, bring the room back to ABCV.</a:t>
            </a:r>
          </a:p>
          <a:p>
            <a:r>
              <a:rPr b="1"/>
              <a:t>Ask:</a:t>
            </a:r>
            <a:r>
              <a:t> "What is the Apex learner actually trying to achieve?"</a:t>
            </a:r>
          </a:p>
          <a:p>
            <a:r>
              <a:t>Do not give the answer. Make the groups work through the three depths of the Customer End Game taught in 1.1:</a:t>
            </a:r>
          </a:p>
          <a:p>
            <a:r>
              <a:t>- Functional: What are they trying to achieve?</a:t>
            </a:r>
          </a:p>
          <a:p>
            <a:r>
              <a:t>- Experiential: What matters about how they achieve it?</a:t>
            </a:r>
          </a:p>
          <a:p>
            <a:r>
              <a:t>- Consequential: What does achieving it ultimately enable?</a:t>
            </a:r>
          </a:p>
          <a:p>
            <a:r>
              <a:t>Then give the final challenge.</a:t>
            </a:r>
          </a:p>
          <a:p>
            <a:r>
              <a:rPr b="1"/>
              <a:t>Ask:</a:t>
            </a:r>
            <a:r>
              <a:t> "Now look again at everything you deprioritised in Rounds 1 and 2. Does defining the Arena around the customer’s end game change what you consider strategically relevant?"</a:t>
            </a:r>
          </a:p>
          <a:p>
            <a:r>
              <a:rPr b="1"/>
              <a:t>Say:</a:t>
            </a:r>
            <a:r>
              <a:t> "The game has not told you that you suffer from the Industry Illusion. Your own choices provide the evidence. Arena is the mechanism for testing and expanding your field of strategic attention."</a:t>
            </a:r>
          </a:p>
          <a:p>
            <a:r>
              <a:t/>
            </a:r>
          </a:p>
          <a:p>
            <a:r>
              <a:rPr b="1"/>
              <a:t>8. Hand the game to the participants.</a:t>
            </a:r>
          </a:p>
          <a:p>
            <a:r>
              <a:rPr b="1"/>
              <a:t>Say:</a:t>
            </a:r>
            <a:r>
              <a:t> "After the teaching, each of you plays the same game alone in 2.2 of your own page. Each decision locks once it is made. The Reveal opens when all three rounds are locked, and then you answer the Arena questions and the final challenge. This is portfolio work."</a:t>
            </a:r>
          </a:p>
          <a:p>
            <a:r>
              <a:t/>
            </a:r>
          </a:p>
          <a:p>
            <a:r>
              <a:rPr b="1"/>
              <a:t>9. Close the section and return to the deck.</a:t>
            </a:r>
          </a:p>
          <a:p>
            <a:r>
              <a:rPr b="1"/>
              <a:t>Say:</a:t>
            </a:r>
            <a:r>
              <a:t> "Defining the market by customer outcomes widens the field of competition leaders see and test.</a:t>
            </a:r>
          </a:p>
          <a:p>
            <a:r>
              <a:t>Section 3 examines where directional integrity breaks down: the checkpoint each executive role is most likely to overlook."</a:t>
            </a:r>
          </a:p>
          <a:p>
            <a:r>
              <a:t>Stop sharing the facilitator file and return to the deck.</a:t>
            </a:r>
          </a:p>
          <a:p>
            <a:r>
              <a:t/>
            </a:r>
          </a:p>
          <a:p>
            <a:r>
              <a:rPr b="1"/>
              <a:t>ON THE PORTAL, AFTER THE TEACHING:</a:t>
            </a:r>
          </a:p>
          <a:p>
            <a:r>
              <a:t>Each participant plays the Industry Illusion game alone in 2.2 of the participant file: the case brief, Rounds 1 to 3, The Reveal, then the Arena questions and the final challenge.</a:t>
            </a:r>
          </a:p>
          <a:p>
            <a:r>
              <a:t/>
            </a:r>
          </a:p>
          <a:p>
            <a:r>
              <a:rPr b="1"/>
              <a:t>AFTER THE SESSION:</a:t>
            </a:r>
          </a:p>
          <a:p>
            <a:r>
              <a:t>Each participant’s own game reaches you with the submission, under the heading Industry Illusion Game.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3 · EXTRAPOLATING — WHERE</a:t>
            </a:r>
          </a:p>
          <a:p>
            <a:r>
              <a:t/>
            </a:r>
          </a:p>
          <a:p>
            <a:r>
              <a:rPr b="1"/>
              <a:t>HOW THIS SECTION RUNS:</a:t>
            </a:r>
          </a:p>
          <a:p>
            <a:r>
              <a:t>1. 3.1a: the Executive Hot Zone, the ABCV checkpoint each executive role most often overlooks, and the late signals each blind spot produces.</a:t>
            </a:r>
          </a:p>
          <a:p>
            <a:r>
              <a:t>2. The Section 3 Reflections slide: the reflection participants write on the portal after the teaching.</a:t>
            </a:r>
          </a:p>
          <a:p>
            <a:r>
              <a:t/>
            </a:r>
          </a:p>
          <a:p>
            <a:r>
              <a:rPr b="1"/>
              <a:t>SECTION LEARNING OUTCOMES:</a:t>
            </a:r>
          </a:p>
          <a:p>
            <a:r>
              <a:rPr b="1"/>
              <a:t>1. Diagnose integrity blind spots arising from functional perspectives.</a:t>
            </a:r>
          </a:p>
          <a:p>
            <a:r>
              <a:rPr b="1"/>
              <a:t>2. Assess how functional blind spots combine into enterprise strategic risk.</a:t>
            </a:r>
          </a:p>
          <a:p>
            <a:r>
              <a:t/>
            </a:r>
          </a:p>
          <a:p>
            <a:r>
              <a:rPr b="1"/>
              <a:t>HOW TO OPEN THE SECTION:</a:t>
            </a:r>
          </a:p>
          <a:p>
            <a:r>
              <a:t/>
            </a:r>
          </a:p>
          <a:p>
            <a:r>
              <a:rPr b="1"/>
              <a:t>1. Say what the section does.</a:t>
            </a:r>
          </a:p>
          <a:p>
            <a:r>
              <a:rPr b="1"/>
              <a:t>Say:</a:t>
            </a:r>
            <a:r>
              <a:t> "Every executive role is trained to protect a different part of the enterprise system.</a:t>
            </a:r>
          </a:p>
          <a:p>
            <a:r>
              <a:t>These specialisations create selective attention, and predictable strategic blind spots across the leadership mandate."</a:t>
            </a:r>
          </a:p>
          <a:p>
            <a:r>
              <a:t>Section intent: make the ABCV framework personal to each leader's role. The aim is illumination. Leaders should finish knowing which ABCV checkpoint is most likely their organisational blind spot and why it creates specific downstream consequences.</a:t>
            </a:r>
          </a:p>
          <a:p>
            <a:r>
              <a:t/>
            </a:r>
          </a:p>
          <a:p>
            <a:r>
              <a:rPr b="1"/>
              <a:t>2. Read the two section learning outcomes from the slide.</a:t>
            </a:r>
          </a:p>
          <a:p>
            <a:r>
              <a:t/>
            </a:r>
          </a:p>
          <a:p>
            <a:r>
              <a:rPr b="1"/>
              <a:t>3. Return to the answers from Section 1.</a:t>
            </a:r>
          </a:p>
          <a:p>
            <a:r>
              <a:t>Recall the checkpoints the room named as most consistently overlooked at the end of Section 1.</a:t>
            </a:r>
          </a:p>
          <a:p>
            <a:r>
              <a:rPr b="1"/>
              <a:t>Say:</a:t>
            </a:r>
            <a:r>
              <a:t> "Section 3 shows where those answers come from."</a:t>
            </a:r>
          </a:p>
          <a:p>
            <a:r>
              <a:t/>
            </a:r>
          </a:p>
          <a:p>
            <a:r>
              <a:rPr b="1"/>
              <a:t>4. Bridge to 3.1.</a:t>
            </a:r>
          </a:p>
          <a:p>
            <a:r>
              <a:rPr b="1"/>
              <a:t>Say:</a:t>
            </a:r>
            <a:r>
              <a:t> "We look at the executive team, role by role."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3.1 — THE EXECUTIVE HOT ZONE: ROLE-BASED BLIND SPOTS (9 ROLES)</a:t>
            </a:r>
          </a:p>
          <a:p>
            <a:r>
              <a:t/>
            </a:r>
          </a:p>
          <a:p>
            <a:r>
              <a:rPr b="1"/>
              <a:t>HOW TO TEACH IT:</a:t>
            </a:r>
          </a:p>
          <a:p>
            <a:r>
              <a:t/>
            </a:r>
          </a:p>
          <a:p>
            <a:r>
              <a:rPr b="1"/>
              <a:t>1. Link to the elephant story.</a:t>
            </a:r>
          </a:p>
          <a:p>
            <a:r>
              <a:rPr b="1"/>
              <a:t>Say:</a:t>
            </a:r>
            <a:r>
              <a:t> "The elephant story reminds us that biases will always show up as leaders give their input to the strategy."</a:t>
            </a:r>
          </a:p>
          <a:p>
            <a:r>
              <a:t/>
            </a:r>
          </a:p>
          <a:p>
            <a:r>
              <a:rPr b="1"/>
              <a:t>Say:</a:t>
            </a:r>
            <a:r>
              <a:t> "What we see is that the biases show up on the basis of the role the leader holds more than their character."</a:t>
            </a:r>
          </a:p>
          <a:p>
            <a:r>
              <a:t/>
            </a:r>
          </a:p>
          <a:p>
            <a:r>
              <a:rPr b="1"/>
              <a:t>Say:</a:t>
            </a:r>
            <a:r>
              <a:t/>
            </a:r>
          </a:p>
          <a:p>
            <a:r>
              <a:t>"Every executive looks at strategy through the eyes of their responsibility. That view gives them expertise, but it can also create blind spots.</a:t>
            </a:r>
          </a:p>
          <a:p>
            <a:r>
              <a:t>Let's examine four executives. Each is competent, each is doing their job, and each may still overlook something important about the organisation's strategic context.“</a:t>
            </a:r>
          </a:p>
          <a:p>
            <a:r>
              <a:t/>
            </a:r>
          </a:p>
          <a:p>
            <a:r>
              <a:t>2. Walk through the four characters</a:t>
            </a:r>
          </a:p>
          <a:p>
            <a:r>
              <a:t/>
            </a:r>
          </a:p>
          <a:p>
            <a:r>
              <a:t>CEO — Blind Spot: Boundaries</a:t>
            </a:r>
          </a:p>
          <a:p>
            <a:r>
              <a:t>"The CEO sees the vision and wants the organisation to move. But sometimes the excitement about where we are going overshadows the conditions that could prevent us from getting there.</a:t>
            </a:r>
          </a:p>
          <a:p>
            <a:r>
              <a:t>The ABCV question becomes: What boundaries could prevent us from achieving our strategic ambition, and which can we influence or redesign?"</a:t>
            </a:r>
          </a:p>
          <a:p>
            <a:r>
              <a:t/>
            </a:r>
          </a:p>
          <a:p>
            <a:r>
              <a:t>CFO — Blind Spot: Arena</a:t>
            </a:r>
          </a:p>
          <a:p>
            <a:r>
              <a:t>"The CFO examines financial viability, revenue, costs and returns. The numbers may look healthy, but financial performance often tells us what has happened. It says less about whether the underlying customer need is changing.</a:t>
            </a:r>
          </a:p>
          <a:p>
            <a:r>
              <a:t>An organisation can continue generating revenue from a business model whose relevance is gradually declining.</a:t>
            </a:r>
          </a:p>
          <a:p>
            <a:r>
              <a:t>The ABCV question becomes: Are we still operating in an arena where the customer need is important, relevant and sustainable?"</a:t>
            </a:r>
          </a:p>
          <a:p>
            <a:r>
              <a:t/>
            </a:r>
          </a:p>
          <a:p>
            <a:r>
              <a:t>CHRO — Blind Spot: Competition</a:t>
            </a:r>
          </a:p>
          <a:p>
            <a:r>
              <a:t>"The CHRO focuses on people capability, engagement and alignment. These are essential to execution.</a:t>
            </a:r>
          </a:p>
          <a:p>
            <a:r>
              <a:t>But imagine having highly motivated employees, excellent teamwork and strong performance management, all directed towards a strategy that competitors are already making irrelevant.</a:t>
            </a:r>
          </a:p>
          <a:p>
            <a:r>
              <a:t>The ABCV question becomes: Are we building and aligning our people's capabilities to compete effectively in the market we are targeting?"</a:t>
            </a:r>
          </a:p>
          <a:p>
            <a:r>
              <a:t/>
            </a:r>
          </a:p>
          <a:p>
            <a:r>
              <a:t>CTO — Blind Spot: Value Proposition</a:t>
            </a:r>
          </a:p>
          <a:p>
            <a:r>
              <a:t>"The CTO may focus on technological capability, system performance and innovation.</a:t>
            </a:r>
          </a:p>
          <a:p>
            <a:r>
              <a:t>We can build a sophisticated digital platform, automate processes and introduce advanced technology. But technological excellence does not automatically translate into customer value.</a:t>
            </a:r>
          </a:p>
          <a:p>
            <a:r>
              <a:t>The ABCV question becomes: Does our solution create value customers genuinely care about, and is that value meaningfully different from available alternatives?"</a:t>
            </a:r>
          </a:p>
          <a:p>
            <a:r>
              <a:t/>
            </a:r>
          </a:p>
          <a:p>
            <a:r>
              <a:t>3. Draw Out the Strategic Insight</a:t>
            </a:r>
          </a:p>
          <a:p>
            <a:r>
              <a:rPr b="1"/>
              <a:t>Say:</a:t>
            </a:r>
            <a:r>
              <a:t/>
            </a:r>
          </a:p>
          <a:p>
            <a:r>
              <a:t>"Notice something interesting. None of these executives is necessarily wrong.</a:t>
            </a:r>
          </a:p>
          <a:p>
            <a:r>
              <a:t>The CEO is right to pursue the vision. The CFO is right to protect financial viability. The CHRO is right to develop people. The CTO is right to strengthen technological capability.</a:t>
            </a:r>
          </a:p>
          <a:p>
            <a:r>
              <a:t/>
            </a:r>
          </a:p>
          <a:p>
            <a:r>
              <a:t>The problem emerges when each executive's functional perspective becomes the organisation's entire strategic perspective.</a:t>
            </a:r>
          </a:p>
          <a:p>
            <a:r>
              <a:t>That is how we can end up with a strategy that makes perfect sense within individual functions but fails when tested against the broader strategic context."</a:t>
            </a:r>
          </a:p>
          <a:p>
            <a:r>
              <a:t/>
            </a:r>
          </a:p>
          <a:p>
            <a:r>
              <a:t>4. Engage Participants</a:t>
            </a:r>
          </a:p>
          <a:p>
            <a:r>
              <a:rPr b="1"/>
              <a:t>Ask:</a:t>
            </a:r>
            <a:r>
              <a:t/>
            </a:r>
          </a:p>
          <a:p>
            <a:r>
              <a:t>"Looking at these four characters, which blind spot do you recognise most in your organisation?"</a:t>
            </a:r>
          </a:p>
          <a:p>
            <a:r>
              <a:t>Take two or three responses.</a:t>
            </a:r>
          </a:p>
          <a:p>
            <a:r>
              <a:rPr b="1"/>
              <a:t>Then ask:</a:t>
            </a:r>
            <a:r>
              <a:t/>
            </a:r>
          </a:p>
          <a:p>
            <a:r>
              <a:t>"Can you think of a situation where an executive was making a perfectly reasonable decision from their functional perspective, but that decision created a problem for the wider organisation?"</a:t>
            </a:r>
          </a:p>
          <a:p>
            <a:r>
              <a:t/>
            </a:r>
          </a:p>
          <a:p>
            <a:r>
              <a:t>5. Close and Reinforce</a:t>
            </a:r>
          </a:p>
          <a:p>
            <a:r>
              <a:rPr b="1"/>
              <a:t>Say:</a:t>
            </a:r>
            <a:r>
              <a:t/>
            </a:r>
          </a:p>
          <a:p>
            <a:r>
              <a:t>"This is why ABCV matters.</a:t>
            </a:r>
          </a:p>
          <a:p>
            <a:r>
              <a:t>Boundaries, Arena, Competition and Value Proposition help us examine strategic direction from perspectives that individual functions may overlook.</a:t>
            </a:r>
          </a:p>
          <a:p>
            <a:r>
              <a:t>And remember, these are illustrative blind spots. A CEO could overlook competition, a CFO could overlook boundaries, and a CTO could overlook the arena.</a:t>
            </a:r>
          </a:p>
          <a:p>
            <a:r>
              <a:t>The lesson is that functional expertise gives us depth, but strategic integration gives us the enterprise view.</a:t>
            </a:r>
          </a:p>
          <a:p>
            <a:r>
              <a:t>When we bring these perspectives together, we improve our ability to identify the assumptions, constraints and competitive realities that could undermine our strategy before we commit to execution."</a:t>
            </a:r>
          </a:p>
          <a:p>
            <a:r>
              <a:t>Final reflection:</a:t>
            </a:r>
          </a:p>
          <a:p>
            <a:r>
              <a:t>"Which part of ABCV would your own functional expertise naturally lead you to overlook?"</a:t>
            </a:r>
          </a:p>
          <a:p>
            <a:r>
              <a:t/>
            </a:r>
          </a:p>
          <a:p>
            <a:r>
              <a:rPr b="1"/>
              <a:t>6. Read the late signals.</a:t>
            </a:r>
          </a:p>
          <a:p>
            <a:r>
              <a:rPr b="1"/>
              <a:t>Say:</a:t>
            </a:r>
            <a:r>
              <a:t> "Each blind spot has a symptom: the question leaders only start asking when the underlying condition has already failed. These are late signals. ABCV–MBT creates early signals."</a:t>
            </a:r>
          </a:p>
          <a:p>
            <a:r>
              <a:t>Give the symptom and the right question for the roles in the room:</a:t>
            </a:r>
          </a:p>
          <a:p>
            <a:r>
              <a:t>- CEO · Boundaries. Symptom: "Why are we not seeing the results when our strategy is clear?" Right question: "What specific conditions must remain true for execution to sustain the pace we've planned for?"</a:t>
            </a:r>
          </a:p>
          <a:p>
            <a:r>
              <a:t>- CFO · Arena. Symptom: "The model works… so why is performance lagging?" Right question: "Is the customer end-game we designed this model around still the right end-game?"</a:t>
            </a:r>
          </a:p>
          <a:p>
            <a:r>
              <a:t>- COO · Competition. Symptom: "We've optimised everything — what are we missing?" Right question: "Are our efficiency gains making us meaningfully more competitive against the real alternatives customers have?"</a:t>
            </a:r>
          </a:p>
          <a:p>
            <a:r>
              <a:t>- CHRO · Competition. Symptom: "Our people are committed — why isn't it translating?" Right question: "Are we aligning our people's energy towards the right competitive arena, or building capability for yesterday's contest?"</a:t>
            </a:r>
          </a:p>
          <a:p>
            <a:r>
              <a:t>- CTO · Value Proposition. Symptom: "We delivered the system — why isn't adoption there?" Right question: "Does this solution create value the customer recognises, and does it set us apart from the alternatives they have?"</a:t>
            </a:r>
          </a:p>
          <a:p>
            <a:r>
              <a:t>- CMO · Boundaries. Symptom: "We created demand — why can't we fulfil it?" Right question: "Do our operational boundaries allow us to fulfil the demand our marketing is designed to generate?"</a:t>
            </a:r>
          </a:p>
          <a:p>
            <a:r>
              <a:t>- CCO · Value Proposition. Symptom: "We're closing deals — but at what cost to who we are?" Right question: "Does this deal sharpen our value architecture or compromise it for short-term volume?"</a:t>
            </a:r>
          </a:p>
          <a:p>
            <a:r>
              <a:t>- CPO · Arena. Symptom: "We've saved money — but has it actually mattered?" Right question: "Does this cost initiative strengthen our ability to compete in the arena our customers actually operate in?"</a:t>
            </a:r>
          </a:p>
          <a:p>
            <a:r>
              <a:t>- CSO · Boundaries. Symptom: "Why does execution keep breaking after alignment?" Right question: "Which operational friction points have we built our strategy around — and which are we still hoping won't materialise?"</a:t>
            </a:r>
          </a:p>
          <a:p>
            <a:r>
              <a:rPr b="1"/>
              <a:t>Ask:</a:t>
            </a:r>
            <a:r>
              <a:t> "Which of these symptoms have you heard in your leadership conversations in the last quarter? What does that tell you about where your blind spot sits?"</a:t>
            </a:r>
          </a:p>
          <a:p>
            <a:r>
              <a:rPr b="1"/>
              <a:t>Then ask:</a:t>
            </a:r>
            <a:r>
              <a:t> "Look at the gaps across all roles. Which checkpoint appears most frequently as an overlooked dimension?"</a:t>
            </a:r>
          </a:p>
          <a:p>
            <a:r>
              <a:rPr b="1"/>
              <a:t>Say:</a:t>
            </a:r>
            <a:r>
              <a:t> "That answer is the team's most critical strategic vulnerability."</a:t>
            </a:r>
          </a:p>
          <a:p>
            <a:r>
              <a:t/>
            </a:r>
          </a:p>
          <a:p>
            <a:r>
              <a:rPr b="1"/>
              <a:t>7. Close the section.</a:t>
            </a:r>
          </a:p>
          <a:p>
            <a:r>
              <a:rPr b="1"/>
              <a:t>Say:</a:t>
            </a:r>
            <a:r>
              <a:t> "Each executive brings a predictable blind spot; collective review covers the checkpoints any one function overlooks."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SECTION 3 REFLECTIONS</a:t>
            </a:r>
          </a:p>
          <a:p>
            <a:r>
              <a:t/>
            </a:r>
          </a:p>
          <a:p>
            <a:r>
              <a:rPr b="1"/>
              <a:t>HOW TO USE THIS SLIDE:</a:t>
            </a:r>
          </a:p>
          <a:p>
            <a:r>
              <a:t/>
            </a:r>
          </a:p>
          <a:p>
            <a:r>
              <a:rPr b="1"/>
              <a:t>1. Show the slide and read the prompt aloud.</a:t>
            </a:r>
          </a:p>
          <a:p>
            <a:r>
              <a:t>3.1 Reflection: "Having explored your role’s typical blind spot: what is one MBT condition in that checkpoint that your organisation is currently assuming without confirmation? What would it take to verify it?"</a:t>
            </a:r>
          </a:p>
          <a:p>
            <a:r>
              <a:t/>
            </a:r>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
            </a:r>
          </a:p>
          <a:p>
            <a:r>
              <a:rPr b="1"/>
              <a:t>Say:</a:t>
            </a:r>
            <a:r>
              <a:t> "You write this reflection on the portal after the teaching, with as much depth as you can."</a:t>
            </a:r>
          </a:p>
          <a:p>
            <a:r>
              <a:t/>
            </a:r>
          </a:p>
          <a:p>
            <a:r>
              <a:rPr b="1"/>
              <a:t>3. Set the standard.</a:t>
            </a:r>
          </a:p>
          <a:p>
            <a:r>
              <a:rPr b="1"/>
              <a:t>Say:</a:t>
            </a:r>
            <a:r>
              <a:t> "Name the checkpoint of your role.</a:t>
            </a:r>
          </a:p>
          <a:p>
            <a:r>
              <a:t>Write one condition your organisation is assuming, in a form that is either true or false.</a:t>
            </a:r>
          </a:p>
          <a:p>
            <a:r>
              <a:t>Then say what evidence would verify it and who holds that evidence."</a:t>
            </a:r>
          </a:p>
          <a:p>
            <a:r>
              <a:rPr b="1"/>
              <a:t>Listen for:</a:t>
            </a:r>
            <a:r>
              <a:t> a general concern where a condition is needed. Ask: "What exactly must remain true?"</a:t>
            </a:r>
          </a:p>
          <a:p>
            <a:r>
              <a:t/>
            </a:r>
          </a:p>
          <a:p>
            <a:r>
              <a:rPr b="1"/>
              <a:t>4. Bridge to Section 4.</a:t>
            </a:r>
          </a:p>
          <a:p>
            <a:r>
              <a:rPr b="1"/>
              <a:t>Say:</a:t>
            </a:r>
            <a:r>
              <a:t> "We know the checkpoints and we know our blind spots. Section 4 applies the checkpoints to realistic strategic failures, matching each breakdown to its cause."</a:t>
            </a:r>
          </a:p>
          <a:p>
            <a:r>
              <a:t/>
            </a:r>
          </a:p>
          <a:p>
            <a:r>
              <a:rPr b="1"/>
              <a:t>ON THE PORTAL, AFTER THE TEACHING:</a:t>
            </a:r>
          </a:p>
          <a:p>
            <a:r>
              <a:t>Participants write the reflection in Section 3 of the participant file: 3.1 Reflection.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5 · APPLICATION — IN PRACTICE</a:t>
            </a:r>
          </a:p>
          <a:p>
            <a:r>
              <a:t/>
            </a:r>
          </a:p>
          <a:p>
            <a:r>
              <a:rPr b="1"/>
              <a:t>HOW THIS SECTION RUNS:</a:t>
            </a:r>
          </a:p>
          <a:p>
            <a:r>
              <a:t>1. 5.1: the worked example. One Key Result of the client services company from Unit 3, taken through four steps, on six slides.</a:t>
            </a:r>
          </a:p>
          <a:p>
            <a:r>
              <a:t>2. 5.2: the briefing for the Capstone work. Each group takes its own Unit 3 Key Results through the same four steps.</a:t>
            </a:r>
          </a:p>
          <a:p>
            <a:r>
              <a:t>3. 5.3: accountability assignment and the executive blind spot. The group assigns each critical condition to an executive and names the checkpoint its team is most likely to overlook.</a:t>
            </a:r>
          </a:p>
          <a:p>
            <a:r>
              <a:t/>
            </a:r>
          </a:p>
          <a:p>
            <a:r>
              <a:rPr b="1"/>
              <a:t>SECTION LEARNING OUTCOMES:</a:t>
            </a:r>
          </a:p>
          <a:p>
            <a:r>
              <a:rPr b="1"/>
              <a:t>1. Validate the critical assumptions, dependencies and uncertainties behind strategic objectives.</a:t>
            </a:r>
          </a:p>
          <a:p>
            <a:r>
              <a:rPr b="1"/>
              <a:t>2. Assign and coordinate executive accountability for validating strategic conditions.</a:t>
            </a:r>
          </a:p>
          <a:p>
            <a:r>
              <a:t/>
            </a:r>
          </a:p>
          <a:p>
            <a:r>
              <a:rPr b="1"/>
              <a:t>HOW TO OPEN THE SECTION:</a:t>
            </a:r>
          </a:p>
          <a:p>
            <a:r>
              <a:t/>
            </a:r>
          </a:p>
          <a:p>
            <a:r>
              <a:rPr b="1"/>
              <a:t>1. Say what the section does.</a:t>
            </a:r>
          </a:p>
          <a:p>
            <a:r>
              <a:rPr b="1"/>
              <a:t>Say:</a:t>
            </a:r>
            <a:r>
              <a:t> "This is where the checkpoints are applied to your own direction.</a:t>
            </a:r>
          </a:p>
          <a:p>
            <a:r>
              <a:t>Your group brings in the Key Results it confirmed in Unit 3 and takes each one through four steps.</a:t>
            </a:r>
          </a:p>
          <a:p>
            <a:r>
              <a:t>At each step it names the condition that must remain true."</a:t>
            </a:r>
          </a:p>
          <a:p>
            <a:r>
              <a:t>This is Capstone work: the confirmed outputs feed boxes 4A to 4F of each team’s Capstone S2R® Blueprint.</a:t>
            </a:r>
          </a:p>
          <a:p>
            <a:r>
              <a:t/>
            </a:r>
          </a:p>
          <a:p>
            <a:r>
              <a:rPr b="1"/>
              <a:t>2. Say the order.</a:t>
            </a:r>
          </a:p>
          <a:p>
            <a:r>
              <a:rPr b="1"/>
              <a:t>Say:</a:t>
            </a:r>
            <a:r>
              <a:t> "We first walk one worked example in full. Your exercise then follows the worked example step for step."</a:t>
            </a:r>
          </a:p>
          <a:p>
            <a:r>
              <a:t/>
            </a:r>
          </a:p>
          <a:p>
            <a:r>
              <a:rPr b="1"/>
              <a:t>3. Bridge to 5.1.</a:t>
            </a:r>
          </a:p>
          <a:p>
            <a:r>
              <a:rPr b="1"/>
              <a:t>Say:</a:t>
            </a:r>
            <a:r>
              <a:t> "The example continues the client services company you met in Unit 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STRESS-TESTING A KEY RESULT (4 STEPS)</a:t>
            </a:r>
          </a:p>
          <a:p>
            <a:endParaRPr lang="en-GB" dirty="0"/>
          </a:p>
          <a:p>
            <a:r>
              <a:rPr lang="en-GB" b="1" dirty="0"/>
              <a:t>HOW TO TEACH IT:</a:t>
            </a:r>
          </a:p>
          <a:p>
            <a:endParaRPr lang="en-GB" dirty="0"/>
          </a:p>
          <a:p>
            <a:r>
              <a:rPr lang="en-GB" b="1" dirty="0"/>
              <a:t>1. Recall the company.</a:t>
            </a:r>
          </a:p>
          <a:p>
            <a:r>
              <a:rPr lang="en-GB" dirty="0"/>
              <a:t>Say: "This example continues the client services company you met in Unit 3, part 2.2."</a:t>
            </a:r>
          </a:p>
          <a:p>
            <a:r>
              <a:rPr lang="en-GB" dirty="0"/>
              <a:t>Its Success in Practice reads: “We will be the service partner our clients rely on first, by ensuring every client experiences fast, consistent and effortless service.”</a:t>
            </a:r>
          </a:p>
          <a:p>
            <a:endParaRPr lang="en-GB" dirty="0"/>
          </a:p>
          <a:p>
            <a:r>
              <a:rPr lang="en-GB" b="1" dirty="0"/>
              <a:t>2. Read the Key Result on the slide aloud.</a:t>
            </a:r>
          </a:p>
          <a:p>
            <a:r>
              <a:rPr lang="en-GB" dirty="0"/>
              <a:t>Objective: Deliver consistently fast and effortless service experiences for customers</a:t>
            </a:r>
          </a:p>
          <a:p>
            <a:r>
              <a:rPr lang="en-GB" dirty="0"/>
              <a:t>Key Result: Reduce average response time to customer requests from 12 hours to 4 hours by 30 June 2027</a:t>
            </a:r>
          </a:p>
          <a:p>
            <a:endParaRPr lang="en-GB" dirty="0"/>
          </a:p>
          <a:p>
            <a:r>
              <a:rPr lang="en-GB" b="1" dirty="0"/>
              <a:t>3. Say how the example runs.</a:t>
            </a:r>
          </a:p>
          <a:p>
            <a:r>
              <a:rPr lang="en-GB" dirty="0"/>
              <a:t>Say: "The company takes this one Key Result through the four steps. Each step ends with the condition that must remain true for the Key Result to hold."</a:t>
            </a:r>
          </a:p>
          <a:p>
            <a:r>
              <a:rPr lang="en-GB" dirty="0"/>
              <a:t>At the end of each step, read the Must-Be-True condition aloud and ask what it would look like if it failed. Each condition is either true or false.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1: DEFINE THE ARENA</a:t>
            </a:r>
          </a:p>
          <a:p>
            <a:endParaRPr lang="en-GB" dirty="0"/>
          </a:p>
          <a:p>
            <a:r>
              <a:rPr lang="en-GB" b="1" dirty="0"/>
              <a:t>HOW TO TEACH IT:</a:t>
            </a:r>
          </a:p>
          <a:p>
            <a:endParaRPr lang="en-GB" dirty="0"/>
          </a:p>
          <a:p>
            <a:r>
              <a:rPr lang="en-GB" b="1" dirty="0"/>
              <a:t>1. Read the question of the step from the slide.</a:t>
            </a:r>
          </a:p>
          <a:p>
            <a:r>
              <a:rPr lang="en-GB" dirty="0"/>
              <a:t>"Which customer need does “Reduce average response time to customer requests from 12 hours to 4 hours by 30 June 2027” serve: functional, experiential or consequential?"</a:t>
            </a:r>
          </a:p>
          <a:p>
            <a:endParaRPr lang="en-GB" dirty="0"/>
          </a:p>
          <a:p>
            <a:r>
              <a:rPr lang="en-GB" b="1" dirty="0"/>
              <a:t>2. Read the company’s answers.</a:t>
            </a:r>
          </a:p>
          <a:p>
            <a:r>
              <a:rPr lang="en-GB" dirty="0"/>
              <a:t>Functional · What does the customer need done that this Key Result serves? Have a service request answered and resolved.</a:t>
            </a:r>
          </a:p>
          <a:p>
            <a:r>
              <a:rPr lang="en-GB" dirty="0"/>
              <a:t>Experiential · What matters to the customer about how it is done? Fast and effortless: one contact, no chasing.</a:t>
            </a:r>
          </a:p>
          <a:p>
            <a:r>
              <a:rPr lang="en-GB" dirty="0"/>
              <a:t>Consequential · What does this Key Result enable for the customer? Keep their own operations running and their commitments to their own customers met.</a:t>
            </a:r>
          </a:p>
          <a:p>
            <a:endParaRPr lang="en-GB" dirty="0"/>
          </a:p>
          <a:p>
            <a:r>
              <a:rPr lang="en-GB" b="1" dirty="0"/>
              <a:t>3. Read the Must-Be-True condition.</a:t>
            </a:r>
          </a:p>
          <a:p>
            <a:r>
              <a:rPr lang="en-GB" dirty="0"/>
              <a:t>The question: "What must remain true about that functional, experiential or consequential need for “Reduce average response time to customer requests from 12 hours to 4 hours by 30 June 2027” to stay relevant?"</a:t>
            </a:r>
          </a:p>
          <a:p>
            <a:r>
              <a:rPr lang="en-GB" dirty="0"/>
              <a:t>The condition: Experiential: clients continue to rank speed of response among their top three reasons for choosing a service partner.</a:t>
            </a:r>
          </a:p>
          <a:p>
            <a:r>
              <a:rPr lang="en-GB" dirty="0"/>
              <a:t>Ask: "What would we see first if clients stopped ranking speed of response among their top three reasons?"</a:t>
            </a:r>
          </a:p>
          <a:p>
            <a:endParaRPr lang="en-GB" dirty="0"/>
          </a:p>
          <a:p>
            <a:r>
              <a:rPr lang="en-GB" b="1" dirty="0"/>
              <a:t>4. Point out the depth.</a:t>
            </a:r>
          </a:p>
          <a:p>
            <a:r>
              <a:rPr lang="en-GB" dirty="0"/>
              <a:t>Say: "The condition rests on the experiential depth. The company says so in the first word."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2: UNDERSTAND THE BOUNDARIES</a:t>
            </a:r>
          </a:p>
          <a:p>
            <a:endParaRPr lang="en-GB" dirty="0"/>
          </a:p>
          <a:p>
            <a:r>
              <a:rPr lang="en-GB" b="1" dirty="0"/>
              <a:t>HOW TO TEACH IT:</a:t>
            </a:r>
          </a:p>
          <a:p>
            <a:endParaRPr lang="en-GB" dirty="0"/>
          </a:p>
          <a:p>
            <a:r>
              <a:rPr lang="en-GB" b="1" dirty="0"/>
              <a:t>1. Read the question of the step from the slide.</a:t>
            </a:r>
          </a:p>
          <a:p>
            <a:r>
              <a:rPr lang="en-GB" dirty="0"/>
              <a:t>"Which conditions could materially slow, restrict or prevent us from delivering “</a:t>
            </a:r>
          </a:p>
          <a:p>
            <a:r>
              <a:rPr lang="en-GB" dirty="0"/>
              <a:t>Reduce average response time to customer requests from 12 hours to 4 hours by 30 June 2027”?"</a:t>
            </a:r>
          </a:p>
          <a:p>
            <a:endParaRPr lang="en-GB" dirty="0"/>
          </a:p>
          <a:p>
            <a:r>
              <a:rPr lang="en-GB" b="1" dirty="0"/>
              <a:t>2. Read the company’s answers.</a:t>
            </a:r>
          </a:p>
          <a:p>
            <a:r>
              <a:rPr lang="en-GB" dirty="0"/>
              <a:t>The slide lists four boundaries. For each one, give its kind and say whether the company must accept it, can influence it, or created it itself:</a:t>
            </a:r>
          </a:p>
          <a:p>
            <a:r>
              <a:rPr lang="en-GB" dirty="0"/>
              <a:t>- Requests that cross Commercial, Operations and Customer Service wait at each handover. Operational · Created ourselves.</a:t>
            </a:r>
          </a:p>
          <a:p>
            <a:r>
              <a:rPr lang="en-GB" dirty="0"/>
              <a:t>- Front-line staff lack the authority and the client information to answer alone. Behavioural · Created ourselves.</a:t>
            </a:r>
          </a:p>
          <a:p>
            <a:r>
              <a:rPr lang="en-GB" dirty="0"/>
              <a:t>- Each function records requests in its own system, with no shared view. Technological · Created ourselves.</a:t>
            </a:r>
          </a:p>
          <a:p>
            <a:r>
              <a:rPr lang="en-GB" dirty="0"/>
              <a:t>- Request volumes peak at month-end. Operational · Must accept.</a:t>
            </a:r>
          </a:p>
          <a:p>
            <a:endParaRPr lang="en-GB" dirty="0"/>
          </a:p>
          <a:p>
            <a:r>
              <a:rPr lang="en-GB" b="1" dirty="0"/>
              <a:t>3. Read the Must-Be-True condition.</a:t>
            </a:r>
          </a:p>
          <a:p>
            <a:r>
              <a:rPr lang="en-GB" dirty="0"/>
              <a:t>The question: "What must remain true operationally or regulatorily for us to deliver “Reduce average response time to customer requests from 12 hours to 4 hours by 30 June 2027” without breaking?"</a:t>
            </a:r>
          </a:p>
          <a:p>
            <a:r>
              <a:rPr lang="en-GB" dirty="0"/>
              <a:t>The condition: Handovers between Commercial, Operations and Customer Service are completed inside four hours.</a:t>
            </a:r>
          </a:p>
          <a:p>
            <a:r>
              <a:rPr lang="en-GB" dirty="0"/>
              <a:t>Ask: "What would we see first if handovers took longer than four hours?"</a:t>
            </a:r>
          </a:p>
          <a:p>
            <a:endParaRPr lang="en-GB" dirty="0"/>
          </a:p>
          <a:p>
            <a:r>
              <a:rPr lang="en-GB" b="1" dirty="0"/>
              <a:t>4. Point out the pattern.</a:t>
            </a:r>
          </a:p>
          <a:p>
            <a:r>
              <a:rPr lang="en-GB" dirty="0"/>
              <a:t>Say: "Three of the four boundaries were created by the company itself. Those are the ones it can remove."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3: SEE THE COMPETITION</a:t>
            </a:r>
          </a:p>
          <a:p>
            <a:endParaRPr lang="en-GB" dirty="0"/>
          </a:p>
          <a:p>
            <a:r>
              <a:rPr lang="en-GB" b="1" dirty="0"/>
              <a:t>HOW TO TEACH IT:</a:t>
            </a:r>
          </a:p>
          <a:p>
            <a:endParaRPr lang="en-GB" dirty="0"/>
          </a:p>
          <a:p>
            <a:r>
              <a:rPr lang="en-GB" b="1" dirty="0"/>
              <a:t>1. Read the question of the step from the slide.</a:t>
            </a:r>
          </a:p>
          <a:p>
            <a:r>
              <a:rPr lang="en-GB" dirty="0"/>
              <a:t>"Who or what else can give the customer what “Reduce average response time to customer requests from 12 hours to 4 hours by 30 June 2027” delivers?"</a:t>
            </a:r>
          </a:p>
          <a:p>
            <a:endParaRPr lang="en-GB" dirty="0"/>
          </a:p>
          <a:p>
            <a:r>
              <a:rPr lang="en-GB" b="1" dirty="0"/>
              <a:t>2. Read the company’s answers.</a:t>
            </a:r>
          </a:p>
          <a:p>
            <a:r>
              <a:rPr lang="en-GB" dirty="0"/>
              <a:t>The slide lists five alternatives:</a:t>
            </a:r>
          </a:p>
          <a:p>
            <a:r>
              <a:rPr lang="en-GB" dirty="0"/>
              <a:t>- Rival client services firms.</a:t>
            </a:r>
          </a:p>
          <a:p>
            <a:r>
              <a:rPr lang="en-GB" dirty="0"/>
              <a:t>- Larger providers with round-the-clock service desks.</a:t>
            </a:r>
          </a:p>
          <a:p>
            <a:r>
              <a:rPr lang="en-GB" dirty="0"/>
              <a:t>- The client’s own in-house team.</a:t>
            </a:r>
          </a:p>
          <a:p>
            <a:r>
              <a:rPr lang="en-GB" dirty="0"/>
              <a:t>- Self-service tools that answer simple requests at once.</a:t>
            </a:r>
          </a:p>
          <a:p>
            <a:r>
              <a:rPr lang="en-GB" dirty="0"/>
              <a:t>- Doing nothing: the client lives with a slower answer.</a:t>
            </a:r>
          </a:p>
          <a:p>
            <a:endParaRPr lang="en-GB" dirty="0"/>
          </a:p>
          <a:p>
            <a:r>
              <a:rPr lang="en-GB" b="1" dirty="0"/>
              <a:t>3. Read the Must-Be-True condition.</a:t>
            </a:r>
          </a:p>
          <a:p>
            <a:r>
              <a:rPr lang="en-GB" dirty="0"/>
              <a:t>The question: "What must remain true about the advantage “Reduce average response time to customer requests from 12 hours to 4 hours by 30 June 2027” gives us compared to these other options?"</a:t>
            </a:r>
          </a:p>
          <a:p>
            <a:r>
              <a:rPr lang="en-GB" dirty="0"/>
              <a:t>The condition: A four-hour response remains faster than rival firms and clients’ in-house options provide.</a:t>
            </a:r>
          </a:p>
          <a:p>
            <a:r>
              <a:rPr lang="en-GB" dirty="0"/>
              <a:t>Ask: "Which of the five alternatives would close the gap first?"</a:t>
            </a:r>
          </a:p>
          <a:p>
            <a:endParaRPr lang="en-GB" dirty="0"/>
          </a:p>
          <a:p>
            <a:r>
              <a:rPr lang="en-GB" b="1" dirty="0"/>
              <a:t>4. Point out the width of the list.</a:t>
            </a:r>
          </a:p>
          <a:p>
            <a:r>
              <a:rPr lang="en-GB" dirty="0"/>
              <a:t>Say: "Two of the five alternatives sit outside the industry, and one is doing nothing."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4: ESTABLISH THE VALUE PROPOSITION</a:t>
            </a:r>
          </a:p>
          <a:p>
            <a:endParaRPr lang="en-GB" dirty="0"/>
          </a:p>
          <a:p>
            <a:r>
              <a:rPr lang="en-GB" b="1" dirty="0"/>
              <a:t>HOW TO TEACH IT:</a:t>
            </a:r>
          </a:p>
          <a:p>
            <a:endParaRPr lang="en-GB" dirty="0"/>
          </a:p>
          <a:p>
            <a:r>
              <a:rPr lang="en-GB" b="1" dirty="0"/>
              <a:t>1. Read the question of the step from the slide.</a:t>
            </a:r>
          </a:p>
          <a:p>
            <a:r>
              <a:rPr lang="en-GB" dirty="0"/>
              <a:t>"What about “Reduce average response time to customer requests from 12 hours to 4 hours by 30 June 2027” will make customers choose us?"</a:t>
            </a:r>
          </a:p>
          <a:p>
            <a:endParaRPr lang="en-GB" dirty="0"/>
          </a:p>
          <a:p>
            <a:r>
              <a:rPr lang="en-GB" b="1" dirty="0"/>
              <a:t>2. Read the company’s answers.</a:t>
            </a:r>
          </a:p>
          <a:p>
            <a:r>
              <a:rPr lang="en-GB" dirty="0"/>
              <a:t>Relevant · Does this Key Result matter to the customer? Speed of response is among the main reasons clients choose a service partner.</a:t>
            </a:r>
          </a:p>
          <a:p>
            <a:r>
              <a:rPr lang="en-GB" dirty="0"/>
              <a:t>Distinctive · What does it give the customer that the alternatives do not? One joined-up team answers the request. Larger providers pass it between departments.</a:t>
            </a:r>
          </a:p>
          <a:p>
            <a:r>
              <a:rPr lang="en-GB" dirty="0"/>
              <a:t>Deliverable · Can we consistently produce it? Cross-functional execution routines and named owners make a four-hour response repeatable.</a:t>
            </a:r>
          </a:p>
          <a:p>
            <a:endParaRPr lang="en-GB" dirty="0"/>
          </a:p>
          <a:p>
            <a:r>
              <a:rPr lang="en-GB" b="1" dirty="0"/>
              <a:t>3. Read the Must-Be-True condition.</a:t>
            </a:r>
          </a:p>
          <a:p>
            <a:r>
              <a:rPr lang="en-GB" dirty="0"/>
              <a:t>The question: "What must remain true about our value architecture for “Reduce average response time to customer requests from 12 hours to 4 hours by 30 June 2027” to stay coherent and profitable?"</a:t>
            </a:r>
          </a:p>
          <a:p>
            <a:r>
              <a:rPr lang="en-GB" dirty="0"/>
              <a:t>The condition: Faster response is delivered with no loss in the quality of the answer the client receives.</a:t>
            </a:r>
          </a:p>
          <a:p>
            <a:r>
              <a:rPr lang="en-GB" dirty="0"/>
              <a:t>Ask: "What would clients notice first if speed came at the cost of the quality of the answer?"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FOUR STEPS, FOUR CONDITIONS</a:t>
            </a:r>
          </a:p>
          <a:p>
            <a:endParaRPr lang="en-GB" dirty="0"/>
          </a:p>
          <a:p>
            <a:r>
              <a:rPr lang="en-GB" b="1" dirty="0"/>
              <a:t>HOW TO TEACH IT:</a:t>
            </a:r>
          </a:p>
          <a:p>
            <a:endParaRPr lang="en-GB" dirty="0"/>
          </a:p>
          <a:p>
            <a:r>
              <a:rPr lang="en-GB" b="1" dirty="0"/>
              <a:t>1. Read the four conditions in order.</a:t>
            </a:r>
          </a:p>
          <a:p>
            <a:r>
              <a:rPr lang="en-GB" dirty="0"/>
              <a:t>- Arena: Experiential: clients continue to rank speed of response among their top three reasons for choosing a service partner.</a:t>
            </a:r>
          </a:p>
          <a:p>
            <a:r>
              <a:rPr lang="en-GB" dirty="0"/>
              <a:t>- Boundaries: Handovers between Commercial, Operations and Customer Service are completed inside four hours.</a:t>
            </a:r>
          </a:p>
          <a:p>
            <a:r>
              <a:rPr lang="en-GB" dirty="0"/>
              <a:t>- Competition: A four-hour response remains faster than rival firms and clients’ in-house options provide.</a:t>
            </a:r>
          </a:p>
          <a:p>
            <a:r>
              <a:rPr lang="en-GB" dirty="0"/>
              <a:t>- Value Proposition: Faster response is delivered with no loss in the quality of the answer the client receives.</a:t>
            </a:r>
          </a:p>
          <a:p>
            <a:endParaRPr lang="en-GB" dirty="0"/>
          </a:p>
          <a:p>
            <a:r>
              <a:rPr lang="en-GB" b="1" dirty="0"/>
              <a:t>2. Land the line at the foot of the slide.</a:t>
            </a:r>
          </a:p>
          <a:p>
            <a:r>
              <a:rPr lang="en-GB" dirty="0"/>
              <a:t>Say: "Four steps, four conditions. If one of them shifts or fails, the Key Result becomes fragile by design."</a:t>
            </a:r>
          </a:p>
          <a:p>
            <a:endParaRPr lang="en-GB" dirty="0"/>
          </a:p>
          <a:p>
            <a:r>
              <a:rPr lang="en-GB" b="1" dirty="0"/>
              <a:t>3. Test the standard.</a:t>
            </a:r>
          </a:p>
          <a:p>
            <a:r>
              <a:rPr lang="en-GB" dirty="0"/>
              <a:t>Ask: "Could someone outside this company verify each of these four conditions?"</a:t>
            </a:r>
          </a:p>
          <a:p>
            <a:r>
              <a:rPr lang="en-GB" dirty="0"/>
              <a:t>Say: "That is the standard for your own conditions: specific enough that someone else could attempt to verify them."</a:t>
            </a:r>
          </a:p>
          <a:p>
            <a:endParaRPr lang="en-GB" dirty="0"/>
          </a:p>
          <a:p>
            <a:r>
              <a:rPr lang="en-GB" dirty="0"/>
              <a:t>Deepen, say: "A decision can solve today’s problem while creating future instability.</a:t>
            </a:r>
          </a:p>
          <a:p>
            <a:r>
              <a:rPr lang="en-GB" dirty="0"/>
              <a:t>Assess each objective by the capability, dependency, risk and future consequence it creates."</a:t>
            </a:r>
          </a:p>
          <a:p>
            <a:r>
              <a:rPr lang="en-GB" dirty="0"/>
              <a:t>(Insight: Today’s fix, tomorrow’s cost. Source: Journal, 19 July 2026 — Professional Insights: Strategy)</a:t>
            </a:r>
          </a:p>
          <a:p>
            <a:endParaRPr lang="en-GB" dirty="0"/>
          </a:p>
          <a:p>
            <a:r>
              <a:rPr lang="en-GB" b="1" dirty="0"/>
              <a:t>4. Bridge to 5.2.</a:t>
            </a:r>
          </a:p>
          <a:p>
            <a:r>
              <a:rPr lang="en-GB" dirty="0"/>
              <a:t>Say: "Your exercise is this example repeated on your own Key Results: the same four steps, in the same order."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5.2 — STRESS-TESTING YOUR KEY RESULTS · THE FOUR STEPS (CAPSTONE WORK)</a:t>
            </a:r>
          </a:p>
          <a:p>
            <a:r>
              <a:t/>
            </a:r>
          </a:p>
          <a:p>
            <a:r>
              <a:rPr b="1"/>
              <a:t>HOW TO TEACH IT:</a:t>
            </a:r>
          </a:p>
          <a:p>
            <a:r>
              <a:t/>
            </a:r>
          </a:p>
          <a:p>
            <a:r>
              <a:rPr b="1"/>
              <a:t>1. Say what the group works on.</a:t>
            </a:r>
          </a:p>
          <a:p>
            <a:r>
              <a:rPr b="1"/>
              <a:t>Say:</a:t>
            </a:r>
            <a:r>
              <a:t> "Your group does for its own Key Results what the worked example did: the same four steps, in the same order.</a:t>
            </a:r>
          </a:p>
          <a:p>
            <a:r>
              <a:t>Your confirmed Key Results from Unit 3 are already listed on your page. If they are missing, select Bring in from my Unit 3 page. Nothing is typed again.</a:t>
            </a:r>
          </a:p>
          <a:p>
            <a:r>
              <a:t>No new objective or measure is added."</a:t>
            </a:r>
          </a:p>
          <a:p>
            <a:r>
              <a:t/>
            </a:r>
          </a:p>
          <a:p>
            <a:r>
              <a:rPr b="1"/>
              <a:t>2. Explain how the group works.</a:t>
            </a:r>
          </a:p>
          <a:p>
            <a:r>
              <a:rPr b="1"/>
              <a:t>Say:</a:t>
            </a:r>
            <a:r>
              <a:t> "Your group agrees each entry.</a:t>
            </a:r>
          </a:p>
          <a:p>
            <a:r>
              <a:t>The group chooses its scribe, who types the agreed wording.</a:t>
            </a:r>
          </a:p>
          <a:p>
            <a:r>
              <a:t>The entries appear on every member's page, and each member then selects Agree."</a:t>
            </a:r>
          </a:p>
          <a:p>
            <a:r>
              <a:t/>
            </a:r>
          </a:p>
          <a:p>
            <a:r>
              <a:rPr b="1"/>
              <a:t>3. Walk the four steps on the slide. Each one is taken for one Key Result at a time.</a:t>
            </a:r>
          </a:p>
          <a:p>
            <a:r>
              <a:t>- Step 1 · Define the Arena. The group says which customer need the Key Result serves, at three depths (functional, experiential, consequential). Then it names what must remain true about that need.</a:t>
            </a:r>
          </a:p>
          <a:p>
            <a:r>
              <a:t>- Step 2 · Understand the Boundaries. The group lists the boundaries material enough to slow, restrict or prevent delivery of the Key Result, with the kind of each and whether it must be accepted, can be influenced or was created by the organisation itself. Then it names what must remain true for delivery.</a:t>
            </a:r>
          </a:p>
          <a:p>
            <a:r>
              <a:t>- Step 3 · See the Competition. The group lists who or what else can give the customer what the Key Result delivers, including alternatives outside the industry and doing nothing. Then it names what must remain true about its advantage.</a:t>
            </a:r>
          </a:p>
          <a:p>
            <a:r>
              <a:t>- Step 4 · Establish the Value Proposition. The group says what about the Key Result will make customers choose the organisation, using the three tests (relevant, distinctive, deliverable). Then it names what must remain true about its value architecture.</a:t>
            </a:r>
          </a:p>
          <a:p>
            <a:r>
              <a:t/>
            </a:r>
          </a:p>
          <a:p>
            <a:r>
              <a:rPr b="1"/>
              <a:t>4. Say how the questions read on the page.</a:t>
            </a:r>
          </a:p>
          <a:p>
            <a:r>
              <a:rPr b="1"/>
              <a:t>Say:</a:t>
            </a:r>
            <a:r>
              <a:t> "On your page every question names your own Key Result, word for word. You answer about that Key Result and no other."</a:t>
            </a:r>
          </a:p>
          <a:p>
            <a:r>
              <a:t/>
            </a:r>
          </a:p>
          <a:p>
            <a:r>
              <a:rPr b="1"/>
              <a:t>5. Set the standard for a condition.</a:t>
            </a:r>
          </a:p>
          <a:p>
            <a:r>
              <a:rPr b="1"/>
              <a:t>Say:</a:t>
            </a:r>
            <a:r>
              <a:t> "The condition your group names must be specific enough that someone else could attempt to verify it.</a:t>
            </a:r>
          </a:p>
          <a:p>
            <a:r>
              <a:t>'The market must support us' becomes a condition once it names what must be true, for whom and by when."</a:t>
            </a:r>
          </a:p>
          <a:p>
            <a:r>
              <a:rPr b="1"/>
              <a:t>Say:</a:t>
            </a:r>
            <a:r>
              <a:t> "Write each condition as a statement that is either true or false. Restate a risk or a concern as the condition that must hold."</a:t>
            </a:r>
          </a:p>
          <a:p>
            <a:r>
              <a:rPr b="1"/>
              <a:t>Ask:</a:t>
            </a:r>
            <a:r>
              <a:t> "If you cannot name a Must-Be-True, what does that tell you about this Key Result?"</a:t>
            </a:r>
          </a:p>
          <a:p>
            <a:r>
              <a:rPr b="1"/>
              <a:t>Say:</a:t>
            </a:r>
            <a:r>
              <a:t> "It may tell you the Key Result itself is not yet sufficiently grounded."</a:t>
            </a:r>
          </a:p>
          <a:p>
            <a:r>
              <a:t/>
            </a:r>
          </a:p>
          <a:p>
            <a:r>
              <a:rPr b="1"/>
              <a:t>6. Bridge to 5.3.</a:t>
            </a:r>
          </a:p>
          <a:p>
            <a:r>
              <a:rPr b="1"/>
              <a:t>Say:</a:t>
            </a:r>
            <a:r>
              <a:t> "When every Key Result has been taken through the four steps, your group goes on to 5.3."</a:t>
            </a:r>
          </a:p>
          <a:p>
            <a:r>
              <a:rPr b="1"/>
              <a:t>Ask:</a:t>
            </a:r>
            <a:r>
              <a:t> "Which one MBT condition, if left unverified, represents the greatest risk to our strategy's integrity? Who is responsible for that verification?"</a:t>
            </a:r>
          </a:p>
          <a:p>
            <a:r>
              <a:t/>
            </a:r>
          </a:p>
          <a:p>
            <a:r>
              <a:rPr b="1"/>
              <a:t>ON THE PORTAL, AFTER THE TEACHING:</a:t>
            </a:r>
          </a:p>
          <a:p>
            <a:r>
              <a:t>Participants work in their groups in 5.2 of the participant file. This is Capstone work.</a:t>
            </a:r>
          </a:p>
          <a:p>
            <a:r>
              <a:t>- The group's confirmed Key Results from Unit 3 are listed in 5.2.</a:t>
            </a:r>
          </a:p>
          <a:p>
            <a:r>
              <a:t>- The group takes one Key Result through the four steps and names the condition at each step.</a:t>
            </a:r>
          </a:p>
          <a:p>
            <a:r>
              <a:t>- The group takes the next Key Result through the same four steps, until every Key Result is complete.</a:t>
            </a:r>
          </a:p>
          <a:p>
            <a:r>
              <a:t>- A record shows the condition named at each step for every Key Result. The group then goes on to 5.3.</a:t>
            </a:r>
          </a:p>
          <a:p>
            <a:r>
              <a:t/>
            </a:r>
          </a:p>
          <a:p>
            <a:r>
              <a:rPr b="1"/>
              <a:t>AFTER THE SESSION:</a:t>
            </a:r>
          </a:p>
          <a:p>
            <a:r>
              <a:t>The confirmed conditions feed boxes 4A to 4D of the team's Capstone S2R® Blueprint.</a:t>
            </a:r>
          </a:p>
          <a:p>
            <a:r>
              <a:t>Close the group work with Our Position. Say: "When your record is complete, write as a group a short summary statement of your team's position from this unit, in the unit's own terms. Every member agrees it with the rest of the record. It closes this unit's section of your Capstone S2R Blueprint and guides the assessors through your work."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4 · INTEGRATION — COLLECTIVE</a:t>
            </a:r>
          </a:p>
          <a:p>
            <a:r>
              <a:t/>
            </a:r>
          </a:p>
          <a:p>
            <a:r>
              <a:rPr b="1"/>
              <a:t>HOW THIS SECTION RUNS:</a:t>
            </a:r>
          </a:p>
          <a:p>
            <a:r>
              <a:rPr b="1"/>
              <a:t>1. Cause of Death: how the game is played, the three investigation questions and the four mines.</a:t>
            </a:r>
          </a:p>
          <a:p>
            <a:r>
              <a:rPr b="1"/>
              <a:t>2. The Section 4 Reflections slide: the closing commitment.</a:t>
            </a:r>
          </a:p>
          <a:p>
            <a:r>
              <a:t/>
            </a:r>
          </a:p>
          <a:p>
            <a:r>
              <a:rPr b="1"/>
              <a:t>SECTION LEARNING OUTCOMES:</a:t>
            </a:r>
          </a:p>
          <a:p>
            <a:r>
              <a:rPr b="1"/>
              <a:t>1. Diagnose failures of directional integrity in realistic strategic situations.</a:t>
            </a:r>
          </a:p>
          <a:p>
            <a:r>
              <a:rPr b="1"/>
              <a:t>2. Select integrity checks that would prevent or reduce identified strategic failures.</a:t>
            </a:r>
          </a:p>
          <a:p>
            <a:r>
              <a:t/>
            </a:r>
          </a:p>
          <a:p>
            <a:r>
              <a:rPr b="1"/>
              <a:t>HOW TO OPEN THE SECTION:</a:t>
            </a:r>
          </a:p>
          <a:p>
            <a:r>
              <a:t/>
            </a:r>
          </a:p>
          <a:p>
            <a:r>
              <a:rPr b="1"/>
              <a:t>1. Say what the section does.</a:t>
            </a:r>
          </a:p>
          <a:p>
            <a:r>
              <a:rPr b="1"/>
              <a:t>Say:</a:t>
            </a:r>
            <a:r>
              <a:t> "You now apply ABCV diagnostic thinking under pressure.</a:t>
            </a:r>
          </a:p>
          <a:p>
            <a:r>
              <a:t>Each scenario is a real-world strategy failure in which an Industry Illusion kept leaders from seeing the breakdown."</a:t>
            </a:r>
          </a:p>
          <a:p>
            <a:r>
              <a:t>Section intent: participants find the illusion first, then the ABCV checkpoint where that illusion sits.</a:t>
            </a:r>
          </a:p>
          <a:p>
            <a:r>
              <a:t/>
            </a:r>
          </a:p>
          <a:p>
            <a:r>
              <a:rPr b="1"/>
              <a:t>2. Read the two section learning outcomes from the slide.</a:t>
            </a:r>
          </a:p>
          <a:p>
            <a:r>
              <a:t/>
            </a:r>
          </a:p>
          <a:p>
            <a:r>
              <a:rPr b="1"/>
              <a:t>3. Say who plays.</a:t>
            </a:r>
          </a:p>
          <a:p>
            <a:r>
              <a:rPr b="1"/>
              <a:t>Say:</a:t>
            </a:r>
            <a:r>
              <a:t> "Each of you plays this game alone, on the portal, after the teaching. It is portfolio work."</a:t>
            </a:r>
          </a:p>
          <a:p>
            <a:r>
              <a:t/>
            </a:r>
          </a:p>
          <a:p>
            <a:r>
              <a:rPr b="1"/>
              <a:t>4. Bridge to the game.</a:t>
            </a:r>
          </a:p>
          <a:p>
            <a:r>
              <a:rPr b="1"/>
              <a:t>Say:</a:t>
            </a:r>
            <a:r>
              <a:t> "Here is how Cause of Death works."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CAUSE OF DEATH — MATCH THE BREAKDOWN (2 PARTS · PORTFOLIO WORK)</a:t>
            </a:r>
          </a:p>
          <a:p>
            <a:r>
              <a:t/>
            </a:r>
          </a:p>
          <a:p>
            <a:r>
              <a:rPr b="1"/>
              <a:t>HOW TO TEACH IT:</a:t>
            </a:r>
          </a:p>
          <a:p>
            <a:r>
              <a:t/>
            </a:r>
          </a:p>
          <a:p>
            <a:r>
              <a:rPr b="1"/>
              <a:t>1. Explain the two parts on the slide.</a:t>
            </a:r>
          </a:p>
          <a:p>
            <a:r>
              <a:rPr b="1"/>
              <a:t>Say:</a:t>
            </a:r>
            <a:r>
              <a:t> "Each scenario is answered in two parts. First you find the illusion. Then you find where it sits."</a:t>
            </a:r>
          </a:p>
          <a:p>
            <a:r>
              <a:t>- Find the illusion: the participant chooses the investigation question the scenario answers. Each question reveals one illusion.</a:t>
            </a:r>
          </a:p>
          <a:p>
            <a:r>
              <a:t>- Find where it sits: the participant chooses the ABCV checkpoint the illusion hid from leaders: Arena, Boundaries, Competition or Value Proposition.</a:t>
            </a:r>
          </a:p>
          <a:p>
            <a:r>
              <a:t/>
            </a:r>
          </a:p>
          <a:p>
            <a:r>
              <a:rPr b="1"/>
              <a:t>2. Read the three investigation questions.</a:t>
            </a:r>
          </a:p>
          <a:p>
            <a:r>
              <a:t>- Question 1: What did leaders expect to continue seeing because it was what they already knew?</a:t>
            </a:r>
          </a:p>
          <a:p>
            <a:r>
              <a:t>- Question 2: Which signal did leaders see and then discount because it did not fit their established picture?</a:t>
            </a:r>
          </a:p>
          <a:p>
            <a:r>
              <a:t>- Question 3: Which evidence of current success did leaders treat as reassurance about the future?</a:t>
            </a:r>
          </a:p>
          <a:p>
            <a:r>
              <a:t>Do not say which illusion each question reveals. The participants work that out.</a:t>
            </a:r>
          </a:p>
          <a:p>
            <a:r>
              <a:t/>
            </a:r>
          </a:p>
          <a:p>
            <a:r>
              <a:rPr b="1"/>
              <a:t>3. Explain the mine.</a:t>
            </a:r>
          </a:p>
          <a:p>
            <a:r>
              <a:rPr b="1"/>
              <a:t>Say:</a:t>
            </a:r>
            <a:r>
              <a:t> "When both parts are right, the mine is defused.</a:t>
            </a:r>
          </a:p>
          <a:p>
            <a:r>
              <a:t>A wrong answer detonates it: you read the hint and try again.</a:t>
            </a:r>
          </a:p>
          <a:p>
            <a:r>
              <a:t>A mine defused at the first attempt earns 2 points, at a later attempt 1 point.</a:t>
            </a:r>
          </a:p>
          <a:p>
            <a:r>
              <a:t>The maximum is 8."</a:t>
            </a:r>
          </a:p>
          <a:p>
            <a:r>
              <a:rPr b="1"/>
              <a:t>Say:</a:t>
            </a:r>
            <a:r>
              <a:t> "The same illusion can sit behind more than one mine."</a:t>
            </a:r>
          </a:p>
          <a:p>
            <a:r>
              <a:t/>
            </a:r>
          </a:p>
          <a:p>
            <a:r>
              <a:rPr b="1"/>
              <a:t>4. Introduce the four mines by name.</a:t>
            </a:r>
          </a:p>
          <a:p>
            <a:r>
              <a:rPr b="1"/>
              <a:t>Say:</a:t>
            </a:r>
            <a:r>
              <a:t> "Four mines: The Ghost Ship, a SaaS platform with strong first-year retention; The Ferrari in the Mud, a logistics firm's new digital operations platform; The Invisible Disruption, a financial advisory firm and a fintech app; and The Identity Crisis, a boutique consulting firm under revenue pressure."</a:t>
            </a:r>
          </a:p>
          <a:p>
            <a:r>
              <a:t>Do not say which illusion or checkpoint sits behind each mine.</a:t>
            </a:r>
          </a:p>
          <a:p>
            <a:r>
              <a:t/>
            </a:r>
          </a:p>
          <a:p>
            <a:r>
              <a:rPr b="1"/>
              <a:t>5. Set the standard.</a:t>
            </a:r>
          </a:p>
          <a:p>
            <a:r>
              <a:rPr b="1"/>
              <a:t>Say:</a:t>
            </a:r>
            <a:r>
              <a:t> "Say your reasoning to yourself before you answer. Guessing the right checkpoint for the wrong reason will surface."</a:t>
            </a:r>
          </a:p>
          <a:p>
            <a:r>
              <a:t/>
            </a:r>
          </a:p>
          <a:p>
            <a:r>
              <a:rPr b="1"/>
              <a:t>6. Close the section.</a:t>
            </a:r>
          </a:p>
          <a:p>
            <a:r>
              <a:rPr b="1"/>
              <a:t>Say:</a:t>
            </a:r>
            <a:r>
              <a:t> "Every failure in the game traces back to a checkpoint left untested; testing it early protects the direction."</a:t>
            </a:r>
          </a:p>
          <a:p>
            <a:r>
              <a:t/>
            </a:r>
          </a:p>
          <a:p>
            <a:r>
              <a:rPr b="1"/>
              <a:t>ON THE PORTAL, AFTER THE TEACHING:</a:t>
            </a:r>
          </a:p>
          <a:p>
            <a:r>
              <a:t>Each participant plays Cause of Death alone in Section 4 of the participant file, as portfolio work, defuses all four mines, then writes the closing commitment.</a:t>
            </a:r>
          </a:p>
          <a:p>
            <a:r>
              <a:t/>
            </a:r>
          </a:p>
          <a:p>
            <a:r>
              <a:rPr b="1"/>
              <a:t>AFTER THE SESSION:</a:t>
            </a:r>
          </a:p>
          <a:p>
            <a:r>
              <a:t>The result reaches you with each participant's submission. When you next meet the room, ask: "Which mine was hardest to defuse? What does that tell you about your organisation's own ABCV blind spot?"</a:t>
            </a:r>
          </a:p>
          <a:p>
            <a:r>
              <a:t>Answer key (facilitator only):</a:t>
            </a:r>
          </a:p>
          <a:p>
            <a:r>
              <a:t>- The Ghost Ship: Q3, Complacency · Arena. Strong retention and a quiet support desk reassured leaders that customers were committed. The customer end game had shifted, and nobody was asking what customers were now trying to achieve.</a:t>
            </a:r>
          </a:p>
          <a:p>
            <a:r>
              <a:t>- The Ferrari in the Mud: Q1, Familiarity · Boundaries. Leaders expected this roll-out to go the way earlier ones had. The behavioural and structural boundaries (habits, incentives, middle-management routines) were never mapped.</a:t>
            </a:r>
          </a:p>
          <a:p>
            <a:r>
              <a:t>- The Invisible Disruption: Q2, Exclusion · Competition. The firm saw the app and discounted it because it did not look like an advisory firm. Clients had an alternative route to the same outcome.</a:t>
            </a:r>
          </a:p>
          <a:p>
            <a:r>
              <a:t>- The Identity Crisis: Q3, Complacency · Value Proposition. Rising revenue reassured the partners while the work they accepted diluted what made the firm distinct.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SECTION 4 REFLECTIONS</a:t>
            </a:r>
          </a:p>
          <a:p>
            <a:r>
              <a:t/>
            </a:r>
          </a:p>
          <a:p>
            <a:r>
              <a:rPr b="1"/>
              <a:t>HOW TO USE THIS SLIDE:</a:t>
            </a:r>
          </a:p>
          <a:p>
            <a:r>
              <a:t/>
            </a:r>
          </a:p>
          <a:p>
            <a:r>
              <a:rPr b="1"/>
              <a:t>1. Show the slide and read the prompt aloud.</a:t>
            </a:r>
          </a:p>
          <a:p>
            <a:r>
              <a:t>Closing Commitment: "What is one MBT condition your organisation is currently avoiding naming? Why? What will you do about it before your next strategic review?"</a:t>
            </a:r>
          </a:p>
          <a:p>
            <a:r>
              <a:t/>
            </a:r>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
            </a:r>
          </a:p>
          <a:p>
            <a:r>
              <a:rPr b="1"/>
              <a:t>Say:</a:t>
            </a:r>
            <a:r>
              <a:t> "You write this reflection on the portal after the teaching, with as much depth as you can."</a:t>
            </a:r>
          </a:p>
          <a:p>
            <a:r>
              <a:t/>
            </a:r>
          </a:p>
          <a:p>
            <a:r>
              <a:rPr b="1"/>
              <a:t>3. Set the standard.</a:t>
            </a:r>
          </a:p>
          <a:p>
            <a:r>
              <a:rPr b="1"/>
              <a:t>Say:</a:t>
            </a:r>
            <a:r>
              <a:t> "Name one condition, in a form that is either true or false.</a:t>
            </a:r>
          </a:p>
          <a:p>
            <a:r>
              <a:t>Say why it is being avoided.</a:t>
            </a:r>
          </a:p>
          <a:p>
            <a:r>
              <a:t>Then name one action and the date of your next strategic review."</a:t>
            </a:r>
          </a:p>
          <a:p>
            <a:r>
              <a:t/>
            </a:r>
          </a:p>
          <a:p>
            <a:r>
              <a:rPr b="1"/>
              <a:t>Deepen, say:</a:t>
            </a:r>
            <a:r>
              <a:t> "The instinct to manage the appearance of a known exposure, and leave the exposure itself unaddressed, turns a survivable warning into a failure.</a:t>
            </a:r>
          </a:p>
          <a:p>
            <a:r>
              <a:t>A risk that has been named and then avoided chooses its own moment.</a:t>
            </a:r>
          </a:p>
          <a:p>
            <a:r>
              <a:t>Treat a clear warning as a directive to act."</a:t>
            </a:r>
          </a:p>
          <a:p>
            <a:r>
              <a:t>(Insight: Named and avoided. Source: Journal, 16 June 2026 — Professional Insights: Strategy)</a:t>
            </a:r>
          </a:p>
          <a:p>
            <a:r>
              <a:t/>
            </a:r>
          </a:p>
          <a:p>
            <a:r>
              <a:rPr b="1"/>
              <a:t>4. Bridge to Section 5.</a:t>
            </a:r>
          </a:p>
          <a:p>
            <a:r>
              <a:rPr b="1"/>
              <a:t>Say:</a:t>
            </a:r>
            <a:r>
              <a:t> "Next, each group stress-tests its own Key Results on the four checkpoints and assigns ownership for verifying each condition."</a:t>
            </a:r>
          </a:p>
          <a:p>
            <a:r>
              <a:t/>
            </a:r>
          </a:p>
          <a:p>
            <a:r>
              <a:rPr b="1"/>
              <a:t>ON THE PORTAL, AFTER THE TEACHING:</a:t>
            </a:r>
          </a:p>
          <a:p>
            <a:r>
              <a:t>Participants write the Closing Commitment at the end of Section 4 of the participant file.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UNIT SUMMARY (UNIT 4 SYNTHESIS)</a:t>
            </a:r>
          </a:p>
          <a:p>
            <a:r>
              <a:t/>
            </a:r>
          </a:p>
          <a:p>
            <a:r>
              <a:rPr b="1"/>
              <a:t>HOW TO TEACH IT:</a:t>
            </a:r>
          </a:p>
          <a:p>
            <a:r>
              <a:t/>
            </a:r>
          </a:p>
          <a:p>
            <a:r>
              <a:rPr b="1"/>
              <a:t>1. Recap the unit, section by section.</a:t>
            </a:r>
          </a:p>
          <a:p>
            <a:r>
              <a:rPr b="1"/>
              <a:t>Say:</a:t>
            </a:r>
            <a:r>
              <a:t> "This session was about ensuring strategic direction is structurally sound before the first move of execution is made.</a:t>
            </a:r>
          </a:p>
          <a:p>
            <a:r>
              <a:t>The ABCV–MBT framework served as our strategic integrity filter."</a:t>
            </a:r>
          </a:p>
          <a:p>
            <a:r>
              <a:t>- 1 · Awareness: a well-written OKR can still rest on unnamed conditions. ABCV examines the strategic logic at four checkpoints, and a Must-Be-True condition at each makes the underlying assumption explicit.</a:t>
            </a:r>
          </a:p>
          <a:p>
            <a:r>
              <a:t>- 2 · Intelligence: industry knowledge becomes a frame, and three reinforcing traps (Familiarity, Exclusion and Complacency) turn that frame into the boundary of the world leaders examine.</a:t>
            </a:r>
          </a:p>
          <a:p>
            <a:r>
              <a:t>- 3 · Extrapolating: every executive role sees through a specialised perspective, and each has a checkpoint it most often overlooks.</a:t>
            </a:r>
          </a:p>
          <a:p>
            <a:r>
              <a:t>- 4 · Integration: in Cause of Death each participant tests four failed strategies against the Industry Illusion.</a:t>
            </a:r>
          </a:p>
          <a:p>
            <a:r>
              <a:t>- 5 · Application: each group takes the Key Results it confirmed in Unit 3 through four steps, names the condition that must remain true at each step, assigns each critical condition to an executive and names the checkpoint its team is most likely to overlook.</a:t>
            </a:r>
          </a:p>
          <a:p>
            <a:r>
              <a:t/>
            </a:r>
          </a:p>
          <a:p>
            <a:r>
              <a:rPr b="1"/>
              <a:t>2. Ask the closing question on the slide.</a:t>
            </a:r>
          </a:p>
          <a:p>
            <a:r>
              <a:rPr b="1"/>
              <a:t>Ask:</a:t>
            </a:r>
            <a:r>
              <a:t> "What is the one MBT condition your team is most likely to avoid naming? Why? And what will you do about it before the next strategic review?"</a:t>
            </a:r>
          </a:p>
          <a:p>
            <a:r>
              <a:t>Take an answer from each group.</a:t>
            </a:r>
          </a:p>
          <a:p>
            <a:r>
              <a:t/>
            </a:r>
          </a:p>
          <a:p>
            <a:r>
              <a:rPr b="1"/>
              <a:t>3. Close the unit.</a:t>
            </a:r>
          </a:p>
          <a:p>
            <a:r>
              <a:rPr b="1"/>
              <a:t>Say:</a:t>
            </a:r>
            <a:r>
              <a:t> "The ABCV–MBT checkpoints turn your OKRs from polished aspirations into resilient execution signals, grounded in the hard realities of the enterprise system."</a:t>
            </a:r>
          </a:p>
          <a:p>
            <a:r>
              <a:t/>
            </a:r>
          </a:p>
          <a:p>
            <a:r>
              <a:rPr b="1"/>
              <a:t>4. Say what happens on the portal.</a:t>
            </a:r>
          </a:p>
          <a:p>
            <a:r>
              <a:rPr b="1"/>
              <a:t>Say:</a:t>
            </a:r>
            <a:r>
              <a:t> "You now complete the unit on the portal: your reflections, your own Industry Illusion game, your group’s work in Section 5, Cause of Death and your closing commitment.</a:t>
            </a:r>
          </a:p>
          <a:p>
            <a:r>
              <a:t>When your page is complete, you submit the unit."</a:t>
            </a:r>
          </a:p>
          <a:p>
            <a:r>
              <a:t/>
            </a:r>
          </a:p>
          <a:p>
            <a:r>
              <a:rPr b="1"/>
              <a:t>5. Give the transition to Module 3.</a:t>
            </a:r>
          </a:p>
          <a:p>
            <a:r>
              <a:rPr b="1"/>
              <a:t>Say:</a:t>
            </a:r>
            <a:r>
              <a:t> "Each group's Key Results will carry named Must-Be-True conditions and executives accountable for verifying them.</a:t>
            </a:r>
          </a:p>
          <a:p>
            <a:r>
              <a:t>Module 3, Influence, begins with Unit 5, Aligning Heart &amp; Mind, which prepares the people who carry this direction to understand, accept and adopt it."</a:t>
            </a:r>
          </a:p>
          <a:p>
            <a:r>
              <a:t/>
            </a:r>
          </a:p>
          <a:p>
            <a:r>
              <a:rPr b="1"/>
              <a:t>ON THE PORTAL, AFTER THE TEACHING:</a:t>
            </a:r>
          </a:p>
          <a:p>
            <a:r>
              <a:t>Participants complete every part of the participant file and submit the unit to the facilitator from the end of Section 4.</a:t>
            </a:r>
          </a:p>
          <a:p>
            <a:r>
              <a:t/>
            </a:r>
          </a:p>
          <a:p>
            <a:r>
              <a:rPr b="1"/>
              <a:t>AFTER THE SESSION:</a:t>
            </a:r>
          </a:p>
          <a:p>
            <a:r>
              <a:t>Each submission reaches you in the facilitator dashboard.</a:t>
            </a:r>
          </a:p>
          <a:p>
            <a:r>
              <a:t>The group’s agreed Section 5 work feeds boxes 4A to 4F of the team’s Capstone S2R® Blueprint.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5.3 — VERIFICATION OWNERSHIP AND EXECUTIVE BLIND SPOTS (CAPSTONE WORK)</a:t>
            </a:r>
          </a:p>
          <a:p>
            <a:r>
              <a:t/>
            </a:r>
          </a:p>
          <a:p>
            <a:r>
              <a:rPr b="1"/>
              <a:t>HOW TO TEACH IT:</a:t>
            </a:r>
          </a:p>
          <a:p>
            <a:r>
              <a:t/>
            </a:r>
          </a:p>
          <a:p>
            <a:r>
              <a:rPr b="1"/>
              <a:t>1. Say why ownership matters.</a:t>
            </a:r>
          </a:p>
          <a:p>
            <a:r>
              <a:rPr b="1"/>
              <a:t>Say:</a:t>
            </a:r>
            <a:r>
              <a:t> "Each Must-Be-True condition your group named in 5.2 holds only while someone checks it.</a:t>
            </a:r>
          </a:p>
          <a:p>
            <a:r>
              <a:t>In 5.3 your group assigns each check to an executive."</a:t>
            </a:r>
          </a:p>
          <a:p>
            <a:r>
              <a:t/>
            </a:r>
          </a:p>
          <a:p>
            <a:r>
              <a:rPr b="1"/>
              <a:t>2. Teach accountability assignment.</a:t>
            </a:r>
          </a:p>
          <a:p>
            <a:r>
              <a:rPr b="1"/>
              <a:t>Say:</a:t>
            </a:r>
            <a:r>
              <a:t> "For each critical condition, name the executive accountable for verifying it, the evidence that will confirm it still holds, and the date of the first check."</a:t>
            </a:r>
          </a:p>
          <a:p>
            <a:r>
              <a:t>One executive owns each check, with evidence someone else could inspect and a date.</a:t>
            </a:r>
          </a:p>
          <a:p>
            <a:r>
              <a:t/>
            </a:r>
          </a:p>
          <a:p>
            <a:r>
              <a:rPr b="1"/>
              <a:t>3. Teach the executive blind spot.</a:t>
            </a:r>
          </a:p>
          <a:p>
            <a:r>
              <a:rPr b="1"/>
              <a:t>Say:</a:t>
            </a:r>
            <a:r>
              <a:t> "Section 3 showed that each executive role tends to overlook one checkpoint.</a:t>
            </a:r>
          </a:p>
          <a:p>
            <a:r>
              <a:t>Look around your table: which checkpoint is your executive team most likely to overlook? What is the enterprise risk if it does?"</a:t>
            </a:r>
          </a:p>
          <a:p>
            <a:r>
              <a:t/>
            </a:r>
          </a:p>
          <a:p>
            <a:r>
              <a:rPr b="1"/>
              <a:t>4. Ask the question 5.3 answers.</a:t>
            </a:r>
          </a:p>
          <a:p>
            <a:r>
              <a:rPr b="1"/>
              <a:t>Ask:</a:t>
            </a:r>
            <a:r>
              <a:t> "Which one MBT condition, if left unverified, represents the greatest risk to our strategy’s integrity? Who is responsible for that verification?"</a:t>
            </a:r>
          </a:p>
          <a:p>
            <a:r>
              <a:t/>
            </a:r>
          </a:p>
          <a:p>
            <a:r>
              <a:rPr b="1"/>
              <a:t>5. Bridge to the Unit Summary.</a:t>
            </a:r>
          </a:p>
          <a:p>
            <a:r>
              <a:rPr b="1"/>
              <a:t>Say:</a:t>
            </a:r>
            <a:r>
              <a:t> "Every condition has an executive who checks it. We now close the unit."</a:t>
            </a:r>
          </a:p>
          <a:p>
            <a:r>
              <a:t/>
            </a:r>
          </a:p>
          <a:p>
            <a:r>
              <a:rPr b="1"/>
              <a:t>ON THE PORTAL, AFTER THE TEACHING:</a:t>
            </a:r>
          </a:p>
          <a:p>
            <a:r>
              <a:t>Participants work in their groups in 5.3 of the participant file. This is Capstone work, typed by the group’s scribe.</a:t>
            </a:r>
          </a:p>
          <a:p>
            <a:r>
              <a:rPr b="1"/>
              <a:t>1. The group reads its Must-Be-True conditions from 5.2, listed in 5.3.</a:t>
            </a:r>
          </a:p>
          <a:p>
            <a:r>
              <a:t>2. For each critical condition, the group names the executive accountable, the evidence and the date of the first check.</a:t>
            </a:r>
          </a:p>
          <a:p>
            <a:r>
              <a:t>3. The group selects the checkpoint its executive team is most likely to overlook, and states the enterprise risk.</a:t>
            </a:r>
          </a:p>
          <a:p>
            <a:r>
              <a:rPr b="1"/>
              <a:t>4. Each participant reads the record and selects Agree. Print gives a copy of the record.</a:t>
            </a:r>
          </a:p>
          <a:p>
            <a:r>
              <a:t/>
            </a:r>
          </a:p>
          <a:p>
            <a:r>
              <a:rPr b="1"/>
              <a:t>AFTER THE SESSION:</a:t>
            </a:r>
          </a:p>
          <a:p>
            <a:r>
              <a:t>The record reaches you with each participant’s submission, under the heading ABCV–MBT: Stress-Testing the Key Results.</a:t>
            </a:r>
          </a:p>
          <a:p>
            <a:r>
              <a:t>The agreed work feeds boxes 4A to 4F of the team’s Capstone S2R Blueprint: the conditions in 4A to 4D, accountability assignment in 4E and the executive blind spot in 4F.</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home/claude/deck/build/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2 · Direction · Unit 4</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Direction Integrity</a:t>
            </a:r>
            <a:endParaRPr lang="en-US" sz="4800" dirty="0"/>
          </a:p>
          <a:p>
            <a:pPr marL="0" indent="0">
              <a:buNone/>
            </a:pPr>
            <a:r>
              <a:rPr lang="en-US" sz="4800" b="1" dirty="0">
                <a:solidFill>
                  <a:srgbClr val="FFFFFF"/>
                </a:solidFill>
                <a:latin typeface="Cambria" pitchFamily="34" charset="0"/>
                <a:ea typeface="Cambria" pitchFamily="34" charset="-122"/>
                <a:cs typeface="Cambria" pitchFamily="34" charset="-120"/>
              </a:rPr>
              <a:t>(ABCV-MBT)</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Testing whether the chosen direction is strategically sound before execution begins</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Critically validate the coherence and credibility of strategic direction before execution.</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Test strategic choices against critical assumptions, dependencies and uncertainties.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Evaluate strategic priorities for differentiation, internal consistency and environmental fit.</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Exercise collective executive judgement and accountability over strategic direction integrity.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are the ABCV–MBT Integrity Checkpoints?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whether measurable objectives are also strategically credible.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objectives against customer value, strategic boundaries and competitive realities.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GB" sz="2600" b="1" dirty="0">
                <a:solidFill>
                  <a:srgbClr val="C6A24C"/>
                </a:solidFill>
                <a:latin typeface="Calibri" pitchFamily="34" charset="0"/>
                <a:ea typeface="Calibri" pitchFamily="34" charset="-122"/>
                <a:cs typeface="Calibri" pitchFamily="34" charset="-120"/>
              </a:rPr>
              <a:t>The Problem with Well-Written OKRs</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Your group has defined its OKRs. Now the question is whether they are strategically sound.</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GB" sz="3600" b="1" dirty="0">
                <a:solidFill>
                  <a:srgbClr val="1A5C2C"/>
                </a:solidFill>
                <a:latin typeface="Cambria" pitchFamily="34" charset="0"/>
                <a:ea typeface="Cambria" pitchFamily="34" charset="-122"/>
                <a:cs typeface="Cambria" pitchFamily="34" charset="-120"/>
              </a:rPr>
              <a:t>The Four ABCV Integrity Checkpoints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Arena: </a:t>
            </a:r>
            <a:r>
              <a:rPr lang="en-US" sz="2400" dirty="0">
                <a:solidFill>
                  <a:srgbClr val="1F2A22"/>
                </a:solidFill>
                <a:latin typeface="Calibri" pitchFamily="34" charset="0"/>
                <a:ea typeface="Calibri" pitchFamily="34" charset="-122"/>
                <a:cs typeface="Calibri" pitchFamily="34" charset="-120"/>
              </a:rPr>
              <a:t>Are we anchored in the right customer end game?</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Boundaries: </a:t>
            </a:r>
            <a:r>
              <a:rPr lang="en-US" sz="2400" dirty="0">
                <a:solidFill>
                  <a:srgbClr val="1F2A22"/>
                </a:solidFill>
                <a:latin typeface="Calibri" pitchFamily="34" charset="0"/>
                <a:ea typeface="Calibri" pitchFamily="34" charset="-122"/>
                <a:cs typeface="Calibri" pitchFamily="34" charset="-120"/>
              </a:rPr>
              <a:t>What conditions could constrain our ability to deliver?</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Competition:  </a:t>
            </a:r>
            <a:r>
              <a:rPr lang="en-US" sz="2400" dirty="0">
                <a:solidFill>
                  <a:srgbClr val="1F2A22"/>
                </a:solidFill>
                <a:latin typeface="Calibri" pitchFamily="34" charset="0"/>
                <a:ea typeface="Calibri" pitchFamily="34" charset="-122"/>
                <a:cs typeface="Calibri" pitchFamily="34" charset="-120"/>
              </a:rPr>
              <a:t>Who or what else can satisfy that end game?</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 Proposition:  </a:t>
            </a:r>
            <a:r>
              <a:rPr lang="en-US" sz="2400" dirty="0">
                <a:solidFill>
                  <a:srgbClr val="1F2A22"/>
                </a:solidFill>
                <a:latin typeface="Calibri" pitchFamily="34" charset="0"/>
                <a:ea typeface="Calibri" pitchFamily="34" charset="-122"/>
                <a:cs typeface="Calibri" pitchFamily="34" charset="-120"/>
              </a:rPr>
              <a:t>Why should the customer choose the value we create?</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At each check-point, there has to be a Must Be True condition.</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Arena: the Customer End Game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Functional</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are they trying to achieve?</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Experiential</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matters about how they achieve it?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Consequential</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What does achieving it ultimately enable?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Arena tells you who you are actually competing with.</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Boundaries: the Friction Architecture</a:t>
            </a:r>
            <a:endParaRPr lang="en-US" sz="3600" dirty="0"/>
          </a:p>
        </p:txBody>
      </p:sp>
      <p:sp>
        <p:nvSpPr>
          <p:cNvPr id="3" name="Shape 1"/>
          <p:cNvSpPr/>
          <p:nvPr/>
        </p:nvSpPr>
        <p:spPr>
          <a:xfrm>
            <a:off x="548640"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Regulatory</a:t>
            </a:r>
            <a:endParaRPr lang="en-US" sz="2600" dirty="0"/>
          </a:p>
        </p:txBody>
      </p:sp>
      <p:sp>
        <p:nvSpPr>
          <p:cNvPr id="7" name="Text 4"/>
          <p:cNvSpPr txBox="1"/>
          <p:nvPr/>
        </p:nvSpPr>
        <p:spPr>
          <a:xfrm>
            <a:off x="777240"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Laws, licences, standards, accreditation</a:t>
            </a:r>
            <a:endParaRPr lang="en-US" sz="2400" dirty="0"/>
          </a:p>
        </p:txBody>
      </p:sp>
      <p:sp>
        <p:nvSpPr>
          <p:cNvPr id="8" name="Shape 5"/>
          <p:cNvSpPr/>
          <p:nvPr/>
        </p:nvSpPr>
        <p:spPr>
          <a:xfrm>
            <a:off x="4337304"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03064" y="1874520"/>
            <a:ext cx="274320" cy="274320"/>
          </a:xfrm>
          <a:prstGeom prst="rect">
            <a:avLst/>
          </a:prstGeom>
        </p:spPr>
      </p:pic>
      <p:sp>
        <p:nvSpPr>
          <p:cNvPr id="11" name="Text 7"/>
          <p:cNvSpPr txBox="1"/>
          <p:nvPr/>
        </p:nvSpPr>
        <p:spPr>
          <a:xfrm>
            <a:off x="5297424"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Operational</a:t>
            </a:r>
            <a:endParaRPr lang="en-US" sz="2600" dirty="0"/>
          </a:p>
        </p:txBody>
      </p:sp>
      <p:sp>
        <p:nvSpPr>
          <p:cNvPr id="12" name="Text 8"/>
          <p:cNvSpPr txBox="1"/>
          <p:nvPr/>
        </p:nvSpPr>
        <p:spPr>
          <a:xfrm>
            <a:off x="4565904"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Processes, infrastructure, capacity, supply chains</a:t>
            </a:r>
            <a:endParaRPr lang="en-US" sz="2400" dirty="0"/>
          </a:p>
        </p:txBody>
      </p:sp>
      <p:sp>
        <p:nvSpPr>
          <p:cNvPr id="13" name="Shape 9"/>
          <p:cNvSpPr/>
          <p:nvPr/>
        </p:nvSpPr>
        <p:spPr>
          <a:xfrm>
            <a:off x="8125968"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491728" y="1874520"/>
            <a:ext cx="274320" cy="274320"/>
          </a:xfrm>
          <a:prstGeom prst="rect">
            <a:avLst/>
          </a:prstGeom>
        </p:spPr>
      </p:pic>
      <p:sp>
        <p:nvSpPr>
          <p:cNvPr id="16" name="Text 11"/>
          <p:cNvSpPr txBox="1"/>
          <p:nvPr/>
        </p:nvSpPr>
        <p:spPr>
          <a:xfrm>
            <a:off x="9086088"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Technological</a:t>
            </a:r>
            <a:endParaRPr lang="en-US" sz="2600" dirty="0"/>
          </a:p>
        </p:txBody>
      </p:sp>
      <p:sp>
        <p:nvSpPr>
          <p:cNvPr id="17" name="Text 12"/>
          <p:cNvSpPr txBox="1"/>
          <p:nvPr/>
        </p:nvSpPr>
        <p:spPr>
          <a:xfrm>
            <a:off x="8354568"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Systems, data, interoperability, technical capability</a:t>
            </a:r>
            <a:endParaRPr lang="en-US" sz="2400" dirty="0"/>
          </a:p>
        </p:txBody>
      </p:sp>
      <p:sp>
        <p:nvSpPr>
          <p:cNvPr id="18" name="Shape 13"/>
          <p:cNvSpPr/>
          <p:nvPr/>
        </p:nvSpPr>
        <p:spPr>
          <a:xfrm>
            <a:off x="548640"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914400" y="4434840"/>
            <a:ext cx="274320" cy="274320"/>
          </a:xfrm>
          <a:prstGeom prst="rect">
            <a:avLst/>
          </a:prstGeom>
        </p:spPr>
      </p:pic>
      <p:sp>
        <p:nvSpPr>
          <p:cNvPr id="21" name="Text 15"/>
          <p:cNvSpPr txBox="1"/>
          <p:nvPr/>
        </p:nvSpPr>
        <p:spPr>
          <a:xfrm>
            <a:off x="1508760"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Structural</a:t>
            </a:r>
            <a:endParaRPr lang="en-US" sz="2600" dirty="0"/>
          </a:p>
        </p:txBody>
      </p:sp>
      <p:sp>
        <p:nvSpPr>
          <p:cNvPr id="22" name="Text 16"/>
          <p:cNvSpPr txBox="1"/>
          <p:nvPr/>
        </p:nvSpPr>
        <p:spPr>
          <a:xfrm>
            <a:off x="777240"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Governance, decision rights, organisational dependencies</a:t>
            </a:r>
            <a:endParaRPr lang="en-US" sz="2400" dirty="0"/>
          </a:p>
        </p:txBody>
      </p:sp>
      <p:sp>
        <p:nvSpPr>
          <p:cNvPr id="23" name="Shape 17"/>
          <p:cNvSpPr/>
          <p:nvPr/>
        </p:nvSpPr>
        <p:spPr>
          <a:xfrm>
            <a:off x="4337304"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24" name="Shape 18"/>
          <p:cNvSpPr/>
          <p:nvPr/>
        </p:nvSpPr>
        <p:spPr>
          <a:xfrm>
            <a:off x="4565904"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5" name="Image 4" descr="preencoded.png"/>
          <p:cNvPicPr>
            <a:picLocks noChangeAspect="1"/>
          </p:cNvPicPr>
          <p:nvPr/>
        </p:nvPicPr>
        <p:blipFill>
          <a:blip r:embed="rId7"/>
          <a:stretch>
            <a:fillRect/>
          </a:stretch>
        </p:blipFill>
        <p:spPr>
          <a:xfrm>
            <a:off x="4703064" y="4434840"/>
            <a:ext cx="274320" cy="274320"/>
          </a:xfrm>
          <a:prstGeom prst="rect">
            <a:avLst/>
          </a:prstGeom>
        </p:spPr>
      </p:pic>
      <p:sp>
        <p:nvSpPr>
          <p:cNvPr id="26" name="Text 19"/>
          <p:cNvSpPr txBox="1"/>
          <p:nvPr/>
        </p:nvSpPr>
        <p:spPr>
          <a:xfrm>
            <a:off x="5297424"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Financial</a:t>
            </a:r>
            <a:endParaRPr lang="en-US" sz="2600" dirty="0"/>
          </a:p>
        </p:txBody>
      </p:sp>
      <p:sp>
        <p:nvSpPr>
          <p:cNvPr id="27" name="Text 20"/>
          <p:cNvSpPr txBox="1"/>
          <p:nvPr/>
        </p:nvSpPr>
        <p:spPr>
          <a:xfrm>
            <a:off x="4565904"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Capital, affordability, economics, funding</a:t>
            </a:r>
            <a:endParaRPr lang="en-US" sz="2400" dirty="0"/>
          </a:p>
        </p:txBody>
      </p:sp>
      <p:sp>
        <p:nvSpPr>
          <p:cNvPr id="28" name="Shape 21"/>
          <p:cNvSpPr/>
          <p:nvPr/>
        </p:nvSpPr>
        <p:spPr>
          <a:xfrm>
            <a:off x="8125968"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29" name="Shape 22"/>
          <p:cNvSpPr/>
          <p:nvPr/>
        </p:nvSpPr>
        <p:spPr>
          <a:xfrm>
            <a:off x="8354568"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30" name="Image 5" descr="preencoded.png"/>
          <p:cNvPicPr>
            <a:picLocks noChangeAspect="1"/>
          </p:cNvPicPr>
          <p:nvPr/>
        </p:nvPicPr>
        <p:blipFill>
          <a:blip r:embed="rId8"/>
          <a:stretch>
            <a:fillRect/>
          </a:stretch>
        </p:blipFill>
        <p:spPr>
          <a:xfrm>
            <a:off x="8491728" y="4434840"/>
            <a:ext cx="274320" cy="274320"/>
          </a:xfrm>
          <a:prstGeom prst="rect">
            <a:avLst/>
          </a:prstGeom>
        </p:spPr>
      </p:pic>
      <p:sp>
        <p:nvSpPr>
          <p:cNvPr id="31" name="Text 23"/>
          <p:cNvSpPr txBox="1"/>
          <p:nvPr/>
        </p:nvSpPr>
        <p:spPr>
          <a:xfrm>
            <a:off x="9086088"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Behavioural</a:t>
            </a:r>
            <a:endParaRPr lang="en-US" sz="2600" dirty="0"/>
          </a:p>
        </p:txBody>
      </p:sp>
      <p:sp>
        <p:nvSpPr>
          <p:cNvPr id="32" name="Text 24"/>
          <p:cNvSpPr txBox="1"/>
          <p:nvPr/>
        </p:nvSpPr>
        <p:spPr>
          <a:xfrm>
            <a:off x="8354568"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Capability, incentives, resistance, habits, adoption</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Competition: the True Landscape</a:t>
            </a:r>
            <a:endParaRPr lang="en-US" sz="3600" dirty="0"/>
          </a:p>
        </p:txBody>
      </p:sp>
      <p:sp>
        <p:nvSpPr>
          <p:cNvPr id="3" name="Shape 1"/>
          <p:cNvSpPr/>
          <p:nvPr/>
        </p:nvSpPr>
        <p:spPr>
          <a:xfrm>
            <a:off x="548640" y="1508760"/>
            <a:ext cx="5408676" cy="3323013"/>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4951476"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Who sells something similar to us?</a:t>
            </a:r>
            <a:endParaRPr lang="en-US" sz="2600" dirty="0"/>
          </a:p>
        </p:txBody>
      </p:sp>
      <p:sp>
        <p:nvSpPr>
          <p:cNvPr id="8" name="Shape 5"/>
          <p:cNvSpPr/>
          <p:nvPr/>
        </p:nvSpPr>
        <p:spPr>
          <a:xfrm>
            <a:off x="6231636" y="1508760"/>
            <a:ext cx="5408676" cy="3323013"/>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6460236" y="2514600"/>
            <a:ext cx="4951476" cy="1339596"/>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What alternatives does the customer have for achieving the end game?</a:t>
            </a:r>
            <a:endParaRPr lang="en-US" sz="2600" dirty="0"/>
          </a:p>
        </p:txBody>
      </p:sp>
      <p:sp>
        <p:nvSpPr>
          <p:cNvPr id="14" name="TextBox 13">
            <a:extLst>
              <a:ext uri="{FF2B5EF4-FFF2-40B4-BE49-F238E27FC236}">
                <a16:creationId xmlns:a16="http://schemas.microsoft.com/office/drawing/2014/main" id="{4FD7211F-2731-A14A-D419-658F4EA5536D}"/>
              </a:ext>
            </a:extLst>
          </p:cNvPr>
          <p:cNvSpPr txBox="1"/>
          <p:nvPr/>
        </p:nvSpPr>
        <p:spPr>
          <a:xfrm>
            <a:off x="548639" y="5029200"/>
            <a:ext cx="11390515" cy="1234440"/>
          </a:xfrm>
          <a:prstGeom prst="rect">
            <a:avLst/>
          </a:prstGeom>
          <a:noFill/>
        </p:spPr>
        <p:txBody>
          <a:bodyPr wrap="square">
            <a:spAutoFit/>
          </a:bodyPr>
          <a:lstStyle/>
          <a:p>
            <a:r>
              <a:rPr lang="en-GB" sz="3600" b="1" i="1" dirty="0">
                <a:latin typeface="Aptos Light" panose="020B0004020202020204" pitchFamily="34" charset="0"/>
              </a:rPr>
              <a:t>The customer is choosing between routes to an outcome</a:t>
            </a:r>
            <a:endParaRPr lang="en-ZA" sz="3600" b="1" i="1" dirty="0">
              <a:latin typeface="Aptos Light"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Value Proposition: Coherent Advantage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Relevance</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Does it matter?</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Distinctiveness</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Does it differentiate?</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Deliverability</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Can we consistently produce it?</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RELEVANT + DISTINCTIVE + DELIVERABLE = STRATEGIC VALUE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 descr="Overview reflection: Take one Key Result your group confirmed in Unit 3. What is it assuming about the world that has not yet been verified?"/>
          <p:cNvPicPr>
            <a:picLocks noChangeAspect="1"/>
          </p:cNvPicPr>
          <p:nvPr/>
        </p:nvPicPr>
        <p:blipFill>
          <a:blip r:embed="rId3"/>
          <a:stretch>
            <a:fillRect/>
          </a:stretch>
        </p:blipFill>
        <p:spPr>
          <a:xfrm>
            <a:off x="1691640" y="1572768"/>
            <a:ext cx="9921240" cy="946167"/>
          </a:xfrm>
          <a:prstGeom prst="rect">
            <a:avLst/>
          </a:prstGeom>
        </p:spPr>
      </p:pic>
      <p:sp>
        <p:nvSpPr>
          <p:cNvPr id="4" name="Part 1"/>
          <p:cNvSpPr/>
          <p:nvPr/>
        </p:nvSpPr>
        <p:spPr>
          <a:xfrm>
            <a:off x="548640" y="161151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a:t>
            </a:r>
          </a:p>
        </p:txBody>
      </p:sp>
      <p:pic>
        <p:nvPicPr>
          <p:cNvPr id="5" name="Reflection 2" descr="Bringing ABCV Together reflection: Which of the four ABCV checkpoints is your organisation least likely to examine rigorously before launching a new strategic initiative? What does that pattern cost you?"/>
          <p:cNvPicPr>
            <a:picLocks noChangeAspect="1"/>
          </p:cNvPicPr>
          <p:nvPr/>
        </p:nvPicPr>
        <p:blipFill>
          <a:blip r:embed="rId4"/>
          <a:stretch>
            <a:fillRect/>
          </a:stretch>
        </p:blipFill>
        <p:spPr>
          <a:xfrm>
            <a:off x="1691640" y="2811543"/>
            <a:ext cx="9921240" cy="1182917"/>
          </a:xfrm>
          <a:prstGeom prst="rect">
            <a:avLst/>
          </a:prstGeom>
        </p:spPr>
      </p:pic>
      <p:sp>
        <p:nvSpPr>
          <p:cNvPr id="6" name="Part 2"/>
          <p:cNvSpPr/>
          <p:nvPr/>
        </p:nvSpPr>
        <p:spPr>
          <a:xfrm>
            <a:off x="548640" y="296866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The Industry Illusion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Test strategic priorities against the outcomes customers seek.</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Surface and challenge assumptions underpinning strategic objectives.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The Industry Illusion</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Familiarity</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We know this industry.</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Exclusion</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We discount what doesn’t fit it.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Complacency</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We become confident in the world we can see.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industry we understand becomes the boundary of the world we examine.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2.2a · The Industry Illusion Game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Round 1</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Where would you look?</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Round 2</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deserves attention?</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Round 3</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Should we be worried?</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case: The Future of a University. Three rounds, then The Reveal.</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Directional Integrity Break Down?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integrity blind spots arising from functional perspectives.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how functional blind spots combine into enterprise strategic risk.</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3.1a · The Executive Hot Zone</a:t>
            </a:r>
            <a:endParaRPr lang="en-US" sz="3600" dirty="0"/>
          </a:p>
        </p:txBody>
      </p:sp>
      <p:sp>
        <p:nvSpPr>
          <p:cNvPr id="3" name="Text 1"/>
          <p:cNvSpPr txBox="1"/>
          <p:nvPr/>
        </p:nvSpPr>
        <p:spPr>
          <a:xfrm>
            <a:off x="548640" y="1371600"/>
            <a:ext cx="1106424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Role-based blind spots: the ABCV checkpoint each role most often overlooks</a:t>
            </a:r>
            <a:endParaRPr lang="en-US" sz="2400" dirty="0"/>
          </a:p>
        </p:txBody>
      </p:sp>
      <p:pic>
        <p:nvPicPr>
          <p:cNvPr id="23" name="Picture 22">
            <a:extLst>
              <a:ext uri="{FF2B5EF4-FFF2-40B4-BE49-F238E27FC236}">
                <a16:creationId xmlns:a16="http://schemas.microsoft.com/office/drawing/2014/main" id="{177A0855-320A-493E-39D2-9F25C2065CBA}"/>
              </a:ext>
            </a:extLst>
          </p:cNvPr>
          <p:cNvPicPr>
            <a:picLocks noChangeAspect="1"/>
          </p:cNvPicPr>
          <p:nvPr/>
        </p:nvPicPr>
        <p:blipFill>
          <a:blip r:embed="rId3"/>
          <a:stretch>
            <a:fillRect/>
          </a:stretch>
        </p:blipFill>
        <p:spPr>
          <a:xfrm>
            <a:off x="288995" y="1847088"/>
            <a:ext cx="11613704" cy="49651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lection 3.1: Having explored your role’s typical blind spot: what is one MBT condition in that checkpoint that your organisation is currently assuming without confirmation? What would it take to verify it?"/>
          <p:cNvPicPr>
            <a:picLocks noChangeAspect="1"/>
          </p:cNvPicPr>
          <p:nvPr/>
        </p:nvPicPr>
        <p:blipFill>
          <a:blip r:embed="rId3"/>
          <a:stretch>
            <a:fillRect/>
          </a:stretch>
        </p:blipFill>
        <p:spPr>
          <a:xfrm>
            <a:off x="1691640" y="1572768"/>
            <a:ext cx="9921240" cy="1257051"/>
          </a:xfrm>
          <a:prstGeom prst="rect">
            <a:avLst/>
          </a:prstGeom>
        </p:spPr>
      </p:pic>
      <p:sp>
        <p:nvSpPr>
          <p:cNvPr id="4" name="Part 3.1"/>
          <p:cNvSpPr/>
          <p:nvPr/>
        </p:nvSpPr>
        <p:spPr>
          <a:xfrm>
            <a:off x="548640" y="1766953"/>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2">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Cause of Death — Match the Breakdown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failures of directional integrity in realistic strategic situations.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Select integrity checks that would prevent or reduce identified strategic failures.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Cause of Death · Match the Breakdown</a:t>
            </a:r>
            <a:endParaRPr lang="en-US" sz="3600" dirty="0"/>
          </a:p>
        </p:txBody>
      </p:sp>
      <p:sp>
        <p:nvSpPr>
          <p:cNvPr id="3" name="Shape 1"/>
          <p:cNvSpPr/>
          <p:nvPr/>
        </p:nvSpPr>
        <p:spPr>
          <a:xfrm>
            <a:off x="548640" y="1508760"/>
            <a:ext cx="5408676"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Find the illusion</a:t>
            </a:r>
            <a:endParaRPr lang="en-US" sz="2600" dirty="0"/>
          </a:p>
        </p:txBody>
      </p:sp>
      <p:sp>
        <p:nvSpPr>
          <p:cNvPr id="7" name="Text 4"/>
          <p:cNvSpPr txBox="1"/>
          <p:nvPr/>
        </p:nvSpPr>
        <p:spPr>
          <a:xfrm>
            <a:off x="777240" y="2560320"/>
            <a:ext cx="4951476" cy="274320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Choose the investigation question the scenario answers: Familiarity, Exclusion or Complacency.</a:t>
            </a:r>
            <a:endParaRPr lang="en-US" sz="2400" dirty="0"/>
          </a:p>
        </p:txBody>
      </p:sp>
      <p:sp>
        <p:nvSpPr>
          <p:cNvPr id="8" name="Shape 5"/>
          <p:cNvSpPr/>
          <p:nvPr/>
        </p:nvSpPr>
        <p:spPr>
          <a:xfrm>
            <a:off x="6231636" y="1508760"/>
            <a:ext cx="5408676"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 · Find where it sits</a:t>
            </a:r>
            <a:endParaRPr lang="en-US" sz="2600" dirty="0"/>
          </a:p>
        </p:txBody>
      </p:sp>
      <p:sp>
        <p:nvSpPr>
          <p:cNvPr id="12" name="Text 8"/>
          <p:cNvSpPr txBox="1"/>
          <p:nvPr/>
        </p:nvSpPr>
        <p:spPr>
          <a:xfrm>
            <a:off x="6460236" y="2560320"/>
            <a:ext cx="4951476" cy="2743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Choose the ABCV checkpoint the illusion hid from leaders: Arena, Boundaries, Competition or Value Proposition.</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Four failed strategies. Defuse the mine before it detonates.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5" descr="Closing Commitment: What is one MBT condition your organisation is currently avoiding naming? Why? What will you do about it before your next strategic review?"/>
          <p:cNvPicPr>
            <a:picLocks noChangeAspect="1"/>
          </p:cNvPicPr>
          <p:nvPr/>
        </p:nvPicPr>
        <p:blipFill>
          <a:blip r:embed="rId3"/>
          <a:stretch>
            <a:fillRect/>
          </a:stretch>
        </p:blipFill>
        <p:spPr>
          <a:xfrm>
            <a:off x="1691640" y="1572768"/>
            <a:ext cx="9921240" cy="890368"/>
          </a:xfrm>
          <a:prstGeom prst="rect">
            <a:avLst/>
          </a:prstGeom>
        </p:spPr>
      </p:pic>
      <p:sp>
        <p:nvSpPr>
          <p:cNvPr id="4" name="Part 5"/>
          <p:cNvSpPr/>
          <p:nvPr/>
        </p:nvSpPr>
        <p:spPr>
          <a:xfrm>
            <a:off x="548640" y="158361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ABCV–MBT Working Papers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Validate the critical assumptions, dependencies and uncertainties behind strategic objectives.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Assign and coordinate executive accountability for validating strategic conditions.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91440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188720"/>
            <a:ext cx="548640" cy="548640"/>
          </a:xfrm>
          <a:prstGeom prst="rect">
            <a:avLst/>
          </a:prstGeom>
        </p:spPr>
      </p:pic>
      <p:sp>
        <p:nvSpPr>
          <p:cNvPr id="4" name="Text 1"/>
          <p:cNvSpPr txBox="1"/>
          <p:nvPr/>
        </p:nvSpPr>
        <p:spPr>
          <a:xfrm>
            <a:off x="2103120" y="1097280"/>
            <a:ext cx="941832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5.1 · Worked Example: Stress-Testing a Key Result</a:t>
            </a:r>
            <a:endParaRPr lang="en-US" sz="2600" dirty="0"/>
          </a:p>
        </p:txBody>
      </p:sp>
      <p:sp>
        <p:nvSpPr>
          <p:cNvPr id="5" name="Text 2"/>
          <p:cNvSpPr txBox="1"/>
          <p:nvPr/>
        </p:nvSpPr>
        <p:spPr>
          <a:xfrm>
            <a:off x="2103120" y="1965960"/>
            <a:ext cx="9418320" cy="237744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Reduce average response time to customer requests from 12 hours to 4 hours by 30 June 2027</a:t>
            </a:r>
            <a:endParaRPr lang="en-US" sz="3600" dirty="0"/>
          </a:p>
        </p:txBody>
      </p:sp>
      <p:sp>
        <p:nvSpPr>
          <p:cNvPr id="6" name="Text 3"/>
          <p:cNvSpPr txBox="1"/>
          <p:nvPr/>
        </p:nvSpPr>
        <p:spPr>
          <a:xfrm>
            <a:off x="2103120" y="4526280"/>
            <a:ext cx="9418320" cy="86868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Objective: Deliver consistently fast and effortless service experiences for customers</a:t>
            </a:r>
            <a:endParaRPr lang="en-US" sz="2400" dirty="0"/>
          </a:p>
        </p:txBody>
      </p:sp>
      <p:sp>
        <p:nvSpPr>
          <p:cNvPr id="7" name="Text 4"/>
          <p:cNvSpPr txBox="1"/>
          <p:nvPr/>
        </p:nvSpPr>
        <p:spPr>
          <a:xfrm>
            <a:off x="2103120" y="5760720"/>
            <a:ext cx="9418320" cy="54864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A client services company · from Unit 3, part 2.2</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1: Define the Arena</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Which customer need does “Reduce average response time to customer requests from 12 hours to 4 hours by 30 June 2027” serve: functional, experiential or consequential?</a:t>
            </a:r>
            <a:endParaRPr lang="en-US" sz="2400" dirty="0"/>
          </a:p>
        </p:txBody>
      </p:sp>
      <p:sp>
        <p:nvSpPr>
          <p:cNvPr id="5" name="Text 3"/>
          <p:cNvSpPr txBox="1"/>
          <p:nvPr/>
        </p:nvSpPr>
        <p:spPr>
          <a:xfrm>
            <a:off x="685800" y="2834640"/>
            <a:ext cx="10835640" cy="2240280"/>
          </a:xfrm>
          <a:prstGeom prst="rect">
            <a:avLst/>
          </a:prstGeom>
          <a:noFill/>
          <a:ln/>
        </p:spPr>
        <p:txBody>
          <a:bodyPr wrap="square" lIns="0" tIns="0" rIns="0" bIns="0" rtlCol="0" anchor="ctr"/>
          <a:lstStyle/>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Functional  </a:t>
            </a:r>
            <a:r>
              <a:rPr lang="en-US" sz="2400" dirty="0">
                <a:solidFill>
                  <a:srgbClr val="1F2A22"/>
                </a:solidFill>
                <a:latin typeface="Calibri" pitchFamily="34" charset="0"/>
                <a:ea typeface="Calibri" pitchFamily="34" charset="-122"/>
                <a:cs typeface="Calibri" pitchFamily="34" charset="-120"/>
              </a:rPr>
              <a:t>Have a service request answered and resolved.</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Experiential  </a:t>
            </a:r>
            <a:r>
              <a:rPr lang="en-US" sz="2400" dirty="0">
                <a:solidFill>
                  <a:srgbClr val="1F2A22"/>
                </a:solidFill>
                <a:latin typeface="Calibri" pitchFamily="34" charset="0"/>
                <a:ea typeface="Calibri" pitchFamily="34" charset="-122"/>
                <a:cs typeface="Calibri" pitchFamily="34" charset="-120"/>
              </a:rPr>
              <a:t>Fast and effortless: one contact, no chasing.</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Consequential  </a:t>
            </a:r>
            <a:r>
              <a:rPr lang="en-US" sz="2400" dirty="0">
                <a:solidFill>
                  <a:srgbClr val="1F2A22"/>
                </a:solidFill>
                <a:latin typeface="Calibri" pitchFamily="34" charset="0"/>
                <a:ea typeface="Calibri" pitchFamily="34" charset="-122"/>
                <a:cs typeface="Calibri" pitchFamily="34" charset="-120"/>
              </a:rPr>
              <a:t>Keep their own operations running and their commitments to their own customers met.</a:t>
            </a:r>
            <a:endParaRPr lang="en-US" sz="2400" dirty="0"/>
          </a:p>
        </p:txBody>
      </p:sp>
      <p:sp>
        <p:nvSpPr>
          <p:cNvPr id="6" name="Shape 4"/>
          <p:cNvSpPr/>
          <p:nvPr/>
        </p:nvSpPr>
        <p:spPr>
          <a:xfrm>
            <a:off x="548640" y="5212080"/>
            <a:ext cx="11091672" cy="1188720"/>
          </a:xfrm>
          <a:prstGeom prst="roundRect">
            <a:avLst>
              <a:gd name="adj" fmla="val 7692"/>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212080"/>
            <a:ext cx="10561320" cy="118872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Experiential: clients continue to rank speed of response among their top three reasons for choosing a service partner.</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2: Understand the Boundaries</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Which conditions could materially slow, restrict or prevent us from delivering “Reduce average response time to customer requests from 12 hours to 4 hours by 30 June 2027”?</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Requests that cross Commercial, Operations and Customer Service wait at each handover.</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Front-line staff lack the authority and the client information to answer alone.</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Each function records requests in its own system, with no shared view.</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Request volumes peak at month-end.</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Handovers between Commercial, Operations and Customer Service are completed inside four hours.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3: See the Competition</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Who or what else can give the customer what “Reduce average response time to customer requests from 12 hours to 4 hours by 30 June 2027” delivers?</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Rival client services firms.</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Larger providers with round-the-clock service desks.</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The client’s own in-house team.</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Self-service tools that answer simple requests at once.</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Doing nothing: the client lives with a slower answer.</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A four-hour response remains faster than rival firms and clients’ in-house options provide.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4: Establish the Value Proposition</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What about “Reduce average response time to customer requests from 12 hours to 4 hours by 30 June 2027” will make customers choose us?</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Relevant  </a:t>
            </a:r>
            <a:r>
              <a:rPr lang="en-US" sz="2400" dirty="0">
                <a:solidFill>
                  <a:srgbClr val="1F2A22"/>
                </a:solidFill>
                <a:latin typeface="Calibri" pitchFamily="34" charset="0"/>
                <a:ea typeface="Calibri" pitchFamily="34" charset="-122"/>
                <a:cs typeface="Calibri" pitchFamily="34" charset="-120"/>
              </a:rPr>
              <a:t>Speed of response is among the main reasons clients choose a service partner.</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Distinctive  </a:t>
            </a:r>
            <a:r>
              <a:rPr lang="en-US" sz="2400" dirty="0">
                <a:solidFill>
                  <a:srgbClr val="1F2A22"/>
                </a:solidFill>
                <a:latin typeface="Calibri" pitchFamily="34" charset="0"/>
                <a:ea typeface="Calibri" pitchFamily="34" charset="-122"/>
                <a:cs typeface="Calibri" pitchFamily="34" charset="-120"/>
              </a:rPr>
              <a:t>One joined-up team answers the request. Larger providers pass it between departments.</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Deliverable  </a:t>
            </a:r>
            <a:r>
              <a:rPr lang="en-US" sz="2400" dirty="0">
                <a:solidFill>
                  <a:srgbClr val="1F2A22"/>
                </a:solidFill>
                <a:latin typeface="Calibri" pitchFamily="34" charset="0"/>
                <a:ea typeface="Calibri" pitchFamily="34" charset="-122"/>
                <a:cs typeface="Calibri" pitchFamily="34" charset="-120"/>
              </a:rPr>
              <a:t>Cross-functional execution routines and named owners make a four-hour response repeatable.</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Faster response is delivered with no loss in the quality of the answer the client receives.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Four Steps, Four Conditions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Arena  </a:t>
            </a:r>
            <a:r>
              <a:rPr lang="en-US" sz="2400" dirty="0">
                <a:solidFill>
                  <a:srgbClr val="1F2A22"/>
                </a:solidFill>
                <a:latin typeface="Calibri" pitchFamily="34" charset="0"/>
                <a:ea typeface="Calibri" pitchFamily="34" charset="-122"/>
                <a:cs typeface="Calibri" pitchFamily="34" charset="-120"/>
              </a:rPr>
              <a:t>Experiential: clients continue to rank speed of response among their top three reasons for choosing a service partner.</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Boundaries  </a:t>
            </a:r>
            <a:r>
              <a:rPr lang="en-US" sz="2400" dirty="0">
                <a:solidFill>
                  <a:srgbClr val="1F2A22"/>
                </a:solidFill>
                <a:latin typeface="Calibri" pitchFamily="34" charset="0"/>
                <a:ea typeface="Calibri" pitchFamily="34" charset="-122"/>
                <a:cs typeface="Calibri" pitchFamily="34" charset="-120"/>
              </a:rPr>
              <a:t>Handovers between Commercial, Operations and Customer Service are completed inside four hours.</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Competition  </a:t>
            </a:r>
            <a:r>
              <a:rPr lang="en-US" sz="2400" dirty="0">
                <a:solidFill>
                  <a:srgbClr val="1F2A22"/>
                </a:solidFill>
                <a:latin typeface="Calibri" pitchFamily="34" charset="0"/>
                <a:ea typeface="Calibri" pitchFamily="34" charset="-122"/>
                <a:cs typeface="Calibri" pitchFamily="34" charset="-120"/>
              </a:rPr>
              <a:t>A four-hour response remains faster than rival firms and clients’ in-house options provide.</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 Proposition  </a:t>
            </a:r>
            <a:r>
              <a:rPr lang="en-US" sz="2400" dirty="0">
                <a:solidFill>
                  <a:srgbClr val="1F2A22"/>
                </a:solidFill>
                <a:latin typeface="Calibri" pitchFamily="34" charset="0"/>
                <a:ea typeface="Calibri" pitchFamily="34" charset="-122"/>
                <a:cs typeface="Calibri" pitchFamily="34" charset="-120"/>
              </a:rPr>
              <a:t>Faster response is delivered with no loss in the quality of the answer the client receives.</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If one of them shifts or fails, the Key Result becomes fragile by design.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 · Stress Test Your Key Results: the Four Steps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1 · Define the Arena  </a:t>
            </a:r>
            <a:r>
              <a:rPr lang="en-US" sz="2400" dirty="0">
                <a:solidFill>
                  <a:srgbClr val="1F2A22"/>
                </a:solidFill>
                <a:latin typeface="Calibri" pitchFamily="34" charset="0"/>
                <a:ea typeface="Calibri" pitchFamily="34" charset="-122"/>
                <a:cs typeface="Calibri" pitchFamily="34" charset="-120"/>
              </a:rPr>
              <a:t>which customer need the Key Result serves</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2 · Understand the Boundaries  </a:t>
            </a:r>
            <a:r>
              <a:rPr lang="en-US" sz="2400" dirty="0">
                <a:solidFill>
                  <a:srgbClr val="1F2A22"/>
                </a:solidFill>
                <a:latin typeface="Calibri" pitchFamily="34" charset="0"/>
                <a:ea typeface="Calibri" pitchFamily="34" charset="-122"/>
                <a:cs typeface="Calibri" pitchFamily="34" charset="-120"/>
              </a:rPr>
              <a:t>what could slow, restrict or prevent delivery</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3 · See the Competition  </a:t>
            </a:r>
            <a:r>
              <a:rPr lang="en-US" sz="2400" dirty="0">
                <a:solidFill>
                  <a:srgbClr val="1F2A22"/>
                </a:solidFill>
                <a:latin typeface="Calibri" pitchFamily="34" charset="0"/>
                <a:ea typeface="Calibri" pitchFamily="34" charset="-122"/>
                <a:cs typeface="Calibri" pitchFamily="34" charset="-120"/>
              </a:rPr>
              <a:t>who or what else can give the customer what it delivers</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4 · Establish the Value Proposition  </a:t>
            </a:r>
            <a:r>
              <a:rPr lang="en-US" sz="2400" dirty="0">
                <a:solidFill>
                  <a:srgbClr val="1F2A22"/>
                </a:solidFill>
                <a:latin typeface="Calibri" pitchFamily="34" charset="0"/>
                <a:ea typeface="Calibri" pitchFamily="34" charset="-122"/>
                <a:cs typeface="Calibri" pitchFamily="34" charset="-120"/>
              </a:rPr>
              <a:t>what about it will make customers choose you</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At each step, name what Must Be True.</a:t>
            </a:r>
            <a:endParaRPr lang="en-US" sz="24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5.3 · Accountability Assignment and Executive Blind Spots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1 · Read your conditions  </a:t>
            </a:r>
            <a:r>
              <a:rPr lang="en-US" sz="2400" dirty="0">
                <a:solidFill>
                  <a:srgbClr val="1F2A22"/>
                </a:solidFill>
                <a:latin typeface="Calibri" pitchFamily="34" charset="0"/>
                <a:ea typeface="Calibri" pitchFamily="34" charset="-122"/>
                <a:cs typeface="Calibri" pitchFamily="34" charset="-120"/>
              </a:rPr>
              <a:t>the Must-Be-True conditions your group named in 5.2</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2 · Accountability assignment  </a:t>
            </a:r>
            <a:r>
              <a:rPr lang="en-US" sz="2400" dirty="0">
                <a:solidFill>
                  <a:srgbClr val="1F2A22"/>
                </a:solidFill>
                <a:latin typeface="Calibri" pitchFamily="34" charset="0"/>
                <a:ea typeface="Calibri" pitchFamily="34" charset="-122"/>
                <a:cs typeface="Calibri" pitchFamily="34" charset="-120"/>
              </a:rPr>
              <a:t>the executive, the evidence and the date of the first check</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3 · Executive blind spot  </a:t>
            </a:r>
            <a:r>
              <a:rPr lang="en-US" sz="2400" dirty="0">
                <a:solidFill>
                  <a:srgbClr val="1F2A22"/>
                </a:solidFill>
                <a:latin typeface="Calibri" pitchFamily="34" charset="0"/>
                <a:ea typeface="Calibri" pitchFamily="34" charset="-122"/>
                <a:cs typeface="Calibri" pitchFamily="34" charset="-120"/>
              </a:rPr>
              <a:t>the checkpoint your team is most likely to overlook, and the risk</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4 · Agree  </a:t>
            </a:r>
            <a:r>
              <a:rPr lang="en-US" sz="2400" dirty="0">
                <a:solidFill>
                  <a:srgbClr val="1F2A22"/>
                </a:solidFill>
                <a:latin typeface="Calibri" pitchFamily="34" charset="0"/>
                <a:ea typeface="Calibri" pitchFamily="34" charset="-122"/>
                <a:cs typeface="Calibri" pitchFamily="34" charset="-120"/>
              </a:rPr>
              <a:t>every member agrees; the work feeds boxes 4A to 4F</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Every condition has an executive who checks it.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The closing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What is the one MBT condition your team is most likely to avoid naming? Why? And what will you do about it before the next strategic review?</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12301</Words>
  <Application>Microsoft Office PowerPoint</Application>
  <PresentationFormat>Widescreen</PresentationFormat>
  <Paragraphs>1142</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 Light</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 Direction Integrity (ABCV-MBT)</dc:title>
  <dc:subject>PptxGenJS Presentation</dc:subject>
  <dc:creator>Institute of Behavioural Strategy &amp; Leadership</dc:creator>
  <cp:lastModifiedBy>Carol Lupiya</cp:lastModifiedBy>
  <cp:revision>2</cp:revision>
  <dcterms:created xsi:type="dcterms:W3CDTF">2026-10-07T20:39:21Z</dcterms:created>
  <dcterms:modified xsi:type="dcterms:W3CDTF">2026-10-08T09:20:02Z</dcterms:modified>
</cp:coreProperties>
</file>