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300" r:id="rId11"/>
    <p:sldId id="265" r:id="rId12"/>
    <p:sldId id="266" r:id="rId13"/>
    <p:sldId id="267" r:id="rId14"/>
    <p:sldId id="268" r:id="rId15"/>
    <p:sldId id="269" r:id="rId16"/>
    <p:sldId id="301" r:id="rId17"/>
    <p:sldId id="270" r:id="rId18"/>
    <p:sldId id="271" r:id="rId19"/>
    <p:sldId id="272" r:id="rId20"/>
    <p:sldId id="273" r:id="rId21"/>
    <p:sldId id="274" r:id="rId22"/>
    <p:sldId id="275" r:id="rId23"/>
    <p:sldId id="276" r:id="rId24"/>
    <p:sldId id="277" r:id="rId25"/>
    <p:sldId id="278" r:id="rId26"/>
    <p:sldId id="279" r:id="rId27"/>
    <p:sldId id="280" r:id="rId28"/>
    <p:sldId id="302"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303" r:id="rId48"/>
    <p:sldId id="299" r:id="rId4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18026" autoAdjust="0"/>
  </p:normalViewPr>
  <p:slideViewPr>
    <p:cSldViewPr snapToGrid="0" snapToObjects="1">
      <p:cViewPr varScale="1">
        <p:scale>
          <a:sx n="12" d="100"/>
          <a:sy n="12" d="100"/>
        </p:scale>
        <p:origin x="2534" y="26"/>
      </p:cViewPr>
      <p:guideLst/>
    </p:cSldViewPr>
  </p:slideViewPr>
  <p:notesTextViewPr>
    <p:cViewPr>
      <p:scale>
        <a:sx n="1" d="1"/>
        <a:sy n="1" d="1"/>
      </p:scale>
      <p:origin x="0" y="-401"/>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7259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2 · STRATEGY VISIONING &amp; SUCCESS IN PRACTICE (SiP)
Module 2 · Direction · Unit 2
</a:t>
            </a:r>
            <a:r>
              <a:rPr lang="en-US" b="1" dirty="0"/>
              <a:t>UNIT INTENT</a:t>
            </a:r>
            <a:r>
              <a:rPr lang="en-US" dirty="0"/>
              <a:t>
Before the organisation can define where it is going, leaders must agree on what strategy actually means, in the precise, strategic sense, translated to operational reality, that makes every subsequent decision coherent.
Three connected outputs carry the unit: the Strategy Architecture, the Strategy Intent Statement and Success in Practice. Protect the time in Section 4 for each group to build them in that order.
How the unit runs: Teach the whole unit from the deck first. Participants then go to the portal and complete their own page, in the session or after it.
Unit overview (facilitator file): This unit helps leaders to determine the organisation’s strategy architecture, articulate its strategic intent and define the Success in Practice (SiP) of the chosen Strategy Intent.
</a:t>
            </a:r>
            <a:r>
              <a:rPr lang="en-US" b="1" dirty="0"/>
              <a:t>WHAT THE UNIT PRODUCES:</a:t>
            </a:r>
            <a:r>
              <a:rPr lang="en-US" dirty="0"/>
              <a:t>
Each group builds three connected outputs, in this order.
1. The Strategy Architecture: the integrated strategic logic constructed from the 14 elements of the Strategy2Results® definition of strategy.
2. The Strategy Intent Statement: one crisp statement of strategic ambition derived from WHAT, WHY, HOW and WHEN.
3. Success in Practice (SiP): four confirmed statements, one for each SiP domain, read together as one picture of success.
The Architecture provides the logic. The Intent crystallises the ambition. Success in Practice makes the ambition observable.
</a:t>
            </a:r>
            <a:r>
              <a:rPr lang="en-US" b="1" dirty="0"/>
              <a:t>HOW THE UNIT RUNS:</a:t>
            </a:r>
            <a:r>
              <a:rPr lang="en-US" dirty="0"/>
              <a:t>
1. You teach the whole unit from this deck first, from Section 1 to the Unit Summary. The deck is the teaching material.
2. Participants then go to the portal and complete their own page, in the session or after it: the opening definition of strategy, the reflections, the three Section 4 outputs, the role contribution and the 5.2 observations.
3. Section 4 on the portal is group work. The group agrees each entry and one member acts as scribe. Every member then types the agreed entries into their own page.
4. Section 5 on the portal is individual work from an assigned executive role, followed by each group sharing with the room.
Each slide's notes end with a block headed "On the portal, after the teaching" wherever participants have something to complete for that part.
Your preparation as facilitator:
- Read the Facilitator Guide tab and every section of the facilitator file. 4.1 lists the 14 elements with the guide and the four questions each group sees. 4.3 lists the four SiP domains with the lead question and the three input questions.
- Confirm the groups and the assigned executive roles: CEO, CFO, COO, CHRO, CTO, CMO, CCO, CPO, CRO, CSO.
- Keep a whiteboard or flip chart for the opening definitions of strategy. You return to them at the Unit Summary.
Where the outputs go next:
- The three confirmed outputs feed the team's Capstone Blueprint. Its Unit 2 section opens once every member of the team has completed Unit 2.
- Unit 3 maps the Success in Practice through KISS and defines the OKRs that measure progress towards it.
Source detail (S2R® manuscript):
Module context: The Direction module (Strategy Intent &amp; Direction Across Functions) equips participants to understand how each Executive Leadership role interprets strategic intent and direction, and the steps where these interpretations create cross-functional tension or reinforcement.
Participants work through the whole Direction module from the perspective of their assigned CXO role.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KEY LEARNING OUTCOMES </a:t>
            </a:r>
            <a:r>
              <a:rPr lang="en-US" dirty="0"/>
              <a:t>
1. Define strategy architecture and articulate strategic intent in relation to the organisation’s purpose, long-term value and stakeholder relevance.
2. Define a coherent future position and the organisational meaning of success.
3. Evaluate the consistency between strategic ambition, organisational identity and the realities of the operating environment.
4. Establish a shared strategic direction that supports consistent enterprise interpretation and decision-making.
</a:t>
            </a:r>
            <a:r>
              <a:rPr lang="en-US" b="1" dirty="0"/>
              <a:t>HOW TO USE THIS SLIDE:</a:t>
            </a:r>
            <a:r>
              <a:rPr lang="en-US" dirty="0"/>
              <a:t>
Read the four outcomes aloud and say where the unit delivers each one.
- Outcome 1 is built in Section 1 (the definition and its architecture) and produced in 4.1 and 4.2 (the Strategy Architecture and the Strategy Intent Statement).
- Outcome 2 is built in 1.3 and Section 3 (the four SiP domains and their observable indicators) and produced in 4.3 (the four SiP statements).
- Outcome 3 is tested in 4.1, where each group checks that its choices reinforce one another and reflect the realities of its capability and environment, and in 3.2, where the SiP Flammables test the balance of the picture of success.
- Outcome 4 is built in Section 2 (the three functions the Strategy Intent and SiP serve) and applied in Section 5 (the contribution of each executive role).
Each section slide carries that section’s two learning outcomes.
</a:t>
            </a:r>
            <a:r>
              <a:rPr lang="en-US" b="1" dirty="0"/>
              <a:t>QUESTION TO ASK:</a:t>
            </a:r>
            <a:r>
              <a:rPr lang="en-US" dirty="0"/>
              <a:t>
"Which of these four outcomes would make the largest difference to how your leadership team works today?" </a:t>
            </a:r>
          </a:p>
          <a:p>
            <a:r>
              <a:rPr lang="en-US"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FACILITATOR GUIDE · SESSION OVERVIEW</a:t>
            </a:r>
          </a:p>
          <a:p>
            <a:endParaRPr lang="en-US" b="1" dirty="0"/>
          </a:p>
          <a:p>
            <a:r>
              <a:rPr lang="en-US" b="1" dirty="0"/>
              <a:t>HOW TO USE THIS SLIDE:</a:t>
            </a:r>
            <a:r>
              <a:rPr lang="en-US" dirty="0"/>
              <a:t>
1. Walk the five sections in one sentence each, using the list below.
2. Say plainly that Sections 1 to 3 prepare the thinking and Section 4 is where each group produces its three outputs. </a:t>
            </a:r>
          </a:p>
          <a:p>
            <a:r>
              <a:rPr lang="en-US" dirty="0"/>
              <a:t>The Unit Intent asks you to protect the time for that work.
3. Tell participants how the unit runs: you teach all five sections from the deck first, and they then complete the unit on the portal, in the session or after it.</a:t>
            </a:r>
          </a:p>
          <a:p>
            <a:r>
              <a:rPr lang="en-US" dirty="0"/>
              <a:t>
</a:t>
            </a:r>
            <a:r>
              <a:rPr lang="en-US" b="1" dirty="0"/>
              <a:t>THE FIVE SECTIONS:</a:t>
            </a:r>
            <a:r>
              <a:rPr lang="en-US" dirty="0"/>
              <a:t>
- Section 1 · Awareness — What: the Strategy2Results® definition of strategy, the Strategy Architecture underneath it, the Strategy Intent Statement and Success in Practice.</a:t>
            </a:r>
          </a:p>
          <a:p>
            <a:r>
              <a:rPr lang="en-US" dirty="0"/>
              <a:t>
- Section 2 · Intelligence — Why: the three functions the Strategy Intent and SiP serve once they are defined: Strategic Alignment, Decision Filter and Execution Coherence.</a:t>
            </a:r>
          </a:p>
          <a:p>
            <a:r>
              <a:rPr lang="en-US" dirty="0"/>
              <a:t>
- Section 3 · Extrapolating — Where: the observable indicators within each SiP domain, and the SiP Flammables that distort the picture of success.</a:t>
            </a:r>
          </a:p>
          <a:p>
            <a:r>
              <a:rPr lang="en-US" dirty="0"/>
              <a:t>
- Section 4 · Integration — Collective: each group builds its Strategy Architecture, derives its Strategy Intent Statement and builds its Success in Practice.</a:t>
            </a:r>
          </a:p>
          <a:p>
            <a:r>
              <a:rPr lang="en-US" dirty="0"/>
              <a:t>
- Section 5 · Application — In Practice: each participant applies the agreed Success in Practice to an executive role; the groups then share.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a:t>
            </a:r>
          </a:p>
          <a:p>
            <a:r>
              <a:rPr lang="en-US" b="1" dirty="0"/>
              <a:t>HOW THIS SECTION RUNS:</a:t>
            </a:r>
            <a:r>
              <a:rPr lang="en-US" dirty="0"/>
              <a:t>
1. Opening question: each participant writes a one-sentence definition of strategy 
2. 1.1: the Strategy2Results® definition of strategy and the nine concepts that make up the Strategy Architecture.
3. 1.2: the four dimensions that the Strategy Intent Statement brings forward from the architecture.
4. 1.3: Success in Practice and its four observable domains.
5. The Section 1 Reflections slide: the two reflections participants write on the portal after the teaching.
</a:t>
            </a:r>
          </a:p>
          <a:p>
            <a:r>
              <a:rPr lang="en-US" b="1" dirty="0"/>
              <a:t>SECTION LEARNING OUTCOMES:</a:t>
            </a:r>
            <a:r>
              <a:rPr lang="en-US" dirty="0"/>
              <a:t>
1. Redefine strategy to create a robust understanding of strategy architecture.
2. Distinguish the direction an organisation sets from the future position that defines its success.
</a:t>
            </a:r>
            <a:r>
              <a:rPr lang="en-US" b="1" dirty="0"/>
              <a:t>FACILITATOR GUIDANCE — SECTION 1 · AWARENESS</a:t>
            </a:r>
            <a:r>
              <a:rPr lang="en-US" dirty="0"/>
              <a:t>
</a:t>
            </a:r>
          </a:p>
          <a:p>
            <a:r>
              <a:rPr lang="en-US" b="1" dirty="0"/>
              <a:t>SECTION INTENT: </a:t>
            </a:r>
            <a:r>
              <a:rPr lang="en-US" dirty="0"/>
              <a:t>This section establishes the conceptual bedrock of the entire unit. </a:t>
            </a:r>
          </a:p>
          <a:p>
            <a:r>
              <a:rPr lang="en-US" dirty="0"/>
              <a:t>Before any co-creation can happen, participants must share a single, precise definition of strategy and understand its three building blocks: the Strategy Architecture, the Strategy Intent Statement and Success in Practice.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OPENING THE SESSION</a:t>
            </a:r>
          </a:p>
          <a:p>
            <a:endParaRPr lang="en-US" dirty="0"/>
          </a:p>
          <a:p>
            <a:r>
              <a:rPr lang="en-US" b="1" dirty="0"/>
              <a:t>HOW TO TEACH IT:</a:t>
            </a:r>
          </a:p>
          <a:p>
            <a:endParaRPr lang="en-US" dirty="0"/>
          </a:p>
          <a:p>
            <a:r>
              <a:rPr lang="en-US" b="1" dirty="0"/>
              <a:t>1. Ask for the definition.</a:t>
            </a:r>
          </a:p>
          <a:p>
            <a:r>
              <a:rPr lang="en-US" dirty="0"/>
              <a:t>Before showing any content, put this slide up and ask each participant to define strategy in their own words.</a:t>
            </a:r>
          </a:p>
          <a:p>
            <a:r>
              <a:rPr lang="en-US" dirty="0"/>
              <a:t>Say: "Write your definition of strategy in one sentence — right now, without consulting anyone."</a:t>
            </a:r>
          </a:p>
          <a:p>
            <a:r>
              <a:rPr lang="en-US" dirty="0"/>
              <a:t>Participants write on paper, without conferring.</a:t>
            </a:r>
          </a:p>
          <a:p>
            <a:endParaRPr lang="en-US" dirty="0"/>
          </a:p>
          <a:p>
            <a:r>
              <a:rPr lang="en-US" b="1" dirty="0"/>
              <a:t>2. Collect three or four responses.</a:t>
            </a:r>
          </a:p>
          <a:p>
            <a:r>
              <a:rPr lang="en-US" dirty="0"/>
              <a:t>Ask three or four participants to read their sentence aloud, word for word. Note the differences on a whiteboard.</a:t>
            </a:r>
          </a:p>
          <a:p>
            <a:endParaRPr lang="en-US" dirty="0"/>
          </a:p>
          <a:p>
            <a:r>
              <a:rPr lang="en-US" b="1" dirty="0"/>
              <a:t>3. Ask the room what it hears.</a:t>
            </a:r>
          </a:p>
          <a:p>
            <a:r>
              <a:rPr lang="en-US" dirty="0"/>
              <a:t>Ask: "What do these definitions have in common? Where do they differ?"</a:t>
            </a:r>
          </a:p>
          <a:p>
            <a:r>
              <a:rPr lang="en-US" dirty="0"/>
              <a:t>Listen for: definitions that describe a plan ("the steps we take to…"), definitions that stop at ambition ("where we want to be in five years"), and definitions with no mention of value, stakeholders or the operating environment.</a:t>
            </a:r>
          </a:p>
          <a:p>
            <a:r>
              <a:rPr lang="en-US" dirty="0"/>
              <a:t>Hold back from correcting any definition. The differences on the whiteboard are the material.</a:t>
            </a:r>
          </a:p>
          <a:p>
            <a:endParaRPr lang="en-US" dirty="0"/>
          </a:p>
          <a:p>
            <a:r>
              <a:rPr lang="en-US" b="1" dirty="0"/>
              <a:t>4. Name what you see.</a:t>
            </a:r>
          </a:p>
          <a:p>
            <a:r>
              <a:rPr lang="en-US" dirty="0"/>
              <a:t>Say: "Some of our definitions describe a plan. Some describe an ambition. Some describe a competitive intention."</a:t>
            </a:r>
          </a:p>
          <a:p>
            <a:endParaRPr lang="en-US" dirty="0"/>
          </a:p>
          <a:p>
            <a:r>
              <a:rPr lang="en-US" b="1" dirty="0"/>
              <a:t>5. Use the gap as the opening provocation.</a:t>
            </a:r>
          </a:p>
          <a:p>
            <a:r>
              <a:rPr lang="en-US" dirty="0"/>
              <a:t>Say: "This gap between our answers is exactly the problem this unit solves. This unit gives us one precise definition of strategy and the architecture that sits underneath it."</a:t>
            </a:r>
          </a:p>
          <a:p>
            <a:endParaRPr lang="en-US" dirty="0"/>
          </a:p>
          <a:p>
            <a:r>
              <a:rPr lang="en-US" b="1" dirty="0"/>
              <a:t>6. Keep the definitions.</a:t>
            </a:r>
          </a:p>
          <a:p>
            <a:r>
              <a:rPr lang="en-US" dirty="0"/>
              <a:t>Say: "Keep your sentence. We return to it at the Unit Summary."</a:t>
            </a:r>
          </a:p>
          <a:p>
            <a:r>
              <a:rPr lang="en-US" dirty="0"/>
              <a:t>Leave the differences on the whiteboard: you return to them at the Unit Summary.</a:t>
            </a:r>
          </a:p>
          <a:p>
            <a:endParaRPr lang="en-US" dirty="0"/>
          </a:p>
          <a:p>
            <a:r>
              <a:rPr lang="en-US" b="1" dirty="0"/>
              <a:t>ON THE PORTAL, AFTER THE TEACHING:</a:t>
            </a:r>
          </a:p>
          <a:p>
            <a:r>
              <a:rPr lang="en-US" dirty="0"/>
              <a:t>Each participant enters their definition of strategy in the box at the top of Section 1 of the participant file: "Opening the Session — Your Definition of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DEFINE THE STRATEGY ARCHITECTURE (9 CONCEPTS)</a:t>
            </a:r>
          </a:p>
          <a:p>
            <a:endParaRPr lang="en-US" dirty="0"/>
          </a:p>
          <a:p>
            <a:r>
              <a:rPr lang="en-US" b="1" dirty="0"/>
              <a:t>HOW TO TEACH IT:</a:t>
            </a:r>
          </a:p>
          <a:p>
            <a:endParaRPr lang="en-US" dirty="0"/>
          </a:p>
          <a:p>
            <a:r>
              <a:rPr lang="en-US" b="1" dirty="0"/>
              <a:t>1. Link to the opening exercise.</a:t>
            </a:r>
          </a:p>
          <a:p>
            <a:r>
              <a:rPr lang="en-US" dirty="0"/>
              <a:t>Say: "We have just heard several definitions of strategy in this room. Strategy is frequently used but rarely precisely defined. In most organisations it functions as shorthand for ambition, planning, or competitive intention, with each executive leader carrying a slightly different version of the word. In the Strategy2Results® framework, strategy has a specific applied definition."</a:t>
            </a:r>
          </a:p>
          <a:p>
            <a:endParaRPr lang="en-US" dirty="0"/>
          </a:p>
          <a:p>
            <a:r>
              <a:rPr lang="en-US" b="1" dirty="0"/>
              <a:t>2. Set the frame.</a:t>
            </a:r>
          </a:p>
          <a:p>
            <a:r>
              <a:rPr lang="en-US" dirty="0"/>
              <a:t>Before defining strategy, introduce Strategy Architecture as the underlying logic that gives a strategy its structure.</a:t>
            </a:r>
          </a:p>
          <a:p>
            <a:r>
              <a:rPr lang="en-US" dirty="0"/>
              <a:t>Say: "Before we can express strategy clearly, we need to understand what sits underneath it. We call this the Strategy Architecture — the interconnected choices and logic that determine what the organisation will do, why, how and when; how it will create, deliver and sustain value; for whom; and within what environment."</a:t>
            </a:r>
          </a:p>
          <a:p>
            <a:endParaRPr lang="en-US" dirty="0"/>
          </a:p>
          <a:p>
            <a:r>
              <a:rPr lang="en-US" b="1" dirty="0"/>
              <a:t>3. Say why architecture comes first.</a:t>
            </a:r>
          </a:p>
          <a:p>
            <a:r>
              <a:rPr lang="en-US" dirty="0"/>
              <a:t>Say: "Every strategy takes complexity and gives it structure. The first act of strategic leadership is to bring order to what is chaotic and to name things clearly."</a:t>
            </a:r>
          </a:p>
          <a:p>
            <a:r>
              <a:rPr lang="en-US" dirty="0"/>
              <a:t>(Insight: Bringing order. Source: Journal, 4 January 2026 — Professional Insights: Strategy)</a:t>
            </a:r>
          </a:p>
          <a:p>
            <a:endParaRPr lang="en-US" dirty="0"/>
          </a:p>
          <a:p>
            <a:r>
              <a:rPr lang="en-US" b="1" dirty="0"/>
              <a:t>4. Explain the purpose of this section.</a:t>
            </a:r>
          </a:p>
          <a:p>
            <a:r>
              <a:rPr lang="en-US" dirty="0"/>
              <a:t>Say: "The purpose of this section is to unpack the architecture before trying to produce a strategy statement. A strategy can sound compelling while important parts of its underlying logic remain weak, disconnected or undefined."</a:t>
            </a:r>
          </a:p>
          <a:p>
            <a:endParaRPr lang="en-US" dirty="0"/>
          </a:p>
          <a:p>
            <a:r>
              <a:rPr lang="en-US" b="1" dirty="0"/>
              <a:t>5. Read the definition.</a:t>
            </a:r>
          </a:p>
          <a:p>
            <a:r>
              <a:rPr lang="en-US" dirty="0"/>
              <a:t>Say: "We are now going to unpack the Strategy2Results® definition of strategy."</a:t>
            </a:r>
          </a:p>
          <a:p>
            <a:r>
              <a:rPr lang="en-US" dirty="0"/>
              <a:t>Read the definition on the slide aloud once, slowly:</a:t>
            </a:r>
          </a:p>
          <a:p>
            <a:r>
              <a:rPr lang="en-US" dirty="0"/>
              <a:t>"Strategy is the output of iterative thinking, logic and process to determine what, why, how and when an organisation creates, delivers and sustains value to its stakeholders while navigating the forces within its operating environment."</a:t>
            </a:r>
          </a:p>
          <a:p>
            <a:r>
              <a:rPr lang="en-US" dirty="0"/>
              <a:t>Ask one participant to read it a second time.</a:t>
            </a:r>
          </a:p>
          <a:p>
            <a:r>
              <a:rPr lang="en-US" dirty="0"/>
              <a:t>Then say: "Every word carries strategic weight."</a:t>
            </a:r>
          </a:p>
          <a:p>
            <a:endParaRPr lang="en-US" dirty="0"/>
          </a:p>
          <a:p>
            <a:r>
              <a:rPr lang="en-US" b="1" dirty="0"/>
              <a:t>6. Compare it with the definitions of the room.</a:t>
            </a:r>
          </a:p>
          <a:p>
            <a:r>
              <a:rPr lang="en-US" dirty="0"/>
              <a:t>Ask: "Which words in this definition are missing from ours?"</a:t>
            </a:r>
          </a:p>
          <a:p>
            <a:r>
              <a:rPr lang="en-US" dirty="0"/>
              <a:t>Take two or three answers. Listen for: value, stakeholders, the forces, the operating environment. These are the words most opening definitions leave out.</a:t>
            </a:r>
          </a:p>
          <a:p>
            <a:endParaRPr lang="en-US" dirty="0"/>
          </a:p>
          <a:p>
            <a:r>
              <a:rPr lang="en-US" b="1" dirty="0"/>
              <a:t>7. Name the parts.</a:t>
            </a:r>
          </a:p>
          <a:p>
            <a:r>
              <a:rPr lang="en-US" dirty="0"/>
              <a:t>Point to each part of the definition as you name it: the output · iterative thinking, logic and process · what, why, how and when · creates, delivers and sustains value · stakeholders · navigating the forces · the operating environment.</a:t>
            </a:r>
          </a:p>
          <a:p>
            <a:r>
              <a:rPr lang="en-US" dirty="0"/>
              <a:t>Say: "Each concept in the definition represents part of the architecture."</a:t>
            </a:r>
          </a:p>
          <a:p>
            <a:endParaRPr lang="en-US" dirty="0"/>
          </a:p>
          <a:p>
            <a:r>
              <a:rPr lang="en-US" b="1" dirty="0"/>
              <a:t>8. Leave one question in the room.</a:t>
            </a:r>
          </a:p>
          <a:p>
            <a:r>
              <a:rPr lang="en-US" dirty="0"/>
              <a:t>Say: "As we work through the concepts, consider: How well defined is each part of our strategy architecture today?"</a:t>
            </a:r>
          </a:p>
          <a:p>
            <a:endParaRPr lang="en-US" dirty="0"/>
          </a:p>
          <a:p>
            <a:r>
              <a:rPr lang="en-US" b="1" dirty="0"/>
              <a:t>9. Bridge to the next slide.</a:t>
            </a:r>
          </a:p>
          <a:p>
            <a:r>
              <a:rPr lang="en-US" dirty="0"/>
              <a:t>Say: "Once we understand the parts and how they connect, we can begin constructing a coherent strategic position. For each concept we look at three things: what it means, what it implies for execution, and what breaks when it is absent."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DEFINE THE STRATEGY ARCHITECTURE · THE NINE CONCEPTS</a:t>
            </a:r>
          </a:p>
          <a:p>
            <a:endParaRPr lang="en-US" dirty="0"/>
          </a:p>
          <a:p>
            <a:r>
              <a:rPr lang="en-US" b="1" dirty="0"/>
              <a:t>HOW TO TEACH IT:</a:t>
            </a:r>
          </a:p>
          <a:p>
            <a:endParaRPr lang="en-US" dirty="0"/>
          </a:p>
          <a:p>
            <a:r>
              <a:rPr lang="en-US" b="1" dirty="0"/>
              <a:t>1. Open.</a:t>
            </a:r>
          </a:p>
          <a:p>
            <a:r>
              <a:rPr lang="en-US" dirty="0"/>
              <a:t>Say: "We take the nine concepts one at a time. For each one: what it means, its strategic implication, and what fails when it is missing."</a:t>
            </a:r>
          </a:p>
          <a:p>
            <a:endParaRPr lang="en-US" dirty="0"/>
          </a:p>
          <a:p>
            <a:r>
              <a:rPr lang="en-US" b="1" dirty="0"/>
              <a:t>2. OUTPUT — A decided position.</a:t>
            </a:r>
          </a:p>
          <a:p>
            <a:r>
              <a:rPr lang="en-US" dirty="0"/>
              <a:t>What it means, say: "Strategy is a tangible, expressible, decided position. The output is what can be tested, challenged, and acted upon."</a:t>
            </a:r>
          </a:p>
          <a:p>
            <a:r>
              <a:rPr lang="en-US" dirty="0"/>
              <a:t>Strategic implication, say: "Clarity of direction. People know what the organisation has committed to and can align decisions to it."</a:t>
            </a:r>
          </a:p>
          <a:p>
            <a:r>
              <a:rPr lang="en-US" dirty="0"/>
              <a:t>Failure if missing, say: "Strategy remains trapped in conversations. Activity is mistaken for direction. No one can articulate what was actually decided."</a:t>
            </a:r>
          </a:p>
          <a:p>
            <a:r>
              <a:rPr lang="en-US" dirty="0"/>
              <a:t>Add: "The decided position is distinct from a plan, a meeting, the process of strategising, the presentation deck, and the off-site discussion."</a:t>
            </a:r>
          </a:p>
          <a:p>
            <a:r>
              <a:rPr lang="en-US" dirty="0"/>
              <a:t>Listen for: "our strategy is the five-year plan". Ask: "What position did that plan decide?"</a:t>
            </a:r>
          </a:p>
          <a:p>
            <a:endParaRPr lang="en-US" dirty="0"/>
          </a:p>
          <a:p>
            <a:r>
              <a:rPr lang="en-US" b="1" dirty="0"/>
              <a:t>3. ITERATIVE — Continuously refined.</a:t>
            </a:r>
          </a:p>
          <a:p>
            <a:r>
              <a:rPr lang="en-US" dirty="0"/>
              <a:t>What it means, say: "Strategy is never finished in one pass. It is a hypothesis that loops: form, test against reality, revise, repeat."</a:t>
            </a:r>
          </a:p>
          <a:p>
            <a:r>
              <a:rPr lang="en-US" dirty="0"/>
              <a:t>Strategic implication, say: "Adaptability. The organisation stays responsive to changing conditions without losing its overall direction."</a:t>
            </a:r>
          </a:p>
          <a:p>
            <a:r>
              <a:rPr lang="en-US" dirty="0"/>
              <a:t>Failure if missing, say: "Strategy becomes doctrine — defended as settled belief and closed to evidence. Stale assumptions compound until the organisation is blindsided."</a:t>
            </a:r>
          </a:p>
          <a:p>
            <a:r>
              <a:rPr lang="en-US" dirty="0"/>
              <a:t>Add: "This rules out strategy as an annual ritual and rules in strategy as a living organisational capability."</a:t>
            </a:r>
          </a:p>
          <a:p>
            <a:endParaRPr lang="en-US" dirty="0"/>
          </a:p>
          <a:p>
            <a:r>
              <a:rPr lang="en-US" b="1" dirty="0"/>
              <a:t>4. THINKING &amp; LOGIC — The cognitive engine.</a:t>
            </a:r>
          </a:p>
          <a:p>
            <a:r>
              <a:rPr lang="en-US" dirty="0"/>
              <a:t>What it means, say: "Thinking is divergent and exploratory — generating hypotheses and questioning assumptions. Logic is convergent and analytical — testing what must be true for the strategy to hold. Both are required in sequence."</a:t>
            </a:r>
          </a:p>
          <a:p>
            <a:r>
              <a:rPr lang="en-US" dirty="0"/>
              <a:t>Strategic implication, say: "Strategy is reasoned. This prevents both wishful thinking and paralysis by analysis."</a:t>
            </a:r>
          </a:p>
          <a:p>
            <a:r>
              <a:rPr lang="en-US" dirty="0"/>
              <a:t>Failure if missing, say: "Either wishful vision (thinking without logic) or analysis paralysis (logic without fresh thinking). Most organisations over-invest in data and under-invest in genuinely uncomfortable questions."</a:t>
            </a:r>
          </a:p>
          <a:p>
            <a:r>
              <a:rPr lang="en-US" dirty="0"/>
              <a:t>Add: "Strategy needs reasoning as well as inspiration."</a:t>
            </a:r>
          </a:p>
          <a:p>
            <a:r>
              <a:rPr lang="en-US" dirty="0"/>
              <a:t>Deepen, say: "People misread what is in front of them when they are held by old assumptions. Leaders who are too attached to what they already believe can miss the very signal that could renew the organisation."</a:t>
            </a:r>
          </a:p>
          <a:p>
            <a:r>
              <a:rPr lang="en-US" dirty="0"/>
              <a:t>(Insight: Rigid mental models. Source: Journal, 3 July 2026 — Professional Insights: Strategy)</a:t>
            </a:r>
          </a:p>
          <a:p>
            <a:endParaRPr lang="en-US" dirty="0"/>
          </a:p>
          <a:p>
            <a:r>
              <a:rPr lang="en-US" b="1" dirty="0"/>
              <a:t>5. PROCESS — The structured container.</a:t>
            </a:r>
          </a:p>
          <a:p>
            <a:r>
              <a:rPr lang="en-US" dirty="0"/>
              <a:t>What it means, say: "Process converts ad hoc thinking into a repeatable, auditable, scalable method. It defines who is involved, what inputs are needed, which tools are used, and what decisions are made at each stage."</a:t>
            </a:r>
          </a:p>
          <a:p>
            <a:r>
              <a:rPr lang="en-US" dirty="0"/>
              <a:t>Strategic implication, say: "Strategy becomes an organisational capability. It survives leadership change and does not restart from zero each cycle."</a:t>
            </a:r>
          </a:p>
          <a:p>
            <a:r>
              <a:rPr lang="en-US" dirty="0"/>
              <a:t>Failure if missing, say: "Strategy is brilliant but fragile. When the individual who carries it in their head leaves, the capability collapses."</a:t>
            </a:r>
          </a:p>
          <a:p>
            <a:r>
              <a:rPr lang="en-US" dirty="0"/>
              <a:t>Add: "With process, strategy stops being a personality-dependent event. Process is the scaffolding that makes thinking transferable."</a:t>
            </a:r>
          </a:p>
          <a:p>
            <a:r>
              <a:rPr lang="en-US" dirty="0"/>
              <a:t>Deepen, say: "When value becomes inseparable from particular individuals, ego and fragility increase. Strong cultures recognise the contribution while keeping the mission larger than the contributor."</a:t>
            </a:r>
          </a:p>
          <a:p>
            <a:r>
              <a:rPr lang="en-US" dirty="0"/>
              <a:t>(Insight: The mission larger than the contributor. Source: Journal, 18 September 2026 — Professional Insights: Culture)</a:t>
            </a:r>
          </a:p>
          <a:p>
            <a:endParaRPr lang="en-US" dirty="0"/>
          </a:p>
          <a:p>
            <a:r>
              <a:rPr lang="en-US" b="1" dirty="0"/>
              <a:t>6. Linger on Thinking &amp; Logic and Process.</a:t>
            </a:r>
          </a:p>
          <a:p>
            <a:r>
              <a:rPr lang="en-US" dirty="0"/>
              <a:t>Say: "Thinking &amp; Logic is the cognitive engine. Process is the structured container. Most organisations have process but neglect thinking quality. The definition forces us to see this gap."</a:t>
            </a:r>
          </a:p>
          <a:p>
            <a:r>
              <a:rPr lang="en-US" dirty="0"/>
              <a:t>Ask: "Where does your organisation invest more: in the quality of the thinking, or in the process that contains it?"</a:t>
            </a:r>
          </a:p>
          <a:p>
            <a:r>
              <a:rPr lang="en-US" dirty="0"/>
              <a:t>Take two or three answers. Listen for: a strategy process with no named place for uncomfortable questions.</a:t>
            </a:r>
          </a:p>
          <a:p>
            <a:endParaRPr lang="en-US" dirty="0"/>
          </a:p>
          <a:p>
            <a:r>
              <a:rPr lang="en-US" b="1" dirty="0"/>
              <a:t>7. WHAT · WHY · HOW · WHEN — The 3Ws &amp; H — complete decision space.</a:t>
            </a:r>
          </a:p>
          <a:p>
            <a:r>
              <a:rPr lang="en-US" dirty="0"/>
              <a:t>What it means, say: "These four dimensions define every coherent strategy. WHAT sets the domain and scope. WHY establishes the differentiating logic. HOW defines the operating model. WHEN governs timing and sequencing."</a:t>
            </a:r>
          </a:p>
          <a:p>
            <a:r>
              <a:rPr lang="en-US" dirty="0"/>
              <a:t>Strategic implication, say: "A complete and internally consistent strategy. Each dimension is a necessary condition for the others."</a:t>
            </a:r>
          </a:p>
          <a:p>
            <a:r>
              <a:rPr lang="en-US" dirty="0"/>
              <a:t>Failure if missing, say: "Structural incompleteness. WHAT and WHY without HOW and WHEN is vision without execution. HOW without WHY is activity without logic."</a:t>
            </a:r>
          </a:p>
          <a:p>
            <a:r>
              <a:rPr lang="en-US" dirty="0"/>
              <a:t>Add: "Together the four dimensions constitute a complete strategic position. WHEN without WHAT is urgency without direction."</a:t>
            </a:r>
          </a:p>
          <a:p>
            <a:r>
              <a:rPr lang="en-US" dirty="0"/>
              <a:t>Tell participants: the next slide takes these four dimensions in detail.</a:t>
            </a:r>
          </a:p>
          <a:p>
            <a:endParaRPr lang="en-US" dirty="0"/>
          </a:p>
          <a:p>
            <a:r>
              <a:rPr lang="en-US" b="1" dirty="0"/>
              <a:t>8. CREATES · DELIVERS · SUSTAINS — The Value Triad.</a:t>
            </a:r>
          </a:p>
          <a:p>
            <a:r>
              <a:rPr lang="en-US" dirty="0"/>
              <a:t>What it means, say: "Creating value means nothing if it does not reach its intended recipients. Delivering value means nothing if the conditions that make it possible are steadily depleted. All three layers must be explicitly designed and invested in."</a:t>
            </a:r>
          </a:p>
          <a:p>
            <a:r>
              <a:rPr lang="en-US" dirty="0"/>
              <a:t>Strategic implication, say: "Long-term viability. The organisation does not harvest today at the expense of tomorrow. Value compounds over time."</a:t>
            </a:r>
          </a:p>
          <a:p>
            <a:r>
              <a:rPr lang="en-US" dirty="0"/>
              <a:t>Failure if missing, say: "Most organisations over-invest in creation and delivery while underinvesting in sustainability — the culture, financial health, and ecosystem relationships that make value durable."</a:t>
            </a:r>
          </a:p>
          <a:p>
            <a:r>
              <a:rPr lang="en-US" dirty="0"/>
              <a:t>Draw explicit attention to this concept.</a:t>
            </a:r>
          </a:p>
          <a:p>
            <a:r>
              <a:rPr lang="en-US" dirty="0"/>
              <a:t>Ask: "Is your current strategy as strong on Sustains as it is on Creates and Delivers? Where is the investment in sustainability of value?"</a:t>
            </a:r>
          </a:p>
          <a:p>
            <a:r>
              <a:rPr lang="en-US" dirty="0"/>
              <a:t>This often surfaces an uncomfortable silence. Let the silence stand before you take an answer.</a:t>
            </a:r>
          </a:p>
          <a:p>
            <a:r>
              <a:rPr lang="en-US" dirty="0"/>
              <a:t>Lead into the next concept, say: "An organisation can have alignment, resources, skill and momentum and still fail when its strategy rests on the wrong foundation. A strategy designed mainly to build the reputation of its builders serves the wrong master. Anchor strategy in what the organisation is trying to achieve for its stakeholders."</a:t>
            </a:r>
          </a:p>
          <a:p>
            <a:r>
              <a:rPr lang="en-US" dirty="0"/>
              <a:t>(Insight: Value for whom. Source: Journal, 10 January 2026 — Professional Insights: Strategy)</a:t>
            </a:r>
          </a:p>
          <a:p>
            <a:endParaRPr lang="en-US" dirty="0"/>
          </a:p>
          <a:p>
            <a:r>
              <a:rPr lang="en-US" b="1" dirty="0"/>
              <a:t>9. STAKEHOLDERS — Broader than customers.</a:t>
            </a:r>
          </a:p>
          <a:p>
            <a:r>
              <a:rPr lang="en-US" dirty="0"/>
              <a:t>What it means, say: "Everyone with a stake in the organisation's actions: customers, employees, investors, communities, regulators, and partners. The choice of this word is a values statement — strategy must account for the full stakeholder universe."</a:t>
            </a:r>
          </a:p>
          <a:p>
            <a:r>
              <a:rPr lang="en-US" dirty="0"/>
              <a:t>Strategic implication, say: "Legitimacy and resilience. Organisations that optimise for one stakeholder class create fragilities that others eventually exploit or oppose."</a:t>
            </a:r>
          </a:p>
          <a:p>
            <a:r>
              <a:rPr lang="en-US" dirty="0"/>
              <a:t>Failure if missing, say: "Blind spots. When any stakeholder group is systematically ignored, each becomes a structural risk."</a:t>
            </a:r>
          </a:p>
          <a:p>
            <a:r>
              <a:rPr lang="en-US" dirty="0"/>
              <a:t>Add: "The blind spots are specific: employees who deliver value, investors who fund it, regulators who permit it."</a:t>
            </a:r>
          </a:p>
          <a:p>
            <a:r>
              <a:rPr lang="en-US" dirty="0"/>
              <a:t>Listen for: stakeholders answered as "customers". Ask: "Who else has a stake in what this organisation does?"</a:t>
            </a:r>
          </a:p>
          <a:p>
            <a:endParaRPr lang="en-US" dirty="0"/>
          </a:p>
          <a:p>
            <a:r>
              <a:rPr lang="en-US" b="1" dirty="0"/>
              <a:t>10. NAVIGATING — Active, skilful movement through forces.</a:t>
            </a:r>
          </a:p>
          <a:p>
            <a:r>
              <a:rPr lang="en-US" dirty="0"/>
              <a:t>What it means, say: "Navigation implies agency — the deliberate, skilled reading of forces and the intentional choice of how to move in response to them. Strategy is a continuous navigation discipline: the forces in the operating environment do not pause when the strategy is set, when targets are reached, or when the organisation is performing well."</a:t>
            </a:r>
          </a:p>
          <a:p>
            <a:r>
              <a:rPr lang="en-US" dirty="0"/>
              <a:t>Strategic implication, say: "The organisation maintains strategic control even as conditions shift. Leaders make deliberate moves and shape their circumstances. Navigation transforms external pressure from a threat into a manageable variable."</a:t>
            </a:r>
          </a:p>
          <a:p>
            <a:r>
              <a:rPr lang="en-US" dirty="0"/>
              <a:t>Failure if missing, say: "The organisation becomes reactive — responding to what has already happened, with little anticipation of what is coming. Reactive organisations lose strategic initiative and operate in permanent catch-up. Navigation is what separates strategic leadership from operational management."</a:t>
            </a:r>
          </a:p>
          <a:p>
            <a:endParaRPr lang="en-US" dirty="0"/>
          </a:p>
          <a:p>
            <a:r>
              <a:rPr lang="en-US" b="1" dirty="0"/>
              <a:t>11. THE FORCES — Five categories every strategy must navigate.</a:t>
            </a:r>
          </a:p>
          <a:p>
            <a:r>
              <a:rPr lang="en-US" dirty="0"/>
              <a:t>What it means, say: "Five distinct force categories continuously shape the environment in which strategy must deliver."</a:t>
            </a:r>
          </a:p>
          <a:p>
            <a:r>
              <a:rPr lang="en-US" dirty="0"/>
              <a:t>Name the five categories, one at a time:</a:t>
            </a:r>
          </a:p>
          <a:p>
            <a:r>
              <a:rPr lang="en-US" dirty="0"/>
              <a:t>1. Competitive forces: rivals, new entrants, substitutes, and shifts in customer power.</a:t>
            </a:r>
          </a:p>
          <a:p>
            <a:r>
              <a:rPr lang="en-US" dirty="0"/>
              <a:t>2. Macro-environmental forces: economic cycles, regulatory frameworks, political dynamics, and technological infrastructure.</a:t>
            </a:r>
          </a:p>
          <a:p>
            <a:r>
              <a:rPr lang="en-US" dirty="0"/>
              <a:t>3. Disruptive forces: new business models and technology applications emerging at the margins of the industry.</a:t>
            </a:r>
          </a:p>
          <a:p>
            <a:r>
              <a:rPr lang="en-US" dirty="0"/>
              <a:t>4. Social and environmental forces: stakeholder expectations, social norms, ESG standards, and demographic shifts operating simultaneously across all stakeholder groups.</a:t>
            </a:r>
          </a:p>
          <a:p>
            <a:r>
              <a:rPr lang="en-US" dirty="0"/>
              <a:t>5. Internal forces: culture, enterprise behaviour patterns, institutional habits, and legacy identity that exert force on the organisation from within, often in opposition to the stated strategy.</a:t>
            </a:r>
          </a:p>
          <a:p>
            <a:r>
              <a:rPr lang="en-US" dirty="0"/>
              <a:t>Strategic implication, say: "Leaders develop a structured awareness of which forces are most active, most rapidly shifting, and most likely to invalidate current strategic assumptions. Each force category requires a specific navigation discipline — and this programme builds those disciplines across its units."</a:t>
            </a:r>
          </a:p>
          <a:p>
            <a:r>
              <a:rPr lang="en-US" dirty="0"/>
              <a:t>Failure if missing, say: "Strategy is designed for a force environment that no longer exists. The organisation discovers that the competitive, macro, disruptive, social, or internal forces have moved — and that the strategy has not. By the time this gap is visible in results, the cost of recalibration is significantly higher than it would have been with earlier navigation."</a:t>
            </a:r>
          </a:p>
          <a:p>
            <a:endParaRPr lang="en-US" dirty="0"/>
          </a:p>
          <a:p>
            <a:r>
              <a:rPr lang="en-US" b="1" dirty="0"/>
              <a:t>12. Bring the nine together.</a:t>
            </a:r>
          </a:p>
          <a:p>
            <a:r>
              <a:rPr lang="en-US" dirty="0"/>
              <a:t>Ask: "Which of these nine concepts is least visible in how your organisation currently talks about strategy?"</a:t>
            </a:r>
          </a:p>
          <a:p>
            <a:r>
              <a:rPr lang="en-US" dirty="0"/>
              <a:t>Take three or four answers and note them. They show where each group will need to work hardest in Section 4.</a:t>
            </a:r>
          </a:p>
          <a:p>
            <a:endParaRPr lang="en-US" dirty="0"/>
          </a:p>
          <a:p>
            <a:r>
              <a:rPr lang="en-US" b="1" dirty="0"/>
              <a:t>13. Bridge to 1.2.</a:t>
            </a:r>
          </a:p>
          <a:p>
            <a:r>
              <a:rPr lang="en-US" dirty="0"/>
              <a:t>Say: "OUTPUT is what the other concepts produce: the Strategy Architecture. In Section 4 each group works this definition as 14 elements. Next, we look at how the four dimensions, WHAT, WHY, HOW and WHEN, are brought forward into one statement."</a:t>
            </a:r>
          </a:p>
          <a:p>
            <a:endParaRPr lang="en-US" dirty="0"/>
          </a:p>
          <a:p>
            <a:r>
              <a:rPr lang="en-US" b="1" dirty="0"/>
              <a:t>ON THE PORTAL, AFTER THE TEACHING:</a:t>
            </a:r>
          </a:p>
          <a:p>
            <a:r>
              <a:rPr lang="en-US" dirty="0"/>
              <a:t>Participants write the 1.1 reflection: "Which part of your organisation's strategy architecture is least well defined today? What is the consequence?"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1.2 — DEFINING THE STRATEGY INTENT STATEMENT (4 DIMENSIONS)</a:t>
            </a:r>
          </a:p>
          <a:p>
            <a:endParaRPr lang="en-US" dirty="0"/>
          </a:p>
          <a:p>
            <a:r>
              <a:rPr lang="en-US" b="1" dirty="0"/>
              <a:t>HOW TO TEACH IT:</a:t>
            </a:r>
          </a:p>
          <a:p>
            <a:endParaRPr lang="en-US" dirty="0"/>
          </a:p>
          <a:p>
            <a:r>
              <a:rPr lang="en-US" b="1" dirty="0"/>
              <a:t>1. Position the statement.</a:t>
            </a:r>
          </a:p>
          <a:p>
            <a:r>
              <a:rPr lang="en-US" dirty="0"/>
              <a:t>Say: "The Strategy Architecture provides the foundation from which the Strategy Intent Statement is derived. It has established the organisation's strategic choices and the logic connecting them. The Strategy Intent Statement brings forward four dimensions from that architecture."</a:t>
            </a:r>
          </a:p>
          <a:p>
            <a:r>
              <a:rPr lang="en-US" dirty="0"/>
              <a:t>Say: "The Strategy Architecture holds the depth and the supporting logic. The Strategy Intent Statement is crisp, directional and easy to express."</a:t>
            </a:r>
          </a:p>
          <a:p>
            <a:r>
              <a:rPr lang="en-US" dirty="0"/>
              <a:t>Tell participants: they derive their own statement in Section 4. Here they learn what it brings forward.</a:t>
            </a:r>
          </a:p>
          <a:p>
            <a:endParaRPr lang="en-US" dirty="0"/>
          </a:p>
          <a:p>
            <a:r>
              <a:rPr lang="en-US" b="1" dirty="0"/>
              <a:t>2. Say why the statement must be crisp.</a:t>
            </a:r>
          </a:p>
          <a:p>
            <a:r>
              <a:rPr lang="en-US" dirty="0"/>
              <a:t>Say: "A message creates value only if people can receive and understand it. Strategy must be both sound and communicable."</a:t>
            </a:r>
          </a:p>
          <a:p>
            <a:r>
              <a:rPr lang="en-US" dirty="0"/>
              <a:t>(Insight: Sound and communicable. Source: Journal, 23 August 2026 — Professional Insights: Strategy)</a:t>
            </a:r>
          </a:p>
          <a:p>
            <a:endParaRPr lang="en-US" dirty="0"/>
          </a:p>
          <a:p>
            <a:r>
              <a:rPr lang="en-US" b="1" dirty="0"/>
              <a:t>3. Take the four dimensions one at a time.</a:t>
            </a:r>
          </a:p>
          <a:p>
            <a:r>
              <a:rPr lang="en-US" dirty="0"/>
              <a:t>Say: "We walk through WHAT, WHY, HOW and WHEN one at a time, as a group."</a:t>
            </a:r>
          </a:p>
          <a:p>
            <a:r>
              <a:rPr lang="en-US" dirty="0"/>
              <a:t>For each dimension, ask one diagnostic question and take two or three responses. Stay longest on HOW and WHEN: they typically reveal the most significant gaps.</a:t>
            </a:r>
          </a:p>
          <a:p>
            <a:endParaRPr lang="en-US" dirty="0"/>
          </a:p>
          <a:p>
            <a:r>
              <a:rPr lang="en-US" b="1" dirty="0"/>
              <a:t>4. WHAT — Scope &amp; Definition.</a:t>
            </a:r>
          </a:p>
          <a:p>
            <a:r>
              <a:rPr lang="en-US" dirty="0"/>
              <a:t>Say: "WHAT brings forward the value the organisation has chosen to create and its field of play. It governs scope, portfolio, product and service definition, boundary-setting, market choice, capability focus."</a:t>
            </a:r>
          </a:p>
          <a:p>
            <a:r>
              <a:rPr lang="en-US" dirty="0"/>
              <a:t>Ask one diagnostic question and take two or three responses: "What arenas are we choosing to compete in?" · "What have we decided not to do?" · "Can every team member describe our WHAT in one sentence?"</a:t>
            </a:r>
          </a:p>
          <a:p>
            <a:r>
              <a:rPr lang="en-US" dirty="0"/>
              <a:t>Listen for: a WHAT with no boundary.</a:t>
            </a:r>
          </a:p>
          <a:p>
            <a:r>
              <a:rPr lang="en-US" dirty="0"/>
              <a:t>Deepen, say: "Capability without strategic intent produces a spectacular career and an unfinished assignment. Audit where the organisation’s most distinctive strength is being spent. If the answer is small wars it should never have entered, redirect that strength to the work the strategy was set to do."</a:t>
            </a:r>
          </a:p>
          <a:p>
            <a:r>
              <a:rPr lang="en-US" dirty="0"/>
              <a:t>(Insight: Capability without intent. Source: Journal, 25 April 2026 — Professional Insights: Strategy)</a:t>
            </a:r>
          </a:p>
          <a:p>
            <a:endParaRPr lang="en-US" dirty="0"/>
          </a:p>
          <a:p>
            <a:r>
              <a:rPr lang="en-US" b="1" dirty="0"/>
              <a:t>5. WHY — Purpose &amp; Rationale.</a:t>
            </a:r>
          </a:p>
          <a:p>
            <a:r>
              <a:rPr lang="en-US" dirty="0"/>
              <a:t>Say: "WHY brings forward the rationale for those choices and why they matter. It governs purpose, mission, competitive differentiation, value proposition, organisational identity."</a:t>
            </a:r>
          </a:p>
          <a:p>
            <a:r>
              <a:rPr lang="en-US" dirty="0"/>
              <a:t>Ask one diagnostic question and take two or three responses: "Does our WHY actually differentiate us, or could a competitor claim it unchanged?" · "Do our decisions consistently reflect this WHY?" · "Do stakeholders believe and repeat our WHY?"</a:t>
            </a:r>
          </a:p>
          <a:p>
            <a:r>
              <a:rPr lang="en-US" dirty="0"/>
              <a:t>Deepen, say: "Organisations that rush into execution without clarifying purpose create activity without lasting impact. Strategic clarity emerges when leaders understand why the work exists before deciding how it will be done."</a:t>
            </a:r>
          </a:p>
          <a:p>
            <a:r>
              <a:rPr lang="en-US" dirty="0"/>
              <a:t>(Insight: WHY before HOW. Source: Journal, 28 July 2026 — Professional Insights: Strategy)</a:t>
            </a:r>
          </a:p>
          <a:p>
            <a:endParaRPr lang="en-US" dirty="0"/>
          </a:p>
          <a:p>
            <a:r>
              <a:rPr lang="en-US" b="1" dirty="0"/>
              <a:t>6. HOW — Mechanism &amp; Model.</a:t>
            </a:r>
          </a:p>
          <a:p>
            <a:r>
              <a:rPr lang="en-US" dirty="0"/>
              <a:t>Say: "HOW brings forward the operating model, capabilities and mechanisms through which the value will be delivered. It governs operating model, capabilities, processes, organisational design, technology architecture, partnerships."</a:t>
            </a:r>
          </a:p>
          <a:p>
            <a:r>
              <a:rPr lang="en-US" dirty="0"/>
              <a:t>Key facilitation moment. Ask: "Does your operating model currently match your strategy — or is it a legacy structure that predates your current direction?"</a:t>
            </a:r>
          </a:p>
          <a:p>
            <a:r>
              <a:rPr lang="en-US" dirty="0"/>
              <a:t>Stay here. This often opens the most honest conversation of the entire Awareness section.</a:t>
            </a:r>
          </a:p>
          <a:p>
            <a:r>
              <a:rPr lang="en-US" dirty="0"/>
              <a:t>Further diagnostic questions, if the room needs them: "What capabilities are core and must be owned versus outsourced?" · "Where are the HOW gaps between strategic ambition and current capability?"</a:t>
            </a:r>
          </a:p>
          <a:p>
            <a:r>
              <a:rPr lang="en-US" dirty="0"/>
              <a:t>Listen for: a HOW with no operating model, capability or mechanism named.</a:t>
            </a:r>
          </a:p>
          <a:p>
            <a:r>
              <a:rPr lang="en-US" dirty="0"/>
              <a:t>Deepen, say: "A common strategic failure is choosing the right goal and accepting a compromised route to reach it: a deal that delivers the number and burns the relationship, a hire that fits the seat and damages the team. Before the next material commitment, write the destination and the route on two separate lines and ask whether you would still defend the route if the outcome failed."</a:t>
            </a:r>
          </a:p>
          <a:p>
            <a:r>
              <a:rPr lang="en-US" dirty="0"/>
              <a:t>(Insight: Destination and route. Source: Journal, 24 April 2026 — Professional Insights: Strategy)</a:t>
            </a:r>
          </a:p>
          <a:p>
            <a:endParaRPr lang="en-US" dirty="0"/>
          </a:p>
          <a:p>
            <a:r>
              <a:rPr lang="en-US" b="1" dirty="0"/>
              <a:t>7. WHEN — Timing &amp; Sequencing.</a:t>
            </a:r>
          </a:p>
          <a:p>
            <a:r>
              <a:rPr lang="en-US" dirty="0"/>
              <a:t>Say: "WHEN brings forward the timing, sequencing and strategic moves through which the ambition will be pursued. It governs timing, sequencing, pacing, prioritisation, horizon planning, entry and exit decisions."</a:t>
            </a:r>
          </a:p>
          <a:p>
            <a:r>
              <a:rPr lang="en-US" dirty="0"/>
              <a:t>Ask: "Have you actually mapped the sequence of moves needed to achieve your strategy — or does the plan treat all initiatives as running in parallel?"</a:t>
            </a:r>
          </a:p>
          <a:p>
            <a:r>
              <a:rPr lang="en-US" dirty="0"/>
              <a:t>Further diagnostic questions, if the room needs them: "Are we moving at the right pace?" · "What signals tell us when to accelerate or pause?"</a:t>
            </a:r>
          </a:p>
          <a:p>
            <a:r>
              <a:rPr lang="en-US" dirty="0"/>
              <a:t>Deepen, say: "Many strategic failures are failures of timing. The leader knew what to do and moved before the conditions favoured it. Identify one important move you are pushing early because you are anxious to resolve uncertainty. The same move made at the right moment is a different move."</a:t>
            </a:r>
          </a:p>
          <a:p>
            <a:r>
              <a:rPr lang="en-US" dirty="0"/>
              <a:t>(Insight: Timing failures. Source: Journal, 1 May 2026 — Professional Insights: Strategy)</a:t>
            </a:r>
          </a:p>
          <a:p>
            <a:endParaRPr lang="en-US" dirty="0"/>
          </a:p>
          <a:p>
            <a:r>
              <a:rPr lang="en-US" b="1" dirty="0"/>
              <a:t>8. Read the room.</a:t>
            </a:r>
          </a:p>
          <a:p>
            <a:r>
              <a:rPr lang="en-US" dirty="0"/>
              <a:t>Ask: "Which of the four dimensions is least clearly defined in your organisation today?"</a:t>
            </a:r>
          </a:p>
          <a:p>
            <a:r>
              <a:rPr lang="en-US" dirty="0"/>
              <a:t>Take a show of hands for each dimension and say what the pattern in the room is. Participants answer the same question in their 1.2 reflection.</a:t>
            </a:r>
          </a:p>
          <a:p>
            <a:endParaRPr lang="en-US" dirty="0"/>
          </a:p>
          <a:p>
            <a:r>
              <a:rPr lang="en-US" b="1" dirty="0"/>
              <a:t>9. Show that the four hold together.</a:t>
            </a:r>
          </a:p>
          <a:p>
            <a:r>
              <a:rPr lang="en-US" dirty="0"/>
              <a:t>Say: "The four dimensions are interdependent. Answering only two or three creates a structurally incomplete strategy. A well-formed strategic intent answers all four at once: What value are we creating? Why will stakeholders choose us? How will we deliver this value? When will we act?"</a:t>
            </a:r>
          </a:p>
          <a:p>
            <a:endParaRPr lang="en-US" dirty="0"/>
          </a:p>
          <a:p>
            <a:r>
              <a:rPr lang="en-US" b="1" dirty="0"/>
              <a:t>10. Say what is at stake.</a:t>
            </a:r>
          </a:p>
          <a:p>
            <a:r>
              <a:rPr lang="en-US" dirty="0"/>
              <a:t>Say: "Without a clear strategic intent, every investment becomes a negotiation without a shared reference point. Every performance review becomes a contest between competing definitions of success."</a:t>
            </a:r>
          </a:p>
          <a:p>
            <a:endParaRPr lang="en-US" dirty="0"/>
          </a:p>
          <a:p>
            <a:r>
              <a:rPr lang="en-US" b="1" dirty="0"/>
              <a:t>11. Close and bridge to 1.3.</a:t>
            </a:r>
          </a:p>
          <a:p>
            <a:r>
              <a:rPr lang="en-US" dirty="0"/>
              <a:t>Say: "These four dimensions are then crystallised into one clear Strategy Intent Statement. The strength of the statement comes from the architecture beneath it. It should therefore be crisp, directional and easy to express, while the Strategy Architecture holds the depth and supporting logic. The resulting Strategy Intent becomes the organisation's directional anchor for strategic choices, alignment and execution."</a:t>
            </a:r>
          </a:p>
          <a:p>
            <a:r>
              <a:rPr lang="en-US" dirty="0"/>
              <a:t>Say: "The Intent sets the ambition. Next we ask what we should see in practice when that ambition is realised."</a:t>
            </a:r>
          </a:p>
          <a:p>
            <a:endParaRPr lang="en-US" dirty="0"/>
          </a:p>
          <a:p>
            <a:r>
              <a:rPr lang="en-US" b="1" dirty="0"/>
              <a:t>ON THE PORTAL, AFTER THE TEACHING:</a:t>
            </a:r>
          </a:p>
          <a:p>
            <a:r>
              <a:rPr lang="en-US" dirty="0"/>
              <a:t>Participants write the 1.2 reflection: "From your assigned executive leader perspective: which dimension (WHAT, WHY, HOW, WHEN) is least clearly defined in your organisation's current strategy? What would clarifying it change?"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1.3 — SUCCESS IN PRACTICE (SiP): FROM INTENT TO FUTURE REALITY (4 OBSERVABLE DOMAINS)</a:t>
            </a:r>
          </a:p>
          <a:p>
            <a:endParaRPr lang="en-US" dirty="0"/>
          </a:p>
          <a:p>
            <a:r>
              <a:rPr lang="en-US" b="1" dirty="0"/>
              <a:t>HOW TO TEACH IT:</a:t>
            </a:r>
          </a:p>
          <a:p>
            <a:endParaRPr lang="en-US" dirty="0"/>
          </a:p>
          <a:p>
            <a:r>
              <a:rPr lang="en-US" b="1" dirty="0"/>
              <a:t>1. Connect the two outputs.</a:t>
            </a:r>
          </a:p>
          <a:p>
            <a:r>
              <a:rPr lang="en-US" dirty="0"/>
              <a:t>Say: "The Strategy Intent Statement establishes the ambition. Success in Practice defines what must be seen, experienced and executed for that ambition to become reality within a given time horizon."</a:t>
            </a:r>
          </a:p>
          <a:p>
            <a:r>
              <a:rPr lang="en-US" dirty="0"/>
              <a:t>Add: "Once the organisation has answered WHAT, WHY, HOW and WHEN, the next step is to translate that clarity into an observable future reality."</a:t>
            </a:r>
          </a:p>
          <a:p>
            <a:endParaRPr lang="en-US" dirty="0"/>
          </a:p>
          <a:p>
            <a:r>
              <a:rPr lang="en-US" b="1" dirty="0"/>
              <a:t>2. Say what Success in Practice is.</a:t>
            </a:r>
          </a:p>
          <a:p>
            <a:r>
              <a:rPr lang="en-US" dirty="0"/>
              <a:t>Say: "Success in Practice, SiP, translates strategic intent into a clear picture of the future operating reality of the organisation. It answers a question that most strategy processes fail to address clearly."</a:t>
            </a:r>
          </a:p>
          <a:p>
            <a:r>
              <a:rPr lang="en-US" dirty="0"/>
              <a:t>Read the central question from the foot of the slide:</a:t>
            </a:r>
          </a:p>
          <a:p>
            <a:r>
              <a:rPr lang="en-US" dirty="0"/>
              <a:t>"If our Strategy Intent is successful, what should we see in practice?"</a:t>
            </a:r>
          </a:p>
          <a:p>
            <a:endParaRPr lang="en-US" dirty="0"/>
          </a:p>
          <a:p>
            <a:r>
              <a:rPr lang="en-US" b="1" dirty="0"/>
              <a:t>3. Position participants inside the future.</a:t>
            </a:r>
          </a:p>
          <a:p>
            <a:r>
              <a:rPr lang="en-US" dirty="0"/>
              <a:t>Say: "For this first look, use the strategic ambition of your own organisation as it stands today. Assume the strategy has worked. From here, we are observing."</a:t>
            </a:r>
          </a:p>
          <a:p>
            <a:r>
              <a:rPr lang="en-US" dirty="0"/>
              <a:t>Ask participants to describe the observable organisational reality. Each group writes its own Strategy Intent Statement in Section 4.</a:t>
            </a:r>
          </a:p>
          <a:p>
            <a:endParaRPr lang="en-US" dirty="0"/>
          </a:p>
          <a:p>
            <a:r>
              <a:rPr lang="en-US" b="1" dirty="0"/>
              <a:t>4. Take the four domains.</a:t>
            </a:r>
          </a:p>
          <a:p>
            <a:r>
              <a:rPr lang="en-US" dirty="0"/>
              <a:t>Say: "Success is considered across four observable domains."</a:t>
            </a:r>
          </a:p>
          <a:p>
            <a:r>
              <a:rPr lang="en-US" dirty="0"/>
              <a:t>Name each domain from the slide and say what it covers:</a:t>
            </a:r>
          </a:p>
          <a:p>
            <a:r>
              <a:rPr lang="en-US" dirty="0"/>
              <a:t>- D1 · Customer Experience &amp; Value: What customers and other value recipients experience when the strategic intent is working.</a:t>
            </a:r>
          </a:p>
          <a:p>
            <a:r>
              <a:rPr lang="en-US" dirty="0"/>
              <a:t>- D2 · Operational Capability &amp; Execution Rhythm: How the organisation operates, coordinates, delivers and adapts when the capabilities required by the intent are functioning effectively.</a:t>
            </a:r>
          </a:p>
          <a:p>
            <a:r>
              <a:rPr lang="en-US" dirty="0"/>
              <a:t>- D3 · People &amp; Culture Dynamics: How people understand the strategic intent, make decisions, collaborate, take ownership and behave when the intent is embedded in the organisation.</a:t>
            </a:r>
          </a:p>
          <a:p>
            <a:r>
              <a:rPr lang="en-US" dirty="0"/>
              <a:t>- D4 · Enterprise Value Creation: How the organisation benefits across its measures of enterprise success.</a:t>
            </a:r>
          </a:p>
          <a:p>
            <a:r>
              <a:rPr lang="en-US" dirty="0"/>
              <a:t>Take one observation from the room for each domain, D1 to D4.</a:t>
            </a:r>
          </a:p>
          <a:p>
            <a:r>
              <a:rPr lang="en-US" dirty="0"/>
              <a:t>Add: "Anchoring the description in four observable domains keeps us out of vague storytelling."</a:t>
            </a:r>
          </a:p>
          <a:p>
            <a:endParaRPr lang="en-US" dirty="0"/>
          </a:p>
          <a:p>
            <a:r>
              <a:rPr lang="en-US" b="1" dirty="0"/>
              <a:t>5. Keep the room on observable reality.</a:t>
            </a:r>
          </a:p>
          <a:p>
            <a:r>
              <a:rPr lang="en-US" dirty="0"/>
              <a:t>Say: "The SiP describes what is happening when the strategy is working. Initiatives, projects and activities stay out of it."</a:t>
            </a:r>
          </a:p>
          <a:p>
            <a:r>
              <a:rPr lang="en-US" dirty="0"/>
              <a:t>Each time a participant offers an initiative, a project or an activity ("we will launch…", "we will implement…"), ask: "And when that has worked, what do we see?"</a:t>
            </a:r>
          </a:p>
          <a:p>
            <a:r>
              <a:rPr lang="en-US" dirty="0"/>
              <a:t>Listen for: success described in one domain only. Note which domain each participant reaches for first. The pattern returns in 3.2, the SiP Flammables.</a:t>
            </a:r>
          </a:p>
          <a:p>
            <a:endParaRPr lang="en-US" dirty="0"/>
          </a:p>
          <a:p>
            <a:r>
              <a:rPr lang="en-US" b="1" dirty="0"/>
              <a:t>6. Say why success is defined before anything is built.</a:t>
            </a:r>
          </a:p>
          <a:p>
            <a:r>
              <a:rPr lang="en-US" dirty="0"/>
              <a:t>Say: "The highest forms of organisational design are built to a specification that reflects a deep understanding of what the structure is meant to serve. Before you build, know exactly what you are building toward and why each element matters."</a:t>
            </a:r>
          </a:p>
          <a:p>
            <a:r>
              <a:rPr lang="en-US" dirty="0"/>
              <a:t>(Insight: Built to a specification. Source: Journal, 15 February 2026 — Professional Insights: Strategy)</a:t>
            </a:r>
          </a:p>
          <a:p>
            <a:endParaRPr lang="en-US" dirty="0"/>
          </a:p>
          <a:p>
            <a:r>
              <a:rPr lang="en-US" b="1" dirty="0"/>
              <a:t>7. Say what a shared picture gives a leadership team.</a:t>
            </a:r>
          </a:p>
          <a:p>
            <a:r>
              <a:rPr lang="en-US" dirty="0"/>
              <a:t>Say: "Defining this together creates a shared picture of success, reducing the risk of different functions interpreting the same strategic intent differently."</a:t>
            </a:r>
          </a:p>
          <a:p>
            <a:r>
              <a:rPr lang="en-US" dirty="0"/>
              <a:t>Say: "The aim is shared construction: we should leave with a common understanding of what success looks like across the organisation."</a:t>
            </a:r>
          </a:p>
          <a:p>
            <a:r>
              <a:rPr lang="en-US" dirty="0"/>
              <a:t>Name the four effects for an executive team:</a:t>
            </a:r>
          </a:p>
          <a:p>
            <a:r>
              <a:rPr lang="en-US" dirty="0"/>
              <a:t>- It removes ambiguity about what the strategy is actually aiming to produce.</a:t>
            </a:r>
          </a:p>
          <a:p>
            <a:r>
              <a:rPr lang="en-US" dirty="0"/>
              <a:t>- It creates a shared mental model of the future state across all functions.</a:t>
            </a:r>
          </a:p>
          <a:p>
            <a:r>
              <a:rPr lang="en-US" dirty="0"/>
              <a:t>- It provides a decision filter: every initiative, investment and priority can be tested against it.</a:t>
            </a:r>
          </a:p>
          <a:p>
            <a:r>
              <a:rPr lang="en-US" dirty="0"/>
              <a:t>- It enables recognition of progress: leaders can see alignment and momentum during execution.</a:t>
            </a:r>
          </a:p>
          <a:p>
            <a:endParaRPr lang="en-US" dirty="0"/>
          </a:p>
          <a:p>
            <a:r>
              <a:rPr lang="en-US" b="1" dirty="0"/>
              <a:t>8. Close and bridge.</a:t>
            </a:r>
          </a:p>
          <a:p>
            <a:r>
              <a:rPr lang="en-US" dirty="0"/>
              <a:t>Say: "Together, the four domains create a shared organisational picture of success against which decisions, trade-offs and execution can be aligned."</a:t>
            </a:r>
          </a:p>
          <a:p>
            <a:r>
              <a:rPr lang="en-US" dirty="0"/>
              <a:t>Say: "Before we move to Section 2, look at the two reflections for this section."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1 REFLECTIONS</a:t>
            </a:r>
          </a:p>
          <a:p>
            <a:endParaRPr lang="en-US" dirty="0"/>
          </a:p>
          <a:p>
            <a:r>
              <a:rPr lang="en-US" b="1" dirty="0"/>
              <a:t>HOW TO USE THIS SLIDE:</a:t>
            </a:r>
          </a:p>
          <a:p>
            <a:endParaRPr lang="en-US" dirty="0"/>
          </a:p>
          <a:p>
            <a:r>
              <a:rPr lang="en-US" b="1" dirty="0"/>
              <a:t>1. Show the slide and read the two prompts aloud.</a:t>
            </a:r>
          </a:p>
          <a:p>
            <a:r>
              <a:rPr lang="en-US" dirty="0"/>
              <a:t>1.1 Reflection — Strategy Architecture: "Which part of your organisation's strategy architecture is least well defined today? What is the consequence?"</a:t>
            </a:r>
          </a:p>
          <a:p>
            <a:r>
              <a:rPr lang="en-US" dirty="0"/>
              <a:t>1.2 Reflection — Strategy Intent: "From your assigned executive leader perspective: which dimension (WHAT, WHY, HOW, WHEN) is least clearly defined in your organisation's current strategy? What would clarifying it change?"</a:t>
            </a:r>
          </a:p>
          <a:p>
            <a:endParaRPr lang="en-US" dirty="0"/>
          </a:p>
          <a:p>
            <a:r>
              <a:rPr lang="en-US" b="1" dirty="0"/>
              <a:t>2. Say what the reflections are for.</a:t>
            </a:r>
          </a:p>
          <a:p>
            <a:r>
              <a:rPr lang="en-US" dirty="0"/>
              <a:t>Point learners to the portal section that they will be required to complete with as much depth as possible. The reflections build the learning portfolio they receive at the end of the programme.</a:t>
            </a:r>
          </a:p>
          <a:p>
            <a:r>
              <a:rPr lang="en-US" dirty="0"/>
              <a:t>Say: "You write these reflections on the portal after the teaching, with as much depth as you can."</a:t>
            </a:r>
          </a:p>
          <a:p>
            <a:endParaRPr lang="en-US" dirty="0"/>
          </a:p>
          <a:p>
            <a:r>
              <a:rPr lang="en-US" b="1" dirty="0"/>
              <a:t>3. Set the standard for 1.1.</a:t>
            </a:r>
          </a:p>
          <a:p>
            <a:r>
              <a:rPr lang="en-US" dirty="0"/>
              <a:t>Say: "Name one concept from the nine, give evidence from your own organisation, and name one consequence you have seen: what the gap costs, slows down or leaves undecided."</a:t>
            </a:r>
          </a:p>
          <a:p>
            <a:r>
              <a:rPr lang="en-US" dirty="0"/>
              <a:t>Deepen, say: "Strategy begins with an accurate understanding of present reality. Leaders who avoid difficult information protect their comfort at the expense of the institution. Name the true condition without minimising it."</a:t>
            </a:r>
          </a:p>
          <a:p>
            <a:r>
              <a:rPr lang="en-US" dirty="0"/>
              <a:t>(Insight: An honest baseline. Source: Journal, 4 August 2026 — Professional Insights: Strategy)</a:t>
            </a:r>
          </a:p>
          <a:p>
            <a:endParaRPr lang="en-US" dirty="0"/>
          </a:p>
          <a:p>
            <a:r>
              <a:rPr lang="en-US" b="1" dirty="0"/>
              <a:t>4. Set the standard for 1.2.</a:t>
            </a:r>
          </a:p>
          <a:p>
            <a:r>
              <a:rPr lang="en-US" dirty="0"/>
              <a:t>Say: "Answer from your assigned executive leader perspective. Name one dimension, and say what clarifying it would change."</a:t>
            </a:r>
          </a:p>
          <a:p>
            <a:r>
              <a:rPr lang="en-US" dirty="0"/>
              <a:t>Tell participants: they can start from the dimension they named in the show of hands.</a:t>
            </a:r>
          </a:p>
          <a:p>
            <a:endParaRPr lang="en-US" dirty="0"/>
          </a:p>
          <a:p>
            <a:r>
              <a:rPr lang="en-US" b="1" dirty="0"/>
              <a:t>5. Take one or two first thoughts aloud.</a:t>
            </a:r>
          </a:p>
          <a:p>
            <a:r>
              <a:rPr lang="en-US" dirty="0"/>
              <a:t>This lets participants hear the depth you are asking for.</a:t>
            </a:r>
          </a:p>
          <a:p>
            <a:endParaRPr lang="en-US" dirty="0"/>
          </a:p>
          <a:p>
            <a:r>
              <a:rPr lang="en-US" b="1" dirty="0"/>
              <a:t>6. Bridge to Section 2.</a:t>
            </a:r>
          </a:p>
          <a:p>
            <a:r>
              <a:rPr lang="en-US" dirty="0"/>
              <a:t>Say: "We now have the three building blocks: the architecture, the intent and the picture of success. Section 2 asks why the Strategy Intent and SiP matter once they are defined."</a:t>
            </a:r>
          </a:p>
          <a:p>
            <a:endParaRPr lang="en-US" dirty="0"/>
          </a:p>
          <a:p>
            <a:r>
              <a:rPr lang="en-US" b="1" dirty="0"/>
              <a:t>ON THE PORTAL, AFTER THE TEACHING:</a:t>
            </a:r>
          </a:p>
          <a:p>
            <a:r>
              <a:rPr lang="en-US" dirty="0"/>
              <a:t>Participants write the two reflections in Section 1 of the participant file: 1.1 Reflection — Strategy Architecture and 1.2 Reflection — Strategy Intent.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2 · INTELLIGENCE — WHY</a:t>
            </a:r>
          </a:p>
          <a:p>
            <a:endParaRPr lang="en-US" dirty="0"/>
          </a:p>
          <a:p>
            <a:r>
              <a:rPr lang="en-US" b="1" dirty="0"/>
              <a:t>HOW THIS SECTION RUNS:</a:t>
            </a:r>
          </a:p>
          <a:p>
            <a:r>
              <a:rPr lang="en-US" dirty="0"/>
              <a:t>1. 2.1 overview: the three functions the Strategy Intent and SiP serve within the Strategy2Results® architecture.</a:t>
            </a:r>
          </a:p>
          <a:p>
            <a:r>
              <a:rPr lang="en-US" dirty="0"/>
              <a:t>2. 2.1.1 Strategic Alignment, 2.1.2 Decision Filter and 2.1.3 Execution Coherence: one slide each. Every function is taught in three parts: Why It Matters, what the Strategy Intent does, and what SiP does.</a:t>
            </a:r>
          </a:p>
          <a:p>
            <a:r>
              <a:rPr lang="en-US" dirty="0"/>
              <a:t>3. The Section 2 Reflections slide: the reflection participants write on the portal after the teaching.</a:t>
            </a:r>
          </a:p>
          <a:p>
            <a:endParaRPr lang="en-US" dirty="0"/>
          </a:p>
          <a:p>
            <a:r>
              <a:rPr lang="en-US" b="1" dirty="0"/>
              <a:t>SECTION LEARNING OUTCOMES:</a:t>
            </a:r>
          </a:p>
          <a:p>
            <a:r>
              <a:rPr lang="en-US" dirty="0"/>
              <a:t>1. Explain how a shared strategic ambition and a shared picture of success keep leaders and functions aligned.</a:t>
            </a:r>
          </a:p>
          <a:p>
            <a:r>
              <a:rPr lang="en-US" dirty="0"/>
              <a:t>2. Recognise how a shared direction filters decisions throughout execution.</a:t>
            </a:r>
          </a:p>
          <a:p>
            <a:endParaRPr lang="en-US" dirty="0"/>
          </a:p>
          <a:p>
            <a:r>
              <a:rPr lang="en-US" b="1" dirty="0"/>
              <a:t>HOW TO OPEN THE SECTION:</a:t>
            </a:r>
          </a:p>
          <a:p>
            <a:endParaRPr lang="en-US" dirty="0"/>
          </a:p>
          <a:p>
            <a:r>
              <a:rPr lang="en-US" b="1" dirty="0"/>
              <a:t>1. Link from Section 1.</a:t>
            </a:r>
          </a:p>
          <a:p>
            <a:r>
              <a:rPr lang="en-US" dirty="0"/>
              <a:t>Say: "Section 1 defined the three building blocks. This section asks what the Strategy Intent and SiP do for a leadership team once they exist."</a:t>
            </a:r>
          </a:p>
          <a:p>
            <a:endParaRPr lang="en-US" dirty="0"/>
          </a:p>
          <a:p>
            <a:r>
              <a:rPr lang="en-US" b="1" dirty="0"/>
              <a:t>2. State the section intent.</a:t>
            </a:r>
          </a:p>
          <a:p>
            <a:r>
              <a:rPr lang="en-US" dirty="0"/>
              <a:t>Say: "The Strategy Intent and SiP become useful when they begin to shape how the organisation aligns, makes choices and executes."</a:t>
            </a:r>
          </a:p>
          <a:p>
            <a:r>
              <a:rPr lang="en-US" dirty="0"/>
              <a:t>Say: "Once leaders have established a shared strategic ambition and defined what success looks like in practice, those two outputs become common reference points across the organisation."</a:t>
            </a:r>
          </a:p>
          <a:p>
            <a:endParaRPr lang="en-US" dirty="0"/>
          </a:p>
          <a:p>
            <a:r>
              <a:rPr lang="en-US" b="1" dirty="0"/>
              <a:t>3. Read the two section learning outcomes from the slide.</a:t>
            </a:r>
          </a:p>
          <a:p>
            <a:endParaRPr lang="en-US" dirty="0"/>
          </a:p>
          <a:p>
            <a:r>
              <a:rPr lang="en-US" b="1" dirty="0"/>
              <a:t>4. Bridge to 2.1.</a:t>
            </a:r>
          </a:p>
          <a:p>
            <a:r>
              <a:rPr lang="en-US" dirty="0"/>
              <a:t>Say: "The Strategy Intent and SiP serve three important functions. The next slide names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 — ROLE OF STRATEGY INTENT &amp; SiP IN THE S2R® ARCHITECTURE (3 FUNCTIONS)</a:t>
            </a:r>
          </a:p>
          <a:p>
            <a:endParaRPr lang="en-US" dirty="0"/>
          </a:p>
          <a:p>
            <a:r>
              <a:rPr lang="en-US" b="1" dirty="0"/>
              <a:t>HOW TO TEACH IT:</a:t>
            </a:r>
          </a:p>
          <a:p>
            <a:endParaRPr lang="en-US" dirty="0"/>
          </a:p>
          <a:p>
            <a:r>
              <a:rPr lang="en-US" b="1" dirty="0"/>
              <a:t>1. Introduce the three functions.</a:t>
            </a:r>
          </a:p>
          <a:p>
            <a:r>
              <a:rPr lang="en-US" dirty="0"/>
              <a:t>Say: "Strategy Intent and SiP serve three functions within the Strategy2Results® architecture."</a:t>
            </a:r>
          </a:p>
          <a:p>
            <a:r>
              <a:rPr lang="en-US" dirty="0"/>
              <a:t>Name each function from the slide:</a:t>
            </a:r>
          </a:p>
          <a:p>
            <a:r>
              <a:rPr lang="en-US" dirty="0"/>
              <a:t>- Strategic Alignment: keeping people and functions oriented around the same ambition and picture of success.</a:t>
            </a:r>
          </a:p>
          <a:p>
            <a:r>
              <a:rPr lang="en-US" dirty="0"/>
              <a:t>- Decision Filter: providing a basis for determining which choices, opportunities and investments support the strategy.</a:t>
            </a:r>
          </a:p>
          <a:p>
            <a:r>
              <a:rPr lang="en-US" dirty="0"/>
              <a:t>- Execution Coherence: helping different functions understand how their individual contributions must connect to produce the enterprise outcome.</a:t>
            </a:r>
          </a:p>
          <a:p>
            <a:endParaRPr lang="en-US" dirty="0"/>
          </a:p>
          <a:p>
            <a:r>
              <a:rPr lang="en-US" b="1" dirty="0"/>
              <a:t>2. Name the pairing that runs through all three.</a:t>
            </a:r>
          </a:p>
          <a:p>
            <a:r>
              <a:rPr lang="en-US" dirty="0"/>
              <a:t>Say: "The Intent anchors the ambition and strategic choices; SiP anchors the organisational reality those choices are intended to produce."</a:t>
            </a:r>
          </a:p>
          <a:p>
            <a:r>
              <a:rPr lang="en-US" dirty="0"/>
              <a:t>Listen for: participants who treat the Strategy Intent and SiP as communication tools. Say: "The two outputs are there to govern alignment, choices and execution."</a:t>
            </a:r>
          </a:p>
          <a:p>
            <a:endParaRPr lang="en-US" dirty="0"/>
          </a:p>
          <a:p>
            <a:r>
              <a:rPr lang="en-US" b="1" dirty="0"/>
              <a:t>3. Leave one question in the room.</a:t>
            </a:r>
          </a:p>
          <a:p>
            <a:r>
              <a:rPr lang="en-US" dirty="0"/>
              <a:t>Say: "As we move through the three functions, consider: What happens in an organisation when this function is weak or absent?"</a:t>
            </a:r>
          </a:p>
          <a:p>
            <a:endParaRPr lang="en-US" dirty="0"/>
          </a:p>
          <a:p>
            <a:r>
              <a:rPr lang="en-US" b="1" dirty="0"/>
              <a:t>4. Bridge to the next slide.</a:t>
            </a:r>
          </a:p>
          <a:p>
            <a:r>
              <a:rPr lang="en-US" dirty="0"/>
              <a:t>Say: "The next three slides take one function each: why it matters, what the Strategy Intent does, and what SiP does."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2.1.1 — STRATEGIC ALIGNMENT</a:t>
            </a:r>
          </a:p>
          <a:p>
            <a:endParaRPr lang="en-US" dirty="0"/>
          </a:p>
          <a:p>
            <a:r>
              <a:rPr lang="en-US" b="1" dirty="0"/>
              <a:t>HOW TO TEACH IT:</a:t>
            </a:r>
          </a:p>
          <a:p>
            <a:endParaRPr lang="en-US" dirty="0"/>
          </a:p>
          <a:p>
            <a:r>
              <a:rPr lang="en-US" b="1" dirty="0"/>
              <a:t>1. Say why it matters.</a:t>
            </a:r>
          </a:p>
          <a:p>
            <a:r>
              <a:rPr lang="en-US" dirty="0"/>
              <a:t>Say: "Strategy fragments when leaders and functions interpret the organisation's ambition differently. Alignment creates a common strategic reference point while allowing different parts of the organisation to make the contributions required of them."</a:t>
            </a:r>
          </a:p>
          <a:p>
            <a:endParaRPr lang="en-US" dirty="0"/>
          </a:p>
          <a:p>
            <a:r>
              <a:rPr lang="en-US" b="1" dirty="0"/>
              <a:t>2. Give the role of the Strategy Intent.</a:t>
            </a:r>
          </a:p>
          <a:p>
            <a:r>
              <a:rPr lang="en-US" dirty="0"/>
              <a:t>Say: "The Strategy Intent creates shared understanding of the organisation's strategic ambition and the choices that define it. Leaders are anchored to the same WHAT, WHY, HOW and WHEN."</a:t>
            </a:r>
          </a:p>
          <a:p>
            <a:r>
              <a:rPr lang="en-US" dirty="0"/>
              <a:t>Deepen, say: "Intent cannot be executed consistently when people do not know the principles, expectations and boundaries that should govern their decisions."</a:t>
            </a:r>
          </a:p>
          <a:p>
            <a:r>
              <a:rPr lang="en-US" dirty="0"/>
              <a:t>(Insight: Shared understanding. Source: Journal, 19 July 2026 — Professional Insights: Strategy)</a:t>
            </a:r>
          </a:p>
          <a:p>
            <a:endParaRPr lang="en-US" dirty="0"/>
          </a:p>
          <a:p>
            <a:r>
              <a:rPr lang="en-US" b="1" dirty="0"/>
              <a:t>3. Give the role of SiP.</a:t>
            </a:r>
          </a:p>
          <a:p>
            <a:r>
              <a:rPr lang="en-US" dirty="0"/>
              <a:t>Say: "SiP creates a shared picture of what successful realisation of that ambition looks like. Functions may contribute differently, but they are working towards the same organisational reality."</a:t>
            </a:r>
          </a:p>
          <a:p>
            <a:r>
              <a:rPr lang="en-US" dirty="0"/>
              <a:t>Deepen, say: "Culture becomes powerful when people who share an institution also share its meaning and act on it together."</a:t>
            </a:r>
          </a:p>
          <a:p>
            <a:r>
              <a:rPr lang="en-US" dirty="0"/>
              <a:t>(Insight: Shared meaning, shared action. Source: Journal, 15 July 2026 — Professional Insights: Culture)</a:t>
            </a:r>
          </a:p>
          <a:p>
            <a:endParaRPr lang="en-US" dirty="0"/>
          </a:p>
          <a:p>
            <a:r>
              <a:rPr lang="en-US" b="1" dirty="0"/>
              <a:t>4. Test alignment against the opening exercise.</a:t>
            </a:r>
          </a:p>
          <a:p>
            <a:r>
              <a:rPr lang="en-US" dirty="0"/>
              <a:t>Say: "When this session opened, we heard several definitions of strategy in one room."</a:t>
            </a:r>
          </a:p>
          <a:p>
            <a:r>
              <a:rPr lang="en-US" dirty="0"/>
              <a:t>Ask: "If each member of your leadership team described your organisation’s strategic ambition in one sentence, how many versions would you hear?"</a:t>
            </a:r>
          </a:p>
          <a:p>
            <a:endParaRPr lang="en-US" dirty="0"/>
          </a:p>
          <a:p>
            <a:r>
              <a:rPr lang="en-US" b="1" dirty="0"/>
              <a:t>5. Ask what happens when the function is weak.</a:t>
            </a:r>
          </a:p>
          <a:p>
            <a:r>
              <a:rPr lang="en-US" dirty="0"/>
              <a:t>Ask: "What happens in an organisation when this function is weak or absent?"</a:t>
            </a:r>
          </a:p>
          <a:p>
            <a:r>
              <a:rPr lang="en-US" dirty="0"/>
              <a:t>Listen for: leaders and functions interpreting the ambition differently; each executive pursuing a personal interpretation of the scope and its differentiating logic; each function describing its own version of the future operating state.</a:t>
            </a:r>
          </a:p>
          <a:p>
            <a:endParaRPr lang="en-US" dirty="0"/>
          </a:p>
          <a:p>
            <a:r>
              <a:rPr lang="en-US" b="1" dirty="0"/>
              <a:t>6. Bridge to the Decision Filter.</a:t>
            </a:r>
          </a:p>
          <a:p>
            <a:r>
              <a:rPr lang="en-US" dirty="0"/>
              <a:t>Say: "Alignment gives us one reference point. The next function puts that reference point to work on choices."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2.1.2 — DECISION FILTER</a:t>
            </a:r>
          </a:p>
          <a:p>
            <a:endParaRPr lang="en-US" dirty="0"/>
          </a:p>
          <a:p>
            <a:r>
              <a:rPr lang="en-US" b="1" dirty="0"/>
              <a:t>HOW TO TEACH IT:</a:t>
            </a:r>
          </a:p>
          <a:p>
            <a:endParaRPr lang="en-US" dirty="0"/>
          </a:p>
          <a:p>
            <a:r>
              <a:rPr lang="en-US" b="1" dirty="0"/>
              <a:t>1. Say why it matters.</a:t>
            </a:r>
          </a:p>
          <a:p>
            <a:r>
              <a:rPr lang="en-US" dirty="0"/>
              <a:t>Say: "Organisations continuously face competing opportunities, investments, initiatives and demands. Without a common strategic filter, priorities can become shaped by urgency, functional interests or whoever has the strongest influence in the room."</a:t>
            </a:r>
          </a:p>
          <a:p>
            <a:r>
              <a:rPr lang="en-US" dirty="0"/>
              <a:t>Deepen, say: "Many legitimate demands fragment attention unless there is a clear organising priority. Effective strategy knows the “one thing” around which competing choices are ordered."</a:t>
            </a:r>
          </a:p>
          <a:p>
            <a:r>
              <a:rPr lang="en-US" dirty="0"/>
              <a:t>(Insight: The one thing. Source: Journal, 18 September 2026 — Professional Insights: Strategy)</a:t>
            </a:r>
          </a:p>
          <a:p>
            <a:endParaRPr lang="en-US" dirty="0"/>
          </a:p>
          <a:p>
            <a:r>
              <a:rPr lang="en-US" b="1" dirty="0"/>
              <a:t>2. Make it practical.</a:t>
            </a:r>
          </a:p>
          <a:p>
            <a:r>
              <a:rPr lang="en-US" dirty="0"/>
              <a:t>Ask: "When a new initiative, investment or opportunity appears, what tells us whether it belongs in our strategy?"</a:t>
            </a:r>
          </a:p>
          <a:p>
            <a:r>
              <a:rPr lang="en-US" dirty="0"/>
              <a:t>Take three answers before you give the two tests.</a:t>
            </a:r>
          </a:p>
          <a:p>
            <a:endParaRPr lang="en-US" dirty="0"/>
          </a:p>
          <a:p>
            <a:r>
              <a:rPr lang="en-US" b="1" dirty="0"/>
              <a:t>3. Give the two tests on the slide.</a:t>
            </a:r>
          </a:p>
          <a:p>
            <a:r>
              <a:rPr lang="en-US" dirty="0"/>
              <a:t>Say: "The Strategy Intent provides the test of strategic fit. SiP provides the test of strategic contribution: whether the choice moves the organisation closer to the success it has defined."</a:t>
            </a:r>
          </a:p>
          <a:p>
            <a:r>
              <a:rPr lang="en-US" dirty="0"/>
              <a:t>The test of strategic fit:</a:t>
            </a:r>
          </a:p>
          <a:p>
            <a:r>
              <a:rPr lang="en-US" dirty="0"/>
              <a:t>Say: "The Strategy Intent provides the reference point for determining whether a choice is consistent with the organisation's strategic ambition and the choices already made."</a:t>
            </a:r>
          </a:p>
          <a:p>
            <a:r>
              <a:rPr lang="en-US" dirty="0"/>
              <a:t>The test of strategic contribution:</a:t>
            </a:r>
          </a:p>
          <a:p>
            <a:r>
              <a:rPr lang="en-US" dirty="0"/>
              <a:t>Say: "SiP tests whether that choice contributes to the conditions of success the organisation has defined. It connects individual decisions to the future reality they are expected to help create."</a:t>
            </a:r>
          </a:p>
          <a:p>
            <a:endParaRPr lang="en-US" dirty="0"/>
          </a:p>
          <a:p>
            <a:r>
              <a:rPr lang="en-US" b="1" dirty="0"/>
              <a:t>4. Run both tests on a real case.</a:t>
            </a:r>
          </a:p>
          <a:p>
            <a:r>
              <a:rPr lang="en-US" dirty="0"/>
              <a:t>Ask one participant to name a real initiative that is competing for resources in their organisation today. Run both tests aloud against that organisation’s current strategic ambition and its current picture of success.</a:t>
            </a:r>
          </a:p>
          <a:p>
            <a:r>
              <a:rPr lang="en-US" dirty="0"/>
              <a:t>Say: "Use the same two tests each time a new initiative, investment or opportunity appears."</a:t>
            </a:r>
          </a:p>
          <a:p>
            <a:endParaRPr lang="en-US" dirty="0"/>
          </a:p>
          <a:p>
            <a:r>
              <a:rPr lang="en-US" b="1" dirty="0"/>
              <a:t>5. Deepen: the filter is how daily decisions are made.</a:t>
            </a:r>
          </a:p>
          <a:p>
            <a:r>
              <a:rPr lang="en-US" dirty="0"/>
              <a:t>Say: "A strong strategy carries a clear operating logic that guides what is prioritised, how trade-offs are made and how consistency holds under pressure. Execution quality depends on how those decisions are made daily."</a:t>
            </a:r>
          </a:p>
          <a:p>
            <a:r>
              <a:rPr lang="en-US" dirty="0"/>
              <a:t>(Insight: Operating logic. Source: Journal, 3 April 2026 — Professional Insights: Culture)</a:t>
            </a:r>
          </a:p>
          <a:p>
            <a:endParaRPr lang="en-US" dirty="0"/>
          </a:p>
          <a:p>
            <a:r>
              <a:rPr lang="en-US" b="1" dirty="0"/>
              <a:t>6. Deepen: name the governing reference points.</a:t>
            </a:r>
          </a:p>
          <a:p>
            <a:r>
              <a:rPr lang="en-US" dirty="0"/>
              <a:t>Say: "Organisations without an explicit governing reference point drift into convergent decline: each person makes locally rational decisions that are collectively damaging."</a:t>
            </a:r>
          </a:p>
          <a:p>
            <a:r>
              <a:rPr lang="en-US" dirty="0"/>
              <a:t>Then: Ask participants to name the three governing reference points that override individual preference when they collide. If they cannot name them in plain sentences, the filter is missing.</a:t>
            </a:r>
          </a:p>
          <a:p>
            <a:r>
              <a:rPr lang="en-US" dirty="0"/>
              <a:t>(Insight: Governing reference points. Source: Journal, 27 April 2026 — Professional Insights: Strategy)</a:t>
            </a:r>
          </a:p>
          <a:p>
            <a:endParaRPr lang="en-US" dirty="0"/>
          </a:p>
          <a:p>
            <a:r>
              <a:rPr lang="en-US" b="1" dirty="0"/>
              <a:t>7. Ask what happens when the function is weak.</a:t>
            </a:r>
          </a:p>
          <a:p>
            <a:r>
              <a:rPr lang="en-US" dirty="0"/>
              <a:t>Ask: "What happens in an organisation when this function is weak or absent?"</a:t>
            </a:r>
          </a:p>
          <a:p>
            <a:r>
              <a:rPr lang="en-US" dirty="0"/>
              <a:t>Listen for: priorities shaped by urgency, by functional interests, or by whoever has the strongest influence in the room; an initiative that passes the test of fit while nobody asks what it contributes to the defined success.</a:t>
            </a:r>
          </a:p>
          <a:p>
            <a:endParaRPr lang="en-US" dirty="0"/>
          </a:p>
          <a:p>
            <a:r>
              <a:rPr lang="en-US" b="1" dirty="0"/>
              <a:t>8. Bridge to Execution Coherence.</a:t>
            </a:r>
          </a:p>
          <a:p>
            <a:r>
              <a:rPr lang="en-US" dirty="0"/>
              <a:t>Say: "The filter governs single choices. The next function asks whether the work of all the functions adds up."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2.1.3 — EXECUTION COHERENCE</a:t>
            </a:r>
          </a:p>
          <a:p>
            <a:endParaRPr lang="en-US" dirty="0"/>
          </a:p>
          <a:p>
            <a:r>
              <a:rPr lang="en-US" b="1" dirty="0"/>
              <a:t>HOW TO TEACH IT:</a:t>
            </a:r>
          </a:p>
          <a:p>
            <a:endParaRPr lang="en-US" dirty="0"/>
          </a:p>
          <a:p>
            <a:r>
              <a:rPr lang="en-US" b="1" dirty="0"/>
              <a:t>1. Say why it matters.</a:t>
            </a:r>
          </a:p>
          <a:p>
            <a:r>
              <a:rPr lang="en-US" dirty="0"/>
              <a:t>Say: "Strategy is delivered through many functions, teams and decisions acting together. Each part can perform well individually while the organisation still fails to produce the intended enterprise outcome. Coherence ensures those contributions connect."</a:t>
            </a:r>
          </a:p>
          <a:p>
            <a:endParaRPr lang="en-US" dirty="0"/>
          </a:p>
          <a:p>
            <a:r>
              <a:rPr lang="en-US" b="1" dirty="0"/>
              <a:t>2. Give the role of the Strategy Intent.</a:t>
            </a:r>
          </a:p>
          <a:p>
            <a:r>
              <a:rPr lang="en-US" dirty="0"/>
              <a:t>Say: "The Strategy Intent provides the common strategic anchor that enables functions to interpret their mandates and choices in relation to the enterprise ambition."</a:t>
            </a:r>
          </a:p>
          <a:p>
            <a:endParaRPr lang="en-US" dirty="0"/>
          </a:p>
          <a:p>
            <a:r>
              <a:rPr lang="en-US" b="1" dirty="0"/>
              <a:t>3. Give the role of SiP.</a:t>
            </a:r>
          </a:p>
          <a:p>
            <a:r>
              <a:rPr lang="en-US" dirty="0"/>
              <a:t>Say: "SiP shows what those combined contributions must produce across customer value, operational capability, people and culture, and enterprise value. It allows functions to see beyond their individual outputs to the organisational outcome they collectively enable."</a:t>
            </a:r>
          </a:p>
          <a:p>
            <a:endParaRPr lang="en-US" dirty="0"/>
          </a:p>
          <a:p>
            <a:r>
              <a:rPr lang="en-US" b="1" dirty="0"/>
              <a:t>4. Make it real.</a:t>
            </a:r>
          </a:p>
          <a:p>
            <a:r>
              <a:rPr lang="en-US" dirty="0"/>
              <a:t>Ask: "Where in your organisation does every function meet its own targets while the enterprise outcome falls short?"</a:t>
            </a:r>
          </a:p>
          <a:p>
            <a:r>
              <a:rPr lang="en-US" dirty="0"/>
              <a:t>Take two or three answers.</a:t>
            </a:r>
          </a:p>
          <a:p>
            <a:endParaRPr lang="en-US" dirty="0"/>
          </a:p>
          <a:p>
            <a:r>
              <a:rPr lang="en-US" b="1" dirty="0"/>
              <a:t>5. Deepen.</a:t>
            </a:r>
          </a:p>
          <a:p>
            <a:r>
              <a:rPr lang="en-US" dirty="0"/>
              <a:t>Say: "Organisations that want to keep their core commitments coherent must resist fragmenting the practice of those commitments into locally adapted, individually customised forms that gradually lose their connection to the common centre."</a:t>
            </a:r>
          </a:p>
          <a:p>
            <a:r>
              <a:rPr lang="en-US" dirty="0"/>
              <a:t>(Insight: The common centre. Source: Journal, 24 March 2026 — Professional Insights)</a:t>
            </a:r>
          </a:p>
          <a:p>
            <a:endParaRPr lang="en-US" dirty="0"/>
          </a:p>
          <a:p>
            <a:r>
              <a:rPr lang="en-US" b="1" dirty="0"/>
              <a:t>6. Ask what happens when the function is weak.</a:t>
            </a:r>
          </a:p>
          <a:p>
            <a:r>
              <a:rPr lang="en-US" dirty="0"/>
              <a:t>Ask: "What happens in an organisation when this function is weak or absent?"</a:t>
            </a:r>
          </a:p>
          <a:p>
            <a:r>
              <a:rPr lang="en-US" dirty="0"/>
              <a:t>Listen for: each function performing well against its own measures while the enterprise outcome is missed; functions losing sight of the organisational outcome they collectively enable; contributions that do not connect at the boundaries between functions.</a:t>
            </a:r>
          </a:p>
          <a:p>
            <a:endParaRPr lang="en-US" dirty="0"/>
          </a:p>
          <a:p>
            <a:r>
              <a:rPr lang="en-US" b="1" dirty="0"/>
              <a:t>7. Point forward and bridge.</a:t>
            </a:r>
          </a:p>
          <a:p>
            <a:r>
              <a:rPr lang="en-US" dirty="0"/>
              <a:t>Say: "Section 5 puts this function to work: each of you defines what one executive role must contribute so that the agreed Success in Practice becomes real."</a:t>
            </a:r>
          </a:p>
          <a:p>
            <a:r>
              <a:rPr lang="en-US" dirty="0"/>
              <a:t>Say: "Before we move to Section 3, look at the reflection for this section."</a:t>
            </a:r>
          </a:p>
          <a:p>
            <a:endParaRPr lang="en-US" dirty="0"/>
          </a:p>
          <a:p>
            <a:r>
              <a:rPr lang="en-US" b="1" dirty="0"/>
              <a:t>ON THE PORTAL, AFTER THE TEACHING:</a:t>
            </a:r>
          </a:p>
          <a:p>
            <a:r>
              <a:rPr lang="en-US" dirty="0"/>
              <a:t>Participants write the 2.1 reflection: "Which of the three functions is weakest in your organisation today? What happens as a result?"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2 REFLECTIONS</a:t>
            </a:r>
          </a:p>
          <a:p>
            <a:endParaRPr lang="en-US" dirty="0"/>
          </a:p>
          <a:p>
            <a:r>
              <a:rPr lang="en-US" b="1" dirty="0"/>
              <a:t>HOW TO USE THIS SLIDE:</a:t>
            </a:r>
          </a:p>
          <a:p>
            <a:endParaRPr lang="en-US" dirty="0"/>
          </a:p>
          <a:p>
            <a:r>
              <a:rPr lang="en-US" b="1" dirty="0"/>
              <a:t>1. Show the slide and read the prompt aloud.</a:t>
            </a:r>
          </a:p>
          <a:p>
            <a:r>
              <a:rPr lang="en-US" dirty="0"/>
              <a:t>2.1 Reflection — Three Functions: "Which of the three functions is weakest in your organisation today? What happens as a result?"</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r>
              <a:rPr lang="en-US" dirty="0"/>
              <a:t>Say: "You write this reflection on the portal after the teaching, with as much depth as you can."</a:t>
            </a:r>
          </a:p>
          <a:p>
            <a:endParaRPr lang="en-US" dirty="0"/>
          </a:p>
          <a:p>
            <a:r>
              <a:rPr lang="en-US" b="1" dirty="0"/>
              <a:t>3. Set the standard.</a:t>
            </a:r>
          </a:p>
          <a:p>
            <a:r>
              <a:rPr lang="en-US" dirty="0"/>
              <a:t>Say: "Name one function only: Strategic Alignment, Decision Filter or Execution Coherence. Describe a real situation in which the weakness showed: a decision, a meeting, a hand-off between functions. Then give the result for the organisation."</a:t>
            </a:r>
          </a:p>
          <a:p>
            <a:endParaRPr lang="en-US" dirty="0"/>
          </a:p>
          <a:p>
            <a:r>
              <a:rPr lang="en-US" b="1" dirty="0"/>
              <a:t>4. Read the room.</a:t>
            </a:r>
          </a:p>
          <a:p>
            <a:r>
              <a:rPr lang="en-US" dirty="0"/>
              <a:t>Take a show of hands for each function and say what the pattern in the room is.</a:t>
            </a:r>
          </a:p>
          <a:p>
            <a:endParaRPr lang="en-US" dirty="0"/>
          </a:p>
          <a:p>
            <a:r>
              <a:rPr lang="en-US" b="1" dirty="0"/>
              <a:t>5. Bridge to Section 3.</a:t>
            </a:r>
          </a:p>
          <a:p>
            <a:r>
              <a:rPr lang="en-US" dirty="0"/>
              <a:t>Say: "We know what the Strategy Intent and SiP are for. Section 3 looks closely at the SiP itself: what success looks like inside each domain, and what happens when one domain dominates the picture."</a:t>
            </a:r>
          </a:p>
          <a:p>
            <a:endParaRPr lang="en-US" dirty="0"/>
          </a:p>
          <a:p>
            <a:r>
              <a:rPr lang="en-US" b="1" dirty="0"/>
              <a:t>ON THE PORTAL, AFTER THE TEACHING:</a:t>
            </a:r>
          </a:p>
          <a:p>
            <a:r>
              <a:rPr lang="en-US" dirty="0"/>
              <a:t>Participants write the reflection in Section 2 of the participant file: 2.1 Reflection — Three Functions.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3 · EXTRAPOLATING — WHERE</a:t>
            </a:r>
          </a:p>
          <a:p>
            <a:endParaRPr lang="en-US" dirty="0"/>
          </a:p>
          <a:p>
            <a:r>
              <a:rPr lang="en-US" b="1" dirty="0"/>
              <a:t>HOW THIS SECTION RUNS:</a:t>
            </a:r>
          </a:p>
          <a:p>
            <a:r>
              <a:rPr lang="en-US" dirty="0"/>
              <a:t>1. 3.1 overview: the four SiP domains and their observable indicators.</a:t>
            </a:r>
          </a:p>
          <a:p>
            <a:r>
              <a:rPr lang="en-US" dirty="0"/>
              <a:t>2. 3.1 domain by domain, D1 to D4: one slide each. Every indicator is taught in two positions: When Working and Signal of Absence.</a:t>
            </a:r>
          </a:p>
          <a:p>
            <a:r>
              <a:rPr lang="en-US" dirty="0"/>
              <a:t>3. 3.2 overview: the SiP Flammables as the balance test.</a:t>
            </a:r>
          </a:p>
          <a:p>
            <a:r>
              <a:rPr lang="en-US" dirty="0"/>
              <a:t>4. 3.2 pattern by pattern: one slide each, with the indicators that reveal the pattern and the strategic risk if it is not balanced.</a:t>
            </a:r>
          </a:p>
          <a:p>
            <a:r>
              <a:rPr lang="en-US" dirty="0"/>
              <a:t>5. The Section 3 Reflections slide: the 3.1 reflection participants write on the portal after the teaching.</a:t>
            </a:r>
          </a:p>
          <a:p>
            <a:endParaRPr lang="en-US" dirty="0"/>
          </a:p>
          <a:p>
            <a:r>
              <a:rPr lang="en-US" b="1" dirty="0"/>
              <a:t>SECTION LEARNING OUTCOMES:</a:t>
            </a:r>
          </a:p>
          <a:p>
            <a:r>
              <a:rPr lang="en-US" dirty="0"/>
              <a:t>1. Use observable indicators to examine what success looks like within each of the four SiP domains.</a:t>
            </a:r>
          </a:p>
          <a:p>
            <a:r>
              <a:rPr lang="en-US" dirty="0"/>
              <a:t>2. Distinguish between conditions that demonstrate success and signals that those conditions are absent.</a:t>
            </a:r>
          </a:p>
          <a:p>
            <a:endParaRPr lang="en-US" dirty="0"/>
          </a:p>
          <a:p>
            <a:r>
              <a:rPr lang="en-US" b="1" dirty="0"/>
              <a:t>HOW TO OPEN THE SECTION:</a:t>
            </a:r>
          </a:p>
          <a:p>
            <a:endParaRPr lang="en-US" dirty="0"/>
          </a:p>
          <a:p>
            <a:r>
              <a:rPr lang="en-US" b="1" dirty="0"/>
              <a:t>1. State the section intent.</a:t>
            </a:r>
          </a:p>
          <a:p>
            <a:r>
              <a:rPr lang="en-US" dirty="0"/>
              <a:t>Say: "We have established that Success in Practice answers a central question: If our Strategy Intent is successful, what should we see in practice? This section takes that question deeper."</a:t>
            </a:r>
          </a:p>
          <a:p>
            <a:endParaRPr lang="en-US" dirty="0"/>
          </a:p>
          <a:p>
            <a:r>
              <a:rPr lang="en-US" b="1" dirty="0"/>
              <a:t>2. Say why broad statements fall short.</a:t>
            </a:r>
          </a:p>
          <a:p>
            <a:r>
              <a:rPr lang="en-US" dirty="0"/>
              <a:t>Say: "Each of the four SiP domains covers an important part of organisational reality. Broad statements about customer experience, operational capability, people and culture, or enterprise value fall short. Leaders need to be able to recognise what success would actually look like when it begins to show up in practice."</a:t>
            </a:r>
          </a:p>
          <a:p>
            <a:endParaRPr lang="en-US" dirty="0"/>
          </a:p>
          <a:p>
            <a:r>
              <a:rPr lang="en-US" b="1" dirty="0"/>
              <a:t>3. Introduce the observable indicators.</a:t>
            </a:r>
          </a:p>
          <a:p>
            <a:r>
              <a:rPr lang="en-US" dirty="0"/>
              <a:t>Say: "This is where observable indicators become useful. The indicators help us examine each SiP domain more deeply. They show the kinds of conditions we would expect to observe when that aspect of the Strategy Intent is working, as well as the signals that may indicate something is missing."</a:t>
            </a:r>
          </a:p>
          <a:p>
            <a:endParaRPr lang="en-US" dirty="0"/>
          </a:p>
          <a:p>
            <a:r>
              <a:rPr lang="en-US" b="1" dirty="0"/>
              <a:t>4. Introduce the second discipline: balance.</a:t>
            </a:r>
          </a:p>
          <a:p>
            <a:r>
              <a:rPr lang="en-US" dirty="0"/>
              <a:t>Say: "There is also a second discipline: balance across the four domains. A leadership team can develop a strong picture of customer success while overlooking the operational capability required to deliver it. It can describe an enabling culture without connecting that culture to enterprise value. It can define strong financial outcomes without describing the customer, operational and people conditions required to produce them."</a:t>
            </a:r>
          </a:p>
          <a:p>
            <a:endParaRPr lang="en-US" dirty="0"/>
          </a:p>
          <a:p>
            <a:r>
              <a:rPr lang="en-US" b="1" dirty="0"/>
              <a:t>5. Name the two disciplines.</a:t>
            </a:r>
          </a:p>
          <a:p>
            <a:r>
              <a:rPr lang="en-US" dirty="0"/>
              <a:t>Say: "This section therefore develops two disciplines: Depth within each SiP domain. Balance across all four SiP domains."</a:t>
            </a:r>
          </a:p>
          <a:p>
            <a:r>
              <a:rPr lang="en-US" dirty="0"/>
              <a:t>Tell participants: both disciplines return in 4.3, where each group tests its own Success in Practice.</a:t>
            </a:r>
          </a:p>
          <a:p>
            <a:endParaRPr lang="en-US" dirty="0"/>
          </a:p>
          <a:p>
            <a:r>
              <a:rPr lang="en-US" b="1" dirty="0"/>
              <a:t>6. Read the two section learning outcomes from the slide.</a:t>
            </a:r>
          </a:p>
          <a:p>
            <a:endParaRPr lang="en-US" dirty="0"/>
          </a:p>
          <a:p>
            <a:r>
              <a:rPr lang="en-US" b="1" dirty="0"/>
              <a:t>7. Say how the section runs.</a:t>
            </a:r>
          </a:p>
          <a:p>
            <a:r>
              <a:rPr lang="en-US" dirty="0"/>
              <a:t>Say: "We begin by examining the observable indicators within each domain. We then examine what happens when one domain becomes dominant and begins to distort the organisation's overall picture of success."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(4 DOMAINS)</a:t>
            </a:r>
          </a:p>
          <a:p>
            <a:endParaRPr lang="en-US" dirty="0"/>
          </a:p>
          <a:p>
            <a:r>
              <a:rPr lang="en-US" b="1" dirty="0"/>
              <a:t>HOW TO TEACH IT:</a:t>
            </a:r>
          </a:p>
          <a:p>
            <a:endParaRPr lang="en-US" dirty="0"/>
          </a:p>
          <a:p>
            <a:r>
              <a:rPr lang="en-US" b="1" dirty="0"/>
              <a:t>1. Say what an observable indicator is for.</a:t>
            </a:r>
          </a:p>
          <a:p>
            <a:r>
              <a:rPr lang="en-US" dirty="0"/>
              <a:t>Say: "Each SiP domain is examined through a set of observable indicators. These indicators help leaders move from a broad description of success to the specific conditions through which that success would become visible in the organisation."</a:t>
            </a:r>
          </a:p>
          <a:p>
            <a:endParaRPr lang="en-US" dirty="0"/>
          </a:p>
          <a:p>
            <a:r>
              <a:rPr lang="en-US" b="1" dirty="0"/>
              <a:t>2. Explain the two positions.</a:t>
            </a:r>
          </a:p>
          <a:p>
            <a:r>
              <a:rPr lang="en-US" dirty="0"/>
              <a:t>Say: "For every indicator, we examine two positions."</a:t>
            </a:r>
          </a:p>
          <a:p>
            <a:r>
              <a:rPr lang="en-US" dirty="0"/>
              <a:t>Say: "When Working describes what we would expect to observe when that aspect of the SiP is functioning effectively."</a:t>
            </a:r>
          </a:p>
          <a:p>
            <a:r>
              <a:rPr lang="en-US" dirty="0"/>
              <a:t>Say: "Signal of Absence describes what may become visible when that condition is weak, missing or disconnected from the Strategy Intent."</a:t>
            </a:r>
          </a:p>
          <a:p>
            <a:endParaRPr lang="en-US" dirty="0"/>
          </a:p>
          <a:p>
            <a:r>
              <a:rPr lang="en-US" b="1" dirty="0"/>
              <a:t>3. Say how the two positions are used.</a:t>
            </a:r>
          </a:p>
          <a:p>
            <a:r>
              <a:rPr lang="en-US" dirty="0"/>
              <a:t>Say: "Use both positions to deepen the discussion. Sometimes the absence of a condition provides the clearest evidence of why it matters."</a:t>
            </a:r>
          </a:p>
          <a:p>
            <a:endParaRPr lang="en-US" dirty="0"/>
          </a:p>
          <a:p>
            <a:r>
              <a:rPr lang="en-US" b="1" dirty="0"/>
              <a:t>4. Place the indicators correctly.</a:t>
            </a:r>
          </a:p>
          <a:p>
            <a:r>
              <a:rPr lang="en-US" dirty="0"/>
              <a:t>Say: "The indicators sit alongside the organisation's SiP. They help leaders test, deepen and make observable the success they have defined."</a:t>
            </a:r>
          </a:p>
          <a:p>
            <a:r>
              <a:rPr lang="en-US" dirty="0"/>
              <a:t>Tell participants: each group writes its own SiP statements in Section 4. The indicators deepen that work.</a:t>
            </a:r>
          </a:p>
          <a:p>
            <a:endParaRPr lang="en-US" dirty="0"/>
          </a:p>
          <a:p>
            <a:r>
              <a:rPr lang="en-US" b="1" dirty="0"/>
              <a:t>5. Name the four domains and their indicators.</a:t>
            </a:r>
          </a:p>
          <a:p>
            <a:r>
              <a:rPr lang="en-US" dirty="0"/>
              <a:t>The slide shows the indicators in short form. Give the full names:</a:t>
            </a:r>
          </a:p>
          <a:p>
            <a:r>
              <a:rPr lang="en-US" dirty="0"/>
              <a:t>- D1 · Customer Experience &amp; Value: C — Connection Value · A — Access Value · R — Results Value · E — Effort Value</a:t>
            </a:r>
          </a:p>
          <a:p>
            <a:r>
              <a:rPr lang="en-US" dirty="0"/>
              <a:t>- D2 · Operational Capability: Priority Clarity · Decision Flow · Cross-Functional Coordination · Delivery Rhythm</a:t>
            </a:r>
          </a:p>
          <a:p>
            <a:r>
              <a:rPr lang="en-US" dirty="0"/>
              <a:t>- D3 · People &amp; Culture: Cross-Boundary Collaboration · Ownership Culture · Strategic Alignment · Dialogue Quality</a:t>
            </a:r>
          </a:p>
          <a:p>
            <a:r>
              <a:rPr lang="en-US" dirty="0"/>
              <a:t>- D4 · Enterprise Value: Growth Trajectory · Profitability Quality · Market Position · Value Durability</a:t>
            </a:r>
          </a:p>
          <a:p>
            <a:r>
              <a:rPr lang="en-US" dirty="0"/>
              <a:t>Say: "No domain is a single metric."</a:t>
            </a:r>
          </a:p>
          <a:p>
            <a:endParaRPr lang="en-US" dirty="0"/>
          </a:p>
          <a:p>
            <a:r>
              <a:rPr lang="en-US" b="1" dirty="0"/>
              <a:t>6. Bridge to the next slide.</a:t>
            </a:r>
          </a:p>
          <a:p>
            <a:r>
              <a:rPr lang="en-US" dirty="0"/>
              <a:t>Say: "The next four slides take one domain each. For every indicator we look at When Working, then at the Signal of Absence."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D1 · CUSTOMER EXPERIENCE &amp; VALUE</a:t>
            </a:r>
          </a:p>
          <a:p>
            <a:endParaRPr lang="en-US" dirty="0"/>
          </a:p>
          <a:p>
            <a:r>
              <a:rPr lang="en-US" b="1" dirty="0"/>
              <a:t>HOW TO TEACH IT:</a:t>
            </a:r>
          </a:p>
          <a:p>
            <a:endParaRPr lang="en-US" dirty="0"/>
          </a:p>
          <a:p>
            <a:r>
              <a:rPr lang="en-US" b="1" dirty="0"/>
              <a:t>1. Introduce the domain.</a:t>
            </a:r>
          </a:p>
          <a:p>
            <a:r>
              <a:rPr lang="en-US" dirty="0"/>
              <a:t>Say: "This domain is Customer Experience &amp; Value. Customers encounter the organisation through People, Processes, Products and Platforms, and experience four forms of value: the CARE Model."</a:t>
            </a:r>
          </a:p>
          <a:p>
            <a:r>
              <a:rPr lang="en-US" dirty="0"/>
              <a:t>Add: "Each of the four is the source of one form of value. People: Connection Value. Platforms: Access Value. Products: Results Value. Processes: Effort Value."</a:t>
            </a:r>
          </a:p>
          <a:p>
            <a:r>
              <a:rPr lang="en-US" dirty="0"/>
              <a:t>The slide shows the When Working position of each indicator. Give the Signal of Absence from these notes.</a:t>
            </a:r>
          </a:p>
          <a:p>
            <a:endParaRPr lang="en-US" dirty="0"/>
          </a:p>
          <a:p>
            <a:r>
              <a:rPr lang="en-US" b="1" dirty="0"/>
              <a:t>2. C — Connection Value.</a:t>
            </a:r>
          </a:p>
          <a:p>
            <a:r>
              <a:rPr lang="en-US" dirty="0"/>
              <a:t>When Working, say: "Customers feel understood, respected, and supported. The people representing the organisation genuinely care about their problem."</a:t>
            </a:r>
          </a:p>
          <a:p>
            <a:r>
              <a:rPr lang="en-US" dirty="0"/>
              <a:t>Add: "Customers trust that the care extends beyond the transaction."</a:t>
            </a:r>
          </a:p>
          <a:p>
            <a:r>
              <a:rPr lang="en-US" dirty="0"/>
              <a:t>Signal of Absence, say: "Customers describe interactions as transactional, impersonal, or difficult. They feel processed."</a:t>
            </a:r>
          </a:p>
          <a:p>
            <a:endParaRPr lang="en-US" dirty="0"/>
          </a:p>
          <a:p>
            <a:r>
              <a:rPr lang="en-US" b="1" dirty="0"/>
              <a:t>3. A — Access Value.</a:t>
            </a:r>
          </a:p>
          <a:p>
            <a:r>
              <a:rPr lang="en-US" dirty="0"/>
              <a:t>When Working, say: "Customers can interact quickly, easily, and reliably through their preferred channels. Availability and responsiveness are consistent."</a:t>
            </a:r>
          </a:p>
          <a:p>
            <a:r>
              <a:rPr lang="en-US" dirty="0"/>
              <a:t>Signal of Absence, say: "Customers describe friction, unavailability, or inconsistency. Digital and service channels feel designed for the organisation's convenience."</a:t>
            </a:r>
          </a:p>
          <a:p>
            <a:r>
              <a:rPr lang="en-US" dirty="0"/>
              <a:t>Deepen, say: "Organisations that want to serve their stakeholders consistently cannot leave that service to individual discretion. The most reliable provision is built into the institutional rhythm and does not depend on the surplus or the mood of the current leadership."</a:t>
            </a:r>
          </a:p>
          <a:p>
            <a:r>
              <a:rPr lang="en-US" dirty="0"/>
              <a:t>(Insight: Structured into the rhythm. Source: Journal, 25 March 2026 — Professional Insights)</a:t>
            </a:r>
          </a:p>
          <a:p>
            <a:endParaRPr lang="en-US" dirty="0"/>
          </a:p>
          <a:p>
            <a:r>
              <a:rPr lang="en-US" b="1" dirty="0"/>
              <a:t>4. R — Results Value.</a:t>
            </a:r>
          </a:p>
          <a:p>
            <a:r>
              <a:rPr lang="en-US" dirty="0"/>
              <a:t>When Working, say: "Customers receive solutions that actually solve their problems and improve their outcomes. Performance is reliable; the product does what it promises."</a:t>
            </a:r>
          </a:p>
          <a:p>
            <a:r>
              <a:rPr lang="en-US" dirty="0"/>
              <a:t>Signal of Absence, say: "Customers report that the offering underdelivers against its stated value. Complaints cluster around gaps between promise and performance."</a:t>
            </a:r>
          </a:p>
          <a:p>
            <a:endParaRPr lang="en-US" dirty="0"/>
          </a:p>
          <a:p>
            <a:r>
              <a:rPr lang="en-US" b="1" dirty="0"/>
              <a:t>5. E — Effort Value.</a:t>
            </a:r>
          </a:p>
          <a:p>
            <a:r>
              <a:rPr lang="en-US" dirty="0"/>
              <a:t>When Working, say: "Customers experience simple, predictable processes that require minimal effort. Complexity is absorbed by the organisation."</a:t>
            </a:r>
          </a:p>
          <a:p>
            <a:r>
              <a:rPr lang="en-US" dirty="0"/>
              <a:t>Add: "No complexity is passed to the customer."</a:t>
            </a:r>
          </a:p>
          <a:p>
            <a:r>
              <a:rPr lang="en-US" dirty="0"/>
              <a:t>Signal of Absence, say: "Customers describe the experience as complicated, slow, or requiring too many steps. They feel they are doing the organisation's job for it."</a:t>
            </a:r>
          </a:p>
          <a:p>
            <a:r>
              <a:rPr lang="en-US" dirty="0"/>
              <a:t>Stay longest here. Effort Value asks who carries the complexity: the customer or the organisation.</a:t>
            </a:r>
          </a:p>
          <a:p>
            <a:r>
              <a:rPr lang="en-US" dirty="0"/>
              <a:t>Ask: "Where does your customer carry effort or complexity that the organisation should absorb?"</a:t>
            </a:r>
          </a:p>
          <a:p>
            <a:endParaRPr lang="en-US" dirty="0"/>
          </a:p>
          <a:p>
            <a:r>
              <a:rPr lang="en-US" b="1" dirty="0"/>
              <a:t>6. Ask the room what it recognises.</a:t>
            </a:r>
          </a:p>
          <a:p>
            <a:r>
              <a:rPr lang="en-US" dirty="0"/>
              <a:t>Ask: "Which of the four forms of value would your customers say they receive from you most reliably? Which would they name last?"</a:t>
            </a:r>
          </a:p>
          <a:p>
            <a:r>
              <a:rPr lang="en-US" dirty="0"/>
              <a:t>Ask: "Which of these signals of absence do you already hear in your customers’ complaints?"</a:t>
            </a:r>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dirty="0"/>
              <a:t>Say: "In Section 4 your group writes one Customer Experience &amp; Value statement. The lead question is: If the intent succeeds, what should customers and other value recipients see and experience? These indicators deepen that discussion. The statement itself stays focused on your own Strategy Intent."</a:t>
            </a:r>
          </a:p>
          <a:p>
            <a:endParaRPr lang="en-US" dirty="0"/>
          </a:p>
          <a:p>
            <a:r>
              <a:rPr lang="en-US" b="1" dirty="0"/>
              <a:t>8. Bridge to the next domain.</a:t>
            </a:r>
          </a:p>
          <a:p>
            <a:r>
              <a:rPr lang="en-US" dirty="0"/>
              <a:t>Say: "Next: D2, how the organisation operates and executes."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D2 · OPERATIONAL CAPABILITY</a:t>
            </a:r>
          </a:p>
          <a:p>
            <a:endParaRPr lang="en-US" dirty="0"/>
          </a:p>
          <a:p>
            <a:r>
              <a:rPr lang="en-US" b="1" dirty="0"/>
              <a:t>HOW TO TEACH IT:</a:t>
            </a:r>
          </a:p>
          <a:p>
            <a:endParaRPr lang="en-US" dirty="0"/>
          </a:p>
          <a:p>
            <a:r>
              <a:rPr lang="en-US" b="1" dirty="0"/>
              <a:t>1. Introduce the domain.</a:t>
            </a:r>
          </a:p>
          <a:p>
            <a:r>
              <a:rPr lang="en-US" dirty="0"/>
              <a:t>Say: "This domain is Operational Capability &amp; Execution Rhythm. It shows how the organisation operates internally when its strategy is translating into results. It is observable through four execution indicators."</a:t>
            </a:r>
          </a:p>
          <a:p>
            <a:r>
              <a:rPr lang="en-US" dirty="0"/>
              <a:t>The slide shows the When Working position of each indicator. Give the Signal of Absence from these notes.</a:t>
            </a:r>
          </a:p>
          <a:p>
            <a:endParaRPr lang="en-US" dirty="0"/>
          </a:p>
          <a:p>
            <a:r>
              <a:rPr lang="en-US" b="1" dirty="0"/>
              <a:t>2. Priority Clarity.</a:t>
            </a:r>
          </a:p>
          <a:p>
            <a:r>
              <a:rPr lang="en-US" dirty="0"/>
              <a:t>When Working, say: "Strategic priorities are explicit, stable, and understood across every function. Leaders can state the top priorities without checking a document — and their answers match."</a:t>
            </a:r>
          </a:p>
          <a:p>
            <a:r>
              <a:rPr lang="en-US" dirty="0"/>
              <a:t>Signal of Absence, say: "Leaders describe different priorities. Resources are spread across too many initiatives. Every function has a different view of what matters most."</a:t>
            </a:r>
          </a:p>
          <a:p>
            <a:r>
              <a:rPr lang="en-US" dirty="0"/>
              <a:t>Stay longest on Priority Clarity and Decision Flow. A leader can test both in their own team by putting one question to each member separately.</a:t>
            </a:r>
          </a:p>
          <a:p>
            <a:r>
              <a:rPr lang="en-US" dirty="0"/>
              <a:t>Ask: "Could each leader in your executive team state the top priorities without checking a document? Would the answers match?"</a:t>
            </a:r>
          </a:p>
          <a:p>
            <a:endParaRPr lang="en-US" dirty="0"/>
          </a:p>
          <a:p>
            <a:r>
              <a:rPr lang="en-US" b="1" dirty="0"/>
              <a:t>3. Decision Flow.</a:t>
            </a:r>
          </a:p>
          <a:p>
            <a:r>
              <a:rPr lang="en-US" dirty="0"/>
              <a:t>When Working, say: "Decisions are made at the right level, with the right information, at the right speed. Authority is matched to accountability."</a:t>
            </a:r>
          </a:p>
          <a:p>
            <a:r>
              <a:rPr lang="en-US" dirty="0"/>
              <a:t>Add: "The organisation does not bottleneck at the top."</a:t>
            </a:r>
          </a:p>
          <a:p>
            <a:r>
              <a:rPr lang="en-US" dirty="0"/>
              <a:t>Signal of Absence, say: "Decisions queue upward and slow down. Leaders feel they cannot act without approval. Strategic momentum is lost in governance process."</a:t>
            </a:r>
          </a:p>
          <a:p>
            <a:r>
              <a:rPr lang="en-US" dirty="0"/>
              <a:t>Add: "It is the leaders below CXO level who feel they cannot act without approval."</a:t>
            </a:r>
          </a:p>
          <a:p>
            <a:r>
              <a:rPr lang="en-US" dirty="0"/>
              <a:t>Ask: "Where do decisions queue in your organisation, and who is waiting for them?"</a:t>
            </a:r>
          </a:p>
          <a:p>
            <a:endParaRPr lang="en-US" dirty="0"/>
          </a:p>
          <a:p>
            <a:r>
              <a:rPr lang="en-US" b="1" dirty="0"/>
              <a:t>4. Cross-Functional Coordination.</a:t>
            </a:r>
          </a:p>
          <a:p>
            <a:r>
              <a:rPr lang="en-US" dirty="0"/>
              <a:t>When Working, say: "Hand-offs between functions are smooth, responsibilities are unambiguous, and execution friction is visible, named, and managed."</a:t>
            </a:r>
          </a:p>
          <a:p>
            <a:r>
              <a:rPr lang="en-US" dirty="0"/>
              <a:t>Signal of Absence, say: "Teams work hard in their own lanes but create problems at the boundaries. Hand-offs are where value leaks. White space between functions is ungoverned."</a:t>
            </a:r>
          </a:p>
          <a:p>
            <a:r>
              <a:rPr lang="en-US" dirty="0"/>
              <a:t>Add: "Execution friction that is silently absorbed goes unmanaged."</a:t>
            </a:r>
          </a:p>
          <a:p>
            <a:r>
              <a:rPr lang="en-US" dirty="0"/>
              <a:t>Ask: "Which hand-off between two functions leaks the most value today?"</a:t>
            </a:r>
          </a:p>
          <a:p>
            <a:endParaRPr lang="en-US" dirty="0"/>
          </a:p>
          <a:p>
            <a:r>
              <a:rPr lang="en-US" b="1" dirty="0"/>
              <a:t>5. Delivery Rhythm.</a:t>
            </a:r>
          </a:p>
          <a:p>
            <a:r>
              <a:rPr lang="en-US" dirty="0"/>
              <a:t>When Working, say: "Teams operate to a predictable cadence — weekly, monthly, quarterly — and delivery is consistent and reliable across the enterprise."</a:t>
            </a:r>
          </a:p>
          <a:p>
            <a:r>
              <a:rPr lang="en-US" dirty="0"/>
              <a:t>Add: "The cadence is weekly signal scanning, monthly performance reads, and quarterly strategic review."</a:t>
            </a:r>
          </a:p>
          <a:p>
            <a:r>
              <a:rPr lang="en-US" dirty="0"/>
              <a:t>Signal of Absence, say: "Execution is reactive and event-driven. Reviews happen only when there is a crisis."</a:t>
            </a:r>
          </a:p>
          <a:p>
            <a:r>
              <a:rPr lang="en-US" dirty="0"/>
              <a:t>Add: "Review has not become a disciplined organisational habit, and delivery is variable and unpredictable."</a:t>
            </a:r>
          </a:p>
          <a:p>
            <a:r>
              <a:rPr lang="en-US" dirty="0"/>
              <a:t>Deepen, say: "Sustained organisational presence requires daily tending. Organisations that keep up the consistent daily act accumulate a depth of trust that occasional spectacular performance cannot replicate."</a:t>
            </a:r>
          </a:p>
          <a:p>
            <a:r>
              <a:rPr lang="en-US" dirty="0"/>
              <a:t>(Insight: Daily tending. Source: Journal, 23 February 2026 — Professional Insights: Strategy)</a:t>
            </a:r>
          </a:p>
          <a:p>
            <a:endParaRPr lang="en-US" dirty="0"/>
          </a:p>
          <a:p>
            <a:r>
              <a:rPr lang="en-US" b="1" dirty="0"/>
              <a:t>6. Ask the room what it recognises.</a:t>
            </a:r>
          </a:p>
          <a:p>
            <a:r>
              <a:rPr lang="en-US" dirty="0"/>
              <a:t>Ask: "Which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dirty="0"/>
              <a:t>Say: "In Section 4 your group writes one Operational Capability &amp; Execution Rhythm statement. The lead question is: If the intent succeeds, what should be visible in how the organisation operates and executes? These indicators deepen that discussion. The statement itself stays focused on your own Strategy Intent."</a:t>
            </a:r>
          </a:p>
          <a:p>
            <a:endParaRPr lang="en-US" dirty="0"/>
          </a:p>
          <a:p>
            <a:r>
              <a:rPr lang="en-US" b="1" dirty="0"/>
              <a:t>8. Bridge to the next domain.</a:t>
            </a:r>
          </a:p>
          <a:p>
            <a:r>
              <a:rPr lang="en-US" dirty="0"/>
              <a:t>Say: "Next: D3, how people understand, decide and behave."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D3 · PEOPLE &amp; CULTURE</a:t>
            </a:r>
          </a:p>
          <a:p>
            <a:endParaRPr lang="en-US" dirty="0"/>
          </a:p>
          <a:p>
            <a:r>
              <a:rPr lang="en-US" b="1" dirty="0"/>
              <a:t>HOW TO TEACH IT:</a:t>
            </a:r>
          </a:p>
          <a:p>
            <a:endParaRPr lang="en-US" dirty="0"/>
          </a:p>
          <a:p>
            <a:r>
              <a:rPr lang="en-US" b="1" dirty="0"/>
              <a:t>1. Introduce the domain.</a:t>
            </a:r>
          </a:p>
          <a:p>
            <a:r>
              <a:rPr lang="en-US" dirty="0"/>
              <a:t>Say: "This domain is People &amp; Culture Dynamics. It shows the observable behavioural patterns when the organisation is at its best, when culture is actively reinforcing the strategic direction."</a:t>
            </a:r>
          </a:p>
          <a:p>
            <a:r>
              <a:rPr lang="en-US" dirty="0"/>
              <a:t>The slide shows the When Working position of each indicator. Give the Signal of Absence from these notes.</a:t>
            </a:r>
          </a:p>
          <a:p>
            <a:endParaRPr lang="en-US" dirty="0"/>
          </a:p>
          <a:p>
            <a:r>
              <a:rPr lang="en-US" b="1" dirty="0"/>
              <a:t>2. Cross-Boundary Collaboration.</a:t>
            </a:r>
          </a:p>
          <a:p>
            <a:r>
              <a:rPr lang="en-US" dirty="0"/>
              <a:t>When Working, say: "People work across functional boundaries without being directed to. Teams solve problems that belong to no single function because they own the enterprise outcome."</a:t>
            </a:r>
          </a:p>
          <a:p>
            <a:r>
              <a:rPr lang="en-US" dirty="0"/>
              <a:t>Add: "Information is shared proactively."</a:t>
            </a:r>
          </a:p>
          <a:p>
            <a:r>
              <a:rPr lang="en-US" dirty="0"/>
              <a:t>Signal of Absence, say: "Silos are strong and quiet. Cross-functional problems stay unresolved because no one is accountable for the boundary."</a:t>
            </a:r>
          </a:p>
          <a:p>
            <a:r>
              <a:rPr lang="en-US" dirty="0"/>
              <a:t>Add: "Information is hoarded or filtered."</a:t>
            </a:r>
          </a:p>
          <a:p>
            <a:r>
              <a:rPr lang="en-US" dirty="0"/>
              <a:t>Ask: "Which problem in your organisation belongs to no single function today? Who is carrying it?"</a:t>
            </a:r>
          </a:p>
          <a:p>
            <a:endParaRPr lang="en-US" dirty="0"/>
          </a:p>
          <a:p>
            <a:r>
              <a:rPr lang="en-US" b="1" dirty="0"/>
              <a:t>3. Ownership Culture.</a:t>
            </a:r>
          </a:p>
          <a:p>
            <a:r>
              <a:rPr lang="en-US" dirty="0"/>
              <a:t>When Working, say: "Leaders and teams carry outcomes. When something goes wrong, people step in because they care about the result."</a:t>
            </a:r>
          </a:p>
          <a:p>
            <a:r>
              <a:rPr lang="en-US" dirty="0"/>
              <a:t>Add: "People step in without being required to. Accountability is cultural before it is structural."</a:t>
            </a:r>
          </a:p>
          <a:p>
            <a:r>
              <a:rPr lang="en-US" dirty="0"/>
              <a:t>Signal of Absence, say: "People complete tasks and declare them done, regardless of the downstream consequence. Accountability is assigned but not felt."</a:t>
            </a:r>
          </a:p>
          <a:p>
            <a:r>
              <a:rPr lang="en-US" dirty="0"/>
              <a:t>Add: "When something fails at a boundary, no one steps forward."</a:t>
            </a:r>
          </a:p>
          <a:p>
            <a:endParaRPr lang="en-US" dirty="0"/>
          </a:p>
          <a:p>
            <a:r>
              <a:rPr lang="en-US" b="1" dirty="0"/>
              <a:t>4. Strategic Alignment.</a:t>
            </a:r>
          </a:p>
          <a:p>
            <a:r>
              <a:rPr lang="en-US" dirty="0"/>
              <a:t>When Working, say: "Teams connect their day-to-day actions to the enterprise strategy without being reminded. When asked why they are doing something, they can trace it to the strategic intent."</a:t>
            </a:r>
          </a:p>
          <a:p>
            <a:r>
              <a:rPr lang="en-US" dirty="0"/>
              <a:t>Add: "Leaders can trace what they are doing to both the strategic intent and the SiP."</a:t>
            </a:r>
          </a:p>
          <a:p>
            <a:r>
              <a:rPr lang="en-US" dirty="0"/>
              <a:t>Signal of Absence, say: "Teams are busy but unfocused. Actions are driven by habit or last year's priorities. The strategy exists in the boardroom but not on the floor."</a:t>
            </a:r>
          </a:p>
          <a:p>
            <a:r>
              <a:rPr lang="en-US" dirty="0"/>
              <a:t>Add: "Teams act on what the function has always done."</a:t>
            </a:r>
          </a:p>
          <a:p>
            <a:r>
              <a:rPr lang="en-US" dirty="0"/>
              <a:t>Ask: "When your teams are asked why they are doing something, can they trace it to the strategic intent?"</a:t>
            </a:r>
          </a:p>
          <a:p>
            <a:endParaRPr lang="en-US" dirty="0"/>
          </a:p>
          <a:p>
            <a:r>
              <a:rPr lang="en-US" b="1" dirty="0"/>
              <a:t>5. Dialogue Quality.</a:t>
            </a:r>
          </a:p>
          <a:p>
            <a:r>
              <a:rPr lang="en-US" dirty="0"/>
              <a:t>When Working, say: "Honest challenge, diverse perspective, and collective sense-making are normal. Disagreement surfaces before decisions are made."</a:t>
            </a:r>
          </a:p>
          <a:p>
            <a:r>
              <a:rPr lang="en-US" dirty="0"/>
              <a:t>Add: "Leaders can say they do not know something without losing credibility."</a:t>
            </a:r>
          </a:p>
          <a:p>
            <a:r>
              <a:rPr lang="en-US" dirty="0"/>
              <a:t>Signal of Absence, say: "Meetings are performative. Consensus is assumed without being built. The most important concerns are raised only in corridors."</a:t>
            </a:r>
          </a:p>
          <a:p>
            <a:r>
              <a:rPr lang="en-US" dirty="0"/>
              <a:t>Add: "Fast, pattern-based thinking dominates and no deliberate, analytical thinking checks it."</a:t>
            </a:r>
          </a:p>
          <a:p>
            <a:r>
              <a:rPr lang="en-US" dirty="0"/>
              <a:t>Stay longest here. Honest challenge is the condition for an honest discussion of the other three indicators.</a:t>
            </a:r>
          </a:p>
          <a:p>
            <a:r>
              <a:rPr lang="en-US" dirty="0"/>
              <a:t>Ask: "Where are the most important concerns raised: in the meeting, or in the corridor afterwards?"</a:t>
            </a:r>
          </a:p>
          <a:p>
            <a:r>
              <a:rPr lang="en-US" dirty="0"/>
              <a:t>Deepen, say: "The strongest cultural signal is how people are treated in the corridor, how decisions are made when no one is watching, and whether the language of the email matches the language of the boardroom. If stated values show up only in formal settings, the culture has not yet landed. Work on the small interactions at the edges and the centre will follow."</a:t>
            </a:r>
          </a:p>
          <a:p>
            <a:r>
              <a:rPr lang="en-US" dirty="0"/>
              <a:t>(Insight: Values at the edges. Source: Journal, 18 April 2026 — Professional Insights: Culture)</a:t>
            </a:r>
          </a:p>
          <a:p>
            <a:endParaRPr lang="en-US" dirty="0"/>
          </a:p>
          <a:p>
            <a:r>
              <a:rPr lang="en-US" b="1" dirty="0"/>
              <a:t>6. Ask the room what it recognises.</a:t>
            </a:r>
          </a:p>
          <a:p>
            <a:r>
              <a:rPr lang="en-US" dirty="0"/>
              <a:t>Ask: "Which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dirty="0"/>
              <a:t>Say: "In Section 4 your group writes one People &amp; Culture Dynamics statement. The lead question is: If the intent succeeds, what should be visible in how people understand, decide and behave? These indicators deepen that discussion. The statement itself stays focused on your own Strategy Intent."</a:t>
            </a:r>
          </a:p>
          <a:p>
            <a:endParaRPr lang="en-US" dirty="0"/>
          </a:p>
          <a:p>
            <a:r>
              <a:rPr lang="en-US" b="1" dirty="0"/>
              <a:t>8. Bridge to the next domain.</a:t>
            </a:r>
          </a:p>
          <a:p>
            <a:r>
              <a:rPr lang="en-US" dirty="0"/>
              <a:t>Say: "Next: D4, how the organisation benefits."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D4 · ENTERPRISE VALUE</a:t>
            </a:r>
          </a:p>
          <a:p>
            <a:endParaRPr lang="en-US" dirty="0"/>
          </a:p>
          <a:p>
            <a:r>
              <a:rPr lang="en-US" b="1" dirty="0"/>
              <a:t>HOW TO TEACH IT:</a:t>
            </a:r>
          </a:p>
          <a:p>
            <a:endParaRPr lang="en-US" dirty="0"/>
          </a:p>
          <a:p>
            <a:r>
              <a:rPr lang="en-US" b="1" dirty="0"/>
              <a:t>1. Introduce the domain.</a:t>
            </a:r>
          </a:p>
          <a:p>
            <a:r>
              <a:rPr lang="en-US" dirty="0"/>
              <a:t>Say: "This domain is Enterprise Value Creation. It shows the commercial and strategic outcomes confirming the strategy is producing durable enterprise value."</a:t>
            </a:r>
          </a:p>
          <a:p>
            <a:r>
              <a:rPr lang="en-US" dirty="0"/>
              <a:t>The slide shows the When Working position of each indicator. Give the Signal of Absence from these notes.</a:t>
            </a:r>
          </a:p>
          <a:p>
            <a:endParaRPr lang="en-US" dirty="0"/>
          </a:p>
          <a:p>
            <a:r>
              <a:rPr lang="en-US" b="1" dirty="0"/>
              <a:t>2. Growth Trajectory.</a:t>
            </a:r>
          </a:p>
          <a:p>
            <a:r>
              <a:rPr lang="en-US" dirty="0"/>
              <a:t>When Working, say: "Revenue, market share, and customer acquisition are moving in the direction the strategic intent predicted. Growth is traceable to specific strategic choices."</a:t>
            </a:r>
          </a:p>
          <a:p>
            <a:r>
              <a:rPr lang="en-US" dirty="0"/>
              <a:t>Add: "Growth is deliberate."</a:t>
            </a:r>
          </a:p>
          <a:p>
            <a:r>
              <a:rPr lang="en-US" dirty="0"/>
              <a:t>Signal of Absence, say: "Growth is inconsistent and driven by the market. The strategy does not explain the results."</a:t>
            </a:r>
          </a:p>
          <a:p>
            <a:r>
              <a:rPr lang="en-US" dirty="0"/>
              <a:t>Add: "Growth may be happening in arenas that were not part of the intended WHAT."</a:t>
            </a:r>
          </a:p>
          <a:p>
            <a:r>
              <a:rPr lang="en-US" dirty="0"/>
              <a:t>Ask: "Can you trace your growth to specific strategic choices, or does the market explain it?"</a:t>
            </a:r>
          </a:p>
          <a:p>
            <a:endParaRPr lang="en-US" dirty="0"/>
          </a:p>
          <a:p>
            <a:r>
              <a:rPr lang="en-US" b="1" dirty="0"/>
              <a:t>3. Profitability Quality.</a:t>
            </a:r>
          </a:p>
          <a:p>
            <a:r>
              <a:rPr lang="en-US" dirty="0"/>
              <a:t>When Working, say: "Margin discipline reflects deliberate value positioning. The organisation earns what its strategic intent says it should earn — its differentiation commands a premium."</a:t>
            </a:r>
          </a:p>
          <a:p>
            <a:r>
              <a:rPr lang="en-US" dirty="0"/>
              <a:t>Add: "The premium is earned because the organisation has chosen arenas where its differentiation commands it."</a:t>
            </a:r>
          </a:p>
          <a:p>
            <a:r>
              <a:rPr lang="en-US" dirty="0"/>
              <a:t>Signal of Absence, say: "Margin pressure is treated as a market problem when its root is positioning. The organisation competes on price because its WHY is insufficiently differentiated."</a:t>
            </a:r>
          </a:p>
          <a:p>
            <a:endParaRPr lang="en-US" dirty="0"/>
          </a:p>
          <a:p>
            <a:r>
              <a:rPr lang="en-US" b="1" dirty="0"/>
              <a:t>4. Market Position.</a:t>
            </a:r>
          </a:p>
          <a:p>
            <a:r>
              <a:rPr lang="en-US" dirty="0"/>
              <a:t>When Working, say: "The organisation occupies the competitive position its strategic intent described. Stakeholders describe the organisation in the language the SiP predicted."</a:t>
            </a:r>
          </a:p>
          <a:p>
            <a:r>
              <a:rPr lang="en-US" dirty="0"/>
              <a:t>Add: "The stakeholders in question are customers, partners, analysts and employees."</a:t>
            </a:r>
          </a:p>
          <a:p>
            <a:r>
              <a:rPr lang="en-US" dirty="0"/>
              <a:t>Signal of Absence, say: "The organisation's external reputation does not match its internal self-description. The strategy has not translated into a distinctive market position."</a:t>
            </a:r>
          </a:p>
          <a:p>
            <a:r>
              <a:rPr lang="en-US" dirty="0"/>
              <a:t>Add: "The strategy exists on paper only."</a:t>
            </a:r>
          </a:p>
          <a:p>
            <a:r>
              <a:rPr lang="en-US" dirty="0"/>
              <a:t>Ask: "Do stakeholders describe your organisation in the words you would use yourselves?"</a:t>
            </a:r>
          </a:p>
          <a:p>
            <a:endParaRPr lang="en-US" dirty="0"/>
          </a:p>
          <a:p>
            <a:r>
              <a:rPr lang="en-US" b="1" dirty="0"/>
              <a:t>5. Value Durability.</a:t>
            </a:r>
          </a:p>
          <a:p>
            <a:r>
              <a:rPr lang="en-US" dirty="0"/>
              <a:t>When Working, say: "The conditions that made success possible — talent, brand trust, infrastructure, ecosystem relationships, financial health — are being actively reinvested in and strengthened."</a:t>
            </a:r>
          </a:p>
          <a:p>
            <a:r>
              <a:rPr lang="en-US" dirty="0"/>
              <a:t>Add: "The organisation is building moats."</a:t>
            </a:r>
          </a:p>
          <a:p>
            <a:r>
              <a:rPr lang="en-US" dirty="0"/>
              <a:t>Signal of Absence, say: "The organisation is harvesting value faster than it is creating it. Short-term results come at the cost of the capabilities that make future success possible."</a:t>
            </a:r>
          </a:p>
          <a:p>
            <a:r>
              <a:rPr lang="en-US" dirty="0"/>
              <a:t>Add: "Short-term results also cost the relationships that make future success possible."</a:t>
            </a:r>
          </a:p>
          <a:p>
            <a:r>
              <a:rPr lang="en-US" dirty="0"/>
              <a:t>Stay longest here. Value Durability is the SUSTAINS layer of the Value Triad, the layer most organisations under-invest in.</a:t>
            </a:r>
          </a:p>
          <a:p>
            <a:r>
              <a:rPr lang="en-US" dirty="0"/>
              <a:t>Ask: "Which condition of your future success are you reinvesting in least?"</a:t>
            </a:r>
          </a:p>
          <a:p>
            <a:r>
              <a:rPr lang="en-US" dirty="0"/>
              <a:t>Deepen, say: "Leaders who build structures to survive scarcity and crisis, and none to survive abundance and success, have protected against the wrong threat. Organisations that collapse in prosperity forget what made the prosperity possible."</a:t>
            </a:r>
          </a:p>
          <a:p>
            <a:r>
              <a:rPr lang="en-US" dirty="0"/>
              <a:t>(Insight: Surviving success. Source: Journal, 22 March 2026 — Professional Insights)</a:t>
            </a:r>
          </a:p>
          <a:p>
            <a:endParaRPr lang="en-US" dirty="0"/>
          </a:p>
          <a:p>
            <a:r>
              <a:rPr lang="en-US" b="1" dirty="0"/>
              <a:t>6. Ask the room what it recognises.</a:t>
            </a:r>
          </a:p>
          <a:p>
            <a:r>
              <a:rPr lang="en-US" dirty="0"/>
              <a:t>Ask: "Which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dirty="0"/>
              <a:t>Say: "In Section 4 your group writes one Enterprise Value Creation statement. The lead question is: If the intent succeeds, how should the organisation benefit across its success metrics? These indicators deepen that discussion. The statement itself stays focused on your own Strategy Intent."</a:t>
            </a:r>
          </a:p>
          <a:p>
            <a:endParaRPr lang="en-US" dirty="0"/>
          </a:p>
          <a:p>
            <a:r>
              <a:rPr lang="en-US" b="1" dirty="0"/>
              <a:t>8. Bridge to 3.2.</a:t>
            </a:r>
          </a:p>
          <a:p>
            <a:r>
              <a:rPr lang="en-US" dirty="0"/>
              <a:t>Say: "We have looked at depth within each domain. Next we look at balance across all four."</a:t>
            </a:r>
          </a:p>
          <a:p>
            <a:endParaRPr lang="en-US" dirty="0"/>
          </a:p>
          <a:p>
            <a:r>
              <a:rPr lang="en-US" b="1" dirty="0"/>
              <a:t>ON THE PORTAL, AFTER THE TEACHING:</a:t>
            </a:r>
          </a:p>
          <a:p>
            <a:r>
              <a:rPr lang="en-US" dirty="0"/>
              <a:t>Participants write the 3.1 reflection: "From your assigned executive leader role: which SiP domain shows the most significant gaps in your organisation right now? What is the primary cause?"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3.2 — SiP FLAMMABLES: WHEN THE PICTURE OF SUCCESS BECOMES DISTORTED (4 RISK PATTERNS)</a:t>
            </a:r>
          </a:p>
          <a:p>
            <a:endParaRPr lang="en-US" dirty="0"/>
          </a:p>
          <a:p>
            <a:r>
              <a:rPr lang="en-US" b="1" dirty="0"/>
              <a:t>HOW TO TEACH IT:</a:t>
            </a:r>
          </a:p>
          <a:p>
            <a:endParaRPr lang="en-US" dirty="0"/>
          </a:p>
          <a:p>
            <a:r>
              <a:rPr lang="en-US" b="1" dirty="0"/>
              <a:t>1. Start from one reality.</a:t>
            </a:r>
          </a:p>
          <a:p>
            <a:r>
              <a:rPr lang="en-US" dirty="0"/>
              <a:t>Say: "The four SiP domains are designed to describe one organisational reality."</a:t>
            </a:r>
          </a:p>
          <a:p>
            <a:endParaRPr lang="en-US" dirty="0"/>
          </a:p>
          <a:p>
            <a:r>
              <a:rPr lang="en-US" b="1" dirty="0"/>
              <a:t>2. Start from legitimacy.</a:t>
            </a:r>
          </a:p>
          <a:p>
            <a:r>
              <a:rPr lang="en-US" dirty="0"/>
              <a:t>Say: "In practice, leadership teams naturally bring different perspectives into the conversation. A commercial leader may see success primarily through customers and growth. An operations leader may emphasise efficiency, process and delivery. A people leader may focus on culture and capability. A finance leader may foreground financial and enterprise outcomes. Each perspective contributes something important."</a:t>
            </a:r>
          </a:p>
          <a:p>
            <a:r>
              <a:rPr lang="en-US" dirty="0"/>
              <a:t>Deepen, say: "A common diagnostic baseline matters. When the root condition is shared across the organisation, solutions built on the belief that one group is superior will fail."</a:t>
            </a:r>
          </a:p>
          <a:p>
            <a:r>
              <a:rPr lang="en-US" dirty="0"/>
              <a:t>(Insight: A common baseline. Source: Journal, 16 August 2026 — Professional Insights: Strategy)</a:t>
            </a:r>
          </a:p>
          <a:p>
            <a:endParaRPr lang="en-US" dirty="0"/>
          </a:p>
          <a:p>
            <a:r>
              <a:rPr lang="en-US" b="1" dirty="0"/>
              <a:t>3. Name the risk.</a:t>
            </a:r>
          </a:p>
          <a:p>
            <a:r>
              <a:rPr lang="en-US" dirty="0"/>
              <a:t>Say: "The strategic risk emerges when one perspective becomes so dominant that it begins to define success for the entire organisation."</a:t>
            </a:r>
          </a:p>
          <a:p>
            <a:r>
              <a:rPr lang="en-US" dirty="0"/>
              <a:t>Deepen, say: "Whatever a team elevates above all else — speed, revenue, growth, reputation — will eventually be asked to deliver something it cannot. The test is whether the organisation has the honesty to see it when that happens."</a:t>
            </a:r>
          </a:p>
          <a:p>
            <a:r>
              <a:rPr lang="en-US" dirty="0"/>
              <a:t>(Insight: The single measure. Source: Journal, 23 January 2026 — Professional Insights: Culture)</a:t>
            </a:r>
          </a:p>
          <a:p>
            <a:endParaRPr lang="en-US" dirty="0"/>
          </a:p>
          <a:p>
            <a:r>
              <a:rPr lang="en-US" b="1" dirty="0"/>
              <a:t>4. Say what the Flammables are for.</a:t>
            </a:r>
          </a:p>
          <a:p>
            <a:r>
              <a:rPr lang="en-US" dirty="0"/>
              <a:t>Say: "This is what the SiP Flammables are designed to expose. They provide a balance test for the SiP. They help leaders recognise when a legitimate dimension of success has become disproportionately influential and the enterprise picture has started to narrow into a functional one."</a:t>
            </a:r>
          </a:p>
          <a:p>
            <a:r>
              <a:rPr lang="en-US" dirty="0"/>
              <a:t>Deepen, say: "The organisations most at risk are often the ones clearly succeeding on one or two dimensions while remaining unformed on the others. What is working reassures them that all is well, so they do not feel the cost of what is missing."</a:t>
            </a:r>
          </a:p>
          <a:p>
            <a:r>
              <a:rPr lang="en-US" dirty="0"/>
              <a:t>(Insight: Partial formation. Source: Journal, 26 March 2026 — Professional Insights)</a:t>
            </a:r>
          </a:p>
          <a:p>
            <a:endParaRPr lang="en-US" dirty="0"/>
          </a:p>
          <a:p>
            <a:r>
              <a:rPr lang="en-US" b="1" dirty="0"/>
              <a:t>5. Name the four patterns on the slide.</a:t>
            </a:r>
          </a:p>
          <a:p>
            <a:r>
              <a:rPr lang="en-US" dirty="0"/>
              <a:t>- D1 Dominant — Customer Only: The SiP reads as a marketing aspiration.</a:t>
            </a:r>
          </a:p>
          <a:p>
            <a:r>
              <a:rPr lang="en-US" dirty="0"/>
              <a:t>- D2 Dominant — Operations Only: The SiP reads as a process optimisation plan.</a:t>
            </a:r>
          </a:p>
          <a:p>
            <a:r>
              <a:rPr lang="en-US" dirty="0"/>
              <a:t>- D3 Dominant — People Only: The SiP reads as an organisational development narrative.</a:t>
            </a:r>
          </a:p>
          <a:p>
            <a:r>
              <a:rPr lang="en-US" dirty="0"/>
              <a:t>- D4 Dominant — Value Only: The SiP reads as a financial target.</a:t>
            </a:r>
          </a:p>
          <a:p>
            <a:endParaRPr lang="en-US" dirty="0"/>
          </a:p>
          <a:p>
            <a:r>
              <a:rPr lang="en-US" b="1" dirty="0"/>
              <a:t>6. Ask the room where it stands.</a:t>
            </a:r>
          </a:p>
          <a:p>
            <a:r>
              <a:rPr lang="en-US" dirty="0"/>
              <a:t>Ask: "Which of these four patterns is your own function most likely to produce?"</a:t>
            </a:r>
          </a:p>
          <a:p>
            <a:r>
              <a:rPr lang="en-US" dirty="0"/>
              <a:t>Take two or three answers.</a:t>
            </a:r>
          </a:p>
          <a:p>
            <a:endParaRPr lang="en-US" dirty="0"/>
          </a:p>
          <a:p>
            <a:r>
              <a:rPr lang="en-US" b="1" dirty="0"/>
              <a:t>7. Set the tone and bridge.</a:t>
            </a:r>
          </a:p>
          <a:p>
            <a:r>
              <a:rPr lang="en-US" dirty="0"/>
              <a:t>Say: "Every pattern grows from a legitimate perspective. We are here to see dominance early, while the SiP is still being written. The next four slides take one pattern each."</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3.2 — SiP FLAMMABLES · D1 DOMINANT — CUSTOMER ONLY</a:t>
            </a:r>
          </a:p>
          <a:p>
            <a:endParaRPr lang="en-US" dirty="0"/>
          </a:p>
          <a:p>
            <a:r>
              <a:rPr lang="en-US" b="1" dirty="0"/>
              <a:t>HOW TO TEACH IT:</a:t>
            </a:r>
          </a:p>
          <a:p>
            <a:endParaRPr lang="en-US" dirty="0"/>
          </a:p>
          <a:p>
            <a:r>
              <a:rPr lang="en-US" b="1" dirty="0"/>
              <a:t>1. Say what the pattern creates.</a:t>
            </a:r>
          </a:p>
          <a:p>
            <a:r>
              <a:rPr lang="en-US" dirty="0"/>
              <a:t>Say: "The SiP reads as a marketing aspiration: vivid about the customer experience, silent on how the organisation will build and sustain it. The customer statement is rich and specific. The operational, people and enterprise statements are thin, or repeat the customer promise in other words. Leaders can describe what customers will feel and cannot describe the capability, the behaviour or the economics that produce it."</a:t>
            </a:r>
          </a:p>
          <a:p>
            <a:endParaRPr lang="en-US" dirty="0"/>
          </a:p>
          <a:p>
            <a:r>
              <a:rPr lang="en-US" b="1" dirty="0"/>
              <a:t>2. Take the three indicators on the slide.</a:t>
            </a:r>
          </a:p>
          <a:p>
            <a:r>
              <a:rPr lang="en-US" dirty="0"/>
              <a:t>- Every domain statement begins and ends with the customer.</a:t>
            </a:r>
          </a:p>
          <a:p>
            <a:r>
              <a:rPr lang="en-US" dirty="0"/>
              <a:t>- No statement names a capability, a decision right or a delivery rhythm.</a:t>
            </a:r>
          </a:p>
          <a:p>
            <a:r>
              <a:rPr lang="en-US" dirty="0"/>
              <a:t>- The enterprise statement assumes that growth follows from satisfaction, with no account of cost to serve.</a:t>
            </a:r>
          </a:p>
          <a:p>
            <a:r>
              <a:rPr lang="en-US" dirty="0"/>
              <a:t>Say: "Your group can apply these three tests to its own four SiP statements."</a:t>
            </a:r>
          </a:p>
          <a:p>
            <a:endParaRPr lang="en-US" dirty="0"/>
          </a:p>
          <a:p>
            <a:r>
              <a:rPr lang="en-US" b="1" dirty="0"/>
              <a:t>3. Give the strategic risk, slowly.</a:t>
            </a:r>
          </a:p>
          <a:p>
            <a:r>
              <a:rPr lang="en-US" dirty="0"/>
              <a:t>Say: "Execution capacity is underestimated. The customer promise is made without accounting for the operational and cultural conditions required to deliver it. The organisation commits publicly to an experience it cannot yet produce at scale, so delivery teams absorb the gap through workarounds and overtime. Service becomes inconsistent, cost to serve rises faster than revenue, and the promise that was meant to differentiate the organisation becomes the source of customer disappointment."</a:t>
            </a:r>
          </a:p>
          <a:p>
            <a:r>
              <a:rPr lang="en-US" dirty="0"/>
              <a:t>Ask: "Where would this risk show first in your organisation?"</a:t>
            </a:r>
          </a:p>
          <a:p>
            <a:endParaRPr lang="en-US" dirty="0"/>
          </a:p>
          <a:p>
            <a:r>
              <a:rPr lang="en-US" b="1" dirty="0"/>
              <a:t>4. Make it real.</a:t>
            </a:r>
          </a:p>
          <a:p>
            <a:r>
              <a:rPr lang="en-US" dirty="0"/>
              <a:t>Ask: "Where has your organisation promised customers an experience before it had the capability to deliver it?"</a:t>
            </a:r>
          </a:p>
          <a:p>
            <a:r>
              <a:rPr lang="en-US" dirty="0"/>
              <a:t>Take two or three answers.</a:t>
            </a:r>
          </a:p>
          <a:p>
            <a:r>
              <a:rPr lang="en-US" dirty="0"/>
              <a:t>Deepen, say: "Execution can fail from internal dysfunction while external threats are managed well. Sustainable results need attention to both the task and the conditions under which people are expected to perform it."</a:t>
            </a:r>
          </a:p>
          <a:p>
            <a:r>
              <a:rPr lang="en-US" dirty="0"/>
              <a:t>(Insight: The task and its conditions. Source: Journal, 7 August 2026 — Professional Insights: Strategy)</a:t>
            </a:r>
          </a:p>
          <a:p>
            <a:endParaRPr lang="en-US" dirty="0"/>
          </a:p>
          <a:p>
            <a:r>
              <a:rPr lang="en-US" b="1" dirty="0"/>
              <a:t>5. Name the legitimate perspective behind the pattern.</a:t>
            </a:r>
          </a:p>
          <a:p>
            <a:r>
              <a:rPr lang="en-US" dirty="0"/>
              <a:t>Ask: "Which perspective in a leadership team tends to produce this pattern, and what does that perspective rightly protect?"</a:t>
            </a:r>
          </a:p>
          <a:p>
            <a:endParaRPr lang="en-US" dirty="0"/>
          </a:p>
          <a:p>
            <a:r>
              <a:rPr lang="en-US" b="1" dirty="0"/>
              <a:t>6. Give three questions that bring the other domains back.</a:t>
            </a:r>
          </a:p>
          <a:p>
            <a:r>
              <a:rPr lang="en-US" dirty="0"/>
              <a:t>Say: "Each of these questions brings another domain back into the picture."</a:t>
            </a:r>
          </a:p>
          <a:p>
            <a:r>
              <a:rPr lang="en-US" dirty="0"/>
              <a:t>- Operational capability: "Which capability, decision right and delivery rhythm produce this customer experience?"</a:t>
            </a:r>
          </a:p>
          <a:p>
            <a:r>
              <a:rPr lang="en-US" dirty="0"/>
              <a:t>- People and culture: "What must our people understand, decide and do for customers to experience this?"</a:t>
            </a:r>
          </a:p>
          <a:p>
            <a:r>
              <a:rPr lang="en-US" dirty="0"/>
              <a:t>- Enterprise value: "What does this experience cost to serve, and how does the organisation benefit?"</a:t>
            </a:r>
          </a:p>
          <a:p>
            <a:endParaRPr lang="en-US" dirty="0"/>
          </a:p>
          <a:p>
            <a:r>
              <a:rPr lang="en-US" b="1" dirty="0"/>
              <a:t>7. Bridge to the next pattern.</a:t>
            </a:r>
          </a:p>
          <a:p>
            <a:r>
              <a:rPr lang="en-US" dirty="0"/>
              <a:t>Say: "Next: the same test, with operations as the dominant perspective."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3.2 — SiP FLAMMABLES · D2 DOMINANT — OPERATIONS ONLY</a:t>
            </a:r>
          </a:p>
          <a:p>
            <a:endParaRPr lang="en-US" dirty="0"/>
          </a:p>
          <a:p>
            <a:r>
              <a:rPr lang="en-US" b="1" dirty="0"/>
              <a:t>HOW TO TEACH IT:</a:t>
            </a:r>
          </a:p>
          <a:p>
            <a:endParaRPr lang="en-US" dirty="0"/>
          </a:p>
          <a:p>
            <a:r>
              <a:rPr lang="en-US" b="1" dirty="0"/>
              <a:t>1. Say what the pattern creates.</a:t>
            </a:r>
          </a:p>
          <a:p>
            <a:r>
              <a:rPr lang="en-US" dirty="0"/>
              <a:t>Say: "The SiP reads as a process optimisation plan: efficient and measurable, and stripped of the customer meaning and cultural texture that make execution energising. Success is described in throughput, cycle time, cost and compliance. The customer appears as a recipient of efficiency. People appear as resources inside the process."</a:t>
            </a:r>
          </a:p>
          <a:p>
            <a:endParaRPr lang="en-US" dirty="0"/>
          </a:p>
          <a:p>
            <a:r>
              <a:rPr lang="en-US" b="1" dirty="0"/>
              <a:t>2. Take the three indicators on the slide.</a:t>
            </a:r>
          </a:p>
          <a:p>
            <a:r>
              <a:rPr lang="en-US" dirty="0"/>
              <a:t>- Statements describe how work flows and say little about who benefits.</a:t>
            </a:r>
          </a:p>
          <a:p>
            <a:r>
              <a:rPr lang="en-US" dirty="0"/>
              <a:t>- Every measure of success is internal: speed, cost, error rates.</a:t>
            </a:r>
          </a:p>
          <a:p>
            <a:r>
              <a:rPr lang="en-US" dirty="0"/>
              <a:t>- The people statement lists roles and procedures, with no behaviour or ownership.</a:t>
            </a:r>
          </a:p>
          <a:p>
            <a:r>
              <a:rPr lang="en-US" dirty="0"/>
              <a:t>Say: "Your group can apply these three tests to its own four SiP statements."</a:t>
            </a:r>
          </a:p>
          <a:p>
            <a:endParaRPr lang="en-US" dirty="0"/>
          </a:p>
          <a:p>
            <a:r>
              <a:rPr lang="en-US" b="1" dirty="0"/>
              <a:t>3. Give the strategic risk, slowly.</a:t>
            </a:r>
          </a:p>
          <a:p>
            <a:r>
              <a:rPr lang="en-US" dirty="0"/>
              <a:t>Say: "The organisation improves its machine while losing sight of what the machine is for. Execution becomes an end in itself. The efficiency gains are real, and the value they were meant to serve drifts: the organisation becomes faster at delivering what customers value less. People comply with the process without owning the outcome, so the system stops adapting when the market moves."</a:t>
            </a:r>
          </a:p>
          <a:p>
            <a:r>
              <a:rPr lang="en-US" dirty="0"/>
              <a:t>Ask: "Where would this risk show first in your organisation?"</a:t>
            </a:r>
          </a:p>
          <a:p>
            <a:endParaRPr lang="en-US" dirty="0"/>
          </a:p>
          <a:p>
            <a:r>
              <a:rPr lang="en-US" b="1" dirty="0"/>
              <a:t>4. Make it real.</a:t>
            </a:r>
          </a:p>
          <a:p>
            <a:r>
              <a:rPr lang="en-US" dirty="0"/>
              <a:t>Ask: "Which of your efficiency measures has no customer in it?"</a:t>
            </a:r>
          </a:p>
          <a:p>
            <a:r>
              <a:rPr lang="en-US" dirty="0"/>
              <a:t>Take two or three answers.</a:t>
            </a:r>
          </a:p>
          <a:p>
            <a:r>
              <a:rPr lang="en-US" dirty="0"/>
              <a:t>Name the signal to watch for, say: "An organisation declares customer-centricity while its measures and incentives stay internally focused."</a:t>
            </a:r>
          </a:p>
          <a:p>
            <a:r>
              <a:rPr lang="en-US" dirty="0"/>
              <a:t>(Insight: Signal to watch for. Source: Journal, 29 September 2026 — Professional Insights: Strategy)</a:t>
            </a:r>
          </a:p>
          <a:p>
            <a:r>
              <a:rPr lang="en-US" dirty="0"/>
              <a:t>Deepen, say: "Cultures calcify when a process or control becomes an end in itself, enforced whether or not it still serves anyone."</a:t>
            </a:r>
          </a:p>
          <a:p>
            <a:r>
              <a:rPr lang="en-US" dirty="0"/>
              <a:t>Ask: "Which rule do your people now serve that no longer benefits them?"</a:t>
            </a:r>
          </a:p>
          <a:p>
            <a:r>
              <a:rPr lang="en-US" dirty="0"/>
              <a:t>Then say: "Fix its purpose or retire it."</a:t>
            </a:r>
          </a:p>
          <a:p>
            <a:r>
              <a:rPr lang="en-US" dirty="0"/>
              <a:t>(Insight: Process as an end in itself. Source: Journal, 19 May 2026 — Professional Insights: Strategy)</a:t>
            </a:r>
          </a:p>
          <a:p>
            <a:endParaRPr lang="en-US" dirty="0"/>
          </a:p>
          <a:p>
            <a:r>
              <a:rPr lang="en-US" b="1" dirty="0"/>
              <a:t>5. Name the legitimate perspective behind the pattern.</a:t>
            </a:r>
          </a:p>
          <a:p>
            <a:r>
              <a:rPr lang="en-US" dirty="0"/>
              <a:t>Ask: "Which perspective in a leadership team tends to produce this pattern, and what does that perspective rightly protect?"</a:t>
            </a:r>
          </a:p>
          <a:p>
            <a:endParaRPr lang="en-US" dirty="0"/>
          </a:p>
          <a:p>
            <a:r>
              <a:rPr lang="en-US" b="1" dirty="0"/>
              <a:t>6. Give three questions that bring the other domains back.</a:t>
            </a:r>
          </a:p>
          <a:p>
            <a:r>
              <a:rPr lang="en-US" dirty="0"/>
              <a:t>Say: "Each of these questions brings another domain back into the picture."</a:t>
            </a:r>
          </a:p>
          <a:p>
            <a:r>
              <a:rPr lang="en-US" dirty="0"/>
              <a:t>- Customer experience: "Who benefits from this efficiency, and what do they experience?"</a:t>
            </a:r>
          </a:p>
          <a:p>
            <a:r>
              <a:rPr lang="en-US" dirty="0"/>
              <a:t>- People and culture: "Which behaviour and ownership keep this system adapting when the market moves?"</a:t>
            </a:r>
          </a:p>
          <a:p>
            <a:r>
              <a:rPr lang="en-US" dirty="0"/>
              <a:t>- Enterprise value: "Which enterprise outcome is this efficiency meant to serve?"</a:t>
            </a:r>
          </a:p>
          <a:p>
            <a:endParaRPr lang="en-US" dirty="0"/>
          </a:p>
          <a:p>
            <a:r>
              <a:rPr lang="en-US" b="1" dirty="0"/>
              <a:t>7. Bridge to the next pattern.</a:t>
            </a:r>
          </a:p>
          <a:p>
            <a:r>
              <a:rPr lang="en-US" dirty="0"/>
              <a:t>Say: "Next: people and culture as the dominant perspective."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3.2 — SiP FLAMMABLES · D3 DOMINANT — PEOPLE ONLY</a:t>
            </a:r>
          </a:p>
          <a:p>
            <a:endParaRPr lang="en-US" dirty="0"/>
          </a:p>
          <a:p>
            <a:r>
              <a:rPr lang="en-US" b="1" dirty="0"/>
              <a:t>HOW TO TEACH IT:</a:t>
            </a:r>
          </a:p>
          <a:p>
            <a:endParaRPr lang="en-US" dirty="0"/>
          </a:p>
          <a:p>
            <a:r>
              <a:rPr lang="en-US" b="1" dirty="0"/>
              <a:t>1. Say what the pattern creates.</a:t>
            </a:r>
          </a:p>
          <a:p>
            <a:r>
              <a:rPr lang="en-US" dirty="0"/>
              <a:t>Say: "The SiP reads as an organisational development narrative: rich in values, commercially unanchored, difficult to measure and easy to dismiss. Success is described through engagement, collaboration, trust and leadership behaviour. The customer outcome and the enterprise outcome are implied and never stated."</a:t>
            </a:r>
          </a:p>
          <a:p>
            <a:endParaRPr lang="en-US" dirty="0"/>
          </a:p>
          <a:p>
            <a:r>
              <a:rPr lang="en-US" b="1" dirty="0"/>
              <a:t>2. Take the three indicators on the slide.</a:t>
            </a:r>
          </a:p>
          <a:p>
            <a:r>
              <a:rPr lang="en-US" dirty="0"/>
              <a:t>- Statements describe how people feel and behave, with no link to a customer result or a commercial result.</a:t>
            </a:r>
          </a:p>
          <a:p>
            <a:r>
              <a:rPr lang="en-US" dirty="0"/>
              <a:t>- No statement could be tested against evidence within the time horizon.</a:t>
            </a:r>
          </a:p>
          <a:p>
            <a:r>
              <a:rPr lang="en-US" dirty="0"/>
              <a:t>- Operational capability is described as culture, with no mechanism behind it.</a:t>
            </a:r>
          </a:p>
          <a:p>
            <a:r>
              <a:rPr lang="en-US" dirty="0"/>
              <a:t>Say: "Your group can apply these three tests to its own four SiP statements."</a:t>
            </a:r>
          </a:p>
          <a:p>
            <a:endParaRPr lang="en-US" dirty="0"/>
          </a:p>
          <a:p>
            <a:r>
              <a:rPr lang="en-US" b="1" dirty="0"/>
              <a:t>3. Give the strategic risk, slowly.</a:t>
            </a:r>
          </a:p>
          <a:p>
            <a:r>
              <a:rPr lang="en-US" dirty="0"/>
              <a:t>Say: "Culture work becomes disconnected from commercial outcomes. The strategy describes who the organisation wants to be and leaves what it intends to achieve undefined. Investment in people and culture cannot be defended when results come under pressure, so it is the first budget to be cut. Leaders outside the people function disengage from the SiP, and culture becomes one function's project."</a:t>
            </a:r>
          </a:p>
          <a:p>
            <a:r>
              <a:rPr lang="en-US" dirty="0"/>
              <a:t>Ask: "Where would this risk show first in your organisation?"</a:t>
            </a:r>
          </a:p>
          <a:p>
            <a:endParaRPr lang="en-US" dirty="0"/>
          </a:p>
          <a:p>
            <a:r>
              <a:rPr lang="en-US" b="1" dirty="0"/>
              <a:t>4. Make it real.</a:t>
            </a:r>
          </a:p>
          <a:p>
            <a:r>
              <a:rPr lang="en-US" dirty="0"/>
              <a:t>Ask: "Which of your culture commitments could you defend to the board with a result?"</a:t>
            </a:r>
          </a:p>
          <a:p>
            <a:r>
              <a:rPr lang="en-US" dirty="0"/>
              <a:t>Take two or three answers.</a:t>
            </a:r>
          </a:p>
          <a:p>
            <a:r>
              <a:rPr lang="en-US" dirty="0"/>
              <a:t>Deepen, say: "A culture shows in its budget allocations and recognition rituals. Quick audit: list the three things the team invested most resource in last quarter and the three things it most publicly celebrated. If neither list matches the stated values, the values on the wall are decoration."</a:t>
            </a:r>
          </a:p>
          <a:p>
            <a:r>
              <a:rPr lang="en-US" dirty="0"/>
              <a:t>(Insight: Budget and recognition. Source: Journal, 26 April 2026 — Professional Insights: Culture)</a:t>
            </a:r>
          </a:p>
          <a:p>
            <a:endParaRPr lang="en-US" dirty="0"/>
          </a:p>
          <a:p>
            <a:r>
              <a:rPr lang="en-US" b="1" dirty="0"/>
              <a:t>5. Name the legitimate perspective behind the pattern.</a:t>
            </a:r>
          </a:p>
          <a:p>
            <a:r>
              <a:rPr lang="en-US" dirty="0"/>
              <a:t>Ask: "Which perspective in a leadership team tends to produce this pattern, and what does that perspective rightly protect?"</a:t>
            </a:r>
          </a:p>
          <a:p>
            <a:endParaRPr lang="en-US" dirty="0"/>
          </a:p>
          <a:p>
            <a:r>
              <a:rPr lang="en-US" b="1" dirty="0"/>
              <a:t>6. Give three questions that bring the other domains back.</a:t>
            </a:r>
          </a:p>
          <a:p>
            <a:r>
              <a:rPr lang="en-US" dirty="0"/>
              <a:t>Say: "Each of these questions brings another domain back into the picture."</a:t>
            </a:r>
          </a:p>
          <a:p>
            <a:r>
              <a:rPr lang="en-US" dirty="0"/>
              <a:t>- Customer experience: "Which customer result does this culture produce?"</a:t>
            </a:r>
          </a:p>
          <a:p>
            <a:r>
              <a:rPr lang="en-US" dirty="0"/>
              <a:t>- Operational capability: "Which mechanism turns this behaviour into operational capability?"</a:t>
            </a:r>
          </a:p>
          <a:p>
            <a:r>
              <a:rPr lang="en-US" dirty="0"/>
              <a:t>- Enterprise value: "Which commercial result would show, within the time horizon, that this is working?"</a:t>
            </a:r>
          </a:p>
          <a:p>
            <a:endParaRPr lang="en-US" dirty="0"/>
          </a:p>
          <a:p>
            <a:r>
              <a:rPr lang="en-US" b="1" dirty="0"/>
              <a:t>7. Bridge to the next pattern.</a:t>
            </a:r>
          </a:p>
          <a:p>
            <a:r>
              <a:rPr lang="en-US" dirty="0"/>
              <a:t>Say: "Next: enterprise value as the dominant perspective."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3.2 — SiP FLAMMABLES · D4 DOMINANT — VALUE ONLY</a:t>
            </a:r>
          </a:p>
          <a:p>
            <a:endParaRPr lang="en-US" dirty="0"/>
          </a:p>
          <a:p>
            <a:r>
              <a:rPr lang="en-US" b="1" dirty="0"/>
              <a:t>HOW TO TEACH IT:</a:t>
            </a:r>
          </a:p>
          <a:p>
            <a:endParaRPr lang="en-US" dirty="0"/>
          </a:p>
          <a:p>
            <a:r>
              <a:rPr lang="en-US" b="1" dirty="0"/>
              <a:t>1. Say what the pattern creates.</a:t>
            </a:r>
          </a:p>
          <a:p>
            <a:r>
              <a:rPr lang="en-US" dirty="0"/>
              <a:t>Say: "The SiP reads as a financial target: measurable and motivationally thin, describing the score without describing the game. Success is expressed in revenue, margin, market share and return. The statements say what the organisation will gain and say little about what customers, operations and people must look like to produce it."</a:t>
            </a:r>
          </a:p>
          <a:p>
            <a:endParaRPr lang="en-US" dirty="0"/>
          </a:p>
          <a:p>
            <a:r>
              <a:rPr lang="en-US" b="1" dirty="0"/>
              <a:t>2. Take the three indicators on the slide.</a:t>
            </a:r>
          </a:p>
          <a:p>
            <a:r>
              <a:rPr lang="en-US" dirty="0"/>
              <a:t>- Every statement resolves into a number.</a:t>
            </a:r>
          </a:p>
          <a:p>
            <a:r>
              <a:rPr lang="en-US" dirty="0"/>
              <a:t>- The customer statement is a sales target or a share target.</a:t>
            </a:r>
          </a:p>
          <a:p>
            <a:r>
              <a:rPr lang="en-US" dirty="0"/>
              <a:t>- No statement describes a capability or a behaviour that produces the result.</a:t>
            </a:r>
          </a:p>
          <a:p>
            <a:r>
              <a:rPr lang="en-US" dirty="0"/>
              <a:t>Say: "Your group can apply these three tests to its own four SiP statements."</a:t>
            </a:r>
          </a:p>
          <a:p>
            <a:endParaRPr lang="en-US" dirty="0"/>
          </a:p>
          <a:p>
            <a:r>
              <a:rPr lang="en-US" b="1" dirty="0"/>
              <a:t>3. Give the strategic risk, slowly.</a:t>
            </a:r>
          </a:p>
          <a:p>
            <a:r>
              <a:rPr lang="en-US" dirty="0"/>
              <a:t>Say: "Leaders optimise for metrics without creating the conditions that produce them. Short-termism disguises itself as strategic clarity. Targets are met through cost cutting, price moves and deferred investment, which weakens the capabilities and relationships that future results depend on. Functions compete for the numbers they are measured on, and the enterprise outcome erodes while each scorecard stays green."</a:t>
            </a:r>
          </a:p>
          <a:p>
            <a:r>
              <a:rPr lang="en-US" dirty="0"/>
              <a:t>Ask: "Where would this risk show first in your organisation?"</a:t>
            </a:r>
          </a:p>
          <a:p>
            <a:endParaRPr lang="en-US" dirty="0"/>
          </a:p>
          <a:p>
            <a:r>
              <a:rPr lang="en-US" b="1" dirty="0"/>
              <a:t>4. Make it real.</a:t>
            </a:r>
          </a:p>
          <a:p>
            <a:r>
              <a:rPr lang="en-US" dirty="0"/>
              <a:t>Ask: "Which of your targets was met last year in a way that weakened next year?"</a:t>
            </a:r>
          </a:p>
          <a:p>
            <a:r>
              <a:rPr lang="en-US" dirty="0"/>
              <a:t>Take two or three answers.</a:t>
            </a:r>
          </a:p>
          <a:p>
            <a:r>
              <a:rPr lang="en-US" dirty="0"/>
              <a:t>Deepen, say: "Leaders reach for metrics that flatter when they stop trusting the harder, less quantifiable foundations of the work."</a:t>
            </a:r>
          </a:p>
          <a:p>
            <a:r>
              <a:rPr lang="en-US" dirty="0"/>
              <a:t>Ask: "What anxiety is this number meant to soothe?"</a:t>
            </a:r>
          </a:p>
          <a:p>
            <a:r>
              <a:rPr lang="en-US" dirty="0"/>
              <a:t>(Insight: Metrics that flatter. Source: Journal, 3 June 2026 — Professional Insights: Leadership)</a:t>
            </a:r>
          </a:p>
          <a:p>
            <a:r>
              <a:rPr lang="en-US" dirty="0"/>
              <a:t>Close the point, say: "Visible momentum does not necessarily indicate sustainable value. Decisions must rest on a clear understanding of what the organisation is trying to build."</a:t>
            </a:r>
          </a:p>
          <a:p>
            <a:r>
              <a:rPr lang="en-US" dirty="0"/>
              <a:t>(Insight: Enduring value. Source: Journal, 23 September 2026 — Professional Insights: Leadership)</a:t>
            </a:r>
          </a:p>
          <a:p>
            <a:endParaRPr lang="en-US" dirty="0"/>
          </a:p>
          <a:p>
            <a:r>
              <a:rPr lang="en-US" b="1" dirty="0"/>
              <a:t>5. Name the legitimate perspective behind the pattern.</a:t>
            </a:r>
          </a:p>
          <a:p>
            <a:r>
              <a:rPr lang="en-US" dirty="0"/>
              <a:t>Ask: "Which perspective in a leadership team tends to produce this pattern, and what does that perspective rightly protect?"</a:t>
            </a:r>
          </a:p>
          <a:p>
            <a:endParaRPr lang="en-US" dirty="0"/>
          </a:p>
          <a:p>
            <a:r>
              <a:rPr lang="en-US" b="1" dirty="0"/>
              <a:t>6. Give three questions that bring the other domains back.</a:t>
            </a:r>
          </a:p>
          <a:p>
            <a:r>
              <a:rPr lang="en-US" dirty="0"/>
              <a:t>Say: "Each of these questions brings another domain back into the picture."</a:t>
            </a:r>
          </a:p>
          <a:p>
            <a:r>
              <a:rPr lang="en-US" dirty="0"/>
              <a:t>- Customer experience: "What must customers experience for this number to be earned?"</a:t>
            </a:r>
          </a:p>
          <a:p>
            <a:r>
              <a:rPr lang="en-US" dirty="0"/>
              <a:t>- Operational capability: "Which capability produces this result?"</a:t>
            </a:r>
          </a:p>
          <a:p>
            <a:r>
              <a:rPr lang="en-US" dirty="0"/>
              <a:t>- People and culture: "Which behaviour produces this result, and is it being built or spent?"</a:t>
            </a:r>
          </a:p>
          <a:p>
            <a:endParaRPr lang="en-US" dirty="0"/>
          </a:p>
          <a:p>
            <a:r>
              <a:rPr lang="en-US" b="1" dirty="0"/>
              <a:t>7. Bridge to the reflection.</a:t>
            </a:r>
          </a:p>
          <a:p>
            <a:r>
              <a:rPr lang="en-US" dirty="0"/>
              <a:t>Say: "Before we move to Section 4, look at the reflection for this section."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3 REFLECTIONS</a:t>
            </a:r>
          </a:p>
          <a:p>
            <a:endParaRPr lang="en-US" dirty="0"/>
          </a:p>
          <a:p>
            <a:r>
              <a:rPr lang="en-US" b="1" dirty="0"/>
              <a:t>HOW TO USE THIS SLIDE:</a:t>
            </a:r>
          </a:p>
          <a:p>
            <a:endParaRPr lang="en-US" dirty="0"/>
          </a:p>
          <a:p>
            <a:r>
              <a:rPr lang="en-US" b="1" dirty="0"/>
              <a:t>1. Show the slide and read the prompt aloud.</a:t>
            </a:r>
          </a:p>
          <a:p>
            <a:r>
              <a:rPr lang="en-US" dirty="0"/>
              <a:t>3.1 Reflection — SiP Indicators: "From your assigned executive leader role: which SiP domain shows the most significant gaps in your organisation right now? What is the primary cause?"</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r>
              <a:rPr lang="en-US" dirty="0"/>
              <a:t>Say: "You write this reflection on the portal after the teaching, from your assigned executive leader role, with as much depth as you can."</a:t>
            </a:r>
          </a:p>
          <a:p>
            <a:endParaRPr lang="en-US" dirty="0"/>
          </a:p>
          <a:p>
            <a:r>
              <a:rPr lang="en-US" b="1" dirty="0"/>
              <a:t>3. Set the standard.</a:t>
            </a:r>
          </a:p>
          <a:p>
            <a:r>
              <a:rPr lang="en-US" dirty="0"/>
              <a:t>Say: "Name one SiP domain. Point to the indicators that show the gap: which Signal of Absence did you recognise? Then give one primary cause."</a:t>
            </a:r>
          </a:p>
          <a:p>
            <a:r>
              <a:rPr lang="en-US" dirty="0"/>
              <a:t>Listen for: a condition given as a cause, such as "we are under-resourced". Ask: "Which decision, structure or habit produces the gap?"</a:t>
            </a:r>
          </a:p>
          <a:p>
            <a:endParaRPr lang="en-US" dirty="0"/>
          </a:p>
          <a:p>
            <a:r>
              <a:rPr lang="en-US" b="1" dirty="0"/>
              <a:t>4. Say why naming the gap matters.</a:t>
            </a:r>
          </a:p>
          <a:p>
            <a:r>
              <a:rPr lang="en-US" dirty="0"/>
              <a:t>Say: "Honestly naming the gap between what has been achieved and what remains is the foundation of the next strategic phase. Organisations that settle for a vague awareness of more to do make little purposeful progress. Name the remaining work specifically, then plan for it."</a:t>
            </a:r>
          </a:p>
          <a:p>
            <a:r>
              <a:rPr lang="en-US" dirty="0"/>
              <a:t>(Insight: Naming the gap. Source: Journal, 10 April 2026 — Professional Insights: Strategy)</a:t>
            </a:r>
          </a:p>
          <a:p>
            <a:endParaRPr lang="en-US" dirty="0"/>
          </a:p>
          <a:p>
            <a:r>
              <a:rPr lang="en-US" b="1" dirty="0"/>
              <a:t>5. Read the room.</a:t>
            </a:r>
          </a:p>
          <a:p>
            <a:r>
              <a:rPr lang="en-US" dirty="0"/>
              <a:t>Take one first answer for each domain if the room offers them. Note which domain is named most often. Tell the groups: test that domain hardest when you write your SiP in Section 4.</a:t>
            </a:r>
          </a:p>
          <a:p>
            <a:endParaRPr lang="en-US" dirty="0"/>
          </a:p>
          <a:p>
            <a:r>
              <a:rPr lang="en-US" b="1" dirty="0"/>
              <a:t>6. Bridge to Section 4.</a:t>
            </a:r>
          </a:p>
          <a:p>
            <a:r>
              <a:rPr lang="en-US" dirty="0"/>
              <a:t>Say: "We now have two tests for any Success in Practice: depth within each domain and balance across all four. In Section 4 each group builds its own outputs and applies both tests to its Success in Practice."</a:t>
            </a:r>
          </a:p>
          <a:p>
            <a:endParaRPr lang="en-US" dirty="0"/>
          </a:p>
          <a:p>
            <a:r>
              <a:rPr lang="en-US" b="1" dirty="0"/>
              <a:t>ON THE PORTAL, AFTER THE TEACHING:</a:t>
            </a:r>
          </a:p>
          <a:p>
            <a:r>
              <a:rPr lang="en-US" dirty="0"/>
              <a:t>Participants write the reflection in Section 3 of the participant file: 3.1 Reflection — SiP Indicators.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4 · INTEGRATION — COLLECTIVE</a:t>
            </a:r>
          </a:p>
          <a:p>
            <a:endParaRPr lang="en-US" dirty="0"/>
          </a:p>
          <a:p>
            <a:r>
              <a:rPr lang="en-US" b="1" dirty="0"/>
              <a:t>HOW THIS SECTION RUNS:</a:t>
            </a:r>
          </a:p>
          <a:p>
            <a:r>
              <a:rPr lang="en-US" dirty="0"/>
              <a:t>1. 4.1a: how the group works. One scribe, agreed entries, every member's own page.</a:t>
            </a:r>
          </a:p>
          <a:p>
            <a:r>
              <a:rPr lang="en-US" dirty="0"/>
              <a:t>2. 4.1b to 4.1i, Step 1: the routine for one element, the 14 elements in four groups, the Strategy Architecture output and its six checks.</a:t>
            </a:r>
          </a:p>
          <a:p>
            <a:r>
              <a:rPr lang="en-US" dirty="0"/>
              <a:t>3. 4.2, Step 2: the Strategy Intent Statement, derived from the group's own WHAT, WHY, HOW and WHEN.</a:t>
            </a:r>
          </a:p>
          <a:p>
            <a:r>
              <a:rPr lang="en-US" dirty="0"/>
              <a:t>4. 4.3a to 4.3c, Step 3: Success in Practice, one statement for each of the four SiP domains, confirmed and then read as one.</a:t>
            </a:r>
          </a:p>
          <a:p>
            <a:r>
              <a:rPr lang="en-US" dirty="0"/>
              <a:t>You explain all three steps from the slides. The groups do the work itself on the portal after the teaching, in the session or after it.</a:t>
            </a:r>
          </a:p>
          <a:p>
            <a:endParaRPr lang="en-US" dirty="0"/>
          </a:p>
          <a:p>
            <a:r>
              <a:rPr lang="en-US" b="1" dirty="0"/>
              <a:t>SECTION LEARNING OUTCOMES:</a:t>
            </a:r>
          </a:p>
          <a:p>
            <a:r>
              <a:rPr lang="en-US" dirty="0"/>
              <a:t>1. Build a coherent Strategy Architecture.</a:t>
            </a:r>
          </a:p>
          <a:p>
            <a:r>
              <a:rPr lang="en-US" dirty="0"/>
              <a:t>2. Integrate different leadership perspectives into one shared enterprise position.</a:t>
            </a:r>
          </a:p>
          <a:p>
            <a:endParaRPr lang="en-US" dirty="0"/>
          </a:p>
          <a:p>
            <a:r>
              <a:rPr lang="en-US" b="1" dirty="0"/>
              <a:t>HOW TO OPEN THE SECTION:</a:t>
            </a:r>
          </a:p>
          <a:p>
            <a:endParaRPr lang="en-US" dirty="0"/>
          </a:p>
          <a:p>
            <a:r>
              <a:rPr lang="en-US" b="1" dirty="0"/>
              <a:t>1. State the section intent.</a:t>
            </a:r>
          </a:p>
          <a:p>
            <a:r>
              <a:rPr lang="en-US" dirty="0"/>
              <a:t>Say: "This is the production section of the unit. You now apply the concepts developed through Awareness, Intelligence and Extrapolating to construct the organisation's Strategy Intent Design."</a:t>
            </a:r>
          </a:p>
          <a:p>
            <a:endParaRPr lang="en-US" dirty="0"/>
          </a:p>
          <a:p>
            <a:r>
              <a:rPr lang="en-US" b="1" dirty="0"/>
              <a:t>2. Say why the work is collective.</a:t>
            </a:r>
          </a:p>
          <a:p>
            <a:r>
              <a:rPr lang="en-US" dirty="0"/>
              <a:t>Say: "The work happens collectively because strategy requires more than agreement with a finished statement. Leaders need to contribute to the thinking, surface different interpretations, work through tensions and arrive at a position they can collectively own."</a:t>
            </a:r>
          </a:p>
          <a:p>
            <a:r>
              <a:rPr lang="en-US" dirty="0"/>
              <a:t>Deepen, say: "Lasting influence grows when people understand the significance of the mission and commit to it voluntarily. Willing commitment produces ownership."</a:t>
            </a:r>
          </a:p>
          <a:p>
            <a:r>
              <a:rPr lang="en-US" dirty="0"/>
              <a:t>(Insight: Willing commitment. Source: Journal, 29 July 2026 — Professional Insights: Leadership)</a:t>
            </a:r>
          </a:p>
          <a:p>
            <a:endParaRPr lang="en-US" dirty="0"/>
          </a:p>
          <a:p>
            <a:r>
              <a:rPr lang="en-US" b="1" dirty="0"/>
              <a:t>3. Give the three connected stages.</a:t>
            </a:r>
          </a:p>
          <a:p>
            <a:r>
              <a:rPr lang="en-US" dirty="0"/>
              <a:t>Say: "Each group will work through three connected stages."</a:t>
            </a:r>
          </a:p>
          <a:p>
            <a:r>
              <a:rPr lang="en-US" dirty="0"/>
              <a:t>- 4.1 — Build the Strategy Architecture: Work through the 14 elements, then write the group's Strategy Architecture output.</a:t>
            </a:r>
          </a:p>
          <a:p>
            <a:r>
              <a:rPr lang="en-US" dirty="0"/>
              <a:t>- 4.2 — Derive the Strategy Intent Statement: Use the completed architecture to crystallise WHAT, WHY, HOW and WHEN into one clear statement of strategic ambition.</a:t>
            </a:r>
          </a:p>
          <a:p>
            <a:r>
              <a:rPr lang="en-US" dirty="0"/>
              <a:t>- 4.3 — Build Success in Practice: Define what must be seen, experienced and executed across the four SiP domains, confirm each domain statement, and bring the four together into the group's SiP.</a:t>
            </a:r>
          </a:p>
          <a:p>
            <a:endParaRPr lang="en-US" dirty="0"/>
          </a:p>
          <a:p>
            <a:r>
              <a:rPr lang="en-US" b="1" dirty="0"/>
              <a:t>4. Emphasise the sequence.</a:t>
            </a:r>
          </a:p>
          <a:p>
            <a:r>
              <a:rPr lang="en-US" dirty="0"/>
              <a:t>Say: "Each output provides the foundation for the next: Strategy Architecture, then Strategy Intent, then Success in Practice. The quality of the final SiP therefore depends on the quality of the Intent, and the quality of the Intent depends on the thinking captured in the Architecture."</a:t>
            </a:r>
          </a:p>
          <a:p>
            <a:endParaRPr lang="en-US" dirty="0"/>
          </a:p>
          <a:p>
            <a:r>
              <a:rPr lang="en-US" b="1" dirty="0"/>
              <a:t>5. Say how the groups work.</a:t>
            </a:r>
          </a:p>
          <a:p>
            <a:r>
              <a:rPr lang="en-US" dirty="0"/>
              <a:t>Say: "You work in your assigned groups throughout the exercise. Surface your differences before you resolve them. Different interpretations are useful because they expose assumptions, trade-offs and areas where the organisation's strategic thinking is not yet coherent. The objective is collective construction of one enterprise position."</a:t>
            </a:r>
          </a:p>
          <a:p>
            <a:endParaRPr lang="en-US" dirty="0"/>
          </a:p>
          <a:p>
            <a:r>
              <a:rPr lang="en-US" b="1" dirty="0"/>
              <a:t>6. Read the two section learning outcomes from the slide.</a:t>
            </a:r>
          </a:p>
          <a:p>
            <a:endParaRPr lang="en-US" dirty="0"/>
          </a:p>
          <a:p>
            <a:r>
              <a:rPr lang="en-US" b="1" dirty="0"/>
              <a:t>7. Say how this section runs in class.</a:t>
            </a:r>
          </a:p>
          <a:p>
            <a:r>
              <a:rPr lang="en-US" dirty="0"/>
              <a:t>Say: "I explain all three steps from the slides now, so that everyone knows what the group will do and what a good answer looks like. Your group does the work on the portal after the teaching."</a:t>
            </a:r>
          </a:p>
          <a:p>
            <a:endParaRPr lang="en-US" dirty="0"/>
          </a:p>
          <a:p>
            <a:r>
              <a:rPr lang="en-US" b="1" dirty="0"/>
              <a:t>LATER, WHEN THE GROUPS DO THE WORK ON THE PORTAL:</a:t>
            </a:r>
          </a:p>
          <a:p>
            <a:r>
              <a:rPr lang="en-US" dirty="0"/>
              <a:t>You move from teaching to coaching. The groups do the thinking. You hold the sequence, ask the questions that test their answers, and keep each group honest about what it has actually decided. The coaching notes for that stage sit at the end of the notes of the slides in this section, under headings that begin with LATER.</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HOW THE GROUP WORKS</a:t>
            </a:r>
          </a:p>
          <a:p>
            <a:endParaRPr lang="en-US" dirty="0"/>
          </a:p>
          <a:p>
            <a:r>
              <a:rPr lang="en-US" b="1" dirty="0"/>
              <a:t>HOW TO TEACH IT:</a:t>
            </a:r>
          </a:p>
          <a:p>
            <a:endParaRPr lang="en-US" dirty="0"/>
          </a:p>
          <a:p>
            <a:r>
              <a:rPr lang="en-US" b="1" dirty="0"/>
              <a:t>1. Explain how the group works, using the four lines on the slide.</a:t>
            </a:r>
          </a:p>
          <a:p>
            <a:r>
              <a:rPr lang="en-US" dirty="0"/>
              <a:t>Say: "Your group agrees each entry. One member acts as scribe and types the agreed wording. Every member then types the agreed entries into their own page, in the session or after it."</a:t>
            </a:r>
          </a:p>
          <a:p>
            <a:endParaRPr lang="en-US" dirty="0"/>
          </a:p>
          <a:p>
            <a:r>
              <a:rPr lang="en-US" b="1" dirty="0"/>
              <a:t>2. Say why every member’s page matters.</a:t>
            </a:r>
          </a:p>
          <a:p>
            <a:r>
              <a:rPr lang="en-US" dirty="0"/>
              <a:t>Say: "Your own page is what I review. It is also where your team’s Capstone Blueprint later takes the three confirmed outputs from."</a:t>
            </a:r>
          </a:p>
          <a:p>
            <a:endParaRPr lang="en-US" dirty="0"/>
          </a:p>
          <a:p>
            <a:r>
              <a:rPr lang="en-US" b="1" dirty="0"/>
              <a:t>3. Ask for every voice.</a:t>
            </a:r>
          </a:p>
          <a:p>
            <a:r>
              <a:rPr lang="en-US" dirty="0"/>
              <a:t>Say: "The scribe types what the whole group has agreed. Every member speaks before an entry is typed."</a:t>
            </a:r>
          </a:p>
          <a:p>
            <a:r>
              <a:rPr lang="en-US" dirty="0"/>
              <a:t>Deepen, say: "When the senior voice ends the conversation, the intelligence that lives at every level of the organisation never reaches the strategy."</a:t>
            </a:r>
          </a:p>
          <a:p>
            <a:r>
              <a:rPr lang="en-US" dirty="0"/>
              <a:t>(Insight: Top-down cultures. Source: Journal, 9 January 2026 — Professional Insights: Culture)</a:t>
            </a:r>
          </a:p>
          <a:p>
            <a:endParaRPr lang="en-US" dirty="0"/>
          </a:p>
          <a:p>
            <a:r>
              <a:rPr lang="en-US" b="1" dirty="0"/>
              <a:t>4. Tell participants about the two boxes at the top of 4.1.</a:t>
            </a:r>
          </a:p>
          <a:p>
            <a:r>
              <a:rPr lang="en-US" dirty="0"/>
              <a:t>Say: "At the top of 4.1 there are two boxes: Organisation and Strategy period. Every member enters the same two entries. They print at the top of your group’s reports."</a:t>
            </a:r>
          </a:p>
          <a:p>
            <a:endParaRPr lang="en-US" dirty="0"/>
          </a:p>
          <a:p>
            <a:r>
              <a:rPr lang="en-US" b="1" dirty="0"/>
              <a:t>5. Explain confirmation.</a:t>
            </a:r>
          </a:p>
          <a:p>
            <a:r>
              <a:rPr lang="en-US" dirty="0"/>
              <a:t>Say: "Your group confirms each element, each statement and each output once it says what your group means."</a:t>
            </a:r>
          </a:p>
          <a:p>
            <a:endParaRPr lang="en-US" dirty="0"/>
          </a:p>
          <a:p>
            <a:r>
              <a:rPr lang="en-US" b="1" dirty="0"/>
              <a:t>6. Confirm the groups.</a:t>
            </a:r>
          </a:p>
          <a:p>
            <a:r>
              <a:rPr lang="en-US" dirty="0"/>
              <a:t>Confirm who is in each group, and ask each group to name its scribe before the work begins.</a:t>
            </a:r>
          </a:p>
          <a:p>
            <a:endParaRPr lang="en-US" dirty="0"/>
          </a:p>
          <a:p>
            <a:r>
              <a:rPr lang="en-US" b="1" dirty="0"/>
              <a:t>ON THE PORTAL, AFTER THE TEACHING:</a:t>
            </a:r>
          </a:p>
          <a:p>
            <a:r>
              <a:rPr lang="en-US" dirty="0"/>
              <a:t>The group agrees each entry and one member acts as scribe. Every member then types the agreed entries into their own page of the participant file, in the session or after it.</a:t>
            </a:r>
          </a:p>
          <a:p>
            <a:endParaRPr lang="en-US" dirty="0"/>
          </a:p>
          <a:p>
            <a:r>
              <a:rPr lang="en-US" b="1" dirty="0"/>
              <a:t>LATER, WHEN THE GROUPS DO THE WORK ON THE PORTAL:</a:t>
            </a:r>
          </a:p>
          <a:p>
            <a:r>
              <a:rPr lang="en-US" dirty="0"/>
              <a:t>- Move between the groups. Listen to a group before you speak to it.</a:t>
            </a:r>
          </a:p>
          <a:p>
            <a:r>
              <a:rPr lang="en-US" dirty="0"/>
              <a:t>- Ask for choices. When a group offers a broad aspiration, ask: "What has the organisation decided?"</a:t>
            </a:r>
          </a:p>
          <a:p>
            <a:r>
              <a:rPr lang="en-US" dirty="0"/>
              <a:t>- Protect the sequence. A group that writes its Strategy Intent Statement before its Architecture is confirmed is working without its source.</a:t>
            </a:r>
          </a:p>
          <a:p>
            <a:r>
              <a:rPr lang="en-US" dirty="0"/>
              <a:t>- Hold every group to one enterprise position. A set of functional positions placed side by side falls short of collective construction.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HOW EACH ELEMENT WORKS</a:t>
            </a:r>
          </a:p>
          <a:p>
            <a:endParaRPr lang="en-US" dirty="0"/>
          </a:p>
          <a:p>
            <a:r>
              <a:rPr lang="en-US" b="1" dirty="0"/>
              <a:t>HOW TO TEACH IT:</a:t>
            </a:r>
          </a:p>
          <a:p>
            <a:endParaRPr lang="en-US" dirty="0"/>
          </a:p>
          <a:p>
            <a:r>
              <a:rPr lang="en-US" b="1" dirty="0"/>
              <a:t>1. State the purpose.</a:t>
            </a:r>
          </a:p>
          <a:p>
            <a:r>
              <a:rPr lang="en-US" dirty="0"/>
              <a:t>Say: "This is the foundation of the exercise. Each group works through the 14 elements of the Strategy2Results® Strategy Definition. The purpose is to establish the thinking and logic underneath the organisation's strategic position before attempting to express that position concisely."</a:t>
            </a:r>
          </a:p>
          <a:p>
            <a:endParaRPr lang="en-US" dirty="0"/>
          </a:p>
          <a:p>
            <a:r>
              <a:rPr lang="en-US" b="1" dirty="0"/>
              <a:t>2. Walk the routine for one element, using the lines on the slide.</a:t>
            </a:r>
          </a:p>
          <a:p>
            <a:r>
              <a:rPr lang="en-US" dirty="0"/>
              <a:t>Say: "For each element your group answers its four questions. You then select Generate what this is saying, and one member reads the result aloud. Your group asks: Is this what we mean? You confirm, or you refine and state what the position should say."</a:t>
            </a:r>
          </a:p>
          <a:p>
            <a:endParaRPr lang="en-US" dirty="0"/>
          </a:p>
          <a:p>
            <a:r>
              <a:rPr lang="en-US" b="1" dirty="0"/>
              <a:t>3. Set the standard for an answer.</a:t>
            </a:r>
          </a:p>
          <a:p>
            <a:r>
              <a:rPr lang="en-US" dirty="0"/>
              <a:t>Say: "Capture actual strategic choices and leave broad organisational aspirations out. A strategic choice names what the organisation will do and what it leaves out."</a:t>
            </a:r>
          </a:p>
          <a:p>
            <a:endParaRPr lang="en-US" dirty="0"/>
          </a:p>
          <a:p>
            <a:r>
              <a:rPr lang="en-US" b="1" dirty="0"/>
              <a:t>4. Explain confirmation.</a:t>
            </a:r>
          </a:p>
          <a:p>
            <a:r>
              <a:rPr lang="en-US" dirty="0"/>
              <a:t>Say: "The purpose of confirmation is to ensure that the written position represents your group’s thinking before it becomes part of the architecture."</a:t>
            </a:r>
          </a:p>
          <a:p>
            <a:r>
              <a:rPr lang="en-US" dirty="0"/>
              <a:t>Deepen, say: "The leader who is present when a commitment is made and does not challenge it has endorsed it. A plan received without objection binds the organisation to an outcome the leader could have shaped."</a:t>
            </a:r>
          </a:p>
          <a:p>
            <a:r>
              <a:rPr lang="en-US" dirty="0"/>
              <a:t>(Insight: Silence is a decision. Source: Journal, 15 March 2026 — Professional Insights)</a:t>
            </a:r>
          </a:p>
          <a:p>
            <a:endParaRPr lang="en-US" dirty="0"/>
          </a:p>
          <a:p>
            <a:r>
              <a:rPr lang="en-US" b="1" dirty="0"/>
              <a:t>5. Explain the count.</a:t>
            </a:r>
          </a:p>
          <a:p>
            <a:r>
              <a:rPr lang="en-US" dirty="0"/>
              <a:t>Say: "Your group confirms the elements one by one. At 14 of 14 the Strategy Architecture output opens."</a:t>
            </a:r>
          </a:p>
          <a:p>
            <a:endParaRPr lang="en-US" dirty="0"/>
          </a:p>
          <a:p>
            <a:r>
              <a:rPr lang="en-US" b="1" dirty="0"/>
              <a:t>6. Say that the elements test one another.</a:t>
            </a:r>
          </a:p>
          <a:p>
            <a:r>
              <a:rPr lang="en-US" dirty="0"/>
              <a:t>Say: "The elements are interconnected. A strong answer to one element can expose a weakness or contradiction in another. For example, the value the organisation intends to create must be supported by its HOW; its WHEN must reflect the capabilities that need to be built; and its approach to sustaining value must respond to the forces within its operating environment."</a:t>
            </a:r>
          </a:p>
          <a:p>
            <a:r>
              <a:rPr lang="en-US" dirty="0"/>
              <a:t>Say: "When that happens, return to the earlier element and revise it. An element that is edited after confirmation must be confirmed again."</a:t>
            </a:r>
          </a:p>
          <a:p>
            <a:endParaRPr lang="en-US" dirty="0"/>
          </a:p>
          <a:p>
            <a:r>
              <a:rPr lang="en-US" b="1" dirty="0"/>
              <a:t>7. Bridge to the next slide.</a:t>
            </a:r>
          </a:p>
          <a:p>
            <a:r>
              <a:rPr lang="en-US" dirty="0"/>
              <a:t>Say: "The next slide shows the 14 elements as one list."</a:t>
            </a:r>
          </a:p>
          <a:p>
            <a:endParaRPr lang="en-US" dirty="0"/>
          </a:p>
          <a:p>
            <a:r>
              <a:rPr lang="en-US" b="1" dirty="0"/>
              <a:t>ON THE PORTAL, AFTER THE TEACHING:</a:t>
            </a:r>
          </a:p>
          <a:p>
            <a:r>
              <a:rPr lang="en-US" dirty="0"/>
              <a:t>Each group works in 4.1 of the participant file, one element at a time:</a:t>
            </a:r>
          </a:p>
          <a:p>
            <a:r>
              <a:rPr lang="en-US" dirty="0"/>
              <a:t>It answers the four questions of the element and selects Generate what this is saying.</a:t>
            </a:r>
          </a:p>
          <a:p>
            <a:r>
              <a:rPr lang="en-US" dirty="0"/>
              <a:t>The page shows what the group's inputs are saying and asks: "Is this what you mean?"</a:t>
            </a:r>
          </a:p>
          <a:p>
            <a:r>
              <a:rPr lang="en-US" dirty="0"/>
              <a:t>The group selects Yes, confirm, or No, refine and states what the position should say.</a:t>
            </a:r>
          </a:p>
          <a:p>
            <a:r>
              <a:rPr lang="en-US" dirty="0"/>
              <a:t>A progress bar counts the confirmed elements. When all 14 are confirmed, the Strategy Architecture output unlocks. The group reviews it, refines it and confirms it. It can then be printed.</a:t>
            </a:r>
          </a:p>
          <a:p>
            <a:endParaRPr lang="en-US" dirty="0"/>
          </a:p>
          <a:p>
            <a:r>
              <a:rPr lang="en-US" b="1" dirty="0"/>
              <a:t>LATER, WHEN THE GROUPS DO THE WORK ON THE PORTAL:</a:t>
            </a:r>
          </a:p>
          <a:p>
            <a:r>
              <a:rPr lang="en-US" dirty="0"/>
              <a:t>- Listen for confirmation without reading. Ask one member to read the generated position aloud before the group confirms it.</a:t>
            </a:r>
          </a:p>
          <a:p>
            <a:r>
              <a:rPr lang="en-US" dirty="0"/>
              <a:t>- Listen for one voice answering for the group. Ask a quieter member: "Is this what you mean?"</a:t>
            </a:r>
          </a:p>
          <a:p>
            <a:r>
              <a:rPr lang="en-US" dirty="0"/>
              <a:t>- Listen for answers written to sound complete. Ask: "What have we actually decided here?"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THE 14 ELEMENTS</a:t>
            </a:r>
          </a:p>
          <a:p>
            <a:endParaRPr lang="en-US" dirty="0"/>
          </a:p>
          <a:p>
            <a:r>
              <a:rPr lang="en-US" b="1" dirty="0"/>
              <a:t>HOW TO TEACH IT:</a:t>
            </a:r>
          </a:p>
          <a:p>
            <a:endParaRPr lang="en-US" dirty="0"/>
          </a:p>
          <a:p>
            <a:r>
              <a:rPr lang="en-US" b="1" dirty="0"/>
              <a:t>1. Show the 14 elements as one list.</a:t>
            </a:r>
          </a:p>
          <a:p>
            <a:r>
              <a:rPr lang="en-US" dirty="0"/>
              <a:t>Say: "The 14 elements follow the Strategy2Results® definition of strategy. OUTPUT, the first concept in 1.1, is what the 14 elements produce: the Strategy Architecture."</a:t>
            </a:r>
          </a:p>
          <a:p>
            <a:endParaRPr lang="en-US" dirty="0"/>
          </a:p>
          <a:p>
            <a:r>
              <a:rPr lang="en-US" b="1" dirty="0"/>
              <a:t>2. Link back to 1.1.</a:t>
            </a:r>
          </a:p>
          <a:p>
            <a:r>
              <a:rPr lang="en-US" dirty="0"/>
              <a:t>Say: "In 1.1 we met nine concepts. Here the same definition is worked as 14 elements. WHAT, WHY, HOW and WHEN are four elements. CREATES, DELIVERS and SUSTAINS VALUE are three. OPERATING ENVIRONMENT has an element of its own."</a:t>
            </a:r>
          </a:p>
          <a:p>
            <a:endParaRPr lang="en-US" dirty="0"/>
          </a:p>
          <a:p>
            <a:r>
              <a:rPr lang="en-US" b="1" dirty="0"/>
              <a:t>3. Say what each element gives the group.</a:t>
            </a:r>
          </a:p>
          <a:p>
            <a:r>
              <a:rPr lang="en-US" dirty="0"/>
              <a:t>Say: "Each element comes with a short guide and four questions."</a:t>
            </a:r>
          </a:p>
          <a:p>
            <a:endParaRPr lang="en-US" dirty="0"/>
          </a:p>
          <a:p>
            <a:r>
              <a:rPr lang="en-US" b="1" dirty="0"/>
              <a:t>4. If a participant asks where an element goes in the Strategy Architecture output, use this list.</a:t>
            </a:r>
          </a:p>
          <a:p>
            <a:r>
              <a:rPr lang="en-US" dirty="0"/>
              <a:t>1 · ITERATIVE — Continuously refined → Strategy Discipline</a:t>
            </a:r>
          </a:p>
          <a:p>
            <a:r>
              <a:rPr lang="en-US" dirty="0"/>
              <a:t>2 · THINKING &amp; LOGIC — The cognitive engine → Strategy Discipline</a:t>
            </a:r>
          </a:p>
          <a:p>
            <a:r>
              <a:rPr lang="en-US" dirty="0"/>
              <a:t>3 · PROCESS — Structured container → Strategy Discipline</a:t>
            </a:r>
          </a:p>
          <a:p>
            <a:r>
              <a:rPr lang="en-US" dirty="0"/>
              <a:t>4 · WHAT — Scope &amp; definition → Strategic Position</a:t>
            </a:r>
          </a:p>
          <a:p>
            <a:r>
              <a:rPr lang="en-US" dirty="0"/>
              <a:t>5 · WHY — Purpose &amp; rationale → Strategic Position</a:t>
            </a:r>
          </a:p>
          <a:p>
            <a:r>
              <a:rPr lang="en-US" dirty="0"/>
              <a:t>6 · HOW — Mechanism &amp; model → Strategic Model</a:t>
            </a:r>
          </a:p>
          <a:p>
            <a:r>
              <a:rPr lang="en-US" dirty="0"/>
              <a:t>7 · WHEN — Timing &amp; sequencing → Strategic Model</a:t>
            </a:r>
          </a:p>
          <a:p>
            <a:r>
              <a:rPr lang="en-US" dirty="0"/>
              <a:t>8 · CREATES VALUE — Origination layer → Value Architecture</a:t>
            </a:r>
          </a:p>
          <a:p>
            <a:r>
              <a:rPr lang="en-US" dirty="0"/>
              <a:t>9 · DELIVERS VALUE — Distribution &amp; access layer → Value Architecture</a:t>
            </a:r>
          </a:p>
          <a:p>
            <a:r>
              <a:rPr lang="en-US" dirty="0"/>
              <a:t>10 · SUSTAINS VALUE — Durability &amp; compounding layer → Value Architecture</a:t>
            </a:r>
          </a:p>
          <a:p>
            <a:r>
              <a:rPr lang="en-US" dirty="0"/>
              <a:t>11 · STAKEHOLDERS — Full universe of value recipients → Value Architecture</a:t>
            </a:r>
          </a:p>
          <a:p>
            <a:r>
              <a:rPr lang="en-US" dirty="0"/>
              <a:t>12 · NAVIGATING — Active, skilful movement → Strategic Navigation</a:t>
            </a:r>
          </a:p>
          <a:p>
            <a:r>
              <a:rPr lang="en-US" dirty="0"/>
              <a:t>13 · THE FORCES — What must be navigated → Strategic Navigation</a:t>
            </a:r>
          </a:p>
          <a:p>
            <a:r>
              <a:rPr lang="en-US" dirty="0"/>
              <a:t>14 · OPERATING ENVIRONMENT — The bounded context → Strategic Navigation</a:t>
            </a:r>
          </a:p>
          <a:p>
            <a:endParaRPr lang="en-US" dirty="0"/>
          </a:p>
          <a:p>
            <a:r>
              <a:rPr lang="en-US" b="1" dirty="0"/>
              <a:t>5. Bridge to the next slide.</a:t>
            </a:r>
          </a:p>
          <a:p>
            <a:r>
              <a:rPr lang="en-US" dirty="0"/>
              <a:t>Say: "The next four slides take the elements in four groups."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ELEMENTS 1–3 · STRATEGY DISCIPLINE</a:t>
            </a:r>
          </a:p>
          <a:p>
            <a:endParaRPr lang="en-US" dirty="0"/>
          </a:p>
          <a:p>
            <a:r>
              <a:rPr lang="en-US" b="1" dirty="0"/>
              <a:t>HOW TO TEACH IT:</a:t>
            </a:r>
          </a:p>
          <a:p>
            <a:endParaRPr lang="en-US" dirty="0"/>
          </a:p>
          <a:p>
            <a:r>
              <a:rPr lang="en-US" b="1" dirty="0"/>
              <a:t>1. Say what this group of elements establishes.</a:t>
            </a:r>
          </a:p>
          <a:p>
            <a:r>
              <a:rPr lang="en-US" dirty="0"/>
              <a:t>Say: "Strategy Discipline is how the organisation produces, tests and renews its strategy. ITERATIVE keeps the strategy open to evidence. THINKING &amp; LOGIC is the quality of the reasoning. PROCESS is the container that makes the reasoning repeatable. In the Strategy Architecture output these three sit under the last heading, Strategy Discipline. Your group works them first because they follow the order of the definition."</a:t>
            </a:r>
          </a:p>
          <a:p>
            <a:endParaRPr lang="en-US" dirty="0"/>
          </a:p>
          <a:p>
            <a:r>
              <a:rPr lang="en-US" b="1" dirty="0"/>
              <a:t>2. Element 1 · ITERATIVE — Continuously refined.</a:t>
            </a:r>
          </a:p>
          <a:p>
            <a:r>
              <a:rPr lang="en-US" dirty="0"/>
              <a:t>Guide, say: "Strategy is never finished in one pass. It is a hypothesis that loops: form, test against reality, revise, repeat. This rules out strategy as an annual ritual and rules in strategy as a living capability."</a:t>
            </a:r>
          </a:p>
          <a:p>
            <a:r>
              <a:rPr lang="en-US" dirty="0"/>
              <a:t>Name the four questions the group answers:</a:t>
            </a:r>
          </a:p>
          <a:p>
            <a:r>
              <a:rPr lang="en-US" dirty="0"/>
              <a:t>1. What core hypotheses does the strategy depend on?</a:t>
            </a:r>
          </a:p>
          <a:p>
            <a:r>
              <a:rPr lang="en-US" dirty="0"/>
              <a:t>2. How will reality test those hypotheses?</a:t>
            </a:r>
          </a:p>
          <a:p>
            <a:r>
              <a:rPr lang="en-US" dirty="0"/>
              <a:t>3. What evidence would trigger refinement?</a:t>
            </a:r>
          </a:p>
          <a:p>
            <a:r>
              <a:rPr lang="en-US" dirty="0"/>
              <a:t>4. How and when will strategic choices be revisited?</a:t>
            </a:r>
          </a:p>
          <a:p>
            <a:r>
              <a:rPr lang="en-US" dirty="0"/>
              <a:t>Put question 3 to one or two participants, for their own organisation, and take a short answer.</a:t>
            </a:r>
          </a:p>
          <a:p>
            <a:r>
              <a:rPr lang="en-US" dirty="0"/>
              <a:t>Set the standard, say: "A strong answer names the hypotheses the strategy depends on, the evidence that would trigger refinement, and the point at which choices are revisited."</a:t>
            </a:r>
          </a:p>
          <a:p>
            <a:r>
              <a:rPr lang="en-US" dirty="0"/>
              <a:t>Deepen, say: "Organisations that cannot move until the strategy is fully documented, fully risk-assessed and fully agreed will always be slower than the environment they are trying to navigate. Move on directional clarity and fill in the detail as you go."</a:t>
            </a:r>
          </a:p>
          <a:p>
            <a:r>
              <a:rPr lang="en-US" dirty="0"/>
              <a:t>(Insight: Move on directional clarity. Source: Journal, 11 January 2026 — Professional Insights: Strategy)</a:t>
            </a:r>
          </a:p>
          <a:p>
            <a:r>
              <a:rPr lang="en-US" dirty="0"/>
              <a:t>Then say: "Direction must be refreshed for the current season. The strategy that worked in the previous season needs review before it is applied to the next. Build the practice of seeking fresh direction before each major initiative."</a:t>
            </a:r>
          </a:p>
          <a:p>
            <a:r>
              <a:rPr lang="en-US" dirty="0"/>
              <a:t>(Insight: Last season’s framework. Source: Journal, 7 April 2026 — Professional Insights: Strategy)</a:t>
            </a:r>
          </a:p>
          <a:p>
            <a:endParaRPr lang="en-US" dirty="0"/>
          </a:p>
          <a:p>
            <a:r>
              <a:rPr lang="en-US" b="1" dirty="0"/>
              <a:t>3. Element 2 · THINKING &amp; LOGIC — The cognitive engine.</a:t>
            </a:r>
          </a:p>
          <a:p>
            <a:r>
              <a:rPr lang="en-US" dirty="0"/>
              <a:t>Guide, say: "Thinking is divergent, exploratory, hypothesis-generating. Logic is convergent, analytical, assumption-testing. Both are required in sequence."</a:t>
            </a:r>
          </a:p>
          <a:p>
            <a:r>
              <a:rPr lang="en-US" dirty="0"/>
              <a:t>Name the four questions the group answers:</a:t>
            </a:r>
          </a:p>
          <a:p>
            <a:r>
              <a:rPr lang="en-US" dirty="0"/>
              <a:t>1. What alternative possibilities were explored?</a:t>
            </a:r>
          </a:p>
          <a:p>
            <a:r>
              <a:rPr lang="en-US" dirty="0"/>
              <a:t>2. What assumptions underpin the preferred direction?</a:t>
            </a:r>
          </a:p>
          <a:p>
            <a:r>
              <a:rPr lang="en-US" dirty="0"/>
              <a:t>3. What must be true for this strategy to work?</a:t>
            </a:r>
          </a:p>
          <a:p>
            <a:r>
              <a:rPr lang="en-US" dirty="0"/>
              <a:t>4. What evidence supports or challenges the logic?</a:t>
            </a:r>
          </a:p>
          <a:p>
            <a:r>
              <a:rPr lang="en-US" dirty="0"/>
              <a:t>Put question 3 to one or two participants, for their own organisation, and take a short answer.</a:t>
            </a:r>
          </a:p>
          <a:p>
            <a:r>
              <a:rPr lang="en-US" dirty="0"/>
              <a:t>Set the standard, say: "A strong answer names the alternatives that were explored and what must be true for the strategy to work."</a:t>
            </a:r>
          </a:p>
          <a:p>
            <a:r>
              <a:rPr lang="en-US" dirty="0"/>
              <a:t>Deepen, say: "Existing categories can constrain strategic imagination. Markets, functions, customers, capabilities and partnerships may be understood through inherited assumptions that hide possibilities outside familiar boundaries."</a:t>
            </a:r>
          </a:p>
          <a:p>
            <a:r>
              <a:rPr lang="en-US" dirty="0"/>
              <a:t>Ask: "What might become possible if one of our long-held assumptions about the boundaries of this opportunity is wrong?"</a:t>
            </a:r>
          </a:p>
          <a:p>
            <a:r>
              <a:rPr lang="en-US" dirty="0"/>
              <a:t>(Insight: Inherited boundaries. Source: Journal, 5 October 2026 — Professional Insights: Strategy)</a:t>
            </a:r>
          </a:p>
          <a:p>
            <a:endParaRPr lang="en-US" dirty="0"/>
          </a:p>
          <a:p>
            <a:r>
              <a:rPr lang="en-US" b="1" dirty="0"/>
              <a:t>4. Element 3 · PROCESS — Structured container.</a:t>
            </a:r>
          </a:p>
          <a:p>
            <a:r>
              <a:rPr lang="en-US" dirty="0"/>
              <a:t>Guide, say: "Process turns ad hoc thinking into a repeatable, auditable, scalable method. It defines who is involved, what inputs are needed, what tools are used, and what decisions get made at each stage."</a:t>
            </a:r>
          </a:p>
          <a:p>
            <a:r>
              <a:rPr lang="en-US" dirty="0"/>
              <a:t>Name the four questions the group answers:</a:t>
            </a:r>
          </a:p>
          <a:p>
            <a:r>
              <a:rPr lang="en-US" dirty="0"/>
              <a:t>1. Who must participate in shaping the strategy?</a:t>
            </a:r>
          </a:p>
          <a:p>
            <a:r>
              <a:rPr lang="en-US" dirty="0"/>
              <a:t>2. What inputs and evidence are required?</a:t>
            </a:r>
          </a:p>
          <a:p>
            <a:r>
              <a:rPr lang="en-US" dirty="0"/>
              <a:t>3. What decision stages will be used?</a:t>
            </a:r>
          </a:p>
          <a:p>
            <a:r>
              <a:rPr lang="en-US" dirty="0"/>
              <a:t>4. How will decisions and rationale be recorded?</a:t>
            </a:r>
          </a:p>
          <a:p>
            <a:r>
              <a:rPr lang="en-US" dirty="0"/>
              <a:t>Put question 4 to one or two participants, for their own organisation, and take a short answer.</a:t>
            </a:r>
          </a:p>
          <a:p>
            <a:r>
              <a:rPr lang="en-US" dirty="0"/>
              <a:t>Set the standard, say: "A strong answer says who could run the next strategy cycle, and where decisions and their rationale are recorded."</a:t>
            </a:r>
          </a:p>
          <a:p>
            <a:r>
              <a:rPr lang="en-US" dirty="0"/>
              <a:t>Deepen, say: "The story of how relationships were built, why systems exist and what sacrifices created the current position is one of the most undervalued strategic assets an organisation holds. When leadership changes without deliberate knowledge transfer, the organisation loses the context that makes its position intelligible. Build succession of story alongside succession of role."</a:t>
            </a:r>
          </a:p>
          <a:p>
            <a:r>
              <a:rPr lang="en-US" dirty="0"/>
              <a:t>(Insight: Succession of story. Source: Journal, 2 February 2026 — Professional Insights: Strategy)</a:t>
            </a:r>
          </a:p>
          <a:p>
            <a:endParaRPr lang="en-US" dirty="0"/>
          </a:p>
          <a:p>
            <a:r>
              <a:rPr lang="en-US" b="1" dirty="0"/>
              <a:t>5. Give the groups two things to hold on to.</a:t>
            </a:r>
          </a:p>
          <a:p>
            <a:r>
              <a:rPr lang="en-US" dirty="0"/>
              <a:t>Say: "These three elements ask how the strategy is made. Answer the question asked: how we produce, test and renew the strategy."</a:t>
            </a:r>
          </a:p>
          <a:p>
            <a:r>
              <a:rPr lang="en-US" dirty="0"/>
              <a:t>Say: "Hold THINKING &amp; LOGIC and PROCESS apart. Most organisations have a process and neglect the quality of the thinking inside it."</a:t>
            </a:r>
          </a:p>
          <a:p>
            <a:endParaRPr lang="en-US" dirty="0"/>
          </a:p>
          <a:p>
            <a:r>
              <a:rPr lang="en-US" b="1" dirty="0"/>
              <a:t>6. Bridge to the next slide.</a:t>
            </a:r>
          </a:p>
          <a:p>
            <a:r>
              <a:rPr lang="en-US" dirty="0"/>
              <a:t>Say: "Next: elements 4 to 7, the Strategic Position and the Strategic Model."</a:t>
            </a:r>
          </a:p>
          <a:p>
            <a:endParaRPr lang="en-US" dirty="0"/>
          </a:p>
          <a:p>
            <a:r>
              <a:rPr lang="en-US" b="1" dirty="0"/>
              <a:t>LATER, WHEN THE GROUPS DO THE WORK ON THE PORTAL:</a:t>
            </a:r>
          </a:p>
          <a:p>
            <a:r>
              <a:rPr lang="en-US" dirty="0"/>
              <a:t>- 1 · ITERATIVE: watch for answers that describe an annual planning cycle.</a:t>
            </a:r>
          </a:p>
          <a:p>
            <a:r>
              <a:rPr lang="en-US" dirty="0"/>
              <a:t>- 2 · THINKING &amp; LOGIC: watch for a list of data sources and analyses, with no alternative explored.</a:t>
            </a:r>
          </a:p>
          <a:p>
            <a:r>
              <a:rPr lang="en-US" dirty="0"/>
              <a:t>- 3 · PROCESS: watch for a process that lives in one person’s head.</a:t>
            </a:r>
          </a:p>
          <a:p>
            <a:r>
              <a:rPr lang="en-US" dirty="0"/>
              <a:t>- Groups often answer with what the strategy is. Bring them back to how it is made.</a:t>
            </a:r>
          </a:p>
          <a:p>
            <a:r>
              <a:rPr lang="en-US" dirty="0"/>
              <a:t>- Ask for one real example for each element: the last revision, the last challenged assumption, the last decision that was recorded with its rationale.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ELEMENTS 4–7 · POSITION AND MODEL</a:t>
            </a:r>
          </a:p>
          <a:p>
            <a:endParaRPr lang="en-US" dirty="0"/>
          </a:p>
          <a:p>
            <a:r>
              <a:rPr lang="en-US" b="1" dirty="0"/>
              <a:t>HOW TO TEACH IT:</a:t>
            </a:r>
          </a:p>
          <a:p>
            <a:endParaRPr lang="en-US" dirty="0"/>
          </a:p>
          <a:p>
            <a:r>
              <a:rPr lang="en-US" b="1" dirty="0"/>
              <a:t>1. Say what this group of elements establishes.</a:t>
            </a:r>
          </a:p>
          <a:p>
            <a:r>
              <a:rPr lang="en-US" dirty="0"/>
              <a:t>Say: "WHAT and WHY form the Strategic Position: the value the organisation has chosen to create, its field of play, and the rationale that makes the choices coherent. HOW and WHEN form the Strategic Model: the mechanism through which the value is delivered and the timing and sequencing of the moves. These are the four dimensions your group brings forward in 4.2 to derive its Strategy Intent Statement. The quality of these four elements sets the quality of that statement."</a:t>
            </a:r>
          </a:p>
          <a:p>
            <a:endParaRPr lang="en-US" dirty="0"/>
          </a:p>
          <a:p>
            <a:r>
              <a:rPr lang="en-US" b="1" dirty="0"/>
              <a:t>2. Element 4 · WHAT — Scope &amp; definition.</a:t>
            </a:r>
          </a:p>
          <a:p>
            <a:r>
              <a:rPr lang="en-US" dirty="0"/>
              <a:t>Guide, say: "What value are we creating? What business are we actually in? What do we offer and deliberately not offer? This sets the boundary of the organisation's field of play."</a:t>
            </a:r>
          </a:p>
          <a:p>
            <a:r>
              <a:rPr lang="en-US" dirty="0"/>
              <a:t>Name the four questions the group answers:</a:t>
            </a:r>
          </a:p>
          <a:p>
            <a:r>
              <a:rPr lang="en-US" dirty="0"/>
              <a:t>1. What business are we actually in?</a:t>
            </a:r>
          </a:p>
          <a:p>
            <a:r>
              <a:rPr lang="en-US" dirty="0"/>
              <a:t>2. What value are we choosing to create?</a:t>
            </a:r>
          </a:p>
          <a:p>
            <a:r>
              <a:rPr lang="en-US" dirty="0"/>
              <a:t>3. What will we offer?</a:t>
            </a:r>
          </a:p>
          <a:p>
            <a:r>
              <a:rPr lang="en-US" dirty="0"/>
              <a:t>4. What will we deliberately not offer or pursue?</a:t>
            </a:r>
          </a:p>
          <a:p>
            <a:r>
              <a:rPr lang="en-US" dirty="0"/>
              <a:t>Put question 4 to one or two participants, for their own organisation, and take a short answer.</a:t>
            </a:r>
          </a:p>
          <a:p>
            <a:r>
              <a:rPr lang="en-US" dirty="0"/>
              <a:t>Set the standard, say: "A strong answer has a boundary: it names something the organisation has deliberately chosen to leave out."</a:t>
            </a:r>
          </a:p>
          <a:p>
            <a:endParaRPr lang="en-US" dirty="0"/>
          </a:p>
          <a:p>
            <a:r>
              <a:rPr lang="en-US" b="1" dirty="0"/>
              <a:t>3. Element 5 · WHY — Purpose &amp; rationale.</a:t>
            </a:r>
          </a:p>
          <a:p>
            <a:r>
              <a:rPr lang="en-US" dirty="0"/>
              <a:t>Guide, say: "Why does this organisation exist? Why would stakeholders choose us? The North Star that makes all other decisions coherent and gives the strategy its internal logic."</a:t>
            </a:r>
          </a:p>
          <a:p>
            <a:r>
              <a:rPr lang="en-US" dirty="0"/>
              <a:t>Name the four questions the group answers:</a:t>
            </a:r>
          </a:p>
          <a:p>
            <a:r>
              <a:rPr lang="en-US" dirty="0"/>
              <a:t>1. Why does the organisation exist?</a:t>
            </a:r>
          </a:p>
          <a:p>
            <a:r>
              <a:rPr lang="en-US" dirty="0"/>
              <a:t>2. Why should stakeholders choose or support us?</a:t>
            </a:r>
          </a:p>
          <a:p>
            <a:r>
              <a:rPr lang="en-US" dirty="0"/>
              <a:t>3. Why are these strategic choices appropriate?</a:t>
            </a:r>
          </a:p>
          <a:p>
            <a:r>
              <a:rPr lang="en-US" dirty="0"/>
              <a:t>4. What unifying rationale makes the choices coherent?</a:t>
            </a:r>
          </a:p>
          <a:p>
            <a:r>
              <a:rPr lang="en-US" dirty="0"/>
              <a:t>Put question 2 to one or two participants, for their own organisation, and take a short answer.</a:t>
            </a:r>
          </a:p>
          <a:p>
            <a:r>
              <a:rPr lang="en-US" dirty="0"/>
              <a:t>Set the standard, say: "A strong answer gives a reason that no competitor could claim unchanged, and it speaks to stakeholders as well as customers."</a:t>
            </a:r>
          </a:p>
          <a:p>
            <a:r>
              <a:rPr lang="en-US" dirty="0"/>
              <a:t>Deepen, say: "One of the most dangerous instincts in a strategy room is the impulse to mimic peers. Benchmarking has its place. When “what everyone else is doing” becomes the dominant input, the organisation has stopped leading itself. List the three most recent strategic decisions and ask whether each came from your own theory of where this enterprise is going, or from a quiet wish to stop being conspicuously different."</a:t>
            </a:r>
          </a:p>
          <a:p>
            <a:r>
              <a:rPr lang="en-US" dirty="0"/>
              <a:t>(Insight: Benchmarking as strategy. Source: Journal, 8 May 2026 — Professional Insights: Strategy)</a:t>
            </a:r>
          </a:p>
          <a:p>
            <a:endParaRPr lang="en-US" dirty="0"/>
          </a:p>
          <a:p>
            <a:r>
              <a:rPr lang="en-US" b="1" dirty="0"/>
              <a:t>4. Element 6 · HOW — Mechanism &amp; model.</a:t>
            </a:r>
          </a:p>
          <a:p>
            <a:r>
              <a:rPr lang="en-US" dirty="0"/>
              <a:t>Guide, say: "How do we actually deliver the value? What capabilities, processes, structures and partnerships make it possible? This is where strategy meets the operating model."</a:t>
            </a:r>
          </a:p>
          <a:p>
            <a:r>
              <a:rPr lang="en-US" dirty="0"/>
              <a:t>Name the four questions the group answers:</a:t>
            </a:r>
          </a:p>
          <a:p>
            <a:r>
              <a:rPr lang="en-US" dirty="0"/>
              <a:t>1. What operating mechanism makes the strategy work?</a:t>
            </a:r>
          </a:p>
          <a:p>
            <a:r>
              <a:rPr lang="en-US" dirty="0"/>
              <a:t>2. Which capabilities are essential?</a:t>
            </a:r>
          </a:p>
          <a:p>
            <a:r>
              <a:rPr lang="en-US" dirty="0"/>
              <a:t>3. Which processes and structures must support it?</a:t>
            </a:r>
          </a:p>
          <a:p>
            <a:r>
              <a:rPr lang="en-US" dirty="0"/>
              <a:t>4. Which partnerships or ecosystem relationships are required?</a:t>
            </a:r>
          </a:p>
          <a:p>
            <a:r>
              <a:rPr lang="en-US" dirty="0"/>
              <a:t>Put question 1 to one or two participants, for their own organisation, and take a short answer.</a:t>
            </a:r>
          </a:p>
          <a:p>
            <a:r>
              <a:rPr lang="en-US" dirty="0"/>
              <a:t>Set the standard, say: "A strong answer names the mechanism: the capabilities, the processes, the structures and the partnerships that make the strategy work."</a:t>
            </a:r>
          </a:p>
          <a:p>
            <a:r>
              <a:rPr lang="en-US" dirty="0"/>
              <a:t>Deepen, say: "Some organisations bet on a symbol to do the work of substance: a hired name, a borrowed framework, a purchased certification. The hire is no substitute for the capability. Audit one initiative where the bet rests on a symbol, then shore up the substance or reduce the bet."</a:t>
            </a:r>
          </a:p>
          <a:p>
            <a:r>
              <a:rPr lang="en-US" dirty="0"/>
              <a:t>(Insight: Symbol or substance. Source: Journal, 26 April 2026 — Professional Insights: Strategy)</a:t>
            </a:r>
          </a:p>
          <a:p>
            <a:endParaRPr lang="en-US" dirty="0"/>
          </a:p>
          <a:p>
            <a:r>
              <a:rPr lang="en-US" b="1" dirty="0"/>
              <a:t>5. Element 7 · WHEN — Timing &amp; sequencing.</a:t>
            </a:r>
          </a:p>
          <a:p>
            <a:r>
              <a:rPr lang="en-US" dirty="0"/>
              <a:t>Guide, say: "When do we move? When do we hold? When do we exit? Timing determines whether the right move wins or fails. Sequencing determines whether capability is built in the right order."</a:t>
            </a:r>
          </a:p>
          <a:p>
            <a:r>
              <a:rPr lang="en-US" dirty="0"/>
              <a:t>Name the four questions the group answers:</a:t>
            </a:r>
          </a:p>
          <a:p>
            <a:r>
              <a:rPr lang="en-US" dirty="0"/>
              <a:t>1. What must happen first, next and later?</a:t>
            </a:r>
          </a:p>
          <a:p>
            <a:r>
              <a:rPr lang="en-US" dirty="0"/>
              <a:t>2. What determines when we move, hold or exit?</a:t>
            </a:r>
          </a:p>
          <a:p>
            <a:r>
              <a:rPr lang="en-US" dirty="0"/>
              <a:t>3. Which dependencies shape the sequence?</a:t>
            </a:r>
          </a:p>
          <a:p>
            <a:r>
              <a:rPr lang="en-US" dirty="0"/>
              <a:t>4. What timing assumptions could change the strategy?</a:t>
            </a:r>
          </a:p>
          <a:p>
            <a:r>
              <a:rPr lang="en-US" dirty="0"/>
              <a:t>Put question 1 to one or two participants, for their own organisation, and take a short answer.</a:t>
            </a:r>
          </a:p>
          <a:p>
            <a:r>
              <a:rPr lang="en-US" dirty="0"/>
              <a:t>Set the standard, say: "A strong answer says what must happen first, and which dependency sets the order."</a:t>
            </a:r>
          </a:p>
          <a:p>
            <a:endParaRPr lang="en-US" dirty="0"/>
          </a:p>
          <a:p>
            <a:r>
              <a:rPr lang="en-US" b="1" dirty="0"/>
              <a:t>6. Give the groups two things to hold on to.</a:t>
            </a:r>
          </a:p>
          <a:p>
            <a:r>
              <a:rPr lang="en-US" dirty="0"/>
              <a:t>Say: "Test the four against one another. HOW without WHY is activity without logic. WHAT and WHY without HOW and WHEN is vision without execution. WHEN without WHAT is urgency without direction."</a:t>
            </a:r>
          </a:p>
          <a:p>
            <a:r>
              <a:rPr lang="en-US" dirty="0"/>
              <a:t>Deepen, say: "A worthy goal can break down when governance, roles, timing and execution discipline are weak. The right destination still needs the right design. Strategic leadership holds pressure without surrendering clarity."</a:t>
            </a:r>
          </a:p>
          <a:p>
            <a:r>
              <a:rPr lang="en-US" dirty="0"/>
              <a:t>(Insight: Right destination, right design. Source: Journal, 7 July 2026 — Professional Insights: Strategy)</a:t>
            </a:r>
          </a:p>
          <a:p>
            <a:r>
              <a:rPr lang="en-US" dirty="0"/>
              <a:t>Say: "Your answers to these four elements appear again in 4.2, word for word. Loose wording here becomes a loose Intent."</a:t>
            </a:r>
          </a:p>
          <a:p>
            <a:endParaRPr lang="en-US" dirty="0"/>
          </a:p>
          <a:p>
            <a:r>
              <a:rPr lang="en-US" b="1" dirty="0"/>
              <a:t>7. Bridge to the next slide.</a:t>
            </a:r>
          </a:p>
          <a:p>
            <a:r>
              <a:rPr lang="en-US" dirty="0"/>
              <a:t>Say: "Next: elements 8 to 11, the Value Architecture."</a:t>
            </a:r>
          </a:p>
          <a:p>
            <a:endParaRPr lang="en-US" dirty="0"/>
          </a:p>
          <a:p>
            <a:r>
              <a:rPr lang="en-US" b="1" dirty="0"/>
              <a:t>LATER, WHEN THE GROUPS DO THE WORK ON THE PORTAL:</a:t>
            </a:r>
          </a:p>
          <a:p>
            <a:r>
              <a:rPr lang="en-US" dirty="0"/>
              <a:t>- 4 · WHAT: watch for a WHAT with no boundary. The fourth question needs a real answer.</a:t>
            </a:r>
          </a:p>
          <a:p>
            <a:r>
              <a:rPr lang="en-US" dirty="0"/>
              <a:t>- 5 · WHY: watch for a WHY that any competitor could claim unchanged, and a WHY written for customers only.</a:t>
            </a:r>
          </a:p>
          <a:p>
            <a:r>
              <a:rPr lang="en-US" dirty="0"/>
              <a:t>- 6 · HOW: watch for a HOW stated as an aspiration with no mechanism named, and an operating model that predates the current direction.</a:t>
            </a:r>
          </a:p>
          <a:p>
            <a:r>
              <a:rPr lang="en-US" dirty="0"/>
              <a:t>- 7 · WHEN: watch for every move running in parallel.</a:t>
            </a:r>
          </a:p>
          <a:p>
            <a:r>
              <a:rPr lang="en-US" dirty="0"/>
              <a:t>- Give HOW and WHEN the most attention. They typically reveal the most significant gaps.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ELEMENTS 8–11 · VALUE ARCHITECTURE</a:t>
            </a:r>
          </a:p>
          <a:p>
            <a:endParaRPr lang="en-US" dirty="0"/>
          </a:p>
          <a:p>
            <a:r>
              <a:rPr lang="en-US" b="1" dirty="0"/>
              <a:t>HOW TO TEACH IT:</a:t>
            </a:r>
          </a:p>
          <a:p>
            <a:endParaRPr lang="en-US" dirty="0"/>
          </a:p>
          <a:p>
            <a:r>
              <a:rPr lang="en-US" b="1" dirty="0"/>
              <a:t>1. Say what this group of elements establishes.</a:t>
            </a:r>
          </a:p>
          <a:p>
            <a:r>
              <a:rPr lang="en-US" dirty="0"/>
              <a:t>Say: "The Value Architecture is the full account of value: how it comes into existence, CREATES VALUE; how it reaches its intended recipients, DELIVERS VALUE; what keeps it durable, SUSTAINS VALUE; and who receives or contributes it, STAKEHOLDERS. All three layers of the Value Triad must be explicitly designed and invested in."</a:t>
            </a:r>
          </a:p>
          <a:p>
            <a:endParaRPr lang="en-US" dirty="0"/>
          </a:p>
          <a:p>
            <a:r>
              <a:rPr lang="en-US" b="1" dirty="0"/>
              <a:t>2. Element 8 · CREATES VALUE — Origination layer.</a:t>
            </a:r>
          </a:p>
          <a:p>
            <a:r>
              <a:rPr lang="en-US" dirty="0"/>
              <a:t>Guide, say: "Value comes into existence through creation: product/service development, innovation, capability building, IP, brand equity — activities that generate new or improved worth."</a:t>
            </a:r>
          </a:p>
          <a:p>
            <a:r>
              <a:rPr lang="en-US" dirty="0"/>
              <a:t>Name the four questions the group answers:</a:t>
            </a:r>
          </a:p>
          <a:p>
            <a:r>
              <a:rPr lang="en-US" dirty="0"/>
              <a:t>1. What new or improved value will come into existence?</a:t>
            </a:r>
          </a:p>
          <a:p>
            <a:r>
              <a:rPr lang="en-US" dirty="0"/>
              <a:t>2. Through which activities is that value created?</a:t>
            </a:r>
          </a:p>
          <a:p>
            <a:r>
              <a:rPr lang="en-US" dirty="0"/>
              <a:t>3. What capabilities or assets enable creation?</a:t>
            </a:r>
          </a:p>
          <a:p>
            <a:r>
              <a:rPr lang="en-US" dirty="0"/>
              <a:t>4. How will we know that genuine value has been created?</a:t>
            </a:r>
          </a:p>
          <a:p>
            <a:r>
              <a:rPr lang="en-US" dirty="0"/>
              <a:t>Put question 4 to one or two participants, for their own organisation, and take a short answer.</a:t>
            </a:r>
          </a:p>
          <a:p>
            <a:r>
              <a:rPr lang="en-US" dirty="0"/>
              <a:t>Set the standard, say: "A strong answer names the value itself and says how you will know that genuine value has been created."</a:t>
            </a:r>
          </a:p>
          <a:p>
            <a:endParaRPr lang="en-US" dirty="0"/>
          </a:p>
          <a:p>
            <a:r>
              <a:rPr lang="en-US" b="1" dirty="0"/>
              <a:t>3. Element 9 · DELIVERS VALUE — Distribution &amp; access layer.</a:t>
            </a:r>
          </a:p>
          <a:p>
            <a:r>
              <a:rPr lang="en-US" dirty="0"/>
              <a:t>Guide, say: "Creating value means nothing if it does not reach intended recipients. Delivery is the full system of transmission: channels, distribution, customer experience, partnerships and pricing."</a:t>
            </a:r>
          </a:p>
          <a:p>
            <a:r>
              <a:rPr lang="en-US" dirty="0"/>
              <a:t>Name the four questions the group answers:</a:t>
            </a:r>
          </a:p>
          <a:p>
            <a:r>
              <a:rPr lang="en-US" dirty="0"/>
              <a:t>1. How will created value reach each intended recipient?</a:t>
            </a:r>
          </a:p>
          <a:p>
            <a:r>
              <a:rPr lang="en-US" dirty="0"/>
              <a:t>2. Which channels and access mechanisms matter?</a:t>
            </a:r>
          </a:p>
          <a:p>
            <a:r>
              <a:rPr lang="en-US" dirty="0"/>
              <a:t>3. What experience must recipients have?</a:t>
            </a:r>
          </a:p>
          <a:p>
            <a:r>
              <a:rPr lang="en-US" dirty="0"/>
              <a:t>4. What could prevent value from reaching them?</a:t>
            </a:r>
          </a:p>
          <a:p>
            <a:r>
              <a:rPr lang="en-US" dirty="0"/>
              <a:t>Put question 4 to one or two participants, for their own organisation, and take a short answer.</a:t>
            </a:r>
          </a:p>
          <a:p>
            <a:r>
              <a:rPr lang="en-US" dirty="0"/>
              <a:t>Set the standard, say: "A strong answer describes the experience recipients must have, and faces the fourth question: what could prevent value from reaching them?"</a:t>
            </a:r>
          </a:p>
          <a:p>
            <a:endParaRPr lang="en-US" dirty="0"/>
          </a:p>
          <a:p>
            <a:r>
              <a:rPr lang="en-US" b="1" dirty="0"/>
              <a:t>4. Element 10 · SUSTAINS VALUE — Durability &amp; compounding layer.</a:t>
            </a:r>
          </a:p>
          <a:p>
            <a:r>
              <a:rPr lang="en-US" dirty="0"/>
              <a:t>Guide, say: "Sustaining requires investment in the conditions that make value possible: relationships, infrastructure, culture, financial health and continued relevance."</a:t>
            </a:r>
          </a:p>
          <a:p>
            <a:r>
              <a:rPr lang="en-US" dirty="0"/>
              <a:t>Name the four questions the group answers:</a:t>
            </a:r>
          </a:p>
          <a:p>
            <a:r>
              <a:rPr lang="en-US" dirty="0"/>
              <a:t>1. What makes this value durable over time?</a:t>
            </a:r>
          </a:p>
          <a:p>
            <a:r>
              <a:rPr lang="en-US" dirty="0"/>
              <a:t>2. What must be continually invested in or renewed?</a:t>
            </a:r>
          </a:p>
          <a:p>
            <a:r>
              <a:rPr lang="en-US" dirty="0"/>
              <a:t>3. What could erode the value?</a:t>
            </a:r>
          </a:p>
          <a:p>
            <a:r>
              <a:rPr lang="en-US" dirty="0"/>
              <a:t>4. How will relevance and viability be sustained?</a:t>
            </a:r>
          </a:p>
          <a:p>
            <a:r>
              <a:rPr lang="en-US" dirty="0"/>
              <a:t>Put question 2 to one or two participants, for their own organisation, and take a short answer.</a:t>
            </a:r>
          </a:p>
          <a:p>
            <a:r>
              <a:rPr lang="en-US" dirty="0"/>
              <a:t>Set the standard, say: "A strong answer names what must be continually invested in or renewed. Expect this to be the hardest of the 14: most organisations invest in creating and delivering value and leave its durability unfunded."</a:t>
            </a:r>
          </a:p>
          <a:p>
            <a:r>
              <a:rPr lang="en-US" dirty="0"/>
              <a:t>Deepen, say: "Decisions made under temporary pressure, to solve an immediate pain point at the cost of a long-term asset, are among the most damaging an organisation can make. Build a decision protocol for moments of pressure that forces long-term consideration before short-term relief is chosen."</a:t>
            </a:r>
          </a:p>
          <a:p>
            <a:r>
              <a:rPr lang="en-US" dirty="0"/>
              <a:t>(Insight: Short-term relief, long-term cost. Source: Journal, 17 January 2026 — Professional Insights: Strategy)</a:t>
            </a:r>
          </a:p>
          <a:p>
            <a:endParaRPr lang="en-US" dirty="0"/>
          </a:p>
          <a:p>
            <a:r>
              <a:rPr lang="en-US" b="1" dirty="0"/>
              <a:t>5. Element 11 · STAKEHOLDERS — Full universe of value recipients.</a:t>
            </a:r>
          </a:p>
          <a:p>
            <a:r>
              <a:rPr lang="en-US" dirty="0"/>
              <a:t>Guide, say: "Broader than customers: everyone with a stake in the organisation's actions, including employees, investors, communities, regulators, partners and future generations."</a:t>
            </a:r>
          </a:p>
          <a:p>
            <a:r>
              <a:rPr lang="en-US" dirty="0"/>
              <a:t>Name the four questions the group answers:</a:t>
            </a:r>
          </a:p>
          <a:p>
            <a:r>
              <a:rPr lang="en-US" dirty="0"/>
              <a:t>1. Who has a material stake in our actions?</a:t>
            </a:r>
          </a:p>
          <a:p>
            <a:r>
              <a:rPr lang="en-US" dirty="0"/>
              <a:t>2. What value does each stakeholder group receive or contribute?</a:t>
            </a:r>
          </a:p>
          <a:p>
            <a:r>
              <a:rPr lang="en-US" dirty="0"/>
              <a:t>3. Where do stakeholder interests reinforce or conflict?</a:t>
            </a:r>
          </a:p>
          <a:p>
            <a:r>
              <a:rPr lang="en-US" dirty="0"/>
              <a:t>4. Whose interests could be overlooked by this strategy?</a:t>
            </a:r>
          </a:p>
          <a:p>
            <a:r>
              <a:rPr lang="en-US" dirty="0"/>
              <a:t>Put question 4 to one or two participants, for their own organisation, and take a short answer.</a:t>
            </a:r>
          </a:p>
          <a:p>
            <a:r>
              <a:rPr lang="en-US" dirty="0"/>
              <a:t>Set the standard, say: "A strong answer names every group with a material stake, shows where their interests conflict, and says whose interests this strategy could overlook."</a:t>
            </a:r>
          </a:p>
          <a:p>
            <a:r>
              <a:rPr lang="en-US" dirty="0"/>
              <a:t>Deepen, say: "The long-term durability of an enterprise is shaped by what its most powerful actor chooses to do for the people who cannot negotiate: the junior employee, the smaller supplier, the customer with no leverage. Strategies that optimise only for the strong corrode the moral capital leaders need to lead willing teams. Audit one pending decision for what it does for the most vulnerable party in the room."</a:t>
            </a:r>
          </a:p>
          <a:p>
            <a:r>
              <a:rPr lang="en-US" dirty="0"/>
              <a:t>(Insight: The party with no leverage. Source: Journal, 30 April 2026 — Professional Insights: Strategy)</a:t>
            </a:r>
          </a:p>
          <a:p>
            <a:endParaRPr lang="en-US" dirty="0"/>
          </a:p>
          <a:p>
            <a:r>
              <a:rPr lang="en-US" b="1" dirty="0"/>
              <a:t>6. Give the groups two things to hold on to.</a:t>
            </a:r>
          </a:p>
          <a:p>
            <a:r>
              <a:rPr lang="en-US" dirty="0"/>
              <a:t>Say: "Compare your three value answers side by side. Is the answer on SUSTAINS as strong as the answers on CREATES and DELIVERS?"</a:t>
            </a:r>
          </a:p>
          <a:p>
            <a:r>
              <a:rPr lang="en-US" dirty="0"/>
              <a:t>Say: "Check CREATES VALUE against HOW. The value the organisation intends to create must be supported by the mechanism described in element 6."</a:t>
            </a:r>
          </a:p>
          <a:p>
            <a:endParaRPr lang="en-US" dirty="0"/>
          </a:p>
          <a:p>
            <a:r>
              <a:rPr lang="en-US" b="1" dirty="0"/>
              <a:t>7. Bridge to the next slide.</a:t>
            </a:r>
          </a:p>
          <a:p>
            <a:r>
              <a:rPr lang="en-US" dirty="0"/>
              <a:t>Say: "Next: elements 12 to 14, Strategic Navigation."</a:t>
            </a:r>
          </a:p>
          <a:p>
            <a:endParaRPr lang="en-US" dirty="0"/>
          </a:p>
          <a:p>
            <a:r>
              <a:rPr lang="en-US" b="1" dirty="0"/>
              <a:t>LATER, WHEN THE GROUPS DO THE WORK ON THE PORTAL:</a:t>
            </a:r>
          </a:p>
          <a:p>
            <a:r>
              <a:rPr lang="en-US" dirty="0"/>
              <a:t>- 8 · CREATES VALUE: watch for a list of activities with no value named.</a:t>
            </a:r>
          </a:p>
          <a:p>
            <a:r>
              <a:rPr lang="en-US" dirty="0"/>
              <a:t>- 9 · DELIVERS VALUE: watch for channels named with no account of the experience recipients must have.</a:t>
            </a:r>
          </a:p>
          <a:p>
            <a:r>
              <a:rPr lang="en-US" dirty="0"/>
              <a:t>- 10 · SUSTAINS VALUE: watch for the thinnest answers of the 14.</a:t>
            </a:r>
          </a:p>
          <a:p>
            <a:r>
              <a:rPr lang="en-US" dirty="0"/>
              <a:t>- 11 · STAKEHOLDERS: watch for customers named as the only stakeholders, and no conflict between stakeholder interests acknowledged.</a:t>
            </a:r>
          </a:p>
          <a:p>
            <a:r>
              <a:rPr lang="en-US" dirty="0"/>
              <a:t>- Ask: "Where is the investment in sustainability of value?"</a:t>
            </a:r>
          </a:p>
          <a:p>
            <a:r>
              <a:rPr lang="en-US" dirty="0"/>
              <a:t>- Put the STAKEHOLDERS question about conflict directly: "Where do stakeholder interests reinforce or conflict?" A group that finds no conflict has usually looked at one stakeholder only.</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ELEMENTS 12–14 · STRATEGIC NAVIGATION</a:t>
            </a:r>
          </a:p>
          <a:p>
            <a:endParaRPr lang="en-US" dirty="0"/>
          </a:p>
          <a:p>
            <a:r>
              <a:rPr lang="en-US" b="1" dirty="0"/>
              <a:t>HOW TO TEACH IT:</a:t>
            </a:r>
          </a:p>
          <a:p>
            <a:endParaRPr lang="en-US" dirty="0"/>
          </a:p>
          <a:p>
            <a:r>
              <a:rPr lang="en-US" b="1" dirty="0"/>
              <a:t>1. Say what this group of elements establishes.</a:t>
            </a:r>
          </a:p>
          <a:p>
            <a:r>
              <a:rPr lang="en-US" dirty="0"/>
              <a:t>Say: "Strategic Navigation is how the organisation reads and moves through its environment. NAVIGATING is the skill: sensing, interpreting and making deliberate moves. THE FORCES are what must be navigated. OPERATING ENVIRONMENT is the bounded context within which the strategy makes sense. The forces in the operating environment do not pause when the strategy is set."</a:t>
            </a:r>
          </a:p>
          <a:p>
            <a:endParaRPr lang="en-US" dirty="0"/>
          </a:p>
          <a:p>
            <a:r>
              <a:rPr lang="en-US" b="1" dirty="0"/>
              <a:t>2. Element 12 · NAVIGATING — Active, skilful movement.</a:t>
            </a:r>
          </a:p>
          <a:p>
            <a:r>
              <a:rPr lang="en-US" dirty="0"/>
              <a:t>Guide, say: "Navigation implies agency, skill and continuous course correction. Read the environment, interpret it and make deliberate moves through it — putting the forces to use."</a:t>
            </a:r>
          </a:p>
          <a:p>
            <a:r>
              <a:rPr lang="en-US" dirty="0"/>
              <a:t>Name the four questions the group answers:</a:t>
            </a:r>
          </a:p>
          <a:p>
            <a:r>
              <a:rPr lang="en-US" dirty="0"/>
              <a:t>1. How will the organisation sense changes in its environment?</a:t>
            </a:r>
          </a:p>
          <a:p>
            <a:r>
              <a:rPr lang="en-US" dirty="0"/>
              <a:t>2. How will signals be interpreted and translated into decisions?</a:t>
            </a:r>
          </a:p>
          <a:p>
            <a:r>
              <a:rPr lang="en-US" dirty="0"/>
              <a:t>3. Where can external forces be used to advantage?</a:t>
            </a:r>
          </a:p>
          <a:p>
            <a:r>
              <a:rPr lang="en-US" dirty="0"/>
              <a:t>4. What enables deliberate course correction?</a:t>
            </a:r>
          </a:p>
          <a:p>
            <a:r>
              <a:rPr lang="en-US" dirty="0"/>
              <a:t>Put question 2 to one or two participants, for their own organisation, and take a short answer.</a:t>
            </a:r>
          </a:p>
          <a:p>
            <a:r>
              <a:rPr lang="en-US" dirty="0"/>
              <a:t>Set the standard, say: "A strong answer says how a signal from the environment becomes a deliberate change of course, and who makes that call."</a:t>
            </a:r>
          </a:p>
          <a:p>
            <a:r>
              <a:rPr lang="en-US" dirty="0"/>
              <a:t>Deepen, say: "Effective strategy requires resilience in changing environments. Sustainable organisations distinguish between adapting execution and compromising purpose. They stay committed to their core objectives while responding wisely to changing circumstances."</a:t>
            </a:r>
          </a:p>
          <a:p>
            <a:r>
              <a:rPr lang="en-US" dirty="0"/>
              <a:t>(Insight: Adapt the method, keep the purpose. Source: Journal, 29 July 2026 — Professional Insights: Strategy)</a:t>
            </a:r>
          </a:p>
          <a:p>
            <a:endParaRPr lang="en-US" dirty="0"/>
          </a:p>
          <a:p>
            <a:r>
              <a:rPr lang="en-US" b="1" dirty="0"/>
              <a:t>3. Element 13 · THE FORCES — What must be navigated.</a:t>
            </a:r>
          </a:p>
          <a:p>
            <a:r>
              <a:rPr lang="en-US" dirty="0"/>
              <a:t>Guide, say: "Competitive, macro, disruptive, social and environmental forces shape strategic viability: rivals, substitutes, regulation, economics, technology, business models, ESG and demographic shifts."</a:t>
            </a:r>
          </a:p>
          <a:p>
            <a:r>
              <a:rPr lang="en-US" dirty="0"/>
              <a:t>Name the four questions the group answers:</a:t>
            </a:r>
          </a:p>
          <a:p>
            <a:r>
              <a:rPr lang="en-US" dirty="0"/>
              <a:t>1. Which competitive forces materially shape the strategy?</a:t>
            </a:r>
          </a:p>
          <a:p>
            <a:r>
              <a:rPr lang="en-US" dirty="0"/>
              <a:t>2. Which macro and regulatory forces matter most?</a:t>
            </a:r>
          </a:p>
          <a:p>
            <a:r>
              <a:rPr lang="en-US" dirty="0"/>
              <a:t>3. Which disruptive forces could alter the model?</a:t>
            </a:r>
          </a:p>
          <a:p>
            <a:r>
              <a:rPr lang="en-US" dirty="0"/>
              <a:t>4. Which social or environmental forces create risk or opportunity?</a:t>
            </a:r>
          </a:p>
          <a:p>
            <a:r>
              <a:rPr lang="en-US" dirty="0"/>
              <a:t>Put question 3 to one or two participants, for their own organisation, and take a short answer.</a:t>
            </a:r>
          </a:p>
          <a:p>
            <a:r>
              <a:rPr lang="en-US" dirty="0"/>
              <a:t>Set the standard, say: "A strong answer names the few forces that materially shape this strategy."</a:t>
            </a:r>
          </a:p>
          <a:p>
            <a:endParaRPr lang="en-US" dirty="0"/>
          </a:p>
          <a:p>
            <a:r>
              <a:rPr lang="en-US" b="1" dirty="0"/>
              <a:t>4. Element 14 · OPERATING ENVIRONMENT — The bounded context.</a:t>
            </a:r>
          </a:p>
          <a:p>
            <a:r>
              <a:rPr lang="en-US" dirty="0"/>
              <a:t>Guide, say: "The full system within which the organisation exists: industry, economy, regulation, technology, social context and physical environment. Strategy only makes sense within a defined environment."</a:t>
            </a:r>
          </a:p>
          <a:p>
            <a:r>
              <a:rPr lang="en-US" dirty="0"/>
              <a:t>Name the four questions the group answers:</a:t>
            </a:r>
          </a:p>
          <a:p>
            <a:r>
              <a:rPr lang="en-US" dirty="0"/>
              <a:t>1. What is the defined operating context for this strategy?</a:t>
            </a:r>
          </a:p>
          <a:p>
            <a:r>
              <a:rPr lang="en-US" dirty="0"/>
              <a:t>2. Which industry and market conditions shape it?</a:t>
            </a:r>
          </a:p>
          <a:p>
            <a:r>
              <a:rPr lang="en-US" dirty="0"/>
              <a:t>3. Which regulatory, technological and social conditions matter?</a:t>
            </a:r>
          </a:p>
          <a:p>
            <a:r>
              <a:rPr lang="en-US" dirty="0"/>
              <a:t>4. Where would this strategy stop making sense if the context changed?</a:t>
            </a:r>
          </a:p>
          <a:p>
            <a:r>
              <a:rPr lang="en-US" dirty="0"/>
              <a:t>Put question 4 to one or two participants, for their own organisation, and take a short answer.</a:t>
            </a:r>
          </a:p>
          <a:p>
            <a:r>
              <a:rPr lang="en-US" dirty="0"/>
              <a:t>Set the standard, say: "A strong answer defines the context and faces the fourth question: where would this strategy stop making sense if the context changed?"</a:t>
            </a:r>
          </a:p>
          <a:p>
            <a:endParaRPr lang="en-US" dirty="0"/>
          </a:p>
          <a:p>
            <a:r>
              <a:rPr lang="en-US" b="1" dirty="0"/>
              <a:t>5. Give the groups two things to hold on to.</a:t>
            </a:r>
          </a:p>
          <a:p>
            <a:r>
              <a:rPr lang="en-US" dirty="0"/>
              <a:t>Say: "Check SUSTAINS VALUE against THE FORCES. The approach to sustaining value must respond to the forces within the operating environment."</a:t>
            </a:r>
          </a:p>
          <a:p>
            <a:r>
              <a:rPr lang="en-US" dirty="0"/>
              <a:t>Say: "Check WHEN against these three elements. Timing and sequencing must reflect the realities of the organisation’s capability and environment."</a:t>
            </a:r>
          </a:p>
          <a:p>
            <a:endParaRPr lang="en-US" dirty="0"/>
          </a:p>
          <a:p>
            <a:r>
              <a:rPr lang="en-US" b="1" dirty="0"/>
              <a:t>6. Bridge to the next slide.</a:t>
            </a:r>
          </a:p>
          <a:p>
            <a:r>
              <a:rPr lang="en-US" dirty="0"/>
              <a:t>Say: "When element 14 is confirmed, the count reads 14 of 14 and the Strategy Architecture output opens. The next slide shows that output."</a:t>
            </a:r>
          </a:p>
          <a:p>
            <a:endParaRPr lang="en-US" dirty="0"/>
          </a:p>
          <a:p>
            <a:r>
              <a:rPr lang="en-US" b="1" dirty="0"/>
              <a:t>LATER, WHEN THE GROUPS DO THE WORK ON THE PORTAL:</a:t>
            </a:r>
          </a:p>
          <a:p>
            <a:r>
              <a:rPr lang="en-US" dirty="0"/>
              <a:t>- 12 · NAVIGATING: watch for sensing with no route into decisions.</a:t>
            </a:r>
          </a:p>
          <a:p>
            <a:r>
              <a:rPr lang="en-US" dirty="0"/>
              <a:t>- 13 · THE FORCES: watch for a generic list of forces. The 1.1 concept THE FORCES (slide 7) also names internal forces: culture, behaviour patterns, institutional habits and legacy identity. Ask where these appear in the group’s answers.</a:t>
            </a:r>
          </a:p>
          <a:p>
            <a:r>
              <a:rPr lang="en-US" dirty="0"/>
              <a:t>- 14 · OPERATING ENVIRONMENT: watch for a context left undefined.</a:t>
            </a:r>
          </a:p>
          <a:p>
            <a:r>
              <a:rPr lang="en-US" dirty="0"/>
              <a:t>- Ask where a force can be used to advantage. The third NAVIGATING question treats external forces as something the organisation can put to use.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THE STRATEGY ARCHITECTURE OUTPUT</a:t>
            </a:r>
          </a:p>
          <a:p>
            <a:endParaRPr lang="en-US" dirty="0"/>
          </a:p>
          <a:p>
            <a:r>
              <a:rPr lang="en-US" b="1" dirty="0"/>
              <a:t>HOW TO TEACH IT:</a:t>
            </a:r>
          </a:p>
          <a:p>
            <a:endParaRPr lang="en-US" dirty="0"/>
          </a:p>
          <a:p>
            <a:r>
              <a:rPr lang="en-US" b="1" dirty="0"/>
              <a:t>1. Say what happens at 14 of 14.</a:t>
            </a:r>
          </a:p>
          <a:p>
            <a:r>
              <a:rPr lang="en-US" dirty="0"/>
              <a:t>Say: "Once all 14 elements have been completed, your group steps back from the individual responses and examines them as one strategic system."</a:t>
            </a:r>
          </a:p>
          <a:p>
            <a:endParaRPr lang="en-US" dirty="0"/>
          </a:p>
          <a:p>
            <a:r>
              <a:rPr lang="en-US" b="1" dirty="0"/>
              <a:t>2. Give the question the group asks itself, from the foot of the slide.</a:t>
            </a:r>
          </a:p>
          <a:p>
            <a:r>
              <a:rPr lang="en-US" dirty="0"/>
              <a:t>Say: "Your group then asks itself: What is this architecture collectively saying about the organisation’s strategy?"</a:t>
            </a:r>
          </a:p>
          <a:p>
            <a:endParaRPr lang="en-US" dirty="0"/>
          </a:p>
          <a:p>
            <a:r>
              <a:rPr lang="en-US" b="1" dirty="0"/>
              <a:t>3. Show the five headings on the slide.</a:t>
            </a:r>
          </a:p>
          <a:p>
            <a:r>
              <a:rPr lang="en-US" dirty="0"/>
              <a:t>Say: "The output brings the 14 confirmed elements together under five headings. Your group refines the text until it accurately represents the organisation's strategic architecture."</a:t>
            </a:r>
          </a:p>
          <a:p>
            <a:r>
              <a:rPr lang="en-US" dirty="0"/>
              <a:t>- Strategic Position: WHAT · WHY</a:t>
            </a:r>
          </a:p>
          <a:p>
            <a:r>
              <a:rPr lang="en-US" dirty="0"/>
              <a:t>- Strategic Model: HOW · WHEN</a:t>
            </a:r>
          </a:p>
          <a:p>
            <a:r>
              <a:rPr lang="en-US" dirty="0"/>
              <a:t>- Value Architecture: CREATES VALUE · DELIVERS VALUE · SUSTAINS VALUE · STAKEHOLDERS</a:t>
            </a:r>
          </a:p>
          <a:p>
            <a:r>
              <a:rPr lang="en-US" dirty="0"/>
              <a:t>- Strategic Navigation: NAVIGATING · THE FORCES · OPERATING ENVIRONMENT</a:t>
            </a:r>
          </a:p>
          <a:p>
            <a:r>
              <a:rPr lang="en-US" dirty="0"/>
              <a:t>- Strategy Discipline: ITERATIVE · THINKING &amp; LOGIC · PROCESS</a:t>
            </a:r>
          </a:p>
          <a:p>
            <a:endParaRPr lang="en-US" dirty="0"/>
          </a:p>
          <a:p>
            <a:r>
              <a:rPr lang="en-US" b="1" dirty="0"/>
              <a:t>4. Say what the output must do.</a:t>
            </a:r>
          </a:p>
          <a:p>
            <a:r>
              <a:rPr lang="en-US" dirty="0"/>
              <a:t>Say: "The output should bring together the major strategic choices and logic revealed through the 14 elements. It should be sufficiently detailed to preserve the thinking underneath the strategy while showing how the different choices connect."</a:t>
            </a:r>
          </a:p>
          <a:p>
            <a:r>
              <a:rPr lang="en-US" dirty="0"/>
              <a:t>Deepen, say: "A sound strategy is defined clearly enough that a new leader can step in and continue execution. A defined strategic position creates value only when the organisation translates intent into deliberate, consistent action."</a:t>
            </a:r>
          </a:p>
          <a:p>
            <a:r>
              <a:rPr lang="en-US" dirty="0"/>
              <a:t>(Insight: Personality-dependent strategy. Source: Journal, 3 April 2026 — Professional Insights: Strategy)</a:t>
            </a:r>
          </a:p>
          <a:p>
            <a:endParaRPr lang="en-US" dirty="0"/>
          </a:p>
          <a:p>
            <a:r>
              <a:rPr lang="en-US" b="1" dirty="0"/>
              <a:t>5. Bridge to the next slide.</a:t>
            </a:r>
          </a:p>
          <a:p>
            <a:r>
              <a:rPr lang="en-US" dirty="0"/>
              <a:t>Say: "Before the output is confirmed, your group runs six checks. They are on the next slide."</a:t>
            </a:r>
          </a:p>
          <a:p>
            <a:endParaRPr lang="en-US" dirty="0"/>
          </a:p>
          <a:p>
            <a:r>
              <a:rPr lang="en-US" b="1" dirty="0"/>
              <a:t>LATER, WHEN THE GROUPS DO THE WORK ON THE PORTAL:</a:t>
            </a:r>
          </a:p>
          <a:p>
            <a:r>
              <a:rPr lang="en-US" dirty="0"/>
              <a:t>- When a group reaches 14 of 14, ask it to stop writing. One member reads the confirmed positions aloud from first to last, with no editing.</a:t>
            </a:r>
          </a:p>
          <a:p>
            <a:r>
              <a:rPr lang="en-US" dirty="0"/>
              <a:t>- Ask: "What is this architecture collectively saying about the organisation’s strategy?" Let two or three members answer in their own words.</a:t>
            </a:r>
          </a:p>
          <a:p>
            <a:r>
              <a:rPr lang="en-US" dirty="0"/>
              <a:t>- Listen for an output that reads as 14 separate answers. Ask which choices depend on one another and have the connection written in.</a:t>
            </a:r>
          </a:p>
          <a:p>
            <a:r>
              <a:rPr lang="en-US" dirty="0"/>
              <a:t>- Listen for detail stripped out to make the output shorter. Say: "The Architecture is the place for depth. The Strategy Intent Statement is the place for clarity."</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SIX CHECKS BEFORE FINALISING</a:t>
            </a:r>
          </a:p>
          <a:p>
            <a:endParaRPr lang="en-US" dirty="0"/>
          </a:p>
          <a:p>
            <a:r>
              <a:rPr lang="en-US" b="1" dirty="0"/>
              <a:t>HOW TO TEACH IT:</a:t>
            </a:r>
          </a:p>
          <a:p>
            <a:endParaRPr lang="en-US" dirty="0"/>
          </a:p>
          <a:p>
            <a:r>
              <a:rPr lang="en-US" b="1" dirty="0"/>
              <a:t>1. Introduce the checks.</a:t>
            </a:r>
          </a:p>
          <a:p>
            <a:r>
              <a:rPr lang="en-US" dirty="0"/>
              <a:t>Say: "Before finalising your Strategy Architecture output, your group checks six things."</a:t>
            </a:r>
          </a:p>
          <a:p>
            <a:endParaRPr lang="en-US" dirty="0"/>
          </a:p>
          <a:p>
            <a:r>
              <a:rPr lang="en-US" b="1" dirty="0"/>
              <a:t>2. Check 1.</a:t>
            </a:r>
          </a:p>
          <a:p>
            <a:r>
              <a:rPr lang="en-US" dirty="0"/>
              <a:t>Read from the slide: "Do our choices reinforce one another?"</a:t>
            </a:r>
          </a:p>
          <a:p>
            <a:r>
              <a:rPr lang="en-US" dirty="0"/>
              <a:t>Say how the group checks: "Read the Strategic Position (WHAT, WHY) against the Strategic Model (HOW, WHEN)."</a:t>
            </a:r>
          </a:p>
          <a:p>
            <a:endParaRPr lang="en-US" dirty="0"/>
          </a:p>
          <a:p>
            <a:r>
              <a:rPr lang="en-US" b="1" dirty="0"/>
              <a:t>3. Check 2.</a:t>
            </a:r>
          </a:p>
          <a:p>
            <a:r>
              <a:rPr lang="en-US" dirty="0"/>
              <a:t>Read from the slide: "Where are there contradictions or unresolved tensions?"</a:t>
            </a:r>
          </a:p>
          <a:p>
            <a:r>
              <a:rPr lang="en-US" dirty="0"/>
              <a:t>Say how the group checks: "Each of you names one. Resolve it in the element concerned before you confirm."</a:t>
            </a:r>
          </a:p>
          <a:p>
            <a:endParaRPr lang="en-US" dirty="0"/>
          </a:p>
          <a:p>
            <a:r>
              <a:rPr lang="en-US" b="1" dirty="0"/>
              <a:t>4. Check 3.</a:t>
            </a:r>
          </a:p>
          <a:p>
            <a:r>
              <a:rPr lang="en-US" dirty="0"/>
              <a:t>Read from the slide: "Does our HOW support what we have chosen to achieve?"</a:t>
            </a:r>
          </a:p>
          <a:p>
            <a:r>
              <a:rPr lang="en-US" dirty="0"/>
              <a:t>Say how the group checks: "Read element 6 against elements 4 and 8."</a:t>
            </a:r>
          </a:p>
          <a:p>
            <a:endParaRPr lang="en-US" dirty="0"/>
          </a:p>
          <a:p>
            <a:r>
              <a:rPr lang="en-US" b="1" dirty="0"/>
              <a:t>5. Check 4.</a:t>
            </a:r>
          </a:p>
          <a:p>
            <a:r>
              <a:rPr lang="en-US" dirty="0"/>
              <a:t>Read from the slide: "Does our timing and sequencing reflect the realities of our capability and environment?"</a:t>
            </a:r>
          </a:p>
          <a:p>
            <a:r>
              <a:rPr lang="en-US" dirty="0"/>
              <a:t>Say how the group checks: "Read element 7 against elements 6, 13 and 14."</a:t>
            </a:r>
          </a:p>
          <a:p>
            <a:endParaRPr lang="en-US" dirty="0"/>
          </a:p>
          <a:p>
            <a:r>
              <a:rPr lang="en-US" b="1" dirty="0"/>
              <a:t>6. Check 5.</a:t>
            </a:r>
          </a:p>
          <a:p>
            <a:r>
              <a:rPr lang="en-US" dirty="0"/>
              <a:t>Read from the slide: "Have we addressed how value will be created, delivered and sustained?"</a:t>
            </a:r>
          </a:p>
          <a:p>
            <a:r>
              <a:rPr lang="en-US" dirty="0"/>
              <a:t>Say how the group checks: "Read elements 8, 9 and 10 side by side. Look hardest at element 10."</a:t>
            </a:r>
          </a:p>
          <a:p>
            <a:endParaRPr lang="en-US" dirty="0"/>
          </a:p>
          <a:p>
            <a:r>
              <a:rPr lang="en-US" b="1" dirty="0"/>
              <a:t>7. Check 6.</a:t>
            </a:r>
          </a:p>
          <a:p>
            <a:r>
              <a:rPr lang="en-US" dirty="0"/>
              <a:t>Read from the slide: "Does the architecture represent the strategic position we collectively intend?"</a:t>
            </a:r>
          </a:p>
          <a:p>
            <a:r>
              <a:rPr lang="en-US" dirty="0"/>
              <a:t>Say how the group checks: "Each of you answers yes or no aloud."</a:t>
            </a:r>
          </a:p>
          <a:p>
            <a:endParaRPr lang="en-US" dirty="0"/>
          </a:p>
          <a:p>
            <a:r>
              <a:rPr lang="en-US" b="1" dirty="0"/>
              <a:t>8. Say what a group does when a check fails.</a:t>
            </a:r>
          </a:p>
          <a:p>
            <a:r>
              <a:rPr lang="en-US" dirty="0"/>
              <a:t>Say: "Return to the element concerned, revise it and confirm it again. Then carry the change into the text of the output."</a:t>
            </a:r>
          </a:p>
          <a:p>
            <a:endParaRPr lang="en-US" dirty="0"/>
          </a:p>
          <a:p>
            <a:r>
              <a:rPr lang="en-US" b="1" dirty="0"/>
              <a:t>9. Bridge to 4.2.</a:t>
            </a:r>
          </a:p>
          <a:p>
            <a:r>
              <a:rPr lang="en-US" dirty="0"/>
              <a:t>Say: "The completed Strategy Architecture becomes the source for Step 2. The Architecture holds the logic. Step 2 takes four of its elements, WHAT, WHY, HOW and WHEN, and crystallises them into one statement."</a:t>
            </a:r>
          </a:p>
          <a:p>
            <a:endParaRPr lang="en-US" dirty="0"/>
          </a:p>
          <a:p>
            <a:r>
              <a:rPr lang="en-US" b="1" dirty="0"/>
              <a:t>LATER, WHEN THE GROUPS DO THE WORK ON THE PORTAL:</a:t>
            </a:r>
          </a:p>
          <a:p>
            <a:r>
              <a:rPr lang="en-US" dirty="0"/>
              <a:t>- Put the six checks to the group one at a time, as questions. One member answers aloud for the group and the others agree or object.</a:t>
            </a:r>
          </a:p>
          <a:p>
            <a:r>
              <a:rPr lang="en-US" dirty="0"/>
              <a:t>- When all six checks hold, the group confirms its Strategy Architecture output. It can then be printed. Every member’s page carries the same text.</a:t>
            </a:r>
          </a:p>
          <a:p>
            <a:r>
              <a:rPr lang="en-US" dirty="0"/>
              <a:t>- Listen for contradictions left standing because resolving them is uncomfortable. Name the contradiction and ask who in the organisation would have to decide it.</a:t>
            </a:r>
          </a:p>
          <a:p>
            <a:r>
              <a:rPr lang="en-US" dirty="0"/>
              <a:t>- Listen for a yes given quickly to the sixth check. Ask the member who has spoken least.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4.2 — STEP 2: DERIVE THE STRATEGY INTENT STATEMENT (WHAT · WHY · HOW · WHEN → ONE STRATEGIC AMBITION)</a:t>
            </a:r>
          </a:p>
          <a:p>
            <a:endParaRPr lang="en-US" dirty="0"/>
          </a:p>
          <a:p>
            <a:r>
              <a:rPr lang="en-US" b="1" dirty="0"/>
              <a:t>HOW TO TEACH IT:</a:t>
            </a:r>
          </a:p>
          <a:p>
            <a:endParaRPr lang="en-US" dirty="0"/>
          </a:p>
          <a:p>
            <a:r>
              <a:rPr lang="en-US" b="1" dirty="0"/>
              <a:t>1. State the step.</a:t>
            </a:r>
          </a:p>
          <a:p>
            <a:r>
              <a:rPr lang="en-US" dirty="0"/>
              <a:t>Say: "With the Strategy Architecture established, each group now crystallises that thinking into a Strategy Intent Statement. The Architecture contains the depth. The Intent must provide the clarity."</a:t>
            </a:r>
          </a:p>
          <a:p>
            <a:endParaRPr lang="en-US" dirty="0"/>
          </a:p>
          <a:p>
            <a:r>
              <a:rPr lang="en-US" b="1" dirty="0"/>
              <a:t>2. Bring forward the four dimensions on the slide.</a:t>
            </a:r>
          </a:p>
          <a:p>
            <a:r>
              <a:rPr lang="en-US" dirty="0"/>
              <a:t>Say: "These are the four dimensions already established through your architecture. They are your group’s own answers to elements 4 to 7."</a:t>
            </a:r>
          </a:p>
          <a:p>
            <a:r>
              <a:rPr lang="en-US" dirty="0"/>
              <a:t>- WHAT — the value the organisation has chosen to create and its field of play.</a:t>
            </a:r>
          </a:p>
          <a:p>
            <a:r>
              <a:rPr lang="en-US" dirty="0"/>
              <a:t>- WHY — the rationale for those choices and why they matter.</a:t>
            </a:r>
          </a:p>
          <a:p>
            <a:r>
              <a:rPr lang="en-US" dirty="0"/>
              <a:t>- HOW — the operating model, capabilities and mechanisms through which the value will be delivered.</a:t>
            </a:r>
          </a:p>
          <a:p>
            <a:r>
              <a:rPr lang="en-US" dirty="0"/>
              <a:t>- WHEN — the timing, sequencing and strategic moves through which the ambition will be pursued.</a:t>
            </a:r>
          </a:p>
          <a:p>
            <a:endParaRPr lang="en-US" dirty="0"/>
          </a:p>
          <a:p>
            <a:r>
              <a:rPr lang="en-US" b="1" dirty="0"/>
              <a:t>3. Give the task.</a:t>
            </a:r>
          </a:p>
          <a:p>
            <a:r>
              <a:rPr lang="en-US" dirty="0"/>
              <a:t>Say: "Review these four dimensions together and derive one crisp Strategy Intent Statement."</a:t>
            </a:r>
          </a:p>
          <a:p>
            <a:endParaRPr lang="en-US" dirty="0"/>
          </a:p>
          <a:p>
            <a:r>
              <a:rPr lang="en-US" b="1" dirty="0"/>
              <a:t>4. Protect the Intent from becoming overloaded.</a:t>
            </a:r>
          </a:p>
          <a:p>
            <a:r>
              <a:rPr lang="en-US" dirty="0"/>
              <a:t>Say: "You may want to carry every important point from the Architecture into the statement. The Architecture already holds that detail. The Strategy Intent Statement crystallises the ambition. The Architecture keeps the detail."</a:t>
            </a:r>
          </a:p>
          <a:p>
            <a:endParaRPr lang="en-US" dirty="0"/>
          </a:p>
          <a:p>
            <a:r>
              <a:rPr lang="en-US" b="1" dirty="0"/>
              <a:t>5. Set the standard.</a:t>
            </a:r>
          </a:p>
          <a:p>
            <a:r>
              <a:rPr lang="en-US" dirty="0"/>
              <a:t>Say: "A strong Intent should allow a leader to understand the organisation's strategic position without needing a paragraph of explanation."</a:t>
            </a:r>
          </a:p>
          <a:p>
            <a:r>
              <a:rPr lang="en-US" dirty="0"/>
              <a:t>Add: "A strong statement carries all four dimensions: the value chosen and the field of play, the rationale, the mechanism and the timing. It is crisp, directional and easy to express."</a:t>
            </a:r>
          </a:p>
          <a:p>
            <a:r>
              <a:rPr lang="en-US" dirty="0"/>
              <a:t>Deepen, say: "What the people who carry a strategy have understood and internalised survives the loss of any document. Build the strategy into their knowledge and conviction."</a:t>
            </a:r>
          </a:p>
          <a:p>
            <a:r>
              <a:rPr lang="en-US" dirty="0"/>
              <a:t>(Insight: Strategy carried by people. Source: Journal, 16 February 2026 — Professional Insights: Strategy)</a:t>
            </a:r>
          </a:p>
          <a:p>
            <a:endParaRPr lang="en-US" dirty="0"/>
          </a:p>
          <a:p>
            <a:r>
              <a:rPr lang="en-US" b="1" dirty="0"/>
              <a:t>6. Give the confirmation question, from the foot of the slide.</a:t>
            </a:r>
          </a:p>
          <a:p>
            <a:r>
              <a:rPr lang="en-US" dirty="0"/>
              <a:t>Say: "Once the statement is drafted, read it against your completed Architecture and confirm: Does this statement faithfully express the strategic ambition contained in our Architecture?"</a:t>
            </a:r>
          </a:p>
          <a:p>
            <a:endParaRPr lang="en-US" dirty="0"/>
          </a:p>
          <a:p>
            <a:r>
              <a:rPr lang="en-US" b="1" dirty="0"/>
              <a:t>7. Say what a group does when the statement exposes a contradiction.</a:t>
            </a:r>
          </a:p>
          <a:p>
            <a:r>
              <a:rPr lang="en-US" dirty="0"/>
              <a:t>Say: "Where the statement exposes a contradiction in the Architecture, resolve the underlying contradiction before finalising the Intent."</a:t>
            </a:r>
          </a:p>
          <a:p>
            <a:endParaRPr lang="en-US" dirty="0"/>
          </a:p>
          <a:p>
            <a:r>
              <a:rPr lang="en-US" b="1" dirty="0"/>
              <a:t>8. Bridge to 4.3.</a:t>
            </a:r>
          </a:p>
          <a:p>
            <a:r>
              <a:rPr lang="en-US" dirty="0"/>
              <a:t>Say: "The confirmed Strategy Intent becomes the source for Step 3."</a:t>
            </a:r>
          </a:p>
          <a:p>
            <a:endParaRPr lang="en-US" dirty="0"/>
          </a:p>
          <a:p>
            <a:r>
              <a:rPr lang="en-US" b="1" dirty="0"/>
              <a:t>ON THE PORTAL, AFTER THE TEACHING:</a:t>
            </a:r>
          </a:p>
          <a:p>
            <a:r>
              <a:rPr lang="en-US" dirty="0"/>
              <a:t>In 4.2 of the participant file each group sees its own answers for WHAT, WHY, HOW and WHEN, deduces one crisp Strategy Intent Statement from them and types it in. The group confirms the statement. It can then be printed. Every member types the agreed statement into their own page.</a:t>
            </a:r>
          </a:p>
          <a:p>
            <a:endParaRPr lang="en-US" dirty="0"/>
          </a:p>
          <a:p>
            <a:r>
              <a:rPr lang="en-US" b="1" dirty="0"/>
              <a:t>LATER, WHEN THE GROUPS DO THE WORK ON THE PORTAL:</a:t>
            </a:r>
          </a:p>
          <a:p>
            <a:r>
              <a:rPr lang="en-US" dirty="0"/>
              <a:t>- One member reads the group’s four answers aloud as one passage.</a:t>
            </a:r>
          </a:p>
          <a:p>
            <a:r>
              <a:rPr lang="en-US" dirty="0"/>
              <a:t>- A useful way in: each member proposes a version of the statement aloud, and the group builds from the strongest.</a:t>
            </a:r>
          </a:p>
          <a:p>
            <a:r>
              <a:rPr lang="en-US" dirty="0"/>
              <a:t>- Ask: "Which words in this statement could go back into the Architecture with nothing lost?"</a:t>
            </a:r>
          </a:p>
          <a:p>
            <a:r>
              <a:rPr lang="en-US" dirty="0"/>
              <a:t>- Test the statement. Ask one member to read it to you with no explanation. Say back the strategic position you understood. The group hears at once whether the statement carries it.</a:t>
            </a:r>
          </a:p>
          <a:p>
            <a:r>
              <a:rPr lang="en-US" dirty="0"/>
              <a:t>- Listen for a statement that names WHAT and WHY and is silent on HOW and WHEN.</a:t>
            </a:r>
          </a:p>
          <a:p>
            <a:r>
              <a:rPr lang="en-US" dirty="0"/>
              <a:t>- Listen for wording chosen because it sounds impressive. Ask what the phrase commits the organisation to.</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4.3 — STEP 3: BUILD SUCCESS IN PRACTICE · THE FOUR DOMAINS</a:t>
            </a:r>
          </a:p>
          <a:p>
            <a:endParaRPr lang="en-US" dirty="0"/>
          </a:p>
          <a:p>
            <a:r>
              <a:rPr lang="en-US" b="1" dirty="0"/>
              <a:t>HOW TO TEACH IT:</a:t>
            </a:r>
          </a:p>
          <a:p>
            <a:endParaRPr lang="en-US" dirty="0"/>
          </a:p>
          <a:p>
            <a:r>
              <a:rPr lang="en-US" b="1" dirty="0"/>
              <a:t>1. Link the step to the one before it.</a:t>
            </a:r>
          </a:p>
          <a:p>
            <a:r>
              <a:rPr lang="en-US" dirty="0"/>
              <a:t>Say: "The Strategy Intent Statement establishes the ambition. Each group now defines what must be seen, experienced and executed for that ambition to become reality within the agreed time horizon."</a:t>
            </a:r>
          </a:p>
          <a:p>
            <a:endParaRPr lang="en-US" dirty="0"/>
          </a:p>
          <a:p>
            <a:r>
              <a:rPr lang="en-US" b="1" dirty="0"/>
              <a:t>2. Position the group inside the future.</a:t>
            </a:r>
          </a:p>
          <a:p>
            <a:r>
              <a:rPr lang="en-US" dirty="0"/>
              <a:t>Say: "Stand inside the future described by your Strategy Intent. One central question guides the work: If our Strategy Intent is successful, what should we see in practice?"</a:t>
            </a:r>
          </a:p>
          <a:p>
            <a:r>
              <a:rPr lang="en-US" dirty="0"/>
              <a:t>Deepen, say: "Long-term direction sometimes requires acting on a credible promise before the outcomes are visible, while still facing current facts honestly."</a:t>
            </a:r>
          </a:p>
          <a:p>
            <a:r>
              <a:rPr lang="en-US" dirty="0"/>
              <a:t>(Insight: Credible promise, honest facts. Source: Journal, 17 August 2026 — Professional Insights: Strategy)</a:t>
            </a:r>
          </a:p>
          <a:p>
            <a:endParaRPr lang="en-US" dirty="0"/>
          </a:p>
          <a:p>
            <a:r>
              <a:rPr lang="en-US" b="1" dirty="0"/>
              <a:t>3. Explain the method.</a:t>
            </a:r>
          </a:p>
          <a:p>
            <a:r>
              <a:rPr lang="en-US" dirty="0"/>
              <a:t>Say: "Your group works through the four SiP domains. In each domain you answer three input questions, then derive one statement for the domain from your answers. The statement describes what is happening when the Strategy Intent is working."</a:t>
            </a:r>
          </a:p>
          <a:p>
            <a:endParaRPr lang="en-US" dirty="0"/>
          </a:p>
          <a:p>
            <a:r>
              <a:rPr lang="en-US" b="1" dirty="0"/>
              <a:t>4. D1 · Customer Experience &amp; Value.</a:t>
            </a:r>
          </a:p>
          <a:p>
            <a:r>
              <a:rPr lang="en-US" dirty="0"/>
              <a:t>Say: "Describe what customers and other value recipients experience when the Strategy Intent is working. Use the observable indicators explored in Section 3 to deepen the discussion where useful, but keep your group’s final output focused on your own Strategy Intent. Your group produces one Customer Experience &amp; Value statement."</a:t>
            </a:r>
          </a:p>
          <a:p>
            <a:r>
              <a:rPr lang="en-US" dirty="0"/>
              <a:t>Give the lead question (the slide shows it in short form): "If the intent succeeds, what should customers and other value recipients see and experience?"</a:t>
            </a:r>
          </a:p>
          <a:p>
            <a:r>
              <a:rPr lang="en-US" dirty="0"/>
              <a:t>Name the three input questions the group answers:</a:t>
            </a:r>
          </a:p>
          <a:p>
            <a:r>
              <a:rPr lang="en-US" dirty="0"/>
              <a:t>1. What will customers or value recipients experience differently?</a:t>
            </a:r>
          </a:p>
          <a:p>
            <a:r>
              <a:rPr lang="en-US" dirty="0"/>
              <a:t>2. What value or result will they consistently receive?</a:t>
            </a:r>
          </a:p>
          <a:p>
            <a:r>
              <a:rPr lang="en-US" dirty="0"/>
              <a:t>3. What observable evidence will tell us this is true?</a:t>
            </a:r>
          </a:p>
          <a:p>
            <a:endParaRPr lang="en-US" dirty="0"/>
          </a:p>
          <a:p>
            <a:r>
              <a:rPr lang="en-US" b="1" dirty="0"/>
              <a:t>5. D2 · Operational Capability &amp; Execution Rhythm.</a:t>
            </a:r>
          </a:p>
          <a:p>
            <a:r>
              <a:rPr lang="en-US" dirty="0"/>
              <a:t>Say: "Describe how the organisation operates, coordinates, delivers and adapts when the capabilities required by the Strategy Intent are functioning effectively. Your group produces one Operational Capability &amp; Execution Rhythm statement."</a:t>
            </a:r>
          </a:p>
          <a:p>
            <a:r>
              <a:rPr lang="en-US" dirty="0"/>
              <a:t>Give the lead question (the slide shows it in short form): "If the intent succeeds, what should be visible in how the organisation operates and executes?"</a:t>
            </a:r>
          </a:p>
          <a:p>
            <a:r>
              <a:rPr lang="en-US" dirty="0"/>
              <a:t>Name the three input questions the group answers:</a:t>
            </a:r>
          </a:p>
          <a:p>
            <a:r>
              <a:rPr lang="en-US" dirty="0"/>
              <a:t>1. What capabilities and operating conditions will be functioning effectively?</a:t>
            </a:r>
          </a:p>
          <a:p>
            <a:r>
              <a:rPr lang="en-US" dirty="0"/>
              <a:t>2. How will priorities, decisions, coordination and delivery work in practice?</a:t>
            </a:r>
          </a:p>
          <a:p>
            <a:r>
              <a:rPr lang="en-US" dirty="0"/>
              <a:t>3. What observable evidence will show that execution is working?</a:t>
            </a:r>
          </a:p>
          <a:p>
            <a:endParaRPr lang="en-US" dirty="0"/>
          </a:p>
          <a:p>
            <a:r>
              <a:rPr lang="en-US" b="1" dirty="0"/>
              <a:t>6. D3 · People &amp; Culture Dynamics.</a:t>
            </a:r>
          </a:p>
          <a:p>
            <a:r>
              <a:rPr lang="en-US" dirty="0"/>
              <a:t>Say: "Describe how people understand the Strategy Intent, make decisions, collaborate, take ownership and behave when the intent is embedded in organisational practice. Your group produces one People &amp; Culture Dynamics statement."</a:t>
            </a:r>
          </a:p>
          <a:p>
            <a:r>
              <a:rPr lang="en-US" dirty="0"/>
              <a:t>Give the lead question (the slide shows it in short form): "If the intent succeeds, what should be visible in how people understand, decide and behave?"</a:t>
            </a:r>
          </a:p>
          <a:p>
            <a:r>
              <a:rPr lang="en-US" dirty="0"/>
              <a:t>Name the three input questions the group answers:</a:t>
            </a:r>
          </a:p>
          <a:p>
            <a:r>
              <a:rPr lang="en-US" dirty="0"/>
              <a:t>1. What will people understand about the strategic intent and their contribution?</a:t>
            </a:r>
          </a:p>
          <a:p>
            <a:r>
              <a:rPr lang="en-US" dirty="0"/>
              <a:t>2. How will people decide, collaborate, take ownership and behave?</a:t>
            </a:r>
          </a:p>
          <a:p>
            <a:r>
              <a:rPr lang="en-US" dirty="0"/>
              <a:t>3. What observable evidence will show that these conditions are embedded?</a:t>
            </a:r>
          </a:p>
          <a:p>
            <a:endParaRPr lang="en-US" dirty="0"/>
          </a:p>
          <a:p>
            <a:r>
              <a:rPr lang="en-US" b="1" dirty="0"/>
              <a:t>7. D4 · Enterprise Value Creation.</a:t>
            </a:r>
          </a:p>
          <a:p>
            <a:r>
              <a:rPr lang="en-US" dirty="0"/>
              <a:t>Say: "Describe how the organisation is benefiting across the measures of enterprise success that matter to this Strategy Intent. Your group produces one Enterprise Value Creation statement."</a:t>
            </a:r>
          </a:p>
          <a:p>
            <a:r>
              <a:rPr lang="en-US" dirty="0"/>
              <a:t>Give the lead question (the slide shows it in short form): "If the intent succeeds, how should the organisation benefit across its success metrics?"</a:t>
            </a:r>
          </a:p>
          <a:p>
            <a:r>
              <a:rPr lang="en-US" dirty="0"/>
              <a:t>Name the three input questions the group answers:</a:t>
            </a:r>
          </a:p>
          <a:p>
            <a:r>
              <a:rPr lang="en-US" dirty="0"/>
              <a:t>1. What enterprise outcomes should improve as a result of the strategy?</a:t>
            </a:r>
          </a:p>
          <a:p>
            <a:r>
              <a:rPr lang="en-US" dirty="0"/>
              <a:t>2. What strategic or market position should the organisation achieve?</a:t>
            </a:r>
          </a:p>
          <a:p>
            <a:r>
              <a:rPr lang="en-US" dirty="0"/>
              <a:t>3. What evidence will show that value is being sustained within the time horizon?</a:t>
            </a:r>
          </a:p>
          <a:p>
            <a:endParaRPr lang="en-US" dirty="0"/>
          </a:p>
          <a:p>
            <a:r>
              <a:rPr lang="en-US" b="1" dirty="0"/>
              <a:t>8. Bridge to the next slide.</a:t>
            </a:r>
          </a:p>
          <a:p>
            <a:r>
              <a:rPr lang="en-US" dirty="0"/>
              <a:t>Say: "Four statements, one for each domain. The next slide shows how your group confirms and tests them."</a:t>
            </a:r>
          </a:p>
          <a:p>
            <a:endParaRPr lang="en-US" dirty="0"/>
          </a:p>
          <a:p>
            <a:r>
              <a:rPr lang="en-US" b="1" dirty="0"/>
              <a:t>ON THE PORTAL, AFTER THE TEACHING:</a:t>
            </a:r>
          </a:p>
          <a:p>
            <a:r>
              <a:rPr lang="en-US" dirty="0"/>
              <a:t>In 4.3 of the participant file, for each SiP domain the group:</a:t>
            </a:r>
          </a:p>
          <a:p>
            <a:r>
              <a:rPr lang="en-US" dirty="0"/>
              <a:t>answers the three input questions;</a:t>
            </a:r>
          </a:p>
          <a:p>
            <a:r>
              <a:rPr lang="en-US" dirty="0"/>
              <a:t>derives one statement for the domain from those answers and types it in;</a:t>
            </a:r>
          </a:p>
          <a:p>
            <a:r>
              <a:rPr lang="en-US" dirty="0"/>
              <a:t>confirms the statement.</a:t>
            </a:r>
          </a:p>
          <a:p>
            <a:r>
              <a:rPr lang="en-US" dirty="0"/>
              <a:t>The group writes every statement, and every member types the agreed entries into their own page. When all four statements are confirmed, they appear together, numbered 1 to 4, as the group's Success in Practice. The group confirms it. It can then print its three outputs as one report: the Strategy Intent Design.</a:t>
            </a:r>
          </a:p>
          <a:p>
            <a:endParaRPr lang="en-US" dirty="0"/>
          </a:p>
          <a:p>
            <a:r>
              <a:rPr lang="en-US" b="1" dirty="0"/>
              <a:t>LATER, WHEN THE GROUPS DO THE WORK ON THE PORTAL:</a:t>
            </a:r>
          </a:p>
          <a:p>
            <a:r>
              <a:rPr lang="en-US" dirty="0"/>
              <a:t>- One member reads the group’s confirmed Strategy Intent Statement aloud before the group starts.</a:t>
            </a:r>
          </a:p>
          <a:p>
            <a:r>
              <a:rPr lang="en-US" dirty="0"/>
              <a:t>- Listen for initiatives, projects and activities written as success. Ask: "When that has worked, what do we see?"</a:t>
            </a:r>
          </a:p>
          <a:p>
            <a:r>
              <a:rPr lang="en-US" dirty="0"/>
              <a:t>- Listen for a third input question left thin. Observable evidence is what makes a statement testable.</a:t>
            </a:r>
          </a:p>
          <a:p>
            <a:r>
              <a:rPr lang="en-US" dirty="0"/>
              <a:t>- Listen for a domain statement written by the member whose function owns that domain. Every statement belongs to the whole group.</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4.3 — STEP 3: BUILD SUCCESS IN PRACTICE · CONFIRM AND TEST THE SiP</a:t>
            </a:r>
          </a:p>
          <a:p>
            <a:endParaRPr lang="en-US" dirty="0"/>
          </a:p>
          <a:p>
            <a:r>
              <a:rPr lang="en-US" b="1" dirty="0"/>
              <a:t>HOW TO TEACH IT:</a:t>
            </a:r>
          </a:p>
          <a:p>
            <a:endParaRPr lang="en-US" dirty="0"/>
          </a:p>
          <a:p>
            <a:r>
              <a:rPr lang="en-US" b="1" dirty="0"/>
              <a:t>1. Give the confirmation question for each domain, the first line on the slide.</a:t>
            </a:r>
          </a:p>
          <a:p>
            <a:r>
              <a:rPr lang="en-US" dirty="0"/>
              <a:t>Say: "After drafting each statement, pause and ask: Is this what success in this domain should look like if our Strategy Intent is realised? Refine the statement until your group confirms it."</a:t>
            </a:r>
          </a:p>
          <a:p>
            <a:endParaRPr lang="en-US" dirty="0"/>
          </a:p>
          <a:p>
            <a:r>
              <a:rPr lang="en-US" b="1" dirty="0"/>
              <a:t>2. Say why this matters.</a:t>
            </a:r>
          </a:p>
          <a:p>
            <a:r>
              <a:rPr lang="en-US" dirty="0"/>
              <a:t>Say: "This is important. The SiP should emerge from your group’s own definition of success. Generic descriptions of a successful organisation have no place in it."</a:t>
            </a:r>
          </a:p>
          <a:p>
            <a:r>
              <a:rPr lang="en-US" dirty="0"/>
              <a:t>Deepen, say: "Mission statements repeated in meetings, values cited in performance reviews and brand language recycled in communications can become substitutes for the practice of what they claim. A formula that replaces the reality is more dangerous than the honest absence of either."</a:t>
            </a:r>
          </a:p>
          <a:p>
            <a:r>
              <a:rPr lang="en-US" dirty="0"/>
              <a:t>(Insight: Formula or practice. Source: Journal, 6 February 2026 — Professional Insights: Culture)</a:t>
            </a:r>
          </a:p>
          <a:p>
            <a:endParaRPr lang="en-US" dirty="0"/>
          </a:p>
          <a:p>
            <a:r>
              <a:rPr lang="en-US" b="1" dirty="0"/>
              <a:t>3. Read the four statements as one.</a:t>
            </a:r>
          </a:p>
          <a:p>
            <a:r>
              <a:rPr lang="en-US" dirty="0"/>
              <a:t>Say: "Once all four statements are confirmed, place them together and read them as one Success in Practice."</a:t>
            </a:r>
          </a:p>
          <a:p>
            <a:endParaRPr lang="en-US" dirty="0"/>
          </a:p>
          <a:p>
            <a:r>
              <a:rPr lang="en-US" b="1" dirty="0"/>
              <a:t>4. Give the two tests from Section 3.</a:t>
            </a:r>
          </a:p>
          <a:p>
            <a:r>
              <a:rPr lang="en-US" dirty="0"/>
              <a:t>Say: "We use the two quality checks from Section 3."</a:t>
            </a:r>
          </a:p>
          <a:p>
            <a:r>
              <a:rPr lang="en-US" dirty="0"/>
              <a:t>- Depth: Is each statement specific enough that we could recognise the condition if we saw it in practice?</a:t>
            </a:r>
          </a:p>
          <a:p>
            <a:r>
              <a:rPr lang="en-US" dirty="0"/>
              <a:t>- Balance: Do the four statements collectively describe enterprise success, or has one perspective become dominant?</a:t>
            </a:r>
          </a:p>
          <a:p>
            <a:endParaRPr lang="en-US" dirty="0"/>
          </a:p>
          <a:p>
            <a:r>
              <a:rPr lang="en-US" b="1" dirty="0"/>
              <a:t>5. Name the final check.</a:t>
            </a:r>
          </a:p>
          <a:p>
            <a:r>
              <a:rPr lang="en-US" dirty="0"/>
              <a:t>Say: "Use the SiP Flammables as the final balance check."</a:t>
            </a:r>
          </a:p>
          <a:p>
            <a:r>
              <a:rPr lang="en-US" dirty="0"/>
              <a:t>Say: "Read your four statements against the four patterns of 3.2 and the indicators of each."</a:t>
            </a:r>
          </a:p>
          <a:p>
            <a:endParaRPr lang="en-US" dirty="0"/>
          </a:p>
          <a:p>
            <a:r>
              <a:rPr lang="en-US" b="1" dirty="0"/>
              <a:t>6. Close the step.</a:t>
            </a:r>
          </a:p>
          <a:p>
            <a:r>
              <a:rPr lang="en-US" dirty="0"/>
              <a:t>Say: "The four confirmed statements together become the organisation's Success in Practice."</a:t>
            </a:r>
          </a:p>
          <a:p>
            <a:endParaRPr lang="en-US" dirty="0"/>
          </a:p>
          <a:p>
            <a:r>
              <a:rPr lang="en-US" b="1" dirty="0"/>
              <a:t>7. Bridge to the next slide.</a:t>
            </a:r>
          </a:p>
          <a:p>
            <a:r>
              <a:rPr lang="en-US" dirty="0"/>
              <a:t>Say: "The last slide of Section 4 brings the three outputs together."</a:t>
            </a:r>
          </a:p>
          <a:p>
            <a:endParaRPr lang="en-US" dirty="0"/>
          </a:p>
          <a:p>
            <a:r>
              <a:rPr lang="en-US" b="1" dirty="0"/>
              <a:t>LATER, WHEN THE GROUPS DO THE WORK ON THE PORTAL:</a:t>
            </a:r>
          </a:p>
          <a:p>
            <a:r>
              <a:rPr lang="en-US" dirty="0"/>
              <a:t>- After each domain statement, the group pauses and asks the confirmation question.</a:t>
            </a:r>
          </a:p>
          <a:p>
            <a:r>
              <a:rPr lang="en-US" dirty="0"/>
              <a:t>- When all four statements are confirmed, one member reads the four aloud as one Success in Practice. The group applies the test for depth, then the test for balance.</a:t>
            </a:r>
          </a:p>
          <a:p>
            <a:r>
              <a:rPr lang="en-US" dirty="0"/>
              <a:t>- Ask the group which of the four Flammables its SiP is closest to, and have it apply the three indicators of that pattern to its statements.</a:t>
            </a:r>
          </a:p>
          <a:p>
            <a:r>
              <a:rPr lang="en-US" dirty="0"/>
              <a:t>- Where a pattern shows, use the three questions in the notes of that pattern (slides 3.2b to 3.2e). They bring the other domains back.</a:t>
            </a:r>
          </a:p>
          <a:p>
            <a:r>
              <a:rPr lang="en-US" dirty="0"/>
              <a:t>- Listen for quick confirmation of the fourth domain, late in the exercise. The fourth statement deserves the same test as the first.</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4.3 — STEP 3: BUILD SUCCESS IN PRACTICE · THREE CONNECTED OUTPUTS</a:t>
            </a:r>
          </a:p>
          <a:p>
            <a:endParaRPr lang="en-US" dirty="0"/>
          </a:p>
          <a:p>
            <a:r>
              <a:rPr lang="en-US" b="1" dirty="0"/>
              <a:t>HOW TO TEACH IT:</a:t>
            </a:r>
          </a:p>
          <a:p>
            <a:endParaRPr lang="en-US" dirty="0"/>
          </a:p>
          <a:p>
            <a:r>
              <a:rPr lang="en-US" b="1" dirty="0"/>
              <a:t>1. Show the three outputs side by side.</a:t>
            </a:r>
          </a:p>
          <a:p>
            <a:r>
              <a:rPr lang="en-US" dirty="0"/>
              <a:t>Say: "When the work is done, each group holds three connected outputs: its Strategy Architecture, its Strategy Intent Statement and its Success in Practice."</a:t>
            </a:r>
          </a:p>
          <a:p>
            <a:endParaRPr lang="en-US" dirty="0"/>
          </a:p>
          <a:p>
            <a:r>
              <a:rPr lang="en-US" b="1" dirty="0"/>
              <a:t>2. Reinforce the connection, using the three lines on the slide.</a:t>
            </a:r>
          </a:p>
          <a:p>
            <a:r>
              <a:rPr lang="en-US" dirty="0"/>
              <a:t>Say: "The Architecture provides the logic. The Intent crystallises the ambition. Success in Practice makes the ambition observable."</a:t>
            </a:r>
          </a:p>
          <a:p>
            <a:endParaRPr lang="en-US" dirty="0"/>
          </a:p>
          <a:p>
            <a:r>
              <a:rPr lang="en-US" b="1" dirty="0"/>
              <a:t>3. Say how the three are displayed.</a:t>
            </a:r>
          </a:p>
          <a:p>
            <a:r>
              <a:rPr lang="en-US" dirty="0"/>
              <a:t>Say: "Each group displays or prints the three together, as one report: the Strategy Intent Design."</a:t>
            </a:r>
          </a:p>
          <a:p>
            <a:endParaRPr lang="en-US" dirty="0"/>
          </a:p>
          <a:p>
            <a:r>
              <a:rPr lang="en-US" b="1" dirty="0"/>
              <a:t>4. Say where the outputs go.</a:t>
            </a:r>
          </a:p>
          <a:p>
            <a:r>
              <a:rPr lang="en-US" dirty="0"/>
              <a:t>Say: "These three outputs become the strategic foundation that subsequent S2R® work will carry into alignment, execution and performance."</a:t>
            </a:r>
          </a:p>
          <a:p>
            <a:endParaRPr lang="en-US" dirty="0"/>
          </a:p>
          <a:p>
            <a:r>
              <a:rPr lang="en-US" b="1" dirty="0"/>
              <a:t>5. Say how the outputs reach the Capstone.</a:t>
            </a:r>
          </a:p>
          <a:p>
            <a:r>
              <a:rPr lang="en-US" dirty="0"/>
              <a:t>Say: "Your three confirmed outputs feed your team’s Capstone Blueprint. Its Unit 2 section opens once every member of your team has completed Unit 2, and brings the three outputs in from a member’s page. Your team reads them together and confirms them there."</a:t>
            </a:r>
          </a:p>
          <a:p>
            <a:endParaRPr lang="en-US" dirty="0"/>
          </a:p>
          <a:p>
            <a:r>
              <a:rPr lang="en-US" b="1" dirty="0"/>
              <a:t>6. Bridge to Section 5.</a:t>
            </a:r>
          </a:p>
          <a:p>
            <a:r>
              <a:rPr lang="en-US" dirty="0"/>
              <a:t>Say: "Once your group has confirmed its Success in Practice, success is defined. Section 5 applies it: from your executive role, what must you contribute for this Success in Practice to become real?"</a:t>
            </a:r>
          </a:p>
          <a:p>
            <a:endParaRPr lang="en-US" dirty="0"/>
          </a:p>
          <a:p>
            <a:r>
              <a:rPr lang="en-US" b="1" dirty="0"/>
              <a:t>LATER, WHEN THE GROUPS HAVE DONE THE WORK:</a:t>
            </a:r>
          </a:p>
          <a:p>
            <a:r>
              <a:rPr lang="en-US" dirty="0"/>
              <a:t>- Each group displays or prints its three outputs together.</a:t>
            </a:r>
          </a:p>
          <a:p>
            <a:r>
              <a:rPr lang="en-US" dirty="0"/>
              <a:t>- Invite each group to read its Strategy Intent Statement to the room.</a:t>
            </a:r>
          </a:p>
          <a:p>
            <a:r>
              <a:rPr lang="en-US" dirty="0"/>
              <a:t>- After each group, ask the room: "Could you recognise this organisation if you walked into it?"</a:t>
            </a:r>
          </a:p>
          <a:p>
            <a:r>
              <a:rPr lang="en-US" dirty="0"/>
              <a:t>- Remind every member to complete their own page with the group’s agreed entries, in the session or after it, and to confirm each output on that page.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5 · APPLICATION — IN PRACTICE</a:t>
            </a:r>
          </a:p>
          <a:p>
            <a:endParaRPr lang="en-US" dirty="0"/>
          </a:p>
          <a:p>
            <a:r>
              <a:rPr lang="en-US" b="1" dirty="0"/>
              <a:t>HOW THIS SECTION RUNS:</a:t>
            </a:r>
          </a:p>
          <a:p>
            <a:r>
              <a:rPr lang="en-US" dirty="0"/>
              <a:t>1. 5.1a and 5.1b: the role contribution table, and how to write a contribution.</a:t>
            </a:r>
          </a:p>
          <a:p>
            <a:r>
              <a:rPr lang="en-US" dirty="0"/>
              <a:t>2. 5.2: the group sharing, and the four headings participants observe under.</a:t>
            </a:r>
          </a:p>
          <a:p>
            <a:r>
              <a:rPr lang="en-US" dirty="0"/>
              <a:t>3. The Section 5 Reflections slide: the reflection participants write on the portal.</a:t>
            </a:r>
          </a:p>
          <a:p>
            <a:r>
              <a:rPr lang="en-US" dirty="0"/>
              <a:t>The role rows are written on the portal after the teaching. The group sharing in 5.2 takes place once the rows are complete.</a:t>
            </a:r>
          </a:p>
          <a:p>
            <a:endParaRPr lang="en-US" dirty="0"/>
          </a:p>
          <a:p>
            <a:r>
              <a:rPr lang="en-US" b="1" dirty="0"/>
              <a:t>SECTION LEARNING OUTCOMES:</a:t>
            </a:r>
          </a:p>
          <a:p>
            <a:r>
              <a:rPr lang="en-US" dirty="0"/>
              <a:t>1. Apply the agreed Success in Practice to specific executive roles.</a:t>
            </a:r>
          </a:p>
          <a:p>
            <a:r>
              <a:rPr lang="en-US" dirty="0"/>
              <a:t>2. Define what each leadership role must contribute to make the Strategy Intent real.</a:t>
            </a:r>
          </a:p>
          <a:p>
            <a:endParaRPr lang="en-US" dirty="0"/>
          </a:p>
          <a:p>
            <a:r>
              <a:rPr lang="en-US" b="1" dirty="0"/>
              <a:t>HOW TO OPEN THE SECTION:</a:t>
            </a:r>
          </a:p>
          <a:p>
            <a:endParaRPr lang="en-US" dirty="0"/>
          </a:p>
          <a:p>
            <a:r>
              <a:rPr lang="en-US" b="1" dirty="0"/>
              <a:t>1. State the section intent.</a:t>
            </a:r>
          </a:p>
          <a:p>
            <a:r>
              <a:rPr lang="en-US" dirty="0"/>
              <a:t>Say: "This section moves you from the agreed Success in Practice into practical executive contribution."</a:t>
            </a:r>
          </a:p>
          <a:p>
            <a:endParaRPr lang="en-US" dirty="0"/>
          </a:p>
          <a:p>
            <a:r>
              <a:rPr lang="en-US" b="1" dirty="0"/>
              <a:t>2. Say what Section 4 leaves in place.</a:t>
            </a:r>
          </a:p>
          <a:p>
            <a:r>
              <a:rPr lang="en-US" dirty="0"/>
              <a:t>Say: "By the time you reach Section 5, your group has produced the Strategy Architecture, the Strategy Intent and Success in Practice. Success is already defined. The work in this section is to apply it."</a:t>
            </a:r>
          </a:p>
          <a:p>
            <a:endParaRPr lang="en-US" dirty="0"/>
          </a:p>
          <a:p>
            <a:r>
              <a:rPr lang="en-US" b="1" dirty="0"/>
              <a:t>3. Give the question of the section.</a:t>
            </a:r>
          </a:p>
          <a:p>
            <a:r>
              <a:rPr lang="en-US" dirty="0"/>
              <a:t>Say: "Each of you now asks: From my executive role, what must I contribute for this Success in Practice to become real?"</a:t>
            </a:r>
          </a:p>
          <a:p>
            <a:endParaRPr lang="en-US" dirty="0"/>
          </a:p>
          <a:p>
            <a:r>
              <a:rPr lang="en-US" b="1" dirty="0"/>
              <a:t>4. Name the shift.</a:t>
            </a:r>
          </a:p>
          <a:p>
            <a:r>
              <a:rPr lang="en-US" dirty="0"/>
              <a:t>Say: "Section 4 is collective: one group, one position. Section 5 is individual: one role, one contribution."</a:t>
            </a:r>
          </a:p>
          <a:p>
            <a:endParaRPr lang="en-US" dirty="0"/>
          </a:p>
          <a:p>
            <a:r>
              <a:rPr lang="en-US" b="1" dirty="0"/>
              <a:t>5. Say what the section shows.</a:t>
            </a:r>
          </a:p>
          <a:p>
            <a:r>
              <a:rPr lang="en-US" dirty="0"/>
              <a:t>Say: "The Application section helps your group see whether the agreed strategy is supported by clear leadership contribution, cross-functional ownership and shared accountability."</a:t>
            </a:r>
          </a:p>
          <a:p>
            <a:endParaRPr lang="en-US" dirty="0"/>
          </a:p>
          <a:p>
            <a:r>
              <a:rPr lang="en-US" b="1" dirty="0"/>
              <a:t>6. Read the two section learning outcomes from the slide.</a:t>
            </a:r>
          </a:p>
          <a:p>
            <a:endParaRPr lang="en-US" dirty="0"/>
          </a:p>
          <a:p>
            <a:r>
              <a:rPr lang="en-US" b="1" dirty="0"/>
              <a:t>7. Give the two activities in order.</a:t>
            </a:r>
          </a:p>
          <a:p>
            <a:r>
              <a:rPr lang="en-US" dirty="0"/>
              <a:t>Say: "There are two activities, in this order."</a:t>
            </a:r>
          </a:p>
          <a:p>
            <a:r>
              <a:rPr lang="en-US" dirty="0"/>
              <a:t>- 5.1 — Role Contribution to SiP: Each participant completes the table from an assigned executive role</a:t>
            </a:r>
          </a:p>
          <a:p>
            <a:r>
              <a:rPr lang="en-US" dirty="0"/>
              <a:t>- 5.2 — SiP Statement Collective Application: Each group shares its SiP statement and explains how the role contributions support it</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5.1 — ROLE CONTRIBUTION TO SiP (10 ROLES · 4 DOMAINS)</a:t>
            </a:r>
          </a:p>
          <a:p>
            <a:endParaRPr lang="en-US" dirty="0"/>
          </a:p>
          <a:p>
            <a:r>
              <a:rPr lang="en-US" b="1" dirty="0"/>
              <a:t>HOW TO TEACH IT:</a:t>
            </a:r>
          </a:p>
          <a:p>
            <a:endParaRPr lang="en-US" dirty="0"/>
          </a:p>
          <a:p>
            <a:r>
              <a:rPr lang="en-US" b="1" dirty="0"/>
              <a:t>1. State the purpose.</a:t>
            </a:r>
          </a:p>
          <a:p>
            <a:r>
              <a:rPr lang="en-US" dirty="0"/>
              <a:t>Say: "This table captures how each executive role contributes to the agreed Success in Practice."</a:t>
            </a:r>
          </a:p>
          <a:p>
            <a:endParaRPr lang="en-US" dirty="0"/>
          </a:p>
          <a:p>
            <a:r>
              <a:rPr lang="en-US" b="1" dirty="0"/>
              <a:t>2. Return to the four SiP statements.</a:t>
            </a:r>
          </a:p>
          <a:p>
            <a:r>
              <a:rPr lang="en-US" dirty="0"/>
              <a:t>Say: "Return to the four SiP statements your group produces in Section 4: Customer Experience &amp; Value · Operational Capability &amp; Execution Rhythm · People &amp; Culture Dynamics · Enterprise Value Creation."</a:t>
            </a:r>
          </a:p>
          <a:p>
            <a:r>
              <a:rPr lang="en-US" dirty="0"/>
              <a:t>Tell participants: these four statements are the reference for every entry in the table.</a:t>
            </a:r>
          </a:p>
          <a:p>
            <a:endParaRPr lang="en-US" dirty="0"/>
          </a:p>
          <a:p>
            <a:r>
              <a:rPr lang="en-US" b="1" dirty="0"/>
              <a:t>3. Put the central question on the slide to the room.</a:t>
            </a:r>
          </a:p>
          <a:p>
            <a:r>
              <a:rPr lang="en-US" dirty="0"/>
              <a:t>Say: "Each of you completes the table from the perspective of your assigned executive role. The central question: From this role, what must be contributed so that the agreed Success in Practice becomes real?"</a:t>
            </a:r>
          </a:p>
          <a:p>
            <a:endParaRPr lang="en-US" dirty="0"/>
          </a:p>
          <a:p>
            <a:r>
              <a:rPr lang="en-US" b="1" dirty="0"/>
              <a:t>4. Confirm the assigned executive role of each participant, using the ten roles on the slide.</a:t>
            </a:r>
          </a:p>
          <a:p>
            <a:r>
              <a:rPr lang="en-US" dirty="0"/>
              <a:t>CEO · CFO · COO · CHRO · CTO · CMO · CCO · CPO · CRO · CSO</a:t>
            </a:r>
          </a:p>
          <a:p>
            <a:r>
              <a:rPr lang="en-US" dirty="0"/>
              <a:t>Say: "You select your assigned role and write one row: four entries, one for each SiP domain."</a:t>
            </a:r>
          </a:p>
          <a:p>
            <a:endParaRPr lang="en-US" dirty="0"/>
          </a:p>
          <a:p>
            <a:r>
              <a:rPr lang="en-US" b="1" dirty="0"/>
              <a:t>5. Take the four domains of the table.</a:t>
            </a:r>
          </a:p>
          <a:p>
            <a:r>
              <a:rPr lang="en-US" dirty="0"/>
              <a:t>- D1 · Customer Experience &amp; Value: What does this role contribute so that customers and other value recipients experience what the SiP describes?</a:t>
            </a:r>
          </a:p>
          <a:p>
            <a:r>
              <a:rPr lang="en-US" dirty="0"/>
              <a:t>- D2 · Operational Capability &amp; Execution Rhythm: What does this role contribute so that the organisation operates, coordinates, delivers and adapts as the SiP describes?</a:t>
            </a:r>
          </a:p>
          <a:p>
            <a:r>
              <a:rPr lang="en-US" dirty="0"/>
              <a:t>- D3 · People &amp; Culture Dynamics: What does this role contribute so that people understand the Strategy Intent, decide, collaborate, take ownership and behave as the SiP describes?</a:t>
            </a:r>
          </a:p>
          <a:p>
            <a:r>
              <a:rPr lang="en-US" dirty="0"/>
              <a:t>- D4 · Enterprise Value Creation: What does this role contribute so that the organisation benefits across its measures of enterprise success?</a:t>
            </a:r>
          </a:p>
          <a:p>
            <a:endParaRPr lang="en-US" dirty="0"/>
          </a:p>
          <a:p>
            <a:r>
              <a:rPr lang="en-US" b="1" dirty="0"/>
              <a:t>6. Give the rule for an entry.</a:t>
            </a:r>
          </a:p>
          <a:p>
            <a:r>
              <a:rPr lang="en-US" dirty="0"/>
              <a:t>Say: "The role sets the perspective and the SiP sets the target. Every entry answers one question: what does this role contribute to that domain statement?"</a:t>
            </a:r>
          </a:p>
          <a:p>
            <a:r>
              <a:rPr lang="en-US" dirty="0"/>
              <a:t>Deepen, say: "An organisation that has articulated an extraordinary mission must answer a practical question: how does that mission live in daily practices, hiring decisions, budget allocations and conflict management? The high mission needs the daily practice that sustains it."</a:t>
            </a:r>
          </a:p>
          <a:p>
            <a:r>
              <a:rPr lang="en-US" dirty="0"/>
              <a:t>(Insight: The mission in daily practice. Source: Journal, 21 February 2026 — Professional Insights: Strategy)</a:t>
            </a:r>
          </a:p>
          <a:p>
            <a:endParaRPr lang="en-US" dirty="0"/>
          </a:p>
          <a:p>
            <a:r>
              <a:rPr lang="en-US" b="1" dirty="0"/>
              <a:t>7. Bridge to the next slide.</a:t>
            </a:r>
          </a:p>
          <a:p>
            <a:r>
              <a:rPr lang="en-US" dirty="0"/>
              <a:t>Say: "The next slide shows how to write a contribution."</a:t>
            </a:r>
          </a:p>
          <a:p>
            <a:endParaRPr lang="en-US" dirty="0"/>
          </a:p>
          <a:p>
            <a:r>
              <a:rPr lang="en-US" b="1" dirty="0"/>
              <a:t>ON THE PORTAL, AFTER THE TEACHING:</a:t>
            </a:r>
          </a:p>
          <a:p>
            <a:r>
              <a:rPr lang="en-US" dirty="0"/>
              <a:t>Each participant selects the assigned executive role in 5.1 of the participant file and completes the four domains of the table from that role. The group's four SiP statements from Section 4 are shown above the table.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5.1 — ROLE CONTRIBUTION TO SiP · WRITING THE CONTRIBUTION</a:t>
            </a:r>
          </a:p>
          <a:p>
            <a:endParaRPr lang="en-US" dirty="0"/>
          </a:p>
          <a:p>
            <a:r>
              <a:rPr lang="en-US" b="1" dirty="0"/>
              <a:t>HOW TO TEACH IT:</a:t>
            </a:r>
          </a:p>
          <a:p>
            <a:endParaRPr lang="en-US" dirty="0"/>
          </a:p>
          <a:p>
            <a:r>
              <a:rPr lang="en-US" b="1" dirty="0"/>
              <a:t>1. Give the voice to write in: the left column of the slide.</a:t>
            </a:r>
          </a:p>
          <a:p>
            <a:r>
              <a:rPr lang="en-US" dirty="0"/>
              <a:t>Say: "Write in the present tense of the future, as if the strategy is already working."</a:t>
            </a:r>
          </a:p>
          <a:p>
            <a:r>
              <a:rPr lang="en-US" dirty="0"/>
              <a:t>Read the four examples from the slide: "Customers experience…" · "Operations are able to…" · "People consistently…" · "The organisation creates value through…"</a:t>
            </a:r>
          </a:p>
          <a:p>
            <a:r>
              <a:rPr lang="en-US" dirty="0"/>
              <a:t>Deepen, say: "Teams that can receive a declared outcome and work backward from it to the actions required move from instruction to execution most effectively. Declare the outcome first, then design the process to reach it."</a:t>
            </a:r>
          </a:p>
          <a:p>
            <a:r>
              <a:rPr lang="en-US" dirty="0"/>
              <a:t>(Insight: Declare the outcome first. Source: Journal, 7 April 2026 — Professional Insights: Culture)</a:t>
            </a:r>
          </a:p>
          <a:p>
            <a:endParaRPr lang="en-US" dirty="0"/>
          </a:p>
          <a:p>
            <a:r>
              <a:rPr lang="en-US" b="1" dirty="0"/>
              <a:t>2. Name the general statements to push back on: the right column of the slide.</a:t>
            </a:r>
          </a:p>
          <a:p>
            <a:r>
              <a:rPr lang="en-US" dirty="0"/>
              <a:t>Say: "Be practical and role-specific. General statements such as these four say too little."</a:t>
            </a:r>
          </a:p>
          <a:p>
            <a:r>
              <a:rPr lang="en-US" dirty="0"/>
              <a:t>Read the four general statements from the slide: "Support the strategy" · "Improve communication" · "Collaborate better" · "Drive performance"</a:t>
            </a:r>
          </a:p>
          <a:p>
            <a:endParaRPr lang="en-US" dirty="0"/>
          </a:p>
          <a:p>
            <a:r>
              <a:rPr lang="en-US" b="1" dirty="0"/>
              <a:t>3. Give the test for any general statement, from the foot of the slide.</a:t>
            </a:r>
          </a:p>
          <a:p>
            <a:r>
              <a:rPr lang="en-US" dirty="0"/>
              <a:t>Say: "The test for any general statement is this question: What does this role specifically decide, enable, coordinate, resource, protect or change?"</a:t>
            </a:r>
          </a:p>
          <a:p>
            <a:endParaRPr lang="en-US" dirty="0"/>
          </a:p>
          <a:p>
            <a:r>
              <a:rPr lang="en-US" b="1" dirty="0"/>
              <a:t>4. Take the six verbs one at a time.</a:t>
            </a:r>
          </a:p>
          <a:p>
            <a:r>
              <a:rPr lang="en-US" dirty="0"/>
              <a:t>- Decide: which decision does this role own that the SiP depends on?</a:t>
            </a:r>
          </a:p>
          <a:p>
            <a:r>
              <a:rPr lang="en-US" dirty="0"/>
              <a:t>- Enable: what does this role make possible for another function?</a:t>
            </a:r>
          </a:p>
          <a:p>
            <a:r>
              <a:rPr lang="en-US" dirty="0"/>
              <a:t>- Coordinate: which hand-off between functions does this role hold together?</a:t>
            </a:r>
          </a:p>
          <a:p>
            <a:r>
              <a:rPr lang="en-US" dirty="0"/>
              <a:t>- Resource: what does this role fund, staff or equip?</a:t>
            </a:r>
          </a:p>
          <a:p>
            <a:r>
              <a:rPr lang="en-US" dirty="0"/>
              <a:t>- Protect: what does this role defend when short-term pressure rises?</a:t>
            </a:r>
          </a:p>
          <a:p>
            <a:r>
              <a:rPr lang="en-US" dirty="0"/>
              <a:t>- Change: what does this role stop, start or redesign?</a:t>
            </a:r>
          </a:p>
          <a:p>
            <a:r>
              <a:rPr lang="en-US" dirty="0"/>
              <a:t>On Change, say: "Change requires more than removing a negative condition. A new operating pattern must replace the old one. Sustainable transformation is substitution."</a:t>
            </a:r>
          </a:p>
          <a:p>
            <a:r>
              <a:rPr lang="en-US" dirty="0"/>
              <a:t>(Insight: Substitution. Source: Journal, 19 August 2026 — Professional Insights: Strategy)</a:t>
            </a:r>
          </a:p>
          <a:p>
            <a:endParaRPr lang="en-US" dirty="0"/>
          </a:p>
          <a:p>
            <a:r>
              <a:rPr lang="en-US" b="1" dirty="0"/>
              <a:t>5. Give the check for a finished row.</a:t>
            </a:r>
          </a:p>
          <a:p>
            <a:r>
              <a:rPr lang="en-US" dirty="0"/>
              <a:t>Say: "After completing your row, check whether your contribution strengthens all four SiP domains or only reflects the priorities of your own function."</a:t>
            </a:r>
          </a:p>
          <a:p>
            <a:r>
              <a:rPr lang="en-US" dirty="0"/>
              <a:t>Deepen, say: "Good leadership sometimes helps people see a problem within a larger system so that more responsible judgement becomes possible."</a:t>
            </a:r>
          </a:p>
          <a:p>
            <a:r>
              <a:rPr lang="en-US" dirty="0"/>
              <a:t>(Insight: Seeing the larger system. Source: Journal, 3 September 2026 — Professional Insights: Leadership)</a:t>
            </a:r>
          </a:p>
          <a:p>
            <a:endParaRPr lang="en-US" dirty="0"/>
          </a:p>
          <a:p>
            <a:r>
              <a:rPr lang="en-US" b="1" dirty="0"/>
              <a:t>6. Bridge to 5.2.</a:t>
            </a:r>
          </a:p>
          <a:p>
            <a:r>
              <a:rPr lang="en-US" dirty="0"/>
              <a:t>Say: "Once every row is written, the groups share. The next slide shows how."</a:t>
            </a:r>
          </a:p>
          <a:p>
            <a:endParaRPr lang="en-US" dirty="0"/>
          </a:p>
          <a:p>
            <a:r>
              <a:rPr lang="en-US" b="1" dirty="0"/>
              <a:t>LATER, WHEN YOU REVIEW THE ROWS:</a:t>
            </a:r>
          </a:p>
          <a:p>
            <a:r>
              <a:rPr lang="en-US" dirty="0"/>
              <a:t>- Look for a row in which one domain is rich and three are thin. This is the role’s own Flammable. Ask the participant to name it.</a:t>
            </a:r>
          </a:p>
          <a:p>
            <a:r>
              <a:rPr lang="en-US" dirty="0"/>
              <a:t>- Look for contributions that describe what the role already does today. Ask what changes because of this Strategy Intent.</a:t>
            </a:r>
          </a:p>
          <a:p>
            <a:r>
              <a:rPr lang="en-US" dirty="0"/>
              <a:t>- Look for contributions that depend on another role with no mention of it. Note them: they are the material for 5.2.</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5.2 — SiP STATEMENT COLLECTIVE APPLICATION (SHARE · EXPLAIN · OBSERVE)</a:t>
            </a:r>
          </a:p>
          <a:p>
            <a:endParaRPr lang="en-US" dirty="0"/>
          </a:p>
          <a:p>
            <a:r>
              <a:rPr lang="en-US" b="1" dirty="0"/>
              <a:t>HOW TO TEACH IT:</a:t>
            </a:r>
          </a:p>
          <a:p>
            <a:endParaRPr lang="en-US" dirty="0"/>
          </a:p>
          <a:p>
            <a:r>
              <a:rPr lang="en-US" b="1" dirty="0"/>
              <a:t>1. State the purpose.</a:t>
            </a:r>
          </a:p>
          <a:p>
            <a:r>
              <a:rPr lang="en-US" dirty="0"/>
              <a:t>Say: "This activity allows each group to apply its agreed SiP statement to the executive roles and examine how the strategy becomes practical through leadership contribution."</a:t>
            </a:r>
          </a:p>
          <a:p>
            <a:endParaRPr lang="en-US" dirty="0"/>
          </a:p>
          <a:p>
            <a:r>
              <a:rPr lang="en-US" b="1" dirty="0"/>
              <a:t>2. Explain the activity.</a:t>
            </a:r>
          </a:p>
          <a:p>
            <a:r>
              <a:rPr lang="en-US" dirty="0"/>
              <a:t>Say: "After all CXO rows have been completed, each group shares its SiP statement and explains how the different role contributions support it."</a:t>
            </a:r>
          </a:p>
          <a:p>
            <a:endParaRPr lang="en-US" dirty="0"/>
          </a:p>
          <a:p>
            <a:r>
              <a:rPr lang="en-US" b="1" dirty="0"/>
              <a:t>3. Give the four headings on the slide.</a:t>
            </a:r>
          </a:p>
          <a:p>
            <a:r>
              <a:rPr lang="en-US" dirty="0"/>
              <a:t>Say: "As each group shares, everyone else listens under four headings."</a:t>
            </a:r>
          </a:p>
          <a:p>
            <a:r>
              <a:rPr lang="en-US" dirty="0"/>
              <a:t>- Alignment: Where the role contributions support the SiP statement and one another.</a:t>
            </a:r>
          </a:p>
          <a:p>
            <a:r>
              <a:rPr lang="en-US" dirty="0"/>
              <a:t>- Gaps: Which part of the SiP statement has no role contributing to it.</a:t>
            </a:r>
          </a:p>
          <a:p>
            <a:r>
              <a:rPr lang="en-US" dirty="0"/>
              <a:t>- Tensions: Where role contributions pull against one another.</a:t>
            </a:r>
          </a:p>
          <a:p>
            <a:r>
              <a:rPr lang="en-US" dirty="0"/>
              <a:t>- Execution Ownership: Where the SiP statement needs clearer execution ownership.</a:t>
            </a:r>
          </a:p>
          <a:p>
            <a:endParaRPr lang="en-US" dirty="0"/>
          </a:p>
          <a:p>
            <a:r>
              <a:rPr lang="en-US" b="1" dirty="0"/>
              <a:t>4. Say what the activity tests.</a:t>
            </a:r>
          </a:p>
          <a:p>
            <a:r>
              <a:rPr lang="en-US" dirty="0"/>
              <a:t>Say: "The focus is on whether the agreed SiP can be supported by practical leadership contribution across the executive team."</a:t>
            </a:r>
          </a:p>
          <a:p>
            <a:endParaRPr lang="en-US" dirty="0"/>
          </a:p>
          <a:p>
            <a:r>
              <a:rPr lang="en-US" b="1" dirty="0"/>
              <a:t>5. Set the tone for the observations.</a:t>
            </a:r>
          </a:p>
          <a:p>
            <a:r>
              <a:rPr lang="en-US" dirty="0"/>
              <a:t>Say: "The best leaders can tell the truth about a difficult situation without withdrawing the offer to work through it together. Honest assessment followed by a genuine invitation is one of the most powerful leadership combinations available."</a:t>
            </a:r>
          </a:p>
          <a:p>
            <a:r>
              <a:rPr lang="en-US" dirty="0"/>
              <a:t>(Insight: Honest assessment, open invitation. Source: Journal, 10 January 2026 — Professional Insights: Leadership)</a:t>
            </a:r>
          </a:p>
          <a:p>
            <a:endParaRPr lang="en-US" dirty="0"/>
          </a:p>
          <a:p>
            <a:r>
              <a:rPr lang="en-US" b="1" dirty="0"/>
              <a:t>6. Say what execution ownership sounds like.</a:t>
            </a:r>
          </a:p>
          <a:p>
            <a:r>
              <a:rPr lang="en-US" dirty="0"/>
              <a:t>Say: "Leaders who describe themselves as people to whom things happen have yet to take full ownership of their role. Ownership sounds like: “I made this decision and I own its results.”"</a:t>
            </a:r>
          </a:p>
          <a:p>
            <a:r>
              <a:rPr lang="en-US" dirty="0"/>
              <a:t>(Insight: I made this decision. Source: Journal, 18 February 2026 — Professional Insights: Leadership)</a:t>
            </a:r>
          </a:p>
          <a:p>
            <a:endParaRPr lang="en-US" dirty="0"/>
          </a:p>
          <a:p>
            <a:r>
              <a:rPr lang="en-US" b="1" dirty="0"/>
              <a:t>7. Bridge to the reflection.</a:t>
            </a:r>
          </a:p>
          <a:p>
            <a:r>
              <a:rPr lang="en-US" dirty="0"/>
              <a:t>Say: "The section closes with one reflection. It is on the next slide."</a:t>
            </a:r>
          </a:p>
          <a:p>
            <a:endParaRPr lang="en-US" dirty="0"/>
          </a:p>
          <a:p>
            <a:r>
              <a:rPr lang="en-US" b="1" dirty="0"/>
              <a:t>ON THE PORTAL, AFTER THE TEACHING:</a:t>
            </a:r>
          </a:p>
          <a:p>
            <a:r>
              <a:rPr lang="en-US" dirty="0"/>
              <a:t>As groups share, participants record what they observe under four headings in 5.2 of the participant file. They then write their Section 5 reflection.</a:t>
            </a:r>
          </a:p>
          <a:p>
            <a:r>
              <a:rPr lang="en-US" dirty="0"/>
              <a:t>The four boxes in 5.2:</a:t>
            </a:r>
          </a:p>
          <a:p>
            <a:r>
              <a:rPr lang="en-US" dirty="0"/>
              <a:t>- Alignment: Where do the role contributions support the SiP statement and one another?</a:t>
            </a:r>
          </a:p>
          <a:p>
            <a:r>
              <a:rPr lang="en-US" dirty="0"/>
              <a:t>- Gaps: Which part of the SiP statement has no role contributing to it?</a:t>
            </a:r>
          </a:p>
          <a:p>
            <a:r>
              <a:rPr lang="en-US" dirty="0"/>
              <a:t>- Tensions: Where do role contributions pull against one another?</a:t>
            </a:r>
          </a:p>
          <a:p>
            <a:r>
              <a:rPr lang="en-US" dirty="0"/>
              <a:t>- Execution Ownership: Where does the SiP statement need clearer execution ownership?</a:t>
            </a:r>
          </a:p>
          <a:p>
            <a:endParaRPr lang="en-US" dirty="0"/>
          </a:p>
          <a:p>
            <a:r>
              <a:rPr lang="en-US" b="1" dirty="0"/>
              <a:t>LATER, WHEN THE GROUPS SHARE:</a:t>
            </a:r>
          </a:p>
          <a:p>
            <a:r>
              <a:rPr lang="en-US" dirty="0"/>
              <a:t>- Invite the first group to share its SiP statement, one domain at a time. For each domain, two or three roles say what they contribute to it: the role, the verb and the contribution. Every role speaks at least once across the four domains.</a:t>
            </a:r>
          </a:p>
          <a:p>
            <a:r>
              <a:rPr lang="en-US" dirty="0"/>
              <a:t>- After each group, ask the room for one observation under each heading. Then say plainly what you heard, and invite the group to work on it.</a:t>
            </a:r>
          </a:p>
          <a:p>
            <a:r>
              <a:rPr lang="en-US" dirty="0"/>
              <a:t>- For each part of the SiP statement with no role contributing to it, ask: "Which role owns this?" A part of the SiP that no role owns will not be delivered.</a:t>
            </a:r>
          </a:p>
          <a:p>
            <a:r>
              <a:rPr lang="en-US" dirty="0"/>
              <a:t>- Listen for two roles claiming the same contribution, and for a contribution that no role claims.</a:t>
            </a:r>
          </a:p>
          <a:p>
            <a:r>
              <a:rPr lang="en-US" dirty="0"/>
              <a:t>- Listen for tensions described politely and left unresolved. A tension named in this room can be worked on here.</a:t>
            </a:r>
          </a:p>
          <a:p>
            <a:r>
              <a:rPr lang="en-US" dirty="0"/>
              <a:t>- When a group wants to reword a SiP statement, record the change. The group agrees it and every member updates their own page.</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5 REFLECTIONS</a:t>
            </a:r>
          </a:p>
          <a:p>
            <a:endParaRPr lang="en-US" dirty="0"/>
          </a:p>
          <a:p>
            <a:r>
              <a:rPr lang="en-US" b="1" dirty="0"/>
              <a:t>HOW TO USE THIS SLIDE:</a:t>
            </a:r>
          </a:p>
          <a:p>
            <a:endParaRPr lang="en-US" dirty="0"/>
          </a:p>
          <a:p>
            <a:r>
              <a:rPr lang="en-US" b="1" dirty="0"/>
              <a:t>1. Show the slide and read the prompt aloud.</a:t>
            </a:r>
          </a:p>
          <a:p>
            <a:r>
              <a:rPr lang="en-US" dirty="0"/>
              <a:t>5.2 Reflection — Application: "Having completed the full application exercise — what is the single most important shift your organisation must make to close the gap between your current strategic capability and the SiP you have collectively described?"</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r>
              <a:rPr lang="en-US" dirty="0"/>
              <a:t>Say: "You write this reflection on the portal after the teaching, once the application exercise is complete, with as much depth as you can."</a:t>
            </a:r>
          </a:p>
          <a:p>
            <a:endParaRPr lang="en-US" dirty="0"/>
          </a:p>
          <a:p>
            <a:r>
              <a:rPr lang="en-US" b="1" dirty="0"/>
              <a:t>3. Set the standard.</a:t>
            </a:r>
          </a:p>
          <a:p>
            <a:r>
              <a:rPr lang="en-US" dirty="0"/>
              <a:t>Say: "Name one shift only. Name it as a change in a decision, a capability or a behaviour. Say which gap it closes between your current strategic capability and the SiP your group described, and what your own role must do first."</a:t>
            </a:r>
          </a:p>
          <a:p>
            <a:r>
              <a:rPr lang="en-US" dirty="0"/>
              <a:t>Listen for: a list of five shifts. It is a sign that the participant has yet to choose.</a:t>
            </a:r>
          </a:p>
          <a:p>
            <a:endParaRPr lang="en-US" dirty="0"/>
          </a:p>
          <a:p>
            <a:r>
              <a:rPr lang="en-US" b="1" dirty="0"/>
              <a:t>4. Say why the shift must reach behaviour.</a:t>
            </a:r>
          </a:p>
          <a:p>
            <a:r>
              <a:rPr lang="en-US" dirty="0"/>
              <a:t>Say: "Organisations often rebuild structures without correcting the behaviours that caused the original failure. Recovery is temporary when the underlying assumptions, relationships and compromises remain unchanged."</a:t>
            </a:r>
          </a:p>
          <a:p>
            <a:r>
              <a:rPr lang="en-US" dirty="0"/>
              <a:t>(Insight: Rebuilding without correcting. Source: Journal, 2 August 2026 — Professional Insights: Strategy)</a:t>
            </a:r>
          </a:p>
          <a:p>
            <a:endParaRPr lang="en-US" dirty="0"/>
          </a:p>
          <a:p>
            <a:r>
              <a:rPr lang="en-US" b="1" dirty="0"/>
              <a:t>5. Bridge to the Unit Summary.</a:t>
            </a:r>
          </a:p>
          <a:p>
            <a:r>
              <a:rPr lang="en-US" dirty="0"/>
              <a:t>Say: "We close the unit by returning to where we started."</a:t>
            </a:r>
          </a:p>
          <a:p>
            <a:endParaRPr lang="en-US" dirty="0"/>
          </a:p>
          <a:p>
            <a:r>
              <a:rPr lang="en-US" b="1" dirty="0"/>
              <a:t>ON THE PORTAL, AFTER THE TEACHING:</a:t>
            </a:r>
          </a:p>
          <a:p>
            <a:r>
              <a:rPr lang="en-US" dirty="0"/>
              <a:t>Participants write the reflection in Section 5 of the participant file: 5.2 Reflection —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UNIT SUMMARY (UNIT 2 SYNTHESIS)</a:t>
            </a:r>
          </a:p>
          <a:p>
            <a:endParaRPr lang="en-US" dirty="0"/>
          </a:p>
          <a:p>
            <a:r>
              <a:rPr lang="en-US" b="1" dirty="0"/>
              <a:t>HOW TO TEACH IT:</a:t>
            </a:r>
          </a:p>
          <a:p>
            <a:endParaRPr lang="en-US" dirty="0"/>
          </a:p>
          <a:p>
            <a:r>
              <a:rPr lang="en-US" b="1" dirty="0"/>
              <a:t>1. Read the five summary blocks aloud.</a:t>
            </a:r>
          </a:p>
          <a:p>
            <a:r>
              <a:rPr lang="en-US" dirty="0"/>
              <a:t>Read each block aloud from these notes. The summary is deliberately concise: its role is to crystallise the arc of the unit. The blocks describe the whole unit, including the work the groups complete on the portal.</a:t>
            </a:r>
          </a:p>
          <a:p>
            <a:r>
              <a:rPr lang="en-US" dirty="0"/>
              <a:t>- Awareness — What · What Was Established: Strategy was defined precisely: the output of iterative thinking, logic and process to determine what, why, how and when an organisation creates, delivers and sustains value to its stakeholders while navigating the forces within its operating environment. Each concept in the definition is part of the Strategy Architecture: the interconnected choices and logic that sit underneath a strategy. The Strategy Intent Statement brings forward four dimensions from that architecture (WHAT, WHY, HOW and WHEN) and crystallises them into one clear statement. Success in Practice (SiP) defines what must be seen, experienced and executed for that ambition to become reality, across four observable domains: Customer Experience &amp; Value, Operational Capability &amp; Execution Rhythm, People &amp; Culture Dynamics, and Enterprise Value Creation.</a:t>
            </a:r>
          </a:p>
          <a:p>
            <a:r>
              <a:rPr lang="en-US" dirty="0"/>
              <a:t>- Intelligence — Why · Why It Matters: The Strategy Intent and SiP become useful when they shape how the organisation aligns, makes choices and executes. They serve three functions. Strategic Alignment keeps people and functions oriented around the same ambition and picture of success. The Decision Filter gives a basis for determining which choices, opportunities and investments support the strategy: the Strategy Intent tests strategic fit and SiP tests strategic contribution. Execution Coherence helps functions understand how their individual contributions connect to produce the enterprise outcome.</a:t>
            </a:r>
          </a:p>
          <a:p>
            <a:r>
              <a:rPr lang="en-US" dirty="0"/>
              <a:t>- Extrapolating — Where · Where Success Shows Up: Each SiP domain was examined through observable indicators in two positions: When Working and Signal of Absence. The indicators help leaders test, deepen and make observable the success they have defined. The SiP Flammables provide the balance test: they show when one legitimate perspective has become so dominant that the enterprise picture narrows into a functional one. Two disciplines result: depth within each SiP domain and balance across all four.</a:t>
            </a:r>
          </a:p>
          <a:p>
            <a:r>
              <a:rPr lang="en-US" dirty="0"/>
              <a:t>- Integration — Collective · What Was Built: Each group built three connected outputs in sequence. The Strategy Architecture: the integrated strategic logic constructed from the 14 elements. The Strategy Intent Statement: the crisp expression of the organisation's strategic ambition derived from WHAT, WHY, HOW and WHEN. Success in Practice: four confirmed statements describing what successful realisation of that ambition looks like across the organisation. The Architecture provides the logic. The Intent crystallises the ambition. Success in Practice makes the ambition observable.</a:t>
            </a:r>
          </a:p>
          <a:p>
            <a:r>
              <a:rPr lang="en-US" dirty="0"/>
              <a:t>- Application — In Practice · What Was Applied: Each participant applied the agreed Success in Practice to an assigned executive role and defined, in the present tense of the future, what that role must contribute across the four SiP domains. Each group then shared its SiP statement and explained how the role contributions support it. The group examined alignment, gaps, tensions and the areas where the SiP statement needs clearer execution ownership. The three outputs are the strategic foundation that later S2R® work carries into alignment, execution and performance.</a:t>
            </a:r>
          </a:p>
          <a:p>
            <a:endParaRPr lang="en-US" dirty="0"/>
          </a:p>
          <a:p>
            <a:r>
              <a:rPr lang="en-US" b="1" dirty="0"/>
              <a:t>2. Return to the opening question, on the slide.</a:t>
            </a:r>
          </a:p>
          <a:p>
            <a:r>
              <a:rPr lang="en-US" dirty="0"/>
              <a:t>Go back to the definitions participants wrote when the session opened. The differences you noted on the whiteboard are still in view. Ask two or three participants:</a:t>
            </a:r>
          </a:p>
          <a:p>
            <a:r>
              <a:rPr lang="en-US" dirty="0"/>
              <a:t>"Read your original definition of strategy. What would you change in it now — and why?"</a:t>
            </a:r>
          </a:p>
          <a:p>
            <a:r>
              <a:rPr lang="en-US" dirty="0"/>
              <a:t>Say: "The difference between your opening answer and your closing answer is the measure of what Unit 2 produced."</a:t>
            </a:r>
          </a:p>
          <a:p>
            <a:endParaRPr lang="en-US" dirty="0"/>
          </a:p>
          <a:p>
            <a:r>
              <a:rPr lang="en-US" b="1" dirty="0"/>
              <a:t>3. Run the tangible outputs check.</a:t>
            </a:r>
          </a:p>
          <a:p>
            <a:r>
              <a:rPr lang="en-US" dirty="0"/>
              <a:t>Before closing, confirm with the group that the following have been produced or are in progress:</a:t>
            </a:r>
          </a:p>
          <a:p>
            <a:r>
              <a:rPr lang="en-US" dirty="0"/>
              <a:t>- A Strategy Architecture output from each group</a:t>
            </a:r>
          </a:p>
          <a:p>
            <a:r>
              <a:rPr lang="en-US" dirty="0"/>
              <a:t>- A confirmed Strategy Intent Statement from each group</a:t>
            </a:r>
          </a:p>
          <a:p>
            <a:r>
              <a:rPr lang="en-US" dirty="0"/>
              <a:t>- Four confirmed SiP statements from each group</a:t>
            </a:r>
          </a:p>
          <a:p>
            <a:r>
              <a:rPr lang="en-US" dirty="0"/>
              <a:t>- A role contribution row from each participant</a:t>
            </a:r>
          </a:p>
          <a:p>
            <a:endParaRPr lang="en-US" dirty="0"/>
          </a:p>
          <a:p>
            <a:r>
              <a:rPr lang="en-US" b="1" dirty="0"/>
              <a:t>4. Ask for the closing commitment, on the slide.</a:t>
            </a:r>
          </a:p>
          <a:p>
            <a:r>
              <a:rPr lang="en-US" dirty="0"/>
              <a:t>Ask each participant to complete this sentence privately:</a:t>
            </a:r>
          </a:p>
          <a:p>
            <a:r>
              <a:rPr lang="en-US" dirty="0"/>
              <a:t>"Based on what Unit 2 revealed, the one thing I am committed to doing differently before our next session is…"</a:t>
            </a:r>
          </a:p>
          <a:p>
            <a:r>
              <a:rPr lang="en-US" dirty="0"/>
              <a:t>Invite two or three to share. These become the accountability anchors for Unit 3.</a:t>
            </a:r>
          </a:p>
          <a:p>
            <a:endParaRPr lang="en-US" dirty="0"/>
          </a:p>
          <a:p>
            <a:r>
              <a:rPr lang="en-US" b="1" dirty="0"/>
              <a:t>5. Give the transition to Unit 3.</a:t>
            </a:r>
          </a:p>
          <a:p>
            <a:r>
              <a:rPr lang="en-US" dirty="0"/>
              <a:t>Say: "What we built today is the strategic foundation: the Architecture, the Intent and the Success in Practice. Unit 3 maps that Success in Practice through KISS and defines the OKRs that will measure our progress toward it."</a:t>
            </a:r>
          </a:p>
          <a:p>
            <a:endParaRPr lang="en-US" dirty="0"/>
          </a:p>
          <a:p>
            <a:r>
              <a:rPr lang="en-US" b="1" dirty="0"/>
              <a:t>6. Hand over to the portal.</a:t>
            </a:r>
          </a:p>
          <a:p>
            <a:r>
              <a:rPr lang="en-US" dirty="0"/>
              <a:t>Say: "The teaching ends here. You now go to the portal and complete your own page, in the session or after it."</a:t>
            </a:r>
          </a:p>
          <a:p>
            <a:r>
              <a:rPr lang="en-US" dirty="0"/>
              <a:t>- Section 1: the opening definition of strategy, and the reflections for 1.1 and 1.2.</a:t>
            </a:r>
          </a:p>
          <a:p>
            <a:r>
              <a:rPr lang="en-US" dirty="0"/>
              <a:t>- Section 2: the 2.1 reflection.</a:t>
            </a:r>
          </a:p>
          <a:p>
            <a:r>
              <a:rPr lang="en-US" dirty="0"/>
              <a:t>- Section 3: the 3.1 reflection.</a:t>
            </a:r>
          </a:p>
          <a:p>
            <a:r>
              <a:rPr lang="en-US" dirty="0"/>
              <a:t>- Section 4, with the group: the 14 elements and the Strategy Architecture output, the Strategy Intent Statement, and the four SiP statements. The group agrees each entry, one member acts as scribe, and every member types the agreed entries into their own page.</a:t>
            </a:r>
          </a:p>
          <a:p>
            <a:r>
              <a:rPr lang="en-US" dirty="0"/>
              <a:t>- Section 5: the role contribution row in 5.1, the four observation boxes in 5.2 and the 5.2 reflection.</a:t>
            </a:r>
          </a:p>
          <a:p>
            <a:r>
              <a:rPr lang="en-US" dirty="0"/>
              <a:t>Participants then submit Unit 2 to the facilitator from their page.</a:t>
            </a:r>
          </a:p>
          <a:p>
            <a:r>
              <a:rPr lang="en-US" dirty="0"/>
              <a:t>Where the portal work is done in the session, bring the room back together once it is complete, for the reading of the three outputs (4.3c) and the group sharing (5.2).</a:t>
            </a:r>
          </a:p>
          <a:p>
            <a:endParaRPr lang="en-US" dirty="0"/>
          </a:p>
          <a:p>
            <a:r>
              <a:rPr lang="en-US" b="1" dirty="0"/>
              <a:t>AFTER THE SESSION:</a:t>
            </a:r>
          </a:p>
          <a:p>
            <a:r>
              <a:rPr lang="en-US" dirty="0"/>
              <a:t>- Review each participant’s submission from the facilitator dashboard. The three outputs appear under their own headings: Strategy Architecture, Strategy Intent Statement and Success in Practice (SiP).</a:t>
            </a:r>
          </a:p>
          <a:p>
            <a:r>
              <a:rPr lang="en-US" dirty="0"/>
              <a:t>- Note the groups whose members hold different versions of an output. Ask them to agree one version and update their pages before the team opens its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20.png"/><Relationship Id="rId6"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7.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0.png"/><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40.png"/><Relationship Id="rId4" Type="http://schemas.openxmlformats.org/officeDocument/2006/relationships/image" Target="../media/image4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4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35.png"/><Relationship Id="rId6" Type="http://schemas.openxmlformats.org/officeDocument/2006/relationships/image" Target="../media/image2.png"/><Relationship Id="rId7" Type="http://schemas.openxmlformats.org/officeDocument/2006/relationships/image" Target="../media/image4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2.png"/><Relationship Id="rId4" Type="http://schemas.openxmlformats.org/officeDocument/2006/relationships/image" Target="../media/image48.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0.png"/><Relationship Id="rId4" Type="http://schemas.openxmlformats.org/officeDocument/2006/relationships/image" Target="../media/image52.png"/><Relationship Id="rId5" Type="http://schemas.openxmlformats.org/officeDocument/2006/relationships/image" Target="../media/image5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54.png"/><Relationship Id="rId6" Type="http://schemas.openxmlformats.org/officeDocument/2006/relationships/image" Target="../media/image20.png"/><Relationship Id="rId7" Type="http://schemas.openxmlformats.org/officeDocument/2006/relationships/image" Target="../media/image3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57.png"/><Relationship Id="rId4" Type="http://schemas.openxmlformats.org/officeDocument/2006/relationships/image" Target="../media/image12.png"/><Relationship Id="rId5"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3.png"/><Relationship Id="rId4" Type="http://schemas.openxmlformats.org/officeDocument/2006/relationships/image" Target="../media/image5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59.png"/><Relationship Id="rId4" Type="http://schemas.openxmlformats.org/officeDocument/2006/relationships/image" Target="../media/image40.png"/><Relationship Id="rId5" Type="http://schemas.openxmlformats.org/officeDocument/2006/relationships/image" Target="../media/image60.png"/><Relationship Id="rId6" Type="http://schemas.openxmlformats.org/officeDocument/2006/relationships/image" Target="../media/image6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6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Strategy Visioning &amp; Success in Practice (SiP)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Strategy Architecture · Strategy Intent Statement · Success in Practice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Define strategy architecture and articulate strategic intent in relation to the organisation’s purpose, long-term value and stakeholder relevance.</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Define a coherent future position and the organisational meaning of success.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the consistency between strategic ambition, organisational identity and the realities of the operating environment.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Establish a shared strategic direction that supports consistent enterprise interpretation and decision-making.</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Strategy?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Redefine strategy to create a robust understanding of strategy architecture.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the direction an organisation sets from the future position that defines its success.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Opening the session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Write your definition of strategy in one sentence — right now, without consulting anyone.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1.1a · Define the Strategy Architecture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Strategy is the output of iterative thinking, logic and process to determine what, why, how and when an organisation creates, delivers and sustains value to its stakeholders while navigating the forces within its operating environment.</a:t>
            </a:r>
            <a:endParaRPr 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1.1b · Every word carries strategic weight</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OUTPUT  </a:t>
            </a:r>
            <a:r>
              <a:rPr lang="en-US" sz="2400" dirty="0">
                <a:solidFill>
                  <a:srgbClr val="1F2A22"/>
                </a:solidFill>
                <a:latin typeface="Calibri" pitchFamily="34" charset="0"/>
                <a:ea typeface="Calibri" pitchFamily="34" charset="-122"/>
                <a:cs typeface="Calibri" pitchFamily="34" charset="-120"/>
              </a:rPr>
              <a:t>A decided position</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ITERATIVE  </a:t>
            </a:r>
            <a:r>
              <a:rPr lang="en-US" sz="2400" dirty="0">
                <a:solidFill>
                  <a:srgbClr val="1F2A22"/>
                </a:solidFill>
                <a:latin typeface="Calibri" pitchFamily="34" charset="0"/>
                <a:ea typeface="Calibri" pitchFamily="34" charset="-122"/>
                <a:cs typeface="Calibri" pitchFamily="34" charset="-120"/>
              </a:rPr>
              <a:t>Continuously refined</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THINKING &amp; LOGIC  </a:t>
            </a:r>
            <a:r>
              <a:rPr lang="en-US" sz="2400" dirty="0">
                <a:solidFill>
                  <a:srgbClr val="1F2A22"/>
                </a:solidFill>
                <a:latin typeface="Calibri" pitchFamily="34" charset="0"/>
                <a:ea typeface="Calibri" pitchFamily="34" charset="-122"/>
                <a:cs typeface="Calibri" pitchFamily="34" charset="-120"/>
              </a:rPr>
              <a:t>The cognitive engine</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PROCESS  </a:t>
            </a:r>
            <a:r>
              <a:rPr lang="en-US" sz="2400" dirty="0">
                <a:solidFill>
                  <a:srgbClr val="1F2A22"/>
                </a:solidFill>
                <a:latin typeface="Calibri" pitchFamily="34" charset="0"/>
                <a:ea typeface="Calibri" pitchFamily="34" charset="-122"/>
                <a:cs typeface="Calibri" pitchFamily="34" charset="-120"/>
              </a:rPr>
              <a:t>The structured container</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WHAT · WHY · HOW · WHEN  </a:t>
            </a:r>
            <a:r>
              <a:rPr lang="en-US" sz="2400" dirty="0">
                <a:solidFill>
                  <a:srgbClr val="1F2A22"/>
                </a:solidFill>
                <a:latin typeface="Calibri" pitchFamily="34" charset="0"/>
                <a:ea typeface="Calibri" pitchFamily="34" charset="-122"/>
                <a:cs typeface="Calibri" pitchFamily="34" charset="-120"/>
              </a:rPr>
              <a:t>The 3Ws &amp; H — complete decision space</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CREATES · DELIVERS · SUSTAINS  </a:t>
            </a:r>
            <a:r>
              <a:rPr lang="en-US" sz="2400" dirty="0">
                <a:solidFill>
                  <a:srgbClr val="1F2A22"/>
                </a:solidFill>
                <a:latin typeface="Calibri" pitchFamily="34" charset="0"/>
                <a:ea typeface="Calibri" pitchFamily="34" charset="-122"/>
                <a:cs typeface="Calibri" pitchFamily="34" charset="-120"/>
              </a:rPr>
              <a:t>The Value Triad</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3"/>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STAKEHOLDERS  </a:t>
            </a:r>
            <a:r>
              <a:rPr lang="en-US" sz="2400" dirty="0">
                <a:solidFill>
                  <a:srgbClr val="1F2A22"/>
                </a:solidFill>
                <a:latin typeface="Calibri" pitchFamily="34" charset="0"/>
                <a:ea typeface="Calibri" pitchFamily="34" charset="-122"/>
                <a:cs typeface="Calibri" pitchFamily="34" charset="-120"/>
              </a:rPr>
              <a:t>Broader than customers</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5" name="Image 7" descr="preencoded.png"/>
          <p:cNvPicPr>
            <a:picLocks noChangeAspect="1"/>
          </p:cNvPicPr>
          <p:nvPr/>
        </p:nvPicPr>
        <p:blipFill>
          <a:blip r:embed="rId3"/>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NAVIGATING  </a:t>
            </a:r>
            <a:r>
              <a:rPr lang="en-US" sz="2400" dirty="0">
                <a:solidFill>
                  <a:srgbClr val="1F2A22"/>
                </a:solidFill>
                <a:latin typeface="Calibri" pitchFamily="34" charset="0"/>
                <a:ea typeface="Calibri" pitchFamily="34" charset="-122"/>
                <a:cs typeface="Calibri" pitchFamily="34" charset="-120"/>
              </a:rPr>
              <a:t>Active, skilful movement through forces</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8" name="Image 8" descr="preencoded.png"/>
          <p:cNvPicPr>
            <a:picLocks noChangeAspect="1"/>
          </p:cNvPicPr>
          <p:nvPr/>
        </p:nvPicPr>
        <p:blipFill>
          <a:blip r:embed="rId3"/>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THE FORCES  </a:t>
            </a:r>
            <a:r>
              <a:rPr lang="en-US" sz="2400" dirty="0">
                <a:solidFill>
                  <a:srgbClr val="1F2A22"/>
                </a:solidFill>
                <a:latin typeface="Calibri" pitchFamily="34" charset="0"/>
                <a:ea typeface="Calibri" pitchFamily="34" charset="-122"/>
                <a:cs typeface="Calibri" pitchFamily="34" charset="-120"/>
              </a:rPr>
              <a:t>Five categories every strategy must navigate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Defining the Strategy Intent Statement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Scope &amp; Definition</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Purpose &amp; Rationale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Mechanism &amp; Model</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Timing &amp; Sequencing</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Four dimensions, crystallised into one clear Strategy Intent Statement.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SiP: From Intent to Future Reality</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customers experience</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2" name="Text 8"/>
          <p:cNvSpPr txBox="1"/>
          <p:nvPr/>
        </p:nvSpPr>
        <p:spPr>
          <a:xfrm>
            <a:off x="6460236" y="275234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the organisation operates</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3977640"/>
            <a:ext cx="274320" cy="274320"/>
          </a:xfrm>
          <a:prstGeom prst="rect">
            <a:avLst/>
          </a:prstGeom>
        </p:spPr>
      </p:pic>
      <p:sp>
        <p:nvSpPr>
          <p:cNvPr id="16" name="Text 11"/>
          <p:cNvSpPr txBox="1"/>
          <p:nvPr/>
        </p:nvSpPr>
        <p:spPr>
          <a:xfrm>
            <a:off x="1508760" y="37947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485546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people decide and behave</a:t>
            </a:r>
            <a:endParaRPr lang="en-US" sz="2400" dirty="0"/>
          </a:p>
        </p:txBody>
      </p:sp>
      <p:sp>
        <p:nvSpPr>
          <p:cNvPr id="18" name="Shape 13"/>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3977640"/>
            <a:ext cx="274320" cy="274320"/>
          </a:xfrm>
          <a:prstGeom prst="rect">
            <a:avLst/>
          </a:prstGeom>
        </p:spPr>
      </p:pic>
      <p:sp>
        <p:nvSpPr>
          <p:cNvPr id="21" name="Text 15"/>
          <p:cNvSpPr txBox="1"/>
          <p:nvPr/>
        </p:nvSpPr>
        <p:spPr>
          <a:xfrm>
            <a:off x="7191756" y="37947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485546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the organisation benefits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“If our Strategy Intent is successful, what should we see in practice?”</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lection — Strategy Architecture: Which part of your organisation's strategy architecture is least well defined today? What is the consequence?"/>
          <p:cNvPicPr>
            <a:picLocks noChangeAspect="1"/>
          </p:cNvPicPr>
          <p:nvPr/>
        </p:nvPicPr>
        <p:blipFill>
          <a:blip r:embed="rId3"/>
          <a:stretch>
            <a:fillRect/>
          </a:stretch>
        </p:blipFill>
        <p:spPr>
          <a:xfrm>
            <a:off x="1691640" y="1572768"/>
            <a:ext cx="9921240" cy="1140372"/>
          </a:xfrm>
          <a:prstGeom prst="rect">
            <a:avLst/>
          </a:prstGeom>
        </p:spPr>
      </p:pic>
      <p:sp>
        <p:nvSpPr>
          <p:cNvPr id="4" name="Part 1.1"/>
          <p:cNvSpPr/>
          <p:nvPr/>
        </p:nvSpPr>
        <p:spPr>
          <a:xfrm>
            <a:off x="548640" y="170861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pic>
        <p:nvPicPr>
          <p:cNvPr id="5" name="Reflection 1.2" descr="Reflection — Strategy Intent: From your assigned executive leader perspective: which dimension (WHAT, WHY, HOW, WHEN) is least clearly defined in your organisation's current strategy? What would clarifying it change?"/>
          <p:cNvPicPr>
            <a:picLocks noChangeAspect="1"/>
          </p:cNvPicPr>
          <p:nvPr/>
        </p:nvPicPr>
        <p:blipFill>
          <a:blip r:embed="rId4"/>
          <a:stretch>
            <a:fillRect/>
          </a:stretch>
        </p:blipFill>
        <p:spPr>
          <a:xfrm>
            <a:off x="1691640" y="3005748"/>
            <a:ext cx="9921240" cy="1425466"/>
          </a:xfrm>
          <a:prstGeom prst="rect">
            <a:avLst/>
          </a:prstGeom>
        </p:spPr>
      </p:pic>
      <p:sp>
        <p:nvSpPr>
          <p:cNvPr id="6" name="Part 1.2"/>
          <p:cNvSpPr/>
          <p:nvPr/>
        </p:nvSpPr>
        <p:spPr>
          <a:xfrm>
            <a:off x="548640" y="328414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Importance and Relevance of SiP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Explain how a shared strategic ambition and a shared picture of success keep leaders and functions aligned.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a shared direction filters decisions throughout execution.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Intent &amp; SiP in the S2R® Architecture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People and functions oriented around the same ambition and picture of success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Decision Filter</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basis for deciding which choices, opportunities and investments support the strategy</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Execution Coherence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Individual contributions connect to produce the enterprise outcome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Intent anchors the ambition. SiP anchors the reality it is intended to produce.</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2.1.1 · Strategic Alignment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Shared understanding of the ambition and the choices that define it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Leaders anchored to the same WHAT, WHY, HOW and WHEN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shared picture of what successful realisation looks like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Different contributions, the same organisational reality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Strategy fragments when leaders interpret the ambition differently.</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2.1.2 · Decision Filter</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test of strategic fit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Is this choice consistent with our ambition and the choices already made?</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test of strategic contribution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Does this choice move us closer to the success we have defined?</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What tells us whether a new initiative belongs in our strategy?</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2.1.3 · Execution Coherence</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common strategic anchor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Each function reads its mandate in relation to the enterprise ambition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the combined contributions must produce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Functions see the outcome they collectively enable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Each part can perform well while the enterprise outcome is missed.</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lection — Three Functions: Which of the three functions is weakest in your organisation today? What happens as a result?"/>
          <p:cNvPicPr>
            <a:picLocks noChangeAspect="1"/>
          </p:cNvPicPr>
          <p:nvPr/>
        </p:nvPicPr>
        <p:blipFill>
          <a:blip r:embed="rId3"/>
          <a:stretch>
            <a:fillRect/>
          </a:stretch>
        </p:blipFill>
        <p:spPr>
          <a:xfrm>
            <a:off x="1691640" y="1572768"/>
            <a:ext cx="9921240" cy="1140372"/>
          </a:xfrm>
          <a:prstGeom prst="rect">
            <a:avLst/>
          </a:prstGeom>
        </p:spPr>
      </p:pic>
      <p:sp>
        <p:nvSpPr>
          <p:cNvPr id="4" name="Part 2.1"/>
          <p:cNvSpPr/>
          <p:nvPr/>
        </p:nvSpPr>
        <p:spPr>
          <a:xfrm>
            <a:off x="548640" y="170861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Examining Success in Practice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Use observable indicators to examine what success looks like within each of the four SiP domains.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between conditions that demonstrate success and signals that those conditions are absent.</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SiP Observable Indicators</a:t>
            </a:r>
            <a:endParaRPr lang="en-US" sz="3600" dirty="0"/>
          </a:p>
        </p:txBody>
      </p:sp>
      <p:sp>
        <p:nvSpPr>
          <p:cNvPr id="3" name="Shape 1"/>
          <p:cNvSpPr/>
          <p:nvPr/>
        </p:nvSpPr>
        <p:spPr>
          <a:xfrm>
            <a:off x="548640" y="168021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0230"/>
            <a:ext cx="320040" cy="320040"/>
          </a:xfrm>
          <a:prstGeom prst="rect">
            <a:avLst/>
          </a:prstGeom>
        </p:spPr>
      </p:pic>
      <p:sp>
        <p:nvSpPr>
          <p:cNvPr id="5" name="Text 2"/>
          <p:cNvSpPr txBox="1"/>
          <p:nvPr/>
        </p:nvSpPr>
        <p:spPr>
          <a:xfrm>
            <a:off x="1508760" y="150876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D1 · Customer Experience &amp; Value  </a:t>
            </a:r>
            <a:r>
              <a:rPr lang="en-US" sz="2400" dirty="0">
                <a:solidFill>
                  <a:srgbClr val="1F2A22"/>
                </a:solidFill>
                <a:latin typeface="Calibri" pitchFamily="34" charset="0"/>
                <a:ea typeface="Calibri" pitchFamily="34" charset="-122"/>
                <a:cs typeface="Calibri" pitchFamily="34" charset="-120"/>
              </a:rPr>
              <a:t>Connection · Access · Results · Effort</a:t>
            </a:r>
            <a:endParaRPr lang="en-US" sz="2400" dirty="0"/>
          </a:p>
        </p:txBody>
      </p:sp>
      <p:sp>
        <p:nvSpPr>
          <p:cNvPr id="6" name="Shape 3"/>
          <p:cNvSpPr/>
          <p:nvPr/>
        </p:nvSpPr>
        <p:spPr>
          <a:xfrm>
            <a:off x="548640" y="266319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23210"/>
            <a:ext cx="320040" cy="320040"/>
          </a:xfrm>
          <a:prstGeom prst="rect">
            <a:avLst/>
          </a:prstGeom>
        </p:spPr>
      </p:pic>
      <p:sp>
        <p:nvSpPr>
          <p:cNvPr id="8" name="Text 4"/>
          <p:cNvSpPr txBox="1"/>
          <p:nvPr/>
        </p:nvSpPr>
        <p:spPr>
          <a:xfrm>
            <a:off x="1508760" y="249174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D2 · Operational Capability  </a:t>
            </a:r>
            <a:r>
              <a:rPr lang="en-US" sz="2400" dirty="0">
                <a:solidFill>
                  <a:srgbClr val="1F2A22"/>
                </a:solidFill>
                <a:latin typeface="Calibri" pitchFamily="34" charset="0"/>
                <a:ea typeface="Calibri" pitchFamily="34" charset="-122"/>
                <a:cs typeface="Calibri" pitchFamily="34" charset="-120"/>
              </a:rPr>
              <a:t>Priority Clarity · Decision Flow · Coordination · Delivery Rhythm</a:t>
            </a:r>
            <a:endParaRPr lang="en-US" sz="2400" dirty="0"/>
          </a:p>
        </p:txBody>
      </p:sp>
      <p:sp>
        <p:nvSpPr>
          <p:cNvPr id="9" name="Shape 5"/>
          <p:cNvSpPr/>
          <p:nvPr/>
        </p:nvSpPr>
        <p:spPr>
          <a:xfrm>
            <a:off x="548640" y="364617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06190"/>
            <a:ext cx="320040" cy="320040"/>
          </a:xfrm>
          <a:prstGeom prst="rect">
            <a:avLst/>
          </a:prstGeom>
        </p:spPr>
      </p:pic>
      <p:sp>
        <p:nvSpPr>
          <p:cNvPr id="11" name="Text 6"/>
          <p:cNvSpPr txBox="1"/>
          <p:nvPr/>
        </p:nvSpPr>
        <p:spPr>
          <a:xfrm>
            <a:off x="1508760" y="347472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D3 · People &amp; Culture  </a:t>
            </a:r>
            <a:r>
              <a:rPr lang="en-US" sz="2400" dirty="0">
                <a:solidFill>
                  <a:srgbClr val="1F2A22"/>
                </a:solidFill>
                <a:latin typeface="Calibri" pitchFamily="34" charset="0"/>
                <a:ea typeface="Calibri" pitchFamily="34" charset="-122"/>
                <a:cs typeface="Calibri" pitchFamily="34" charset="-120"/>
              </a:rPr>
              <a:t>Collaboration · Ownership · Alignment · Dialogue Quality</a:t>
            </a:r>
            <a:endParaRPr lang="en-US" sz="2400" dirty="0"/>
          </a:p>
        </p:txBody>
      </p:sp>
      <p:sp>
        <p:nvSpPr>
          <p:cNvPr id="12" name="Shape 7"/>
          <p:cNvSpPr/>
          <p:nvPr/>
        </p:nvSpPr>
        <p:spPr>
          <a:xfrm>
            <a:off x="548640" y="462915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89170"/>
            <a:ext cx="320040" cy="320040"/>
          </a:xfrm>
          <a:prstGeom prst="rect">
            <a:avLst/>
          </a:prstGeom>
        </p:spPr>
      </p:pic>
      <p:sp>
        <p:nvSpPr>
          <p:cNvPr id="14" name="Text 8"/>
          <p:cNvSpPr txBox="1"/>
          <p:nvPr/>
        </p:nvSpPr>
        <p:spPr>
          <a:xfrm>
            <a:off x="1508760" y="445770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D4 · Enterprise Value  </a:t>
            </a:r>
            <a:r>
              <a:rPr lang="en-US" sz="2400" dirty="0">
                <a:solidFill>
                  <a:srgbClr val="1F2A22"/>
                </a:solidFill>
                <a:latin typeface="Calibri" pitchFamily="34" charset="0"/>
                <a:ea typeface="Calibri" pitchFamily="34" charset="-122"/>
                <a:cs typeface="Calibri" pitchFamily="34" charset="-120"/>
              </a:rPr>
              <a:t>Growth · Profitability · Market Position · Value Durability</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indicator has two positions: When Working and Signal of Absence.</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3.1b · D1 Customer Experience &amp; Value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 Connection Value</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Customers feel understood, respected and supported.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 Access Value</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Quick, easy, reliable interaction through preferred channels.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Results Value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Solutions that solve the problem and improve outcomes.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 Effort Value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Simple, predictable processes. Minimal customer effort.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3.1c · D2 Operational Capability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Priority Clarity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Priorities are explicit, stable and understood in every function.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Decision Flow</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Right level, right information, right speed.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Cross-Functional Coordination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Smooth hand-offs. Unambiguous responsibilities.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Delivery Rhythm</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predictable cadence. Consistent, reliable delivery.</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3.1d · D3 People &amp; Culture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Cross-Boundary Collaboration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People work across boundaries without being directed to.</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Ownership Culture</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Leaders and teams carry outcomes.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Daily actions connect to the enterprise strategy.</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Dialogue Quality</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Honest challenge before decisions are made.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3.1e · D4 Enterprise Value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Growth Trajectory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Growth is traceable to specific strategic choices.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Profitability Quality</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Margin reflects deliberate value positioning.</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Market Position</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competitive position the strategic intent described.</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Value Durability</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conditions of success are actively reinvested in.</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3.2a · SiP Flammables: the balance test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Dominant — Customer Only</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marketing aspiration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Dominant — Operations Only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process optimisation plan</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Dominant — People Only</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an organisational development narrative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Dominant — Value Only</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financial target</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3.2b · D1 Dominant — Customer Only</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Indicators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reveals the pattern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Every statement begins and ends with the customer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No capability, decision right or delivery rhythm is named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Growth is assumed to follow satisfaction; cost to serve is ignored</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Strategic risk</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If not balanced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Execution capacity is underestimated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promise outruns what the organisation can deliver at scale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Cost to serve rises faster than revenue</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3.2c · D2 Dominant — Operations Only</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Indicators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reveals the pattern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Statements describe how work flows, with little on who benefits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Every measure of success is internal: speed, cost, error rates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appear as roles and procedures, with no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Strategic risk</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If not balanced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Execution becomes an end in itself</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Faster at delivering what customers value less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People comply with the process without owning the outcome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3.2d · D3 Dominant — People Only</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Indicators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reveals the pattern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Statements describe how people feel and behave, with no result attached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Nothing could be tested against evidence in the time horizon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Capability is described as culture, with no mechanism</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Strategic risk</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If not balanced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Culture work disconnects from commercial outcomes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the organisation intends to achieve stays undefined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People and culture budgets are the first to be cut</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3.2e · D4 Dominant — Value Only</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Indicators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reveals the pattern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Every statement resolves into a number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customer statement is a sales or share target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No capability or behaviour that produces the result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Strategic risk</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If not balanced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Leaders optimise metrics without building what produces them</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Short-termism disguises itself as strategic clarity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Deferred investment weakens future results</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 SiP Indicators: From your assigned executive leader role: which SiP domain shows the most significant gaps in your organisation right now? What is the primary cause?"/>
          <p:cNvPicPr>
            <a:picLocks noChangeAspect="1"/>
          </p:cNvPicPr>
          <p:nvPr/>
        </p:nvPicPr>
        <p:blipFill>
          <a:blip r:embed="rId3"/>
          <a:stretch>
            <a:fillRect/>
          </a:stretch>
        </p:blipFill>
        <p:spPr>
          <a:xfrm>
            <a:off x="1691640" y="1572768"/>
            <a:ext cx="9921240" cy="1425466"/>
          </a:xfrm>
          <a:prstGeom prst="rect">
            <a:avLst/>
          </a:prstGeom>
        </p:spPr>
      </p:pic>
      <p:sp>
        <p:nvSpPr>
          <p:cNvPr id="4" name="Part 3.1"/>
          <p:cNvSpPr/>
          <p:nvPr/>
        </p:nvSpPr>
        <p:spPr>
          <a:xfrm>
            <a:off x="548640" y="185116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 the Architecture · Derive the Intent · Define Success in Practice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Build a coherent Strategy Architecture.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different leadership perspectives into one shared enterprise position.</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4.1a · Step 1: how the group works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Agree:  </a:t>
            </a:r>
            <a:r>
              <a:rPr lang="en-US" sz="2600" dirty="0">
                <a:solidFill>
                  <a:srgbClr val="1F2A22"/>
                </a:solidFill>
                <a:latin typeface="Calibri" pitchFamily="34" charset="0"/>
                <a:ea typeface="Calibri" pitchFamily="34" charset="-122"/>
                <a:cs typeface="Calibri" pitchFamily="34" charset="-120"/>
              </a:rPr>
              <a:t>the group agrees each entry</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Scribe:  </a:t>
            </a:r>
            <a:r>
              <a:rPr lang="en-US" sz="2600" dirty="0">
                <a:solidFill>
                  <a:srgbClr val="1F2A22"/>
                </a:solidFill>
                <a:latin typeface="Calibri" pitchFamily="34" charset="0"/>
                <a:ea typeface="Calibri" pitchFamily="34" charset="-122"/>
                <a:cs typeface="Calibri" pitchFamily="34" charset="-120"/>
              </a:rPr>
              <a:t>one member types the agreed wording</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Own page:  </a:t>
            </a:r>
            <a:r>
              <a:rPr lang="en-US" sz="2600" dirty="0">
                <a:solidFill>
                  <a:srgbClr val="1F2A22"/>
                </a:solidFill>
                <a:latin typeface="Calibri" pitchFamily="34" charset="0"/>
                <a:ea typeface="Calibri" pitchFamily="34" charset="-122"/>
                <a:cs typeface="Calibri" pitchFamily="34" charset="-120"/>
              </a:rPr>
              <a:t>every member types the agreed entries, in the session or after it</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Confirm:  </a:t>
            </a:r>
            <a:r>
              <a:rPr lang="en-US" sz="2600" dirty="0">
                <a:solidFill>
                  <a:srgbClr val="1F2A22"/>
                </a:solidFill>
                <a:latin typeface="Calibri" pitchFamily="34" charset="0"/>
                <a:ea typeface="Calibri" pitchFamily="34" charset="-122"/>
                <a:cs typeface="Calibri" pitchFamily="34" charset="-120"/>
              </a:rPr>
              <a:t>each element, each statement, each output</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4.1b · Step 1: how each element works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Answer  </a:t>
            </a:r>
            <a:r>
              <a:rPr lang="en-US" sz="2600" dirty="0">
                <a:solidFill>
                  <a:srgbClr val="1F2A22"/>
                </a:solidFill>
                <a:latin typeface="Calibri" pitchFamily="34" charset="0"/>
                <a:ea typeface="Calibri" pitchFamily="34" charset="-122"/>
                <a:cs typeface="Calibri" pitchFamily="34" charset="-120"/>
              </a:rPr>
              <a:t>the four questions of the element</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Generate  </a:t>
            </a:r>
            <a:r>
              <a:rPr lang="en-US" sz="2600" dirty="0">
                <a:solidFill>
                  <a:srgbClr val="1F2A22"/>
                </a:solidFill>
                <a:latin typeface="Calibri" pitchFamily="34" charset="0"/>
                <a:ea typeface="Calibri" pitchFamily="34" charset="-122"/>
                <a:cs typeface="Calibri" pitchFamily="34" charset="-120"/>
              </a:rPr>
              <a:t>what this is saying</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Ask  </a:t>
            </a:r>
            <a:r>
              <a:rPr lang="en-US" sz="2600" dirty="0">
                <a:solidFill>
                  <a:srgbClr val="1F2A22"/>
                </a:solidFill>
                <a:latin typeface="Calibri" pitchFamily="34" charset="0"/>
                <a:ea typeface="Calibri" pitchFamily="34" charset="-122"/>
                <a:cs typeface="Calibri" pitchFamily="34" charset="-120"/>
              </a:rPr>
              <a:t>“Is this what we mean?”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Confirm or refine  </a:t>
            </a:r>
            <a:r>
              <a:rPr lang="en-US" sz="2600" dirty="0">
                <a:solidFill>
                  <a:srgbClr val="1F2A22"/>
                </a:solidFill>
                <a:latin typeface="Calibri" pitchFamily="34" charset="0"/>
                <a:ea typeface="Calibri" pitchFamily="34" charset="-122"/>
                <a:cs typeface="Calibri" pitchFamily="34" charset="-120"/>
              </a:rPr>
              <a:t>until it says what the group means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14 of 14:  </a:t>
            </a:r>
            <a:r>
              <a:rPr lang="en-US" sz="2600" dirty="0">
                <a:solidFill>
                  <a:srgbClr val="1F2A22"/>
                </a:solidFill>
                <a:latin typeface="Calibri" pitchFamily="34" charset="0"/>
                <a:ea typeface="Calibri" pitchFamily="34" charset="-122"/>
                <a:cs typeface="Calibri" pitchFamily="34" charset="-120"/>
              </a:rPr>
              <a:t>the Strategy Architecture output opens</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4.1c · Step 1: the 14 elements</a:t>
            </a:r>
            <a:endParaRPr lang="en-US" sz="3600" dirty="0"/>
          </a:p>
        </p:txBody>
      </p:sp>
      <p:sp>
        <p:nvSpPr>
          <p:cNvPr id="3" name="Shape 1"/>
          <p:cNvSpPr/>
          <p:nvPr/>
        </p:nvSpPr>
        <p:spPr>
          <a:xfrm>
            <a:off x="548640" y="1554480"/>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685800" y="1598894"/>
            <a:ext cx="512064" cy="512064"/>
          </a:xfrm>
          <a:prstGeom prst="ellipse">
            <a:avLst/>
          </a:prstGeom>
          <a:solidFill>
            <a:srgbClr val="1A5C2C"/>
          </a:solidFill>
          <a:ln w="12700">
            <a:solidFill>
              <a:srgbClr val="1A5C2C"/>
            </a:solidFill>
            <a:prstDash val="solid"/>
          </a:ln>
        </p:spPr>
        <p:txBody>
          <a:bodyPr/>
          <a:lstStyle/>
          <a:p>
            <a:endParaRPr lang="en-ZA"/>
          </a:p>
        </p:txBody>
      </p:sp>
      <p:sp>
        <p:nvSpPr>
          <p:cNvPr id="5" name="Text 3"/>
          <p:cNvSpPr txBox="1"/>
          <p:nvPr/>
        </p:nvSpPr>
        <p:spPr>
          <a:xfrm>
            <a:off x="685800" y="159889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1417320" y="1508760"/>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ITERATIVE</a:t>
            </a:r>
            <a:endParaRPr lang="en-US" sz="2400" dirty="0"/>
          </a:p>
        </p:txBody>
      </p:sp>
      <p:sp>
        <p:nvSpPr>
          <p:cNvPr id="7" name="Shape 5"/>
          <p:cNvSpPr/>
          <p:nvPr/>
        </p:nvSpPr>
        <p:spPr>
          <a:xfrm>
            <a:off x="548640" y="2246811"/>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8" name="Shape 6"/>
          <p:cNvSpPr/>
          <p:nvPr/>
        </p:nvSpPr>
        <p:spPr>
          <a:xfrm>
            <a:off x="685800" y="2291225"/>
            <a:ext cx="512064" cy="512064"/>
          </a:xfrm>
          <a:prstGeom prst="ellipse">
            <a:avLst/>
          </a:prstGeom>
          <a:solidFill>
            <a:srgbClr val="1A5C2C"/>
          </a:solidFill>
          <a:ln w="12700">
            <a:solidFill>
              <a:srgbClr val="1A5C2C"/>
            </a:solidFill>
            <a:prstDash val="solid"/>
          </a:ln>
        </p:spPr>
        <p:txBody>
          <a:bodyPr/>
          <a:lstStyle/>
          <a:p>
            <a:endParaRPr lang="en-ZA"/>
          </a:p>
        </p:txBody>
      </p:sp>
      <p:sp>
        <p:nvSpPr>
          <p:cNvPr id="9" name="Text 7"/>
          <p:cNvSpPr txBox="1"/>
          <p:nvPr/>
        </p:nvSpPr>
        <p:spPr>
          <a:xfrm>
            <a:off x="685800" y="2291225"/>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0" name="Text 8"/>
          <p:cNvSpPr txBox="1"/>
          <p:nvPr/>
        </p:nvSpPr>
        <p:spPr>
          <a:xfrm>
            <a:off x="1417320" y="2201091"/>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THINKING &amp; LOGIC</a:t>
            </a:r>
            <a:endParaRPr lang="en-US" sz="2400" dirty="0"/>
          </a:p>
        </p:txBody>
      </p:sp>
      <p:sp>
        <p:nvSpPr>
          <p:cNvPr id="11" name="Shape 9"/>
          <p:cNvSpPr/>
          <p:nvPr/>
        </p:nvSpPr>
        <p:spPr>
          <a:xfrm>
            <a:off x="548640" y="2939143"/>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12" name="Shape 10"/>
          <p:cNvSpPr/>
          <p:nvPr/>
        </p:nvSpPr>
        <p:spPr>
          <a:xfrm>
            <a:off x="685800" y="2983557"/>
            <a:ext cx="512064" cy="512064"/>
          </a:xfrm>
          <a:prstGeom prst="ellipse">
            <a:avLst/>
          </a:prstGeom>
          <a:solidFill>
            <a:srgbClr val="1A5C2C"/>
          </a:solidFill>
          <a:ln w="12700">
            <a:solidFill>
              <a:srgbClr val="1A5C2C"/>
            </a:solidFill>
            <a:prstDash val="solid"/>
          </a:ln>
        </p:spPr>
        <p:txBody>
          <a:bodyPr/>
          <a:lstStyle/>
          <a:p>
            <a:endParaRPr lang="en-ZA"/>
          </a:p>
        </p:txBody>
      </p:sp>
      <p:sp>
        <p:nvSpPr>
          <p:cNvPr id="13" name="Text 11"/>
          <p:cNvSpPr txBox="1"/>
          <p:nvPr/>
        </p:nvSpPr>
        <p:spPr>
          <a:xfrm>
            <a:off x="685800" y="2983557"/>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txBox="1"/>
          <p:nvPr/>
        </p:nvSpPr>
        <p:spPr>
          <a:xfrm>
            <a:off x="1417320" y="2893423"/>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PROCESS</a:t>
            </a:r>
            <a:endParaRPr lang="en-US" sz="2400" dirty="0"/>
          </a:p>
        </p:txBody>
      </p:sp>
      <p:sp>
        <p:nvSpPr>
          <p:cNvPr id="15" name="Shape 13"/>
          <p:cNvSpPr/>
          <p:nvPr/>
        </p:nvSpPr>
        <p:spPr>
          <a:xfrm>
            <a:off x="548640" y="3631474"/>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16" name="Shape 14"/>
          <p:cNvSpPr/>
          <p:nvPr/>
        </p:nvSpPr>
        <p:spPr>
          <a:xfrm>
            <a:off x="685800" y="3675888"/>
            <a:ext cx="512064" cy="512064"/>
          </a:xfrm>
          <a:prstGeom prst="ellipse">
            <a:avLst/>
          </a:prstGeom>
          <a:solidFill>
            <a:srgbClr val="1A5C2C"/>
          </a:solidFill>
          <a:ln w="12700">
            <a:solidFill>
              <a:srgbClr val="1A5C2C"/>
            </a:solidFill>
            <a:prstDash val="solid"/>
          </a:ln>
        </p:spPr>
        <p:txBody>
          <a:bodyPr/>
          <a:lstStyle/>
          <a:p>
            <a:endParaRPr lang="en-ZA"/>
          </a:p>
        </p:txBody>
      </p:sp>
      <p:sp>
        <p:nvSpPr>
          <p:cNvPr id="17" name="Text 15"/>
          <p:cNvSpPr txBox="1"/>
          <p:nvPr/>
        </p:nvSpPr>
        <p:spPr>
          <a:xfrm>
            <a:off x="685800" y="367588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18" name="Text 16"/>
          <p:cNvSpPr txBox="1"/>
          <p:nvPr/>
        </p:nvSpPr>
        <p:spPr>
          <a:xfrm>
            <a:off x="1417320" y="3585754"/>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WHAT</a:t>
            </a:r>
            <a:endParaRPr lang="en-US" sz="2400" dirty="0"/>
          </a:p>
        </p:txBody>
      </p:sp>
      <p:sp>
        <p:nvSpPr>
          <p:cNvPr id="19" name="Shape 17"/>
          <p:cNvSpPr/>
          <p:nvPr/>
        </p:nvSpPr>
        <p:spPr>
          <a:xfrm>
            <a:off x="548640" y="4323806"/>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0" name="Shape 18"/>
          <p:cNvSpPr/>
          <p:nvPr/>
        </p:nvSpPr>
        <p:spPr>
          <a:xfrm>
            <a:off x="685800" y="4368219"/>
            <a:ext cx="512064" cy="512064"/>
          </a:xfrm>
          <a:prstGeom prst="ellipse">
            <a:avLst/>
          </a:prstGeom>
          <a:solidFill>
            <a:srgbClr val="1A5C2C"/>
          </a:solidFill>
          <a:ln w="12700">
            <a:solidFill>
              <a:srgbClr val="1A5C2C"/>
            </a:solidFill>
            <a:prstDash val="solid"/>
          </a:ln>
        </p:spPr>
        <p:txBody>
          <a:bodyPr/>
          <a:lstStyle/>
          <a:p>
            <a:endParaRPr lang="en-ZA"/>
          </a:p>
        </p:txBody>
      </p:sp>
      <p:sp>
        <p:nvSpPr>
          <p:cNvPr id="21" name="Text 19"/>
          <p:cNvSpPr txBox="1"/>
          <p:nvPr/>
        </p:nvSpPr>
        <p:spPr>
          <a:xfrm>
            <a:off x="685800" y="4368219"/>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22" name="Text 20"/>
          <p:cNvSpPr txBox="1"/>
          <p:nvPr/>
        </p:nvSpPr>
        <p:spPr>
          <a:xfrm>
            <a:off x="1417320" y="4278086"/>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WHY</a:t>
            </a:r>
            <a:endParaRPr lang="en-US" sz="2400" dirty="0"/>
          </a:p>
        </p:txBody>
      </p:sp>
      <p:sp>
        <p:nvSpPr>
          <p:cNvPr id="23" name="Shape 21"/>
          <p:cNvSpPr/>
          <p:nvPr/>
        </p:nvSpPr>
        <p:spPr>
          <a:xfrm>
            <a:off x="548640" y="5016137"/>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4" name="Shape 22"/>
          <p:cNvSpPr/>
          <p:nvPr/>
        </p:nvSpPr>
        <p:spPr>
          <a:xfrm>
            <a:off x="685800" y="5060551"/>
            <a:ext cx="512064" cy="512064"/>
          </a:xfrm>
          <a:prstGeom prst="ellipse">
            <a:avLst/>
          </a:prstGeom>
          <a:solidFill>
            <a:srgbClr val="1A5C2C"/>
          </a:solidFill>
          <a:ln w="12700">
            <a:solidFill>
              <a:srgbClr val="1A5C2C"/>
            </a:solidFill>
            <a:prstDash val="solid"/>
          </a:ln>
        </p:spPr>
        <p:txBody>
          <a:bodyPr/>
          <a:lstStyle/>
          <a:p>
            <a:endParaRPr lang="en-ZA"/>
          </a:p>
        </p:txBody>
      </p:sp>
      <p:sp>
        <p:nvSpPr>
          <p:cNvPr id="25" name="Text 23"/>
          <p:cNvSpPr txBox="1"/>
          <p:nvPr/>
        </p:nvSpPr>
        <p:spPr>
          <a:xfrm>
            <a:off x="685800" y="5060551"/>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6</a:t>
            </a:r>
            <a:endParaRPr lang="en-US" sz="2400" dirty="0"/>
          </a:p>
        </p:txBody>
      </p:sp>
      <p:sp>
        <p:nvSpPr>
          <p:cNvPr id="26" name="Text 24"/>
          <p:cNvSpPr txBox="1"/>
          <p:nvPr/>
        </p:nvSpPr>
        <p:spPr>
          <a:xfrm>
            <a:off x="1417320" y="4970417"/>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HOW</a:t>
            </a:r>
            <a:endParaRPr lang="en-US" sz="2400" dirty="0"/>
          </a:p>
        </p:txBody>
      </p:sp>
      <p:sp>
        <p:nvSpPr>
          <p:cNvPr id="27" name="Shape 25"/>
          <p:cNvSpPr/>
          <p:nvPr/>
        </p:nvSpPr>
        <p:spPr>
          <a:xfrm>
            <a:off x="548640" y="5708469"/>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8" name="Shape 26"/>
          <p:cNvSpPr/>
          <p:nvPr/>
        </p:nvSpPr>
        <p:spPr>
          <a:xfrm>
            <a:off x="685800" y="5752882"/>
            <a:ext cx="512064" cy="512064"/>
          </a:xfrm>
          <a:prstGeom prst="ellipse">
            <a:avLst/>
          </a:prstGeom>
          <a:solidFill>
            <a:srgbClr val="1A5C2C"/>
          </a:solidFill>
          <a:ln w="12700">
            <a:solidFill>
              <a:srgbClr val="1A5C2C"/>
            </a:solidFill>
            <a:prstDash val="solid"/>
          </a:ln>
        </p:spPr>
        <p:txBody>
          <a:bodyPr/>
          <a:lstStyle/>
          <a:p>
            <a:endParaRPr lang="en-ZA"/>
          </a:p>
        </p:txBody>
      </p:sp>
      <p:sp>
        <p:nvSpPr>
          <p:cNvPr id="29" name="Text 27"/>
          <p:cNvSpPr txBox="1"/>
          <p:nvPr/>
        </p:nvSpPr>
        <p:spPr>
          <a:xfrm>
            <a:off x="685800" y="5752882"/>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7</a:t>
            </a:r>
            <a:endParaRPr lang="en-US" sz="2400" dirty="0"/>
          </a:p>
        </p:txBody>
      </p:sp>
      <p:sp>
        <p:nvSpPr>
          <p:cNvPr id="30" name="Text 28"/>
          <p:cNvSpPr txBox="1"/>
          <p:nvPr/>
        </p:nvSpPr>
        <p:spPr>
          <a:xfrm>
            <a:off x="1417320" y="5662749"/>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WHEN</a:t>
            </a:r>
            <a:endParaRPr lang="en-US" sz="2400" dirty="0"/>
          </a:p>
        </p:txBody>
      </p:sp>
      <p:sp>
        <p:nvSpPr>
          <p:cNvPr id="31" name="Shape 29"/>
          <p:cNvSpPr/>
          <p:nvPr/>
        </p:nvSpPr>
        <p:spPr>
          <a:xfrm>
            <a:off x="6231636" y="1554480"/>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32" name="Shape 30"/>
          <p:cNvSpPr/>
          <p:nvPr/>
        </p:nvSpPr>
        <p:spPr>
          <a:xfrm>
            <a:off x="6368796" y="1598894"/>
            <a:ext cx="512064" cy="512064"/>
          </a:xfrm>
          <a:prstGeom prst="ellipse">
            <a:avLst/>
          </a:prstGeom>
          <a:solidFill>
            <a:srgbClr val="1A5C2C"/>
          </a:solidFill>
          <a:ln w="12700">
            <a:solidFill>
              <a:srgbClr val="1A5C2C"/>
            </a:solidFill>
            <a:prstDash val="solid"/>
          </a:ln>
        </p:spPr>
        <p:txBody>
          <a:bodyPr/>
          <a:lstStyle/>
          <a:p>
            <a:endParaRPr lang="en-ZA"/>
          </a:p>
        </p:txBody>
      </p:sp>
      <p:sp>
        <p:nvSpPr>
          <p:cNvPr id="33" name="Text 31"/>
          <p:cNvSpPr txBox="1"/>
          <p:nvPr/>
        </p:nvSpPr>
        <p:spPr>
          <a:xfrm>
            <a:off x="6368796" y="159889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8</a:t>
            </a:r>
            <a:endParaRPr lang="en-US" sz="2400" dirty="0"/>
          </a:p>
        </p:txBody>
      </p:sp>
      <p:sp>
        <p:nvSpPr>
          <p:cNvPr id="34" name="Text 32"/>
          <p:cNvSpPr txBox="1"/>
          <p:nvPr/>
        </p:nvSpPr>
        <p:spPr>
          <a:xfrm>
            <a:off x="7100316" y="1508760"/>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CREATES VALUE</a:t>
            </a:r>
            <a:endParaRPr lang="en-US" sz="2400" dirty="0"/>
          </a:p>
        </p:txBody>
      </p:sp>
      <p:sp>
        <p:nvSpPr>
          <p:cNvPr id="35" name="Shape 33"/>
          <p:cNvSpPr/>
          <p:nvPr/>
        </p:nvSpPr>
        <p:spPr>
          <a:xfrm>
            <a:off x="6231636" y="2246811"/>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36" name="Shape 34"/>
          <p:cNvSpPr/>
          <p:nvPr/>
        </p:nvSpPr>
        <p:spPr>
          <a:xfrm>
            <a:off x="6368796" y="2291225"/>
            <a:ext cx="512064" cy="512064"/>
          </a:xfrm>
          <a:prstGeom prst="ellipse">
            <a:avLst/>
          </a:prstGeom>
          <a:solidFill>
            <a:srgbClr val="1A5C2C"/>
          </a:solidFill>
          <a:ln w="12700">
            <a:solidFill>
              <a:srgbClr val="1A5C2C"/>
            </a:solidFill>
            <a:prstDash val="solid"/>
          </a:ln>
        </p:spPr>
        <p:txBody>
          <a:bodyPr/>
          <a:lstStyle/>
          <a:p>
            <a:endParaRPr lang="en-ZA"/>
          </a:p>
        </p:txBody>
      </p:sp>
      <p:sp>
        <p:nvSpPr>
          <p:cNvPr id="37" name="Text 35"/>
          <p:cNvSpPr txBox="1"/>
          <p:nvPr/>
        </p:nvSpPr>
        <p:spPr>
          <a:xfrm>
            <a:off x="6368796" y="2291225"/>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9</a:t>
            </a:r>
            <a:endParaRPr lang="en-US" sz="2400" dirty="0"/>
          </a:p>
        </p:txBody>
      </p:sp>
      <p:sp>
        <p:nvSpPr>
          <p:cNvPr id="38" name="Text 36"/>
          <p:cNvSpPr txBox="1"/>
          <p:nvPr/>
        </p:nvSpPr>
        <p:spPr>
          <a:xfrm>
            <a:off x="7100316" y="2201091"/>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DELIVERS VALUE</a:t>
            </a:r>
            <a:endParaRPr lang="en-US" sz="2400" dirty="0"/>
          </a:p>
        </p:txBody>
      </p:sp>
      <p:sp>
        <p:nvSpPr>
          <p:cNvPr id="39" name="Shape 37"/>
          <p:cNvSpPr/>
          <p:nvPr/>
        </p:nvSpPr>
        <p:spPr>
          <a:xfrm>
            <a:off x="6231636" y="2939143"/>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0" name="Shape 38"/>
          <p:cNvSpPr/>
          <p:nvPr/>
        </p:nvSpPr>
        <p:spPr>
          <a:xfrm>
            <a:off x="6368796" y="2983557"/>
            <a:ext cx="512064" cy="512064"/>
          </a:xfrm>
          <a:prstGeom prst="ellipse">
            <a:avLst/>
          </a:prstGeom>
          <a:solidFill>
            <a:srgbClr val="1A5C2C"/>
          </a:solidFill>
          <a:ln w="12700">
            <a:solidFill>
              <a:srgbClr val="1A5C2C"/>
            </a:solidFill>
            <a:prstDash val="solid"/>
          </a:ln>
        </p:spPr>
        <p:txBody>
          <a:bodyPr/>
          <a:lstStyle/>
          <a:p>
            <a:endParaRPr lang="en-ZA"/>
          </a:p>
        </p:txBody>
      </p:sp>
      <p:sp>
        <p:nvSpPr>
          <p:cNvPr id="41" name="Text 39"/>
          <p:cNvSpPr txBox="1"/>
          <p:nvPr/>
        </p:nvSpPr>
        <p:spPr>
          <a:xfrm>
            <a:off x="6368796" y="2983557"/>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10</a:t>
            </a:r>
            <a:endParaRPr lang="en-US" sz="2400" dirty="0"/>
          </a:p>
        </p:txBody>
      </p:sp>
      <p:sp>
        <p:nvSpPr>
          <p:cNvPr id="42" name="Text 40"/>
          <p:cNvSpPr txBox="1"/>
          <p:nvPr/>
        </p:nvSpPr>
        <p:spPr>
          <a:xfrm>
            <a:off x="7100316" y="2893423"/>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SUSTAINS VALUE</a:t>
            </a:r>
            <a:endParaRPr lang="en-US" sz="2400" dirty="0"/>
          </a:p>
        </p:txBody>
      </p:sp>
      <p:sp>
        <p:nvSpPr>
          <p:cNvPr id="43" name="Shape 41"/>
          <p:cNvSpPr/>
          <p:nvPr/>
        </p:nvSpPr>
        <p:spPr>
          <a:xfrm>
            <a:off x="6231636" y="3631474"/>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4" name="Shape 42"/>
          <p:cNvSpPr/>
          <p:nvPr/>
        </p:nvSpPr>
        <p:spPr>
          <a:xfrm>
            <a:off x="6368796" y="3675888"/>
            <a:ext cx="512064" cy="512064"/>
          </a:xfrm>
          <a:prstGeom prst="ellipse">
            <a:avLst/>
          </a:prstGeom>
          <a:solidFill>
            <a:srgbClr val="1A5C2C"/>
          </a:solidFill>
          <a:ln w="12700">
            <a:solidFill>
              <a:srgbClr val="1A5C2C"/>
            </a:solidFill>
            <a:prstDash val="solid"/>
          </a:ln>
        </p:spPr>
        <p:txBody>
          <a:bodyPr/>
          <a:lstStyle/>
          <a:p>
            <a:endParaRPr lang="en-ZA"/>
          </a:p>
        </p:txBody>
      </p:sp>
      <p:sp>
        <p:nvSpPr>
          <p:cNvPr id="45" name="Text 43"/>
          <p:cNvSpPr txBox="1"/>
          <p:nvPr/>
        </p:nvSpPr>
        <p:spPr>
          <a:xfrm>
            <a:off x="6368796" y="367588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11</a:t>
            </a:r>
            <a:endParaRPr lang="en-US" sz="2400" dirty="0"/>
          </a:p>
        </p:txBody>
      </p:sp>
      <p:sp>
        <p:nvSpPr>
          <p:cNvPr id="46" name="Text 44"/>
          <p:cNvSpPr txBox="1"/>
          <p:nvPr/>
        </p:nvSpPr>
        <p:spPr>
          <a:xfrm>
            <a:off x="7100316" y="3585754"/>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STAKEHOLDERS</a:t>
            </a:r>
            <a:endParaRPr lang="en-US" sz="2400" dirty="0"/>
          </a:p>
        </p:txBody>
      </p:sp>
      <p:sp>
        <p:nvSpPr>
          <p:cNvPr id="47" name="Shape 45"/>
          <p:cNvSpPr/>
          <p:nvPr/>
        </p:nvSpPr>
        <p:spPr>
          <a:xfrm>
            <a:off x="6231636" y="4323806"/>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8" name="Shape 46"/>
          <p:cNvSpPr/>
          <p:nvPr/>
        </p:nvSpPr>
        <p:spPr>
          <a:xfrm>
            <a:off x="6368796" y="4368219"/>
            <a:ext cx="512064" cy="512064"/>
          </a:xfrm>
          <a:prstGeom prst="ellipse">
            <a:avLst/>
          </a:prstGeom>
          <a:solidFill>
            <a:srgbClr val="1A5C2C"/>
          </a:solidFill>
          <a:ln w="12700">
            <a:solidFill>
              <a:srgbClr val="1A5C2C"/>
            </a:solidFill>
            <a:prstDash val="solid"/>
          </a:ln>
        </p:spPr>
        <p:txBody>
          <a:bodyPr/>
          <a:lstStyle/>
          <a:p>
            <a:endParaRPr lang="en-ZA"/>
          </a:p>
        </p:txBody>
      </p:sp>
      <p:sp>
        <p:nvSpPr>
          <p:cNvPr id="49" name="Text 47"/>
          <p:cNvSpPr txBox="1"/>
          <p:nvPr/>
        </p:nvSpPr>
        <p:spPr>
          <a:xfrm>
            <a:off x="6368796" y="4368219"/>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12</a:t>
            </a:r>
            <a:endParaRPr lang="en-US" sz="2400" dirty="0"/>
          </a:p>
        </p:txBody>
      </p:sp>
      <p:sp>
        <p:nvSpPr>
          <p:cNvPr id="50" name="Text 48"/>
          <p:cNvSpPr txBox="1"/>
          <p:nvPr/>
        </p:nvSpPr>
        <p:spPr>
          <a:xfrm>
            <a:off x="7100316" y="4278086"/>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NAVIGATING</a:t>
            </a:r>
            <a:endParaRPr lang="en-US" sz="2400" dirty="0"/>
          </a:p>
        </p:txBody>
      </p:sp>
      <p:sp>
        <p:nvSpPr>
          <p:cNvPr id="51" name="Shape 49"/>
          <p:cNvSpPr/>
          <p:nvPr/>
        </p:nvSpPr>
        <p:spPr>
          <a:xfrm>
            <a:off x="6231636" y="5016137"/>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52" name="Shape 50"/>
          <p:cNvSpPr/>
          <p:nvPr/>
        </p:nvSpPr>
        <p:spPr>
          <a:xfrm>
            <a:off x="6368796" y="5060551"/>
            <a:ext cx="512064" cy="512064"/>
          </a:xfrm>
          <a:prstGeom prst="ellipse">
            <a:avLst/>
          </a:prstGeom>
          <a:solidFill>
            <a:srgbClr val="1A5C2C"/>
          </a:solidFill>
          <a:ln w="12700">
            <a:solidFill>
              <a:srgbClr val="1A5C2C"/>
            </a:solidFill>
            <a:prstDash val="solid"/>
          </a:ln>
        </p:spPr>
        <p:txBody>
          <a:bodyPr/>
          <a:lstStyle/>
          <a:p>
            <a:endParaRPr lang="en-ZA"/>
          </a:p>
        </p:txBody>
      </p:sp>
      <p:sp>
        <p:nvSpPr>
          <p:cNvPr id="53" name="Text 51"/>
          <p:cNvSpPr txBox="1"/>
          <p:nvPr/>
        </p:nvSpPr>
        <p:spPr>
          <a:xfrm>
            <a:off x="6368796" y="5060551"/>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13</a:t>
            </a:r>
            <a:endParaRPr lang="en-US" sz="2400" dirty="0"/>
          </a:p>
        </p:txBody>
      </p:sp>
      <p:sp>
        <p:nvSpPr>
          <p:cNvPr id="54" name="Text 52"/>
          <p:cNvSpPr txBox="1"/>
          <p:nvPr/>
        </p:nvSpPr>
        <p:spPr>
          <a:xfrm>
            <a:off x="7100316" y="4970417"/>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THE FORCES</a:t>
            </a:r>
            <a:endParaRPr lang="en-US" sz="2400" dirty="0"/>
          </a:p>
        </p:txBody>
      </p:sp>
      <p:sp>
        <p:nvSpPr>
          <p:cNvPr id="55" name="Shape 53"/>
          <p:cNvSpPr/>
          <p:nvPr/>
        </p:nvSpPr>
        <p:spPr>
          <a:xfrm>
            <a:off x="6231636" y="5708469"/>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56" name="Shape 54"/>
          <p:cNvSpPr/>
          <p:nvPr/>
        </p:nvSpPr>
        <p:spPr>
          <a:xfrm>
            <a:off x="6368796" y="5752882"/>
            <a:ext cx="512064" cy="512064"/>
          </a:xfrm>
          <a:prstGeom prst="ellipse">
            <a:avLst/>
          </a:prstGeom>
          <a:solidFill>
            <a:srgbClr val="1A5C2C"/>
          </a:solidFill>
          <a:ln w="12700">
            <a:solidFill>
              <a:srgbClr val="1A5C2C"/>
            </a:solidFill>
            <a:prstDash val="solid"/>
          </a:ln>
        </p:spPr>
        <p:txBody>
          <a:bodyPr/>
          <a:lstStyle/>
          <a:p>
            <a:endParaRPr lang="en-ZA"/>
          </a:p>
        </p:txBody>
      </p:sp>
      <p:sp>
        <p:nvSpPr>
          <p:cNvPr id="57" name="Text 55"/>
          <p:cNvSpPr txBox="1"/>
          <p:nvPr/>
        </p:nvSpPr>
        <p:spPr>
          <a:xfrm>
            <a:off x="6368796" y="5752882"/>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14</a:t>
            </a:r>
            <a:endParaRPr lang="en-US" sz="2400" dirty="0"/>
          </a:p>
        </p:txBody>
      </p:sp>
      <p:sp>
        <p:nvSpPr>
          <p:cNvPr id="58" name="Text 56"/>
          <p:cNvSpPr txBox="1"/>
          <p:nvPr/>
        </p:nvSpPr>
        <p:spPr>
          <a:xfrm>
            <a:off x="7100316" y="5662749"/>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OPERATING ENVIRONMENT</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4.1d · Elements 1–3: Strategy Discipline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1 · ITERATIVE</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Continuously refined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2 · THINKING &amp; LOGIC</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cognitive engine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3 · PROCESS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Structured container</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Strategy Discipline: how the strategy is produced, tested and renewed</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4.1e · Elements 4–7: Position and Model</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4 · 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Scope &amp; definition</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5 · 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Purpose &amp; rationale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6 · 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Mechanism &amp; model</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7 · 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Timing &amp; sequencing</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Strategic Position: WHAT · WHY      Strategic Model: HOW · WHEN</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4.1f · Elements 8–11: Value Architecture</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8 · CREATES VALUE</a:t>
            </a:r>
            <a:endParaRPr lang="en-US" sz="2600" dirty="0"/>
          </a:p>
        </p:txBody>
      </p:sp>
      <p:sp>
        <p:nvSpPr>
          <p:cNvPr id="7" name="Text 4"/>
          <p:cNvSpPr txBox="1"/>
          <p:nvPr/>
        </p:nvSpPr>
        <p:spPr>
          <a:xfrm>
            <a:off x="777240" y="2468880"/>
            <a:ext cx="4951476" cy="7315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Origination layer</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9 · DELIVERS VALUE</a:t>
            </a:r>
            <a:endParaRPr lang="en-US" sz="2600" dirty="0"/>
          </a:p>
        </p:txBody>
      </p:sp>
      <p:sp>
        <p:nvSpPr>
          <p:cNvPr id="12" name="Text 8"/>
          <p:cNvSpPr txBox="1"/>
          <p:nvPr/>
        </p:nvSpPr>
        <p:spPr>
          <a:xfrm>
            <a:off x="6460236" y="2468880"/>
            <a:ext cx="4951476" cy="7315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Distribution &amp; access layer</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3977640"/>
            <a:ext cx="274320" cy="274320"/>
          </a:xfrm>
          <a:prstGeom prst="rect">
            <a:avLst/>
          </a:prstGeom>
        </p:spPr>
      </p:pic>
      <p:sp>
        <p:nvSpPr>
          <p:cNvPr id="16" name="Text 11"/>
          <p:cNvSpPr txBox="1"/>
          <p:nvPr/>
        </p:nvSpPr>
        <p:spPr>
          <a:xfrm>
            <a:off x="1508760" y="37947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10 · SUSTAINS VALUE</a:t>
            </a:r>
            <a:endParaRPr lang="en-US" sz="2600" dirty="0"/>
          </a:p>
        </p:txBody>
      </p:sp>
      <p:sp>
        <p:nvSpPr>
          <p:cNvPr id="17" name="Text 12"/>
          <p:cNvSpPr txBox="1"/>
          <p:nvPr/>
        </p:nvSpPr>
        <p:spPr>
          <a:xfrm>
            <a:off x="777240" y="4572000"/>
            <a:ext cx="4951476" cy="7315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Durability &amp; compounding layer</a:t>
            </a:r>
            <a:endParaRPr lang="en-US" sz="2400" dirty="0"/>
          </a:p>
        </p:txBody>
      </p:sp>
      <p:sp>
        <p:nvSpPr>
          <p:cNvPr id="18" name="Shape 13"/>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3977640"/>
            <a:ext cx="274320" cy="274320"/>
          </a:xfrm>
          <a:prstGeom prst="rect">
            <a:avLst/>
          </a:prstGeom>
        </p:spPr>
      </p:pic>
      <p:sp>
        <p:nvSpPr>
          <p:cNvPr id="21" name="Text 15"/>
          <p:cNvSpPr txBox="1"/>
          <p:nvPr/>
        </p:nvSpPr>
        <p:spPr>
          <a:xfrm>
            <a:off x="7191756" y="37947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11 · STAKEHOLDERS</a:t>
            </a:r>
            <a:endParaRPr lang="en-US" sz="2600" dirty="0"/>
          </a:p>
        </p:txBody>
      </p:sp>
      <p:sp>
        <p:nvSpPr>
          <p:cNvPr id="22" name="Text 16"/>
          <p:cNvSpPr txBox="1"/>
          <p:nvPr/>
        </p:nvSpPr>
        <p:spPr>
          <a:xfrm>
            <a:off x="6460236" y="4572000"/>
            <a:ext cx="4951476" cy="7315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Full universe of value recipients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Value Architecture: value created, delivered and sustained, and for whom</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4.1g · Elements 12–14: Strategic Navigation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12 · NAVIGATING</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Active, skilful movement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13 · THE FORCES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be navigated</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14 · OPERATING ENVIRONMENT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bounded context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Strategic Navigation: reading and moving through the environment</a:t>
            </a:r>
            <a:endParaRPr lang="en-US" sz="2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4.1h · The Strategy Architecture output</a:t>
            </a:r>
            <a:endParaRPr lang="en-US" sz="3600" dirty="0"/>
          </a:p>
        </p:txBody>
      </p:sp>
      <p:sp>
        <p:nvSpPr>
          <p:cNvPr id="3" name="Shape 1"/>
          <p:cNvSpPr/>
          <p:nvPr/>
        </p:nvSpPr>
        <p:spPr>
          <a:xfrm>
            <a:off x="548640" y="1626718"/>
            <a:ext cx="550469" cy="550469"/>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86257" y="1764335"/>
            <a:ext cx="275234" cy="275234"/>
          </a:xfrm>
          <a:prstGeom prst="rect">
            <a:avLst/>
          </a:prstGeom>
        </p:spPr>
      </p:pic>
      <p:sp>
        <p:nvSpPr>
          <p:cNvPr id="5" name="Text 2"/>
          <p:cNvSpPr txBox="1"/>
          <p:nvPr/>
        </p:nvSpPr>
        <p:spPr>
          <a:xfrm>
            <a:off x="1419149" y="1508760"/>
            <a:ext cx="10221163" cy="78638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Strategic Position  </a:t>
            </a:r>
            <a:r>
              <a:rPr lang="en-US" sz="2400" dirty="0">
                <a:solidFill>
                  <a:srgbClr val="1F2A22"/>
                </a:solidFill>
                <a:latin typeface="Calibri" pitchFamily="34" charset="0"/>
                <a:ea typeface="Calibri" pitchFamily="34" charset="-122"/>
                <a:cs typeface="Calibri" pitchFamily="34" charset="-120"/>
              </a:rPr>
              <a:t>WHAT · WHY</a:t>
            </a:r>
            <a:endParaRPr lang="en-US" sz="2400" dirty="0"/>
          </a:p>
        </p:txBody>
      </p:sp>
      <p:sp>
        <p:nvSpPr>
          <p:cNvPr id="6" name="Shape 3"/>
          <p:cNvSpPr/>
          <p:nvPr/>
        </p:nvSpPr>
        <p:spPr>
          <a:xfrm>
            <a:off x="548640" y="2413102"/>
            <a:ext cx="550469" cy="550469"/>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86257" y="2550719"/>
            <a:ext cx="275234" cy="275234"/>
          </a:xfrm>
          <a:prstGeom prst="rect">
            <a:avLst/>
          </a:prstGeom>
        </p:spPr>
      </p:pic>
      <p:sp>
        <p:nvSpPr>
          <p:cNvPr id="8" name="Text 4"/>
          <p:cNvSpPr txBox="1"/>
          <p:nvPr/>
        </p:nvSpPr>
        <p:spPr>
          <a:xfrm>
            <a:off x="1419149" y="2295144"/>
            <a:ext cx="10221163" cy="78638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Strategic Model  </a:t>
            </a:r>
            <a:r>
              <a:rPr lang="en-US" sz="2400" dirty="0">
                <a:solidFill>
                  <a:srgbClr val="1F2A22"/>
                </a:solidFill>
                <a:latin typeface="Calibri" pitchFamily="34" charset="0"/>
                <a:ea typeface="Calibri" pitchFamily="34" charset="-122"/>
                <a:cs typeface="Calibri" pitchFamily="34" charset="-120"/>
              </a:rPr>
              <a:t>HOW · WHEN</a:t>
            </a:r>
            <a:endParaRPr lang="en-US" sz="2400" dirty="0"/>
          </a:p>
        </p:txBody>
      </p:sp>
      <p:sp>
        <p:nvSpPr>
          <p:cNvPr id="9" name="Shape 5"/>
          <p:cNvSpPr/>
          <p:nvPr/>
        </p:nvSpPr>
        <p:spPr>
          <a:xfrm>
            <a:off x="548640" y="3199486"/>
            <a:ext cx="550469" cy="550469"/>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86257" y="3337103"/>
            <a:ext cx="275234" cy="275234"/>
          </a:xfrm>
          <a:prstGeom prst="rect">
            <a:avLst/>
          </a:prstGeom>
        </p:spPr>
      </p:pic>
      <p:sp>
        <p:nvSpPr>
          <p:cNvPr id="11" name="Text 6"/>
          <p:cNvSpPr txBox="1"/>
          <p:nvPr/>
        </p:nvSpPr>
        <p:spPr>
          <a:xfrm>
            <a:off x="1419149" y="3081528"/>
            <a:ext cx="10221163" cy="78638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 Architecture  </a:t>
            </a:r>
            <a:r>
              <a:rPr lang="en-US" sz="2400" dirty="0">
                <a:solidFill>
                  <a:srgbClr val="1F2A22"/>
                </a:solidFill>
                <a:latin typeface="Calibri" pitchFamily="34" charset="0"/>
                <a:ea typeface="Calibri" pitchFamily="34" charset="-122"/>
                <a:cs typeface="Calibri" pitchFamily="34" charset="-120"/>
              </a:rPr>
              <a:t>CREATES · DELIVERS · SUSTAINS VALUE · STAKEHOLDERS</a:t>
            </a:r>
            <a:endParaRPr lang="en-US" sz="2400" dirty="0"/>
          </a:p>
        </p:txBody>
      </p:sp>
      <p:sp>
        <p:nvSpPr>
          <p:cNvPr id="12" name="Shape 7"/>
          <p:cNvSpPr/>
          <p:nvPr/>
        </p:nvSpPr>
        <p:spPr>
          <a:xfrm>
            <a:off x="548640" y="3985870"/>
            <a:ext cx="550469" cy="550469"/>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86257" y="4123487"/>
            <a:ext cx="275234" cy="275234"/>
          </a:xfrm>
          <a:prstGeom prst="rect">
            <a:avLst/>
          </a:prstGeom>
        </p:spPr>
      </p:pic>
      <p:sp>
        <p:nvSpPr>
          <p:cNvPr id="14" name="Text 8"/>
          <p:cNvSpPr txBox="1"/>
          <p:nvPr/>
        </p:nvSpPr>
        <p:spPr>
          <a:xfrm>
            <a:off x="1419149" y="3867912"/>
            <a:ext cx="10221163" cy="78638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Strategic Navigation  </a:t>
            </a:r>
            <a:r>
              <a:rPr lang="en-US" sz="2400" dirty="0">
                <a:solidFill>
                  <a:srgbClr val="1F2A22"/>
                </a:solidFill>
                <a:latin typeface="Calibri" pitchFamily="34" charset="0"/>
                <a:ea typeface="Calibri" pitchFamily="34" charset="-122"/>
                <a:cs typeface="Calibri" pitchFamily="34" charset="-120"/>
              </a:rPr>
              <a:t>NAVIGATING · THE FORCES · OPERATING ENVIRONMENT</a:t>
            </a:r>
            <a:endParaRPr lang="en-US" sz="2400" dirty="0"/>
          </a:p>
        </p:txBody>
      </p:sp>
      <p:sp>
        <p:nvSpPr>
          <p:cNvPr id="15" name="Shape 9"/>
          <p:cNvSpPr/>
          <p:nvPr/>
        </p:nvSpPr>
        <p:spPr>
          <a:xfrm>
            <a:off x="548640" y="4772254"/>
            <a:ext cx="550469" cy="550469"/>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86257" y="4909871"/>
            <a:ext cx="275234" cy="275234"/>
          </a:xfrm>
          <a:prstGeom prst="rect">
            <a:avLst/>
          </a:prstGeom>
        </p:spPr>
      </p:pic>
      <p:sp>
        <p:nvSpPr>
          <p:cNvPr id="17" name="Text 10"/>
          <p:cNvSpPr txBox="1"/>
          <p:nvPr/>
        </p:nvSpPr>
        <p:spPr>
          <a:xfrm>
            <a:off x="1419149" y="4654296"/>
            <a:ext cx="10221163" cy="78638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Strategy Discipline  </a:t>
            </a:r>
            <a:r>
              <a:rPr lang="en-US" sz="2400" dirty="0">
                <a:solidFill>
                  <a:srgbClr val="1F2A22"/>
                </a:solidFill>
                <a:latin typeface="Calibri" pitchFamily="34" charset="0"/>
                <a:ea typeface="Calibri" pitchFamily="34" charset="-122"/>
                <a:cs typeface="Calibri" pitchFamily="34" charset="-120"/>
              </a:rPr>
              <a:t>ITERATIVE · THINKING &amp; LOGIC · PROCESS</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“What is this architecture collectively saying about the organisation’s strategy?”</a:t>
            </a:r>
            <a:endParaRPr lang="en-US" sz="2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4.1i · Six checks before finalising</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 our choices reinforce one another?</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Where are there contradictions or unresolved tensions?</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our HOW support what we have chosen to achieve?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our timing and sequencing reflect the realities of our capability and environment?</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Have we addressed how value will be created, delivered and sustained?</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the architecture represent the strategic position we collectively intend?</a:t>
            </a:r>
            <a:endParaRPr lang="en-US" sz="2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Step 2: the Strategy Intent Statement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value chosen and its field of play</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rationale for the choices and why they matter</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model, capabilities and mechanisms that deliver the value</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timing, sequencing and strategic moves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“Does this statement faithfully express the strategic ambition contained in our Architecture?”</a:t>
            </a:r>
            <a:endParaRPr lang="en-US" sz="2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4.3a · Step 3: Build Success in Practice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customers and other value recipients see and experience?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be visible in how the organisation operates and executes?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be visible in how people understand, decide and behave?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should the organisation benefit across its success metrics?</a:t>
            </a:r>
            <a:endParaRPr lang="en-US" sz="2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4.3b · Step 3: confirm and test the SiP</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Confirm each domain:  </a:t>
            </a:r>
            <a:r>
              <a:rPr lang="en-US" sz="2600" dirty="0">
                <a:solidFill>
                  <a:srgbClr val="1F2A22"/>
                </a:solidFill>
                <a:latin typeface="Calibri" pitchFamily="34" charset="0"/>
                <a:ea typeface="Calibri" pitchFamily="34" charset="-122"/>
                <a:cs typeface="Calibri" pitchFamily="34" charset="-120"/>
              </a:rPr>
              <a:t>is this what success should look like if our Strategy Intent is realised?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Depth:  </a:t>
            </a:r>
            <a:r>
              <a:rPr lang="en-US" sz="2600" dirty="0">
                <a:solidFill>
                  <a:srgbClr val="1F2A22"/>
                </a:solidFill>
                <a:latin typeface="Calibri" pitchFamily="34" charset="0"/>
                <a:ea typeface="Calibri" pitchFamily="34" charset="-122"/>
                <a:cs typeface="Calibri" pitchFamily="34" charset="-120"/>
              </a:rPr>
              <a:t>could we recognise the condition if we saw it in practice?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Balance:  </a:t>
            </a:r>
            <a:r>
              <a:rPr lang="en-US" sz="2600" dirty="0">
                <a:solidFill>
                  <a:srgbClr val="1F2A22"/>
                </a:solidFill>
                <a:latin typeface="Calibri" pitchFamily="34" charset="0"/>
                <a:ea typeface="Calibri" pitchFamily="34" charset="-122"/>
                <a:cs typeface="Calibri" pitchFamily="34" charset="-120"/>
              </a:rPr>
              <a:t>enterprise success, or one dominant perspective?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Final check:  </a:t>
            </a:r>
            <a:r>
              <a:rPr lang="en-US" sz="2600" dirty="0">
                <a:solidFill>
                  <a:srgbClr val="1F2A22"/>
                </a:solidFill>
                <a:latin typeface="Calibri" pitchFamily="34" charset="0"/>
                <a:ea typeface="Calibri" pitchFamily="34" charset="-122"/>
                <a:cs typeface="Calibri" pitchFamily="34" charset="-120"/>
              </a:rPr>
              <a:t>the SiP Flammables</a:t>
            </a:r>
            <a:endParaRPr lang="en-US" sz="2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4.3c · Three connected outputs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 Architecture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Provides the logic</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 Intent</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Crystallises the ambition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Success in Practice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Makes the ambition observable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Display or print the three together: the Strategy Intent Design.</a:t>
            </a:r>
            <a:endParaRPr lang="en-US" sz="2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From Success in Practice to Leadership Contribution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Apply the agreed Success in Practice to specific executive roles.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Define what each leadership role must contribute to make the Strategy Intent real.</a:t>
            </a:r>
            <a:endParaRPr lang="en-US" sz="2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5.1a · Role Contribution to SiP</a:t>
            </a:r>
            <a:endParaRPr lang="en-US" sz="3600" dirty="0"/>
          </a:p>
        </p:txBody>
      </p:sp>
      <p:sp>
        <p:nvSpPr>
          <p:cNvPr id="3" name="Shape 1"/>
          <p:cNvSpPr/>
          <p:nvPr/>
        </p:nvSpPr>
        <p:spPr>
          <a:xfrm>
            <a:off x="548640" y="1508760"/>
            <a:ext cx="11091672" cy="1737360"/>
          </a:xfrm>
          <a:prstGeom prst="roundRect">
            <a:avLst>
              <a:gd name="adj" fmla="val 5263"/>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822960" y="1508760"/>
            <a:ext cx="10607040" cy="1737360"/>
          </a:xfrm>
          <a:prstGeom prst="rect">
            <a:avLst/>
          </a:prstGeom>
          <a:noFill/>
          <a:ln/>
        </p:spPr>
        <p:txBody>
          <a:bodyPr wrap="square" lIns="0" tIns="0" rIns="0" bIns="0" rtlCol="0" anchor="ctr"/>
          <a:lstStyle/>
          <a:p>
            <a:pPr marL="0" indent="0">
              <a:buNone/>
            </a:pPr>
            <a:r>
              <a:rPr lang="en-US" sz="2800" i="1" dirty="0">
                <a:solidFill>
                  <a:srgbClr val="FFFFFF"/>
                </a:solidFill>
                <a:latin typeface="Calibri" pitchFamily="34" charset="0"/>
                <a:ea typeface="Calibri" pitchFamily="34" charset="-122"/>
                <a:cs typeface="Calibri" pitchFamily="34" charset="-120"/>
              </a:rPr>
              <a:t>“From this role, what must be contributed so that the agreed Success in Practice becomes real?”</a:t>
            </a:r>
            <a:endParaRPr lang="en-US" sz="2800" dirty="0"/>
          </a:p>
        </p:txBody>
      </p:sp>
      <p:sp>
        <p:nvSpPr>
          <p:cNvPr id="5" name="Shape 3"/>
          <p:cNvSpPr/>
          <p:nvPr/>
        </p:nvSpPr>
        <p:spPr>
          <a:xfrm>
            <a:off x="548640"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6" name="Text 4"/>
          <p:cNvSpPr txBox="1"/>
          <p:nvPr/>
        </p:nvSpPr>
        <p:spPr>
          <a:xfrm>
            <a:off x="548640"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CEO</a:t>
            </a:r>
            <a:endParaRPr lang="en-US" sz="2800" dirty="0"/>
          </a:p>
        </p:txBody>
      </p:sp>
      <p:sp>
        <p:nvSpPr>
          <p:cNvPr id="7" name="Shape 5"/>
          <p:cNvSpPr/>
          <p:nvPr/>
        </p:nvSpPr>
        <p:spPr>
          <a:xfrm>
            <a:off x="2802636"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8" name="Text 6"/>
          <p:cNvSpPr txBox="1"/>
          <p:nvPr/>
        </p:nvSpPr>
        <p:spPr>
          <a:xfrm>
            <a:off x="2802636"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CFO</a:t>
            </a:r>
            <a:endParaRPr lang="en-US" sz="2800" dirty="0"/>
          </a:p>
        </p:txBody>
      </p:sp>
      <p:sp>
        <p:nvSpPr>
          <p:cNvPr id="9" name="Shape 7"/>
          <p:cNvSpPr/>
          <p:nvPr/>
        </p:nvSpPr>
        <p:spPr>
          <a:xfrm>
            <a:off x="5056632"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0" name="Text 8"/>
          <p:cNvSpPr txBox="1"/>
          <p:nvPr/>
        </p:nvSpPr>
        <p:spPr>
          <a:xfrm>
            <a:off x="5056632"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COO</a:t>
            </a:r>
            <a:endParaRPr lang="en-US" sz="2800" dirty="0"/>
          </a:p>
        </p:txBody>
      </p:sp>
      <p:sp>
        <p:nvSpPr>
          <p:cNvPr id="11" name="Shape 9"/>
          <p:cNvSpPr/>
          <p:nvPr/>
        </p:nvSpPr>
        <p:spPr>
          <a:xfrm>
            <a:off x="7310628"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2" name="Text 10"/>
          <p:cNvSpPr txBox="1"/>
          <p:nvPr/>
        </p:nvSpPr>
        <p:spPr>
          <a:xfrm>
            <a:off x="7310628"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CHRO</a:t>
            </a:r>
            <a:endParaRPr lang="en-US" sz="2800" dirty="0"/>
          </a:p>
        </p:txBody>
      </p:sp>
      <p:sp>
        <p:nvSpPr>
          <p:cNvPr id="13" name="Shape 11"/>
          <p:cNvSpPr/>
          <p:nvPr/>
        </p:nvSpPr>
        <p:spPr>
          <a:xfrm>
            <a:off x="9564624"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4" name="Text 12"/>
          <p:cNvSpPr txBox="1"/>
          <p:nvPr/>
        </p:nvSpPr>
        <p:spPr>
          <a:xfrm>
            <a:off x="9564624"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CTO</a:t>
            </a:r>
            <a:endParaRPr lang="en-US" sz="2800" dirty="0"/>
          </a:p>
        </p:txBody>
      </p:sp>
      <p:sp>
        <p:nvSpPr>
          <p:cNvPr id="15" name="Shape 13"/>
          <p:cNvSpPr/>
          <p:nvPr/>
        </p:nvSpPr>
        <p:spPr>
          <a:xfrm>
            <a:off x="548640"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6" name="Text 14"/>
          <p:cNvSpPr txBox="1"/>
          <p:nvPr/>
        </p:nvSpPr>
        <p:spPr>
          <a:xfrm>
            <a:off x="548640"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CMO</a:t>
            </a:r>
            <a:endParaRPr lang="en-US" sz="2800" dirty="0"/>
          </a:p>
        </p:txBody>
      </p:sp>
      <p:sp>
        <p:nvSpPr>
          <p:cNvPr id="17" name="Shape 15"/>
          <p:cNvSpPr/>
          <p:nvPr/>
        </p:nvSpPr>
        <p:spPr>
          <a:xfrm>
            <a:off x="2802636"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8" name="Text 16"/>
          <p:cNvSpPr txBox="1"/>
          <p:nvPr/>
        </p:nvSpPr>
        <p:spPr>
          <a:xfrm>
            <a:off x="2802636"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CCO</a:t>
            </a:r>
            <a:endParaRPr lang="en-US" sz="2800" dirty="0"/>
          </a:p>
        </p:txBody>
      </p:sp>
      <p:sp>
        <p:nvSpPr>
          <p:cNvPr id="19" name="Shape 17"/>
          <p:cNvSpPr/>
          <p:nvPr/>
        </p:nvSpPr>
        <p:spPr>
          <a:xfrm>
            <a:off x="5056632"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20" name="Text 18"/>
          <p:cNvSpPr txBox="1"/>
          <p:nvPr/>
        </p:nvSpPr>
        <p:spPr>
          <a:xfrm>
            <a:off x="5056632"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CPO</a:t>
            </a:r>
            <a:endParaRPr lang="en-US" sz="2800" dirty="0"/>
          </a:p>
        </p:txBody>
      </p:sp>
      <p:sp>
        <p:nvSpPr>
          <p:cNvPr id="21" name="Shape 19"/>
          <p:cNvSpPr/>
          <p:nvPr/>
        </p:nvSpPr>
        <p:spPr>
          <a:xfrm>
            <a:off x="7310628"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22" name="Text 20"/>
          <p:cNvSpPr txBox="1"/>
          <p:nvPr/>
        </p:nvSpPr>
        <p:spPr>
          <a:xfrm>
            <a:off x="7310628"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CRO</a:t>
            </a:r>
            <a:endParaRPr lang="en-US" sz="2800" dirty="0"/>
          </a:p>
        </p:txBody>
      </p:sp>
      <p:sp>
        <p:nvSpPr>
          <p:cNvPr id="23" name="Shape 21"/>
          <p:cNvSpPr/>
          <p:nvPr/>
        </p:nvSpPr>
        <p:spPr>
          <a:xfrm>
            <a:off x="9564624"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24" name="Text 22"/>
          <p:cNvSpPr txBox="1"/>
          <p:nvPr/>
        </p:nvSpPr>
        <p:spPr>
          <a:xfrm>
            <a:off x="9564624"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CSO</a:t>
            </a:r>
            <a:endParaRPr lang="en-US" sz="2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5.1b · Writing the contribution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Write like this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Present tense of the future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“Customers experience…”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“Operations are able to…”</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consistently…”</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organisation creates value through…”</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Push back on</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General statements</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“Support the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“Improve communication”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“Collaborate better”</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“Drive performance”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What does this role specifically decide, enable, coordinate, resource, protect or change?</a:t>
            </a:r>
            <a:endParaRPr lang="en-US" sz="2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SiP Statement Collective Application</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Alignment</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contributions support the SiP statement and one another</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Gaps</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Which part of the SiP statement has no role contributing to it</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Tensions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role contributions pull against one another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Execution Ownership</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the SiP statement needs clearer execution ownership</a:t>
            </a:r>
            <a:endParaRPr lang="en-US" sz="2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5 Reflections</a:t>
            </a:r>
            <a:endParaRPr lang="en-US" sz="3600" dirty="0"/>
          </a:p>
        </p:txBody>
      </p:sp>
      <p:pic>
        <p:nvPicPr>
          <p:cNvPr id="3" name="Reflection 5.2" descr="Reflection — Application: Having completed the full application exercise — what is the single most important shift your organisation must make to close the gap between your current strategic capability and the SiP you have collectively described?"/>
          <p:cNvPicPr>
            <a:picLocks noChangeAspect="1"/>
          </p:cNvPicPr>
          <p:nvPr/>
        </p:nvPicPr>
        <p:blipFill>
          <a:blip r:embed="rId3"/>
          <a:stretch>
            <a:fillRect/>
          </a:stretch>
        </p:blipFill>
        <p:spPr>
          <a:xfrm>
            <a:off x="1691640" y="1572768"/>
            <a:ext cx="9921240" cy="1425466"/>
          </a:xfrm>
          <a:prstGeom prst="rect">
            <a:avLst/>
          </a:prstGeom>
        </p:spPr>
      </p:pic>
      <p:sp>
        <p:nvSpPr>
          <p:cNvPr id="4" name="Part 5.2"/>
          <p:cNvSpPr/>
          <p:nvPr/>
        </p:nvSpPr>
        <p:spPr>
          <a:xfrm>
            <a:off x="548640" y="185116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5.2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Read your original definition of strategy. What would you change in it now — and why?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Based on what Unit 2 revealed, the one thing I am committed to doing differently before our next session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33464</Words>
  <Application>Microsoft Office PowerPoint</Application>
  <PresentationFormat>Widescreen</PresentationFormat>
  <Paragraphs>597</Paragraphs>
  <Slides>48</Slides>
  <Notes>48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48</vt:i4>
      </vt:variant>
    </vt:vector>
  </HeadingPairs>
  <TitlesOfParts>
    <vt:vector size="52"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2 · Strategy Visioning &amp; Success in Practice (SiP)</dc:title>
  <dc:subject>PptxGenJS Presentation</dc:subject>
  <dc:creator>Institute of Behavioural Strategy &amp; Leadership</dc:creator>
  <cp:lastModifiedBy>Carol Lupiya</cp:lastModifiedBy>
  <cp:revision>2</cp:revision>
  <dcterms:created xsi:type="dcterms:W3CDTF">2026-10-05T18:26:18Z</dcterms:created>
  <dcterms:modified xsi:type="dcterms:W3CDTF">2026-10-05T18:49:03Z</dcterms:modified>
</cp:coreProperties>
</file>