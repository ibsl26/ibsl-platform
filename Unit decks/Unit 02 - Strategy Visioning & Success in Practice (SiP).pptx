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Unit intent (Facilitator Guide):
Unit 2 builds the direction every later unit depends on: a Strategic Intent Statement and a Success in Practice narrative co-created by the leadership team. The 3W1H framework gives intent its structure; the four SiP dimensions make success observable.
The Strategy Maturity Assessment and the SiP contributions carry the unit. Protect time for executives to hear each other’s role perspectives before the contributions are integrated into one shared view.
Unit overview (facilitator file): This unit builds the master definition of strategy, the 3W1H framework, and produces two integrated outputs — a Strategic Intent Statement and a Success in Practice narrative — through collective executive co-creation.
Time: section timings in the facilitator file add up to 175–240 minutes (about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strategic intent in relation to the organisation’s purpose, long-term value and stakeholder relevance.
2. Define a coherent future position and the organisational meaning of success.
3. Evaluate the consistency between strategic ambition, organisational identity and the realities of the operating environment.
4. Establish a shared strategic direction that supports consistent enterprise interpretation and decision-making.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25–35 minutes
- Section 2 · Intelligence — Why: 20–25 minutes
- Section 3 · Extrapolating — Where: 20–25 minutes
- Section 4 · Integration — Collective: 55–75 minutes
- Section 5 · Application — In Practice: 55–80 minutes
Key Facilitation Questions
“Could every member of your executive team state your organisation’s strategic intent in the same words? Where would the versions differ?”
“What would a customer, an employee and a shareholder observe if your strategy were succeeding?”
“Which SiP dimension does your leadership team discuss least? What drift does that silence create?”
“Which of the 26 maturity areas surprised you most, and what corrective action does it demand?”
Tone &amp; Watch Points
Watch for: intent statements that describe activity. Push for the destination: “What position will the organisation hold when this is achieved?”
Watch for: one SiP dimension dominating the conversation, most often Enterprise Value. Ask each role to speak for a dimension outside its function.
Application: the SiP Headline must be one sentence every leader can repeat. Test it by asking two participants to recite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Strategy?
Interrogative Anchor · What is strategy? What is strategic intent? What is Success in Practice?
Section learning outcomes:
1. Articulate strategic intent in terms of what the organisation pursues, why, how and when.
2. Distinguish the direction an organisation sets from the future position that defines its success.
FACILITATOR GUIDANCE — Section 1 · Awareness
Section intent: This section establishes the conceptual bedrock of the entire unit. Before any co-creation can happen, participants must share a single, precise definition of strategy and understand its three building blocks: the master definition, the 3W1H framework, and Success in Practice. Do not rush this. Every word in the master definition has strategic consequence.
Opening the session: Before showing any content, ask participants — "Write your definition of strategy in one sentence — right now, without consulting anyone." Collect 3–4 responses. Note the differences on a whiteboard. This gap between answers is exactly the problem this unit solves. Use it as the opening provocation.
Suggested section time: 25–35 minutes across all three sections.
Facilitator Script
Before this organisation can define where it is going, leaders must agree on what strategy actually means in the precise operational sense that makes every subsequent decision coherent. Open by asking: "If I asked each of you to write your definition of strategy on a card right now — would they match?" The gap between answers is the problem this unit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Before showing any content, ask participants: “Write your definition of strategy in one sentence — right now, without consulting anyone.”
Collect 3–4 responses. Note the differences on a whiteboard. This gap between answers is exactly the problem this unit solves. Use it as the opening provocation.
Keep these definitions: you return to them at the Unit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STRATEGY MASTER DEFINITION (7 Concepts · Click to expand each)
FACILITATOR GUIDANCE — Section 1
Directing participants through the 7 concepts: Ask participants to expand each concept card individually and read it before moving to the next. Allow 3–4 minutes of individual reading. Then ask: "Which of these seven concepts is least visible in how your organisation currently talks about strategy?"
Key concept to linger on: The distinction between Thinking &amp; Logic (OUTPUT concept) and Process (structured container). Most organisations have process but neglect thinking quality — the definition forces participants to see this gap.
The Value Triad (Creates · Delivers · Sustains): Draw explicit attention to this concept. Ask: "Is your current strategy as strong on Sustains as it is on Creates and Delivers? Where is the investment in sustainability of value?" This often surfaces an uncomfortable silence.
Suggested time: 8–10 minutes.
Content:
"Strategy is the output of iterative thinking, logic and process to determine what, why, how and when an organisation creates, delivers and sustains value to its stakeholders while navigating the forces within its operating environment."
Every word carries strategic weight. Expand each concept below.
Participant file (1.1 — Strategy Master Definition) — prompts participants complete:
- ✎ Reflection — The Definition Which element of the master definition is least clearly present in your organisation's current strategy? What is the consequence of its absence?</a:t>
            </a:r>
            <a:endParaRPr lang="en-US" dirty="0"/>
          </a:p>
          <a:p/>
          <a:p>
            <a:r>
              <a:t>Professional insights:</a:t>
            </a:r>
          </a:p>
          <a:p/>
          <a:p>
            <a:r>
              <a:t>Bringing order: Every strategy takes complexity and gives it structure. The first act of strategic leadership is to bring order to what is chaotic and to name things clearly.</a:t>
            </a:r>
          </a:p>
          <a:p>
            <a:r>
              <a:t>Source: Journal, 4 January 2026 — Professional Insights: Strategy</a:t>
            </a:r>
          </a:p>
          <a:p/>
          <a:p>
            <a:r>
              <a:t>Value for whom: An organisation can have alignment, resources, skill and momentum and still fail when its strategy rests on the wrong foundation. A strategy designed mainly to build the reputation of its builders serves the wrong master. Anchor strategy in what the organisation is trying to achieve for its stakeholders. Use this with “creates, delivers and sustains value to its stakeholders”.</a:t>
            </a:r>
          </a:p>
          <a:p>
            <a:r>
              <a:t>Source: Journal, 10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MASTER DEFINITION CONCEPTS (expand each in the file)
OUTPUT — A decided position
What it means: Strategy is a tangible, expressible, decided position. The output is what can be tested, challenged, and acted upon.
Strategic implication: Clarity of direction. People know what the organisation has committed to and can align decisions to it.
Failure mode: Strategy remains trapped in conversations. Activity is mistaken for direction. No one can articulate what was actually decided.
ITERATIVE — Continuously refined
What it means: Strategy is never finished in one pass. It is a hypothesis that loops: form → test against reality → revise → repeat.
Strategic implication: Adaptability. The organisation stays responsive to changing conditions without losing its overall direction.
Failure mode: Strategy becomes doctrine — defended as settled belief and closed to evidence. Stale assumptions compound until the organisation is blindsided.
THINKING &amp; LOGIC — The cognitive engine
What it means: Thinking is divergent and exploratory — generating hypotheses and questioning assumptions. Logic is convergent and analytical — testing what must be true for the strategy to hold. Both are required in sequence.
Strategic implication: Strategy is reasoned. This prevents both wishful thinking and paralysis by analysis.
Failure mode: Either wishful vision (thinking without logic) or analysis paralysis (logic without fresh thinking). Most organisations over-invest in data and under-invest in genuinely uncomfortable questions.
PROCESS — The structured container
What it means: Process converts ad hoc thinking into a repeatable, auditable, scalable method. It defines who is involved, what inputs are needed, which tools are used, and what decisions are made at each stage.
Strategic implication: Strategy becomes an organisational capability. It survives leadership change and does not restart from zero each cycle.
Failure mode: Strategy is brilliant but fragile. When the individual who carries it in their head leaves, the capability collapses.
WHAT · WHY · HOW · WHEN — The 3Ws &amp; H — complete decision space
What it means: These four dimensions define every coherent strategy. WHAT sets the domain and scope. WHY establishes the differentiating logic. HOW defines the operating model. WHEN governs timing and sequencing.
Strategic implication: A complete and internally consistent strategy. Each dimension is a necessary condition for the others.
Failure mode: Structural incompleteness. WHAT and WHY without HOW and WHEN is vision without execution. HOW without WHY is activity without logic.
CREATES · DELIVERS · SUSTAINS — The Value Triad
What it means: Creating value means nothing if it does not reach its intended recipients. Delivering value means nothing if the conditions that make it possible are steadily depleted. All three layers must be explicitly designed and invested in.
Strategic implication: Long-term viability. The organisation does not harvest today at the expense of tomorrow. Value compounds over time.
Failure mode: Most organisations over-invest in creation and delivery while underinvesting in sustainability — the culture, financial health, and ecosystem relationships that make value durable.
STAKEHOLDERS — Broader than customers
What it means: Everyone with a stake in the organisation's actions: customers, employees, investors, communities, regulators, and partners. The choice of this word is a values statement — strategy must account for the full stakeholder universe.
Strategic implication: Legitimacy and resilience. Organisations that optimise for one stakeholder class create fragilities that others eventually exploit or oppose.
Failure mode: Blind spots. When any stakeholder group is systematically ignored, each becomes a structural risk.
NAVIGATING — Active, skilful movement through forces
What it means: Navigation implies agency — the deliberate, skilled reading of forces and the intentional choice of how to move in response to them. Strategy is a continuous navigation discipline: the forces in the operating environment do not pause when the strategy is set, when targets are reached, or when the organisation is performing well.
Strategic implication: The organisation maintains strategic control even as conditions shift. Leaders make deliberate moves and shape their circumstances. Navigation transforms external pressure from a threat into a manageable variable.
Failure mode: The organisation becomes reactive — responding to what has already happened, with little anticipation of what is coming. Reactive organisations lose strategic initiative and operate in permanent catch-up. Navigation is what separates strategic leadership from operational management.
THE FORCES — Five categories every strategy must navigate
What it means: Five distinct force categories continuously shape the environment in which strategy must deliver: (1) Competitive forces — rivals, new entrants, substitutes, and shifts in customer power; (2) Macro-environmental forces — economic cycles, regulatory frameworks, political dynamics, and technological infrastructure; (3) Disruptive forces — new business models and technology applications emerging at the margins of the industry; (4) Social and environmental forces — stakeholder expectations, social norms, ESG standards, and demographic shifts operating simultaneously across all stakeholder groups; (5) Internal forces — culture, enterprise behaviour patterns, institutional habits, and legacy identity that exert force on the organisation from within, often in opposition to the stated strategy.
Strategic implication: Leaders develop a structured awareness of which forces are most active, most rapidly shifting, and most likely to invalidate current strategic assumptions. Each force category requires a specific navigation discipline — and this programme builds those disciplines across its units.
Failure mode: Strategy is designed for a force environment that no longer exists. The organisation discovers that the competitive, macro, disruptive, social, or internal forces have moved — and that the strategy has not. By the time this gap is visible in results, the cost of recalibration is significantly higher than it would have been with earlier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STRATEGIC INTENT: THE 3W1H FRAMEWORK (4 Dimensions)
FACILITATOR GUIDANCE — Section 2
Before opening the tabs: Draw attention to the Critical Insight box — "Most strategies fail because HOW and WHEN are underdeveloped." Ask participants to rate their organisation on each dimension privately (1–5) before exploring the content. This creates a diagnostic baseline.
Directing through the 4 dimension tabs: Walk through WHAT, WHY, HOW, WHEN one at a time as a group. For each, ask one diagnostic question from the content and take 2–3 responses. The HOW and WHEN tabs typically reveal the most significant gaps — give them additional time.
HOW tab — key facilitation moment: Ask: "Does your operating model currently match your strategy — or is it a legacy structure that predates your current direction?" This often opens the most honest conversation of the entire Awareness section.
WHEN tab: Ask: "Have you actually mapped the sequence of moves needed to achieve your strategy — or does the plan treat all initiatives as running in parallel?"
Suggested time: 10–12 minutes.
Content:
Critical Insight: Most strategies fail because HOW and WHEN are underdeveloped. HOW must include the full operating model and capability architecture. WHEN must address market timing, pivot triggers, and sequencing.
Dimension 1
WHAT
Dimension 2
WHY
Dimension 3
HOW
Dimension 4
WHEN
Without a clear strategic intent, every strategy discussion reverts to function-level interpretation. Strategic intent is the decision filter through which all other choices pass.
Participant file (1.2 — Strategic Intent: The 3W1H Framework) — prompts participants complete:
- ✎ Reflection — Strategic Intent From your assigned executive leader perspective: which dimension (WHAT, WHY, HOW, WHEN) is least clearly defined in your organisation's current strategy? What would clarifying it change?
The four dimensions (tabs in the file):
WHAT — Scope &amp; Definition
Core question: What value are we creating? What business are we actually in? What do we offer — and deliberately not offer?
Governs: Scope, portfolio, product and service definition, boundary-setting, market choice, capability focus.
Diagnostic questions: What arenas are we choosing to compete in? · What have we decided not to do? · Can every team member describe our WHAT in one sentence?
WHY — Purpose &amp; Rationale
Core question: Why does this organisation exist? Why would stakeholders choose us over every available alternative?
Governs: Purpose, mission, competitive differentiation, value proposition, organisational identity.
Diagnostic questions: Does our WHY actually differentiate us, or could a competitor claim it unchanged? · Do our decisions consistently reflect this WHY? · Do stakeholders believe and repeat our WHY?
HOW — Mechanism &amp; Model
Core question: How do we actually deliver the value? What capabilities, processes, and structures make it possible?
Governs: Operating model, capabilities, processes, organisational design, technology architecture, partnerships.
Diagnostic questions: Does our operating model match our strategy? · What capabilities are core and must be owned versus outsourced? · Where are the HOW gaps between strategic ambition and current capability?
WHEN — Timing &amp; Sequencing
Core question: When do we move into new markets? When do we hold, pivot, or exit? What is the right sequence of investments and initiatives?
Governs: Timing, sequencing, pacing, prioritisation, horizon planning, entry and exit decisions.
Diagnostic questions: Have we mapped the sequence of moves needed to achieve the strategy? · Are we moving at the right pace? · What signals tell us when to accelerate or pause?</a:t>
            </a:r>
            <a:endParaRPr lang="en-US" dirty="0"/>
          </a:p>
          <a:p/>
          <a:p>
            <a:r>
              <a:t>Professional insights:</a:t>
            </a:r>
          </a:p>
          <a:p/>
          <a:p>
            <a:r>
              <a:t>WHY before HOW: Organisations that rush into execution without clarifying purpose create activity without lasting impact. Strategic clarity emerges when leaders understand why the work exists before deciding how it will be done.</a:t>
            </a:r>
          </a:p>
          <a:p>
            <a:r>
              <a:t>Source: Journal, 28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SUCCESS IN PRACTICE (SIP): FROM INTENT TO FUTURE REALITY (2 Forms · 4 Dimensions)
FACILITATOR GUIDANCE — Section 3
The critical facilitation shift: This section asks participants to make a mental move from planning to experiencing. Explicitly name this shift before entering the content — "We are no longer asking 'What are we going to do?' We are asking: if it has already worked, what does the organisation look like?" Insist on present tense throughout any discussion.
The four observable domains: Walk through WHAT→, WHY→, HOW→, WHEN→ and ask participants to briefly describe what their organisation looks like in each domain today. Note the gaps — this is a preview of the SiP exercise that follows in the Integration section.
Headline vs Storyline distinction: Ask: "Does your organisation currently have a Headline — one sentence everyone repeats? If not, what does that tell you about strategic alignment?" Then: "Could every person in this room write one consistent Storyline — or would you get ten different versions?"
Closing Awareness: After section 1.3, pause before moving to Intelligence. Ask participants — "What is one word that describes the gap between where your organisation currently is and the SiP you just imagined?" Capture the words — they will resurface in the Integration section.
Suggested time: 8–10 minutes.
The Critical Facilitation Move
"Before we move forward, we must be clear — this is the position we are committing to." Shift the question from "What are we going to do?" to "If this works, what will it look like in reality?" Position the team inside the future. Everything must be described in present tense as observable conditions.
Content:
The 3W1H must show up in lived form across four observable domains:
How the value is experienced by customers
Why stakeholders trust, choose, and advocate for you
How the organisation actually operates (rhythm, coordination, capability)
The pace, sequencing, and responsiveness visible in execution
The SiP narrative is anchored into four observable domains: Customer Experience &amp; Value · Operational Capability &amp; Execution Rhythm · People &amp; Culture Dynamics · Enterprise Value Creation. This structure forces completeness, cross-functional alignment, and the elimination of functional bias.
"If our strategic intent is sound and our strategy works — what will the organisation actually look like, feel like, and perform like in practice?"
Headline — Strategic Vision Anchor
One sentence capturing the strategic destination. Leaders repeat it in meetings, town halls, and board discussions. Signals the destination without describing the route.
Storyline — Strategic Narrative
A narrative of how the organisation operates when success has been achieved, structured across four observable future-reality dimensions. Leaders describe an operating reality they intend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AWARENESS
After section 1.3, pause before moving to Intelligence. Ask participants: “What is one word that describes the gap between where your organisation currently is and the SiP you just imagined?”
Capture the words — they will resurface in the Integration section.</a:t>
            </a:r>
            <a:endParaRPr lang="en-US" dirty="0"/>
          </a:p>
          <a:p/>
          <a:p>
            <a:r>
              <a:t>Professional insights:</a:t>
            </a:r>
          </a:p>
          <a:p/>
          <a:p>
            <a:r>
              <a:t>Naming the gap: Honestly naming the gap between what has been achieved and what remains is the foundation of the next strategic phase. Organisations that settle for a vague awareness of more to do make little purposeful progress. Name the remaining work specifically, then plan for it.</a:t>
            </a:r>
          </a:p>
          <a:p>
            <a:r>
              <a:t>Source: Journal, 10 April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Strategic Intent Must Precede Success Definition
Ignition Point · Why must intent be clear before success can be described? Why must both be co-created?
Section learning outcomes:
1. Explain why strategic intent and the meaning of success must be co-created by the leadership team.
2. Recognise how a shared direction filters decisions throughout execution.
FACILITATOR GUIDANCE — Section 2 · Intelligence
Section intent: This section answers the "why bother?" question. Participants need to understand why co-creation is a strategic necessity — and why the Strategy Engine's three components must all be active for strategy to be durable. This section is the ignition point for the Integration section work that follows.
Transition from Section 1: Open with — "In Section 1 we established what strategy is. Now the question is: why does it so often fail to hold? The answer is almost never lack of intelligence or effort. It is almost always a failure of co-creation, thinking quality, or iteration discipline."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WHY INTENT AND SIP MUST BE CO-CREATED (3 Irreplaceable Results)
FACILITATOR GUIDANCE — Section 2.1
Opening the section: Before reading the content, ask participants — "Was your current strategic direction genuinely co-created by the leadership team — or was it shaped at the top and distributed downward?" Take 3–4 honest responses. Then read the three bullet points on screen and ask: "Which of these three results is most absent from your current strategy process?"
Key distinction to make explicit: "Compliance" versus "genuine shared construction." Ask: "Can you tell the difference in your organisation between a leader who is aligned and a leader who has complied? What does that difference look like in execution?"
Closing insight: Emphasise the last line — "This is the defining shift Unit 2 is designed to produce." Tell participants: everything in the Integration section section is designed to create the conditions for this shift in their own team, today.
Suggested time: 7–8 minutes.
Content:
The Strategic Intent Statement and SiP are co-created by the leadership team. This is a strategic requirement.
Leaders agree on the destination through genuine shared construction.
Trade-offs become visible early — the tensions between functions surface in the room, before execution.
Collective ownership is built — the only ownership that sustains during execution pressure.
When executives participate in shaping both outputs, strategy moves from individual interpretation to shared strategic imagination. This is the defining shift Unit 2 is designed to produce.
Participant file (2.1 — Why Intent and SiP Must Be Co-Created) — prompts participants complete:
- ✎ Reflection — Co-Creation Has strategic intent in your organisation been genuinely co-created, or distributed from the top? What evidence do you have — and what has been the consequence?</a:t>
            </a:r>
            <a:endParaRPr lang="en-US" dirty="0"/>
          </a:p>
          <a:p/>
          <a:p>
            <a:r>
              <a:t>Professional insights:</a:t>
            </a:r>
          </a:p>
          <a:p/>
          <a:p>
            <a:r>
              <a:t>Top-down cultures: When the senior voice ends the conversation, the intelligence that lives at every level of the organisation never reaches the strategy. Use this when participants say their direction was shaped at the top and distributed downward.</a:t>
            </a:r>
          </a:p>
          <a:p>
            <a:r>
              <a:t>Source: Journal, 9 January 2026 — Professional Insights: Culture</a:t>
            </a:r>
          </a:p>
          <a:p/>
          <a:p>
            <a:r>
              <a:t>Willing commitment: Lasting influence grows when people understand the significance of the mission and commit to it voluntarily. Willing commitment produces ownership. Use this with the “aligned or complied?” question.</a:t>
            </a:r>
          </a:p>
          <a:p>
            <a:r>
              <a:t>Source: Journal, 29 July 2026 — Professional Insights: Leadership</a:t>
            </a:r>
          </a:p>
          <a:p/>
          <a:p>
            <a:r>
              <a:t>Shared understanding: Intent cannot be executed consistently when people do not know the principles, expectations and boundaries that should govern their decisions.</a:t>
            </a:r>
          </a:p>
          <a:p>
            <a:r>
              <a:t>Source: Journal, 19 July 2026 — Professional Insights: Strategy</a:t>
            </a:r>
          </a:p>
          <a:p/>
          <a:p>
            <a:r>
              <a:t>Trade-offs: A strong strategy carries a clear operating logic that guides what is prioritised, how trade-offs are made and how consistency holds under pressure. Execution quality depends on how those decisions are made daily. Use this with “Visible trade-offs”.</a:t>
            </a:r>
          </a:p>
          <a:p>
            <a:r>
              <a:t>Source: Journal, 3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STRATEGY ENGINE: THINKING · PROCESS · ITERATION (3 Interlocked Components)
FACILITATOR GUIDANCE — Section 2.2
Directing through the three layer tabs: Walk through each layer — Thinking Logic, Process, Iterative Nature — one at a time. For each, read the "Where it fails" content aloud and ask: "Does this failure mode sound familiar in your organisation?"
The critical red box: Draw explicit attention to the red highlight — "Most focus heavily on Process, add some Iteration, and largely ignore Thinking Logic." Ask participants: "Where would you honestly place your organisation on this spectrum right now?" Allow 2–3 candid responses.
Thinking Logic vs Process: This distinction often surprises participants. The insight is that well-structured process can execute a wrong strategy efficiently. Ask: "Can you think of a time when your strategy process was rigorous but reached the wrong conclusion — and how long did it take to recognise that?"
Iterative Nature: Ask: "How often does your organisation genuinely revisit and revise its strategy based on new evidence — versus defending a settled position?"
Suggested time: 8–10 minutes.
Content:
Strategy is the output of three interlocked components that must run simultaneously. Confusion between these components is itself a strategic failure mode.
Layer 1
Thinking Logic
Layer 2
Process
Layer 3
Iterative Nature
Where Most Organisations Fail: Most focus heavily on Process (frameworks, templates), add some Iteration (strategy days, quarterly reviews), and largely ignore Thinking Logic — the quality of the reasoning itself. The result: well-structured, regularly reviewed, genuinely wrong decisions.
The three layers (tabs in the file):
Thinking Logic — The Mental Model — Layer 1: Foundation
What it is: The quality of cognitive reasoning applied to strategic questions — the move from raw data to genuine strategic insight.
How it works: Causal mapping (what drives what?), trade-off logic (what will we not do?), integration logic (how do choices reinforce each other?), temporal logic (what happens first, next, later?).
Where it fails: Weak mental models produce sophisticated-looking analysis that reaches the wrong conclusions. Most strategic errors are errors of logic.
Process — Structured Container — Layer 2: Scaffolding
What it is: The formal scaffolding that turns private thinking into shared, tested, documented strategic positions.
How it works: Five stages: Diagnose → Interpret → Design → Validate → Refine.
Where it fails: Over-engineered process kills thinking. Under-engineered process makes strategy personality-dependent. When the brilliant individual leaves, the capability collapses.
Iterative Nature — Feedback Loop — Layer 3: Motion
What it is: Strategy is loop-based. Each cycle improves: Clarity (sharper choices), Coherence (fewer contradictions), Confidence (better-grounded assumptions).
How it works: The loop: Observe → Learn → Repeat. Weekly signal scanning, monthly assumption testing, quarterly initiative review, annual environmental reset.
Where it fails: Weak strategy is rarely due to lack of intelligence. It is almost always due to poor iteration discipline — the refusal to revisit and revise in light of new evidence.</a:t>
            </a:r>
            <a:endParaRPr lang="en-US" dirty="0"/>
          </a:p>
          <a:p/>
          <a:p>
            <a:r>
              <a:t>Professional insights:</a:t>
            </a:r>
          </a:p>
          <a:p/>
          <a:p>
            <a:r>
              <a:t>Right destination, right design: A worthy goal can break down when governance, roles, timing and execution discipline are weak. The right destination still needs the right design. Strategic leadership holds pressure without surrendering clarity. Use this with Process and Thinking Logic.</a:t>
            </a:r>
          </a:p>
          <a:p>
            <a:r>
              <a:t>Source: Journal, 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ROLE OF INTENT &amp; SIP IN THE S2R® ARCHITECTURE (3 Functions)
FACILITATOR GUIDANCE — Section 2.3
Purpose of this section: This section connects Unit 2 to the rest of the S2R® journey. It is important participants understand that what they are building today — the Intent Statement and SiP — will serve as the spine of every subsequent unit. Make this explicit.
Directing through the 3 architecture functions: This content is rendered dynamically. Walk through each function — Strategic Alignment, Decision Filter, Execution Coherence — and for each, read the Strategic Intent and SiP columns. Ask: "Where does your organisation currently lack this function — and what are the consequences?"
Decision Filter — key facilitation point: Ask participants — "When a new initiative appears on your agenda, what filter do you currently run it through? Is there a shared filter — or does it depend on who is in the room?" This surfaces the practical cost of not having a clear Intent and SiP.
Closing Intelligence: Before moving to Section 3, summarise — "We now know what strategy is, and why co-creation and the full Engine are essential. Section 3 tells us where — in the actual life of an organisation — intent most commonly falls apart."
Suggested time: 5–7 minutes.
The three functions (Strategic Intent · SiP):
Strategic Alignment
Strategic Intent: Ensures every executive is pursuing the same domain with the same differentiating logic.
SiP: Ensures every executive can visualise and describe the same future operating state.
Decision Filter
Strategic Intent: Does this initiative sit within our chosen arena and reinforce our WHY? If not — why are we doing it?
SiP: Does this move us closer to the organisation we described in our SiP? If not — what must change?
Execution Coherence
Strategic Intent: Provides the logic that connects every functional mandate to the enterprise direction — the WHY that all HOWs must serve.
SiP: Describes the organisation as a functioning system, helping leaders see how their individual functions contribute to the collective outcome.</a:t>
            </a:r>
            <a:endParaRPr lang="en-US" dirty="0"/>
          </a:p>
          <a:p/>
          <a:p>
            <a:r>
              <a:t>Professional insights:</a:t>
            </a:r>
          </a:p>
          <a:p/>
          <a:p>
            <a:r>
              <a:t>Decision Filter: Organisations without an explicit governing reference point drift into convergent decline: each person makes locally rational decisions that are collectively damaging. Ask participants to name the three governing reference points that override individual preference when they collide. If they cannot name them in plain sentences, the filter is missing.</a:t>
            </a:r>
          </a:p>
          <a:p>
            <a:r>
              <a:t>Source: Journal, 27 April 2026 — Professional Insights: Strategy</a:t>
            </a:r>
          </a:p>
          <a:p/>
          <a:p>
            <a:r>
              <a:t>Strategic Alignment: Many legitimate demands fragment attention unless there is a clear organising priority. Effective strategy knows the “one thing” around which competing choices are ordered.</a:t>
            </a:r>
          </a:p>
          <a:p>
            <a:r>
              <a:t>Source: Journal, 18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Intent Fragments &amp; How SiP Reveals It
Locate Hot Zones · Where does strategic intent fragment? How do SiP dimensions make fragmentation visible?
Section learning outcomes:
1. Identify the observable signals that show whether the intended future position is being realised.
2. Recognise where the dominance of a single perspective causes strategic intent to drift.
FACILITATOR GUIDANCE — Section 3 · Extrapolating
Section intent: This section moves from concept to diagnostic. Participants learn the four observable SiP dimensions in detail — and then see how imbalance in any one dimension produces predictable failure patterns (the Flammables). This section is the bridge between understanding the framework and applying it in the Integration section.
Framing for participants: Open with — "Strategic intent fragments predictably — at specific points and in specific ways. This section maps those points and gives you the diagnostic tools to find them in your own organisation."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FOUR SIP DIMENSIONS: OBSERVABLE INDICATORS (4 Dimensions · Click indicators to expand)
FACILITATOR GUIDANCE — Section 3.1
Directing through the dimension tabs: Walk through each dimension — D1 Customer Experience, D2 Operational Capability, D3 People &amp; Culture, D4 Enterprise Value — one at a time. For each, expand 2–3 indicator rows and ask participants: "In your organisation — is this indicator in the 'What good looks like' column, or the 'What's missing' column?"
D1 — Customer Experience: Focus on the CARE model (Connection, Access, Results, Effort). Ask: "Which of these four value types does your organisation deliver most consistently — and which is the most exposed gap?"
D2 — Operational Capability: Ask: "Does your organisation have Priority Clarity — can every leader in this room state the top three priorities without checking a document, and would the answers match?" Allow the discomfort if answers diverge.
D3 — People &amp; Culture: Ask: "What is the Dialogue Quality in your strategy meetings — honest challenge or performative consensus?"
D4 — Enterprise Value: Ask: "Is your growth strategy-driven or market-driven? Can you trace your current growth to specific strategic choices?"
Suggested time: 12–14 minutes.
Content:
Each SiP dimension is a multidimensional observable reality. These are the specific signals that tell an executive team whether the strategy is working in that domain.
D1 · Customer Experience &amp; Value
D2 · Operational Capability
D3 · People &amp; Culture
D4 · Enterprise Value
Participant file (3.1 — The Four SiP Dimensions: Observable Indicators) — prompts participants complete:
- ✎ Reflection — SiP Indicators From your assigned executive leader role: which dimension shows the most significant gaps in your organisation right now? What is the primary cause?
Observable indicators (“What good looks like” · “What’s missing”):
D1 · CUSTOMER EXPERIENCE &amp; VALUE
Customers encounter the organisation through People · Processes · Products · Platforms and experience four forms of value (the CARE Model):
- C — Connection Value
  Good: Customers feel understood, respected, and supported. The people representing the organisation genuinely care about their problem.
  Missing: Customers describe interactions as transactional, impersonal, or difficult. They feel processed.
- A — Access Value
  Good: Customers can interact quickly, easily, and reliably through their preferred channels. Availability and responsiveness are consistent.
  Missing: Customers describe friction, unavailability, or inconsistency. Digital and service channels feel designed for the organisation's convenience.
- R — Results Value
  Good: Customers receive solutions that actually solve their problems and improve their outcomes. Performance is reliable; the product does what it promises.
  Missing: Customers report that the offering underdelivers against its stated value. Complaints cluster around gaps between promise and performance.
- E — Effort Value
  Good: Customers experience simple, predictable processes that require minimal effort. Complexity is absorbed by the organisation.
  Missing: Customers describe the experience as complicated, slow, or requiring too many steps. They feel they are doing the organisation's job for it.
D2 · OPERATIONAL CAPABILITY &amp; EXECUTION RHYTHM
How the organisation operates internally when its strategy is translating into results — observable through four execution indicators:
- Priority Clarity
  Good: Strategic priorities are explicit, stable, and understood across every function. Leaders can state the top priorities without checking a document — and their answers match.
  Missing: Leaders describe different priorities. Resources are spread across too many initiatives. Every function has a different view of what matters most.
- Decision Flow
  Good: Decisions are made at the right level, with the right information, at the right speed. Authority is matched to accountability.
  Missing: Decisions queue upward and slow down. Leaders feel they cannot act without approval. Strategic momentum is lost in governance process.
- Cross-Functional Coordination
  Good: Hand-offs between functions are smooth, responsibilities are unambiguous, and execution friction is visible, named, and managed.
  Missing: Teams work hard in their own lanes but create problems at the boundaries. Hand-offs are where value leaks. White space between functions is ungoverned.
- Delivery Rhythm
  Good: Teams operate to a predictable cadence — weekly, monthly, quarterly — and delivery is consistent and reliable across the enterprise.
  Missing: Execution is reactive and event-driven. Reviews happen only when there is a crisis.
D3 · PEOPLE &amp; CULTURE DYNAMICS
Observable behavioural patterns when the organisation is at its best — when culture is actively reinforcing the strategic direction:
- Cross-Boundary Collaboration
  Good: People work across functional boundaries without being directed to. Teams solve problems that belong to no single function because they own the enterprise outcome.
  Missing: Silos are strong and quiet. Cross-functional problems stay unresolved because no one is accountable for the boundary.
- Ownership Culture
  Good: Leaders and teams carry outcomes. When something goes wrong, people step in because they care about the result.
  Missing: People complete tasks and declare them done, regardless of the downstream consequence. Accountability is assigned but not felt.
- Strategic Alignment
  Good: Teams connect their day-to-day actions to the enterprise strategy without being reminded. When asked why they are doing something, they can trace it to the strategic intent.
  Missing: Teams are busy but unfocused. Actions are driven by habit or last year's priorities. The strategy exists in the boardroom but not on the floor.
- Dialogue Quality
  Good: Honest challenge, diverse perspective, and collective sense-making are normal. Disagreement surfaces before decisions are made.
  Missing: Meetings are performative. Consensus is assumed without being built. The most important concerns are raised only in corridors.
D4 · ENTERPRISE VALUE CREATION
The commercial and strategic outcomes confirming the strategy is producing durable enterprise value:
- Growth Trajectory
  Good: Revenue, market share, and customer acquisition are moving in the direction the strategic intent predicted. Growth is traceable to specific strategic choices.
  Missing: Growth is inconsistent and driven by the market. The strategy does not explain the results.
- Profitability Quality
  Good: Margin discipline reflects deliberate value positioning. The organisation earns what its strategic intent says it should earn — its differentiation commands a premium.
  Missing: Margin pressure is treated as a market problem when its root is positioning. The organisation competes on price because its WHY is insufficiently differentiated.
- Market Position
  Good: The organisation occupies the competitive position its strategic intent described. Stakeholders describe the organisation in the language the SiP predicted.
  Missing: The organisation's external reputation does not match its internal self-description. The strategy has not translated into a distinctive market position.
- Value Durability
  Good: The conditions that made success possible — talent, brand trust, infrastructure, ecosystem relationships, financial health — are being actively reinvested in and strengthened.
  Missing: The organisation is harvesting value faster than it is creating it. Short-term results come at the cost of the capabilities that make future success possible.</a:t>
            </a:r>
            <a:endParaRPr lang="en-US" dirty="0"/>
          </a:p>
          <a:p/>
          <a:p>
            <a:r>
              <a:t>Professional insights:</a:t>
            </a:r>
          </a:p>
          <a:p/>
          <a:p>
            <a:r>
              <a:t>Partial formation: The organisations most at risk are often the ones clearly succeeding on one or two dimensions while remaining unformed on the others. What is working reassures them that all is well, so they do not feel the cost of what is missing. Use this to show why all four dimensions matter.</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SIP FLAMMABLES: WHERE IMBALANCE CREATES DRIFT (4 Risk Patterns)
FACILITATOR GUIDANCE — Section 3.2
Framing the Flammables: Explain — "When one executive function dominates the SiP narrative, the strategy becomes a functional ambition that no longer describes the enterprise. These four patterns show what that looks like — and they are all recognisable."
Directing through the four flammables: Read each pattern aloud. After each one, ask: "Raise your hand if you have seen this in an organisation you have worked in." Expect near-universal recognition. Then ask: "Which of these four is your organisation most at risk of right now?"
Connecting to the Integration section: After all four have been explored, tell participants — "In the Integration section, each of you will contribute a SiP from your assigned executive role. The Flammables are your quality check — use them to audit whether your own contribution is balanced or skewed."
The existing facilitator guidance below applies here: After each leader describes their SiP perspective in the Integration section, ask the room which Flammable their perspective risks creating. Naming the imbalance explicitly is what prevents it from taking hold.
Suggested time: 6–8 minutes.
Facilitator Move
After each leader describes their SiP perspective, ask the room: "Which of these four flammables does this perspective risk creating?" Name the imbalance explicitly.
Content:
When one dimension dominates the SiP narrative, the strategy narrows into a functional ambition that no longer describes the enterprise.
The four Flammables:
D1 Dominant — Customer Only
What it looks like: The SiP reads as a marketing aspiration — vivid about the customer experience, silent on how the organisation will actually build and sustain it.
Risk: Execution capacity is underestimated. The customer promise is made without accounting for the operational and cultural conditions required to deliver it.
D2 Dominant — Operations Only
What it looks like: The SiP reads as a process optimisation plan — efficient and measurable, but stripped of the customer meaning and cultural texture that makes execution energising.
Risk: The organisation improves its machine while losing sight of what the machine is for. Execution becomes an end in itself.
D3 Dominant — People Only
What it looks like: The SiP reads as an OD narrative — values-rich but commercially unanchored, difficult to measure and easy to dismiss.
Risk: Culture work becomes disconnected from commercial outcomes. The strategy describes who the organisation wants to be and leaves what it intends to achieve undefined.
D4 Dominant — Value Only
What it looks like: The SiP reads as a financial target — measurable but motivationally thin, describing the score without describing the game.
Risk: Leaders optimise for metrics without creating the conditions that produce them. Short-termism disguises itself as strategic clarity.</a:t>
            </a:r>
            <a:endParaRPr lang="en-US" dirty="0"/>
          </a:p>
          <a:p/>
          <a:p>
            <a:r>
              <a:t>Professional insights:</a:t>
            </a:r>
          </a:p>
          <a:p/>
          <a:p>
            <a:r>
              <a:t>D1 Customer Only: Execution can fail from internal dysfunction while external threats are managed well. Sustainable results need attention to both the task and the conditions under which people are expected to perform it.</a:t>
            </a:r>
          </a:p>
          <a:p>
            <a:r>
              <a:t>Source: Journal, 7 August 2026 — Professional Insights: Strategy</a:t>
            </a:r>
          </a:p>
          <a:p/>
          <a:p>
            <a:r>
              <a:t>D1 Customer Only · signal to watch for: An organisation declares customer-centricity while its measures and incentives stay internally focused.</a:t>
            </a:r>
          </a:p>
          <a:p>
            <a:r>
              <a:t>Source: Journal, 29 September 2026 — Professional Insights: Strategy</a:t>
            </a:r>
          </a:p>
          <a:p/>
          <a:p>
            <a:r>
              <a:t>D2 Operations Only: Cultures calcify when a process or control becomes an end in itself, enforced whether or not it still serves anyone. Ask: “Which rule do your people now serve that no longer benefits them? Fix its purpose or retire it.”</a:t>
            </a:r>
          </a:p>
          <a:p>
            <a:r>
              <a:t>Source: Journal, 19 May 2026 — Professional Insights: Strategy</a:t>
            </a:r>
          </a:p>
          <a:p/>
          <a:p>
            <a:r>
              <a:t>D3 People Only: A culture shows in its budget allocations and recognition rituals. Quick audit: list the three things the team invested most resource in last quarter and the three things it most publicly celebrated. If neither list matches the stated values, the values on the wall are decoration.</a:t>
            </a:r>
          </a:p>
          <a:p>
            <a:r>
              <a:t>Source: Journal, 26 April 2026 — Professional Insights: Culture</a:t>
            </a:r>
          </a:p>
          <a:p/>
          <a:p>
            <a:r>
              <a:t>D4 Value Only: Leaders reach for metrics that flatter when they stop trusting the harder, less quantifiable foundations of the work. Ask: “What anxiety is this number meant to soothe?”</a:t>
            </a:r>
          </a:p>
          <a:p>
            <a:r>
              <a:t>Source: Journal, 3 June 2026 — Professional Insights: Leadership</a:t>
            </a:r>
          </a:p>
          <a:p/>
          <a:p>
            <a:r>
              <a:t>D4 Value Only · enduring value: Visible momentum does not necessarily indicate sustainable value. Decisions must rest on a clear understanding of what the organisation is trying to build.</a:t>
            </a:r>
          </a:p>
          <a:p>
            <a:r>
              <a:t>Source: Journal, 23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Strategic Intent &amp; SiP Together
Collective Intelligence of Execution · Leadership biases · Strategy Maturity · SiP Exercise · Integration Synthesis
Section learning outcomes:
1. Evaluate the organisation’s strategic maturity against the ambition it has set.
2. Contribute an enterprise perspective to a collective definition of success.
FACILITATOR GUIDANCE — Section 4 · Integration
Section intent: This is the production section. Everything in Awareness, Intelligence, and Extrapolating has been preparation for this. Four activities run in sequence: understanding executive role biases, completing the Strategy Maturity Assessment, contributing individual SiP narratives, and synthesising toward collective outputs. Allow sufficient time — this is the core deliverable of Unit 2.
Framing for participants: Open with — "We have spent the first three sections building the conceptual architecture. This section is where the organisation's actual strategic picture gets built — collectively, in this room, today. What you produce here will be the foundation for every subsequent unit."
Sequencing the four activities:
4.1 — Executive Role Perspectives (10–12 min): Understanding biases before the SiP exercise
4.2 — Strategy Maturity Assessment (15–20 min): Individual scoring, group debrief
4.3 — Collective SiP Exercise (20–30 min): Individual contribution, synthesis
Summary — Unit Summary debrief (8–10 min): What this unit produced
Suggested total section time: 55–75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EXECUTIVE LEADER PERSPECTIVES: NATURAL BIASES &amp; INTEGRATION CHALLENGES (10 Executive Roles · Click to expand)
FACILITATOR GUIDANCE — Section 4.1
Purpose before the SiP exercise: This section is a bias-awareness primer before the SiP exercise. Participants must understand their natural perspective before they can transcend it.
Directing participants: Ask each participant to click their assigned executive role card. Give them 2 minutes to read their role's bias and integration challenge. Then ask: "Does this description of your role's natural bias feel accurate? Where does it resonate most strongly?"
Group debrief: Ask 3–4 participants to read their "Integration Challenge" aloud. Then ask the full group — "If these biases all operate simultaneously in a SiP exercise — what happens to the collective picture? Which dimensions get over-represented and which get left behind?"
Key facilitation point: Emphasise that the goal is to make the functional bias visible so the collective can compensate for it. The integration challenge is structural information the group needs.
Suggested time: 10–12 minutes.
Content:
When executive leaders describe strategic intent, they naturally emphasise their domain. This produces multiple partial pictures that are each accurate — and collectively incomplete. The Integration section transforms these into one picture.
The ten executive roles (natural bias · integration challenge):
CEO — Chief Executive Officer
Natural bias: Defines strategic intent at enterprise level. Assumes functional leaders will translate it correctly. Focuses on WHAT at scale and WHY as competitive positioning.
Integration challenge: Direction may be abstract or insufficiently grounded in operational realities. The CEO's SiP often lacks the texture that functions can actually act on.
CFO — Chief Financial Officer
Natural bias: Interprets strategic intent primarily through financial return milestones. Defines WHAT through a capital allocation perspective and WHY through shareholder value logic.
Integration challenge: The CFO's SiP tends toward metrics without narrative. Commercial rigour is present; the human and customer dimensions are underweighted.
COO — Chief Operating Officer
Natural bias: Translates strategic intent immediately into operational milestones. Skips the cultural and customer narrative dimensions of the SiP.
Integration challenge: The COO operationalises before the strategic picture is fully formed. The SiP drifts into a delivery plan and loses its future-state description.
CHRO — Chief People &amp; Culture Officer
Natural bias: Defines strategic intent success as cultural transformation and people capability without anchoring to commercial outcomes.
Integration challenge: The CHRO's SiP is values-rich and commercially thin. Other leaders struggle to connect it to measurable business outcomes.
CTO — Chief Technology Officer
Natural bias: Frames strategic intent around technological capability milestones. Technical language can alienate non-technical leaders in the integration process.
Integration challenge: The CTO's SiP may be precise and visionary but inaccessible. Translation from technical specification into strategic impact is required.
CMO — Chief Marketing Officer
Natural bias: Defines strategic WHAT through market positioning and brand aspiration. May articulate a SiP that outpaces operational or financial capacity.
Integration challenge: The CMO's SiP may describe an experience the organisation cannot yet deliver. Inspiring but disconnected from execution reality.
CCO — Chief Commercial Officer
Natural bias: Defines intent through revenue and growth targets. Underweights customer experience quality and internal capability dimensions.
Integration challenge: The CCO's SiP is growth-focused and delivery-light. Ambition is present; the conditions required to sustain growth are absent.
CPO — Chief Procurement Officer
Natural bias: Defines intent through supply chain and cost efficiency milestones. Underweights strategic capability-building dimensions.
Integration challenge: The CPO's SiP emphasises cost discipline at the expense of strategic agility and value creation.
CRO — Chief Risk Officer
Natural bias: Defines intent through risk mitigation milestones. May constrain strategic ambition in the SiP.
Integration challenge: The CRO's SiP is defensible but conservative. It describes only what the organisation avoids.
CSO — Chief Strategy Officer
Natural bias: Treats strategic intent as a planning framework deliverable. May produce a SiP that is intellectually coherent but disconnected from execution reality.
Integration challenge: The CSO's SiP is architecturally sound but emotionally absent. Other leaders struggle to feel ownership of something designed by the strategy function.</a:t>
            </a:r>
            <a:endParaRPr lang="en-US" dirty="0"/>
          </a:p>
          <a:p/>
          <a:p>
            <a:r>
              <a:t>Professional insights:</a:t>
            </a:r>
          </a:p>
          <a:p/>
          <a:p>
            <a:r>
              <a:t>Seeing the larger system: Good leadership sometimes helps people see a problem within a larger system so that more responsible judgement becomes possible. Use this with “many partial pictures, each accurate and collectively incomplete”.</a:t>
            </a:r>
          </a:p>
          <a:p>
            <a:r>
              <a:t>Source: Journal, 3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STRATEGY MATURITY ASSESSMENT: 26 AREAS (6 Groups · Score 0–3)
FACILITATOR GUIDANCE — Section 4.2
Setting up the assessment: Before participants begin scoring, read the instruction aloud — "Score the organisation as it actually is right now. Honest assessment is the only kind that is useful." Emphasise that this is a diagnostic tool.
Individual vs collective scoring: For maximum insight, ask each participant to score independently first — without discussion. Allow 8–10 minutes of silent individual scoring across all six groups. Then compare scores across the group. Significant divergence on the same item is itself a strategic finding — it signals that different leaders have fundamentally different views of organisational reality.
Group debrief after scoring: Use these three questions in sequence:
"Which group (A–F) scored lowest across the team — and was there consensus on that?"
"Where was the widest divergence in scores? What does that disagreement tell us?"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Suggested time: 15–20 minutes including individual scoring and group debrief.
PARTICIPANT ACTIVITY
Participants complete this activity in their own file. The content below is for your preparation.
Content:
The executive team assesses the organisation across 26 strategy components. Score: 0 = Not addressed · 1 = Partially · 2 = Substantially · 3 = Fully embedded.
0–26
Foundational Gaps
Strategy remains fragile and personality-dependent.
27–52
Developing Capability
Key dimensions present; integration incomplete.
53–78
Strategic Maturity
Strategy is embedded as organisational capability.
Total Score
0
/ 78
Complete the assessment above
Participant file (4.2 — Strategy Maturity Assessment: 26 Areas) — prompts participants complete:
- ✎ Reflection — Maturity Assessment Which group (A–F) scored lowest? What does this tell you about the most critical corrective action your organisation needs to take in the next 90 days?
The 26 areas (score 0 = Not addressed · 1 = Partially · 2 = Substantially · 3 = Fully embedded):
A · Process — Strategy as a capability — process components.
1. OUTPUT — A decided position: Strategy is a tangible, expressible, decided position.
   Question: How clearly is your strategy expressed as a single, written, actionable position?
2. ITERATIVE — Continuously refined: Strategy is loop-based: form → test → revise → repeat.
   Question: How consistently is your strategy revisited and revised in response to new information?
3. THINKING &amp; LOGIC — The cognitive engine: Thinking = divergent. Logic = convergent. Both required in sequence.
   Question: How well-embedded is the discipline of formally testing the uncomfortable assumptions your strategy rests on?
4. PROCESS — Structured container: Repeatable, auditable, scalable method for strategic decision-making.
   Question: How repeatable is your strategy process — could someone other than you run the next cycle?
B · Intent (3W1H) — Strategic intent dimensions — the directional anchor.
5. WHAT — Scope &amp; domain: What value? What business? What do you offer — and not offer?
   Question: How precisely is your WHAT defined — including what you have explicitly decided not to do?
6. WHY — Purpose &amp; rationale: Why does this organisation exist? Why would stakeholders choose you?
   Question: How clearly does your WHY differentiate you from every available alternative — including doing nothing?
7. HOW — Mechanism &amp; model: How do you deliver the value? What capabilities make it possible?
   Question: How well-defined are the two or three specific capabilities that make your strategy executable?
8. WHEN — Timing &amp; sequencing: When do you move? When do you hold? The sequencing logic of strategy.
   Question: How clear and deliberate is the sequencing logic of your current strategy?
C · Value — Value lifecycle — creates, delivers, sustains.
9. CREATES value — Origination layer: Activities that generate new worth: innovation, capability, IP, brand equity.
   Question: How consistently is your organisation generating new value that did not previously exist?
10. DELIVERS value — Distribution layer: Full system of transmission: channels, experience, partnerships, pricing.
   Question: How reliably does your created value reach the people it was designed for?
11. SUSTAINS value — Durability layer: Investing in the conditions that make value possible long-term.
   Question: How deliberately are you investing today in the conditions that ensure relevance in three to five years?
D · Environment — Operating environment — stakeholders and navigation.
12. STAKEHOLDERS — Full universe: Broader than customers: employees, investors, communities, regulators, partners.
   Question: How comprehensively does your strategy address every stakeholder group it must serve?
13. NAVIGATING — Active, skilful movement: Navigation implies agency and course correction.
   Question: How actively and deliberately is your organisation shaping its environment?
14. THE FORCES — What must be navigated: Competitive, macro, disruptive, and social/environmental forces.
   Question: How well-mapped and monitored are the forces most likely to threaten your strategy in the next 18 months?
15. OPERATING ENVIRONMENT — Bounded context: The full system within which the organisation exists.
   Question: How responsively is your organisation reading and adapting to significant environmental shifts?
E · Engine — The strategy engine — thinking, process, iteration.
16. THINKING LOGIC — Cognitive layer: Causality, trade-off, integration, temporal, deductive, and inductive reasoning.
   Question: How disciplined and complete is the reasoning applied to your major strategic decisions?
17. PROCESS — Structural logic: Five stages: Diagnose → Interpret → Design → Validate → Refine.
   Question: How consistently does your organisation follow all five process stages — Diagnose, Interpret, Design, Validate, Refine?
18. ITERATIVE NATURE — Dynamic feedback: Weekly signals, monthly tests, quarterly reviews, annual reset.
   Question: How disciplined are your weekly, monthly, quarterly, and annual iteration cycles in changing direction when evidence demands it?
F · Strategic Chain — From inputs to coherent executable output.
19. INPUTS — Data, context, constraints: Market data, competitive intelligence, performance data, environmental scans.
   Question: How complete, current, and unbiased are your strategic inputs?
20. ITERATIVE THINKING LOGIC: Causal mapping, trade-off logic, integration logic, temporal sequencing.
   Question: How rigorously is your strategic thinking protected from assumption-confirming analysis?
21. STRUCTURED PROCESS CYCLES: Workshops, governance forums, and decision protocols.
   Question: How structured and consistent are your strategy workshops, governance forums, and decision protocols?
22. DECISIONS ACROSS WHAT / WHY / HOW / WHEN: Explicit, documented choices across all four dimensions.
   Question: How explicitly and consistently are your strategic choices documented across all four dimensions — WHAT, WHY, HOW, WHEN?
23. VALUE LIFECYCLE DESIGN: Explicit design of the full value chain across all three layers.
   Question: How deliberately is your value lifecycle designed across creating, delivering, and sustaining?
24. STAKEHOLDER ALIGNMENT: Resolving competing expectations across all stakeholder groups.
   Question: How well-aligned are the competing expectations across all your stakeholder groups?
25. ENVIRONMENTAL NAVIGATION: Continuous reading and response to macro, micro, and internal forces.
   Question: How continuously is your organisation reading and responding to macro, micro, and internal forces?
26. OUTPUT — Coherent, executable strategy: A documentable, communicable, testable set of choices.
   Question: How coherent and communicable is your strategy — could someone not in the room act on it?</a:t>
            </a:r>
            <a:endParaRPr lang="en-US" dirty="0"/>
          </a:p>
          <a:p/>
          <a:p>
            <a:r>
              <a:t>Professional insights:</a:t>
            </a:r>
          </a:p>
          <a:p/>
          <a:p>
            <a:r>
              <a:t>An honest baseline: Strategy begins with an accurate understanding of present reality. Leaders who avoid difficult information protect their comfort at the expense of the institution. Name the true condition without minimising it. Use this before participants score: honest scoring is the point of the assessment.</a:t>
            </a:r>
          </a:p>
          <a:p>
            <a:r>
              <a:t>Source: Journal, 4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SCORE INTERPRETATION AND DEBRIEF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Group debrief after scoring — use these three questions in sequence:
1. “Which group (A–F) scored lowest across the team — and was there consensus on that?”
2. “Where was the widest divergence in scores? What does that disagreement tell us?”
3.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a:t>
            </a:r>
            <a:endParaRPr lang="en-US" dirty="0"/>
          </a:p>
          <a:p/>
          <a:p>
            <a:r>
              <a:t>Professional insights:</a:t>
            </a:r>
          </a:p>
          <a:p/>
          <a:p>
            <a:r>
              <a:t>Personality-dependent strategy: A sound strategy is defined clearly enough that a new leader can step in and continue execution. A defined strategic position creates value only when the organisation translates intent into deliberate, consistent action. Use this with the 0–26 band.</a:t>
            </a:r>
          </a:p>
          <a:p>
            <a:r>
              <a:t>Source: Journal, 3 April 2026 — Professional Insights: Strategy</a:t>
            </a:r>
          </a:p>
          <a:p/>
          <a:p>
            <a:r>
              <a:t>The mission larger than the contributor: When value becomes inseparable from particular individuals, ego and fragility increase. Strong cultures recognise the contribution while keeping the mission larger than the contributor.</a:t>
            </a:r>
          </a:p>
          <a:p>
            <a:r>
              <a:t>Source: Journal, 18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COLLECTIVE SIP EXERCISE: FOUR DIMENSIONS PER EXECUTIVE ROLE (10 Executive Roles · 4 Dimensions each)
FACILITATOR GUIDANCE — Section 4.3
This is the core deliverable of Unit 2. Everything prior has been preparation for this exercise. Protect the time — do not compress it.
Setting up the exercise:
Assign executive roles before participants begin — do not allow self-selection. The learning comes partly from being required to inhabit a perspective that is not naturally yours.
Remind participants: "Write in the present tense of the future: 'we have...', 'customers experience...'"
Reinforce the Flammable risk: "As you write, notice when you are defaulting to your functional comfort zone. Push yourself into the dimensions that feel less natural."
Individual writing time: Allow 10–12 minutes for each participant to complete all four dimensions from their assigned role. This must be done in silence — the independent perspective is what makes the synthesis valuable. Group discussion before individual writing contaminates the outputs.
Running the synthesis: After individual contributions are complete, use the "View All Responses" function to display contributions side by side. Facilitate the synthesis using four questions:
"Where do all perspectives converge? This is your strongest strategic signal."
"Where do perspectives compete or contradict? This is where trade-off decisions are needed."
"Which SiP dimension is least well-described across all contributions? This is your white space — who owns it?"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
Suggested time: 20–30 minutes including individual writing, synthesis discussion, and collective draft.
PARTICIPANT ACTIVITY
Participants complete this activity in their own file. The content below is for your preparation.
FACILITATOR GUIDANCE
After all leaders complete, lead a structured synthesis: identify convergence (where all align), tension (where perspectives compete), missing dimensions (where no leader adequately described the future state), and dominant bias (which functional perspective over-represents the narrative).
PARTICIPANT ACTIVITY
Participants write the four SiP dimensions from their assigned role in Section 4.3 of their own file, in silence. When all have finished, lead the synthesis from their responses.
Content:
Each leader describes all four SiP dimensions from their assigned role's perspective, written in the present tense of the future — as if the strategy has already succeeded.
The four SiP dimension prompts participants answer from their role:
- Customer Experience &amp; Value: Describe how customers experience the organisation when the strategy is working. Write in present tense of the future.
- Operational Capability &amp; Execution Rhythm: Describe how the organisation operates internally. What rhythms, decision flows, and cross-functional disciplines are visible?
- People &amp; Culture Dynamics: Describe the behavioural patterns and cultural signals that emerge when strategy is being lived.
- Enterprise Value Creation: Describe the commercial and strategic outcomes that confirm durable value is being created.</a:t>
            </a:r>
            <a:endParaRPr lang="en-US" dirty="0"/>
          </a:p>
          <a:p/>
          <a:p>
            <a:r>
              <a:t>Professional insights:</a:t>
            </a:r>
          </a:p>
          <a:p/>
          <a:p>
            <a:r>
              <a:t>Present tense of the future: Teams that can receive a declared outcome and work backward from it to the actions required move from instruction to execution most effectively. Declare the outcome first, then design the process to reach it.</a:t>
            </a:r>
          </a:p>
          <a:p>
            <a:r>
              <a:t>Source: Journal, 7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RUNNING THE SYNTHESIS
After individual contributions are complete, use the “View All Responses” function to display contributions side by side. Facilitate the synthesis using four questions:
1. “Where do all perspectives converge? This is your strongest strategic signal.”
2. “Where do perspectives compete or contradict? This is where trade-off decisions are needed.”
3. “Which SiP dimension is least well-described across all contributions? This is your white space — who owns it?”
4.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a:t>
            </a:r>
            <a:endParaRPr lang="en-US" dirty="0"/>
          </a:p>
          <a:p/>
          <a:p>
            <a:r>
              <a:t>Professional insights:</a:t>
            </a:r>
          </a:p>
          <a:p/>
          <a:p>
            <a:r>
              <a:t>Silence is a decision: The leader who is present when a commitment is made and does not challenge it has endorsed it. A plan received without objection binds the organisation to an outcome the leader could have shaped. Use this with “Compete: where trade-off decisions are needed”.</a:t>
            </a:r>
          </a:p>
          <a:p>
            <a:r>
              <a:t>Source: Journal, 15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From Assessment to Application
The executive team uses the Strategy Maturity Assessment results to define corrective actions across the four SiP dimensions, then completes the CXO contribution table written in the present tense of the future.
Section learning outcomes:
1. Define the actions needed to close the gap between current maturity and the intended future position.
2. Establish a shared statement of success that supports consistent enterprise decision-making.
FACILITATOR GUIDANCE — Section 5 · Application
Section intent: This is the synthesis and application section. Participants move from understanding and assessing (Sections 1–4) to producing two integrated outputs: corrective action priorities and a fully completed CXO × SiP table. The headline and storyline produced here become the destination anchor for the entire S2R® journey.
Sequencing the four activities:
5.1 — Corrective Actions (10–15 min): Each participant reviews their assessment score and identifies actions per SiP dimension
5.2 — CXO SiP Application Table (20–30 min): Each CXO completes their row in present-tense future language
5.3 — SiP Headline &amp; Storyline (10–15 min): Individual contribution, then group synthesis
5.4 — Integration Summary (15–20 min): Facilitator leads synthesis of convergence, tension, missing dimensions, dominant bias
Suggested total section time: 55–80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USING ASSESSMENT RESULTS: DEFINING CORRECTIVE ACTIONS (Assessment → Action)
FACILITATOR GUIDANCE — Section 5.1
Opening the section: Ask participants to open Section 4.2 in a side window or navigate back to review their assessment score before completing this section. Say: "Your assessment revealed where your organisation's strategic capability is strongest and most fragile. This section asks you to convert those diagnostic results into specific corrective actions — the precise changes that must happen for your SiP to become real."
Key facilitation point: The corrective actions must be specific and cross-functional. Push back on vague responses like "improve communication" — ask: "Improve it how, between whom, and in what rhythm?"
Group debrief: After participants have completed their corrective actions, ask 3–4 to share the most critical action in each dimension. Note where multiple participants identify the same gap — this is a convergence point that strengthens the collective SiP.
Suggested time: 10–15 minutes.
PARTICIPANT ACTIVITY
Participants complete this activity in their own file. The content below is for your preparation.
Content:
Participants use their Strategy Maturity Assessment results from Section 4 to identify the most critical corrective actions required across the four SiP dimensions. The assessment score across all 26 areas reveals where the organisation's strategic capability is strongest — and where it is most fragile.
The corrective actions identified here become the inputs into the SiP Application Table in 5.2. Before completing their SiP dimensions, each participant should review their assessment results and identify the specific gaps that must be addressed for the strategy to succeed.
Assessment Score Reference
Group Assessment Score
/ 78
Score reflects the group assessment from Section 4
Corrective Actions — Group Capture
Use this space to capture the group's collective corrective actions across the four dimensions as they emerge from the debrief.
D1 · Customer Experience &amp; Value
What must change to close the gap between the current customer experience and the SiP vision?
D2 · Operational Capability &amp; Execution Rhythm
What operational gaps must be closed for the strategy to execute reliably?
D3 · People &amp; Culture Dynamics
What cultural and behavioural shifts are required to bring the SiP to life?
D4 · Enterprise Value Creation
What must be strengthened to ensure the strategy creates durable enterprise value?
Participant file (5.1 — Using Assessment Results: Defining Corrective Actions) — prompts participants complete:
- D1 · Customer Experience &amp; Value What must change to close the gap between your current customer experience and your SiP vision? — Describe the corrective actions needed in this dimension...
- D2 · Operational Capability &amp; Execution Rhythm What operational gaps must be closed for the strategy to execute reliably? — Describe the corrective actions needed in this dimension...
- D3 · People &amp; Culture Dynamics What cultural and behavioural shifts are required to bring the SiP to life? — Describe the corrective actions needed in this dimension...
- D4 · Enterprise Value Creation What must be strengthened to ensure the strategy creates durable enterprise value? — Describe the corrective actions needed in this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CXO SIP APPLICATION TABLE: ALL EXECUTIVE ROLES (10 Roles · 4 Dimensions)
FACILITATOR GUIDANCE — Section 5.2
Purpose: This table captures each CXO's description of the four SiP dimensions from their assigned role's perspective. It is the primary deliverable of the Application section and produces the raw material for the integration synthesis in 5.4.
Directing the exercise: Ask each participant to select their assigned role and complete all four dimensions simultaneously. Enforce present-tense future language throughout — interrupt any responses that slip into planning or future-tense description.
Quality check: After each CXO completes their row, ask them to self-audit against the Flammable patterns from Section 3.2. Ask: "Which Flammable does your response risk creating? What would you add to balance it?"
Facilitator can record directly: Use the full table view below to capture group responses as they are shared verbally, or ask participants to enter their own responses from their screens.
Suggested time: 20–30 minutes.
PARTICIPANT ACTIVITY
Participants complete this activity in their own file. The content below is for your preparation.
PARTICIPANT ACTIVITY
Participants complete their row of the CXO SiP Application Table in Section 5.2 of their own file.
Content:
Each executive leader describes the four SiP dimensions from the perspective of their assigned role. All responses must be written in the present tense of the future — as if the strategy has already succeeded.
Facilitator: After all CXO rows are completed, use the Integration Summary in Section 5.4 to identify convergence, tension, missing dimensions, and dominant bias across all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SIP HEADLINE &amp; STORYLINE: COLLECTIVE SYNTHESIS (Headline · Storyline · Synthesis)
FACILITATOR GUIDANCE — Section 5.3
The synthesis move: After all CXO rows in 5.2 are completed, invite each participant to distil their perspective into a Headline and a Storyline. Then — and this is the critical facilitation move — bring the group together to synthesise these individual contributions into one shared Headline and one co-owned Storyline.
Headline synthesis: Read all individual Headlines aloud. Ask the group: "What words appear in most headlines? What is the common destination we are all pointing at?" Draft a composite headline together — do not let one executive write it alone.
Storyline synthesis: Ask each CXO to read their Storyline aloud. Capture themes on a whiteboard across the four dimensions. The shared Storyline emerges from points of convergence.
Suggested time: 15–20 minutes.
PARTICIPANT ACTIVITY
Participants complete this activity in their own file. The content below is for your preparation.
Content:
Individual contributions from each CXO are synthesised here into one shared Strategic Intent Statement and one co-owned SiP Headline and Storyline.
Emerging Shared SiP Headline
One sentence. The strategic destination that the collective executive team agrees on. Synthesised from individual contributions.
Emerging Shared SiP Storyline
The collective narrative description of the future organisation, written in the present tense of the future across all four dimensions.
Participant file (5.3 — SiP Headline &amp; Storyline: Your Contribution) — prompts participants complete:
- SiP Headline — From Your Role's Perspective One sentence. The strategic destination as you see it from your function. Memorable, directional, and written in the present tense of the future. — Write your SiP headline here — one sentence that captures where this organisation is going...
- SiP Storyline — From Your Role's Perspective A narrative description of the future organisation, written in the present tense of the future, structured across the four observable dimensions. This is a description of the organisation as it already exists when the strategy has worked. — Write your SiP storyline here — describe the organisation as it operates when the strategy has succeeded...</a:t>
            </a:r>
            <a:endParaRPr lang="en-US" dirty="0"/>
          </a:p>
          <a:p/>
          <a:p>
            <a:r>
              <a:t>Professional insights:</a:t>
            </a:r>
          </a:p>
          <a:p/>
          <a:p>
            <a:r>
              <a:t>Strategy carried by people: What the people who carry a strategy have understood and internalised survives the loss of any document. Build the strategy into their knowledge and conviction. Use this with “Leaders repeat it everywhere”.</a:t>
            </a:r>
          </a:p>
          <a:p>
            <a:r>
              <a:t>Source: Journal, 16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INTEGRATION SUMMARY: THE EMERGING COLLECTIVE VIEW (Convergence · Tension · Gaps · Bias)
FACILITATOR GUIDANCE — Section 5.4
The integration synthesis: This is the most important facilitation moment in the entire unit. After all CXO contributions are captured in 5.2 and 5.3, lead the group through a structured analysis of the four dimensions below. Do not rush this — the most valuable strategic insight often emerges in the tension and missing dimensions.
Sequencing the synthesis: Start with Convergence (build collective confidence), then move to Tension (surface productive disagreement), then Missing Dimensions (name the blind spots), then Dominant Bias (invite honest self-assessment from the dominant function). The order matters — starting with tension creates defensiveness that prevents the insight from landing.
Closing the unit: End with the question: "We have now described the organisation we intend to build. The gap between what we described and what we currently have — is that gap strategic or operational? And who in this room is accountable for closing it?"
Suggested time: 15–20 minutes.
PARTICIPANT ACTIVITY
Participants complete this activity in their own file. The content below is for your preparation.
Content:
The facilitator leads a structured synthesis to identify the four dimensions of the emerging collective view across all CXO contributions.
Points of Convergence
Where all CXO descriptions aligned. What the organisation consistently looks like across all perspectives.
Points of Tension
Where perspectives contradicted or competed. Which functions described incompatible futures.
Missing Dimensions
Which SiP dimensions were inadequately described by any CXO. The collective blind spot.
Dominant Bias
Which functional perspective was over-represented. What this reveals about collective strategic blind spots.
📋Facilitator Closing Note
Record the single most important strategic insight that emerged from the Application — the insight the group did not have at the start of the session.
Participant file (5.4 — Integration Summary: The Emerging Collective View) — prompts participants complete:
- Points of Convergence Where did all CXO descriptions align? What does the organisation consistently look like across all perspectives? — Record the points where all executive perspectives aligned...
- Points of Tension Where did perspectives contradict or compete? Which functions described incompatible futures? — Record the tensions and contradictions that surfaced between executive perspectives...
- Missing Dimensions Which of the four SiP dimensions was inadequately described by any CXO? What is the collective blind spot? — Record the dimensions that no executive adequately described in the collective picture...
- Dominant Bias Which functional perspective was over-represented in the collective narrative? What does this tell the team about their strategic blind spots? — Record which functional perspective dominated and what this means for the collective strategy...
- ✎ Reflection — Application Having completed the full application exercise — what is the single most important shift your organisation must make to close the gap between your current strategic capability and the SiP you have collectively described? — Write your final integration reflection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QUESTION (Section 5.4)
End with the question: “We have now described the organisation we intend to build. The gap between what we described and what we currently have — is that gap strategic or operational? And who in this room is accountable for closing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3 prompts · submit to facilitator)
Participant activity (participant file, Section 5 · Portfolio Artefact):
- What Has Shifted What assumption about strategy — or about how your organisation defines it — has this unit challenged or changed?
- My Commitment to Action Based on the maturity assessment and SiP exercise, what is one specific action you will take within 30 days to strengthen strategic clarity in your organisation?
- My Development Priority From the 26 assessment areas, which single area represents your most important personal development priority as a strategic leader? Why that one?
Participants save the artefact, then submit Unit 2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2 synthesis)
FACILITATOR GUIDANCE — Unit Summary
Closing the unit: Expand the summary accordion and read each of the four sections aloud, or ask participants to read them in turn. The summary is deliberately concise — its role is to crystallise the arc of the unit.
Return to the opening question: Go back to the definitions participants wrote at the start of Awareness. Ask 2–3 participants — "Read your original definition of strategy. What would you change in it now — and why?" The difference between their opening answer and their closing answer is the measure of what Unit 2 produced.
Tangible outputs check: Before closing, confirm with the group that the following have been produced or are in progress:
A collective Strategy Maturity Assessment score (with the lowest group identified)
Individual SiP contributions from all assigned executive roles
A working draft of the collective SiP (Headline + Storyline)
Closing commitment: Ask each participant to complete this sentence privately — "Based on what Unit 2 revealed, the one thing I am committed to doing differently before our next session is…" Invite 2–3 to share. These become the accountability anchors for Unit 3.
Transition to Unit 3: Remind participants — "What we built today is the strategic destination. Unit 3 maps that destination through KISS and defines the OKRs that will measure our progress toward it."
Suggested time: 8–10 minutes.
Unit Summary (read aloud, section by section):
Awareness — What · What Was Established
Strategy was defined precisely: the output of iterative thinking, logic, and process to determine what, why, how, and when an organisation creates, delivers, and sustains value to its stakeholders while navigating forces in its operating environment. Every word carries strategic weight — OUTPUT, ITERATIVE, THINKING &amp; LOGIC, PROCESS, the 3Ws &amp; H, the Value Triad, STAKEHOLDERS, and NAVIGATING — each with a named failure mode when absent. Success in Practice (SiP) was introduced as the translation of strategic intent into future operating reality — what the organisation will look like, feel like, and perform like if the strategy works. SiP takes two forms: the Headline (one sentence, the portable vision anchor) and the Storyline (the four-dimensional narrative structured across Customer Experience &amp; Value, Operational Capability &amp; Execution Rhythm, People &amp; Culture Dynamics, and Enterprise Value Creation).
Intelligence — Why · Why It Matters
Strategic intent and SiP must be co-created by the leadership team. Co-creation produces three irreplaceable results: leaders agree on the destination through genuine shared construction; trade-offs become visible in the room, before execution; and the organisation builds collective ownership of the future state — the only ownership that sustains under execution pressure. The Strategy Engine has three interlocked components. Thinking Logic is where strategic errors most often originate: errors of reasoning. Most organisations over-invest in Process and Iteration while systematically neglecting Thinking Logic — producing well-structured, regularly reviewed, genuinely wrong decisions.
Extrapolating — Where · Where Fragmentation Appears
Each SiP dimension is a multidimensional observable reality. Fragmentation becomes visible when key indicators are absent: customers describe interactions as transactional (D1); leaders describe different priorities and decisions queue upward (D2); information is hoarded, silos dominate, and strategic alignment is absent from the floor (D3); growth is accidental and cannot be traced to specific strategic choices and the organisation harvests value faster than it creates it (D4). SiP Flammables reveal where imbalance creates strategic drift — when one dimension dominates, the SiP narrows into a functional ambition that no longer describes the enterprise.
Integration — Collective · What Was Built
The executive team completed the 26-area Strategy Maturity Assessment across six groups: Process Components, Strategic Intent Dimensions (3W1H), Value Lifecycle, Operating Environment, Strategy Engine, and Strategic Chain. Each leader described the four SiP dimensions from their assigned role's perspective in the present tense of the future. The collective exercise surfaced convergence — where all perspectives aligned; tension — where they contradicted or competed; missing dimensions — where no leader adequately described the future state; and dominant bias — where one functional perspective over-represented the narrative. The integration produced one shared Strategic Intent Statement and one co-owned SiP — the destination anchor for the next stage of the S2R®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a shared Strategic Intent and a Success in Practice narrative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strategic intent in terms of what the organisation pursues, why, how and when.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Strategy Master Definition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Every word carries strategic weight</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OUTPUT  </a:t>
            </a:r>
            <a:pPr indent="0" marL="0">
              <a:buNone/>
            </a:pP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ITERATIVE  </a:t>
            </a:r>
            <a:pPr indent="0" marL="0">
              <a:buNone/>
            </a:pP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THINKING &amp; LOGIC  </a:t>
            </a:r>
            <a:pPr indent="0" marL="0">
              <a:buNone/>
            </a:pP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PROCESS  </a:t>
            </a:r>
            <a:pPr indent="0" marL="0">
              <a:buNone/>
            </a:pP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WHAT · WHY · HOW · WHEN  </a:t>
            </a:r>
            <a:pPr indent="0" marL="0">
              <a:buNone/>
            </a:pP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CREATES · DELIVERS · SUSTAINS  </a:t>
            </a:r>
            <a:pPr indent="0" marL="0">
              <a:buNone/>
            </a:pP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STAKEHOLDERS  </a:t>
            </a:r>
            <a:pPr indent="0" marL="0">
              <a:buNone/>
            </a:pP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NAVIGATING  </a:t>
            </a:r>
            <a:pPr indent="0" marL="0">
              <a:buNone/>
            </a:pP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FORCES  </a:t>
            </a:r>
            <a:pPr indent="0" marL="0">
              <a:buNone/>
            </a:pP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Strategic Intent: the 3W1H framework</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strategies fail because HOW and WHEN are underdeveloped.</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Success in Practice: four observable domains</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Shape 4"/>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1" name="Shape 7"/>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2" name="Shape 8"/>
          <p:cNvSpPr/>
          <p:nvPr/>
        </p:nvSpPr>
        <p:spPr>
          <a:xfrm>
            <a:off x="777240" y="38404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4" name="Text 9"/>
          <p:cNvSpPr txBox="1"/>
          <p:nvPr/>
        </p:nvSpPr>
        <p:spPr>
          <a:xfrm>
            <a:off x="1508760"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5" name="Shape 10"/>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6" name="Shape 11"/>
          <p:cNvSpPr/>
          <p:nvPr/>
        </p:nvSpPr>
        <p:spPr>
          <a:xfrm>
            <a:off x="6460236" y="38404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18" name="Text 12"/>
          <p:cNvSpPr txBox="1"/>
          <p:nvPr/>
        </p:nvSpPr>
        <p:spPr>
          <a:xfrm>
            <a:off x="7191756"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19"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0"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Headline: the destination in one sentence. Storyline: the four-dimensional narrative.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Awareness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word that describes the gap between where your organisation currently is and the SiP you just imagined?</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Strategic Intent Must Precede Success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strategic intent and the meaning of success must be co-created by the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Why intent and SiP must be co-created</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destination:  </a:t>
            </a:r>
            <a:pPr indent="0" marL="0">
              <a:buNone/>
            </a:pPr>
            <a:r>
              <a:rPr lang="en-US" sz="2600" dirty="0">
                <a:solidFill>
                  <a:srgbClr val="1F2A22"/>
                </a:solidFill>
                <a:latin typeface="Calibri" pitchFamily="34" charset="0"/>
                <a:ea typeface="Calibri" pitchFamily="34" charset="-122"/>
                <a:cs typeface="Calibri" pitchFamily="34" charset="-120"/>
              </a:rPr>
              <a:t>leaders agree through genuine shared construction</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Visible trade-offs:  </a:t>
            </a:r>
            <a:pPr indent="0" marL="0">
              <a:buNone/>
            </a:pPr>
            <a:r>
              <a:rPr lang="en-US" sz="2600" dirty="0">
                <a:solidFill>
                  <a:srgbClr val="1F2A22"/>
                </a:solidFill>
                <a:latin typeface="Calibri" pitchFamily="34" charset="0"/>
                <a:ea typeface="Calibri" pitchFamily="34" charset="-122"/>
                <a:cs typeface="Calibri" pitchFamily="34" charset="-120"/>
              </a:rPr>
              <a:t>tensions surface in the room, before execution</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Collective ownership:  </a:t>
            </a:r>
            <a:pPr indent="0" marL="0">
              <a:buNone/>
            </a:pPr>
            <a:r>
              <a:rPr lang="en-US" sz="2600" dirty="0">
                <a:solidFill>
                  <a:srgbClr val="1F2A22"/>
                </a:solidFill>
                <a:latin typeface="Calibri" pitchFamily="34" charset="0"/>
                <a:ea typeface="Calibri" pitchFamily="34" charset="-122"/>
                <a:cs typeface="Calibri" pitchFamily="34" charset="-120"/>
              </a:rPr>
              <a:t>the only ownership that sustains under execution pressure</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Strategy Engine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Thinking Logic</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Mental Model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Process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Structured Container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Iterative Nature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Feedback Loop</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focus on Process, add some Iteration, and largely ignore Thinking Logic.</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Intent and SiP in the S2R® architecture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Shape 4"/>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8" name="Shape 5"/>
          <p:cNvSpPr/>
          <p:nvPr/>
        </p:nvSpPr>
        <p:spPr>
          <a:xfrm>
            <a:off x="4565904" y="1737360"/>
            <a:ext cx="640080" cy="64008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0" name="Text 6"/>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1" name="Shape 7"/>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2" name="Shape 8"/>
          <p:cNvSpPr/>
          <p:nvPr/>
        </p:nvSpPr>
        <p:spPr>
          <a:xfrm>
            <a:off x="8354568" y="1737360"/>
            <a:ext cx="640080" cy="64008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4" name="Text 9"/>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Intent Fragments &amp; How SiP Reveals It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signals that show whether the intended future position is being realised.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the dominance of a single perspective causes strategic intent to drift.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four SiP dimensions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CARE: Connection · Access · Results · Effort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Cross-Boundary Collaboration · Ownership Culture · Strategic Alignment · Dialogue Quality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Growth Trajectory · Profitability Quality · Market Position · Value Durability</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SiP Flammables: where imbalance creates drift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Shape 4"/>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1" name="Shape 7"/>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2" name="Shape 8"/>
          <p:cNvSpPr/>
          <p:nvPr/>
        </p:nvSpPr>
        <p:spPr>
          <a:xfrm>
            <a:off x="777240" y="42976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4" name="Text 9"/>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5" name="Shape 10"/>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6" name="Shape 11"/>
          <p:cNvSpPr/>
          <p:nvPr/>
        </p:nvSpPr>
        <p:spPr>
          <a:xfrm>
            <a:off x="6460236" y="42976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18" name="Text 12"/>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Strategic Intent &amp; SiP Together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organisation’s strategic maturity against the ambition it has set.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Contribute an enterprise perspective to a collective definition of success.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Executive leader perspectives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naturally emphasises its domain: many partial pictures, each accurate and collectively incomplete.</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Strategy Maturity Assessment: six groups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Process  </a:t>
            </a:r>
            <a:pPr indent="0" marL="0">
              <a:buNone/>
            </a:pPr>
            <a:r>
              <a:rPr lang="en-US" sz="2600" dirty="0">
                <a:solidFill>
                  <a:srgbClr val="1F2A22"/>
                </a:solidFill>
                <a:latin typeface="Calibri" pitchFamily="34" charset="0"/>
                <a:ea typeface="Calibri" pitchFamily="34" charset="-122"/>
                <a:cs typeface="Calibri" pitchFamily="34" charset="-120"/>
              </a:rPr>
              <a:t>Strategy as a capability — process components.</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Intent (3W1H)  </a:t>
            </a:r>
            <a:pPr indent="0" marL="0">
              <a:buNone/>
            </a:pPr>
            <a:r>
              <a:rPr lang="en-US" sz="2600" dirty="0">
                <a:solidFill>
                  <a:srgbClr val="1F2A22"/>
                </a:solidFill>
                <a:latin typeface="Calibri" pitchFamily="34" charset="0"/>
                <a:ea typeface="Calibri" pitchFamily="34" charset="-122"/>
                <a:cs typeface="Calibri" pitchFamily="34" charset="-120"/>
              </a:rPr>
              <a:t>Strategic intent dimensions — the directional anchor.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Value  </a:t>
            </a:r>
            <a:pPr indent="0" marL="0">
              <a:buNone/>
            </a:pPr>
            <a:r>
              <a:rPr lang="en-US" sz="2600" dirty="0">
                <a:solidFill>
                  <a:srgbClr val="1F2A22"/>
                </a:solidFill>
                <a:latin typeface="Calibri" pitchFamily="34" charset="0"/>
                <a:ea typeface="Calibri" pitchFamily="34" charset="-122"/>
                <a:cs typeface="Calibri" pitchFamily="34" charset="-120"/>
              </a:rPr>
              <a:t>Value lifecycle — creates, delivers, sustains.</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 · Environment  </a:t>
            </a:r>
            <a:pPr indent="0" marL="0">
              <a:buNone/>
            </a:pPr>
            <a:r>
              <a:rPr lang="en-US" sz="2600" dirty="0">
                <a:solidFill>
                  <a:srgbClr val="1F2A22"/>
                </a:solidFill>
                <a:latin typeface="Calibri" pitchFamily="34" charset="0"/>
                <a:ea typeface="Calibri" pitchFamily="34" charset="-122"/>
                <a:cs typeface="Calibri" pitchFamily="34" charset="-120"/>
              </a:rPr>
              <a:t>Operating environment — stakeholders and navigation.</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Engine  </a:t>
            </a:r>
            <a:pPr indent="0" marL="0">
              <a:buNone/>
            </a:pPr>
            <a:r>
              <a:rPr lang="en-US" sz="2600" dirty="0">
                <a:solidFill>
                  <a:srgbClr val="1F2A22"/>
                </a:solidFill>
                <a:latin typeface="Calibri" pitchFamily="34" charset="0"/>
                <a:ea typeface="Calibri" pitchFamily="34" charset="-122"/>
                <a:cs typeface="Calibri" pitchFamily="34" charset="-120"/>
              </a:rPr>
              <a:t>The strategy engine — thinking, process, iteration.</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 Strategic Chain  </a:t>
            </a:r>
            <a:pPr indent="0" marL="0">
              <a:buNone/>
            </a:pPr>
            <a:r>
              <a:rPr lang="en-US" sz="2600" dirty="0">
                <a:solidFill>
                  <a:srgbClr val="1F2A22"/>
                </a:solidFill>
                <a:latin typeface="Calibri" pitchFamily="34" charset="0"/>
                <a:ea typeface="Calibri" pitchFamily="34" charset="-122"/>
                <a:cs typeface="Calibri" pitchFamily="34" charset="-120"/>
              </a:rPr>
              <a:t>From inputs to coherent executable output.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Reading the maturity score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78</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maximum score: 26 areas, each scored 0–3</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0–26 Foundational Gaps  </a:t>
            </a:r>
            <a:pPr indent="0" marL="0">
              <a:buNone/>
            </a:pPr>
            <a:r>
              <a:rPr lang="en-US" sz="2400" dirty="0">
                <a:solidFill>
                  <a:srgbClr val="4E5E53"/>
                </a:solidFill>
                <a:latin typeface="Calibri" pitchFamily="34" charset="0"/>
                <a:ea typeface="Calibri" pitchFamily="34" charset="-122"/>
                <a:cs typeface="Calibri" pitchFamily="34" charset="-120"/>
              </a:rPr>
              <a:t>strategy remains fragile and personality-dependent</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27–52 Developing Capability  </a:t>
            </a:r>
            <a:pPr indent="0" marL="0">
              <a:buNone/>
            </a:pPr>
            <a:r>
              <a:rPr lang="en-US" sz="2400" dirty="0">
                <a:solidFill>
                  <a:srgbClr val="4E5E53"/>
                </a:solidFill>
                <a:latin typeface="Calibri" pitchFamily="34" charset="0"/>
                <a:ea typeface="Calibri" pitchFamily="34" charset="-122"/>
                <a:cs typeface="Calibri" pitchFamily="34" charset="-120"/>
              </a:rPr>
              <a:t>key dimensions present; integration incomplete</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53–78 Strategic Maturity  </a:t>
            </a:r>
            <a:pPr indent="0" marL="0">
              <a:buNone/>
            </a:pPr>
            <a:r>
              <a:rPr lang="en-US" sz="2400" dirty="0">
                <a:solidFill>
                  <a:srgbClr val="4E5E53"/>
                </a:solidFill>
                <a:latin typeface="Calibri" pitchFamily="34" charset="0"/>
                <a:ea typeface="Calibri" pitchFamily="34" charset="-122"/>
                <a:cs typeface="Calibri" pitchFamily="34" charset="-120"/>
              </a:rPr>
              <a:t>strategy is embedded as organisational capability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Collective SiP exercise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“we have…”, “customers experience…”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in silence:  </a:t>
            </a:r>
            <a:pPr indent="0" marL="0">
              <a:buNone/>
            </a:pPr>
            <a:r>
              <a:rPr lang="en-US" sz="2600" dirty="0">
                <a:solidFill>
                  <a:srgbClr val="1F2A22"/>
                </a:solidFill>
                <a:latin typeface="Calibri" pitchFamily="34" charset="0"/>
                <a:ea typeface="Calibri" pitchFamily="34" charset="-122"/>
                <a:cs typeface="Calibri" pitchFamily="34" charset="-120"/>
              </a:rPr>
              <a:t>all four dimensions from your role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synthesise:  </a:t>
            </a:r>
            <a:pPr indent="0" marL="0">
              <a:buNone/>
            </a:pPr>
            <a:r>
              <a:rPr lang="en-US" sz="2600" dirty="0">
                <a:solidFill>
                  <a:srgbClr val="1F2A22"/>
                </a:solidFill>
                <a:latin typeface="Calibri" pitchFamily="34" charset="0"/>
                <a:ea typeface="Calibri" pitchFamily="34" charset="-122"/>
                <a:cs typeface="Calibri" pitchFamily="34" charset="-120"/>
              </a:rPr>
              <a:t>one working SiP, genuinely shared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Running the synthesis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Converge:  </a:t>
            </a:r>
            <a:pPr indent="0" marL="0">
              <a:buNone/>
            </a:pPr>
            <a:r>
              <a:rPr lang="en-US" sz="2600" dirty="0">
                <a:solidFill>
                  <a:srgbClr val="1F2A22"/>
                </a:solidFill>
                <a:latin typeface="Calibri" pitchFamily="34" charset="0"/>
                <a:ea typeface="Calibri" pitchFamily="34" charset="-122"/>
                <a:cs typeface="Calibri" pitchFamily="34" charset="-120"/>
              </a:rPr>
              <a:t>your strongest strategic signal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Compete:  </a:t>
            </a:r>
            <a:pPr indent="0" marL="0">
              <a:buNone/>
            </a:pPr>
            <a:r>
              <a:rPr lang="en-US" sz="2600" dirty="0">
                <a:solidFill>
                  <a:srgbClr val="1F2A22"/>
                </a:solidFill>
                <a:latin typeface="Calibri" pitchFamily="34" charset="0"/>
                <a:ea typeface="Calibri" pitchFamily="34" charset="-122"/>
                <a:cs typeface="Calibri" pitchFamily="34" charset="-120"/>
              </a:rPr>
              <a:t>where trade-off decisions are needed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Least described:  </a:t>
            </a:r>
            <a:pPr indent="0" marL="0">
              <a:buNone/>
            </a:pPr>
            <a:r>
              <a:rPr lang="en-US" sz="2600" dirty="0">
                <a:solidFill>
                  <a:srgbClr val="1F2A22"/>
                </a:solidFill>
                <a:latin typeface="Calibri" pitchFamily="34" charset="0"/>
                <a:ea typeface="Calibri" pitchFamily="34" charset="-122"/>
                <a:cs typeface="Calibri" pitchFamily="34" charset="-120"/>
              </a:rPr>
              <a:t>your white space — who owns it?</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Dominant perspective:  </a:t>
            </a:r>
            <a:pPr indent="0" marL="0">
              <a:buNone/>
            </a:pPr>
            <a:r>
              <a:rPr lang="en-US" sz="2600" dirty="0">
                <a:solidFill>
                  <a:srgbClr val="1F2A22"/>
                </a:solidFill>
                <a:latin typeface="Calibri" pitchFamily="34" charset="0"/>
                <a:ea typeface="Calibri" pitchFamily="34" charset="-122"/>
                <a:cs typeface="Calibri" pitchFamily="34" charset="-120"/>
              </a:rPr>
              <a:t>how do we rebalance?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Assessment to Application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the actions needed to close the gap between current maturity and the intended future position.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statement of success that supports consistent enterprise decision-making.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From assessment to corrective actions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change to close the gap to the SiP vision?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operational gaps must be closed?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cultural and behavioural shifts are required?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be strengthened for durable value?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CXO SiP Application Table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Your assigned role:  </a:t>
            </a:r>
            <a:pPr indent="0" marL="0">
              <a:buNone/>
            </a:pPr>
            <a:r>
              <a:rPr lang="en-US" sz="2600" dirty="0">
                <a:solidFill>
                  <a:srgbClr val="1F2A22"/>
                </a:solidFill>
                <a:latin typeface="Calibri" pitchFamily="34" charset="0"/>
                <a:ea typeface="Calibri" pitchFamily="34" charset="-122"/>
                <a:cs typeface="Calibri" pitchFamily="34" charset="-120"/>
              </a:rPr>
              <a:t>all four dimensions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as if the strategy has already succeeded</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Self-audit:  </a:t>
            </a:r>
            <a:pPr indent="0" marL="0">
              <a:buNone/>
            </a:pPr>
            <a:r>
              <a:rPr lang="en-US" sz="2600" dirty="0">
                <a:solidFill>
                  <a:srgbClr val="1F2A22"/>
                </a:solidFill>
                <a:latin typeface="Calibri" pitchFamily="34" charset="0"/>
                <a:ea typeface="Calibri" pitchFamily="34" charset="-122"/>
                <a:cs typeface="Calibri" pitchFamily="34" charset="-120"/>
              </a:rPr>
              <a:t>which Flammable does your response risk creating?</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SiP Headline and Storyline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Headline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Strategic vision anchor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One sentence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strategic destination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repeat it everywhere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Storyline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Strategic narrative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future organisation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Across the four dimensions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Present tense of the future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Draft the composite together: no single executive writes it alone.</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Integration Summary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Points of Convergence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all CXO descriptions aligned.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Points of Tension</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perspectives contradicted or competed.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Missing Dimensions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collective blind spot.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Dominant Bias</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functional perspective was over-represented.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the Application section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gap between what we described and what we currently have strategic or operational? And who in this room is accountable for closing it?</a:t>
            </a:r>
            <a:endParaRPr lang="en-US"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assumption about strategy this unit challenged.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action within 30 days to strengthen strategic clarity.</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single most important area of the 26.</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Institute of Behavioural Strategy &amp; Leadership</cp:lastModifiedBy>
  <cp:revision>1</cp:revision>
  <dcterms:created xsi:type="dcterms:W3CDTF">2026-09-29T13:20:12Z</dcterms:created>
  <dcterms:modified xsi:type="dcterms:W3CDTF">2026-09-29T13:20:12Z</dcterms:modified>
</cp:coreProperties>
</file>