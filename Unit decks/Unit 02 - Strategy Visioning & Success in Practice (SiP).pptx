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300" r:id="rId11"/>
    <p:sldId id="265" r:id="rId12"/>
    <p:sldId id="266" r:id="rId13"/>
    <p:sldId id="267" r:id="rId14"/>
    <p:sldId id="268" r:id="rId15"/>
    <p:sldId id="269" r:id="rId16"/>
    <p:sldId id="301" r:id="rId17"/>
    <p:sldId id="270" r:id="rId18"/>
    <p:sldId id="271" r:id="rId19"/>
    <p:sldId id="272" r:id="rId20"/>
    <p:sldId id="273" r:id="rId21"/>
    <p:sldId id="274" r:id="rId22"/>
    <p:sldId id="275" r:id="rId23"/>
    <p:sldId id="276" r:id="rId24"/>
    <p:sldId id="302" r:id="rId25"/>
    <p:sldId id="281" r:id="rId26"/>
    <p:sldId id="282" r:id="rId27"/>
    <p:sldId id="283" r:id="rId28"/>
    <p:sldId id="284" r:id="rId29"/>
    <p:sldId id="290" r:id="rId30"/>
    <p:sldId id="291" r:id="rId31"/>
    <p:sldId id="292" r:id="rId32"/>
    <p:sldId id="294" r:id="rId33"/>
    <p:sldId id="295" r:id="rId34"/>
    <p:sldId id="296" r:id="rId35"/>
    <p:sldId id="303" r:id="rId36"/>
    <p:sldId id="299"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9285" autoAdjust="0"/>
  </p:normalViewPr>
  <p:slideViewPr>
    <p:cSldViewPr snapToGrid="0" snapToObjects="1">
      <p:cViewPr varScale="1">
        <p:scale>
          <a:sx n="41" d="100"/>
          <a:sy n="41" d="100"/>
        </p:scale>
        <p:origin x="1414" y="34"/>
      </p:cViewPr>
      <p:guideLst/>
    </p:cSldViewPr>
  </p:slideViewPr>
  <p:notesTextViewPr>
    <p:cViewPr>
      <p:scale>
        <a:sx n="1" d="1"/>
        <a:sy n="1" d="1"/>
      </p:scale>
      <p:origin x="0" y="-8856"/>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259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 STRATEGY VISIONING &amp; SUCCESS IN PRACTICE (SiP)
Module 2 · Direction · Unit 2
</a:t>
            </a:r>
            <a:r>
              <a:rPr lang="en-US" b="1" dirty="0"/>
              <a:t>UNIT INTENT</a:t>
            </a:r>
            <a:r>
              <a:rPr lang="en-US" dirty="0"/>
              <a:t>
Unit overview (facilitator file): This unit helps leaders to determine the organisation’s strategy architecture, articulate its strategic intent and define the Success in Practice (SiP) of the chosen Strategy Intent.</a:t>
            </a:r>
          </a:p>
          <a:p>
            <a:endParaRPr lang="en-US" dirty="0"/>
          </a:p>
          <a:p>
            <a:r>
              <a:rPr lang="en-US" dirty="0"/>
              <a:t>Before the organisation can define where it is going, leaders must agree on what strategy actually means, in the precise, strategic sense, translated to operational reality, that makes every subsequent decision coherent.</a:t>
            </a:r>
          </a:p>
          <a:p>
            <a:r>
              <a:rPr lang="en-US" dirty="0"/>
              <a:t>
Three connected outputs carry the unit: the Strategy Architecture, the Strategy Intent Statement and Success in Practice. </a:t>
            </a:r>
          </a:p>
          <a:p>
            <a:r>
              <a:rPr lang="en-US" dirty="0"/>
              <a:t>
</a:t>
            </a:r>
            <a:r>
              <a:rPr lang="en-US" b="1" dirty="0"/>
              <a:t>WHAT THE UNIT PRODUCES:</a:t>
            </a:r>
            <a:r>
              <a:rPr lang="en-US" dirty="0"/>
              <a:t>
Each group builds three connected outputs, in this order.
1. The Strategy Architecture: the integrated strategic logic constructed from the 14 elements of the Strategy2Results® definition of strategy.
2. The Strategy Intent Statement: one crisp statement of strategic ambition derived from WHAT, WHY, HOW and WHEN.
3. Success in Practice (SiP): four confirmed statements, one for each SiP domain, read together as one picture of success.
The Architecture provides the logic. The Intent crystallises the ambition. Success in Practice makes the ambition observable.
</a:t>
            </a:r>
            <a:r>
              <a:rPr lang="en-US" b="1" dirty="0"/>
              <a:t>HOW THE UNIT RUNS:</a:t>
            </a:r>
            <a:r>
              <a:rPr lang="en-US" dirty="0"/>
              <a:t>
1. You teach the whole unit from this deck first, from Section 1 to the Unit Summary. The deck is the teaching material.
2. Participants then go to the portal and complete their own page, in the session or after it: the opening definition of strategy, the reflections, the three Section 4 outputs, the role contribution and the 5.2 observations.
3. Section 4 on the portal is group work. The group agrees each entry and one member acts as scribe. </a:t>
            </a:r>
          </a:p>
          <a:p>
            <a:r>
              <a:rPr lang="en-US" dirty="0"/>
              <a:t>Every member then types the agreed entries into their own page.
4. Section 5 on the portal is individual work from an assigned executive role, followed by each group sharing with the room.
</a:t>
            </a:r>
          </a:p>
          <a:p>
            <a:r>
              <a:rPr lang="en-US" dirty="0"/>
              <a:t>Each slide's notes end with a block headed "On the portal, after the teaching" wherever participants have something to complete for that part.
Your preparation as facilitator:
- Read the Facilitator Guide tab and every section of the facilitator file. 
</a:t>
            </a:r>
            <a:r>
              <a:rPr lang="en-US" b="1" dirty="0"/>
              <a:t>Where the outputs go next:</a:t>
            </a:r>
            <a:r>
              <a:rPr lang="en-US" dirty="0"/>
              <a:t>
- The three confirmed outputs feed the team's Capstone Blueprint. </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LEARNING OUTCOMES </a:t>
            </a:r>
            <a:r>
              <a:rPr lang="en-US" dirty="0"/>
              <a:t>
</a:t>
            </a:r>
            <a:r>
              <a:rPr lang="en-US" b="1" dirty="0"/>
              <a:t>HOW TO USE THIS SLIDE:</a:t>
            </a:r>
            <a:r>
              <a:rPr lang="en-US" dirty="0"/>
              <a:t>
Read the four outcomes aloud and say where the unit delivers each one.
- Outcome 1 is built in Section 1 (the definition and its architecture) and produced in 4.1 and 4.2 (the Strategy Architecture and the Strategy Intent Statement).
- Outcome 2 is built in 1.3 and Section 3 (the four SiP domains and their observable indicators) and produced in 4.3 (the four SiP statements).
- Outcome 3 is tested in 4.1, where each group checks that its choices reinforce one another and reflect the realities of its capability and environment, and in 3.2, where the SiP Flammables test the balance of the picture of success.
- Outcome 4 is built in Section 2 (the three functions the Strategy Intent and SiP serve) and applied in Section 5 (the contribution of each executive role).
Each section slide carries that section’s two learning outcomes.
</a:t>
            </a:r>
            <a:r>
              <a:rPr lang="en-US" b="1" dirty="0"/>
              <a:t>QUESTION TO ASK:</a:t>
            </a:r>
            <a:r>
              <a:rPr lang="en-US" dirty="0"/>
              <a:t>
"Which of these four outcomes would make the largest difference to how your leadership team works today?" </a:t>
            </a:r>
          </a:p>
          <a:p>
            <a:endParaRPr lang="en-US" dirty="0"/>
          </a:p>
          <a:p>
            <a:r>
              <a:rPr lang="en-US" dirty="0"/>
              <a:t>Take two or three answers. They tell you where the room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FACILITATOR GUIDE · SESSION OVERVIEW</a:t>
            </a:r>
          </a:p>
          <a:p>
            <a:endParaRPr lang="en-US" b="1" dirty="0"/>
          </a:p>
          <a:p>
            <a:r>
              <a:rPr lang="en-US" b="1" dirty="0"/>
              <a:t>HOW TO USE THIS SLIDE:</a:t>
            </a:r>
            <a:r>
              <a:rPr lang="en-US" dirty="0"/>
              <a:t>
1. Walk the five sections in one sentence each, using the list below.
2. Say plainly that Sections 1 to 3 prepare the thinking and Section 4 is where each group produces its three outputs. </a:t>
            </a:r>
          </a:p>
          <a:p>
            <a:r>
              <a:rPr lang="en-US" dirty="0"/>
              <a:t>3. Tell participants how the unit runs: you teach all five sections from the deck first, and they then complete the unit on the portal, in the session or after it.</a:t>
            </a:r>
          </a:p>
          <a:p>
            <a:r>
              <a:rPr lang="en-US" dirty="0"/>
              <a:t>
</a:t>
            </a:r>
            <a:r>
              <a:rPr lang="en-US" b="1" dirty="0"/>
              <a:t>THE FIVE SECTIONS:</a:t>
            </a:r>
            <a:r>
              <a:rPr lang="en-US" dirty="0"/>
              <a:t>
- Section 1 · Awareness — What: the Strategy2Results® definition of strategy, the Strategy Architecture underneath it, the Strategy Intent Statement and Success in Practice.</a:t>
            </a:r>
          </a:p>
          <a:p>
            <a:r>
              <a:rPr lang="en-US" dirty="0"/>
              <a:t>
- Section 2 · Intelligence — Why: the three functions the Strategy Intent and SiP serve once they are defined: Strategic Alignment, Decision Filter and Execution Coherence.</a:t>
            </a:r>
          </a:p>
          <a:p>
            <a:r>
              <a:rPr lang="en-US" dirty="0"/>
              <a:t>
- Section 3 · Extrapolating — Where: the observable indicators within each SiP domain, and the SiP Flammables that distort the picture of success.</a:t>
            </a:r>
          </a:p>
          <a:p>
            <a:r>
              <a:rPr lang="en-US" dirty="0"/>
              <a:t>
- Section 4 · Integration — Collective: each group builds its Strategy Architecture, derives its Strategy Intent Statement and builds its Success in Practice.</a:t>
            </a:r>
          </a:p>
          <a:p>
            <a:r>
              <a:rPr lang="en-US" dirty="0"/>
              <a:t>
- Section 5 · Application — In Practice: each participant applies the agreed Success in Practice to an executive role; the groups then share.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1 · AWARENESS — WHAT</a:t>
            </a:r>
            <a:r>
              <a:rPr lang="en-US" dirty="0"/>
              <a:t>
</a:t>
            </a:r>
          </a:p>
          <a:p>
            <a:r>
              <a:rPr lang="en-US" b="1" dirty="0"/>
              <a:t>SECTION LEARNING OUTCOMES:
1. Define strategy through the architecture that connects direction to success.
2. Distinguish the direction an organisation sets from the future position that defines its success.
</a:t>
            </a:r>
            <a:r>
              <a:rPr lang="en-US" dirty="0"/>
              <a:t/>
            </a:r>
          </a:p>
          <a:p>
            <a:r>
              <a:rPr lang="en-US" b="1" dirty="0"/>
              <a:t>SECTION INTENT: </a:t>
            </a:r>
            <a:r>
              <a:rPr lang="en-US" dirty="0"/>
              <a:t>This section establishes the conceptual bedrock of the entire unit. </a:t>
            </a:r>
          </a:p>
          <a:p>
            <a:r>
              <a:rPr lang="en-US" dirty="0"/>
              <a:t>Before any co-creation can happen, participants must share a single, precise definition of strategy and understand its three building blocks: the Strategy Architecture, the Strategy Intent Statement and Success in Practice.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OPENING THE SESSION</a:t>
            </a:r>
          </a:p>
          <a:p>
            <a:endParaRPr lang="en-US" dirty="0"/>
          </a:p>
          <a:p>
            <a:r>
              <a:rPr lang="en-US" b="1" dirty="0"/>
              <a:t>HOW TO TEACH IT:</a:t>
            </a:r>
          </a:p>
          <a:p>
            <a:endParaRPr lang="en-US" dirty="0"/>
          </a:p>
          <a:p>
            <a:r>
              <a:rPr lang="en-US" b="1" dirty="0"/>
              <a:t>1. Ask for the definition.</a:t>
            </a:r>
          </a:p>
          <a:p>
            <a:r>
              <a:rPr lang="en-US" dirty="0"/>
              <a:t>Before showing any content, put this slide up and ask each participant to define strategy in their own words.</a:t>
            </a:r>
          </a:p>
          <a:p>
            <a:r>
              <a:rPr lang="en-US" dirty="0"/>
              <a:t>Say: "Write your definition of strategy in one sentence — right now, without consulting anyone."</a:t>
            </a:r>
          </a:p>
          <a:p>
            <a:r>
              <a:rPr lang="en-US" dirty="0"/>
              <a:t>Participants write on paper, without conferring.</a:t>
            </a:r>
          </a:p>
          <a:p>
            <a:endParaRPr lang="en-US" dirty="0"/>
          </a:p>
          <a:p>
            <a:r>
              <a:rPr lang="en-US" b="1" dirty="0"/>
              <a:t>2. Collect three or four responses.</a:t>
            </a:r>
          </a:p>
          <a:p>
            <a:r>
              <a:rPr lang="en-US" dirty="0"/>
              <a:t>Ask three or four participants to read their sentence aloud, word for word. Ask them to paste in the chat.</a:t>
            </a:r>
          </a:p>
          <a:p>
            <a:endParaRPr lang="en-US" dirty="0"/>
          </a:p>
          <a:p>
            <a:r>
              <a:rPr lang="en-US" b="1" dirty="0"/>
              <a:t>3. Ask the room what it hears.</a:t>
            </a:r>
          </a:p>
          <a:p>
            <a:r>
              <a:rPr lang="en-US" dirty="0"/>
              <a:t>Ask: "What do these definitions have in common? Where do they differ?"</a:t>
            </a:r>
          </a:p>
          <a:p>
            <a:endParaRPr lang="en-US" dirty="0"/>
          </a:p>
          <a:p>
            <a:r>
              <a:rPr lang="en-US" dirty="0"/>
              <a:t>Listen for: definitions that describe a plan ("the steps we take to…"), definitions that stop at ambition ("where we want to be in five years"), and definitions with no mention of value, stakeholders or the operating environment.</a:t>
            </a:r>
          </a:p>
          <a:p>
            <a:r>
              <a:rPr lang="en-US" dirty="0"/>
              <a:t>Hold back from correcting any definition. </a:t>
            </a:r>
          </a:p>
          <a:p>
            <a:endParaRPr lang="en-US" dirty="0"/>
          </a:p>
          <a:p>
            <a:r>
              <a:rPr lang="en-US" b="1" dirty="0"/>
              <a:t>4. Name what you see.</a:t>
            </a:r>
          </a:p>
          <a:p>
            <a:r>
              <a:rPr lang="en-US" dirty="0"/>
              <a:t>Say: "Some of our definitions describe a plan. Some describe an ambition. Some describe a competitive intention."</a:t>
            </a:r>
          </a:p>
          <a:p>
            <a:endParaRPr lang="en-US" dirty="0"/>
          </a:p>
          <a:p>
            <a:r>
              <a:rPr lang="en-US" b="1" dirty="0"/>
              <a:t>5. Use the gap as the opening provocation.</a:t>
            </a:r>
          </a:p>
          <a:p>
            <a:r>
              <a:rPr lang="en-US" dirty="0"/>
              <a:t>Say: "This gap between our answers is exactly the problem this unit solves. This unit gives us one precise definition of strategy and the architecture that sits underneath it."</a:t>
            </a:r>
          </a:p>
          <a:p>
            <a:endParaRPr lang="en-US" dirty="0"/>
          </a:p>
          <a:p>
            <a:r>
              <a:rPr lang="en-US" b="1" dirty="0"/>
              <a:t>6. Keep the definitions.</a:t>
            </a:r>
          </a:p>
          <a:p>
            <a:r>
              <a:rPr lang="en-US" dirty="0"/>
              <a:t>Say: "Keep your sentence. We return to it at the Unit Summary."</a:t>
            </a:r>
          </a:p>
          <a:p>
            <a:endParaRPr lang="en-US" dirty="0"/>
          </a:p>
          <a:p>
            <a:r>
              <a:rPr lang="en-US" b="1" dirty="0"/>
              <a:t>ON THE PORTAL, AFTER THE TEACHING:</a:t>
            </a:r>
          </a:p>
          <a:p>
            <a:r>
              <a:rPr lang="en-US" dirty="0"/>
              <a:t>Each participant enters their definition of strategy in the box at the top of Section 1 of the participant file: "Opening the Session — Your Definition of Strategy".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1.1 — DEFINE THE STRATEGY ARCHITECTURE (9 CONCEPTS)</a:t>
            </a:r>
          </a:p>
          <a:p>
            <a:endParaRPr lang="en-US" dirty="0"/>
          </a:p>
          <a:p>
            <a:r>
              <a:rPr lang="en-US" b="1" dirty="0"/>
              <a:t>HOW TO TEACH IT:</a:t>
            </a:r>
          </a:p>
          <a:p>
            <a:endParaRPr lang="en-US" dirty="0"/>
          </a:p>
          <a:p>
            <a:r>
              <a:rPr lang="en-US" b="1" dirty="0"/>
              <a:t>1. Link to the opening exercise.</a:t>
            </a:r>
          </a:p>
          <a:p>
            <a:r>
              <a:rPr lang="en-US" dirty="0"/>
              <a:t>Say: "We have just heard several definitions of strategy in this room. </a:t>
            </a:r>
          </a:p>
          <a:p>
            <a:r>
              <a:rPr lang="en-US" dirty="0"/>
              <a:t>Strategy is frequently used but rarely precisely defined. </a:t>
            </a:r>
          </a:p>
          <a:p>
            <a:r>
              <a:rPr lang="en-US" dirty="0"/>
              <a:t>In most organisations it functions as shorthand for ambition, planning, or competitive intention, with each executive leader carrying a slightly different version of the word. </a:t>
            </a:r>
          </a:p>
          <a:p>
            <a:r>
              <a:rPr lang="en-US" dirty="0"/>
              <a:t>In the Strategy2Results® framework, strategy has a specific applied definition - the interconnected choices and logic that determine what the organisation does, we call this the Strategy Architecture.</a:t>
            </a:r>
          </a:p>
          <a:p>
            <a:r>
              <a:rPr lang="en-US" dirty="0"/>
              <a:t>Every strategy for any organisations takes complexity, uncertainty and gives it structure.</a:t>
            </a:r>
          </a:p>
          <a:p>
            <a:endParaRPr lang="en-US" dirty="0"/>
          </a:p>
          <a:p>
            <a:r>
              <a:rPr lang="en-US" b="1" dirty="0"/>
              <a:t>2. Read the definition.</a:t>
            </a:r>
          </a:p>
          <a:p>
            <a:r>
              <a:rPr lang="en-US" dirty="0"/>
              <a:t>Say: "We are now going to unpack the Strategy2Results® definition of strategy."</a:t>
            </a:r>
          </a:p>
          <a:p>
            <a:r>
              <a:rPr lang="en-US" dirty="0"/>
              <a:t>Read the definition on the slide aloud once, slowly:</a:t>
            </a:r>
          </a:p>
          <a:p>
            <a:endParaRPr lang="en-US" dirty="0"/>
          </a:p>
          <a:p>
            <a:r>
              <a:rPr lang="en-US" dirty="0"/>
              <a:t>"Strategy is the output of iterative thinking, logic and process to determine what, why, how and when an organisation creates, delivers and sustains value to its stakeholders while navigating the forces within its operating environment."</a:t>
            </a:r>
          </a:p>
          <a:p>
            <a:endParaRPr lang="en-US" dirty="0"/>
          </a:p>
          <a:p>
            <a:r>
              <a:rPr lang="en-US" dirty="0"/>
              <a:t>Ask one participant to read it a second time.</a:t>
            </a:r>
          </a:p>
          <a:p>
            <a:endParaRPr lang="en-US" dirty="0"/>
          </a:p>
          <a:p>
            <a:r>
              <a:rPr lang="en-US" dirty="0"/>
              <a:t>Then say: "Every word in this definition carries strategic weight, hence I said we are giving you an applied definition of strategy."</a:t>
            </a:r>
          </a:p>
          <a:p>
            <a:endParaRPr lang="en-US" dirty="0"/>
          </a:p>
          <a:p>
            <a:r>
              <a:rPr lang="en-US" b="1" dirty="0"/>
              <a:t>3. Compare it with the definitions of the room.</a:t>
            </a:r>
          </a:p>
          <a:p>
            <a:r>
              <a:rPr lang="en-US" dirty="0"/>
              <a:t>Ask: "Which words in this definition are missing from ours?"</a:t>
            </a:r>
          </a:p>
          <a:p>
            <a:r>
              <a:rPr lang="en-US" dirty="0"/>
              <a:t>Take two or three answers. Listen for: value, stakeholders, the forces, the operating environment. </a:t>
            </a:r>
          </a:p>
          <a:p>
            <a:r>
              <a:rPr lang="en-US" dirty="0"/>
              <a:t>These are the words most opening definitions leave out.</a:t>
            </a:r>
          </a:p>
          <a:p>
            <a:endParaRPr lang="en-US" dirty="0"/>
          </a:p>
          <a:p>
            <a:r>
              <a:rPr lang="en-US" b="1" dirty="0"/>
              <a:t>4. Name the parts.</a:t>
            </a:r>
          </a:p>
          <a:p>
            <a:r>
              <a:rPr lang="en-US" dirty="0"/>
              <a:t>Ask: how many components we have in our applied definition?</a:t>
            </a:r>
          </a:p>
          <a:p>
            <a:r>
              <a:rPr lang="en-US" dirty="0"/>
              <a:t>Point to each part of the definition as you name it: the output · iterative thinking, logic and process · what, why, how and when · creates, delivers and sustains value · stakeholders · navigating the forces · the operating environment.</a:t>
            </a:r>
          </a:p>
          <a:p>
            <a:endParaRPr lang="en-US" dirty="0"/>
          </a:p>
          <a:p>
            <a:r>
              <a:rPr lang="en-US" dirty="0"/>
              <a:t>Say: "Each concept in the definition represents part of the strategy architecture."</a:t>
            </a:r>
          </a:p>
          <a:p>
            <a:endParaRPr lang="en-US" dirty="0"/>
          </a:p>
          <a:p>
            <a:r>
              <a:rPr lang="en-US" b="1" dirty="0"/>
              <a:t>5. Leave one question with the group.</a:t>
            </a:r>
          </a:p>
          <a:p>
            <a:r>
              <a:rPr lang="en-US" dirty="0"/>
              <a:t>Say: "As we work through the concepts, consider: How well defined is each part of your current organisational strategy architecture?"</a:t>
            </a:r>
          </a:p>
          <a:p>
            <a:endParaRPr lang="en-US" dirty="0"/>
          </a:p>
          <a:p>
            <a:r>
              <a:rPr lang="en-US" b="1" dirty="0"/>
              <a:t>9. Bridge to the next slide.</a:t>
            </a:r>
          </a:p>
          <a:p>
            <a:r>
              <a:rPr lang="en-US" dirty="0"/>
              <a:t>Say: "Once we understand the parts and how they connect, we can begin constructing a coherent strategic position. </a:t>
            </a:r>
          </a:p>
          <a:p>
            <a:r>
              <a:rPr lang="en-US" dirty="0"/>
              <a:t>For each concept we look at three things: what it means, what it implies for execution, and what breaks when it is absent."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1.1 — DEFINE THE STRATEGY ARCHITECTURE · THE NINE CONCEPTS</a:t>
            </a:r>
          </a:p>
          <a:p>
            <a:endParaRPr lang="en-US" dirty="0"/>
          </a:p>
          <a:p>
            <a:r>
              <a:rPr lang="en-US" b="1" dirty="0"/>
              <a:t>HOW TO TEACH IT:</a:t>
            </a:r>
          </a:p>
          <a:p>
            <a:endParaRPr lang="en-US" dirty="0"/>
          </a:p>
          <a:p>
            <a:r>
              <a:rPr lang="en-US" b="1" dirty="0"/>
              <a:t>1. Open.</a:t>
            </a:r>
          </a:p>
          <a:p>
            <a:r>
              <a:rPr lang="en-US" dirty="0"/>
              <a:t>Say: "We take the nine concepts one at a time. For each one: what it means, its strategic implication, and what fails when it is missing."</a:t>
            </a:r>
          </a:p>
          <a:p>
            <a:endParaRPr lang="en-US" dirty="0"/>
          </a:p>
          <a:p>
            <a:r>
              <a:rPr lang="en-US" b="1" dirty="0"/>
              <a:t>2. OUTPUT — A decided position.</a:t>
            </a:r>
          </a:p>
          <a:p>
            <a:endParaRPr lang="en-US" b="1" dirty="0"/>
          </a:p>
          <a:p>
            <a:r>
              <a:rPr lang="en-US" b="1" dirty="0"/>
              <a:t>What it means, </a:t>
            </a:r>
            <a:r>
              <a:rPr lang="en-US" dirty="0"/>
              <a:t>say: "Strategy is a tangible, expressible, decided position. The output is what can be tested, challenged, and acted upon."</a:t>
            </a:r>
          </a:p>
          <a:p>
            <a:endParaRPr lang="en-US" dirty="0"/>
          </a:p>
          <a:p>
            <a:r>
              <a:rPr lang="en-US" b="1" dirty="0"/>
              <a:t>Strategic implication, </a:t>
            </a:r>
            <a:r>
              <a:rPr lang="en-US" dirty="0"/>
              <a:t>say: "Clarity of direction. People know what the organisation has committed to and can align decisions to it."</a:t>
            </a:r>
          </a:p>
          <a:p>
            <a:endParaRPr lang="en-US" dirty="0"/>
          </a:p>
          <a:p>
            <a:r>
              <a:rPr lang="en-US" b="1" dirty="0"/>
              <a:t>Failure if missing, </a:t>
            </a:r>
            <a:r>
              <a:rPr lang="en-US" dirty="0"/>
              <a:t>say: "Strategy remains trapped in conversations. Activity is mistaken for direction. </a:t>
            </a:r>
          </a:p>
          <a:p>
            <a:r>
              <a:rPr lang="en-US" dirty="0"/>
              <a:t>No one can articulate what was actually decided."</a:t>
            </a:r>
          </a:p>
          <a:p>
            <a:endParaRPr lang="en-US" dirty="0"/>
          </a:p>
          <a:p>
            <a:r>
              <a:rPr lang="en-ZA" b="1" dirty="0"/>
              <a:t>EXAMPLE</a:t>
            </a:r>
            <a:br>
              <a:rPr lang="en-ZA" dirty="0"/>
            </a:br>
            <a:r>
              <a:rPr lang="en-ZA" dirty="0"/>
              <a:t>“Over the next three years, we will grow our corporate banking business by becoming the primary transaction-banking partner for mid-sized enterprises in Southern Africa, prioritising digital transaction services and existing-market expansion.”</a:t>
            </a:r>
          </a:p>
          <a:p>
            <a:r>
              <a:rPr lang="en-ZA" dirty="0"/>
              <a:t>This works because it is </a:t>
            </a:r>
            <a:r>
              <a:rPr lang="en-ZA" b="1" dirty="0"/>
              <a:t>expressible and testable</a:t>
            </a:r>
            <a:r>
              <a:rPr lang="en-ZA" dirty="0"/>
              <a:t>. </a:t>
            </a:r>
          </a:p>
          <a:p>
            <a:r>
              <a:rPr lang="en-ZA" dirty="0"/>
              <a:t>Leadership can challenge it: </a:t>
            </a:r>
            <a:r>
              <a:rPr lang="en-ZA" i="1" dirty="0"/>
              <a:t>Why this customer? Why transaction banking? Why these markets?</a:t>
            </a:r>
            <a:r>
              <a:rPr lang="en-ZA" dirty="0"/>
              <a:t> And functions can begin aligning decisions, resources and priorities around it.</a:t>
            </a:r>
          </a:p>
          <a:p>
            <a:endParaRPr lang="en-ZA" dirty="0"/>
          </a:p>
          <a:p>
            <a:r>
              <a:rPr lang="en-ZA" dirty="0"/>
              <a:t>You could then contrast it briefly:</a:t>
            </a:r>
            <a:endParaRPr lang="en-ZA" b="1" dirty="0"/>
          </a:p>
          <a:p>
            <a:r>
              <a:rPr lang="en-ZA" b="1" dirty="0"/>
              <a:t>Not an output:</a:t>
            </a:r>
            <a:r>
              <a:rPr lang="en-ZA" dirty="0"/>
              <a:t> “We held a strategy retreat and agreed that growth and digitalisation are priorities.”</a:t>
            </a:r>
          </a:p>
          <a:p>
            <a:endParaRPr lang="en-ZA" b="1" dirty="0"/>
          </a:p>
          <a:p>
            <a:r>
              <a:rPr lang="en-ZA" b="1" dirty="0"/>
              <a:t>A decided position:</a:t>
            </a:r>
            <a:r>
              <a:rPr lang="en-ZA" dirty="0"/>
              <a:t> “We will grow through X, for Y customer, in Z arena, by making these choices.”</a:t>
            </a:r>
          </a:p>
          <a:p>
            <a:endParaRPr lang="en-US" dirty="0"/>
          </a:p>
          <a:p>
            <a:r>
              <a:rPr lang="en-US" dirty="0"/>
              <a:t>Add: "The decided position is distinct from a plan, a meeting, the process of strategising, the presentation deck, and the off-site discussion."</a:t>
            </a:r>
          </a:p>
          <a:p>
            <a:endParaRPr lang="en-US" dirty="0"/>
          </a:p>
          <a:p>
            <a:r>
              <a:rPr lang="en-US" b="1" dirty="0"/>
              <a:t>3. ITERATIVE —</a:t>
            </a:r>
          </a:p>
          <a:p>
            <a:endParaRPr lang="en-US" b="1" dirty="0"/>
          </a:p>
          <a:p>
            <a:r>
              <a:rPr lang="en-US" b="1" dirty="0"/>
              <a:t>What it means</a:t>
            </a:r>
            <a:r>
              <a:rPr lang="en-US" dirty="0"/>
              <a:t>, say: "Strategy is never finished in one pass. It is a hypothesis that loops: form, test against reality, revise, repeat."</a:t>
            </a:r>
          </a:p>
          <a:p>
            <a:endParaRPr lang="en-US" dirty="0"/>
          </a:p>
          <a:p>
            <a:r>
              <a:rPr lang="en-US" b="1" dirty="0"/>
              <a:t>Strategic implication, </a:t>
            </a:r>
            <a:r>
              <a:rPr lang="en-US" dirty="0"/>
              <a:t>say: "Adaptability. The organisation stays responsive to changing conditions without losing its overall direction."</a:t>
            </a:r>
          </a:p>
          <a:p>
            <a:endParaRPr lang="en-US" dirty="0"/>
          </a:p>
          <a:p>
            <a:r>
              <a:rPr lang="en-US" b="1" dirty="0"/>
              <a:t>Failure if missing</a:t>
            </a:r>
            <a:r>
              <a:rPr lang="en-US" dirty="0"/>
              <a:t>, say: "Strategy becomes doctrine — defended as settled belief and closed to evidence. </a:t>
            </a:r>
          </a:p>
          <a:p>
            <a:r>
              <a:rPr lang="en-US" dirty="0"/>
              <a:t>Stale assumptions compound until the organisation is blindsided.“</a:t>
            </a:r>
          </a:p>
          <a:p>
            <a:endParaRPr lang="en-US" dirty="0"/>
          </a:p>
          <a:p>
            <a:r>
              <a:rPr lang="en-US" b="1" dirty="0"/>
              <a:t>EXAMPLE</a:t>
            </a:r>
          </a:p>
          <a:p>
            <a:r>
              <a:rPr lang="en-ZA" dirty="0"/>
              <a:t>Kodak’s strategy was built around a world in which </a:t>
            </a:r>
            <a:r>
              <a:rPr lang="en-ZA" b="1" dirty="0"/>
              <a:t>photographic film remained central to how people captured and preserved images</a:t>
            </a:r>
            <a:r>
              <a:rPr lang="en-ZA" dirty="0"/>
              <a:t>. </a:t>
            </a:r>
          </a:p>
          <a:p>
            <a:r>
              <a:rPr lang="en-ZA" dirty="0"/>
              <a:t>Ironically, Kodak itself developed one of the first digital cameras in 1975. </a:t>
            </a:r>
          </a:p>
          <a:p>
            <a:r>
              <a:rPr lang="en-ZA" dirty="0"/>
              <a:t>The signals that photography was moving toward digital were therefore not entirely external to the company.</a:t>
            </a:r>
          </a:p>
          <a:p>
            <a:r>
              <a:rPr lang="en-ZA" b="1" dirty="0"/>
              <a:t>Its established strategic logic remained influential for too long while the environment was changing around it.</a:t>
            </a:r>
            <a:endParaRPr lang="en-ZA" dirty="0"/>
          </a:p>
          <a:p>
            <a:r>
              <a:rPr lang="en-ZA" dirty="0"/>
              <a:t>The strategic hypothesis needed to be repeatedly tested: </a:t>
            </a:r>
            <a:r>
              <a:rPr lang="en-ZA" i="1" dirty="0"/>
              <a:t>Is film still where value will be created? </a:t>
            </a:r>
          </a:p>
          <a:p>
            <a:r>
              <a:rPr lang="en-ZA" i="1" dirty="0"/>
              <a:t>How is customer behaviour changing? What business are we becoming as photography becomes digital?</a:t>
            </a:r>
            <a:endParaRPr lang="en-ZA" dirty="0"/>
          </a:p>
          <a:p>
            <a:endParaRPr lang="en-US" b="1" dirty="0"/>
          </a:p>
          <a:p>
            <a:r>
              <a:rPr lang="en-US" b="1" dirty="0"/>
              <a:t>Add:</a:t>
            </a:r>
            <a:r>
              <a:rPr lang="en-US" dirty="0"/>
              <a:t> "This rules out strategy as an annual ritual and rules in strategy as a living organisational capability.“</a:t>
            </a:r>
          </a:p>
          <a:p>
            <a:endParaRPr lang="en-US" dirty="0"/>
          </a:p>
          <a:p>
            <a:r>
              <a:rPr lang="en-US" b="1" dirty="0"/>
              <a:t>4. THINKING &amp; LOGIC — The cognitive engine.</a:t>
            </a:r>
          </a:p>
          <a:p>
            <a:endParaRPr lang="en-US" b="1" dirty="0"/>
          </a:p>
          <a:p>
            <a:r>
              <a:rPr lang="en-US" b="1" dirty="0"/>
              <a:t>What it means</a:t>
            </a:r>
            <a:r>
              <a:rPr lang="en-US" dirty="0"/>
              <a:t>, say: "Thinking is divergent and exploratory — generating hypotheses and questioning assumptions. </a:t>
            </a:r>
          </a:p>
          <a:p>
            <a:r>
              <a:rPr lang="en-US" dirty="0"/>
              <a:t>Logic is convergent and analytical — testing what must be true for the strategy to hold. Both are required in sequence."</a:t>
            </a:r>
          </a:p>
          <a:p>
            <a:endParaRPr lang="en-US" dirty="0"/>
          </a:p>
          <a:p>
            <a:r>
              <a:rPr lang="en-US" b="1" dirty="0"/>
              <a:t>Strategic implication</a:t>
            </a:r>
            <a:r>
              <a:rPr lang="en-US" dirty="0"/>
              <a:t>, say: "Strategy is reasoned. This prevents both wishful thinking and paralysis by analysis."</a:t>
            </a:r>
          </a:p>
          <a:p>
            <a:endParaRPr lang="en-US" dirty="0"/>
          </a:p>
          <a:p>
            <a:r>
              <a:rPr lang="en-US" b="1" dirty="0"/>
              <a:t>Failure if missing, </a:t>
            </a:r>
            <a:r>
              <a:rPr lang="en-US" dirty="0"/>
              <a:t>say: "Either wishful vision (thinking without logic) or analysis paralysis (logic without fresh thinking). </a:t>
            </a:r>
          </a:p>
          <a:p>
            <a:r>
              <a:rPr lang="en-US" dirty="0"/>
              <a:t>Most organisations over-invest in data and under-invest in genuinely uncomfortable questions."</a:t>
            </a:r>
          </a:p>
          <a:p>
            <a:endParaRPr lang="en-US" dirty="0"/>
          </a:p>
          <a:p>
            <a:r>
              <a:rPr lang="en-US" b="1" dirty="0"/>
              <a:t>Deepen, say: </a:t>
            </a:r>
            <a:r>
              <a:rPr lang="en-US" dirty="0"/>
              <a:t>"People misread what is in front of them when they are held by old assumptions. </a:t>
            </a:r>
          </a:p>
          <a:p>
            <a:r>
              <a:rPr lang="en-US" dirty="0"/>
              <a:t>Leaders who are too attached to what they already believe can miss the very signal that could renew the organisation."</a:t>
            </a:r>
          </a:p>
          <a:p>
            <a:r>
              <a:rPr lang="en-US" dirty="0"/>
              <a:t>(Insight: Rigid mental models. Source: Journal, 3 July 2026 — Professional Insights: Strategy)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Add</a:t>
            </a:r>
            <a:r>
              <a:rPr lang="en-US" dirty="0"/>
              <a:t>: "Strategy needs reasoning as well as inspiration."</a:t>
            </a:r>
          </a:p>
          <a:p>
            <a:endParaRPr lang="en-US" dirty="0"/>
          </a:p>
          <a:p>
            <a:r>
              <a:rPr lang="en-US" b="1" dirty="0"/>
              <a:t>5. PROCESS — The structured container.</a:t>
            </a:r>
          </a:p>
          <a:p>
            <a:endParaRPr lang="en-US" b="1" dirty="0"/>
          </a:p>
          <a:p>
            <a:r>
              <a:rPr lang="en-US" b="1" dirty="0"/>
              <a:t>What it means, </a:t>
            </a:r>
            <a:r>
              <a:rPr lang="en-US" dirty="0"/>
              <a:t>say: "Process converts ad hoc thinking into a repeatable, auditable, scalable method. </a:t>
            </a:r>
          </a:p>
          <a:p>
            <a:r>
              <a:rPr lang="en-US" dirty="0"/>
              <a:t>It defines who is involved, what inputs are needed, which tools are used, and what decisions are made at each stage.“</a:t>
            </a:r>
          </a:p>
          <a:p>
            <a:endParaRPr lang="en-US" dirty="0"/>
          </a:p>
          <a:p>
            <a:r>
              <a:rPr lang="en-US" b="1" dirty="0"/>
              <a:t>Strategic implication</a:t>
            </a:r>
            <a:r>
              <a:rPr lang="en-US" dirty="0"/>
              <a:t>, say: "Strategy becomes an organisational capability. </a:t>
            </a:r>
          </a:p>
          <a:p>
            <a:r>
              <a:rPr lang="en-US" dirty="0"/>
              <a:t>It survives leadership change and does not restart from zero each cycle.“</a:t>
            </a:r>
          </a:p>
          <a:p>
            <a:endParaRPr lang="en-US" dirty="0"/>
          </a:p>
          <a:p>
            <a:r>
              <a:rPr lang="en-US" b="1" dirty="0"/>
              <a:t>Failure if missing, </a:t>
            </a:r>
            <a:r>
              <a:rPr lang="en-US" dirty="0"/>
              <a:t>say: "Strategy is brilliant but fragile. When the individual who carries it in their head leaves, the capability collapses."</a:t>
            </a:r>
          </a:p>
          <a:p>
            <a:endParaRPr lang="en-US" dirty="0"/>
          </a:p>
          <a:p>
            <a:r>
              <a:rPr lang="en-US" b="1" dirty="0"/>
              <a:t>Deepen, say: </a:t>
            </a:r>
            <a:r>
              <a:rPr lang="en-US" dirty="0"/>
              <a:t>"When value becomes inseparable from particular individuals, ego and fragility increase. </a:t>
            </a:r>
          </a:p>
          <a:p>
            <a:r>
              <a:rPr lang="en-US" dirty="0"/>
              <a:t>Strong cultures </a:t>
            </a:r>
            <a:r>
              <a:rPr lang="en-US" dirty="0" err="1"/>
              <a:t>recognise</a:t>
            </a:r>
            <a:r>
              <a:rPr lang="en-US" dirty="0"/>
              <a:t> the contribution while keeping the mission larger than the contributor."</a:t>
            </a:r>
          </a:p>
          <a:p>
            <a:r>
              <a:rPr lang="en-US" dirty="0"/>
              <a:t>(Insight: The mission larger than the contributor. Source: Journal, 18 September 2026 — Professional Insights: Culture)</a:t>
            </a:r>
          </a:p>
          <a:p>
            <a:endParaRPr lang="en-US" dirty="0"/>
          </a:p>
          <a:p>
            <a:r>
              <a:rPr lang="en-US" b="1" dirty="0"/>
              <a:t>Add: </a:t>
            </a:r>
            <a:r>
              <a:rPr lang="en-US" dirty="0"/>
              <a:t>"With process, strategy stops being a personality-dependent event. Process is the scaffolding that makes thinking transferable."</a:t>
            </a:r>
          </a:p>
          <a:p>
            <a:endParaRPr lang="en-US" dirty="0"/>
          </a:p>
          <a:p>
            <a:r>
              <a:rPr lang="en-US" b="1" dirty="0"/>
              <a:t>Linger on Thinking &amp; Logic and Process.</a:t>
            </a:r>
          </a:p>
          <a:p>
            <a:r>
              <a:rPr lang="en-US" dirty="0"/>
              <a:t>Say: "Thinking &amp; Logic is the cognitive engine. Process is the structured container. </a:t>
            </a:r>
          </a:p>
          <a:p>
            <a:r>
              <a:rPr lang="en-US" dirty="0"/>
              <a:t>Most organisations have process but neglect thinking quality. The definition forces us to see this gap."</a:t>
            </a:r>
          </a:p>
          <a:p>
            <a:r>
              <a:rPr lang="en-US" dirty="0"/>
              <a:t>Ask: "Where does your organisation invest more: in the quality of the thinking, or in the process that contains it?"</a:t>
            </a:r>
          </a:p>
          <a:p>
            <a:r>
              <a:rPr lang="en-US" dirty="0"/>
              <a:t>Take two or three answers. Listen for: a strategy process with no named place for uncomfortable questions.</a:t>
            </a:r>
          </a:p>
          <a:p>
            <a:endParaRPr lang="en-US" dirty="0"/>
          </a:p>
          <a:p>
            <a:r>
              <a:rPr lang="en-US" b="1" dirty="0"/>
              <a:t>6. WHAT · WHY · HOW · WHEN — The 3Ws &amp; H — complete decision space.</a:t>
            </a:r>
          </a:p>
          <a:p>
            <a:endParaRPr lang="en-US" b="1" dirty="0"/>
          </a:p>
          <a:p>
            <a:r>
              <a:rPr lang="en-US" b="1" dirty="0"/>
              <a:t>What it means, say: </a:t>
            </a:r>
            <a:r>
              <a:rPr lang="en-US" dirty="0"/>
              <a:t>"These four dimensions define every coherent strategy. </a:t>
            </a:r>
          </a:p>
          <a:p>
            <a:r>
              <a:rPr lang="en-US" dirty="0"/>
              <a:t>WHAT sets the ambition and scope. </a:t>
            </a:r>
          </a:p>
          <a:p>
            <a:r>
              <a:rPr lang="en-US" dirty="0"/>
              <a:t>WHY establishes the differentiating logic or purpose. </a:t>
            </a:r>
          </a:p>
          <a:p>
            <a:r>
              <a:rPr lang="en-US" dirty="0"/>
              <a:t>HOW defines the operating model. </a:t>
            </a:r>
          </a:p>
          <a:p>
            <a:r>
              <a:rPr lang="en-US" dirty="0"/>
              <a:t>WHEN governs timing and sequencing.“</a:t>
            </a:r>
          </a:p>
          <a:p>
            <a:endParaRPr lang="en-US" dirty="0"/>
          </a:p>
          <a:p>
            <a:r>
              <a:rPr lang="en-US" b="1" dirty="0"/>
              <a:t>Strategic implication, say</a:t>
            </a:r>
            <a:r>
              <a:rPr lang="en-US" dirty="0"/>
              <a:t>: "A complete and internally consistent strategy. </a:t>
            </a:r>
          </a:p>
          <a:p>
            <a:r>
              <a:rPr lang="en-US" dirty="0"/>
              <a:t>Each dimension is a necessary condition for the others."</a:t>
            </a:r>
          </a:p>
          <a:p>
            <a:endParaRPr lang="en-US" dirty="0"/>
          </a:p>
          <a:p>
            <a:r>
              <a:rPr lang="en-US" b="1" dirty="0"/>
              <a:t>Failure if missing, say</a:t>
            </a:r>
            <a:r>
              <a:rPr lang="en-US" dirty="0"/>
              <a:t>: "Structural incompleteness.</a:t>
            </a:r>
          </a:p>
          <a:p>
            <a:r>
              <a:rPr lang="en-US" dirty="0"/>
              <a:t>WHAT and WHY without HOW and WHEN is vision without execution. </a:t>
            </a:r>
          </a:p>
          <a:p>
            <a:endParaRPr lang="en-US" dirty="0"/>
          </a:p>
          <a:p>
            <a:r>
              <a:rPr lang="en-US" b="1" dirty="0"/>
              <a:t>You ask this - </a:t>
            </a:r>
          </a:p>
          <a:p>
            <a:endParaRPr lang="en-US" dirty="0"/>
          </a:p>
          <a:p>
            <a:r>
              <a:rPr lang="en-US" dirty="0"/>
              <a:t>What does HOW without WHY produce?</a:t>
            </a:r>
          </a:p>
          <a:p>
            <a:r>
              <a:rPr lang="en-US" dirty="0"/>
              <a:t> is activity without purpose.“</a:t>
            </a:r>
          </a:p>
          <a:p>
            <a:endParaRPr lang="en-US" dirty="0"/>
          </a:p>
          <a:p>
            <a:r>
              <a:rPr lang="en-US" dirty="0"/>
              <a:t>What does WHEN without WHAT produce?</a:t>
            </a:r>
          </a:p>
          <a:p>
            <a:r>
              <a:rPr lang="en-US" dirty="0"/>
              <a:t>is urgency without direction</a:t>
            </a:r>
          </a:p>
          <a:p>
            <a:endParaRPr lang="en-US" dirty="0"/>
          </a:p>
          <a:p>
            <a:r>
              <a:rPr lang="en-US" dirty="0"/>
              <a:t>Add: "Together the four dimensions constitute a complete strategic position."</a:t>
            </a:r>
          </a:p>
          <a:p>
            <a:endParaRPr lang="en-US" dirty="0"/>
          </a:p>
          <a:p>
            <a:r>
              <a:rPr lang="en-US" b="1" dirty="0"/>
              <a:t>7. CREATES · DELIVERS · SUSTAINS — The Value Triad.</a:t>
            </a:r>
          </a:p>
          <a:p>
            <a:endParaRPr lang="en-US" dirty="0"/>
          </a:p>
          <a:p>
            <a:r>
              <a:rPr lang="en-US" b="1" dirty="0"/>
              <a:t>What it means, say</a:t>
            </a:r>
            <a:r>
              <a:rPr lang="en-US" dirty="0"/>
              <a:t>: "Creating value means nothing if it does not reach its intended recipients. </a:t>
            </a:r>
          </a:p>
          <a:p>
            <a:r>
              <a:rPr lang="en-US" dirty="0"/>
              <a:t>Delivering value means nothing if the conditions that make it possible are steadily depleted. </a:t>
            </a:r>
          </a:p>
          <a:p>
            <a:r>
              <a:rPr lang="en-US" dirty="0"/>
              <a:t>All three layers must be explicitly designed and invested in.“</a:t>
            </a:r>
          </a:p>
          <a:p>
            <a:endParaRPr lang="en-US" dirty="0"/>
          </a:p>
          <a:p>
            <a:r>
              <a:rPr lang="en-US" b="1" dirty="0"/>
              <a:t>Strategic implication, say: </a:t>
            </a:r>
            <a:r>
              <a:rPr lang="en-US" dirty="0"/>
              <a:t>"Long-term viability. The organisation does not harvest today at the expense of tomorrow. </a:t>
            </a:r>
          </a:p>
          <a:p>
            <a:r>
              <a:rPr lang="en-US" dirty="0"/>
              <a:t>Value compounds over time.“</a:t>
            </a:r>
          </a:p>
          <a:p>
            <a:endParaRPr lang="en-US" dirty="0"/>
          </a:p>
          <a:p>
            <a:r>
              <a:rPr lang="en-US" b="1" dirty="0"/>
              <a:t>Failure if missing, say: </a:t>
            </a:r>
            <a:r>
              <a:rPr lang="en-US" dirty="0"/>
              <a:t>"Most organisations over-invest in creation and delivery while underinvesting in sustainability — the culture, financial health, and ecosystem relationships that make value durable.“</a:t>
            </a:r>
          </a:p>
          <a:p>
            <a:endParaRPr lang="en-US" dirty="0"/>
          </a:p>
          <a:p>
            <a:r>
              <a:rPr lang="en-US" b="1" dirty="0"/>
              <a:t>8. STAKEHOLDERS — Broader than customers.</a:t>
            </a:r>
          </a:p>
          <a:p>
            <a:endParaRPr lang="en-US" b="1" dirty="0"/>
          </a:p>
          <a:p>
            <a:r>
              <a:rPr lang="en-US" b="1" dirty="0"/>
              <a:t>What it means, say: </a:t>
            </a:r>
            <a:r>
              <a:rPr lang="en-US" dirty="0"/>
              <a:t>"Everyone with a stake in the organisation's actions: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who are these - Listen for: stakeholders answered as "customers". Ask: "Who else has a stake in what this organisation does?"</a:t>
            </a:r>
          </a:p>
          <a:p>
            <a:r>
              <a:rPr lang="en-US" dirty="0"/>
              <a:t>customers, employees, investors, communities, regulators, and partners. </a:t>
            </a:r>
          </a:p>
          <a:p>
            <a:r>
              <a:rPr lang="en-US" dirty="0"/>
              <a:t>The choice of this word is a values statement — strategy must account for the full stakeholder universe.“</a:t>
            </a:r>
          </a:p>
          <a:p>
            <a:endParaRPr lang="en-US" dirty="0"/>
          </a:p>
          <a:p>
            <a:r>
              <a:rPr lang="en-US" b="1" dirty="0"/>
              <a:t>Strategic implication, say</a:t>
            </a:r>
            <a:r>
              <a:rPr lang="en-US" dirty="0"/>
              <a:t>: "Legitimacy and resilience. Organisations that optimise for one stakeholder class create fragilities that others eventually exploit or oppose.“</a:t>
            </a:r>
          </a:p>
          <a:p>
            <a:endParaRPr lang="en-US" dirty="0"/>
          </a:p>
          <a:p>
            <a:r>
              <a:rPr lang="en-US" b="1" dirty="0"/>
              <a:t>Failure if missing, say</a:t>
            </a:r>
            <a:r>
              <a:rPr lang="en-US" dirty="0"/>
              <a:t>: "Blind spots. When any stakeholder group is systematically ignored, each becomes a structural risk."</a:t>
            </a:r>
          </a:p>
          <a:p>
            <a:endParaRPr lang="en-US" dirty="0"/>
          </a:p>
          <a:p>
            <a:r>
              <a:rPr lang="en-US" dirty="0"/>
              <a:t>An organisation can have alignment, resources, skill and momentum and still fail when its strategy rests on the wrong foundation. </a:t>
            </a:r>
          </a:p>
          <a:p>
            <a:r>
              <a:rPr lang="en-US" dirty="0"/>
              <a:t>A strategy designed mainly to build the reputation of its builders serves the wrong master. </a:t>
            </a:r>
          </a:p>
          <a:p>
            <a:r>
              <a:rPr lang="en-US" dirty="0"/>
              <a:t>Anchor strategy in what the organisation is trying to achieve for its stakeholders."</a:t>
            </a:r>
          </a:p>
          <a:p>
            <a:r>
              <a:rPr lang="en-US" dirty="0"/>
              <a:t>(Insight: Value for whom. Source: Journal, 10 January 2026 — Professional Insights: Strategy)</a:t>
            </a:r>
          </a:p>
          <a:p>
            <a:endParaRPr lang="en-US" dirty="0"/>
          </a:p>
          <a:p>
            <a:r>
              <a:rPr lang="en-US" b="1" dirty="0"/>
              <a:t>Add: </a:t>
            </a:r>
            <a:r>
              <a:rPr lang="en-US" dirty="0"/>
              <a:t>"The blind spots are specific: employees who deliver value, investors who fund it, regulators who permit it."</a:t>
            </a:r>
          </a:p>
          <a:p>
            <a:endParaRPr lang="en-US" dirty="0"/>
          </a:p>
          <a:p>
            <a:r>
              <a:rPr lang="en-US" b="1" dirty="0"/>
              <a:t>9. NAVIGATING — Active, skilful movement through forces.</a:t>
            </a:r>
          </a:p>
          <a:p>
            <a:endParaRPr lang="en-US" b="1" dirty="0"/>
          </a:p>
          <a:p>
            <a:r>
              <a:rPr lang="en-US" b="1" dirty="0"/>
              <a:t>What it means, say: </a:t>
            </a:r>
            <a:r>
              <a:rPr lang="en-US" dirty="0"/>
              <a:t>"Navigation implies agency — the deliberate, skilled reading of forces and the intentional choice of how to move in response to them. </a:t>
            </a:r>
          </a:p>
          <a:p>
            <a:r>
              <a:rPr lang="en-US" dirty="0"/>
              <a:t>Strategy is a continuous navigation discipline: the forces in the operating environment do not pause when the strategy is set, when targets are reached, or when the organisation is performing well.“</a:t>
            </a:r>
          </a:p>
          <a:p>
            <a:endParaRPr lang="en-US" dirty="0"/>
          </a:p>
          <a:p>
            <a:r>
              <a:rPr lang="en-US" b="1" dirty="0"/>
              <a:t>Strategic implication, say: </a:t>
            </a:r>
            <a:r>
              <a:rPr lang="en-US" dirty="0"/>
              <a:t>"The organisation maintains strategic control even as conditions shift. </a:t>
            </a:r>
          </a:p>
          <a:p>
            <a:r>
              <a:rPr lang="en-US" dirty="0"/>
              <a:t>Leaders make deliberate moves and shape their circumstances. </a:t>
            </a:r>
          </a:p>
          <a:p>
            <a:r>
              <a:rPr lang="en-US" dirty="0"/>
              <a:t>Navigation transforms external pressure from a threat into a manageable variable.“</a:t>
            </a:r>
          </a:p>
          <a:p>
            <a:endParaRPr lang="en-US" dirty="0"/>
          </a:p>
          <a:p>
            <a:r>
              <a:rPr lang="en-US" b="1" dirty="0"/>
              <a:t>Failure if missing, say: </a:t>
            </a:r>
            <a:r>
              <a:rPr lang="en-US" dirty="0"/>
              <a:t>"The organisation becomes reactive — responding to what has already happened, with little anticipation of what is coming. Reactive organisations lose strategic initiative and operate in permanent catch-up. </a:t>
            </a:r>
          </a:p>
          <a:p>
            <a:r>
              <a:rPr lang="en-US" dirty="0"/>
              <a:t>Navigation is what separates strategic leadership from operational management."</a:t>
            </a:r>
          </a:p>
          <a:p>
            <a:endParaRPr lang="en-US" dirty="0"/>
          </a:p>
          <a:p>
            <a:r>
              <a:rPr lang="en-US" b="1" dirty="0"/>
              <a:t>10. THE FORCES — Five categories every strategy must navigate.</a:t>
            </a:r>
          </a:p>
          <a:p>
            <a:endParaRPr lang="en-US" dirty="0"/>
          </a:p>
          <a:p>
            <a:r>
              <a:rPr lang="en-US" b="1" dirty="0"/>
              <a:t>What it means, say</a:t>
            </a:r>
            <a:r>
              <a:rPr lang="en-US" dirty="0"/>
              <a:t>: "Five distinct force categories continuously shape the environment in which strategy must deliver."</a:t>
            </a:r>
          </a:p>
          <a:p>
            <a:r>
              <a:rPr lang="en-US" dirty="0"/>
              <a:t>Name the five categories, one at a time:</a:t>
            </a:r>
          </a:p>
          <a:p>
            <a:r>
              <a:rPr lang="en-US" dirty="0"/>
              <a:t>1. </a:t>
            </a:r>
            <a:r>
              <a:rPr lang="en-US" b="1" dirty="0"/>
              <a:t>Competitive forces: </a:t>
            </a:r>
            <a:r>
              <a:rPr lang="en-US" dirty="0"/>
              <a:t>rivals, new entrants, substitutes, and shifts in customer power.</a:t>
            </a:r>
          </a:p>
          <a:p>
            <a:r>
              <a:rPr lang="en-US" dirty="0"/>
              <a:t>2. </a:t>
            </a:r>
            <a:r>
              <a:rPr lang="en-US" b="1" dirty="0"/>
              <a:t>Macro-environmental forces: </a:t>
            </a:r>
            <a:r>
              <a:rPr lang="en-US" dirty="0"/>
              <a:t>economic cycles, regulatory frameworks, political dynamics, and technological infrastructure.</a:t>
            </a:r>
          </a:p>
          <a:p>
            <a:r>
              <a:rPr lang="en-US" dirty="0"/>
              <a:t>3. </a:t>
            </a:r>
            <a:r>
              <a:rPr lang="en-US" b="1" dirty="0"/>
              <a:t>Disruptive forces: </a:t>
            </a:r>
            <a:r>
              <a:rPr lang="en-US" dirty="0"/>
              <a:t>new business models and technology applications emerging at the margins of the industry.</a:t>
            </a:r>
          </a:p>
          <a:p>
            <a:r>
              <a:rPr lang="en-US" dirty="0"/>
              <a:t>4. </a:t>
            </a:r>
            <a:r>
              <a:rPr lang="en-US" b="1" dirty="0"/>
              <a:t>Social and environmental forces</a:t>
            </a:r>
            <a:r>
              <a:rPr lang="en-US" dirty="0"/>
              <a:t>: stakeholder expectations, social norms, ESG standards, and demographic shifts operating simultaneously across all stakeholder groups.</a:t>
            </a:r>
          </a:p>
          <a:p>
            <a:r>
              <a:rPr lang="en-US" dirty="0"/>
              <a:t>5. </a:t>
            </a:r>
            <a:r>
              <a:rPr lang="en-US" b="1" dirty="0"/>
              <a:t>Internal forces: </a:t>
            </a:r>
            <a:r>
              <a:rPr lang="en-US" dirty="0"/>
              <a:t>culture, enterprise behaviour patterns, institutional habits, and legacy identity that exert force on the organisation from within, often in opposition to the stated strategy.</a:t>
            </a:r>
          </a:p>
          <a:p>
            <a:endParaRPr lang="en-US" dirty="0"/>
          </a:p>
          <a:p>
            <a:r>
              <a:rPr lang="en-US" b="1" dirty="0"/>
              <a:t>Strategic implication, say: </a:t>
            </a:r>
            <a:r>
              <a:rPr lang="en-US" dirty="0"/>
              <a:t>"Leaders develop a structured awareness of which forces are most active, most rapidly shifting, and most likely to invalidate current strategic assumptions. </a:t>
            </a:r>
          </a:p>
          <a:p>
            <a:r>
              <a:rPr lang="en-US" dirty="0"/>
              <a:t>Each force category requires a specific navigation discipline — and this programme builds those disciplines across its units.“</a:t>
            </a:r>
          </a:p>
          <a:p>
            <a:endParaRPr lang="en-US" dirty="0"/>
          </a:p>
          <a:p>
            <a:r>
              <a:rPr lang="en-US" b="1" dirty="0"/>
              <a:t>Failure if missing, say</a:t>
            </a:r>
            <a:r>
              <a:rPr lang="en-US" dirty="0"/>
              <a:t>: "Strategy is designed for a force environment that no longer exists. </a:t>
            </a:r>
          </a:p>
          <a:p>
            <a:r>
              <a:rPr lang="en-US" dirty="0"/>
              <a:t>The organisation discovers that the competitive, macro, disruptive, social, or internal forces have moved — and that the strategy has not. </a:t>
            </a:r>
          </a:p>
          <a:p>
            <a:r>
              <a:rPr lang="en-US" dirty="0"/>
              <a:t>By the time this gap is visible in results, the cost of recalibration is significantly higher than it would have been with earlier navigation."</a:t>
            </a:r>
          </a:p>
          <a:p>
            <a:endParaRPr lang="en-US" dirty="0"/>
          </a:p>
          <a:p>
            <a:r>
              <a:rPr lang="en-US" b="1" dirty="0"/>
              <a:t>11. Bring the nine together.</a:t>
            </a:r>
          </a:p>
          <a:p>
            <a:r>
              <a:rPr lang="en-US" dirty="0"/>
              <a:t>Ask: "Which of these nine concepts is least visible in how your organisation currently talks about strategy?"</a:t>
            </a:r>
          </a:p>
          <a:p>
            <a:r>
              <a:rPr lang="en-US" dirty="0"/>
              <a:t>Take three or four answers and note them. They show where each group will need to work hardest in Section 4.</a:t>
            </a:r>
          </a:p>
          <a:p>
            <a:endParaRPr lang="en-US" dirty="0"/>
          </a:p>
          <a:p>
            <a:r>
              <a:rPr lang="en-US" b="1" dirty="0"/>
              <a:t>12. Bridge to 1.2.</a:t>
            </a:r>
          </a:p>
          <a:p>
            <a:r>
              <a:rPr lang="en-US" dirty="0"/>
              <a:t>Say: "OUTPUT is what the other concepts produce: the Strategy Architecture. </a:t>
            </a:r>
          </a:p>
          <a:p>
            <a:r>
              <a:rPr lang="en-US" dirty="0"/>
              <a:t>In Section 4 each group works this definition as 14 elements. </a:t>
            </a:r>
          </a:p>
          <a:p>
            <a:endParaRPr lang="en-US" dirty="0"/>
          </a:p>
          <a:p>
            <a:r>
              <a:rPr lang="en-US" b="1" dirty="0"/>
              <a:t>ON THE PORTAL, AFTER THE TEACHING:</a:t>
            </a:r>
          </a:p>
          <a:p>
            <a:r>
              <a:rPr lang="en-US" dirty="0"/>
              <a:t>Participants write the 1.1 reflection: "Which part of your organisation's strategy architecture is least well defined today? What is the consequence?"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1.2 — DEFINING THE STRATEGY INTENT STATEMENT (4 DIMENSIONS)</a:t>
            </a:r>
          </a:p>
          <a:p>
            <a:endParaRPr lang="en-US" dirty="0"/>
          </a:p>
          <a:p>
            <a:r>
              <a:rPr lang="en-US" b="1" dirty="0"/>
              <a:t>HOW TO TEACH IT:</a:t>
            </a:r>
          </a:p>
          <a:p>
            <a:endParaRPr lang="en-US" dirty="0"/>
          </a:p>
          <a:p>
            <a:r>
              <a:rPr lang="en-US" b="1" dirty="0"/>
              <a:t>1. Position the statement.</a:t>
            </a:r>
          </a:p>
          <a:p>
            <a:r>
              <a:rPr lang="en-US" dirty="0"/>
              <a:t>Say: "The Strategy Architecture provides the foundation from which the Strategy Intent Statement is derived. </a:t>
            </a:r>
          </a:p>
          <a:p>
            <a:r>
              <a:rPr lang="en-US" dirty="0"/>
              <a:t>It has established the organisation's strategic choices and the logic connecting them. </a:t>
            </a:r>
          </a:p>
          <a:p>
            <a:r>
              <a:rPr lang="en-US" dirty="0"/>
              <a:t>The Strategy Intent Statement brings forward four dimensions from that architecture.“</a:t>
            </a:r>
          </a:p>
          <a:p>
            <a:endParaRPr lang="en-US" dirty="0"/>
          </a:p>
          <a:p>
            <a:r>
              <a:rPr lang="en-US" dirty="0"/>
              <a:t>Say: "The Strategy Architecture holds the depth and the supporting logic. </a:t>
            </a:r>
          </a:p>
          <a:p>
            <a:r>
              <a:rPr lang="en-US" dirty="0"/>
              <a:t>The Strategy Intent Statement is crisp, directional and easy to express.“</a:t>
            </a:r>
          </a:p>
          <a:p>
            <a:endParaRPr lang="en-US" dirty="0"/>
          </a:p>
          <a:p>
            <a:r>
              <a:rPr lang="en-US" dirty="0"/>
              <a:t>Tell participants: they derive their own statement in Section 4. Here they learn what it brings forward.</a:t>
            </a:r>
          </a:p>
          <a:p>
            <a:endParaRPr lang="en-US" dirty="0"/>
          </a:p>
          <a:p>
            <a:r>
              <a:rPr lang="en-US" b="1" dirty="0"/>
              <a:t>2. Say why the statement must be crisp.</a:t>
            </a:r>
          </a:p>
          <a:p>
            <a:r>
              <a:rPr lang="en-US" dirty="0"/>
              <a:t>Say: "A message creates value only if people can receive and understand it. </a:t>
            </a:r>
          </a:p>
          <a:p>
            <a:r>
              <a:rPr lang="en-US" dirty="0"/>
              <a:t>Strategy must be both sound and communicable."</a:t>
            </a:r>
          </a:p>
          <a:p>
            <a:r>
              <a:rPr lang="en-US" dirty="0"/>
              <a:t>(Insight: Sound and communicable. Source: Journal, 23 August 2026 — Professional Insights: Strategy)</a:t>
            </a:r>
          </a:p>
          <a:p>
            <a:endParaRPr lang="en-US" dirty="0"/>
          </a:p>
          <a:p>
            <a:r>
              <a:rPr lang="en-US" b="1" dirty="0"/>
              <a:t>3. Take the four dimensions one at a time.</a:t>
            </a:r>
          </a:p>
          <a:p>
            <a:r>
              <a:rPr lang="en-US" b="1" dirty="0"/>
              <a:t>Say</a:t>
            </a:r>
            <a:r>
              <a:rPr lang="en-US" dirty="0"/>
              <a:t>: "We walk through WHAT, WHY, HOW and WHEN one at a time, as a group."</a:t>
            </a:r>
          </a:p>
          <a:p>
            <a:r>
              <a:rPr lang="en-US" dirty="0"/>
              <a:t>For each dimension, ask one diagnostic question and take two or three responses. </a:t>
            </a:r>
          </a:p>
          <a:p>
            <a:r>
              <a:rPr lang="en-US" dirty="0"/>
              <a:t>Stay longest on HOW and WHEN: they typically reveal the most significant gaps.</a:t>
            </a:r>
          </a:p>
          <a:p>
            <a:endParaRPr lang="en-US" dirty="0"/>
          </a:p>
          <a:p>
            <a:r>
              <a:rPr lang="en-US" b="1" dirty="0"/>
              <a:t>4. WHAT — Scope &amp; Definition.</a:t>
            </a:r>
          </a:p>
          <a:p>
            <a:r>
              <a:rPr lang="en-US" b="1" dirty="0"/>
              <a:t>Say</a:t>
            </a:r>
            <a:r>
              <a:rPr lang="en-US" dirty="0"/>
              <a:t>: "WHAT brings forward the value the organisation has chosen to create and its field of play. </a:t>
            </a:r>
          </a:p>
          <a:p>
            <a:r>
              <a:rPr lang="en-US" dirty="0"/>
              <a:t>It governs scope, portfolio, product and service definition, boundary-setting, market choice, capability focus."</a:t>
            </a:r>
          </a:p>
          <a:p>
            <a:endParaRPr lang="en-US" dirty="0"/>
          </a:p>
          <a:p>
            <a:r>
              <a:rPr lang="en-US" dirty="0"/>
              <a:t>Ask one diagnostic question and take two or three responses: "What arenas are we choosing to compete in?" · "What have we decided not to do?" · Listen for: a WHAT with no boundary.</a:t>
            </a:r>
          </a:p>
          <a:p>
            <a:endParaRPr lang="en-US" dirty="0"/>
          </a:p>
          <a:p>
            <a:r>
              <a:rPr lang="en-US" b="1" dirty="0"/>
              <a:t>Deepen, say: </a:t>
            </a:r>
            <a:r>
              <a:rPr lang="en-US" dirty="0"/>
              <a:t>"Capability without strategic intent produces a spectacular career and an unfinished assignment. </a:t>
            </a:r>
          </a:p>
          <a:p>
            <a:r>
              <a:rPr lang="en-US" dirty="0"/>
              <a:t>Audit where the organisation’s most distinctive strength is being spent. </a:t>
            </a:r>
          </a:p>
          <a:p>
            <a:r>
              <a:rPr lang="en-US" dirty="0"/>
              <a:t>(Insight: Capability without intent. Source: Journal, 25 April 2026 — Professional Insights: Strategy)</a:t>
            </a:r>
          </a:p>
          <a:p>
            <a:endParaRPr lang="en-US" dirty="0"/>
          </a:p>
          <a:p>
            <a:r>
              <a:rPr lang="en-US" b="1" dirty="0"/>
              <a:t>5. WHY — Purpose &amp; Rationale.</a:t>
            </a:r>
          </a:p>
          <a:p>
            <a:r>
              <a:rPr lang="en-US" dirty="0"/>
              <a:t>Say: "WHY brings forward the rationale for those choices and why they matter. </a:t>
            </a:r>
          </a:p>
          <a:p>
            <a:r>
              <a:rPr lang="en-US" dirty="0"/>
              <a:t>It governs purpose, mission, competitive differentiation, value proposition, organisational identity."</a:t>
            </a:r>
          </a:p>
          <a:p>
            <a:endParaRPr lang="en-US" dirty="0"/>
          </a:p>
          <a:p>
            <a:r>
              <a:rPr lang="en-US" dirty="0"/>
              <a:t>Ask one diagnostic question and take two or three responses: "Does our WHY actually differentiate us, or could a competitor claim it unchanged?" · "Do our decisions consistently reflect this WHY?" · "Do stakeholders believe and repeat our WHY?"</a:t>
            </a:r>
          </a:p>
          <a:p>
            <a:endParaRPr lang="en-US" dirty="0"/>
          </a:p>
          <a:p>
            <a:r>
              <a:rPr lang="en-US" b="1" dirty="0"/>
              <a:t>Deepen, say: </a:t>
            </a:r>
            <a:r>
              <a:rPr lang="en-US" dirty="0"/>
              <a:t>"Organisations that rush into execution without clarifying purpose create activity without lasting impact. </a:t>
            </a:r>
          </a:p>
          <a:p>
            <a:r>
              <a:rPr lang="en-US" dirty="0"/>
              <a:t>Strategic clarity emerges when leaders understand why the work exists before deciding how it will be done."</a:t>
            </a:r>
          </a:p>
          <a:p>
            <a:r>
              <a:rPr lang="en-US" dirty="0"/>
              <a:t>(Insight: WHY before HOW. Source: Journal, 28 July 2026 — Professional Insights: Strategy)</a:t>
            </a:r>
          </a:p>
          <a:p>
            <a:endParaRPr lang="en-US" dirty="0"/>
          </a:p>
          <a:p>
            <a:r>
              <a:rPr lang="en-US" b="1" dirty="0"/>
              <a:t>6. HOW — Mechanism &amp; Model.</a:t>
            </a:r>
          </a:p>
          <a:p>
            <a:r>
              <a:rPr lang="en-US" b="1" dirty="0"/>
              <a:t>Say: "</a:t>
            </a:r>
            <a:r>
              <a:rPr lang="en-US" dirty="0"/>
              <a:t>HOW brings forward the operating model, capabilities and mechanisms through which the value will be delivered. </a:t>
            </a:r>
          </a:p>
          <a:p>
            <a:r>
              <a:rPr lang="en-US" dirty="0"/>
              <a:t>It governs operating model, capabilities, processes, organisational design, technology architecture, partnerships."</a:t>
            </a:r>
          </a:p>
          <a:p>
            <a:endParaRPr lang="en-US" dirty="0"/>
          </a:p>
          <a:p>
            <a:r>
              <a:rPr lang="en-US" dirty="0"/>
              <a:t>Key facilitation moment. Ask: "Does your operating model currently match your strategy — or is it a legacy structure that predates your current direction?"</a:t>
            </a:r>
          </a:p>
          <a:p>
            <a:endParaRPr lang="en-US" dirty="0"/>
          </a:p>
          <a:p>
            <a:r>
              <a:rPr lang="en-US" dirty="0"/>
              <a:t>Stay here. This often opens the most honest conversation of the entire Awareness section.</a:t>
            </a:r>
          </a:p>
          <a:p>
            <a:endParaRPr lang="en-US" dirty="0"/>
          </a:p>
          <a:p>
            <a:r>
              <a:rPr lang="en-US" dirty="0"/>
              <a:t>Further diagnostic questions, if the room needs them: "What capabilities are core and must be owned versus outsourced?" · </a:t>
            </a:r>
          </a:p>
          <a:p>
            <a:r>
              <a:rPr lang="en-US" dirty="0"/>
              <a:t>"Where are the HOW gaps between strategic ambition and current capability?"</a:t>
            </a:r>
          </a:p>
          <a:p>
            <a:endParaRPr lang="en-US" dirty="0"/>
          </a:p>
          <a:p>
            <a:r>
              <a:rPr lang="en-US" dirty="0"/>
              <a:t>Listen for: a HOW with no operating model, capability or mechanism named.</a:t>
            </a:r>
          </a:p>
          <a:p>
            <a:endParaRPr lang="en-US" dirty="0"/>
          </a:p>
          <a:p>
            <a:r>
              <a:rPr lang="en-US" dirty="0"/>
              <a:t>Deepen, say: "A common strategic failure is choosing the right goal and accepting a compromised route to reach it: a deal that delivers the number and burns the relationship, a hire that fits the seat and damages the team. </a:t>
            </a:r>
          </a:p>
          <a:p>
            <a:endParaRPr lang="en-US" dirty="0"/>
          </a:p>
          <a:p>
            <a:r>
              <a:rPr lang="en-US" dirty="0"/>
              <a:t>Before the next material commitment, write the destination and the route on two separate lines and ask whether you would still defend the route if the outcome failed."</a:t>
            </a:r>
          </a:p>
          <a:p>
            <a:r>
              <a:rPr lang="en-US" dirty="0"/>
              <a:t>(Insight: Destination and route. Source: Journal, 24 April 2026 — Professional Insights: Strategy)</a:t>
            </a:r>
          </a:p>
          <a:p>
            <a:endParaRPr lang="en-US" dirty="0"/>
          </a:p>
          <a:p>
            <a:r>
              <a:rPr lang="en-US" b="1" dirty="0"/>
              <a:t>7. WHEN — Timing &amp; Sequencing.</a:t>
            </a:r>
          </a:p>
          <a:p>
            <a:r>
              <a:rPr lang="en-US" b="1" dirty="0"/>
              <a:t>Say: "</a:t>
            </a:r>
            <a:r>
              <a:rPr lang="en-US" dirty="0"/>
              <a:t>WHEN brings forward the timing, sequencing and strategic moves through which the ambition will be pursued. </a:t>
            </a:r>
          </a:p>
          <a:p>
            <a:r>
              <a:rPr lang="en-US" dirty="0"/>
              <a:t>It governs timing, sequencing, pacing, prioritisation, horizon planning, entry and exit decisions."</a:t>
            </a:r>
          </a:p>
          <a:p>
            <a:endParaRPr lang="en-US" dirty="0"/>
          </a:p>
          <a:p>
            <a:r>
              <a:rPr lang="en-US" b="1" dirty="0"/>
              <a:t>Ask: </a:t>
            </a:r>
            <a:r>
              <a:rPr lang="en-US" dirty="0"/>
              <a:t>"Have you actually mapped the sequence of moves needed to achieve your strategy — or does the plan treat all initiatives as running in parallel?"</a:t>
            </a:r>
          </a:p>
          <a:p>
            <a:endParaRPr lang="en-US" dirty="0"/>
          </a:p>
          <a:p>
            <a:r>
              <a:rPr lang="en-US" dirty="0"/>
              <a:t>Further diagnostic questions, if the room needs them: "Are we moving at the right pace?" · "What signals tell us when to accelerate or pause?"</a:t>
            </a:r>
          </a:p>
          <a:p>
            <a:endParaRPr lang="en-US" dirty="0"/>
          </a:p>
          <a:p>
            <a:r>
              <a:rPr lang="en-US" b="1" dirty="0"/>
              <a:t>Deepen, say: </a:t>
            </a:r>
            <a:r>
              <a:rPr lang="en-US" dirty="0"/>
              <a:t>"Many strategic failures are failures of timing. </a:t>
            </a:r>
          </a:p>
          <a:p>
            <a:r>
              <a:rPr lang="en-US" dirty="0"/>
              <a:t>The leader knew what to do and moved before the conditions favoured it. Identify one important move you are pushing early because you are anxious to resolve uncertainty. </a:t>
            </a:r>
          </a:p>
          <a:p>
            <a:r>
              <a:rPr lang="en-US" dirty="0"/>
              <a:t>The same move made at the right moment is a different move."</a:t>
            </a:r>
          </a:p>
          <a:p>
            <a:r>
              <a:rPr lang="en-US" dirty="0"/>
              <a:t>(Insight: Timing failures. Source: Journal, 1 May 2026 — Professional Insights: Strategy)</a:t>
            </a:r>
          </a:p>
          <a:p>
            <a:endParaRPr lang="en-US" dirty="0"/>
          </a:p>
          <a:p>
            <a:r>
              <a:rPr lang="en-US" b="1" dirty="0"/>
              <a:t>8. Read the room.</a:t>
            </a:r>
          </a:p>
          <a:p>
            <a:r>
              <a:rPr lang="en-US" dirty="0"/>
              <a:t>Ask: "Which of the four dimensions is least clearly defined in your organisation today?"</a:t>
            </a:r>
          </a:p>
          <a:p>
            <a:r>
              <a:rPr lang="en-US" dirty="0"/>
              <a:t>Take a show of hands for each dimension and say what pattern the group shows. </a:t>
            </a:r>
          </a:p>
          <a:p>
            <a:r>
              <a:rPr lang="en-US" dirty="0"/>
              <a:t>Participants answer the same question in their 1.2 reflection.</a:t>
            </a:r>
          </a:p>
          <a:p>
            <a:endParaRPr lang="en-US" dirty="0"/>
          </a:p>
          <a:p>
            <a:r>
              <a:rPr lang="en-US" b="1" dirty="0"/>
              <a:t>9. Show that the four hold together.</a:t>
            </a:r>
          </a:p>
          <a:p>
            <a:r>
              <a:rPr lang="en-US" dirty="0"/>
              <a:t>Say: "The four dimensions are interdependent. Answering only two or three creates a structurally incomplete strategy. </a:t>
            </a:r>
          </a:p>
          <a:p>
            <a:r>
              <a:rPr lang="en-US" dirty="0"/>
              <a:t>A well-formed strategic intent answers all four at once: What value are we creating? </a:t>
            </a:r>
          </a:p>
          <a:p>
            <a:r>
              <a:rPr lang="en-US" dirty="0"/>
              <a:t>Why will stakeholders choose us? </a:t>
            </a:r>
          </a:p>
          <a:p>
            <a:r>
              <a:rPr lang="en-US" dirty="0"/>
              <a:t>How will we deliver this value? </a:t>
            </a:r>
          </a:p>
          <a:p>
            <a:r>
              <a:rPr lang="en-US" dirty="0"/>
              <a:t>When will we act?"</a:t>
            </a:r>
          </a:p>
          <a:p>
            <a:endParaRPr lang="en-US" dirty="0"/>
          </a:p>
          <a:p>
            <a:r>
              <a:rPr lang="en-US" b="1" dirty="0"/>
              <a:t>10. Say what is at stake.</a:t>
            </a:r>
          </a:p>
          <a:p>
            <a:r>
              <a:rPr lang="en-US" dirty="0"/>
              <a:t>Say: "Without a clear strategic intent, every investment becomes a negotiation without a shared reference point. </a:t>
            </a:r>
          </a:p>
          <a:p>
            <a:r>
              <a:rPr lang="en-US" dirty="0"/>
              <a:t>Every performance review becomes a contest between competing definitions of success."</a:t>
            </a:r>
          </a:p>
          <a:p>
            <a:endParaRPr lang="en-US" dirty="0"/>
          </a:p>
          <a:p>
            <a:r>
              <a:rPr lang="en-US" b="1" dirty="0"/>
              <a:t>11. Close and bridge to 1.3.</a:t>
            </a:r>
          </a:p>
          <a:p>
            <a:r>
              <a:rPr lang="en-US" dirty="0"/>
              <a:t>Say: "These four dimensions are then crystallised into one clear Strategy Intent Statement. </a:t>
            </a:r>
          </a:p>
          <a:p>
            <a:r>
              <a:rPr lang="en-US" dirty="0"/>
              <a:t>The strength of the statement comes from the architecture beneath it. </a:t>
            </a:r>
          </a:p>
          <a:p>
            <a:r>
              <a:rPr lang="en-US" dirty="0"/>
              <a:t>It should therefore be crisp, directional and easy to express, while the Strategy Architecture holds the depth and supporting logic. </a:t>
            </a:r>
          </a:p>
          <a:p>
            <a:r>
              <a:rPr lang="en-US" dirty="0"/>
              <a:t>The resulting Strategy Intent becomes the organisation's directional anchor for strategic choices, alignment and execution."</a:t>
            </a:r>
          </a:p>
          <a:p>
            <a:endParaRPr lang="en-US" dirty="0"/>
          </a:p>
          <a:p>
            <a:r>
              <a:rPr lang="en-US" b="1" dirty="0"/>
              <a:t>Say: </a:t>
            </a:r>
            <a:r>
              <a:rPr lang="en-US" dirty="0"/>
              <a:t>"The Intent sets the ambition. Next we ask what we should see in practice when that ambition is realised."</a:t>
            </a:r>
          </a:p>
          <a:p>
            <a:endParaRPr lang="en-US" dirty="0"/>
          </a:p>
          <a:p>
            <a:r>
              <a:rPr lang="en-US" b="1" dirty="0"/>
              <a:t>ON THE PORTAL, AFTER THE TEACHING:</a:t>
            </a:r>
          </a:p>
          <a:p>
            <a:r>
              <a:rPr lang="en-US" dirty="0"/>
              <a:t>Participants write the 1.2 reflection: "From your assigned executive leader perspective: which dimension (WHAT, WHY, HOW, WHEN) is least clearly defined in your organisation's current strategy? </a:t>
            </a:r>
          </a:p>
          <a:p>
            <a:r>
              <a:rPr lang="en-US" dirty="0"/>
              <a:t>What would clarifying it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1.3 — SUCCESS IN PRACTICE (SiP): FROM INTENT TO FUTURE REALITY (4 OBSERVABLE DOMAINS)</a:t>
            </a:r>
          </a:p>
          <a:p>
            <a:endParaRPr lang="en-US" dirty="0"/>
          </a:p>
          <a:p>
            <a:r>
              <a:rPr lang="en-US" b="1" dirty="0"/>
              <a:t>HOW TO TEACH IT:</a:t>
            </a:r>
          </a:p>
          <a:p>
            <a:endParaRPr lang="en-US" dirty="0"/>
          </a:p>
          <a:p>
            <a:r>
              <a:rPr lang="en-US" b="1" dirty="0"/>
              <a:t>1. Connect the two outputs.</a:t>
            </a:r>
          </a:p>
          <a:p>
            <a:r>
              <a:rPr lang="en-US" b="1" dirty="0"/>
              <a:t>Say: </a:t>
            </a:r>
            <a:r>
              <a:rPr lang="en-US" dirty="0"/>
              <a:t>"The Strategy Intent Statement establishes the ambition. </a:t>
            </a:r>
          </a:p>
          <a:p>
            <a:r>
              <a:rPr lang="en-US" dirty="0"/>
              <a:t>Success in Practice defines what must be seen, experienced and executed for that ambition to become reality within a given time horizon."</a:t>
            </a:r>
          </a:p>
          <a:p>
            <a:endParaRPr lang="en-US" dirty="0"/>
          </a:p>
          <a:p>
            <a:r>
              <a:rPr lang="en-US" dirty="0"/>
              <a:t>Add: "Once the organisation has answered WHAT, WHY, HOW and WHEN, the next step is to translate that clarity into an observable future reality."</a:t>
            </a:r>
          </a:p>
          <a:p>
            <a:endParaRPr lang="en-US" dirty="0"/>
          </a:p>
          <a:p>
            <a:r>
              <a:rPr lang="en-US" b="1" dirty="0"/>
              <a:t>2. Say what Success in Practice is.</a:t>
            </a:r>
          </a:p>
          <a:p>
            <a:r>
              <a:rPr lang="en-US" b="1" dirty="0"/>
              <a:t>Say: </a:t>
            </a:r>
            <a:r>
              <a:rPr lang="en-US" dirty="0"/>
              <a:t>"Success in Practice, SiP, translates strategic intent into a clear picture of the future operating reality of the organisation.</a:t>
            </a:r>
          </a:p>
          <a:p>
            <a:r>
              <a:rPr lang="en-US" dirty="0"/>
              <a:t>It answers a question that most strategy processes fail to address clearly."</a:t>
            </a:r>
          </a:p>
          <a:p>
            <a:r>
              <a:rPr lang="en-US" dirty="0"/>
              <a:t>Read the central question from the foot of the slide:</a:t>
            </a:r>
          </a:p>
          <a:p>
            <a:r>
              <a:rPr lang="en-US" dirty="0"/>
              <a:t>"If our Strategy Intent is successful, what should we see in practice?"</a:t>
            </a:r>
          </a:p>
          <a:p>
            <a:endParaRPr lang="en-US" dirty="0"/>
          </a:p>
          <a:p>
            <a:r>
              <a:rPr lang="en-US" b="1" dirty="0"/>
              <a:t>3. Position participants inside the future.</a:t>
            </a:r>
          </a:p>
          <a:p>
            <a:r>
              <a:rPr lang="en-US" dirty="0"/>
              <a:t>Say: "For this first look, use the strategic ambition of your own organisation as it stands today. Assume the strategy has worked. From here, we are observing."</a:t>
            </a:r>
          </a:p>
          <a:p>
            <a:r>
              <a:rPr lang="en-US" dirty="0"/>
              <a:t>Ask participants to describe the observable organisational reality. Each group writes its own Strategy Intent Statement in Section 4.</a:t>
            </a:r>
          </a:p>
          <a:p>
            <a:endParaRPr lang="en-US" dirty="0"/>
          </a:p>
          <a:p>
            <a:r>
              <a:rPr lang="en-US" b="1" dirty="0"/>
              <a:t>4. Take the four indicators.</a:t>
            </a:r>
          </a:p>
          <a:p>
            <a:r>
              <a:rPr lang="en-US" b="1" dirty="0"/>
              <a:t>Say: </a:t>
            </a:r>
            <a:r>
              <a:rPr lang="en-US" dirty="0"/>
              <a:t>"Success is considered across four observable indicators</a:t>
            </a:r>
          </a:p>
          <a:p>
            <a:endParaRPr lang="en-US" dirty="0"/>
          </a:p>
          <a:p>
            <a:r>
              <a:rPr lang="en-US" dirty="0"/>
              <a:t>Name each indicator from the slide and say what it covers:</a:t>
            </a:r>
          </a:p>
          <a:p>
            <a:endParaRPr lang="en-US" dirty="0"/>
          </a:p>
          <a:p>
            <a:r>
              <a:rPr lang="en-US" dirty="0"/>
              <a:t>- D1 · Customer Experience &amp; Value: What customers and other value recipients experience when the strategic intent is working.</a:t>
            </a:r>
          </a:p>
          <a:p>
            <a:endParaRPr lang="en-US" dirty="0"/>
          </a:p>
          <a:p>
            <a:r>
              <a:rPr lang="en-US" dirty="0"/>
              <a:t>- D2 · Operational Capability &amp; Execution Rhythm: How the organisation operates, coordinates, delivers and adapts when the capabilities required by the intent are functioning effectively.</a:t>
            </a:r>
          </a:p>
          <a:p>
            <a:endParaRPr lang="en-US" dirty="0"/>
          </a:p>
          <a:p>
            <a:r>
              <a:rPr lang="en-US" dirty="0"/>
              <a:t>- D3 · People &amp; Culture Dynamics: How people understand the strategic intent, make decisions, collaborate, take ownership and behave when the intent is embedded in the organisation.</a:t>
            </a:r>
          </a:p>
          <a:p>
            <a:endParaRPr lang="en-US" dirty="0"/>
          </a:p>
          <a:p>
            <a:r>
              <a:rPr lang="en-US" dirty="0"/>
              <a:t>- D4 · Enterprise Value Creation: How the organisation benefits across its measures of enterprise success.</a:t>
            </a:r>
          </a:p>
          <a:p>
            <a:endParaRPr lang="en-US" dirty="0"/>
          </a:p>
          <a:p>
            <a:r>
              <a:rPr lang="en-US" dirty="0"/>
              <a:t>Take one observation from the room for each indicator, D1 to D4.</a:t>
            </a:r>
          </a:p>
          <a:p>
            <a:endParaRPr lang="en-US" dirty="0"/>
          </a:p>
          <a:p>
            <a:r>
              <a:rPr lang="en-US" b="1" dirty="0"/>
              <a:t>Add: </a:t>
            </a:r>
            <a:r>
              <a:rPr lang="en-US" dirty="0"/>
              <a:t>"Anchoring the description in four observable indicators keeps us out of vague storytelling."</a:t>
            </a:r>
          </a:p>
          <a:p>
            <a:endParaRPr lang="en-US" dirty="0"/>
          </a:p>
          <a:p>
            <a:r>
              <a:rPr lang="en-US" b="1" dirty="0"/>
              <a:t>5. Keep the room on observable reality.</a:t>
            </a:r>
          </a:p>
          <a:p>
            <a:r>
              <a:rPr lang="en-US" b="1" dirty="0"/>
              <a:t>Say: </a:t>
            </a:r>
            <a:r>
              <a:rPr lang="en-US" dirty="0"/>
              <a:t>"The SiP describes what is happening when the strategy is working. Initiatives, projects and activities stay out of it.“</a:t>
            </a:r>
          </a:p>
          <a:p>
            <a:endParaRPr lang="en-US" dirty="0"/>
          </a:p>
          <a:p>
            <a:r>
              <a:rPr lang="en-US" b="1" dirty="0"/>
              <a:t>6. Say why success is defined before anything is built.</a:t>
            </a:r>
          </a:p>
          <a:p>
            <a:r>
              <a:rPr lang="en-US" b="1" dirty="0"/>
              <a:t>Say</a:t>
            </a:r>
            <a:r>
              <a:rPr lang="en-US" dirty="0"/>
              <a:t> Before you build, know exactly what you are building toward and why each element matters."</a:t>
            </a:r>
          </a:p>
          <a:p>
            <a:endParaRPr lang="en-US" dirty="0"/>
          </a:p>
          <a:p>
            <a:r>
              <a:rPr lang="en-US" dirty="0"/>
              <a:t>(Insight: Built to a specification. Source: Journal, 15 February 2026 — Professional Insights: Strategy)</a:t>
            </a:r>
          </a:p>
          <a:p>
            <a:endParaRPr lang="en-US" dirty="0"/>
          </a:p>
          <a:p>
            <a:r>
              <a:rPr lang="en-US" b="1" dirty="0"/>
              <a:t>7. Say what a shared picture gives a leadership team.</a:t>
            </a:r>
          </a:p>
          <a:p>
            <a:r>
              <a:rPr lang="en-US" b="1" dirty="0"/>
              <a:t>Say: </a:t>
            </a:r>
            <a:r>
              <a:rPr lang="en-US" dirty="0"/>
              <a:t>"Defining this together creates a shared picture of success, reducing the risk of different functions interpreting the same strategic intent differently."</a:t>
            </a:r>
          </a:p>
          <a:p>
            <a:endParaRPr lang="en-US" dirty="0"/>
          </a:p>
          <a:p>
            <a:r>
              <a:rPr lang="en-US" b="1" dirty="0"/>
              <a:t>Say: </a:t>
            </a:r>
            <a:r>
              <a:rPr lang="en-US" dirty="0"/>
              <a:t>"The aim is shared construction: we should leave with a common understanding of what success looks like across the organisation."</a:t>
            </a:r>
          </a:p>
          <a:p>
            <a:endParaRPr lang="en-US" dirty="0"/>
          </a:p>
          <a:p>
            <a:r>
              <a:rPr lang="en-US" b="1" dirty="0"/>
              <a:t>Name the four effects for an executive team:</a:t>
            </a:r>
          </a:p>
          <a:p>
            <a:r>
              <a:rPr lang="en-US" dirty="0"/>
              <a:t>- It removes ambiguity about what the strategy is actually aiming to produce.</a:t>
            </a:r>
          </a:p>
          <a:p>
            <a:r>
              <a:rPr lang="en-US" dirty="0"/>
              <a:t>- It creates a shared mental model of the future state across all functions.</a:t>
            </a:r>
          </a:p>
          <a:p>
            <a:r>
              <a:rPr lang="en-US" dirty="0"/>
              <a:t>- It provides a decision filter: every initiative, investment and priority can be tested against it.</a:t>
            </a:r>
          </a:p>
          <a:p>
            <a:r>
              <a:rPr lang="en-US" dirty="0"/>
              <a:t>- It enables recognition of progress: leaders can see alignment and momentum during execution.</a:t>
            </a:r>
          </a:p>
          <a:p>
            <a:endParaRPr lang="en-US" dirty="0"/>
          </a:p>
          <a:p>
            <a:r>
              <a:rPr lang="en-US" b="1" dirty="0"/>
              <a:t>8. Close and bridge.</a:t>
            </a:r>
          </a:p>
          <a:p>
            <a:r>
              <a:rPr lang="en-US" b="1" dirty="0"/>
              <a:t>Say: </a:t>
            </a:r>
            <a:r>
              <a:rPr lang="en-US" dirty="0"/>
              <a:t>"Together, the four indicators create a shared organisational picture of success against which decisions, trade-offs and execution can be aligned."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SECTION 1 REFLECTIONS</a:t>
            </a:r>
          </a:p>
          <a:p>
            <a:endParaRPr lang="en-US" dirty="0"/>
          </a:p>
          <a:p>
            <a:r>
              <a:rPr lang="en-US" b="1" dirty="0"/>
              <a:t>HOW TO USE THIS SLIDE:</a:t>
            </a:r>
          </a:p>
          <a:p>
            <a:endParaRPr lang="en-US" dirty="0"/>
          </a:p>
          <a:p>
            <a:r>
              <a:rPr lang="en-US" b="1" dirty="0"/>
              <a:t>1. Show the slide and read the two prompts aloud.</a:t>
            </a:r>
          </a:p>
          <a:p>
            <a:r>
              <a:rPr lang="en-US" dirty="0"/>
              <a:t>1.1 Reflection — Strategy Architecture: "Which part of your organisation's strategy architecture is least well defined today? What is the consequence?"</a:t>
            </a:r>
          </a:p>
          <a:p>
            <a:r>
              <a:rPr lang="en-US" dirty="0"/>
              <a:t>1.2 Reflection — Strategy Intent: "From your assigned executive leader perspective: which dimension (WHAT, WHY, HOW, WHEN) is least clearly defined in your organisation's current strategy? What would clarifying it change?"</a:t>
            </a:r>
          </a:p>
          <a:p>
            <a:endParaRPr lang="en-US" dirty="0"/>
          </a:p>
          <a:p>
            <a:r>
              <a:rPr lang="en-US" b="1" dirty="0"/>
              <a:t>2. Say what the reflections are for.</a:t>
            </a:r>
          </a:p>
          <a:p>
            <a:r>
              <a:rPr lang="en-US" dirty="0"/>
              <a:t>Point learners to the portal section that they will be required to complete with as much depth as possible. </a:t>
            </a:r>
          </a:p>
          <a:p>
            <a:r>
              <a:rPr lang="en-US" dirty="0"/>
              <a:t>The reflections build the learning portfolio they receive at the end of the programme.</a:t>
            </a:r>
          </a:p>
          <a:p>
            <a:endParaRPr lang="en-US" dirty="0"/>
          </a:p>
          <a:p>
            <a:r>
              <a:rPr lang="en-US" b="1" dirty="0"/>
              <a:t>Say</a:t>
            </a:r>
            <a:r>
              <a:rPr lang="en-US" dirty="0"/>
              <a:t>: "You write these reflections on the portal after the teaching, with as much depth as you can."</a:t>
            </a:r>
          </a:p>
          <a:p>
            <a:endParaRPr lang="en-US" dirty="0"/>
          </a:p>
          <a:p>
            <a:r>
              <a:rPr lang="en-US" b="1" dirty="0"/>
              <a:t>3. Set the standard for 1.1.</a:t>
            </a:r>
          </a:p>
          <a:p>
            <a:r>
              <a:rPr lang="en-US" b="1" dirty="0"/>
              <a:t>Say: </a:t>
            </a:r>
            <a:r>
              <a:rPr lang="en-US" dirty="0"/>
              <a:t>"Name one concept from the nine, give evidence from your own organisation, and name one consequence you have seen: what the gap costs, slows down or leaves undecided.“</a:t>
            </a:r>
          </a:p>
          <a:p>
            <a:endParaRPr lang="en-US" dirty="0"/>
          </a:p>
          <a:p>
            <a:r>
              <a:rPr lang="en-US" dirty="0"/>
              <a:t>Deepen, say: "Strategy begins with an accurate understanding of present reality. </a:t>
            </a:r>
          </a:p>
          <a:p>
            <a:r>
              <a:rPr lang="en-US" dirty="0"/>
              <a:t>Leaders who avoid difficult information protect their comfort at the expense of the institution. </a:t>
            </a:r>
          </a:p>
          <a:p>
            <a:r>
              <a:rPr lang="en-US" dirty="0"/>
              <a:t>Name the true condition without minimising it."</a:t>
            </a:r>
          </a:p>
          <a:p>
            <a:r>
              <a:rPr lang="en-US" dirty="0"/>
              <a:t>(Insight: An honest baseline. Source: Journal, 4 August 2026 — Professional Insights: Strategy)</a:t>
            </a:r>
          </a:p>
          <a:p>
            <a:endParaRPr lang="en-US" dirty="0"/>
          </a:p>
          <a:p>
            <a:r>
              <a:rPr lang="en-US" b="1" dirty="0"/>
              <a:t>4. Set the standard for 1.2.</a:t>
            </a:r>
          </a:p>
          <a:p>
            <a:r>
              <a:rPr lang="en-US" dirty="0"/>
              <a:t>Say: "Answer from your assigned executive leader perspective. Name one dimension, and say what clarifying it would change."</a:t>
            </a:r>
          </a:p>
          <a:p>
            <a:r>
              <a:rPr lang="en-US" dirty="0"/>
              <a:t>Tell participants: they can start from the dimension they named in the show of hands.</a:t>
            </a:r>
          </a:p>
          <a:p>
            <a:endParaRPr lang="en-US" dirty="0"/>
          </a:p>
          <a:p>
            <a:r>
              <a:rPr lang="en-US" b="1" dirty="0"/>
              <a:t>5. Bridge to Section 2.</a:t>
            </a:r>
          </a:p>
          <a:p>
            <a:r>
              <a:rPr lang="en-US" dirty="0"/>
              <a:t>Say: "We now have the three building blocks: the architecture, the intent and the picture of success. </a:t>
            </a:r>
          </a:p>
          <a:p>
            <a:endParaRPr lang="en-US" dirty="0"/>
          </a:p>
          <a:p>
            <a:r>
              <a:rPr lang="en-US" dirty="0"/>
              <a:t>Section 2 asks why the Strategy Intent and SiP matter once they are defined."</a:t>
            </a:r>
          </a:p>
          <a:p>
            <a:endParaRPr lang="en-US" dirty="0"/>
          </a:p>
          <a:p>
            <a:r>
              <a:rPr lang="en-US" b="1" dirty="0"/>
              <a:t>ON THE PORTAL, AFTER THE TEACHING:</a:t>
            </a:r>
          </a:p>
          <a:p>
            <a:r>
              <a:rPr lang="en-US" dirty="0"/>
              <a:t>Participants write the two reflections in Section 1 of the participant file: 1.1 Reflection — Strategy Architecture and 1.2 Reflection — Strategy Intent.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2 · INTELLIGENCE — WHY</a:t>
            </a:r>
          </a:p>
          <a:p>
            <a:endParaRPr lang="en-US" dirty="0"/>
          </a:p>
          <a:p>
            <a:r>
              <a:rPr lang="en-US" b="1" dirty="0"/>
              <a:t>HOW THIS SECTION RUNS:</a:t>
            </a:r>
          </a:p>
          <a:p>
            <a:r>
              <a:rPr lang="en-US" dirty="0"/>
              <a:t>1. 2.1 overview: the three functions the Strategy Intent and SiP serve within the Strategy2Results® architecture.</a:t>
            </a:r>
          </a:p>
          <a:p>
            <a:r>
              <a:rPr lang="en-US" dirty="0"/>
              <a:t>2. 2.1.1 Strategic Alignment, 2.1.2 Decision Filter and 2.1.3 Execution Coherence: one slide each. Every function is taught in three parts: Why It Matters, what the Strategy Intent does, and what SiP does.</a:t>
            </a:r>
          </a:p>
          <a:p>
            <a:r>
              <a:rPr lang="en-US" dirty="0"/>
              <a:t>3. The Section 2 Reflections slide: the reflection participants write on the portal after the teaching.</a:t>
            </a:r>
          </a:p>
          <a:p>
            <a:endParaRPr lang="en-US" dirty="0"/>
          </a:p>
          <a:p>
            <a:r>
              <a:rPr lang="en-US" b="1" dirty="0"/>
              <a:t>HOW TO OPEN THE SECTION:</a:t>
            </a:r>
          </a:p>
          <a:p>
            <a:endParaRPr lang="en-US" dirty="0"/>
          </a:p>
          <a:p>
            <a:r>
              <a:rPr lang="en-US" b="1" dirty="0"/>
              <a:t>1. Link from Section 1.</a:t>
            </a:r>
          </a:p>
          <a:p>
            <a:r>
              <a:rPr lang="en-US" dirty="0"/>
              <a:t>Say: "Section 1 defined the three building blocks. This section asks what the Strategy Intent and SiP do for a leadership team once they exist.“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 Read the two section learning outcomes from the slide.</a:t>
            </a:r>
          </a:p>
          <a:p>
            <a:r>
              <a:rPr lang="en-US" b="1" dirty="0"/>
              <a:t>SECTION LEARNING OUTCOMES:</a:t>
            </a:r>
          </a:p>
          <a:p>
            <a:r>
              <a:rPr lang="en-US" dirty="0"/>
              <a:t>1. Align leaders and functions around a shared strategic ambition and a shared picture of success.</a:t>
            </a:r>
          </a:p>
          <a:p>
            <a:r>
              <a:rPr lang="en-US" dirty="0"/>
              <a:t>2. </a:t>
            </a:r>
            <a:r>
              <a:rPr lang="en-US" dirty="0" err="1"/>
              <a:t>Recognise</a:t>
            </a:r>
            <a:r>
              <a:rPr lang="en-US" dirty="0"/>
              <a:t> how a shared direction filters decisions throughout execution.</a:t>
            </a:r>
          </a:p>
          <a:p>
            <a:endParaRPr lang="en-US" dirty="0"/>
          </a:p>
          <a:p>
            <a:r>
              <a:rPr lang="en-US" b="1" dirty="0"/>
              <a:t>3. State the section intent.</a:t>
            </a:r>
          </a:p>
          <a:p>
            <a:r>
              <a:rPr lang="en-US" b="1" dirty="0"/>
              <a:t>Say: </a:t>
            </a:r>
            <a:r>
              <a:rPr lang="en-US" dirty="0"/>
              <a:t>"The Strategy Intent and SiP become useful when they begin to shape how the organisation aligns, makes choices and executes."</a:t>
            </a:r>
          </a:p>
          <a:p>
            <a:r>
              <a:rPr lang="en-US" b="1" dirty="0"/>
              <a:t>Say: </a:t>
            </a:r>
            <a:r>
              <a:rPr lang="en-US" dirty="0"/>
              <a:t>"Once leaders have established a shared strategic ambition and defined what success looks like in practice, those two outputs become common reference points across the organisation."</a:t>
            </a:r>
          </a:p>
          <a:p>
            <a:endParaRPr lang="en-US" dirty="0"/>
          </a:p>
          <a:p>
            <a:r>
              <a:rPr lang="en-US" b="1" dirty="0"/>
              <a:t>4. Bridge to 2.1.</a:t>
            </a:r>
          </a:p>
          <a:p>
            <a:r>
              <a:rPr lang="en-US" dirty="0"/>
              <a:t>Say: "The Strategy Intent and SiP serve three important functions. The next slide names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2.1 — ROLE OF STRATEGY INTENT &amp; SiP IN THE S2R® ARCHITECTURE (3 FUNCTIONS)</a:t>
            </a:r>
          </a:p>
          <a:p>
            <a:endParaRPr lang="en-US" dirty="0"/>
          </a:p>
          <a:p>
            <a:r>
              <a:rPr lang="en-US" b="1" dirty="0"/>
              <a:t>HOW TO TEACH IT:</a:t>
            </a:r>
          </a:p>
          <a:p>
            <a:endParaRPr lang="en-US" dirty="0"/>
          </a:p>
          <a:p>
            <a:r>
              <a:rPr lang="en-US" b="1" dirty="0"/>
              <a:t>1. Introduce the three functions.</a:t>
            </a:r>
          </a:p>
          <a:p>
            <a:r>
              <a:rPr lang="en-US" b="1" dirty="0"/>
              <a:t>Say: </a:t>
            </a:r>
            <a:r>
              <a:rPr lang="en-US" dirty="0"/>
              <a:t>"Strategy Intent and SiP serve three functions within the Strategy2Results® architecture."</a:t>
            </a:r>
          </a:p>
          <a:p>
            <a:endParaRPr lang="en-US" dirty="0"/>
          </a:p>
          <a:p>
            <a:r>
              <a:rPr lang="en-US" dirty="0"/>
              <a:t>Name each function from the slide:</a:t>
            </a:r>
          </a:p>
          <a:p>
            <a:endParaRPr lang="en-US" dirty="0"/>
          </a:p>
          <a:p>
            <a:r>
              <a:rPr lang="en-US" dirty="0"/>
              <a:t>- </a:t>
            </a:r>
            <a:r>
              <a:rPr lang="en-US" b="1" dirty="0"/>
              <a:t>Strategic Alignment: </a:t>
            </a:r>
            <a:r>
              <a:rPr lang="en-US" dirty="0"/>
              <a:t>keeping people and functions oriented around the same ambition and picture of success.</a:t>
            </a:r>
          </a:p>
          <a:p>
            <a:endParaRPr lang="en-US" dirty="0"/>
          </a:p>
          <a:p>
            <a:r>
              <a:rPr lang="en-US" b="1" dirty="0"/>
              <a:t>- Decision Filter: </a:t>
            </a:r>
            <a:r>
              <a:rPr lang="en-US" dirty="0"/>
              <a:t>providing a basis for determining which choices, opportunities and investments support the strategy.</a:t>
            </a:r>
          </a:p>
          <a:p>
            <a:endParaRPr lang="en-US" dirty="0"/>
          </a:p>
          <a:p>
            <a:r>
              <a:rPr lang="en-US" b="1" dirty="0"/>
              <a:t>- Execution Coherence</a:t>
            </a:r>
            <a:r>
              <a:rPr lang="en-US" dirty="0"/>
              <a:t>: helping different functions understand how their individual contributions must connect to produce the enterprise outcome.</a:t>
            </a:r>
          </a:p>
          <a:p>
            <a:endParaRPr lang="en-US" dirty="0"/>
          </a:p>
          <a:p>
            <a:r>
              <a:rPr lang="en-US" b="1" dirty="0"/>
              <a:t>2. Name the pairing that runs through all three.</a:t>
            </a:r>
          </a:p>
          <a:p>
            <a:r>
              <a:rPr lang="en-US" b="1" dirty="0"/>
              <a:t>Say: </a:t>
            </a:r>
            <a:r>
              <a:rPr lang="en-US" dirty="0"/>
              <a:t>"The Intent anchors the ambition and strategic choices; SiP anchors the organisational reality those choices are intended to produce."</a:t>
            </a:r>
          </a:p>
          <a:p>
            <a:r>
              <a:rPr lang="en-US" dirty="0"/>
              <a:t>"The two outputs are there to govern alignment, choices and execution."</a:t>
            </a:r>
          </a:p>
          <a:p>
            <a:endParaRPr lang="en-US" dirty="0"/>
          </a:p>
          <a:p>
            <a:r>
              <a:rPr lang="en-US" b="1" dirty="0"/>
              <a:t>3. Leave one question with the group.</a:t>
            </a:r>
          </a:p>
          <a:p>
            <a:r>
              <a:rPr lang="en-US" dirty="0"/>
              <a:t>Say: "As we move through the three functions, consider: What happens in an organisation when this function is weak or absent?"</a:t>
            </a:r>
          </a:p>
          <a:p>
            <a:endParaRPr lang="en-US" dirty="0"/>
          </a:p>
          <a:p>
            <a:r>
              <a:rPr lang="en-US" b="1" dirty="0"/>
              <a:t>4. Bridge to the next slide.</a:t>
            </a:r>
          </a:p>
          <a:p>
            <a:r>
              <a:rPr lang="en-US" dirty="0"/>
              <a:t>Say: "The next three slides take one function each: why it matters, what the Strategy Intent does, and what SiP does."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2.1.1 — STRATEGIC ALIGNMENT</a:t>
            </a:r>
          </a:p>
          <a:p>
            <a:endParaRPr lang="en-US" dirty="0"/>
          </a:p>
          <a:p>
            <a:r>
              <a:rPr lang="en-US" b="1" dirty="0"/>
              <a:t>HOW TO TEACH IT:</a:t>
            </a:r>
          </a:p>
          <a:p>
            <a:endParaRPr lang="en-US" dirty="0"/>
          </a:p>
          <a:p>
            <a:r>
              <a:rPr lang="en-US" b="1" dirty="0"/>
              <a:t>1. Say why it matters.</a:t>
            </a:r>
          </a:p>
          <a:p>
            <a:r>
              <a:rPr lang="en-US" b="1" dirty="0"/>
              <a:t>Say: </a:t>
            </a:r>
            <a:r>
              <a:rPr lang="en-US" dirty="0"/>
              <a:t>"Strategy fragments when leaders and functions interpret the organisation's ambition differently. </a:t>
            </a:r>
          </a:p>
          <a:p>
            <a:r>
              <a:rPr lang="en-US" dirty="0"/>
              <a:t>Alignment creates a common strategic reference point while allowing different parts of the organisation to make the contributions required of them."</a:t>
            </a:r>
          </a:p>
          <a:p>
            <a:endParaRPr lang="en-US" dirty="0"/>
          </a:p>
          <a:p>
            <a:r>
              <a:rPr lang="en-US" b="1" dirty="0"/>
              <a:t>2. Give the role of the Strategy Intent.</a:t>
            </a:r>
          </a:p>
          <a:p>
            <a:r>
              <a:rPr lang="en-US" b="1" dirty="0"/>
              <a:t>Say</a:t>
            </a:r>
            <a:r>
              <a:rPr lang="en-US" dirty="0"/>
              <a:t>: "The Strategy Intent creates shared understanding of the organisation's strategic ambition and the choices that define it. </a:t>
            </a:r>
          </a:p>
          <a:p>
            <a:r>
              <a:rPr lang="en-US" dirty="0"/>
              <a:t>Leaders are anchored to the same WHAT, WHY, HOW and WHEN."</a:t>
            </a:r>
          </a:p>
          <a:p>
            <a:endParaRPr lang="en-US" dirty="0"/>
          </a:p>
          <a:p>
            <a:r>
              <a:rPr lang="en-US" b="1" dirty="0"/>
              <a:t>Deepen, say</a:t>
            </a:r>
            <a:r>
              <a:rPr lang="en-US" dirty="0"/>
              <a:t>: "Intent cannot be executed consistently when people do not know the principles, expectations and boundaries that should govern their decisions."</a:t>
            </a:r>
          </a:p>
          <a:p>
            <a:r>
              <a:rPr lang="en-US" dirty="0"/>
              <a:t>(Insight: Shared understanding. Source: Journal, 19 July 2026 — Professional Insights: Strategy)</a:t>
            </a:r>
          </a:p>
          <a:p>
            <a:endParaRPr lang="en-US" dirty="0"/>
          </a:p>
          <a:p>
            <a:r>
              <a:rPr lang="en-US" b="1" dirty="0"/>
              <a:t>3. Give the role of SiP.</a:t>
            </a:r>
          </a:p>
          <a:p>
            <a:r>
              <a:rPr lang="en-US" b="1" dirty="0"/>
              <a:t>Say: </a:t>
            </a:r>
            <a:r>
              <a:rPr lang="en-US" dirty="0"/>
              <a:t>"SiP creates a shared picture of what successful realisation of that ambition looks like. </a:t>
            </a:r>
          </a:p>
          <a:p>
            <a:r>
              <a:rPr lang="en-US" dirty="0"/>
              <a:t>Functions may contribute differently, but they are working towards the same organisational reality.“</a:t>
            </a:r>
          </a:p>
          <a:p>
            <a:endParaRPr lang="en-US" dirty="0"/>
          </a:p>
          <a:p>
            <a:r>
              <a:rPr lang="en-US" dirty="0"/>
              <a:t>Deepen, say: "Culture becomes powerful when people who share an institution also share its meaning and act on it together."</a:t>
            </a:r>
          </a:p>
          <a:p>
            <a:r>
              <a:rPr lang="en-US" dirty="0"/>
              <a:t>(Insight: Shared meaning, shared action. Source: Journal, 15 July 2026 — Professional Insights: Culture)</a:t>
            </a:r>
          </a:p>
          <a:p>
            <a:endParaRPr lang="en-US" dirty="0"/>
          </a:p>
          <a:p>
            <a:r>
              <a:rPr lang="en-US" b="1" dirty="0"/>
              <a:t>4. Test alignment against the opening exercise.</a:t>
            </a:r>
          </a:p>
          <a:p>
            <a:r>
              <a:rPr lang="en-US" dirty="0"/>
              <a:t>Say: "When this session opened, we heard several definitions of strategy in one room."</a:t>
            </a:r>
          </a:p>
          <a:p>
            <a:r>
              <a:rPr lang="en-US" dirty="0"/>
              <a:t>Ask: "If each member of your leadership team described your organisation’s strategic ambition in one sentence, how many versions would you hear?"</a:t>
            </a:r>
          </a:p>
          <a:p>
            <a:endParaRPr lang="en-US" dirty="0"/>
          </a:p>
          <a:p>
            <a:r>
              <a:rPr lang="en-US" b="1" dirty="0"/>
              <a:t>5. Ask what happens when strategic alignment is weak.</a:t>
            </a:r>
          </a:p>
          <a:p>
            <a:r>
              <a:rPr lang="en-US" b="1" dirty="0"/>
              <a:t>Ask</a:t>
            </a:r>
            <a:r>
              <a:rPr lang="en-US" dirty="0"/>
              <a:t>: "What happens in an organisation when </a:t>
            </a:r>
            <a:r>
              <a:rPr lang="en-US" b="1" dirty="0"/>
              <a:t>strategic alignment </a:t>
            </a:r>
            <a:r>
              <a:rPr lang="en-US" dirty="0"/>
              <a:t>is weak or absent?"</a:t>
            </a:r>
          </a:p>
          <a:p>
            <a:r>
              <a:rPr lang="en-US" dirty="0"/>
              <a:t>Listen for: leaders and functions interpreting the ambition differently; each executive pursuing a personal interpretation of the scope and its differentiating logic; each function describing its own version of the future operating state.</a:t>
            </a:r>
          </a:p>
          <a:p>
            <a:endParaRPr lang="en-US" dirty="0"/>
          </a:p>
          <a:p>
            <a:r>
              <a:rPr lang="en-US" b="1" dirty="0"/>
              <a:t>6. Bridge to the Decision Filter.</a:t>
            </a:r>
          </a:p>
          <a:p>
            <a:r>
              <a:rPr lang="en-US" dirty="0"/>
              <a:t>Say: "Alignment gives us one reference point. The next function puts that reference point to work on choices."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2.1.2 — DECISION FILTER</a:t>
            </a:r>
          </a:p>
          <a:p>
            <a:endParaRPr lang="en-US" dirty="0"/>
          </a:p>
          <a:p>
            <a:r>
              <a:rPr lang="en-US" b="1" dirty="0"/>
              <a:t>HOW TO TEACH IT:</a:t>
            </a:r>
          </a:p>
          <a:p>
            <a:endParaRPr lang="en-US" dirty="0"/>
          </a:p>
          <a:p>
            <a:r>
              <a:rPr lang="en-US" b="1" dirty="0"/>
              <a:t>1. Say why it matters.</a:t>
            </a:r>
          </a:p>
          <a:p>
            <a:r>
              <a:rPr lang="en-US" b="1" dirty="0"/>
              <a:t>Say: </a:t>
            </a:r>
            <a:r>
              <a:rPr lang="en-US" dirty="0"/>
              <a:t>"Organisations continuously face competing opportunities, investments, initiatives and demands. </a:t>
            </a:r>
          </a:p>
          <a:p>
            <a:r>
              <a:rPr lang="en-US" dirty="0"/>
              <a:t>Without a common strategic filter, priorities can become shaped by urgency, functional interests or whoever has the strongest influence in the room."</a:t>
            </a:r>
          </a:p>
          <a:p>
            <a:endParaRPr lang="en-US" dirty="0"/>
          </a:p>
          <a:p>
            <a:r>
              <a:rPr lang="en-US" b="1" dirty="0"/>
              <a:t>Deepen, say: </a:t>
            </a:r>
            <a:r>
              <a:rPr lang="en-US" dirty="0"/>
              <a:t>"Many legitimate demands fragment attention unless there is a clear organising priority. </a:t>
            </a:r>
          </a:p>
          <a:p>
            <a:r>
              <a:rPr lang="en-US" dirty="0"/>
              <a:t>Effective strategy knows the “one thing” around which competing choices are ordered."</a:t>
            </a:r>
          </a:p>
          <a:p>
            <a:r>
              <a:rPr lang="en-US" dirty="0"/>
              <a:t>(Insight: The one thing. Source: Journal, 18 September 2026 — Professional Insights: Strategy)</a:t>
            </a:r>
          </a:p>
          <a:p>
            <a:endParaRPr lang="en-US" dirty="0"/>
          </a:p>
          <a:p>
            <a:r>
              <a:rPr lang="en-US" b="1" dirty="0"/>
              <a:t>2. Make it practical.</a:t>
            </a:r>
          </a:p>
          <a:p>
            <a:r>
              <a:rPr lang="en-US" b="1" dirty="0"/>
              <a:t>Ask: "</a:t>
            </a:r>
            <a:r>
              <a:rPr lang="en-US" dirty="0"/>
              <a:t>When a new initiative, investment or opportunity appears, what tells us whether it belongs in our strategy?"</a:t>
            </a:r>
          </a:p>
          <a:p>
            <a:r>
              <a:rPr lang="en-US" dirty="0"/>
              <a:t>Take three answers before you give the two tests.</a:t>
            </a:r>
          </a:p>
          <a:p>
            <a:endParaRPr lang="en-US" dirty="0"/>
          </a:p>
          <a:p>
            <a:r>
              <a:rPr lang="en-US" b="1" dirty="0"/>
              <a:t>3. Give the two tests on the slide.</a:t>
            </a:r>
          </a:p>
          <a:p>
            <a:r>
              <a:rPr lang="en-US" b="1" dirty="0"/>
              <a:t>Say: </a:t>
            </a:r>
            <a:r>
              <a:rPr lang="en-US" dirty="0"/>
              <a:t>"The Strategy Intent provides the test of strategic fit. </a:t>
            </a:r>
          </a:p>
          <a:p>
            <a:r>
              <a:rPr lang="en-US" dirty="0" err="1"/>
              <a:t>SiP</a:t>
            </a:r>
            <a:r>
              <a:rPr lang="en-US" dirty="0"/>
              <a:t> provides the test of strategic contribution: whether the choice moves the organisation closer to the success it has defined."</a:t>
            </a:r>
          </a:p>
          <a:p>
            <a:endParaRPr lang="en-US" dirty="0"/>
          </a:p>
          <a:p>
            <a:r>
              <a:rPr lang="en-US" b="1" dirty="0"/>
              <a:t>The test of strategic fit:</a:t>
            </a:r>
          </a:p>
          <a:p>
            <a:r>
              <a:rPr lang="en-US" b="1" dirty="0"/>
              <a:t>Say: </a:t>
            </a:r>
            <a:r>
              <a:rPr lang="en-US" dirty="0"/>
              <a:t>"The Strategy Intent provides the reference point for determining whether a choice is consistent with the organisation's strategic ambition and the choices already made."</a:t>
            </a:r>
          </a:p>
          <a:p>
            <a:endParaRPr lang="en-US" dirty="0"/>
          </a:p>
          <a:p>
            <a:r>
              <a:rPr lang="en-US" b="1" dirty="0"/>
              <a:t>The test of strategic contribution:</a:t>
            </a:r>
          </a:p>
          <a:p>
            <a:r>
              <a:rPr lang="en-US" dirty="0"/>
              <a:t>Say: "SiP tests whether that choice contributes to the conditions of success the organisation has defined. It connects individual decisions to the future reality they are expected to help create."</a:t>
            </a:r>
          </a:p>
          <a:p>
            <a:endParaRPr lang="en-US" dirty="0"/>
          </a:p>
          <a:p>
            <a:r>
              <a:rPr lang="en-US" b="1" dirty="0"/>
              <a:t>4. Run both tests on a real case.</a:t>
            </a:r>
          </a:p>
          <a:p>
            <a:r>
              <a:rPr lang="en-US" dirty="0"/>
              <a:t>Ask one participant to name a real initiative that is competing for resources in their organisation today. </a:t>
            </a:r>
          </a:p>
          <a:p>
            <a:r>
              <a:rPr lang="en-US" dirty="0"/>
              <a:t>Run both tests aloud against that organisation’s current strategic ambition and its current picture of success.</a:t>
            </a:r>
          </a:p>
          <a:p>
            <a:endParaRPr lang="en-US" dirty="0"/>
          </a:p>
          <a:p>
            <a:r>
              <a:rPr lang="en-US" dirty="0"/>
              <a:t>Say: "Use the same two tests each time a new initiative, investment or opportunity appears."</a:t>
            </a:r>
          </a:p>
          <a:p>
            <a:endParaRPr lang="en-US" dirty="0"/>
          </a:p>
          <a:p>
            <a:r>
              <a:rPr lang="en-US" b="1" dirty="0"/>
              <a:t>5. Deepen: the filter is how daily decisions are made.</a:t>
            </a:r>
          </a:p>
          <a:p>
            <a:r>
              <a:rPr lang="en-US" b="1" dirty="0"/>
              <a:t>Say</a:t>
            </a:r>
            <a:r>
              <a:rPr lang="en-US" dirty="0"/>
              <a:t>: "A strong strategy carries a clear operating logic that guides what is prioritised, how trade-offs are made and how consistency holds under pressure. Execution quality depends on how those decisions are made daily."</a:t>
            </a:r>
          </a:p>
          <a:p>
            <a:r>
              <a:rPr lang="en-US" dirty="0"/>
              <a:t>(Insight: Operating logic. Source: Journal, 3 April 2026 — Professional Insights: Culture)</a:t>
            </a:r>
          </a:p>
          <a:p>
            <a:endParaRPr lang="en-US" dirty="0"/>
          </a:p>
          <a:p>
            <a:r>
              <a:rPr lang="en-US" b="1" dirty="0"/>
              <a:t>6. Deepen: name the governing reference points.</a:t>
            </a:r>
          </a:p>
          <a:p>
            <a:r>
              <a:rPr lang="en-US" b="1" dirty="0"/>
              <a:t>Say: </a:t>
            </a:r>
            <a:r>
              <a:rPr lang="en-US" dirty="0"/>
              <a:t>"Organisations without an explicit governing reference point drift into convergent decline: each person makes locally rational decisions that are collectively damaging."</a:t>
            </a:r>
          </a:p>
          <a:p>
            <a:endParaRPr lang="en-US" dirty="0"/>
          </a:p>
          <a:p>
            <a:r>
              <a:rPr lang="en-US" b="1" dirty="0"/>
              <a:t>7. Ask what happens when decision filter is weak.</a:t>
            </a:r>
          </a:p>
          <a:p>
            <a:r>
              <a:rPr lang="en-US" b="1" dirty="0"/>
              <a:t>Ask</a:t>
            </a:r>
            <a:r>
              <a:rPr lang="en-US" dirty="0"/>
              <a:t>: "What happens in an organisation when </a:t>
            </a:r>
            <a:r>
              <a:rPr lang="en-US" b="1" dirty="0"/>
              <a:t>decision filter </a:t>
            </a:r>
            <a:r>
              <a:rPr lang="en-US" dirty="0"/>
              <a:t>is weak or absent?"</a:t>
            </a:r>
          </a:p>
          <a:p>
            <a:endParaRPr lang="en-US" dirty="0"/>
          </a:p>
          <a:p>
            <a:r>
              <a:rPr lang="en-US" dirty="0"/>
              <a:t>Listen for: priorities shaped by urgency, by functional interests, or by whoever has the strongest influence in the room; an initiative that passes the test of fit while nobody asks what it contributes to the defined success.</a:t>
            </a:r>
          </a:p>
          <a:p>
            <a:endParaRPr lang="en-US" dirty="0"/>
          </a:p>
          <a:p>
            <a:r>
              <a:rPr lang="en-US" b="1" dirty="0"/>
              <a:t>8. Bridge to Execution Coherence.</a:t>
            </a:r>
          </a:p>
          <a:p>
            <a:r>
              <a:rPr lang="en-US" dirty="0"/>
              <a:t>Say: "The filter governs single choices. The next function asks whether the work of all the functions adds 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2.1.3 — EXECUTION COHERENCE</a:t>
            </a:r>
          </a:p>
          <a:p>
            <a:endParaRPr lang="en-US" dirty="0"/>
          </a:p>
          <a:p>
            <a:r>
              <a:rPr lang="en-US" b="1" dirty="0"/>
              <a:t>HOW TO TEACH IT:</a:t>
            </a:r>
          </a:p>
          <a:p>
            <a:endParaRPr lang="en-US" dirty="0"/>
          </a:p>
          <a:p>
            <a:r>
              <a:rPr lang="en-US" b="1" dirty="0"/>
              <a:t>1. Say why it matters.</a:t>
            </a:r>
          </a:p>
          <a:p>
            <a:r>
              <a:rPr lang="en-US" b="1" dirty="0"/>
              <a:t>Say: </a:t>
            </a:r>
            <a:r>
              <a:rPr lang="en-US" dirty="0"/>
              <a:t>"Strategy is delivered through many functions, teams and decisions acting together. </a:t>
            </a:r>
          </a:p>
          <a:p>
            <a:r>
              <a:rPr lang="en-US" dirty="0"/>
              <a:t>Each part can perform well individually while the organisation still fails to produce the intended enterprise outcome. Coherence ensures those contributions connect."</a:t>
            </a:r>
          </a:p>
          <a:p>
            <a:endParaRPr lang="en-US" dirty="0"/>
          </a:p>
          <a:p>
            <a:r>
              <a:rPr lang="en-US" b="1" dirty="0"/>
              <a:t>2. Give the role of the Strategy Intent.</a:t>
            </a:r>
          </a:p>
          <a:p>
            <a:r>
              <a:rPr lang="en-US" b="1" dirty="0"/>
              <a:t>Say: </a:t>
            </a:r>
            <a:r>
              <a:rPr lang="en-US" dirty="0"/>
              <a:t>"The Strategy Intent provides the common strategic anchor that enables functions to interpret their mandates and choices in relation to the enterprise ambition."</a:t>
            </a:r>
          </a:p>
          <a:p>
            <a:endParaRPr lang="en-US" dirty="0"/>
          </a:p>
          <a:p>
            <a:r>
              <a:rPr lang="en-US" b="1" dirty="0"/>
              <a:t>3. Give the role of SiP.</a:t>
            </a:r>
          </a:p>
          <a:p>
            <a:r>
              <a:rPr lang="en-US" b="1" dirty="0"/>
              <a:t>Say: </a:t>
            </a:r>
            <a:r>
              <a:rPr lang="en-US" dirty="0"/>
              <a:t>"SiP shows what those combined contributions must produce across customer value, operational capability, people and culture, and enterprise value. </a:t>
            </a:r>
          </a:p>
          <a:p>
            <a:r>
              <a:rPr lang="en-US" dirty="0"/>
              <a:t>It allows functions to see beyond their individual outputs to the organisational outcome they collectively enable."</a:t>
            </a:r>
          </a:p>
          <a:p>
            <a:endParaRPr lang="en-US" dirty="0"/>
          </a:p>
          <a:p>
            <a:r>
              <a:rPr lang="en-US" b="1" dirty="0"/>
              <a:t>4. Make it real.</a:t>
            </a:r>
          </a:p>
          <a:p>
            <a:r>
              <a:rPr lang="en-US" b="1" dirty="0"/>
              <a:t>Ask: </a:t>
            </a:r>
            <a:r>
              <a:rPr lang="en-US" dirty="0"/>
              <a:t>"Where in your organisation does every function meet its own targets while the enterprise outcome falls short?"</a:t>
            </a:r>
          </a:p>
          <a:p>
            <a:r>
              <a:rPr lang="en-US" dirty="0"/>
              <a:t>Take two or three answers.</a:t>
            </a:r>
          </a:p>
          <a:p>
            <a:endParaRPr lang="en-US" dirty="0"/>
          </a:p>
          <a:p>
            <a:r>
              <a:rPr lang="en-US" b="1" dirty="0"/>
              <a:t>5. Deepen.</a:t>
            </a:r>
          </a:p>
          <a:p>
            <a:r>
              <a:rPr lang="en-US" b="1" dirty="0"/>
              <a:t>Say: </a:t>
            </a:r>
            <a:r>
              <a:rPr lang="en-US" dirty="0"/>
              <a:t>"Organisations that want to keep their core commitments coherent must resist fragmenting the practice of those commitments into locally adapted, individually customised forms that gradually lose their connection to the common centre."</a:t>
            </a:r>
          </a:p>
          <a:p>
            <a:r>
              <a:rPr lang="en-US" dirty="0"/>
              <a:t>(Insight: The common centre. Source: Journal, 24 March 2026 — Professional Insights)</a:t>
            </a:r>
          </a:p>
          <a:p>
            <a:endParaRPr lang="en-US" dirty="0"/>
          </a:p>
          <a:p>
            <a:r>
              <a:rPr lang="en-US" b="1" dirty="0"/>
              <a:t>6. Ask what happens when execution coherence is weak.</a:t>
            </a:r>
          </a:p>
          <a:p>
            <a:r>
              <a:rPr lang="en-US" b="1" dirty="0"/>
              <a:t>Ask: </a:t>
            </a:r>
            <a:r>
              <a:rPr lang="en-US" dirty="0"/>
              <a:t>"What happens in an organisation when </a:t>
            </a:r>
            <a:r>
              <a:rPr lang="en-US" b="1" dirty="0"/>
              <a:t>execution coherence </a:t>
            </a:r>
            <a:r>
              <a:rPr lang="en-US" dirty="0"/>
              <a:t>is weak or absent?"</a:t>
            </a:r>
          </a:p>
          <a:p>
            <a:endParaRPr lang="en-US" dirty="0"/>
          </a:p>
          <a:p>
            <a:r>
              <a:rPr lang="en-US" b="1" dirty="0"/>
              <a:t>Listen for: </a:t>
            </a:r>
            <a:r>
              <a:rPr lang="en-US" dirty="0"/>
              <a:t>each function performing well against its own measures while the enterprise outcome is missed; functions losing sight of the organisational outcome they collectively enable; contributions that do not connect at the boundaries between functions.</a:t>
            </a:r>
          </a:p>
          <a:p>
            <a:endParaRPr lang="en-US" dirty="0"/>
          </a:p>
          <a:p>
            <a:r>
              <a:rPr lang="en-US" b="1" dirty="0"/>
              <a:t>7. Point forward and bridge.</a:t>
            </a:r>
          </a:p>
          <a:p>
            <a:r>
              <a:rPr lang="en-US" b="1" dirty="0"/>
              <a:t>Say: </a:t>
            </a:r>
            <a:r>
              <a:rPr lang="en-US" dirty="0"/>
              <a:t>"Section 5 puts this function to work: each of you defines what one executive role must contribute so that the agreed Success in Practice becomes real."</a:t>
            </a:r>
          </a:p>
          <a:p>
            <a:endParaRPr lang="en-US" dirty="0"/>
          </a:p>
          <a:p>
            <a:r>
              <a:rPr lang="en-US" b="1" dirty="0"/>
              <a:t>ON THE PORTAL, AFTER THE TEACHING:</a:t>
            </a:r>
          </a:p>
          <a:p>
            <a:r>
              <a:rPr lang="en-US" dirty="0"/>
              <a:t>Participants write the 2.1 reflection: "Which of the three functions is weakest in your organisation today? What happens as a result?"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SECTION 2 REFLECTIONS</a:t>
            </a:r>
          </a:p>
          <a:p>
            <a:endParaRPr lang="en-US" dirty="0"/>
          </a:p>
          <a:p>
            <a:r>
              <a:rPr lang="en-US" b="1" dirty="0"/>
              <a:t>HOW TO USE THIS SLIDE:</a:t>
            </a:r>
          </a:p>
          <a:p>
            <a:endParaRPr lang="en-US" dirty="0"/>
          </a:p>
          <a:p>
            <a:r>
              <a:rPr lang="en-US" b="1" dirty="0"/>
              <a:t>1. Show the slide and read the prompt aloud.</a:t>
            </a:r>
          </a:p>
          <a:p>
            <a:r>
              <a:rPr lang="en-US" dirty="0"/>
              <a:t>2.1 Reflection — Three Functions: "Which of the three functions is weakest in your organisation today? What happens as a result?"</a:t>
            </a:r>
          </a:p>
          <a:p>
            <a:endParaRPr lang="en-US" dirty="0"/>
          </a:p>
          <a:p>
            <a:r>
              <a:rPr lang="en-US" b="1" dirty="0"/>
              <a:t>2. Say what the reflection is for.</a:t>
            </a:r>
          </a:p>
          <a:p>
            <a:r>
              <a:rPr lang="en-US" dirty="0"/>
              <a:t>Point learners to the portal section that they will be required to complete with as much depth as possible. The reflections build the learning portfolio they receive at the end of the programme.</a:t>
            </a:r>
          </a:p>
          <a:p>
            <a:r>
              <a:rPr lang="en-US" dirty="0"/>
              <a:t>Say: "You write this reflection on the portal after the teaching, with as much depth as you can."</a:t>
            </a:r>
          </a:p>
          <a:p>
            <a:endParaRPr lang="en-US" dirty="0"/>
          </a:p>
          <a:p>
            <a:r>
              <a:rPr lang="en-US" b="1" dirty="0"/>
              <a:t>3. Set the standard.</a:t>
            </a:r>
          </a:p>
          <a:p>
            <a:r>
              <a:rPr lang="en-US" dirty="0"/>
              <a:t>Say: "Name one function only: Strategic Alignment, Decision Filter or Execution Coherence. </a:t>
            </a:r>
          </a:p>
          <a:p>
            <a:r>
              <a:rPr lang="en-US" dirty="0"/>
              <a:t>Describe a real situation in which the weakness showed: a decision, a meeting, a hand-off between functions. </a:t>
            </a:r>
          </a:p>
          <a:p>
            <a:r>
              <a:rPr lang="en-US" dirty="0"/>
              <a:t>Then give the result for the organisation."</a:t>
            </a:r>
          </a:p>
          <a:p>
            <a:endParaRPr lang="en-US" dirty="0"/>
          </a:p>
          <a:p>
            <a:r>
              <a:rPr lang="en-US" b="1" dirty="0"/>
              <a:t>4. Read the room.</a:t>
            </a:r>
          </a:p>
          <a:p>
            <a:r>
              <a:rPr lang="en-US" dirty="0"/>
              <a:t>Take a show of hands for each function and say what pattern the group shows.</a:t>
            </a:r>
          </a:p>
          <a:p>
            <a:endParaRPr lang="en-US" dirty="0"/>
          </a:p>
          <a:p>
            <a:r>
              <a:rPr lang="en-US" b="1" dirty="0"/>
              <a:t>5. Bridge to Section 3.</a:t>
            </a:r>
          </a:p>
          <a:p>
            <a:r>
              <a:rPr lang="en-US" b="1" dirty="0"/>
              <a:t>Say: </a:t>
            </a:r>
            <a:r>
              <a:rPr lang="en-US" dirty="0"/>
              <a:t>"We know what the Strategy Intent and SiP are for. </a:t>
            </a:r>
          </a:p>
          <a:p>
            <a:endParaRPr lang="en-US" dirty="0"/>
          </a:p>
          <a:p>
            <a:r>
              <a:rPr lang="en-US" dirty="0"/>
              <a:t>Section 3 looks closely at the SiP itself: what success looks like inside each domain, and what happens when one domain dominates the picture."</a:t>
            </a:r>
          </a:p>
          <a:p>
            <a:endParaRPr lang="en-US" dirty="0"/>
          </a:p>
          <a:p>
            <a:r>
              <a:rPr lang="en-US" b="1" dirty="0"/>
              <a:t>ON THE PORTAL, AFTER THE TEACHING:</a:t>
            </a:r>
          </a:p>
          <a:p>
            <a:r>
              <a:rPr lang="en-US" dirty="0"/>
              <a:t>Participants write the reflection in Section 2 of the participant file: 2.1 Reflection — Three Functions.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3 · EXTRAPOLATING — WHERE</a:t>
            </a:r>
          </a:p>
          <a:p>
            <a:endParaRPr lang="en-US" dirty="0"/>
          </a:p>
          <a:p>
            <a:r>
              <a:rPr lang="en-US" b="1" dirty="0"/>
              <a:t>HOW TO OPEN THE SECTION:</a:t>
            </a:r>
          </a:p>
          <a:p>
            <a:endParaRPr lang="en-US" dirty="0"/>
          </a:p>
          <a:p>
            <a:r>
              <a:rPr lang="en-US" b="1" dirty="0"/>
              <a:t>1. State the section intent.</a:t>
            </a:r>
          </a:p>
          <a:p>
            <a:r>
              <a:rPr lang="en-US" dirty="0"/>
              <a:t>Say: "We have established that Success in Practice answers a central question: If our Strategy Intent is successful, what should we see in practice? This section takes that question deeper."</a:t>
            </a:r>
          </a:p>
          <a:p>
            <a:endParaRPr lang="en-US" dirty="0"/>
          </a:p>
          <a:p>
            <a:r>
              <a:rPr lang="en-US" b="1" dirty="0"/>
              <a:t>SECTION LEARNING OUTCOMES:</a:t>
            </a:r>
          </a:p>
          <a:p>
            <a:r>
              <a:rPr lang="en-US" dirty="0"/>
              <a:t>1. Use observable indicators to examine what success looks like within each of the four </a:t>
            </a:r>
            <a:r>
              <a:rPr lang="en-US" dirty="0" err="1"/>
              <a:t>SiP</a:t>
            </a:r>
            <a:r>
              <a:rPr lang="en-US" dirty="0"/>
              <a:t> domains.</a:t>
            </a:r>
          </a:p>
          <a:p>
            <a:r>
              <a:rPr lang="en-US" dirty="0"/>
              <a:t>2. Distinguish between conditions that demonstrate success and signals that those conditions are absent.</a:t>
            </a:r>
          </a:p>
          <a:p>
            <a:endParaRPr lang="en-US" dirty="0"/>
          </a:p>
          <a:p>
            <a:r>
              <a:rPr lang="en-US" b="1" dirty="0"/>
              <a:t>2. Say why broad statements fall short.</a:t>
            </a:r>
          </a:p>
          <a:p>
            <a:r>
              <a:rPr lang="en-US" dirty="0"/>
              <a:t>Say: "Each of the four SiP domains covers an important part of organisational reality.</a:t>
            </a:r>
          </a:p>
          <a:p>
            <a:r>
              <a:rPr lang="en-US" dirty="0"/>
              <a:t>Leaders need to be able to recognise what success would actually look like when it begins to show up in practice."</a:t>
            </a:r>
          </a:p>
          <a:p>
            <a:endParaRPr lang="en-US" dirty="0"/>
          </a:p>
          <a:p>
            <a:r>
              <a:rPr lang="en-US" b="1" dirty="0"/>
              <a:t>3. Introduce the observable indicators.</a:t>
            </a:r>
          </a:p>
          <a:p>
            <a:r>
              <a:rPr lang="en-US" b="1" dirty="0"/>
              <a:t>Say: "</a:t>
            </a:r>
            <a:r>
              <a:rPr lang="en-US" dirty="0"/>
              <a:t>This is where observable indicators become useful. </a:t>
            </a:r>
          </a:p>
          <a:p>
            <a:r>
              <a:rPr lang="en-US" dirty="0"/>
              <a:t>The indicators help us examine each SiP domain more deeply. </a:t>
            </a:r>
          </a:p>
          <a:p>
            <a:r>
              <a:rPr lang="en-US" dirty="0"/>
              <a:t>They show the kinds of conditions we would expect to observe when that aspect of the Strategy Intent is working, as well as the signals that may indicate something is missing."</a:t>
            </a:r>
          </a:p>
          <a:p>
            <a:endParaRPr lang="en-US" dirty="0"/>
          </a:p>
          <a:p>
            <a:r>
              <a:rPr lang="en-US" b="1" dirty="0"/>
              <a:t>4. Introduce the second discipline: balance.</a:t>
            </a:r>
          </a:p>
          <a:p>
            <a:r>
              <a:rPr lang="en-US" dirty="0"/>
              <a:t>Say: "There is also a second discipline: balance across the four domains. </a:t>
            </a:r>
          </a:p>
          <a:p>
            <a:r>
              <a:rPr lang="en-US" dirty="0"/>
              <a:t>A leadership team can develop a strong picture of customer success while overlooking the operational capability required to deliver it. </a:t>
            </a:r>
          </a:p>
          <a:p>
            <a:r>
              <a:rPr lang="en-US" dirty="0"/>
              <a:t>It can describe an enabling culture without connecting that culture to enterprise value. </a:t>
            </a:r>
          </a:p>
          <a:p>
            <a:r>
              <a:rPr lang="en-US" dirty="0"/>
              <a:t>It can define strong financial outcomes without describing the customer, operational and people conditions required to produce them."</a:t>
            </a:r>
          </a:p>
          <a:p>
            <a:endParaRPr lang="en-US" dirty="0"/>
          </a:p>
          <a:p>
            <a:r>
              <a:rPr lang="en-US" b="1" dirty="0"/>
              <a:t>5. Name the two disciplines.</a:t>
            </a:r>
          </a:p>
          <a:p>
            <a:r>
              <a:rPr lang="en-US" dirty="0"/>
              <a:t>Say: "This section therefore develops two disciplines: Depth within each SiP domain. Balance across all four SiP domains."</a:t>
            </a:r>
          </a:p>
          <a:p>
            <a:r>
              <a:rPr lang="en-US" dirty="0"/>
              <a:t>Tell participants: both disciplines return in 4.3, where each group tests its own Success in Practice.</a:t>
            </a:r>
          </a:p>
          <a:p>
            <a:endParaRPr lang="en-US" dirty="0"/>
          </a:p>
          <a:p>
            <a:r>
              <a:rPr lang="en-US" b="1" dirty="0"/>
              <a:t>7. Say how the section runs.</a:t>
            </a:r>
          </a:p>
          <a:p>
            <a:r>
              <a:rPr lang="en-US" dirty="0"/>
              <a:t>Say: "We begin by examining the observable indicators within each domain. </a:t>
            </a:r>
          </a:p>
          <a:p>
            <a:r>
              <a:rPr lang="en-US" dirty="0"/>
              <a:t>We then examine what happens when one domain becomes dominant and begins to distort the organisation's overall picture of success."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3.1 — SiP OBSERVABLE INDICATORS (4 DOMAINS)</a:t>
            </a:r>
          </a:p>
          <a:p>
            <a:endParaRPr lang="en-US" dirty="0"/>
          </a:p>
          <a:p>
            <a:r>
              <a:rPr lang="en-US" b="1" dirty="0"/>
              <a:t>HOW TO TEACH IT:</a:t>
            </a:r>
          </a:p>
          <a:p>
            <a:endParaRPr lang="en-US" dirty="0"/>
          </a:p>
          <a:p>
            <a:r>
              <a:rPr lang="en-US" b="1" dirty="0"/>
              <a:t>1. Say what an observable indicator is for.</a:t>
            </a:r>
          </a:p>
          <a:p>
            <a:r>
              <a:rPr lang="en-US" b="1" dirty="0"/>
              <a:t>Say: </a:t>
            </a:r>
            <a:r>
              <a:rPr lang="en-US" dirty="0"/>
              <a:t>"Each SiP domain is examined through a set of observable indicators. </a:t>
            </a:r>
          </a:p>
          <a:p>
            <a:r>
              <a:rPr lang="en-US" dirty="0"/>
              <a:t>These indicators help leaders move from a broad description of success to the specific conditions through which that success would become visible in the organisation."</a:t>
            </a:r>
          </a:p>
          <a:p>
            <a:endParaRPr lang="en-US" dirty="0"/>
          </a:p>
          <a:p>
            <a:r>
              <a:rPr lang="en-US" b="1" dirty="0"/>
              <a:t>2. Explain the two positions.</a:t>
            </a:r>
          </a:p>
          <a:p>
            <a:r>
              <a:rPr lang="en-US" b="1" dirty="0"/>
              <a:t>Say: </a:t>
            </a:r>
            <a:r>
              <a:rPr lang="en-US" dirty="0"/>
              <a:t>"For every indicator, we examine two positions."</a:t>
            </a:r>
          </a:p>
          <a:p>
            <a:r>
              <a:rPr lang="en-US" b="1" dirty="0"/>
              <a:t>Say: </a:t>
            </a:r>
            <a:r>
              <a:rPr lang="en-US" dirty="0"/>
              <a:t>"When Working describes what we would expect to observe when that aspect of the SiP is functioning effectively."</a:t>
            </a:r>
          </a:p>
          <a:p>
            <a:r>
              <a:rPr lang="en-US" b="1" dirty="0"/>
              <a:t>Say: </a:t>
            </a:r>
            <a:r>
              <a:rPr lang="en-US" dirty="0"/>
              <a:t>"Signal of Absence describes what may become visible when that condition is weak, missing or disconnected from the Strategy Intent."</a:t>
            </a:r>
          </a:p>
          <a:p>
            <a:endParaRPr lang="en-US" dirty="0"/>
          </a:p>
          <a:p>
            <a:r>
              <a:rPr lang="en-US" b="1" dirty="0"/>
              <a:t>3. Say how the two positions are used.</a:t>
            </a:r>
          </a:p>
          <a:p>
            <a:r>
              <a:rPr lang="en-US" b="1" dirty="0"/>
              <a:t>Say: </a:t>
            </a:r>
            <a:r>
              <a:rPr lang="en-US" dirty="0"/>
              <a:t>"Use both positions to deepen the discussion. Sometimes the absence of a condition provides the clearest evidence of why it matters."</a:t>
            </a:r>
          </a:p>
          <a:p>
            <a:endParaRPr lang="en-US" dirty="0"/>
          </a:p>
          <a:p>
            <a:r>
              <a:rPr lang="en-US" b="1" dirty="0"/>
              <a:t>4. Place the indicators correctly.</a:t>
            </a:r>
          </a:p>
          <a:p>
            <a:r>
              <a:rPr lang="en-US" b="1" dirty="0"/>
              <a:t>Say: </a:t>
            </a:r>
            <a:r>
              <a:rPr lang="en-US" dirty="0"/>
              <a:t>"The indicators sit alongside the organisation's SiP. </a:t>
            </a:r>
          </a:p>
          <a:p>
            <a:r>
              <a:rPr lang="en-US" dirty="0"/>
              <a:t>They help leaders test, deepen and make observable the success they have defined."</a:t>
            </a:r>
          </a:p>
          <a:p>
            <a:endParaRPr lang="en-US" dirty="0"/>
          </a:p>
          <a:p>
            <a:r>
              <a:rPr lang="en-US" b="1" dirty="0"/>
              <a:t>5. Name the four domains and their indicators.</a:t>
            </a:r>
          </a:p>
          <a:p>
            <a:r>
              <a:rPr lang="en-US" dirty="0"/>
              <a:t>The slide shows the indicators in short form. Give the full names:</a:t>
            </a:r>
          </a:p>
          <a:p>
            <a:endParaRPr lang="en-US" dirty="0"/>
          </a:p>
          <a:p>
            <a:r>
              <a:rPr lang="en-US" dirty="0"/>
              <a:t>- D1 · Customer Experience &amp; Value: C — Connection Value · A — Access Value · R — Results Value · E — Effort Value</a:t>
            </a:r>
          </a:p>
          <a:p>
            <a:endParaRPr lang="en-US" dirty="0"/>
          </a:p>
          <a:p>
            <a:r>
              <a:rPr lang="en-US" dirty="0"/>
              <a:t>- D2 · Operational Capability: Priority Clarity · Decision Flow · Cross-Functional Coordination · Delivery Rhythm</a:t>
            </a:r>
          </a:p>
          <a:p>
            <a:endParaRPr lang="en-US" dirty="0"/>
          </a:p>
          <a:p>
            <a:r>
              <a:rPr lang="en-US" dirty="0"/>
              <a:t>- D3 · People &amp; Culture: Cross-Boundary Collaboration · Ownership Culture · Strategic Alignment · Dialogue Quality</a:t>
            </a:r>
          </a:p>
          <a:p>
            <a:endParaRPr lang="en-US" dirty="0"/>
          </a:p>
          <a:p>
            <a:r>
              <a:rPr lang="en-US" dirty="0"/>
              <a:t>- D4 · Enterprise Value: Growth Trajectory · Profitability Quality · Market Position · Value Durability</a:t>
            </a:r>
          </a:p>
          <a:p>
            <a:endParaRPr lang="en-US" dirty="0"/>
          </a:p>
          <a:p>
            <a:r>
              <a:rPr lang="en-US" dirty="0"/>
              <a:t>Say: "No domain is a single metric."</a:t>
            </a:r>
          </a:p>
          <a:p>
            <a:endParaRPr lang="en-US" dirty="0"/>
          </a:p>
          <a:p>
            <a:r>
              <a:rPr lang="en-US" b="1" dirty="0"/>
              <a:t>6. Bridge to the next slide.</a:t>
            </a:r>
          </a:p>
          <a:p>
            <a:r>
              <a:rPr lang="en-US" dirty="0"/>
              <a:t>Say: "The next four slides take one domain each. For every indicator we look at When Working, then at the Signal of Absence."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3.1 — SiP OBSERVABLE INDICATORS · D1 · CUSTOMER EXPERIENCE &amp; VALUE</a:t>
            </a:r>
          </a:p>
          <a:p>
            <a:endParaRPr lang="en-US" dirty="0"/>
          </a:p>
          <a:p>
            <a:r>
              <a:rPr lang="en-US" b="1" dirty="0"/>
              <a:t>HOW TO TEACH IT:</a:t>
            </a:r>
          </a:p>
          <a:p>
            <a:endParaRPr lang="en-US" dirty="0"/>
          </a:p>
          <a:p>
            <a:r>
              <a:rPr lang="en-US" b="1" dirty="0"/>
              <a:t>1. Introduce the domain.</a:t>
            </a:r>
          </a:p>
          <a:p>
            <a:r>
              <a:rPr lang="en-US" b="1" dirty="0"/>
              <a:t>Say</a:t>
            </a:r>
            <a:r>
              <a:rPr lang="en-US" dirty="0"/>
              <a:t>: "This domain is Customer Experience &amp; Value. </a:t>
            </a:r>
          </a:p>
          <a:p>
            <a:r>
              <a:rPr lang="en-US" dirty="0"/>
              <a:t>Customers encounter the organisation through People, Processes, Products and Platforms, and experience four forms of value: the CARE Model."</a:t>
            </a:r>
          </a:p>
          <a:p>
            <a:endParaRPr lang="en-US" dirty="0"/>
          </a:p>
          <a:p>
            <a:r>
              <a:rPr lang="en-US" b="1" dirty="0"/>
              <a:t>Add: </a:t>
            </a:r>
            <a:r>
              <a:rPr lang="en-US" dirty="0"/>
              <a:t>"Each of the four is the source of one form of value. People: Connection Value. Platforms: Access Value. Products: Results Value. Processes: Effort Value.“</a:t>
            </a:r>
          </a:p>
          <a:p>
            <a:endParaRPr lang="en-US" dirty="0"/>
          </a:p>
          <a:p>
            <a:r>
              <a:rPr lang="en-US" b="1" dirty="0"/>
              <a:t>For each domain, teach the positive indicator and ask for the results of the missing indicator.</a:t>
            </a:r>
          </a:p>
          <a:p>
            <a:endParaRPr lang="en-US" dirty="0"/>
          </a:p>
          <a:p>
            <a:r>
              <a:rPr lang="en-US" b="1" dirty="0"/>
              <a:t>2. C — Connection Value.</a:t>
            </a:r>
          </a:p>
          <a:p>
            <a:r>
              <a:rPr lang="en-US" dirty="0"/>
              <a:t>When Working, say: "Customers feel understood, respected, and supported. </a:t>
            </a:r>
          </a:p>
          <a:p>
            <a:r>
              <a:rPr lang="en-US" dirty="0"/>
              <a:t>The people representing the organisation genuinely care about their problem."</a:t>
            </a:r>
          </a:p>
          <a:p>
            <a:endParaRPr lang="en-US" dirty="0"/>
          </a:p>
          <a:p>
            <a:r>
              <a:rPr lang="en-US" b="1" dirty="0"/>
              <a:t>Add: </a:t>
            </a:r>
            <a:r>
              <a:rPr lang="en-US" dirty="0"/>
              <a:t>"Customers trust that the care extends beyond the transaction."</a:t>
            </a:r>
          </a:p>
          <a:p>
            <a:endParaRPr lang="en-US" dirty="0"/>
          </a:p>
          <a:p>
            <a:r>
              <a:rPr lang="en-US" b="1" dirty="0"/>
              <a:t>Signal of Absence, ask and listen for</a:t>
            </a:r>
            <a:r>
              <a:rPr lang="en-US" dirty="0"/>
              <a:t>: "Customers describe interactions as transactional, impersonal, or difficult. They feel processed."</a:t>
            </a:r>
          </a:p>
          <a:p>
            <a:endParaRPr lang="en-US" dirty="0"/>
          </a:p>
          <a:p>
            <a:r>
              <a:rPr lang="en-US" b="1" dirty="0"/>
              <a:t>3. A — Access Value.</a:t>
            </a:r>
          </a:p>
          <a:p>
            <a:r>
              <a:rPr lang="en-US" b="1" dirty="0"/>
              <a:t>When Working, say: </a:t>
            </a:r>
            <a:r>
              <a:rPr lang="en-US" dirty="0"/>
              <a:t>"Customers can interact quickly, easily, and reliably through their preferred channels.</a:t>
            </a:r>
          </a:p>
          <a:p>
            <a:r>
              <a:rPr lang="en-US" dirty="0"/>
              <a:t>Availability and responsiveness are consistent."</a:t>
            </a:r>
          </a:p>
          <a:p>
            <a:endParaRPr lang="en-US" dirty="0"/>
          </a:p>
          <a:p>
            <a:r>
              <a:rPr lang="en-US" b="1" dirty="0"/>
              <a:t>Signal of Absence, ask and listen for</a:t>
            </a:r>
            <a:r>
              <a:rPr lang="en-US" dirty="0"/>
              <a:t>: "Customers describe friction, unavailability, or inconsistency. Digital and service channels feel designed for the organisation's convenience."</a:t>
            </a:r>
          </a:p>
          <a:p>
            <a:endParaRPr lang="en-US" dirty="0"/>
          </a:p>
          <a:p>
            <a:r>
              <a:rPr lang="en-US" b="1" dirty="0"/>
              <a:t>Deepen, say: </a:t>
            </a:r>
            <a:r>
              <a:rPr lang="en-US" dirty="0"/>
              <a:t>"Organisations that want to serve their stakeholders consistently cannot leave that service to individual discretion. </a:t>
            </a:r>
          </a:p>
          <a:p>
            <a:r>
              <a:rPr lang="en-US" dirty="0"/>
              <a:t>The most reliable provision is built into the institutional rhythm and does not depend on the surplus or the mood of the current leadership."</a:t>
            </a:r>
          </a:p>
          <a:p>
            <a:r>
              <a:rPr lang="en-US" dirty="0"/>
              <a:t>(Insight: Structured into the rhythm. Source: Journal, 25 March 2026 — Professional Insights)</a:t>
            </a:r>
          </a:p>
          <a:p>
            <a:endParaRPr lang="en-US" dirty="0"/>
          </a:p>
          <a:p>
            <a:r>
              <a:rPr lang="en-US" b="1" dirty="0"/>
              <a:t>4. R — Results Value.</a:t>
            </a:r>
          </a:p>
          <a:p>
            <a:r>
              <a:rPr lang="en-US" b="1" dirty="0"/>
              <a:t>When Working, say: </a:t>
            </a:r>
            <a:r>
              <a:rPr lang="en-US" dirty="0"/>
              <a:t>"Customers receive solutions that actually solve their problems and improve their outcomes. </a:t>
            </a:r>
          </a:p>
          <a:p>
            <a:r>
              <a:rPr lang="en-US" dirty="0"/>
              <a:t>Performance is reliable; the product does what it promises."</a:t>
            </a:r>
          </a:p>
          <a:p>
            <a:endParaRPr lang="en-US" dirty="0"/>
          </a:p>
          <a:p>
            <a:r>
              <a:rPr lang="en-US" b="1" dirty="0"/>
              <a:t>Signal of Absence, ask and listen for</a:t>
            </a:r>
            <a:r>
              <a:rPr lang="en-US" dirty="0"/>
              <a:t>: "Customers report that the offering underdelivers against its stated value. </a:t>
            </a:r>
          </a:p>
          <a:p>
            <a:r>
              <a:rPr lang="en-US" dirty="0"/>
              <a:t>Complaints cluster around gaps between promise and performance."</a:t>
            </a:r>
          </a:p>
          <a:p>
            <a:endParaRPr lang="en-US" dirty="0"/>
          </a:p>
          <a:p>
            <a:r>
              <a:rPr lang="en-US" b="1" dirty="0"/>
              <a:t>5. E — Effort Value.</a:t>
            </a:r>
          </a:p>
          <a:p>
            <a:r>
              <a:rPr lang="en-US" b="1" dirty="0"/>
              <a:t>When Working, say: </a:t>
            </a:r>
            <a:r>
              <a:rPr lang="en-US" dirty="0"/>
              <a:t>"Customers experience simple, predictable processes that require minimal effort. </a:t>
            </a:r>
          </a:p>
          <a:p>
            <a:r>
              <a:rPr lang="en-US" dirty="0"/>
              <a:t>Complexity is absorbed by the organisation."</a:t>
            </a:r>
          </a:p>
          <a:p>
            <a:endParaRPr lang="en-US" dirty="0"/>
          </a:p>
          <a:p>
            <a:r>
              <a:rPr lang="en-US" dirty="0"/>
              <a:t>Add: "No complexity is passed to the customer."</a:t>
            </a:r>
          </a:p>
          <a:p>
            <a:endParaRPr lang="en-US" dirty="0"/>
          </a:p>
          <a:p>
            <a:r>
              <a:rPr lang="en-US" b="1" dirty="0"/>
              <a:t>Signal of Absence, ask and listen for</a:t>
            </a:r>
            <a:r>
              <a:rPr lang="en-US" dirty="0"/>
              <a:t>: "Customers describe the experience as complicated, slow, or requiring too many steps. </a:t>
            </a:r>
          </a:p>
          <a:p>
            <a:r>
              <a:rPr lang="en-US" dirty="0"/>
              <a:t>They feel they are doing the organisation's job for it."</a:t>
            </a:r>
          </a:p>
          <a:p>
            <a:endParaRPr lang="en-US" dirty="0"/>
          </a:p>
          <a:p>
            <a:r>
              <a:rPr lang="en-US" b="1" dirty="0"/>
              <a:t>Stay longest here. </a:t>
            </a:r>
            <a:r>
              <a:rPr lang="en-US" dirty="0"/>
              <a:t>Effort Value asks who carries the complexity: the customer or the organisation.</a:t>
            </a:r>
          </a:p>
          <a:p>
            <a:endParaRPr lang="en-US" dirty="0"/>
          </a:p>
          <a:p>
            <a:r>
              <a:rPr lang="en-US" b="1" dirty="0"/>
              <a:t>Ask: </a:t>
            </a:r>
            <a:r>
              <a:rPr lang="en-US" dirty="0"/>
              <a:t>"Where does your customer carry effort or complexity that the organisation should absorb?"</a:t>
            </a:r>
          </a:p>
          <a:p>
            <a:endParaRPr lang="en-US" dirty="0"/>
          </a:p>
          <a:p>
            <a:r>
              <a:rPr lang="en-US" b="1" dirty="0"/>
              <a:t>6. Ask the room what it recognises.</a:t>
            </a:r>
          </a:p>
          <a:p>
            <a:r>
              <a:rPr lang="en-US" b="1" dirty="0"/>
              <a:t>Ask</a:t>
            </a:r>
            <a:r>
              <a:rPr lang="en-US" dirty="0"/>
              <a:t>: "Which of the four forms of value would your customers say they receive from you most reliably? Which would they name last?"</a:t>
            </a:r>
          </a:p>
          <a:p>
            <a:r>
              <a:rPr lang="en-US" b="1" dirty="0"/>
              <a:t>Ask</a:t>
            </a:r>
            <a:r>
              <a:rPr lang="en-US" dirty="0"/>
              <a:t>: "Which of these signals of absence do you already hear in your customers’ complaints?"</a:t>
            </a:r>
          </a:p>
          <a:p>
            <a:endParaRPr lang="en-US" dirty="0"/>
          </a:p>
          <a:p>
            <a:r>
              <a:rPr lang="en-US" dirty="0"/>
              <a:t>Take two or three answers. Keep the discussion on what can be observed: what a customer, an employee or a board member would see or hear.</a:t>
            </a:r>
          </a:p>
          <a:p>
            <a:endParaRPr lang="en-US" dirty="0"/>
          </a:p>
          <a:p>
            <a:r>
              <a:rPr lang="en-US" b="1" dirty="0"/>
              <a:t>7. Link the domain to Section 4.</a:t>
            </a:r>
          </a:p>
          <a:p>
            <a:r>
              <a:rPr lang="en-US" dirty="0"/>
              <a:t>Say: "In Section 4 your group writes one Customer Experience &amp; Value statement. </a:t>
            </a:r>
          </a:p>
          <a:p>
            <a:r>
              <a:rPr lang="en-US" dirty="0"/>
              <a:t>The lead question is: If the intent succeeds, what should customers and other value recipients see and experience? </a:t>
            </a:r>
          </a:p>
          <a:p>
            <a:r>
              <a:rPr lang="en-US" dirty="0"/>
              <a:t>These indicators deepen that discussion. The statement itself stays focused on your own Strategy Intent."</a:t>
            </a:r>
          </a:p>
          <a:p>
            <a:endParaRPr lang="en-US" dirty="0"/>
          </a:p>
          <a:p>
            <a:r>
              <a:rPr lang="en-US" b="1" dirty="0"/>
              <a:t>8. Bridge to the next domain.</a:t>
            </a:r>
          </a:p>
          <a:p>
            <a:r>
              <a:rPr lang="en-US" dirty="0"/>
              <a:t>Say: "Next: D2, how the organisation operates and executes."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3.1 — SiP OBSERVABLE INDICATORS · D2 · OPERATIONAL CAPABILITY</a:t>
            </a:r>
          </a:p>
          <a:p>
            <a:endParaRPr lang="en-US" dirty="0"/>
          </a:p>
          <a:p>
            <a:r>
              <a:rPr lang="en-US" b="1" dirty="0"/>
              <a:t>HOW TO TEACH IT:</a:t>
            </a:r>
          </a:p>
          <a:p>
            <a:endParaRPr lang="en-US" dirty="0"/>
          </a:p>
          <a:p>
            <a:r>
              <a:rPr lang="en-US" b="1" dirty="0"/>
              <a:t>1. Introduce the domain.</a:t>
            </a:r>
          </a:p>
          <a:p>
            <a:r>
              <a:rPr lang="en-US" b="1" dirty="0"/>
              <a:t>Say: "</a:t>
            </a:r>
            <a:r>
              <a:rPr lang="en-US" dirty="0"/>
              <a:t>This domain is Operational Capability &amp; Execution Rhythm. </a:t>
            </a:r>
          </a:p>
          <a:p>
            <a:r>
              <a:rPr lang="en-US" dirty="0"/>
              <a:t>It shows how the organisation operates internally when its strategy is translating into results. It is observable through four execution indicators."</a:t>
            </a:r>
          </a:p>
          <a:p>
            <a:r>
              <a:rPr lang="en-US" dirty="0"/>
              <a:t>The slide shows the When Working position of each indicator. </a:t>
            </a:r>
          </a:p>
          <a:p>
            <a:endParaRPr lang="en-US" b="1" dirty="0"/>
          </a:p>
          <a:p>
            <a:r>
              <a:rPr lang="en-US" b="1" dirty="0"/>
              <a:t>2. Priority Clarity.</a:t>
            </a:r>
          </a:p>
          <a:p>
            <a:r>
              <a:rPr lang="en-US" b="1" dirty="0"/>
              <a:t>When Working, say: </a:t>
            </a:r>
            <a:r>
              <a:rPr lang="en-US" dirty="0"/>
              <a:t>"Strategic priorities are explicit, stable, and understood across every function. </a:t>
            </a:r>
          </a:p>
          <a:p>
            <a:r>
              <a:rPr lang="en-US" dirty="0"/>
              <a:t>Leaders can state the top priorities without checking a document — and their answers match."</a:t>
            </a:r>
          </a:p>
          <a:p>
            <a:endParaRPr lang="en-US" dirty="0"/>
          </a:p>
          <a:p>
            <a:r>
              <a:rPr lang="en-US" b="1" dirty="0"/>
              <a:t>Signal of Absence, ask and listen for</a:t>
            </a:r>
            <a:r>
              <a:rPr lang="en-US" dirty="0"/>
              <a:t>: "Leaders describe different priorities. </a:t>
            </a:r>
          </a:p>
          <a:p>
            <a:r>
              <a:rPr lang="en-US" dirty="0"/>
              <a:t>Resources are spread across too many initiatives. Every function has a different view of what matters most."</a:t>
            </a:r>
          </a:p>
          <a:p>
            <a:endParaRPr lang="en-US" dirty="0"/>
          </a:p>
          <a:p>
            <a:r>
              <a:rPr lang="en-US" dirty="0"/>
              <a:t>Ask: "Could each leader in your executive team or people in the organisation state the top priorities without checking a document? </a:t>
            </a:r>
          </a:p>
          <a:p>
            <a:r>
              <a:rPr lang="en-US" dirty="0"/>
              <a:t>Would the answers match?"</a:t>
            </a:r>
          </a:p>
          <a:p>
            <a:endParaRPr lang="en-US" dirty="0"/>
          </a:p>
          <a:p>
            <a:r>
              <a:rPr lang="en-US" b="1" dirty="0"/>
              <a:t>3. Decision Flow.</a:t>
            </a:r>
          </a:p>
          <a:p>
            <a:r>
              <a:rPr lang="en-US" b="1" dirty="0"/>
              <a:t>When Working, say</a:t>
            </a:r>
            <a:r>
              <a:rPr lang="en-US" dirty="0"/>
              <a:t>: "Decisions are made at the right level, with the right information, at the right speed. </a:t>
            </a:r>
          </a:p>
          <a:p>
            <a:r>
              <a:rPr lang="en-US" dirty="0"/>
              <a:t>Authority is matched to accountability."</a:t>
            </a:r>
          </a:p>
          <a:p>
            <a:endParaRPr lang="en-US" dirty="0"/>
          </a:p>
          <a:p>
            <a:r>
              <a:rPr lang="en-US" b="1" dirty="0"/>
              <a:t>Add: </a:t>
            </a:r>
            <a:r>
              <a:rPr lang="en-US" dirty="0"/>
              <a:t>"The organisation does not bottleneck at the top.“</a:t>
            </a:r>
          </a:p>
          <a:p>
            <a:endParaRPr lang="en-ZA" b="1" dirty="0"/>
          </a:p>
          <a:p>
            <a:r>
              <a:rPr lang="en-ZA" b="1" dirty="0"/>
              <a:t>Ask </a:t>
            </a:r>
            <a:r>
              <a:rPr lang="en-ZA" dirty="0"/>
              <a:t>the difference between authority and accountability.</a:t>
            </a:r>
          </a:p>
          <a:p>
            <a:endParaRPr lang="en-ZA" dirty="0"/>
          </a:p>
          <a:p>
            <a:r>
              <a:rPr lang="en-ZA" b="1" dirty="0"/>
              <a:t>Say</a:t>
            </a:r>
            <a:r>
              <a:rPr lang="en-ZA" dirty="0"/>
              <a:t>: Authority is the right to make decisions and direct action; accountability is the obligation to answer for the results of those decisions and actions.</a:t>
            </a:r>
            <a:endParaRPr lang="en-US" dirty="0"/>
          </a:p>
          <a:p>
            <a:endParaRPr lang="en-US" dirty="0"/>
          </a:p>
          <a:p>
            <a:r>
              <a:rPr lang="en-US" b="1" dirty="0"/>
              <a:t>Signal of Absence, ask and listen for</a:t>
            </a:r>
            <a:r>
              <a:rPr lang="en-US" dirty="0"/>
              <a:t>: "Decisions queue upward and slow down. </a:t>
            </a:r>
          </a:p>
          <a:p>
            <a:r>
              <a:rPr lang="en-US" dirty="0"/>
              <a:t>Leaders feel they cannot act without approval. Strategic momentum is lost in governance process."</a:t>
            </a:r>
          </a:p>
          <a:p>
            <a:endParaRPr lang="en-US" dirty="0"/>
          </a:p>
          <a:p>
            <a:r>
              <a:rPr lang="en-US" b="1" dirty="0"/>
              <a:t>Add: </a:t>
            </a:r>
            <a:r>
              <a:rPr lang="en-US" dirty="0"/>
              <a:t>"It is the leaders below CXO level who feel they cannot act without approval."</a:t>
            </a:r>
          </a:p>
          <a:p>
            <a:endParaRPr lang="en-US" dirty="0"/>
          </a:p>
          <a:p>
            <a:r>
              <a:rPr lang="en-US" dirty="0"/>
              <a:t>Ask: "Where do decisions queue in your organisation, and who is waiting for them?"</a:t>
            </a:r>
          </a:p>
          <a:p>
            <a:endParaRPr lang="en-US" dirty="0"/>
          </a:p>
          <a:p>
            <a:r>
              <a:rPr lang="en-US" b="1" dirty="0"/>
              <a:t>4. Cross-Functional Coordination.</a:t>
            </a:r>
          </a:p>
          <a:p>
            <a:r>
              <a:rPr lang="en-US" b="1" dirty="0"/>
              <a:t>When Working, say: </a:t>
            </a:r>
            <a:r>
              <a:rPr lang="en-US" dirty="0"/>
              <a:t>"Hand-offs between functions are smooth, responsibilities are unambiguous, and execution friction is visible, named, and managed."</a:t>
            </a:r>
          </a:p>
          <a:p>
            <a:endParaRPr lang="en-US" dirty="0"/>
          </a:p>
          <a:p>
            <a:r>
              <a:rPr lang="en-US" b="1" dirty="0"/>
              <a:t>Signal of Absence, ask and listen for</a:t>
            </a:r>
            <a:r>
              <a:rPr lang="en-US" dirty="0"/>
              <a:t>: "Teams work hard in their own lanes but create problems at the boundaries.</a:t>
            </a:r>
          </a:p>
          <a:p>
            <a:r>
              <a:rPr lang="en-US" dirty="0"/>
              <a:t>Hand-offs are where value leaks. White space between functions is ungoverned."</a:t>
            </a:r>
          </a:p>
          <a:p>
            <a:endParaRPr lang="en-US" b="1" dirty="0"/>
          </a:p>
          <a:p>
            <a:r>
              <a:rPr lang="en-US" b="1" dirty="0"/>
              <a:t>Add: </a:t>
            </a:r>
            <a:r>
              <a:rPr lang="en-US" dirty="0"/>
              <a:t>"Execution friction that is silently absorbed goes unmanaged."</a:t>
            </a:r>
          </a:p>
          <a:p>
            <a:r>
              <a:rPr lang="en-US" b="1" dirty="0"/>
              <a:t>Ask: </a:t>
            </a:r>
            <a:r>
              <a:rPr lang="en-US" dirty="0"/>
              <a:t>"Which hand-off between two functions leaks the most value today?"</a:t>
            </a:r>
          </a:p>
          <a:p>
            <a:endParaRPr lang="en-US" dirty="0"/>
          </a:p>
          <a:p>
            <a:r>
              <a:rPr lang="en-US" b="1" dirty="0"/>
              <a:t>5. Delivery Rhythm.</a:t>
            </a:r>
          </a:p>
          <a:p>
            <a:r>
              <a:rPr lang="en-US" dirty="0"/>
              <a:t>When Working, say: "Teams operate to a predictable cadence — weekly, monthly, quarterly — and delivery is consistent and reliable across the enterprise."</a:t>
            </a:r>
          </a:p>
          <a:p>
            <a:endParaRPr lang="en-US" b="1" dirty="0"/>
          </a:p>
          <a:p>
            <a:r>
              <a:rPr lang="en-US" b="1" dirty="0"/>
              <a:t>Add: </a:t>
            </a:r>
            <a:r>
              <a:rPr lang="en-US" dirty="0"/>
              <a:t>"The cadence is weekly signal scanning, monthly performance reads, and quarterly strategic review."</a:t>
            </a:r>
          </a:p>
          <a:p>
            <a:endParaRPr lang="en-US" dirty="0"/>
          </a:p>
          <a:p>
            <a:r>
              <a:rPr lang="en-US" b="1" dirty="0"/>
              <a:t>Signal of Absence, ask and listen for</a:t>
            </a:r>
            <a:r>
              <a:rPr lang="en-US" dirty="0"/>
              <a:t>: "Execution is reactive and event-driven. Reviews happen only when there is a crisis."</a:t>
            </a:r>
          </a:p>
          <a:p>
            <a:endParaRPr lang="en-US" dirty="0"/>
          </a:p>
          <a:p>
            <a:r>
              <a:rPr lang="en-US" b="1" dirty="0"/>
              <a:t>Add: </a:t>
            </a:r>
            <a:r>
              <a:rPr lang="en-US" dirty="0"/>
              <a:t>"Review has not become a disciplined organisational habit, and delivery is variable and unpredictable."</a:t>
            </a:r>
          </a:p>
          <a:p>
            <a:endParaRPr lang="en-US" dirty="0"/>
          </a:p>
          <a:p>
            <a:r>
              <a:rPr lang="en-US" b="1" dirty="0"/>
              <a:t>Deepen, say</a:t>
            </a:r>
            <a:r>
              <a:rPr lang="en-US" dirty="0"/>
              <a:t>: "Sustained organisational presence requires daily tending. </a:t>
            </a:r>
          </a:p>
          <a:p>
            <a:r>
              <a:rPr lang="en-US" dirty="0"/>
              <a:t>Organisations that keep up the consistent daily act accumulate a depth of trust that occasional spectacular performance cannot replicate."</a:t>
            </a:r>
          </a:p>
          <a:p>
            <a:r>
              <a:rPr lang="en-US" dirty="0"/>
              <a:t>(Insight: Daily tending. Source: Journal, 23 February 2026 — Professional Insights: Strategy)</a:t>
            </a:r>
          </a:p>
          <a:p>
            <a:endParaRPr lang="en-US" dirty="0"/>
          </a:p>
          <a:p>
            <a:r>
              <a:rPr lang="en-US" b="1" dirty="0"/>
              <a:t>6. Ask the room what it recognises.</a:t>
            </a:r>
          </a:p>
          <a:p>
            <a:r>
              <a:rPr lang="en-US" b="1" dirty="0"/>
              <a:t>Ask: </a:t>
            </a:r>
            <a:r>
              <a:rPr lang="en-US" dirty="0"/>
              <a:t>"Which Signal of Absence in this domain do you recognise in your own organisation?"</a:t>
            </a:r>
          </a:p>
          <a:p>
            <a:r>
              <a:rPr lang="en-US" dirty="0"/>
              <a:t>Take two or three answers. Keep the discussion on what can be observed: what a customer, an employee or a board member would see or hear.</a:t>
            </a:r>
          </a:p>
          <a:p>
            <a:endParaRPr lang="en-US" dirty="0"/>
          </a:p>
          <a:p>
            <a:r>
              <a:rPr lang="en-US" b="1" dirty="0"/>
              <a:t>7. Link the domain to Section 4.</a:t>
            </a:r>
          </a:p>
          <a:p>
            <a:r>
              <a:rPr lang="en-US" dirty="0"/>
              <a:t>Say: "In Section 4 your group writes one Operational Capability &amp; Execution Rhythm statement. </a:t>
            </a:r>
          </a:p>
          <a:p>
            <a:r>
              <a:rPr lang="en-US" dirty="0"/>
              <a:t>The lead question is: If the intent succeeds, what should be visible in how the organisation operates and executes? </a:t>
            </a:r>
          </a:p>
          <a:p>
            <a:r>
              <a:rPr lang="en-US" dirty="0"/>
              <a:t>These indicators deepen that discussion. The statement itself stays focused on your own Strategy Intent."</a:t>
            </a:r>
          </a:p>
          <a:p>
            <a:endParaRPr lang="en-US" dirty="0"/>
          </a:p>
          <a:p>
            <a:r>
              <a:rPr lang="en-US" b="1" dirty="0"/>
              <a:t>8. Bridge to the next domain.</a:t>
            </a:r>
          </a:p>
          <a:p>
            <a:r>
              <a:rPr lang="en-US" dirty="0"/>
              <a:t>Say: "Next: D3, how people understand, decide and behave."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3.1 — SiP OBSERVABLE INDICATORS · D3 · PEOPLE &amp; CULTURE</a:t>
            </a:r>
          </a:p>
          <a:p>
            <a:endParaRPr lang="en-US" dirty="0"/>
          </a:p>
          <a:p>
            <a:r>
              <a:rPr lang="en-US" b="1" dirty="0"/>
              <a:t>HOW TO TEACH IT:</a:t>
            </a:r>
          </a:p>
          <a:p>
            <a:endParaRPr lang="en-US" dirty="0"/>
          </a:p>
          <a:p>
            <a:r>
              <a:rPr lang="en-US" b="1" dirty="0"/>
              <a:t>1. Introduce the domain.</a:t>
            </a:r>
          </a:p>
          <a:p>
            <a:r>
              <a:rPr lang="en-US" dirty="0"/>
              <a:t>Say: "This domain is People &amp; Culture Dynamics. It shows the observable behavioural patterns when the organisation is at its best, when culture is actively reinforcing the strategic direction."</a:t>
            </a:r>
          </a:p>
          <a:p>
            <a:endParaRPr lang="en-US" dirty="0"/>
          </a:p>
          <a:p>
            <a:r>
              <a:rPr lang="en-US" b="1" dirty="0"/>
              <a:t>2. Cross-Boundary Collaboration.</a:t>
            </a:r>
          </a:p>
          <a:p>
            <a:r>
              <a:rPr lang="en-US" dirty="0"/>
              <a:t>When Working, say: "People work across functional boundaries without being directed to. </a:t>
            </a:r>
          </a:p>
          <a:p>
            <a:r>
              <a:rPr lang="en-US" dirty="0"/>
              <a:t>Teams solve problems that belong to no single function because they own the enterprise outcome."</a:t>
            </a:r>
          </a:p>
          <a:p>
            <a:endParaRPr lang="en-US" dirty="0"/>
          </a:p>
          <a:p>
            <a:r>
              <a:rPr lang="en-US" b="1" dirty="0"/>
              <a:t>Add</a:t>
            </a:r>
            <a:r>
              <a:rPr lang="en-US" dirty="0"/>
              <a:t>: "Information is shared proactively."</a:t>
            </a:r>
          </a:p>
          <a:p>
            <a:endParaRPr lang="en-US" dirty="0"/>
          </a:p>
          <a:p>
            <a:r>
              <a:rPr lang="en-US" b="1" dirty="0"/>
              <a:t>Signal of Absence, ask and listen for</a:t>
            </a:r>
            <a:r>
              <a:rPr lang="en-US" dirty="0"/>
              <a:t>: "Silos are strong and quiet. </a:t>
            </a:r>
          </a:p>
          <a:p>
            <a:r>
              <a:rPr lang="en-US" dirty="0"/>
              <a:t>Cross-functional problems stay unresolved because no one is accountable for the boundary."</a:t>
            </a:r>
          </a:p>
          <a:p>
            <a:endParaRPr lang="en-US" dirty="0"/>
          </a:p>
          <a:p>
            <a:r>
              <a:rPr lang="en-US" b="1" dirty="0"/>
              <a:t>Add: </a:t>
            </a:r>
            <a:r>
              <a:rPr lang="en-US" dirty="0"/>
              <a:t>"Information is hoarded or filtered."</a:t>
            </a:r>
          </a:p>
          <a:p>
            <a:endParaRPr lang="en-US" dirty="0"/>
          </a:p>
          <a:p>
            <a:r>
              <a:rPr lang="en-US" b="1" dirty="0"/>
              <a:t>Ask:</a:t>
            </a:r>
            <a:r>
              <a:rPr lang="en-US" dirty="0"/>
              <a:t> "Which problem in your organisation belongs to no single function today? Who is carrying it?"</a:t>
            </a:r>
          </a:p>
          <a:p>
            <a:endParaRPr lang="en-US" dirty="0"/>
          </a:p>
          <a:p>
            <a:r>
              <a:rPr lang="en-US" b="1" dirty="0"/>
              <a:t>3. Ownership Culture.</a:t>
            </a:r>
          </a:p>
          <a:p>
            <a:r>
              <a:rPr lang="en-US" b="1" dirty="0"/>
              <a:t>When Working, say: </a:t>
            </a:r>
            <a:r>
              <a:rPr lang="en-US" dirty="0"/>
              <a:t>"Leaders and teams carry outcomes. </a:t>
            </a:r>
          </a:p>
          <a:p>
            <a:r>
              <a:rPr lang="en-US" dirty="0"/>
              <a:t>When something goes wrong, people step in because they care about the result."</a:t>
            </a:r>
          </a:p>
          <a:p>
            <a:endParaRPr lang="en-US" dirty="0"/>
          </a:p>
          <a:p>
            <a:r>
              <a:rPr lang="en-US" b="1" dirty="0"/>
              <a:t>Add: </a:t>
            </a:r>
            <a:r>
              <a:rPr lang="en-US" dirty="0"/>
              <a:t>"People step in without being required to. Accountability is cultural before it is structural."</a:t>
            </a:r>
          </a:p>
          <a:p>
            <a:endParaRPr lang="en-US" dirty="0"/>
          </a:p>
          <a:p>
            <a:r>
              <a:rPr lang="en-US" b="1" dirty="0"/>
              <a:t>Signal of Absence, ask and listen for</a:t>
            </a:r>
            <a:r>
              <a:rPr lang="en-US" dirty="0"/>
              <a:t>: "People complete tasks and declare them done, regardless of the downstream consequence. </a:t>
            </a:r>
          </a:p>
          <a:p>
            <a:r>
              <a:rPr lang="en-US" dirty="0"/>
              <a:t>Accountability is assigned but not felt."</a:t>
            </a:r>
          </a:p>
          <a:p>
            <a:endParaRPr lang="en-US" dirty="0"/>
          </a:p>
          <a:p>
            <a:r>
              <a:rPr lang="en-US" b="1" dirty="0"/>
              <a:t>Add</a:t>
            </a:r>
            <a:r>
              <a:rPr lang="en-US" dirty="0"/>
              <a:t>: "When something fails at a boundary, no one steps forward."</a:t>
            </a:r>
          </a:p>
          <a:p>
            <a:endParaRPr lang="en-US" dirty="0"/>
          </a:p>
          <a:p>
            <a:r>
              <a:rPr lang="en-US" b="1" dirty="0"/>
              <a:t>4. Strategic Alignment.</a:t>
            </a:r>
          </a:p>
          <a:p>
            <a:r>
              <a:rPr lang="en-US" b="1" dirty="0"/>
              <a:t>When Working, say: </a:t>
            </a:r>
            <a:r>
              <a:rPr lang="en-US" dirty="0"/>
              <a:t>"Teams connect their day-to-day actions to the enterprise strategy without being reminded. </a:t>
            </a:r>
          </a:p>
          <a:p>
            <a:r>
              <a:rPr lang="en-US" dirty="0"/>
              <a:t>When asked why they are doing something, they can trace it to the strategic intent."</a:t>
            </a:r>
          </a:p>
          <a:p>
            <a:endParaRPr lang="en-US" dirty="0"/>
          </a:p>
          <a:p>
            <a:r>
              <a:rPr lang="en-US" b="1" dirty="0"/>
              <a:t>Add: </a:t>
            </a:r>
            <a:r>
              <a:rPr lang="en-US" dirty="0"/>
              <a:t>"Leaders can trace what they are doing to both the strategic intent and the SiP."</a:t>
            </a:r>
          </a:p>
          <a:p>
            <a:endParaRPr lang="en-US" dirty="0"/>
          </a:p>
          <a:p>
            <a:r>
              <a:rPr lang="en-US" b="1" dirty="0"/>
              <a:t>Signal of Absence, ask and listen for</a:t>
            </a:r>
            <a:r>
              <a:rPr lang="en-US" dirty="0"/>
              <a:t>: "Teams are busy but unfocused. Actions are driven by habit or last year's priorities. </a:t>
            </a:r>
          </a:p>
          <a:p>
            <a:r>
              <a:rPr lang="en-US" dirty="0"/>
              <a:t>The strategy exists in the boardroom but not on the floor."</a:t>
            </a:r>
          </a:p>
          <a:p>
            <a:endParaRPr lang="en-US" dirty="0"/>
          </a:p>
          <a:p>
            <a:r>
              <a:rPr lang="en-US" b="1" dirty="0"/>
              <a:t>Add: </a:t>
            </a:r>
            <a:r>
              <a:rPr lang="en-US" dirty="0"/>
              <a:t>"Teams act on what the function has always done."</a:t>
            </a:r>
          </a:p>
          <a:p>
            <a:endParaRPr lang="en-US" dirty="0"/>
          </a:p>
          <a:p>
            <a:r>
              <a:rPr lang="en-US" b="1" dirty="0"/>
              <a:t>Ask: </a:t>
            </a:r>
            <a:r>
              <a:rPr lang="en-US" dirty="0"/>
              <a:t>"When your teams are asked why they are doing something, can they trace it to the strategic intent?"</a:t>
            </a:r>
          </a:p>
          <a:p>
            <a:endParaRPr lang="en-US" dirty="0"/>
          </a:p>
          <a:p>
            <a:r>
              <a:rPr lang="en-US" b="1" dirty="0"/>
              <a:t>5. Dialogue Quality.</a:t>
            </a:r>
          </a:p>
          <a:p>
            <a:r>
              <a:rPr lang="en-US" b="1" dirty="0"/>
              <a:t>When Working, say: </a:t>
            </a:r>
            <a:r>
              <a:rPr lang="en-US" dirty="0"/>
              <a:t>"Honest challenge, diverse perspective, and collective sense-making are normal. Disagreement surfaces before decisions are made."</a:t>
            </a:r>
          </a:p>
          <a:p>
            <a:endParaRPr lang="en-US" dirty="0"/>
          </a:p>
          <a:p>
            <a:r>
              <a:rPr lang="en-US" b="1" dirty="0"/>
              <a:t>Add: </a:t>
            </a:r>
            <a:r>
              <a:rPr lang="en-US" dirty="0"/>
              <a:t>"Leaders can say they do not know something without losing credibility."</a:t>
            </a:r>
          </a:p>
          <a:p>
            <a:endParaRPr lang="en-US" dirty="0"/>
          </a:p>
          <a:p>
            <a:r>
              <a:rPr lang="en-US" b="1" dirty="0"/>
              <a:t>Signal of Absence, ask and listen for</a:t>
            </a:r>
            <a:r>
              <a:rPr lang="en-US" dirty="0"/>
              <a:t>: "Meetings are performative. Consensus is assumed without being built. </a:t>
            </a:r>
          </a:p>
          <a:p>
            <a:r>
              <a:rPr lang="en-US" dirty="0"/>
              <a:t>The most important concerns are raised only in corridors."</a:t>
            </a:r>
          </a:p>
          <a:p>
            <a:endParaRPr lang="en-US" dirty="0"/>
          </a:p>
          <a:p>
            <a:r>
              <a:rPr lang="en-US" b="1" dirty="0"/>
              <a:t>Add: </a:t>
            </a:r>
            <a:r>
              <a:rPr lang="en-US" dirty="0"/>
              <a:t>"Fast, pattern-based thinking dominates and no deliberate, analytical thinking checks it."</a:t>
            </a:r>
          </a:p>
          <a:p>
            <a:endParaRPr lang="en-US" dirty="0"/>
          </a:p>
          <a:p>
            <a:r>
              <a:rPr lang="en-US" b="1" dirty="0"/>
              <a:t>Stay longest here. </a:t>
            </a:r>
            <a:r>
              <a:rPr lang="en-US" dirty="0"/>
              <a:t>Honest challenge is the condition for an honest discussion of the other three indicators.</a:t>
            </a:r>
          </a:p>
          <a:p>
            <a:endParaRPr lang="en-US" dirty="0"/>
          </a:p>
          <a:p>
            <a:r>
              <a:rPr lang="en-US" b="1" dirty="0"/>
              <a:t>Ask: </a:t>
            </a:r>
            <a:r>
              <a:rPr lang="en-US" dirty="0"/>
              <a:t>"Where are the most important concerns raised: in the meeting, or in the corridor afterwards?"</a:t>
            </a:r>
          </a:p>
          <a:p>
            <a:endParaRPr lang="en-US" dirty="0"/>
          </a:p>
          <a:p>
            <a:r>
              <a:rPr lang="en-US" b="1" dirty="0"/>
              <a:t>Deepen, say: </a:t>
            </a:r>
            <a:r>
              <a:rPr lang="en-US" dirty="0"/>
              <a:t>"The strongest cultural signal is how people are treated in the corridor, how decisions are made when no one is watching, and whether the language of the email matches the language of the boardroom. </a:t>
            </a:r>
          </a:p>
          <a:p>
            <a:r>
              <a:rPr lang="en-US" dirty="0"/>
              <a:t>If stated values show up only in formal settings, the culture has not yet landed. </a:t>
            </a:r>
          </a:p>
          <a:p>
            <a:r>
              <a:rPr lang="en-US" dirty="0"/>
              <a:t>Work on the small interactions at the edges and the centre will follow."</a:t>
            </a:r>
          </a:p>
          <a:p>
            <a:r>
              <a:rPr lang="en-US" dirty="0"/>
              <a:t>(Insight: Values at the edges. Source: Journal, 18 April 2026 — Professional Insights: Culture)</a:t>
            </a:r>
          </a:p>
          <a:p>
            <a:endParaRPr lang="en-US" dirty="0"/>
          </a:p>
          <a:p>
            <a:r>
              <a:rPr lang="en-US" b="1" dirty="0"/>
              <a:t>6. Ask the room what it recognises.</a:t>
            </a:r>
          </a:p>
          <a:p>
            <a:r>
              <a:rPr lang="en-US" b="1" dirty="0"/>
              <a:t>Ask: </a:t>
            </a:r>
            <a:r>
              <a:rPr lang="en-US" dirty="0"/>
              <a:t>"Which Signal of Absence in this domain do you recognise in your own organisation?"</a:t>
            </a:r>
          </a:p>
          <a:p>
            <a:endParaRPr lang="en-US" dirty="0"/>
          </a:p>
          <a:p>
            <a:r>
              <a:rPr lang="en-US" dirty="0"/>
              <a:t>Take two or three answers. Keep the discussion on what can be observed: what a customer, an employee or a board member would see or hear.</a:t>
            </a:r>
          </a:p>
          <a:p>
            <a:endParaRPr lang="en-US" dirty="0"/>
          </a:p>
          <a:p>
            <a:r>
              <a:rPr lang="en-US" b="1" dirty="0"/>
              <a:t>7. Link the domain to Section 4.</a:t>
            </a:r>
          </a:p>
          <a:p>
            <a:r>
              <a:rPr lang="en-US" b="1" dirty="0"/>
              <a:t>Say: </a:t>
            </a:r>
            <a:r>
              <a:rPr lang="en-US" dirty="0"/>
              <a:t>"In Section 4 your group writes one People &amp; Culture Dynamics statement. </a:t>
            </a:r>
          </a:p>
          <a:p>
            <a:r>
              <a:rPr lang="en-US" dirty="0"/>
              <a:t>The lead question is: If the intent succeeds, what should be visible in how people understand, decide and behave? </a:t>
            </a:r>
          </a:p>
          <a:p>
            <a:r>
              <a:rPr lang="en-US" dirty="0"/>
              <a:t>These indicators deepen that discussion. The statement itself stays focused on your own Strategy Intent."</a:t>
            </a:r>
          </a:p>
          <a:p>
            <a:endParaRPr lang="en-US" dirty="0"/>
          </a:p>
          <a:p>
            <a:r>
              <a:rPr lang="en-US" b="1" dirty="0"/>
              <a:t>8. Bridge to the next domain.</a:t>
            </a:r>
          </a:p>
          <a:p>
            <a:r>
              <a:rPr lang="en-US" dirty="0"/>
              <a:t>Say: "Next: D4, how the organisation benefits."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3.1 — SiP OBSERVABLE INDICATORS · D4 · ENTERPRISE VALUE</a:t>
            </a:r>
          </a:p>
          <a:p>
            <a:endParaRPr lang="en-US" dirty="0"/>
          </a:p>
          <a:p>
            <a:r>
              <a:rPr lang="en-US" b="1" dirty="0"/>
              <a:t>HOW TO TEACH IT:</a:t>
            </a:r>
          </a:p>
          <a:p>
            <a:endParaRPr lang="en-US" dirty="0"/>
          </a:p>
          <a:p>
            <a:r>
              <a:rPr lang="en-US" b="1" dirty="0"/>
              <a:t>1. Introduce the domain.</a:t>
            </a:r>
          </a:p>
          <a:p>
            <a:r>
              <a:rPr lang="en-US" b="1" dirty="0"/>
              <a:t>Say: </a:t>
            </a:r>
            <a:r>
              <a:rPr lang="en-US" dirty="0"/>
              <a:t>"This domain is Enterprise Value Creation.</a:t>
            </a:r>
          </a:p>
          <a:p>
            <a:r>
              <a:rPr lang="en-US" dirty="0"/>
              <a:t> It shows the commercial and strategic outcomes confirming the strategy is producing durable enterprise value."</a:t>
            </a:r>
          </a:p>
          <a:p>
            <a:endParaRPr lang="en-US" dirty="0"/>
          </a:p>
          <a:p>
            <a:r>
              <a:rPr lang="en-US" b="1" dirty="0"/>
              <a:t>2. Growth Trajectory.</a:t>
            </a:r>
          </a:p>
          <a:p>
            <a:r>
              <a:rPr lang="en-US" b="1" dirty="0"/>
              <a:t>When Working, say: </a:t>
            </a:r>
            <a:r>
              <a:rPr lang="en-US" dirty="0"/>
              <a:t>"Revenue, market share, and customer acquisition are moving in the direction the strategic intent predicted. </a:t>
            </a:r>
          </a:p>
          <a:p>
            <a:r>
              <a:rPr lang="en-US" dirty="0"/>
              <a:t>Growth is traceable to specific strategic choices."</a:t>
            </a:r>
          </a:p>
          <a:p>
            <a:endParaRPr lang="en-US" dirty="0"/>
          </a:p>
          <a:p>
            <a:r>
              <a:rPr lang="en-US" b="1" dirty="0"/>
              <a:t>Add</a:t>
            </a:r>
            <a:r>
              <a:rPr lang="en-US" dirty="0"/>
              <a:t>: "Growth is deliberate."</a:t>
            </a:r>
          </a:p>
          <a:p>
            <a:endParaRPr lang="en-US" dirty="0"/>
          </a:p>
          <a:p>
            <a:r>
              <a:rPr lang="en-US" b="1" dirty="0"/>
              <a:t>Signal of Absence, ask and listen for</a:t>
            </a:r>
            <a:r>
              <a:rPr lang="en-US" dirty="0"/>
              <a:t>: "Growth is inconsistent and driven by the market. </a:t>
            </a:r>
          </a:p>
          <a:p>
            <a:r>
              <a:rPr lang="en-US" dirty="0"/>
              <a:t>The strategy does not explain the results."</a:t>
            </a:r>
          </a:p>
          <a:p>
            <a:endParaRPr lang="en-US" dirty="0"/>
          </a:p>
          <a:p>
            <a:r>
              <a:rPr lang="en-US" b="1" dirty="0"/>
              <a:t>Add: </a:t>
            </a:r>
            <a:r>
              <a:rPr lang="en-US" dirty="0"/>
              <a:t>"Growth may be happening in arenas that were not part of the intended WHAT."</a:t>
            </a:r>
          </a:p>
          <a:p>
            <a:endParaRPr lang="en-US" dirty="0"/>
          </a:p>
          <a:p>
            <a:r>
              <a:rPr lang="en-US" b="1" dirty="0"/>
              <a:t>Ask: </a:t>
            </a:r>
            <a:r>
              <a:rPr lang="en-US" dirty="0"/>
              <a:t>"Can you trace your growth to specific strategic choices, or does the market explain it?"</a:t>
            </a:r>
          </a:p>
          <a:p>
            <a:endParaRPr lang="en-US" dirty="0"/>
          </a:p>
          <a:p>
            <a:r>
              <a:rPr lang="en-US" b="1" dirty="0"/>
              <a:t>3. Profitability Quality.</a:t>
            </a:r>
          </a:p>
          <a:p>
            <a:r>
              <a:rPr lang="en-US" b="1" dirty="0"/>
              <a:t>When Working, say: </a:t>
            </a:r>
            <a:r>
              <a:rPr lang="en-US" dirty="0"/>
              <a:t>"Margin discipline reflects deliberate value positioning. The organisation earns what its strategic intent says it should earn — its differentiation commands a premium."</a:t>
            </a:r>
          </a:p>
          <a:p>
            <a:endParaRPr lang="en-US" dirty="0"/>
          </a:p>
          <a:p>
            <a:r>
              <a:rPr lang="en-US" b="1" dirty="0"/>
              <a:t>Add: </a:t>
            </a:r>
            <a:r>
              <a:rPr lang="en-US" dirty="0"/>
              <a:t>"The premium is earned because the organisation has chosen arenas where its differentiation commands it."</a:t>
            </a:r>
          </a:p>
          <a:p>
            <a:endParaRPr lang="en-US" dirty="0"/>
          </a:p>
          <a:p>
            <a:r>
              <a:rPr lang="en-US" b="1" dirty="0"/>
              <a:t>Signal of Absence, ask and listen for</a:t>
            </a:r>
            <a:r>
              <a:rPr lang="en-US" dirty="0"/>
              <a:t>: "Margin pressure is treated as a market problem when its root is positioning. </a:t>
            </a:r>
          </a:p>
          <a:p>
            <a:r>
              <a:rPr lang="en-US" dirty="0"/>
              <a:t>The organisation competes on price because its WHY is insufficiently differentiated."</a:t>
            </a:r>
          </a:p>
          <a:p>
            <a:endParaRPr lang="en-US" dirty="0"/>
          </a:p>
          <a:p>
            <a:r>
              <a:rPr lang="en-US" b="1" dirty="0"/>
              <a:t>4. Market Position.</a:t>
            </a:r>
          </a:p>
          <a:p>
            <a:r>
              <a:rPr lang="en-US" b="1" dirty="0"/>
              <a:t>When Working, say: </a:t>
            </a:r>
            <a:r>
              <a:rPr lang="en-US" dirty="0"/>
              <a:t>"The organisation occupies the competitive position its strategic intent described. </a:t>
            </a:r>
          </a:p>
          <a:p>
            <a:r>
              <a:rPr lang="en-US" dirty="0"/>
              <a:t>Stakeholders describe the organisation in the language the SiP predicted."</a:t>
            </a:r>
          </a:p>
          <a:p>
            <a:endParaRPr lang="en-US" dirty="0"/>
          </a:p>
          <a:p>
            <a:r>
              <a:rPr lang="en-US" b="1" dirty="0"/>
              <a:t>Add: </a:t>
            </a:r>
            <a:r>
              <a:rPr lang="en-US" dirty="0"/>
              <a:t>"The stakeholders in question are customers, partners, analysts and employees."</a:t>
            </a:r>
          </a:p>
          <a:p>
            <a:endParaRPr lang="en-US" dirty="0"/>
          </a:p>
          <a:p>
            <a:r>
              <a:rPr lang="en-US" b="1" dirty="0"/>
              <a:t>Signal of Absence, ask and listen for</a:t>
            </a:r>
            <a:r>
              <a:rPr lang="en-US" dirty="0"/>
              <a:t>: "The organisation's external reputation does not match its internal self-description. </a:t>
            </a:r>
          </a:p>
          <a:p>
            <a:r>
              <a:rPr lang="en-US" dirty="0"/>
              <a:t>The strategy has not translated into a distinctive market position."</a:t>
            </a:r>
          </a:p>
          <a:p>
            <a:endParaRPr lang="en-US" dirty="0"/>
          </a:p>
          <a:p>
            <a:r>
              <a:rPr lang="en-US" b="1" dirty="0"/>
              <a:t>Add: </a:t>
            </a:r>
            <a:r>
              <a:rPr lang="en-US" dirty="0"/>
              <a:t>"The strategy exists on paper only."</a:t>
            </a:r>
          </a:p>
          <a:p>
            <a:endParaRPr lang="en-US" b="1" dirty="0"/>
          </a:p>
          <a:p>
            <a:r>
              <a:rPr lang="en-US" b="1" dirty="0"/>
              <a:t>Ask: </a:t>
            </a:r>
            <a:r>
              <a:rPr lang="en-US" dirty="0"/>
              <a:t>"Do stakeholders describe your organisation in the words you would use yourselves?"</a:t>
            </a:r>
          </a:p>
          <a:p>
            <a:endParaRPr lang="en-US" dirty="0"/>
          </a:p>
          <a:p>
            <a:r>
              <a:rPr lang="en-US" b="1" dirty="0"/>
              <a:t>5. Value Durability.</a:t>
            </a:r>
          </a:p>
          <a:p>
            <a:r>
              <a:rPr lang="en-US" b="1" dirty="0"/>
              <a:t>When Working, say: </a:t>
            </a:r>
            <a:r>
              <a:rPr lang="en-US" dirty="0"/>
              <a:t>"The conditions that made success possible — talent, brand trust, infrastructure, ecosystem relationships, financial health — are being actively reinvested in and strengthened."</a:t>
            </a:r>
          </a:p>
          <a:p>
            <a:endParaRPr lang="en-US" dirty="0"/>
          </a:p>
          <a:p>
            <a:r>
              <a:rPr lang="en-US" b="1" dirty="0"/>
              <a:t>Add: </a:t>
            </a:r>
            <a:r>
              <a:rPr lang="en-US" dirty="0"/>
              <a:t>"The organisation is building moats."</a:t>
            </a:r>
          </a:p>
          <a:p>
            <a:endParaRPr lang="en-US" dirty="0"/>
          </a:p>
          <a:p>
            <a:r>
              <a:rPr lang="en-US" b="1" dirty="0"/>
              <a:t>Signal of Absence, ask and listen for</a:t>
            </a:r>
            <a:r>
              <a:rPr lang="en-US" dirty="0"/>
              <a:t>: "The organisation is harvesting value faster than it is creating it. </a:t>
            </a:r>
          </a:p>
          <a:p>
            <a:r>
              <a:rPr lang="en-US" dirty="0"/>
              <a:t>Short-term results come at the cost of the capabilities that make future success possible."</a:t>
            </a:r>
          </a:p>
          <a:p>
            <a:endParaRPr lang="en-US" dirty="0"/>
          </a:p>
          <a:p>
            <a:r>
              <a:rPr lang="en-US" b="1" dirty="0"/>
              <a:t>Add: </a:t>
            </a:r>
            <a:r>
              <a:rPr lang="en-US" dirty="0"/>
              <a:t>"Short-term results also cost the relationships that make future success possible."</a:t>
            </a:r>
          </a:p>
          <a:p>
            <a:endParaRPr lang="en-US" dirty="0"/>
          </a:p>
          <a:p>
            <a:r>
              <a:rPr lang="en-US" b="1" dirty="0"/>
              <a:t>Stay longest here. </a:t>
            </a:r>
            <a:r>
              <a:rPr lang="en-US" dirty="0"/>
              <a:t>Value Durability is the SUSTAINS layer of the Value Triad, the layer most organisations under-invest in.</a:t>
            </a:r>
          </a:p>
          <a:p>
            <a:endParaRPr lang="en-US" dirty="0"/>
          </a:p>
          <a:p>
            <a:r>
              <a:rPr lang="en-US" b="1" dirty="0"/>
              <a:t>Ask: </a:t>
            </a:r>
            <a:r>
              <a:rPr lang="en-US" dirty="0"/>
              <a:t>"Which condition of your future success are you reinvesting in least?"</a:t>
            </a:r>
          </a:p>
          <a:p>
            <a:endParaRPr lang="en-US" dirty="0"/>
          </a:p>
          <a:p>
            <a:r>
              <a:rPr lang="en-US" b="1" dirty="0"/>
              <a:t>Deepen, say: </a:t>
            </a:r>
            <a:r>
              <a:rPr lang="en-US" dirty="0"/>
              <a:t>"Leaders who build structures to survive scarcity and crisis, and none to survive abundance and success, have protected against the wrong threat. Organisations that collapse in prosperity forget what made the prosperity possible."</a:t>
            </a:r>
          </a:p>
          <a:p>
            <a:r>
              <a:rPr lang="en-US" dirty="0"/>
              <a:t>(Insight: Surviving success. Source: Journal, 22 March 2026 — Professional Insights)</a:t>
            </a:r>
          </a:p>
          <a:p>
            <a:endParaRPr lang="en-US" dirty="0"/>
          </a:p>
          <a:p>
            <a:r>
              <a:rPr lang="en-US" b="1" dirty="0"/>
              <a:t>6. Ask the room what it recognises.</a:t>
            </a:r>
          </a:p>
          <a:p>
            <a:r>
              <a:rPr lang="en-US" b="1" dirty="0"/>
              <a:t>Ask: </a:t>
            </a:r>
            <a:r>
              <a:rPr lang="en-US" dirty="0"/>
              <a:t>"Which Signal of Absence in this domain do you recognise in your own organisation?"</a:t>
            </a:r>
          </a:p>
          <a:p>
            <a:r>
              <a:rPr lang="en-US" dirty="0"/>
              <a:t>Take two or three answers. Keep the discussion on what can be observed: what a customer, an employee or a board member would see or hear.</a:t>
            </a:r>
          </a:p>
          <a:p>
            <a:endParaRPr lang="en-US" dirty="0"/>
          </a:p>
          <a:p>
            <a:r>
              <a:rPr lang="en-US" b="1" dirty="0"/>
              <a:t>7. Link the domain to Section 4.</a:t>
            </a:r>
          </a:p>
          <a:p>
            <a:r>
              <a:rPr lang="en-US" b="1" dirty="0"/>
              <a:t>Say: </a:t>
            </a:r>
            <a:r>
              <a:rPr lang="en-US" dirty="0"/>
              <a:t>"In Section 4 your group writes one Enterprise Value Creation statement</a:t>
            </a:r>
          </a:p>
          <a:p>
            <a:r>
              <a:rPr lang="en-US" dirty="0"/>
              <a:t>. The lead question is: If the intent succeeds, how should the organisation benefit across its success metrics? These indicators deepen that discussion. The statement itself stays focused on your own Strategy Intent."</a:t>
            </a:r>
          </a:p>
          <a:p>
            <a:endParaRPr lang="en-US" dirty="0"/>
          </a:p>
          <a:p>
            <a:r>
              <a:rPr lang="en-US" b="1" dirty="0"/>
              <a:t>8. Bridge to 3.2.</a:t>
            </a:r>
          </a:p>
          <a:p>
            <a:r>
              <a:rPr lang="en-US" dirty="0"/>
              <a:t>Say: "We have looked at depth within each domain. Next we look at balance across all four."</a:t>
            </a:r>
          </a:p>
          <a:p>
            <a:endParaRPr lang="en-US" dirty="0"/>
          </a:p>
          <a:p>
            <a:r>
              <a:rPr lang="en-US" b="1" dirty="0"/>
              <a:t>ON THE PORTAL, AFTER THE TEACHING:</a:t>
            </a:r>
          </a:p>
          <a:p>
            <a:r>
              <a:rPr lang="en-US" dirty="0"/>
              <a:t>Participants write the 3.1 reflection: "From your assigned executive leader role: which SiP domain shows the most significant gaps in your organisation right now? What is the primary cause?"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3.2 — SiP FLAMMABLES: WHEN THE PICTURE OF SUCCESS BECOMES DISTORTED (4 RISK PATTERNS)</a:t>
            </a:r>
          </a:p>
          <a:p>
            <a:endParaRPr lang="en-US" dirty="0"/>
          </a:p>
          <a:p>
            <a:r>
              <a:rPr lang="en-US" b="1" dirty="0"/>
              <a:t>HOW TO TEACH IT:</a:t>
            </a:r>
          </a:p>
          <a:p>
            <a:endParaRPr lang="en-US" dirty="0"/>
          </a:p>
          <a:p>
            <a:r>
              <a:rPr lang="en-US" b="1" dirty="0"/>
              <a:t>1. Start from one reality.</a:t>
            </a:r>
          </a:p>
          <a:p>
            <a:r>
              <a:rPr lang="en-US" dirty="0"/>
              <a:t>Say: "The four SiP domains are designed to describe one organisational reality."</a:t>
            </a:r>
          </a:p>
          <a:p>
            <a:endParaRPr lang="en-US" dirty="0"/>
          </a:p>
          <a:p>
            <a:r>
              <a:rPr lang="en-US" b="1" dirty="0"/>
              <a:t>2. Start from legitimacy.</a:t>
            </a:r>
          </a:p>
          <a:p>
            <a:r>
              <a:rPr lang="en-US" b="1" dirty="0"/>
              <a:t>Say: </a:t>
            </a:r>
            <a:r>
              <a:rPr lang="en-US" dirty="0"/>
              <a:t>"In practice, leadership teams naturally bring different perspectives into the conversation. </a:t>
            </a:r>
          </a:p>
          <a:p>
            <a:r>
              <a:rPr lang="en-US" dirty="0"/>
              <a:t>A commercial leader may see success primarily through customers and growth. </a:t>
            </a:r>
          </a:p>
          <a:p>
            <a:r>
              <a:rPr lang="en-US" dirty="0"/>
              <a:t>An operations leader may emphasise efficiency, process and delivery. </a:t>
            </a:r>
          </a:p>
          <a:p>
            <a:r>
              <a:rPr lang="en-US" dirty="0"/>
              <a:t>A people leader may focus on culture and capability. A finance leader may foreground financial and enterprise outcomes. </a:t>
            </a:r>
          </a:p>
          <a:p>
            <a:r>
              <a:rPr lang="en-US" dirty="0"/>
              <a:t>Each perspective contributes something important."</a:t>
            </a:r>
          </a:p>
          <a:p>
            <a:endParaRPr lang="en-US" dirty="0"/>
          </a:p>
          <a:p>
            <a:r>
              <a:rPr lang="en-US" b="1" dirty="0"/>
              <a:t>Deepen, say: </a:t>
            </a:r>
            <a:r>
              <a:rPr lang="en-US" dirty="0"/>
              <a:t>"A common diagnostic baseline matters. When the root condition is shared across the organisation, solutions built on the belief that one group is superior will fail."</a:t>
            </a:r>
          </a:p>
          <a:p>
            <a:r>
              <a:rPr lang="en-US" dirty="0"/>
              <a:t>(Insight: A common baseline. Source: Journal, 16 August 2026 — Professional Insights: Strategy)</a:t>
            </a:r>
          </a:p>
          <a:p>
            <a:endParaRPr lang="en-US" dirty="0"/>
          </a:p>
          <a:p>
            <a:r>
              <a:rPr lang="en-US" b="1" dirty="0"/>
              <a:t>3. Name the risk.</a:t>
            </a:r>
          </a:p>
          <a:p>
            <a:r>
              <a:rPr lang="en-US" b="1" dirty="0"/>
              <a:t>Say: </a:t>
            </a:r>
            <a:r>
              <a:rPr lang="en-US" dirty="0"/>
              <a:t>"The strategic risk emerges when one perspective becomes so dominant that it begins to define success for the entire organisation."</a:t>
            </a:r>
          </a:p>
          <a:p>
            <a:endParaRPr lang="en-US" dirty="0"/>
          </a:p>
          <a:p>
            <a:r>
              <a:rPr lang="en-US" b="1" dirty="0"/>
              <a:t>Deepen, say: </a:t>
            </a:r>
            <a:r>
              <a:rPr lang="en-US" dirty="0"/>
              <a:t>"Whatever a team elevates above all else — speed, revenue, growth, reputation — will eventually be asked to deliver something it cannot. The test is whether the organisation has the honesty to see it when that happens."</a:t>
            </a:r>
          </a:p>
          <a:p>
            <a:r>
              <a:rPr lang="en-US" dirty="0"/>
              <a:t>(Insight: The single measure. Source: Journal, 23 January 2026 — Professional Insights: Culture)</a:t>
            </a:r>
          </a:p>
          <a:p>
            <a:endParaRPr lang="en-US" dirty="0"/>
          </a:p>
          <a:p>
            <a:r>
              <a:rPr lang="en-US" b="1" dirty="0"/>
              <a:t>4. Say what the Flammables are for.</a:t>
            </a:r>
          </a:p>
          <a:p>
            <a:r>
              <a:rPr lang="en-US" b="1" dirty="0"/>
              <a:t>Say: </a:t>
            </a:r>
            <a:r>
              <a:rPr lang="en-US" dirty="0"/>
              <a:t>"This is what the SiP Flammables are designed to expose. They provide a balance test for the SiP. </a:t>
            </a:r>
          </a:p>
          <a:p>
            <a:r>
              <a:rPr lang="en-US" dirty="0"/>
              <a:t>They help leaders recognise when a legitimate dimension of success has become disproportionately influential and the enterprise picture has started to narrow into a functional one."</a:t>
            </a:r>
          </a:p>
          <a:p>
            <a:endParaRPr lang="en-US" dirty="0"/>
          </a:p>
          <a:p>
            <a:r>
              <a:rPr lang="en-US" dirty="0"/>
              <a:t>Deepen, say: "The organisations most at risk are often the ones clearly succeeding on one or two dimensions while remaining unformed on the others. What is working reassures them that all is well, so they do not feel the cost of what is missing."</a:t>
            </a:r>
          </a:p>
          <a:p>
            <a:r>
              <a:rPr lang="en-US" dirty="0"/>
              <a:t>(Insight: Partial formation. Source: Journal, 26 March 2026 — Professional Insights)</a:t>
            </a:r>
          </a:p>
          <a:p>
            <a:endParaRPr lang="en-US" dirty="0"/>
          </a:p>
          <a:p>
            <a:r>
              <a:rPr lang="en-US" b="1" dirty="0"/>
              <a:t>5. Name the four patterns on the slide.</a:t>
            </a:r>
          </a:p>
          <a:p>
            <a:endParaRPr lang="en-US" b="1" dirty="0"/>
          </a:p>
          <a:p>
            <a:pPr marL="171450" indent="-171450">
              <a:buFontTx/>
              <a:buChar char="-"/>
            </a:pPr>
            <a:r>
              <a:rPr lang="en-US" b="1" dirty="0"/>
              <a:t>D1 Dominant — Customer Only: The SiP reads as a marketing aspiration.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At happens when other domains are not aligned: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customer promise is made without accounting for the operational and cultural conditions required to deliver 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organisation commits publicly to an experience it cannot yet produce at scale, so delivery teams absorb the gap through workarounds and overtime.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Service becomes inconsistent, cost to serve rises faster than revenue, and the promise that was meant to differentiate the organisation becomes the source of customer disappointment.“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Ask: "Where would this risk show first in your organisation?"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a:p>
            <a:pPr marL="171450" indent="-171450">
              <a:buFontTx/>
              <a:buChar char="-"/>
            </a:pPr>
            <a:r>
              <a:rPr lang="en-US" b="1" dirty="0"/>
              <a:t>D2 Dominant — Operations Only: The SiP reads as a process optimisation plan.</a:t>
            </a:r>
          </a:p>
          <a:p>
            <a:r>
              <a:rPr lang="en-US" dirty="0"/>
              <a:t>The organisation improves its machine while losing sight of what the machine is for. </a:t>
            </a:r>
          </a:p>
          <a:p>
            <a:r>
              <a:rPr lang="en-US" dirty="0"/>
              <a:t>Execution becomes an end in itself. </a:t>
            </a:r>
          </a:p>
          <a:p>
            <a:r>
              <a:rPr lang="en-US" dirty="0"/>
              <a:t>The efficiency gains are real, and the value they were meant to serve drifts: the organisation becomes faster at delivering what customers value less. People comply with the process without owning the outcome, so the system stops adapting when the market moves."</a:t>
            </a:r>
          </a:p>
          <a:p>
            <a:endParaRPr lang="en-US" b="1" dirty="0"/>
          </a:p>
          <a:p>
            <a:r>
              <a:rPr lang="en-US" b="1" dirty="0"/>
              <a:t>Ask: "Where would this risk show first in your organisation</a:t>
            </a:r>
          </a:p>
          <a:p>
            <a:pPr marL="0" indent="0">
              <a:buFontTx/>
              <a:buNone/>
            </a:pPr>
            <a:endParaRPr lang="en-US" dirty="0"/>
          </a:p>
          <a:p>
            <a:pPr marL="171450" indent="-171450">
              <a:buFontTx/>
              <a:buChar char="-"/>
            </a:pPr>
            <a:r>
              <a:rPr lang="en-US" b="1" dirty="0"/>
              <a:t>D3 Dominant — People Only: The SiP reads as an organisational development narrative.</a:t>
            </a:r>
          </a:p>
          <a:p>
            <a:r>
              <a:rPr lang="en-US" dirty="0"/>
              <a:t>Culture work becomes disconnected from commercial outcomes. </a:t>
            </a:r>
          </a:p>
          <a:p>
            <a:r>
              <a:rPr lang="en-US" dirty="0"/>
              <a:t>The strategy describes who the organisation wants to be and leaves what it intends to achieve undefined. </a:t>
            </a:r>
          </a:p>
          <a:p>
            <a:r>
              <a:rPr lang="en-US" dirty="0"/>
              <a:t>Investment in people and culture cannot be defended when results come under pressure, so it is the first budget to be cut. </a:t>
            </a:r>
          </a:p>
          <a:p>
            <a:r>
              <a:rPr lang="en-US" dirty="0"/>
              <a:t>Leaders outside the people function disengage from the </a:t>
            </a:r>
            <a:r>
              <a:rPr lang="en-US" dirty="0" err="1"/>
              <a:t>SiP</a:t>
            </a:r>
            <a:r>
              <a:rPr lang="en-US" dirty="0"/>
              <a:t>, and culture becomes one function's project."</a:t>
            </a:r>
          </a:p>
          <a:p>
            <a:endParaRPr lang="en-US" dirty="0"/>
          </a:p>
          <a:p>
            <a:r>
              <a:rPr lang="en-US" b="1" dirty="0"/>
              <a:t>Ask: "Where would this risk show first in your organisation?"</a:t>
            </a:r>
          </a:p>
          <a:p>
            <a:pPr marL="0" indent="0">
              <a:buFontTx/>
              <a:buNone/>
            </a:pPr>
            <a:endParaRPr lang="en-US" dirty="0"/>
          </a:p>
          <a:p>
            <a:pPr marL="171450" indent="-171450">
              <a:buFontTx/>
              <a:buChar char="-"/>
            </a:pPr>
            <a:r>
              <a:rPr lang="en-US" b="1" dirty="0"/>
              <a:t>D4 Dominant — Value Only: The SiP reads as a financial target.</a:t>
            </a:r>
          </a:p>
          <a:p>
            <a:r>
              <a:rPr lang="en-US" dirty="0"/>
              <a:t>Say: "Leaders </a:t>
            </a:r>
            <a:r>
              <a:rPr lang="en-US" dirty="0" err="1"/>
              <a:t>optimise</a:t>
            </a:r>
            <a:r>
              <a:rPr lang="en-US" dirty="0"/>
              <a:t> for metrics without creating the conditions that produce them. </a:t>
            </a:r>
          </a:p>
          <a:p>
            <a:r>
              <a:rPr lang="en-US" dirty="0"/>
              <a:t>Short-termism disguises itself as strategic clarity. </a:t>
            </a:r>
          </a:p>
          <a:p>
            <a:r>
              <a:rPr lang="en-US" dirty="0"/>
              <a:t>Targets are met through cost cutting, price moves and deferred investment, which weakens the capabilities and relationships that future results depend on. </a:t>
            </a:r>
          </a:p>
          <a:p>
            <a:r>
              <a:rPr lang="en-US" dirty="0"/>
              <a:t>Functions compete for the numbers they are measured on, and the enterprise outcome erodes while each scorecard stays green."</a:t>
            </a:r>
          </a:p>
          <a:p>
            <a:endParaRPr lang="en-US" dirty="0"/>
          </a:p>
          <a:p>
            <a:r>
              <a:rPr lang="en-US" b="1" dirty="0"/>
              <a:t>Ask: "Where would this risk show first in your organisation?"</a:t>
            </a:r>
          </a:p>
          <a:p>
            <a:pPr marL="0" indent="0">
              <a:buFontTx/>
              <a:buNone/>
            </a:pPr>
            <a:endParaRPr lang="en-US" b="1" dirty="0"/>
          </a:p>
          <a:p>
            <a:r>
              <a:rPr lang="en-US" b="1" dirty="0"/>
              <a:t>6. Set the tone and bridge.</a:t>
            </a:r>
          </a:p>
          <a:p>
            <a:r>
              <a:rPr lang="en-US" dirty="0"/>
              <a:t>Say: "Every pattern grows from a legitimate perspective. We are here to see dominance early, while the SiP is still being written.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SECTION 3 REFLECTIONS</a:t>
            </a:r>
          </a:p>
          <a:p>
            <a:endParaRPr lang="en-US" dirty="0"/>
          </a:p>
          <a:p>
            <a:r>
              <a:rPr lang="en-US" b="1" dirty="0"/>
              <a:t>HOW TO USE THIS SLIDE:</a:t>
            </a:r>
          </a:p>
          <a:p>
            <a:endParaRPr lang="en-US" dirty="0"/>
          </a:p>
          <a:p>
            <a:r>
              <a:rPr lang="en-US" b="1" dirty="0"/>
              <a:t>1. Show the slide and read the prompt aloud.</a:t>
            </a:r>
          </a:p>
          <a:p>
            <a:r>
              <a:rPr lang="en-US" dirty="0"/>
              <a:t>3.1 Reflection — SiP Indicators: "From your assigned executive leader role: which SiP domain shows the most significant gaps in your organisation right now? What is the primary cause?"</a:t>
            </a:r>
          </a:p>
          <a:p>
            <a:endParaRPr lang="en-US" dirty="0"/>
          </a:p>
          <a:p>
            <a:r>
              <a:rPr lang="en-US" b="1" dirty="0"/>
              <a:t>2. Say what the reflection is for.</a:t>
            </a:r>
          </a:p>
          <a:p>
            <a:r>
              <a:rPr lang="en-US" dirty="0"/>
              <a:t>Point learners to the portal section that they will be required to complete with as much depth as possible. The reflections build the learning portfolio they receive at the end of the programme.</a:t>
            </a:r>
          </a:p>
          <a:p>
            <a:endParaRPr lang="en-US" b="1" dirty="0"/>
          </a:p>
          <a:p>
            <a:r>
              <a:rPr lang="en-US" b="1" dirty="0"/>
              <a:t>Say: </a:t>
            </a:r>
            <a:r>
              <a:rPr lang="en-US" dirty="0"/>
              <a:t>"You write this reflection on the portal after the teaching, from your assigned executive leader role, with as much depth as you can."</a:t>
            </a:r>
          </a:p>
          <a:p>
            <a:endParaRPr lang="en-US" dirty="0"/>
          </a:p>
          <a:p>
            <a:r>
              <a:rPr lang="en-US" b="1" dirty="0"/>
              <a:t>3. Set the standard.</a:t>
            </a:r>
          </a:p>
          <a:p>
            <a:r>
              <a:rPr lang="en-US" dirty="0"/>
              <a:t>Say: "Name one SiP domain. Point to the indicators that show the gap: which Signal of Absence did you recognise? Then give one primary cause."</a:t>
            </a:r>
          </a:p>
          <a:p>
            <a:r>
              <a:rPr lang="en-US" dirty="0"/>
              <a:t>Listen for: a condition given as a cause, such as "we are under-resourced". Ask: "Which decision, structure or habit produces the gap?"</a:t>
            </a:r>
          </a:p>
          <a:p>
            <a:endParaRPr lang="en-US" dirty="0"/>
          </a:p>
          <a:p>
            <a:r>
              <a:rPr lang="en-US" b="1" dirty="0"/>
              <a:t>4. Say why naming the gap matters.</a:t>
            </a:r>
          </a:p>
          <a:p>
            <a:r>
              <a:rPr lang="en-US" b="1" dirty="0"/>
              <a:t>Say: </a:t>
            </a:r>
            <a:r>
              <a:rPr lang="en-US" dirty="0"/>
              <a:t>"Honestly naming the gap between what has been achieved and what remains is the foundation of the next strategic phase. </a:t>
            </a:r>
          </a:p>
          <a:p>
            <a:r>
              <a:rPr lang="en-US" dirty="0"/>
              <a:t>Organisations that settle for a vague awareness of more to do make little purposeful progress. Name the remaining work specifically, then plan for it."</a:t>
            </a:r>
          </a:p>
          <a:p>
            <a:r>
              <a:rPr lang="en-US" dirty="0"/>
              <a:t>(Insight: Naming the gap. Source: Journal, 10 April 2026 — Professional Insights: Strategy)</a:t>
            </a:r>
          </a:p>
          <a:p>
            <a:endParaRPr lang="en-US" dirty="0"/>
          </a:p>
          <a:p>
            <a:r>
              <a:rPr lang="en-US" b="1" dirty="0"/>
              <a:t>5. Read the room.</a:t>
            </a:r>
          </a:p>
          <a:p>
            <a:r>
              <a:rPr lang="en-US" dirty="0"/>
              <a:t>Take one first answer for each domain if the room offers them. </a:t>
            </a:r>
          </a:p>
          <a:p>
            <a:r>
              <a:rPr lang="en-US" dirty="0"/>
              <a:t>Note which domain is named most often. Tell the groups: test that domain hardest when you write your SiP in Section 4.</a:t>
            </a:r>
          </a:p>
          <a:p>
            <a:endParaRPr lang="en-US" dirty="0"/>
          </a:p>
          <a:p>
            <a:r>
              <a:rPr lang="en-US" b="1" dirty="0"/>
              <a:t>6. Bridge to Section 4.</a:t>
            </a:r>
          </a:p>
          <a:p>
            <a:r>
              <a:rPr lang="en-US" dirty="0"/>
              <a:t>Say: "We now have two tests for any Success in Practice: depth within each domain and balance across all four. </a:t>
            </a:r>
          </a:p>
          <a:p>
            <a:r>
              <a:rPr lang="en-US" dirty="0"/>
              <a:t>In Section 4 each group builds its own outputs and applies both tests to its Success in Practice."</a:t>
            </a:r>
          </a:p>
          <a:p>
            <a:endParaRPr lang="en-US" dirty="0"/>
          </a:p>
          <a:p>
            <a:r>
              <a:rPr lang="en-US" b="1" dirty="0"/>
              <a:t>ON THE PORTAL, AFTER THE TEACHING:</a:t>
            </a:r>
          </a:p>
          <a:p>
            <a:r>
              <a:rPr lang="en-US" dirty="0"/>
              <a:t>Participants write the reflection in Section 3 of the participant file: 3.1 Reflection — SiP Indicators.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4 · INTEGRATION — COLLECTIVE</a:t>
            </a:r>
          </a:p>
          <a:p>
            <a:endParaRPr lang="en-US" dirty="0"/>
          </a:p>
          <a:p>
            <a:r>
              <a:rPr lang="en-US" b="1" dirty="0"/>
              <a:t>HOW THIS SECTION RUNS:</a:t>
            </a:r>
          </a:p>
          <a:p>
            <a:r>
              <a:rPr lang="en-US" dirty="0"/>
              <a:t>1. 4.1a: how the group works. One scribe, agreed entries, every member's own page.</a:t>
            </a:r>
          </a:p>
          <a:p>
            <a:r>
              <a:rPr lang="en-US" dirty="0"/>
              <a:t>2. 4.1b to 4.1i, Step 1: the routine for one element, the 14 elements in four groups, the Strategy Architecture output and its six checks.</a:t>
            </a:r>
          </a:p>
          <a:p>
            <a:r>
              <a:rPr lang="en-US" dirty="0"/>
              <a:t>3. 4.2, Step 2: the Strategy Intent Statement, derived from the group's own WHAT, WHY, HOW and WHEN.</a:t>
            </a:r>
          </a:p>
          <a:p>
            <a:r>
              <a:rPr lang="en-US" dirty="0"/>
              <a:t>4. 4.3a to 4.3c, Step 3: Success in Practice, one statement for each of the four SiP domains, confirmed and then read as one.</a:t>
            </a:r>
          </a:p>
          <a:p>
            <a:r>
              <a:rPr lang="en-US" dirty="0"/>
              <a:t>You explain all three steps from the slides. The groups do the work itself on the portal after the teaching, in the session or after it.</a:t>
            </a:r>
          </a:p>
          <a:p>
            <a:endParaRPr lang="en-US" dirty="0"/>
          </a:p>
          <a:p>
            <a:r>
              <a:rPr lang="en-US" b="1" dirty="0"/>
              <a:t>HOW TO OPEN THE SECTION:</a:t>
            </a:r>
          </a:p>
          <a:p>
            <a:endParaRPr lang="en-US" dirty="0"/>
          </a:p>
          <a:p>
            <a:r>
              <a:rPr lang="en-US" b="1" dirty="0"/>
              <a:t>1. State the section intent.</a:t>
            </a:r>
          </a:p>
          <a:p>
            <a:r>
              <a:rPr lang="en-US" dirty="0"/>
              <a:t>Say: "This is the production section of the unit. </a:t>
            </a:r>
          </a:p>
          <a:p>
            <a:r>
              <a:rPr lang="en-US" dirty="0"/>
              <a:t>You now apply the concepts developed through Awareness, Intelligence and Extrapolating to construct the organisation's Strategy Intent Design.“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2. Read the two section learning outcomes from the slide.</a:t>
            </a:r>
          </a:p>
          <a:p>
            <a:r>
              <a:rPr lang="en-US" b="1" dirty="0"/>
              <a:t>SECTION LEARNING OUTCOMES:</a:t>
            </a:r>
          </a:p>
          <a:p>
            <a:r>
              <a:rPr lang="en-US" dirty="0"/>
              <a:t>1. Build a coherent Strategy Architecture.</a:t>
            </a:r>
          </a:p>
          <a:p>
            <a:r>
              <a:rPr lang="en-US" dirty="0"/>
              <a:t>2. Integrate different leadership perspectives into one shared enterprise position.</a:t>
            </a:r>
          </a:p>
          <a:p>
            <a:endParaRPr lang="en-US" dirty="0"/>
          </a:p>
          <a:p>
            <a:r>
              <a:rPr lang="en-US" b="1" dirty="0"/>
              <a:t>3. Say why the work is collective.</a:t>
            </a:r>
          </a:p>
          <a:p>
            <a:r>
              <a:rPr lang="en-US" dirty="0"/>
              <a:t>Say: "The work happens collectively because strategy requires more than agreement with a finished statement. </a:t>
            </a:r>
          </a:p>
          <a:p>
            <a:r>
              <a:rPr lang="en-US" dirty="0"/>
              <a:t>Leaders need to contribute to the thinking, surface different interpretations, work through tensions and arrive at a position they can collectively own."</a:t>
            </a:r>
          </a:p>
          <a:p>
            <a:endParaRPr lang="en-US" dirty="0"/>
          </a:p>
          <a:p>
            <a:r>
              <a:rPr lang="en-US" b="1" dirty="0"/>
              <a:t>Deepen, say: </a:t>
            </a:r>
            <a:r>
              <a:rPr lang="en-US" dirty="0"/>
              <a:t>"Lasting influence grows when people understand the significance of the mission and commit to it voluntarily. </a:t>
            </a:r>
          </a:p>
          <a:p>
            <a:r>
              <a:rPr lang="en-US" dirty="0"/>
              <a:t>Willing commitment produces ownership."</a:t>
            </a:r>
          </a:p>
          <a:p>
            <a:r>
              <a:rPr lang="en-US" dirty="0"/>
              <a:t>(Insight: Willing commitment. Source: Journal, 29 July 2026 — Professional Insights: Leadership)</a:t>
            </a:r>
          </a:p>
          <a:p>
            <a:endParaRPr lang="en-US" dirty="0"/>
          </a:p>
          <a:p>
            <a:r>
              <a:rPr lang="en-US" b="1" dirty="0"/>
              <a:t>4. Give the three connected stages.</a:t>
            </a:r>
          </a:p>
          <a:p>
            <a:r>
              <a:rPr lang="en-US" b="1" dirty="0"/>
              <a:t>Say</a:t>
            </a:r>
            <a:r>
              <a:rPr lang="en-US" dirty="0"/>
              <a:t>: "Each group will work through three connected stages."</a:t>
            </a:r>
          </a:p>
          <a:p>
            <a:endParaRPr lang="en-US" dirty="0"/>
          </a:p>
          <a:p>
            <a:r>
              <a:rPr lang="en-US" dirty="0"/>
              <a:t>- 4.1 — Build the Strategy Architecture: Work through the 14 elements, then write the group's Strategy Architecture output.</a:t>
            </a:r>
          </a:p>
          <a:p>
            <a:endParaRPr lang="en-US" dirty="0"/>
          </a:p>
          <a:p>
            <a:r>
              <a:rPr lang="en-US" dirty="0"/>
              <a:t>- 4.2 — Derive the Strategy Intent Statement: Use the completed architecture to crystallise WHAT, WHY, HOW and WHEN into one clear statement of strategic ambition.</a:t>
            </a:r>
          </a:p>
          <a:p>
            <a:endParaRPr lang="en-US" dirty="0"/>
          </a:p>
          <a:p>
            <a:r>
              <a:rPr lang="en-US" dirty="0"/>
              <a:t>- 4.3 — Build Success in Practice: Define what must be seen, experienced and executed across the four SiP domains, confirm each domain statement, and bring the four together into the group's SiP.</a:t>
            </a:r>
          </a:p>
          <a:p>
            <a:endParaRPr lang="en-US" dirty="0"/>
          </a:p>
          <a:p>
            <a:r>
              <a:rPr lang="en-US" b="1" dirty="0"/>
              <a:t>5. Emphasise the sequence.</a:t>
            </a:r>
          </a:p>
          <a:p>
            <a:r>
              <a:rPr lang="en-US" b="1" dirty="0"/>
              <a:t>Say: </a:t>
            </a:r>
            <a:r>
              <a:rPr lang="en-US" dirty="0"/>
              <a:t>"Each output provides the foundation for the next: Strategy Architecture, then Strategy Intent, then Success in Practice. </a:t>
            </a:r>
          </a:p>
          <a:p>
            <a:r>
              <a:rPr lang="en-US" dirty="0"/>
              <a:t>The quality of the final SiP therefore depends on the quality of the Intent, and the quality of the Intent depends on the thinking captured in the Architecture."</a:t>
            </a:r>
          </a:p>
          <a:p>
            <a:endParaRPr lang="en-US" dirty="0"/>
          </a:p>
          <a:p>
            <a:r>
              <a:rPr lang="en-US" b="1" dirty="0"/>
              <a:t>6. Say how the groups work.</a:t>
            </a:r>
          </a:p>
          <a:p>
            <a:r>
              <a:rPr lang="en-US" b="1" dirty="0"/>
              <a:t>Say: </a:t>
            </a:r>
            <a:r>
              <a:rPr lang="en-US" dirty="0"/>
              <a:t>"You work in your assigned groups throughout the exercise. </a:t>
            </a:r>
          </a:p>
          <a:p>
            <a:r>
              <a:rPr lang="en-US" dirty="0"/>
              <a:t>Surface your differences before you resolve them. </a:t>
            </a:r>
          </a:p>
          <a:p>
            <a:r>
              <a:rPr lang="en-US" dirty="0"/>
              <a:t>Different interpretations are useful because they expose assumptions, trade-offs and areas where the organisation's strategic thinking is not yet coherent. </a:t>
            </a:r>
          </a:p>
          <a:p>
            <a:r>
              <a:rPr lang="en-US" dirty="0"/>
              <a:t>The objective is collective construction of one enterprise position."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4.1 — STEP 1: BUILD THE STRATEGY ARCHITECTURE · HOW THE GROUP WORKS</a:t>
            </a:r>
          </a:p>
          <a:p>
            <a:endParaRPr lang="en-US" dirty="0"/>
          </a:p>
          <a:p>
            <a:r>
              <a:rPr lang="en-US" b="1" dirty="0"/>
              <a:t>HOW TO TEACH IT:</a:t>
            </a:r>
          </a:p>
          <a:p>
            <a:endParaRPr lang="en-US" dirty="0"/>
          </a:p>
          <a:p>
            <a:r>
              <a:rPr lang="en-US" b="1" dirty="0"/>
              <a:t>1. Explain how the group works, using the four lines on the slide.</a:t>
            </a:r>
          </a:p>
          <a:p>
            <a:r>
              <a:rPr lang="en-US" dirty="0"/>
              <a:t>Say: "Your group agrees each entry. One member acts as scribe and types the agreed wording. </a:t>
            </a:r>
          </a:p>
          <a:p>
            <a:r>
              <a:rPr lang="en-US" dirty="0"/>
              <a:t>Every member then types the agreed entries into their own page, in the session or after it."</a:t>
            </a:r>
          </a:p>
          <a:p>
            <a:endParaRPr lang="en-US" dirty="0"/>
          </a:p>
          <a:p>
            <a:r>
              <a:rPr lang="en-US" b="1" dirty="0"/>
              <a:t>2. Say why every member’s page matters.</a:t>
            </a:r>
          </a:p>
          <a:p>
            <a:r>
              <a:rPr lang="en-US" dirty="0"/>
              <a:t>Say: "Your own page is what I review. It is also where your team’s Capstone Blueprint later takes the three confirmed outputs from."</a:t>
            </a:r>
          </a:p>
          <a:p>
            <a:endParaRPr lang="en-US" dirty="0"/>
          </a:p>
          <a:p>
            <a:r>
              <a:rPr lang="en-US" b="1" dirty="0"/>
              <a:t>3. Ask for every voice.</a:t>
            </a:r>
          </a:p>
          <a:p>
            <a:r>
              <a:rPr lang="en-US" dirty="0"/>
              <a:t>Say: "The scribe types what the whole group has agreed. Every member speaks before an entry is typed."</a:t>
            </a:r>
          </a:p>
          <a:p>
            <a:r>
              <a:rPr lang="en-US" dirty="0"/>
              <a:t>Deepen, say: "When the senior voice ends the conversation, the intelligence that lives at every level of the organisation never reaches the strategy."</a:t>
            </a:r>
          </a:p>
          <a:p>
            <a:r>
              <a:rPr lang="en-US" dirty="0"/>
              <a:t>(Insight: Top-down cultures. Source: Journal, 9 January 2026 — Professional Insights: Culture)</a:t>
            </a:r>
          </a:p>
          <a:p>
            <a:endParaRPr lang="en-US" dirty="0"/>
          </a:p>
          <a:p>
            <a:r>
              <a:rPr lang="en-US" b="1" dirty="0"/>
              <a:t>4. Tell participants about the two boxes at the top of 4.1.</a:t>
            </a:r>
          </a:p>
          <a:p>
            <a:r>
              <a:rPr lang="en-US" dirty="0"/>
              <a:t>Say: "At the top of 4.1 there are two boxes: </a:t>
            </a:r>
          </a:p>
          <a:p>
            <a:r>
              <a:rPr lang="en-US" dirty="0"/>
              <a:t>Organisation and Strategy period. Every member enters the same two entries. </a:t>
            </a:r>
          </a:p>
          <a:p>
            <a:r>
              <a:rPr lang="en-US" dirty="0"/>
              <a:t>They print at the top of your group’s reports."</a:t>
            </a:r>
          </a:p>
          <a:p>
            <a:endParaRPr lang="en-US" dirty="0"/>
          </a:p>
          <a:p>
            <a:r>
              <a:rPr lang="en-US" b="1" dirty="0"/>
              <a:t>5. Explain confirmation.</a:t>
            </a:r>
          </a:p>
          <a:p>
            <a:r>
              <a:rPr lang="en-US" dirty="0"/>
              <a:t>Say: "Your group confirms each element, each statement and each output once it says what your group means."</a:t>
            </a:r>
          </a:p>
          <a:p>
            <a:endParaRPr lang="en-US" dirty="0"/>
          </a:p>
          <a:p>
            <a:r>
              <a:rPr lang="en-US" b="1" dirty="0"/>
              <a:t>6. Confirm the groups.</a:t>
            </a:r>
          </a:p>
          <a:p>
            <a:r>
              <a:rPr lang="en-US" dirty="0"/>
              <a:t>Confirm who is in each group, and ask each group to name its scribe before the work begins.</a:t>
            </a:r>
          </a:p>
          <a:p>
            <a:endParaRPr lang="en-US" dirty="0"/>
          </a:p>
          <a:p>
            <a:r>
              <a:rPr lang="en-US" b="1" dirty="0"/>
              <a:t>ON THE PORTAL, AFTER THE TEACHING:</a:t>
            </a:r>
          </a:p>
          <a:p>
            <a:r>
              <a:rPr lang="en-US" dirty="0"/>
              <a:t>The group agrees each entry and one member acts as scribe. </a:t>
            </a:r>
          </a:p>
          <a:p>
            <a:r>
              <a:rPr lang="en-US" dirty="0"/>
              <a:t>Every member then types the agreed entries into their own page of the participant file, in the session or after it.</a:t>
            </a:r>
          </a:p>
          <a:p>
            <a:endParaRPr lang="en-US" dirty="0"/>
          </a:p>
          <a:p>
            <a:r>
              <a:rPr lang="en-US" b="1" dirty="0"/>
              <a:t>LATER, WHEN THE GROUPS DO THE WORK ON THE PORTAL:</a:t>
            </a:r>
          </a:p>
          <a:p>
            <a:r>
              <a:rPr lang="en-US" dirty="0"/>
              <a:t>- Move between the groups. Listen to a group before you speak to it.</a:t>
            </a:r>
          </a:p>
          <a:p>
            <a:r>
              <a:rPr lang="en-US" dirty="0"/>
              <a:t>- Ask for choices. When a group offers a broad aspiration, ask: "What has the organisation decided?"</a:t>
            </a:r>
          </a:p>
          <a:p>
            <a:r>
              <a:rPr lang="en-US" dirty="0"/>
              <a:t>- Protect the sequence. A group that writes its Strategy Intent Statement before its Architecture is confirmed is working without its source.</a:t>
            </a:r>
          </a:p>
          <a:p>
            <a:r>
              <a:rPr lang="en-US" dirty="0"/>
              <a:t>- Hold every group to one enterprise position. A set of functional positions placed side by side falls short of collective construction.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4.1 — STEP 1: BUILD THE STRATEGY ARCHITECTURE · HOW EACH ELEMENT WORKS</a:t>
            </a:r>
          </a:p>
          <a:p>
            <a:endParaRPr lang="en-US" dirty="0"/>
          </a:p>
          <a:p>
            <a:r>
              <a:rPr lang="en-US" b="1" dirty="0"/>
              <a:t>HOW TO TEACH IT:</a:t>
            </a:r>
          </a:p>
          <a:p>
            <a:endParaRPr lang="en-US" dirty="0"/>
          </a:p>
          <a:p>
            <a:r>
              <a:rPr lang="en-US" b="1" dirty="0"/>
              <a:t>1. State the purpose.</a:t>
            </a:r>
          </a:p>
          <a:p>
            <a:r>
              <a:rPr lang="en-US" b="1" dirty="0"/>
              <a:t>Say: </a:t>
            </a:r>
            <a:r>
              <a:rPr lang="en-US" dirty="0"/>
              <a:t>"This is the foundation of the exercise. </a:t>
            </a:r>
          </a:p>
          <a:p>
            <a:r>
              <a:rPr lang="en-US" dirty="0"/>
              <a:t>Each group works through the 14 elements of the Strategy2Results® Strategy Definition. </a:t>
            </a:r>
          </a:p>
          <a:p>
            <a:r>
              <a:rPr lang="en-US" dirty="0"/>
              <a:t>The purpose is to establish the thinking and logic underneath the organisation's strategic position before attempting to express that position concisely."</a:t>
            </a:r>
          </a:p>
          <a:p>
            <a:endParaRPr lang="en-US" dirty="0"/>
          </a:p>
          <a:p>
            <a:r>
              <a:rPr lang="en-US" b="1" dirty="0"/>
              <a:t>2. Walk the routine for one element, using the lines on the slide.</a:t>
            </a:r>
          </a:p>
          <a:p>
            <a:r>
              <a:rPr lang="en-US" b="1" dirty="0"/>
              <a:t>Say: </a:t>
            </a:r>
            <a:r>
              <a:rPr lang="en-US" dirty="0"/>
              <a:t>"For each element your group answers its four questions. </a:t>
            </a:r>
          </a:p>
          <a:p>
            <a:r>
              <a:rPr lang="en-US" dirty="0"/>
              <a:t>You then select Generate what this is saying, and one member reads the result aloud. </a:t>
            </a:r>
          </a:p>
          <a:p>
            <a:r>
              <a:rPr lang="en-US" dirty="0"/>
              <a:t>Your group asks: Is this what we mean? You confirm, or you refine and state what the position should say."</a:t>
            </a:r>
          </a:p>
          <a:p>
            <a:endParaRPr lang="en-US" dirty="0"/>
          </a:p>
          <a:p>
            <a:r>
              <a:rPr lang="en-US" b="1" dirty="0"/>
              <a:t>3. Set the standard for an answer.</a:t>
            </a:r>
          </a:p>
          <a:p>
            <a:r>
              <a:rPr lang="en-US" b="1" dirty="0"/>
              <a:t>Say: </a:t>
            </a:r>
            <a:r>
              <a:rPr lang="en-US" dirty="0"/>
              <a:t>"Capture actual strategic choices and leave broad organisational aspirations out. </a:t>
            </a:r>
          </a:p>
          <a:p>
            <a:r>
              <a:rPr lang="en-US" dirty="0"/>
              <a:t>A strategic choice names what the organisation will do and what it leaves out."</a:t>
            </a:r>
          </a:p>
          <a:p>
            <a:endParaRPr lang="en-US" dirty="0"/>
          </a:p>
          <a:p>
            <a:r>
              <a:rPr lang="en-US" b="1" dirty="0"/>
              <a:t>4. Explain confirmation.</a:t>
            </a:r>
          </a:p>
          <a:p>
            <a:r>
              <a:rPr lang="en-US" b="1" dirty="0"/>
              <a:t>Say: </a:t>
            </a:r>
            <a:r>
              <a:rPr lang="en-US" dirty="0"/>
              <a:t>"The purpose of confirmation is to ensure that the written position represents your group’s thinking before it becomes part of the architecture."</a:t>
            </a:r>
          </a:p>
          <a:p>
            <a:endParaRPr lang="en-US" dirty="0"/>
          </a:p>
          <a:p>
            <a:r>
              <a:rPr lang="en-US" b="1" dirty="0"/>
              <a:t>Deepen, say: </a:t>
            </a:r>
            <a:r>
              <a:rPr lang="en-US" dirty="0"/>
              <a:t>"The leader who is present when a commitment is made and does not challenge it has endorsed it. </a:t>
            </a:r>
          </a:p>
          <a:p>
            <a:r>
              <a:rPr lang="en-US" dirty="0"/>
              <a:t>A plan received without objection binds the organisation to an outcome the leader could have shaped."</a:t>
            </a:r>
          </a:p>
          <a:p>
            <a:r>
              <a:rPr lang="en-US" dirty="0"/>
              <a:t>(Insight: Silence is a decision. Source: Journal, 15 March 2026 — Professional Insights)</a:t>
            </a:r>
          </a:p>
          <a:p>
            <a:endParaRPr lang="en-US" dirty="0"/>
          </a:p>
          <a:p>
            <a:r>
              <a:rPr lang="en-US" b="1" dirty="0"/>
              <a:t>5. Explain the count.</a:t>
            </a:r>
          </a:p>
          <a:p>
            <a:r>
              <a:rPr lang="en-US" b="1" dirty="0"/>
              <a:t>Say: </a:t>
            </a:r>
            <a:r>
              <a:rPr lang="en-US" dirty="0"/>
              <a:t>"Your group confirms the elements one by one. At 14 of 14 the Strategy Architecture output opens."</a:t>
            </a:r>
          </a:p>
          <a:p>
            <a:endParaRPr lang="en-US" dirty="0"/>
          </a:p>
          <a:p>
            <a:r>
              <a:rPr lang="en-US" b="1" dirty="0"/>
              <a:t>6. Say that the elements test one another.</a:t>
            </a:r>
          </a:p>
          <a:p>
            <a:r>
              <a:rPr lang="en-US" b="1" dirty="0"/>
              <a:t>Say: </a:t>
            </a:r>
            <a:r>
              <a:rPr lang="en-US" dirty="0"/>
              <a:t>"The elements are interconnected. A strong answer to one element can expose a weakness or contradiction in another. </a:t>
            </a:r>
          </a:p>
          <a:p>
            <a:r>
              <a:rPr lang="en-US" dirty="0"/>
              <a:t>For example, the value the organisation intends to create must be supported by its HOW;</a:t>
            </a:r>
          </a:p>
          <a:p>
            <a:r>
              <a:rPr lang="en-US" dirty="0"/>
              <a:t> its WHEN must reflect the capabilities that need to be built; and its approach to sustaining value must respond to the forces within its operating environment.“</a:t>
            </a:r>
          </a:p>
          <a:p>
            <a:endParaRPr lang="en-US" dirty="0"/>
          </a:p>
          <a:p>
            <a:r>
              <a:rPr lang="en-US" b="1" dirty="0"/>
              <a:t>Say: </a:t>
            </a:r>
            <a:r>
              <a:rPr lang="en-US" dirty="0"/>
              <a:t>"When that happens, return to the earlier element and revise it. An element that is edited after confirmation must be confirmed again."</a:t>
            </a:r>
          </a:p>
          <a:p>
            <a:endParaRPr lang="en-US" dirty="0"/>
          </a:p>
          <a:p>
            <a:r>
              <a:rPr lang="en-US" b="1" dirty="0"/>
              <a:t>7. Bridge to the next slide.</a:t>
            </a:r>
          </a:p>
          <a:p>
            <a:r>
              <a:rPr lang="en-US" b="1" dirty="0"/>
              <a:t>Say: </a:t>
            </a:r>
            <a:r>
              <a:rPr lang="en-US" dirty="0"/>
              <a:t>"The next slide shows the 14 elements as one list."</a:t>
            </a:r>
          </a:p>
          <a:p>
            <a:endParaRPr lang="en-US" dirty="0"/>
          </a:p>
          <a:p>
            <a:r>
              <a:rPr lang="en-US" b="1" dirty="0"/>
              <a:t>ON THE PORTAL, AFTER THE TEACHING:</a:t>
            </a:r>
          </a:p>
          <a:p>
            <a:r>
              <a:rPr lang="en-US" dirty="0"/>
              <a:t>Each group works in 4.1 of the participant file, one element at a time:</a:t>
            </a:r>
          </a:p>
          <a:p>
            <a:r>
              <a:rPr lang="en-US" dirty="0"/>
              <a:t>It answers the four questions of the element and selects Generate what this is saying.</a:t>
            </a:r>
          </a:p>
          <a:p>
            <a:r>
              <a:rPr lang="en-US" dirty="0"/>
              <a:t>The page shows what the group's inputs are saying and asks: "Is this what you mean?"</a:t>
            </a:r>
          </a:p>
          <a:p>
            <a:r>
              <a:rPr lang="en-US" dirty="0"/>
              <a:t>The group selects Yes, confirm, or No, refine and states what the position should say.</a:t>
            </a:r>
          </a:p>
          <a:p>
            <a:r>
              <a:rPr lang="en-US" dirty="0"/>
              <a:t>A progress bar counts the confirmed elements. When all 14 are confirmed, the Strategy Architecture output unlocks. The group reviews it, refines it and confirms it. It can then be printed.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4.1 — STEP 1: BUILD THE STRATEGY ARCHITECTURE · THE 14 ELEMENTS</a:t>
            </a:r>
          </a:p>
          <a:p>
            <a:endParaRPr lang="en-US" dirty="0"/>
          </a:p>
          <a:p>
            <a:r>
              <a:rPr lang="en-US" b="1" dirty="0"/>
              <a:t>HOW TO TEACH IT:</a:t>
            </a:r>
          </a:p>
          <a:p>
            <a:endParaRPr lang="en-US" dirty="0"/>
          </a:p>
          <a:p>
            <a:r>
              <a:rPr lang="en-US" b="1" dirty="0"/>
              <a:t>1. Show the 14 elements as one list.</a:t>
            </a:r>
          </a:p>
          <a:p>
            <a:r>
              <a:rPr lang="en-US" b="1" dirty="0"/>
              <a:t>Say: </a:t>
            </a:r>
            <a:r>
              <a:rPr lang="en-US" dirty="0"/>
              <a:t>"The 14 elements follow the Strategy2Results® definition of strategy. </a:t>
            </a:r>
          </a:p>
          <a:p>
            <a:r>
              <a:rPr lang="en-US" dirty="0"/>
              <a:t>OUTPUT, the first concept in 1.1, is what the 14 elements produce: the Strategy Architecture."</a:t>
            </a:r>
          </a:p>
          <a:p>
            <a:endParaRPr lang="en-US" dirty="0"/>
          </a:p>
          <a:p>
            <a:r>
              <a:rPr lang="en-US" b="1" dirty="0"/>
              <a:t>2. Link back to 1.1.</a:t>
            </a:r>
          </a:p>
          <a:p>
            <a:r>
              <a:rPr lang="en-US" b="1" dirty="0"/>
              <a:t>Say</a:t>
            </a:r>
            <a:r>
              <a:rPr lang="en-US" dirty="0"/>
              <a:t>: "In 1.1 we met nine concepts. </a:t>
            </a:r>
          </a:p>
          <a:p>
            <a:r>
              <a:rPr lang="en-US" dirty="0"/>
              <a:t>Here the same definition is worked as 14 elements. </a:t>
            </a:r>
          </a:p>
          <a:p>
            <a:r>
              <a:rPr lang="en-US" dirty="0"/>
              <a:t>WHAT, WHY, HOW and WHEN are four elements. </a:t>
            </a:r>
          </a:p>
          <a:p>
            <a:r>
              <a:rPr lang="en-US" dirty="0"/>
              <a:t>CREATES, DELIVERS and SUSTAINS VALUE are three. </a:t>
            </a:r>
          </a:p>
          <a:p>
            <a:r>
              <a:rPr lang="en-US" dirty="0"/>
              <a:t>OPERATING ENVIRONMENT has an element of its own."</a:t>
            </a:r>
          </a:p>
          <a:p>
            <a:endParaRPr lang="en-US" dirty="0"/>
          </a:p>
          <a:p>
            <a:r>
              <a:rPr lang="en-US" b="1" dirty="0"/>
              <a:t>3. Say what each element gives the group.</a:t>
            </a:r>
          </a:p>
          <a:p>
            <a:r>
              <a:rPr lang="en-US" b="1" dirty="0"/>
              <a:t>Say: </a:t>
            </a:r>
            <a:r>
              <a:rPr lang="en-US" dirty="0"/>
              <a:t>"Each element comes with a short guide and four questions."</a:t>
            </a:r>
          </a:p>
          <a:p>
            <a:endParaRPr lang="en-US" dirty="0"/>
          </a:p>
          <a:p>
            <a:r>
              <a:rPr lang="en-US" b="1" dirty="0"/>
              <a:t>4. If a participant asks where an element goes in the Strategy Architecture output, use this list.</a:t>
            </a:r>
          </a:p>
          <a:p>
            <a:r>
              <a:rPr lang="en-US" dirty="0"/>
              <a:t>1 · ITERATIVE — Continuously refined → Strategy Discipline</a:t>
            </a:r>
          </a:p>
          <a:p>
            <a:r>
              <a:rPr lang="en-US" dirty="0"/>
              <a:t>2 · THINKING &amp; LOGIC — The cognitive engine → Strategy Discipline</a:t>
            </a:r>
          </a:p>
          <a:p>
            <a:r>
              <a:rPr lang="en-US" dirty="0"/>
              <a:t>3 · PROCESS — Structured container → Strategy Discipline</a:t>
            </a:r>
          </a:p>
          <a:p>
            <a:r>
              <a:rPr lang="en-US" dirty="0"/>
              <a:t>4 · WHAT — Scope &amp; definition → Strategic Position</a:t>
            </a:r>
          </a:p>
          <a:p>
            <a:r>
              <a:rPr lang="en-US" dirty="0"/>
              <a:t>5 · WHY — Purpose &amp; rationale → Strategic Position</a:t>
            </a:r>
          </a:p>
          <a:p>
            <a:r>
              <a:rPr lang="en-US" dirty="0"/>
              <a:t>6 · HOW — Mechanism &amp; model → Strategic Model</a:t>
            </a:r>
          </a:p>
          <a:p>
            <a:r>
              <a:rPr lang="en-US" dirty="0"/>
              <a:t>7 · WHEN — Timing &amp; sequencing → Strategic Model</a:t>
            </a:r>
          </a:p>
          <a:p>
            <a:r>
              <a:rPr lang="en-US" dirty="0"/>
              <a:t>8 · CREATES VALUE — Origination layer → Value Architecture</a:t>
            </a:r>
          </a:p>
          <a:p>
            <a:r>
              <a:rPr lang="en-US" dirty="0"/>
              <a:t>9 · DELIVERS VALUE — Distribution &amp; access layer → Value Architecture</a:t>
            </a:r>
          </a:p>
          <a:p>
            <a:r>
              <a:rPr lang="en-US" dirty="0"/>
              <a:t>10 · SUSTAINS VALUE — Durability &amp; compounding layer → Value Architecture</a:t>
            </a:r>
          </a:p>
          <a:p>
            <a:r>
              <a:rPr lang="en-US" dirty="0"/>
              <a:t>11 · STAKEHOLDERS — Full universe of value recipients → Value Architecture</a:t>
            </a:r>
          </a:p>
          <a:p>
            <a:r>
              <a:rPr lang="en-US" dirty="0"/>
              <a:t>12 · NAVIGATING — Active, skilful movement → Strategic Navigation</a:t>
            </a:r>
          </a:p>
          <a:p>
            <a:r>
              <a:rPr lang="en-US" dirty="0"/>
              <a:t>13 · THE FORCES — What must be navigated → Strategic Navigation</a:t>
            </a:r>
          </a:p>
          <a:p>
            <a:r>
              <a:rPr lang="en-US" dirty="0"/>
              <a:t>14 · OPERATING ENVIRONMENT — The bounded context → Strategic Navigation</a:t>
            </a:r>
          </a:p>
          <a:p>
            <a:endParaRPr lang="en-US" dirty="0"/>
          </a:p>
          <a:p>
            <a:r>
              <a:rPr lang="en-US" b="1" dirty="0"/>
              <a:t>5. Bridge to the next slide.</a:t>
            </a:r>
          </a:p>
          <a:p>
            <a:r>
              <a:rPr lang="en-US" dirty="0"/>
              <a:t>Say: "The next four slides take the elements in four groups."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4.1 — STEP 1: BUILD THE STRATEGY ARCHITECTURE · SIX CHECKS BEFORE FINALISING</a:t>
            </a:r>
          </a:p>
          <a:p>
            <a:endParaRPr lang="en-US" dirty="0"/>
          </a:p>
          <a:p>
            <a:r>
              <a:rPr lang="en-US" b="1" dirty="0"/>
              <a:t>HOW TO TEACH IT:</a:t>
            </a:r>
          </a:p>
          <a:p>
            <a:endParaRPr lang="en-US" dirty="0"/>
          </a:p>
          <a:p>
            <a:r>
              <a:rPr lang="en-US" b="1" dirty="0"/>
              <a:t>1. Introduce the checks.</a:t>
            </a:r>
          </a:p>
          <a:p>
            <a:r>
              <a:rPr lang="en-US" b="1" dirty="0"/>
              <a:t>Say</a:t>
            </a:r>
            <a:r>
              <a:rPr lang="en-US" dirty="0"/>
              <a:t>: "Before finalising your Strategy Architecture output, your group checks six things."</a:t>
            </a:r>
          </a:p>
          <a:p>
            <a:endParaRPr lang="en-US" dirty="0"/>
          </a:p>
          <a:p>
            <a:r>
              <a:rPr lang="en-US" b="1" dirty="0"/>
              <a:t>2. Check 1.</a:t>
            </a:r>
          </a:p>
          <a:p>
            <a:r>
              <a:rPr lang="en-US" b="1" dirty="0"/>
              <a:t>Read from the slide</a:t>
            </a:r>
            <a:r>
              <a:rPr lang="en-US" dirty="0"/>
              <a:t>: "Do our choices reinforce one another?"</a:t>
            </a:r>
          </a:p>
          <a:p>
            <a:r>
              <a:rPr lang="en-US" dirty="0"/>
              <a:t>Say how the group checks: "Read the Strategic Position (WHAT, WHY) against the Strategic Model (HOW, WHEN)."</a:t>
            </a:r>
          </a:p>
          <a:p>
            <a:endParaRPr lang="en-US" dirty="0"/>
          </a:p>
          <a:p>
            <a:r>
              <a:rPr lang="en-US" b="1" dirty="0"/>
              <a:t>3. Check 2.</a:t>
            </a:r>
          </a:p>
          <a:p>
            <a:r>
              <a:rPr lang="en-US" b="1" dirty="0"/>
              <a:t>Read from the slide</a:t>
            </a:r>
            <a:r>
              <a:rPr lang="en-US" dirty="0"/>
              <a:t>: "Where are there contradictions or unresolved tensions?"</a:t>
            </a:r>
          </a:p>
          <a:p>
            <a:r>
              <a:rPr lang="en-US" dirty="0"/>
              <a:t>Say how the group checks: "Each of you names one. Resolve it in the element concerned before you confirm."</a:t>
            </a:r>
          </a:p>
          <a:p>
            <a:endParaRPr lang="en-US" dirty="0"/>
          </a:p>
          <a:p>
            <a:r>
              <a:rPr lang="en-US" b="1" dirty="0"/>
              <a:t>4. Check 3.</a:t>
            </a:r>
          </a:p>
          <a:p>
            <a:r>
              <a:rPr lang="en-US" b="1" dirty="0"/>
              <a:t>Read from the slide: </a:t>
            </a:r>
            <a:r>
              <a:rPr lang="en-US" dirty="0"/>
              <a:t>"Does our HOW support what we have chosen to achieve?"</a:t>
            </a:r>
          </a:p>
          <a:p>
            <a:r>
              <a:rPr lang="en-US" dirty="0"/>
              <a:t>Say how the group checks: "Read element 6 against elements 4 and 8."</a:t>
            </a:r>
          </a:p>
          <a:p>
            <a:endParaRPr lang="en-US" dirty="0"/>
          </a:p>
          <a:p>
            <a:r>
              <a:rPr lang="en-US" b="1" dirty="0"/>
              <a:t>5. Check 4.</a:t>
            </a:r>
          </a:p>
          <a:p>
            <a:r>
              <a:rPr lang="en-US" b="1" dirty="0"/>
              <a:t>Read from the slide: </a:t>
            </a:r>
            <a:r>
              <a:rPr lang="en-US" dirty="0"/>
              <a:t>"Does our timing and sequencing reflect the realities of our capability and environment?"</a:t>
            </a:r>
          </a:p>
          <a:p>
            <a:r>
              <a:rPr lang="en-US" dirty="0"/>
              <a:t>Say how the group checks: "Read element 7 against elements 6, 13 and 14."</a:t>
            </a:r>
          </a:p>
          <a:p>
            <a:endParaRPr lang="en-US" dirty="0"/>
          </a:p>
          <a:p>
            <a:r>
              <a:rPr lang="en-US" b="1" dirty="0"/>
              <a:t>6. Check 5.</a:t>
            </a:r>
          </a:p>
          <a:p>
            <a:r>
              <a:rPr lang="en-US" b="1" dirty="0"/>
              <a:t>Read from the slide: </a:t>
            </a:r>
            <a:r>
              <a:rPr lang="en-US" dirty="0"/>
              <a:t>"Have we addressed how value will be created, delivered and sustained?"</a:t>
            </a:r>
          </a:p>
          <a:p>
            <a:r>
              <a:rPr lang="en-US" dirty="0"/>
              <a:t>Say how the group checks: "Read elements 8, 9 and 10 side by side. Look hardest at element 10."</a:t>
            </a:r>
          </a:p>
          <a:p>
            <a:endParaRPr lang="en-US" dirty="0"/>
          </a:p>
          <a:p>
            <a:r>
              <a:rPr lang="en-US" b="1" dirty="0"/>
              <a:t>7. Check 6.</a:t>
            </a:r>
          </a:p>
          <a:p>
            <a:r>
              <a:rPr lang="en-US" b="1" dirty="0"/>
              <a:t>Read from the slide: </a:t>
            </a:r>
            <a:r>
              <a:rPr lang="en-US" dirty="0"/>
              <a:t>"Does the architecture represent the strategic position we collectively intend?"</a:t>
            </a:r>
          </a:p>
          <a:p>
            <a:r>
              <a:rPr lang="en-US" dirty="0"/>
              <a:t>Say how the group checks: "Each of you answers yes or no aloud."</a:t>
            </a:r>
          </a:p>
          <a:p>
            <a:endParaRPr lang="en-US" dirty="0"/>
          </a:p>
          <a:p>
            <a:r>
              <a:rPr lang="en-US" b="1" dirty="0"/>
              <a:t>8. Say what a group does when a check fails.</a:t>
            </a:r>
          </a:p>
          <a:p>
            <a:r>
              <a:rPr lang="en-US" dirty="0"/>
              <a:t>Say: "Return to the element concerned, revise it and confirm it again. Then carry the change into the text of the output."</a:t>
            </a:r>
          </a:p>
          <a:p>
            <a:endParaRPr lang="en-US" dirty="0"/>
          </a:p>
          <a:p>
            <a:r>
              <a:rPr lang="en-US" b="1" dirty="0"/>
              <a:t>9. Bridge to 4.2.</a:t>
            </a:r>
          </a:p>
          <a:p>
            <a:r>
              <a:rPr lang="en-US" b="1" dirty="0"/>
              <a:t>Say: </a:t>
            </a:r>
            <a:r>
              <a:rPr lang="en-US" dirty="0"/>
              <a:t>"The completed Strategy Architecture becomes the source for Step 2. </a:t>
            </a:r>
          </a:p>
          <a:p>
            <a:r>
              <a:rPr lang="en-US" dirty="0"/>
              <a:t>The Architecture holds the logic. </a:t>
            </a:r>
          </a:p>
          <a:p>
            <a:r>
              <a:rPr lang="en-US" dirty="0"/>
              <a:t>Step 2 takes four of its elements, WHAT, WHY, HOW and WHEN, and crystallises them into one statement."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4.2 — STEP 2: DERIVE THE STRATEGY INTENT STATEMENT (WHAT · WHY · HOW · WHEN → ONE STRATEGIC AMBITION)</a:t>
            </a:r>
          </a:p>
          <a:p>
            <a:endParaRPr lang="en-US" dirty="0"/>
          </a:p>
          <a:p>
            <a:r>
              <a:rPr lang="en-US" b="1" dirty="0"/>
              <a:t>HOW TO TEACH IT:</a:t>
            </a:r>
          </a:p>
          <a:p>
            <a:endParaRPr lang="en-US" dirty="0"/>
          </a:p>
          <a:p>
            <a:r>
              <a:rPr lang="en-US" b="1" dirty="0"/>
              <a:t>1. State the step.</a:t>
            </a:r>
          </a:p>
          <a:p>
            <a:r>
              <a:rPr lang="en-US" b="1" dirty="0"/>
              <a:t>Say: </a:t>
            </a:r>
            <a:r>
              <a:rPr lang="en-US" dirty="0"/>
              <a:t>"With the Strategy Architecture established, each group now crystallises that thinking into a Strategy Intent Statement. </a:t>
            </a:r>
          </a:p>
          <a:p>
            <a:r>
              <a:rPr lang="en-US" dirty="0"/>
              <a:t>The Architecture contains the depth. The Intent must provide the clarity."</a:t>
            </a:r>
          </a:p>
          <a:p>
            <a:endParaRPr lang="en-US" dirty="0"/>
          </a:p>
          <a:p>
            <a:r>
              <a:rPr lang="en-US" b="1" dirty="0"/>
              <a:t>2. Bring forward the four dimensions on the slide.</a:t>
            </a:r>
          </a:p>
          <a:p>
            <a:r>
              <a:rPr lang="en-US" b="1" dirty="0"/>
              <a:t>Say: </a:t>
            </a:r>
            <a:r>
              <a:rPr lang="en-US" dirty="0"/>
              <a:t>"These are the four dimensions already established through your architecture. They are your group’s own answers to elements 4 to 7."</a:t>
            </a:r>
          </a:p>
          <a:p>
            <a:r>
              <a:rPr lang="en-US" dirty="0"/>
              <a:t>- WHAT — the value the organisation has chosen to create and its field of play.</a:t>
            </a:r>
          </a:p>
          <a:p>
            <a:r>
              <a:rPr lang="en-US" dirty="0"/>
              <a:t>- WHY — the rationale for those choices and why they matter.</a:t>
            </a:r>
          </a:p>
          <a:p>
            <a:r>
              <a:rPr lang="en-US" dirty="0"/>
              <a:t>- HOW — the operating model, capabilities and mechanisms through which the value will be delivered.</a:t>
            </a:r>
          </a:p>
          <a:p>
            <a:r>
              <a:rPr lang="en-US" dirty="0"/>
              <a:t>- WHEN — the timing, sequencing and strategic moves through which the ambition will be pursued.</a:t>
            </a:r>
          </a:p>
          <a:p>
            <a:endParaRPr lang="en-US" dirty="0"/>
          </a:p>
          <a:p>
            <a:r>
              <a:rPr lang="en-US" b="1" dirty="0"/>
              <a:t>3. Give the task.</a:t>
            </a:r>
          </a:p>
          <a:p>
            <a:r>
              <a:rPr lang="en-US" b="1" dirty="0"/>
              <a:t>Say: </a:t>
            </a:r>
            <a:r>
              <a:rPr lang="en-US" dirty="0"/>
              <a:t>"Review these four dimensions together and derive one crisp Strategy Intent Statement."</a:t>
            </a:r>
          </a:p>
          <a:p>
            <a:endParaRPr lang="en-US" dirty="0"/>
          </a:p>
          <a:p>
            <a:r>
              <a:rPr lang="en-US" b="1" dirty="0"/>
              <a:t>4. Protect the Intent from becoming overloaded.</a:t>
            </a:r>
          </a:p>
          <a:p>
            <a:r>
              <a:rPr lang="en-US" b="1" dirty="0"/>
              <a:t>Say</a:t>
            </a:r>
            <a:r>
              <a:rPr lang="en-US" dirty="0"/>
              <a:t>: "You may want to carry every important point from the Architecture into the statement. </a:t>
            </a:r>
          </a:p>
          <a:p>
            <a:r>
              <a:rPr lang="en-US" dirty="0"/>
              <a:t>The Architecture already holds that detail. The Strategy Intent Statement crystallises the ambition. The Architecture keeps the detail."</a:t>
            </a:r>
          </a:p>
          <a:p>
            <a:endParaRPr lang="en-US" dirty="0"/>
          </a:p>
          <a:p>
            <a:r>
              <a:rPr lang="en-US" b="1" dirty="0"/>
              <a:t>5. Set the standard.</a:t>
            </a:r>
          </a:p>
          <a:p>
            <a:r>
              <a:rPr lang="en-US" b="1" dirty="0"/>
              <a:t>Say: </a:t>
            </a:r>
            <a:r>
              <a:rPr lang="en-US" dirty="0"/>
              <a:t>"A strong Intent should allow a leader to understand the organisation's strategic position without needing a paragraph of explanation."</a:t>
            </a:r>
          </a:p>
          <a:p>
            <a:endParaRPr lang="en-US" dirty="0"/>
          </a:p>
          <a:p>
            <a:r>
              <a:rPr lang="en-US" b="1" dirty="0"/>
              <a:t>Add: </a:t>
            </a:r>
            <a:r>
              <a:rPr lang="en-US" dirty="0"/>
              <a:t>"A strong statement carries all four dimensions: the value chosen and the field of play, the rationale, the mechanism and the timing. It is crisp, directional and easy to express.“</a:t>
            </a:r>
          </a:p>
          <a:p>
            <a:endParaRPr lang="en-US" dirty="0"/>
          </a:p>
          <a:p>
            <a:r>
              <a:rPr lang="en-US" b="1" dirty="0"/>
              <a:t>Deepen, say</a:t>
            </a:r>
            <a:r>
              <a:rPr lang="en-US" dirty="0"/>
              <a:t>: "What the people who carry a strategy have understood and internalised survives the loss of any document. </a:t>
            </a:r>
          </a:p>
          <a:p>
            <a:r>
              <a:rPr lang="en-US" dirty="0"/>
              <a:t>Build the strategy into their knowledge and conviction."</a:t>
            </a:r>
          </a:p>
          <a:p>
            <a:r>
              <a:rPr lang="en-US" dirty="0"/>
              <a:t>(Insight: Strategy carried by people. Source: Journal, 16 February 2026 — Professional Insights: Strategy)</a:t>
            </a:r>
          </a:p>
          <a:p>
            <a:endParaRPr lang="en-US" dirty="0"/>
          </a:p>
          <a:p>
            <a:r>
              <a:rPr lang="en-US" b="1" dirty="0"/>
              <a:t>6. Give the confirmation question, from the foot of the slide.</a:t>
            </a:r>
          </a:p>
          <a:p>
            <a:r>
              <a:rPr lang="en-US" dirty="0"/>
              <a:t>Say: "Once the statement is drafted, read it against your completed Architecture and confirm: </a:t>
            </a:r>
          </a:p>
          <a:p>
            <a:r>
              <a:rPr lang="en-US" dirty="0"/>
              <a:t>Does this statement faithfully express the strategic ambition contained in our Architecture?"</a:t>
            </a:r>
          </a:p>
          <a:p>
            <a:endParaRPr lang="en-US" dirty="0"/>
          </a:p>
          <a:p>
            <a:r>
              <a:rPr lang="en-US" b="1" dirty="0"/>
              <a:t>7. Say what a group does when the statement exposes a contradiction.</a:t>
            </a:r>
          </a:p>
          <a:p>
            <a:r>
              <a:rPr lang="en-US" dirty="0"/>
              <a:t>Say: "Where the statement exposes a contradiction in the Architecture, resolve the underlying contradiction before finalising the Intent."</a:t>
            </a:r>
          </a:p>
          <a:p>
            <a:endParaRPr lang="en-US" dirty="0"/>
          </a:p>
          <a:p>
            <a:r>
              <a:rPr lang="en-US" b="1" dirty="0"/>
              <a:t>8. Bridge to 4.3.</a:t>
            </a:r>
          </a:p>
          <a:p>
            <a:r>
              <a:rPr lang="en-US" dirty="0"/>
              <a:t>Say: "The confirmed Strategy Intent becomes the source for Step 3."</a:t>
            </a:r>
          </a:p>
          <a:p>
            <a:endParaRPr lang="en-US" dirty="0"/>
          </a:p>
          <a:p>
            <a:r>
              <a:rPr lang="en-US" b="1" dirty="0"/>
              <a:t>ON THE PORTAL, AFTER THE TEACHING:</a:t>
            </a:r>
          </a:p>
          <a:p>
            <a:r>
              <a:rPr lang="en-US" dirty="0"/>
              <a:t>In 4.2 of the participant file each group sees its own answers for WHAT, WHY, HOW and WHEN, deduces one crisp Strategy Intent Statement from them and types it in. </a:t>
            </a:r>
          </a:p>
          <a:p>
            <a:r>
              <a:rPr lang="en-US" dirty="0"/>
              <a:t>The group confirms the statement. </a:t>
            </a:r>
          </a:p>
          <a:p>
            <a:r>
              <a:rPr lang="en-US" dirty="0"/>
              <a:t>It can then be printed. Every member types the agreed statement into their own page.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4.3 — STEP 3: BUILD SUCCESS IN PRACTICE · THE FOUR DOMAINS</a:t>
            </a:r>
          </a:p>
          <a:p>
            <a:endParaRPr lang="en-US" dirty="0"/>
          </a:p>
          <a:p>
            <a:r>
              <a:rPr lang="en-US" b="1" dirty="0"/>
              <a:t>HOW TO TEACH IT:</a:t>
            </a:r>
          </a:p>
          <a:p>
            <a:endParaRPr lang="en-US" dirty="0"/>
          </a:p>
          <a:p>
            <a:r>
              <a:rPr lang="en-US" b="1" dirty="0"/>
              <a:t>1. Link the step to the one before it.</a:t>
            </a:r>
          </a:p>
          <a:p>
            <a:r>
              <a:rPr lang="en-US" b="1" dirty="0"/>
              <a:t>Say: "</a:t>
            </a:r>
            <a:r>
              <a:rPr lang="en-US" dirty="0"/>
              <a:t>The Strategy Intent Statement establishes the ambition. Each group now defines what must be seen, experienced and executed for that ambition to become reality within the agreed time horizon."</a:t>
            </a:r>
          </a:p>
          <a:p>
            <a:endParaRPr lang="en-US" dirty="0"/>
          </a:p>
          <a:p>
            <a:r>
              <a:rPr lang="en-US" b="1" dirty="0"/>
              <a:t>2. Position the group inside the future.</a:t>
            </a:r>
          </a:p>
          <a:p>
            <a:r>
              <a:rPr lang="en-US" b="1" dirty="0"/>
              <a:t>Say</a:t>
            </a:r>
            <a:r>
              <a:rPr lang="en-US" dirty="0"/>
              <a:t>: "Stand inside the future described by your Strategy Intent. </a:t>
            </a:r>
          </a:p>
          <a:p>
            <a:r>
              <a:rPr lang="en-US" dirty="0"/>
              <a:t>One central question guides the work: If our Strategy Intent is successful, what should we see in practice?"</a:t>
            </a:r>
          </a:p>
          <a:p>
            <a:endParaRPr lang="en-US" dirty="0"/>
          </a:p>
          <a:p>
            <a:r>
              <a:rPr lang="en-US" b="1" dirty="0"/>
              <a:t>Deepen, say: </a:t>
            </a:r>
            <a:r>
              <a:rPr lang="en-US" dirty="0"/>
              <a:t>"Long-term direction sometimes requires acting on a credible promise before the outcomes are visible, while still facing current facts honestly."</a:t>
            </a:r>
          </a:p>
          <a:p>
            <a:r>
              <a:rPr lang="en-US" dirty="0"/>
              <a:t>(Insight: Credible promise, honest facts. Source: Journal, 17 August 2026 — Professional Insights: Strategy)</a:t>
            </a:r>
          </a:p>
          <a:p>
            <a:endParaRPr lang="en-US" dirty="0"/>
          </a:p>
          <a:p>
            <a:r>
              <a:rPr lang="en-US" b="1" dirty="0"/>
              <a:t>3. Explain the method.</a:t>
            </a:r>
          </a:p>
          <a:p>
            <a:r>
              <a:rPr lang="en-US" b="1" dirty="0"/>
              <a:t>Say: </a:t>
            </a:r>
            <a:r>
              <a:rPr lang="en-US" dirty="0"/>
              <a:t>"Your group works through the four SiP domains. </a:t>
            </a:r>
          </a:p>
          <a:p>
            <a:r>
              <a:rPr lang="en-US" dirty="0"/>
              <a:t>In each domain you answer three input questions, then derive one statement for the domain from your answers. </a:t>
            </a:r>
          </a:p>
          <a:p>
            <a:endParaRPr lang="en-US" dirty="0"/>
          </a:p>
          <a:p>
            <a:r>
              <a:rPr lang="en-US" dirty="0"/>
              <a:t>The statement describes what is happening when the Strategy Intent is working."</a:t>
            </a:r>
          </a:p>
          <a:p>
            <a:endParaRPr lang="en-US" dirty="0"/>
          </a:p>
          <a:p>
            <a:r>
              <a:rPr lang="en-US" b="1" dirty="0"/>
              <a:t>4. D1 · Customer Experience &amp; Value.</a:t>
            </a:r>
          </a:p>
          <a:p>
            <a:r>
              <a:rPr lang="en-US" b="1" dirty="0"/>
              <a:t>Say: </a:t>
            </a:r>
            <a:r>
              <a:rPr lang="en-US" dirty="0"/>
              <a:t>"Describe what customers and other value recipients experience when the Strategy Intent is working. </a:t>
            </a:r>
          </a:p>
          <a:p>
            <a:r>
              <a:rPr lang="en-US" dirty="0"/>
              <a:t>Use the observable indicators explored in Section 3 to deepen the discussion where useful, but keep your group’s final output focused on your own Strategy Intent. </a:t>
            </a:r>
          </a:p>
          <a:p>
            <a:r>
              <a:rPr lang="en-US" dirty="0"/>
              <a:t>Your group produces one Customer Experience &amp; Value statement."</a:t>
            </a:r>
          </a:p>
          <a:p>
            <a:r>
              <a:rPr lang="en-US" dirty="0"/>
              <a:t>Give the lead question (the slide shows it in short form): "If the intent succeeds, what should customers and other value recipients see and experience?"</a:t>
            </a:r>
          </a:p>
          <a:p>
            <a:endParaRPr lang="en-US" dirty="0"/>
          </a:p>
          <a:p>
            <a:r>
              <a:rPr lang="en-US" b="1" dirty="0"/>
              <a:t>5. D2 · Operational Capability &amp; Execution Rhythm.</a:t>
            </a:r>
          </a:p>
          <a:p>
            <a:r>
              <a:rPr lang="en-US" b="1" dirty="0"/>
              <a:t>Say: </a:t>
            </a:r>
            <a:r>
              <a:rPr lang="en-US" dirty="0"/>
              <a:t>"Describe how the organisation operates, coordinates, delivers and adapts when the capabilities required by the Strategy Intent are functioning effectively. </a:t>
            </a:r>
          </a:p>
          <a:p>
            <a:r>
              <a:rPr lang="en-US" dirty="0"/>
              <a:t>Your group produces one Operational Capability &amp; Execution Rhythm statement."</a:t>
            </a:r>
          </a:p>
          <a:p>
            <a:r>
              <a:rPr lang="en-US" dirty="0"/>
              <a:t>Give the lead question (the slide shows it in short form): "If the intent succeeds, what should be visible in how the organisation operates and executes?"</a:t>
            </a:r>
          </a:p>
          <a:p>
            <a:endParaRPr lang="en-US" dirty="0"/>
          </a:p>
          <a:p>
            <a:r>
              <a:rPr lang="en-US" b="1" dirty="0"/>
              <a:t>6. D3 · People &amp; Culture Dynamics.</a:t>
            </a:r>
          </a:p>
          <a:p>
            <a:r>
              <a:rPr lang="en-US" b="1" dirty="0"/>
              <a:t>Say: </a:t>
            </a:r>
            <a:r>
              <a:rPr lang="en-US" dirty="0"/>
              <a:t>"Describe how people understand the Strategy Intent, make decisions, collaborate, take ownership and behave when the intent is embedded in organisational practice. </a:t>
            </a:r>
          </a:p>
          <a:p>
            <a:r>
              <a:rPr lang="en-US" dirty="0"/>
              <a:t>Your group produces one People &amp; Culture Dynamics statement."</a:t>
            </a:r>
          </a:p>
          <a:p>
            <a:r>
              <a:rPr lang="en-US" dirty="0"/>
              <a:t>Give the lead question (the slide shows it in short form): "If the intent succeeds, what should be visible in how people understand, decide and behave?"</a:t>
            </a:r>
          </a:p>
          <a:p>
            <a:endParaRPr lang="en-US" dirty="0"/>
          </a:p>
          <a:p>
            <a:r>
              <a:rPr lang="en-US" b="1" dirty="0"/>
              <a:t>7. D4 · Enterprise Value Creation.</a:t>
            </a:r>
          </a:p>
          <a:p>
            <a:r>
              <a:rPr lang="en-US" b="1" dirty="0"/>
              <a:t>Say: </a:t>
            </a:r>
            <a:r>
              <a:rPr lang="en-US" dirty="0"/>
              <a:t>"Describe how the organisation is benefiting across the measures of enterprise success that matter to this Strategy Intent. </a:t>
            </a:r>
          </a:p>
          <a:p>
            <a:r>
              <a:rPr lang="en-US" dirty="0"/>
              <a:t>Your group produces one Enterprise Value Creation statement."</a:t>
            </a:r>
          </a:p>
          <a:p>
            <a:r>
              <a:rPr lang="en-US" dirty="0"/>
              <a:t>Give the lead question (the slide shows it in short form): "If the intent succeeds, how should the organisation benefit across its success metrics?"</a:t>
            </a:r>
          </a:p>
          <a:p>
            <a:endParaRPr lang="en-US" dirty="0"/>
          </a:p>
          <a:p>
            <a:r>
              <a:rPr lang="en-US" b="1" dirty="0"/>
              <a:t>8. Bridge to the next slide.</a:t>
            </a:r>
          </a:p>
          <a:p>
            <a:r>
              <a:rPr lang="en-US" dirty="0"/>
              <a:t>Say: "Four statements, one for each domain. The next slide shows how your group confirms and tests them."</a:t>
            </a:r>
          </a:p>
          <a:p>
            <a:endParaRPr lang="en-US" dirty="0"/>
          </a:p>
          <a:p>
            <a:r>
              <a:rPr lang="en-US" b="1" dirty="0"/>
              <a:t>ON THE PORTAL, AFTER THE TEACHING:</a:t>
            </a:r>
          </a:p>
          <a:p>
            <a:r>
              <a:rPr lang="en-US" dirty="0"/>
              <a:t>In 4.3 of the participant file, for each SiP domain the group:</a:t>
            </a:r>
          </a:p>
          <a:p>
            <a:r>
              <a:rPr lang="en-US" dirty="0"/>
              <a:t>answers the three input questions;</a:t>
            </a:r>
          </a:p>
          <a:p>
            <a:r>
              <a:rPr lang="en-US" dirty="0"/>
              <a:t>derives one statement for the domain from those answers and types it in;</a:t>
            </a:r>
          </a:p>
          <a:p>
            <a:r>
              <a:rPr lang="en-US" dirty="0"/>
              <a:t>confirms the statement.</a:t>
            </a:r>
          </a:p>
          <a:p>
            <a:r>
              <a:rPr lang="en-US" dirty="0"/>
              <a:t>The group writes every statement, and every member types the agreed entries into their own page. When all four statements are confirmed, they appear together, numbered 1 to 4, as the group's Success in Practice. The group confirms it. It can then print its three outputs as one report: the Strategy Intent Design.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4.3 — STEP 3: BUILD SUCCESS IN PRACTICE · THREE CONNECTED OUTPUTS</a:t>
            </a:r>
          </a:p>
          <a:p>
            <a:endParaRPr lang="en-US" dirty="0"/>
          </a:p>
          <a:p>
            <a:r>
              <a:rPr lang="en-US" b="1" dirty="0"/>
              <a:t>HOW TO TEACH IT:</a:t>
            </a:r>
          </a:p>
          <a:p>
            <a:endParaRPr lang="en-US" dirty="0"/>
          </a:p>
          <a:p>
            <a:r>
              <a:rPr lang="en-US" b="1" dirty="0"/>
              <a:t>1. Show the three outputs side by side.</a:t>
            </a:r>
          </a:p>
          <a:p>
            <a:r>
              <a:rPr lang="en-US" dirty="0"/>
              <a:t>Say: "When the work is done, each group holds three connected outputs: its Strategy Architecture, its Strategy Intent Statement and its Success in Practice."</a:t>
            </a:r>
          </a:p>
          <a:p>
            <a:endParaRPr lang="en-US" dirty="0"/>
          </a:p>
          <a:p>
            <a:r>
              <a:rPr lang="en-US" b="1" dirty="0"/>
              <a:t>2. Reinforce the connection, using the three lines on the slide.</a:t>
            </a:r>
          </a:p>
          <a:p>
            <a:r>
              <a:rPr lang="en-US" dirty="0"/>
              <a:t>Say: "The Architecture provides the logic. The Intent crystallises the ambition. Success in Practice makes the ambition observable."</a:t>
            </a:r>
          </a:p>
          <a:p>
            <a:endParaRPr lang="en-US" dirty="0"/>
          </a:p>
          <a:p>
            <a:r>
              <a:rPr lang="en-US" b="1" dirty="0"/>
              <a:t>3. Say how the three are displayed.</a:t>
            </a:r>
          </a:p>
          <a:p>
            <a:r>
              <a:rPr lang="en-US" dirty="0"/>
              <a:t>Say: "Each group displays or prints the three together, as one report: the Strategy Intent Design."</a:t>
            </a:r>
          </a:p>
          <a:p>
            <a:endParaRPr lang="en-US" dirty="0"/>
          </a:p>
          <a:p>
            <a:r>
              <a:rPr lang="en-US" b="1" dirty="0"/>
              <a:t>4. Say where the outputs go.</a:t>
            </a:r>
          </a:p>
          <a:p>
            <a:r>
              <a:rPr lang="en-US" dirty="0"/>
              <a:t>Say: "These three outputs become the strategic foundation that subsequent S2R® work will carry into alignment, execution and performance."</a:t>
            </a:r>
          </a:p>
          <a:p>
            <a:endParaRPr lang="en-US" dirty="0"/>
          </a:p>
          <a:p>
            <a:r>
              <a:rPr lang="en-US" b="1" dirty="0"/>
              <a:t>5. Say how the outputs reach the Capstone.</a:t>
            </a:r>
          </a:p>
          <a:p>
            <a:r>
              <a:rPr lang="en-US" dirty="0"/>
              <a:t>Say: "Your three confirmed outputs feed your team’s Capstone Blueprint. Its Unit 2 section opens once every member of your team has completed Unit 2, and brings the three outputs in from a member’s page. Your team reads them together and confirms them there."</a:t>
            </a:r>
          </a:p>
          <a:p>
            <a:endParaRPr lang="en-US" dirty="0"/>
          </a:p>
          <a:p>
            <a:r>
              <a:rPr lang="en-US" b="1" dirty="0"/>
              <a:t>6. Bridge to Section 5.</a:t>
            </a:r>
          </a:p>
          <a:p>
            <a:r>
              <a:rPr lang="en-US" dirty="0"/>
              <a:t>Say: "Once your group has confirmed its Success in Practice, success is defined. Section 5 applies it: from your executive role, what must you contribute for this Success in Practice to become real?"</a:t>
            </a:r>
          </a:p>
          <a:p>
            <a:endParaRPr lang="en-US" dirty="0"/>
          </a:p>
          <a:p>
            <a:r>
              <a:rPr lang="en-US" b="1" dirty="0"/>
              <a:t>LATER, WHEN THE GROUPS HAVE DONE THE WORK:</a:t>
            </a:r>
          </a:p>
          <a:p>
            <a:r>
              <a:rPr lang="en-US" dirty="0"/>
              <a:t>- Each group displays or prints its three outputs together.</a:t>
            </a:r>
          </a:p>
          <a:p>
            <a:r>
              <a:rPr lang="en-US" dirty="0"/>
              <a:t>- Invite each group to read its Strategy Intent Statement to the room.</a:t>
            </a:r>
          </a:p>
          <a:p>
            <a:r>
              <a:rPr lang="en-US" dirty="0"/>
              <a:t>- After each group, ask the room: "Could you recognise this organisation if you walked into it?"</a:t>
            </a:r>
          </a:p>
          <a:p>
            <a:r>
              <a:rPr lang="en-US" dirty="0"/>
              <a:t>- Remind every member to complete their own page with the group’s agreed entries, in the session or after it, and to confirm each output on that page.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5 · APPLICATION — IN PRACTICE</a:t>
            </a:r>
          </a:p>
          <a:p>
            <a:endParaRPr lang="en-US" dirty="0"/>
          </a:p>
          <a:p>
            <a:r>
              <a:rPr lang="en-US" b="1" dirty="0"/>
              <a:t>HOW THIS SECTION RUNS:</a:t>
            </a:r>
          </a:p>
          <a:p>
            <a:r>
              <a:rPr lang="en-US" dirty="0"/>
              <a:t>1. 5.1a and 5.1b: the role contribution table, and how to write a contribution.</a:t>
            </a:r>
          </a:p>
          <a:p>
            <a:r>
              <a:rPr lang="en-US" dirty="0"/>
              <a:t>2. 5.2: the group sharing, and the four headings participants observe under.</a:t>
            </a:r>
          </a:p>
          <a:p>
            <a:r>
              <a:rPr lang="en-US" dirty="0"/>
              <a:t>3. The Section 5 Reflections slide: the reflection participants write on the portal.</a:t>
            </a:r>
          </a:p>
          <a:p>
            <a:r>
              <a:rPr lang="en-US" dirty="0"/>
              <a:t>The role rows are written on the portal after the teaching. The group sharing in 5.2 takes place once the rows are complete.</a:t>
            </a:r>
          </a:p>
          <a:p>
            <a:endParaRPr lang="en-US" dirty="0"/>
          </a:p>
          <a:p>
            <a:r>
              <a:rPr lang="en-US" b="1" dirty="0"/>
              <a:t>HOW TO OPEN THE SECTION:</a:t>
            </a:r>
          </a:p>
          <a:p>
            <a:endParaRPr lang="en-US" dirty="0"/>
          </a:p>
          <a:p>
            <a:r>
              <a:rPr lang="en-US" b="1" dirty="0"/>
              <a:t>1. State the section intent.</a:t>
            </a:r>
          </a:p>
          <a:p>
            <a:r>
              <a:rPr lang="en-US" dirty="0"/>
              <a:t>Say: "This section moves you from the agreed Success in Practice into practical executive contribution.“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Read the two section learning outcomes from the slide.</a:t>
            </a:r>
          </a:p>
          <a:p>
            <a:endParaRPr lang="en-US" dirty="0"/>
          </a:p>
          <a:p>
            <a:r>
              <a:rPr lang="en-US" b="1" dirty="0"/>
              <a:t>SECTION LEARNING OUTCOMES:</a:t>
            </a:r>
          </a:p>
          <a:p>
            <a:r>
              <a:rPr lang="en-US" dirty="0"/>
              <a:t>1. Apply the agreed Success in Practice to specific executive roles.</a:t>
            </a:r>
          </a:p>
          <a:p>
            <a:r>
              <a:rPr lang="en-US" dirty="0"/>
              <a:t>2. Define what each leadership role must contribute to make the Strategy Intent real.</a:t>
            </a:r>
          </a:p>
          <a:p>
            <a:endParaRPr lang="en-US" dirty="0"/>
          </a:p>
          <a:p>
            <a:r>
              <a:rPr lang="en-US" b="1" dirty="0"/>
              <a:t>2. Say what Section 4 leaves in place.</a:t>
            </a:r>
          </a:p>
          <a:p>
            <a:r>
              <a:rPr lang="en-US" b="1" dirty="0"/>
              <a:t>Say: </a:t>
            </a:r>
            <a:r>
              <a:rPr lang="en-US" dirty="0"/>
              <a:t>"By the time you reach Section 5, your group has produced the Strategy Architecture, the Strategy Intent and Success in Practice. </a:t>
            </a:r>
          </a:p>
          <a:p>
            <a:r>
              <a:rPr lang="en-US" dirty="0"/>
              <a:t>Success is already defined. The work in this section is to apply it."</a:t>
            </a:r>
          </a:p>
          <a:p>
            <a:endParaRPr lang="en-US" dirty="0"/>
          </a:p>
          <a:p>
            <a:r>
              <a:rPr lang="en-US" b="1" dirty="0"/>
              <a:t>3. Give the question of the section.</a:t>
            </a:r>
          </a:p>
          <a:p>
            <a:r>
              <a:rPr lang="en-US" b="1" dirty="0"/>
              <a:t>Say: </a:t>
            </a:r>
            <a:r>
              <a:rPr lang="en-US" dirty="0"/>
              <a:t>"Each of you now asks: From my executive role, what must I contribute for this Success in Practice to become real?"</a:t>
            </a:r>
          </a:p>
          <a:p>
            <a:endParaRPr lang="en-US" dirty="0"/>
          </a:p>
          <a:p>
            <a:r>
              <a:rPr lang="en-US" b="1" dirty="0"/>
              <a:t>4. Name the shift.</a:t>
            </a:r>
          </a:p>
          <a:p>
            <a:r>
              <a:rPr lang="en-US" b="1" dirty="0"/>
              <a:t>Say: </a:t>
            </a:r>
            <a:r>
              <a:rPr lang="en-US" dirty="0"/>
              <a:t>"Section 4 is collective: one group, one position. Section 5 is individual: one role, one contribution."</a:t>
            </a:r>
          </a:p>
          <a:p>
            <a:endParaRPr lang="en-US" dirty="0"/>
          </a:p>
          <a:p>
            <a:r>
              <a:rPr lang="en-US" b="1" dirty="0"/>
              <a:t>5. Say what the section shows.</a:t>
            </a:r>
          </a:p>
          <a:p>
            <a:r>
              <a:rPr lang="en-US" b="1" dirty="0"/>
              <a:t>Say: </a:t>
            </a:r>
            <a:r>
              <a:rPr lang="en-US" dirty="0"/>
              <a:t>"The Application section helps your group see whether the agreed strategy is supported by clear leadership contribution, cross-functional ownership and shared accountability."</a:t>
            </a:r>
          </a:p>
          <a:p>
            <a:endParaRPr lang="en-US" dirty="0"/>
          </a:p>
          <a:p>
            <a:r>
              <a:rPr lang="en-US" b="1" dirty="0"/>
              <a:t>7. Give the two activities in order.</a:t>
            </a:r>
          </a:p>
          <a:p>
            <a:r>
              <a:rPr lang="en-US" dirty="0"/>
              <a:t>Say: "There are two activities, in this order."</a:t>
            </a:r>
          </a:p>
          <a:p>
            <a:r>
              <a:rPr lang="en-US" dirty="0"/>
              <a:t>- 5.1 — Role Contribution to SiP: Each participant completes the table from an assigned executive role</a:t>
            </a:r>
          </a:p>
          <a:p>
            <a:r>
              <a:rPr lang="en-US" dirty="0"/>
              <a:t>- 5.2 — SiP Statement Collective Application: Each group shares its SiP statement and explains how the role contributions support 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5.1 — ROLE CONTRIBUTION TO SiP (10 ROLES · 4 DOMAINS)</a:t>
            </a:r>
          </a:p>
          <a:p>
            <a:endParaRPr lang="en-US" dirty="0"/>
          </a:p>
          <a:p>
            <a:r>
              <a:rPr lang="en-US" b="1" dirty="0"/>
              <a:t>HOW TO TEACH IT:</a:t>
            </a:r>
          </a:p>
          <a:p>
            <a:endParaRPr lang="en-US" dirty="0"/>
          </a:p>
          <a:p>
            <a:r>
              <a:rPr lang="en-US" b="1" dirty="0"/>
              <a:t>1. State the purpose.</a:t>
            </a:r>
          </a:p>
          <a:p>
            <a:r>
              <a:rPr lang="en-US" dirty="0"/>
              <a:t>Say: "This table captures how each executive role contributes to the agreed Success in Practice."</a:t>
            </a:r>
          </a:p>
          <a:p>
            <a:endParaRPr lang="en-US" dirty="0"/>
          </a:p>
          <a:p>
            <a:r>
              <a:rPr lang="en-US" b="1" dirty="0"/>
              <a:t>2. Return to the four SiP statements.</a:t>
            </a:r>
          </a:p>
          <a:p>
            <a:r>
              <a:rPr lang="en-US" b="1" dirty="0"/>
              <a:t>Say: </a:t>
            </a:r>
            <a:r>
              <a:rPr lang="en-US" dirty="0"/>
              <a:t>"Return to the four SiP statements your group produces in Section 4: Customer Experience &amp; Value · Operational Capability &amp; Execution Rhythm · People &amp; Culture Dynamics · Enterprise Value Creation."</a:t>
            </a:r>
          </a:p>
          <a:p>
            <a:r>
              <a:rPr lang="en-US" dirty="0"/>
              <a:t>Tell participants: these four statements are the reference for every entry in the table.</a:t>
            </a:r>
          </a:p>
          <a:p>
            <a:endParaRPr lang="en-US" dirty="0"/>
          </a:p>
          <a:p>
            <a:r>
              <a:rPr lang="en-US" b="1" dirty="0"/>
              <a:t>3. Put the central question on the slide to the room.</a:t>
            </a:r>
          </a:p>
          <a:p>
            <a:r>
              <a:rPr lang="en-US" dirty="0"/>
              <a:t>Say: "Each of you completes the table from the perspective of your assigned executive role. The central question: From this role, what must be contributed so that the agreed Success in Practice becomes real?"</a:t>
            </a:r>
          </a:p>
          <a:p>
            <a:endParaRPr lang="en-US" dirty="0"/>
          </a:p>
          <a:p>
            <a:r>
              <a:rPr lang="en-US" b="1" dirty="0"/>
              <a:t>4. Confirm the assigned executive role of each participant, using the ten roles on the slide.</a:t>
            </a:r>
          </a:p>
          <a:p>
            <a:r>
              <a:rPr lang="en-US" dirty="0"/>
              <a:t>CEO · CFO · COO · CHRO · CTO · CMO · CCO · CPO · CRO · CSO</a:t>
            </a:r>
          </a:p>
          <a:p>
            <a:r>
              <a:rPr lang="en-US" dirty="0"/>
              <a:t>Say: "You select your assigned role and write one row: four entries, one for each SiP domain."</a:t>
            </a:r>
          </a:p>
          <a:p>
            <a:endParaRPr lang="en-US" dirty="0"/>
          </a:p>
          <a:p>
            <a:r>
              <a:rPr lang="en-US" b="1" dirty="0"/>
              <a:t>5. Give the rule for an entry.</a:t>
            </a:r>
          </a:p>
          <a:p>
            <a:r>
              <a:rPr lang="en-US" dirty="0"/>
              <a:t>Say: "The role sets the perspective and the SiP sets the target. Every entry answers one question: what does this role contribute to that domain statement?"</a:t>
            </a:r>
          </a:p>
          <a:p>
            <a:endParaRPr lang="en-US" b="1" dirty="0"/>
          </a:p>
          <a:p>
            <a:r>
              <a:rPr lang="en-US" b="1" dirty="0"/>
              <a:t>Deepen, say: </a:t>
            </a:r>
            <a:r>
              <a:rPr lang="en-US" dirty="0"/>
              <a:t>"An organisation that has articulated an extraordinary mission must answer a practical question: how does that mission live in daily practices, hiring decisions, budget allocations and conflict management? The high mission needs the daily practice that sustains it."</a:t>
            </a:r>
          </a:p>
          <a:p>
            <a:r>
              <a:rPr lang="en-US" dirty="0"/>
              <a:t>(Insight: The mission in daily practice. Source: Journal, 21 February 2026 — Professional Insights: Strategy)</a:t>
            </a:r>
          </a:p>
          <a:p>
            <a:endParaRPr lang="en-US" dirty="0"/>
          </a:p>
          <a:p>
            <a:r>
              <a:rPr lang="en-US" b="1" dirty="0"/>
              <a:t>ON THE PORTAL, AFTER THE TEACHING:</a:t>
            </a:r>
          </a:p>
          <a:p>
            <a:r>
              <a:rPr lang="en-US" dirty="0"/>
              <a:t>Each participant selects the assigned executive role in 5.1 of the participant file and completes the four domains of the table from that role. The group's four SiP statements from Section 4 are shown above the table.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SECTION 5 REFLECTIONS</a:t>
            </a:r>
          </a:p>
          <a:p>
            <a:endParaRPr lang="en-US" dirty="0"/>
          </a:p>
          <a:p>
            <a:r>
              <a:rPr lang="en-US" b="1" dirty="0"/>
              <a:t>HOW TO USE THIS SLIDE:</a:t>
            </a:r>
          </a:p>
          <a:p>
            <a:endParaRPr lang="en-US" dirty="0"/>
          </a:p>
          <a:p>
            <a:r>
              <a:rPr lang="en-US" b="1" dirty="0"/>
              <a:t>1. Show the slide and read the prompt aloud.</a:t>
            </a:r>
          </a:p>
          <a:p>
            <a:r>
              <a:rPr lang="en-US" b="1" dirty="0"/>
              <a:t>5.2 Reflection </a:t>
            </a:r>
            <a:r>
              <a:rPr lang="en-US" dirty="0"/>
              <a:t>— Application: "Having completed the full application exercise — what is the single most important shift your organisation must make to close the gap between your current strategic capability and the SiP you have collectively described?"</a:t>
            </a:r>
          </a:p>
          <a:p>
            <a:endParaRPr lang="en-US" dirty="0"/>
          </a:p>
          <a:p>
            <a:r>
              <a:rPr lang="en-US" b="1" dirty="0"/>
              <a:t>2. Say what the reflection is for.</a:t>
            </a:r>
          </a:p>
          <a:p>
            <a:r>
              <a:rPr lang="en-US" dirty="0"/>
              <a:t>Point learners to the portal section that they will be required to complete with as much depth as possible. </a:t>
            </a:r>
          </a:p>
          <a:p>
            <a:r>
              <a:rPr lang="en-US" dirty="0"/>
              <a:t>The reflections build the learning portfolio they receive at the end of the programme.</a:t>
            </a:r>
          </a:p>
          <a:p>
            <a:endParaRPr lang="en-US" dirty="0"/>
          </a:p>
          <a:p>
            <a:r>
              <a:rPr lang="en-US" b="1" dirty="0"/>
              <a:t>Say: </a:t>
            </a:r>
            <a:r>
              <a:rPr lang="en-US" dirty="0"/>
              <a:t>"You write this reflection on the portal after the teaching, once the application exercise is complete, with as much depth as you can."</a:t>
            </a:r>
          </a:p>
          <a:p>
            <a:endParaRPr lang="en-US" dirty="0"/>
          </a:p>
          <a:p>
            <a:r>
              <a:rPr lang="en-US" b="1" dirty="0"/>
              <a:t>3. Set the standard.</a:t>
            </a:r>
          </a:p>
          <a:p>
            <a:r>
              <a:rPr lang="en-US" b="1" dirty="0"/>
              <a:t>Say: </a:t>
            </a:r>
            <a:r>
              <a:rPr lang="en-US" dirty="0"/>
              <a:t>"Name one shift only. Name it as a change in a decision, a capability or a behaviour. </a:t>
            </a:r>
          </a:p>
          <a:p>
            <a:r>
              <a:rPr lang="en-US" dirty="0"/>
              <a:t>Say which gap it closes between your current strategic capability and the SiP your group described, and what your own role must do first."</a:t>
            </a:r>
          </a:p>
          <a:p>
            <a:endParaRPr lang="en-US" dirty="0"/>
          </a:p>
          <a:p>
            <a:r>
              <a:rPr lang="en-US" b="1" dirty="0"/>
              <a:t>4. Say why the shift must reach behaviour.</a:t>
            </a:r>
          </a:p>
          <a:p>
            <a:r>
              <a:rPr lang="en-US" dirty="0"/>
              <a:t>Say: "Organisations often rebuild structures without correcting the behaviours that caused the original failure. </a:t>
            </a:r>
          </a:p>
          <a:p>
            <a:r>
              <a:rPr lang="en-US" dirty="0"/>
              <a:t>(Insight: Rebuilding without correcting. Source: Journal, 2 August 2026 — Professional Insights: Strategy)</a:t>
            </a:r>
          </a:p>
          <a:p>
            <a:endParaRPr lang="en-US" dirty="0"/>
          </a:p>
          <a:p>
            <a:r>
              <a:rPr lang="en-US" b="1" dirty="0"/>
              <a:t>5. Bridge to the Unit Summary.</a:t>
            </a:r>
          </a:p>
          <a:p>
            <a:r>
              <a:rPr lang="en-US" dirty="0"/>
              <a:t>Say: "We close the unit by returning to where we started."</a:t>
            </a:r>
          </a:p>
          <a:p>
            <a:endParaRPr lang="en-US" dirty="0"/>
          </a:p>
          <a:p>
            <a:r>
              <a:rPr lang="en-US" b="1" dirty="0"/>
              <a:t>ON THE PORTAL, AFTER THE TEACHING:</a:t>
            </a:r>
          </a:p>
          <a:p>
            <a:r>
              <a:rPr lang="en-US" dirty="0"/>
              <a:t>Participants write the reflection in Section 5 of the participant file: 5.2 Reflection —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UNIT SUMMARY (UNIT 2 SYNTHESIS)</a:t>
            </a:r>
          </a:p>
          <a:p>
            <a:endParaRPr lang="en-US" dirty="0"/>
          </a:p>
          <a:p>
            <a:r>
              <a:rPr lang="en-US" b="1" dirty="0"/>
              <a:t>HOW TO TEACH IT:</a:t>
            </a:r>
          </a:p>
          <a:p>
            <a:endParaRPr lang="en-US" dirty="0"/>
          </a:p>
          <a:p>
            <a:r>
              <a:rPr lang="en-US" b="1" dirty="0"/>
              <a:t>1. Return to the opening question, on the slide.</a:t>
            </a:r>
          </a:p>
          <a:p>
            <a:r>
              <a:rPr lang="en-US" dirty="0"/>
              <a:t>Go back to the definitions participants wrote when the session opened. </a:t>
            </a:r>
          </a:p>
          <a:p>
            <a:endParaRPr lang="en-US" dirty="0"/>
          </a:p>
          <a:p>
            <a:r>
              <a:rPr lang="en-US" dirty="0"/>
              <a:t>The differences you noted on the chat. Ask two or three participants:</a:t>
            </a:r>
          </a:p>
          <a:p>
            <a:endParaRPr lang="en-US" dirty="0"/>
          </a:p>
          <a:p>
            <a:r>
              <a:rPr lang="en-US" dirty="0"/>
              <a:t>"Read your original definition of strategy. What would you change in it now — and why?"</a:t>
            </a:r>
          </a:p>
          <a:p>
            <a:r>
              <a:rPr lang="en-US" dirty="0"/>
              <a:t>Say: "The difference between your opening answer and your closing answer is the measure of what Unit 2 produced."</a:t>
            </a:r>
          </a:p>
          <a:p>
            <a:endParaRPr lang="en-US" dirty="0"/>
          </a:p>
          <a:p>
            <a:r>
              <a:rPr lang="en-US" b="1" dirty="0"/>
              <a:t>2. Read the five summary blocks aloud.</a:t>
            </a:r>
          </a:p>
          <a:p>
            <a:endParaRPr lang="en-US" dirty="0"/>
          </a:p>
          <a:p>
            <a:r>
              <a:rPr lang="en-US" dirty="0"/>
              <a:t>The summary is deliberately concise: its role is to crystallise the arc of the unit. </a:t>
            </a:r>
          </a:p>
          <a:p>
            <a:endParaRPr lang="en-US" dirty="0"/>
          </a:p>
          <a:p>
            <a:r>
              <a:rPr lang="en-US" dirty="0"/>
              <a:t>The blocks describe the whole unit, including the work the groups complete on the portal.</a:t>
            </a:r>
          </a:p>
          <a:p>
            <a:endParaRPr lang="en-US" dirty="0"/>
          </a:p>
          <a:p>
            <a:pPr marL="171450" indent="-171450">
              <a:buFontTx/>
              <a:buChar char="-"/>
            </a:pPr>
            <a:r>
              <a:rPr lang="en-US" b="1" dirty="0"/>
              <a:t>Awareness — What · What Was Established: </a:t>
            </a:r>
          </a:p>
          <a:p>
            <a:pPr marL="0" indent="0">
              <a:buFontTx/>
              <a:buNone/>
            </a:pPr>
            <a:r>
              <a:rPr lang="en-US" dirty="0"/>
              <a:t>Strategy was defined precisely: the output of iterative thinking, logic and process to determine what, why, how and when an organisation creates, delivers and sustains value to its stakeholders while navigating the forces within its operating environment. </a:t>
            </a:r>
          </a:p>
          <a:p>
            <a:pPr marL="0" indent="0">
              <a:buFontTx/>
              <a:buNone/>
            </a:pPr>
            <a:r>
              <a:rPr lang="en-US" dirty="0"/>
              <a:t>Each concept in the definition is part of the Strategy Architecture: </a:t>
            </a:r>
          </a:p>
          <a:p>
            <a:pPr marL="0" indent="0">
              <a:buFontTx/>
              <a:buNone/>
            </a:pPr>
            <a:endParaRPr lang="en-US" dirty="0"/>
          </a:p>
          <a:p>
            <a:pPr marL="0" indent="0">
              <a:buFontTx/>
              <a:buNone/>
            </a:pPr>
            <a:r>
              <a:rPr lang="en-US" dirty="0"/>
              <a:t>The Strategy Intent Statement brings forward four dimensions from that architecture (WHAT, WHY, HOW and WHEN) and crystallises them into one clear statement. </a:t>
            </a:r>
          </a:p>
          <a:p>
            <a:pPr marL="0" indent="0">
              <a:buFontTx/>
              <a:buNone/>
            </a:pPr>
            <a:endParaRPr lang="en-US" dirty="0"/>
          </a:p>
          <a:p>
            <a:pPr marL="0" indent="0">
              <a:buFontTx/>
              <a:buNone/>
            </a:pPr>
            <a:r>
              <a:rPr lang="en-US" dirty="0"/>
              <a:t>Success in Practice (SiP) defines what must be seen, experienced and executed for that ambition to become reality, across four observable domains: Customer Experience &amp; Value, Operational Capability &amp; Execution Rhythm, People &amp; Culture Dynamics, and Enterprise Value Creation.</a:t>
            </a:r>
          </a:p>
          <a:p>
            <a:pPr marL="0" indent="0">
              <a:buFontTx/>
              <a:buNone/>
            </a:pPr>
            <a:endParaRPr lang="en-US" dirty="0"/>
          </a:p>
          <a:p>
            <a:pPr marL="171450" indent="-171450">
              <a:buFontTx/>
              <a:buChar char="-"/>
            </a:pPr>
            <a:r>
              <a:rPr lang="en-US" b="1" dirty="0"/>
              <a:t>Intelligence — Why · Why It Matters: </a:t>
            </a:r>
          </a:p>
          <a:p>
            <a:pPr marL="0" indent="0">
              <a:buFontTx/>
              <a:buNone/>
            </a:pPr>
            <a:r>
              <a:rPr lang="en-US" dirty="0"/>
              <a:t>The Strategy Intent and SiP become useful when they shape how the organisation aligns, makes choices and executes. </a:t>
            </a:r>
          </a:p>
          <a:p>
            <a:pPr marL="0" indent="0">
              <a:buFontTx/>
              <a:buNone/>
            </a:pPr>
            <a:endParaRPr lang="en-US" dirty="0"/>
          </a:p>
          <a:p>
            <a:pPr marL="0" indent="0">
              <a:buFontTx/>
              <a:buNone/>
            </a:pPr>
            <a:r>
              <a:rPr lang="en-US" dirty="0"/>
              <a:t>They serve three functions. </a:t>
            </a:r>
          </a:p>
          <a:p>
            <a:pPr marL="0" indent="0">
              <a:buFontTx/>
              <a:buNone/>
            </a:pPr>
            <a:r>
              <a:rPr lang="en-US" dirty="0"/>
              <a:t>Strategic Alignment keeps people and functions oriented around the same ambition and picture of success.</a:t>
            </a:r>
          </a:p>
          <a:p>
            <a:pPr marL="0" indent="0">
              <a:buFontTx/>
              <a:buNone/>
            </a:pPr>
            <a:r>
              <a:rPr lang="en-US" dirty="0"/>
              <a:t> </a:t>
            </a:r>
          </a:p>
          <a:p>
            <a:pPr marL="0" indent="0">
              <a:buFontTx/>
              <a:buNone/>
            </a:pPr>
            <a:r>
              <a:rPr lang="en-US" dirty="0"/>
              <a:t>The Decision Filter gives a basis for determining which choices, opportunities and investments support the strategy: the Strategy Intent tests strategic fit and SiP tests strategic contribution. </a:t>
            </a:r>
          </a:p>
          <a:p>
            <a:pPr marL="0" indent="0">
              <a:buFontTx/>
              <a:buNone/>
            </a:pPr>
            <a:endParaRPr lang="en-US" dirty="0"/>
          </a:p>
          <a:p>
            <a:pPr marL="0" indent="0">
              <a:buFontTx/>
              <a:buNone/>
            </a:pPr>
            <a:r>
              <a:rPr lang="en-US" dirty="0"/>
              <a:t>Execution Coherence helps functions understand how their individual contributions connect to produce the enterprise outcome.</a:t>
            </a:r>
          </a:p>
          <a:p>
            <a:endParaRPr lang="en-US" dirty="0"/>
          </a:p>
          <a:p>
            <a:pPr marL="171450" indent="-171450">
              <a:buFontTx/>
              <a:buChar char="-"/>
            </a:pPr>
            <a:r>
              <a:rPr lang="en-US" b="1" dirty="0"/>
              <a:t>Extrapolating — Where · Where Success Shows Up: </a:t>
            </a:r>
          </a:p>
          <a:p>
            <a:pPr marL="0" indent="0">
              <a:buFontTx/>
              <a:buNone/>
            </a:pPr>
            <a:r>
              <a:rPr lang="en-US" dirty="0"/>
              <a:t>Each SiP domain was examined through observable indicators in two positions: When Working and Signal of Absence. </a:t>
            </a:r>
          </a:p>
          <a:p>
            <a:pPr marL="0" indent="0">
              <a:buFontTx/>
              <a:buNone/>
            </a:pPr>
            <a:r>
              <a:rPr lang="en-US" dirty="0"/>
              <a:t>The indicators help leaders test, deepen and make observable the success they have defined. </a:t>
            </a:r>
          </a:p>
          <a:p>
            <a:pPr marL="0" indent="0">
              <a:buFontTx/>
              <a:buNone/>
            </a:pPr>
            <a:endParaRPr lang="en-US" dirty="0"/>
          </a:p>
          <a:p>
            <a:pPr marL="171450" indent="-171450">
              <a:buFontTx/>
              <a:buChar char="-"/>
            </a:pPr>
            <a:r>
              <a:rPr lang="en-US" b="1" dirty="0"/>
              <a:t>Integration — Collective · What Was Built: </a:t>
            </a:r>
          </a:p>
          <a:p>
            <a:pPr marL="0" indent="0">
              <a:buFontTx/>
              <a:buNone/>
            </a:pPr>
            <a:r>
              <a:rPr lang="en-US" dirty="0"/>
              <a:t>Each group built three connected outputs in sequence. </a:t>
            </a:r>
          </a:p>
          <a:p>
            <a:pPr marL="0" indent="0">
              <a:buFontTx/>
              <a:buNone/>
            </a:pPr>
            <a:r>
              <a:rPr lang="en-US" dirty="0"/>
              <a:t>The Strategy Architecture: the integrated strategic logic constructed from the 14 elements. </a:t>
            </a:r>
          </a:p>
          <a:p>
            <a:pPr marL="0" indent="0">
              <a:buFontTx/>
              <a:buNone/>
            </a:pPr>
            <a:r>
              <a:rPr lang="en-US" dirty="0"/>
              <a:t>The Strategy Intent Statement: the crisp expression of the organisation's strategic ambition derived from WHAT, WHY, HOW and WHEN. </a:t>
            </a:r>
          </a:p>
          <a:p>
            <a:pPr marL="0" indent="0">
              <a:buFontTx/>
              <a:buNone/>
            </a:pPr>
            <a:r>
              <a:rPr lang="en-US" dirty="0"/>
              <a:t>Success in Practice: four confirmed statements describing what successful realisation of that ambition looks like across the organisation. </a:t>
            </a:r>
          </a:p>
          <a:p>
            <a:pPr marL="0" indent="0">
              <a:buFontTx/>
              <a:buNone/>
            </a:pPr>
            <a:endParaRPr lang="en-US" dirty="0"/>
          </a:p>
          <a:p>
            <a:pPr marL="0" indent="0">
              <a:buFontTx/>
              <a:buNone/>
            </a:pPr>
            <a:r>
              <a:rPr lang="en-US" dirty="0"/>
              <a:t>The Architecture provides the logic. The Intent crystallises the ambition. Success in Practice makes the ambition observable.</a:t>
            </a:r>
          </a:p>
          <a:p>
            <a:pPr marL="0" indent="0">
              <a:buFontTx/>
              <a:buNone/>
            </a:pPr>
            <a:endParaRPr lang="en-US" dirty="0"/>
          </a:p>
          <a:p>
            <a:pPr marL="171450" indent="-171450">
              <a:buFontTx/>
              <a:buChar char="-"/>
            </a:pPr>
            <a:r>
              <a:rPr lang="en-US" b="1" dirty="0"/>
              <a:t>Application — In Practice · </a:t>
            </a:r>
          </a:p>
          <a:p>
            <a:pPr marL="0" indent="0">
              <a:buFontTx/>
              <a:buNone/>
            </a:pPr>
            <a:r>
              <a:rPr lang="en-US" dirty="0"/>
              <a:t>What Was Applied: Each participant applied the agreed Success in Practice to an assigned executive role and defined, in the present tense of the future, </a:t>
            </a:r>
          </a:p>
          <a:p>
            <a:pPr marL="0" indent="0">
              <a:buFontTx/>
              <a:buNone/>
            </a:pPr>
            <a:r>
              <a:rPr lang="en-US" dirty="0"/>
              <a:t>Each group then shared its SiP statement and explained how the role contributions support it.</a:t>
            </a:r>
          </a:p>
          <a:p>
            <a:pPr marL="0" indent="0">
              <a:buFontTx/>
              <a:buNone/>
            </a:pPr>
            <a:r>
              <a:rPr lang="en-US" dirty="0"/>
              <a:t> The group examined alignment, gaps, tensions and the areas where the SiP statement needs clearer execution ownership. </a:t>
            </a:r>
          </a:p>
          <a:p>
            <a:pPr marL="0" indent="0">
              <a:buFontTx/>
              <a:buNone/>
            </a:pPr>
            <a:endParaRPr lang="en-US" dirty="0"/>
          </a:p>
          <a:p>
            <a:pPr marL="0" indent="0">
              <a:buFontTx/>
              <a:buNone/>
            </a:pPr>
            <a:r>
              <a:rPr lang="en-US" dirty="0"/>
              <a:t>The three outputs are the strategic foundation that later S2R® work carries into alignment, execution and performance.</a:t>
            </a:r>
          </a:p>
          <a:p>
            <a:endParaRPr lang="en-US" dirty="0"/>
          </a:p>
          <a:p>
            <a:endParaRPr lang="en-US" dirty="0"/>
          </a:p>
          <a:p>
            <a:r>
              <a:rPr lang="en-US" b="1" dirty="0"/>
              <a:t>3. Run the tangible outputs check.</a:t>
            </a:r>
          </a:p>
          <a:p>
            <a:r>
              <a:rPr lang="en-US" dirty="0"/>
              <a:t>Before closing, confirm with the group that the following have been produced or are in progress:</a:t>
            </a:r>
          </a:p>
          <a:p>
            <a:r>
              <a:rPr lang="en-US" dirty="0"/>
              <a:t>- A Strategy Architecture output from each group</a:t>
            </a:r>
          </a:p>
          <a:p>
            <a:r>
              <a:rPr lang="en-US" dirty="0"/>
              <a:t>- A confirmed Strategy Intent Statement from each group</a:t>
            </a:r>
          </a:p>
          <a:p>
            <a:r>
              <a:rPr lang="en-US" dirty="0"/>
              <a:t>- Four confirmed SiP statements from each group</a:t>
            </a:r>
          </a:p>
          <a:p>
            <a:r>
              <a:rPr lang="en-US" dirty="0"/>
              <a:t>- A role contribution row from each participant</a:t>
            </a:r>
          </a:p>
          <a:p>
            <a:endParaRPr lang="en-US" dirty="0"/>
          </a:p>
          <a:p>
            <a:r>
              <a:rPr lang="en-US" b="1" dirty="0"/>
              <a:t>4. Ask for the closing commitment, on the slide.</a:t>
            </a:r>
          </a:p>
          <a:p>
            <a:r>
              <a:rPr lang="en-US" dirty="0"/>
              <a:t>Ask each participant to complete this sentence privately:</a:t>
            </a:r>
          </a:p>
          <a:p>
            <a:r>
              <a:rPr lang="en-US" dirty="0"/>
              <a:t>"Based on what Unit 2 revealed, the one thing I am committed to doing differently before our next session is…"</a:t>
            </a:r>
          </a:p>
          <a:p>
            <a:r>
              <a:rPr lang="en-US" dirty="0"/>
              <a:t>Post in the chat. These become the accountability anchors for Unit 3.</a:t>
            </a:r>
          </a:p>
          <a:p>
            <a:endParaRPr lang="en-US" dirty="0"/>
          </a:p>
          <a:p>
            <a:r>
              <a:rPr lang="en-US" b="1" dirty="0"/>
              <a:t>5. Give the transition to Unit 3.</a:t>
            </a:r>
          </a:p>
          <a:p>
            <a:r>
              <a:rPr lang="en-US" dirty="0"/>
              <a:t>Say: "What we built today is the strategic foundation: the Architecture, the Intent and the Success in Practice. </a:t>
            </a:r>
          </a:p>
          <a:p>
            <a:endParaRPr lang="en-US" dirty="0"/>
          </a:p>
          <a:p>
            <a:r>
              <a:rPr lang="en-US" dirty="0"/>
              <a:t>Unit 3 maps that Success in Practice and defines the Objective Key Results that will measure our progress toward it."</a:t>
            </a:r>
          </a:p>
          <a:p>
            <a:endParaRPr lang="en-US" dirty="0"/>
          </a:p>
          <a:p>
            <a:r>
              <a:rPr lang="en-US" b="1" dirty="0"/>
              <a:t>6. Hand over to the portal.</a:t>
            </a:r>
          </a:p>
          <a:p>
            <a:r>
              <a:rPr lang="en-US" dirty="0"/>
              <a:t>Say: "The teaching ends here. You now go to the portal and complete your own page, in the session or after it."</a:t>
            </a:r>
          </a:p>
          <a:p>
            <a:r>
              <a:rPr lang="en-US" dirty="0"/>
              <a:t>- Section 1: the opening definition of strategy, and the reflections for 1.1 and 1.2.</a:t>
            </a:r>
          </a:p>
          <a:p>
            <a:r>
              <a:rPr lang="en-US" dirty="0"/>
              <a:t>- Section 2: the 2.1 reflection.</a:t>
            </a:r>
          </a:p>
          <a:p>
            <a:r>
              <a:rPr lang="en-US" dirty="0"/>
              <a:t>- Section 3: the 3.1 reflection.</a:t>
            </a:r>
          </a:p>
          <a:p>
            <a:r>
              <a:rPr lang="en-US" dirty="0"/>
              <a:t>- Section 4, with the group: the 14 elements and the Strategy Architecture output, the Strategy Intent Statement, and the four SiP statements. The group agrees each entry, one member acts as scribe, and every member types the agreed entries into their own page.</a:t>
            </a:r>
          </a:p>
          <a:p>
            <a:r>
              <a:rPr lang="en-US" dirty="0"/>
              <a:t>- Section 5: the role contribution row in 5.1, the four observation boxes in 5.2 and the 5.2 reflection.</a:t>
            </a:r>
          </a:p>
          <a:p>
            <a:r>
              <a:rPr lang="en-US" dirty="0"/>
              <a:t>Participants then submit Unit 2 to the facilitator from their page.</a:t>
            </a:r>
          </a:p>
          <a:p>
            <a:r>
              <a:rPr lang="en-US" dirty="0"/>
              <a:t>Where the portal work is done in the session, bring the room back together once it is complete, for the reading of the three outputs (4.3c) and the group sharing (5.2).</a:t>
            </a:r>
          </a:p>
          <a:p>
            <a:endParaRPr lang="en-US" dirty="0"/>
          </a:p>
          <a:p>
            <a:r>
              <a:rPr lang="en-US" b="1" dirty="0"/>
              <a:t>AFTER THE SESSION:</a:t>
            </a:r>
          </a:p>
          <a:p>
            <a:r>
              <a:rPr lang="en-US" dirty="0"/>
              <a:t>- Review each participant’s submission from the facilitator dashboard. The three outputs appear under their own headings: Strategy Architecture, Strategy Intent Statement and Success in Practice (SiP).</a:t>
            </a:r>
          </a:p>
          <a:p>
            <a:r>
              <a:rPr lang="en-US" dirty="0"/>
              <a:t>- Note the groups whose members hold different versions of an output. Ask them to agree one version and update their pages before the team opens its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0.png"/><Relationship Id="rId6"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image" Target="../media/image12.png"/><Relationship Id="rId5"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2 · Direction · Unit 2</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Strategy Visioning &amp; Success in Practice (SiP)</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Strategy Architecture · Strategy Intent Statement · Success in Practice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Define strategy architecture and articulate strategic intent in relation to the organisation’s purpose, long-term value and stakeholder relevance.</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Define a coherent future position and the organisational meaning of success.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the consistency between strategic ambition, organisational identity and the realities of the operating environment.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Establish a shared strategic direction that supports consistent enterprise interpretation and decision-making.</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Strategy?</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Define strategy through the architecture that connects direction to success.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Distinguish the direction an organisation sets from the future position that defines its success.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Opening the session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Write your definition of strategy in one sentence — right now, without consulting anyone.</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1.1a · Define the Strategy Architecture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Strategy is the output of iterative thinking, logic and process to determine what, why, how and when an organisation creates, delivers and sustains value to its stakeholders while navigating the forces within its operating environment.</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Building the Strategy Architecture</a:t>
            </a:r>
            <a:endParaRPr lang="en-US" sz="3600" dirty="0"/>
          </a:p>
        </p:txBody>
      </p:sp>
      <p:sp>
        <p:nvSpPr>
          <p:cNvPr id="3" name="Shape 1"/>
          <p:cNvSpPr/>
          <p:nvPr/>
        </p:nvSpPr>
        <p:spPr>
          <a:xfrm>
            <a:off x="548640" y="159029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43763" y="1685417"/>
            <a:ext cx="190246" cy="190246"/>
          </a:xfrm>
          <a:prstGeom prst="rect">
            <a:avLst/>
          </a:prstGeom>
        </p:spPr>
      </p:pic>
      <p:sp>
        <p:nvSpPr>
          <p:cNvPr id="5" name="Text 2"/>
          <p:cNvSpPr txBox="1"/>
          <p:nvPr/>
        </p:nvSpPr>
        <p:spPr>
          <a:xfrm>
            <a:off x="1249172" y="150876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OUTPUT  </a:t>
            </a:r>
            <a:r>
              <a:rPr lang="en-US" sz="2400" dirty="0">
                <a:solidFill>
                  <a:srgbClr val="1F2A22"/>
                </a:solidFill>
                <a:latin typeface="Calibri" pitchFamily="34" charset="0"/>
                <a:ea typeface="Calibri" pitchFamily="34" charset="-122"/>
                <a:cs typeface="Calibri" pitchFamily="34" charset="-120"/>
              </a:rPr>
              <a:t>A decided position</a:t>
            </a:r>
            <a:endParaRPr lang="en-US" sz="2400" dirty="0"/>
          </a:p>
        </p:txBody>
      </p:sp>
      <p:sp>
        <p:nvSpPr>
          <p:cNvPr id="6" name="Shape 3"/>
          <p:cNvSpPr/>
          <p:nvPr/>
        </p:nvSpPr>
        <p:spPr>
          <a:xfrm>
            <a:off x="548640" y="213385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643763" y="2228977"/>
            <a:ext cx="190246" cy="190246"/>
          </a:xfrm>
          <a:prstGeom prst="rect">
            <a:avLst/>
          </a:prstGeom>
        </p:spPr>
      </p:pic>
      <p:sp>
        <p:nvSpPr>
          <p:cNvPr id="8" name="Text 4"/>
          <p:cNvSpPr txBox="1"/>
          <p:nvPr/>
        </p:nvSpPr>
        <p:spPr>
          <a:xfrm>
            <a:off x="1249172" y="205232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ITERATIVE  </a:t>
            </a:r>
            <a:r>
              <a:rPr lang="en-US" sz="2400" dirty="0">
                <a:solidFill>
                  <a:srgbClr val="1F2A22"/>
                </a:solidFill>
                <a:latin typeface="Calibri" pitchFamily="34" charset="0"/>
                <a:ea typeface="Calibri" pitchFamily="34" charset="-122"/>
                <a:cs typeface="Calibri" pitchFamily="34" charset="-120"/>
              </a:rPr>
              <a:t>Continuously refined</a:t>
            </a:r>
            <a:endParaRPr lang="en-US" sz="2400" dirty="0"/>
          </a:p>
        </p:txBody>
      </p:sp>
      <p:sp>
        <p:nvSpPr>
          <p:cNvPr id="9" name="Shape 5"/>
          <p:cNvSpPr/>
          <p:nvPr/>
        </p:nvSpPr>
        <p:spPr>
          <a:xfrm>
            <a:off x="548640" y="267741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643763" y="2772537"/>
            <a:ext cx="190246" cy="190246"/>
          </a:xfrm>
          <a:prstGeom prst="rect">
            <a:avLst/>
          </a:prstGeom>
        </p:spPr>
      </p:pic>
      <p:sp>
        <p:nvSpPr>
          <p:cNvPr id="11" name="Text 6"/>
          <p:cNvSpPr txBox="1"/>
          <p:nvPr/>
        </p:nvSpPr>
        <p:spPr>
          <a:xfrm>
            <a:off x="1249172" y="259588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THINKING &amp; LOGIC  </a:t>
            </a:r>
            <a:r>
              <a:rPr lang="en-US" sz="2400" dirty="0">
                <a:solidFill>
                  <a:srgbClr val="1F2A22"/>
                </a:solidFill>
                <a:latin typeface="Calibri" pitchFamily="34" charset="0"/>
                <a:ea typeface="Calibri" pitchFamily="34" charset="-122"/>
                <a:cs typeface="Calibri" pitchFamily="34" charset="-120"/>
              </a:rPr>
              <a:t>The cognitive engine</a:t>
            </a:r>
            <a:endParaRPr lang="en-US" sz="2400" dirty="0"/>
          </a:p>
        </p:txBody>
      </p:sp>
      <p:sp>
        <p:nvSpPr>
          <p:cNvPr id="12" name="Shape 7"/>
          <p:cNvSpPr/>
          <p:nvPr/>
        </p:nvSpPr>
        <p:spPr>
          <a:xfrm>
            <a:off x="548640" y="322097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643763" y="3316097"/>
            <a:ext cx="190246" cy="190246"/>
          </a:xfrm>
          <a:prstGeom prst="rect">
            <a:avLst/>
          </a:prstGeom>
        </p:spPr>
      </p:pic>
      <p:sp>
        <p:nvSpPr>
          <p:cNvPr id="14" name="Text 8"/>
          <p:cNvSpPr txBox="1"/>
          <p:nvPr/>
        </p:nvSpPr>
        <p:spPr>
          <a:xfrm>
            <a:off x="1249172" y="313944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PROCESS  </a:t>
            </a:r>
            <a:r>
              <a:rPr lang="en-US" sz="2400" dirty="0">
                <a:solidFill>
                  <a:srgbClr val="1F2A22"/>
                </a:solidFill>
                <a:latin typeface="Calibri" pitchFamily="34" charset="0"/>
                <a:ea typeface="Calibri" pitchFamily="34" charset="-122"/>
                <a:cs typeface="Calibri" pitchFamily="34" charset="-120"/>
              </a:rPr>
              <a:t>The structured container</a:t>
            </a:r>
            <a:endParaRPr lang="en-US" sz="2400" dirty="0"/>
          </a:p>
        </p:txBody>
      </p:sp>
      <p:sp>
        <p:nvSpPr>
          <p:cNvPr id="15" name="Shape 9"/>
          <p:cNvSpPr/>
          <p:nvPr/>
        </p:nvSpPr>
        <p:spPr>
          <a:xfrm>
            <a:off x="548640" y="376453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3"/>
          <a:stretch>
            <a:fillRect/>
          </a:stretch>
        </p:blipFill>
        <p:spPr>
          <a:xfrm>
            <a:off x="643763" y="3859657"/>
            <a:ext cx="190246" cy="190246"/>
          </a:xfrm>
          <a:prstGeom prst="rect">
            <a:avLst/>
          </a:prstGeom>
        </p:spPr>
      </p:pic>
      <p:sp>
        <p:nvSpPr>
          <p:cNvPr id="17" name="Text 10"/>
          <p:cNvSpPr txBox="1"/>
          <p:nvPr/>
        </p:nvSpPr>
        <p:spPr>
          <a:xfrm>
            <a:off x="1249172" y="368300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WHAT · WHY · HOW · WHEN  </a:t>
            </a:r>
            <a:r>
              <a:rPr lang="en-US" sz="2400" dirty="0">
                <a:solidFill>
                  <a:srgbClr val="1F2A22"/>
                </a:solidFill>
                <a:latin typeface="Calibri" pitchFamily="34" charset="0"/>
                <a:ea typeface="Calibri" pitchFamily="34" charset="-122"/>
                <a:cs typeface="Calibri" pitchFamily="34" charset="-120"/>
              </a:rPr>
              <a:t>The 3Ws &amp; H — complete decision space</a:t>
            </a:r>
            <a:endParaRPr lang="en-US" sz="2400" dirty="0"/>
          </a:p>
        </p:txBody>
      </p:sp>
      <p:sp>
        <p:nvSpPr>
          <p:cNvPr id="18" name="Shape 11"/>
          <p:cNvSpPr/>
          <p:nvPr/>
        </p:nvSpPr>
        <p:spPr>
          <a:xfrm>
            <a:off x="548640" y="430809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3"/>
          <a:stretch>
            <a:fillRect/>
          </a:stretch>
        </p:blipFill>
        <p:spPr>
          <a:xfrm>
            <a:off x="643763" y="4403217"/>
            <a:ext cx="190246" cy="190246"/>
          </a:xfrm>
          <a:prstGeom prst="rect">
            <a:avLst/>
          </a:prstGeom>
        </p:spPr>
      </p:pic>
      <p:sp>
        <p:nvSpPr>
          <p:cNvPr id="20" name="Text 12"/>
          <p:cNvSpPr txBox="1"/>
          <p:nvPr/>
        </p:nvSpPr>
        <p:spPr>
          <a:xfrm>
            <a:off x="1249172" y="422656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CREATES · DELIVERS · SUSTAINS  </a:t>
            </a:r>
            <a:r>
              <a:rPr lang="en-US" sz="2400" dirty="0">
                <a:solidFill>
                  <a:srgbClr val="1F2A22"/>
                </a:solidFill>
                <a:latin typeface="Calibri" pitchFamily="34" charset="0"/>
                <a:ea typeface="Calibri" pitchFamily="34" charset="-122"/>
                <a:cs typeface="Calibri" pitchFamily="34" charset="-120"/>
              </a:rPr>
              <a:t>The Value Triad</a:t>
            </a:r>
            <a:endParaRPr lang="en-US" sz="2400" dirty="0"/>
          </a:p>
        </p:txBody>
      </p:sp>
      <p:sp>
        <p:nvSpPr>
          <p:cNvPr id="21" name="Shape 13"/>
          <p:cNvSpPr/>
          <p:nvPr/>
        </p:nvSpPr>
        <p:spPr>
          <a:xfrm>
            <a:off x="548640" y="485165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22" name="Image 6" descr="preencoded.png"/>
          <p:cNvPicPr>
            <a:picLocks noChangeAspect="1"/>
          </p:cNvPicPr>
          <p:nvPr/>
        </p:nvPicPr>
        <p:blipFill>
          <a:blip r:embed="rId3"/>
          <a:stretch>
            <a:fillRect/>
          </a:stretch>
        </p:blipFill>
        <p:spPr>
          <a:xfrm>
            <a:off x="643763" y="4946777"/>
            <a:ext cx="190246" cy="190246"/>
          </a:xfrm>
          <a:prstGeom prst="rect">
            <a:avLst/>
          </a:prstGeom>
        </p:spPr>
      </p:pic>
      <p:sp>
        <p:nvSpPr>
          <p:cNvPr id="23" name="Text 14"/>
          <p:cNvSpPr txBox="1"/>
          <p:nvPr/>
        </p:nvSpPr>
        <p:spPr>
          <a:xfrm>
            <a:off x="1249172" y="477012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STAKEHOLDERS  </a:t>
            </a:r>
            <a:r>
              <a:rPr lang="en-US" sz="2400" dirty="0">
                <a:solidFill>
                  <a:srgbClr val="1F2A22"/>
                </a:solidFill>
                <a:latin typeface="Calibri" pitchFamily="34" charset="0"/>
                <a:ea typeface="Calibri" pitchFamily="34" charset="-122"/>
                <a:cs typeface="Calibri" pitchFamily="34" charset="-120"/>
              </a:rPr>
              <a:t>Broader than customers</a:t>
            </a:r>
            <a:endParaRPr lang="en-US" sz="2400" dirty="0"/>
          </a:p>
        </p:txBody>
      </p:sp>
      <p:sp>
        <p:nvSpPr>
          <p:cNvPr id="24" name="Shape 15"/>
          <p:cNvSpPr/>
          <p:nvPr/>
        </p:nvSpPr>
        <p:spPr>
          <a:xfrm>
            <a:off x="548640" y="539521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25" name="Image 7" descr="preencoded.png"/>
          <p:cNvPicPr>
            <a:picLocks noChangeAspect="1"/>
          </p:cNvPicPr>
          <p:nvPr/>
        </p:nvPicPr>
        <p:blipFill>
          <a:blip r:embed="rId3"/>
          <a:stretch>
            <a:fillRect/>
          </a:stretch>
        </p:blipFill>
        <p:spPr>
          <a:xfrm>
            <a:off x="643763" y="5490337"/>
            <a:ext cx="190246" cy="190246"/>
          </a:xfrm>
          <a:prstGeom prst="rect">
            <a:avLst/>
          </a:prstGeom>
        </p:spPr>
      </p:pic>
      <p:sp>
        <p:nvSpPr>
          <p:cNvPr id="26" name="Text 16"/>
          <p:cNvSpPr txBox="1"/>
          <p:nvPr/>
        </p:nvSpPr>
        <p:spPr>
          <a:xfrm>
            <a:off x="1249172" y="531368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NAVIGATING  </a:t>
            </a:r>
            <a:r>
              <a:rPr lang="en-US" sz="2400" dirty="0">
                <a:solidFill>
                  <a:srgbClr val="1F2A22"/>
                </a:solidFill>
                <a:latin typeface="Calibri" pitchFamily="34" charset="0"/>
                <a:ea typeface="Calibri" pitchFamily="34" charset="-122"/>
                <a:cs typeface="Calibri" pitchFamily="34" charset="-120"/>
              </a:rPr>
              <a:t>Active, skilful movement through forces</a:t>
            </a:r>
            <a:endParaRPr lang="en-US" sz="2400" dirty="0"/>
          </a:p>
        </p:txBody>
      </p:sp>
      <p:sp>
        <p:nvSpPr>
          <p:cNvPr id="27" name="Shape 17"/>
          <p:cNvSpPr/>
          <p:nvPr/>
        </p:nvSpPr>
        <p:spPr>
          <a:xfrm>
            <a:off x="548640" y="5938774"/>
            <a:ext cx="380492" cy="380492"/>
          </a:xfrm>
          <a:prstGeom prst="ellipse">
            <a:avLst/>
          </a:prstGeom>
          <a:solidFill>
            <a:srgbClr val="1A5C2C"/>
          </a:solidFill>
          <a:ln w="12700">
            <a:solidFill>
              <a:srgbClr val="1A5C2C"/>
            </a:solidFill>
            <a:prstDash val="solid"/>
          </a:ln>
        </p:spPr>
        <p:txBody>
          <a:bodyPr/>
          <a:lstStyle/>
          <a:p>
            <a:endParaRPr lang="en-ZA"/>
          </a:p>
        </p:txBody>
      </p:sp>
      <p:pic>
        <p:nvPicPr>
          <p:cNvPr id="28" name="Image 8" descr="preencoded.png"/>
          <p:cNvPicPr>
            <a:picLocks noChangeAspect="1"/>
          </p:cNvPicPr>
          <p:nvPr/>
        </p:nvPicPr>
        <p:blipFill>
          <a:blip r:embed="rId3"/>
          <a:stretch>
            <a:fillRect/>
          </a:stretch>
        </p:blipFill>
        <p:spPr>
          <a:xfrm>
            <a:off x="643763" y="6033897"/>
            <a:ext cx="190246" cy="190246"/>
          </a:xfrm>
          <a:prstGeom prst="rect">
            <a:avLst/>
          </a:prstGeom>
        </p:spPr>
      </p:pic>
      <p:sp>
        <p:nvSpPr>
          <p:cNvPr id="29" name="Text 18"/>
          <p:cNvSpPr txBox="1"/>
          <p:nvPr/>
        </p:nvSpPr>
        <p:spPr>
          <a:xfrm>
            <a:off x="1249172" y="5857240"/>
            <a:ext cx="10391140" cy="5435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THE FORCES  </a:t>
            </a:r>
            <a:r>
              <a:rPr lang="en-US" sz="2400" dirty="0">
                <a:solidFill>
                  <a:srgbClr val="1F2A22"/>
                </a:solidFill>
                <a:latin typeface="Calibri" pitchFamily="34" charset="0"/>
                <a:ea typeface="Calibri" pitchFamily="34" charset="-122"/>
                <a:cs typeface="Calibri" pitchFamily="34" charset="-120"/>
              </a:rPr>
              <a:t>Five categories every strategy must navigate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Defining the Strategy Intent Statement</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WHAT</a:t>
            </a:r>
            <a:endParaRPr lang="en-US" sz="2800" dirty="0"/>
          </a:p>
        </p:txBody>
      </p:sp>
      <p:sp>
        <p:nvSpPr>
          <p:cNvPr id="7" name="Text 4"/>
          <p:cNvSpPr txBox="1"/>
          <p:nvPr/>
        </p:nvSpPr>
        <p:spPr>
          <a:xfrm>
            <a:off x="777240"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Scope &amp; Definition</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361873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3778758" y="1897380"/>
            <a:ext cx="320040" cy="320040"/>
          </a:xfrm>
          <a:prstGeom prst="rect">
            <a:avLst/>
          </a:prstGeom>
        </p:spPr>
      </p:pic>
      <p:sp>
        <p:nvSpPr>
          <p:cNvPr id="11" name="Text 7"/>
          <p:cNvSpPr txBox="1"/>
          <p:nvPr/>
        </p:nvSpPr>
        <p:spPr>
          <a:xfrm>
            <a:off x="3618738"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WHY</a:t>
            </a:r>
            <a:endParaRPr lang="en-US" sz="2800" dirty="0"/>
          </a:p>
        </p:txBody>
      </p:sp>
      <p:sp>
        <p:nvSpPr>
          <p:cNvPr id="12" name="Text 8"/>
          <p:cNvSpPr txBox="1"/>
          <p:nvPr/>
        </p:nvSpPr>
        <p:spPr>
          <a:xfrm>
            <a:off x="3618738"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Purpose &amp; Rationale</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6620256" y="1897380"/>
            <a:ext cx="320040" cy="320040"/>
          </a:xfrm>
          <a:prstGeom prst="rect">
            <a:avLst/>
          </a:prstGeom>
        </p:spPr>
      </p:pic>
      <p:sp>
        <p:nvSpPr>
          <p:cNvPr id="16" name="Text 11"/>
          <p:cNvSpPr txBox="1"/>
          <p:nvPr/>
        </p:nvSpPr>
        <p:spPr>
          <a:xfrm>
            <a:off x="6460236"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HOW</a:t>
            </a:r>
            <a:endParaRPr lang="en-US" sz="2800" dirty="0"/>
          </a:p>
        </p:txBody>
      </p:sp>
      <p:sp>
        <p:nvSpPr>
          <p:cNvPr id="17" name="Text 12"/>
          <p:cNvSpPr txBox="1"/>
          <p:nvPr/>
        </p:nvSpPr>
        <p:spPr>
          <a:xfrm>
            <a:off x="6460236"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Mechanism &amp; Model</a:t>
            </a:r>
            <a:endParaRPr lang="en-US" sz="2400" dirty="0"/>
          </a:p>
        </p:txBody>
      </p:sp>
      <p:sp>
        <p:nvSpPr>
          <p:cNvPr id="18" name="Shape 13"/>
          <p:cNvSpPr/>
          <p:nvPr/>
        </p:nvSpPr>
        <p:spPr>
          <a:xfrm>
            <a:off x="9073134"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930173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461754" y="1897380"/>
            <a:ext cx="320040" cy="320040"/>
          </a:xfrm>
          <a:prstGeom prst="rect">
            <a:avLst/>
          </a:prstGeom>
        </p:spPr>
      </p:pic>
      <p:sp>
        <p:nvSpPr>
          <p:cNvPr id="21" name="Text 15"/>
          <p:cNvSpPr txBox="1"/>
          <p:nvPr/>
        </p:nvSpPr>
        <p:spPr>
          <a:xfrm>
            <a:off x="9301734"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WHEN</a:t>
            </a:r>
            <a:endParaRPr lang="en-US" sz="2800" dirty="0"/>
          </a:p>
        </p:txBody>
      </p:sp>
      <p:sp>
        <p:nvSpPr>
          <p:cNvPr id="22" name="Text 16"/>
          <p:cNvSpPr txBox="1"/>
          <p:nvPr/>
        </p:nvSpPr>
        <p:spPr>
          <a:xfrm>
            <a:off x="9301734"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Timing &amp; Sequencing</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Four dimensions, crystallised into one clear Strategy Intent Statement.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Defining the Success in Practice</a:t>
            </a:r>
            <a:endParaRPr lang="en-US" sz="3600" dirty="0"/>
          </a:p>
        </p:txBody>
      </p:sp>
      <p:sp>
        <p:nvSpPr>
          <p:cNvPr id="3" name="Shape 1"/>
          <p:cNvSpPr/>
          <p:nvPr/>
        </p:nvSpPr>
        <p:spPr>
          <a:xfrm>
            <a:off x="548640"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D1 · Customer Experience &amp; Value</a:t>
            </a:r>
            <a:endParaRPr lang="en-US" sz="2600" dirty="0"/>
          </a:p>
        </p:txBody>
      </p:sp>
      <p:sp>
        <p:nvSpPr>
          <p:cNvPr id="7" name="Text 4"/>
          <p:cNvSpPr txBox="1"/>
          <p:nvPr/>
        </p:nvSpPr>
        <p:spPr>
          <a:xfrm>
            <a:off x="777240" y="2752344"/>
            <a:ext cx="4951476" cy="4480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customers experience</a:t>
            </a:r>
            <a:endParaRPr lang="en-US" sz="2400" dirty="0"/>
          </a:p>
        </p:txBody>
      </p:sp>
      <p:sp>
        <p:nvSpPr>
          <p:cNvPr id="8" name="Shape 5"/>
          <p:cNvSpPr/>
          <p:nvPr/>
        </p:nvSpPr>
        <p:spPr>
          <a:xfrm>
            <a:off x="6231636"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D2 · Operational Capability &amp; Execution Rhythm</a:t>
            </a:r>
            <a:endParaRPr lang="en-US" sz="2600" dirty="0"/>
          </a:p>
        </p:txBody>
      </p:sp>
      <p:sp>
        <p:nvSpPr>
          <p:cNvPr id="12" name="Text 8"/>
          <p:cNvSpPr txBox="1"/>
          <p:nvPr/>
        </p:nvSpPr>
        <p:spPr>
          <a:xfrm>
            <a:off x="6460236" y="2752344"/>
            <a:ext cx="4951476" cy="4480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How the organisation operates</a:t>
            </a:r>
            <a:endParaRPr lang="en-US" sz="2400" dirty="0"/>
          </a:p>
        </p:txBody>
      </p:sp>
      <p:sp>
        <p:nvSpPr>
          <p:cNvPr id="13" name="Shape 9"/>
          <p:cNvSpPr/>
          <p:nvPr/>
        </p:nvSpPr>
        <p:spPr>
          <a:xfrm>
            <a:off x="548640" y="361188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38404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3977640"/>
            <a:ext cx="274320" cy="274320"/>
          </a:xfrm>
          <a:prstGeom prst="rect">
            <a:avLst/>
          </a:prstGeom>
        </p:spPr>
      </p:pic>
      <p:sp>
        <p:nvSpPr>
          <p:cNvPr id="16" name="Text 11"/>
          <p:cNvSpPr txBox="1"/>
          <p:nvPr/>
        </p:nvSpPr>
        <p:spPr>
          <a:xfrm>
            <a:off x="1508760" y="37947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D3 · People &amp; Culture Dynamics</a:t>
            </a:r>
            <a:endParaRPr lang="en-US" sz="2600" dirty="0"/>
          </a:p>
        </p:txBody>
      </p:sp>
      <p:sp>
        <p:nvSpPr>
          <p:cNvPr id="17" name="Text 12"/>
          <p:cNvSpPr txBox="1"/>
          <p:nvPr/>
        </p:nvSpPr>
        <p:spPr>
          <a:xfrm>
            <a:off x="777240" y="4855464"/>
            <a:ext cx="4951476" cy="4480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How people decide and behave</a:t>
            </a:r>
            <a:endParaRPr lang="en-US" sz="2400" dirty="0"/>
          </a:p>
        </p:txBody>
      </p:sp>
      <p:sp>
        <p:nvSpPr>
          <p:cNvPr id="18" name="Shape 13"/>
          <p:cNvSpPr/>
          <p:nvPr/>
        </p:nvSpPr>
        <p:spPr>
          <a:xfrm>
            <a:off x="6231636" y="361188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38404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3977640"/>
            <a:ext cx="274320" cy="274320"/>
          </a:xfrm>
          <a:prstGeom prst="rect">
            <a:avLst/>
          </a:prstGeom>
        </p:spPr>
      </p:pic>
      <p:sp>
        <p:nvSpPr>
          <p:cNvPr id="21" name="Text 15"/>
          <p:cNvSpPr txBox="1"/>
          <p:nvPr/>
        </p:nvSpPr>
        <p:spPr>
          <a:xfrm>
            <a:off x="7191756" y="37947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D4 · Enterprise Value Creation</a:t>
            </a:r>
            <a:endParaRPr lang="en-US" sz="2600" dirty="0"/>
          </a:p>
        </p:txBody>
      </p:sp>
      <p:sp>
        <p:nvSpPr>
          <p:cNvPr id="22" name="Text 16"/>
          <p:cNvSpPr txBox="1"/>
          <p:nvPr/>
        </p:nvSpPr>
        <p:spPr>
          <a:xfrm>
            <a:off x="6460236" y="4855464"/>
            <a:ext cx="4951476" cy="4480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How the organisation benefits</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“If our Strategy Intent is successful, what should we see in practice?”</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1" descr="Reflection — Strategy Architecture: Which part of your organisation's strategy architecture is least well defined today? What is the consequence?"/>
          <p:cNvPicPr>
            <a:picLocks noChangeAspect="1"/>
          </p:cNvPicPr>
          <p:nvPr/>
        </p:nvPicPr>
        <p:blipFill>
          <a:blip r:embed="rId3"/>
          <a:stretch>
            <a:fillRect/>
          </a:stretch>
        </p:blipFill>
        <p:spPr>
          <a:xfrm>
            <a:off x="1691640" y="1572768"/>
            <a:ext cx="9921240" cy="1140372"/>
          </a:xfrm>
          <a:prstGeom prst="rect">
            <a:avLst/>
          </a:prstGeom>
        </p:spPr>
      </p:pic>
      <p:sp>
        <p:nvSpPr>
          <p:cNvPr id="4" name="Part 1.1"/>
          <p:cNvSpPr/>
          <p:nvPr/>
        </p:nvSpPr>
        <p:spPr>
          <a:xfrm>
            <a:off x="548640" y="170861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1.1</a:t>
            </a:r>
          </a:p>
        </p:txBody>
      </p:sp>
      <p:pic>
        <p:nvPicPr>
          <p:cNvPr id="5" name="Reflection 1.2" descr="Reflection — Strategy Intent: From your assigned executive leader perspective: which dimension (WHAT, WHY, HOW, WHEN) is least clearly defined in your organisation's current strategy? What would clarifying it change?"/>
          <p:cNvPicPr>
            <a:picLocks noChangeAspect="1"/>
          </p:cNvPicPr>
          <p:nvPr/>
        </p:nvPicPr>
        <p:blipFill>
          <a:blip r:embed="rId4"/>
          <a:stretch>
            <a:fillRect/>
          </a:stretch>
        </p:blipFill>
        <p:spPr>
          <a:xfrm>
            <a:off x="1691640" y="3005748"/>
            <a:ext cx="9921240" cy="1425466"/>
          </a:xfrm>
          <a:prstGeom prst="rect">
            <a:avLst/>
          </a:prstGeom>
        </p:spPr>
      </p:pic>
      <p:sp>
        <p:nvSpPr>
          <p:cNvPr id="6" name="Part 1.2"/>
          <p:cNvSpPr/>
          <p:nvPr/>
        </p:nvSpPr>
        <p:spPr>
          <a:xfrm>
            <a:off x="548640" y="328414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The Importance and Relevance of SiP</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Align leaders and functions around a shared strategic ambition and a shared picture of success.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how a shared direction filters decisions throughout execution.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Intent &amp; SiP in the S2R® Architecture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Strategic Alignment</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People and functions oriented around the same ambition and picture of success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Decision Filter</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A basis for deciding which choices, opportunities and investments support the strategy</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Execution Coherence</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Individual contributions connect to produce the enterprise outcome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Intent anchors the ambition. SiP anchors the reality it is intended to produce.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2.1.1 · Strategic Alignment</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Strategy Intent</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Anchors the ambition</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Shared understanding of the ambition and the choices that define it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Leaders anchored to the same WHAT, WHY, HOW and WHEN</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SiP</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Anchors the reality</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 shared picture of what successful realisation looks like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Different contributions, the same organisational reality</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Strategy fragments when leaders interpret the ambition differently.</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2.1.2 · Decision Filter</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Strategy Intent</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Anchors the ambition</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test of strategic fit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Is this choice consistent with our ambition and the choices already made?</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SiP</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Anchors the reality</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The test of strategic contribution</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Does this choice move us closer to the success we have defined?</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What tells us whether a new initiative belongs in our strategy?</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2.1.3 · Execution Coherence</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Strategy Intent</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Anchors the ambition</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common strategic anchor</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Each function reads its mandate in relation to the enterprise ambition</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SiP</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Anchors the reality</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What the combined contributions must produce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Functions see the outcome they collectively enable</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Each part can perform well while the enterprise outcome is missed.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Reflection — Three Functions: Which of the three functions is weakest in your organisation today? What happens as a result?"/>
          <p:cNvPicPr>
            <a:picLocks noChangeAspect="1"/>
          </p:cNvPicPr>
          <p:nvPr/>
        </p:nvPicPr>
        <p:blipFill>
          <a:blip r:embed="rId3"/>
          <a:stretch>
            <a:fillRect/>
          </a:stretch>
        </p:blipFill>
        <p:spPr>
          <a:xfrm>
            <a:off x="1691640" y="1572768"/>
            <a:ext cx="9921240" cy="1140372"/>
          </a:xfrm>
          <a:prstGeom prst="rect">
            <a:avLst/>
          </a:prstGeom>
        </p:spPr>
      </p:pic>
      <p:sp>
        <p:nvSpPr>
          <p:cNvPr id="4" name="Part 2.1"/>
          <p:cNvSpPr/>
          <p:nvPr/>
        </p:nvSpPr>
        <p:spPr>
          <a:xfrm>
            <a:off x="548640" y="170861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Examining Success in Practice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Use observable indicators to examine what success looks like within each of the four SiP domains.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Distinguish between conditions that demonstrate success and signals that those conditions are absent.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3.1a · SiP Observable Indicators</a:t>
            </a:r>
            <a:endParaRPr lang="en-US" sz="3600" dirty="0"/>
          </a:p>
        </p:txBody>
      </p:sp>
      <p:sp>
        <p:nvSpPr>
          <p:cNvPr id="3" name="Shape 1"/>
          <p:cNvSpPr/>
          <p:nvPr/>
        </p:nvSpPr>
        <p:spPr>
          <a:xfrm>
            <a:off x="548640" y="168021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0230"/>
            <a:ext cx="320040" cy="320040"/>
          </a:xfrm>
          <a:prstGeom prst="rect">
            <a:avLst/>
          </a:prstGeom>
        </p:spPr>
      </p:pic>
      <p:sp>
        <p:nvSpPr>
          <p:cNvPr id="5" name="Text 2"/>
          <p:cNvSpPr txBox="1"/>
          <p:nvPr/>
        </p:nvSpPr>
        <p:spPr>
          <a:xfrm>
            <a:off x="1508760" y="1508760"/>
            <a:ext cx="10131552" cy="9829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D1 · Customer Experience &amp; Value  </a:t>
            </a:r>
            <a:r>
              <a:rPr lang="en-US" sz="2400" dirty="0">
                <a:solidFill>
                  <a:srgbClr val="1F2A22"/>
                </a:solidFill>
                <a:latin typeface="Calibri" pitchFamily="34" charset="0"/>
                <a:ea typeface="Calibri" pitchFamily="34" charset="-122"/>
                <a:cs typeface="Calibri" pitchFamily="34" charset="-120"/>
              </a:rPr>
              <a:t>Connection · Access · Results · Effort</a:t>
            </a:r>
            <a:endParaRPr lang="en-US" sz="2400" dirty="0"/>
          </a:p>
        </p:txBody>
      </p:sp>
      <p:sp>
        <p:nvSpPr>
          <p:cNvPr id="6" name="Shape 3"/>
          <p:cNvSpPr/>
          <p:nvPr/>
        </p:nvSpPr>
        <p:spPr>
          <a:xfrm>
            <a:off x="548640" y="266319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23210"/>
            <a:ext cx="320040" cy="320040"/>
          </a:xfrm>
          <a:prstGeom prst="rect">
            <a:avLst/>
          </a:prstGeom>
        </p:spPr>
      </p:pic>
      <p:sp>
        <p:nvSpPr>
          <p:cNvPr id="8" name="Text 4"/>
          <p:cNvSpPr txBox="1"/>
          <p:nvPr/>
        </p:nvSpPr>
        <p:spPr>
          <a:xfrm>
            <a:off x="1508760" y="2491740"/>
            <a:ext cx="10131552" cy="9829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D2 · Operational Capability  </a:t>
            </a:r>
            <a:r>
              <a:rPr lang="en-US" sz="2400" dirty="0">
                <a:solidFill>
                  <a:srgbClr val="1F2A22"/>
                </a:solidFill>
                <a:latin typeface="Calibri" pitchFamily="34" charset="0"/>
                <a:ea typeface="Calibri" pitchFamily="34" charset="-122"/>
                <a:cs typeface="Calibri" pitchFamily="34" charset="-120"/>
              </a:rPr>
              <a:t>Priority Clarity · Decision Flow · Coordination · Delivery Rhythm</a:t>
            </a:r>
            <a:endParaRPr lang="en-US" sz="2400" dirty="0"/>
          </a:p>
        </p:txBody>
      </p:sp>
      <p:sp>
        <p:nvSpPr>
          <p:cNvPr id="9" name="Shape 5"/>
          <p:cNvSpPr/>
          <p:nvPr/>
        </p:nvSpPr>
        <p:spPr>
          <a:xfrm>
            <a:off x="548640" y="364617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06190"/>
            <a:ext cx="320040" cy="320040"/>
          </a:xfrm>
          <a:prstGeom prst="rect">
            <a:avLst/>
          </a:prstGeom>
        </p:spPr>
      </p:pic>
      <p:sp>
        <p:nvSpPr>
          <p:cNvPr id="11" name="Text 6"/>
          <p:cNvSpPr txBox="1"/>
          <p:nvPr/>
        </p:nvSpPr>
        <p:spPr>
          <a:xfrm>
            <a:off x="1508760" y="3474720"/>
            <a:ext cx="10131552" cy="9829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D3 · People &amp; Culture  </a:t>
            </a:r>
            <a:r>
              <a:rPr lang="en-US" sz="2400" dirty="0">
                <a:solidFill>
                  <a:srgbClr val="1F2A22"/>
                </a:solidFill>
                <a:latin typeface="Calibri" pitchFamily="34" charset="0"/>
                <a:ea typeface="Calibri" pitchFamily="34" charset="-122"/>
                <a:cs typeface="Calibri" pitchFamily="34" charset="-120"/>
              </a:rPr>
              <a:t>Collaboration · Ownership · Alignment · Dialogue Quality</a:t>
            </a:r>
            <a:endParaRPr lang="en-US" sz="2400" dirty="0"/>
          </a:p>
        </p:txBody>
      </p:sp>
      <p:sp>
        <p:nvSpPr>
          <p:cNvPr id="12" name="Shape 7"/>
          <p:cNvSpPr/>
          <p:nvPr/>
        </p:nvSpPr>
        <p:spPr>
          <a:xfrm>
            <a:off x="548640" y="462915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89170"/>
            <a:ext cx="320040" cy="320040"/>
          </a:xfrm>
          <a:prstGeom prst="rect">
            <a:avLst/>
          </a:prstGeom>
        </p:spPr>
      </p:pic>
      <p:sp>
        <p:nvSpPr>
          <p:cNvPr id="14" name="Text 8"/>
          <p:cNvSpPr txBox="1"/>
          <p:nvPr/>
        </p:nvSpPr>
        <p:spPr>
          <a:xfrm>
            <a:off x="1508760" y="4457700"/>
            <a:ext cx="10131552" cy="9829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D4 · Enterprise Value  </a:t>
            </a:r>
            <a:r>
              <a:rPr lang="en-US" sz="2400" dirty="0">
                <a:solidFill>
                  <a:srgbClr val="1F2A22"/>
                </a:solidFill>
                <a:latin typeface="Calibri" pitchFamily="34" charset="0"/>
                <a:ea typeface="Calibri" pitchFamily="34" charset="-122"/>
                <a:cs typeface="Calibri" pitchFamily="34" charset="-120"/>
              </a:rPr>
              <a:t>Growth · Profitability · Market Position · Value Durability</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indicator has two positions: When Working and Signal of Absence.</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3.1b · D1 Customer Experience &amp; Value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 Connection Value</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Customers feel understood, respected and supported.</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 Access Value</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Quick, easy, reliable interaction through preferred channels.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 Results Value</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Solutions that solve the problem and improve outcomes.</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 Effort Value</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Simple, predictable processes. Minimal customer effort.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3.1c · D2 Operational Capability</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Priority Clarity</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Priorities are explicit, stable and understood in every function.</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Decision Flow</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Right level, right information, right speed.</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Cross-Functional Coordination</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Smooth hand-offs. Unambiguous responsibilities.</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Delivery Rhythm</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A predictable cadence. Consistent, reliable delivery.</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3.1d · D3 People &amp; Culture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Cross-Boundary Collaboration</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People work across boundaries without being directed to.</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Ownership Culture</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Leaders and teams carry outcomes.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Strategic Alignment</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Daily actions connect to the enterprise strategy.</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Dialogue Quality</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Honest challenge before decisions are made.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3.1e · D4 Enterprise Value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Growth Trajectory</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Growth is traceable to specific strategic choices.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Profitability Quality</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Margin reflects deliberate value positioning.</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Market Position</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competitive position the strategic intent described.</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Value Durability</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conditions of success are actively reinvested in.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3.2a · SiP Flammables: the balance test</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D1 Dominant — Customer Only</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Reads as a marketing aspiration</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3"/>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D2 Dominant — Operations Only</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Reads as a process optimisation plan</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3"/>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D3 Dominant — People Only</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Reads as an organisational development narrative</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3"/>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D4 Dominant — Value Only</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Reads as a financial target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lection — SiP Indicators: From your assigned executive leader role: which SiP domain shows the most significant gaps in your organisation right now? What is the primary cause?"/>
          <p:cNvPicPr>
            <a:picLocks noChangeAspect="1"/>
          </p:cNvPicPr>
          <p:nvPr/>
        </p:nvPicPr>
        <p:blipFill>
          <a:blip r:embed="rId3"/>
          <a:stretch>
            <a:fillRect/>
          </a:stretch>
        </p:blipFill>
        <p:spPr>
          <a:xfrm>
            <a:off x="1691640" y="1572768"/>
            <a:ext cx="9921240" cy="1425466"/>
          </a:xfrm>
          <a:prstGeom prst="rect">
            <a:avLst/>
          </a:prstGeom>
        </p:spPr>
      </p:pic>
      <p:sp>
        <p:nvSpPr>
          <p:cNvPr id="4" name="Part 3.1"/>
          <p:cNvSpPr/>
          <p:nvPr/>
        </p:nvSpPr>
        <p:spPr>
          <a:xfrm>
            <a:off x="548640" y="185116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Build the Architecture · Derive the Intent · Define Success in Practice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Build a coherent Strategy Architecture.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Integrate different leadership perspectives into one shared enterprise position.</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4.1a · Step 1: how the group works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Agree:  </a:t>
            </a:r>
            <a:r>
              <a:rPr lang="en-US" sz="2600" dirty="0">
                <a:solidFill>
                  <a:srgbClr val="1F2A22"/>
                </a:solidFill>
                <a:latin typeface="Calibri" pitchFamily="34" charset="0"/>
                <a:ea typeface="Calibri" pitchFamily="34" charset="-122"/>
                <a:cs typeface="Calibri" pitchFamily="34" charset="-120"/>
              </a:rPr>
              <a:t>the group agrees each entry</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Scribe:  </a:t>
            </a:r>
            <a:r>
              <a:rPr lang="en-US" sz="2600" dirty="0">
                <a:solidFill>
                  <a:srgbClr val="1F2A22"/>
                </a:solidFill>
                <a:latin typeface="Calibri" pitchFamily="34" charset="0"/>
                <a:ea typeface="Calibri" pitchFamily="34" charset="-122"/>
                <a:cs typeface="Calibri" pitchFamily="34" charset="-120"/>
              </a:rPr>
              <a:t>one member types the agreed wording</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Own page:  </a:t>
            </a:r>
            <a:r>
              <a:rPr lang="en-US" sz="2600" dirty="0">
                <a:solidFill>
                  <a:srgbClr val="1F2A22"/>
                </a:solidFill>
                <a:latin typeface="Calibri" pitchFamily="34" charset="0"/>
                <a:ea typeface="Calibri" pitchFamily="34" charset="-122"/>
                <a:cs typeface="Calibri" pitchFamily="34" charset="-120"/>
              </a:rPr>
              <a:t>every member types the agreed entries, in the session or after it</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Confirm:  </a:t>
            </a:r>
            <a:r>
              <a:rPr lang="en-US" sz="2600" dirty="0">
                <a:solidFill>
                  <a:srgbClr val="1F2A22"/>
                </a:solidFill>
                <a:latin typeface="Calibri" pitchFamily="34" charset="0"/>
                <a:ea typeface="Calibri" pitchFamily="34" charset="-122"/>
                <a:cs typeface="Calibri" pitchFamily="34" charset="-120"/>
              </a:rPr>
              <a:t>each element, each statement, each output</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4.1b · Step 1: how each element works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Answer  </a:t>
            </a:r>
            <a:r>
              <a:rPr lang="en-US" sz="2600" dirty="0">
                <a:solidFill>
                  <a:srgbClr val="1F2A22"/>
                </a:solidFill>
                <a:latin typeface="Calibri" pitchFamily="34" charset="0"/>
                <a:ea typeface="Calibri" pitchFamily="34" charset="-122"/>
                <a:cs typeface="Calibri" pitchFamily="34" charset="-120"/>
              </a:rPr>
              <a:t>the four questions of the element</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Generate  </a:t>
            </a:r>
            <a:r>
              <a:rPr lang="en-US" sz="2600" dirty="0">
                <a:solidFill>
                  <a:srgbClr val="1F2A22"/>
                </a:solidFill>
                <a:latin typeface="Calibri" pitchFamily="34" charset="0"/>
                <a:ea typeface="Calibri" pitchFamily="34" charset="-122"/>
                <a:cs typeface="Calibri" pitchFamily="34" charset="-120"/>
              </a:rPr>
              <a:t>what this is saying</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Ask  </a:t>
            </a:r>
            <a:r>
              <a:rPr lang="en-US" sz="2600" dirty="0">
                <a:solidFill>
                  <a:srgbClr val="1F2A22"/>
                </a:solidFill>
                <a:latin typeface="Calibri" pitchFamily="34" charset="0"/>
                <a:ea typeface="Calibri" pitchFamily="34" charset="-122"/>
                <a:cs typeface="Calibri" pitchFamily="34" charset="-120"/>
              </a:rPr>
              <a:t>“Is this what we mean?”</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Confirm or refine  </a:t>
            </a:r>
            <a:r>
              <a:rPr lang="en-US" sz="2600" dirty="0">
                <a:solidFill>
                  <a:srgbClr val="1F2A22"/>
                </a:solidFill>
                <a:latin typeface="Calibri" pitchFamily="34" charset="0"/>
                <a:ea typeface="Calibri" pitchFamily="34" charset="-122"/>
                <a:cs typeface="Calibri" pitchFamily="34" charset="-120"/>
              </a:rPr>
              <a:t>until it says what the group means</a:t>
            </a:r>
            <a:endParaRPr lang="en-US" sz="26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14 of 14:  </a:t>
            </a:r>
            <a:r>
              <a:rPr lang="en-US" sz="2600" dirty="0">
                <a:solidFill>
                  <a:srgbClr val="1F2A22"/>
                </a:solidFill>
                <a:latin typeface="Calibri" pitchFamily="34" charset="0"/>
                <a:ea typeface="Calibri" pitchFamily="34" charset="-122"/>
                <a:cs typeface="Calibri" pitchFamily="34" charset="-120"/>
              </a:rPr>
              <a:t>the Strategy Architecture output opens</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4.1c · Step 1: the 14 elements</a:t>
            </a:r>
            <a:endParaRPr lang="en-US" sz="3600" dirty="0"/>
          </a:p>
        </p:txBody>
      </p:sp>
      <p:sp>
        <p:nvSpPr>
          <p:cNvPr id="3" name="Shape 1"/>
          <p:cNvSpPr/>
          <p:nvPr/>
        </p:nvSpPr>
        <p:spPr>
          <a:xfrm>
            <a:off x="548640" y="1554480"/>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685800" y="1598894"/>
            <a:ext cx="512064" cy="512064"/>
          </a:xfrm>
          <a:prstGeom prst="ellipse">
            <a:avLst/>
          </a:prstGeom>
          <a:solidFill>
            <a:srgbClr val="1A5C2C"/>
          </a:solidFill>
          <a:ln w="12700">
            <a:solidFill>
              <a:srgbClr val="1A5C2C"/>
            </a:solidFill>
            <a:prstDash val="solid"/>
          </a:ln>
        </p:spPr>
        <p:txBody>
          <a:bodyPr/>
          <a:lstStyle/>
          <a:p>
            <a:endParaRPr lang="en-ZA"/>
          </a:p>
        </p:txBody>
      </p:sp>
      <p:sp>
        <p:nvSpPr>
          <p:cNvPr id="5" name="Text 3"/>
          <p:cNvSpPr txBox="1"/>
          <p:nvPr/>
        </p:nvSpPr>
        <p:spPr>
          <a:xfrm>
            <a:off x="685800" y="1598894"/>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1417320" y="1508760"/>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ITERATIVE</a:t>
            </a:r>
            <a:endParaRPr lang="en-US" sz="2400" dirty="0"/>
          </a:p>
        </p:txBody>
      </p:sp>
      <p:sp>
        <p:nvSpPr>
          <p:cNvPr id="7" name="Shape 5"/>
          <p:cNvSpPr/>
          <p:nvPr/>
        </p:nvSpPr>
        <p:spPr>
          <a:xfrm>
            <a:off x="548640" y="2246811"/>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8" name="Shape 6"/>
          <p:cNvSpPr/>
          <p:nvPr/>
        </p:nvSpPr>
        <p:spPr>
          <a:xfrm>
            <a:off x="685800" y="2291225"/>
            <a:ext cx="512064" cy="512064"/>
          </a:xfrm>
          <a:prstGeom prst="ellipse">
            <a:avLst/>
          </a:prstGeom>
          <a:solidFill>
            <a:srgbClr val="1A5C2C"/>
          </a:solidFill>
          <a:ln w="12700">
            <a:solidFill>
              <a:srgbClr val="1A5C2C"/>
            </a:solidFill>
            <a:prstDash val="solid"/>
          </a:ln>
        </p:spPr>
        <p:txBody>
          <a:bodyPr/>
          <a:lstStyle/>
          <a:p>
            <a:endParaRPr lang="en-ZA"/>
          </a:p>
        </p:txBody>
      </p:sp>
      <p:sp>
        <p:nvSpPr>
          <p:cNvPr id="9" name="Text 7"/>
          <p:cNvSpPr txBox="1"/>
          <p:nvPr/>
        </p:nvSpPr>
        <p:spPr>
          <a:xfrm>
            <a:off x="685800" y="2291225"/>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417320" y="2201091"/>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THINKING &amp; LOGIC</a:t>
            </a:r>
            <a:endParaRPr lang="en-US" sz="2400" dirty="0"/>
          </a:p>
        </p:txBody>
      </p:sp>
      <p:sp>
        <p:nvSpPr>
          <p:cNvPr id="11" name="Shape 9"/>
          <p:cNvSpPr/>
          <p:nvPr/>
        </p:nvSpPr>
        <p:spPr>
          <a:xfrm>
            <a:off x="548640" y="2939143"/>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12" name="Shape 10"/>
          <p:cNvSpPr/>
          <p:nvPr/>
        </p:nvSpPr>
        <p:spPr>
          <a:xfrm>
            <a:off x="685800" y="2983557"/>
            <a:ext cx="512064" cy="512064"/>
          </a:xfrm>
          <a:prstGeom prst="ellipse">
            <a:avLst/>
          </a:prstGeom>
          <a:solidFill>
            <a:srgbClr val="1A5C2C"/>
          </a:solidFill>
          <a:ln w="12700">
            <a:solidFill>
              <a:srgbClr val="1A5C2C"/>
            </a:solidFill>
            <a:prstDash val="solid"/>
          </a:ln>
        </p:spPr>
        <p:txBody>
          <a:bodyPr/>
          <a:lstStyle/>
          <a:p>
            <a:endParaRPr lang="en-ZA"/>
          </a:p>
        </p:txBody>
      </p:sp>
      <p:sp>
        <p:nvSpPr>
          <p:cNvPr id="13" name="Text 11"/>
          <p:cNvSpPr txBox="1"/>
          <p:nvPr/>
        </p:nvSpPr>
        <p:spPr>
          <a:xfrm>
            <a:off x="685800" y="2983557"/>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2"/>
          <p:cNvSpPr txBox="1"/>
          <p:nvPr/>
        </p:nvSpPr>
        <p:spPr>
          <a:xfrm>
            <a:off x="1417320" y="2893423"/>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PROCESS</a:t>
            </a:r>
            <a:endParaRPr lang="en-US" sz="2400" dirty="0"/>
          </a:p>
        </p:txBody>
      </p:sp>
      <p:sp>
        <p:nvSpPr>
          <p:cNvPr id="15" name="Shape 13"/>
          <p:cNvSpPr/>
          <p:nvPr/>
        </p:nvSpPr>
        <p:spPr>
          <a:xfrm>
            <a:off x="548640" y="3631474"/>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16" name="Shape 14"/>
          <p:cNvSpPr/>
          <p:nvPr/>
        </p:nvSpPr>
        <p:spPr>
          <a:xfrm>
            <a:off x="685800" y="3675888"/>
            <a:ext cx="512064" cy="512064"/>
          </a:xfrm>
          <a:prstGeom prst="ellipse">
            <a:avLst/>
          </a:prstGeom>
          <a:solidFill>
            <a:srgbClr val="1A5C2C"/>
          </a:solidFill>
          <a:ln w="12700">
            <a:solidFill>
              <a:srgbClr val="1A5C2C"/>
            </a:solidFill>
            <a:prstDash val="solid"/>
          </a:ln>
        </p:spPr>
        <p:txBody>
          <a:bodyPr/>
          <a:lstStyle/>
          <a:p>
            <a:endParaRPr lang="en-ZA"/>
          </a:p>
        </p:txBody>
      </p:sp>
      <p:sp>
        <p:nvSpPr>
          <p:cNvPr id="17" name="Text 15"/>
          <p:cNvSpPr txBox="1"/>
          <p:nvPr/>
        </p:nvSpPr>
        <p:spPr>
          <a:xfrm>
            <a:off x="685800" y="367588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8" name="Text 16"/>
          <p:cNvSpPr txBox="1"/>
          <p:nvPr/>
        </p:nvSpPr>
        <p:spPr>
          <a:xfrm>
            <a:off x="1417320" y="3585754"/>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WHAT</a:t>
            </a:r>
            <a:endParaRPr lang="en-US" sz="2400" dirty="0"/>
          </a:p>
        </p:txBody>
      </p:sp>
      <p:sp>
        <p:nvSpPr>
          <p:cNvPr id="19" name="Shape 17"/>
          <p:cNvSpPr/>
          <p:nvPr/>
        </p:nvSpPr>
        <p:spPr>
          <a:xfrm>
            <a:off x="548640" y="4323806"/>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20" name="Shape 18"/>
          <p:cNvSpPr/>
          <p:nvPr/>
        </p:nvSpPr>
        <p:spPr>
          <a:xfrm>
            <a:off x="685800" y="4368219"/>
            <a:ext cx="512064" cy="512064"/>
          </a:xfrm>
          <a:prstGeom prst="ellipse">
            <a:avLst/>
          </a:prstGeom>
          <a:solidFill>
            <a:srgbClr val="1A5C2C"/>
          </a:solidFill>
          <a:ln w="12700">
            <a:solidFill>
              <a:srgbClr val="1A5C2C"/>
            </a:solidFill>
            <a:prstDash val="solid"/>
          </a:ln>
        </p:spPr>
        <p:txBody>
          <a:bodyPr/>
          <a:lstStyle/>
          <a:p>
            <a:endParaRPr lang="en-ZA"/>
          </a:p>
        </p:txBody>
      </p:sp>
      <p:sp>
        <p:nvSpPr>
          <p:cNvPr id="21" name="Text 19"/>
          <p:cNvSpPr txBox="1"/>
          <p:nvPr/>
        </p:nvSpPr>
        <p:spPr>
          <a:xfrm>
            <a:off x="685800" y="4368219"/>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2" name="Text 20"/>
          <p:cNvSpPr txBox="1"/>
          <p:nvPr/>
        </p:nvSpPr>
        <p:spPr>
          <a:xfrm>
            <a:off x="1417320" y="4278086"/>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WHY</a:t>
            </a:r>
            <a:endParaRPr lang="en-US" sz="2400" dirty="0"/>
          </a:p>
        </p:txBody>
      </p:sp>
      <p:sp>
        <p:nvSpPr>
          <p:cNvPr id="23" name="Shape 21"/>
          <p:cNvSpPr/>
          <p:nvPr/>
        </p:nvSpPr>
        <p:spPr>
          <a:xfrm>
            <a:off x="548640" y="5016137"/>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24" name="Shape 22"/>
          <p:cNvSpPr/>
          <p:nvPr/>
        </p:nvSpPr>
        <p:spPr>
          <a:xfrm>
            <a:off x="685800" y="5060551"/>
            <a:ext cx="512064" cy="512064"/>
          </a:xfrm>
          <a:prstGeom prst="ellipse">
            <a:avLst/>
          </a:prstGeom>
          <a:solidFill>
            <a:srgbClr val="1A5C2C"/>
          </a:solidFill>
          <a:ln w="12700">
            <a:solidFill>
              <a:srgbClr val="1A5C2C"/>
            </a:solidFill>
            <a:prstDash val="solid"/>
          </a:ln>
        </p:spPr>
        <p:txBody>
          <a:bodyPr/>
          <a:lstStyle/>
          <a:p>
            <a:endParaRPr lang="en-ZA"/>
          </a:p>
        </p:txBody>
      </p:sp>
      <p:sp>
        <p:nvSpPr>
          <p:cNvPr id="25" name="Text 23"/>
          <p:cNvSpPr txBox="1"/>
          <p:nvPr/>
        </p:nvSpPr>
        <p:spPr>
          <a:xfrm>
            <a:off x="685800" y="5060551"/>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26" name="Text 24"/>
          <p:cNvSpPr txBox="1"/>
          <p:nvPr/>
        </p:nvSpPr>
        <p:spPr>
          <a:xfrm>
            <a:off x="1417320" y="4970417"/>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HOW</a:t>
            </a:r>
            <a:endParaRPr lang="en-US" sz="2400" dirty="0"/>
          </a:p>
        </p:txBody>
      </p:sp>
      <p:sp>
        <p:nvSpPr>
          <p:cNvPr id="27" name="Shape 25"/>
          <p:cNvSpPr/>
          <p:nvPr/>
        </p:nvSpPr>
        <p:spPr>
          <a:xfrm>
            <a:off x="548640" y="5708469"/>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28" name="Shape 26"/>
          <p:cNvSpPr/>
          <p:nvPr/>
        </p:nvSpPr>
        <p:spPr>
          <a:xfrm>
            <a:off x="685800" y="5752882"/>
            <a:ext cx="512064" cy="512064"/>
          </a:xfrm>
          <a:prstGeom prst="ellipse">
            <a:avLst/>
          </a:prstGeom>
          <a:solidFill>
            <a:srgbClr val="1A5C2C"/>
          </a:solidFill>
          <a:ln w="12700">
            <a:solidFill>
              <a:srgbClr val="1A5C2C"/>
            </a:solidFill>
            <a:prstDash val="solid"/>
          </a:ln>
        </p:spPr>
        <p:txBody>
          <a:bodyPr/>
          <a:lstStyle/>
          <a:p>
            <a:endParaRPr lang="en-ZA"/>
          </a:p>
        </p:txBody>
      </p:sp>
      <p:sp>
        <p:nvSpPr>
          <p:cNvPr id="29" name="Text 27"/>
          <p:cNvSpPr txBox="1"/>
          <p:nvPr/>
        </p:nvSpPr>
        <p:spPr>
          <a:xfrm>
            <a:off x="685800" y="5752882"/>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30" name="Text 28"/>
          <p:cNvSpPr txBox="1"/>
          <p:nvPr/>
        </p:nvSpPr>
        <p:spPr>
          <a:xfrm>
            <a:off x="1417320" y="5662749"/>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WHEN</a:t>
            </a:r>
            <a:endParaRPr lang="en-US" sz="2400" dirty="0"/>
          </a:p>
        </p:txBody>
      </p:sp>
      <p:sp>
        <p:nvSpPr>
          <p:cNvPr id="31" name="Shape 29"/>
          <p:cNvSpPr/>
          <p:nvPr/>
        </p:nvSpPr>
        <p:spPr>
          <a:xfrm>
            <a:off x="6231636" y="1554480"/>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32" name="Shape 30"/>
          <p:cNvSpPr/>
          <p:nvPr/>
        </p:nvSpPr>
        <p:spPr>
          <a:xfrm>
            <a:off x="6368796" y="1598894"/>
            <a:ext cx="512064" cy="512064"/>
          </a:xfrm>
          <a:prstGeom prst="ellipse">
            <a:avLst/>
          </a:prstGeom>
          <a:solidFill>
            <a:srgbClr val="1A5C2C"/>
          </a:solidFill>
          <a:ln w="12700">
            <a:solidFill>
              <a:srgbClr val="1A5C2C"/>
            </a:solidFill>
            <a:prstDash val="solid"/>
          </a:ln>
        </p:spPr>
        <p:txBody>
          <a:bodyPr/>
          <a:lstStyle/>
          <a:p>
            <a:endParaRPr lang="en-ZA"/>
          </a:p>
        </p:txBody>
      </p:sp>
      <p:sp>
        <p:nvSpPr>
          <p:cNvPr id="33" name="Text 31"/>
          <p:cNvSpPr txBox="1"/>
          <p:nvPr/>
        </p:nvSpPr>
        <p:spPr>
          <a:xfrm>
            <a:off x="6368796" y="1598894"/>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8</a:t>
            </a:r>
            <a:endParaRPr lang="en-US" sz="2400" dirty="0"/>
          </a:p>
        </p:txBody>
      </p:sp>
      <p:sp>
        <p:nvSpPr>
          <p:cNvPr id="34" name="Text 32"/>
          <p:cNvSpPr txBox="1"/>
          <p:nvPr/>
        </p:nvSpPr>
        <p:spPr>
          <a:xfrm>
            <a:off x="7100316" y="1508760"/>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CREATES VALUE</a:t>
            </a:r>
            <a:endParaRPr lang="en-US" sz="2400" dirty="0"/>
          </a:p>
        </p:txBody>
      </p:sp>
      <p:sp>
        <p:nvSpPr>
          <p:cNvPr id="35" name="Shape 33"/>
          <p:cNvSpPr/>
          <p:nvPr/>
        </p:nvSpPr>
        <p:spPr>
          <a:xfrm>
            <a:off x="6231636" y="2246811"/>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36" name="Shape 34"/>
          <p:cNvSpPr/>
          <p:nvPr/>
        </p:nvSpPr>
        <p:spPr>
          <a:xfrm>
            <a:off x="6368796" y="2291225"/>
            <a:ext cx="512064" cy="512064"/>
          </a:xfrm>
          <a:prstGeom prst="ellipse">
            <a:avLst/>
          </a:prstGeom>
          <a:solidFill>
            <a:srgbClr val="1A5C2C"/>
          </a:solidFill>
          <a:ln w="12700">
            <a:solidFill>
              <a:srgbClr val="1A5C2C"/>
            </a:solidFill>
            <a:prstDash val="solid"/>
          </a:ln>
        </p:spPr>
        <p:txBody>
          <a:bodyPr/>
          <a:lstStyle/>
          <a:p>
            <a:endParaRPr lang="en-ZA"/>
          </a:p>
        </p:txBody>
      </p:sp>
      <p:sp>
        <p:nvSpPr>
          <p:cNvPr id="37" name="Text 35"/>
          <p:cNvSpPr txBox="1"/>
          <p:nvPr/>
        </p:nvSpPr>
        <p:spPr>
          <a:xfrm>
            <a:off x="6368796" y="2291225"/>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9</a:t>
            </a:r>
            <a:endParaRPr lang="en-US" sz="2400" dirty="0"/>
          </a:p>
        </p:txBody>
      </p:sp>
      <p:sp>
        <p:nvSpPr>
          <p:cNvPr id="38" name="Text 36"/>
          <p:cNvSpPr txBox="1"/>
          <p:nvPr/>
        </p:nvSpPr>
        <p:spPr>
          <a:xfrm>
            <a:off x="7100316" y="2201091"/>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DELIVERS VALUE</a:t>
            </a:r>
            <a:endParaRPr lang="en-US" sz="2400" dirty="0"/>
          </a:p>
        </p:txBody>
      </p:sp>
      <p:sp>
        <p:nvSpPr>
          <p:cNvPr id="39" name="Shape 37"/>
          <p:cNvSpPr/>
          <p:nvPr/>
        </p:nvSpPr>
        <p:spPr>
          <a:xfrm>
            <a:off x="6231636" y="2939143"/>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40" name="Shape 38"/>
          <p:cNvSpPr/>
          <p:nvPr/>
        </p:nvSpPr>
        <p:spPr>
          <a:xfrm>
            <a:off x="6368796" y="2983557"/>
            <a:ext cx="512064" cy="512064"/>
          </a:xfrm>
          <a:prstGeom prst="ellipse">
            <a:avLst/>
          </a:prstGeom>
          <a:solidFill>
            <a:srgbClr val="1A5C2C"/>
          </a:solidFill>
          <a:ln w="12700">
            <a:solidFill>
              <a:srgbClr val="1A5C2C"/>
            </a:solidFill>
            <a:prstDash val="solid"/>
          </a:ln>
        </p:spPr>
        <p:txBody>
          <a:bodyPr/>
          <a:lstStyle/>
          <a:p>
            <a:endParaRPr lang="en-ZA"/>
          </a:p>
        </p:txBody>
      </p:sp>
      <p:sp>
        <p:nvSpPr>
          <p:cNvPr id="41" name="Text 39"/>
          <p:cNvSpPr txBox="1"/>
          <p:nvPr/>
        </p:nvSpPr>
        <p:spPr>
          <a:xfrm>
            <a:off x="6368796" y="2983557"/>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2" name="Text 40"/>
          <p:cNvSpPr txBox="1"/>
          <p:nvPr/>
        </p:nvSpPr>
        <p:spPr>
          <a:xfrm>
            <a:off x="7100316" y="2893423"/>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SUSTAINS VALUE</a:t>
            </a:r>
            <a:endParaRPr lang="en-US" sz="2400" dirty="0"/>
          </a:p>
        </p:txBody>
      </p:sp>
      <p:sp>
        <p:nvSpPr>
          <p:cNvPr id="43" name="Shape 41"/>
          <p:cNvSpPr/>
          <p:nvPr/>
        </p:nvSpPr>
        <p:spPr>
          <a:xfrm>
            <a:off x="6231636" y="3631474"/>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44" name="Shape 42"/>
          <p:cNvSpPr/>
          <p:nvPr/>
        </p:nvSpPr>
        <p:spPr>
          <a:xfrm>
            <a:off x="6368796" y="3675888"/>
            <a:ext cx="512064" cy="512064"/>
          </a:xfrm>
          <a:prstGeom prst="ellipse">
            <a:avLst/>
          </a:prstGeom>
          <a:solidFill>
            <a:srgbClr val="1A5C2C"/>
          </a:solidFill>
          <a:ln w="12700">
            <a:solidFill>
              <a:srgbClr val="1A5C2C"/>
            </a:solidFill>
            <a:prstDash val="solid"/>
          </a:ln>
        </p:spPr>
        <p:txBody>
          <a:bodyPr/>
          <a:lstStyle/>
          <a:p>
            <a:endParaRPr lang="en-ZA"/>
          </a:p>
        </p:txBody>
      </p:sp>
      <p:sp>
        <p:nvSpPr>
          <p:cNvPr id="45" name="Text 43"/>
          <p:cNvSpPr txBox="1"/>
          <p:nvPr/>
        </p:nvSpPr>
        <p:spPr>
          <a:xfrm>
            <a:off x="6368796" y="367588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11</a:t>
            </a:r>
            <a:endParaRPr lang="en-US" sz="2400" dirty="0"/>
          </a:p>
        </p:txBody>
      </p:sp>
      <p:sp>
        <p:nvSpPr>
          <p:cNvPr id="46" name="Text 44"/>
          <p:cNvSpPr txBox="1"/>
          <p:nvPr/>
        </p:nvSpPr>
        <p:spPr>
          <a:xfrm>
            <a:off x="7100316" y="3585754"/>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STAKEHOLDERS</a:t>
            </a:r>
            <a:endParaRPr lang="en-US" sz="2400" dirty="0"/>
          </a:p>
        </p:txBody>
      </p:sp>
      <p:sp>
        <p:nvSpPr>
          <p:cNvPr id="47" name="Shape 45"/>
          <p:cNvSpPr/>
          <p:nvPr/>
        </p:nvSpPr>
        <p:spPr>
          <a:xfrm>
            <a:off x="6231636" y="4323806"/>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48" name="Shape 46"/>
          <p:cNvSpPr/>
          <p:nvPr/>
        </p:nvSpPr>
        <p:spPr>
          <a:xfrm>
            <a:off x="6368796" y="4368219"/>
            <a:ext cx="512064" cy="512064"/>
          </a:xfrm>
          <a:prstGeom prst="ellipse">
            <a:avLst/>
          </a:prstGeom>
          <a:solidFill>
            <a:srgbClr val="1A5C2C"/>
          </a:solidFill>
          <a:ln w="12700">
            <a:solidFill>
              <a:srgbClr val="1A5C2C"/>
            </a:solidFill>
            <a:prstDash val="solid"/>
          </a:ln>
        </p:spPr>
        <p:txBody>
          <a:bodyPr/>
          <a:lstStyle/>
          <a:p>
            <a:endParaRPr lang="en-ZA"/>
          </a:p>
        </p:txBody>
      </p:sp>
      <p:sp>
        <p:nvSpPr>
          <p:cNvPr id="49" name="Text 47"/>
          <p:cNvSpPr txBox="1"/>
          <p:nvPr/>
        </p:nvSpPr>
        <p:spPr>
          <a:xfrm>
            <a:off x="6368796" y="4368219"/>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12</a:t>
            </a:r>
            <a:endParaRPr lang="en-US" sz="2400" dirty="0"/>
          </a:p>
        </p:txBody>
      </p:sp>
      <p:sp>
        <p:nvSpPr>
          <p:cNvPr id="50" name="Text 48"/>
          <p:cNvSpPr txBox="1"/>
          <p:nvPr/>
        </p:nvSpPr>
        <p:spPr>
          <a:xfrm>
            <a:off x="7100316" y="4278086"/>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NAVIGATING</a:t>
            </a:r>
            <a:endParaRPr lang="en-US" sz="2400" dirty="0"/>
          </a:p>
        </p:txBody>
      </p:sp>
      <p:sp>
        <p:nvSpPr>
          <p:cNvPr id="51" name="Shape 49"/>
          <p:cNvSpPr/>
          <p:nvPr/>
        </p:nvSpPr>
        <p:spPr>
          <a:xfrm>
            <a:off x="6231636" y="5016137"/>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52" name="Shape 50"/>
          <p:cNvSpPr/>
          <p:nvPr/>
        </p:nvSpPr>
        <p:spPr>
          <a:xfrm>
            <a:off x="6368796" y="5060551"/>
            <a:ext cx="512064" cy="512064"/>
          </a:xfrm>
          <a:prstGeom prst="ellipse">
            <a:avLst/>
          </a:prstGeom>
          <a:solidFill>
            <a:srgbClr val="1A5C2C"/>
          </a:solidFill>
          <a:ln w="12700">
            <a:solidFill>
              <a:srgbClr val="1A5C2C"/>
            </a:solidFill>
            <a:prstDash val="solid"/>
          </a:ln>
        </p:spPr>
        <p:txBody>
          <a:bodyPr/>
          <a:lstStyle/>
          <a:p>
            <a:endParaRPr lang="en-ZA"/>
          </a:p>
        </p:txBody>
      </p:sp>
      <p:sp>
        <p:nvSpPr>
          <p:cNvPr id="53" name="Text 51"/>
          <p:cNvSpPr txBox="1"/>
          <p:nvPr/>
        </p:nvSpPr>
        <p:spPr>
          <a:xfrm>
            <a:off x="6368796" y="5060551"/>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13</a:t>
            </a:r>
            <a:endParaRPr lang="en-US" sz="2400" dirty="0"/>
          </a:p>
        </p:txBody>
      </p:sp>
      <p:sp>
        <p:nvSpPr>
          <p:cNvPr id="54" name="Text 52"/>
          <p:cNvSpPr txBox="1"/>
          <p:nvPr/>
        </p:nvSpPr>
        <p:spPr>
          <a:xfrm>
            <a:off x="7100316" y="4970417"/>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THE FORCES</a:t>
            </a:r>
            <a:endParaRPr lang="en-US" sz="2400" dirty="0"/>
          </a:p>
        </p:txBody>
      </p:sp>
      <p:sp>
        <p:nvSpPr>
          <p:cNvPr id="55" name="Shape 53"/>
          <p:cNvSpPr/>
          <p:nvPr/>
        </p:nvSpPr>
        <p:spPr>
          <a:xfrm>
            <a:off x="6231636" y="5708469"/>
            <a:ext cx="5408676" cy="600891"/>
          </a:xfrm>
          <a:prstGeom prst="roundRect">
            <a:avLst>
              <a:gd name="adj" fmla="val 15217"/>
            </a:avLst>
          </a:prstGeom>
          <a:solidFill>
            <a:srgbClr val="EEF4EF"/>
          </a:solidFill>
          <a:ln w="12700">
            <a:solidFill>
              <a:srgbClr val="EEF4EF"/>
            </a:solidFill>
            <a:prstDash val="solid"/>
          </a:ln>
        </p:spPr>
        <p:txBody>
          <a:bodyPr/>
          <a:lstStyle/>
          <a:p>
            <a:endParaRPr lang="en-ZA"/>
          </a:p>
        </p:txBody>
      </p:sp>
      <p:sp>
        <p:nvSpPr>
          <p:cNvPr id="56" name="Shape 54"/>
          <p:cNvSpPr/>
          <p:nvPr/>
        </p:nvSpPr>
        <p:spPr>
          <a:xfrm>
            <a:off x="6368796" y="5752882"/>
            <a:ext cx="512064" cy="512064"/>
          </a:xfrm>
          <a:prstGeom prst="ellipse">
            <a:avLst/>
          </a:prstGeom>
          <a:solidFill>
            <a:srgbClr val="1A5C2C"/>
          </a:solidFill>
          <a:ln w="12700">
            <a:solidFill>
              <a:srgbClr val="1A5C2C"/>
            </a:solidFill>
            <a:prstDash val="solid"/>
          </a:ln>
        </p:spPr>
        <p:txBody>
          <a:bodyPr/>
          <a:lstStyle/>
          <a:p>
            <a:endParaRPr lang="en-ZA"/>
          </a:p>
        </p:txBody>
      </p:sp>
      <p:sp>
        <p:nvSpPr>
          <p:cNvPr id="57" name="Text 55"/>
          <p:cNvSpPr txBox="1"/>
          <p:nvPr/>
        </p:nvSpPr>
        <p:spPr>
          <a:xfrm>
            <a:off x="6368796" y="5752882"/>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14</a:t>
            </a:r>
            <a:endParaRPr lang="en-US" sz="2400" dirty="0"/>
          </a:p>
        </p:txBody>
      </p:sp>
      <p:sp>
        <p:nvSpPr>
          <p:cNvPr id="58" name="Text 56"/>
          <p:cNvSpPr txBox="1"/>
          <p:nvPr/>
        </p:nvSpPr>
        <p:spPr>
          <a:xfrm>
            <a:off x="7100316" y="5662749"/>
            <a:ext cx="4402836" cy="692331"/>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OPERATING ENVIRONMENT</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4.1c · Six checks before finalising</a:t>
            </a:r>
            <a:endParaRPr lang="en-US" sz="3600" dirty="0"/>
          </a:p>
        </p:txBody>
      </p:sp>
      <p:sp>
        <p:nvSpPr>
          <p:cNvPr id="3" name="Shape 1"/>
          <p:cNvSpPr/>
          <p:nvPr/>
        </p:nvSpPr>
        <p:spPr>
          <a:xfrm>
            <a:off x="548640" y="163106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91325" y="1773746"/>
            <a:ext cx="285369" cy="285369"/>
          </a:xfrm>
          <a:prstGeom prst="rect">
            <a:avLst/>
          </a:prstGeom>
        </p:spPr>
      </p:pic>
      <p:sp>
        <p:nvSpPr>
          <p:cNvPr id="5" name="Text 2"/>
          <p:cNvSpPr txBox="1"/>
          <p:nvPr/>
        </p:nvSpPr>
        <p:spPr>
          <a:xfrm>
            <a:off x="1439418" y="150876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Do our choices reinforce one another?</a:t>
            </a:r>
            <a:endParaRPr lang="en-US" sz="2400" dirty="0"/>
          </a:p>
        </p:txBody>
      </p:sp>
      <p:sp>
        <p:nvSpPr>
          <p:cNvPr id="6" name="Shape 3"/>
          <p:cNvSpPr/>
          <p:nvPr/>
        </p:nvSpPr>
        <p:spPr>
          <a:xfrm>
            <a:off x="548640" y="244640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691325" y="2589085"/>
            <a:ext cx="285369" cy="285369"/>
          </a:xfrm>
          <a:prstGeom prst="rect">
            <a:avLst/>
          </a:prstGeom>
        </p:spPr>
      </p:pic>
      <p:sp>
        <p:nvSpPr>
          <p:cNvPr id="8" name="Text 4"/>
          <p:cNvSpPr txBox="1"/>
          <p:nvPr/>
        </p:nvSpPr>
        <p:spPr>
          <a:xfrm>
            <a:off x="1439418" y="232410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Where are there contradictions or unresolved tensions?</a:t>
            </a:r>
            <a:endParaRPr lang="en-US" sz="2400" dirty="0"/>
          </a:p>
        </p:txBody>
      </p:sp>
      <p:sp>
        <p:nvSpPr>
          <p:cNvPr id="9" name="Shape 5"/>
          <p:cNvSpPr/>
          <p:nvPr/>
        </p:nvSpPr>
        <p:spPr>
          <a:xfrm>
            <a:off x="548640" y="326174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691325" y="3404425"/>
            <a:ext cx="285369" cy="285369"/>
          </a:xfrm>
          <a:prstGeom prst="rect">
            <a:avLst/>
          </a:prstGeom>
        </p:spPr>
      </p:pic>
      <p:sp>
        <p:nvSpPr>
          <p:cNvPr id="11" name="Text 6"/>
          <p:cNvSpPr txBox="1"/>
          <p:nvPr/>
        </p:nvSpPr>
        <p:spPr>
          <a:xfrm>
            <a:off x="1439418" y="313944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Does our HOW support what we have chosen to achieve?</a:t>
            </a:r>
            <a:endParaRPr lang="en-US" sz="2400" dirty="0"/>
          </a:p>
        </p:txBody>
      </p:sp>
      <p:sp>
        <p:nvSpPr>
          <p:cNvPr id="12" name="Shape 7"/>
          <p:cNvSpPr/>
          <p:nvPr/>
        </p:nvSpPr>
        <p:spPr>
          <a:xfrm>
            <a:off x="548640" y="407708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691325" y="4219766"/>
            <a:ext cx="285369" cy="285369"/>
          </a:xfrm>
          <a:prstGeom prst="rect">
            <a:avLst/>
          </a:prstGeom>
        </p:spPr>
      </p:pic>
      <p:sp>
        <p:nvSpPr>
          <p:cNvPr id="14" name="Text 8"/>
          <p:cNvSpPr txBox="1"/>
          <p:nvPr/>
        </p:nvSpPr>
        <p:spPr>
          <a:xfrm>
            <a:off x="1439418" y="395478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Does our timing and sequencing reflect the realities of our capability and environment?</a:t>
            </a:r>
            <a:endParaRPr lang="en-US" sz="2400" dirty="0"/>
          </a:p>
        </p:txBody>
      </p:sp>
      <p:sp>
        <p:nvSpPr>
          <p:cNvPr id="15" name="Shape 9"/>
          <p:cNvSpPr/>
          <p:nvPr/>
        </p:nvSpPr>
        <p:spPr>
          <a:xfrm>
            <a:off x="548640" y="489242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3"/>
          <a:stretch>
            <a:fillRect/>
          </a:stretch>
        </p:blipFill>
        <p:spPr>
          <a:xfrm>
            <a:off x="691325" y="5035106"/>
            <a:ext cx="285369" cy="285369"/>
          </a:xfrm>
          <a:prstGeom prst="rect">
            <a:avLst/>
          </a:prstGeom>
        </p:spPr>
      </p:pic>
      <p:sp>
        <p:nvSpPr>
          <p:cNvPr id="17" name="Text 10"/>
          <p:cNvSpPr txBox="1"/>
          <p:nvPr/>
        </p:nvSpPr>
        <p:spPr>
          <a:xfrm>
            <a:off x="1439418" y="477012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Have we addressed how value will be created, delivered and sustained?</a:t>
            </a:r>
            <a:endParaRPr lang="en-US" sz="2400" dirty="0"/>
          </a:p>
        </p:txBody>
      </p:sp>
      <p:sp>
        <p:nvSpPr>
          <p:cNvPr id="18" name="Shape 11"/>
          <p:cNvSpPr/>
          <p:nvPr/>
        </p:nvSpPr>
        <p:spPr>
          <a:xfrm>
            <a:off x="548640" y="570776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3"/>
          <a:stretch>
            <a:fillRect/>
          </a:stretch>
        </p:blipFill>
        <p:spPr>
          <a:xfrm>
            <a:off x="691325" y="5850445"/>
            <a:ext cx="285369" cy="285369"/>
          </a:xfrm>
          <a:prstGeom prst="rect">
            <a:avLst/>
          </a:prstGeom>
        </p:spPr>
      </p:pic>
      <p:sp>
        <p:nvSpPr>
          <p:cNvPr id="20" name="Text 12"/>
          <p:cNvSpPr txBox="1"/>
          <p:nvPr/>
        </p:nvSpPr>
        <p:spPr>
          <a:xfrm>
            <a:off x="1439418" y="5585460"/>
            <a:ext cx="10200894" cy="81534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Does the architecture represent the strategic position we collectively intend?</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 · Step 2: the Strategy Intent Statement</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WHAT</a:t>
            </a:r>
            <a:endParaRPr lang="en-US" sz="2800" dirty="0"/>
          </a:p>
        </p:txBody>
      </p:sp>
      <p:sp>
        <p:nvSpPr>
          <p:cNvPr id="7" name="Text 4"/>
          <p:cNvSpPr txBox="1"/>
          <p:nvPr/>
        </p:nvSpPr>
        <p:spPr>
          <a:xfrm>
            <a:off x="777240"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value chosen and its field of play</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361873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3778758" y="1897380"/>
            <a:ext cx="320040" cy="320040"/>
          </a:xfrm>
          <a:prstGeom prst="rect">
            <a:avLst/>
          </a:prstGeom>
        </p:spPr>
      </p:pic>
      <p:sp>
        <p:nvSpPr>
          <p:cNvPr id="11" name="Text 7"/>
          <p:cNvSpPr txBox="1"/>
          <p:nvPr/>
        </p:nvSpPr>
        <p:spPr>
          <a:xfrm>
            <a:off x="3618738"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WHY</a:t>
            </a:r>
            <a:endParaRPr lang="en-US" sz="2800" dirty="0"/>
          </a:p>
        </p:txBody>
      </p:sp>
      <p:sp>
        <p:nvSpPr>
          <p:cNvPr id="12" name="Text 8"/>
          <p:cNvSpPr txBox="1"/>
          <p:nvPr/>
        </p:nvSpPr>
        <p:spPr>
          <a:xfrm>
            <a:off x="3618738"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rationale for the choices and why they matter</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6620256" y="1897380"/>
            <a:ext cx="320040" cy="320040"/>
          </a:xfrm>
          <a:prstGeom prst="rect">
            <a:avLst/>
          </a:prstGeom>
        </p:spPr>
      </p:pic>
      <p:sp>
        <p:nvSpPr>
          <p:cNvPr id="16" name="Text 11"/>
          <p:cNvSpPr txBox="1"/>
          <p:nvPr/>
        </p:nvSpPr>
        <p:spPr>
          <a:xfrm>
            <a:off x="6460236"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HOW</a:t>
            </a:r>
            <a:endParaRPr lang="en-US" sz="2800" dirty="0"/>
          </a:p>
        </p:txBody>
      </p:sp>
      <p:sp>
        <p:nvSpPr>
          <p:cNvPr id="17" name="Text 12"/>
          <p:cNvSpPr txBox="1"/>
          <p:nvPr/>
        </p:nvSpPr>
        <p:spPr>
          <a:xfrm>
            <a:off x="6460236"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model, capabilities and mechanisms that deliver the value</a:t>
            </a:r>
            <a:endParaRPr lang="en-US" sz="2400" dirty="0"/>
          </a:p>
        </p:txBody>
      </p:sp>
      <p:sp>
        <p:nvSpPr>
          <p:cNvPr id="18" name="Shape 13"/>
          <p:cNvSpPr/>
          <p:nvPr/>
        </p:nvSpPr>
        <p:spPr>
          <a:xfrm>
            <a:off x="9073134"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930173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461754" y="1897380"/>
            <a:ext cx="320040" cy="320040"/>
          </a:xfrm>
          <a:prstGeom prst="rect">
            <a:avLst/>
          </a:prstGeom>
        </p:spPr>
      </p:pic>
      <p:sp>
        <p:nvSpPr>
          <p:cNvPr id="21" name="Text 15"/>
          <p:cNvSpPr txBox="1"/>
          <p:nvPr/>
        </p:nvSpPr>
        <p:spPr>
          <a:xfrm>
            <a:off x="9301734" y="2514600"/>
            <a:ext cx="2109978"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WHEN</a:t>
            </a:r>
            <a:endParaRPr lang="en-US" sz="2800" dirty="0"/>
          </a:p>
        </p:txBody>
      </p:sp>
      <p:sp>
        <p:nvSpPr>
          <p:cNvPr id="22" name="Text 16"/>
          <p:cNvSpPr txBox="1"/>
          <p:nvPr/>
        </p:nvSpPr>
        <p:spPr>
          <a:xfrm>
            <a:off x="9301734" y="3191256"/>
            <a:ext cx="2109978"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timing, sequencing and strategic moves</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“Does this statement faithfully express the strategic ambition contained in our Architecture?”</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4.3 · Step 3: Build Success in Practice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D1 · Customer Experience &amp; Value</a:t>
            </a:r>
            <a:endParaRPr lang="en-US" sz="2600" dirty="0"/>
          </a:p>
        </p:txBody>
      </p:sp>
      <p:sp>
        <p:nvSpPr>
          <p:cNvPr id="7" name="Text 4"/>
          <p:cNvSpPr txBox="1"/>
          <p:nvPr/>
        </p:nvSpPr>
        <p:spPr>
          <a:xfrm>
            <a:off x="777240"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should customers and other value recipients see and experience?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D2 · Operational Capability &amp; Execution Rhythm</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should be visible in how the organisation operates and executes?</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D3 · People &amp; Culture Dynamics</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should be visible in how people understand, decide and behave?</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D4 · Enterprise Value Creation</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How should the organisation benefit across its success metrics?</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4.3c · Three connected outputs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Strategy Architecture</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Provides the logic</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Strategy Intent</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Crystallises the ambition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Success in Practice</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Makes the ambition observable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Display or print the three together: the Strategy Intent Design.</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From Success in Practice to Leadership Contribution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Apply the agreed Success in Practice to specific executive roles.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Define what each leadership role must contribute to make the Strategy Intent real.</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Role Contribution to SiP</a:t>
            </a:r>
            <a:endParaRPr lang="en-US" sz="3600" dirty="0"/>
          </a:p>
        </p:txBody>
      </p:sp>
      <p:sp>
        <p:nvSpPr>
          <p:cNvPr id="3" name="Shape 1"/>
          <p:cNvSpPr/>
          <p:nvPr/>
        </p:nvSpPr>
        <p:spPr>
          <a:xfrm>
            <a:off x="548640" y="1508760"/>
            <a:ext cx="11091672" cy="1737360"/>
          </a:xfrm>
          <a:prstGeom prst="roundRect">
            <a:avLst>
              <a:gd name="adj" fmla="val 5263"/>
            </a:avLst>
          </a:prstGeom>
          <a:solidFill>
            <a:srgbClr val="1A5C2C"/>
          </a:solidFill>
          <a:ln w="12700">
            <a:solidFill>
              <a:srgbClr val="1A5C2C"/>
            </a:solidFill>
            <a:prstDash val="solid"/>
          </a:ln>
        </p:spPr>
        <p:txBody>
          <a:bodyPr/>
          <a:lstStyle/>
          <a:p>
            <a:endParaRPr lang="en-ZA"/>
          </a:p>
        </p:txBody>
      </p:sp>
      <p:sp>
        <p:nvSpPr>
          <p:cNvPr id="4" name="Text 2"/>
          <p:cNvSpPr txBox="1"/>
          <p:nvPr/>
        </p:nvSpPr>
        <p:spPr>
          <a:xfrm>
            <a:off x="822960" y="1508760"/>
            <a:ext cx="10607040" cy="1737360"/>
          </a:xfrm>
          <a:prstGeom prst="rect">
            <a:avLst/>
          </a:prstGeom>
          <a:noFill/>
          <a:ln/>
        </p:spPr>
        <p:txBody>
          <a:bodyPr wrap="square" lIns="0" tIns="0" rIns="0" bIns="0" rtlCol="0" anchor="ctr"/>
          <a:lstStyle/>
          <a:p>
            <a:pPr marL="0" indent="0">
              <a:buNone/>
            </a:pPr>
            <a:r>
              <a:rPr lang="en-US" sz="2800" i="1" dirty="0">
                <a:solidFill>
                  <a:srgbClr val="FFFFFF"/>
                </a:solidFill>
                <a:latin typeface="Calibri" pitchFamily="34" charset="0"/>
                <a:ea typeface="Calibri" pitchFamily="34" charset="-122"/>
                <a:cs typeface="Calibri" pitchFamily="34" charset="-120"/>
              </a:rPr>
              <a:t>“From this role, what must be contributed so that the agreed Success in Practice becomes real?”</a:t>
            </a:r>
            <a:endParaRPr lang="en-US" sz="2800" dirty="0"/>
          </a:p>
        </p:txBody>
      </p:sp>
      <p:sp>
        <p:nvSpPr>
          <p:cNvPr id="5" name="Shape 3"/>
          <p:cNvSpPr/>
          <p:nvPr/>
        </p:nvSpPr>
        <p:spPr>
          <a:xfrm>
            <a:off x="548640" y="365760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6" name="Text 4"/>
          <p:cNvSpPr txBox="1"/>
          <p:nvPr/>
        </p:nvSpPr>
        <p:spPr>
          <a:xfrm>
            <a:off x="548640" y="365760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CEO</a:t>
            </a:r>
            <a:endParaRPr lang="en-US" sz="2800" dirty="0"/>
          </a:p>
        </p:txBody>
      </p:sp>
      <p:sp>
        <p:nvSpPr>
          <p:cNvPr id="7" name="Shape 5"/>
          <p:cNvSpPr/>
          <p:nvPr/>
        </p:nvSpPr>
        <p:spPr>
          <a:xfrm>
            <a:off x="2802636" y="365760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8" name="Text 6"/>
          <p:cNvSpPr txBox="1"/>
          <p:nvPr/>
        </p:nvSpPr>
        <p:spPr>
          <a:xfrm>
            <a:off x="2802636" y="365760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CFO</a:t>
            </a:r>
            <a:endParaRPr lang="en-US" sz="2800" dirty="0"/>
          </a:p>
        </p:txBody>
      </p:sp>
      <p:sp>
        <p:nvSpPr>
          <p:cNvPr id="9" name="Shape 7"/>
          <p:cNvSpPr/>
          <p:nvPr/>
        </p:nvSpPr>
        <p:spPr>
          <a:xfrm>
            <a:off x="5056632" y="365760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10" name="Text 8"/>
          <p:cNvSpPr txBox="1"/>
          <p:nvPr/>
        </p:nvSpPr>
        <p:spPr>
          <a:xfrm>
            <a:off x="5056632" y="365760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COO</a:t>
            </a:r>
            <a:endParaRPr lang="en-US" sz="2800" dirty="0"/>
          </a:p>
        </p:txBody>
      </p:sp>
      <p:sp>
        <p:nvSpPr>
          <p:cNvPr id="11" name="Shape 9"/>
          <p:cNvSpPr/>
          <p:nvPr/>
        </p:nvSpPr>
        <p:spPr>
          <a:xfrm>
            <a:off x="7310628" y="365760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12" name="Text 10"/>
          <p:cNvSpPr txBox="1"/>
          <p:nvPr/>
        </p:nvSpPr>
        <p:spPr>
          <a:xfrm>
            <a:off x="7310628" y="365760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CHRO</a:t>
            </a:r>
            <a:endParaRPr lang="en-US" sz="2800" dirty="0"/>
          </a:p>
        </p:txBody>
      </p:sp>
      <p:sp>
        <p:nvSpPr>
          <p:cNvPr id="13" name="Shape 11"/>
          <p:cNvSpPr/>
          <p:nvPr/>
        </p:nvSpPr>
        <p:spPr>
          <a:xfrm>
            <a:off x="9564624" y="365760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14" name="Text 12"/>
          <p:cNvSpPr txBox="1"/>
          <p:nvPr/>
        </p:nvSpPr>
        <p:spPr>
          <a:xfrm>
            <a:off x="9564624" y="365760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CTO</a:t>
            </a:r>
            <a:endParaRPr lang="en-US" sz="2800" dirty="0"/>
          </a:p>
        </p:txBody>
      </p:sp>
      <p:sp>
        <p:nvSpPr>
          <p:cNvPr id="15" name="Shape 13"/>
          <p:cNvSpPr/>
          <p:nvPr/>
        </p:nvSpPr>
        <p:spPr>
          <a:xfrm>
            <a:off x="548640" y="475488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16" name="Text 14"/>
          <p:cNvSpPr txBox="1"/>
          <p:nvPr/>
        </p:nvSpPr>
        <p:spPr>
          <a:xfrm>
            <a:off x="548640" y="475488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CMO</a:t>
            </a:r>
            <a:endParaRPr lang="en-US" sz="2800" dirty="0"/>
          </a:p>
        </p:txBody>
      </p:sp>
      <p:sp>
        <p:nvSpPr>
          <p:cNvPr id="17" name="Shape 15"/>
          <p:cNvSpPr/>
          <p:nvPr/>
        </p:nvSpPr>
        <p:spPr>
          <a:xfrm>
            <a:off x="2802636" y="475488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18" name="Text 16"/>
          <p:cNvSpPr txBox="1"/>
          <p:nvPr/>
        </p:nvSpPr>
        <p:spPr>
          <a:xfrm>
            <a:off x="2802636" y="475488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CCO</a:t>
            </a:r>
            <a:endParaRPr lang="en-US" sz="2800" dirty="0"/>
          </a:p>
        </p:txBody>
      </p:sp>
      <p:sp>
        <p:nvSpPr>
          <p:cNvPr id="19" name="Shape 17"/>
          <p:cNvSpPr/>
          <p:nvPr/>
        </p:nvSpPr>
        <p:spPr>
          <a:xfrm>
            <a:off x="5056632" y="475488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20" name="Text 18"/>
          <p:cNvSpPr txBox="1"/>
          <p:nvPr/>
        </p:nvSpPr>
        <p:spPr>
          <a:xfrm>
            <a:off x="5056632" y="475488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CPO</a:t>
            </a:r>
            <a:endParaRPr lang="en-US" sz="2800" dirty="0"/>
          </a:p>
        </p:txBody>
      </p:sp>
      <p:sp>
        <p:nvSpPr>
          <p:cNvPr id="21" name="Shape 19"/>
          <p:cNvSpPr/>
          <p:nvPr/>
        </p:nvSpPr>
        <p:spPr>
          <a:xfrm>
            <a:off x="7310628" y="475488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22" name="Text 20"/>
          <p:cNvSpPr txBox="1"/>
          <p:nvPr/>
        </p:nvSpPr>
        <p:spPr>
          <a:xfrm>
            <a:off x="7310628" y="475488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CRO</a:t>
            </a:r>
            <a:endParaRPr lang="en-US" sz="2800" dirty="0"/>
          </a:p>
        </p:txBody>
      </p:sp>
      <p:sp>
        <p:nvSpPr>
          <p:cNvPr id="23" name="Shape 21"/>
          <p:cNvSpPr/>
          <p:nvPr/>
        </p:nvSpPr>
        <p:spPr>
          <a:xfrm>
            <a:off x="9564624" y="4754880"/>
            <a:ext cx="2011680" cy="868680"/>
          </a:xfrm>
          <a:prstGeom prst="roundRect">
            <a:avLst>
              <a:gd name="adj" fmla="val 10526"/>
            </a:avLst>
          </a:prstGeom>
          <a:solidFill>
            <a:srgbClr val="EEF4EF"/>
          </a:solidFill>
          <a:ln w="12700">
            <a:solidFill>
              <a:srgbClr val="EEF4EF"/>
            </a:solidFill>
            <a:prstDash val="solid"/>
          </a:ln>
        </p:spPr>
        <p:txBody>
          <a:bodyPr/>
          <a:lstStyle/>
          <a:p>
            <a:endParaRPr lang="en-ZA"/>
          </a:p>
        </p:txBody>
      </p:sp>
      <p:sp>
        <p:nvSpPr>
          <p:cNvPr id="24" name="Text 22"/>
          <p:cNvSpPr txBox="1"/>
          <p:nvPr/>
        </p:nvSpPr>
        <p:spPr>
          <a:xfrm>
            <a:off x="9564624" y="4754880"/>
            <a:ext cx="2011680" cy="868680"/>
          </a:xfrm>
          <a:prstGeom prst="rect">
            <a:avLst/>
          </a:prstGeom>
          <a:noFill/>
          <a:ln/>
        </p:spPr>
        <p:txBody>
          <a:bodyPr wrap="square" lIns="0" tIns="0" rIns="0" bIns="0" rtlCol="0" anchor="ctr"/>
          <a:lstStyle/>
          <a:p>
            <a:pPr marL="0" indent="0" algn="ctr">
              <a:buNone/>
            </a:pPr>
            <a:r>
              <a:rPr lang="en-US" sz="2800" b="1" dirty="0">
                <a:solidFill>
                  <a:srgbClr val="1A5C2C"/>
                </a:solidFill>
                <a:latin typeface="Calibri" pitchFamily="34" charset="0"/>
                <a:ea typeface="Calibri" pitchFamily="34" charset="-122"/>
                <a:cs typeface="Calibri" pitchFamily="34" charset="-120"/>
              </a:rPr>
              <a:t>CSO</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5 Reflections</a:t>
            </a:r>
            <a:endParaRPr lang="en-US" sz="3600" dirty="0"/>
          </a:p>
        </p:txBody>
      </p:sp>
      <p:pic>
        <p:nvPicPr>
          <p:cNvPr id="3" name="Reflection 5.2" descr="Reflection — Application: Having completed the full application exercise — what is the single most important shift your organisation must make to close the gap between your current strategic capability and the SiP you have collectively described?"/>
          <p:cNvPicPr>
            <a:picLocks noChangeAspect="1"/>
          </p:cNvPicPr>
          <p:nvPr/>
        </p:nvPicPr>
        <p:blipFill>
          <a:blip r:embed="rId3"/>
          <a:stretch>
            <a:fillRect/>
          </a:stretch>
        </p:blipFill>
        <p:spPr>
          <a:xfrm>
            <a:off x="1691640" y="1572768"/>
            <a:ext cx="9921240" cy="1425466"/>
          </a:xfrm>
          <a:prstGeom prst="rect">
            <a:avLst/>
          </a:prstGeom>
        </p:spPr>
      </p:pic>
      <p:sp>
        <p:nvSpPr>
          <p:cNvPr id="4" name="Part 5.2"/>
          <p:cNvSpPr/>
          <p:nvPr/>
        </p:nvSpPr>
        <p:spPr>
          <a:xfrm>
            <a:off x="548640" y="185116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5.2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Return to the opening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Read your original definition of strategy. What would you change in it now — and why?</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Based on what Unit 2 revealed, the one thing I am committed to doing differently before our next session is…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TotalTime>
  <Words>20386</Words>
  <Application>Microsoft Office PowerPoint</Application>
  <PresentationFormat>Widescreen</PresentationFormat>
  <Paragraphs>1887</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 Strategy Visioning &amp; Success in Practice (SiP)</dc:title>
  <dc:subject>PptxGenJS Presentation</dc:subject>
  <dc:creator>Institute of Behavioural Strategy &amp; Leadership</dc:creator>
  <cp:lastModifiedBy>Carol Lupiya</cp:lastModifiedBy>
  <cp:revision>3</cp:revision>
  <dcterms:created xsi:type="dcterms:W3CDTF">2026-10-05T18:26:18Z</dcterms:created>
  <dcterms:modified xsi:type="dcterms:W3CDTF">2026-10-06T12:59:19Z</dcterms:modified>
</cp:coreProperties>
</file>