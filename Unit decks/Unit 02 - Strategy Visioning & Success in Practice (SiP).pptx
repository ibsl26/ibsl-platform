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2 · STRATEGY VISIONING &amp; SUCCESS IN PRACTICE (SiP)</a:t>
            </a:r>
          </a:p>
          <a:p>
            <a:r>
              <a:t>Module 2 · Direction · Unit 2</a:t>
            </a:r>
          </a:p>
          <a:p/>
          <a:p>
            <a:r>
              <a:rPr b="1"/>
              <a:t>UNIT INTENT</a:t>
            </a:r>
          </a:p>
          <a:p>
            <a:r>
              <a:t>Unit overview (facilitator file): This unit helps leaders to determine the organisation’s strategy architecture, articulate its strategic intent and define the Success in Practice (SiP) of the chosen Strategy Intent.</a:t>
            </a:r>
          </a:p>
          <a:p/>
          <a:p>
            <a:r>
              <a:t>Before the organisation can define where it is going, leaders must agree on what strategy actually means, in the precise, strategic sense, translated to operational reality, that makes every subsequent decision coherent.</a:t>
            </a:r>
          </a:p>
          <a:p/>
          <a:p>
            <a:r>
              <a:t>Three connected outputs carry the unit: the Strategy Architecture, the Strategy Intent Statement and Success in Practice.</a:t>
            </a:r>
          </a:p>
          <a:p/>
          <a:p>
            <a:r>
              <a:rPr b="1"/>
              <a:t>WHAT THE UNIT PRODUCES:</a:t>
            </a:r>
          </a:p>
          <a:p>
            <a:r>
              <a:t>Each group builds three connected outputs, in this order.</a:t>
            </a:r>
          </a:p>
          <a:p>
            <a:r>
              <a:rPr b="1"/>
              <a:t>1. The Strategy Architecture: the integrated strategic logic constructed from the 14 elements of the Strategy2Results® definition of strategy.</a:t>
            </a:r>
          </a:p>
          <a:p>
            <a:r>
              <a:rPr b="1"/>
              <a:t>2. The Strategy Intent Statement: one crisp statement of strategic ambition derived from WHAT, WHY, HOW and WHEN.</a:t>
            </a:r>
          </a:p>
          <a:p>
            <a:r>
              <a:rPr b="1"/>
              <a:t>3. Success in Practice (SiP): four confirmed statements, one for each SiP domain, read together as one picture of success.</a:t>
            </a:r>
          </a:p>
          <a:p>
            <a:r>
              <a:t>The Architecture provides the logic. The Intent crystallises the ambition. Success in Practice makes the ambition observable.</a:t>
            </a:r>
          </a:p>
          <a:p/>
          <a:p>
            <a:r>
              <a:rPr b="1"/>
              <a:t>HOW THE UNIT RUNS:</a:t>
            </a:r>
          </a:p>
          <a:p>
            <a:r>
              <a:rPr b="1"/>
              <a:t>1. You teach the whole unit from this deck first, from Section 1 to the Unit Summary. The deck is the teaching material.</a:t>
            </a:r>
          </a:p>
          <a:p>
            <a:r>
              <a:rPr b="1"/>
              <a:t>2. Participants then go to the portal and complete their own page, in the session or after it: the opening definition of strategy, the reflections and the group work of Section 5.</a:t>
            </a:r>
          </a:p>
          <a:p>
            <a:r>
              <a:rPr b="1"/>
              <a:t>3. Section 4 is one worked example, Kestrel Point Services, read on the portal and taught from the deck.</a:t>
            </a:r>
          </a:p>
          <a:p>
            <a:r>
              <a:rPr b="1"/>
              <a:t>4. Section 5 on the portal is group work for the Capstone. The group builds its own simulated company's Strategy Architecture, Strategy Intent Statement and Success in Practice. The group chooses its scribe for this work; the scribe types what the group agrees, and the entries appear on every member's page. Each member then selects Agree.</a:t>
            </a:r>
          </a:p>
          <a:p/>
          <a:p>
            <a:r>
              <a:t>Each slide's notes end with a block headed "On the portal, after the teaching" wherever participants have something to complete for that part.</a:t>
            </a:r>
          </a:p>
          <a:p/>
          <a:p>
            <a:r>
              <a:t>Your preparation as facilitator:</a:t>
            </a:r>
          </a:p>
          <a:p>
            <a:r>
              <a:t>- Read the Facilitator Guide tab and every section of the facilitator file.</a:t>
            </a:r>
          </a:p>
          <a:p/>
          <a:p>
            <a:r>
              <a:t>Where the outputs go next:</a:t>
            </a:r>
          </a:p>
          <a:p>
            <a:r>
              <a:t>- When every member has agreed, the three outputs feed the team's Capstone Blueprint, boxes 2A to 2F.</a:t>
            </a:r>
          </a:p>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Frame strategic direction in terms of the value and success the organisation intends to create.
2. Differentiate strategic direction from the future position it seeks while maintaining coherence between them.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with the group.</a:t>
            </a:r>
          </a:p>
          <a:p>
            <a:r>
              <a:rPr lang="en-US" dirty="0"/>
              <a:t>Say: "As we work through the concepts, consider: How well defined is each part of your current organisational strategy architecture?"</a:t>
            </a:r>
          </a:p>
          <a:p>
            <a:endParaRPr lang="en-US" dirty="0"/>
          </a:p>
          <a:p>
            <a:r>
              <a:rPr lang="en-US" b="1" dirty="0"/>
              <a:t>9.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12. Bridge to 1.2.</a:t>
            </a:r>
          </a:p>
          <a:p>
            <a:r>
              <a:rPr lang="en-US" dirty="0"/>
              <a:t>Say: "OUTPUT is what the other concepts produce: the Strategy Architecture. </a:t>
            </a:r>
          </a:p>
          <a:p>
            <a:r>
              <a:rPr lang="en-US" dirty="0"/>
              <a:t>In Section 4 each group works this definition as 14 elements.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DEFINING THE STRATEGY INTENT STATEMENT (4 DIMENSIONS)</a:t>
            </a:r>
          </a:p>
          <a:p/>
          <a:p>
            <a:r>
              <a:rPr b="1"/>
              <a:t>HOW TO TEACH IT:</a:t>
            </a:r>
          </a:p>
          <a:p/>
          <a:p>
            <a:r>
              <a:rPr b="1"/>
              <a:t>1. Position the statement.</a:t>
            </a:r>
          </a:p>
          <a:p>
            <a:r>
              <a:rPr b="1"/>
              <a:t>Say: </a:t>
            </a:r>
            <a:r>
              <a:rPr/>
              <a:t>"The Strategy Architecture provides the foundation from which the Strategy Intent Statement is derived.</a:t>
            </a:r>
          </a:p>
          <a:p>
            <a:r>
              <a:t>It has established the organisation's strategic choices and the logic connecting them.</a:t>
            </a:r>
          </a:p>
          <a:p>
            <a:r>
              <a:t>The Strategy Intent Statement brings forward four dimensions from that architecture.“</a:t>
            </a:r>
          </a:p>
          <a:p/>
          <a:p>
            <a:r>
              <a:rPr b="1"/>
              <a:t>Say: </a:t>
            </a:r>
            <a:r>
              <a:rPr/>
              <a:t>"The Strategy Architecture holds the depth and the supporting logic.</a:t>
            </a:r>
          </a:p>
          <a:p>
            <a:r>
              <a:t>The Strategy Intent Statement is crisp, directional and easy to express.“</a:t>
            </a:r>
          </a:p>
          <a:p/>
          <a:p>
            <a:r>
              <a:rPr b="1"/>
              <a:t>Tell participants: </a:t>
            </a:r>
            <a:r>
              <a:rPr/>
              <a:t>they derive their own statement in Section 5. Here they learn what it brings forward.</a:t>
            </a:r>
          </a:p>
          <a:p/>
          <a:p>
            <a:r>
              <a:rPr b="1"/>
              <a:t>2. Say why the statement must be crisp.</a:t>
            </a:r>
          </a:p>
          <a:p>
            <a:r>
              <a:rPr b="1"/>
              <a:t>Say: </a:t>
            </a:r>
            <a:r>
              <a:rPr/>
              <a:t>"A message creates value only if people can receive and understand it.</a:t>
            </a:r>
          </a:p>
          <a:p>
            <a:r>
              <a:t>Strategy must be both sound and communicable."</a:t>
            </a:r>
          </a:p>
          <a:p>
            <a:r>
              <a:t>(Insight: Sound and communicable. Source: Journal, 23 August 2026 — Professional Insights: Strategy)</a:t>
            </a:r>
          </a:p>
          <a:p/>
          <a:p>
            <a:r>
              <a:rPr b="1"/>
              <a:t>3. Take the four dimensions one at a time.</a:t>
            </a:r>
          </a:p>
          <a:p>
            <a:r>
              <a:rPr b="1"/>
              <a:t>Say: </a:t>
            </a:r>
            <a:r>
              <a:rPr/>
              <a:t>"We walk through WHAT, WHY, HOW and WHEN one at a time, as a group."</a:t>
            </a:r>
          </a:p>
          <a:p>
            <a:r>
              <a:t>For each dimension, ask one diagnostic question and take two or three responses.</a:t>
            </a:r>
          </a:p>
          <a:p>
            <a:r>
              <a:t>Stay longest on HOW and WHEN: they typically reveal the most significant gaps.</a:t>
            </a:r>
          </a:p>
          <a:p/>
          <a:p>
            <a:r>
              <a:rPr b="1"/>
              <a:t>4. WHAT — Scope &amp; Definition.</a:t>
            </a:r>
          </a:p>
          <a:p>
            <a:r>
              <a:rPr b="1"/>
              <a:t>Say: </a:t>
            </a:r>
            <a:r>
              <a:rPr/>
              <a:t>"WHAT brings forward the value the organisation has chosen to create and its field of play.</a:t>
            </a:r>
          </a:p>
          <a:p>
            <a:r>
              <a:t>It governs scope, portfolio, product and service definition, boundary-setting, market choice, capability focus."</a:t>
            </a:r>
          </a:p>
          <a:p/>
          <a:p>
            <a:r>
              <a:t>Ask one diagnostic question and take two or three responses: "What arenas are we choosing to compete in?" · "What have we decided not to do?" · Listen for: a WHAT with no boundary.</a:t>
            </a:r>
          </a:p>
          <a:p/>
          <a:p>
            <a:r>
              <a:rPr b="1"/>
              <a:t>Deepen, say: </a:t>
            </a:r>
            <a:r>
              <a:rPr/>
              <a:t>"Capability without strategic intent produces a spectacular career and an unfinished assignment.</a:t>
            </a:r>
          </a:p>
          <a:p>
            <a:r>
              <a:t>Audit where the organisation’s most distinctive strength is being spent.</a:t>
            </a:r>
          </a:p>
          <a:p>
            <a:r>
              <a:t>(Insight: Capability without intent. Source: Journal, 25 April 2026 — Professional Insights: Strategy)</a:t>
            </a:r>
          </a:p>
          <a:p/>
          <a:p>
            <a:r>
              <a:rPr b="1"/>
              <a:t>5. WHY — Purpose &amp; Rationale.</a:t>
            </a:r>
          </a:p>
          <a:p>
            <a:r>
              <a:rPr b="1"/>
              <a:t>Say: </a:t>
            </a:r>
            <a:r>
              <a:rPr/>
              <a:t>"WHY brings forward the rationale for those choices and why they matter.</a:t>
            </a:r>
          </a:p>
          <a:p>
            <a:r>
              <a:t>It governs purpose, mission, competitive differentiation, value proposition, organisational identity."</a:t>
            </a:r>
          </a:p>
          <a:p/>
          <a:p>
            <a:r>
              <a:t>Ask one diagnostic question and take two or three responses: "Does our WHY actually differentiate us, or could a competitor claim it unchanged?" · "Do our decisions consistently reflect this WHY?" · "Do stakeholders believe and repeat our WHY?"</a:t>
            </a:r>
          </a:p>
          <a:p/>
          <a:p>
            <a:r>
              <a:rPr b="1"/>
              <a:t>Deepen, say: </a:t>
            </a:r>
            <a:r>
              <a:rPr/>
              <a:t>"Organisations that rush into execution without clarifying purpose create activity without lasting impact.</a:t>
            </a:r>
          </a:p>
          <a:p>
            <a:r>
              <a:t>Strategic clarity emerges when leaders understand why the work exists before deciding how it will be done."</a:t>
            </a:r>
          </a:p>
          <a:p>
            <a:r>
              <a:t>(Insight: WHY before HOW. Source: Journal, 28 July 2026 — Professional Insights: Strategy)</a:t>
            </a:r>
          </a:p>
          <a:p/>
          <a:p>
            <a:r>
              <a:rPr b="1"/>
              <a:t>6. HOW — Mechanism &amp; Model.</a:t>
            </a:r>
          </a:p>
          <a:p>
            <a:r>
              <a:rPr b="1"/>
              <a:t>Say: </a:t>
            </a:r>
            <a:r>
              <a:rPr/>
              <a:t>"HOW brings forward the operating model, capabilities and mechanisms through which the value will be delivered.</a:t>
            </a:r>
          </a:p>
          <a:p>
            <a:r>
              <a:t>It governs operating model, capabilities, processes, organisational design, technology architecture, partnerships."</a:t>
            </a:r>
          </a:p>
          <a:p/>
          <a:p>
            <a:r>
              <a:t>Key facilitation moment. Ask: "Does your operating model currently match your strategy — or is it a legacy structure that predates your current direction?"</a:t>
            </a:r>
          </a:p>
          <a:p/>
          <a:p>
            <a:r>
              <a:t>Stay here. This often opens the most honest conversation of the entire Awareness section.</a:t>
            </a:r>
          </a:p>
          <a:p/>
          <a:p>
            <a:r>
              <a:t>Further diagnostic questions, if the room needs them: "What capabilities are core and must be owned versus outsourced?" ·</a:t>
            </a:r>
          </a:p>
          <a:p>
            <a:r>
              <a:t>"Where are the HOW gaps between strategic ambition and current capability?"</a:t>
            </a:r>
          </a:p>
          <a:p/>
          <a:p>
            <a:r>
              <a:t>Listen for: a HOW with no operating model, capability or mechanism named.</a:t>
            </a:r>
          </a:p>
          <a:p/>
          <a:p>
            <a:r>
              <a:rPr b="1"/>
              <a:t>Deepen, say: </a:t>
            </a:r>
            <a:r>
              <a:rPr/>
              <a:t>"A common strategic failure is choosing the right goal and accepting a compromised route to reach it: a deal that delivers the number and burns the relationship, a hire that fits the seat and damages the team.</a:t>
            </a:r>
          </a:p>
          <a:p/>
          <a:p>
            <a:r>
              <a:t>Before the next material commitment, write the destination and the route on two separate lines and ask whether you would still defend the route if the outcome failed."</a:t>
            </a:r>
          </a:p>
          <a:p>
            <a:r>
              <a:t>(Insight: Destination and route. Source: Journal, 24 April 2026 — Professional Insights: Strategy)</a:t>
            </a:r>
          </a:p>
          <a:p/>
          <a:p>
            <a:r>
              <a:rPr b="1"/>
              <a:t>7. WHEN — Timing &amp; Sequencing.</a:t>
            </a:r>
          </a:p>
          <a:p>
            <a:r>
              <a:rPr b="1"/>
              <a:t>Say: </a:t>
            </a:r>
            <a:r>
              <a:rPr/>
              <a:t>"WHEN brings forward the timing, sequencing and strategic moves through which the ambition will be pursued.</a:t>
            </a:r>
          </a:p>
          <a:p>
            <a:r>
              <a:t>It governs timing, sequencing, pacing, prioritisation, horizon planning, entry and exit decisions."</a:t>
            </a:r>
          </a:p>
          <a:p/>
          <a:p>
            <a:r>
              <a:rPr b="1"/>
              <a:t>Ask: </a:t>
            </a:r>
            <a:r>
              <a:rPr/>
              <a:t>"Have you actually mapped the sequence of moves needed to achieve your strategy — or does the plan treat all initiatives as running in parallel?"</a:t>
            </a:r>
          </a:p>
          <a:p/>
          <a:p>
            <a:r>
              <a:t>Further diagnostic questions, if the room needs them: "Are we moving at the right pace?" · "What signals tell us when to accelerate or pause?"</a:t>
            </a:r>
          </a:p>
          <a:p/>
          <a:p>
            <a:r>
              <a:rPr b="1"/>
              <a:t>Deepen, say: </a:t>
            </a:r>
            <a:r>
              <a:rPr/>
              <a:t>"Many strategic failures are failures of timing.</a:t>
            </a:r>
          </a:p>
          <a:p>
            <a:r>
              <a:t>The leader knew what to do and moved before the conditions favoured it. Identify one important move you are pushing early because you are anxious to resolve uncertainty.</a:t>
            </a:r>
          </a:p>
          <a:p>
            <a:r>
              <a:t>The same move made at the right moment is a different move."</a:t>
            </a:r>
          </a:p>
          <a:p>
            <a:r>
              <a:t>(Insight: Timing failures. Source: Journal, 1 May 2026 — Professional Insights: Strategy)</a:t>
            </a:r>
          </a:p>
          <a:p/>
          <a:p>
            <a:r>
              <a:rPr b="1"/>
              <a:t>8. Read the room.</a:t>
            </a:r>
          </a:p>
          <a:p>
            <a:r>
              <a:rPr b="1"/>
              <a:t>Ask: </a:t>
            </a:r>
            <a:r>
              <a:rPr/>
              <a:t>"Which of the four dimensions is least clearly defined in your organisation today?"</a:t>
            </a:r>
          </a:p>
          <a:p>
            <a:r>
              <a:t>Take a show of hands for each dimension and say what pattern the group shows.</a:t>
            </a:r>
          </a:p>
          <a:p/>
          <a:p>
            <a:r>
              <a:rPr b="1"/>
              <a:t>9. Show that the four hold together.</a:t>
            </a:r>
          </a:p>
          <a:p>
            <a:r>
              <a:rPr b="1"/>
              <a:t>Say: </a:t>
            </a:r>
            <a:r>
              <a:rPr/>
              <a:t>"The four dimensions are interdependent. Answering only two or three creates a structurally incomplete strategy.</a:t>
            </a:r>
          </a:p>
          <a:p>
            <a:r>
              <a:t>A well-formed strategic intent answers all four at once: What value are we creating?</a:t>
            </a:r>
          </a:p>
          <a:p>
            <a:r>
              <a:t>Why will stakeholders choose us?</a:t>
            </a:r>
          </a:p>
          <a:p>
            <a:r>
              <a:t>How will we deliver this value?</a:t>
            </a:r>
          </a:p>
          <a:p>
            <a:r>
              <a:t>When will we act?"</a:t>
            </a:r>
          </a:p>
          <a:p/>
          <a:p>
            <a:r>
              <a:rPr b="1"/>
              <a:t>10. Say what is at stake.</a:t>
            </a:r>
          </a:p>
          <a:p>
            <a:r>
              <a:rPr b="1"/>
              <a:t>Say: </a:t>
            </a:r>
            <a:r>
              <a:rPr/>
              <a:t>"Without a clear strategic intent, every investment becomes a negotiation without a shared reference point.</a:t>
            </a:r>
          </a:p>
          <a:p>
            <a:r>
              <a:t>Every performance review becomes a contest between competing definitions of success."</a:t>
            </a:r>
          </a:p>
          <a:p/>
          <a:p>
            <a:r>
              <a:rPr b="1"/>
              <a:t>11. Close and bridge to 1.3.</a:t>
            </a:r>
          </a:p>
          <a:p>
            <a:r>
              <a:rPr b="1"/>
              <a:t>Say: </a:t>
            </a:r>
            <a:r>
              <a:rPr/>
              <a:t>"These four dimensions are then crystallised into one clear Strategy Intent Statement.</a:t>
            </a:r>
          </a:p>
          <a:p>
            <a:r>
              <a:t>The strength of the statement comes from the architecture beneath it.</a:t>
            </a:r>
          </a:p>
          <a:p>
            <a:r>
              <a:t>It should therefore be crisp, directional and easy to express, while the Strategy Architecture holds the depth and supporting logic.</a:t>
            </a:r>
          </a:p>
          <a:p>
            <a:r>
              <a:t>The resulting Strategy Intent becomes the organisation's directional anchor for strategic choices, alignment and execution."</a:t>
            </a:r>
          </a:p>
          <a:p/>
          <a:p>
            <a:r>
              <a:rPr b="1"/>
              <a:t>Say: </a:t>
            </a:r>
            <a:r>
              <a:rPr/>
              <a:t>"The Intent sets the ambition. Next we ask what we should see in practice when that ambition is realised."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a:t>
            </a:r>
            <a:r>
              <a:rPr lang="en-US" dirty="0"/>
              <a:t> Before you build, know exactly what you are building toward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1 REFLECTIONS</a:t>
            </a:r>
          </a:p>
          <a:p/>
          <a:p>
            <a:r>
              <a:rPr b="1"/>
              <a:t>HOW TO USE THIS SLIDE:</a:t>
            </a:r>
          </a:p>
          <a:p/>
          <a:p>
            <a:r>
              <a:rPr b="1"/>
              <a:t>1. Show the slide and read the prompt aloud.</a:t>
            </a:r>
          </a:p>
          <a:p>
            <a:r>
              <a:t>1.1 Reflection — Strategy Architecture: "Which part of your organisation's strategy architecture is least well defined today? What is the consequence?"</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the portal after the teaching, with as much depth as you can."</a:t>
            </a:r>
          </a:p>
          <a:p/>
          <a:p>
            <a:r>
              <a:rPr b="1"/>
              <a:t>3. Set the standard for 1.1.</a:t>
            </a:r>
          </a:p>
          <a:p>
            <a:r>
              <a:rPr b="1"/>
              <a:t>Say: </a:t>
            </a:r>
            <a:r>
              <a:rPr/>
              <a:t>"Name one concept from the nine, give evidence from your own organisation, and name one consequence you have seen: what the gap costs, slows down or leaves undecided.“</a:t>
            </a:r>
          </a:p>
          <a:p/>
          <a:p>
            <a:r>
              <a:rPr b="1"/>
              <a:t>Deepen, say: </a:t>
            </a:r>
            <a:r>
              <a:rPr/>
              <a:t>"Strategy begins with an accurate understanding of present reality.</a:t>
            </a:r>
          </a:p>
          <a:p>
            <a:r>
              <a:t>Leaders who avoid difficult information protect their comfort at the expense of the institution.</a:t>
            </a:r>
          </a:p>
          <a:p>
            <a:r>
              <a:t>Name the true condition without minimising it."</a:t>
            </a:r>
          </a:p>
          <a:p>
            <a:r>
              <a:t>(Insight: An honest baseline. Source: Journal, 4 August 2026 — Professional Insights: Strategy)</a:t>
            </a:r>
          </a:p>
          <a:p/>
          <a:p>
            <a:r>
              <a:rPr b="1"/>
              <a:t>4. Bridge to Section 2.</a:t>
            </a:r>
          </a:p>
          <a:p>
            <a:r>
              <a:rPr b="1"/>
              <a:t>Say: </a:t>
            </a:r>
            <a:r>
              <a:rPr/>
              <a:t>"We now have the three building blocks: the architecture, the intent and the picture of success.</a:t>
            </a:r>
          </a:p>
          <a:p/>
          <a:p>
            <a:r>
              <a:t>Section 2 asks why the Strategy Intent and SiP matter once they are defined."</a:t>
            </a:r>
          </a:p>
          <a:p/>
          <a:p>
            <a:r>
              <a:rPr b="1"/>
              <a:t>ON THE PORTAL, AFTER THE TEACHING:</a:t>
            </a:r>
          </a:p>
          <a:p>
            <a:r>
              <a:t>Participants write the reflection in Section 1 of the participant file: 1.1 Reflection — Strategy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Reconcile leadership perspectives into a shared strategic ambition and picture of success.</a:t>
            </a:r>
          </a:p>
          <a:p>
            <a:r>
              <a:rPr lang="en-US" dirty="0"/>
              <a:t>2. Apply strategic direction as a consistent basis for enterprise decisions.</a:t>
            </a:r>
            <a:r>
              <a:rPr lang="en-US" dirty="0" err="1"/>
              <a:t/>
            </a:r>
            <a:r>
              <a:rPr lang="en-US" dirty="0"/>
              <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with the group.</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each of you defines what one executive role must contribute so that the agreed Success in Practice becomes real."</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pattern the group shows.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Specify observable evidence of success across the four SiP domains.</a:t>
            </a:r>
            <a:r>
              <a:rPr lang="en-US" dirty="0" err="1"/>
              <a:t/>
            </a:r>
            <a:r>
              <a:rPr lang="en-US" dirty="0"/>
              <a:t/>
            </a:r>
          </a:p>
          <a:p>
            <a:r>
              <a:rPr lang="en-US" dirty="0"/>
              <a:t>2. Interpret gaps between intended success and current conditions to identify strategic misalignment.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a:t>
            </a:r>
          </a:p>
          <a:p>
            <a:r>
              <a:rPr lang="en-US" dirty="0"/>
              <a:t>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p>
            <a:r>
              <a:rPr b="1"/>
              <a:t>HOW THIS SECTION RUNS:</a:t>
            </a:r>
          </a:p>
          <a:p>
            <a:r>
              <a:rPr b="1"/>
              <a:t>1. 4.1a: the company of the worked example, Kestrel Point Services.</a:t>
            </a:r>
          </a:p>
          <a:p>
            <a:r>
              <a:rPr b="1"/>
              <a:t>2. 4.1b to 4.1d, Step 1: how each element works, the 14 elements and the six checks on the Strategy Architecture, shown through the example.</a:t>
            </a:r>
          </a:p>
          <a:p>
            <a:r>
              <a:rPr b="1"/>
              <a:t>3. 4.2, Step 2: how the example's WHAT, WHY, HOW and WHEN became one Strategy Intent Statement.</a:t>
            </a:r>
          </a:p>
          <a:p>
            <a:r>
              <a:rPr b="1"/>
              <a:t>4. 4.3a and 4.3b, Step 3: the example's four SiP statements, and the three outputs read together.</a:t>
            </a:r>
          </a:p>
          <a:p>
            <a:r>
              <a:t>Section 4 teaches the three steps once, completed for one company. Each group builds the same three outputs for its own simulated company in Section 5.</a:t>
            </a:r>
          </a:p>
          <a:p/>
          <a:p>
            <a:r>
              <a:rPr b="1"/>
              <a:t>HOW TO OPEN THE SECTION:</a:t>
            </a:r>
          </a:p>
          <a:p/>
          <a:p>
            <a:r>
              <a:rPr b="1"/>
              <a:t>1. State the section intent.</a:t>
            </a:r>
          </a:p>
          <a:p>
            <a:r>
              <a:rPr b="1"/>
              <a:t>Say: </a:t>
            </a:r>
            <a:r>
              <a:rPr/>
              <a:t>"This section shows the whole Strategy Intent Design completed once, for one company: Strategy Architecture, then Strategy Intent, then Success in Practice.</a:t>
            </a:r>
          </a:p>
          <a:p>
            <a:r>
              <a:t>In Section 5 your group builds the same three outputs for the company of your Problem Charter."</a:t>
            </a:r>
          </a:p>
          <a:p/>
          <a:p>
            <a:r>
              <a:rPr b="1"/>
              <a:t>2. Read the two section learning outcomes from the slide.</a:t>
            </a:r>
          </a:p>
          <a:p>
            <a:r>
              <a:rPr b="1"/>
              <a:t>SECTION LEARNING OUTCOMES:</a:t>
            </a:r>
          </a:p>
          <a:p>
            <a:r>
              <a:rPr b="1"/>
              <a:t>1. Integrate the elements of Strategy Architecture into a coherent enterprise strategy.</a:t>
            </a:r>
          </a:p>
          <a:p>
            <a:r>
              <a:rPr b="1"/>
              <a:t>2. Synthesise diverse leadership perspectives into an agreed enterprise position.</a:t>
            </a:r>
          </a:p>
          <a:p/>
          <a:p>
            <a:r>
              <a:rPr b="1"/>
              <a:t>3. Emphasise the sequence.</a:t>
            </a:r>
          </a:p>
          <a:p>
            <a:r>
              <a:rPr b="1"/>
              <a:t>Say: </a:t>
            </a:r>
            <a:r>
              <a:rPr/>
              <a:t>"Each output provides the foundation for the next.</a:t>
            </a:r>
          </a:p>
          <a:p>
            <a:r>
              <a:t>The quality of the SiP depends on the quality of the Intent, and the quality of the Intent depends on the thinking captured in the Architecture.</a:t>
            </a:r>
          </a:p>
          <a:p>
            <a:r>
              <a:t>The example shows that chain: the client promise named in WHAT returns in the Intent and again in the first SiP statement."</a:t>
            </a:r>
          </a:p>
          <a:p/>
          <a:p>
            <a:r>
              <a:rPr b="1"/>
              <a:t>4. Say why the work is collective.</a:t>
            </a:r>
          </a:p>
          <a:p>
            <a:r>
              <a:rPr b="1"/>
              <a:t>Say: </a:t>
            </a:r>
            <a:r>
              <a:rPr/>
              <a:t>"Strategy requires more than agreement with a finished statement.</a:t>
            </a:r>
          </a:p>
          <a:p>
            <a:r>
              <a:t>Leaders contribute to the thinking, surface different interpretations, work through tensions and arrive at a position they can collectively own."</a:t>
            </a:r>
          </a:p>
          <a:p/>
          <a:p>
            <a:r>
              <a:rPr b="1"/>
              <a:t>Deepen, say: </a:t>
            </a:r>
            <a:r>
              <a:rPr/>
              <a:t>"Lasting influence grows when people understand the significance of the mission and commit to it voluntarily.</a:t>
            </a:r>
          </a:p>
          <a:p>
            <a:r>
              <a:t>Willing commitment produces ownership."</a:t>
            </a:r>
          </a:p>
          <a:p>
            <a:r>
              <a:t>(Insight: Willing commitment. Source: Journal, 29 July 2026 — Professional Insights: Leadership)</a:t>
            </a:r>
          </a:p>
          <a:p/>
          <a:p>
            <a:r>
              <a:rPr b="1"/>
              <a:t>ON THE PORTAL, AFTER THE TEACHING:</a:t>
            </a:r>
          </a:p>
          <a:p>
            <a:r>
              <a:t>Section 4 of the participant file holds the worked example, read-only, for participants to return to while they build their own in Section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WORKED EXAMPLE: KESTREL POINT SERVICES</a:t>
            </a:r>
          </a:p>
          <a:p/>
          <a:p>
            <a:r>
              <a:rPr b="1"/>
              <a:t>HOW TO TEACH IT:</a:t>
            </a:r>
          </a:p>
          <a:p/>
          <a:p>
            <a:r>
              <a:rPr b="1"/>
              <a:t>1. Introduce the company, using the four lines on the slide.</a:t>
            </a:r>
          </a:p>
          <a:p>
            <a:r>
              <a:rPr b="1"/>
              <a:t>Say: </a:t>
            </a:r>
            <a:r>
              <a:rPr/>
              <a:t>"Kestrel Point Services provides facilities management and technical maintenance to corporate clients.</a:t>
            </a:r>
          </a:p>
          <a:p>
            <a:r>
              <a:t>It has about 1,200 employees in eight regional service hubs, and its strategy runs from 2027 to 2029."</a:t>
            </a:r>
          </a:p>
          <a:p/>
          <a:p>
            <a:r>
              <a:rPr b="1"/>
              <a:t>2. Give its central problem.</a:t>
            </a:r>
          </a:p>
          <a:p>
            <a:r>
              <a:rPr b="1"/>
              <a:t>Say: </a:t>
            </a:r>
            <a:r>
              <a:rPr/>
              <a:t>"Kestrel Point wins clients on relationships and loses them on service.</a:t>
            </a:r>
          </a:p>
          <a:p>
            <a:r>
              <a:t>Response times vary from team to team, requests stall in handovers between functions, decisions that involve more than one function wait for escalation, and margins swing with the cost of rework."</a:t>
            </a:r>
          </a:p>
          <a:p/>
          <a:p>
            <a:r>
              <a:rPr b="1"/>
              <a:t>3. Link the example to the Problem Charter.</a:t>
            </a:r>
          </a:p>
          <a:p>
            <a:r>
              <a:rPr b="1"/>
              <a:t>Say: </a:t>
            </a:r>
            <a:r>
              <a:rPr/>
              <a:t>"This is the kind of central problem your group stated in its Problem Charter in Unit 1.</a:t>
            </a:r>
          </a:p>
          <a:p>
            <a:r>
              <a:t>Here you see how one company builds a strategy that answers its problem. In Section 5 your group does the same for its own company."</a:t>
            </a:r>
          </a:p>
          <a:p/>
          <a:p>
            <a:r>
              <a:rPr b="1"/>
              <a:t>4. Link the example to the units that follow.</a:t>
            </a:r>
          </a:p>
          <a:p>
            <a:r>
              <a:rPr b="1"/>
              <a:t>Say: </a:t>
            </a:r>
            <a:r>
              <a:rPr/>
              <a:t>"You will meet Kestrel Point again. Its SiP leads into the worked example of Unit 3, and its Key Results are tested in Unit 4."</a:t>
            </a:r>
          </a:p>
          <a:p/>
          <a:p>
            <a:r>
              <a:rPr b="1"/>
              <a:t>ON THE PORTAL, AFTER THE TEACHING:</a:t>
            </a:r>
          </a:p>
          <a:p>
            <a:r>
              <a:t>The company cards open Section 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HOW EACH ELEMENT WORKS</a:t>
            </a:r>
          </a:p>
          <a:p/>
          <a:p>
            <a:r>
              <a:rPr b="1"/>
              <a:t>HOW TO TEACH IT:</a:t>
            </a:r>
          </a:p>
          <a:p/>
          <a:p>
            <a:r>
              <a:rPr b="1"/>
              <a:t>1. State the purpose.</a:t>
            </a:r>
          </a:p>
          <a:p>
            <a:r>
              <a:rPr b="1"/>
              <a:t>Say: </a:t>
            </a:r>
            <a:r>
              <a:rPr/>
              <a:t>"Step 1 is the foundation.</a:t>
            </a:r>
          </a:p>
          <a:p>
            <a:r>
              <a:t>The 14 elements of the Strategy2Results® Strategy Definition establish the thinking and logic underneath the strategic position before that position is expressed concisely."</a:t>
            </a:r>
          </a:p>
          <a:p/>
          <a:p>
            <a:r>
              <a:rPr b="1"/>
              <a:t>2. Walk the routine for one element, using the lines on the slide, with WHAT from the example.</a:t>
            </a:r>
          </a:p>
          <a:p>
            <a:r>
              <a:rPr b="1"/>
              <a:t>Say: </a:t>
            </a:r>
            <a:r>
              <a:rPr/>
              <a:t>"Each element has four questions. THE FORCES has five.</a:t>
            </a:r>
          </a:p>
          <a:p>
            <a:r>
              <a:t>Kestrel Point answered WHAT like this: what business are we actually in? Keeping corporate buildings and their technical systems running without disruption.</a:t>
            </a:r>
          </a:p>
          <a:p>
            <a:r>
              <a:t>What value are we choosing to create? Fast, consistent and effortless service that clients can rely on first."</a:t>
            </a:r>
          </a:p>
          <a:p/>
          <a:p>
            <a:r>
              <a:rPr b="1"/>
              <a:t>Say: </a:t>
            </a:r>
            <a:r>
              <a:rPr/>
              <a:t>"Then one or two sentences state what the element is saying:</a:t>
            </a:r>
          </a:p>
          <a:p>
            <a:r>
              <a:t>Kestrel Point is in the business of keeping client buildings running, and it chooses to win on fast, consistent and effortless service through one client team per key account."</a:t>
            </a:r>
          </a:p>
          <a:p/>
          <a:p>
            <a:r>
              <a:rPr b="1"/>
              <a:t>3. Set the standard for an answer.</a:t>
            </a:r>
          </a:p>
          <a:p>
            <a:r>
              <a:rPr b="1"/>
              <a:t>Say: </a:t>
            </a:r>
            <a:r>
              <a:rPr/>
              <a:t>"Capture actual strategic choices and leave broad aspirations out.</a:t>
            </a:r>
          </a:p>
          <a:p>
            <a:r>
              <a:t>A strategic choice names what the organisation will do and what it leaves out. Kestrel Point leaves once-off construction projects and low-value contracts out."</a:t>
            </a:r>
          </a:p>
          <a:p/>
          <a:p>
            <a:r>
              <a:rPr b="1"/>
              <a:t>4. Give the question that closes each element.</a:t>
            </a:r>
          </a:p>
          <a:p>
            <a:r>
              <a:rPr b="1"/>
              <a:t>Say: </a:t>
            </a:r>
            <a:r>
              <a:rPr/>
              <a:t>"Before moving on, the group asks: Is this what we mean? It revises the sentences until they say what the group means."</a:t>
            </a:r>
          </a:p>
          <a:p/>
          <a:p>
            <a:r>
              <a:rPr b="1"/>
              <a:t>Deepen, say: </a:t>
            </a:r>
            <a:r>
              <a:rPr/>
              <a:t>"The leader who is present when a commitment is made and does not challenge it has endorsed it.</a:t>
            </a:r>
          </a:p>
          <a:p>
            <a:r>
              <a:t>A plan received without objection binds the organisation to an outcome the leader could have shaped."</a:t>
            </a:r>
          </a:p>
          <a:p>
            <a:r>
              <a:t>(Insight: Silence is a decision. Source: Journal, 15 March 2026 — Professional Insights)</a:t>
            </a:r>
          </a:p>
          <a:p/>
          <a:p>
            <a:r>
              <a:rPr b="1"/>
              <a:t>5. Say that the elements test one another.</a:t>
            </a:r>
          </a:p>
          <a:p>
            <a:r>
              <a:rPr b="1"/>
              <a:t>Say: </a:t>
            </a:r>
            <a:r>
              <a:rPr/>
              <a:t>"The elements are interconnected. The value an organisation intends to create must be supported by its HOW; its WHEN must reflect the capabilities it needs to build; its approach to sustaining value must respond to the forces in its operating environment.</a:t>
            </a:r>
          </a:p>
          <a:p>
            <a:r>
              <a:t>When one element exposes a weakness in another, return to the earlier element and revise it."</a:t>
            </a:r>
          </a:p>
          <a:p/>
          <a:p>
            <a:r>
              <a:rPr b="1"/>
              <a:t>6. Explain the count.</a:t>
            </a:r>
          </a:p>
          <a:p>
            <a:r>
              <a:rPr b="1"/>
              <a:t>Say: </a:t>
            </a:r>
            <a:r>
              <a:rPr/>
              <a:t>"When all 14 elements say what they mean, they come together under five headings: the Strategy Architecture."</a:t>
            </a:r>
          </a:p>
          <a:p/>
          <a:p>
            <a:r>
              <a:rPr b="1"/>
              <a:t>ON THE PORTAL, AFTER THE TEACHING:</a:t>
            </a:r>
          </a:p>
          <a:p>
            <a:r>
              <a:t>In Section 4, each of the 14 elements of the example opens to show its answers and what it is saying.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THE 14 ELEMENTS</a:t>
            </a:r>
          </a:p>
          <a:p/>
          <a:p>
            <a:r>
              <a:rPr b="1"/>
              <a:t>HOW TO TEACH IT:</a:t>
            </a:r>
          </a:p>
          <a:p/>
          <a:p>
            <a:r>
              <a:rPr b="1"/>
              <a:t>1. Show the 14 elements as one list.</a:t>
            </a:r>
          </a:p>
          <a:p>
            <a:r>
              <a:rPr b="1"/>
              <a:t>Say: </a:t>
            </a:r>
            <a:r>
              <a:rPr/>
              <a:t>"The 14 elements follow the Strategy2Results® definition of strategy.</a:t>
            </a:r>
          </a:p>
          <a:p>
            <a:r>
              <a:t>OUTPUT, the first concept in 1.1, is what the 14 elements produce: the Strategy Architecture."</a:t>
            </a:r>
          </a:p>
          <a:p/>
          <a:p>
            <a:r>
              <a:rPr b="1"/>
              <a:t>2. Link back to 1.1.</a:t>
            </a:r>
          </a:p>
          <a:p>
            <a:r>
              <a:rPr b="1"/>
              <a:t>Say: </a:t>
            </a:r>
            <a:r>
              <a:rPr/>
              <a:t>"In 1.1 we met nine concepts. Here the same definition is worked as 14 elements.</a:t>
            </a:r>
          </a:p>
          <a:p>
            <a:r>
              <a:t>WHAT, WHY, HOW and WHEN are four elements. CREATES, DELIVERS and SUSTAINS VALUE are three. OPERATING ENVIRONMENT has an element of its own."</a:t>
            </a:r>
          </a:p>
          <a:p/>
          <a:p>
            <a:r>
              <a:rPr b="1"/>
              <a:t>3. Show the five headings, with what Kestrel Point's elements say.</a:t>
            </a:r>
          </a:p>
          <a:p>
            <a:r>
              <a:rPr b="1"/>
              <a:t>Say: </a:t>
            </a:r>
            <a:r>
              <a:rPr/>
              <a:t>"The elements come together under five headings."</a:t>
            </a:r>
          </a:p>
          <a:p>
            <a:r>
              <a:t>- Strategic Position · WHAT and WHY: the business of keeping client buildings running, won on fast, consistent and effortless service, so that clients can focus on their own business.</a:t>
            </a:r>
          </a:p>
          <a:p>
            <a:r>
              <a:t>- Strategic Model · HOW and WHEN: integrated client teams, decision rights at hub level and one weekly cross-functional rhythm; responsiveness first, scalable service models last.</a:t>
            </a:r>
          </a:p>
          <a:p>
            <a:r>
              <a:t>- Value Architecture · CREATES, DELIVERS, SUSTAINS VALUE and STAKEHOLDERS: faster resolution and preventive maintenance, delivered through one client team, one number and one portal, protected by removing silos.</a:t>
            </a:r>
          </a:p>
          <a:p>
            <a:r>
              <a:t>- Strategic Navigation · NAVIGATING, THE FORCES and OPERATING ENVIRONMENT: service data and client reviews read every week, and the strongest force named as internal: silos and the habit of escalation.</a:t>
            </a:r>
          </a:p>
          <a:p>
            <a:r>
              <a:t>- Strategy Discipline · ITERATIVE, THINKING &amp; LOGIC and PROCESS: one hypothesis, that clients value speed and consistency above the lowest price, tested every quarter.</a:t>
            </a:r>
          </a:p>
          <a:p/>
          <a:p>
            <a:r>
              <a:rPr b="1"/>
              <a:t>4. If a participant asks where an element goes, use this list.</a:t>
            </a:r>
          </a:p>
          <a:p>
            <a:r>
              <a:t>1 · ITERATIVE → Strategy Discipline</a:t>
            </a:r>
          </a:p>
          <a:p>
            <a:r>
              <a:t>2 · THINKING &amp; LOGIC → Strategy Discipline</a:t>
            </a:r>
          </a:p>
          <a:p>
            <a:r>
              <a:t>3 · PROCESS → Strategy Discipline</a:t>
            </a:r>
          </a:p>
          <a:p>
            <a:r>
              <a:t>4 · WHAT → Strategic Position</a:t>
            </a:r>
          </a:p>
          <a:p>
            <a:r>
              <a:t>5 · WHY → Strategic Position</a:t>
            </a:r>
          </a:p>
          <a:p>
            <a:r>
              <a:t>6 · HOW → Strategic Model</a:t>
            </a:r>
          </a:p>
          <a:p>
            <a:r>
              <a:t>7 · WHEN → Strategic Model</a:t>
            </a:r>
          </a:p>
          <a:p>
            <a:r>
              <a:t>8 · CREATES VALUE → Value Architecture</a:t>
            </a:r>
          </a:p>
          <a:p>
            <a:r>
              <a:t>9 · DELIVERS VALUE → Value Architecture</a:t>
            </a:r>
          </a:p>
          <a:p>
            <a:r>
              <a:t>10 · SUSTAINS VALUE → Value Architecture</a:t>
            </a:r>
          </a:p>
          <a:p>
            <a:r>
              <a:t>11 · STAKEHOLDERS → Value Architecture</a:t>
            </a:r>
          </a:p>
          <a:p>
            <a:r>
              <a:t>12 · NAVIGATING → Strategic Navigation</a:t>
            </a:r>
          </a:p>
          <a:p>
            <a:r>
              <a:t>13 · THE FORCES → Strategic Navigation</a:t>
            </a:r>
          </a:p>
          <a:p>
            <a:r>
              <a:t>14 · OPERATING ENVIRONMENT → Strategic Navigation</a:t>
            </a:r>
          </a:p>
          <a:p/>
          <a:p>
            <a:r>
              <a:rPr b="1"/>
              <a:t>ON THE PORTAL, AFTER THE TEACHING:</a:t>
            </a:r>
          </a:p>
          <a:p>
            <a:r>
              <a:t>In Section 4 the example's Strategy Architecture is shown under its five headings.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STEP 1 · SIX CHECKS ON THE ARCHITECTURE</a:t>
            </a:r>
          </a:p>
          <a:p/>
          <a:p>
            <a:r>
              <a:rPr b="1"/>
              <a:t>HOW TO TEACH IT:</a:t>
            </a:r>
          </a:p>
          <a:p/>
          <a:p>
            <a:r>
              <a:rPr b="1"/>
              <a:t>1. Introduce the checks.</a:t>
            </a:r>
          </a:p>
          <a:p>
            <a:r>
              <a:rPr b="1"/>
              <a:t>Say: </a:t>
            </a:r>
            <a:r>
              <a:rPr/>
              <a:t>"When the 14 elements are together, the Architecture is read as one strategic system: What is this architecture collectively saying about our organisation's strategy? Six checks guide that reading."</a:t>
            </a:r>
          </a:p>
          <a:p/>
          <a:p>
            <a:r>
              <a:rPr b="1"/>
              <a:t>2. Take each check, with the example.</a:t>
            </a:r>
          </a:p>
          <a:p>
            <a:r>
              <a:rPr b="1"/>
              <a:t>Read from the slide: </a:t>
            </a:r>
            <a:r>
              <a:rPr/>
              <a:t>"Do our choices reinforce one another?"</a:t>
            </a:r>
          </a:p>
          <a:p>
            <a:r>
              <a:rPr b="1"/>
              <a:t>Say: </a:t>
            </a:r>
            <a:r>
              <a:rPr/>
              <a:t>"Kestrel Point's WHAT chooses responsiveness, and its HOW supplies the mechanism: integrated client teams and one operating rhythm."</a:t>
            </a:r>
          </a:p>
          <a:p/>
          <a:p>
            <a:r>
              <a:rPr b="1"/>
              <a:t>Read from the slide: </a:t>
            </a:r>
            <a:r>
              <a:rPr/>
              <a:t>"Where are there contradictions or unresolved tensions?"</a:t>
            </a:r>
          </a:p>
          <a:p>
            <a:r>
              <a:rPr b="1"/>
              <a:t>Say: </a:t>
            </a:r>
            <a:r>
              <a:rPr/>
              <a:t>"STAKEHOLDERS names one: faster service can conflict with margin when it requires extra visits. The Architecture names the tension and holds it."</a:t>
            </a:r>
          </a:p>
          <a:p/>
          <a:p>
            <a:r>
              <a:rPr b="1"/>
              <a:t>Read from the slide: </a:t>
            </a:r>
            <a:r>
              <a:rPr/>
              <a:t>"Does our HOW support what we have chosen to achieve?"</a:t>
            </a:r>
          </a:p>
          <a:p>
            <a:r>
              <a:rPr b="1"/>
              <a:t>Say: </a:t>
            </a:r>
            <a:r>
              <a:rPr/>
              <a:t>"Read element 6 against elements 4 and 8."</a:t>
            </a:r>
          </a:p>
          <a:p/>
          <a:p>
            <a:r>
              <a:rPr b="1"/>
              <a:t>Read from the slide: </a:t>
            </a:r>
            <a:r>
              <a:rPr/>
              <a:t>"Does our timing and sequencing reflect the realities of our capability and environment?"</a:t>
            </a:r>
          </a:p>
          <a:p>
            <a:r>
              <a:rPr b="1"/>
              <a:t>Say: </a:t>
            </a:r>
            <a:r>
              <a:rPr/>
              <a:t>"Kestrel Point's WHEN puts the request system in place before decision rights move to the hubs."</a:t>
            </a:r>
          </a:p>
          <a:p/>
          <a:p>
            <a:r>
              <a:rPr b="1"/>
              <a:t>Read from the slide: </a:t>
            </a:r>
            <a:r>
              <a:rPr/>
              <a:t>"Have we addressed how value will be created, delivered and sustained?"</a:t>
            </a:r>
          </a:p>
          <a:p>
            <a:r>
              <a:rPr b="1"/>
              <a:t>Say: </a:t>
            </a:r>
            <a:r>
              <a:rPr/>
              <a:t>"Read elements 8, 9 and 10 side by side. Look hardest at element 10."</a:t>
            </a:r>
          </a:p>
          <a:p/>
          <a:p>
            <a:r>
              <a:rPr b="1"/>
              <a:t>Read from the slide: </a:t>
            </a:r>
            <a:r>
              <a:rPr/>
              <a:t>"Does the architecture represent the strategic position we collectively intend?"</a:t>
            </a:r>
          </a:p>
          <a:p>
            <a:r>
              <a:rPr b="1"/>
              <a:t>Say: </a:t>
            </a:r>
            <a:r>
              <a:rPr/>
              <a:t>"Each member answers yes or no aloud."</a:t>
            </a:r>
          </a:p>
          <a:p/>
          <a:p>
            <a:r>
              <a:rPr b="1"/>
              <a:t>3. Say what a group does when a check fails.</a:t>
            </a:r>
          </a:p>
          <a:p>
            <a:r>
              <a:rPr b="1"/>
              <a:t>Say: </a:t>
            </a:r>
            <a:r>
              <a:rPr/>
              <a:t>"Return to the element concerned, revise it, and carry the change into the Architecture."</a:t>
            </a:r>
          </a:p>
          <a:p/>
          <a:p>
            <a:r>
              <a:rPr b="1"/>
              <a:t>4. Bridge to 4.2.</a:t>
            </a:r>
          </a:p>
          <a:p>
            <a:r>
              <a:rPr b="1"/>
              <a:t>Say: </a:t>
            </a:r>
            <a:r>
              <a:rPr/>
              <a:t>"The Architecture becomes the source for Step 2. Step 2 takes four of its elements, WHAT, WHY, HOW and WHEN, and crystallises them into one statement."</a:t>
            </a:r>
          </a:p>
          <a:p/>
          <a:p>
            <a:r>
              <a:rPr b="1"/>
              <a:t>ON THE PORTAL, AFTER THE TEACHING:</a:t>
            </a:r>
          </a:p>
          <a:p>
            <a:r>
              <a:t>The six checks sit beside the Strategy Architecture box in Section 5, Step 1.</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STEP 2 · THE STRATEGY INTENT STATEMENT (WHAT · WHY · HOW · WHEN → ONE STRATEGIC AMBITION)</a:t>
            </a:r>
          </a:p>
          <a:p/>
          <a:p>
            <a:r>
              <a:rPr b="1"/>
              <a:t>HOW TO TEACH IT:</a:t>
            </a:r>
          </a:p>
          <a:p/>
          <a:p>
            <a:r>
              <a:rPr b="1"/>
              <a:t>1. State the step.</a:t>
            </a:r>
          </a:p>
          <a:p>
            <a:r>
              <a:rPr b="1"/>
              <a:t>Say: </a:t>
            </a:r>
            <a:r>
              <a:rPr/>
              <a:t>"The Architecture contains the depth. The Intent must provide the clarity."</a:t>
            </a:r>
          </a:p>
          <a:p/>
          <a:p>
            <a:r>
              <a:rPr b="1"/>
              <a:t>2. Bring forward the four dimensions on the slide, with what Kestrel Point's elements say.</a:t>
            </a:r>
          </a:p>
          <a:p>
            <a:r>
              <a:t>- WHAT gave the ambition: fast, consistent and effortless service that clients rely on first.</a:t>
            </a:r>
          </a:p>
          <a:p>
            <a:r>
              <a:t>- WHY gave the reason it holds together: clients reward responsiveness with renewals and new sites.</a:t>
            </a:r>
          </a:p>
          <a:p>
            <a:r>
              <a:t>- HOW gave the mechanism: integrated client teams and one cross-functional operating rhythm.</a:t>
            </a:r>
          </a:p>
          <a:p>
            <a:r>
              <a:t>- WHEN gave the order: responsiveness first, scalable service models after, within 2027 to 2029.</a:t>
            </a:r>
          </a:p>
          <a:p/>
          <a:p>
            <a:r>
              <a:rPr b="1"/>
              <a:t>3. Read the statement the four produced.</a:t>
            </a:r>
          </a:p>
          <a:p>
            <a:r>
              <a:rPr b="1"/>
              <a:t>Say: </a:t>
            </a:r>
            <a:r>
              <a:rPr/>
              <a:t>"Kestrel Point's Strategy Intent Statement reads: By the end of 2029, Kestrel Point will be the service partner its corporate clients rely on first, delivering fast, consistent and effortless facilities and technical service through integrated client teams and one cross-functional operating rhythm, building responsiveness first and scalable service models after."</a:t>
            </a:r>
          </a:p>
          <a:p/>
          <a:p>
            <a:r>
              <a:rPr b="1"/>
              <a:t>4. Protect the Intent from overload.</a:t>
            </a:r>
          </a:p>
          <a:p>
            <a:r>
              <a:rPr b="1"/>
              <a:t>Say: </a:t>
            </a:r>
            <a:r>
              <a:rPr/>
              <a:t>"Notice what the statement leaves out: the request system, the hub decision rights and the subcontractor standards stay in the Architecture.</a:t>
            </a:r>
          </a:p>
          <a:p>
            <a:r>
              <a:t>The statement carries the ambition. A strong Intent lets a leader understand the strategic position without a paragraph of explanation."</a:t>
            </a:r>
          </a:p>
          <a:p/>
          <a:p>
            <a:r>
              <a:rPr b="1"/>
              <a:t>Deepen, say: </a:t>
            </a:r>
            <a:r>
              <a:rPr/>
              <a:t>"What the people who carry a strategy have understood and internalised survives the loss of any document.</a:t>
            </a:r>
          </a:p>
          <a:p>
            <a:r>
              <a:t>Build the strategy into their knowledge and conviction."</a:t>
            </a:r>
          </a:p>
          <a:p>
            <a:r>
              <a:t>(Insight: Strategy carried by people. Source: Journal, 16 February 2026 — Professional Insights: Strategy)</a:t>
            </a:r>
          </a:p>
          <a:p/>
          <a:p>
            <a:r>
              <a:rPr b="1"/>
              <a:t>5. Give the test, from the foot of the slide.</a:t>
            </a:r>
          </a:p>
          <a:p>
            <a:r>
              <a:rPr b="1"/>
              <a:t>Say: </a:t>
            </a:r>
            <a:r>
              <a:rPr/>
              <a:t>"The statement is read against the Architecture: Does this statement faithfully express the strategic ambition contained in our Architecture?</a:t>
            </a:r>
          </a:p>
          <a:p>
            <a:r>
              <a:t>Where it exposes a contradiction, the contradiction is resolved in the Architecture first."</a:t>
            </a:r>
          </a:p>
          <a:p/>
          <a:p>
            <a:r>
              <a:rPr b="1"/>
              <a:t>ON THE PORTAL, AFTER THE TEACHING:</a:t>
            </a:r>
          </a:p>
          <a:p>
            <a:r>
              <a:t>Section 4.2 of the participant file shows the four cards and the example's statement.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SUCCESS IN PRACTICE</a:t>
            </a:r>
          </a:p>
          <a:p/>
          <a:p>
            <a:r>
              <a:rPr b="1"/>
              <a:t>HOW TO TEACH IT:</a:t>
            </a:r>
          </a:p>
          <a:p/>
          <a:p>
            <a:r>
              <a:rPr b="1"/>
              <a:t>1. Position the room inside the future.</a:t>
            </a:r>
          </a:p>
          <a:p>
            <a:r>
              <a:rPr b="1"/>
              <a:t>Say: </a:t>
            </a:r>
            <a:r>
              <a:rPr/>
              <a:t>"Stand inside the future Kestrel Point's Intent describes. One central question guides the step: If our Strategy Intent is successful, what should we see in practice?"</a:t>
            </a:r>
          </a:p>
          <a:p/>
          <a:p>
            <a:r>
              <a:rPr b="1"/>
              <a:t>Deepen, say: </a:t>
            </a:r>
            <a:r>
              <a:rPr/>
              <a:t>"Long-term direction sometimes requires acting on a credible promise before the outcomes are visible, while still facing current facts honestly."</a:t>
            </a:r>
          </a:p>
          <a:p>
            <a:r>
              <a:t>(Insight: Credible promise, honest facts. Source: Journal, 17 August 2026 — Professional Insights: Strategy)</a:t>
            </a:r>
          </a:p>
          <a:p/>
          <a:p>
            <a:r>
              <a:rPr b="1"/>
              <a:t>2. Explain the method.</a:t>
            </a:r>
          </a:p>
          <a:p>
            <a:r>
              <a:rPr b="1"/>
              <a:t>Say: </a:t>
            </a:r>
            <a:r>
              <a:rPr/>
              <a:t>"Each domain has three questions. The answers lead to one statement for the domain, describing what is happening when the Intent is working."</a:t>
            </a:r>
          </a:p>
          <a:p/>
          <a:p>
            <a:r>
              <a:rPr b="1"/>
              <a:t>3. Read the example's four statements, one domain at a time.</a:t>
            </a:r>
          </a:p>
          <a:p>
            <a:r>
              <a:t>D1 · Customer Experience &amp; Value. Say: "Every client experiences fast, consistent and effortless service: requests are acknowledged at once, most are resolved at first contact, and key accounts are engaged before problems surface."</a:t>
            </a:r>
          </a:p>
          <a:p>
            <a:r>
              <a:t>D2 · Operational Capability &amp; Execution Rhythm. Say: "Kestrel Point moves quickly from insight to action across functions: decisions are taken at the right level within a day, handovers run without delay, and reporting is limited to what drives action."</a:t>
            </a:r>
          </a:p>
          <a:p>
            <a:r>
              <a:t>D3 · People &amp; Culture Dynamics. Say: "People hold shared ownership of enterprise priorities: teams work across functions without escalation, and every leader can name how their work serves the client promise."</a:t>
            </a:r>
          </a:p>
          <a:p>
            <a:r>
              <a:t>D4 · Enterprise Value Creation. Say: "Scalable, efficient service models strengthen enterprise performance: margins hold steady, growth comes from retained and expanded key accounts, and leadership attention goes to high-value work."</a:t>
            </a:r>
          </a:p>
          <a:p/>
          <a:p>
            <a:r>
              <a:rPr b="1"/>
              <a:t>4. Test the four, using the two tests from Section 3.</a:t>
            </a:r>
          </a:p>
          <a:p>
            <a:r>
              <a:rPr b="1"/>
              <a:t>Say: </a:t>
            </a:r>
            <a:r>
              <a:rPr/>
              <a:t>"Depth: each statement names conditions a leader could observe in a hub.</a:t>
            </a:r>
          </a:p>
          <a:p>
            <a:r>
              <a:t>Balance: customer, operational, people and enterprise success each carry their own statement, so no one perspective defines success for the whole organisation."</a:t>
            </a:r>
          </a:p>
          <a:p/>
          <a:p>
            <a:r>
              <a:rPr b="1"/>
              <a:t>ON THE PORTAL, AFTER THE TEACHING:</a:t>
            </a:r>
          </a:p>
          <a:p>
            <a:r>
              <a:t>In Section 4.3 each domain opens to show the example's three answers and its statement.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STEP 3 · THREE CONNECTED OUTPUTS</a:t>
            </a:r>
          </a:p>
          <a:p/>
          <a:p>
            <a:r>
              <a:rPr b="1"/>
              <a:t>HOW TO TEACH IT:</a:t>
            </a:r>
          </a:p>
          <a:p/>
          <a:p>
            <a:r>
              <a:rPr b="1"/>
              <a:t>1. Show the three outputs side by side.</a:t>
            </a:r>
          </a:p>
          <a:p>
            <a:r>
              <a:rPr b="1"/>
              <a:t>Say: </a:t>
            </a:r>
            <a:r>
              <a:rPr/>
              <a:t>"Kestrel Point now holds three connected outputs: its Strategy Architecture, its Strategy Intent Statement and its Success in Practice."</a:t>
            </a:r>
          </a:p>
          <a:p/>
          <a:p>
            <a:r>
              <a:rPr b="1"/>
              <a:t>2. Reinforce the connection, using the three lines on the slide.</a:t>
            </a:r>
          </a:p>
          <a:p>
            <a:r>
              <a:rPr b="1"/>
              <a:t>Say: </a:t>
            </a:r>
            <a:r>
              <a:rPr/>
              <a:t>"The Architecture provides the logic. The Intent crystallises the ambition. Success in Practice makes the ambition observable."</a:t>
            </a:r>
          </a:p>
          <a:p/>
          <a:p>
            <a:r>
              <a:rPr b="1"/>
              <a:t>3. Bridge to Section 5.</a:t>
            </a:r>
          </a:p>
          <a:p>
            <a:r>
              <a:rPr b="1"/>
              <a:t>Say: </a:t>
            </a:r>
            <a:r>
              <a:rPr/>
              <a:t>"In Section 5 your group builds these three outputs for its own simulated company, in the same order."</a:t>
            </a:r>
          </a:p>
          <a:p/>
          <a:p>
            <a:r>
              <a:rPr b="1"/>
              <a:t>ON THE PORTAL, AFTER THE TEACHING:</a:t>
            </a:r>
          </a:p>
          <a:p>
            <a:r>
              <a:t>Section 4 closes with the three outputs together.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p>
            <a:r>
              <a:rPr b="1"/>
              <a:t>HOW THIS SECTION RUNS:</a:t>
            </a:r>
          </a:p>
          <a:p>
            <a:r>
              <a:rPr b="1"/>
              <a:t>1. 5.1: your company's strategy. Each group builds the Strategy Architecture, the Strategy Intent Statement and the Success in Practice of the simulated company from its Problem Charter.</a:t>
            </a:r>
          </a:p>
          <a:p>
            <a:r>
              <a:rPr b="1"/>
              <a:t>2. The Section 5 Reflections slide: the reflection participants write on the portal.</a:t>
            </a:r>
          </a:p>
          <a:p>
            <a:r>
              <a:t>The groups build the three outputs on the portal after the teaching, in the session or after it.</a:t>
            </a:r>
          </a:p>
          <a:p/>
          <a:p>
            <a:r>
              <a:rPr b="1"/>
              <a:t>HOW TO OPEN THE SECTION:</a:t>
            </a:r>
          </a:p>
          <a:p/>
          <a:p>
            <a:r>
              <a:rPr b="1"/>
              <a:t>1. State the section intent.</a:t>
            </a:r>
          </a:p>
          <a:p>
            <a:r>
              <a:rPr b="1"/>
              <a:t>Say: </a:t>
            </a:r>
            <a:r>
              <a:rPr/>
              <a:t>"This section is your group's Capstone work for Unit 2. Your group builds the strategy of the company it created in its Problem Charter."</a:t>
            </a:r>
          </a:p>
          <a:p/>
          <a:p>
            <a:r>
              <a:rPr b="1"/>
              <a:t>2. Read the two section learning outcomes from the slide.</a:t>
            </a:r>
          </a:p>
          <a:p>
            <a:r>
              <a:rPr b="1"/>
              <a:t>SECTION LEARNING OUTCOMES:</a:t>
            </a:r>
          </a:p>
          <a:p>
            <a:r>
              <a:rPr b="1"/>
              <a:t>1. Translate Success in Practice into clear executive contribution expectations.</a:t>
            </a:r>
          </a:p>
          <a:p>
            <a:r>
              <a:rPr b="1"/>
              <a:t>2. Coordinate leadership contributions required to realise strategic intent.</a:t>
            </a:r>
          </a:p>
          <a:p/>
          <a:p>
            <a:r>
              <a:rPr b="1"/>
              <a:t>3. Give the order of the work.</a:t>
            </a:r>
          </a:p>
          <a:p>
            <a:r>
              <a:rPr b="1"/>
              <a:t>Say: </a:t>
            </a:r>
            <a:r>
              <a:rPr/>
              <a:t>"Three steps, in the order you saw in the example: Step 1, the Strategy Architecture; Step 2, the Strategy Intent Statement; Step 3, Success in Practice."</a:t>
            </a:r>
          </a:p>
          <a:p/>
          <a:p>
            <a:r>
              <a:rPr b="1"/>
              <a:t>4. Say why the work is collective.</a:t>
            </a:r>
          </a:p>
          <a:p>
            <a:r>
              <a:rPr b="1"/>
              <a:t>Say: </a:t>
            </a:r>
            <a:r>
              <a:rPr/>
              <a:t>"Surface your differences before you resolve them. Different interpretations expose assumptions, trade-offs and places where the strategic thinking is not yet coherent."</a:t>
            </a:r>
          </a:p>
          <a:p/>
          <a:p>
            <a:r>
              <a:rPr b="1"/>
              <a:t>Deepen, say: </a:t>
            </a:r>
            <a:r>
              <a:rPr/>
              <a:t>"When the senior voice ends the conversation, the intelligence that lives at every level of the organisation never reaches the strategy."</a:t>
            </a:r>
          </a:p>
          <a:p>
            <a:r>
              <a:t>(Insight: Top-down cultures. Source: Journal, 9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YOUR COMPANY'S STRATEGY (CAPSTONE WORK)</a:t>
            </a:r>
          </a:p>
          <a:p/>
          <a:p>
            <a:r>
              <a:rPr b="1"/>
              <a:t>HOW TO TEACH IT:</a:t>
            </a:r>
          </a:p>
          <a:p/>
          <a:p>
            <a:r>
              <a:rPr b="1"/>
              <a:t>1. Show where the group starts.</a:t>
            </a:r>
          </a:p>
          <a:p>
            <a:r>
              <a:rPr b="1"/>
              <a:t>Say: </a:t>
            </a:r>
            <a:r>
              <a:rPr/>
              <a:t>"At the top of 5.1 you see your group's simulated company, organisation, executive team and central problem from your Problem Charter. The strategy you build answers that problem."</a:t>
            </a:r>
          </a:p>
          <a:p/>
          <a:p>
            <a:r>
              <a:rPr b="1"/>
              <a:t>2. Explain the group record, using the picture on the slide.</a:t>
            </a:r>
          </a:p>
          <a:p>
            <a:r>
              <a:rPr b="1"/>
              <a:t>Say: </a:t>
            </a:r>
            <a:r>
              <a:rPr/>
              <a:t>"Your group chooses its scribe for this work from the drop-down in the group record bar. The scribe types what your group agrees, and the entries appear on every member's page.</a:t>
            </a:r>
          </a:p>
          <a:p>
            <a:r>
              <a:t>You can choose a different scribe for each assignment, and change the scribe at any time."</a:t>
            </a:r>
          </a:p>
          <a:p/>
          <a:p>
            <a:r>
              <a:rPr b="1"/>
              <a:t>3. Give the three steps.</a:t>
            </a:r>
          </a:p>
          <a:p>
            <a:r>
              <a:rPr b="1"/>
              <a:t>Say: </a:t>
            </a:r>
            <a:r>
              <a:rPr/>
              <a:t>"Step 1: answer the questions of each element and write what the element is saying. When all 14 are written, the scribe brings them together under the five headings, and your group edits the text until it says what you intend.</a:t>
            </a:r>
          </a:p>
          <a:p>
            <a:r>
              <a:t>Step 2: deduce one crisp Strategy Intent Statement from WHAT, WHY, HOW and WHEN.</a:t>
            </a:r>
          </a:p>
          <a:p>
            <a:r>
              <a:t>Step 3: answer the three questions of each SiP domain and write one statement for each."</a:t>
            </a:r>
          </a:p>
          <a:p/>
          <a:p>
            <a:r>
              <a:rPr b="1"/>
              <a:t>4. Explain Agree.</a:t>
            </a:r>
          </a:p>
          <a:p>
            <a:r>
              <a:rPr b="1"/>
              <a:t>Say: </a:t>
            </a:r>
            <a:r>
              <a:rPr/>
              <a:t>"In the Group record tab each member reads the record and selects Agree on their own page.</a:t>
            </a:r>
          </a:p>
          <a:p>
            <a:r>
              <a:t>When every member has agreed, the three outputs go into your team's Capstone Blueprint. If the scribe changes an entry after that, the agreements clear and every member agrees again."</a:t>
            </a:r>
          </a:p>
          <a:p/>
          <a:p>
            <a:r>
              <a:rPr b="1"/>
              <a:t>5. Point to the example.</a:t>
            </a:r>
          </a:p>
          <a:p>
            <a:r>
              <a:rPr b="1"/>
              <a:t>Say: </a:t>
            </a:r>
            <a:r>
              <a:rPr/>
              <a:t>"Section 4 shows each step completed for Kestrel Point Services. Return to it whenever your group needs it."</a:t>
            </a:r>
          </a:p>
          <a:p/>
          <a:p>
            <a:r>
              <a:rPr b="1"/>
              <a:t>ON THE PORTAL, AFTER THE TEACHING:</a:t>
            </a:r>
          </a:p>
          <a:p>
            <a:r>
              <a:t>The group chooses its scribe in 5.1 of the participant file and builds the three steps. Each member reads the Group record and selects Agree. The three outputs feed boxes 2A to 2F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SECTION 5 REFLECTIONS</a:t>
            </a:r>
          </a:p>
          <a:p/>
          <a:p>
            <a:r>
              <a:rPr b="1"/>
              <a:t>HOW TO USE THIS SLIDE:</a:t>
            </a:r>
          </a:p>
          <a:p/>
          <a:p>
            <a:r>
              <a:rPr b="1"/>
              <a:t>1. Show the slide and read the prompt aloud.</a:t>
            </a:r>
          </a:p>
          <a:p>
            <a:r>
              <a:t>5.1 Reflection — Application: "Having completed the full application exercise — what is the single most important shift your organisation must make to close the gap between your current strategic capability and the SiP you have collectively described?"</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p>
            <a:r>
              <a:rPr b="1"/>
              <a:t>Say: </a:t>
            </a:r>
            <a:r>
              <a:rPr/>
              <a:t>"You write this reflection on your own after your group has built its three outputs, with as much depth as you can."</a:t>
            </a:r>
          </a:p>
          <a:p/>
          <a:p>
            <a:r>
              <a:rPr b="1"/>
              <a:t>3. Set the standard.</a:t>
            </a:r>
          </a:p>
          <a:p>
            <a:r>
              <a:rPr b="1"/>
              <a:t>Say: </a:t>
            </a:r>
            <a:r>
              <a:rPr/>
              <a:t>"Name one shift only. Name it as a change in a decision, a capability or a behaviour.</a:t>
            </a:r>
          </a:p>
          <a:p>
            <a:r>
              <a:t>Say which gap it closes between your current strategic capability and the SiP your group described, and what your own role must do first."</a:t>
            </a:r>
          </a:p>
          <a:p/>
          <a:p>
            <a:r>
              <a:rPr b="1"/>
              <a:t>4. Say why the shift must reach behaviour.</a:t>
            </a:r>
          </a:p>
          <a:p>
            <a:r>
              <a:rPr b="1"/>
              <a:t>Say: </a:t>
            </a:r>
            <a:r>
              <a:rPr/>
              <a:t>"Organisations often rebuild structures without correcting the behaviours that caused the original failure."</a:t>
            </a:r>
          </a:p>
          <a:p>
            <a:r>
              <a:t>(Insight: Rebuilding without correcting. Source: Journal, 2 August 2026 — Professional Insights: Strategy)</a:t>
            </a:r>
          </a:p>
          <a:p/>
          <a:p>
            <a:r>
              <a:rPr b="1"/>
              <a:t>5. Bridge to the Unit Summary.</a:t>
            </a:r>
          </a:p>
          <a:p>
            <a:r>
              <a:rPr b="1"/>
              <a:t>Say: </a:t>
            </a:r>
            <a:r>
              <a:rPr/>
              <a:t>"We close the unit by returning to where we started."</a:t>
            </a:r>
          </a:p>
          <a:p/>
          <a:p>
            <a:r>
              <a:rPr b="1"/>
              <a:t>ON THE PORTAL, AFTER THE TEACHING:</a:t>
            </a:r>
          </a:p>
          <a:p>
            <a:r>
              <a:t>Participants write the reflection at the end of 5.1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(UNIT 2 SYNTHESIS)</a:t>
            </a:r>
          </a:p>
          <a:p/>
          <a:p>
            <a:r>
              <a:rPr b="1"/>
              <a:t>HOW TO TEACH IT:</a:t>
            </a:r>
          </a:p>
          <a:p/>
          <a:p>
            <a:r>
              <a:rPr b="1"/>
              <a:t>1. Return to the opening question, on the slide.</a:t>
            </a:r>
          </a:p>
          <a:p>
            <a:r>
              <a:t>Go back to the definitions participants wrote when the session opened.</a:t>
            </a:r>
          </a:p>
          <a:p/>
          <a:p>
            <a:r>
              <a:t>The differences you noted on the chat. Ask two or three participants:</a:t>
            </a:r>
          </a:p>
          <a:p/>
          <a:p>
            <a:r>
              <a:t>"Read your original definition of strategy. What would you change in it now — and why?"</a:t>
            </a:r>
          </a:p>
          <a:p>
            <a:r>
              <a:rPr b="1"/>
              <a:t>Say: </a:t>
            </a:r>
            <a:r>
              <a:rPr/>
              <a:t>"The difference between your opening answer and your closing answer is the measure of what Unit 2 produced."</a:t>
            </a:r>
          </a:p>
          <a:p/>
          <a:p>
            <a:r>
              <a:rPr b="1"/>
              <a:t>2. Read the five summary blocks aloud.</a:t>
            </a:r>
          </a:p>
          <a:p/>
          <a:p>
            <a:r>
              <a:t>The summary is deliberately concise: its role is to crystallise the arc of the unit.</a:t>
            </a:r>
          </a:p>
          <a:p/>
          <a:p>
            <a:r>
              <a:t>The blocks describe the whole unit, including the work the groups complete on the portal.</a:t>
            </a:r>
          </a:p>
          <a:p/>
          <a:p>
            <a:r>
              <a:t>Awareness — What · What Was Established:</a:t>
            </a:r>
          </a:p>
          <a:p>
            <a:r>
              <a:t>Strategy was defined precisely: the output of iterative thinking, logic and process to determine what, why, how and when an organisation creates, delivers and sustains value to its stakeholders while navigating the forces within its operating environment.</a:t>
            </a:r>
          </a:p>
          <a:p>
            <a:r>
              <a:t>Each concept in the definition is part of the Strategy Architecture:</a:t>
            </a:r>
          </a:p>
          <a:p/>
          <a:p>
            <a:r>
              <a:t>The Strategy Intent Statement brings forward four dimensions from that architecture (WHAT, WHY, HOW and WHEN) and crystallises them into one clear statement.</a:t>
            </a:r>
          </a:p>
          <a:p/>
          <a:p>
            <a:r>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
            <a:r>
              <a:t>Intelligence — Why · Why It Matters:</a:t>
            </a:r>
          </a:p>
          <a:p>
            <a:r>
              <a:t>The Strategy Intent and SiP become useful when they shape how the organisation aligns, makes choices and executes.</a:t>
            </a:r>
          </a:p>
          <a:p/>
          <a:p>
            <a:r>
              <a:t>They serve three functions.</a:t>
            </a:r>
          </a:p>
          <a:p>
            <a:r>
              <a:t>Strategic Alignment keeps people and functions oriented around the same ambition and picture of success.</a:t>
            </a:r>
          </a:p>
          <a:p/>
          <a:p>
            <a:r>
              <a:t>The Decision Filter gives a basis for determining which choices, opportunities and investments support the strategy: the Strategy Intent tests strategic fit and SiP tests strategic contribution.</a:t>
            </a:r>
          </a:p>
          <a:p/>
          <a:p>
            <a:r>
              <a:t>Execution Coherence helps functions understand how their individual contributions connect to produce the enterprise outcome.</a:t>
            </a:r>
          </a:p>
          <a:p/>
          <a:p>
            <a:r>
              <a:t>Extrapolating — Where · Where Success Shows Up:</a:t>
            </a:r>
          </a:p>
          <a:p>
            <a:r>
              <a:t>Each SiP domain was examined through observable indicators in two positions: When Working and Signal of Absence.</a:t>
            </a:r>
          </a:p>
          <a:p>
            <a:r>
              <a:t>The indicators help leaders test, deepen and make observable the success they have defined.</a:t>
            </a:r>
          </a:p>
          <a:p/>
          <a:p>
            <a:r>
              <a:t>Integration — Collective · What Was Shown:</a:t>
            </a:r>
          </a:p>
          <a:p>
            <a:r>
              <a:t>One worked example took Kestrel Point Services through the three connected outputs.</a:t>
            </a:r>
          </a:p>
          <a:p>
            <a:r>
              <a:t>Its Strategy Architecture: the integrated strategic logic constructed from the 14 elements, each stating what it is saying.</a:t>
            </a:r>
          </a:p>
          <a:p>
            <a:r>
              <a:t>Its Strategy Intent Statement: the crisp expression of its ambition deduced from WHAT, WHY, HOW and WHEN.</a:t>
            </a:r>
          </a:p>
          <a:p>
            <a:r>
              <a:t>Its Success in Practice: four statements describing what realising that ambition looks like across the organisation, tested for depth and balance.</a:t>
            </a:r>
          </a:p>
          <a:p/>
          <a:p>
            <a:r>
              <a:t>Application — In Practice · What Was Built:</a:t>
            </a:r>
          </a:p>
          <a:p>
            <a:r>
              <a:t>Each group built the same three outputs for its own simulated company. Every member agreed the group record, and the three outputs went into the team's Capstone Blueprint.</a:t>
            </a:r>
          </a:p>
          <a:p>
            <a:r>
              <a:t>The Architecture provides the logic. The Intent crystallises the ambition. Success in Practice makes the ambition observable.</a:t>
            </a:r>
          </a:p>
          <a:p>
            <a:r>
              <a:t>These outputs are the strategic foundation that later S2R® work carries into alignment, execution and performance.</a:t>
            </a:r>
          </a:p>
          <a:p/>
          <a:p/>
          <a:p>
            <a:r>
              <a:rPr b="1"/>
              <a:t>3. Run the tangible outputs check.</a:t>
            </a:r>
          </a:p>
          <a:p>
            <a:r>
              <a:t>Before closing, confirm with the group that the following have been produced or are in progress:</a:t>
            </a:r>
          </a:p>
          <a:p>
            <a:r>
              <a:t>- A Strategy Architecture from each group</a:t>
            </a:r>
          </a:p>
          <a:p>
            <a:r>
              <a:t>- A Strategy Intent Statement from each group</a:t>
            </a:r>
          </a:p>
          <a:p>
            <a:r>
              <a:t>- Four SiP statements from each group, agreed by every member</a:t>
            </a:r>
          </a:p>
          <a:p/>
          <a:p>
            <a:r>
              <a:rPr b="1"/>
              <a:t>4. Ask for the closing commitment, on the slide.</a:t>
            </a:r>
          </a:p>
          <a:p>
            <a:r>
              <a:t>Ask each participant to complete this sentence privately:</a:t>
            </a:r>
          </a:p>
          <a:p>
            <a:r>
              <a:t>"Based on what Unit 2 revealed, the one thing I am committed to doing differently before our next session is…"</a:t>
            </a:r>
          </a:p>
          <a:p>
            <a:r>
              <a:t>Post in the chat. These become the accountability anchors for Unit 3.</a:t>
            </a:r>
          </a:p>
          <a:p/>
          <a:p>
            <a:r>
              <a:rPr b="1"/>
              <a:t>5. Give the transition to Unit 3.</a:t>
            </a:r>
          </a:p>
          <a:p>
            <a:r>
              <a:rPr b="1"/>
              <a:t>Say: </a:t>
            </a:r>
            <a:r>
              <a:rPr/>
              <a:t>"What we built today is the strategic foundation: the Architecture, the Intent and the Success in Practice.</a:t>
            </a:r>
          </a:p>
          <a:p/>
          <a:p>
            <a:r>
              <a:t>Unit 3 maps that Success in Practice and defines the Objective Key Results that will measure our progress toward it."</a:t>
            </a:r>
          </a:p>
          <a:p/>
          <a:p>
            <a:r>
              <a:rPr b="1"/>
              <a:t>6. Hand over to the portal.</a:t>
            </a:r>
          </a:p>
          <a:p>
            <a:r>
              <a:rPr b="1"/>
              <a:t>Say: </a:t>
            </a:r>
            <a:r>
              <a:rPr/>
              <a:t>"The teaching ends here. You now go to the portal and complete your own page, in the session or after it."</a:t>
            </a:r>
          </a:p>
          <a:p>
            <a:r>
              <a:t>- Section 1: the opening definition of strategy and the 1.1 reflection.</a:t>
            </a:r>
          </a:p>
          <a:p>
            <a:r>
              <a:t>- Section 2: the 2.1 reflection.</a:t>
            </a:r>
          </a:p>
          <a:p>
            <a:r>
              <a:t>- Section 3: the 3.1 reflection.</a:t>
            </a:r>
          </a:p>
          <a:p>
            <a:r>
              <a:t>- Section 4: the worked example, to read.</a:t>
            </a:r>
          </a:p>
          <a:p>
            <a:r>
              <a:t>- Section 5, with the group: the Strategy Architecture, the Strategy Intent Statement and the four SiP statements of the group's simulated company. The group chooses its scribe for this work, the entries appear on every member's page, and each member selects Agree. Then the 5.1 reflection, on their own.</a:t>
            </a:r>
          </a:p>
          <a:p>
            <a:r>
              <a:t>Participants then submit Unit 2 to the facilitator from their page.</a:t>
            </a:r>
          </a:p>
          <a:p/>
          <a:p>
            <a:r>
              <a:rPr b="1"/>
              <a:t>AFTER THE SESSION:</a:t>
            </a:r>
          </a:p>
          <a:p>
            <a:r>
              <a:t>- Review each participant’s reflections from the facilitator dashboard. The group's three outputs are Capstone work and are assessed independently at the capstone.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Design a coherent strategic direction that connects organisational purpose, stakeholder value and long-term ambition.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Articulate a shared future position and define what organisational success will look like in practice.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ambition against organisational identity and operating realities to strengthen its feasibility.</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Align enterprise decisions and leadership interpretation around a common strategic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Frame strategic direction in terms of the value and success the organisation intends to create.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strategic direction from the future position it seeks while maintaining coherence between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Reconcile leadership perspectives into a shared strategic ambition and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strategic direction as a consistent basis for enterprise decisions.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Specify observable evidence of success across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gaps between intended success and current conditions to identify strategic misalignment.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One Worked Example: Architecture · Intent ·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the elements of Strategy Architecture into a coherent enterprise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Synthesise diverse leadership perspectives into an agreed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The worked example: Kestrel Point Services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Company:  </a:t>
            </a:r>
            <a:r>
              <a:rPr lang="en-US" sz="2600" dirty="0">
                <a:solidFill>
                  <a:srgbClr val="1F2A22"/>
                </a:solidFill>
                <a:latin typeface="Calibri" pitchFamily="34" charset="0"/>
                <a:ea typeface="Calibri" pitchFamily="34" charset="-122"/>
                <a:cs typeface="Calibri" pitchFamily="34" charset="-120"/>
              </a:rPr>
              <a:t>facilities management and technical maintenance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Size:  </a:t>
            </a:r>
            <a:r>
              <a:rPr lang="en-US" sz="2600" dirty="0">
                <a:solidFill>
                  <a:srgbClr val="1F2A22"/>
                </a:solidFill>
                <a:latin typeface="Calibri" pitchFamily="34" charset="0"/>
                <a:ea typeface="Calibri" pitchFamily="34" charset="-122"/>
                <a:cs typeface="Calibri" pitchFamily="34" charset="-120"/>
              </a:rPr>
              <a:t>about 1,200 employees, eight regional service hubs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Problem:  </a:t>
            </a:r>
            <a:r>
              <a:rPr lang="en-US" sz="2600" dirty="0">
                <a:solidFill>
                  <a:srgbClr val="1F2A22"/>
                </a:solidFill>
                <a:latin typeface="Calibri" pitchFamily="34" charset="0"/>
                <a:ea typeface="Calibri" pitchFamily="34" charset="-122"/>
                <a:cs typeface="Calibri" pitchFamily="34" charset="-120"/>
              </a:rPr>
              <a:t>service varies, requests stall between functions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Period:  </a:t>
            </a:r>
            <a:r>
              <a:rPr lang="en-US" sz="2600" dirty="0">
                <a:solidFill>
                  <a:srgbClr val="1F2A22"/>
                </a:solidFill>
                <a:latin typeface="Calibri" pitchFamily="34" charset="0"/>
                <a:ea typeface="Calibri" pitchFamily="34" charset="-122"/>
                <a:cs typeface="Calibri" pitchFamily="34" charset="-120"/>
              </a:rPr>
              <a:t>the 2027–2029 strategy</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Write  </a:t>
            </a:r>
            <a:r>
              <a:rPr lang="en-US" sz="2600" dirty="0">
                <a:solidFill>
                  <a:srgbClr val="1F2A22"/>
                </a:solidFill>
                <a:latin typeface="Calibri" pitchFamily="34" charset="0"/>
                <a:ea typeface="Calibri" pitchFamily="34" charset="-122"/>
                <a:cs typeface="Calibri" pitchFamily="34" charset="-120"/>
              </a:rPr>
              <a:t>what the element is saying, in one or two sentences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Revise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elements come together under five headings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4.1d · Six checks on the Architecture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4.3a · Step 3: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4.3b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In Section 5 each group builds the three for its own company.</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Your Company’s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Success in Practice into clear executive contribution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leadership contributions required to realise strategic intent.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Your Company’s Strategy</a:t>
            </a:r>
            <a:endParaRPr lang="en-US" sz="3600" dirty="0"/>
          </a:p>
        </p:txBody>
      </p:sp>
      <p:sp>
        <p:nvSpPr>
          <p:cNvPr id="3" name="Shape 1"/>
          <p:cNvSpPr/>
          <p:nvPr/>
        </p:nvSpPr>
        <p:spPr>
          <a:xfrm>
            <a:off x="548640" y="1508760"/>
            <a:ext cx="11091672" cy="96520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96520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One scribe per assignment · every member agrees</a:t>
            </a:r>
            <a:endParaRPr lang="en-US" sz="2800" dirty="0"/>
          </a:p>
        </p:txBody>
      </p:sp>
      <p:pic>
        <p:nvPicPr>
          <p:cNvPr id="5" name="Portal 5.1" descr="portal_5_1.png"/>
          <p:cNvPicPr>
            <a:picLocks noChangeAspect="1"/>
          </p:cNvPicPr>
          <p:nvPr/>
        </p:nvPicPr>
        <p:blipFill>
          <a:blip r:embed="rId3"/>
          <a:stretch>
            <a:fillRect/>
          </a:stretch>
        </p:blipFill>
        <p:spPr>
          <a:xfrm>
            <a:off x="546100" y="2692400"/>
            <a:ext cx="10269482" cy="3810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sp>
        <p:nvSpPr>
          <p:cNvPr id="4" name="Part 5.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5.1</a:t>
            </a:r>
          </a:p>
        </p:txBody>
      </p:sp>
      <p:pic>
        <p:nvPicPr>
          <p:cNvPr id="5" name="Reflection 5.1" descr="ref_5.1.png"/>
          <p:cNvPicPr>
            <a:picLocks noChangeAspect="1"/>
          </p:cNvPicPr>
          <p:nvPr/>
        </p:nvPicPr>
        <p:blipFill>
          <a:blip r:embed="rId4"/>
          <a:stretch>
            <a:fillRect/>
          </a:stretch>
        </p:blipFill>
        <p:spPr>
          <a:xfrm>
            <a:off x="1691640" y="1572768"/>
            <a:ext cx="9921240" cy="105996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