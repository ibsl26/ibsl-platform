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300" r:id="rId11"/>
    <p:sldId id="265" r:id="rId12"/>
    <p:sldId id="266" r:id="rId13"/>
    <p:sldId id="267" r:id="rId14"/>
    <p:sldId id="268" r:id="rId15"/>
    <p:sldId id="269" r:id="rId16"/>
    <p:sldId id="301" r:id="rId17"/>
    <p:sldId id="270" r:id="rId18"/>
    <p:sldId id="271" r:id="rId19"/>
    <p:sldId id="272" r:id="rId20"/>
    <p:sldId id="273" r:id="rId21"/>
    <p:sldId id="274" r:id="rId22"/>
    <p:sldId id="275" r:id="rId23"/>
    <p:sldId id="276" r:id="rId24"/>
    <p:sldId id="302" r:id="rId25"/>
    <p:sldId id="281" r:id="rId26"/>
    <p:sldId id="282" r:id="rId27"/>
    <p:sldId id="283" r:id="rId28"/>
    <p:sldId id="284" r:id="rId29"/>
    <p:sldId id="290" r:id="rId30"/>
    <p:sldId id="291" r:id="rId31"/>
    <p:sldId id="292" r:id="rId32"/>
    <p:sldId id="294" r:id="rId33"/>
    <p:sldId id="295" r:id="rId34"/>
    <p:sldId id="296" r:id="rId35"/>
    <p:sldId id="303" r:id="rId36"/>
    <p:sldId id="299" r:id="rId3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59285" autoAdjust="0"/>
  </p:normalViewPr>
  <p:slideViewPr>
    <p:cSldViewPr snapToGrid="0" snapToObjects="1">
      <p:cViewPr varScale="1">
        <p:scale>
          <a:sx n="41" d="100"/>
          <a:sy n="41" d="100"/>
        </p:scale>
        <p:origin x="1414" y="34"/>
      </p:cViewPr>
      <p:guideLst/>
    </p:cSldViewPr>
  </p:slideViewPr>
  <p:notesTextViewPr>
    <p:cViewPr>
      <p:scale>
        <a:sx n="1" d="1"/>
        <a:sy n="1" d="1"/>
      </p:scale>
      <p:origin x="0" y="-8856"/>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37259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UNIT 2 · STRATEGY VISIONING &amp; SUCCESS IN PRACTICE (SiP)</a:t>
            </a:r>
          </a:p>
          <a:p>
            <a:r>
              <a:t>Module 2 · Direction · Unit 2</a:t>
            </a:r>
          </a:p>
          <a:p/>
          <a:p>
            <a:r>
              <a:rPr b="1"/>
              <a:t>UNIT INTENT</a:t>
            </a:r>
          </a:p>
          <a:p>
            <a:r>
              <a:t>Unit overview (facilitator file): This unit helps leaders to determine the organisation’s strategy architecture, articulate its strategic intent and define the Success in Practice (SiP) of the chosen Strategy Intent.</a:t>
            </a:r>
          </a:p>
          <a:p/>
          <a:p>
            <a:r>
              <a:t>Before the organisation can define where it is going, leaders must agree on what strategy actually means, in the precise, strategic sense, translated to operational reality, that makes every subsequent decision coherent.</a:t>
            </a:r>
          </a:p>
          <a:p/>
          <a:p>
            <a:r>
              <a:t>Three connected outputs carry the unit: the Strategy Architecture, the Strategy Intent Statement and Success in Practice.</a:t>
            </a:r>
          </a:p>
          <a:p/>
          <a:p>
            <a:r>
              <a:rPr b="1"/>
              <a:t>WHAT THE UNIT PRODUCES:</a:t>
            </a:r>
          </a:p>
          <a:p>
            <a:r>
              <a:t>Each group builds three connected outputs, in this order.</a:t>
            </a:r>
          </a:p>
          <a:p>
            <a:r>
              <a:rPr b="1"/>
              <a:t>1. The Strategy Architecture: the integrated strategic logic constructed from the 14 elements of the Strategy2Results® definition of strategy.</a:t>
            </a:r>
          </a:p>
          <a:p>
            <a:r>
              <a:rPr b="1"/>
              <a:t>2. The Strategy Intent Statement: one crisp statement of strategic ambition derived from WHAT, WHY, HOW and WHEN.</a:t>
            </a:r>
          </a:p>
          <a:p>
            <a:r>
              <a:rPr b="1"/>
              <a:t>3. Success in Practice (SiP): four confirmed statements, one for each SiP domain, read together as one picture of success.</a:t>
            </a:r>
          </a:p>
          <a:p>
            <a:r>
              <a:t>The Architecture provides the logic. The Intent crystallises the ambition. Success in Practice makes the ambition observable.</a:t>
            </a:r>
          </a:p>
          <a:p/>
          <a:p>
            <a:r>
              <a:rPr b="1"/>
              <a:t>HOW THE UNIT RUNS:</a:t>
            </a:r>
          </a:p>
          <a:p>
            <a:r>
              <a:rPr b="1"/>
              <a:t>1. You teach the whole unit from this deck first, from Section 1 to the Unit Summary. The deck is the teaching material.</a:t>
            </a:r>
          </a:p>
          <a:p>
            <a:r>
              <a:rPr b="1"/>
              <a:t>2. Participants then go to the portal and complete their own page, in the session or after it: the opening definition of strategy, the reflections and the group work of Section 5.</a:t>
            </a:r>
          </a:p>
          <a:p>
            <a:r>
              <a:rPr b="1"/>
              <a:t>3. Section 4 is one worked example, Kestrel Point Services, read on the portal and taught from the deck.</a:t>
            </a:r>
          </a:p>
          <a:p>
            <a:r>
              <a:rPr b="1"/>
              <a:t>4. Section 5 on the portal is group work for the Capstone. The group builds its own simulated company's Strategy Architecture, Strategy Intent Statement and Success in Practice. The group chooses its scribe for this work; the scribe types what the group agrees, and the entries appear on every member's page. Each member then selects Agree.</a:t>
            </a:r>
          </a:p>
          <a:p/>
          <a:p>
            <a:r>
              <a:t>Each slide's notes end with a block headed "On the portal, after the teaching" wherever participants have something to complete for that part.</a:t>
            </a:r>
          </a:p>
          <a:p/>
          <a:p>
            <a:r>
              <a:t>Your preparation as facilitator:</a:t>
            </a:r>
          </a:p>
          <a:p>
            <a:r>
              <a:t>- Read the Facilitator Guide tab and every section of the facilitator file.</a:t>
            </a:r>
          </a:p>
          <a:p/>
          <a:p>
            <a:r>
              <a:t>Where the outputs go next:</a:t>
            </a:r>
          </a:p>
          <a:p>
            <a:r>
              <a:t>- When every member has agreed, the three outputs feed the team's Capstone S2R Blueprint, parts 2A and 2B.</a:t>
            </a:r>
          </a:p>
          <a:p/>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KEY LEARNING OUTCOMES </a:t>
            </a:r>
            <a:r>
              <a:rPr lang="en-US" dirty="0"/>
              <a:t>
</a:t>
            </a:r>
            <a:r>
              <a:rPr lang="en-US" b="1" dirty="0"/>
              <a:t>HOW TO USE THIS SLIDE:</a:t>
            </a:r>
            <a:r>
              <a:rPr lang="en-US" dirty="0"/>
              <a:t>
Read the four outcomes aloud and say where the unit delivers each one.
- Outcome 1 is built in Section 1 (the definition and its architecture) and shown in the 4.1 and 4.2 worked example and produced by each group in Section 5 (the Strategy Architecture and the Strategy Intent Statement).
- Outcome 2 is built in 1.3 and Section 3 (the four SiP domains and their observable indicators) and shown in 4.3 and produced by each group in Section 5 (the four SiP statements).
- Outcome 3 is tested through the six checks on the Architecture (4.1d), which each group applies to its own choices in Section 5, and in 3.2, where the SiP Flammables test the balance of the picture of success.
- Outcome 4 is built in Section 2 (the three functions the Strategy Intent and SiP serve) and applied in Section 5, where the group builds one strategy for its company and every member agrees it.
Each section slide carries that section’s two learning outcomes.
</a:t>
            </a:r>
            <a:r>
              <a:rPr lang="en-US" b="1" dirty="0"/>
              <a:t>QUESTION TO ASK:</a:t>
            </a:r>
            <a:r>
              <a:rPr lang="en-US" dirty="0"/>
              <a:t>
"Which of these four outcomes would make the largest difference to how your leadership team works today?" </a:t>
            </a:r>
          </a:p>
          <a:p>
            <a:endParaRPr lang="en-US" dirty="0"/>
          </a:p>
          <a:p>
            <a:r>
              <a:rPr lang="en-US" dirty="0"/>
              <a:t>Take two or three answers. They tell you where the room expects the most from the unit.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FACILITATOR GUIDE · SESSION OVERVIEW</a:t>
            </a:r>
          </a:p>
          <a:p>
            <a:endParaRPr lang="en-US" b="1" dirty="0"/>
          </a:p>
          <a:p>
            <a:r>
              <a:rPr lang="en-US" b="1" dirty="0"/>
              <a:t>HOW TO USE THIS SLIDE:</a:t>
            </a:r>
            <a:r>
              <a:rPr lang="en-US" dirty="0"/>
              <a:t>
1. Walk the five sections in one sentence each, using the list below.
2. Say plainly that Sections 1 to 3 prepare the thinking, Section 4 shows the three outputs completed once for one company, and Section 5 is where each group produces its own three outputs. </a:t>
            </a:r>
          </a:p>
          <a:p>
            <a:r>
              <a:rPr lang="en-US" dirty="0"/>
              <a:t>3. Tell participants how the unit runs: you teach all five sections from the deck first, and they then complete the unit on the portal, in the session or after it.</a:t>
            </a:r>
          </a:p>
          <a:p>
            <a:r>
              <a:rPr lang="en-US" dirty="0"/>
              <a:t>
</a:t>
            </a:r>
            <a:r>
              <a:rPr lang="en-US" b="1" dirty="0"/>
              <a:t>THE FIVE SECTIONS:</a:t>
            </a:r>
            <a:r>
              <a:rPr lang="en-US" dirty="0"/>
              <a:t>
- Section 1 · Awareness — What: the Strategy2Results® definition of strategy, the Strategy Architecture underneath it, the Strategy Intent Statement and Success in Practice.</a:t>
            </a:r>
          </a:p>
          <a:p>
            <a:r>
              <a:rPr lang="en-US" dirty="0"/>
              <a:t>
- Section 2 · Intelligence — Why: the three functions the Strategy Intent and SiP serve once they are defined: Strategic Alignment, Decision Filter and Execution Coherence.</a:t>
            </a:r>
          </a:p>
          <a:p>
            <a:r>
              <a:rPr lang="en-US" dirty="0"/>
              <a:t>
- Section 3 · Extrapolating — Where: the observable indicators within each SiP domain, and the SiP Flammables that distort the picture of success.</a:t>
            </a:r>
          </a:p>
          <a:p>
            <a:r>
              <a:rPr lang="en-US" dirty="0"/>
              <a:t>
- Section 4 · Integration — Collective: one worked example, Kestrel Point Services, taken through the Strategy Architecture, the Strategy Intent Statement and Success in Practice.</a:t>
            </a:r>
          </a:p>
          <a:p>
            <a:r>
              <a:rPr lang="en-US" dirty="0"/>
              <a:t>
- Section 5 · Application — In Practice: each group builds the Strategy Architecture, the Strategy Intent Statement and the Success in Practice of its simulated company, and every member agrees the group record. This is Capstone work.
</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1 · AWARENESS — WHAT</a:t>
            </a:r>
            <a:r>
              <a:rPr lang="en-US" dirty="0"/>
              <a:t>
</a:t>
            </a:r>
          </a:p>
          <a:p>
            <a:r>
              <a:rPr lang="en-US" b="1" dirty="0"/>
              <a:t>SECTION LEARNING OUTCOMES:
1. Frame strategic direction in terms of the value and success the organisation intends to create.
2. Differentiate strategic direction from the future position it seeks while maintaining coherence between them.
</a:t>
            </a:r>
            <a:r>
              <a:rPr lang="en-US" dirty="0"/>
              <a:t/>
            </a:r>
          </a:p>
          <a:p>
            <a:r>
              <a:rPr lang="en-US" b="1" dirty="0"/>
              <a:t>SECTION INTENT: </a:t>
            </a:r>
            <a:r>
              <a:rPr lang="en-US" dirty="0"/>
              <a:t>This section establishes the conceptual bedrock of the entire unit. </a:t>
            </a:r>
          </a:p>
          <a:p>
            <a:r>
              <a:rPr lang="en-US" dirty="0"/>
              <a:t>Before any co-creation can happen, participants must share a single, precise definition of strategy and understand its three building blocks: the Strategy Architecture, the Strategy Intent Statement and Success in Practice.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OPENING THE SESSION</a:t>
            </a:r>
          </a:p>
          <a:p>
            <a:endParaRPr lang="en-US" dirty="0"/>
          </a:p>
          <a:p>
            <a:r>
              <a:rPr lang="en-US" b="1" dirty="0"/>
              <a:t>HOW TO TEACH IT:</a:t>
            </a:r>
          </a:p>
          <a:p>
            <a:endParaRPr lang="en-US" dirty="0"/>
          </a:p>
          <a:p>
            <a:r>
              <a:rPr lang="en-US" b="1" dirty="0"/>
              <a:t>1. Ask for the definition.</a:t>
            </a:r>
          </a:p>
          <a:p>
            <a:r>
              <a:rPr lang="en-US" dirty="0"/>
              <a:t>Before showing any content, put this slide up and ask each participant to define strategy in their own words.</a:t>
            </a:r>
          </a:p>
          <a:p>
            <a:r>
              <a:rPr lang="en-US" dirty="0"/>
              <a:t>Say: "Write your definition of strategy in one sentence — right now, without consulting anyone."</a:t>
            </a:r>
          </a:p>
          <a:p>
            <a:r>
              <a:rPr lang="en-US" dirty="0"/>
              <a:t>Participants write on paper, without conferring.</a:t>
            </a:r>
          </a:p>
          <a:p>
            <a:endParaRPr lang="en-US" dirty="0"/>
          </a:p>
          <a:p>
            <a:r>
              <a:rPr lang="en-US" b="1" dirty="0"/>
              <a:t>2. Collect three or four responses.</a:t>
            </a:r>
          </a:p>
          <a:p>
            <a:r>
              <a:rPr lang="en-US" dirty="0"/>
              <a:t>Ask three or four participants to read their sentence aloud, word for word. Ask them to paste in the chat.</a:t>
            </a:r>
          </a:p>
          <a:p>
            <a:endParaRPr lang="en-US" dirty="0"/>
          </a:p>
          <a:p>
            <a:r>
              <a:rPr lang="en-US" b="1" dirty="0"/>
              <a:t>3. Ask the room what it hears.</a:t>
            </a:r>
          </a:p>
          <a:p>
            <a:r>
              <a:rPr lang="en-US" dirty="0"/>
              <a:t>Ask: "What do these definitions have in common? Where do they differ?"</a:t>
            </a:r>
          </a:p>
          <a:p>
            <a:endParaRPr lang="en-US" dirty="0"/>
          </a:p>
          <a:p>
            <a:r>
              <a:rPr lang="en-US" dirty="0"/>
              <a:t>Listen for: definitions that describe a plan ("the steps we take to…"), definitions that stop at ambition ("where we want to be in five years"), and definitions with no mention of value, stakeholders or the operating environment.</a:t>
            </a:r>
          </a:p>
          <a:p>
            <a:r>
              <a:rPr lang="en-US" dirty="0"/>
              <a:t>Hold back from correcting any definition. </a:t>
            </a:r>
          </a:p>
          <a:p>
            <a:endParaRPr lang="en-US" dirty="0"/>
          </a:p>
          <a:p>
            <a:r>
              <a:rPr lang="en-US" b="1" dirty="0"/>
              <a:t>4. Name what you see.</a:t>
            </a:r>
          </a:p>
          <a:p>
            <a:r>
              <a:rPr lang="en-US" dirty="0"/>
              <a:t>Say: "Some of our definitions describe a plan. Some describe an ambition. Some describe a competitive intention."</a:t>
            </a:r>
          </a:p>
          <a:p>
            <a:endParaRPr lang="en-US" dirty="0"/>
          </a:p>
          <a:p>
            <a:r>
              <a:rPr lang="en-US" b="1" dirty="0"/>
              <a:t>5. Use the gap as the opening provocation.</a:t>
            </a:r>
          </a:p>
          <a:p>
            <a:r>
              <a:rPr lang="en-US" dirty="0"/>
              <a:t>Say: "This gap between our answers is exactly the problem this unit solves. This unit gives us one precise definition of strategy and the architecture that sits underneath it."</a:t>
            </a:r>
          </a:p>
          <a:p>
            <a:endParaRPr lang="en-US" dirty="0"/>
          </a:p>
          <a:p>
            <a:r>
              <a:rPr lang="en-US" b="1" dirty="0"/>
              <a:t>6. Keep the definitions.</a:t>
            </a:r>
          </a:p>
          <a:p>
            <a:r>
              <a:rPr lang="en-US" dirty="0"/>
              <a:t>Say: "Keep your sentence. We return to it at the Unit Summary."</a:t>
            </a:r>
          </a:p>
          <a:p>
            <a:endParaRPr lang="en-US" dirty="0"/>
          </a:p>
          <a:p>
            <a:r>
              <a:rPr lang="en-US" b="1" dirty="0"/>
              <a:t>ON THE PORTAL, AFTER THE TEACHING:</a:t>
            </a:r>
          </a:p>
          <a:p>
            <a:r>
              <a:rPr lang="en-US" dirty="0"/>
              <a:t>Each participant enters their definition of strategy in the box at the top of Section 1 of the participant file: "Opening the Session — Your Definition of Strategy".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1.1 — DEFINE THE STRATEGY ARCHITECTURE (9 CONCEPTS)</a:t>
            </a:r>
          </a:p>
          <a:p>
            <a:endParaRPr lang="en-US" dirty="0"/>
          </a:p>
          <a:p>
            <a:r>
              <a:rPr lang="en-US" b="1" dirty="0"/>
              <a:t>HOW TO TEACH IT:</a:t>
            </a:r>
          </a:p>
          <a:p>
            <a:endParaRPr lang="en-US" dirty="0"/>
          </a:p>
          <a:p>
            <a:r>
              <a:rPr lang="en-US" b="1" dirty="0"/>
              <a:t>1. Link to the opening exercise.</a:t>
            </a:r>
          </a:p>
          <a:p>
            <a:r>
              <a:rPr lang="en-US" dirty="0"/>
              <a:t>Say: "We have just heard several definitions of strategy in this room. </a:t>
            </a:r>
          </a:p>
          <a:p>
            <a:r>
              <a:rPr lang="en-US" dirty="0"/>
              <a:t>Strategy is frequently used but rarely precisely defined. </a:t>
            </a:r>
          </a:p>
          <a:p>
            <a:r>
              <a:rPr lang="en-US" dirty="0"/>
              <a:t>In most organisations it functions as shorthand for ambition, planning, or competitive intention, with each executive leader carrying a slightly different version of the word. </a:t>
            </a:r>
          </a:p>
          <a:p>
            <a:r>
              <a:rPr lang="en-US" dirty="0"/>
              <a:t>In the Strategy2Results® framework, strategy has a specific applied definition - the interconnected choices and logic that determine what the organisation does, we call this the Strategy Architecture.</a:t>
            </a:r>
          </a:p>
          <a:p>
            <a:r>
              <a:rPr lang="en-US" dirty="0"/>
              <a:t>Every strategy for any organisations takes complexity, uncertainty and gives it structure.</a:t>
            </a:r>
          </a:p>
          <a:p>
            <a:endParaRPr lang="en-US" dirty="0"/>
          </a:p>
          <a:p>
            <a:r>
              <a:rPr lang="en-US" b="1" dirty="0"/>
              <a:t>2. Read the definition.</a:t>
            </a:r>
          </a:p>
          <a:p>
            <a:r>
              <a:rPr lang="en-US" dirty="0"/>
              <a:t>Say: "We are now going to unpack the Strategy2Results® definition of strategy."</a:t>
            </a:r>
          </a:p>
          <a:p>
            <a:r>
              <a:rPr lang="en-US" dirty="0"/>
              <a:t>Read the definition on the slide aloud once, slowly:</a:t>
            </a:r>
          </a:p>
          <a:p>
            <a:endParaRPr lang="en-US" dirty="0"/>
          </a:p>
          <a:p>
            <a:r>
              <a:rPr lang="en-US" dirty="0"/>
              <a:t>"Strategy is the output of iterative thinking, logic and process to determine what, why, how and when an organisation creates, delivers and sustains value to its stakeholders while navigating the forces within its operating environment."</a:t>
            </a:r>
          </a:p>
          <a:p>
            <a:endParaRPr lang="en-US" dirty="0"/>
          </a:p>
          <a:p>
            <a:r>
              <a:rPr lang="en-US" dirty="0"/>
              <a:t>Ask one participant to read it a second time.</a:t>
            </a:r>
          </a:p>
          <a:p>
            <a:endParaRPr lang="en-US" dirty="0"/>
          </a:p>
          <a:p>
            <a:r>
              <a:rPr lang="en-US" dirty="0"/>
              <a:t>Then say: "Every word in this definition carries strategic weight, hence I said we are giving you an applied definition of strategy."</a:t>
            </a:r>
          </a:p>
          <a:p>
            <a:endParaRPr lang="en-US" dirty="0"/>
          </a:p>
          <a:p>
            <a:r>
              <a:rPr lang="en-US" b="1" dirty="0"/>
              <a:t>3. Compare it with the definitions of the room.</a:t>
            </a:r>
          </a:p>
          <a:p>
            <a:r>
              <a:rPr lang="en-US" dirty="0"/>
              <a:t>Ask: "Which words in this definition are missing from ours?"</a:t>
            </a:r>
          </a:p>
          <a:p>
            <a:r>
              <a:rPr lang="en-US" dirty="0"/>
              <a:t>Take two or three answers. Listen for: value, stakeholders, the forces, the operating environment. </a:t>
            </a:r>
          </a:p>
          <a:p>
            <a:r>
              <a:rPr lang="en-US" dirty="0"/>
              <a:t>These are the words most opening definitions leave out.</a:t>
            </a:r>
          </a:p>
          <a:p>
            <a:endParaRPr lang="en-US" dirty="0"/>
          </a:p>
          <a:p>
            <a:r>
              <a:rPr lang="en-US" b="1" dirty="0"/>
              <a:t>4. Name the parts.</a:t>
            </a:r>
          </a:p>
          <a:p>
            <a:r>
              <a:rPr lang="en-US" dirty="0"/>
              <a:t>Ask: how many components we have in our applied definition?</a:t>
            </a:r>
          </a:p>
          <a:p>
            <a:r>
              <a:rPr lang="en-US" dirty="0"/>
              <a:t>Point to each part of the definition as you name it: the output · iterative thinking, logic and process · what, why, how and when · creates, delivers and sustains value · stakeholders · navigating the forces · the operating environment.</a:t>
            </a:r>
          </a:p>
          <a:p>
            <a:endParaRPr lang="en-US" dirty="0"/>
          </a:p>
          <a:p>
            <a:r>
              <a:rPr lang="en-US" dirty="0"/>
              <a:t>Say: "Each concept in the definition represents part of the strategy architecture."</a:t>
            </a:r>
          </a:p>
          <a:p>
            <a:endParaRPr lang="en-US" dirty="0"/>
          </a:p>
          <a:p>
            <a:r>
              <a:rPr lang="en-US" b="1" dirty="0"/>
              <a:t>5. Leave one question with the group.</a:t>
            </a:r>
          </a:p>
          <a:p>
            <a:r>
              <a:rPr lang="en-US" dirty="0"/>
              <a:t>Say: "As we work through the concepts, consider: How well defined is each part of your current organisational strategy architecture?"</a:t>
            </a:r>
          </a:p>
          <a:p>
            <a:endParaRPr lang="en-US" dirty="0"/>
          </a:p>
          <a:p>
            <a:r>
              <a:rPr lang="en-US" b="1" dirty="0"/>
              <a:t>6. Bridge to the next slide.</a:t>
            </a:r>
          </a:p>
          <a:p>
            <a:r>
              <a:rPr lang="en-US" dirty="0"/>
              <a:t>Say: "Once we understand the parts and how they connect, we can begin constructing a coherent strategic position. </a:t>
            </a:r>
          </a:p>
          <a:p>
            <a:r>
              <a:rPr lang="en-US" dirty="0"/>
              <a:t>For each concept we look at three things: what it means, what it implies for execution, and what breaks when it is absent."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1.1 — DEFINE THE STRATEGY ARCHITECTURE · THE NINE CONCEPTS</a:t>
            </a:r>
          </a:p>
          <a:p>
            <a:endParaRPr lang="en-US" dirty="0"/>
          </a:p>
          <a:p>
            <a:r>
              <a:rPr lang="en-US" b="1" dirty="0"/>
              <a:t>HOW TO TEACH IT:</a:t>
            </a:r>
          </a:p>
          <a:p>
            <a:endParaRPr lang="en-US" dirty="0"/>
          </a:p>
          <a:p>
            <a:r>
              <a:rPr lang="en-US" b="1" dirty="0"/>
              <a:t>1. Open.</a:t>
            </a:r>
          </a:p>
          <a:p>
            <a:r>
              <a:rPr lang="en-US" dirty="0"/>
              <a:t>Say: "We take the nine concepts one at a time. For each one: what it means, its strategic implication, and what fails when it is missing."</a:t>
            </a:r>
          </a:p>
          <a:p>
            <a:endParaRPr lang="en-US" dirty="0"/>
          </a:p>
          <a:p>
            <a:r>
              <a:rPr lang="en-US" b="1" dirty="0"/>
              <a:t>2. OUTPUT — A decided position.</a:t>
            </a:r>
          </a:p>
          <a:p>
            <a:endParaRPr lang="en-US" b="1" dirty="0"/>
          </a:p>
          <a:p>
            <a:r>
              <a:rPr lang="en-US" b="1" dirty="0"/>
              <a:t>What it means, </a:t>
            </a:r>
            <a:r>
              <a:rPr lang="en-US" dirty="0"/>
              <a:t>say: "Strategy is a tangible, expressible, decided position. The output is what can be tested, challenged, and acted upon."</a:t>
            </a:r>
          </a:p>
          <a:p>
            <a:endParaRPr lang="en-US" dirty="0"/>
          </a:p>
          <a:p>
            <a:r>
              <a:rPr lang="en-US" b="1" dirty="0"/>
              <a:t>Strategic implication, </a:t>
            </a:r>
            <a:r>
              <a:rPr lang="en-US" dirty="0"/>
              <a:t>say: "Clarity of direction. People know what the organisation has committed to and can align decisions to it."</a:t>
            </a:r>
          </a:p>
          <a:p>
            <a:endParaRPr lang="en-US" dirty="0"/>
          </a:p>
          <a:p>
            <a:r>
              <a:rPr lang="en-US" b="1" dirty="0"/>
              <a:t>Failure if missing, </a:t>
            </a:r>
            <a:r>
              <a:rPr lang="en-US" dirty="0"/>
              <a:t>say: "Strategy remains trapped in conversations. Activity is mistaken for direction. </a:t>
            </a:r>
          </a:p>
          <a:p>
            <a:r>
              <a:rPr lang="en-US" dirty="0"/>
              <a:t>No one can articulate what was actually decided."</a:t>
            </a:r>
          </a:p>
          <a:p>
            <a:endParaRPr lang="en-US" dirty="0"/>
          </a:p>
          <a:p>
            <a:r>
              <a:rPr lang="en-ZA" b="1" dirty="0"/>
              <a:t>EXAMPLE</a:t>
            </a:r>
            <a:br>
              <a:rPr lang="en-ZA" dirty="0"/>
            </a:br>
            <a:r>
              <a:rPr lang="en-ZA" dirty="0"/>
              <a:t>“Over the next three years, we will grow our corporate banking business by becoming the primary transaction-banking partner for mid-sized enterprises in Southern Africa, prioritising digital transaction services and existing-market expansion.”</a:t>
            </a:r>
          </a:p>
          <a:p>
            <a:r>
              <a:rPr lang="en-ZA" dirty="0"/>
              <a:t>This works because it is </a:t>
            </a:r>
            <a:r>
              <a:rPr lang="en-ZA" b="1" dirty="0"/>
              <a:t>expressible and testable</a:t>
            </a:r>
            <a:r>
              <a:rPr lang="en-ZA" dirty="0"/>
              <a:t>. </a:t>
            </a:r>
          </a:p>
          <a:p>
            <a:r>
              <a:rPr lang="en-ZA" dirty="0"/>
              <a:t>Leadership can challenge it: </a:t>
            </a:r>
            <a:r>
              <a:rPr lang="en-ZA" i="1" dirty="0"/>
              <a:t>Why this customer? Why transaction banking? Why these markets?</a:t>
            </a:r>
            <a:r>
              <a:rPr lang="en-ZA" dirty="0"/>
              <a:t> And functions can begin aligning decisions, resources and priorities around it.</a:t>
            </a:r>
          </a:p>
          <a:p>
            <a:endParaRPr lang="en-ZA" dirty="0"/>
          </a:p>
          <a:p>
            <a:r>
              <a:rPr lang="en-ZA" dirty="0"/>
              <a:t>You could then contrast it briefly:</a:t>
            </a:r>
            <a:endParaRPr lang="en-ZA" b="1" dirty="0"/>
          </a:p>
          <a:p>
            <a:r>
              <a:rPr lang="en-ZA" b="1" dirty="0"/>
              <a:t>Not an output:</a:t>
            </a:r>
            <a:r>
              <a:rPr lang="en-ZA" dirty="0"/>
              <a:t> “We held a strategy retreat and agreed that growth and digitalisation are priorities.”</a:t>
            </a:r>
          </a:p>
          <a:p>
            <a:endParaRPr lang="en-ZA" b="1" dirty="0"/>
          </a:p>
          <a:p>
            <a:r>
              <a:rPr lang="en-ZA" b="1" dirty="0"/>
              <a:t>A decided position:</a:t>
            </a:r>
            <a:r>
              <a:rPr lang="en-ZA" dirty="0"/>
              <a:t> “We will grow through X, for Y customer, in Z arena, by making these choices.”</a:t>
            </a:r>
          </a:p>
          <a:p>
            <a:endParaRPr lang="en-US" dirty="0"/>
          </a:p>
          <a:p>
            <a:r>
              <a:rPr lang="en-US" dirty="0"/>
              <a:t>Add: "The decided position is distinct from a plan, a meeting, the process of strategising, the presentation deck, and the off-site discussion."</a:t>
            </a:r>
          </a:p>
          <a:p>
            <a:endParaRPr lang="en-US" dirty="0"/>
          </a:p>
          <a:p>
            <a:r>
              <a:rPr lang="en-US" b="1" dirty="0"/>
              <a:t>3. ITERATIVE —</a:t>
            </a:r>
          </a:p>
          <a:p>
            <a:endParaRPr lang="en-US" b="1" dirty="0"/>
          </a:p>
          <a:p>
            <a:r>
              <a:rPr lang="en-US" b="1" dirty="0"/>
              <a:t>What it means</a:t>
            </a:r>
            <a:r>
              <a:rPr lang="en-US" dirty="0"/>
              <a:t>, say: "Strategy is never finished in one pass. It is a hypothesis that loops: form, test against reality, revise, repeat."</a:t>
            </a:r>
          </a:p>
          <a:p>
            <a:endParaRPr lang="en-US" dirty="0"/>
          </a:p>
          <a:p>
            <a:r>
              <a:rPr lang="en-US" b="1" dirty="0"/>
              <a:t>Strategic implication, </a:t>
            </a:r>
            <a:r>
              <a:rPr lang="en-US" dirty="0"/>
              <a:t>say: "Adaptability. The organisation stays responsive to changing conditions without losing its overall direction."</a:t>
            </a:r>
          </a:p>
          <a:p>
            <a:endParaRPr lang="en-US" dirty="0"/>
          </a:p>
          <a:p>
            <a:r>
              <a:rPr lang="en-US" b="1" dirty="0"/>
              <a:t>Failure if missing</a:t>
            </a:r>
            <a:r>
              <a:rPr lang="en-US" dirty="0"/>
              <a:t>, say: "Strategy becomes doctrine — defended as settled belief and closed to evidence. </a:t>
            </a:r>
          </a:p>
          <a:p>
            <a:r>
              <a:rPr lang="en-US" dirty="0"/>
              <a:t>Stale assumptions compound until the organisation is blindsided.“</a:t>
            </a:r>
          </a:p>
          <a:p>
            <a:endParaRPr lang="en-US" dirty="0"/>
          </a:p>
          <a:p>
            <a:r>
              <a:rPr lang="en-US" b="1" dirty="0"/>
              <a:t>EXAMPLE</a:t>
            </a:r>
          </a:p>
          <a:p>
            <a:r>
              <a:rPr lang="en-ZA" dirty="0"/>
              <a:t>Kodak’s strategy was built around a world in which </a:t>
            </a:r>
            <a:r>
              <a:rPr lang="en-ZA" b="1" dirty="0"/>
              <a:t>photographic film remained central to how people captured and preserved images</a:t>
            </a:r>
            <a:r>
              <a:rPr lang="en-ZA" dirty="0"/>
              <a:t>. </a:t>
            </a:r>
          </a:p>
          <a:p>
            <a:r>
              <a:rPr lang="en-ZA" dirty="0"/>
              <a:t>Ironically, Kodak itself developed one of the first digital cameras in 1975. </a:t>
            </a:r>
          </a:p>
          <a:p>
            <a:r>
              <a:rPr lang="en-ZA" dirty="0"/>
              <a:t>The signals that photography was moving towards digital were therefore not entirely external to the company.</a:t>
            </a:r>
          </a:p>
          <a:p>
            <a:r>
              <a:rPr lang="en-ZA" b="1" dirty="0"/>
              <a:t>Its established strategic logic remained influential for too long while the environment was changing around it.</a:t>
            </a:r>
            <a:endParaRPr lang="en-ZA" dirty="0"/>
          </a:p>
          <a:p>
            <a:r>
              <a:rPr lang="en-ZA" dirty="0"/>
              <a:t>The strategic hypothesis needed to be repeatedly tested: </a:t>
            </a:r>
            <a:r>
              <a:rPr lang="en-ZA" i="1" dirty="0"/>
              <a:t>Is film still where value will be created? </a:t>
            </a:r>
          </a:p>
          <a:p>
            <a:r>
              <a:rPr lang="en-ZA" i="1" dirty="0"/>
              <a:t>How is customer behaviour changing? What business are we becoming as photography becomes digital?</a:t>
            </a:r>
            <a:endParaRPr lang="en-ZA" dirty="0"/>
          </a:p>
          <a:p>
            <a:endParaRPr lang="en-US" b="1" dirty="0"/>
          </a:p>
          <a:p>
            <a:r>
              <a:rPr lang="en-US" b="1" dirty="0"/>
              <a:t>Add:</a:t>
            </a:r>
            <a:r>
              <a:rPr lang="en-US" dirty="0"/>
              <a:t> "This rules out strategy as an annual ritual and rules in strategy as a living organisational capability.“</a:t>
            </a:r>
          </a:p>
          <a:p>
            <a:endParaRPr lang="en-US" dirty="0"/>
          </a:p>
          <a:p>
            <a:r>
              <a:rPr lang="en-US" b="1" dirty="0"/>
              <a:t>4. THINKING &amp; LOGIC — The cognitive engine.</a:t>
            </a:r>
          </a:p>
          <a:p>
            <a:endParaRPr lang="en-US" b="1" dirty="0"/>
          </a:p>
          <a:p>
            <a:r>
              <a:rPr lang="en-US" b="1" dirty="0"/>
              <a:t>What it means</a:t>
            </a:r>
            <a:r>
              <a:rPr lang="en-US" dirty="0"/>
              <a:t>, say: "Thinking is divergent and exploratory — generating hypotheses and questioning assumptions. </a:t>
            </a:r>
          </a:p>
          <a:p>
            <a:r>
              <a:rPr lang="en-US" dirty="0"/>
              <a:t>Logic is convergent and analytical — testing what must be true for the strategy to hold. Both are required in sequence."</a:t>
            </a:r>
          </a:p>
          <a:p>
            <a:endParaRPr lang="en-US" dirty="0"/>
          </a:p>
          <a:p>
            <a:r>
              <a:rPr lang="en-US" b="1" dirty="0"/>
              <a:t>Strategic implication</a:t>
            </a:r>
            <a:r>
              <a:rPr lang="en-US" dirty="0"/>
              <a:t>, say: "Strategy is reasoned. This prevents both wishful thinking and paralysis by analysis."</a:t>
            </a:r>
          </a:p>
          <a:p>
            <a:endParaRPr lang="en-US" dirty="0"/>
          </a:p>
          <a:p>
            <a:r>
              <a:rPr lang="en-US" b="1" dirty="0"/>
              <a:t>Failure if missing, </a:t>
            </a:r>
            <a:r>
              <a:rPr lang="en-US" dirty="0"/>
              <a:t>say: "Either wishful vision (thinking without logic) or analysis paralysis (logic without fresh thinking). </a:t>
            </a:r>
          </a:p>
          <a:p>
            <a:r>
              <a:rPr lang="en-US" dirty="0"/>
              <a:t>Most organisations over-invest in data and under-invest in genuinely uncomfortable questions."</a:t>
            </a:r>
          </a:p>
          <a:p>
            <a:endParaRPr lang="en-US" dirty="0"/>
          </a:p>
          <a:p>
            <a:r>
              <a:rPr lang="en-US" b="1" dirty="0"/>
              <a:t>Deepen, say: </a:t>
            </a:r>
            <a:r>
              <a:rPr lang="en-US" dirty="0"/>
              <a:t>"People misread what is in front of them when they are held by old assumptions. </a:t>
            </a:r>
          </a:p>
          <a:p>
            <a:r>
              <a:rPr lang="en-US" dirty="0"/>
              <a:t>Leaders who are too attached to what they already believe can miss the very signal that could renew the organisation."</a:t>
            </a:r>
          </a:p>
          <a:p>
            <a:r>
              <a:rPr lang="en-US" dirty="0"/>
              <a:t>(Insight: Rigid mental models. Source: Journal, 3 July 2026 — Professional Insights: Strategy)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Add</a:t>
            </a:r>
            <a:r>
              <a:rPr lang="en-US" dirty="0"/>
              <a:t>: "Strategy needs reasoning as well as inspiration."</a:t>
            </a:r>
          </a:p>
          <a:p>
            <a:endParaRPr lang="en-US" dirty="0"/>
          </a:p>
          <a:p>
            <a:r>
              <a:rPr lang="en-US" b="1" dirty="0"/>
              <a:t>5. PROCESS — The structured container.</a:t>
            </a:r>
          </a:p>
          <a:p>
            <a:endParaRPr lang="en-US" b="1" dirty="0"/>
          </a:p>
          <a:p>
            <a:r>
              <a:rPr lang="en-US" b="1" dirty="0"/>
              <a:t>What it means, </a:t>
            </a:r>
            <a:r>
              <a:rPr lang="en-US" dirty="0"/>
              <a:t>say: "Process converts ad hoc thinking into a repeatable, auditable, scalable method. </a:t>
            </a:r>
          </a:p>
          <a:p>
            <a:r>
              <a:rPr lang="en-US" dirty="0"/>
              <a:t>It defines who is involved, what inputs are needed, which tools are used, and what decisions are made at each stage.“</a:t>
            </a:r>
          </a:p>
          <a:p>
            <a:endParaRPr lang="en-US" dirty="0"/>
          </a:p>
          <a:p>
            <a:r>
              <a:rPr lang="en-US" b="1" dirty="0"/>
              <a:t>Strategic implication</a:t>
            </a:r>
            <a:r>
              <a:rPr lang="en-US" dirty="0"/>
              <a:t>, say: "Strategy becomes an organisational capability. </a:t>
            </a:r>
          </a:p>
          <a:p>
            <a:r>
              <a:rPr lang="en-US" dirty="0"/>
              <a:t>It survives leadership change and does not restart from zero each cycle.“</a:t>
            </a:r>
          </a:p>
          <a:p>
            <a:endParaRPr lang="en-US" dirty="0"/>
          </a:p>
          <a:p>
            <a:r>
              <a:rPr lang="en-US" b="1" dirty="0"/>
              <a:t>Failure if missing, </a:t>
            </a:r>
            <a:r>
              <a:rPr lang="en-US" dirty="0"/>
              <a:t>say: "Strategy is brilliant but fragile. When the individual who carries it in their head leaves, the capability collapses."</a:t>
            </a:r>
          </a:p>
          <a:p>
            <a:endParaRPr lang="en-US" dirty="0"/>
          </a:p>
          <a:p>
            <a:r>
              <a:rPr lang="en-US" b="1" dirty="0"/>
              <a:t>Deepen, say: </a:t>
            </a:r>
            <a:r>
              <a:rPr lang="en-US" dirty="0"/>
              <a:t>"When value becomes inseparable from particular individuals, ego and fragility increase. </a:t>
            </a:r>
          </a:p>
          <a:p>
            <a:r>
              <a:rPr lang="en-US" dirty="0"/>
              <a:t>Strong cultures </a:t>
            </a:r>
            <a:r>
              <a:rPr lang="en-US" dirty="0" err="1"/>
              <a:t>recognise</a:t>
            </a:r>
            <a:r>
              <a:rPr lang="en-US" dirty="0"/>
              <a:t> the contribution while keeping the mission larger than the contributor."</a:t>
            </a:r>
          </a:p>
          <a:p>
            <a:r>
              <a:rPr lang="en-US" dirty="0"/>
              <a:t>(Insight: The mission larger than the contributor. Source: Journal, 18 September 2026 — Professional Insights: Culture)</a:t>
            </a:r>
          </a:p>
          <a:p>
            <a:endParaRPr lang="en-US" dirty="0"/>
          </a:p>
          <a:p>
            <a:r>
              <a:rPr lang="en-US" b="1" dirty="0"/>
              <a:t>Add: </a:t>
            </a:r>
            <a:r>
              <a:rPr lang="en-US" dirty="0"/>
              <a:t>"With process, strategy stops being a personality-dependent event. Process is the scaffolding that makes thinking transferable."</a:t>
            </a:r>
          </a:p>
          <a:p>
            <a:endParaRPr lang="en-US" dirty="0"/>
          </a:p>
          <a:p>
            <a:r>
              <a:rPr lang="en-US" b="1" dirty="0"/>
              <a:t>Linger on Thinking &amp; Logic and Process.</a:t>
            </a:r>
          </a:p>
          <a:p>
            <a:r>
              <a:rPr lang="en-US" dirty="0"/>
              <a:t>Say: "Thinking &amp; Logic is the cognitive engine. Process is the structured container. </a:t>
            </a:r>
          </a:p>
          <a:p>
            <a:r>
              <a:rPr lang="en-US" dirty="0"/>
              <a:t>Most organisations have process but neglect thinking quality. The definition forces us to see this gap."</a:t>
            </a:r>
          </a:p>
          <a:p>
            <a:r>
              <a:rPr lang="en-US" dirty="0"/>
              <a:t>Ask: "Where does your organisation invest more: in the quality of the thinking, or in the process that contains it?"</a:t>
            </a:r>
          </a:p>
          <a:p>
            <a:r>
              <a:rPr lang="en-US" dirty="0"/>
              <a:t>Take two or three answers. Listen for: a strategy process with no named place for uncomfortable questions.</a:t>
            </a:r>
          </a:p>
          <a:p>
            <a:endParaRPr lang="en-US" dirty="0"/>
          </a:p>
          <a:p>
            <a:r>
              <a:rPr lang="en-US" b="1" dirty="0"/>
              <a:t>6. WHAT · WHY · HOW · WHEN — The 3Ws &amp; H — complete decision space.</a:t>
            </a:r>
          </a:p>
          <a:p>
            <a:endParaRPr lang="en-US" b="1" dirty="0"/>
          </a:p>
          <a:p>
            <a:r>
              <a:rPr lang="en-US" b="1" dirty="0"/>
              <a:t>What it means, say: </a:t>
            </a:r>
            <a:r>
              <a:rPr lang="en-US" dirty="0"/>
              <a:t>"These four dimensions define every coherent strategy. </a:t>
            </a:r>
          </a:p>
          <a:p>
            <a:r>
              <a:rPr lang="en-US" dirty="0"/>
              <a:t>WHAT sets the ambition and scope. </a:t>
            </a:r>
          </a:p>
          <a:p>
            <a:r>
              <a:rPr lang="en-US" dirty="0"/>
              <a:t>WHY establishes the differentiating logic or purpose. </a:t>
            </a:r>
          </a:p>
          <a:p>
            <a:r>
              <a:rPr lang="en-US" dirty="0"/>
              <a:t>HOW defines the operating model. </a:t>
            </a:r>
          </a:p>
          <a:p>
            <a:r>
              <a:rPr lang="en-US" dirty="0"/>
              <a:t>WHEN governs timing and sequencing.“</a:t>
            </a:r>
          </a:p>
          <a:p>
            <a:endParaRPr lang="en-US" dirty="0"/>
          </a:p>
          <a:p>
            <a:r>
              <a:rPr lang="en-US" b="1" dirty="0"/>
              <a:t>Strategic implication, say</a:t>
            </a:r>
            <a:r>
              <a:rPr lang="en-US" dirty="0"/>
              <a:t>: "A complete and internally consistent strategy. </a:t>
            </a:r>
          </a:p>
          <a:p>
            <a:r>
              <a:rPr lang="en-US" dirty="0"/>
              <a:t>Each dimension is a necessary condition for the others."</a:t>
            </a:r>
          </a:p>
          <a:p>
            <a:endParaRPr lang="en-US" dirty="0"/>
          </a:p>
          <a:p>
            <a:r>
              <a:rPr lang="en-US" b="1" dirty="0"/>
              <a:t>Failure if missing, say</a:t>
            </a:r>
            <a:r>
              <a:rPr lang="en-US" dirty="0"/>
              <a:t>: "Structural incompleteness.</a:t>
            </a:r>
          </a:p>
          <a:p>
            <a:r>
              <a:rPr lang="en-US" dirty="0"/>
              <a:t>WHAT and WHY without HOW and WHEN is vision without execution. </a:t>
            </a:r>
          </a:p>
          <a:p>
            <a:endParaRPr lang="en-US" dirty="0"/>
          </a:p>
          <a:p>
            <a:r>
              <a:rPr lang="en-US" b="1" dirty="0"/>
              <a:t>You ask this - </a:t>
            </a:r>
          </a:p>
          <a:p>
            <a:endParaRPr lang="en-US" dirty="0"/>
          </a:p>
          <a:p>
            <a:r>
              <a:rPr lang="en-US" dirty="0"/>
              <a:t>What does HOW without WHY produce?</a:t>
            </a:r>
          </a:p>
          <a:p>
            <a:r>
              <a:rPr lang="en-US" dirty="0"/>
              <a:t> is activity without purpose.“</a:t>
            </a:r>
          </a:p>
          <a:p>
            <a:endParaRPr lang="en-US" dirty="0"/>
          </a:p>
          <a:p>
            <a:r>
              <a:rPr lang="en-US" dirty="0"/>
              <a:t>What does WHEN without WHAT produce?</a:t>
            </a:r>
          </a:p>
          <a:p>
            <a:r>
              <a:rPr lang="en-US" dirty="0"/>
              <a:t>is urgency without direction</a:t>
            </a:r>
          </a:p>
          <a:p>
            <a:endParaRPr lang="en-US" dirty="0"/>
          </a:p>
          <a:p>
            <a:r>
              <a:rPr lang="en-US" dirty="0"/>
              <a:t>Add: "Together the four dimensions constitute a complete strategic position."</a:t>
            </a:r>
          </a:p>
          <a:p>
            <a:endParaRPr lang="en-US" dirty="0"/>
          </a:p>
          <a:p>
            <a:r>
              <a:rPr lang="en-US" b="1" dirty="0"/>
              <a:t>7. CREATES · DELIVERS · SUSTAINS — The Value Triad.</a:t>
            </a:r>
          </a:p>
          <a:p>
            <a:endParaRPr lang="en-US" dirty="0"/>
          </a:p>
          <a:p>
            <a:r>
              <a:rPr lang="en-US" b="1" dirty="0"/>
              <a:t>What it means, say</a:t>
            </a:r>
            <a:r>
              <a:rPr lang="en-US" dirty="0"/>
              <a:t>: "Creating value means nothing if it does not reach its intended recipients. </a:t>
            </a:r>
          </a:p>
          <a:p>
            <a:r>
              <a:rPr lang="en-US" dirty="0"/>
              <a:t>Delivering value means nothing if the conditions that make it possible are steadily depleted. </a:t>
            </a:r>
          </a:p>
          <a:p>
            <a:r>
              <a:rPr lang="en-US" dirty="0"/>
              <a:t>All three layers must be explicitly designed and invested in.“</a:t>
            </a:r>
          </a:p>
          <a:p>
            <a:endParaRPr lang="en-US" dirty="0"/>
          </a:p>
          <a:p>
            <a:r>
              <a:rPr lang="en-US" b="1" dirty="0"/>
              <a:t>Strategic implication, say: </a:t>
            </a:r>
            <a:r>
              <a:rPr lang="en-US" dirty="0"/>
              <a:t>"Long-term viability. The organisation does not harvest today at the expense of tomorrow. </a:t>
            </a:r>
          </a:p>
          <a:p>
            <a:r>
              <a:rPr lang="en-US" dirty="0"/>
              <a:t>Value compounds over time.“</a:t>
            </a:r>
          </a:p>
          <a:p>
            <a:endParaRPr lang="en-US" dirty="0"/>
          </a:p>
          <a:p>
            <a:r>
              <a:rPr lang="en-US" b="1" dirty="0"/>
              <a:t>Failure if missing, say: </a:t>
            </a:r>
            <a:r>
              <a:rPr lang="en-US" dirty="0"/>
              <a:t>"Most organisations over-invest in creation and delivery while underinvesting in sustainability — the culture, financial health, and ecosystem relationships that make value durable.“</a:t>
            </a:r>
          </a:p>
          <a:p>
            <a:endParaRPr lang="en-US" dirty="0"/>
          </a:p>
          <a:p>
            <a:r>
              <a:rPr lang="en-US" b="1" dirty="0"/>
              <a:t>8. STAKEHOLDERS — Broader than customers.</a:t>
            </a:r>
          </a:p>
          <a:p>
            <a:endParaRPr lang="en-US" b="1" dirty="0"/>
          </a:p>
          <a:p>
            <a:r>
              <a:rPr lang="en-US" b="1" dirty="0"/>
              <a:t>What it means, say: </a:t>
            </a:r>
            <a:r>
              <a:rPr lang="en-US" dirty="0"/>
              <a:t>"Everyone with a stake in the organisation's actions: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Ask who are these - Listen for: stakeholders answered as "customers". Ask: "Who else has a stake in what this organisation does?"</a:t>
            </a:r>
          </a:p>
          <a:p>
            <a:r>
              <a:rPr lang="en-US" dirty="0"/>
              <a:t>customers, employees, investors, communities, regulators, and partners. </a:t>
            </a:r>
          </a:p>
          <a:p>
            <a:r>
              <a:rPr lang="en-US" dirty="0"/>
              <a:t>The choice of this word is a values statement — strategy must account for the full stakeholder universe.“</a:t>
            </a:r>
          </a:p>
          <a:p>
            <a:endParaRPr lang="en-US" dirty="0"/>
          </a:p>
          <a:p>
            <a:r>
              <a:rPr lang="en-US" b="1" dirty="0"/>
              <a:t>Strategic implication, say</a:t>
            </a:r>
            <a:r>
              <a:rPr lang="en-US" dirty="0"/>
              <a:t>: "Legitimacy and resilience. Organisations that optimise for one stakeholder class create fragilities that others eventually exploit or oppose.“</a:t>
            </a:r>
          </a:p>
          <a:p>
            <a:endParaRPr lang="en-US" dirty="0"/>
          </a:p>
          <a:p>
            <a:r>
              <a:rPr lang="en-US" b="1" dirty="0"/>
              <a:t>Failure if missing, say</a:t>
            </a:r>
            <a:r>
              <a:rPr lang="en-US" dirty="0"/>
              <a:t>: "Blind spots. When any stakeholder group is systematically ignored, each becomes a structural risk."</a:t>
            </a:r>
          </a:p>
          <a:p>
            <a:endParaRPr lang="en-US" dirty="0"/>
          </a:p>
          <a:p>
            <a:r>
              <a:rPr lang="en-US" dirty="0"/>
              <a:t>An organisation can have alignment, resources, skill and momentum and still fail when its strategy rests on the wrong foundation. </a:t>
            </a:r>
          </a:p>
          <a:p>
            <a:r>
              <a:rPr lang="en-US" dirty="0"/>
              <a:t>A strategy designed mainly to build the reputation of its builders serves the wrong master. </a:t>
            </a:r>
          </a:p>
          <a:p>
            <a:r>
              <a:rPr lang="en-US" dirty="0"/>
              <a:t>Anchor strategy in what the organisation is trying to achieve for its stakeholders."</a:t>
            </a:r>
          </a:p>
          <a:p>
            <a:r>
              <a:rPr lang="en-US" dirty="0"/>
              <a:t>(Insight: Value for whom. Source: Journal, 10 January 2026 — Professional Insights: Strategy)</a:t>
            </a:r>
          </a:p>
          <a:p>
            <a:endParaRPr lang="en-US" dirty="0"/>
          </a:p>
          <a:p>
            <a:r>
              <a:rPr lang="en-US" b="1" dirty="0"/>
              <a:t>Add: </a:t>
            </a:r>
            <a:r>
              <a:rPr lang="en-US" dirty="0"/>
              <a:t>"The blind spots are specific: employees who deliver value, investors who fund it, regulators who permit it."</a:t>
            </a:r>
          </a:p>
          <a:p>
            <a:endParaRPr lang="en-US" dirty="0"/>
          </a:p>
          <a:p>
            <a:r>
              <a:rPr lang="en-US" b="1" dirty="0"/>
              <a:t>9. NAVIGATING — Active, skilful movement through forces.</a:t>
            </a:r>
          </a:p>
          <a:p>
            <a:endParaRPr lang="en-US" b="1" dirty="0"/>
          </a:p>
          <a:p>
            <a:r>
              <a:rPr lang="en-US" b="1" dirty="0"/>
              <a:t>What it means, say: </a:t>
            </a:r>
            <a:r>
              <a:rPr lang="en-US" dirty="0"/>
              <a:t>"Navigation implies agency — the deliberate, skilled reading of forces and the intentional choice of how to move in response to them. </a:t>
            </a:r>
          </a:p>
          <a:p>
            <a:r>
              <a:rPr lang="en-US" dirty="0"/>
              <a:t>Strategy is a continuous navigation discipline: the forces in the operating environment do not pause when the strategy is set, when targets are reached, or when the organisation is performing well.“</a:t>
            </a:r>
          </a:p>
          <a:p>
            <a:endParaRPr lang="en-US" dirty="0"/>
          </a:p>
          <a:p>
            <a:r>
              <a:rPr lang="en-US" b="1" dirty="0"/>
              <a:t>Strategic implication, say: </a:t>
            </a:r>
            <a:r>
              <a:rPr lang="en-US" dirty="0"/>
              <a:t>"The organisation maintains strategic control even as conditions shift. </a:t>
            </a:r>
          </a:p>
          <a:p>
            <a:r>
              <a:rPr lang="en-US" dirty="0"/>
              <a:t>Leaders make deliberate moves and shape their circumstances. </a:t>
            </a:r>
          </a:p>
          <a:p>
            <a:r>
              <a:rPr lang="en-US" dirty="0"/>
              <a:t>Navigation transforms external pressure from a threat into a manageable variable.“</a:t>
            </a:r>
          </a:p>
          <a:p>
            <a:endParaRPr lang="en-US" dirty="0"/>
          </a:p>
          <a:p>
            <a:r>
              <a:rPr lang="en-US" b="1" dirty="0"/>
              <a:t>Failure if missing, say: </a:t>
            </a:r>
            <a:r>
              <a:rPr lang="en-US" dirty="0"/>
              <a:t>"The organisation becomes reactive — responding to what has already happened, with little anticipation of what is coming. Reactive organisations lose strategic initiative and operate in permanent catch-up. </a:t>
            </a:r>
          </a:p>
          <a:p>
            <a:r>
              <a:rPr lang="en-US" dirty="0"/>
              <a:t>Navigation is what separates strategic leadership from operational management."</a:t>
            </a:r>
          </a:p>
          <a:p>
            <a:endParaRPr lang="en-US" dirty="0"/>
          </a:p>
          <a:p>
            <a:r>
              <a:rPr lang="en-US" b="1" dirty="0"/>
              <a:t>10. THE FORCES — Five categories every strategy must navigate.</a:t>
            </a:r>
          </a:p>
          <a:p>
            <a:endParaRPr lang="en-US" dirty="0"/>
          </a:p>
          <a:p>
            <a:r>
              <a:rPr lang="en-US" b="1" dirty="0"/>
              <a:t>What it means, say</a:t>
            </a:r>
            <a:r>
              <a:rPr lang="en-US" dirty="0"/>
              <a:t>: "Five distinct force categories continuously shape the environment in which strategy must deliver."</a:t>
            </a:r>
          </a:p>
          <a:p>
            <a:r>
              <a:rPr lang="en-US" dirty="0"/>
              <a:t>Name the five categories, one at a time:</a:t>
            </a:r>
          </a:p>
          <a:p>
            <a:r>
              <a:rPr lang="en-US" dirty="0"/>
              <a:t>1. </a:t>
            </a:r>
            <a:r>
              <a:rPr lang="en-US" b="1" dirty="0"/>
              <a:t>Competitive forces: </a:t>
            </a:r>
            <a:r>
              <a:rPr lang="en-US" dirty="0"/>
              <a:t>rivals, new entrants, substitutes, and shifts in customer power.</a:t>
            </a:r>
          </a:p>
          <a:p>
            <a:r>
              <a:rPr lang="en-US" dirty="0"/>
              <a:t>2. </a:t>
            </a:r>
            <a:r>
              <a:rPr lang="en-US" b="1" dirty="0"/>
              <a:t>Macro-environmental forces: </a:t>
            </a:r>
            <a:r>
              <a:rPr lang="en-US" dirty="0"/>
              <a:t>economic cycles, regulatory frameworks, political dynamics, and technological infrastructure.</a:t>
            </a:r>
          </a:p>
          <a:p>
            <a:r>
              <a:rPr lang="en-US" dirty="0"/>
              <a:t>3. </a:t>
            </a:r>
            <a:r>
              <a:rPr lang="en-US" b="1" dirty="0"/>
              <a:t>Disruptive forces: </a:t>
            </a:r>
            <a:r>
              <a:rPr lang="en-US" dirty="0"/>
              <a:t>new business models and technology applications emerging at the margins of the industry.</a:t>
            </a:r>
          </a:p>
          <a:p>
            <a:r>
              <a:rPr lang="en-US" dirty="0"/>
              <a:t>4. </a:t>
            </a:r>
            <a:r>
              <a:rPr lang="en-US" b="1" dirty="0"/>
              <a:t>Social and environmental forces</a:t>
            </a:r>
            <a:r>
              <a:rPr lang="en-US" dirty="0"/>
              <a:t>: stakeholder expectations, social norms, ESG standards, and demographic shifts operating simultaneously across all stakeholder groups.</a:t>
            </a:r>
          </a:p>
          <a:p>
            <a:r>
              <a:rPr lang="en-US" dirty="0"/>
              <a:t>5. </a:t>
            </a:r>
            <a:r>
              <a:rPr lang="en-US" b="1" dirty="0"/>
              <a:t>Internal forces: </a:t>
            </a:r>
            <a:r>
              <a:rPr lang="en-US" dirty="0"/>
              <a:t>culture, enterprise behaviour patterns, institutional habits, and legacy identity that exert force on the organisation from within, often in opposition to the stated strategy.</a:t>
            </a:r>
          </a:p>
          <a:p>
            <a:endParaRPr lang="en-US" dirty="0"/>
          </a:p>
          <a:p>
            <a:r>
              <a:rPr lang="en-US" b="1" dirty="0"/>
              <a:t>Strategic implication, say: </a:t>
            </a:r>
            <a:r>
              <a:rPr lang="en-US" dirty="0"/>
              <a:t>"Leaders develop a structured awareness of which forces are most active, most rapidly shifting, and most likely to invalidate current strategic assumptions. </a:t>
            </a:r>
          </a:p>
          <a:p>
            <a:r>
              <a:rPr lang="en-US" dirty="0"/>
              <a:t>Each force category requires a specific navigation discipline — and this programme builds those disciplines across its units.“</a:t>
            </a:r>
          </a:p>
          <a:p>
            <a:endParaRPr lang="en-US" dirty="0"/>
          </a:p>
          <a:p>
            <a:r>
              <a:rPr lang="en-US" b="1" dirty="0"/>
              <a:t>Failure if missing, say</a:t>
            </a:r>
            <a:r>
              <a:rPr lang="en-US" dirty="0"/>
              <a:t>: "Strategy is designed for a force environment that no longer exists. </a:t>
            </a:r>
          </a:p>
          <a:p>
            <a:r>
              <a:rPr lang="en-US" dirty="0"/>
              <a:t>The organisation discovers that the competitive, macro, disruptive, social, or internal forces have moved — and that the strategy has not. </a:t>
            </a:r>
          </a:p>
          <a:p>
            <a:r>
              <a:rPr lang="en-US" dirty="0"/>
              <a:t>By the time this gap is visible in results, the cost of recalibration is significantly higher than it would have been with earlier navigation."</a:t>
            </a:r>
          </a:p>
          <a:p>
            <a:endParaRPr lang="en-US" dirty="0"/>
          </a:p>
          <a:p>
            <a:r>
              <a:rPr lang="en-US" b="1" dirty="0"/>
              <a:t>11. Bring the nine together.</a:t>
            </a:r>
          </a:p>
          <a:p>
            <a:r>
              <a:rPr lang="en-US" dirty="0"/>
              <a:t>Ask: "Which of these nine concepts is least visible in how your organisation currently talks about strategy?"</a:t>
            </a:r>
          </a:p>
          <a:p>
            <a:r>
              <a:rPr lang="en-US" dirty="0"/>
              <a:t>Take three or four answers and note them. They show where each group will need to work hardest in Section 5.</a:t>
            </a:r>
          </a:p>
          <a:p>
            <a:endParaRPr lang="en-US" dirty="0"/>
          </a:p>
          <a:p>
            <a:r>
              <a:rPr lang="en-US" b="1" dirty="0"/>
              <a:t>12. Bridge to 1.2.</a:t>
            </a:r>
          </a:p>
          <a:p>
            <a:r>
              <a:rPr lang="en-US" dirty="0"/>
              <a:t>Say: "OUTPUT is what the other concepts produce: the Strategy Architecture. </a:t>
            </a:r>
          </a:p>
          <a:p>
            <a:r>
              <a:rPr lang="en-US" dirty="0"/>
              <a:t>In Section 4 you see this definition worked as 14 elements for one company, and in Section 5 your group works it for its own company." </a:t>
            </a:r>
          </a:p>
          <a:p>
            <a:endParaRPr lang="en-US" dirty="0"/>
          </a:p>
          <a:p>
            <a:r>
              <a:rPr lang="en-US" b="1" dirty="0"/>
              <a:t>ON THE PORTAL, AFTER THE TEACHING:</a:t>
            </a:r>
          </a:p>
          <a:p>
            <a:r>
              <a:rPr lang="en-US" dirty="0"/>
              <a:t>Participants write the 1.1 reflection: "Which part of your organisation's strategy architecture is least well defined today? What is the consequence?"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1.2 — DEFINING THE STRATEGY INTENT STATEMENT (4 DIMENSIONS)</a:t>
            </a:r>
          </a:p>
          <a:p/>
          <a:p>
            <a:r>
              <a:rPr b="1"/>
              <a:t>HOW TO TEACH IT:</a:t>
            </a:r>
          </a:p>
          <a:p/>
          <a:p>
            <a:r>
              <a:rPr b="1"/>
              <a:t>1. Position the statement.</a:t>
            </a:r>
          </a:p>
          <a:p>
            <a:r>
              <a:rPr b="1"/>
              <a:t>Say: </a:t>
            </a:r>
            <a:r>
              <a:rPr/>
              <a:t>"The Strategy Architecture provides the foundation from which the Strategy Intent Statement is derived.</a:t>
            </a:r>
          </a:p>
          <a:p>
            <a:r>
              <a:t>It has established the organisation's strategic choices and the logic connecting them.</a:t>
            </a:r>
          </a:p>
          <a:p>
            <a:r>
              <a:t>The Strategy Intent Statement brings forward four dimensions from that architecture.“</a:t>
            </a:r>
          </a:p>
          <a:p/>
          <a:p>
            <a:r>
              <a:rPr b="1"/>
              <a:t>Say: </a:t>
            </a:r>
            <a:r>
              <a:rPr/>
              <a:t>"The Strategy Architecture holds the depth and the supporting logic.</a:t>
            </a:r>
          </a:p>
          <a:p>
            <a:r>
              <a:t>The Strategy Intent Statement is crisp, directional and easy to express.“</a:t>
            </a:r>
          </a:p>
          <a:p/>
          <a:p>
            <a:r>
              <a:rPr b="1"/>
              <a:t>Tell participants: </a:t>
            </a:r>
            <a:r>
              <a:rPr/>
              <a:t>they derive their own statement in Section 5. Here they learn what it brings forward.</a:t>
            </a:r>
          </a:p>
          <a:p/>
          <a:p>
            <a:r>
              <a:rPr b="1"/>
              <a:t>2. Say why the statement must be crisp.</a:t>
            </a:r>
          </a:p>
          <a:p>
            <a:r>
              <a:rPr b="1"/>
              <a:t>Say: </a:t>
            </a:r>
            <a:r>
              <a:rPr/>
              <a:t>"A message creates value only if people can receive and understand it.</a:t>
            </a:r>
          </a:p>
          <a:p>
            <a:r>
              <a:t>Strategy must be both sound and communicable."</a:t>
            </a:r>
          </a:p>
          <a:p>
            <a:r>
              <a:t>(Insight: Sound and communicable. Source: Journal, 23 August 2026 — Professional Insights: Strategy)</a:t>
            </a:r>
          </a:p>
          <a:p/>
          <a:p>
            <a:r>
              <a:rPr b="1"/>
              <a:t>3. Take the four dimensions one at a time.</a:t>
            </a:r>
          </a:p>
          <a:p>
            <a:r>
              <a:rPr b="1"/>
              <a:t>Say: </a:t>
            </a:r>
            <a:r>
              <a:rPr/>
              <a:t>"We walk through WHAT, WHY, HOW and WHEN one at a time, as a group."</a:t>
            </a:r>
          </a:p>
          <a:p>
            <a:r>
              <a:t>For each dimension, ask one diagnostic question and take two or three responses.</a:t>
            </a:r>
          </a:p>
          <a:p>
            <a:r>
              <a:t>Stay longest on HOW and WHEN: they typically reveal the most significant gaps.</a:t>
            </a:r>
          </a:p>
          <a:p/>
          <a:p>
            <a:r>
              <a:rPr b="1"/>
              <a:t>4. WHAT — Scope &amp; Definition.</a:t>
            </a:r>
          </a:p>
          <a:p>
            <a:r>
              <a:rPr b="1"/>
              <a:t>Say: </a:t>
            </a:r>
            <a:r>
              <a:rPr/>
              <a:t>"WHAT brings forward the value the organisation has chosen to create and its field of play.</a:t>
            </a:r>
          </a:p>
          <a:p>
            <a:r>
              <a:t>It governs scope, portfolio, product and service definition, boundary-setting, market choice, capability focus."</a:t>
            </a:r>
          </a:p>
          <a:p/>
          <a:p>
            <a:r>
              <a:t>Ask one diagnostic question and take two or three responses: "What arenas are we choosing to compete in?" · "What have we decided not to do?" · Listen for: a WHAT with no boundary.</a:t>
            </a:r>
          </a:p>
          <a:p/>
          <a:p>
            <a:r>
              <a:rPr b="1"/>
              <a:t>Deepen, say: </a:t>
            </a:r>
            <a:r>
              <a:rPr/>
              <a:t>"Capability without strategic intent produces a spectacular career and an unfinished assignment.</a:t>
            </a:r>
          </a:p>
          <a:p>
            <a:r>
              <a:t>Audit where the organisation’s most distinctive strength is being spent.</a:t>
            </a:r>
          </a:p>
          <a:p>
            <a:r>
              <a:t>(Insight: Capability without intent. Source: Journal, 25 April 2026 — Professional Insights: Strategy)</a:t>
            </a:r>
          </a:p>
          <a:p/>
          <a:p>
            <a:r>
              <a:rPr b="1"/>
              <a:t>5. WHY — Purpose &amp; Rationale.</a:t>
            </a:r>
          </a:p>
          <a:p>
            <a:r>
              <a:rPr b="1"/>
              <a:t>Say: </a:t>
            </a:r>
            <a:r>
              <a:rPr/>
              <a:t>"WHY brings forward the rationale for those choices and why they matter.</a:t>
            </a:r>
          </a:p>
          <a:p>
            <a:r>
              <a:t>It governs purpose, mission, competitive differentiation, value proposition, organisational identity."</a:t>
            </a:r>
          </a:p>
          <a:p/>
          <a:p>
            <a:r>
              <a:t>Ask one diagnostic question and take two or three responses: "Does our WHY actually differentiate us, or could a competitor claim it unchanged?" · "Do our decisions consistently reflect this WHY?" · "Do stakeholders believe and repeat our WHY?"</a:t>
            </a:r>
          </a:p>
          <a:p/>
          <a:p>
            <a:r>
              <a:rPr b="1"/>
              <a:t>Deepen, say: </a:t>
            </a:r>
            <a:r>
              <a:rPr/>
              <a:t>"Organisations that rush into execution without clarifying purpose create activity without lasting impact.</a:t>
            </a:r>
          </a:p>
          <a:p>
            <a:r>
              <a:t>Strategic clarity emerges when leaders understand why the work exists before deciding how it will be done."</a:t>
            </a:r>
          </a:p>
          <a:p>
            <a:r>
              <a:t>(Insight: WHY before HOW. Source: Journal, 28 July 2026 — Professional Insights: Strategy)</a:t>
            </a:r>
          </a:p>
          <a:p/>
          <a:p>
            <a:r>
              <a:rPr b="1"/>
              <a:t>6. HOW — Mechanism &amp; Model.</a:t>
            </a:r>
          </a:p>
          <a:p>
            <a:r>
              <a:rPr b="1"/>
              <a:t>Say: </a:t>
            </a:r>
            <a:r>
              <a:rPr/>
              <a:t>"HOW brings forward the operating model, capabilities and mechanisms through which the value will be delivered.</a:t>
            </a:r>
          </a:p>
          <a:p>
            <a:r>
              <a:t>It governs operating model, capabilities, processes, organisational design, technology architecture, partnerships."</a:t>
            </a:r>
          </a:p>
          <a:p/>
          <a:p>
            <a:r>
              <a:t>Key facilitation moment. Ask: "Does your operating model currently match your strategy — or is it a legacy structure that predates your current direction?"</a:t>
            </a:r>
          </a:p>
          <a:p/>
          <a:p>
            <a:r>
              <a:t>Stay here. This often opens the most honest conversation of the entire Awareness section.</a:t>
            </a:r>
          </a:p>
          <a:p/>
          <a:p>
            <a:r>
              <a:t>Further diagnostic questions, if the room needs them: "What capabilities are core and must be owned versus outsourced?" ·</a:t>
            </a:r>
          </a:p>
          <a:p>
            <a:r>
              <a:t>"Where are the HOW gaps between strategic ambition and current capability?"</a:t>
            </a:r>
          </a:p>
          <a:p/>
          <a:p>
            <a:r>
              <a:t>Listen for: a HOW with no operating model, capability or mechanism named.</a:t>
            </a:r>
          </a:p>
          <a:p/>
          <a:p>
            <a:r>
              <a:rPr b="1"/>
              <a:t>Deepen, say: </a:t>
            </a:r>
            <a:r>
              <a:rPr/>
              <a:t>"A common strategic failure is choosing the right goal and accepting a compromised route to reach it: a deal that delivers the number and burns the relationship, a hire that fits the seat and damages the team.</a:t>
            </a:r>
          </a:p>
          <a:p/>
          <a:p>
            <a:r>
              <a:t>Before the next material commitment, write the destination and the route on two separate lines and ask whether you would still defend the route if the outcome failed."</a:t>
            </a:r>
          </a:p>
          <a:p>
            <a:r>
              <a:t>(Insight: Destination and route. Source: Journal, 24 April 2026 — Professional Insights: Strategy)</a:t>
            </a:r>
          </a:p>
          <a:p/>
          <a:p>
            <a:r>
              <a:rPr b="1"/>
              <a:t>7. WHEN — Timing &amp; Sequencing.</a:t>
            </a:r>
          </a:p>
          <a:p>
            <a:r>
              <a:rPr b="1"/>
              <a:t>Say: </a:t>
            </a:r>
            <a:r>
              <a:rPr/>
              <a:t>"WHEN brings forward the timing, sequencing and strategic moves through which the ambition will be pursued.</a:t>
            </a:r>
          </a:p>
          <a:p>
            <a:r>
              <a:t>It governs timing, sequencing, pacing, prioritisation, horizon planning, entry and exit decisions."</a:t>
            </a:r>
          </a:p>
          <a:p/>
          <a:p>
            <a:r>
              <a:rPr b="1"/>
              <a:t>Ask: </a:t>
            </a:r>
            <a:r>
              <a:rPr/>
              <a:t>"Have you actually mapped the sequence of moves needed to achieve your strategy — or does the plan treat all initiatives as running in parallel?"</a:t>
            </a:r>
          </a:p>
          <a:p/>
          <a:p>
            <a:r>
              <a:t>Further diagnostic questions, if the room needs them: "Are we moving at the right pace?" · "What signals tell us when to accelerate or pause?"</a:t>
            </a:r>
          </a:p>
          <a:p/>
          <a:p>
            <a:r>
              <a:rPr b="1"/>
              <a:t>Deepen, say: </a:t>
            </a:r>
            <a:r>
              <a:rPr/>
              <a:t>"Many strategic failures are failures of timing.</a:t>
            </a:r>
          </a:p>
          <a:p>
            <a:r>
              <a:t>The leader knew what to do and moved before the conditions favoured it. Identify one important move you are pushing early because you are anxious to resolve uncertainty.</a:t>
            </a:r>
          </a:p>
          <a:p>
            <a:r>
              <a:t>The same move made at the right moment is a different move."</a:t>
            </a:r>
          </a:p>
          <a:p>
            <a:r>
              <a:t>(Insight: Timing failures. Source: Journal, 1 May 2026 — Professional Insights: Strategy)</a:t>
            </a:r>
          </a:p>
          <a:p/>
          <a:p>
            <a:r>
              <a:rPr b="1"/>
              <a:t>8. Read the room.</a:t>
            </a:r>
          </a:p>
          <a:p>
            <a:r>
              <a:rPr b="1"/>
              <a:t>Ask: </a:t>
            </a:r>
            <a:r>
              <a:rPr/>
              <a:t>"Which of the four dimensions is least clearly defined in your organisation today?"</a:t>
            </a:r>
          </a:p>
          <a:p>
            <a:r>
              <a:t>Take a show of hands for each dimension and say what pattern the group shows.</a:t>
            </a:r>
          </a:p>
          <a:p/>
          <a:p>
            <a:r>
              <a:rPr b="1"/>
              <a:t>9. Show that the four hold together.</a:t>
            </a:r>
          </a:p>
          <a:p>
            <a:r>
              <a:rPr b="1"/>
              <a:t>Say: </a:t>
            </a:r>
            <a:r>
              <a:rPr/>
              <a:t>"The four dimensions are interdependent. Answering only two or three creates a structurally incomplete strategy.</a:t>
            </a:r>
          </a:p>
          <a:p>
            <a:r>
              <a:t>A well-formed strategic intent answers all four at once: What value are we creating?</a:t>
            </a:r>
          </a:p>
          <a:p>
            <a:r>
              <a:t>Why will stakeholders choose us?</a:t>
            </a:r>
          </a:p>
          <a:p>
            <a:r>
              <a:t>How will we deliver this value?</a:t>
            </a:r>
          </a:p>
          <a:p>
            <a:r>
              <a:t>When will we act?"</a:t>
            </a:r>
          </a:p>
          <a:p/>
          <a:p>
            <a:r>
              <a:rPr b="1"/>
              <a:t>10. Say what is at stake.</a:t>
            </a:r>
          </a:p>
          <a:p>
            <a:r>
              <a:rPr b="1"/>
              <a:t>Say: </a:t>
            </a:r>
            <a:r>
              <a:rPr/>
              <a:t>"Without a clear strategic intent, every investment becomes a negotiation without a shared reference point.</a:t>
            </a:r>
          </a:p>
          <a:p>
            <a:r>
              <a:t>Every performance review becomes a contest between competing definitions of success."</a:t>
            </a:r>
          </a:p>
          <a:p/>
          <a:p>
            <a:r>
              <a:rPr b="1"/>
              <a:t>11. Close and bridge to 1.3.</a:t>
            </a:r>
          </a:p>
          <a:p>
            <a:r>
              <a:rPr b="1"/>
              <a:t>Say: </a:t>
            </a:r>
            <a:r>
              <a:rPr/>
              <a:t>"These four dimensions are then crystallised into one clear Strategy Intent Statement.</a:t>
            </a:r>
          </a:p>
          <a:p>
            <a:r>
              <a:t>The strength of the statement comes from the architecture beneath it.</a:t>
            </a:r>
          </a:p>
          <a:p>
            <a:r>
              <a:t>It should therefore be crisp, directional and easy to express, while the Strategy Architecture holds the depth and supporting logic.</a:t>
            </a:r>
          </a:p>
          <a:p>
            <a:r>
              <a:t>The resulting Strategy Intent becomes the organisation's directional anchor for strategic choices, alignment and execution."</a:t>
            </a:r>
          </a:p>
          <a:p/>
          <a:p>
            <a:r>
              <a:rPr b="1"/>
              <a:t>Say: </a:t>
            </a:r>
            <a:r>
              <a:rPr/>
              <a:t>"The Intent sets the ambition. Next we ask what we should see in practice when that ambition is realised."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1.3 — SUCCESS IN PRACTICE (SiP): FROM INTENT TO FUTURE REALITY (4 OBSERVABLE DOMAINS)</a:t>
            </a:r>
          </a:p>
          <a:p>
            <a:endParaRPr lang="en-US" dirty="0"/>
          </a:p>
          <a:p>
            <a:r>
              <a:rPr lang="en-US" b="1" dirty="0"/>
              <a:t>HOW TO TEACH IT:</a:t>
            </a:r>
          </a:p>
          <a:p>
            <a:endParaRPr lang="en-US" dirty="0"/>
          </a:p>
          <a:p>
            <a:r>
              <a:rPr lang="en-US" b="1" dirty="0"/>
              <a:t>1. Connect the two outputs.</a:t>
            </a:r>
          </a:p>
          <a:p>
            <a:r>
              <a:rPr lang="en-US" b="1" dirty="0"/>
              <a:t>Say: </a:t>
            </a:r>
            <a:r>
              <a:rPr lang="en-US" dirty="0"/>
              <a:t>"The Strategy Intent Statement establishes the ambition. </a:t>
            </a:r>
          </a:p>
          <a:p>
            <a:r>
              <a:rPr lang="en-US" dirty="0"/>
              <a:t>Success in Practice defines what must be seen, experienced and executed for that ambition to become reality within a given time horizon."</a:t>
            </a:r>
          </a:p>
          <a:p>
            <a:endParaRPr lang="en-US" dirty="0"/>
          </a:p>
          <a:p>
            <a:r>
              <a:rPr lang="en-US" dirty="0"/>
              <a:t>Add: "Once the organisation has answered WHAT, WHY, HOW and WHEN, the next step is to translate that clarity into an observable future reality."</a:t>
            </a:r>
          </a:p>
          <a:p>
            <a:endParaRPr lang="en-US" dirty="0"/>
          </a:p>
          <a:p>
            <a:r>
              <a:rPr lang="en-US" b="1" dirty="0"/>
              <a:t>2. Say what Success in Practice is.</a:t>
            </a:r>
          </a:p>
          <a:p>
            <a:r>
              <a:rPr lang="en-US" b="1" dirty="0"/>
              <a:t>Say: </a:t>
            </a:r>
            <a:r>
              <a:rPr lang="en-US" dirty="0"/>
              <a:t>"Success in Practice, SiP, translates strategic intent into a clear picture of the future operating reality of the organisation.</a:t>
            </a:r>
          </a:p>
          <a:p>
            <a:r>
              <a:rPr lang="en-US" dirty="0"/>
              <a:t>It answers a question that most strategy processes fail to address clearly."</a:t>
            </a:r>
          </a:p>
          <a:p>
            <a:r>
              <a:rPr lang="en-US" dirty="0"/>
              <a:t>Read the central question from the foot of the slide:</a:t>
            </a:r>
          </a:p>
          <a:p>
            <a:r>
              <a:rPr lang="en-US" dirty="0"/>
              <a:t>"If our Strategy Intent is successful, what should we see in practice?"</a:t>
            </a:r>
          </a:p>
          <a:p>
            <a:endParaRPr lang="en-US" dirty="0"/>
          </a:p>
          <a:p>
            <a:r>
              <a:rPr lang="en-US" b="1" dirty="0"/>
              <a:t>3. Position participants inside the future.</a:t>
            </a:r>
          </a:p>
          <a:p>
            <a:r>
              <a:rPr lang="en-US" dirty="0"/>
              <a:t>Say: "For this first look, use the strategic ambition of your own organisation as it stands today. Assume the strategy has worked. From here, we are observing."</a:t>
            </a:r>
          </a:p>
          <a:p>
            <a:r>
              <a:rPr lang="en-US" dirty="0"/>
              <a:t>Ask participants to describe the observable organisational reality. Each group writes its own Strategy Intent Statement in Section 5.</a:t>
            </a:r>
          </a:p>
          <a:p>
            <a:endParaRPr lang="en-US" dirty="0"/>
          </a:p>
          <a:p>
            <a:r>
              <a:rPr lang="en-US" b="1" dirty="0"/>
              <a:t>4. Take the four indicators.</a:t>
            </a:r>
          </a:p>
          <a:p>
            <a:r>
              <a:rPr lang="en-US" b="1" dirty="0"/>
              <a:t>Say: </a:t>
            </a:r>
            <a:r>
              <a:rPr lang="en-US" dirty="0"/>
              <a:t>"Success is considered across four observable indicators</a:t>
            </a:r>
          </a:p>
          <a:p>
            <a:endParaRPr lang="en-US" dirty="0"/>
          </a:p>
          <a:p>
            <a:r>
              <a:rPr lang="en-US" dirty="0"/>
              <a:t>Name each indicator from the slide and say what it covers:</a:t>
            </a:r>
          </a:p>
          <a:p>
            <a:endParaRPr lang="en-US" dirty="0"/>
          </a:p>
          <a:p>
            <a:r>
              <a:rPr lang="en-US" dirty="0"/>
              <a:t>- D1 · Customer Experience &amp; Value: What customers and other value recipients experience when the strategic intent is working.</a:t>
            </a:r>
          </a:p>
          <a:p>
            <a:endParaRPr lang="en-US" dirty="0"/>
          </a:p>
          <a:p>
            <a:r>
              <a:rPr lang="en-US" dirty="0"/>
              <a:t>- D2 · Operational Capability &amp; Execution Rhythm: How the organisation operates, coordinates, delivers and adapts when the capabilities required by the intent are functioning effectively.</a:t>
            </a:r>
          </a:p>
          <a:p>
            <a:endParaRPr lang="en-US" dirty="0"/>
          </a:p>
          <a:p>
            <a:r>
              <a:rPr lang="en-US" dirty="0"/>
              <a:t>- D3 · People &amp; Culture Dynamics: How people understand the strategic intent, make decisions, collaborate, take ownership and behave when the intent is embedded in the organisation.</a:t>
            </a:r>
          </a:p>
          <a:p>
            <a:endParaRPr lang="en-US" dirty="0"/>
          </a:p>
          <a:p>
            <a:r>
              <a:rPr lang="en-US" dirty="0"/>
              <a:t>- D4 · Enterprise Value Creation: How the organisation benefits across its measures of enterprise success.</a:t>
            </a:r>
          </a:p>
          <a:p>
            <a:endParaRPr lang="en-US" dirty="0"/>
          </a:p>
          <a:p>
            <a:r>
              <a:rPr lang="en-US" dirty="0"/>
              <a:t>Take one observation from the room for each indicator, D1 to D4.</a:t>
            </a:r>
          </a:p>
          <a:p>
            <a:endParaRPr lang="en-US" dirty="0"/>
          </a:p>
          <a:p>
            <a:r>
              <a:rPr lang="en-US" b="1" dirty="0"/>
              <a:t>Add: </a:t>
            </a:r>
            <a:r>
              <a:rPr lang="en-US" dirty="0"/>
              <a:t>"Anchoring the description in four observable indicators keeps us out of vague storytelling."</a:t>
            </a:r>
          </a:p>
          <a:p>
            <a:endParaRPr lang="en-US" dirty="0"/>
          </a:p>
          <a:p>
            <a:r>
              <a:rPr lang="en-US" b="1" dirty="0"/>
              <a:t>5. Keep the room on observable reality.</a:t>
            </a:r>
          </a:p>
          <a:p>
            <a:r>
              <a:rPr lang="en-US" b="1" dirty="0"/>
              <a:t>Say: </a:t>
            </a:r>
            <a:r>
              <a:rPr lang="en-US" dirty="0"/>
              <a:t>"The SiP describes what is happening when the strategy is working. Initiatives, projects and activities stay out of it.“</a:t>
            </a:r>
          </a:p>
          <a:p>
            <a:endParaRPr lang="en-US" dirty="0"/>
          </a:p>
          <a:p>
            <a:r>
              <a:rPr lang="en-US" b="1" dirty="0"/>
              <a:t>6. Say why success is defined before anything is built.</a:t>
            </a:r>
          </a:p>
          <a:p>
            <a:r>
              <a:rPr lang="en-US" b="1" dirty="0"/>
              <a:t>Say: </a:t>
            </a:r>
            <a:r>
              <a:rPr lang="en-US" dirty="0"/>
              <a:t>"Before you build, know exactly what you are building towards and why each element matters."</a:t>
            </a:r>
          </a:p>
          <a:p>
            <a:endParaRPr lang="en-US" dirty="0"/>
          </a:p>
          <a:p>
            <a:r>
              <a:rPr lang="en-US" dirty="0"/>
              <a:t>(Insight: Built to a specification. Source: Journal, 15 February 2026 — Professional Insights: Strategy)</a:t>
            </a:r>
          </a:p>
          <a:p>
            <a:endParaRPr lang="en-US" dirty="0"/>
          </a:p>
          <a:p>
            <a:r>
              <a:rPr lang="en-US" b="1" dirty="0"/>
              <a:t>7. Say what a shared picture gives a leadership team.</a:t>
            </a:r>
          </a:p>
          <a:p>
            <a:r>
              <a:rPr lang="en-US" b="1" dirty="0"/>
              <a:t>Say: </a:t>
            </a:r>
            <a:r>
              <a:rPr lang="en-US" dirty="0"/>
              <a:t>"Defining this together creates a shared picture of success, reducing the risk of different functions interpreting the same strategic intent differently."</a:t>
            </a:r>
          </a:p>
          <a:p>
            <a:endParaRPr lang="en-US" dirty="0"/>
          </a:p>
          <a:p>
            <a:r>
              <a:rPr lang="en-US" b="1" dirty="0"/>
              <a:t>Say: </a:t>
            </a:r>
            <a:r>
              <a:rPr lang="en-US" dirty="0"/>
              <a:t>"The aim is shared construction: we should leave with a common understanding of what success looks like across the organisation."</a:t>
            </a:r>
          </a:p>
          <a:p>
            <a:endParaRPr lang="en-US" dirty="0"/>
          </a:p>
          <a:p>
            <a:r>
              <a:rPr lang="en-US" b="1" dirty="0"/>
              <a:t>Name the four effects for an executive team:</a:t>
            </a:r>
          </a:p>
          <a:p>
            <a:r>
              <a:rPr lang="en-US" dirty="0"/>
              <a:t>- It removes ambiguity about what the strategy is actually aiming to produce.</a:t>
            </a:r>
          </a:p>
          <a:p>
            <a:r>
              <a:rPr lang="en-US" dirty="0"/>
              <a:t>- It creates a shared mental model of the future state across all functions.</a:t>
            </a:r>
          </a:p>
          <a:p>
            <a:r>
              <a:rPr lang="en-US" dirty="0"/>
              <a:t>- It provides a decision filter: every initiative, investment and priority can be tested against it.</a:t>
            </a:r>
          </a:p>
          <a:p>
            <a:r>
              <a:rPr lang="en-US" dirty="0"/>
              <a:t>- It enables recognition of progress: leaders can see alignment and momentum during execution.</a:t>
            </a:r>
          </a:p>
          <a:p>
            <a:endParaRPr lang="en-US" dirty="0"/>
          </a:p>
          <a:p>
            <a:r>
              <a:rPr lang="en-US" b="1" dirty="0"/>
              <a:t>8. Close and bridge.</a:t>
            </a:r>
          </a:p>
          <a:p>
            <a:r>
              <a:rPr lang="en-US" b="1" dirty="0"/>
              <a:t>Say: </a:t>
            </a:r>
            <a:r>
              <a:rPr lang="en-US" dirty="0"/>
              <a:t>"Together, the four indicators create a shared organisational picture of success against which decisions, trade-offs and execution can be aligned."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SECTION 1 REFLECTIONS</a:t>
            </a:r>
          </a:p>
          <a:p/>
          <a:p>
            <a:r>
              <a:rPr b="1"/>
              <a:t>HOW TO USE THIS SLIDE:</a:t>
            </a:r>
          </a:p>
          <a:p/>
          <a:p>
            <a:r>
              <a:rPr b="1"/>
              <a:t>1. Show the slide and read the prompt aloud.</a:t>
            </a:r>
          </a:p>
          <a:p>
            <a:r>
              <a:t>1.1 Reflection — Strategy Architecture: "Which part of your organisation's strategy architecture is least well defined today? What is the consequence?"</a:t>
            </a:r>
          </a:p>
          <a:p/>
          <a:p>
            <a:r>
              <a:rPr b="1"/>
              <a:t>2. Say what the reflection is for.</a:t>
            </a:r>
          </a:p>
          <a:p>
            <a:r>
              <a:t>Point learners to the portal section that they will be required to complete with as much depth as possible.</a:t>
            </a:r>
          </a:p>
          <a:p>
            <a:r>
              <a:t>The reflections build the learning portfolio they receive at the end of the programme.</a:t>
            </a:r>
          </a:p>
          <a:p/>
          <a:p>
            <a:r>
              <a:rPr b="1"/>
              <a:t>Say: </a:t>
            </a:r>
            <a:r>
              <a:rPr/>
              <a:t>"You write this reflection on the portal after the teaching, with as much depth as you can."</a:t>
            </a:r>
          </a:p>
          <a:p/>
          <a:p>
            <a:r>
              <a:rPr b="1"/>
              <a:t>3. Set the standard for 1.1.</a:t>
            </a:r>
          </a:p>
          <a:p>
            <a:r>
              <a:rPr b="1"/>
              <a:t>Say: </a:t>
            </a:r>
            <a:r>
              <a:rPr/>
              <a:t>"Name one concept from the nine, give evidence from your own organisation, and name one consequence you have seen: what the gap costs, slows down or leaves undecided.“</a:t>
            </a:r>
          </a:p>
          <a:p/>
          <a:p>
            <a:r>
              <a:rPr b="1"/>
              <a:t>Deepen, say: </a:t>
            </a:r>
            <a:r>
              <a:rPr/>
              <a:t>"Strategy begins with an accurate understanding of present reality.</a:t>
            </a:r>
          </a:p>
          <a:p>
            <a:r>
              <a:t>Leaders who avoid difficult information protect their comfort at the expense of the institution.</a:t>
            </a:r>
          </a:p>
          <a:p>
            <a:r>
              <a:t>Name the true condition without minimising it."</a:t>
            </a:r>
          </a:p>
          <a:p>
            <a:r>
              <a:t>(Insight: An honest baseline. Source: Journal, 4 August 2026 — Professional Insights: Strategy)</a:t>
            </a:r>
          </a:p>
          <a:p/>
          <a:p>
            <a:r>
              <a:rPr b="1"/>
              <a:t>4. Bridge to Section 2.</a:t>
            </a:r>
          </a:p>
          <a:p>
            <a:r>
              <a:rPr b="1"/>
              <a:t>Say: </a:t>
            </a:r>
            <a:r>
              <a:rPr/>
              <a:t>"We now have the three building blocks: the architecture, the intent and the picture of success.</a:t>
            </a:r>
          </a:p>
          <a:p/>
          <a:p>
            <a:r>
              <a:t>Section 2 asks why the Strategy Intent and SiP matter once they are defined."</a:t>
            </a:r>
          </a:p>
          <a:p/>
          <a:p>
            <a:r>
              <a:rPr b="1"/>
              <a:t>ON THE PORTAL, AFTER THE TEACHING:</a:t>
            </a:r>
          </a:p>
          <a:p>
            <a:r>
              <a:t>Participants write the reflection in Section 1 of the participant file: 1.1 Reflection — Strategy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2 · INTELLIGENCE — WHY</a:t>
            </a:r>
          </a:p>
          <a:p>
            <a:endParaRPr lang="en-US" dirty="0"/>
          </a:p>
          <a:p>
            <a:r>
              <a:rPr lang="en-US" b="1" dirty="0"/>
              <a:t>HOW THIS SECTION RUNS:</a:t>
            </a:r>
          </a:p>
          <a:p>
            <a:r>
              <a:rPr lang="en-US" dirty="0"/>
              <a:t>1. 2.1 overview: the three functions the Strategy Intent and SiP serve within the Strategy2Results® architecture.</a:t>
            </a:r>
          </a:p>
          <a:p>
            <a:r>
              <a:rPr lang="en-US" dirty="0"/>
              <a:t>2. 2.1.1 Strategic Alignment, 2.1.2 Decision Filter and 2.1.3 Execution Coherence: one slide each. Every function is taught in three parts: Why It Matters, what the Strategy Intent does, and what SiP does.</a:t>
            </a:r>
          </a:p>
          <a:p>
            <a:r>
              <a:rPr lang="en-US" dirty="0"/>
              <a:t>3. The Section 2 Reflections slide: the reflection participants write on the portal after the teaching.</a:t>
            </a:r>
          </a:p>
          <a:p>
            <a:endParaRPr lang="en-US" dirty="0"/>
          </a:p>
          <a:p>
            <a:r>
              <a:rPr lang="en-US" b="1" dirty="0"/>
              <a:t>HOW TO OPEN THE SECTION:</a:t>
            </a:r>
          </a:p>
          <a:p>
            <a:endParaRPr lang="en-US" dirty="0"/>
          </a:p>
          <a:p>
            <a:r>
              <a:rPr lang="en-US" b="1" dirty="0"/>
              <a:t>1. Link from Section 1.</a:t>
            </a:r>
          </a:p>
          <a:p>
            <a:r>
              <a:rPr lang="en-US" dirty="0"/>
              <a:t>Say: "Section 1 defined the three building blocks. This section asks what the Strategy Intent and SiP do for a leadership team once they exist.“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2. Read the two section learning outcomes from the slide.</a:t>
            </a:r>
          </a:p>
          <a:p>
            <a:r>
              <a:rPr lang="en-US" b="1" dirty="0"/>
              <a:t>SECTION LEARNING OUTCOMES:</a:t>
            </a:r>
          </a:p>
          <a:p>
            <a:r>
              <a:rPr lang="en-US" dirty="0"/>
              <a:t>1. Reconcile leadership perspectives into a shared strategic ambition and picture of success.</a:t>
            </a:r>
          </a:p>
          <a:p>
            <a:r>
              <a:rPr lang="en-US" dirty="0"/>
              <a:t>2. Apply strategic direction as a consistent basis for enterprise decisions.</a:t>
            </a:r>
            <a:r>
              <a:rPr lang="en-US" dirty="0" err="1"/>
              <a:t/>
            </a:r>
            <a:r>
              <a:rPr lang="en-US" dirty="0"/>
              <a:t/>
            </a:r>
          </a:p>
          <a:p>
            <a:endParaRPr lang="en-US" dirty="0"/>
          </a:p>
          <a:p>
            <a:r>
              <a:rPr lang="en-US" b="1" dirty="0"/>
              <a:t>3. State the section intent.</a:t>
            </a:r>
          </a:p>
          <a:p>
            <a:r>
              <a:rPr lang="en-US" b="1" dirty="0"/>
              <a:t>Say: </a:t>
            </a:r>
            <a:r>
              <a:rPr lang="en-US" dirty="0"/>
              <a:t>"The Strategy Intent and SiP become useful when they begin to shape how the organisation aligns, makes choices and executes."</a:t>
            </a:r>
          </a:p>
          <a:p>
            <a:r>
              <a:rPr lang="en-US" b="1" dirty="0"/>
              <a:t>Say: </a:t>
            </a:r>
            <a:r>
              <a:rPr lang="en-US" dirty="0"/>
              <a:t>"Once leaders have established a shared strategic ambition and defined what success looks like in practice, those two outputs become common reference points across the organisation."</a:t>
            </a:r>
          </a:p>
          <a:p>
            <a:endParaRPr lang="en-US" dirty="0"/>
          </a:p>
          <a:p>
            <a:r>
              <a:rPr lang="en-US" b="1" dirty="0"/>
              <a:t>4. Bridge to 2.1.</a:t>
            </a:r>
          </a:p>
          <a:p>
            <a:r>
              <a:rPr lang="en-US" dirty="0"/>
              <a:t>Say: "The Strategy Intent and SiP serve three important functions. The next slide names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 — ROLE OF STRATEGY INTENT &amp; SiP IN THE S2R® ARCHITECTURE (3 FUNCTIONS)</a:t>
            </a:r>
          </a:p>
          <a:p>
            <a:endParaRPr lang="en-US" dirty="0"/>
          </a:p>
          <a:p>
            <a:r>
              <a:rPr lang="en-US" b="1" dirty="0"/>
              <a:t>HOW TO TEACH IT:</a:t>
            </a:r>
          </a:p>
          <a:p>
            <a:endParaRPr lang="en-US" dirty="0"/>
          </a:p>
          <a:p>
            <a:r>
              <a:rPr lang="en-US" b="1" dirty="0"/>
              <a:t>1. Introduce the three functions.</a:t>
            </a:r>
          </a:p>
          <a:p>
            <a:r>
              <a:rPr lang="en-US" b="1" dirty="0"/>
              <a:t>Say: </a:t>
            </a:r>
            <a:r>
              <a:rPr lang="en-US" dirty="0"/>
              <a:t>"Strategy Intent and SiP serve three functions within the Strategy2Results® architecture."</a:t>
            </a:r>
          </a:p>
          <a:p>
            <a:endParaRPr lang="en-US" dirty="0"/>
          </a:p>
          <a:p>
            <a:r>
              <a:rPr lang="en-US" dirty="0"/>
              <a:t>Name each function from the slide:</a:t>
            </a:r>
          </a:p>
          <a:p>
            <a:endParaRPr lang="en-US" dirty="0"/>
          </a:p>
          <a:p>
            <a:r>
              <a:rPr lang="en-US" dirty="0"/>
              <a:t>- </a:t>
            </a:r>
            <a:r>
              <a:rPr lang="en-US" b="1" dirty="0"/>
              <a:t>Strategic Alignment: </a:t>
            </a:r>
            <a:r>
              <a:rPr lang="en-US" dirty="0"/>
              <a:t>keeping people and functions oriented around the same ambition and picture of success.</a:t>
            </a:r>
          </a:p>
          <a:p>
            <a:endParaRPr lang="en-US" dirty="0"/>
          </a:p>
          <a:p>
            <a:r>
              <a:rPr lang="en-US" b="1" dirty="0"/>
              <a:t>- Decision Filter: </a:t>
            </a:r>
            <a:r>
              <a:rPr lang="en-US" dirty="0"/>
              <a:t>providing a basis for determining which choices, opportunities and investments support the strategy.</a:t>
            </a:r>
          </a:p>
          <a:p>
            <a:endParaRPr lang="en-US" dirty="0"/>
          </a:p>
          <a:p>
            <a:r>
              <a:rPr lang="en-US" b="1" dirty="0"/>
              <a:t>- Execution Coherence</a:t>
            </a:r>
            <a:r>
              <a:rPr lang="en-US" dirty="0"/>
              <a:t>: helping different functions understand how their individual contributions must connect to produce the enterprise outcome.</a:t>
            </a:r>
          </a:p>
          <a:p>
            <a:endParaRPr lang="en-US" dirty="0"/>
          </a:p>
          <a:p>
            <a:r>
              <a:rPr lang="en-US" b="1" dirty="0"/>
              <a:t>2. Name the pairing that runs through all three.</a:t>
            </a:r>
          </a:p>
          <a:p>
            <a:r>
              <a:rPr lang="en-US" b="1" dirty="0"/>
              <a:t>Say: </a:t>
            </a:r>
            <a:r>
              <a:rPr lang="en-US" dirty="0"/>
              <a:t>"The Intent anchors the ambition and strategic choices; SiP anchors the organisational reality those choices are intended to produce."</a:t>
            </a:r>
          </a:p>
          <a:p>
            <a:r>
              <a:rPr lang="en-US" dirty="0"/>
              <a:t>"The two outputs are there to govern alignment, choices and execution."</a:t>
            </a:r>
          </a:p>
          <a:p>
            <a:endParaRPr lang="en-US" dirty="0"/>
          </a:p>
          <a:p>
            <a:r>
              <a:rPr lang="en-US" b="1" dirty="0"/>
              <a:t>3. Leave one question with the group.</a:t>
            </a:r>
          </a:p>
          <a:p>
            <a:r>
              <a:rPr lang="en-US" dirty="0"/>
              <a:t>Say: "As we move through the three functions, consider: What happens in an organisation when this function is weak or absent?"</a:t>
            </a:r>
          </a:p>
          <a:p>
            <a:endParaRPr lang="en-US" dirty="0"/>
          </a:p>
          <a:p>
            <a:r>
              <a:rPr lang="en-US" b="1" dirty="0"/>
              <a:t>4. Bridge to the next slide.</a:t>
            </a:r>
          </a:p>
          <a:p>
            <a:r>
              <a:rPr lang="en-US" dirty="0"/>
              <a:t>Say: "The next three slides take one function each: why it matters, what the Strategy Intent does, and what SiP does."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2.1.1 — STRATEGIC ALIGNMENT</a:t>
            </a:r>
          </a:p>
          <a:p>
            <a:endParaRPr lang="en-US" dirty="0"/>
          </a:p>
          <a:p>
            <a:r>
              <a:rPr lang="en-US" b="1" dirty="0"/>
              <a:t>HOW TO TEACH IT:</a:t>
            </a:r>
          </a:p>
          <a:p>
            <a:endParaRPr lang="en-US" dirty="0"/>
          </a:p>
          <a:p>
            <a:r>
              <a:rPr lang="en-US" b="1" dirty="0"/>
              <a:t>1. Say why it matters.</a:t>
            </a:r>
          </a:p>
          <a:p>
            <a:r>
              <a:rPr lang="en-US" b="1" dirty="0"/>
              <a:t>Say: </a:t>
            </a:r>
            <a:r>
              <a:rPr lang="en-US" dirty="0"/>
              <a:t>"Strategy fragments when leaders and functions interpret the organisation's ambition differently. </a:t>
            </a:r>
          </a:p>
          <a:p>
            <a:r>
              <a:rPr lang="en-US" dirty="0"/>
              <a:t>Alignment creates a common strategic reference point while allowing different parts of the organisation to make the contributions required of them."</a:t>
            </a:r>
          </a:p>
          <a:p>
            <a:endParaRPr lang="en-US" dirty="0"/>
          </a:p>
          <a:p>
            <a:r>
              <a:rPr lang="en-US" b="1" dirty="0"/>
              <a:t>2. Give the role of the Strategy Intent.</a:t>
            </a:r>
          </a:p>
          <a:p>
            <a:r>
              <a:rPr lang="en-US" b="1" dirty="0"/>
              <a:t>Say</a:t>
            </a:r>
            <a:r>
              <a:rPr lang="en-US" dirty="0"/>
              <a:t>: "The Strategy Intent creates shared understanding of the organisation's strategic ambition and the choices that define it. </a:t>
            </a:r>
          </a:p>
          <a:p>
            <a:r>
              <a:rPr lang="en-US" dirty="0"/>
              <a:t>Leaders are anchored to the same WHAT, WHY, HOW and WHEN."</a:t>
            </a:r>
          </a:p>
          <a:p>
            <a:endParaRPr lang="en-US" dirty="0"/>
          </a:p>
          <a:p>
            <a:r>
              <a:rPr lang="en-US" b="1" dirty="0"/>
              <a:t>Deepen, say</a:t>
            </a:r>
            <a:r>
              <a:rPr lang="en-US" dirty="0"/>
              <a:t>: "Intent cannot be executed consistently when people do not know the principles, expectations and boundaries that should govern their decisions."</a:t>
            </a:r>
          </a:p>
          <a:p>
            <a:r>
              <a:rPr lang="en-US" dirty="0"/>
              <a:t>(Insight: Shared understanding. Source: Journal, 19 July 2026 — Professional Insights: Strategy)</a:t>
            </a:r>
          </a:p>
          <a:p>
            <a:endParaRPr lang="en-US" dirty="0"/>
          </a:p>
          <a:p>
            <a:r>
              <a:rPr lang="en-US" b="1" dirty="0"/>
              <a:t>3. Give the role of SiP.</a:t>
            </a:r>
          </a:p>
          <a:p>
            <a:r>
              <a:rPr lang="en-US" b="1" dirty="0"/>
              <a:t>Say: </a:t>
            </a:r>
            <a:r>
              <a:rPr lang="en-US" dirty="0"/>
              <a:t>"SiP creates a shared picture of what successful realisation of that ambition looks like. </a:t>
            </a:r>
          </a:p>
          <a:p>
            <a:r>
              <a:rPr lang="en-US" dirty="0"/>
              <a:t>Functions may contribute differently, but they are working towards the same organisational reality.“</a:t>
            </a:r>
          </a:p>
          <a:p>
            <a:endParaRPr lang="en-US" dirty="0"/>
          </a:p>
          <a:p>
            <a:r>
              <a:rPr lang="en-US" dirty="0"/>
              <a:t>Deepen, say: "Culture becomes powerful when people who share an institution also share its meaning and act on it together."</a:t>
            </a:r>
          </a:p>
          <a:p>
            <a:r>
              <a:rPr lang="en-US" dirty="0"/>
              <a:t>(Insight: Shared meaning, shared action. Source: Journal, 15 July 2026 — Professional Insights: Culture)</a:t>
            </a:r>
          </a:p>
          <a:p>
            <a:endParaRPr lang="en-US" dirty="0"/>
          </a:p>
          <a:p>
            <a:r>
              <a:rPr lang="en-US" b="1" dirty="0"/>
              <a:t>4. Test alignment against the opening exercise.</a:t>
            </a:r>
          </a:p>
          <a:p>
            <a:r>
              <a:rPr lang="en-US" dirty="0"/>
              <a:t>Say: "When this session opened, we heard several definitions of strategy in one room."</a:t>
            </a:r>
          </a:p>
          <a:p>
            <a:r>
              <a:rPr lang="en-US" dirty="0"/>
              <a:t>Ask: "If each member of your leadership team described your organisation’s strategic ambition in one sentence, how many versions would you hear?"</a:t>
            </a:r>
          </a:p>
          <a:p>
            <a:endParaRPr lang="en-US" dirty="0"/>
          </a:p>
          <a:p>
            <a:r>
              <a:rPr lang="en-US" b="1" dirty="0"/>
              <a:t>5. Ask what happens when strategic alignment is weak.</a:t>
            </a:r>
          </a:p>
          <a:p>
            <a:r>
              <a:rPr lang="en-US" b="1" dirty="0"/>
              <a:t>Ask</a:t>
            </a:r>
            <a:r>
              <a:rPr lang="en-US" dirty="0"/>
              <a:t>: "What happens in an organisation when </a:t>
            </a:r>
            <a:r>
              <a:rPr lang="en-US" b="1" dirty="0"/>
              <a:t>strategic alignment </a:t>
            </a:r>
            <a:r>
              <a:rPr lang="en-US" dirty="0"/>
              <a:t>is weak or absent?"</a:t>
            </a:r>
          </a:p>
          <a:p>
            <a:r>
              <a:rPr lang="en-US" dirty="0"/>
              <a:t>Listen for: leaders and functions interpreting the ambition differently; each executive pursuing a personal interpretation of the scope and its differentiating logic; each function describing its own version of the future operating state.</a:t>
            </a:r>
          </a:p>
          <a:p>
            <a:endParaRPr lang="en-US" dirty="0"/>
          </a:p>
          <a:p>
            <a:r>
              <a:rPr lang="en-US" b="1" dirty="0"/>
              <a:t>6. Bridge to the Decision Filter.</a:t>
            </a:r>
          </a:p>
          <a:p>
            <a:r>
              <a:rPr lang="en-US" dirty="0"/>
              <a:t>Say: "Alignment gives us one reference point. The next function puts that reference point to work on choices."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2.1.2 — DECISION FILTER</a:t>
            </a:r>
          </a:p>
          <a:p>
            <a:endParaRPr lang="en-US" dirty="0"/>
          </a:p>
          <a:p>
            <a:r>
              <a:rPr lang="en-US" b="1" dirty="0"/>
              <a:t>HOW TO TEACH IT:</a:t>
            </a:r>
          </a:p>
          <a:p>
            <a:endParaRPr lang="en-US" dirty="0"/>
          </a:p>
          <a:p>
            <a:r>
              <a:rPr lang="en-US" b="1" dirty="0"/>
              <a:t>1. Say why it matters.</a:t>
            </a:r>
          </a:p>
          <a:p>
            <a:r>
              <a:rPr lang="en-US" b="1" dirty="0"/>
              <a:t>Say: </a:t>
            </a:r>
            <a:r>
              <a:rPr lang="en-US" dirty="0"/>
              <a:t>"Organisations continuously face competing opportunities, investments, initiatives and demands. </a:t>
            </a:r>
          </a:p>
          <a:p>
            <a:r>
              <a:rPr lang="en-US" dirty="0"/>
              <a:t>Without a common strategic filter, priorities can become shaped by urgency, functional interests or whoever has the strongest influence in the room."</a:t>
            </a:r>
          </a:p>
          <a:p>
            <a:endParaRPr lang="en-US" dirty="0"/>
          </a:p>
          <a:p>
            <a:r>
              <a:rPr lang="en-US" b="1" dirty="0"/>
              <a:t>Deepen, say: </a:t>
            </a:r>
            <a:r>
              <a:rPr lang="en-US" dirty="0"/>
              <a:t>"Many legitimate demands fragment attention unless there is a clear organising priority. </a:t>
            </a:r>
          </a:p>
          <a:p>
            <a:r>
              <a:rPr lang="en-US" dirty="0"/>
              <a:t>Effective strategy knows the “one thing” around which competing choices are ordered."</a:t>
            </a:r>
          </a:p>
          <a:p>
            <a:r>
              <a:rPr lang="en-US" dirty="0"/>
              <a:t>(Insight: The one thing. Source: Journal, 18 September 2026 — Professional Insights: Strategy)</a:t>
            </a:r>
          </a:p>
          <a:p>
            <a:endParaRPr lang="en-US" dirty="0"/>
          </a:p>
          <a:p>
            <a:r>
              <a:rPr lang="en-US" b="1" dirty="0"/>
              <a:t>2. Make it practical.</a:t>
            </a:r>
          </a:p>
          <a:p>
            <a:r>
              <a:rPr lang="en-US" b="1" dirty="0"/>
              <a:t>Ask: "</a:t>
            </a:r>
            <a:r>
              <a:rPr lang="en-US" dirty="0"/>
              <a:t>When a new initiative, investment or opportunity appears, what tells us whether it belongs in our strategy?"</a:t>
            </a:r>
          </a:p>
          <a:p>
            <a:r>
              <a:rPr lang="en-US" dirty="0"/>
              <a:t>Take three answers before you give the two tests.</a:t>
            </a:r>
          </a:p>
          <a:p>
            <a:endParaRPr lang="en-US" dirty="0"/>
          </a:p>
          <a:p>
            <a:r>
              <a:rPr lang="en-US" b="1" dirty="0"/>
              <a:t>3. Give the two tests on the slide.</a:t>
            </a:r>
          </a:p>
          <a:p>
            <a:r>
              <a:rPr lang="en-US" b="1" dirty="0"/>
              <a:t>Say: </a:t>
            </a:r>
            <a:r>
              <a:rPr lang="en-US" dirty="0"/>
              <a:t>"The Strategy Intent provides the test of strategic fit. </a:t>
            </a:r>
          </a:p>
          <a:p>
            <a:r>
              <a:rPr lang="en-US" dirty="0" err="1"/>
              <a:t>SiP</a:t>
            </a:r>
            <a:r>
              <a:rPr lang="en-US" dirty="0"/>
              <a:t> provides the test of strategic contribution: whether the choice moves the organisation closer to the success it has defined."</a:t>
            </a:r>
          </a:p>
          <a:p>
            <a:endParaRPr lang="en-US" dirty="0"/>
          </a:p>
          <a:p>
            <a:r>
              <a:rPr lang="en-US" b="1" dirty="0"/>
              <a:t>The test of strategic fit:</a:t>
            </a:r>
          </a:p>
          <a:p>
            <a:r>
              <a:rPr lang="en-US" b="1" dirty="0"/>
              <a:t>Say: </a:t>
            </a:r>
            <a:r>
              <a:rPr lang="en-US" dirty="0"/>
              <a:t>"The Strategy Intent provides the reference point for determining whether a choice is consistent with the organisation's strategic ambition and the choices already made."</a:t>
            </a:r>
          </a:p>
          <a:p>
            <a:endParaRPr lang="en-US" dirty="0"/>
          </a:p>
          <a:p>
            <a:r>
              <a:rPr lang="en-US" b="1" dirty="0"/>
              <a:t>The test of strategic contribution:</a:t>
            </a:r>
          </a:p>
          <a:p>
            <a:r>
              <a:rPr lang="en-US" dirty="0"/>
              <a:t>Say: "SiP tests whether that choice contributes to the conditions of success the organisation has defined. It connects individual decisions to the future reality they are expected to help create."</a:t>
            </a:r>
          </a:p>
          <a:p>
            <a:endParaRPr lang="en-US" dirty="0"/>
          </a:p>
          <a:p>
            <a:r>
              <a:rPr lang="en-US" b="1" dirty="0"/>
              <a:t>4. Run both tests on a real case.</a:t>
            </a:r>
          </a:p>
          <a:p>
            <a:r>
              <a:rPr lang="en-US" dirty="0"/>
              <a:t>Ask one participant to name a real initiative that is competing for resources in their organisation today. </a:t>
            </a:r>
          </a:p>
          <a:p>
            <a:r>
              <a:rPr lang="en-US" dirty="0"/>
              <a:t>Run both tests aloud against that organisation’s current strategic ambition and its current picture of success.</a:t>
            </a:r>
          </a:p>
          <a:p>
            <a:endParaRPr lang="en-US" dirty="0"/>
          </a:p>
          <a:p>
            <a:r>
              <a:rPr lang="en-US" dirty="0"/>
              <a:t>Say: "Use the same two tests each time a new initiative, investment or opportunity appears."</a:t>
            </a:r>
          </a:p>
          <a:p>
            <a:endParaRPr lang="en-US" dirty="0"/>
          </a:p>
          <a:p>
            <a:r>
              <a:rPr lang="en-US" b="1" dirty="0"/>
              <a:t>5. Deepen: the filter is how daily decisions are made.</a:t>
            </a:r>
          </a:p>
          <a:p>
            <a:r>
              <a:rPr lang="en-US" b="1" dirty="0"/>
              <a:t>Say</a:t>
            </a:r>
            <a:r>
              <a:rPr lang="en-US" dirty="0"/>
              <a:t>: "A strong strategy carries a clear operating logic that guides what is prioritised, how trade-offs are made and how consistency holds under pressure. Execution quality depends on how those decisions are made daily."</a:t>
            </a:r>
          </a:p>
          <a:p>
            <a:r>
              <a:rPr lang="en-US" dirty="0"/>
              <a:t>(Insight: Operating logic. Source: Journal, 3 April 2026 — Professional Insights: Culture)</a:t>
            </a:r>
          </a:p>
          <a:p>
            <a:endParaRPr lang="en-US" dirty="0"/>
          </a:p>
          <a:p>
            <a:r>
              <a:rPr lang="en-US" b="1" dirty="0"/>
              <a:t>6. Deepen: name the governing reference points.</a:t>
            </a:r>
          </a:p>
          <a:p>
            <a:r>
              <a:rPr lang="en-US" b="1" dirty="0"/>
              <a:t>Say: </a:t>
            </a:r>
            <a:r>
              <a:rPr lang="en-US" dirty="0"/>
              <a:t>"Organisations without an explicit governing reference point drift into convergent decline: each person makes locally rational decisions that are collectively damaging."</a:t>
            </a:r>
          </a:p>
          <a:p>
            <a:endParaRPr lang="en-US" dirty="0"/>
          </a:p>
          <a:p>
            <a:r>
              <a:rPr lang="en-US" b="1" dirty="0"/>
              <a:t>7. Ask what happens when decision filter is weak.</a:t>
            </a:r>
          </a:p>
          <a:p>
            <a:r>
              <a:rPr lang="en-US" b="1" dirty="0"/>
              <a:t>Ask</a:t>
            </a:r>
            <a:r>
              <a:rPr lang="en-US" dirty="0"/>
              <a:t>: "What happens in an organisation when </a:t>
            </a:r>
            <a:r>
              <a:rPr lang="en-US" b="1" dirty="0"/>
              <a:t>decision filter </a:t>
            </a:r>
            <a:r>
              <a:rPr lang="en-US" dirty="0"/>
              <a:t>is weak or absent?"</a:t>
            </a:r>
          </a:p>
          <a:p>
            <a:endParaRPr lang="en-US" dirty="0"/>
          </a:p>
          <a:p>
            <a:r>
              <a:rPr lang="en-US" dirty="0"/>
              <a:t>Listen for: priorities shaped by urgency, by functional interests, or by whoever has the strongest influence in the room; an initiative that passes the test of fit while nobody asks what it contributes to the defined success.</a:t>
            </a:r>
          </a:p>
          <a:p>
            <a:endParaRPr lang="en-US" dirty="0"/>
          </a:p>
          <a:p>
            <a:r>
              <a:rPr lang="en-US" b="1" dirty="0"/>
              <a:t>8. Bridge to Execution Coherence.</a:t>
            </a:r>
          </a:p>
          <a:p>
            <a:r>
              <a:rPr lang="en-US" dirty="0"/>
              <a:t>Say: "The filter governs single choices. The next function asks whether the work of all the functions adds up."</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2.1.3 — EXECUTION COHERENCE</a:t>
            </a:r>
          </a:p>
          <a:p>
            <a:endParaRPr lang="en-US" dirty="0"/>
          </a:p>
          <a:p>
            <a:r>
              <a:rPr lang="en-US" b="1" dirty="0"/>
              <a:t>HOW TO TEACH IT:</a:t>
            </a:r>
          </a:p>
          <a:p>
            <a:endParaRPr lang="en-US" dirty="0"/>
          </a:p>
          <a:p>
            <a:r>
              <a:rPr lang="en-US" b="1" dirty="0"/>
              <a:t>1. Say why it matters.</a:t>
            </a:r>
          </a:p>
          <a:p>
            <a:r>
              <a:rPr lang="en-US" b="1" dirty="0"/>
              <a:t>Say: </a:t>
            </a:r>
            <a:r>
              <a:rPr lang="en-US" dirty="0"/>
              <a:t>"Strategy is delivered through many functions, teams and decisions acting together. </a:t>
            </a:r>
          </a:p>
          <a:p>
            <a:r>
              <a:rPr lang="en-US" dirty="0"/>
              <a:t>Each part can perform well individually while the organisation still fails to produce the intended enterprise outcome. Coherence ensures those contributions connect."</a:t>
            </a:r>
          </a:p>
          <a:p>
            <a:endParaRPr lang="en-US" dirty="0"/>
          </a:p>
          <a:p>
            <a:r>
              <a:rPr lang="en-US" b="1" dirty="0"/>
              <a:t>2. Give the role of the Strategy Intent.</a:t>
            </a:r>
          </a:p>
          <a:p>
            <a:r>
              <a:rPr lang="en-US" b="1" dirty="0"/>
              <a:t>Say: </a:t>
            </a:r>
            <a:r>
              <a:rPr lang="en-US" dirty="0"/>
              <a:t>"The Strategy Intent provides the common strategic anchor that enables functions to interpret their mandates and choices in relation to the enterprise ambition."</a:t>
            </a:r>
          </a:p>
          <a:p>
            <a:endParaRPr lang="en-US" dirty="0"/>
          </a:p>
          <a:p>
            <a:r>
              <a:rPr lang="en-US" b="1" dirty="0"/>
              <a:t>3. Give the role of SiP.</a:t>
            </a:r>
          </a:p>
          <a:p>
            <a:r>
              <a:rPr lang="en-US" b="1" dirty="0"/>
              <a:t>Say: </a:t>
            </a:r>
            <a:r>
              <a:rPr lang="en-US" dirty="0"/>
              <a:t>"SiP shows what those combined contributions must produce across customer value, operational capability, people and culture, and enterprise value. </a:t>
            </a:r>
          </a:p>
          <a:p>
            <a:r>
              <a:rPr lang="en-US" dirty="0"/>
              <a:t>It allows functions to see beyond their individual outputs to the organisational outcome they collectively enable."</a:t>
            </a:r>
          </a:p>
          <a:p>
            <a:endParaRPr lang="en-US" dirty="0"/>
          </a:p>
          <a:p>
            <a:r>
              <a:rPr lang="en-US" b="1" dirty="0"/>
              <a:t>4. Make it real.</a:t>
            </a:r>
          </a:p>
          <a:p>
            <a:r>
              <a:rPr lang="en-US" b="1" dirty="0"/>
              <a:t>Ask: </a:t>
            </a:r>
            <a:r>
              <a:rPr lang="en-US" dirty="0"/>
              <a:t>"Where in your organisation does every function meet its own targets while the enterprise outcome falls short?"</a:t>
            </a:r>
          </a:p>
          <a:p>
            <a:r>
              <a:rPr lang="en-US" dirty="0"/>
              <a:t>Take two or three answers.</a:t>
            </a:r>
          </a:p>
          <a:p>
            <a:endParaRPr lang="en-US" dirty="0"/>
          </a:p>
          <a:p>
            <a:r>
              <a:rPr lang="en-US" b="1" dirty="0"/>
              <a:t>5. Deepen.</a:t>
            </a:r>
          </a:p>
          <a:p>
            <a:r>
              <a:rPr lang="en-US" b="1" dirty="0"/>
              <a:t>Say: </a:t>
            </a:r>
            <a:r>
              <a:rPr lang="en-US" dirty="0"/>
              <a:t>"Organisations that want to keep their core commitments coherent must resist fragmenting the practice of those commitments into locally adapted, individually customised forms that gradually lose their connection to the common centre."</a:t>
            </a:r>
          </a:p>
          <a:p>
            <a:r>
              <a:rPr lang="en-US" dirty="0"/>
              <a:t>(Insight: The common centre. Source: Journal, 24 March 2026 — Professional Insights)</a:t>
            </a:r>
          </a:p>
          <a:p>
            <a:endParaRPr lang="en-US" dirty="0"/>
          </a:p>
          <a:p>
            <a:r>
              <a:rPr lang="en-US" b="1" dirty="0"/>
              <a:t>6. Ask what happens when execution coherence is weak.</a:t>
            </a:r>
          </a:p>
          <a:p>
            <a:r>
              <a:rPr lang="en-US" b="1" dirty="0"/>
              <a:t>Ask: </a:t>
            </a:r>
            <a:r>
              <a:rPr lang="en-US" dirty="0"/>
              <a:t>"What happens in an organisation when </a:t>
            </a:r>
            <a:r>
              <a:rPr lang="en-US" b="1" dirty="0"/>
              <a:t>execution coherence </a:t>
            </a:r>
            <a:r>
              <a:rPr lang="en-US" dirty="0"/>
              <a:t>is weak or absent?"</a:t>
            </a:r>
          </a:p>
          <a:p>
            <a:endParaRPr lang="en-US" dirty="0"/>
          </a:p>
          <a:p>
            <a:r>
              <a:rPr lang="en-US" b="1" dirty="0"/>
              <a:t>Listen for: </a:t>
            </a:r>
            <a:r>
              <a:rPr lang="en-US" dirty="0"/>
              <a:t>each function performing well against its own measures while the enterprise outcome is missed; functions losing sight of the organisational outcome they collectively enable; contributions that do not connect at the boundaries between functions.</a:t>
            </a:r>
          </a:p>
          <a:p>
            <a:endParaRPr lang="en-US" dirty="0"/>
          </a:p>
          <a:p>
            <a:r>
              <a:rPr lang="en-US" b="1" dirty="0"/>
              <a:t>7. Point forward and bridge.</a:t>
            </a:r>
          </a:p>
          <a:p>
            <a:r>
              <a:rPr lang="en-US" b="1" dirty="0"/>
              <a:t>Say: </a:t>
            </a:r>
            <a:r>
              <a:rPr lang="en-US" dirty="0"/>
              <a:t>"Section 5 puts this function to work: your group builds one Strategy Intent and one Success in Practice that every function in your company can read its contribution against."</a:t>
            </a:r>
          </a:p>
          <a:p>
            <a:endParaRPr lang="en-US" dirty="0"/>
          </a:p>
          <a:p>
            <a:r>
              <a:rPr lang="en-US" b="1" dirty="0"/>
              <a:t>ON THE PORTAL, AFTER THE TEACHING:</a:t>
            </a:r>
          </a:p>
          <a:p>
            <a:r>
              <a:rPr lang="en-US" dirty="0"/>
              <a:t>Participants write the 2.1 reflection: "Which of the three functions is weakest in your organisation today? What happens as a result?"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dirty="0"/>
              <a:t>SECTION 2 REFLECTIONS</a:t>
            </a:r>
          </a:p>
          <a:p>
            <a:endParaRPr lang="en-US" dirty="0"/>
          </a:p>
          <a:p>
            <a:r>
              <a:rPr lang="en-US" b="1" dirty="0"/>
              <a:t>HOW TO USE THIS SLIDE:</a:t>
            </a:r>
          </a:p>
          <a:p>
            <a:endParaRPr lang="en-US" dirty="0"/>
          </a:p>
          <a:p>
            <a:r>
              <a:rPr lang="en-US" b="1" dirty="0"/>
              <a:t>1. Show the slide and read the prompt aloud.</a:t>
            </a:r>
          </a:p>
          <a:p>
            <a:r>
              <a:rPr lang="en-US" dirty="0"/>
              <a:t>2.1 Reflection — Three Functions: "Which of the three functions is weakest in your organisation today? What happens as a result?"</a:t>
            </a:r>
          </a:p>
          <a:p>
            <a:endParaRPr lang="en-US" dirty="0"/>
          </a:p>
          <a:p>
            <a:r>
              <a:rPr lang="en-US" b="1" dirty="0"/>
              <a:t>2. Say what the reflection is for.</a:t>
            </a:r>
          </a:p>
          <a:p>
            <a:r>
              <a:rPr lang="en-US" dirty="0"/>
              <a:t>Point learners to the portal section that they will be required to complete with as much depth as possible. The reflections build the learning portfolio they receive at the end of the programme.</a:t>
            </a:r>
          </a:p>
          <a:p>
            <a:r>
              <a:rPr lang="en-US" dirty="0"/>
              <a:t>Say: "You write this reflection on the portal after the teaching, with as much depth as you can."</a:t>
            </a:r>
          </a:p>
          <a:p>
            <a:endParaRPr lang="en-US" dirty="0"/>
          </a:p>
          <a:p>
            <a:r>
              <a:rPr lang="en-US" b="1" dirty="0"/>
              <a:t>3. Set the standard.</a:t>
            </a:r>
          </a:p>
          <a:p>
            <a:r>
              <a:rPr lang="en-US" dirty="0"/>
              <a:t>Say: "Name one function only: Strategic Alignment, Decision Filter or Execution Coherence. </a:t>
            </a:r>
          </a:p>
          <a:p>
            <a:r>
              <a:rPr lang="en-US" dirty="0"/>
              <a:t>Describe a real situation in which the weakness showed: a decision, a meeting, a hand-off between functions. </a:t>
            </a:r>
          </a:p>
          <a:p>
            <a:r>
              <a:rPr lang="en-US" dirty="0"/>
              <a:t>Then give the result for the organisation."</a:t>
            </a:r>
          </a:p>
          <a:p>
            <a:endParaRPr lang="en-US" dirty="0"/>
          </a:p>
          <a:p>
            <a:r>
              <a:rPr lang="en-US" b="1" dirty="0"/>
              <a:t>4. Read the room.</a:t>
            </a:r>
          </a:p>
          <a:p>
            <a:r>
              <a:rPr lang="en-US" dirty="0"/>
              <a:t>Take a show of hands for each function and say what pattern the group shows.</a:t>
            </a:r>
          </a:p>
          <a:p>
            <a:endParaRPr lang="en-US" dirty="0"/>
          </a:p>
          <a:p>
            <a:r>
              <a:rPr lang="en-US" b="1" dirty="0"/>
              <a:t>5. Bridge to Section 3.</a:t>
            </a:r>
          </a:p>
          <a:p>
            <a:r>
              <a:rPr lang="en-US" b="1" dirty="0"/>
              <a:t>Say: </a:t>
            </a:r>
            <a:r>
              <a:rPr lang="en-US" dirty="0"/>
              <a:t>"We know what the Strategy Intent and SiP are for. </a:t>
            </a:r>
          </a:p>
          <a:p>
            <a:endParaRPr lang="en-US" dirty="0"/>
          </a:p>
          <a:p>
            <a:r>
              <a:rPr lang="en-US" dirty="0"/>
              <a:t>Section 3 looks closely at the SiP itself: what success looks like inside each domain, and what happens when one domain dominates the picture."</a:t>
            </a:r>
          </a:p>
          <a:p>
            <a:endParaRPr lang="en-US" dirty="0"/>
          </a:p>
          <a:p>
            <a:r>
              <a:rPr lang="en-US" b="1" dirty="0"/>
              <a:t>ON THE PORTAL, AFTER THE TEACHING:</a:t>
            </a:r>
          </a:p>
          <a:p>
            <a:r>
              <a:rPr lang="en-US" dirty="0"/>
              <a:t>Participants write the reflection in Section 2 of the participant file: 2.1 Reflection — Three Functions.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3 · EXTRAPOLATING — WHERE</a:t>
            </a:r>
          </a:p>
          <a:p>
            <a:endParaRPr lang="en-US" dirty="0"/>
          </a:p>
          <a:p>
            <a:r>
              <a:rPr lang="en-US" b="1" dirty="0"/>
              <a:t>HOW TO OPEN THE SECTION:</a:t>
            </a:r>
          </a:p>
          <a:p>
            <a:endParaRPr lang="en-US" dirty="0"/>
          </a:p>
          <a:p>
            <a:r>
              <a:rPr lang="en-US" b="1" dirty="0"/>
              <a:t>1. State the section intent.</a:t>
            </a:r>
          </a:p>
          <a:p>
            <a:r>
              <a:rPr lang="en-US" dirty="0"/>
              <a:t>Say: "We have established that Success in Practice answers a central question: If our Strategy Intent is successful, what should we see in practice? This section takes that question deeper."</a:t>
            </a:r>
          </a:p>
          <a:p>
            <a:endParaRPr lang="en-US" dirty="0"/>
          </a:p>
          <a:p>
            <a:r>
              <a:rPr lang="en-US" b="1" dirty="0"/>
              <a:t>SECTION LEARNING OUTCOMES:</a:t>
            </a:r>
          </a:p>
          <a:p>
            <a:r>
              <a:rPr lang="en-US" dirty="0"/>
              <a:t>1. Specify observable evidence of success across the four SiP domains.</a:t>
            </a:r>
            <a:r>
              <a:rPr lang="en-US" dirty="0" err="1"/>
              <a:t/>
            </a:r>
            <a:r>
              <a:rPr lang="en-US" dirty="0"/>
              <a:t/>
            </a:r>
          </a:p>
          <a:p>
            <a:r>
              <a:rPr lang="en-US" dirty="0"/>
              <a:t>2. Interpret gaps between intended success and current conditions to identify strategic misalignment.</a:t>
            </a:r>
          </a:p>
          <a:p>
            <a:endParaRPr lang="en-US" dirty="0"/>
          </a:p>
          <a:p>
            <a:r>
              <a:rPr lang="en-US" b="1" dirty="0"/>
              <a:t>2. Say why broad statements fall short.</a:t>
            </a:r>
          </a:p>
          <a:p>
            <a:r>
              <a:rPr lang="en-US" dirty="0"/>
              <a:t>Say: "Each of the four SiP domains covers an important part of organisational reality.</a:t>
            </a:r>
          </a:p>
          <a:p>
            <a:r>
              <a:rPr lang="en-US" dirty="0"/>
              <a:t>Leaders need to be able to recognise what success would actually look like when it begins to show up in practice."</a:t>
            </a:r>
          </a:p>
          <a:p>
            <a:endParaRPr lang="en-US" dirty="0"/>
          </a:p>
          <a:p>
            <a:r>
              <a:rPr lang="en-US" b="1" dirty="0"/>
              <a:t>3. Introduce the observable indicators.</a:t>
            </a:r>
          </a:p>
          <a:p>
            <a:r>
              <a:rPr lang="en-US" b="1" dirty="0"/>
              <a:t>Say: "</a:t>
            </a:r>
            <a:r>
              <a:rPr lang="en-US" dirty="0"/>
              <a:t>This is where observable indicators become useful. </a:t>
            </a:r>
          </a:p>
          <a:p>
            <a:r>
              <a:rPr lang="en-US" dirty="0"/>
              <a:t>The indicators help us examine each SiP domain more deeply. </a:t>
            </a:r>
          </a:p>
          <a:p>
            <a:r>
              <a:rPr lang="en-US" dirty="0"/>
              <a:t>They show the kinds of conditions we would expect to observe when that aspect of the Strategy Intent is working, as well as the signals that may indicate something is missing."</a:t>
            </a:r>
          </a:p>
          <a:p>
            <a:endParaRPr lang="en-US" dirty="0"/>
          </a:p>
          <a:p>
            <a:r>
              <a:rPr lang="en-US" b="1" dirty="0"/>
              <a:t>4. Introduce the second discipline: balance.</a:t>
            </a:r>
          </a:p>
          <a:p>
            <a:r>
              <a:rPr lang="en-US" dirty="0"/>
              <a:t>Say: "There is also a second discipline: balance across the four domains. </a:t>
            </a:r>
          </a:p>
          <a:p>
            <a:r>
              <a:rPr lang="en-US" dirty="0"/>
              <a:t>A leadership team can develop a strong picture of customer success while overlooking the operational capability required to deliver it. </a:t>
            </a:r>
          </a:p>
          <a:p>
            <a:r>
              <a:rPr lang="en-US" dirty="0"/>
              <a:t>It can describe an enabling culture without connecting that culture to enterprise value. </a:t>
            </a:r>
          </a:p>
          <a:p>
            <a:r>
              <a:rPr lang="en-US" dirty="0"/>
              <a:t>It can define strong financial outcomes without describing the customer, operational and people conditions required to produce them."</a:t>
            </a:r>
          </a:p>
          <a:p>
            <a:endParaRPr lang="en-US" dirty="0"/>
          </a:p>
          <a:p>
            <a:r>
              <a:rPr lang="en-US" b="1" dirty="0"/>
              <a:t>5. Name the two disciplines.</a:t>
            </a:r>
          </a:p>
          <a:p>
            <a:r>
              <a:rPr lang="en-US" dirty="0"/>
              <a:t>Say: "This section therefore develops two disciplines: Depth within each SiP domain. Balance across all four SiP domains."</a:t>
            </a:r>
          </a:p>
          <a:p>
            <a:r>
              <a:rPr lang="en-US" dirty="0"/>
              <a:t>Tell participants: both disciplines return in 4.3, where the worked example applies them, and in Section 5, where each group tests its own Success in Practice.</a:t>
            </a:r>
          </a:p>
          <a:p>
            <a:endParaRPr lang="en-US" dirty="0"/>
          </a:p>
          <a:p>
            <a:r>
              <a:rPr lang="en-US" b="1" dirty="0"/>
              <a:t>7. Say how the section runs.</a:t>
            </a:r>
          </a:p>
          <a:p>
            <a:r>
              <a:rPr lang="en-US" dirty="0"/>
              <a:t>Say: "We begin by examining the observable indicators within each domain. </a:t>
            </a:r>
          </a:p>
          <a:p>
            <a:r>
              <a:rPr lang="en-US" dirty="0"/>
              <a:t>We then examine what happens when one domain becomes dominant and begins to distort the organisation's overall picture of success."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(4 DOMAINS)</a:t>
            </a:r>
          </a:p>
          <a:p>
            <a:endParaRPr lang="en-US" dirty="0"/>
          </a:p>
          <a:p>
            <a:r>
              <a:rPr lang="en-US" b="1" dirty="0"/>
              <a:t>HOW TO TEACH IT:</a:t>
            </a:r>
          </a:p>
          <a:p>
            <a:endParaRPr lang="en-US" dirty="0"/>
          </a:p>
          <a:p>
            <a:r>
              <a:rPr lang="en-US" b="1" dirty="0"/>
              <a:t>1. Say what an observable indicator is for.</a:t>
            </a:r>
          </a:p>
          <a:p>
            <a:r>
              <a:rPr lang="en-US" b="1" dirty="0"/>
              <a:t>Say: </a:t>
            </a:r>
            <a:r>
              <a:rPr lang="en-US" dirty="0"/>
              <a:t>"Each SiP domain is examined through a set of observable indicators. </a:t>
            </a:r>
          </a:p>
          <a:p>
            <a:r>
              <a:rPr lang="en-US" dirty="0"/>
              <a:t>These indicators help leaders move from a broad description of success to the specific conditions through which that success would become visible in the organisation."</a:t>
            </a:r>
          </a:p>
          <a:p>
            <a:endParaRPr lang="en-US" dirty="0"/>
          </a:p>
          <a:p>
            <a:r>
              <a:rPr lang="en-US" b="1" dirty="0"/>
              <a:t>2. Explain the two positions.</a:t>
            </a:r>
          </a:p>
          <a:p>
            <a:r>
              <a:rPr lang="en-US" b="1" dirty="0"/>
              <a:t>Say: </a:t>
            </a:r>
            <a:r>
              <a:rPr lang="en-US" dirty="0"/>
              <a:t>"For every indicator, we examine two positions."</a:t>
            </a:r>
          </a:p>
          <a:p>
            <a:r>
              <a:rPr lang="en-US" b="1" dirty="0"/>
              <a:t>Say: </a:t>
            </a:r>
            <a:r>
              <a:rPr lang="en-US" dirty="0"/>
              <a:t>"When Working describes what we would expect to observe when that aspect of the SiP is functioning effectively."</a:t>
            </a:r>
          </a:p>
          <a:p>
            <a:r>
              <a:rPr lang="en-US" b="1" dirty="0"/>
              <a:t>Say: </a:t>
            </a:r>
            <a:r>
              <a:rPr lang="en-US" dirty="0"/>
              <a:t>"Signal of Absence describes what may become visible when that condition is weak, missing or disconnected from the Strategy Intent."</a:t>
            </a:r>
          </a:p>
          <a:p>
            <a:endParaRPr lang="en-US" dirty="0"/>
          </a:p>
          <a:p>
            <a:r>
              <a:rPr lang="en-US" b="1" dirty="0"/>
              <a:t>3. Say how the two positions are used.</a:t>
            </a:r>
          </a:p>
          <a:p>
            <a:r>
              <a:rPr lang="en-US" b="1" dirty="0"/>
              <a:t>Say: </a:t>
            </a:r>
            <a:r>
              <a:rPr lang="en-US" dirty="0"/>
              <a:t>"Use both positions to deepen the discussion. Sometimes the absence of a condition provides the clearest evidence of why it matters."</a:t>
            </a:r>
          </a:p>
          <a:p>
            <a:endParaRPr lang="en-US" dirty="0"/>
          </a:p>
          <a:p>
            <a:r>
              <a:rPr lang="en-US" b="1" dirty="0"/>
              <a:t>4. Place the indicators correctly.</a:t>
            </a:r>
          </a:p>
          <a:p>
            <a:r>
              <a:rPr lang="en-US" b="1" dirty="0"/>
              <a:t>Say: </a:t>
            </a:r>
            <a:r>
              <a:rPr lang="en-US" dirty="0"/>
              <a:t>"The indicators sit alongside the organisation's SiP. </a:t>
            </a:r>
          </a:p>
          <a:p>
            <a:r>
              <a:rPr lang="en-US" dirty="0"/>
              <a:t>They help leaders test, deepen and make observable the success they have defined."</a:t>
            </a:r>
          </a:p>
          <a:p>
            <a:endParaRPr lang="en-US" dirty="0"/>
          </a:p>
          <a:p>
            <a:r>
              <a:rPr lang="en-US" b="1" dirty="0"/>
              <a:t>5. Name the four domains and their indicators.</a:t>
            </a:r>
          </a:p>
          <a:p>
            <a:r>
              <a:rPr lang="en-US" dirty="0"/>
              <a:t>The slide shows the indicators in short form. Give the full names:</a:t>
            </a:r>
          </a:p>
          <a:p>
            <a:endParaRPr lang="en-US" dirty="0"/>
          </a:p>
          <a:p>
            <a:r>
              <a:rPr lang="en-US" dirty="0"/>
              <a:t>- D1 · Customer Experience &amp; Value: C — Connection Value · A — Access Value · R — Results Value · E — Effort Value</a:t>
            </a:r>
          </a:p>
          <a:p>
            <a:endParaRPr lang="en-US" dirty="0"/>
          </a:p>
          <a:p>
            <a:r>
              <a:rPr lang="en-US" dirty="0"/>
              <a:t>- D2 · Operational Capability: Priority Clarity · Decision Flow · Cross-Functional Coordination · Delivery Rhythm</a:t>
            </a:r>
          </a:p>
          <a:p>
            <a:endParaRPr lang="en-US" dirty="0"/>
          </a:p>
          <a:p>
            <a:r>
              <a:rPr lang="en-US" dirty="0"/>
              <a:t>- D3 · People &amp; Culture: Cross-Boundary Collaboration · Ownership Culture · Strategic Alignment · Dialogue Quality</a:t>
            </a:r>
          </a:p>
          <a:p>
            <a:endParaRPr lang="en-US" dirty="0"/>
          </a:p>
          <a:p>
            <a:r>
              <a:rPr lang="en-US" dirty="0"/>
              <a:t>- D4 · Enterprise Value: Growth Trajectory · Profitability Quality · Market Position · Value Durability</a:t>
            </a:r>
          </a:p>
          <a:p>
            <a:endParaRPr lang="en-US" dirty="0"/>
          </a:p>
          <a:p>
            <a:r>
              <a:rPr lang="en-US" dirty="0"/>
              <a:t>Say: "No domain is a single metric."</a:t>
            </a:r>
          </a:p>
          <a:p>
            <a:endParaRPr lang="en-US" dirty="0"/>
          </a:p>
          <a:p>
            <a:r>
              <a:rPr lang="en-US" b="1" dirty="0"/>
              <a:t>6. Bridge to the next slide.</a:t>
            </a:r>
          </a:p>
          <a:p>
            <a:r>
              <a:rPr lang="en-US" dirty="0"/>
              <a:t>Say: "The next four slides take one domain each. For every indicator we look at When Working, then at the Signal of Absence."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 D1 · CUSTOMER EXPERIENCE &amp; VALUE</a:t>
            </a:r>
          </a:p>
          <a:p>
            <a:endParaRPr lang="en-US" dirty="0"/>
          </a:p>
          <a:p>
            <a:r>
              <a:rPr lang="en-US" b="1" dirty="0"/>
              <a:t>HOW TO TEACH IT:</a:t>
            </a:r>
          </a:p>
          <a:p>
            <a:endParaRPr lang="en-US" dirty="0"/>
          </a:p>
          <a:p>
            <a:r>
              <a:rPr lang="en-US" b="1" dirty="0"/>
              <a:t>1. Introduce the domain.</a:t>
            </a:r>
          </a:p>
          <a:p>
            <a:r>
              <a:rPr lang="en-US" b="1" dirty="0"/>
              <a:t>Say</a:t>
            </a:r>
            <a:r>
              <a:rPr lang="en-US" dirty="0"/>
              <a:t>: "This domain is Customer Experience &amp; Value. </a:t>
            </a:r>
          </a:p>
          <a:p>
            <a:r>
              <a:rPr lang="en-US" dirty="0"/>
              <a:t>Customers encounter the organisation through People, Processes, Products and Platforms, and experience four forms of value: the CARE Model."</a:t>
            </a:r>
          </a:p>
          <a:p>
            <a:endParaRPr lang="en-US" dirty="0"/>
          </a:p>
          <a:p>
            <a:r>
              <a:rPr lang="en-US" b="1" dirty="0"/>
              <a:t>Add: </a:t>
            </a:r>
            <a:r>
              <a:rPr lang="en-US" dirty="0"/>
              <a:t>"Each of the four is the source of one form of value. People: Connection Value. Platforms: Access Value. Products: Results Value. Processes: Effort Value.“</a:t>
            </a:r>
          </a:p>
          <a:p>
            <a:endParaRPr lang="en-US" dirty="0"/>
          </a:p>
          <a:p>
            <a:r>
              <a:rPr lang="en-US" b="1" dirty="0"/>
              <a:t>For each domain, teach the positive indicator and ask for the results of the missing indicator.</a:t>
            </a:r>
          </a:p>
          <a:p>
            <a:endParaRPr lang="en-US" dirty="0"/>
          </a:p>
          <a:p>
            <a:r>
              <a:rPr lang="en-US" b="1" dirty="0"/>
              <a:t>2. C — Connection Value.</a:t>
            </a:r>
          </a:p>
          <a:p>
            <a:r>
              <a:rPr lang="en-US" dirty="0"/>
              <a:t>When Working, say: "Customers feel understood, respected, and supported. </a:t>
            </a:r>
          </a:p>
          <a:p>
            <a:r>
              <a:rPr lang="en-US" dirty="0"/>
              <a:t>The people representing the organisation genuinely care about their problem."</a:t>
            </a:r>
          </a:p>
          <a:p>
            <a:endParaRPr lang="en-US" dirty="0"/>
          </a:p>
          <a:p>
            <a:r>
              <a:rPr lang="en-US" b="1" dirty="0"/>
              <a:t>Add: </a:t>
            </a:r>
            <a:r>
              <a:rPr lang="en-US" dirty="0"/>
              <a:t>"Customers trust that the care extends beyond the transaction."</a:t>
            </a:r>
          </a:p>
          <a:p>
            <a:endParaRPr lang="en-US" dirty="0"/>
          </a:p>
          <a:p>
            <a:r>
              <a:rPr lang="en-US" b="1" dirty="0"/>
              <a:t>Signal of Absence, ask and listen for</a:t>
            </a:r>
            <a:r>
              <a:rPr lang="en-US" dirty="0"/>
              <a:t>: "Customers describe interactions as transactional, impersonal, or difficult. They feel processed."</a:t>
            </a:r>
          </a:p>
          <a:p>
            <a:endParaRPr lang="en-US" dirty="0"/>
          </a:p>
          <a:p>
            <a:r>
              <a:rPr lang="en-US" b="1" dirty="0"/>
              <a:t>3. A — Access Value.</a:t>
            </a:r>
          </a:p>
          <a:p>
            <a:r>
              <a:rPr lang="en-US" b="1" dirty="0"/>
              <a:t>When Working, say: </a:t>
            </a:r>
            <a:r>
              <a:rPr lang="en-US" dirty="0"/>
              <a:t>"Customers can interact quickly, easily, and reliably through their preferred channels.</a:t>
            </a:r>
          </a:p>
          <a:p>
            <a:r>
              <a:rPr lang="en-US" dirty="0"/>
              <a:t>Availability and responsiveness are consistent."</a:t>
            </a:r>
          </a:p>
          <a:p>
            <a:endParaRPr lang="en-US" dirty="0"/>
          </a:p>
          <a:p>
            <a:r>
              <a:rPr lang="en-US" b="1" dirty="0"/>
              <a:t>Signal of Absence, ask and listen for</a:t>
            </a:r>
            <a:r>
              <a:rPr lang="en-US" dirty="0"/>
              <a:t>: "Customers describe friction, unavailability, or inconsistency. Digital and service channels feel designed for the organisation's convenience."</a:t>
            </a:r>
          </a:p>
          <a:p>
            <a:endParaRPr lang="en-US" dirty="0"/>
          </a:p>
          <a:p>
            <a:r>
              <a:rPr lang="en-US" b="1" dirty="0"/>
              <a:t>Deepen, say: </a:t>
            </a:r>
            <a:r>
              <a:rPr lang="en-US" dirty="0"/>
              <a:t>"Organisations that want to serve their stakeholders consistently cannot leave that service to individual discretion. </a:t>
            </a:r>
          </a:p>
          <a:p>
            <a:r>
              <a:rPr lang="en-US" dirty="0"/>
              <a:t>The most reliable provision is built into the institutional rhythm and does not depend on the surplus or the mood of the current leadership."</a:t>
            </a:r>
          </a:p>
          <a:p>
            <a:r>
              <a:rPr lang="en-US" dirty="0"/>
              <a:t>(Insight: Structured into the rhythm. Source: Journal, 25 March 2026 — Professional Insights)</a:t>
            </a:r>
          </a:p>
          <a:p>
            <a:endParaRPr lang="en-US" dirty="0"/>
          </a:p>
          <a:p>
            <a:r>
              <a:rPr lang="en-US" b="1" dirty="0"/>
              <a:t>4. R — Results Value.</a:t>
            </a:r>
          </a:p>
          <a:p>
            <a:r>
              <a:rPr lang="en-US" b="1" dirty="0"/>
              <a:t>When Working, say: </a:t>
            </a:r>
            <a:r>
              <a:rPr lang="en-US" dirty="0"/>
              <a:t>"Customers receive solutions that actually solve their problems and improve their outcomes. </a:t>
            </a:r>
          </a:p>
          <a:p>
            <a:r>
              <a:rPr lang="en-US" dirty="0"/>
              <a:t>Performance is reliable; the product does what it promises."</a:t>
            </a:r>
          </a:p>
          <a:p>
            <a:endParaRPr lang="en-US" dirty="0"/>
          </a:p>
          <a:p>
            <a:r>
              <a:rPr lang="en-US" b="1" dirty="0"/>
              <a:t>Signal of Absence, ask and listen for</a:t>
            </a:r>
            <a:r>
              <a:rPr lang="en-US" dirty="0"/>
              <a:t>: "Customers report that the offering underdelivers against its stated value. </a:t>
            </a:r>
          </a:p>
          <a:p>
            <a:r>
              <a:rPr lang="en-US" dirty="0"/>
              <a:t>Complaints cluster around gaps between promise and performance."</a:t>
            </a:r>
          </a:p>
          <a:p>
            <a:endParaRPr lang="en-US" dirty="0"/>
          </a:p>
          <a:p>
            <a:r>
              <a:rPr lang="en-US" b="1" dirty="0"/>
              <a:t>5. E — Effort Value.</a:t>
            </a:r>
          </a:p>
          <a:p>
            <a:r>
              <a:rPr lang="en-US" b="1" dirty="0"/>
              <a:t>When Working, say: </a:t>
            </a:r>
            <a:r>
              <a:rPr lang="en-US" dirty="0"/>
              <a:t>"Customers experience simple, predictable processes that require minimal effort. </a:t>
            </a:r>
          </a:p>
          <a:p>
            <a:r>
              <a:rPr lang="en-US" dirty="0"/>
              <a:t>Complexity is absorbed by the organisation."</a:t>
            </a:r>
          </a:p>
          <a:p>
            <a:endParaRPr lang="en-US" dirty="0"/>
          </a:p>
          <a:p>
            <a:r>
              <a:rPr lang="en-US" dirty="0"/>
              <a:t>Add: "No complexity is passed to the customer."</a:t>
            </a:r>
          </a:p>
          <a:p>
            <a:endParaRPr lang="en-US" dirty="0"/>
          </a:p>
          <a:p>
            <a:r>
              <a:rPr lang="en-US" b="1" dirty="0"/>
              <a:t>Signal of Absence, ask and listen for</a:t>
            </a:r>
            <a:r>
              <a:rPr lang="en-US" dirty="0"/>
              <a:t>: "Customers describe the experience as complicated, slow, or requiring too many steps. </a:t>
            </a:r>
          </a:p>
          <a:p>
            <a:r>
              <a:rPr lang="en-US" dirty="0"/>
              <a:t>They feel they are doing the organisation's job for it."</a:t>
            </a:r>
          </a:p>
          <a:p>
            <a:endParaRPr lang="en-US" dirty="0"/>
          </a:p>
          <a:p>
            <a:r>
              <a:rPr lang="en-US" b="1" dirty="0"/>
              <a:t>Stay longest here. </a:t>
            </a:r>
            <a:r>
              <a:rPr lang="en-US" dirty="0"/>
              <a:t>Effort Value asks who carries the complexity: the customer or the organisation.</a:t>
            </a:r>
          </a:p>
          <a:p>
            <a:endParaRPr lang="en-US" dirty="0"/>
          </a:p>
          <a:p>
            <a:r>
              <a:rPr lang="en-US" b="1" dirty="0"/>
              <a:t>Ask: </a:t>
            </a:r>
            <a:r>
              <a:rPr lang="en-US" dirty="0"/>
              <a:t>"Where does your customer carry effort or complexity that the organisation should absorb?"</a:t>
            </a:r>
          </a:p>
          <a:p>
            <a:endParaRPr lang="en-US" dirty="0"/>
          </a:p>
          <a:p>
            <a:r>
              <a:rPr lang="en-US" b="1" dirty="0"/>
              <a:t>6. Ask the room what it recognises.</a:t>
            </a:r>
          </a:p>
          <a:p>
            <a:r>
              <a:rPr lang="en-US" b="1" dirty="0"/>
              <a:t>Ask</a:t>
            </a:r>
            <a:r>
              <a:rPr lang="en-US" dirty="0"/>
              <a:t>: "Which of the four forms of value would your customers say they receive from you most reliably? Which would they name last?"</a:t>
            </a:r>
          </a:p>
          <a:p>
            <a:r>
              <a:rPr lang="en-US" b="1" dirty="0"/>
              <a:t>Ask</a:t>
            </a:r>
            <a:r>
              <a:rPr lang="en-US" dirty="0"/>
              <a:t>: "Which of these signals of absence do you already hear in your customers’ complaints?"</a:t>
            </a:r>
          </a:p>
          <a:p>
            <a:endParaRPr lang="en-US" dirty="0"/>
          </a:p>
          <a:p>
            <a:r>
              <a:rPr lang="en-US" dirty="0"/>
              <a:t>Take two or three answers. Keep the discussion on what can be observed: what a customer, an employee or a board member would see or hear.</a:t>
            </a:r>
          </a:p>
          <a:p>
            <a:endParaRPr lang="en-US" dirty="0"/>
          </a:p>
          <a:p>
            <a:r>
              <a:rPr lang="en-US" b="1" dirty="0"/>
              <a:t>7. Link the domain to Section 5.</a:t>
            </a:r>
          </a:p>
          <a:p>
            <a:r>
              <a:rPr lang="en-US" dirty="0"/>
              <a:t>Say: "In Section 5 your group writes one Customer Experience &amp; Value statement. </a:t>
            </a:r>
          </a:p>
          <a:p>
            <a:r>
              <a:rPr lang="en-US" dirty="0"/>
              <a:t>The lead question is: If the intent succeeds, what should customers and other value recipients see and experience? </a:t>
            </a:r>
          </a:p>
          <a:p>
            <a:r>
              <a:rPr lang="en-US" dirty="0"/>
              <a:t>These indicators deepen that discussion. The statement itself stays focused on your own Strategy Intent."</a:t>
            </a:r>
          </a:p>
          <a:p>
            <a:endParaRPr lang="en-US" dirty="0"/>
          </a:p>
          <a:p>
            <a:r>
              <a:rPr lang="en-US" b="1" dirty="0"/>
              <a:t>8. Bridge to the next domain.</a:t>
            </a:r>
          </a:p>
          <a:p>
            <a:r>
              <a:rPr lang="en-US" dirty="0"/>
              <a:t>Say: "Next: D2, how the organisation operates and executes."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 D2 · OPERATIONAL CAPABILITY</a:t>
            </a:r>
          </a:p>
          <a:p>
            <a:endParaRPr lang="en-US" dirty="0"/>
          </a:p>
          <a:p>
            <a:r>
              <a:rPr lang="en-US" b="1" dirty="0"/>
              <a:t>HOW TO TEACH IT:</a:t>
            </a:r>
          </a:p>
          <a:p>
            <a:endParaRPr lang="en-US" dirty="0"/>
          </a:p>
          <a:p>
            <a:r>
              <a:rPr lang="en-US" b="1" dirty="0"/>
              <a:t>1. Introduce the domain.</a:t>
            </a:r>
          </a:p>
          <a:p>
            <a:r>
              <a:rPr lang="en-US" b="1" dirty="0"/>
              <a:t>Say: "</a:t>
            </a:r>
            <a:r>
              <a:rPr lang="en-US" dirty="0"/>
              <a:t>This domain is Operational Capability &amp; Execution Rhythm. </a:t>
            </a:r>
          </a:p>
          <a:p>
            <a:r>
              <a:rPr lang="en-US" dirty="0"/>
              <a:t>It shows how the organisation operates internally when its strategy is translating into results. It is observable through four execution indicators."</a:t>
            </a:r>
          </a:p>
          <a:p>
            <a:r>
              <a:rPr lang="en-US" dirty="0"/>
              <a:t>The slide shows the When Working position of each indicator. </a:t>
            </a:r>
          </a:p>
          <a:p>
            <a:endParaRPr lang="en-US" b="1" dirty="0"/>
          </a:p>
          <a:p>
            <a:r>
              <a:rPr lang="en-US" b="1" dirty="0"/>
              <a:t>2. Priority Clarity.</a:t>
            </a:r>
          </a:p>
          <a:p>
            <a:r>
              <a:rPr lang="en-US" b="1" dirty="0"/>
              <a:t>When Working, say: </a:t>
            </a:r>
            <a:r>
              <a:rPr lang="en-US" dirty="0"/>
              <a:t>"Strategic priorities are explicit, stable, and understood across every function. </a:t>
            </a:r>
          </a:p>
          <a:p>
            <a:r>
              <a:rPr lang="en-US" dirty="0"/>
              <a:t>Leaders can state the top priorities without checking a document — and their answers match."</a:t>
            </a:r>
          </a:p>
          <a:p>
            <a:endParaRPr lang="en-US" dirty="0"/>
          </a:p>
          <a:p>
            <a:r>
              <a:rPr lang="en-US" b="1" dirty="0"/>
              <a:t>Signal of Absence, ask and listen for</a:t>
            </a:r>
            <a:r>
              <a:rPr lang="en-US" dirty="0"/>
              <a:t>: "Leaders describe different priorities. </a:t>
            </a:r>
          </a:p>
          <a:p>
            <a:r>
              <a:rPr lang="en-US" dirty="0"/>
              <a:t>Resources are spread across too many initiatives. Every function has a different view of what matters most."</a:t>
            </a:r>
          </a:p>
          <a:p>
            <a:endParaRPr lang="en-US" dirty="0"/>
          </a:p>
          <a:p>
            <a:r>
              <a:rPr lang="en-US" dirty="0"/>
              <a:t>Ask: "Could each leader in your executive team or people in the organisation state the top priorities without checking a document? </a:t>
            </a:r>
          </a:p>
          <a:p>
            <a:r>
              <a:rPr lang="en-US" dirty="0"/>
              <a:t>Would the answers match?"</a:t>
            </a:r>
          </a:p>
          <a:p>
            <a:endParaRPr lang="en-US" dirty="0"/>
          </a:p>
          <a:p>
            <a:r>
              <a:rPr lang="en-US" b="1" dirty="0"/>
              <a:t>3. Decision Flow.</a:t>
            </a:r>
          </a:p>
          <a:p>
            <a:r>
              <a:rPr lang="en-US" b="1" dirty="0"/>
              <a:t>When Working, say</a:t>
            </a:r>
            <a:r>
              <a:rPr lang="en-US" dirty="0"/>
              <a:t>: "Decisions are made at the right level, with the right information, at the right speed. </a:t>
            </a:r>
          </a:p>
          <a:p>
            <a:r>
              <a:rPr lang="en-US" dirty="0"/>
              <a:t>Authority is matched to accountability."</a:t>
            </a:r>
          </a:p>
          <a:p>
            <a:endParaRPr lang="en-US" dirty="0"/>
          </a:p>
          <a:p>
            <a:r>
              <a:rPr lang="en-US" b="1" dirty="0"/>
              <a:t>Add: </a:t>
            </a:r>
            <a:r>
              <a:rPr lang="en-US" dirty="0"/>
              <a:t>"The organisation does not bottleneck at the top.“</a:t>
            </a:r>
          </a:p>
          <a:p>
            <a:endParaRPr lang="en-ZA" b="1" dirty="0"/>
          </a:p>
          <a:p>
            <a:r>
              <a:rPr lang="en-ZA" b="1" dirty="0"/>
              <a:t>Ask </a:t>
            </a:r>
            <a:r>
              <a:rPr lang="en-ZA" dirty="0"/>
              <a:t>the difference between authority and accountability.</a:t>
            </a:r>
          </a:p>
          <a:p>
            <a:endParaRPr lang="en-ZA" dirty="0"/>
          </a:p>
          <a:p>
            <a:r>
              <a:rPr lang="en-ZA" b="1" dirty="0"/>
              <a:t>Say</a:t>
            </a:r>
            <a:r>
              <a:rPr lang="en-ZA" dirty="0"/>
              <a:t>: Authority is the right to make decisions and direct action; accountability is the obligation to answer for the results of those decisions and actions.</a:t>
            </a:r>
            <a:endParaRPr lang="en-US" dirty="0"/>
          </a:p>
          <a:p>
            <a:endParaRPr lang="en-US" dirty="0"/>
          </a:p>
          <a:p>
            <a:r>
              <a:rPr lang="en-US" b="1" dirty="0"/>
              <a:t>Signal of Absence, ask and listen for</a:t>
            </a:r>
            <a:r>
              <a:rPr lang="en-US" dirty="0"/>
              <a:t>: "Decisions queue upward and slow down. </a:t>
            </a:r>
          </a:p>
          <a:p>
            <a:r>
              <a:rPr lang="en-US" dirty="0"/>
              <a:t>Leaders feel they cannot act without approval. Strategic momentum is lost in governance process."</a:t>
            </a:r>
          </a:p>
          <a:p>
            <a:endParaRPr lang="en-US" dirty="0"/>
          </a:p>
          <a:p>
            <a:r>
              <a:rPr lang="en-US" b="1" dirty="0"/>
              <a:t>Add: </a:t>
            </a:r>
            <a:r>
              <a:rPr lang="en-US" dirty="0"/>
              <a:t>"It is the leaders below CXO level who feel they cannot act without approval."</a:t>
            </a:r>
          </a:p>
          <a:p>
            <a:endParaRPr lang="en-US" dirty="0"/>
          </a:p>
          <a:p>
            <a:r>
              <a:rPr lang="en-US" dirty="0"/>
              <a:t>Ask: "Where do decisions queue in your organisation, and who is waiting for them?"</a:t>
            </a:r>
          </a:p>
          <a:p>
            <a:endParaRPr lang="en-US" dirty="0"/>
          </a:p>
          <a:p>
            <a:r>
              <a:rPr lang="en-US" b="1" dirty="0"/>
              <a:t>4. Cross-Functional Coordination.</a:t>
            </a:r>
          </a:p>
          <a:p>
            <a:r>
              <a:rPr lang="en-US" b="1" dirty="0"/>
              <a:t>When Working, say: </a:t>
            </a:r>
            <a:r>
              <a:rPr lang="en-US" dirty="0"/>
              <a:t>"Hand-offs between functions are smooth, responsibilities are unambiguous, and execution friction is visible, named, and managed."</a:t>
            </a:r>
          </a:p>
          <a:p>
            <a:endParaRPr lang="en-US" dirty="0"/>
          </a:p>
          <a:p>
            <a:r>
              <a:rPr lang="en-US" b="1" dirty="0"/>
              <a:t>Signal of Absence, ask and listen for</a:t>
            </a:r>
            <a:r>
              <a:rPr lang="en-US" dirty="0"/>
              <a:t>: "Teams work hard in their own lanes but create problems at the boundaries.</a:t>
            </a:r>
          </a:p>
          <a:p>
            <a:r>
              <a:rPr lang="en-US" dirty="0"/>
              <a:t>Hand-offs are where value leaks. White space between functions is ungoverned."</a:t>
            </a:r>
          </a:p>
          <a:p>
            <a:endParaRPr lang="en-US" b="1" dirty="0"/>
          </a:p>
          <a:p>
            <a:r>
              <a:rPr lang="en-US" b="1" dirty="0"/>
              <a:t>Add: </a:t>
            </a:r>
            <a:r>
              <a:rPr lang="en-US" dirty="0"/>
              <a:t>"Execution friction that is silently absorbed goes unmanaged."</a:t>
            </a:r>
          </a:p>
          <a:p>
            <a:r>
              <a:rPr lang="en-US" b="1" dirty="0"/>
              <a:t>Ask: </a:t>
            </a:r>
            <a:r>
              <a:rPr lang="en-US" dirty="0"/>
              <a:t>"Which hand-off between two functions leaks the most value today?"</a:t>
            </a:r>
          </a:p>
          <a:p>
            <a:endParaRPr lang="en-US" dirty="0"/>
          </a:p>
          <a:p>
            <a:r>
              <a:rPr lang="en-US" b="1" dirty="0"/>
              <a:t>5. Delivery Rhythm.</a:t>
            </a:r>
          </a:p>
          <a:p>
            <a:r>
              <a:rPr lang="en-US" dirty="0"/>
              <a:t>When Working, say: "Teams operate to a predictable cadence — weekly, monthly, quarterly — and delivery is consistent and reliable across the enterprise."</a:t>
            </a:r>
          </a:p>
          <a:p>
            <a:endParaRPr lang="en-US" b="1" dirty="0"/>
          </a:p>
          <a:p>
            <a:r>
              <a:rPr lang="en-US" b="1" dirty="0"/>
              <a:t>Add: </a:t>
            </a:r>
            <a:r>
              <a:rPr lang="en-US" dirty="0"/>
              <a:t>"The cadence is weekly signal scanning, monthly performance reads, and quarterly strategic review."</a:t>
            </a:r>
          </a:p>
          <a:p>
            <a:endParaRPr lang="en-US" dirty="0"/>
          </a:p>
          <a:p>
            <a:r>
              <a:rPr lang="en-US" b="1" dirty="0"/>
              <a:t>Signal of Absence, ask and listen for</a:t>
            </a:r>
            <a:r>
              <a:rPr lang="en-US" dirty="0"/>
              <a:t>: "Execution is reactive and event-driven. Reviews happen only when there is a crisis."</a:t>
            </a:r>
          </a:p>
          <a:p>
            <a:endParaRPr lang="en-US" dirty="0"/>
          </a:p>
          <a:p>
            <a:r>
              <a:rPr lang="en-US" b="1" dirty="0"/>
              <a:t>Add: </a:t>
            </a:r>
            <a:r>
              <a:rPr lang="en-US" dirty="0"/>
              <a:t>"Review has not become a disciplined organisational habit, and delivery is variable and unpredictable."</a:t>
            </a:r>
          </a:p>
          <a:p>
            <a:endParaRPr lang="en-US" dirty="0"/>
          </a:p>
          <a:p>
            <a:r>
              <a:rPr lang="en-US" b="1" dirty="0"/>
              <a:t>Deepen, say</a:t>
            </a:r>
            <a:r>
              <a:rPr lang="en-US" dirty="0"/>
              <a:t>: "Sustained organisational presence requires daily tending. </a:t>
            </a:r>
          </a:p>
          <a:p>
            <a:r>
              <a:rPr lang="en-US" dirty="0"/>
              <a:t>Organisations that keep up the consistent daily act accumulate a depth of trust that occasional spectacular performance cannot replicate."</a:t>
            </a:r>
          </a:p>
          <a:p>
            <a:r>
              <a:rPr lang="en-US" dirty="0"/>
              <a:t>(Insight: Daily tending. Source: Journal, 23 February 2026 — Professional Insights: Strategy)</a:t>
            </a:r>
          </a:p>
          <a:p>
            <a:endParaRPr lang="en-US" dirty="0"/>
          </a:p>
          <a:p>
            <a:r>
              <a:rPr lang="en-US" b="1" dirty="0"/>
              <a:t>6. Ask the room what it recognises.</a:t>
            </a:r>
          </a:p>
          <a:p>
            <a:r>
              <a:rPr lang="en-US" b="1" dirty="0"/>
              <a:t>Ask: </a:t>
            </a:r>
            <a:r>
              <a:rPr lang="en-US" dirty="0"/>
              <a:t>"Which Signal of Absence in this domain do you recognise in your own organisation?"</a:t>
            </a:r>
          </a:p>
          <a:p>
            <a:r>
              <a:rPr lang="en-US" dirty="0"/>
              <a:t>Take two or three answers. Keep the discussion on what can be observed: what a customer, an employee or a board member would see or hear.</a:t>
            </a:r>
          </a:p>
          <a:p>
            <a:endParaRPr lang="en-US" dirty="0"/>
          </a:p>
          <a:p>
            <a:r>
              <a:rPr lang="en-US" b="1" dirty="0"/>
              <a:t>7. Link the domain to Section 5.</a:t>
            </a:r>
          </a:p>
          <a:p>
            <a:r>
              <a:rPr lang="en-US" dirty="0"/>
              <a:t>Say: "In Section 5 your group writes one Operational Capability &amp; Execution Rhythm statement. </a:t>
            </a:r>
          </a:p>
          <a:p>
            <a:r>
              <a:rPr lang="en-US" dirty="0"/>
              <a:t>The lead question is: If the intent succeeds, what should be visible in how the organisation operates and executes? </a:t>
            </a:r>
          </a:p>
          <a:p>
            <a:r>
              <a:rPr lang="en-US" dirty="0"/>
              <a:t>These indicators deepen that discussion. The statement itself stays focused on your own Strategy Intent."</a:t>
            </a:r>
          </a:p>
          <a:p>
            <a:endParaRPr lang="en-US" dirty="0"/>
          </a:p>
          <a:p>
            <a:r>
              <a:rPr lang="en-US" b="1" dirty="0"/>
              <a:t>8. Bridge to the next domain.</a:t>
            </a:r>
          </a:p>
          <a:p>
            <a:r>
              <a:rPr lang="en-US" dirty="0"/>
              <a:t>Say: "Next: D3, how people understand, decide and behave."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 D3 · PEOPLE &amp; CULTURE</a:t>
            </a:r>
          </a:p>
          <a:p>
            <a:endParaRPr lang="en-US" dirty="0"/>
          </a:p>
          <a:p>
            <a:r>
              <a:rPr lang="en-US" b="1" dirty="0"/>
              <a:t>HOW TO TEACH IT:</a:t>
            </a:r>
          </a:p>
          <a:p>
            <a:endParaRPr lang="en-US" dirty="0"/>
          </a:p>
          <a:p>
            <a:r>
              <a:rPr lang="en-US" b="1" dirty="0"/>
              <a:t>1. Introduce the domain.</a:t>
            </a:r>
          </a:p>
          <a:p>
            <a:r>
              <a:rPr lang="en-US" dirty="0"/>
              <a:t>Say: "This domain is People &amp; Culture Dynamics. It shows the observable behavioural patterns when the organisation is at its best, when culture is actively reinforcing the strategic direction."</a:t>
            </a:r>
          </a:p>
          <a:p>
            <a:endParaRPr lang="en-US" dirty="0"/>
          </a:p>
          <a:p>
            <a:r>
              <a:rPr lang="en-US" b="1" dirty="0"/>
              <a:t>2. Cross-Boundary Collaboration.</a:t>
            </a:r>
          </a:p>
          <a:p>
            <a:r>
              <a:rPr lang="en-US" dirty="0"/>
              <a:t>When Working, say: "People work across functional boundaries without being directed to. </a:t>
            </a:r>
          </a:p>
          <a:p>
            <a:r>
              <a:rPr lang="en-US" dirty="0"/>
              <a:t>Teams solve problems that belong to no single function because they own the enterprise outcome."</a:t>
            </a:r>
          </a:p>
          <a:p>
            <a:endParaRPr lang="en-US" dirty="0"/>
          </a:p>
          <a:p>
            <a:r>
              <a:rPr lang="en-US" b="1" dirty="0"/>
              <a:t>Add</a:t>
            </a:r>
            <a:r>
              <a:rPr lang="en-US" dirty="0"/>
              <a:t>: "Information is shared proactively."</a:t>
            </a:r>
          </a:p>
          <a:p>
            <a:endParaRPr lang="en-US" dirty="0"/>
          </a:p>
          <a:p>
            <a:r>
              <a:rPr lang="en-US" b="1" dirty="0"/>
              <a:t>Signal of Absence, ask and listen for</a:t>
            </a:r>
            <a:r>
              <a:rPr lang="en-US" dirty="0"/>
              <a:t>: "Silos are strong and quiet. </a:t>
            </a:r>
          </a:p>
          <a:p>
            <a:r>
              <a:rPr lang="en-US" dirty="0"/>
              <a:t>Cross-functional problems stay unresolved because no one is accountable for the boundary."</a:t>
            </a:r>
          </a:p>
          <a:p>
            <a:endParaRPr lang="en-US" dirty="0"/>
          </a:p>
          <a:p>
            <a:r>
              <a:rPr lang="en-US" b="1" dirty="0"/>
              <a:t>Add: </a:t>
            </a:r>
            <a:r>
              <a:rPr lang="en-US" dirty="0"/>
              <a:t>"Information is hoarded or filtered."</a:t>
            </a:r>
          </a:p>
          <a:p>
            <a:endParaRPr lang="en-US" dirty="0"/>
          </a:p>
          <a:p>
            <a:r>
              <a:rPr lang="en-US" b="1" dirty="0"/>
              <a:t>Ask:</a:t>
            </a:r>
            <a:r>
              <a:rPr lang="en-US" dirty="0"/>
              <a:t> "Which problem in your organisation belongs to no single function today? Who is carrying it?"</a:t>
            </a:r>
          </a:p>
          <a:p>
            <a:endParaRPr lang="en-US" dirty="0"/>
          </a:p>
          <a:p>
            <a:r>
              <a:rPr lang="en-US" b="1" dirty="0"/>
              <a:t>3. Ownership Culture.</a:t>
            </a:r>
          </a:p>
          <a:p>
            <a:r>
              <a:rPr lang="en-US" b="1" dirty="0"/>
              <a:t>When Working, say: </a:t>
            </a:r>
            <a:r>
              <a:rPr lang="en-US" dirty="0"/>
              <a:t>"Leaders and teams carry outcomes. </a:t>
            </a:r>
          </a:p>
          <a:p>
            <a:r>
              <a:rPr lang="en-US" dirty="0"/>
              <a:t>When something goes wrong, people step in because they care about the result."</a:t>
            </a:r>
          </a:p>
          <a:p>
            <a:endParaRPr lang="en-US" dirty="0"/>
          </a:p>
          <a:p>
            <a:r>
              <a:rPr lang="en-US" b="1" dirty="0"/>
              <a:t>Add: </a:t>
            </a:r>
            <a:r>
              <a:rPr lang="en-US" dirty="0"/>
              <a:t>"People step in without being required to. Accountability is cultural before it is structural."</a:t>
            </a:r>
          </a:p>
          <a:p>
            <a:endParaRPr lang="en-US" dirty="0"/>
          </a:p>
          <a:p>
            <a:r>
              <a:rPr lang="en-US" b="1" dirty="0"/>
              <a:t>Signal of Absence, ask and listen for</a:t>
            </a:r>
            <a:r>
              <a:rPr lang="en-US" dirty="0"/>
              <a:t>: "People complete tasks and declare them done, regardless of the downstream consequence. </a:t>
            </a:r>
          </a:p>
          <a:p>
            <a:r>
              <a:rPr lang="en-US" dirty="0"/>
              <a:t>Accountability is assigned but not felt."</a:t>
            </a:r>
          </a:p>
          <a:p>
            <a:endParaRPr lang="en-US" dirty="0"/>
          </a:p>
          <a:p>
            <a:r>
              <a:rPr lang="en-US" b="1" dirty="0"/>
              <a:t>Add</a:t>
            </a:r>
            <a:r>
              <a:rPr lang="en-US" dirty="0"/>
              <a:t>: "When something fails at a boundary, no one steps forward."</a:t>
            </a:r>
          </a:p>
          <a:p>
            <a:endParaRPr lang="en-US" dirty="0"/>
          </a:p>
          <a:p>
            <a:r>
              <a:rPr lang="en-US" b="1" dirty="0"/>
              <a:t>4. Strategic Alignment.</a:t>
            </a:r>
          </a:p>
          <a:p>
            <a:r>
              <a:rPr lang="en-US" b="1" dirty="0"/>
              <a:t>When Working, say: </a:t>
            </a:r>
            <a:r>
              <a:rPr lang="en-US" dirty="0"/>
              <a:t>"Teams connect their day-to-day actions to the enterprise strategy without being reminded. </a:t>
            </a:r>
          </a:p>
          <a:p>
            <a:r>
              <a:rPr lang="en-US" dirty="0"/>
              <a:t>When asked why they are doing something, they can trace it to the strategic intent."</a:t>
            </a:r>
          </a:p>
          <a:p>
            <a:endParaRPr lang="en-US" dirty="0"/>
          </a:p>
          <a:p>
            <a:r>
              <a:rPr lang="en-US" b="1" dirty="0"/>
              <a:t>Add: </a:t>
            </a:r>
            <a:r>
              <a:rPr lang="en-US" dirty="0"/>
              <a:t>"Leaders can trace what they are doing to both the strategic intent and the SiP."</a:t>
            </a:r>
          </a:p>
          <a:p>
            <a:endParaRPr lang="en-US" dirty="0"/>
          </a:p>
          <a:p>
            <a:r>
              <a:rPr lang="en-US" b="1" dirty="0"/>
              <a:t>Signal of Absence, ask and listen for</a:t>
            </a:r>
            <a:r>
              <a:rPr lang="en-US" dirty="0"/>
              <a:t>: "Teams are busy but unfocused. Actions are driven by habit or last year's priorities. </a:t>
            </a:r>
          </a:p>
          <a:p>
            <a:r>
              <a:rPr lang="en-US" dirty="0"/>
              <a:t>The strategy exists in the boardroom but not on the floor."</a:t>
            </a:r>
          </a:p>
          <a:p>
            <a:endParaRPr lang="en-US" dirty="0"/>
          </a:p>
          <a:p>
            <a:r>
              <a:rPr lang="en-US" b="1" dirty="0"/>
              <a:t>Add: </a:t>
            </a:r>
            <a:r>
              <a:rPr lang="en-US" dirty="0"/>
              <a:t>"Teams act on what the function has always done."</a:t>
            </a:r>
          </a:p>
          <a:p>
            <a:endParaRPr lang="en-US" dirty="0"/>
          </a:p>
          <a:p>
            <a:r>
              <a:rPr lang="en-US" b="1" dirty="0"/>
              <a:t>Ask: </a:t>
            </a:r>
            <a:r>
              <a:rPr lang="en-US" dirty="0"/>
              <a:t>"When your teams are asked why they are doing something, can they trace it to the strategic intent?"</a:t>
            </a:r>
          </a:p>
          <a:p>
            <a:endParaRPr lang="en-US" dirty="0"/>
          </a:p>
          <a:p>
            <a:r>
              <a:rPr lang="en-US" b="1" dirty="0"/>
              <a:t>5. Dialogue Quality.</a:t>
            </a:r>
          </a:p>
          <a:p>
            <a:r>
              <a:rPr lang="en-US" b="1" dirty="0"/>
              <a:t>When Working, say: </a:t>
            </a:r>
            <a:r>
              <a:rPr lang="en-US" dirty="0"/>
              <a:t>"Honest challenge, diverse perspective, and collective sense-making are normal. Disagreement surfaces before decisions are made."</a:t>
            </a:r>
          </a:p>
          <a:p>
            <a:endParaRPr lang="en-US" dirty="0"/>
          </a:p>
          <a:p>
            <a:r>
              <a:rPr lang="en-US" b="1" dirty="0"/>
              <a:t>Add: </a:t>
            </a:r>
            <a:r>
              <a:rPr lang="en-US" dirty="0"/>
              <a:t>"Leaders can say they do not know something without losing credibility."</a:t>
            </a:r>
          </a:p>
          <a:p>
            <a:endParaRPr lang="en-US" dirty="0"/>
          </a:p>
          <a:p>
            <a:r>
              <a:rPr lang="en-US" b="1" dirty="0"/>
              <a:t>Signal of Absence, ask and listen for</a:t>
            </a:r>
            <a:r>
              <a:rPr lang="en-US" dirty="0"/>
              <a:t>: "Meetings are performative. Consensus is assumed without being built. </a:t>
            </a:r>
          </a:p>
          <a:p>
            <a:r>
              <a:rPr lang="en-US" dirty="0"/>
              <a:t>The most important concerns are raised only in corridors."</a:t>
            </a:r>
          </a:p>
          <a:p>
            <a:endParaRPr lang="en-US" dirty="0"/>
          </a:p>
          <a:p>
            <a:r>
              <a:rPr lang="en-US" b="1" dirty="0"/>
              <a:t>Add: </a:t>
            </a:r>
            <a:r>
              <a:rPr lang="en-US" dirty="0"/>
              <a:t>"Fast, pattern-based thinking dominates and no deliberate, analytical thinking checks it."</a:t>
            </a:r>
          </a:p>
          <a:p>
            <a:endParaRPr lang="en-US" dirty="0"/>
          </a:p>
          <a:p>
            <a:r>
              <a:rPr lang="en-US" b="1" dirty="0"/>
              <a:t>Stay longest here. </a:t>
            </a:r>
            <a:r>
              <a:rPr lang="en-US" dirty="0"/>
              <a:t>Honest challenge is the condition for an honest discussion of the other three indicators.</a:t>
            </a:r>
          </a:p>
          <a:p>
            <a:endParaRPr lang="en-US" dirty="0"/>
          </a:p>
          <a:p>
            <a:r>
              <a:rPr lang="en-US" b="1" dirty="0"/>
              <a:t>Ask: </a:t>
            </a:r>
            <a:r>
              <a:rPr lang="en-US" dirty="0"/>
              <a:t>"Where are the most important concerns raised: in the meeting, or in the corridor afterwards?"</a:t>
            </a:r>
          </a:p>
          <a:p>
            <a:endParaRPr lang="en-US" dirty="0"/>
          </a:p>
          <a:p>
            <a:r>
              <a:rPr lang="en-US" b="1" dirty="0"/>
              <a:t>Deepen, say: </a:t>
            </a:r>
            <a:r>
              <a:rPr lang="en-US" dirty="0"/>
              <a:t>"The strongest cultural signal is how people are treated in the corridor, how decisions are made when no one is watching, and whether the language of the email matches the language of the boardroom. </a:t>
            </a:r>
          </a:p>
          <a:p>
            <a:r>
              <a:rPr lang="en-US" dirty="0"/>
              <a:t>If stated values show up only in formal settings, the culture has not yet landed. </a:t>
            </a:r>
          </a:p>
          <a:p>
            <a:r>
              <a:rPr lang="en-US" dirty="0"/>
              <a:t>Work on the small interactions at the edges and the centre will follow."</a:t>
            </a:r>
          </a:p>
          <a:p>
            <a:r>
              <a:rPr lang="en-US" dirty="0"/>
              <a:t>(Insight: Values at the edges. Source: Journal, 18 April 2026 — Professional Insights: Culture)</a:t>
            </a:r>
          </a:p>
          <a:p>
            <a:endParaRPr lang="en-US" dirty="0"/>
          </a:p>
          <a:p>
            <a:r>
              <a:rPr lang="en-US" b="1" dirty="0"/>
              <a:t>6. Ask the room what it recognises.</a:t>
            </a:r>
          </a:p>
          <a:p>
            <a:r>
              <a:rPr lang="en-US" b="1" dirty="0"/>
              <a:t>Ask: </a:t>
            </a:r>
            <a:r>
              <a:rPr lang="en-US" dirty="0"/>
              <a:t>"Which Signal of Absence in this domain do you recognise in your own organisation?"</a:t>
            </a:r>
          </a:p>
          <a:p>
            <a:endParaRPr lang="en-US" dirty="0"/>
          </a:p>
          <a:p>
            <a:r>
              <a:rPr lang="en-US" dirty="0"/>
              <a:t>Take two or three answers. Keep the discussion on what can be observed: what a customer, an employee or a board member would see or hear.</a:t>
            </a:r>
          </a:p>
          <a:p>
            <a:endParaRPr lang="en-US" dirty="0"/>
          </a:p>
          <a:p>
            <a:r>
              <a:rPr lang="en-US" b="1" dirty="0"/>
              <a:t>7. Link the domain to Section 5.</a:t>
            </a:r>
          </a:p>
          <a:p>
            <a:r>
              <a:rPr lang="en-US" b="1" dirty="0"/>
              <a:t>Say: </a:t>
            </a:r>
            <a:r>
              <a:rPr lang="en-US" dirty="0"/>
              <a:t>"In Section 5 your group writes one People &amp; Culture Dynamics statement. </a:t>
            </a:r>
          </a:p>
          <a:p>
            <a:r>
              <a:rPr lang="en-US" dirty="0"/>
              <a:t>The lead question is: If the intent succeeds, what should be visible in how people understand, decide and behave? </a:t>
            </a:r>
          </a:p>
          <a:p>
            <a:r>
              <a:rPr lang="en-US" dirty="0"/>
              <a:t>These indicators deepen that discussion. The statement itself stays focused on your own Strategy Intent."</a:t>
            </a:r>
          </a:p>
          <a:p>
            <a:endParaRPr lang="en-US" dirty="0"/>
          </a:p>
          <a:p>
            <a:r>
              <a:rPr lang="en-US" b="1" dirty="0"/>
              <a:t>8. Bridge to the next domain.</a:t>
            </a:r>
          </a:p>
          <a:p>
            <a:r>
              <a:rPr lang="en-US" dirty="0"/>
              <a:t>Say: "Next: D4, how the organisation benefits."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 D4 · ENTERPRISE VALUE</a:t>
            </a:r>
          </a:p>
          <a:p>
            <a:endParaRPr lang="en-US" dirty="0"/>
          </a:p>
          <a:p>
            <a:r>
              <a:rPr lang="en-US" b="1" dirty="0"/>
              <a:t>HOW TO TEACH IT:</a:t>
            </a:r>
          </a:p>
          <a:p>
            <a:endParaRPr lang="en-US" dirty="0"/>
          </a:p>
          <a:p>
            <a:r>
              <a:rPr lang="en-US" b="1" dirty="0"/>
              <a:t>1. Introduce the domain.</a:t>
            </a:r>
          </a:p>
          <a:p>
            <a:r>
              <a:rPr lang="en-US" b="1" dirty="0"/>
              <a:t>Say: </a:t>
            </a:r>
            <a:r>
              <a:rPr lang="en-US" dirty="0"/>
              <a:t>"This domain is Enterprise Value Creation.</a:t>
            </a:r>
          </a:p>
          <a:p>
            <a:r>
              <a:rPr lang="en-US" dirty="0"/>
              <a:t> It shows the commercial and strategic outcomes confirming the strategy is producing durable enterprise value."</a:t>
            </a:r>
          </a:p>
          <a:p>
            <a:endParaRPr lang="en-US" dirty="0"/>
          </a:p>
          <a:p>
            <a:r>
              <a:rPr lang="en-US" b="1" dirty="0"/>
              <a:t>2. Growth Trajectory.</a:t>
            </a:r>
          </a:p>
          <a:p>
            <a:r>
              <a:rPr lang="en-US" b="1" dirty="0"/>
              <a:t>When Working, say: </a:t>
            </a:r>
            <a:r>
              <a:rPr lang="en-US" dirty="0"/>
              <a:t>"Revenue, market share, and customer acquisition are moving in the direction the strategic intent predicted. </a:t>
            </a:r>
          </a:p>
          <a:p>
            <a:r>
              <a:rPr lang="en-US" dirty="0"/>
              <a:t>Growth is traceable to specific strategic choices."</a:t>
            </a:r>
          </a:p>
          <a:p>
            <a:endParaRPr lang="en-US" dirty="0"/>
          </a:p>
          <a:p>
            <a:r>
              <a:rPr lang="en-US" b="1" dirty="0"/>
              <a:t>Add</a:t>
            </a:r>
            <a:r>
              <a:rPr lang="en-US" dirty="0"/>
              <a:t>: "Growth is deliberate."</a:t>
            </a:r>
          </a:p>
          <a:p>
            <a:endParaRPr lang="en-US" dirty="0"/>
          </a:p>
          <a:p>
            <a:r>
              <a:rPr lang="en-US" b="1" dirty="0"/>
              <a:t>Signal of Absence, ask and listen for</a:t>
            </a:r>
            <a:r>
              <a:rPr lang="en-US" dirty="0"/>
              <a:t>: "Growth is inconsistent and driven by the market. </a:t>
            </a:r>
          </a:p>
          <a:p>
            <a:r>
              <a:rPr lang="en-US" dirty="0"/>
              <a:t>The strategy does not explain the results."</a:t>
            </a:r>
          </a:p>
          <a:p>
            <a:endParaRPr lang="en-US" dirty="0"/>
          </a:p>
          <a:p>
            <a:r>
              <a:rPr lang="en-US" b="1" dirty="0"/>
              <a:t>Add: </a:t>
            </a:r>
            <a:r>
              <a:rPr lang="en-US" dirty="0"/>
              <a:t>"Growth may be happening in arenas that were not part of the intended WHAT."</a:t>
            </a:r>
          </a:p>
          <a:p>
            <a:endParaRPr lang="en-US" dirty="0"/>
          </a:p>
          <a:p>
            <a:r>
              <a:rPr lang="en-US" b="1" dirty="0"/>
              <a:t>Ask: </a:t>
            </a:r>
            <a:r>
              <a:rPr lang="en-US" dirty="0"/>
              <a:t>"Can you trace your growth to specific strategic choices, or does the market explain it?"</a:t>
            </a:r>
          </a:p>
          <a:p>
            <a:endParaRPr lang="en-US" dirty="0"/>
          </a:p>
          <a:p>
            <a:r>
              <a:rPr lang="en-US" b="1" dirty="0"/>
              <a:t>3. Profitability Quality.</a:t>
            </a:r>
          </a:p>
          <a:p>
            <a:r>
              <a:rPr lang="en-US" b="1" dirty="0"/>
              <a:t>When Working, say: </a:t>
            </a:r>
            <a:r>
              <a:rPr lang="en-US" dirty="0"/>
              <a:t>"Margin discipline reflects deliberate value positioning. The organisation earns what its strategic intent says it should earn — its differentiation commands a premium."</a:t>
            </a:r>
          </a:p>
          <a:p>
            <a:endParaRPr lang="en-US" dirty="0"/>
          </a:p>
          <a:p>
            <a:r>
              <a:rPr lang="en-US" b="1" dirty="0"/>
              <a:t>Add: </a:t>
            </a:r>
            <a:r>
              <a:rPr lang="en-US" dirty="0"/>
              <a:t>"The premium is earned because the organisation has chosen arenas where its differentiation commands it."</a:t>
            </a:r>
          </a:p>
          <a:p>
            <a:endParaRPr lang="en-US" dirty="0"/>
          </a:p>
          <a:p>
            <a:r>
              <a:rPr lang="en-US" b="1" dirty="0"/>
              <a:t>Signal of Absence, ask and listen for</a:t>
            </a:r>
            <a:r>
              <a:rPr lang="en-US" dirty="0"/>
              <a:t>: "Margin pressure is treated as a market problem when its root is positioning. </a:t>
            </a:r>
          </a:p>
          <a:p>
            <a:r>
              <a:rPr lang="en-US" dirty="0"/>
              <a:t>The organisation competes on price because its WHY is insufficiently differentiated."</a:t>
            </a:r>
          </a:p>
          <a:p>
            <a:endParaRPr lang="en-US" dirty="0"/>
          </a:p>
          <a:p>
            <a:r>
              <a:rPr lang="en-US" b="1" dirty="0"/>
              <a:t>4. Market Position.</a:t>
            </a:r>
          </a:p>
          <a:p>
            <a:r>
              <a:rPr lang="en-US" b="1" dirty="0"/>
              <a:t>When Working, say: </a:t>
            </a:r>
            <a:r>
              <a:rPr lang="en-US" dirty="0"/>
              <a:t>"The organisation occupies the competitive position its strategic intent described. </a:t>
            </a:r>
          </a:p>
          <a:p>
            <a:r>
              <a:rPr lang="en-US" dirty="0"/>
              <a:t>Stakeholders describe the organisation in the language the SiP predicted."</a:t>
            </a:r>
          </a:p>
          <a:p>
            <a:endParaRPr lang="en-US" dirty="0"/>
          </a:p>
          <a:p>
            <a:r>
              <a:rPr lang="en-US" b="1" dirty="0"/>
              <a:t>Add: </a:t>
            </a:r>
            <a:r>
              <a:rPr lang="en-US" dirty="0"/>
              <a:t>"The stakeholders in question are customers, partners, analysts and employees."</a:t>
            </a:r>
          </a:p>
          <a:p>
            <a:endParaRPr lang="en-US" dirty="0"/>
          </a:p>
          <a:p>
            <a:r>
              <a:rPr lang="en-US" b="1" dirty="0"/>
              <a:t>Signal of Absence, ask and listen for</a:t>
            </a:r>
            <a:r>
              <a:rPr lang="en-US" dirty="0"/>
              <a:t>: "The organisation's external reputation does not match its internal self-description. </a:t>
            </a:r>
          </a:p>
          <a:p>
            <a:r>
              <a:rPr lang="en-US" dirty="0"/>
              <a:t>The strategy has not translated into a distinctive market position."</a:t>
            </a:r>
          </a:p>
          <a:p>
            <a:endParaRPr lang="en-US" dirty="0"/>
          </a:p>
          <a:p>
            <a:r>
              <a:rPr lang="en-US" b="1" dirty="0"/>
              <a:t>Add: </a:t>
            </a:r>
            <a:r>
              <a:rPr lang="en-US" dirty="0"/>
              <a:t>"The strategy exists on paper only."</a:t>
            </a:r>
          </a:p>
          <a:p>
            <a:endParaRPr lang="en-US" b="1" dirty="0"/>
          </a:p>
          <a:p>
            <a:r>
              <a:rPr lang="en-US" b="1" dirty="0"/>
              <a:t>Ask: </a:t>
            </a:r>
            <a:r>
              <a:rPr lang="en-US" dirty="0"/>
              <a:t>"Do stakeholders describe your organisation in the words you would use yourselves?"</a:t>
            </a:r>
          </a:p>
          <a:p>
            <a:endParaRPr lang="en-US" dirty="0"/>
          </a:p>
          <a:p>
            <a:r>
              <a:rPr lang="en-US" b="1" dirty="0"/>
              <a:t>5. Value Durability.</a:t>
            </a:r>
          </a:p>
          <a:p>
            <a:r>
              <a:rPr lang="en-US" b="1" dirty="0"/>
              <a:t>When Working, say: </a:t>
            </a:r>
            <a:r>
              <a:rPr lang="en-US" dirty="0"/>
              <a:t>"The conditions that made success possible — talent, brand trust, infrastructure, ecosystem relationships, financial health — are being actively reinvested in and strengthened."</a:t>
            </a:r>
          </a:p>
          <a:p>
            <a:endParaRPr lang="en-US" dirty="0"/>
          </a:p>
          <a:p>
            <a:r>
              <a:rPr lang="en-US" b="1" dirty="0"/>
              <a:t>Add: </a:t>
            </a:r>
            <a:r>
              <a:rPr lang="en-US" dirty="0"/>
              <a:t>"The organisation is building moats."</a:t>
            </a:r>
          </a:p>
          <a:p>
            <a:endParaRPr lang="en-US" dirty="0"/>
          </a:p>
          <a:p>
            <a:r>
              <a:rPr lang="en-US" b="1" dirty="0"/>
              <a:t>Signal of Absence, ask and listen for</a:t>
            </a:r>
            <a:r>
              <a:rPr lang="en-US" dirty="0"/>
              <a:t>: "The organisation is harvesting value faster than it is creating it. </a:t>
            </a:r>
          </a:p>
          <a:p>
            <a:r>
              <a:rPr lang="en-US" dirty="0"/>
              <a:t>Short-term results come at the cost of the capabilities that make future success possible."</a:t>
            </a:r>
          </a:p>
          <a:p>
            <a:endParaRPr lang="en-US" dirty="0"/>
          </a:p>
          <a:p>
            <a:r>
              <a:rPr lang="en-US" b="1" dirty="0"/>
              <a:t>Add: </a:t>
            </a:r>
            <a:r>
              <a:rPr lang="en-US" dirty="0"/>
              <a:t>"Short-term results also cost the relationships that make future success possible."</a:t>
            </a:r>
          </a:p>
          <a:p>
            <a:endParaRPr lang="en-US" dirty="0"/>
          </a:p>
          <a:p>
            <a:r>
              <a:rPr lang="en-US" b="1" dirty="0"/>
              <a:t>Stay longest here. </a:t>
            </a:r>
            <a:r>
              <a:rPr lang="en-US" dirty="0"/>
              <a:t>Value Durability is the SUSTAINS layer of the Value Triad, the layer most organisations under-invest in.</a:t>
            </a:r>
          </a:p>
          <a:p>
            <a:endParaRPr lang="en-US" dirty="0"/>
          </a:p>
          <a:p>
            <a:r>
              <a:rPr lang="en-US" b="1" dirty="0"/>
              <a:t>Ask: </a:t>
            </a:r>
            <a:r>
              <a:rPr lang="en-US" dirty="0"/>
              <a:t>"Which condition of your future success are you reinvesting in least?"</a:t>
            </a:r>
          </a:p>
          <a:p>
            <a:endParaRPr lang="en-US" dirty="0"/>
          </a:p>
          <a:p>
            <a:r>
              <a:rPr lang="en-US" b="1" dirty="0"/>
              <a:t>Deepen, say: </a:t>
            </a:r>
            <a:r>
              <a:rPr lang="en-US" dirty="0"/>
              <a:t>"Leaders who build structures to survive scarcity and crisis, and none to survive abundance and success, have protected against the wrong threat. Organisations that collapse in prosperity forget what made the prosperity possible."</a:t>
            </a:r>
          </a:p>
          <a:p>
            <a:r>
              <a:rPr lang="en-US" dirty="0"/>
              <a:t>(Insight: Surviving success. Source: Journal, 22 March 2026 — Professional Insights)</a:t>
            </a:r>
          </a:p>
          <a:p>
            <a:endParaRPr lang="en-US" dirty="0"/>
          </a:p>
          <a:p>
            <a:r>
              <a:rPr lang="en-US" b="1" dirty="0"/>
              <a:t>6. Ask the room what it recognises.</a:t>
            </a:r>
          </a:p>
          <a:p>
            <a:r>
              <a:rPr lang="en-US" b="1" dirty="0"/>
              <a:t>Ask: </a:t>
            </a:r>
            <a:r>
              <a:rPr lang="en-US" dirty="0"/>
              <a:t>"Which Signal of Absence in this domain do you recognise in your own organisation?"</a:t>
            </a:r>
          </a:p>
          <a:p>
            <a:r>
              <a:rPr lang="en-US" dirty="0"/>
              <a:t>Take two or three answers. Keep the discussion on what can be observed: what a customer, an employee or a board member would see or hear.</a:t>
            </a:r>
          </a:p>
          <a:p>
            <a:endParaRPr lang="en-US" dirty="0"/>
          </a:p>
          <a:p>
            <a:r>
              <a:rPr lang="en-US" b="1" dirty="0"/>
              <a:t>7. Link the domain to Section 5.</a:t>
            </a:r>
          </a:p>
          <a:p>
            <a:r>
              <a:rPr lang="en-US" b="1" dirty="0"/>
              <a:t>Say: </a:t>
            </a:r>
            <a:r>
              <a:rPr lang="en-US" dirty="0"/>
              <a:t>"In Section 5 your group writes one Enterprise Value Creation statement</a:t>
            </a:r>
          </a:p>
          <a:p>
            <a:r>
              <a:rPr lang="en-US" dirty="0"/>
              <a:t>. The lead question is: If the intent succeeds, how should the organisation benefit across its success metrics? These indicators deepen that discussion. The statement itself stays focused on your own Strategy Intent."</a:t>
            </a:r>
          </a:p>
          <a:p>
            <a:endParaRPr lang="en-US" dirty="0"/>
          </a:p>
          <a:p>
            <a:r>
              <a:rPr lang="en-US" b="1" dirty="0"/>
              <a:t>8. Bridge to 3.2.</a:t>
            </a:r>
          </a:p>
          <a:p>
            <a:r>
              <a:rPr lang="en-US" dirty="0"/>
              <a:t>Say: "We have looked at depth within each domain. Next we look at balance across all four."</a:t>
            </a:r>
          </a:p>
          <a:p>
            <a:endParaRPr lang="en-US" dirty="0"/>
          </a:p>
          <a:p>
            <a:r>
              <a:rPr lang="en-US" b="1" dirty="0"/>
              <a:t>ON THE PORTAL, AFTER THE TEACHING:</a:t>
            </a:r>
          </a:p>
          <a:p>
            <a:r>
              <a:rPr lang="en-US" dirty="0"/>
              <a:t>Participants write the 3.1 reflection: "From your assigned executive leader role: which SiP domain shows the most significant gaps in your organisation right now? What is the primary cause?"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3.2 — SiP FLAMMABLES: WHEN THE PICTURE OF SUCCESS BECOMES DISTORTED (4 RISK PATTERNS)</a:t>
            </a:r>
          </a:p>
          <a:p>
            <a:endParaRPr lang="en-US" dirty="0"/>
          </a:p>
          <a:p>
            <a:r>
              <a:rPr lang="en-US" b="1" dirty="0"/>
              <a:t>HOW TO TEACH IT:</a:t>
            </a:r>
          </a:p>
          <a:p>
            <a:endParaRPr lang="en-US" dirty="0"/>
          </a:p>
          <a:p>
            <a:r>
              <a:rPr lang="en-US" b="1" dirty="0"/>
              <a:t>1. Start from one reality.</a:t>
            </a:r>
          </a:p>
          <a:p>
            <a:r>
              <a:rPr lang="en-US" dirty="0"/>
              <a:t>Say: "The four SiP domains are designed to describe one organisational reality."</a:t>
            </a:r>
          </a:p>
          <a:p>
            <a:endParaRPr lang="en-US" dirty="0"/>
          </a:p>
          <a:p>
            <a:r>
              <a:rPr lang="en-US" b="1" dirty="0"/>
              <a:t>2. Start from legitimacy.</a:t>
            </a:r>
          </a:p>
          <a:p>
            <a:r>
              <a:rPr lang="en-US" b="1" dirty="0"/>
              <a:t>Say: </a:t>
            </a:r>
            <a:r>
              <a:rPr lang="en-US" dirty="0"/>
              <a:t>"In practice, leadership teams naturally bring different perspectives into the conversation. </a:t>
            </a:r>
          </a:p>
          <a:p>
            <a:r>
              <a:rPr lang="en-US" dirty="0"/>
              <a:t>A commercial leader may see success primarily through customers and growth. </a:t>
            </a:r>
          </a:p>
          <a:p>
            <a:r>
              <a:rPr lang="en-US" dirty="0"/>
              <a:t>An operations leader may emphasise efficiency, process and delivery. </a:t>
            </a:r>
          </a:p>
          <a:p>
            <a:r>
              <a:rPr lang="en-US" dirty="0"/>
              <a:t>A people leader may focus on culture and capability. A finance leader may foreground financial and enterprise outcomes. </a:t>
            </a:r>
          </a:p>
          <a:p>
            <a:r>
              <a:rPr lang="en-US" dirty="0"/>
              <a:t>Each perspective contributes something important."</a:t>
            </a:r>
          </a:p>
          <a:p>
            <a:endParaRPr lang="en-US" dirty="0"/>
          </a:p>
          <a:p>
            <a:r>
              <a:rPr lang="en-US" b="1" dirty="0"/>
              <a:t>Deepen, say: </a:t>
            </a:r>
            <a:r>
              <a:rPr lang="en-US" dirty="0"/>
              <a:t>"A common diagnostic baseline matters. When the root condition is shared across the organisation, solutions built on the belief that one group is superior will fail."</a:t>
            </a:r>
          </a:p>
          <a:p>
            <a:r>
              <a:rPr lang="en-US" dirty="0"/>
              <a:t>(Insight: A common baseline. Source: Journal, 16 August 2026 — Professional Insights: Strategy)</a:t>
            </a:r>
          </a:p>
          <a:p>
            <a:endParaRPr lang="en-US" dirty="0"/>
          </a:p>
          <a:p>
            <a:r>
              <a:rPr lang="en-US" b="1" dirty="0"/>
              <a:t>3. Name the risk.</a:t>
            </a:r>
          </a:p>
          <a:p>
            <a:r>
              <a:rPr lang="en-US" b="1" dirty="0"/>
              <a:t>Say: </a:t>
            </a:r>
            <a:r>
              <a:rPr lang="en-US" dirty="0"/>
              <a:t>"The strategic risk emerges when one perspective becomes so dominant that it begins to define success for the entire organisation."</a:t>
            </a:r>
          </a:p>
          <a:p>
            <a:endParaRPr lang="en-US" dirty="0"/>
          </a:p>
          <a:p>
            <a:r>
              <a:rPr lang="en-US" b="1" dirty="0"/>
              <a:t>Deepen, say: </a:t>
            </a:r>
            <a:r>
              <a:rPr lang="en-US" dirty="0"/>
              <a:t>"Whatever a team elevates above all else — speed, revenue, growth, reputation — will eventually be asked to deliver something it cannot. The test is whether the organisation has the honesty to see it when that happens."</a:t>
            </a:r>
          </a:p>
          <a:p>
            <a:r>
              <a:rPr lang="en-US" dirty="0"/>
              <a:t>(Insight: The single measure. Source: Journal, 23 January 2026 — Professional Insights: Culture)</a:t>
            </a:r>
          </a:p>
          <a:p>
            <a:endParaRPr lang="en-US" dirty="0"/>
          </a:p>
          <a:p>
            <a:r>
              <a:rPr lang="en-US" b="1" dirty="0"/>
              <a:t>4. Say what the Flammables are for.</a:t>
            </a:r>
          </a:p>
          <a:p>
            <a:r>
              <a:rPr lang="en-US" b="1" dirty="0"/>
              <a:t>Say: </a:t>
            </a:r>
            <a:r>
              <a:rPr lang="en-US" dirty="0"/>
              <a:t>"This is what the SiP Flammables are designed to expose. They provide a balance test for the SiP. </a:t>
            </a:r>
          </a:p>
          <a:p>
            <a:r>
              <a:rPr lang="en-US" dirty="0"/>
              <a:t>They help leaders recognise when a legitimate dimension of success has become disproportionately influential and the enterprise picture has started to narrow into a functional one."</a:t>
            </a:r>
          </a:p>
          <a:p>
            <a:endParaRPr lang="en-US" dirty="0"/>
          </a:p>
          <a:p>
            <a:r>
              <a:rPr lang="en-US" dirty="0"/>
              <a:t>Deepen, say: "The organisations most at risk are often the ones clearly succeeding on one or two dimensions while remaining unformed on the others. What is working reassures them that all is well, so they do not feel the cost of what is missing."</a:t>
            </a:r>
          </a:p>
          <a:p>
            <a:r>
              <a:rPr lang="en-US" dirty="0"/>
              <a:t>(Insight: Partial formation. Source: Journal, 26 March 2026 — Professional Insights)</a:t>
            </a:r>
          </a:p>
          <a:p>
            <a:endParaRPr lang="en-US" dirty="0"/>
          </a:p>
          <a:p>
            <a:r>
              <a:rPr lang="en-US" b="1" dirty="0"/>
              <a:t>5. Name the four patterns on the slide.</a:t>
            </a:r>
          </a:p>
          <a:p>
            <a:endParaRPr lang="en-US" b="1" dirty="0"/>
          </a:p>
          <a:p>
            <a:pPr marL="171450" indent="-171450">
              <a:buFontTx/>
              <a:buChar char="-"/>
            </a:pPr>
            <a:r>
              <a:rPr lang="en-US" b="1" dirty="0"/>
              <a:t>D1 Dominant — Customer Only: The SiP reads as a marketing aspiration.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At happens when other domains are not aligned: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customer promise is made without accounting for the operational and cultural conditions required to deliver it.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organisation commits publicly to an experience it cannot yet produce at scale, so delivery teams absorb the gap through workarounds and overtime.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Service becomes inconsistent, cost to serve rises faster than revenue, and the promise that was meant to differentiate the organisation becomes the source of customer disappointment.“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Ask: "Where would this risk show first in your organisation?"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indent="0">
              <a:buFontTx/>
              <a:buNone/>
            </a:pPr>
            <a:endParaRPr lang="en-US" dirty="0"/>
          </a:p>
          <a:p>
            <a:pPr marL="171450" indent="-171450">
              <a:buFontTx/>
              <a:buChar char="-"/>
            </a:pPr>
            <a:r>
              <a:rPr lang="en-US" b="1" dirty="0"/>
              <a:t>D2 Dominant — Operations Only: The SiP reads as a process optimisation plan.</a:t>
            </a:r>
          </a:p>
          <a:p>
            <a:r>
              <a:rPr lang="en-US" dirty="0"/>
              <a:t>The organisation improves its machine while losing sight of what the machine is for. </a:t>
            </a:r>
          </a:p>
          <a:p>
            <a:r>
              <a:rPr lang="en-US" dirty="0"/>
              <a:t>Execution becomes an end in itself. </a:t>
            </a:r>
          </a:p>
          <a:p>
            <a:r>
              <a:rPr lang="en-US" dirty="0"/>
              <a:t>The efficiency gains are real, and the value they were meant to serve drifts: the organisation becomes faster at delivering what customers value less. People comply with the process without owning the outcome, so the system stops adapting when the market moves."</a:t>
            </a:r>
          </a:p>
          <a:p>
            <a:endParaRPr lang="en-US" b="1" dirty="0"/>
          </a:p>
          <a:p>
            <a:r>
              <a:rPr lang="en-US" b="1" dirty="0"/>
              <a:t>Ask: "Where would this risk show first in your organisation</a:t>
            </a:r>
          </a:p>
          <a:p>
            <a:pPr marL="0" indent="0">
              <a:buFontTx/>
              <a:buNone/>
            </a:pPr>
            <a:endParaRPr lang="en-US" dirty="0"/>
          </a:p>
          <a:p>
            <a:pPr marL="171450" indent="-171450">
              <a:buFontTx/>
              <a:buChar char="-"/>
            </a:pPr>
            <a:r>
              <a:rPr lang="en-US" b="1" dirty="0"/>
              <a:t>D3 Dominant — People Only: The SiP reads as an organisational development narrative.</a:t>
            </a:r>
          </a:p>
          <a:p>
            <a:r>
              <a:rPr lang="en-US" dirty="0"/>
              <a:t>Culture work becomes disconnected from commercial outcomes. </a:t>
            </a:r>
          </a:p>
          <a:p>
            <a:r>
              <a:rPr lang="en-US" dirty="0"/>
              <a:t>The strategy describes who the organisation wants to be and leaves what it intends to achieve undefined. </a:t>
            </a:r>
          </a:p>
          <a:p>
            <a:r>
              <a:rPr lang="en-US" dirty="0"/>
              <a:t>Investment in people and culture cannot be defended when results come under pressure, so it is the first budget to be cut. </a:t>
            </a:r>
          </a:p>
          <a:p>
            <a:r>
              <a:rPr lang="en-US" dirty="0"/>
              <a:t>Leaders outside the people function disengage from the </a:t>
            </a:r>
            <a:r>
              <a:rPr lang="en-US" dirty="0" err="1"/>
              <a:t>SiP</a:t>
            </a:r>
            <a:r>
              <a:rPr lang="en-US" dirty="0"/>
              <a:t>, and culture becomes one function's project."</a:t>
            </a:r>
          </a:p>
          <a:p>
            <a:endParaRPr lang="en-US" dirty="0"/>
          </a:p>
          <a:p>
            <a:r>
              <a:rPr lang="en-US" b="1" dirty="0"/>
              <a:t>Ask: "Where would this risk show first in your organisation?"</a:t>
            </a:r>
          </a:p>
          <a:p>
            <a:pPr marL="0" indent="0">
              <a:buFontTx/>
              <a:buNone/>
            </a:pPr>
            <a:endParaRPr lang="en-US" dirty="0"/>
          </a:p>
          <a:p>
            <a:pPr marL="171450" indent="-171450">
              <a:buFontTx/>
              <a:buChar char="-"/>
            </a:pPr>
            <a:r>
              <a:rPr lang="en-US" b="1" dirty="0"/>
              <a:t>D4 Dominant — Value Only: The SiP reads as a financial target.</a:t>
            </a:r>
          </a:p>
          <a:p>
            <a:r>
              <a:rPr lang="en-US" dirty="0"/>
              <a:t>Say: "Leaders </a:t>
            </a:r>
            <a:r>
              <a:rPr lang="en-US" dirty="0" err="1"/>
              <a:t>optimise</a:t>
            </a:r>
            <a:r>
              <a:rPr lang="en-US" dirty="0"/>
              <a:t> for metrics without creating the conditions that produce them. </a:t>
            </a:r>
          </a:p>
          <a:p>
            <a:r>
              <a:rPr lang="en-US" dirty="0"/>
              <a:t>Short-termism disguises itself as strategic clarity. </a:t>
            </a:r>
          </a:p>
          <a:p>
            <a:r>
              <a:rPr lang="en-US" dirty="0"/>
              <a:t>Targets are met through cost cutting, price moves and deferred investment, which weakens the capabilities and relationships that future results depend on. </a:t>
            </a:r>
          </a:p>
          <a:p>
            <a:r>
              <a:rPr lang="en-US" dirty="0"/>
              <a:t>Functions compete for the numbers they are measured on, and the enterprise outcome erodes while each scorecard stays green."</a:t>
            </a:r>
          </a:p>
          <a:p>
            <a:endParaRPr lang="en-US" dirty="0"/>
          </a:p>
          <a:p>
            <a:r>
              <a:rPr lang="en-US" b="1" dirty="0"/>
              <a:t>Ask: "Where would this risk show first in your organisation?"</a:t>
            </a:r>
          </a:p>
          <a:p>
            <a:pPr marL="0" indent="0">
              <a:buFontTx/>
              <a:buNone/>
            </a:pPr>
            <a:endParaRPr lang="en-US" b="1" dirty="0"/>
          </a:p>
          <a:p>
            <a:r>
              <a:rPr lang="en-US" b="1" dirty="0"/>
              <a:t>6. Set the tone and bridge.</a:t>
            </a:r>
          </a:p>
          <a:p>
            <a:r>
              <a:rPr lang="en-US" dirty="0"/>
              <a:t>Say: "Every pattern grows from a legitimate perspective. We are here to see dominance early, while the SiP is still being written." </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dirty="0"/>
              <a:t>SECTION 3 REFLECTIONS</a:t>
            </a:r>
          </a:p>
          <a:p>
            <a:endParaRPr lang="en-US" dirty="0"/>
          </a:p>
          <a:p>
            <a:r>
              <a:rPr lang="en-US" b="1" dirty="0"/>
              <a:t>HOW TO USE THIS SLIDE:</a:t>
            </a:r>
          </a:p>
          <a:p>
            <a:endParaRPr lang="en-US" dirty="0"/>
          </a:p>
          <a:p>
            <a:r>
              <a:rPr lang="en-US" b="1" dirty="0"/>
              <a:t>1. Show the slide and read the prompt aloud.</a:t>
            </a:r>
          </a:p>
          <a:p>
            <a:r>
              <a:rPr lang="en-US" dirty="0"/>
              <a:t>3.1 Reflection — SiP Indicators: "From your assigned executive leader role: which SiP domain shows the most significant gaps in your organisation right now? What is the primary cause?"</a:t>
            </a:r>
          </a:p>
          <a:p>
            <a:endParaRPr lang="en-US" dirty="0"/>
          </a:p>
          <a:p>
            <a:r>
              <a:rPr lang="en-US" b="1" dirty="0"/>
              <a:t>2. Say what the reflection is for.</a:t>
            </a:r>
          </a:p>
          <a:p>
            <a:r>
              <a:rPr lang="en-US" dirty="0"/>
              <a:t>Point learners to the portal section that they will be required to complete with as much depth as possible. The reflections build the learning portfolio they receive at the end of the programme.</a:t>
            </a:r>
          </a:p>
          <a:p>
            <a:endParaRPr lang="en-US" b="1" dirty="0"/>
          </a:p>
          <a:p>
            <a:r>
              <a:rPr lang="en-US" b="1" dirty="0"/>
              <a:t>Say: </a:t>
            </a:r>
            <a:r>
              <a:rPr lang="en-US" dirty="0"/>
              <a:t>"You write this reflection on the portal after the teaching, from your assigned executive leader role, with as much depth as you can."</a:t>
            </a:r>
          </a:p>
          <a:p>
            <a:endParaRPr lang="en-US" dirty="0"/>
          </a:p>
          <a:p>
            <a:r>
              <a:rPr lang="en-US" b="1" dirty="0"/>
              <a:t>3. Set the standard.</a:t>
            </a:r>
          </a:p>
          <a:p>
            <a:r>
              <a:rPr lang="en-US" dirty="0"/>
              <a:t>Say: "Name one SiP domain. Point to the indicators that show the gap: which Signal of Absence did you recognise? Then give one primary cause."</a:t>
            </a:r>
          </a:p>
          <a:p>
            <a:r>
              <a:rPr lang="en-US" dirty="0"/>
              <a:t>Listen for: a condition given as a cause, such as "we are under-resourced". Ask: "Which decision, structure or habit produces the gap?"</a:t>
            </a:r>
          </a:p>
          <a:p>
            <a:endParaRPr lang="en-US" dirty="0"/>
          </a:p>
          <a:p>
            <a:r>
              <a:rPr lang="en-US" b="1" dirty="0"/>
              <a:t>4. Say why naming the gap matters.</a:t>
            </a:r>
          </a:p>
          <a:p>
            <a:r>
              <a:rPr lang="en-US" b="1" dirty="0"/>
              <a:t>Say: </a:t>
            </a:r>
            <a:r>
              <a:rPr lang="en-US" dirty="0"/>
              <a:t>"Honestly naming the gap between what has been achieved and what remains is the foundation of the next strategic phase. </a:t>
            </a:r>
          </a:p>
          <a:p>
            <a:r>
              <a:rPr lang="en-US" dirty="0"/>
              <a:t>Organisations that settle for a vague awareness of more to do make little purposeful progress. Name the remaining work specifically, then plan for it."</a:t>
            </a:r>
          </a:p>
          <a:p>
            <a:r>
              <a:rPr lang="en-US" dirty="0"/>
              <a:t>(Insight: Naming the gap. Source: Journal, 10 April 2026 — Professional Insights: Strategy)</a:t>
            </a:r>
          </a:p>
          <a:p>
            <a:endParaRPr lang="en-US" dirty="0"/>
          </a:p>
          <a:p>
            <a:r>
              <a:rPr lang="en-US" b="1" dirty="0"/>
              <a:t>5. Read the room.</a:t>
            </a:r>
          </a:p>
          <a:p>
            <a:r>
              <a:rPr lang="en-US" dirty="0"/>
              <a:t>Take one first answer for each domain if the room offers them. </a:t>
            </a:r>
          </a:p>
          <a:p>
            <a:r>
              <a:rPr lang="en-US" dirty="0"/>
              <a:t>Note which domain is named most often. Tell the groups: test that domain hardest when you write your SiP in Section 5.</a:t>
            </a:r>
          </a:p>
          <a:p>
            <a:endParaRPr lang="en-US" dirty="0"/>
          </a:p>
          <a:p>
            <a:r>
              <a:rPr lang="en-US" b="1" dirty="0"/>
              <a:t>6. Bridge to Section 4.</a:t>
            </a:r>
          </a:p>
          <a:p>
            <a:r>
              <a:rPr lang="en-US" dirty="0"/>
              <a:t>Say: "We now have two tests for any Success in Practice: depth within each domain and balance across all four. </a:t>
            </a:r>
          </a:p>
          <a:p>
            <a:r>
              <a:rPr lang="en-US" dirty="0"/>
              <a:t>Section 4 shows one company apply both tests to its Success in Practice. In Section 5 each group applies them to its own.""</a:t>
            </a:r>
          </a:p>
          <a:p>
            <a:endParaRPr lang="en-US" dirty="0"/>
          </a:p>
          <a:p>
            <a:r>
              <a:rPr lang="en-US" b="1" dirty="0"/>
              <a:t>ON THE PORTAL, AFTER THE TEACHING:</a:t>
            </a:r>
          </a:p>
          <a:p>
            <a:r>
              <a:rPr lang="en-US" dirty="0"/>
              <a:t>Participants write the reflection in Section 3 of the participant file: 3.1 Reflection — SiP Indicators.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4 · INTEGRATION — COLLECTIVE</a:t>
            </a:r>
          </a:p>
          <a:p/>
          <a:p>
            <a:r>
              <a:rPr b="1"/>
              <a:t>HOW THIS SECTION RUNS:</a:t>
            </a:r>
          </a:p>
          <a:p>
            <a:r>
              <a:rPr b="1"/>
              <a:t>1. 4.1a: the company of the worked example, Kestrel Point Services.</a:t>
            </a:r>
          </a:p>
          <a:p>
            <a:r>
              <a:rPr b="1"/>
              <a:t>2. 4.1b to 4.1d, Step 1: how each element works, the 14 elements and the six checks on the Strategy Architecture, shown through the example.</a:t>
            </a:r>
          </a:p>
          <a:p>
            <a:r>
              <a:rPr b="1"/>
              <a:t>3. 4.2, Step 2: how the example's WHAT, WHY, HOW and WHEN became one Strategy Intent Statement.</a:t>
            </a:r>
          </a:p>
          <a:p>
            <a:r>
              <a:rPr b="1"/>
              <a:t>4. 4.3a and 4.3b, Step 3: the example's four SiP statements, and the three outputs read together.</a:t>
            </a:r>
          </a:p>
          <a:p>
            <a:r>
              <a:t>Section 4 teaches the three steps once, completed for one company. Each group builds the same three outputs for its own simulated company in Section 5.</a:t>
            </a:r>
          </a:p>
          <a:p/>
          <a:p>
            <a:r>
              <a:rPr b="1"/>
              <a:t>HOW TO OPEN THE SECTION:</a:t>
            </a:r>
          </a:p>
          <a:p/>
          <a:p>
            <a:r>
              <a:rPr b="1"/>
              <a:t>1. State the section intent.</a:t>
            </a:r>
          </a:p>
          <a:p>
            <a:r>
              <a:rPr b="1"/>
              <a:t>Say: </a:t>
            </a:r>
            <a:r>
              <a:rPr/>
              <a:t>"This section shows the whole Strategy Intent Design completed once, for one company: Strategy Architecture, then Strategy Intent, then Success in Practice.</a:t>
            </a:r>
          </a:p>
          <a:p>
            <a:r>
              <a:t>In Section 5 your group builds the same three outputs for the company of your Problem Charter."</a:t>
            </a:r>
          </a:p>
          <a:p/>
          <a:p>
            <a:r>
              <a:rPr b="1"/>
              <a:t>2. Read the two section learning outcomes from the slide.</a:t>
            </a:r>
          </a:p>
          <a:p>
            <a:r>
              <a:rPr b="1"/>
              <a:t>SECTION LEARNING OUTCOMES:</a:t>
            </a:r>
          </a:p>
          <a:p>
            <a:r>
              <a:rPr b="1"/>
              <a:t>1. Integrate the elements of Strategy Architecture into a coherent enterprise strategy.</a:t>
            </a:r>
          </a:p>
          <a:p>
            <a:r>
              <a:rPr b="1"/>
              <a:t>2. Synthesise diverse leadership perspectives into an agreed enterprise position.</a:t>
            </a:r>
          </a:p>
          <a:p/>
          <a:p>
            <a:r>
              <a:rPr b="1"/>
              <a:t>3. Emphasise the sequence.</a:t>
            </a:r>
          </a:p>
          <a:p>
            <a:r>
              <a:rPr b="1"/>
              <a:t>Say: </a:t>
            </a:r>
            <a:r>
              <a:rPr/>
              <a:t>"Each output provides the foundation for the next.</a:t>
            </a:r>
          </a:p>
          <a:p>
            <a:r>
              <a:t>The quality of the SiP depends on the quality of the Intent, and the quality of the Intent depends on the thinking captured in the Architecture.</a:t>
            </a:r>
          </a:p>
          <a:p>
            <a:r>
              <a:t>The example shows that chain: the client promise named in WHAT returns in the Intent and again in the first SiP statement."</a:t>
            </a:r>
          </a:p>
          <a:p/>
          <a:p>
            <a:r>
              <a:rPr b="1"/>
              <a:t>4. Say why the work is collective.</a:t>
            </a:r>
          </a:p>
          <a:p>
            <a:r>
              <a:rPr b="1"/>
              <a:t>Say: </a:t>
            </a:r>
            <a:r>
              <a:rPr/>
              <a:t>"Strategy requires more than agreement with a finished statement.</a:t>
            </a:r>
          </a:p>
          <a:p>
            <a:r>
              <a:t>Leaders contribute to the thinking, surface different interpretations, work through tensions and arrive at a position they can collectively own."</a:t>
            </a:r>
          </a:p>
          <a:p/>
          <a:p>
            <a:r>
              <a:rPr b="1"/>
              <a:t>Deepen, say: </a:t>
            </a:r>
            <a:r>
              <a:rPr/>
              <a:t>"Lasting influence grows when people understand the significance of the mission and commit to it voluntarily.</a:t>
            </a:r>
          </a:p>
          <a:p>
            <a:r>
              <a:t>Willing commitment produces ownership."</a:t>
            </a:r>
          </a:p>
          <a:p>
            <a:r>
              <a:t>(Insight: Willing commitment. Source: Journal, 29 July 2026 — Professional Insights: Leadership)</a:t>
            </a:r>
          </a:p>
          <a:p/>
          <a:p>
            <a:r>
              <a:rPr b="1"/>
              <a:t>ON THE PORTAL, AFTER THE TEACHING:</a:t>
            </a:r>
          </a:p>
          <a:p>
            <a:r>
              <a:t>Section 4 of the participant file holds the worked example, read-only, for participants to return to while they build their own in Section 5.</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4.1 — STEP 1 · THE WORKED EXAMPLE: KESTREL POINT SERVICES</a:t>
            </a:r>
          </a:p>
          <a:p/>
          <a:p>
            <a:r>
              <a:rPr b="1"/>
              <a:t>HOW TO TEACH IT:</a:t>
            </a:r>
          </a:p>
          <a:p/>
          <a:p>
            <a:r>
              <a:rPr b="1"/>
              <a:t>1. Introduce the company, using the four lines on the slide.</a:t>
            </a:r>
          </a:p>
          <a:p>
            <a:r>
              <a:rPr b="1"/>
              <a:t>Say: </a:t>
            </a:r>
            <a:r>
              <a:rPr/>
              <a:t>"Kestrel Point Services provides facilities management and technical maintenance to corporate clients.</a:t>
            </a:r>
          </a:p>
          <a:p>
            <a:r>
              <a:t>It has about 1,200 employees in eight regional service hubs, and its strategy runs from 2027 to 2029."</a:t>
            </a:r>
          </a:p>
          <a:p/>
          <a:p>
            <a:r>
              <a:rPr b="1"/>
              <a:t>2. Give its central problem.</a:t>
            </a:r>
          </a:p>
          <a:p>
            <a:r>
              <a:rPr b="1"/>
              <a:t>Say: </a:t>
            </a:r>
            <a:r>
              <a:rPr/>
              <a:t>"Kestrel Point wins clients on relationships and loses them on service.</a:t>
            </a:r>
          </a:p>
          <a:p>
            <a:r>
              <a:t>Response times vary from team to team, requests stall in handovers between functions, decisions that involve more than one function wait for escalation, and margins swing with the cost of rework."</a:t>
            </a:r>
          </a:p>
          <a:p/>
          <a:p>
            <a:r>
              <a:rPr b="1"/>
              <a:t>3. Link the example to the Problem Charter.</a:t>
            </a:r>
          </a:p>
          <a:p>
            <a:r>
              <a:rPr b="1"/>
              <a:t>Say: </a:t>
            </a:r>
            <a:r>
              <a:rPr/>
              <a:t>"This is the kind of central problem your group stated in its Problem Charter in Unit 1.</a:t>
            </a:r>
          </a:p>
          <a:p>
            <a:r>
              <a:t>Here you see how one company builds a strategy that answers its problem. In Section 5 your group does the same for its own company."</a:t>
            </a:r>
          </a:p>
          <a:p/>
          <a:p>
            <a:r>
              <a:rPr b="1"/>
              <a:t>4. Link the example to the units that follow.</a:t>
            </a:r>
          </a:p>
          <a:p>
            <a:r>
              <a:rPr b="1"/>
              <a:t>Say: </a:t>
            </a:r>
            <a:r>
              <a:rPr/>
              <a:t>"You will meet Kestrel Point again. Its SiP leads into the worked example of Unit 3, and its Key Results are tested in Unit 4."</a:t>
            </a:r>
          </a:p>
          <a:p/>
          <a:p>
            <a:r>
              <a:rPr b="1"/>
              <a:t>ON THE PORTAL, AFTER THE TEACHING:</a:t>
            </a:r>
          </a:p>
          <a:p>
            <a:r>
              <a:t>The company cards open Section 4 of the participant file.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4.1 — STEP 1 · HOW EACH ELEMENT WORKS</a:t>
            </a:r>
          </a:p>
          <a:p/>
          <a:p>
            <a:r>
              <a:rPr b="1"/>
              <a:t>HOW TO TEACH IT:</a:t>
            </a:r>
          </a:p>
          <a:p/>
          <a:p>
            <a:r>
              <a:rPr b="1"/>
              <a:t>1. State the purpose.</a:t>
            </a:r>
          </a:p>
          <a:p>
            <a:r>
              <a:rPr b="1"/>
              <a:t>Say: </a:t>
            </a:r>
            <a:r>
              <a:rPr/>
              <a:t>"Step 1 is the foundation.</a:t>
            </a:r>
          </a:p>
          <a:p>
            <a:r>
              <a:t>The 14 elements of the Strategy2Results® Strategy Definition establish the thinking and logic underneath the strategic position before that position is expressed concisely."</a:t>
            </a:r>
          </a:p>
          <a:p/>
          <a:p>
            <a:r>
              <a:rPr b="1"/>
              <a:t>2. Walk the routine for one element, using the lines on the slide, with WHAT from the example.</a:t>
            </a:r>
          </a:p>
          <a:p>
            <a:r>
              <a:rPr b="1"/>
              <a:t>Say: </a:t>
            </a:r>
            <a:r>
              <a:rPr/>
              <a:t>"Each element has four questions. THE FORCES has five.</a:t>
            </a:r>
          </a:p>
          <a:p>
            <a:r>
              <a:t>Kestrel Point answered WHAT like this: what business are we actually in? Keeping corporate buildings and their technical systems running without disruption.</a:t>
            </a:r>
          </a:p>
          <a:p>
            <a:r>
              <a:t>What value are we choosing to create? Fast, consistent and effortless service that clients can rely on first."</a:t>
            </a:r>
          </a:p>
          <a:p/>
          <a:p>
            <a:r>
              <a:rPr b="1"/>
              <a:t>Say: </a:t>
            </a:r>
            <a:r>
              <a:rPr/>
              <a:t>"Then one or two sentences state what the element is saying:</a:t>
            </a:r>
          </a:p>
          <a:p>
            <a:r>
              <a:t>Kestrel Point is in the business of keeping client buildings running, and it chooses to win on fast, consistent and effortless service through one client team per key account."</a:t>
            </a:r>
          </a:p>
          <a:p/>
          <a:p>
            <a:r>
              <a:rPr b="1"/>
              <a:t>3. Set the standard for an answer.</a:t>
            </a:r>
          </a:p>
          <a:p>
            <a:r>
              <a:rPr b="1"/>
              <a:t>Say: </a:t>
            </a:r>
            <a:r>
              <a:rPr/>
              <a:t>"Capture actual strategic choices and leave broad aspirations out.</a:t>
            </a:r>
          </a:p>
          <a:p>
            <a:r>
              <a:t>A strategic choice names what the organisation will do and what it leaves out. Kestrel Point leaves once-off construction projects and low-value contracts out."</a:t>
            </a:r>
          </a:p>
          <a:p/>
          <a:p>
            <a:r>
              <a:rPr b="1"/>
              <a:t>4. Give the question that closes each element.</a:t>
            </a:r>
          </a:p>
          <a:p>
            <a:r>
              <a:rPr b="1"/>
              <a:t>Say: </a:t>
            </a:r>
            <a:r>
              <a:rPr/>
              <a:t>"Before moving on, the group asks: Is this what we mean? It revises the sentences until they say what the group means."</a:t>
            </a:r>
          </a:p>
          <a:p/>
          <a:p>
            <a:r>
              <a:rPr b="1"/>
              <a:t>Deepen, say: </a:t>
            </a:r>
            <a:r>
              <a:rPr/>
              <a:t>"The leader who is present when a commitment is made and does not challenge it has endorsed it.</a:t>
            </a:r>
          </a:p>
          <a:p>
            <a:r>
              <a:t>A plan received without objection binds the organisation to an outcome the leader could have shaped."</a:t>
            </a:r>
          </a:p>
          <a:p>
            <a:r>
              <a:t>(Insight: Silence is a decision. Source: Journal, 15 March 2026 — Professional Insights)</a:t>
            </a:r>
          </a:p>
          <a:p/>
          <a:p>
            <a:r>
              <a:rPr b="1"/>
              <a:t>5. Say that the elements test one another.</a:t>
            </a:r>
          </a:p>
          <a:p>
            <a:r>
              <a:rPr b="1"/>
              <a:t>Say: </a:t>
            </a:r>
            <a:r>
              <a:rPr/>
              <a:t>"The elements are interconnected. The value an organisation intends to create must be supported by its HOW; its WHEN must reflect the capabilities it needs to build; its approach to sustaining value must respond to the forces in its operating environment.</a:t>
            </a:r>
          </a:p>
          <a:p>
            <a:r>
              <a:t>When one element exposes a weakness in another, return to the earlier element and revise it."</a:t>
            </a:r>
          </a:p>
          <a:p/>
          <a:p>
            <a:r>
              <a:rPr b="1"/>
              <a:t>6. Explain the count.</a:t>
            </a:r>
          </a:p>
          <a:p>
            <a:r>
              <a:rPr b="1"/>
              <a:t>Say: </a:t>
            </a:r>
            <a:r>
              <a:rPr/>
              <a:t>"When all 14 elements say what they mean, they come together under five headings: the Strategy Architecture."</a:t>
            </a:r>
          </a:p>
          <a:p/>
          <a:p>
            <a:r>
              <a:rPr b="1"/>
              <a:t>ON THE PORTAL, AFTER THE TEACHING:</a:t>
            </a:r>
          </a:p>
          <a:p>
            <a:r>
              <a:t>In Section 4, each of the 14 elements of the example opens to show its answers and what it is saying.</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4.1 — STEP 1 · THE 14 ELEMENTS</a:t>
            </a:r>
          </a:p>
          <a:p/>
          <a:p>
            <a:r>
              <a:rPr b="1"/>
              <a:t>HOW TO TEACH IT:</a:t>
            </a:r>
          </a:p>
          <a:p/>
          <a:p>
            <a:r>
              <a:rPr b="1"/>
              <a:t>1. Show the 14 elements as one list.</a:t>
            </a:r>
          </a:p>
          <a:p>
            <a:r>
              <a:rPr b="1"/>
              <a:t>Say: </a:t>
            </a:r>
            <a:r>
              <a:rPr/>
              <a:t>"The 14 elements follow the Strategy2Results® definition of strategy.</a:t>
            </a:r>
          </a:p>
          <a:p>
            <a:r>
              <a:t>OUTPUT, the first concept in 1.1, is what the 14 elements produce: the Strategy Architecture."</a:t>
            </a:r>
          </a:p>
          <a:p/>
          <a:p>
            <a:r>
              <a:rPr b="1"/>
              <a:t>2. Link back to 1.1.</a:t>
            </a:r>
          </a:p>
          <a:p>
            <a:r>
              <a:rPr b="1"/>
              <a:t>Say: </a:t>
            </a:r>
            <a:r>
              <a:rPr/>
              <a:t>"In 1.1 we met nine concepts. Here the same definition is worked as 14 elements.</a:t>
            </a:r>
          </a:p>
          <a:p>
            <a:r>
              <a:t>WHAT, WHY, HOW and WHEN are four elements. CREATES, DELIVERS and SUSTAINS VALUE are three. OPERATING ENVIRONMENT has an element of its own."</a:t>
            </a:r>
          </a:p>
          <a:p/>
          <a:p>
            <a:r>
              <a:rPr b="1"/>
              <a:t>3. Show the five headings, with what Kestrel Point's elements say.</a:t>
            </a:r>
          </a:p>
          <a:p>
            <a:r>
              <a:rPr b="1"/>
              <a:t>Say: </a:t>
            </a:r>
            <a:r>
              <a:rPr/>
              <a:t>"The elements come together under five headings."</a:t>
            </a:r>
          </a:p>
          <a:p>
            <a:r>
              <a:t>- Strategic Position · WHAT and WHY: the business of keeping client buildings running, won on fast, consistent and effortless service, so that clients can focus on their own business.</a:t>
            </a:r>
          </a:p>
          <a:p>
            <a:r>
              <a:t>- Strategic Model · HOW and WHEN: integrated client teams, decision rights at hub level and one weekly cross-functional rhythm; responsiveness first, scalable service models last.</a:t>
            </a:r>
          </a:p>
          <a:p>
            <a:r>
              <a:t>- Value Architecture · CREATES, DELIVERS, SUSTAINS VALUE and STAKEHOLDERS: faster resolution and preventive maintenance, delivered through one client team, one number and one portal, protected by removing silos.</a:t>
            </a:r>
          </a:p>
          <a:p>
            <a:r>
              <a:t>- Strategic Navigation · NAVIGATING, THE FORCES and OPERATING ENVIRONMENT: service data and client reviews read every week, and the strongest force named as internal: silos and the habit of escalation.</a:t>
            </a:r>
          </a:p>
          <a:p>
            <a:r>
              <a:t>- Strategy Discipline · ITERATIVE, THINKING &amp; LOGIC and PROCESS: one hypothesis, that clients value speed and consistency above the lowest price, tested every quarter.</a:t>
            </a:r>
          </a:p>
          <a:p/>
          <a:p>
            <a:r>
              <a:rPr b="1"/>
              <a:t>4. If a participant asks where an element goes, use this list.</a:t>
            </a:r>
          </a:p>
          <a:p>
            <a:r>
              <a:t>1 · ITERATIVE → Strategy Discipline</a:t>
            </a:r>
          </a:p>
          <a:p>
            <a:r>
              <a:t>2 · THINKING &amp; LOGIC → Strategy Discipline</a:t>
            </a:r>
          </a:p>
          <a:p>
            <a:r>
              <a:t>3 · PROCESS → Strategy Discipline</a:t>
            </a:r>
          </a:p>
          <a:p>
            <a:r>
              <a:t>4 · WHAT → Strategic Position</a:t>
            </a:r>
          </a:p>
          <a:p>
            <a:r>
              <a:t>5 · WHY → Strategic Position</a:t>
            </a:r>
          </a:p>
          <a:p>
            <a:r>
              <a:t>6 · HOW → Strategic Model</a:t>
            </a:r>
          </a:p>
          <a:p>
            <a:r>
              <a:t>7 · WHEN → Strategic Model</a:t>
            </a:r>
          </a:p>
          <a:p>
            <a:r>
              <a:t>8 · CREATES VALUE → Value Architecture</a:t>
            </a:r>
          </a:p>
          <a:p>
            <a:r>
              <a:t>9 · DELIVERS VALUE → Value Architecture</a:t>
            </a:r>
          </a:p>
          <a:p>
            <a:r>
              <a:t>10 · SUSTAINS VALUE → Value Architecture</a:t>
            </a:r>
          </a:p>
          <a:p>
            <a:r>
              <a:t>11 · STAKEHOLDERS → Value Architecture</a:t>
            </a:r>
          </a:p>
          <a:p>
            <a:r>
              <a:t>12 · NAVIGATING → Strategic Navigation</a:t>
            </a:r>
          </a:p>
          <a:p>
            <a:r>
              <a:t>13 · THE FORCES → Strategic Navigation</a:t>
            </a:r>
          </a:p>
          <a:p>
            <a:r>
              <a:t>14 · OPERATING ENVIRONMENT → Strategic Navigation</a:t>
            </a:r>
          </a:p>
          <a:p/>
          <a:p>
            <a:r>
              <a:rPr b="1"/>
              <a:t>ON THE PORTAL, AFTER THE TEACHING:</a:t>
            </a:r>
          </a:p>
          <a:p>
            <a:r>
              <a:t>In Section 4 the example's Strategy Architecture is shown under its five headings.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4.1 — STEP 1 · SIX CHECKS ON THE ARCHITECTURE</a:t>
            </a:r>
          </a:p>
          <a:p/>
          <a:p>
            <a:r>
              <a:rPr b="1"/>
              <a:t>HOW TO TEACH IT:</a:t>
            </a:r>
          </a:p>
          <a:p/>
          <a:p>
            <a:r>
              <a:rPr b="1"/>
              <a:t>1. Introduce the checks.</a:t>
            </a:r>
          </a:p>
          <a:p>
            <a:r>
              <a:rPr b="1"/>
              <a:t>Say: </a:t>
            </a:r>
            <a:r>
              <a:rPr/>
              <a:t>"When the 14 elements are together, the Architecture is read as one strategic system: What is this architecture collectively saying about our organisation's strategy? Six checks guide that reading."</a:t>
            </a:r>
          </a:p>
          <a:p/>
          <a:p>
            <a:r>
              <a:rPr b="1"/>
              <a:t>2. Take each check, with the example.</a:t>
            </a:r>
          </a:p>
          <a:p>
            <a:r>
              <a:rPr b="1"/>
              <a:t>Read from the slide: </a:t>
            </a:r>
            <a:r>
              <a:rPr/>
              <a:t>"Do our choices reinforce one another?"</a:t>
            </a:r>
          </a:p>
          <a:p>
            <a:r>
              <a:rPr b="1"/>
              <a:t>Say: </a:t>
            </a:r>
            <a:r>
              <a:rPr/>
              <a:t>"Kestrel Point's WHAT chooses responsiveness, and its HOW supplies the mechanism: integrated client teams and one operating rhythm."</a:t>
            </a:r>
          </a:p>
          <a:p/>
          <a:p>
            <a:r>
              <a:rPr b="1"/>
              <a:t>Read from the slide: </a:t>
            </a:r>
            <a:r>
              <a:rPr/>
              <a:t>"Where are there contradictions or unresolved tensions?"</a:t>
            </a:r>
          </a:p>
          <a:p>
            <a:r>
              <a:rPr b="1"/>
              <a:t>Say: </a:t>
            </a:r>
            <a:r>
              <a:rPr/>
              <a:t>"STAKEHOLDERS names one: faster service can conflict with margin when it requires extra visits. The Architecture names the tension and holds it."</a:t>
            </a:r>
          </a:p>
          <a:p/>
          <a:p>
            <a:r>
              <a:rPr b="1"/>
              <a:t>Read from the slide: </a:t>
            </a:r>
            <a:r>
              <a:rPr/>
              <a:t>"Does our HOW support what we have chosen to achieve?"</a:t>
            </a:r>
          </a:p>
          <a:p>
            <a:r>
              <a:rPr b="1"/>
              <a:t>Say: </a:t>
            </a:r>
            <a:r>
              <a:rPr/>
              <a:t>"Read element 6 against elements 4 and 8."</a:t>
            </a:r>
          </a:p>
          <a:p/>
          <a:p>
            <a:r>
              <a:rPr b="1"/>
              <a:t>Read from the slide: </a:t>
            </a:r>
            <a:r>
              <a:rPr/>
              <a:t>"Does our timing and sequencing reflect the realities of our capability and environment?"</a:t>
            </a:r>
          </a:p>
          <a:p>
            <a:r>
              <a:rPr b="1"/>
              <a:t>Say: </a:t>
            </a:r>
            <a:r>
              <a:rPr/>
              <a:t>"Kestrel Point's WHEN puts the request system in place before decision rights move to the hubs."</a:t>
            </a:r>
          </a:p>
          <a:p/>
          <a:p>
            <a:r>
              <a:rPr b="1"/>
              <a:t>Read from the slide: </a:t>
            </a:r>
            <a:r>
              <a:rPr/>
              <a:t>"Have we addressed how value will be created, delivered and sustained?"</a:t>
            </a:r>
          </a:p>
          <a:p>
            <a:r>
              <a:rPr b="1"/>
              <a:t>Say: </a:t>
            </a:r>
            <a:r>
              <a:rPr/>
              <a:t>"Read elements 8, 9 and 10 side by side. Look hardest at element 10."</a:t>
            </a:r>
          </a:p>
          <a:p/>
          <a:p>
            <a:r>
              <a:rPr b="1"/>
              <a:t>Read from the slide: </a:t>
            </a:r>
            <a:r>
              <a:rPr/>
              <a:t>"Does the architecture represent the strategic position we collectively intend?"</a:t>
            </a:r>
          </a:p>
          <a:p>
            <a:r>
              <a:rPr b="1"/>
              <a:t>Say: </a:t>
            </a:r>
            <a:r>
              <a:rPr/>
              <a:t>"Each member answers yes or no aloud."</a:t>
            </a:r>
          </a:p>
          <a:p/>
          <a:p>
            <a:r>
              <a:rPr b="1"/>
              <a:t>3. Say what a group does when a check fails.</a:t>
            </a:r>
          </a:p>
          <a:p>
            <a:r>
              <a:rPr b="1"/>
              <a:t>Say: </a:t>
            </a:r>
            <a:r>
              <a:rPr/>
              <a:t>"Return to the element concerned, revise it, and carry the change into the Architecture."</a:t>
            </a:r>
          </a:p>
          <a:p/>
          <a:p>
            <a:r>
              <a:rPr b="1"/>
              <a:t>4. Bridge to 4.2.</a:t>
            </a:r>
          </a:p>
          <a:p>
            <a:r>
              <a:rPr b="1"/>
              <a:t>Say: </a:t>
            </a:r>
            <a:r>
              <a:rPr/>
              <a:t>"The Architecture becomes the source for Step 2. Step 2 takes four of its elements, WHAT, WHY, HOW and WHEN, and crystallises them into one statement."</a:t>
            </a:r>
          </a:p>
          <a:p/>
          <a:p>
            <a:r>
              <a:rPr b="1"/>
              <a:t>ON THE PORTAL, AFTER THE TEACHING:</a:t>
            </a:r>
          </a:p>
          <a:p>
            <a:r>
              <a:t>The six checks sit beside the Strategy Architecture box in Section 5, Step 1.</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4.2 — STEP 2 · THE STRATEGY INTENT STATEMENT (WHAT · WHY · HOW · WHEN → ONE STRATEGIC AMBITION)</a:t>
            </a:r>
          </a:p>
          <a:p/>
          <a:p>
            <a:r>
              <a:rPr b="1"/>
              <a:t>HOW TO TEACH IT:</a:t>
            </a:r>
          </a:p>
          <a:p/>
          <a:p>
            <a:r>
              <a:rPr b="1"/>
              <a:t>1. State the step.</a:t>
            </a:r>
          </a:p>
          <a:p>
            <a:r>
              <a:rPr b="1"/>
              <a:t>Say: </a:t>
            </a:r>
            <a:r>
              <a:rPr/>
              <a:t>"The Architecture contains the depth. The Intent must provide the clarity."</a:t>
            </a:r>
          </a:p>
          <a:p/>
          <a:p>
            <a:r>
              <a:rPr b="1"/>
              <a:t>2. Bring forward the four dimensions on the slide, with what Kestrel Point's elements say.</a:t>
            </a:r>
          </a:p>
          <a:p>
            <a:r>
              <a:t>- WHAT gave the ambition: fast, consistent and effortless service that clients rely on first.</a:t>
            </a:r>
          </a:p>
          <a:p>
            <a:r>
              <a:t>- WHY gave the reason it holds together: clients reward responsiveness with renewals and new sites.</a:t>
            </a:r>
          </a:p>
          <a:p>
            <a:r>
              <a:t>- HOW gave the mechanism: integrated client teams and one cross-functional operating rhythm.</a:t>
            </a:r>
          </a:p>
          <a:p>
            <a:r>
              <a:t>- WHEN gave the order: responsiveness first, scalable service models after, within 2027 to 2029.</a:t>
            </a:r>
          </a:p>
          <a:p/>
          <a:p>
            <a:r>
              <a:rPr b="1"/>
              <a:t>3. Read the statement the four produced.</a:t>
            </a:r>
          </a:p>
          <a:p>
            <a:r>
              <a:rPr b="1"/>
              <a:t>Say: </a:t>
            </a:r>
            <a:r>
              <a:rPr/>
              <a:t>"Kestrel Point's Strategy Intent Statement reads: By the end of 2029, Kestrel Point will be the service partner its corporate clients rely on first, delivering fast, consistent and effortless facilities and technical service through integrated client teams and one cross-functional operating rhythm, building responsiveness first and scalable service models after."</a:t>
            </a:r>
          </a:p>
          <a:p/>
          <a:p>
            <a:r>
              <a:rPr b="1"/>
              <a:t>4. Protect the Intent from overload.</a:t>
            </a:r>
          </a:p>
          <a:p>
            <a:r>
              <a:rPr b="1"/>
              <a:t>Say: </a:t>
            </a:r>
            <a:r>
              <a:rPr/>
              <a:t>"Notice what the statement leaves out: the request system, the hub decision rights and the subcontractor standards stay in the Architecture.</a:t>
            </a:r>
          </a:p>
          <a:p>
            <a:r>
              <a:t>The statement carries the ambition. A strong Intent lets a leader understand the strategic position without a paragraph of explanation."</a:t>
            </a:r>
          </a:p>
          <a:p/>
          <a:p>
            <a:r>
              <a:rPr b="1"/>
              <a:t>Deepen, say: </a:t>
            </a:r>
            <a:r>
              <a:rPr/>
              <a:t>"What the people who carry a strategy have understood and internalised survives the loss of any document.</a:t>
            </a:r>
          </a:p>
          <a:p>
            <a:r>
              <a:t>Build the strategy into their knowledge and conviction."</a:t>
            </a:r>
          </a:p>
          <a:p>
            <a:r>
              <a:t>(Insight: Strategy carried by people. Source: Journal, 16 February 2026 — Professional Insights: Strategy)</a:t>
            </a:r>
          </a:p>
          <a:p/>
          <a:p>
            <a:r>
              <a:rPr b="1"/>
              <a:t>5. Give the test, from the foot of the slide.</a:t>
            </a:r>
          </a:p>
          <a:p>
            <a:r>
              <a:rPr b="1"/>
              <a:t>Say: </a:t>
            </a:r>
            <a:r>
              <a:rPr/>
              <a:t>"The statement is read against the Architecture: Does this statement faithfully express the strategic ambition contained in our Architecture?</a:t>
            </a:r>
          </a:p>
          <a:p>
            <a:r>
              <a:t>Where it exposes a contradiction, the contradiction is resolved in the Architecture first."</a:t>
            </a:r>
          </a:p>
          <a:p/>
          <a:p>
            <a:r>
              <a:rPr b="1"/>
              <a:t>ON THE PORTAL, AFTER THE TEACHING:</a:t>
            </a:r>
          </a:p>
          <a:p>
            <a:r>
              <a:t>Section 4.2 of the participant file shows the four cards and the example's statement.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4.3 — STEP 3 · SUCCESS IN PRACTICE</a:t>
            </a:r>
          </a:p>
          <a:p/>
          <a:p>
            <a:r>
              <a:rPr b="1"/>
              <a:t>HOW TO TEACH IT:</a:t>
            </a:r>
          </a:p>
          <a:p/>
          <a:p>
            <a:r>
              <a:rPr b="1"/>
              <a:t>1. Position the room inside the future.</a:t>
            </a:r>
          </a:p>
          <a:p>
            <a:r>
              <a:rPr b="1"/>
              <a:t>Say: </a:t>
            </a:r>
            <a:r>
              <a:rPr/>
              <a:t>"Stand inside the future Kestrel Point's Intent describes. One central question guides the step: If our Strategy Intent is successful, what should we see in practice?"</a:t>
            </a:r>
          </a:p>
          <a:p/>
          <a:p>
            <a:r>
              <a:rPr b="1"/>
              <a:t>Deepen, say: </a:t>
            </a:r>
            <a:r>
              <a:rPr/>
              <a:t>"Long-term direction sometimes requires acting on a credible promise before the outcomes are visible, while still facing current facts honestly."</a:t>
            </a:r>
          </a:p>
          <a:p>
            <a:r>
              <a:t>(Insight: Credible promise, honest facts. Source: Journal, 17 August 2026 — Professional Insights: Strategy)</a:t>
            </a:r>
          </a:p>
          <a:p/>
          <a:p>
            <a:r>
              <a:rPr b="1"/>
              <a:t>2. Explain the method.</a:t>
            </a:r>
          </a:p>
          <a:p>
            <a:r>
              <a:rPr b="1"/>
              <a:t>Say: </a:t>
            </a:r>
            <a:r>
              <a:rPr/>
              <a:t>"Each domain has three questions. The answers lead to one statement for the domain, describing what is happening when the Intent is working."</a:t>
            </a:r>
          </a:p>
          <a:p/>
          <a:p>
            <a:r>
              <a:rPr b="1"/>
              <a:t>3. Read the example's four statements, one domain at a time.</a:t>
            </a:r>
          </a:p>
          <a:p>
            <a:r>
              <a:t>D1 · Customer Experience &amp; Value. Say: "Every client experiences fast, consistent and effortless service: requests are acknowledged at once, most are resolved at first contact, and key accounts are engaged before problems surface."</a:t>
            </a:r>
          </a:p>
          <a:p>
            <a:r>
              <a:t>D2 · Operational Capability &amp; Execution Rhythm. Say: "Kestrel Point moves quickly from insight to action across functions: decisions are taken at the right level within a day, handovers run without delay, and reporting is limited to what drives action."</a:t>
            </a:r>
          </a:p>
          <a:p>
            <a:r>
              <a:t>D3 · People &amp; Culture Dynamics. Say: "People hold shared ownership of enterprise priorities: teams work across functions without escalation, and every leader can name how their work serves the client promise."</a:t>
            </a:r>
          </a:p>
          <a:p>
            <a:r>
              <a:t>D4 · Enterprise Value Creation. Say: "Scalable, efficient service models strengthen enterprise performance: margins hold steady, growth comes from retained and expanded key accounts, and leadership attention goes to high-value work."</a:t>
            </a:r>
          </a:p>
          <a:p>
            <a:r>
              <a:t>Then read Kestrel Point's Success in Practice statement, which draws the four together. Say: "Kestrel Point is the partner clients rely on first: every client is served fast and consistently, decisions move within a day, people own enterprise priorities together, and growth comes from retained and expanded key accounts at steady margins."</a:t>
            </a:r>
          </a:p>
          <a:p/>
          <a:p>
            <a:r>
              <a:rPr b="1"/>
              <a:t>4. Test the four, using the two tests from Section 3.</a:t>
            </a:r>
          </a:p>
          <a:p>
            <a:r>
              <a:rPr b="1"/>
              <a:t>Say: </a:t>
            </a:r>
            <a:r>
              <a:rPr/>
              <a:t>"Depth: each statement names conditions a leader could observe in a hub.</a:t>
            </a:r>
          </a:p>
          <a:p>
            <a:r>
              <a:t>Balance: customer, operational, people and enterprise success each carry their own statement, so no one perspective defines success for the whole organisation."</a:t>
            </a:r>
          </a:p>
          <a:p/>
          <a:p>
            <a:r>
              <a:rPr b="1"/>
              <a:t>ON THE PORTAL, AFTER THE TEACHING:</a:t>
            </a:r>
          </a:p>
          <a:p>
            <a:r>
              <a:t>In Section 4.3 each domain opens to show the example's three answers and its statement.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4.3 — STEP 3 · THREE CONNECTED OUTPUTS</a:t>
            </a:r>
          </a:p>
          <a:p/>
          <a:p>
            <a:r>
              <a:rPr b="1"/>
              <a:t>HOW TO TEACH IT:</a:t>
            </a:r>
          </a:p>
          <a:p/>
          <a:p>
            <a:r>
              <a:rPr b="1"/>
              <a:t>1. Show the three outputs side by side.</a:t>
            </a:r>
          </a:p>
          <a:p>
            <a:r>
              <a:rPr b="1"/>
              <a:t>Say: </a:t>
            </a:r>
            <a:r>
              <a:rPr/>
              <a:t>"Kestrel Point now holds three connected outputs: its Strategy Architecture, its Strategy Intent Statement and its Success in Practice."</a:t>
            </a:r>
          </a:p>
          <a:p/>
          <a:p>
            <a:r>
              <a:rPr b="1"/>
              <a:t>2. Reinforce the connection, using the three lines on the slide.</a:t>
            </a:r>
          </a:p>
          <a:p>
            <a:r>
              <a:rPr b="1"/>
              <a:t>Say: </a:t>
            </a:r>
            <a:r>
              <a:rPr/>
              <a:t>"The Architecture provides the logic. The Intent crystallises the ambition. Success in Practice makes the ambition observable."</a:t>
            </a:r>
          </a:p>
          <a:p/>
          <a:p>
            <a:r>
              <a:rPr b="1"/>
              <a:t>3. Bridge to Section 5.</a:t>
            </a:r>
          </a:p>
          <a:p>
            <a:r>
              <a:rPr b="1"/>
              <a:t>Say: </a:t>
            </a:r>
            <a:r>
              <a:rPr/>
              <a:t>"In Section 5 your group builds these three outputs for its own simulated company, in the same order."</a:t>
            </a:r>
          </a:p>
          <a:p/>
          <a:p>
            <a:r>
              <a:rPr b="1"/>
              <a:t>ON THE PORTAL, AFTER THE TEACHING:</a:t>
            </a:r>
          </a:p>
          <a:p>
            <a:r>
              <a:t>Section 4 closes with the three outputs together.</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5 · APPLICATION — IN PRACTICE</a:t>
            </a:r>
          </a:p>
          <a:p/>
          <a:p>
            <a:r>
              <a:rPr b="1"/>
              <a:t>HOW THIS SECTION RUNS:</a:t>
            </a:r>
          </a:p>
          <a:p>
            <a:r>
              <a:rPr b="1"/>
              <a:t>1. 5.1: your company's strategy. Each group builds the Strategy Architecture, the Strategy Intent Statement and the Success in Practice of the simulated company from its Problem Charter.</a:t>
            </a:r>
          </a:p>
          <a:p>
            <a:r>
              <a:rPr b="1"/>
              <a:t>2. The Section 5 Reflections slide: the reflection participants write on the portal.</a:t>
            </a:r>
          </a:p>
          <a:p>
            <a:r>
              <a:t>The groups build the three outputs on the portal after the teaching, in the session or after it.</a:t>
            </a:r>
          </a:p>
          <a:p/>
          <a:p>
            <a:r>
              <a:rPr b="1"/>
              <a:t>HOW TO OPEN THE SECTION:</a:t>
            </a:r>
          </a:p>
          <a:p/>
          <a:p>
            <a:r>
              <a:rPr b="1"/>
              <a:t>1. State the section intent.</a:t>
            </a:r>
          </a:p>
          <a:p>
            <a:r>
              <a:rPr b="1"/>
              <a:t>Say: </a:t>
            </a:r>
            <a:r>
              <a:rPr/>
              <a:t>"This section is your group's Capstone work for Unit 2. Your group builds the strategy of the company it created in its Problem Charter."</a:t>
            </a:r>
          </a:p>
          <a:p/>
          <a:p>
            <a:r>
              <a:rPr b="1"/>
              <a:t>2. Read the two section learning outcomes from the slide.</a:t>
            </a:r>
          </a:p>
          <a:p>
            <a:r>
              <a:rPr b="1"/>
              <a:t>SECTION LEARNING OUTCOMES:</a:t>
            </a:r>
          </a:p>
          <a:p>
            <a:r>
              <a:rPr b="1"/>
              <a:t>1. Translate Success in Practice into clear executive contribution expectations.</a:t>
            </a:r>
          </a:p>
          <a:p>
            <a:r>
              <a:rPr b="1"/>
              <a:t>2. Coordinate leadership contributions required to realise strategic intent.</a:t>
            </a:r>
          </a:p>
          <a:p/>
          <a:p>
            <a:r>
              <a:rPr b="1"/>
              <a:t>3. Give the order of the work.</a:t>
            </a:r>
          </a:p>
          <a:p>
            <a:r>
              <a:rPr b="1"/>
              <a:t>Say: </a:t>
            </a:r>
            <a:r>
              <a:rPr/>
              <a:t>"Three steps, in the order you saw in the example: Step 1, the Strategy Architecture; Step 2, the Strategy Intent Statement; Step 3, Success in Practice."</a:t>
            </a:r>
          </a:p>
          <a:p/>
          <a:p>
            <a:r>
              <a:rPr b="1"/>
              <a:t>4. Say why the work is collective.</a:t>
            </a:r>
          </a:p>
          <a:p>
            <a:r>
              <a:rPr b="1"/>
              <a:t>Say: </a:t>
            </a:r>
            <a:r>
              <a:rPr/>
              <a:t>"Surface your differences before you resolve them. Different interpretations expose assumptions, trade-offs and places where the strategic thinking is not yet coherent."</a:t>
            </a:r>
          </a:p>
          <a:p/>
          <a:p>
            <a:r>
              <a:rPr b="1"/>
              <a:t>Deepen, say: </a:t>
            </a:r>
            <a:r>
              <a:rPr/>
              <a:t>"When the senior voice ends the conversation, the intelligence that lives at every level of the organisation never reaches the strategy."</a:t>
            </a:r>
          </a:p>
          <a:p>
            <a:r>
              <a:t>(Insight: Top-down cultures. Source: Journal, 9 January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5.1 — YOUR COMPANY'S STRATEGY (CAPSTONE WORK)</a:t>
            </a:r>
          </a:p>
          <a:p/>
          <a:p>
            <a:r>
              <a:rPr b="1"/>
              <a:t>HOW TO TEACH IT:</a:t>
            </a:r>
          </a:p>
          <a:p/>
          <a:p>
            <a:r>
              <a:rPr b="1"/>
              <a:t>1. Show where the group starts.</a:t>
            </a:r>
          </a:p>
          <a:p>
            <a:r>
              <a:rPr b="1"/>
              <a:t>Say: </a:t>
            </a:r>
            <a:r>
              <a:rPr/>
              <a:t>"At the top of 5.1 you see your group's simulated company, organisation, executive team and central problem from your Problem Charter. The strategy you build answers that problem."</a:t>
            </a:r>
          </a:p>
          <a:p/>
          <a:p>
            <a:r>
              <a:rPr b="1"/>
              <a:t>2. Explain the group record, using the picture on the slide.</a:t>
            </a:r>
          </a:p>
          <a:p>
            <a:r>
              <a:rPr b="1"/>
              <a:t>Say: </a:t>
            </a:r>
            <a:r>
              <a:rPr/>
              <a:t>"Your group chooses its scribe for this work from the drop-down in the group record bar. The scribe types what your group agrees, and the entries appear on every member's page.</a:t>
            </a:r>
          </a:p>
          <a:p>
            <a:r>
              <a:t>You can choose a different scribe for each assignment, and change the scribe at any time."</a:t>
            </a:r>
          </a:p>
          <a:p/>
          <a:p>
            <a:r>
              <a:rPr b="1"/>
              <a:t>3. Give the three steps.</a:t>
            </a:r>
          </a:p>
          <a:p>
            <a:r>
              <a:rPr b="1"/>
              <a:t>Say: </a:t>
            </a:r>
            <a:r>
              <a:rPr/>
              <a:t>"Step 1: answer the questions of each element and write what the element is saying. When all 14 are written, the scribe selects Bring the 14 elements together, they appear under the five headings, and your group edits the text until it says what you intend.</a:t>
            </a:r>
          </a:p>
          <a:p>
            <a:r>
              <a:t>Step 2: deduce one crisp Strategy Intent Statement from WHAT, WHY, HOW and WHEN.</a:t>
            </a:r>
          </a:p>
          <a:p>
            <a:r>
              <a:t>Step 3: answer the three questions of each SiP domain and write one statement for each, then one Success in Practice statement that draws the four together."</a:t>
            </a:r>
          </a:p>
          <a:p/>
          <a:p>
            <a:r>
              <a:rPr b="1"/>
              <a:t>4. Explain Agree.</a:t>
            </a:r>
          </a:p>
          <a:p>
            <a:r>
              <a:rPr b="1"/>
              <a:t>Close the group work with Our Position. Say: "When your record is complete, write as a group a short summary statement of your team's position from this unit, in the unit's own terms. Every member agrees it with the rest of the record. It closes this unit's section of your Capstone S2R Blueprint and guides the assessors through your work."</a:t>
            </a:r>
          </a:p>
          <a:p>
            <a:r>
              <a:rPr b="1"/>
              <a:t>Say: </a:t>
            </a:r>
            <a:r>
              <a:rPr/>
              <a:t>"In the Group record tab each member reads the record and selects Agree on their own page.</a:t>
            </a:r>
          </a:p>
          <a:p>
            <a:r>
              <a:t>When every member has agreed, the three outputs go into your team's Capstone S2R Blueprint. If the scribe changes an entry after that, the agreements clear and every member agrees again."</a:t>
            </a:r>
          </a:p>
          <a:p/>
          <a:p>
            <a:r>
              <a:rPr b="1"/>
              <a:t>5. Point to the example.</a:t>
            </a:r>
          </a:p>
          <a:p>
            <a:r>
              <a:rPr b="1"/>
              <a:t>Say: </a:t>
            </a:r>
            <a:r>
              <a:rPr/>
              <a:t>"Section 4 shows each step completed for Kestrel Point Services. Return to it whenever your group needs it."</a:t>
            </a:r>
          </a:p>
          <a:p/>
          <a:p>
            <a:r>
              <a:rPr b="1"/>
              <a:t>ON THE PORTAL, AFTER THE TEACHING:</a:t>
            </a:r>
          </a:p>
          <a:p>
            <a:r>
              <a:t>The group chooses its scribe in 5.1 of the participant file and builds the three steps. Each member reads the Group record and selects Agree. The three outputs feed parts 2A and 2B of the team's Capstone S2R Blueprint.</a:t>
            </a:r>
          </a:p>
          <a:p>
            <a:endParaRPr lang="en-GB" dirty="0"/>
          </a:p>
          <a:p>
            <a:r>
              <a:rPr lang="en-GB" dirty="0" b="1"/>
              <a:t>LATER, WHEN THE GROUPS DO THE WORK ON THE PORTAL:</a:t>
            </a:r>
          </a:p>
          <a:p>
            <a:r>
              <a:rPr lang="en-GB" dirty="0"/>
              <a:t>Your role is to guide how the work is completed. This is Capstone work and is assessed independently at the capstone.</a:t>
            </a:r>
          </a:p>
          <a:p>
            <a:r>
              <a:rPr lang="en-GB" dirty="0"/>
              <a:t>Step 1 · Strategy Architecture. Remind the group that the elements are interconnected, and that each element is answered with actual strategic choices. When all 14 are written, the six checks beside the Architecture box guide the group's reading: "What is this architecture collectively saying about our company's strategy?"</a:t>
            </a:r>
          </a:p>
          <a:p>
            <a:r>
              <a:rPr lang="en-GB" dirty="0"/>
              <a:t>Step 2 · Strategy Intent Statement. The group condenses the Architecture into one clear statement. Say: "The Architecture contains the depth. The Intent must provide the clarity." Where the statement exposes a contradiction, the group resolves it in the Architecture before finalising the Intent.</a:t>
            </a:r>
          </a:p>
          <a:p>
            <a:r>
              <a:rPr lang="en-GB" dirty="0"/>
              <a:t>Step 3 · Success in Practice. The group describes observable reality: what people see and experience when the strategy works. Ask: "What is happening when the strategy is working?" The observable indicators from Section 3 deepen the discussion, and the SiP Flammables are the final balance check, so that each domain has its place in the picture of success.</a:t>
            </a:r>
          </a:p>
          <a:p>
            <a:r>
              <a:rPr lang="en-GB" dirty="0"/>
              <a:t>Group record. Each member reads the full record and selects Agree on their own page. When every member has agreed, the group can print the three outputs as one report: Strategy Architecture → Strategy Intent → Success in Practice.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SECTION 5 REFLECTIONS</a:t>
            </a:r>
          </a:p>
          <a:p/>
          <a:p>
            <a:r>
              <a:rPr b="1"/>
              <a:t>HOW TO USE THIS SLIDE:</a:t>
            </a:r>
          </a:p>
          <a:p/>
          <a:p>
            <a:r>
              <a:rPr b="1"/>
              <a:t>1. Show the slide and read the prompt aloud.</a:t>
            </a:r>
          </a:p>
          <a:p>
            <a:r>
              <a:t>5.1 Reflection — Application: "Having completed the full application exercise — what is the single most important shift your organisation must make to close the gap between your current strategic capability and the SiP you have collectively described?"</a:t>
            </a:r>
          </a:p>
          <a:p/>
          <a:p>
            <a:r>
              <a:rPr b="1"/>
              <a:t>2. Say what the reflection is for.</a:t>
            </a:r>
          </a:p>
          <a:p>
            <a:r>
              <a:t>Point learners to the portal section that they will be required to complete with as much depth as possible.</a:t>
            </a:r>
          </a:p>
          <a:p>
            <a:r>
              <a:t>The reflections build the learning portfolio they receive at the end of the programme.</a:t>
            </a:r>
          </a:p>
          <a:p/>
          <a:p>
            <a:r>
              <a:rPr b="1"/>
              <a:t>Say: </a:t>
            </a:r>
            <a:r>
              <a:rPr/>
              <a:t>"You write this reflection on your own after your group has built its three outputs, with as much depth as you can."</a:t>
            </a:r>
          </a:p>
          <a:p/>
          <a:p>
            <a:r>
              <a:rPr b="1"/>
              <a:t>3. Set the standard.</a:t>
            </a:r>
          </a:p>
          <a:p>
            <a:r>
              <a:rPr b="1"/>
              <a:t>Say: </a:t>
            </a:r>
            <a:r>
              <a:rPr/>
              <a:t>"Name one shift only. Name it as a change in a decision, a capability or a behaviour.</a:t>
            </a:r>
          </a:p>
          <a:p>
            <a:r>
              <a:t>Say which gap it closes between your current strategic capability and the SiP your group described, and what your own role must do first."</a:t>
            </a:r>
          </a:p>
          <a:p/>
          <a:p>
            <a:r>
              <a:rPr b="1"/>
              <a:t>4. Say why the shift must reach behaviour.</a:t>
            </a:r>
          </a:p>
          <a:p>
            <a:r>
              <a:rPr b="1"/>
              <a:t>Say: </a:t>
            </a:r>
            <a:r>
              <a:rPr/>
              <a:t>"Organisations often rebuild structures without correcting the behaviours that caused the original failure."</a:t>
            </a:r>
          </a:p>
          <a:p>
            <a:r>
              <a:t>(Insight: Rebuilding without correcting. Source: Journal, 2 August 2026 — Professional Insights: Strategy)</a:t>
            </a:r>
          </a:p>
          <a:p/>
          <a:p>
            <a:r>
              <a:rPr b="1"/>
              <a:t>5. Bridge to the Unit Summary.</a:t>
            </a:r>
          </a:p>
          <a:p>
            <a:r>
              <a:rPr b="1"/>
              <a:t>Say: </a:t>
            </a:r>
            <a:r>
              <a:rPr/>
              <a:t>"We close the unit by returning to where we started."</a:t>
            </a:r>
          </a:p>
          <a:p/>
          <a:p>
            <a:r>
              <a:rPr b="1"/>
              <a:t>ON THE PORTAL, AFTER THE TEACHING:</a:t>
            </a:r>
          </a:p>
          <a:p>
            <a:r>
              <a:t>Participants write the reflection at the end of 5.1 of the participant file.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UNIT SUMMARY (UNIT 2 SYNTHESIS)</a:t>
            </a:r>
          </a:p>
          <a:p/>
          <a:p>
            <a:r>
              <a:rPr b="1"/>
              <a:t>HOW TO TEACH IT:</a:t>
            </a:r>
          </a:p>
          <a:p/>
          <a:p>
            <a:r>
              <a:rPr b="1"/>
              <a:t>1. Return to the opening question, on the slide.</a:t>
            </a:r>
          </a:p>
          <a:p>
            <a:r>
              <a:t>Go back to the definitions participants wrote when the session opened.</a:t>
            </a:r>
          </a:p>
          <a:p/>
          <a:p>
            <a:r>
              <a:t>The differences you noted on the chat. Ask two or three participants:</a:t>
            </a:r>
          </a:p>
          <a:p/>
          <a:p>
            <a:r>
              <a:t>"Read your original definition of strategy. What would you change in it now — and why?"</a:t>
            </a:r>
          </a:p>
          <a:p>
            <a:r>
              <a:rPr b="1"/>
              <a:t>Say: </a:t>
            </a:r>
            <a:r>
              <a:rPr/>
              <a:t>"The difference between your opening answer and your closing answer is the measure of what Unit 2 produced."</a:t>
            </a:r>
          </a:p>
          <a:p/>
          <a:p>
            <a:r>
              <a:rPr b="1"/>
              <a:t>2. Read the five summary blocks aloud.</a:t>
            </a:r>
          </a:p>
          <a:p/>
          <a:p>
            <a:r>
              <a:t>The summary is deliberately concise: its role is to crystallise the arc of the unit.</a:t>
            </a:r>
          </a:p>
          <a:p/>
          <a:p>
            <a:r>
              <a:t>The blocks describe the whole unit, including the work the groups complete on the portal.</a:t>
            </a:r>
          </a:p>
          <a:p/>
          <a:p>
            <a:r>
              <a:t>Awareness — What · What Was Established:</a:t>
            </a:r>
          </a:p>
          <a:p>
            <a:r>
              <a:t>Strategy was defined precisely: the output of iterative thinking, logic and process to determine what, why, how and when an organisation creates, delivers and sustains value to its stakeholders while navigating the forces within its operating environment.</a:t>
            </a:r>
          </a:p>
          <a:p>
            <a:r>
              <a:t>Each concept in the definition is part of the Strategy Architecture:</a:t>
            </a:r>
          </a:p>
          <a:p/>
          <a:p>
            <a:r>
              <a:t>The Strategy Intent Statement brings forward four dimensions from that architecture (WHAT, WHY, HOW and WHEN) and crystallises them into one clear statement.</a:t>
            </a:r>
          </a:p>
          <a:p/>
          <a:p>
            <a:r>
              <a:t>Success in Practice (SiP) defines what must be seen, experienced and executed for that ambition to become reality, across four observable domains: Customer Experience &amp; Value, Operational Capability &amp; Execution Rhythm, People &amp; Culture Dynamics, and Enterprise Value Creation.</a:t>
            </a:r>
          </a:p>
          <a:p/>
          <a:p>
            <a:r>
              <a:t>Intelligence — Why · Why It Matters:</a:t>
            </a:r>
          </a:p>
          <a:p>
            <a:r>
              <a:t>The Strategy Intent and SiP become useful when they shape how the organisation aligns, makes choices and executes.</a:t>
            </a:r>
          </a:p>
          <a:p/>
          <a:p>
            <a:r>
              <a:t>They serve three functions.</a:t>
            </a:r>
          </a:p>
          <a:p>
            <a:r>
              <a:t>Strategic Alignment keeps people and functions oriented around the same ambition and picture of success.</a:t>
            </a:r>
          </a:p>
          <a:p/>
          <a:p>
            <a:r>
              <a:t>The Decision Filter gives a basis for determining which choices, opportunities and investments support the strategy: the Strategy Intent tests strategic fit and SiP tests strategic contribution.</a:t>
            </a:r>
          </a:p>
          <a:p/>
          <a:p>
            <a:r>
              <a:t>Execution Coherence helps functions understand how their individual contributions connect to produce the enterprise outcome.</a:t>
            </a:r>
          </a:p>
          <a:p/>
          <a:p>
            <a:r>
              <a:t>Extrapolating — Where · Where Success Shows Up:</a:t>
            </a:r>
          </a:p>
          <a:p>
            <a:r>
              <a:t>Each SiP domain was examined through observable indicators in two positions: When Working and Signal of Absence.</a:t>
            </a:r>
          </a:p>
          <a:p>
            <a:r>
              <a:t>The indicators help leaders test, deepen and make observable the success they have defined.</a:t>
            </a:r>
          </a:p>
          <a:p/>
          <a:p>
            <a:r>
              <a:t>Integration — Collective · What Was Shown:</a:t>
            </a:r>
          </a:p>
          <a:p>
            <a:r>
              <a:t>One worked example took Kestrel Point Services through the three connected outputs.</a:t>
            </a:r>
          </a:p>
          <a:p>
            <a:r>
              <a:t>Its Strategy Architecture: the integrated strategic logic constructed from the 14 elements, each stating what it is saying.</a:t>
            </a:r>
          </a:p>
          <a:p>
            <a:r>
              <a:t>Its Strategy Intent Statement: the crisp expression of its ambition deduced from WHAT, WHY, HOW and WHEN.</a:t>
            </a:r>
          </a:p>
          <a:p>
            <a:r>
              <a:t>Its Success in Practice: four statements describing what realising that ambition looks like across the organisation, tested for depth and balance.</a:t>
            </a:r>
          </a:p>
          <a:p/>
          <a:p>
            <a:r>
              <a:t>Application — In Practice · What Was Built:</a:t>
            </a:r>
          </a:p>
          <a:p>
            <a:r>
              <a:t>Each group built the same three outputs for its own simulated company. Every member agreed the group record, and the three outputs went into the team's Capstone S2R Blueprint.</a:t>
            </a:r>
          </a:p>
          <a:p>
            <a:r>
              <a:t>The Architecture provides the logic. The Intent crystallises the ambition. Success in Practice makes the ambition observable.</a:t>
            </a:r>
          </a:p>
          <a:p>
            <a:r>
              <a:t>These outputs are the strategic foundation that later S2R® work carries into alignment, execution and performance.</a:t>
            </a:r>
          </a:p>
          <a:p/>
          <a:p/>
          <a:p>
            <a:r>
              <a:rPr b="1"/>
              <a:t>3. Run the tangible outputs check.</a:t>
            </a:r>
          </a:p>
          <a:p>
            <a:r>
              <a:t>Before closing, confirm with the group that the following have been produced or are in progress:</a:t>
            </a:r>
          </a:p>
          <a:p>
            <a:r>
              <a:t>- A Strategy Architecture from each group</a:t>
            </a:r>
          </a:p>
          <a:p>
            <a:r>
              <a:t>- A Strategy Intent Statement from each group</a:t>
            </a:r>
          </a:p>
          <a:p>
            <a:r>
              <a:t>- Four SiP statements from each group, agreed by every member</a:t>
            </a:r>
          </a:p>
          <a:p/>
          <a:p>
            <a:r>
              <a:rPr b="1"/>
              <a:t>4. Ask for the closing commitment, on the slide.</a:t>
            </a:r>
          </a:p>
          <a:p>
            <a:r>
              <a:t>Ask each participant to complete this sentence privately:</a:t>
            </a:r>
          </a:p>
          <a:p>
            <a:r>
              <a:t>"Based on what Unit 2 revealed, the one thing I am committed to doing differently before our next session is…"</a:t>
            </a:r>
          </a:p>
          <a:p>
            <a:r>
              <a:t>Post in the chat. These become the accountability anchors for Unit 3.</a:t>
            </a:r>
          </a:p>
          <a:p/>
          <a:p>
            <a:r>
              <a:rPr b="1"/>
              <a:t>5. Give the transition to Unit 3.</a:t>
            </a:r>
          </a:p>
          <a:p>
            <a:r>
              <a:rPr b="1"/>
              <a:t>Say: </a:t>
            </a:r>
            <a:r>
              <a:rPr/>
              <a:t>"What we built today is the strategic foundation: the Architecture, the Intent and the Success in Practice.</a:t>
            </a:r>
          </a:p>
          <a:p/>
          <a:p>
            <a:r>
              <a:t>Unit 3 maps that Success in Practice and defines the Objectives and Key Results that will measure our progress towards it."</a:t>
            </a:r>
          </a:p>
          <a:p/>
          <a:p>
            <a:r>
              <a:rPr b="1"/>
              <a:t>6. Hand over to the portal.</a:t>
            </a:r>
          </a:p>
          <a:p>
            <a:r>
              <a:rPr b="1"/>
              <a:t>Say: </a:t>
            </a:r>
            <a:r>
              <a:rPr/>
              <a:t>"The teaching ends here. You now go to the portal and complete your own page, in the session or after it."</a:t>
            </a:r>
          </a:p>
          <a:p>
            <a:r>
              <a:t>- Section 1: the opening definition of strategy and the 1.1 reflection.</a:t>
            </a:r>
          </a:p>
          <a:p>
            <a:r>
              <a:t>- Section 2: the 2.1 reflection.</a:t>
            </a:r>
          </a:p>
          <a:p>
            <a:r>
              <a:t>- Section 3: the 3.1 reflection.</a:t>
            </a:r>
          </a:p>
          <a:p>
            <a:r>
              <a:t>- Section 4: the worked example, to read.</a:t>
            </a:r>
          </a:p>
          <a:p>
            <a:r>
              <a:t>- Section 5, with the group: the Strategy Architecture, the Strategy Intent Statement and the four SiP statements of the group's simulated company. The group chooses its scribe for this work, the entries appear on every member's page, and each member selects Agree. Then the 5.1 reflection, on their own.</a:t>
            </a:r>
          </a:p>
          <a:p>
            <a:r>
              <a:t>Participants then submit Unit 2 to the facilitator from their page.</a:t>
            </a:r>
          </a:p>
          <a:p/>
          <a:p>
            <a:r>
              <a:rPr b="1"/>
              <a:t>AFTER THE SESSION:</a:t>
            </a:r>
          </a:p>
          <a:p>
            <a:r>
              <a:t>- Review each participant’s reflections from the facilitator dashboard. The group's three outputs are Capstone work and are assessed independently at the capstone.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6.png"/><Relationship Id="rId6"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8.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6.png"/><Relationship Id="rId6"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20.png"/><Relationship Id="rId6"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7.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4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6.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35.png"/><Relationship Id="rId6" Type="http://schemas.openxmlformats.org/officeDocument/2006/relationships/image" Target="../media/image2.png"/><Relationship Id="rId7" Type="http://schemas.openxmlformats.org/officeDocument/2006/relationships/image" Target="../media/image4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6.png"/><Relationship Id="rId6"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46.png"/><Relationship Id="rId4" Type="http://schemas.openxmlformats.org/officeDocument/2006/relationships/image" Target="../media/image12.png"/><Relationship Id="rId5"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47.png"/><Relationship Id="rId4" Type="http://schemas.openxmlformats.org/officeDocument/2006/relationships/image" Target="../media/image5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48.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2 · Direction · Unit 2</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Strategy Visioning &amp; Success in Practice (SiP)</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Strategy Architecture · Strategy Intent Statement · Success in Practice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Design a coherent strategic direction that connects organisational purpose, stakeholder value and long-term ambition.</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Articulate a shared future position and define what organisational success will look like in practice.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Test strategic ambition against organisational identity and operating realities to strengthen its feasibility.</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Align enterprise decisions and leadership interpretation around a common strategic direction.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Strategy?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Frame strategic direction in terms of the value and success the organisation intends to create.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Differentiate strategic direction from the future position it seeks while maintaining coherence between them.</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Opening the session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Write your definition of strategy in one sentence — right now, without consulting anyone.</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1.1a · Define the Strategy Architecture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Strategy is the output of iterative thinking, logic and process to determine what, why, how and when an organisation creates, delivers and sustains value to its stakeholders while navigating the forces within its operating environment.</a:t>
            </a:r>
            <a:endParaRPr lang="en-US" sz="3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Building the Strategy Architecture</a:t>
            </a:r>
            <a:endParaRPr lang="en-US" sz="3600" dirty="0"/>
          </a:p>
        </p:txBody>
      </p:sp>
      <p:sp>
        <p:nvSpPr>
          <p:cNvPr id="3" name="Shape 1"/>
          <p:cNvSpPr/>
          <p:nvPr/>
        </p:nvSpPr>
        <p:spPr>
          <a:xfrm>
            <a:off x="548640" y="159029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43763" y="1685417"/>
            <a:ext cx="190246" cy="190246"/>
          </a:xfrm>
          <a:prstGeom prst="rect">
            <a:avLst/>
          </a:prstGeom>
        </p:spPr>
      </p:pic>
      <p:sp>
        <p:nvSpPr>
          <p:cNvPr id="5" name="Text 2"/>
          <p:cNvSpPr txBox="1"/>
          <p:nvPr/>
        </p:nvSpPr>
        <p:spPr>
          <a:xfrm>
            <a:off x="1249172" y="150876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OUTPUT  </a:t>
            </a:r>
            <a:r>
              <a:rPr lang="en-US" sz="2400" dirty="0">
                <a:solidFill>
                  <a:srgbClr val="1F2A22"/>
                </a:solidFill>
                <a:latin typeface="Calibri" pitchFamily="34" charset="0"/>
                <a:ea typeface="Calibri" pitchFamily="34" charset="-122"/>
                <a:cs typeface="Calibri" pitchFamily="34" charset="-120"/>
              </a:rPr>
              <a:t>A decided position</a:t>
            </a:r>
            <a:endParaRPr lang="en-US" sz="2400" dirty="0"/>
          </a:p>
        </p:txBody>
      </p:sp>
      <p:sp>
        <p:nvSpPr>
          <p:cNvPr id="6" name="Shape 3"/>
          <p:cNvSpPr/>
          <p:nvPr/>
        </p:nvSpPr>
        <p:spPr>
          <a:xfrm>
            <a:off x="548640" y="213385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643763" y="2228977"/>
            <a:ext cx="190246" cy="190246"/>
          </a:xfrm>
          <a:prstGeom prst="rect">
            <a:avLst/>
          </a:prstGeom>
        </p:spPr>
      </p:pic>
      <p:sp>
        <p:nvSpPr>
          <p:cNvPr id="8" name="Text 4"/>
          <p:cNvSpPr txBox="1"/>
          <p:nvPr/>
        </p:nvSpPr>
        <p:spPr>
          <a:xfrm>
            <a:off x="1249172" y="205232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ITERATIVE  </a:t>
            </a:r>
            <a:r>
              <a:rPr lang="en-US" sz="2400" dirty="0">
                <a:solidFill>
                  <a:srgbClr val="1F2A22"/>
                </a:solidFill>
                <a:latin typeface="Calibri" pitchFamily="34" charset="0"/>
                <a:ea typeface="Calibri" pitchFamily="34" charset="-122"/>
                <a:cs typeface="Calibri" pitchFamily="34" charset="-120"/>
              </a:rPr>
              <a:t>Continuously refined</a:t>
            </a:r>
            <a:endParaRPr lang="en-US" sz="2400" dirty="0"/>
          </a:p>
        </p:txBody>
      </p:sp>
      <p:sp>
        <p:nvSpPr>
          <p:cNvPr id="9" name="Shape 5"/>
          <p:cNvSpPr/>
          <p:nvPr/>
        </p:nvSpPr>
        <p:spPr>
          <a:xfrm>
            <a:off x="548640" y="267741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643763" y="2772537"/>
            <a:ext cx="190246" cy="190246"/>
          </a:xfrm>
          <a:prstGeom prst="rect">
            <a:avLst/>
          </a:prstGeom>
        </p:spPr>
      </p:pic>
      <p:sp>
        <p:nvSpPr>
          <p:cNvPr id="11" name="Text 6"/>
          <p:cNvSpPr txBox="1"/>
          <p:nvPr/>
        </p:nvSpPr>
        <p:spPr>
          <a:xfrm>
            <a:off x="1249172" y="259588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THINKING &amp; LOGIC  </a:t>
            </a:r>
            <a:r>
              <a:rPr lang="en-US" sz="2400" dirty="0">
                <a:solidFill>
                  <a:srgbClr val="1F2A22"/>
                </a:solidFill>
                <a:latin typeface="Calibri" pitchFamily="34" charset="0"/>
                <a:ea typeface="Calibri" pitchFamily="34" charset="-122"/>
                <a:cs typeface="Calibri" pitchFamily="34" charset="-120"/>
              </a:rPr>
              <a:t>The cognitive engine</a:t>
            </a:r>
            <a:endParaRPr lang="en-US" sz="2400" dirty="0"/>
          </a:p>
        </p:txBody>
      </p:sp>
      <p:sp>
        <p:nvSpPr>
          <p:cNvPr id="12" name="Shape 7"/>
          <p:cNvSpPr/>
          <p:nvPr/>
        </p:nvSpPr>
        <p:spPr>
          <a:xfrm>
            <a:off x="548640" y="322097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643763" y="3316097"/>
            <a:ext cx="190246" cy="190246"/>
          </a:xfrm>
          <a:prstGeom prst="rect">
            <a:avLst/>
          </a:prstGeom>
        </p:spPr>
      </p:pic>
      <p:sp>
        <p:nvSpPr>
          <p:cNvPr id="14" name="Text 8"/>
          <p:cNvSpPr txBox="1"/>
          <p:nvPr/>
        </p:nvSpPr>
        <p:spPr>
          <a:xfrm>
            <a:off x="1249172" y="313944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PROCESS  </a:t>
            </a:r>
            <a:r>
              <a:rPr lang="en-US" sz="2400" dirty="0">
                <a:solidFill>
                  <a:srgbClr val="1F2A22"/>
                </a:solidFill>
                <a:latin typeface="Calibri" pitchFamily="34" charset="0"/>
                <a:ea typeface="Calibri" pitchFamily="34" charset="-122"/>
                <a:cs typeface="Calibri" pitchFamily="34" charset="-120"/>
              </a:rPr>
              <a:t>The structured container</a:t>
            </a:r>
            <a:endParaRPr lang="en-US" sz="2400" dirty="0"/>
          </a:p>
        </p:txBody>
      </p:sp>
      <p:sp>
        <p:nvSpPr>
          <p:cNvPr id="15" name="Shape 9"/>
          <p:cNvSpPr/>
          <p:nvPr/>
        </p:nvSpPr>
        <p:spPr>
          <a:xfrm>
            <a:off x="548640" y="376453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3"/>
          <a:stretch>
            <a:fillRect/>
          </a:stretch>
        </p:blipFill>
        <p:spPr>
          <a:xfrm>
            <a:off x="643763" y="3859657"/>
            <a:ext cx="190246" cy="190246"/>
          </a:xfrm>
          <a:prstGeom prst="rect">
            <a:avLst/>
          </a:prstGeom>
        </p:spPr>
      </p:pic>
      <p:sp>
        <p:nvSpPr>
          <p:cNvPr id="17" name="Text 10"/>
          <p:cNvSpPr txBox="1"/>
          <p:nvPr/>
        </p:nvSpPr>
        <p:spPr>
          <a:xfrm>
            <a:off x="1249172" y="368300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WHAT · WHY · HOW · WHEN  </a:t>
            </a:r>
            <a:r>
              <a:rPr lang="en-US" sz="2400" dirty="0">
                <a:solidFill>
                  <a:srgbClr val="1F2A22"/>
                </a:solidFill>
                <a:latin typeface="Calibri" pitchFamily="34" charset="0"/>
                <a:ea typeface="Calibri" pitchFamily="34" charset="-122"/>
                <a:cs typeface="Calibri" pitchFamily="34" charset="-120"/>
              </a:rPr>
              <a:t>The 3Ws &amp; H — complete decision space</a:t>
            </a:r>
            <a:endParaRPr lang="en-US" sz="2400" dirty="0"/>
          </a:p>
        </p:txBody>
      </p:sp>
      <p:sp>
        <p:nvSpPr>
          <p:cNvPr id="18" name="Shape 11"/>
          <p:cNvSpPr/>
          <p:nvPr/>
        </p:nvSpPr>
        <p:spPr>
          <a:xfrm>
            <a:off x="548640" y="430809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3"/>
          <a:stretch>
            <a:fillRect/>
          </a:stretch>
        </p:blipFill>
        <p:spPr>
          <a:xfrm>
            <a:off x="643763" y="4403217"/>
            <a:ext cx="190246" cy="190246"/>
          </a:xfrm>
          <a:prstGeom prst="rect">
            <a:avLst/>
          </a:prstGeom>
        </p:spPr>
      </p:pic>
      <p:sp>
        <p:nvSpPr>
          <p:cNvPr id="20" name="Text 12"/>
          <p:cNvSpPr txBox="1"/>
          <p:nvPr/>
        </p:nvSpPr>
        <p:spPr>
          <a:xfrm>
            <a:off x="1249172" y="422656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CREATES · DELIVERS · SUSTAINS  </a:t>
            </a:r>
            <a:r>
              <a:rPr lang="en-US" sz="2400" dirty="0">
                <a:solidFill>
                  <a:srgbClr val="1F2A22"/>
                </a:solidFill>
                <a:latin typeface="Calibri" pitchFamily="34" charset="0"/>
                <a:ea typeface="Calibri" pitchFamily="34" charset="-122"/>
                <a:cs typeface="Calibri" pitchFamily="34" charset="-120"/>
              </a:rPr>
              <a:t>The Value Triad</a:t>
            </a:r>
            <a:endParaRPr lang="en-US" sz="2400" dirty="0"/>
          </a:p>
        </p:txBody>
      </p:sp>
      <p:sp>
        <p:nvSpPr>
          <p:cNvPr id="21" name="Shape 13"/>
          <p:cNvSpPr/>
          <p:nvPr/>
        </p:nvSpPr>
        <p:spPr>
          <a:xfrm>
            <a:off x="548640" y="485165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2" name="Image 6" descr="preencoded.png"/>
          <p:cNvPicPr>
            <a:picLocks noChangeAspect="1"/>
          </p:cNvPicPr>
          <p:nvPr/>
        </p:nvPicPr>
        <p:blipFill>
          <a:blip r:embed="rId3"/>
          <a:stretch>
            <a:fillRect/>
          </a:stretch>
        </p:blipFill>
        <p:spPr>
          <a:xfrm>
            <a:off x="643763" y="4946777"/>
            <a:ext cx="190246" cy="190246"/>
          </a:xfrm>
          <a:prstGeom prst="rect">
            <a:avLst/>
          </a:prstGeom>
        </p:spPr>
      </p:pic>
      <p:sp>
        <p:nvSpPr>
          <p:cNvPr id="23" name="Text 14"/>
          <p:cNvSpPr txBox="1"/>
          <p:nvPr/>
        </p:nvSpPr>
        <p:spPr>
          <a:xfrm>
            <a:off x="1249172" y="477012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STAKEHOLDERS  </a:t>
            </a:r>
            <a:r>
              <a:rPr lang="en-US" sz="2400" dirty="0">
                <a:solidFill>
                  <a:srgbClr val="1F2A22"/>
                </a:solidFill>
                <a:latin typeface="Calibri" pitchFamily="34" charset="0"/>
                <a:ea typeface="Calibri" pitchFamily="34" charset="-122"/>
                <a:cs typeface="Calibri" pitchFamily="34" charset="-120"/>
              </a:rPr>
              <a:t>Broader than customers</a:t>
            </a:r>
            <a:endParaRPr lang="en-US" sz="2400" dirty="0"/>
          </a:p>
        </p:txBody>
      </p:sp>
      <p:sp>
        <p:nvSpPr>
          <p:cNvPr id="24" name="Shape 15"/>
          <p:cNvSpPr/>
          <p:nvPr/>
        </p:nvSpPr>
        <p:spPr>
          <a:xfrm>
            <a:off x="548640" y="539521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5" name="Image 7" descr="preencoded.png"/>
          <p:cNvPicPr>
            <a:picLocks noChangeAspect="1"/>
          </p:cNvPicPr>
          <p:nvPr/>
        </p:nvPicPr>
        <p:blipFill>
          <a:blip r:embed="rId3"/>
          <a:stretch>
            <a:fillRect/>
          </a:stretch>
        </p:blipFill>
        <p:spPr>
          <a:xfrm>
            <a:off x="643763" y="5490337"/>
            <a:ext cx="190246" cy="190246"/>
          </a:xfrm>
          <a:prstGeom prst="rect">
            <a:avLst/>
          </a:prstGeom>
        </p:spPr>
      </p:pic>
      <p:sp>
        <p:nvSpPr>
          <p:cNvPr id="26" name="Text 16"/>
          <p:cNvSpPr txBox="1"/>
          <p:nvPr/>
        </p:nvSpPr>
        <p:spPr>
          <a:xfrm>
            <a:off x="1249172" y="531368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NAVIGATING  </a:t>
            </a:r>
            <a:r>
              <a:rPr lang="en-US" sz="2400" dirty="0">
                <a:solidFill>
                  <a:srgbClr val="1F2A22"/>
                </a:solidFill>
                <a:latin typeface="Calibri" pitchFamily="34" charset="0"/>
                <a:ea typeface="Calibri" pitchFamily="34" charset="-122"/>
                <a:cs typeface="Calibri" pitchFamily="34" charset="-120"/>
              </a:rPr>
              <a:t>Active, skilful movement through forces</a:t>
            </a:r>
            <a:endParaRPr lang="en-US" sz="2400" dirty="0"/>
          </a:p>
        </p:txBody>
      </p:sp>
      <p:sp>
        <p:nvSpPr>
          <p:cNvPr id="27" name="Shape 17"/>
          <p:cNvSpPr/>
          <p:nvPr/>
        </p:nvSpPr>
        <p:spPr>
          <a:xfrm>
            <a:off x="548640" y="593877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8" name="Image 8" descr="preencoded.png"/>
          <p:cNvPicPr>
            <a:picLocks noChangeAspect="1"/>
          </p:cNvPicPr>
          <p:nvPr/>
        </p:nvPicPr>
        <p:blipFill>
          <a:blip r:embed="rId3"/>
          <a:stretch>
            <a:fillRect/>
          </a:stretch>
        </p:blipFill>
        <p:spPr>
          <a:xfrm>
            <a:off x="643763" y="6033897"/>
            <a:ext cx="190246" cy="190246"/>
          </a:xfrm>
          <a:prstGeom prst="rect">
            <a:avLst/>
          </a:prstGeom>
        </p:spPr>
      </p:pic>
      <p:sp>
        <p:nvSpPr>
          <p:cNvPr id="29" name="Text 18"/>
          <p:cNvSpPr txBox="1"/>
          <p:nvPr/>
        </p:nvSpPr>
        <p:spPr>
          <a:xfrm>
            <a:off x="1249172" y="585724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THE FORCES  </a:t>
            </a:r>
            <a:r>
              <a:rPr lang="en-US" sz="2400" dirty="0">
                <a:solidFill>
                  <a:srgbClr val="1F2A22"/>
                </a:solidFill>
                <a:latin typeface="Calibri" pitchFamily="34" charset="0"/>
                <a:ea typeface="Calibri" pitchFamily="34" charset="-122"/>
                <a:cs typeface="Calibri" pitchFamily="34" charset="-120"/>
              </a:rPr>
              <a:t>Five categories every strategy must navigate</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Defining the Strategy Intent Statement</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WHAT</a:t>
            </a:r>
            <a:endParaRPr lang="en-US" sz="2800" dirty="0"/>
          </a:p>
        </p:txBody>
      </p:sp>
      <p:sp>
        <p:nvSpPr>
          <p:cNvPr id="7" name="Text 4"/>
          <p:cNvSpPr txBox="1"/>
          <p:nvPr/>
        </p:nvSpPr>
        <p:spPr>
          <a:xfrm>
            <a:off x="777240"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Scope &amp; Definition</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3778758" y="1897380"/>
            <a:ext cx="320040" cy="320040"/>
          </a:xfrm>
          <a:prstGeom prst="rect">
            <a:avLst/>
          </a:prstGeom>
        </p:spPr>
      </p:pic>
      <p:sp>
        <p:nvSpPr>
          <p:cNvPr id="11" name="Text 7"/>
          <p:cNvSpPr txBox="1"/>
          <p:nvPr/>
        </p:nvSpPr>
        <p:spPr>
          <a:xfrm>
            <a:off x="3618738"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WHY</a:t>
            </a:r>
            <a:endParaRPr lang="en-US" sz="2800" dirty="0"/>
          </a:p>
        </p:txBody>
      </p:sp>
      <p:sp>
        <p:nvSpPr>
          <p:cNvPr id="12" name="Text 8"/>
          <p:cNvSpPr txBox="1"/>
          <p:nvPr/>
        </p:nvSpPr>
        <p:spPr>
          <a:xfrm>
            <a:off x="3618738"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Purpose &amp; Rationale</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6620256" y="1897380"/>
            <a:ext cx="320040" cy="320040"/>
          </a:xfrm>
          <a:prstGeom prst="rect">
            <a:avLst/>
          </a:prstGeom>
        </p:spPr>
      </p:pic>
      <p:sp>
        <p:nvSpPr>
          <p:cNvPr id="16" name="Text 11"/>
          <p:cNvSpPr txBox="1"/>
          <p:nvPr/>
        </p:nvSpPr>
        <p:spPr>
          <a:xfrm>
            <a:off x="6460236"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HOW</a:t>
            </a:r>
            <a:endParaRPr lang="en-US" sz="2800" dirty="0"/>
          </a:p>
        </p:txBody>
      </p:sp>
      <p:sp>
        <p:nvSpPr>
          <p:cNvPr id="17" name="Text 12"/>
          <p:cNvSpPr txBox="1"/>
          <p:nvPr/>
        </p:nvSpPr>
        <p:spPr>
          <a:xfrm>
            <a:off x="6460236"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Mechanism &amp; Model</a:t>
            </a:r>
            <a:endParaRPr lang="en-US" sz="2400" dirty="0"/>
          </a:p>
        </p:txBody>
      </p:sp>
      <p:sp>
        <p:nvSpPr>
          <p:cNvPr id="18" name="Shape 13"/>
          <p:cNvSpPr/>
          <p:nvPr/>
        </p:nvSpPr>
        <p:spPr>
          <a:xfrm>
            <a:off x="9073134"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930173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9461754" y="1897380"/>
            <a:ext cx="320040" cy="320040"/>
          </a:xfrm>
          <a:prstGeom prst="rect">
            <a:avLst/>
          </a:prstGeom>
        </p:spPr>
      </p:pic>
      <p:sp>
        <p:nvSpPr>
          <p:cNvPr id="21" name="Text 15"/>
          <p:cNvSpPr txBox="1"/>
          <p:nvPr/>
        </p:nvSpPr>
        <p:spPr>
          <a:xfrm>
            <a:off x="9301734"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WHEN</a:t>
            </a:r>
            <a:endParaRPr lang="en-US" sz="2800" dirty="0"/>
          </a:p>
        </p:txBody>
      </p:sp>
      <p:sp>
        <p:nvSpPr>
          <p:cNvPr id="22" name="Text 16"/>
          <p:cNvSpPr txBox="1"/>
          <p:nvPr/>
        </p:nvSpPr>
        <p:spPr>
          <a:xfrm>
            <a:off x="9301734"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Timing &amp; Sequencing</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Four dimensions, crystallised into one clear Strategy Intent Statement.</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Defining the Success in Practice</a:t>
            </a:r>
            <a:endParaRPr lang="en-US" sz="3600" dirty="0"/>
          </a:p>
        </p:txBody>
      </p:sp>
      <p:sp>
        <p:nvSpPr>
          <p:cNvPr id="3" name="Shape 1"/>
          <p:cNvSpPr/>
          <p:nvPr/>
        </p:nvSpPr>
        <p:spPr>
          <a:xfrm>
            <a:off x="548640" y="150876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D1 · Customer Experience &amp; Value</a:t>
            </a:r>
            <a:endParaRPr lang="en-US" sz="2600" dirty="0"/>
          </a:p>
        </p:txBody>
      </p:sp>
      <p:sp>
        <p:nvSpPr>
          <p:cNvPr id="7" name="Text 4"/>
          <p:cNvSpPr txBox="1"/>
          <p:nvPr/>
        </p:nvSpPr>
        <p:spPr>
          <a:xfrm>
            <a:off x="777240" y="2752344"/>
            <a:ext cx="4951476" cy="4480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customers experience</a:t>
            </a:r>
            <a:endParaRPr lang="en-US" sz="2400" dirty="0"/>
          </a:p>
        </p:txBody>
      </p:sp>
      <p:sp>
        <p:nvSpPr>
          <p:cNvPr id="8" name="Shape 5"/>
          <p:cNvSpPr/>
          <p:nvPr/>
        </p:nvSpPr>
        <p:spPr>
          <a:xfrm>
            <a:off x="6231636" y="150876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D2 · Operational Capability &amp; Execution Rhythm</a:t>
            </a:r>
            <a:endParaRPr lang="en-US" sz="2600" dirty="0"/>
          </a:p>
        </p:txBody>
      </p:sp>
      <p:sp>
        <p:nvSpPr>
          <p:cNvPr id="12" name="Text 8"/>
          <p:cNvSpPr txBox="1"/>
          <p:nvPr/>
        </p:nvSpPr>
        <p:spPr>
          <a:xfrm>
            <a:off x="6460236" y="2752344"/>
            <a:ext cx="4951476" cy="4480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How the organisation operates</a:t>
            </a:r>
            <a:endParaRPr lang="en-US" sz="2400" dirty="0"/>
          </a:p>
        </p:txBody>
      </p:sp>
      <p:sp>
        <p:nvSpPr>
          <p:cNvPr id="13" name="Shape 9"/>
          <p:cNvSpPr/>
          <p:nvPr/>
        </p:nvSpPr>
        <p:spPr>
          <a:xfrm>
            <a:off x="548640" y="361188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38404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3977640"/>
            <a:ext cx="274320" cy="274320"/>
          </a:xfrm>
          <a:prstGeom prst="rect">
            <a:avLst/>
          </a:prstGeom>
        </p:spPr>
      </p:pic>
      <p:sp>
        <p:nvSpPr>
          <p:cNvPr id="16" name="Text 11"/>
          <p:cNvSpPr txBox="1"/>
          <p:nvPr/>
        </p:nvSpPr>
        <p:spPr>
          <a:xfrm>
            <a:off x="1508760" y="37947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D3 · People &amp; Culture Dynamics</a:t>
            </a:r>
            <a:endParaRPr lang="en-US" sz="2600" dirty="0"/>
          </a:p>
        </p:txBody>
      </p:sp>
      <p:sp>
        <p:nvSpPr>
          <p:cNvPr id="17" name="Text 12"/>
          <p:cNvSpPr txBox="1"/>
          <p:nvPr/>
        </p:nvSpPr>
        <p:spPr>
          <a:xfrm>
            <a:off x="777240" y="4855464"/>
            <a:ext cx="4951476" cy="4480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How people decide and behave</a:t>
            </a:r>
            <a:endParaRPr lang="en-US" sz="2400" dirty="0"/>
          </a:p>
        </p:txBody>
      </p:sp>
      <p:sp>
        <p:nvSpPr>
          <p:cNvPr id="18" name="Shape 13"/>
          <p:cNvSpPr/>
          <p:nvPr/>
        </p:nvSpPr>
        <p:spPr>
          <a:xfrm>
            <a:off x="6231636" y="361188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38404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3977640"/>
            <a:ext cx="274320" cy="274320"/>
          </a:xfrm>
          <a:prstGeom prst="rect">
            <a:avLst/>
          </a:prstGeom>
        </p:spPr>
      </p:pic>
      <p:sp>
        <p:nvSpPr>
          <p:cNvPr id="21" name="Text 15"/>
          <p:cNvSpPr txBox="1"/>
          <p:nvPr/>
        </p:nvSpPr>
        <p:spPr>
          <a:xfrm>
            <a:off x="7191756" y="37947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D4 · Enterprise Value Creation</a:t>
            </a:r>
            <a:endParaRPr lang="en-US" sz="2600" dirty="0"/>
          </a:p>
        </p:txBody>
      </p:sp>
      <p:sp>
        <p:nvSpPr>
          <p:cNvPr id="22" name="Text 16"/>
          <p:cNvSpPr txBox="1"/>
          <p:nvPr/>
        </p:nvSpPr>
        <p:spPr>
          <a:xfrm>
            <a:off x="6460236" y="4855464"/>
            <a:ext cx="4951476" cy="4480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How the organisation benefits</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“If our Strategy Intent is successful, what should we see in practice?”</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1" descr="Reflection — Strategy Architecture: Which part of your organisation's strategy architecture is least well defined today? What is the consequence?"/>
          <p:cNvPicPr>
            <a:picLocks noChangeAspect="1"/>
          </p:cNvPicPr>
          <p:nvPr/>
        </p:nvPicPr>
        <p:blipFill>
          <a:blip r:embed="rId3"/>
          <a:stretch>
            <a:fillRect/>
          </a:stretch>
        </p:blipFill>
        <p:spPr>
          <a:xfrm>
            <a:off x="1691640" y="1572768"/>
            <a:ext cx="9921240" cy="1140372"/>
          </a:xfrm>
          <a:prstGeom prst="rect">
            <a:avLst/>
          </a:prstGeom>
        </p:spPr>
      </p:pic>
      <p:sp>
        <p:nvSpPr>
          <p:cNvPr id="4" name="Part 1.1"/>
          <p:cNvSpPr/>
          <p:nvPr/>
        </p:nvSpPr>
        <p:spPr>
          <a:xfrm>
            <a:off x="548640" y="170861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Importance and Relevance of SiP</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Reconcile leadership perspectives into a shared strategic ambition and picture of success.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Apply strategic direction as a consistent basis for enterprise decisions.</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Intent &amp; SiP in the S2R® Architecture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Strategic Alignment</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People and functions oriented around the same ambition and picture of success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Decision Filter</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A basis for deciding which choices, opportunities and investments support the strategy</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Execution Coherence</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Individual contributions connect to produce the enterprise outcome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Intent anchors the ambition. SiP anchors the reality it is intended to produce.</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2.1.1 · Strategic Alignment</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Strategy Intent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Anchors the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Shared understanding of the ambition and the choices that define it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Leaders anchored to the same WHAT, WHY, HOW and WHEN</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SiP</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Anchors the reality</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 shared picture of what successful realisation looks like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Different contributions, the same organisational reality</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Strategy fragments when leaders interpret the ambition differently.</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2.1.2 · Decision Filter</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Strategy Intent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Anchors the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test of strategic fit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Is this choice consistent with our ambition and the choices already made?</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SiP</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Anchors the reality</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test of strategic contribution</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Does this choice move us closer to the success we have defined?</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What tells us whether a new initiative belongs in our strategy?</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2.1.3 · Execution Coherence</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Strategy Intent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Anchors the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common strategic anchor</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Each function reads its mandate in relation to the enterprise ambition</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SiP</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Anchors the reality</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What the combined contributions must produce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Functions see the outcome they collectively enable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Each part can perform well while the enterprise outcome is missed.</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1" descr="Reflection — Three Functions: Which of the three functions is weakest in your organisation today? What happens as a result?"/>
          <p:cNvPicPr>
            <a:picLocks noChangeAspect="1"/>
          </p:cNvPicPr>
          <p:nvPr/>
        </p:nvPicPr>
        <p:blipFill>
          <a:blip r:embed="rId3"/>
          <a:stretch>
            <a:fillRect/>
          </a:stretch>
        </p:blipFill>
        <p:spPr>
          <a:xfrm>
            <a:off x="1691640" y="1572768"/>
            <a:ext cx="9921240" cy="1140372"/>
          </a:xfrm>
          <a:prstGeom prst="rect">
            <a:avLst/>
          </a:prstGeom>
        </p:spPr>
      </p:pic>
      <p:sp>
        <p:nvSpPr>
          <p:cNvPr id="4" name="Part 2.1"/>
          <p:cNvSpPr/>
          <p:nvPr/>
        </p:nvSpPr>
        <p:spPr>
          <a:xfrm>
            <a:off x="548640" y="170861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2.1</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Examining Success in Practice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Specify observable evidence of success across the four SiP domains.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Interpret gaps between intended success and current conditions to identify strategic misalignment.</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3.1a · SiP Observable Indicators</a:t>
            </a:r>
            <a:endParaRPr lang="en-US" sz="3600" dirty="0"/>
          </a:p>
        </p:txBody>
      </p:sp>
      <p:sp>
        <p:nvSpPr>
          <p:cNvPr id="3" name="Shape 1"/>
          <p:cNvSpPr/>
          <p:nvPr/>
        </p:nvSpPr>
        <p:spPr>
          <a:xfrm>
            <a:off x="548640" y="168021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0230"/>
            <a:ext cx="320040" cy="320040"/>
          </a:xfrm>
          <a:prstGeom prst="rect">
            <a:avLst/>
          </a:prstGeom>
        </p:spPr>
      </p:pic>
      <p:sp>
        <p:nvSpPr>
          <p:cNvPr id="5" name="Text 2"/>
          <p:cNvSpPr txBox="1"/>
          <p:nvPr/>
        </p:nvSpPr>
        <p:spPr>
          <a:xfrm>
            <a:off x="1508760" y="1508760"/>
            <a:ext cx="10131552" cy="9829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D1 · Customer Experience &amp; Value  </a:t>
            </a:r>
            <a:r>
              <a:rPr lang="en-US" sz="2400" dirty="0">
                <a:solidFill>
                  <a:srgbClr val="1F2A22"/>
                </a:solidFill>
                <a:latin typeface="Calibri" pitchFamily="34" charset="0"/>
                <a:ea typeface="Calibri" pitchFamily="34" charset="-122"/>
                <a:cs typeface="Calibri" pitchFamily="34" charset="-120"/>
              </a:rPr>
              <a:t>Connection · Access · Results · Effort</a:t>
            </a:r>
            <a:endParaRPr lang="en-US" sz="2400" dirty="0"/>
          </a:p>
        </p:txBody>
      </p:sp>
      <p:sp>
        <p:nvSpPr>
          <p:cNvPr id="6" name="Shape 3"/>
          <p:cNvSpPr/>
          <p:nvPr/>
        </p:nvSpPr>
        <p:spPr>
          <a:xfrm>
            <a:off x="548640" y="266319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23210"/>
            <a:ext cx="320040" cy="320040"/>
          </a:xfrm>
          <a:prstGeom prst="rect">
            <a:avLst/>
          </a:prstGeom>
        </p:spPr>
      </p:pic>
      <p:sp>
        <p:nvSpPr>
          <p:cNvPr id="8" name="Text 4"/>
          <p:cNvSpPr txBox="1"/>
          <p:nvPr/>
        </p:nvSpPr>
        <p:spPr>
          <a:xfrm>
            <a:off x="1508760" y="2491740"/>
            <a:ext cx="10131552" cy="9829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D2 · Operational Capability  </a:t>
            </a:r>
            <a:r>
              <a:rPr lang="en-US" sz="2400" dirty="0">
                <a:solidFill>
                  <a:srgbClr val="1F2A22"/>
                </a:solidFill>
                <a:latin typeface="Calibri" pitchFamily="34" charset="0"/>
                <a:ea typeface="Calibri" pitchFamily="34" charset="-122"/>
                <a:cs typeface="Calibri" pitchFamily="34" charset="-120"/>
              </a:rPr>
              <a:t>Priority Clarity · Decision Flow · Coordination · Delivery Rhythm</a:t>
            </a:r>
            <a:endParaRPr lang="en-US" sz="2400" dirty="0"/>
          </a:p>
        </p:txBody>
      </p:sp>
      <p:sp>
        <p:nvSpPr>
          <p:cNvPr id="9" name="Shape 5"/>
          <p:cNvSpPr/>
          <p:nvPr/>
        </p:nvSpPr>
        <p:spPr>
          <a:xfrm>
            <a:off x="548640" y="364617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06190"/>
            <a:ext cx="320040" cy="320040"/>
          </a:xfrm>
          <a:prstGeom prst="rect">
            <a:avLst/>
          </a:prstGeom>
        </p:spPr>
      </p:pic>
      <p:sp>
        <p:nvSpPr>
          <p:cNvPr id="11" name="Text 6"/>
          <p:cNvSpPr txBox="1"/>
          <p:nvPr/>
        </p:nvSpPr>
        <p:spPr>
          <a:xfrm>
            <a:off x="1508760" y="3474720"/>
            <a:ext cx="10131552" cy="9829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D3 · People &amp; Culture  </a:t>
            </a:r>
            <a:r>
              <a:rPr lang="en-US" sz="2400" dirty="0">
                <a:solidFill>
                  <a:srgbClr val="1F2A22"/>
                </a:solidFill>
                <a:latin typeface="Calibri" pitchFamily="34" charset="0"/>
                <a:ea typeface="Calibri" pitchFamily="34" charset="-122"/>
                <a:cs typeface="Calibri" pitchFamily="34" charset="-120"/>
              </a:rPr>
              <a:t>Collaboration · Ownership · Alignment · Dialogue Quality</a:t>
            </a:r>
            <a:endParaRPr lang="en-US" sz="2400" dirty="0"/>
          </a:p>
        </p:txBody>
      </p:sp>
      <p:sp>
        <p:nvSpPr>
          <p:cNvPr id="12" name="Shape 7"/>
          <p:cNvSpPr/>
          <p:nvPr/>
        </p:nvSpPr>
        <p:spPr>
          <a:xfrm>
            <a:off x="548640" y="462915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89170"/>
            <a:ext cx="320040" cy="320040"/>
          </a:xfrm>
          <a:prstGeom prst="rect">
            <a:avLst/>
          </a:prstGeom>
        </p:spPr>
      </p:pic>
      <p:sp>
        <p:nvSpPr>
          <p:cNvPr id="14" name="Text 8"/>
          <p:cNvSpPr txBox="1"/>
          <p:nvPr/>
        </p:nvSpPr>
        <p:spPr>
          <a:xfrm>
            <a:off x="1508760" y="4457700"/>
            <a:ext cx="10131552" cy="9829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D4 · Enterprise Value  </a:t>
            </a:r>
            <a:r>
              <a:rPr lang="en-US" sz="2400" dirty="0">
                <a:solidFill>
                  <a:srgbClr val="1F2A22"/>
                </a:solidFill>
                <a:latin typeface="Calibri" pitchFamily="34" charset="0"/>
                <a:ea typeface="Calibri" pitchFamily="34" charset="-122"/>
                <a:cs typeface="Calibri" pitchFamily="34" charset="-120"/>
              </a:rPr>
              <a:t>Growth · Profitability · Market Position · Value Durability</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Every indicator has two positions: When Working and Signal of Absence.</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3.1b · D1 Customer Experience &amp; Value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 Connection Value</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Customers feel understood, respected and supported.</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 Access Value</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Quick, easy, reliable interaction through preferred channels.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 Results Value</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Solutions that solve the problem and improve outcomes.</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 Effort Value</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Simple, predictable processes. Minimal customer effort.</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3.1c · D2 Operational Capability</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Priority Clarity</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Priorities are explicit, stable and understood in every function.</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Decision Flow</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Right level, right information, right speed.</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Cross-Functional Coordination</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Smooth hand-offs. Unambiguous responsibilities.</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Delivery Rhythm</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A predictable cadence. Consistent, reliable delivery.</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3.1d · D3 People &amp; Culture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Cross-Boundary Collaboration</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People work across boundaries without being directed to.</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Ownership Culture</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Leaders and teams carry outcomes.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Strategic Alignment</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Daily actions connect to the enterprise strategy.</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Dialogue Quality</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Honest challenge before decisions are made.</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3.1e · D4 Enterprise Value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Growth Trajectory</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Growth is traceable to specific strategic choices.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Profitability Quality</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Margin reflects deliberate value positioning.</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Market Position</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competitive position the strategic intent described.</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Value Durability</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conditions of success are actively reinvested in.</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3.2a · SiP Flammables: the balance test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D1 Dominant — Customer Only</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Reads as a marketing aspiration</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3"/>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D2 Dominant — Operations Only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Reads as a process optimisation plan</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D3 Dominant — People Only</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Reads as an organisational development narrative</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3"/>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D4 Dominant — Value Only</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Reads as a financial target</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lection — SiP Indicators: From your assigned executive leader role: which SiP domain shows the most significant gaps in your organisation right now? What is the primary cause?"/>
          <p:cNvPicPr>
            <a:picLocks noChangeAspect="1"/>
          </p:cNvPicPr>
          <p:nvPr/>
        </p:nvPicPr>
        <p:blipFill>
          <a:blip r:embed="rId3"/>
          <a:stretch>
            <a:fillRect/>
          </a:stretch>
        </p:blipFill>
        <p:spPr>
          <a:xfrm>
            <a:off x="1691640" y="1572768"/>
            <a:ext cx="9921240" cy="1425466"/>
          </a:xfrm>
          <a:prstGeom prst="rect">
            <a:avLst/>
          </a:prstGeom>
        </p:spPr>
      </p:pic>
      <p:sp>
        <p:nvSpPr>
          <p:cNvPr id="4" name="Part 3.1"/>
          <p:cNvSpPr/>
          <p:nvPr/>
        </p:nvSpPr>
        <p:spPr>
          <a:xfrm>
            <a:off x="548640" y="185116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6">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One Worked Example: Architecture · Intent · Success in Practice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Integrate the elements of Strategy Architecture into a coherent enterprise strategy.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Synthesise diverse leadership perspectives into an agreed enterprise position.</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4.1a · The worked example: Kestrel Point Services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Company:  </a:t>
            </a:r>
            <a:r>
              <a:rPr lang="en-US" sz="2600" dirty="0">
                <a:solidFill>
                  <a:srgbClr val="1F2A22"/>
                </a:solidFill>
                <a:latin typeface="Calibri" pitchFamily="34" charset="0"/>
                <a:ea typeface="Calibri" pitchFamily="34" charset="-122"/>
                <a:cs typeface="Calibri" pitchFamily="34" charset="-120"/>
              </a:rPr>
              <a:t>facilities management and technical maintenance</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Size:  </a:t>
            </a:r>
            <a:r>
              <a:rPr lang="en-US" sz="2600" dirty="0">
                <a:solidFill>
                  <a:srgbClr val="1F2A22"/>
                </a:solidFill>
                <a:latin typeface="Calibri" pitchFamily="34" charset="0"/>
                <a:ea typeface="Calibri" pitchFamily="34" charset="-122"/>
                <a:cs typeface="Calibri" pitchFamily="34" charset="-120"/>
              </a:rPr>
              <a:t>about 1,200 employees, eight regional service hubs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Problem:  </a:t>
            </a:r>
            <a:r>
              <a:rPr lang="en-US" sz="2600" dirty="0">
                <a:solidFill>
                  <a:srgbClr val="1F2A22"/>
                </a:solidFill>
                <a:latin typeface="Calibri" pitchFamily="34" charset="0"/>
                <a:ea typeface="Calibri" pitchFamily="34" charset="-122"/>
                <a:cs typeface="Calibri" pitchFamily="34" charset="-120"/>
              </a:rPr>
              <a:t>service varies, requests stall between functions</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Period:  </a:t>
            </a:r>
            <a:r>
              <a:rPr lang="en-US" sz="2600" dirty="0">
                <a:solidFill>
                  <a:srgbClr val="1F2A22"/>
                </a:solidFill>
                <a:latin typeface="Calibri" pitchFamily="34" charset="0"/>
                <a:ea typeface="Calibri" pitchFamily="34" charset="-122"/>
                <a:cs typeface="Calibri" pitchFamily="34" charset="-120"/>
              </a:rPr>
              <a:t>the 2027–2029 strategy</a:t>
            </a:r>
            <a:endParaRPr lang="en-US" sz="2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4.1b · Step 1: how each element works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Answer  </a:t>
            </a:r>
            <a:r>
              <a:rPr lang="en-US" sz="2600" dirty="0">
                <a:solidFill>
                  <a:srgbClr val="1F2A22"/>
                </a:solidFill>
                <a:latin typeface="Calibri" pitchFamily="34" charset="0"/>
                <a:ea typeface="Calibri" pitchFamily="34" charset="-122"/>
                <a:cs typeface="Calibri" pitchFamily="34" charset="-120"/>
              </a:rPr>
              <a:t>the four questions of the element</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Write  </a:t>
            </a:r>
            <a:r>
              <a:rPr lang="en-US" sz="2600" dirty="0">
                <a:solidFill>
                  <a:srgbClr val="1F2A22"/>
                </a:solidFill>
                <a:latin typeface="Calibri" pitchFamily="34" charset="0"/>
                <a:ea typeface="Calibri" pitchFamily="34" charset="-122"/>
                <a:cs typeface="Calibri" pitchFamily="34" charset="-120"/>
              </a:rPr>
              <a:t>what the element is saying, in one or two sentences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Ask  </a:t>
            </a:r>
            <a:r>
              <a:rPr lang="en-US" sz="2600" dirty="0">
                <a:solidFill>
                  <a:srgbClr val="1F2A22"/>
                </a:solidFill>
                <a:latin typeface="Calibri" pitchFamily="34" charset="0"/>
                <a:ea typeface="Calibri" pitchFamily="34" charset="-122"/>
                <a:cs typeface="Calibri" pitchFamily="34" charset="-120"/>
              </a:rPr>
              <a:t>“Is this what we mean?”</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Revise  </a:t>
            </a:r>
            <a:r>
              <a:rPr lang="en-US" sz="2600" dirty="0">
                <a:solidFill>
                  <a:srgbClr val="1F2A22"/>
                </a:solidFill>
                <a:latin typeface="Calibri" pitchFamily="34" charset="0"/>
                <a:ea typeface="Calibri" pitchFamily="34" charset="-122"/>
                <a:cs typeface="Calibri" pitchFamily="34" charset="-120"/>
              </a:rPr>
              <a:t>until it says what the group means</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14 of 14:  </a:t>
            </a:r>
            <a:r>
              <a:rPr lang="en-US" sz="2600" dirty="0">
                <a:solidFill>
                  <a:srgbClr val="1F2A22"/>
                </a:solidFill>
                <a:latin typeface="Calibri" pitchFamily="34" charset="0"/>
                <a:ea typeface="Calibri" pitchFamily="34" charset="-122"/>
                <a:cs typeface="Calibri" pitchFamily="34" charset="-120"/>
              </a:rPr>
              <a:t>the elements come together under five headings</a:t>
            </a:r>
            <a:endParaRPr lang="en-US" sz="2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4.1c · Step 1: the 14 elements</a:t>
            </a:r>
            <a:endParaRPr lang="en-US" sz="3600" dirty="0"/>
          </a:p>
        </p:txBody>
      </p:sp>
      <p:sp>
        <p:nvSpPr>
          <p:cNvPr id="3" name="Shape 1"/>
          <p:cNvSpPr/>
          <p:nvPr/>
        </p:nvSpPr>
        <p:spPr>
          <a:xfrm>
            <a:off x="548640" y="1554480"/>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685800" y="1598894"/>
            <a:ext cx="512064" cy="512064"/>
          </a:xfrm>
          <a:prstGeom prst="ellipse">
            <a:avLst/>
          </a:prstGeom>
          <a:solidFill>
            <a:srgbClr val="1A5C2C"/>
          </a:solidFill>
          <a:ln w="12700">
            <a:solidFill>
              <a:srgbClr val="1A5C2C"/>
            </a:solidFill>
            <a:prstDash val="solid"/>
          </a:ln>
        </p:spPr>
        <p:txBody>
          <a:bodyPr/>
          <a:lstStyle/>
          <a:p>
            <a:endParaRPr lang="en-ZA"/>
          </a:p>
        </p:txBody>
      </p:sp>
      <p:sp>
        <p:nvSpPr>
          <p:cNvPr id="5" name="Text 3"/>
          <p:cNvSpPr txBox="1"/>
          <p:nvPr/>
        </p:nvSpPr>
        <p:spPr>
          <a:xfrm>
            <a:off x="685800" y="1598894"/>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6" name="Text 4"/>
          <p:cNvSpPr txBox="1"/>
          <p:nvPr/>
        </p:nvSpPr>
        <p:spPr>
          <a:xfrm>
            <a:off x="1417320" y="1508760"/>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ITERATIVE</a:t>
            </a:r>
            <a:endParaRPr lang="en-US" sz="2400" dirty="0"/>
          </a:p>
        </p:txBody>
      </p:sp>
      <p:sp>
        <p:nvSpPr>
          <p:cNvPr id="7" name="Shape 5"/>
          <p:cNvSpPr/>
          <p:nvPr/>
        </p:nvSpPr>
        <p:spPr>
          <a:xfrm>
            <a:off x="548640" y="2246811"/>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8" name="Shape 6"/>
          <p:cNvSpPr/>
          <p:nvPr/>
        </p:nvSpPr>
        <p:spPr>
          <a:xfrm>
            <a:off x="685800" y="2291225"/>
            <a:ext cx="512064" cy="512064"/>
          </a:xfrm>
          <a:prstGeom prst="ellipse">
            <a:avLst/>
          </a:prstGeom>
          <a:solidFill>
            <a:srgbClr val="1A5C2C"/>
          </a:solidFill>
          <a:ln w="12700">
            <a:solidFill>
              <a:srgbClr val="1A5C2C"/>
            </a:solidFill>
            <a:prstDash val="solid"/>
          </a:ln>
        </p:spPr>
        <p:txBody>
          <a:bodyPr/>
          <a:lstStyle/>
          <a:p>
            <a:endParaRPr lang="en-ZA"/>
          </a:p>
        </p:txBody>
      </p:sp>
      <p:sp>
        <p:nvSpPr>
          <p:cNvPr id="9" name="Text 7"/>
          <p:cNvSpPr txBox="1"/>
          <p:nvPr/>
        </p:nvSpPr>
        <p:spPr>
          <a:xfrm>
            <a:off x="685800" y="2291225"/>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0" name="Text 8"/>
          <p:cNvSpPr txBox="1"/>
          <p:nvPr/>
        </p:nvSpPr>
        <p:spPr>
          <a:xfrm>
            <a:off x="1417320" y="2201091"/>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THINKING &amp; LOGIC</a:t>
            </a:r>
            <a:endParaRPr lang="en-US" sz="2400" dirty="0"/>
          </a:p>
        </p:txBody>
      </p:sp>
      <p:sp>
        <p:nvSpPr>
          <p:cNvPr id="11" name="Shape 9"/>
          <p:cNvSpPr/>
          <p:nvPr/>
        </p:nvSpPr>
        <p:spPr>
          <a:xfrm>
            <a:off x="548640" y="2939143"/>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12" name="Shape 10"/>
          <p:cNvSpPr/>
          <p:nvPr/>
        </p:nvSpPr>
        <p:spPr>
          <a:xfrm>
            <a:off x="685800" y="2983557"/>
            <a:ext cx="512064" cy="512064"/>
          </a:xfrm>
          <a:prstGeom prst="ellipse">
            <a:avLst/>
          </a:prstGeom>
          <a:solidFill>
            <a:srgbClr val="1A5C2C"/>
          </a:solidFill>
          <a:ln w="12700">
            <a:solidFill>
              <a:srgbClr val="1A5C2C"/>
            </a:solidFill>
            <a:prstDash val="solid"/>
          </a:ln>
        </p:spPr>
        <p:txBody>
          <a:bodyPr/>
          <a:lstStyle/>
          <a:p>
            <a:endParaRPr lang="en-ZA"/>
          </a:p>
        </p:txBody>
      </p:sp>
      <p:sp>
        <p:nvSpPr>
          <p:cNvPr id="13" name="Text 11"/>
          <p:cNvSpPr txBox="1"/>
          <p:nvPr/>
        </p:nvSpPr>
        <p:spPr>
          <a:xfrm>
            <a:off x="685800" y="2983557"/>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2"/>
          <p:cNvSpPr txBox="1"/>
          <p:nvPr/>
        </p:nvSpPr>
        <p:spPr>
          <a:xfrm>
            <a:off x="1417320" y="2893423"/>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PROCESS</a:t>
            </a:r>
            <a:endParaRPr lang="en-US" sz="2400" dirty="0"/>
          </a:p>
        </p:txBody>
      </p:sp>
      <p:sp>
        <p:nvSpPr>
          <p:cNvPr id="15" name="Shape 13"/>
          <p:cNvSpPr/>
          <p:nvPr/>
        </p:nvSpPr>
        <p:spPr>
          <a:xfrm>
            <a:off x="548640" y="3631474"/>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16" name="Shape 14"/>
          <p:cNvSpPr/>
          <p:nvPr/>
        </p:nvSpPr>
        <p:spPr>
          <a:xfrm>
            <a:off x="685800" y="3675888"/>
            <a:ext cx="512064" cy="512064"/>
          </a:xfrm>
          <a:prstGeom prst="ellipse">
            <a:avLst/>
          </a:prstGeom>
          <a:solidFill>
            <a:srgbClr val="1A5C2C"/>
          </a:solidFill>
          <a:ln w="12700">
            <a:solidFill>
              <a:srgbClr val="1A5C2C"/>
            </a:solidFill>
            <a:prstDash val="solid"/>
          </a:ln>
        </p:spPr>
        <p:txBody>
          <a:bodyPr/>
          <a:lstStyle/>
          <a:p>
            <a:endParaRPr lang="en-ZA"/>
          </a:p>
        </p:txBody>
      </p:sp>
      <p:sp>
        <p:nvSpPr>
          <p:cNvPr id="17" name="Text 15"/>
          <p:cNvSpPr txBox="1"/>
          <p:nvPr/>
        </p:nvSpPr>
        <p:spPr>
          <a:xfrm>
            <a:off x="685800" y="3675888"/>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4</a:t>
            </a:r>
            <a:endParaRPr lang="en-US" sz="2400" dirty="0"/>
          </a:p>
        </p:txBody>
      </p:sp>
      <p:sp>
        <p:nvSpPr>
          <p:cNvPr id="18" name="Text 16"/>
          <p:cNvSpPr txBox="1"/>
          <p:nvPr/>
        </p:nvSpPr>
        <p:spPr>
          <a:xfrm>
            <a:off x="1417320" y="3585754"/>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WHAT</a:t>
            </a:r>
            <a:endParaRPr lang="en-US" sz="2400" dirty="0"/>
          </a:p>
        </p:txBody>
      </p:sp>
      <p:sp>
        <p:nvSpPr>
          <p:cNvPr id="19" name="Shape 17"/>
          <p:cNvSpPr/>
          <p:nvPr/>
        </p:nvSpPr>
        <p:spPr>
          <a:xfrm>
            <a:off x="548640" y="4323806"/>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20" name="Shape 18"/>
          <p:cNvSpPr/>
          <p:nvPr/>
        </p:nvSpPr>
        <p:spPr>
          <a:xfrm>
            <a:off x="685800" y="4368219"/>
            <a:ext cx="512064" cy="512064"/>
          </a:xfrm>
          <a:prstGeom prst="ellipse">
            <a:avLst/>
          </a:prstGeom>
          <a:solidFill>
            <a:srgbClr val="1A5C2C"/>
          </a:solidFill>
          <a:ln w="12700">
            <a:solidFill>
              <a:srgbClr val="1A5C2C"/>
            </a:solidFill>
            <a:prstDash val="solid"/>
          </a:ln>
        </p:spPr>
        <p:txBody>
          <a:bodyPr/>
          <a:lstStyle/>
          <a:p>
            <a:endParaRPr lang="en-ZA"/>
          </a:p>
        </p:txBody>
      </p:sp>
      <p:sp>
        <p:nvSpPr>
          <p:cNvPr id="21" name="Text 19"/>
          <p:cNvSpPr txBox="1"/>
          <p:nvPr/>
        </p:nvSpPr>
        <p:spPr>
          <a:xfrm>
            <a:off x="685800" y="4368219"/>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5</a:t>
            </a:r>
            <a:endParaRPr lang="en-US" sz="2400" dirty="0"/>
          </a:p>
        </p:txBody>
      </p:sp>
      <p:sp>
        <p:nvSpPr>
          <p:cNvPr id="22" name="Text 20"/>
          <p:cNvSpPr txBox="1"/>
          <p:nvPr/>
        </p:nvSpPr>
        <p:spPr>
          <a:xfrm>
            <a:off x="1417320" y="4278086"/>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WHY</a:t>
            </a:r>
            <a:endParaRPr lang="en-US" sz="2400" dirty="0"/>
          </a:p>
        </p:txBody>
      </p:sp>
      <p:sp>
        <p:nvSpPr>
          <p:cNvPr id="23" name="Shape 21"/>
          <p:cNvSpPr/>
          <p:nvPr/>
        </p:nvSpPr>
        <p:spPr>
          <a:xfrm>
            <a:off x="548640" y="5016137"/>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24" name="Shape 22"/>
          <p:cNvSpPr/>
          <p:nvPr/>
        </p:nvSpPr>
        <p:spPr>
          <a:xfrm>
            <a:off x="685800" y="5060551"/>
            <a:ext cx="512064" cy="512064"/>
          </a:xfrm>
          <a:prstGeom prst="ellipse">
            <a:avLst/>
          </a:prstGeom>
          <a:solidFill>
            <a:srgbClr val="1A5C2C"/>
          </a:solidFill>
          <a:ln w="12700">
            <a:solidFill>
              <a:srgbClr val="1A5C2C"/>
            </a:solidFill>
            <a:prstDash val="solid"/>
          </a:ln>
        </p:spPr>
        <p:txBody>
          <a:bodyPr/>
          <a:lstStyle/>
          <a:p>
            <a:endParaRPr lang="en-ZA"/>
          </a:p>
        </p:txBody>
      </p:sp>
      <p:sp>
        <p:nvSpPr>
          <p:cNvPr id="25" name="Text 23"/>
          <p:cNvSpPr txBox="1"/>
          <p:nvPr/>
        </p:nvSpPr>
        <p:spPr>
          <a:xfrm>
            <a:off x="685800" y="5060551"/>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6</a:t>
            </a:r>
            <a:endParaRPr lang="en-US" sz="2400" dirty="0"/>
          </a:p>
        </p:txBody>
      </p:sp>
      <p:sp>
        <p:nvSpPr>
          <p:cNvPr id="26" name="Text 24"/>
          <p:cNvSpPr txBox="1"/>
          <p:nvPr/>
        </p:nvSpPr>
        <p:spPr>
          <a:xfrm>
            <a:off x="1417320" y="4970417"/>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HOW</a:t>
            </a:r>
            <a:endParaRPr lang="en-US" sz="2400" dirty="0"/>
          </a:p>
        </p:txBody>
      </p:sp>
      <p:sp>
        <p:nvSpPr>
          <p:cNvPr id="27" name="Shape 25"/>
          <p:cNvSpPr/>
          <p:nvPr/>
        </p:nvSpPr>
        <p:spPr>
          <a:xfrm>
            <a:off x="548640" y="5708469"/>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28" name="Shape 26"/>
          <p:cNvSpPr/>
          <p:nvPr/>
        </p:nvSpPr>
        <p:spPr>
          <a:xfrm>
            <a:off x="685800" y="5752882"/>
            <a:ext cx="512064" cy="512064"/>
          </a:xfrm>
          <a:prstGeom prst="ellipse">
            <a:avLst/>
          </a:prstGeom>
          <a:solidFill>
            <a:srgbClr val="1A5C2C"/>
          </a:solidFill>
          <a:ln w="12700">
            <a:solidFill>
              <a:srgbClr val="1A5C2C"/>
            </a:solidFill>
            <a:prstDash val="solid"/>
          </a:ln>
        </p:spPr>
        <p:txBody>
          <a:bodyPr/>
          <a:lstStyle/>
          <a:p>
            <a:endParaRPr lang="en-ZA"/>
          </a:p>
        </p:txBody>
      </p:sp>
      <p:sp>
        <p:nvSpPr>
          <p:cNvPr id="29" name="Text 27"/>
          <p:cNvSpPr txBox="1"/>
          <p:nvPr/>
        </p:nvSpPr>
        <p:spPr>
          <a:xfrm>
            <a:off x="685800" y="5752882"/>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7</a:t>
            </a:r>
            <a:endParaRPr lang="en-US" sz="2400" dirty="0"/>
          </a:p>
        </p:txBody>
      </p:sp>
      <p:sp>
        <p:nvSpPr>
          <p:cNvPr id="30" name="Text 28"/>
          <p:cNvSpPr txBox="1"/>
          <p:nvPr/>
        </p:nvSpPr>
        <p:spPr>
          <a:xfrm>
            <a:off x="1417320" y="5662749"/>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WHEN</a:t>
            </a:r>
            <a:endParaRPr lang="en-US" sz="2400" dirty="0"/>
          </a:p>
        </p:txBody>
      </p:sp>
      <p:sp>
        <p:nvSpPr>
          <p:cNvPr id="31" name="Shape 29"/>
          <p:cNvSpPr/>
          <p:nvPr/>
        </p:nvSpPr>
        <p:spPr>
          <a:xfrm>
            <a:off x="6231636" y="1554480"/>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32" name="Shape 30"/>
          <p:cNvSpPr/>
          <p:nvPr/>
        </p:nvSpPr>
        <p:spPr>
          <a:xfrm>
            <a:off x="6368796" y="1598894"/>
            <a:ext cx="512064" cy="512064"/>
          </a:xfrm>
          <a:prstGeom prst="ellipse">
            <a:avLst/>
          </a:prstGeom>
          <a:solidFill>
            <a:srgbClr val="1A5C2C"/>
          </a:solidFill>
          <a:ln w="12700">
            <a:solidFill>
              <a:srgbClr val="1A5C2C"/>
            </a:solidFill>
            <a:prstDash val="solid"/>
          </a:ln>
        </p:spPr>
        <p:txBody>
          <a:bodyPr/>
          <a:lstStyle/>
          <a:p>
            <a:endParaRPr lang="en-ZA"/>
          </a:p>
        </p:txBody>
      </p:sp>
      <p:sp>
        <p:nvSpPr>
          <p:cNvPr id="33" name="Text 31"/>
          <p:cNvSpPr txBox="1"/>
          <p:nvPr/>
        </p:nvSpPr>
        <p:spPr>
          <a:xfrm>
            <a:off x="6368796" y="1598894"/>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8</a:t>
            </a:r>
            <a:endParaRPr lang="en-US" sz="2400" dirty="0"/>
          </a:p>
        </p:txBody>
      </p:sp>
      <p:sp>
        <p:nvSpPr>
          <p:cNvPr id="34" name="Text 32"/>
          <p:cNvSpPr txBox="1"/>
          <p:nvPr/>
        </p:nvSpPr>
        <p:spPr>
          <a:xfrm>
            <a:off x="7100316" y="1508760"/>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CREATES VALUE</a:t>
            </a:r>
            <a:endParaRPr lang="en-US" sz="2400" dirty="0"/>
          </a:p>
        </p:txBody>
      </p:sp>
      <p:sp>
        <p:nvSpPr>
          <p:cNvPr id="35" name="Shape 33"/>
          <p:cNvSpPr/>
          <p:nvPr/>
        </p:nvSpPr>
        <p:spPr>
          <a:xfrm>
            <a:off x="6231636" y="2246811"/>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36" name="Shape 34"/>
          <p:cNvSpPr/>
          <p:nvPr/>
        </p:nvSpPr>
        <p:spPr>
          <a:xfrm>
            <a:off x="6368796" y="2291225"/>
            <a:ext cx="512064" cy="512064"/>
          </a:xfrm>
          <a:prstGeom prst="ellipse">
            <a:avLst/>
          </a:prstGeom>
          <a:solidFill>
            <a:srgbClr val="1A5C2C"/>
          </a:solidFill>
          <a:ln w="12700">
            <a:solidFill>
              <a:srgbClr val="1A5C2C"/>
            </a:solidFill>
            <a:prstDash val="solid"/>
          </a:ln>
        </p:spPr>
        <p:txBody>
          <a:bodyPr/>
          <a:lstStyle/>
          <a:p>
            <a:endParaRPr lang="en-ZA"/>
          </a:p>
        </p:txBody>
      </p:sp>
      <p:sp>
        <p:nvSpPr>
          <p:cNvPr id="37" name="Text 35"/>
          <p:cNvSpPr txBox="1"/>
          <p:nvPr/>
        </p:nvSpPr>
        <p:spPr>
          <a:xfrm>
            <a:off x="6368796" y="2291225"/>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9</a:t>
            </a:r>
            <a:endParaRPr lang="en-US" sz="2400" dirty="0"/>
          </a:p>
        </p:txBody>
      </p:sp>
      <p:sp>
        <p:nvSpPr>
          <p:cNvPr id="38" name="Text 36"/>
          <p:cNvSpPr txBox="1"/>
          <p:nvPr/>
        </p:nvSpPr>
        <p:spPr>
          <a:xfrm>
            <a:off x="7100316" y="2201091"/>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DELIVERS VALUE</a:t>
            </a:r>
            <a:endParaRPr lang="en-US" sz="2400" dirty="0"/>
          </a:p>
        </p:txBody>
      </p:sp>
      <p:sp>
        <p:nvSpPr>
          <p:cNvPr id="39" name="Shape 37"/>
          <p:cNvSpPr/>
          <p:nvPr/>
        </p:nvSpPr>
        <p:spPr>
          <a:xfrm>
            <a:off x="6231636" y="2939143"/>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40" name="Shape 38"/>
          <p:cNvSpPr/>
          <p:nvPr/>
        </p:nvSpPr>
        <p:spPr>
          <a:xfrm>
            <a:off x="6368796" y="2983557"/>
            <a:ext cx="512064" cy="512064"/>
          </a:xfrm>
          <a:prstGeom prst="ellipse">
            <a:avLst/>
          </a:prstGeom>
          <a:solidFill>
            <a:srgbClr val="1A5C2C"/>
          </a:solidFill>
          <a:ln w="12700">
            <a:solidFill>
              <a:srgbClr val="1A5C2C"/>
            </a:solidFill>
            <a:prstDash val="solid"/>
          </a:ln>
        </p:spPr>
        <p:txBody>
          <a:bodyPr/>
          <a:lstStyle/>
          <a:p>
            <a:endParaRPr lang="en-ZA"/>
          </a:p>
        </p:txBody>
      </p:sp>
      <p:sp>
        <p:nvSpPr>
          <p:cNvPr id="41" name="Text 39"/>
          <p:cNvSpPr txBox="1"/>
          <p:nvPr/>
        </p:nvSpPr>
        <p:spPr>
          <a:xfrm>
            <a:off x="6368796" y="2983557"/>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10</a:t>
            </a:r>
            <a:endParaRPr lang="en-US" sz="2400" dirty="0"/>
          </a:p>
        </p:txBody>
      </p:sp>
      <p:sp>
        <p:nvSpPr>
          <p:cNvPr id="42" name="Text 40"/>
          <p:cNvSpPr txBox="1"/>
          <p:nvPr/>
        </p:nvSpPr>
        <p:spPr>
          <a:xfrm>
            <a:off x="7100316" y="2893423"/>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SUSTAINS VALUE</a:t>
            </a:r>
            <a:endParaRPr lang="en-US" sz="2400" dirty="0"/>
          </a:p>
        </p:txBody>
      </p:sp>
      <p:sp>
        <p:nvSpPr>
          <p:cNvPr id="43" name="Shape 41"/>
          <p:cNvSpPr/>
          <p:nvPr/>
        </p:nvSpPr>
        <p:spPr>
          <a:xfrm>
            <a:off x="6231636" y="3631474"/>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44" name="Shape 42"/>
          <p:cNvSpPr/>
          <p:nvPr/>
        </p:nvSpPr>
        <p:spPr>
          <a:xfrm>
            <a:off x="6368796" y="3675888"/>
            <a:ext cx="512064" cy="512064"/>
          </a:xfrm>
          <a:prstGeom prst="ellipse">
            <a:avLst/>
          </a:prstGeom>
          <a:solidFill>
            <a:srgbClr val="1A5C2C"/>
          </a:solidFill>
          <a:ln w="12700">
            <a:solidFill>
              <a:srgbClr val="1A5C2C"/>
            </a:solidFill>
            <a:prstDash val="solid"/>
          </a:ln>
        </p:spPr>
        <p:txBody>
          <a:bodyPr/>
          <a:lstStyle/>
          <a:p>
            <a:endParaRPr lang="en-ZA"/>
          </a:p>
        </p:txBody>
      </p:sp>
      <p:sp>
        <p:nvSpPr>
          <p:cNvPr id="45" name="Text 43"/>
          <p:cNvSpPr txBox="1"/>
          <p:nvPr/>
        </p:nvSpPr>
        <p:spPr>
          <a:xfrm>
            <a:off x="6368796" y="3675888"/>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11</a:t>
            </a:r>
            <a:endParaRPr lang="en-US" sz="2400" dirty="0"/>
          </a:p>
        </p:txBody>
      </p:sp>
      <p:sp>
        <p:nvSpPr>
          <p:cNvPr id="46" name="Text 44"/>
          <p:cNvSpPr txBox="1"/>
          <p:nvPr/>
        </p:nvSpPr>
        <p:spPr>
          <a:xfrm>
            <a:off x="7100316" y="3585754"/>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STAKEHOLDERS</a:t>
            </a:r>
            <a:endParaRPr lang="en-US" sz="2400" dirty="0"/>
          </a:p>
        </p:txBody>
      </p:sp>
      <p:sp>
        <p:nvSpPr>
          <p:cNvPr id="47" name="Shape 45"/>
          <p:cNvSpPr/>
          <p:nvPr/>
        </p:nvSpPr>
        <p:spPr>
          <a:xfrm>
            <a:off x="6231636" y="4323806"/>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48" name="Shape 46"/>
          <p:cNvSpPr/>
          <p:nvPr/>
        </p:nvSpPr>
        <p:spPr>
          <a:xfrm>
            <a:off x="6368796" y="4368219"/>
            <a:ext cx="512064" cy="512064"/>
          </a:xfrm>
          <a:prstGeom prst="ellipse">
            <a:avLst/>
          </a:prstGeom>
          <a:solidFill>
            <a:srgbClr val="1A5C2C"/>
          </a:solidFill>
          <a:ln w="12700">
            <a:solidFill>
              <a:srgbClr val="1A5C2C"/>
            </a:solidFill>
            <a:prstDash val="solid"/>
          </a:ln>
        </p:spPr>
        <p:txBody>
          <a:bodyPr/>
          <a:lstStyle/>
          <a:p>
            <a:endParaRPr lang="en-ZA"/>
          </a:p>
        </p:txBody>
      </p:sp>
      <p:sp>
        <p:nvSpPr>
          <p:cNvPr id="49" name="Text 47"/>
          <p:cNvSpPr txBox="1"/>
          <p:nvPr/>
        </p:nvSpPr>
        <p:spPr>
          <a:xfrm>
            <a:off x="6368796" y="4368219"/>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12</a:t>
            </a:r>
            <a:endParaRPr lang="en-US" sz="2400" dirty="0"/>
          </a:p>
        </p:txBody>
      </p:sp>
      <p:sp>
        <p:nvSpPr>
          <p:cNvPr id="50" name="Text 48"/>
          <p:cNvSpPr txBox="1"/>
          <p:nvPr/>
        </p:nvSpPr>
        <p:spPr>
          <a:xfrm>
            <a:off x="7100316" y="4278086"/>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NAVIGATING</a:t>
            </a:r>
            <a:endParaRPr lang="en-US" sz="2400" dirty="0"/>
          </a:p>
        </p:txBody>
      </p:sp>
      <p:sp>
        <p:nvSpPr>
          <p:cNvPr id="51" name="Shape 49"/>
          <p:cNvSpPr/>
          <p:nvPr/>
        </p:nvSpPr>
        <p:spPr>
          <a:xfrm>
            <a:off x="6231636" y="5016137"/>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52" name="Shape 50"/>
          <p:cNvSpPr/>
          <p:nvPr/>
        </p:nvSpPr>
        <p:spPr>
          <a:xfrm>
            <a:off x="6368796" y="5060551"/>
            <a:ext cx="512064" cy="512064"/>
          </a:xfrm>
          <a:prstGeom prst="ellipse">
            <a:avLst/>
          </a:prstGeom>
          <a:solidFill>
            <a:srgbClr val="1A5C2C"/>
          </a:solidFill>
          <a:ln w="12700">
            <a:solidFill>
              <a:srgbClr val="1A5C2C"/>
            </a:solidFill>
            <a:prstDash val="solid"/>
          </a:ln>
        </p:spPr>
        <p:txBody>
          <a:bodyPr/>
          <a:lstStyle/>
          <a:p>
            <a:endParaRPr lang="en-ZA"/>
          </a:p>
        </p:txBody>
      </p:sp>
      <p:sp>
        <p:nvSpPr>
          <p:cNvPr id="53" name="Text 51"/>
          <p:cNvSpPr txBox="1"/>
          <p:nvPr/>
        </p:nvSpPr>
        <p:spPr>
          <a:xfrm>
            <a:off x="6368796" y="5060551"/>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13</a:t>
            </a:r>
            <a:endParaRPr lang="en-US" sz="2400" dirty="0"/>
          </a:p>
        </p:txBody>
      </p:sp>
      <p:sp>
        <p:nvSpPr>
          <p:cNvPr id="54" name="Text 52"/>
          <p:cNvSpPr txBox="1"/>
          <p:nvPr/>
        </p:nvSpPr>
        <p:spPr>
          <a:xfrm>
            <a:off x="7100316" y="4970417"/>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THE FORCES</a:t>
            </a:r>
            <a:endParaRPr lang="en-US" sz="2400" dirty="0"/>
          </a:p>
        </p:txBody>
      </p:sp>
      <p:sp>
        <p:nvSpPr>
          <p:cNvPr id="55" name="Shape 53"/>
          <p:cNvSpPr/>
          <p:nvPr/>
        </p:nvSpPr>
        <p:spPr>
          <a:xfrm>
            <a:off x="6231636" y="5708469"/>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56" name="Shape 54"/>
          <p:cNvSpPr/>
          <p:nvPr/>
        </p:nvSpPr>
        <p:spPr>
          <a:xfrm>
            <a:off x="6368796" y="5752882"/>
            <a:ext cx="512064" cy="512064"/>
          </a:xfrm>
          <a:prstGeom prst="ellipse">
            <a:avLst/>
          </a:prstGeom>
          <a:solidFill>
            <a:srgbClr val="1A5C2C"/>
          </a:solidFill>
          <a:ln w="12700">
            <a:solidFill>
              <a:srgbClr val="1A5C2C"/>
            </a:solidFill>
            <a:prstDash val="solid"/>
          </a:ln>
        </p:spPr>
        <p:txBody>
          <a:bodyPr/>
          <a:lstStyle/>
          <a:p>
            <a:endParaRPr lang="en-ZA"/>
          </a:p>
        </p:txBody>
      </p:sp>
      <p:sp>
        <p:nvSpPr>
          <p:cNvPr id="57" name="Text 55"/>
          <p:cNvSpPr txBox="1"/>
          <p:nvPr/>
        </p:nvSpPr>
        <p:spPr>
          <a:xfrm>
            <a:off x="6368796" y="5752882"/>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14</a:t>
            </a:r>
            <a:endParaRPr lang="en-US" sz="2400" dirty="0"/>
          </a:p>
        </p:txBody>
      </p:sp>
      <p:sp>
        <p:nvSpPr>
          <p:cNvPr id="58" name="Text 56"/>
          <p:cNvSpPr txBox="1"/>
          <p:nvPr/>
        </p:nvSpPr>
        <p:spPr>
          <a:xfrm>
            <a:off x="7100316" y="5662749"/>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OPERATING ENVIRONMENT</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4.1d · Six checks on the Architecture</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Do our choices reinforce one another?</a:t>
            </a:r>
            <a:endParaRPr lang="en-US" sz="24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Where are there contradictions or unresolved tensions?</a:t>
            </a:r>
            <a:endParaRPr lang="en-US" sz="24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Does our HOW support what we have chosen to achieve?</a:t>
            </a:r>
            <a:endParaRPr lang="en-US" sz="24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Does our timing and sequencing reflect the realities of our capability and environment?</a:t>
            </a:r>
            <a:endParaRPr lang="en-US" sz="24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3"/>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Have we addressed how value will be created, delivered and sustained?</a:t>
            </a:r>
            <a:endParaRPr lang="en-US" sz="24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3"/>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Does the architecture represent the strategic position we collectively intend?</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 · Step 2: the Strategy Intent Statement</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WHAT</a:t>
            </a:r>
            <a:endParaRPr lang="en-US" sz="2800" dirty="0"/>
          </a:p>
        </p:txBody>
      </p:sp>
      <p:sp>
        <p:nvSpPr>
          <p:cNvPr id="7" name="Text 4"/>
          <p:cNvSpPr txBox="1"/>
          <p:nvPr/>
        </p:nvSpPr>
        <p:spPr>
          <a:xfrm>
            <a:off x="777240"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value chosen and its field of play</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3778758" y="1897380"/>
            <a:ext cx="320040" cy="320040"/>
          </a:xfrm>
          <a:prstGeom prst="rect">
            <a:avLst/>
          </a:prstGeom>
        </p:spPr>
      </p:pic>
      <p:sp>
        <p:nvSpPr>
          <p:cNvPr id="11" name="Text 7"/>
          <p:cNvSpPr txBox="1"/>
          <p:nvPr/>
        </p:nvSpPr>
        <p:spPr>
          <a:xfrm>
            <a:off x="3618738"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WHY</a:t>
            </a:r>
            <a:endParaRPr lang="en-US" sz="2800" dirty="0"/>
          </a:p>
        </p:txBody>
      </p:sp>
      <p:sp>
        <p:nvSpPr>
          <p:cNvPr id="12" name="Text 8"/>
          <p:cNvSpPr txBox="1"/>
          <p:nvPr/>
        </p:nvSpPr>
        <p:spPr>
          <a:xfrm>
            <a:off x="3618738"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rationale for the choices and why they matter</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6620256" y="1897380"/>
            <a:ext cx="320040" cy="320040"/>
          </a:xfrm>
          <a:prstGeom prst="rect">
            <a:avLst/>
          </a:prstGeom>
        </p:spPr>
      </p:pic>
      <p:sp>
        <p:nvSpPr>
          <p:cNvPr id="16" name="Text 11"/>
          <p:cNvSpPr txBox="1"/>
          <p:nvPr/>
        </p:nvSpPr>
        <p:spPr>
          <a:xfrm>
            <a:off x="6460236"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HOW</a:t>
            </a:r>
            <a:endParaRPr lang="en-US" sz="2800" dirty="0"/>
          </a:p>
        </p:txBody>
      </p:sp>
      <p:sp>
        <p:nvSpPr>
          <p:cNvPr id="17" name="Text 12"/>
          <p:cNvSpPr txBox="1"/>
          <p:nvPr/>
        </p:nvSpPr>
        <p:spPr>
          <a:xfrm>
            <a:off x="6460236"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model, capabilities and mechanisms that deliver the value</a:t>
            </a:r>
            <a:endParaRPr lang="en-US" sz="2400" dirty="0"/>
          </a:p>
        </p:txBody>
      </p:sp>
      <p:sp>
        <p:nvSpPr>
          <p:cNvPr id="18" name="Shape 13"/>
          <p:cNvSpPr/>
          <p:nvPr/>
        </p:nvSpPr>
        <p:spPr>
          <a:xfrm>
            <a:off x="9073134"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930173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9461754" y="1897380"/>
            <a:ext cx="320040" cy="320040"/>
          </a:xfrm>
          <a:prstGeom prst="rect">
            <a:avLst/>
          </a:prstGeom>
        </p:spPr>
      </p:pic>
      <p:sp>
        <p:nvSpPr>
          <p:cNvPr id="21" name="Text 15"/>
          <p:cNvSpPr txBox="1"/>
          <p:nvPr/>
        </p:nvSpPr>
        <p:spPr>
          <a:xfrm>
            <a:off x="9301734"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WHEN</a:t>
            </a:r>
            <a:endParaRPr lang="en-US" sz="2800" dirty="0"/>
          </a:p>
        </p:txBody>
      </p:sp>
      <p:sp>
        <p:nvSpPr>
          <p:cNvPr id="22" name="Text 16"/>
          <p:cNvSpPr txBox="1"/>
          <p:nvPr/>
        </p:nvSpPr>
        <p:spPr>
          <a:xfrm>
            <a:off x="9301734"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timing, sequencing and strategic moves</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“Does this statement faithfully express the strategic ambition contained in our Architecture?”</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4.3a · Step 3: Success in Practice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D1 · Customer Experience &amp; Value</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should customers and other value recipients see and experience?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D2 · Operational Capability &amp; Execution Rhythm</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should be visible in how the organisation operates and executes?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D3 · People &amp; Culture Dynamics</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should be visible in how people understand, decide and behave?</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D4 · Enterprise Value Creation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How should the organisation benefit across its success metrics?</a:t>
            </a:r>
            <a:endParaRPr lang="en-US" sz="2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4.3b · Three connected outputs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Strategy Architecture</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Provides the logic</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Strategy Intent</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Crystallises the ambition</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Success in Practice</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Makes the ambition observable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In Section 5 each group builds the three for its own company.</a:t>
            </a:r>
            <a:endParaRPr lang="en-US" sz="2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4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Build Your Company’s Strategy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Translate Success in Practice into clear executive contribution expectations.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Coordinate leadership contributions required to realise strategic intent.</a:t>
            </a:r>
            <a:endParaRPr lang="en-US" sz="2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Your Company’s Strategy</a:t>
            </a:r>
            <a:endParaRPr lang="en-US" sz="3600" dirty="0"/>
          </a:p>
        </p:txBody>
      </p:sp>
      <p:sp>
        <p:nvSpPr>
          <p:cNvPr id="3" name="Shape 1"/>
          <p:cNvSpPr/>
          <p:nvPr/>
        </p:nvSpPr>
        <p:spPr>
          <a:xfrm>
            <a:off x="548640" y="1508760"/>
            <a:ext cx="11091672" cy="965200"/>
          </a:xfrm>
          <a:prstGeom prst="roundRect">
            <a:avLst>
              <a:gd name="adj" fmla="val 5263"/>
            </a:avLst>
          </a:prstGeom>
          <a:solidFill>
            <a:srgbClr val="1A5C2C"/>
          </a:solidFill>
          <a:ln w="12700">
            <a:solidFill>
              <a:srgbClr val="1A5C2C"/>
            </a:solidFill>
            <a:prstDash val="solid"/>
          </a:ln>
        </p:spPr>
        <p:txBody>
          <a:bodyPr/>
          <a:lstStyle/>
          <a:p>
            <a:endParaRPr lang="en-ZA"/>
          </a:p>
        </p:txBody>
      </p:sp>
      <p:sp>
        <p:nvSpPr>
          <p:cNvPr id="4" name="Text 2"/>
          <p:cNvSpPr txBox="1"/>
          <p:nvPr/>
        </p:nvSpPr>
        <p:spPr>
          <a:xfrm>
            <a:off x="822960" y="1508760"/>
            <a:ext cx="10607040" cy="965200"/>
          </a:xfrm>
          <a:prstGeom prst="rect">
            <a:avLst/>
          </a:prstGeom>
          <a:noFill/>
          <a:ln/>
        </p:spPr>
        <p:txBody>
          <a:bodyPr wrap="square" lIns="0" tIns="0" rIns="0" bIns="0" rtlCol="0" anchor="ctr"/>
          <a:lstStyle/>
          <a:p>
            <a:pPr marL="0" indent="0">
              <a:buNone/>
            </a:pPr>
            <a:r>
              <a:rPr lang="en-US" sz="2800" i="1" dirty="0">
                <a:solidFill>
                  <a:srgbClr val="FFFFFF"/>
                </a:solidFill>
                <a:latin typeface="Calibri" pitchFamily="34" charset="0"/>
                <a:ea typeface="Calibri" pitchFamily="34" charset="-122"/>
                <a:cs typeface="Calibri" pitchFamily="34" charset="-120"/>
              </a:rPr>
              <a:t>One scribe per assignment · every member agrees</a:t>
            </a:r>
            <a:endParaRPr lang="en-US" sz="2800" dirty="0"/>
          </a:p>
        </p:txBody>
      </p:sp>
      <p:pic>
        <p:nvPicPr>
          <p:cNvPr id="5" name="Portal 5.1" descr="portal_5_1.png"/>
          <p:cNvPicPr>
            <a:picLocks noChangeAspect="1"/>
          </p:cNvPicPr>
          <p:nvPr/>
        </p:nvPicPr>
        <p:blipFill>
          <a:blip r:embed="rId3"/>
          <a:stretch>
            <a:fillRect/>
          </a:stretch>
        </p:blipFill>
        <p:spPr>
          <a:xfrm>
            <a:off x="546100" y="2692400"/>
            <a:ext cx="10269482" cy="38100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5 Reflections</a:t>
            </a:r>
            <a:endParaRPr lang="en-US" sz="3600" dirty="0"/>
          </a:p>
        </p:txBody>
      </p:sp>
      <p:sp>
        <p:nvSpPr>
          <p:cNvPr id="4" name="Part 5.1"/>
          <p:cNvSpPr/>
          <p:nvPr/>
        </p:nvSpPr>
        <p:spPr>
          <a:xfrm>
            <a:off x="548640" y="185116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5.1</a:t>
            </a:r>
          </a:p>
        </p:txBody>
      </p:sp>
      <p:pic>
        <p:nvPicPr>
          <p:cNvPr id="5" name="Reflection 5.1" descr="ref_5.1.png"/>
          <p:cNvPicPr>
            <a:picLocks noChangeAspect="1"/>
          </p:cNvPicPr>
          <p:nvPr/>
        </p:nvPicPr>
        <p:blipFill>
          <a:blip r:embed="rId4"/>
          <a:stretch>
            <a:fillRect/>
          </a:stretch>
        </p:blipFill>
        <p:spPr>
          <a:xfrm>
            <a:off x="1691640" y="1572768"/>
            <a:ext cx="9921240" cy="1059962"/>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44">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Read your original definition of strategy. What would you change in it now — and why?</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Based on what Unit 2 revealed, the one thing I am committed to doing differently before our next session is…</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287</TotalTime>
  <Words>20386</Words>
  <Application>Microsoft Office PowerPoint</Application>
  <PresentationFormat>Widescreen</PresentationFormat>
  <Paragraphs>1887</Paragraphs>
  <Slides>36</Slides>
  <Notes>36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2 · Strategy Visioning &amp; Success in Practice (SiP)</dc:title>
  <dc:subject>PptxGenJS Presentation</dc:subject>
  <dc:creator>Institute of Behavioural Strategy &amp; Leadership</dc:creator>
  <cp:lastModifiedBy>Carol Lupiya</cp:lastModifiedBy>
  <cp:revision>3</cp:revision>
  <dcterms:created xsi:type="dcterms:W3CDTF">2026-10-05T18:26:18Z</dcterms:created>
  <dcterms:modified xsi:type="dcterms:W3CDTF">2026-10-06T12:59:19Z</dcterms:modified>
</cp:coreProperties>
</file>