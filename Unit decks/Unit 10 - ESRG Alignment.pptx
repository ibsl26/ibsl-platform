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10 · ESRG ALIGNMENT
Module 4 · Grounding · Unit 10
Unit intent (Facilitator Guide):
Unit 10 opens Grounding — Pillar 3 of the DIG framework. The central question is systemic: is the organisation's operating system configured to sustain what Direction defined and Influence mobilised? Most strategies fail because the internal operating conditions were never aligned to carry the weight of sustained execution.
This unit introduces the ESRG framework — Environment, Systems, Resources, Governance — as the four domains that collectively determine whether performance can be sustained over time. It also introduces two practical instruments: the Cultural Operating Code (translating values into measurable behavioural norms) and the ESRG Execution Scanner (the quarterly diagnostic that operationalises collective intelligence).
The Application exercise — Build the Cultural Operating Code — is the centrepiece. Protect the full 55 minutes. Teams must work with real values and leave with at least three draft norms they can actually use.
Unit overview (facilitator file): Grounding asks a harder question: whether the organisation itself is built to sustain this performance over time. ESRG Alignment is the discipline of ensuring that Environment, Systems, Resources, and Governance are fully equipped to support consistent delivery.</a:t>
            </a:r>
            <a:endParaRPr lang="en-US" dirty="0"/>
          </a:p>
          <a:p/>
          <a:p>
            <a:r>
              <a:t>Source detail (S2R® manuscript):</a:t>
            </a:r>
          </a:p>
          <a:p/>
          <a:p>
            <a:r>
              <a:t>Grounding (Pillar 3 of DIG): Grounding is where strategy execution is sustained. It is the discipline that ensures what has been defined in Direction and driven through Influence is fully translated into consistent, lived organisational performance.</a:t>
            </a:r>
          </a:p>
          <a:p>
            <a:r>
              <a:t>Grounding carries a singular responsibility: to close the gap between what is intended and what is actually consistently realised.</a:t>
            </a:r>
          </a:p>
          <a:p>
            <a:r>
              <a:t>Grounding establishes a non-negotiable standard:</a:t>
            </a:r>
          </a:p>
          <a:p>
            <a:r>
              <a:t>- What is assigned must be fully executed.</a:t>
            </a:r>
          </a:p>
          <a:p>
            <a:r>
              <a:t>- What is executed must be sustained.</a:t>
            </a:r>
          </a:p>
          <a:p>
            <a:r>
              <a:t>- What is sustained must be reinforced through systems, culture, and accountability.</a:t>
            </a:r>
          </a:p>
          <a:p/>
          <a:p>
            <a:r>
              <a:t>Within DIG:</a:t>
            </a:r>
          </a:p>
          <a:p>
            <a:r>
              <a:t>- Direction defines the strategic position and intended outcomes.</a:t>
            </a:r>
          </a:p>
          <a:p>
            <a:r>
              <a:t>- Influence mobilises leadership to drive execution.</a:t>
            </a:r>
          </a:p>
          <a:p>
            <a:r>
              <a:t>- Grounding ensures those outcomes are consistently achieved, embedded, and maintained.</a:t>
            </a:r>
          </a:p>
          <a:p>
            <a:r>
              <a:t>It is through Grounding that strategy moves from activity to performance, from progress to completion, and from isolated success to organisational discipline. Grounding is therefore the condition that stabilises execution into sustained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LEARNING OUTCOMES (identical in the participant and facilitator files)
1. Evaluate the consistency between strategic priorities and the organisation’s operating conditions.
2. Assess the extent to which organisational resources, systems and governance support the intended outcomes.
3. Recognise institutional constraints and dependencies that influence execution quality and organisational responsiveness.
4. Demonstrate an enterprise view of the conditions required for reliable, accountable and sustainable performance.
Each section slide carries that section’s two learning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FACILITATOR GUIDE · SESSION OVERVIEW
Time: the facilitator file times only the Application exercise (55 minutes: 5 minutes choose the set, 35 minutes build the COC, 15 minutes COC Challenge). Awareness and Intelligence can move at pace; Extrapolating benefits from brief cross-functional discussion.
Key Facilitation Questions
“Most strategies that survive the first quarter fail by the third. What does that tell us about where execution actually breaks down?”
“Think of a value your organisation states. What would a leader who genuinely lives that value do differently from one who only states it? That difference is your Cultural Operating Code.”
“Which of the four ESRG domains is most misaligned with your current strategic direction — and how long has that misalignment been visible?”
“When your team completed the ESRG scanner individually and compared results — what pattern did you see that no single person could see alone?”
“A COC norm only becomes real when a leader uses it in a difficult conversation. Which norm from today will you use first — and when?”
Tone &amp; Watch Points
Watch for: the compliance response. When leaders see the ESRG framework, some immediately jump to “we already do this.” Push past self-assessment to evidence: “What would your team say if we asked them whether psychological safety actually exists in your function?”
Watch for: values that sound good but mean nothing. In the COC exercise, every norm must pass the pressure test — does it hold when a senior leader violates it, or does it only apply to junior staff?
Watch for: the ESRG scanner being treated as a performance report. Emphasise: this is a diagnostic. The purpose is intelligence. A leader who surfaces a HIGH breach is exercising exactly the discipline the unit teaches.
Timing: Awareness and Intelligence can move at pace. Extrapolating benefits from brief cross-functional discussion of which friction patterns are most recognisable. Reserve the full 55 minutes for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 AWARENESS — WHAT
What is ESRG Alignment?
Introducing the four domains that determine whether performance can be sustained — and the conditions required for each to support consistent strategic delivery.
Section learning outcomes:
1. Recognise the environment, systems, resources and governance conditions that sustain performance.
2. Assess how shared behavioural norms shape the operating environment.
FACILITATOR GUIDANCE — Awareness
Open with the hard question: “Is the organisation itself built to sustain this performance over time?” That framing immediately distinguishes Grounding from the previous pillars and establishes why this unit matters even when strategy is clear and leadership is committed.
The ESRG domain cards are the core of this section. Work through each card in turn. The E card is the richest — take extra time on the Behavioural Dimension, particularly the Cultural Operating Code. This concept connects directly to the Application exercise so it must land here first.
Close Awareness with the synthesis statement: a weakness in any one domain creates friction the other three cannot fully compensate for. That is the interdependence principle that underpins everything that follows.
Time: the facilitator file gives no minute timing for this section (see the Timing watch point in the Session Overview).</a:t>
            </a:r>
            <a:endParaRPr lang="en-US" dirty="0"/>
          </a:p>
          <a:p/>
          <a:p>
            <a:r>
              <a:t>Source detail (S2R® manuscript):</a:t>
            </a:r>
          </a:p>
          <a:p/>
          <a:p>
            <a:r>
              <a:t>Facilitator script (opening): Grounding asks a harder question. “Where are we going?” is the question Direction answers. “How are we moving?” is the question Influence answers. Grounding asks: “Is the organisation itself (the environment, the systems, the resources, the governance) built to sustain this performance over time?”</a:t>
            </a:r>
          </a:p>
          <a:p>
            <a:r>
              <a:t>Most strategies that survive the first quarter fail by the third. They fail because the internal operating conditions of the organisation were never fully aligned to carry the weight of sustained execution, even where leaders still care and the objectives are right.</a:t>
            </a:r>
          </a:p>
          <a:p>
            <a:r>
              <a:t>This unit addresses that directly. ESRG Alignment is the discipline of ensuring that the four domains that determine whether performance can be sustained (Environment, Systems, Resources, and Governance) are fully equipped to support consistent delivery on your strategic priorities.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ESRG ALIGNMENT: THE GROUNDING QUESTION
Content:
Enterprise alignment is one of the most decisive success factors in strategy execution. Even the most carefully designed strategy will struggle to deliver consistent results if the organisation's internal operating conditions are not configured to support it.
This programme builds on the Freedman &amp; Elliott model for high-performance cultures, which recognises that performance is sustained by the organisational system that surrounds the strategy — the environment people work in, the systems they rely on, the resources they are given, and the governance structures that guide decisions and enforce accountability.
When ESRG alignment is present, execution becomes coordinated, predictable, and scalable. When alignment is absent, friction appears — delays, confusion, rework, decision bottlenecks, and capability gaps that gradually erode execution momentum until strategic intent and operational reality are no longer recognisable as the same thing.
Participant file (1.1 — ESRG Alignment: The Grounding Question) — prompts participants complete:
- ✎ Reflection — Most strategies that survive the first quarter fail by the third. What does that tell you about where execution actually breaks down in your organisation?</a:t>
            </a:r>
            <a:endParaRPr lang="en-US" dirty="0"/>
          </a:p>
          <a:p/>
          <a:p>
            <a:r>
              <a:t>Source detail (S2R® manuscript):</a:t>
            </a:r>
          </a:p>
          <a:p/>
          <a:p>
            <a:r>
              <a:t>What alignment secures: ESRG Alignment ensures that the organisation is positioned to deliver consistently on its Key Results. Strategy alone does not sustain performance.</a:t>
            </a:r>
          </a:p>
          <a:p/>
          <a:p>
            <a:r>
              <a:t>Professional insights:</a:t>
            </a:r>
          </a:p>
          <a:p/>
          <a:p>
            <a:r>
              <a:t>Foundations first: Organisations that keep pursuing growth without repairing their foundations eventually exhaust themselves. Sustainable strategy restores the core capabilities and values that support long-term performance.</a:t>
            </a:r>
          </a:p>
          <a:p>
            <a:r>
              <a:t>Source: Journal, 24 July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THE FOUR ESRG DOMAINS (Select each domain to explore)
Content:
E
Environment
Physical &amp; Behavioural Conditions
Environment determines whether people can perform their work efficiently, safely, and collaboratively — across two inseparable dimensions.
Dimension 1
Physical
Dimension 2
Behavioural
Infrastructure
Reliable connectivity, equipment, and working spaces for everyone
Facilities maintenance responsive enough to prevent structural workarounds
Business continuity provisions so infrastructure failure does not halt execution
Workspace Design
Physical layout that reduces delays between dependent roles — proximity is a performance variable
Collaboration zones and quiet zones that reflect the work the strategy demands
Visual signals reflecting current strategic priorities
Operational Conditions
Remote and hybrid staff participating equally — two-tier participation creates two-tier accountability
Workspaces supporting all people without requiring advocacy for basic functionality
Ergonomic and recovery spaces — physical wellbeing is a capacity issue
Values
Values must be demonstrable — translated into observable, specific behaviours
Values must be embedded in 360-degree feedback — assessing how as well as what
Values must be enforced through consequences consistently regardless of seniority
Cultural Operating Code
For each value, a named acronym-based norm defining observable, repeatable behaviour
Norms must be explicit, modelled, reinforced, and reviewed periodically
The COC is the behavioural architecture of the organisation
Psychological Conditions
Psychological safety so people surface problems early
Protection from aggression, disrespect, or hostility — safety is a performance condition
Onboarding that transmits culture deliberately — culture is either taught or it defaults
S
Systems
Operational Infrastructure of Execution
Systems determine how work flows, how progress is tracked, and how coordination happens across teams and functions.
Process Clarity
Core processes documented, current, and easy to find
Handoffs between teams mapped and visible with clearly defined roles
Data Integrity
A trusted single source of truth for key operational data
Reporting that reflects operational reality
Workflow Visibility
Teams can see where work sits in the end-to-end process
Dashboards update fast enough to support real-time decision-making
System Integration
Systems communicate to eliminate duplicate work and data inconsistency
Shadow systems and informal trackers controlled and rationalised
Governance Integration
Approvals and sign-offs simple, time-bound, and traceable within the system
Compliance checks embedded in the workflow
R
Resources
Capability Capacity of the Organisation
Resources determine whether the organisation has the human, financial, and operational capacity to deliver strategic commitments without degrading its people or performance quality.
Workforce Capacity
Staffing levels supporting normal and peak demand without chronic overload
Burnout is a strategic risk
Capability Alignment
Skills matching current work requirements with talent planning anticipating future needs
Training accompanying every change in process, system, or strategic direction
Financial Support
Budget available for critical strategic initiatives
Bureaucratic delays to operational investment are a governance failure
Operational Resilience
Backup coverage for critical roles
Knowledge transfer before key staff rotate or exit — institutional knowledge must not reside in individuals
Employee Sustainability
Teams able to signal unsustainable workloads early — before performance degrades or talent exits
Administrative support so specialists focus on high-value work
G
Governance
Accountability &amp; Decision Discipline
Governance ensures that execution remains visible, accountable, and actively managed — and that the organisation's decision-making architecture supports strategic momentum.
Clear Accountability
Each area of strategic work has a clearly assigned owner
Delegation matches responsibility with commensurate authority — accountability without authority is a structural failure
Decision Authority
Decision rights clearly defined, communicated, and understood at every level
Approval chains short enough to support the pace the strategy demands
Execution Oversight
Review forums that make decisions and drive accountability
Risk discussions accompanying performance discussions as a standard discipline
Ethical Integrity
Leaders modelling the ethical behaviour and fairness they expect of others
Consequences applied consistently regardless of seniority — selective enforcement destroys credibility
Governance Adaptability
Governance structures evolving as operating conditions and strategy change
Governance fit for a previous era must be updated
Participant file (1.2 — The Four ESRG Domains) — prompts participants complete:
- ✎ Self-Assessment — Which ESRG domain is most misaligned in your organisation? — Domain: ___ How long has this misalignment been visible? What has it cost in execution momentum?</a:t>
            </a:r>
            <a:endParaRPr lang="en-US" dirty="0"/>
          </a:p>
          <a:p/>
          <a:p>
            <a:r>
              <a:t>Source detail (S2R® manuscript):</a:t>
            </a:r>
          </a:p>
          <a:p/>
          <a:p>
            <a:r>
              <a:t>The domain cards above carry a selection of the alignment conditions. The full set for each domain follows, for the facilitator to draw on.</a:t>
            </a:r>
          </a:p>
          <a:p/>
          <a:p>
            <a:r>
              <a:t>E · ENVIRONMENT: the behavioural and physical conditions for work</a:t>
            </a:r>
          </a:p>
          <a:p>
            <a:r>
              <a:t>Environment also determines whether the cultural conditions surrounding the work support or undermine strategic intent. Both dimensions must be aligned. A well-designed workspace in a psychologically unsafe culture will not sustain performance. A values-rich culture operating in dysfunctional infrastructure will not sustain execution. Environment is the intersection of both.</a:t>
            </a:r>
          </a:p>
          <a:p/>
          <a:p>
            <a:r>
              <a:t>Physical Dimension: the infrastructure, workspace design, and operational conditions that enable work to flow without unnecessary friction.</a:t>
            </a:r>
          </a:p>
          <a:p>
            <a:r>
              <a:t>1. Infrastructure: the foundational physical conditions that determine whether work can be conducted reliably and without avoidable disruption.</a:t>
            </a:r>
          </a:p>
          <a:p>
            <a:r>
              <a:t>- Reliable connectivity, equipment, and working spaces must exist as a baseline that no team has to earn as a privilege.</a:t>
            </a:r>
          </a:p>
          <a:p>
            <a:r>
              <a:t>- Facilities maintenance must be responsive so teams do not build structural workarounds that become permanent inefficiencies.</a:t>
            </a:r>
          </a:p>
          <a:p>
            <a:r>
              <a:t>- Critical systems, tools, and physical assets must be maintained to the standard the strategy demands, even where the budget defaults to a lower one.</a:t>
            </a:r>
          </a:p>
          <a:p>
            <a:r>
              <a:t>- Business continuity provisions must ensure that infrastructure failure does not halt execution.</a:t>
            </a:r>
          </a:p>
          <a:p>
            <a:r>
              <a:t>2. Workspace Design: the intentional configuration of physical space to reduce friction, enable collaboration, and reflect strategic priorities.</a:t>
            </a:r>
          </a:p>
          <a:p>
            <a:r>
              <a:t>- Team seating and physical layout must reduce unnecessary delays between dependent roles: proximity is a performance variable.</a:t>
            </a:r>
          </a:p>
          <a:p>
            <a:r>
              <a:t>- Collaboration zones must enable rapid problem-solving without disrupting others.</a:t>
            </a:r>
          </a:p>
          <a:p>
            <a:r>
              <a:t>- Quiet zones must protect the deep focus work that drives quality output.</a:t>
            </a:r>
          </a:p>
          <a:p>
            <a:r>
              <a:t>- Visual boards and workspace signals must reflect current strategic priorities, with legacy messaging from a previous planning cycle taken down.</a:t>
            </a:r>
          </a:p>
          <a:p>
            <a:r>
              <a:t>- Service-facing areas must reflect the organisation’s service promise: the physical environment communicates brand and culture to customers before any person does.</a:t>
            </a:r>
          </a:p>
          <a:p>
            <a:r>
              <a:t>3. Operational Conditions: the accessibility and inclusion standards that determine whether all people can participate fully in execution.</a:t>
            </a:r>
          </a:p>
          <a:p>
            <a:r>
              <a:t>- Staff must be able to access decision-makers and critical support teams quickly when issues arise: organisational accessibility is an execution variable.</a:t>
            </a:r>
          </a:p>
          <a:p>
            <a:r>
              <a:t>- Remote and hybrid staff must participate equally in meetings and decisions.</a:t>
            </a:r>
          </a:p>
          <a:p>
            <a:r>
              <a:t>- Workspaces must support people with mobility, sensory, or health needs without requiring them to advocate for basic functionality.</a:t>
            </a:r>
          </a:p>
          <a:p>
            <a:r>
              <a:t>- Ergonomic workstations and recovery spaces must exist to manage sustained performance pressure.</a:t>
            </a:r>
          </a:p>
          <a:p/>
          <a:p>
            <a:r>
              <a:t>Behavioural Dimension: the values, cultural norms, and psychological conditions that determine how people engage with each other, with leadership, and with the demands of the strategy.</a:t>
            </a:r>
          </a:p>
          <a:p>
            <a:r>
              <a:t>1. Values: Values are the non-negotiable principles that define how the organisation conducts itself in pursuit of its strategic goals. They are the behavioural standard against which every leader and every team member is held accountable. For values to function as a genuine performance driver, three conditions must be met.</a:t>
            </a:r>
          </a:p>
          <a:p>
            <a:r>
              <a:t>- Values must be demonstrable. Each organisational value must be translated into observable, specific behaviours that can be seen, recognised, and evaluated. Abstract values (integrity, excellence, respect) mean nothing until the organisation defines precisely what they look like in practice. What does integrity look like in a performance review conversation? What does excellence look like in how a team handles a missed deadline? The behavioural translation of values is the work most organisations skip, and the absence of that translation is why values fail to shape culture.</a:t>
            </a:r>
          </a:p>
          <a:p>
            <a:r>
              <a:t>- Values must be incorporated into performance measurement. Values cannot be enforced through aspiration alone. They must be embedded in the performance management system as a formal evaluation dimension. This is achieved through 360-degree feedback: a structured process in which each leader and team member is assessed on what they delivered and on how they delivered it, evaluated by those above, alongside, and below them in the organisation.</a:t>
            </a:r>
          </a:p>
          <a:p>
            <a:r>
              <a:t>360 feedback on values serves three functions: it makes values-alignment visible and measurable where it was subjective and invisible; it removes the protection that high performers often enjoy when their results excuse their behaviour (sustained performance requires both); it signals to the entire organisation that how work is done is as strategically important as what is achieved.</a:t>
            </a:r>
          </a:p>
          <a:p>
            <a:r>
              <a:t>- Values must be enforced through consequences. Recognition must reward values-aligned behaviour as well as results. Non-compliance with values, particularly by leaders, must carry consequences that are applied consistently regardless of seniority. Selective enforcement of values destroys cultural credibility faster than any single failure of conduct.</a:t>
            </a:r>
          </a:p>
          <a:p>
            <a:r>
              <a:t>2. Cultural Norms: Cultural norms are the lived translation of values into the organisation’s daily way of working. Values define the what: the principles the organisation stands for. Cultural norms define the how: the consistent patterns of behaviour, interaction, and decision-making that make those values real and recognisable in practice. The discipline of norm-setting is the bridge between values on paper and values in practice.</a:t>
            </a:r>
          </a:p>
          <a:p>
            <a:r>
              <a:t>Cultural Operating Code (the Values-to-Norms Translation Principle): For each organisational value, leadership must define the specific norm that operationalises it: the observable, repeatable behaviour that becomes the organisational way of life. A useful discipline for making this translation explicit and memorable is to express each norm as a named acronym or principle that the organisation can own, use, and reinforce consistently.</a:t>
            </a:r>
          </a:p>
          <a:p>
            <a:r>
              <a:t>Example: if one of the organisation’s values is Accountability, the cultural norm might be expressed as OAR: Own it. Act on it. Report it. Every commitment is owned by a named person, acted on within an agreed timeframe, and reported on honestly regardless of outcome. This single norm, derived directly from the value of Accountability, tells every person in the organisation exactly what Accountability looks like in daily practice. It is teachable, measurable, and replicable across functions and geographies.</a:t>
            </a:r>
          </a:p>
          <a:p>
            <a:r>
              <a:t>The same translation applies to every value the organisation holds. The result is a Cultural Operating Code: a set of named norms that define the organisation’s way of life and give leadership a shared language for reinforcing, recognising, and correcting behaviour.</a:t>
            </a:r>
          </a:p>
          <a:p>
            <a:r>
              <a:t>Cultural norms must be:</a:t>
            </a:r>
          </a:p>
          <a:p>
            <a:r>
              <a:t>- Explicit: named, defined, and communicated, with nothing left to assumption or absorbed through osmosis.</a:t>
            </a:r>
          </a:p>
          <a:p>
            <a:r>
              <a:t>- Modelled: demonstrated consistently by leadership before being expected of teams.</a:t>
            </a:r>
          </a:p>
          <a:p>
            <a:r>
              <a:t>- Reinforced: recognised when present, corrected when absent, embedded in onboarding so new staff inherit the culture deliberately.</a:t>
            </a:r>
          </a:p>
          <a:p>
            <a:r>
              <a:t>- Reviewed: assessed periodically to ensure they remain aligned to the current strategic direction, because norms that served a previous era can become obstacles in the next.</a:t>
            </a:r>
          </a:p>
          <a:p>
            <a:r>
              <a:t>3. Psychological Conditions: the safety and trust conditions that determine whether people will engage fully, speak honestly, and perform sustainably under the demands of the strategy.</a:t>
            </a:r>
          </a:p>
          <a:p>
            <a:r>
              <a:t>- Psychological safety must exist so people surface problems early and stop managing impressions: a culture of silence is a governance failure before it is a cultural one.</a:t>
            </a:r>
          </a:p>
          <a:p>
            <a:r>
              <a:t>- The environment must protect people from aggression, hostility, or disrespect from colleagues, customers, or leadership: safety is a performance condition as well as an ethical one.</a:t>
            </a:r>
          </a:p>
          <a:p>
            <a:r>
              <a:t>- Teams must be able to signal unsustainable pressure early: the ability to speak up before performance degrades is a strategic asset.</a:t>
            </a:r>
          </a:p>
          <a:p>
            <a:r>
              <a:t>- Onboarding and integration practices must transmit the behavioural dimension of environment to new staff deliberately.</a:t>
            </a:r>
          </a:p>
          <a:p/>
          <a:p>
            <a:r>
              <a:t>S · SYSTEMS: the operational infrastructure of execution (all nine alignment conditions)</a:t>
            </a:r>
          </a:p>
          <a:p>
            <a:r>
              <a:t>Process Clarity: core processes must be documented, current, and easy to find; handoffs between teams must be mapped and visible; roles within workflows must be clearly defined and owned.</a:t>
            </a:r>
          </a:p>
          <a:p>
            <a:r>
              <a:t>Data Integrity: a trusted single source of truth must exist for key operational data; definitions, fields, and status labels must mean the same thing across teams; reporting must reflect operational reality, free of curated narratives.</a:t>
            </a:r>
          </a:p>
          <a:p>
            <a:r>
              <a:t>Workflow Visibility: teams must be able to see where work sits in the end-to-end process; dashboards must update fast enough to support real-time decision-making; bottlenecks must be visible before they compound.</a:t>
            </a:r>
          </a:p>
          <a:p>
            <a:r>
              <a:t>Automation and Efficiency: routine tasks should be automated so skilled staff focus on judgement work; alerts and escalation triggers should be embedded in systems so that they do not depend on individual memory.</a:t>
            </a:r>
          </a:p>
          <a:p>
            <a:r>
              <a:t>System Integration: systems must communicate with each other to eliminate duplicate work and data inconsistency; integration between central systems and local workarounds (spreadsheets, informal trackers) must be controlled and rationalised.</a:t>
            </a:r>
          </a:p>
          <a:p>
            <a:r>
              <a:t>Reliability and Continuity: critical systems must maintain reliable uptime; business continuity and backup procedures must be tested, with nothing left to assumption.</a:t>
            </a:r>
          </a:p>
          <a:p>
            <a:r>
              <a:t>Governance Integration: approvals and sign-offs must be simple, time-bound, and traceable within the system; compliance checks must exist within the workflow, with no separate, after-the-fact layer.</a:t>
            </a:r>
          </a:p>
          <a:p>
            <a:r>
              <a:t>Knowledge Accessibility: staff must know where to find operational guidance when needed; document versions must be controlled so teams do not act on outdated instructions.</a:t>
            </a:r>
          </a:p>
          <a:p>
            <a:r>
              <a:t>Continuous Improvement: recurring process failures must be captured and fed back into system design; system updates must be communicated with sufficient lead time for teams to adapt.</a:t>
            </a:r>
          </a:p>
          <a:p/>
          <a:p>
            <a:r>
              <a:t>R · RESOURCES: the capability capacity of the organisation (all eight alignment conditions)</a:t>
            </a:r>
          </a:p>
          <a:p>
            <a:r>
              <a:t>Workforce Capacity: staffing levels must support both normal and peak demand without chronic overload; workload distribution must remain realistic, because burnout is a strategic risk as well as a wellbeing concern.</a:t>
            </a:r>
          </a:p>
          <a:p>
            <a:r>
              <a:t>Capability Alignment: skills within teams must match current work requirements; talent planning must anticipate future capability needs before gaps become execution constraints.</a:t>
            </a:r>
          </a:p>
          <a:p>
            <a:r>
              <a:t>Tools and Operational Support: teams must have functioning tools, equipment, and software that match the demands of the work; specialist expertise must be accessible when required, internally or through reliable external partners.</a:t>
            </a:r>
          </a:p>
          <a:p>
            <a:r>
              <a:t>Training and Development: training must accompany changes to processes, systems, or strategic direction; coaching and mentoring must support capability growth as well as performance management.</a:t>
            </a:r>
          </a:p>
          <a:p>
            <a:r>
              <a:t>Operational Resilience: backup coverage must exist for critical roles; knowledge transfer must occur before key staff rotate or exit.</a:t>
            </a:r>
          </a:p>
          <a:p>
            <a:r>
              <a:t>Financial Support: budget must be available for critical strategic initiatives; funding requests for operational fixes must move quickly.</a:t>
            </a:r>
          </a:p>
          <a:p>
            <a:r>
              <a:t>Capacity Planning: resource allocation must reflect strategic priority work, whatever the historical entitlement or internal political weight; regulatory and administrative workload must be included in capacity planning, because it crowds out execution capacity if invisible.</a:t>
            </a:r>
          </a:p>
          <a:p>
            <a:r>
              <a:t>Employee Sustainability: psychological safety and support must exist in high-pressure roles; teams must be able to signal unsustainable workloads early; administrative support must exist so specialists are freed from low-value task management.</a:t>
            </a:r>
          </a:p>
          <a:p/>
          <a:p>
            <a:r>
              <a:t>G · GOVERNANCE: the accountability and decision discipline system (all ten alignment conditions)</a:t>
            </a:r>
          </a:p>
          <a:p>
            <a:r>
              <a:t>Clear Accountability: each area of strategic work must have a clearly assigned owner; delegation must match responsibility with commensurate authority.</a:t>
            </a:r>
          </a:p>
          <a:p>
            <a:r>
              <a:t>Decision Authority: decision rights must be clearly defined, communicated, and understood at every level; approval chains must remain short enough to support the pace the strategy demands.</a:t>
            </a:r>
          </a:p>
          <a:p>
            <a:r>
              <a:t>Escalation Discipline: escalation rules must be clear and consistently followed, so that escalation does not have to be navigated through relationships; governance forums must include people who have the authority to remove blockages, alongside the people who can report on them.</a:t>
            </a:r>
          </a:p>
          <a:p>
            <a:r>
              <a:t>Execution Oversight: regular review forums must exist to make decisions and drive accountability, going beyond the collection of status updates; risk discussions must be held together with performance discussions, as a standard discipline.</a:t>
            </a:r>
          </a:p>
          <a:p>
            <a:r>
              <a:t>Transparency: decision rationale must be documented and communicated so the organisation understands the logic as well as the outcome; reporting requirements must remain clear, stable, and proportionate, because reporting overload is itself a governance failure.</a:t>
            </a:r>
          </a:p>
          <a:p>
            <a:r>
              <a:t>Ethical Integrity: leaders must model the ethical behaviour and fairness they expect of others; conflicts of interest must be declared, managed, and removed from decision pathways; the governance system must apply consequences consistently, because selective enforcement destroys credibility faster than any single failure.</a:t>
            </a:r>
          </a:p>
          <a:p>
            <a:r>
              <a:t>Accountability Enforcement: consequences for non-performance or non-compliance must be applied consistently regardless of seniority; recognition systems must reinforce the behaviours the organisation values as well as the results it celebrates.</a:t>
            </a:r>
          </a:p>
          <a:p>
            <a:r>
              <a:t>Policy Clarity: governance documents must be accessible and written in language the organisation can act on; regulatory requirements must be properly understood by everyone responsible for compliance, beyond the specialists.</a:t>
            </a:r>
          </a:p>
          <a:p>
            <a:r>
              <a:t>Leadership Visibility: leadership presence must reinforce governance processes through active, visible engagement that is not delegated to governance teams; leaders who are absent from execution oversight signal that governance is optional.</a:t>
            </a:r>
          </a:p>
          <a:p>
            <a:r>
              <a:t>Governance Adaptability: governance structures must evolve as operating conditions, strategy, and organisational scale change; governance that was fit for a previous strategic era must be actively updated before inertia preserves it.</a:t>
            </a:r>
          </a:p>
          <a:p/>
          <a:p>
            <a:r>
              <a:t>Professional insights:</a:t>
            </a:r>
          </a:p>
          <a:p/>
          <a:p>
            <a:r>
              <a:t>Strategy becomes structure: A vision remains fragile when responsibilities are unclear, resources are poorly managed and essential activities depend on a few individuals. Strong strategy asks what capabilities, roles, resources and operating rhythms will make the achievement possible. Many organisations fail because the supporting system was never designed.</a:t>
            </a:r>
          </a:p>
          <a:p>
            <a:r>
              <a:t>Source: Journal, 10 July 2026 — Professional Insights: Strategy</a:t>
            </a:r>
          </a:p>
          <a:p/>
          <a:p>
            <a:r>
              <a:t>G · Governance: Build governance structures with the power to prevent decisions that will harm the organisation. A structure that can only register objections leaves the harm in place.</a:t>
            </a:r>
          </a:p>
          <a:p>
            <a:r>
              <a:t>Source: Journal, 16 February 2026 — Professional Insights: Culture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ESRG SYNTHESIS (The interdependence principle)
Content:
Environment → enables the behavioural and physical conditions for productive, safe, values-aligned work
Systems → enable efficient, visible, and coordinated execution flow
Resources → provide the human, financial, and operational capacity to deliver
Governance → ensures accountability, decision discipline, and execution oversight
The organisation's sustained execution capacity depends on the synchronisation of these four domains. A weakness in any one domain creates friction that the other three cannot fully compensate for. The discipline of ESRG Alignment is the discipline of ensuring all four are working together — coherently, continuously, and in direct service of the strategic direction.</a:t>
            </a:r>
            <a:endParaRPr lang="en-US" dirty="0"/>
          </a:p>
          <a:p/>
          <a:p>
            <a:r>
              <a:t>Source detail (S2R® manuscript):</a:t>
            </a:r>
          </a:p>
          <a:p/>
          <a:p>
            <a:r>
              <a:t>What synchronisation produces: When aligned together, the four domains create the operational stability required for sustained strategy execution.</a:t>
            </a:r>
          </a:p>
          <a:p/>
          <a:p>
            <a:r>
              <a:t>Professional insights:</a:t>
            </a:r>
          </a:p>
          <a:p/>
          <a:p>
            <a:r>
              <a:t>Beyond extraordinary effort: An organisation cannot rely indefinitely on extraordinary effort. Sustainable results need structures that protect what has been achieved, with the right behaviours embedded in responsibilities and systems.</a:t>
            </a:r>
          </a:p>
          <a:p>
            <a:r>
              <a:t>Source: Journal, 8 August 2026 — Professional Insights: Culture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 INTELLIGENCE — WHY
Why ESRG Alignment Drives Sustained Execution
Understanding how each ESRG domain removes a specific category of friction — and seeing the discipline in action through two worked examples: the Cultural Operating Code and the ESRG Execution Scanner.
Section learning outcomes:
1. Determine the source of friction each organisational domain removes from execution.
2. Assess where operating conditions support or constrain strategic priorities.
FACILITATOR GUIDANCE — Intelligence
This section has two worked examples — use them both as live teaching moments. Walk through the COC example to demonstrate what the translation discipline produces before participants attempt it in Application. Walk through the Scanner example to show what collective intelligence looks like before they use the tool.
For the Scanner: the key insight is Steps 3 and 4 — the COMPASS frequency map and the three overlapping themes. Emphasise that no individual leader could see these patterns alone. The power of the scan is collective.
The ignition point statement at the end of the enabling conditions section is important: when all four ESRG domains work together, execution no longer depends on leadership attention or individual heroism. That is the promise of Grounding.
Time: the facilitator file gives no minute timing for this section (see the Timing watch point in the Session Overview).</a:t>
            </a:r>
            <a:endParaRPr lang="en-US" dirty="0"/>
          </a:p>
          <a:p/>
          <a:p>
            <a:r>
              <a:t>Source detail (S2R® manuscript):</a:t>
            </a:r>
          </a:p>
          <a:p/>
          <a:p>
            <a:r>
              <a:t>Section opening: The ESRG framework explains how the enterprise system reinforces the work being done. Each domain contributes a specific enabling condition that allows execution to continue steadily over time. When these four conditions operate together, the organisation develops the capacity to sustain execution momentum beyond the initial launch phase, and beyond the attention span of any single leadership cycle.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 THE ESRG IGNITION POINT: HOW EACH DOMAIN ENABLES EXECUTION
Content:
Sustained execution begins when the organisation's operating conditions actively support the work required to deliver the strategy. Strategic intent provides direction. Execution discipline provides movement. But sustained results emerge only when the enterprise system itself reinforces the work being done — consistently, structurally, and without dependence on heroic individual effort.
E
Enable the Work
S
Streamline the Flow
R
Resource the Strategy
G
Govern the Rhythm
The physical and behavioural conditions of work must both be active
The physical dimension enables the mechanics of execution — teams reaching each other quickly, hybrid participation equal, workspace design matching the work the strategy demands.
The behavioural dimension is equally critical. Values enable performance when they are demonstrable, measured, and enforced. They create a behavioural environment where conduct is as consequential as results. The Cultural Operating Code translates each value into a named, actionable norm — moving values from aspiration to operation. Psychological safety completes the enabling condition: when people can surface problems early, the organisation gains real-time intelligence about where execution is straining.
Systems must make execution visible — visibility is the precondition for accountability
Execution depends on how work travels from one function to another. When pathways are clear and reliable, teams can see where work sits, how it progresses, and what action is required next. Streamlined systems reduce duplication and ensure everyone operates from a shared source of truth.
Governance integration within systems — approvals, compliance checks, and escalation triggers embedded in the workflow — removes the friction that accumulates at every function boundary.
Resourcing the strategy means resourcing the people who carry it
Teams must possess the skills required, the capacity to sustain effort, and the tools to operate efficiently. Financial investment must flow to the initiatives that drive the strategy forward.
Employee sustainability is a resource alignment condition. Burnout degrades execution quality, accelerates talent exit, and erodes institutional knowledge that is often the organisation's most critical and least recoverable asset. Resourcing the strategy means resourcing people to perform over time.
Governance maintains the cadence of accountability that keeps work advancing
Execution requires a consistent rhythm of decisions, reviews, and accountability conversations. When governance is aligned, decision-making becomes predictable and responsive. Leaders convene forums that resolve problems.
Governance also carries the responsibility of ethical integrity. The governance system must apply its standards consistently — regardless of seniority, regardless of results. Leaders exempt from accountability by virtue of position or performance numbers destroy governance credibility faster than any single operational failure.
“When all four conditions operate together, execution no longer depends solely on leadership attention. The organisation's operating system begins to reinforce the work itself. That is the ignition point. That is Grounding.”
Participant file (2.1 — The ESRG Ignition Point: How Each Domain Enables Execution) — prompts participants complete:
- ✎ Reflection — Which enabling condition is weakest in your organisation right now — and what is the execution cost?</a:t>
            </a:r>
            <a:endParaRPr lang="en-US" dirty="0"/>
          </a:p>
          <a:p/>
          <a:p>
            <a:r>
              <a:t>Source detail (S2R® manuscript):</a:t>
            </a:r>
          </a:p>
          <a:p/>
          <a:p>
            <a:r>
              <a:t>E · Enable the Work, further detail: The environment must make it easy for people to collaborate, focus, and perform, in both the physical and behavioural conditions of work. Execution improves dramatically when the conditions of work remove unnecessary barriers. Environment operates across two dimensions that must both be active for the enabling effect to be real.</a:t>
            </a:r>
          </a:p>
          <a:p>
            <a:r>
              <a:t>Physical dimension: Teams must be able to reach one another quickly, share information easily, and coordinate decisions without delay. Workspace design must allow people to move naturally between focused work and collaborative problem-solving. Hybrid and distributed teams must be able to participate equally in conversations and decisions so coordination remains seamless regardless of location. When these conditions are absent, teams spend their energy navigating obstacles, and the work stops advancing.</a:t>
            </a:r>
          </a:p>
          <a:p>
            <a:r>
              <a:t>Behavioural dimension: It enables the quality and sustainability of execution. This is where values, cultural norms, and psychological conditions determine whether people engage fully, speak honestly, and perform to the standard the strategy demands.</a:t>
            </a:r>
          </a:p>
          <a:p>
            <a:r>
              <a:t>Values that are merely stated do not enable performance. With demonstrable, measured, and enforced values, the standard of conduct is as visible and as consequential as the standard of results. When values are embedded in 360-degree feedback, where every leader is assessed on what they delivered and on how they delivered it, the organisation sends an unambiguous signal: character and conduct are performance variables.</a:t>
            </a:r>
          </a:p>
          <a:p>
            <a:r>
              <a:t>Cultural norms translate that signal into the daily way of working. Each value is expressed as a named, actionable norm that the organisation can own, teach, and reinforce. The norm defines the behaviour. The behaviour shapes the culture. The culture enables execution to be sustained beyond any individual’s presence or attention.</a:t>
            </a:r>
          </a:p>
          <a:p>
            <a:r>
              <a:t>Psychological safety extends to challenging decisions constructively and signalling unsustainable pressure without fear of consequence. The real-time intelligence this produces is what allows leaders to intervene before friction compounds into failure.</a:t>
            </a:r>
          </a:p>
          <a:p>
            <a:r>
              <a:t>When both dimensions of environment are aligned, teams spend their energy advancing the work. Issues surface earlier. Conversations become more constructive. Performance becomes a shared standard.</a:t>
            </a:r>
          </a:p>
          <a:p/>
          <a:p>
            <a:r>
              <a:t>S · Streamline the Flow, further detail: Systems must allow work, data, and decisions to move smoothly across the organisation. Systems provide the pathways through which information, tasks, and decisions move.</a:t>
            </a:r>
          </a:p>
          <a:p>
            <a:r>
              <a:t>Streamlined systems eliminate unnecessary manual work. Integrated platforms allow data to move without repeated entry, while dashboards and workflow tools provide visibility into progress across the organisation.</a:t>
            </a:r>
          </a:p>
          <a:p>
            <a:r>
              <a:t>When systems are streamlined, coordination improves naturally. Teams spend less time reconstructing information or clarifying processes and more time acting on insights that move the organisation toward its Key Results.</a:t>
            </a:r>
          </a:p>
          <a:p/>
          <a:p>
            <a:r>
              <a:t>R · Resource the Strategy, further detail: Capabilities, capacity, and tools must match the ambition of the Key Results. Strategic ambition creates demand on the organisation’s resources. When resources are aligned with strategic priorities, teams can deliver outcomes with confidence.</a:t>
            </a:r>
          </a:p>
          <a:p>
            <a:r>
              <a:t>Staffing levels must reflect operational demand, whatever the historical headcount or political negotiation. Specialist expertise must be available when required. Funding pathways must be responsive enough to support the pace of execution the strategy demands.</a:t>
            </a:r>
          </a:p>
          <a:p>
            <a:r>
              <a:t>Employee sustainability is the recognition that people are not an infinite resource. Burnout is a strategic risk. Resourcing the people who carry the strategy means giving them the capacity, the tools, the development, and the psychological support to perform well beyond the first quarter.</a:t>
            </a:r>
          </a:p>
          <a:p>
            <a:r>
              <a:t>Without adequate resources, execution momentum slows as teams attempt to compensate for gaps through personal effort. That compensation is not sustainable. By resourcing the strategy appropriately, leaders ensure that the organisation’s ambitions remain achievable within the realities of its operational capacity.</a:t>
            </a:r>
          </a:p>
          <a:p/>
          <a:p>
            <a:r>
              <a:t>G · Govern the Rhythm, further detail: Clear decision rights and accountability structures sustain execution discipline. Governance provides the structure that maintains the rhythm. It clarifies who owns each outcome, who has the authority to decide, and how issues are escalated when obstacles arise.</a:t>
            </a:r>
          </a:p>
          <a:p>
            <a:r>
              <a:t>Escalation pathways ensure that challenges are addressed at the right level with the right authority. Performance reviews reinforce accountability for results, and risk discussions sit alongside them as a standard discipline, well before any crisis.</a:t>
            </a:r>
          </a:p>
          <a:p>
            <a:r>
              <a:t>Consistent enforcement is what makes governance real.</a:t>
            </a:r>
          </a:p>
          <a:p>
            <a:r>
              <a:t>This discipline creates continuity in execution. Teams understand how progress will be assessed, where decisions will occur, and what will happen when commitments are not met. That clarity removes hesitation and maintains the cadence of execution that keeps work advancing toward the Key Results.</a:t>
            </a:r>
          </a:p>
          <a:p/>
          <a:p>
            <a:r>
              <a:t>The ignition point: Progress continues steadily, predictably, and sustainably toward the strategic outcomes the leadership team has defined.</a:t>
            </a:r>
          </a:p>
          <a:p/>
          <a:p>
            <a:r>
              <a:t>Professional insights:</a:t>
            </a:r>
          </a:p>
          <a:p/>
          <a:p>
            <a:r>
              <a:t>R · Resource the people who carry it: Organisations that run their best people to exhaustion before the work is done lose their most valuable asset at the moment of greatest need. Build the conditions, rhythms and support that let people finish the work at full capacity.</a:t>
            </a:r>
          </a:p>
          <a:p>
            <a:r>
              <a:t>Source: Journal, 1 April 2026 — Professional Insights: Strategy</a:t>
            </a:r>
          </a:p>
          <a:p/>
          <a:p>
            <a:r>
              <a:t>Communication and capability: Knowledge of standards does not guarantee behaviour. Implementation needs capability, reinforcement and environmental support alongside communication.</a:t>
            </a:r>
          </a:p>
          <a:p>
            <a:r>
              <a:t>Source: Journal, 20 August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 WORKED EXAMPLE 1: THE IBSL CULTURAL OPERATING CODE (6 values translated)
Content:
IBSL's values are: Intentionality · Integrity · Collaboration · Accountability · Excellence · Human-Centricity
The translation discipline: for each value, define the observable, repeatable behaviour that becomes the organisational way of life — expressed as a named acronym that is teachable, measurable, and replicable.
Intentionality
Leading with purpose, clarity, and discipline
AIM
Act with purpose · Interrogate assumptions · Maintain the discipline
Every leader is clear on the why behind every decision, challenges their own thinking before committing, and follows through with consistency. Intentionality is the discipline of knowing exactly why you are doing what you are doing, and holding that line when conditions make it inconvenient.
360 indicator: Before committing to any initiative, can this leader articulate the strategic purpose it serves, the assumption they are making, and the specific standard they will hold themselves to in executing it?
Integrity
Consistency between words, behaviour, and outcomes
SAY
Say what you mean · Act on what you say · Yield the truth regardless of consequence
Integrity is about consistency between word, behaviour, and outcome — even when telling the truth is uncomfortable, even when the outcome is not what was promised. What we say and what we do are the same thing. Always.
360 indicator: Does this leader name what was promised, what was delivered, and what the gap cost — before being asked?
Collaboration
Leveraging diversity of thought and collective intelligence
ONE
Own a shared outcome · Navigate difference with respect · Execute as a unified force
Collaboration is the decision to produce something together that no single function could produce alone. The result belongs to the team.
360 indicator: Does this leader present the shared outcome — including what their function gave up to make it possible — or only their function's contribution?
Accountability
Owning results and reinforcing transparency
OAR
Own it · Act on it · Report it
Every commitment is owned by a named person, acted on within an agreed timeframe, and reported on honestly regardless of outcome. Accountability begins the moment a commitment is made. We report the truth and fix the gap.
360 indicator: Does this leader surface gaps the moment they become visible — with the cause, the impact, and the recovery action already identified?
Excellence
Upholding rigour, learning, and measurable impact
SET
Set the standard · Earn the evidence · Transform through learning
Excellence is a daily discipline. We define what good looks like, we measure whether we are achieving it, and we use every gap as a learning signal. It is about being better than last quarter, and proving it with evidence.
360 indicator: Can this leader answer three questions at any review: What standard did we set? What evidence do we have? What have we changed as a result?
Human-Centricity
Placing people at the core of leadership and execution
SEE
See the person behind the role · Enable growth deliberately · Ensure dignity in every interaction
Human-centricity is the commitment that leadership serves people. Every interaction must be conducted with the awareness that there is a person on the other side of it. We invest in growth. We protect dignity. We never reduce a person to their output.
360 indicator: Does this leader open with the person — their experience of the quarter, what supported them, what constrained them — before moving to the result?
IBSL COC SUMMARY
Value | Acronym | Norm
Intentionality | AIM | Act with purpose. Interrogate assumptions. Maintain the discipline.
Integrity | SAY | Say what you mean. Act on what you say. Yield the truth regardless of consequence.
Collaboration | ONE | Own a shared outcome. Navigate difference with respect. Execute as a unified force.
Accountability | OAR | Own it. Act on it. Report it.
Excellence | SET | Set the standard. Earn the evidence. Transform through learning.
Human-Centricity | SEE | See the person behind the role. Enable growth deliberately. Ensure dignity in every interaction.
AIM · SAY · ONE · OAR · SET · SEE</a:t>
            </a:r>
            <a:endParaRPr lang="en-US" dirty="0"/>
          </a:p>
          <a:p/>
          <a:p>
            <a:r>
              <a:t>Source detail (S2R® manuscript):</a:t>
            </a:r>
          </a:p>
          <a:p/>
          <a:p>
            <a:r>
              <a:t>Collaboration (ONE), further detail: We bring different perspectives, resolve them with respect, and execute as one.</a:t>
            </a:r>
          </a:p>
          <a:p>
            <a:r>
              <a:t>Human-Centricity (SEE), further detail: The awareness of the person on the other side applies to every interaction, every decision, and every performance conversation.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 WORKED EXAMPLE 2: THE ESRG EXECUTION SCANNER (Q1 2026 · 6 leaders · 6 steps)
Why RED Overall
Overall team colour = RED because the convergence of four AMBER elements with three overlapping COMPASS zones constitutes a systemic execution risk. The risk lies in the pattern that all the individual WATCH signals point to.
Content:
6 executives completing their individual scanner independently — each recording the single most significant ESRG issue they observed during the quarter.
Step 1
Individual Scanners
Step 2
ESRG Pattern
Step 3
COMPASS Map
Step 4
Overlaps
Step 5
Consolidated
Step 6
Insight Questions
Individual Scanners Submitted
Leader | Role | ESRG | Issue Observed This Quarter | Severity | COMPASS Flagged
Sarah Mokoena | COO | G | Operations review forum — zero decisions in 4 consecutive months. Same 3 resourcing issues reported, acknowledged, and carried forward. | HIGH | M · C · O
James Okonkwo | CPO | E | 360 feedback completed but never actioned. No development conversations held, no consequences applied. Cultural signal: how you lead does not affect what happens to you. | HIGH | O · P · S2
Priya Naidoo | CFO | R | Q2 budget still reflects Q4 2024 priorities. Two strategic initiatives underfunded by ~40% while legacy cost centres remain fully funded. | HIGH | A · P
David Sithole | CTO | S | Financial, operational, and customer data across 3 platforms with no integration. Every cross-functional decision requires manual consolidation — leadership making strategic decisions on 5–7 day old information. | HIGH | S1 · M · S2
Amara Diallo | CSO | G | Decision rights at R500,000 procurement threshold unclear. Two executives each believe they hold individual sign-off authority. One vendor received contradictory instructions in the same week. | MEDIUM | C · O · M
Lebo Khumalo | CMO | E | Cape Town hub systematically excluded from real-time strategic decisions — all meetings default to Johannesburg time zones. Cape Town joins late, misses opening context, absent from informal pre-call decisions. | MEDIUM | O · P
ESRG Element Pattern — Each Leader's Issue Mapped
ESRG | Sarah | James | Priya | David | Amara | Lebo | Team Pattern
E — Environment | — | HIGH | — | — | — | MED | WATCH — ISOLATED
S — Systems | — | — | — | HIGH | — | — | HIGH IN FUNCTION
R — Resources | — | — | HIGH | — | — | — | HIGH IN FUNCTION
G — Governance | HIGH | — | — | — | MED | — | WATCH — ISOLATED
COMPASS Zone Frequency Map — Which Zones Are Being Flagged Most Consistently
COMPASS Zone | Sarah | James | Priya | David | Amara | Lebo | Times Flagged
C · Clarity of Direction | ✓ | — | — | — | ✓ | — | 2
O · Organisational Alignment | ✓ | ✓ | — | — | ✓ | ✓ | 4 🔴
M · Management Discipline | ✓ | — | — | ✓ | ✓ | — | 3 🟡
P · People &amp; Capability | — | ✓ | ✓ | — | — | ✓ | 3 🟡
A · Allocation of Resources | — | — | ✓ | — | — | — | 1
S1 · Systems &amp; Execution | — | — | — | ✓ | — | — | 1
S2 · Sensing &amp; Adaptation | — | ✓ | — | ✓ | — | — | 2
The Three Overlapping Themes — What the Collective Pattern Reveals
Overlap 1 — O · Organisational Alignment flagged by 4 of 6 leaders
Sarah (COO) via G: Decision forums not producing cross-functional resolution
James (CPO) via E: Values not enforced consistently — behavioural norms vary across functions
Amara (CSO) via G: Contradictory decision authority producing contradictory external signals
Lebo (CMO) via E: Structural hub exclusion fragmenting team identity and participation
Collective signal: Organisational Alignment is failing because governance structures, cultural environment, and physical/digital infrastructure are simultaneously pulling functions apart. No single intervention addresses it — a coordinated response across G and E is required.
Overlap 2 — M · Management Discipline flagged by 3 of 6 leaders
Sarah (COO) via G: Review forums not functioning as decision mechanisms
David (CTO) via S: Data latency means reviews conducted on stale information
Amara (CSO) via G: Unclear decision rights mean accountability cannot be cleanly assigned
Collective signal: Management Discipline is structurally compromised — forums broken, information delayed, authority ambiguous. Pressure without fixing the structure has no leverage.
Overlap 3 — P · People &amp; Capability flagged by 3 of 6 leaders
James (CPO) via E: 360 feedback unactioned signals capability development has no real investment
Priya (CFO) via R: 40% underfunding means capability cannot be deployed even where it exists
Lebo (CMO) via E: Hub exclusion constrains capable people structurally
Collective signal: People &amp; Capability is constrained at three different points — funding, structure, and culture. Investment in training alone will not resolve it. A coordinated response across R, E, and G is required.
Consolidated ESRG Execution Engine Scanner — Q1 2026 · 6 Executives
E — Environment | S — Systems | R — Resources | G — Governance
Issues Flagged | 2 of 6 leaders | 1 of 6 leaders | 1 of 6 leaders | 2 of 6 leaders
Highest Severity | HIGH | HIGH | HIGH | HIGH
Team Pattern | WATCH — ISOLATED | HIGH IN FUNCTION | HIGH IN FUNCTION | WATCH — ISOLATED
Primary COMPASS Impact | O · P | S1 · M | A · P | M · C · O
CONSOLIDATED TEAM SCANNER COLOUR
Element | Status
E — Environment | 🟡 AMBER — EXECUTION WATCH
S — Systems | 🟡 AMBER — EXECUTION WATCH
R — Resources | 🟡 AMBER — EXECUTION WATCH
G — Governance | 🟡 AMBER — EXECUTION WATCH
OVERALL TEAM SCANNER | 🔴 RED — CRITICAL FRICTION DETECTED
The Five Collective Insight Questions — Open the Execution Muscle Scan
Q1
O · Organisational Alignment is flagged by 4 of 6 leaders across both G and E domains. Which ESRG intervention — Governance redesign or Environment restoration — must happen first, and why?
Q2
Three leaders flag HIGH severity issues in different ESRG elements, but all three point to M · Management Discipline as a downstream consequence. What does that tell us about where the root cause actually sits?
Q3
David's Systems issue and Sarah's Governance issue both produce the same symptom — decisions made on incomplete or outdated information. Are these two separate interventions or one integrated one?
Q4
Priya's Resources issue (40% underfunding) appears in P · People &amp; Capability as well as A · Allocation of Resources. What does that tell us about what the underfunding is actually costing?
Q5
If the team could only address one ESRG element before Q3 reviews begin — which one would restore the most execution momentum across the most COMPASS zones, and who owns that intervention?
Six executives entered the session each holding one piece of the picture. None could see the full pattern alone. This is what collective intelligence looks like: the pattern that only becomes visible when every leader's honest observation is placed alongside every other.
Participant file (2.3 — Worked Example 2: The ESRG Execution Scanner) — prompts participants complete:
- ✎ Reflection — Which of the three overlapping patterns is most recognisable in your context? Why?</a:t>
            </a:r>
            <a:endParaRPr lang="en-US" dirty="0"/>
          </a:p>
          <a:p/>
          <a:p>
            <a:r>
              <a:t>Source detail (S2R® manuscript):</a:t>
            </a:r>
          </a:p>
          <a:p/>
          <a:p>
            <a:r>
              <a:t>Setting: Q1 2026 Execution Muscle Scan, run post-performance review.</a:t>
            </a:r>
          </a:p>
          <a:p>
            <a:r>
              <a:t>Scanner brief: Each executive records the single most significant issue observed during the quarter. Issues can sit in any ESRG element.</a:t>
            </a:r>
          </a:p>
          <a:p/>
          <a:p>
            <a:r>
              <a:t>Step 1, detail the table above shortens:</a:t>
            </a:r>
          </a:p>
          <a:p>
            <a:r>
              <a:t>- Sarah Mokoena (COO): No one with decision authority is in the room.</a:t>
            </a:r>
          </a:p>
          <a:p>
            <a:r>
              <a:t>- Priya Naidoo (CFO): The two strategic initiatives are underfunded by approximately 40% against their approved plans.</a:t>
            </a:r>
          </a:p>
          <a:p>
            <a:r>
              <a:t>- Amara Diallo (CSO): The contradictory instructions to the vendor came from two approving leaders.</a:t>
            </a:r>
          </a:p>
          <a:p/>
          <a:p>
            <a:r>
              <a:t>Step 4, fuller wording of the overlaps (what the collective pattern reveals that no individual scanner could show alone):</a:t>
            </a:r>
          </a:p>
          <a:p>
            <a:r>
              <a:t>Overlap 1 (O · Organisational Alignment): The four leaders flag it from completely different angles, across both Governance and Environment.</a:t>
            </a:r>
          </a:p>
          <a:p>
            <a:r>
              <a:t>Overlap 2 (M · Management Discipline): David (CTO): even when decisions are made, they are based on last week’s reality. Amara (CSO): accountability cannot be cleanly assigned when commitments are missed. Collective signal: leaders’ commitment is intact and the weakness is structural. Asking leaders to be more disciplined without fixing the structure is pressure without leverage.</a:t>
            </a:r>
          </a:p>
          <a:p>
            <a:r>
              <a:t>Overlap 3 (P · People &amp; Capability): James (CPO): capability development has no real consequence or investment behind it. Priya (CFO): the capability required to deliver the underfunded initiatives cannot be deployed even where it exists. Lebo (CMO): capable people in the Cape Town hub are not contributing at the level they could, because of structural inaccessibility. Collective signal: People &amp; Capability is a systemic condition. Capability exists and is being constrained by underfunding, structural exclusion, and a cultural environment that does not reinforce development.</a:t>
            </a:r>
          </a:p>
          <a:p/>
          <a:p>
            <a:r>
              <a:t>Why RED, further detail: Multiple ESRG elements are flagged HIGH across the team even where individual elements show WATCH.</a:t>
            </a:r>
          </a:p>
          <a:p>
            <a:r>
              <a:t>Q4, context: Priya’s Resources issue is the only purely financial flag.</a:t>
            </a:r>
          </a:p>
          <a:p/>
          <a:p>
            <a:r>
              <a:t>The consolidated insight (what this team now knows that they did not know before the scan). The scan revealed three things the individual scanners could not:</a:t>
            </a:r>
          </a:p>
          <a:p>
            <a:r>
              <a:t>First: Organisational Alignment is the most stressed COMPASS zone in the organisation right now. It is being attacked from four directions simultaneously. It will not self-correct.</a:t>
            </a:r>
          </a:p>
          <a:p>
            <a:r>
              <a:t>Second: Management Discipline looks like a leadership behaviour problem from inside each function. From the consolidated view it is a structural problem: broken forums, stale data, and ambiguous authority. The intervention is architectural.</a:t>
            </a:r>
          </a:p>
          <a:p>
            <a:r>
              <a:t>Third: People &amp; Capability is constrained at three different points in the system. No single intervention will release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 EXTRAPOLATING — WHERE
Where Are the ESRG Friction Zones?
Recognising the predictable friction patterns in each ESRG domain — and understanding what type of organisational intervention is required to restore alignment.
Section learning outcomes:
1. Recognise the institutional constraints and dependencies that create friction in each domain.
2. Determine the type of intervention each constraint requires.
FACILITATOR GUIDANCE — Extrapolating
Open with the reframe: friction begins quietly, in small operational inconveniences that gradually accumulate. The discipline of Extrapolating is recognising these signals early — before they compound.
As you work through each friction domain, invite leaders to identify which friction pattern they recognise most immediately in their organisation. This primes them for the scanner exercise without requiring them to commit to a judgement.
The closing section — Seeing Friction as Organisational Intelligence — is the critical reframe. Emphasise: every instance of friction reveals something precise about the organisation's readiness. The executive team's role is to transform insights into targeted alignment actions.
Time: the facilitator file gives no minute timing for this section (see the Timing watch point in the Session Overview).</a:t>
            </a:r>
            <a:endParaRPr lang="en-US" dirty="0"/>
          </a:p>
          <a:p/>
          <a:p>
            <a:r>
              <a:t>Source detail (S2R® manuscript):</a:t>
            </a:r>
          </a:p>
          <a:p/>
          <a:p>
            <a:r>
              <a:t>The section question in full: Where are the ESRG friction zones across OKR delivery?</a:t>
            </a:r>
          </a:p>
          <a:p>
            <a:r>
              <a:t>Section opening: Each ESRG domain carries its own set of predictable friction patterns. These patterns do not appear randomly. They arise when the organisational conditions supporting execution lag behind the strategic ambition the leadership team has set.</a:t>
            </a:r>
          </a:p>
          <a:p>
            <a:r>
              <a:t>Understanding these friction patterns allows leaders to recognise early signals of execution strain before performance outcomes begin to deteriorate. When leaders know what to look for, they can intervene earlier, strengthening the enabling conditions that allow the strategy to move forward with stability.</a:t>
            </a:r>
          </a:p>
          <a:p>
            <a:r>
              <a:t>Friction rarely begins as a crisis. A delayed decision here. A confusing data report there. A team stretched slightly beyond its capacity. Over time these small frictions compound, eventually slowing the entire execution system.</a:t>
            </a:r>
          </a:p>
          <a:p>
            <a:r>
              <a:t>This unit therefore trains leaders to observe where friction is emerging across the four ESRG domains, and to understand what type of organisational intervention is required to restore alignment.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 E · ENVIRONMENT FRICTION (Physical + Behavioural)
Content:
Environment friction occurs across both dimensions. Both must be examined — addressing one without the other produces only partial restoration of execution conditions.
Physical Environment Friction
Teams are asked to work in new ways — cross-functional collaboration, faster decision cycles, hybrid engagement — yet the workspace continues to reflect older patterns. Offices organised around hierarchy. Meeting rooms not equipped for hybrid participation. Teams that depend on each other separated by organisational structures that make quick problem-solving unnecessarily difficult.
When physical environment friction exists, people spend energy navigating obstacles. The execution cost is real — and largely invisible in any performance report.
Behavioural Environment Friction
Values misalignment is one of the most common and least diagnosed sources of sustained execution failure. When stated values are not translated into observable, specific behaviours and not embedded in performance measurement, they function as decoration. The absence of a Cultural Operating Code means cultural expectations remain implicit — and implicit expectations are interpreted differently by different people at different seniority levels. That inconsistency is friction.
360-degree feedback gaps are a reliable indicator of values friction. When performance management assesses only what people delivered — and not how — the measurement system reinforces a culture in which conduct is invisible. High performers who undermine colleagues or avoid accountability are protected by their results. Over time this erodes the trust sustained execution depends on.
Psychological safety failures are a direct execution risk. When people hesitate to raise concerns, execution issues surface too late. When the cultural environment tolerates aggression, disrespect, or the silencing of dissent, the organisation loses its most valuable early warning system: the willingness of people to tell the truth about what is actually happening.
Participant file (3.1 — E · Environment Friction) — prompts participants complete:
- ✎ Reflection — Which environmental friction pattern — physical or behavioural — is most present in your function right now? What is the execution cost?
———
3.2 — S · SYSTEMS FRICTION
Content:
Many organisations attempt to run new strategic priorities through legacy operational systems. Workflows designed for previous business models remain unchanged even though the strategic direction now requires different forms of coordination, reporting, and decision speed. Teams must invent workarounds simply to keep work moving — and workarounds, over time, become the de facto system.
One of the most common forms of systems friction appears in data and reporting architecture. Teams rely on different data sources, dashboards measuring different definitions of performance, or reporting systems that update too slowly to inform real-time decisions. When this occurs, leaders spend more time debating the accuracy of information than interpreting what it means for execution. Data integrity is an execution problem.
Governance integration within systems is a frequently missed alignment condition. When approvals, compliance checks, and escalation triggers sit outside the workflow as separate, after-the-fact processes, they add latency at every function boundary. When systems friction is present, execution becomes dependent on informal coordination and individual effort.
Participant file (3.2 — S · Systems Friction) — prompts participants complete:
- ✎ Reflection — Where in your organisation have workarounds become so normalised that they are now the de facto system?
———
3.3 — R · RESOURCES FRICTION
Content:
Strategic plans frequently assume that the necessary capabilities already exist within the organisation. In reality, many strategies require skills that must be developed, technologies that must be acquired, or staffing levels that must expand. The assumption of readiness is itself a source of friction.
Capacity constraints represent a particularly damaging form of friction. Chronic understaffing forces teams to operate under constant pressure — increasing error rates, reducing attention to detail, and accelerating burnout. At its core, this is a strategic risk. Burnout degrades execution quality, accelerates talent exit, and erodes the institutional knowledge that is often the organisation's most critical and least recoverable asset.
Employee sustainability is therefore a resource alignment condition. The absence of a signal that workloads are unsustainable is evidence that psychological safety in the Resources domain is insufficient.
Financial misalignment is a structural contradiction many organisations sustain for longer than they realise. Strategy follows resources. Where the money goes is where the organisation's real priorities reside — regardless of what the strategy document states.
Participant file (3.3 — R · Resources Friction) — prompts participants complete:
- ✎ Reflection — Where in your strategy portfolio is there a gap between what you have committed to deliver and what you are actually resourced to achieve?
———
3.4 — G · GOVERNANCE FRICTION
Content:
In many organisations, governance structures were originally designed to control risk, with little regard for execution speed. Governance that was fit for a previous strategic era — and has not been updated — is itself a source of friction.
Unclear decision rights produce one of the most visible and costly forms of governance friction. Teams are uncertain about who has the authority to approve a step forward, resulting in delays while decisions are escalated through multiple management layers. Decision rights that are not clearly defined at every level are a structural drag on execution velocity.
Ethical integrity failures are among the most corrosive and least visible sources of governance friction. When the governance system applies standards selectively — when high performers are exempt from accountability by virtue of results, when leaders modelling values misalignment are protected by seniority — the credibility of the governance system erodes. Selective enforcement weakens governance and delegitimises it. And a governance system that lacks legitimacy cannot sustain the execution discipline the strategy requires.
Leadership absence from execution oversight is often misread as a trust signal. Leaders who delegate governance entirely — absent from review forums, not engaging actively with accountability conversations — undermine the very structures they have commissioned.
Participant file (3.4 — G · Governance Friction) — prompts participants complete:
- ✎ Reflection — Where in your governance system is selective enforcement visible? What signal is that sending to the rest of the organisation?</a:t>
            </a:r>
            <a:endParaRPr lang="en-US" dirty="0"/>
          </a:p>
          <a:p/>
          <a:p>
            <a:r>
              <a:t>Source detail (S2R® manuscript):</a:t>
            </a:r>
          </a:p>
          <a:p/>
          <a:p>
            <a:r>
              <a:t>E · Environment friction, further detail</a:t>
            </a:r>
          </a:p>
          <a:p>
            <a:r>
              <a:t>Definition: when the physical and behavioural conditions of work do not support the collaboration, focus, and performance required by the strategy. Physical friction and behavioural friction often compound each other.</a:t>
            </a:r>
          </a:p>
          <a:p>
            <a:r>
              <a:t>Physical: In many organisations, the physical environment evolves slowly while strategy evolves rapidly. The new ways of working include hybrid engagement with customers or partners. Teams that depend on each other for daily interaction are located far apart.</a:t>
            </a:r>
          </a:p>
          <a:p>
            <a:r>
              <a:t>Behavioural: Behavioural friction is subtler and more consequential. It occurs when the values, cultural norms, and psychological conditions of the workplace are misaligned with the strategic direction.</a:t>
            </a:r>
          </a:p>
          <a:p>
            <a:r>
              <a:t>Leaders who are assessed only on results, and never on conduct, signal to the organisation that values are optional when performance is strong. That signal travels fast and compounds silently. The gap between espoused values and enacted values is a strategic liability.</a:t>
            </a:r>
          </a:p>
          <a:p>
            <a:r>
              <a:t>Without a Cultural Operating Code, implicit expectations are interpreted differently in different functions as well as at different seniority levels. The inconsistency creates a fragmented behavioural environment where the organisation’s stated culture and its lived culture are experienced as two different organisations.</a:t>
            </a:r>
          </a:p>
          <a:p>
            <a:r>
              <a:t>When team members avoid difficult performance conversations, small problems compound into larger operational breakdowns. The cultural environment may tolerate the silencing of dissent by intent or by neglect.</a:t>
            </a:r>
          </a:p>
          <a:p>
            <a:r>
              <a:t>Cultural signals embedded in daily rituals also matter. The way leaders run meetings, how progress is discussed, what behaviour is visibly recognised and what is quietly tolerated: all of these communicate what the organisation truly values. If those signals contradict the strategic priorities, they quietly erode the alignment between the organisation’s stated direction and its daily behaviour.</a:t>
            </a:r>
          </a:p>
          <a:p>
            <a:r>
              <a:t>When behavioural environment friction is present, execution becomes harder than it needs to be, because the human system carrying the strategy is not fully configured to support it.</a:t>
            </a:r>
          </a:p>
          <a:p/>
          <a:p>
            <a:r>
              <a:t>S · Systems friction, further detail</a:t>
            </a:r>
          </a:p>
          <a:p>
            <a:r>
              <a:t>Definition: when the organisation’s operational processes and digital infrastructure are not aligned with the execution requirements of the strategy.</a:t>
            </a:r>
          </a:p>
          <a:p>
            <a:r>
              <a:t>Platform integration: Another common friction point arises when technology platforms fail to integrate with one another. Teams re-enter the same information across multiple systems, manually reconcile inconsistent data, or rely on spreadsheets outside the official system of record. These shadow processes create hidden risk, reduce execution visibility, and consume capacity that should be directed at strategic work.</a:t>
            </a:r>
          </a:p>
          <a:p>
            <a:r>
              <a:t>Governance integration: Embedding governance within the system removes the latency and makes accountability a function of the workflow, independent of individual discipline.</a:t>
            </a:r>
          </a:p>
          <a:p>
            <a:r>
              <a:t>Process documentation: When operational processes exist only in the experience of individuals, with no documented, accessible workflows, execution becomes inconsistent. Teams interpret procedures differently, handovers between functions become ambiguous, and knowledge is lost when experienced staff rotate or leave.</a:t>
            </a:r>
          </a:p>
          <a:p/>
          <a:p>
            <a:r>
              <a:t>R · Resources friction, further detail</a:t>
            </a:r>
          </a:p>
          <a:p>
            <a:r>
              <a:t>Definition: when the organisation’s capabilities, capacity, and investments are not aligned with the demands created by the strategy.</a:t>
            </a:r>
          </a:p>
          <a:p>
            <a:r>
              <a:t>Capability gaps are a common and predictable friction source. Teams may be asked to execute initiatives requiring advanced data analysis, digital systems integration, regulatory expertise, or specialised operational knowledge that is not yet present at sufficient scale. Without deliberate capability development, the organisation becomes dependent on a small number of individuals, creating bottlenecks that slow progress and single points of failure that create execution risk.</a:t>
            </a:r>
          </a:p>
          <a:p>
            <a:r>
              <a:t>Capacity: When the organisation attempts to close the gap between strategic ambition and execution capacity through individual effort, without structural resourcing, it borrows against its own sustainability. Teams must be able to signal unsustainable workloads early, before performance degrades.</a:t>
            </a:r>
          </a:p>
          <a:p>
            <a:r>
              <a:t>Financial misalignment: Budget allocations frequently reflect historical priorities and lag the current strategic direction. When critical initiatives lack funding while legacy activities continue to receive investment, the organisation operates in a state of resource friction regardless of how clearly the strategy is communicated.</a:t>
            </a:r>
          </a:p>
          <a:p>
            <a:r>
              <a:t>Tools and specialist support: Resource friction may also arise from the absence of working tools, reliable technology, or accessible specialist support. When teams cannot reach the expertise they need (legal guidance, data analysis, technical support), decision-making slows and execution stalls. In these situations motivation and commitment are intact. The organisation is attempting to deliver outcomes without the capacity required to achieve them.</a:t>
            </a:r>
          </a:p>
          <a:p/>
          <a:p>
            <a:r>
              <a:t>G · Governance friction, further detail</a:t>
            </a:r>
          </a:p>
          <a:p>
            <a:r>
              <a:t>Definition: when decision rights, accountability structures, and leadership oversight do not support the pace and discipline required for execution.</a:t>
            </a:r>
          </a:p>
          <a:p>
            <a:r>
              <a:t>As strategic priorities evolve, structures designed to control risk may begin to slow the organisation’s ability to respond to emerging opportunities or operational challenges.</a:t>
            </a:r>
          </a:p>
          <a:p>
            <a:r>
              <a:t>Decision rights: Unclear decision rights create the decision bottlenecks identified earlier in the programme, a pattern where progress waits for approval when empowered ownership should be advancing it.</a:t>
            </a:r>
          </a:p>
          <a:p>
            <a:r>
              <a:t>Policy constraints can introduce friction when procedures designed for regulatory compliance or operational control are applied rigidly without considering the strategic context. When policy interpretation becomes a substitute for judgement, leaders avoid decisions altogether, allowing issues to remain unresolved while the organisation waits for certainty that rarely arrives.</a:t>
            </a:r>
          </a:p>
          <a:p>
            <a:r>
              <a:t>Ethical integrity: Selective standards also show when conflicts of interest are tolerated and left unmanaged. Teams observe the inconsistency and gradually disengage from the formal processes designed to guide execution.</a:t>
            </a:r>
          </a:p>
          <a:p>
            <a:r>
              <a:t>Leadership absence: Leaders who delegate governance entirely signal by their behaviour that governance belongs to a governance team and sits outside leadership responsibility. Governance credibility is built through visible leadership engagement. Policy documents alone do not build it.</a:t>
            </a:r>
          </a:p>
          <a:p>
            <a:r>
              <a:t>Performance architecture: Governance misalignment with the performance architecture is a systemic friction source. The OKR and KPI systems established earlier in the DIG framework depend on clear accountability, transparent reporting, and regular review rhythms. If governance structures fail to sustain these practices (review forums become status updates, risk discussions are separated from performance discussions, accountability conversations are deferred), performance measurement becomes ceremonial and stops being operational.</a:t>
            </a:r>
          </a:p>
          <a:p>
            <a:r>
              <a:t>When governance alignment is strong, decision-making becomes predictable and accountable. When it is weak, execution slows as teams navigate ambiguity, selective enforcement, and governance structures that were never updated to carry the weight of the current strategy.</a:t>
            </a:r>
          </a:p>
          <a:p/>
          <a:p>
            <a:r>
              <a:t>Professional insights:</a:t>
            </a:r>
          </a:p>
          <a:p/>
          <a:p>
            <a:r>
              <a:t>S · Systems: Strategic drift sets in when platforms, policies, structures or projects become ends in themselves. Ask repeatedly whether institutional assets still produce the intended value.</a:t>
            </a:r>
          </a:p>
          <a:p>
            <a:r>
              <a:t>Source: Journal, 15 July 2026 — Professional Insights: Strategy</a:t>
            </a:r>
          </a:p>
          <a:p/>
          <a:p>
            <a:r>
              <a:t>R · Unsustainable workloads: Organisations that give people no margin to renew and recover produce people who eventually cannot run at all. The rhythm of renewal is part of the design of sustainable excellence.</a:t>
            </a:r>
          </a:p>
          <a:p>
            <a:r>
              <a:t>Source: Journal, 21 January 2026 — Professional Insights: Culture</a:t>
            </a:r>
          </a:p>
          <a:p/>
          <a:p>
            <a:r>
              <a:t>R · Capacity to deploy: Organisations underestimate available resource when they have not invested in the capacity to deploy it: the people, processes and structures that turn opportunity into output. Ask what the organisation is prepared to receive and deploy, alongside what it has.</a:t>
            </a:r>
          </a:p>
          <a:p>
            <a:r>
              <a:t>Source: Journal, 20 June 2026 — Professional Insights: Strategy</a:t>
            </a:r>
          </a:p>
          <a:p/>
          <a:p>
            <a:r>
              <a:t>G · Selective accountability: Structures that let certain roles accumulate disproportionate influence without a reset mechanism eventually produce internal inequality. Review concentrations of resource, influence and opportunity periodically.</a:t>
            </a:r>
          </a:p>
          <a:p>
            <a:r>
              <a:t>Source: Journal, 27 February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 SEEING FRICTION AS ORGANISATIONAL INTELLIGENCE
Content:
Recognising these friction patterns is about gaining operational intelligence.
Values misalignment in the environment signals a gap between cultural aspiration and cultural reality
Systems fragmentation signals an infrastructure built for a different strategic era
Capacity constraints signal a resource allocation that has not yet caught up with strategic ambition
Governance inconsistency signals a leadership system not yet operating at the standard the strategy demands
The role of the executive team is to transform those insights into targeted alignment actions that restore the conditions required for sustained performance — so that execution becomes a function of organisational design.</a:t>
            </a:r>
            <a:endParaRPr lang="en-US" dirty="0"/>
          </a:p>
          <a:p/>
          <a:p>
            <a:r>
              <a:t>Source detail (S2R® manuscript):</a:t>
            </a:r>
          </a:p>
          <a:p/>
          <a:p>
            <a:r>
              <a:t>The reframe in full: Every instance of friction reveals something precise about the organisation’s readiness to sustain execution.</a:t>
            </a:r>
          </a:p>
          <a:p>
            <a:r>
              <a:t>By examining where friction appears (in the physical or behavioural conditions of the environment, in the systems, in the resources, or in the governance structures), leaders gain the insight required to strengthen the enterprise, going beyond the management of its symptoms.</a:t>
            </a:r>
          </a:p>
          <a:p>
            <a:r>
              <a:t>The executive team’s role at this stage goes beyond diagnosing friction. With targeted alignment actions in place, execution stops depending on individual heroism.</a:t>
            </a:r>
          </a:p>
          <a:p/>
          <a:p>
            <a:r>
              <a:t>Professional insights:</a:t>
            </a:r>
          </a:p>
          <a:p/>
          <a:p>
            <a:r>
              <a:t>Naming unsustainable practice: A culture that cannot name its unsustainable practices before they produce a breakdown keeps managing consequences and leaves the causes untouched. Create room for an outside voice that can name what insiders are too close to see.</a:t>
            </a:r>
          </a:p>
          <a:p>
            <a:r>
              <a:t>Source: Journal, 11 February 2026 — Professional Insights: Culture</a:t>
            </a:r>
          </a:p>
          <a:p/>
          <a:p>
            <a:r>
              <a:t>Honest signals: Organisations become more intelligent when difficult information is incorporated into decisions. Honest signals can improve direction. Use this with “Friction as organisational intelligence”.</a:t>
            </a:r>
          </a:p>
          <a:p>
            <a:r>
              <a:t>Source: Journal, 5 September 2026 — Professional Insights: Strategy</a:t>
            </a:r>
          </a:p>
          <a:p/>
          <a:p>
            <a:r>
              <a:t>Values misalignment: When espoused values and rewarded behaviours diverge, people calibrate to the real signal and discount the stated one. The work is closing the distance between declaration and practice.</a:t>
            </a:r>
          </a:p>
          <a:p>
            <a:r>
              <a:t>Source: Journal, 13 June 2026 — Professional Insights: Culture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 INTEGRATION — COLLECTIVE
Cross-ESRG Architecture — Collective Intelligence of Execution
The Execution Muscle Scan — a structured quarterly leadership conversation that transforms individual observations into collective intelligence about execution readiness.
Section learning outcomes:
1. Demonstrate an enterprise view of the operating conditions required for sustainable performance.
2. Formulate an enterprise agenda for aligning operating conditions with strategic priorities.
FACILITATOR GUIDANCE — Integration
The Execution Muscle Scan is the practical instrument that makes this unit operational. Walk through all four reflections with the group using the mountain expedition metaphor as the framing device — the purpose is to ensure the expedition is still strong enough to keep climbing.
The COMPASS-ESRG table is the most important reference in this section. Spend time on it — this is the connection that ties Unit 9 and Unit 10 together as a coherent diagnostic system.
Close by naming the key insight: the output is a leadership instrument for proactive execution architecture. The Collated Executive View is what the team brings to the next performance review as evidence that they are engineering the conditions for sustained delivery.
Time: the facilitator file gives no minute timing for this section (see the Timing watch point in the Session Overview).</a:t>
            </a:r>
            <a:endParaRPr lang="en-US" dirty="0"/>
          </a:p>
          <a:p/>
          <a:p>
            <a:r>
              <a:t>Source detail (S2R® manuscript):</a:t>
            </a:r>
          </a:p>
          <a:p/>
          <a:p>
            <a:r>
              <a:t>Section opening: This section establishes cross-functional ownership of the four ESRG domains. Each domain intersects multiple executive functions, and friction in one domain rarely stays contained within a single function. Sustained ESRG alignment therefore requires coordinated collective commitment across functions.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 — THE EXECUTION MUSCLE SCAN (A collective intelligence method)
Content:
In a mountain expedition, climbers periodically stop to assess whether the conditions around them still support a safe and successful ascent. They check the terrain, the equipment, the team's condition, and the route ahead. The purpose is to ensure the expedition remains properly equipped to continue the climb.
The Execution Muscle Scan is a structured leadership conversation conducted during the quarterly progress review, immediately after performance has been examined. The executive team shifts its attention from outcomes to the conditions that enable those outcomes.
“Are the organisational conditions still supporting our ability to continue the climb?”
Through this process, the executive team transforms operational observations from across the organisation into collective intelligence about execution readiness — and identifies where the enterprise system must be strengthened before the next execution cycle begins.</a:t>
            </a:r>
            <a:endParaRPr lang="en-US" dirty="0"/>
          </a:p>
          <a:p/>
          <a:p>
            <a:r>
              <a:t>Source detail (S2R® manuscript):</a:t>
            </a:r>
          </a:p>
          <a:p/>
          <a:p>
            <a:r>
              <a:t>Why a scan is needed alongside the results review: The expedition check leaves the destination unquestioned. Strategy execution requires the same discipline.</a:t>
            </a:r>
          </a:p>
          <a:p>
            <a:r>
              <a:t>Quarterly progress reviews typically focus on results: what has been delivered, where performance is ahead or behind target, and what adjustments must be made to the plan. While this review is essential, it does not examine whether the organisation itself remains aligned with the demands of the journey.</a:t>
            </a:r>
          </a:p>
          <a:p>
            <a:r>
              <a:t>Results tell you where the expedition has arrived. The Execution Muscle Scan tells you whether the expedition is still strong enough to keep climbing.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 THE FOUR REFLECTIONS (Step through each)
Content:
E
Environment
S
Systems
R
Resources
G
Governance
Enabling the Work — Physical &amp; Behavioural
Physical: Can teams reach one another quickly? Are hybrid participants fully engaged — or experiencing two-tier participation that creates two-tier accountability? Do workspaces reflect current strategic priorities — or legacy signals from a previous planning cycle?
Behavioural: Are values being demonstrated in how leaders conduct themselves in reviews and performance conversations? Is the Cultural Operating Code being actively reinforced, or has it become background noise? Do people feel safe enough to surface execution problems early — or are they managing impressions and absorbing friction silently?
“Do the physical and behavioural conditions of our environment make it easy for people to collaborate, speak honestly, and advance the work?”
Streamlining the Flow
Are processes remaining clear, current, and accessible — or have workarounds accumulated to the point where the workaround has become the de facto system? Are data sources remaining trusted and consistently defined across functions — or are teams spending review time debating accuracy? Is workflow visibility sufficient — or is execution progress only visible through informal channels?
Are approvals, compliance checks, and escalation triggers embedded in the workflow — or do they sit outside it as separate, time-consuming layers that slow execution at every function boundary?
“Do our systems allow work, data, and decisions to move smoothly and visibly across the organisation?”
Resourcing the Strategy — Capability, Capacity &amp; Sustainability
Do teams possess the skills required for the current phase? Are staffing levels sufficient for normal and peak demand? Is financial investment continuing to flow to the initiatives driving the strategy forward — or defaulting to historical allocation patterns?
Critically: are teams operating at a pace and load that can be maintained — or are they absorbing pressure that is quietly degrading performance quality, accelerating talent exit, and eroding institutional knowledge? Can people signal unsustainable workloads early — or has the culture made that signal feel too costly to send?
“Do our teams have the capability, capacity, and sustainability required to deliver the strategy over time?”
Maintaining the Rhythm — Decision, Accountability &amp; Integrity
Are decision rights remaining clear at every level — or is approval ambiguity reintroducing decision bottlenecks? Are review forums functioning as decision forums — or have they reverted to status update sessions that produce reports with no actions?
Are accountability standards being applied consistently regardless of seniority or results? Is leadership presence in execution oversight active and visible — or has governance been delegated while leaders signal by absence that the process is optional? Are risk discussions happening alongside performance discussions — or only triggered by crisis?
“Are decisions, accountability, and ethical standards operating at the pace and consistency required to sustain execution?”</a:t>
            </a:r>
            <a:endParaRPr lang="en-US" dirty="0"/>
          </a:p>
          <a:p/>
          <a:p>
            <a:r>
              <a:t>Source detail (S2R® manuscript):</a:t>
            </a:r>
          </a:p>
          <a:p/>
          <a:p>
            <a:r>
              <a:t>How the four reflections work: Each reflection examines a different dimension of the organisation’s execution conditions. Together they produce a complete picture of ESRG alignment at the point of review.</a:t>
            </a:r>
          </a:p>
          <a:p/>
          <a:p>
            <a:r>
              <a:t>E · Environment: The leadership team first considers whether the working environment continues to support the physical and behavioural conditions required for execution. The behavioural check also covers how performance conversations are held, what behaviour is visibly recognised, and what is quietly tolerated.</a:t>
            </a:r>
          </a:p>
          <a:p>
            <a:r>
              <a:t>Action: When environmental friction is identified, in either dimension, leaders identify the specific adjustments required to restore the conditions for productive, values-aligned execution before the next cycle begins.</a:t>
            </a:r>
          </a:p>
          <a:p/>
          <a:p>
            <a:r>
              <a:t>S · Systems: The second reflection examines the systems through which work moves across the organisation. Workflow visibility is sufficient when teams can see where work sits and what action is required.</a:t>
            </a:r>
          </a:p>
          <a:p>
            <a:r>
              <a:t>Action: Where systems friction is identified, leadership actions focus on simplifying processes, improving integration, strengthening workflow visibility, or rationalising the shadow systems that have grown up around the official infrastructure.</a:t>
            </a:r>
          </a:p>
          <a:p/>
          <a:p>
            <a:r>
              <a:t>R · Resources: The third reflection focuses on capability, capacity, and sustainability. The skills in question are those the current phase of execution demands, which may differ from the skills teams had at the start of the strategy. The team also assesses whether specialist expertise is accessible when required. Critically, this reflection must also examine employee sustainability.</a:t>
            </a:r>
          </a:p>
          <a:p>
            <a:r>
              <a:t>Action: Where resource strain appears, leaders identify the investments, reallocation decisions, or sustainability adjustments required to restore delivery capacity before the next execution cycle.</a:t>
            </a:r>
          </a:p>
          <a:p/>
          <a:p>
            <a:r>
              <a:t>G · Governance: The final reflection examines the organisation’s decision and accountability structures. Review forums function as decision forums when issues are resolved and accountability is reinforced. This reflection also examines governance integrity.</a:t>
            </a:r>
          </a:p>
          <a:p>
            <a:r>
              <a:t>Action: Where governance friction appears, the leadership team strengthens decision clarity, review rhythms, accountability structures, and, where necessary, addresses the integrity gaps that are quietly eroding governance credibility.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 — THE COMPASS-ESRG CONNECTION (Two complementary instruments)
Content:
The Execution Muscle Scan connects directly to the COMPASS framework introduced in Unit 9. COMPASS locates where in the execution architecture friction is forming. ESRG diagnoses what type of organisational condition is causing it.
COMPASS Zone | Primary ESRG Domain | Friction Source
Clarity of Direction | Governance | Decision rights unclear; leadership avoiding difficult trade-offs
Organisational Alignment | Environment | Values misalignment; cultural norms fragmented across functions
Management Discipline | Governance | Review forums producing reports not decisions; accountability inconsistently enforced
People &amp; Capability | Resources | Capability gaps; capacity constraints; employee sustainability failing
Allocation of Resources | Resources | Budget following history; funding pathways too slow
Systems &amp; Execution | Systems | Legacy processes; data fragmentation; shadow systems accumulating
Sensing &amp; Adaptation | Environment + Systems | Psychological safety absent; feedback loops broken; data not trusted
Together they enable the precision that moves leadership from reactive troubleshooting to proactive execution architecture — the foundation of the ESRG Scanner tool.</a:t>
            </a:r>
            <a:endParaRPr lang="en-US" dirty="0"/>
          </a:p>
          <a:p/>
          <a:p>
            <a:r>
              <a:t>Source detail (S2R® manuscript):</a:t>
            </a:r>
          </a:p>
          <a:p/>
          <a:p>
            <a:r>
              <a:t>Where the scan sits: The Execution Muscle Scan operates within the diagnostic architecture established earlier in the programme.</a:t>
            </a:r>
          </a:p>
          <a:p>
            <a:r>
              <a:t>COMPASS identified the seven zones where execution friction accumulates: Clarity of Direction, Organisational Alignment, Management Discipline, People &amp; Capability, Allocation of Resources, Systems &amp; Execution, Sensing &amp; Adaptation. ESRG provides the diagnostic view that explains why friction is accumulating in each zone.</a:t>
            </a:r>
          </a:p>
          <a:p>
            <a:r>
              <a:t>Allocation of Resources, friction source in full: the budget follows history when it should follow strategy.</a:t>
            </a:r>
          </a:p>
          <a:p>
            <a:r>
              <a:t>This pairing gives the leadership team two complementary instruments. The ESRG Scanner is the diagnostic tool that operationalises the Execution Muscle Scan into a structured, collective leadership instrument.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 — COLLECTIVE SIGNAL INTELLIGENCE &amp; THE OUTCOME
Facilitator Closing Note — Integration
Close by naming the shift: the group has moved from reacting to execution friction to actively engineering the conditions for sustained delivery. The Enterprise ESRG Alignment Agenda is a leadership instrument. When these conditions remain aligned, the organisation is prepared to continue the climb. The destination remains the same. The expedition becomes stronger with every deliberate step forward.
Content:
The power of the Execution Muscle Scan lies in how it combines signals from across the executive team into a shared picture of execution readiness. An operational challenge visible to one executive may reflect a systems issue identified by another. A capability concern raised by one function may connect to a governance constraint recognised by another. A values misalignment observed in one team may be a downstream consequence of a leadership behaviour pattern that is visible across multiple functions — but only named when leaders look at the picture collectively.
When those signals are shared in the structured format of the scan, they reveal patterns that individual leaders cannot see alone. Individual observation becomes collective intelligence — a shared understanding of where the organisation's execution conditions must be strengthened before friction compounds into failure.
The output is a Collated Executive View — a shared picture of where the organisation's ESRG conditions are strong, where they are straining, and where targeted intervention is required before the next execution cycle begins.
———
4.5 — ENTERPRISE ESRG ALIGNMENT AGENDA: COLLECTIVE CAPTURE
Content:
Each leader contributes one ESRG friction observation to a shared, structured agenda — replacing informal complaint with collective intelligence the leadership team can act on by function.
Participant file (4.5 — Enterprise ESRG Alignment Agenda: Your Contribution) — prompts participants complete:
- Team / Group &amp; Executive Role If you ran the ESRG scan as a group, label it so your facilitator can identify whose contribution this is — and select the executive function behind it. Team / group name Executive role (function)
- ✎ Your Individual ESRG Scanner Input Friction Element Issue Observed (one sentence) Severity COMPASS Zone Most Impacted Why I Am Naming This Now — The friction I observed this quarter...
- ✎ Your Individual ESRG Scanner Input Friction Element Issue Observed (one sentence) Severity COMPASS Zone Most Impacted Why I Am Naming This Now</a:t>
            </a:r>
            <a:endParaRPr lang="en-US" dirty="0"/>
          </a:p>
          <a:p/>
          <a:p>
            <a:r>
              <a:t>Source detail (S2R® manuscript):</a:t>
            </a:r>
          </a:p>
          <a:p/>
          <a:p>
            <a:r>
              <a:t>Collective signal intelligence, further detail: Each leader observes different signals from within their function. This is the discipline that separates organisations that react to performance decline from organisations that anticipate it.</a:t>
            </a:r>
          </a:p>
          <a:p/>
          <a:p>
            <a:r>
              <a:t>The outcome of the Execution Muscle Scan: The scan ensures that execution discipline extends beyond performance measurement, into the organisational conditions that make performance possible. The executive team proactively reinforces the conditions required for sustained delivery, ahead of any decline in results.</a:t>
            </a:r>
          </a:p>
          <a:p>
            <a:r>
              <a:t>- Environment enables productive behaviour, in both the physical conditions of work and the behavioural standards that define how work is done.</a:t>
            </a:r>
          </a:p>
          <a:p>
            <a:r>
              <a:t>- Systems streamline the flow of work, data, and decisions.</a:t>
            </a:r>
          </a:p>
          <a:p>
            <a:r>
              <a:t>- Resources provide the capability, capacity, and sustainability to deliver over time.</a:t>
            </a:r>
          </a:p>
          <a:p>
            <a:r>
              <a:t>- Governance maintains the rhythm of accountability, decision discipline, and ethical integrity.</a:t>
            </a:r>
          </a:p>
          <a:p>
            <a:r>
              <a:t>These conditions must remain aligned across the COMPASS zones where execution is most under pressure.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 APPLICATION — IN PRACTICE
Build the Cultural Operating Code
Teams translate organisational values into observable, teachable, measurable norms — producing a Cultural Operating Code that leadership can use to reinforce, recognise, and correct behaviour consistently across the organisation.
Section learning outcomes:
1. Translate organisational values into observable behavioural norms that support accountable performance.
2. Commit to applying one norm in the next difficult leadership conversation.
FACILITATOR GUIDANCE — Application
This exercise is the centrepiece of Unit 10. Protect all 55 minutes. Teams must work with values real enough that the translation work is honest. The three value sets are designed to cover distinct organisational characters — ensure different teams work different sets where numbers allow.
Watch for acronyms that are clever but not useful. Redirect: “Start with the behaviour. The acronym is only the packaging.”
Watch for norms that only describe comfortable situations. The test is whether the norm holds when a senior leader violates it, when a high performer contradicts it, when telling the truth is costly. If it doesn't hold under pressure, it is a preference.
Watch for norms that are too generic. If Transparency and Integrity produce the same norm, the translation work is not done. Push until the norm is specific to the value.
Use the facilitator reference COC at the bottom of this section during the debrief. The full worked examples across all three value sets are there for comparison and coaching, and stay with the facilitator.
Time: 55 minutes — Part 1 · 5 minutes choose your set; Part 2 · 35 minutes build the COC; Part 3 · 15 minutes COC Challenge (full group). Protect all 55 minutes.</a:t>
            </a:r>
            <a:endParaRPr lang="en-US" dirty="0"/>
          </a:p>
          <a:p/>
          <a:p>
            <a:r>
              <a:t>Source detail (S2R® manuscript):</a:t>
            </a:r>
          </a:p>
          <a:p/>
          <a:p>
            <a:r>
              <a:t>Purpose of the exercise: To apply the Values-to-Norms translation discipline to a real value set, producing COC norms that are observable, teachable, and measurable. Each team works through one value set of their choosing and presents their strongest norm to the full group.</a:t>
            </a:r>
          </a:p>
          <a:p>
            <a:r>
              <a:t>Watch points, further detail:</a:t>
            </a:r>
          </a:p>
          <a:p>
            <a:r>
              <a:t>- Acronyms: redirect if the team spends more time perfecting the acronym than defining the behaviour.</a:t>
            </a:r>
          </a:p>
          <a:p>
            <a:r>
              <a:t>- Comfortable situations: the test of a COC norm is whether it holds under pressure. Further pressure situations to put to the team: a difficult client demands an exception; the honest report reflects badly on the reporter.</a:t>
            </a:r>
          </a:p>
          <a:p>
            <a:r>
              <a:t>- Generic norms: watch for values that produce identical norms across different value sets. A norm that reads as a generic statement about doing the right thing needs more translation work.</a:t>
            </a:r>
          </a:p>
          <a:p/>
          <a:p>
            <a:r>
              <a:t>Professional insights:</a:t>
            </a:r>
          </a:p>
          <a:p/>
          <a:p>
            <a:r>
              <a:t>Culture is formed deliberately: People cannot live by standards they have never understood. Repeated teaching creates a common language through which behaviour can be interpreted and corrected, and culture becomes credible when declared beliefs are visible in everyday behaviour.</a:t>
            </a:r>
          </a:p>
          <a:p>
            <a:r>
              <a:t>Source: Journal, 19 July 2026 — Professional Insights: Culture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 — THE THREE VALUE SETS: CHOOSE ONE
Content:
Value Set A
The Governance-Led Organisation
Transparency
Courage
Service
Resilience
Innovation
Stewardship
Value Set B
The Performance-Led Organisation
Trust
Agility
Quality
Ownership
Growth
Inclusion
Value Set C
The Purpose-Led Organisation
Purpose
Integrity
Ubuntu
Excellence
Boldness
Care
No two teams should work with the same set if numbers allow — the debrief is richer when different sets are presented.</a:t>
            </a:r>
            <a:endParaRPr lang="en-US" dirty="0"/>
          </a:p>
          <a:p/>
          <a:p>
            <a:r>
              <a:t>Source detail (S2R® manuscript):</a:t>
            </a:r>
          </a:p>
          <a:p/>
          <a:p>
            <a:r>
              <a:t>How to choose: Each set represents a distinct organisational character. Choose the one that most closely reflects your organisation’s current strategic context.</a:t>
            </a:r>
          </a:p>
          <a:p>
            <a:r>
              <a:t>Value Set A (Governance-Led): built for organisations where accountability, stewardship, and institutional trust are the primary execution drivers.</a:t>
            </a:r>
          </a:p>
          <a:p>
            <a:r>
              <a:t>Value Set B (Performance-Led): built for organisations where delivery pace, customer outcomes, and execution discipline are the primary drivers.</a:t>
            </a:r>
          </a:p>
          <a:p>
            <a:r>
              <a:t>Value Set C (Purpose-Led): built for organisations where mission, human dignity, and long-term impact are the primary drivers.</a:t>
            </a:r>
          </a:p>
          <a:p/>
          <a:p>
            <a:r>
              <a:t>Professional insights:</a:t>
            </a:r>
          </a:p>
          <a:p/>
          <a:p>
            <a:r>
              <a:t>Values before commercial pressure: Organisations that make commercial success the primary culture signal produce cultures where ethical shortcuts become routine whenever they pay. Value clarity must come before commercial pressure.</a:t>
            </a:r>
          </a:p>
          <a:p>
            <a:r>
              <a:t>Source: Journal, 16 January 2026 — Professional Insights: Culture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 — THE EXERCISE (55 MINUTES) (3 parts)
Key Considerations for Each Norm
Is the norm specific enough to use in a performance conversation?
Could it appear in a 360-degree feedback instrument?
Would every function in the organisation interpret it the same way?
Content:
Part 1 · 5 min
Choose Your Set
Part 2 · 35 min
Build the COC
Part 3 · 15 min
COC Challenge
Choose Your Value Set
Each team selects one value set. No two teams should work with the same set where numbers allow — the debrief is richer when different sets are presented in the room.
Build the Cultural Operating Code from the values in your chosen set. You will not complete all six in session — choose the three that feel most relevant or most challenging to translate.
Build the COC — 35 Minutes
Work through three values from your chosen set. For each value:
Step 1 — Define the behaviour
Ask: “What would a leader who genuinely lives this value do differently from one who only states it?” Write the answer as a specific, observable behaviour.
Step 2 — Build the acronym
Take the first letter of three action words that capture the behaviour. Each word must be an observable action — a verb the leader performs. The acronym must be memorable enough to use in a corridor conversation.
Step 3 — Write the norm statement
One sentence explaining what the value means in daily practice — specific enough that a new employee reading it on Day 1 would know exactly what behaviour will be recognised and what will be corrected.</a:t>
            </a:r>
            <a:endParaRPr lang="en-US" dirty="0"/>
          </a:p>
          <a:p/>
          <a:p>
            <a:r>
              <a:t>Source detail (S2R® manuscript):</a:t>
            </a:r>
          </a:p>
          <a:p/>
          <a:p>
            <a:r>
              <a:t>Format: Part 2 is worked in triads.</a:t>
            </a:r>
          </a:p>
          <a:p>
            <a:r>
              <a:t>Step 1, standard for the answer: a specific, observable behaviour. A principle or an aspiration does not qualify.</a:t>
            </a:r>
          </a:p>
          <a:p>
            <a:r>
              <a:t>Step 2, standard for each word: a verb the leader performs. A quality the leader possesses does not qualify.</a:t>
            </a:r>
          </a:p>
          <a:p/>
          <a:p>
            <a:r>
              <a:t>Professional insights:</a:t>
            </a:r>
          </a:p>
          <a:p/>
          <a:p>
            <a:r>
              <a:t>Step 1 · Define the behaviour: Many cultural change initiatives fail because they operate at the level of slogans and posters. Translate one value into a specific operational instruction: what the team does, in what circumstance, by default, when the leader is absent.</a:t>
            </a:r>
          </a:p>
          <a:p>
            <a:r>
              <a:t>Source: Journal, 30 April 2026 — Professional Insights: Culture</a:t>
            </a:r>
          </a:p>
          <a:p/>
          <a:p>
            <a:r>
              <a:t>Step 3 · Write the norm statement: When new staff ask “what should I actually do here?”, a healthy culture gives concrete, immediate answers. Take one value, write down the single specific action that proves it, and say it out loud to the team.</a:t>
            </a:r>
          </a:p>
          <a:p>
            <a:r>
              <a:t>Source: Journal, 5 June 2026 — Professional Insights: Culture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COC CHALLENGE (15 minutes, full group)
Content:
The COC Challenge — 15 Minutes Full Group
Each team presents their strongest single norm from the three they worked on — the one they found most powerful or most difficult to translate.
The full group applies three tests:
Test 1 — The New Employee Test
“If a new employee read this norm on their first day, would they know exactly what behaviour will be recognised and what will be corrected?”
Test 2 — The Pressure Test
“Does this norm hold when a senior leader violates it? Or does it only apply to junior staff?”
Test 3 — The Mirror Test
“Would every person in this room be comfortable being assessed against this norm in their own 360-degree feedback?”
“A Cultural Operating Code only becomes real the moment a leader uses it in a difficult conversation — when they name the norm that was breached, describe what was observed, and hold the standard regardless of who is in the room. Which norm from today will you use in your next difficult conversation — and when?”
Guidance (5.3): During the presentations, capture the strongest norm from each value set on a shared board. Close by asking the group which patterns appear across the sets.
FACILITATOR REFERENCE · COMPLETE COC FOR ALL THREE SETS (facilitator use only; stays with the facilitator; do not show or distribute before teams have completed their own translation work):
VALUE SET A — The Governance-Led Organisation
Transparency
OPEN
Own the information flow · Publish decisions with rationale · Enable informed action at every level · Name what you know before being asked
Transparency is the discipline of ensuring that the people who need information to make good decisions have it — before they have to ask for it. A leader operating under OPEN shares context to accelerate the organisation.
360 indicator: Does this leader proactively share information that affects others' ability to act — or do people frequently discover things they needed to know from other sources?
Courage
ACT
Advance the difficult conversation · Challenge the comfortable consensus · Take the harder right over the easier wrong
Courage in leadership is the decision to act despite fear — to name what needs to be named, challenge what needs to be challenged, and hold a position when pressure to abandon it is highest.
360 indicator: Does this leader raise difficult issues in forums where they can be resolved — or after those forums in corridors where they cannot?
Service
FIRST
Find the need before the request · Invest in outcomes · Respond before the follow-up · Stay until the problem is resolved · Treat the person behind the task
Service is the proactive commitment to understanding what the person in front of you actually needs and prioritising that above what is easy to provide.
360 indicator: Does this leader's team feel genuinely served — or do they feel processed?
Resilience
HOLD
Hold the standard under pressure · Observe what is breaking without defensiveness · Learn from every gap · Drive the rebuild without losing the lesson
Resilience is the discipline of maintaining the standard when conditions make it difficult and leading the restoration without losing the lesson embedded in the breakdown.
360 indicator: When things go wrong, does this leader maintain standards and extract learning — or do standards quietly drop until the pressure passes?
Innovation
TEST
Think beyond the obvious solution · Experiment with discipline and a clear hypothesis · Scale what the evidence supports · Terminate what the evidence contradicts
Innovation is the structured discipline of asking whether there is a better way, testing that hypothesis with rigour, and scaling the answer when the evidence supports it.
360 indicator: Does this leader create conditions where ideas are tested and evaluated — or immediately adopted without evidence or dismissed without consideration?
Stewardship
GUARD
Govern resources as if they belong to others · Use with intention and documented rationale · Account for every allocation publicly · Restore what you consume · Decide with the next generation in mind
Stewardship is the recognition that we are custodians — of people, capital, reputation, and the organisation's future. A leader operating under GUARD governs resources as a public trust.
360 indicator: Does this leader make resource decisions they would be comfortable explaining publicly — with full rationale?
VALUE SET B — The Performance-Led Organisation
Trust
EARN
Evidence your commitments with consistent follow-through · Acknowledge gaps before being asked · Return to reliability every time · Name the repair when trust is broken
Trust is built through the accumulation of small, consistent acts of reliability — and rebuilt the same way after it is broken.
360 indicator: When this leader makes a commitment, does the team expect it to be kept — or build informal contingency plans for when it is not?
Agility
MOVE
Monitor signals before they become crises · Override the plan when evidence demands it · Validate the adjustment before treating it as permanent · Execute the pivot with the same discipline as the original plan
Agility is the discipline of reading signals early, making evidence-based course corrections quickly, and confirming the adjustment is working before treating it as permanent.
360 indicator: Does this leader adjust course based on evidence — or maintain original plans in the face of contradicting signals?
Quality
RIGHT
Raise the standard before delivery · Inspect every commitment before it leaves your hands · Give nothing less than your best work · Hold others to the same standard with respect · Treat quality as a habit
Quality is the commitment to setting and holding a standard before delivery.
360 indicator: Does work leaving this leader's function consistently meet the standard the organisation promises — or does quality vary based on workload?
Ownership
MINE
Make the outcome yours regardless of function · Identify the gap and move to close it · Never pass a problem you have the ability to address · Escalate only what genuinely requires authority beyond your own
Ownership is the refusal to let a problem persist because it technically belongs to another function.
360 indicator: Does this leader take action on problems outside their formal remit — or wait for the right person to own them while the problem grows?
Growth
REACH
Recognise the current limit without defensiveness · Engage the discomfort of development deliberately · Assess progress against a measurable standard · Commit to being demonstrably better than last quarter · Hold others' growth as a personal leadership responsibility
Growth is the ongoing commitment to expanding what you and your team can do — holding yourself accountable for measurable progress.
360 indicator: Is this leader's team measurably more capable than six months ago — and can the leader point to specific investments they made to produce that growth?
Inclusion
HEAR
Hold space for every voice in the room · Examine your assumptions before they become decisions · Actively represent perspectives beyond your own · Redesign the process when you discover it excludes
Inclusion is the active discipline of ensuring that different voices are heard and that decisions reflect perspectives of those not always in the room.
360 indicator: Do people different from this leader feel genuinely heard in their forums — or present but not influential?
VALUE SET C — The Purpose-Led Organisation
Purpose
WHY
Work from the mission not the motion · Hold the long view when short-term pressure mounts · Yield personal comfort when purpose requires it
Purpose is the anchor that determines which trade-offs are acceptable and which are not. When purpose and pressure conflict, purpose wins.
360 indicator: When short-term pressures mount, does this leader make decisions that protect the mission — or decisions that protect their position?
Integrity
WHOLE
Walk the same in private as in public · Honour every outcome intended or not · Own consequences without deflection · Leave every situation better than you found it · Expect of yourself what you expect of others
Integrity is the commitment to being the same person in every context — consistent in values when observed and when not.
360 indicator: Does this leader hold the same standard of conduct in a one-to-one conversation as they do in a board presentation?
Ubuntu
WE
Witness the humanity in every person before addressing the task · Extend belonging deliberately to those at the margins of the room
Ubuntu is the recognition that a person is a person through other people. Every action either strengthens or weakens the collective — choose to strengthen it, even when doing so requires personal cost.
360 indicator: Does this leader's team feel seen as people first — or primarily as delivery units?
Excellence
RAISE
Reach beyond the comfortable standard · Assess the evidence of your actual performance honestly · Invest in closing the gap between capability and delivery · Set the bar from what the mission demands · Elevate others as you elevate yourself
Excellence in a purpose-driven organisation is the gap between what we are capable of and what we are currently delivering to those we serve.
360 indicator: Does this leader set standards based on what the mission demands — or on what is comfortable to achieve?
Boldness
DARE
Define the ambitious outcome before negotiating it down · Advance despite uncertainty · Recalibrate with courage when evidence demands a change · Embrace the discomfort of the frontier as a leadership condition
Boldness is the discipline of setting goals that require growth and then doing the work.
360 indicator: Does this leader set goals that stretch the organisation toward its mission — or goals that are safely achievable?
Care
TEND
Take notice of what is wearing people down before they signal it · Engage the human before the task in every significant interaction · Never let urgency override dignity · Deliver results in a way that sustains the people who produce them
Care is the structural commitment to ensuring that the people who carry the mission are themselves sustained. Protect people as fiercely as you protect outcomes — because without the people, there are no outcomes.
360 indicator: Is this leader's team sustainably resourced, psychologically safe, and genuinely developed — or is delivery being achieved through personal sacrifice?</a:t>
            </a:r>
            <a:endParaRPr lang="en-US" dirty="0"/>
          </a:p>
          <a:p/>
          <a:p>
            <a:r>
              <a:t>Source detail (S2R® manuscript):</a:t>
            </a:r>
          </a:p>
          <a:p/>
          <a:p>
            <a:r>
              <a:t>Facilitator only: further detail for the complete worked COC above. Do not distribute to participants before the exercise; it stays with the facilitator until teams have finished their own translation work.</a:t>
            </a:r>
          </a:p>
          <a:p/>
          <a:p>
            <a:r>
              <a:t>Facilitator only · Value Set A (Governance-Led):</a:t>
            </a:r>
          </a:p>
          <a:p>
            <a:r>
              <a:t>Transparency (OPEN): A leader operating under OPEN does not withhold context to retain influence.</a:t>
            </a:r>
          </a:p>
          <a:p>
            <a:r>
              <a:t>Courage (ACT): Courage is the decision to act despite discomfort. A leader operating under ACT does not leave the difficult thing unsaid because the room is not ready to hear it.</a:t>
            </a:r>
          </a:p>
          <a:p>
            <a:r>
              <a:t>Service (FIRST): A leader operating under FIRST anticipates, invests, and stays, without waiting to be asked.</a:t>
            </a:r>
          </a:p>
          <a:p>
            <a:r>
              <a:t>Resilience (HOLD): The gap is observed honestly. A leader operating under HOLD keeps the bar in place when execution is hard and raises support while keeping the standard.</a:t>
            </a:r>
          </a:p>
          <a:p>
            <a:r>
              <a:t>Innovation (TEST): A leader operating under TEST tests their own idea and follows the data.</a:t>
            </a:r>
          </a:p>
          <a:p>
            <a:r>
              <a:t>Stewardship (GUARD): We govern these for those who come after us. A leader operating under GUARD does not treat organisational resources as personal discretion.</a:t>
            </a:r>
          </a:p>
          <a:p/>
          <a:p>
            <a:r>
              <a:t>Facilitator only · Value Set B (Performance-Led):</a:t>
            </a:r>
          </a:p>
          <a:p>
            <a:r>
              <a:t>Trust (EARN): A leader operating under EARN builds the reality of reliability: doing what they say, acknowledging when they have not, and showing up consistently even when it is inconvenient.</a:t>
            </a:r>
          </a:p>
          <a:p>
            <a:r>
              <a:t>Agility (MOVE): A leader operating under MOVE adjusts with discipline when the evidence has shifted, and validates the change. The 360 indicator ends: “… to avoid the discomfort of admitting a change is needed?”</a:t>
            </a:r>
          </a:p>
          <a:p>
            <a:r>
              <a:t>Quality (RIGHT): A leader operating under RIGHT checks before sending, reviews before submitting, and holds their team to this standard with the same consistency they hold themselves. “Good enough” is never the goal. The 360 indicator names pressure as well as workload.</a:t>
            </a:r>
          </a:p>
          <a:p>
            <a:r>
              <a:t>Ownership (MINE): A leader operating under MINE acts on what they can address, and owns the consequence of that action, whether the outcome is success or a learning.</a:t>
            </a:r>
          </a:p>
          <a:p>
            <a:r>
              <a:t>Growth (REACH): Growth includes tolerating the discomfort of learning something new. A leader operating under REACH invests in their team’s development as rigorously as they invest in delivery.</a:t>
            </a:r>
          </a:p>
          <a:p>
            <a:r>
              <a:t>Inclusion (HEAR): Assumptions are examined before they are confirmed. A leader operating under HEAR seeks the challenge before anyone raises it. The 360 indicator names the differences: background, function, or perspective.</a:t>
            </a:r>
          </a:p>
          <a:p/>
          <a:p>
            <a:r>
              <a:t>Facilitator only · Value Set C (Purpose-Led):</a:t>
            </a:r>
          </a:p>
          <a:p>
            <a:r>
              <a:t>Purpose (WHY): A leader operating under WHY can articulate exactly how every significant decision they make serves the mission, ahead of the metric, the convenience, and their personal preference.</a:t>
            </a:r>
          </a:p>
          <a:p>
            <a:r>
              <a:t>Integrity (WHOLE): Integrity includes owning consequences without deflection, and holding ourselves to a standard that elevates. A leader operating under WHOLE holds one version of their standards, in public and in private.</a:t>
            </a:r>
          </a:p>
          <a:p>
            <a:r>
              <a:t>Ubuntu (WE): Our success is bound up with the success of those around us. The 360 indicator adds a second question: “Does everyone at the table feel they belong there?”</a:t>
            </a:r>
          </a:p>
          <a:p>
            <a:r>
              <a:t>Excellence (RAISE): A leader operating under RAISE celebrates evidence of improvement, and invests in producing more of it. The 360 indicator ends: “… given current constraints?”</a:t>
            </a:r>
          </a:p>
          <a:p>
            <a:r>
              <a:t>Boldness (DARE): A leader operating under DARE names what the mission actually demands, advances when the path is unclear, and recalibrates honestly when the evidence tells them to, without treating recalibration as failure. The 360 indicator ends: “… and therefore safe to be accountable for?”</a:t>
            </a:r>
          </a:p>
          <a:p>
            <a:r>
              <a:t>Care (TEND): A leader operating under TEND does not celebrate a result that was achieved at the cost of the people who delivered it. The 360 indicator ends: “… that is invisible in the performance report?”</a:t>
            </a:r>
          </a:p>
          <a:p/>
          <a:p>
            <a:r>
              <a:t>Professional insights:</a:t>
            </a:r>
          </a:p>
          <a:p/>
          <a:p>
            <a:r>
              <a:t>Test 1 · The New Employee Test: Audit the culture by asking whether a stranger watching the team for a week could infer the stated values from what people actually do. Knowledge that changes no behaviour is decoration.</a:t>
            </a:r>
          </a:p>
          <a:p>
            <a:r>
              <a:t>Source: Journal, 1 July 2026 — Professional Insights: Culture</a:t>
            </a:r>
          </a:p>
          <a:p/>
          <a:p>
            <a:r>
              <a:t>Test 2 · The Pressure Test: Culture becomes most visible when normal conditions disappear. A culture may claim empowerment until something goes wrong and every decision is pulled upward, or claim openness until someone challenges a senior leader.</a:t>
            </a:r>
          </a:p>
          <a:p>
            <a:r>
              <a:t>Source: Journal, 29 September 2026 — Professional Insights: Culture</a:t>
            </a:r>
          </a:p>
          <a:p/>
          <a:p>
            <a:r>
              <a:t>Test 3 · The Mirror Test: Reforms announced for the rest of the organisation will not hold until the compromised practice inside the leader’s own team is dismantled. Identify one celebrated habit in your team that contradicts a value you espouse, and dismantle it before asking anyone else to change.</a:t>
            </a:r>
          </a:p>
          <a:p>
            <a:r>
              <a:t>Source: Journal, 20 April 2026 — Professional Insights: Culture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 — EXERCISE OUTPUT
FACILITATOR GUIDANCE
During the presentations, capture the strongest norm from each value set on a shared board. Close by asking the group which patterns appear across the sets.
Content:
Each participant leaves with three things:
◆ Outputs
Three draft COC norms from their chosen value set — named, acronym-based, and observable
One test commitment — which norm will they reference in their next performance or accountability conversation?
A review date — when will they bring the draft COC to their team for pressure-testing and input?</a:t>
            </a:r>
            <a:endParaRPr lang="en-US" dirty="0"/>
          </a:p>
          <a:p/>
          <a:p>
            <a:r>
              <a:t>Professional insights:</a:t>
            </a:r>
          </a:p>
          <a:p/>
          <a:p>
            <a:r>
              <a:t>Beyond the leader’s presence: Whatever the culture does because the leader is watching will stop when the leader is absent. Convert leader-dependent behaviours into structurally embedded ones through systems, rituals and named commitments.</a:t>
            </a:r>
          </a:p>
          <a:p>
            <a:r>
              <a:t>Source: Journal, 21 April 2026 — Professional Insights: Culture</a:t>
            </a:r>
          </a:p>
          <a:p/>
          <a:p>
            <a:r>
              <a:t>Hosting the value: New cultural commitments are often launched with ceremony and then passed from team to team because no one does the work of hosting them. Name the function or team that will carry each norm.</a:t>
            </a:r>
          </a:p>
          <a:p>
            <a:r>
              <a:t>Source: Journal, 6 May 2026 — Professional Insights: Culture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SUMMARY (Unit 10 synthesis)
Facilitator Closing Note
Close by asking each leader to name one ESRG condition that has been misaligned in their organisation for more than two quarters — visible, discussed, but not yet addressed. Ask them: “What has that misalignment actually cost in strategic momentum? And what is the real reason it has not been restored?” The answers to the second question are almost always the true friction beneath the friction. That conversation is the beginning of genuine Grounding.
Content:
Unit 10 addresses the question that most strategy execution frameworks never ask directly: Is the organisation itself — its environment, its systems, its resources, its governance — actually built to sustain the performance it is being asked to deliver?
Awareness — What
ESRG Alignment examines the four domains that collectively determine whether performance can be sustained. The Cultural Operating Code is the most important output of the Environment domain: the behavioural architecture of the organisation. Values embedded in 360-degree feedback, enforced through consequences, and modelled by leadership before being expected of teams. The COC turns values into the standard.
Intelligence — Why
ESRG alignment drives sustained execution because each domain removes a specific category of friction. The ignition point of Grounding is reached when all four domains work together as a coherent operating system that reinforces the strategy. At that point, execution no longer depends on heroic individual effort. The organisation's own design carries the work forward.
Extrapolating — Where
Execution friction follows predictable patterns in each domain — values misalignment and psychological safety failures in Environment; workarounds and data fragmentation in Systems; capability gaps and unsustainable workloads in Resources; selective accountability and absent leadership in Governance. Recognising these patterns early is about gaining the organisational intelligence required to strengthen the enterprise.
Integration — Collective
Because ESRG friction rarely stays within a single function, alignment cannot be owned by a single leader. The Execution Muscle Scan — conducted quarterly, immediately after performance results are reviewed — transforms individual functional observations into collective intelligence. The output: the Enterprise ESRG Alignment Agenda. A leadership instrument for proactive execution architecture.
Grounding is where strategy execution is sustained. The environment must enable. The systems must streamline. The resources must sustain. The governance must discipline. When all four are working together — coherently, continuously, and in direct service of the strategic direction — the organisation executes its strategy and becomes capable of executing the next one, and the one after that.
That is an organisational superpower.</a:t>
            </a:r>
            <a:endParaRPr lang="en-US" dirty="0"/>
          </a:p>
          <a:p/>
          <a:p>
            <a:r>
              <a:t>Source detail (S2R® manuscript):</a:t>
            </a:r>
          </a:p>
          <a:p/>
          <a:p>
            <a:r>
              <a:t>Further detail for each stage of the summary:</a:t>
            </a:r>
          </a:p>
          <a:p>
            <a:r>
              <a:t>Awareness (What): Environment provides the physical and behavioural conditions for work, including the values that must be demonstrable, the cultural norms that must be explicit, and the psychological safety that allows people to tell the truth early. Systems provide the operational infrastructure through which work flows, data moves, and coordination happens. Resources provide the human, financial, and operational capacity to deliver without degrading the people who carry the strategy. Governance provides the accountability and decision discipline that keeps execution visible, consequential, and actively managed.</a:t>
            </a:r>
          </a:p>
          <a:p>
            <a:r>
              <a:t>When all four are aligned, execution becomes coordinated, predictable, and scalable. When any one is misaligned, friction appears, and the other three cannot fully compensate for it.</a:t>
            </a:r>
          </a:p>
          <a:p>
            <a:r>
              <a:t>The Cultural Operating Code is a set of named, acronym-based norms, one per organisational value, that translate aspiration into observable, measurable, daily behaviour. Without the COC, values remain decoration. With it, they become the behavioural architecture of the organisation.</a:t>
            </a:r>
          </a:p>
          <a:p/>
          <a:p>
            <a:r>
              <a:t>Intelligence (Why): Left alone, each category of friction would accumulate silently until it compounds into a performance crisis. At the ignition point, execution depends neither on heroic individual effort nor on exceptional leadership attention. The Environment enables the work, physically and behaviourally. Systems streamline the flow of work, data, and decisions. Resources provide the capability and capacity to deliver over time, well beyond the first quarter. Governance maintains the rhythm of accountability, decision discipline, and ethical integrity that keeps the organisation advancing toward its strategic outcomes.</a:t>
            </a:r>
          </a:p>
          <a:p/>
          <a:p>
            <a:r>
              <a:t>Extrapolating (Where): Execution friction is not random. Each ESRG domain generates predictable friction patterns when it is misaligned with the strategic direction.</a:t>
            </a:r>
          </a:p>
          <a:p>
            <a:r>
              <a:t>- Environment friction appears in the physical conditions that obstruct coordination and in the behavioural conditions (values misalignment, Cultural Operating Code failures, and psychological safety gaps) that suppress honest signals and erode the trust on which execution depends.</a:t>
            </a:r>
          </a:p>
          <a:p>
            <a:r>
              <a:t>- Systems friction appears when workarounds normalise, data fragments across functions, and governance approvals sit outside workflows.</a:t>
            </a:r>
          </a:p>
          <a:p>
            <a:r>
              <a:t>- Resources friction appears when capability gaps widen faster than development plans close them, when workloads become chronically unsustainable, and when financial investment defaults to historical patterns and lags current priorities.</a:t>
            </a:r>
          </a:p>
          <a:p>
            <a:r>
              <a:t>- Governance friction appears when review forums produce reports and no decisions, when accountability standards are applied selectively, and when leaders are absent from the oversight processes they have commissioned.</a:t>
            </a:r>
          </a:p>
          <a:p>
            <a:r>
              <a:t>Recognising these patterns early means understanding precisely where the operating system must evolve to carry the strategy at the pace and quality it demands.</a:t>
            </a:r>
          </a:p>
          <a:p/>
          <a:p>
            <a:r>
              <a:t>Integration (Collective): The Execution Muscle Scan is the collective discipline that closes this gap. It asks the leadership team to shift attention from outcomes to the conditions that produce them. The Enterprise ESRG Alignment Agenda is a collectively owned, priority-ordered view of where the organisation’s execution conditions must be strengthened before the next quarter begins.</a:t>
            </a:r>
          </a:p>
          <a:p/>
          <a:p>
            <a:r>
              <a:t>The Grounding Principle: Grounding is the condition that stabilises execution into consistent, lived organisational performance, ensuring that what is assigned is fully executed, what is executed is sustained, and what is sustained is reinforced through systems, culture, and accountability. ESRG Alignment is the operational expression of that principle.</a:t>
            </a:r>
          </a:p>
          <a:p/>
          <a:p>
            <a:r>
              <a:t>Professional insights:</a:t>
            </a:r>
          </a:p>
          <a:p/>
          <a:p>
            <a:r>
              <a:t>A complete response: Organisations that discover a fundamental misalignment between stated values and actual practice face a choice: respond completely, or address only what is comfortable. The part left untouched is the part that resurfaces.</a:t>
            </a:r>
          </a:p>
          <a:p>
            <a:r>
              <a:t>Source: Journal, 29 June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p:bgPr>
    </p:bg>
    <p:spTree>
      <p:nvGrpSpPr>
        <p:cNvPr id="1" name=""/>
        <p:cNvGrpSpPr/>
        <p:nvPr/>
      </p:nvGrpSpPr>
      <p:grpSpPr>
        <a:xfrm>
          <a:off x="0" y="0"/>
          <a:ext cx="0" cy="0"/>
          <a:chOff x="0" y="0"/>
          <a:chExt cx="0" cy="0"/>
        </a:xfrm>
      </p:grpSpPr>
      <p:pic>
        <p:nvPicPr>
          <p:cNvPr id="2" name="Image 0" descr="logo.png">    </p:cNvPr>
          <p:cNvPicPr>
            <a:picLocks noChangeAspect="1"/>
          </p:cNvPicPr>
          <p:nvPr/>
        </p:nvPicPr>
        <p:blipFill>
          <a:blip r:embed="rId1"/>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Module 4 · Grounding · Unit 10</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ESRG Alignment</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indent="0" marL="0">
              <a:buNone/>
            </a:pPr>
            <a:r>
              <a:rPr lang="en-US" sz="2400" i="1" dirty="0">
                <a:solidFill>
                  <a:srgbClr val="DDE8DF"/>
                </a:solidFill>
                <a:latin typeface="Calibri" pitchFamily="34" charset="0"/>
                <a:ea typeface="Calibri" pitchFamily="34" charset="-122"/>
                <a:cs typeface="Calibri" pitchFamily="34" charset="-120"/>
              </a:rPr>
              <a:t>Is the organisation itself built to sustain this performance over time?</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indent="0" marL="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Evaluate the consistency between strategic priorities and the organisation’s operating conditions.</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Assess the extent to which organisational resources, systems and governance support the intended outcomes.</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Recognise institutional constraints and dependencies that influence execution quality and organisational responsiveness.</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Demonstrate an enterprise view of the conditions required for reliable, accountable and sustainable performance.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1 · Awareness  </a:t>
            </a:r>
            <a:pPr indent="0" marL="0">
              <a:buNone/>
            </a:pP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2 · Intelligence  </a:t>
            </a:r>
            <a:pPr indent="0" marL="0">
              <a:buNone/>
            </a:pP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3 · Extrapolating  </a:t>
            </a:r>
            <a:pPr indent="0" marL="0">
              <a:buNone/>
            </a:pP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4 · Integration  </a:t>
            </a:r>
            <a:pPr indent="0" marL="0">
              <a:buNone/>
            </a:pP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5 · Application  </a:t>
            </a:r>
            <a:pPr indent="0" marL="0">
              <a:buNone/>
            </a:pP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What is ESRG Alignment?</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Recognise the environment, systems, resources and governance conditions that sustain performance.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Assess how shared behavioural norms shape the operating environment.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1.1 · The Grounding question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Is the organisation itself built to sustain this performance over time?</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Most strategies that survive the first quarter fail by the third.</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1.2 · The four ESRG domains</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14400" y="1874520"/>
            <a:ext cx="274320" cy="274320"/>
          </a:xfrm>
          <a:prstGeom prst="rect">
            <a:avLst/>
          </a:prstGeom>
        </p:spPr>
      </p:pic>
      <p:sp>
        <p:nvSpPr>
          <p:cNvPr id="6" name="Text 3"/>
          <p:cNvSpPr txBox="1"/>
          <p:nvPr/>
        </p:nvSpPr>
        <p:spPr>
          <a:xfrm>
            <a:off x="1508760" y="1691640"/>
            <a:ext cx="4219956" cy="6400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E · Environment</a:t>
            </a:r>
            <a:endParaRPr lang="en-US" sz="2600" dirty="0"/>
          </a:p>
        </p:txBody>
      </p:sp>
      <p:sp>
        <p:nvSpPr>
          <p:cNvPr id="7" name="Text 4"/>
          <p:cNvSpPr txBox="1"/>
          <p:nvPr/>
        </p:nvSpPr>
        <p:spPr>
          <a:xfrm>
            <a:off x="777240" y="2468880"/>
            <a:ext cx="4951476" cy="118872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Physical and behavioural conditions of work.</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6597396" y="1874520"/>
            <a:ext cx="274320" cy="274320"/>
          </a:xfrm>
          <a:prstGeom prst="rect">
            <a:avLst/>
          </a:prstGeom>
        </p:spPr>
      </p:pic>
      <p:sp>
        <p:nvSpPr>
          <p:cNvPr id="11" name="Text 7"/>
          <p:cNvSpPr txBox="1"/>
          <p:nvPr/>
        </p:nvSpPr>
        <p:spPr>
          <a:xfrm>
            <a:off x="7191756" y="1691640"/>
            <a:ext cx="4219956" cy="6400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S · Systems</a:t>
            </a:r>
            <a:endParaRPr lang="en-US" sz="2600" dirty="0"/>
          </a:p>
        </p:txBody>
      </p:sp>
      <p:sp>
        <p:nvSpPr>
          <p:cNvPr id="12" name="Text 8"/>
          <p:cNvSpPr txBox="1"/>
          <p:nvPr/>
        </p:nvSpPr>
        <p:spPr>
          <a:xfrm>
            <a:off x="6460236" y="2468880"/>
            <a:ext cx="4951476" cy="118872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operational infrastructure of execution.</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sp>
      <p:pic>
        <p:nvPicPr>
          <p:cNvPr id="15" name="Image 2" descr="preencoded.png">    </p:cNvPr>
          <p:cNvPicPr>
            <a:picLocks noChangeAspect="1"/>
          </p:cNvPicPr>
          <p:nvPr/>
        </p:nvPicPr>
        <p:blipFill>
          <a:blip r:embed="rId3"/>
          <a:stretch>
            <a:fillRect/>
          </a:stretch>
        </p:blipFill>
        <p:spPr>
          <a:xfrm>
            <a:off x="914400" y="4434840"/>
            <a:ext cx="274320" cy="274320"/>
          </a:xfrm>
          <a:prstGeom prst="rect">
            <a:avLst/>
          </a:prstGeom>
        </p:spPr>
      </p:pic>
      <p:sp>
        <p:nvSpPr>
          <p:cNvPr id="16" name="Text 11"/>
          <p:cNvSpPr txBox="1"/>
          <p:nvPr/>
        </p:nvSpPr>
        <p:spPr>
          <a:xfrm>
            <a:off x="1508760" y="4251960"/>
            <a:ext cx="4219956" cy="6400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 · Resources</a:t>
            </a:r>
            <a:endParaRPr lang="en-US" sz="2600" dirty="0"/>
          </a:p>
        </p:txBody>
      </p:sp>
      <p:sp>
        <p:nvSpPr>
          <p:cNvPr id="17" name="Text 12"/>
          <p:cNvSpPr txBox="1"/>
          <p:nvPr/>
        </p:nvSpPr>
        <p:spPr>
          <a:xfrm>
            <a:off x="777240" y="5029200"/>
            <a:ext cx="4951476" cy="118872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capability capacity of the organisation.</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sp>
      <p:pic>
        <p:nvPicPr>
          <p:cNvPr id="20" name="Image 3" descr="preencoded.png">    </p:cNvPr>
          <p:cNvPicPr>
            <a:picLocks noChangeAspect="1"/>
          </p:cNvPicPr>
          <p:nvPr/>
        </p:nvPicPr>
        <p:blipFill>
          <a:blip r:embed="rId4"/>
          <a:stretch>
            <a:fillRect/>
          </a:stretch>
        </p:blipFill>
        <p:spPr>
          <a:xfrm>
            <a:off x="6597396" y="4434840"/>
            <a:ext cx="274320" cy="274320"/>
          </a:xfrm>
          <a:prstGeom prst="rect">
            <a:avLst/>
          </a:prstGeom>
        </p:spPr>
      </p:pic>
      <p:sp>
        <p:nvSpPr>
          <p:cNvPr id="21" name="Text 15"/>
          <p:cNvSpPr txBox="1"/>
          <p:nvPr/>
        </p:nvSpPr>
        <p:spPr>
          <a:xfrm>
            <a:off x="7191756" y="4251960"/>
            <a:ext cx="4219956" cy="6400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G · Governance</a:t>
            </a:r>
            <a:endParaRPr lang="en-US" sz="2600" dirty="0"/>
          </a:p>
        </p:txBody>
      </p:sp>
      <p:sp>
        <p:nvSpPr>
          <p:cNvPr id="22" name="Text 16"/>
          <p:cNvSpPr txBox="1"/>
          <p:nvPr/>
        </p:nvSpPr>
        <p:spPr>
          <a:xfrm>
            <a:off x="6460236" y="5029200"/>
            <a:ext cx="4951476" cy="118872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Accountability and decision discipline.</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1.3 · ESRG synthesis: the interdependence principle</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A weakness in any one domain creates friction that the other three cannot fully compensate for.</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Sustained execution capacity depends on the synchronisation of all four domains.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Why ESRG Alignment Drives Sustained Execution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Determine the source of friction each organisational domain removes from execution.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Assess where operating conditions support or constrain strategic priorities.</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2.1 · The ESRG ignition point</a:t>
            </a:r>
            <a:endParaRPr lang="en-US" sz="3600" dirty="0"/>
          </a:p>
        </p:txBody>
      </p:sp>
      <p:sp>
        <p:nvSpPr>
          <p:cNvPr id="3" name="Shape 1"/>
          <p:cNvSpPr/>
          <p:nvPr/>
        </p:nvSpPr>
        <p:spPr>
          <a:xfrm>
            <a:off x="548640" y="1508760"/>
            <a:ext cx="2567178" cy="3931920"/>
          </a:xfrm>
          <a:prstGeom prst="roundRect">
            <a:avLst>
              <a:gd name="adj" fmla="val 3562"/>
            </a:avLst>
          </a:prstGeom>
          <a:solidFill>
            <a:srgbClr val="EEF4EF"/>
          </a:solidFill>
          <a:ln w="12700">
            <a:solidFill>
              <a:srgbClr val="EEF4EF"/>
            </a:solidFill>
            <a:prstDash val="solid"/>
          </a:ln>
        </p:spPr>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2109978" cy="859536"/>
          </a:xfrm>
          <a:prstGeom prst="rect">
            <a:avLst/>
          </a:prstGeom>
          <a:noFill/>
          <a:ln/>
        </p:spPr>
        <p:txBody>
          <a:bodyPr wrap="square" lIns="0" tIns="0" rIns="0" bIns="0" rtlCol="0" anchor="t"/>
          <a:lstStyle/>
          <a:p>
            <a:pPr indent="0" marL="0">
              <a:buNone/>
            </a:pPr>
            <a:r>
              <a:rPr lang="en-US" sz="2400" b="1" dirty="0">
                <a:solidFill>
                  <a:srgbClr val="1A5C2C"/>
                </a:solidFill>
                <a:latin typeface="Cambria" pitchFamily="34" charset="0"/>
                <a:ea typeface="Cambria" pitchFamily="34" charset="-122"/>
                <a:cs typeface="Cambria" pitchFamily="34" charset="-120"/>
              </a:rPr>
              <a:t>E · Enable the Work</a:t>
            </a:r>
            <a:endParaRPr lang="en-US" sz="2400" dirty="0"/>
          </a:p>
        </p:txBody>
      </p:sp>
      <p:sp>
        <p:nvSpPr>
          <p:cNvPr id="7" name="Text 4"/>
          <p:cNvSpPr txBox="1"/>
          <p:nvPr/>
        </p:nvSpPr>
        <p:spPr>
          <a:xfrm>
            <a:off x="777240" y="3511296"/>
            <a:ext cx="2109978" cy="1792224"/>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Physical and behavioural conditions both active</a:t>
            </a:r>
            <a:endParaRPr lang="en-US" sz="2400" dirty="0"/>
          </a:p>
        </p:txBody>
      </p:sp>
      <p:sp>
        <p:nvSpPr>
          <p:cNvPr id="8" name="Shape 5"/>
          <p:cNvSpPr/>
          <p:nvPr/>
        </p:nvSpPr>
        <p:spPr>
          <a:xfrm>
            <a:off x="3390138" y="1508760"/>
            <a:ext cx="2567178" cy="3931920"/>
          </a:xfrm>
          <a:prstGeom prst="roundRect">
            <a:avLst>
              <a:gd name="adj" fmla="val 3562"/>
            </a:avLst>
          </a:prstGeom>
          <a:solidFill>
            <a:srgbClr val="EEF4EF"/>
          </a:solidFill>
          <a:ln w="12700">
            <a:solidFill>
              <a:srgbClr val="EEF4EF"/>
            </a:solidFill>
            <a:prstDash val="solid"/>
          </a:ln>
        </p:spPr>
      </p:sp>
      <p:sp>
        <p:nvSpPr>
          <p:cNvPr id="9" name="Shape 6"/>
          <p:cNvSpPr/>
          <p:nvPr/>
        </p:nvSpPr>
        <p:spPr>
          <a:xfrm>
            <a:off x="3618738" y="1737360"/>
            <a:ext cx="640080" cy="64008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3778758" y="1897380"/>
            <a:ext cx="320040" cy="320040"/>
          </a:xfrm>
          <a:prstGeom prst="rect">
            <a:avLst/>
          </a:prstGeom>
        </p:spPr>
      </p:pic>
      <p:sp>
        <p:nvSpPr>
          <p:cNvPr id="11" name="Text 7"/>
          <p:cNvSpPr txBox="1"/>
          <p:nvPr/>
        </p:nvSpPr>
        <p:spPr>
          <a:xfrm>
            <a:off x="3618738" y="2514600"/>
            <a:ext cx="2109978" cy="859536"/>
          </a:xfrm>
          <a:prstGeom prst="rect">
            <a:avLst/>
          </a:prstGeom>
          <a:noFill/>
          <a:ln/>
        </p:spPr>
        <p:txBody>
          <a:bodyPr wrap="square" lIns="0" tIns="0" rIns="0" bIns="0" rtlCol="0" anchor="t"/>
          <a:lstStyle/>
          <a:p>
            <a:pPr indent="0" marL="0">
              <a:buNone/>
            </a:pPr>
            <a:r>
              <a:rPr lang="en-US" sz="2400" b="1" dirty="0">
                <a:solidFill>
                  <a:srgbClr val="1A5C2C"/>
                </a:solidFill>
                <a:latin typeface="Cambria" pitchFamily="34" charset="0"/>
                <a:ea typeface="Cambria" pitchFamily="34" charset="-122"/>
                <a:cs typeface="Cambria" pitchFamily="34" charset="-120"/>
              </a:rPr>
              <a:t>S · Streamline the Flow</a:t>
            </a:r>
            <a:endParaRPr lang="en-US" sz="2400" dirty="0"/>
          </a:p>
        </p:txBody>
      </p:sp>
      <p:sp>
        <p:nvSpPr>
          <p:cNvPr id="12" name="Text 8"/>
          <p:cNvSpPr txBox="1"/>
          <p:nvPr/>
        </p:nvSpPr>
        <p:spPr>
          <a:xfrm>
            <a:off x="3618738" y="3511296"/>
            <a:ext cx="2109978" cy="1792224"/>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Execution made visible</a:t>
            </a:r>
            <a:endParaRPr lang="en-US" sz="2400" dirty="0"/>
          </a:p>
        </p:txBody>
      </p:sp>
      <p:sp>
        <p:nvSpPr>
          <p:cNvPr id="13" name="Shape 9"/>
          <p:cNvSpPr/>
          <p:nvPr/>
        </p:nvSpPr>
        <p:spPr>
          <a:xfrm>
            <a:off x="6231636" y="1508760"/>
            <a:ext cx="2567178" cy="3931920"/>
          </a:xfrm>
          <a:prstGeom prst="roundRect">
            <a:avLst>
              <a:gd name="adj" fmla="val 3562"/>
            </a:avLst>
          </a:prstGeom>
          <a:solidFill>
            <a:srgbClr val="EEF4EF"/>
          </a:solidFill>
          <a:ln w="12700">
            <a:solidFill>
              <a:srgbClr val="EEF4EF"/>
            </a:solidFill>
            <a:prstDash val="solid"/>
          </a:ln>
        </p:spPr>
      </p:sp>
      <p:sp>
        <p:nvSpPr>
          <p:cNvPr id="14" name="Shape 10"/>
          <p:cNvSpPr/>
          <p:nvPr/>
        </p:nvSpPr>
        <p:spPr>
          <a:xfrm>
            <a:off x="6460236" y="1737360"/>
            <a:ext cx="640080" cy="640080"/>
          </a:xfrm>
          <a:prstGeom prst="ellipse">
            <a:avLst/>
          </a:prstGeom>
          <a:solidFill>
            <a:srgbClr val="1A5C2C"/>
          </a:solidFill>
          <a:ln w="12700">
            <a:solidFill>
              <a:srgbClr val="1A5C2C"/>
            </a:solidFill>
            <a:prstDash val="solid"/>
          </a:ln>
        </p:spPr>
      </p:sp>
      <p:pic>
        <p:nvPicPr>
          <p:cNvPr id="15" name="Image 2" descr="preencoded.png">    </p:cNvPr>
          <p:cNvPicPr>
            <a:picLocks noChangeAspect="1"/>
          </p:cNvPicPr>
          <p:nvPr/>
        </p:nvPicPr>
        <p:blipFill>
          <a:blip r:embed="rId3"/>
          <a:stretch>
            <a:fillRect/>
          </a:stretch>
        </p:blipFill>
        <p:spPr>
          <a:xfrm>
            <a:off x="6620256" y="1897380"/>
            <a:ext cx="320040" cy="320040"/>
          </a:xfrm>
          <a:prstGeom prst="rect">
            <a:avLst/>
          </a:prstGeom>
        </p:spPr>
      </p:pic>
      <p:sp>
        <p:nvSpPr>
          <p:cNvPr id="16" name="Text 11"/>
          <p:cNvSpPr txBox="1"/>
          <p:nvPr/>
        </p:nvSpPr>
        <p:spPr>
          <a:xfrm>
            <a:off x="6460236" y="2514600"/>
            <a:ext cx="2109978" cy="859536"/>
          </a:xfrm>
          <a:prstGeom prst="rect">
            <a:avLst/>
          </a:prstGeom>
          <a:noFill/>
          <a:ln/>
        </p:spPr>
        <p:txBody>
          <a:bodyPr wrap="square" lIns="0" tIns="0" rIns="0" bIns="0" rtlCol="0" anchor="t"/>
          <a:lstStyle/>
          <a:p>
            <a:pPr indent="0" marL="0">
              <a:buNone/>
            </a:pPr>
            <a:r>
              <a:rPr lang="en-US" sz="2400" b="1" dirty="0">
                <a:solidFill>
                  <a:srgbClr val="1A5C2C"/>
                </a:solidFill>
                <a:latin typeface="Cambria" pitchFamily="34" charset="0"/>
                <a:ea typeface="Cambria" pitchFamily="34" charset="-122"/>
                <a:cs typeface="Cambria" pitchFamily="34" charset="-120"/>
              </a:rPr>
              <a:t>R · Resource the Strategy</a:t>
            </a:r>
            <a:endParaRPr lang="en-US" sz="2400" dirty="0"/>
          </a:p>
        </p:txBody>
      </p:sp>
      <p:sp>
        <p:nvSpPr>
          <p:cNvPr id="17" name="Text 12"/>
          <p:cNvSpPr txBox="1"/>
          <p:nvPr/>
        </p:nvSpPr>
        <p:spPr>
          <a:xfrm>
            <a:off x="6460236" y="3511296"/>
            <a:ext cx="2109978" cy="1792224"/>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Resource the people who carry it</a:t>
            </a:r>
            <a:endParaRPr lang="en-US" sz="2400" dirty="0"/>
          </a:p>
        </p:txBody>
      </p:sp>
      <p:sp>
        <p:nvSpPr>
          <p:cNvPr id="18" name="Shape 13"/>
          <p:cNvSpPr/>
          <p:nvPr/>
        </p:nvSpPr>
        <p:spPr>
          <a:xfrm>
            <a:off x="9073134" y="1508760"/>
            <a:ext cx="2567178" cy="3931920"/>
          </a:xfrm>
          <a:prstGeom prst="roundRect">
            <a:avLst>
              <a:gd name="adj" fmla="val 3562"/>
            </a:avLst>
          </a:prstGeom>
          <a:solidFill>
            <a:srgbClr val="1A5C2C"/>
          </a:solidFill>
          <a:ln w="12700">
            <a:solidFill>
              <a:srgbClr val="1A5C2C"/>
            </a:solidFill>
            <a:prstDash val="solid"/>
          </a:ln>
        </p:spPr>
      </p:sp>
      <p:sp>
        <p:nvSpPr>
          <p:cNvPr id="19" name="Shape 14"/>
          <p:cNvSpPr/>
          <p:nvPr/>
        </p:nvSpPr>
        <p:spPr>
          <a:xfrm>
            <a:off x="9301734" y="1737360"/>
            <a:ext cx="640080" cy="640080"/>
          </a:xfrm>
          <a:prstGeom prst="ellipse">
            <a:avLst/>
          </a:prstGeom>
          <a:solidFill>
            <a:srgbClr val="C6A24C"/>
          </a:solidFill>
          <a:ln w="12700">
            <a:solidFill>
              <a:srgbClr val="C6A24C"/>
            </a:solidFill>
            <a:prstDash val="solid"/>
          </a:ln>
        </p:spPr>
      </p:sp>
      <p:pic>
        <p:nvPicPr>
          <p:cNvPr id="20" name="Image 3" descr="preencoded.png">    </p:cNvPr>
          <p:cNvPicPr>
            <a:picLocks noChangeAspect="1"/>
          </p:cNvPicPr>
          <p:nvPr/>
        </p:nvPicPr>
        <p:blipFill>
          <a:blip r:embed="rId4"/>
          <a:stretch>
            <a:fillRect/>
          </a:stretch>
        </p:blipFill>
        <p:spPr>
          <a:xfrm>
            <a:off x="9461754" y="1897380"/>
            <a:ext cx="320040" cy="320040"/>
          </a:xfrm>
          <a:prstGeom prst="rect">
            <a:avLst/>
          </a:prstGeom>
        </p:spPr>
      </p:pic>
      <p:sp>
        <p:nvSpPr>
          <p:cNvPr id="21" name="Text 15"/>
          <p:cNvSpPr txBox="1"/>
          <p:nvPr/>
        </p:nvSpPr>
        <p:spPr>
          <a:xfrm>
            <a:off x="9301734" y="2514600"/>
            <a:ext cx="2109978" cy="859536"/>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G · Govern the Rhythm</a:t>
            </a:r>
            <a:endParaRPr lang="en-US" sz="2400" dirty="0"/>
          </a:p>
        </p:txBody>
      </p:sp>
      <p:sp>
        <p:nvSpPr>
          <p:cNvPr id="22" name="Text 16"/>
          <p:cNvSpPr txBox="1"/>
          <p:nvPr/>
        </p:nvSpPr>
        <p:spPr>
          <a:xfrm>
            <a:off x="9301734" y="3511296"/>
            <a:ext cx="2109978" cy="1792224"/>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A steady cadence of accountability</a:t>
            </a:r>
            <a:endParaRPr lang="en-US" sz="2400" dirty="0"/>
          </a:p>
        </p:txBody>
      </p:sp>
      <p:sp>
        <p:nvSpPr>
          <p:cNvPr id="23" name="Shape 17"/>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sp>
      <p:sp>
        <p:nvSpPr>
          <p:cNvPr id="24" name="Text 18"/>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“When all four operate together, the operating system reinforces the work itself.”</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2.2 · The IBSL Cultural Operating Code</a:t>
            </a:r>
            <a:endParaRPr lang="en-US" sz="3600" dirty="0"/>
          </a:p>
        </p:txBody>
      </p:sp>
      <p:sp>
        <p:nvSpPr>
          <p:cNvPr id="3" name="Shape 1"/>
          <p:cNvSpPr/>
          <p:nvPr/>
        </p:nvSpPr>
        <p:spPr>
          <a:xfrm>
            <a:off x="548640" y="1631061"/>
            <a:ext cx="570738" cy="570738"/>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691325" y="1773746"/>
            <a:ext cx="285369" cy="285369"/>
          </a:xfrm>
          <a:prstGeom prst="rect">
            <a:avLst/>
          </a:prstGeom>
        </p:spPr>
      </p:pic>
      <p:sp>
        <p:nvSpPr>
          <p:cNvPr id="5" name="Text 2"/>
          <p:cNvSpPr txBox="1"/>
          <p:nvPr/>
        </p:nvSpPr>
        <p:spPr>
          <a:xfrm>
            <a:off x="1439418" y="1508760"/>
            <a:ext cx="10200894" cy="81534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AIM  </a:t>
            </a:r>
            <a:pPr indent="0" marL="0">
              <a:buNone/>
            </a:pPr>
            <a:r>
              <a:rPr lang="en-US" sz="2400" dirty="0">
                <a:solidFill>
                  <a:srgbClr val="1F2A22"/>
                </a:solidFill>
                <a:latin typeface="Calibri" pitchFamily="34" charset="0"/>
                <a:ea typeface="Calibri" pitchFamily="34" charset="-122"/>
                <a:cs typeface="Calibri" pitchFamily="34" charset="-120"/>
              </a:rPr>
              <a:t>Intentionality</a:t>
            </a:r>
            <a:endParaRPr lang="en-US" sz="2400" dirty="0"/>
          </a:p>
        </p:txBody>
      </p:sp>
      <p:sp>
        <p:nvSpPr>
          <p:cNvPr id="6" name="Shape 3"/>
          <p:cNvSpPr/>
          <p:nvPr/>
        </p:nvSpPr>
        <p:spPr>
          <a:xfrm>
            <a:off x="548640" y="2446401"/>
            <a:ext cx="570738" cy="570738"/>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691325" y="2589085"/>
            <a:ext cx="285369" cy="285369"/>
          </a:xfrm>
          <a:prstGeom prst="rect">
            <a:avLst/>
          </a:prstGeom>
        </p:spPr>
      </p:pic>
      <p:sp>
        <p:nvSpPr>
          <p:cNvPr id="8" name="Text 4"/>
          <p:cNvSpPr txBox="1"/>
          <p:nvPr/>
        </p:nvSpPr>
        <p:spPr>
          <a:xfrm>
            <a:off x="1439418" y="2324100"/>
            <a:ext cx="10200894" cy="81534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SAY  </a:t>
            </a:r>
            <a:pPr indent="0" marL="0">
              <a:buNone/>
            </a:pPr>
            <a:r>
              <a:rPr lang="en-US" sz="2400" dirty="0">
                <a:solidFill>
                  <a:srgbClr val="1F2A22"/>
                </a:solidFill>
                <a:latin typeface="Calibri" pitchFamily="34" charset="0"/>
                <a:ea typeface="Calibri" pitchFamily="34" charset="-122"/>
                <a:cs typeface="Calibri" pitchFamily="34" charset="-120"/>
              </a:rPr>
              <a:t>Integrity</a:t>
            </a:r>
            <a:endParaRPr lang="en-US" sz="2400" dirty="0"/>
          </a:p>
        </p:txBody>
      </p:sp>
      <p:sp>
        <p:nvSpPr>
          <p:cNvPr id="9" name="Shape 5"/>
          <p:cNvSpPr/>
          <p:nvPr/>
        </p:nvSpPr>
        <p:spPr>
          <a:xfrm>
            <a:off x="548640" y="3261741"/>
            <a:ext cx="570738" cy="570738"/>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691325" y="3404425"/>
            <a:ext cx="285369" cy="285369"/>
          </a:xfrm>
          <a:prstGeom prst="rect">
            <a:avLst/>
          </a:prstGeom>
        </p:spPr>
      </p:pic>
      <p:sp>
        <p:nvSpPr>
          <p:cNvPr id="11" name="Text 6"/>
          <p:cNvSpPr txBox="1"/>
          <p:nvPr/>
        </p:nvSpPr>
        <p:spPr>
          <a:xfrm>
            <a:off x="1439418" y="3139440"/>
            <a:ext cx="10200894" cy="81534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ONE  </a:t>
            </a:r>
            <a:pPr indent="0" marL="0">
              <a:buNone/>
            </a:pPr>
            <a:r>
              <a:rPr lang="en-US" sz="2400" dirty="0">
                <a:solidFill>
                  <a:srgbClr val="1F2A22"/>
                </a:solidFill>
                <a:latin typeface="Calibri" pitchFamily="34" charset="0"/>
                <a:ea typeface="Calibri" pitchFamily="34" charset="-122"/>
                <a:cs typeface="Calibri" pitchFamily="34" charset="-120"/>
              </a:rPr>
              <a:t>Collaboration</a:t>
            </a:r>
            <a:endParaRPr lang="en-US" sz="2400" dirty="0"/>
          </a:p>
        </p:txBody>
      </p:sp>
      <p:sp>
        <p:nvSpPr>
          <p:cNvPr id="12" name="Shape 7"/>
          <p:cNvSpPr/>
          <p:nvPr/>
        </p:nvSpPr>
        <p:spPr>
          <a:xfrm>
            <a:off x="548640" y="4077081"/>
            <a:ext cx="570738" cy="570738"/>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691325" y="4219766"/>
            <a:ext cx="285369" cy="285369"/>
          </a:xfrm>
          <a:prstGeom prst="rect">
            <a:avLst/>
          </a:prstGeom>
        </p:spPr>
      </p:pic>
      <p:sp>
        <p:nvSpPr>
          <p:cNvPr id="14" name="Text 8"/>
          <p:cNvSpPr txBox="1"/>
          <p:nvPr/>
        </p:nvSpPr>
        <p:spPr>
          <a:xfrm>
            <a:off x="1439418" y="3954780"/>
            <a:ext cx="10200894" cy="81534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OAR  </a:t>
            </a:r>
            <a:pPr indent="0" marL="0">
              <a:buNone/>
            </a:pPr>
            <a:r>
              <a:rPr lang="en-US" sz="2400" dirty="0">
                <a:solidFill>
                  <a:srgbClr val="1F2A22"/>
                </a:solidFill>
                <a:latin typeface="Calibri" pitchFamily="34" charset="0"/>
                <a:ea typeface="Calibri" pitchFamily="34" charset="-122"/>
                <a:cs typeface="Calibri" pitchFamily="34" charset="-120"/>
              </a:rPr>
              <a:t>Accountability</a:t>
            </a:r>
            <a:endParaRPr lang="en-US" sz="2400" dirty="0"/>
          </a:p>
        </p:txBody>
      </p:sp>
      <p:sp>
        <p:nvSpPr>
          <p:cNvPr id="15" name="Shape 9"/>
          <p:cNvSpPr/>
          <p:nvPr/>
        </p:nvSpPr>
        <p:spPr>
          <a:xfrm>
            <a:off x="548640" y="4892421"/>
            <a:ext cx="570738" cy="570738"/>
          </a:xfrm>
          <a:prstGeom prst="ellipse">
            <a:avLst/>
          </a:prstGeom>
          <a:solidFill>
            <a:srgbClr val="1A5C2C"/>
          </a:solidFill>
          <a:ln w="12700">
            <a:solidFill>
              <a:srgbClr val="1A5C2C"/>
            </a:solidFill>
            <a:prstDash val="solid"/>
          </a:ln>
        </p:spPr>
      </p:sp>
      <p:pic>
        <p:nvPicPr>
          <p:cNvPr id="16" name="Image 4" descr="preencoded.png">    </p:cNvPr>
          <p:cNvPicPr>
            <a:picLocks noChangeAspect="1"/>
          </p:cNvPicPr>
          <p:nvPr/>
        </p:nvPicPr>
        <p:blipFill>
          <a:blip r:embed="rId5"/>
          <a:stretch>
            <a:fillRect/>
          </a:stretch>
        </p:blipFill>
        <p:spPr>
          <a:xfrm>
            <a:off x="691325" y="5035106"/>
            <a:ext cx="285369" cy="285369"/>
          </a:xfrm>
          <a:prstGeom prst="rect">
            <a:avLst/>
          </a:prstGeom>
        </p:spPr>
      </p:pic>
      <p:sp>
        <p:nvSpPr>
          <p:cNvPr id="17" name="Text 10"/>
          <p:cNvSpPr txBox="1"/>
          <p:nvPr/>
        </p:nvSpPr>
        <p:spPr>
          <a:xfrm>
            <a:off x="1439418" y="4770120"/>
            <a:ext cx="10200894" cy="81534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SET  </a:t>
            </a:r>
            <a:pPr indent="0" marL="0">
              <a:buNone/>
            </a:pPr>
            <a:r>
              <a:rPr lang="en-US" sz="2400" dirty="0">
                <a:solidFill>
                  <a:srgbClr val="1F2A22"/>
                </a:solidFill>
                <a:latin typeface="Calibri" pitchFamily="34" charset="0"/>
                <a:ea typeface="Calibri" pitchFamily="34" charset="-122"/>
                <a:cs typeface="Calibri" pitchFamily="34" charset="-120"/>
              </a:rPr>
              <a:t>Excellence</a:t>
            </a:r>
            <a:endParaRPr lang="en-US" sz="2400" dirty="0"/>
          </a:p>
        </p:txBody>
      </p:sp>
      <p:sp>
        <p:nvSpPr>
          <p:cNvPr id="18" name="Shape 11"/>
          <p:cNvSpPr/>
          <p:nvPr/>
        </p:nvSpPr>
        <p:spPr>
          <a:xfrm>
            <a:off x="548640" y="5707761"/>
            <a:ext cx="570738" cy="570738"/>
          </a:xfrm>
          <a:prstGeom prst="ellipse">
            <a:avLst/>
          </a:prstGeom>
          <a:solidFill>
            <a:srgbClr val="C6A24C"/>
          </a:solidFill>
          <a:ln w="12700">
            <a:solidFill>
              <a:srgbClr val="C6A24C"/>
            </a:solidFill>
            <a:prstDash val="solid"/>
          </a:ln>
        </p:spPr>
      </p:sp>
      <p:pic>
        <p:nvPicPr>
          <p:cNvPr id="19" name="Image 5" descr="preencoded.png">    </p:cNvPr>
          <p:cNvPicPr>
            <a:picLocks noChangeAspect="1"/>
          </p:cNvPicPr>
          <p:nvPr/>
        </p:nvPicPr>
        <p:blipFill>
          <a:blip r:embed="rId6"/>
          <a:stretch>
            <a:fillRect/>
          </a:stretch>
        </p:blipFill>
        <p:spPr>
          <a:xfrm>
            <a:off x="691325" y="5850445"/>
            <a:ext cx="285369" cy="285369"/>
          </a:xfrm>
          <a:prstGeom prst="rect">
            <a:avLst/>
          </a:prstGeom>
        </p:spPr>
      </p:pic>
      <p:sp>
        <p:nvSpPr>
          <p:cNvPr id="20" name="Text 12"/>
          <p:cNvSpPr txBox="1"/>
          <p:nvPr/>
        </p:nvSpPr>
        <p:spPr>
          <a:xfrm>
            <a:off x="1439418" y="5585460"/>
            <a:ext cx="10200894" cy="81534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SEE  </a:t>
            </a:r>
            <a:pPr indent="0" marL="0">
              <a:buNone/>
            </a:pPr>
            <a:r>
              <a:rPr lang="en-US" sz="2400" dirty="0">
                <a:solidFill>
                  <a:srgbClr val="1F2A22"/>
                </a:solidFill>
                <a:latin typeface="Calibri" pitchFamily="34" charset="0"/>
                <a:ea typeface="Calibri" pitchFamily="34" charset="-122"/>
                <a:cs typeface="Calibri" pitchFamily="34" charset="-120"/>
              </a:rPr>
              <a:t>Human-Centricity</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2.3 · Worked example: the ESRG Execution Scanner</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Six executives,  </a:t>
            </a:r>
            <a:pPr indent="0" marL="0">
              <a:buNone/>
            </a:pPr>
            <a:r>
              <a:rPr lang="en-US" sz="2600" dirty="0">
                <a:solidFill>
                  <a:srgbClr val="1F2A22"/>
                </a:solidFill>
                <a:latin typeface="Calibri" pitchFamily="34" charset="0"/>
                <a:ea typeface="Calibri" pitchFamily="34" charset="-122"/>
                <a:cs typeface="Calibri" pitchFamily="34" charset="-120"/>
              </a:rPr>
              <a:t>one ESRG issue each, scanned independently</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O · Organisational Alignment  </a:t>
            </a:r>
            <a:pPr indent="0" marL="0">
              <a:buNone/>
            </a:pPr>
            <a:r>
              <a:rPr lang="en-US" sz="2600" dirty="0">
                <a:solidFill>
                  <a:srgbClr val="1F2A22"/>
                </a:solidFill>
                <a:latin typeface="Calibri" pitchFamily="34" charset="0"/>
                <a:ea typeface="Calibri" pitchFamily="34" charset="-122"/>
                <a:cs typeface="Calibri" pitchFamily="34" charset="-120"/>
              </a:rPr>
              <a:t>flagged by 4 of 6</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M · Management Discipline  </a:t>
            </a:r>
            <a:pPr indent="0" marL="0">
              <a:buNone/>
            </a:pPr>
            <a:r>
              <a:rPr lang="en-US" sz="2600" dirty="0">
                <a:solidFill>
                  <a:srgbClr val="1F2A22"/>
                </a:solidFill>
                <a:latin typeface="Calibri" pitchFamily="34" charset="0"/>
                <a:ea typeface="Calibri" pitchFamily="34" charset="-122"/>
                <a:cs typeface="Calibri" pitchFamily="34" charset="-120"/>
              </a:rPr>
              <a:t>flagged by 3 of 6</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P · People &amp; Capability  </a:t>
            </a:r>
            <a:pPr indent="0" marL="0">
              <a:buNone/>
            </a:pPr>
            <a:r>
              <a:rPr lang="en-US" sz="2600" dirty="0">
                <a:solidFill>
                  <a:srgbClr val="1F2A22"/>
                </a:solidFill>
                <a:latin typeface="Calibri" pitchFamily="34" charset="0"/>
                <a:ea typeface="Calibri" pitchFamily="34" charset="-122"/>
                <a:cs typeface="Calibri" pitchFamily="34" charset="-120"/>
              </a:rPr>
              <a:t>flagged by 3 of 6</a:t>
            </a:r>
            <a:endParaRPr lang="en-US" sz="2600" dirty="0"/>
          </a:p>
        </p:txBody>
      </p:sp>
      <p:sp>
        <p:nvSpPr>
          <p:cNvPr id="15" name="Shape 9"/>
          <p:cNvSpPr/>
          <p:nvPr/>
        </p:nvSpPr>
        <p:spPr>
          <a:xfrm>
            <a:off x="548640" y="5591556"/>
            <a:ext cx="640080" cy="640080"/>
          </a:xfrm>
          <a:prstGeom prst="ellipse">
            <a:avLst/>
          </a:prstGeom>
          <a:solidFill>
            <a:srgbClr val="C6A24C"/>
          </a:solidFill>
          <a:ln w="12700">
            <a:solidFill>
              <a:srgbClr val="C6A24C"/>
            </a:solidFill>
            <a:prstDash val="solid"/>
          </a:ln>
        </p:spPr>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Overall: RED  </a:t>
            </a:r>
            <a:pPr indent="0" marL="0">
              <a:buNone/>
            </a:pPr>
            <a:r>
              <a:rPr lang="en-US" sz="2600" dirty="0">
                <a:solidFill>
                  <a:srgbClr val="1F2A22"/>
                </a:solidFill>
                <a:latin typeface="Calibri" pitchFamily="34" charset="0"/>
                <a:ea typeface="Calibri" pitchFamily="34" charset="-122"/>
                <a:cs typeface="Calibri" pitchFamily="34" charset="-120"/>
              </a:rPr>
              <a:t>critical friction detected</a:t>
            </a:r>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Where Are the ESRG Friction Zones?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Recognise the institutional constraints and dependencies that create friction in each domain.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Determine the type of intervention each constraint requires.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3.1–3.4 · ESRG friction zones</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14400" y="1874520"/>
            <a:ext cx="274320" cy="274320"/>
          </a:xfrm>
          <a:prstGeom prst="rect">
            <a:avLst/>
          </a:prstGeom>
        </p:spPr>
      </p:pic>
      <p:sp>
        <p:nvSpPr>
          <p:cNvPr id="6" name="Text 3"/>
          <p:cNvSpPr txBox="1"/>
          <p:nvPr/>
        </p:nvSpPr>
        <p:spPr>
          <a:xfrm>
            <a:off x="1508760" y="1691640"/>
            <a:ext cx="4219956" cy="6400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E · Environment</a:t>
            </a:r>
            <a:endParaRPr lang="en-US" sz="2600" dirty="0"/>
          </a:p>
        </p:txBody>
      </p:sp>
      <p:sp>
        <p:nvSpPr>
          <p:cNvPr id="7" name="Text 4"/>
          <p:cNvSpPr txBox="1"/>
          <p:nvPr/>
        </p:nvSpPr>
        <p:spPr>
          <a:xfrm>
            <a:off x="777240" y="2468880"/>
            <a:ext cx="4951476" cy="118872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Values misalignment; psychological safety failures.</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6597396" y="1874520"/>
            <a:ext cx="274320" cy="274320"/>
          </a:xfrm>
          <a:prstGeom prst="rect">
            <a:avLst/>
          </a:prstGeom>
        </p:spPr>
      </p:pic>
      <p:sp>
        <p:nvSpPr>
          <p:cNvPr id="11" name="Text 7"/>
          <p:cNvSpPr txBox="1"/>
          <p:nvPr/>
        </p:nvSpPr>
        <p:spPr>
          <a:xfrm>
            <a:off x="7191756" y="1691640"/>
            <a:ext cx="4219956" cy="6400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S · Systems</a:t>
            </a:r>
            <a:endParaRPr lang="en-US" sz="2600" dirty="0"/>
          </a:p>
        </p:txBody>
      </p:sp>
      <p:sp>
        <p:nvSpPr>
          <p:cNvPr id="12" name="Text 8"/>
          <p:cNvSpPr txBox="1"/>
          <p:nvPr/>
        </p:nvSpPr>
        <p:spPr>
          <a:xfrm>
            <a:off x="6460236" y="2468880"/>
            <a:ext cx="4951476" cy="118872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Workarounds; data fragmentation.</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sp>
      <p:pic>
        <p:nvPicPr>
          <p:cNvPr id="15" name="Image 2" descr="preencoded.png">    </p:cNvPr>
          <p:cNvPicPr>
            <a:picLocks noChangeAspect="1"/>
          </p:cNvPicPr>
          <p:nvPr/>
        </p:nvPicPr>
        <p:blipFill>
          <a:blip r:embed="rId3"/>
          <a:stretch>
            <a:fillRect/>
          </a:stretch>
        </p:blipFill>
        <p:spPr>
          <a:xfrm>
            <a:off x="914400" y="4434840"/>
            <a:ext cx="274320" cy="274320"/>
          </a:xfrm>
          <a:prstGeom prst="rect">
            <a:avLst/>
          </a:prstGeom>
        </p:spPr>
      </p:pic>
      <p:sp>
        <p:nvSpPr>
          <p:cNvPr id="16" name="Text 11"/>
          <p:cNvSpPr txBox="1"/>
          <p:nvPr/>
        </p:nvSpPr>
        <p:spPr>
          <a:xfrm>
            <a:off x="1508760" y="4251960"/>
            <a:ext cx="4219956" cy="6400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 · Resources</a:t>
            </a:r>
            <a:endParaRPr lang="en-US" sz="2600" dirty="0"/>
          </a:p>
        </p:txBody>
      </p:sp>
      <p:sp>
        <p:nvSpPr>
          <p:cNvPr id="17" name="Text 12"/>
          <p:cNvSpPr txBox="1"/>
          <p:nvPr/>
        </p:nvSpPr>
        <p:spPr>
          <a:xfrm>
            <a:off x="777240" y="5029200"/>
            <a:ext cx="4951476" cy="118872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Capability gaps; unsustainable workloads.</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sp>
      <p:pic>
        <p:nvPicPr>
          <p:cNvPr id="20" name="Image 3" descr="preencoded.png">    </p:cNvPr>
          <p:cNvPicPr>
            <a:picLocks noChangeAspect="1"/>
          </p:cNvPicPr>
          <p:nvPr/>
        </p:nvPicPr>
        <p:blipFill>
          <a:blip r:embed="rId4"/>
          <a:stretch>
            <a:fillRect/>
          </a:stretch>
        </p:blipFill>
        <p:spPr>
          <a:xfrm>
            <a:off x="6597396" y="4434840"/>
            <a:ext cx="274320" cy="274320"/>
          </a:xfrm>
          <a:prstGeom prst="rect">
            <a:avLst/>
          </a:prstGeom>
        </p:spPr>
      </p:pic>
      <p:sp>
        <p:nvSpPr>
          <p:cNvPr id="21" name="Text 15"/>
          <p:cNvSpPr txBox="1"/>
          <p:nvPr/>
        </p:nvSpPr>
        <p:spPr>
          <a:xfrm>
            <a:off x="7191756" y="4251960"/>
            <a:ext cx="4219956" cy="6400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G · Governance</a:t>
            </a:r>
            <a:endParaRPr lang="en-US" sz="2600" dirty="0"/>
          </a:p>
        </p:txBody>
      </p:sp>
      <p:sp>
        <p:nvSpPr>
          <p:cNvPr id="22" name="Text 16"/>
          <p:cNvSpPr txBox="1"/>
          <p:nvPr/>
        </p:nvSpPr>
        <p:spPr>
          <a:xfrm>
            <a:off x="6460236" y="5029200"/>
            <a:ext cx="4951476" cy="118872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Selective accountability; absent leadership.</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3.5 · Friction as organisational intelligence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Values misalignment  </a:t>
            </a:r>
            <a:pPr indent="0" marL="0">
              <a:buNone/>
            </a:pPr>
            <a:r>
              <a:rPr lang="en-US" sz="2400" dirty="0">
                <a:solidFill>
                  <a:srgbClr val="1F2A22"/>
                </a:solidFill>
                <a:latin typeface="Calibri" pitchFamily="34" charset="0"/>
                <a:ea typeface="Calibri" pitchFamily="34" charset="-122"/>
                <a:cs typeface="Calibri" pitchFamily="34" charset="-120"/>
              </a:rPr>
              <a:t>gap between cultural aspiration and reality</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Systems fragmentation  </a:t>
            </a:r>
            <a:pPr indent="0" marL="0">
              <a:buNone/>
            </a:pPr>
            <a:r>
              <a:rPr lang="en-US" sz="2400" dirty="0">
                <a:solidFill>
                  <a:srgbClr val="1F2A22"/>
                </a:solidFill>
                <a:latin typeface="Calibri" pitchFamily="34" charset="0"/>
                <a:ea typeface="Calibri" pitchFamily="34" charset="-122"/>
                <a:cs typeface="Calibri" pitchFamily="34" charset="-120"/>
              </a:rPr>
              <a:t>infrastructure built for a different era</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Capacity constraints  </a:t>
            </a:r>
            <a:pPr indent="0" marL="0">
              <a:buNone/>
            </a:pPr>
            <a:r>
              <a:rPr lang="en-US" sz="2400" dirty="0">
                <a:solidFill>
                  <a:srgbClr val="1F2A22"/>
                </a:solidFill>
                <a:latin typeface="Calibri" pitchFamily="34" charset="0"/>
                <a:ea typeface="Calibri" pitchFamily="34" charset="-122"/>
                <a:cs typeface="Calibri" pitchFamily="34" charset="-120"/>
              </a:rPr>
              <a:t>resources behind strategic ambition</a:t>
            </a:r>
            <a:endParaRPr lang="en-US" sz="24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Governance inconsistency  </a:t>
            </a:r>
            <a:pPr indent="0" marL="0">
              <a:buNone/>
            </a:pPr>
            <a:r>
              <a:rPr lang="en-US" sz="2400" dirty="0">
                <a:solidFill>
                  <a:srgbClr val="1F2A22"/>
                </a:solidFill>
                <a:latin typeface="Calibri" pitchFamily="34" charset="0"/>
                <a:ea typeface="Calibri" pitchFamily="34" charset="-122"/>
                <a:cs typeface="Calibri" pitchFamily="34" charset="-120"/>
              </a:rPr>
              <a:t>leadership below the standard required</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Cross-ESRG Architecture — Collective Intelligence of Execution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Demonstrate an enterprise view of the operating conditions required for sustainable performance.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Formulate an enterprise agenda for aligning operating conditions with strategic priorities.</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4.1 · The Execution Muscle Scan</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Are the organisational conditions still supporting our ability to continue the climb?</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Conducted quarterly, immediately after performance has been examined.</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4.2 · The four reflections</a:t>
            </a:r>
            <a:endParaRPr lang="en-US" sz="3600" dirty="0"/>
          </a:p>
        </p:txBody>
      </p:sp>
      <p:sp>
        <p:nvSpPr>
          <p:cNvPr id="3" name="Shape 1"/>
          <p:cNvSpPr/>
          <p:nvPr/>
        </p:nvSpPr>
        <p:spPr>
          <a:xfrm>
            <a:off x="548640" y="1508760"/>
            <a:ext cx="5408676" cy="2286000"/>
          </a:xfrm>
          <a:prstGeom prst="roundRect">
            <a:avLst>
              <a:gd name="adj" fmla="val 4000"/>
            </a:avLst>
          </a:prstGeom>
          <a:solidFill>
            <a:srgbClr val="EEF4EF"/>
          </a:solidFill>
          <a:ln w="12700">
            <a:solidFill>
              <a:srgbClr val="EEF4EF"/>
            </a:solidFill>
            <a:prstDash val="solid"/>
          </a:ln>
        </p:spPr>
      </p:sp>
      <p:sp>
        <p:nvSpPr>
          <p:cNvPr id="4" name="Shape 2"/>
          <p:cNvSpPr/>
          <p:nvPr/>
        </p:nvSpPr>
        <p:spPr>
          <a:xfrm>
            <a:off x="777240" y="1737360"/>
            <a:ext cx="548640" cy="54864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14400" y="1874520"/>
            <a:ext cx="274320" cy="274320"/>
          </a:xfrm>
          <a:prstGeom prst="rect">
            <a:avLst/>
          </a:prstGeom>
        </p:spPr>
      </p:pic>
      <p:sp>
        <p:nvSpPr>
          <p:cNvPr id="6" name="Text 3"/>
          <p:cNvSpPr txBox="1"/>
          <p:nvPr/>
        </p:nvSpPr>
        <p:spPr>
          <a:xfrm>
            <a:off x="1508760" y="1691640"/>
            <a:ext cx="4219956" cy="6400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E · Enabling the Work</a:t>
            </a:r>
            <a:endParaRPr lang="en-US" sz="2600" dirty="0"/>
          </a:p>
        </p:txBody>
      </p:sp>
      <p:sp>
        <p:nvSpPr>
          <p:cNvPr id="7" name="Text 4"/>
          <p:cNvSpPr txBox="1"/>
          <p:nvPr/>
        </p:nvSpPr>
        <p:spPr>
          <a:xfrm>
            <a:off x="777240" y="2468880"/>
            <a:ext cx="4951476" cy="1188720"/>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Easy to collaborate, speak honestly and advance the work?</a:t>
            </a:r>
            <a:endParaRPr lang="en-US" sz="2400" dirty="0"/>
          </a:p>
        </p:txBody>
      </p:sp>
      <p:sp>
        <p:nvSpPr>
          <p:cNvPr id="8" name="Shape 5"/>
          <p:cNvSpPr/>
          <p:nvPr/>
        </p:nvSpPr>
        <p:spPr>
          <a:xfrm>
            <a:off x="6231636" y="1508760"/>
            <a:ext cx="5408676" cy="2286000"/>
          </a:xfrm>
          <a:prstGeom prst="roundRect">
            <a:avLst>
              <a:gd name="adj" fmla="val 4000"/>
            </a:avLst>
          </a:prstGeom>
          <a:solidFill>
            <a:srgbClr val="EEF4EF"/>
          </a:solidFill>
          <a:ln w="12700">
            <a:solidFill>
              <a:srgbClr val="EEF4EF"/>
            </a:solidFill>
            <a:prstDash val="solid"/>
          </a:ln>
        </p:spPr>
      </p:sp>
      <p:sp>
        <p:nvSpPr>
          <p:cNvPr id="9" name="Shape 6"/>
          <p:cNvSpPr/>
          <p:nvPr/>
        </p:nvSpPr>
        <p:spPr>
          <a:xfrm>
            <a:off x="6460236" y="1737360"/>
            <a:ext cx="548640" cy="54864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6597396" y="1874520"/>
            <a:ext cx="274320" cy="274320"/>
          </a:xfrm>
          <a:prstGeom prst="rect">
            <a:avLst/>
          </a:prstGeom>
        </p:spPr>
      </p:pic>
      <p:sp>
        <p:nvSpPr>
          <p:cNvPr id="11" name="Text 7"/>
          <p:cNvSpPr txBox="1"/>
          <p:nvPr/>
        </p:nvSpPr>
        <p:spPr>
          <a:xfrm>
            <a:off x="7191756" y="1691640"/>
            <a:ext cx="4219956" cy="923544"/>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S · Streamlining the Flow</a:t>
            </a:r>
            <a:endParaRPr lang="en-US" sz="2600" dirty="0"/>
          </a:p>
        </p:txBody>
      </p:sp>
      <p:sp>
        <p:nvSpPr>
          <p:cNvPr id="12" name="Text 8"/>
          <p:cNvSpPr txBox="1"/>
          <p:nvPr/>
        </p:nvSpPr>
        <p:spPr>
          <a:xfrm>
            <a:off x="6460236" y="2752344"/>
            <a:ext cx="4951476" cy="90525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Work, data and decisions moving smoothly and visibly?</a:t>
            </a:r>
            <a:endParaRPr lang="en-US" sz="2400" dirty="0"/>
          </a:p>
        </p:txBody>
      </p:sp>
      <p:sp>
        <p:nvSpPr>
          <p:cNvPr id="13" name="Shape 9"/>
          <p:cNvSpPr/>
          <p:nvPr/>
        </p:nvSpPr>
        <p:spPr>
          <a:xfrm>
            <a:off x="548640" y="4069080"/>
            <a:ext cx="5408676" cy="2286000"/>
          </a:xfrm>
          <a:prstGeom prst="roundRect">
            <a:avLst>
              <a:gd name="adj" fmla="val 4000"/>
            </a:avLst>
          </a:prstGeom>
          <a:solidFill>
            <a:srgbClr val="EEF4EF"/>
          </a:solidFill>
          <a:ln w="12700">
            <a:solidFill>
              <a:srgbClr val="EEF4EF"/>
            </a:solidFill>
            <a:prstDash val="solid"/>
          </a:ln>
        </p:spPr>
      </p:sp>
      <p:sp>
        <p:nvSpPr>
          <p:cNvPr id="14" name="Shape 10"/>
          <p:cNvSpPr/>
          <p:nvPr/>
        </p:nvSpPr>
        <p:spPr>
          <a:xfrm>
            <a:off x="777240" y="4297680"/>
            <a:ext cx="548640" cy="548640"/>
          </a:xfrm>
          <a:prstGeom prst="ellipse">
            <a:avLst/>
          </a:prstGeom>
          <a:solidFill>
            <a:srgbClr val="1A5C2C"/>
          </a:solidFill>
          <a:ln w="12700">
            <a:solidFill>
              <a:srgbClr val="1A5C2C"/>
            </a:solidFill>
            <a:prstDash val="solid"/>
          </a:ln>
        </p:spPr>
      </p:sp>
      <p:pic>
        <p:nvPicPr>
          <p:cNvPr id="15" name="Image 2" descr="preencoded.png">    </p:cNvPr>
          <p:cNvPicPr>
            <a:picLocks noChangeAspect="1"/>
          </p:cNvPicPr>
          <p:nvPr/>
        </p:nvPicPr>
        <p:blipFill>
          <a:blip r:embed="rId3"/>
          <a:stretch>
            <a:fillRect/>
          </a:stretch>
        </p:blipFill>
        <p:spPr>
          <a:xfrm>
            <a:off x="914400" y="4434840"/>
            <a:ext cx="274320" cy="274320"/>
          </a:xfrm>
          <a:prstGeom prst="rect">
            <a:avLst/>
          </a:prstGeom>
        </p:spPr>
      </p:pic>
      <p:sp>
        <p:nvSpPr>
          <p:cNvPr id="16" name="Text 11"/>
          <p:cNvSpPr txBox="1"/>
          <p:nvPr/>
        </p:nvSpPr>
        <p:spPr>
          <a:xfrm>
            <a:off x="1508760" y="4251960"/>
            <a:ext cx="4219956" cy="923544"/>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 · Resourcing the Strategy</a:t>
            </a:r>
            <a:endParaRPr lang="en-US" sz="2600" dirty="0"/>
          </a:p>
        </p:txBody>
      </p:sp>
      <p:sp>
        <p:nvSpPr>
          <p:cNvPr id="17" name="Text 12"/>
          <p:cNvSpPr txBox="1"/>
          <p:nvPr/>
        </p:nvSpPr>
        <p:spPr>
          <a:xfrm>
            <a:off x="777240" y="5312664"/>
            <a:ext cx="4951476" cy="90525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Capability, capacity and sustainability over time?</a:t>
            </a:r>
            <a:endParaRPr lang="en-US" sz="2400" dirty="0"/>
          </a:p>
        </p:txBody>
      </p:sp>
      <p:sp>
        <p:nvSpPr>
          <p:cNvPr id="18" name="Shape 13"/>
          <p:cNvSpPr/>
          <p:nvPr/>
        </p:nvSpPr>
        <p:spPr>
          <a:xfrm>
            <a:off x="6231636" y="4069080"/>
            <a:ext cx="5408676" cy="2286000"/>
          </a:xfrm>
          <a:prstGeom prst="roundRect">
            <a:avLst>
              <a:gd name="adj" fmla="val 4000"/>
            </a:avLst>
          </a:prstGeom>
          <a:solidFill>
            <a:srgbClr val="EEF4EF"/>
          </a:solidFill>
          <a:ln w="12700">
            <a:solidFill>
              <a:srgbClr val="EEF4EF"/>
            </a:solidFill>
            <a:prstDash val="solid"/>
          </a:ln>
        </p:spPr>
      </p:sp>
      <p:sp>
        <p:nvSpPr>
          <p:cNvPr id="19" name="Shape 14"/>
          <p:cNvSpPr/>
          <p:nvPr/>
        </p:nvSpPr>
        <p:spPr>
          <a:xfrm>
            <a:off x="6460236" y="4297680"/>
            <a:ext cx="548640" cy="548640"/>
          </a:xfrm>
          <a:prstGeom prst="ellipse">
            <a:avLst/>
          </a:prstGeom>
          <a:solidFill>
            <a:srgbClr val="1A5C2C"/>
          </a:solidFill>
          <a:ln w="12700">
            <a:solidFill>
              <a:srgbClr val="1A5C2C"/>
            </a:solidFill>
            <a:prstDash val="solid"/>
          </a:ln>
        </p:spPr>
      </p:sp>
      <p:pic>
        <p:nvPicPr>
          <p:cNvPr id="20" name="Image 3" descr="preencoded.png">    </p:cNvPr>
          <p:cNvPicPr>
            <a:picLocks noChangeAspect="1"/>
          </p:cNvPicPr>
          <p:nvPr/>
        </p:nvPicPr>
        <p:blipFill>
          <a:blip r:embed="rId4"/>
          <a:stretch>
            <a:fillRect/>
          </a:stretch>
        </p:blipFill>
        <p:spPr>
          <a:xfrm>
            <a:off x="6597396" y="4434840"/>
            <a:ext cx="274320" cy="274320"/>
          </a:xfrm>
          <a:prstGeom prst="rect">
            <a:avLst/>
          </a:prstGeom>
        </p:spPr>
      </p:pic>
      <p:sp>
        <p:nvSpPr>
          <p:cNvPr id="21" name="Text 15"/>
          <p:cNvSpPr txBox="1"/>
          <p:nvPr/>
        </p:nvSpPr>
        <p:spPr>
          <a:xfrm>
            <a:off x="7191756" y="4251960"/>
            <a:ext cx="4219956" cy="923544"/>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G · Maintaining the Rhythm</a:t>
            </a:r>
            <a:endParaRPr lang="en-US" sz="2600" dirty="0"/>
          </a:p>
        </p:txBody>
      </p:sp>
      <p:sp>
        <p:nvSpPr>
          <p:cNvPr id="22" name="Text 16"/>
          <p:cNvSpPr txBox="1"/>
          <p:nvPr/>
        </p:nvSpPr>
        <p:spPr>
          <a:xfrm>
            <a:off x="6460236" y="5312664"/>
            <a:ext cx="4951476" cy="90525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Decisions, accountability and ethics at the pace required?</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4.3 · The COMPASS-ESRG connection</a:t>
            </a:r>
            <a:endParaRPr lang="en-US" sz="3600" dirty="0"/>
          </a:p>
        </p:txBody>
      </p:sp>
      <p:sp>
        <p:nvSpPr>
          <p:cNvPr id="3" name="Shape 1"/>
          <p:cNvSpPr/>
          <p:nvPr/>
        </p:nvSpPr>
        <p:spPr>
          <a:xfrm>
            <a:off x="548640" y="1613589"/>
            <a:ext cx="489204" cy="489204"/>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670941" y="1735890"/>
            <a:ext cx="244602" cy="244602"/>
          </a:xfrm>
          <a:prstGeom prst="rect">
            <a:avLst/>
          </a:prstGeom>
        </p:spPr>
      </p:pic>
      <p:sp>
        <p:nvSpPr>
          <p:cNvPr id="5" name="Text 2"/>
          <p:cNvSpPr txBox="1"/>
          <p:nvPr/>
        </p:nvSpPr>
        <p:spPr>
          <a:xfrm>
            <a:off x="1357884" y="1508760"/>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 · Clarity of Direction  </a:t>
            </a:r>
            <a:pPr indent="0" marL="0">
              <a:buNone/>
            </a:pPr>
            <a:r>
              <a:rPr lang="en-US" sz="2400" dirty="0">
                <a:solidFill>
                  <a:srgbClr val="1F2A22"/>
                </a:solidFill>
                <a:latin typeface="Calibri" pitchFamily="34" charset="0"/>
                <a:ea typeface="Calibri" pitchFamily="34" charset="-122"/>
                <a:cs typeface="Calibri" pitchFamily="34" charset="-120"/>
              </a:rPr>
              <a:t>→ Governance</a:t>
            </a:r>
            <a:endParaRPr lang="en-US" sz="2400" dirty="0"/>
          </a:p>
        </p:txBody>
      </p:sp>
      <p:sp>
        <p:nvSpPr>
          <p:cNvPr id="6" name="Shape 3"/>
          <p:cNvSpPr/>
          <p:nvPr/>
        </p:nvSpPr>
        <p:spPr>
          <a:xfrm>
            <a:off x="548640" y="2312452"/>
            <a:ext cx="489204" cy="489204"/>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670941" y="2434753"/>
            <a:ext cx="244602" cy="244602"/>
          </a:xfrm>
          <a:prstGeom prst="rect">
            <a:avLst/>
          </a:prstGeom>
        </p:spPr>
      </p:pic>
      <p:sp>
        <p:nvSpPr>
          <p:cNvPr id="8" name="Text 4"/>
          <p:cNvSpPr txBox="1"/>
          <p:nvPr/>
        </p:nvSpPr>
        <p:spPr>
          <a:xfrm>
            <a:off x="1357884" y="2207623"/>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O · Organisational Alignment  </a:t>
            </a:r>
            <a:pPr indent="0" marL="0">
              <a:buNone/>
            </a:pPr>
            <a:r>
              <a:rPr lang="en-US" sz="2400" dirty="0">
                <a:solidFill>
                  <a:srgbClr val="1F2A22"/>
                </a:solidFill>
                <a:latin typeface="Calibri" pitchFamily="34" charset="0"/>
                <a:ea typeface="Calibri" pitchFamily="34" charset="-122"/>
                <a:cs typeface="Calibri" pitchFamily="34" charset="-120"/>
              </a:rPr>
              <a:t>→ Environment</a:t>
            </a:r>
            <a:endParaRPr lang="en-US" sz="2400" dirty="0"/>
          </a:p>
        </p:txBody>
      </p:sp>
      <p:sp>
        <p:nvSpPr>
          <p:cNvPr id="9" name="Shape 5"/>
          <p:cNvSpPr/>
          <p:nvPr/>
        </p:nvSpPr>
        <p:spPr>
          <a:xfrm>
            <a:off x="548640" y="3011315"/>
            <a:ext cx="489204" cy="489204"/>
          </a:xfrm>
          <a:prstGeom prst="ellipse">
            <a:avLst/>
          </a:prstGeom>
          <a:solidFill>
            <a:srgbClr val="1A5C2C"/>
          </a:solidFill>
          <a:ln w="12700">
            <a:solidFill>
              <a:srgbClr val="1A5C2C"/>
            </a:solidFill>
            <a:prstDash val="solid"/>
          </a:ln>
        </p:spPr>
      </p:sp>
      <p:pic>
        <p:nvPicPr>
          <p:cNvPr id="10" name="Image 2" descr="preencoded.png">    </p:cNvPr>
          <p:cNvPicPr>
            <a:picLocks noChangeAspect="1"/>
          </p:cNvPicPr>
          <p:nvPr/>
        </p:nvPicPr>
        <p:blipFill>
          <a:blip r:embed="rId3"/>
          <a:stretch>
            <a:fillRect/>
          </a:stretch>
        </p:blipFill>
        <p:spPr>
          <a:xfrm>
            <a:off x="670941" y="3133616"/>
            <a:ext cx="244602" cy="244602"/>
          </a:xfrm>
          <a:prstGeom prst="rect">
            <a:avLst/>
          </a:prstGeom>
        </p:spPr>
      </p:pic>
      <p:sp>
        <p:nvSpPr>
          <p:cNvPr id="11" name="Text 6"/>
          <p:cNvSpPr txBox="1"/>
          <p:nvPr/>
        </p:nvSpPr>
        <p:spPr>
          <a:xfrm>
            <a:off x="1357884" y="2906486"/>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M · Management Discipline  </a:t>
            </a:r>
            <a:pPr indent="0" marL="0">
              <a:buNone/>
            </a:pPr>
            <a:r>
              <a:rPr lang="en-US" sz="2400" dirty="0">
                <a:solidFill>
                  <a:srgbClr val="1F2A22"/>
                </a:solidFill>
                <a:latin typeface="Calibri" pitchFamily="34" charset="0"/>
                <a:ea typeface="Calibri" pitchFamily="34" charset="-122"/>
                <a:cs typeface="Calibri" pitchFamily="34" charset="-120"/>
              </a:rPr>
              <a:t>→ Governance</a:t>
            </a:r>
            <a:endParaRPr lang="en-US" sz="2400" dirty="0"/>
          </a:p>
        </p:txBody>
      </p:sp>
      <p:sp>
        <p:nvSpPr>
          <p:cNvPr id="12" name="Shape 7"/>
          <p:cNvSpPr/>
          <p:nvPr/>
        </p:nvSpPr>
        <p:spPr>
          <a:xfrm>
            <a:off x="548640" y="3710178"/>
            <a:ext cx="489204" cy="489204"/>
          </a:xfrm>
          <a:prstGeom prst="ellipse">
            <a:avLst/>
          </a:prstGeom>
          <a:solidFill>
            <a:srgbClr val="1A5C2C"/>
          </a:solidFill>
          <a:ln w="12700">
            <a:solidFill>
              <a:srgbClr val="1A5C2C"/>
            </a:solidFill>
            <a:prstDash val="solid"/>
          </a:ln>
        </p:spPr>
      </p:sp>
      <p:pic>
        <p:nvPicPr>
          <p:cNvPr id="13" name="Image 3" descr="preencoded.png">    </p:cNvPr>
          <p:cNvPicPr>
            <a:picLocks noChangeAspect="1"/>
          </p:cNvPicPr>
          <p:nvPr/>
        </p:nvPicPr>
        <p:blipFill>
          <a:blip r:embed="rId4"/>
          <a:stretch>
            <a:fillRect/>
          </a:stretch>
        </p:blipFill>
        <p:spPr>
          <a:xfrm>
            <a:off x="670941" y="3832479"/>
            <a:ext cx="244602" cy="244602"/>
          </a:xfrm>
          <a:prstGeom prst="rect">
            <a:avLst/>
          </a:prstGeom>
        </p:spPr>
      </p:pic>
      <p:sp>
        <p:nvSpPr>
          <p:cNvPr id="14" name="Text 8"/>
          <p:cNvSpPr txBox="1"/>
          <p:nvPr/>
        </p:nvSpPr>
        <p:spPr>
          <a:xfrm>
            <a:off x="1357884" y="3605349"/>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P · People &amp; Capability  </a:t>
            </a:r>
            <a:pPr indent="0" marL="0">
              <a:buNone/>
            </a:pPr>
            <a:r>
              <a:rPr lang="en-US" sz="2400" dirty="0">
                <a:solidFill>
                  <a:srgbClr val="1F2A22"/>
                </a:solidFill>
                <a:latin typeface="Calibri" pitchFamily="34" charset="0"/>
                <a:ea typeface="Calibri" pitchFamily="34" charset="-122"/>
                <a:cs typeface="Calibri" pitchFamily="34" charset="-120"/>
              </a:rPr>
              <a:t>→ Resources</a:t>
            </a:r>
            <a:endParaRPr lang="en-US" sz="2400" dirty="0"/>
          </a:p>
        </p:txBody>
      </p:sp>
      <p:sp>
        <p:nvSpPr>
          <p:cNvPr id="15" name="Shape 9"/>
          <p:cNvSpPr/>
          <p:nvPr/>
        </p:nvSpPr>
        <p:spPr>
          <a:xfrm>
            <a:off x="548640" y="4409041"/>
            <a:ext cx="489204" cy="489204"/>
          </a:xfrm>
          <a:prstGeom prst="ellipse">
            <a:avLst/>
          </a:prstGeom>
          <a:solidFill>
            <a:srgbClr val="1A5C2C"/>
          </a:solidFill>
          <a:ln w="12700">
            <a:solidFill>
              <a:srgbClr val="1A5C2C"/>
            </a:solidFill>
            <a:prstDash val="solid"/>
          </a:ln>
        </p:spPr>
      </p:sp>
      <p:pic>
        <p:nvPicPr>
          <p:cNvPr id="16" name="Image 4" descr="preencoded.png">    </p:cNvPr>
          <p:cNvPicPr>
            <a:picLocks noChangeAspect="1"/>
          </p:cNvPicPr>
          <p:nvPr/>
        </p:nvPicPr>
        <p:blipFill>
          <a:blip r:embed="rId5"/>
          <a:stretch>
            <a:fillRect/>
          </a:stretch>
        </p:blipFill>
        <p:spPr>
          <a:xfrm>
            <a:off x="670941" y="4531342"/>
            <a:ext cx="244602" cy="244602"/>
          </a:xfrm>
          <a:prstGeom prst="rect">
            <a:avLst/>
          </a:prstGeom>
        </p:spPr>
      </p:pic>
      <p:sp>
        <p:nvSpPr>
          <p:cNvPr id="17" name="Text 10"/>
          <p:cNvSpPr txBox="1"/>
          <p:nvPr/>
        </p:nvSpPr>
        <p:spPr>
          <a:xfrm>
            <a:off x="1357884" y="4304211"/>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A · Allocation of Resources  </a:t>
            </a:r>
            <a:pPr indent="0" marL="0">
              <a:buNone/>
            </a:pPr>
            <a:r>
              <a:rPr lang="en-US" sz="2400" dirty="0">
                <a:solidFill>
                  <a:srgbClr val="1F2A22"/>
                </a:solidFill>
                <a:latin typeface="Calibri" pitchFamily="34" charset="0"/>
                <a:ea typeface="Calibri" pitchFamily="34" charset="-122"/>
                <a:cs typeface="Calibri" pitchFamily="34" charset="-120"/>
              </a:rPr>
              <a:t>→ Resources</a:t>
            </a:r>
            <a:endParaRPr lang="en-US" sz="2400" dirty="0"/>
          </a:p>
        </p:txBody>
      </p:sp>
      <p:sp>
        <p:nvSpPr>
          <p:cNvPr id="18" name="Shape 11"/>
          <p:cNvSpPr/>
          <p:nvPr/>
        </p:nvSpPr>
        <p:spPr>
          <a:xfrm>
            <a:off x="548640" y="5107904"/>
            <a:ext cx="489204" cy="489204"/>
          </a:xfrm>
          <a:prstGeom prst="ellipse">
            <a:avLst/>
          </a:prstGeom>
          <a:solidFill>
            <a:srgbClr val="1A5C2C"/>
          </a:solidFill>
          <a:ln w="12700">
            <a:solidFill>
              <a:srgbClr val="1A5C2C"/>
            </a:solidFill>
            <a:prstDash val="solid"/>
          </a:ln>
        </p:spPr>
      </p:sp>
      <p:pic>
        <p:nvPicPr>
          <p:cNvPr id="19" name="Image 5" descr="preencoded.png">    </p:cNvPr>
          <p:cNvPicPr>
            <a:picLocks noChangeAspect="1"/>
          </p:cNvPicPr>
          <p:nvPr/>
        </p:nvPicPr>
        <p:blipFill>
          <a:blip r:embed="rId6"/>
          <a:stretch>
            <a:fillRect/>
          </a:stretch>
        </p:blipFill>
        <p:spPr>
          <a:xfrm>
            <a:off x="670941" y="5230205"/>
            <a:ext cx="244602" cy="244602"/>
          </a:xfrm>
          <a:prstGeom prst="rect">
            <a:avLst/>
          </a:prstGeom>
        </p:spPr>
      </p:pic>
      <p:sp>
        <p:nvSpPr>
          <p:cNvPr id="20" name="Text 12"/>
          <p:cNvSpPr txBox="1"/>
          <p:nvPr/>
        </p:nvSpPr>
        <p:spPr>
          <a:xfrm>
            <a:off x="1357884" y="5003074"/>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S1 · Systems &amp; Execution  </a:t>
            </a:r>
            <a:pPr indent="0" marL="0">
              <a:buNone/>
            </a:pPr>
            <a:r>
              <a:rPr lang="en-US" sz="2400" dirty="0">
                <a:solidFill>
                  <a:srgbClr val="1F2A22"/>
                </a:solidFill>
                <a:latin typeface="Calibri" pitchFamily="34" charset="0"/>
                <a:ea typeface="Calibri" pitchFamily="34" charset="-122"/>
                <a:cs typeface="Calibri" pitchFamily="34" charset="-120"/>
              </a:rPr>
              <a:t>→ Systems</a:t>
            </a:r>
            <a:endParaRPr lang="en-US" sz="2400" dirty="0"/>
          </a:p>
        </p:txBody>
      </p:sp>
      <p:sp>
        <p:nvSpPr>
          <p:cNvPr id="21" name="Shape 13"/>
          <p:cNvSpPr/>
          <p:nvPr/>
        </p:nvSpPr>
        <p:spPr>
          <a:xfrm>
            <a:off x="548640" y="5806767"/>
            <a:ext cx="489204" cy="489204"/>
          </a:xfrm>
          <a:prstGeom prst="ellipse">
            <a:avLst/>
          </a:prstGeom>
          <a:solidFill>
            <a:srgbClr val="C6A24C"/>
          </a:solidFill>
          <a:ln w="12700">
            <a:solidFill>
              <a:srgbClr val="C6A24C"/>
            </a:solidFill>
            <a:prstDash val="solid"/>
          </a:ln>
        </p:spPr>
      </p:sp>
      <p:pic>
        <p:nvPicPr>
          <p:cNvPr id="22" name="Image 6" descr="preencoded.png">    </p:cNvPr>
          <p:cNvPicPr>
            <a:picLocks noChangeAspect="1"/>
          </p:cNvPicPr>
          <p:nvPr/>
        </p:nvPicPr>
        <p:blipFill>
          <a:blip r:embed="rId7"/>
          <a:stretch>
            <a:fillRect/>
          </a:stretch>
        </p:blipFill>
        <p:spPr>
          <a:xfrm>
            <a:off x="670941" y="5929068"/>
            <a:ext cx="244602" cy="244602"/>
          </a:xfrm>
          <a:prstGeom prst="rect">
            <a:avLst/>
          </a:prstGeom>
        </p:spPr>
      </p:pic>
      <p:sp>
        <p:nvSpPr>
          <p:cNvPr id="23" name="Text 14"/>
          <p:cNvSpPr txBox="1"/>
          <p:nvPr/>
        </p:nvSpPr>
        <p:spPr>
          <a:xfrm>
            <a:off x="1357884" y="5701937"/>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S2 · Sensing &amp; Adaptation  </a:t>
            </a:r>
            <a:pPr indent="0" marL="0">
              <a:buNone/>
            </a:pPr>
            <a:r>
              <a:rPr lang="en-US" sz="2400" dirty="0">
                <a:solidFill>
                  <a:srgbClr val="1F2A22"/>
                </a:solidFill>
                <a:latin typeface="Calibri" pitchFamily="34" charset="0"/>
                <a:ea typeface="Calibri" pitchFamily="34" charset="-122"/>
                <a:cs typeface="Calibri" pitchFamily="34" charset="-120"/>
              </a:rPr>
              <a:t>→ Environment + Systems</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4.4–4.5 · The Enterprise ESRG Alignment Agenda</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Individual observation becomes collective intelligence.</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Each leader contributes one ESRG friction observation to a shared, structured agenda.</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Build the Cultural Operating Code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Translate organisational values into observable behavioural norms that support accountable performance.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Commit to applying one norm in the next difficult leadership conversation.</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5.1 · The three value sets: choose one</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A · Governance-Led</a:t>
            </a:r>
            <a:endParaRPr lang="en-US" sz="2600" dirty="0"/>
          </a:p>
        </p:txBody>
      </p:sp>
      <p:sp>
        <p:nvSpPr>
          <p:cNvPr id="7" name="Text 4"/>
          <p:cNvSpPr txBox="1"/>
          <p:nvPr/>
        </p:nvSpPr>
        <p:spPr>
          <a:xfrm>
            <a:off x="777240" y="3575304"/>
            <a:ext cx="3057144" cy="264261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Transparency, Courage, Service, Resilience, Innovation, Stewardship</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B · Performance-Led</a:t>
            </a:r>
            <a:endParaRPr lang="en-US" sz="2600" dirty="0"/>
          </a:p>
        </p:txBody>
      </p:sp>
      <p:sp>
        <p:nvSpPr>
          <p:cNvPr id="12" name="Text 8"/>
          <p:cNvSpPr txBox="1"/>
          <p:nvPr/>
        </p:nvSpPr>
        <p:spPr>
          <a:xfrm>
            <a:off x="4565904" y="3575304"/>
            <a:ext cx="3057144" cy="264261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Trust, Agility, Quality, Ownership, Growth, Inclusion</a:t>
            </a:r>
            <a:endParaRPr lang="en-US" sz="2400" dirty="0"/>
          </a:p>
        </p:txBody>
      </p:sp>
      <p:sp>
        <p:nvSpPr>
          <p:cNvPr id="13" name="Shape 9"/>
          <p:cNvSpPr/>
          <p:nvPr/>
        </p:nvSpPr>
        <p:spPr>
          <a:xfrm>
            <a:off x="8125968" y="1508760"/>
            <a:ext cx="3514344" cy="4846320"/>
          </a:xfrm>
          <a:prstGeom prst="roundRect">
            <a:avLst>
              <a:gd name="adj" fmla="val 2602"/>
            </a:avLst>
          </a:prstGeom>
          <a:solidFill>
            <a:srgbClr val="1A5C2C"/>
          </a:solidFill>
          <a:ln w="12700">
            <a:solidFill>
              <a:srgbClr val="1A5C2C"/>
            </a:solidFill>
            <a:prstDash val="solid"/>
          </a:ln>
        </p:spPr>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C · Purpose-Led</a:t>
            </a:r>
            <a:endParaRPr lang="en-US" sz="2600" dirty="0"/>
          </a:p>
        </p:txBody>
      </p:sp>
      <p:sp>
        <p:nvSpPr>
          <p:cNvPr id="17" name="Text 12"/>
          <p:cNvSpPr txBox="1"/>
          <p:nvPr/>
        </p:nvSpPr>
        <p:spPr>
          <a:xfrm>
            <a:off x="8354568" y="3159252"/>
            <a:ext cx="3057144" cy="30586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Purpose, Integrity, Ubuntu, Excellence, Boldness, Care</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5.2 · Build the COC: three steps per value</a:t>
            </a:r>
            <a:endParaRPr lang="en-US" sz="3600" dirty="0"/>
          </a:p>
        </p:txBody>
      </p:sp>
      <p:sp>
        <p:nvSpPr>
          <p:cNvPr id="3" name="Shape 1"/>
          <p:cNvSpPr/>
          <p:nvPr/>
        </p:nvSpPr>
        <p:spPr>
          <a:xfrm>
            <a:off x="548640" y="2004060"/>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2164080"/>
            <a:ext cx="320040" cy="320040"/>
          </a:xfrm>
          <a:prstGeom prst="rect">
            <a:avLst/>
          </a:prstGeom>
        </p:spPr>
      </p:pic>
      <p:sp>
        <p:nvSpPr>
          <p:cNvPr id="5" name="Text 2"/>
          <p:cNvSpPr txBox="1"/>
          <p:nvPr/>
        </p:nvSpPr>
        <p:spPr>
          <a:xfrm>
            <a:off x="1508760" y="1508760"/>
            <a:ext cx="10131552" cy="16306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Step 1  </a:t>
            </a:r>
            <a:pPr indent="0" marL="0">
              <a:buNone/>
            </a:pPr>
            <a:r>
              <a:rPr lang="en-US" sz="2600" dirty="0">
                <a:solidFill>
                  <a:srgbClr val="1F2A22"/>
                </a:solidFill>
                <a:latin typeface="Calibri" pitchFamily="34" charset="0"/>
                <a:ea typeface="Calibri" pitchFamily="34" charset="-122"/>
                <a:cs typeface="Calibri" pitchFamily="34" charset="-120"/>
              </a:rPr>
              <a:t>Define the behaviour</a:t>
            </a:r>
            <a:endParaRPr lang="en-US" sz="2600" dirty="0"/>
          </a:p>
        </p:txBody>
      </p:sp>
      <p:sp>
        <p:nvSpPr>
          <p:cNvPr id="6" name="Shape 3"/>
          <p:cNvSpPr/>
          <p:nvPr/>
        </p:nvSpPr>
        <p:spPr>
          <a:xfrm>
            <a:off x="548640" y="3634740"/>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3794760"/>
            <a:ext cx="320040" cy="320040"/>
          </a:xfrm>
          <a:prstGeom prst="rect">
            <a:avLst/>
          </a:prstGeom>
        </p:spPr>
      </p:pic>
      <p:sp>
        <p:nvSpPr>
          <p:cNvPr id="8" name="Text 4"/>
          <p:cNvSpPr txBox="1"/>
          <p:nvPr/>
        </p:nvSpPr>
        <p:spPr>
          <a:xfrm>
            <a:off x="1508760" y="3139440"/>
            <a:ext cx="10131552" cy="16306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Step 2  </a:t>
            </a:r>
            <a:pPr indent="0" marL="0">
              <a:buNone/>
            </a:pPr>
            <a:r>
              <a:rPr lang="en-US" sz="2600" dirty="0">
                <a:solidFill>
                  <a:srgbClr val="1F2A22"/>
                </a:solidFill>
                <a:latin typeface="Calibri" pitchFamily="34" charset="0"/>
                <a:ea typeface="Calibri" pitchFamily="34" charset="-122"/>
                <a:cs typeface="Calibri" pitchFamily="34" charset="-120"/>
              </a:rPr>
              <a:t>Build the acronym from three action words</a:t>
            </a:r>
            <a:endParaRPr lang="en-US" sz="2600" dirty="0"/>
          </a:p>
        </p:txBody>
      </p:sp>
      <p:sp>
        <p:nvSpPr>
          <p:cNvPr id="9" name="Shape 5"/>
          <p:cNvSpPr/>
          <p:nvPr/>
        </p:nvSpPr>
        <p:spPr>
          <a:xfrm>
            <a:off x="548640" y="5265420"/>
            <a:ext cx="640080" cy="640080"/>
          </a:xfrm>
          <a:prstGeom prst="ellipse">
            <a:avLst/>
          </a:prstGeom>
          <a:solidFill>
            <a:srgbClr val="C6A24C"/>
          </a:solidFill>
          <a:ln w="12700">
            <a:solidFill>
              <a:srgbClr val="C6A24C"/>
            </a:solidFill>
            <a:prstDash val="solid"/>
          </a:ln>
        </p:spPr>
      </p:sp>
      <p:pic>
        <p:nvPicPr>
          <p:cNvPr id="10" name="Image 2" descr="preencoded.png">    </p:cNvPr>
          <p:cNvPicPr>
            <a:picLocks noChangeAspect="1"/>
          </p:cNvPicPr>
          <p:nvPr/>
        </p:nvPicPr>
        <p:blipFill>
          <a:blip r:embed="rId3"/>
          <a:stretch>
            <a:fillRect/>
          </a:stretch>
        </p:blipFill>
        <p:spPr>
          <a:xfrm>
            <a:off x="708660" y="5425440"/>
            <a:ext cx="320040" cy="320040"/>
          </a:xfrm>
          <a:prstGeom prst="rect">
            <a:avLst/>
          </a:prstGeom>
        </p:spPr>
      </p:pic>
      <p:sp>
        <p:nvSpPr>
          <p:cNvPr id="11" name="Text 6"/>
          <p:cNvSpPr txBox="1"/>
          <p:nvPr/>
        </p:nvSpPr>
        <p:spPr>
          <a:xfrm>
            <a:off x="1508760" y="4770120"/>
            <a:ext cx="10131552" cy="16306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Step 3  </a:t>
            </a:r>
            <a:pPr indent="0" marL="0">
              <a:buNone/>
            </a:pPr>
            <a:r>
              <a:rPr lang="en-US" sz="2600" dirty="0">
                <a:solidFill>
                  <a:srgbClr val="1F2A22"/>
                </a:solidFill>
                <a:latin typeface="Calibri" pitchFamily="34" charset="0"/>
                <a:ea typeface="Calibri" pitchFamily="34" charset="-122"/>
                <a:cs typeface="Calibri" pitchFamily="34" charset="-120"/>
              </a:rPr>
              <a:t>Write the norm statement</a:t>
            </a:r>
            <a:endParaRPr lang="en-US" sz="2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The COC Challenge: three tests</a:t>
            </a:r>
            <a:endParaRPr lang="en-US" sz="3600" dirty="0"/>
          </a:p>
        </p:txBody>
      </p:sp>
      <p:sp>
        <p:nvSpPr>
          <p:cNvPr id="3" name="Shape 1"/>
          <p:cNvSpPr/>
          <p:nvPr/>
        </p:nvSpPr>
        <p:spPr>
          <a:xfrm>
            <a:off x="548640" y="2004060"/>
            <a:ext cx="640080" cy="640080"/>
          </a:xfrm>
          <a:prstGeom prst="ellipse">
            <a:avLst/>
          </a:prstGeom>
          <a:solidFill>
            <a:srgbClr val="1A5C2C"/>
          </a:solidFill>
          <a:ln w="12700">
            <a:solidFill>
              <a:srgbClr val="1A5C2C"/>
            </a:solidFill>
            <a:prstDash val="solid"/>
          </a:ln>
        </p:spPr>
      </p:sp>
      <p:pic>
        <p:nvPicPr>
          <p:cNvPr id="4" name="Image 0" descr="preencoded.png">    </p:cNvPr>
          <p:cNvPicPr>
            <a:picLocks noChangeAspect="1"/>
          </p:cNvPicPr>
          <p:nvPr/>
        </p:nvPicPr>
        <p:blipFill>
          <a:blip r:embed="rId1"/>
          <a:stretch>
            <a:fillRect/>
          </a:stretch>
        </p:blipFill>
        <p:spPr>
          <a:xfrm>
            <a:off x="708660" y="2164080"/>
            <a:ext cx="320040" cy="320040"/>
          </a:xfrm>
          <a:prstGeom prst="rect">
            <a:avLst/>
          </a:prstGeom>
        </p:spPr>
      </p:pic>
      <p:sp>
        <p:nvSpPr>
          <p:cNvPr id="5" name="Text 2"/>
          <p:cNvSpPr txBox="1"/>
          <p:nvPr/>
        </p:nvSpPr>
        <p:spPr>
          <a:xfrm>
            <a:off x="1508760" y="1508760"/>
            <a:ext cx="10131552" cy="16306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Test 1  </a:t>
            </a:r>
            <a:pPr indent="0" marL="0">
              <a:buNone/>
            </a:pPr>
            <a:r>
              <a:rPr lang="en-US" sz="2600" dirty="0">
                <a:solidFill>
                  <a:srgbClr val="1F2A22"/>
                </a:solidFill>
                <a:latin typeface="Calibri" pitchFamily="34" charset="0"/>
                <a:ea typeface="Calibri" pitchFamily="34" charset="-122"/>
                <a:cs typeface="Calibri" pitchFamily="34" charset="-120"/>
              </a:rPr>
              <a:t>The New Employee Test</a:t>
            </a:r>
            <a:endParaRPr lang="en-US" sz="2600" dirty="0"/>
          </a:p>
        </p:txBody>
      </p:sp>
      <p:sp>
        <p:nvSpPr>
          <p:cNvPr id="6" name="Shape 3"/>
          <p:cNvSpPr/>
          <p:nvPr/>
        </p:nvSpPr>
        <p:spPr>
          <a:xfrm>
            <a:off x="548640" y="3634740"/>
            <a:ext cx="640080" cy="640080"/>
          </a:xfrm>
          <a:prstGeom prst="ellipse">
            <a:avLst/>
          </a:prstGeom>
          <a:solidFill>
            <a:srgbClr val="1A5C2C"/>
          </a:solidFill>
          <a:ln w="12700">
            <a:solidFill>
              <a:srgbClr val="1A5C2C"/>
            </a:solidFill>
            <a:prstDash val="solid"/>
          </a:ln>
        </p:spPr>
      </p:sp>
      <p:pic>
        <p:nvPicPr>
          <p:cNvPr id="7" name="Image 1" descr="preencoded.png">    </p:cNvPr>
          <p:cNvPicPr>
            <a:picLocks noChangeAspect="1"/>
          </p:cNvPicPr>
          <p:nvPr/>
        </p:nvPicPr>
        <p:blipFill>
          <a:blip r:embed="rId2"/>
          <a:stretch>
            <a:fillRect/>
          </a:stretch>
        </p:blipFill>
        <p:spPr>
          <a:xfrm>
            <a:off x="708660" y="3794760"/>
            <a:ext cx="320040" cy="320040"/>
          </a:xfrm>
          <a:prstGeom prst="rect">
            <a:avLst/>
          </a:prstGeom>
        </p:spPr>
      </p:pic>
      <p:sp>
        <p:nvSpPr>
          <p:cNvPr id="8" name="Text 4"/>
          <p:cNvSpPr txBox="1"/>
          <p:nvPr/>
        </p:nvSpPr>
        <p:spPr>
          <a:xfrm>
            <a:off x="1508760" y="3139440"/>
            <a:ext cx="10131552" cy="16306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Test 2  </a:t>
            </a:r>
            <a:pPr indent="0" marL="0">
              <a:buNone/>
            </a:pPr>
            <a:r>
              <a:rPr lang="en-US" sz="2600" dirty="0">
                <a:solidFill>
                  <a:srgbClr val="1F2A22"/>
                </a:solidFill>
                <a:latin typeface="Calibri" pitchFamily="34" charset="0"/>
                <a:ea typeface="Calibri" pitchFamily="34" charset="-122"/>
                <a:cs typeface="Calibri" pitchFamily="34" charset="-120"/>
              </a:rPr>
              <a:t>The Pressure Test</a:t>
            </a:r>
            <a:endParaRPr lang="en-US" sz="2600" dirty="0"/>
          </a:p>
        </p:txBody>
      </p:sp>
      <p:sp>
        <p:nvSpPr>
          <p:cNvPr id="9" name="Shape 5"/>
          <p:cNvSpPr/>
          <p:nvPr/>
        </p:nvSpPr>
        <p:spPr>
          <a:xfrm>
            <a:off x="548640" y="5265420"/>
            <a:ext cx="640080" cy="640080"/>
          </a:xfrm>
          <a:prstGeom prst="ellipse">
            <a:avLst/>
          </a:prstGeom>
          <a:solidFill>
            <a:srgbClr val="C6A24C"/>
          </a:solidFill>
          <a:ln w="12700">
            <a:solidFill>
              <a:srgbClr val="C6A24C"/>
            </a:solidFill>
            <a:prstDash val="solid"/>
          </a:ln>
        </p:spPr>
      </p:sp>
      <p:pic>
        <p:nvPicPr>
          <p:cNvPr id="10" name="Image 2" descr="preencoded.png">    </p:cNvPr>
          <p:cNvPicPr>
            <a:picLocks noChangeAspect="1"/>
          </p:cNvPicPr>
          <p:nvPr/>
        </p:nvPicPr>
        <p:blipFill>
          <a:blip r:embed="rId3"/>
          <a:stretch>
            <a:fillRect/>
          </a:stretch>
        </p:blipFill>
        <p:spPr>
          <a:xfrm>
            <a:off x="708660" y="5425440"/>
            <a:ext cx="320040" cy="320040"/>
          </a:xfrm>
          <a:prstGeom prst="rect">
            <a:avLst/>
          </a:prstGeom>
        </p:spPr>
      </p:pic>
      <p:sp>
        <p:nvSpPr>
          <p:cNvPr id="11" name="Text 6"/>
          <p:cNvSpPr txBox="1"/>
          <p:nvPr/>
        </p:nvSpPr>
        <p:spPr>
          <a:xfrm>
            <a:off x="1508760" y="4770120"/>
            <a:ext cx="10131552" cy="163068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Test 3  </a:t>
            </a:r>
            <a:pPr indent="0" marL="0">
              <a:buNone/>
            </a:pPr>
            <a:r>
              <a:rPr lang="en-US" sz="2600" dirty="0">
                <a:solidFill>
                  <a:srgbClr val="1F2A22"/>
                </a:solidFill>
                <a:latin typeface="Calibri" pitchFamily="34" charset="0"/>
                <a:ea typeface="Calibri" pitchFamily="34" charset="-122"/>
                <a:cs typeface="Calibri" pitchFamily="34" charset="-120"/>
              </a:rPr>
              <a:t>The Mirror Test</a:t>
            </a:r>
            <a:endParaRPr lang="en-US" sz="2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5.3 · Exercise output</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Three draft norms</a:t>
            </a:r>
            <a:endParaRPr lang="en-US" sz="2600" dirty="0"/>
          </a:p>
        </p:txBody>
      </p:sp>
      <p:sp>
        <p:nvSpPr>
          <p:cNvPr id="7" name="Text 4"/>
          <p:cNvSpPr txBox="1"/>
          <p:nvPr/>
        </p:nvSpPr>
        <p:spPr>
          <a:xfrm>
            <a:off x="777240" y="3159252"/>
            <a:ext cx="3057144" cy="30586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Named, acronym-based, observable</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One test commitment</a:t>
            </a:r>
            <a:endParaRPr lang="en-US" sz="2600" dirty="0"/>
          </a:p>
        </p:txBody>
      </p:sp>
      <p:sp>
        <p:nvSpPr>
          <p:cNvPr id="12" name="Text 8"/>
          <p:cNvSpPr txBox="1"/>
          <p:nvPr/>
        </p:nvSpPr>
        <p:spPr>
          <a:xfrm>
            <a:off x="4565904" y="3575304"/>
            <a:ext cx="3057144" cy="264261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norm for your next difficult conversation</a:t>
            </a:r>
            <a:endParaRPr lang="en-US" sz="2400" dirty="0"/>
          </a:p>
        </p:txBody>
      </p:sp>
      <p:sp>
        <p:nvSpPr>
          <p:cNvPr id="13" name="Shape 9"/>
          <p:cNvSpPr/>
          <p:nvPr/>
        </p:nvSpPr>
        <p:spPr>
          <a:xfrm>
            <a:off x="8125968" y="1508760"/>
            <a:ext cx="3514344" cy="4846320"/>
          </a:xfrm>
          <a:prstGeom prst="roundRect">
            <a:avLst>
              <a:gd name="adj" fmla="val 2602"/>
            </a:avLst>
          </a:prstGeom>
          <a:solidFill>
            <a:srgbClr val="1A5C2C"/>
          </a:solidFill>
          <a:ln w="12700">
            <a:solidFill>
              <a:srgbClr val="1A5C2C"/>
            </a:solidFill>
            <a:prstDash val="solid"/>
          </a:ln>
        </p:spPr>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A review date</a:t>
            </a:r>
            <a:endParaRPr lang="en-US" sz="2600" dirty="0"/>
          </a:p>
        </p:txBody>
      </p:sp>
      <p:sp>
        <p:nvSpPr>
          <p:cNvPr id="17" name="Text 12"/>
          <p:cNvSpPr txBox="1"/>
          <p:nvPr/>
        </p:nvSpPr>
        <p:spPr>
          <a:xfrm>
            <a:off x="8354568" y="3159252"/>
            <a:ext cx="3057144" cy="30586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Take the draft COC to your team</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Unit Summary · Closing</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Name one ESRG condition that has been misaligned for more than two quarters.</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“What has that misalignment actually cost in strategic momentum? And what is the real reason it has not been restored?”</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10 · ESRG Alignment</dc:title>
  <dc:subject>PptxGenJS Presentation</dc:subject>
  <dc:creator>Institute of Behavioural Strategy &amp; Leadership</dc:creator>
  <cp:lastModifiedBy>Institute of Behavioural Strategy &amp; Leadership</cp:lastModifiedBy>
  <cp:revision>1</cp:revision>
  <dcterms:created xsi:type="dcterms:W3CDTF">2026-09-29T13:20:45Z</dcterms:created>
  <dcterms:modified xsi:type="dcterms:W3CDTF">2026-09-29T13:20:45Z</dcterms:modified>
</cp:coreProperties>
</file>