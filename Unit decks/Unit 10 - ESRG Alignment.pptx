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10 · ESRG ALIGNMENT</a:t>
            </a:r>
            <a:endParaRPr lang="en-US" dirty="0"/>
          </a:p>
          <a:p>
            <a:r>
              <a:t>Module 4 · Grounding · Unit 10</a:t>
            </a:r>
          </a:p>
          <a:p>
            <a:r>
              <a:t/>
            </a:r>
          </a:p>
          <a:p>
            <a:r>
              <a:rPr b="1"/>
              <a:t>HOW TO TEACH IT:</a:t>
            </a:r>
          </a:p>
          <a:p>
            <a:r>
              <a:t/>
            </a:r>
          </a:p>
          <a:p>
            <a:r>
              <a:rPr b="1"/>
              <a:t>1. Place the unit in Module 4.</a:t>
            </a:r>
          </a:p>
          <a:p>
            <a:r>
              <a:rPr b="1"/>
              <a:t>Say:</a:t>
            </a:r>
            <a:r>
              <a:t> "Module 4 is Grounding, the third pillar of DIG. Grounding establishes the organisational capabilities and healthy operating status required to anchor and sustain strategic performance. It considers how the enterprise is configured to deliver results, the organisational health that sustains performance, and how both are leveraged over time."</a:t>
            </a:r>
          </a:p>
          <a:p>
            <a:r>
              <a:t/>
            </a:r>
          </a:p>
          <a:p>
            <a:r>
              <a:rPr b="1"/>
              <a:t>2. Show the Grounding journey.</a:t>
            </a:r>
          </a:p>
          <a:p>
            <a:r>
              <a:rPr b="1"/>
              <a:t>Say:</a:t>
            </a:r>
            <a:r>
              <a:t> "The module has three units. Unit 10, ESRG Alignment, works on the organisational operating environment. Unit 11, Culture Reinforcement &amp; Organisational Health, works on culture. Unit 12, Sustaining Performance, leverages both to sustain high performance."</a:t>
            </a:r>
          </a:p>
          <a:p>
            <a:r>
              <a:t/>
            </a:r>
          </a:p>
          <a:p>
            <a:r>
              <a:rPr b="1"/>
              <a:t>3. Name the four module learning outcomes.</a:t>
            </a:r>
          </a:p>
          <a:p>
            <a:r>
              <a:rPr b="1"/>
              <a:t>Say:</a:t>
            </a:r>
            <a:r>
              <a:t> "By the end of Module 4 you will be able to:</a:t>
            </a:r>
          </a:p>
          <a:p>
            <a:r>
              <a:t>- configure organisational operating conditions to support strategic priorities and enable consistent enterprise performance;</a:t>
            </a:r>
          </a:p>
          <a:p>
            <a:r>
              <a:t>- shape organisational culture by establishing and embedding the conditions and practices that strengthen organisational health;</a:t>
            </a:r>
          </a:p>
          <a:p>
            <a:r>
              <a:t>- integrate organisational capabilities and cultural practices into a coherent operating environment that supports sustained high performance;</a:t>
            </a:r>
          </a:p>
          <a:p>
            <a:r>
              <a:t>- institutionalise organisational performance sustainability through mechanisms that preserve strategic alignment, strengthen adaptability and maintain performance continuity."</a:t>
            </a:r>
          </a:p>
          <a:p>
            <a:r>
              <a:t/>
            </a:r>
          </a:p>
          <a:p>
            <a:r>
              <a:rPr b="1"/>
              <a:t>4. Set the question of this unit, on the slide.</a:t>
            </a:r>
          </a:p>
          <a:p>
            <a:r>
              <a:rPr b="1"/>
              <a:t>Say:</a:t>
            </a:r>
            <a:r>
              <a:t> "Unit 10 works on the organisational operating environment. The question for this unit is on the slide: can our operating conditions carry this commitment, and where must we build capability?"</a:t>
            </a:r>
          </a:p>
          <a:p>
            <a:r>
              <a:rPr b="1"/>
              <a:t>Deepen, say:</a:t>
            </a:r>
            <a:r>
              <a:t> "Organisations that keep pursuing growth without repairing their foundations eventually exhaust themselves. Sustainable strategy restores the core capabilities and values that support long-term performance."</a:t>
            </a:r>
          </a:p>
          <a:p>
            <a:r>
              <a:t>(Insight: Foundations first. Source: Journal, 24 July 2026 — Professional Insights: Strategy)</a:t>
            </a:r>
          </a:p>
          <a:p>
            <a:r>
              <a:t/>
            </a:r>
          </a:p>
          <a:p>
            <a:r>
              <a:rPr b="1"/>
              <a:t>5. Bridge to the outcomes.</a:t>
            </a:r>
          </a:p>
          <a:p>
            <a:r>
              <a:rPr b="1"/>
              <a:t>Say:</a:t>
            </a:r>
            <a:r>
              <a:t> "Let us look at what you will be able to do by the end of this unit."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LEARNING OUTCOMES</a:t>
            </a:r>
            <a:endParaRPr lang="en-US" dirty="0"/>
          </a:p>
          <a:p>
            <a:r>
              <a:t/>
            </a:r>
          </a:p>
          <a:p>
            <a:r>
              <a:rPr b="1"/>
              <a:t>HOW TO USE THIS SLIDE:</a:t>
            </a:r>
          </a:p>
          <a:p>
            <a:r>
              <a:t/>
            </a:r>
          </a:p>
          <a:p>
            <a:r>
              <a:rPr b="1"/>
              <a:t>1. Read the two outcomes aloud.</a:t>
            </a:r>
          </a:p>
          <a:p>
            <a:r>
              <a:rPr b="1"/>
              <a:t>Say:</a:t>
            </a:r>
            <a:r>
              <a:t> "By the end of Unit 10 you will be able to:</a:t>
            </a:r>
          </a:p>
          <a:p>
            <a:r>
              <a:t>1. Design an ESRG-aligned organisational operating environment by establishing the Environment, Systems, Resources and Governance requirements necessary to deliver strategic commitments.</a:t>
            </a:r>
          </a:p>
          <a:p>
            <a:r>
              <a:t>2. Develop targeted organisational alignment interventions that address operating constraints and strengthen the organisation's capacity for consistent strategic delivery."</a:t>
            </a:r>
          </a:p>
          <a:p>
            <a:r>
              <a:t/>
            </a:r>
          </a:p>
          <a:p>
            <a:r>
              <a:rPr b="1"/>
              <a:t>2. Say where the unit delivers each outcome.</a:t>
            </a:r>
          </a:p>
          <a:p>
            <a:r>
              <a:rPr b="1"/>
              <a:t>Say:</a:t>
            </a:r>
            <a:r>
              <a:t> "The first outcome is built in Sections 1 and 2. In Section 1 you specify what each ESRG domain must provide for one strategic commitment. In Section 2 you score how well your operating conditions provide it.</a:t>
            </a:r>
          </a:p>
          <a:p>
            <a:r>
              <a:t>The second outcome is built in Sections 3, 4 and 5. Section 3 shows how executive decisions distort operating conditions. Section 4 brings the functional assessments together into one executive view. In Section 5 your capstone executive team agrees its responses and turns them into an ESRG Alignment Intervention Plan."</a:t>
            </a:r>
          </a:p>
          <a:p>
            <a:r>
              <a:t/>
            </a:r>
          </a:p>
          <a:p>
            <a:r>
              <a:rPr b="1"/>
              <a:t>3. Bridge to the unit journey.</a:t>
            </a:r>
          </a:p>
          <a:p>
            <a:r>
              <a:rPr b="1"/>
              <a:t>Say:</a:t>
            </a:r>
            <a:r>
              <a:t> "Here is how the five sections take you there."</a:t>
            </a:r>
          </a:p>
          <a:p>
            <a:r>
              <a:t/>
            </a:r>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THE UNIT JOURNEY</a:t>
            </a:r>
            <a:endParaRPr lang="en-US" dirty="0"/>
          </a:p>
          <a:p>
            <a:r>
              <a:t/>
            </a:r>
          </a:p>
          <a:p>
            <a:r>
              <a:rPr b="1"/>
              <a:t>HOW TO USE THIS SLIDE:</a:t>
            </a:r>
          </a:p>
          <a:p>
            <a:r>
              <a:t/>
            </a:r>
          </a:p>
          <a:p>
            <a:r>
              <a:rPr b="1"/>
              <a:t>1. Walk the five sections.</a:t>
            </a:r>
          </a:p>
          <a:p>
            <a:r>
              <a:rPr b="1"/>
              <a:t>Say:</a:t>
            </a:r>
            <a:r>
              <a:t> "Section 1, Awareness, asks what: you specify the organisational capability one strategic commitment requires, domain by domain.</a:t>
            </a:r>
          </a:p>
          <a:p>
            <a:r>
              <a:t>Section 2, Intelligence, asks why: the four execution-enabling capabilities, and a scanner that profiles how well a function's operating conditions support its strategic commitments.</a:t>
            </a:r>
          </a:p>
          <a:p>
            <a:r>
              <a:t>Section 3, Extrapolating, asks where: how executive assumptions, functional priorities and decision-making practices influence operating conditions, create execution constraints and affect strategic performance.</a:t>
            </a:r>
          </a:p>
          <a:p>
            <a:r>
              <a:t>Section 4, Integration, is collective: you combine functional operating assessments into a shared executive understanding of common conditions, differences between functions and the dependencies that determine strategic delivery.</a:t>
            </a:r>
          </a:p>
          <a:p>
            <a:r>
              <a:t>Section 5, Application, is in practice: your capstone executive team moves from individual functional assessments to enterprise intelligence, collective responses and implementable operating interventions."</a:t>
            </a:r>
          </a:p>
          <a:p>
            <a:r>
              <a:t/>
            </a:r>
          </a:p>
          <a:p>
            <a:r>
              <a:rPr b="1"/>
              <a:t>2. Anchor the unit in one strategic commitment.</a:t>
            </a:r>
          </a:p>
          <a:p>
            <a:r>
              <a:rPr b="1"/>
              <a:t>Say:</a:t>
            </a:r>
            <a:r>
              <a:t> "We anchor the whole unit in one strategic commitment from your capstone work. The question each time is whether the enterprise operating environment can carry the demands of that commitment. We move from the required condition, to the observed evidence, to the organisational adjustment needed. We keep the same commitment from Section 1 to Section 5."</a:t>
            </a:r>
          </a:p>
          <a:p>
            <a:r>
              <a:t/>
            </a:r>
          </a:p>
          <a:p>
            <a:r>
              <a:rPr b="1"/>
              <a:t>3. Keep the pace in mind as you teach.</a:t>
            </a:r>
          </a:p>
          <a:p>
            <a:r>
              <a:t>Keep Awareness focused on establishing the operating requirements. Deeper evidence testing belongs in Intelligence, causal diagnosis in Extrapolating, cross-functional reconciliation in Integration and intervention design in Application. Avoid building a general-purpose audit of every ESRG component.</a:t>
            </a:r>
          </a:p>
          <a:p>
            <a:r>
              <a:t/>
            </a:r>
          </a:p>
          <a:p>
            <a:r>
              <a:rPr b="1"/>
              <a:t>4. Bridge to Section 1.</a:t>
            </a:r>
          </a:p>
          <a:p>
            <a:r>
              <a:rPr b="1"/>
              <a:t>Say:</a:t>
            </a:r>
            <a:r>
              <a:t> "We start with the requirement: what must be in place for a strategic commitment to be delivered."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 AWARENESS — WHAT</a:t>
            </a:r>
            <a:endParaRPr lang="en-US" dirty="0"/>
          </a:p>
          <a:p>
            <a:r>
              <a:t>What operating conditions must support strategic delivery?</a:t>
            </a:r>
          </a:p>
          <a:p>
            <a:r>
              <a:t/>
            </a:r>
          </a:p>
          <a:p>
            <a:r>
              <a:rPr b="1"/>
              <a:t>HOW THIS SECTION RUNS:</a:t>
            </a:r>
          </a:p>
          <a:p>
            <a:r>
              <a:t>1. The Grounding question: one strategic commitment and what must be in place to deliver it.</a:t>
            </a:r>
          </a:p>
          <a:p>
            <a:r>
              <a:t>2. ESRG Alignment and Strategic Unclogging: when to use each.</a:t>
            </a:r>
          </a:p>
          <a:p>
            <a:r>
              <a:t>3. 1.1 to 1.4: the four ESRG domains, each with its three components, its diagnostic question and an illustration: Environment (FIT), Systems (SIP), Resources (AIR), Governance (PAR).</a:t>
            </a:r>
          </a:p>
          <a:p>
            <a:r>
              <a:t/>
            </a:r>
          </a:p>
          <a:p>
            <a:r>
              <a:rPr b="1"/>
              <a:t>HOW TO OPEN THE SECTION:</a:t>
            </a:r>
          </a:p>
          <a:p>
            <a:r>
              <a:t/>
            </a:r>
          </a:p>
          <a:p>
            <a:r>
              <a:rPr b="1"/>
              <a:t>1. State the section intent.</a:t>
            </a:r>
          </a:p>
          <a:p>
            <a:r>
              <a:rPr b="1"/>
              <a:t>Say:</a:t>
            </a:r>
            <a:r>
              <a:t> "This section specifies the organisational capability one strategic commitment requires, domain by domain. Here we define and locate the requirements. Testing the evidence behind them follows in Section 2."</a:t>
            </a:r>
          </a:p>
          <a:p>
            <a:r>
              <a:t/>
            </a:r>
          </a:p>
          <a:p>
            <a:r>
              <a:rPr b="1"/>
              <a:t>2. Read the two section learning outcomes from the slide.</a:t>
            </a:r>
          </a:p>
          <a:p>
            <a:r>
              <a:rPr b="1"/>
              <a:t>SECTION LEARNING OUTCOMES:</a:t>
            </a:r>
          </a:p>
          <a:p>
            <a:r>
              <a:t>1. Specify the essential organisational operating requirements associated with a selected strategic commitment.</a:t>
            </a:r>
          </a:p>
          <a:p>
            <a:r>
              <a:t>2. Assign each requirement to the appropriate ESRG domain and component, explaining its direct contribution to the intended result.</a:t>
            </a:r>
          </a:p>
          <a:p>
            <a:r>
              <a:t/>
            </a:r>
          </a:p>
          <a:p>
            <a:r>
              <a:rPr b="1"/>
              <a:t>3. Bridge to the Grounding question.</a:t>
            </a:r>
          </a:p>
          <a:p>
            <a:r>
              <a:rPr b="1"/>
              <a:t>Say:</a:t>
            </a:r>
            <a:r>
              <a:t> "Every requirement starts from a commitment. Let us take 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THE GROUNDING QUESTION</a:t>
            </a:r>
            <a:endParaRPr lang="en-US" dirty="0"/>
          </a:p>
          <a:p>
            <a:r>
              <a:t/>
            </a:r>
          </a:p>
          <a:p>
            <a:r>
              <a:rPr b="1"/>
              <a:t>HOW TO TEACH IT:</a:t>
            </a:r>
          </a:p>
          <a:p>
            <a:r>
              <a:t/>
            </a:r>
          </a:p>
          <a:p>
            <a:r>
              <a:rPr b="1"/>
              <a:t>1. Say what a strategy asks of the organisation.</a:t>
            </a:r>
          </a:p>
          <a:p>
            <a:r>
              <a:rPr b="1"/>
              <a:t>Say:</a:t>
            </a:r>
            <a:r>
              <a:t> "A strategy places demands on the organisation's operating environment. You met ESRG in Unit 6 as the organisational operating system: Environment, FIT; Systems, SIP; Resources, AIR; Governance, PAR. Each domain has three components. Unit 10 uses ESRG to develop the organisational capability that grounds performance."</a:t>
            </a:r>
          </a:p>
          <a:p>
            <a:r>
              <a:rPr b="1"/>
              <a:t>Deepen, say:</a:t>
            </a:r>
            <a:r>
              <a:t> "A vision remains fragile when responsibilities are unclear, resources are poorly managed and essential activities depend on a few individuals. Strong strategy asks what capabilities, roles, resources and operating rhythms will make the achievement possible. Many organisations fail because the supporting system was never designed."</a:t>
            </a:r>
          </a:p>
          <a:p>
            <a:r>
              <a:t>(Insight: Strategy becomes structure. Source: Journal, 10 July 2026 — Professional Insights: Strategy)</a:t>
            </a:r>
          </a:p>
          <a:p>
            <a:r>
              <a:t/>
            </a:r>
          </a:p>
          <a:p>
            <a:r>
              <a:rPr b="1"/>
              <a:t>2. Start from one strategic commitment.</a:t>
            </a:r>
          </a:p>
          <a:p>
            <a:r>
              <a:rPr b="1"/>
              <a:t>Say:</a:t>
            </a:r>
            <a:r>
              <a:t> "This section starts with one strategic commitment from your group's capstone work. We ask which components its delivery depends on, and what each of those components must provide for the result to be delivered."</a:t>
            </a:r>
          </a:p>
          <a:p>
            <a:r>
              <a:t/>
            </a:r>
          </a:p>
          <a:p>
            <a:r>
              <a:rPr b="1"/>
              <a:t>3. Ask the Grounding question, on the slide.</a:t>
            </a:r>
          </a:p>
          <a:p>
            <a:r>
              <a:rPr b="1"/>
              <a:t>Ask:</a:t>
            </a:r>
            <a:r>
              <a:t> "What must be in place within the organisation for this result to be delivered?"</a:t>
            </a:r>
          </a:p>
          <a:p>
            <a:r>
              <a:t>Take two or three commitments from the room and the requirements each group names.</a:t>
            </a:r>
          </a:p>
          <a:p>
            <a:r>
              <a:rPr b="1"/>
              <a:t>Listen for:</a:t>
            </a:r>
            <a:r>
              <a:t> requirements that materially affect the chosen commitment, each one placed in a domain. Keep the room to the requirements that matter for this commitment.</a:t>
            </a:r>
          </a:p>
          <a:p>
            <a:r>
              <a:t/>
            </a:r>
          </a:p>
          <a:p>
            <a:r>
              <a:rPr b="1"/>
              <a:t>4. Bridge to the next slide.</a:t>
            </a:r>
          </a:p>
          <a:p>
            <a:r>
              <a:rPr b="1"/>
              <a:t>Say:</a:t>
            </a:r>
            <a:r>
              <a:t> "In Unit 9 you cleared clogs with Strategic Unclogging. Before we work through the domains, let us be clear when you use that discipline and when you use ESRG Alignment."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ESRG ALIGNMENT AND STRATEGIC UNCLOGGING: WHEN TO USE EACH</a:t>
            </a:r>
            <a:endParaRPr lang="en-US" dirty="0"/>
          </a:p>
          <a:p>
            <a:r>
              <a:t/>
            </a:r>
          </a:p>
          <a:p>
            <a:r>
              <a:rPr b="1"/>
              <a:t>HOW TO TEACH IT:</a:t>
            </a:r>
          </a:p>
          <a:p>
            <a:r>
              <a:t/>
            </a:r>
          </a:p>
          <a:p>
            <a:r>
              <a:rPr b="1"/>
              <a:t>1. Recall Strategic Unclogging from Unit 9.</a:t>
            </a:r>
          </a:p>
          <a:p>
            <a:r>
              <a:rPr b="1"/>
              <a:t>Say:</a:t>
            </a:r>
            <a:r>
              <a:t> "In Unit 9 you used Strategic Unclogging to clear clogs: blockages that slow a Key Result already in execution. You read each clog through its performance outcome, the behaviour around it and the condition behind it, across people performance and organisational performance. You cleared it with a Strategic Unclogging Lever and the Review–Realign–Restore cycle."</a:t>
            </a:r>
          </a:p>
          <a:p>
            <a:r>
              <a:t/>
            </a:r>
          </a:p>
          <a:p>
            <a:r>
              <a:rPr b="1"/>
              <a:t>2. Say what ESRG Alignment works on.</a:t>
            </a:r>
          </a:p>
          <a:p>
            <a:r>
              <a:rPr b="1"/>
              <a:t>Say:</a:t>
            </a:r>
            <a:r>
              <a:t> "ESRG Alignment works on the organisational operating conditions themselves. It starts from a strategic commitment and the demand that commitment places on the Environment, Systems, Resources and Governance. Its purpose is to build the organisational capability that carries the strategy. Leaders specify the conditions before demand arrives, score them on a fixed schedule and strengthen them through targeted organisational alignment interventions."</a:t>
            </a:r>
          </a:p>
          <a:p>
            <a:r>
              <a:t/>
            </a:r>
          </a:p>
          <a:p>
            <a:r>
              <a:rPr b="1"/>
              <a:t>3. Compare the two, row by row, using the two columns on the slide.</a:t>
            </a:r>
          </a:p>
          <a:p>
            <a:r>
              <a:rPr b="1"/>
              <a:t>Say:</a:t>
            </a:r>
            <a:r>
              <a:t> "Use it when. Strategic Unclogging: a Key Result is slowing and friction signals show in results or behaviour. ESRG Alignment: a strategic commitment is approved, launched or scaled, and at each annual baseline and quarterly recalibration.</a:t>
            </a:r>
          </a:p>
          <a:p>
            <a:r>
              <a:t>The question it answers. Strategic Unclogging: what is blocking this result, and how do we clear it? ESRG Alignment: can our operating conditions carry this commitment, and where must we build capability?</a:t>
            </a:r>
          </a:p>
          <a:p>
            <a:r>
              <a:t>What it covers. Strategic Unclogging: people performance and organisational performance. ESRG Alignment: the organisational operating conditions, ESRG.</a:t>
            </a:r>
          </a:p>
          <a:p>
            <a:r>
              <a:t>The leaders' response. Strategic Unclogging: select an Unclogging Lever and run Review–Realign–Restore. ESRG Alignment: coordinate, reconcile or align, and design targeted organisational alignment interventions."</a:t>
            </a:r>
          </a:p>
          <a:p>
            <a:r>
              <a:t/>
            </a:r>
          </a:p>
          <a:p>
            <a:r>
              <a:rPr b="1"/>
              <a:t>4. Show how the two disciplines feed each other.</a:t>
            </a:r>
          </a:p>
          <a:p>
            <a:r>
              <a:rPr b="1"/>
              <a:t>Say:</a:t>
            </a:r>
            <a:r>
              <a:t> "They feed each other in three ways. A clog traced to an organisational condition becomes an ESRG component to score and strengthen. Recurring clogs in the same component show a capability gap the next annual baseline must address. A component that scores low at a quarterly recalibration shows leaders where clogs are likely to form, so they can act before Key Results slow."</a:t>
            </a:r>
          </a:p>
          <a:p>
            <a:r>
              <a:t/>
            </a:r>
          </a:p>
          <a:p>
            <a:r>
              <a:rPr b="1"/>
              <a:t>5. Give the illustration.</a:t>
            </a:r>
          </a:p>
          <a:p>
            <a:r>
              <a:rPr b="1"/>
              <a:t>Say:</a:t>
            </a:r>
            <a:r>
              <a:t> "A service team's response-time Key Result slips for three weeks because cases wait between the sales and operations platforms. Strategic Unclogging clears the backlog: leaders realign the handover and restore the response time. At the next recalibration, ESRG Alignment shows the same low Integration score in three functions. The executive team then agrees a shared integration requirement so the clog does not return."</a:t>
            </a:r>
          </a:p>
          <a:p>
            <a:r>
              <a:rPr b="1"/>
              <a:t>Ask:</a:t>
            </a:r>
            <a:r>
              <a:t> "In your own organisation, which recurring clog points to an operating condition that has never been strengthened?"</a:t>
            </a:r>
          </a:p>
          <a:p>
            <a:r>
              <a:rPr b="1"/>
              <a:t>Listen for:</a:t>
            </a:r>
            <a:r>
              <a:t> the same delay, handover or approval returning after it was cleared.</a:t>
            </a:r>
          </a:p>
          <a:p>
            <a:r>
              <a:t/>
            </a:r>
          </a:p>
          <a:p>
            <a:r>
              <a:rPr b="1"/>
              <a:t>6. Bridge to 1.1.</a:t>
            </a:r>
          </a:p>
          <a:p>
            <a:r>
              <a:rPr b="1"/>
              <a:t>Say:</a:t>
            </a:r>
            <a:r>
              <a:t> "Let us now work through the four domains, starting with the setting in which work takes place: the Environment."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1.1 — ENVIRONMENT | FIT</a:t>
            </a:r>
            <a:endParaRPr lang="en-US" dirty="0"/>
          </a:p>
          <a:p>
            <a:r>
              <a:t/>
            </a:r>
          </a:p>
          <a:p>
            <a:r>
              <a:rPr b="1"/>
              <a:t>HOW TO TEACH IT:</a:t>
            </a:r>
          </a:p>
          <a:p>
            <a:r>
              <a:t/>
            </a:r>
          </a:p>
          <a:p>
            <a:r>
              <a:rPr b="1"/>
              <a:t>1. Define the domain.</a:t>
            </a:r>
          </a:p>
          <a:p>
            <a:r>
              <a:rPr b="1"/>
              <a:t>Say:</a:t>
            </a:r>
            <a:r>
              <a:t> "Environment concerns the suitability and reliability of the physical and technological setting in which organisational operations take place. Its three components spell FIT."</a:t>
            </a:r>
          </a:p>
          <a:p>
            <a:r>
              <a:t/>
            </a:r>
          </a:p>
          <a:p>
            <a:r>
              <a:rPr b="1"/>
              <a:t>2. Walk the three components on the slide.</a:t>
            </a:r>
          </a:p>
          <a:p>
            <a:r>
              <a:rPr b="1"/>
              <a:t>Say:</a:t>
            </a:r>
            <a:r>
              <a:t> "F, Facilities: whether operating locations and physical facilities are functional and suited to the planned activity.</a:t>
            </a:r>
          </a:p>
          <a:p>
            <a:r>
              <a:t>I, Infrastructure: whether essential utilities, connectivity and supporting infrastructure can reliably carry operational demand.</a:t>
            </a:r>
          </a:p>
          <a:p>
            <a:r>
              <a:t>T, Technology: whether the technological operating environment is available, reliable and fit for the required activity."</a:t>
            </a:r>
          </a:p>
          <a:p>
            <a:r>
              <a:t/>
            </a:r>
          </a:p>
          <a:p>
            <a:r>
              <a:rPr b="1"/>
              <a:t>3. Give the illustration.</a:t>
            </a:r>
          </a:p>
          <a:p>
            <a:r>
              <a:rPr b="1"/>
              <a:t>Say:</a:t>
            </a:r>
            <a:r>
              <a:t> "A production expansion depends on stable electrical supply. Repeated outages prevent the additional production capacity from being used consistently. The facility exists and the equipment is there; the infrastructure decides whether the commitment is delivered."</a:t>
            </a:r>
          </a:p>
          <a:p>
            <a:r>
              <a:t/>
            </a:r>
          </a:p>
          <a:p>
            <a:r>
              <a:rPr b="1"/>
              <a:t>4. Ask the diagnostic question, on the slide, against the group's commitment.</a:t>
            </a:r>
          </a:p>
          <a:p>
            <a:r>
              <a:rPr b="1"/>
              <a:t>Ask:</a:t>
            </a:r>
            <a:r>
              <a:t> "Are our facilities, infrastructure and technology fit for the strategic requirement?"</a:t>
            </a:r>
          </a:p>
          <a:p>
            <a:r>
              <a:rPr b="1"/>
              <a:t>Ask:</a:t>
            </a:r>
            <a:r>
              <a:t> "For the commitment you chose, which of the three must be in place, and what must it provide?"</a:t>
            </a:r>
          </a:p>
          <a:p>
            <a:r>
              <a:rPr b="1"/>
              <a:t>Listen for:</a:t>
            </a:r>
            <a:r>
              <a:t> a requirement stated for this commitment (capacity, reliability, availability) and placed in one component.</a:t>
            </a:r>
          </a:p>
          <a:p>
            <a:r>
              <a:t/>
            </a:r>
          </a:p>
          <a:p>
            <a:r>
              <a:rPr b="1"/>
              <a:t>5. Bridge to 1.2.</a:t>
            </a:r>
          </a:p>
          <a:p>
            <a:r>
              <a:rPr b="1"/>
              <a:t>Say:</a:t>
            </a:r>
            <a:r>
              <a:t> "A fit setting carries the work. The next domain is how the work itself flows: Systems."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SYSTEMS | SIP</a:t>
            </a:r>
            <a:endParaRPr lang="en-US" dirty="0"/>
          </a:p>
          <a:p>
            <a:r>
              <a:t/>
            </a:r>
          </a:p>
          <a:p>
            <a:r>
              <a:rPr b="1"/>
              <a:t>HOW TO TEACH IT:</a:t>
            </a:r>
          </a:p>
          <a:p>
            <a:r>
              <a:t/>
            </a:r>
          </a:p>
          <a:p>
            <a:r>
              <a:rPr b="1"/>
              <a:t>1. Define the domain.</a:t>
            </a:r>
          </a:p>
          <a:p>
            <a:r>
              <a:rPr b="1"/>
              <a:t>Say:</a:t>
            </a:r>
            <a:r>
              <a:t> "Systems concerns how operational work is defined, connected and performed efficiently across the enterprise. Its three components spell SIP."</a:t>
            </a:r>
          </a:p>
          <a:p>
            <a:r>
              <a:t/>
            </a:r>
          </a:p>
          <a:p>
            <a:r>
              <a:rPr b="1"/>
              <a:t>2. Walk the three components on the slide.</a:t>
            </a:r>
          </a:p>
          <a:p>
            <a:r>
              <a:rPr b="1"/>
              <a:t>Say:</a:t>
            </a:r>
            <a:r>
              <a:t> "S, Standardisation: whether recurring operational processes are clearly defined and consistently applied.</a:t>
            </a:r>
          </a:p>
          <a:p>
            <a:r>
              <a:t>I, Integration: whether systems and process handoffs connect across functions without avoidable breaks.</a:t>
            </a:r>
          </a:p>
          <a:p>
            <a:r>
              <a:t>P, Process Efficiency: whether the required output can be delivered without unnecessary steps, delay, duplication or waste."</a:t>
            </a:r>
          </a:p>
          <a:p>
            <a:r>
              <a:rPr b="1"/>
              <a:t>Deepen, say:</a:t>
            </a:r>
            <a:r>
              <a:t> "Strategic drift sets in when platforms, policies, structures or projects become ends in themselves. Ask repeatedly whether institutional assets still produce the intended value."</a:t>
            </a:r>
          </a:p>
          <a:p>
            <a:r>
              <a:t>(Insight: Systems that serve the strategy. Source: Journal, 15 July 2026 — Professional Insights: Strategy)</a:t>
            </a:r>
          </a:p>
          <a:p>
            <a:r>
              <a:t/>
            </a:r>
          </a:p>
          <a:p>
            <a:r>
              <a:rPr b="1"/>
              <a:t>3. Give the illustration.</a:t>
            </a:r>
          </a:p>
          <a:p>
            <a:r>
              <a:rPr b="1"/>
              <a:t>Say:</a:t>
            </a:r>
            <a:r>
              <a:t> "Customer onboarding follows a documented process, but disconnected sales and finance platforms require repeated manual entry, slowing completion. The process is standardised; the break is in Integration."</a:t>
            </a:r>
          </a:p>
          <a:p>
            <a:r>
              <a:t/>
            </a:r>
          </a:p>
          <a:p>
            <a:r>
              <a:rPr b="1"/>
              <a:t>4. Ask the diagnostic question, on the slide, against the group's commitment.</a:t>
            </a:r>
          </a:p>
          <a:p>
            <a:r>
              <a:rPr b="1"/>
              <a:t>Ask:</a:t>
            </a:r>
            <a:r>
              <a:t> "Are our operational processes standardised, integrated and efficient?"</a:t>
            </a:r>
          </a:p>
          <a:p>
            <a:r>
              <a:rPr b="1"/>
              <a:t>Ask:</a:t>
            </a:r>
            <a:r>
              <a:t> "Which process does your commitment depend on, and where does it cross a function?"</a:t>
            </a:r>
          </a:p>
          <a:p>
            <a:r>
              <a:rPr b="1"/>
              <a:t>Listen for:</a:t>
            </a:r>
            <a:r>
              <a:t> handovers between functions, repeated entry, waiting time.</a:t>
            </a:r>
          </a:p>
          <a:p>
            <a:r>
              <a:t/>
            </a:r>
          </a:p>
          <a:p>
            <a:r>
              <a:rPr b="1"/>
              <a:t>5. Bridge to 1.3.</a:t>
            </a:r>
          </a:p>
          <a:p>
            <a:r>
              <a:rPr b="1"/>
              <a:t>Say:</a:t>
            </a:r>
            <a:r>
              <a:t> "Work can flow well and still lack the means to reach the scale the strategy needs. That is the Resources domain."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1.3 — RESOURCES | AIR</a:t>
            </a:r>
            <a:endParaRPr lang="en-US" dirty="0"/>
          </a:p>
          <a:p>
            <a:r>
              <a:t/>
            </a:r>
          </a:p>
          <a:p>
            <a:r>
              <a:rPr b="1"/>
              <a:t>HOW TO TEACH IT:</a:t>
            </a:r>
          </a:p>
          <a:p>
            <a:r>
              <a:t/>
            </a:r>
          </a:p>
          <a:p>
            <a:r>
              <a:rPr b="1"/>
              <a:t>1. Define the domain.</a:t>
            </a:r>
          </a:p>
          <a:p>
            <a:r>
              <a:rPr b="1"/>
              <a:t>Say:</a:t>
            </a:r>
            <a:r>
              <a:t> "Resources concerns the availability, funding and productive deployment of the organisation's operational assets. Its three components spell AIR."</a:t>
            </a:r>
          </a:p>
          <a:p>
            <a:r>
              <a:t/>
            </a:r>
          </a:p>
          <a:p>
            <a:r>
              <a:rPr b="1"/>
              <a:t>2. Walk the three components on the slide.</a:t>
            </a:r>
          </a:p>
          <a:p>
            <a:r>
              <a:rPr b="1"/>
              <a:t>Say:</a:t>
            </a:r>
            <a:r>
              <a:t> "A, Asset Availability: whether sufficient productive equipment and other operating assets are available for the required output.</a:t>
            </a:r>
          </a:p>
          <a:p>
            <a:r>
              <a:t>I, Investment: whether financial provision is adequate for the strategic and operational commitment.</a:t>
            </a:r>
          </a:p>
          <a:p>
            <a:r>
              <a:t>R, Resource Utilisation: whether existing assets and funding are allocated and used productively against priorities."</a:t>
            </a:r>
          </a:p>
          <a:p>
            <a:r>
              <a:rPr b="1"/>
              <a:t>Deepen, say:</a:t>
            </a:r>
            <a:r>
              <a:t> "Organisations underestimate available resource when they have not invested in the capacity to deploy it: the people, processes and structures that turn opportunity into output. Ask what the organisation is prepared to receive and deploy, alongside what it has."</a:t>
            </a:r>
          </a:p>
          <a:p>
            <a:r>
              <a:t>(Insight: Capacity to deploy. Source: Journal, 20 June 2026 — Professional Insights: Strategy)</a:t>
            </a:r>
          </a:p>
          <a:p>
            <a:r>
              <a:t/>
            </a:r>
          </a:p>
          <a:p>
            <a:r>
              <a:rPr b="1"/>
              <a:t>3. Give the illustration.</a:t>
            </a:r>
          </a:p>
          <a:p>
            <a:r>
              <a:rPr b="1"/>
              <a:t>Say:</a:t>
            </a:r>
            <a:r>
              <a:t> "A logistics operation has enough vehicles, but uneven deployment leaves some idle while others are overused, reducing delivery reliability. The assets exist; the gap is in Resource Utilisation."</a:t>
            </a:r>
          </a:p>
          <a:p>
            <a:r>
              <a:t/>
            </a:r>
          </a:p>
          <a:p>
            <a:r>
              <a:rPr b="1"/>
              <a:t>4. Ask the diagnostic question, on the slide, against the group's commitment.</a:t>
            </a:r>
          </a:p>
          <a:p>
            <a:r>
              <a:rPr b="1"/>
              <a:t>Ask:</a:t>
            </a:r>
            <a:r>
              <a:t> "Are our assets and financial resources sufficient and effectively utilised?"</a:t>
            </a:r>
          </a:p>
          <a:p>
            <a:r>
              <a:rPr b="1"/>
              <a:t>Ask:</a:t>
            </a:r>
            <a:r>
              <a:t> "What must be funded, available or redeployed for your commitment to be delivered?"</a:t>
            </a:r>
          </a:p>
          <a:p>
            <a:r>
              <a:rPr b="1"/>
              <a:t>Listen for:</a:t>
            </a:r>
            <a:r>
              <a:t> the asset, the funding and the deployment named separately.</a:t>
            </a:r>
          </a:p>
          <a:p>
            <a:r>
              <a:t/>
            </a:r>
          </a:p>
          <a:p>
            <a:r>
              <a:rPr b="1"/>
              <a:t>5. Bridge to 1.4.</a:t>
            </a:r>
          </a:p>
          <a:p>
            <a:r>
              <a:rPr b="1"/>
              <a:t>Say:</a:t>
            </a:r>
            <a:r>
              <a:t> "The last domain decides how quickly and safely the organisation can act on all of this: Governance."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1.4 — GOVERNANCE | PAR</a:t>
            </a:r>
            <a:endParaRPr lang="en-US" dirty="0"/>
          </a:p>
          <a:p>
            <a:r>
              <a:t/>
            </a:r>
          </a:p>
          <a:p>
            <a:r>
              <a:rPr b="1"/>
              <a:t>HOW TO TEACH IT:</a:t>
            </a:r>
          </a:p>
          <a:p>
            <a:r>
              <a:t/>
            </a:r>
          </a:p>
          <a:p>
            <a:r>
              <a:rPr b="1"/>
              <a:t>1. Define the domain.</a:t>
            </a:r>
          </a:p>
          <a:p>
            <a:r>
              <a:rPr b="1"/>
              <a:t>Say:</a:t>
            </a:r>
            <a:r>
              <a:t> "Governance concerns the institutional arrangements through which operational decisions are guided, authorised and exposed risks managed. Its three components spell PAR."</a:t>
            </a:r>
          </a:p>
          <a:p>
            <a:r>
              <a:t/>
            </a:r>
          </a:p>
          <a:p>
            <a:r>
              <a:rPr b="1"/>
              <a:t>2. Walk the three components on the slide.</a:t>
            </a:r>
          </a:p>
          <a:p>
            <a:r>
              <a:rPr b="1"/>
              <a:t>Say:</a:t>
            </a:r>
            <a:r>
              <a:t> "P, Policies &amp; Procedures: whether the necessary institutional policies and procedures are established and suitable for the decisions and operations required.</a:t>
            </a:r>
          </a:p>
          <a:p>
            <a:r>
              <a:t>A, Authority: whether decision rights, delegated authority and approval pathways support timely decisions.</a:t>
            </a:r>
          </a:p>
          <a:p>
            <a:r>
              <a:t>R, Risk Management: whether material risks to the strategic commitment are identified, assessed, mitigated and monitored."</a:t>
            </a:r>
          </a:p>
          <a:p>
            <a:r>
              <a:rPr b="1"/>
              <a:t>Deepen, say:</a:t>
            </a:r>
            <a:r>
              <a:t> "Build governance structures with the power to prevent decisions that will harm the organisation. A structure that can only register objections leaves the harm in place."</a:t>
            </a:r>
          </a:p>
          <a:p>
            <a:r>
              <a:t>(Insight: Governance with power. Source: Journal, 16 February 2026 — Professional Insights: Culture)</a:t>
            </a:r>
          </a:p>
          <a:p>
            <a:r>
              <a:t/>
            </a:r>
          </a:p>
          <a:p>
            <a:r>
              <a:rPr b="1"/>
              <a:t>3. Give the illustration.</a:t>
            </a:r>
          </a:p>
          <a:p>
            <a:r>
              <a:rPr b="1"/>
              <a:t>Say:</a:t>
            </a:r>
            <a:r>
              <a:t> "Funding for expansion has been approved, yet avoidable approval levels delay the release of expenditure and postpone implementation. The investment is there; Authority holds it back."</a:t>
            </a:r>
          </a:p>
          <a:p>
            <a:r>
              <a:t/>
            </a:r>
          </a:p>
          <a:p>
            <a:r>
              <a:rPr b="1"/>
              <a:t>4. Ask the diagnostic question, on the slide, against the group's commitment.</a:t>
            </a:r>
          </a:p>
          <a:p>
            <a:r>
              <a:rPr b="1"/>
              <a:t>Ask:</a:t>
            </a:r>
            <a:r>
              <a:t> "Is our organisational governance up to PAR?"</a:t>
            </a:r>
          </a:p>
          <a:p>
            <a:r>
              <a:rPr b="1"/>
              <a:t>Ask:</a:t>
            </a:r>
            <a:r>
              <a:t> "Which decision, approval or risk could hold up your commitment?"</a:t>
            </a:r>
          </a:p>
          <a:p>
            <a:r>
              <a:rPr b="1"/>
              <a:t>Listen for:</a:t>
            </a:r>
            <a:r>
              <a:t> a named approval pathway, a decision right or a risk with no owner.</a:t>
            </a:r>
          </a:p>
          <a:p>
            <a:r>
              <a:t/>
            </a:r>
          </a:p>
          <a:p>
            <a:r>
              <a:rPr b="1"/>
              <a:t>5. Close the section.</a:t>
            </a:r>
          </a:p>
          <a:p>
            <a:r>
              <a:rPr b="1"/>
              <a:t>Say:</a:t>
            </a:r>
            <a:r>
              <a:t> "Each strategic commitment depends on specific organisational capabilities, and ESRG names them domain by domain. You have now specified what your commitment needs from the Environment, Systems, Resources and Governance."</a:t>
            </a:r>
          </a:p>
          <a:p>
            <a:r>
              <a:t/>
            </a:r>
          </a:p>
          <a:p>
            <a:r>
              <a:rPr b="1"/>
              <a:t>6. Bridge to Section 2.</a:t>
            </a:r>
          </a:p>
          <a:p>
            <a:r>
              <a:rPr b="1"/>
              <a:t>Say:</a:t>
            </a:r>
            <a:r>
              <a:t> "Section 2 examines why each ESRG domain enables execution, and how a functional profile shows the condition of each."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 INTELLIGENCE — WHY</a:t>
            </a:r>
            <a:endParaRPr lang="en-US" dirty="0"/>
          </a:p>
          <a:p>
            <a:r>
              <a:t>The ESRG Ignition Point: How Each Domain Enables Execution</a:t>
            </a:r>
          </a:p>
          <a:p>
            <a:r>
              <a:t/>
            </a:r>
          </a:p>
          <a:p>
            <a:r>
              <a:rPr b="1"/>
              <a:t>HOW THIS SECTION RUNS:</a:t>
            </a:r>
          </a:p>
          <a:p>
            <a:r>
              <a:t>1. 2.1: the ESRG Ignition Point and the four execution-enabling capabilities.</a:t>
            </a:r>
          </a:p>
          <a:p>
            <a:r>
              <a:t>2. 2.2: the Functional ESRG Performance Scanner: the scoring guide and the 12 assessment statements.</a:t>
            </a:r>
          </a:p>
          <a:p>
            <a:r>
              <a:t>3. 2.3: reading the ESRG performance profile.</a:t>
            </a:r>
          </a:p>
          <a:p>
            <a:r>
              <a:t>4. 2.4: making sense of the results, with an illustrative profile.</a:t>
            </a:r>
          </a:p>
          <a:p>
            <a:r>
              <a:t>5. The Section 2 Reflections slide.</a:t>
            </a:r>
          </a:p>
          <a:p>
            <a:r>
              <a:t/>
            </a:r>
          </a:p>
          <a:p>
            <a:r>
              <a:rPr b="1"/>
              <a:t>HOW TO OPEN THE SECTION:</a:t>
            </a:r>
          </a:p>
          <a:p>
            <a:r>
              <a:t/>
            </a:r>
          </a:p>
          <a:p>
            <a:r>
              <a:rPr b="1"/>
              <a:t>1. Link to Section 1.</a:t>
            </a:r>
          </a:p>
          <a:p>
            <a:r>
              <a:rPr b="1"/>
              <a:t>Say:</a:t>
            </a:r>
            <a:r>
              <a:t> "In Section 1 you specified the operating conditions your strategic commitment requires and located them within FIT, SIP, AIR and PAR. This section asks whether those conditions enable the level of performance demanded."</a:t>
            </a:r>
          </a:p>
          <a:p>
            <a:r>
              <a:t/>
            </a:r>
          </a:p>
          <a:p>
            <a:r>
              <a:rPr b="1"/>
              <a:t>2. Read the two section learning outcomes from the slide.</a:t>
            </a:r>
          </a:p>
          <a:p>
            <a:r>
              <a:rPr b="1"/>
              <a:t>SECTION LEARNING OUTCOMES:</a:t>
            </a:r>
          </a:p>
          <a:p>
            <a:r>
              <a:t>1. Translate strategic performance requirements into functional operating capabilities through the four ESRG execution enablers.</a:t>
            </a:r>
          </a:p>
          <a:p>
            <a:r>
              <a:t>2. Build and maintain an evidence-based functional ESRG performance profile to identify operating strengths, constraints and changes in alignment over time.</a:t>
            </a:r>
          </a:p>
          <a:p>
            <a:r>
              <a:t/>
            </a:r>
          </a:p>
          <a:p>
            <a:r>
              <a:rPr b="1"/>
              <a:t>3. Give the order of the section.</a:t>
            </a:r>
          </a:p>
          <a:p>
            <a:r>
              <a:rPr b="1"/>
              <a:t>Say:</a:t>
            </a:r>
            <a:r>
              <a:t> "First the four execution-enabling capabilities, then the scanner you use to score your own function. The same scanner serves the annual baseline and each quarterly recalibration. Root-cause diagnosis comes in Section 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2.1 — THE ESRG IGNITION POINT</a:t>
            </a:r>
            <a:endParaRPr lang="en-US" dirty="0"/>
          </a:p>
          <a:p>
            <a:r>
              <a:t/>
            </a:r>
          </a:p>
          <a:p>
            <a:r>
              <a:rPr b="1"/>
              <a:t>HOW TO TEACH IT:</a:t>
            </a:r>
          </a:p>
          <a:p>
            <a:r>
              <a:t/>
            </a:r>
          </a:p>
          <a:p>
            <a:r>
              <a:rPr b="1"/>
              <a:t>1. Define the Ignition Point.</a:t>
            </a:r>
          </a:p>
          <a:p>
            <a:r>
              <a:rPr b="1"/>
              <a:t>Say:</a:t>
            </a:r>
            <a:r>
              <a:t> "The ESRG Ignition Point is reached when organisational operating conditions are sufficiently aligned to support the performance demands of the strategy. The four domains make distinct, interdependent contributions to execution. Each domain gives the organisation one execution-enabling capability."</a:t>
            </a:r>
          </a:p>
          <a:p>
            <a:r>
              <a:t/>
            </a:r>
          </a:p>
          <a:p>
            <a:r>
              <a:rPr b="1"/>
              <a:t>2. Walk the four capabilities on the slide.</a:t>
            </a:r>
          </a:p>
          <a:p>
            <a:r>
              <a:rPr b="1"/>
              <a:t>Say:</a:t>
            </a:r>
            <a:r>
              <a:t> "Environment, FIT, gives Operational Readiness. It provides a dependable operating setting: facilities accommodate planned activity; essential infrastructure sustains continuity; and technology has the functionality, reliability and capacity to handle strategic demand. This reduces interruptions and protects service or production availability.</a:t>
            </a:r>
          </a:p>
          <a:p>
            <a:r>
              <a:t>Systems, SIP, gives Operational Flow. It enables work to progress predictably from initiation to completion: standardised processes create consistency, integrated workflows support handovers across functions, and efficient process design removes avoidable steps, duplication and waiting time. This improves throughput and turnaround time.</a:t>
            </a:r>
          </a:p>
          <a:p>
            <a:r>
              <a:t>Resources, AIR, gives Delivery Capacity. It makes the required scale of delivery achievable: productive assets are available when needed, financial investment supports strategic priorities, and existing resources are deployed where demand is greatest. This prevents capacity shortages and avoidable underutilisation.</a:t>
            </a:r>
          </a:p>
          <a:p>
            <a:r>
              <a:t>Governance, PAR, gives Decision Responsiveness. It allows organisational action to proceed with clarity and control: policies and procedures guide consistent operations, authority arrangements enable decisions at the right level and time, and risks are identified and managed. This reduces approval bottlenecks while protecting sound decisions."</a:t>
            </a:r>
          </a:p>
          <a:p>
            <a:r>
              <a:t/>
            </a:r>
          </a:p>
          <a:p>
            <a:r>
              <a:rPr b="1"/>
              <a:t>3. State the ignition principle, in the band on the slide.</a:t>
            </a:r>
          </a:p>
          <a:p>
            <a:r>
              <a:rPr b="1"/>
              <a:t>Say:</a:t>
            </a:r>
            <a:r>
              <a:t> "A strategic commitment can be delivered consistently only when the operating conditions it depends upon can meet its performance demands."</a:t>
            </a:r>
          </a:p>
          <a:p>
            <a:r>
              <a:rPr b="1"/>
              <a:t>Deepen, say:</a:t>
            </a:r>
            <a:r>
              <a:t> "An organisation cannot rely indefinitely on extraordinary effort. Sustainable results need structures that protect what has been achieved."</a:t>
            </a:r>
          </a:p>
          <a:p>
            <a:r>
              <a:t>(Insight: Beyond extraordinary effort. Source: Journal, 8 August 2026 — Professional Insights: Culture)</a:t>
            </a:r>
          </a:p>
          <a:p>
            <a:r>
              <a:t/>
            </a:r>
          </a:p>
          <a:p>
            <a:r>
              <a:rPr b="1"/>
              <a:t>4. Give the illustration.</a:t>
            </a:r>
          </a:p>
          <a:p>
            <a:r>
              <a:rPr b="1"/>
              <a:t>Say:</a:t>
            </a:r>
            <a:r>
              <a:t> "A customer service function has reliable technology and adequate assets, but disconnected handovers delay case resolution. Its constraint is Operational Flow, SIP. Additional equipment would not directly resolve the delay. Naming the right capability points the investment at the real constraint."</a:t>
            </a:r>
          </a:p>
          <a:p>
            <a:r>
              <a:t/>
            </a:r>
          </a:p>
          <a:p>
            <a:r>
              <a:rPr b="1"/>
              <a:t>5. Ask the room.</a:t>
            </a:r>
          </a:p>
          <a:p>
            <a:r>
              <a:rPr b="1"/>
              <a:t>Ask:</a:t>
            </a:r>
            <a:r>
              <a:t> "Which of the four capabilities is most critical to your function's current strategic commitment, and what would happen if it were unable to meet the required demand?"</a:t>
            </a:r>
          </a:p>
          <a:p>
            <a:r>
              <a:t>Take two or three answers.</a:t>
            </a:r>
          </a:p>
          <a:p>
            <a:r>
              <a:rPr b="1"/>
              <a:t>Listen for:</a:t>
            </a:r>
            <a:r>
              <a:t> one capability named, and a concrete consequence for the commitment (delays, interruptions, shortfalls, held decisions).</a:t>
            </a:r>
          </a:p>
          <a:p>
            <a:r>
              <a:t/>
            </a:r>
          </a:p>
          <a:p>
            <a:r>
              <a:rPr b="1"/>
              <a:t>6. Bridge to 2.2.</a:t>
            </a:r>
          </a:p>
          <a:p>
            <a:r>
              <a:rPr b="1"/>
              <a:t>Say:</a:t>
            </a:r>
            <a:r>
              <a:t> "To know whether a capability can meet the demand, you need evidence. The Functional ESRG Performance Scanner gives you a consistent way to score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2.2a — FUNCTIONAL ESRG PERFORMANCE SCANNER: THE SCORING GUIDE</a:t>
            </a:r>
            <a:endParaRPr lang="en-US" dirty="0"/>
          </a:p>
          <a:p>
            <a:r>
              <a:t/>
            </a:r>
          </a:p>
          <a:p>
            <a:r>
              <a:rPr b="1"/>
              <a:t>HOW TO TEACH IT:</a:t>
            </a:r>
          </a:p>
          <a:p>
            <a:r>
              <a:t/>
            </a:r>
          </a:p>
          <a:p>
            <a:r>
              <a:rPr b="1"/>
              <a:t>1. State the purpose of the scanner.</a:t>
            </a:r>
          </a:p>
          <a:p>
            <a:r>
              <a:rPr b="1"/>
              <a:t>Say:</a:t>
            </a:r>
            <a:r>
              <a:t> "The scanner evaluates how effectively the current operating conditions of a business function support its strategic performance commitments. You score actual operating performance from the available evidence of how policies, systems and plans perform in practice."</a:t>
            </a:r>
          </a:p>
          <a:p>
            <a:r>
              <a:t/>
            </a:r>
          </a:p>
          <a:p>
            <a:r>
              <a:rPr b="1"/>
              <a:t>2. Name what heads the scanner.</a:t>
            </a:r>
          </a:p>
          <a:p>
            <a:r>
              <a:rPr b="1"/>
              <a:t>Say:</a:t>
            </a:r>
            <a:r>
              <a:t> "Each scanner names the business function, the functional leader and the strategic commitment or Key Result it is scored against."</a:t>
            </a:r>
          </a:p>
          <a:p>
            <a:r>
              <a:t/>
            </a:r>
          </a:p>
          <a:p>
            <a:r>
              <a:rPr b="1"/>
              <a:t>3. Read the five points of the scale, on the slide.</a:t>
            </a:r>
          </a:p>
          <a:p>
            <a:r>
              <a:rPr b="1"/>
              <a:t>Say:</a:t>
            </a:r>
            <a:r>
              <a:t> "1, Critical constraint: the condition materially prevents required performance.</a:t>
            </a:r>
          </a:p>
          <a:p>
            <a:r>
              <a:t>2, Significant gap: the condition regularly disrupts or limits performance.</a:t>
            </a:r>
          </a:p>
          <a:p>
            <a:r>
              <a:t>3, Partially effective: it supports basic operations but does not consistently meet strategic demand.</a:t>
            </a:r>
          </a:p>
          <a:p>
            <a:r>
              <a:t>4, Effective: it reliably supports current strategic performance requirements.</a:t>
            </a:r>
          </a:p>
          <a:p>
            <a:r>
              <a:t>5, Fully aligned: it reliably supports requirements and anticipated strategic demand."</a:t>
            </a:r>
          </a:p>
          <a:p>
            <a:r>
              <a:t/>
            </a:r>
          </a:p>
          <a:p>
            <a:r>
              <a:rPr b="1"/>
              <a:t>4. Point to the difference between 4 and 5.</a:t>
            </a:r>
          </a:p>
          <a:p>
            <a:r>
              <a:rPr b="1"/>
              <a:t>Say:</a:t>
            </a:r>
            <a:r>
              <a:t> "A 4 meets today's demand. A 5 also meets the demand the strategy will bring. That is why the scanner keeps asking about the strategic commitment."</a:t>
            </a:r>
          </a:p>
          <a:p>
            <a:r>
              <a:t/>
            </a:r>
          </a:p>
          <a:p>
            <a:r>
              <a:rPr b="1"/>
              <a:t>5. Set the rule for the scale.</a:t>
            </a:r>
          </a:p>
          <a:p>
            <a:r>
              <a:rPr b="1"/>
              <a:t>Say:</a:t>
            </a:r>
            <a:r>
              <a:t> "Use one consistent 1 to 5 scale for the annual baseline and each quarterly recalibration. Enter a score for every component at each review point."</a:t>
            </a:r>
          </a:p>
          <a:p>
            <a:r>
              <a:t/>
            </a:r>
          </a:p>
          <a:p>
            <a:r>
              <a:rPr b="1"/>
              <a:t>6. Bridge to the statements.</a:t>
            </a:r>
          </a:p>
          <a:p>
            <a:r>
              <a:rPr b="1"/>
              <a:t>Say:</a:t>
            </a:r>
            <a:r>
              <a:t> "Now the 12 statements you score."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2.2b — THE ESRG SCANNER: ANNUAL BASELINE AND QUARTERLY RECALIBRATION</a:t>
            </a:r>
            <a:endParaRPr lang="en-US" dirty="0"/>
          </a:p>
          <a:p>
            <a:r>
              <a:t/>
            </a:r>
          </a:p>
          <a:p>
            <a:r>
              <a:rPr b="1"/>
              <a:t>HOW TO TEACH IT:</a:t>
            </a:r>
          </a:p>
          <a:p>
            <a:r>
              <a:t/>
            </a:r>
          </a:p>
          <a:p>
            <a:r>
              <a:rPr b="1"/>
              <a:t>1. Show the shape of the scanner, on the slide.</a:t>
            </a:r>
          </a:p>
          <a:p>
            <a:r>
              <a:rPr b="1"/>
              <a:t>Say:</a:t>
            </a:r>
            <a:r>
              <a:t> "The scanner has 12 components, three for each domain. Each component has one functional assessment statement. You score each statement 1 to 5 at the annual baseline, then again in Q1, Q2, Q3 and Q4."</a:t>
            </a:r>
          </a:p>
          <a:p>
            <a:r>
              <a:t/>
            </a:r>
          </a:p>
          <a:p>
            <a:r>
              <a:rPr b="1"/>
              <a:t>2. Read the statements, domain by domain.</a:t>
            </a:r>
          </a:p>
          <a:p>
            <a:r>
              <a:rPr b="1"/>
              <a:t>Say:</a:t>
            </a:r>
            <a:r>
              <a:t> "FIT, Operational Readiness. Facilities: our facilities are suitable and functional for our strategic commitments. Infrastructure: essential infrastructure reliably supports our required operations. Technology: our technology supports our performance requirements reliably.</a:t>
            </a:r>
          </a:p>
          <a:p>
            <a:r>
              <a:t>SIP, Operational Flow. Standardisation: our core operational processes are clearly defined and consistently applied. Integration: our processes and systems connect effectively across functions. Process Efficiency: our processes deliver required outputs without unnecessary delays, duplication or waste.</a:t>
            </a:r>
          </a:p>
          <a:p>
            <a:r>
              <a:t>AIR, Delivery Capacity. Asset Availability: we have access to the productive assets required for delivery. Investment: adequate financial provision supports our strategic priorities. Resource Utilisation: available assets and financial resources are allocated and utilised effectively.</a:t>
            </a:r>
          </a:p>
          <a:p>
            <a:r>
              <a:t>PAR, Decision Responsiveness. Policies &amp; Procedures: our policies and procedures support consistent organisational decisions and operations. Authority: decision rights and approval arrangements enable timely decisions. Risk Management: material organisational risks are identified, assessed, mitigated and monitored."</a:t>
            </a:r>
          </a:p>
          <a:p>
            <a:r>
              <a:t/>
            </a:r>
          </a:p>
          <a:p>
            <a:r>
              <a:rPr b="1"/>
              <a:t>3. Set the evidence standard.</a:t>
            </a:r>
          </a:p>
          <a:p>
            <a:r>
              <a:rPr b="1"/>
              <a:t>Say:</a:t>
            </a:r>
            <a:r>
              <a:t> "Each score is a judgement on evidence: how the policies, systems and plans perform in practice. When you give a 2, you should be able to say what happened that earned it."</a:t>
            </a:r>
          </a:p>
          <a:p>
            <a:r>
              <a:rPr b="1"/>
              <a:t>Ask:</a:t>
            </a:r>
            <a:r>
              <a:t> "Which of these 12 statements would your function find hardest to score honestly?"</a:t>
            </a:r>
          </a:p>
          <a:p>
            <a:r>
              <a:rPr b="1"/>
              <a:t>Listen for:</a:t>
            </a:r>
            <a:r>
              <a:t> statements where the evidence is thin or where the function relies on another function's condition.</a:t>
            </a:r>
          </a:p>
          <a:p>
            <a:r>
              <a:t/>
            </a:r>
          </a:p>
          <a:p>
            <a:r>
              <a:rPr b="1"/>
              <a:t>4. Bridge to 2.3.</a:t>
            </a:r>
          </a:p>
          <a:p>
            <a:r>
              <a:rPr b="1"/>
              <a:t>Say:</a:t>
            </a:r>
            <a:r>
              <a:t> "Twelve scores become a profile. Here is how to read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2.3 — READING THE ESRG PERFORMANCE PROFILE</a:t>
            </a:r>
            <a:endParaRPr lang="en-US" dirty="0"/>
          </a:p>
          <a:p>
            <a:r>
              <a:t/>
            </a:r>
          </a:p>
          <a:p>
            <a:r>
              <a:rPr b="1"/>
              <a:t>HOW TO TEACH IT:</a:t>
            </a:r>
          </a:p>
          <a:p>
            <a:r>
              <a:t/>
            </a:r>
          </a:p>
          <a:p>
            <a:r>
              <a:rPr b="1"/>
              <a:t>1. Show how the profile is calculated.</a:t>
            </a:r>
          </a:p>
          <a:p>
            <a:r>
              <a:rPr b="1"/>
              <a:t>Say:</a:t>
            </a:r>
            <a:r>
              <a:t> "Each domain score is the average of its three component scores. The overall ESRG score is the average of the four domain scores. The profile shows the four execution-enabling capabilities, Operational Readiness, Operational Flow, Delivery Capacity and Decision Responsiveness, plus the overall score, across the annual baseline and Q1 to Q4."</a:t>
            </a:r>
          </a:p>
          <a:p>
            <a:r>
              <a:t/>
            </a:r>
          </a:p>
          <a:p>
            <a:r>
              <a:rPr b="1"/>
              <a:t>2. Read the four bands, on the slide.</a:t>
            </a:r>
          </a:p>
          <a:p>
            <a:r>
              <a:rPr b="1"/>
              <a:t>Say:</a:t>
            </a:r>
            <a:r>
              <a:t> "4.0 to 5.0: Aligned. 3.0 to 3.9: Improvement required. 2.0 to 2.9: Significant constraint. 1.0 to 1.9: Critical constraint."</a:t>
            </a:r>
          </a:p>
          <a:p>
            <a:r>
              <a:t/>
            </a:r>
          </a:p>
          <a:p>
            <a:r>
              <a:rPr b="1"/>
              <a:t>3. Warn about averages, in the band on the slide.</a:t>
            </a:r>
          </a:p>
          <a:p>
            <a:r>
              <a:rPr b="1"/>
              <a:t>Say:</a:t>
            </a:r>
            <a:r>
              <a:t> "Review the individual component scores as well. A strong average can conceal a critical constraint. A domain at 3.7 can hide a component at 2."</a:t>
            </a:r>
          </a:p>
          <a:p>
            <a:r>
              <a:t/>
            </a:r>
          </a:p>
          <a:p>
            <a:r>
              <a:rPr b="1"/>
              <a:t>4. Explain the rhythm.</a:t>
            </a:r>
          </a:p>
          <a:p>
            <a:r>
              <a:rPr b="1"/>
              <a:t>Say:</a:t>
            </a:r>
            <a:r>
              <a:t> "The annual review establishes the baseline. Quarterly recalibration repeats the same 12 statements using the same scale, so you see where operating capability has strengthened, weakened or remained stable. Scores are directional management judgements, read together with the operational evidence behind them."</a:t>
            </a:r>
          </a:p>
          <a:p>
            <a:r>
              <a:rPr b="1"/>
              <a:t>Deepen, say:</a:t>
            </a:r>
            <a:r>
              <a:t> "Organisations become more intelligent when difficult information is incorporated into decisions. Honest signals can improve direction."</a:t>
            </a:r>
          </a:p>
          <a:p>
            <a:r>
              <a:t>(Insight: Honest signals. Source: Journal, 5 September 2026 — Professional Insights: Strategy)</a:t>
            </a:r>
          </a:p>
          <a:p>
            <a:r>
              <a:t/>
            </a:r>
          </a:p>
          <a:p>
            <a:r>
              <a:rPr b="1"/>
              <a:t>5. Bridge to 2.4.</a:t>
            </a:r>
          </a:p>
          <a:p>
            <a:r>
              <a:rPr b="1"/>
              <a:t>Say:</a:t>
            </a:r>
            <a:r>
              <a:t> "Let us read one profile together."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2.4 — MAKING SENSE OF THE RESULTS</a:t>
            </a:r>
            <a:endParaRPr lang="en-US" dirty="0"/>
          </a:p>
          <a:p>
            <a:r>
              <a:t/>
            </a:r>
          </a:p>
          <a:p>
            <a:r>
              <a:rPr b="1"/>
              <a:t>HOW TO TEACH IT:</a:t>
            </a:r>
          </a:p>
          <a:p>
            <a:r>
              <a:t/>
            </a:r>
          </a:p>
          <a:p>
            <a:r>
              <a:rPr b="1"/>
              <a:t>1. Read the illustrative profile, on the slide.</a:t>
            </a:r>
          </a:p>
          <a:p>
            <a:r>
              <a:rPr b="1"/>
              <a:t>Say:</a:t>
            </a:r>
            <a:r>
              <a:t> "A customer service function scores Operational Readiness 4.3, Operational Flow 2.0, Delivery Capacity 4.0 and Decision Responsiveness 3.7."</a:t>
            </a:r>
          </a:p>
          <a:p>
            <a:r>
              <a:t/>
            </a:r>
          </a:p>
          <a:p>
            <a:r>
              <a:rPr b="1"/>
              <a:t>2. Find the lowest capability.</a:t>
            </a:r>
          </a:p>
          <a:p>
            <a:r>
              <a:rPr b="1"/>
              <a:t>Ask:</a:t>
            </a:r>
            <a:r>
              <a:t> "Which capability is the constraint, and in which band does it sit?"</a:t>
            </a:r>
          </a:p>
          <a:p>
            <a:r>
              <a:rPr b="1"/>
              <a:t>Listen for:</a:t>
            </a:r>
            <a:r>
              <a:t> Operational Flow at 2.0, a significant constraint.</a:t>
            </a:r>
          </a:p>
          <a:p>
            <a:r>
              <a:t/>
            </a:r>
          </a:p>
          <a:p>
            <a:r>
              <a:rPr b="1"/>
              <a:t>3. Go below the average.</a:t>
            </a:r>
          </a:p>
          <a:p>
            <a:r>
              <a:rPr b="1"/>
              <a:t>Say:</a:t>
            </a:r>
            <a:r>
              <a:t> "Operational Flow is the lowest-rated execution-enabling capability. Leaders examine its Standardisation, Integration and Process Efficiency scores, together with the supporting evidence, before identifying which operating condition is restricting case resolution. The score tells you where to look; the evidence tells you what to fix."</a:t>
            </a:r>
          </a:p>
          <a:p>
            <a:r>
              <a:t/>
            </a:r>
          </a:p>
          <a:p>
            <a:r>
              <a:rPr b="1"/>
              <a:t>4. Give the four questions leaders ask of any profile.</a:t>
            </a:r>
          </a:p>
          <a:p>
            <a:r>
              <a:rPr b="1"/>
              <a:t>Say:</a:t>
            </a:r>
            <a:r>
              <a:t> "Which component has the lowest score? What evidence supports that rating? Has the score changed since the previous review? Which strategic commitment is most exposed?"</a:t>
            </a:r>
          </a:p>
          <a:p>
            <a:r>
              <a:t/>
            </a:r>
          </a:p>
          <a:p>
            <a:r>
              <a:rPr b="1"/>
              <a:t>5. Name the section output.</a:t>
            </a:r>
          </a:p>
          <a:p>
            <a:r>
              <a:rPr b="1"/>
              <a:t>Say:</a:t>
            </a:r>
            <a:r>
              <a:t> "The output of this section is a completed Functional ESRG Performance Scanner with annual baseline and quarterly review columns, plus a four-capability performance profile. The material low-scoring or deteriorating conditions are carried into Section 3 for deeper diagnosis and prioritisation."</a:t>
            </a:r>
          </a:p>
          <a:p>
            <a:r>
              <a:t/>
            </a:r>
          </a:p>
          <a:p>
            <a:r>
              <a:rPr b="1"/>
              <a:t>6. Close the section.</a:t>
            </a:r>
          </a:p>
          <a:p>
            <a:r>
              <a:rPr b="1"/>
              <a:t>Say:</a:t>
            </a:r>
            <a:r>
              <a:t> "A functional ESRG profile shows where operating conditions enable a strategic commitment and where they constrain it."</a:t>
            </a:r>
          </a:p>
          <a:p>
            <a:r>
              <a:t/>
            </a:r>
          </a:p>
          <a:p>
            <a:r>
              <a:rPr b="1"/>
              <a:t>7. Bridge to the reflections.</a:t>
            </a:r>
          </a:p>
          <a:p>
            <a:r>
              <a:rPr b="1"/>
              <a:t>Say:</a:t>
            </a:r>
            <a:r>
              <a:t> "Two reflections take this into your own function."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REFLECTIONS</a:t>
            </a:r>
            <a:endParaRPr lang="en-US" dirty="0"/>
          </a:p>
          <a:p>
            <a:r>
              <a:t/>
            </a:r>
          </a:p>
          <a:p>
            <a:r>
              <a:rPr b="1"/>
              <a:t>HOW TO USE THIS SLIDE:</a:t>
            </a:r>
          </a:p>
          <a:p>
            <a:r>
              <a:t/>
            </a:r>
          </a:p>
          <a:p>
            <a:r>
              <a:rPr b="1"/>
              <a:t>1. Read the two prompts aloud.</a:t>
            </a:r>
          </a:p>
          <a:p>
            <a:r>
              <a:t>2.1: "Which of the four capabilities is most critical to your function's current strategic commitment, and what would happen if it were unable to meet the required demand?"</a:t>
            </a:r>
          </a:p>
          <a:p>
            <a:r>
              <a:t>2.4: "Which component has the lowest score? What evidence supports that rating? Has the score changed since the previous review? Which strategic commitment is most exposed?"</a:t>
            </a:r>
          </a:p>
          <a:p>
            <a:r>
              <a:t/>
            </a:r>
          </a:p>
          <a:p>
            <a:r>
              <a:rPr b="1"/>
              <a:t>2. Set the standard.</a:t>
            </a:r>
          </a:p>
          <a:p>
            <a:r>
              <a:rPr b="1"/>
              <a:t>Say:</a:t>
            </a:r>
            <a:r>
              <a:t> "Answer for your own function and one named strategic commitment. Name the capability or component, the evidence behind your view and the consequence for the commitment."</a:t>
            </a:r>
          </a:p>
          <a:p>
            <a:r>
              <a:t/>
            </a:r>
          </a:p>
          <a:p>
            <a:r>
              <a:rPr b="1"/>
              <a:t>3. Bridge to Section 3.</a:t>
            </a:r>
          </a:p>
          <a:p>
            <a:r>
              <a:rPr b="1"/>
              <a:t>Say:</a:t>
            </a:r>
            <a:r>
              <a:t> "Section 3 examines where executive biases distort the operating capabilities ESRG describes."</a:t>
            </a:r>
          </a:p>
          <a:p>
            <a:r>
              <a:t/>
            </a:r>
          </a:p>
          <a:p>
            <a:r>
              <a:rPr b="1"/>
              <a:t>ON THE PORTAL, AFTER THE TEACHING:</a:t>
            </a:r>
          </a:p>
          <a:p>
            <a:r>
              <a:t>The two prompts sit at 2.1 and 2.4 of the participant file as Reflect lines. Participants read them on the page after the teaching.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 EXTRAPOLATING — WHERE</a:t>
            </a:r>
            <a:endParaRPr lang="en-US" dirty="0"/>
          </a:p>
          <a:p>
            <a:r>
              <a:t>Where Do Executive Biases Distort ESRG Operating Capabilities?</a:t>
            </a:r>
          </a:p>
          <a:p>
            <a:r>
              <a:t/>
            </a:r>
          </a:p>
          <a:p>
            <a:r>
              <a:rPr b="1"/>
              <a:t>HOW THIS SECTION RUNS:</a:t>
            </a:r>
          </a:p>
          <a:p>
            <a:r>
              <a:t>1. 3.1: the ten CXO ESRG Bias Contributor cards, in two slides (Cards 1 to 5, Cards 6 to 10).</a:t>
            </a:r>
          </a:p>
          <a:p>
            <a:r>
              <a:t>2. 3.2: the personal activity, My Executive ESRG Bias Reflection, taught with the CFO worked example.</a:t>
            </a:r>
          </a:p>
          <a:p>
            <a:r>
              <a:t/>
            </a:r>
          </a:p>
          <a:p>
            <a:r>
              <a:rPr b="1"/>
              <a:t>HOW TO OPEN THE SECTION:</a:t>
            </a:r>
          </a:p>
          <a:p>
            <a:r>
              <a:t/>
            </a:r>
          </a:p>
          <a:p>
            <a:r>
              <a:rPr b="1"/>
              <a:t>1. Link to Section 2.</a:t>
            </a:r>
          </a:p>
          <a:p>
            <a:r>
              <a:rPr b="1"/>
              <a:t>Say:</a:t>
            </a:r>
            <a:r>
              <a:t> "In Section 2 you met the four execution-enabling capabilities: Environment gives Operational Readiness; Systems gives Operational Flow; Resources gives Delivery Capacity; Governance gives Decision Responsiveness. This section asks where executive decisions weaken them."</a:t>
            </a:r>
          </a:p>
          <a:p>
            <a:r>
              <a:t/>
            </a:r>
          </a:p>
          <a:p>
            <a:r>
              <a:rPr b="1"/>
              <a:t>2. Read the two section learning outcomes from the slide.</a:t>
            </a:r>
          </a:p>
          <a:p>
            <a:r>
              <a:rPr b="1"/>
              <a:t>SECTION LEARNING OUTCOMES:</a:t>
            </a:r>
          </a:p>
          <a:p>
            <a:r>
              <a:t>1. Diagnose executive decision biases that distort specific ESRG components and weaken the organisational capabilities required for strategic execution.</a:t>
            </a:r>
          </a:p>
          <a:p>
            <a:r>
              <a:t>2. Develop evidence-based debiasing techniques that strengthen executive decision-making and prevent cross-functional operating constraints.</a:t>
            </a:r>
          </a:p>
          <a:p>
            <a:r>
              <a:t/>
            </a:r>
          </a:p>
          <a:p>
            <a:r>
              <a:rPr b="1"/>
              <a:t>3. Say how bias enters operating conditions.</a:t>
            </a:r>
          </a:p>
          <a:p>
            <a:r>
              <a:rPr b="1"/>
              <a:t>Say:</a:t>
            </a:r>
            <a:r>
              <a:t> "Executives influence these capabilities through decisions within their functional portfolios. Legitimate functional priorities can introduce assumptions that affect operating conditions beyond the executive's immediate portfolio. A decision intended to improve one function may constrain another without anyone intending it. A CFO may reduce expenditure to protect financial performance while weakening investment required for operational continuity. A COO may standardise procedures to improve consistency while introducing unnecessary delays."</a:t>
            </a:r>
          </a:p>
          <a:p>
            <a:r>
              <a:t/>
            </a:r>
          </a:p>
          <a:p>
            <a:r>
              <a:rPr b="1"/>
              <a:t>4. Put the central question to the room.</a:t>
            </a:r>
          </a:p>
          <a:p>
            <a:r>
              <a:rPr b="1"/>
              <a:t>Ask:</a:t>
            </a:r>
            <a:r>
              <a:t> "Where might my executive decisions and assumptions be weakening the organisational operating capabilities required to deliver our strategy?"</a:t>
            </a:r>
          </a:p>
          <a:p>
            <a:r>
              <a:rPr b="1"/>
              <a:t>Say:</a:t>
            </a:r>
            <a:r>
              <a:t> "Hold that question while we work through the ten cards."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3.1a — THE CXO ESRG BIAS CONTRIBUTORS: CARDS 1 TO 5</a:t>
            </a:r>
            <a:endParaRPr lang="en-US" dirty="0"/>
          </a:p>
          <a:p>
            <a:r>
              <a:t/>
            </a:r>
          </a:p>
          <a:p>
            <a:r>
              <a:rPr b="1"/>
              <a:t>HOW TO TEACH IT:</a:t>
            </a:r>
          </a:p>
          <a:p>
            <a:r>
              <a:t/>
            </a:r>
          </a:p>
          <a:p>
            <a:r>
              <a:rPr b="1"/>
              <a:t>1. Introduce the cards.</a:t>
            </a:r>
          </a:p>
          <a:p>
            <a:r>
              <a:rPr b="1"/>
              <a:t>Say:</a:t>
            </a:r>
            <a:r>
              <a:t> "Executive leaders make decisions through the responsibilities, priorities and performance expectations of their portfolios. These perspectives are necessary, but they may also determine which operating conditions receive attention, which risks are underestimated and which consequences remain invisible. Each card examines a decision at the point it is made: the approval, investment, sourcing or design choice, the assumption behind it and the ESRG component it weakens."</a:t>
            </a:r>
          </a:p>
          <a:p>
            <a:r>
              <a:t/>
            </a:r>
          </a:p>
          <a:p>
            <a:r>
              <a:rPr b="1"/>
              <a:t>2. Give the method for every card.</a:t>
            </a:r>
          </a:p>
          <a:p>
            <a:r>
              <a:rPr b="1"/>
              <a:t>Say:</a:t>
            </a:r>
            <a:r>
              <a:t> "For each card we do four things: name the bias and the decision; look at the two ESRG components it affects most directly; trace the execution consequences; and agree the evidence or decision adjustment that counters the bias. The examples are illustrative. Challenge them, and look for alternative decisions that keep the functional objective while strengthening enterprise performance."</a:t>
            </a:r>
          </a:p>
          <a:p>
            <a:r>
              <a:t/>
            </a:r>
          </a:p>
          <a:p>
            <a:r>
              <a:rPr b="1"/>
              <a:t>3. Card 1: CEO · Enterprise Direction, Strategic Optimism.</a:t>
            </a:r>
          </a:p>
          <a:p>
            <a:r>
              <a:rPr b="1"/>
              <a:t>Say:</a:t>
            </a:r>
            <a:r>
              <a:t> "The potential bias is Strategic Optimism. The decision: the CEO approves a 30% operational expansion within 12 months, assuming existing operations can accommodate demand because current targets are being met. Current performance is mistaken for evidence of spare capacity."</a:t>
            </a:r>
          </a:p>
          <a:p>
            <a:r>
              <a:rPr b="1"/>
              <a:t>Say:</a:t>
            </a:r>
            <a:r>
              <a:t> "Environment, Operational Readiness, Infrastructure: existing infrastructure is assumed to have sufficient spare capacity. Increased demand may overload utilities or connectivity, causing interruptions and reducing output reliability. Debiasing action: validate infrastructure capacity and reliability against projected demand before approving the expansion timetable."</a:t>
            </a:r>
          </a:p>
          <a:p>
            <a:r>
              <a:rPr b="1"/>
              <a:t>Say:</a:t>
            </a:r>
            <a:r>
              <a:t> "Resources, Delivery Capacity, Investment: expansion is approved without establishing full financial provision for additional operating capacity, delaying essential investment. Debiasing action: establish and approve the investment requirements needed to support the expansion commitment."</a:t>
            </a:r>
          </a:p>
          <a:p>
            <a:r>
              <a:rPr b="1"/>
              <a:t>Say:</a:t>
            </a:r>
            <a:r>
              <a:t> "Executive insight: Current performance does not by itself demonstrate readiness for future strategic demands."</a:t>
            </a:r>
          </a:p>
          <a:p>
            <a:r>
              <a:rPr b="1"/>
              <a:t>Ask:</a:t>
            </a:r>
            <a:r>
              <a:t> "Which strategic commitment may have been approved without sufficiently validating operating readiness and investment?"</a:t>
            </a:r>
          </a:p>
          <a:p>
            <a:r>
              <a:t/>
            </a:r>
          </a:p>
          <a:p>
            <a:r>
              <a:rPr b="1"/>
              <a:t>4. Card 2: CFO · Financial Stewardship, Short-Term Cost Preference.</a:t>
            </a:r>
          </a:p>
          <a:p>
            <a:r>
              <a:rPr b="1"/>
              <a:t>Say:</a:t>
            </a:r>
            <a:r>
              <a:t> "The potential bias is Short-Term Cost Preference. The decision: the CFO introduces aggressive expenditure reductions and postpones replacement of ageing operational equipment to protect annual financial targets, overlooking the cost of declining reliability."</a:t>
            </a:r>
          </a:p>
          <a:p>
            <a:r>
              <a:rPr b="1"/>
              <a:t>Say:</a:t>
            </a:r>
            <a:r>
              <a:t> "Resources, Delivery Capacity, Asset Availability: deferring replacement increases breakdowns and reduces the availability of productive assets needed for planned output. Debiasing action: evaluate replacement against equipment reliability, downtime costs and strategic output requirements."</a:t>
            </a:r>
          </a:p>
          <a:p>
            <a:r>
              <a:rPr b="1"/>
              <a:t>Say:</a:t>
            </a:r>
            <a:r>
              <a:t> "Resources, Delivery Capacity, Investment: capital expenditure is reduced without distinguishing discretionary spending from investment essential to strategic delivery. Debiasing action: prioritise investment according to its contribution to sustaining strategic delivery capacity."</a:t>
            </a:r>
          </a:p>
          <a:p>
            <a:r>
              <a:rPr b="1"/>
              <a:t>Say:</a:t>
            </a:r>
            <a:r>
              <a:t> "Executive insight: Immediate savings may weaken the productive capacity required to sustain enterprise performance."</a:t>
            </a:r>
          </a:p>
          <a:p>
            <a:r>
              <a:rPr b="1"/>
              <a:t>Ask:</a:t>
            </a:r>
            <a:r>
              <a:t> "Where might financial savings be achieved at the expense of operating capacity?"</a:t>
            </a:r>
          </a:p>
          <a:p>
            <a:r>
              <a:t/>
            </a:r>
          </a:p>
          <a:p>
            <a:r>
              <a:rPr b="1"/>
              <a:t>5. Card 3: COO · Operational Discipline, Standardisation Fixation.</a:t>
            </a:r>
          </a:p>
          <a:p>
            <a:r>
              <a:rPr b="1"/>
              <a:t>Say:</a:t>
            </a:r>
            <a:r>
              <a:t> "The potential bias is Standardisation Fixation. The decision: the COO introduces uniform procedures across branches. Every transaction follows identical verification and approval steps, irrespective of complexity or risk, increasing routine turnaround times."</a:t>
            </a:r>
          </a:p>
          <a:p>
            <a:r>
              <a:rPr b="1"/>
              <a:t>Say:</a:t>
            </a:r>
            <a:r>
              <a:t> "Systems, Operational Flow, Standardisation: uniform procedures disregard differences in operational requirements and introduce unnecessary procedural steps. Debiasing action: define the essential controls and outputs that must be consistent while allowing appropriate process variation."</a:t>
            </a:r>
          </a:p>
          <a:p>
            <a:r>
              <a:rPr b="1"/>
              <a:t>Say:</a:t>
            </a:r>
            <a:r>
              <a:t> "Systems, Operational Flow, Process Efficiency: additional steps reduce throughput even though procedures are followed consistently. Debiasing action: test procedures against turnaround and output requirements; remove unnecessary delays and duplication."</a:t>
            </a:r>
          </a:p>
          <a:p>
            <a:r>
              <a:rPr b="1"/>
              <a:t>Say:</a:t>
            </a:r>
            <a:r>
              <a:t> "Executive insight: Standardisation supports consistency; process efficiency ensures consistent operations deliver without unnecessary waste."</a:t>
            </a:r>
          </a:p>
          <a:p>
            <a:r>
              <a:rPr b="1"/>
              <a:t>Ask:</a:t>
            </a:r>
            <a:r>
              <a:t> "Which standardised procedure may be creating unnecessary operational friction?"</a:t>
            </a:r>
          </a:p>
          <a:p>
            <a:r>
              <a:t/>
            </a:r>
          </a:p>
          <a:p>
            <a:r>
              <a:rPr b="1"/>
              <a:t>6. Card 4: CHRO · People and Culture, People-Centred Attribution.</a:t>
            </a:r>
          </a:p>
          <a:p>
            <a:r>
              <a:rPr b="1"/>
              <a:t>Say:</a:t>
            </a:r>
            <a:r>
              <a:t> "The potential bias is People-Centred Attribution. The decision: the CHRO responds to recurring service delays with more training and performance interventions, although teams are repeatedly transferring information between disconnected systems."</a:t>
            </a:r>
          </a:p>
          <a:p>
            <a:r>
              <a:rPr b="1"/>
              <a:t>Say:</a:t>
            </a:r>
            <a:r>
              <a:t> "Systems, Operational Flow, Integration: disconnected workflows remain unresolved because delays are attributed primarily to employee capability. Debiasing action: examine process handovers and system connectivity before choosing the performance intervention."</a:t>
            </a:r>
          </a:p>
          <a:p>
            <a:r>
              <a:rPr b="1"/>
              <a:t>Say:</a:t>
            </a:r>
            <a:r>
              <a:t> "Environment, Operational Readiness, Technology: technology limitations are overlooked while resources are directed towards training. Debiasing action: verify whether the technological environment supports the required operational activities."</a:t>
            </a:r>
          </a:p>
          <a:p>
            <a:r>
              <a:rPr b="1"/>
              <a:t>Say:</a:t>
            </a:r>
            <a:r>
              <a:t> "Executive insight: Interventions should address the operating condition actually limiting delivery."</a:t>
            </a:r>
          </a:p>
          <a:p>
            <a:r>
              <a:rPr b="1"/>
              <a:t>Ask:</a:t>
            </a:r>
            <a:r>
              <a:t> "Which problem attributed to employees may stem from technology or disconnected processes?"</a:t>
            </a:r>
          </a:p>
          <a:p>
            <a:r>
              <a:t/>
            </a:r>
          </a:p>
          <a:p>
            <a:r>
              <a:rPr b="1"/>
              <a:t>7. Card 5: CTO/CIO · Technology and Information, Legacy Loyalty.</a:t>
            </a:r>
          </a:p>
          <a:p>
            <a:r>
              <a:rPr b="1"/>
              <a:t>Say:</a:t>
            </a:r>
            <a:r>
              <a:t> "The potential bias is Legacy Loyalty. The decision: the CIO extends the life of the core operating system for a further three years to defer replacement cost. Transaction volumes have doubled since it was installed, and month-end processing now runs into the next working day."</a:t>
            </a:r>
          </a:p>
          <a:p>
            <a:r>
              <a:rPr b="1"/>
              <a:t>Say:</a:t>
            </a:r>
            <a:r>
              <a:t> "Environment, Operational Readiness, Technology: system capacity no longer matches transaction volumes, causing slow processing and outages at peak times. Debiasing action: test system capacity and reliability against projected strategic volumes before approving any extension."</a:t>
            </a:r>
          </a:p>
          <a:p>
            <a:r>
              <a:rPr b="1"/>
              <a:t>Say:</a:t>
            </a:r>
            <a:r>
              <a:t> "Resources, Delivery Capacity, Investment: replacement is deferred without a funded plan, so the investment need grows while the system constrains delivery. Debiasing action: establish a funded replacement roadmap with milestones linked to strategic demand."</a:t>
            </a:r>
          </a:p>
          <a:p>
            <a:r>
              <a:rPr b="1"/>
              <a:t>Say:</a:t>
            </a:r>
            <a:r>
              <a:t> "Executive insight: Deferring technology investment preserves budget only while the technology can still carry strategic demand."</a:t>
            </a:r>
          </a:p>
          <a:p>
            <a:r>
              <a:rPr b="1"/>
              <a:t>Ask:</a:t>
            </a:r>
            <a:r>
              <a:t> "Which core system is being kept beyond the capacity our strategy now requires?"</a:t>
            </a:r>
          </a:p>
          <a:p>
            <a:r>
              <a:t/>
            </a:r>
          </a:p>
          <a:p>
            <a:r>
              <a:rPr b="1"/>
              <a:t>8. Take answers across the five cards.</a:t>
            </a:r>
          </a:p>
          <a:p>
            <a:r>
              <a:rPr b="1"/>
              <a:t>Listen for:</a:t>
            </a:r>
            <a:r>
              <a:t> a decision in the participant's own portfolio, the component it weakens, and the evidence that would have changed it.</a:t>
            </a:r>
          </a:p>
          <a:p>
            <a:r>
              <a:t/>
            </a:r>
          </a:p>
          <a:p>
            <a:r>
              <a:rPr b="1"/>
              <a:t>9. Bridge to Cards 6 to 10.</a:t>
            </a:r>
          </a:p>
          <a:p>
            <a:r>
              <a:rPr b="1"/>
              <a:t>Say:</a:t>
            </a:r>
            <a:r>
              <a:t> "Five more cards: the market, commercial, supply, risk and strategy portfolios."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3.1b — THE CXO ESRG BIAS CONTRIBUTORS: CARDS 6 TO 10</a:t>
            </a:r>
            <a:endParaRPr lang="en-US" dirty="0"/>
          </a:p>
          <a:p>
            <a:r>
              <a:t/>
            </a:r>
          </a:p>
          <a:p>
            <a:r>
              <a:rPr b="1"/>
              <a:t>HOW TO TEACH IT:</a:t>
            </a:r>
          </a:p>
          <a:p>
            <a:r>
              <a:t/>
            </a:r>
          </a:p>
          <a:p>
            <a:r>
              <a:rPr b="1"/>
              <a:t>1. Keep the same four moves.</a:t>
            </a:r>
          </a:p>
          <a:p>
            <a:r>
              <a:rPr b="1"/>
              <a:t>Say:</a:t>
            </a:r>
            <a:r>
              <a:t> "Same method: the bias and the decision, the two components, the execution consequence, the debiasing action."</a:t>
            </a:r>
          </a:p>
          <a:p>
            <a:r>
              <a:t/>
            </a:r>
          </a:p>
          <a:p>
            <a:r>
              <a:rPr b="1"/>
              <a:t>2. Card 6: CMO · Market and Customer Insight, Brand-Led Investment.</a:t>
            </a:r>
          </a:p>
          <a:p>
            <a:r>
              <a:rPr b="1"/>
              <a:t>Say:</a:t>
            </a:r>
            <a:r>
              <a:t> "The potential bias is Brand-Led Investment. The decision: the CMO directs the refurbishment budget to redesigning customer-facing branches for brand impact. Service counters, queuing layouts and the back-office processes behind them stay as they were, and customer waiting times remain unchanged."</a:t>
            </a:r>
          </a:p>
          <a:p>
            <a:r>
              <a:rPr b="1"/>
              <a:t>Say:</a:t>
            </a:r>
            <a:r>
              <a:t> "Environment, Operational Readiness, Facilities: space is redesigned for appearance while service points, queue capacity and customer flow stay the same, so congestion continues at peak periods. Debiasing action: specify the facility requirements of the service model, including service points, queue capacity and flow, before approving the design."</a:t>
            </a:r>
          </a:p>
          <a:p>
            <a:r>
              <a:rPr b="1"/>
              <a:t>Say:</a:t>
            </a:r>
            <a:r>
              <a:t> "Systems, Operational Flow, Process Efficiency: the steps, handovers and waiting time behind each transaction remain untouched. Debiasing action: map the end-to-end service process and fund the changes that reduce turnaround alongside the refurbishment."</a:t>
            </a:r>
          </a:p>
          <a:p>
            <a:r>
              <a:rPr b="1"/>
              <a:t>Say:</a:t>
            </a:r>
            <a:r>
              <a:t> "Executive insight: Customer-facing investment creates value when the facility and the process behind it are designed for the service the strategy promises."</a:t>
            </a:r>
          </a:p>
          <a:p>
            <a:r>
              <a:rPr b="1"/>
              <a:t>Ask:</a:t>
            </a:r>
            <a:r>
              <a:t> "Which customer-facing investment improved appearance while the operating conditions behind it stayed the same?"</a:t>
            </a:r>
          </a:p>
          <a:p>
            <a:r>
              <a:t/>
            </a:r>
          </a:p>
          <a:p>
            <a:r>
              <a:rPr b="1"/>
              <a:t>3. Card 7: CCO · Commercial Performance, Revenue Prioritisation.</a:t>
            </a:r>
          </a:p>
          <a:p>
            <a:r>
              <a:rPr b="1"/>
              <a:t>Say:</a:t>
            </a:r>
            <a:r>
              <a:t> "The potential bias is Revenue Prioritisation. The decision: the CCO signs a major contract with aggressive delivery timelines to secure revenue growth without testing process throughput and the implications of reallocating assets."</a:t>
            </a:r>
          </a:p>
          <a:p>
            <a:r>
              <a:rPr b="1"/>
              <a:t>Say:</a:t>
            </a:r>
            <a:r>
              <a:t> "Systems, Operational Flow, Process Efficiency: contractual turnaround commitments exceed process throughput, producing backlogs and delayed fulfilment. Debiasing action: validate throughput and turnaround capability before agreeing delivery timelines."</a:t>
            </a:r>
          </a:p>
          <a:p>
            <a:r>
              <a:rPr b="1"/>
              <a:t>Say:</a:t>
            </a:r>
            <a:r>
              <a:t> "Resources, Delivery Capacity, Resource Utilisation: assets are redirected to the new contract without accounting for their allocation to other strategic commitments. Debiasing action: assess the enterprise-wide consequences of resource reallocation before confirming obligations."</a:t>
            </a:r>
          </a:p>
          <a:p>
            <a:r>
              <a:rPr b="1"/>
              <a:t>Say:</a:t>
            </a:r>
            <a:r>
              <a:t> "Executive insight: Commercial growth must be matched by operational flow and effective resource deployment."</a:t>
            </a:r>
          </a:p>
          <a:p>
            <a:r>
              <a:rPr b="1"/>
              <a:t>Ask:</a:t>
            </a:r>
            <a:r>
              <a:t> "Which commercial commitment is creating pressure because operating requirements were not validated?"</a:t>
            </a:r>
          </a:p>
          <a:p>
            <a:r>
              <a:t/>
            </a:r>
          </a:p>
          <a:p>
            <a:r>
              <a:rPr b="1"/>
              <a:t>4. Card 8: CPO · Procurement and Supply, Consolidation Efficiency.</a:t>
            </a:r>
          </a:p>
          <a:p>
            <a:r>
              <a:rPr b="1"/>
              <a:t>Say:</a:t>
            </a:r>
            <a:r>
              <a:t> "The potential bias is Consolidation Efficiency. The decision: the CPO consolidates the supply of critical spare parts with a single supplier to secure volume discounts. No alternative source is qualified, and a supplier stock-out halts repairs for three weeks."</a:t>
            </a:r>
          </a:p>
          <a:p>
            <a:r>
              <a:rPr b="1"/>
              <a:t>Say:</a:t>
            </a:r>
            <a:r>
              <a:t> "Resources, Delivery Capacity, Asset Availability: equipment waiting for parts stays out of service, reducing the productive assets available for planned output. Debiasing action: identify critical parts and qualify an alternative source, or hold buffer stock sized to repair lead times."</a:t>
            </a:r>
          </a:p>
          <a:p>
            <a:r>
              <a:rPr b="1"/>
              <a:t>Say:</a:t>
            </a:r>
            <a:r>
              <a:t> "Governance, Decision Responsiveness, Risk Management: supplier concentration risk is not assessed when the contract is awarded, so no mitigation exists when supply fails. Debiasing action: assess supply continuity risk in every critical sourcing decision and record the agreed mitigation."</a:t>
            </a:r>
          </a:p>
          <a:p>
            <a:r>
              <a:rPr b="1"/>
              <a:t>Say:</a:t>
            </a:r>
            <a:r>
              <a:t> "Executive insight: Sourcing savings hold their value when the supply that delivery depends on is protected."</a:t>
            </a:r>
          </a:p>
          <a:p>
            <a:r>
              <a:rPr b="1"/>
              <a:t>Ask:</a:t>
            </a:r>
            <a:r>
              <a:t> "Which critical supply depends on a single source with no tested fallback?"</a:t>
            </a:r>
          </a:p>
          <a:p>
            <a:r>
              <a:t/>
            </a:r>
          </a:p>
          <a:p>
            <a:r>
              <a:rPr b="1"/>
              <a:t>5. Card 9: CRO · Risk and Governance, Compliance Framing.</a:t>
            </a:r>
          </a:p>
          <a:p>
            <a:r>
              <a:rPr b="1"/>
              <a:t>Say:</a:t>
            </a:r>
            <a:r>
              <a:t> "The potential bias is Compliance Framing. The decision: the CRO's enterprise risk register concentrates on financial, regulatory and fraud risks. Operational continuity risks, such as power supply, connectivity and the failure of a core system, are not recorded, so no owner, mitigation or recovery plan exists."</a:t>
            </a:r>
          </a:p>
          <a:p>
            <a:r>
              <a:rPr b="1"/>
              <a:t>Say:</a:t>
            </a:r>
            <a:r>
              <a:t> "Governance, Decision Responsiveness, Risk Management: risks that threaten delivery continuity are not identified, assessed or monitored, so leaders learn of them when an outage occurs. Debiasing action: extend the risk register to operational continuity risks, each with an owner, mitigation and tested recovery plan."</a:t>
            </a:r>
          </a:p>
          <a:p>
            <a:r>
              <a:rPr b="1"/>
              <a:t>Say:</a:t>
            </a:r>
            <a:r>
              <a:t> "Environment, Operational Readiness, Infrastructure: single points of failure in infrastructure receive no investment priority because they are absent from the risk register. Debiasing action: assess critical infrastructure for single points of failure and agree the backup capacity strategic delivery requires."</a:t>
            </a:r>
          </a:p>
          <a:p>
            <a:r>
              <a:rPr b="1"/>
              <a:t>Say:</a:t>
            </a:r>
            <a:r>
              <a:t> "Executive insight: Risk management protects strategic delivery when it covers the operating conditions that delivery depends on."</a:t>
            </a:r>
          </a:p>
          <a:p>
            <a:r>
              <a:rPr b="1"/>
              <a:t>Ask:</a:t>
            </a:r>
            <a:r>
              <a:t> "Which operating risk would halt delivery tomorrow, and does it appear in our risk register?"</a:t>
            </a:r>
          </a:p>
          <a:p>
            <a:r>
              <a:t/>
            </a:r>
          </a:p>
          <a:p>
            <a:r>
              <a:rPr b="1"/>
              <a:t>6. Card 10: CSO · Strategic Integration, Planning Optimism.</a:t>
            </a:r>
          </a:p>
          <a:p>
            <a:r>
              <a:rPr b="1"/>
              <a:t>Say:</a:t>
            </a:r>
            <a:r>
              <a:t> "The potential bias is Planning Optimism. The decision: the CSO develops an ambitious roadmap with milestones that assume funding and cross-functional processes will be ready, without confirming these dependencies with accountable functions."</a:t>
            </a:r>
          </a:p>
          <a:p>
            <a:r>
              <a:rPr b="1"/>
              <a:t>Say:</a:t>
            </a:r>
            <a:r>
              <a:t> "Resources, Delivery Capacity, Investment: milestones are confirmed before implementation funding is secured. Debiasing action: validate investment commitments and funding timing before fixing delivery milestones."</a:t>
            </a:r>
          </a:p>
          <a:p>
            <a:r>
              <a:rPr b="1"/>
              <a:t>Say:</a:t>
            </a:r>
            <a:r>
              <a:t> "Systems, Operational Flow, Integration: the roadmap assumes functional handovers will work cohesively without testing readiness. Debiasing action: map cross-functional workflow dependencies and confirm integration requirements."</a:t>
            </a:r>
          </a:p>
          <a:p>
            <a:r>
              <a:rPr b="1"/>
              <a:t>Say:</a:t>
            </a:r>
            <a:r>
              <a:t> "Executive insight: Strategic milestones depend on validated operating conditions as well as coherent plans."</a:t>
            </a:r>
          </a:p>
          <a:p>
            <a:r>
              <a:rPr b="1"/>
              <a:t>Ask:</a:t>
            </a:r>
            <a:r>
              <a:t> "Which milestone depends on funding or integration that has not yet been established?"</a:t>
            </a:r>
          </a:p>
          <a:p>
            <a:r>
              <a:t/>
            </a:r>
          </a:p>
          <a:p>
            <a:r>
              <a:rPr b="1"/>
              <a:t>7. Draw the pattern across the ten cards.</a:t>
            </a:r>
          </a:p>
          <a:p>
            <a:r>
              <a:rPr b="1"/>
              <a:t>Ask:</a:t>
            </a:r>
            <a:r>
              <a:t> "Which ESRG components appear most often across the ten cards?"</a:t>
            </a:r>
          </a:p>
          <a:p>
            <a:r>
              <a:rPr b="1"/>
              <a:t>Listen for:</a:t>
            </a:r>
            <a:r>
              <a:t> Investment, Integration and Process Efficiency recurring across portfolios; decisions made in one function landing on another function's operating conditions.</a:t>
            </a:r>
          </a:p>
          <a:p>
            <a:r>
              <a:rPr b="1"/>
              <a:t>Deepen, say:</a:t>
            </a:r>
            <a:r>
              <a:t> "A culture that cannot name its unsustainable practices before they produce a breakdown keeps managing consequences and leaves the causes untouched. Create room for an outside voice that can name what insiders are too close to see."</a:t>
            </a:r>
          </a:p>
          <a:p>
            <a:r>
              <a:t>(Insight: Naming unsustainable practice. Source: Journal, 11 February 2026 — Professional Insights: Culture)</a:t>
            </a:r>
          </a:p>
          <a:p>
            <a:r>
              <a:t/>
            </a:r>
          </a:p>
          <a:p>
            <a:r>
              <a:rPr b="1"/>
              <a:t>8. Bridge to 3.2.</a:t>
            </a:r>
          </a:p>
          <a:p>
            <a:r>
              <a:rPr b="1"/>
              <a:t>Say:</a:t>
            </a:r>
            <a:r>
              <a:t> "The cards are illustrations. Now each of you turns the same questions on your own role."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3.2 — PERSONAL ACTIVITY: MY EXECUTIVE ESRG BIAS REFLECTION</a:t>
            </a:r>
            <a:endParaRPr lang="en-US" dirty="0"/>
          </a:p>
          <a:p>
            <a:r>
              <a:t/>
            </a:r>
          </a:p>
          <a:p>
            <a:r>
              <a:rPr b="1"/>
              <a:t>HOW TO TEACH IT:</a:t>
            </a:r>
          </a:p>
          <a:p>
            <a:r>
              <a:t/>
            </a:r>
          </a:p>
          <a:p>
            <a:r>
              <a:rPr b="1"/>
              <a:t>1. State the purpose.</a:t>
            </a:r>
          </a:p>
          <a:p>
            <a:r>
              <a:rPr b="1"/>
              <a:t>Say:</a:t>
            </a:r>
            <a:r>
              <a:t> "This personal activity identifies where your own executive assumptions and functional priorities may introduce bias into decisions affecting organisational operating conditions."</a:t>
            </a:r>
          </a:p>
          <a:p>
            <a:r>
              <a:t/>
            </a:r>
          </a:p>
          <a:p>
            <a:r>
              <a:rPr b="1"/>
              <a:t>2. Explain the four entries, on the slide.</a:t>
            </a:r>
          </a:p>
          <a:p>
            <a:r>
              <a:rPr b="1"/>
              <a:t>Say:</a:t>
            </a:r>
            <a:r>
              <a:t> "For each of the four ESRG domains, select one component where your executive role or functional priorities may introduce bias. Then write three things: your potential bias, meaning the assumption behind it; its potential execution consequence; and your debiasing technique, meaning the evidence or alternative perspective needed to counter it."</a:t>
            </a:r>
          </a:p>
          <a:p>
            <a:r>
              <a:t/>
            </a:r>
          </a:p>
          <a:p>
            <a:r>
              <a:rPr b="1"/>
              <a:t>3. Read the CFO worked example for the level of detail.</a:t>
            </a:r>
          </a:p>
          <a:p>
            <a:r>
              <a:rPr b="1"/>
              <a:t>Say:</a:t>
            </a:r>
            <a:r>
              <a:t> "Domain: Resources. Execution-enabling capability: Delivery Capacity. Selected component: Investment.</a:t>
            </a:r>
          </a:p>
          <a:p>
            <a:r>
              <a:t>My potential bias: I may prioritise immediate expenditure reductions over investment required for long-term operating reliability.</a:t>
            </a:r>
          </a:p>
          <a:p>
            <a:r>
              <a:t>Potential execution consequence: my decisions could delay essential investment, reducing capacity for consistent operational delivery.</a:t>
            </a:r>
          </a:p>
          <a:p>
            <a:r>
              <a:t>My debiasing technique: before approving reductions, I should examine the investment's contribution to strategic delivery and assess longer-term consequences of postponement."</a:t>
            </a:r>
          </a:p>
          <a:p>
            <a:r>
              <a:t/>
            </a:r>
          </a:p>
          <a:p>
            <a:r>
              <a:rPr b="1"/>
              <a:t>4. Debrief in the room.</a:t>
            </a:r>
          </a:p>
          <a:p>
            <a:r>
              <a:rPr b="1"/>
              <a:t>Ask:</a:t>
            </a:r>
            <a:r>
              <a:t> "Share one component where your executive perspective may introduce bias."</a:t>
            </a:r>
          </a:p>
          <a:p>
            <a:r>
              <a:rPr b="1"/>
              <a:t>Say:</a:t>
            </a:r>
            <a:r>
              <a:t> "Different executives interpret the same operating requirement differently. A CFO may view an infrastructure upgrade as expenditure; a COO may view it as operational continuity. Both perspectives contribute to a better enterprise decision when examined together."</a:t>
            </a:r>
          </a:p>
          <a:p>
            <a:r>
              <a:rPr b="1"/>
              <a:t>Ask:</a:t>
            </a:r>
            <a:r>
              <a:t> "What changes when executives examine decisions through the operating capabilities required by the enterprise as well as through their functional priorities?"</a:t>
            </a:r>
          </a:p>
          <a:p>
            <a:r>
              <a:rPr b="1"/>
              <a:t>Listen for:</a:t>
            </a:r>
            <a:r>
              <a:t> decisions tested against the enterprise commitment, and other functions brought in before the decision is made.</a:t>
            </a:r>
          </a:p>
          <a:p>
            <a:r>
              <a:t/>
            </a:r>
          </a:p>
          <a:p>
            <a:r>
              <a:rPr b="1"/>
              <a:t>5. Close the section.</a:t>
            </a:r>
          </a:p>
          <a:p>
            <a:r>
              <a:rPr b="1"/>
              <a:t>Say:</a:t>
            </a:r>
            <a:r>
              <a:t> "Executive decisions shape organisational operating conditions through the priorities, assumptions and practices applied within each function. Effective ESRG alignment requires leaders to recognise how their decisions influence operating capabilities beyond their portfolios and challenge assumptions that undermine strategic delivery."</a:t>
            </a:r>
          </a:p>
          <a:p>
            <a:r>
              <a:t/>
            </a:r>
          </a:p>
          <a:p>
            <a:r>
              <a:rPr b="1"/>
              <a:t>6. Bridge to Section 4.</a:t>
            </a:r>
          </a:p>
          <a:p>
            <a:r>
              <a:rPr b="1"/>
              <a:t>Say:</a:t>
            </a:r>
            <a:r>
              <a:t> "Section 4 examines how executive leaders reconcile these perspectives and establish organisational adjustments to strengthen enterprise-wide execution capability."</a:t>
            </a:r>
          </a:p>
          <a:p>
            <a:r>
              <a:t/>
            </a:r>
          </a:p>
          <a:p>
            <a:r>
              <a:rPr b="1"/>
              <a:t>ON THE PORTAL, AFTER THE TEACHING:</a:t>
            </a:r>
          </a:p>
          <a:p>
            <a:r>
              <a:t>Participants complete My Executive ESRG Bias Reflection in 3.2 of the participant file as portfolio work: one component per domain, selected from the list, with the potential bias, the potential execution consequence and the debiasing technique. Entries save as they type.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endParaRPr lang="en-US" dirty="0"/>
          </a:p>
          <a:p>
            <a:r>
              <a:t>How Does the Executive Team Create Collective Intelligence for ESRG Alignment?</a:t>
            </a:r>
          </a:p>
          <a:p>
            <a:r>
              <a:t/>
            </a:r>
          </a:p>
          <a:p>
            <a:r>
              <a:rPr b="1"/>
              <a:t>HOW THIS SECTION RUNS:</a:t>
            </a:r>
          </a:p>
          <a:p>
            <a:r>
              <a:t>1. 4.1: the three dimensions of collective ESRG intelligence.</a:t>
            </a:r>
          </a:p>
          <a:p>
            <a:r>
              <a:t>2. 4.2: the Enterprise ESRG Scanner, one source with two linked views, shown with illustrative scores.</a:t>
            </a:r>
          </a:p>
          <a:p>
            <a:r>
              <a:t>3. 4.3: interpreting the prepopulated scanner.</a:t>
            </a:r>
          </a:p>
          <a:p>
            <a:r>
              <a:t>4. 4.4: the Collective Intelligence Response.</a:t>
            </a:r>
          </a:p>
          <a:p>
            <a:r>
              <a:t>5. 4.5: the personal activity, My Capstone Functional ESRG Assessment.</a:t>
            </a:r>
          </a:p>
          <a:p>
            <a:r>
              <a:t>6. The Section 4 Reflections slide.</a:t>
            </a:r>
          </a:p>
          <a:p>
            <a:r>
              <a:t/>
            </a:r>
          </a:p>
          <a:p>
            <a:r>
              <a:rPr b="1"/>
              <a:t>HOW TO OPEN THE SECTION:</a:t>
            </a:r>
          </a:p>
          <a:p>
            <a:r>
              <a:t/>
            </a:r>
          </a:p>
          <a:p>
            <a:r>
              <a:rPr b="1"/>
              <a:t>1. Link to Sections 2 and 3.</a:t>
            </a:r>
          </a:p>
          <a:p>
            <a:r>
              <a:rPr b="1"/>
              <a:t>Say:</a:t>
            </a:r>
            <a:r>
              <a:t> "In Section 2 you learned the four execution-enabling capabilities and the Functional ESRG Scanner. In Section 3 you examined executive biases that can distort operating decisions. This section brings the functional perspectives together to establish what the executive team can see, understand and address collectively."</a:t>
            </a:r>
          </a:p>
          <a:p>
            <a:r>
              <a:t/>
            </a:r>
          </a:p>
          <a:p>
            <a:r>
              <a:rPr b="1"/>
              <a:t>2. Read the two section learning outcomes from the slide.</a:t>
            </a:r>
          </a:p>
          <a:p>
            <a:r>
              <a:rPr b="1"/>
              <a:t>SECTION LEARNING OUTCOMES:</a:t>
            </a:r>
          </a:p>
          <a:p>
            <a:r>
              <a:t>1. Integrate functional ESRG assessments into a collective intelligence view by identifying convergence, divergence and dependency across organisational operating capabilities.</a:t>
            </a:r>
          </a:p>
          <a:p>
            <a:r>
              <a:t>2. Formulate collective intelligence responses that coordinate shared conditions, reconcile functional differences and align operating dependencies affecting strategic commitments.</a:t>
            </a:r>
          </a:p>
          <a:p>
            <a:r>
              <a:t/>
            </a:r>
          </a:p>
          <a:p>
            <a:r>
              <a:rPr b="1"/>
              <a:t>3. Say how the illustrative scanner is used.</a:t>
            </a:r>
          </a:p>
          <a:p>
            <a:r>
              <a:rPr b="1"/>
              <a:t>Say:</a:t>
            </a:r>
            <a:r>
              <a:t> "We use an illustrative, prepopulated Enterprise ESRG Scanner to learn how to interpret and respond. You do not rescore the illustrative data. In 4.5 each of you completes the Functional ESRG Scanner for your assigned capstone executive function. Those real scores feed your group's Enterprise Scanner in Section 5."</a:t>
            </a:r>
          </a:p>
          <a:p>
            <a:r>
              <a:t/>
            </a:r>
          </a:p>
          <a:p>
            <a:r>
              <a:rPr b="1"/>
              <a:t>4. Put the central question to the room.</a:t>
            </a:r>
          </a:p>
          <a:p>
            <a:r>
              <a:rPr b="1"/>
              <a:t>Ask:</a:t>
            </a:r>
            <a:r>
              <a:t> "What can the executive team discover about the operating environment collectively that no function can establish from its own assessment alone?"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THREE DIMENSIONS OF COLLECTIVE ESRG INTELLIGENCE</a:t>
            </a:r>
            <a:endParaRPr lang="en-US" dirty="0"/>
          </a:p>
          <a:p>
            <a:r>
              <a:t/>
            </a:r>
          </a:p>
          <a:p>
            <a:r>
              <a:rPr b="1"/>
              <a:t>HOW TO TEACH IT:</a:t>
            </a:r>
          </a:p>
          <a:p>
            <a:r>
              <a:t/>
            </a:r>
          </a:p>
          <a:p>
            <a:r>
              <a:rPr b="1"/>
              <a:t>1. Introduce the three dimensions.</a:t>
            </a:r>
          </a:p>
          <a:p>
            <a:r>
              <a:rPr b="1"/>
              <a:t>Say:</a:t>
            </a:r>
            <a:r>
              <a:t> "Collective intelligence progresses through three connected dimensions. Each has one primary interpretive perspective and a corresponding response discipline. The pairing is a practical learning sequence; each perspective can also be applied at the other levels."</a:t>
            </a:r>
          </a:p>
          <a:p>
            <a:r>
              <a:t/>
            </a:r>
          </a:p>
          <a:p>
            <a:r>
              <a:rPr b="1"/>
              <a:t>2. Teach Convergence, the first card.</a:t>
            </a:r>
          </a:p>
          <a:p>
            <a:r>
              <a:rPr b="1"/>
              <a:t>Say:</a:t>
            </a:r>
            <a:r>
              <a:t> "Functional Intelligence looks for Convergence: the common operating strengths or constraints that emerge when individual functional assessments are brought together. The guiding question: where are our functions pointing to the same operating conditions? The response discipline is Coordinate.</a:t>
            </a:r>
          </a:p>
          <a:p>
            <a:r>
              <a:t>When several functions independently report a similar condition, the executive team gains evidence of a potentially shared operating pattern. Low Integration scores in Commercial, Operations and Technology may indicate a recurring difficulty connecting workflows. Convergence invites the team to test whether the weakness has a common cause and whether a coordinated response is warranted."</a:t>
            </a:r>
          </a:p>
          <a:p>
            <a:r>
              <a:t/>
            </a:r>
          </a:p>
          <a:p>
            <a:r>
              <a:rPr b="1"/>
              <a:t>3. Teach Divergence, the second card.</a:t>
            </a:r>
          </a:p>
          <a:p>
            <a:r>
              <a:rPr b="1"/>
              <a:t>Say:</a:t>
            </a:r>
            <a:r>
              <a:t> "Cross-Functional Intelligence looks for Divergence: differences in functional scores or experiences that need explanation and reconciliation. The guiding question: where do our functional assessments differ, and why? The response discipline is Reconcile.</a:t>
            </a:r>
          </a:p>
          <a:p>
            <a:r>
              <a:t>Differences in scores invite investigation before any judgement is made. Technology may report that its systems are reliable while Operations reports that the same technological environment does not adequately support required activities. The executive team examines the basis of each assessment, distinguishes differing operating experiences from inconsistent criteria and reconciles the actual requirement."</a:t>
            </a:r>
          </a:p>
          <a:p>
            <a:r>
              <a:rPr b="1"/>
              <a:t>Deepen, say:</a:t>
            </a:r>
            <a:r>
              <a:t> "Organisations become more intelligent when difficult information is incorporated into decisions."</a:t>
            </a:r>
          </a:p>
          <a:p>
            <a:r>
              <a:t>(Insight: Honest signals. Source: Journal, 5 September 2026 — Professional Insights: Strategy)</a:t>
            </a:r>
          </a:p>
          <a:p>
            <a:r>
              <a:t/>
            </a:r>
          </a:p>
          <a:p>
            <a:r>
              <a:rPr b="1"/>
              <a:t>4. Teach Dependency, the third card.</a:t>
            </a:r>
          </a:p>
          <a:p>
            <a:r>
              <a:rPr b="1"/>
              <a:t>Say:</a:t>
            </a:r>
            <a:r>
              <a:t> "Enterprise Intelligence looks for Dependency: how capabilities in one function enable or constrain other functions and enterprise strategic commitments. The guiding question: where do we depend on one another to deliver enterprise results? The response discipline is Align.</a:t>
            </a:r>
          </a:p>
          <a:p>
            <a:r>
              <a:t>A function may score strongly while its strategic contribution remains exposed to another function's operating weakness. Commercial growth may depend on Operations infrastructure and Finance investment. Dependency makes the chain of delivery visible and enables executives to agree shared operating requirements and commitments."</a:t>
            </a:r>
          </a:p>
          <a:p>
            <a:r>
              <a:t/>
            </a:r>
          </a:p>
          <a:p>
            <a:r>
              <a:rPr b="1"/>
              <a:t>5. Read the sequence, in the band on the slide.</a:t>
            </a:r>
          </a:p>
          <a:p>
            <a:r>
              <a:rPr b="1"/>
              <a:t>Say:</a:t>
            </a:r>
            <a:r>
              <a:t> "The executive conversation runs: what do we have in common? Where do we differ? How do we depend on one another?"</a:t>
            </a:r>
          </a:p>
          <a:p>
            <a:r>
              <a:t/>
            </a:r>
          </a:p>
          <a:p>
            <a:r>
              <a:rPr b="1"/>
              <a:t>6. Bridge to 4.2.</a:t>
            </a:r>
          </a:p>
          <a:p>
            <a:r>
              <a:rPr b="1"/>
              <a:t>Say:</a:t>
            </a:r>
            <a:r>
              <a:t> "To have that conversation, the team needs every function's scores in one place. That is the Enterprise ESRG Scanner."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ENTERPRISE ESRG SCANNER: ONE SOURCE, TWO LINKED VIEWS</a:t>
            </a:r>
            <a:endParaRPr lang="en-US" dirty="0"/>
          </a:p>
          <a:p>
            <a:r>
              <a:t/>
            </a:r>
          </a:p>
          <a:p>
            <a:r>
              <a:rPr b="1"/>
              <a:t>HOW TO TEACH IT:</a:t>
            </a:r>
          </a:p>
          <a:p>
            <a:r>
              <a:t/>
            </a:r>
          </a:p>
          <a:p>
            <a:r>
              <a:rPr b="1"/>
              <a:t>1. Say where the scores come from.</a:t>
            </a:r>
          </a:p>
          <a:p>
            <a:r>
              <a:rPr b="1"/>
              <a:t>Say:</a:t>
            </a:r>
            <a:r>
              <a:t> "The Enterprise ESRG Scanner is populated directly from the Functional ESRG Scanners. There is no separate enterprise scoring exercise. The figures you see are illustrative and come from no real organisation."</a:t>
            </a:r>
          </a:p>
          <a:p>
            <a:r>
              <a:t/>
            </a:r>
          </a:p>
          <a:p>
            <a:r>
              <a:rPr b="1"/>
              <a:t>2. Explain the two views.</a:t>
            </a:r>
          </a:p>
          <a:p>
            <a:r>
              <a:rPr b="1"/>
              <a:t>Say:</a:t>
            </a:r>
            <a:r>
              <a:t> "View B is the detailed component-level view: the 12 components down the side and one column per function, Finance, Operations, Commercial, HR and Technology. In the actual tool each cell links to that function's 1 to 5 component score for the same assessment period. View A, on the slide, is the calculated summary: each function's capability score is the average of its three component scores, and the enterprise average is the average of the assessed functional capability scores."</a:t>
            </a:r>
          </a:p>
          <a:p>
            <a:r>
              <a:t/>
            </a:r>
          </a:p>
          <a:p>
            <a:r>
              <a:rPr b="1"/>
              <a:t>3. Give the instrument logic.</a:t>
            </a:r>
          </a:p>
          <a:p>
            <a:r>
              <a:rPr b="1"/>
              <a:t>Say:</a:t>
            </a:r>
            <a:r>
              <a:t> "Each component score is pulled from its functional source. Missing assessments stay blank and are flagged, and a blank never counts as zero. The scoring definitions, the annual baseline and the quarterly periods are identical to the Functional Scanner. Where a component is genuinely not applicable, that is recorded and the component is left out of the relevant average."</a:t>
            </a:r>
          </a:p>
          <a:p>
            <a:r>
              <a:t/>
            </a:r>
          </a:p>
          <a:p>
            <a:r>
              <a:rPr b="1"/>
              <a:t>4. Read the summary on the slide.</a:t>
            </a:r>
          </a:p>
          <a:p>
            <a:r>
              <a:rPr b="1"/>
              <a:t>Say:</a:t>
            </a:r>
            <a:r>
              <a:t> "Enterprise averages: Operational Readiness 3.60, Operational Flow 3.07, Delivery Capacity 3.47, Decision Responsiveness 3.73. Operations is the lowest function on three of the four capabilities, at 2.67."</a:t>
            </a:r>
          </a:p>
          <a:p>
            <a:r>
              <a:rPr b="1"/>
              <a:t>Ask:</a:t>
            </a:r>
            <a:r>
              <a:t> "Looking at the summary alone, where would you look first?"</a:t>
            </a:r>
          </a:p>
          <a:p>
            <a:r>
              <a:rPr b="1"/>
              <a:t>Listen for:</a:t>
            </a:r>
            <a:r>
              <a:t> Operational Flow, the lowest enterprise average, and the Operations column.</a:t>
            </a:r>
          </a:p>
          <a:p>
            <a:r>
              <a:t/>
            </a:r>
          </a:p>
          <a:p>
            <a:r>
              <a:rPr b="1"/>
              <a:t>5. Send them back to the detail.</a:t>
            </a:r>
          </a:p>
          <a:p>
            <a:r>
              <a:rPr b="1"/>
              <a:t>Say:</a:t>
            </a:r>
            <a:r>
              <a:t> "These averages are signals for investigation. Read the detailed component view alongside the summary. A reasonable enterprise average can conceal a critical low score in a function on which strategic delivery depends. In the component view, Integration scores 2 in Finance, Operations, Commercial and Technology; Operations scores 2 on Infrastructure, Asset Availability and Authority; Technology scores 2 on Technology."</a:t>
            </a:r>
          </a:p>
          <a:p>
            <a:r>
              <a:t/>
            </a:r>
          </a:p>
          <a:p>
            <a:r>
              <a:rPr b="1"/>
              <a:t>6. Bridge to 4.3.</a:t>
            </a:r>
          </a:p>
          <a:p>
            <a:r>
              <a:rPr b="1"/>
              <a:t>Say:</a:t>
            </a:r>
            <a:r>
              <a:t> "Now we interpret those scores, capability by capability."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INTERPRETING THE PREPOPULATED SCANNER</a:t>
            </a:r>
            <a:endParaRPr lang="en-US" dirty="0"/>
          </a:p>
          <a:p>
            <a:r>
              <a:t/>
            </a:r>
          </a:p>
          <a:p>
            <a:r>
              <a:rPr b="1"/>
              <a:t>HOW TO TEACH IT:</a:t>
            </a:r>
          </a:p>
          <a:p>
            <a:r>
              <a:t/>
            </a:r>
          </a:p>
          <a:p>
            <a:r>
              <a:rPr b="1"/>
              <a:t>1. Set the sequence.</a:t>
            </a:r>
          </a:p>
          <a:p>
            <a:r>
              <a:rPr b="1"/>
              <a:t>Say:</a:t>
            </a:r>
            <a:r>
              <a:t> "Interpret the scores capability by capability. For each capability, use the three perspectives in order: identify common patterns, Convergence; investigate differences, Divergence; then establish strategic operating dependencies, Dependency. Every finding is a hypothesis to validate through evidence and executive dialogue."</a:t>
            </a:r>
          </a:p>
          <a:p>
            <a:r>
              <a:t/>
            </a:r>
          </a:p>
          <a:p>
            <a:r>
              <a:rPr b="1"/>
              <a:t>2. Give the three questions you ask of each capability.</a:t>
            </a:r>
          </a:p>
          <a:p>
            <a:r>
              <a:rPr b="1"/>
              <a:t>Say:</a:t>
            </a:r>
            <a:r>
              <a:t> "Convergence: which functions report similar conditions, and do those ratings reflect a shared cause? Divergence: what explains the differences in scores, requirements or operating experience? Dependency: which strategic commitment depends on these conditions, and which functions must act together?"</a:t>
            </a:r>
          </a:p>
          <a:p>
            <a:r>
              <a:t/>
            </a:r>
          </a:p>
          <a:p>
            <a:r>
              <a:rPr b="1"/>
              <a:t>3. Work through Operational Readiness together.</a:t>
            </a:r>
          </a:p>
          <a:p>
            <a:r>
              <a:rPr b="1"/>
              <a:t>Ask:</a:t>
            </a:r>
            <a:r>
              <a:t> "On Operational Readiness, what do you see?"</a:t>
            </a:r>
          </a:p>
          <a:p>
            <a:r>
              <a:rPr b="1"/>
              <a:t>Say:</a:t>
            </a:r>
            <a:r>
              <a:t> "Convergence: Infrastructure scores 4 in Finance, Commercial, HR and Technology, similar confidence in readiness; verify whether these functions rely on the same infrastructure or separate arrangements. Divergence: Infrastructure, Operations 2 against four functions at 4; determine what differs in capacity, reliability or operating requirements, and do not assume identical conditions. Dependency: commercial expansion relies on Operations fulfilment; Operations Infrastructure at 2 may threaten the enterprise commitment despite Commercial Infrastructure at 4."</a:t>
            </a:r>
          </a:p>
          <a:p>
            <a:r>
              <a:t/>
            </a:r>
          </a:p>
          <a:p>
            <a:r>
              <a:rPr b="1"/>
              <a:t>4. Let the room lead Operational Flow, then confirm.</a:t>
            </a:r>
          </a:p>
          <a:p>
            <a:r>
              <a:rPr b="1"/>
              <a:t>Ask:</a:t>
            </a:r>
            <a:r>
              <a:t> "Now Operational Flow. Convergence, divergence, dependency?"</a:t>
            </a:r>
          </a:p>
          <a:p>
            <a:r>
              <a:rPr b="1"/>
              <a:t>Listen for, then confirm:</a:t>
            </a:r>
            <a:r>
              <a:t> Convergence: Integration at 2 in Finance, Operations, Commercial and Technology; test whether shared handover failures explain the common weakness. Divergence: HR at 3 against four functions at 2; examine whether HR has better-connected workflows or a different basis for its rating. Dependency: order-to-delivery performance depends on connected Commercial, Operations and Technology workflows; failures at handovers can constrain the whole delivery chain.</a:t>
            </a:r>
          </a:p>
          <a:p>
            <a:r>
              <a:t/>
            </a:r>
          </a:p>
          <a:p>
            <a:r>
              <a:rPr b="1"/>
              <a:t>5. Delivery Capacity.</a:t>
            </a:r>
          </a:p>
          <a:p>
            <a:r>
              <a:rPr b="1"/>
              <a:t>Say:</a:t>
            </a:r>
            <a:r>
              <a:t> "Convergence: Investment at 4 in Finance, Commercial and HR; test whether adequate provision is consistently available for their strategic requirements. Divergence: Asset Availability, Operations 2 against Finance, Commercial and HR at 4; examine which assets and delivery loads explain the gap. Dependency: Commercial commitments may depend on Operations assets at 2, even when Commercial reports Asset Availability at 4; validate the capacity needed to fulfil enterprise demand."</a:t>
            </a:r>
          </a:p>
          <a:p>
            <a:r>
              <a:t/>
            </a:r>
          </a:p>
          <a:p>
            <a:r>
              <a:rPr b="1"/>
              <a:t>6. Decision Responsiveness.</a:t>
            </a:r>
          </a:p>
          <a:p>
            <a:r>
              <a:rPr b="1"/>
              <a:t>Say:</a:t>
            </a:r>
            <a:r>
              <a:t> "Convergence: Policies &amp; Procedures and Risk Management are rated 4 by every function; confirm whether the shared strength is supported by consistent practice. Divergence: Authority, Operations 2, Commercial and Technology 3, Finance and HR 4; investigate delegated decision rights and approval delays. Dependency: if Operations approvals are delayed, customer fulfilment can be held up despite responsive decisions elsewhere; agree cross-functional escalation and delegation needs."</a:t>
            </a:r>
          </a:p>
          <a:p>
            <a:r>
              <a:t/>
            </a:r>
          </a:p>
          <a:p>
            <a:r>
              <a:rPr b="1"/>
              <a:t>7. Give the caution, in the band on the slide.</a:t>
            </a:r>
          </a:p>
          <a:p>
            <a:r>
              <a:rPr b="1"/>
              <a:t>Say:</a:t>
            </a:r>
            <a:r>
              <a:t> "A difference in ratings does not by itself prove misalignment, and a shared low rating does not by itself prove a shared root cause. Executive dialogue must validate both."</a:t>
            </a:r>
          </a:p>
          <a:p>
            <a:r>
              <a:t/>
            </a:r>
          </a:p>
          <a:p>
            <a:r>
              <a:rPr b="1"/>
              <a:t>8. Bridge to 4.4.</a:t>
            </a:r>
          </a:p>
          <a:p>
            <a:r>
              <a:rPr b="1"/>
              <a:t>Say:</a:t>
            </a:r>
            <a:r>
              <a:t> "Once a finding is validated, the team decides what to do about it. That is the Collective Intelligence Response."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4.4 — COLLECTIVE INTELLIGENCE RESPONSE</a:t>
            </a:r>
            <a:endParaRPr lang="en-US" dirty="0"/>
          </a:p>
          <a:p>
            <a:r>
              <a:t/>
            </a:r>
          </a:p>
          <a:p>
            <a:r>
              <a:rPr b="1"/>
              <a:t>HOW TO TEACH IT:</a:t>
            </a:r>
          </a:p>
          <a:p>
            <a:r>
              <a:t/>
            </a:r>
          </a:p>
          <a:p>
            <a:r>
              <a:rPr b="1"/>
              <a:t>1. Say what the response records.</a:t>
            </a:r>
          </a:p>
          <a:p>
            <a:r>
              <a:rPr b="1"/>
              <a:t>Say:</a:t>
            </a:r>
            <a:r>
              <a:t> "The Collective Intelligence Response records the operating condition, the evidence-based finding and the executive action required. Apply the response discipline that fits the finding: Coordinate shared conditions, Reconcile differences or Align dependencies. The perspective was established when you interpreted the scanner, so it needs no column of its own here."</a:t>
            </a:r>
          </a:p>
          <a:p>
            <a:r>
              <a:t/>
            </a:r>
          </a:p>
          <a:p>
            <a:r>
              <a:rPr b="1"/>
              <a:t>2. Read the three illustrative responses on the slide.</a:t>
            </a:r>
          </a:p>
          <a:p>
            <a:r>
              <a:rPr b="1"/>
              <a:t>Say:</a:t>
            </a:r>
            <a:r>
              <a:t> "COORDINATE, Systems, Operational Flow, Integration. Finding: four functions score Integration at 2, suggesting a possible shared workflow constraint. Response: map the recurring handover failures; confirm whether the root cause is common; agree shared integration requirements and an accountable coordinating lead. Executive functions: COO, CIO, CFO, CCO.</a:t>
            </a:r>
          </a:p>
          <a:p>
            <a:r>
              <a:t>RECONCILE, Environment, Operational Readiness, Technology. Finding: the Technology function scores Technology at 2 while several other functions score 4. Response: compare assessment evidence and functional operating requirements; identify the precise shortfall; agree what must be changed and who will validate readiness. Executive functions: CIO, COO and the affected functional executives.</a:t>
            </a:r>
          </a:p>
          <a:p>
            <a:r>
              <a:t>ALIGN, Environment, Operational Readiness, Infrastructure. Finding: Operations scores Infrastructure at 2; Commercial's growth commitment relies on Operations fulfilment. Response: validate infrastructure capacity against commercial demand; agree required upgrades, funding and sequencing before confirming delivery commitments. Executive functions: CEO, COO, CFO, CCO."</a:t>
            </a:r>
          </a:p>
          <a:p>
            <a:r>
              <a:t/>
            </a:r>
          </a:p>
          <a:p>
            <a:r>
              <a:rPr b="1"/>
              <a:t>3. Test each response with the four questions.</a:t>
            </a:r>
          </a:p>
          <a:p>
            <a:r>
              <a:rPr b="1"/>
              <a:t>Ask:</a:t>
            </a:r>
            <a:r>
              <a:t> "For each proposed response: what does the evidence actually establish? What strategic commitment is affected? What decision requires collective executive agreement? Which functions must contribute?"</a:t>
            </a:r>
          </a:p>
          <a:p>
            <a:r>
              <a:rPr b="1"/>
              <a:t>Listen for:</a:t>
            </a:r>
            <a:r>
              <a:t> responses that name the component, the commitment and the functions, and a decision only the executive team can take together.</a:t>
            </a:r>
          </a:p>
          <a:p>
            <a:r>
              <a:t/>
            </a:r>
          </a:p>
          <a:p>
            <a:r>
              <a:rPr b="1"/>
              <a:t>4. Say where this goes next.</a:t>
            </a:r>
          </a:p>
          <a:p>
            <a:r>
              <a:rPr b="1"/>
              <a:t>Say:</a:t>
            </a:r>
            <a:r>
              <a:t> "This table is illustrative. In Section 5 your capstone team uses its own linked assessments to validate findings, prioritise constraints and develop targeted organisational alignment interventions."</a:t>
            </a:r>
          </a:p>
          <a:p>
            <a:r>
              <a:t/>
            </a:r>
          </a:p>
          <a:p>
            <a:r>
              <a:rPr b="1"/>
              <a:t>5. Bridge to 4.5.</a:t>
            </a:r>
          </a:p>
          <a:p>
            <a:r>
              <a:rPr b="1"/>
              <a:t>Say:</a:t>
            </a:r>
            <a:r>
              <a:t> "For that, your team needs your function's scores. That is the last activity of this section."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4.5 — PERSONAL ACTIVITY: MY CAPSTONE FUNCTIONAL ESRG ASSESSMENT</a:t>
            </a:r>
            <a:endParaRPr lang="en-US" dirty="0"/>
          </a:p>
          <a:p>
            <a:r>
              <a:t/>
            </a:r>
          </a:p>
          <a:p>
            <a:r>
              <a:rPr b="1"/>
              <a:t>HOW TO TEACH IT:</a:t>
            </a:r>
          </a:p>
          <a:p>
            <a:r>
              <a:t/>
            </a:r>
          </a:p>
          <a:p>
            <a:r>
              <a:rPr b="1"/>
              <a:t>1. State the purpose.</a:t>
            </a:r>
          </a:p>
          <a:p>
            <a:r>
              <a:rPr b="1"/>
              <a:t>Say:</a:t>
            </a:r>
            <a:r>
              <a:t> "This activity generates the functional operating intelligence that populates your capstone team's Enterprise ESRG Scanner. You work in your assigned capstone executive role and score the Functional ESRG Performance Scanner for your function within the capstone organisation. It is a personal functional assessment; enterprise interpretation and decisions are kept for Section 5."</a:t>
            </a:r>
          </a:p>
          <a:p>
            <a:r>
              <a:t/>
            </a:r>
          </a:p>
          <a:p>
            <a:r>
              <a:rPr b="1"/>
              <a:t>2. Walk the four steps on the slide.</a:t>
            </a:r>
          </a:p>
          <a:p>
            <a:r>
              <a:rPr b="1"/>
              <a:t>Say:</a:t>
            </a:r>
            <a:r>
              <a:t> "One: select your capstone executive role, enter your business function and select the stated problem from your group's Problem Charter that your assessment addresses.</a:t>
            </a:r>
          </a:p>
          <a:p>
            <a:r>
              <a:t>Two: score all 12 components using the assessment statements and the 1 to 5 scoring guide. Where a component is genuinely not applicable to your function, select N/A; it is left out of the averages.</a:t>
            </a:r>
          </a:p>
          <a:p>
            <a:r>
              <a:t>Three: complete the annual baseline. Your scores save as you work.</a:t>
            </a:r>
          </a:p>
          <a:p>
            <a:r>
              <a:t>Four: your function's results are then available to your group's Enterprise ESRG Scanner in Section 5."</a:t>
            </a:r>
          </a:p>
          <a:p>
            <a:r>
              <a:t/>
            </a:r>
          </a:p>
          <a:p>
            <a:r>
              <a:rPr b="1"/>
              <a:t>3. Remind them of the 12 components.</a:t>
            </a:r>
          </a:p>
          <a:p>
            <a:r>
              <a:rPr b="1"/>
              <a:t>Say:</a:t>
            </a:r>
            <a:r>
              <a:t> "Environment, Operational Readiness: Facilities, Infrastructure, Technology. Systems, Operational Flow: Standardisation, Integration, Process Efficiency. Resources, Delivery Capacity: Asset Availability, Investment, Resource Utilisation. Governance, Decision Responsiveness: Policies &amp; Procedures, Authority, Risk Management."</a:t>
            </a:r>
          </a:p>
          <a:p>
            <a:r>
              <a:t/>
            </a:r>
          </a:p>
          <a:p>
            <a:r>
              <a:rPr b="1"/>
              <a:t>4. Set the scoring standard.</a:t>
            </a:r>
          </a:p>
          <a:p>
            <a:r>
              <a:rPr b="1"/>
              <a:t>Say:</a:t>
            </a:r>
            <a:r>
              <a:t> "Score from evidence of how the conditions perform in practice for your function and the stated problem. Your scores travel to your team unchanged: in Section 5 nobody rescores them."</a:t>
            </a:r>
          </a:p>
          <a:p>
            <a:r>
              <a:t/>
            </a:r>
          </a:p>
          <a:p>
            <a:r>
              <a:rPr b="1"/>
              <a:t>5. Debrief.</a:t>
            </a:r>
          </a:p>
          <a:p>
            <a:r>
              <a:rPr b="1"/>
              <a:t>Ask:</a:t>
            </a:r>
            <a:r>
              <a:t> "What becomes visible when functional operating assessments are brought together, compared and connected to strategic commitments?"</a:t>
            </a:r>
          </a:p>
          <a:p>
            <a:r>
              <a:rPr b="1"/>
              <a:t>Listen for:</a:t>
            </a:r>
            <a:r>
              <a:t> shared constraints, differences that need explaining, and functions whose results depend on another function's conditions.</a:t>
            </a:r>
          </a:p>
          <a:p>
            <a:r>
              <a:t/>
            </a:r>
          </a:p>
          <a:p>
            <a:r>
              <a:rPr b="1"/>
              <a:t>6. Close the section.</a:t>
            </a:r>
          </a:p>
          <a:p>
            <a:r>
              <a:rPr b="1"/>
              <a:t>Say:</a:t>
            </a:r>
            <a:r>
              <a:t> "Collective ESRG intelligence develops as executives coordinate what functions have in common, reconcile what they experience differently and align the operating dependencies required for enterprise results."</a:t>
            </a:r>
          </a:p>
          <a:p>
            <a:r>
              <a:t/>
            </a:r>
          </a:p>
          <a:p>
            <a:r>
              <a:rPr b="1"/>
              <a:t>7. Bridge to the reflections.</a:t>
            </a:r>
          </a:p>
          <a:p>
            <a:r>
              <a:rPr b="1"/>
              <a:t>Say:</a:t>
            </a:r>
            <a:r>
              <a:t> "Before Section 5, two reflections on what you have just practised."</a:t>
            </a:r>
          </a:p>
          <a:p>
            <a:r>
              <a:t/>
            </a:r>
          </a:p>
          <a:p>
            <a:r>
              <a:rPr b="1"/>
              <a:t>ON THE PORTAL, AFTER THE TEACHING:</a:t>
            </a:r>
          </a:p>
          <a:p>
            <a:r>
              <a:t>Each participant completes 4.5 of the participant file: role, business function and stated problem (the role and problem lists appear once every group member has agreed the Problem Charter in Unit 1, part 6.2), then the 12 scores of the annual baseline. One completed scanner per capstone executive function feeds the group's Enterprise Scanner in Section 5.</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REFLECTIONS</a:t>
            </a:r>
            <a:endParaRPr lang="en-US" dirty="0"/>
          </a:p>
          <a:p>
            <a:r>
              <a:t/>
            </a:r>
          </a:p>
          <a:p>
            <a:r>
              <a:rPr b="1"/>
              <a:t>HOW TO USE THIS SLIDE:</a:t>
            </a:r>
          </a:p>
          <a:p>
            <a:r>
              <a:t/>
            </a:r>
          </a:p>
          <a:p>
            <a:r>
              <a:rPr b="1"/>
              <a:t>1. Read the prompts aloud.</a:t>
            </a:r>
          </a:p>
          <a:p>
            <a:r>
              <a:t>4.3, for each execution-enabling capability: "Convergence: which functions report similar conditions, and do those ratings reflect a shared cause? Divergence: what explains the differences in scores, requirements or operating experience? Dependency: which strategic commitment depends on these conditions, and which functions must act together?"</a:t>
            </a:r>
          </a:p>
          <a:p>
            <a:r>
              <a:t>4.4, for each proposed response: "What does the evidence actually establish? What strategic commitment is affected? What decision requires collective executive agreement? Which functions must contribute?"</a:t>
            </a:r>
          </a:p>
          <a:p>
            <a:r>
              <a:t/>
            </a:r>
          </a:p>
          <a:p>
            <a:r>
              <a:rPr b="1"/>
              <a:t>2. Link them to Section 5.</a:t>
            </a:r>
          </a:p>
          <a:p>
            <a:r>
              <a:rPr b="1"/>
              <a:t>Say:</a:t>
            </a:r>
            <a:r>
              <a:t> "These are the same questions your capstone team asks of its own Enterprise Scanner in Section 5. Practise them now on your own organisation."</a:t>
            </a:r>
          </a:p>
          <a:p>
            <a:r>
              <a:t/>
            </a:r>
          </a:p>
          <a:p>
            <a:r>
              <a:rPr b="1"/>
              <a:t>3. Bridge to Section 5.</a:t>
            </a:r>
          </a:p>
          <a:p>
            <a:r>
              <a:rPr b="1"/>
              <a:t>Say:</a:t>
            </a:r>
            <a:r>
              <a:t> "Your capstone executive team now has the functional evidence it needs to populate its Enterprise ESRG Scanner and determine targeted alignment interventions."</a:t>
            </a:r>
          </a:p>
          <a:p>
            <a:r>
              <a:t/>
            </a:r>
          </a:p>
          <a:p>
            <a:r>
              <a:rPr b="1"/>
              <a:t>ON THE PORTAL, AFTER THE TEACHING:</a:t>
            </a:r>
          </a:p>
          <a:p>
            <a:r>
              <a:t>The prompts appear on the participant page at 4.3 and 4.4 as Reflect lines.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endParaRPr lang="en-US" dirty="0"/>
          </a:p>
          <a:p>
            <a:r>
              <a:t>The Enterprise ESRG Alignment Clinic</a:t>
            </a:r>
          </a:p>
          <a:p>
            <a:r>
              <a:t/>
            </a:r>
          </a:p>
          <a:p>
            <a:r>
              <a:rPr b="1"/>
              <a:t>HOW THIS SECTION RUNS:</a:t>
            </a:r>
          </a:p>
          <a:p>
            <a:r>
              <a:t>1. How the Clinic runs: the group record, the Q1 setting and the non-negotiable.</a:t>
            </a:r>
          </a:p>
          <a:p>
            <a:r>
              <a:t>2. 5.1: consolidate the individual functional scores.</a:t>
            </a:r>
          </a:p>
          <a:p>
            <a:r>
              <a:t>3. 5.2: interpret the Enterprise Scanner by execution capability.</a:t>
            </a:r>
          </a:p>
          <a:p>
            <a:r>
              <a:t>4. 5.3: complete the Collective Intelligence Response Table.</a:t>
            </a:r>
          </a:p>
          <a:p>
            <a:r>
              <a:t>5. 5.4: translate the agreed responses into an ESRG Alignment Intervention Plan.</a:t>
            </a:r>
          </a:p>
          <a:p>
            <a:r>
              <a:t>The groups complete the Clinic on the portal after the teaching, as Capstone work.</a:t>
            </a:r>
          </a:p>
          <a:p>
            <a:r>
              <a:t/>
            </a:r>
          </a:p>
          <a:p>
            <a:r>
              <a:rPr b="1"/>
              <a:t>HOW TO OPEN THE SECTION:</a:t>
            </a:r>
          </a:p>
          <a:p>
            <a:r>
              <a:t/>
            </a:r>
          </a:p>
          <a:p>
            <a:r>
              <a:rPr b="1"/>
              <a:t>1. State the section intent.</a:t>
            </a:r>
          </a:p>
          <a:p>
            <a:r>
              <a:rPr b="1"/>
              <a:t>Say:</a:t>
            </a:r>
            <a:r>
              <a:t> "This section is your group's Capstone work for Unit 10. You work as the executive team of your capstone organisation. Each of you brings the Functional ESRG Performance Scanner you completed in 4.5. Your team consolidates those scores into the Enterprise ESRG Scanner, interprets them by execution-enabling capability, agrees a Collective Intelligence Response and then transfers each agreed response into an ESRG Alignment Intervention Plan."</a:t>
            </a:r>
          </a:p>
          <a:p>
            <a:r>
              <a:t/>
            </a:r>
          </a:p>
          <a:p>
            <a:r>
              <a:rPr b="1"/>
              <a:t>2. Read the two section learning outcomes from the slide.</a:t>
            </a:r>
          </a:p>
          <a:p>
            <a:r>
              <a:rPr b="1"/>
              <a:t>SECTION LEARNING OUTCOMES:</a:t>
            </a:r>
          </a:p>
          <a:p>
            <a:r>
              <a:t>1. Consolidate and interpret functional ESRG assessments to establish an evidence-based enterprise view of the operating capabilities required for strategic delivery.</a:t>
            </a:r>
          </a:p>
          <a:p>
            <a:r>
              <a:t>2. Develop and operationalise collective ESRG alignment interventions that address operating constraints and strengthen cross-functional delivery of strategic commitments.</a:t>
            </a:r>
          </a:p>
          <a:p>
            <a:r>
              <a:t/>
            </a:r>
          </a:p>
          <a:p>
            <a:r>
              <a:rPr b="1"/>
              <a:t>3. Set the core application question.</a:t>
            </a:r>
          </a:p>
          <a:p>
            <a:r>
              <a:rPr b="1"/>
              <a:t>Say:</a:t>
            </a:r>
            <a:r>
              <a:t> "What must this executive team collectively strengthen in the organisation's operating conditions to deliver its strategic commitments consistently?"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THE ENTERPRISE ESRG ALIGNMENT CLINIC: HOW IT RUNS</a:t>
            </a:r>
            <a:endParaRPr lang="en-US" dirty="0"/>
          </a:p>
          <a:p>
            <a:r>
              <a:t/>
            </a:r>
          </a:p>
          <a:p>
            <a:r>
              <a:rPr b="1"/>
              <a:t>HOW TO TEACH IT:</a:t>
            </a:r>
          </a:p>
          <a:p>
            <a:r>
              <a:t/>
            </a:r>
          </a:p>
          <a:p>
            <a:r>
              <a:rPr b="1"/>
              <a:t>1. Set the scene.</a:t>
            </a:r>
          </a:p>
          <a:p>
            <a:r>
              <a:rPr b="1"/>
              <a:t>Say:</a:t>
            </a:r>
            <a:r>
              <a:t> "It is now Q1. Your executive team meets for its first quarterly ESRG review, working from the annual baseline each of you completed in 4.5."</a:t>
            </a:r>
          </a:p>
          <a:p>
            <a:r>
              <a:t/>
            </a:r>
          </a:p>
          <a:p>
            <a:r>
              <a:rPr b="1"/>
              <a:t>2. Explain the group record.</a:t>
            </a:r>
          </a:p>
          <a:p>
            <a:r>
              <a:rPr b="1"/>
              <a:t>Say:</a:t>
            </a:r>
            <a:r>
              <a:t> "Your group chooses its scribe for this work in the group record bar. The scribe types what your group agrees, and the entries appear on every member's page."</a:t>
            </a:r>
          </a:p>
          <a:p>
            <a:r>
              <a:t/>
            </a:r>
          </a:p>
          <a:p>
            <a:r>
              <a:rPr b="1"/>
              <a:t>3. Walk the four parts on the slide.</a:t>
            </a:r>
          </a:p>
          <a:p>
            <a:r>
              <a:rPr b="1"/>
              <a:t>Say:</a:t>
            </a:r>
            <a:r>
              <a:t> "5.1 brings in every member's annual baseline from 4.5. Your group checks that each function's assessment is complete and records any missing submissions or evidence gaps.</a:t>
            </a:r>
          </a:p>
          <a:p>
            <a:r>
              <a:t>In 5.2 you interpret the Enterprise Scanner by execution-enabling capability and write each finding with its evidence.</a:t>
            </a:r>
          </a:p>
          <a:p>
            <a:r>
              <a:t>In 5.3 you record your agreed Collective Intelligence Responses. In 5.4 you complete the ESRG Alignment Intervention Plan for each of them."</a:t>
            </a:r>
          </a:p>
          <a:p>
            <a:r>
              <a:t/>
            </a:r>
          </a:p>
          <a:p>
            <a:r>
              <a:rPr b="1"/>
              <a:t>4. Give the non-negotiable.</a:t>
            </a:r>
          </a:p>
          <a:p>
            <a:r>
              <a:rPr b="1"/>
              <a:t>Say:</a:t>
            </a:r>
            <a:r>
              <a:t> "No rescoring at enterprise level. Component scores come directly from each member's Functional ESRG Performance Scanner in 4.5. Your team may query the evidence behind a score; any correction is made by that member in 4.5 and flows through to the enterprise view."</a:t>
            </a:r>
          </a:p>
          <a:p>
            <a:r>
              <a:t/>
            </a:r>
          </a:p>
          <a:p>
            <a:r>
              <a:rPr b="1"/>
              <a:t>5. Explain Agree.</a:t>
            </a:r>
          </a:p>
          <a:p>
            <a:r>
              <a:rPr b="1"/>
              <a:t>Say:</a:t>
            </a:r>
            <a:r>
              <a:t> "When your record is complete, each member selects Agree on their own page. Your group's work then goes into boxes 10A to 10D of your team's Capstone S2R® Blueprint."</a:t>
            </a:r>
          </a:p>
          <a:p>
            <a:r>
              <a:t/>
            </a:r>
          </a:p>
          <a:p>
            <a:r>
              <a:rPr b="1"/>
              <a:t>6. Bridge to 5.1.</a:t>
            </a:r>
          </a:p>
          <a:p>
            <a:r>
              <a:rPr b="1"/>
              <a:t>Say:</a:t>
            </a:r>
            <a:r>
              <a:t> "Let us take the four parts in order."</a:t>
            </a:r>
          </a:p>
          <a:p>
            <a:r>
              <a:rPr b="1"/>
              <a:t>Close the group work with Our Position. Say: "When your record is complete, write as a group a short summary statement of your team's position from this unit, in the unit's own terms. Every member agrees it with the rest of the record. It closes this unit's section of your Capstone S2R Blueprint and guides the assessors through your work."</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5.1 — CONSOLIDATE INDIVIDUAL FUNCTIONAL SCORES</a:t>
            </a:r>
            <a:endParaRPr lang="en-US" dirty="0"/>
          </a:p>
          <a:p>
            <a:r>
              <a:t/>
            </a:r>
          </a:p>
          <a:p>
            <a:r>
              <a:rPr b="1"/>
              <a:t>HOW TO TEACH IT:</a:t>
            </a:r>
          </a:p>
          <a:p>
            <a:r>
              <a:t/>
            </a:r>
          </a:p>
          <a:p>
            <a:r>
              <a:rPr b="1"/>
              <a:t>1. Step 1: verify the functional inputs.</a:t>
            </a:r>
          </a:p>
          <a:p>
            <a:r>
              <a:rPr b="1"/>
              <a:t>Say:</a:t>
            </a:r>
            <a:r>
              <a:t> "Confirm that each executive function has submitted one completed assessment covering all 12 components, using the same 1 to 5 scale and assessment period. Record missing submissions or evidence gaps before you interpret anything. Your team works with the functions represented in its simulation; the five functions in the Section 4 example were illustrative."</a:t>
            </a:r>
          </a:p>
          <a:p>
            <a:r>
              <a:t/>
            </a:r>
          </a:p>
          <a:p>
            <a:r>
              <a:rPr b="1"/>
              <a:t>2. Step 2: the Enterprise Component-Level Scanner.</a:t>
            </a:r>
          </a:p>
          <a:p>
            <a:r>
              <a:rPr b="1"/>
              <a:t>Say:</a:t>
            </a:r>
            <a:r>
              <a:t> "This is the detailed source view. Every score comes from the corresponding component in the relevant member's Functional ESRG Scanner. You do not enter scores a second time."</a:t>
            </a:r>
          </a:p>
          <a:p>
            <a:r>
              <a:t/>
            </a:r>
          </a:p>
          <a:p>
            <a:r>
              <a:rPr b="1"/>
              <a:t>3. Step 3: the Enterprise Capability Summary.</a:t>
            </a:r>
          </a:p>
          <a:p>
            <a:r>
              <a:rPr b="1"/>
              <a:t>Say:</a:t>
            </a:r>
            <a:r>
              <a:t> "The scanner calculates each function's capability score as the mean of its three component scores, then shows an enterprise average across the participating functions. The average is a directional indicator; it does not override the significance of a critical low-scoring function or component."</a:t>
            </a:r>
          </a:p>
          <a:p>
            <a:r>
              <a:t/>
            </a:r>
          </a:p>
          <a:p>
            <a:r>
              <a:rPr b="1"/>
              <a:t>4. Give the checkpoint.</a:t>
            </a:r>
          </a:p>
          <a:p>
            <a:r>
              <a:rPr b="1"/>
              <a:t>Say:</a:t>
            </a:r>
            <a:r>
              <a:t> "Confirm that the detailed component view and the calculated capability summary reflect the same source assessments. Keep both views for your interpretation."</a:t>
            </a:r>
          </a:p>
          <a:p>
            <a:r>
              <a:t/>
            </a:r>
          </a:p>
          <a:p>
            <a:r>
              <a:rPr b="1"/>
              <a:t>5. Bridge to 5.2.</a:t>
            </a:r>
          </a:p>
          <a:p>
            <a:r>
              <a:rPr b="1"/>
              <a:t>Say:</a:t>
            </a:r>
            <a:r>
              <a:t> "With the scanner complete, you interpret it."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5.2 — INTERPRET THE ENTERPRISE SCANNER BY EXECUTION CAPABILITY</a:t>
            </a:r>
            <a:endParaRPr lang="en-US" dirty="0"/>
          </a:p>
          <a:p>
            <a:r>
              <a:t/>
            </a:r>
          </a:p>
          <a:p>
            <a:r>
              <a:rPr b="1"/>
              <a:t>HOW TO TEACH IT:</a:t>
            </a:r>
          </a:p>
          <a:p>
            <a:r>
              <a:t/>
            </a:r>
          </a:p>
          <a:p>
            <a:r>
              <a:rPr b="1"/>
              <a:t>1. Give the sequence.</a:t>
            </a:r>
          </a:p>
          <a:p>
            <a:r>
              <a:rPr b="1"/>
              <a:t>Say:</a:t>
            </a:r>
            <a:r>
              <a:t> "For each of the four capabilities on the slide, work through the three intelligence levels in order: Functional Intelligence and Convergence, then Cross-Functional Intelligence and Divergence, then Enterprise Intelligence and Dependency. Use the detailed component scores to support each finding; use the summary to find the areas that merit attention."</a:t>
            </a:r>
          </a:p>
          <a:p>
            <a:r>
              <a:t/>
            </a:r>
          </a:p>
          <a:p>
            <a:r>
              <a:rPr b="1"/>
              <a:t>2. Give the three questions you answer for each capability.</a:t>
            </a:r>
          </a:p>
          <a:p>
            <a:r>
              <a:rPr b="1"/>
              <a:t>Say:</a:t>
            </a:r>
            <a:r>
              <a:t> "Convergence: which components show similar scores or conditions across functions? Divergence: where do functions differ on the same component, and what evidence explains the difference? Dependency: which strategic commitments rely on an operating condition supplied or controlled by another function?"</a:t>
            </a:r>
          </a:p>
          <a:p>
            <a:r>
              <a:t/>
            </a:r>
          </a:p>
          <a:p>
            <a:r>
              <a:rPr b="1"/>
              <a:t>3. Name the components of each capability.</a:t>
            </a:r>
          </a:p>
          <a:p>
            <a:r>
              <a:rPr b="1"/>
              <a:t>Say:</a:t>
            </a:r>
            <a:r>
              <a:t> "Environment, Operational Readiness: Facilities, Infrastructure, Technology. Systems, Operational Flow: Standardisation, Integration, Process Efficiency. Resources, Delivery Capacity: Asset Availability, Investment, Resource Utilisation. Governance, Decision Responsiveness: Policies &amp; Procedures, Authority, Risk Management."</a:t>
            </a:r>
          </a:p>
          <a:p>
            <a:r>
              <a:t/>
            </a:r>
          </a:p>
          <a:p>
            <a:r>
              <a:rPr b="1"/>
              <a:t>4. Give the interpretation rule, in the band on the slide.</a:t>
            </a:r>
          </a:p>
          <a:p>
            <a:r>
              <a:rPr b="1"/>
              <a:t>Say:</a:t>
            </a:r>
            <a:r>
              <a:t> "A shared low score may indicate convergence; a large score difference may indicate divergence; dependency requires a demonstrable relationship between functions and a strategic commitment. Scores alone do not prove a dependency. Each finding is written with its evidence."</a:t>
            </a:r>
          </a:p>
          <a:p>
            <a:r>
              <a:t/>
            </a:r>
          </a:p>
          <a:p>
            <a:r>
              <a:rPr b="1"/>
              <a:t>5. Bridge to 5.3.</a:t>
            </a:r>
          </a:p>
          <a:p>
            <a:r>
              <a:rPr b="1"/>
              <a:t>Say:</a:t>
            </a:r>
            <a:r>
              <a:t> "Twelve findings are too many to act on. Next you choose the ones that matter."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5.3 — COMPLETE THE COLLECTIVE INTELLIGENCE RESPONSE TABLE</a:t>
            </a:r>
            <a:endParaRPr lang="en-US" dirty="0"/>
          </a:p>
          <a:p>
            <a:r>
              <a:t/>
            </a:r>
          </a:p>
          <a:p>
            <a:r>
              <a:rPr b="1"/>
              <a:t>HOW TO TEACH IT:</a:t>
            </a:r>
          </a:p>
          <a:p>
            <a:r>
              <a:t/>
            </a:r>
          </a:p>
          <a:p>
            <a:r>
              <a:rPr b="1"/>
              <a:t>1. Say what goes into the table.</a:t>
            </a:r>
          </a:p>
          <a:p>
            <a:r>
              <a:rPr b="1"/>
              <a:t>Say:</a:t>
            </a:r>
            <a:r>
              <a:t> "Your team selects the most consequential findings from 5.2 and records an agreed executive response. Each response identifies the specific ESRG component, the strategic commitment affected and the functions involved."</a:t>
            </a:r>
          </a:p>
          <a:p>
            <a:r>
              <a:t/>
            </a:r>
          </a:p>
          <a:p>
            <a:r>
              <a:rPr b="1"/>
              <a:t>2. Read the columns, on the slide, with the first example.</a:t>
            </a:r>
          </a:p>
          <a:p>
            <a:r>
              <a:rPr b="1"/>
              <a:t>Say:</a:t>
            </a:r>
            <a:r>
              <a:t> "Domain, capability and component: Systems, Operational Flow, Integration. Collective finding: order-to-delivery handovers are disconnected across Commercial and Operations. Strategic commitment affected: reduce fulfilment time. Collective intelligence response: agree a connected workflow, handover requirements and shared information standards. Functions involved: COO, CCO, CIO."</a:t>
            </a:r>
          </a:p>
          <a:p>
            <a:r>
              <a:rPr b="1"/>
              <a:t>Say:</a:t>
            </a:r>
            <a:r>
              <a:t> "The second example: Environment, Operational Readiness, Infrastructure. Operations infrastructure capacity constrains planned commercial growth. Commitment: increase service capacity. Response: confirm required capacity, funding and a coordinated upgrade decision. Functions: COO, CFO, CCO."</a:t>
            </a:r>
          </a:p>
          <a:p>
            <a:r>
              <a:t/>
            </a:r>
          </a:p>
          <a:p>
            <a:r>
              <a:rPr b="1"/>
              <a:t>3. Match the discipline to the finding.</a:t>
            </a:r>
          </a:p>
          <a:p>
            <a:r>
              <a:rPr b="1"/>
              <a:t>Say:</a:t>
            </a:r>
            <a:r>
              <a:t> "Convergence leads to Coordinate shared conditions. Divergence leads to Reconcile differing assessments using evidence. Dependency leads to Align interdependent operating requirements and responsibilities. A finding may involve more than one perspective, but the table records one coherent collective response."</a:t>
            </a:r>
          </a:p>
          <a:p>
            <a:r>
              <a:t/>
            </a:r>
          </a:p>
          <a:p>
            <a:r>
              <a:rPr b="1"/>
              <a:t>4. Give the prioritisation test.</a:t>
            </a:r>
          </a:p>
          <a:p>
            <a:r>
              <a:rPr b="1"/>
              <a:t>Say:</a:t>
            </a:r>
            <a:r>
              <a:t> "Keep a response when the finding is supported by component-level evidence, it threatens an identifiable strategic commitment, and it requires a collective executive decision. Select the responses that pass all three tests."</a:t>
            </a:r>
          </a:p>
          <a:p>
            <a:r>
              <a:t/>
            </a:r>
          </a:p>
          <a:p>
            <a:r>
              <a:rPr b="1"/>
              <a:t>5. Bridge to 5.4.</a:t>
            </a:r>
          </a:p>
          <a:p>
            <a:r>
              <a:rPr b="1"/>
              <a:t>Say:</a:t>
            </a:r>
            <a:r>
              <a:t> "A response says what must change. The intervention plan says how."</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5.4 — TRANSLATE THE AGREED RESPONSES INTO AN ESRG ALIGNMENT INTERVENTION PLAN</a:t>
            </a:r>
            <a:endParaRPr lang="en-US" dirty="0"/>
          </a:p>
          <a:p>
            <a:r>
              <a:t/>
            </a:r>
          </a:p>
          <a:p>
            <a:r>
              <a:rPr b="1"/>
              <a:t>HOW TO TEACH IT:</a:t>
            </a:r>
          </a:p>
          <a:p>
            <a:r>
              <a:t/>
            </a:r>
          </a:p>
          <a:p>
            <a:r>
              <a:rPr b="1"/>
              <a:t>1. Set the starting point.</a:t>
            </a:r>
          </a:p>
          <a:p>
            <a:r>
              <a:rPr b="1"/>
              <a:t>Say:</a:t>
            </a:r>
            <a:r>
              <a:t> "Use the completed Collective Intelligence Response Table from 5.3 as the sole starting point. Carry each agreed response into the plan. Add no new findings and leave the diagnosis where it is."</a:t>
            </a:r>
          </a:p>
          <a:p>
            <a:r>
              <a:t/>
            </a:r>
          </a:p>
          <a:p>
            <a:r>
              <a:rPr b="1"/>
              <a:t>2. Read the six columns, on the slide, with the first example.</a:t>
            </a:r>
          </a:p>
          <a:p>
            <a:r>
              <a:rPr b="1"/>
              <a:t>Say:</a:t>
            </a:r>
            <a:r>
              <a:t> "Agreed response, from 5.3: connected workflow and shared handover requirements. Implementation actions: map current handovers; agree the target workflow; implement shared information checkpoints; test end-to-end processing. Accountable executive: COO. Contributing functions: CCO, CIO. Target date. Evidence of improvement: reduced handover delays and fulfilment time."</a:t>
            </a:r>
          </a:p>
          <a:p>
            <a:r>
              <a:rPr b="1"/>
              <a:t>Say:</a:t>
            </a:r>
            <a:r>
              <a:t> "The second example: confirm infrastructure capacity and a coordinated upgrade decision. Actions: validate the demand and capacity gap; cost the options; approve the investment; deliver the priority upgrade. Accountable: COO. Contributing: CFO, CCO. Evidence: capacity and reliability meet expansion requirements."</a:t>
            </a:r>
          </a:p>
          <a:p>
            <a:r>
              <a:t/>
            </a:r>
          </a:p>
          <a:p>
            <a:r>
              <a:rPr b="1"/>
              <a:t>3. Give the continuity check.</a:t>
            </a:r>
          </a:p>
          <a:p>
            <a:r>
              <a:rPr b="1"/>
              <a:t>Say:</a:t>
            </a:r>
            <a:r>
              <a:t> "Every intervention in 5.4 corresponds to an agreed response in 5.3. Each implementation action advances that response, and the evidence of improvement demonstrates a change in the operating condition you identified."</a:t>
            </a:r>
          </a:p>
          <a:p>
            <a:r>
              <a:t/>
            </a:r>
          </a:p>
          <a:p>
            <a:r>
              <a:rPr b="1"/>
              <a:t>4. Name the three outputs and what the completed work shows.</a:t>
            </a:r>
          </a:p>
          <a:p>
            <a:r>
              <a:rPr b="1"/>
              <a:t>Say:</a:t>
            </a:r>
            <a:r>
              <a:t> "Your outputs are the Enterprise ESRG Scanner populated from your Functional Scanners, the completed Collective Intelligence Response Table, and the ESRG Alignment Intervention Plan developed directly from it. The completed work shows accurate consolidation of the functional scores; consistent three-level interpretation; evidence supporting the findings; relevance to strategic commitments; the quality of your collective executive decisions; and traceability from each agreed response to its plan."</a:t>
            </a:r>
          </a:p>
          <a:p>
            <a:r>
              <a:t/>
            </a:r>
          </a:p>
          <a:p>
            <a:r>
              <a:rPr b="1"/>
              <a:t>5. Close the section.</a:t>
            </a:r>
          </a:p>
          <a:p>
            <a:r>
              <a:rPr b="1"/>
              <a:t>Say:</a:t>
            </a:r>
            <a:r>
              <a:t> "Functional assessments make operating conditions visible. Collective intelligence establishes what those conditions mean for the enterprise. The Collective Intelligence Response determines what must change; the ESRG Alignment Intervention Plan establishes how the executive team will make that change happen."</a:t>
            </a:r>
          </a:p>
          <a:p>
            <a:r>
              <a:t/>
            </a:r>
          </a:p>
          <a:p>
            <a:r>
              <a:rPr b="1"/>
              <a:t>ON THE PORTAL, AFTER THE TEACHING:</a:t>
            </a:r>
          </a:p>
          <a:p>
            <a:r>
              <a:t>The group chooses its scribe in the group record bar of Section 5. 5.1 brings in each member's 4.5 baseline (Refresh members' scores) and the group records missing submissions or evidence gaps; 5.2 holds the findings for each capability; 5.3 and 5.4 hold the response table and the intervention plan (+ Add a response). Each member reads the record and selects Agree; the work goes into boxes 10A to 10D of the Capstone S2R® Blueprint.</a:t>
            </a:r>
          </a:p>
          <a:p>
            <a:r>
              <a:t/>
            </a:r>
          </a:p>
          <a:p>
            <a:r>
              <a:rPr b="1"/>
              <a:t>LATER, WHEN THE GROUPS DO THE WORK ON THE PORTAL:</a:t>
            </a:r>
          </a:p>
          <a:p>
            <a:r>
              <a:t>Guide the groups through the parts in order: complete inputs before interpretation, findings with their evidence, responses that pass the prioritisation test, and a plan line for every agreed response. A score question goes back to the member who gave it, who corrects it in 4.5.</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SUMMARY · CLOSING</a:t>
            </a:r>
            <a:endParaRPr lang="en-US" dirty="0"/>
          </a:p>
          <a:p>
            <a:r>
              <a:t/>
            </a:r>
          </a:p>
          <a:p>
            <a:r>
              <a:rPr b="1"/>
              <a:t>HOW TO TEACH IT:</a:t>
            </a:r>
          </a:p>
          <a:p>
            <a:r>
              <a:t/>
            </a:r>
          </a:p>
          <a:p>
            <a:r>
              <a:rPr b="1"/>
              <a:t>1. Return to the question of the unit.</a:t>
            </a:r>
          </a:p>
          <a:p>
            <a:r>
              <a:rPr b="1"/>
              <a:t>Say:</a:t>
            </a:r>
            <a:r>
              <a:t> "We opened with one question: can our operating conditions carry this commitment, and where must we build capability? Here is what each section added."</a:t>
            </a:r>
          </a:p>
          <a:p>
            <a:r>
              <a:t/>
            </a:r>
          </a:p>
          <a:p>
            <a:r>
              <a:rPr b="1"/>
              <a:t>2. Read the five lines on the slide.</a:t>
            </a:r>
          </a:p>
          <a:p>
            <a:r>
              <a:rPr b="1"/>
              <a:t>Say:</a:t>
            </a:r>
            <a:r>
              <a:t> "Awareness: each strategic commitment depends on specific organisational capabilities, and ESRG names them domain by domain.</a:t>
            </a:r>
          </a:p>
          <a:p>
            <a:r>
              <a:t>Intelligence: a functional ESRG profile shows where operating conditions enable a strategic commitment and where they constrain it.</a:t>
            </a:r>
          </a:p>
          <a:p>
            <a:r>
              <a:t>Extrapolating: executive decisions shape organisational operating conditions through the priorities, assumptions and practices applied within each function. Effective ESRG alignment requires leaders to recognise how their decisions influence operating capabilities beyond their portfolios.</a:t>
            </a:r>
          </a:p>
          <a:p>
            <a:r>
              <a:t>Integration: collective ESRG intelligence develops as executives coordinate what functions have in common, reconcile what they experience differently and align the operating dependencies required for enterprise results.</a:t>
            </a:r>
          </a:p>
          <a:p>
            <a:r>
              <a:t>Application: the Collective Intelligence Response determines what must change; the ESRG Alignment Intervention Plan establishes how the executive team will make that change happen."</a:t>
            </a:r>
          </a:p>
          <a:p>
            <a:r>
              <a:t/>
            </a:r>
          </a:p>
          <a:p>
            <a:r>
              <a:rPr b="1"/>
              <a:t>3. Return to the commitment.</a:t>
            </a:r>
          </a:p>
          <a:p>
            <a:r>
              <a:rPr b="1"/>
              <a:t>Ask:</a:t>
            </a:r>
            <a:r>
              <a:t> "Think of the strategic commitment you named at the start. What is the one operating condition your team would strengthen first?"</a:t>
            </a:r>
          </a:p>
          <a:p>
            <a:r>
              <a:t>Take two or three answers.</a:t>
            </a:r>
          </a:p>
          <a:p>
            <a:r>
              <a:t/>
            </a:r>
          </a:p>
          <a:p>
            <a:r>
              <a:rPr b="1"/>
              <a:t>4. Bridge to Unit 11.</a:t>
            </a:r>
          </a:p>
          <a:p>
            <a:r>
              <a:rPr b="1"/>
              <a:t>Say:</a:t>
            </a:r>
            <a:r>
              <a:t> "ESRG Alignment grounds the organisational operating environment. Unit 11 turns to the culture through which people perform, and the organisational health it produces."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10</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ESRG Alignment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Can our operating conditions carry this commitment, and where must we build capability?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41173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571750"/>
            <a:ext cx="320040" cy="320040"/>
          </a:xfrm>
          <a:prstGeom prst="rect">
            <a:avLst/>
          </a:prstGeom>
        </p:spPr>
      </p:pic>
      <p:sp>
        <p:nvSpPr>
          <p:cNvPr id="5" name="Text 2"/>
          <p:cNvSpPr txBox="1"/>
          <p:nvPr/>
        </p:nvSpPr>
        <p:spPr>
          <a:xfrm>
            <a:off x="1508760" y="1508760"/>
            <a:ext cx="10131552" cy="244602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Design an ESRG-aligned organisational operating environment by establishing the Environment, Systems, Resources and Governance requirements necessary to deliver strategic commitments.</a:t>
            </a:r>
            <a:endParaRPr lang="en-US" sz="2600" dirty="0"/>
          </a:p>
        </p:txBody>
      </p:sp>
      <p:sp>
        <p:nvSpPr>
          <p:cNvPr id="6" name="Shape 3"/>
          <p:cNvSpPr/>
          <p:nvPr/>
        </p:nvSpPr>
        <p:spPr>
          <a:xfrm>
            <a:off x="548640" y="4857750"/>
            <a:ext cx="640080" cy="640080"/>
          </a:xfrm>
          <a:prstGeom prst="ellipse">
            <a:avLst/>
          </a:prstGeom>
          <a:solidFill>
            <a:srgbClr val="C6A24C"/>
          </a:solidFill>
          <a:ln w="12700">
            <a:solidFill>
              <a:srgbClr val="C6A24C"/>
            </a:solidFill>
            <a:prstDash val="solid"/>
          </a:ln>
        </p:spPr>
      </p:sp>
      <p:pic>
        <p:nvPicPr>
          <p:cNvPr id="7" name="Image 1" descr="preencoded.png">    </p:cNvPr>
          <p:cNvPicPr>
            <a:picLocks noChangeAspect="1"/>
          </p:cNvPicPr>
          <p:nvPr/>
        </p:nvPicPr>
        <p:blipFill>
          <a:blip r:embed="rId2"/>
          <a:stretch>
            <a:fillRect/>
          </a:stretch>
        </p:blipFill>
        <p:spPr>
          <a:xfrm>
            <a:off x="708660" y="5017770"/>
            <a:ext cx="320040" cy="320040"/>
          </a:xfrm>
          <a:prstGeom prst="rect">
            <a:avLst/>
          </a:prstGeom>
        </p:spPr>
      </p:pic>
      <p:sp>
        <p:nvSpPr>
          <p:cNvPr id="8" name="Text 4"/>
          <p:cNvSpPr txBox="1"/>
          <p:nvPr/>
        </p:nvSpPr>
        <p:spPr>
          <a:xfrm>
            <a:off x="1508760" y="3954780"/>
            <a:ext cx="10131552" cy="244602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Develop targeted organisational alignment interventions that address operating constraints and strengthen the organisation’s capacity for consistent strategic delivery.</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 Awareness — What  </a:t>
            </a:r>
            <a:pPr indent="0" marL="0">
              <a:buNone/>
            </a:pPr>
            <a:r>
              <a:rPr lang="en-US" sz="2400" dirty="0">
                <a:solidFill>
                  <a:srgbClr val="1F2A22"/>
                </a:solidFill>
                <a:latin typeface="Calibri" pitchFamily="34" charset="0"/>
                <a:ea typeface="Calibri" pitchFamily="34" charset="-122"/>
                <a:cs typeface="Calibri" pitchFamily="34" charset="-120"/>
              </a:rPr>
              <a:t>the capability one commitment requires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 Intelligence — Why  </a:t>
            </a:r>
            <a:pPr indent="0" marL="0">
              <a:buNone/>
            </a:pPr>
            <a:r>
              <a:rPr lang="en-US" sz="2400" dirty="0">
                <a:solidFill>
                  <a:srgbClr val="1F2A22"/>
                </a:solidFill>
                <a:latin typeface="Calibri" pitchFamily="34" charset="0"/>
                <a:ea typeface="Calibri" pitchFamily="34" charset="-122"/>
                <a:cs typeface="Calibri" pitchFamily="34" charset="-120"/>
              </a:rPr>
              <a:t>four enabling capabilities and the scanner</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 Extrapolating — Where  </a:t>
            </a:r>
            <a:pPr indent="0" marL="0">
              <a:buNone/>
            </a:pPr>
            <a:r>
              <a:rPr lang="en-US" sz="2400" dirty="0">
                <a:solidFill>
                  <a:srgbClr val="1F2A22"/>
                </a:solidFill>
                <a:latin typeface="Calibri" pitchFamily="34" charset="0"/>
                <a:ea typeface="Calibri" pitchFamily="34" charset="-122"/>
                <a:cs typeface="Calibri" pitchFamily="34" charset="-120"/>
              </a:rPr>
              <a:t>executive biases that distort ESRG</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 Integration — Collective  </a:t>
            </a:r>
            <a:pPr indent="0" marL="0">
              <a:buNone/>
            </a:pPr>
            <a:r>
              <a:rPr lang="en-US" sz="2400" dirty="0">
                <a:solidFill>
                  <a:srgbClr val="1F2A22"/>
                </a:solidFill>
                <a:latin typeface="Calibri" pitchFamily="34" charset="0"/>
                <a:ea typeface="Calibri" pitchFamily="34" charset="-122"/>
                <a:cs typeface="Calibri" pitchFamily="34" charset="-120"/>
              </a:rPr>
              <a:t>one executive view across functions</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 Application — In Practice  </a:t>
            </a:r>
            <a:pPr indent="0" marL="0">
              <a:buNone/>
            </a:pPr>
            <a:r>
              <a:rPr lang="en-US" sz="2400" dirty="0">
                <a:solidFill>
                  <a:srgbClr val="1F2A22"/>
                </a:solidFill>
                <a:latin typeface="Calibri" pitchFamily="34" charset="0"/>
                <a:ea typeface="Calibri" pitchFamily="34" charset="-122"/>
                <a:cs typeface="Calibri" pitchFamily="34" charset="-120"/>
              </a:rPr>
              <a:t>the Enterprise ESRG Alignment Clinic</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operating conditions must support strategic delivery?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Specify the essential organisational operating requirements associated with a selected strategic commitment.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Assign each requirement to the appropriate ESRG domain and component, explaining its direct contribution to the intended result.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The Grounding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must be in place within the organisation for this result to be delivered?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Environment · FIT   Systems · SIP   Resources · AIR   Governance · PAR</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ESRG Alignment and Strategic Unclogging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Strategic Unclogging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Unit 9 · clears a clog</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Key Result is slowing</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What is blocking this result?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and organisational performance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Unclogging Lever · Review–Realign–Restore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ESRG Alignment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Unit 10 · builds capability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commitment is approved, launched or scaled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Can our conditions carry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Organisational operating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Coordinate · Reconcile · Align</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Clogs point to components to strengthen; low scores show where clogs will form.</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Environment | FIT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Facilities</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Functional and suited to the planned activity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Infrastructure</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Utilities and connectivity carry the demand</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Technology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Available, reliable and fit for the activity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Are our facilities, infrastructure and technology fit for the strategic requirement?</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Systems | SIP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Standardisation</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Processes clearly defined and consistently applied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Integration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Handoffs connect across functions without breaks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87552"/>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Process Efficiency</a:t>
            </a:r>
            <a:endParaRPr lang="en-US" sz="2800" dirty="0"/>
          </a:p>
        </p:txBody>
      </p:sp>
      <p:sp>
        <p:nvSpPr>
          <p:cNvPr id="17" name="Text 12"/>
          <p:cNvSpPr txBox="1"/>
          <p:nvPr/>
        </p:nvSpPr>
        <p:spPr>
          <a:xfrm>
            <a:off x="8354568" y="3639312"/>
            <a:ext cx="3057144" cy="166420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Output without unneeded steps, delay or waste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Are our operational processes standardised, integrated and efficient?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Resources | AIR</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Asset Availability</a:t>
            </a:r>
            <a:endParaRPr lang="en-US" sz="2800" dirty="0"/>
          </a:p>
        </p:txBody>
      </p:sp>
      <p:sp>
        <p:nvSpPr>
          <p:cNvPr id="7" name="Text 4"/>
          <p:cNvSpPr txBox="1"/>
          <p:nvPr/>
        </p:nvSpPr>
        <p:spPr>
          <a:xfrm>
            <a:off x="777240" y="3639312"/>
            <a:ext cx="3057144"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Enough productive assets for the output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Investment</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Financial provision adequate for the commitment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87552"/>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Resource Utilisation</a:t>
            </a:r>
            <a:endParaRPr lang="en-US" sz="2800" dirty="0"/>
          </a:p>
        </p:txBody>
      </p:sp>
      <p:sp>
        <p:nvSpPr>
          <p:cNvPr id="17" name="Text 12"/>
          <p:cNvSpPr txBox="1"/>
          <p:nvPr/>
        </p:nvSpPr>
        <p:spPr>
          <a:xfrm>
            <a:off x="8354568" y="3639312"/>
            <a:ext cx="3057144" cy="166420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Assets and funding used productively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Are our assets and financial resources sufficient and effectively utilised?</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Governance | PAR</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Policies &amp; Procedures</a:t>
            </a:r>
            <a:endParaRPr lang="en-US" sz="2800" dirty="0"/>
          </a:p>
        </p:txBody>
      </p:sp>
      <p:sp>
        <p:nvSpPr>
          <p:cNvPr id="7" name="Text 4"/>
          <p:cNvSpPr txBox="1"/>
          <p:nvPr/>
        </p:nvSpPr>
        <p:spPr>
          <a:xfrm>
            <a:off x="777240" y="3639312"/>
            <a:ext cx="3057144"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Established and suitable for the decisions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Authority</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Decision rights and approvals support timely decisions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Risk Management</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Material risks assessed, mitigated, monitored</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Is our organisational governance up to PAR?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ESRG Ignition Point: how each domain enables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Translate strategic performance requirements into functional operating capabilities through the four ESRG execution enablers.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Build and maintain an evidence-based functional ESRG performance profile to identify operating strengths, constraints and changes in alignment over time.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ESRG Ignition Point</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 Readiness</a:t>
            </a:r>
            <a:endParaRPr lang="en-US" sz="2600" dirty="0"/>
          </a:p>
        </p:txBody>
      </p:sp>
      <p:sp>
        <p:nvSpPr>
          <p:cNvPr id="7" name="Text 4"/>
          <p:cNvSpPr txBox="1"/>
          <p:nvPr/>
        </p:nvSpPr>
        <p:spPr>
          <a:xfrm>
            <a:off x="777240"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Environment · FIT: a dependable operating setting</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 Flow</a:t>
            </a:r>
            <a:endParaRPr lang="en-US" sz="2600" dirty="0"/>
          </a:p>
        </p:txBody>
      </p:sp>
      <p:sp>
        <p:nvSpPr>
          <p:cNvPr id="12" name="Text 8"/>
          <p:cNvSpPr txBox="1"/>
          <p:nvPr/>
        </p:nvSpPr>
        <p:spPr>
          <a:xfrm>
            <a:off x="6460236"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Systems · SIP: work flows predictably to completion</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6" name="Text 11"/>
          <p:cNvSpPr txBox="1"/>
          <p:nvPr/>
        </p:nvSpPr>
        <p:spPr>
          <a:xfrm>
            <a:off x="1508760"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Delivery Capacity</a:t>
            </a:r>
            <a:endParaRPr lang="en-US" sz="2600" dirty="0"/>
          </a:p>
        </p:txBody>
      </p:sp>
      <p:sp>
        <p:nvSpPr>
          <p:cNvPr id="17" name="Text 12"/>
          <p:cNvSpPr txBox="1"/>
          <p:nvPr/>
        </p:nvSpPr>
        <p:spPr>
          <a:xfrm>
            <a:off x="777240"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Resources · AIR: the required scale of delivery</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sp>
      <p:sp>
        <p:nvSpPr>
          <p:cNvPr id="19" name="Shape 14"/>
          <p:cNvSpPr/>
          <p:nvPr/>
        </p:nvSpPr>
        <p:spPr>
          <a:xfrm>
            <a:off x="6460236" y="3840480"/>
            <a:ext cx="548640" cy="54864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21" name="Text 15"/>
          <p:cNvSpPr txBox="1"/>
          <p:nvPr/>
        </p:nvSpPr>
        <p:spPr>
          <a:xfrm>
            <a:off x="7191756" y="3794760"/>
            <a:ext cx="4219956"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Decision Responsiveness</a:t>
            </a:r>
            <a:endParaRPr lang="en-US" sz="2600" dirty="0"/>
          </a:p>
        </p:txBody>
      </p:sp>
      <p:sp>
        <p:nvSpPr>
          <p:cNvPr id="22" name="Text 16"/>
          <p:cNvSpPr txBox="1"/>
          <p:nvPr/>
        </p:nvSpPr>
        <p:spPr>
          <a:xfrm>
            <a:off x="6460236" y="4572000"/>
            <a:ext cx="4951476" cy="73152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Governance · PAR: action with clarity and control</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Conditions must meet the demands of the commitment they carry.</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2.2a · The scanner’s scoring guide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 Critical constraint  </a:t>
            </a:r>
            <a:pPr indent="0" marL="0">
              <a:buNone/>
            </a:pPr>
            <a:r>
              <a:rPr lang="en-US" sz="2400" dirty="0">
                <a:solidFill>
                  <a:srgbClr val="1F2A22"/>
                </a:solidFill>
                <a:latin typeface="Calibri" pitchFamily="34" charset="0"/>
                <a:ea typeface="Calibri" pitchFamily="34" charset="-122"/>
                <a:cs typeface="Calibri" pitchFamily="34" charset="-120"/>
              </a:rPr>
              <a:t>materially prevents required performance</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 Significant gap  </a:t>
            </a:r>
            <a:pPr indent="0" marL="0">
              <a:buNone/>
            </a:pPr>
            <a:r>
              <a:rPr lang="en-US" sz="2400" dirty="0">
                <a:solidFill>
                  <a:srgbClr val="1F2A22"/>
                </a:solidFill>
                <a:latin typeface="Calibri" pitchFamily="34" charset="0"/>
                <a:ea typeface="Calibri" pitchFamily="34" charset="-122"/>
                <a:cs typeface="Calibri" pitchFamily="34" charset="-120"/>
              </a:rPr>
              <a:t>regularly disrupts or limits performance</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 Partially effective  </a:t>
            </a:r>
            <a:pPr indent="0" marL="0">
              <a:buNone/>
            </a:pPr>
            <a:r>
              <a:rPr lang="en-US" sz="2400" dirty="0">
                <a:solidFill>
                  <a:srgbClr val="1F2A22"/>
                </a:solidFill>
                <a:latin typeface="Calibri" pitchFamily="34" charset="0"/>
                <a:ea typeface="Calibri" pitchFamily="34" charset="-122"/>
                <a:cs typeface="Calibri" pitchFamily="34" charset="-120"/>
              </a:rPr>
              <a:t>basic operations, not strategic demand</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 Effective  </a:t>
            </a:r>
            <a:pPr indent="0" marL="0">
              <a:buNone/>
            </a:pPr>
            <a:r>
              <a:rPr lang="en-US" sz="2400" dirty="0">
                <a:solidFill>
                  <a:srgbClr val="1F2A22"/>
                </a:solidFill>
                <a:latin typeface="Calibri" pitchFamily="34" charset="0"/>
                <a:ea typeface="Calibri" pitchFamily="34" charset="-122"/>
                <a:cs typeface="Calibri" pitchFamily="34" charset="-120"/>
              </a:rPr>
              <a:t>reliably supports current requirements</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 Fully aligned  </a:t>
            </a:r>
            <a:pPr indent="0" marL="0">
              <a:buNone/>
            </a:pPr>
            <a:r>
              <a:rPr lang="en-US" sz="2400" dirty="0">
                <a:solidFill>
                  <a:srgbClr val="1F2A22"/>
                </a:solidFill>
                <a:latin typeface="Calibri" pitchFamily="34" charset="0"/>
                <a:ea typeface="Calibri" pitchFamily="34" charset="-122"/>
                <a:cs typeface="Calibri" pitchFamily="34" charset="-120"/>
              </a:rPr>
              <a:t>also meets anticipated strategic demand</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2.2b · Twelve components, one scale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FIT · Operational Readiness  </a:t>
            </a:r>
            <a:pPr indent="0" marL="0">
              <a:buNone/>
            </a:pPr>
            <a:r>
              <a:rPr lang="en-US" sz="2400" dirty="0">
                <a:solidFill>
                  <a:srgbClr val="1F2A22"/>
                </a:solidFill>
                <a:latin typeface="Calibri" pitchFamily="34" charset="0"/>
                <a:ea typeface="Calibri" pitchFamily="34" charset="-122"/>
                <a:cs typeface="Calibri" pitchFamily="34" charset="-120"/>
              </a:rPr>
              <a:t>Facilities · Infrastructure · Technology</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SIP · Operational Flow  </a:t>
            </a:r>
            <a:pPr indent="0" marL="0">
              <a:buNone/>
            </a:pPr>
            <a:r>
              <a:rPr lang="en-US" sz="2400" dirty="0">
                <a:solidFill>
                  <a:srgbClr val="1F2A22"/>
                </a:solidFill>
                <a:latin typeface="Calibri" pitchFamily="34" charset="0"/>
                <a:ea typeface="Calibri" pitchFamily="34" charset="-122"/>
                <a:cs typeface="Calibri" pitchFamily="34" charset="-120"/>
              </a:rPr>
              <a:t>Standardisation · Integration · Process Efficiency</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AIR · Delivery Capacity  </a:t>
            </a:r>
            <a:pPr indent="0" marL="0">
              <a:buNone/>
            </a:pPr>
            <a:r>
              <a:rPr lang="en-US" sz="2400" dirty="0">
                <a:solidFill>
                  <a:srgbClr val="1F2A22"/>
                </a:solidFill>
                <a:latin typeface="Calibri" pitchFamily="34" charset="0"/>
                <a:ea typeface="Calibri" pitchFamily="34" charset="-122"/>
                <a:cs typeface="Calibri" pitchFamily="34" charset="-120"/>
              </a:rPr>
              <a:t>Asset Availability · Investment · Resource Utilisation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PAR · Decision Responsiveness  </a:t>
            </a:r>
            <a:pPr indent="0" marL="0">
              <a:buNone/>
            </a:pPr>
            <a:r>
              <a:rPr lang="en-US" sz="2400" dirty="0">
                <a:solidFill>
                  <a:srgbClr val="1F2A22"/>
                </a:solidFill>
                <a:latin typeface="Calibri" pitchFamily="34" charset="0"/>
                <a:ea typeface="Calibri" pitchFamily="34" charset="-122"/>
                <a:cs typeface="Calibri" pitchFamily="34" charset="-120"/>
              </a:rPr>
              <a:t>Policies &amp; Procedures · Authority · Risk Management</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Scored 1–5  </a:t>
            </a:r>
            <a:pPr indent="0" marL="0">
              <a:buNone/>
            </a:pPr>
            <a:r>
              <a:rPr lang="en-US" sz="2400" dirty="0">
                <a:solidFill>
                  <a:srgbClr val="1F2A22"/>
                </a:solidFill>
                <a:latin typeface="Calibri" pitchFamily="34" charset="0"/>
                <a:ea typeface="Calibri" pitchFamily="34" charset="-122"/>
                <a:cs typeface="Calibri" pitchFamily="34" charset="-120"/>
              </a:rPr>
              <a:t>annual baseline, then Q1 · Q2 · Q3 · Q4</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Reading the ESRG performance profile</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Aligned</a:t>
            </a:r>
            <a:endParaRPr lang="en-US" sz="2600" dirty="0"/>
          </a:p>
        </p:txBody>
      </p:sp>
      <p:sp>
        <p:nvSpPr>
          <p:cNvPr id="7" name="Text 4"/>
          <p:cNvSpPr txBox="1"/>
          <p:nvPr/>
        </p:nvSpPr>
        <p:spPr>
          <a:xfrm>
            <a:off x="777240" y="3159252"/>
            <a:ext cx="2109978"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4.0 – 5.0</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Improvement required</a:t>
            </a:r>
            <a:endParaRPr lang="en-US" sz="2600" dirty="0"/>
          </a:p>
        </p:txBody>
      </p:sp>
      <p:sp>
        <p:nvSpPr>
          <p:cNvPr id="12" name="Text 8"/>
          <p:cNvSpPr txBox="1"/>
          <p:nvPr/>
        </p:nvSpPr>
        <p:spPr>
          <a:xfrm>
            <a:off x="3618738" y="3575304"/>
            <a:ext cx="2109978"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3.0 – 3.9</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Significant constraint</a:t>
            </a:r>
            <a:endParaRPr lang="en-US" sz="2600" dirty="0"/>
          </a:p>
        </p:txBody>
      </p:sp>
      <p:sp>
        <p:nvSpPr>
          <p:cNvPr id="17" name="Text 12"/>
          <p:cNvSpPr txBox="1"/>
          <p:nvPr/>
        </p:nvSpPr>
        <p:spPr>
          <a:xfrm>
            <a:off x="6460236" y="3575304"/>
            <a:ext cx="2109978"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2.0 – 2.9</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Critical constraint</a:t>
            </a:r>
            <a:endParaRPr lang="en-US" sz="2600" dirty="0"/>
          </a:p>
        </p:txBody>
      </p:sp>
      <p:sp>
        <p:nvSpPr>
          <p:cNvPr id="22" name="Text 16"/>
          <p:cNvSpPr txBox="1"/>
          <p:nvPr/>
        </p:nvSpPr>
        <p:spPr>
          <a:xfrm>
            <a:off x="9301734" y="3575304"/>
            <a:ext cx="2109978"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1.0 – 1.9</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Read every component score: a strong average can conceal a critical constraint.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Making sense of the results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2.0</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Operational Flow: the constraint in an illustrative customer service profile</a:t>
            </a:r>
            <a:endParaRPr lang="en-US" sz="2400" dirty="0"/>
          </a:p>
        </p:txBody>
      </p:sp>
      <p:sp>
        <p:nvSpPr>
          <p:cNvPr id="6" name="Shape 4"/>
          <p:cNvSpPr/>
          <p:nvPr/>
        </p:nvSpPr>
        <p:spPr>
          <a:xfrm>
            <a:off x="4526280" y="183108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1972818"/>
            <a:ext cx="283464" cy="283464"/>
          </a:xfrm>
          <a:prstGeom prst="rect">
            <a:avLst/>
          </a:prstGeom>
        </p:spPr>
      </p:pic>
      <p:sp>
        <p:nvSpPr>
          <p:cNvPr id="8" name="Text 5"/>
          <p:cNvSpPr txBox="1"/>
          <p:nvPr/>
        </p:nvSpPr>
        <p:spPr>
          <a:xfrm>
            <a:off x="5303520" y="1508760"/>
            <a:ext cx="6336792" cy="12115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Operational Readiness  </a:t>
            </a:r>
            <a:pPr indent="0" marL="0">
              <a:buNone/>
            </a:pPr>
            <a:r>
              <a:rPr lang="en-US" sz="2400" dirty="0">
                <a:solidFill>
                  <a:srgbClr val="4E5E53"/>
                </a:solidFill>
                <a:latin typeface="Calibri" pitchFamily="34" charset="0"/>
                <a:ea typeface="Calibri" pitchFamily="34" charset="-122"/>
                <a:cs typeface="Calibri" pitchFamily="34" charset="-120"/>
              </a:rPr>
              <a:t>4.3</a:t>
            </a:r>
            <a:endParaRPr lang="en-US" sz="2400" dirty="0"/>
          </a:p>
        </p:txBody>
      </p:sp>
      <p:sp>
        <p:nvSpPr>
          <p:cNvPr id="9" name="Shape 6"/>
          <p:cNvSpPr/>
          <p:nvPr/>
        </p:nvSpPr>
        <p:spPr>
          <a:xfrm>
            <a:off x="4526280" y="304266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184398"/>
            <a:ext cx="283464" cy="283464"/>
          </a:xfrm>
          <a:prstGeom prst="rect">
            <a:avLst/>
          </a:prstGeom>
        </p:spPr>
      </p:pic>
      <p:sp>
        <p:nvSpPr>
          <p:cNvPr id="11" name="Text 7"/>
          <p:cNvSpPr txBox="1"/>
          <p:nvPr/>
        </p:nvSpPr>
        <p:spPr>
          <a:xfrm>
            <a:off x="5303520" y="2720340"/>
            <a:ext cx="6336792" cy="12115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Operational Flow  </a:t>
            </a:r>
            <a:pPr indent="0" marL="0">
              <a:buNone/>
            </a:pPr>
            <a:r>
              <a:rPr lang="en-US" sz="2400" dirty="0">
                <a:solidFill>
                  <a:srgbClr val="4E5E53"/>
                </a:solidFill>
                <a:latin typeface="Calibri" pitchFamily="34" charset="0"/>
                <a:ea typeface="Calibri" pitchFamily="34" charset="-122"/>
                <a:cs typeface="Calibri" pitchFamily="34" charset="-120"/>
              </a:rPr>
              <a:t>2.0</a:t>
            </a:r>
            <a:endParaRPr lang="en-US" sz="2400" dirty="0"/>
          </a:p>
        </p:txBody>
      </p:sp>
      <p:sp>
        <p:nvSpPr>
          <p:cNvPr id="12" name="Shape 8"/>
          <p:cNvSpPr/>
          <p:nvPr/>
        </p:nvSpPr>
        <p:spPr>
          <a:xfrm>
            <a:off x="4526280" y="425424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4395978"/>
            <a:ext cx="283464" cy="283464"/>
          </a:xfrm>
          <a:prstGeom prst="rect">
            <a:avLst/>
          </a:prstGeom>
        </p:spPr>
      </p:pic>
      <p:sp>
        <p:nvSpPr>
          <p:cNvPr id="14" name="Text 9"/>
          <p:cNvSpPr txBox="1"/>
          <p:nvPr/>
        </p:nvSpPr>
        <p:spPr>
          <a:xfrm>
            <a:off x="5303520" y="3931920"/>
            <a:ext cx="6336792" cy="12115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Delivery Capacity  </a:t>
            </a:r>
            <a:pPr indent="0" marL="0">
              <a:buNone/>
            </a:pPr>
            <a:r>
              <a:rPr lang="en-US" sz="2400" dirty="0">
                <a:solidFill>
                  <a:srgbClr val="4E5E53"/>
                </a:solidFill>
                <a:latin typeface="Calibri" pitchFamily="34" charset="0"/>
                <a:ea typeface="Calibri" pitchFamily="34" charset="-122"/>
                <a:cs typeface="Calibri" pitchFamily="34" charset="-120"/>
              </a:rPr>
              <a:t>4.0</a:t>
            </a:r>
            <a:endParaRPr lang="en-US" sz="2400" dirty="0"/>
          </a:p>
        </p:txBody>
      </p:sp>
      <p:sp>
        <p:nvSpPr>
          <p:cNvPr id="15" name="Shape 10"/>
          <p:cNvSpPr/>
          <p:nvPr/>
        </p:nvSpPr>
        <p:spPr>
          <a:xfrm>
            <a:off x="4526280" y="5465826"/>
            <a:ext cx="566928" cy="566928"/>
          </a:xfrm>
          <a:prstGeom prst="ellipse">
            <a:avLst/>
          </a:prstGeom>
          <a:solidFill>
            <a:srgbClr val="1A5C2C"/>
          </a:solidFill>
          <a:ln w="12700">
            <a:solidFill>
              <a:srgbClr val="1A5C2C"/>
            </a:solidFill>
            <a:prstDash val="solid"/>
          </a:ln>
        </p:spPr>
      </p:sp>
      <p:pic>
        <p:nvPicPr>
          <p:cNvPr id="16" name="Image 3" descr="preencoded.png">    </p:cNvPr>
          <p:cNvPicPr>
            <a:picLocks noChangeAspect="1"/>
          </p:cNvPicPr>
          <p:nvPr/>
        </p:nvPicPr>
        <p:blipFill>
          <a:blip r:embed="rId4"/>
          <a:stretch>
            <a:fillRect/>
          </a:stretch>
        </p:blipFill>
        <p:spPr>
          <a:xfrm>
            <a:off x="4668012" y="5607558"/>
            <a:ext cx="283464" cy="283464"/>
          </a:xfrm>
          <a:prstGeom prst="rect">
            <a:avLst/>
          </a:prstGeom>
        </p:spPr>
      </p:pic>
      <p:sp>
        <p:nvSpPr>
          <p:cNvPr id="17" name="Text 11"/>
          <p:cNvSpPr txBox="1"/>
          <p:nvPr/>
        </p:nvSpPr>
        <p:spPr>
          <a:xfrm>
            <a:off x="5303520" y="5143500"/>
            <a:ext cx="6336792" cy="12115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Decision Responsiveness  </a:t>
            </a:r>
            <a:pPr indent="0" marL="0">
              <a:buNone/>
            </a:pPr>
            <a:r>
              <a:rPr lang="en-US" sz="2400" dirty="0">
                <a:solidFill>
                  <a:srgbClr val="4E5E53"/>
                </a:solidFill>
                <a:latin typeface="Calibri" pitchFamily="34" charset="0"/>
                <a:ea typeface="Calibri" pitchFamily="34" charset="-122"/>
                <a:cs typeface="Calibri" pitchFamily="34" charset="-120"/>
              </a:rPr>
              <a:t>3.7</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sp>
        <p:nvSpPr>
          <p:cNvPr id="3" name="Shape 1"/>
          <p:cNvSpPr/>
          <p:nvPr/>
        </p:nvSpPr>
        <p:spPr>
          <a:xfrm>
            <a:off x="548640" y="241173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571750"/>
            <a:ext cx="320040" cy="320040"/>
          </a:xfrm>
          <a:prstGeom prst="rect">
            <a:avLst/>
          </a:prstGeom>
        </p:spPr>
      </p:pic>
      <p:sp>
        <p:nvSpPr>
          <p:cNvPr id="5" name="Text 2"/>
          <p:cNvSpPr txBox="1"/>
          <p:nvPr/>
        </p:nvSpPr>
        <p:spPr>
          <a:xfrm>
            <a:off x="1508760" y="1508760"/>
            <a:ext cx="10131552" cy="24460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2.1  </a:t>
            </a:r>
            <a:pPr indent="0" marL="0">
              <a:buNone/>
            </a:pPr>
            <a:r>
              <a:rPr lang="en-US" sz="2400" dirty="0">
                <a:solidFill>
                  <a:srgbClr val="1F2A22"/>
                </a:solidFill>
                <a:latin typeface="Calibri" pitchFamily="34" charset="0"/>
                <a:ea typeface="Calibri" pitchFamily="34" charset="-122"/>
                <a:cs typeface="Calibri" pitchFamily="34" charset="-120"/>
              </a:rPr>
              <a:t>Which of the four capabilities is most critical to your function’s current strategic commitment, and what would happen if it were unable to meet the required demand?</a:t>
            </a:r>
            <a:endParaRPr lang="en-US" sz="2400" dirty="0"/>
          </a:p>
        </p:txBody>
      </p:sp>
      <p:sp>
        <p:nvSpPr>
          <p:cNvPr id="6" name="Shape 3"/>
          <p:cNvSpPr/>
          <p:nvPr/>
        </p:nvSpPr>
        <p:spPr>
          <a:xfrm>
            <a:off x="548640" y="485775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5017770"/>
            <a:ext cx="320040" cy="320040"/>
          </a:xfrm>
          <a:prstGeom prst="rect">
            <a:avLst/>
          </a:prstGeom>
        </p:spPr>
      </p:pic>
      <p:sp>
        <p:nvSpPr>
          <p:cNvPr id="8" name="Text 4"/>
          <p:cNvSpPr txBox="1"/>
          <p:nvPr/>
        </p:nvSpPr>
        <p:spPr>
          <a:xfrm>
            <a:off x="1508760" y="3954780"/>
            <a:ext cx="10131552" cy="24460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2.4  </a:t>
            </a:r>
            <a:pPr indent="0" marL="0">
              <a:buNone/>
            </a:pPr>
            <a:r>
              <a:rPr lang="en-US" sz="2400" dirty="0">
                <a:solidFill>
                  <a:srgbClr val="1F2A22"/>
                </a:solidFill>
                <a:latin typeface="Calibri" pitchFamily="34" charset="0"/>
                <a:ea typeface="Calibri" pitchFamily="34" charset="-122"/>
                <a:cs typeface="Calibri" pitchFamily="34" charset="-120"/>
              </a:rPr>
              <a:t>Which component has the lowest score? What evidence supports that rating? Has the score changed since the previous review? Which strategic commitment is most exposed?</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 executive biases distort ESRG operating capabilities?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executive decision biases that distort specific ESRG components and weaken the organisational capabilities required for strategic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Develop evidence-based debiasing techniques that strengthen executive decision-making and prevent cross-functional operating constraints.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3.1a · CXO ESRG bias contributors: Cards 1 to 5</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 Strategic Optimism  </a:t>
            </a:r>
            <a:pPr indent="0" marL="0">
              <a:buNone/>
            </a:pPr>
            <a:r>
              <a:rPr lang="en-US" sz="2400" dirty="0">
                <a:solidFill>
                  <a:srgbClr val="1F2A22"/>
                </a:solidFill>
                <a:latin typeface="Calibri" pitchFamily="34" charset="0"/>
                <a:ea typeface="Calibri" pitchFamily="34" charset="-122"/>
                <a:cs typeface="Calibri" pitchFamily="34" charset="-120"/>
              </a:rPr>
              <a:t>Infrastructure · Investment</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 Short-Term Cost Preference  </a:t>
            </a:r>
            <a:pPr indent="0" marL="0">
              <a:buNone/>
            </a:pPr>
            <a:r>
              <a:rPr lang="en-US" sz="2400" dirty="0">
                <a:solidFill>
                  <a:srgbClr val="1F2A22"/>
                </a:solidFill>
                <a:latin typeface="Calibri" pitchFamily="34" charset="0"/>
                <a:ea typeface="Calibri" pitchFamily="34" charset="-122"/>
                <a:cs typeface="Calibri" pitchFamily="34" charset="-120"/>
              </a:rPr>
              <a:t>Asset Availability · Investment</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 Standardisation Fixation  </a:t>
            </a:r>
            <a:pPr indent="0" marL="0">
              <a:buNone/>
            </a:pPr>
            <a:r>
              <a:rPr lang="en-US" sz="2400" dirty="0">
                <a:solidFill>
                  <a:srgbClr val="1F2A22"/>
                </a:solidFill>
                <a:latin typeface="Calibri" pitchFamily="34" charset="0"/>
                <a:ea typeface="Calibri" pitchFamily="34" charset="-122"/>
                <a:cs typeface="Calibri" pitchFamily="34" charset="-120"/>
              </a:rPr>
              <a:t>Standardisation · Process Efficiency</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 People-Centred Attribution  </a:t>
            </a:r>
            <a:pPr indent="0" marL="0">
              <a:buNone/>
            </a:pPr>
            <a:r>
              <a:rPr lang="en-US" sz="2400" dirty="0">
                <a:solidFill>
                  <a:srgbClr val="1F2A22"/>
                </a:solidFill>
                <a:latin typeface="Calibri" pitchFamily="34" charset="0"/>
                <a:ea typeface="Calibri" pitchFamily="34" charset="-122"/>
                <a:cs typeface="Calibri" pitchFamily="34" charset="-120"/>
              </a:rPr>
              <a:t>Integration · Technology</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 Legacy Loyalty  </a:t>
            </a:r>
            <a:pPr indent="0" marL="0">
              <a:buNone/>
            </a:pPr>
            <a:r>
              <a:rPr lang="en-US" sz="2400" dirty="0">
                <a:solidFill>
                  <a:srgbClr val="1F2A22"/>
                </a:solidFill>
                <a:latin typeface="Calibri" pitchFamily="34" charset="0"/>
                <a:ea typeface="Calibri" pitchFamily="34" charset="-122"/>
                <a:cs typeface="Calibri" pitchFamily="34" charset="-120"/>
              </a:rPr>
              <a:t>Technology · Investment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3.1b · CXO ESRG bias contributors: Cards 6 to 10</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 Brand-Led Investment  </a:t>
            </a:r>
            <a:pPr indent="0" marL="0">
              <a:buNone/>
            </a:pPr>
            <a:r>
              <a:rPr lang="en-US" sz="2400" dirty="0">
                <a:solidFill>
                  <a:srgbClr val="1F2A22"/>
                </a:solidFill>
                <a:latin typeface="Calibri" pitchFamily="34" charset="0"/>
                <a:ea typeface="Calibri" pitchFamily="34" charset="-122"/>
                <a:cs typeface="Calibri" pitchFamily="34" charset="-120"/>
              </a:rPr>
              <a:t>Facilities · Process Efficiency</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 Revenue Prioritisation  </a:t>
            </a:r>
            <a:pPr indent="0" marL="0">
              <a:buNone/>
            </a:pPr>
            <a:r>
              <a:rPr lang="en-US" sz="2400" dirty="0">
                <a:solidFill>
                  <a:srgbClr val="1F2A22"/>
                </a:solidFill>
                <a:latin typeface="Calibri" pitchFamily="34" charset="0"/>
                <a:ea typeface="Calibri" pitchFamily="34" charset="-122"/>
                <a:cs typeface="Calibri" pitchFamily="34" charset="-120"/>
              </a:rPr>
              <a:t>Process Efficiency · Resource Utilisation</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 Consolidation Efficiency  </a:t>
            </a:r>
            <a:pPr indent="0" marL="0">
              <a:buNone/>
            </a:pPr>
            <a:r>
              <a:rPr lang="en-US" sz="2400" dirty="0">
                <a:solidFill>
                  <a:srgbClr val="1F2A22"/>
                </a:solidFill>
                <a:latin typeface="Calibri" pitchFamily="34" charset="0"/>
                <a:ea typeface="Calibri" pitchFamily="34" charset="-122"/>
                <a:cs typeface="Calibri" pitchFamily="34" charset="-120"/>
              </a:rPr>
              <a:t>Asset Availability · Risk Management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 Compliance Framing  </a:t>
            </a:r>
            <a:pPr indent="0" marL="0">
              <a:buNone/>
            </a:pPr>
            <a:r>
              <a:rPr lang="en-US" sz="2400" dirty="0">
                <a:solidFill>
                  <a:srgbClr val="1F2A22"/>
                </a:solidFill>
                <a:latin typeface="Calibri" pitchFamily="34" charset="0"/>
                <a:ea typeface="Calibri" pitchFamily="34" charset="-122"/>
                <a:cs typeface="Calibri" pitchFamily="34" charset="-120"/>
              </a:rPr>
              <a:t>Risk Management · Infrastructure</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 Planning Optimism  </a:t>
            </a:r>
            <a:pPr indent="0" marL="0">
              <a:buNone/>
            </a:pPr>
            <a:r>
              <a:rPr lang="en-US" sz="2400" dirty="0">
                <a:solidFill>
                  <a:srgbClr val="1F2A22"/>
                </a:solidFill>
                <a:latin typeface="Calibri" pitchFamily="34" charset="0"/>
                <a:ea typeface="Calibri" pitchFamily="34" charset="-122"/>
                <a:cs typeface="Calibri" pitchFamily="34" charset="-120"/>
              </a:rPr>
              <a:t>Investment · Integration</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My Executive ESRG Bias Reflection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Component  </a:t>
            </a:r>
            <a:pPr indent="0" marL="0">
              <a:buNone/>
            </a:pPr>
            <a:r>
              <a:rPr lang="en-US" sz="2400" dirty="0">
                <a:solidFill>
                  <a:srgbClr val="1F2A22"/>
                </a:solidFill>
                <a:latin typeface="Calibri" pitchFamily="34" charset="0"/>
                <a:ea typeface="Calibri" pitchFamily="34" charset="-122"/>
                <a:cs typeface="Calibri" pitchFamily="34" charset="-120"/>
              </a:rPr>
              <a:t>one per domain · CFO: Resources · Investment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My potential bias  </a:t>
            </a:r>
            <a:pPr indent="0" marL="0">
              <a:buNone/>
            </a:pPr>
            <a:r>
              <a:rPr lang="en-US" sz="2400" dirty="0">
                <a:solidFill>
                  <a:srgbClr val="1F2A22"/>
                </a:solidFill>
                <a:latin typeface="Calibri" pitchFamily="34" charset="0"/>
                <a:ea typeface="Calibri" pitchFamily="34" charset="-122"/>
                <a:cs typeface="Calibri" pitchFamily="34" charset="-120"/>
              </a:rPr>
              <a:t>immediate cost cuts over long-term reliability</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Execution consequence  </a:t>
            </a:r>
            <a:pPr indent="0" marL="0">
              <a:buNone/>
            </a:pPr>
            <a:r>
              <a:rPr lang="en-US" sz="2400" dirty="0">
                <a:solidFill>
                  <a:srgbClr val="1F2A22"/>
                </a:solidFill>
                <a:latin typeface="Calibri" pitchFamily="34" charset="0"/>
                <a:ea typeface="Calibri" pitchFamily="34" charset="-122"/>
                <a:cs typeface="Calibri" pitchFamily="34" charset="-120"/>
              </a:rPr>
              <a:t>essential investment delayed, capacity reduced</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My debiasing technique  </a:t>
            </a:r>
            <a:pPr indent="0" marL="0">
              <a:buNone/>
            </a:pPr>
            <a:r>
              <a:rPr lang="en-US" sz="2400" dirty="0">
                <a:solidFill>
                  <a:srgbClr val="1F2A22"/>
                </a:solidFill>
                <a:latin typeface="Calibri" pitchFamily="34" charset="0"/>
                <a:ea typeface="Calibri" pitchFamily="34" charset="-122"/>
                <a:cs typeface="Calibri" pitchFamily="34" charset="-120"/>
              </a:rPr>
              <a:t>test the investment against strategic delivery</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How does the executive team create collective intelligence for ESRG alignment?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Integrate functional ESRG assessments into a collective intelligence view by identifying convergence, divergence and dependency across organisational operating capabilities.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collective intelligence responses that coordinate shared conditions, reconcile functional differences and align operating dependencies affecting strategic commitments.</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Three dimensions of collective intelligence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Convergence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Functional Intelligence → Coordinate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Divergence</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Cross-Functional Intelligence → Reconcile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Dependency</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Enterprise Intelligence → Align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What we share → Where we differ → How we depend on one another</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Enterprise ESRG Scanner: summary view</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gridCol w="1325880"/>
                <a:gridCol w="1600200"/>
                <a:gridCol w="1783080"/>
                <a:gridCol w="850392"/>
                <a:gridCol w="1691640"/>
                <a:gridCol w="1463040"/>
              </a:tblGrid>
              <a:tr h="566928">
                <a:tc>
                  <a:txBody>
                    <a:bodyPr/>
                    <a:lstStyle/>
                    <a:p>
                      <a:pPr algn="l" indent="0" marL="0">
                        <a:buNone/>
                      </a:pPr>
                      <a:r>
                        <a:rPr lang="en-US" sz="2400" b="1" dirty="0">
                          <a:solidFill>
                            <a:srgbClr val="FFFFFF"/>
                          </a:solidFill>
                          <a:latin typeface="Cambria" pitchFamily="34" charset="0"/>
                          <a:ea typeface="Cambria" pitchFamily="34" charset="-122"/>
                          <a:cs typeface="Cambria" pitchFamily="34" charset="-120"/>
                        </a:rPr>
                        <a:t>Capability</a:t>
                      </a:r>
                      <a:endParaRPr lang="en-US" sz="2400" dirty="0">
                        <a:latin typeface="Cambria" charset="0"/>
                        <a:ea typeface="Cambria" charset="0"/>
                        <a:cs typeface="Cambria"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Finance</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Operations</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Commercial</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HR</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Technology</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Average</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1A5C2C"/>
                    </a:solidFill>
                  </a:tcPr>
                </a:tc>
              </a:tr>
              <a:tr h="786384">
                <a:tc>
                  <a:txBody>
                    <a:bodyPr/>
                    <a:lstStyle/>
                    <a:p>
                      <a:pPr algn="l" indent="0" marL="0">
                        <a:buNone/>
                      </a:pPr>
                      <a:r>
                        <a:rPr lang="en-US" sz="2400" b="1" dirty="0">
                          <a:solidFill>
                            <a:srgbClr val="1F2A22"/>
                          </a:solidFill>
                          <a:latin typeface="Calibri" pitchFamily="34" charset="0"/>
                          <a:ea typeface="Calibri" pitchFamily="34" charset="-122"/>
                          <a:cs typeface="Calibri" pitchFamily="34" charset="-120"/>
                        </a:rPr>
                        <a:t>Operational Readiness</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2.67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5E6C4"/>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3.33</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3.60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786384">
                <a:tc>
                  <a:txBody>
                    <a:bodyPr/>
                    <a:lstStyle/>
                    <a:p>
                      <a:pPr algn="l" indent="0" marL="0">
                        <a:buNone/>
                      </a:pPr>
                      <a:r>
                        <a:rPr lang="en-US" sz="2400" b="1" dirty="0">
                          <a:solidFill>
                            <a:srgbClr val="1F2A22"/>
                          </a:solidFill>
                          <a:latin typeface="Calibri" pitchFamily="34" charset="0"/>
                          <a:ea typeface="Calibri" pitchFamily="34" charset="-122"/>
                          <a:cs typeface="Calibri" pitchFamily="34" charset="-120"/>
                        </a:rPr>
                        <a:t>Operational Flow</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3.33</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2.67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5E6C4"/>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2.67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5E6C4"/>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3.07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786384">
                <a:tc>
                  <a:txBody>
                    <a:bodyPr/>
                    <a:lstStyle/>
                    <a:p>
                      <a:pPr algn="l" indent="0" marL="0">
                        <a:buNone/>
                      </a:pPr>
                      <a:r>
                        <a:rPr lang="en-US" sz="2400" b="1" dirty="0">
                          <a:solidFill>
                            <a:srgbClr val="1F2A22"/>
                          </a:solidFill>
                          <a:latin typeface="Calibri" pitchFamily="34" charset="0"/>
                          <a:ea typeface="Calibri" pitchFamily="34" charset="-122"/>
                          <a:cs typeface="Calibri" pitchFamily="34" charset="-120"/>
                        </a:rPr>
                        <a:t>Delivery Capacity</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2.67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5E6C4"/>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3.47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r h="786384">
                <a:tc>
                  <a:txBody>
                    <a:bodyPr/>
                    <a:lstStyle/>
                    <a:p>
                      <a:pPr algn="l" indent="0" marL="0">
                        <a:buNone/>
                      </a:pPr>
                      <a:r>
                        <a:rPr lang="en-US" sz="2400" b="1" dirty="0">
                          <a:solidFill>
                            <a:srgbClr val="1F2A22"/>
                          </a:solidFill>
                          <a:latin typeface="Calibri" pitchFamily="34" charset="0"/>
                          <a:ea typeface="Calibri" pitchFamily="34" charset="-122"/>
                          <a:cs typeface="Calibri" pitchFamily="34" charset="-120"/>
                        </a:rPr>
                        <a:t>Decision Responsiveness</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EEF4E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3.33</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4.00</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3.67</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A22"/>
                          </a:solidFill>
                          <a:latin typeface="Calibri" pitchFamily="34" charset="0"/>
                          <a:ea typeface="Calibri" pitchFamily="34" charset="-122"/>
                          <a:cs typeface="Calibri" pitchFamily="34" charset="-120"/>
                        </a:rPr>
                        <a:t>3.73</a:t>
                      </a:r>
                      <a:endParaRPr lang="en-US" sz="2400" dirty="0">
                        <a:latin typeface="Calibri" charset="0"/>
                        <a:ea typeface="Calibri" charset="0"/>
                        <a:cs typeface="Calibri" charset="0"/>
                      </a:endParaRPr>
                    </a:p>
                  </a:txBody>
                  <a:tcPr marL="45720" marR="45720" marT="45720" marB="45720" anchor="ctr">
                    <a:lnL w="12700" cap="flat" cmpd="sng" algn="ctr">
                      <a:solidFill>
                        <a:srgbClr val="D5DED7"/>
                      </a:solidFill>
                      <a:prstDash val="solid"/>
                      <a:round/>
                      <a:headEnd type="none" w="med" len="med"/>
                      <a:tailEnd type="none" w="med" len="med"/>
                    </a:lnL>
                    <a:lnR w="12700" cap="flat" cmpd="sng" algn="ctr">
                      <a:solidFill>
                        <a:srgbClr val="D5DED7"/>
                      </a:solidFill>
                      <a:prstDash val="solid"/>
                      <a:round/>
                      <a:headEnd type="none" w="med" len="med"/>
                      <a:tailEnd type="none" w="med" len="med"/>
                    </a:lnR>
                    <a:lnT w="12700" cap="flat" cmpd="sng" algn="ctr">
                      <a:solidFill>
                        <a:srgbClr val="D5DED7"/>
                      </a:solidFill>
                      <a:prstDash val="solid"/>
                      <a:round/>
                      <a:headEnd type="none" w="med" len="med"/>
                      <a:tailEnd type="none" w="med" len="med"/>
                    </a:lnT>
                    <a:lnB w="12700" cap="flat" cmpd="sng" algn="ctr">
                      <a:solidFill>
                        <a:srgbClr val="D5DED7"/>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5715000"/>
            <a:ext cx="11091672" cy="731520"/>
          </a:xfrm>
          <a:prstGeom prst="roundRect">
            <a:avLst>
              <a:gd name="adj" fmla="val 12500"/>
            </a:avLst>
          </a:prstGeom>
          <a:solidFill>
            <a:srgbClr val="0F3B1C"/>
          </a:solidFill>
          <a:ln w="12700">
            <a:solidFill>
              <a:srgbClr val="0F3B1C"/>
            </a:solidFill>
            <a:prstDash val="solid"/>
          </a:ln>
        </p:spPr>
      </p:sp>
      <p:sp>
        <p:nvSpPr>
          <p:cNvPr id="5" name="Text 2"/>
          <p:cNvSpPr txBox="1"/>
          <p:nvPr/>
        </p:nvSpPr>
        <p:spPr>
          <a:xfrm>
            <a:off x="822960" y="5715000"/>
            <a:ext cx="10607040" cy="73152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Illustrative scores. Read the component view alongside the summary.</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Interpreting the prepopulated scanner</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Convergence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Integration scores 2 in four functions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Divergence</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Infrastructure: Operations 2, four functions 4</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Dependency</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Commercial growth relies on Operations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Every finding is a hypothesis to validate through evidence and dialogue.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4.4 · Collective Intelligence Response</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COORDINATE · Integration  </a:t>
            </a:r>
            <a:pPr indent="0" marL="0">
              <a:buNone/>
            </a:pPr>
            <a:r>
              <a:rPr lang="en-US" sz="2400" dirty="0">
                <a:solidFill>
                  <a:srgbClr val="1F2A22"/>
                </a:solidFill>
                <a:latin typeface="Calibri" pitchFamily="34" charset="0"/>
                <a:ea typeface="Calibri" pitchFamily="34" charset="-122"/>
                <a:cs typeface="Calibri" pitchFamily="34" charset="-120"/>
              </a:rPr>
              <a:t>four functions score 2</a:t>
            </a:r>
            <a:endParaRPr lang="en-US" sz="24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RECONCILE · Technology  </a:t>
            </a:r>
            <a:pPr indent="0" marL="0">
              <a:buNone/>
            </a:pPr>
            <a:r>
              <a:rPr lang="en-US" sz="2400" dirty="0">
                <a:solidFill>
                  <a:srgbClr val="1F2A22"/>
                </a:solidFill>
                <a:latin typeface="Calibri" pitchFamily="34" charset="0"/>
                <a:ea typeface="Calibri" pitchFamily="34" charset="-122"/>
                <a:cs typeface="Calibri" pitchFamily="34" charset="-120"/>
              </a:rPr>
              <a:t>Technology 2, other functions 4</a:t>
            </a:r>
            <a:endParaRPr lang="en-US" sz="24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ALIGN · Infrastructure  </a:t>
            </a:r>
            <a:pPr indent="0" marL="0">
              <a:buNone/>
            </a:pPr>
            <a:r>
              <a:rPr lang="en-US" sz="2400" dirty="0">
                <a:solidFill>
                  <a:srgbClr val="1F2A22"/>
                </a:solidFill>
                <a:latin typeface="Calibri" pitchFamily="34" charset="0"/>
                <a:ea typeface="Calibri" pitchFamily="34" charset="-122"/>
                <a:cs typeface="Calibri" pitchFamily="34" charset="-120"/>
              </a:rPr>
              <a:t>Operations 2 carries commercial growth</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4.5 · My Capstone Functional ESRG Assessment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Role and problem  </a:t>
            </a:r>
            <a:pPr indent="0" marL="0">
              <a:buNone/>
            </a:pPr>
            <a:r>
              <a:rPr lang="en-US" sz="2400" dirty="0">
                <a:solidFill>
                  <a:srgbClr val="1F2A22"/>
                </a:solidFill>
                <a:latin typeface="Calibri" pitchFamily="34" charset="0"/>
                <a:ea typeface="Calibri" pitchFamily="34" charset="-122"/>
                <a:cs typeface="Calibri" pitchFamily="34" charset="-120"/>
              </a:rPr>
              <a:t>your capstone role, function and stated problem</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Score 12 components  </a:t>
            </a:r>
            <a:pPr indent="0" marL="0">
              <a:buNone/>
            </a:pPr>
            <a:r>
              <a:rPr lang="en-US" sz="2400" dirty="0">
                <a:solidFill>
                  <a:srgbClr val="1F2A22"/>
                </a:solidFill>
                <a:latin typeface="Calibri" pitchFamily="34" charset="0"/>
                <a:ea typeface="Calibri" pitchFamily="34" charset="-122"/>
                <a:cs typeface="Calibri" pitchFamily="34" charset="-120"/>
              </a:rPr>
              <a:t>1–5, or N/A where genuinely not applicable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Annual baseline  </a:t>
            </a:r>
            <a:pPr indent="0" marL="0">
              <a:buNone/>
            </a:pPr>
            <a:r>
              <a:rPr lang="en-US" sz="2400" dirty="0">
                <a:solidFill>
                  <a:srgbClr val="1F2A22"/>
                </a:solidFill>
                <a:latin typeface="Calibri" pitchFamily="34" charset="0"/>
                <a:ea typeface="Calibri" pitchFamily="34" charset="-122"/>
                <a:cs typeface="Calibri" pitchFamily="34" charset="-120"/>
              </a:rPr>
              <a:t>your scores save as you work</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Feeds your team  </a:t>
            </a:r>
            <a:pPr indent="0" marL="0">
              <a:buNone/>
            </a:pPr>
            <a:r>
              <a:rPr lang="en-US" sz="2400" dirty="0">
                <a:solidFill>
                  <a:srgbClr val="1F2A22"/>
                </a:solidFill>
                <a:latin typeface="Calibri" pitchFamily="34" charset="0"/>
                <a:ea typeface="Calibri" pitchFamily="34" charset="-122"/>
                <a:cs typeface="Calibri" pitchFamily="34" charset="-120"/>
              </a:rPr>
              <a:t>the Enterprise ESRG Scanner in Section 5</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Convergence  </a:t>
            </a:r>
            <a:pPr indent="0" marL="0">
              <a:buNone/>
            </a:pPr>
            <a:r>
              <a:rPr lang="en-US" sz="2400" dirty="0">
                <a:solidFill>
                  <a:srgbClr val="1F2A22"/>
                </a:solidFill>
                <a:latin typeface="Calibri" pitchFamily="34" charset="0"/>
                <a:ea typeface="Calibri" pitchFamily="34" charset="-122"/>
                <a:cs typeface="Calibri" pitchFamily="34" charset="-120"/>
              </a:rPr>
              <a:t>Which functions report similar conditions, and do those ratings reflect a shared cause?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Divergence  </a:t>
            </a:r>
            <a:pPr indent="0" marL="0">
              <a:buNone/>
            </a:pPr>
            <a:r>
              <a:rPr lang="en-US" sz="2400" dirty="0">
                <a:solidFill>
                  <a:srgbClr val="1F2A22"/>
                </a:solidFill>
                <a:latin typeface="Calibri" pitchFamily="34" charset="0"/>
                <a:ea typeface="Calibri" pitchFamily="34" charset="-122"/>
                <a:cs typeface="Calibri" pitchFamily="34" charset="-120"/>
              </a:rPr>
              <a:t>What explains the differences in scores, requirements or operating experience?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Dependency  </a:t>
            </a:r>
            <a:pPr indent="0" marL="0">
              <a:buNone/>
            </a:pPr>
            <a:r>
              <a:rPr lang="en-US" sz="2400" dirty="0">
                <a:solidFill>
                  <a:srgbClr val="1F2A22"/>
                </a:solidFill>
                <a:latin typeface="Calibri" pitchFamily="34" charset="0"/>
                <a:ea typeface="Calibri" pitchFamily="34" charset="-122"/>
                <a:cs typeface="Calibri" pitchFamily="34" charset="-120"/>
              </a:rPr>
              <a:t>Which strategic commitment depends on these conditions, and which functions must act together?</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Each response  </a:t>
            </a:r>
            <a:pPr indent="0" marL="0">
              <a:buNone/>
            </a:pPr>
            <a:r>
              <a:rPr lang="en-US" sz="2400" dirty="0">
                <a:solidFill>
                  <a:srgbClr val="1F2A22"/>
                </a:solidFill>
                <a:latin typeface="Calibri" pitchFamily="34" charset="0"/>
                <a:ea typeface="Calibri" pitchFamily="34" charset="-122"/>
                <a:cs typeface="Calibri" pitchFamily="34" charset="-120"/>
              </a:rPr>
              <a:t>What does the evidence establish, and which decision needs collective agreement?</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Enterprise ESRG Alignment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Consolidate and interpret functional ESRG assessments to establish an evidence-based enterprise view of the operating capabilities required for strategic delivery.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Develop and operationalise collective ESRG alignment interventions that address operating constraints and strengthen cross-functional delivery of strategic commitments.</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Clinic: how it runs</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Group record  </a:t>
            </a:r>
            <a:pPr indent="0" marL="0">
              <a:buNone/>
            </a:pPr>
            <a:r>
              <a:rPr lang="en-US" sz="2400" dirty="0">
                <a:solidFill>
                  <a:srgbClr val="1F2A22"/>
                </a:solidFill>
                <a:latin typeface="Calibri" pitchFamily="34" charset="0"/>
                <a:ea typeface="Calibri" pitchFamily="34" charset="-122"/>
                <a:cs typeface="Calibri" pitchFamily="34" charset="-120"/>
              </a:rPr>
              <a:t>the scribe types what your group agrees</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5.1 Consolidate  </a:t>
            </a:r>
            <a:pPr indent="0" marL="0">
              <a:buNone/>
            </a:pPr>
            <a:r>
              <a:rPr lang="en-US" sz="2400" dirty="0">
                <a:solidFill>
                  <a:srgbClr val="1F2A22"/>
                </a:solidFill>
                <a:latin typeface="Calibri" pitchFamily="34" charset="0"/>
                <a:ea typeface="Calibri" pitchFamily="34" charset="-122"/>
                <a:cs typeface="Calibri" pitchFamily="34" charset="-120"/>
              </a:rPr>
              <a:t>every member’s 4.5 baseline, no rescoring</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5.2 Interpret  </a:t>
            </a:r>
            <a:pPr indent="0" marL="0">
              <a:buNone/>
            </a:pPr>
            <a:r>
              <a:rPr lang="en-US" sz="2400" dirty="0">
                <a:solidFill>
                  <a:srgbClr val="1F2A22"/>
                </a:solidFill>
                <a:latin typeface="Calibri" pitchFamily="34" charset="0"/>
                <a:ea typeface="Calibri" pitchFamily="34" charset="-122"/>
                <a:cs typeface="Calibri" pitchFamily="34" charset="-120"/>
              </a:rPr>
              <a:t>each capability, findings with evidence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5.3 Respond  </a:t>
            </a:r>
            <a:pPr indent="0" marL="0">
              <a:buNone/>
            </a:pPr>
            <a:r>
              <a:rPr lang="en-US" sz="2400" dirty="0">
                <a:solidFill>
                  <a:srgbClr val="1F2A22"/>
                </a:solidFill>
                <a:latin typeface="Calibri" pitchFamily="34" charset="0"/>
                <a:ea typeface="Calibri" pitchFamily="34" charset="-122"/>
                <a:cs typeface="Calibri" pitchFamily="34" charset="-120"/>
              </a:rPr>
              <a:t>the Collective Intelligence Response Table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5.4 Plan  </a:t>
            </a:r>
            <a:pPr indent="0" marL="0">
              <a:buNone/>
            </a:pPr>
            <a:r>
              <a:rPr lang="en-US" sz="2400" dirty="0">
                <a:solidFill>
                  <a:srgbClr val="1F2A22"/>
                </a:solidFill>
                <a:latin typeface="Calibri" pitchFamily="34" charset="0"/>
                <a:ea typeface="Calibri" pitchFamily="34" charset="-122"/>
                <a:cs typeface="Calibri" pitchFamily="34" charset="-120"/>
              </a:rPr>
              <a:t>the ESRG Alignment Intervention Plan</a:t>
            </a:r>
            <a:endParaRPr lang="en-US" sz="2400" dirty="0"/>
          </a:p>
        </p:txBody>
      </p:sp>
      <p:sp>
        <p:nvSpPr>
          <p:cNvPr id="18" name="Shape 11"/>
          <p:cNvSpPr/>
          <p:nvPr/>
        </p:nvSpPr>
        <p:spPr>
          <a:xfrm>
            <a:off x="548640" y="5707761"/>
            <a:ext cx="570738" cy="570738"/>
          </a:xfrm>
          <a:prstGeom prst="ellipse">
            <a:avLst/>
          </a:prstGeom>
          <a:solidFill>
            <a:srgbClr val="C6A24C"/>
          </a:solidFill>
          <a:ln w="12700">
            <a:solidFill>
              <a:srgbClr val="C6A24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Agree  </a:t>
            </a:r>
            <a:pPr indent="0" marL="0">
              <a:buNone/>
            </a:pPr>
            <a:r>
              <a:rPr lang="en-US" sz="2400" dirty="0">
                <a:solidFill>
                  <a:srgbClr val="1F2A22"/>
                </a:solidFill>
                <a:latin typeface="Calibri" pitchFamily="34" charset="0"/>
                <a:ea typeface="Calibri" pitchFamily="34" charset="-122"/>
                <a:cs typeface="Calibri" pitchFamily="34" charset="-120"/>
              </a:rPr>
              <a:t>boxes 10A to 10D of your Blueprint</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Consolidate individual functional scores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Step 1 · Verify  </a:t>
            </a:r>
            <a:pPr indent="0" marL="0">
              <a:buNone/>
            </a:pPr>
            <a:r>
              <a:rPr lang="en-US" sz="2400" dirty="0">
                <a:solidFill>
                  <a:srgbClr val="1F2A22"/>
                </a:solidFill>
                <a:latin typeface="Calibri" pitchFamily="34" charset="0"/>
                <a:ea typeface="Calibri" pitchFamily="34" charset="-122"/>
                <a:cs typeface="Calibri" pitchFamily="34" charset="-120"/>
              </a:rPr>
              <a:t>one complete assessment per function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Step 2 · Component view  </a:t>
            </a:r>
            <a:pPr indent="0" marL="0">
              <a:buNone/>
            </a:pPr>
            <a:r>
              <a:rPr lang="en-US" sz="2400" dirty="0">
                <a:solidFill>
                  <a:srgbClr val="1F2A22"/>
                </a:solidFill>
                <a:latin typeface="Calibri" pitchFamily="34" charset="0"/>
                <a:ea typeface="Calibri" pitchFamily="34" charset="-122"/>
                <a:cs typeface="Calibri" pitchFamily="34" charset="-120"/>
              </a:rPr>
              <a:t>scores come from each member’s scanner</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Step 3 · Capability summary  </a:t>
            </a:r>
            <a:pPr indent="0" marL="0">
              <a:buNone/>
            </a:pPr>
            <a:r>
              <a:rPr lang="en-US" sz="2400" dirty="0">
                <a:solidFill>
                  <a:srgbClr val="1F2A22"/>
                </a:solidFill>
                <a:latin typeface="Calibri" pitchFamily="34" charset="0"/>
                <a:ea typeface="Calibri" pitchFamily="34" charset="-122"/>
                <a:cs typeface="Calibri" pitchFamily="34" charset="-120"/>
              </a:rPr>
              <a:t>means per function, enterprise average</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Non-negotiable  </a:t>
            </a:r>
            <a:pPr indent="0" marL="0">
              <a:buNone/>
            </a:pPr>
            <a:r>
              <a:rPr lang="en-US" sz="2400" dirty="0">
                <a:solidFill>
                  <a:srgbClr val="1F2A22"/>
                </a:solidFill>
                <a:latin typeface="Calibri" pitchFamily="34" charset="0"/>
                <a:ea typeface="Calibri" pitchFamily="34" charset="-122"/>
                <a:cs typeface="Calibri" pitchFamily="34" charset="-120"/>
              </a:rPr>
              <a:t>corrections are made in 4.5, at source</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Interpret by execution capability</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 Readiness</a:t>
            </a:r>
            <a:endParaRPr lang="en-US" sz="2600" dirty="0"/>
          </a:p>
        </p:txBody>
      </p:sp>
      <p:sp>
        <p:nvSpPr>
          <p:cNvPr id="7" name="Text 4"/>
          <p:cNvSpPr txBox="1"/>
          <p:nvPr/>
        </p:nvSpPr>
        <p:spPr>
          <a:xfrm>
            <a:off x="777240"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Facilities · Infrastructure · Technology</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 Flow</a:t>
            </a:r>
            <a:endParaRPr lang="en-US" sz="2600" dirty="0"/>
          </a:p>
        </p:txBody>
      </p:sp>
      <p:sp>
        <p:nvSpPr>
          <p:cNvPr id="12" name="Text 8"/>
          <p:cNvSpPr txBox="1"/>
          <p:nvPr/>
        </p:nvSpPr>
        <p:spPr>
          <a:xfrm>
            <a:off x="6460236"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Standardisation · Integration · Process Efficiency</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6" name="Text 11"/>
          <p:cNvSpPr txBox="1"/>
          <p:nvPr/>
        </p:nvSpPr>
        <p:spPr>
          <a:xfrm>
            <a:off x="1508760"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Delivery Capacity</a:t>
            </a:r>
            <a:endParaRPr lang="en-US" sz="2600" dirty="0"/>
          </a:p>
        </p:txBody>
      </p:sp>
      <p:sp>
        <p:nvSpPr>
          <p:cNvPr id="17" name="Text 12"/>
          <p:cNvSpPr txBox="1"/>
          <p:nvPr/>
        </p:nvSpPr>
        <p:spPr>
          <a:xfrm>
            <a:off x="777240"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Asset Availability · Investment · Resource Utilisation</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sp>
      <p:sp>
        <p:nvSpPr>
          <p:cNvPr id="19" name="Shape 14"/>
          <p:cNvSpPr/>
          <p:nvPr/>
        </p:nvSpPr>
        <p:spPr>
          <a:xfrm>
            <a:off x="6460236" y="3840480"/>
            <a:ext cx="548640" cy="54864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21" name="Text 15"/>
          <p:cNvSpPr txBox="1"/>
          <p:nvPr/>
        </p:nvSpPr>
        <p:spPr>
          <a:xfrm>
            <a:off x="7191756" y="3794760"/>
            <a:ext cx="4219956"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Decision Responsiveness</a:t>
            </a:r>
            <a:endParaRPr lang="en-US" sz="2600" dirty="0"/>
          </a:p>
        </p:txBody>
      </p:sp>
      <p:sp>
        <p:nvSpPr>
          <p:cNvPr id="22" name="Text 16"/>
          <p:cNvSpPr txBox="1"/>
          <p:nvPr/>
        </p:nvSpPr>
        <p:spPr>
          <a:xfrm>
            <a:off x="6460236" y="4572000"/>
            <a:ext cx="4951476" cy="73152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Policies &amp; Procedures · Authority · Risk Management</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For each: Convergence → Divergence → Dependency, with evidence.</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Collective Intelligence Response Table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Component  </a:t>
            </a:r>
            <a:pPr indent="0" marL="0">
              <a:buNone/>
            </a:pPr>
            <a:r>
              <a:rPr lang="en-US" sz="2400" dirty="0">
                <a:solidFill>
                  <a:srgbClr val="1F2A22"/>
                </a:solidFill>
                <a:latin typeface="Calibri" pitchFamily="34" charset="0"/>
                <a:ea typeface="Calibri" pitchFamily="34" charset="-122"/>
                <a:cs typeface="Calibri" pitchFamily="34" charset="-120"/>
              </a:rPr>
              <a:t>domain, capability and component</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Collective finding  </a:t>
            </a:r>
            <a:pPr indent="0" marL="0">
              <a:buNone/>
            </a:pPr>
            <a:r>
              <a:rPr lang="en-US" sz="2400" dirty="0">
                <a:solidFill>
                  <a:srgbClr val="1F2A22"/>
                </a:solidFill>
                <a:latin typeface="Calibri" pitchFamily="34" charset="0"/>
                <a:ea typeface="Calibri" pitchFamily="34" charset="-122"/>
                <a:cs typeface="Calibri" pitchFamily="34" charset="-120"/>
              </a:rPr>
              <a:t>what the evidence shows</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Commitment affected  </a:t>
            </a:r>
            <a:pPr indent="0" marL="0">
              <a:buNone/>
            </a:pPr>
            <a:r>
              <a:rPr lang="en-US" sz="2400" dirty="0">
                <a:solidFill>
                  <a:srgbClr val="1F2A22"/>
                </a:solidFill>
                <a:latin typeface="Calibri" pitchFamily="34" charset="0"/>
                <a:ea typeface="Calibri" pitchFamily="34" charset="-122"/>
                <a:cs typeface="Calibri" pitchFamily="34" charset="-120"/>
              </a:rPr>
              <a:t>the strategic commitment at risk</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Collective response  </a:t>
            </a:r>
            <a:pPr indent="0" marL="0">
              <a:buNone/>
            </a:pPr>
            <a:r>
              <a:rPr lang="en-US" sz="2400" dirty="0">
                <a:solidFill>
                  <a:srgbClr val="1F2A22"/>
                </a:solidFill>
                <a:latin typeface="Calibri" pitchFamily="34" charset="0"/>
                <a:ea typeface="Calibri" pitchFamily="34" charset="-122"/>
                <a:cs typeface="Calibri" pitchFamily="34" charset="-120"/>
              </a:rPr>
              <a:t>Coordinate · Reconcile · Align</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Functions involved  </a:t>
            </a:r>
            <a:pPr indent="0" marL="0">
              <a:buNone/>
            </a:pPr>
            <a:r>
              <a:rPr lang="en-US" sz="2400" dirty="0">
                <a:solidFill>
                  <a:srgbClr val="1F2A22"/>
                </a:solidFill>
                <a:latin typeface="Calibri" pitchFamily="34" charset="0"/>
                <a:ea typeface="Calibri" pitchFamily="34" charset="-122"/>
                <a:cs typeface="Calibri" pitchFamily="34" charset="-120"/>
              </a:rPr>
              <a:t>the executives who must act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 · ESRG Alignment Intervention Plan</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Agreed response  </a:t>
            </a:r>
            <a:pPr indent="0" marL="0">
              <a:buNone/>
            </a:pPr>
            <a:r>
              <a:rPr lang="en-US" sz="2400" dirty="0">
                <a:solidFill>
                  <a:srgbClr val="1F2A22"/>
                </a:solidFill>
                <a:latin typeface="Calibri" pitchFamily="34" charset="0"/>
                <a:ea typeface="Calibri" pitchFamily="34" charset="-122"/>
                <a:cs typeface="Calibri" pitchFamily="34" charset="-120"/>
              </a:rPr>
              <a:t>copied from 5.3</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Implementation actions  </a:t>
            </a:r>
            <a:pPr indent="0" marL="0">
              <a:buNone/>
            </a:pPr>
            <a:r>
              <a:rPr lang="en-US" sz="2400" dirty="0">
                <a:solidFill>
                  <a:srgbClr val="1F2A22"/>
                </a:solidFill>
                <a:latin typeface="Calibri" pitchFamily="34" charset="0"/>
                <a:ea typeface="Calibri" pitchFamily="34" charset="-122"/>
                <a:cs typeface="Calibri" pitchFamily="34" charset="-120"/>
              </a:rPr>
              <a:t>what will be done</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Accountable executive  </a:t>
            </a:r>
            <a:pPr indent="0" marL="0">
              <a:buNone/>
            </a:pPr>
            <a:r>
              <a:rPr lang="en-US" sz="2400" dirty="0">
                <a:solidFill>
                  <a:srgbClr val="1F2A22"/>
                </a:solidFill>
                <a:latin typeface="Calibri" pitchFamily="34" charset="0"/>
                <a:ea typeface="Calibri" pitchFamily="34" charset="-122"/>
                <a:cs typeface="Calibri" pitchFamily="34" charset="-120"/>
              </a:rPr>
              <a:t>one owner</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Contributing functions  </a:t>
            </a:r>
            <a:pPr indent="0" marL="0">
              <a:buNone/>
            </a:pPr>
            <a:r>
              <a:rPr lang="en-US" sz="2400" dirty="0">
                <a:solidFill>
                  <a:srgbClr val="1F2A22"/>
                </a:solidFill>
                <a:latin typeface="Calibri" pitchFamily="34" charset="0"/>
                <a:ea typeface="Calibri" pitchFamily="34" charset="-122"/>
                <a:cs typeface="Calibri" pitchFamily="34" charset="-120"/>
              </a:rPr>
              <a:t>who else acts</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Target date  </a:t>
            </a:r>
            <a:pPr indent="0" marL="0">
              <a:buNone/>
            </a:pPr>
            <a:r>
              <a:rPr lang="en-US" sz="2400" dirty="0">
                <a:solidFill>
                  <a:srgbClr val="1F2A22"/>
                </a:solidFill>
                <a:latin typeface="Calibri" pitchFamily="34" charset="0"/>
                <a:ea typeface="Calibri" pitchFamily="34" charset="-122"/>
                <a:cs typeface="Calibri" pitchFamily="34" charset="-120"/>
              </a:rPr>
              <a:t>when</a:t>
            </a:r>
            <a:endParaRPr lang="en-US" sz="2400" dirty="0"/>
          </a:p>
        </p:txBody>
      </p:sp>
      <p:sp>
        <p:nvSpPr>
          <p:cNvPr id="18" name="Shape 11"/>
          <p:cNvSpPr/>
          <p:nvPr/>
        </p:nvSpPr>
        <p:spPr>
          <a:xfrm>
            <a:off x="548640" y="5707761"/>
            <a:ext cx="570738" cy="570738"/>
          </a:xfrm>
          <a:prstGeom prst="ellipse">
            <a:avLst/>
          </a:prstGeom>
          <a:solidFill>
            <a:srgbClr val="C6A24C"/>
          </a:solidFill>
          <a:ln w="12700">
            <a:solidFill>
              <a:srgbClr val="C6A24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Evidence of improvement  </a:t>
            </a:r>
            <a:pPr indent="0" marL="0">
              <a:buNone/>
            </a:pPr>
            <a:r>
              <a:rPr lang="en-US" sz="2400" dirty="0">
                <a:solidFill>
                  <a:srgbClr val="1F2A22"/>
                </a:solidFill>
                <a:latin typeface="Calibri" pitchFamily="34" charset="0"/>
                <a:ea typeface="Calibri" pitchFamily="34" charset="-122"/>
                <a:cs typeface="Calibri" pitchFamily="34" charset="-120"/>
              </a:rPr>
              <a:t>the condition has changed</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Unit Summary · Closing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Awareness  </a:t>
            </a:r>
            <a:pPr indent="0" marL="0">
              <a:buNone/>
            </a:pPr>
            <a:r>
              <a:rPr lang="en-US" sz="2400" dirty="0">
                <a:solidFill>
                  <a:srgbClr val="1F2A22"/>
                </a:solidFill>
                <a:latin typeface="Calibri" pitchFamily="34" charset="0"/>
                <a:ea typeface="Calibri" pitchFamily="34" charset="-122"/>
                <a:cs typeface="Calibri" pitchFamily="34" charset="-120"/>
              </a:rPr>
              <a:t>ESRG names the capabilities a commitment needs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Intelligence  </a:t>
            </a:r>
            <a:pPr indent="0" marL="0">
              <a:buNone/>
            </a:pPr>
            <a:r>
              <a:rPr lang="en-US" sz="2400" dirty="0">
                <a:solidFill>
                  <a:srgbClr val="1F2A22"/>
                </a:solidFill>
                <a:latin typeface="Calibri" pitchFamily="34" charset="0"/>
                <a:ea typeface="Calibri" pitchFamily="34" charset="-122"/>
                <a:cs typeface="Calibri" pitchFamily="34" charset="-120"/>
              </a:rPr>
              <a:t>a profile shows where conditions enable or constrain</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Extrapolating  </a:t>
            </a:r>
            <a:pPr indent="0" marL="0">
              <a:buNone/>
            </a:pPr>
            <a:r>
              <a:rPr lang="en-US" sz="2400" dirty="0">
                <a:solidFill>
                  <a:srgbClr val="1F2A22"/>
                </a:solidFill>
                <a:latin typeface="Calibri" pitchFamily="34" charset="0"/>
                <a:ea typeface="Calibri" pitchFamily="34" charset="-122"/>
                <a:cs typeface="Calibri" pitchFamily="34" charset="-120"/>
              </a:rPr>
              <a:t>executive decisions shape operating conditions</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Integration  </a:t>
            </a:r>
            <a:pPr indent="0" marL="0">
              <a:buNone/>
            </a:pPr>
            <a:r>
              <a:rPr lang="en-US" sz="2400" dirty="0">
                <a:solidFill>
                  <a:srgbClr val="1F2A22"/>
                </a:solidFill>
                <a:latin typeface="Calibri" pitchFamily="34" charset="0"/>
                <a:ea typeface="Calibri" pitchFamily="34" charset="-122"/>
                <a:cs typeface="Calibri" pitchFamily="34" charset="-120"/>
              </a:rPr>
              <a:t>coordinate, reconcile and align across functions</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Application  </a:t>
            </a:r>
            <a:pPr indent="0" marL="0">
              <a:buNone/>
            </a:pPr>
            <a:r>
              <a:rPr lang="en-US" sz="2400" dirty="0">
                <a:solidFill>
                  <a:srgbClr val="1F2A22"/>
                </a:solidFill>
                <a:latin typeface="Calibri" pitchFamily="34" charset="0"/>
                <a:ea typeface="Calibri" pitchFamily="34" charset="-122"/>
                <a:cs typeface="Calibri" pitchFamily="34" charset="-120"/>
              </a:rPr>
              <a:t>the response says what; the plan says how</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10 · ESRG Alignment</dc:title>
  <dc:subject>PptxGenJS Presentation</dc:subject>
  <dc:creator>Institute of Behavioural Strategy &amp; Leadership</dc:creator>
  <cp:lastModifiedBy>Institute of Behavioural Strategy &amp; Leadership</cp:lastModifiedBy>
  <cp:revision>1</cp:revision>
  <dcterms:created xsi:type="dcterms:W3CDTF">2026-10-28T11:10:34Z</dcterms:created>
  <dcterms:modified xsi:type="dcterms:W3CDTF">2026-10-28T11:10:34Z</dcterms:modified>
</cp:coreProperties>
</file>