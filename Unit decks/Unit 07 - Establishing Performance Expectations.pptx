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7 · ESTABLISHING PERFORMANCE EXPECTATIONS
Module 3 · Influence · Unit 7
Unit intent (Facilitator Guide):
Unit 7 addresses the single most common reason strategy fails at the human level: expectations are communicated but never truly established. The distinction is subtle in language and profound in execution impact. The unit moves leaders from announcing targets to securing genuine ownership. The Alignment Dialogue (Score → Evaluate → Resolve) is the centrepiece tool — practical, immediate, and directly applicable.
This unit is highly experiential. The role-play in Application is essential: it is where the conceptual work becomes a skill. Protect the time for it.
Unit overview (facilitator file): Execution begins when the people responsible for those goals internalise the expectation and accept ownership of the result. This unit equips leaders to close the gap between a well-designed performance management system and genuine human commitment to deliver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(identical in the participant and facilitator files)
1. Articulate performance expectations that are clear, strategically relevant and consistent with enterprise outcomes.
2. Evaluate the readiness of individuals and teams to fulfil their strategic responsibilities.
3. Recognise the contribution relationships and dependencies that influence organisational performance.
4. Demonstrate shared ownership and mutual accountability for agreed results.
Each section slide carries that section’s two learning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Time: the facilitator file gives suggested timing only for the Section 5 role play: 15 minutes per round, two rounds minimum, then a plenary debrief.
Key Facilitation Questions
“If you distributed your team’s scorecard right now — without conversation, without context — how many of them would genuinely own those targets?”
“Think of the last time a delivery goal was missed. Was the expectation set — or was it established?”
“Who in your expectations chain could derail delivery — and have you had the alignment conversation with them?”
“When someone on your team gives you a 6 out of 10 on alignment — what does your instinct tell you to do? And what should you do?”
Tone &amp; Watch Points
Watch for: leaders who confuse clarity with alignment. A person can understand an expectation perfectly and still not own it. Probe: “Clarity tells you they heard it. Alignment tells you they’ll deliver it. How do you know the difference?”
Watch for: leaders who treat the Alignment Score as a report card. The score is a diagnostic. If someone gives a 6, the leader’s job is to understand it and resolve it.
Application: Run the role-play with real expectations from participants’ current contexts where possible. The closer the scenario is to their actual work, the more transferable the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 AWARENESS — WHAT
What is Establishing Performance Expectations?
Naming the distinction between setting and establishing expectations — and the two mechanisms that close the gap between a delivery goal and genuine ownership.
Section learning outcomes:
1. Articulate expectations that are clear, consistent with enterprise outcomes and supported by the contributors they depend on.
2. Evaluate whether individuals have the clarity, capability and commitment to own an expectation.
Time: the facilitator file gives no suggested time for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SETTING VS ESTABLISHING EXPECTATIONS (The defining distinction)
FACILITATOR GUIDANCE
Open with the script question: “If you distributed your team’s scorecard right now — without conversation, without context — how many of them would genuinely own those targets?” Let the silence sit. Most leaders will realise their answer is “fewer than I thought.” That discomfort is the entry point for the rest of the unit.
Content:
The difference between setting expectations and establishing expectations is subtle in language and profound in execution impact. It determines whether a performance target becomes an instruction that people comply with or a commitment that people own.
Execution begins when the people responsible for those goals internalise the expectation and accept ownership of the result.
Dimension
Setting Expectations
Establishing Expectations
Approach | Top-down declaration; target communicated and assigned | Leadership alignment process; result defined and ownership secured
Focus | Clarity of instruction | Mutual readiness for execution
Dialogue | Limited; assumption that understanding = commitment | Structured; tests feasibility, surfaces constraints, secures commitment
Execution dynamic | Compliance-driven; cautious behaviour, upward escalation | Commitment-driven; initiative, proactive risk surfacing, solving
Result | KPI as metric to be monitored | KPI as personal leadership promise
Accountability | Conditional; defensive ownership | Personal; proactive ownership of the outcome
Participant file (1.1 — Setting vs Establishing Expectations) — prompts participants complete:
- ✎ Reflection — Your Honest Assessment Think of the last time you communicated a delivery expectation. Was it set or established? How do you know? — The last expectation I communicated was... I know it was [set/established] because... What I would do differently: ...</a:t>
            </a:r>
            <a:endParaRPr lang="en-US" dirty="0"/>
          </a:p>
          <a:p/>
          <a:p>
            <a:r>
              <a:t>Professional insights:</a:t>
            </a:r>
          </a:p>
          <a:p/>
          <a:p>
            <a:r>
              <a:t>Command or request: The same demand delivered as a command and as a request produces materially different results from the same people. Tone, humility and the manner of the ask often decide the outcome. Use this with Setting and Establishing.</a:t>
            </a:r>
          </a:p>
          <a:p>
            <a:r>
              <a:t>Source: Journal, 18 June 2026 — Professional Insights: Leadership</a:t>
            </a:r>
          </a:p>
          <a:p/>
          <a:p>
            <a:r>
              <a:t>Understanding the why: Knowledge hoarding produces compliance without capability: people follow procedures they do not understand, for reasons they were never told. Audit one process your team follows without being able to explain why, then explain it or change it.</a:t>
            </a:r>
          </a:p>
          <a:p>
            <a:r>
              <a:t>Source: Journal, 12 June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THE THREE CONDITIONS OF ESTABLISHED EXPECTATIONS (Clarity · Capability · Commitment)
FACILITATOR GUIDANCE
Most leaders overestimate how much Clarity they have provided and underestimate how little Commitment they have secured. The conversation usually sounds complete to the leader and feels incomplete to the team member. Ask: “After your last expectations conversation, which of the three conditions did you explicitly verify? Clarity — probably. Capability — sometimes. Commitment — almost never.”
Content:
When expectations are properly established, three conditions are simultaneously present. All three must be confirmed before execution begins. A KPI becomes a personal leadership promise only when all three are in place.
Condition 1
Clarity — The individual understands exactly what success looks like
Clarity means understanding the full picture of the expected outcome: what must be delivered, by when, at what standard, and how success will be recognised. Most expectation conversations stop at the number. Establishing expectations requires confirming that both parties share the same picture of the result.
Facilitation test: “Ask someone on your team to describe what success looks like for their key result. If the description differs from yours, clarity has not yet been established.”
Condition 2
Capability — The system can realistically support delivery
Capability in this context refers to the individual’s skill and to the system surrounding them. Can the organisation actually support delivery of this expectation? Are the resources, decisions, cross-functional dependencies, and coordination mechanisms in place? A person may fully understand and deeply want to own a target that the current system cannot deliver. Establishing expectations surfaces this before execution begins.
Condition 3
Commitment — The person consciously accepts ownership of the outcome
Commitment is the moment the expectation crosses from instruction to promise. The individual accepts personal responsibility for ensuring the outcome is delivered. This cannot be assumed from nodding agreement or email confirmation. It must be actively tested through dialogue. The Alignment Dialogue is the mechanism designed to confirm this transition has occurred.
The Alignment Dialogue asks: “On a scale of 1–10, how aligned are you with the expectation for you to deliver this outcome?” A score below 9 means Commitment is not yet established.
Participant file (1.2 — The Three Conditions of Established Expectations) — prompts participants complete:
- ✎ Reflection — Which Condition Is Most Often Missing? In your current role, which of the three conditions do you most consistently confirm — and which do you most often assume? — I most consistently confirm: [Clarity / Capability / Commitment] I most often assume: ... The cost of that assumption in my last major initiative was: ...</a:t>
            </a:r>
            <a:endParaRPr lang="en-US" dirty="0"/>
          </a:p>
          <a:p/>
          <a:p>
            <a:r>
              <a:t>Professional insights:</a:t>
            </a:r>
          </a:p>
          <a:p/>
          <a:p>
            <a:r>
              <a:t>Clarity: Many operational failures happen because people in authority believe execution needs their presence when it needs their clarity. Authority travels with a clear instruction.</a:t>
            </a:r>
          </a:p>
          <a:p>
            <a:r>
              <a:t>Source: Journal, 9 June 2026 — Professional Insights: Strategy</a:t>
            </a:r>
          </a:p>
          <a:p/>
          <a:p>
            <a:r>
              <a:t>Capability: Strategy is weakened when leaders become so committed to movement that they ignore capability gaps. A disciplined readiness pause can prevent an expensive failure later.</a:t>
            </a:r>
          </a:p>
          <a:p>
            <a:r>
              <a:t>Source: Journal, 1 August 2026 — Professional Insights: Strategy</a:t>
            </a:r>
          </a:p>
          <a:p/>
          <a:p>
            <a:r>
              <a:t>Commitment: Commitments lose strategic meaning when they are honoured only when convenient. Good intent has limited value if people cannot understand what is required of them.</a:t>
            </a:r>
          </a:p>
          <a:p>
            <a:r>
              <a:t>Source: Journal, 11 September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THE EXPECTATIONS CHAIN (Mapping who else influences the outcome)
FACILITATOR GUIDANCE
Ask leaders to pick one current key result and map their Expectations Chain on the spot — 3 minutes, three columns. Then ask: “Have you had an alignment dialogue with everyone in that chain? Or only with the person holding the KPI?” Most will realise they have had the conversation with one person and assumed the rest of the chain would follow. That assumption is where most execution gaps begin.
Content:
Very few delivery goals are achieved by a single person acting alone. Most results depend on a network of decisions, resources, and coordination across the organisation. The Expectations Chain identifies everyone whose work directly affects the delivery of a Key Result or KPI.
Mapping the Expectations Chain is a critical step before establishing expectations with any individual. It ensures that the KPI is not treated as an isolated personal obligation — and surfaces the dependencies that will determine whether delivery is possible.
↑
Upline Chain
Who
Individuals the leader depends on for approval, decisions, or resources
Examples
Executive leadership, board members, executive sponsors, budget holders
Key question
Who must approve or resource this outcome for delivery to be possible?
↓
Downline Chain
Who
Individuals responsible for executing the work required to achieve the KPI
Examples
Direct reports, project teams, cross-functional collaborators, shared service functions
Key question
Who must deliver specific activities for this outcome to be achieved?
↔
External Chain
Who
External actors whose contributions influence delivery success
Examples
Suppliers, service partners, contractors, regulatory bodies, technology vendors
Key question
Which external actors influence whether this outcome can be delivered?
Participant file (1.3 — The Expectations Chain) — prompts participants complete:
- ✎ Reflection — Map Your Chain Choose one current key result. Map your Expectations Chain. Have you had an alignment dialogue with everyone in the chain — or only with the person holding the KPI? — Key Result: ... Upline: ... Downline: ... External: ... Who I have NOT yet had an alignment dialogue with: ...</a:t>
            </a:r>
            <a:endParaRPr lang="en-US" dirty="0"/>
          </a:p>
          <a:p/>
          <a:p>
            <a:r>
              <a:t>Professional insights:</a:t>
            </a:r>
          </a:p>
          <a:p/>
          <a:p>
            <a:r>
              <a:t>Networked execution: Outcomes depend on a web of contributors beyond the visible leaders. Map and value the wider contribution system.</a:t>
            </a:r>
          </a:p>
          <a:p>
            <a:r>
              <a:t>Source: Journal, 29 August 2026 — Professional Insights: Strategy</a:t>
            </a:r>
          </a:p>
          <a:p/>
          <a:p>
            <a:r>
              <a:t>External: Many partnerships fail because the terms were vague at the start and each party assumed the other had agreed to something slightly different. Before formalising, write down what each party contributes, what each expects in return and how long the arrangement runs.</a:t>
            </a:r>
          </a:p>
          <a:p>
            <a:r>
              <a:t>Source: Journal, 8 June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THE ALIGNMENT DIALOGUE (Testing whether the expectation is owned)
FACILITATOR GUIDANCE
Introduce the Alignment Dialogue as a leadership safety system. “You are asking for the score so you can help. A 10 means go. Anything below 10 means there is still work for you to do as the leader.”
Content:
With the Expectations Chain mapped, the leader conducts an Alignment Dialogue with the individuals responsible for delivering the OKR/KPI. This is a structured conversation designed to test whether the expectation has moved from instruction to commitment.
The Alignment Dialogue uses a simple scale of 1–10. A score of 9 or 10 indicates genuine ownership of delivery. Anything lower demands further deliberation through the Score → Evaluate → Resolve sequence.
The power of the Alignment Dialogue lies in what the number reveals. A score of 6 is data: there is something unresolved between the expectation and the person’s readiness to own it. The leader’s job is to find it and resolve it before execution begins.</a:t>
            </a:r>
            <a:endParaRPr lang="en-US" dirty="0"/>
          </a:p>
          <a:p/>
          <a:p>
            <a:r>
              <a:t>Professional insights:</a:t>
            </a:r>
          </a:p>
          <a:p/>
          <a:p>
            <a:r>
              <a:t>Granted and accepted: A mandate can be signed off in a board paper and carry no weight on the ground until the people who must act on it accept it. Ask who has not yet accepted the expectation, and spend your effort winning that acceptance.</a:t>
            </a:r>
          </a:p>
          <a:p>
            <a:r>
              <a:t>Source: Journal, 25 May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 INTELLIGENCE — WHY
Why Establishing Expectations Determines Execution Outcomes
Understanding the behavioural mechanisms through which expectation alignment drives ownership, reduces ambiguity, surfaces constraints, and transforms accountability from formal obligation to personal commitment.
Section learning outcomes:
1. Explain how establishing expectations builds ownership and mutual accountability.
2. Recognise how engagement and accountability degrade when expectations are only communicated.
Time: the facilitator file gives no suggested time for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COMPLIANCE VS COMMITMENT: THE EXECUTION DYNAMIC (Ignition point)
FACILITATOR GUIDANCE
Invite leaders to locate their current team: “If you are honest — when your team hits an obstacle, what happens first? Do they solve it, or do they escalate it? The answer tells you whether you have compliance or commitment.” This is a signal about whether expectations were established.
Content:
Strategy is ultimately delivered through human commitment. The moment when expectations are clarified between leader and contributor is the moment a performance target transitions from organisational intention to personal responsibility. If that transition does not occur, execution becomes fragile regardless of how well the system has been designed.
Dimension
△ Compliance-Driven
△ Commitment-Driven
How it looks | Expectations communicated as instructions; acknowledged but not owned | Expectations established through dialogue; owned
Behaviour pattern | Wait for direction; escalate problems upward; focus on reporting | Anticipate risks earlier; coordinate across functions actively; invest effort in solving obstacles
When obstacles arise | Remain cautious; protect reporting; defer resolution to leadership | Take initiative; surface issues early; co-design solutions with the leader
Accountability | Activity ownership: responsible for completing tasks | Outcome ownership: personally accountable for the final result
Energy | Reserved; discretionary effort withheld | Fully invested; discretionary effort freely given
Participant file (2.1 — Compliance vs Commitment: The Execution Dynamic) — prompts participants complete:
- ✎ Reflection — Your Team Right Now When your team hits an unexpected obstacle, what happens first — do they solve it, or do they escalate it? What does the answer tell you about the execution dynamic you have created? — When my team hits an obstacle, the typical response is... This suggests the execution dynamic is closer to [compliance/commitment] because... The expectation conversation that would shift this: ...</a:t>
            </a:r>
            <a:endParaRPr lang="en-US" dirty="0"/>
          </a:p>
          <a:p/>
          <a:p>
            <a:r>
              <a:t>Professional insights:</a:t>
            </a:r>
          </a:p>
          <a:p/>
          <a:p>
            <a:r>
              <a:t>Concession under pressure: A commitment that reverses as soon as the pressure lifts was a concession all along. Build commitments that hold without the pressure.</a:t>
            </a:r>
          </a:p>
          <a:p>
            <a:r>
              <a:t>Source: Journal, 15 February 2026 — Professional Insights: Culture</a:t>
            </a:r>
          </a:p>
          <a:p/>
          <a:p>
            <a:r>
              <a:t>Agreement on the surface: Teams often say yes to a new way of working while quietly keeping the old habits underneath. People who keep both systems running have committed to neither. Bring the hidden habits into the open.</a:t>
            </a:r>
          </a:p>
          <a:p>
            <a:r>
              <a:t>Source: Journal, 27 June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 FIVE MECHANISMS: WHY EXPECTATION ALIGNMENT DETERMINES OUTCOMES (The behavioural logic)
FACILITATOR GUIDANCE
Ask participants to identify which mechanism is most absent in their current execution environment. “Is your team unclear on what success looks like (Mechanism 2)? Are constraints surfacing too late (Mechanism 3)? Or is accountability diffuse — everyone feels responsible and no one is (Mechanism 4)?” The diagnosis shapes the intervention.
Content:
Mechanism 1
From Instruction to Ownership
When expectations are merely communicated, people interpret them as instructions. The individual understands what must be achieved but does not yet feel personally accountable for ensuring the outcome is delivered. Establishing expectations through structured dialogue moves the individual from acknowledging the requirement to accepting ownership of the result. This is the fundamental shift that makes execution commitment-driven.
Mechanism 2
Reducing Interpretation Ambiguity
Even when strategic objectives are clearly articulated, individuals often interpret what success requires differently depending on their role, expertise, and operational context. Without structured expectation alignment, people may pursue the same goal while working from different assumptions. Establishing expectations creates a shared interpretation of: what must be delivered, why the result matters, and how success will be recognised. This reduces confusion and allows teams to move forward with greater coordination.
Mechanism 3
Surfacing Constraints Before Execution Begins
Most organisational results require coordination across functions, access to resources, timely decision-making, and cooperation from multiple contributors. If these dependencies are not identified during the expectation conversation, they only become visible later — often when deadlines are already approaching. Establishing expectations allows leaders and contributors to identify these factors early, ensuring required resources are understood, cross-functional dependencies are visible, and potential risks are recognised before they become execution crises.
Mechanism 4
Strengthening Accountability
Accountability is strongest when individuals perceive that the expectations placed on them are clear, achievable, and meaningful. When these conditions are present, people are far more likely to take ownership of outcomes and sustain effort when challenges arise. Establishing expectations strengthens accountability by ensuring both the leader and contributor share a common understanding of: the responsibility involved, what support will be available, what constraints must be addressed, and what standards will be used to evaluate success. This mutual clarity transforms accountability from a formal obligation into a shared commitment.
Mechanism 5
Building the Behavioural Foundation
Strategy execution is fundamentally a behavioural challenge. Plans, metrics, and dashboards provide direction and visibility, but outcomes are ultimately produced through the daily decisions and actions of people. Establishing performance expectations ensures that individuals are psychologically prepared to take responsibility for doing it. When this foundation is in place: individuals understand the purpose behind the work, confidence in feasibility increases, collaboration improves, and accountability becomes proactive.
Participant file (2.2 — Five Mechanisms: Why Expectation Alignment Determines Outcomes) — prompts participants complete:
- ✎ Reflection — Your Most Absent Mechanism Which of the five mechanisms is most absent in your current execution environment? What is the cost of that absence right now? — The mechanism most absent is Mechanism ___ because... The cost I can see in my organisation: ... The conversation I need to have: ...</a:t>
            </a:r>
            <a:endParaRPr lang="en-US" dirty="0"/>
          </a:p>
          <a:p/>
          <a:p>
            <a:r>
              <a:t>Professional insights:</a:t>
            </a:r>
          </a:p>
          <a:p/>
          <a:p>
            <a:r>
              <a:t>4 · Strengthening Accountability: The gap between stated intention and actual behaviour is one of the most revealing leadership diagnostics. Build accountability into the space between the commitment and the moment of execution. Its purpose is to close the gap between what people sincerely intend and what they do when pressure arrives.</a:t>
            </a:r>
          </a:p>
          <a:p>
            <a:r>
              <a:t>Source: Journal, 20 February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 ENGAGEMENT &amp; ACCOUNTABILITY: THE TWO CASUALTIES (What breaks down when expectations are only set)
FACILITATOR GUIDANCE
The paradox in the Accountability card is often a moment of recognition for leaders. Name it explicitly: “Have you ever been in a review where everyone has a reason, and no one has an answer? That is diluted accountability in action. It happened because ownership was never established.”
Content:
When expectations are set without being established, two organisational conditions degrade in a predictable sequence.
First Casualty
Engagement Weakens — Observable but Subtle
When leaders communicate expectations without alignment dialogue, individuals may understand what is required but do not feel personally involved in shaping how the outcome will be delivered. The expectation is acknowledged cognitively but not internalised behaviourally. Work continues and progress may still be visible, but the energy becomes uneven.
Discretionary effort is limited — people do only what is assigned
Individuals wait for direction and leave emerging problems unaddressed
Cross-functional coordination slows because people focus primarily on their own responsibilities
Engagement becomes transactional — people perform their roles but the deeper sense of collective ownership does not materialise
The signal: work is happening, but energy is not invested. People are present but not propelled.
Critical Long-Term Impact
Accountability Dilutes — The Deeper Organisational Cost
The most significant long-term consequence is in the quality of accountability. When expectations are set without alignment, individuals may feel responsible for carrying out activities but not for the final organisational result. Activity ownership and outcome ownership become blurred.
Performance discussions revolve around explanations
Conversations focus on constraints: resources, dependencies, external conditions
Cross-functional dependencies create delays because responsibility for resolving them is unclear
Accountability becomes dispersed: multiple teams feel partially responsible, none fully accountable
The paradox: teams appear to be working hard, meetings are frequent, updates are detailed — yet the organisation consistently struggles to achieve what it set out to deliver. The issue is that ownership of the outcome was assigned without being secured.</a:t>
            </a:r>
            <a:endParaRPr lang="en-US" dirty="0"/>
          </a:p>
          <a:p/>
          <a:p>
            <a:r>
              <a:t>Professional insights:</a:t>
            </a:r>
          </a:p>
          <a:p/>
          <a:p>
            <a:r>
              <a:t>Engagement becomes transactional: Many teams run on minimum compliance: do what is required, claim the credit, defend the boundary. Covenantal teams notice when a colleague is overwhelmed and carry the extra load, and they follow up after the project ends. Ask: is our team culture contractual or covenantal?</a:t>
            </a:r>
          </a:p>
          <a:p>
            <a:r>
              <a:t>Source: Journal, 28 April 2026 — Professional Insights: Culture</a:t>
            </a:r>
          </a:p>
          <a:p/>
          <a:p>
            <a:r>
              <a:t>Quiet non-participation: Indifference is the most underestimated risk to a strategic agenda, because quiet non-participation is invisible. Identify the people who have neither opposed nor engaged the initiative, ask each one directly whether they are in, and bring them in or redesign around them.</a:t>
            </a:r>
          </a:p>
          <a:p>
            <a:r>
              <a:t>Source: Journal, 10 May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 EXTRAPOLATING — WHERE
Where Does the Expectations Gap Emerge?
Examining how each executive function’s natural tendency creates patterns of setting expectations without establishing them — and where the gap most commonly breaks engagement and accountability at scale.
Section learning outcomes:
1. Identify where each executive function tends to set expectations without securing ownership.
2. Recognise when surface agreement masks unresolved ownership.
Time: the facilitator file gives no suggested time for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 — THE ALIGNMENT BRIGADE: CXO EXPECTATION TENDENCIES &amp; GAPS (10 executive roles)
FACILITATOR GUIDANCE
Ask participants to work through their own role first, then two adjacent roles. Key question: “What is the most important expectation you have set — but not yet established — with someone in your expectations chain? What would it take to establish it properly?”
Content:
Each CXO role naturally focuses on the mechanisms it controls: strategy signals, financial targets, operational processes, culture frameworks, technology milestones, or governance rules. This functional expertise produces a characteristic tendency in how expectations are communicated — and a characteristic gap in how they are established. Click a role to explore its tendency and gap.
CEO
Enterprise Ambition
CFO
Financial Precision
COO
Operational Discipline
CHRO
Cultural Alignment
CTO/CIO
Technical Milestones
CMO
Market Performance
CCO
Commercial Ambition
CPO
Procurement Discipline
CRO
Risk Governance
CSO
Strategic Planning
Typical Tendency
Often sets enterprise ambition and directional expectations, assuming functional leaders will translate these into delivery realities. The strategic signal is clear, but the conditions required for execution may not always be fully established through dialogue.
Expectation Gap
Functional leaders may receive the strategic direction clearly yet lack confirmed ownership of the conditions required for delivery. The assumption that strategic clarity cascades automatically into execution commitment is the CEO’s most common expectation gap.
Typical Tendency
Frequently sets precise financial performance expectations through budgets, targets, and reporting timelines. Financial clarity is strong, yet the cross-functional conditions required to deliver financial outcomes may not always be fully established with the teams responsible for operational delivery.
Expectation Gap
The finance number is clear; the ownership of delivering it is not. Teams understand the financial target but may not have confirmed the cross-functional conditions — resources, decisions, operational capacity — required to achieve it.
Typical Tendency
Commonly sets operational expectations through processes, service levels, and execution discipline. Operational clarity is high, though the broader alignment conversations that build emotional commitment and shared ownership across teams may receive less attention.
Expectation Gap
Process compliance is achieved; outcome ownership is not. Teams follow the operational procedure without necessarily feeling personally responsible for whether the broader result is delivered.
Typical Tendency
Often sets expectations around people behaviour, engagement, and cultural alignment. The dialogue is typically strong on social and emotional commitment, while the direct linkage to operational and commercial delivery expectations may sometimes require further clarification.
Expectation Gap
People feel culturally aligned but may not have clear delivery commitments. Engagement is high; the connection between that engagement and measurable commercial outcomes may remain under-established.
Typical Tendency
Frequently sets delivery expectations through technical specifications, system milestones, and project timelines. Technical clarity is strong, though broader organisational alignment around how technology outcomes enable business delivery may require deeper dialogue.
Expectation Gap
The technical milestone is clear; the business owner’s commitment to using the technology outcome to deliver the result is not established. Technology delivers; business ownership of the enabled result is assumed without confirmation.
Typical Tendency
Often sets market growth or brand performance expectations through campaign metrics and positioning targets. These expectations frequently depend on multiple functions for delivery, yet the cross-functional support commitments required may not always be fully established.
Expectation Gap
The campaign target is clear; the operational and commercial functions have not confirmed their ownership of enabling the marketing outcome. Market expectations are set with marketing; the expectations chain extending to other functions remains under-established.
Typical Tendency
Commonly sets ambitious commercial expectations to drive revenue momentum and market urgency. The stretch targets are clear, although the operational conditions required to sustain those outcomes may not always be fully aligned across the organisation.
Expectation Gap
The commercial target is understood; the operational capacity to deliver it sustainably is not confirmed. Revenue commitments are made without fully establishing whether the organisation’s operational expectations chain has been aligned to support them.
Typical Tendency
Often sets procurement expectations through contractual terms, supplier metrics, and compliance frameworks. These mechanisms create discipline with external partners, though the internal alignment required to convert procurement outcomes into enterprise value may need further establishment.
Expectation Gap
Supplier expectations are clear; internal expectations for converting supplier performance into business value are not established. Procurement delivers inputs; the internal expectations chain for converting those inputs into outcomes remains under-confirmed.
Typical Tendency
Frequently sets expectations for risk control and compliance through governance frameworks, policies, and reporting standards. The rules are clear, yet the deeper organisational ownership of risk-aware behaviour may require additional dialogue to move beyond procedural compliance.
Expectation Gap
The governance rule is understood; the ownership of risk-aware behaviour remains procedural. Compliance is achieved; commitment to risk-aware decision-making as a shared organisational responsibility is not established.
Typical Tendency
Often sets expectations around planning milestones, strategic reviews, and OKR cycles. Strategic process discipline is strong, though the expectations for day-to-day execution ownership may not always be fully established with the operational leaders responsible for delivery.
Expectation Gap
The strategic plan is clear; the operational leaders’ daily execution ownership of it is assumed without being established through dialogue. Strategic process compliance is achieved; the internalisation of strategic intent at the execution level is not confirmed.
Participant file (3.1 — The Alignment Brigade: CXO Expectation Tendencies &amp; Gaps) — prompts participants complete:
- ✎ Reflection — Your Expectation Gap Based on your role exploration: what is the most important expectation you have set but not yet established? Who in your chain needs that alignment dialogue? — The expectation I have set but not established: ... The person/function I need to establish it with: ... The alignment dialogue I will have within 5 working days: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 INTEGRATION — COLLECTIVE
Cross-Leadership Expectation Architecture
Designing a shared method for establishing expectations consistently across the organisation — connecting every expectation to the future, clarifying the chain, and securing ownership through the Alignment Dialogue.
Section learning outcomes:
1. Apply a consistent leadership practice for establishing expectations across the organisation.
2. Interpret alignment conversations to confirm genuine commitment.
Time: the facilitator file gives no suggested time for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 THE FOUR-STEP EXPECTATION ARCHITECTURE (A shared leadership practice)
FACILITATOR GUIDANCE
The most common omission is Step 1. Leaders jump straight to the number (Step 2) and skip the Future entirely. Ask: “When you last communicated a delivery expectation, did you start with why it matters — or with what the number is?” The Future is the foundation of ownership.
Content:
The Expectation Architecture provides a simple, consistent method that every leader in the organisation can use — from executives to team leaders to individual contributors — to move expectations from communication into genuine ownership.
1. Start With the Future
2. Clarify the Delivery Expectation
3. Identify the Expectations Chain
4. Confirm Ownership
Begin by connecting the expectation to the organisation’s Success in Practice (SiP) — the future state the organisation is pursuing.
The objective is to help the individual understand why the expectation matters. This anchors the expectation in organisational purpose.
Example leader framing:
“As part of our goal to become the most responsive and trusted partner in our market, we need to reduce complaint response times across the service teams. This directly enables the experience we have committed to delivering to our customers.”
When expectations begin with the Future, individuals understand the contribution their work makes to the broader direction. This shifts the conversation from compliance to purpose.
Once the Future is clear, define the specific result expected — in outcome terms.
This step focuses the conversation on the result. The leader defines what success looks like in concrete, measurable terms and checks that the individual understands and shares that picture.
Example leader framing:
“The outcome we need is a reduction in resolution time from 48 hours to 12 hours by the end of Q3 2026. That is the result we are holding ourselves to: the outcome we are accountable for.”
Clarity is tested by asking the individual to describe what success looks like in their own words. If the description differs from the leader’s, the expectation requires further clarification before proceeding.
With the outcome clear, identify who else must contribute for the result to be achieved.
Most organisational outcomes depend on multiple contributors. By mapping the Expectations Chain early, the leader ensures that dependencies are visible before execution begins.
The conversation explores:
Which teams or individuals will need to collaborate on this outcome?
Whose decisions or resources directly influence the delivery of the result?
Where might coordination be required across functions?
Which external actors influence whether the result can be achieved?
This step helps the individual understand the execution system surrounding the expectation — they are not delivering alone, and the leader is confirming that the full chain has been considered.
The final step confirms that the individual accepts responsibility for ensuring the outcome is delivered. This is the moment the expectation moves from instruction to commitment.
The leader asks the Alignment Question:
“On a scale of 1–10, how aligned are you with the expectation for you to deliver this outcome?”
A score of 9 or higher indicates that the expectation has moved into genuine ownership of delivery. The leader can proceed with confidence that the individual has consciously accepted responsibility for the result.
A score below 9 means there is unresolved concern between the expectation and the individual’s readiness to own it. The leader moves immediately into the Score → Evaluate → Resolve sequence to identify and address the source of misalignment before execution begins.
Participant file (4.1 — The Four-Step Expectation Architecture) — prompts participants complete:
- ✎ Reflection — Which Step Do You Most Often Skip? Of the four steps, which one do you most often move through too quickly? What would change if you gave it more time? — I most often rush Step ___ because... If I gave it more time, I would: ...</a:t>
            </a:r>
            <a:endParaRPr lang="en-US" dirty="0"/>
          </a:p>
          <a:p/>
          <a:p>
            <a:r>
              <a:t>Professional insights:</a:t>
            </a:r>
          </a:p>
          <a:p/>
          <a:p>
            <a:r>
              <a:t>1 · Start With the Future: Leaders who brief tasks before establishing the why, the who and the what-for produce people who execute without conviction. Establish the purpose first.</a:t>
            </a:r>
          </a:p>
          <a:p>
            <a:r>
              <a:t>Source: Journal, 4 February 2026 — Professional Insights: Leadership</a:t>
            </a:r>
          </a:p>
          <a:p/>
          <a:p>
            <a:r>
              <a:t>Explaining the mandate: Leaders must be able to explain why the work is legitimate, who authorised it and how it connects to the larger mission, alongside what their teams are doing.</a:t>
            </a:r>
          </a:p>
          <a:p>
            <a:r>
              <a:t>Source: Journal, 31 July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 — THE ALIGNMENT DIALOGUE: SCORE → EVALUATE → RESOLVE (Coaching model)
FACILITATOR GUIDANCE
The Resolve question — “What would move you to a 9 or 10?” — is the most important question in the whole architecture. It keeps the leader in the right posture: solving for the person’s ability to own it. Have leaders practise asking it aloud before the Application section. It sounds simple and feels unfamiliar the first time.
Content:
When the alignment score is below 9, the leader treats the number as data — it signals that something is unresolved. The Score → Evaluate → Resolve sequence transforms that signal into a resolved commitment.
1. Score It
2. Evaluate It
3. Resolve It
The individual provides a numerical assessment of their level of alignment. The score acts as a signal of readiness for ownership.
Score
What it signals
Leader action
9–10 | Clear ownership and readiness to deliver | Proceed; confirm the commitment and document
7–8 | Partial alignment — some uncertainty remains | Move to Evaluate → surface what is unresolved
5–6 | Significant concerns affecting confidence in delivery | Move to Evaluate → expect multiple concerns to surface
Below 5 | Expectation is not yet viable in its current form | Do not proceed — the expectation must be redesigned
If the score is below 9, the leader explores the reasons behind the rating. The objective is to understand what is preventing full alignment.
The leader guides the conversation using diagnostic questions:
“What influenced the score you gave?”
“What feels unclear about the expectation?”
“What concerns do you have about delivering this outcome?”
“Where do you anticipate obstacles or constraints?”
This step surfaces issues that might otherwise only appear during execution — when they are far more costly to resolve. Common concerns include:
Unclear definition of the outcome or success criteria
Cross-functional dependencies not yet confirmed
Capacity or resource constraints affecting feasibility
Confidence in the delivery pathway or timeline
The purpose of Evaluate is to make hidden concerns visible before execution begins.
Once the sources of misalignment are understood, the leader works with the individual to resolve them.
The guiding coaching question becomes:
“What would help move your alignment from where it is now to a 9 or 10?”
This question shifts the conversation toward solutions. Resolution may involve:
Clarifying the outcome definition or success criteria
Adjusting priorities or realistic timelines
Identifying additional support or resources required
Confirming collaboration across the Expectations Chain
Once concerns are resolved, the leader asks the alignment question again to confirm the expectation has moved into clear ownership. If it has not, the conversation continues — or the expectation itself is redesigned.
Leader’s Reflection Capture (after the dialogue):
1. Alignment Rating — Where does the commitment currently stand?
2. Primary Concern Identified — What surfaced during the discussion?
3. Action for Elevation — What will move alignment upward?
Participant file (4.2 — The Alignment Dialogue: Score → Evaluate → Resolve) — prompts participants complete:
- ✎ Reflection — Practise the Resolve Question Write the Resolve question in your own words. Then apply it to a real expectation alignment scenario you are currently facing. — The Resolve question in my own words: “...” Applied to my current situation: if I asked this of [person], I would expect them to say... And I would respond by: ...</a:t>
            </a:r>
            <a:endParaRPr lang="en-US" dirty="0"/>
          </a:p>
          <a:p/>
          <a:p>
            <a:r>
              <a:t>Professional insights:</a:t>
            </a:r>
          </a:p>
          <a:p/>
          <a:p>
            <a:r>
              <a:t>Evaluate: Leaders should be able to hear raw frustration without immediately defending the system or correcting the emotion. Credibility grows when leaders acknowledge the gap between intention and execution and work to close it.</a:t>
            </a:r>
          </a:p>
          <a:p>
            <a:r>
              <a:t>Source: Journal, 20 August 2026 — Professional Insights: Leadership</a:t>
            </a:r>
          </a:p>
          <a:p/>
          <a:p>
            <a:r>
              <a:t>Listening discipline: Speaking before understanding is a common leadership failure. People perform better when difficulty does not automatically threaten their belonging or worth.</a:t>
            </a:r>
          </a:p>
          <a:p>
            <a:r>
              <a:t>Source: Journal, 21 August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RESOLVE QUESTION
Guidance (4.2): The Resolve question — “What would move you to a 9 or 10?” — is the most important question in the whole architecture. It keeps the leader in the right posture: solving for the person’s ability to own it. Have leaders practise asking it aloud before the Application section. It sounds simple and feels unfamiliar the first time.
Participant reflection (participant file, 4.2 · ✎ Reflection — Practise the Resolve Question): “Write the Resolve question in your own words. Then apply it to a real expectation alignment scenario you are currently facing.”</a:t>
            </a:r>
            <a:endParaRPr lang="en-US" dirty="0"/>
          </a:p>
          <a:p/>
          <a:p>
            <a:r>
              <a:t>Professional insights:</a:t>
            </a:r>
          </a:p>
          <a:p/>
          <a:p>
            <a:r>
              <a:t>Questions open: Responding with a question returns ownership of the response to the person and gives them space to examine their own position without defending against an external judgement. Questions open where corrections close.</a:t>
            </a:r>
          </a:p>
          <a:p>
            <a:r>
              <a:t>Source: Journal, 1 April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 APPLICATION — IN PRACTICE
Role Play — Establishing Delivery Expectations
You are a CXO establishing delivery expectations with a team member or Head of Department. Your goal is to ensure that the expectation moves beyond communication into clear ownership of delivery.
Section learning outcomes:
1. Establish a delivery expectation that secures personal ownership of an agreed result.
2. Record the commitments that make mutual accountability visible.
FACILITATOR GUIDANCE — Role Play Setup
Format: Pairs or triads. One person plays the CXO leader, one plays the team member/HoD, and (in triads) one observes and gives feedback. Rotate roles so each person experiences the leader position.
Timing: 15 min per round (two rounds minimum). Debrief in plenary: what felt natural, what felt unfamiliar, where the Resolve question changed the dynamic.
Key watch point: Most leaders will rush Step 1 (the Future) and the alignment question. Observers should specifically note whether the leader genuinely connected to purpose before moving to the number — and whether the Alignment Question was asked with curiosity or with pressure.
Content:
Case Context
Success in Practice (Future): “The most responsive and trusted partner in our market, delivering seamless execution and sustained value through collaborative excellence.”
Key Result: Cut customer complaint resolution time from 48 hours to 12 hours by Q3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 PLAY — ESTABLISHING DELIVERY EXPECTATIONS
You are a CXO establishing delivery expectations with a team member or Head of Department. Your goal is to ensure that the expectation moves beyond communication into clear ownership of delivery.
Case Context:
Success in Practice (Future): “The most responsive and trusted partner in our market, delivering seamless execution and sustained value through collaborative excellence.”
Key Result: Cut customer complaint resolution time from 48 hours to 12 hours by Q3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 PLAY · THE SEVEN STEPS (participants record each step in their own file)
5.1 — STEP 1 · IDENTIFY WHO YOU ARE ESTABLISHING EXPECTATIONS WITH
FACILITATOR GUIDANCE
Ask participants to name one real person and role, and to state why that person is critical to the outcome.
Content:
Participants are asked: Before the conversation begins, clarify who holds delivery responsibility for this outcome and why their role is critical to achieving it.
Participant file (5.1 — Step 1 · Identify Who You Are Establishing Expectations With) — prompts participants complete:
- Role / Function and why this person is critical — Role/Function: ... Why this person is critical for delivering the outcome: ...
———
5.2 — STEP 2 · START WITH THE FUTURE
FACILITATOR GUIDANCE
Listen for a statement that links the expectation to the SiP future. Challenge any statement that describes a task without the future it serves.
Content:
Participants are asked: How would you explain why this outcome matters in relation to the SiP? This must connect the delivery expectation to the organisation’s future state.
Participant file (5.2 — Step 2 · Start With the Future) — prompts participants complete:
- Your statement connecting this expectation to the organisation’s Future (SiP) — “As part of our goal to become [SiP Future]... This outcome matters because...”
———
5.3 — STEP 3 · CLARIFY THE DELIVERY EXPECTATION
FACILITATOR GUIDANCE
Check that the outcome is specific and time-bound, and that success has observable evidence. Push back on activity descriptions.
Content:
Participants are asked: Define the outcome clearly in result terms. Then confirm how you will verify that success has been achieved.
Participant file (5.3 — Step 3 · Clarify the Delivery Expectation) — prompts participants complete:
- The specific outcome to be delivered (in result terms) — “The outcome we need is... By [date/timeline]: ...”
- How you will confirm success has been achieved — Success will be confirmed when: ... Evidence we will use: ...
———
5.4 — STEP 4 · IDENTIFY THE EXPECTATIONS CHAIN
PARTICIPANT ACTIVITY
Participants complete this activity in their own file. The content below is for your preparation.
FACILITATOR GUIDANCE
Ask participants to name every contributor who influences the outcome and the coordination required. Probe for missing links in the chain.
Content:
Participants are asked: List the contributors who must be involved in delivering the outcome. Include upline, downline, and external chain members.
Contributor / Function
Chain Type
Role in Delivering the Outcome
Participant file (5.4 — Step 4 · Identify the Expectations Chain) — prompts participants complete:
- Coordination required across these contributors
———
5.5 — STEP 5 · CONFIRM OWNERSHIP OF THE RESULT
PARTICIPANT ACTIVITY
Participants complete this activity in their own file. The content below is for your preparation.
FACILITATOR GUIDANCE
In pairs, participants ask their ownership question and record the alignment score. Model a neutral tone: the score is data.
Content:
Participants are asked: How would you confirm that the individual accepts responsibility for delivering the outcome? Write your leader question, then record the alignment score.
Alignment Score
/ 10
———
5.6 — STEP 6 · IF ALIGNMENT IS BELOW 9: SCORE → EVALUATE → RESOLVE
FACILITATOR GUIDANCE
Where scores fall below 9, coach the Evaluate → Resolve sequence. Concerns are named before actions are agreed, and a revised score is recorded.
Participant file (5.6 — Step 6 · If Alignment Is Below 9: Score → Evaluate → Resolve) — prompts participants complete:
- Concerns or constraints raised during Evaluate
- Actions agreed during Resolve — what will move alignment to 9 or 10? — “What would help move your alignment from [score] to a 9 or 10?” Actions agreed: ... Revised alignment score: ___/10
———
5.7 — STEP 7 · LEADER REFLECTION &amp; COMMITMENT RECORD
FACILITATOR GUIDANCE
Close with the reflection. Invite two or three participants to share the action agreed and what they learned about establishing expectations.
Content:
Participants are asked: Before concluding the conversation, capture three reflections that convert the dialogue into a visible commitment record.
Participant file (5.7 — Step 7 · Leader Reflection &amp; Commitment Record) — prompts participants complete:
- 1. Alignment Rating — Where does commitment stand? — Final score: ___/10 | This tells me: ...
- 2. Primary Concern Identified — What surfaced?
- 3. Action for Elevation — What will move alignment upward? — Action: ... | Owner: ___ | By: ___</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SUMMARY (Unit 7 synthesis)
Facilitator Closing Note
Close by asking each leader to name one expectation they have set but not yet established — with a specific person in their expectations chain. Ask them to commit to having that alignment dialogue within five working days and to capturing the score, the primary concern, and the action for elevation. The five-day window makes the commitment real and time-bound.
Content:
Awareness — What
Setting expectations communicates the required result. Establishing expectations ensures the individual understands it, can deliver it, and consciously accepts ownership of it. The Expectations Chain and Alignment Dialogue are the mechanisms that close this gap.
Intelligence — Why
Expectation alignment determines execution outcomes through five mechanisms: shifting instruction to ownership, reducing ambiguity, surfacing constraints early, strengthening accountability, and building the behavioural foundation of execution.
Extrapolating — Where
Every CXO function has a characteristic tendency to set expectations without establishing them. Without alignment dialogue, the organisation may appear aligned at the surface while engagement weakens and accountability dilutes beneath it.
Integration — Collective
The Expectation Architecture (Start with the Future → Clarify → Identify Chain → Confirm Ownership) and the Alignment Dialogue (Score → Evaluate → Resolve) create a shared leadership discipline that transforms expectation-setting into a commitment practice.
“Strong performance cultures are built by ensuring that expectations are mutually understood, realistically supported, and consciously accepted by the people responsible for delivering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slideLayout" Target="../slideLayouts/slideLayout1.xml"/><Relationship Id="rId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Module 3 · Influence · Unit 7</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Establishing Performance Expectations</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indent="0" marL="0">
              <a:buNone/>
            </a:pPr>
            <a:r>
              <a:rPr lang="en-US" sz="2400" i="1" dirty="0">
                <a:solidFill>
                  <a:srgbClr val="DDE8DF"/>
                </a:solidFill>
                <a:latin typeface="Calibri" pitchFamily="34" charset="0"/>
                <a:ea typeface="Calibri" pitchFamily="34" charset="-122"/>
                <a:cs typeface="Calibri" pitchFamily="34" charset="-120"/>
              </a:rPr>
              <a:t>Turning delivery goals into genuine ownership</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indent="0" marL="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Articulate performance expectations that are clear, strategically relevant and consistent with enterprise outcomes.</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Evaluate the readiness of individuals and teams to fulfil their strategic responsibilities.</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Recognise the contribution relationships and dependencies that influence organisational performance.</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Demonstrate shared ownership and mutual accountability for agreed results.</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1 · Awareness  </a:t>
            </a:r>
            <a:pPr indent="0" marL="0">
              <a:buNone/>
            </a:pP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2 · Intelligence  </a:t>
            </a:r>
            <a:pPr indent="0" marL="0">
              <a:buNone/>
            </a:pP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3 · Extrapolating  </a:t>
            </a:r>
            <a:pPr indent="0" marL="0">
              <a:buNone/>
            </a:pP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4 · Integration  </a:t>
            </a:r>
            <a:pPr indent="0" marL="0">
              <a:buNone/>
            </a:pP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5 · Application  </a:t>
            </a:r>
            <a:pPr indent="0" marL="0">
              <a:buNone/>
            </a:pP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What is Establishing Performance Expectations?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Articulate expectations that are clear, consistent with enterprise outcomes and supported by the contributors they depend 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Evaluate whether individuals have the clarity, capability and commitment to own an expectation.</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1.1 · Setting and establishing expectations</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Setting</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Top-down declaration</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Clarity of instruction</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KPI as a metric to monitor</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Conditional, defensive ownership</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Establishing</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Leadership alignment</a:t>
            </a:r>
            <a:endParaRPr lang="en-US" sz="2400" dirty="0"/>
          </a:p>
        </p:txBody>
      </p:sp>
      <p:sp>
        <p:nvSpPr>
          <p:cNvPr id="14" name="Text 10"/>
          <p:cNvSpPr txBox="1"/>
          <p:nvPr/>
        </p:nvSpPr>
        <p:spPr>
          <a:xfrm>
            <a:off x="6565392"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Mutual readiness for execution</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KPI as a personal leadership promise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Personal, proactive ownership</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1.2 · Three conditions of established expectations</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Clarity</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individual understands exactly what success looks like.</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Capability</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system can realistically support delivery.</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Commitment</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The person consciously accepts ownership of the outcome.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An alignment score below 9 means Commitment is not yet established.</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1.3 · The Expectations Chain</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Upline</a:t>
            </a:r>
            <a:endParaRPr lang="en-US" sz="2600" dirty="0"/>
          </a:p>
        </p:txBody>
      </p:sp>
      <p:sp>
        <p:nvSpPr>
          <p:cNvPr id="7" name="Text 4"/>
          <p:cNvSpPr txBox="1"/>
          <p:nvPr/>
        </p:nvSpPr>
        <p:spPr>
          <a:xfrm>
            <a:off x="777240" y="3159252"/>
            <a:ext cx="3057144" cy="30586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Who must approve or resource this outcome?</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Downline</a:t>
            </a:r>
            <a:endParaRPr lang="en-US" sz="2600" dirty="0"/>
          </a:p>
        </p:txBody>
      </p:sp>
      <p:sp>
        <p:nvSpPr>
          <p:cNvPr id="12" name="Text 8"/>
          <p:cNvSpPr txBox="1"/>
          <p:nvPr/>
        </p:nvSpPr>
        <p:spPr>
          <a:xfrm>
            <a:off x="4565904" y="3159252"/>
            <a:ext cx="3057144" cy="30586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Who must deliver specific activities?</a:t>
            </a:r>
            <a:endParaRPr lang="en-US" sz="2400" dirty="0"/>
          </a:p>
        </p:txBody>
      </p:sp>
      <p:sp>
        <p:nvSpPr>
          <p:cNvPr id="13" name="Shape 9"/>
          <p:cNvSpPr/>
          <p:nvPr/>
        </p:nvSpPr>
        <p:spPr>
          <a:xfrm>
            <a:off x="8125968" y="1508760"/>
            <a:ext cx="3514344" cy="4846320"/>
          </a:xfrm>
          <a:prstGeom prst="roundRect">
            <a:avLst>
              <a:gd name="adj" fmla="val 2602"/>
            </a:avLst>
          </a:prstGeom>
          <a:solidFill>
            <a:srgbClr val="EEF4EF"/>
          </a:solidFill>
          <a:ln w="12700">
            <a:solidFill>
              <a:srgbClr val="EEF4EF"/>
            </a:solidFill>
            <a:prstDash val="solid"/>
          </a:ln>
        </p:spPr>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External</a:t>
            </a:r>
            <a:endParaRPr lang="en-US" sz="2600" dirty="0"/>
          </a:p>
        </p:txBody>
      </p:sp>
      <p:sp>
        <p:nvSpPr>
          <p:cNvPr id="17" name="Text 12"/>
          <p:cNvSpPr txBox="1"/>
          <p:nvPr/>
        </p:nvSpPr>
        <p:spPr>
          <a:xfrm>
            <a:off x="8354568" y="3159252"/>
            <a:ext cx="3057144" cy="30586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Which external actors influence delivery?</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1.4 · The Alignment Dialogue</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“On a scale of 1–10, how aligned are you with the expectation for you to deliver this outcome?”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9 or 10: genuine ownership. Anything lower: Score → Evaluate → Resolve.</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Why Establishing Expectations Determines Execution Outcomes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Explain how establishing expectations builds ownership and mutual accountability.</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how engagement and accountability degrade when expectations are only communicated.</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2.1 · The execution dynamic</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Compliance-driven</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Acknowledged</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Wait for direction</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Escalate problems upward</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Activity ownership</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Commitment-driven</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Owned</a:t>
            </a:r>
            <a:endParaRPr lang="en-US" sz="2400" dirty="0"/>
          </a:p>
        </p:txBody>
      </p:sp>
      <p:sp>
        <p:nvSpPr>
          <p:cNvPr id="14" name="Text 10"/>
          <p:cNvSpPr txBox="1"/>
          <p:nvPr/>
        </p:nvSpPr>
        <p:spPr>
          <a:xfrm>
            <a:off x="6565392"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Anticipate risks earlier</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Take initiative, surface issues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Outcome ownership</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2.2 · Five mechanisms</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  </a:t>
            </a:r>
            <a:pPr indent="0" marL="0">
              <a:buNone/>
            </a:pPr>
            <a:r>
              <a:rPr lang="en-US" sz="2600" dirty="0">
                <a:solidFill>
                  <a:srgbClr val="1F2A22"/>
                </a:solidFill>
                <a:latin typeface="Calibri" pitchFamily="34" charset="0"/>
                <a:ea typeface="Calibri" pitchFamily="34" charset="-122"/>
                <a:cs typeface="Calibri" pitchFamily="34" charset="-120"/>
              </a:rPr>
              <a:t>From Instruction to Ownership</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  </a:t>
            </a:r>
            <a:pPr indent="0" marL="0">
              <a:buNone/>
            </a:pPr>
            <a:r>
              <a:rPr lang="en-US" sz="2600" dirty="0">
                <a:solidFill>
                  <a:srgbClr val="1F2A22"/>
                </a:solidFill>
                <a:latin typeface="Calibri" pitchFamily="34" charset="0"/>
                <a:ea typeface="Calibri" pitchFamily="34" charset="-122"/>
                <a:cs typeface="Calibri" pitchFamily="34" charset="-120"/>
              </a:rPr>
              <a:t>Reducing Interpretation Ambiguity</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  </a:t>
            </a:r>
            <a:pPr indent="0" marL="0">
              <a:buNone/>
            </a:pPr>
            <a:r>
              <a:rPr lang="en-US" sz="2600" dirty="0">
                <a:solidFill>
                  <a:srgbClr val="1F2A22"/>
                </a:solidFill>
                <a:latin typeface="Calibri" pitchFamily="34" charset="0"/>
                <a:ea typeface="Calibri" pitchFamily="34" charset="-122"/>
                <a:cs typeface="Calibri" pitchFamily="34" charset="-120"/>
              </a:rPr>
              <a:t>Surfacing Constraints Before Execution Begins</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4  </a:t>
            </a:r>
            <a:pPr indent="0" marL="0">
              <a:buNone/>
            </a:pPr>
            <a:r>
              <a:rPr lang="en-US" sz="2600" dirty="0">
                <a:solidFill>
                  <a:srgbClr val="1F2A22"/>
                </a:solidFill>
                <a:latin typeface="Calibri" pitchFamily="34" charset="0"/>
                <a:ea typeface="Calibri" pitchFamily="34" charset="-122"/>
                <a:cs typeface="Calibri" pitchFamily="34" charset="-120"/>
              </a:rPr>
              <a:t>Strengthening Accountability</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5  </a:t>
            </a:r>
            <a:pPr indent="0" marL="0">
              <a:buNone/>
            </a:pPr>
            <a:r>
              <a:rPr lang="en-US" sz="2600" dirty="0">
                <a:solidFill>
                  <a:srgbClr val="1F2A22"/>
                </a:solidFill>
                <a:latin typeface="Calibri" pitchFamily="34" charset="0"/>
                <a:ea typeface="Calibri" pitchFamily="34" charset="-122"/>
                <a:cs typeface="Calibri" pitchFamily="34" charset="-120"/>
              </a:rPr>
              <a:t>Building the Behavioural Foundation</a:t>
            </a:r>
            <a:endParaRPr lang="en-US" sz="2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2.3 · The two casualties</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Engagement weakens</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Observable but subtle</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Only what is assigned gets done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People wait for direction</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Engagement becomes transactional</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Accountability dilutes</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The deeper cost</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Explanations replace ownership</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Dependencies cause delay</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Everyone partly responsible</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6" name="Text 12"/>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Ownership of the outcome was assigned without being secured.</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Where Does the Expectations Gap Emerge?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Identify where each executive function tends to set expectations without securing ownership.</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when surface agreement masks unresolved ownership.</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3.1 · CXO expectation tendencies</a:t>
            </a:r>
            <a:endParaRPr lang="en-US" sz="3600" dirty="0"/>
          </a:p>
        </p:txBody>
      </p:sp>
      <p:sp>
        <p:nvSpPr>
          <p:cNvPr id="3" name="Shape 1"/>
          <p:cNvSpPr/>
          <p:nvPr/>
        </p:nvSpPr>
        <p:spPr>
          <a:xfrm>
            <a:off x="548640" y="1554480"/>
            <a:ext cx="5440680" cy="822960"/>
          </a:xfrm>
          <a:prstGeom prst="roundRect">
            <a:avLst>
              <a:gd name="adj" fmla="val 11111"/>
            </a:avLst>
          </a:prstGeom>
          <a:solidFill>
            <a:srgbClr val="EEF4EF"/>
          </a:solidFill>
          <a:ln w="12700">
            <a:solidFill>
              <a:srgbClr val="EEF4EF"/>
            </a:solidFill>
            <a:prstDash val="solid"/>
          </a:ln>
        </p:spPr>
      </p:sp>
      <p:sp>
        <p:nvSpPr>
          <p:cNvPr id="4" name="Text 2"/>
          <p:cNvSpPr txBox="1"/>
          <p:nvPr/>
        </p:nvSpPr>
        <p:spPr>
          <a:xfrm>
            <a:off x="777240" y="155448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CEO   </a:t>
            </a:r>
            <a:pPr indent="0" marL="0">
              <a:buNone/>
            </a:pPr>
            <a:r>
              <a:rPr lang="en-US" sz="2600" dirty="0">
                <a:solidFill>
                  <a:srgbClr val="1F2A22"/>
                </a:solidFill>
                <a:latin typeface="Calibri" pitchFamily="34" charset="0"/>
                <a:ea typeface="Calibri" pitchFamily="34" charset="-122"/>
                <a:cs typeface="Calibri" pitchFamily="34" charset="-120"/>
              </a:rPr>
              <a:t>Enterprise Ambition</a:t>
            </a:r>
            <a:endParaRPr lang="en-US" sz="2600" dirty="0"/>
          </a:p>
        </p:txBody>
      </p:sp>
      <p:sp>
        <p:nvSpPr>
          <p:cNvPr id="5" name="Shape 3"/>
          <p:cNvSpPr/>
          <p:nvPr/>
        </p:nvSpPr>
        <p:spPr>
          <a:xfrm>
            <a:off x="6172200" y="1554480"/>
            <a:ext cx="5440680" cy="822960"/>
          </a:xfrm>
          <a:prstGeom prst="roundRect">
            <a:avLst>
              <a:gd name="adj" fmla="val 11111"/>
            </a:avLst>
          </a:prstGeom>
          <a:solidFill>
            <a:srgbClr val="EEF4EF"/>
          </a:solidFill>
          <a:ln w="12700">
            <a:solidFill>
              <a:srgbClr val="EEF4EF"/>
            </a:solidFill>
            <a:prstDash val="solid"/>
          </a:ln>
        </p:spPr>
      </p:sp>
      <p:sp>
        <p:nvSpPr>
          <p:cNvPr id="6" name="Text 4"/>
          <p:cNvSpPr txBox="1"/>
          <p:nvPr/>
        </p:nvSpPr>
        <p:spPr>
          <a:xfrm>
            <a:off x="6400800" y="155448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CFO   </a:t>
            </a:r>
            <a:pPr indent="0" marL="0">
              <a:buNone/>
            </a:pPr>
            <a:r>
              <a:rPr lang="en-US" sz="2600" dirty="0">
                <a:solidFill>
                  <a:srgbClr val="1F2A22"/>
                </a:solidFill>
                <a:latin typeface="Calibri" pitchFamily="34" charset="0"/>
                <a:ea typeface="Calibri" pitchFamily="34" charset="-122"/>
                <a:cs typeface="Calibri" pitchFamily="34" charset="-120"/>
              </a:rPr>
              <a:t>Financial Precision</a:t>
            </a:r>
            <a:endParaRPr lang="en-US" sz="2600" dirty="0"/>
          </a:p>
        </p:txBody>
      </p:sp>
      <p:sp>
        <p:nvSpPr>
          <p:cNvPr id="7" name="Shape 5"/>
          <p:cNvSpPr/>
          <p:nvPr/>
        </p:nvSpPr>
        <p:spPr>
          <a:xfrm>
            <a:off x="548640" y="2514600"/>
            <a:ext cx="5440680" cy="822960"/>
          </a:xfrm>
          <a:prstGeom prst="roundRect">
            <a:avLst>
              <a:gd name="adj" fmla="val 11111"/>
            </a:avLst>
          </a:prstGeom>
          <a:solidFill>
            <a:srgbClr val="EEF4EF"/>
          </a:solidFill>
          <a:ln w="12700">
            <a:solidFill>
              <a:srgbClr val="EEF4EF"/>
            </a:solidFill>
            <a:prstDash val="solid"/>
          </a:ln>
        </p:spPr>
      </p:sp>
      <p:sp>
        <p:nvSpPr>
          <p:cNvPr id="8" name="Text 6"/>
          <p:cNvSpPr txBox="1"/>
          <p:nvPr/>
        </p:nvSpPr>
        <p:spPr>
          <a:xfrm>
            <a:off x="777240" y="251460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COO   </a:t>
            </a:r>
            <a:pPr indent="0" marL="0">
              <a:buNone/>
            </a:pPr>
            <a:r>
              <a:rPr lang="en-US" sz="2600" dirty="0">
                <a:solidFill>
                  <a:srgbClr val="1F2A22"/>
                </a:solidFill>
                <a:latin typeface="Calibri" pitchFamily="34" charset="0"/>
                <a:ea typeface="Calibri" pitchFamily="34" charset="-122"/>
                <a:cs typeface="Calibri" pitchFamily="34" charset="-120"/>
              </a:rPr>
              <a:t>Operational Discipline</a:t>
            </a:r>
            <a:endParaRPr lang="en-US" sz="2600" dirty="0"/>
          </a:p>
        </p:txBody>
      </p:sp>
      <p:sp>
        <p:nvSpPr>
          <p:cNvPr id="9" name="Shape 7"/>
          <p:cNvSpPr/>
          <p:nvPr/>
        </p:nvSpPr>
        <p:spPr>
          <a:xfrm>
            <a:off x="6172200" y="2514600"/>
            <a:ext cx="5440680" cy="822960"/>
          </a:xfrm>
          <a:prstGeom prst="roundRect">
            <a:avLst>
              <a:gd name="adj" fmla="val 11111"/>
            </a:avLst>
          </a:prstGeom>
          <a:solidFill>
            <a:srgbClr val="EEF4EF"/>
          </a:solidFill>
          <a:ln w="12700">
            <a:solidFill>
              <a:srgbClr val="EEF4EF"/>
            </a:solidFill>
            <a:prstDash val="solid"/>
          </a:ln>
        </p:spPr>
      </p:sp>
      <p:sp>
        <p:nvSpPr>
          <p:cNvPr id="10" name="Text 8"/>
          <p:cNvSpPr txBox="1"/>
          <p:nvPr/>
        </p:nvSpPr>
        <p:spPr>
          <a:xfrm>
            <a:off x="6400800" y="251460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CHRO   </a:t>
            </a:r>
            <a:pPr indent="0" marL="0">
              <a:buNone/>
            </a:pPr>
            <a:r>
              <a:rPr lang="en-US" sz="2600" dirty="0">
                <a:solidFill>
                  <a:srgbClr val="1F2A22"/>
                </a:solidFill>
                <a:latin typeface="Calibri" pitchFamily="34" charset="0"/>
                <a:ea typeface="Calibri" pitchFamily="34" charset="-122"/>
                <a:cs typeface="Calibri" pitchFamily="34" charset="-120"/>
              </a:rPr>
              <a:t>Cultural Alignment</a:t>
            </a:r>
            <a:endParaRPr lang="en-US" sz="2600" dirty="0"/>
          </a:p>
        </p:txBody>
      </p:sp>
      <p:sp>
        <p:nvSpPr>
          <p:cNvPr id="11" name="Shape 9"/>
          <p:cNvSpPr/>
          <p:nvPr/>
        </p:nvSpPr>
        <p:spPr>
          <a:xfrm>
            <a:off x="548640" y="3474720"/>
            <a:ext cx="5440680" cy="822960"/>
          </a:xfrm>
          <a:prstGeom prst="roundRect">
            <a:avLst>
              <a:gd name="adj" fmla="val 11111"/>
            </a:avLst>
          </a:prstGeom>
          <a:solidFill>
            <a:srgbClr val="EEF4EF"/>
          </a:solidFill>
          <a:ln w="12700">
            <a:solidFill>
              <a:srgbClr val="EEF4EF"/>
            </a:solidFill>
            <a:prstDash val="solid"/>
          </a:ln>
        </p:spPr>
      </p:sp>
      <p:sp>
        <p:nvSpPr>
          <p:cNvPr id="12" name="Text 10"/>
          <p:cNvSpPr txBox="1"/>
          <p:nvPr/>
        </p:nvSpPr>
        <p:spPr>
          <a:xfrm>
            <a:off x="777240" y="347472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CTO/CIO   </a:t>
            </a:r>
            <a:pPr indent="0" marL="0">
              <a:buNone/>
            </a:pPr>
            <a:r>
              <a:rPr lang="en-US" sz="2600" dirty="0">
                <a:solidFill>
                  <a:srgbClr val="1F2A22"/>
                </a:solidFill>
                <a:latin typeface="Calibri" pitchFamily="34" charset="0"/>
                <a:ea typeface="Calibri" pitchFamily="34" charset="-122"/>
                <a:cs typeface="Calibri" pitchFamily="34" charset="-120"/>
              </a:rPr>
              <a:t>Technical Milestones</a:t>
            </a:r>
            <a:endParaRPr lang="en-US" sz="2600" dirty="0"/>
          </a:p>
        </p:txBody>
      </p:sp>
      <p:sp>
        <p:nvSpPr>
          <p:cNvPr id="13" name="Shape 11"/>
          <p:cNvSpPr/>
          <p:nvPr/>
        </p:nvSpPr>
        <p:spPr>
          <a:xfrm>
            <a:off x="6172200" y="3474720"/>
            <a:ext cx="5440680" cy="822960"/>
          </a:xfrm>
          <a:prstGeom prst="roundRect">
            <a:avLst>
              <a:gd name="adj" fmla="val 11111"/>
            </a:avLst>
          </a:prstGeom>
          <a:solidFill>
            <a:srgbClr val="EEF4EF"/>
          </a:solidFill>
          <a:ln w="12700">
            <a:solidFill>
              <a:srgbClr val="EEF4EF"/>
            </a:solidFill>
            <a:prstDash val="solid"/>
          </a:ln>
        </p:spPr>
      </p:sp>
      <p:sp>
        <p:nvSpPr>
          <p:cNvPr id="14" name="Text 12"/>
          <p:cNvSpPr txBox="1"/>
          <p:nvPr/>
        </p:nvSpPr>
        <p:spPr>
          <a:xfrm>
            <a:off x="6400800" y="347472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CMO   </a:t>
            </a:r>
            <a:pPr indent="0" marL="0">
              <a:buNone/>
            </a:pPr>
            <a:r>
              <a:rPr lang="en-US" sz="2600" dirty="0">
                <a:solidFill>
                  <a:srgbClr val="1F2A22"/>
                </a:solidFill>
                <a:latin typeface="Calibri" pitchFamily="34" charset="0"/>
                <a:ea typeface="Calibri" pitchFamily="34" charset="-122"/>
                <a:cs typeface="Calibri" pitchFamily="34" charset="-120"/>
              </a:rPr>
              <a:t>Market Performance</a:t>
            </a:r>
            <a:endParaRPr lang="en-US" sz="2600" dirty="0"/>
          </a:p>
        </p:txBody>
      </p:sp>
      <p:sp>
        <p:nvSpPr>
          <p:cNvPr id="15" name="Shape 13"/>
          <p:cNvSpPr/>
          <p:nvPr/>
        </p:nvSpPr>
        <p:spPr>
          <a:xfrm>
            <a:off x="548640" y="4434840"/>
            <a:ext cx="5440680" cy="822960"/>
          </a:xfrm>
          <a:prstGeom prst="roundRect">
            <a:avLst>
              <a:gd name="adj" fmla="val 11111"/>
            </a:avLst>
          </a:prstGeom>
          <a:solidFill>
            <a:srgbClr val="EEF4EF"/>
          </a:solidFill>
          <a:ln w="12700">
            <a:solidFill>
              <a:srgbClr val="EEF4EF"/>
            </a:solidFill>
            <a:prstDash val="solid"/>
          </a:ln>
        </p:spPr>
      </p:sp>
      <p:sp>
        <p:nvSpPr>
          <p:cNvPr id="16" name="Text 14"/>
          <p:cNvSpPr txBox="1"/>
          <p:nvPr/>
        </p:nvSpPr>
        <p:spPr>
          <a:xfrm>
            <a:off x="777240" y="443484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CCO   </a:t>
            </a:r>
            <a:pPr indent="0" marL="0">
              <a:buNone/>
            </a:pPr>
            <a:r>
              <a:rPr lang="en-US" sz="2600" dirty="0">
                <a:solidFill>
                  <a:srgbClr val="1F2A22"/>
                </a:solidFill>
                <a:latin typeface="Calibri" pitchFamily="34" charset="0"/>
                <a:ea typeface="Calibri" pitchFamily="34" charset="-122"/>
                <a:cs typeface="Calibri" pitchFamily="34" charset="-120"/>
              </a:rPr>
              <a:t>Commercial Ambition</a:t>
            </a:r>
            <a:endParaRPr lang="en-US" sz="2600" dirty="0"/>
          </a:p>
        </p:txBody>
      </p:sp>
      <p:sp>
        <p:nvSpPr>
          <p:cNvPr id="17" name="Shape 15"/>
          <p:cNvSpPr/>
          <p:nvPr/>
        </p:nvSpPr>
        <p:spPr>
          <a:xfrm>
            <a:off x="6172200" y="4434840"/>
            <a:ext cx="5440680" cy="822960"/>
          </a:xfrm>
          <a:prstGeom prst="roundRect">
            <a:avLst>
              <a:gd name="adj" fmla="val 11111"/>
            </a:avLst>
          </a:prstGeom>
          <a:solidFill>
            <a:srgbClr val="EEF4EF"/>
          </a:solidFill>
          <a:ln w="12700">
            <a:solidFill>
              <a:srgbClr val="EEF4EF"/>
            </a:solidFill>
            <a:prstDash val="solid"/>
          </a:ln>
        </p:spPr>
      </p:sp>
      <p:sp>
        <p:nvSpPr>
          <p:cNvPr id="18" name="Text 16"/>
          <p:cNvSpPr txBox="1"/>
          <p:nvPr/>
        </p:nvSpPr>
        <p:spPr>
          <a:xfrm>
            <a:off x="6400800" y="443484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CPO   </a:t>
            </a:r>
            <a:pPr indent="0" marL="0">
              <a:buNone/>
            </a:pPr>
            <a:r>
              <a:rPr lang="en-US" sz="2600" dirty="0">
                <a:solidFill>
                  <a:srgbClr val="1F2A22"/>
                </a:solidFill>
                <a:latin typeface="Calibri" pitchFamily="34" charset="0"/>
                <a:ea typeface="Calibri" pitchFamily="34" charset="-122"/>
                <a:cs typeface="Calibri" pitchFamily="34" charset="-120"/>
              </a:rPr>
              <a:t>Procurement Discipline</a:t>
            </a:r>
            <a:endParaRPr lang="en-US" sz="2600" dirty="0"/>
          </a:p>
        </p:txBody>
      </p:sp>
      <p:sp>
        <p:nvSpPr>
          <p:cNvPr id="19" name="Shape 17"/>
          <p:cNvSpPr/>
          <p:nvPr/>
        </p:nvSpPr>
        <p:spPr>
          <a:xfrm>
            <a:off x="548640" y="5394960"/>
            <a:ext cx="5440680" cy="822960"/>
          </a:xfrm>
          <a:prstGeom prst="roundRect">
            <a:avLst>
              <a:gd name="adj" fmla="val 11111"/>
            </a:avLst>
          </a:prstGeom>
          <a:solidFill>
            <a:srgbClr val="EEF4EF"/>
          </a:solidFill>
          <a:ln w="12700">
            <a:solidFill>
              <a:srgbClr val="EEF4EF"/>
            </a:solidFill>
            <a:prstDash val="solid"/>
          </a:ln>
        </p:spPr>
      </p:sp>
      <p:sp>
        <p:nvSpPr>
          <p:cNvPr id="20" name="Text 18"/>
          <p:cNvSpPr txBox="1"/>
          <p:nvPr/>
        </p:nvSpPr>
        <p:spPr>
          <a:xfrm>
            <a:off x="777240" y="539496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CRO   </a:t>
            </a:r>
            <a:pPr indent="0" marL="0">
              <a:buNone/>
            </a:pPr>
            <a:r>
              <a:rPr lang="en-US" sz="2600" dirty="0">
                <a:solidFill>
                  <a:srgbClr val="1F2A22"/>
                </a:solidFill>
                <a:latin typeface="Calibri" pitchFamily="34" charset="0"/>
                <a:ea typeface="Calibri" pitchFamily="34" charset="-122"/>
                <a:cs typeface="Calibri" pitchFamily="34" charset="-120"/>
              </a:rPr>
              <a:t>Risk Governance</a:t>
            </a:r>
            <a:endParaRPr lang="en-US" sz="2600" dirty="0"/>
          </a:p>
        </p:txBody>
      </p:sp>
      <p:sp>
        <p:nvSpPr>
          <p:cNvPr id="21" name="Shape 19"/>
          <p:cNvSpPr/>
          <p:nvPr/>
        </p:nvSpPr>
        <p:spPr>
          <a:xfrm>
            <a:off x="6172200" y="5394960"/>
            <a:ext cx="5440680" cy="822960"/>
          </a:xfrm>
          <a:prstGeom prst="roundRect">
            <a:avLst>
              <a:gd name="adj" fmla="val 11111"/>
            </a:avLst>
          </a:prstGeom>
          <a:solidFill>
            <a:srgbClr val="EEF4EF"/>
          </a:solidFill>
          <a:ln w="12700">
            <a:solidFill>
              <a:srgbClr val="EEF4EF"/>
            </a:solidFill>
            <a:prstDash val="solid"/>
          </a:ln>
        </p:spPr>
      </p:sp>
      <p:sp>
        <p:nvSpPr>
          <p:cNvPr id="22" name="Text 20"/>
          <p:cNvSpPr txBox="1"/>
          <p:nvPr/>
        </p:nvSpPr>
        <p:spPr>
          <a:xfrm>
            <a:off x="6400800" y="539496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CSO   </a:t>
            </a:r>
            <a:pPr indent="0" marL="0">
              <a:buNone/>
            </a:pPr>
            <a:r>
              <a:rPr lang="en-US" sz="2600" dirty="0">
                <a:solidFill>
                  <a:srgbClr val="1F2A22"/>
                </a:solidFill>
                <a:latin typeface="Calibri" pitchFamily="34" charset="0"/>
                <a:ea typeface="Calibri" pitchFamily="34" charset="-122"/>
                <a:cs typeface="Calibri" pitchFamily="34" charset="-120"/>
              </a:rPr>
              <a:t>Strategic Planning</a:t>
            </a:r>
            <a:endParaRPr lang="en-US" sz="2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Cross-Leadership Expectation Architecture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Apply a consistent leadership practice for establishing expectations across the organisation.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Interpret alignment conversations to confirm genuine commitment.</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4.1 · The four-step Expectation Architecture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 · Start With the Future  </a:t>
            </a:r>
            <a:pPr indent="0" marL="0">
              <a:buNone/>
            </a:pPr>
            <a:r>
              <a:rPr lang="en-US" sz="2600" dirty="0">
                <a:solidFill>
                  <a:srgbClr val="1F2A22"/>
                </a:solidFill>
                <a:latin typeface="Calibri" pitchFamily="34" charset="0"/>
                <a:ea typeface="Calibri" pitchFamily="34" charset="-122"/>
                <a:cs typeface="Calibri" pitchFamily="34" charset="-120"/>
              </a:rPr>
              <a:t>why the expectation matters</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 · Clarify the Delivery Expectation  </a:t>
            </a:r>
            <a:pPr indent="0" marL="0">
              <a:buNone/>
            </a:pPr>
            <a:r>
              <a:rPr lang="en-US" sz="2600" dirty="0">
                <a:solidFill>
                  <a:srgbClr val="1F2A22"/>
                </a:solidFill>
                <a:latin typeface="Calibri" pitchFamily="34" charset="0"/>
                <a:ea typeface="Calibri" pitchFamily="34" charset="-122"/>
                <a:cs typeface="Calibri" pitchFamily="34" charset="-120"/>
              </a:rPr>
              <a:t>in outcome terms</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 · Identify the Expectations Chain  </a:t>
            </a:r>
            <a:pPr indent="0" marL="0">
              <a:buNone/>
            </a:pPr>
            <a:r>
              <a:rPr lang="en-US" sz="2600" dirty="0">
                <a:solidFill>
                  <a:srgbClr val="1F2A22"/>
                </a:solidFill>
                <a:latin typeface="Calibri" pitchFamily="34" charset="0"/>
                <a:ea typeface="Calibri" pitchFamily="34" charset="-122"/>
                <a:cs typeface="Calibri" pitchFamily="34" charset="-120"/>
              </a:rPr>
              <a:t>who else must contribute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4 · Confirm Ownership  </a:t>
            </a:r>
            <a:pPr indent="0" marL="0">
              <a:buNone/>
            </a:pPr>
            <a:r>
              <a:rPr lang="en-US" sz="2600" dirty="0">
                <a:solidFill>
                  <a:srgbClr val="1F2A22"/>
                </a:solidFill>
                <a:latin typeface="Calibri" pitchFamily="34" charset="0"/>
                <a:ea typeface="Calibri" pitchFamily="34" charset="-122"/>
                <a:cs typeface="Calibri" pitchFamily="34" charset="-120"/>
              </a:rPr>
              <a:t>ask the Alignment Question</a:t>
            </a:r>
            <a:endParaRPr lang="en-US" sz="2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4.2 · Score → Evaluate → Resolve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9–10  </a:t>
            </a:r>
            <a:pPr indent="0" marL="0">
              <a:buNone/>
            </a:pPr>
            <a:r>
              <a:rPr lang="en-US" sz="2600" dirty="0">
                <a:solidFill>
                  <a:srgbClr val="1F2A22"/>
                </a:solidFill>
                <a:latin typeface="Calibri" pitchFamily="34" charset="0"/>
                <a:ea typeface="Calibri" pitchFamily="34" charset="-122"/>
                <a:cs typeface="Calibri" pitchFamily="34" charset="-120"/>
              </a:rPr>
              <a:t>clear ownership: proceed and document</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7–8  </a:t>
            </a:r>
            <a:pPr indent="0" marL="0">
              <a:buNone/>
            </a:pPr>
            <a:r>
              <a:rPr lang="en-US" sz="2600" dirty="0">
                <a:solidFill>
                  <a:srgbClr val="1F2A22"/>
                </a:solidFill>
                <a:latin typeface="Calibri" pitchFamily="34" charset="0"/>
                <a:ea typeface="Calibri" pitchFamily="34" charset="-122"/>
                <a:cs typeface="Calibri" pitchFamily="34" charset="-120"/>
              </a:rPr>
              <a:t>partial alignment: Evaluate</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5–6  </a:t>
            </a:r>
            <a:pPr indent="0" marL="0">
              <a:buNone/>
            </a:pPr>
            <a:r>
              <a:rPr lang="en-US" sz="2600" dirty="0">
                <a:solidFill>
                  <a:srgbClr val="1F2A22"/>
                </a:solidFill>
                <a:latin typeface="Calibri" pitchFamily="34" charset="0"/>
                <a:ea typeface="Calibri" pitchFamily="34" charset="-122"/>
                <a:cs typeface="Calibri" pitchFamily="34" charset="-120"/>
              </a:rPr>
              <a:t>significant concerns: Evaluate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Below 5  </a:t>
            </a:r>
            <a:pPr indent="0" marL="0">
              <a:buNone/>
            </a:pPr>
            <a:r>
              <a:rPr lang="en-US" sz="2600" dirty="0">
                <a:solidFill>
                  <a:srgbClr val="1F2A22"/>
                </a:solidFill>
                <a:latin typeface="Calibri" pitchFamily="34" charset="0"/>
                <a:ea typeface="Calibri" pitchFamily="34" charset="-122"/>
                <a:cs typeface="Calibri" pitchFamily="34" charset="-120"/>
              </a:rPr>
              <a:t>redesign the expectation</a:t>
            </a:r>
            <a:endParaRPr lang="en-US" sz="2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The Resolve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“What would help move your alignment from where it is now to a 9 or 10?”</a:t>
            </a:r>
            <a:endParaRPr lang="en-US" sz="3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Role Play — Establishing Delivery Expectations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Establish a delivery expectation that secures personal ownership of an agreed result.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Record the commitments that make mutual accountability visible.</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Role play · Case context</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Key Result: cut customer complaint resolution time from 48 hours to 12 hours by Q3 2026.</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SiP: “The most responsive and trusted partner in our market…”</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Role play: seven steps</a:t>
            </a:r>
            <a:endParaRPr lang="en-US" sz="3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1  </a:t>
            </a:r>
            <a:pPr indent="0" marL="0">
              <a:buNone/>
            </a:pPr>
            <a:r>
              <a:rPr lang="en-US" sz="2400" dirty="0">
                <a:solidFill>
                  <a:srgbClr val="1F2A22"/>
                </a:solidFill>
                <a:latin typeface="Calibri" pitchFamily="34" charset="0"/>
                <a:ea typeface="Calibri" pitchFamily="34" charset="-122"/>
                <a:cs typeface="Calibri" pitchFamily="34" charset="-120"/>
              </a:rPr>
              <a:t>Identify who you are establishing expectations with</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2  </a:t>
            </a:r>
            <a:pPr indent="0" marL="0">
              <a:buNone/>
            </a:pPr>
            <a:r>
              <a:rPr lang="en-US" sz="2400" dirty="0">
                <a:solidFill>
                  <a:srgbClr val="1F2A22"/>
                </a:solidFill>
                <a:latin typeface="Calibri" pitchFamily="34" charset="0"/>
                <a:ea typeface="Calibri" pitchFamily="34" charset="-122"/>
                <a:cs typeface="Calibri" pitchFamily="34" charset="-120"/>
              </a:rPr>
              <a:t>Start with the Future</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3  </a:t>
            </a:r>
            <a:pPr indent="0" marL="0">
              <a:buNone/>
            </a:pPr>
            <a:r>
              <a:rPr lang="en-US" sz="2400" dirty="0">
                <a:solidFill>
                  <a:srgbClr val="1F2A22"/>
                </a:solidFill>
                <a:latin typeface="Calibri" pitchFamily="34" charset="0"/>
                <a:ea typeface="Calibri" pitchFamily="34" charset="-122"/>
                <a:cs typeface="Calibri" pitchFamily="34" charset="-120"/>
              </a:rPr>
              <a:t>Clarify the delivery expectation</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4  </a:t>
            </a:r>
            <a:pPr indent="0" marL="0">
              <a:buNone/>
            </a:pPr>
            <a:r>
              <a:rPr lang="en-US" sz="2400" dirty="0">
                <a:solidFill>
                  <a:srgbClr val="1F2A22"/>
                </a:solidFill>
                <a:latin typeface="Calibri" pitchFamily="34" charset="0"/>
                <a:ea typeface="Calibri" pitchFamily="34" charset="-122"/>
                <a:cs typeface="Calibri" pitchFamily="34" charset="-120"/>
              </a:rPr>
              <a:t>Identify the Expectations Chain</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5  </a:t>
            </a:r>
            <a:pPr indent="0" marL="0">
              <a:buNone/>
            </a:pPr>
            <a:r>
              <a:rPr lang="en-US" sz="2400" dirty="0">
                <a:solidFill>
                  <a:srgbClr val="1F2A22"/>
                </a:solidFill>
                <a:latin typeface="Calibri" pitchFamily="34" charset="0"/>
                <a:ea typeface="Calibri" pitchFamily="34" charset="-122"/>
                <a:cs typeface="Calibri" pitchFamily="34" charset="-120"/>
              </a:rPr>
              <a:t>Confirm ownership of the result</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sp>
      <p:pic>
        <p:nvPicPr>
          <p:cNvPr id="19" name="Image 5" descr="preencoded.png">    </p:cNvPr>
          <p:cNvPicPr>
            <a:picLocks noChangeAspect="1"/>
          </p:cNvPicPr>
          <p:nvPr/>
        </p:nvPicPr>
        <p:blipFill>
          <a:blip r:embed="rId6"/>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6  </a:t>
            </a:r>
            <a:pPr indent="0" marL="0">
              <a:buNone/>
            </a:pPr>
            <a:r>
              <a:rPr lang="en-US" sz="2400" dirty="0">
                <a:solidFill>
                  <a:srgbClr val="1F2A22"/>
                </a:solidFill>
                <a:latin typeface="Calibri" pitchFamily="34" charset="0"/>
                <a:ea typeface="Calibri" pitchFamily="34" charset="-122"/>
                <a:cs typeface="Calibri" pitchFamily="34" charset="-120"/>
              </a:rPr>
              <a:t>Below 9: Score → Evaluate → Resolve</a:t>
            </a:r>
            <a:endParaRPr lang="en-US" sz="2400" dirty="0"/>
          </a:p>
        </p:txBody>
      </p:sp>
      <p:sp>
        <p:nvSpPr>
          <p:cNvPr id="21" name="Shape 13"/>
          <p:cNvSpPr/>
          <p:nvPr/>
        </p:nvSpPr>
        <p:spPr>
          <a:xfrm>
            <a:off x="548640" y="5806767"/>
            <a:ext cx="489204" cy="489204"/>
          </a:xfrm>
          <a:prstGeom prst="ellipse">
            <a:avLst/>
          </a:prstGeom>
          <a:solidFill>
            <a:srgbClr val="1A5C2C"/>
          </a:solidFill>
          <a:ln w="12700">
            <a:solidFill>
              <a:srgbClr val="1A5C2C"/>
            </a:solidFill>
            <a:prstDash val="solid"/>
          </a:ln>
        </p:spPr>
      </p:sp>
      <p:pic>
        <p:nvPicPr>
          <p:cNvPr id="22" name="Image 6" descr="preencoded.png">    </p:cNvPr>
          <p:cNvPicPr>
            <a:picLocks noChangeAspect="1"/>
          </p:cNvPicPr>
          <p:nvPr/>
        </p:nvPicPr>
        <p:blipFill>
          <a:blip r:embed="rId7"/>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7  </a:t>
            </a:r>
            <a:pPr indent="0" marL="0">
              <a:buNone/>
            </a:pPr>
            <a:r>
              <a:rPr lang="en-US" sz="2400" dirty="0">
                <a:solidFill>
                  <a:srgbClr val="1F2A22"/>
                </a:solidFill>
                <a:latin typeface="Calibri" pitchFamily="34" charset="0"/>
                <a:ea typeface="Calibri" pitchFamily="34" charset="-122"/>
                <a:cs typeface="Calibri" pitchFamily="34" charset="-120"/>
              </a:rPr>
              <a:t>Leader reflection and commitment record</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Unit Summary · Closing</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Name one expectation you have set but not yet established, with a specific person in your expectations chain.</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Commit to that alignment dialogue within five working days: the score, the primary concern and the action for elevation.</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7 · Establishing Performance Expectations</dc:title>
  <dc:subject>PptxGenJS Presentation</dc:subject>
  <dc:creator>Institute of Behavioural Strategy &amp; Leadership</dc:creator>
  <cp:lastModifiedBy>Institute of Behavioural Strategy &amp; Leadership</cp:lastModifiedBy>
  <cp:revision>1</cp:revision>
  <dcterms:created xsi:type="dcterms:W3CDTF">2026-09-29T13:20:34Z</dcterms:created>
  <dcterms:modified xsi:type="dcterms:W3CDTF">2026-09-29T13:20:34Z</dcterms:modified>
</cp:coreProperties>
</file>