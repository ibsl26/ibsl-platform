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72" r:id="rId10"/>
    <p:sldId id="279" r:id="rId11"/>
    <p:sldId id="283" r:id="rId25"/>
    <p:sldId id="284" r:id="rId20"/>
    <p:sldId id="264" r:id="rId12"/>
    <p:sldId id="265" r:id="rId13"/>
    <p:sldId id="266" r:id="rId14"/>
    <p:sldId id="267" r:id="rId15"/>
    <p:sldId id="285" r:id="rId32"/>
    <p:sldId id="268" r:id="rId16"/>
    <p:sldId id="269" r:id="rId17"/>
    <p:sldId id="278" r:id="rId18"/>
    <p:sldId id="270" r:id="rId19"/>
    <p:sldId id="280" r:id="rId21"/>
    <p:sldId id="273" r:id="rId22"/>
    <p:sldId id="274" r:id="rId23"/>
    <p:sldId id="281" r:id="rId24"/>
    <p:sldId id="282"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31" autoAdjust="0"/>
  </p:normalViewPr>
  <p:slideViewPr>
    <p:cSldViewPr snapToGrid="0" snapToObjects="1">
      <p:cViewPr varScale="1">
        <p:scale>
          <a:sx n="48" d="100"/>
          <a:sy n="48" d="100"/>
        </p:scale>
        <p:origin x="1142" y="24"/>
      </p:cViewPr>
      <p:guideLst/>
    </p:cSldViewPr>
  </p:slideViewPr>
  <p:notesTextViewPr>
    <p:cViewPr>
      <p:scale>
        <a:sx n="1" d="1"/>
        <a:sy n="1" d="1"/>
      </p:scale>
      <p:origin x="0" y="-29"/>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5.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3.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8113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7 · ESTABLISHING PERFORMANCE EXPECTATIONS</a:t>
            </a:r>
          </a:p>
          <a:p>
            <a:r>
              <a:t>Module 3 · Influence · Unit 7</a:t>
            </a:r>
          </a:p>
          <a:p/>
          <a:p>
            <a:r>
              <a:t>Unit intent (Facilitator Guide):</a:t>
            </a:r>
          </a:p>
          <a:p>
            <a:r>
              <a:t>Unit 7 addresses the single most common reason strategy fails at the human level: expectations are communicated but never truly established. </a:t>
            </a:r>
          </a:p>
          <a:p>
            <a:r>
              <a:t>The distinction is subtle in language and profound in execution impact. </a:t>
            </a:r>
          </a:p>
          <a:p>
            <a:r>
              <a:t>The unit moves leaders from announcing targets to securing genuine ownership. This unit equips leaders to close the gap between a well-designed performance management system and genuine human commitment to deliver it.</a:t>
            </a:r>
          </a:p>
          <a:p>
            <a:r>
              <a:t>Building on the S2R® Contribution Map™ and FACES developed in Unit 6, this unit establishes clear, realistic and mutually owned performance expectations. Every expectation is connected to an enterprise result, a human contribution and the organisational conditions required for delivery.</a:t>
            </a:r>
          </a:p>
          <a:p>
            <a:r>
              <a:t>It builds on the S2R® Contribution Map™ and FACES of Unit 6. The expectation conversation covers both performance views: the human commitments people make, and the organisational conditions the organisation provides.</a:t>
            </a:r>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LEARNING OUTCOMES (identical in the participant and facilitator files)</a:t>
            </a:r>
          </a:p>
          <a:p/>
          <a:p>
            <a:r>
              <a:t>1. Establish performance expectations linked to enterprise outcomes and mapped contributions.</a:t>
            </a:r>
          </a:p>
          <a:p>
            <a:r>
              <a:t>2. Test clarity, capability and commitment across people performance and organisational performance.</a:t>
            </a:r>
          </a:p>
          <a:p>
            <a:r>
              <a:t>3. Identify cross-functional dependencies and agree accountability for enabling conditions.</a:t>
            </a:r>
          </a:p>
          <a:p>
            <a:r>
              <a:t>4. Demonstrate shared ownership and mutual accountability for agreed results.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AWARENESS — WHAT
What is Establishing Performance Expectations?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Establishing Performance Expectations?</a:t>
            </a:r>
          </a:p>
          <a:p>
            <a:r>
              <a:t>Naming the distinction between setting and establishing expectations — and the two mechanisms that close the gap between a delivery goal and genuine ownership.</a:t>
            </a:r>
          </a:p>
          <a:p/>
          <a:p>
            <a:r>
              <a:t>Section learning outcomes:</a:t>
            </a:r>
          </a:p>
          <a:p>
            <a:r>
              <a:t>1. Distinguish setting expectations from establishing shared ownership.</a:t>
            </a:r>
          </a:p>
          <a:p>
            <a:r>
              <a:t>2. Identify human commitments and organisational conditions that require agreement.</a:t>
            </a:r>
          </a:p>
          <a:p/>
          <a:p/>
          <a:p>
            <a:r>
              <a:t>Facilitator script (full wording): </a:t>
            </a:r>
          </a:p>
          <a:p>
            <a:r>
              <a:t>The performance management and accountability frameworks and structures have been established. </a:t>
            </a:r>
          </a:p>
          <a:p>
            <a:r>
              <a:t>The delivery goals have been defined. The targets have been set.</a:t>
            </a:r>
          </a:p>
          <a:p>
            <a:r>
              <a:t>Here is a question worth sitting with for a moment: If you distributed the scorecard to your team right now, without conversation, without context, without dialogue, how many of them would feel genuinely ready to own these targets?</a:t>
            </a:r>
          </a:p>
          <a:p/>
          <a:p>
            <a:r>
              <a:t>Agreeing with the targets and understanding them intellectually is one thing. </a:t>
            </a:r>
          </a:p>
          <a:p>
            <a:r>
              <a:t>Owning them, with confidence, commitment, and a clear sense of personal accountability, is the test.</a:t>
            </a:r>
          </a:p>
          <a:p/>
          <a:p>
            <a:r>
              <a:t>Establishing performance expectations addresses the gap between a well-designed performance management system and genuine ownership. </a:t>
            </a:r>
          </a:p>
          <a:p>
            <a:r>
              <a:t>The difference between a delivery goal that gets pursued with energy and one that gets managed defensively comes down to whether the person holding the target genuinely believes they can deliver it, and whether they trust that their leader will support them in doing so. </a:t>
            </a:r>
          </a:p>
          <a:p>
            <a:r>
              <a:t>The number on the page almost never decides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SETTING VS ESTABLISHING EXPECTATIONS (The defining distinction)</a:t>
            </a:r>
          </a:p>
          <a:p/>
          <a:p>
            <a:r>
              <a:t>Content:</a:t>
            </a:r>
          </a:p>
          <a:p>
            <a:r>
              <a:t>The difference between setting expectations and establishing expectations is subtle in language and profound in execution impact. </a:t>
            </a:r>
          </a:p>
          <a:p>
            <a:r>
              <a:t>It determines whether a performance target becomes an instruction that people comply with or a commitment that people own.</a:t>
            </a:r>
          </a:p>
          <a:p>
            <a:r>
              <a:t>Execution begins when the people responsible for those goals internalise the expectation and accept ownership of the result.</a:t>
            </a:r>
          </a:p>
          <a:p/>
          <a:p>
            <a:r>
              <a:t>Both performance views:</a:t>
            </a:r>
          </a:p>
          <a:p>
            <a:r>
              <a:t>Unit 6 has already translated enterprise outcomes into functional contributions, team and individual commitments, and the organisational conditions: the Environment, Systems, Resources and Governance (ESRG). Unit 7 establishes agreement around that design. An assigned KPI or OKR is a proposed expectation until the contributor and relevant enabling owners have confirmed what delivery requires.</a:t>
            </a:r>
          </a:p>
          <a:p>
            <a:r>
              <a:t>Human expectations describe the result, contribution, standard, timing and behaviours for which people will take responsibility. Organisational expectations specify the Environment, Systems, Resources and Governance that the organisation will provide or resolve. Both must be explicitly agreed.</a:t>
            </a:r>
          </a:p>
          <a:p>
            <a:r>
              <a:t>Enabling conditions: when expectations are set, they are assumed to be in place; when expectations are established, they are agreed with the owners of the Environment, Systems, Resources and Governance.</a:t>
            </a:r>
          </a:p>
          <a:p/>
          <a:p>
            <a:r>
              <a:t>Setting expectations in practice: </a:t>
            </a:r>
          </a:p>
          <a:p>
            <a:r>
              <a:t>Setting expectations is typically a top-down declaration. </a:t>
            </a:r>
          </a:p>
          <a:p>
            <a:r>
              <a:t>A leader defines the target, communicates the requirement, and assigns responsibility. </a:t>
            </a:r>
          </a:p>
          <a:p>
            <a:r>
              <a:t>The process focuses primarily on clarity of instruction and leaves the readiness of the person expected to deliver untested. </a:t>
            </a:r>
          </a:p>
          <a:p>
            <a:r>
              <a:t>The emphasis is on communicating the standard.</a:t>
            </a:r>
          </a:p>
          <a:p/>
          <a:p>
            <a:r>
              <a:t>Typical characteristics of setting: </a:t>
            </a:r>
          </a:p>
          <a:p>
            <a:r>
              <a:t>targets communicated through scorecards, emails, or performance reviews; limited dialogue about feasibility or constraints; responsibility assigned based on role description or reporting structure; an assumption that understanding automatically translates into commitment.</a:t>
            </a:r>
          </a:p>
          <a:p/>
          <a:p>
            <a:r>
              <a:t>In this mode, expectations function as instructions. People may understand the goal and still carry unspoken concerns:</a:t>
            </a:r>
          </a:p>
          <a:p>
            <a:r>
              <a:t>- Do I have the resources required?</a:t>
            </a:r>
          </a:p>
          <a:p>
            <a:r>
              <a:t>- Do other functions understand their role in this result?</a:t>
            </a:r>
          </a:p>
          <a:p>
            <a:r>
              <a:t>- Is this priority stable or likely to change next month?</a:t>
            </a:r>
          </a:p>
          <a:p>
            <a:r>
              <a:t>- What trade-offs should I make to deliver this target?</a:t>
            </a:r>
          </a:p>
          <a:p/>
          <a:p>
            <a:r>
              <a:t>When these questions remain unaddressed, individuals often move forward with defensive ownership: they monitor the delivery output carefully and avoid full accountability for the outcome. Execution in this environment tends to produce cautious behaviour, escalation of risks upward, protective reporting, and slower decision cycles.</a:t>
            </a:r>
          </a:p>
          <a:p/>
          <a:p>
            <a:r>
              <a:t>Establishing expectations in practice: </a:t>
            </a:r>
          </a:p>
          <a:p>
            <a:r>
              <a:t>The leader still defines the result required, and the process goes further by ensuring that the person responsible fully understands, accepts, and commits to delivering the outcome. </a:t>
            </a:r>
          </a:p>
          <a:p>
            <a:r>
              <a:t>The emphasis shifts from instruction to mutual readiness for execution.</a:t>
            </a:r>
          </a:p>
          <a:p>
            <a:r>
              <a:t>Establishing expectations therefore includes several additional leadership behaviours: clarifying why the result matters; testing whether the expectation is feasible; identifying dependencies across the expectations chain; surfacing constraints before execution begins; securing emotional commitment to the target.</a:t>
            </a:r>
          </a:p>
          <a:p/>
          <a:p>
            <a:r>
              <a:t>Why this distinction matters in strategy execution: </a:t>
            </a:r>
          </a:p>
          <a:p>
            <a:r>
              <a:t>Most organisations invest heavily in designing performance systems: balanced scorecards, OKRs, dashboards, and KPIs. </a:t>
            </a:r>
          </a:p>
          <a:p>
            <a:r>
              <a:t>Execution success depends on whether the people responsible for those measures genuinely own the outcome. </a:t>
            </a:r>
          </a:p>
          <a:p>
            <a:r>
              <a:t>The sophistication of the measurement system alone rarely secures it.</a:t>
            </a:r>
          </a:p>
          <a:p/>
          <a:p>
            <a:r>
              <a:t>When expectations are merely set: metrics are monitored; performance is managed; accountability remains conditional.</a:t>
            </a:r>
          </a:p>
          <a:p/>
          <a:p>
            <a:r>
              <a:t>When expectations are established: ownership is internalised; accountability becomes personal; performance improves through proactive effort.</a:t>
            </a:r>
          </a:p>
          <a:p/>
          <a:p>
            <a:r>
              <a:t>The technical architecture of performance management provides measurement visibility. </a:t>
            </a:r>
          </a:p>
          <a:p>
            <a:r>
              <a:t>The process of establishing expectations provides behavioural commitment. </a:t>
            </a:r>
          </a:p>
          <a:p>
            <a:r>
              <a:t>Both are necessary. Without the second, the first rarely produces sustained execution results.</a:t>
            </a:r>
          </a:p>
          <a:p/>
          <a:p>
            <a:r>
              <a:t>The transition from setting to establishing expectations is where performance management becomes execution leadership.</a:t>
            </a:r>
          </a:p>
          <a:p/>
          <a:p>
            <a:r>
              <a:t>The same demand delivered as a command and as a request produces materially different results from the same people. Tone, humility and the manner of the ask often decide the outcome. </a:t>
            </a:r>
          </a:p>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THREE CONDITIONS OF ESTABLISHED EXPECTATIONS (Clarity · Capability · Commitment)</a:t>
            </a:r>
          </a:p>
          <a:p/>
          <a:p>
            <a:r>
              <a:t>HOW TO TEACH IT:</a:t>
            </a:r>
          </a:p>
          <a:p>
            <a:r>
              <a:t>Most leaders overestimate how much Clarity they have provided and underestimate how little Commitment they have secured. </a:t>
            </a:r>
          </a:p>
          <a:p>
            <a:r>
              <a:t>The conversation usually sounds complete to the leader and feels incomplete to the team member. </a:t>
            </a:r>
          </a:p>
          <a:p/>
          <a:p>
            <a:r>
              <a:t>Ask: “After your last expectations conversation, which of the three conditions did you explicitly verify? Clarity — probably. Capability — sometimes. Commitment — almost never.”</a:t>
            </a:r>
          </a:p>
          <a:p/>
          <a:p>
            <a:r>
              <a:t>Content:</a:t>
            </a:r>
          </a:p>
          <a:p>
            <a:r>
              <a:t>Establishing performance expectations is a leadership process through which strategic contributions become understood, achievable and consciously owned.</a:t>
            </a:r>
          </a:p>
          <a:p>
            <a:r>
              <a:t>In Unit 6, the S2R® Contribution Map™ established how enterprise results depend on the contributions of business functions, teams and individuals. It also identified the organisational conditions required to support those contributions.</a:t>
            </a:r>
          </a:p>
          <a:p>
            <a:r>
              <a:t>The next responsibility is to ensure that these expectations are genuinely established with everyone involved in delivering the results.</a:t>
            </a:r>
          </a:p>
          <a:p>
            <a:r>
              <a:t>Three conditions must be addressed: Clarity, Capability and Commitment. Together, they establish accountability for people performance and organisational performance:</a:t>
            </a:r>
          </a:p>
          <a:p>
            <a:r>
              <a:t>- People performance: What individuals and teams must deliver, how they must perform and the behaviours expected of them.</a:t>
            </a:r>
          </a:p>
          <a:p>
            <a:r>
              <a:t>- Organisational performance: The environment, systems, resources and governance arrangements that must support delivery.</a:t>
            </a:r>
          </a:p>
          <a:p>
            <a:r>
              <a:t>Each condition answers a fundamental leadership question.</a:t>
            </a:r>
          </a:p>
          <a:p/>
          <a:p>
            <a:r>
              <a:t>Condition 1</a:t>
            </a:r>
          </a:p>
          <a:p>
            <a:r>
              <a:t>Clarity — Does everyone understand what is expected, why it matters and what successful delivery requires?</a:t>
            </a:r>
          </a:p>
          <a:p>
            <a:r>
              <a:t>Clarity establishes a shared understanding of the expected contribution.</a:t>
            </a:r>
          </a:p>
          <a:p>
            <a:r>
              <a:t>A performance expectation must connect directly to the enterprise result it supports. Individuals and teams need to understand the contribution they are responsible for, the standard of performance required and how success will be demonstrated.</a:t>
            </a:r>
          </a:p>
          <a:p>
            <a:r>
              <a:t>Clarity must also extend to the organisation’s responsibilities. Leaders need to establish what support, decisions and enabling conditions must be provided for the contribution to be delivered.</a:t>
            </a:r>
          </a:p>
          <a:p>
            <a:r>
              <a:t>Clarity in people performance</a:t>
            </a:r>
          </a:p>
          <a:p>
            <a:r>
              <a:t>The leader and individual establish a shared understanding of:</a:t>
            </a:r>
          </a:p>
          <a:p>
            <a:r>
              <a:t>- Strategic contribution: Which enterprise objective or result does this work support?</a:t>
            </a:r>
          </a:p>
          <a:p>
            <a:r>
              <a:t>- Performance expectations: What KPI, OKR or other agreed deliverable defines success?</a:t>
            </a:r>
          </a:p>
          <a:p>
            <a:r>
              <a:t>- Performance standard: What level of quality, quantity, timeliness or consistency is required?</a:t>
            </a:r>
          </a:p>
          <a:p>
            <a:r>
              <a:t>- Behavioural expectations: What observable behaviours and ways of working are necessary?</a:t>
            </a:r>
          </a:p>
          <a:p>
            <a:r>
              <a:t>- Evidence: How will successful performance be demonstrated and assessed?</a:t>
            </a:r>
          </a:p>
          <a:p>
            <a:r>
              <a:t>Clarity in organisational performance</a:t>
            </a:r>
          </a:p>
          <a:p>
            <a:r>
              <a:t>The leader establishes what the organisation must provide:</a:t>
            </a:r>
          </a:p>
          <a:p>
            <a:r>
              <a:t>- Environment: What working conditions, relationships or cultural practices must support delivery?</a:t>
            </a:r>
          </a:p>
          <a:p>
            <a:r>
              <a:t>- Systems: What processes, technology, information and coordination mechanisms must function?</a:t>
            </a:r>
          </a:p>
          <a:p>
            <a:r>
              <a:t>- Resources: What people, skills, time, funding or equipment must be available?</a:t>
            </a:r>
          </a:p>
          <a:p>
            <a:r>
              <a:t>- Governance: What decisions, authority, approvals and escalation arrangements must be established?</a:t>
            </a:r>
          </a:p>
          <a:p>
            <a:r>
              <a:t>Clarity is established when the parties share the same understanding of both the expected contribution and the conditions required to deliver it.</a:t>
            </a:r>
          </a:p>
          <a:p>
            <a:r>
              <a:t>Facilitation test: “Ask someone on your team to describe what success looks like for their key result. If the description differs from yours, clarity has not yet been established.”</a:t>
            </a:r>
          </a:p>
          <a:p>
            <a:r>
              <a:t>Many operational failures happen because people in authority believe execution needs their presence when it needs their clarity. Authority travels with a clear instruction.</a:t>
            </a:r>
          </a:p>
          <a:p/>
          <a:p>
            <a:r>
              <a:t>Condition 2</a:t>
            </a:r>
          </a:p>
          <a:p>
            <a:r>
              <a:t>Capability — Can the people and the organisation realistically deliver what is expected?</a:t>
            </a:r>
          </a:p>
          <a:p>
            <a:r>
              <a:t>Capability establishes whether the expectation is achievable under the conditions in which performance must occur.</a:t>
            </a:r>
          </a:p>
          <a:p>
            <a:r>
              <a:t>An individual may understand an expectation perfectly and be willing to deliver it, yet lack the skills, capacity, resources or organisational support required. This makes capability a shared leadership responsibility.</a:t>
            </a:r>
          </a:p>
          <a:p>
            <a:r>
              <a:t>Capability in people performance</a:t>
            </a:r>
          </a:p>
          <a:p>
            <a:r>
              <a:t>The leader assesses whether the individual or team has:</a:t>
            </a:r>
          </a:p>
          <a:p>
            <a:r>
              <a:t>- Competence: The knowledge and skills required to perform the work.</a:t>
            </a:r>
          </a:p>
          <a:p>
            <a:r>
              <a:t>- Capacity: Sufficient time and workload capacity to meet the expectation.</a:t>
            </a:r>
          </a:p>
          <a:p>
            <a:r>
              <a:t>- Readiness: The confidence, experience and practical preparation needed to begin.</a:t>
            </a:r>
          </a:p>
          <a:p>
            <a:r>
              <a:t>- Coordination: Access to the colleagues and teams whose contributions affect the result.</a:t>
            </a:r>
          </a:p>
          <a:p>
            <a:r>
              <a:t>Where gaps exist, the leader and individual agree on appropriate development, support or adjustments.</a:t>
            </a:r>
          </a:p>
          <a:p>
            <a:r>
              <a:t>Capability in organisational performance</a:t>
            </a:r>
          </a:p>
          <a:p>
            <a:r>
              <a:t>The leader examines whether the organisation has established the conditions necessary for delivery.</a:t>
            </a:r>
          </a:p>
          <a:p>
            <a:r>
              <a:t>Organisational conditionCapability question</a:t>
            </a:r>
          </a:p>
          <a:p>
            <a:r>
              <a:t>Environment: Do working conditions and relationships support the required performance?</a:t>
            </a:r>
          </a:p>
          <a:p>
            <a:r>
              <a:t>Systems: Can existing processes, technology and information support consistent delivery?</a:t>
            </a:r>
          </a:p>
          <a:p>
            <a:r>
              <a:t>Resources: Are the required people, funding, equipment and time available?</a:t>
            </a:r>
          </a:p>
          <a:p>
            <a:r>
              <a:t>Governance: Are decisions, authority and escalation mechanisms sufficiently clear and responsive?</a:t>
            </a:r>
          </a:p>
          <a:p>
            <a:r>
              <a:t>An identified gap must lead to an agreed response. For every significant constraint, leaders establish:</a:t>
            </a:r>
          </a:p>
          <a:p>
            <a:r>
              <a:t>- What must be resolved.</a:t>
            </a:r>
          </a:p>
          <a:p>
            <a:r>
              <a:t>- Who is accountable for resolving it.</a:t>
            </a:r>
          </a:p>
          <a:p>
            <a:r>
              <a:t>- When the resolution is required.</a:t>
            </a:r>
          </a:p>
          <a:p>
            <a:r>
              <a:t>- What interim arrangements will apply if the constraint remains unresolved.</a:t>
            </a:r>
          </a:p>
          <a:p>
            <a:r>
              <a:t>Capability is established when the required human abilities and organisational conditions have been confirmed, or when identified gaps have accountable resolution arrangements.</a:t>
            </a:r>
          </a:p>
          <a:p>
            <a:r>
              <a:t>Strategy is weakened when leaders become so committed to movement that they ignore capability gaps. A disciplined readiness pause can prevent an expensive failure later.</a:t>
            </a:r>
          </a:p>
          <a:p/>
          <a:p>
            <a:r>
              <a:t>Condition 3</a:t>
            </a:r>
          </a:p>
          <a:p>
            <a:r>
              <a:t>Commitment — Have the people responsible consciously accepted their respective responsibilities for delivering and enabling the result?</a:t>
            </a:r>
          </a:p>
          <a:p>
            <a:r>
              <a:t>Commitment is the point at which a performance expectation becomes an agreed undertaking.</a:t>
            </a:r>
          </a:p>
          <a:p>
            <a:r>
              <a:t>Understanding an expectation does not automatically create ownership. Similarly, confirming that delivery is possible does not guarantee that the people involved have accepted responsibility for making it happen. Commitment must therefore be established through dialogue.</a:t>
            </a:r>
          </a:p>
          <a:p>
            <a:r>
              <a:t>Commitment in people performance</a:t>
            </a:r>
          </a:p>
          <a:p>
            <a:r>
              <a:t>The individual consciously accepts responsibility for:</a:t>
            </a:r>
          </a:p>
          <a:p>
            <a:r>
              <a:t>- Delivering the agreed contribution and performance standard.</a:t>
            </a:r>
          </a:p>
          <a:p>
            <a:r>
              <a:t>- Demonstrating the expected behaviours.</a:t>
            </a:r>
          </a:p>
          <a:p>
            <a:r>
              <a:t>- Monitoring progress and providing reliable performance evidence.</a:t>
            </a:r>
          </a:p>
          <a:p>
            <a:r>
              <a:t>- Raising risks and constraints early.</a:t>
            </a:r>
          </a:p>
          <a:p>
            <a:r>
              <a:t>- Taking corrective action within their authority.</a:t>
            </a:r>
          </a:p>
          <a:p>
            <a:r>
              <a:t>The leader must create space for the individual to question assumptions, discuss concerns and confirm what they can realistically undertake.</a:t>
            </a:r>
          </a:p>
          <a:p>
            <a:r>
              <a:t>Commitment in organisational performance</a:t>
            </a:r>
          </a:p>
          <a:p>
            <a:r>
              <a:t>The leaders responsible for enabling delivery accept responsibility for:</a:t>
            </a:r>
          </a:p>
          <a:p>
            <a:r>
              <a:t>- Providing agreed resources and support.</a:t>
            </a:r>
          </a:p>
          <a:p>
            <a:r>
              <a:t>- Resolving systems and coordination constraints.</a:t>
            </a:r>
          </a:p>
          <a:p>
            <a:r>
              <a:t>- Making decisions within agreed timeframes.</a:t>
            </a:r>
          </a:p>
          <a:p>
            <a:r>
              <a:t>- Removing organisational barriers that threaten delivery.</a:t>
            </a:r>
          </a:p>
          <a:p>
            <a:r>
              <a:t>- Responding when emerging conditions require intervention.</a:t>
            </a:r>
          </a:p>
          <a:p>
            <a:r>
              <a:t>This creates mutual accountability: individuals own their performance commitments, while organisational leaders own the conditions they have undertaken to provide.</a:t>
            </a:r>
          </a:p>
          <a:p>
            <a:r>
              <a:t>Commitment is established when the relevant parties have consciously accepted their respective responsibilities, including any agreed actions required to enable delivery.</a:t>
            </a:r>
          </a:p>
          <a:p>
            <a:r>
              <a:t>The Alignment Dialogue asks: “On a scale of 1–10, how aligned are you with the expectation for you to deliver this outcome?” A score below 9 means Commitment is not yet established.</a:t>
            </a:r>
          </a:p>
          <a:p>
            <a:r>
              <a:t>Commitments lose strategic meaning when they are honoured only when convenient. Good intent has limited value if people cannot understand what is required of them.</a:t>
            </a:r>
          </a:p>
          <a:p/>
          <a:p>
            <a:r>
              <a:t>Key principle: Performance expectations are established when people understand their contribution, have a credible basis for delivering it and consciously accept responsibility, supported by leaders who are equally accountable for the organisational conditions required for success.</a:t>
            </a:r>
          </a:p>
          <a:p/>
          <a:p>
            <a:r>
              <a:t>When the three conditions are met: The conversation ensures that Clarity, Capability and Commitment are present, and execution dynamics change noticeably.</a:t>
            </a:r>
          </a:p>
          <a:p>
            <a:r>
              <a:t>- Individuals take initiative earlier.</a:t>
            </a:r>
          </a:p>
          <a:p>
            <a:r>
              <a:t>- Risks are surfaced sooner.</a:t>
            </a:r>
          </a:p>
          <a:p>
            <a:r>
              <a:t>- Cross-functional coordination improves.</a:t>
            </a:r>
          </a:p>
          <a:p>
            <a:r>
              <a:t>- Energy shifts from reporting to solving.</a:t>
            </a:r>
          </a:p>
          <a:p>
            <a:r>
              <a:t>In this environment, expectations function as shared commitments.</a:t>
            </a:r>
          </a:p>
          <a:p/>
          <a:p>
            <a:r>
              <a:t>Which Condition Is Most Often Missing? In your current role, which of the three conditions do you most consistently confirm — and which do you most often assume?</a:t>
            </a:r>
          </a:p>
          <a:p/>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THE EXPECTATIONS CHAIN (Mapping who else influences the outcome)</a:t>
            </a:r>
          </a:p>
          <a:p/>
          <a:p>
            <a:r>
              <a:t>Content:</a:t>
            </a:r>
          </a:p>
          <a:p>
            <a:r>
              <a:t>Very few delivery goals are achieved by a single person acting alone. </a:t>
            </a:r>
          </a:p>
          <a:p>
            <a:r>
              <a:t>Most results depend on a network of decisions, resources, and coordination across the organisation. </a:t>
            </a:r>
          </a:p>
          <a:p>
            <a:r>
              <a:t>One critical aspect of establishing expectations is first understanding who else influences the outcome. </a:t>
            </a:r>
          </a:p>
          <a:p>
            <a:r>
              <a:t>This network is known as the Expectations Chain.</a:t>
            </a:r>
          </a:p>
          <a:p>
            <a:r>
              <a:t>The Expectations Chain identifies everyone whose work directly affects the delivery of a Key Result or KPI.</a:t>
            </a:r>
          </a:p>
          <a:p>
            <a:r>
              <a:t>Mapping the Expectations Chain is a critical step before establishing expectations with any individual. </a:t>
            </a:r>
          </a:p>
          <a:p>
            <a:r>
              <a:t>It ensures that the KPI is not treated as an isolated personal obligation — and surfaces the dependencies that will determine whether delivery is possible.</a:t>
            </a:r>
          </a:p>
          <a:p/>
          <a:p>
            <a:r>
              <a:t>Central question: With whom must performance expectations be established for each contribution to succeed?</a:t>
            </a:r>
          </a:p>
          <a:p>
            <a:r>
              <a:t>The Expectations Chain uses the completed Contribution Map to identify the people with whom expectations must be explicitly established. It examines three directions:</a:t>
            </a:r>
          </a:p>
          <a:p/>
          <a:p>
            <a:r>
              <a:t>1. Upline</a:t>
            </a:r>
          </a:p>
          <a:p>
            <a:r>
              <a:t>Who</a:t>
            </a:r>
          </a:p>
          <a:p>
            <a:r>
              <a:t>Those who authorise, resource or enable delivery</a:t>
            </a:r>
          </a:p>
          <a:p>
            <a:r>
              <a:t>What must be established</a:t>
            </a:r>
          </a:p>
          <a:p>
            <a:r>
              <a:t>Expectations for decisions, support, approvals and removal of constraints.</a:t>
            </a:r>
          </a:p>
          <a:p>
            <a:r>
              <a:t>Examples</a:t>
            </a:r>
          </a:p>
          <a:p>
            <a:r>
              <a:t>Executive leadership, board members, executive sponsors, budget holders</a:t>
            </a:r>
          </a:p>
          <a:p>
            <a:r>
              <a:t>Key question</a:t>
            </a:r>
          </a:p>
          <a:p>
            <a:r>
              <a:t>Who must approve or resource this outcome for delivery to be possible?</a:t>
            </a:r>
          </a:p>
          <a:p/>
          <a:p>
            <a:r>
              <a:t>2. Downline</a:t>
            </a:r>
          </a:p>
          <a:p>
            <a:r>
              <a:t>Who</a:t>
            </a:r>
          </a:p>
          <a:p>
            <a:r>
              <a:t>Those who perform the work</a:t>
            </a:r>
          </a:p>
          <a:p>
            <a:r>
              <a:t>What must be established</a:t>
            </a:r>
          </a:p>
          <a:p>
            <a:r>
              <a:t>Expectations for results, standards, behaviours and evidence of performance.</a:t>
            </a:r>
          </a:p>
          <a:p>
            <a:r>
              <a:t>Examples</a:t>
            </a:r>
          </a:p>
          <a:p>
            <a:r>
              <a:t>Direct reports, project teams, the teams that carry out the work</a:t>
            </a:r>
          </a:p>
          <a:p>
            <a:r>
              <a:t>Key question</a:t>
            </a:r>
          </a:p>
          <a:p>
            <a:r>
              <a:t>Who must deliver specific activities for this outcome to be achieved?</a:t>
            </a:r>
          </a:p>
          <a:p/>
          <a:p>
            <a:r>
              <a:t>3. Crossline</a:t>
            </a:r>
          </a:p>
          <a:p>
            <a:r>
              <a:t>Who</a:t>
            </a:r>
          </a:p>
          <a:p>
            <a:r>
              <a:t>Those whose contributions are interdependent</a:t>
            </a:r>
          </a:p>
          <a:p>
            <a:r>
              <a:t>What must be established</a:t>
            </a:r>
          </a:p>
          <a:p>
            <a:r>
              <a:t>Expectations for handovers, coordination, shared responsibilities and delivery commitments.</a:t>
            </a:r>
          </a:p>
          <a:p>
            <a:r>
              <a:t>Examples</a:t>
            </a:r>
          </a:p>
          <a:p>
            <a:r>
              <a:t>Peer functions, shared service functions, suppliers, service partners, technology vendors</a:t>
            </a:r>
          </a:p>
          <a:p>
            <a:r>
              <a:t>Key question</a:t>
            </a:r>
          </a:p>
          <a:p>
            <a:r>
              <a:t>Whose contributions must connect with this one for the outcome to be delivered?</a:t>
            </a:r>
          </a:p>
          <a:p/>
          <a:p>
            <a:r>
              <a:t>Its output: A clear understanding of the accountability relationships in which performance expectations must be established.</a:t>
            </a:r>
          </a:p>
          <a:p/>
          <a:p>
            <a:r>
              <a:t>The Critical Distinction</a:t>
            </a:r>
          </a:p>
          <a:p>
            <a:r>
              <a:t>Contribution Map: Customer Service requires IT to maintain a reliable case-management system to achieve its response-time target. This establishes a dependency.</a:t>
            </a:r>
          </a:p>
          <a:p>
            <a:r>
              <a:t>Expectations Chain: The Customer Service Executive and IT Executive must establish expectations concerning system availability, incident response times, escalation arrangements and accountability for resolving failures. This establishes what must be agreed between the people responsible.</a:t>
            </a:r>
          </a:p>
          <a:p/>
          <a:p>
            <a:r>
              <a:t>Outcomes depend on a web of contributors beyond the visible leaders. Map and value the wider contribution system.</a:t>
            </a:r>
          </a:p>
          <a:p/>
          <a:p>
            <a:r>
              <a:t>HOW TO TEACH IT:</a:t>
            </a:r>
          </a:p>
          <a:p>
            <a:r>
              <a:t>Ask participants to pick one current Key Result and post in the chat one contributor from each direction: Upline, Downline and Crossline. Then ask: “Have you had an alignment dialogue with everyone in that chain? Or only with the person holding the KPI?” Most will realise they have had the conversation with one person and assumed the rest of the chain would follow. That assumption is where most execution gaps begin.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 — THE ALIGNMENT DIALOGUE (Testing whether the expectation is owned)</a:t>
            </a:r>
          </a:p>
          <a:p/>
          <a:p/>
          <a:p>
            <a:r>
              <a:t>With the Expectations Chain mapped, the leader conducts an Alignment Dialogue with the individuals responsible for delivering the OKR/KPI. This is a structured conversation designed to test whether the expectation has moved from instruction to commitment.</a:t>
            </a:r>
          </a:p>
          <a:p/>
          <a:p>
            <a:r>
              <a:t>The Alignment Dialogue tests two questions together: “What contribution will you deliver?” and “What must the organisation enable for you to deliver it?” The leader asks the individual to explain the target in their own words, describe the behaviours and evidence, identify constraints in the organisational conditions and dependencies, and confirm what they can commit to.</a:t>
            </a:r>
          </a:p>
          <a:p>
            <a:r>
              <a:t>Where alignment is below the agreed threshold, the leader explores the reason, separating a clarity gap, a skill or commitment gap, and a constraint in the organisational conditions or across functions. The leader agrees a specific resolution owner and review date before recording the expectation as established.</a:t>
            </a:r>
          </a:p>
          <a:p/>
          <a:p>
            <a:r>
              <a:t>The Alignment Dialogue uses a simple scale of 1–10. A score of 9 or 10 indicates genuine ownership of delivery. </a:t>
            </a:r>
          </a:p>
          <a:p>
            <a:r>
              <a:t>Anything lower demands further deliberation through the Score → Evaluate → Resolve sequence.</a:t>
            </a:r>
          </a:p>
          <a:p>
            <a:r>
              <a:t>The power of the Alignment Dialogue lies in what the number reveals. A score of 6 is data: there is something unresolved between the expectation and the person’s readiness to own it. The leader’s job is to find it and resolve it before execution begins.</a:t>
            </a:r>
          </a:p>
          <a:p/>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SCORE → EVALUATE → RESOLVE</a:t>
            </a:r>
          </a:p>
          <a:p>
            <a:endParaRPr lang="en-GB" dirty="0"/>
          </a:p>
          <a:p>
            <a:r>
              <a:rPr lang="en-GB" b="1" dirty="0"/>
              <a:t>HOW TO TEACH IT:</a:t>
            </a:r>
          </a:p>
          <a:p>
            <a:endParaRPr lang="en-GB" dirty="0"/>
          </a:p>
          <a:p>
            <a:r>
              <a:rPr lang="en-GB" b="1" dirty="0"/>
              <a:t>1. Say what the sequence is for.</a:t>
            </a:r>
          </a:p>
          <a:p>
            <a:r>
              <a:rPr lang="en-GB" dirty="0"/>
              <a:t>Say: "When the alignment score is below 9, the leader treats the number as data — it signals that something is unresolved.</a:t>
            </a:r>
          </a:p>
          <a:p>
            <a:r>
              <a:rPr lang="en-GB" dirty="0"/>
              <a:t>The Score → Evaluate → Resolve sequence transforms that signal into a resolved commitment."</a:t>
            </a:r>
          </a:p>
          <a:p>
            <a:r>
              <a:rPr lang="en-GB" dirty="0"/>
              <a:t>The scale carries no judgement of performance. It helps the leader quickly understand whether the expectation has moved beyond communication into genuine ownership.</a:t>
            </a:r>
          </a:p>
          <a:p>
            <a:endParaRPr lang="en-GB" dirty="0"/>
          </a:p>
          <a:p>
            <a:r>
              <a:rPr lang="en-GB" b="1" dirty="0"/>
              <a:t>2. Teach Score It.</a:t>
            </a:r>
          </a:p>
          <a:p>
            <a:r>
              <a:rPr lang="en-GB" dirty="0"/>
              <a:t>Say: "The individual provides a numerical assessment of their level of alignment. The score acts as a signal of readiness for ownership."</a:t>
            </a:r>
          </a:p>
          <a:p>
            <a:r>
              <a:rPr lang="en-GB" dirty="0"/>
              <a:t>Read the four rows on the slide:</a:t>
            </a:r>
          </a:p>
          <a:p>
            <a:r>
              <a:rPr lang="en-GB" dirty="0"/>
              <a:t>9–10: Clear ownership and readiness to deliver. Proceed; confirm the commitment and document.</a:t>
            </a:r>
          </a:p>
          <a:p>
            <a:r>
              <a:rPr lang="en-GB" dirty="0"/>
              <a:t>7–8: Partial alignment — some uncertainty remains. Move to Evaluate → surface what is unresolved.</a:t>
            </a:r>
          </a:p>
          <a:p>
            <a:r>
              <a:rPr lang="en-GB" dirty="0"/>
              <a:t>5–6: Significant concerns affecting confidence in delivery. Move to Evaluate → expect multiple concerns to surface.</a:t>
            </a:r>
          </a:p>
          <a:p>
            <a:r>
              <a:rPr lang="en-GB" dirty="0"/>
              <a:t>Below 5: Expectation is not yet viable in its current form. Do not proceed — the expectation must be redesigned.</a:t>
            </a:r>
          </a:p>
          <a:p>
            <a:endParaRPr lang="en-GB" dirty="0"/>
          </a:p>
          <a:p>
            <a:r>
              <a:rPr lang="en-GB" b="1" dirty="0"/>
              <a:t>3. Teach Evaluate It.</a:t>
            </a:r>
          </a:p>
          <a:p>
            <a:r>
              <a:rPr lang="en-GB" dirty="0"/>
              <a:t>Say: "If the score is below 9, the leader explores the reasons behind the rating. The objective is to understand what is preventing full alignment."</a:t>
            </a:r>
          </a:p>
          <a:p>
            <a:r>
              <a:rPr lang="en-GB" dirty="0"/>
              <a:t>The leader guides the conversation using diagnostic questions: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r>
              <a:rPr lang="en-GB" dirty="0"/>
              <a:t>Common concerns include: unclear definition of the outcome or success criteria; cross-functional dependencies not yet confirmed; capacity or resource constraints affecting feasibility; confidence in the delivery pathway or timeline.</a:t>
            </a:r>
          </a:p>
          <a:p>
            <a:r>
              <a:rPr lang="en-GB" dirty="0"/>
              <a:t>Say: "The purpose of Evaluate is to make hidden concerns visible before execution begins."</a:t>
            </a:r>
          </a:p>
          <a:p>
            <a:r>
              <a:rPr lang="en-GB" dirty="0"/>
              <a:t>Leaders should be able to hear raw frustration without immediately defending the system or correcting the emotion. Credibility grows when leaders acknowledge the gap between intention and execution and work to close it.</a:t>
            </a:r>
          </a:p>
          <a:p>
            <a:endParaRPr lang="en-GB" dirty="0"/>
          </a:p>
          <a:p>
            <a:r>
              <a:rPr lang="en-GB" b="1" dirty="0"/>
              <a:t>4. Teach Resolve It.</a:t>
            </a:r>
          </a:p>
          <a:p>
            <a:r>
              <a:rPr lang="en-GB" dirty="0"/>
              <a:t>Say: "Once the sources of misalignment are understood, the leader works with the individual to resolve them.</a:t>
            </a:r>
          </a:p>
          <a:p>
            <a:r>
              <a:rPr lang="en-GB" dirty="0"/>
              <a:t>The guiding coaching question becomes: ‘What would help move your alignment from where it is now to a 9 or 10?’"</a:t>
            </a:r>
          </a:p>
          <a:p>
            <a:r>
              <a:rPr lang="en-GB" dirty="0"/>
              <a:t>This question shifts the conversation toward solutions. Resolution may involve:</a:t>
            </a:r>
          </a:p>
          <a:p>
            <a:r>
              <a:rPr lang="en-GB" dirty="0"/>
              <a:t>clarifying the outcome definition or success criteria; adjusting priorities or realistic timelines; identifying additional support or resources required; confirming collaboration across the Expectations Chain.</a:t>
            </a:r>
          </a:p>
          <a:p>
            <a:r>
              <a:rPr lang="en-GB" dirty="0"/>
              <a:t>Say: "Once concerns are resolved, the leader asks the alignment question again to confirm the expectation has moved into clear ownership."</a:t>
            </a:r>
          </a:p>
          <a:p>
            <a:r>
              <a:rPr lang="en-GB" dirty="0"/>
              <a:t>Speaking before understanding is a common leadership failure. People perform better when difficulty does not automatically threaten their belonging or worth.</a:t>
            </a:r>
          </a:p>
          <a:p>
            <a:endParaRPr lang="en-GB" dirty="0"/>
          </a:p>
          <a:p>
            <a:r>
              <a:rPr lang="en-GB" b="1" dirty="0"/>
              <a:t>5. Teach what the leader captures after the dialogue.</a:t>
            </a:r>
          </a:p>
          <a:p>
            <a:r>
              <a:rPr lang="en-GB" dirty="0"/>
              <a:t>Say: "After the dialogue, the leader captures three reflections:</a:t>
            </a:r>
          </a:p>
          <a:p>
            <a:r>
              <a:rPr lang="en-GB" dirty="0"/>
              <a:t>1. Alignment Rating — Where does the commitment currently stand?</a:t>
            </a:r>
          </a:p>
          <a:p>
            <a:r>
              <a:rPr lang="en-GB" dirty="0"/>
              <a:t>2. Primary Concern Identified — What surfaced during the discussion?</a:t>
            </a:r>
          </a:p>
          <a:p>
            <a:r>
              <a:rPr lang="en-GB" dirty="0"/>
              <a:t>3. Action for Elevation — What will move alignment upward?"</a:t>
            </a:r>
          </a:p>
          <a:p>
            <a:r>
              <a:rPr lang="en-GB" dirty="0"/>
              <a:t>Documenting these reflections converts a conversation into a visible commitment record.</a:t>
            </a:r>
          </a:p>
          <a:p>
            <a:endParaRPr lang="en-GB" dirty="0"/>
          </a:p>
          <a:p>
            <a:r>
              <a:rPr lang="en-GB" b="1" dirty="0"/>
              <a:t>6. Check understanding.</a:t>
            </a:r>
          </a:p>
          <a:p>
            <a:r>
              <a:rPr lang="en-GB" dirty="0"/>
              <a:t>Ask: "When someone on your team gives you a 6 out of 10 on alignment, what does your instinct tell you to do? And what should you do?"</a:t>
            </a:r>
          </a:p>
          <a:p>
            <a:r>
              <a:rPr lang="en-GB" dirty="0"/>
              <a:t>Take two answers in the chat. Bring each one back to Evaluate It: understand the score before you act on it.</a:t>
            </a:r>
          </a:p>
          <a:p>
            <a:endParaRPr lang="en-GB" dirty="0"/>
          </a:p>
          <a:p>
            <a:r>
              <a:rPr lang="en-GB" b="1" dirty="0"/>
              <a:t>ON THE PORTAL, AFTER THE TEACHING:</a:t>
            </a:r>
          </a:p>
          <a:p>
            <a:r>
              <a:rPr lang="en-GB" dirty="0"/>
              <a:t>Participants read Score → Evaluate → Resolve in part 1.4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THE GROW COACHING MODEL</a:t>
            </a:r>
          </a:p>
          <a:p>
            <a:endParaRPr lang="en-GB" dirty="0"/>
          </a:p>
          <a:p>
            <a:r>
              <a:rPr lang="en-GB" b="1" dirty="0"/>
              <a:t>HOW TO TEACH IT:</a:t>
            </a:r>
          </a:p>
          <a:p>
            <a:endParaRPr lang="en-GB" dirty="0"/>
          </a:p>
          <a:p>
            <a:r>
              <a:rPr lang="en-GB" b="1" dirty="0"/>
              <a:t>1. Introduce the model.</a:t>
            </a:r>
          </a:p>
          <a:p>
            <a:r>
              <a:rPr lang="en-GB" dirty="0"/>
              <a:t>Say: "GROW is the coaching model the leader uses when holding the Alignment Dialogue.</a:t>
            </a:r>
          </a:p>
          <a:p>
            <a:r>
              <a:rPr lang="en-GB" dirty="0"/>
              <a:t>It is a widely used coaching model, popularised by Sir John Whitmore in Coaching for Performance.</a:t>
            </a:r>
          </a:p>
          <a:p>
            <a:r>
              <a:rPr lang="en-GB" dirty="0"/>
              <a:t>Its four stages are Goal, Reality, Options and Will.</a:t>
            </a:r>
          </a:p>
          <a:p>
            <a:r>
              <a:rPr lang="en-GB" dirty="0"/>
              <a:t>At each stage the leader asks questions and the individual does the thinking, so the answers the individual reaches are their own."</a:t>
            </a:r>
          </a:p>
          <a:p>
            <a:r>
              <a:rPr lang="en-GB" dirty="0"/>
              <a:t>Responding with a question returns ownership of the response to the person and gives them space to examine their own position without defending against an external judgement. Questions open where corrections close.</a:t>
            </a:r>
          </a:p>
          <a:p>
            <a:endParaRPr lang="en-GB" dirty="0"/>
          </a:p>
          <a:p>
            <a:r>
              <a:rPr lang="en-GB" b="1" dirty="0"/>
              <a:t>2. Teach G · Goal.</a:t>
            </a:r>
          </a:p>
          <a:p>
            <a:r>
              <a:rPr lang="en-GB" dirty="0"/>
              <a:t>Say: "What the leader aims to achieve in the conversation. The goal of the dialogue is ownership of the delivery expectation: an alignment score of 9 or 10. The leader agrees this aim at Score It, as soon as the individual has given the number."</a:t>
            </a:r>
          </a:p>
          <a:p>
            <a:r>
              <a:rPr lang="en-GB" dirty="0"/>
              <a:t>The questions the leader asks:</a:t>
            </a:r>
          </a:p>
          <a:p>
            <a:r>
              <a:rPr lang="en-GB" dirty="0"/>
              <a:t>"What would a 9 or 10 look like for you on this outcome?"</a:t>
            </a:r>
          </a:p>
          <a:p>
            <a:r>
              <a:rPr lang="en-GB" dirty="0"/>
              <a:t>"What do you want to be sure of before you commit to this result?"</a:t>
            </a:r>
          </a:p>
          <a:p>
            <a:endParaRPr lang="en-GB" dirty="0"/>
          </a:p>
          <a:p>
            <a:r>
              <a:rPr lang="en-GB" b="1" dirty="0"/>
              <a:t>3. Teach R · Reality.</a:t>
            </a:r>
          </a:p>
          <a:p>
            <a:r>
              <a:rPr lang="en-GB" dirty="0"/>
              <a:t>Say: "What is true today. This is Evaluate It. The leader explores what stands behind the score, and listens without defending the expectation."</a:t>
            </a:r>
          </a:p>
          <a:p>
            <a:r>
              <a:rPr lang="en-GB" dirty="0"/>
              <a:t>The questions the leader asks: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endParaRPr lang="en-GB" dirty="0"/>
          </a:p>
          <a:p>
            <a:r>
              <a:rPr lang="en-GB" b="1" dirty="0"/>
              <a:t>4. Teach O · Options.</a:t>
            </a:r>
          </a:p>
          <a:p>
            <a:r>
              <a:rPr lang="en-GB" dirty="0"/>
              <a:t>Say: "What could be done. This opens Resolve It. The leader asks for the individual’s ideas first, then adds their own."</a:t>
            </a:r>
          </a:p>
          <a:p>
            <a:r>
              <a:rPr lang="en-GB" dirty="0"/>
              <a:t>The questions the leader asks:</a:t>
            </a:r>
          </a:p>
          <a:p>
            <a:r>
              <a:rPr lang="en-GB" dirty="0"/>
              <a:t>"What would help move your alignment from where it is now to a 9 or 10?"</a:t>
            </a:r>
          </a:p>
          <a:p>
            <a:r>
              <a:rPr lang="en-GB" dirty="0"/>
              <a:t>"What else could we do?"</a:t>
            </a:r>
          </a:p>
          <a:p>
            <a:r>
              <a:rPr lang="en-GB" dirty="0"/>
              <a:t>"What support would make the difference?"</a:t>
            </a:r>
          </a:p>
          <a:p>
            <a:endParaRPr lang="en-GB" dirty="0"/>
          </a:p>
          <a:p>
            <a:r>
              <a:rPr lang="en-GB" b="1" dirty="0"/>
              <a:t>5. Teach W · Will.</a:t>
            </a:r>
          </a:p>
          <a:p>
            <a:r>
              <a:rPr lang="en-GB" dirty="0"/>
              <a:t>Say: "What will be done, and by whom. This closes Resolve It. The leader and the individual agree the actions each will take, then the leader asks the alignment question again."</a:t>
            </a:r>
          </a:p>
          <a:p>
            <a:r>
              <a:rPr lang="en-GB" dirty="0"/>
              <a:t>The questions the leader asks:</a:t>
            </a:r>
          </a:p>
          <a:p>
            <a:r>
              <a:rPr lang="en-GB" dirty="0"/>
              <a:t>"What will you do, and what do you need me to do?"</a:t>
            </a:r>
          </a:p>
          <a:p>
            <a:r>
              <a:rPr lang="en-GB" dirty="0"/>
              <a:t>"What could stop this, and how will we deal with it?"</a:t>
            </a:r>
          </a:p>
          <a:p>
            <a:r>
              <a:rPr lang="en-GB" dirty="0"/>
              <a:t>"With that agreed, where is your alignment now, on the scale of 1–10?"</a:t>
            </a:r>
          </a:p>
          <a:p>
            <a:endParaRPr lang="en-GB" dirty="0"/>
          </a:p>
          <a:p>
            <a:r>
              <a:rPr lang="en-GB" b="1" dirty="0"/>
              <a:t>6. Show how the two fit together.</a:t>
            </a:r>
          </a:p>
          <a:p>
            <a:r>
              <a:rPr lang="en-GB" dirty="0"/>
              <a:t>Say: "Score → Evaluate → Resolve is the sequence of the dialogue. GROW is how the leader coaches inside it.</a:t>
            </a:r>
          </a:p>
          <a:p>
            <a:r>
              <a:rPr lang="en-GB" dirty="0"/>
              <a:t>Goal at Score It. Reality at Evaluate It. Options and Will at Resolve It."</a:t>
            </a:r>
          </a:p>
          <a:p>
            <a:endParaRPr lang="en-GB" dirty="0"/>
          </a:p>
          <a:p>
            <a:r>
              <a:rPr lang="en-GB" b="1" dirty="0"/>
              <a:t>7. Say where it is practised.</a:t>
            </a:r>
          </a:p>
          <a:p>
            <a:r>
              <a:rPr lang="en-GB" dirty="0"/>
              <a:t>Say: "You practise this dialogue in a role play in Section 4."</a:t>
            </a:r>
          </a:p>
          <a:p>
            <a:endParaRPr lang="en-GB" dirty="0"/>
          </a:p>
          <a:p>
            <a:r>
              <a:rPr lang="en-GB" b="1" dirty="0"/>
              <a:t>ON THE PORTAL, AFTER THE TEACHING:</a:t>
            </a:r>
          </a:p>
          <a:p>
            <a:r>
              <a:rPr lang="en-GB" dirty="0"/>
              <a:t>Participants read the GROW coaching model in part 1.4 of the participant file.</a:t>
            </a:r>
          </a:p>
          <a:p>
            <a:r>
              <a:rPr lang="en-GB" dirty="0"/>
              <a:t>Participants write a reflection in their own file: the Resolve question in their own words, applied to a real expectation they are currently facing.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Establishing Expectations Determines Execution Outcomes</a:t>
            </a:r>
          </a:p>
          <a:p>
            <a:r>
              <a:t>Understanding the behavioural mechanisms through which expectation alignment drives ownership, reduces ambiguity, surfaces constraints, and transforms accountability from formal obligation to personal commitment.</a:t>
            </a:r>
          </a:p>
          <a:p/>
          <a:p>
            <a:r>
              <a:t>Section learning outcomes:</a:t>
            </a:r>
          </a:p>
          <a:p>
            <a:r>
              <a:t>1. Align expectations so that commitment holds through execution.</a:t>
            </a:r>
          </a:p>
          <a:p>
            <a:r>
              <a:t>2. Diagnose the performance consequences of unclear people and organisational expectations.</a:t>
            </a:r>
          </a:p>
          <a:p/>
          <a:p/>
          <a:p>
            <a:r>
              <a:t>Why this section matters: Establishing performance expectations plays a decisive role in execution because strategy is ultimately delivered through human commitment. Plans, scorecards, and systems alone do not deliver it.</a:t>
            </a:r>
          </a:p>
          <a:p/>
          <a:p>
            <a:r>
              <a:t>Organisations often invest significant effort in defining objectives, designing metrics, and building reporting structures. Execution outcomes are determined above all by whether the individuals responsible for delivery fully understand, accept, and internalise the expectations attached to their role. The technical design of the performance system is a lesser determinant.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COMPLIANCE VS COMMITMENT: THE EXECUTION DYNAMIC (Ignition point)</a:t>
            </a:r>
          </a:p>
          <a:p/>
          <a:p>
            <a:r>
              <a:t>HOW TO TEACH IT:</a:t>
            </a:r>
          </a:p>
          <a:p>
            <a:r>
              <a:t>Invite leaders to locate their current team: “If you are honest — when your team hits an obstacle, what happens first? Do they solve it, or do they escalate it? The answer tells you whether you have compliance or commitment.” This is a signal about whether expectations were established.</a:t>
            </a:r>
          </a:p>
          <a:p/>
          <a:p>
            <a:r>
              <a:t>Content:</a:t>
            </a:r>
          </a:p>
          <a:p>
            <a:r>
              <a:t>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a:t>
            </a:r>
          </a:p>
          <a:p>
            <a:r>
              <a:t>A compliance response may emerge when people are held accountable for results while essential organisational conditions remain outside their control. Commitment strengthens when leaders visibly fulfil their side of the performance agreement: decisions, systems, resources, governance and working environment.</a:t>
            </a:r>
          </a:p>
          <a:p/>
          <a:p/>
          <a:p>
            <a:r>
              <a:t>From instruction to ownership: When expectations are merely communicated, people typically interpret them as instructions, and this produces a compliance-based execution dynamic. </a:t>
            </a:r>
          </a:p>
          <a:p/>
          <a:p>
            <a:r>
              <a:t>In compliance environments, individuals tend to wait for direction before acting, escalate problems upward and leave them unresolved, focus on reporting progress ahead of accelerating outcomes, and remain cautious when unexpected obstacles arise.</a:t>
            </a:r>
          </a:p>
          <a:p/>
          <a:p>
            <a:r>
              <a:t>When expectations are properly established through structured dialogue, a different dynamic emerges. This shift fundamentally changes behaviour. Ownership encourages individuals to invest greater effort in solving obstacles. The expectation stops being a target imposed by the system and becomes something the individual is personally accountable for delivering.</a:t>
            </a:r>
          </a:p>
          <a:p/>
          <a:p>
            <a:r>
              <a:t>Build commitments that hold without the pressure.</a:t>
            </a:r>
          </a:p>
          <a:p>
            <a:r>
              <a:t>Teams often say yes to a new way of working while quietly keeping the old habits underneath. People who keep both systems running have committed to neither. Bring the hidden habits into the open.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 — FIVE MECHANISMS: WHY EXPECTATION ALIGNMENT DETERMINES OUTCOMES (The behavioural logic)
</a:t>
            </a:r>
            <a:r>
              <a:rPr lang="en-US" b="1" dirty="0"/>
              <a:t>Content:</a:t>
            </a:r>
            <a:r>
              <a:rPr lang="en-US" dirty="0"/>
              <a:t>
</a:t>
            </a:r>
            <a:r>
              <a:rPr lang="en-US" b="1" dirty="0"/>
              <a:t>Mechanism 1</a:t>
            </a:r>
            <a:r>
              <a:rPr lang="en-US" dirty="0"/>
              <a:t>
</a:t>
            </a:r>
            <a:r>
              <a:rPr lang="en-US" b="1" dirty="0"/>
              <a:t>From Instruction to Ownership</a:t>
            </a:r>
            <a:r>
              <a:rPr lang="en-US" dirty="0"/>
              <a:t>
When expectations are merely communicated, people interpret them as instructions. </a:t>
            </a:r>
          </a:p>
          <a:p>
            <a:r>
              <a:rPr lang="en-US" dirty="0"/>
              <a:t>The individual understands what must be achieved but does not yet feel personally accountable for ensuring the outcome is delivered. </a:t>
            </a:r>
          </a:p>
          <a:p>
            <a:r>
              <a:rPr lang="en-US" dirty="0"/>
              <a:t>Establishing expectations through structured dialogue moves the individual from acknowledging the requirement to accepting ownership of the result. This is the fundamental shift that makes execution commitment-driven.</a:t>
            </a:r>
          </a:p>
          <a:p>
            <a:r>
              <a:rPr lang="en-US" dirty="0"/>
              <a:t>
</a:t>
            </a:r>
            <a:r>
              <a:rPr lang="en-US" b="1" dirty="0"/>
              <a:t>Mechanism 2</a:t>
            </a:r>
            <a:r>
              <a:rPr lang="en-US" dirty="0"/>
              <a:t>
</a:t>
            </a:r>
            <a:r>
              <a:rPr lang="en-US" b="1" dirty="0"/>
              <a:t>Reducing Interpretation Ambiguity</a:t>
            </a:r>
            <a:r>
              <a:rPr lang="en-US" dirty="0"/>
              <a:t>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a:t>
            </a:r>
          </a:p>
          <a:p>
            <a:r>
              <a:rPr lang="en-US" dirty="0"/>
              <a:t>This reduces confusion and allows teams to move forward with greater coordination.
</a:t>
            </a:r>
          </a:p>
          <a:p>
            <a:r>
              <a:rPr lang="en-US" b="1" dirty="0"/>
              <a:t>Mechanism 3</a:t>
            </a:r>
            <a:r>
              <a:rPr lang="en-US" dirty="0"/>
              <a:t>
</a:t>
            </a:r>
            <a:r>
              <a:rPr lang="en-US" b="1" dirty="0"/>
              <a:t>Surfacing Constraints Before Execution Begins</a:t>
            </a:r>
            <a:r>
              <a:rPr lang="en-US" dirty="0"/>
              <a:t>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a:t>
            </a:r>
          </a:p>
          <a:p>
            <a:r>
              <a:rPr lang="en-US" b="1" dirty="0"/>
              <a:t>Mechanism 4</a:t>
            </a:r>
            <a:r>
              <a:rPr lang="en-US" dirty="0"/>
              <a:t>
</a:t>
            </a:r>
            <a:r>
              <a:rPr lang="en-US" b="1" dirty="0"/>
              <a:t>Strengthening Accountability</a:t>
            </a:r>
            <a:r>
              <a:rPr lang="en-US" dirty="0"/>
              <a:t>
Accountability is strongest when individuals perceive that the expectations placed on them are clear, achievable, and meaningful. </a:t>
            </a:r>
          </a:p>
          <a:p>
            <a:r>
              <a:rPr lang="en-US" dirty="0"/>
              <a:t>When these conditions are present, people are far more likely to take ownership of outcomes and sustain effort when challenges arise. </a:t>
            </a:r>
          </a:p>
          <a:p>
            <a:r>
              <a:rPr lang="en-US" dirty="0"/>
              <a:t>Establishing expectations strengthens accountability by ensuring both the leader and contributor share a common understanding of: the responsibility involved, what support will be available, what constraints must be addressed, and what standards will be used to evaluate success. </a:t>
            </a:r>
          </a:p>
          <a:p>
            <a:r>
              <a:rPr lang="en-US" dirty="0"/>
              <a:t>This mutual clarity transforms accountability from a formal obligation into a shared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Execution outcomes depend heavily on the quality of accountability relationships within the organisation.</a:t>
            </a:r>
          </a:p>
          <a:p>
            <a:r>
              <a:rPr lang="en-US" dirty="0"/>
              <a:t>
</a:t>
            </a:r>
            <a:r>
              <a:rPr lang="en-US" b="1" dirty="0"/>
              <a:t>Mechanism 5</a:t>
            </a:r>
            <a:r>
              <a:rPr lang="en-US" dirty="0"/>
              <a:t>
</a:t>
            </a:r>
            <a:r>
              <a:rPr lang="en-US" b="1" dirty="0"/>
              <a:t>Building the Behavioural Foundation</a:t>
            </a:r>
            <a:r>
              <a:rPr lang="en-US" dirty="0"/>
              <a:t>
Strategy execution is fundamentally a behavioural challenge. </a:t>
            </a:r>
          </a:p>
          <a:p>
            <a:r>
              <a:rPr lang="en-US" dirty="0"/>
              <a:t>\Plans, metrics, and dashboards provide direction and visibility, but outcomes are ultimately produced through the daily decisions and actions of people. Establishing performance expectations ensures that individuals are psychologically prepared to take responsibility for doing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this foundation is in place: individuals understand the purpose behind the work, confidence in feasibility increases, collaboration improves, and accountability becomes proactive.
</a:t>
            </a:r>
            <a:r>
              <a:rPr lang="en-GB" dirty="0"/>
              <a:t>Strategy execution is often described as a systems challenge. These behavioural conditions significantly increase the likelihood that strategic intentions will translate into operational results. Before execution begins, the individuals responsible for delivery are informed about what must be achieved, and are also aligned, prepared, and committed to delivering it. In this way, expectation alignment becomes one of the most powerful drivers of consistent execution outcomes.</a:t>
            </a:r>
          </a:p>
          <a:p>
            <a:r>
              <a:rPr lang="en-US" dirty="0"/>
              <a:t>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 — ENGAGEMENT &amp; ACCOUNTABILITY: THE TWO CASUALTIES (What breaks down when expectations are only set)</a:t>
            </a:r>
          </a:p>
          <a:p/>
          <a:p>
            <a:r>
              <a:t>HOW TO TEACH IT:</a:t>
            </a:r>
          </a:p>
          <a:p>
            <a:r>
              <a:t>The paradox in the Accountability card is often a moment of recognition for leaders. Name it explicitly: “Have you ever been in a review where everyone has a reason, and no one has an answer? That is diluted accountability in action. It happened because ownership was never established.”</a:t>
            </a:r>
          </a:p>
          <a:p/>
          <a:p>
            <a:r>
              <a:t>Content:</a:t>
            </a:r>
          </a:p>
          <a:p>
            <a:r>
              <a:t>When expectations are set without being established, two organisational conditions degrade in a predictable sequence.</a:t>
            </a:r>
          </a:p>
          <a:p>
            <a:r>
              <a:t>Two failures often appear together: contributors disengage because promises of support are not honoured, and accountability becomes defensive because responsibility for the result is disconnected from authority over its enabling conditions. The expectation record must therefore distinguish the individual who delivers the result from the leader who resolves a constraint in the organisational conditions.</a:t>
            </a:r>
          </a:p>
          <a:p/>
          <a:p>
            <a:r>
              <a:t>First Casualty</a:t>
            </a:r>
          </a:p>
          <a:p>
            <a:r>
              <a:t>Engagement, the first casualty</a:t>
            </a:r>
          </a:p>
          <a:p>
            <a:r>
              <a:t>One of the earliest behavioural consequences of setting expectations without properly establishing them appears in the level of engagement across the organisation. People recognise the expectation as part of their work environment, yet they may not experience it as something they have consciously committed to achieving. </a:t>
            </a:r>
          </a:p>
          <a:p>
            <a:r>
              <a:t>As a result, engagement begins to weaken in subtle but observable ways.</a:t>
            </a:r>
          </a:p>
          <a:p>
            <a:r>
              <a:t>Individuals complete assigned tasks yet hesitate to go beyond their defined scope. Initiative declines because people do not feel authorised, or obligated, to intervene when obstacles arise outside their immediate area of responsibility. </a:t>
            </a:r>
          </a:p>
          <a:p>
            <a:r>
              <a:t>Teams concentrate on completing assigned tasks and leave the broader organisational challenge unsolved. </a:t>
            </a:r>
          </a:p>
          <a:p>
            <a:r>
              <a:t>Individuals behave as though they are implementing someone else’s expectation, with no sense of advancing a commitment they helped shape.</a:t>
            </a:r>
          </a:p>
          <a:p>
            <a:r>
              <a:t>How dialogue reverses it: When expectations are established through dialogue, the dynamic shifts significantly.</a:t>
            </a:r>
          </a:p>
          <a:p>
            <a:r>
              <a:t> Individuals participate in clarifying the conditions required for delivery, surfacing constraints, and confirming the feasibility of the outcome. </a:t>
            </a:r>
          </a:p>
          <a:p>
            <a:r>
              <a:t>This process strengthens their connection to the expectation and increases their willingness to invest discretionary effort. </a:t>
            </a:r>
          </a:p>
          <a:p>
            <a:r>
              <a:t>Engagement rises because individuals see the outcome as a shared commitment they have helped define and are motivated to deliver.</a:t>
            </a:r>
          </a:p>
          <a:p/>
          <a:p/>
          <a:p/>
          <a:p>
            <a:r>
              <a:t>Accountability, the critical long-term impact </a:t>
            </a:r>
          </a:p>
          <a:p>
            <a:r>
              <a:t>Accountability functions effectively when individuals clearly understand both what outcome they are responsible for and the conditions under which that outcome must be delivered. When expectations are set without thorough alignment, this clarity is often incomplete. </a:t>
            </a:r>
          </a:p>
          <a:p>
            <a:r>
              <a:t>Individuals may feel responsible for carrying out their activities (executing tasks, completing projects, producing reports) and still not feel fully responsible for the final organisational result.</a:t>
            </a:r>
          </a:p>
          <a:p>
            <a:r>
              <a:t>Over time, this ambiguity produces several familiar organisational behaviours. Performance discussions increasingly revolve around explanations, conversations focus on constraints ahead of solutions, and it becomes difficult to identify who ultimately owns the result. </a:t>
            </a:r>
          </a:p>
          <a:p>
            <a:r>
              <a:t>In such environments leaders often observe a persistent paradox. Activity levels are high, and effort and capability are not necessarily the issue: the organisation has assigned expectations without fully securing ownership of the outcome.</a:t>
            </a:r>
          </a:p>
          <a:p>
            <a:r>
              <a:t>How establishing restores it: When expectations are properly established, accountability becomes clearer and more effective. </a:t>
            </a:r>
          </a:p>
          <a:p>
            <a:r>
              <a:t>Individuals understand the results they are responsible for, the dependencies involved in delivering those results, and the support structures available to them. This clarity enables teams to address challenges earlier and to take ownership of resolving obstacles. </a:t>
            </a:r>
          </a:p>
          <a:p>
            <a:r>
              <a:t>Establishing expectations does more than clarify performance targets. It creates the behavioural foundation for sustained accountability, ensuring that individuals and teams take responsibility for the work they perform and for the results that work is intended to produce.</a:t>
            </a:r>
          </a:p>
          <a:p/>
          <a:p/>
          <a:p>
            <a:r>
              <a:t>Engagement becomes transactional: Many teams run on minimum compliance: do what is required, claim the credit, defend the boundary. </a:t>
            </a:r>
          </a:p>
          <a:p/>
          <a:p>
            <a:r>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the Expectations Gap Emerge?</a:t>
            </a:r>
          </a:p>
          <a:p>
            <a:r>
              <a:t>Examining how each executive function’s natural tendency creates patterns of setting expectations without establishing them — and where the gap most commonly breaks engagement and accountability at scale.</a:t>
            </a:r>
          </a:p>
          <a:p/>
          <a:p>
            <a:r>
              <a:t>Section learning outcomes:</a:t>
            </a:r>
          </a:p>
          <a:p>
            <a:r>
              <a:t>1. Identify leadership tendencies that weaken expectation alignment.</a:t>
            </a:r>
          </a:p>
          <a:p>
            <a:r>
              <a:t>2. Locate ownership gaps across contribution relationships and enabling conditions.</a:t>
            </a:r>
          </a:p>
          <a:p/>
          <a:p>
            <a:r>
              <a:t>Source detail (S2R® manuscript):</a:t>
            </a:r>
          </a:p>
          <a:p/>
          <a:p>
            <a:r>
              <a:t>Where the tendencies come from: Across the executive team, the expectation tendencies arise from functional expertise. Setting expectations within a function does not automatically establish delivery expectations across the enterprise system.</a:t>
            </a:r>
          </a:p>
          <a:p>
            <a:r>
              <a:t>Establishing expectations requires leaders to move beyond defining targets and enter into structured alignment dialogue that confirms: the conditions required for delivery; the dependencies across the expectations chain; and the shared ownership of the result.</a:t>
            </a:r>
          </a:p>
          <a:p>
            <a:r>
              <a:t>Without this step, expectations may be clearly communicated and still operate as instructions: a subtle but decisive difference in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HOW TO TEACH IT:</a:t>
            </a:r>
          </a:p>
          <a:p>
            <a:r>
              <a:t>For each role, examine the expectations it places on others and the commitments on organisational conditions it must honour. Finance may control resources, operations may own systems and work design, HR may influence capability and environment, and executive leadership may own governance decisions. These are illustrative accountabilities; confirm actual ownership in the capstone organisation.</a:t>
            </a:r>
          </a:p>
          <a:p>
            <a:r>
              <a:t>Ask: “Which expectation is this leader placing on another function, and what enabling promise is this leader making in return?” Capture unowned dependencies as alignment gaps.</a:t>
            </a:r>
          </a:p>
          <a:p>
            <a:r>
              <a:t>Each role card gives the Upline, Downline and Crossline of the role’s likely Expectations Chain.</a:t>
            </a:r>
          </a:p>
          <a:p/>
          <a:p>
            <a:r>
              <a:t>3.1 — THE COLLECTIVE INTELLIGENCE FOR EXECUTION DISCIPLINE: CXO EXPECTATION TENDENCIES &amp; GAPS (10 executive roles)</a:t>
            </a:r>
          </a:p>
          <a:p/>
          <a:p>
            <a:r>
              <a:t>What the ten tendencies have in common: Setting expectations ensures that people know what leadership wants. Establishing expectations ensures that the individuals understand the conditions required for success, accept ownership of the outcome, and are prepared to mobilise the system needed to achieve it.</a:t>
            </a:r>
          </a:p>
          <a:p>
            <a:r>
              <a:t>When this step is overlooked, the organisation may appear aligned at the surface level while important behavioural conditions remain unresolved beneath it. Two of the most common consequences begin to emerge over time:</a:t>
            </a:r>
          </a:p>
          <a:p>
            <a:r>
              <a:t>- Engagement begins to weaken, as individuals carry out instructions without fully internalising the commitment required to deliver the result.</a:t>
            </a:r>
          </a:p>
          <a:p>
            <a:r>
              <a:t>- Accountability becomes diluted, as responsibility for outcomes becomes ambiguous across teams and functions.</a:t>
            </a:r>
          </a:p>
          <a:p>
            <a:r>
              <a:t>Understanding how these dynamics develop helps explain why expectation alignment is such a decisive leadership practice in strategy execution. The absence of established expectations most visibly affects engagement and accountability, and these two behavioural shifts often determine whether organisational priorities translate into real results. Both are detailed in the notes of the two casualties slide (2.3).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1CB9-2220-4A10-A93F-18D13AE70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Your Expectation Gap: "Based on your role exploration: what is the most important expectation you have set but not yet established? Who in your chain needs that alignment dialogue?"</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expectation, the person or function you need to establish it with, and the alignment dialogue you will have."</a:t>
            </a:r>
          </a:p>
          <a:p>
            <a:r>
              <a:rPr lang="en-GB" dirty="0"/>
              <a:t>Watch for: a reflection that names a team where a person is needed. Ask for one role.</a:t>
            </a:r>
          </a:p>
          <a:p>
            <a:endParaRPr lang="en-GB" dirty="0"/>
          </a:p>
          <a:p>
            <a:r>
              <a:rPr lang="en-GB" b="1" dirty="0"/>
              <a:t>4. Bridge to Section 4.</a:t>
            </a:r>
          </a:p>
          <a:p>
            <a:r>
              <a:rPr lang="en-GB" dirty="0"/>
              <a:t>Say: "You have seen where the expectation gap opens in your own role. Section 4 gives the practice every leader uses to close it."</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982356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Expectation Architecture</a:t>
            </a:r>
          </a:p>
          <a:p>
            <a:r>
              <a:t>Practising the Alignment Dialogue across leadership roles — testing the contribution each person will deliver and what the organisation must enable for it.</a:t>
            </a:r>
          </a:p>
          <a:p/>
          <a:p>
            <a:r>
              <a:t>Section learning outcomes:</a:t>
            </a:r>
          </a:p>
          <a:p>
            <a:r>
              <a:t>1. Coach individuals from partial alignment to genuine commitment.</a:t>
            </a:r>
          </a:p>
          <a:p>
            <a:r>
              <a:t>2. Demonstrate an alignment dialogue covering commitments and dependencies on organisational conditions.</a:t>
            </a:r>
          </a:p>
          <a:p/>
          <a:p>
            <a:r>
              <a:t>This section brings the leadership team together to define how expectations will be established consistently across the organisation.</a:t>
            </a:r>
          </a:p>
          <a:p>
            <a:r>
              <a:t>In many organisations, expectations are communicated through different functional mechanisms: budgets, project plans, operational procedures, campaign targets, or performance reviews. While these tools provide clarity within each function, they often lack a shared method for establishing delivery expectations across the enterprise.</a:t>
            </a:r>
          </a:p>
          <a:p/>
          <a:p>
            <a:r>
              <a:t>Without a common approach, expectations can be interpreted differently across teams. People may understand the priority, yet remain uncertain about how it connects to the organisation’s broader direction or who ultimately owns delivery.</a:t>
            </a:r>
          </a:p>
          <a:p>
            <a:r>
              <a:t>The purpose of the Converging Zone is therefore to create a simple expectation architecture that everyone in the organisation can use. This architecture ensures that expectations are clearly understood, connected to the organisational future, and owned by the people responsible for delivering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1 REFLECTIONS · 1.3 AND 1.4</a:t>
            </a:r>
          </a:p>
          <a:p/>
          <a:p>
            <a:r>
              <a:t>HOW TO USE THIS SLIDE:</a:t>
            </a:r>
          </a:p>
          <a:p/>
          <a:p>
            <a:r>
              <a:t>1. Show the slide and read each prompt aloud.</a:t>
            </a:r>
          </a:p>
          <a:p>
            <a:r>
              <a:t>1.3 Reflection — Map Your Chain: "Choose one current key result. Map your Expectations Chain. Have you had an alignment dialogue with everyone in the chain — or only with the person holding the KPI?"</a:t>
            </a:r>
          </a:p>
          <a:p>
            <a:r>
              <a:t>1.4 Reflection — Practise the Resolve Question: "Write the Resolve question in your own words. Then apply it to a real expectation alignment scenario you are currently facing."</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the people in your chain, and write the Resolve question as you would ask it."</a:t>
            </a:r>
          </a:p>
          <a:p/>
          <a:p>
            <a:r>
              <a:t>4. Bridge to Section 2.</a:t>
            </a:r>
          </a:p>
          <a:p/>
          <a:p>
            <a:r>
              <a:t>ON THE PORTAL, AFTER THE TEACHING:</a:t>
            </a:r>
          </a:p>
          <a:p>
            <a:r>
              <a:t>Participants write these reflections in Section 1 of the participant file, at the foot of parts 1.3 and 1.4.</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 — PRACTISING THE ALIGNMENT DIALOGUE (ROLE PLAY IN CLASS)</a:t>
            </a:r>
          </a:p>
          <a:p/>
          <a:p>
            <a:r>
              <a:t>Participants practise the Alignment Dialogue with the GROW model, both taught in part 1.4. You run this role play in the live session, between any two roles that you choose. Nothing is entered on the portal during the role play.</a:t>
            </a:r>
          </a:p>
          <a:p/>
          <a:p>
            <a:r>
              <a:t>HOW TO RUN IT:</a:t>
            </a:r>
          </a:p>
          <a:p/>
          <a:p>
            <a:r>
              <a:t>1. Prepare three things.</a:t>
            </a:r>
          </a:p>
          <a:p>
            <a:r>
              <a:t>The expectation. One Key Result. Use the example “Reduce complaint resolution time from 48 hours to 12 hours”, or a Key Result from a group’s Unit 3 Enterprise OKRs.</a:t>
            </a:r>
          </a:p>
          <a:p>
            <a:r>
              <a:t>The two roles for each round. One is the leader who establishes the expectation. The other is the owner who must deliver it. Any two roles work: CEO and COO, COO and Head of Customer Service, CFO and Head of Procurement, or an executive and the board chair.</a:t>
            </a:r>
          </a:p>
          <a:p>
            <a:r>
              <a:t>The owner brief for each round. It gives the owner’s score, the concerns behind it and what moves the owner to a 9 or 10. Two briefs for this example are below. Write your own in the same pattern for the roles you choose.</a:t>
            </a:r>
          </a:p>
          <a:p/>
          <a:p>
            <a:r>
              <a:t>2. Set it up.</a:t>
            </a:r>
          </a:p>
          <a:p>
            <a:r>
              <a:t>Say: "We will now practise the Alignment Dialogue on one expectation. Listen for the four GROW stages." State the expectation and name the two roles.</a:t>
            </a:r>
          </a:p>
          <a:p/>
          <a:p>
            <a:r>
              <a:t>3. Give the observers their task.</a:t>
            </a:r>
          </a:p>
          <a:p>
            <a:r>
              <a:t>Everyone who is not in a role posts in the chat each GROW stage as they hear it (G, R, O or W) and the question that opened it.</a:t>
            </a:r>
          </a:p>
          <a:p/>
          <a:p>
            <a:r>
              <a:t>4. Round 1 · You demonstrate.</a:t>
            </a:r>
          </a:p>
          <a:p>
            <a:r>
              <a:t>You play the leader. A volunteer plays the owner. Send the volunteer the owner brief in a private chat message. Connect the expectation to the Future in one sentence, state the outcome, then ask the alignment question. Work through Score → Evaluate → Resolve with the GROW questions, and end by asking the alignment question again.</a:t>
            </a:r>
          </a:p>
          <a:p/>
          <a:p>
            <a:r>
              <a:t>5. Pause.</a:t>
            </a:r>
          </a:p>
          <a:p>
            <a:r>
              <a:t>Ask the observers: "Which question moved the score?" Read two answers from the chat.</a:t>
            </a:r>
          </a:p>
          <a:p/>
          <a:p>
            <a:r>
              <a:t>6. Round 2 · Participants lead.</a:t>
            </a:r>
          </a:p>
          <a:p>
            <a:r>
              <a:t>One volunteer plays the leader and a second volunteer plays the owner, in the roles you chose. Send the owner brief to the owner in a private chat message. Run further rounds with other roles as you choose.</a:t>
            </a:r>
          </a:p>
          <a:p/>
          <a:p>
            <a:r>
              <a:t>7. Debrief.</a:t>
            </a:r>
          </a:p>
          <a:p>
            <a:r>
              <a:t>Ask: "What did the leader do when the score was low?" "Which concern would have stayed hidden without ‘What else?’" "What felt unfamiliar about asking for a score?"</a:t>
            </a:r>
          </a:p>
          <a:p/>
          <a:p>
            <a:r>
              <a:t>8. Point to the Portfolio work.</a:t>
            </a:r>
          </a:p>
          <a:p>
            <a:r>
              <a:t>Say: "On the portal, in part 4.1, you prepare an Alignment Dialogue with your board chair on one of your own Key Results."</a:t>
            </a:r>
          </a:p>
          <a:p/>
          <a:p>
            <a:r>
              <a:t>Owner briefs for the example of part 4.1:</a:t>
            </a:r>
          </a:p>
          <a:p>
            <a:r>
              <a:t>Owner brief · example A: You give a 7. The outcome is clear to you. Your concern is that the billing team must answer customer queries on the same day, and nobody has agreed this with them. You move to a 9 when the leader agrees to establish that expectation with the Head of Billing.</a:t>
            </a:r>
          </a:p>
          <a:p>
            <a:r>
              <a:t>Owner brief · example B: You give a 5. You have two concerns. First, you do not know how “resolved” will be measured. Second, your team has three vacancies. Give only the first concern until the leader asks “What else?” You move to a 9 when success is defined and the two of you have agreed how the vacancies will be covered.</a:t>
            </a:r>
          </a:p>
          <a:p/>
          <a:p>
            <a:r>
              <a:t>Watch for:</a:t>
            </a:r>
          </a:p>
          <a:p>
            <a:r>
              <a:t>The leader defends the target or argues with the score. Stop the round and ask the leader to return to "What influenced the score you gave?"</a:t>
            </a:r>
          </a:p>
          <a:p>
            <a:r>
              <a:t>The leader offers solutions before asking for the owner’s options. Ask: "Whose idea was that?"</a:t>
            </a:r>
          </a:p>
          <a:p>
            <a:r>
              <a:t>The dialogue ends without the alignment question being asked again. Ask: "How do you know where the owner stands now?"</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PORTFOLIO WORK</a:t>
            </a:r>
          </a:p>
          <a:p/>
          <a:p>
            <a:r>
              <a:t>HOW TO USE THIS SLIDE:</a:t>
            </a:r>
          </a:p>
          <a:p/>
          <a:p>
            <a:r>
              <a:t>1. Explain the Portfolio work of part 4.1.</a:t>
            </a:r>
          </a:p>
          <a:p>
            <a:r>
              <a:t>Say: "In part 4.1 you prepare an Alignment Dialogue with your board chair, using the GROW model.</a:t>
            </a:r>
          </a:p>
          <a:p>
            <a:r>
              <a:t>You choose the Key Result for which you may need that dialogue.</a:t>
            </a:r>
          </a:p>
          <a:p>
            <a:r>
              <a:t>The scenario is on your page: your board chair has disagreed with the current metric and timeframe of that Key Result and gives a 5.</a:t>
            </a:r>
          </a:p>
          <a:p>
            <a:r>
              <a:t>You write your side of the dialogue under Goal, Reality, Options and Will, to move your chair to a 10."</a:t>
            </a:r>
          </a:p>
          <a:p/>
          <a:p>
            <a:r>
              <a:t>2. Say what the Portfolio work is for.</a:t>
            </a:r>
          </a:p>
          <a:p>
            <a:r>
              <a:t>The Portfolio work builds the learning portfolio participants receive at the end of the programme.</a:t>
            </a:r>
          </a:p>
          <a:p>
            <a:r>
              <a:t>Say: "You complete the Portfolio work on the portal after the teaching, with as much depth as you can."</a:t>
            </a:r>
          </a:p>
          <a:p/>
          <a:p>
            <a:r>
              <a:t>3. Set the standard.</a:t>
            </a:r>
          </a:p>
          <a:p>
            <a:r>
              <a:t>Say: "Write the questions you would ask in your own words. A question you would never say aloud does not belong in your dialogue."</a:t>
            </a:r>
          </a:p>
          <a:p>
            <a:r>
              <a:t>Watch for: answers that argue the case for the metric. Ask which GROW question comes first.</a:t>
            </a:r>
          </a:p>
          <a:p/>
          <a:p>
            <a:r>
              <a:t>4. Bridge to Section 5.</a:t>
            </a:r>
          </a:p>
          <a:p>
            <a:r>
              <a:t>Say: "You have practised the dialogue. In Section 5 your group establishes delivery expectations for two contributions from its Contribution Map, for the people and for the organisation."</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p>
            <a:r>
              <a:t>HOW THIS SECTION RUNS:</a:t>
            </a:r>
          </a:p>
          <a:p>
            <a:r>
              <a:t>This is group work and Capstone work. Section 5 has two exercises:</a:t>
            </a:r>
          </a:p>
          <a:p>
            <a:r>
              <a:t>5.1 · Building the Expectation Architecture. Each group selects two contributions from the Contribution Map it built in Unit 6 and takes each through the four steps, establishing a people performance expectation and the supporting expectations on organisational conditions.</a:t>
            </a:r>
          </a:p>
          <a:p>
            <a:r>
              <a:t>5.2 · Conducting the Alignment Dialogue with the Board Chair. Each group prepares the dialogue that moves its board chair to a 10 on one Key Result.</a:t>
            </a:r>
          </a:p>
          <a:p>
            <a:r>
              <a:t>The group agrees each entry and one member acts as scribe. Every member then types the agreed entries into their own page, in the session or after it.</a:t>
            </a:r>
          </a:p>
          <a:p>
            <a:r>
              <a:t>Each participant then reads the group’s record at the foot of the section and selects Confirm. The confirmed record feeds the team’s Capstone Blueprint.</a:t>
            </a:r>
          </a:p>
          <a:p/>
          <a:p>
            <a:r>
              <a:t>SECTION LEARNING OUTCOMES:</a:t>
            </a:r>
          </a:p>
          <a:p>
            <a:r>
              <a:t>1. Establish expectations for the contributions mapped in the Capstone.</a:t>
            </a:r>
          </a:p>
          <a:p>
            <a:r>
              <a:t>2. Record agreed commitments, organisational conditions and alignment actions in the Capstone Blueprint.</a:t>
            </a:r>
          </a:p>
          <a:p/>
          <a:p>
            <a:r>
              <a:t>HOW TO OPEN THE SECTION:</a:t>
            </a:r>
          </a:p>
          <a:p/>
          <a:p>
            <a:r>
              <a:t>1. Say what the section does.</a:t>
            </a:r>
          </a:p>
          <a:p>
            <a:r>
              <a:t>Say: "Section 5 has two exercises.</a:t>
            </a:r>
          </a:p>
          <a:p>
            <a:r>
              <a:t>In 5.1 your group builds the Expectation Architecture for two contributions from its Contribution Map, for the people and for the organisation.</a:t>
            </a:r>
          </a:p>
          <a:p>
            <a:r>
              <a:t>In 5.2 your group prepares the Alignment Dialogue with your board chair."</a:t>
            </a:r>
          </a:p>
          <a:p/>
          <a:p>
            <a:r>
              <a:t>2. Say how the group works.</a:t>
            </a:r>
          </a:p>
          <a:p>
            <a:r>
              <a:t>Say: "Both exercises are group work.</a:t>
            </a:r>
          </a:p>
          <a:p>
            <a:r>
              <a:t>Your group agrees each entry.</a:t>
            </a:r>
          </a:p>
          <a:p>
            <a:r>
              <a:t>One member acts as scribe.</a:t>
            </a:r>
          </a:p>
          <a:p>
            <a:r>
              <a:t>Every member then types the agreed entries into their own page, in the session or after it."</a:t>
            </a:r>
          </a:p>
          <a:p/>
          <a:p>
            <a:r>
              <a:t>3. Say where the work goes.</a:t>
            </a:r>
          </a:p>
          <a:p>
            <a:r>
              <a:t>Say: "This is Capstone work. You read your group’s record at the foot of the section and select Confirm. Your confirmed record feeds your team’s Capstone Blueprint."</a:t>
            </a:r>
          </a:p>
          <a:p>
            <a:r>
              <a:t>Your role in this section: Guide how the work is completed. The Capstone work is reviewed independently at graduation.</a:t>
            </a:r>
          </a:p>
          <a:p>
            <a:r>
              <a:t>Before the group starts: The drop-down lists of 5.1 hold the functions of the group’s Contribution Map (Unit 6, Section 5) and its Success in Practice statements (Unit 2). The list of 5.2 holds the Key Results of its Enterprise OKRs (Unit 3). Each group confirms them in those units first.</a:t>
            </a:r>
          </a:p>
          <a:p>
            <a:r>
              <a:t>A complete record: Every expectation has a clear enterprise line of sight, an accountable human owner, named leaders for the organisational conditions,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BUILDING THE EXPECTATION ARCHITECTURE (CAPSTONE WORK)</a:t>
            </a:r>
          </a:p>
          <a:p/>
          <a:p>
            <a:r>
              <a:t>HOW TO TEACH IT:</a:t>
            </a:r>
          </a:p>
          <a:p/>
          <a:p>
            <a:r>
              <a:t>1. Say what the group does.</a:t>
            </a:r>
          </a:p>
          <a:p>
            <a:r>
              <a:t>Say: "Each group selects two contributions from the Contribution Map it built in Unit 6 and takes each through the four steps. For each one you establish a people performance expectation and the supporting expectations on organisational conditions."</a:t>
            </a:r>
          </a:p>
          <a:p/>
          <a:p>
            <a:r>
              <a:t>2. Step 1 · Start With the Future.</a:t>
            </a:r>
          </a:p>
          <a:p>
            <a:r>
              <a:t>The lesson participants see: Step 1 · Start With the Future · Connect the expectation to the organisation’s Success in Practice (SiP) — so the individual understands why the outcome matters. When expectations begin with the Future, individuals understand the contribution their work makes to the broader direction.</a:t>
            </a:r>
          </a:p>
          <a:p>
            <a:r>
              <a:t>Say: "From the first drop-down list, choose two contributions. The list holds the functions your group mapped in Unit 6 for its enterprise Key Result.</a:t>
            </a:r>
          </a:p>
          <a:p>
            <a:r>
              <a:t>For each contribution, choose the Success in Practice statement it serves.</a:t>
            </a:r>
          </a:p>
          <a:p>
            <a:r>
              <a:t>Name the owner of each contribution: the role that must make sure it is delivered.</a:t>
            </a:r>
          </a:p>
          <a:p>
            <a:r>
              <a:t>For each contribution, write the part of that Future it serves.</a:t>
            </a:r>
          </a:p>
          <a:p>
            <a:r>
              <a:t>Write the leader framing: the sentence that you, as the leader, say to the owner to connect the contribution to that Future."</a:t>
            </a:r>
          </a:p>
          <a:p>
            <a:r>
              <a:t>The first list holds the functions of the group's Unit 6 Contribution Map, with the enterprise Key Result they serve. The second holds the Success in Practice statements the group confirmed in Unit 2.</a:t>
            </a:r>
          </a:p>
          <a:p/>
          <a:p>
            <a:r>
              <a:t>3. Step 2 · Clarify the Delivery Expectation.</a:t>
            </a:r>
          </a:p>
          <a:p>
            <a:r>
              <a:t>The lesson participants see: From part 1.2 · Clarity in people performance · Strategic contribution, performance expectations, performance standard, behavioural expectations and evidence. From part 1.2 · Clarity in organisational performance · What the Environment, Systems, Resources and Governance must provide for the contribution to be delivered.</a:t>
            </a:r>
          </a:p>
          <a:p>
            <a:r>
              <a:t>Say: "Read what your Contribution Map holds for each contribution.</a:t>
            </a:r>
          </a:p>
          <a:p>
            <a:r>
              <a:t>For the people, state what must be delivered, by when, to what standard, how success will be recognised and the behaviours expected.</a:t>
            </a:r>
          </a:p>
          <a:p>
            <a:r>
              <a:t>For the organisation, state what the organisational conditions (environment, systems, resources and governance) must provide, and name the leader responsible for each condition."</a:t>
            </a:r>
          </a:p>
          <a:p>
            <a:r>
              <a:t>This is part 1.2 at work: Clarity in people performance and Clarity in organisational performance.</a:t>
            </a:r>
          </a:p>
          <a:p/>
          <a:p>
            <a:r>
              <a:t>4. Step 3 · Identify the Expectations Chain.</a:t>
            </a:r>
          </a:p>
          <a:p>
            <a:r>
              <a:t>The lesson participants see: From part 1.3 · Upline · Those who authorise, resource or enable delivery: decisions, support, approvals and removal of constraints. From part 1.3 · Downline · Those who perform the work: results, standards, behaviours and evidence of performance. From part 1.3 · Crossline · Those whose contributions are interdependent: handovers, coordination, shared responsibilities and delivery commitments.</a:t>
            </a:r>
          </a:p>
          <a:p>
            <a:r>
              <a:t>Say: "For each contribution, name the Upline and state what must be established with them.</a:t>
            </a:r>
          </a:p>
          <a:p>
            <a:r>
              <a:t>Name the Downline and state what must be established with them.</a:t>
            </a:r>
          </a:p>
          <a:p>
            <a:r>
              <a:t>Name the Crossline and state what must be established with them.</a:t>
            </a:r>
          </a:p>
          <a:p>
            <a:r>
              <a:t>State the coordination these contributors require."</a:t>
            </a:r>
          </a:p>
          <a:p/>
          <a:p>
            <a:r>
              <a:t>5. Step 4 · Confirm Ownership.</a:t>
            </a:r>
          </a:p>
          <a:p>
            <a:r>
              <a:t>The lesson participants see: The alignment question · “On a scale of 1–10, how aligned are you with the expectation for you to deliver this outcome?” From part 1.4 · A score of 9 or 10: proceed and confirm the commitment. Below 9: Score → Evaluate → Resolve, with the GROW questions (Goal, Reality, Options, Will). Agree a resolution owner and review date for each constraint. Then ask the alignment question again.</a:t>
            </a:r>
          </a:p>
          <a:p>
            <a:r>
              <a:t>Say: "Agree which of you speaks as the leader and which of you answers as the owner of the contribution.</a:t>
            </a:r>
          </a:p>
          <a:p>
            <a:r>
              <a:t>As the leader, ask the alignment question. Record the owner’s score.</a:t>
            </a:r>
          </a:p>
          <a:p>
            <a:r>
              <a:t>Where the score is below 9, ask the GROW questions of part 1.4. Record what stands behind the score, the actions agreed with their owners and review dates, and the revised score.</a:t>
            </a:r>
          </a:p>
          <a:p>
            <a:r>
              <a:t>Where the first score is 9 or 10, the three boxes below it stay empty."</a:t>
            </a:r>
          </a:p>
          <a:p/>
          <a:p>
            <a:r>
              <a:t>ON THE PORTAL, AFTER THE TEACHING:</a:t>
            </a:r>
          </a:p>
          <a:p>
            <a:r>
              <a:t>Participants work as a group in part 5.1 of their own file. This is Capstone work. The group agrees each entry and one member acts as scribe. Every member then types the agreed entries into their own page, in the session or after it.</a:t>
            </a:r>
          </a:p>
          <a:p>
            <a:r>
              <a:t>Step 1: For each of the two contributions, two drop-down lists: the contribution (a function of the group’s Unit 6 Contribution Map, shown with its enterprise Key Result) · the Success in Practice statement it serves (Unit 2). Three boxes: Owner of the contribution · The part of that Future it serves · Leader framing.</a:t>
            </a:r>
          </a:p>
          <a:p>
            <a:r>
              <a:t>Step 2: For each of the two contributions, the Contribution Map entries shown for reading. For the people, five boxes: What must be delivered · By when · To what standard · How success will be recognised · The behaviours expected. For the organisation, four boxes: Environment · Systems · Resources · Governance, each with what must be provided and who owns it.</a:t>
            </a:r>
          </a:p>
          <a:p>
            <a:r>
              <a:t>Step 3: For each of the two contributions, two boxes for each direction (Upline, Downline, Crossline): who they are · what must be established with them. One box: Coordination required across these contributors.</a:t>
            </a:r>
          </a:p>
          <a:p>
            <a:r>
              <a:t>Step 4: For each of the two contributions: Alignment score (1 to 10). Where the score is below 9, three boxes: What stands behind the score · Actions agreed to reach a 9 or 10, with an owner and a review date for each · Revised alignment score.</a:t>
            </a:r>
          </a:p>
          <a:p>
            <a:r>
              <a:t>A complete record: Every expectation has a clear enterprise line of sight, an accountable human owner, named leaders for the organisational conditions,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1 REFLECTIONS · 1.1 AND 1.2</a:t>
            </a:r>
          </a:p>
          <a:p/>
          <a:p>
            <a:r>
              <a:t>HOW TO USE THIS SLIDE:</a:t>
            </a:r>
          </a:p>
          <a:p/>
          <a:p>
            <a:r>
              <a:t>1. Show the slide and read each prompt aloud.</a:t>
            </a:r>
          </a:p>
          <a:p>
            <a:r>
              <a:t>1.1 Reflection — Your Honest Assessment: "Think of the last time you communicated a delivery expectation. Was it set or established? How do you know?"</a:t>
            </a:r>
          </a:p>
          <a:p>
            <a:r>
              <a:t>1.2 Reflection — Which Condition Is Most Often Missing?: "In your current role, which of the three conditions do you most consistently confirm — and which do you most often assume?"</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one real expectation and one condition, with the person concerned."</a:t>
            </a:r>
          </a:p>
          <a:p/>
          <a:p>
            <a:r>
              <a:t>4. Continue with the second reflection slide of Section 1.</a:t>
            </a:r>
          </a:p>
          <a:p/>
          <a:p>
            <a:r>
              <a:t>ON THE PORTAL, AFTER THE TEACHING:</a:t>
            </a:r>
          </a:p>
          <a:p>
            <a:r>
              <a:t>Participants write these reflections in Section 1 of the participant file, at the foot of parts 1.1 and 1.2.</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CONDUCTING THE ALIGNMENT DIALOGUE WITH THE BOARD CHAIR (CAPSTONE WORK)</a:t>
            </a:r>
          </a:p>
          <a:p>
            <a:endParaRPr lang="en-GB" dirty="0"/>
          </a:p>
          <a:p>
            <a:r>
              <a:rPr lang="en-GB" b="1" dirty="0"/>
              <a:t>HOW TO TEACH IT:</a:t>
            </a:r>
          </a:p>
          <a:p>
            <a:endParaRPr lang="en-GB" dirty="0"/>
          </a:p>
          <a:p>
            <a:r>
              <a:rPr lang="en-GB" b="1" dirty="0"/>
              <a:t>1. Link it to part 4.1.</a:t>
            </a:r>
          </a:p>
          <a:p>
            <a:r>
              <a:rPr lang="en-GB" dirty="0"/>
              <a:t>Say: "In part 4.1 you prepared this dialogue on your own. Here your group prepares it together, and the agreed dialogue goes into your team’s Capstone Blueprint."</a:t>
            </a:r>
          </a:p>
          <a:p>
            <a:endParaRPr lang="en-GB" dirty="0"/>
          </a:p>
          <a:p>
            <a:r>
              <a:rPr lang="en-GB" b="1" dirty="0"/>
              <a:t>2. Give the scenario.</a:t>
            </a:r>
          </a:p>
          <a:p>
            <a:r>
              <a:rPr lang="en-GB" dirty="0"/>
              <a:t>Say: "Your board chair has disagreed with the current metric and timeframe of the Key Result you have chosen. You ask the alignment question: ‘On a scale of 1–10, how aligned are you with this Key Result as it stands?’ Your chair gives a 5. Your aim is to move your chair to a 10."</a:t>
            </a:r>
          </a:p>
          <a:p>
            <a:endParaRPr lang="en-GB" dirty="0"/>
          </a:p>
          <a:p>
            <a:r>
              <a:rPr lang="en-GB" b="1" dirty="0"/>
              <a:t>3. Say what the group writes.</a:t>
            </a:r>
          </a:p>
          <a:p>
            <a:r>
              <a:rPr lang="en-GB" dirty="0"/>
              <a:t>Say: "Choose from the drop-down list the Key Result for which your group may need an alignment dialogue with your board chair.</a:t>
            </a:r>
          </a:p>
          <a:p>
            <a:r>
              <a:rPr lang="en-GB" dirty="0"/>
              <a:t>Agree your side of the dialogue under each GROW stage: Goal, Reality, Options and Will. Write the questions you ask in your own words. The lesson from part 1.4 sits above each box.</a:t>
            </a:r>
          </a:p>
          <a:p>
            <a:r>
              <a:rPr lang="en-GB" dirty="0"/>
              <a:t>Under Will, state what you and your chair agree to do and how you confirm that your chair has reached a 10."</a:t>
            </a:r>
          </a:p>
          <a:p>
            <a:endParaRPr lang="en-GB" dirty="0"/>
          </a:p>
          <a:p>
            <a:r>
              <a:rPr lang="en-GB" b="1" dirty="0"/>
              <a:t>4. Say where the work goes.</a:t>
            </a:r>
          </a:p>
          <a:p>
            <a:r>
              <a:rPr lang="en-GB" dirty="0"/>
              <a:t>Say: "You read your group’s record at the foot of the section and select Confirm. Your confirmed record feeds your team’s Capstone Blueprint."</a:t>
            </a:r>
          </a:p>
          <a:p>
            <a:endParaRPr lang="en-GB" dirty="0"/>
          </a:p>
          <a:p>
            <a:r>
              <a:rPr lang="en-GB" b="1" dirty="0"/>
              <a:t>ON THE PORTAL, AFTER THE TEACHING:</a:t>
            </a:r>
          </a:p>
          <a:p>
            <a:r>
              <a:rPr lang="en-GB" dirty="0"/>
              <a:t>Participants work as a group in part 5.2 of their own file. This is Capstone work. The group agrees each entry and one member acts as scribe. Every member then types the agreed entries into their own page, in the session or after it.</a:t>
            </a:r>
          </a:p>
          <a:p>
            <a:r>
              <a:rPr lang="en-GB" dirty="0"/>
              <a:t>One drop-down list: the Key Result for which the group may need an alignment dialogue with the board chair.</a:t>
            </a:r>
          </a:p>
          <a:p>
            <a:r>
              <a:rPr lang="en-GB" dirty="0"/>
              <a:t>Four boxes, one for each GROW stage: Goal · Reality · Options · Will. The lesson from part 1.4 sits above each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2 REFLECTIONS</a:t>
            </a:r>
          </a:p>
          <a:p/>
          <a:p>
            <a:r>
              <a:t>HOW TO USE THIS SLIDE:</a:t>
            </a:r>
          </a:p>
          <a:p/>
          <a:p>
            <a:r>
              <a:t>1. Show the slide and read each prompt aloud.</a:t>
            </a:r>
          </a:p>
          <a:p>
            <a:r>
              <a:t>2.1 Reflection — Your Team Right Now: "When your team hits an unexpected obstacle, what happens first — do they solve it, or do they escalate it? What does the answer tell you about the execution dynamic you have created?"</a:t>
            </a:r>
          </a:p>
          <a:p>
            <a:r>
              <a:t>2.2 Reflection — Your Most Absent Mechanism: "Which of the five mechanisms is most absent in your current execution environment? What is the cost of that absence right now?"</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what your team does first, and the cost of the absent mechanism today."</a:t>
            </a:r>
          </a:p>
          <a:p/>
          <a:p>
            <a:r>
              <a:t>4. Bridge to Section 3.</a:t>
            </a:r>
          </a:p>
          <a:p/>
          <a:p>
            <a:r>
              <a:t>ON THE PORTAL, AFTER THE TEACHING:</a:t>
            </a:r>
          </a:p>
          <a:p>
            <a:r>
              <a:t>Participants write these reflections in Section 2 of the participant file, at the foot of parts 2.1 and 2.2.</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11.png"/><Relationship Id="rId6"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32.png"/><Relationship Id="rId4" Type="http://schemas.openxmlformats.org/officeDocument/2006/relationships/image" Target="../media/image37.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2.png"/><Relationship Id="rId4" Type="http://schemas.openxmlformats.org/officeDocument/2006/relationships/image" Target="../media/image39.png"/><Relationship Id="rId5"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32.png"/><Relationship Id="rId4" Type="http://schemas.openxmlformats.org/officeDocument/2006/relationships/image" Target="../media/image41.png"/><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Turning delivery goals into genuine ownership across people performance and organisational performance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performance expectations linked to enterprise outcomes and mapped contributions.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clarity, capability and commitment across people performance and organisational performance.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Identify cross-functional dependencies and agree accountability for enabling conditions.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Demonstrate shared ownership and mutual accountability for agreed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setting expectations from establishing shared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human commitments and organisational conditions that require agreement.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Everyone understands what is expected and why it matters.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people and the organisation can realistically deliver.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Those responsible consciously accept delivering and enabling.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Crossline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Whose contributions must connect with this one?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9–10  </a:t>
            </a: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7–8  </a:t>
            </a: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5–6  </a:t>
            </a: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Below 5  </a:t>
            </a: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GROW coaching model</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the leader aims to achieve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is true today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be done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will be done, and by whom</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Align expectations so that commitment holds through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the performance consequences of unclear people and organisational expectations.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Five mechanisms – Turning expectations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a:t>
            </a: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a:t>
            </a: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a:t>
            </a: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a:t>
            </a: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  </a:t>
            </a: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leadership tendencies that weaken expectation alignment.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Locate ownership gaps across contribution relationships and enabling conditions.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pic>
        <p:nvPicPr>
          <p:cNvPr id="24" name="Picture 23">
            <a:extLst>
              <a:ext uri="{FF2B5EF4-FFF2-40B4-BE49-F238E27FC236}">
                <a16:creationId xmlns:a16="http://schemas.microsoft.com/office/drawing/2014/main" id="{42438BEB-ED7C-2E1B-C878-C2D3A3BA0325}"/>
              </a:ext>
            </a:extLst>
          </p:cNvPr>
          <p:cNvPicPr>
            <a:picLocks noChangeAspect="1"/>
          </p:cNvPicPr>
          <p:nvPr/>
        </p:nvPicPr>
        <p:blipFill>
          <a:blip r:embed="rId3"/>
          <a:stretch>
            <a:fillRect/>
          </a:stretch>
        </p:blipFill>
        <p:spPr>
          <a:xfrm>
            <a:off x="1178741" y="1385499"/>
            <a:ext cx="9804037" cy="551770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7EB560-DC27-2EC2-0AF5-9389E36945B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 REFLECTION — YOUR EXPECTATION GAP. Based on your role exploration: what is the most important expectation you have set but not yet established? Who in your chain needs that alignment dialogue?"/>
          <p:cNvPicPr>
            <a:picLocks noChangeAspect="1"/>
          </p:cNvPicPr>
          <p:nvPr/>
        </p:nvPicPr>
        <p:blipFill>
          <a:blip r:embed="rId3"/>
          <a:stretch>
            <a:fillRect/>
          </a:stretch>
        </p:blipFill>
        <p:spPr>
          <a:xfrm>
            <a:off x="1691640" y="1572768"/>
            <a:ext cx="9921240" cy="1392953"/>
          </a:xfrm>
          <a:prstGeom prst="rect">
            <a:avLst/>
          </a:prstGeom>
        </p:spPr>
      </p:pic>
      <p:sp>
        <p:nvSpPr>
          <p:cNvPr id="4" name="Part 3.1"/>
          <p:cNvSpPr/>
          <p:nvPr/>
        </p:nvSpPr>
        <p:spPr>
          <a:xfrm>
            <a:off x="548640" y="183490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extLst>
      <p:ext uri="{BB962C8B-B14F-4D97-AF65-F5344CB8AC3E}">
        <p14:creationId xmlns:p14="http://schemas.microsoft.com/office/powerpoint/2010/main" val="14303869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Coach individuals from partial alignment to genuine commitment.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Demonstrate an alignment dialogue covering commitments and dependencies on organisational conditions.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Practising the Alignment Dialogue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Set up  </a:t>
            </a:r>
            <a:r>
              <a:rPr lang="en-US" sz="2600" dirty="0">
                <a:solidFill>
                  <a:srgbClr val="1F2A22"/>
                </a:solidFill>
                <a:latin typeface="Calibri" pitchFamily="34" charset="0"/>
                <a:ea typeface="Calibri" pitchFamily="34" charset="-122"/>
                <a:cs typeface="Calibri" pitchFamily="34" charset="-120"/>
              </a:rPr>
              <a:t>one expectation, a leader and an owner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Demonstrate  </a:t>
            </a:r>
            <a:r>
              <a:rPr lang="en-US" sz="2600" dirty="0">
                <a:solidFill>
                  <a:srgbClr val="1F2A22"/>
                </a:solidFill>
                <a:latin typeface="Calibri" pitchFamily="34" charset="0"/>
                <a:ea typeface="Calibri" pitchFamily="34" charset="-122"/>
                <a:cs typeface="Calibri" pitchFamily="34" charset="-120"/>
              </a:rPr>
              <a:t>the facilitator plays the leader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Practise  </a:t>
            </a:r>
            <a:r>
              <a:rPr lang="en-US" sz="2600" dirty="0">
                <a:solidFill>
                  <a:srgbClr val="1F2A22"/>
                </a:solidFill>
                <a:latin typeface="Calibri" pitchFamily="34" charset="0"/>
                <a:ea typeface="Calibri" pitchFamily="34" charset="-122"/>
                <a:cs typeface="Calibri" pitchFamily="34" charset="-120"/>
              </a:rPr>
              <a:t>participants lead, in the roles chosen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Debrief  </a:t>
            </a:r>
            <a:r>
              <a:rPr lang="en-US" sz="2600" dirty="0">
                <a:solidFill>
                  <a:srgbClr val="1F2A22"/>
                </a:solidFill>
                <a:latin typeface="Calibri" pitchFamily="34" charset="0"/>
                <a:ea typeface="Calibri" pitchFamily="34" charset="-122"/>
                <a:cs typeface="Calibri" pitchFamily="34" charset="-120"/>
              </a:rPr>
              <a:t>which question moved the score</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 Portfolio work</a:t>
            </a:r>
            <a:endParaRPr lang="en-US" sz="3600" dirty="0"/>
          </a:p>
        </p:txBody>
      </p:sp>
      <p:pic>
        <p:nvPicPr>
          <p:cNvPr id="7" name="Reflection 4.2" descr="PORTFOLIO WORK · HOW TO COMPLETE THE ALIGNMENT DIALOGUE."/>
          <p:cNvPicPr>
            <a:picLocks noChangeAspect="1"/>
          </p:cNvPicPr>
          <p:nvPr/>
        </p:nvPicPr>
        <p:blipFill>
          <a:blip r:embed="rId5"/>
          <a:stretch>
            <a:fillRect/>
          </a:stretch>
        </p:blipFill>
        <p:spPr>
          <a:xfrm>
            <a:off x="1691640" y="2917198"/>
            <a:ext cx="9921240" cy="2530058"/>
          </a:xfrm>
          <a:prstGeom prst="rect">
            <a:avLst/>
          </a:prstGeom>
        </p:spPr>
      </p:pic>
      <p:sp>
        <p:nvSpPr>
          <p:cNvPr id="6" name="Part 4.2"/>
          <p:cNvSpPr/>
          <p:nvPr/>
        </p:nvSpPr>
        <p:spPr>
          <a:xfrm>
            <a:off x="548640" y="32143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expectations for the contributions mapped in the Capstone.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Record agreed commitments, organisational conditions and alignment actions in the Capstone Blueprint.</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Building the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the Future and the leader framing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  for the people and for the organisation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  Upline, Downline and Crossline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the score and what resolves it</a:t>
            </a:r>
            <a:endParaRPr lang="en-US" sz="2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The Alignment Dialogue with the Board Chair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a 10 looks like for your chair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stands behind your chair’s score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resolve the metric and the timeframe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you and your chair agree to do</a:t>
            </a:r>
            <a:endParaRPr lang="en-US" sz="2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and 1.2</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094463"/>
          </a:xfrm>
          <a:prstGeom prst="rect">
            <a:avLst/>
          </a:prstGeom>
        </p:spPr>
      </p:pic>
      <p:sp>
        <p:nvSpPr>
          <p:cNvPr id="4" name="Part 1.1"/>
          <p:cNvSpPr/>
          <p:nvPr/>
        </p:nvSpPr>
        <p:spPr>
          <a:xfrm>
            <a:off x="548640" y="15759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sp>
        <p:nvSpPr>
          <p:cNvPr id="4" name="Part 1.2"/>
          <p:cNvSpPr/>
          <p:nvPr/>
        </p:nvSpPr>
        <p:spPr>
          <a:xfrm>
            <a:off x="548640" y="309039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6" name="Reflection 1.2" descr="image.png"/>
          <p:cNvPicPr>
            <a:picLocks noChangeAspect="1"/>
          </p:cNvPicPr>
          <p:nvPr/>
        </p:nvPicPr>
        <p:blipFill>
          <a:blip r:embed="rId4"/>
          <a:stretch>
            <a:fillRect/>
          </a:stretch>
        </p:blipFill>
        <p:spPr>
          <a:xfrm>
            <a:off x="1691640" y="2977503"/>
            <a:ext cx="9921240" cy="1094463"/>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 and 1.4</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435594"/>
          </a:xfrm>
          <a:prstGeom prst="rect">
            <a:avLst/>
          </a:prstGeom>
        </p:spPr>
      </p:pic>
      <p:sp>
        <p:nvSpPr>
          <p:cNvPr id="4" name="Part 1.3"/>
          <p:cNvSpPr/>
          <p:nvPr/>
        </p:nvSpPr>
        <p:spPr>
          <a:xfrm>
            <a:off x="548640" y="174649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
        <p:nvSpPr>
          <p:cNvPr id="4" name="Part 1.4"/>
          <p:cNvSpPr/>
          <p:nvPr/>
        </p:nvSpPr>
        <p:spPr>
          <a:xfrm>
            <a:off x="548640" y="34315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pic>
        <p:nvPicPr>
          <p:cNvPr id="6" name="Reflection 1.4" descr="image.png"/>
          <p:cNvPicPr>
            <a:picLocks noChangeAspect="1"/>
          </p:cNvPicPr>
          <p:nvPr/>
        </p:nvPicPr>
        <p:blipFill>
          <a:blip r:embed="rId4"/>
          <a:stretch>
            <a:fillRect/>
          </a:stretch>
        </p:blipFill>
        <p:spPr>
          <a:xfrm>
            <a:off x="1691640" y="3318634"/>
            <a:ext cx="9921240" cy="1094463"/>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435594"/>
          </a:xfrm>
          <a:prstGeom prst="rect">
            <a:avLst/>
          </a:prstGeom>
        </p:spPr>
      </p:pic>
      <p:sp>
        <p:nvSpPr>
          <p:cNvPr id="4" name="Part 2.1"/>
          <p:cNvSpPr/>
          <p:nvPr/>
        </p:nvSpPr>
        <p:spPr>
          <a:xfrm>
            <a:off x="548640" y="174649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
        <p:nvSpPr>
          <p:cNvPr id="4" name="Part 2.2"/>
          <p:cNvSpPr/>
          <p:nvPr/>
        </p:nvSpPr>
        <p:spPr>
          <a:xfrm>
            <a:off x="548640" y="34315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6" name="Reflection 2.2" descr="image.png"/>
          <p:cNvPicPr>
            <a:picLocks noChangeAspect="1"/>
          </p:cNvPicPr>
          <p:nvPr/>
        </p:nvPicPr>
        <p:blipFill>
          <a:blip r:embed="rId4"/>
          <a:stretch>
            <a:fillRect/>
          </a:stretch>
        </p:blipFill>
        <p:spPr>
          <a:xfrm>
            <a:off x="1691640" y="3318634"/>
            <a:ext cx="9921240" cy="109446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10827</Words>
  <Application>Microsoft Office PowerPoint</Application>
  <PresentationFormat>Widescreen</PresentationFormat>
  <Paragraphs>645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Carol Lupiya</cp:lastModifiedBy>
  <cp:revision>5</cp:revision>
  <dcterms:created xsi:type="dcterms:W3CDTF">2026-09-29T13:20:34Z</dcterms:created>
  <dcterms:modified xsi:type="dcterms:W3CDTF">2026-10-11T10:56:44Z</dcterms:modified>
</cp:coreProperties>
</file>