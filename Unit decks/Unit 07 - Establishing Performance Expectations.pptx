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72" r:id="rId10"/>
    <p:sldId id="279" r:id="rId11"/>
    <p:sldId id="283" r:id="rId25"/>
    <p:sldId id="284" r:id="rId20"/>
    <p:sldId id="264" r:id="rId12"/>
    <p:sldId id="265" r:id="rId13"/>
    <p:sldId id="266" r:id="rId14"/>
    <p:sldId id="267" r:id="rId15"/>
    <p:sldId id="285" r:id="rId32"/>
    <p:sldId id="268" r:id="rId16"/>
    <p:sldId id="269" r:id="rId17"/>
    <p:sldId id="278" r:id="rId18"/>
    <p:sldId id="270" r:id="rId19"/>
    <p:sldId id="280" r:id="rId21"/>
    <p:sldId id="273" r:id="rId22"/>
    <p:sldId id="274" r:id="rId23"/>
    <p:sldId id="281" r:id="rId24"/>
    <p:sldId id="282"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531" autoAdjust="0"/>
  </p:normalViewPr>
  <p:slideViewPr>
    <p:cSldViewPr snapToGrid="0" snapToObjects="1">
      <p:cViewPr varScale="1">
        <p:scale>
          <a:sx n="48" d="100"/>
          <a:sy n="48" d="100"/>
        </p:scale>
        <p:origin x="1142" y="24"/>
      </p:cViewPr>
      <p:guideLst/>
    </p:cSldViewPr>
  </p:slideViewPr>
  <p:notesTextViewPr>
    <p:cViewPr>
      <p:scale>
        <a:sx n="1" d="1"/>
        <a:sy n="1" d="1"/>
      </p:scale>
      <p:origin x="0" y="-29"/>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1.xml"/><Relationship Id="rId20" Type="http://schemas.openxmlformats.org/officeDocument/2006/relationships/slide" Target="slides/slide12.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11.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6.xml"/><Relationship Id="rId32"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13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UNIT 7 · ESTABLISHING PERFORMANCE EXPECTATIONS</a:t>
            </a:r>
          </a:p>
          <a:p>
            <a:r>
              <a:t>Module 3 · Influence · Unit 7</a:t>
            </a:r>
          </a:p>
          <a:p/>
          <a:p>
            <a:r>
              <a:rPr b="1"/>
              <a:t>UNIT INTENT:</a:t>
            </a:r>
          </a:p>
          <a:p>
            <a:r>
              <a:t>Unit 7 addresses the single most common reason strategy fails at the human level: expectations are communicated but never truly established. The distinction is subtle in language and profound in execution impact. The unit moves leaders from announcing targets to securing genuine ownership. It equips leaders to close the gap between a well-designed performance management system and genuine human commitment to deliver it.</a:t>
            </a:r>
          </a:p>
          <a:p>
            <a:r>
              <a:t>It builds on the S2R® Contribution Map™ and FACES of Unit 6. The expectation conversation covers both performance views: the human commitments people make, and the organisational conditions the organisation provides.</a:t>
            </a:r>
          </a:p>
          <a:p/>
          <a:p>
            <a:r>
              <a:rPr b="1"/>
              <a:t>WHERE THE UNIT SITS:</a:t>
            </a:r>
          </a:p>
          <a:p>
            <a:r>
              <a:t>Module 3 · Influence mobilises the people and performance systems through which strategy is carried into execution. The learning journey runs from Unit 5 — Aligning Heart &amp; Mind (people alignment), to Unit 6 — Performance Management Setup (performance architecture), Unit 7 — Establishing Performance Expectations (owned commitments), Unit 8 — Performance Measurement (review discipline) and Unit 9 — Strategic Unclogging (flow of execution).</a:t>
            </a:r>
          </a:p>
          <a:p/>
          <a:p>
            <a:r>
              <a:rPr b="1"/>
              <a:t>HOW THE UNIT RUNS:</a:t>
            </a:r>
          </a:p>
          <a:p>
            <a:r>
              <a:t>1. You teach the whole unit from this deck first, from Section 1 to the last slide of Section 5. The deck is the teaching material.</a:t>
            </a:r>
          </a:p>
          <a:p>
            <a:r>
              <a:t>2. Part 4.1 includes a role play that you run in class. Nothing is entered on the portal during the role play.</a:t>
            </a:r>
          </a:p>
          <a:p>
            <a:r>
              <a:t>3. Participants then complete their own page on the portal, in the session or after it: the reflections of Sections 1 to 3, the Portfolio work of part 4.1 and the group work of Section 5.</a:t>
            </a:r>
          </a:p>
          <a:p>
            <a:r>
              <a:t>4. Section 5 is group work and Capstone work. Each group chooses its scribe for this work; the scribe types what the group agrees, and the entries appear on every member's page. Each member then selects Agree.</a:t>
            </a:r>
          </a:p>
          <a:p/>
          <a:p>
            <a:r>
              <a:rPr b="1"/>
              <a:t>HOW TO OPEN THE UNIT:</a:t>
            </a:r>
          </a:p>
          <a:p/>
          <a:p>
            <a:r>
              <a:rPr b="1"/>
              <a:t>1. Connect to Unit 6.</a:t>
            </a:r>
          </a:p>
          <a:p>
            <a:r>
              <a:t>Say: "In Unit 6 you built the performance architecture: the Contribution Map, FACES and the WARD check-up. The performance management and accountability frameworks are in place. The delivery goals have been defined. The targets have been set."</a:t>
            </a:r>
          </a:p>
          <a:p/>
          <a:p>
            <a:r>
              <a:rPr b="1"/>
              <a:t>2. Ask the opening question, and let the silence sit.</a:t>
            </a:r>
          </a:p>
          <a:p>
            <a:r>
              <a:t>Ask: "If you distributed your team's scorecard right now, without conversation, without context, how many of them would genuinely own those targets?"</a:t>
            </a:r>
          </a:p>
          <a:p>
            <a:r>
              <a:t>Most leaders realise their answer is "fewer than I thought". That discomfort is the entry point for the rest of the unit.</a:t>
            </a:r>
          </a:p>
          <a:p/>
          <a:p>
            <a:r>
              <a:rPr b="1"/>
              <a:t>3. Name what the unit does.</a:t>
            </a:r>
          </a:p>
          <a:p>
            <a:r>
              <a:t>Say: "Agreeing with a target and understanding it is one thing. Owning it, with confidence, commitment and a clear sense of personal accountability, is the test. This unit is about the conversation that turns a target into a commitment, for the people who deliver it and for the leaders who must enable it."</a:t>
            </a:r>
          </a:p>
          <a:p/>
          <a:p>
            <a:r>
              <a:rPr b="1"/>
              <a:t>WHERE THE OUTPUTS GO:</a:t>
            </a:r>
          </a:p>
          <a:p>
            <a:r>
              <a:t>When every member has agreed, the Section 5 record feeds boxes 7A to 7E of the team's Capstone S2R® Blueprint.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KEY LEARNING OUTCOMES</a:t>
            </a:r>
          </a:p>
          <a:p/>
          <a:p>
            <a:r>
              <a:rPr b="1"/>
              <a:t>HOW TO USE THIS SLIDE:</a:t>
            </a:r>
          </a:p>
          <a:p/>
          <a:p>
            <a:r>
              <a:rPr b="1"/>
              <a:t>1. Read the four outcomes aloud.</a:t>
            </a:r>
          </a:p>
          <a:p>
            <a:r>
              <a:t>1. Establish jointly owned performance expectations linked to enterprise outcomes and mapped contributions.</a:t>
            </a:r>
          </a:p>
          <a:p>
            <a:r>
              <a:t>2. Validate clarity, capability and commitment across human contributions and organisational conditions.</a:t>
            </a:r>
          </a:p>
          <a:p>
            <a:r>
              <a:t>3. Negotiate accountability for cross-functional dependencies and enabling conditions.</a:t>
            </a:r>
          </a:p>
          <a:p>
            <a:r>
              <a:t>4. Build mutual accountability and shared ownership for agreed performance results.</a:t>
            </a:r>
          </a:p>
          <a:p/>
          <a:p>
            <a:r>
              <a:rPr b="1"/>
              <a:t>2. Say where the unit delivers each one.</a:t>
            </a:r>
          </a:p>
          <a:p>
            <a:r>
              <a:t>Outcome 1 is taught in 1.1 and applied in Section 5, where each group establishes expectations for two contributions from its Contribution Map.</a:t>
            </a:r>
          </a:p>
          <a:p>
            <a:r>
              <a:t>Outcome 2 is taught in 1.2, the three conditions of Clarity, Capability and Commitment, for people performance and organisational performance.</a:t>
            </a:r>
          </a:p>
          <a:p>
            <a:r>
              <a:t>Outcome 3 is taught in 1.3, the Expectations Chain, and examined role by role in Section 3.</a:t>
            </a:r>
          </a:p>
          <a:p>
            <a:r>
              <a:t>Outcome 4 is taught in 1.4, the Alignment Dialogue, and practised in the role play of 4.1 and in the dialogue with the board chair in 5.2.</a:t>
            </a:r>
          </a:p>
          <a:p/>
          <a:p>
            <a:r>
              <a:rPr b="1"/>
              <a:t>3. Ask, now that the outcomes are read.</a:t>
            </a:r>
          </a:p>
          <a:p>
            <a:r>
              <a:t>Ask: "Which of these four outcomes would make the largest difference to how your leadership team works today?"</a:t>
            </a:r>
          </a:p>
          <a:p>
            <a:r>
              <a:t>Take two or three answers. They tell you where the room expects the most from the unit.</a:t>
            </a:r>
          </a:p>
          <a:p/>
          <a:p>
            <a:r>
              <a:t>Each section slide carries that section's two learning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FACILITATOR GUIDE · SESSION OVERVIEW</a:t>
            </a:r>
          </a:p>
          <a:p/>
          <a:p>
            <a:r>
              <a:rPr b="1"/>
              <a:t>HOW TO USE THIS SLIDE:</a:t>
            </a:r>
          </a:p>
          <a:p>
            <a:r>
              <a:rPr b="1"/>
              <a:t>1. Walk the five sections in one sentence each, using the list below.</a:t>
            </a:r>
          </a:p>
          <a:p>
            <a:r>
              <a:t>2. Say that Sections 1 to 3 build the thinking, Section 4 practises the Alignment Dialogue, and Section 5 applies it to the group's own strategy.</a:t>
            </a:r>
          </a:p>
          <a:p>
            <a:r>
              <a:t>3. Tell participants how the unit runs: you teach all five sections from the deck first, and they then complete the unit on the portal, in the session or after it.</a:t>
            </a:r>
          </a:p>
          <a:p/>
          <a:p>
            <a:r>
              <a:rPr b="1"/>
              <a:t>THE FIVE SECTIONS:</a:t>
            </a:r>
          </a:p>
          <a:p>
            <a:r>
              <a:t>- Section 1 · Awareness — What: naming the distinction between setting and establishing expectations, and the two mechanisms that close the gap between a delivery goal and genuine ownership: the Expectations Chain and the Alignment Dialogue.</a:t>
            </a:r>
          </a:p>
          <a:p/>
          <a:p>
            <a:r>
              <a:t>- Section 2 · Intelligence — Why: the behavioural mechanisms through which expectation alignment drives ownership, reduces ambiguity, surfaces constraints, and transforms accountability from formal obligation to personal commitment.</a:t>
            </a:r>
          </a:p>
          <a:p/>
          <a:p>
            <a:r>
              <a:t>- Section 3 · Extrapolating — Where: how each executive function's natural tendency creates patterns of setting expectations without establishing them, and where the gap most commonly breaks engagement and accountability at scale.</a:t>
            </a:r>
          </a:p>
          <a:p/>
          <a:p>
            <a:r>
              <a:t>- Section 4 · Integration — Collective: practising the Alignment Dialogue across leadership roles, testing the contribution each person will deliver and what the organisation must enable for it.</a:t>
            </a:r>
          </a:p>
          <a:p/>
          <a:p>
            <a:r>
              <a:t>- Section 5 · Application — In Practice: each group establishes delivery expectations for two contributions from its S2R® Contribution Map™, for the people and for the organisation, then prepares an alignment dialogue with the board chair.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1 · AWARENESS — WHAT</a:t>
            </a:r>
          </a:p>
          <a:p>
            <a:r>
              <a:t>What is Establishing Performance Expectations?</a:t>
            </a:r>
          </a:p>
          <a:p/>
          <a:p>
            <a:r>
              <a:rPr b="1"/>
              <a:t>HOW THIS SECTION RUNS:</a:t>
            </a:r>
          </a:p>
          <a:p>
            <a:r>
              <a:t>1. 1.1 Setting and establishing expectations: the defining distinction, for people performance and organisational performance.</a:t>
            </a:r>
          </a:p>
          <a:p>
            <a:r>
              <a:t>2. 1.2 The three conditions of established expectations: Clarity, Capability and Commitment.</a:t>
            </a:r>
          </a:p>
          <a:p>
            <a:r>
              <a:rPr b="1"/>
              <a:t>3. 1.3 The Expectations Chain: Upline, Downline and Crossline.</a:t>
            </a:r>
          </a:p>
          <a:p>
            <a:r>
              <a:t>4. 1.4 The Alignment Dialogue: the alignment question, Score → Evaluate → Resolve, and the GROW coaching model, over three slides.</a:t>
            </a:r>
          </a:p>
          <a:p>
            <a:r>
              <a:t>5. Two Section 1 Reflections slides: the reflections participants write on the portal after the teaching.</a:t>
            </a:r>
          </a:p>
          <a:p/>
          <a:p>
            <a:r>
              <a:rPr b="1"/>
              <a:t>SECTION LEARNING OUTCOMES:</a:t>
            </a:r>
          </a:p>
          <a:p>
            <a:r>
              <a:t>1. Facilitate expectation-setting conversations that produce genuine ownership.</a:t>
            </a:r>
          </a:p>
          <a:p>
            <a:r>
              <a:t>2. Negotiate explicit human commitments and organisational enabling conditions.</a:t>
            </a:r>
          </a:p>
          <a:p/>
          <a:p>
            <a:r>
              <a:rPr b="1"/>
              <a:t>HOW TO OPEN THE SECTION:</a:t>
            </a:r>
          </a:p>
          <a:p/>
          <a:p>
            <a:r>
              <a:rPr b="1"/>
              <a:t>1. Set the scene.</a:t>
            </a:r>
          </a:p>
          <a:p>
            <a:r>
              <a:t>Say: "The performance management and accountability frameworks and structures have been established. The delivery goals have been defined. The targets have been set."</a:t>
            </a:r>
          </a:p>
          <a:p/>
          <a:p>
            <a:r>
              <a:rPr b="1"/>
              <a:t>2. Ask the question worth sitting with.</a:t>
            </a:r>
          </a:p>
          <a:p>
            <a:r>
              <a:t>Ask: "If you distributed the scorecard to your team right now, without conversation, without context, without dialogue, how many of them would feel genuinely ready to own these targets?"</a:t>
            </a:r>
          </a:p>
          <a:p>
            <a:r>
              <a:t>Let the silence sit before you take answers.</a:t>
            </a:r>
          </a:p>
          <a:p/>
          <a:p>
            <a:r>
              <a:rPr b="1"/>
              <a:t>3. Name the gap the section closes.</a:t>
            </a:r>
          </a:p>
          <a:p>
            <a:r>
              <a:t>Say: "Agreeing with the targets and understanding them intellectually is one thing. Owning them, with confidence, commitment and a clear sense of personal accountability, is the test.</a:t>
            </a:r>
          </a:p>
          <a:p>
            <a:r>
              <a:t>Establishing performance expectations addresses the gap between a well-designed performance management system and genuine ownership.</a:t>
            </a:r>
          </a:p>
          <a:p>
            <a:r>
              <a:t>The difference between a delivery goal that gets pursued with energy and one that gets managed defensively comes down to whether the person holding the target genuinely believes they can deliver it, and whether they trust that their leader will support them in doing so. The number on the page almost never decides it."</a:t>
            </a:r>
          </a:p>
          <a:p/>
          <a:p>
            <a:r>
              <a:rPr b="1"/>
              <a:t>4. Bridge to 1.1.</a:t>
            </a:r>
          </a:p>
          <a:p>
            <a:r>
              <a:t>Say: "This section names that difference, and the two mechanisms that close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1.1 — SETTING VS ESTABLISHING EXPECTATIONS (The defining distinction)</a:t>
            </a:r>
          </a:p>
          <a:p/>
          <a:p>
            <a:r>
              <a:rPr b="1"/>
              <a:t>HOW TO TEACH IT:</a:t>
            </a:r>
          </a:p>
          <a:p/>
          <a:p>
            <a:r>
              <a:rPr b="1"/>
              <a:t>1. Link to Unit 6.</a:t>
            </a:r>
          </a:p>
          <a:p>
            <a:r>
              <a:t>Say: "Unit 6 has already translated enterprise outcomes into functional contributions, team and individual commitments, and the organisational conditions: the Environment, Systems, Resources and Governance, ESRG. Unit 7 establishes agreement around that design. An assigned KPI or OKR is a proposed expectation until the contributor and the relevant enabling owners have confirmed what delivery requires."</a:t>
            </a:r>
          </a:p>
          <a:p/>
          <a:p>
            <a:r>
              <a:rPr b="1"/>
              <a:t>2. Name the two kinds of expectation.</a:t>
            </a:r>
          </a:p>
          <a:p>
            <a:r>
              <a:t>Say: "Human expectations describe the result, contribution, standard, timing and behaviours for which people will take responsibility. Organisational expectations specify the Environment, Systems, Resources and Governance that the organisation will provide or resolve. Both must be explicitly agreed."</a:t>
            </a:r>
          </a:p>
          <a:p/>
          <a:p>
            <a:r>
              <a:rPr b="1"/>
              <a:t>3. State the distinction.</a:t>
            </a:r>
          </a:p>
          <a:p>
            <a:r>
              <a:t>Say: "The difference between setting expectations and establishing expectations is subtle in language and profound in execution impact. It determines whether a performance target becomes an instruction that people comply with or a commitment that people own. Execution begins when the people responsible for those goals internalise the expectation and accept ownership of the result."</a:t>
            </a:r>
          </a:p>
          <a:p/>
          <a:p>
            <a:r>
              <a:rPr b="1"/>
              <a:t>4. Teach the Setting card.</a:t>
            </a:r>
          </a:p>
          <a:p>
            <a:r>
              <a:t>Say: "Setting expectations is typically a top-down declaration. A leader defines the target, communicates the requirement and assigns responsibility. The process focuses on clarity of instruction and leaves the readiness of the person expected to deliver untested."</a:t>
            </a:r>
          </a:p>
          <a:p>
            <a:r>
              <a:t>Add the typical characteristics: targets communicated through scorecards, emails or performance reviews; limited dialogue about feasibility or constraints; responsibility assigned by role description or reporting structure; an assumption that understanding automatically becomes commitment.</a:t>
            </a:r>
          </a:p>
          <a:p>
            <a:r>
              <a:t>Say: "In this mode, expectations function as instructions. People may understand the goal and still carry unspoken concerns: Do I have the resources required? Do other functions understand their role in this result? Is this priority stable, or likely to change next month? What trade-offs should I make to deliver this target?"</a:t>
            </a:r>
          </a:p>
          <a:p>
            <a:r>
              <a:t>Say: "When these questions remain unaddressed, people move forward with defensive ownership: they monitor the delivery output carefully and avoid full accountability for the outcome. Execution in this environment produces cautious behaviour, escalation of risks upward, protective reporting and slower decision cycles. The KPI becomes a metric to be monitored, and ownership stays conditional."</a:t>
            </a:r>
          </a:p>
          <a:p/>
          <a:p>
            <a:r>
              <a:rPr b="1"/>
              <a:t>5. Teach the Establishing card.</a:t>
            </a:r>
          </a:p>
          <a:p>
            <a:r>
              <a:t>Say: "Establishing expectations is a leadership alignment process. The leader still defines the result required, and the process goes further by ensuring that the person responsible fully understands, accepts and commits to delivering the outcome. The emphasis moves to mutual readiness for execution."</a:t>
            </a:r>
          </a:p>
          <a:p>
            <a:r>
              <a:t>Add the leadership behaviours it includes: clarifying why the result matters; testing whether the expectation is feasible; identifying dependencies across the expectations chain; surfacing constraints before execution begins; securing commitment to the target.</a:t>
            </a:r>
          </a:p>
          <a:p>
            <a:r>
              <a:t>Say: "The dialogue is structured: it tests feasibility, surfaces constraints and secures commitment. The execution dynamic becomes commitment-driven: initiative, proactive risk surfacing and problem solving. The KPI becomes a personal leadership promise, and ownership becomes personal and proactive."</a:t>
            </a:r>
          </a:p>
          <a:p/>
          <a:p>
            <a:r>
              <a:rPr b="1"/>
              <a:t>6. Name the enabling conditions.</a:t>
            </a:r>
          </a:p>
          <a:p>
            <a:r>
              <a:t>Say: "When expectations are set, the enabling conditions are assumed to be in place. When expectations are established, they are agreed with the owners of the Environment, Systems, Resources and Governance."</a:t>
            </a:r>
          </a:p>
          <a:p/>
          <a:p>
            <a:r>
              <a:rPr b="1"/>
              <a:t>7. Say why the distinction matters.</a:t>
            </a:r>
          </a:p>
          <a:p>
            <a:r>
              <a:t>Say: "Most organisations invest heavily in designing performance systems: balanced scorecards, OKRs, dashboards and KPIs. Execution success depends on whether the people responsible for those measures genuinely own the outcome. When expectations are merely set, metrics are monitored, performance is managed and accountability remains conditional. When expectations are established, ownership is internalised, accountability becomes personal and performance improves through proactive effort.</a:t>
            </a:r>
          </a:p>
          <a:p>
            <a:r>
              <a:t>The technical architecture of performance management provides measurement visibility. Establishing expectations provides behavioural commitment. Both are necessary. The transition from setting to establishing expectations is where performance management becomes execution leadership."</a:t>
            </a:r>
          </a:p>
          <a:p>
            <a:r>
              <a:t>Deepen, say: "The same demand delivered as a command and as a request produces materially different results from the same people. Tone, humility and the manner of the ask often decide the outcome."</a:t>
            </a:r>
          </a:p>
          <a:p/>
          <a:p>
            <a:r>
              <a:rPr b="1"/>
              <a:t>8. Ask, now that the distinction is taught.</a:t>
            </a:r>
          </a:p>
          <a:p>
            <a:r>
              <a:t>Ask: "Think of the last time a delivery goal was missed. Was the expectation set, or was it established?"</a:t>
            </a:r>
          </a:p>
          <a:p>
            <a:r>
              <a:t>Take two answers. Listen for: a target sent by email or scorecard, no conversation on feasibility, a constraint that surfaced late.</a:t>
            </a:r>
          </a:p>
          <a:p/>
          <a:p>
            <a:r>
              <a:rPr b="1"/>
              <a:t>9. Bridge to 1.2.</a:t>
            </a:r>
          </a:p>
          <a:p>
            <a:r>
              <a:t>Say: "If establishing is the goal, what exactly must be in place before we can say an expectation is established? Three conditions."</a:t>
            </a:r>
          </a:p>
          <a:p/>
          <a:p>
            <a:r>
              <a:rPr b="1"/>
              <a:t>ON THE PORTAL, AFTER THE TEACHING:</a:t>
            </a:r>
          </a:p>
          <a:p>
            <a:r>
              <a:t>Participants write the reflection at the foot of part 1.1: the last time they communicated a delivery expectation, whether it was set or established, and how they know.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1.2 — THE THREE CONDITIONS OF ESTABLISHED EXPECTATIONS (Clarity · Capability · Commitment)</a:t>
            </a:r>
          </a:p>
          <a:p/>
          <a:p>
            <a:r>
              <a:rPr b="1"/>
              <a:t>HOW TO TEACH IT:</a:t>
            </a:r>
          </a:p>
          <a:p/>
          <a:p>
            <a:r>
              <a:rPr b="1"/>
              <a:t>1. Define the process.</a:t>
            </a:r>
          </a:p>
          <a:p>
            <a:r>
              <a:t>Say: "Establishing performance expectations is a leadership process through which strategic contributions become understood, achievable and consciously owned. In Unit 6, the S2R® Contribution Map™ established how enterprise results depend on the contributions of business functions, teams and individuals, and identified the organisational conditions required to support them. The next responsibility is to make sure these expectations are genuinely established with everyone involved in delivering the results."</a:t>
            </a:r>
          </a:p>
          <a:p/>
          <a:p>
            <a:r>
              <a:rPr b="1"/>
              <a:t>2. Name the three conditions and the two sides.</a:t>
            </a:r>
          </a:p>
          <a:p>
            <a:r>
              <a:t>Say: "Three conditions must be addressed: Clarity, Capability and Commitment. Together they establish accountability for people performance, what individuals and teams must deliver, how they must perform and the behaviours expected of them, and for organisational performance, the environment, systems, resources and governance arrangements that must support delivery. Each condition answers a fundamental leadership question."</a:t>
            </a:r>
          </a:p>
          <a:p/>
          <a:p>
            <a:r>
              <a:rPr b="1"/>
              <a:t>3. Teach Clarity.</a:t>
            </a:r>
          </a:p>
          <a:p>
            <a:r>
              <a:t>Say: "Clarity asks: does everyone understand what is expected, why it matters and what successful delivery requires? A performance expectation must connect directly to the enterprise result it supports, and clarity must also extend to the organisation's responsibilities."</a:t>
            </a:r>
          </a:p>
          <a:p>
            <a:r>
              <a:t>Clarity in people performance: the leader and individual establish a shared understanding of the strategic contribution (which enterprise objective or result the work supports); the performance expectations (the KPI, OKR or other agreed deliverable); the performance standard (quality, quantity, timeliness or consistency); the behavioural expectations (observable behaviours and ways of working); and the evidence (how successful performance will be demonstrated and assessed).</a:t>
            </a:r>
          </a:p>
          <a:p>
            <a:r>
              <a:t>Clarity in organisational performance: the leader establishes what the organisation must provide. Environment: what facilities, infrastructure and technology must support delivery? Systems: which processes must be standardised, integrated across functions and efficient enough to deliver? Resources: what assets and funding must be available, and how must they be deployed? Governance: what policies and procedures, decision authority and risk management must be established?</a:t>
            </a:r>
          </a:p>
          <a:p>
            <a:r>
              <a:t>Say: "Clarity is established when the parties share the same understanding of both the expected contribution and the conditions required to deliver it. Here is a test: ask someone on your team to describe what success looks like for their key result. If the description differs from yours, clarity has not yet been established."</a:t>
            </a:r>
          </a:p>
          <a:p>
            <a:r>
              <a:t>Deepen, say: "Many operational failures happen because people in authority believe execution needs their presence when it needs their clarity. Authority travels with a clear instruction."</a:t>
            </a:r>
          </a:p>
          <a:p/>
          <a:p>
            <a:r>
              <a:rPr b="1"/>
              <a:t>4. Teach Capability.</a:t>
            </a:r>
          </a:p>
          <a:p>
            <a:r>
              <a:t>Say: "Capability asks: can the people and the organisation realistically deliver what is expected? An individual may understand an expectation perfectly and be willing to deliver it, yet lack the skills, capacity, resources or organisational support required. This makes capability a shared leadership responsibility."</a:t>
            </a:r>
          </a:p>
          <a:p>
            <a:r>
              <a:t>Capability in people performance: competence (the knowledge and skills required), capacity (sufficient time and workload capacity), readiness (the confidence, experience and practical preparation needed to begin) and coordination (access to the colleagues and teams whose contributions affect the result). Where gaps exist, the leader and individual agree development, support or adjustments.</a:t>
            </a:r>
          </a:p>
          <a:p>
            <a:r>
              <a:t>Capability in organisational performance: Environment, are the facilities, infrastructure and technology fit for the required performance? Systems, are the processes standardised, integrated and efficient enough to support consistent delivery? Resources, are the required assets and funding available and productively deployed? Governance, are the policies and procedures, decision authority and risk management clear and responsive?</a:t>
            </a:r>
          </a:p>
          <a:p>
            <a:r>
              <a:t>Say: "An identified gap must lead to an agreed response. For every significant constraint, leaders establish what must be resolved, who is accountable for resolving it, when the resolution is required, and what interim arrangements apply if the constraint remains. Capability is established when the human abilities and organisational conditions have been confirmed, or when identified gaps have accountable resolution arrangements."</a:t>
            </a:r>
          </a:p>
          <a:p>
            <a:r>
              <a:t>Deepen, say: "Strategy is weakened when leaders become so committed to movement that they ignore capability gaps. A disciplined readiness pause can prevent an expensive failure later."</a:t>
            </a:r>
          </a:p>
          <a:p/>
          <a:p>
            <a:r>
              <a:rPr b="1"/>
              <a:t>5. Teach Commitment.</a:t>
            </a:r>
          </a:p>
          <a:p>
            <a:r>
              <a:t>Say: "Commitment asks: have the people responsible consciously accepted their respective responsibilities for delivering and enabling the result? Commitment is the point at which a performance expectation becomes an agreed undertaking. Understanding an expectation does not by itself create ownership, and confirming that delivery is possible does not guarantee that people have accepted responsibility for making it happen. Commitment is established through dialogue."</a:t>
            </a:r>
          </a:p>
          <a:p>
            <a:r>
              <a:t>Commitment in people performance: the individual consciously accepts responsibility for delivering the agreed contribution and standard, demonstrating the expected behaviours, monitoring progress and providing reliable evidence, raising risks and constraints early, and taking corrective action within their authority. The leader creates space for the individual to question assumptions, discuss concerns and confirm what they can realistically undertake.</a:t>
            </a:r>
          </a:p>
          <a:p>
            <a:r>
              <a:t>Commitment in organisational performance: the leaders responsible for enabling delivery accept responsibility for providing agreed resources and support, resolving systems and coordination constraints, making decisions within agreed timeframes, removing organisational barriers and responding when emerging conditions require intervention.</a:t>
            </a:r>
          </a:p>
          <a:p>
            <a:r>
              <a:t>Say: "This creates mutual accountability: individuals own their performance commitments, and organisational leaders own the conditions they have undertaken to provide. The Alignment Dialogue asks: 'On a scale of 1–10, how aligned are you with the expectation for you to deliver this outcome?' A score below 9 means Commitment is not yet established."</a:t>
            </a:r>
          </a:p>
          <a:p>
            <a:r>
              <a:t>Deepen, say: "Commitments lose strategic meaning when they are honoured only when convenient. Good intent has limited value if people cannot understand what is required of them."</a:t>
            </a:r>
          </a:p>
          <a:p/>
          <a:p>
            <a:r>
              <a:rPr b="1"/>
              <a:t>6. State the key principle.</a:t>
            </a:r>
          </a:p>
          <a:p>
            <a:r>
              <a:t>Say: "Performance expectations are established when people understand their contribution, have a credible basis for delivering it and consciously accept responsibility, supported by leaders who are equally accountable for the organisational conditions required for success."</a:t>
            </a:r>
          </a:p>
          <a:p/>
          <a:p>
            <a:r>
              <a:rPr b="1"/>
              <a:t>7. Ask, now that the three conditions are taught.</a:t>
            </a:r>
          </a:p>
          <a:p>
            <a:r>
              <a:t>Say: "Most leaders overestimate how much Clarity they have provided and underestimate how little Commitment they have secured. The conversation usually sounds complete to the leader and feels incomplete to the team member."</a:t>
            </a:r>
          </a:p>
          <a:p>
            <a:r>
              <a:t>Ask: "After your last expectations conversation, which of the three conditions did you explicitly verify? Clarity — probably. Capability — sometimes. Commitment — almost never."</a:t>
            </a:r>
          </a:p>
          <a:p>
            <a:r>
              <a:t>Listen for: leaders who confuse clarity with alignment. Probe: "Clarity tells you they heard it. Alignment tells you they will deliver it. How do you know the difference?"</a:t>
            </a:r>
          </a:p>
          <a:p/>
          <a:p>
            <a:r>
              <a:rPr b="1"/>
              <a:t>8. Bridge to 1.3.</a:t>
            </a:r>
          </a:p>
          <a:p>
            <a:r>
              <a:t>Say: "The three conditions apply to every person and every leader the result depends on. So the next question is: who are those people?"</a:t>
            </a:r>
          </a:p>
          <a:p/>
          <a:p>
            <a:r>
              <a:rPr b="1"/>
              <a:t>ON THE PORTAL, AFTER THE TEACHING:</a:t>
            </a:r>
          </a:p>
          <a:p>
            <a:r>
              <a:t>Participants write the reflection at the foot of part 1.2: which of the three conditions they most consistently confirm and which they most often assume.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1.3 — THE EXPECTATIONS CHAIN (Mapping who else influences the outcome)</a:t>
            </a:r>
          </a:p>
          <a:p/>
          <a:p>
            <a:r>
              <a:rPr b="1"/>
              <a:t>HOW TO TEACH IT:</a:t>
            </a:r>
          </a:p>
          <a:p/>
          <a:p>
            <a:r>
              <a:rPr b="1"/>
              <a:t>1. Say why the chain matters.</a:t>
            </a:r>
          </a:p>
          <a:p>
            <a:r>
              <a:t>Say: "Very few delivery goals are achieved by a single person acting alone. Most results depend on a network of decisions, resources and coordination across the organisation. The Expectations Chain identifies everyone whose work directly affects the delivery of a Key Result or KPI.</a:t>
            </a:r>
          </a:p>
          <a:p>
            <a:r>
              <a:t>Mapping the chain is a critical step before establishing expectations with any individual. It keeps the KPI from being treated as an isolated personal obligation, and it surfaces the dependencies that will decide whether delivery is possible."</a:t>
            </a:r>
          </a:p>
          <a:p/>
          <a:p>
            <a:r>
              <a:rPr b="1"/>
              <a:t>2. Give the central question.</a:t>
            </a:r>
          </a:p>
          <a:p>
            <a:r>
              <a:t>Say: "The central question is: with whom must performance expectations be established for each contribution to succeed? The chain uses the completed Contribution Map to identify those people, in three directions."</a:t>
            </a:r>
          </a:p>
          <a:p/>
          <a:p>
            <a:r>
              <a:rPr b="1"/>
              <a:t>3. Teach Upline.</a:t>
            </a:r>
          </a:p>
          <a:p>
            <a:r>
              <a:t>Say: "Upline: those who authorise, resource or enable delivery. With them you establish expectations for decisions, support, approvals and the removal of constraints. Examples: executive leadership, board members, executive sponsors, budget holders. Key question: who must approve or resource this outcome for delivery to be possible?"</a:t>
            </a:r>
          </a:p>
          <a:p/>
          <a:p>
            <a:r>
              <a:rPr b="1"/>
              <a:t>4. Teach Downline.</a:t>
            </a:r>
          </a:p>
          <a:p>
            <a:r>
              <a:t>Say: "Downline: those who perform the work. With them you establish expectations for results, standards, behaviours and evidence of performance. Examples: direct reports, project teams, the teams that carry out the work. Key question: who must deliver specific activities for this outcome to be achieved?"</a:t>
            </a:r>
          </a:p>
          <a:p/>
          <a:p>
            <a:r>
              <a:rPr b="1"/>
              <a:t>5. Teach Crossline.</a:t>
            </a:r>
          </a:p>
          <a:p>
            <a:r>
              <a:t>Say: "Crossline: those whose contributions are interdependent. With them you establish expectations for handovers, coordination, shared responsibilities and delivery commitments. Examples: peer functions, shared service functions, suppliers, service partners, technology vendors. Key question: whose contributions must connect with this one for the outcome to be delivered?"</a:t>
            </a:r>
          </a:p>
          <a:p>
            <a:r>
              <a:t>Say: "The output is a clear understanding of the accountability relationships in which performance expectations must be established."</a:t>
            </a:r>
          </a:p>
          <a:p/>
          <a:p>
            <a:r>
              <a:rPr b="1"/>
              <a:t>6. Teach the critical distinction.</a:t>
            </a:r>
          </a:p>
          <a:p>
            <a:r>
              <a:t>Say: "The Contribution Map establishes a dependency. Customer Service requires IT to maintain a reliable case-management system to achieve its response-time target.</a:t>
            </a:r>
          </a:p>
          <a:p>
            <a:r>
              <a:t>The Expectations Chain establishes what must be agreed between the people responsible. The Customer Service Executive and the IT Executive must establish expectations on system availability, incident response times, escalation arrangements and accountability for resolving failures."</a:t>
            </a:r>
          </a:p>
          <a:p>
            <a:r>
              <a:t>Deepen, say: "Outcomes depend on a web of contributors beyond the visible leaders. Map and value the wider contribution system."</a:t>
            </a:r>
          </a:p>
          <a:p/>
          <a:p>
            <a:r>
              <a:rPr b="1"/>
              <a:t>7. Ask, now that the chain is taught.</a:t>
            </a:r>
          </a:p>
          <a:p>
            <a:r>
              <a:t>Ask participants to pick one current Key Result and post in the chat one contributor from each direction: Upline, Downline and Crossline.</a:t>
            </a:r>
          </a:p>
          <a:p>
            <a:r>
              <a:t>Then ask: "Have you had an alignment dialogue with everyone in that chain? Or only with the person holding the KPI?"</a:t>
            </a:r>
          </a:p>
          <a:p>
            <a:r>
              <a:t>Most will realise they have had the conversation with one person and assumed the rest of the chain would follow. Say: "That assumption is where most execution gaps begin."</a:t>
            </a:r>
          </a:p>
          <a:p/>
          <a:p>
            <a:r>
              <a:rPr b="1"/>
              <a:t>8. Bridge to 1.4.</a:t>
            </a:r>
          </a:p>
          <a:p>
            <a:r>
              <a:t>Say: "Once the chain is mapped, the leader holds a conversation with each person in it. That conversation is the Alignment Dialogue."</a:t>
            </a:r>
          </a:p>
          <a:p/>
          <a:p>
            <a:r>
              <a:rPr b="1"/>
              <a:t>ON THE PORTAL, AFTER THE TEACHING:</a:t>
            </a:r>
          </a:p>
          <a:p>
            <a:r>
              <a:t>Participants write the reflection at the foot of part 1.3: their Expectations Chain for one current Key Result, and the contributors with whom they have not yet had an alignment dialogue.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1.4 — THE ALIGNMENT DIALOGUE (Testing whether the expectation is owned)</a:t>
            </a:r>
          </a:p>
          <a:p/>
          <a:p>
            <a:r>
              <a:rPr b="1"/>
              <a:t>HOW TO TEACH IT:</a:t>
            </a:r>
          </a:p>
          <a:p/>
          <a:p>
            <a:r>
              <a:rPr b="1"/>
              <a:t>1. Introduce the dialogue.</a:t>
            </a:r>
          </a:p>
          <a:p>
            <a:r>
              <a:t>Say: "With the Expectations Chain mapped, the leader conducts an Alignment Dialogue with the individuals responsible for delivering the Key Result or KPI. It is a structured conversation designed to test whether the expectation has moved from instruction to commitment."</a:t>
            </a:r>
          </a:p>
          <a:p/>
          <a:p>
            <a:r>
              <a:rPr b="1"/>
              <a:t>2. Read the alignment question on the slide aloud, slowly.</a:t>
            </a:r>
          </a:p>
          <a:p>
            <a:r>
              <a:t>"On a scale of 1–10, how aligned are you with the expectation for you to deliver this outcome?"</a:t>
            </a:r>
          </a:p>
          <a:p/>
          <a:p>
            <a:r>
              <a:rPr b="1"/>
              <a:t>3. Name the two questions the dialogue tests together.</a:t>
            </a:r>
          </a:p>
          <a:p>
            <a:r>
              <a:t>Say: "The dialogue tests two questions together: 'What contribution will you deliver?' and 'What must the organisation enable for you to deliver it?' The leader asks the individual to explain the target in their own words, describe the behaviours and evidence, identify constraints in the organisational conditions and dependencies, and confirm what they can commit to."</a:t>
            </a:r>
          </a:p>
          <a:p/>
          <a:p>
            <a:r>
              <a:rPr b="1"/>
              <a:t>4. Teach what a low score calls for.</a:t>
            </a:r>
          </a:p>
          <a:p>
            <a:r>
              <a:t>Say: "Where alignment is below the agreed threshold, the leader explores the reason, separating a clarity gap, a skill or commitment gap, and a constraint in the organisational conditions or across functions. The leader agrees a specific resolution owner and review date before recording the expectation as established."</a:t>
            </a:r>
          </a:p>
          <a:p/>
          <a:p>
            <a:r>
              <a:rPr b="1"/>
              <a:t>5. Teach the threshold.</a:t>
            </a:r>
          </a:p>
          <a:p>
            <a:r>
              <a:t>Say: "A score of 9 or 10 indicates genuine ownership of delivery. Anything lower calls for further deliberation through the Score → Evaluate → Resolve sequence. The power of the dialogue lies in what the number reveals. A score of 6 is data: something is unresolved between the expectation and the person's readiness to own it. The leader's job is to find it and resolve it before execution begins."</a:t>
            </a:r>
          </a:p>
          <a:p/>
          <a:p>
            <a:r>
              <a:rPr b="1"/>
              <a:t>6. Position it as a safety system.</a:t>
            </a:r>
          </a:p>
          <a:p>
            <a:r>
              <a:t>Say: "Think of the Alignment Dialogue as a leadership safety system. You are asking for the score so you can help. A 9 or 10 means go. Anything below 9 means there is still work for you to do as the leader."</a:t>
            </a:r>
          </a:p>
          <a:p>
            <a:r>
              <a:t>Listen for: leaders who treat the score as a report card. The score is a diagnostic. If someone gives a 6, the leader's job is to understand it and resolve it.</a:t>
            </a:r>
          </a:p>
          <a:p/>
          <a:p>
            <a:r>
              <a:rPr b="1"/>
              <a:t>7. Bridge to the sequence.</a:t>
            </a:r>
          </a:p>
          <a:p>
            <a:r>
              <a:t>Say: "The next slide shows what the leader does with each score."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1.4 — THE ALIGNMENT DIALOGUE · SCORE → EVALUATE → RESOLVE</a:t>
            </a:r>
          </a:p>
          <a:p/>
          <a:p>
            <a:r>
              <a:rPr b="1"/>
              <a:t>HOW TO TEACH IT:</a:t>
            </a:r>
          </a:p>
          <a:p/>
          <a:p>
            <a:r>
              <a:rPr b="1"/>
              <a:t>1. Say what the sequence is for.</a:t>
            </a:r>
          </a:p>
          <a:p>
            <a:r>
              <a:t>Say: "When the alignment score is below 9, the leader treats the number as data: it signals that something is unresolved. The Score → Evaluate → Resolve sequence turns that signal into a resolved commitment."</a:t>
            </a:r>
          </a:p>
          <a:p>
            <a:r>
              <a:t>The scale carries no judgement of performance. It helps the leader quickly understand whether the expectation has moved beyond communication into genuine ownership.</a:t>
            </a:r>
          </a:p>
          <a:p/>
          <a:p>
            <a:r>
              <a:rPr b="1"/>
              <a:t>2. Teach Score It.</a:t>
            </a:r>
          </a:p>
          <a:p>
            <a:r>
              <a:t>Say: "The individual provides a numerical assessment of their level of alignment. The score acts as a signal of readiness for ownership."</a:t>
            </a:r>
          </a:p>
          <a:p>
            <a:r>
              <a:t>Read the four rows on the slide:</a:t>
            </a:r>
          </a:p>
          <a:p>
            <a:r>
              <a:t>9–10: clear ownership and readiness to deliver. Proceed; confirm the commitment and document.</a:t>
            </a:r>
          </a:p>
          <a:p>
            <a:r>
              <a:t>7–8: partial alignment, some uncertainty remains. Move to Evaluate and surface what is unresolved.</a:t>
            </a:r>
          </a:p>
          <a:p>
            <a:r>
              <a:t>5–6: significant concerns affecting confidence in delivery. Move to Evaluate and expect several concerns to surface.</a:t>
            </a:r>
          </a:p>
          <a:p>
            <a:r>
              <a:t>Below 5: the expectation is not yet viable in its current form. Do not proceed; the expectation must be redesigned.</a:t>
            </a:r>
          </a:p>
          <a:p/>
          <a:p>
            <a:r>
              <a:rPr b="1"/>
              <a:t>3. Teach Evaluate It.</a:t>
            </a:r>
          </a:p>
          <a:p>
            <a:r>
              <a:t>Say: "If the score is below 9, the leader explores the reasons behind the rating. The objective is to understand what is preventing full alignment."</a:t>
            </a:r>
          </a:p>
          <a:p>
            <a:r>
              <a:t>The leader guides the conversation with diagnostic questions:</a:t>
            </a:r>
          </a:p>
          <a:p>
            <a:r>
              <a:t>"What influenced the score you gave?"</a:t>
            </a:r>
          </a:p>
          <a:p>
            <a:r>
              <a:t>"What feels unclear about the expectation?"</a:t>
            </a:r>
          </a:p>
          <a:p>
            <a:r>
              <a:t>"What concerns do you have about delivering this outcome?"</a:t>
            </a:r>
          </a:p>
          <a:p>
            <a:r>
              <a:t>"Where do you anticipate obstacles or constraints?"</a:t>
            </a:r>
          </a:p>
          <a:p>
            <a:r>
              <a:t>Say: "This step surfaces issues that might otherwise appear only during execution, when they are far more costly to resolve. Common concerns are an unclear definition of the outcome or success criteria, cross-functional dependencies not yet confirmed, capacity or resource constraints, and confidence in the delivery pathway or timeline. The purpose of Evaluate is to make hidden concerns visible before execution begins."</a:t>
            </a:r>
          </a:p>
          <a:p>
            <a:r>
              <a:t>Deepen, say: "Leaders should be able to hear raw frustration without immediately defending the system or correcting the emotion. Credibility grows when leaders acknowledge the gap between intention and execution and work to close it."</a:t>
            </a:r>
          </a:p>
          <a:p/>
          <a:p>
            <a:r>
              <a:rPr b="1"/>
              <a:t>4. Teach Resolve It.</a:t>
            </a:r>
          </a:p>
          <a:p>
            <a:r>
              <a:t>Say: "Once the sources of misalignment are understood, the leader works with the individual to resolve them. The guiding coaching question becomes: 'What would help move your alignment from where it is now to a 9 or 10?'"</a:t>
            </a:r>
          </a:p>
          <a:p>
            <a:r>
              <a:t>Say: "This is the most important question in the whole architecture. It keeps the leader in the right posture: solving for the person's ability to own the result."</a:t>
            </a:r>
          </a:p>
          <a:p>
            <a:r>
              <a:t>Resolution may involve clarifying the outcome definition or success criteria, adjusting priorities or realistic timelines, identifying additional support or resources, or confirming collaboration across the Expectations Chain.</a:t>
            </a:r>
          </a:p>
          <a:p>
            <a:r>
              <a:t>Say: "Once concerns are resolved, the leader asks the alignment question again to confirm the expectation has moved into clear ownership. If it has not, the conversation continues, or the expectation itself is redesigned."</a:t>
            </a:r>
          </a:p>
          <a:p>
            <a:r>
              <a:t>Deepen, say: "Speaking before understanding is a common leadership failure. People perform better when difficulty does not automatically threaten their belonging or worth."</a:t>
            </a:r>
          </a:p>
          <a:p/>
          <a:p>
            <a:r>
              <a:rPr b="1"/>
              <a:t>5. Teach what the leader captures after the dialogue.</a:t>
            </a:r>
          </a:p>
          <a:p>
            <a:r>
              <a:t>Say: "After the dialogue, the leader captures three reflections: the Alignment Rating, where the commitment currently stands; the Primary Concern Identified, what surfaced during the discussion; and the Action for Elevation, what will move alignment upward. Documenting these converts a conversation into a visible commitment record."</a:t>
            </a:r>
          </a:p>
          <a:p/>
          <a:p>
            <a:r>
              <a:rPr b="1"/>
              <a:t>6. Check understanding, now that the sequence is taught.</a:t>
            </a:r>
          </a:p>
          <a:p>
            <a:r>
              <a:t>Ask: "When someone on your team gives you a 6 out of 10 on alignment, what does your instinct tell you to do? And what should you do?"</a:t>
            </a:r>
          </a:p>
          <a:p>
            <a:r>
              <a:t>Take two answers in the chat. Bring each one back to Evaluate It: understand the score before you act on it.</a:t>
            </a:r>
          </a:p>
          <a:p/>
          <a:p>
            <a:r>
              <a:rPr b="1"/>
              <a:t>7. Bridge to GROW.</a:t>
            </a:r>
          </a:p>
          <a:p>
            <a:r>
              <a:t>Say: "The sequence tells you what to do. The next slide gives you the coaching model for how to hold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1.4 — THE ALIGNMENT DIALOGUE · THE GROW COACHING MODEL</a:t>
            </a:r>
          </a:p>
          <a:p/>
          <a:p>
            <a:r>
              <a:rPr b="1"/>
              <a:t>HOW TO TEACH IT:</a:t>
            </a:r>
          </a:p>
          <a:p/>
          <a:p>
            <a:r>
              <a:rPr b="1"/>
              <a:t>1. Introduce the model.</a:t>
            </a:r>
          </a:p>
          <a:p>
            <a:r>
              <a:t>Say: "GROW is the coaching model the leader uses when holding the Alignment Dialogue. It is a widely used coaching model, popularised by Sir John Whitmore in Coaching for Performance. Its four stages are Goal, Reality, Options and Will. At each stage the leader asks questions and the individual does the thinking, so the answers the individual reaches are their own."</a:t>
            </a:r>
          </a:p>
          <a:p>
            <a:r>
              <a:t>Deepen, say: "Responding with a question returns ownership of the response to the person and gives them space to examine their own position without defending against an external judgement. Questions open where corrections close."</a:t>
            </a:r>
          </a:p>
          <a:p/>
          <a:p>
            <a:r>
              <a:rPr b="1"/>
              <a:t>2. Teach G · Goal.</a:t>
            </a:r>
          </a:p>
          <a:p>
            <a:r>
              <a:t>Say: "What the leader aims to achieve in the conversation. The goal of the dialogue is ownership of the delivery expectation: an alignment score of 9 or 10. The leader agrees this aim at Score It, as soon as the individual has given the number."</a:t>
            </a:r>
          </a:p>
          <a:p>
            <a:r>
              <a:t>The questions the leader asks:</a:t>
            </a:r>
          </a:p>
          <a:p>
            <a:r>
              <a:t>"What would a 9 or 10 look like for you on this outcome?"</a:t>
            </a:r>
          </a:p>
          <a:p>
            <a:r>
              <a:t>"What do you want to be sure of before you commit to this result?"</a:t>
            </a:r>
          </a:p>
          <a:p/>
          <a:p>
            <a:r>
              <a:rPr b="1"/>
              <a:t>3. Teach R · Reality.</a:t>
            </a:r>
          </a:p>
          <a:p>
            <a:r>
              <a:t>Say: "What is true today. This is Evaluate It. The leader explores what stands behind the score, and listens without defending the expectation."</a:t>
            </a:r>
          </a:p>
          <a:p>
            <a:r>
              <a:t>The questions the leader asks:</a:t>
            </a:r>
          </a:p>
          <a:p>
            <a:r>
              <a:t>"What influenced the score you gave?"</a:t>
            </a:r>
          </a:p>
          <a:p>
            <a:r>
              <a:t>"What feels unclear about the expectation?"</a:t>
            </a:r>
          </a:p>
          <a:p>
            <a:r>
              <a:t>"What concerns do you have about delivering this outcome?"</a:t>
            </a:r>
          </a:p>
          <a:p>
            <a:r>
              <a:t>"Where do you anticipate obstacles or constraints?"</a:t>
            </a:r>
          </a:p>
          <a:p/>
          <a:p>
            <a:r>
              <a:rPr b="1"/>
              <a:t>4. Teach O · Options.</a:t>
            </a:r>
          </a:p>
          <a:p>
            <a:r>
              <a:t>Say: "What could be done. This opens Resolve It. The leader asks for the individual's ideas first, then adds their own."</a:t>
            </a:r>
          </a:p>
          <a:p>
            <a:r>
              <a:t>The questions the leader asks:</a:t>
            </a:r>
          </a:p>
          <a:p>
            <a:r>
              <a:t>"What would help move your alignment from where it is now to a 9 or 10?"</a:t>
            </a:r>
          </a:p>
          <a:p>
            <a:r>
              <a:t>"What else could we do?"</a:t>
            </a:r>
          </a:p>
          <a:p>
            <a:r>
              <a:t>"What support would make the difference?"</a:t>
            </a:r>
          </a:p>
          <a:p/>
          <a:p>
            <a:r>
              <a:rPr b="1"/>
              <a:t>5. Teach W · Will.</a:t>
            </a:r>
          </a:p>
          <a:p>
            <a:r>
              <a:t>Say: "What will be done, and by whom. This closes Resolve It. The leader and the individual agree the actions each will take, then the leader asks the alignment question again."</a:t>
            </a:r>
          </a:p>
          <a:p>
            <a:r>
              <a:t>The questions the leader asks:</a:t>
            </a:r>
          </a:p>
          <a:p>
            <a:r>
              <a:t>"What will you do, and what do you need me to do?"</a:t>
            </a:r>
          </a:p>
          <a:p>
            <a:r>
              <a:t>"What could stop this, and how will we deal with it?"</a:t>
            </a:r>
          </a:p>
          <a:p>
            <a:r>
              <a:t>"With that agreed, where is your alignment now, on the scale of 1–10?"</a:t>
            </a:r>
          </a:p>
          <a:p/>
          <a:p>
            <a:r>
              <a:rPr b="1"/>
              <a:t>6. Show how the two fit together.</a:t>
            </a:r>
          </a:p>
          <a:p>
            <a:r>
              <a:t>Say: "Score → Evaluate → Resolve is the sequence of the dialogue. GROW is how the leader coaches inside it. Goal at Score It. Reality at Evaluate It. Options and Will at Resolve It."</a:t>
            </a:r>
          </a:p>
          <a:p/>
          <a:p>
            <a:r>
              <a:rPr b="1"/>
              <a:t>7. Say where it is practised.</a:t>
            </a:r>
          </a:p>
          <a:p>
            <a:r>
              <a:t>Say: "You practise this dialogue in a role play in Section 4."</a:t>
            </a:r>
          </a:p>
          <a:p/>
          <a:p>
            <a:r>
              <a:rPr b="1"/>
              <a:t>ON THE PORTAL, AFTER THE TEACHING:</a:t>
            </a:r>
          </a:p>
          <a:p>
            <a:r>
              <a:t>Participants write the reflection at the foot of part 1.4: the Resolve question in their own words, applied to a real expectation they are currently facing.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2 · INTELLIGENCE — WHY</a:t>
            </a:r>
          </a:p>
          <a:p>
            <a:r>
              <a:t>Why Establishing Expectations Determines Execution Outcomes</a:t>
            </a:r>
          </a:p>
          <a:p/>
          <a:p>
            <a:r>
              <a:rPr b="1"/>
              <a:t>HOW THIS SECTION RUNS:</a:t>
            </a:r>
          </a:p>
          <a:p>
            <a:r>
              <a:rPr b="1"/>
              <a:t>1. 2.1 The execution dynamic: compliance-driven and commitment-driven execution.</a:t>
            </a:r>
          </a:p>
          <a:p>
            <a:r>
              <a:rPr b="1"/>
              <a:t>2. 2.2 Five mechanisms: why expectation alignment determines outcomes.</a:t>
            </a:r>
          </a:p>
          <a:p>
            <a:r>
              <a:rPr b="1"/>
              <a:t>3. 2.3 The two casualties: engagement and accountability.</a:t>
            </a:r>
          </a:p>
          <a:p>
            <a:r>
              <a:rPr b="1"/>
              <a:t>4. The Section 2 Reflections slide.</a:t>
            </a:r>
          </a:p>
          <a:p/>
          <a:p>
            <a:r>
              <a:rPr b="1"/>
              <a:t>SECTION LEARNING OUTCOMES:</a:t>
            </a:r>
          </a:p>
          <a:p>
            <a:r>
              <a:t>1. Maintain commitment by revisiting and realigning expectations during execution.</a:t>
            </a:r>
          </a:p>
          <a:p>
            <a:r>
              <a:t>2. Diagnose unclear expectations and correct the conditions that undermine delivery.</a:t>
            </a:r>
          </a:p>
          <a:p/>
          <a:p>
            <a:r>
              <a:rPr b="1"/>
              <a:t>HOW TO OPEN THE SECTION:</a:t>
            </a:r>
          </a:p>
          <a:p/>
          <a:p>
            <a:r>
              <a:rPr b="1"/>
              <a:t>1. Link from Section 1.</a:t>
            </a:r>
          </a:p>
          <a:p>
            <a:r>
              <a:t>Say: "Section 1 named the difference between setting and establishing an expectation. This section explains why that difference decides what happens in execution."</a:t>
            </a:r>
          </a:p>
          <a:p/>
          <a:p>
            <a:r>
              <a:rPr b="1"/>
              <a:t>2. State the section intent.</a:t>
            </a:r>
          </a:p>
          <a:p>
            <a:r>
              <a:t>Say: "Establishing performance expectations plays a decisive role in execution because strategy is ultimately delivered through human commitment. Plans, scorecards and systems alone do not deliver it.</a:t>
            </a:r>
          </a:p>
          <a:p>
            <a:r>
              <a:t>Organisations invest significant effort in defining objectives, designing metrics and building reporting structures. Execution outcomes are decided above all by whether the individuals responsible for delivery fully understand, accept and internalise the expectations attached to their role. The technical design of the performance system is a lesser determinant."</a:t>
            </a:r>
          </a:p>
          <a:p/>
          <a:p>
            <a:r>
              <a:rPr b="1"/>
              <a:t>3. Bridge to 2.1.</a:t>
            </a:r>
          </a:p>
          <a:p>
            <a:r>
              <a:t>Say: "We start with the moment where that transition happens, or fails to happen: the ignition 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2.1 — COMPLIANCE VS COMMITMENT: THE EXECUTION DYNAMIC (Ignition point)</a:t>
            </a:r>
          </a:p>
          <a:p/>
          <a:p>
            <a:r>
              <a:rPr b="1"/>
              <a:t>HOW TO TEACH IT:</a:t>
            </a:r>
          </a:p>
          <a:p/>
          <a:p>
            <a:r>
              <a:rPr b="1"/>
              <a:t>1. Name the ignition point.</a:t>
            </a:r>
          </a:p>
          <a:p>
            <a:r>
              <a:t>Say: "Strategy is ultimately delivered through human commitment. The moment when expectations are clarified between leader and contributor is the moment a performance target moves from organisational intention to personal responsibility. If that transition does not occur, execution becomes fragile however well the system has been designed."</a:t>
            </a:r>
          </a:p>
          <a:p/>
          <a:p>
            <a:r>
              <a:rPr b="1"/>
              <a:t>2. Name the organisational side.</a:t>
            </a:r>
          </a:p>
          <a:p>
            <a:r>
              <a:t>Say: "A compliance response may emerge when people are held accountable for results while essential organisational conditions remain outside their control. Commitment strengthens when leaders visibly fulfil their side of the performance agreement: decisions, systems, resources, governance and working environment."</a:t>
            </a:r>
          </a:p>
          <a:p/>
          <a:p>
            <a:r>
              <a:rPr b="1"/>
              <a:t>3. Teach the compliance-driven card.</a:t>
            </a:r>
          </a:p>
          <a:p>
            <a:r>
              <a:t>Say: "When expectations are communicated as instructions, they are acknowledged and left unowned. The behaviour pattern: people wait for direction, escalate problems upward and focus on reporting. When obstacles arise, they remain cautious, protect their reporting and defer resolution to leadership. Accountability becomes activity ownership: responsible for completing tasks. Energy is reserved and discretionary effort is withheld. It sounds like: 'I completed everything that was asked of me.'"</a:t>
            </a:r>
          </a:p>
          <a:p/>
          <a:p>
            <a:r>
              <a:rPr b="1"/>
              <a:t>4. Teach the commitment-driven card.</a:t>
            </a:r>
          </a:p>
          <a:p>
            <a:r>
              <a:t>Say: "When expectations are established through dialogue, they are owned. People anticipate risks earlier, coordinate across functions actively and invest effort in solving obstacles. When obstacles arise, they take initiative, surface issues early and co-design solutions with the leader. Accountability becomes outcome ownership: personally accountable for the final result. Energy is fully invested and discretionary effort is freely given. It sounds like: 'I'll make sure this gets delivered.'"</a:t>
            </a:r>
          </a:p>
          <a:p>
            <a:r>
              <a:t>Deepen, say: "Build commitments that hold without the pressure. Teams often say yes to a new way of working while quietly keeping the old habits underneath. People who keep both systems running have committed to neither. Bring the hidden habits into the open."</a:t>
            </a:r>
          </a:p>
          <a:p/>
          <a:p>
            <a:r>
              <a:rPr b="1"/>
              <a:t>5. Ask, now that the two dynamics are taught.</a:t>
            </a:r>
          </a:p>
          <a:p>
            <a:r>
              <a:t>Ask: "If you are honest, when your team hits an obstacle, what happens first? Do they solve it, or do they escalate it?"</a:t>
            </a:r>
          </a:p>
          <a:p>
            <a:r>
              <a:t>Say: "The answer tells you whether you have compliance or commitment. It is a signal about whether expectations were established."</a:t>
            </a:r>
          </a:p>
          <a:p/>
          <a:p>
            <a:r>
              <a:rPr b="1"/>
              <a:t>6. Bridge to 2.2.</a:t>
            </a:r>
          </a:p>
          <a:p>
            <a:r>
              <a:t>Say: "Five mechanisms explain why establishing expectations produces the second pattern."</a:t>
            </a:r>
          </a:p>
          <a:p/>
          <a:p>
            <a:r>
              <a:rPr b="1"/>
              <a:t>ON THE PORTAL, AFTER THE TEACHING:</a:t>
            </a:r>
          </a:p>
          <a:p>
            <a:r>
              <a:t>Participants write the reflection at the foot of part 2.1: what happens first when their team hits an unexpected obstacle, and what that says about the execution dynamic they have created.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b="1"/>
              <a:t>2.2 — FIVE MECHANISMS: WHY EXPECTATION ALIGNMENT DETERMINES OUTCOMES (The behavioural logic)</a:t>
            </a:r>
          </a:p>
          <a:p/>
          <a:p>
            <a:r>
              <a:rPr b="1"/>
              <a:t>HOW TO TEACH IT:</a:t>
            </a:r>
          </a:p>
          <a:p/>
          <a:p>
            <a:r>
              <a:rPr b="1"/>
              <a:t>1. Introduce the five.</a:t>
            </a:r>
          </a:p>
          <a:p>
            <a:r>
              <a:t>Say: "Five mechanisms explain how establishing expectations changes execution. Take them in order: each one builds on the last."</a:t>
            </a:r>
          </a:p>
          <a:p/>
          <a:p>
            <a:r>
              <a:rPr b="1"/>
              <a:t>2. Mechanism 1 · From Instruction to Ownership.</a:t>
            </a:r>
          </a:p>
          <a:p>
            <a:r>
              <a:t>Say: "When expectations are merely communicated, people interpret them as instructions. The individual understands what must be achieved but does not yet feel personally accountable for ensuring the outcome is delivered. Establishing expectations through structured dialogue moves the individual from acknowledging the requirement to accepting ownership of the result. This is the fundamental shift that makes execution commitment-driven."</a:t>
            </a:r>
          </a:p>
          <a:p/>
          <a:p>
            <a:r>
              <a:rPr b="1"/>
              <a:t>3. Mechanism 2 · Reducing Interpretation Ambiguity.</a:t>
            </a:r>
          </a:p>
          <a:p>
            <a:r>
              <a:t>Say: "Even when strategic objectives are clearly articulated, people interpret what success requires differently depending on their role, expertise and operational context. Without structured alignment, people may pursue the same goal while working from different assumptions. Establishing expectations creates a shared interpretation of what must be delivered, why the result matters and how success will be recognised. Confusion falls and teams move forward with greater coordination."</a:t>
            </a:r>
          </a:p>
          <a:p/>
          <a:p>
            <a:r>
              <a:rPr b="1"/>
              <a:t>4. Mechanism 3 · Surfacing Constraints Before Execution Begins.</a:t>
            </a:r>
          </a:p>
          <a:p>
            <a:r>
              <a:t>Say: "Most results require coordination across functions, access to resources, timely decisions and cooperation from several contributors. If these dependencies are not identified during the expectation conversation, they become visible later, often when deadlines are already approaching. Establishing expectations lets leaders and contributors identify them early: required resources are understood, cross-functional dependencies are visible and risks are recognised before they become execution crises."</a:t>
            </a:r>
          </a:p>
          <a:p/>
          <a:p>
            <a:r>
              <a:rPr b="1"/>
              <a:t>5. Mechanism 4 · Strengthening Accountability.</a:t>
            </a:r>
          </a:p>
          <a:p>
            <a:r>
              <a:t>Say: "Accountability is strongest when people perceive the expectations placed on them as clear, achievable and meaningful. Then they are far more likely to take ownership and sustain effort when challenges arise. Establishing expectations makes sure the leader and contributor share a common understanding of the responsibility involved, the support available, the constraints to be addressed and the standards used to evaluate success. This mutual clarity turns accountability from a formal obligation into a shared commitment."</a:t>
            </a:r>
          </a:p>
          <a:p>
            <a:r>
              <a:t>Deepen, say: "The gap between stated intention and actual behaviour is one of the most revealing leadership diagnostics. Build accountability into the space between the commitment and the moment of execution, to close the gap between what people sincerely intend and what they do when pressure arrives."</a:t>
            </a:r>
          </a:p>
          <a:p/>
          <a:p>
            <a:r>
              <a:rPr b="1"/>
              <a:t>6. Mechanism 5 · Building the Behavioural Foundation.</a:t>
            </a:r>
          </a:p>
          <a:p>
            <a:r>
              <a:t>Say: "Strategy execution is fundamentally a behavioural challenge. Plans, metrics and dashboards provide direction and visibility, and outcomes are produced through the daily decisions and actions of people. Establishing performance expectations makes sure individuals are psychologically prepared to take responsibility. When this foundation is in place, people understand the purpose behind the work, confidence in feasibility increases, collaboration improves and accountability becomes proactive. Before execution begins, the people responsible for delivery are informed, aligned, prepared and committed."</a:t>
            </a:r>
          </a:p>
          <a:p/>
          <a:p>
            <a:r>
              <a:rPr b="1"/>
              <a:t>7. Ask, now that the five are taught.</a:t>
            </a:r>
          </a:p>
          <a:p>
            <a:r>
              <a:t>Ask: "Which mechanism is most absent in your current execution environment? Is your team unclear on what success looks like, Mechanism 2? Are constraints surfacing too late, Mechanism 3? Or is accountability diffuse, where everyone feels responsible and no one is, Mechanism 4?"</a:t>
            </a:r>
          </a:p>
          <a:p>
            <a:r>
              <a:t>Say: "The diagnosis shapes the intervention."</a:t>
            </a:r>
          </a:p>
          <a:p/>
          <a:p>
            <a:r>
              <a:rPr b="1"/>
              <a:t>8. Bridge to 2.3.</a:t>
            </a:r>
          </a:p>
          <a:p>
            <a:r>
              <a:t>Say: "When the mechanisms are absent, two things break down first."</a:t>
            </a:r>
          </a:p>
          <a:p/>
          <a:p>
            <a:r>
              <a:rPr b="1"/>
              <a:t>ON THE PORTAL, AFTER THE TEACHING:</a:t>
            </a:r>
          </a:p>
          <a:p>
            <a:r>
              <a:t>Participants write the reflection at the foot of part 2.2: the mechanism most absent in their current execution environment, and the cost of that absence.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2.3 — ENGAGEMENT &amp; ACCOUNTABILITY: THE TWO CASUALTIES (What breaks down when expectations are only set)</a:t>
            </a:r>
          </a:p>
          <a:p/>
          <a:p>
            <a:r>
              <a:rPr b="1"/>
              <a:t>HOW TO TEACH IT:</a:t>
            </a:r>
          </a:p>
          <a:p/>
          <a:p>
            <a:r>
              <a:rPr b="1"/>
              <a:t>1. Name the sequence.</a:t>
            </a:r>
          </a:p>
          <a:p>
            <a:r>
              <a:t>Say: "When expectations are set without being established, two organisational conditions degrade in a predictable sequence. They often appear together: contributors disengage because promises of support are not honoured, and accountability becomes defensive because responsibility for the result is disconnected from authority over its enabling conditions. The expectation record must therefore distinguish the individual who delivers the result from the leader who resolves a constraint in the organisational conditions."</a:t>
            </a:r>
          </a:p>
          <a:p/>
          <a:p>
            <a:r>
              <a:rPr b="1"/>
              <a:t>2. Teach the first casualty: engagement weakens.</a:t>
            </a:r>
          </a:p>
          <a:p>
            <a:r>
              <a:t>Say: "When leaders communicate expectations without alignment dialogue, people understand what is required and do not feel personally involved in shaping how the outcome will be delivered. The expectation is acknowledged cognitively and left uninternalised behaviourally. Work continues and progress may still be visible, but the energy becomes uneven."</a:t>
            </a:r>
          </a:p>
          <a:p>
            <a:r>
              <a:t>Read the signs: discretionary effort is limited and people do only what is assigned; people wait for direction and leave emerging problems unaddressed; cross-functional coordination slows because people focus on their own responsibilities; engagement becomes transactional, and the deeper sense of collective ownership does not materialise.</a:t>
            </a:r>
          </a:p>
          <a:p>
            <a:r>
              <a:t>Say: "The signal: work is happening, and energy is not invested. People are present and not propelled."</a:t>
            </a:r>
          </a:p>
          <a:p>
            <a:r>
              <a:t>Deepen, say: "Many teams run on minimum compliance: do what is required, claim the credit, defend the boundary. Indifference is the most underestimated risk to a strategic agenda, because quiet non-participation is invisible. Identify the people who have neither opposed nor engaged the initiative, ask each one directly whether they are in, and bring them in or redesign around them."</a:t>
            </a:r>
          </a:p>
          <a:p/>
          <a:p>
            <a:r>
              <a:rPr b="1"/>
              <a:t>3. Teach the second casualty: accountability dilutes.</a:t>
            </a:r>
          </a:p>
          <a:p>
            <a:r>
              <a:t>Say: "The most significant long-term consequence is in the quality of accountability. When expectations are set without alignment, people feel responsible for carrying out activities and do not feel responsible for the final organisational result. Activity ownership and outcome ownership become blurred."</a:t>
            </a:r>
          </a:p>
          <a:p>
            <a:r>
              <a:t>Read the signs: performance discussions revolve around explanations; conversations focus on constraints such as resources, dependencies and external conditions; cross-functional dependencies create delays because responsibility for resolving them is unclear; accountability becomes dispersed, with several teams partially responsible and none fully accountable.</a:t>
            </a:r>
          </a:p>
          <a:p>
            <a:r>
              <a:t>Say: "The paradox: teams appear to be working hard, meetings are frequent, updates are detailed, and the organisation still struggles to achieve what it set out to deliver. Ownership of the outcome was assigned without being secured."</a:t>
            </a:r>
          </a:p>
          <a:p/>
          <a:p>
            <a:r>
              <a:rPr b="1"/>
              <a:t>4. Name the moment of recognition.</a:t>
            </a:r>
          </a:p>
          <a:p>
            <a:r>
              <a:t>Say: "Have you ever been in a review where everyone has a reason, and no one has an answer? That is diluted accountability in action. It happened because ownership was never established."</a:t>
            </a:r>
          </a:p>
          <a:p/>
          <a:p>
            <a:r>
              <a:rPr b="1"/>
              <a:t>5. Say how establishing restores both.</a:t>
            </a:r>
          </a:p>
          <a:p>
            <a:r>
              <a:t>Say: "When expectations are established through dialogue, individuals take part in clarifying the conditions for delivery, surfacing constraints and confirming feasibility. Engagement rises because they see the outcome as a shared commitment they helped define. Accountability becomes clearer because they understand the results they own, the dependencies involved and the support available, so they address challenges earlier."</a:t>
            </a:r>
          </a:p>
          <a:p/>
          <a:p>
            <a:r>
              <a:rPr b="1"/>
              <a:t>6. Bridge to the reflections.</a:t>
            </a:r>
          </a:p>
          <a:p/>
          <a:p>
            <a:r>
              <a:rPr b="1"/>
              <a:t>ON THE PORTAL, AFTER THE TEACHING:</a:t>
            </a:r>
          </a:p>
          <a:p>
            <a:r>
              <a:t>Section 2 has no reflection on part 2.3. Participants write the reflections of parts 2.1 and 2.2, shown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3 · EXTRAPOLATING — WHERE</a:t>
            </a:r>
          </a:p>
          <a:p>
            <a:r>
              <a:t>Where Does the Expectations Gap Emerge?</a:t>
            </a:r>
          </a:p>
          <a:p/>
          <a:p>
            <a:r>
              <a:rPr b="1"/>
              <a:t>HOW THIS SECTION RUNS:</a:t>
            </a:r>
          </a:p>
          <a:p>
            <a:r>
              <a:t>1. 3.1 CXO expectation tendencies: ten executive role cards, each with the role's typical tendency, the expectation gap it creates and its likely Expectations Chain.</a:t>
            </a:r>
          </a:p>
          <a:p>
            <a:r>
              <a:rPr b="1"/>
              <a:t>2. The Section 3 Reflections slide.</a:t>
            </a:r>
          </a:p>
          <a:p/>
          <a:p>
            <a:r>
              <a:rPr b="1"/>
              <a:t>SECTION LEARNING OUTCOMES:</a:t>
            </a:r>
          </a:p>
          <a:p>
            <a:r>
              <a:t>1. Recognise and adjust leadership tendencies that weaken expectation alignment.</a:t>
            </a:r>
          </a:p>
          <a:p>
            <a:r>
              <a:t>2. Resolve ownership gaps across contribution relationships and enabling conditions.</a:t>
            </a:r>
          </a:p>
          <a:p/>
          <a:p>
            <a:r>
              <a:rPr b="1"/>
              <a:t>HOW TO OPEN THE SECTION:</a:t>
            </a:r>
          </a:p>
          <a:p/>
          <a:p>
            <a:r>
              <a:rPr b="1"/>
              <a:t>1. Say where the tendencies come from.</a:t>
            </a:r>
          </a:p>
          <a:p>
            <a:r>
              <a:t>Say: "Each CXO role naturally focuses on the mechanisms it controls: strategy signals, financial targets, operational processes, culture frameworks, technology milestones or governance rules. This functional expertise produces a characteristic tendency in how expectations are communicated, and a characteristic gap in how they are established."</a:t>
            </a:r>
          </a:p>
          <a:p/>
          <a:p>
            <a:r>
              <a:rPr b="1"/>
              <a:t>2. Name what the section examines.</a:t>
            </a:r>
          </a:p>
          <a:p>
            <a:r>
              <a:t>Say: "Setting expectations within a function does not automatically establish delivery expectations across the enterprise. Establishing them requires leaders to enter a structured alignment dialogue that confirms the conditions required for delivery, the dependencies across the expectations chain and the shared ownership of the result. Without this step, expectations may be clearly communicated and still operate as instructions."</a:t>
            </a:r>
          </a:p>
          <a:p/>
          <a:p>
            <a:r>
              <a:rPr b="1"/>
              <a:t>3. Bridge to 3.1.</a:t>
            </a:r>
          </a:p>
          <a:p>
            <a:r>
              <a:t>Say: "We look at ten executive roles. Start with your own."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3.1 — THE COLLECTIVE INTELLIGENCE FOR EXECUTION DISCIPLINE: CXO EXPECTATION TENDENCIES &amp; GAPS (10 executive roles)</a:t>
            </a:r>
          </a:p>
          <a:p/>
          <a:p>
            <a:r>
              <a:rPr b="1"/>
              <a:t>HOW TO TEACH IT:</a:t>
            </a:r>
          </a:p>
          <a:p/>
          <a:p>
            <a:r>
              <a:rPr b="1"/>
              <a:t>1. Read the picture.</a:t>
            </a:r>
          </a:p>
          <a:p>
            <a:r>
              <a:t>Point to the three executives on the slide: "I set the ambition. Have we established the conditions?" "The number is clear. Who owns delivery?" "The process is followed. Is the outcome owned?"</a:t>
            </a:r>
          </a:p>
          <a:p>
            <a:r>
              <a:t>Say: "Each executive is right about their own part, and the expectation gap sits between them: clarity has been communicated, and ownership must still be confirmed."</a:t>
            </a:r>
          </a:p>
          <a:p/>
          <a:p>
            <a:r>
              <a:rPr b="1"/>
              <a:t>2. Say how to read each role card.</a:t>
            </a:r>
          </a:p>
          <a:p>
            <a:r>
              <a:t>Say: "Each card gives the role's typical tendency, the expectation gap it creates and its likely Expectations Chain: Upline, Downline and Crossline. For each role, examine the expectations it places on others and the commitments on organisational conditions it must honour. Finance may control resources, operations may own systems and work design, HR may influence capability and environment, and executive leadership may own governance decisions. These are illustrative accountabilities; confirm actual ownership in the capstone organisation."</a:t>
            </a:r>
          </a:p>
          <a:p/>
          <a:p>
            <a:r>
              <a:t>3. Teach each participant's own role first, then the two roles closest to it. The ten cards:</a:t>
            </a:r>
          </a:p>
          <a:p/>
          <a:p>
            <a:r>
              <a:t>CEO · Enterprise Ambition. Tendency: sets enterprise ambition and directional expectations, assuming functional leaders will translate these into delivery realities. The strategic signal is clear, and the conditions required for execution may not be fully established through dialogue. Gap: the assumption that strategic clarity cascades on its own into execution commitment. Chain: Upline, board chair, board committees, shareholders; Downline, the executive team, heads of business units, the strategy office; Crossline, strategic partners, key customers, regulators, investors. Ask: "What is an enterprise-level expectation you have communicated recently? Have you established the conditions for delivery with the leaders responsible?"</a:t>
            </a:r>
          </a:p>
          <a:p/>
          <a:p>
            <a:r>
              <a:t>CFO · Financial Precision. Tendency: sets precise financial expectations through budgets, targets and reporting timelines; the cross-functional conditions for delivering financial outcomes may not be established with the teams responsible. Gap: the finance number is clear; the ownership of delivering it is not. Chain: Upline, CEO, board audit and finance committees; Downline, finance team, budget holders in every function, heads of business units; Crossline, operations and commercial leaders whose plans drive the numbers, auditors, banks and lenders. Ask: "Who in your expectations chain holds a financial target they received from you? Have you confirmed they own the conditions for delivery?"</a:t>
            </a:r>
          </a:p>
          <a:p/>
          <a:p>
            <a:r>
              <a:t>COO · Operational Discipline. Tendency: sets operational expectations through processes, service levels and execution discipline; the alignment conversations that build commitment and shared ownership may receive less attention. Gap: process compliance is achieved; outcome ownership is not. Chain: Upline, CEO, executive committee; Downline, heads of operations, service and delivery teams, shared service functions; Crossline, commercial, technology and HR leaders whose work connects with operations, suppliers, logistics partners, contractors. Ask: "Which operational expectation in your area is being executed compliantly but not yet owned?"</a:t>
            </a:r>
          </a:p>
          <a:p/>
          <a:p>
            <a:r>
              <a:t>CHRO · Cultural Alignment. Tendency: sets expectations around people behaviour, engagement and cultural alignment; the link to operational and commercial delivery expectations may need further clarification. Gap: people feel culturally aligned and may not have clear delivery commitments. Chain: Upline, CEO, board remuneration and people committee; Downline, HR business partners, line managers in every function, learning and talent teams; Crossline, line executives who own the people decisions, unions and employee representatives, recruitment and training partners. Ask: "Where does your people agenda connect most directly to a commercial delivery expectation? Is that connection established with both parties?"</a:t>
            </a:r>
          </a:p>
          <a:p/>
          <a:p>
            <a:r>
              <a:t>CTO/CIO · Technical Milestones. Tendency: sets delivery expectations through technical specifications, system milestones and project timelines. Gap: the technical milestone is clear; the business owner's commitment to using the technology outcome to deliver the result is assumed without confirmation. Chain: Upline, CEO, executive investment committee, CFO as budget holder; Downline, technology and project teams, the business owner of each system, data teams; Crossline, the functions that run on each system, technology vendors, implementation partners. Ask: "Which technology outcome have you delivered recently that was not fully converted into business value? What expectation conversation was missing?"</a:t>
            </a:r>
          </a:p>
          <a:p/>
          <a:p>
            <a:r>
              <a:t>CMO · Market Performance. Tendency: sets market growth or brand expectations through campaign metrics and positioning targets, which depend on several functions for delivery. Gap: the campaign target is clear; the operational and commercial functions have not confirmed their ownership of enabling it. Chain: Upline, CEO, CFO as budget holder; Downline, marketing team, sales teams, the service teams that deliver the brand promise; Crossline, sales, product and service leaders, agencies, media and channel partners. Ask: "Which functions are critical to your marketing outcomes? Have you established expectations with them?"</a:t>
            </a:r>
          </a:p>
          <a:p/>
          <a:p>
            <a:r>
              <a:t>CCO · Commercial Ambition. Tendency: sets ambitious commercial expectations to drive revenue momentum. Gap: the commercial target is understood; the operational capacity to deliver it sustainably is not confirmed. Chain: Upline, CEO, CFO for pricing and credit decisions; Downline, sales and account teams, operations and service delivery teams, marketing; Crossline, operations, finance and marketing leaders, key customers, distributors, channel partners. Ask: "What is the most ambitious commercial target you currently carry? Have you established the operational expectations chain required to sustain it?"</a:t>
            </a:r>
          </a:p>
          <a:p/>
          <a:p>
            <a:r>
              <a:t>CPO · Procurement Discipline. Tendency: sets procurement expectations through contractual terms, supplier metrics and compliance frameworks. Gap: supplier expectations are clear; internal expectations for converting supplier performance into business value are not established. Chain: Upline, CEO or CFO, the tender or procurement committee; Downline, procurement team, the functions that use what is bought, finance for payment; Crossline, finance, operations and the budget holders who use what is bought, suppliers, contractors, logistics providers. Ask: "Which procurement outcome is delivering inputs that are not yet being converted into enterprise value? What internal alignment conversation is missing?"</a:t>
            </a:r>
          </a:p>
          <a:p/>
          <a:p>
            <a:r>
              <a:t>CRO · Risk Governance. Tendency: sets expectations for risk control and compliance through governance frameworks, policies and reporting standards. Gap: the governance rule is understood; ownership of risk-aware behaviour remains procedural. Chain: Upline, board risk committee, CEO; Downline, risk and compliance teams, the risk owner in each function; Crossline, finance, operations and technology leaders who own the risks, regulators, external auditors, insurers. Ask: "Where in your organisation is risk compliance still only procedural? What alignment conversation would change this?"</a:t>
            </a:r>
          </a:p>
          <a:p/>
          <a:p>
            <a:r>
              <a:t>CSO · Strategic Planning. Tendency: sets expectations around planning milestones, strategic reviews and OKR cycles. Gap: the strategic plan is clear; the operational leaders' daily execution ownership of it is assumed without being established through dialogue. Chain: Upline, CEO, board; Downline, the strategy office, the executive who owns each Key Result, programme and project owners; Crossline, finance and HR leaders who resource the strategy, strategy advisers, alliance partners. Ask: "Which operational leaders have received your strategic plan but not yet accepted ownership of delivering it? What is one alignment conversation you need to have?"</a:t>
            </a:r>
          </a:p>
          <a:p/>
          <a:p>
            <a:r>
              <a:t>Say for every chain: "These are the contributors most leaders in this role depend on. The real chain depends on the Key Result in question."</a:t>
            </a:r>
          </a:p>
          <a:p/>
          <a:p>
            <a:r>
              <a:rPr b="1"/>
              <a:t>4. Read each chain against the room.</a:t>
            </a:r>
          </a:p>
          <a:p>
            <a:r>
              <a:t>For each role taught, read the likely Expectations Chain and ask who is missing from it in the participant's own organisation.</a:t>
            </a:r>
          </a:p>
          <a:p>
            <a:r>
              <a:t>Ask: "Which expectation is this leader placing on another function, and what enabling promise is this leader making in return?" Capture unowned dependencies as alignment gaps.</a:t>
            </a:r>
          </a:p>
          <a:p/>
          <a:p>
            <a:r>
              <a:rPr b="1"/>
              <a:t>5. Name what the ten have in common.</a:t>
            </a:r>
          </a:p>
          <a:p>
            <a:r>
              <a:t>Say: "Setting expectations makes sure people know what leadership wants. Establishing expectations makes sure people understand the conditions for success, accept ownership of the outcome and are prepared to mobilise the system needed to achieve it. When this step is overlooked, the organisation may appear aligned at the surface while engagement weakens and accountability dilutes beneath it: the two casualties of 2.3."</a:t>
            </a:r>
          </a:p>
          <a:p/>
          <a:p>
            <a:r>
              <a:rPr b="1"/>
              <a:t>6. Ask the key question, now that the roles are taught.</a:t>
            </a:r>
          </a:p>
          <a:p>
            <a:r>
              <a:t>Ask: "What is the most important expectation you have set, but not yet established, with someone in your expectations chain? What would it take to establish it properly?"</a:t>
            </a:r>
          </a:p>
          <a:p/>
          <a:p>
            <a:r>
              <a:rPr b="1"/>
              <a:t>7. Bridge to the reflection.</a:t>
            </a:r>
          </a:p>
          <a:p/>
          <a:p>
            <a:r>
              <a:rPr b="1"/>
              <a:t>ON THE PORTAL, AFTER THE TEACHING:</a:t>
            </a:r>
          </a:p>
          <a:p>
            <a:r>
              <a:t>Participants read the ten role cards in part 3.1 of their own file and write the reflection at the foot of the part: the most important expectation they have set but not yet established, and who in their chain needs that alignment dialogue.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D1CB9-2220-4A10-A93F-18D13AE700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2BE40-5F59-4C3B-83A1-6A5FEC619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D4AEB-2055-AA16-14F7-CDED3231CA8D}"/>
              </a:ext>
            </a:extLst>
          </p:cNvPr>
          <p:cNvSpPr>
            <a:spLocks noGrp="1"/>
          </p:cNvSpPr>
          <p:nvPr>
            <p:ph type="body" idx="1"/>
          </p:nvPr>
        </p:nvSpPr>
        <p:spPr/>
        <p:txBody>
          <a:bodyPr/>
          <a:lstStyle/>
          <a:p>
            <a:r>
              <a:rPr b="1"/>
              <a:t>SECTION 3 REFLECTIONS</a:t>
            </a:r>
          </a:p>
          <a:p/>
          <a:p>
            <a:r>
              <a:rPr b="1"/>
              <a:t>HOW TO USE THIS SLIDE:</a:t>
            </a:r>
          </a:p>
          <a:p/>
          <a:p>
            <a:r>
              <a:rPr b="1"/>
              <a:t>1. Show the slide and read the prompt aloud.</a:t>
            </a:r>
          </a:p>
          <a:p>
            <a:r>
              <a:t>3.1 Reflection — Your Expectation Gap: "Based on your role exploration: what is the most important expectation you have set but not yet established? Who in your chain needs that alignment dialogue?"</a:t>
            </a:r>
          </a:p>
          <a:p/>
          <a:p>
            <a:r>
              <a:rPr b="1"/>
              <a:t>2. Say what the reflection is for.</a:t>
            </a:r>
          </a:p>
          <a:p>
            <a:r>
              <a:t>Point learners to the portal section that they will be required to complete with as much depth as possible.</a:t>
            </a:r>
          </a:p>
          <a:p>
            <a:r>
              <a:t>The reflections build the learning portfolio they receive at the end of the programme.</a:t>
            </a:r>
          </a:p>
          <a:p>
            <a:r>
              <a:t>Say: "You write this reflection on the portal after the teaching, with as much depth as you can."</a:t>
            </a:r>
          </a:p>
          <a:p/>
          <a:p>
            <a:r>
              <a:rPr b="1"/>
              <a:t>3. Set the standard.</a:t>
            </a:r>
          </a:p>
          <a:p>
            <a:r>
              <a:t>Say: "Name the expectation, the person or function you need to establish it with, and the alignment dialogue you will have."</a:t>
            </a:r>
          </a:p>
          <a:p>
            <a:r>
              <a:t>Listen for: a reflection that names a team where a person is needed. Ask for one role.</a:t>
            </a:r>
          </a:p>
          <a:p/>
          <a:p>
            <a:r>
              <a:rPr b="1"/>
              <a:t>4. Bridge to Section 4.</a:t>
            </a:r>
          </a:p>
          <a:p>
            <a:r>
              <a:t>Say: "You have seen where the expectation gap opens in your own role. Section 4 practises the dialogue every leader uses to close it."</a:t>
            </a:r>
          </a:p>
          <a:p/>
          <a:p>
            <a:r>
              <a:rPr b="1"/>
              <a:t>ON THE PORTAL, AFTER THE TEACHING:</a:t>
            </a:r>
          </a:p>
          <a:p>
            <a:r>
              <a:t>Participants write this reflection in Section 3 of the participant file, at the foot of part 3.1.</a:t>
            </a:r>
          </a:p>
        </p:txBody>
      </p:sp>
      <p:sp>
        <p:nvSpPr>
          <p:cNvPr id="4" name="Slide Number Placeholder 3">
            <a:extLst>
              <a:ext uri="{FF2B5EF4-FFF2-40B4-BE49-F238E27FC236}">
                <a16:creationId xmlns:a16="http://schemas.microsoft.com/office/drawing/2014/main" id="{8B682397-8A66-8837-066D-17EDCBB824B7}"/>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982356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4 · INTEGRATION — COLLECTIVE</a:t>
            </a:r>
          </a:p>
          <a:p>
            <a:r>
              <a:t>Cross-Leadership Expectation Architecture</a:t>
            </a:r>
          </a:p>
          <a:p/>
          <a:p>
            <a:r>
              <a:rPr b="1"/>
              <a:t>HOW THIS SECTION RUNS:</a:t>
            </a:r>
          </a:p>
          <a:p>
            <a:r>
              <a:t>1. 4.1 Practising the Alignment Dialogue: a role play you run in class, between any two roles you choose. Nothing is entered on the portal during the role play.</a:t>
            </a:r>
          </a:p>
          <a:p>
            <a:r>
              <a:t>2. The Section 4 Portfolio work slide: the dialogue with the board chair that each participant prepares alone on the portal after the teaching.</a:t>
            </a:r>
          </a:p>
          <a:p/>
          <a:p>
            <a:r>
              <a:rPr b="1"/>
              <a:t>SECTION LEARNING OUTCOMES:</a:t>
            </a:r>
          </a:p>
          <a:p>
            <a:r>
              <a:t>1. Coach individuals towards clear, capable and committed ownership of results.</a:t>
            </a:r>
          </a:p>
          <a:p>
            <a:r>
              <a:t>2. Conduct alignment conversations that secure reciprocal commitments and dependencies.</a:t>
            </a:r>
          </a:p>
          <a:p/>
          <a:p>
            <a:r>
              <a:rPr b="1"/>
              <a:t>HOW TO OPEN THE SECTION:</a:t>
            </a:r>
          </a:p>
          <a:p/>
          <a:p>
            <a:r>
              <a:rPr b="1"/>
              <a:t>1. Link from Section 3.</a:t>
            </a:r>
          </a:p>
          <a:p>
            <a:r>
              <a:t>Say: "Section 3 showed that each executive role carries its own expectation gap. In many organisations, expectations are communicated through different functional mechanisms: budgets, project plans, operational procedures, campaign targets or performance reviews. Each gives clarity within its function, and none gives a shared method for establishing delivery expectations across the enterprise."</a:t>
            </a:r>
          </a:p>
          <a:p/>
          <a:p>
            <a:r>
              <a:rPr b="1"/>
              <a:t>2. Name the purpose of the section.</a:t>
            </a:r>
          </a:p>
          <a:p>
            <a:r>
              <a:t>Say: "This section brings the leadership team to one way of establishing expectations: the Alignment Dialogue, taught in part 1.4. You practise it across leadership roles, testing the contribution each person will deliver and what the organisation must enable for it."</a:t>
            </a:r>
          </a:p>
          <a:p/>
          <a:p>
            <a:r>
              <a:rPr b="1"/>
              <a:t>3. Bridge to 4.1.</a:t>
            </a:r>
          </a:p>
          <a:p>
            <a:r>
              <a:t>Say: "We practise it now, live."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2BE40-5F59-4C3B-83A1-6A5FEC619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D4AEB-2055-AA16-14F7-CDED3231CA8D}"/>
              </a:ext>
            </a:extLst>
          </p:cNvPr>
          <p:cNvSpPr>
            <a:spLocks noGrp="1"/>
          </p:cNvSpPr>
          <p:nvPr>
            <p:ph type="body" idx="1"/>
          </p:nvPr>
        </p:nvSpPr>
        <p:spPr/>
        <p:txBody>
          <a:bodyPr/>
          <a:lstStyle/>
          <a:p>
            <a:r>
              <a:rPr b="1"/>
              <a:t>SECTION 1 REFLECTIONS · 1.3 AND 1.4</a:t>
            </a:r>
          </a:p>
          <a:p/>
          <a:p>
            <a:r>
              <a:rPr b="1"/>
              <a:t>HOW TO USE THIS SLIDE:</a:t>
            </a:r>
          </a:p>
          <a:p/>
          <a:p>
            <a:r>
              <a:rPr b="1"/>
              <a:t>1. Show the slide and read each prompt aloud.</a:t>
            </a:r>
          </a:p>
          <a:p>
            <a:r>
              <a:t>1.3 Reflection — Map Your Chain: "Choose one current key result. Map your Expectations Chain. Have you had an alignment dialogue with everyone in the chain — or only with the person holding the KPI?"</a:t>
            </a:r>
          </a:p>
          <a:p>
            <a:r>
              <a:t>1.4 Reflection — Practise the Resolve Question: "Write the Resolve question in your own words. Then apply it to a real expectation alignment scenario you are currently facing."</a:t>
            </a:r>
          </a:p>
          <a:p/>
          <a:p>
            <a:r>
              <a:rPr b="1"/>
              <a:t>2. Say what the reflections are for.</a:t>
            </a:r>
          </a:p>
          <a:p>
            <a:r>
              <a:t>Point learners to the portal section that they will be required to complete with as much depth as possible.</a:t>
            </a:r>
          </a:p>
          <a:p>
            <a:r>
              <a:t>The reflections build the learning portfolio they receive at the end of the programme.</a:t>
            </a:r>
          </a:p>
          <a:p>
            <a:r>
              <a:t>Say: "You write these reflections on the portal after the teaching, with as much depth as you can."</a:t>
            </a:r>
          </a:p>
          <a:p/>
          <a:p>
            <a:r>
              <a:rPr b="1"/>
              <a:t>3. Set the standard.</a:t>
            </a:r>
          </a:p>
          <a:p>
            <a:r>
              <a:t>Say: "Name the people in your chain, in each direction. Write the Resolve question as you would ask it, the answer you expect, and how you would respond."</a:t>
            </a:r>
          </a:p>
          <a:p/>
          <a:p>
            <a:r>
              <a:rPr b="1"/>
              <a:t>4. Bridge to Section 2.</a:t>
            </a:r>
          </a:p>
          <a:p>
            <a:r>
              <a:t>Say: "Section 1 named the distinction and the two mechanisms that close it. Section 2 asks why establishing expectations decides execution outcomes."</a:t>
            </a:r>
          </a:p>
          <a:p/>
          <a:p>
            <a:r>
              <a:rPr b="1"/>
              <a:t>ON THE PORTAL, AFTER THE TEACHING:</a:t>
            </a:r>
          </a:p>
          <a:p>
            <a:r>
              <a:t>Participants write these reflections in Section 1 of the participant file, at the foot of parts 1.3 and 1.4.</a:t>
            </a:r>
          </a:p>
        </p:txBody>
      </p:sp>
      <p:sp>
        <p:nvSpPr>
          <p:cNvPr id="4" name="Slide Number Placeholder 3">
            <a:extLst>
              <a:ext uri="{FF2B5EF4-FFF2-40B4-BE49-F238E27FC236}">
                <a16:creationId xmlns:a16="http://schemas.microsoft.com/office/drawing/2014/main" id="{8B682397-8A66-8837-066D-17EDCBB824B7}"/>
              </a:ext>
            </a:extLst>
          </p:cNvPr>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4.1 — PRACTISING THE ALIGNMENT DIALOGUE (ROLE PLAY IN CLASS)</a:t>
            </a:r>
          </a:p>
          <a:p/>
          <a:p>
            <a:r>
              <a:rPr b="1"/>
              <a:t>HOW TO RUN IT:</a:t>
            </a:r>
          </a:p>
          <a:p>
            <a:r>
              <a:t>Participants practise the Alignment Dialogue with the GROW model, both taught in part 1.4. You run this role play in the live session, between any two roles that you choose. Nothing is entered on the portal during the role play.</a:t>
            </a:r>
          </a:p>
          <a:p/>
          <a:p>
            <a:r>
              <a:rPr b="1"/>
              <a:t>1. Prepare three things.</a:t>
            </a:r>
          </a:p>
          <a:p>
            <a:r>
              <a:t>The expectation. One Key Result. Use the example "Reduce complaint resolution time from 48 hours to 12 hours", or a Key Result from a group's Unit 3 Enterprise OKRs.</a:t>
            </a:r>
          </a:p>
          <a:p>
            <a:r>
              <a:t>The two roles for each round. One is the leader who establishes the expectation. The other is the owner who must deliver it. Any two roles work: CEO and COO, COO and Head of Customer Service, CFO and Head of Procurement, or an executive and the board chair.</a:t>
            </a:r>
          </a:p>
          <a:p>
            <a:r>
              <a:t>The owner brief for each round. It gives the owner's score, the concerns behind it and what moves the owner to a 9 or 10. Two briefs for this example are below. Write your own in the same pattern for the roles you choose.</a:t>
            </a:r>
          </a:p>
          <a:p>
            <a:r>
              <a:t>Owner brief · example A: "You give a 7. The outcome is clear to you. Your concern is that the billing team must answer customer queries on the same day, and nobody has agreed this with them. You move to a 9 when the leader agrees to establish that expectation with the Head of Billing."</a:t>
            </a:r>
          </a:p>
          <a:p>
            <a:r>
              <a:t>Owner brief · example B: "You give a 5. You have two concerns. First, you do not know how 'resolved' will be measured. Second, your team has three vacancies. Give only the first concern until the leader asks 'What else?' You move to a 9 when success is defined and the two of you have agreed how the vacancies will be covered."</a:t>
            </a:r>
          </a:p>
          <a:p/>
          <a:p>
            <a:r>
              <a:rPr b="1"/>
              <a:t>2. Set it up.</a:t>
            </a:r>
          </a:p>
          <a:p>
            <a:r>
              <a:t>Say: "We will now practise the Alignment Dialogue on one expectation. Listen for the four GROW stages." State the expectation and name the two roles.</a:t>
            </a:r>
          </a:p>
          <a:p/>
          <a:p>
            <a:r>
              <a:rPr b="1"/>
              <a:t>3. Give the observers their task.</a:t>
            </a:r>
          </a:p>
          <a:p>
            <a:r>
              <a:t>Say: "Everyone who is not in a role, post in the chat each GROW stage as you hear it, G, R, O or W, and the question that opened it."</a:t>
            </a:r>
          </a:p>
          <a:p/>
          <a:p>
            <a:r>
              <a:rPr b="1"/>
              <a:t>4. Round 1 · You demonstrate.</a:t>
            </a:r>
          </a:p>
          <a:p>
            <a:r>
              <a:t>You play the leader. A volunteer plays the owner. Send the volunteer the owner brief in a private chat message. Connect the expectation to the Future in one sentence, state the outcome, then ask the alignment question. Work through Score → Evaluate → Resolve with the GROW questions, and end by asking the alignment question again.</a:t>
            </a:r>
          </a:p>
          <a:p/>
          <a:p>
            <a:r>
              <a:rPr b="1"/>
              <a:t>5. Pause.</a:t>
            </a:r>
          </a:p>
          <a:p>
            <a:r>
              <a:t>Ask the observers: "Which question moved the score?" Read two answers from the chat.</a:t>
            </a:r>
          </a:p>
          <a:p/>
          <a:p>
            <a:r>
              <a:rPr b="1"/>
              <a:t>6. Round 2 · Participants lead.</a:t>
            </a:r>
          </a:p>
          <a:p>
            <a:r>
              <a:t>One volunteer plays the leader and a second volunteer plays the owner, in the roles you chose. Send the owner brief to the owner in a private chat message. Run further rounds with other roles as you choose.</a:t>
            </a:r>
          </a:p>
          <a:p>
            <a:r>
              <a:t>Listen for, and step in when you hear it:</a:t>
            </a:r>
          </a:p>
          <a:p>
            <a:r>
              <a:t>The leader defends the target or argues with the score. Stop the round and ask the leader to return to "What influenced the score you gave?"</a:t>
            </a:r>
          </a:p>
          <a:p>
            <a:r>
              <a:t>The leader offers solutions before asking for the owner's options. Ask: "Whose idea was that?"</a:t>
            </a:r>
          </a:p>
          <a:p>
            <a:r>
              <a:t>The dialogue ends without the alignment question being asked again. Ask: "How do you know where the owner stands now?"</a:t>
            </a:r>
          </a:p>
          <a:p/>
          <a:p>
            <a:r>
              <a:rPr b="1"/>
              <a:t>7. Debrief.</a:t>
            </a:r>
          </a:p>
          <a:p>
            <a:r>
              <a:t>Ask: "What did the leader do when the score was low?" "Which concern would have stayed hidden without 'What else?'" "What felt unfamiliar about asking for a score?"</a:t>
            </a:r>
          </a:p>
          <a:p/>
          <a:p>
            <a:r>
              <a:rPr b="1"/>
              <a:t>8. Bridge to the Portfolio work.</a:t>
            </a:r>
          </a:p>
          <a:p>
            <a:r>
              <a:t>Say: "On the portal, in part 4.1, you prepare an Alignment Dialogue with your board chair on one of your own Key Results. The next slide shows how."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4 · PORTFOLIO WORK</a:t>
            </a:r>
          </a:p>
          <a:p/>
          <a:p>
            <a:r>
              <a:rPr b="1"/>
              <a:t>HOW TO USE THIS SLIDE:</a:t>
            </a:r>
          </a:p>
          <a:p/>
          <a:p>
            <a:r>
              <a:rPr b="1"/>
              <a:t>1. Explain the Portfolio work of part 4.1.</a:t>
            </a:r>
          </a:p>
          <a:p>
            <a:r>
              <a:t>Say: "In part 4.1 you prepare an Alignment Dialogue with your board chair, using the GROW model.</a:t>
            </a:r>
          </a:p>
          <a:p>
            <a:r>
              <a:t>You choose the Key Result for which you may need that dialogue. The list holds the Key Results your group confirmed in Unit 3.</a:t>
            </a:r>
          </a:p>
          <a:p>
            <a:r>
              <a:t>The scenario is on your page: your board chair has disagreed with the current metric and timeframe of that Key Result. You ask the alignment question: 'On a scale of 1–10, how aligned are you with this Key Result as it stands?' Your chair gives a 5. Your aim is to move your chair to a 10.</a:t>
            </a:r>
          </a:p>
          <a:p>
            <a:r>
              <a:t>You write your side of the dialogue under Goal, Reality, Options and Will. The lesson from part 1.4 sits above each box. Under Will, state what you and your chair agree to do and how you confirm that your chair has reached a 10."</a:t>
            </a:r>
          </a:p>
          <a:p/>
          <a:p>
            <a:r>
              <a:rPr b="1"/>
              <a:t>2. Say what the Portfolio work is for.</a:t>
            </a:r>
          </a:p>
          <a:p>
            <a:r>
              <a:t>The Portfolio work builds the learning portfolio participants receive at the end of the programme.</a:t>
            </a:r>
          </a:p>
          <a:p>
            <a:r>
              <a:t>Say: "You complete the Portfolio work on the portal after the teaching, with as much depth as you can."</a:t>
            </a:r>
          </a:p>
          <a:p/>
          <a:p>
            <a:r>
              <a:rPr b="1"/>
              <a:t>3. Set the standard.</a:t>
            </a:r>
          </a:p>
          <a:p>
            <a:r>
              <a:t>Say: "Write the questions you would ask in your own words. A question you would never say aloud does not belong in your dialogue. Under Reality, ask about the metric and the timeframe separately."</a:t>
            </a:r>
          </a:p>
          <a:p>
            <a:r>
              <a:t>Listen for: answers that argue the case for the metric. Ask which GROW question comes first.</a:t>
            </a:r>
          </a:p>
          <a:p/>
          <a:p>
            <a:r>
              <a:rPr b="1"/>
              <a:t>4. Bridge to Section 5.</a:t>
            </a:r>
          </a:p>
          <a:p>
            <a:r>
              <a:t>Say: "You have practised the dialogue. In Section 5 your group establishes delivery expectations for two contributions from its Contribution Map, for the people and for the organisation, then prepares the same dialogue with the board chair as a group."</a:t>
            </a:r>
          </a:p>
          <a:p/>
          <a:p>
            <a:r>
              <a:rPr b="1"/>
              <a:t>ON THE PORTAL, AFTER THE TEACHING:</a:t>
            </a:r>
          </a:p>
          <a:p>
            <a:r>
              <a:t>Each participant completes part 4.1 of their own file alone, as Portfolio work: the Key Result chosen from the drop-down list, and four boxes, one for each GROW stage. The work becomes part of the participant's Learning Portfolio. It reaches you when the participant selects Submit to Facilitator at the end of the unit.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SECTION 5 · APPLICATION — IN PRACTICE</a:t>
            </a:r>
          </a:p>
          <a:p>
            <a:r>
              <a:t>Establishing Delivery Expectations</a:t>
            </a:r>
          </a:p>
          <a:p/>
          <a:p>
            <a:r>
              <a:rPr b="1"/>
              <a:t>HOW THIS SECTION RUNS:</a:t>
            </a:r>
          </a:p>
          <a:p>
            <a:r>
              <a:t>This is group work and Capstone work. Section 5 has two exercises, completed in order:</a:t>
            </a:r>
          </a:p>
          <a:p>
            <a:r>
              <a:t>5.1 · Building the Expectation Architecture. Each group selects two contributions from the Contribution Map it built in Unit 6 and takes each through four steps, establishing a people performance expectation and the supporting expectations on organisational conditions.</a:t>
            </a:r>
          </a:p>
          <a:p>
            <a:r>
              <a:t>5.2 · Conducting the Alignment Dialogue with the Board Chair. Each group prepares the dialogue that moves its board chair to a 10 on one Key Result.</a:t>
            </a:r>
          </a:p>
          <a:p>
            <a:r>
              <a:t>The group chooses its scribe for this work. The scribe types what the group agrees, and the entries appear on every member's page. Each participant then reads the group's record at the foot of the section and selects Agree. When every member has agreed, the record feeds boxes 7A to 7E of the team's Capstone S2R® Blueprint.</a:t>
            </a:r>
          </a:p>
          <a:p/>
          <a:p>
            <a:r>
              <a:rPr b="1"/>
              <a:t>SECTION LEARNING OUTCOMES:</a:t>
            </a:r>
          </a:p>
          <a:p>
            <a:r>
              <a:t>1. Establish owned expectations for the contributions identified in the Capstone.</a:t>
            </a:r>
          </a:p>
          <a:p>
            <a:r>
              <a:t>2. Consolidate agreed commitments, conditions and follow-up actions into a shared delivery agreement.</a:t>
            </a:r>
          </a:p>
          <a:p/>
          <a:p>
            <a:r>
              <a:rPr b="1"/>
              <a:t>HOW TO OPEN THE SECTION:</a:t>
            </a:r>
          </a:p>
          <a:p/>
          <a:p>
            <a:r>
              <a:rPr b="1"/>
              <a:t>1. Say what the section does.</a:t>
            </a:r>
          </a:p>
          <a:p>
            <a:r>
              <a:t>Say: "Section 5 has two exercises. In 5.1 your group builds the Expectation Architecture for two contributions from its Contribution Map, for the people and for the organisation. In 5.2 your group prepares the Alignment Dialogue with your board chair."</a:t>
            </a:r>
          </a:p>
          <a:p/>
          <a:p>
            <a:r>
              <a:rPr b="1"/>
              <a:t>2. Say how the group works.</a:t>
            </a:r>
          </a:p>
          <a:p>
            <a:r>
              <a:t>Say: "Both exercises are group work. Your group agrees each entry and chooses its scribe for this work. The entries appear on every member's page, and each member then selects Agree."</a:t>
            </a:r>
          </a:p>
          <a:p/>
          <a:p>
            <a:r>
              <a:rPr b="1"/>
              <a:t>3. Say what must be in place first.</a:t>
            </a:r>
          </a:p>
          <a:p>
            <a:r>
              <a:t>Say: "The drop-down lists of 5.1 hold the functions of your group's Contribution Map from Unit 6, Section 5, and its Success in Practice statements from Unit 2. The list of 5.2 holds the Key Results of your Enterprise OKRs from Unit 3. Your group confirms them in those units first."</a:t>
            </a:r>
          </a:p>
          <a:p/>
          <a:p>
            <a:r>
              <a:rPr b="1"/>
              <a:t>4. Say where the work goes.</a:t>
            </a:r>
          </a:p>
          <a:p>
            <a:r>
              <a:t>Say: "This is Capstone work. When every member has agreed, your record feeds your team's Capstone S2R® Blueprint."</a:t>
            </a:r>
          </a:p>
          <a:p>
            <a:r>
              <a:t>Your role in this section: guide how the work is completed. The Capstone work is reviewed independently at graduation.</a:t>
            </a:r>
          </a:p>
          <a:p/>
          <a:p>
            <a:r>
              <a:rPr b="1"/>
              <a:t>5. Name what a complete record holds.</a:t>
            </a:r>
          </a:p>
          <a:p>
            <a:r>
              <a:t>Say: "A complete record gives every expectation a clear enterprise line of sight, an accountable human owner, named leaders for the organisational conditions, agreed evidence and a documented alignment outcome."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5.1 — BUILDING THE EXPECTATION ARCHITECTURE (CAPSTONE WORK)</a:t>
            </a:r>
          </a:p>
          <a:p/>
          <a:p>
            <a:r>
              <a:rPr b="1"/>
              <a:t>HOW TO TEACH IT:</a:t>
            </a:r>
          </a:p>
          <a:p/>
          <a:p>
            <a:r>
              <a:rPr b="1"/>
              <a:t>1. Say what the group does.</a:t>
            </a:r>
          </a:p>
          <a:p>
            <a:r>
              <a:t>Say: "Each group selects two contributions from the Contribution Map it built in Unit 6 and takes each through the four steps. For each one you establish a people performance expectation and the supporting expectations on organisational conditions."</a:t>
            </a:r>
          </a:p>
          <a:p/>
          <a:p>
            <a:r>
              <a:rPr b="1"/>
              <a:t>2. Step 1 · Start With the Future.</a:t>
            </a:r>
          </a:p>
          <a:p>
            <a:r>
              <a:t>The lesson participants see: Connect the expectation to the organisation's Success in Practice (SiP), so the individual understands why the outcome matters. When expectations begin with the Future, individuals understand the contribution their work makes to the broader direction.</a:t>
            </a:r>
          </a:p>
          <a:p>
            <a:r>
              <a:t>Say: "From the first drop-down list, choose two contributions. The list holds the functions your group mapped in Unit 6, each with the enterprise Key Result it serves. For each contribution, choose the Success in Practice statement it serves from the second list. Name the owner of each contribution: the role that must make sure it is delivered. Write the part of that Future the contribution serves. Then write the leader framing: the sentence you, as the leader, say to the owner to connect the contribution to that Future, for example 'As part of our goal to become …, we need to …'."</a:t>
            </a:r>
          </a:p>
          <a:p/>
          <a:p>
            <a:r>
              <a:rPr b="1"/>
              <a:t>3. Step 2 · Clarify the Delivery Expectation.</a:t>
            </a:r>
          </a:p>
          <a:p>
            <a:r>
              <a:t>The lesson participants see: from part 1.2, Clarity in people performance (strategic contribution, performance expectations, performance standard, behavioural expectations and evidence) and Clarity in organisational performance (what the Environment, Systems, Resources and Governance must provide for the contribution to be delivered).</a:t>
            </a:r>
          </a:p>
          <a:p>
            <a:r>
              <a:t>Say: "Read what your Contribution Map holds for each contribution. For the people, state what must be delivered, by when, to what standard, how success will be recognised and the behaviours expected. For the organisation, state what each condition must provide and name the leader who owns it: the facilities, infrastructure and technology of the Environment; the processes the Systems must standardise, integrate and make efficient; the assets and funding of the Resources; and the policies and procedures, decision authority and risk management of Governance."</a:t>
            </a:r>
          </a:p>
          <a:p/>
          <a:p>
            <a:r>
              <a:rPr b="1"/>
              <a:t>4. Step 3 · Identify the Expectations Chain.</a:t>
            </a:r>
          </a:p>
          <a:p>
            <a:r>
              <a:t>The lesson participants see: from part 1.3, Upline (those who authorise, resource or enable delivery: decisions, support, approvals and removal of constraints), Downline (those who perform the work: results, standards, behaviours and evidence of performance) and Crossline (those whose contributions are interdependent: handovers, coordination, shared responsibilities and delivery commitments).</a:t>
            </a:r>
          </a:p>
          <a:p>
            <a:r>
              <a:t>Say: "For each contribution, name the Upline, the Downline and the Crossline, and state what must be established with each. Then state the coordination these contributors require."</a:t>
            </a:r>
          </a:p>
          <a:p/>
          <a:p>
            <a:r>
              <a:rPr b="1"/>
              <a:t>5. Step 4 · Confirm Ownership.</a:t>
            </a:r>
          </a:p>
          <a:p>
            <a:r>
              <a:t>The lesson participants see: the alignment question, "On a scale of 1–10, how aligned are you with the expectation for you to deliver this outcome?", and from part 1.4: a score of 9 or 10, proceed and confirm the commitment; below 9, Score → Evaluate → Resolve with the GROW questions; agree a resolution owner and review date for each constraint; then ask the alignment question again.</a:t>
            </a:r>
          </a:p>
          <a:p>
            <a:r>
              <a:t>Say: "Agree which of you speaks as the leader and which of you answers as the owner of the contribution. As the leader, ask the alignment question and record the owner's score. Where the score is below 9, ask the GROW questions of part 1.4, then record what stands behind the score, the actions agreed to reach a 9 or 10 with an owner and a review date for each, and the revised score. Where the first score is 9 or 10, the three boxes below it stay empty."</a:t>
            </a:r>
          </a:p>
          <a:p/>
          <a:p>
            <a:r>
              <a:rPr b="1"/>
              <a:t>6. Bridge to 5.2.</a:t>
            </a:r>
          </a:p>
          <a:p>
            <a:r>
              <a:t>Say: "With both contributions established, your group prepares one more dialogue: with your board chair."</a:t>
            </a:r>
          </a:p>
          <a:p/>
          <a:p>
            <a:r>
              <a:rPr b="1"/>
              <a:t>LATER, WHEN THE GROUPS DO THE WORK ON THE PORTAL:</a:t>
            </a:r>
          </a:p>
          <a:p>
            <a:r>
              <a:t>Participants work as a group in part 5.1 of their own file. The group chooses its scribe for this work; the entries appear on every member's page.</a:t>
            </a:r>
          </a:p>
          <a:p>
            <a:r>
              <a:t>Step 1, for each contribution: two drop-down lists (the contribution, the Success in Practice statement it serves) and three boxes (owner of the contribution, the part of that Future it serves, leader framing).</a:t>
            </a:r>
          </a:p>
          <a:p>
            <a:r>
              <a:t>Step 2, for each contribution: the Contribution Map entries shown for reading; five boxes for the people (what must be delivered, by when, to what standard, how success will be recognised, the behaviours expected); four boxes for the organisation (Environment, Systems, Resources, Governance, each with what must be provided and who owns it).</a:t>
            </a:r>
          </a:p>
          <a:p>
            <a:r>
              <a:t>Step 3, for each contribution: two boxes for each direction (who they are, what must be established with them) and one box for the coordination required.</a:t>
            </a:r>
          </a:p>
          <a:p>
            <a:r>
              <a:t>Step 4, for each contribution: the alignment score, and where it is below 9, three boxes (what stands behind the score, actions agreed with owners and review dates, revised score).</a:t>
            </a:r>
          </a:p>
          <a:p>
            <a:r>
              <a:t>If a group's drop-down list is empty, it has not yet confirmed its Unit 6 Contribution Map or Unit 2 Success in Practice; guide it back to that unit first.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2BE40-5F59-4C3B-83A1-6A5FEC619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D4AEB-2055-AA16-14F7-CDED3231CA8D}"/>
              </a:ext>
            </a:extLst>
          </p:cNvPr>
          <p:cNvSpPr>
            <a:spLocks noGrp="1"/>
          </p:cNvSpPr>
          <p:nvPr>
            <p:ph type="body" idx="1"/>
          </p:nvPr>
        </p:nvSpPr>
        <p:spPr/>
        <p:txBody>
          <a:bodyPr/>
          <a:lstStyle/>
          <a:p>
            <a:r>
              <a:rPr b="1"/>
              <a:t>SECTION 1 REFLECTIONS · 1.1 AND 1.2</a:t>
            </a:r>
          </a:p>
          <a:p/>
          <a:p>
            <a:r>
              <a:rPr b="1"/>
              <a:t>HOW TO USE THIS SLIDE:</a:t>
            </a:r>
          </a:p>
          <a:p/>
          <a:p>
            <a:r>
              <a:rPr b="1"/>
              <a:t>1. Show the slide and read each prompt aloud.</a:t>
            </a:r>
          </a:p>
          <a:p>
            <a:r>
              <a:t>1.1 Reflection — Your Honest Assessment: "Think of the last time you communicated a delivery expectation. Was it set or established? How do you know?"</a:t>
            </a:r>
          </a:p>
          <a:p>
            <a:r>
              <a:t>1.2 Reflection — Which Condition Is Most Often Missing?: "In your current role, which of the three conditions do you most consistently confirm — and which do you most often assume?"</a:t>
            </a:r>
          </a:p>
          <a:p/>
          <a:p>
            <a:r>
              <a:rPr b="1"/>
              <a:t>2. Say what the reflections are for.</a:t>
            </a:r>
          </a:p>
          <a:p>
            <a:r>
              <a:t>Point learners to the portal section that they will be required to complete with as much depth as possible.</a:t>
            </a:r>
          </a:p>
          <a:p>
            <a:r>
              <a:t>The reflections build the learning portfolio they receive at the end of the programme.</a:t>
            </a:r>
          </a:p>
          <a:p>
            <a:r>
              <a:t>Say: "You write these reflections on the portal after the teaching, with as much depth as you can."</a:t>
            </a:r>
          </a:p>
          <a:p/>
          <a:p>
            <a:r>
              <a:rPr b="1"/>
              <a:t>3. Set the standard.</a:t>
            </a:r>
          </a:p>
          <a:p>
            <a:r>
              <a:t>Say: "Name one real expectation and the person concerned. For 1.2, name the condition you assume and the cost of that assumption in your last major initiative."</a:t>
            </a:r>
          </a:p>
          <a:p/>
          <a:p>
            <a:r>
              <a:rPr b="1"/>
              <a:t>4. Continue with the second reflection slide of Section 1.</a:t>
            </a:r>
          </a:p>
          <a:p/>
          <a:p>
            <a:r>
              <a:rPr b="1"/>
              <a:t>ON THE PORTAL, AFTER THE TEACHING:</a:t>
            </a:r>
          </a:p>
          <a:p>
            <a:r>
              <a:t>Participants write these reflections in Section 1 of the participant file, at the foot of parts 1.1 and 1.2.</a:t>
            </a:r>
          </a:p>
        </p:txBody>
      </p:sp>
      <p:sp>
        <p:nvSpPr>
          <p:cNvPr id="4" name="Slide Number Placeholder 3">
            <a:extLst>
              <a:ext uri="{FF2B5EF4-FFF2-40B4-BE49-F238E27FC236}">
                <a16:creationId xmlns:a16="http://schemas.microsoft.com/office/drawing/2014/main" id="{8B682397-8A66-8837-066D-17EDCBB824B7}"/>
              </a:ext>
            </a:extLst>
          </p:cNvPr>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5.2 — CONDUCTING THE ALIGNMENT DIALOGUE WITH THE BOARD CHAIR (CAPSTONE WORK)</a:t>
            </a:r>
          </a:p>
          <a:p/>
          <a:p>
            <a:r>
              <a:rPr b="1"/>
              <a:t>HOW TO TEACH IT:</a:t>
            </a:r>
          </a:p>
          <a:p/>
          <a:p>
            <a:r>
              <a:rPr b="1"/>
              <a:t>1. Link it to part 4.1.</a:t>
            </a:r>
          </a:p>
          <a:p>
            <a:r>
              <a:t>Say: "In part 4.1 you prepared this dialogue on your own. Here your group prepares it together, and the agreed dialogue goes into your team's Capstone S2R® Blueprint."</a:t>
            </a:r>
          </a:p>
          <a:p/>
          <a:p>
            <a:r>
              <a:rPr b="1"/>
              <a:t>2. Give the scenario.</a:t>
            </a:r>
          </a:p>
          <a:p>
            <a:r>
              <a:t>Say: "Your board chair has disagreed with the current metric and timeframe of the Key Result you have chosen. You ask the alignment question: 'On a scale of 1–10, how aligned are you with this Key Result as it stands?' Your chair gives a 5. Your aim is to move your chair to a 10."</a:t>
            </a:r>
          </a:p>
          <a:p/>
          <a:p>
            <a:r>
              <a:rPr b="1"/>
              <a:t>3. Say what the group writes under each stage.</a:t>
            </a:r>
          </a:p>
          <a:p>
            <a:r>
              <a:t>Say: "Choose from the drop-down list the Key Result for which your group may need an alignment dialogue with your board chair. Then agree your side of the dialogue under each GROW stage. The lesson from part 1.4 sits above each box."</a:t>
            </a:r>
          </a:p>
          <a:p>
            <a:r>
              <a:t>G · Goal: the question you ask, and what a 10 would mean for your chair.</a:t>
            </a:r>
          </a:p>
          <a:p>
            <a:r>
              <a:t>R · Reality: what stands behind your chair's score, with one question on the metric and one on the timeframe.</a:t>
            </a:r>
          </a:p>
          <a:p>
            <a:r>
              <a:t>O · Options: the Resolve question in your own words, and the options for the metric and for the timeframe.</a:t>
            </a:r>
          </a:p>
          <a:p>
            <a:r>
              <a:t>W · Will: what you will do, what you ask your chair to do, and how you ask the alignment question again to confirm your chair has reached a 10.</a:t>
            </a:r>
          </a:p>
          <a:p/>
          <a:p>
            <a:r>
              <a:rPr b="1"/>
              <a:t>4. Say where the work goes.</a:t>
            </a:r>
          </a:p>
          <a:p>
            <a:r>
              <a:t>Say: "When the group has finished 5.1 and 5.2, each of you reads your group's record at the foot of the section and selects Agree. When every member has agreed, your record feeds your team's Capstone S2R® Blueprint."</a:t>
            </a:r>
          </a:p>
          <a:p/>
          <a:p>
            <a:r>
              <a:rPr b="1"/>
              <a:t>5. Close the unit.</a:t>
            </a:r>
          </a:p>
          <a:p>
            <a:r>
              <a:t>Say: "Strong performance cultures are built by ensuring that expectations are mutually understood, realistically supported and consciously accepted by the people responsible for delivering them."</a:t>
            </a:r>
          </a:p>
          <a:p>
            <a:r>
              <a:t>Ask each leader to name one expectation they have set but not yet established, with a specific person in their expectations chain. Ask them to capture the score, the primary concern and the action for elevation when they hold that alignment dialogue.</a:t>
            </a:r>
          </a:p>
          <a:p/>
          <a:p>
            <a:r>
              <a:rPr b="1"/>
              <a:t>6. Bridge to Unit 8.</a:t>
            </a:r>
          </a:p>
          <a:p>
            <a:r>
              <a:t>Say: "Each group's delivery expectations now carry named owners, enabling conditions and an agreed dialogue. Unit 8 sets the review discipline that keeps these expectations visible and correctable during execution."</a:t>
            </a:r>
          </a:p>
          <a:p/>
          <a:p>
            <a:r>
              <a:rPr b="1"/>
              <a:t>LATER, WHEN THE GROUPS DO THE WORK ON THE PORTAL:</a:t>
            </a:r>
          </a:p>
          <a:p>
            <a:r>
              <a:t>Participants work as a group in part 5.2 of their own file. The group's scribe types what the group agrees, and the entries appear on every member's page. One drop-down list: the Key Result. Four boxes, one for each GROW stage: Goal, Reality, Options, Will.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2BE40-5F59-4C3B-83A1-6A5FEC619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D4AEB-2055-AA16-14F7-CDED3231CA8D}"/>
              </a:ext>
            </a:extLst>
          </p:cNvPr>
          <p:cNvSpPr>
            <a:spLocks noGrp="1"/>
          </p:cNvSpPr>
          <p:nvPr>
            <p:ph type="body" idx="1"/>
          </p:nvPr>
        </p:nvSpPr>
        <p:spPr/>
        <p:txBody>
          <a:bodyPr/>
          <a:lstStyle/>
          <a:p>
            <a:r>
              <a:rPr b="1"/>
              <a:t>SECTION 2 REFLECTIONS</a:t>
            </a:r>
          </a:p>
          <a:p/>
          <a:p>
            <a:r>
              <a:rPr b="1"/>
              <a:t>HOW TO USE THIS SLIDE:</a:t>
            </a:r>
          </a:p>
          <a:p/>
          <a:p>
            <a:r>
              <a:rPr b="1"/>
              <a:t>1. Show the slide and read each prompt aloud.</a:t>
            </a:r>
          </a:p>
          <a:p>
            <a:r>
              <a:t>2.1 Reflection — Your Team Right Now: "When your team hits an unexpected obstacle, what happens first — do they solve it, or do they escalate it? What does the answer tell you about the execution dynamic you have created?"</a:t>
            </a:r>
          </a:p>
          <a:p>
            <a:r>
              <a:t>2.2 Reflection — Your Most Absent Mechanism: "Which of the five mechanisms is most absent in your current execution environment? What is the cost of that absence right now?"</a:t>
            </a:r>
          </a:p>
          <a:p/>
          <a:p>
            <a:r>
              <a:rPr b="1"/>
              <a:t>2. Say what the reflections are for.</a:t>
            </a:r>
          </a:p>
          <a:p>
            <a:r>
              <a:t>Point learners to the portal section that they will be required to complete with as much depth as possible.</a:t>
            </a:r>
          </a:p>
          <a:p>
            <a:r>
              <a:t>The reflections build the learning portfolio they receive at the end of the programme.</a:t>
            </a:r>
          </a:p>
          <a:p>
            <a:r>
              <a:t>Say: "You write these reflections on the portal after the teaching, with as much depth as you can."</a:t>
            </a:r>
          </a:p>
          <a:p/>
          <a:p>
            <a:r>
              <a:rPr b="1"/>
              <a:t>3. Set the standard.</a:t>
            </a:r>
          </a:p>
          <a:p>
            <a:r>
              <a:t>Say: "Name what your team does first, the expectation conversation that would shift it, and the cost of the absent mechanism today."</a:t>
            </a:r>
          </a:p>
          <a:p/>
          <a:p>
            <a:r>
              <a:rPr b="1"/>
              <a:t>4. Bridge to Section 3.</a:t>
            </a:r>
          </a:p>
          <a:p>
            <a:r>
              <a:t>Say: "You have seen why establishing expectations decides execution. Section 3 asks where the gap opens across the executive team."</a:t>
            </a:r>
          </a:p>
          <a:p/>
          <a:p>
            <a:r>
              <a:rPr b="1"/>
              <a:t>ON THE PORTAL, AFTER THE TEACHING:</a:t>
            </a:r>
          </a:p>
          <a:p>
            <a:r>
              <a:t>Participants write these reflections in Section 2 of the participant file, at the foot of parts 2.1 and 2.2.</a:t>
            </a:r>
          </a:p>
        </p:txBody>
      </p:sp>
      <p:sp>
        <p:nvSpPr>
          <p:cNvPr id="4" name="Slide Number Placeholder 3">
            <a:extLst>
              <a:ext uri="{FF2B5EF4-FFF2-40B4-BE49-F238E27FC236}">
                <a16:creationId xmlns:a16="http://schemas.microsoft.com/office/drawing/2014/main" id="{8B682397-8A66-8837-066D-17EDCBB824B7}"/>
              </a:ext>
            </a:extLst>
          </p:cNvPr>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22.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 Id="rId3" Type="http://schemas.openxmlformats.org/officeDocument/2006/relationships/image" Target="../media/image32.png"/><Relationship Id="rId4" Type="http://schemas.openxmlformats.org/officeDocument/2006/relationships/image" Target="../media/image37.png"/><Relationship Id="rId5" Type="http://schemas.openxmlformats.org/officeDocument/2006/relationships/notesSlide" Target="../notesSlides/notesSlide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32.png"/><Relationship Id="rId4" Type="http://schemas.openxmlformats.org/officeDocument/2006/relationships/image" Target="../media/image39.png"/><Relationship Id="rId5"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png"/><Relationship Id="rId3" Type="http://schemas.openxmlformats.org/officeDocument/2006/relationships/image" Target="../media/image32.png"/><Relationship Id="rId4" Type="http://schemas.openxmlformats.org/officeDocument/2006/relationships/image" Target="../media/image41.png"/><Relationship Id="rId5" Type="http://schemas.openxmlformats.org/officeDocument/2006/relationships/notesSlide" Target="../notesSlides/notesSlide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22.png"/><Relationship Id="rId6"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11.png"/><Relationship Id="rId5" Type="http://schemas.openxmlformats.org/officeDocument/2006/relationships/image" Target="../media/image22.png"/><Relationship Id="rId6"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11.png"/><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3 · Influence · Unit 7</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Establishing Performance Expectations</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Turning delivery goals into genuine ownership across people performance and organisational performance</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Establish jointly owned performance expectations linked to enterprise outcomes and mapped contributions.</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Validate clarity, capability and commitment across human contributions and organisational conditions.</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Negotiate accountability for cross-functional dependencies and enabling conditions.</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Build mutual accountability and shared ownership for agreed performance results.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is Establishing Performance Expectations?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Facilitate expectation-setting conversations that produce genuine ownership.</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Negotiate explicit human commitments and organisational enabling conditions.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Setting and establishing expectations</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Setting</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Top-down declaration</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Clarity of instruction</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KPI as a metric to monitor</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Conditional, defensive ownership</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Establishing</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Leadership alignment</a:t>
            </a:r>
            <a:endParaRPr lang="en-US" sz="2400" dirty="0"/>
          </a:p>
        </p:txBody>
      </p:sp>
      <p:sp>
        <p:nvSpPr>
          <p:cNvPr id="14" name="Text 10"/>
          <p:cNvSpPr txBox="1"/>
          <p:nvPr/>
        </p:nvSpPr>
        <p:spPr>
          <a:xfrm>
            <a:off x="6565392"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Mutual readiness for execution</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KPI as a personal leadership promise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Personal, proactive ownership</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Three conditions of established expectations</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Clarity</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Everyone understands what is expected and why it matters.</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Capability</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people and the organisation can realistically deliver.</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Commitment</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Those responsible consciously accept delivering and enabling.</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An alignment score below 9 means Commitment is not yet established.</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The Expectations Chain</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Upline</a:t>
            </a:r>
            <a:endParaRPr lang="en-US" sz="2600" dirty="0"/>
          </a:p>
        </p:txBody>
      </p:sp>
      <p:sp>
        <p:nvSpPr>
          <p:cNvPr id="7" name="Text 4"/>
          <p:cNvSpPr txBox="1"/>
          <p:nvPr/>
        </p:nvSpPr>
        <p:spPr>
          <a:xfrm>
            <a:off x="777240" y="3159252"/>
            <a:ext cx="3057144" cy="30586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Who must approve or resource this outcome?</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Downline</a:t>
            </a:r>
            <a:endParaRPr lang="en-US" sz="2600" dirty="0"/>
          </a:p>
        </p:txBody>
      </p:sp>
      <p:sp>
        <p:nvSpPr>
          <p:cNvPr id="12" name="Text 8"/>
          <p:cNvSpPr txBox="1"/>
          <p:nvPr/>
        </p:nvSpPr>
        <p:spPr>
          <a:xfrm>
            <a:off x="4565904" y="3159252"/>
            <a:ext cx="3057144" cy="30586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Who must deliver specific activities?</a:t>
            </a:r>
            <a:endParaRPr lang="en-US" sz="2400" dirty="0"/>
          </a:p>
        </p:txBody>
      </p:sp>
      <p:sp>
        <p:nvSpPr>
          <p:cNvPr id="13" name="Shape 9"/>
          <p:cNvSpPr/>
          <p:nvPr/>
        </p:nvSpPr>
        <p:spPr>
          <a:xfrm>
            <a:off x="8125968"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Crossline</a:t>
            </a:r>
            <a:endParaRPr lang="en-US" sz="2600" dirty="0"/>
          </a:p>
        </p:txBody>
      </p:sp>
      <p:sp>
        <p:nvSpPr>
          <p:cNvPr id="17" name="Text 12"/>
          <p:cNvSpPr txBox="1"/>
          <p:nvPr/>
        </p:nvSpPr>
        <p:spPr>
          <a:xfrm>
            <a:off x="8354568" y="3159252"/>
            <a:ext cx="3057144" cy="30586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Whose contributions must connect with this one?</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1.4 · The Alignment Dialogue</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“On a scale of 1–10, how aligned are you with the expectation for you to deliver this outcome?”</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9 or 10: genuine ownership. Anything lower: Score → Evaluate → Resolve.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Score → Evaluate → Resolve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9–10  </a:t>
            </a:r>
            <a:r>
              <a:rPr lang="en-US" sz="2600" dirty="0">
                <a:solidFill>
                  <a:srgbClr val="1F2A22"/>
                </a:solidFill>
                <a:latin typeface="Calibri" pitchFamily="34" charset="0"/>
                <a:ea typeface="Calibri" pitchFamily="34" charset="-122"/>
                <a:cs typeface="Calibri" pitchFamily="34" charset="-120"/>
              </a:rPr>
              <a:t>clear ownership: proceed and document</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7–8  </a:t>
            </a:r>
            <a:r>
              <a:rPr lang="en-US" sz="2600" dirty="0">
                <a:solidFill>
                  <a:srgbClr val="1F2A22"/>
                </a:solidFill>
                <a:latin typeface="Calibri" pitchFamily="34" charset="0"/>
                <a:ea typeface="Calibri" pitchFamily="34" charset="-122"/>
                <a:cs typeface="Calibri" pitchFamily="34" charset="-120"/>
              </a:rPr>
              <a:t>partial alignment: Evaluate</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5–6  </a:t>
            </a:r>
            <a:r>
              <a:rPr lang="en-US" sz="2600" dirty="0">
                <a:solidFill>
                  <a:srgbClr val="1F2A22"/>
                </a:solidFill>
                <a:latin typeface="Calibri" pitchFamily="34" charset="0"/>
                <a:ea typeface="Calibri" pitchFamily="34" charset="-122"/>
                <a:cs typeface="Calibri" pitchFamily="34" charset="-120"/>
              </a:rPr>
              <a:t>significant concerns: Evaluate</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Below 5  </a:t>
            </a:r>
            <a:r>
              <a:rPr lang="en-US" sz="2600" dirty="0">
                <a:solidFill>
                  <a:srgbClr val="1F2A22"/>
                </a:solidFill>
                <a:latin typeface="Calibri" pitchFamily="34" charset="0"/>
                <a:ea typeface="Calibri" pitchFamily="34" charset="-122"/>
                <a:cs typeface="Calibri" pitchFamily="34" charset="-120"/>
              </a:rPr>
              <a:t>redesign the expectation</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The GROW coaching model</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 · Goal  </a:t>
            </a:r>
            <a:r>
              <a:rPr lang="en-US" sz="2600" dirty="0">
                <a:solidFill>
                  <a:srgbClr val="1F2A22"/>
                </a:solidFill>
                <a:latin typeface="Calibri" pitchFamily="34" charset="0"/>
                <a:ea typeface="Calibri" pitchFamily="34" charset="-122"/>
                <a:cs typeface="Calibri" pitchFamily="34" charset="-120"/>
              </a:rPr>
              <a:t>what the leader aims to achieve</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 · Reality  </a:t>
            </a:r>
            <a:r>
              <a:rPr lang="en-US" sz="2600" dirty="0">
                <a:solidFill>
                  <a:srgbClr val="1F2A22"/>
                </a:solidFill>
                <a:latin typeface="Calibri" pitchFamily="34" charset="0"/>
                <a:ea typeface="Calibri" pitchFamily="34" charset="-122"/>
                <a:cs typeface="Calibri" pitchFamily="34" charset="-120"/>
              </a:rPr>
              <a:t>what is true today</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 · Options  </a:t>
            </a:r>
            <a:r>
              <a:rPr lang="en-US" sz="2600" dirty="0">
                <a:solidFill>
                  <a:srgbClr val="1F2A22"/>
                </a:solidFill>
                <a:latin typeface="Calibri" pitchFamily="34" charset="0"/>
                <a:ea typeface="Calibri" pitchFamily="34" charset="-122"/>
                <a:cs typeface="Calibri" pitchFamily="34" charset="-120"/>
              </a:rPr>
              <a:t>what could be done</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 · Will  </a:t>
            </a:r>
            <a:r>
              <a:rPr lang="en-US" sz="2600" dirty="0">
                <a:solidFill>
                  <a:srgbClr val="1F2A22"/>
                </a:solidFill>
                <a:latin typeface="Calibri" pitchFamily="34" charset="0"/>
                <a:ea typeface="Calibri" pitchFamily="34" charset="-122"/>
                <a:cs typeface="Calibri" pitchFamily="34" charset="-120"/>
              </a:rPr>
              <a:t>what will be done, and by whom</a:t>
            </a:r>
            <a:endParaRPr lang="en-US" sz="26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D52B4734-62AD-96B1-55A9-CF0ABF99094F}"/>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 · 1.1 and 1.2</a:t>
            </a:r>
            <a:endParaRPr lang="en-US" sz="3600" dirty="0"/>
          </a:p>
        </p:txBody>
      </p:sp>
      <p:pic>
        <p:nvPicPr>
          <p:cNvPr id="5" name="Reflection 3.1" descr="image.png"/>
          <p:cNvPicPr>
            <a:picLocks noChangeAspect="1"/>
          </p:cNvPicPr>
          <p:nvPr/>
        </p:nvPicPr>
        <p:blipFill>
          <a:blip r:embed="rId2"/>
          <a:stretch>
            <a:fillRect/>
          </a:stretch>
        </p:blipFill>
        <p:spPr>
          <a:xfrm>
            <a:off x="1691640" y="1463040"/>
            <a:ext cx="9921240" cy="1094463"/>
          </a:xfrm>
          <a:prstGeom prst="rect">
            <a:avLst/>
          </a:prstGeom>
        </p:spPr>
      </p:pic>
      <p:sp>
        <p:nvSpPr>
          <p:cNvPr id="4" name="Part 1.1"/>
          <p:cNvSpPr/>
          <p:nvPr/>
        </p:nvSpPr>
        <p:spPr>
          <a:xfrm>
            <a:off x="548640" y="1575931"/>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1.1</a:t>
            </a:r>
          </a:p>
        </p:txBody>
      </p:sp>
      <p:sp>
        <p:nvSpPr>
          <p:cNvPr id="4" name="Part 1.2"/>
          <p:cNvSpPr/>
          <p:nvPr/>
        </p:nvSpPr>
        <p:spPr>
          <a:xfrm>
            <a:off x="548640" y="3090394"/>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1.2</a:t>
            </a:r>
          </a:p>
        </p:txBody>
      </p:sp>
      <p:pic>
        <p:nvPicPr>
          <p:cNvPr id="6" name="Reflection 1.2" descr="image.png"/>
          <p:cNvPicPr>
            <a:picLocks noChangeAspect="1"/>
          </p:cNvPicPr>
          <p:nvPr/>
        </p:nvPicPr>
        <p:blipFill>
          <a:blip r:embed="rId4"/>
          <a:stretch>
            <a:fillRect/>
          </a:stretch>
        </p:blipFill>
        <p:spPr>
          <a:xfrm>
            <a:off x="1691640" y="2977503"/>
            <a:ext cx="9921240" cy="109446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D52B4734-62AD-96B1-55A9-CF0ABF99094F}"/>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 · 1.3 and 1.4</a:t>
            </a:r>
            <a:endParaRPr lang="en-US" sz="3600" dirty="0"/>
          </a:p>
        </p:txBody>
      </p:sp>
      <p:pic>
        <p:nvPicPr>
          <p:cNvPr id="5" name="Reflection 3.1" descr="image.png"/>
          <p:cNvPicPr>
            <a:picLocks noChangeAspect="1"/>
          </p:cNvPicPr>
          <p:nvPr/>
        </p:nvPicPr>
        <p:blipFill>
          <a:blip r:embed="rId2"/>
          <a:stretch>
            <a:fillRect/>
          </a:stretch>
        </p:blipFill>
        <p:spPr>
          <a:xfrm>
            <a:off x="1691640" y="1463040"/>
            <a:ext cx="9921240" cy="1435594"/>
          </a:xfrm>
          <a:prstGeom prst="rect">
            <a:avLst/>
          </a:prstGeom>
        </p:spPr>
      </p:pic>
      <p:sp>
        <p:nvSpPr>
          <p:cNvPr id="4" name="Part 1.3"/>
          <p:cNvSpPr/>
          <p:nvPr/>
        </p:nvSpPr>
        <p:spPr>
          <a:xfrm>
            <a:off x="548640" y="1746497"/>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1.3</a:t>
            </a:r>
          </a:p>
        </p:txBody>
      </p:sp>
      <p:sp>
        <p:nvSpPr>
          <p:cNvPr id="4" name="Part 1.4"/>
          <p:cNvSpPr/>
          <p:nvPr/>
        </p:nvSpPr>
        <p:spPr>
          <a:xfrm>
            <a:off x="548640" y="34315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1.4</a:t>
            </a:r>
          </a:p>
        </p:txBody>
      </p:sp>
      <p:pic>
        <p:nvPicPr>
          <p:cNvPr id="6" name="Reflection 1.4" descr="image.png"/>
          <p:cNvPicPr>
            <a:picLocks noChangeAspect="1"/>
          </p:cNvPicPr>
          <p:nvPr/>
        </p:nvPicPr>
        <p:blipFill>
          <a:blip r:embed="rId4"/>
          <a:stretch>
            <a:fillRect/>
          </a:stretch>
        </p:blipFill>
        <p:spPr>
          <a:xfrm>
            <a:off x="1691640" y="3318634"/>
            <a:ext cx="9921240" cy="10944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Why Establishing Expectations Determines Execution Outcomes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Maintain commitment by revisiting and realigning expectations during execution.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unclear expectations and correct the conditions that undermine delivery.</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The execution dynamic</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Compliance-driven</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Acknowledged</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Wait for direction</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Escalate problems upward</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Activity ownership</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Commitment-driven</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Owned</a:t>
            </a:r>
            <a:endParaRPr lang="en-US" sz="2400" dirty="0"/>
          </a:p>
        </p:txBody>
      </p:sp>
      <p:sp>
        <p:nvSpPr>
          <p:cNvPr id="14" name="Text 10"/>
          <p:cNvSpPr txBox="1"/>
          <p:nvPr/>
        </p:nvSpPr>
        <p:spPr>
          <a:xfrm>
            <a:off x="6565392"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Anticipate risks earlier</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Take initiative, surface issues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Outcome ownership</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 · Five mechanisms – Turning expectations</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a:t>
            </a:r>
            <a:r>
              <a:rPr lang="en-US" sz="2600" dirty="0">
                <a:solidFill>
                  <a:srgbClr val="1F2A22"/>
                </a:solidFill>
                <a:latin typeface="Calibri" pitchFamily="34" charset="0"/>
                <a:ea typeface="Calibri" pitchFamily="34" charset="-122"/>
                <a:cs typeface="Calibri" pitchFamily="34" charset="-120"/>
              </a:rPr>
              <a:t>From Instruction to Ownership</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2  </a:t>
            </a:r>
            <a:r>
              <a:rPr lang="en-US" sz="2600" dirty="0">
                <a:solidFill>
                  <a:srgbClr val="1F2A22"/>
                </a:solidFill>
                <a:latin typeface="Calibri" pitchFamily="34" charset="0"/>
                <a:ea typeface="Calibri" pitchFamily="34" charset="-122"/>
                <a:cs typeface="Calibri" pitchFamily="34" charset="-120"/>
              </a:rPr>
              <a:t>Reducing Interpretation Ambiguity</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  </a:t>
            </a:r>
            <a:r>
              <a:rPr lang="en-US" sz="2600" dirty="0">
                <a:solidFill>
                  <a:srgbClr val="1F2A22"/>
                </a:solidFill>
                <a:latin typeface="Calibri" pitchFamily="34" charset="0"/>
                <a:ea typeface="Calibri" pitchFamily="34" charset="-122"/>
                <a:cs typeface="Calibri" pitchFamily="34" charset="-120"/>
              </a:rPr>
              <a:t>Surfacing Constraints Before Execution Begins</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4  </a:t>
            </a:r>
            <a:r>
              <a:rPr lang="en-US" sz="2600" dirty="0">
                <a:solidFill>
                  <a:srgbClr val="1F2A22"/>
                </a:solidFill>
                <a:latin typeface="Calibri" pitchFamily="34" charset="0"/>
                <a:ea typeface="Calibri" pitchFamily="34" charset="-122"/>
                <a:cs typeface="Calibri" pitchFamily="34" charset="-120"/>
              </a:rPr>
              <a:t>Strengthening Accountability</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5  </a:t>
            </a:r>
            <a:r>
              <a:rPr lang="en-US" sz="2600" dirty="0">
                <a:solidFill>
                  <a:srgbClr val="1F2A22"/>
                </a:solidFill>
                <a:latin typeface="Calibri" pitchFamily="34" charset="0"/>
                <a:ea typeface="Calibri" pitchFamily="34" charset="-122"/>
                <a:cs typeface="Calibri" pitchFamily="34" charset="-120"/>
              </a:rPr>
              <a:t>Building the Behavioural Foundation</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2.3 · The two casualties</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Engagement weakens</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Observable but subtle</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Only what is assigned gets done</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People wait for direction</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Engagement becomes transactional</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Accountability dilutes</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The deeper cost</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Explanations replace ownership</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Dependencies cause delay</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Everyone partly responsible</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Ownership of the outcome was assigned without being secured.</a:t>
            </a:r>
            <a:endParaRPr lang="en-US" sz="24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a:extLst>
              <a:ext uri="{FF2B5EF4-FFF2-40B4-BE49-F238E27FC236}">
                <a16:creationId xmlns:a16="http://schemas.microsoft.com/office/drawing/2014/main" id="{D52B4734-62AD-96B1-55A9-CF0ABF99094F}"/>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2 Reflections</a:t>
            </a:r>
            <a:endParaRPr lang="en-US" sz="3600" dirty="0"/>
          </a:p>
        </p:txBody>
      </p:sp>
      <p:pic>
        <p:nvPicPr>
          <p:cNvPr id="5" name="Reflection 3.1" descr="image.png"/>
          <p:cNvPicPr>
            <a:picLocks noChangeAspect="1"/>
          </p:cNvPicPr>
          <p:nvPr/>
        </p:nvPicPr>
        <p:blipFill>
          <a:blip r:embed="rId2"/>
          <a:stretch>
            <a:fillRect/>
          </a:stretch>
        </p:blipFill>
        <p:spPr>
          <a:xfrm>
            <a:off x="1691640" y="1463040"/>
            <a:ext cx="9921240" cy="1435594"/>
          </a:xfrm>
          <a:prstGeom prst="rect">
            <a:avLst/>
          </a:prstGeom>
        </p:spPr>
      </p:pic>
      <p:sp>
        <p:nvSpPr>
          <p:cNvPr id="4" name="Part 2.1"/>
          <p:cNvSpPr/>
          <p:nvPr/>
        </p:nvSpPr>
        <p:spPr>
          <a:xfrm>
            <a:off x="548640" y="1746497"/>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2.1</a:t>
            </a:r>
          </a:p>
        </p:txBody>
      </p:sp>
      <p:sp>
        <p:nvSpPr>
          <p:cNvPr id="4" name="Part 2.2"/>
          <p:cNvSpPr/>
          <p:nvPr/>
        </p:nvSpPr>
        <p:spPr>
          <a:xfrm>
            <a:off x="548640" y="3431525"/>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2.2</a:t>
            </a:r>
          </a:p>
        </p:txBody>
      </p:sp>
      <p:pic>
        <p:nvPicPr>
          <p:cNvPr id="6" name="Reflection 2.2" descr="image.png"/>
          <p:cNvPicPr>
            <a:picLocks noChangeAspect="1"/>
          </p:cNvPicPr>
          <p:nvPr/>
        </p:nvPicPr>
        <p:blipFill>
          <a:blip r:embed="rId4"/>
          <a:stretch>
            <a:fillRect/>
          </a:stretch>
        </p:blipFill>
        <p:spPr>
          <a:xfrm>
            <a:off x="1691640" y="3318634"/>
            <a:ext cx="9921240" cy="10944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Where Does the Expectations Gap Emerge?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Recognise and adjust leadership tendencies that weaken expectation alignment.</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Resolve ownership gaps across contribution relationships and enabling conditions.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 · CXO expectation tendencies</a:t>
            </a:r>
            <a:endParaRPr lang="en-US" sz="3600" dirty="0"/>
          </a:p>
        </p:txBody>
      </p:sp>
      <p:pic>
        <p:nvPicPr>
          <p:cNvPr id="24" name="Picture 23">
            <a:extLst>
              <a:ext uri="{FF2B5EF4-FFF2-40B4-BE49-F238E27FC236}">
                <a16:creationId xmlns:a16="http://schemas.microsoft.com/office/drawing/2014/main" id="{42438BEB-ED7C-2E1B-C878-C2D3A3BA0325}"/>
              </a:ext>
            </a:extLst>
          </p:cNvPr>
          <p:cNvPicPr>
            <a:picLocks noChangeAspect="1"/>
          </p:cNvPicPr>
          <p:nvPr/>
        </p:nvPicPr>
        <p:blipFill>
          <a:blip r:embed="rId3"/>
          <a:stretch>
            <a:fillRect/>
          </a:stretch>
        </p:blipFill>
        <p:spPr>
          <a:xfrm>
            <a:off x="1315377" y="1385499"/>
            <a:ext cx="9561246" cy="538106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A7EB560-DC27-2EC2-0AF5-9389E36945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52B4734-62AD-96B1-55A9-CF0ABF99094F}"/>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 REFLECTION — YOUR EXPECTATION GAP. Based on your role exploration: what is the most important expectation you have set but not yet established? Who in your chain needs that alignment dialogue?"/>
          <p:cNvPicPr>
            <a:picLocks noChangeAspect="1"/>
          </p:cNvPicPr>
          <p:nvPr/>
        </p:nvPicPr>
        <p:blipFill>
          <a:blip r:embed="rId3"/>
          <a:stretch>
            <a:fillRect/>
          </a:stretch>
        </p:blipFill>
        <p:spPr>
          <a:xfrm>
            <a:off x="1691640" y="1572768"/>
            <a:ext cx="9921240" cy="1392953"/>
          </a:xfrm>
          <a:prstGeom prst="rect">
            <a:avLst/>
          </a:prstGeom>
        </p:spPr>
      </p:pic>
      <p:sp>
        <p:nvSpPr>
          <p:cNvPr id="4" name="Part 3.1"/>
          <p:cNvSpPr/>
          <p:nvPr/>
        </p:nvSpPr>
        <p:spPr>
          <a:xfrm>
            <a:off x="548640" y="1834904"/>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3.1</a:t>
            </a:r>
          </a:p>
        </p:txBody>
      </p:sp>
    </p:spTree>
    <p:extLst>
      <p:ext uri="{BB962C8B-B14F-4D97-AF65-F5344CB8AC3E}">
        <p14:creationId xmlns:p14="http://schemas.microsoft.com/office/powerpoint/2010/main" val="1430386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Cross-Leadership Expectation Architecture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Coach individuals towards clear, capable and committed ownership of results.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Conduct alignment conversations that secure reciprocal commitments and dependencies.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Practising the Alignment Dialogue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Set up  </a:t>
            </a:r>
            <a:r>
              <a:rPr lang="en-US" sz="2600" dirty="0">
                <a:solidFill>
                  <a:srgbClr val="1F2A22"/>
                </a:solidFill>
                <a:latin typeface="Calibri" pitchFamily="34" charset="0"/>
                <a:ea typeface="Calibri" pitchFamily="34" charset="-122"/>
                <a:cs typeface="Calibri" pitchFamily="34" charset="-120"/>
              </a:rPr>
              <a:t>one expectation, a leader and an owner</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2 · Demonstrate  </a:t>
            </a:r>
            <a:r>
              <a:rPr lang="en-US" sz="2600" dirty="0">
                <a:solidFill>
                  <a:srgbClr val="1F2A22"/>
                </a:solidFill>
                <a:latin typeface="Calibri" pitchFamily="34" charset="0"/>
                <a:ea typeface="Calibri" pitchFamily="34" charset="-122"/>
                <a:cs typeface="Calibri" pitchFamily="34" charset="-120"/>
              </a:rPr>
              <a:t>the facilitator plays the leader</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 · Practise  </a:t>
            </a:r>
            <a:r>
              <a:rPr lang="en-US" sz="2600" dirty="0">
                <a:solidFill>
                  <a:srgbClr val="1F2A22"/>
                </a:solidFill>
                <a:latin typeface="Calibri" pitchFamily="34" charset="0"/>
                <a:ea typeface="Calibri" pitchFamily="34" charset="-122"/>
                <a:cs typeface="Calibri" pitchFamily="34" charset="-120"/>
              </a:rPr>
              <a:t>participants lead, in the roles chosen</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4 · Debrief  </a:t>
            </a:r>
            <a:r>
              <a:rPr lang="en-US" sz="2600" dirty="0">
                <a:solidFill>
                  <a:srgbClr val="1F2A22"/>
                </a:solidFill>
                <a:latin typeface="Calibri" pitchFamily="34" charset="0"/>
                <a:ea typeface="Calibri" pitchFamily="34" charset="-122"/>
                <a:cs typeface="Calibri" pitchFamily="34" charset="-120"/>
              </a:rPr>
              <a:t>which question moved the score</a:t>
            </a:r>
            <a:endParaRPr lang="en-US" sz="2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52B4734-62AD-96B1-55A9-CF0ABF99094F}"/>
              </a:ext>
            </a:extLst>
          </p:cNvPr>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4 · Portfolio work</a:t>
            </a:r>
            <a:endParaRPr lang="en-US" sz="3600" dirty="0"/>
          </a:p>
        </p:txBody>
      </p:sp>
      <p:pic>
        <p:nvPicPr>
          <p:cNvPr id="7" name="Reflection 4.2" descr="PORTFOLIO WORK · HOW TO COMPLETE THE ALIGNMENT DIALOGUE."/>
          <p:cNvPicPr>
            <a:picLocks noChangeAspect="1"/>
          </p:cNvPicPr>
          <p:nvPr/>
        </p:nvPicPr>
        <p:blipFill>
          <a:blip r:embed="rId5"/>
          <a:stretch>
            <a:fillRect/>
          </a:stretch>
        </p:blipFill>
        <p:spPr>
          <a:xfrm>
            <a:off x="1691640" y="2917198"/>
            <a:ext cx="9921240" cy="2530058"/>
          </a:xfrm>
          <a:prstGeom prst="rect">
            <a:avLst/>
          </a:prstGeom>
        </p:spPr>
      </p:pic>
      <p:sp>
        <p:nvSpPr>
          <p:cNvPr id="6" name="Part 4.2"/>
          <p:cNvSpPr/>
          <p:nvPr/>
        </p:nvSpPr>
        <p:spPr>
          <a:xfrm>
            <a:off x="548640" y="3214378"/>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4.1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Establishing Delivery Expectations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Establish owned expectations for the contributions identified in the Capstone.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Consolidate agreed commitments, conditions and follow-up actions into a shared delivery agreement.</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Building the Expectation Architecture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Start With the Future  </a:t>
            </a:r>
            <a:r>
              <a:rPr lang="en-US" sz="2600" dirty="0">
                <a:solidFill>
                  <a:srgbClr val="1F2A22"/>
                </a:solidFill>
                <a:latin typeface="Calibri" pitchFamily="34" charset="0"/>
                <a:ea typeface="Calibri" pitchFamily="34" charset="-122"/>
                <a:cs typeface="Calibri" pitchFamily="34" charset="-120"/>
              </a:rPr>
              <a:t>the Future and the leader framing</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2 · Clarify the Delivery Expectation  </a:t>
            </a:r>
            <a:r>
              <a:rPr lang="en-US" sz="2600" dirty="0">
                <a:solidFill>
                  <a:srgbClr val="1F2A22"/>
                </a:solidFill>
                <a:latin typeface="Calibri" pitchFamily="34" charset="0"/>
                <a:ea typeface="Calibri" pitchFamily="34" charset="-122"/>
                <a:cs typeface="Calibri" pitchFamily="34" charset="-120"/>
              </a:rPr>
              <a:t>  for the people and for the organisation</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 · Identify the Expectations Chain  </a:t>
            </a:r>
            <a:r>
              <a:rPr lang="en-US" sz="2600" dirty="0">
                <a:solidFill>
                  <a:srgbClr val="1F2A22"/>
                </a:solidFill>
                <a:latin typeface="Calibri" pitchFamily="34" charset="0"/>
                <a:ea typeface="Calibri" pitchFamily="34" charset="-122"/>
                <a:cs typeface="Calibri" pitchFamily="34" charset="-120"/>
              </a:rPr>
              <a:t>  Upline, Downline and Crossline</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4 · Confirm Ownership  </a:t>
            </a:r>
            <a:r>
              <a:rPr lang="en-US" sz="2600" dirty="0">
                <a:solidFill>
                  <a:srgbClr val="1F2A22"/>
                </a:solidFill>
                <a:latin typeface="Calibri" pitchFamily="34" charset="0"/>
                <a:ea typeface="Calibri" pitchFamily="34" charset="-122"/>
                <a:cs typeface="Calibri" pitchFamily="34" charset="-120"/>
              </a:rPr>
              <a:t>the score and what resolves it</a:t>
            </a:r>
            <a:endParaRPr lang="en-US" sz="26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5.2 · The Alignment Dialogue with the Board Chair</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 · Goal  </a:t>
            </a:r>
            <a:r>
              <a:rPr lang="en-US" sz="2600" dirty="0">
                <a:solidFill>
                  <a:srgbClr val="1F2A22"/>
                </a:solidFill>
                <a:latin typeface="Calibri" pitchFamily="34" charset="0"/>
                <a:ea typeface="Calibri" pitchFamily="34" charset="-122"/>
                <a:cs typeface="Calibri" pitchFamily="34" charset="-120"/>
              </a:rPr>
              <a:t>what a 10 looks like for your chair</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5"/>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 · Reality  </a:t>
            </a:r>
            <a:r>
              <a:rPr lang="en-US" sz="2600" dirty="0">
                <a:solidFill>
                  <a:srgbClr val="1F2A22"/>
                </a:solidFill>
                <a:latin typeface="Calibri" pitchFamily="34" charset="0"/>
                <a:ea typeface="Calibri" pitchFamily="34" charset="-122"/>
                <a:cs typeface="Calibri" pitchFamily="34" charset="-120"/>
              </a:rPr>
              <a:t>what stands behind your chair’s score</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 · Options  </a:t>
            </a:r>
            <a:r>
              <a:rPr lang="en-US" sz="2600" dirty="0">
                <a:solidFill>
                  <a:srgbClr val="1F2A22"/>
                </a:solidFill>
                <a:latin typeface="Calibri" pitchFamily="34" charset="0"/>
                <a:ea typeface="Calibri" pitchFamily="34" charset="-122"/>
                <a:cs typeface="Calibri" pitchFamily="34" charset="-120"/>
              </a:rPr>
              <a:t>what could resolve the metric and the timeframe</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 · Will  </a:t>
            </a:r>
            <a:r>
              <a:rPr lang="en-US" sz="2600" dirty="0">
                <a:solidFill>
                  <a:srgbClr val="1F2A22"/>
                </a:solidFill>
                <a:latin typeface="Calibri" pitchFamily="34" charset="0"/>
                <a:ea typeface="Calibri" pitchFamily="34" charset="-122"/>
                <a:cs typeface="Calibri" pitchFamily="34" charset="-120"/>
              </a:rPr>
              <a:t>what you and your chair agree to do</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10827</Words>
  <Application>Microsoft Office PowerPoint</Application>
  <PresentationFormat>Widescreen</PresentationFormat>
  <Paragraphs>645</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7 · Establishing Performance Expectations</dc:title>
  <dc:subject>PptxGenJS Presentation</dc:subject>
  <dc:creator>Institute of Behavioural Strategy &amp; Leadership</dc:creator>
  <cp:lastModifiedBy>Carol Lupiya</cp:lastModifiedBy>
  <cp:revision>5</cp:revision>
  <dcterms:created xsi:type="dcterms:W3CDTF">2026-09-29T13:20:34Z</dcterms:created>
  <dcterms:modified xsi:type="dcterms:W3CDTF">2026-10-11T10:56:44Z</dcterms:modified>
</cp:coreProperties>
</file>