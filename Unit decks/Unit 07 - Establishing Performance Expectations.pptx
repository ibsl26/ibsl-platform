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64" r:id="rId12"/>
    <p:sldId id="265" r:id="rId13"/>
    <p:sldId id="266" r:id="rId14"/>
    <p:sldId id="267" r:id="rId15"/>
    <p:sldId id="268" r:id="rId16"/>
    <p:sldId id="269" r:id="rId17"/>
    <p:sldId id="278" r:id="rId18"/>
    <p:sldId id="270" r:id="rId19"/>
    <p:sldId id="271" r:id="rId20"/>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 ESTABLISHING PERFORMANCE EXPECTATIONS
Module 3 · Influence · Unit 7
Unit intent (Facilitator Guide):
Unit 7 addresses the single most common reason strategy fails at the human level: expectations are communicated but never truly established. </a:t>
            </a:r>
          </a:p>
          <a:p>
            <a:r>
              <a:rPr lang="en-US" dirty="0"/>
              <a:t>The distinction is subtle in language and profound in execution impact. </a:t>
            </a:r>
          </a:p>
          <a:p>
            <a:r>
              <a:rPr lang="en-US" dirty="0"/>
              <a:t>The unit moves leaders from announcing targets to securing genuine ownership. This unit equips leaders to close the gap between a well-designed performance management system and genuine human commitment to deliver it.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performance expectations that are clear, strategically relevant and consistent with enterprise outcomes.
2. Evaluate the readiness of individuals and teams to fulfil their strategic responsibilities.
3. Recognise the contribution relationships and dependencies that influence organisational performance.
4. Demonstrate shared ownership and mutual accountability for agreed results.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SECTION 1 · AWARENESS — WHAT
What is Establishing Performance Expectations?
Naming the distinction between setting and establishing expectations — and the two mechanisms that close the gap between a delivery goal and genuine ownership.
Section learning outcomes:
1. </a:t>
            </a:r>
            <a:r>
              <a:rPr lang="en-US" sz="1200" dirty="0">
                <a:solidFill>
                  <a:srgbClr val="FFFFFF"/>
                </a:solidFill>
                <a:latin typeface="Calibri" pitchFamily="34" charset="0"/>
                <a:ea typeface="Calibri" pitchFamily="34" charset="-122"/>
                <a:cs typeface="Calibri" pitchFamily="34" charset="-120"/>
              </a:rPr>
              <a:t>Understand the distinction between setting vs establishing expectations</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FFFFF"/>
                </a:solidFill>
                <a:latin typeface="Calibri" pitchFamily="34" charset="0"/>
                <a:ea typeface="Calibri" pitchFamily="34" charset="-122"/>
                <a:cs typeface="Calibri" pitchFamily="34" charset="-120"/>
              </a:rPr>
              <a:t>2. Design clarity, capability and commitment to establish expectations.</a:t>
            </a:r>
            <a:endParaRPr lang="en-US" sz="1200" dirty="0"/>
          </a:p>
          <a:p>
            <a:r>
              <a:rPr lang="en-US" dirty="0"/>
              <a:t>
</a:t>
            </a:r>
          </a:p>
          <a:p>
            <a:r>
              <a:rPr dirty="0"/>
              <a:t>Facilitator script (full wording): </a:t>
            </a:r>
            <a:endParaRPr lang="en-ZA" dirty="0"/>
          </a:p>
          <a:p>
            <a:r>
              <a:rPr dirty="0"/>
              <a:t>The performance management and accountability frameworks and structures have been established. </a:t>
            </a:r>
            <a:endParaRPr lang="en-ZA" dirty="0"/>
          </a:p>
          <a:p>
            <a:r>
              <a:rPr dirty="0"/>
              <a:t>The delivery goals have been defined. The targets have been set.</a:t>
            </a:r>
          </a:p>
          <a:p>
            <a:r>
              <a:rPr dirty="0"/>
              <a:t>Here is a question worth sitting with for a moment: If you distributed the scorecard to your team right now, without conversation, without context, without dialogue, how many of them would feel genuinely ready to own these targets?</a:t>
            </a:r>
          </a:p>
          <a:p>
            <a:endParaRPr lang="en-ZA" dirty="0"/>
          </a:p>
          <a:p>
            <a:r>
              <a:rPr dirty="0"/>
              <a:t>Agreeing with the targets and understanding them intellectually is one thing. </a:t>
            </a:r>
            <a:endParaRPr lang="en-ZA" dirty="0"/>
          </a:p>
          <a:p>
            <a:r>
              <a:rPr dirty="0"/>
              <a:t>Owning them, with confidence, commitment, and a clear sense of personal accountability, is the test.</a:t>
            </a:r>
          </a:p>
          <a:p>
            <a:endParaRPr lang="en-ZA" dirty="0"/>
          </a:p>
          <a:p>
            <a:r>
              <a:rPr dirty="0"/>
              <a:t>Establishing performance expectations addresses the gap between a well-designed performance management system and genuine ownership. </a:t>
            </a:r>
            <a:endParaRPr lang="en-ZA" dirty="0"/>
          </a:p>
          <a:p>
            <a:r>
              <a:rPr dirty="0"/>
              <a:t>The difference between a delivery goal that gets pursued with energy and one that gets managed defensively comes down to whether the person holding the target genuinely believes they can deliver it, and whether they trust that their leader will support them in doing so. </a:t>
            </a:r>
            <a:endParaRPr lang="en-ZA" dirty="0"/>
          </a:p>
          <a:p>
            <a:r>
              <a:rPr dirty="0"/>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SETTING VS ESTABLISHING EXPECTATIONS (The defining distinction)
</a:t>
            </a:r>
            <a:r>
              <a:rPr lang="en-US" b="1" dirty="0"/>
              <a:t>Content:</a:t>
            </a:r>
            <a:r>
              <a:rPr lang="en-US" dirty="0"/>
              <a:t>
The difference between setting expectations and establishing expectations is subtle in language and profound in execution impact. </a:t>
            </a:r>
          </a:p>
          <a:p>
            <a:r>
              <a:rPr lang="en-US" dirty="0"/>
              <a:t>It determines whether a performance target becomes an instruction that people comply with or a commitment that people own.
Execution begins when the people responsible for those goals internalise the expectation and accept ownership of the result.
</a:t>
            </a:r>
          </a:p>
          <a:p>
            <a:r>
              <a:rPr b="1" dirty="0"/>
              <a:t>Setting expectations in practice: </a:t>
            </a:r>
            <a:endParaRPr lang="en-ZA" b="1" dirty="0"/>
          </a:p>
          <a:p>
            <a:r>
              <a:rPr dirty="0"/>
              <a:t>Setting expectations is typically a top-down declaration. </a:t>
            </a:r>
            <a:endParaRPr lang="en-ZA" dirty="0"/>
          </a:p>
          <a:p>
            <a:r>
              <a:rPr dirty="0"/>
              <a:t>A leader defines the target, communicates the requirement, and assigns responsibility. </a:t>
            </a:r>
            <a:endParaRPr lang="en-ZA" dirty="0"/>
          </a:p>
          <a:p>
            <a:r>
              <a:rPr dirty="0"/>
              <a:t>The process focuses primarily on clarity of instruction and leaves the readiness of the person expected to deliver untested. </a:t>
            </a:r>
            <a:endParaRPr lang="en-ZA" dirty="0"/>
          </a:p>
          <a:p>
            <a:r>
              <a:rPr dirty="0"/>
              <a:t>The emphasis is on communicating the standard.</a:t>
            </a:r>
          </a:p>
          <a:p>
            <a:endParaRPr lang="en-ZA" dirty="0"/>
          </a:p>
          <a:p>
            <a:r>
              <a:rPr dirty="0"/>
              <a:t>Typical characteristics of setting: </a:t>
            </a:r>
            <a:endParaRPr lang="en-ZA" dirty="0"/>
          </a:p>
          <a:p>
            <a:r>
              <a:rPr dirty="0"/>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endParaRPr lang="en-ZA" dirty="0"/>
          </a:p>
          <a:p>
            <a:r>
              <a:rPr dirty="0"/>
              <a:t>In this mode, expectations function as instructions. People may understand the goal and still carry unspoken concerns:</a:t>
            </a:r>
          </a:p>
          <a:p>
            <a:r>
              <a:rPr dirty="0"/>
              <a:t>- Do I have the resources required?</a:t>
            </a:r>
          </a:p>
          <a:p>
            <a:r>
              <a:rPr dirty="0"/>
              <a:t>- Do other functions understand their role in this result?</a:t>
            </a:r>
          </a:p>
          <a:p>
            <a:r>
              <a:rPr dirty="0"/>
              <a:t>- Is this priority stable or likely to change next month?</a:t>
            </a:r>
          </a:p>
          <a:p>
            <a:r>
              <a:rPr dirty="0"/>
              <a:t>- What trade-offs should I make to deliver this target?</a:t>
            </a:r>
          </a:p>
          <a:p>
            <a:endParaRPr lang="en-ZA" dirty="0"/>
          </a:p>
          <a:p>
            <a:r>
              <a:rPr dirty="0"/>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endParaRPr dirty="0"/>
          </a:p>
          <a:p>
            <a:r>
              <a:rPr b="1" dirty="0"/>
              <a:t>Establishing expectations in practice: </a:t>
            </a:r>
            <a:endParaRPr lang="en-ZA" b="1" dirty="0"/>
          </a:p>
          <a:p>
            <a:r>
              <a:rPr dirty="0"/>
              <a:t>The leader still defines the result required, and the process goes further by ensuring that the person responsible fully understands, accepts, and commits to delivering the outcome. </a:t>
            </a:r>
            <a:endParaRPr lang="en-ZA" dirty="0"/>
          </a:p>
          <a:p>
            <a:r>
              <a:rPr dirty="0"/>
              <a:t>The emphasis shifts from instruction to mutual readiness for execution.</a:t>
            </a:r>
          </a:p>
          <a:p>
            <a:r>
              <a:rPr dirty="0"/>
              <a:t>Establishing expectations therefore includes several additional leadership </a:t>
            </a:r>
            <a:r>
              <a:rPr dirty="0" err="1"/>
              <a:t>behaviours</a:t>
            </a:r>
            <a:r>
              <a:rPr dirty="0"/>
              <a:t>: clarifying why the result matters; testing whether the expectation is feasible; identifying dependencies across the expectations chain; surfacing constraints before execution begins; securing emotional commitment to the target.</a:t>
            </a:r>
          </a:p>
          <a:p>
            <a:endParaRPr dirty="0"/>
          </a:p>
          <a:p>
            <a:r>
              <a:rPr b="1" dirty="0"/>
              <a:t>Why this distinction matters in strategy execution: </a:t>
            </a:r>
            <a:endParaRPr lang="en-ZA" b="1" dirty="0"/>
          </a:p>
          <a:p>
            <a:r>
              <a:rPr dirty="0"/>
              <a:t>Most organisations invest heavily in designing performance systems: balanced scorecards, OKRs, dashboards, and KPIs. </a:t>
            </a:r>
            <a:endParaRPr lang="en-ZA" dirty="0"/>
          </a:p>
          <a:p>
            <a:r>
              <a:rPr dirty="0"/>
              <a:t>Execution success depends on whether the people responsible for those measures genuinely own the outcome. </a:t>
            </a:r>
            <a:endParaRPr lang="en-ZA" dirty="0"/>
          </a:p>
          <a:p>
            <a:r>
              <a:rPr dirty="0"/>
              <a:t>The sophistication of the measurement system alone rarely secures it.</a:t>
            </a:r>
          </a:p>
          <a:p>
            <a:endParaRPr lang="en-ZA" dirty="0"/>
          </a:p>
          <a:p>
            <a:r>
              <a:rPr dirty="0"/>
              <a:t>When expectations are merely set: metrics are monitored; performance is managed; accountability remains conditional.</a:t>
            </a:r>
          </a:p>
          <a:p>
            <a:endParaRPr lang="en-ZA" dirty="0"/>
          </a:p>
          <a:p>
            <a:r>
              <a:rPr dirty="0"/>
              <a:t>When expectations are established: ownership is </a:t>
            </a:r>
            <a:r>
              <a:rPr dirty="0" err="1"/>
              <a:t>internalised</a:t>
            </a:r>
            <a:r>
              <a:rPr dirty="0"/>
              <a:t>; accountability becomes personal; performance improves through proactive effort.</a:t>
            </a:r>
          </a:p>
          <a:p>
            <a:endParaRPr lang="en-ZA" dirty="0"/>
          </a:p>
          <a:p>
            <a:r>
              <a:rPr dirty="0"/>
              <a:t>The technical architecture of performance management provides measurement visibility. </a:t>
            </a:r>
            <a:endParaRPr lang="en-ZA" dirty="0"/>
          </a:p>
          <a:p>
            <a:r>
              <a:rPr dirty="0"/>
              <a:t>The process of establishing expectations provides behavioural commitment. </a:t>
            </a:r>
            <a:endParaRPr lang="en-ZA" dirty="0"/>
          </a:p>
          <a:p>
            <a:r>
              <a:rPr dirty="0"/>
              <a:t>Both are necessary. Without the second, the first rarely produces sustained execution results.</a:t>
            </a:r>
          </a:p>
          <a:p>
            <a:endParaRPr lang="en-ZA" dirty="0"/>
          </a:p>
          <a:p>
            <a:r>
              <a:rPr dirty="0"/>
              <a:t>The transition from setting to establishing expectations is where performance management becomes execution leadership.</a:t>
            </a:r>
          </a:p>
          <a:p>
            <a:endParaRPr dirty="0"/>
          </a:p>
          <a:p>
            <a:r>
              <a:rPr dirty="0"/>
              <a:t>The same demand delivered as a command and as a request produces materially different results from the same people. Tone, humility and the manner of the ask often decide the outcome. </a:t>
            </a:r>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CONDITIONS OF ESTABLISHED EXPECTATIONS (Clarity · Capability · Commitment)
FACILITATOR GUIDANCE
Most leaders overestimate how much Clarity they have provided and underestimate how little Commitment they have secured. </a:t>
            </a:r>
          </a:p>
          <a:p>
            <a:r>
              <a:rPr lang="en-US" dirty="0"/>
              <a:t>The conversation usually sounds complete to the leader and feels incomplete to the team member. </a:t>
            </a:r>
          </a:p>
          <a:p>
            <a:endParaRPr lang="en-US" dirty="0"/>
          </a:p>
          <a:p>
            <a:r>
              <a:rPr lang="en-US" dirty="0"/>
              <a:t>Ask: “After your last expectations conversation, which of the three conditions did you explicitly verify? Clarity — probably. Capability — sometimes. Commitment — almost never.”
</a:t>
            </a:r>
            <a:r>
              <a:rPr lang="en-US" b="1" dirty="0"/>
              <a:t>Content:</a:t>
            </a:r>
            <a:r>
              <a:rPr lang="en-US" dirty="0"/>
              <a:t>
When expectations are properly established, three conditions are simultaneously present. </a:t>
            </a:r>
          </a:p>
          <a:p>
            <a:r>
              <a:rPr lang="en-US" dirty="0"/>
              <a:t>All three must be confirmed before execution begins. A KPI becomes a personal leadership promise only when all three are in place.
</a:t>
            </a:r>
          </a:p>
          <a:p>
            <a:r>
              <a:rPr lang="en-US" b="1" dirty="0"/>
              <a:t>Condition 1</a:t>
            </a:r>
            <a:r>
              <a:rPr lang="en-US" dirty="0"/>
              <a:t>
</a:t>
            </a:r>
            <a:r>
              <a:rPr lang="en-US" b="1" dirty="0"/>
              <a:t>Clarity — </a:t>
            </a:r>
            <a:r>
              <a:rPr lang="en-US" dirty="0"/>
              <a:t>The individual understands exactly what success looks like
Clarity means understanding the full picture of the expected outcome: what must be delivered, by when, at what standard, and how success will be recognised. Most expectation conversations stop at the number. </a:t>
            </a:r>
          </a:p>
          <a:p>
            <a:r>
              <a:rPr lang="en-US" dirty="0"/>
              <a:t>Establishing expectations requires confirming that both parties share the same picture of the result.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Many operational failures happen because people in authority believe execution needs their presence when it needs their clarity. Authority travels with a clear instruction.</a:t>
            </a:r>
          </a:p>
          <a:p>
            <a:endParaRPr lang="en-US" dirty="0"/>
          </a:p>
          <a:p>
            <a:r>
              <a:rPr lang="en-US" dirty="0"/>
              <a:t>Facilitation test: “Ask someone on your team to describe what success looks like for their key result. If the description differs from yours, clarity has not yet been established.”
</a:t>
            </a:r>
          </a:p>
          <a:p>
            <a:r>
              <a:rPr lang="en-US" b="1" dirty="0"/>
              <a:t>Condition 2</a:t>
            </a:r>
            <a:r>
              <a:rPr lang="en-US" dirty="0"/>
              <a:t>
</a:t>
            </a:r>
            <a:r>
              <a:rPr lang="en-US" b="1" dirty="0"/>
              <a:t>Capability</a:t>
            </a:r>
            <a:r>
              <a:rPr lang="en-US" dirty="0"/>
              <a:t> — The system can realistically support delivery
Capability in this context refers to the individual’s skill and to the system surrounding them. </a:t>
            </a:r>
          </a:p>
          <a:p>
            <a:r>
              <a:rPr lang="en-US" dirty="0"/>
              <a:t>Can the organisation actually support delivery of this expectation? Are the resources, decisions, cross-functional dependencies, and coordination mechanisms in place? </a:t>
            </a:r>
          </a:p>
          <a:p>
            <a:r>
              <a:rPr lang="en-US" dirty="0"/>
              <a:t>A person may fully understand and deeply want to own a target that the current system cannot deliver. </a:t>
            </a:r>
          </a:p>
          <a:p>
            <a:r>
              <a:rPr lang="en-US" dirty="0"/>
              <a:t>Establishing expectations surfaces this before execution begins.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Strategy is weakened when leaders become so committed to movement that they ignore capability gaps. A disciplined readiness pause can prevent an expensive failure later.</a:t>
            </a:r>
          </a:p>
          <a:p>
            <a:endParaRPr lang="en-US" dirty="0"/>
          </a:p>
          <a:p>
            <a:r>
              <a:rPr lang="en-US" b="1" dirty="0"/>
              <a:t>Condition 3</a:t>
            </a:r>
            <a:r>
              <a:rPr lang="en-US" dirty="0"/>
              <a:t>
</a:t>
            </a:r>
            <a:r>
              <a:rPr lang="en-US" b="1" dirty="0"/>
              <a:t>Commitment </a:t>
            </a:r>
            <a:r>
              <a:rPr lang="en-US" dirty="0"/>
              <a:t>— The person consciously accepts ownership of the outcome
Commitment is the moment the expectation crosses from instruction to promise. </a:t>
            </a:r>
          </a:p>
          <a:p>
            <a:r>
              <a:rPr lang="en-US" dirty="0"/>
              <a:t>The individual accepts personal responsibility for ensuring the outcome is delivered. </a:t>
            </a:r>
          </a:p>
          <a:p>
            <a:r>
              <a:rPr lang="en-US" dirty="0"/>
              <a:t>This cannot be assumed from nodding agreement or email confirmation. It must be actively tested through dialogue. </a:t>
            </a:r>
          </a:p>
          <a:p>
            <a:endParaRPr lang="en-US" dirty="0"/>
          </a:p>
          <a:p>
            <a:r>
              <a:rPr lang="en-US" dirty="0"/>
              <a:t>The Alignment Dialogue is the mechanism designed to confirm this transition has occurred.
The Alignment Dialogue asks: “On a scale of 1–10, how aligned are you with the expectation for you to deliver this outcome?” </a:t>
            </a:r>
          </a:p>
          <a:p>
            <a:r>
              <a:rPr lang="en-US" dirty="0"/>
              <a:t>A score below 9 means Commitment is not yet established.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Commitments lose strategic meaning when they are honoured only when convenient. Good intent has limited value if people cannot understand what is required of them.</a:t>
            </a:r>
          </a:p>
          <a:p>
            <a:r>
              <a:rPr lang="en-US" dirty="0"/>
              <a:t>
</a:t>
            </a:r>
          </a:p>
          <a:p>
            <a:r>
              <a:rPr dirty="0"/>
              <a:t>When the three conditions are met: The conversation ensures that Clarity, Capability and Commitment are present, and execution dynamics change noticeably.</a:t>
            </a:r>
          </a:p>
          <a:p>
            <a:r>
              <a:rPr dirty="0"/>
              <a:t>- Individuals take initiative earlier.</a:t>
            </a:r>
          </a:p>
          <a:p>
            <a:r>
              <a:rPr dirty="0"/>
              <a:t>- Risks are surfaced sooner.</a:t>
            </a:r>
          </a:p>
          <a:p>
            <a:r>
              <a:rPr dirty="0"/>
              <a:t>- Cross-functional coordination improves.</a:t>
            </a:r>
          </a:p>
          <a:p>
            <a:r>
              <a:rPr dirty="0"/>
              <a:t>- Energy shifts from reporting to solving.</a:t>
            </a:r>
          </a:p>
          <a:p>
            <a:r>
              <a:rPr dirty="0"/>
              <a:t>In this environment, expectations function as shared commitments.</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Condition Is Most Often Missing? In your current role, which of the three conditions do you most consistently confirm — and which do you most often assume?</a:t>
            </a:r>
          </a:p>
          <a:p>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EXPECTATIONS CHAIN (Mapping who else influences the outcome)
</a:t>
            </a:r>
            <a:r>
              <a:rPr lang="en-US" b="1" dirty="0"/>
              <a:t>Content:</a:t>
            </a:r>
            <a:r>
              <a:rPr lang="en-US" dirty="0"/>
              <a:t>
Very few delivery goals are achieved by a single person acting alone. </a:t>
            </a:r>
          </a:p>
          <a:p>
            <a:r>
              <a:rPr lang="en-US" dirty="0"/>
              <a:t>Most results depend on a network of decisions, resources, and coordination across the organisation. </a:t>
            </a:r>
          </a:p>
          <a:p>
            <a:r>
              <a:rPr lang="en-GB" dirty="0"/>
              <a:t>One critical aspect of establishing expectations is first understanding who else influences the outcome. </a:t>
            </a:r>
          </a:p>
          <a:p>
            <a:r>
              <a:rPr lang="en-GB" dirty="0"/>
              <a:t>This network is known as the Expectations Chain.</a:t>
            </a:r>
            <a:endParaRPr lang="en-US" dirty="0"/>
          </a:p>
          <a:p>
            <a:r>
              <a:rPr lang="en-US" dirty="0"/>
              <a:t>The Expectations Chain identifies everyone whose work directly affects the delivery of a Key Result or KPI.
Mapping the Expectations Chain is a critical step before establishing expectations with any individual. </a:t>
            </a:r>
          </a:p>
          <a:p>
            <a:r>
              <a:rPr lang="en-US" dirty="0"/>
              <a:t>It ensures that the KPI is not treated as an isolated personal obligation — and surfaces the dependencies that will determine whether delivery is possible.
</a:t>
            </a:r>
          </a:p>
          <a:p>
            <a:r>
              <a:rPr lang="en-US" dirty="0"/>
              <a:t>There are three flows in the expectations chain:</a:t>
            </a:r>
          </a:p>
          <a:p>
            <a:r>
              <a:rPr lang="en-US" dirty="0"/>
              <a:t>
</a:t>
            </a:r>
            <a:r>
              <a:rPr lang="en-US" b="1" dirty="0"/>
              <a:t>1. Upline Chain</a:t>
            </a:r>
            <a:r>
              <a:rPr lang="en-US" dirty="0"/>
              <a:t>
Who
Individuals the leader depends on for approval, decisions, or resources
Examples
Executive leadership, board members, executive sponsors, budget holders
Key question
Who must approve or resource this outcome for delivery to be possible?
</a:t>
            </a:r>
            <a:r>
              <a:rPr lang="en-US" b="1" dirty="0"/>
              <a:t>2. Downline Chain</a:t>
            </a:r>
            <a:r>
              <a:rPr lang="en-US" dirty="0"/>
              <a:t>
Who
Individuals responsible for executing the work required to achieve the KPI
Examples
Direct reports, project teams, cross-functional collaborators, shared service functions
Key question
Who must deliver specific activities for this outcome to be achieved?
</a:t>
            </a:r>
            <a:r>
              <a:rPr lang="en-US" b="1" dirty="0"/>
              <a:t>3. External Chain</a:t>
            </a:r>
            <a:r>
              <a:rPr lang="en-US" dirty="0"/>
              <a:t>
Who
External actors whose contributions influence delivery success
Examples
Suppliers, service partners, contractors, regulatory bodies, technology vendors
Key question
Which external actors influence whether this outcome can be delivered?
</a:t>
            </a:r>
            <a:r>
              <a:rPr dirty="0"/>
              <a:t>Outcomes depend on a web of contributors beyond the visible leaders. Map and value the wider contribution system.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ALIGNMENT DIALOGUE (Testing whether the expectation is owned)
With the Expectations Chain mapped, the leader conducts an Alignment Dialogue with the individuals responsible for delivering the OKR/KPI. This is a structured conversation designed to test whether the expectation has moved from instruction to commitment.
</a:t>
            </a:r>
          </a:p>
          <a:p>
            <a:r>
              <a:rPr lang="en-US" dirty="0"/>
              <a:t>The Alignment Dialogue uses a simple scale of 1–10. A score of 9 or 10 indicates genuine ownership of delivery. </a:t>
            </a:r>
          </a:p>
          <a:p>
            <a:r>
              <a:rPr lang="en-US" dirty="0"/>
              <a:t>Anything lower demands further deliberation through the Score → Evaluate → Resolve sequence.
The power of the Alignment Dialogue lies in what the number reveals. A score of 6 is data: there is something unresolved between the expectation and the person’s readiness to own it. The leader’s job is to find it and resolve it before execution begins.</a:t>
            </a:r>
          </a:p>
          <a:p>
            <a:endParaRPr lang="en-US"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individual wants to reach.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Establishing Expectations Determines Execution Outcomes
Understanding the behavioural mechanisms through which expectation alignment drives ownership, reduces ambiguity, surfaces constraints, and transforms accountability from formal obligation to personal commitment.
Section learning outcomes:
1. Explain how establishing expectations builds ownership and mutual accountability.
2. Recognise how engagement and accountability degrade when expectations are only communicated.
</a:t>
            </a:r>
            <a:endParaRPr dirty="0"/>
          </a:p>
          <a:p>
            <a:r>
              <a:rPr dirty="0"/>
              <a:t>Why this section matters: Establishing performance expectations plays a decisive role in execution because strategy is ultimately delivered through human commitment. Plans, scorecards, and systems alone do not deliver it.</a:t>
            </a:r>
          </a:p>
          <a:p>
            <a:endParaRPr lang="en-ZA" dirty="0"/>
          </a:p>
          <a:p>
            <a:r>
              <a:rPr dirty="0"/>
              <a:t>Organisations often invest significant effort in defining objectives, designing metrics, and building reporting structures. Execution outcomes are determined above all by whether the individuals responsible for delivery fully understand, accept, and </a:t>
            </a:r>
            <a:r>
              <a:rPr dirty="0" err="1"/>
              <a:t>internalise</a:t>
            </a:r>
            <a:r>
              <a:rPr dirty="0"/>
              <a:t>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COMPLIANCE VS COMMITMENT: THE EXECUTION DYNAMIC (Ignition point)
FACILITATOR GUIDANCE
Invite leaders to locate their current team: “If you are honest — when your team hits an obstacle, what happens first? Do they solve it, or do they escalate it? The answer tells you whether you have compliance or commitment.” This is a signal about whether expectations were established.
Content:
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
</a:t>
            </a:r>
          </a:p>
          <a:p>
            <a:r>
              <a:rPr lang="en-US" dirty="0"/>
              <a:t>
</a:t>
            </a:r>
            <a:r>
              <a:rPr lang="en-GB" dirty="0"/>
              <a:t>From instruction to ownership: When expectations are merely communicated, people typically interpret them as instructions, and this produces a compliance-based execution dynamic. </a:t>
            </a:r>
          </a:p>
          <a:p>
            <a:endParaRPr lang="en-GB" dirty="0"/>
          </a:p>
          <a:p>
            <a:r>
              <a:rPr lang="en-GB" dirty="0"/>
              <a:t>In compliance environments, individuals tend to wait for direction before acting, escalate problems upward and leave them unresolved, focus on reporting progress ahead of accelerating outcomes, and remain cautious when unexpected obstacles arise.</a:t>
            </a:r>
          </a:p>
          <a:p>
            <a:endParaRPr lang="en-GB" dirty="0"/>
          </a:p>
          <a:p>
            <a:r>
              <a:rPr dirty="0"/>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endParaRPr dirty="0"/>
          </a:p>
          <a:p>
            <a:r>
              <a:rPr dirty="0"/>
              <a:t>Build commitments that hold without the pressure.</a:t>
            </a:r>
          </a:p>
          <a:p>
            <a:r>
              <a:rPr dirty="0"/>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ENGAGEMENT &amp; ACCOUNTABILITY: THE TWO CASUALTIES (What breaks down when expectations are only set)
FACILITATOR GUIDANCE
The paradox in the Accountability card is often a moment of recognition for leaders. Name it explicitly: “Have you ever been in a review where everyone has a reason, and no one has an answer? That is diluted accountability in action. It happened because ownership was never established.”
</a:t>
            </a:r>
            <a:r>
              <a:rPr lang="en-US" b="1" dirty="0"/>
              <a:t>Content:</a:t>
            </a:r>
            <a:r>
              <a:rPr lang="en-US" dirty="0"/>
              <a:t>
When expectations are set without being established, two organisational conditions degrade in a predictable sequence.
</a:t>
            </a:r>
          </a:p>
          <a:p>
            <a:r>
              <a:rPr lang="en-US" b="1" dirty="0"/>
              <a:t>First Casualty</a:t>
            </a:r>
            <a:r>
              <a:rPr lang="en-US" dirty="0"/>
              <a:t>
</a:t>
            </a:r>
            <a:r>
              <a:rPr lang="en-GB" b="1" dirty="0"/>
              <a:t>Engagement, the first casualty</a:t>
            </a:r>
          </a:p>
          <a:p>
            <a:r>
              <a:rPr lang="en-GB" dirty="0"/>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rPr lang="en-GB" dirty="0"/>
              <a:t>As a result, engagement begins to weaken in subtle but observable ways.</a:t>
            </a:r>
          </a:p>
          <a:p>
            <a:r>
              <a:rPr lang="en-GB" dirty="0"/>
              <a:t>Individuals complete assigned tasks yet hesitate to go beyond their defined scope. Initiative declines because people do not feel authorised, or obligated, to intervene when obstacles arise outside their immediate area of responsibility. </a:t>
            </a:r>
          </a:p>
          <a:p>
            <a:r>
              <a:rPr lang="en-GB" dirty="0"/>
              <a:t>Teams concentrate on completing assigned tasks and leave the broader organisational challenge unsolved. </a:t>
            </a:r>
          </a:p>
          <a:p>
            <a:r>
              <a:rPr lang="en-GB" dirty="0"/>
              <a:t>Individuals behave as though they are implementing someone else’s expectation, with no sense of advancing a commitment they helped shape.</a:t>
            </a:r>
          </a:p>
          <a:p>
            <a:r>
              <a:rPr lang="en-GB" dirty="0"/>
              <a:t>How dialogue reverses it: When expectations are established through dialogue, the dynamic shifts significantly.</a:t>
            </a:r>
          </a:p>
          <a:p>
            <a:r>
              <a:rPr lang="en-GB" dirty="0"/>
              <a:t> Individuals participate in clarifying the conditions required for delivery, surfacing constraints, and confirming the feasibility of the outcome. </a:t>
            </a:r>
          </a:p>
          <a:p>
            <a:r>
              <a:rPr lang="en-GB" dirty="0"/>
              <a:t>This process strengthens their connection to the expectation and increases their willingness to invest discretionary effort. </a:t>
            </a:r>
          </a:p>
          <a:p>
            <a:r>
              <a:rPr lang="en-GB" dirty="0"/>
              <a:t>Engagement rises because individuals see the outcome as a shared commitment they have helped define and are motivated to deliver.</a:t>
            </a:r>
          </a:p>
          <a:p>
            <a:endParaRPr lang="en-US" dirty="0"/>
          </a:p>
          <a:p>
            <a:endParaRPr dirty="0"/>
          </a:p>
          <a:p>
            <a:endParaRPr dirty="0"/>
          </a:p>
          <a:p>
            <a:r>
              <a:rPr b="1" dirty="0"/>
              <a:t>Accountability, the critical long-term impact </a:t>
            </a:r>
            <a:endParaRPr lang="en-ZA" b="1" dirty="0"/>
          </a:p>
          <a:p>
            <a:r>
              <a:rPr dirty="0"/>
              <a:t>Accountability functions effectively when individuals clearly understand both what outcome they are responsible for and the conditions under which that outcome must be delivered. When expectations are set without thorough alignment, this clarity is often incomplete. </a:t>
            </a:r>
            <a:endParaRPr lang="en-ZA" dirty="0"/>
          </a:p>
          <a:p>
            <a:r>
              <a:rPr dirty="0"/>
              <a:t>Individuals may feel responsible for carrying out their activities (executing tasks, completing projects, producing reports) and still not feel fully responsible for the final organisational result.</a:t>
            </a:r>
          </a:p>
          <a:p>
            <a:r>
              <a:rPr dirty="0"/>
              <a:t>Over time, this ambiguity produces several familiar organisational </a:t>
            </a:r>
            <a:r>
              <a:rPr dirty="0" err="1"/>
              <a:t>behaviours</a:t>
            </a:r>
            <a:r>
              <a:rPr dirty="0"/>
              <a:t>. Performance discussions increasingly revolve around explanations, conversations focus on constraints ahead of solutions, and it becomes difficult to identify who ultimately owns the result. </a:t>
            </a:r>
            <a:endParaRPr lang="en-ZA" dirty="0"/>
          </a:p>
          <a:p>
            <a:r>
              <a:rPr dirty="0"/>
              <a:t>In such environments leaders often observe a persistent paradox. Activity levels are high, and effort and capability are not necessarily the issue: the organisation has assigned expectations without fully securing ownership of the outcome.</a:t>
            </a:r>
          </a:p>
          <a:p>
            <a:r>
              <a:rPr dirty="0"/>
              <a:t>How establishing restores it: When expectations are properly established, accountability becomes clearer and more effective. </a:t>
            </a:r>
            <a:endParaRPr lang="en-ZA" dirty="0"/>
          </a:p>
          <a:p>
            <a:r>
              <a:rPr dirty="0"/>
              <a:t>Individuals understand the results they are responsible for, the dependencies involved in delivering those results, and the support structures available to them. This clarity enables teams to address challenges earlier and to take ownership of resolving obstacles. </a:t>
            </a:r>
            <a:endParaRPr lang="en-ZA" dirty="0"/>
          </a:p>
          <a:p>
            <a:r>
              <a:rPr dirty="0"/>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endParaRPr dirty="0"/>
          </a:p>
          <a:p>
            <a:endParaRPr dirty="0"/>
          </a:p>
          <a:p>
            <a:r>
              <a:rPr dirty="0"/>
              <a:t>Engagement becomes transactional: Many teams run on minimum compliance: do what is required, claim the credit, defend the boundary</a:t>
            </a:r>
            <a:r>
              <a:rPr lang="en-GB" dirty="0"/>
              <a:t>. </a:t>
            </a:r>
          </a:p>
          <a:p>
            <a:endParaRPr lang="en-GB" dirty="0"/>
          </a:p>
          <a:p>
            <a:r>
              <a:rPr dirty="0"/>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the Expectations Gap Emerge?
Examining how each executive function’s natural tendency creates patterns of setting expectations without establishing them — and where the gap most commonly breaks engagement and accountability at scale.
Section learning outcomes:
1. Identify where each executive function tends to set expectations without securing ownership.
2. Recognise the contributors and dependencies each executive role relies on to deliver an agreed result.</a:t>
            </a:r>
          </a:p>
          <a:p>
            <a:endParaRPr lang="en-US" dirty="0"/>
          </a:p>
          <a:p>
            <a:r>
              <a:t>Source detail (S2R® manuscript):</a:t>
            </a:r>
          </a:p>
          <a:p>
            <a:endParaRPr/>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COLLECTIVE INTELLIGENCE FOR EXECUTION DISCIPLINE: CXO EXPECTATION TENDENCIES &amp; GAPS (10 executive roles)
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r>
              <a:rPr dirty="0"/>
              <a:t/>
            </a:r>
            <a:r>
              <a:rPr dirty="0" err="1"/>
              <a:t/>
            </a:r>
            <a:r>
              <a:rPr dirty="0"/>
              <a:t/>
            </a:r>
          </a:p>
          <a:p>
            <a:r>
              <a:rPr dirty="0"/>
              <a:t>When this step is overlooked, the organisation may appear aligned at the surface level while important behavioural conditions remain unresolved beneath it. Two of the most common consequences begin to emerge over time:</a:t>
            </a:r>
          </a:p>
          <a:p>
            <a:r>
              <a:rPr dirty="0"/>
              <a:t>- Engagement begins to weaken, as individuals carry out instructions without fully </a:t>
            </a:r>
            <a:r>
              <a:rPr dirty="0" err="1"/>
              <a:t>internalising</a:t>
            </a:r>
            <a:r>
              <a:rPr dirty="0"/>
              <a:t> the commitment required to deliver the result.</a:t>
            </a:r>
          </a:p>
          <a:p>
            <a:r>
              <a:rPr dirty="0"/>
              <a:t>- Accountability becomes diluted, as responsibility for outcomes becomes ambiguous across teams and functions.</a:t>
            </a:r>
          </a:p>
          <a:p>
            <a:r>
              <a:rPr dirty="0"/>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r>
              <a:rPr lang="en-US" dirty="0"/>
              <a:t>
Cross-Leadership Expectation Architecture
Designing a shared method for establishing expectations consistently across the organisation — connecting every expectation to the future, clarifying the chain, and securing ownership through the Alignment Dialogue.
Section learning outcomes:
1. Apply a consistent leadership practice for establishing expectations across the organisation.
2. Coach individuals from partial alignment to genuine commitment.
</a:t>
            </a:r>
            <a:r>
              <a:rPr dirty="0"/>
              <a:t>This section brings the leadership team together to define how expectations will be established consistently across the organisation.</a:t>
            </a:r>
          </a:p>
          <a:p>
            <a:r>
              <a:rPr dirty="0"/>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endParaRPr lang="en-ZA" dirty="0"/>
          </a:p>
          <a:p>
            <a:r>
              <a:rPr dirty="0"/>
              <a:t>Without a common approach, expectations can be interpreted differently across teams. People may understand the priority, yet remain uncertain about how it connects to the organisation’s broader direction or who ultimately owns delivery.</a:t>
            </a:r>
          </a:p>
          <a:p>
            <a:r>
              <a:rPr dirty="0"/>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FOUR-STEP EXPECTATION ARCHITECTURE (A shared leadership practice)
The groups work to complete the expectations architecture.</a:t>
            </a:r>
          </a:p>
          <a:p>
            <a:r>
              <a:rPr lang="en-US" dirty="0"/>
              <a:t>
The Expectation Architecture provides a simple, consistent method that every leader in the organisation can use — from executives to team leaders to individual contributors — to move expectations from communication into genuine ownership.
1. Start With the Future
2. Clarify the Delivery Expectation
3. Identify the Expectations Chain
4. Confirm Ownership
</a:t>
            </a:r>
          </a:p>
          <a:p>
            <a:r>
              <a:rPr lang="en-US" dirty="0"/>
              <a:t>Begin by connecting the expectation to the organisation’s Success in Practice (SiP) — the future state the organisation is pursuing.</a:t>
            </a:r>
          </a:p>
          <a:p>
            <a:r>
              <a:rPr lang="en-US" dirty="0"/>
              <a:t>
The objective is to help the individual understand why the expectation matters. This anchors the expectation in organisational purpose.
</a:t>
            </a:r>
          </a:p>
          <a:p>
            <a:r>
              <a:rPr lang="en-US" dirty="0"/>
              <a:t>Example leader framing:</a:t>
            </a:r>
          </a:p>
          <a:p>
            <a:r>
              <a:rPr lang="en-GB" dirty="0"/>
              <a:t>Starting with the future: At this stage the leader explains how the expectation contributes to the broader outcome the organisation is pursuing. </a:t>
            </a:r>
            <a:r>
              <a:rPr lang="en-US" dirty="0"/>
              <a:t>
“The outcome we need is a reduction in resolution time from 48 hours to 12 hours by the end of Q3 2026. </a:t>
            </a:r>
          </a:p>
          <a:p>
            <a:r>
              <a:rPr lang="en-US" dirty="0"/>
              <a:t>That is the result we are holding ourselves to: the outcome we are accountable for.”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Clarity is tested by asking the individual to describe what success looks like in their own words. </a:t>
            </a:r>
            <a:r>
              <a:rPr lang="en-GB" dirty="0"/>
              <a:t>This step removes ambiguity and ensures that both parties share a clear picture of the result to be delivered.</a:t>
            </a:r>
          </a:p>
          <a:p>
            <a:r>
              <a:rPr lang="en-US" dirty="0"/>
              <a:t>If the description differs from the leader’s, the expectation requires further clarification before proceeding.
With the outcome clear, identify who else must contribute for the result to be achieved.
</a:t>
            </a:r>
          </a:p>
          <a:p>
            <a:r>
              <a:rPr lang="en-US" dirty="0"/>
              <a:t>Most organisational outcomes depend on multiple contributors. By mapping the Expectations Chain early, the leader ensures that dependencies are visible before execution begins.
The conversation explores:
Which teams or individuals will need to collaborate on this outcome?
Whose decisions or resources directly influence the delivery of the result?
Where might coordination be required across functions?
Which external actors influence whether the result can be achieved?
This step helps the individual understand the execution system surrounding the expectation — they are not delivering alone, and the leader is confirming that the full chain has been considered.
</a:t>
            </a:r>
          </a:p>
          <a:p>
            <a:r>
              <a:rPr lang="en-US" dirty="0"/>
              <a:t>The final step confirms that the individual accepts responsibility for ensuring the outcome is delivered. </a:t>
            </a:r>
          </a:p>
          <a:p>
            <a:r>
              <a:rPr lang="en-US" dirty="0"/>
              <a:t>This is the moment the expectation moves from instruction to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leader verifies that the individual understands their role in driving the result and accepts ownership of coordinating the work required to achieve it.</a:t>
            </a:r>
          </a:p>
          <a:p>
            <a:r>
              <a:rPr lang="en-US" dirty="0"/>
              <a:t>The leader asks the Alignment Question:
“On a scale of 1–10, how aligned are you with the expectation for you to deliver this outcome?”
A score of 9 or higher indicates that the expectation has moved into genuine ownership of delivery. The leader can proceed with confidence that the individual has consciously accepted responsibility for the result.
A score below 9 means there is unresolved concern between the expectation and the individual’s readiness to own it. The leader moves immediately into the Score → Evaluate → Resolve sequence to identify and address the source of misalignment before execution begins.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PRACTISING THE ALIGNMENT DIALOGUE (ROLE PLAY IN CLASS)</a:t>
            </a:r>
          </a:p>
          <a:p>
            <a:endParaRPr lang="en-GB" dirty="0"/>
          </a:p>
          <a:p>
            <a:r>
              <a:rPr lang="en-GB" dirty="0"/>
              <a:t>Participants practise the Alignment Dialogue with the GROW model, both taught in part 1.4. You run this role play in the live session, between any two roles that you choose. Nothing is entered on the portal during the role play.</a:t>
            </a:r>
          </a:p>
          <a:p>
            <a:endParaRPr lang="en-GB" dirty="0"/>
          </a:p>
          <a:p>
            <a:r>
              <a:rPr lang="en-GB" b="1" dirty="0"/>
              <a:t>HOW TO RUN IT:</a:t>
            </a:r>
          </a:p>
          <a:p>
            <a:endParaRPr lang="en-GB" dirty="0"/>
          </a:p>
          <a:p>
            <a:r>
              <a:rPr lang="en-GB" b="1" dirty="0"/>
              <a:t>1. Prepare three things.</a:t>
            </a:r>
          </a:p>
          <a:p>
            <a:r>
              <a:rPr lang="en-GB" dirty="0"/>
              <a:t>The expectation. One Key Result. Use the example of part 4.1, “Reduce complaint resolution time from 48 hours to 12 hours”, or a Key Result from a group’s Unit 3 Enterprise OKRs.</a:t>
            </a:r>
          </a:p>
          <a:p>
            <a:r>
              <a:rPr lang="en-GB" dirty="0"/>
              <a:t>The two roles for each round. One is the leader who establishes the expectation. The other is the owner who must deliver it. Any two roles work: CEO and COO, COO and Head of Customer Service, CFO and Head of Procurement, or an executive and the board chair.</a:t>
            </a:r>
          </a:p>
          <a:p>
            <a:r>
              <a:rPr lang="en-GB" dirty="0"/>
              <a:t>The owner brief for each round. It gives the owner’s score, the concerns behind it and what moves the owner to a 9 or 10. Two briefs for the part 4.1 example are below. Write your own in the same pattern for the roles you choose.</a:t>
            </a:r>
          </a:p>
          <a:p>
            <a:endParaRPr lang="en-GB" dirty="0"/>
          </a:p>
          <a:p>
            <a:r>
              <a:rPr lang="en-GB" b="1" dirty="0"/>
              <a:t>2. Set it up.</a:t>
            </a:r>
          </a:p>
          <a:p>
            <a:r>
              <a:rPr lang="en-GB" dirty="0"/>
              <a:t>Say: "We will now practise the Alignment Dialogue on one expectation. Listen for the four GROW stages." State the expectation and name the two roles.</a:t>
            </a:r>
          </a:p>
          <a:p>
            <a:endParaRPr lang="en-GB" dirty="0"/>
          </a:p>
          <a:p>
            <a:r>
              <a:rPr lang="en-GB" b="1" dirty="0"/>
              <a:t>3. Give the observers their task.</a:t>
            </a:r>
          </a:p>
          <a:p>
            <a:r>
              <a:rPr lang="en-GB" dirty="0"/>
              <a:t>Everyone who is not in a role posts in the chat each GROW stage as they hear it (G, R, O or W) and the question that opened it.</a:t>
            </a:r>
          </a:p>
          <a:p>
            <a:endParaRPr lang="en-GB" dirty="0"/>
          </a:p>
          <a:p>
            <a:r>
              <a:rPr lang="en-GB" b="1" dirty="0"/>
              <a:t>4. Round 1 · You demonstrate.</a:t>
            </a:r>
          </a:p>
          <a:p>
            <a:r>
              <a:rPr lang="en-GB" dirty="0"/>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endParaRPr lang="en-GB" dirty="0"/>
          </a:p>
          <a:p>
            <a:r>
              <a:rPr lang="en-GB" b="1" dirty="0"/>
              <a:t>5. Pause.</a:t>
            </a:r>
          </a:p>
          <a:p>
            <a:r>
              <a:rPr lang="en-GB" dirty="0"/>
              <a:t>Ask the observers: "Which question moved the score?" Read two answers from the chat.</a:t>
            </a:r>
          </a:p>
          <a:p>
            <a:endParaRPr lang="en-GB" dirty="0"/>
          </a:p>
          <a:p>
            <a:r>
              <a:rPr lang="en-GB" b="1" dirty="0"/>
              <a:t>6. Round 2 · Participants lead.</a:t>
            </a:r>
          </a:p>
          <a:p>
            <a:r>
              <a:rPr lang="en-GB" dirty="0"/>
              <a:t>One volunteer plays the leader and a second volunteer plays the owner, in the roles you chose. Send the owner brief to the owner in a private chat message. Run further rounds with other roles as you choose.</a:t>
            </a:r>
          </a:p>
          <a:p>
            <a:endParaRPr lang="en-GB" dirty="0"/>
          </a:p>
          <a:p>
            <a:r>
              <a:rPr lang="en-GB" b="1" dirty="0"/>
              <a:t>7. Debrief.</a:t>
            </a:r>
          </a:p>
          <a:p>
            <a:r>
              <a:rPr lang="en-GB" dirty="0"/>
              <a:t>Ask: "What did the leader do when the score was low?" "Which concern would have stayed hidden without ‘What else?’" "What felt unfamiliar about asking for a score?"</a:t>
            </a:r>
          </a:p>
          <a:p>
            <a:endParaRPr lang="en-GB" dirty="0"/>
          </a:p>
          <a:p>
            <a:r>
              <a:rPr lang="en-GB" b="1" dirty="0"/>
              <a:t>8. Point to the Portfolio work.</a:t>
            </a:r>
          </a:p>
          <a:p>
            <a:r>
              <a:rPr lang="en-GB" dirty="0"/>
              <a:t>Say: "On the portal, in part 4.2, you prepare an Alignment Dialogue with your board chair on one of your own Key Results."</a:t>
            </a:r>
          </a:p>
          <a:p>
            <a:endParaRPr lang="en-GB" dirty="0"/>
          </a:p>
          <a:p>
            <a:r>
              <a:rPr lang="en-GB" b="1" dirty="0"/>
              <a:t>Owner briefs for the example of part 4.1:</a:t>
            </a:r>
          </a:p>
          <a:p>
            <a:r>
              <a:rPr lang="en-GB" dirty="0"/>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rPr lang="en-GB" dirty="0"/>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endParaRPr lang="en-GB" dirty="0"/>
          </a:p>
          <a:p>
            <a:r>
              <a:rPr lang="en-GB" b="1" dirty="0"/>
              <a:t>Watch for:</a:t>
            </a:r>
          </a:p>
          <a:p>
            <a:r>
              <a:rPr lang="en-GB" dirty="0"/>
              <a:t>The leader defends the target or argues with the score. Stop the round and ask the leader to return to "What influenced the score you gave?"</a:t>
            </a:r>
          </a:p>
          <a:p>
            <a:r>
              <a:rPr lang="en-GB" dirty="0"/>
              <a:t>The leader offers solutions before asking for the owner’s options. Ask: "Whose idea was that?"</a:t>
            </a:r>
          </a:p>
          <a:p>
            <a:r>
              <a:rPr lang="en-GB" dirty="0"/>
              <a:t>The dialogue ends without the alignment question being asked again. Ask: "How do you know where the owner stands now?"</a:t>
            </a:r>
          </a:p>
          <a:p>
            <a:endParaRPr lang="en-GB" dirty="0"/>
          </a:p>
          <a:p>
            <a:r>
              <a:rPr lang="en-GB" b="1" dirty="0"/>
              <a:t>ON THE PORTAL, AFTER THE TEACHING:</a:t>
            </a:r>
          </a:p>
          <a:p>
            <a:r>
              <a:rPr lang="en-GB" dirty="0"/>
              <a:t>Each participant completes part 4.2 of their own file alone, as Portfolio work:</a:t>
            </a:r>
          </a:p>
          <a:p>
            <a:r>
              <a:rPr lang="en-GB" dirty="0"/>
              <a:t>1. They choose from a drop-down list the Key Result for which they may need an alignment dialogue with their board chair. The list holds the Key Results their group confirmed in Unit 3.</a:t>
            </a:r>
          </a:p>
          <a:p>
            <a:r>
              <a:rPr lang="en-GB" dirty="0"/>
              <a:t>2. They read the scenario: the board chair has disagreed with the current metric and timeframe of that Key Result and gives a 5.</a:t>
            </a:r>
          </a:p>
          <a:p>
            <a:r>
              <a:rPr lang="en-GB" dirty="0"/>
              <a:t>3. They write their side of the dialogue under each GROW stage (Goal, Reality, Options, Will), with the questions they ask in their own words.</a:t>
            </a:r>
          </a:p>
          <a:p>
            <a:r>
              <a:rPr lang="en-GB" dirty="0"/>
              <a:t>4. Under Will they state what they and the chair agree to do and how they confirm that the chair has reached a 10.</a:t>
            </a:r>
          </a:p>
          <a:p>
            <a:r>
              <a:rPr lang="en-GB" dirty="0"/>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first prompt aloud.</a:t>
            </a:r>
          </a:p>
          <a:p>
            <a:r>
              <a:rPr lang="en-GB" dirty="0"/>
              <a:t>4.1 Reflection — Which Step Do You Most Often Skip?: "Of the four steps, which one do you most often move through too quickly? What would change if you gave it more time?"</a:t>
            </a:r>
          </a:p>
          <a:p>
            <a:endParaRPr lang="en-GB" dirty="0"/>
          </a:p>
          <a:p>
            <a:r>
              <a:rPr lang="en-GB" b="1" dirty="0"/>
              <a:t>2. Explain the Portfolio work of part 4.2.</a:t>
            </a:r>
          </a:p>
          <a:p>
            <a:r>
              <a:rPr lang="en-GB" dirty="0"/>
              <a:t>Say: "In part 4.2 you prepare an Alignment Dialogue with your board chair, using the GROW model.</a:t>
            </a:r>
          </a:p>
          <a:p>
            <a:r>
              <a:rPr lang="en-GB" dirty="0"/>
              <a:t>You choose the Key Result for which you may need that dialogue.</a:t>
            </a:r>
          </a:p>
          <a:p>
            <a:r>
              <a:rPr lang="en-GB" dirty="0"/>
              <a:t>The scenario is on your page: your board chair has disagreed with the current metric and timeframe of that Key Result and gives a 5.</a:t>
            </a:r>
          </a:p>
          <a:p>
            <a:r>
              <a:rPr lang="en-GB" dirty="0"/>
              <a:t>You write your side of the dialogue under Goal, Reality, Options and Will, to move your chair to a 10."</a:t>
            </a:r>
          </a:p>
          <a:p>
            <a:endParaRPr lang="en-GB" dirty="0"/>
          </a:p>
          <a:p>
            <a:r>
              <a:rPr lang="en-GB" b="1" dirty="0"/>
              <a:t>3.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 reflection and the Portfolio work on the portal after the teaching, with as much depth as you can."</a:t>
            </a:r>
          </a:p>
          <a:p>
            <a:endParaRPr lang="en-GB" dirty="0"/>
          </a:p>
          <a:p>
            <a:r>
              <a:rPr lang="en-GB" b="1" dirty="0"/>
              <a:t>4. Set the standard.</a:t>
            </a:r>
          </a:p>
          <a:p>
            <a:r>
              <a:rPr lang="en-GB" dirty="0"/>
              <a:t>Say: "Write the questions you would ask in your own words. A question you would never say aloud does not belong in your dialogue."</a:t>
            </a:r>
          </a:p>
          <a:p>
            <a:r>
              <a:rPr lang="en-GB" dirty="0"/>
              <a:t>Watch for: answers that argue the case for the metric. Ask which GROW question comes first.</a:t>
            </a:r>
          </a:p>
          <a:p>
            <a:endParaRPr lang="en-GB" dirty="0"/>
          </a:p>
          <a:p>
            <a:r>
              <a:rPr lang="en-GB" b="1" dirty="0"/>
              <a:t>5. Bridge to Section 5.</a:t>
            </a:r>
          </a:p>
          <a:p>
            <a:r>
              <a:rPr lang="en-GB" dirty="0"/>
              <a:t>Say: "You have practised the dialogue. In Section 5 your group establishes delivery expectations for two of its own Objectives."</a:t>
            </a:r>
          </a:p>
          <a:p>
            <a:endParaRPr lang="en-GB" dirty="0"/>
          </a:p>
          <a:p>
            <a:r>
              <a:rPr lang="en-GB" b="1" dirty="0"/>
              <a:t>ON THE PORTAL, AFTER THE TEACHING:</a:t>
            </a:r>
          </a:p>
          <a:p>
            <a:r>
              <a:rPr lang="en-GB" dirty="0"/>
              <a:t>Participants write the 4.1 reflection in Section 4 of the participant file, at the foot of part 4.1.</a:t>
            </a:r>
          </a:p>
          <a:p>
            <a:r>
              <a:rPr lang="en-GB" dirty="0"/>
              <a:t>Each participant completes part 4.2 of their own file alone, as Portfolio work:</a:t>
            </a:r>
          </a:p>
          <a:p>
            <a:r>
              <a:rPr lang="en-GB" dirty="0"/>
              <a:t>1. They choose from a drop-down list the Key Result for which they may need an alignment dialogue with their board chair. The list holds the Key Results their group confirmed in Unit 3.</a:t>
            </a:r>
          </a:p>
          <a:p>
            <a:r>
              <a:rPr lang="en-GB" dirty="0"/>
              <a:t>2. They read the scenario: the board chair has disagreed with the current metric and timeframe of that Key Result and gives a 5.</a:t>
            </a:r>
          </a:p>
          <a:p>
            <a:r>
              <a:rPr lang="en-GB" dirty="0"/>
              <a:t>3. They write their side of the dialogue under each GROW stage (Goal, Reality, Options, Will), with the questions they ask in their own words.</a:t>
            </a:r>
          </a:p>
          <a:p>
            <a:r>
              <a:rPr lang="en-GB" dirty="0"/>
              <a:t>4. Under Will they state what they and the chair agree to do and how they confirm that the chair has reached a 10.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This is group work and Capstone work. Section 5 has two exercises:</a:t>
            </a:r>
          </a:p>
          <a:p>
            <a:r>
              <a:rPr lang="en-GB" dirty="0"/>
              <a:t>5.1 · Building the Expectation Architecture. Each group takes two Objectives, with one Key Result each, through the four steps.</a:t>
            </a:r>
          </a:p>
          <a:p>
            <a:r>
              <a:rPr lang="en-GB" dirty="0"/>
              <a:t>5.2 · Conducting the Alignment Dialogue with the Board Chair. Each group prepares the dialogue that moves its board chair to a 10 on one Key Result.</a:t>
            </a:r>
          </a:p>
          <a:p>
            <a:r>
              <a:rPr lang="en-GB" dirty="0"/>
              <a:t>The group agrees each entry and one member acts as scribe. Every member then types the agreed entries into their own page, in the session or after it.</a:t>
            </a:r>
          </a:p>
          <a:p>
            <a:r>
              <a:rPr lang="en-GB" dirty="0"/>
              <a:t>Each participant then reads the group’s record at the foot of the section and selects Confirm. The confirmed record feeds the team’s Capstone Blueprint.</a:t>
            </a:r>
          </a:p>
          <a:p>
            <a:endParaRPr lang="en-GB" dirty="0"/>
          </a:p>
          <a:p>
            <a:r>
              <a:rPr lang="en-GB" b="1" dirty="0"/>
              <a:t>SECTION LEARNING OUTCOMES:</a:t>
            </a:r>
          </a:p>
          <a:p>
            <a:r>
              <a:rPr lang="en-GB" dirty="0"/>
              <a:t>1. Establish delivery expectations that secure personal ownership of agreed results.</a:t>
            </a:r>
          </a:p>
          <a:p>
            <a:r>
              <a:rPr lang="en-GB" dirty="0"/>
              <a:t>2. Confirm the contributors and commitments that make mutual accountability visible.</a:t>
            </a:r>
          </a:p>
          <a:p>
            <a:endParaRPr lang="en-GB" dirty="0"/>
          </a:p>
          <a:p>
            <a:r>
              <a:rPr lang="en-GB" b="1" dirty="0"/>
              <a:t>HOW TO OPEN THE SECTION:</a:t>
            </a:r>
          </a:p>
          <a:p>
            <a:endParaRPr lang="en-GB" dirty="0"/>
          </a:p>
          <a:p>
            <a:r>
              <a:rPr lang="en-GB" b="1" dirty="0"/>
              <a:t>1. Say what the section does.</a:t>
            </a:r>
          </a:p>
          <a:p>
            <a:r>
              <a:rPr lang="en-GB" dirty="0"/>
              <a:t>Say: "Section 5 has two exercises.</a:t>
            </a:r>
          </a:p>
          <a:p>
            <a:r>
              <a:rPr lang="en-GB" dirty="0"/>
              <a:t>In 5.1 your group builds the Expectation Architecture for two of its Objectives.</a:t>
            </a:r>
          </a:p>
          <a:p>
            <a:r>
              <a:rPr lang="en-GB" dirty="0"/>
              <a:t>In 5.2 your group prepares the Alignment Dialogue with your board chair."</a:t>
            </a:r>
          </a:p>
          <a:p>
            <a:endParaRPr lang="en-GB" dirty="0"/>
          </a:p>
          <a:p>
            <a:r>
              <a:rPr lang="en-GB" b="1" dirty="0"/>
              <a:t>2. Say how the group works.</a:t>
            </a:r>
          </a:p>
          <a:p>
            <a:r>
              <a:rPr lang="en-GB" dirty="0"/>
              <a:t>Say: "Both exercises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 read your group’s record at the foot of the section and select Confirm. Your confirmed record feeds your team’s Capstone Blueprint."</a:t>
            </a:r>
          </a:p>
          <a:p>
            <a:r>
              <a:rPr lang="en-GB" dirty="0"/>
              <a:t>Your role in this section: Guide how the work is completed. The Capstone work is reviewed independently at graduation.</a:t>
            </a:r>
          </a:p>
          <a:p>
            <a:r>
              <a:rPr lang="en-GB" dirty="0"/>
              <a:t>The drop-down lists hold the group’s Enterprise OKRs and its Success in Practice statements. Each group confirms them in Unit 3, part 5.2, and in Unit 2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BUILDING THE EXPECTATION ARCHITECTURE (CAPSTONE WORK)</a:t>
            </a:r>
          </a:p>
          <a:p>
            <a:endParaRPr lang="en-GB" dirty="0"/>
          </a:p>
          <a:p>
            <a:r>
              <a:rPr lang="en-GB" b="1" dirty="0"/>
              <a:t>HOW TO TEACH IT:</a:t>
            </a:r>
          </a:p>
          <a:p>
            <a:endParaRPr lang="en-GB" dirty="0"/>
          </a:p>
          <a:p>
            <a:r>
              <a:rPr lang="en-GB" b="1" dirty="0"/>
              <a:t>1. Say what the group does.</a:t>
            </a:r>
          </a:p>
          <a:p>
            <a:r>
              <a:rPr lang="en-GB" dirty="0"/>
              <a:t>Say: "Each group takes two Objectives, with one Key Result each, through the four steps."</a:t>
            </a:r>
          </a:p>
          <a:p>
            <a:endParaRPr lang="en-GB" dirty="0"/>
          </a:p>
          <a:p>
            <a:r>
              <a:rPr lang="en-GB" b="1" dirty="0"/>
              <a:t>2. Step 1 · Start With the Future.</a:t>
            </a:r>
          </a:p>
          <a:p>
            <a:r>
              <a:rPr lang="en-GB" dirty="0"/>
              <a:t>Say: "From the drop-down lists, choose two Objectives. For each one, choose one Key Result that belongs to it and the Success in Practice statement it serves.</a:t>
            </a:r>
          </a:p>
          <a:p>
            <a:r>
              <a:rPr lang="en-GB" dirty="0"/>
              <a:t>Name the owner of each Key Result: the executive role that must make sure it is delivered.</a:t>
            </a:r>
          </a:p>
          <a:p>
            <a:r>
              <a:rPr lang="en-GB" dirty="0"/>
              <a:t>For each Key Result, write the part of that Future it serves.</a:t>
            </a:r>
          </a:p>
          <a:p>
            <a:r>
              <a:rPr lang="en-GB" dirty="0"/>
              <a:t>Write the leader framing: the sentence that you, as the leader, say to the owner to connect the Key Result to that Future."</a:t>
            </a:r>
          </a:p>
          <a:p>
            <a:r>
              <a:rPr lang="en-GB" dirty="0"/>
              <a:t>The lists hold the Enterprise OKRs the group confirmed in Unit 3 and the Success in Practice statements it confirmed in Unit 2.</a:t>
            </a:r>
          </a:p>
          <a:p>
            <a:endParaRPr lang="en-GB" dirty="0"/>
          </a:p>
          <a:p>
            <a:r>
              <a:rPr lang="en-GB" b="1" dirty="0"/>
              <a:t>3. Step 2 · Clarify the Delivery Expectation.</a:t>
            </a:r>
          </a:p>
          <a:p>
            <a:r>
              <a:rPr lang="en-GB" dirty="0"/>
              <a:t>Say: "For each Key Result, state what must be delivered, as a result the owner can be held to. State by when the result must be in place. State the standard the result must meet. State how success will be recognised: the evidence you and the owner will both accept."</a:t>
            </a:r>
          </a:p>
          <a:p>
            <a:endParaRPr lang="en-GB" dirty="0"/>
          </a:p>
          <a:p>
            <a:r>
              <a:rPr lang="en-GB" b="1" dirty="0"/>
              <a:t>4. Step 3 · Identify the Expectations Chain.</a:t>
            </a:r>
          </a:p>
          <a:p>
            <a:r>
              <a:rPr lang="en-GB" dirty="0"/>
              <a:t>Say: "For each Key Result, name the Upline contributors and state what the outcome needs from them. Name the Downline contributors and state what the outcome needs from them. Name the External contributors and state what the outcome needs from them. State the coordination these contributors require."</a:t>
            </a:r>
          </a:p>
          <a:p>
            <a:endParaRPr lang="en-GB" dirty="0"/>
          </a:p>
          <a:p>
            <a:r>
              <a:rPr lang="en-GB" b="1" dirty="0"/>
              <a:t>5. Step 4 · Confirm Ownership.</a:t>
            </a:r>
          </a:p>
          <a:p>
            <a:r>
              <a:rPr lang="en-GB" dirty="0"/>
              <a:t>Say: "Agree which of you speaks as the leader and which of you answers as the owner of the Key Result. As the leader, ask the alignment question. Record the owner’s score. Where the score is below 9, ask the GROW questions of part 1.4. Record what stands behind the score, the actions agreed and the revised score. Where the first score is 9 or 10, the three boxes below it stay empty."</a:t>
            </a:r>
          </a:p>
          <a:p>
            <a:endParaRPr lang="en-GB" dirty="0"/>
          </a:p>
          <a:p>
            <a:r>
              <a:rPr lang="en-GB" b="1" dirty="0"/>
              <a:t>ON THE PORTAL, AFTER THE TEACHING:</a:t>
            </a:r>
          </a:p>
          <a:p>
            <a:r>
              <a:rPr lang="en-GB" dirty="0"/>
              <a:t>Participants work as a group in part 5.1 of their own file. This is Capstone work. The group agrees each entry and one member acts as scribe. Every member then types the agreed entries into their own page, in the session or after it.</a:t>
            </a:r>
          </a:p>
          <a:p>
            <a:r>
              <a:rPr lang="en-GB" dirty="0"/>
              <a:t>Step 1: For each of the two Objectives, three drop-down lists: the Objective · one Key Result of that Objective · the Success in Practice statement it serves. The lists hold the group’s confirmed Unit 3 Enterprise OKRs and Unit 2 SiP statements. Three boxes: Owner of the Key Result · The part of that Future it serves · Leader framing.</a:t>
            </a:r>
          </a:p>
          <a:p>
            <a:r>
              <a:rPr lang="en-GB" dirty="0"/>
              <a:t>Step 2: For each of the two Objectives, four boxes: What must be delivered · By when · To what standard · How success will be recognised.</a:t>
            </a:r>
          </a:p>
          <a:p>
            <a:r>
              <a:rPr lang="en-GB" dirty="0"/>
              <a:t>Step 3: For each of the two Objectives, two boxes for each chain (Upline, Downline, External): who they are · what the outcome needs from them. One box: Coordination required across these contributors.</a:t>
            </a:r>
          </a:p>
          <a:p>
            <a:r>
              <a:rPr lang="en-GB" dirty="0"/>
              <a:t>Step 4: For each of the two Objectives: Alignment score (1 to 10). Where the score is below 9, three boxes: What stands behind the score · Actions agreed to reach a 9 or 10 · Revised alignment score.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4.2.</a:t>
            </a:r>
          </a:p>
          <a:p>
            <a:r>
              <a:rPr lang="en-GB" dirty="0"/>
              <a:t>Say: "In part 4.2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performance expectations that are clear, strategically relevant and consistent with enterprise outcomes.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the readiness of individuals and teams to fulfil their strategic responsibilities.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Recognise the contribution relationships and dependencies that influence organisational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Understand the distinction between setting vs establishing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clarity, capability and commitment to establish expectations.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individual understands exactly what success looks like.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system can realistically support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person consciously accepts ownership of the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External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Which external actors influence delivery?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individual wants to reach</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establishing expectations builds ownership and mutual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engagement and accountability degrade when expectations are only communicated.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each executive function tends to set expectations without securing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contributors and dependencies each executive role relies on to deliver an agreed result.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a consistent leadership practice for establishing expectations across the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from partial alignment to genuine commitment.</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four-step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why the expectation matters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in outcome terms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who else must contribute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ask the Alignment Question</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 REFLECTION — WHICH STEP DO YOU MOST OFTEN SKIP?. Of the four steps, which one do you most often move through too quickly? What would change if you gave it more time?"/>
          <p:cNvPicPr>
            <a:picLocks noChangeAspect="1"/>
          </p:cNvPicPr>
          <p:nvPr/>
        </p:nvPicPr>
        <p:blipFill>
          <a:blip r:embed="rId3"/>
          <a:stretch>
            <a:fillRect/>
          </a:stretch>
        </p:blipFill>
        <p:spPr>
          <a:xfrm>
            <a:off x="1691640" y="1572768"/>
            <a:ext cx="9921240" cy="1051822"/>
          </a:xfrm>
          <a:prstGeom prst="rect">
            <a:avLst/>
          </a:prstGeom>
        </p:spPr>
      </p:pic>
      <p:sp>
        <p:nvSpPr>
          <p:cNvPr id="4" name="Part 4.1"/>
          <p:cNvSpPr/>
          <p:nvPr/>
        </p:nvSpPr>
        <p:spPr>
          <a:xfrm>
            <a:off x="548640" y="166433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delivery expectations that secure personal ownership of agreed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Confirm the contributors and commitments that make mutual accountability visible.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what, by when, to what standard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Upline, Downline and External</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