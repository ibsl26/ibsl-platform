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8 · PERFORMANCE MEASUREMENT</a:t>
            </a:r>
          </a:p>
          <a:p>
            <a:r>
              <a:t>Module 3 · Influence · Unit 8</a:t>
            </a:r>
          </a:p>
          <a:p/>
          <a:p>
            <a:r>
              <a:t>Unit intent (Facilitator Guide):</a:t>
            </a:r>
          </a:p>
          <a:p>
            <a:r>
              <a:t>Unit 8 closes the loop opened by Units 6 and 7.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t>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the wider organisational context.
2. Distinguish meaningful strategic progress from activity, compliance and short-term fluctuation.
3. Exercise balanced executive judgement when performance differs from agreed expectations.
4. Derive relevant decisions, organisational learning and leadership action from performance evidence.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Performance Measurement?</a:t>
            </a:r>
          </a:p>
          <a:p>
            <a:r>
              <a:t>Establishing performance measurement as an execution visibility discipline — and introducing the Review–Realign–Restore Cycle as the mechanism that keeps strategy correctable.</a:t>
            </a:r>
          </a:p>
          <a:p/>
          <a:p>
            <a:r>
              <a:t>Section learning outcomes:</a:t>
            </a:r>
          </a:p>
          <a:p>
            <a:r>
              <a:t>1. Distinguish meaningful strategic progress from activity.</a:t>
            </a:r>
          </a:p>
          <a:p>
            <a:r>
              <a:t>2. Convert performance evidence into realignment and corrective action.</a:t>
            </a:r>
          </a:p>
          <a:p/>
          <a:p>
            <a:r>
              <a:t>HOW TO TEACH THE SECTION:</a:t>
            </a:r>
          </a:p>
          <a:p>
            <a:r>
              <a:t>Open with the core provocation: "Work is happening. Teams are busy. Initiatives are underway. </a:t>
            </a:r>
          </a:p>
          <a:p>
            <a:r>
              <a:t>But can you confidently say the work being done is actually advancing the strategy?" </a:t>
            </a:r>
          </a:p>
          <a:p>
            <a:r>
              <a:t>This question unlocks the gap that this entire unit addresses — the difference between activity visibility and progress visibility.</a:t>
            </a:r>
          </a:p>
          <a:p/>
          <a:p>
            <a:r>
              <a:t>TEACHING NOTES FROM THE FACILITATOR GUIDE:</a:t>
            </a:r>
          </a:p>
          <a:p>
            <a:r>
              <a:t>1.1 · The Execution Visibility Infrastructure. Open with the provocation: "Work is happening. Teams are busy. Initiatives are underway. But can you confidently say the work being done is actually advancing the strategy?" Then teach performance measurement as the visibility infrastructure of the strategy: without it, strategy stays interpretive, each function develops its own sense of progress and activity is mistaken for advancement. The shift to land is from "What work was done?" to "What changed because of the work?", in people performance and in organisational performance.</a:t>
            </a:r>
          </a:p>
          <a:p>
            <a:r>
              <a:t>1.2 · The Four Strategic Purposes. Teach execution rhythm first: regular reviews reveal the subtle signals early and prevent the most common leadership surprise, discovering failure at the end of the reporting period. Then teach the four purposes one card at a time, each from both sides. Most leaders can name visibility and accountability; fewer name execution intelligence (data interpreted into decision insight through disciplined conversation) and timely correction.</a:t>
            </a:r>
          </a:p>
          <a:p>
            <a:r>
              <a:t>1.3 · From Performance Measurement to Execution Recovery. Link the four purposes to the Review–Realign–Restore Cycle (R3): Review brings together visibility, accountability and execution intelligence; Realign diagnoses the gap; Restore activates timely correction. Teach each stage for people performance and organisational performance. Name the outcome of each stage, and close on how the cycle stays continuous: the next Review checks whether the corrective actions worked.</a:t>
            </a:r>
          </a:p>
          <a:p>
            <a:r>
              <a:t>1.4 · The Accountability Loop. Start from the default response to a gap: pushing harder. The key facilitation moment is when leaders understand that most performance gaps have a diagnosable cause, and that the three root causes (accountability, skill, structural misfit) require different responses. Help leaders distinguish between team members who cannot perform and those who will not: inability needs development, and unwillingness needs accountability. Then teach how each recovery is achieved through the GROW model of Unit 7 (Goal, Reality, Options, Will). Close on keeping the performance conversation separate from the role conversation.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THE EXECUTION VISIBILITY INFRASTRUCTURE (Core concept)</a:t>
            </a:r>
          </a:p>
          <a:p/>
          <a:p>
            <a:r>
              <a:t>Content:</a:t>
            </a:r>
          </a:p>
          <a:p>
            <a:r>
              <a:t>The performance management system has been set and mechanisms for establishing performance are in place. </a:t>
            </a:r>
          </a:p>
          <a:p>
            <a:r>
              <a:t>Commitments have been secured. Now the most important discipline of execution begins.</a:t>
            </a:r>
          </a:p>
          <a:p>
            <a:r>
              <a:t>Strategy execution fails at the level of visibility. </a:t>
            </a:r>
          </a:p>
          <a:p>
            <a:r>
              <a:t>Performance measurement is the discipline that makes execution visible. It answers a simple but decisive question:</a:t>
            </a:r>
          </a:p>
          <a:p>
            <a:r>
              <a:t>Are we actually moving closer to our Success in Practice? It is the execution visibility infrastructure!</a:t>
            </a:r>
          </a:p>
          <a:p/>
          <a:p/>
          <a:p>
            <a:r>
              <a:t>The visibility infrastructure: </a:t>
            </a:r>
          </a:p>
          <a:p>
            <a:r>
              <a:t>Performance measurement creates the visibility infrastructure that allows leaders to observe whether the organisation is genuinely progressing toward its strategic outcomes. Without this infrastructure, strategy remains largely interpretive. </a:t>
            </a:r>
          </a:p>
          <a:p>
            <a:r>
              <a:t>Each function develops its own sense of progress. </a:t>
            </a:r>
          </a:p>
          <a:p>
            <a:r>
              <a:t>Activity becomes mistaken for advancement. Energy is expended, but the connection to the enterprise result becomes difficult to see.</a:t>
            </a:r>
          </a:p>
          <a:p>
            <a:r>
              <a:t>Performance measurement restores that line of sight. </a:t>
            </a:r>
          </a:p>
          <a:p>
            <a:r>
              <a:t>It allows the organisation to move from activity visibility to progress visibility.</a:t>
            </a:r>
          </a:p>
          <a:p/>
          <a:p>
            <a:r>
              <a:t>Most organisations are extremely good at measuring activity: how many projects were launched, how many meetings were held, how many deliverables were completed. </a:t>
            </a:r>
          </a:p>
          <a:p>
            <a:r>
              <a:t>These indicators provide evidence that work is occurring. But activity alone does not indicate whether the organisation is actually moving closer to the strategic outcome it set out to achieve.</a:t>
            </a:r>
          </a:p>
          <a:p/>
          <a:p>
            <a:r>
              <a:t>Performance measurement therefore asks a different set of questions. </a:t>
            </a:r>
          </a:p>
          <a:p>
            <a:r>
              <a:t>The question moves from "What work was done?" to "What changed because of the work?“</a:t>
            </a:r>
          </a:p>
          <a:p>
            <a:r>
              <a:t> The organisation examines evidence of progress. This shift transforms performance management from an administrative reporting exercise into an execution intelligence system.</a:t>
            </a:r>
          </a:p>
          <a:p/>
          <a:p/>
          <a:p/>
          <a:p>
            <a:r>
              <a:t>PEOPLE PERFORMANCE AND ORGANISATIONAL PERFORMANCE:</a:t>
            </a:r>
          </a:p>
          <a:p>
            <a:r>
              <a:t>The visibility infrastructure.</a:t>
            </a:r>
          </a:p>
          <a:p>
            <a:r>
              <a:t>People performance: leaders see whether individuals and teams are moving their KPIs, OKRs and behaviours toward the enterprise result.</a:t>
            </a:r>
          </a:p>
          <a:p>
            <a:r>
              <a:t>Organisational performance: leaders see whether the organisational conditions support the execution of the individuals' tasks. These conditions are the Environment, Systems, Resources and Governance (ESRG) agreed in Unit 6.</a:t>
            </a:r>
          </a:p>
          <a:p>
            <a:r>
              <a:t>From activity to progress.</a:t>
            </a:r>
          </a:p>
          <a:p>
            <a:r>
              <a:t>People performance: the question moves from "How busy are our people?" to "What has their work changed in the Key Result?"</a:t>
            </a:r>
          </a:p>
          <a:p>
            <a:r>
              <a:t>Organisational performance: the question moves from "Has the support been put in place?" to "Does the support enable the individuals' tasks to move the Key Result?"</a:t>
            </a:r>
          </a:p>
          <a:p/>
          <a:p>
            <a:r>
              <a:t>What activity measures give: Counts of projects launched, meetings held, campaigns executed and deliverables completed create a sense of operational movement.</a:t>
            </a:r>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FOUR STRATEGIC PURPOSES OF PERFORMANCE MEASUREMENT</a:t>
            </a:r>
          </a:p>
          <a:p/>
          <a:p>
            <a:r>
              <a:t>Content:</a:t>
            </a:r>
          </a:p>
          <a:p>
            <a:r>
              <a:t>Performance measurement creates execution rhythm. Most strategic outcomes are the result of cumulative progress built over time. </a:t>
            </a:r>
          </a:p>
          <a:p>
            <a:r>
              <a:t>Regular review cycles allow leaders to notice the subtle signals that indicate whether execution is strengthening or weakening. </a:t>
            </a:r>
          </a:p>
          <a:p>
            <a:r>
              <a:t>Momentum may begin to accelerate in one area while slowing in another. </a:t>
            </a:r>
          </a:p>
          <a:p>
            <a:r>
              <a:t>Resource constraints may appear. Decision bottlenecks may surface. </a:t>
            </a:r>
          </a:p>
          <a:p>
            <a:r>
              <a:t>Capability gaps may become visible. When these signals are visible early, leaders can respond while the situation is still manageable.</a:t>
            </a:r>
          </a:p>
          <a:p>
            <a:r>
              <a:t>This rhythm prevents the most common leadership surprise in organisations: discovering performance failure only at the end of the reporting period. Performance measurement ensures that strategy is observed while it is unfolding, as well as evaluated after the fact.</a:t>
            </a:r>
          </a:p>
          <a:p/>
          <a:p>
            <a:r>
              <a:t>At its core, performance measurement serves four strategic purposes within the organisation. Select each to explore.</a:t>
            </a:r>
          </a:p>
          <a:p/>
          <a:p>
            <a:r>
              <a:t>Purpose 01 - Creates Visibility</a:t>
            </a:r>
          </a:p>
          <a:p>
            <a:r>
              <a:t>Leaders can observe where the organisation is gaining momentum and where it is stalling. </a:t>
            </a:r>
          </a:p>
          <a:p>
            <a:r>
              <a:t>Strategic priorities that once existed only as intentions begin to appear as measurable progress signals. </a:t>
            </a:r>
          </a:p>
          <a:p>
            <a:r>
              <a:t>Without measurement, leaders are flying blind — confident in effort but uncertain about direction.</a:t>
            </a:r>
          </a:p>
          <a:p>
            <a:r>
              <a:t>Facilitator prompt: “Where in your organisation does execution happen in the dark? </a:t>
            </a:r>
          </a:p>
          <a:p>
            <a:r>
              <a:t>Where are you most likely to be surprised at the end of a reporting period?”</a:t>
            </a:r>
          </a:p>
          <a:p/>
          <a:p>
            <a:r>
              <a:t>Purpose 02- Establishes Accountability</a:t>
            </a:r>
          </a:p>
          <a:p>
            <a:r>
              <a:t>Strategic completion requires tracking every component of the declared goal, including the parts that bring no visible victory. Record what has been accomplished as evidence that commitments are being kept.</a:t>
            </a:r>
          </a:p>
          <a:p>
            <a:r>
              <a:t>Leaders and teams understand which part of the strategy they are responsible for advancing. </a:t>
            </a:r>
          </a:p>
          <a:p>
            <a:r>
              <a:t>Accountability without measurement is aspiration without a feedback loop — it depends entirely on personal commitment, with no organisational structure behind it.</a:t>
            </a:r>
          </a:p>
          <a:p>
            <a:r>
              <a:t>Facilitator prompt: “If your KPIs disappeared from your scorecard but the targets remained unchanged — how many would still be actively owned?”</a:t>
            </a:r>
          </a:p>
          <a:p/>
          <a:p>
            <a:r>
              <a:t>Purpose 03- Execution intelligence: </a:t>
            </a:r>
          </a:p>
          <a:p>
            <a:r>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t>Each review cycle helps leaders answer three essential questions:</a:t>
            </a:r>
          </a:p>
          <a:p>
            <a:r>
              <a:t>1. What progress has been achieved since the last review?</a:t>
            </a:r>
          </a:p>
          <a:p>
            <a:r>
              <a:t>2. What obstacles are preventing further progress?</a:t>
            </a:r>
          </a:p>
          <a:p>
            <a:r>
              <a:t>3. What adjustment will restore momentum toward the target?</a:t>
            </a:r>
          </a:p>
          <a:p>
            <a:r>
              <a:t>Through these conversations, performance management becomes a learning system. Teams develop a deeper understanding of how strategy unfolds in practice. Leaders strengthen their ability to guide execution through uncertainty and complexity.</a:t>
            </a:r>
          </a:p>
          <a:p/>
          <a:p>
            <a:r>
              <a:t>Purpose 04- Enables Timely Correction</a:t>
            </a:r>
          </a:p>
          <a:p>
            <a:r>
              <a:t>Early signals allow teams to intervene while progress is still recoverable. </a:t>
            </a:r>
          </a:p>
          <a:p>
            <a:r>
              <a:t>Problems are addressed when they are small enough to resolve. </a:t>
            </a:r>
          </a:p>
          <a:p>
            <a:r>
              <a:t>This purpose is why measurement frequency matters: a signal detected in week four is fundamentally different from the same signal detected in week twelve.</a:t>
            </a:r>
          </a:p>
          <a:p>
            <a:r>
              <a:t>Facilitator prompt: “What is the average gap in your organisation between when a performance problem begins and when leadership first becomes aware of it? What does that gap cost?”</a:t>
            </a:r>
          </a:p>
          <a:p/>
          <a:p>
            <a:r>
              <a:t>PEOPLE PERFORMANCE AND ORGANISATIONAL PERFORMANCE IN EACH PURPOSE:</a:t>
            </a:r>
          </a:p>
          <a:p>
            <a:r>
              <a:t>01 · Creates Visibility. People performance: where individuals' and teams' KPIs are gaining momentum and where they are stalling. Organisational performance: where the organisational conditions are supporting the execution of the tasks, and where they are holding it back.</a:t>
            </a:r>
          </a:p>
          <a:p>
            <a:r>
              <a:t>02 · Establishes Accountability. People performance: individuals and teams know which part of the strategy they are responsible for advancing, and their delivery is recorded as evidence. Organisational performance: leaders account for whether the organisational conditions they undertook to provide in Unit 7 support the execution of the individuals' tasks.</a:t>
            </a:r>
          </a:p>
          <a:p>
            <a:r>
              <a:t>03 · Execution Intelligence. People performance: the review learns what accelerates and what slows the progress of individuals and teams. Organisational performance: the review learns which organisational conditions enable execution and which constrain it.</a:t>
            </a:r>
          </a:p>
          <a:p>
            <a:r>
              <a:t>04 · Enables Timely Correction. People performance: an early signal in an individual's progress lets the leader intervene while the KPI is still recoverable. Organisational performance: an early signal in an organisational condition, such as a system outage, a capacity shortfall or a delayed decision, lets the leader responsible act before the individuals' delivery is affected.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FROM PERFORMANCE MEASUREMENT TO EXECUTION RECOVERY (the Review–Realign–Restore Cycle, R3)</a:t>
            </a:r>
          </a:p>
          <a:p/>
          <a:p>
            <a:r>
              <a:t>In Section 1.2, we established that performance measurement serves four strategic purposes: creating visibility, establishing accountability, generating execution intelligence and enabling timely correction.</a:t>
            </a:r>
          </a:p>
          <a:p/>
          <a:p>
            <a:r>
              <a:t>These four purposes work together to help leaders understand how strategy is progressing and where intervention is required.</a:t>
            </a:r>
          </a:p>
          <a:p>
            <a:r>
              <a:t>But identifying a performance gap does not automatically resolve it. </a:t>
            </a:r>
          </a:p>
          <a:p>
            <a:r>
              <a:t>Leaders need a disciplined process for interpreting what the evidence reveals, identifying what needs attention and ensuring that corrective decisions translate into improved execution.</a:t>
            </a:r>
          </a:p>
          <a:p/>
          <a:p>
            <a:r>
              <a:t>Within the S2R® system, this process is called the Review–Realign–Restore Cycle (R3).</a:t>
            </a:r>
          </a:p>
          <a:p>
            <a:r>
              <a:t>The cycle provides a recurring leadership rhythm through which performance evidence is examined, execution gaps are addressed and progress is restored.</a:t>
            </a:r>
          </a:p>
          <a:p>
            <a:r>
              <a:t>Stage 1 — Review: Establish Execution Reality</a:t>
            </a:r>
          </a:p>
          <a:p>
            <a:r>
              <a:t>Review brings together the first three purposes of performance measurement: visibility, accountability and execution intelligence.</a:t>
            </a:r>
          </a:p>
          <a:p>
            <a:r>
              <a:t>The KPI owner assesses progress against agreed targets and submits evidence of what has been achieved. </a:t>
            </a:r>
          </a:p>
          <a:p>
            <a:r>
              <a:t>The leader independently reviews the same KPI, bringing a broader organisational perspective.</a:t>
            </a:r>
          </a:p>
          <a:p>
            <a:r>
              <a:t>Together, they establish a shared understanding of execution reality.</a:t>
            </a:r>
          </a:p>
          <a:p>
            <a:r>
              <a:t>Three questions guide the conversation:</a:t>
            </a:r>
          </a:p>
          <a:p>
            <a:r>
              <a:t>What progress has been achieved against the agreed target?</a:t>
            </a:r>
          </a:p>
          <a:p>
            <a:r>
              <a:t>What does the evidence tell us about performance?</a:t>
            </a:r>
          </a:p>
          <a:p>
            <a:r>
              <a:t>Where is actual progress falling short of expectations?</a:t>
            </a:r>
          </a:p>
          <a:p>
            <a:r>
              <a:t>Outcome: A shared, evidence-based understanding of progress and any emerging performance gaps.</a:t>
            </a:r>
          </a:p>
          <a:p/>
          <a:p>
            <a:r>
              <a:t>Stage 2 — Realign: Diagnose and Address Execution Gaps</a:t>
            </a:r>
          </a:p>
          <a:p>
            <a:r>
              <a:t>Once Review establishes where progress is falling short, Realign determines what is preventing the expected performance.</a:t>
            </a:r>
          </a:p>
          <a:p>
            <a:r>
              <a:t>The leader activates the S2R® Accountability Loop to investigate whether the gap arises from:</a:t>
            </a:r>
          </a:p>
          <a:p>
            <a:r>
              <a:t>Ownership: The individual understands the responsibility but has lost connection to its purpose or accountability.</a:t>
            </a:r>
          </a:p>
          <a:p>
            <a:r>
              <a:t>Capability: The individual is committed but lacks the skills or support required to deliver.</a:t>
            </a:r>
          </a:p>
          <a:p>
            <a:r>
              <a:t>Role or structural constraints: The responsibilities, resources or organisational conditions are preventing effective execution.</a:t>
            </a:r>
          </a:p>
          <a:p>
            <a:r>
              <a:t>The leader and KPI owner identify an appropriate intervention, which may include renewed ownership, coaching, additional support or structural adjustments.</a:t>
            </a:r>
          </a:p>
          <a:p>
            <a:r>
              <a:t>Outcome: A clear understanding of the underlying performance constraint and an agreed corrective response.</a:t>
            </a:r>
          </a:p>
          <a:p/>
          <a:p>
            <a:r>
              <a:t>Stage 3 — Restore: Rebuild Execution Momentum</a:t>
            </a:r>
          </a:p>
          <a:p>
            <a:r>
              <a:t>Restore activates the fourth purpose of performance measurement: timely correction.</a:t>
            </a:r>
          </a:p>
          <a:p>
            <a:r>
              <a:t>The agreed intervention is translated into concrete execution commitments. </a:t>
            </a:r>
          </a:p>
          <a:p>
            <a:r>
              <a:t>The leader and KPI owner establish what must happen next, who is responsible and when progress will be reviewed.</a:t>
            </a:r>
          </a:p>
          <a:p>
            <a:r>
              <a:t>At this stage, they:</a:t>
            </a:r>
          </a:p>
          <a:p>
            <a:r>
              <a:t>Agree on corrective actions and expected progress.</a:t>
            </a:r>
          </a:p>
          <a:p>
            <a:r>
              <a:t>Reaffirm responsibilities and accountability.</a:t>
            </a:r>
          </a:p>
          <a:p>
            <a:r>
              <a:t>Establish follow-up timelines and support requirements.</a:t>
            </a:r>
          </a:p>
          <a:p>
            <a:r>
              <a:t>Update the KPI alignment state to reflect whether clarity, capability and ownership have been restored.</a:t>
            </a:r>
          </a:p>
          <a:p>
            <a:r>
              <a:t>Restoring momentum requires renewed commitment to the intended outcome, supported by the conditions necessary to achieve it.</a:t>
            </a:r>
          </a:p>
          <a:p>
            <a:r>
              <a:t>Outcome: A clear recovery pathway, renewed execution ownership and agreed follow-through.</a:t>
            </a:r>
          </a:p>
          <a:p/>
          <a:p>
            <a:r>
              <a:t>How the Cycle Remains Continuous</a:t>
            </a:r>
          </a:p>
          <a:p>
            <a:r>
              <a:t>The next Review examines whether the corrective actions have produced the expected improvement. If gaps remain, the cycle continues until execution returns to the required trajectory.</a:t>
            </a:r>
          </a:p>
          <a:p/>
          <a:p>
            <a:r>
              <a:t>THE CYCLE APPLIES TO PEOPLE PERFORMANCE AND ORGANISATIONAL PERFORMANCE:</a:t>
            </a:r>
          </a:p>
          <a:p>
            <a:r>
              <a:t>Review. People performance: the individual and the leader establish the progress made against the agreed target. Organisational performance: the leader brings the agreed measures or evidence of readiness for the organisational conditions, and the review establishes whether those conditions support the execution of the individuals' tasks.</a:t>
            </a:r>
          </a:p>
          <a:p>
            <a:r>
              <a:t>Realign. People performance: the Accountability Loop (part 1.4) diagnoses what is preventing the individual's expected performance. Organisational performance: the leader determines what is preventing an organisational condition from supporting the execution of the individuals' tasks, and agrees the response.</a:t>
            </a:r>
          </a:p>
          <a:p>
            <a:r>
              <a:t>Restore. People performance: the individual commits to the corrective actions and the follow-up dates. Organisational performance: the leader responsible commits to the actions on the organisational conditions, each with a review date.</a:t>
            </a:r>
          </a:p>
          <a:p>
            <a:r>
              <a:t>How the cycle remains continuous: the next Review examines both: the individuals' progress, and whether the organisational conditions now support their tasks.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Performance Measurement Determines Execution Velocity</a:t>
            </a:r>
          </a:p>
          <a:p/>
          <a:p>
            <a:r>
              <a:t>SECTION LEARNING OUTCOMES:</a:t>
            </a:r>
          </a:p>
          <a:p>
            <a:r>
              <a:t>1. Sustain the review discipline that sets the pace of execution.</a:t>
            </a:r>
          </a:p>
          <a:p>
            <a:r>
              <a:t>2. Recognise the early signs that review discipline is weakening and the cost each carries.</a:t>
            </a:r>
          </a:p>
          <a:p/>
          <a:p>
            <a:r>
              <a:t>HOW TO OPEN THE SECTION:</a:t>
            </a:r>
          </a:p>
          <a:p/>
          <a:p>
            <a:r>
              <a:t>1. Name the shift.</a:t>
            </a:r>
          </a:p>
          <a:p>
            <a:r>
              <a:t>Say: "This section moves from measurement as a tool to measurement as a leadership discipline. The rhythm of review conversations is itself a strategic capability."</a:t>
            </a:r>
          </a:p>
          <a:p/>
          <a:p>
            <a:r>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t>3. Say where it goes.</a:t>
            </a:r>
          </a:p>
          <a:p>
            <a:r>
              <a:t>Say: "Section 5 returns to these four consequences. There, your group sets the decision points that guard against them."</a:t>
            </a:r>
          </a:p>
          <a:p/>
          <a:p>
            <a:r>
              <a:t>TEACHING NOTES FROM THE FACILITATOR GUIDE:</a:t>
            </a:r>
          </a:p>
          <a:p>
            <a:r>
              <a:t>2.1 · Execution velocity. Open with the question "What determines the velocity of the flight?" and teach execution velocity: the rate at which an organisation converts strategic intent into measurable results, shaped by how quickly leaders detect, understand, decide and act. Performance measurement provides the evidence; review discipline converts it into timely decisions.</a:t>
            </a:r>
          </a:p>
          <a:p>
            <a:r>
              <a:t>2.1 · Four Consequences of Weak Review Discipline. Teach the four consequences as one chain, one card at a time, each in people performance and in organisational performance. Ask the question on each card once the card is taught, so participants recognise the chain in their own organisations.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FOUR CONSEQUENCES OF WEAK REVIEW DISCIPLINE</a:t>
            </a:r>
          </a:p>
          <a:p/>
          <a:p>
            <a:r>
              <a:t>What determines the velocity of the flight?</a:t>
            </a:r>
          </a:p>
          <a:p>
            <a:r>
              <a:t>An aircraft's progress depends on continuously interpreting evidence and acting at the appropriate time. A changing wind condition, fuel concern, missed altitude restriction or unstable approach calls for a different decision.</a:t>
            </a:r>
          </a:p>
          <a:p>
            <a:r>
              <a:t>These decisions cannot all be deferred until landing. By then, the opportunity to respond to an earlier condition may have passed.</a:t>
            </a:r>
          </a:p>
          <a:p>
            <a:r>
              <a:t>The same principle applies to strategy execution.</a:t>
            </a:r>
          </a:p>
          <a:p>
            <a:r>
              <a:t>Execution velocity is the rate at which an organisation converts strategic intent into measurable results. That rate is shaped by how quickly leaders detect progress or deviation, understand its causes, make decisions and translate those decisions into action.</a:t>
            </a:r>
          </a:p>
          <a:p>
            <a:r>
              <a:t>Performance measurement provides the evidence. Review discipline converts that evidence into timely decisions.</a:t>
            </a:r>
          </a:p>
          <a:p>
            <a:r>
              <a:t>This is why organisations can have well-designed strategies, clearly assigned KPIs and detailed execution plans, yet still experience slow progress. The measures may exist, but the rhythm of examining them, resolving constraints and adjusting execution may be weak.</a:t>
            </a:r>
          </a:p>
          <a:p>
            <a:r>
              <a:t>2 — Four Consequences of Weak Review Discipline</a:t>
            </a:r>
          </a:p>
          <a:p>
            <a:r>
              <a:t>When performance reviews become irregular or superficial, the organisation loses the discipline that keeps execution moving. Four predictable consequences emerge.</a:t>
            </a:r>
          </a:p>
          <a:p>
            <a:r>
              <a:t>Consequence 01 — Early Warning Signals Are Missed</a:t>
            </a:r>
          </a:p>
          <a:p>
            <a:r>
              <a:t>Execution problems usually begin with small deviations: a missed milestone, a growing bottleneck or a capability gap. In aviation, these are comparable to performance indications that require attention well before the aircraft reaches a critical decision point.</a:t>
            </a:r>
          </a:p>
          <a:p>
            <a:r>
              <a:t>When leaders review performance too late, minor deviations become major delivery problems. The organisation loses valuable time to intervene.</a:t>
            </a:r>
          </a:p>
          <a:p>
            <a:r>
              <a:t>Velocity impact: Corrections become slower, more expensive and more disruptive.</a:t>
            </a:r>
          </a:p>
          <a:p>
            <a:r>
              <a:t>Facilitator prompt: "How long does it usually take your organisation to recognise and act on an execution problem? What happens to momentum during that delay?"</a:t>
            </a:r>
          </a:p>
          <a:p>
            <a:r>
              <a:t>Consequence 02 — Accountability Gradually Weakens</a:t>
            </a:r>
          </a:p>
          <a:p>
            <a:r>
              <a:t>In aviation, responsibilities and procedures remain active throughout the journey. The crew cannot treat the flight plan as an intention that no longer requires attention.</a:t>
            </a:r>
          </a:p>
          <a:p>
            <a:r>
              <a:t>Similarly, KPIs lose their operational force when leaders stop discussing them. Owners begin to interpret the absence of review as reduced priority. Commitments remain documented, but the urgency to deliver fades.</a:t>
            </a:r>
          </a:p>
          <a:p>
            <a:r>
              <a:t>Velocity impact: Follow-through weakens, decisions are delayed and delivery commitments begin to slip.</a:t>
            </a:r>
          </a:p>
          <a:p>
            <a:r>
              <a:t>Facilitator prompt: "Which KPIs in your organisation are actively managed, and which are simply recorded on a scorecard?"</a:t>
            </a:r>
          </a:p>
          <a:p>
            <a:r>
              <a:t>Consequence 03 — Organisational Learning Is Lost</a:t>
            </a:r>
          </a:p>
          <a:p>
            <a:r>
              <a:t>Flight crews and airlines use operational data and post-flight reviews to understand deviations and improve future performance.</a:t>
            </a:r>
          </a:p>
          <a:p>
            <a:r>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t>Velocity impact: Teams repeat avoidable mistakes and execution capability improves slowly.</a:t>
            </a:r>
          </a:p>
          <a:p>
            <a:r>
              <a:t>Facilitator prompt: "What have your performance reviews taught your organisation about how to improve execution over the past year?"</a:t>
            </a:r>
          </a:p>
          <a:p>
            <a:r>
              <a:t>Consequence 04 — Leadership Credibility Erodes</a:t>
            </a:r>
          </a:p>
          <a:p>
            <a:r>
              <a:t>A flight plan is credible because the crew actively manages the journey against it. Every stage requires attention to the destination, operating conditions and agreed procedures.</a:t>
            </a:r>
          </a:p>
          <a:p>
            <a:r>
              <a:t>Strategic commitments work similarly. When leaders announce priorities but rarely return to them in performance discussions, teams learn that the organisation's stated ambitions do not consistently shape management attention.</a:t>
            </a:r>
          </a:p>
          <a:p>
            <a:r>
              <a:t>Velocity impact: Strategic urgency declines, cross-functional commitment weakens and execution loses collective momentum.</a:t>
            </a:r>
          </a:p>
          <a:p>
            <a:r>
              <a:t>Facilitator prompt: "What do your teams learn about strategic priorities from what leadership consistently reviews?"</a:t>
            </a:r>
          </a:p>
          <a:p/>
          <a:p/>
          <a:p>
            <a:r>
              <a:t>PEOPLE PERFORMANCE AND ORGANISATIONAL PERFORMANCE IN EACH CONSEQUENCE:</a:t>
            </a:r>
          </a:p>
          <a:p/>
          <a:p>
            <a:r>
              <a:t>01 · Early Warning Signals Are Missed</a:t>
            </a:r>
          </a:p>
          <a:p>
            <a:r>
              <a:t>People performance: early warnings in people performance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about the target, and no one asks the alignment question again. Effort migrates: the individual's time moves to work that senior leaders ask about, and the KPI receives what is left. Each pattern leads a missed KPI by weeks. A leader who reviews monthly sees it as a trend across two or three conversations; a leader who reviews at quarter end sees the result alone. The difference is the recovery available: a capability gap seen in week four can be met with coaching; the same gap seen in week twelve leaves a revised target.</a:t>
            </a:r>
          </a:p>
          <a:p>
            <a:r>
              <a:t>Organisational performance: an early warning in organisational performance is evidence that an organisational condition has started to weaken in its support for the individuals' tasks. It seldom carries a number of its own, so the review sees it only when it asks for it.</a:t>
            </a:r>
          </a:p>
          <a:p>
            <a:r>
              <a:t>Resources · workforce capacity. A contact centre carries a customer-retention Key Result. Two agents resign and their posts stay open for a quarter. The remaining team covers the volume through overtime, and resolution times hold for six weeks, then fall sharply as absenteeism rises. The vacancy and the overtime were on record weeks before the KPI moved.</a:t>
            </a:r>
          </a:p>
          <a:p>
            <a:r>
              <a:t>Environment · psychological safety. In a function where raising a problem in front of senior leaders has carried a cost, team leads report amber milestones as green. The review sees on-track ratings until a milestone is missed. The warning was there all along: months without a single amber rating.</a:t>
            </a:r>
          </a:p>
          <a:p>
            <a:r>
              <a:t>Systems · data integrity. Sales, operations and finance each report from their own platform, and every cross-functional figure is consolidated by hand. The executive review works on information a week old, and a slipping delivery reaches the review after customers have already escalated it.</a:t>
            </a:r>
          </a:p>
          <a:p>
            <a:r>
              <a:t>Measures or evidence of readiness for each condition give these signals a place in the review. When the review does not ask for them, the condition shows itself through the KPI it was meant to support.</a:t>
            </a:r>
          </a:p>
          <a:p/>
          <a:p>
            <a:r>
              <a:t>02 · Gradual Diffusion of Accountability</a:t>
            </a:r>
          </a:p>
          <a:p>
            <a:r>
              <a:t>People performance: individuals read priority from the review agenda. When a KPI is absent from three reviews in a row, the conclusion is reasonable: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and the dependencies between them belong to no one. The commitment loses its force: the commitment given when the target was agreed has not been tested since. When the gap finally surfaces, the review becomes a search for who was responsible. The Accountability Loop cannot diagnose a commitment no one has been asked about.</a:t>
            </a:r>
          </a:p>
          <a:p>
            <a:r>
              <a:t>Organisational performance: leaders make commitments on organisational conditions when targets are agreed. These commitments seldom appear on any scorecard, so they diffuse first.</a:t>
            </a:r>
          </a:p>
          <a:p>
            <a:r>
              <a:t>Resources · capability alignment.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Governance · clear accountability. A regional manager is accountable for a margin Key Result, yet every discount above a set level still needs head-office sign-off. The change to the delegation was approved in principle and never issued. The manager carries the accountability without the authority to deliver it.</a:t>
            </a:r>
          </a:p>
          <a:p>
            <a:r>
              <a:t>Individuals remain held to their targets while the support they were promised quietly lapses. Mutual accountability becomes one-sided, and individuals protect themselves: they commit to less, document more and move from commitment to compliance.</a:t>
            </a:r>
          </a:p>
          <a:p/>
          <a:p>
            <a:r>
              <a:t>03 · Loss of Organisational Learning</a:t>
            </a:r>
          </a:p>
          <a:p>
            <a:r>
              <a:t>People performance: every review produces evidence on how results are achieved, and that evidence is the raw material of the organisation's performance capability. Practices that accelerate progress: one regional team meets its targets because its manager runs a short daily huddle on the Key Result. Recorded and examined, the practice can be taught to other teams. Unexamined, it stays one manager's habit and leaves when that manager leaves. Capability gaps that recur: when the same skill gap appears in reviews across several functions, it signals a development need at enterprise level. Behaviours that strengthen ownership: reviews show which leaders' teams surface problems early and which conceal them. When reviews only record results, talent decisions, development plans and succession rest on ratings with no evidence of how the results were achieved. The organisation keeps rewarding outcomes it cannot reproduce.</a:t>
            </a:r>
          </a:p>
          <a:p>
            <a:r>
              <a:t>Organisational performance: reviews also show how the organisational conditions behave as the strategy places weight on them. The learning is cumulative: the same constraint appearing in several reviews is evidence that a condition is not yet equal to the strategy.</a:t>
            </a:r>
          </a:p>
          <a:p>
            <a:r>
              <a:t>Systems · process clarity. Three functions each report delays at the handover between sales order and dispatch. Reviewed function by function, each delay looks local. Reviewed together, they show one handover that no one is responsible for.</a:t>
            </a:r>
          </a:p>
          <a:p>
            <a:r>
              <a:t>Resources · financial support. For two years running, the budget for strategic initiatives is released in the second quarter, and each year the initiatives deliver in the second half alone. The pattern becomes visible only when reviews are compared across cycles.</a:t>
            </a:r>
          </a:p>
          <a:p>
            <a:r>
              <a:t>Governance · decision authority. Capital requests above a set value wait a month on average for an executive decision, and every Key Result that depends on one slips by about the same margin.</a:t>
            </a:r>
          </a:p>
          <a:p>
            <a:r>
              <a:t>When reviews do not capture this learning, the organisation sets its next strategy on the same conditions. Targets rise, the conditions stay where they were, and the same constraints slow execution again. This learning is the evidence the executive team needs to judge whether the organisation can carry its next level of ambition.</a:t>
            </a:r>
          </a:p>
          <a:p/>
          <a:p>
            <a:r>
              <a:t>04 · Erodes Leadership Credibility</a:t>
            </a:r>
          </a:p>
          <a:p>
            <a:r>
              <a:t>People performance: credibility is built in the review. A leader who asks for evidence every month, recognises progress and addresses shortfalls consistently shows that the priority is real. Two patterns erode it. Priorities that fade: a strategic KPI launched with energy disappears from the review agenda, and individuals conclude the announcement was symbolic. High performers, who invest most in strategic commitments, become the most sceptical, and the organisation learns to wait and see whether a priority survives its first quarter. Standards applied unevenly: some individuals' KPIs are examined closely while others are excused, often by seniority. Individuals read this as unfairness, and commitment falls across the whole team.</a:t>
            </a:r>
          </a:p>
          <a:p>
            <a:r>
              <a:t>Organisational performance: leaders make commitments when they agree organisational conditions, and individuals track these closely because their own delivery depends on them. Credibility in organisational performance is a test of fairness.</a:t>
            </a:r>
          </a:p>
          <a:p>
            <a:r>
              <a:t>Environment · values and consequences. The organisation states accountability as a value. A junior manager is challenged in the review for a missed milestone, while a senior executive's missed commitment to release staff for the same project is never raised.</a:t>
            </a:r>
          </a:p>
          <a:p>
            <a:r>
              <a:t>Environment · psychological safety. Leaders invite open reporting of risks, and the first person to raise a delivery risk in a review is questioned in front of peers. From then on, risks reach the review late.</a:t>
            </a:r>
          </a:p>
          <a:p>
            <a:r>
              <a:t>Governance · execution oversight. The executive team commits to a monthly decision forum to clear constraints, then postpones it twice in one quarter while the decisions wait.</a:t>
            </a:r>
          </a:p>
          <a:p>
            <a:r>
              <a:t>When leaders review individuals' targets and leave their own commitments unreviewed, individuals see accountability running one way. Reviewing both, to the same evidence standard, shows that leaders hold themselves to the standard they set for others.</a:t>
            </a:r>
          </a:p>
          <a:p/>
          <a:p>
            <a:r>
              <a:t>ON THE PORTAL, AFTER THE TEACHING:</a:t>
            </a:r>
          </a:p>
          <a:p>
            <a:r>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Performance Measurement Break Down Across Functions?</a:t>
            </a:r>
          </a:p>
          <a:p/>
          <a:p>
            <a:r>
              <a:t>SECTION LEARNING OUTCOMES:</a:t>
            </a:r>
          </a:p>
          <a:p>
            <a:r>
              <a:t>1. Identify where the review and interpretation of performance evidence break down across functions.</a:t>
            </a:r>
          </a:p>
          <a:p>
            <a:r>
              <a:t>2. Assess which breakdown is most prevalent in their own organisation.</a:t>
            </a:r>
          </a:p>
          <a:p/>
          <a:p>
            <a:r>
              <a:t>HOW TO OPEN THE SECTION:</a:t>
            </a:r>
          </a:p>
          <a:p/>
          <a:p>
            <a:r>
              <a:t>1. Give the provocation.</a:t>
            </a:r>
          </a:p>
          <a:p>
            <a:r>
              <a:t>Say: "Most modern organisations have agreed goals and KPIs, dashboards, reporting tools, and performance frameworks. The breakdown usually occurs in how leaders review and interpret the measurement together."</a:t>
            </a:r>
          </a:p>
          <a:p/>
          <a:p>
            <a:r>
              <a:t>2. Say what the section holds.</a:t>
            </a:r>
          </a:p>
          <a:p>
            <a:r>
              <a:t>Say: "Part 3.1 gives the four gaps. Part 3.2 shows which executive roles most often feed each gap."</a:t>
            </a:r>
          </a:p>
          <a:p/>
          <a:p>
            <a:r>
              <a:t>3. Name the question that runs through it.</a:t>
            </a:r>
          </a:p>
          <a:p>
            <a:r>
              <a:t>Say: "The question for this section is: Is the chain of execution across our functions holding together?"</a:t>
            </a:r>
          </a:p>
          <a:p/>
          <a:p>
            <a:r>
              <a:t>TEACHING NOTES FROM THE FACILITATOR GUIDE:</a:t>
            </a:r>
          </a:p>
          <a:p>
            <a:r>
              <a:t>3.1 · Four Fractures in Performance Measurement. Teach the four gaps as observable patterns and invite participants to place their organisation honestly on each one, each with its implication for people performance and for organisational performance.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a:t>
            </a:r>
          </a:p>
          <a:p>
            <a:r>
              <a:t>3.2 · The CXO Performance Gap Contributors. Teach the logic of the cards first: how the role reviews performance (its meetings and its evidence), what the role does in those reviews, and what happens as a result, which opens one of the four fractures of part 3.1. Then take each participant's own role first and the two roles closest to it. Participants complete the reflection on the fracture they are most prone to as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 — FOUR FRACTURES IN PERFORMANCE MEASUREMENT</a:t>
            </a:r>
          </a:p>
          <a:p/>
          <a:p>
            <a:r>
              <a:t>Content:</a:t>
            </a:r>
          </a:p>
          <a:p>
            <a:r>
              <a:t>Performance measurement is ultimately a leadership conversation discipline. When that discipline weakens, several predictable fractures appear across the organisation. Select each gap below to examine where it occurs and what it costs.</a:t>
            </a:r>
          </a:p>
          <a:p>
            <a:r>
              <a:t>Gap 01</a:t>
            </a:r>
          </a:p>
          <a:p>
            <a:r>
              <a:t>The Horizontal Coordination Gap</a:t>
            </a:r>
          </a:p>
          <a:p>
            <a:r>
              <a:t>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a:t>
            </a:r>
          </a:p>
          <a:p>
            <a:r>
              <a:t>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a:t>
            </a:r>
          </a:p>
          <a:p>
            <a:r>
              <a:t>The leadership team, acting as the collective intelligence for execution discipline, closes this gap by introducing periodic cross-functional performance reviews where the executive team collectively examines how the KPIs across functions interact to produce enterprise outcomes.</a:t>
            </a:r>
          </a:p>
          <a:p>
            <a:r>
              <a:t>Facilitator question: “Name a strategic outcome in your organisation that required three or more functions to execute successfully. Where did the handoffs break down — and would a cross-functional review have caught it earlier?”</a:t>
            </a:r>
          </a:p>
          <a:p>
            <a:r>
              <a:t>Gap 02</a:t>
            </a:r>
          </a:p>
          <a:p>
            <a:r>
              <a:t>The Evidence Quality Gap</a:t>
            </a:r>
          </a:p>
          <a:p>
            <a:r>
              <a:t>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a:t>
            </a:r>
          </a:p>
          <a:p>
            <a:r>
              <a:t>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a:t>
            </a:r>
          </a:p>
          <a:p>
            <a:r>
              <a:t>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a:t>
            </a:r>
          </a:p>
          <a:p>
            <a:r>
              <a:t>Facilitator question: “In your last performance review, what percentage of the conversation was spent debating the data versus acting on it? That ratio is a proxy for your evidence quality gap.”</a:t>
            </a:r>
          </a:p>
          <a:p>
            <a:r>
              <a:t>Gap 03</a:t>
            </a:r>
          </a:p>
          <a:p>
            <a:r>
              <a:t>The Review Rhythm Breakdown</a:t>
            </a:r>
          </a:p>
          <a:p>
            <a:r>
              <a:t>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a:t>
            </a:r>
          </a:p>
          <a:p>
            <a:r>
              <a:t>Irregular review cycles also weaken behavioural discipline. KPI owners begin to treat measurement as a reporting event.</a:t>
            </a:r>
          </a:p>
          <a:p>
            <a:r>
              <a:t>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a:t>
            </a:r>
          </a:p>
          <a:p>
            <a:r>
              <a:t>Facilitator question: “How predictable is your organisation’s review rhythm? If a KPI owner was asked to describe the review schedule without referring to a calendar, could they?”</a:t>
            </a:r>
          </a:p>
          <a:p>
            <a:r>
              <a:t>Gap 04</a:t>
            </a:r>
          </a:p>
          <a:p>
            <a:r>
              <a:t>The Learning Suppression Gap</a:t>
            </a:r>
          </a:p>
          <a:p>
            <a:r>
              <a:t>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a:t>
            </a:r>
          </a:p>
          <a:p>
            <a:r>
              <a:t>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a:t>
            </a:r>
          </a:p>
          <a:p>
            <a:r>
              <a:t>Questions shift from “Why was the target missed?” to “What is the system teaching us about how execution actually works?” When this learning dimension becomes part of review conversations, performance measurement evolves from a scoring mechanism into a capability-building system.</a:t>
            </a:r>
          </a:p>
          <a:p>
            <a:r>
              <a:t>Facilitator question: “What is the dominant mood in your organisation’s performance review meetings — defence or curiosity? What would shift it?”</a:t>
            </a:r>
          </a:p>
          <a:p/>
          <a:p>
            <a:r>
              <a:t>Source detail (S2R® manuscript):</a:t>
            </a:r>
          </a:p>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p>
            <a:r>
              <a:t>IMPLICATIONS FOR PEOPLE PERFORMANCE AND FOR ORGANISATIONAL PERFORMANCE:</a:t>
            </a:r>
          </a:p>
          <a:p/>
          <a:p>
            <a:r>
              <a:t>Gap 01 · The Horizontal Coordination Gap</a:t>
            </a:r>
          </a:p>
          <a:p>
            <a:r>
              <a:t>People performance: when each function reviews its own KPIs, individuals are judged on the part of the result they control, and the hand-offs between functions are never examined. An operations planner meets every internal measure while customer orders wait at the boundary with sales. Individuals learn to optimise their own measure, and the commitments they made to other functions go unreviewed: no one is asked whether they delivered what another function needed from them. Individuals whose work depends on another function are held to results they cannot complete alone, and the review sees their shortfall without the dependency behind it.</a:t>
            </a:r>
          </a:p>
          <a:p>
            <a:r>
              <a:t>Organisational performance: the organisational conditions that span functions fall between the reviews.</a:t>
            </a:r>
          </a:p>
          <a:p>
            <a:r>
              <a:t>Systems · process clarity. The order-to-cash process runs through sales, credit control, the warehouse and finance. Each function reviews its own step and reports it on time. No review sees the end-to-end cycle, which is where the customer experiences the delay.</a:t>
            </a:r>
          </a:p>
          <a:p>
            <a:r>
              <a:t>Governance · decision authority. A non-standard customer contract needs approval from legal, finance and operations. Each reports its own turnaround as acceptable; end to end, the decision takes three weeks, and the sales Key Result absorbs the wait.</a:t>
            </a:r>
          </a:p>
          <a:p>
            <a:r>
              <a:t>The executive team sees each function's conditions as adequate while the conditions at the boundaries hold back the enterprise result.</a:t>
            </a:r>
          </a:p>
          <a:p/>
          <a:p>
            <a:r>
              <a:t>Gap 02 · The Evidence Quality Gap</a:t>
            </a:r>
          </a:p>
          <a:p>
            <a:r>
              <a:t>People performance: weak evidence harms individuals in two ways. Strong performers cannot show what their contribution changed, and weak delivery stays hidden behind narrative. When the evidence offered is activity, such as training attended or meetings held, the review rates effort. Ratings lose credibility with the individuals themselves, and the performance standard agreed at the start of the period loses its anchor. Over time, individuals learn that the persuasive account is rewarded.</a:t>
            </a:r>
          </a:p>
          <a:p>
            <a:r>
              <a:t>Organisational performance: most reviews hold no evidence at all on organisational conditions. Their state is asserted: the system is stable, the roles are filled, the budget is available.</a:t>
            </a:r>
          </a:p>
          <a:p>
            <a:r>
              <a:t>Resources · workforce capacity. HR reports headcount at budget. The review does not see that a third of the roles in the unit carrying the Key Result are held by new staff still in training. The evidence that matters is productive capacity: how many of those roles can carry the work today.</a:t>
            </a:r>
          </a:p>
          <a:p>
            <a:r>
              <a:t>Systems · workflow visibility. IT reports system availability at 99 per cent. The finance team reports that the month-end report takes three days to run. The first figure describes the system; the second describes whether it supports the tasks.</a:t>
            </a:r>
          </a:p>
          <a:p>
            <a:r>
              <a:t>With no evidence standard for the conditions, the review cannot tell whether they support the individuals' tasks, and the discussion settles on the individuals' numbers, the only evidence in the room.</a:t>
            </a:r>
          </a:p>
          <a:p/>
          <a:p>
            <a:r>
              <a:t>Gap 03 · The Review Rhythm Breakdown</a:t>
            </a:r>
          </a:p>
          <a:p>
            <a:r>
              <a:t>People performance: the rhythm of review sets the individuals' planning horizon. Reviewed quarterly, individuals work in quarterly bursts: a slow start, a surge before the period closes and figures prepared for the review. Reviewed irregularly, evidence is assembled in a hurry and the conversation is spent reconstructing what happened. The recoveries of the Accountability Loop need a rhythm short enough for coaching, development or a structural change to take effect within the period.</a:t>
            </a:r>
          </a:p>
          <a:p>
            <a:r>
              <a:t>Organisational performance: organisational conditions often have no rhythm of review at all; they reach the agenda when something fails.</a:t>
            </a:r>
          </a:p>
          <a:p>
            <a:r>
              <a:t>Governance · execution oversight. Capital and risk decisions follow the board calendar, so a decision on a condition a Key Result depends on can wait up to three months.</a:t>
            </a:r>
          </a:p>
          <a:p>
            <a:r>
              <a:t>Resources · financial support. Budgets are reallocated only at the mid-year forecast. An initiative found short of funds in its second month waits until its sixth.</a:t>
            </a:r>
          </a:p>
          <a:p>
            <a:r>
              <a:t>Environment · employee sustainability. Workload is seen through the annual engagement survey, so overload in a critical team shows first in resignations.</a:t>
            </a:r>
          </a:p>
          <a:p>
            <a:r>
              <a:t>When the conditions are reviewed on a slower rhythm than the KPIs they support, the conditions lag the work they are meant to enable.</a:t>
            </a:r>
          </a:p>
          <a:p/>
          <a:p>
            <a:r>
              <a:t>Gap 04 · The Learning Suppression Gap</a:t>
            </a:r>
          </a:p>
          <a:p>
            <a:r>
              <a:t>People performance: when reviews judge, individuals defend. They bring the explanation and hold back the obstacle, and in the next cycle they propose targets they are sure to meet. Learning moves out of the review into corridors and private conversations. The organisation loses the individuals' first-hand knowledge of what is slowing execution, the most current intelligence it has.</a:t>
            </a:r>
          </a:p>
          <a:p>
            <a:r>
              <a:t>Organisational performance: suppression falls hardest on the conditions, because naming a condition often means naming a senior leader's area.</a:t>
            </a:r>
          </a:p>
          <a:p>
            <a:r>
              <a:t>Environment · psychological safety. A team lead knows the approval process is the real constraint on the Key Result and does not say so, because the approval sits with the executive who chairs the review.</a:t>
            </a:r>
          </a:p>
          <a:p>
            <a:r>
              <a:t>Governance · consistent consequences. Shortfalls in individual KPIs are examined closely, while a condition failure in a senior leader's area passes without examination. People conclude that the conditions are off limits.</a:t>
            </a:r>
          </a:p>
          <a:p>
            <a:r>
              <a:t>The review then hears one side of every gap, and the organisation never learns which of its conditions the strategy is outgrowing.</a:t>
            </a:r>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Performance Intelligence</a:t>
            </a:r>
          </a:p>
          <a:p/>
          <a:p>
            <a:r>
              <a:t>SECTION LEARNING OUTCOMES:</a:t>
            </a:r>
          </a:p>
          <a:p>
            <a:r>
              <a:t>1. Interpret individual performance signals within a shared enterprise view of progress.</a:t>
            </a:r>
          </a:p>
          <a:p>
            <a:r>
              <a:t>2. Determine the root cause of underperformance and the leadership action it requires.</a:t>
            </a:r>
          </a:p>
          <a:p/>
          <a:p>
            <a:r>
              <a:t>HOW TO OPEN THE SECTION:</a:t>
            </a:r>
          </a:p>
          <a:p/>
          <a:p>
            <a:r>
              <a:t>1. Name the shift.</a:t>
            </a:r>
          </a:p>
          <a:p>
            <a:r>
              <a:t>Say: "This section moves from function to enterprise. The question that guides it is the question of part 3.2: Is the chain of execution across our functions holding together?"</a:t>
            </a:r>
          </a:p>
          <a:p/>
          <a:p>
            <a:r>
              <a:t>2. Say what the section holds.</a:t>
            </a:r>
          </a:p>
          <a:p>
            <a:r>
              <a:t>Say: "Part 4.1 teaches the Enterprise Performance Intelligence Circle, EPIC: the three signals each leader brings from their PM review sheet. Part 4.2 takes one Key Result through the Accountability Loop in a role play."</a:t>
            </a:r>
          </a:p>
          <a:p/>
          <a:p>
            <a:r>
              <a:t>TEACHING NOTES FROM THE FACILITATOR GUIDE:</a:t>
            </a:r>
          </a:p>
          <a:p>
            <a:r>
              <a:t>4.1 · The Enterprise Performance Intelligence Circle (EPIC). Teach what EPIC is for before its detail: it turns the separate PM reviews of each function into one shared view of enterprise execution. Then teach the three signals each leader brings from their PM review sheet, each by the question it answers: progress, "Where are we on execution?"; early warnings, "What is starting to break?"; execution learning, "What is execution teaching us?" For each signal, teach what the leader brings, the sentence the leader uses and what the executive team sees. Progress comes first because it gives the other two their meaning. Teach the evidence rule with the examples of each signal: every signal names the PM review evidence behind it. This single discipline separates EPIC from an opinion forum.</a:t>
            </a:r>
          </a:p>
          <a:p>
            <a:r>
              <a:t>4.2 · The Accountability Loop Role Play. Run the role play in groups of three: leader, team member and observer. The observer deduces how the conversation went through GROW and which root cause it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r>
              <a:t>Applying the Four Consequences of Weak Review Discipline</a:t>
            </a:r>
          </a:p>
          <a:p/>
          <a:p>
            <a:r>
              <a:t>SECTION LEARNING OUTCOMES:</a:t>
            </a:r>
          </a:p>
          <a:p>
            <a:r>
              <a:t>1. Exercise balanced judgement when performance differs from agreed expectations.</a:t>
            </a:r>
          </a:p>
          <a:p>
            <a:r>
              <a:t>2. Determine the leadership decisions that protect the review discipline of the strategy.</a:t>
            </a:r>
          </a:p>
          <a:p/>
          <a:p>
            <a:r>
              <a:t>HOW THIS SECTION RUNS:</a:t>
            </a:r>
          </a:p>
          <a:p>
            <a:r>
              <a:t>This is group work and Capstone work. For each of the four consequences of weak review discipline, each group:</a:t>
            </a:r>
          </a:p>
          <a:p>
            <a:r>
              <a:t>1. Simulates a potential gap in the performance of individuals, and a potential gap in the organisational conditions of its strategy.</a:t>
            </a:r>
          </a:p>
          <a:p>
            <a:r>
              <a:t>2. Writes a decision point for recovery for each gap: the decision the executive team takes when the gap appears, and who takes it.</a:t>
            </a:r>
          </a:p>
          <a:p>
            <a:r>
              <a:t>The group agrees each entry and one member acts as scribe. Every member types the agreed entries into their own page, then selects Confirm. The confirmed record feeds the team’s Capstone Blueprint.</a:t>
            </a:r>
          </a:p>
          <a:p/>
          <a:p>
            <a:r>
              <a:t>HOW TO OPEN THE SECTION:</a:t>
            </a:r>
          </a:p>
          <a:p/>
          <a:p>
            <a:r>
              <a:t>1. Say what the section does.</a:t>
            </a:r>
          </a:p>
          <a:p>
            <a:r>
              <a:t>Say: "For each of the four consequences of weak review discipline, your group simulates a potential gap in the performance of individuals and in the organisational conditions of the strategy in your team’s Capstone Blueprint, and sets a decision point for recovery for each."</a:t>
            </a:r>
          </a:p>
          <a:p/>
          <a:p>
            <a:r>
              <a:t>2. Say how the group works.</a:t>
            </a:r>
          </a:p>
          <a:p>
            <a:r>
              <a:t>Say: "This is group work. Your group agrees each entry. One member acts as scribe. 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GROW CONVERSATION</a:t>
            </a:r>
          </a:p>
          <a:p/>
          <a:p>
            <a:r>
              <a:t>HOW TO USE THIS SLIDE:</a:t>
            </a:r>
          </a:p>
          <a:p/>
          <a:p>
            <a:r>
              <a:t>1. Recall GROW.</a:t>
            </a:r>
          </a:p>
          <a:p>
            <a:r>
              <a:t>Say: "The GROW model guides a conversation with an end in mind. Each stage asks a question, and the team member does the thinking, so the answers reached are their own."</a:t>
            </a:r>
          </a:p>
          <a:p/>
          <a:p>
            <a:r>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t>3. Brief the observer before the role play.</a:t>
            </a:r>
          </a:p>
          <a:p>
            <a:r>
              <a:t>Say: "Note what the leader set out to achieve, and how each stage of GROW moved the conversation toward it: did the leader explore the reality before the options, let the team member generate the options, and close with what will be done, by whom and when it will be reviewed?"</a:t>
            </a:r>
          </a:p>
          <a:p/>
          <a:p>
            <a:r>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 responsible change." (Journal, 10 August 2026, Professional Insights: Leadership)</a:t>
            </a:r>
          </a:p>
          <a:p>
            <a:r>
              <a:t>Say: "Holding people accountable for outcomes without considering intent produces a culture of blame. Intent matters." (Journal, 17 March 2026, Professional Insights)</a:t>
            </a:r>
          </a:p>
          <a:p/>
          <a:p>
            <a:r>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REFLECTIONS</a:t>
            </a:r>
          </a:p>
          <a:p/>
          <a:p>
            <a:r>
              <a:t>HOW TO USE THIS SLIDE:</a:t>
            </a:r>
          </a:p>
          <a:p/>
          <a:p>
            <a:r>
              <a:t>1. Show the slide and read the two prompts aloud.</a:t>
            </a:r>
          </a:p>
          <a:p>
            <a:r>
              <a:t>1.1 Reflection — Activity vs Progress: "In your function, what are you currently measuring that reflects activity? What would reflect genuine progress toward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t>2. Say what the reflections are for.</a:t>
            </a:r>
          </a:p>
          <a:p>
            <a:r>
              <a:t>Say: "You write these reflections on the portal after the teaching, with as much depth as you can. They build the learning portfolio you receive at the end of the programme."</a:t>
            </a:r>
          </a:p>
          <a:p/>
          <a:p>
            <a:r>
              <a:t>3. Set the standard.</a:t>
            </a:r>
          </a:p>
          <a:p>
            <a:r>
              <a:t>Say: "Name a real measure, a real gap and a real root cause from your own function."</a:t>
            </a:r>
          </a:p>
          <a:p/>
          <a:p>
            <a:r>
              <a:t>4. Bridge to Section 2.</a:t>
            </a:r>
          </a:p>
          <a:p>
            <a:r>
              <a:t>Say: "You have seen how measurement makes execution visible and how the cycle restores it. Section 2 shows what happens when the review rhythm weakens."</a:t>
            </a:r>
          </a:p>
          <a:p/>
          <a:p>
            <a:r>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 THE CXO PERFORMANCE GAP CONTRIBUTORS</a:t>
            </a:r>
          </a:p>
          <a:p>
            <a:r>
              <a:t>Is the chain of execution across our functions holding together?</a:t>
            </a:r>
          </a:p>
          <a:p/>
          <a:p>
            <a:r>
              <a:t>HOW TO TEACH IT:</a:t>
            </a:r>
          </a:p>
          <a:p/>
          <a:p>
            <a:r>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t>5. Ask, now that the roles are taught.</a:t>
            </a:r>
          </a:p>
          <a:p>
            <a:r>
              <a:t>Ask: "What is one habit in your own reviews, and which fracture does it open?" Ask participants to post their answer in the chat.</a:t>
            </a:r>
          </a:p>
          <a:p/>
          <a:p>
            <a:r>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REFLECTIONS</a:t>
            </a:r>
          </a:p>
          <a:p/>
          <a:p>
            <a:r>
              <a:t>HOW TO USE THIS SLIDE:</a:t>
            </a:r>
          </a:p>
          <a:p/>
          <a:p>
            <a:r>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t>2. Say what the reflection is for.</a:t>
            </a:r>
          </a:p>
          <a:p>
            <a:r>
              <a:t>Say: "You write this reflection on the portal after the teaching. Rate each gap honestly, then name the gap you are most responsible for closing."</a:t>
            </a:r>
          </a:p>
          <a:p/>
          <a:p>
            <a:r>
              <a:t>3. Bridge to Section 4.</a:t>
            </a:r>
          </a:p>
          <a:p>
            <a:r>
              <a:t>Say: "You have seen where the review of performance breaks down, and which roles feed each gap. Section 4 brings the executive team together around one view of enterprise execution."</a:t>
            </a:r>
          </a:p>
          <a:p/>
          <a:p>
            <a:r>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the wider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meaningful strategic progress from activity, compliance and short-term fluctuation.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differs from agreed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Derive relevant decisions, organisational learning and leadership action from performance evidence.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meaningful strategic progress from activity.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Sustain the review discipline that sets the pace of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early signs that review discipline is weakening and the cost each carries.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the review and interpretation of performance evidence break down across functions.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which breakdown is most prevalent in their own organisation.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individual performance signals within a shared enterprise view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root cause of underperformance and the leadership action it requires.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Exercise balanced judgement when performance differs from agreed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leadership decisions that protect the review discipline of the strategy.</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