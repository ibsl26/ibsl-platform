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7.xml"/><Relationship Id="rId20"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 PERFORMANCE MEASUREMENT
Module 3 · Influence · Unit 8
Unit intent (Facilitator Guide):
Unit 8 closes the loop opened by Units 6 and 7. KPIs have been established, targets have been set, and expectations have been secured. Now the most important discipline of execution begins: the performance review conversation. This unit makes that conversation structured, honest, and useful: a genuine dialogue about execution reality.
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
The Integration section raises the focus to enterprise level through the Enterprise Performance Intelligence Circle (EPIC), shifting leaders from functional reporting to shared execution intelligence.
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What is Performance Measurement?
Establishing performance measurement as an execution visibility discipline — and introducing the Review–Realign–Restore Cycle as the mechanism that keeps strategy correctable.
</a:t>
            </a:r>
            <a:r>
              <a:rPr lang="en-US" b="1" dirty="0"/>
              <a:t>Section learning outcomes:</a:t>
            </a:r>
            <a:r>
              <a:rPr lang="en-US" dirty="0"/>
              <a:t>
1. Distinguish meaningful strategic progress from activity.
2. Explain how performance evidence converts into realignment and corrective action.
</a:t>
            </a:r>
            <a:r>
              <a:rPr lang="en-US" b="1" dirty="0"/>
              <a:t>FACILITATOR GUIDANCE — Awareness</a:t>
            </a:r>
            <a:r>
              <a:rPr lang="en-US" dirty="0"/>
              <a:t>
Open with the core provocation: "Work is happening. Teams are busy. Initiatives are underway. </a:t>
            </a:r>
          </a:p>
          <a:p>
            <a:r>
              <a:rPr lang="en-US" dirty="0"/>
              <a:t>But can you confidently say the work being done is actually advancing the strategy?" </a:t>
            </a:r>
          </a:p>
          <a:p>
            <a:r>
              <a:rPr lang="en-US" dirty="0"/>
              <a:t>This question unlocks the gap that this entire unit addresses — the difference between activity visibility and progress visibility.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THE EXECUTION VISIBILITY INFRASTRUCTURE (Core concept)
Content:
The performance management system has been set and mechanisms for establishing performance are in place. </a:t>
            </a:r>
            <a:r>
              <a:rPr lang="en-US" dirty="0"/>
              <a:t/>
            </a:r>
            <a:r>
              <a:rPr lang="en-US" b="1" dirty="0"/>
              <a:t/>
            </a:r>
            <a:r>
              <a:rPr lang="en-US" dirty="0"/>
              <a:t/>
            </a:r>
          </a:p>
          <a:p>
            <a:r>
              <a:rPr lang="en-US" dirty="0"/>
              <a:t>Commitments have been secured. Now the most important discipline of execution begins.
Strategy execution fails at the level of visibility. </a:t>
            </a:r>
          </a:p>
          <a:p>
            <a:r>
              <a:rPr lang="en-US" dirty="0"/>
              <a:t>Performance measurement is the discipline that makes execution visible. It answers a simple but decisive question:
Are we actually moving closer to our Success in Practice? It is the execution visibility infrastructure!
</a:t>
            </a:r>
          </a:p>
          <a:p>
            <a:endParaRPr lang="en-US" dirty="0"/>
          </a:p>
          <a:p>
            <a:r>
              <a:rPr lang="en-GB" b="1" dirty="0"/>
              <a:t>The visibility infrastructure</a:t>
            </a:r>
            <a:r>
              <a:rPr lang="en-GB" dirty="0"/>
              <a:t>: </a:t>
            </a:r>
          </a:p>
          <a:p>
            <a:r>
              <a:rPr lang="en-GB" dirty="0"/>
              <a:t>Performance measurement creates the visibility infrastructure that allows leaders to observe whether the organisation is genuinely progressing toward its strategic outcomes. Without this infrastructure, strategy remains largely interpretive. </a:t>
            </a:r>
          </a:p>
          <a:p>
            <a:r>
              <a:rPr lang="en-GB" dirty="0"/>
              <a:t>Each function develops its own sense of progress. </a:t>
            </a:r>
          </a:p>
          <a:p>
            <a:r>
              <a:rPr lang="en-GB" dirty="0"/>
              <a:t>Activity becomes mistaken for advancement. Energy is expended, but the connection to the enterprise result becomes difficult to see.</a:t>
            </a:r>
          </a:p>
          <a:p>
            <a:r>
              <a:rPr lang="en-GB" dirty="0"/>
              <a:t>Performance measurement restores that line of sight. </a:t>
            </a:r>
          </a:p>
          <a:p>
            <a:r>
              <a:rPr lang="en-GB" dirty="0"/>
              <a:t>It allows the organisation to move from activity visibility to progress visibility.</a:t>
            </a:r>
          </a:p>
          <a:p>
            <a:endParaRPr lang="en-US" dirty="0"/>
          </a:p>
          <a:p>
            <a:r>
              <a:rPr lang="en-US" dirty="0"/>
              <a:t>Most organisations are extremely good at measuring activity: how many projects were launched, how many meetings were held, how many deliverables were completed. </a:t>
            </a:r>
          </a:p>
          <a:p>
            <a:r>
              <a:rPr lang="en-US" dirty="0"/>
              <a:t>These indicators provide evidence that work is occurring. But activity alone does not indicate whether the organisation is actually moving closer to the strategic outcome it set out to achieve.
</a:t>
            </a:r>
          </a:p>
          <a:p>
            <a:r>
              <a:rPr lang="en-US" dirty="0"/>
              <a:t>Performance measurement therefore asks a different set of questions. </a:t>
            </a:r>
          </a:p>
          <a:p>
            <a:r>
              <a:rPr lang="en-US" dirty="0"/>
              <a:t>The question moves from "What work was done?" to "What changed because of the work?“</a:t>
            </a:r>
          </a:p>
          <a:p>
            <a:r>
              <a:rPr lang="en-US" dirty="0"/>
              <a:t> The organisation examines evidence of progress. This shift transforms performance management from an administrative reporting exercise into an execution intelligence system.
</a:t>
            </a:r>
            <a:endParaRPr dirty="0"/>
          </a:p>
          <a:p>
            <a:endParaRPr dirty="0"/>
          </a:p>
          <a:p>
            <a:r>
              <a:rPr dirty="0"/>
              <a:t>What activity measures give: Counts of projects launched, meetings held, campaigns executed and deliverables completed create a sense of operational movement.</a:t>
            </a:r>
          </a:p>
          <a:p>
            <a:endParaRPr dirty="0"/>
          </a:p>
          <a:p>
            <a:r>
              <a:rPr dirty="0"/>
              <a:t>Professional insights:</a:t>
            </a:r>
          </a:p>
          <a:p>
            <a:endParaRPr dirty="0"/>
          </a:p>
          <a:p>
            <a:r>
              <a:rPr dirty="0"/>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rPr dirty="0"/>
              <a:t>Source: Journal, 25 June 2026 — Professional Insights: Strategy</a:t>
            </a:r>
          </a:p>
          <a:p>
            <a:endParaRPr dirty="0"/>
          </a:p>
          <a:p>
            <a:r>
              <a:rPr dirty="0"/>
              <a:t>Understanding and action: A culture that rewards understanding without requiring corresponding action trains people to be articulate more than effective. Check whether people acted on what they understood.</a:t>
            </a:r>
          </a:p>
          <a:p>
            <a:r>
              <a:rPr dirty="0"/>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THE FOUR STRATEGIC PURPOSES OF PERFORMANCE MEASUREMENT</a:t>
            </a:r>
            <a:r>
              <a:rPr lang="en-US" dirty="0"/>
              <a:t>
</a:t>
            </a:r>
            <a:r>
              <a:rPr lang="en-US" b="1" dirty="0"/>
              <a:t>Content:</a:t>
            </a:r>
            <a:r>
              <a:rPr lang="en-US" dirty="0"/>
              <a:t>
</a:t>
            </a:r>
            <a:r>
              <a:rPr lang="en-GB" dirty="0"/>
              <a:t>Performance measurement creates execution rhythm. Most strategic outcomes are the result of cumulative progress built over time. </a:t>
            </a:r>
            <a:endParaRPr lang="en-US" dirty="0"/>
          </a:p>
          <a:p>
            <a:r>
              <a:rPr lang="en-GB" dirty="0"/>
              <a:t>Regular review cycles allow leaders to notice the subtle signals that indicate whether execution is strengthening or weakening. </a:t>
            </a:r>
          </a:p>
          <a:p>
            <a:r>
              <a:rPr lang="en-GB" dirty="0"/>
              <a:t>Momentum may begin to accelerate in one area while slowing in another. </a:t>
            </a:r>
          </a:p>
          <a:p>
            <a:r>
              <a:rPr lang="en-GB" dirty="0"/>
              <a:t>Resource constraints may appear. Decision bottlenecks may surface. </a:t>
            </a:r>
          </a:p>
          <a:p>
            <a:r>
              <a:rPr lang="en-GB" dirty="0"/>
              <a:t>Capability gaps may become visible. When these signals are visible early, leaders can respond while the situation is still manageable.</a:t>
            </a:r>
          </a:p>
          <a:p>
            <a:r>
              <a:rPr lang="en-GB" dirty="0"/>
              <a:t>This rhythm prevents the most common leadership surprise in organisations: discovering performance failure only at the end of the reporting period. Performance measurement ensures that strategy is observed while it is unfolding, as well as evaluated after the fact.</a:t>
            </a:r>
          </a:p>
          <a:p>
            <a:endParaRPr lang="en-US" dirty="0"/>
          </a:p>
          <a:p>
            <a:r>
              <a:rPr lang="en-US" dirty="0"/>
              <a:t>At its core, performance measurement serves four strategic purposes within the organisation. Select each to explore.
</a:t>
            </a:r>
          </a:p>
          <a:p>
            <a:r>
              <a:rPr lang="en-US" b="1" dirty="0"/>
              <a:t>Purpose 01 - Creates Visibility</a:t>
            </a:r>
            <a:r>
              <a:rPr lang="en-US" dirty="0"/>
              <a:t>
Leaders can observe where the organisation is gaining momentum and where it is stalling. </a:t>
            </a:r>
          </a:p>
          <a:p>
            <a:r>
              <a:rPr lang="en-US" dirty="0"/>
              <a:t>Strategic priorities that once existed only as intentions begin to appear as measurable progress signals. </a:t>
            </a:r>
          </a:p>
          <a:p>
            <a:r>
              <a:rPr lang="en-US" dirty="0"/>
              <a:t>Without measurement, leaders are flying blind — confident in effort but uncertain about direction.
Facilitator prompt: “Where in your organisation does execution happen in the dark? </a:t>
            </a:r>
          </a:p>
          <a:p>
            <a:r>
              <a:rPr lang="en-US" dirty="0"/>
              <a:t>Where are you most likely to be surprised at the end of a reporting period?”
</a:t>
            </a:r>
          </a:p>
          <a:p>
            <a:r>
              <a:rPr lang="en-US" b="1" dirty="0"/>
              <a:t>Purpose 02- Establishes Accountability</a:t>
            </a:r>
            <a:r>
              <a:rPr lang="en-US" dirty="0"/>
              <a:t>
</a:t>
            </a:r>
            <a:r>
              <a:rPr lang="en-GB" dirty="0"/>
              <a:t>Strategic completion requires tracking every component of the declared goal, including the parts that bring no visible victory. Record what has been accomplished as evidence that commitments are being kept.</a:t>
            </a:r>
          </a:p>
          <a:p>
            <a:r>
              <a:rPr lang="en-US" dirty="0"/>
              <a:t>Leaders and teams understand which part of the strategy they are responsible for advancing. </a:t>
            </a:r>
          </a:p>
          <a:p>
            <a:r>
              <a:rPr lang="en-US" dirty="0"/>
              <a:t>Accountability without measurement is aspiration without a feedback loop — it depends entirely on personal commitment, with no organisational structure behind it.
Facilitator prompt: “If your KPIs disappeared from your scorecard but the targets remained unchanged — how many would still be actively owned?”
</a:t>
            </a:r>
          </a:p>
          <a:p>
            <a:r>
              <a:rPr lang="en-US" b="1" dirty="0"/>
              <a:t>Purpose 03- </a:t>
            </a:r>
            <a:r>
              <a:rPr lang="en-GB" b="1" dirty="0"/>
              <a:t>Execution intelligence: </a:t>
            </a:r>
            <a:r>
              <a:rPr lang="en-US" dirty="0"/>
              <a:t>
</a:t>
            </a:r>
            <a:r>
              <a:rPr lang="en-GB" dirty="0"/>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rPr lang="en-GB" dirty="0"/>
              <a:t>Each review cycle helps leaders answer three essential questions:</a:t>
            </a:r>
          </a:p>
          <a:p>
            <a:r>
              <a:rPr lang="en-GB" dirty="0"/>
              <a:t>1. What progress has been achieved since the last review?</a:t>
            </a:r>
          </a:p>
          <a:p>
            <a:r>
              <a:rPr lang="en-GB" dirty="0"/>
              <a:t>2. What obstacles are preventing further progress?</a:t>
            </a:r>
          </a:p>
          <a:p>
            <a:r>
              <a:rPr lang="en-GB" dirty="0"/>
              <a:t>3. What adjustment will restore momentum toward the target?</a:t>
            </a:r>
          </a:p>
          <a:p>
            <a:r>
              <a:rPr lang="en-GB" dirty="0"/>
              <a:t>Through these conversations, performance management becomes a learning system. Teams develop a deeper understanding of how strategy unfolds in practice. Leaders strengthen their ability to guide execution through uncertainty and complexity.</a:t>
            </a:r>
          </a:p>
          <a:p>
            <a:endParaRPr lang="en-US" dirty="0"/>
          </a:p>
          <a:p>
            <a:r>
              <a:rPr lang="en-US" b="1" dirty="0"/>
              <a:t>Purpose 04- Enables Timely Correction
Early signals allow teams to intervene while progress is still recoverable. </a:t>
            </a:r>
            <a:r>
              <a:rPr lang="en-US" dirty="0"/>
              <a:t/>
            </a:r>
          </a:p>
          <a:p>
            <a:r>
              <a:rPr lang="en-US" dirty="0"/>
              <a:t>Problems are addressed when they are small enough to resolve. </a:t>
            </a:r>
          </a:p>
          <a:p>
            <a:r>
              <a:rPr lang="en-US" dirty="0"/>
              <a:t>This purpose is why measurement frequency matters: a signal detected in week four is fundamentally different from the same signal detected in week twelve.
Facilitator prompt: “What is the average gap in your organisation between when a performance problem begins and when leadership first becomes aware of it? What does that gap cost?”</a:t>
            </a:r>
          </a:p>
          <a:p>
            <a:endParaRPr lang="en-US"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FROM PERFORMANCE MEASUREMENT TO EXECUTION RECOVERY (the Review–Realign–Restore Cycle, R3)
In Section 1.2, we established that performance measurement serves four strategic purposes: creating visibility, establishing accountability, generating execution intelligence and enabling timely correction.</a:t>
            </a:r>
            <a:r>
              <a:rPr lang="en-ZA" dirty="0"/>
              <a:t/>
            </a:r>
          </a:p>
          <a:p>
            <a:endParaRPr lang="en-ZA" dirty="0"/>
          </a:p>
          <a:p>
            <a:r>
              <a:rPr lang="en-ZA" dirty="0"/>
              <a:t>These four purposes work together to help leaders understand how strategy is progressing and where intervention is required.</a:t>
            </a:r>
          </a:p>
          <a:p>
            <a:r>
              <a:rPr lang="en-ZA" dirty="0"/>
              <a:t>But identifying a performance gap does not automatically resolve it. </a:t>
            </a:r>
          </a:p>
          <a:p>
            <a:r>
              <a:rPr lang="en-ZA" dirty="0"/>
              <a:t>Leaders need a disciplined process for interpreting what the evidence reveals, identifying what needs attention and ensuring that corrective decisions translate into improved execution.</a:t>
            </a:r>
          </a:p>
          <a:p>
            <a:endParaRPr lang="en-ZA" dirty="0"/>
          </a:p>
          <a:p>
            <a:r>
              <a:rPr lang="en-ZA" b="1" dirty="0"/>
              <a:t>Within the S2R® system, this process is called the Review–Realign–Restore Cycle (R3).</a:t>
            </a:r>
          </a:p>
          <a:p>
            <a:r>
              <a:rPr lang="en-ZA" dirty="0"/>
              <a:t>The cycle provides a recurring leadership rhythm through which performance evidence is examined, execution gaps are addressed and progress is restored.</a:t>
            </a:r>
          </a:p>
          <a:p>
            <a:r>
              <a:rPr lang="en-ZA" b="1" dirty="0"/>
              <a:t>Stage 1 — Review: Establish Execution Reality</a:t>
            </a:r>
          </a:p>
          <a:p>
            <a:r>
              <a:rPr lang="en-ZA" dirty="0"/>
              <a:t>Review brings together the first three purposes of performance measurement: visibility, accountability and execution intelligence.</a:t>
            </a:r>
          </a:p>
          <a:p>
            <a:r>
              <a:rPr lang="en-ZA" dirty="0"/>
              <a:t>The KPI owner assesses progress against agreed targets and submits evidence of what has been achieved. </a:t>
            </a:r>
          </a:p>
          <a:p>
            <a:r>
              <a:rPr lang="en-ZA" dirty="0"/>
              <a:t>The leader independently reviews the same KPI, bringing a broader organisational perspective.</a:t>
            </a:r>
          </a:p>
          <a:p>
            <a:r>
              <a:rPr lang="en-ZA" dirty="0"/>
              <a:t>Together, they establish a shared understanding of execution reality.</a:t>
            </a:r>
          </a:p>
          <a:p>
            <a:r>
              <a:rPr lang="en-ZA" dirty="0"/>
              <a:t>Three questions guide the conversation:</a:t>
            </a:r>
          </a:p>
          <a:p>
            <a:pPr lvl="0"/>
            <a:r>
              <a:rPr lang="en-ZA" dirty="0"/>
              <a:t>What progress has been achieved against the agreed target?</a:t>
            </a:r>
          </a:p>
          <a:p>
            <a:pPr lvl="0"/>
            <a:r>
              <a:rPr lang="en-ZA" dirty="0"/>
              <a:t>What does the evidence tell us about performance?</a:t>
            </a:r>
          </a:p>
          <a:p>
            <a:pPr lvl="0"/>
            <a:r>
              <a:rPr lang="en-ZA" dirty="0"/>
              <a:t>Where is actual progress falling short of expectations?</a:t>
            </a:r>
          </a:p>
          <a:p>
            <a:r>
              <a:rPr lang="en-ZA" dirty="0"/>
              <a:t>Outcome: A shared, evidence-based understanding of progress and any emerging performance gaps.</a:t>
            </a:r>
          </a:p>
          <a:p>
            <a:endParaRPr lang="en-ZA" b="1" dirty="0"/>
          </a:p>
          <a:p>
            <a:r>
              <a:rPr lang="en-ZA" b="1" dirty="0"/>
              <a:t>Stage 2 — Realign: Diagnose and Address Execution Gaps</a:t>
            </a:r>
          </a:p>
          <a:p>
            <a:r>
              <a:rPr lang="en-ZA" dirty="0"/>
              <a:t>Once Review establishes where progress is falling short, Realign determines what is preventing the expected performance.</a:t>
            </a:r>
          </a:p>
          <a:p>
            <a:r>
              <a:rPr lang="en-ZA" dirty="0"/>
              <a:t>The leader activates the S2R® Accountability Loop to investigate whether the gap arises from:</a:t>
            </a:r>
          </a:p>
          <a:p>
            <a:pPr lvl="0"/>
            <a:r>
              <a:rPr lang="en-ZA" dirty="0"/>
              <a:t>Ownership: The individual understands the responsibility but has lost connection to its purpose or accountability.</a:t>
            </a:r>
          </a:p>
          <a:p>
            <a:pPr lvl="0"/>
            <a:r>
              <a:rPr lang="en-ZA" dirty="0"/>
              <a:t>Capability: The individual is committed but lacks the skills or support required to deliver.</a:t>
            </a:r>
          </a:p>
          <a:p>
            <a:pPr lvl="0"/>
            <a:r>
              <a:rPr lang="en-ZA" dirty="0"/>
              <a:t>Role or structural constraints: The responsibilities, resources or organisational conditions are preventing effective execution.</a:t>
            </a:r>
          </a:p>
          <a:p>
            <a:r>
              <a:rPr lang="en-ZA" dirty="0"/>
              <a:t>The leader and KPI owner identify an appropriate intervention, which may include renewed ownership, coaching, additional support or structural adjustments.</a:t>
            </a:r>
          </a:p>
          <a:p>
            <a:r>
              <a:rPr lang="en-ZA" dirty="0"/>
              <a:t>Outcome: A clear understanding of the underlying performance constraint and an agreed corrective response.</a:t>
            </a:r>
          </a:p>
          <a:p>
            <a:endParaRPr lang="en-ZA" b="1" dirty="0"/>
          </a:p>
          <a:p>
            <a:r>
              <a:rPr lang="en-ZA" b="1" dirty="0"/>
              <a:t>Stage 3 — Restore: Rebuild Execution Momentum</a:t>
            </a:r>
          </a:p>
          <a:p>
            <a:r>
              <a:rPr lang="en-ZA" dirty="0"/>
              <a:t>Restore activates the fourth purpose of performance measurement: timely correction.</a:t>
            </a:r>
          </a:p>
          <a:p>
            <a:r>
              <a:rPr lang="en-ZA" dirty="0"/>
              <a:t>The agreed intervention is translated into concrete execution commitments. </a:t>
            </a:r>
          </a:p>
          <a:p>
            <a:r>
              <a:rPr lang="en-ZA" dirty="0"/>
              <a:t>The leader and KPI owner establish what must happen next, who is responsible and when progress will be reviewed.</a:t>
            </a:r>
          </a:p>
          <a:p>
            <a:r>
              <a:rPr lang="en-ZA" dirty="0"/>
              <a:t>At this stage, they:</a:t>
            </a:r>
          </a:p>
          <a:p>
            <a:pPr lvl="0"/>
            <a:r>
              <a:rPr lang="en-ZA" dirty="0"/>
              <a:t>Agree on corrective actions and expected progress.</a:t>
            </a:r>
          </a:p>
          <a:p>
            <a:pPr lvl="0"/>
            <a:r>
              <a:rPr lang="en-ZA" dirty="0"/>
              <a:t>Reaffirm responsibilities and accountability.</a:t>
            </a:r>
          </a:p>
          <a:p>
            <a:pPr lvl="0"/>
            <a:r>
              <a:rPr lang="en-ZA" dirty="0"/>
              <a:t>Establish follow-up timelines and support requirements.</a:t>
            </a:r>
          </a:p>
          <a:p>
            <a:pPr lvl="0"/>
            <a:r>
              <a:rPr lang="en-ZA" dirty="0"/>
              <a:t>Update the KPI alignment state to reflect whether clarity, capability and ownership have been restored.</a:t>
            </a:r>
          </a:p>
          <a:p>
            <a:r>
              <a:rPr lang="en-ZA" dirty="0"/>
              <a:t>Restoring momentum requires renewed commitment to the intended outcome, supported by the conditions necessary to achieve it.</a:t>
            </a:r>
          </a:p>
          <a:p>
            <a:r>
              <a:rPr lang="en-ZA" dirty="0"/>
              <a:t>Outcome: A clear recovery pathway, renewed execution ownership and agreed follow-through.</a:t>
            </a:r>
          </a:p>
          <a:p>
            <a:endParaRPr lang="en-ZA" b="1" dirty="0"/>
          </a:p>
          <a:p>
            <a:r>
              <a:rPr lang="en-ZA" b="1" dirty="0"/>
              <a:t>How the Cycle Remains Continuous</a:t>
            </a:r>
          </a:p>
          <a:p>
            <a:r>
              <a:rPr lang="en-ZA" dirty="0"/>
              <a:t>The next Review examines whether the corrective actions have produced the expected improvement. If gaps remain, the cycle continues until execution returns to the required trajectory.</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a:t>
            </a:r>
          </a:p>
          <a:p>
            <a:endParaRPr lang="en-GB" dirty="0"/>
          </a:p>
          <a:p>
            <a:r>
              <a:rPr lang="en-GB" b="1" dirty="0"/>
              <a:t>2.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3.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4.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Why Performance Measurement Determines Execution Velocity</a:t>
            </a:r>
          </a:p>
          <a:p>
            <a:endParaRPr lang="en-GB" dirty="0"/>
          </a:p>
          <a:p>
            <a:r>
              <a:rPr lang="en-GB" b="1" dirty="0"/>
              <a:t>SECTION LEARNING OUTCOMES:</a:t>
            </a:r>
          </a:p>
          <a:p>
            <a:r>
              <a:rPr lang="en-GB" dirty="0"/>
              <a:t>1. Explain why review discipline determines the pace of execution.</a:t>
            </a:r>
          </a:p>
          <a:p>
            <a:r>
              <a:rPr lang="en-GB" dirty="0"/>
              <a:t>2. Recognise the early signs that review discipline is weakening and the cost each carries.</a:t>
            </a:r>
          </a:p>
          <a:p>
            <a:endParaRPr lang="en-GB" dirty="0"/>
          </a:p>
          <a:p>
            <a:r>
              <a:rPr lang="en-GB" b="1" dirty="0"/>
              <a:t>HOW TO OPEN THE SECTION:</a:t>
            </a:r>
          </a:p>
          <a:p>
            <a:endParaRPr lang="en-GB" dirty="0"/>
          </a:p>
          <a:p>
            <a:r>
              <a:rPr lang="en-GB" b="1" dirty="0"/>
              <a:t>1. Name the shift.</a:t>
            </a:r>
          </a:p>
          <a:p>
            <a:r>
              <a:rPr lang="en-GB" dirty="0"/>
              <a:t>Say: "This section moves from measurement as a tool to measurement as a leadership discipline. The rhythm of review conversations is itself a strategic capability."</a:t>
            </a:r>
          </a:p>
          <a:p>
            <a:endParaRPr lang="en-GB" dirty="0"/>
          </a:p>
          <a:p>
            <a:r>
              <a:rPr lang="en-GB" b="1" dirty="0"/>
              <a:t>2. Preview the chain.</a:t>
            </a:r>
          </a:p>
          <a:p>
            <a:r>
              <a:rPr lang="en-GB" dirty="0"/>
              <a:t>Say: "When that rhythm weakens, four consequences follow, and they are cumulative. Missed early warnings lead to diffused accountability; diffused accountability suppresses learning; suppressed learning erodes leadership credibility."</a:t>
            </a:r>
          </a:p>
          <a:p>
            <a:endParaRPr lang="en-GB" dirty="0"/>
          </a:p>
          <a:p>
            <a:r>
              <a:rPr lang="en-GB" b="1" dirty="0"/>
              <a:t>3. Say where it goes.</a:t>
            </a:r>
          </a:p>
          <a:p>
            <a:r>
              <a:rPr lang="en-GB" dirty="0"/>
              <a:t>Say: "Section 5 returns to these four consequences. There, your group sets the decision points that guard against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FOUR CONSEQUENCES OF WEAK REVIEW DISCIPLINE
What determines the velocity of the flight?</a:t>
            </a:r>
            <a:r>
              <a:rPr lang="en-ZA" b="1" dirty="0"/>
              <a:t/>
            </a:r>
          </a:p>
          <a:p>
            <a:r>
              <a:rPr lang="en-ZA" dirty="0"/>
              <a:t>An aircraft's progress depends on continuously interpreting evidence and acting at the appropriate time. A changing wind condition, fuel concern, missed altitude restriction or unstable approach calls for a different decision.</a:t>
            </a:r>
          </a:p>
          <a:p>
            <a:r>
              <a:rPr lang="en-ZA" dirty="0"/>
              <a:t>These decisions cannot all be deferred until landing. By then, the opportunity to respond to an earlier condition may have passed.</a:t>
            </a:r>
          </a:p>
          <a:p>
            <a:r>
              <a:rPr lang="en-ZA" dirty="0"/>
              <a:t>The same principle applies to strategy execution.</a:t>
            </a:r>
          </a:p>
          <a:p>
            <a:r>
              <a:rPr lang="en-ZA" dirty="0"/>
              <a:t>Execution velocity is the rate at which an organisation converts strategic intent into measurable results. That rate is shaped by how quickly leaders detect progress or deviation, understand its causes, make decisions and translate those decisions into action.</a:t>
            </a:r>
          </a:p>
          <a:p>
            <a:r>
              <a:rPr lang="en-ZA" dirty="0"/>
              <a:t>Performance measurement provides the evidence. Review discipline converts that evidence into timely decisions.</a:t>
            </a:r>
          </a:p>
          <a:p>
            <a:r>
              <a:rPr lang="en-ZA" dirty="0"/>
              <a:t>This is why organisations can have well-designed strategies, clearly assigned KPIs and detailed execution plans, yet still experience slow progress. The measures may exist, but the rhythm of examining them, resolving constraints and adjusting execution may be weak.</a:t>
            </a:r>
          </a:p>
          <a:p>
            <a:r>
              <a:rPr lang="en-ZA" b="1" dirty="0"/>
              <a:t>2 — Four Consequences of Weak Review Discipline</a:t>
            </a:r>
          </a:p>
          <a:p>
            <a:r>
              <a:rPr lang="en-ZA" dirty="0"/>
              <a:t>When performance reviews become irregular or superficial, the organisation loses the discipline that keeps execution moving. Four predictable consequences emerge.</a:t>
            </a:r>
          </a:p>
          <a:p>
            <a:r>
              <a:rPr lang="en-ZA" dirty="0"/>
              <a:t>Consequence 01 — Early Warning Signals Are Missed</a:t>
            </a:r>
          </a:p>
          <a:p>
            <a:r>
              <a:rPr lang="en-ZA" dirty="0"/>
              <a:t>Execution problems usually begin with small deviations: a missed milestone, a growing bottleneck or a capability gap. In aviation, these are comparable to performance indications that require attention well before the aircraft reaches a critical decision point.</a:t>
            </a:r>
          </a:p>
          <a:p>
            <a:r>
              <a:rPr lang="en-ZA" dirty="0"/>
              <a:t>When leaders review performance too late, minor deviations become major delivery problems. The organisation loses valuable time to intervene.</a:t>
            </a:r>
          </a:p>
          <a:p>
            <a:r>
              <a:rPr lang="en-ZA" dirty="0"/>
              <a:t>Velocity impact: Corrections become slower, more expensive and more disruptive.</a:t>
            </a:r>
          </a:p>
          <a:p>
            <a:r>
              <a:rPr lang="en-ZA" dirty="0"/>
              <a:t>Facilitator prompt: "How long does it usually take your organisation to recognise and act on an execution problem? What happens to momentum during that delay?"</a:t>
            </a:r>
          </a:p>
          <a:p>
            <a:r>
              <a:rPr lang="en-ZA" dirty="0"/>
              <a:t>Consequence 02 — Accountability Gradually Weakens</a:t>
            </a:r>
          </a:p>
          <a:p>
            <a:r>
              <a:rPr lang="en-ZA" dirty="0"/>
              <a:t>In aviation, responsibilities and procedures remain active throughout the journey. The crew cannot treat the flight plan as an intention that no longer requires attention.</a:t>
            </a:r>
          </a:p>
          <a:p>
            <a:r>
              <a:rPr lang="en-ZA" dirty="0"/>
              <a:t>Similarly, KPIs lose their operational force when leaders stop discussing them. Owners begin to interpret the absence of review as reduced priority. Commitments remain documented, but the urgency to deliver fades.</a:t>
            </a:r>
          </a:p>
          <a:p>
            <a:r>
              <a:rPr lang="en-ZA" dirty="0"/>
              <a:t>Velocity impact: Follow-through weakens, decisions are delayed and delivery commitments begin to slip.</a:t>
            </a:r>
          </a:p>
          <a:p>
            <a:r>
              <a:rPr lang="en-ZA" dirty="0"/>
              <a:t>Facilitator prompt: "Which KPIs in your organisation are actively managed, and which are simply recorded on a scorecard?"</a:t>
            </a:r>
          </a:p>
          <a:p>
            <a:r>
              <a:rPr lang="en-ZA" dirty="0"/>
              <a:t>Consequence 03 — Organisational Learning Is Lost</a:t>
            </a:r>
          </a:p>
          <a:p>
            <a:r>
              <a:rPr lang="en-ZA" dirty="0"/>
              <a:t>Flight crews and airlines use operational data and post-flight reviews to understand deviations and improve future performance.</a:t>
            </a:r>
          </a:p>
          <a:p>
            <a:r>
              <a:rPr lang="en-ZA" dirty="0"/>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rPr lang="en-ZA" dirty="0"/>
              <a:t>Velocity impact: Teams repeat avoidable mistakes and execution capability improves slowly.</a:t>
            </a:r>
          </a:p>
          <a:p>
            <a:r>
              <a:rPr lang="en-ZA" dirty="0"/>
              <a:t>Facilitator prompt: "What have your performance reviews taught your organisation about how to improve execution over the past year?"</a:t>
            </a:r>
          </a:p>
          <a:p>
            <a:r>
              <a:rPr lang="en-ZA" dirty="0"/>
              <a:t>Consequence 04 — Leadership Credibility Erodes</a:t>
            </a:r>
          </a:p>
          <a:p>
            <a:r>
              <a:rPr lang="en-ZA" dirty="0"/>
              <a:t>A flight plan is credible because the crew actively manages the journey against it. Every stage requires attention to the destination, operating conditions and agreed procedures.</a:t>
            </a:r>
          </a:p>
          <a:p>
            <a:r>
              <a:rPr lang="en-ZA" dirty="0"/>
              <a:t>Strategic commitments work similarly. When leaders announce priorities but rarely return to them in performance discussions, teams learn that the organisation's stated ambitions do not consistently shape management attention.</a:t>
            </a:r>
          </a:p>
          <a:p>
            <a:r>
              <a:rPr lang="en-ZA" dirty="0"/>
              <a:t>Velocity impact: Strategic urgency declines, cross-functional commitment weakens and execution loses collective momentum.</a:t>
            </a:r>
          </a:p>
          <a:p>
            <a:r>
              <a:rPr lang="en-ZA"/>
              <a:t>Facilitator prompt: "What do your teams learn about strategic priorities from what leadership consistently reviews?"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Where Does Performance Measurement Break Down Across Functions?</a:t>
            </a:r>
          </a:p>
          <a:p>
            <a:endParaRPr lang="en-GB" dirty="0"/>
          </a:p>
          <a:p>
            <a:r>
              <a:rPr lang="en-GB" b="1" dirty="0"/>
              <a:t>SECTION LEARNING OUTCOMES:</a:t>
            </a:r>
          </a:p>
          <a:p>
            <a:r>
              <a:rPr lang="en-GB" dirty="0"/>
              <a:t>1. Identify where the review and interpretation of performance evidence break down across functions.</a:t>
            </a:r>
          </a:p>
          <a:p>
            <a:r>
              <a:rPr lang="en-GB" dirty="0"/>
              <a:t>2. Assess which breakdown is most prevalent in their own organisation.</a:t>
            </a:r>
          </a:p>
          <a:p>
            <a:endParaRPr lang="en-GB" dirty="0"/>
          </a:p>
          <a:p>
            <a:r>
              <a:rPr lang="en-GB" b="1" dirty="0"/>
              <a:t>HOW TO OPEN THE SECTION:</a:t>
            </a:r>
          </a:p>
          <a:p>
            <a:endParaRPr lang="en-GB" dirty="0"/>
          </a:p>
          <a:p>
            <a:r>
              <a:rPr lang="en-GB" b="1" dirty="0"/>
              <a:t>1. Give the provocation.</a:t>
            </a:r>
          </a:p>
          <a:p>
            <a:r>
              <a:rPr lang="en-GB" dirty="0"/>
              <a:t>Say: "Most modern organisations have agreed goals and KPIs, dashboards, reporting tools, and performance frameworks. The breakdown usually occurs in how leaders review and interpret the measurement together."</a:t>
            </a:r>
          </a:p>
          <a:p>
            <a:endParaRPr lang="en-GB" dirty="0"/>
          </a:p>
          <a:p>
            <a:r>
              <a:rPr lang="en-GB" b="1" dirty="0"/>
              <a:t>2. Say what the section holds.</a:t>
            </a:r>
          </a:p>
          <a:p>
            <a:r>
              <a:rPr lang="en-GB" dirty="0"/>
              <a:t>Say: "Part 3.1 gives the four gaps. Part 3.2 shows which executive roles most often feed each gap."</a:t>
            </a:r>
          </a:p>
          <a:p>
            <a:endParaRPr lang="en-GB" dirty="0"/>
          </a:p>
          <a:p>
            <a:r>
              <a:rPr lang="en-GB" b="1" dirty="0"/>
              <a:t>3. Name the question that runs through it.</a:t>
            </a:r>
          </a:p>
          <a:p>
            <a:r>
              <a:rPr lang="en-GB" dirty="0"/>
              <a:t>Say: "The question for this section is: Is the chain of execution across our functions holding together?"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FOUR FRACTURES IN PERFORMANCE MEASUREMENT
Content:
Performance measurement is ultimately a leadership conversation discipline. When that discipline weakens, several predictable fractures appear across the organisation. Select each gap below to examine where it occurs and what it costs.
Gap 01
The Horizontal Coordination Gap
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
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
The Alignment Brigade closes this gap by introducing periodic cross-functional performance reviews where the executive team collectively examines how the KPIs across functions interact to produce enterprise outcomes.
Facilitator question: “Name a strategic outcome in your organisation that required three or more functions to execute successfully. Where did the handoffs break down — and would a cross-functional review have caught it earlier?”
Gap 02
The Evidence Quality Gap
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
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
Closing this gap requires the Alignment Brigade to reinforce a simple but powerful principle: every performance review must be anchored in verifiable evidence that shows observable movement toward the outcome, is timely enough to inform decisions, and is clearly connected to the KPI, target, or Key Result being assessed.
Facilitator question: “In your last performance review, what percentage of the conversation was spent debating the data versus acting on it? That ratio is a proxy for your evidence quality gap.”
Gap 03
The Review Rhythm Breakdown
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
Irregular review cycles also weaken behavioural discipline. KPI owners begin to treat measurement as a reporting event.
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
Facilitator question: “How predictable is your organisation’s review rhythm? If a KPI owner was asked to describe the review schedule without referring to a calendar, could they?”
Gap 04
The Learning Suppression Gap
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
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
Questions shift from “Why was the target missed?” to “What is the system teaching us about how execution actually works?” When this learning dimension becomes part of review conversations, performance measurement evolves from a scoring mechanism into a capability-building system.
Facilitator question: “What is the dominant mood in your organisation’s performance review meetings — defence or curiosity? What would shift it?”</a:t>
            </a:r>
          </a:p>
          <a:p>
            <a:endParaRPr lang="en-US" dirty="0"/>
          </a:p>
          <a:p>
            <a:r>
              <a:t>Source detail (S2R® manuscript):</a:t>
            </a:r>
          </a:p>
          <a:p>
            <a:endParaRPr/>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Alignment Brigade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endParaRPr/>
          </a:p>
          <a:p>
            <a:r>
              <a:t>Professional insights:</a:t>
            </a:r>
          </a:p>
          <a:p>
            <a:endParaRPr/>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endParaRPr/>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Cross-Leadership Performance Intelligence</a:t>
            </a:r>
          </a:p>
          <a:p>
            <a:endParaRPr lang="en-GB" dirty="0"/>
          </a:p>
          <a:p>
            <a:r>
              <a:rPr lang="en-GB" b="1" dirty="0"/>
              <a:t>SECTION LEARNING OUTCOMES:</a:t>
            </a:r>
          </a:p>
          <a:p>
            <a:r>
              <a:rPr lang="en-GB" dirty="0"/>
              <a:t>1. Interpret individual performance signals within a shared enterprise view of progress.</a:t>
            </a:r>
          </a:p>
          <a:p>
            <a:r>
              <a:rPr lang="en-GB" dirty="0"/>
              <a:t>2. Determine the root cause of underperformance and the leadership action it requires.</a:t>
            </a:r>
          </a:p>
          <a:p>
            <a:endParaRPr lang="en-GB" dirty="0"/>
          </a:p>
          <a:p>
            <a:r>
              <a:rPr lang="en-GB" b="1" dirty="0"/>
              <a:t>HOW TO OPEN THE SECTION:</a:t>
            </a:r>
          </a:p>
          <a:p>
            <a:endParaRPr lang="en-GB" dirty="0"/>
          </a:p>
          <a:p>
            <a:r>
              <a:rPr lang="en-GB" b="1" dirty="0"/>
              <a:t>1. Name the shift.</a:t>
            </a:r>
          </a:p>
          <a:p>
            <a:r>
              <a:rPr lang="en-GB" dirty="0"/>
              <a:t>Say: "This section moves from function to enterprise. The question that guides it is the question of part 3.2: Is the chain of execution across our functions holding together?"</a:t>
            </a:r>
          </a:p>
          <a:p>
            <a:endParaRPr lang="en-GB" dirty="0"/>
          </a:p>
          <a:p>
            <a:r>
              <a:rPr lang="en-GB" b="1" dirty="0"/>
              <a:t>2. Say what the section holds.</a:t>
            </a:r>
          </a:p>
          <a:p>
            <a:r>
              <a:rPr lang="en-GB" dirty="0"/>
              <a:t>Say: "Part 4.1 teaches the Enterprise Performance Intelligence Circle, EPIC: the three signals each leader brings from their PM review sheet. Part 4.2 takes one Key Result through the Accountability Loop in a role play."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Alignment Brigade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Alignment Brigade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own three signals at the foot of each tab of part 4.1, from their own Key Results and KPIs.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Applying the Four Consequences of Weak Review Discipline</a:t>
            </a:r>
          </a:p>
          <a:p>
            <a:endParaRPr lang="en-GB" dirty="0"/>
          </a:p>
          <a:p>
            <a:r>
              <a:rPr lang="en-GB" b="1" dirty="0"/>
              <a:t>SECTION LEARNING OUTCOMES:</a:t>
            </a:r>
          </a:p>
          <a:p>
            <a:r>
              <a:rPr lang="en-GB" dirty="0"/>
              <a:t>1. Exercise balanced judgement when performance differs from agreed expectations.</a:t>
            </a:r>
          </a:p>
          <a:p>
            <a:r>
              <a:rPr lang="en-GB" dirty="0"/>
              <a:t>2. Determine the leadership decisions that protect the review discipline of the strategy.</a:t>
            </a:r>
          </a:p>
          <a:p>
            <a:endParaRPr lang="en-GB" dirty="0"/>
          </a:p>
          <a:p>
            <a:r>
              <a:rPr lang="en-GB" b="1" dirty="0"/>
              <a:t>HOW THIS SECTION RUNS:</a:t>
            </a:r>
          </a:p>
          <a:p>
            <a:r>
              <a:rPr lang="en-GB" dirty="0"/>
              <a:t>This is group work and Capstone work. Section 2 taught the four consequences of weak review discipline. Here, each group guards the strategy in its Capstone Blueprint against each of them.</a:t>
            </a:r>
          </a:p>
          <a:p>
            <a:r>
              <a:rPr lang="en-GB" dirty="0"/>
              <a:t>The group takes the four consequences one at a time, each on its own tab. The lesson from part 2.1 sits above the boxes.</a:t>
            </a:r>
          </a:p>
          <a:p>
            <a:r>
              <a:rPr lang="en-GB" dirty="0"/>
              <a:t>For each consequence, the group writes two decision points. A decision point names the signal the executive team watches for, the decision it takes when the signal appears and who takes it.</a:t>
            </a:r>
          </a:p>
          <a:p>
            <a:r>
              <a:rPr lang="en-GB" dirty="0"/>
              <a:t>Each decision point is one sentence: “If [the signal appears], then [the decision], taken by [who].” For example: “If a Key Result shows no movement across two monthly reviews, its owner presents a recovery plan at the next executive review.”</a:t>
            </a:r>
          </a:p>
          <a:p>
            <a:r>
              <a:rPr lang="en-GB" dirty="0"/>
              <a:t>The group agrees each entry and one member acts as scribe. Every member then types the agreed entries into their own page, in the session or after it.</a:t>
            </a:r>
          </a:p>
          <a:p>
            <a:r>
              <a:rPr lang="en-GB" dirty="0"/>
              <a:t>Each member then reads the group’s record at the foot of the section and selects Confirm. The confirmed record feeds the team’s Capstone Blueprint.</a:t>
            </a:r>
          </a:p>
          <a:p>
            <a:endParaRPr lang="en-GB" dirty="0"/>
          </a:p>
          <a:p>
            <a:r>
              <a:rPr lang="en-GB" b="1" dirty="0"/>
              <a:t>HOW TO OPEN THE SECTION:</a:t>
            </a:r>
          </a:p>
          <a:p>
            <a:endParaRPr lang="en-GB" dirty="0"/>
          </a:p>
          <a:p>
            <a:r>
              <a:rPr lang="en-GB" b="1" dirty="0"/>
              <a:t>1. Say what the section does.</a:t>
            </a:r>
          </a:p>
          <a:p>
            <a:r>
              <a:rPr lang="en-GB" dirty="0"/>
              <a:t>Say: "Your group sets two decision points against each of the four consequences of weak review discipline, for the strategy in your team’s Capstone Blueprint."</a:t>
            </a:r>
          </a:p>
          <a:p>
            <a:endParaRPr lang="en-GB" dirty="0"/>
          </a:p>
          <a:p>
            <a:r>
              <a:rPr lang="en-GB" b="1" dirty="0"/>
              <a:t>2. Say how the group works.</a:t>
            </a:r>
          </a:p>
          <a:p>
            <a:r>
              <a:rPr lang="en-GB" dirty="0"/>
              <a:t>Say: "This is group work. Your group agrees each entry. One member acts as scribe. Every member then types the agreed entries into their own page, in the session or after it."</a:t>
            </a:r>
          </a:p>
          <a:p>
            <a:endParaRPr lang="en-GB" dirty="0"/>
          </a:p>
          <a:p>
            <a:r>
              <a:rPr lang="en-GB" b="1" dirty="0"/>
              <a:t>3. Say where the work goes.</a:t>
            </a:r>
          </a:p>
          <a:p>
            <a:r>
              <a:rPr lang="en-GB" dirty="0"/>
              <a:t>Say: "This is Capstone work. You read your group’s record at the foot of the section and select Confirm. Your confirmed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THE ACCOUNTABILITY LOOP ROLE PLAY (PRACTICE IN CLASS)</a:t>
            </a:r>
          </a:p>
          <a:p>
            <a:endParaRPr lang="en-GB" dirty="0"/>
          </a:p>
          <a:p>
            <a:r>
              <a:rPr lang="en-GB" b="1" dirty="0"/>
              <a:t>HOW TO TEACH IT:</a:t>
            </a:r>
          </a:p>
          <a:p>
            <a:endParaRPr lang="en-GB" dirty="0"/>
          </a:p>
          <a:p>
            <a:r>
              <a:rPr lang="en-GB" b="1" dirty="0"/>
              <a:t>1. Give the case.</a:t>
            </a:r>
          </a:p>
          <a:p>
            <a:r>
              <a:rPr lang="en-GB" dirty="0"/>
              <a:t>Say: "You are a CXO responsible for the Objective and Key Result (OKR): “Reduce customer complaint resolution time from 48 hours to 12 hours.” The latest performance review shows that progress has stalled and complaint resolution is still averaging 36 hours. The target deadline is six weeks away."</a:t>
            </a:r>
          </a:p>
          <a:p>
            <a:endParaRPr lang="en-GB" dirty="0"/>
          </a:p>
          <a:p>
            <a:r>
              <a:rPr lang="en-GB" b="1" dirty="0"/>
              <a:t>2. Assign the three roles.</a:t>
            </a:r>
          </a:p>
          <a:p>
            <a:r>
              <a:rPr lang="en-GB" dirty="0"/>
              <a:t>CXO: "Conducts the accountability conversation. Must diagnose the root cause without blaming. Uses the Accountability Loop to identify whether the issue is accountability, skill, or structural misfit, then uses the alignment dialogue of Unit 7 to restore momentum. Aims to reach an alignment of 9–10."</a:t>
            </a:r>
          </a:p>
          <a:p>
            <a:r>
              <a:rPr lang="en-GB" dirty="0"/>
              <a:t>Team member: "Responsible for execution of the improvement initiative. Responds authentically to the conversation. May show defensiveness, uncertainty, or genuine constraint, reflecting real organisational dynamics."</a:t>
            </a:r>
          </a:p>
          <a:p>
            <a:r>
              <a:rPr lang="en-GB" dirty="0"/>
              <a:t>Observer: "Evaluates the quality of the conversation against the three criteria below. Provides structured feedback after the role play. Does not intervene during the exercise."</a:t>
            </a:r>
          </a:p>
          <a:p>
            <a:r>
              <a:rPr lang="en-GB" dirty="0"/>
              <a:t>Brief the CXO with this line: "The leader who receives honest feedback about a genuine problem and responds with honesty before justification, and action before communication, creates the conditions for real leadership." (Journal, 29 June 2026, Professional Insights: Leadership)</a:t>
            </a:r>
          </a:p>
          <a:p>
            <a:endParaRPr lang="en-GB" dirty="0"/>
          </a:p>
          <a:p>
            <a:r>
              <a:rPr lang="en-GB" b="1" dirty="0"/>
              <a:t>3. Run the conversation.</a:t>
            </a:r>
          </a:p>
          <a:p>
            <a:r>
              <a:rPr lang="en-GB" dirty="0"/>
              <a:t>The CXO opens with the evidence and diagnoses the root cause with the team member before any corrective action is discussed.</a:t>
            </a:r>
          </a:p>
          <a:p>
            <a:r>
              <a:rPr lang="en-GB" dirty="0"/>
              <a:t>If the CXO defaults to pressure and skips diagnosis, pause and redirect: "You have identified the gap. Now diagnose the cause. Is this an accountability issue, a skill gap, or a structural constraint? What evidence do you have for that?"</a:t>
            </a:r>
          </a:p>
          <a:p>
            <a:endParaRPr lang="en-GB" dirty="0"/>
          </a:p>
          <a:p>
            <a:r>
              <a:rPr lang="en-GB" b="1" dirty="0"/>
              <a:t>4. Close the conversation.</a:t>
            </a:r>
          </a:p>
          <a:p>
            <a:r>
              <a:rPr lang="en-GB" dirty="0"/>
              <a:t>The CXO closes with the corrective actions, the follow-up and the alignment question.</a:t>
            </a:r>
          </a:p>
          <a:p>
            <a:r>
              <a:rPr lang="en-GB" dirty="0"/>
              <a:t>Say: "Accountability without a pathway back becomes punishment. Correct firmly where necessary, and deliberately restore trust, contribution and dignity when change is evident." (Journal, 16 September 2026, Professional Insights: Leadership)</a:t>
            </a:r>
          </a:p>
          <a:p>
            <a:endParaRPr lang="en-GB" dirty="0"/>
          </a:p>
          <a:p>
            <a:r>
              <a:rPr lang="en-GB" b="1" dirty="0"/>
              <a:t>5. Debrief.</a:t>
            </a:r>
          </a:p>
          <a:p>
            <a:r>
              <a:rPr lang="en-GB" dirty="0"/>
              <a:t>The observer posts in the chat the root cause diagnosed (accountability, skill or structural), the evidence for it and how the conversation met each criterion.</a:t>
            </a:r>
          </a:p>
          <a:p>
            <a:r>
              <a:rPr lang="en-GB" dirty="0"/>
              <a:t>Ask the CXO: "If you ran this conversation again, what would you change first?"</a:t>
            </a:r>
          </a:p>
          <a:p>
            <a:endParaRPr lang="en-GB" dirty="0"/>
          </a:p>
          <a:p>
            <a:r>
              <a:rPr lang="en-GB" b="1" dirty="0"/>
              <a:t>ON THE PORTAL, AFTER THE TEACHING:</a:t>
            </a:r>
          </a:p>
          <a:p>
            <a:r>
              <a:rPr lang="en-GB" dirty="0"/>
              <a:t>Participants complete personal Portfolio work in part 4.2 of their own file. They read a full conversation on the same case and work out how the CXO applied the cycle and the loop: the evidence used in Review, the root cause diagnosed in Realign and how the other two were ruled out, the corrective actions and the movement of the alignment score in Restore, and their own judgement against the three criteria.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EVALUATION CRITERIA</a:t>
            </a:r>
          </a:p>
          <a:p>
            <a:endParaRPr lang="en-GB" dirty="0"/>
          </a:p>
          <a:p>
            <a:r>
              <a:rPr lang="en-GB" b="1" dirty="0"/>
              <a:t>HOW TO USE THIS SLIDE:</a:t>
            </a:r>
          </a:p>
          <a:p>
            <a:endParaRPr lang="en-GB" dirty="0"/>
          </a:p>
          <a:p>
            <a:r>
              <a:rPr lang="en-GB" b="1" dirty="0"/>
              <a:t>1. Brief the observer before the role play.</a:t>
            </a:r>
          </a:p>
          <a:p>
            <a:r>
              <a:rPr lang="en-GB" dirty="0"/>
              <a:t>Criterion 01 · Evidence Was Used in the Discussion: "Did the CXO anchor the conversation in verifiable performance data? Was the 36-hour average cited specifically? Were trends, milestones, or other evidence referenced? A conversation without evidence quickly becomes a debate about effort."</a:t>
            </a:r>
          </a:p>
          <a:p>
            <a:r>
              <a:rPr lang="en-GB" dirty="0"/>
              <a:t>Criterion 02 · Root Cause Was Correctly Identified: "Did the CXO arrive at a root cause diagnosis through genuine dialogue, or assume one at the outset? The root cause must emerge from the conversation. A misdiagnosed root cause leads to a mismatched recovery response that will fail even if executed well."</a:t>
            </a:r>
          </a:p>
          <a:p>
            <a:r>
              <a:rPr lang="en-GB" dirty="0"/>
              <a:t>Criterion 03 · Clear Corrective Actions Were Agreed: "Did the conversation end with specific, time-bound corrective actions that both parties understood and accepted? Was an alignment score agreed? Was a follow-up mechanism established? A review conversation that does not produce a named next action has not completed the Restore stage of the cycle."</a:t>
            </a:r>
          </a:p>
          <a:p>
            <a:endParaRPr lang="en-GB" dirty="0"/>
          </a:p>
          <a:p>
            <a:r>
              <a:rPr lang="en-GB" b="1" dirty="0"/>
              <a:t>2. Use the criteria in the debrief.</a:t>
            </a:r>
          </a:p>
          <a:p>
            <a:r>
              <a:rPr lang="en-GB" dirty="0"/>
              <a:t>The observer posts how the conversation met each criterion. Ask the room which criterion was hardest to meet, and why.</a:t>
            </a:r>
          </a:p>
          <a:p>
            <a:r>
              <a:rPr lang="en-GB" dirty="0"/>
              <a:t>Say: "Leaders who either conceal failure or weaponise it prevent learning. Mature accountability names what went wrong, understands why it happened and moves people toward responsible change." (Journal, 10 August 2026, Professional Insights: Leadership)</a:t>
            </a:r>
          </a:p>
          <a:p>
            <a:r>
              <a:rPr lang="en-GB" dirty="0"/>
              <a:t>Say: "Holding people accountable for outcomes without considering intent produces a culture of blame. Intent matters." (Journal, 17 March 2026, Professional Insights)</a:t>
            </a:r>
          </a:p>
          <a:p>
            <a:endParaRPr lang="en-GB" dirty="0"/>
          </a:p>
          <a:p>
            <a:r>
              <a:rPr lang="en-GB" b="1" dirty="0"/>
              <a:t>ON THE PORTAL, AFTER THE TEACHING:</a:t>
            </a:r>
          </a:p>
          <a:p>
            <a:r>
              <a:rPr lang="en-GB" dirty="0"/>
              <a:t>In part 4.2 of their own file, participants judge the scripted conversation against these three criteria.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1.1 Reflection — Activity vs Progress: "In your function, what are you currently measuring that reflects activity? What would reflect genuine progress toward your strategic outcome?"</a:t>
            </a:r>
          </a:p>
          <a:p>
            <a:r>
              <a:rPr lang="en-GB" dirty="0"/>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endParaRPr lang="en-GB" dirty="0"/>
          </a:p>
          <a:p>
            <a:r>
              <a:rPr lang="en-GB" b="1" dirty="0"/>
              <a:t>2. Say what the reflections are for.</a:t>
            </a:r>
          </a:p>
          <a:p>
            <a:r>
              <a:rPr lang="en-GB" dirty="0"/>
              <a:t>Say: "You write these reflections on the portal after the teaching, with as much depth as you can. They build the learning portfolio you receive at the end of the programme."</a:t>
            </a:r>
          </a:p>
          <a:p>
            <a:endParaRPr lang="en-GB" dirty="0"/>
          </a:p>
          <a:p>
            <a:r>
              <a:rPr lang="en-GB" b="1" dirty="0"/>
              <a:t>3. Set the standard.</a:t>
            </a:r>
          </a:p>
          <a:p>
            <a:r>
              <a:rPr lang="en-GB" dirty="0"/>
              <a:t>Say: "Name a real measure, a real gap and a real root cause from your own function."</a:t>
            </a:r>
          </a:p>
          <a:p>
            <a:endParaRPr lang="en-GB" dirty="0"/>
          </a:p>
          <a:p>
            <a:r>
              <a:rPr lang="en-GB" b="1" dirty="0"/>
              <a:t>4. Bridge to Section 2.</a:t>
            </a:r>
          </a:p>
          <a:p>
            <a:r>
              <a:rPr lang="en-GB" dirty="0"/>
              <a:t>Say: "You have seen how measurement makes execution visible and how the cycle restores it. Section 2 shows what happens when the review rhythm weakens."</a:t>
            </a:r>
          </a:p>
          <a:p>
            <a:endParaRPr lang="en-GB" dirty="0"/>
          </a:p>
          <a:p>
            <a:r>
              <a:rPr lang="en-GB" b="1" dirty="0"/>
              <a:t>ON THE PORTAL, AFTER THE TEACHING:</a:t>
            </a:r>
          </a:p>
          <a:p>
            <a:r>
              <a:rPr lang="en-GB" dirty="0"/>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CXO PERFORMANCE GAP CONTRIBUTORS</a:t>
            </a:r>
          </a:p>
          <a:p>
            <a:r>
              <a:rPr lang="en-GB" dirty="0"/>
              <a:t>Is the chain of execution across our functions holding together?</a:t>
            </a:r>
          </a:p>
          <a:p>
            <a:endParaRPr lang="en-GB" dirty="0"/>
          </a:p>
          <a:p>
            <a:r>
              <a:rPr lang="en-GB" b="1" dirty="0"/>
              <a:t>HOW TO TEACH IT:</a:t>
            </a:r>
          </a:p>
          <a:p>
            <a:endParaRPr lang="en-GB" dirty="0"/>
          </a:p>
          <a:p>
            <a:r>
              <a:rPr lang="en-GB" b="1" dirty="0"/>
              <a:t>1. Set up the part.</a:t>
            </a:r>
          </a:p>
          <a:p>
            <a:r>
              <a:rPr lang="en-GB" dirty="0"/>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endParaRPr lang="en-GB" dirty="0"/>
          </a:p>
          <a:p>
            <a:r>
              <a:rPr lang="en-GB" b="1" dirty="0"/>
              <a:t>2. Teach the map on the slide.</a:t>
            </a:r>
          </a:p>
          <a:p>
            <a:r>
              <a:rPr lang="en-GB" dirty="0"/>
              <a:t>Horizontal Coordination Gap: COO, CTO/CIO, CMO, CCO, CPO.</a:t>
            </a:r>
          </a:p>
          <a:p>
            <a:r>
              <a:rPr lang="en-GB" dirty="0"/>
              <a:t>Evidence Quality Gap: CFO, CHRO, CTO/CIO, CMO, CPO.</a:t>
            </a:r>
          </a:p>
          <a:p>
            <a:r>
              <a:rPr lang="en-GB" dirty="0"/>
              <a:t>Review Rhythm Breakdown: CEO, CHRO, CRO, CSO.</a:t>
            </a:r>
          </a:p>
          <a:p>
            <a:r>
              <a:rPr lang="en-GB" dirty="0"/>
              <a:t>Learning Suppression Gap: CEO, CFO, CCO, CRO, CSO.</a:t>
            </a:r>
          </a:p>
          <a:p>
            <a:endParaRPr lang="en-GB" dirty="0"/>
          </a:p>
          <a:p>
            <a:r>
              <a:rPr lang="en-GB" b="1" dirty="0"/>
              <a:t>3. Teach each role: how it reviews performance, what it does in those reviews and what happens as a result. Take the participants' own roles first.</a:t>
            </a:r>
          </a:p>
          <a:p>
            <a:r>
              <a:rPr lang="en-GB" dirty="0"/>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rPr lang="en-GB" dirty="0"/>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rPr lang="en-GB" dirty="0"/>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rPr lang="en-GB" dirty="0"/>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rPr lang="en-GB" dirty="0"/>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rPr lang="en-GB" dirty="0"/>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rPr lang="en-GB" dirty="0"/>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rPr lang="en-GB" dirty="0"/>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rPr lang="en-GB" dirty="0"/>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rPr lang="en-GB" dirty="0"/>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endParaRPr lang="en-GB" dirty="0"/>
          </a:p>
          <a:p>
            <a:r>
              <a:rPr lang="en-GB" b="1" dirty="0"/>
              <a:t>4. Close the part.</a:t>
            </a:r>
          </a:p>
          <a:p>
            <a:r>
              <a:rPr lang="en-GB" dirty="0"/>
              <a:t>Say: "No single role opens a fracture alone. The Alignment Brigade closes the four fractures when each leader sees how the habits in their own reviews feed them, and the executive team reviews the chain of execution together."</a:t>
            </a:r>
          </a:p>
          <a:p>
            <a:endParaRPr lang="en-GB" dirty="0"/>
          </a:p>
          <a:p>
            <a:r>
              <a:rPr lang="en-GB" b="1" dirty="0"/>
              <a:t>5. Ask, now that the roles are taught.</a:t>
            </a:r>
          </a:p>
          <a:p>
            <a:r>
              <a:rPr lang="en-GB" dirty="0"/>
              <a:t>Ask: "What is one habit in your own reviews, and which fracture does it open?" Ask participants to post their answer in the chat.</a:t>
            </a:r>
          </a:p>
          <a:p>
            <a:endParaRPr lang="en-GB" dirty="0"/>
          </a:p>
          <a:p>
            <a:r>
              <a:rPr lang="en-GB" b="1" dirty="0"/>
              <a:t>ON THE PORTAL, AFTER THE TEACHING:</a:t>
            </a:r>
          </a:p>
          <a:p>
            <a:r>
              <a:rPr lang="en-GB" dirty="0"/>
              <a:t>Participants read the ten role cards in part 3.2 of their own file, their own role first, and answer the question on their own card for themselves.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Which Gap Is Most Prevalent in Your Organisation?: "Rate each gap in your organisation (1 = rare, 5 = common). Then name the gap you are most responsible for closing and your first action."</a:t>
            </a:r>
          </a:p>
          <a:p>
            <a:endParaRPr lang="en-GB" dirty="0"/>
          </a:p>
          <a:p>
            <a:r>
              <a:rPr lang="en-GB" b="1" dirty="0"/>
              <a:t>2. Say what the reflection is for.</a:t>
            </a:r>
          </a:p>
          <a:p>
            <a:r>
              <a:rPr lang="en-GB" dirty="0"/>
              <a:t>Say: "You write this reflection on the portal after the teaching. Rate each gap honestly, then name the gap you are most responsible for closing."</a:t>
            </a:r>
          </a:p>
          <a:p>
            <a:endParaRPr lang="en-GB" dirty="0"/>
          </a:p>
          <a:p>
            <a:r>
              <a:rPr lang="en-GB" b="1" dirty="0"/>
              <a:t>3. Bridge to Section 4.</a:t>
            </a:r>
          </a:p>
          <a:p>
            <a:r>
              <a:rPr lang="en-GB" dirty="0"/>
              <a:t>Say: "You have seen where the review of performance breaks down, and which roles feed each gap. Section 4 brings the executive team together around one view of enterprise execution."</a:t>
            </a:r>
          </a:p>
          <a:p>
            <a:endParaRPr lang="en-GB" dirty="0"/>
          </a:p>
          <a:p>
            <a:r>
              <a:rPr lang="en-GB" b="1" dirty="0"/>
              <a:t>ON THE PORTAL, AFTER THE TEACHING:</a:t>
            </a:r>
          </a:p>
          <a:p>
            <a:r>
              <a:rPr lang="en-GB" dirty="0"/>
              <a:t>Participants complete this reflection in Section 3 of the participant file, at the foot of part 3.1.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Progress Signal: "For one of your Key Results or KPIs: what is your current percentage progress, what evidence supports it, and is your momentum accelerating, stable or slowing?"</a:t>
            </a:r>
          </a:p>
          <a:p>
            <a:r>
              <a:rPr lang="en-GB" dirty="0"/>
              <a:t>4.1 Reflection — Your Early Warning Signal: "Which one or two early warning signals have emerged in your area? What evidence supports each, and what could it affect?"</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progress signal and their early warning signal at the foot of the first two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(2 OF 2)</a:t>
            </a:r>
          </a:p>
          <a:p>
            <a:endParaRPr lang="en-GB" dirty="0"/>
          </a:p>
          <a:p>
            <a:r>
              <a:rPr lang="en-GB" b="1" dirty="0"/>
              <a:t>HOW TO USE THIS SLIDE:</a:t>
            </a:r>
          </a:p>
          <a:p>
            <a:endParaRPr lang="en-GB" dirty="0"/>
          </a:p>
          <a:p>
            <a:r>
              <a:rPr lang="en-GB" b="1" dirty="0"/>
              <a:t>1. Show the slide and read the prompt and the Portfolio work aloud.</a:t>
            </a:r>
          </a:p>
          <a:p>
            <a:r>
              <a:rPr lang="en-GB" dirty="0"/>
              <a:t>4.1 Reflection — Your Execution Learning: "What is one key execution learning from your performance reviews? What evidence supports it, and does it apply to your function or to the enterprise?"</a:t>
            </a:r>
          </a:p>
          <a:p>
            <a:r>
              <a:rPr lang="en-GB" dirty="0"/>
              <a:t>4.2 Portfolio work: the Accountability Loop case, read and analysed alone.</a:t>
            </a:r>
          </a:p>
          <a:p>
            <a:endParaRPr lang="en-GB" dirty="0"/>
          </a:p>
          <a:p>
            <a:r>
              <a:rPr lang="en-GB" b="1" dirty="0"/>
              <a:t>2. Say what the work is for.</a:t>
            </a:r>
          </a:p>
          <a:p>
            <a:r>
              <a:rPr lang="en-GB" dirty="0"/>
              <a:t>Say: "In 4.2, you read a full Accountability Loop conversation on the case of the role play and work out how the CXO applied the cycle: the evidence in Review, the root cause in Realign, the corrective actions and the alignment score in Restore. This is personal work, and it builds your learning portfolio."</a:t>
            </a:r>
          </a:p>
          <a:p>
            <a:endParaRPr lang="en-GB" dirty="0"/>
          </a:p>
          <a:p>
            <a:r>
              <a:rPr lang="en-GB" b="1" dirty="0"/>
              <a:t>3. Bridge to Section 5.</a:t>
            </a:r>
          </a:p>
          <a:p>
            <a:r>
              <a:rPr lang="en-GB" dirty="0"/>
              <a:t>Say: "You have seen the enterprise view and practised the loop on one Key Result. Section 5 brings back the four consequences of weak review discipline, and your group guards its own strategy against them."</a:t>
            </a:r>
          </a:p>
          <a:p>
            <a:endParaRPr lang="en-GB" dirty="0"/>
          </a:p>
          <a:p>
            <a:r>
              <a:rPr lang="en-GB" b="1" dirty="0"/>
              <a:t>ON THE PORTAL, AFTER THE TEACHING:</a:t>
            </a:r>
          </a:p>
          <a:p>
            <a:r>
              <a:rPr lang="en-GB" dirty="0"/>
              <a:t>Participants write their execution learning at the foot of the third tab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DECISION POINTS AGAINST THE FOUR CONSEQUENCES (CAPSTONE WORK)</a:t>
            </a:r>
          </a:p>
          <a:p>
            <a:endParaRPr lang="en-GB" dirty="0"/>
          </a:p>
          <a:p>
            <a:r>
              <a:rPr lang="en-GB" b="1" dirty="0"/>
              <a:t>HOW TO TEACH IT:</a:t>
            </a:r>
          </a:p>
          <a:p>
            <a:endParaRPr lang="en-GB" dirty="0"/>
          </a:p>
          <a:p>
            <a:r>
              <a:rPr lang="en-GB" b="1" dirty="0"/>
              <a:t>1. Recall the four consequences of part 2.1.</a:t>
            </a:r>
          </a:p>
          <a:p>
            <a:r>
              <a:rPr lang="en-GB" dirty="0"/>
              <a:t>Say: "Missed early warning signals. Gradual diffusion of accountability. Loss of organisational learning. Eroded leadership credibility. Each begins with signals that can be seen early."</a:t>
            </a:r>
          </a:p>
          <a:p>
            <a:endParaRPr lang="en-GB" dirty="0"/>
          </a:p>
          <a:p>
            <a:r>
              <a:rPr lang="en-GB" b="1" dirty="0"/>
              <a:t>2. Say what a decision point is.</a:t>
            </a:r>
          </a:p>
          <a:p>
            <a:r>
              <a:rPr lang="en-GB" dirty="0"/>
              <a:t>Say: "A decision point names the signal the executive team watches for, the decision it takes when the signal appears and who takes it. Write it as one sentence: If the signal appears, then the decision, taken by whom."</a:t>
            </a:r>
          </a:p>
          <a:p>
            <a:endParaRPr lang="en-GB" dirty="0"/>
          </a:p>
          <a:p>
            <a:r>
              <a:rPr lang="en-GB" b="1" dirty="0"/>
              <a:t>3. Give one example for each consequence.</a:t>
            </a:r>
          </a:p>
          <a:p>
            <a:r>
              <a:rPr lang="en-GB" dirty="0"/>
              <a:t>Early Warning Signals Are Missed: "If a Key Result shows no movement across two monthly reviews, its owner presents a recovery plan at the next executive review."</a:t>
            </a:r>
          </a:p>
          <a:p>
            <a:r>
              <a:rPr lang="en-GB" dirty="0"/>
              <a:t>Gradual Diffusion of Accountability: "If a Key Result has not been discussed in an executive review for a full month, the CEO places it first on the agenda of the next review, with its owner present."</a:t>
            </a:r>
          </a:p>
          <a:p>
            <a:r>
              <a:rPr lang="en-GB" dirty="0"/>
              <a:t>Loss of Organisational Learning: "If the same obstacle is reported in two functions in one quarter, the executive team names the cause and records what it changes in the way the strategy is executed."</a:t>
            </a:r>
          </a:p>
          <a:p>
            <a:r>
              <a:rPr lang="en-GB" dirty="0"/>
              <a:t>Erodes Leadership Credibility: "If a strategic priority is announced, the executive team fixes the date of its first review and the evidence to be brought to it in the same meeting."</a:t>
            </a:r>
          </a:p>
          <a:p>
            <a:endParaRPr lang="en-GB" dirty="0"/>
          </a:p>
          <a:p>
            <a:r>
              <a:rPr lang="en-GB" b="1" dirty="0"/>
              <a:t>4. Say how the group completes it.</a:t>
            </a:r>
          </a:p>
          <a:p>
            <a:r>
              <a:rPr lang="en-GB" dirty="0"/>
              <a:t>Say: "Take the four consequences one at a time. For each, agree the two signals your executive team is most likely to miss in your strategy, and write one decision point for each."</a:t>
            </a:r>
          </a:p>
          <a:p>
            <a:endParaRPr lang="en-GB" dirty="0"/>
          </a:p>
          <a:p>
            <a:r>
              <a:rPr lang="en-GB" b="1" dirty="0"/>
              <a:t>ON THE PORTAL, AFTER THE TEACHING:</a:t>
            </a:r>
          </a:p>
          <a:p>
            <a:r>
              <a:rPr lang="en-GB" dirty="0"/>
              <a:t>Participants work as a group in part 5.1 of their own file. This is Capstone work. The group agrees each entry and one member acts as scribe. Every member then types the agreed entries into their own page, in the session or after it.</a:t>
            </a:r>
          </a:p>
          <a:p>
            <a:r>
              <a:rPr lang="en-GB" dirty="0"/>
              <a:t>Each group writes two decision points for each of the four consequences: for each, the signal, the decision the executive team takes when it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early signs that review discipline is weakening and the cost each carries.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leadership decisions that protect the review discipline of the strategy.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is still averaging 36 hours against a 12-hour target, six weeks from the deadline.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Three roles: CXO · Team member · Observer. Diagnose before prescribing.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Evidence was used in the discussion</a:t>
            </a:r>
            <a:endParaRPr lang="en-US" sz="2600" dirty="0"/>
          </a:p>
        </p:txBody>
      </p:sp>
      <p:sp>
        <p:nvSpPr>
          <p:cNvPr id="9" name="Shape 5"/>
          <p:cNvSpPr/>
          <p:nvPr/>
        </p:nvSpPr>
        <p:spPr>
          <a:xfrm>
            <a:off x="548640" y="33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483255"/>
            <a:ext cx="320040" cy="320040"/>
          </a:xfrm>
          <a:prstGeom prst="rect">
            <a:avLst/>
          </a:prstGeom>
        </p:spPr>
      </p:pic>
      <p:sp>
        <p:nvSpPr>
          <p:cNvPr id="11" name="Text 6"/>
          <p:cNvSpPr txBox="1"/>
          <p:nvPr/>
        </p:nvSpPr>
        <p:spPr>
          <a:xfrm>
            <a:off x="1508760" y="30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Root cause was correctly identified</a:t>
            </a:r>
            <a:endParaRPr lang="en-US" sz="2600" dirty="0"/>
          </a:p>
        </p:txBody>
      </p:sp>
      <p:sp>
        <p:nvSpPr>
          <p:cNvPr id="12" name="Shape 7"/>
          <p:cNvSpPr/>
          <p:nvPr/>
        </p:nvSpPr>
        <p:spPr>
          <a:xfrm>
            <a:off x="548640" y="48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006265"/>
            <a:ext cx="320040" cy="320040"/>
          </a:xfrm>
          <a:prstGeom prst="rect">
            <a:avLst/>
          </a:prstGeom>
        </p:spPr>
      </p:pic>
      <p:sp>
        <p:nvSpPr>
          <p:cNvPr id="14" name="Text 8"/>
          <p:cNvSpPr txBox="1"/>
          <p:nvPr/>
        </p:nvSpPr>
        <p:spPr>
          <a:xfrm>
            <a:off x="1508760" y="45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Clear corrective actions were agreed</a:t>
            </a:r>
            <a:endParaRPr lang="en-US" sz="2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6"/>
          <a:stretch>
            <a:fillRect/>
          </a:stretch>
        </p:blipFill>
        <p:spPr>
          <a:xfrm>
            <a:off x="1691640" y="1463040"/>
            <a:ext cx="10058400" cy="1311339"/>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2975546"/>
            <a:ext cx="10058400" cy="1311339"/>
          </a:xfrm>
          <a:prstGeom prst="rect">
            <a:avLst/>
          </a:prstGeom>
        </p:spPr>
      </p:pic>
      <p:sp>
        <p:nvSpPr>
          <p:cNvPr id="6" name="Part 1.4"/>
          <p:cNvSpPr/>
          <p:nvPr/>
        </p:nvSpPr>
        <p:spPr>
          <a:xfrm>
            <a:off x="548640" y="3196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COO · CTO/CIO · CMO · CCO · CPO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CFO · CHRO · CTO/CIO · CMO · CPO</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CEO · CHRO · CRO · CSO</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CEO · CFO · CCO · CRO · CSO</a:t>
            </a:r>
            <a:endParaRPr lang="en-US" sz="24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6"/>
          <a:stretch>
            <a:fillRect/>
          </a:stretch>
        </p:blipFill>
        <p:spPr>
          <a:xfrm>
            <a:off x="1691640" y="1463040"/>
            <a:ext cx="10058400" cy="1357575"/>
          </a:xfrm>
          <a:prstGeom prst="rect">
            <a:avLst/>
          </a:prstGeom>
        </p:spPr>
      </p:pic>
      <p:sp>
        <p:nvSpPr>
          <p:cNvPr id="4" name="Part 4.1"/>
          <p:cNvSpPr/>
          <p:nvPr/>
        </p:nvSpPr>
        <p:spPr>
          <a:xfrm>
            <a:off x="548640" y="170748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b.png"/>
          <p:cNvPicPr>
            <a:picLocks noChangeAspect="1"/>
          </p:cNvPicPr>
          <p:nvPr/>
        </p:nvPicPr>
        <p:blipFill>
          <a:blip r:embed="rId7"/>
          <a:stretch>
            <a:fillRect/>
          </a:stretch>
        </p:blipFill>
        <p:spPr>
          <a:xfrm>
            <a:off x="1691640" y="3021783"/>
            <a:ext cx="10058400" cy="1002755"/>
          </a:xfrm>
          <a:prstGeom prst="rect">
            <a:avLst/>
          </a:prstGeom>
        </p:spPr>
      </p:pic>
      <p:sp>
        <p:nvSpPr>
          <p:cNvPr id="6" name="Part 4.1"/>
          <p:cNvSpPr/>
          <p:nvPr/>
        </p:nvSpPr>
        <p:spPr>
          <a:xfrm>
            <a:off x="548640" y="3088820"/>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c.png"/>
          <p:cNvPicPr>
            <a:picLocks noChangeAspect="1"/>
          </p:cNvPicPr>
          <p:nvPr/>
        </p:nvPicPr>
        <p:blipFill>
          <a:blip r:embed="rId6"/>
          <a:stretch>
            <a:fillRect/>
          </a:stretch>
        </p:blipFill>
        <p:spPr>
          <a:xfrm>
            <a:off x="1691640" y="1463040"/>
            <a:ext cx="10058400" cy="1357575"/>
          </a:xfrm>
          <a:prstGeom prst="rect">
            <a:avLst/>
          </a:prstGeom>
        </p:spPr>
      </p:pic>
      <p:sp>
        <p:nvSpPr>
          <p:cNvPr id="4" name="Part 4.1"/>
          <p:cNvSpPr/>
          <p:nvPr/>
        </p:nvSpPr>
        <p:spPr>
          <a:xfrm>
            <a:off x="548640" y="170748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7"/>
          <a:stretch>
            <a:fillRect/>
          </a:stretch>
        </p:blipFill>
        <p:spPr>
          <a:xfrm>
            <a:off x="1691640" y="3021783"/>
            <a:ext cx="10058400" cy="2565036"/>
          </a:xfrm>
          <a:prstGeom prst="rect">
            <a:avLst/>
          </a:prstGeom>
        </p:spPr>
      </p:pic>
      <p:sp>
        <p:nvSpPr>
          <p:cNvPr id="6" name="Part 4.2"/>
          <p:cNvSpPr/>
          <p:nvPr/>
        </p:nvSpPr>
        <p:spPr>
          <a:xfrm>
            <a:off x="548640" y="386996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2 decision points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2 decision points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2 decision points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2 decision points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