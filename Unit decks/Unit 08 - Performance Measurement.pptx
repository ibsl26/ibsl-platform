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1.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7.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79" r:id="rId30"/>
    <p:sldId id="264" r:id="rId10"/>
    <p:sldId id="266" r:id="rId12"/>
    <p:sldId id="285" r:id="rId24"/>
    <p:sldId id="268" r:id="rId14"/>
    <p:sldId id="269" r:id="rId15"/>
    <p:sldId id="280" r:id="rId31"/>
    <p:sldId id="281" r:id="rId32"/>
    <p:sldId id="270" r:id="rId16"/>
    <p:sldId id="272" r:id="rId18"/>
    <p:sldId id="276" r:id="rId22"/>
    <p:sldId id="277" r:id="rId23"/>
    <p:sldId id="282" r:id="rId33"/>
    <p:sldId id="283" r:id="rId34"/>
    <p:sldId id="274" r:id="rId20"/>
    <p:sldId id="284" r:id="rId3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34421" autoAdjust="0"/>
  </p:normalViewPr>
  <p:slideViewPr>
    <p:cSldViewPr snapToGrid="0" snapToObjects="1">
      <p:cViewPr varScale="1">
        <p:scale>
          <a:sx n="24" d="100"/>
          <a:sy n="24" d="100"/>
        </p:scale>
        <p:origin x="2069" y="1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10.xml"/><Relationship Id="rId12" Type="http://schemas.openxmlformats.org/officeDocument/2006/relationships/slide" Target="slides/slide11.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7.xml"/><Relationship Id="rId18" Type="http://schemas.openxmlformats.org/officeDocument/2006/relationships/slide" Target="slides/slide18.xml"/><Relationship Id="rId20" Type="http://schemas.openxmlformats.org/officeDocument/2006/relationships/slide" Target="slides/slide23.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12.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openxmlformats.org/officeDocument/2006/relationships/slide" Target="slides/slide9.xml"/><Relationship Id="rId31" Type="http://schemas.openxmlformats.org/officeDocument/2006/relationships/slide" Target="slides/slide15.xml"/><Relationship Id="rId32" Type="http://schemas.openxmlformats.org/officeDocument/2006/relationships/slide" Target="slides/slide16.xml"/><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644968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UNIT 8 · PERFORMANCE MEASUREMENT</a:t>
            </a:r>
          </a:p>
          <a:p>
            <a:r>
              <a:t>Module 3 · Influence · Unit 8</a:t>
            </a:r>
          </a:p>
          <a:p/>
          <a:p>
            <a:r>
              <a:t>Unit intent (Facilitator Guide):</a:t>
            </a:r>
          </a:p>
          <a:p>
            <a:r>
              <a:t>Unit 8 closes the loop opened by Units 6 and 7. KPIs have been established, targets have been set, and expectations have been secured. Now the most important discipline of execution begins: the performance review conversation. Each review examines two things: the progress of what individuals and teams deliver, and whether the organisational conditions support the execution of their tasks. This unit makes that conversation structured, honest, and useful: a genuine dialogue about execution reality.</a:t>
            </a:r>
          </a:p>
          <a:p>
            <a:r>
              <a:t>The centrepiece is the Review–Realign–Restore Cycle. Leaders must leave this unit understanding that measurement is an execution recovery system. The Accountability Loop role play in part 4.2 is where the conceptual work becomes a leadership skill, and Section 5 applies the four consequences of weak review discipline to the group’s own strategy.</a:t>
            </a:r>
          </a:p>
          <a:p>
            <a:r>
              <a:t>The Integration section raises the focus to enterprise level through the Enterprise Performance Intelligence Circle (EPIC), shifting leaders from functional reporting to shared execution intelligence.</a:t>
            </a:r>
          </a:p>
          <a:p/>
          <a:p>
            <a:r>
              <a:t>Unit overview (facilitator file): Strategy fails when progress is not consistently examined. This unit establishes the review discipline that keeps strategy execution visible, surfaces early warning signals, and converts performance data into organisational intelligence through the Review–Realign–Restore cycle.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LEARNING OUTCOMES (identical in the participant and facilitator files)
1. Interpret performance evidence in relation to strategic objectives and organisational context.
2. Discriminate meaningful strategic progress from activity, compliance and temporary variation.
3. Exercise balanced executive judgement when performance diverges from expectations.
4. Translate performance evidence into decisions, learning and corrective leadership action.
Each section slide carries that section’s two learning outcomes.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FACILITATOR GUIDE · SESSION OVERVIEW
</a:t>
            </a:r>
            <a:r>
              <a:rPr lang="en-ZA" sz="1200" b="1" i="0" kern="1200" cap="all" dirty="0">
                <a:solidFill>
                  <a:schemeClr val="tx1"/>
                </a:solidFill>
                <a:effectLst/>
                <a:latin typeface="+mn-lt"/>
                <a:ea typeface="+mn-ea"/>
                <a:cs typeface="+mn-cs"/>
              </a:rPr>
              <a:t>Awareness — What</a:t>
            </a:r>
          </a:p>
          <a:p>
            <a:r>
              <a:rPr lang="en-ZA" sz="1200" b="0" i="0" kern="1200" dirty="0">
                <a:solidFill>
                  <a:schemeClr val="tx1"/>
                </a:solidFill>
                <a:effectLst/>
                <a:latin typeface="+mn-lt"/>
                <a:ea typeface="+mn-ea"/>
                <a:cs typeface="+mn-cs"/>
              </a:rPr>
              <a:t>What is Performance Measurement? - an execution visibility discipline</a:t>
            </a:r>
          </a:p>
          <a:p>
            <a:endParaRPr lang="en-ZA" sz="1200" b="0" i="0" kern="1200" dirty="0">
              <a:solidFill>
                <a:schemeClr val="tx1"/>
              </a:solidFill>
              <a:effectLst/>
              <a:latin typeface="+mn-lt"/>
              <a:ea typeface="+mn-ea"/>
              <a:cs typeface="+mn-cs"/>
            </a:endParaRPr>
          </a:p>
          <a:p>
            <a:r>
              <a:rPr lang="en-ZA" sz="1200" b="1" i="0" kern="1200" cap="all" dirty="0">
                <a:solidFill>
                  <a:schemeClr val="tx1"/>
                </a:solidFill>
                <a:effectLst/>
                <a:latin typeface="+mn-lt"/>
                <a:ea typeface="+mn-ea"/>
                <a:cs typeface="+mn-cs"/>
              </a:rPr>
              <a:t>Intelligence — Why</a:t>
            </a:r>
          </a:p>
          <a:p>
            <a:r>
              <a:rPr lang="en-ZA" sz="1200" b="0" i="0" kern="1200" dirty="0">
                <a:solidFill>
                  <a:schemeClr val="tx1"/>
                </a:solidFill>
                <a:effectLst/>
                <a:latin typeface="+mn-lt"/>
                <a:ea typeface="+mn-ea"/>
                <a:cs typeface="+mn-cs"/>
              </a:rPr>
              <a:t>Why Performance Measurement Determines Execution Velocity</a:t>
            </a:r>
          </a:p>
          <a:p>
            <a:endParaRPr lang="en-ZA" sz="1200" b="0" i="0" kern="1200" dirty="0">
              <a:solidFill>
                <a:schemeClr val="tx1"/>
              </a:solidFill>
              <a:effectLst/>
              <a:latin typeface="+mn-lt"/>
              <a:ea typeface="+mn-ea"/>
              <a:cs typeface="+mn-cs"/>
            </a:endParaRPr>
          </a:p>
          <a:p>
            <a:r>
              <a:rPr lang="en-ZA" sz="1200" b="1" i="0" kern="1200" cap="all" dirty="0">
                <a:solidFill>
                  <a:schemeClr val="tx1"/>
                </a:solidFill>
                <a:effectLst/>
                <a:latin typeface="+mn-lt"/>
                <a:ea typeface="+mn-ea"/>
                <a:cs typeface="+mn-cs"/>
              </a:rPr>
              <a:t>Extrapolating — Where</a:t>
            </a:r>
          </a:p>
          <a:p>
            <a:r>
              <a:rPr lang="en-ZA" sz="1200" b="0" i="0" kern="1200" dirty="0">
                <a:solidFill>
                  <a:schemeClr val="tx1"/>
                </a:solidFill>
                <a:effectLst/>
                <a:latin typeface="+mn-lt"/>
                <a:ea typeface="+mn-ea"/>
                <a:cs typeface="+mn-cs"/>
              </a:rPr>
              <a:t>Where Does Performance Measurement Break Down Across Functions?</a:t>
            </a:r>
          </a:p>
          <a:p>
            <a:endParaRPr lang="en-ZA" sz="1200" b="0" i="0" kern="1200" dirty="0">
              <a:solidFill>
                <a:schemeClr val="tx1"/>
              </a:solidFill>
              <a:effectLst/>
              <a:latin typeface="+mn-lt"/>
              <a:ea typeface="+mn-ea"/>
              <a:cs typeface="+mn-cs"/>
            </a:endParaRPr>
          </a:p>
          <a:p>
            <a:r>
              <a:rPr lang="en-ZA" sz="1200" b="1" i="0" kern="1200" cap="all" dirty="0">
                <a:solidFill>
                  <a:schemeClr val="tx1"/>
                </a:solidFill>
                <a:effectLst/>
                <a:latin typeface="+mn-lt"/>
                <a:ea typeface="+mn-ea"/>
                <a:cs typeface="+mn-cs"/>
              </a:rPr>
              <a:t>Integration — Collective</a:t>
            </a:r>
          </a:p>
          <a:p>
            <a:r>
              <a:rPr lang="en-ZA" sz="1200" b="0" i="0" kern="1200" dirty="0">
                <a:solidFill>
                  <a:schemeClr val="tx1"/>
                </a:solidFill>
                <a:effectLst/>
                <a:latin typeface="+mn-lt"/>
                <a:ea typeface="+mn-ea"/>
                <a:cs typeface="+mn-cs"/>
              </a:rPr>
              <a:t>Cross-Leadership Performance Intelligence</a:t>
            </a:r>
          </a:p>
          <a:p>
            <a:endParaRPr lang="en-ZA" sz="1200" b="0" i="0" kern="1200" dirty="0">
              <a:solidFill>
                <a:schemeClr val="tx1"/>
              </a:solidFill>
              <a:effectLst/>
              <a:latin typeface="+mn-lt"/>
              <a:ea typeface="+mn-ea"/>
              <a:cs typeface="+mn-cs"/>
            </a:endParaRPr>
          </a:p>
          <a:p>
            <a:r>
              <a:rPr lang="en-ZA" sz="1200" b="1" i="0" kern="1200" cap="all" dirty="0">
                <a:solidFill>
                  <a:schemeClr val="tx1"/>
                </a:solidFill>
                <a:effectLst/>
                <a:latin typeface="+mn-lt"/>
                <a:ea typeface="+mn-ea"/>
                <a:cs typeface="+mn-cs"/>
              </a:rPr>
              <a:t>Application — In Practice</a:t>
            </a:r>
          </a:p>
          <a:p>
            <a:r>
              <a:rPr lang="en-ZA" sz="1200" b="0" i="0" kern="1200" dirty="0">
                <a:solidFill>
                  <a:schemeClr val="tx1"/>
                </a:solidFill>
                <a:effectLst/>
                <a:latin typeface="+mn-lt"/>
                <a:ea typeface="+mn-ea"/>
                <a:cs typeface="+mn-cs"/>
              </a:rPr>
              <a:t>Applying the Four Consequences of Weak Review Discipline</a:t>
            </a:r>
          </a:p>
          <a:p>
            <a:endParaRPr lang="en-ZA"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SECTION 1 · AWARENESS — WHAT</a:t>
            </a:r>
          </a:p>
          <a:p>
            <a:r>
              <a:t>What is Performance Measurement?</a:t>
            </a:r>
          </a:p>
          <a:p>
            <a:r>
              <a:t>Establishing performance measurement as an execution visibility discipline — and introducing the Review–Realign–Restore Cycle as the mechanism that keeps strategy correctable.</a:t>
            </a:r>
          </a:p>
          <a:p/>
          <a:p>
            <a:r>
              <a:t>Section learning outcomes:</a:t>
            </a:r>
          </a:p>
          <a:p>
            <a:r>
              <a:t>1. Evaluate whether reported activity demonstrates genuine strategic progress.</a:t>
            </a:r>
          </a:p>
          <a:p>
            <a:r>
              <a:t>2. Use performance evidence to determine timely realignment and corrective action.</a:t>
            </a:r>
          </a:p>
          <a:p/>
          <a:p>
            <a:r>
              <a:t>HOW TO TEACH THE SECTION:</a:t>
            </a:r>
          </a:p>
          <a:p>
            <a:r>
              <a:t>Open with the core provocation: "Work is happening. Teams are busy. Initiatives are underway. </a:t>
            </a:r>
          </a:p>
          <a:p>
            <a:r>
              <a:t>But can you confidently say the work being done is actually advancing the strategy?" </a:t>
            </a:r>
          </a:p>
          <a:p>
            <a:r>
              <a:t>This question unlocks the gap that this entire unit addresses — the difference between activity visibility and progress visibility.</a:t>
            </a:r>
          </a:p>
          <a:p/>
          <a:p>
            <a:r>
              <a:t>TEACHING NOTES FROM THE FACILITATOR GUIDE:</a:t>
            </a:r>
          </a:p>
          <a:p>
            <a:r>
              <a:t>1.1 · The Execution Visibility Infrastructure. Open with the provocation: "Work is happening. Teams are busy. Initiatives are underway. But can you confidently say the work being done is actually advancing the strategy?" Then teach performance measurement as the visibility infrastructure of the strategy: without it, strategy stays interpretive, each function develops its own sense of progress and activity is mistaken for advancement. The shift to land is from "What work was done?" to "What changed because of the work?", in people performance and in organisational performance.</a:t>
            </a:r>
          </a:p>
          <a:p>
            <a:r>
              <a:t>1.2 · The Four Strategic Purposes. Teach execution rhythm first: regular reviews reveal the subtle signals early and prevent the most common leadership surprise, discovering failure at the end of the reporting period. Then teach the four purposes one card at a time, each from both sides. Most leaders can name visibility and accountability; fewer name execution intelligence (data interpreted into decision insight through disciplined conversation) and timely correction.</a:t>
            </a:r>
          </a:p>
          <a:p>
            <a:r>
              <a:t>1.3 · From Performance Measurement to Execution Recovery. Link the four purposes to the Review–Realign–Restore Cycle (R3): Review brings together visibility, accountability and execution intelligence; Realign diagnoses the gap; Restore activates timely correction. Teach each stage for people performance and organisational performance. Name the outcome of each stage, and close on how the cycle stays continuous: the next Review checks whether the corrective actions worked.</a:t>
            </a:r>
          </a:p>
          <a:p>
            <a:r>
              <a:t>1.4 · The Accountability Loop. Start from the default response to a gap: pushing harder. The key facilitation moment is when leaders understand that most performance gaps have a diagnosable cause, and that the three root causes (accountability, skill, structural misfit) require different responses. Help leaders distinguish between team members who cannot perform and those who will not: inability needs development, and unwillingness needs accountability. Then teach how each recovery is achieved through the GROW model of Unit 7 (Goal, Reality, Options, Will). Close on keeping the performance conversation separate from the role conversation.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1.1 — THE EXECUTION VISIBILITY INFRASTRUCTURE (Core concept)</a:t>
            </a:r>
          </a:p>
          <a:p/>
          <a:p>
            <a:r>
              <a:t>Content:</a:t>
            </a:r>
          </a:p>
          <a:p>
            <a:r>
              <a:t>The performance management system has been set and mechanisms for establishing performance are in place. </a:t>
            </a:r>
          </a:p>
          <a:p>
            <a:r>
              <a:t>Commitments have been secured. Now the most important discipline of execution begins.</a:t>
            </a:r>
          </a:p>
          <a:p>
            <a:r>
              <a:t>Strategy execution fails at the level of visibility. </a:t>
            </a:r>
          </a:p>
          <a:p>
            <a:r>
              <a:t>Performance measurement is the discipline that makes execution visible. It answers a simple but decisive question:</a:t>
            </a:r>
          </a:p>
          <a:p>
            <a:r>
              <a:t>Are we actually moving closer to our Success in Practice? It is the execution visibility infrastructure!</a:t>
            </a:r>
          </a:p>
          <a:p/>
          <a:p/>
          <a:p>
            <a:r>
              <a:t>The visibility infrastructure: </a:t>
            </a:r>
          </a:p>
          <a:p>
            <a:r>
              <a:t>Performance measurement creates the visibility infrastructure that allows leaders to observe whether the organisation is genuinely progressing toward its strategic outcomes. Without this infrastructure, strategy remains largely interpretive. </a:t>
            </a:r>
          </a:p>
          <a:p>
            <a:r>
              <a:t>Each function develops its own sense of progress. </a:t>
            </a:r>
          </a:p>
          <a:p>
            <a:r>
              <a:t>Activity becomes mistaken for advancement. Energy is expended, but the connection to the enterprise result becomes difficult to see.</a:t>
            </a:r>
          </a:p>
          <a:p>
            <a:r>
              <a:t>Performance measurement restores that line of sight. </a:t>
            </a:r>
          </a:p>
          <a:p>
            <a:r>
              <a:t>It allows the organisation to move from activity visibility to progress visibility.</a:t>
            </a:r>
          </a:p>
          <a:p/>
          <a:p>
            <a:r>
              <a:t>Most organisations are extremely good at measuring activity: how many projects were launched, how many meetings were held, how many deliverables were completed. </a:t>
            </a:r>
          </a:p>
          <a:p>
            <a:r>
              <a:t>These indicators provide evidence that work is occurring. But activity alone does not indicate whether the organisation is actually moving closer to the strategic outcome it set out to achieve.</a:t>
            </a:r>
          </a:p>
          <a:p/>
          <a:p>
            <a:r>
              <a:t>Performance measurement therefore asks a different set of questions. </a:t>
            </a:r>
          </a:p>
          <a:p>
            <a:r>
              <a:t>The question moves from "What work was done?" to "What changed because of the work?“</a:t>
            </a:r>
          </a:p>
          <a:p>
            <a:r>
              <a:t> The organisation examines evidence of progress. This shift transforms performance management from an administrative reporting exercise into an execution intelligence system.</a:t>
            </a:r>
          </a:p>
          <a:p/>
          <a:p/>
          <a:p/>
          <a:p>
            <a:r>
              <a:t>PEOPLE PERFORMANCE AND ORGANISATIONAL PERFORMANCE:</a:t>
            </a:r>
          </a:p>
          <a:p>
            <a:r>
              <a:t>The visibility infrastructure.</a:t>
            </a:r>
          </a:p>
          <a:p>
            <a:r>
              <a:t>People performance: leaders see whether individuals and teams are moving their KPIs, OKRs and behaviours toward the enterprise result.</a:t>
            </a:r>
          </a:p>
          <a:p>
            <a:r>
              <a:t>Organisational performance: leaders see whether the organisational conditions support the execution of the individuals' tasks. These conditions are the Environment, Systems, Resources and Governance (ESRG) agreed in Unit 6.</a:t>
            </a:r>
          </a:p>
          <a:p>
            <a:r>
              <a:t>From activity to progress.</a:t>
            </a:r>
          </a:p>
          <a:p>
            <a:r>
              <a:t>People performance: the question moves from "How busy are our people?" to "What has their work changed in the Key Result?"</a:t>
            </a:r>
          </a:p>
          <a:p>
            <a:r>
              <a:t>Organisational performance: the question moves from "Has the support been put in place?" to "Does the support enable the individuals' tasks to move the Key Result?"</a:t>
            </a:r>
          </a:p>
          <a:p/>
          <a:p>
            <a:r>
              <a:t>What activity measures give: Counts of projects launched, meetings held, campaigns executed and deliverables completed create a sense of operational movement.</a:t>
            </a:r>
          </a:p>
          <a:p/>
          <a:p>
            <a:r>
              <a:t>Professional insights:</a:t>
            </a:r>
          </a:p>
          <a:p/>
          <a:p>
            <a:r>
              <a:t>Finished or settled: Many costly strategic decisions are made quietly mid-execution, when the team decides that what has been done is probably enough. Audit the exits: where exactly did we decide to stop, and why? The gap between results and potential often sits at that point.</a:t>
            </a:r>
          </a:p>
          <a:p>
            <a:r>
              <a:t>Source: Journal, 25 June 2026 — Professional Insights: Strategy</a:t>
            </a:r>
          </a:p>
          <a:p/>
          <a:p>
            <a:r>
              <a:t>Understanding and action: A culture that rewards understanding without requiring corresponding action trains people to be articulate more than effective. Check whether people acted on what they understood.</a:t>
            </a:r>
          </a:p>
          <a:p>
            <a:r>
              <a:t>Source: Journal, 8 June 2026 — Professional Insights: Culture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1.2 — THE FOUR STRATEGIC PURPOSES OF PERFORMANCE MEASUREMENT</a:t>
            </a:r>
          </a:p>
          <a:p/>
          <a:p>
            <a:r>
              <a:t>Content:</a:t>
            </a:r>
          </a:p>
          <a:p>
            <a:r>
              <a:t>Performance measurement creates execution rhythm. Most strategic outcomes are the result of cumulative progress built over time. </a:t>
            </a:r>
          </a:p>
          <a:p>
            <a:r>
              <a:t>Regular review cycles allow leaders to notice the subtle signals that indicate whether execution is strengthening or weakening. </a:t>
            </a:r>
          </a:p>
          <a:p>
            <a:r>
              <a:t>Momentum may begin to accelerate in one area while slowing in another. </a:t>
            </a:r>
          </a:p>
          <a:p>
            <a:r>
              <a:t>Resource constraints may appear. Decision bottlenecks may surface. </a:t>
            </a:r>
          </a:p>
          <a:p>
            <a:r>
              <a:t>Capability gaps may become visible. When these signals are visible early, leaders can respond while the situation is still manageable.</a:t>
            </a:r>
          </a:p>
          <a:p>
            <a:r>
              <a:t>This rhythm prevents the most common leadership surprise in organisations: discovering performance failure only at the end of the reporting period. Performance measurement ensures that strategy is observed while it is unfolding, as well as evaluated after the fact.</a:t>
            </a:r>
          </a:p>
          <a:p/>
          <a:p>
            <a:r>
              <a:t>At its core, performance measurement serves four strategic purposes within the organisation. Select each to explore.</a:t>
            </a:r>
          </a:p>
          <a:p/>
          <a:p>
            <a:r>
              <a:t>Purpose 01 - Creates Visibility</a:t>
            </a:r>
          </a:p>
          <a:p>
            <a:r>
              <a:t>Leaders can observe where the organisation is gaining momentum and where it is stalling. </a:t>
            </a:r>
          </a:p>
          <a:p>
            <a:r>
              <a:t>Strategic priorities that once existed only as intentions begin to appear as measurable progress signals. </a:t>
            </a:r>
          </a:p>
          <a:p>
            <a:r>
              <a:t>Without measurement, leaders are flying blind — confident in effort but uncertain about direction.</a:t>
            </a:r>
          </a:p>
          <a:p>
            <a:r>
              <a:t>Facilitator prompt: “Where in your organisation does execution happen in the dark? </a:t>
            </a:r>
          </a:p>
          <a:p>
            <a:r>
              <a:t>Where are you most likely to be surprised at the end of a reporting period?”</a:t>
            </a:r>
          </a:p>
          <a:p/>
          <a:p>
            <a:r>
              <a:t>Purpose 02- Establishes Accountability</a:t>
            </a:r>
          </a:p>
          <a:p>
            <a:r>
              <a:t>Strategic completion requires tracking every component of the declared goal, including the parts that bring no visible victory. Record what has been accomplished as evidence that commitments are being kept.</a:t>
            </a:r>
          </a:p>
          <a:p>
            <a:r>
              <a:t>Leaders and teams understand which part of the strategy they are responsible for advancing. </a:t>
            </a:r>
          </a:p>
          <a:p>
            <a:r>
              <a:t>Accountability without measurement is aspiration without a feedback loop — it depends entirely on personal commitment, with no organisational structure behind it.</a:t>
            </a:r>
          </a:p>
          <a:p>
            <a:r>
              <a:t>Facilitator prompt: “If your KPIs disappeared from your scorecard but the targets remained unchanged — how many would still be actively owned?”</a:t>
            </a:r>
          </a:p>
          <a:p/>
          <a:p>
            <a:r>
              <a:t>Purpose 03- Execution intelligence: </a:t>
            </a:r>
          </a:p>
          <a:p>
            <a:r>
              <a:t>At this point, performance measurement begins to evolve beyond data collection. It becomes execution intelligence. Data on its own rarely improves performance. Numbers simply describe what has happened. Insight emerges only when those numbers are interpreted through disciplined conversation. Performance measurement therefore transforms data into decision insight.</a:t>
            </a:r>
          </a:p>
          <a:p>
            <a:r>
              <a:t>Each review cycle helps leaders answer three essential questions:</a:t>
            </a:r>
          </a:p>
          <a:p>
            <a:r>
              <a:t>1. What progress has been achieved since the last review?</a:t>
            </a:r>
          </a:p>
          <a:p>
            <a:r>
              <a:t>2. What obstacles are preventing further progress?</a:t>
            </a:r>
          </a:p>
          <a:p>
            <a:r>
              <a:t>3. What adjustment will restore momentum toward the target?</a:t>
            </a:r>
          </a:p>
          <a:p>
            <a:r>
              <a:t>Through these conversations, performance management becomes a learning system. Teams develop a deeper understanding of how strategy unfolds in practice. Leaders strengthen their ability to guide execution through uncertainty and complexity.</a:t>
            </a:r>
          </a:p>
          <a:p/>
          <a:p>
            <a:r>
              <a:t>Purpose 04- Enables Timely Correction</a:t>
            </a:r>
          </a:p>
          <a:p>
            <a:r>
              <a:t>Early signals allow teams to intervene while progress is still recoverable. </a:t>
            </a:r>
          </a:p>
          <a:p>
            <a:r>
              <a:t>Problems are addressed when they are small enough to resolve. </a:t>
            </a:r>
          </a:p>
          <a:p>
            <a:r>
              <a:t>This purpose is why measurement frequency matters: a signal detected in week four is fundamentally different from the same signal detected in week twelve.</a:t>
            </a:r>
          </a:p>
          <a:p>
            <a:r>
              <a:t>Facilitator prompt: “What is the average gap in your organisation between when a performance problem begins and when leadership first becomes aware of it? What does that gap cost?”</a:t>
            </a:r>
          </a:p>
          <a:p/>
          <a:p>
            <a:r>
              <a:t>PEOPLE PERFORMANCE AND ORGANISATIONAL PERFORMANCE IN EACH PURPOSE:</a:t>
            </a:r>
          </a:p>
          <a:p>
            <a:r>
              <a:t>01 · Creates Visibility. People performance: where individuals' and teams' KPIs are gaining momentum and where they are stalling. Organisational performance: where the organisational conditions are supporting the execution of the tasks, and where they are holding it back.</a:t>
            </a:r>
          </a:p>
          <a:p>
            <a:r>
              <a:t>02 · Establishes Accountability. People performance: individuals and teams know which part of the strategy they are responsible for advancing, and their delivery is recorded as evidence. Organisational performance: leaders account for whether the organisational conditions they undertook to provide in Unit 7 support the execution of the individuals' tasks.</a:t>
            </a:r>
          </a:p>
          <a:p>
            <a:r>
              <a:t>03 · Execution Intelligence. People performance: the review learns what accelerates and what slows the progress of individuals and teams. Organisational performance: the review learns which organisational conditions enable execution and which constrain it.</a:t>
            </a:r>
          </a:p>
          <a:p>
            <a:r>
              <a:t>04 · Enables Timely Correction. People performance: an early signal in an individual's progress lets the leader intervene while the KPI is still recoverable. Organisational performance: an early signal in an organisational condition, such as a system outage, a capacity shortfall or a delayed decision, lets the leader responsible act before the individuals' delivery is affected.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1.3 — FROM PERFORMANCE MEASUREMENT TO EXECUTION RECOVERY (the Review–Realign–Restore Cycle, R3)</a:t>
            </a:r>
          </a:p>
          <a:p/>
          <a:p>
            <a:r>
              <a:t>In Section 1.2, we established that performance measurement serves four strategic purposes: creating visibility, establishing accountability, generating execution intelligence and enabling timely correction.</a:t>
            </a:r>
          </a:p>
          <a:p/>
          <a:p>
            <a:r>
              <a:t>These four purposes work together to help leaders understand how strategy is progressing and where intervention is required.</a:t>
            </a:r>
          </a:p>
          <a:p>
            <a:r>
              <a:t>But identifying a performance gap does not automatically resolve it. </a:t>
            </a:r>
          </a:p>
          <a:p>
            <a:r>
              <a:t>Leaders need a disciplined process for interpreting what the evidence reveals, identifying what needs attention and ensuring that corrective decisions translate into improved execution.</a:t>
            </a:r>
          </a:p>
          <a:p/>
          <a:p>
            <a:r>
              <a:t>Within the S2R® system, this process is called the Review–Realign–Restore Cycle (R3).</a:t>
            </a:r>
          </a:p>
          <a:p>
            <a:r>
              <a:t>The cycle provides a recurring leadership rhythm through which performance evidence is examined, execution gaps are addressed and progress is restored.</a:t>
            </a:r>
          </a:p>
          <a:p>
            <a:r>
              <a:t>Stage 1 — Review: Establish Execution Reality</a:t>
            </a:r>
          </a:p>
          <a:p>
            <a:r>
              <a:t>Review brings together the first three purposes of performance measurement: visibility, accountability and execution intelligence.</a:t>
            </a:r>
          </a:p>
          <a:p>
            <a:r>
              <a:t>The KPI owner assesses progress against agreed targets and submits evidence of what has been achieved. </a:t>
            </a:r>
          </a:p>
          <a:p>
            <a:r>
              <a:t>The leader independently reviews the same KPI, bringing a broader organisational perspective.</a:t>
            </a:r>
          </a:p>
          <a:p>
            <a:r>
              <a:t>Together, they establish a shared understanding of execution reality.</a:t>
            </a:r>
          </a:p>
          <a:p>
            <a:r>
              <a:t>Three questions guide the conversation:</a:t>
            </a:r>
          </a:p>
          <a:p>
            <a:r>
              <a:t>What progress has been achieved against the agreed target?</a:t>
            </a:r>
          </a:p>
          <a:p>
            <a:r>
              <a:t>What does the evidence tell us about performance?</a:t>
            </a:r>
          </a:p>
          <a:p>
            <a:r>
              <a:t>Where is actual progress falling short of expectations?</a:t>
            </a:r>
          </a:p>
          <a:p>
            <a:r>
              <a:t>Outcome: A shared, evidence-based understanding of progress and any emerging performance gaps.</a:t>
            </a:r>
          </a:p>
          <a:p/>
          <a:p>
            <a:r>
              <a:t>Stage 2 — Realign: Diagnose and Address Execution Gaps</a:t>
            </a:r>
          </a:p>
          <a:p>
            <a:r>
              <a:t>Once Review establishes where progress is falling short, Realign determines what is preventing the expected performance.</a:t>
            </a:r>
          </a:p>
          <a:p>
            <a:r>
              <a:t>The leader activates the S2R® Accountability Loop to investigate whether the gap arises from:</a:t>
            </a:r>
          </a:p>
          <a:p>
            <a:r>
              <a:t>Ownership: The individual understands the responsibility but has lost connection to its purpose or accountability.</a:t>
            </a:r>
          </a:p>
          <a:p>
            <a:r>
              <a:t>Capability: The individual is committed but lacks the skills or support required to deliver.</a:t>
            </a:r>
          </a:p>
          <a:p>
            <a:r>
              <a:t>Role or structural constraints: The responsibilities, resources or organisational conditions are preventing effective execution.</a:t>
            </a:r>
          </a:p>
          <a:p>
            <a:r>
              <a:t>The leader and KPI owner identify an appropriate intervention, which may include renewed ownership, coaching, additional support or structural adjustments.</a:t>
            </a:r>
          </a:p>
          <a:p>
            <a:r>
              <a:t>Outcome: A clear understanding of the underlying performance constraint and an agreed corrective response.</a:t>
            </a:r>
          </a:p>
          <a:p/>
          <a:p>
            <a:r>
              <a:t>Stage 3 — Restore: Rebuild Execution Momentum</a:t>
            </a:r>
          </a:p>
          <a:p>
            <a:r>
              <a:t>Restore activates the fourth purpose of performance measurement: timely correction.</a:t>
            </a:r>
          </a:p>
          <a:p>
            <a:r>
              <a:t>The agreed intervention is translated into concrete execution commitments. </a:t>
            </a:r>
          </a:p>
          <a:p>
            <a:r>
              <a:t>The leader and KPI owner establish what must happen next, who is responsible and when progress will be reviewed.</a:t>
            </a:r>
          </a:p>
          <a:p>
            <a:r>
              <a:t>At this stage, they:</a:t>
            </a:r>
          </a:p>
          <a:p>
            <a:r>
              <a:t>Agree on corrective actions and expected progress.</a:t>
            </a:r>
          </a:p>
          <a:p>
            <a:r>
              <a:t>Reaffirm responsibilities and accountability.</a:t>
            </a:r>
          </a:p>
          <a:p>
            <a:r>
              <a:t>Establish follow-up timelines and support requirements.</a:t>
            </a:r>
          </a:p>
          <a:p>
            <a:r>
              <a:t>Update the KPI alignment state to reflect whether clarity, capability and ownership have been restored.</a:t>
            </a:r>
          </a:p>
          <a:p>
            <a:r>
              <a:t>Restoring momentum requires renewed commitment to the intended outcome, supported by the conditions necessary to achieve it.</a:t>
            </a:r>
          </a:p>
          <a:p>
            <a:r>
              <a:t>Outcome: A clear recovery pathway, renewed execution ownership and agreed follow-through.</a:t>
            </a:r>
          </a:p>
          <a:p/>
          <a:p>
            <a:r>
              <a:t>How the Cycle Remains Continuous</a:t>
            </a:r>
          </a:p>
          <a:p>
            <a:r>
              <a:t>The next Review examines whether the corrective actions have produced the expected improvement. If gaps remain, the cycle continues until execution returns to the required trajectory.</a:t>
            </a:r>
          </a:p>
          <a:p/>
          <a:p>
            <a:r>
              <a:t>THE CYCLE APPLIES TO PEOPLE PERFORMANCE AND ORGANISATIONAL PERFORMANCE:</a:t>
            </a:r>
          </a:p>
          <a:p>
            <a:r>
              <a:t>Review. People performance: the individual and the leader establish the progress made against the agreed target. Organisational performance: the leader brings the agreed measures or evidence of readiness for the organisational conditions, and the review establishes whether those conditions support the execution of the individuals' tasks.</a:t>
            </a:r>
          </a:p>
          <a:p>
            <a:r>
              <a:t>Realign. People performance: the Accountability Loop (part 1.4) diagnoses what is preventing the individual's expected performance. Organisational performance: the leader determines what is preventing an organisational condition from supporting the execution of the individuals' tasks, and agrees the response.</a:t>
            </a:r>
          </a:p>
          <a:p>
            <a:r>
              <a:t>Restore. People performance: the individual commits to the corrective actions and the follow-up dates. Organisational performance: the leader responsible commits to the actions on the organisational conditions, each with a review date.</a:t>
            </a:r>
          </a:p>
          <a:p>
            <a:r>
              <a:t>How the cycle remains continuous: the next Review examines both: the individuals' progress, and whether the organisational conditions now support their tasks.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1.4 — THE ACCOUNTABILITY LOOP</a:t>
            </a:r>
          </a:p>
          <a:p>
            <a:endParaRPr lang="en-GB" dirty="0"/>
          </a:p>
          <a:p>
            <a:r>
              <a:rPr lang="en-GB" b="1" dirty="0"/>
              <a:t>HOW TO TEACH IT:</a:t>
            </a:r>
          </a:p>
          <a:p>
            <a:endParaRPr lang="en-GB" dirty="0"/>
          </a:p>
          <a:p>
            <a:r>
              <a:rPr lang="en-GB" b="1" dirty="0"/>
              <a:t>1. Name the default response.</a:t>
            </a:r>
          </a:p>
          <a:p>
            <a:r>
              <a:rPr lang="en-GB" dirty="0"/>
              <a:t>Say: "Many organisations respond to performance gaps with one default response: they push harder. More urgency is applied. More pressure is introduced. Deadlines are reinforced. Pressure alone rarely solves execution challenges because pressure does not identify the underlying cause of the problem."</a:t>
            </a:r>
          </a:p>
          <a:p>
            <a:r>
              <a:rPr lang="en-GB" dirty="0"/>
              <a:t>Say: "When a gap is identified, the leader activates the Accountability Loop: a structured diagnostic process designed to restore traction and ownership without collapsing into unproductive performance pressure. Most performance gaps emerge from one of three underlying conditions, and each calls for its own recovery."</a:t>
            </a:r>
          </a:p>
          <a:p>
            <a:endParaRPr lang="en-GB" dirty="0"/>
          </a:p>
          <a:p>
            <a:r>
              <a:rPr lang="en-GB" b="1" dirty="0"/>
              <a:t>2. Name how the recovery is achieved.</a:t>
            </a:r>
          </a:p>
          <a:p>
            <a:r>
              <a:rPr lang="en-GB" dirty="0"/>
              <a:t>Say: "The leader achieves the recovery through the GROW model you used for the Alignment Dialogue in Unit 7: Goal, Reality, Options and Will. The goal of the conversation is ownership of the KPI: an alignment score of 9 or 10."</a:t>
            </a:r>
          </a:p>
          <a:p>
            <a:endParaRPr lang="en-GB" dirty="0"/>
          </a:p>
          <a:p>
            <a:r>
              <a:rPr lang="en-GB" b="1" dirty="0"/>
              <a:t>3. Teach the three root causes, one card at a time.</a:t>
            </a:r>
          </a:p>
          <a:p>
            <a:r>
              <a:rPr lang="en-GB" dirty="0"/>
              <a:t>Lack of accountability. Say: "The individual understands the task but has lost the motivational connection to it. The work may feel detached from a meaningful outcome. Competing priorities may have diluted attention. Personal energy may have shifted elsewhere. Recovery: Reconnect purpose and ownership. The leader revisits the broader organisational context of the KPI. The conversation reconnects the task to the enterprise outcome it supports, and the individual is reminded how their contribution fits into the wider organisational map. By restoring that line of sight, motivation and commitment can often be reactivated."</a:t>
            </a:r>
          </a:p>
          <a:p>
            <a:r>
              <a:rPr lang="en-GB" dirty="0"/>
              <a:t>Achieving it through GROW. Goal: Reconnect the KPI to the enterprise outcome it supports, and agree what an alignment of 9 or 10 would look like. Reality: Explore what has drawn attention away from the KPI and how the individual now sees the target. Options: The individual names how they will restore focus on the KPI among competing priorities. Will: The individual restates ownership, the actions and the follow-up date, and the leader asks the alignment question again.</a:t>
            </a:r>
          </a:p>
          <a:p>
            <a:endParaRPr lang="en-GB" dirty="0"/>
          </a:p>
          <a:p>
            <a:r>
              <a:rPr lang="en-GB" dirty="0"/>
              <a:t>Lack of skill. Say: "The individual is committed but lacks the capability required to achieve the expected level. The challenge may involve technical expertise, analytical capability, leadership skills, or process knowledge that was initially underestimated. Recovery: Develop capability, with no added pressure. Targeted coaching may be introduced. Peer support may be arranged. Formal training may be provided. In some cases the timeline attached to the KPI may also require adjustment if the capability development process requires additional time."</a:t>
            </a:r>
          </a:p>
          <a:p>
            <a:r>
              <a:rPr lang="en-GB" dirty="0"/>
              <a:t>Achieving it through GROW. Goal: Agree the result the KPI requires, the capability it calls for, and what an alignment of 9 or 10 would look like. Reality: Establish which part of the task the individual cannot yet do, and what they can already do well. Options: Choose together among targeted coaching, peer support, formal training and an adjusted timeline. Will: Agree the development plan, any adjusted milestones and the follow-up, and ask the alignment question again.</a:t>
            </a:r>
          </a:p>
          <a:p>
            <a:endParaRPr lang="en-GB" dirty="0"/>
          </a:p>
          <a:p>
            <a:r>
              <a:rPr lang="en-GB" dirty="0"/>
              <a:t>Misfit or structural constraint. Say: "The issue lies beyond motivation and skill development. The individual’s strengths do not align with the specific responsibilities, or the role requires capabilities that the individual does not naturally bring to the task. Recovery: Structural alignment. The task may be redistributed across the team. Responsibilities may be adjusted. In some situations the individual may be repositioned into a role that better aligns with their strengths."</a:t>
            </a:r>
          </a:p>
          <a:p>
            <a:r>
              <a:rPr lang="en-GB" dirty="0"/>
              <a:t>Achieving it through GROW. Goal: Agree the outcome the KPI must deliver, whoever delivers it. Reality: Establish where the demands of the role and the strengths of the individual, or the structure around them, do not match. Options: Consider redistributing the task, adjusting responsibilities or, in a separate role conversation, repositioning the individual. Will: Agree the structural change, who decides it and by when, and ask the alignment question again with whoever now owns the KPI.</a:t>
            </a:r>
          </a:p>
          <a:p>
            <a:endParaRPr lang="en-GB" dirty="0"/>
          </a:p>
          <a:p>
            <a:r>
              <a:rPr lang="en-GB" dirty="0"/>
              <a:t>Then say: "Every recovery closes with the alignment question asked again: on a scale of 1 to 10, where is your alignment now?"</a:t>
            </a:r>
          </a:p>
          <a:p>
            <a:r>
              <a:rPr lang="en-GB" dirty="0"/>
              <a:t>Then say: "Leaders must distinguish between team members who cannot perform and those who will not. Inability needs development, and unwillingness needs accountability." (Journal, 7 January 2026, Professional Insights: Leadership)</a:t>
            </a:r>
          </a:p>
          <a:p>
            <a:r>
              <a:rPr lang="en-GB" dirty="0"/>
              <a:t>With the third card, say: "Avoid assuming that every negative outcome proves individual failure, or that every positive outcome proves sound practice." (Journal, 18 August 2026, Professional Insights: Strategy)</a:t>
            </a:r>
          </a:p>
          <a:p>
            <a:endParaRPr lang="en-GB" dirty="0"/>
          </a:p>
          <a:p>
            <a:r>
              <a:rPr lang="en-GB" b="1" dirty="0"/>
              <a:t>4. Keep the two conversations separate.</a:t>
            </a:r>
          </a:p>
          <a:p>
            <a:r>
              <a:rPr lang="en-GB" dirty="0"/>
              <a:t>Say: "The performance conversation must remain separate from the role conversation. Performance discussions focus on progress toward outcomes. Role alignment discussions focus on placing individuals where their capabilities can generate the greatest organisational value. By maintaining this distinction, the organisation protects both fairness and clarity."</a:t>
            </a:r>
          </a:p>
          <a:p>
            <a:r>
              <a:rPr lang="en-GB" dirty="0"/>
              <a:t>Say: "Accountability works when it is specific and behaviour-based. Vague, general assessments of character produce no specific correction." (Journal, 8 April 2026, Professional Insights: Culture)</a:t>
            </a:r>
          </a:p>
          <a:p>
            <a:endParaRPr lang="en-GB" dirty="0"/>
          </a:p>
          <a:p>
            <a:r>
              <a:rPr lang="en-GB" b="1" dirty="0"/>
              <a:t>5. Ask, now that the loop is taught.</a:t>
            </a:r>
          </a:p>
          <a:p>
            <a:r>
              <a:rPr lang="en-GB" dirty="0"/>
              <a:t>Ask: "Think of a performance gap in your area. Which of the three root causes sits behind it, and what evidence tells you so?" Take two or three answers in the chat.</a:t>
            </a:r>
          </a:p>
          <a:p>
            <a:endParaRPr lang="en-GB" dirty="0"/>
          </a:p>
          <a:p>
            <a:r>
              <a:rPr lang="en-GB" b="1" dirty="0"/>
              <a:t>ON THE PORTAL, AFTER THE TEACHING:</a:t>
            </a:r>
          </a:p>
          <a:p>
            <a:r>
              <a:rPr lang="en-GB" dirty="0"/>
              <a:t>Participants write the reflection at the foot of part 1.4: the stage of the Review–Realign–Restore Cycle a current gap sits in, and the root cause they would most likely diagnose.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SECTION 2 · INTELLIGENCE — WHY</a:t>
            </a:r>
          </a:p>
          <a:p>
            <a:r>
              <a:t>Why Performance Measurement Determines Execution Velocity</a:t>
            </a:r>
          </a:p>
          <a:p/>
          <a:p>
            <a:r>
              <a:t>SECTION LEARNING OUTCOMES:</a:t>
            </a:r>
          </a:p>
          <a:p>
            <a:r>
              <a:t>1. Lead a consistent review rhythm that sustains execution momentum.</a:t>
            </a:r>
          </a:p>
          <a:p>
            <a:r>
              <a:t>2. Detect weakening review discipline and intervene before performance deteriorates.</a:t>
            </a:r>
          </a:p>
          <a:p/>
          <a:p>
            <a:r>
              <a:t>HOW TO OPEN THE SECTION:</a:t>
            </a:r>
          </a:p>
          <a:p/>
          <a:p>
            <a:r>
              <a:t>1. Name the shift.</a:t>
            </a:r>
          </a:p>
          <a:p>
            <a:r>
              <a:t>Say: "This section moves from measurement as a tool to measurement as a leadership discipline. The rhythm of review conversations is itself a strategic capability."</a:t>
            </a:r>
          </a:p>
          <a:p/>
          <a:p>
            <a:r>
              <a:t>2. Preview the chain.</a:t>
            </a:r>
          </a:p>
          <a:p>
            <a:r>
              <a:t>Say: "When that rhythm weakens, four consequences follow, and they are cumulative. Missed early warnings lead to diffused accountability; diffused accountability suppresses learning; suppressed learning erodes leadership credibility."</a:t>
            </a:r>
          </a:p>
          <a:p/>
          <a:p>
            <a:r>
              <a:t>3. Say where it goes.</a:t>
            </a:r>
          </a:p>
          <a:p>
            <a:r>
              <a:t>Say: "Section 5 returns to these four consequences. There, your group sets the decision points that guard against them."</a:t>
            </a:r>
          </a:p>
          <a:p/>
          <a:p>
            <a:r>
              <a:t>TEACHING NOTES FROM THE FACILITATOR GUIDE:</a:t>
            </a:r>
          </a:p>
          <a:p>
            <a:r>
              <a:t>2.1 · Execution velocity. Open with the question "What determines the velocity of the flight?" and teach execution velocity: the rate at which an organisation converts strategic intent into measurable results, shaped by how quickly leaders detect, understand, decide and act. Performance measurement provides the evidence; review discipline converts it into timely decisions.</a:t>
            </a:r>
          </a:p>
          <a:p>
            <a:r>
              <a:t>2.1 · Four Consequences of Weak Review Discipline. Teach the four consequences as one chain, one card at a time, each in people performance and in organisational performance. Ask the question on each card once the card is taught, so participants recognise the chain in their own organisations.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2.1 — FOUR CONSEQUENCES OF WEAK REVIEW DISCIPLINE</a:t>
            </a:r>
          </a:p>
          <a:p/>
          <a:p>
            <a:r>
              <a:t>What determines the velocity of the flight?</a:t>
            </a:r>
          </a:p>
          <a:p>
            <a:r>
              <a:t>An aircraft's progress depends on continuously interpreting evidence and acting at the appropriate time. A changing wind condition, fuel concern, missed altitude restriction or unstable approach calls for a different decision.</a:t>
            </a:r>
          </a:p>
          <a:p>
            <a:r>
              <a:t>These decisions cannot all be deferred until landing. By then, the opportunity to respond to an earlier condition may have passed.</a:t>
            </a:r>
          </a:p>
          <a:p>
            <a:r>
              <a:t>The same principle applies to strategy execution.</a:t>
            </a:r>
          </a:p>
          <a:p>
            <a:r>
              <a:t>Execution velocity is the rate at which an organisation converts strategic intent into measurable results. That rate is shaped by how quickly leaders detect progress or deviation, understand its causes, make decisions and translate those decisions into action.</a:t>
            </a:r>
          </a:p>
          <a:p>
            <a:r>
              <a:t>Performance measurement provides the evidence. Review discipline converts that evidence into timely decisions.</a:t>
            </a:r>
          </a:p>
          <a:p>
            <a:r>
              <a:t>This is why organisations can have well-designed strategies, clearly assigned KPIs and detailed execution plans, yet still experience slow progress. The measures may exist, but the rhythm of examining them, resolving constraints and adjusting execution may be weak.</a:t>
            </a:r>
          </a:p>
          <a:p>
            <a:r>
              <a:t>2 — Four Consequences of Weak Review Discipline</a:t>
            </a:r>
          </a:p>
          <a:p>
            <a:r>
              <a:t>When performance reviews become irregular or superficial, the organisation loses the discipline that keeps execution moving. Four predictable consequences emerge.</a:t>
            </a:r>
          </a:p>
          <a:p>
            <a:r>
              <a:t>Consequence 01 — Early Warning Signals Are Missed</a:t>
            </a:r>
          </a:p>
          <a:p>
            <a:r>
              <a:t>Execution problems usually begin with small deviations: a missed milestone, a growing bottleneck or a capability gap. In aviation, these are comparable to performance indications that require attention well before the aircraft reaches a critical decision point.</a:t>
            </a:r>
          </a:p>
          <a:p>
            <a:r>
              <a:t>When leaders review performance too late, minor deviations become major delivery problems. The organisation loses valuable time to intervene.</a:t>
            </a:r>
          </a:p>
          <a:p>
            <a:r>
              <a:t>Velocity impact: Corrections become slower, more expensive and more disruptive.</a:t>
            </a:r>
          </a:p>
          <a:p>
            <a:r>
              <a:t>Facilitator prompt: "How long does it usually take your organisation to recognise and act on an execution problem? What happens to momentum during that delay?"</a:t>
            </a:r>
          </a:p>
          <a:p>
            <a:r>
              <a:t>Consequence 02 — Accountability Gradually Weakens</a:t>
            </a:r>
          </a:p>
          <a:p>
            <a:r>
              <a:t>In aviation, responsibilities and procedures remain active throughout the journey. The crew cannot treat the flight plan as an intention that no longer requires attention.</a:t>
            </a:r>
          </a:p>
          <a:p>
            <a:r>
              <a:t>Similarly, KPIs lose their operational force when leaders stop discussing them. Owners begin to interpret the absence of review as reduced priority. Commitments remain documented, but the urgency to deliver fades.</a:t>
            </a:r>
          </a:p>
          <a:p>
            <a:r>
              <a:t>Velocity impact: Follow-through weakens, decisions are delayed and delivery commitments begin to slip.</a:t>
            </a:r>
          </a:p>
          <a:p>
            <a:r>
              <a:t>Facilitator prompt: "Which KPIs in your organisation are actively managed, and which are simply recorded on a scorecard?"</a:t>
            </a:r>
          </a:p>
          <a:p>
            <a:r>
              <a:t>Consequence 03 — Organisational Learning Is Lost</a:t>
            </a:r>
          </a:p>
          <a:p>
            <a:r>
              <a:t>Flight crews and airlines use operational data and post-flight reviews to understand deviations and improve future performance.</a:t>
            </a:r>
          </a:p>
          <a:p>
            <a:r>
              <a:t>Organisations also generate learning through execution. Each review can reveal which methods are working, where dependencies are failing and what adjustments improve results. When reviews become reporting exercises, this knowledge is seldom translated into better decisions or routines.</a:t>
            </a:r>
          </a:p>
          <a:p>
            <a:r>
              <a:t>Velocity impact: Teams repeat avoidable mistakes and execution capability improves slowly.</a:t>
            </a:r>
          </a:p>
          <a:p>
            <a:r>
              <a:t>Facilitator prompt: "What have your performance reviews taught your organisation about how to improve execution over the past year?"</a:t>
            </a:r>
          </a:p>
          <a:p>
            <a:r>
              <a:t>Consequence 04 — Leadership Credibility Erodes</a:t>
            </a:r>
          </a:p>
          <a:p>
            <a:r>
              <a:t>A flight plan is credible because the crew actively manages the journey against it. Every stage requires attention to the destination, operating conditions and agreed procedures.</a:t>
            </a:r>
          </a:p>
          <a:p>
            <a:r>
              <a:t>Strategic commitments work similarly. When leaders announce priorities but rarely return to them in performance discussions, teams learn that the organisation's stated ambitions do not consistently shape management attention.</a:t>
            </a:r>
          </a:p>
          <a:p>
            <a:r>
              <a:t>Velocity impact: Strategic urgency declines, cross-functional commitment weakens and execution loses collective momentum.</a:t>
            </a:r>
          </a:p>
          <a:p>
            <a:r>
              <a:t>Facilitator prompt: "What do your teams learn about strategic priorities from what leadership consistently reviews?"</a:t>
            </a:r>
          </a:p>
          <a:p/>
          <a:p/>
          <a:p>
            <a:r>
              <a:t>PEOPLE PERFORMANCE AND ORGANISATIONAL PERFORMANCE IN EACH CONSEQUENCE:</a:t>
            </a:r>
          </a:p>
          <a:p/>
          <a:p>
            <a:r>
              <a:t>01 · Early Warning Signals Are Missed</a:t>
            </a:r>
          </a:p>
          <a:p>
            <a:r>
              <a:t>People performance: early warnings in people performance show in the review conversation before they show in the KPI. Three patterns recur. The quality of evidence falls: results give way to explanations, and percentages arrive without the evidence behind them. Alignment drifts: the individual who rated alignment at 9 when the target was agreed now gives short, guarded answers about the target, and no one asks the alignment question again. Effort migrates: the individual's time moves to work that senior leaders ask about, and the KPI receives what is left. Each pattern leads a missed KPI by weeks. A leader who reviews monthly sees it as a trend across two or three conversations; a leader who reviews at quarter end sees the result alone. The difference is the recovery available: a capability gap seen in week four can be met with coaching; the same gap seen in week twelve leaves a revised target.</a:t>
            </a:r>
          </a:p>
          <a:p>
            <a:r>
              <a:t>Organisational performance: an early warning in organisational performance is evidence that an organisational condition has started to weaken in its support for the individuals' tasks. It seldom carries a number of its own, so the review sees it only when it asks for it.</a:t>
            </a:r>
          </a:p>
          <a:p>
            <a:r>
              <a:t>Resources · workforce capacity. A contact centre carries a customer-retention Key Result. Two agents resign and their posts stay open for a quarter. The remaining team covers the volume through overtime, and resolution times hold for six weeks, then fall sharply as absenteeism rises. The vacancy and the overtime were on record weeks before the KPI moved.</a:t>
            </a:r>
          </a:p>
          <a:p>
            <a:r>
              <a:t>Environment · psychological safety. In a function where raising a problem in front of senior leaders has carried a cost, team leads report amber milestones as green. The review sees on-track ratings until a milestone is missed. The warning was there all along: months without a single amber rating.</a:t>
            </a:r>
          </a:p>
          <a:p>
            <a:r>
              <a:t>Systems · data integrity. Sales, operations and finance each report from their own platform, and every cross-functional figure is consolidated by hand. The executive review works on information a week old, and a slipping delivery reaches the review after customers have already escalated it.</a:t>
            </a:r>
          </a:p>
          <a:p>
            <a:r>
              <a:t>Measures or evidence of readiness for each condition give these signals a place in the review. When the review does not ask for them, the condition shows itself through the KPI it was meant to support.</a:t>
            </a:r>
          </a:p>
          <a:p/>
          <a:p>
            <a:r>
              <a:t>02 · Gradual Diffusion of Accountability</a:t>
            </a:r>
          </a:p>
          <a:p>
            <a:r>
              <a:t>People performance: individuals read priority from the review agenda. When a KPI is absent from three reviews in a row, the conclusion is reasonable: leadership attention has moved. Accountability then weakens in three ways. The KPI is managed for appearance: updates are written to reassure, and risks are held until they can no longer be hidden. Ownership of a shared KPI spreads thin: each individual assumes another is carrying the result, and the dependencies between them belong to no one. The commitment loses its force: the commitment given when the target was agreed has not been tested since. When the gap finally surfaces, the review becomes a search for who was responsible. The Accountability Loop cannot diagnose a commitment no one has been asked about.</a:t>
            </a:r>
          </a:p>
          <a:p>
            <a:r>
              <a:t>Organisational performance: leaders make commitments on organisational conditions when targets are agreed. These commitments seldom appear on any scorecard, so they diffuse first.</a:t>
            </a:r>
          </a:p>
          <a:p>
            <a:r>
              <a:t>Resources · capability alignment. A new procurement system is introduced with the promise that every buyer will be trained. Three months later half the buyers are untrained and purchase orders take twice as long. The buyers' cycle-time KPI is reviewed every month; the training commitment has never been raised.</a:t>
            </a:r>
          </a:p>
          <a:p>
            <a:r>
              <a:t>Governance · clear accountability. A regional manager is accountable for a margin Key Result, yet every discount above a set level still needs head-office sign-off. The change to the delegation was approved in principle and never issued. The manager carries the accountability without the authority to deliver it.</a:t>
            </a:r>
          </a:p>
          <a:p>
            <a:r>
              <a:t>Individuals remain held to their targets while the support they were promised quietly lapses. Mutual accountability becomes one-sided, and individuals protect themselves: they commit to less, document more and move from commitment to compliance.</a:t>
            </a:r>
          </a:p>
          <a:p/>
          <a:p>
            <a:r>
              <a:t>03 · Loss of Organisational Learning</a:t>
            </a:r>
          </a:p>
          <a:p>
            <a:r>
              <a:t>People performance: every review produces evidence on how results are achieved, and that evidence is the raw material of the organisation's performance capability. Practices that accelerate progress: one regional team meets its targets because its manager runs a short daily huddle on the Key Result. Recorded and examined, the practice can be taught to other teams. Unexamined, it stays one manager's habit and leaves when that manager leaves. Capability gaps that recur: when the same skill gap appears in reviews across several functions, it signals a development need at enterprise level. Behaviours that strengthen ownership: reviews show which leaders' teams surface problems early and which conceal them. When reviews only record results, talent decisions, development plans and succession rest on ratings with no evidence of how the results were achieved. The organisation keeps rewarding outcomes it cannot reproduce.</a:t>
            </a:r>
          </a:p>
          <a:p>
            <a:r>
              <a:t>Organisational performance: reviews also show how the organisational conditions behave as the strategy places weight on them. The learning is cumulative: the same constraint appearing in several reviews is evidence that a condition is not yet equal to the strategy.</a:t>
            </a:r>
          </a:p>
          <a:p>
            <a:r>
              <a:t>Systems · process clarity. Three functions each report delays at the handover between sales order and dispatch. Reviewed function by function, each delay looks local. Reviewed together, they show one handover that no one is responsible for.</a:t>
            </a:r>
          </a:p>
          <a:p>
            <a:r>
              <a:t>Resources · financial support. For two years running, the budget for strategic initiatives is released in the second quarter, and each year the initiatives deliver in the second half alone. The pattern becomes visible only when reviews are compared across cycles.</a:t>
            </a:r>
          </a:p>
          <a:p>
            <a:r>
              <a:t>Governance · decision authority. Capital requests above a set value wait a month on average for an executive decision, and every Key Result that depends on one slips by about the same margin.</a:t>
            </a:r>
          </a:p>
          <a:p>
            <a:r>
              <a:t>When reviews do not capture this learning, the organisation sets its next strategy on the same conditions. Targets rise, the conditions stay where they were, and the same constraints slow execution again. This learning is the evidence the executive team needs to judge whether the organisation can carry its next level of ambition.</a:t>
            </a:r>
          </a:p>
          <a:p/>
          <a:p>
            <a:r>
              <a:t>04 · Erodes Leadership Credibility</a:t>
            </a:r>
          </a:p>
          <a:p>
            <a:r>
              <a:t>People performance: credibility is built in the review. A leader who asks for evidence every month, recognises progress and addresses shortfalls consistently shows that the priority is real. Two patterns erode it. Priorities that fade: a strategic KPI launched with energy disappears from the review agenda, and individuals conclude the announcement was symbolic. High performers, who invest most in strategic commitments, become the most sceptical, and the organisation learns to wait and see whether a priority survives its first quarter. Standards applied unevenly: some individuals' KPIs are examined closely while others are excused, often by seniority. Individuals read this as unfairness, and commitment falls across the whole team.</a:t>
            </a:r>
          </a:p>
          <a:p>
            <a:r>
              <a:t>Organisational performance: leaders make commitments when they agree organisational conditions, and individuals track these closely because their own delivery depends on them. Credibility in organisational performance is a test of fairness.</a:t>
            </a:r>
          </a:p>
          <a:p>
            <a:r>
              <a:t>Environment · values and consequences. The organisation states accountability as a value. A junior manager is challenged in the review for a missed milestone, while a senior executive's missed commitment to release staff for the same project is never raised.</a:t>
            </a:r>
          </a:p>
          <a:p>
            <a:r>
              <a:t>Environment · psychological safety. Leaders invite open reporting of risks, and the first person to raise a delivery risk in a review is questioned in front of peers. From then on, risks reach the review late.</a:t>
            </a:r>
          </a:p>
          <a:p>
            <a:r>
              <a:t>Governance · execution oversight. The executive team commits to a monthly decision forum to clear constraints, then postpones it twice in one quarter while the decisions wait.</a:t>
            </a:r>
          </a:p>
          <a:p>
            <a:r>
              <a:t>When leaders review individuals' targets and leave their own commitments unreviewed, individuals see accountability running one way. Reviewing both, to the same evidence standard, shows that leaders hold themselves to the standard they set for others.</a:t>
            </a:r>
          </a:p>
          <a:p/>
          <a:p>
            <a:r>
              <a:t>ON THE PORTAL, AFTER THE TEACHING:</a:t>
            </a:r>
          </a:p>
          <a:p>
            <a:r>
              <a:t>Participants write the reflection at the foot of part 2.1: where they have seen the velocity gap in their own setting, the point where it opened (detecting the deviation, understanding its cause, making the decision or translating it into action), the consequence that followed and what the delay cost.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SECTION 3 · EXTRAPOLATING — WHERE</a:t>
            </a:r>
          </a:p>
          <a:p>
            <a:r>
              <a:t>Where Does Performance Measurement Break Down Across Functions?</a:t>
            </a:r>
          </a:p>
          <a:p/>
          <a:p>
            <a:r>
              <a:t>SECTION LEARNING OUTCOMES:</a:t>
            </a:r>
          </a:p>
          <a:p>
            <a:r>
              <a:t>1. Diagnose cross-functional breakdowns in reviewing and interpreting performance evidence.</a:t>
            </a:r>
          </a:p>
          <a:p>
            <a:r>
              <a:t>2. Prioritise corrective action against the organisation’s most consequential measurement breakdown.</a:t>
            </a:r>
          </a:p>
          <a:p/>
          <a:p>
            <a:r>
              <a:t>HOW TO OPEN THE SECTION:</a:t>
            </a:r>
          </a:p>
          <a:p/>
          <a:p>
            <a:r>
              <a:t>1. Give the provocation.</a:t>
            </a:r>
          </a:p>
          <a:p>
            <a:r>
              <a:t>Say: "Most modern organisations have agreed goals and KPIs, dashboards, reporting tools, and performance frameworks. The breakdown usually occurs in how leaders review and interpret the measurement together."</a:t>
            </a:r>
          </a:p>
          <a:p/>
          <a:p>
            <a:r>
              <a:t>2. Say what the section holds.</a:t>
            </a:r>
          </a:p>
          <a:p>
            <a:r>
              <a:t>Say: "Part 3.1 gives the four gaps. Part 3.2 shows which executive roles most often feed each gap."</a:t>
            </a:r>
          </a:p>
          <a:p/>
          <a:p>
            <a:r>
              <a:t>3. Name the question that runs through it.</a:t>
            </a:r>
          </a:p>
          <a:p>
            <a:r>
              <a:t>Say: "The question for this section is: Is the chain of execution across our functions holding together?"</a:t>
            </a:r>
          </a:p>
          <a:p/>
          <a:p>
            <a:r>
              <a:t>TEACHING NOTES FROM THE FACILITATOR GUIDE:</a:t>
            </a:r>
          </a:p>
          <a:p>
            <a:r>
              <a:t>3.1 · Four Fractures in Performance Measurement. Teach the four gaps as observable patterns and invite participants to place their organisation honestly on each one, each with its implication for people performance and for organisational performance. The Horizontal Coordination Gap is typically the most impactful but least visible: each function may report strong progress while the enterprise outcome remains inconsistent. The Learning Suppression Gap is often the most culturally embedded and the hardest to shift, because it requires leaders to move from a judgement posture to a curiosity posture.</a:t>
            </a:r>
          </a:p>
          <a:p>
            <a:r>
              <a:t>3.2 · The CXO Performance Gap Contributors. Teach the logic of the cards first: how the role reviews performance (its meetings and its evidence), what the role does in those reviews, and what happens as a result, which opens one of the four fractures of part 3.1. Then take each participant's own role first and the two roles closest to it. Participants complete the reflection on the fracture they are most prone to as Portfolio work.</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3.1 — FOUR FRACTURES IN PERFORMANCE MEASUREMENT</a:t>
            </a:r>
          </a:p>
          <a:p/>
          <a:p>
            <a:r>
              <a:t>Content:</a:t>
            </a:r>
          </a:p>
          <a:p>
            <a:r>
              <a:t>Performance measurement is ultimately a leadership conversation discipline. When that discipline weakens, several predictable fractures appear across the organisation. Select each gap below to examine where it occurs and what it costs.</a:t>
            </a:r>
          </a:p>
          <a:p>
            <a:r>
              <a:t>Gap 01</a:t>
            </a:r>
          </a:p>
          <a:p>
            <a:r>
              <a:t>The Horizontal Coordination Gap</a:t>
            </a:r>
          </a:p>
          <a:p>
            <a:r>
              <a:t>One of the most common breakdowns occurs when performance reviews happen inside functions, with no cross-functional view. Each department reviews its KPIs independently. Finance examines financial indicators. Operations reviews throughput. Marketing examines campaign performance. Individually, these conversations may be rigorous and technically sound.</a:t>
            </a:r>
          </a:p>
          <a:p>
            <a:r>
              <a:t>But strategy execution rarely moves through a single function. Enterprise outcomes depend on interdependent execution across multiple functions. When performance reviews remain confined within functional boundaries, leaders see partial performance signals and miss the full execution pattern. Each function may report strong progress while the overall strategic outcome remains inconsistent.</a:t>
            </a:r>
          </a:p>
          <a:p>
            <a:r>
              <a:t>The leadership team, acting as the collective intelligence for execution discipline, closes this gap by introducing periodic cross-functional performance reviews where the executive team collectively examines how the KPIs across functions interact to produce enterprise outcomes.</a:t>
            </a:r>
          </a:p>
          <a:p>
            <a:r>
              <a:t>Facilitator question: “Name a strategic outcome in your organisation that required three or more functions to execute successfully. Where did the handoffs break down — and would a cross-functional review have caught it earlier?”</a:t>
            </a:r>
          </a:p>
          <a:p>
            <a:r>
              <a:t>Gap 02</a:t>
            </a:r>
          </a:p>
          <a:p>
            <a:r>
              <a:t>The Evidence Quality Gap</a:t>
            </a:r>
          </a:p>
          <a:p>
            <a:r>
              <a:t>Performance measurement loses power when review conversations rely on weak or inconsistent evidence. In some cases KPI owners present narrative explanations with no verifiable indicators. In others, the evidence reflects activity alone, with no evidence of progress toward the outcome. Sometimes information arrives too late to support timely decisions.</a:t>
            </a:r>
          </a:p>
          <a:p>
            <a:r>
              <a:t>When evidence quality declines, review conversations shift away from execution insight and toward interpretation debates. Leaders begin discussing whether the data can be trusted, and the review loses sight of what the data reveals about progress. Over time, the credibility of the performance system weakens.</a:t>
            </a:r>
          </a:p>
          <a:p>
            <a:r>
              <a:t>Closing this gap requires the leadership team, acting as the collective intelligence for execution discipline, to reinforce a simple but powerful principle: every performance review must be anchored in verifiable evidence that shows observable movement toward the outcome, is timely enough to inform decisions, and is clearly connected to the KPI, target, or Key Result being assessed.</a:t>
            </a:r>
          </a:p>
          <a:p>
            <a:r>
              <a:t>Facilitator question: “In your last performance review, what percentage of the conversation was spent debating the data versus acting on it? That ratio is a proxy for your evidence quality gap.”</a:t>
            </a:r>
          </a:p>
          <a:p>
            <a:r>
              <a:t>Gap 03</a:t>
            </a:r>
          </a:p>
          <a:p>
            <a:r>
              <a:t>The Review Rhythm Breakdown</a:t>
            </a:r>
          </a:p>
          <a:p>
            <a:r>
              <a:t>Even well-designed performance systems weaken if the organisation does not maintain a consistent rhythm of review conversations. Strategy execution unfolds over time. Progress appears gradually through incremental movement across weeks and months. If review conversations occur too infrequently, leaders lose visibility into the trajectory of that movement. Small deviations accumulate unnoticed until they become significant performance gaps.</a:t>
            </a:r>
          </a:p>
          <a:p>
            <a:r>
              <a:t>Irregular review cycles also weaken behavioural discipline. KPI owners begin to treat measurement as a reporting event.</a:t>
            </a:r>
          </a:p>
          <a:p>
            <a:r>
              <a:t>Healthy performance measurement requires a predictable organisational rhythm. Leaders know when reviews will occur. KPI owners know when evidence must be prepared. Teams expect progress to be examined regularly. This rhythm creates a cultural signal: execution progress is observed continuously.</a:t>
            </a:r>
          </a:p>
          <a:p>
            <a:r>
              <a:t>Facilitator question: “How predictable is your organisation’s review rhythm? If a KPI owner was asked to describe the review schedule without referring to a calendar, could they?”</a:t>
            </a:r>
          </a:p>
          <a:p>
            <a:r>
              <a:t>Gap 04</a:t>
            </a:r>
          </a:p>
          <a:p>
            <a:r>
              <a:t>The Learning Suppression Gap</a:t>
            </a:r>
          </a:p>
          <a:p>
            <a:r>
              <a:t>A subtle but corrosive breakdown appears when performance reviews focus exclusively on evaluation. If review conversations concentrate only on whether targets were achieved, teams often become cautious about discussing obstacles openly. People instinctively defend results and leave the deeper causes unexplored. This dynamic suppresses organisational learning.</a:t>
            </a:r>
          </a:p>
          <a:p>
            <a:r>
              <a:t>Yet strategy execution is inherently experimental. Organisations are constantly discovering what works, where friction exists, and how coordination across functions actually unfolds. Healthy performance reviews therefore balance accountability with curiosity. Leaders examine evidence rigorously, yet they also explore what the organisation is learning from execution patterns.</a:t>
            </a:r>
          </a:p>
          <a:p>
            <a:r>
              <a:t>Questions shift from “Why was the target missed?” to “What is the system teaching us about how execution actually works?” When this learning dimension becomes part of review conversations, performance measurement evolves from a scoring mechanism into a capability-building system.</a:t>
            </a:r>
          </a:p>
          <a:p>
            <a:r>
              <a:t>Facilitator question: “What is the dominant mood in your organisation’s performance review meetings — defence or curiosity? What would shift it?”</a:t>
            </a:r>
          </a:p>
          <a:p/>
          <a:p>
            <a:r>
              <a:t>Source detail (S2R® manuscript):</a:t>
            </a:r>
          </a:p>
          <a:p/>
          <a:p>
            <a:r>
              <a:t>Further detail for each gap:</a:t>
            </a:r>
          </a:p>
          <a:p>
            <a:r>
              <a:t>Gap 01 · Horizontal Coordination: In the functional reviews, Technology evaluates system delivery. Customer experience depends on marketing promises, operational delivery, technology reliability, and service responsiveness. Revenue growth depends on sales capability, product readiness, pricing discipline, and operational fulfilment.</a:t>
            </a:r>
          </a:p>
          <a:p>
            <a:r>
              <a:t>The cross-functional sessions sit alongside the functional reviews and serve a different purpose. The conversation shifts from “How is my function performing?” to “How is the execution system performing?” When leaders observe performance through this collective perspective, interdependencies become visible and coordination improves.</a:t>
            </a:r>
          </a:p>
          <a:p>
            <a:r>
              <a:t>Gap 02 · Evidence Quality: When the evidence standard becomes consistent across functions, performance conversations regain their diagnostic power. Leaders spend less time debating data and more time improving execution.</a:t>
            </a:r>
          </a:p>
          <a:p>
            <a:r>
              <a:t>Gap 03 · Review Rhythm Breakdown: Measurement is a continuous execution responsibility for KPI/KR owners. The leadership team, acting as the collective intelligence for execution discipline, protects the rhythm by ensuring that review conversations occur with the consistency required to detect early signals of drift.</a:t>
            </a:r>
          </a:p>
          <a:p>
            <a:r>
              <a:t>Gap 04 · Learning Suppression: Over time the organisation becomes more effective at measuring performance and at improving how performance is produced.</a:t>
            </a:r>
          </a:p>
          <a:p/>
          <a:p>
            <a:r>
              <a:t>IMPLICATIONS FOR PEOPLE PERFORMANCE AND FOR ORGANISATIONAL PERFORMANCE:</a:t>
            </a:r>
          </a:p>
          <a:p/>
          <a:p>
            <a:r>
              <a:t>Gap 01 · The Horizontal Coordination Gap</a:t>
            </a:r>
          </a:p>
          <a:p>
            <a:r>
              <a:t>People performance: when each function reviews its own KPIs, individuals are judged on the part of the result they control, and the hand-offs between functions are never examined. An operations planner meets every internal measure while customer orders wait at the boundary with sales. Individuals learn to optimise their own measure, and the commitments they made to other functions go unreviewed: no one is asked whether they delivered what another function needed from them. Individuals whose work depends on another function are held to results they cannot complete alone, and the review sees their shortfall without the dependency behind it.</a:t>
            </a:r>
          </a:p>
          <a:p>
            <a:r>
              <a:t>Organisational performance: the organisational conditions that span functions fall between the reviews.</a:t>
            </a:r>
          </a:p>
          <a:p>
            <a:r>
              <a:t>Systems · process clarity. The order-to-cash process runs through sales, credit control, the warehouse and finance. Each function reviews its own step and reports it on time. No review sees the end-to-end cycle, which is where the customer experiences the delay.</a:t>
            </a:r>
          </a:p>
          <a:p>
            <a:r>
              <a:t>Governance · decision authority. A non-standard customer contract needs approval from legal, finance and operations. Each reports its own turnaround as acceptable; end to end, the decision takes three weeks, and the sales Key Result absorbs the wait.</a:t>
            </a:r>
          </a:p>
          <a:p>
            <a:r>
              <a:t>The executive team sees each function's conditions as adequate while the conditions at the boundaries hold back the enterprise result.</a:t>
            </a:r>
          </a:p>
          <a:p/>
          <a:p>
            <a:r>
              <a:t>Gap 02 · The Evidence Quality Gap</a:t>
            </a:r>
          </a:p>
          <a:p>
            <a:r>
              <a:t>People performance: weak evidence harms individuals in two ways. Strong performers cannot show what their contribution changed, and weak delivery stays hidden behind narrative. When the evidence offered is activity, such as training attended or meetings held, the review rates effort. Ratings lose credibility with the individuals themselves, and the performance standard agreed at the start of the period loses its anchor. Over time, individuals learn that the persuasive account is rewarded.</a:t>
            </a:r>
          </a:p>
          <a:p>
            <a:r>
              <a:t>Organisational performance: most reviews hold no evidence at all on organisational conditions. Their state is asserted: the system is stable, the roles are filled, the budget is available.</a:t>
            </a:r>
          </a:p>
          <a:p>
            <a:r>
              <a:t>Resources · workforce capacity. HR reports headcount at budget. The review does not see that a third of the roles in the unit carrying the Key Result are held by new staff still in training. The evidence that matters is productive capacity: how many of those roles can carry the work today.</a:t>
            </a:r>
          </a:p>
          <a:p>
            <a:r>
              <a:t>Systems · workflow visibility. IT reports system availability at 99 per cent. The finance team reports that the month-end report takes three days to run. The first figure describes the system; the second describes whether it supports the tasks.</a:t>
            </a:r>
          </a:p>
          <a:p>
            <a:r>
              <a:t>With no evidence standard for the conditions, the review cannot tell whether they support the individuals' tasks, and the discussion settles on the individuals' numbers, the only evidence in the room.</a:t>
            </a:r>
          </a:p>
          <a:p/>
          <a:p>
            <a:r>
              <a:t>Gap 03 · The Review Rhythm Breakdown</a:t>
            </a:r>
          </a:p>
          <a:p>
            <a:r>
              <a:t>People performance: the rhythm of review sets the individuals' planning horizon. Reviewed quarterly, individuals work in quarterly bursts: a slow start, a surge before the period closes and figures prepared for the review. Reviewed irregularly, evidence is assembled in a hurry and the conversation is spent reconstructing what happened. The recoveries of the Accountability Loop need a rhythm short enough for coaching, development or a structural change to take effect within the period.</a:t>
            </a:r>
          </a:p>
          <a:p>
            <a:r>
              <a:t>Organisational performance: organisational conditions often have no rhythm of review at all; they reach the agenda when something fails.</a:t>
            </a:r>
          </a:p>
          <a:p>
            <a:r>
              <a:t>Governance · execution oversight. Capital and risk decisions follow the board calendar, so a decision on a condition a Key Result depends on can wait up to three months.</a:t>
            </a:r>
          </a:p>
          <a:p>
            <a:r>
              <a:t>Resources · financial support. Budgets are reallocated only at the mid-year forecast. An initiative found short of funds in its second month waits until its sixth.</a:t>
            </a:r>
          </a:p>
          <a:p>
            <a:r>
              <a:t>Environment · employee sustainability. Workload is seen through the annual engagement survey, so overload in a critical team shows first in resignations.</a:t>
            </a:r>
          </a:p>
          <a:p>
            <a:r>
              <a:t>When the conditions are reviewed on a slower rhythm than the KPIs they support, the conditions lag the work they are meant to enable.</a:t>
            </a:r>
          </a:p>
          <a:p/>
          <a:p>
            <a:r>
              <a:t>Gap 04 · The Learning Suppression Gap</a:t>
            </a:r>
          </a:p>
          <a:p>
            <a:r>
              <a:t>People performance: when reviews judge, individuals defend. They bring the explanation and hold back the obstacle, and in the next cycle they propose targets they are sure to meet. Learning moves out of the review into corridors and private conversations. The organisation loses the individuals' first-hand knowledge of what is slowing execution, the most current intelligence it has.</a:t>
            </a:r>
          </a:p>
          <a:p>
            <a:r>
              <a:t>Organisational performance: suppression falls hardest on the conditions, because naming a condition often means naming a senior leader's area.</a:t>
            </a:r>
          </a:p>
          <a:p>
            <a:r>
              <a:t>Environment · psychological safety. A team lead knows the approval process is the real constraint on the Key Result and does not say so, because the approval sits with the executive who chairs the review.</a:t>
            </a:r>
          </a:p>
          <a:p>
            <a:r>
              <a:t>Governance · consistent consequences. Shortfalls in individual KPIs are examined closely, while a condition failure in a senior leader's area passes without examination. People conclude that the conditions are off limits.</a:t>
            </a:r>
          </a:p>
          <a:p>
            <a:r>
              <a:t>The review then hears one side of every gap, and the organisation never learns which of its conditions the strategy is outgrowing.</a:t>
            </a:r>
          </a:p>
          <a:p/>
          <a:p>
            <a:r>
              <a:t>Professional insights:</a:t>
            </a:r>
          </a:p>
          <a:p/>
          <a:p>
            <a:r>
              <a:t>Gap 02 · Evidence Quality: The most corrosive pattern is the gap between advertised and actual performance: dashboards that look green and reports that signal health with no results underneath. Make it safer to disclose a thin harvest than to perform a false one.</a:t>
            </a:r>
          </a:p>
          <a:p>
            <a:r>
              <a:t>Source: Journal, 27 May 2026 — Professional Insights: Culture</a:t>
            </a:r>
          </a:p>
          <a:p/>
          <a:p>
            <a:r>
              <a:t>Gap 04 · Learning Suppression: Formal systems can exist while actual behaviour contradicts their purpose. Strategic reviews should examine lived practice alongside formal compliance.</a:t>
            </a:r>
          </a:p>
          <a:p>
            <a:r>
              <a:t>Source: Journal, 8 September 2026 — Professional Insights: Strategy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SECTION 4 · INTEGRATION — COLLECTIVE</a:t>
            </a:r>
          </a:p>
          <a:p>
            <a:r>
              <a:t>Cross-Leadership Performance Intelligence</a:t>
            </a:r>
          </a:p>
          <a:p/>
          <a:p>
            <a:r>
              <a:t>SECTION LEARNING OUTCOMES:</a:t>
            </a:r>
          </a:p>
          <a:p>
            <a:r>
              <a:t>1. Integrate individual performance signals into an enterprise-wide assessment of progress.</a:t>
            </a:r>
          </a:p>
          <a:p>
            <a:r>
              <a:t>2. Diagnose root causes of underperformance and select proportionate leadership responses.</a:t>
            </a:r>
          </a:p>
          <a:p/>
          <a:p>
            <a:r>
              <a:t>HOW TO OPEN THE SECTION:</a:t>
            </a:r>
          </a:p>
          <a:p/>
          <a:p>
            <a:r>
              <a:t>1. Name the shift.</a:t>
            </a:r>
          </a:p>
          <a:p>
            <a:r>
              <a:t>Say: "This section moves from function to enterprise. The question that guides it is the question of part 3.2: Is the chain of execution across our functions holding together?"</a:t>
            </a:r>
          </a:p>
          <a:p/>
          <a:p>
            <a:r>
              <a:t>2. Say what the section holds.</a:t>
            </a:r>
          </a:p>
          <a:p>
            <a:r>
              <a:t>Say: "Part 4.1 teaches the Enterprise Performance Intelligence Circle, EPIC: the three signals each leader brings from their PM review sheet. Part 4.2 takes one Key Result through the Accountability Loop in a role play."</a:t>
            </a:r>
          </a:p>
          <a:p/>
          <a:p>
            <a:r>
              <a:t>TEACHING NOTES FROM THE FACILITATOR GUIDE:</a:t>
            </a:r>
          </a:p>
          <a:p>
            <a:r>
              <a:t>4.1 · The Enterprise Performance Intelligence Circle (EPIC). Teach what EPIC is for before its detail: it turns the separate PM reviews of each function into one shared view of enterprise execution. Then teach the three signals each leader brings from their PM review sheet, each by the question it answers: progress, "Where are we on execution?"; early warnings, "What is starting to break?"; execution learning, "What is execution teaching us?" For each signal, teach what the leader brings, the sentence the leader uses and what the executive team sees. Progress comes first because it gives the other two their meaning. Teach the evidence rule with the examples of each signal: every signal names the PM review evidence behind it. This single discipline separates EPIC from an opinion forum.</a:t>
            </a:r>
          </a:p>
          <a:p>
            <a:r>
              <a:t>4.2 · The Accountability Loop Role Play. Run the role play in groups of three: leader, team member and observer. The observer deduces how the conversation went through GROW and which root cause it revealed.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4.1 — THE ENTERPRISE PERFORMANCE INTELLIGENCE CIRCLE (EPIC)</a:t>
            </a:r>
          </a:p>
          <a:p>
            <a:r>
              <a:rPr lang="en-GB" dirty="0"/>
              <a:t>Select each signal</a:t>
            </a:r>
          </a:p>
          <a:p>
            <a:endParaRPr lang="en-GB" dirty="0"/>
          </a:p>
          <a:p>
            <a:r>
              <a:rPr lang="en-GB" b="1" dirty="0"/>
              <a:t>HOW TO TEACH IT:</a:t>
            </a:r>
          </a:p>
          <a:p>
            <a:endParaRPr lang="en-GB" dirty="0"/>
          </a:p>
          <a:p>
            <a:r>
              <a:rPr lang="en-GB" b="1" dirty="0"/>
              <a:t>1. Say what EPIC is for.</a:t>
            </a:r>
          </a:p>
          <a:p>
            <a:r>
              <a:rPr lang="en-GB" dirty="0"/>
              <a:t>Say: "The Enterprise Performance Intelligence Circle (EPIC) is the executive team’s structured review of enterprise execution. The question that guides EPIC is: “Is the chain of execution across our functions holding together?”"</a:t>
            </a:r>
          </a:p>
          <a:p>
            <a:r>
              <a:rPr lang="en-GB" dirty="0"/>
              <a:t>Say: "Many organisations conduct performance reviews. Few organisations convert those reviews into collective strategic intelligence. EPIC ensures that insights emerging from PM review sheets are brought together across functions in a structured conversation that allows the leadership team, acting as the collective intelligence for execution discipline, to observe execution as a living system."</a:t>
            </a:r>
          </a:p>
          <a:p>
            <a:endParaRPr lang="en-GB" dirty="0"/>
          </a:p>
          <a:p>
            <a:r>
              <a:rPr lang="en-GB" b="1" dirty="0"/>
              <a:t>2. Say what each leader brings.</a:t>
            </a:r>
          </a:p>
          <a:p>
            <a:r>
              <a:rPr lang="en-GB" dirty="0"/>
              <a:t>Say: "In EPIC, each member of the executive team brings three signals from their own PM review sheet: where their Key Results stand, what is starting to break, and what execution is teaching them. Each signal answers one question, and the three are shared in that order. Progress comes first because it gives the warnings their context and the learning a system to learn about."</a:t>
            </a:r>
          </a:p>
          <a:p>
            <a:endParaRPr lang="en-GB" dirty="0"/>
          </a:p>
          <a:p>
            <a:r>
              <a:rPr lang="en-GB" b="1" dirty="0"/>
              <a:t>3. Signal 1 · Collective Trajectory: "Where are we on execution?"</a:t>
            </a:r>
          </a:p>
          <a:p>
            <a:r>
              <a:rPr lang="en-GB" dirty="0"/>
              <a:t>Say: "Each leader brings: The current percentage progress toward their Key Results and KPIs, taken from the PM ratings and evidence in their PM review sheet, and whether momentum is accelerating, stable or slowing. The percentage involves no estimate and no narrative opinion."</a:t>
            </a:r>
          </a:p>
          <a:p>
            <a:r>
              <a:rPr lang="en-GB" dirty="0"/>
              <a:t>Say: "Each leader says it like this: “We are at [X]% progress, supported by [evidence], and momentum is [accelerating, stable or slowing].”"</a:t>
            </a:r>
          </a:p>
          <a:p>
            <a:r>
              <a:rPr lang="en-GB" dirty="0"/>
              <a:t>Example: The COO reports that operational readiness KPIs show 72% progress toward the strategic Key Result, supported by throughput improvements and cycle-time reductions documented in the review sheets.</a:t>
            </a:r>
          </a:p>
          <a:p>
            <a:r>
              <a:rPr lang="en-GB" dirty="0"/>
              <a:t>Say: "What the executive team sees: Which functions show strong forward momentum and which show slower movement. The executive team sees the collective trajectory of strategy execution, and uneven progress becomes visible at once."</a:t>
            </a:r>
          </a:p>
          <a:p>
            <a:endParaRPr lang="en-GB" dirty="0"/>
          </a:p>
          <a:p>
            <a:r>
              <a:rPr lang="en-GB" b="1" dirty="0"/>
              <a:t>4. Signal 2 · Early Warnings: "What is starting to break?"</a:t>
            </a:r>
          </a:p>
          <a:p>
            <a:r>
              <a:rPr lang="en-GB" dirty="0"/>
              <a:t>Say: "Each leader brings: One or two warning signals that emerged in their PM review conversations, with the evidence from the review sheets. An early warning appears before a KPI or Key Result is formally off target."</a:t>
            </a:r>
          </a:p>
          <a:p>
            <a:r>
              <a:rPr lang="en-GB" dirty="0"/>
              <a:t>Say: "Each leader says it like this: “An emerging risk is [signal], supported by [evidence].”"</a:t>
            </a:r>
          </a:p>
          <a:p>
            <a:r>
              <a:rPr lang="en-GB" dirty="0"/>
              <a:t>Example: An operational process beginning to slow delivery times</a:t>
            </a:r>
          </a:p>
          <a:p>
            <a:r>
              <a:rPr lang="en-GB" dirty="0"/>
              <a:t>Say: "What the executive team sees: Where a signal in one function is connected to activity in another. What looked like an isolated operational issue shows itself as a cross-functional execution dependency, and the leadership team, acting as the collective intelligence for execution discipline, can act on it before it becomes a measurable performance gap."</a:t>
            </a:r>
          </a:p>
          <a:p>
            <a:endParaRPr lang="en-GB" dirty="0"/>
          </a:p>
          <a:p>
            <a:r>
              <a:rPr lang="en-GB" b="1" dirty="0"/>
              <a:t>5. Signal 3 · Execution Learning: "What is execution teaching us?"</a:t>
            </a:r>
          </a:p>
          <a:p>
            <a:r>
              <a:rPr lang="en-GB" dirty="0"/>
              <a:t>Say: "Each leader brings: One key learning from their PM reviews, with the evidence behind it: a capability insight, a coordination improvement, a leadership practice that strengthened execution, or a structural obstacle that slowed progress."</a:t>
            </a:r>
          </a:p>
          <a:p>
            <a:r>
              <a:rPr lang="en-GB" dirty="0"/>
              <a:t>Say: "Each leader says it like this: “A key execution learning is [insight], supported by [evidence].”"</a:t>
            </a:r>
          </a:p>
          <a:p>
            <a:r>
              <a:rPr lang="en-GB" dirty="0"/>
              <a:t>Example: The CHRO highlights that performance review discussions revealed a leadership capability gap affecting accountability conversations.</a:t>
            </a:r>
          </a:p>
          <a:p>
            <a:r>
              <a:rPr lang="en-GB" dirty="0"/>
              <a:t>Say: "What the executive team sees: How execution actually works inside the organisation. Over time, the organisation builds a body of practical execution intelligence that improves how strategy is implemented."</a:t>
            </a:r>
          </a:p>
          <a:p>
            <a:endParaRPr lang="en-GB" dirty="0"/>
          </a:p>
          <a:p>
            <a:r>
              <a:rPr lang="en-GB" b="1" dirty="0"/>
              <a:t>6. Close on what EPIC produces.</a:t>
            </a:r>
          </a:p>
          <a:p>
            <a:r>
              <a:rPr lang="en-GB" dirty="0"/>
              <a:t>1. A clear snapshot of enterprise progress toward the strategic Key Results.</a:t>
            </a:r>
          </a:p>
          <a:p>
            <a:r>
              <a:rPr lang="en-GB" dirty="0"/>
              <a:t>2. Emerging risks visible early enough for coordinated intervention.</a:t>
            </a:r>
          </a:p>
          <a:p>
            <a:r>
              <a:rPr lang="en-GB" dirty="0"/>
              <a:t>3. Execution learning captured to strengthen future performance.</a:t>
            </a:r>
          </a:p>
          <a:p>
            <a:r>
              <a:rPr lang="en-GB" dirty="0"/>
              <a:t>Say: "Through this practice, performance measurement becomes the organisation’s radar system for strategy execution."</a:t>
            </a:r>
          </a:p>
          <a:p>
            <a:endParaRPr lang="en-GB" dirty="0"/>
          </a:p>
          <a:p>
            <a:r>
              <a:rPr lang="en-GB" dirty="0"/>
              <a:t>Say: "Healthy organisations create conditions in which differentiated strengths work together. The test of collective culture: when one part suffers, others respond; when one succeeds, others celebrate." (Journal, 9 September 2026, Professional Insights: Culture)</a:t>
            </a:r>
          </a:p>
          <a:p>
            <a:endParaRPr lang="en-GB" dirty="0"/>
          </a:p>
          <a:p>
            <a:r>
              <a:rPr lang="en-GB" b="1" dirty="0"/>
              <a:t>ON THE PORTAL, AFTER THE TEACHING:</a:t>
            </a:r>
          </a:p>
          <a:p>
            <a:r>
              <a:rPr lang="en-GB" dirty="0"/>
              <a:t>Participants write their early warning signal and their execution learning at the foot of the second and third tabs of part 4.1, from their own Key Results and KPIs. At the foot of part 4.1, they name the conversation type most difficult for them and their team.</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SECTION 5 · APPLICATION — IN PRACTICE</a:t>
            </a:r>
          </a:p>
          <a:p>
            <a:r>
              <a:t>Applying the Four Consequences of Weak Review Discipline</a:t>
            </a:r>
          </a:p>
          <a:p/>
          <a:p>
            <a:r>
              <a:t>SECTION LEARNING OUTCOMES:</a:t>
            </a:r>
          </a:p>
          <a:p>
            <a:r>
              <a:t>1. Make evidence-based recovery decisions when results depart from expectations.</a:t>
            </a:r>
          </a:p>
          <a:p>
            <a:r>
              <a:t>2. Establish executive decisions and routines that protect sustained review discipline.</a:t>
            </a:r>
          </a:p>
          <a:p/>
          <a:p>
            <a:r>
              <a:t>HOW THIS SECTION RUNS:</a:t>
            </a:r>
          </a:p>
          <a:p>
            <a:r>
              <a:t>This is group work and Capstone work. For each of the four consequences of weak review discipline, each group:</a:t>
            </a:r>
          </a:p>
          <a:p>
            <a:r>
              <a:t>1. Simulates a potential gap in the performance of individuals, and a potential gap in the organisational conditions of its strategy.</a:t>
            </a:r>
          </a:p>
          <a:p>
            <a:r>
              <a:t>2. Writes a decision point for recovery for each gap: the decision the executive team takes when the gap appears, and who takes it.</a:t>
            </a:r>
          </a:p>
          <a:p>
            <a:r>
              <a:t>The group agrees each entry and one member acts as scribe. Every member types the agreed entries into their own page, then selects Confirm. The confirmed record feeds the team’s Capstone Blueprint.</a:t>
            </a:r>
          </a:p>
          <a:p/>
          <a:p>
            <a:r>
              <a:t>HOW TO OPEN THE SECTION:</a:t>
            </a:r>
          </a:p>
          <a:p/>
          <a:p>
            <a:r>
              <a:t>1. Say what the section does.</a:t>
            </a:r>
          </a:p>
          <a:p>
            <a:r>
              <a:t>Say: "For each of the four consequences of weak review discipline, your group simulates a potential gap in the performance of individuals and in the organisational conditions of the strategy in your team’s Capstone Blueprint, and sets a decision point for recovery for each."</a:t>
            </a:r>
          </a:p>
          <a:p/>
          <a:p>
            <a:r>
              <a:t>2. Say how the group works.</a:t>
            </a:r>
          </a:p>
          <a:p>
            <a:r>
              <a:t>Say: "This is group work. Your group agrees each entry. One member acts as scribe. Every member then types the agreed entries into their own page, in the session or after it."</a:t>
            </a:r>
          </a:p>
          <a:p/>
          <a:p>
            <a:r>
              <a:t>3. Say where the work goes.</a:t>
            </a:r>
          </a:p>
          <a:p>
            <a:r>
              <a:t>Say: "This is Capstone work. You read your group’s record at the foot of the section and select Confirm. Your confirmed record feeds your team’s Capstone Blueprint."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4.2 — THE ACCOUNTABILITY LOOP ROLE PLAY (PRACTICE IN CLASS)</a:t>
            </a:r>
          </a:p>
          <a:p/>
          <a:p>
            <a:r>
              <a:t>HOW TO TEACH IT:</a:t>
            </a:r>
          </a:p>
          <a:p/>
          <a:p>
            <a:r>
              <a:t>1. Give the case.</a:t>
            </a:r>
          </a:p>
          <a:p>
            <a:r>
              <a:t>Say: "The Head of Customer Service is responsible for the Key Result: Reduce the average time to resolve customer complaints from 10 working days to 5 by the end of the quarter. It supports the enterprise Objective of improving customer retention. The Complaints Team Leader leads a team of eight agents and was fully committed to the Key Result when it was agreed at the start of the quarter. Seven weeks into the quarter, the latest Review shows that resolution time fell from 10 days to 8 in the first month and has not moved since. The Complaints Team Leader missed the last two weekly check-ins, and their written updates have become short. The Head of Customer Service calls a conversation to establish what lies behind the gap."</a:t>
            </a:r>
          </a:p>
          <a:p/>
          <a:p>
            <a:r>
              <a:t>2. Form the groups of three.</a:t>
            </a:r>
          </a:p>
          <a:p>
            <a:r>
              <a:t>Put participants into breakout rooms of three: the leader, the team member and the observer.</a:t>
            </a:r>
          </a:p>
          <a:p>
            <a:r>
              <a:t>The leader (Head of Customer Service): decides the goal of the conversation, then works through Reality, Options and Will to reach it.</a:t>
            </a:r>
          </a:p>
          <a:p>
            <a:r>
              <a:t>The team member (Complaints Team Leader): responds as the person behind the stalled Key Result, from the root cause they chose.</a:t>
            </a:r>
          </a:p>
          <a:p>
            <a:r>
              <a:t>The observer: says nothing during the conversation and completes the observation sheet.</a:t>
            </a:r>
          </a:p>
          <a:p/>
          <a:p>
            <a:r>
              <a:t>3. The team member chooses the root cause.</a:t>
            </a:r>
          </a:p>
          <a:p>
            <a:r>
              <a:t>Say: "Team member, before the conversation, choose privately one of the three root causes as the reason behind the gap: Lack of Accountability, Lack of Skill, or Misfit of Role or Structural Constraint. Play the conversation from that position, drawing on your own experience, and tell no one which one you chose."</a:t>
            </a:r>
          </a:p>
          <a:p/>
          <a:p>
            <a:r>
              <a:t>4. Run the conversation.</a:t>
            </a:r>
          </a:p>
          <a:p>
            <a:r>
              <a:t>The leader decides what the conversation must achieve and runs it through the GROW model.</a:t>
            </a:r>
          </a:p>
          <a:p>
            <a:r>
              <a:t>Brief the leader with this line: "The leader who receives honest feedback about a genuine problem and responds with honesty before justification, and action before communication, creates the conditions for real leadership." (Journal, 29 June 2026, Professional Insights: Leadership)</a:t>
            </a:r>
          </a:p>
          <a:p>
            <a:r>
              <a:t>The observer completes the observation sheet: the goal the leader set and whether it was clear; the questions that opened up what is really happening; the root cause and the lines that rule out the other two; who generated the options and whether they matched the root cause; what was agreed, by whom and when it will be reviewed; whether the conversation reached its goal.</a:t>
            </a:r>
          </a:p>
          <a:p>
            <a:r>
              <a:t>If the leader defaults to pressure, pause and redirect: "You have identified the gap. Now ask about the reality behind it before you move to options."</a:t>
            </a:r>
          </a:p>
          <a:p/>
          <a:p>
            <a:r>
              <a:t>5. Debrief.</a:t>
            </a:r>
          </a:p>
          <a:p>
            <a:r>
              <a:t>The observer reports first: what the leader set out to achieve, how the conversation went at each GROW stage, and which root cause it revealed. The team member then says which root cause they chose. The leader closes with what they would do differently.</a:t>
            </a:r>
          </a:p>
          <a:p>
            <a:r>
              <a:t>Say: "Accountability without a pathway back becomes punishment. Correct firmly where necessary, and deliberately restore trust, contribution and dignity when change is evident." (Journal, 16 September 2026, Professional Insights: Leadership)</a:t>
            </a:r>
          </a:p>
          <a:p/>
          <a:p>
            <a:r>
              <a:t>This is class practice. Nothing is entered on the portal during the role play.</a:t>
            </a:r>
          </a:p>
          <a:p/>
          <a:p>
            <a:r>
              <a:t>ON THE PORTAL, AFTER THE TEACHING:</a:t>
            </a:r>
          </a:p>
          <a:p>
            <a:r>
              <a:t>After class, participants complete personal Portfolio work in part 4.2 of their own file. They read the conversation between the Chief Financial Officer and the Credit Control Manager, in which the root cause is never named. They work out which of the three root causes is evident and the lines that rule out the other two, the goal of the conversation and how Reality, Options and Will led to it, and how well the leader ran the conversation.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4.2 — THE GROW CONVERSATION</a:t>
            </a:r>
          </a:p>
          <a:p/>
          <a:p>
            <a:r>
              <a:t>HOW TO USE THIS SLIDE:</a:t>
            </a:r>
          </a:p>
          <a:p/>
          <a:p>
            <a:r>
              <a:t>1. Recall GROW.</a:t>
            </a:r>
          </a:p>
          <a:p>
            <a:r>
              <a:t>Say: "The GROW model guides a conversation with an end in mind. Each stage asks a question, and the team member does the thinking, so the answers reached are their own."</a:t>
            </a:r>
          </a:p>
          <a:p/>
          <a:p>
            <a:r>
              <a:t>2. Teach each stage as it works in the Accountability Loop.</a:t>
            </a:r>
          </a:p>
          <a:p>
            <a:r>
              <a:t>G · Goal: "What the leader aims to achieve in the conversation. It may be identifying the root cause of the gap, restoring alignment with the Key Result, or both." Question: "What do we want to have agreed by the end of this conversation?"</a:t>
            </a:r>
          </a:p>
          <a:p>
            <a:r>
              <a:t>R · Reality: "What is true today. The leader explores what stands behind the gap and listens without defending the target." Question: "What is happening on this Key Result, and what makes it hard?"</a:t>
            </a:r>
          </a:p>
          <a:p>
            <a:r>
              <a:t>O · Options: "What could be done. The team member generates the ways forward, matched to the root cause." Question: "What could change? What support would make the difference?"</a:t>
            </a:r>
          </a:p>
          <a:p>
            <a:r>
              <a:t>W · Will: "What will be done, by whom and by when, and when it will be reviewed." Question: "What will you do, and when shall we look at it again?"</a:t>
            </a:r>
          </a:p>
          <a:p/>
          <a:p>
            <a:r>
              <a:t>3. Brief the observer before the role play.</a:t>
            </a:r>
          </a:p>
          <a:p>
            <a:r>
              <a:t>Say: "Note what the leader set out to achieve, and how each stage of GROW moved the conversation toward it: did the leader explore the reality before the options, let the team member generate the options, and close with what will be done, by whom and when it will be reviewed?"</a:t>
            </a:r>
          </a:p>
          <a:p/>
          <a:p>
            <a:r>
              <a:t>4. Use GROW in the debrief.</a:t>
            </a:r>
          </a:p>
          <a:p>
            <a:r>
              <a:t>The observer reports how the leader used each stage. Ask the group which stage was hardest to hold, and why.</a:t>
            </a:r>
          </a:p>
          <a:p>
            <a:r>
              <a:t>Say: "Leaders who either conceal failure or weaponise it prevent learning. Mature accountability names what went wrong, understands why it happened and moves people toward responsible change." (Journal, 10 August 2026, Professional Insights: Leadership)</a:t>
            </a:r>
          </a:p>
          <a:p>
            <a:r>
              <a:t>Say: "Holding people accountable for outcomes without considering intent produces a culture of blame. Intent matters." (Journal, 17 March 2026, Professional Insights)</a:t>
            </a:r>
          </a:p>
          <a:p/>
          <a:p>
            <a:r>
              <a:t>ON THE PORTAL, AFTER THE TEACHING:</a:t>
            </a:r>
          </a:p>
          <a:p>
            <a:r>
              <a:t>After class, in part 4.2 of their own file, participants work out the root cause in a full conversation on a new case, the goal of the conversation and how Reality, Options and Will led to it, and how well the leader ran the conversation.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SECTION 2 REFLECTIONS</a:t>
            </a:r>
          </a:p>
          <a:p/>
          <a:p>
            <a:r>
              <a:t>HOW TO USE THIS SLIDE:</a:t>
            </a:r>
          </a:p>
          <a:p/>
          <a:p>
            <a:r>
              <a:t>1. Show the slide and read the prompt aloud.</a:t>
            </a:r>
          </a:p>
          <a:p>
            <a:r>
              <a:t>2.1 Reflection — Where You Have Seen the Velocity Gap: "The velocity gap is the distance between the pace of progress you planned and the pace you achieved. Think of a strategic priority in your own setting that moved more slowly than planned while its measures were in place. Where did the velocity gap open: in detecting the deviation, understanding its cause, making the decision or translating the decision into action? Which of the four consequences followed, and what did the delay cost? Did an organisational condition play a part in the delay?"</a:t>
            </a:r>
          </a:p>
          <a:p/>
          <a:p>
            <a:r>
              <a:t>2. Say what the reflection is for.</a:t>
            </a:r>
          </a:p>
          <a:p>
            <a:r>
              <a:t>Say: "Execution velocity is the rate at which an organisation converts strategic intent into measurable results. In this reflection, you name one place in your own setting where the pace fell behind the plan, and the point where the gap opened."</a:t>
            </a:r>
          </a:p>
          <a:p/>
          <a:p>
            <a:r>
              <a:t>3. Set the standard.</a:t>
            </a:r>
          </a:p>
          <a:p>
            <a:r>
              <a:t>Say: "Name a real priority, the real point of delay and what it cost."</a:t>
            </a:r>
          </a:p>
          <a:p/>
          <a:p>
            <a:r>
              <a:t>4. Bridge to Section 3.</a:t>
            </a:r>
          </a:p>
          <a:p>
            <a:r>
              <a:t>Say: "You have seen what weak review discipline costs. Section 3 shows where the review of performance breaks down across functions."</a:t>
            </a:r>
          </a:p>
          <a:p/>
          <a:p>
            <a:r>
              <a:t>ON THE PORTAL, AFTER THE TEACHING:</a:t>
            </a:r>
          </a:p>
          <a:p>
            <a:r>
              <a:t>Participants write this reflection in Section 2 of the participant file, at the foot of part 2.1.</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SECTION 1 REFLECTIONS</a:t>
            </a:r>
          </a:p>
          <a:p/>
          <a:p>
            <a:r>
              <a:t>HOW TO USE THIS SLIDE:</a:t>
            </a:r>
          </a:p>
          <a:p/>
          <a:p>
            <a:r>
              <a:t>1. Show the slide and read the two prompts aloud.</a:t>
            </a:r>
          </a:p>
          <a:p>
            <a:r>
              <a:t>1.1 Reflection — Activity vs Progress: "In your function, what are you currently measuring that reflects activity? What would reflect genuine progress toward your strategic outcome? What evidence do you hold on whether the organisational conditions support the tasks behind that progress?"</a:t>
            </a:r>
          </a:p>
          <a:p>
            <a:r>
              <a:t>1.4 Reflection — The Cycle and the Loop in Your Organisation: "Think of a current performance gap in your function. Which stage of the Review–Realign–Restore Cycle is it in? If you activated the Accountability Loop, which root cause would you most likely be diagnosing, and why?"</a:t>
            </a:r>
          </a:p>
          <a:p/>
          <a:p>
            <a:r>
              <a:t>2. Say what the reflections are for.</a:t>
            </a:r>
          </a:p>
          <a:p>
            <a:r>
              <a:t>Say: "You write these reflections on the portal after the teaching, with as much depth as you can. They build the learning portfolio you receive at the end of the programme."</a:t>
            </a:r>
          </a:p>
          <a:p/>
          <a:p>
            <a:r>
              <a:t>3. Set the standard.</a:t>
            </a:r>
          </a:p>
          <a:p>
            <a:r>
              <a:t>Say: "Name a real measure, a real gap and a real root cause from your own function."</a:t>
            </a:r>
          </a:p>
          <a:p/>
          <a:p>
            <a:r>
              <a:t>4. Bridge to Section 2.</a:t>
            </a:r>
          </a:p>
          <a:p>
            <a:r>
              <a:t>Say: "You have seen how measurement makes execution visible and how the cycle restores it. Section 2 shows what happens when the review rhythm weakens."</a:t>
            </a:r>
          </a:p>
          <a:p/>
          <a:p>
            <a:r>
              <a:t>ON THE PORTAL, AFTER THE TEACHING:</a:t>
            </a:r>
          </a:p>
          <a:p>
            <a:r>
              <a:t>Participants write these reflections in Section 1 of the participant file, at the foot of parts 1.1 and 1.4.</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3.2 — THE CXO PERFORMANCE GAP CONTRIBUTORS</a:t>
            </a:r>
          </a:p>
          <a:p>
            <a:r>
              <a:t>Is the chain of execution across our functions holding together?</a:t>
            </a:r>
          </a:p>
          <a:p/>
          <a:p>
            <a:r>
              <a:t>HOW TO TEACH IT:</a:t>
            </a:r>
          </a:p>
          <a:p/>
          <a:p>
            <a:r>
              <a:t>1. Set up the part.</a:t>
            </a:r>
          </a:p>
          <a:p>
            <a:r>
              <a:t>Say: "The four fractures of part 3.1 rarely begin with one leader. Each executive role reviews performance in its own meetings and with its own evidence, and the habits in those reviews open one or two of the fractures. When these habits are not seen together, the chain of execution across functions weakens without anyone noticing."</a:t>
            </a:r>
          </a:p>
          <a:p/>
          <a:p>
            <a:r>
              <a:t>2. Teach the map on the slide.</a:t>
            </a:r>
          </a:p>
          <a:p>
            <a:r>
              <a:t>Horizontal Coordination Gap: COO, CTO/CIO, CMO, CCO, CPO.</a:t>
            </a:r>
          </a:p>
          <a:p>
            <a:r>
              <a:t>Evidence Quality Gap: CFO, CHRO, CTO/CIO, CMO, CPO.</a:t>
            </a:r>
          </a:p>
          <a:p>
            <a:r>
              <a:t>Review Rhythm Breakdown: CEO, CHRO, CRO, CSO.</a:t>
            </a:r>
          </a:p>
          <a:p>
            <a:r>
              <a:t>Learning Suppression Gap: CEO, CFO, CCO, CRO, CSO.</a:t>
            </a:r>
          </a:p>
          <a:p/>
          <a:p>
            <a:r>
              <a:t>3. Teach each role: how it reviews performance, what it does in those reviews and what happens as a result. Take the participants' own roles first.</a:t>
            </a:r>
          </a:p>
          <a:p>
            <a:r>
              <a:t>The CEO chairs the executive review: the meeting where the executive team reports progress on the Key Results of the strategy.. What the CEO does: When the board, investors or a crisis crowd the diary, the CEO postpones or shortens the executive review. What happens as a result: Executives see that the executive review can slip, so they let the reviews with their own teams slip too. Weeks pass without anyone examining progress, and a small delay grows into a missed target before it is discussed. (Review Rhythm Breakdown) What the CEO does: When a target is missed, the CEO’s first question in the review is: “Why did you miss it?” What happens as a result: Executives come to the review ready to defend their numbers. They hold back the obstacles they face, so the executive team never examines what caused the miss or what must change. (Learning Suppression Gap)</a:t>
            </a:r>
          </a:p>
          <a:p>
            <a:r>
              <a:t>The CFO reviews performance through the monthly management accounts: actual results against budget and forecast.. What the CFO does: The CFO uses financial results as the main evidence of progress. What happens as a result: Financial results are available only after the month or quarter has closed. By the time the review sees a shortfall, the period is over and it is too late to correct it. (Evidence Quality Gap) What the CFO does: The CFO asks each budget holder to explain every variance. What happens as a result: Budget holders prepare explanations for the number. The discussion stays on justifying the past, and the operational cause of the variance is never examined. (Learning Suppression Gap)</a:t>
            </a:r>
          </a:p>
          <a:p>
            <a:r>
              <a:t>The COO holds weekly operations reviews with the heads of operations, using strong data on throughput, service levels and process efficiency.. What the COO does: Only operations attends the review. Sales, technology, procurement and HR, the functions operations depends on, are not in the room. What happens as a result: When a delay comes from another function, for example a late system change or a supplier problem, the operations review can neither see it nor resolve it. Operations reports its own measures as on track while the enterprise result falls behind. (Horizontal Coordination Gap)</a:t>
            </a:r>
          </a:p>
          <a:p>
            <a:r>
              <a:t>The CHRO reviews people performance through the annual engagement survey and the twice-yearly talent review.. What the CHRO does: The CHRO reports engagement scores and training completed, with no link to a Key Result. What happens as a result: The executive team cannot tell whether people measures help or hinder the delivery of the strategy, so the review debates what the survey means. (Evidence Quality Gap) What the CHRO does: The CHRO reviews people measures once or twice a year. What happens as a result: A skills gap that will delay a milestone is seen only at the next survey or talent review, after the milestone has already slipped. (Review Rhythm Breakdown)</a:t>
            </a:r>
          </a:p>
          <a:p>
            <a:r>
              <a:t>The CTO or CIO reviews technology projects against plan: milestones delivered, system uptime and budget.. What the CTO or CIO does: The CTO or CIO reports a system going live as progress. What happens as a result: Going live is activity. Whether the business uses the system to deliver its Key Result is never checked, so the review reports success while the result does not move. (Evidence Quality Gap) What the CTO or CIO does: The CTO or CIO reviews technology projects in the technology forum, without the business owner of the result. What happens as a result: Technology reports the project on track and the business reports the result off track, and no review puts the two together. (Horizontal Coordination Gap)</a:t>
            </a:r>
          </a:p>
          <a:p>
            <a:r>
              <a:t>The CMO reviews marketing through campaign reports: reach, leads, brand measures and market share.. What the CMO does: The CMO reports campaign reach and leads as progress toward the market Key Result. What happens as a result: Reach and leads show marketing activity. They do not show whether customers bought or stayed, so the review cannot see whether the Key Result is moving. (Evidence Quality Gap) What the CMO does: The campaigns promise delivery times and service levels that operations and sales must deliver, and they review their own measures elsewhere. What happens as a result: Marketing meets its campaign targets while customers receive a different experience, and no single review sees the broken promise. (Horizontal Coordination Gap)</a:t>
            </a:r>
          </a:p>
          <a:p>
            <a:r>
              <a:t>The CCO holds weekly sales reviews on pipeline, orders and revenue against target.. What the CCO does: The CCO reviews sales commitments without operations in the room. What happens as a result: Sales signs volumes that operations has not confirmed it can deliver. The gap appears only when orders arrive late and customers complain. (Horizontal Coordination Gap) What the CCO does: Every sales review puts pressure on the number. What happens as a result: Sales managers stop raising obstacles, such as pricing or stock problems, until the quarter is already lost. (Learning Suppression Gap)</a:t>
            </a:r>
          </a:p>
          <a:p>
            <a:r>
              <a:t>The CPO reviews procurement through supplier scorecards, savings achieved and contract compliance.. What the CPO does: The CPO reviews supplier performance in the procurement forum, apart from the functions that depend on supply. What happens as a result: A late delivery from a supplier reaches a Key Result in operations before anyone connects the two. (Horizontal Coordination Gap) What the CPO does: The CPO reports savings achieved as procurement progress. What happens as a result: The review rewards a cheaper contract without checking whether slower or lower-quality supply is now delaying delivery. (Evidence Quality Gap)</a:t>
            </a:r>
          </a:p>
          <a:p>
            <a:r>
              <a:t>The CRO reviews risk through the risk register, incident reports and compliance audits, on the board’s governance calendar.. What the CRO does: The CRO treats a reported breach as a failure to be punished. What happens as a result: Teams stop reporting near misses, so the organisation loses the early information that would let it prevent the next incident. (Learning Suppression Gap) What the CRO does: The CRO reviews risks quarterly for the board committee, apart from the strategy reviews. What happens as a result: A risk that rises against a Key Result between quarters is not discussed until the next committee meeting. (Review Rhythm Breakdown)</a:t>
            </a:r>
          </a:p>
          <a:p>
            <a:r>
              <a:t>The CSO runs the planning calendar: the annual strategy review and the quarterly OKR updates.. What the CSO does: The CSO examines Key Results mainly at the quarterly and annual planning points. What happens as a result: Three months pass between two looks at the same Key Result: too long to see whether it is moving or stalling. (Review Rhythm Breakdown) What the CSO does: The planning sessions update the targets and plans for the next period. What happens as a result: The plan is changed without first asking what the last period of execution taught the organisation, so the same mistakes repeat. (Learning Suppression Gap)</a:t>
            </a:r>
          </a:p>
          <a:p/>
          <a:p>
            <a:r>
              <a:t>4. Close the part.</a:t>
            </a:r>
          </a:p>
          <a:p>
            <a:r>
              <a:t>Say: "No single role opens a fracture alone. The leadership team, acting as the collective intelligence for execution discipline, closes the four fractures when each leader sees how the habits in their own reviews feed them, and the executive team reviews the chain of execution together."</a:t>
            </a:r>
          </a:p>
          <a:p/>
          <a:p>
            <a:r>
              <a:t>5. Ask, now that the roles are taught.</a:t>
            </a:r>
          </a:p>
          <a:p>
            <a:r>
              <a:t>Ask: "What is one habit in your own reviews, and which fracture does it open?" Ask participants to post their answer in the chat.</a:t>
            </a:r>
          </a:p>
          <a:p/>
          <a:p>
            <a:r>
              <a:t>ON THE PORTAL, AFTER THE TEACHING:</a:t>
            </a:r>
          </a:p>
          <a:p>
            <a:r>
              <a:t>Participants read the ten role cards in part 3.2 of their own file, their own role first, and answer the question on their own card for themselves. They then complete a personal reflection as Portfolio work: the fracture their own review habits are most prone to open, in the way they review individuals and the organisational conditions they are responsible for, the remedial action they will take and the evidence that will show it is working.</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SECTION 3 REFLECTIONS</a:t>
            </a:r>
          </a:p>
          <a:p/>
          <a:p>
            <a:r>
              <a:t>HOW TO USE THIS SLIDE:</a:t>
            </a:r>
          </a:p>
          <a:p/>
          <a:p>
            <a:r>
              <a:t>1. Show the slide and read the two prompts aloud.</a:t>
            </a:r>
          </a:p>
          <a:p>
            <a:r>
              <a:t>3.1 Reflection — Which Gap Is Most Prevalent in Your Organisation?: "Rate each gap in your organisation (1 = rare, 5 = common). Then name the gap you are most responsible for closing and your first action."</a:t>
            </a:r>
          </a:p>
          <a:p>
            <a:r>
              <a:t>3.2 Reflection — The Fracture You Are Most Prone To (Portfolio work): "Which of the four fractures are your own review habits most prone to open, in the way you review individuals and the organisational conditions you are responsible for? What remedial action will you take, and what evidence will show it is working?"</a:t>
            </a:r>
          </a:p>
          <a:p/>
          <a:p>
            <a:r>
              <a:t>2. Say what the reflection is for.</a:t>
            </a:r>
          </a:p>
          <a:p>
            <a:r>
              <a:t>Say: "You write this reflection on the portal after the teaching. Rate each gap honestly, then name the gap you are most responsible for closing."</a:t>
            </a:r>
          </a:p>
          <a:p/>
          <a:p>
            <a:r>
              <a:t>3. Bridge to Section 4.</a:t>
            </a:r>
          </a:p>
          <a:p>
            <a:r>
              <a:t>Say: "You have seen where the review of performance breaks down, and which roles feed each gap. Section 4 brings the executive team together around one view of enterprise execution."</a:t>
            </a:r>
          </a:p>
          <a:p/>
          <a:p>
            <a:r>
              <a:t>ON THE PORTAL, AFTER THE TEACHING:</a:t>
            </a:r>
          </a:p>
          <a:p>
            <a:r>
              <a:t>Participants complete these reflections in Section 3 of the participant file, at the foot of parts 3.1 and 3.2.</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SECTION 4 REFLECTIONS (1 OF 2)</a:t>
            </a:r>
          </a:p>
          <a:p>
            <a:endParaRPr lang="en-GB" dirty="0"/>
          </a:p>
          <a:p>
            <a:r>
              <a:rPr lang="en-GB" b="1" dirty="0"/>
              <a:t>HOW TO USE THIS SLIDE:</a:t>
            </a:r>
          </a:p>
          <a:p>
            <a:endParaRPr lang="en-GB" dirty="0"/>
          </a:p>
          <a:p>
            <a:r>
              <a:rPr lang="en-GB" b="1" dirty="0"/>
              <a:t>1. Show the slide and read the two prompts aloud.</a:t>
            </a:r>
          </a:p>
          <a:p>
            <a:r>
              <a:rPr lang="en-GB" dirty="0"/>
              <a:t>4.1 Reflection — Your Early Warning Signal: "Which one or two early warning signals have emerged in your area? What evidence supports each, and what could it affect?"</a:t>
            </a:r>
          </a:p>
          <a:p>
            <a:r>
              <a:rPr lang="en-GB" dirty="0"/>
              <a:t>4.1 Reflection — Your Execution Learning: "What is one key execution learning from your performance reviews? What evidence supports it, and does it apply to your function or to the enterprise?"</a:t>
            </a:r>
          </a:p>
          <a:p>
            <a:endParaRPr lang="en-GB" dirty="0"/>
          </a:p>
          <a:p>
            <a:r>
              <a:rPr lang="en-GB" b="1" dirty="0"/>
              <a:t>2. Say what the reflections are for.</a:t>
            </a:r>
          </a:p>
          <a:p>
            <a:r>
              <a:rPr lang="en-GB" dirty="0"/>
              <a:t>Say: "In part 4.1, you write your own EPIC signals, from your own Key Results and KPIs, with the evidence behind each. These reflections build your learning portfolio."</a:t>
            </a:r>
          </a:p>
          <a:p>
            <a:endParaRPr lang="en-GB" dirty="0"/>
          </a:p>
          <a:p>
            <a:r>
              <a:rPr lang="en-GB" b="1" dirty="0"/>
              <a:t>ON THE PORTAL, AFTER THE TEACHING:</a:t>
            </a:r>
          </a:p>
          <a:p>
            <a:r>
              <a:rPr lang="en-GB" dirty="0"/>
              <a:t>Participants write their early warning signal and their execution learning at the foot of the second and third tabs of part 4.1.</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SECTION 4 REFLECTIONS (2 OF 2)</a:t>
            </a:r>
          </a:p>
          <a:p/>
          <a:p>
            <a:r>
              <a:t>HOW TO USE THIS SLIDE:</a:t>
            </a:r>
          </a:p>
          <a:p/>
          <a:p>
            <a:r>
              <a:t>1. Show the slide and read the prompt and the Portfolio work aloud.</a:t>
            </a:r>
          </a:p>
          <a:p>
            <a:r>
              <a:t>4.1 Reflection — The Conversation Type Most Difficult for Your Team: "Which conversation type is most difficult for you and your team: reporting progress against evidence, naming an early warning, or sharing an execution learning? What makes it difficult, and what would make it easier?"</a:t>
            </a:r>
          </a:p>
          <a:p>
            <a:r>
              <a:t>4.2 Portfolio work: the Accountability Loop case, read and analysed alone.</a:t>
            </a:r>
          </a:p>
          <a:p/>
          <a:p>
            <a:r>
              <a:t>2. Say what the work is for.</a:t>
            </a:r>
          </a:p>
          <a:p>
            <a:r>
              <a:t>Say: "In 4.2, you read a full Accountability Loop conversation on a new case: the Chief Financial Officer and the Credit Control Manager. The conversation never names the root cause: you work out which of the three it is, the goal of the conversation and how Reality, Options and Will led to it, and how well the leader ran the conversation. This is personal work, and it builds your learning portfolio."</a:t>
            </a:r>
          </a:p>
          <a:p/>
          <a:p>
            <a:r>
              <a:t>3. Bridge to Section 5.</a:t>
            </a:r>
          </a:p>
          <a:p>
            <a:r>
              <a:t>Say: "You have seen the enterprise view and practised the loop on one Key Result. Section 5 brings back the four consequences of weak review discipline, and your group guards its own strategy against them."</a:t>
            </a:r>
          </a:p>
          <a:p/>
          <a:p>
            <a:r>
              <a:t>ON THE PORTAL, AFTER THE TEACHING:</a:t>
            </a:r>
          </a:p>
          <a:p>
            <a:r>
              <a:t>Participants write the reflection at the foot of part 4.1, and complete the Portfolio work of part 4.2.</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5.1 — DECISION POINTS AGAINST THE FOUR CONSEQUENCES (CAPSTONE WORK)</a:t>
            </a:r>
          </a:p>
          <a:p/>
          <a:p>
            <a:r>
              <a:t>HOW TO TEACH IT:</a:t>
            </a:r>
          </a:p>
          <a:p/>
          <a:p>
            <a:r>
              <a:t>1. Recall the four consequences of part 2.1.</a:t>
            </a:r>
          </a:p>
          <a:p>
            <a:r>
              <a:t>Say: "Missed early warning signals. Gradual diffusion of accountability. Loss of organisational learning. Eroded leadership credibility. Each shows in the performance of individuals and in the organisational conditions."</a:t>
            </a:r>
          </a:p>
          <a:p/>
          <a:p>
            <a:r>
              <a:t>2. Say what the group completes for each consequence.</a:t>
            </a:r>
          </a:p>
          <a:p>
            <a:r>
              <a:t>Say: "Simulate a potential gap in your strategy: one in the performance of individuals and one in the organisational conditions. For each gap, write the decision point for recovery: the decision the executive team takes when the gap appears, and who takes it. Write it as one sentence: If the gap appears, then the recovery decision, taken by whom."</a:t>
            </a:r>
          </a:p>
          <a:p/>
          <a:p>
            <a:r>
              <a:t>3. Give one example for each consequence.</a:t>
            </a:r>
          </a:p>
          <a:p>
            <a:r>
              <a:t>Early Warning Signals Are Missed: "If a Key Result shows no movement across two monthly reviews, then a recovery plan is presented at the next executive review, taken by the executive accountable for the Key Result."</a:t>
            </a:r>
          </a:p>
          <a:p>
            <a:r>
              <a:t>Gradual Diffusion of Accountability: "If a Key Result has not been discussed in an executive review for a full month, then it goes first on the agenda of the next review, with the individuals delivering it present, taken by the CEO."</a:t>
            </a:r>
          </a:p>
          <a:p>
            <a:r>
              <a:t>Loss of Organisational Learning: "If the same obstacle is reported in two functions in one quarter, then the executive team names the cause and records what it changes in the way the strategy is executed, taken by the CEO."</a:t>
            </a:r>
          </a:p>
          <a:p>
            <a:r>
              <a:t>Erodes Leadership Credibility: "If a strategic priority is announced with no date for its first review, then the date and the evidence to be brought to it are fixed in the same meeting, taken by the CEO."</a:t>
            </a:r>
          </a:p>
          <a:p/>
          <a:p>
            <a:r>
              <a:t>4. Say how the group completes it.</a:t>
            </a:r>
          </a:p>
          <a:p>
            <a:r>
              <a:t>Say: "Take the four consequences one at a time, each on its own tab. The lesson for each sits above the boxes."</a:t>
            </a:r>
          </a:p>
          <a:p/>
          <a:p>
            <a:r>
              <a:t>ON THE PORTAL, AFTER THE TEACHING:</a:t>
            </a:r>
          </a:p>
          <a:p>
            <a:r>
              <a:t>Participants work as a group in part 5.1 of their own file. This is Capstone work. The group agrees each entry and one member acts as scribe. Every member then types the agreed entries into their own page, in the session or after it.</a:t>
            </a:r>
          </a:p>
          <a:p>
            <a:r>
              <a:t>For each of the four consequences, each group writes a potential gap in the performance of individuals and in the organisational conditions, and a decision point for recovery for each: the decision the executive team takes when the gap appears, and who takes it.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10.png"/><Relationship Id="rId5" Type="http://schemas.openxmlformats.org/officeDocument/2006/relationships/image" Target="../media/image4.png"/><Relationship Id="rId6"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png"/><Relationship Id="rId3" Type="http://schemas.openxmlformats.org/officeDocument/2006/relationships/image" Target="../media/image14.png"/><Relationship Id="rId4" Type="http://schemas.openxmlformats.org/officeDocument/2006/relationships/image" Target="../media/image13.png"/><Relationship Id="rId5" Type="http://schemas.openxmlformats.org/officeDocument/2006/relationships/notesSlide" Target="../notesSlides/notesSlide24.xml"/><Relationship Id="rId6" Type="http://schemas.openxmlformats.org/officeDocument/2006/relationships/image" Target="../media/image41.png"/><Relationship Id="rId7" Type="http://schemas.openxmlformats.org/officeDocument/2006/relationships/image" Target="../media/image42.png"/><Relationship Id="rId8" Type="http://schemas.openxmlformats.org/officeDocument/2006/relationships/image" Target="../media/image3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2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png"/><Relationship Id="rId3" Type="http://schemas.openxmlformats.org/officeDocument/2006/relationships/image" Target="../media/image14.png"/><Relationship Id="rId4" Type="http://schemas.openxmlformats.org/officeDocument/2006/relationships/image" Target="../media/image13.png"/><Relationship Id="rId5" Type="http://schemas.openxmlformats.org/officeDocument/2006/relationships/image" Target="../media/image41.png"/><Relationship Id="rId6" Type="http://schemas.openxmlformats.org/officeDocument/2006/relationships/image" Target="../media/image42.png"/><Relationship Id="rId7" Type="http://schemas.openxmlformats.org/officeDocument/2006/relationships/notesSlide" Target="../notesSlides/notesSlide23.xml"/><Relationship Id="rId8" Type="http://schemas.openxmlformats.org/officeDocument/2006/relationships/image" Target="../media/image18.png"/><Relationship Id="rId9" Type="http://schemas.openxmlformats.org/officeDocument/2006/relationships/image" Target="../media/image3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28.png"/><Relationship Id="rId6" Type="http://schemas.openxmlformats.org/officeDocument/2006/relationships/image" Target="../media/image2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6.png"/><Relationship Id="rId3" Type="http://schemas.openxmlformats.org/officeDocument/2006/relationships/image" Target="../media/image29.png"/><Relationship Id="rId4" Type="http://schemas.openxmlformats.org/officeDocument/2006/relationships/image" Target="../media/image28.png"/><Relationship Id="rId5" Type="http://schemas.openxmlformats.org/officeDocument/2006/relationships/image" Target="../media/image27.png"/><Relationship Id="rId6" Type="http://schemas.openxmlformats.org/officeDocument/2006/relationships/notesSlide" Target="../notesSlides/notesSlide2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png"/><Relationship Id="rId3" Type="http://schemas.openxmlformats.org/officeDocument/2006/relationships/image" Target="../media/image14.png"/><Relationship Id="rId4" Type="http://schemas.openxmlformats.org/officeDocument/2006/relationships/image" Target="../media/image13.png"/><Relationship Id="rId5" Type="http://schemas.openxmlformats.org/officeDocument/2006/relationships/notesSlide" Target="../notesSlides/notesSlide26.xml"/><Relationship Id="rId6" Type="http://schemas.openxmlformats.org/officeDocument/2006/relationships/image" Target="../media/image43.png"/><Relationship Id="rId7" Type="http://schemas.openxmlformats.org/officeDocument/2006/relationships/image" Target="../media/image3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31.png"/><Relationship Id="rId4" Type="http://schemas.openxmlformats.org/officeDocument/2006/relationships/image" Target="../media/image24.png"/><Relationship Id="rId5" Type="http://schemas.openxmlformats.org/officeDocument/2006/relationships/image" Target="../media/image3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3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7.png"/><Relationship Id="rId4" Type="http://schemas.openxmlformats.org/officeDocument/2006/relationships/image" Target="../media/image39.png"/><Relationship Id="rId5" Type="http://schemas.openxmlformats.org/officeDocument/2006/relationships/image" Target="../media/image13.png"/><Relationship Id="rId6" Type="http://schemas.openxmlformats.org/officeDocument/2006/relationships/image" Target="../media/image4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png"/><Relationship Id="rId3" Type="http://schemas.openxmlformats.org/officeDocument/2006/relationships/image" Target="../media/image14.png"/><Relationship Id="rId4" Type="http://schemas.openxmlformats.org/officeDocument/2006/relationships/image" Target="../media/image13.png"/><Relationship Id="rId5" Type="http://schemas.openxmlformats.org/officeDocument/2006/relationships/notesSlide" Target="../notesSlides/notesSlide27.xml"/><Relationship Id="rId6" Type="http://schemas.openxmlformats.org/officeDocument/2006/relationships/image" Target="../media/image44.png"/><Relationship Id="rId7" Type="http://schemas.openxmlformats.org/officeDocument/2006/relationships/image" Target="../media/image45.png"/><Relationship Id="rId8" Type="http://schemas.openxmlformats.org/officeDocument/2006/relationships/image" Target="../media/image23.png"/><Relationship Id="rId9" Type="http://schemas.openxmlformats.org/officeDocument/2006/relationships/image" Target="../media/image2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png"/><Relationship Id="rId3" Type="http://schemas.openxmlformats.org/officeDocument/2006/relationships/image" Target="../media/image14.png"/><Relationship Id="rId4" Type="http://schemas.openxmlformats.org/officeDocument/2006/relationships/image" Target="../media/image13.png"/><Relationship Id="rId5" Type="http://schemas.openxmlformats.org/officeDocument/2006/relationships/notesSlide" Target="../notesSlides/notesSlide28.xml"/><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30.png"/><Relationship Id="rId9" Type="http://schemas.openxmlformats.org/officeDocument/2006/relationships/image" Target="../media/image3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9.png"/><Relationship Id="rId3" Type="http://schemas.openxmlformats.org/officeDocument/2006/relationships/image" Target="../media/image22.png"/><Relationship Id="rId4" Type="http://schemas.openxmlformats.org/officeDocument/2006/relationships/image" Target="../media/image21.png"/><Relationship Id="rId5" Type="http://schemas.openxmlformats.org/officeDocument/2006/relationships/image" Target="../media/image20.png"/><Relationship Id="rId6"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3B1C"/>
        </a:solidFill>
        <a:effectLst/>
      </p:bgPr>
    </p:bg>
    <p:spTree>
      <p:nvGrpSpPr>
        <p:cNvPr id="1" name=""/>
        <p:cNvGrpSpPr/>
        <p:nvPr/>
      </p:nvGrpSpPr>
      <p:grpSpPr>
        <a:xfrm>
          <a:off x="0" y="0"/>
          <a:ext cx="0" cy="0"/>
          <a:chOff x="0" y="0"/>
          <a:chExt cx="0" cy="0"/>
        </a:xfrm>
      </p:grpSpPr>
      <p:pic>
        <p:nvPicPr>
          <p:cNvPr id="2" name="Image 0" descr="logo.png"/>
          <p:cNvPicPr>
            <a:picLocks noChangeAspect="1"/>
          </p:cNvPicPr>
          <p:nvPr/>
        </p:nvPicPr>
        <p:blipFill>
          <a:blip r:embed="rId3"/>
          <a:stretch>
            <a:fillRect/>
          </a:stretch>
        </p:blipFill>
        <p:spPr>
          <a:xfrm>
            <a:off x="8259775" y="1325880"/>
            <a:ext cx="3108960" cy="3017520"/>
          </a:xfrm>
          <a:prstGeom prst="rect">
            <a:avLst/>
          </a:prstGeom>
        </p:spPr>
      </p:pic>
      <p:sp>
        <p:nvSpPr>
          <p:cNvPr id="3" name="Text 0"/>
          <p:cNvSpPr txBox="1"/>
          <p:nvPr/>
        </p:nvSpPr>
        <p:spPr>
          <a:xfrm>
            <a:off x="731520" y="1188720"/>
            <a:ext cx="7315200" cy="457200"/>
          </a:xfrm>
          <a:prstGeom prst="rect">
            <a:avLst/>
          </a:prstGeom>
          <a:noFill/>
          <a:ln/>
        </p:spPr>
        <p:txBody>
          <a:bodyPr wrap="square" lIns="0" tIns="0" rIns="0" bIns="0" rtlCol="0" anchor="t"/>
          <a:lstStyle/>
          <a:p>
            <a:pPr marL="0" indent="0">
              <a:buNone/>
            </a:pPr>
            <a:r>
              <a:rPr lang="en-US" sz="2400" b="1" dirty="0">
                <a:solidFill>
                  <a:srgbClr val="C6A24C"/>
                </a:solidFill>
                <a:latin typeface="Calibri" pitchFamily="34" charset="0"/>
                <a:ea typeface="Calibri" pitchFamily="34" charset="-122"/>
                <a:cs typeface="Calibri" pitchFamily="34" charset="-120"/>
              </a:rPr>
              <a:t>Module 3 · Influence · Unit 8</a:t>
            </a:r>
            <a:endParaRPr lang="en-US" sz="2400" dirty="0"/>
          </a:p>
        </p:txBody>
      </p:sp>
      <p:sp>
        <p:nvSpPr>
          <p:cNvPr id="4" name="Text 1"/>
          <p:cNvSpPr txBox="1"/>
          <p:nvPr/>
        </p:nvSpPr>
        <p:spPr>
          <a:xfrm>
            <a:off x="731520" y="1783080"/>
            <a:ext cx="7223760" cy="2011680"/>
          </a:xfrm>
          <a:prstGeom prst="rect">
            <a:avLst/>
          </a:prstGeom>
          <a:noFill/>
          <a:ln/>
        </p:spPr>
        <p:txBody>
          <a:bodyPr wrap="square" lIns="0" tIns="0" rIns="0" bIns="0" rtlCol="0" anchor="ctr"/>
          <a:lstStyle/>
          <a:p>
            <a:pPr marL="0" indent="0">
              <a:buNone/>
            </a:pPr>
            <a:r>
              <a:rPr lang="en-US" sz="4800" b="1" dirty="0">
                <a:solidFill>
                  <a:srgbClr val="FFFFFF"/>
                </a:solidFill>
                <a:latin typeface="Cambria" pitchFamily="34" charset="0"/>
                <a:ea typeface="Cambria" pitchFamily="34" charset="-122"/>
                <a:cs typeface="Cambria" pitchFamily="34" charset="-120"/>
              </a:rPr>
              <a:t>Performance Measurement</a:t>
            </a:r>
            <a:endParaRPr lang="en-US" sz="4800" dirty="0"/>
          </a:p>
        </p:txBody>
      </p:sp>
      <p:sp>
        <p:nvSpPr>
          <p:cNvPr id="5" name="Text 2"/>
          <p:cNvSpPr txBox="1"/>
          <p:nvPr/>
        </p:nvSpPr>
        <p:spPr>
          <a:xfrm>
            <a:off x="731520" y="3977640"/>
            <a:ext cx="7223760" cy="1188720"/>
          </a:xfrm>
          <a:prstGeom prst="rect">
            <a:avLst/>
          </a:prstGeom>
          <a:noFill/>
          <a:ln/>
        </p:spPr>
        <p:txBody>
          <a:bodyPr wrap="square" lIns="0" tIns="0" rIns="0" bIns="0" rtlCol="0" anchor="t"/>
          <a:lstStyle/>
          <a:p>
            <a:pPr marL="0" indent="0">
              <a:buNone/>
            </a:pPr>
            <a:r>
              <a:rPr lang="en-US" sz="2400" i="1" dirty="0">
                <a:solidFill>
                  <a:srgbClr val="DDE8DF"/>
                </a:solidFill>
                <a:latin typeface="Calibri" pitchFamily="34" charset="0"/>
                <a:ea typeface="Calibri" pitchFamily="34" charset="-122"/>
                <a:cs typeface="Calibri" pitchFamily="34" charset="-120"/>
              </a:rPr>
              <a:t>Making execution visible, correctable and continuous</a:t>
            </a:r>
            <a:endParaRPr lang="en-US" sz="2400" dirty="0"/>
          </a:p>
        </p:txBody>
      </p:sp>
      <p:sp>
        <p:nvSpPr>
          <p:cNvPr id="6" name="Text 3"/>
          <p:cNvSpPr txBox="1"/>
          <p:nvPr/>
        </p:nvSpPr>
        <p:spPr>
          <a:xfrm>
            <a:off x="731520" y="5669280"/>
            <a:ext cx="7315200" cy="457200"/>
          </a:xfrm>
          <a:prstGeom prst="rect">
            <a:avLst/>
          </a:prstGeom>
          <a:noFill/>
          <a:ln/>
        </p:spPr>
        <p:txBody>
          <a:bodyPr wrap="square" lIns="0" tIns="0" rIns="0" bIns="0" rtlCol="0" anchor="t"/>
          <a:lstStyle/>
          <a:p>
            <a:pPr marL="0" indent="0">
              <a:buNone/>
            </a:pPr>
            <a:r>
              <a:rPr lang="en-US" sz="2400" dirty="0">
                <a:solidFill>
                  <a:srgbClr val="E6D3A0"/>
                </a:solidFill>
                <a:latin typeface="Calibri" pitchFamily="34" charset="0"/>
                <a:ea typeface="Calibri" pitchFamily="34" charset="-122"/>
                <a:cs typeface="Calibri" pitchFamily="34" charset="-120"/>
              </a:rPr>
              <a:t>Strategy2Results® · Facilitator deck</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Key learning outcomes</a:t>
            </a:r>
            <a:endParaRPr lang="en-US" sz="3600" dirty="0"/>
          </a:p>
        </p:txBody>
      </p:sp>
      <p:sp>
        <p:nvSpPr>
          <p:cNvPr id="3" name="Shape 1"/>
          <p:cNvSpPr/>
          <p:nvPr/>
        </p:nvSpPr>
        <p:spPr>
          <a:xfrm>
            <a:off x="548640" y="180022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4" name="Image 0" descr="preencoded.png"/>
          <p:cNvPicPr>
            <a:picLocks noChangeAspect="1"/>
          </p:cNvPicPr>
          <p:nvPr/>
        </p:nvPicPr>
        <p:blipFill>
          <a:blip r:embed="rId3"/>
          <a:stretch>
            <a:fillRect/>
          </a:stretch>
        </p:blipFill>
        <p:spPr>
          <a:xfrm>
            <a:off x="708660" y="1960245"/>
            <a:ext cx="320040" cy="320040"/>
          </a:xfrm>
          <a:prstGeom prst="rect">
            <a:avLst/>
          </a:prstGeom>
        </p:spPr>
      </p:pic>
      <p:sp>
        <p:nvSpPr>
          <p:cNvPr id="5" name="Text 2"/>
          <p:cNvSpPr txBox="1"/>
          <p:nvPr/>
        </p:nvSpPr>
        <p:spPr>
          <a:xfrm>
            <a:off x="1508760" y="1508760"/>
            <a:ext cx="10131552" cy="1223010"/>
          </a:xfrm>
          <a:prstGeom prst="rect">
            <a:avLst/>
          </a:prstGeom>
          <a:noFill/>
          <a:ln/>
        </p:spPr>
        <p:txBody>
          <a:bodyPr wrap="square" lIns="0" tIns="0" rIns="0" bIns="0" rtlCol="0" anchor="ctr"/>
          <a:lstStyle/>
          <a:p>
            <a:pPr marL="0" indent="0">
              <a:buNone/>
            </a:pPr>
            <a:r>
              <a:rPr lang="en-US" sz="2400" dirty="0">
                <a:solidFill>
                  <a:srgbClr val="1F2A22"/>
                </a:solidFill>
                <a:latin typeface="Calibri" pitchFamily="34" charset="0"/>
                <a:ea typeface="Calibri" pitchFamily="34" charset="-122"/>
                <a:cs typeface="Calibri" pitchFamily="34" charset="-120"/>
              </a:rPr>
              <a:t>Interpret performance evidence in relation to strategic objectives and organisational context.</a:t>
            </a:r>
            <a:endParaRPr lang="en-US" sz="2400" dirty="0"/>
          </a:p>
        </p:txBody>
      </p:sp>
      <p:sp>
        <p:nvSpPr>
          <p:cNvPr id="6" name="Shape 3"/>
          <p:cNvSpPr/>
          <p:nvPr/>
        </p:nvSpPr>
        <p:spPr>
          <a:xfrm>
            <a:off x="548640" y="302323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7" name="Image 1" descr="preencoded.png"/>
          <p:cNvPicPr>
            <a:picLocks noChangeAspect="1"/>
          </p:cNvPicPr>
          <p:nvPr/>
        </p:nvPicPr>
        <p:blipFill>
          <a:blip r:embed="rId3"/>
          <a:stretch>
            <a:fillRect/>
          </a:stretch>
        </p:blipFill>
        <p:spPr>
          <a:xfrm>
            <a:off x="708660" y="3183255"/>
            <a:ext cx="320040" cy="320040"/>
          </a:xfrm>
          <a:prstGeom prst="rect">
            <a:avLst/>
          </a:prstGeom>
        </p:spPr>
      </p:pic>
      <p:sp>
        <p:nvSpPr>
          <p:cNvPr id="8" name="Text 4"/>
          <p:cNvSpPr txBox="1"/>
          <p:nvPr/>
        </p:nvSpPr>
        <p:spPr>
          <a:xfrm>
            <a:off x="1508760" y="2731770"/>
            <a:ext cx="10131552" cy="1223010"/>
          </a:xfrm>
          <a:prstGeom prst="rect">
            <a:avLst/>
          </a:prstGeom>
          <a:noFill/>
          <a:ln/>
        </p:spPr>
        <p:txBody>
          <a:bodyPr wrap="square" lIns="0" tIns="0" rIns="0" bIns="0" rtlCol="0" anchor="ctr"/>
          <a:lstStyle/>
          <a:p>
            <a:pPr marL="0" indent="0">
              <a:buNone/>
            </a:pPr>
            <a:r>
              <a:rPr lang="en-US" sz="2400" dirty="0">
                <a:solidFill>
                  <a:srgbClr val="1F2A22"/>
                </a:solidFill>
                <a:latin typeface="Calibri" pitchFamily="34" charset="0"/>
                <a:ea typeface="Calibri" pitchFamily="34" charset="-122"/>
                <a:cs typeface="Calibri" pitchFamily="34" charset="-120"/>
              </a:rPr>
              <a:t>Discriminate meaningful strategic progress from activity, compliance and temporary variation.</a:t>
            </a:r>
            <a:endParaRPr lang="en-US" sz="2400" dirty="0"/>
          </a:p>
        </p:txBody>
      </p:sp>
      <p:sp>
        <p:nvSpPr>
          <p:cNvPr id="9" name="Shape 5"/>
          <p:cNvSpPr/>
          <p:nvPr/>
        </p:nvSpPr>
        <p:spPr>
          <a:xfrm>
            <a:off x="548640" y="424624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2" descr="preencoded.png"/>
          <p:cNvPicPr>
            <a:picLocks noChangeAspect="1"/>
          </p:cNvPicPr>
          <p:nvPr/>
        </p:nvPicPr>
        <p:blipFill>
          <a:blip r:embed="rId3"/>
          <a:stretch>
            <a:fillRect/>
          </a:stretch>
        </p:blipFill>
        <p:spPr>
          <a:xfrm>
            <a:off x="708660" y="4406265"/>
            <a:ext cx="320040" cy="320040"/>
          </a:xfrm>
          <a:prstGeom prst="rect">
            <a:avLst/>
          </a:prstGeom>
        </p:spPr>
      </p:pic>
      <p:sp>
        <p:nvSpPr>
          <p:cNvPr id="11" name="Text 6"/>
          <p:cNvSpPr txBox="1"/>
          <p:nvPr/>
        </p:nvSpPr>
        <p:spPr>
          <a:xfrm>
            <a:off x="1508760" y="3954780"/>
            <a:ext cx="10131552" cy="1223010"/>
          </a:xfrm>
          <a:prstGeom prst="rect">
            <a:avLst/>
          </a:prstGeom>
          <a:noFill/>
          <a:ln/>
        </p:spPr>
        <p:txBody>
          <a:bodyPr wrap="square" lIns="0" tIns="0" rIns="0" bIns="0" rtlCol="0" anchor="ctr"/>
          <a:lstStyle/>
          <a:p>
            <a:pPr marL="0" indent="0">
              <a:buNone/>
            </a:pPr>
            <a:r>
              <a:rPr lang="en-US" sz="2400" dirty="0">
                <a:solidFill>
                  <a:srgbClr val="1F2A22"/>
                </a:solidFill>
                <a:latin typeface="Calibri" pitchFamily="34" charset="0"/>
                <a:ea typeface="Calibri" pitchFamily="34" charset="-122"/>
                <a:cs typeface="Calibri" pitchFamily="34" charset="-120"/>
              </a:rPr>
              <a:t>Exercise balanced executive judgement when performance diverges from expectations.</a:t>
            </a:r>
            <a:endParaRPr lang="en-US" sz="2400" dirty="0"/>
          </a:p>
        </p:txBody>
      </p:sp>
      <p:sp>
        <p:nvSpPr>
          <p:cNvPr id="12" name="Shape 7"/>
          <p:cNvSpPr/>
          <p:nvPr/>
        </p:nvSpPr>
        <p:spPr>
          <a:xfrm>
            <a:off x="548640" y="546925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3" name="Image 3" descr="preencoded.png"/>
          <p:cNvPicPr>
            <a:picLocks noChangeAspect="1"/>
          </p:cNvPicPr>
          <p:nvPr/>
        </p:nvPicPr>
        <p:blipFill>
          <a:blip r:embed="rId3"/>
          <a:stretch>
            <a:fillRect/>
          </a:stretch>
        </p:blipFill>
        <p:spPr>
          <a:xfrm>
            <a:off x="708660" y="5629275"/>
            <a:ext cx="320040" cy="320040"/>
          </a:xfrm>
          <a:prstGeom prst="rect">
            <a:avLst/>
          </a:prstGeom>
        </p:spPr>
      </p:pic>
      <p:sp>
        <p:nvSpPr>
          <p:cNvPr id="14" name="Text 8"/>
          <p:cNvSpPr txBox="1"/>
          <p:nvPr/>
        </p:nvSpPr>
        <p:spPr>
          <a:xfrm>
            <a:off x="1508760" y="5177790"/>
            <a:ext cx="10131552" cy="1223010"/>
          </a:xfrm>
          <a:prstGeom prst="rect">
            <a:avLst/>
          </a:prstGeom>
          <a:noFill/>
          <a:ln/>
        </p:spPr>
        <p:txBody>
          <a:bodyPr wrap="square" lIns="0" tIns="0" rIns="0" bIns="0" rtlCol="0" anchor="ctr"/>
          <a:lstStyle/>
          <a:p>
            <a:pPr marL="0" indent="0">
              <a:buNone/>
            </a:pPr>
            <a:r>
              <a:rPr lang="en-US" sz="2400" dirty="0">
                <a:solidFill>
                  <a:srgbClr val="1F2A22"/>
                </a:solidFill>
                <a:latin typeface="Calibri" pitchFamily="34" charset="0"/>
                <a:ea typeface="Calibri" pitchFamily="34" charset="-122"/>
                <a:cs typeface="Calibri" pitchFamily="34" charset="-120"/>
              </a:rPr>
              <a:t>Translate performance evidence into decisions, learning and corrective leadership action.</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The unit journey</a:t>
            </a:r>
            <a:endParaRPr lang="en-US" sz="3600" dirty="0"/>
          </a:p>
        </p:txBody>
      </p:sp>
      <p:sp>
        <p:nvSpPr>
          <p:cNvPr id="3" name="Shape 1"/>
          <p:cNvSpPr/>
          <p:nvPr/>
        </p:nvSpPr>
        <p:spPr>
          <a:xfrm>
            <a:off x="548640" y="1677924"/>
            <a:ext cx="640080" cy="640080"/>
          </a:xfrm>
          <a:prstGeom prst="ellipse">
            <a:avLst/>
          </a:prstGeom>
          <a:solidFill>
            <a:srgbClr val="1A5C2C"/>
          </a:solidFill>
          <a:ln w="12700">
            <a:solidFill>
              <a:srgbClr val="1A5C2C"/>
            </a:solidFill>
            <a:prstDash val="solid"/>
          </a:ln>
        </p:spPr>
        <p:txBody>
          <a:bodyPr/>
          <a:lstStyle/>
          <a:p>
            <a:endParaRPr lang="en-ZA"/>
          </a:p>
        </p:txBody>
      </p:sp>
      <p:pic>
        <p:nvPicPr>
          <p:cNvPr id="4" name="Image 0" descr="preencoded.png"/>
          <p:cNvPicPr>
            <a:picLocks noChangeAspect="1"/>
          </p:cNvPicPr>
          <p:nvPr/>
        </p:nvPicPr>
        <p:blipFill>
          <a:blip r:embed="rId3"/>
          <a:stretch>
            <a:fillRect/>
          </a:stretch>
        </p:blipFill>
        <p:spPr>
          <a:xfrm>
            <a:off x="708660" y="1837944"/>
            <a:ext cx="320040" cy="320040"/>
          </a:xfrm>
          <a:prstGeom prst="rect">
            <a:avLst/>
          </a:prstGeom>
        </p:spPr>
      </p:pic>
      <p:sp>
        <p:nvSpPr>
          <p:cNvPr id="5" name="Text 2"/>
          <p:cNvSpPr txBox="1"/>
          <p:nvPr/>
        </p:nvSpPr>
        <p:spPr>
          <a:xfrm>
            <a:off x="1508760" y="1508760"/>
            <a:ext cx="10131552" cy="978408"/>
          </a:xfrm>
          <a:prstGeom prst="rect">
            <a:avLst/>
          </a:prstGeom>
          <a:noFill/>
          <a:ln/>
        </p:spPr>
        <p:txBody>
          <a:bodyPr wrap="square" lIns="0" tIns="0" rIns="0" bIns="0" rtlCol="0" anchor="ctr"/>
          <a:lstStyle/>
          <a:p>
            <a:pPr marL="0" indent="0">
              <a:buNone/>
            </a:pPr>
            <a:r>
              <a:rPr lang="en-US" sz="2800" b="1" dirty="0">
                <a:solidFill>
                  <a:srgbClr val="1A5C2C"/>
                </a:solidFill>
                <a:latin typeface="Cambria" pitchFamily="34" charset="0"/>
                <a:ea typeface="Cambria" pitchFamily="34" charset="-122"/>
                <a:cs typeface="Cambria" pitchFamily="34" charset="-120"/>
              </a:rPr>
              <a:t>Section 1 · Awareness  </a:t>
            </a:r>
            <a:r>
              <a:rPr lang="en-US" sz="2800" dirty="0">
                <a:solidFill>
                  <a:srgbClr val="1F2A22"/>
                </a:solidFill>
                <a:latin typeface="Calibri" pitchFamily="34" charset="0"/>
                <a:ea typeface="Calibri" pitchFamily="34" charset="-122"/>
                <a:cs typeface="Calibri" pitchFamily="34" charset="-120"/>
              </a:rPr>
              <a:t>— What</a:t>
            </a:r>
            <a:endParaRPr lang="en-US" sz="2800" dirty="0"/>
          </a:p>
        </p:txBody>
      </p:sp>
      <p:sp>
        <p:nvSpPr>
          <p:cNvPr id="6" name="Shape 3"/>
          <p:cNvSpPr/>
          <p:nvPr/>
        </p:nvSpPr>
        <p:spPr>
          <a:xfrm>
            <a:off x="548640" y="2656332"/>
            <a:ext cx="640080" cy="640080"/>
          </a:xfrm>
          <a:prstGeom prst="ellipse">
            <a:avLst/>
          </a:prstGeom>
          <a:solidFill>
            <a:srgbClr val="1A5C2C"/>
          </a:solidFill>
          <a:ln w="12700">
            <a:solidFill>
              <a:srgbClr val="1A5C2C"/>
            </a:solidFill>
            <a:prstDash val="solid"/>
          </a:ln>
        </p:spPr>
        <p:txBody>
          <a:bodyPr/>
          <a:lstStyle/>
          <a:p>
            <a:endParaRPr lang="en-ZA"/>
          </a:p>
        </p:txBody>
      </p:sp>
      <p:pic>
        <p:nvPicPr>
          <p:cNvPr id="7" name="Image 1" descr="preencoded.png"/>
          <p:cNvPicPr>
            <a:picLocks noChangeAspect="1"/>
          </p:cNvPicPr>
          <p:nvPr/>
        </p:nvPicPr>
        <p:blipFill>
          <a:blip r:embed="rId4"/>
          <a:stretch>
            <a:fillRect/>
          </a:stretch>
        </p:blipFill>
        <p:spPr>
          <a:xfrm>
            <a:off x="708660" y="2816352"/>
            <a:ext cx="320040" cy="320040"/>
          </a:xfrm>
          <a:prstGeom prst="rect">
            <a:avLst/>
          </a:prstGeom>
        </p:spPr>
      </p:pic>
      <p:sp>
        <p:nvSpPr>
          <p:cNvPr id="8" name="Text 4"/>
          <p:cNvSpPr txBox="1"/>
          <p:nvPr/>
        </p:nvSpPr>
        <p:spPr>
          <a:xfrm>
            <a:off x="1508760" y="2487168"/>
            <a:ext cx="10131552" cy="978408"/>
          </a:xfrm>
          <a:prstGeom prst="rect">
            <a:avLst/>
          </a:prstGeom>
          <a:noFill/>
          <a:ln/>
        </p:spPr>
        <p:txBody>
          <a:bodyPr wrap="square" lIns="0" tIns="0" rIns="0" bIns="0" rtlCol="0" anchor="ctr"/>
          <a:lstStyle/>
          <a:p>
            <a:pPr marL="0" indent="0">
              <a:buNone/>
            </a:pPr>
            <a:r>
              <a:rPr lang="en-US" sz="2800" b="1" dirty="0">
                <a:solidFill>
                  <a:srgbClr val="1A5C2C"/>
                </a:solidFill>
                <a:latin typeface="Cambria" pitchFamily="34" charset="0"/>
                <a:ea typeface="Cambria" pitchFamily="34" charset="-122"/>
                <a:cs typeface="Cambria" pitchFamily="34" charset="-120"/>
              </a:rPr>
              <a:t>Section 2 · Intelligence  </a:t>
            </a:r>
            <a:r>
              <a:rPr lang="en-US" sz="2800" dirty="0">
                <a:solidFill>
                  <a:srgbClr val="1F2A22"/>
                </a:solidFill>
                <a:latin typeface="Calibri" pitchFamily="34" charset="0"/>
                <a:ea typeface="Calibri" pitchFamily="34" charset="-122"/>
                <a:cs typeface="Calibri" pitchFamily="34" charset="-120"/>
              </a:rPr>
              <a:t>— Why</a:t>
            </a:r>
            <a:endParaRPr lang="en-US" sz="2800" dirty="0"/>
          </a:p>
        </p:txBody>
      </p:sp>
      <p:sp>
        <p:nvSpPr>
          <p:cNvPr id="9" name="Shape 5"/>
          <p:cNvSpPr/>
          <p:nvPr/>
        </p:nvSpPr>
        <p:spPr>
          <a:xfrm>
            <a:off x="548640" y="363474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2" descr="preencoded.png"/>
          <p:cNvPicPr>
            <a:picLocks noChangeAspect="1"/>
          </p:cNvPicPr>
          <p:nvPr/>
        </p:nvPicPr>
        <p:blipFill>
          <a:blip r:embed="rId5"/>
          <a:stretch>
            <a:fillRect/>
          </a:stretch>
        </p:blipFill>
        <p:spPr>
          <a:xfrm>
            <a:off x="708660" y="3794760"/>
            <a:ext cx="320040" cy="320040"/>
          </a:xfrm>
          <a:prstGeom prst="rect">
            <a:avLst/>
          </a:prstGeom>
        </p:spPr>
      </p:pic>
      <p:sp>
        <p:nvSpPr>
          <p:cNvPr id="11" name="Text 6"/>
          <p:cNvSpPr txBox="1"/>
          <p:nvPr/>
        </p:nvSpPr>
        <p:spPr>
          <a:xfrm>
            <a:off x="1508760" y="3465576"/>
            <a:ext cx="10131552" cy="978408"/>
          </a:xfrm>
          <a:prstGeom prst="rect">
            <a:avLst/>
          </a:prstGeom>
          <a:noFill/>
          <a:ln/>
        </p:spPr>
        <p:txBody>
          <a:bodyPr wrap="square" lIns="0" tIns="0" rIns="0" bIns="0" rtlCol="0" anchor="ctr"/>
          <a:lstStyle/>
          <a:p>
            <a:pPr marL="0" indent="0">
              <a:buNone/>
            </a:pPr>
            <a:r>
              <a:rPr lang="en-US" sz="2800" b="1" dirty="0">
                <a:solidFill>
                  <a:srgbClr val="1A5C2C"/>
                </a:solidFill>
                <a:latin typeface="Cambria" pitchFamily="34" charset="0"/>
                <a:ea typeface="Cambria" pitchFamily="34" charset="-122"/>
                <a:cs typeface="Cambria" pitchFamily="34" charset="-120"/>
              </a:rPr>
              <a:t>Section 3 · Extrapolating  </a:t>
            </a:r>
            <a:r>
              <a:rPr lang="en-US" sz="2800" dirty="0">
                <a:solidFill>
                  <a:srgbClr val="1F2A22"/>
                </a:solidFill>
                <a:latin typeface="Calibri" pitchFamily="34" charset="0"/>
                <a:ea typeface="Calibri" pitchFamily="34" charset="-122"/>
                <a:cs typeface="Calibri" pitchFamily="34" charset="-120"/>
              </a:rPr>
              <a:t>— Where</a:t>
            </a:r>
            <a:endParaRPr lang="en-US" sz="2800" dirty="0"/>
          </a:p>
        </p:txBody>
      </p:sp>
      <p:sp>
        <p:nvSpPr>
          <p:cNvPr id="12" name="Shape 7"/>
          <p:cNvSpPr/>
          <p:nvPr/>
        </p:nvSpPr>
        <p:spPr>
          <a:xfrm>
            <a:off x="548640" y="4613148"/>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3" name="Image 3" descr="preencoded.png"/>
          <p:cNvPicPr>
            <a:picLocks noChangeAspect="1"/>
          </p:cNvPicPr>
          <p:nvPr/>
        </p:nvPicPr>
        <p:blipFill>
          <a:blip r:embed="rId6"/>
          <a:stretch>
            <a:fillRect/>
          </a:stretch>
        </p:blipFill>
        <p:spPr>
          <a:xfrm>
            <a:off x="708660" y="4773168"/>
            <a:ext cx="320040" cy="320040"/>
          </a:xfrm>
          <a:prstGeom prst="rect">
            <a:avLst/>
          </a:prstGeom>
        </p:spPr>
      </p:pic>
      <p:sp>
        <p:nvSpPr>
          <p:cNvPr id="14" name="Text 8"/>
          <p:cNvSpPr txBox="1"/>
          <p:nvPr/>
        </p:nvSpPr>
        <p:spPr>
          <a:xfrm>
            <a:off x="1508760" y="4443984"/>
            <a:ext cx="10131552" cy="978408"/>
          </a:xfrm>
          <a:prstGeom prst="rect">
            <a:avLst/>
          </a:prstGeom>
          <a:noFill/>
          <a:ln/>
        </p:spPr>
        <p:txBody>
          <a:bodyPr wrap="square" lIns="0" tIns="0" rIns="0" bIns="0" rtlCol="0" anchor="ctr"/>
          <a:lstStyle/>
          <a:p>
            <a:pPr marL="0" indent="0">
              <a:buNone/>
            </a:pPr>
            <a:r>
              <a:rPr lang="en-US" sz="2800" b="1" dirty="0">
                <a:solidFill>
                  <a:srgbClr val="1A5C2C"/>
                </a:solidFill>
                <a:latin typeface="Cambria" pitchFamily="34" charset="0"/>
                <a:ea typeface="Cambria" pitchFamily="34" charset="-122"/>
                <a:cs typeface="Cambria" pitchFamily="34" charset="-120"/>
              </a:rPr>
              <a:t>Section 4 · Integration  </a:t>
            </a:r>
            <a:r>
              <a:rPr lang="en-US" sz="2800" dirty="0">
                <a:solidFill>
                  <a:srgbClr val="1F2A22"/>
                </a:solidFill>
                <a:latin typeface="Calibri" pitchFamily="34" charset="0"/>
                <a:ea typeface="Calibri" pitchFamily="34" charset="-122"/>
                <a:cs typeface="Calibri" pitchFamily="34" charset="-120"/>
              </a:rPr>
              <a:t>— Collective</a:t>
            </a:r>
            <a:endParaRPr lang="en-US" sz="2800" dirty="0"/>
          </a:p>
        </p:txBody>
      </p:sp>
      <p:sp>
        <p:nvSpPr>
          <p:cNvPr id="15" name="Shape 9"/>
          <p:cNvSpPr/>
          <p:nvPr/>
        </p:nvSpPr>
        <p:spPr>
          <a:xfrm>
            <a:off x="548640" y="5591556"/>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6" name="Image 4" descr="preencoded.png"/>
          <p:cNvPicPr>
            <a:picLocks noChangeAspect="1"/>
          </p:cNvPicPr>
          <p:nvPr/>
        </p:nvPicPr>
        <p:blipFill>
          <a:blip r:embed="rId7"/>
          <a:stretch>
            <a:fillRect/>
          </a:stretch>
        </p:blipFill>
        <p:spPr>
          <a:xfrm>
            <a:off x="708660" y="5751576"/>
            <a:ext cx="320040" cy="320040"/>
          </a:xfrm>
          <a:prstGeom prst="rect">
            <a:avLst/>
          </a:prstGeom>
        </p:spPr>
      </p:pic>
      <p:sp>
        <p:nvSpPr>
          <p:cNvPr id="17" name="Text 10"/>
          <p:cNvSpPr txBox="1"/>
          <p:nvPr/>
        </p:nvSpPr>
        <p:spPr>
          <a:xfrm>
            <a:off x="1508760" y="5422392"/>
            <a:ext cx="10131552" cy="978408"/>
          </a:xfrm>
          <a:prstGeom prst="rect">
            <a:avLst/>
          </a:prstGeom>
          <a:noFill/>
          <a:ln/>
        </p:spPr>
        <p:txBody>
          <a:bodyPr wrap="square" lIns="0" tIns="0" rIns="0" bIns="0" rtlCol="0" anchor="ctr"/>
          <a:lstStyle/>
          <a:p>
            <a:pPr marL="0" indent="0">
              <a:buNone/>
            </a:pPr>
            <a:r>
              <a:rPr lang="en-US" sz="2800" b="1" dirty="0">
                <a:solidFill>
                  <a:srgbClr val="1A5C2C"/>
                </a:solidFill>
                <a:latin typeface="Cambria" pitchFamily="34" charset="0"/>
                <a:ea typeface="Cambria" pitchFamily="34" charset="-122"/>
                <a:cs typeface="Cambria" pitchFamily="34" charset="-120"/>
              </a:rPr>
              <a:t>Section 5 · Application  </a:t>
            </a:r>
            <a:r>
              <a:rPr lang="en-US" sz="2800" dirty="0">
                <a:solidFill>
                  <a:srgbClr val="1F2A22"/>
                </a:solidFill>
                <a:latin typeface="Calibri" pitchFamily="34" charset="0"/>
                <a:ea typeface="Calibri" pitchFamily="34" charset="-122"/>
                <a:cs typeface="Calibri" pitchFamily="34" charset="-120"/>
              </a:rPr>
              <a:t>— In Practice</a:t>
            </a:r>
            <a:endParaRPr lang="en-US"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5C2C"/>
        </a:solidFill>
        <a:effectLst/>
      </p:bgPr>
    </p:bg>
    <p:spTree>
      <p:nvGrpSpPr>
        <p:cNvPr id="1" name=""/>
        <p:cNvGrpSpPr/>
        <p:nvPr/>
      </p:nvGrpSpPr>
      <p:grpSpPr>
        <a:xfrm>
          <a:off x="0" y="0"/>
          <a:ext cx="0" cy="0"/>
          <a:chOff x="0" y="0"/>
          <a:chExt cx="0" cy="0"/>
        </a:xfrm>
      </p:grpSpPr>
      <p:sp>
        <p:nvSpPr>
          <p:cNvPr id="2" name="Text 0"/>
          <p:cNvSpPr txBox="1"/>
          <p:nvPr/>
        </p:nvSpPr>
        <p:spPr>
          <a:xfrm>
            <a:off x="457200" y="822960"/>
            <a:ext cx="2103120" cy="2194560"/>
          </a:xfrm>
          <a:prstGeom prst="rect">
            <a:avLst/>
          </a:prstGeom>
          <a:noFill/>
          <a:ln/>
        </p:spPr>
        <p:txBody>
          <a:bodyPr wrap="square" lIns="0" tIns="0" rIns="0" bIns="0" rtlCol="0" anchor="t"/>
          <a:lstStyle/>
          <a:p>
            <a:pPr marL="0" indent="0">
              <a:buNone/>
            </a:pPr>
            <a:r>
              <a:rPr lang="en-US" sz="15000" b="1" dirty="0">
                <a:solidFill>
                  <a:srgbClr val="C6A24C"/>
                </a:solidFill>
                <a:latin typeface="Cambria" pitchFamily="34" charset="0"/>
                <a:ea typeface="Cambria" pitchFamily="34" charset="-122"/>
                <a:cs typeface="Cambria" pitchFamily="34" charset="-120"/>
              </a:rPr>
              <a:t>1</a:t>
            </a:r>
            <a:endParaRPr lang="en-US" sz="15000" dirty="0"/>
          </a:p>
        </p:txBody>
      </p:sp>
      <p:sp>
        <p:nvSpPr>
          <p:cNvPr id="3" name="Text 1"/>
          <p:cNvSpPr txBox="1"/>
          <p:nvPr/>
        </p:nvSpPr>
        <p:spPr>
          <a:xfrm>
            <a:off x="2743200" y="914400"/>
            <a:ext cx="8229600" cy="457200"/>
          </a:xfrm>
          <a:prstGeom prst="rect">
            <a:avLst/>
          </a:prstGeom>
          <a:noFill/>
          <a:ln/>
        </p:spPr>
        <p:txBody>
          <a:bodyPr wrap="square" lIns="0" tIns="0" rIns="0" bIns="0" rtlCol="0" anchor="t"/>
          <a:lstStyle/>
          <a:p>
            <a:pPr marL="0" indent="0">
              <a:buNone/>
            </a:pPr>
            <a:r>
              <a:rPr lang="en-US" sz="2400" b="1" dirty="0">
                <a:solidFill>
                  <a:srgbClr val="E6D3A0"/>
                </a:solidFill>
                <a:latin typeface="Calibri" pitchFamily="34" charset="0"/>
                <a:ea typeface="Calibri" pitchFamily="34" charset="-122"/>
                <a:cs typeface="Calibri" pitchFamily="34" charset="-120"/>
              </a:rPr>
              <a:t>Section 1</a:t>
            </a:r>
            <a:endParaRPr lang="en-US" sz="2400" dirty="0"/>
          </a:p>
        </p:txBody>
      </p:sp>
      <p:sp>
        <p:nvSpPr>
          <p:cNvPr id="4" name="Text 2"/>
          <p:cNvSpPr txBox="1"/>
          <p:nvPr/>
        </p:nvSpPr>
        <p:spPr>
          <a:xfrm>
            <a:off x="2743200" y="1371600"/>
            <a:ext cx="8961120" cy="868680"/>
          </a:xfrm>
          <a:prstGeom prst="rect">
            <a:avLst/>
          </a:prstGeom>
          <a:noFill/>
          <a:ln/>
        </p:spPr>
        <p:txBody>
          <a:bodyPr wrap="square" lIns="0" tIns="0" rIns="0" bIns="0" rtlCol="0" anchor="t"/>
          <a:lstStyle/>
          <a:p>
            <a:pPr marL="0" indent="0">
              <a:buNone/>
            </a:pPr>
            <a:r>
              <a:rPr lang="en-US" sz="4400" b="1" dirty="0">
                <a:solidFill>
                  <a:srgbClr val="FFFFFF"/>
                </a:solidFill>
                <a:latin typeface="Cambria" pitchFamily="34" charset="0"/>
                <a:ea typeface="Cambria" pitchFamily="34" charset="-122"/>
                <a:cs typeface="Cambria" pitchFamily="34" charset="-120"/>
              </a:rPr>
              <a:t>Awareness — What</a:t>
            </a:r>
            <a:endParaRPr lang="en-US" sz="4400" dirty="0"/>
          </a:p>
        </p:txBody>
      </p:sp>
      <p:sp>
        <p:nvSpPr>
          <p:cNvPr id="5" name="Text 3"/>
          <p:cNvSpPr txBox="1"/>
          <p:nvPr/>
        </p:nvSpPr>
        <p:spPr>
          <a:xfrm>
            <a:off x="2743200" y="2240280"/>
            <a:ext cx="8961120" cy="868680"/>
          </a:xfrm>
          <a:prstGeom prst="rect">
            <a:avLst/>
          </a:prstGeom>
          <a:noFill/>
          <a:ln/>
        </p:spPr>
        <p:txBody>
          <a:bodyPr wrap="square" lIns="0" tIns="0" rIns="0" bIns="0" rtlCol="0" anchor="t"/>
          <a:lstStyle/>
          <a:p>
            <a:pPr marL="0" indent="0">
              <a:buNone/>
            </a:pPr>
            <a:r>
              <a:rPr lang="en-US" sz="2600" i="1" dirty="0">
                <a:solidFill>
                  <a:srgbClr val="DDE8DF"/>
                </a:solidFill>
                <a:latin typeface="Calibri" pitchFamily="34" charset="0"/>
                <a:ea typeface="Calibri" pitchFamily="34" charset="-122"/>
                <a:cs typeface="Calibri" pitchFamily="34" charset="-120"/>
              </a:rPr>
              <a:t>What is Performance Measurement?</a:t>
            </a:r>
            <a:endParaRPr lang="en-US" sz="2600" dirty="0"/>
          </a:p>
        </p:txBody>
      </p:sp>
      <p:sp>
        <p:nvSpPr>
          <p:cNvPr id="6" name="Text 4"/>
          <p:cNvSpPr txBox="1"/>
          <p:nvPr/>
        </p:nvSpPr>
        <p:spPr>
          <a:xfrm>
            <a:off x="2743200" y="3246120"/>
            <a:ext cx="8229600" cy="457200"/>
          </a:xfrm>
          <a:prstGeom prst="rect">
            <a:avLst/>
          </a:prstGeom>
          <a:noFill/>
          <a:ln/>
        </p:spPr>
        <p:txBody>
          <a:bodyPr wrap="square" lIns="0" tIns="0" rIns="0" bIns="0" rtlCol="0" anchor="t"/>
          <a:lstStyle/>
          <a:p>
            <a:pPr marL="0" indent="0">
              <a:buNone/>
            </a:pPr>
            <a:r>
              <a:rPr lang="en-US" sz="2400" b="1" dirty="0">
                <a:solidFill>
                  <a:srgbClr val="C6A24C"/>
                </a:solidFill>
                <a:latin typeface="Calibri" pitchFamily="34" charset="0"/>
                <a:ea typeface="Calibri" pitchFamily="34" charset="-122"/>
                <a:cs typeface="Calibri" pitchFamily="34" charset="-120"/>
              </a:rPr>
              <a:t>Section learning outcomes</a:t>
            </a:r>
            <a:endParaRPr lang="en-US" sz="2400" dirty="0"/>
          </a:p>
        </p:txBody>
      </p:sp>
      <p:sp>
        <p:nvSpPr>
          <p:cNvPr id="7" name="Shape 5"/>
          <p:cNvSpPr/>
          <p:nvPr/>
        </p:nvSpPr>
        <p:spPr>
          <a:xfrm>
            <a:off x="2743200" y="382219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8" name="Image 0" descr="preencoded.png"/>
          <p:cNvPicPr>
            <a:picLocks noChangeAspect="1"/>
          </p:cNvPicPr>
          <p:nvPr/>
        </p:nvPicPr>
        <p:blipFill>
          <a:blip r:embed="rId3"/>
          <a:stretch>
            <a:fillRect/>
          </a:stretch>
        </p:blipFill>
        <p:spPr>
          <a:xfrm>
            <a:off x="2839212" y="3918204"/>
            <a:ext cx="192024" cy="192024"/>
          </a:xfrm>
          <a:prstGeom prst="rect">
            <a:avLst/>
          </a:prstGeom>
        </p:spPr>
      </p:pic>
      <p:sp>
        <p:nvSpPr>
          <p:cNvPr id="9" name="Text 6"/>
          <p:cNvSpPr txBox="1"/>
          <p:nvPr/>
        </p:nvSpPr>
        <p:spPr>
          <a:xfrm>
            <a:off x="3291840" y="374904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Evaluate whether reported activity demonstrates genuine strategic progress.</a:t>
            </a:r>
            <a:endParaRPr lang="en-US" sz="2400" dirty="0"/>
          </a:p>
        </p:txBody>
      </p:sp>
      <p:sp>
        <p:nvSpPr>
          <p:cNvPr id="10" name="Shape 7"/>
          <p:cNvSpPr/>
          <p:nvPr/>
        </p:nvSpPr>
        <p:spPr>
          <a:xfrm>
            <a:off x="2743200" y="501091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11" name="Image 1" descr="preencoded.png"/>
          <p:cNvPicPr>
            <a:picLocks noChangeAspect="1"/>
          </p:cNvPicPr>
          <p:nvPr/>
        </p:nvPicPr>
        <p:blipFill>
          <a:blip r:embed="rId3"/>
          <a:stretch>
            <a:fillRect/>
          </a:stretch>
        </p:blipFill>
        <p:spPr>
          <a:xfrm>
            <a:off x="2839212" y="5106924"/>
            <a:ext cx="192024" cy="192024"/>
          </a:xfrm>
          <a:prstGeom prst="rect">
            <a:avLst/>
          </a:prstGeom>
        </p:spPr>
      </p:pic>
      <p:sp>
        <p:nvSpPr>
          <p:cNvPr id="12" name="Text 8"/>
          <p:cNvSpPr txBox="1"/>
          <p:nvPr/>
        </p:nvSpPr>
        <p:spPr>
          <a:xfrm>
            <a:off x="3291840" y="493776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Use performance evidence to determine timely realignment and corrective action.</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3B1C"/>
        </a:solidFill>
        <a:effectLst/>
      </p:bgPr>
    </p:bg>
    <p:spTree>
      <p:nvGrpSpPr>
        <p:cNvPr id="1" name=""/>
        <p:cNvGrpSpPr/>
        <p:nvPr/>
      </p:nvGrpSpPr>
      <p:grpSpPr>
        <a:xfrm>
          <a:off x="0" y="0"/>
          <a:ext cx="0" cy="0"/>
          <a:chOff x="0" y="0"/>
          <a:chExt cx="0" cy="0"/>
        </a:xfrm>
      </p:grpSpPr>
      <p:sp>
        <p:nvSpPr>
          <p:cNvPr id="2" name="Shape 0"/>
          <p:cNvSpPr/>
          <p:nvPr/>
        </p:nvSpPr>
        <p:spPr>
          <a:xfrm>
            <a:off x="731520" y="1097280"/>
            <a:ext cx="1097280" cy="1097280"/>
          </a:xfrm>
          <a:prstGeom prst="ellipse">
            <a:avLst/>
          </a:prstGeom>
          <a:solidFill>
            <a:srgbClr val="C6A24C"/>
          </a:solidFill>
          <a:ln w="12700">
            <a:solidFill>
              <a:srgbClr val="C6A24C"/>
            </a:solidFill>
            <a:prstDash val="solid"/>
          </a:ln>
        </p:spPr>
        <p:txBody>
          <a:bodyPr/>
          <a:lstStyle/>
          <a:p>
            <a:endParaRPr lang="en-ZA"/>
          </a:p>
        </p:txBody>
      </p:sp>
      <p:pic>
        <p:nvPicPr>
          <p:cNvPr id="3" name="Image 0" descr="preencoded.png"/>
          <p:cNvPicPr>
            <a:picLocks noChangeAspect="1"/>
          </p:cNvPicPr>
          <p:nvPr/>
        </p:nvPicPr>
        <p:blipFill>
          <a:blip r:embed="rId3"/>
          <a:stretch>
            <a:fillRect/>
          </a:stretch>
        </p:blipFill>
        <p:spPr>
          <a:xfrm>
            <a:off x="1005840" y="1371600"/>
            <a:ext cx="548640" cy="548640"/>
          </a:xfrm>
          <a:prstGeom prst="rect">
            <a:avLst/>
          </a:prstGeom>
        </p:spPr>
      </p:pic>
      <p:sp>
        <p:nvSpPr>
          <p:cNvPr id="4" name="Text 1"/>
          <p:cNvSpPr txBox="1"/>
          <p:nvPr/>
        </p:nvSpPr>
        <p:spPr>
          <a:xfrm>
            <a:off x="2103120" y="1280160"/>
            <a:ext cx="9144000" cy="640080"/>
          </a:xfrm>
          <a:prstGeom prst="rect">
            <a:avLst/>
          </a:prstGeom>
          <a:noFill/>
          <a:ln/>
        </p:spPr>
        <p:txBody>
          <a:bodyPr wrap="square" lIns="0" tIns="0" rIns="0" bIns="0" rtlCol="0" anchor="t"/>
          <a:lstStyle/>
          <a:p>
            <a:pPr marL="0" indent="0">
              <a:buNone/>
            </a:pPr>
            <a:r>
              <a:rPr lang="en-US" sz="2600" b="1" dirty="0">
                <a:solidFill>
                  <a:srgbClr val="C6A24C"/>
                </a:solidFill>
                <a:latin typeface="Calibri" pitchFamily="34" charset="0"/>
                <a:ea typeface="Calibri" pitchFamily="34" charset="-122"/>
                <a:cs typeface="Calibri" pitchFamily="34" charset="-120"/>
              </a:rPr>
              <a:t>1.1 · The execution visibility infrastructure</a:t>
            </a:r>
            <a:endParaRPr lang="en-US" sz="2600" dirty="0"/>
          </a:p>
        </p:txBody>
      </p:sp>
      <p:sp>
        <p:nvSpPr>
          <p:cNvPr id="5" name="Text 2"/>
          <p:cNvSpPr txBox="1"/>
          <p:nvPr/>
        </p:nvSpPr>
        <p:spPr>
          <a:xfrm>
            <a:off x="2103120" y="2103120"/>
            <a:ext cx="9418320" cy="3474720"/>
          </a:xfrm>
          <a:prstGeom prst="rect">
            <a:avLst/>
          </a:prstGeom>
          <a:noFill/>
          <a:ln/>
        </p:spPr>
        <p:txBody>
          <a:bodyPr wrap="square" lIns="0" tIns="0" rIns="0" bIns="0" rtlCol="0" anchor="t"/>
          <a:lstStyle/>
          <a:p>
            <a:pPr marL="0" indent="0">
              <a:buNone/>
            </a:pPr>
            <a:r>
              <a:rPr lang="en-US" sz="3600" i="1" dirty="0">
                <a:solidFill>
                  <a:srgbClr val="FFFFFF"/>
                </a:solidFill>
                <a:latin typeface="Cambria" pitchFamily="34" charset="0"/>
                <a:ea typeface="Cambria" pitchFamily="34" charset="-122"/>
                <a:cs typeface="Cambria" pitchFamily="34" charset="-120"/>
              </a:rPr>
              <a:t>Are we actually moving closer to our Success in Practice?</a:t>
            </a:r>
            <a:endParaRPr lang="en-US" sz="3600" dirty="0"/>
          </a:p>
        </p:txBody>
      </p:sp>
      <p:sp>
        <p:nvSpPr>
          <p:cNvPr id="6" name="Text 3"/>
          <p:cNvSpPr txBox="1"/>
          <p:nvPr/>
        </p:nvSpPr>
        <p:spPr>
          <a:xfrm>
            <a:off x="2103120" y="5577840"/>
            <a:ext cx="9418320" cy="822960"/>
          </a:xfrm>
          <a:prstGeom prst="rect">
            <a:avLst/>
          </a:prstGeom>
          <a:noFill/>
          <a:ln/>
        </p:spPr>
        <p:txBody>
          <a:bodyPr wrap="square" lIns="0" tIns="0" rIns="0" bIns="0" rtlCol="0" anchor="t"/>
          <a:lstStyle/>
          <a:p>
            <a:pPr marL="0" indent="0">
              <a:buNone/>
            </a:pPr>
            <a:r>
              <a:rPr lang="en-US" sz="2400" dirty="0">
                <a:solidFill>
                  <a:srgbClr val="DDE8DF"/>
                </a:solidFill>
                <a:latin typeface="Calibri" pitchFamily="34" charset="0"/>
                <a:ea typeface="Calibri" pitchFamily="34" charset="-122"/>
                <a:cs typeface="Calibri" pitchFamily="34" charset="-120"/>
              </a:rPr>
              <a:t>From “What work was done?” to “What changed because of the work?”</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1.2 · Four strategic purposes of measurement</a:t>
            </a:r>
            <a:endParaRPr lang="en-US" sz="3600" dirty="0"/>
          </a:p>
        </p:txBody>
      </p:sp>
      <p:sp>
        <p:nvSpPr>
          <p:cNvPr id="3" name="Shape 1"/>
          <p:cNvSpPr/>
          <p:nvPr/>
        </p:nvSpPr>
        <p:spPr>
          <a:xfrm>
            <a:off x="548640" y="1508760"/>
            <a:ext cx="5408676" cy="2286000"/>
          </a:xfrm>
          <a:prstGeom prst="roundRect">
            <a:avLst>
              <a:gd name="adj" fmla="val 4000"/>
            </a:avLst>
          </a:prstGeom>
          <a:solidFill>
            <a:srgbClr val="EEF4EF"/>
          </a:solidFill>
          <a:ln w="12700">
            <a:solidFill>
              <a:srgbClr val="EEF4EF"/>
            </a:solidFill>
            <a:prstDash val="solid"/>
          </a:ln>
        </p:spPr>
        <p:txBody>
          <a:bodyPr/>
          <a:lstStyle/>
          <a:p>
            <a:endParaRPr lang="en-ZA"/>
          </a:p>
        </p:txBody>
      </p:sp>
      <p:sp>
        <p:nvSpPr>
          <p:cNvPr id="4" name="Shape 2"/>
          <p:cNvSpPr/>
          <p:nvPr/>
        </p:nvSpPr>
        <p:spPr>
          <a:xfrm>
            <a:off x="777240" y="1737360"/>
            <a:ext cx="548640" cy="548640"/>
          </a:xfrm>
          <a:prstGeom prst="ellipse">
            <a:avLst/>
          </a:prstGeom>
          <a:solidFill>
            <a:srgbClr val="1A5C2C"/>
          </a:solidFill>
          <a:ln w="12700">
            <a:solidFill>
              <a:srgbClr val="1A5C2C"/>
            </a:solidFill>
            <a:prstDash val="solid"/>
          </a:ln>
        </p:spPr>
        <p:txBody>
          <a:bodyPr/>
          <a:lstStyle/>
          <a:p>
            <a:endParaRPr lang="en-ZA"/>
          </a:p>
        </p:txBody>
      </p:sp>
      <p:pic>
        <p:nvPicPr>
          <p:cNvPr id="5" name="Image 0" descr="preencoded.png"/>
          <p:cNvPicPr>
            <a:picLocks noChangeAspect="1"/>
          </p:cNvPicPr>
          <p:nvPr/>
        </p:nvPicPr>
        <p:blipFill>
          <a:blip r:embed="rId3"/>
          <a:stretch>
            <a:fillRect/>
          </a:stretch>
        </p:blipFill>
        <p:spPr>
          <a:xfrm>
            <a:off x="914400" y="1874520"/>
            <a:ext cx="274320" cy="274320"/>
          </a:xfrm>
          <a:prstGeom prst="rect">
            <a:avLst/>
          </a:prstGeom>
        </p:spPr>
      </p:pic>
      <p:sp>
        <p:nvSpPr>
          <p:cNvPr id="6" name="Text 3"/>
          <p:cNvSpPr txBox="1"/>
          <p:nvPr/>
        </p:nvSpPr>
        <p:spPr>
          <a:xfrm>
            <a:off x="1508760" y="1691640"/>
            <a:ext cx="4219956" cy="64008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01 · Creates Visibility</a:t>
            </a:r>
            <a:endParaRPr lang="en-US" sz="2600" dirty="0"/>
          </a:p>
        </p:txBody>
      </p:sp>
      <p:sp>
        <p:nvSpPr>
          <p:cNvPr id="7" name="Text 4"/>
          <p:cNvSpPr txBox="1"/>
          <p:nvPr/>
        </p:nvSpPr>
        <p:spPr>
          <a:xfrm>
            <a:off x="777240" y="2468880"/>
            <a:ext cx="4951476" cy="1188720"/>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Where momentum is gained and where it stalls.</a:t>
            </a:r>
            <a:endParaRPr lang="en-US" sz="2400" dirty="0"/>
          </a:p>
        </p:txBody>
      </p:sp>
      <p:sp>
        <p:nvSpPr>
          <p:cNvPr id="8" name="Shape 5"/>
          <p:cNvSpPr/>
          <p:nvPr/>
        </p:nvSpPr>
        <p:spPr>
          <a:xfrm>
            <a:off x="6231636" y="1508760"/>
            <a:ext cx="5408676" cy="2286000"/>
          </a:xfrm>
          <a:prstGeom prst="roundRect">
            <a:avLst>
              <a:gd name="adj" fmla="val 4000"/>
            </a:avLst>
          </a:prstGeom>
          <a:solidFill>
            <a:srgbClr val="EEF4EF"/>
          </a:solidFill>
          <a:ln w="12700">
            <a:solidFill>
              <a:srgbClr val="EEF4EF"/>
            </a:solidFill>
            <a:prstDash val="solid"/>
          </a:ln>
        </p:spPr>
        <p:txBody>
          <a:bodyPr/>
          <a:lstStyle/>
          <a:p>
            <a:endParaRPr lang="en-ZA"/>
          </a:p>
        </p:txBody>
      </p:sp>
      <p:sp>
        <p:nvSpPr>
          <p:cNvPr id="9" name="Shape 6"/>
          <p:cNvSpPr/>
          <p:nvPr/>
        </p:nvSpPr>
        <p:spPr>
          <a:xfrm>
            <a:off x="6460236" y="1737360"/>
            <a:ext cx="548640" cy="548640"/>
          </a:xfrm>
          <a:prstGeom prst="ellipse">
            <a:avLst/>
          </a:prstGeom>
          <a:solidFill>
            <a:srgbClr val="1A5C2C"/>
          </a:solidFill>
          <a:ln w="12700">
            <a:solidFill>
              <a:srgbClr val="1A5C2C"/>
            </a:solidFill>
            <a:prstDash val="solid"/>
          </a:ln>
        </p:spPr>
        <p:txBody>
          <a:bodyPr/>
          <a:lstStyle/>
          <a:p>
            <a:endParaRPr lang="en-ZA"/>
          </a:p>
        </p:txBody>
      </p:sp>
      <p:pic>
        <p:nvPicPr>
          <p:cNvPr id="10" name="Image 1" descr="preencoded.png"/>
          <p:cNvPicPr>
            <a:picLocks noChangeAspect="1"/>
          </p:cNvPicPr>
          <p:nvPr/>
        </p:nvPicPr>
        <p:blipFill>
          <a:blip r:embed="rId4"/>
          <a:stretch>
            <a:fillRect/>
          </a:stretch>
        </p:blipFill>
        <p:spPr>
          <a:xfrm>
            <a:off x="6597396" y="1874520"/>
            <a:ext cx="274320" cy="274320"/>
          </a:xfrm>
          <a:prstGeom prst="rect">
            <a:avLst/>
          </a:prstGeom>
        </p:spPr>
      </p:pic>
      <p:sp>
        <p:nvSpPr>
          <p:cNvPr id="11" name="Text 7"/>
          <p:cNvSpPr txBox="1"/>
          <p:nvPr/>
        </p:nvSpPr>
        <p:spPr>
          <a:xfrm>
            <a:off x="7191756" y="1691640"/>
            <a:ext cx="4219956" cy="923544"/>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02 · Establishes Accountability</a:t>
            </a:r>
            <a:endParaRPr lang="en-US" sz="2600" dirty="0"/>
          </a:p>
        </p:txBody>
      </p:sp>
      <p:sp>
        <p:nvSpPr>
          <p:cNvPr id="12" name="Text 8"/>
          <p:cNvSpPr txBox="1"/>
          <p:nvPr/>
        </p:nvSpPr>
        <p:spPr>
          <a:xfrm>
            <a:off x="6460236" y="2752344"/>
            <a:ext cx="4951476" cy="905256"/>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KPIs linked to enterprise OKRs make ownership visible.</a:t>
            </a:r>
            <a:endParaRPr lang="en-US" sz="2400" dirty="0"/>
          </a:p>
        </p:txBody>
      </p:sp>
      <p:sp>
        <p:nvSpPr>
          <p:cNvPr id="13" name="Shape 9"/>
          <p:cNvSpPr/>
          <p:nvPr/>
        </p:nvSpPr>
        <p:spPr>
          <a:xfrm>
            <a:off x="548640" y="4069080"/>
            <a:ext cx="5408676" cy="2286000"/>
          </a:xfrm>
          <a:prstGeom prst="roundRect">
            <a:avLst>
              <a:gd name="adj" fmla="val 4000"/>
            </a:avLst>
          </a:prstGeom>
          <a:solidFill>
            <a:srgbClr val="EEF4EF"/>
          </a:solidFill>
          <a:ln w="12700">
            <a:solidFill>
              <a:srgbClr val="EEF4EF"/>
            </a:solidFill>
            <a:prstDash val="solid"/>
          </a:ln>
        </p:spPr>
        <p:txBody>
          <a:bodyPr/>
          <a:lstStyle/>
          <a:p>
            <a:endParaRPr lang="en-ZA"/>
          </a:p>
        </p:txBody>
      </p:sp>
      <p:sp>
        <p:nvSpPr>
          <p:cNvPr id="14" name="Shape 10"/>
          <p:cNvSpPr/>
          <p:nvPr/>
        </p:nvSpPr>
        <p:spPr>
          <a:xfrm>
            <a:off x="777240" y="4297680"/>
            <a:ext cx="548640" cy="548640"/>
          </a:xfrm>
          <a:prstGeom prst="ellipse">
            <a:avLst/>
          </a:prstGeom>
          <a:solidFill>
            <a:srgbClr val="1A5C2C"/>
          </a:solidFill>
          <a:ln w="12700">
            <a:solidFill>
              <a:srgbClr val="1A5C2C"/>
            </a:solidFill>
            <a:prstDash val="solid"/>
          </a:ln>
        </p:spPr>
        <p:txBody>
          <a:bodyPr/>
          <a:lstStyle/>
          <a:p>
            <a:endParaRPr lang="en-ZA"/>
          </a:p>
        </p:txBody>
      </p:sp>
      <p:pic>
        <p:nvPicPr>
          <p:cNvPr id="15" name="Image 2" descr="preencoded.png"/>
          <p:cNvPicPr>
            <a:picLocks noChangeAspect="1"/>
          </p:cNvPicPr>
          <p:nvPr/>
        </p:nvPicPr>
        <p:blipFill>
          <a:blip r:embed="rId5"/>
          <a:stretch>
            <a:fillRect/>
          </a:stretch>
        </p:blipFill>
        <p:spPr>
          <a:xfrm>
            <a:off x="914400" y="4434840"/>
            <a:ext cx="274320" cy="274320"/>
          </a:xfrm>
          <a:prstGeom prst="rect">
            <a:avLst/>
          </a:prstGeom>
        </p:spPr>
      </p:pic>
      <p:sp>
        <p:nvSpPr>
          <p:cNvPr id="16" name="Text 11"/>
          <p:cNvSpPr txBox="1"/>
          <p:nvPr/>
        </p:nvSpPr>
        <p:spPr>
          <a:xfrm>
            <a:off x="1508760" y="4251960"/>
            <a:ext cx="4219956" cy="64008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03 · Execution Intelligence</a:t>
            </a:r>
            <a:endParaRPr lang="en-US" sz="2600" dirty="0"/>
          </a:p>
        </p:txBody>
      </p:sp>
      <p:sp>
        <p:nvSpPr>
          <p:cNvPr id="17" name="Text 12"/>
          <p:cNvSpPr txBox="1"/>
          <p:nvPr/>
        </p:nvSpPr>
        <p:spPr>
          <a:xfrm>
            <a:off x="777240" y="5029200"/>
            <a:ext cx="4951476" cy="1188720"/>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Data turned into decision insight.</a:t>
            </a:r>
            <a:endParaRPr lang="en-US" sz="2400" dirty="0"/>
          </a:p>
        </p:txBody>
      </p:sp>
      <p:sp>
        <p:nvSpPr>
          <p:cNvPr id="18" name="Shape 13"/>
          <p:cNvSpPr/>
          <p:nvPr/>
        </p:nvSpPr>
        <p:spPr>
          <a:xfrm>
            <a:off x="6231636" y="4069080"/>
            <a:ext cx="5408676" cy="2286000"/>
          </a:xfrm>
          <a:prstGeom prst="roundRect">
            <a:avLst>
              <a:gd name="adj" fmla="val 4000"/>
            </a:avLst>
          </a:prstGeom>
          <a:solidFill>
            <a:srgbClr val="EEF4EF"/>
          </a:solidFill>
          <a:ln w="12700">
            <a:solidFill>
              <a:srgbClr val="EEF4EF"/>
            </a:solidFill>
            <a:prstDash val="solid"/>
          </a:ln>
        </p:spPr>
        <p:txBody>
          <a:bodyPr/>
          <a:lstStyle/>
          <a:p>
            <a:endParaRPr lang="en-ZA"/>
          </a:p>
        </p:txBody>
      </p:sp>
      <p:sp>
        <p:nvSpPr>
          <p:cNvPr id="19" name="Shape 14"/>
          <p:cNvSpPr/>
          <p:nvPr/>
        </p:nvSpPr>
        <p:spPr>
          <a:xfrm>
            <a:off x="6460236" y="4297680"/>
            <a:ext cx="548640" cy="548640"/>
          </a:xfrm>
          <a:prstGeom prst="ellipse">
            <a:avLst/>
          </a:prstGeom>
          <a:solidFill>
            <a:srgbClr val="1A5C2C"/>
          </a:solidFill>
          <a:ln w="12700">
            <a:solidFill>
              <a:srgbClr val="1A5C2C"/>
            </a:solidFill>
            <a:prstDash val="solid"/>
          </a:ln>
        </p:spPr>
        <p:txBody>
          <a:bodyPr/>
          <a:lstStyle/>
          <a:p>
            <a:endParaRPr lang="en-ZA"/>
          </a:p>
        </p:txBody>
      </p:sp>
      <p:pic>
        <p:nvPicPr>
          <p:cNvPr id="20" name="Image 3" descr="preencoded.png"/>
          <p:cNvPicPr>
            <a:picLocks noChangeAspect="1"/>
          </p:cNvPicPr>
          <p:nvPr/>
        </p:nvPicPr>
        <p:blipFill>
          <a:blip r:embed="rId6"/>
          <a:stretch>
            <a:fillRect/>
          </a:stretch>
        </p:blipFill>
        <p:spPr>
          <a:xfrm>
            <a:off x="6597396" y="4434840"/>
            <a:ext cx="274320" cy="274320"/>
          </a:xfrm>
          <a:prstGeom prst="rect">
            <a:avLst/>
          </a:prstGeom>
        </p:spPr>
      </p:pic>
      <p:sp>
        <p:nvSpPr>
          <p:cNvPr id="21" name="Text 15"/>
          <p:cNvSpPr txBox="1"/>
          <p:nvPr/>
        </p:nvSpPr>
        <p:spPr>
          <a:xfrm>
            <a:off x="7191756" y="4251960"/>
            <a:ext cx="4219956" cy="923544"/>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04 · Enables Timely Correction</a:t>
            </a:r>
            <a:endParaRPr lang="en-US" sz="2600" dirty="0"/>
          </a:p>
        </p:txBody>
      </p:sp>
      <p:sp>
        <p:nvSpPr>
          <p:cNvPr id="22" name="Text 16"/>
          <p:cNvSpPr txBox="1"/>
          <p:nvPr/>
        </p:nvSpPr>
        <p:spPr>
          <a:xfrm>
            <a:off x="6460236" y="5312664"/>
            <a:ext cx="4951476" cy="905256"/>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Intervene while progress is recoverable.</a:t>
            </a:r>
            <a:endParaRPr lang="en-US"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1.3 · From performance measurement to execution recovery</a:t>
            </a:r>
            <a:endParaRPr lang="en-US" sz="3600" dirty="0"/>
          </a:p>
        </p:txBody>
      </p:sp>
      <p:sp>
        <p:nvSpPr>
          <p:cNvPr id="3" name="Shape 1"/>
          <p:cNvSpPr/>
          <p:nvPr/>
        </p:nvSpPr>
        <p:spPr>
          <a:xfrm>
            <a:off x="548640" y="1508760"/>
            <a:ext cx="3514344" cy="4846320"/>
          </a:xfrm>
          <a:prstGeom prst="roundRect">
            <a:avLst>
              <a:gd name="adj" fmla="val 2602"/>
            </a:avLst>
          </a:prstGeom>
          <a:solidFill>
            <a:srgbClr val="EEF4EF"/>
          </a:solidFill>
          <a:ln w="12700">
            <a:solidFill>
              <a:srgbClr val="EEF4EF"/>
            </a:solidFill>
            <a:prstDash val="solid"/>
          </a:ln>
        </p:spPr>
        <p:txBody>
          <a:bodyPr/>
          <a:lstStyle/>
          <a:p>
            <a:endParaRPr lang="en-ZA"/>
          </a:p>
        </p:txBody>
      </p:sp>
      <p:sp>
        <p:nvSpPr>
          <p:cNvPr id="4" name="Shape 2"/>
          <p:cNvSpPr/>
          <p:nvPr/>
        </p:nvSpPr>
        <p:spPr>
          <a:xfrm>
            <a:off x="777240"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5" name="Image 0" descr="preencoded.png"/>
          <p:cNvPicPr>
            <a:picLocks noChangeAspect="1"/>
          </p:cNvPicPr>
          <p:nvPr/>
        </p:nvPicPr>
        <p:blipFill>
          <a:blip r:embed="rId3"/>
          <a:stretch>
            <a:fillRect/>
          </a:stretch>
        </p:blipFill>
        <p:spPr>
          <a:xfrm>
            <a:off x="937260" y="1897380"/>
            <a:ext cx="320040" cy="320040"/>
          </a:xfrm>
          <a:prstGeom prst="rect">
            <a:avLst/>
          </a:prstGeom>
        </p:spPr>
      </p:pic>
      <p:sp>
        <p:nvSpPr>
          <p:cNvPr id="6" name="Text 3"/>
          <p:cNvSpPr txBox="1"/>
          <p:nvPr/>
        </p:nvSpPr>
        <p:spPr>
          <a:xfrm>
            <a:off x="777240" y="2514600"/>
            <a:ext cx="3057144" cy="507492"/>
          </a:xfrm>
          <a:prstGeom prst="rect">
            <a:avLst/>
          </a:prstGeom>
          <a:noFill/>
          <a:ln/>
        </p:spPr>
        <p:txBody>
          <a:bodyPr wrap="square" lIns="0" tIns="0" rIns="0" bIns="0" rtlCol="0" anchor="t"/>
          <a:lstStyle/>
          <a:p>
            <a:pPr marL="0" indent="0">
              <a:buNone/>
            </a:pPr>
            <a:r>
              <a:rPr lang="en-US" sz="2600" b="1" dirty="0">
                <a:solidFill>
                  <a:srgbClr val="1A5C2C"/>
                </a:solidFill>
                <a:latin typeface="Cambria" pitchFamily="34" charset="0"/>
                <a:ea typeface="Cambria" pitchFamily="34" charset="-122"/>
                <a:cs typeface="Cambria" pitchFamily="34" charset="-120"/>
              </a:rPr>
              <a:t>Review</a:t>
            </a:r>
            <a:endParaRPr lang="en-US" sz="2600" dirty="0"/>
          </a:p>
        </p:txBody>
      </p:sp>
      <p:sp>
        <p:nvSpPr>
          <p:cNvPr id="7" name="Text 4"/>
          <p:cNvSpPr txBox="1"/>
          <p:nvPr/>
        </p:nvSpPr>
        <p:spPr>
          <a:xfrm>
            <a:off x="777240" y="3159252"/>
            <a:ext cx="3057144" cy="3058668"/>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Establish execution reality.</a:t>
            </a:r>
            <a:endParaRPr lang="en-US" sz="2400" dirty="0"/>
          </a:p>
        </p:txBody>
      </p:sp>
      <p:sp>
        <p:nvSpPr>
          <p:cNvPr id="8" name="Shape 5"/>
          <p:cNvSpPr/>
          <p:nvPr/>
        </p:nvSpPr>
        <p:spPr>
          <a:xfrm>
            <a:off x="4337304" y="1508760"/>
            <a:ext cx="3514344" cy="4846320"/>
          </a:xfrm>
          <a:prstGeom prst="roundRect">
            <a:avLst>
              <a:gd name="adj" fmla="val 2602"/>
            </a:avLst>
          </a:prstGeom>
          <a:solidFill>
            <a:srgbClr val="EEF4EF"/>
          </a:solidFill>
          <a:ln w="12700">
            <a:solidFill>
              <a:srgbClr val="EEF4EF"/>
            </a:solidFill>
            <a:prstDash val="solid"/>
          </a:ln>
        </p:spPr>
        <p:txBody>
          <a:bodyPr/>
          <a:lstStyle/>
          <a:p>
            <a:endParaRPr lang="en-ZA"/>
          </a:p>
        </p:txBody>
      </p:sp>
      <p:sp>
        <p:nvSpPr>
          <p:cNvPr id="9" name="Shape 6"/>
          <p:cNvSpPr/>
          <p:nvPr/>
        </p:nvSpPr>
        <p:spPr>
          <a:xfrm>
            <a:off x="4565904"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1" descr="preencoded.png"/>
          <p:cNvPicPr>
            <a:picLocks noChangeAspect="1"/>
          </p:cNvPicPr>
          <p:nvPr/>
        </p:nvPicPr>
        <p:blipFill>
          <a:blip r:embed="rId4"/>
          <a:stretch>
            <a:fillRect/>
          </a:stretch>
        </p:blipFill>
        <p:spPr>
          <a:xfrm>
            <a:off x="4725924" y="1897380"/>
            <a:ext cx="320040" cy="320040"/>
          </a:xfrm>
          <a:prstGeom prst="rect">
            <a:avLst/>
          </a:prstGeom>
        </p:spPr>
      </p:pic>
      <p:sp>
        <p:nvSpPr>
          <p:cNvPr id="11" name="Text 7"/>
          <p:cNvSpPr txBox="1"/>
          <p:nvPr/>
        </p:nvSpPr>
        <p:spPr>
          <a:xfrm>
            <a:off x="4565904" y="2514600"/>
            <a:ext cx="3057144" cy="507492"/>
          </a:xfrm>
          <a:prstGeom prst="rect">
            <a:avLst/>
          </a:prstGeom>
          <a:noFill/>
          <a:ln/>
        </p:spPr>
        <p:txBody>
          <a:bodyPr wrap="square" lIns="0" tIns="0" rIns="0" bIns="0" rtlCol="0" anchor="t"/>
          <a:lstStyle/>
          <a:p>
            <a:pPr marL="0" indent="0">
              <a:buNone/>
            </a:pPr>
            <a:r>
              <a:rPr lang="en-US" sz="2600" b="1" dirty="0">
                <a:solidFill>
                  <a:srgbClr val="1A5C2C"/>
                </a:solidFill>
                <a:latin typeface="Cambria" pitchFamily="34" charset="0"/>
                <a:ea typeface="Cambria" pitchFamily="34" charset="-122"/>
                <a:cs typeface="Cambria" pitchFamily="34" charset="-120"/>
              </a:rPr>
              <a:t>Realign</a:t>
            </a:r>
            <a:endParaRPr lang="en-US" sz="2600" dirty="0"/>
          </a:p>
        </p:txBody>
      </p:sp>
      <p:sp>
        <p:nvSpPr>
          <p:cNvPr id="12" name="Text 8"/>
          <p:cNvSpPr txBox="1"/>
          <p:nvPr/>
        </p:nvSpPr>
        <p:spPr>
          <a:xfrm>
            <a:off x="4565904" y="3159252"/>
            <a:ext cx="3057144" cy="3058668"/>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Diagnose and address execution gaps.</a:t>
            </a:r>
            <a:endParaRPr lang="en-US" sz="2400" dirty="0"/>
          </a:p>
        </p:txBody>
      </p:sp>
      <p:sp>
        <p:nvSpPr>
          <p:cNvPr id="13" name="Shape 9"/>
          <p:cNvSpPr/>
          <p:nvPr/>
        </p:nvSpPr>
        <p:spPr>
          <a:xfrm>
            <a:off x="8125968" y="1508760"/>
            <a:ext cx="3514344" cy="4846320"/>
          </a:xfrm>
          <a:prstGeom prst="roundRect">
            <a:avLst>
              <a:gd name="adj" fmla="val 2602"/>
            </a:avLst>
          </a:prstGeom>
          <a:solidFill>
            <a:srgbClr val="1A5C2C"/>
          </a:solidFill>
          <a:ln w="12700">
            <a:solidFill>
              <a:srgbClr val="1A5C2C"/>
            </a:solidFill>
            <a:prstDash val="solid"/>
          </a:ln>
        </p:spPr>
        <p:txBody>
          <a:bodyPr/>
          <a:lstStyle/>
          <a:p>
            <a:endParaRPr lang="en-ZA"/>
          </a:p>
        </p:txBody>
      </p:sp>
      <p:sp>
        <p:nvSpPr>
          <p:cNvPr id="14" name="Shape 10"/>
          <p:cNvSpPr/>
          <p:nvPr/>
        </p:nvSpPr>
        <p:spPr>
          <a:xfrm>
            <a:off x="8354568" y="1737360"/>
            <a:ext cx="640080" cy="640080"/>
          </a:xfrm>
          <a:prstGeom prst="ellipse">
            <a:avLst/>
          </a:prstGeom>
          <a:solidFill>
            <a:srgbClr val="C6A24C"/>
          </a:solidFill>
          <a:ln w="12700">
            <a:solidFill>
              <a:srgbClr val="C6A24C"/>
            </a:solidFill>
            <a:prstDash val="solid"/>
          </a:ln>
        </p:spPr>
        <p:txBody>
          <a:bodyPr/>
          <a:lstStyle/>
          <a:p>
            <a:endParaRPr lang="en-ZA"/>
          </a:p>
        </p:txBody>
      </p:sp>
      <p:pic>
        <p:nvPicPr>
          <p:cNvPr id="15" name="Image 2" descr="preencoded.png"/>
          <p:cNvPicPr>
            <a:picLocks noChangeAspect="1"/>
          </p:cNvPicPr>
          <p:nvPr/>
        </p:nvPicPr>
        <p:blipFill>
          <a:blip r:embed="rId5"/>
          <a:stretch>
            <a:fillRect/>
          </a:stretch>
        </p:blipFill>
        <p:spPr>
          <a:xfrm>
            <a:off x="8514588" y="1897380"/>
            <a:ext cx="320040" cy="320040"/>
          </a:xfrm>
          <a:prstGeom prst="rect">
            <a:avLst/>
          </a:prstGeom>
        </p:spPr>
      </p:pic>
      <p:sp>
        <p:nvSpPr>
          <p:cNvPr id="16" name="Text 11"/>
          <p:cNvSpPr txBox="1"/>
          <p:nvPr/>
        </p:nvSpPr>
        <p:spPr>
          <a:xfrm>
            <a:off x="8354568" y="2514600"/>
            <a:ext cx="3057144" cy="507492"/>
          </a:xfrm>
          <a:prstGeom prst="rect">
            <a:avLst/>
          </a:prstGeom>
          <a:noFill/>
          <a:ln/>
        </p:spPr>
        <p:txBody>
          <a:bodyPr wrap="square" lIns="0" tIns="0" rIns="0" bIns="0" rtlCol="0" anchor="t"/>
          <a:lstStyle/>
          <a:p>
            <a:pPr marL="0" indent="0">
              <a:buNone/>
            </a:pPr>
            <a:r>
              <a:rPr lang="en-US" sz="2600" b="1" dirty="0">
                <a:solidFill>
                  <a:srgbClr val="FFFFFF"/>
                </a:solidFill>
                <a:latin typeface="Cambria" pitchFamily="34" charset="0"/>
                <a:ea typeface="Cambria" pitchFamily="34" charset="-122"/>
                <a:cs typeface="Cambria" pitchFamily="34" charset="-120"/>
              </a:rPr>
              <a:t>Restore</a:t>
            </a:r>
            <a:endParaRPr lang="en-US" sz="2600" dirty="0"/>
          </a:p>
        </p:txBody>
      </p:sp>
      <p:sp>
        <p:nvSpPr>
          <p:cNvPr id="17" name="Text 12"/>
          <p:cNvSpPr txBox="1"/>
          <p:nvPr/>
        </p:nvSpPr>
        <p:spPr>
          <a:xfrm>
            <a:off x="8354568" y="3159252"/>
            <a:ext cx="3057144" cy="3058668"/>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Rebuild execution momentum.</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1.4 · The Accountability Loop</a:t>
            </a:r>
            <a:endParaRPr lang="en-US" sz="3600" dirty="0"/>
          </a:p>
        </p:txBody>
      </p:sp>
      <p:sp>
        <p:nvSpPr>
          <p:cNvPr id="3" name="Shape 1"/>
          <p:cNvSpPr/>
          <p:nvPr/>
        </p:nvSpPr>
        <p:spPr>
          <a:xfrm>
            <a:off x="548640" y="1508760"/>
            <a:ext cx="3514344" cy="3931920"/>
          </a:xfrm>
          <a:prstGeom prst="roundRect">
            <a:avLst>
              <a:gd name="adj" fmla="val 2602"/>
            </a:avLst>
          </a:prstGeom>
          <a:solidFill>
            <a:srgbClr val="EEF4EF"/>
          </a:solidFill>
          <a:ln w="12700">
            <a:solidFill>
              <a:srgbClr val="EEF4EF"/>
            </a:solidFill>
            <a:prstDash val="solid"/>
          </a:ln>
        </p:spPr>
        <p:txBody>
          <a:bodyPr/>
          <a:lstStyle/>
          <a:p>
            <a:endParaRPr lang="en-ZA"/>
          </a:p>
        </p:txBody>
      </p:sp>
      <p:sp>
        <p:nvSpPr>
          <p:cNvPr id="4" name="Shape 2"/>
          <p:cNvSpPr/>
          <p:nvPr/>
        </p:nvSpPr>
        <p:spPr>
          <a:xfrm>
            <a:off x="777240"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5" name="Image 0" descr="preencoded.png"/>
          <p:cNvPicPr>
            <a:picLocks noChangeAspect="1"/>
          </p:cNvPicPr>
          <p:nvPr/>
        </p:nvPicPr>
        <p:blipFill>
          <a:blip r:embed="rId3"/>
          <a:stretch>
            <a:fillRect/>
          </a:stretch>
        </p:blipFill>
        <p:spPr>
          <a:xfrm>
            <a:off x="937260" y="1897380"/>
            <a:ext cx="320040" cy="320040"/>
          </a:xfrm>
          <a:prstGeom prst="rect">
            <a:avLst/>
          </a:prstGeom>
        </p:spPr>
      </p:pic>
      <p:sp>
        <p:nvSpPr>
          <p:cNvPr id="6" name="Text 3"/>
          <p:cNvSpPr txBox="1"/>
          <p:nvPr/>
        </p:nvSpPr>
        <p:spPr>
          <a:xfrm>
            <a:off x="777240" y="2514600"/>
            <a:ext cx="3057144" cy="923544"/>
          </a:xfrm>
          <a:prstGeom prst="rect">
            <a:avLst/>
          </a:prstGeom>
          <a:noFill/>
          <a:ln/>
        </p:spPr>
        <p:txBody>
          <a:bodyPr wrap="square" lIns="0" tIns="0" rIns="0" bIns="0" rtlCol="0" anchor="t"/>
          <a:lstStyle/>
          <a:p>
            <a:pPr marL="0" indent="0">
              <a:buNone/>
            </a:pPr>
            <a:r>
              <a:rPr lang="en-US" sz="2600" b="1" dirty="0">
                <a:solidFill>
                  <a:srgbClr val="1A5C2C"/>
                </a:solidFill>
                <a:latin typeface="Cambria" pitchFamily="34" charset="0"/>
                <a:ea typeface="Cambria" pitchFamily="34" charset="-122"/>
                <a:cs typeface="Cambria" pitchFamily="34" charset="-120"/>
              </a:rPr>
              <a:t>Lack of accountability</a:t>
            </a:r>
            <a:endParaRPr lang="en-US" sz="2600" dirty="0"/>
          </a:p>
        </p:txBody>
      </p:sp>
      <p:sp>
        <p:nvSpPr>
          <p:cNvPr id="7" name="Text 4"/>
          <p:cNvSpPr txBox="1"/>
          <p:nvPr/>
        </p:nvSpPr>
        <p:spPr>
          <a:xfrm>
            <a:off x="777240" y="3575304"/>
            <a:ext cx="3057144" cy="1728216"/>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Reconnect purpose and ownership.</a:t>
            </a:r>
            <a:endParaRPr lang="en-US" sz="2400" dirty="0"/>
          </a:p>
          <a:p>
            <a:pPr marL="0" indent="0">
              <a:spcBef>
                <a:spcPts val="1200"/>
              </a:spcBef>
              <a:buNone/>
            </a:pPr>
            <a:r>
              <a:rPr lang="en-US" sz="2400" dirty="0" b="1">
                <a:solidFill>
                  <a:srgbClr val="1A5C2C"/>
                </a:solidFill>
                <a:latin typeface="Calibri" pitchFamily="34" charset="0"/>
                <a:ea typeface="Calibri" pitchFamily="34" charset="-122"/>
                <a:cs typeface="Calibri" pitchFamily="34" charset="-120"/>
              </a:rPr>
              <a:t>Achieved through GROW.</a:t>
            </a:r>
            <a:endParaRPr lang="en-US" sz="2400" dirty="0"/>
          </a:p>
        </p:txBody>
      </p:sp>
      <p:sp>
        <p:nvSpPr>
          <p:cNvPr id="8" name="Shape 5"/>
          <p:cNvSpPr/>
          <p:nvPr/>
        </p:nvSpPr>
        <p:spPr>
          <a:xfrm>
            <a:off x="4337304" y="1508760"/>
            <a:ext cx="3514344" cy="3931920"/>
          </a:xfrm>
          <a:prstGeom prst="roundRect">
            <a:avLst>
              <a:gd name="adj" fmla="val 2602"/>
            </a:avLst>
          </a:prstGeom>
          <a:solidFill>
            <a:srgbClr val="EEF4EF"/>
          </a:solidFill>
          <a:ln w="12700">
            <a:solidFill>
              <a:srgbClr val="EEF4EF"/>
            </a:solidFill>
            <a:prstDash val="solid"/>
          </a:ln>
        </p:spPr>
        <p:txBody>
          <a:bodyPr/>
          <a:lstStyle/>
          <a:p>
            <a:endParaRPr lang="en-ZA"/>
          </a:p>
        </p:txBody>
      </p:sp>
      <p:sp>
        <p:nvSpPr>
          <p:cNvPr id="9" name="Shape 6"/>
          <p:cNvSpPr/>
          <p:nvPr/>
        </p:nvSpPr>
        <p:spPr>
          <a:xfrm>
            <a:off x="4565904"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1" descr="preencoded.png"/>
          <p:cNvPicPr>
            <a:picLocks noChangeAspect="1"/>
          </p:cNvPicPr>
          <p:nvPr/>
        </p:nvPicPr>
        <p:blipFill>
          <a:blip r:embed="rId4"/>
          <a:stretch>
            <a:fillRect/>
          </a:stretch>
        </p:blipFill>
        <p:spPr>
          <a:xfrm>
            <a:off x="4725924" y="1897380"/>
            <a:ext cx="320040" cy="320040"/>
          </a:xfrm>
          <a:prstGeom prst="rect">
            <a:avLst/>
          </a:prstGeom>
        </p:spPr>
      </p:pic>
      <p:sp>
        <p:nvSpPr>
          <p:cNvPr id="11" name="Text 7"/>
          <p:cNvSpPr txBox="1"/>
          <p:nvPr/>
        </p:nvSpPr>
        <p:spPr>
          <a:xfrm>
            <a:off x="4565904" y="2514600"/>
            <a:ext cx="3057144" cy="507492"/>
          </a:xfrm>
          <a:prstGeom prst="rect">
            <a:avLst/>
          </a:prstGeom>
          <a:noFill/>
          <a:ln/>
        </p:spPr>
        <p:txBody>
          <a:bodyPr wrap="square" lIns="0" tIns="0" rIns="0" bIns="0" rtlCol="0" anchor="t"/>
          <a:lstStyle/>
          <a:p>
            <a:pPr marL="0" indent="0">
              <a:buNone/>
            </a:pPr>
            <a:r>
              <a:rPr lang="en-US" sz="2600" b="1" dirty="0">
                <a:solidFill>
                  <a:srgbClr val="1A5C2C"/>
                </a:solidFill>
                <a:latin typeface="Cambria" pitchFamily="34" charset="0"/>
                <a:ea typeface="Cambria" pitchFamily="34" charset="-122"/>
                <a:cs typeface="Cambria" pitchFamily="34" charset="-120"/>
              </a:rPr>
              <a:t>Lack of skill</a:t>
            </a:r>
            <a:endParaRPr lang="en-US" sz="2600" dirty="0"/>
          </a:p>
        </p:txBody>
      </p:sp>
      <p:sp>
        <p:nvSpPr>
          <p:cNvPr id="12" name="Text 8"/>
          <p:cNvSpPr txBox="1"/>
          <p:nvPr/>
        </p:nvSpPr>
        <p:spPr>
          <a:xfrm>
            <a:off x="4565904" y="3159252"/>
            <a:ext cx="3057144" cy="2144268"/>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Coaching, peer support, training, timeline.</a:t>
            </a:r>
            <a:endParaRPr lang="en-US" sz="2400" dirty="0"/>
          </a:p>
          <a:p>
            <a:pPr marL="0" indent="0">
              <a:spcBef>
                <a:spcPts val="1200"/>
              </a:spcBef>
              <a:buNone/>
            </a:pPr>
            <a:r>
              <a:rPr lang="en-US" sz="2400" dirty="0" b="1">
                <a:solidFill>
                  <a:srgbClr val="1A5C2C"/>
                </a:solidFill>
                <a:latin typeface="Calibri" pitchFamily="34" charset="0"/>
                <a:ea typeface="Calibri" pitchFamily="34" charset="-122"/>
                <a:cs typeface="Calibri" pitchFamily="34" charset="-120"/>
              </a:rPr>
              <a:t>Achieved through GROW.</a:t>
            </a:r>
            <a:endParaRPr lang="en-US" sz="2400" dirty="0"/>
          </a:p>
        </p:txBody>
      </p:sp>
      <p:sp>
        <p:nvSpPr>
          <p:cNvPr id="13" name="Shape 9"/>
          <p:cNvSpPr/>
          <p:nvPr/>
        </p:nvSpPr>
        <p:spPr>
          <a:xfrm>
            <a:off x="8125968" y="1508760"/>
            <a:ext cx="3514344" cy="3931920"/>
          </a:xfrm>
          <a:prstGeom prst="roundRect">
            <a:avLst>
              <a:gd name="adj" fmla="val 2602"/>
            </a:avLst>
          </a:prstGeom>
          <a:solidFill>
            <a:srgbClr val="EEF4EF"/>
          </a:solidFill>
          <a:ln w="12700">
            <a:solidFill>
              <a:srgbClr val="EEF4EF"/>
            </a:solidFill>
            <a:prstDash val="solid"/>
          </a:ln>
        </p:spPr>
        <p:txBody>
          <a:bodyPr/>
          <a:lstStyle/>
          <a:p>
            <a:endParaRPr lang="en-ZA"/>
          </a:p>
        </p:txBody>
      </p:sp>
      <p:sp>
        <p:nvSpPr>
          <p:cNvPr id="14" name="Shape 10"/>
          <p:cNvSpPr/>
          <p:nvPr/>
        </p:nvSpPr>
        <p:spPr>
          <a:xfrm>
            <a:off x="8354568"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5" name="Image 2" descr="preencoded.png"/>
          <p:cNvPicPr>
            <a:picLocks noChangeAspect="1"/>
          </p:cNvPicPr>
          <p:nvPr/>
        </p:nvPicPr>
        <p:blipFill>
          <a:blip r:embed="rId5"/>
          <a:stretch>
            <a:fillRect/>
          </a:stretch>
        </p:blipFill>
        <p:spPr>
          <a:xfrm>
            <a:off x="8514588" y="1897380"/>
            <a:ext cx="320040" cy="320040"/>
          </a:xfrm>
          <a:prstGeom prst="rect">
            <a:avLst/>
          </a:prstGeom>
        </p:spPr>
      </p:pic>
      <p:sp>
        <p:nvSpPr>
          <p:cNvPr id="16" name="Text 11"/>
          <p:cNvSpPr txBox="1"/>
          <p:nvPr/>
        </p:nvSpPr>
        <p:spPr>
          <a:xfrm>
            <a:off x="8354568" y="2514600"/>
            <a:ext cx="3057144" cy="923544"/>
          </a:xfrm>
          <a:prstGeom prst="rect">
            <a:avLst/>
          </a:prstGeom>
          <a:noFill/>
          <a:ln/>
        </p:spPr>
        <p:txBody>
          <a:bodyPr wrap="square" lIns="0" tIns="0" rIns="0" bIns="0" rtlCol="0" anchor="t"/>
          <a:lstStyle/>
          <a:p>
            <a:pPr marL="0" indent="0">
              <a:buNone/>
            </a:pPr>
            <a:r>
              <a:rPr lang="en-US" sz="2600" b="1" dirty="0">
                <a:solidFill>
                  <a:srgbClr val="1A5C2C"/>
                </a:solidFill>
                <a:latin typeface="Cambria" pitchFamily="34" charset="0"/>
                <a:ea typeface="Cambria" pitchFamily="34" charset="-122"/>
                <a:cs typeface="Cambria" pitchFamily="34" charset="-120"/>
              </a:rPr>
              <a:t>Misfit or structural constraint</a:t>
            </a:r>
            <a:endParaRPr lang="en-US" sz="2600" dirty="0"/>
          </a:p>
        </p:txBody>
      </p:sp>
      <p:sp>
        <p:nvSpPr>
          <p:cNvPr id="17" name="Text 12"/>
          <p:cNvSpPr txBox="1"/>
          <p:nvPr/>
        </p:nvSpPr>
        <p:spPr>
          <a:xfrm>
            <a:off x="8354568" y="3575304"/>
            <a:ext cx="3057144" cy="1728216"/>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Structural alignment discussion.</a:t>
            </a:r>
            <a:endParaRPr lang="en-US" sz="2400" dirty="0"/>
          </a:p>
          <a:p>
            <a:pPr marL="0" indent="0">
              <a:spcBef>
                <a:spcPts val="1200"/>
              </a:spcBef>
              <a:buNone/>
            </a:pPr>
            <a:r>
              <a:rPr lang="en-US" sz="2400" dirty="0" b="1">
                <a:solidFill>
                  <a:srgbClr val="1A5C2C"/>
                </a:solidFill>
                <a:latin typeface="Calibri" pitchFamily="34" charset="0"/>
                <a:ea typeface="Calibri" pitchFamily="34" charset="-122"/>
                <a:cs typeface="Calibri" pitchFamily="34" charset="-120"/>
              </a:rPr>
              <a:t>Achieved through GROW.</a:t>
            </a:r>
            <a:endParaRPr lang="en-US" sz="2400" dirty="0"/>
          </a:p>
        </p:txBody>
      </p:sp>
      <p:sp>
        <p:nvSpPr>
          <p:cNvPr id="18" name="Shape 13"/>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txBody>
          <a:bodyPr/>
          <a:lstStyle/>
          <a:p>
            <a:endParaRPr lang="en-ZA"/>
          </a:p>
        </p:txBody>
      </p:sp>
      <p:sp>
        <p:nvSpPr>
          <p:cNvPr id="19" name="Text 14"/>
          <p:cNvSpPr txBox="1"/>
          <p:nvPr/>
        </p:nvSpPr>
        <p:spPr>
          <a:xfrm>
            <a:off x="822960" y="5623560"/>
            <a:ext cx="10607040" cy="777240"/>
          </a:xfrm>
          <a:prstGeom prst="rect">
            <a:avLst/>
          </a:prstGeom>
          <a:noFill/>
          <a:ln/>
        </p:spPr>
        <p:txBody>
          <a:bodyPr wrap="square" lIns="0" tIns="0" rIns="0" bIns="0" rtlCol="0" anchor="ctr"/>
          <a:lstStyle/>
          <a:p>
            <a:pPr marL="0" indent="0">
              <a:buNone/>
            </a:pPr>
            <a:r>
              <a:rPr lang="en-US" sz="2400" i="1" dirty="0">
                <a:solidFill>
                  <a:srgbClr val="FFFFFF"/>
                </a:solidFill>
                <a:latin typeface="Calibri" pitchFamily="34" charset="0"/>
                <a:ea typeface="Calibri" pitchFamily="34" charset="-122"/>
                <a:cs typeface="Calibri" pitchFamily="34" charset="-120"/>
              </a:rPr>
              <a:t>Keep the performance conversation separate from the role conversation.</a:t>
            </a:r>
            <a:endParaRPr lang="en-US" sz="2400" dirty="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Section 1 Reflections</a:t>
            </a:r>
            <a:endParaRPr lang="en-US" sz="3600" dirty="0"/>
          </a:p>
        </p:txBody>
      </p:sp>
      <p:pic>
        <p:nvPicPr>
          <p:cNvPr id="3" name="Reflection 1.1" descr="ref_1.1.png"/>
          <p:cNvPicPr>
            <a:picLocks noChangeAspect="1"/>
          </p:cNvPicPr>
          <p:nvPr/>
        </p:nvPicPr>
        <p:blipFill>
          <a:blip r:embed="rId8"/>
          <a:stretch>
            <a:fillRect/>
          </a:stretch>
        </p:blipFill>
        <p:spPr>
          <a:xfrm>
            <a:off x="1691640" y="1463040"/>
            <a:ext cx="10058400" cy="1642775"/>
          </a:xfrm>
          <a:prstGeom prst="rect">
            <a:avLst/>
          </a:prstGeom>
        </p:spPr>
      </p:pic>
      <p:sp>
        <p:nvSpPr>
          <p:cNvPr id="4" name="Part 1.1"/>
          <p:cNvSpPr/>
          <p:nvPr/>
        </p:nvSpPr>
        <p:spPr>
          <a:xfrm>
            <a:off x="548640" y="1684369"/>
            <a:ext cx="868680" cy="868680"/>
          </a:xfrm>
          <a:prstGeom prst="ellipse">
            <a:avLst/>
          </a:prstGeom>
          <a:solidFill>
            <a:srgbClr val="C6A24C"/>
          </a:solidFill>
          <a:ln>
            <a:solidFill>
              <a:srgbClr val="C6A24C"/>
            </a:solidFill>
          </a:ln>
          <a:effectLst/>
        </p:spPr>
        <p:txBody>
          <a:bodyPr wrap="none" lIns="0" tIns="0" rIns="0" bIns="0" rtlCol="0" anchor="ctr"/>
          <a:lstStyle/>
          <a:p>
            <a:pPr algn="ctr"/>
            <a:r>
              <a:rPr lang="en-GB" sz="2400" b="1">
                <a:solidFill>
                  <a:srgbClr val="FFFFFF"/>
                </a:solidFill>
                <a:latin typeface="Calibri"/>
              </a:rPr>
              <a:t>1.1</a:t>
            </a:r>
          </a:p>
        </p:txBody>
      </p:sp>
      <p:pic>
        <p:nvPicPr>
          <p:cNvPr id="5" name="Reflection 1.4" descr="ref_1.4.png"/>
          <p:cNvPicPr>
            <a:picLocks noChangeAspect="1"/>
          </p:cNvPicPr>
          <p:nvPr/>
        </p:nvPicPr>
        <p:blipFill>
          <a:blip r:embed="rId7"/>
          <a:stretch>
            <a:fillRect/>
          </a:stretch>
        </p:blipFill>
        <p:spPr>
          <a:xfrm>
            <a:off x="1691640" y="3306982"/>
            <a:ext cx="10058400" cy="1311339"/>
          </a:xfrm>
          <a:prstGeom prst="rect">
            <a:avLst/>
          </a:prstGeom>
        </p:spPr>
      </p:pic>
      <p:sp>
        <p:nvSpPr>
          <p:cNvPr id="6" name="Part 1.4"/>
          <p:cNvSpPr/>
          <p:nvPr/>
        </p:nvSpPr>
        <p:spPr>
          <a:xfrm>
            <a:off x="548640" y="3528311"/>
            <a:ext cx="868680" cy="868680"/>
          </a:xfrm>
          <a:prstGeom prst="ellipse">
            <a:avLst/>
          </a:prstGeom>
          <a:solidFill>
            <a:srgbClr val="C6A24C"/>
          </a:solidFill>
          <a:ln>
            <a:solidFill>
              <a:srgbClr val="C6A24C"/>
            </a:solidFill>
          </a:ln>
          <a:effectLst/>
        </p:spPr>
        <p:txBody>
          <a:bodyPr wrap="none" lIns="0" tIns="0" rIns="0" bIns="0" rtlCol="0" anchor="ctr"/>
          <a:lstStyle/>
          <a:p>
            <a:pPr algn="ctr"/>
            <a:r>
              <a:rPr lang="en-GB" sz="2400" b="1">
                <a:solidFill>
                  <a:srgbClr val="FFFFFF"/>
                </a:solidFill>
                <a:latin typeface="Calibri"/>
              </a:rPr>
              <a:t>1.4</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1A5C2C"/>
        </a:solidFill>
        <a:effectLst/>
      </p:bgPr>
    </p:bg>
    <p:spTree>
      <p:nvGrpSpPr>
        <p:cNvPr id="1" name=""/>
        <p:cNvGrpSpPr/>
        <p:nvPr/>
      </p:nvGrpSpPr>
      <p:grpSpPr>
        <a:xfrm>
          <a:off x="0" y="0"/>
          <a:ext cx="0" cy="0"/>
          <a:chOff x="0" y="0"/>
          <a:chExt cx="0" cy="0"/>
        </a:xfrm>
      </p:grpSpPr>
      <p:sp>
        <p:nvSpPr>
          <p:cNvPr id="2" name="Text 0"/>
          <p:cNvSpPr txBox="1"/>
          <p:nvPr/>
        </p:nvSpPr>
        <p:spPr>
          <a:xfrm>
            <a:off x="457200" y="822960"/>
            <a:ext cx="2103120" cy="2194560"/>
          </a:xfrm>
          <a:prstGeom prst="rect">
            <a:avLst/>
          </a:prstGeom>
          <a:noFill/>
          <a:ln/>
        </p:spPr>
        <p:txBody>
          <a:bodyPr wrap="square" lIns="0" tIns="0" rIns="0" bIns="0" rtlCol="0" anchor="t"/>
          <a:lstStyle/>
          <a:p>
            <a:pPr marL="0" indent="0">
              <a:buNone/>
            </a:pPr>
            <a:r>
              <a:rPr lang="en-US" sz="15000" b="1" dirty="0">
                <a:solidFill>
                  <a:srgbClr val="C6A24C"/>
                </a:solidFill>
                <a:latin typeface="Cambria" pitchFamily="34" charset="0"/>
                <a:ea typeface="Cambria" pitchFamily="34" charset="-122"/>
                <a:cs typeface="Cambria" pitchFamily="34" charset="-120"/>
              </a:rPr>
              <a:t>2</a:t>
            </a:r>
            <a:endParaRPr lang="en-US" sz="15000" dirty="0"/>
          </a:p>
        </p:txBody>
      </p:sp>
      <p:sp>
        <p:nvSpPr>
          <p:cNvPr id="3" name="Text 1"/>
          <p:cNvSpPr txBox="1"/>
          <p:nvPr/>
        </p:nvSpPr>
        <p:spPr>
          <a:xfrm>
            <a:off x="2743200" y="914400"/>
            <a:ext cx="8229600" cy="457200"/>
          </a:xfrm>
          <a:prstGeom prst="rect">
            <a:avLst/>
          </a:prstGeom>
          <a:noFill/>
          <a:ln/>
        </p:spPr>
        <p:txBody>
          <a:bodyPr wrap="square" lIns="0" tIns="0" rIns="0" bIns="0" rtlCol="0" anchor="t"/>
          <a:lstStyle/>
          <a:p>
            <a:pPr marL="0" indent="0">
              <a:buNone/>
            </a:pPr>
            <a:r>
              <a:rPr lang="en-US" sz="2400" b="1" dirty="0">
                <a:solidFill>
                  <a:srgbClr val="E6D3A0"/>
                </a:solidFill>
                <a:latin typeface="Calibri" pitchFamily="34" charset="0"/>
                <a:ea typeface="Calibri" pitchFamily="34" charset="-122"/>
                <a:cs typeface="Calibri" pitchFamily="34" charset="-120"/>
              </a:rPr>
              <a:t>Section 2</a:t>
            </a:r>
            <a:endParaRPr lang="en-US" sz="2400" dirty="0"/>
          </a:p>
        </p:txBody>
      </p:sp>
      <p:sp>
        <p:nvSpPr>
          <p:cNvPr id="4" name="Text 2"/>
          <p:cNvSpPr txBox="1"/>
          <p:nvPr/>
        </p:nvSpPr>
        <p:spPr>
          <a:xfrm>
            <a:off x="2743200" y="1371600"/>
            <a:ext cx="8961120" cy="868680"/>
          </a:xfrm>
          <a:prstGeom prst="rect">
            <a:avLst/>
          </a:prstGeom>
          <a:noFill/>
          <a:ln/>
        </p:spPr>
        <p:txBody>
          <a:bodyPr wrap="square" lIns="0" tIns="0" rIns="0" bIns="0" rtlCol="0" anchor="t"/>
          <a:lstStyle/>
          <a:p>
            <a:pPr marL="0" indent="0">
              <a:buNone/>
            </a:pPr>
            <a:r>
              <a:rPr lang="en-US" sz="4400" b="1" dirty="0">
                <a:solidFill>
                  <a:srgbClr val="FFFFFF"/>
                </a:solidFill>
                <a:latin typeface="Cambria" pitchFamily="34" charset="0"/>
                <a:ea typeface="Cambria" pitchFamily="34" charset="-122"/>
                <a:cs typeface="Cambria" pitchFamily="34" charset="-120"/>
              </a:rPr>
              <a:t>Intelligence — Why</a:t>
            </a:r>
            <a:endParaRPr lang="en-US" sz="4400" dirty="0"/>
          </a:p>
        </p:txBody>
      </p:sp>
      <p:sp>
        <p:nvSpPr>
          <p:cNvPr id="5" name="Text 3"/>
          <p:cNvSpPr txBox="1"/>
          <p:nvPr/>
        </p:nvSpPr>
        <p:spPr>
          <a:xfrm>
            <a:off x="2743200" y="2240280"/>
            <a:ext cx="8961120" cy="868680"/>
          </a:xfrm>
          <a:prstGeom prst="rect">
            <a:avLst/>
          </a:prstGeom>
          <a:noFill/>
          <a:ln/>
        </p:spPr>
        <p:txBody>
          <a:bodyPr wrap="square" lIns="0" tIns="0" rIns="0" bIns="0" rtlCol="0" anchor="t"/>
          <a:lstStyle/>
          <a:p>
            <a:pPr marL="0" indent="0">
              <a:buNone/>
            </a:pPr>
            <a:r>
              <a:rPr lang="en-US" sz="2600" i="1" dirty="0">
                <a:solidFill>
                  <a:srgbClr val="DDE8DF"/>
                </a:solidFill>
                <a:latin typeface="Calibri" pitchFamily="34" charset="0"/>
                <a:ea typeface="Calibri" pitchFamily="34" charset="-122"/>
                <a:cs typeface="Calibri" pitchFamily="34" charset="-120"/>
              </a:rPr>
              <a:t>Why Performance Measurement Determines Execution Velocity</a:t>
            </a:r>
            <a:endParaRPr lang="en-US" sz="2600" dirty="0"/>
          </a:p>
        </p:txBody>
      </p:sp>
      <p:sp>
        <p:nvSpPr>
          <p:cNvPr id="6" name="Text 4"/>
          <p:cNvSpPr txBox="1"/>
          <p:nvPr/>
        </p:nvSpPr>
        <p:spPr>
          <a:xfrm>
            <a:off x="2743200" y="3246120"/>
            <a:ext cx="8229600" cy="457200"/>
          </a:xfrm>
          <a:prstGeom prst="rect">
            <a:avLst/>
          </a:prstGeom>
          <a:noFill/>
          <a:ln/>
        </p:spPr>
        <p:txBody>
          <a:bodyPr wrap="square" lIns="0" tIns="0" rIns="0" bIns="0" rtlCol="0" anchor="t"/>
          <a:lstStyle/>
          <a:p>
            <a:pPr marL="0" indent="0">
              <a:buNone/>
            </a:pPr>
            <a:r>
              <a:rPr lang="en-US" sz="2400" b="1" dirty="0">
                <a:solidFill>
                  <a:srgbClr val="C6A24C"/>
                </a:solidFill>
                <a:latin typeface="Calibri" pitchFamily="34" charset="0"/>
                <a:ea typeface="Calibri" pitchFamily="34" charset="-122"/>
                <a:cs typeface="Calibri" pitchFamily="34" charset="-120"/>
              </a:rPr>
              <a:t>Section learning outcomes</a:t>
            </a:r>
            <a:endParaRPr lang="en-US" sz="2400" dirty="0"/>
          </a:p>
        </p:txBody>
      </p:sp>
      <p:sp>
        <p:nvSpPr>
          <p:cNvPr id="7" name="Shape 5"/>
          <p:cNvSpPr/>
          <p:nvPr/>
        </p:nvSpPr>
        <p:spPr>
          <a:xfrm>
            <a:off x="2743200" y="382219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8" name="Image 0" descr="preencoded.png"/>
          <p:cNvPicPr>
            <a:picLocks noChangeAspect="1"/>
          </p:cNvPicPr>
          <p:nvPr/>
        </p:nvPicPr>
        <p:blipFill>
          <a:blip r:embed="rId3"/>
          <a:stretch>
            <a:fillRect/>
          </a:stretch>
        </p:blipFill>
        <p:spPr>
          <a:xfrm>
            <a:off x="2839212" y="3918204"/>
            <a:ext cx="192024" cy="192024"/>
          </a:xfrm>
          <a:prstGeom prst="rect">
            <a:avLst/>
          </a:prstGeom>
        </p:spPr>
      </p:pic>
      <p:sp>
        <p:nvSpPr>
          <p:cNvPr id="9" name="Text 6"/>
          <p:cNvSpPr txBox="1"/>
          <p:nvPr/>
        </p:nvSpPr>
        <p:spPr>
          <a:xfrm>
            <a:off x="3291840" y="374904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Lead a consistent review rhythm that sustains execution momentum.</a:t>
            </a:r>
            <a:endParaRPr lang="en-US" sz="2400" dirty="0"/>
          </a:p>
        </p:txBody>
      </p:sp>
      <p:sp>
        <p:nvSpPr>
          <p:cNvPr id="10" name="Shape 7"/>
          <p:cNvSpPr/>
          <p:nvPr/>
        </p:nvSpPr>
        <p:spPr>
          <a:xfrm>
            <a:off x="2743200" y="501091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11" name="Image 1" descr="preencoded.png"/>
          <p:cNvPicPr>
            <a:picLocks noChangeAspect="1"/>
          </p:cNvPicPr>
          <p:nvPr/>
        </p:nvPicPr>
        <p:blipFill>
          <a:blip r:embed="rId3"/>
          <a:stretch>
            <a:fillRect/>
          </a:stretch>
        </p:blipFill>
        <p:spPr>
          <a:xfrm>
            <a:off x="2839212" y="5106924"/>
            <a:ext cx="192024" cy="192024"/>
          </a:xfrm>
          <a:prstGeom prst="rect">
            <a:avLst/>
          </a:prstGeom>
        </p:spPr>
      </p:pic>
      <p:sp>
        <p:nvSpPr>
          <p:cNvPr id="12" name="Text 8"/>
          <p:cNvSpPr txBox="1"/>
          <p:nvPr/>
        </p:nvSpPr>
        <p:spPr>
          <a:xfrm>
            <a:off x="3291840" y="493776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Detect weakening review discipline and intervene before performance deteriorates.</a:t>
            </a:r>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2.1 · Four consequences of weak review discipline</a:t>
            </a:r>
            <a:endParaRPr lang="en-US" sz="3600" dirty="0"/>
          </a:p>
        </p:txBody>
      </p:sp>
      <p:sp>
        <p:nvSpPr>
          <p:cNvPr id="3" name="Shape 1"/>
          <p:cNvSpPr/>
          <p:nvPr/>
        </p:nvSpPr>
        <p:spPr>
          <a:xfrm>
            <a:off x="548640" y="180022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4" name="Image 0" descr="preencoded.png"/>
          <p:cNvPicPr>
            <a:picLocks noChangeAspect="1"/>
          </p:cNvPicPr>
          <p:nvPr/>
        </p:nvPicPr>
        <p:blipFill>
          <a:blip r:embed="rId3"/>
          <a:stretch>
            <a:fillRect/>
          </a:stretch>
        </p:blipFill>
        <p:spPr>
          <a:xfrm>
            <a:off x="708660" y="1960245"/>
            <a:ext cx="320040" cy="320040"/>
          </a:xfrm>
          <a:prstGeom prst="rect">
            <a:avLst/>
          </a:prstGeom>
        </p:spPr>
      </p:pic>
      <p:sp>
        <p:nvSpPr>
          <p:cNvPr id="5" name="Text 2"/>
          <p:cNvSpPr txBox="1"/>
          <p:nvPr/>
        </p:nvSpPr>
        <p:spPr>
          <a:xfrm>
            <a:off x="1508760" y="1508760"/>
            <a:ext cx="10131552" cy="122301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01  </a:t>
            </a:r>
            <a:r>
              <a:rPr lang="en-US" sz="2600" dirty="0">
                <a:solidFill>
                  <a:srgbClr val="1F2A22"/>
                </a:solidFill>
                <a:latin typeface="Calibri" pitchFamily="34" charset="0"/>
                <a:ea typeface="Calibri" pitchFamily="34" charset="-122"/>
                <a:cs typeface="Calibri" pitchFamily="34" charset="-120"/>
              </a:rPr>
              <a:t>Early Warning Signals Are Missed</a:t>
            </a:r>
            <a:endParaRPr lang="en-US" sz="2600" dirty="0"/>
          </a:p>
        </p:txBody>
      </p:sp>
      <p:sp>
        <p:nvSpPr>
          <p:cNvPr id="6" name="Shape 3"/>
          <p:cNvSpPr/>
          <p:nvPr/>
        </p:nvSpPr>
        <p:spPr>
          <a:xfrm>
            <a:off x="548640" y="302323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7" name="Image 1" descr="preencoded.png"/>
          <p:cNvPicPr>
            <a:picLocks noChangeAspect="1"/>
          </p:cNvPicPr>
          <p:nvPr/>
        </p:nvPicPr>
        <p:blipFill>
          <a:blip r:embed="rId4"/>
          <a:stretch>
            <a:fillRect/>
          </a:stretch>
        </p:blipFill>
        <p:spPr>
          <a:xfrm>
            <a:off x="708660" y="3183255"/>
            <a:ext cx="320040" cy="320040"/>
          </a:xfrm>
          <a:prstGeom prst="rect">
            <a:avLst/>
          </a:prstGeom>
        </p:spPr>
      </p:pic>
      <p:sp>
        <p:nvSpPr>
          <p:cNvPr id="8" name="Text 4"/>
          <p:cNvSpPr txBox="1"/>
          <p:nvPr/>
        </p:nvSpPr>
        <p:spPr>
          <a:xfrm>
            <a:off x="1508760" y="2731770"/>
            <a:ext cx="10131552" cy="122301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02  </a:t>
            </a:r>
            <a:r>
              <a:rPr lang="en-US" sz="2600" dirty="0">
                <a:solidFill>
                  <a:srgbClr val="1F2A22"/>
                </a:solidFill>
                <a:latin typeface="Calibri" pitchFamily="34" charset="0"/>
                <a:ea typeface="Calibri" pitchFamily="34" charset="-122"/>
                <a:cs typeface="Calibri" pitchFamily="34" charset="-120"/>
              </a:rPr>
              <a:t>Gradual Diffusion of Accountability</a:t>
            </a:r>
            <a:endParaRPr lang="en-US" sz="2600" dirty="0"/>
          </a:p>
        </p:txBody>
      </p:sp>
      <p:sp>
        <p:nvSpPr>
          <p:cNvPr id="9" name="Shape 5"/>
          <p:cNvSpPr/>
          <p:nvPr/>
        </p:nvSpPr>
        <p:spPr>
          <a:xfrm>
            <a:off x="548640" y="424624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2" descr="preencoded.png"/>
          <p:cNvPicPr>
            <a:picLocks noChangeAspect="1"/>
          </p:cNvPicPr>
          <p:nvPr/>
        </p:nvPicPr>
        <p:blipFill>
          <a:blip r:embed="rId5"/>
          <a:stretch>
            <a:fillRect/>
          </a:stretch>
        </p:blipFill>
        <p:spPr>
          <a:xfrm>
            <a:off x="708660" y="4406265"/>
            <a:ext cx="320040" cy="320040"/>
          </a:xfrm>
          <a:prstGeom prst="rect">
            <a:avLst/>
          </a:prstGeom>
        </p:spPr>
      </p:pic>
      <p:sp>
        <p:nvSpPr>
          <p:cNvPr id="11" name="Text 6"/>
          <p:cNvSpPr txBox="1"/>
          <p:nvPr/>
        </p:nvSpPr>
        <p:spPr>
          <a:xfrm>
            <a:off x="1508760" y="3954780"/>
            <a:ext cx="10131552" cy="122301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03  </a:t>
            </a:r>
            <a:r>
              <a:rPr lang="en-US" sz="2600" dirty="0">
                <a:solidFill>
                  <a:srgbClr val="1F2A22"/>
                </a:solidFill>
                <a:latin typeface="Calibri" pitchFamily="34" charset="0"/>
                <a:ea typeface="Calibri" pitchFamily="34" charset="-122"/>
                <a:cs typeface="Calibri" pitchFamily="34" charset="-120"/>
              </a:rPr>
              <a:t>Loss of Organisational Learning</a:t>
            </a:r>
            <a:endParaRPr lang="en-US" sz="2600" dirty="0"/>
          </a:p>
        </p:txBody>
      </p:sp>
      <p:sp>
        <p:nvSpPr>
          <p:cNvPr id="12" name="Shape 7"/>
          <p:cNvSpPr/>
          <p:nvPr/>
        </p:nvSpPr>
        <p:spPr>
          <a:xfrm>
            <a:off x="548640" y="546925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3" name="Image 3" descr="preencoded.png"/>
          <p:cNvPicPr>
            <a:picLocks noChangeAspect="1"/>
          </p:cNvPicPr>
          <p:nvPr/>
        </p:nvPicPr>
        <p:blipFill>
          <a:blip r:embed="rId6"/>
          <a:stretch>
            <a:fillRect/>
          </a:stretch>
        </p:blipFill>
        <p:spPr>
          <a:xfrm>
            <a:off x="708660" y="5629275"/>
            <a:ext cx="320040" cy="320040"/>
          </a:xfrm>
          <a:prstGeom prst="rect">
            <a:avLst/>
          </a:prstGeom>
        </p:spPr>
      </p:pic>
      <p:sp>
        <p:nvSpPr>
          <p:cNvPr id="14" name="Text 8"/>
          <p:cNvSpPr txBox="1"/>
          <p:nvPr/>
        </p:nvSpPr>
        <p:spPr>
          <a:xfrm>
            <a:off x="1508760" y="5177790"/>
            <a:ext cx="10131552" cy="122301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04  </a:t>
            </a:r>
            <a:r>
              <a:rPr lang="en-US" sz="2600" dirty="0">
                <a:solidFill>
                  <a:srgbClr val="1F2A22"/>
                </a:solidFill>
                <a:latin typeface="Calibri" pitchFamily="34" charset="0"/>
                <a:ea typeface="Calibri" pitchFamily="34" charset="-122"/>
                <a:cs typeface="Calibri" pitchFamily="34" charset="-120"/>
              </a:rPr>
              <a:t>Erodes Leadership Credibility</a:t>
            </a:r>
            <a:endParaRPr lang="en-US" sz="2600" dirty="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Section 2 Reflections</a:t>
            </a:r>
            <a:endParaRPr lang="en-US" sz="3600" dirty="0"/>
          </a:p>
        </p:txBody>
      </p:sp>
      <p:pic>
        <p:nvPicPr>
          <p:cNvPr id="3" name="Reflection 2.1" descr="ref_2.1.png"/>
          <p:cNvPicPr>
            <a:picLocks noChangeAspect="1"/>
          </p:cNvPicPr>
          <p:nvPr/>
        </p:nvPicPr>
        <p:blipFill>
          <a:blip r:embed="rId9"/>
          <a:stretch>
            <a:fillRect/>
          </a:stretch>
        </p:blipFill>
        <p:spPr>
          <a:xfrm>
            <a:off x="1691640" y="1463040"/>
            <a:ext cx="10058400" cy="1988623"/>
          </a:xfrm>
          <a:prstGeom prst="rect">
            <a:avLst/>
          </a:prstGeom>
        </p:spPr>
      </p:pic>
      <p:sp>
        <p:nvSpPr>
          <p:cNvPr id="4" name="Part 2.1"/>
          <p:cNvSpPr/>
          <p:nvPr/>
        </p:nvSpPr>
        <p:spPr>
          <a:xfrm>
            <a:off x="548640" y="2030216"/>
            <a:ext cx="868680" cy="868680"/>
          </a:xfrm>
          <a:prstGeom prst="ellipse">
            <a:avLst/>
          </a:prstGeom>
          <a:solidFill>
            <a:srgbClr val="C6A24C"/>
          </a:solidFill>
          <a:ln>
            <a:solidFill>
              <a:srgbClr val="C6A24C"/>
            </a:solidFill>
          </a:ln>
          <a:effectLst/>
        </p:spPr>
        <p:txBody>
          <a:bodyPr wrap="none" lIns="0" tIns="0" rIns="0" bIns="0" rtlCol="0" anchor="ctr"/>
          <a:lstStyle/>
          <a:p>
            <a:pPr algn="ctr"/>
            <a:r>
              <a:rPr lang="en-GB" sz="2400" b="1">
                <a:solidFill>
                  <a:srgbClr val="FFFFFF"/>
                </a:solidFill>
                <a:latin typeface="Calibri"/>
              </a:rPr>
              <a:t>2.1</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A5C2C"/>
        </a:solidFill>
        <a:effectLst/>
      </p:bgPr>
    </p:bg>
    <p:spTree>
      <p:nvGrpSpPr>
        <p:cNvPr id="1" name=""/>
        <p:cNvGrpSpPr/>
        <p:nvPr/>
      </p:nvGrpSpPr>
      <p:grpSpPr>
        <a:xfrm>
          <a:off x="0" y="0"/>
          <a:ext cx="0" cy="0"/>
          <a:chOff x="0" y="0"/>
          <a:chExt cx="0" cy="0"/>
        </a:xfrm>
      </p:grpSpPr>
      <p:sp>
        <p:nvSpPr>
          <p:cNvPr id="2" name="Text 0"/>
          <p:cNvSpPr txBox="1"/>
          <p:nvPr/>
        </p:nvSpPr>
        <p:spPr>
          <a:xfrm>
            <a:off x="457200" y="822960"/>
            <a:ext cx="2103120" cy="2194560"/>
          </a:xfrm>
          <a:prstGeom prst="rect">
            <a:avLst/>
          </a:prstGeom>
          <a:noFill/>
          <a:ln/>
        </p:spPr>
        <p:txBody>
          <a:bodyPr wrap="square" lIns="0" tIns="0" rIns="0" bIns="0" rtlCol="0" anchor="t"/>
          <a:lstStyle/>
          <a:p>
            <a:pPr marL="0" indent="0">
              <a:buNone/>
            </a:pPr>
            <a:r>
              <a:rPr lang="en-US" sz="15000" b="1" dirty="0">
                <a:solidFill>
                  <a:srgbClr val="C6A24C"/>
                </a:solidFill>
                <a:latin typeface="Cambria" pitchFamily="34" charset="0"/>
                <a:ea typeface="Cambria" pitchFamily="34" charset="-122"/>
                <a:cs typeface="Cambria" pitchFamily="34" charset="-120"/>
              </a:rPr>
              <a:t>3</a:t>
            </a:r>
            <a:endParaRPr lang="en-US" sz="15000" dirty="0"/>
          </a:p>
        </p:txBody>
      </p:sp>
      <p:sp>
        <p:nvSpPr>
          <p:cNvPr id="3" name="Text 1"/>
          <p:cNvSpPr txBox="1"/>
          <p:nvPr/>
        </p:nvSpPr>
        <p:spPr>
          <a:xfrm>
            <a:off x="2743200" y="914400"/>
            <a:ext cx="8229600" cy="457200"/>
          </a:xfrm>
          <a:prstGeom prst="rect">
            <a:avLst/>
          </a:prstGeom>
          <a:noFill/>
          <a:ln/>
        </p:spPr>
        <p:txBody>
          <a:bodyPr wrap="square" lIns="0" tIns="0" rIns="0" bIns="0" rtlCol="0" anchor="t"/>
          <a:lstStyle/>
          <a:p>
            <a:pPr marL="0" indent="0">
              <a:buNone/>
            </a:pPr>
            <a:r>
              <a:rPr lang="en-US" sz="2400" b="1" dirty="0">
                <a:solidFill>
                  <a:srgbClr val="E6D3A0"/>
                </a:solidFill>
                <a:latin typeface="Calibri" pitchFamily="34" charset="0"/>
                <a:ea typeface="Calibri" pitchFamily="34" charset="-122"/>
                <a:cs typeface="Calibri" pitchFamily="34" charset="-120"/>
              </a:rPr>
              <a:t>Section 3</a:t>
            </a:r>
            <a:endParaRPr lang="en-US" sz="2400" dirty="0"/>
          </a:p>
        </p:txBody>
      </p:sp>
      <p:sp>
        <p:nvSpPr>
          <p:cNvPr id="4" name="Text 2"/>
          <p:cNvSpPr txBox="1"/>
          <p:nvPr/>
        </p:nvSpPr>
        <p:spPr>
          <a:xfrm>
            <a:off x="2743200" y="1371600"/>
            <a:ext cx="8961120" cy="868680"/>
          </a:xfrm>
          <a:prstGeom prst="rect">
            <a:avLst/>
          </a:prstGeom>
          <a:noFill/>
          <a:ln/>
        </p:spPr>
        <p:txBody>
          <a:bodyPr wrap="square" lIns="0" tIns="0" rIns="0" bIns="0" rtlCol="0" anchor="t"/>
          <a:lstStyle/>
          <a:p>
            <a:pPr marL="0" indent="0">
              <a:buNone/>
            </a:pPr>
            <a:r>
              <a:rPr lang="en-US" sz="4400" b="1" dirty="0">
                <a:solidFill>
                  <a:srgbClr val="FFFFFF"/>
                </a:solidFill>
                <a:latin typeface="Cambria" pitchFamily="34" charset="0"/>
                <a:ea typeface="Cambria" pitchFamily="34" charset="-122"/>
                <a:cs typeface="Cambria" pitchFamily="34" charset="-120"/>
              </a:rPr>
              <a:t>Extrapolating — Where</a:t>
            </a:r>
            <a:endParaRPr lang="en-US" sz="4400" dirty="0"/>
          </a:p>
        </p:txBody>
      </p:sp>
      <p:sp>
        <p:nvSpPr>
          <p:cNvPr id="5" name="Text 3"/>
          <p:cNvSpPr txBox="1"/>
          <p:nvPr/>
        </p:nvSpPr>
        <p:spPr>
          <a:xfrm>
            <a:off x="2743200" y="2240280"/>
            <a:ext cx="8961120" cy="868680"/>
          </a:xfrm>
          <a:prstGeom prst="rect">
            <a:avLst/>
          </a:prstGeom>
          <a:noFill/>
          <a:ln/>
        </p:spPr>
        <p:txBody>
          <a:bodyPr wrap="square" lIns="0" tIns="0" rIns="0" bIns="0" rtlCol="0" anchor="t"/>
          <a:lstStyle/>
          <a:p>
            <a:pPr marL="0" indent="0">
              <a:buNone/>
            </a:pPr>
            <a:r>
              <a:rPr lang="en-US" sz="2600" i="1" dirty="0">
                <a:solidFill>
                  <a:srgbClr val="DDE8DF"/>
                </a:solidFill>
                <a:latin typeface="Calibri" pitchFamily="34" charset="0"/>
                <a:ea typeface="Calibri" pitchFamily="34" charset="-122"/>
                <a:cs typeface="Calibri" pitchFamily="34" charset="-120"/>
              </a:rPr>
              <a:t>Where Does Performance Measurement Break Down Across Functions?</a:t>
            </a:r>
            <a:endParaRPr lang="en-US" sz="2600" dirty="0"/>
          </a:p>
        </p:txBody>
      </p:sp>
      <p:sp>
        <p:nvSpPr>
          <p:cNvPr id="6" name="Text 4"/>
          <p:cNvSpPr txBox="1"/>
          <p:nvPr/>
        </p:nvSpPr>
        <p:spPr>
          <a:xfrm>
            <a:off x="2743200" y="3246120"/>
            <a:ext cx="8229600" cy="457200"/>
          </a:xfrm>
          <a:prstGeom prst="rect">
            <a:avLst/>
          </a:prstGeom>
          <a:noFill/>
          <a:ln/>
        </p:spPr>
        <p:txBody>
          <a:bodyPr wrap="square" lIns="0" tIns="0" rIns="0" bIns="0" rtlCol="0" anchor="t"/>
          <a:lstStyle/>
          <a:p>
            <a:pPr marL="0" indent="0">
              <a:buNone/>
            </a:pPr>
            <a:r>
              <a:rPr lang="en-US" sz="2400" b="1" dirty="0">
                <a:solidFill>
                  <a:srgbClr val="C6A24C"/>
                </a:solidFill>
                <a:latin typeface="Calibri" pitchFamily="34" charset="0"/>
                <a:ea typeface="Calibri" pitchFamily="34" charset="-122"/>
                <a:cs typeface="Calibri" pitchFamily="34" charset="-120"/>
              </a:rPr>
              <a:t>Section learning outcomes</a:t>
            </a:r>
            <a:endParaRPr lang="en-US" sz="2400" dirty="0"/>
          </a:p>
        </p:txBody>
      </p:sp>
      <p:sp>
        <p:nvSpPr>
          <p:cNvPr id="7" name="Shape 5"/>
          <p:cNvSpPr/>
          <p:nvPr/>
        </p:nvSpPr>
        <p:spPr>
          <a:xfrm>
            <a:off x="2743200" y="382219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8" name="Image 0" descr="preencoded.png"/>
          <p:cNvPicPr>
            <a:picLocks noChangeAspect="1"/>
          </p:cNvPicPr>
          <p:nvPr/>
        </p:nvPicPr>
        <p:blipFill>
          <a:blip r:embed="rId3"/>
          <a:stretch>
            <a:fillRect/>
          </a:stretch>
        </p:blipFill>
        <p:spPr>
          <a:xfrm>
            <a:off x="2839212" y="3918204"/>
            <a:ext cx="192024" cy="192024"/>
          </a:xfrm>
          <a:prstGeom prst="rect">
            <a:avLst/>
          </a:prstGeom>
        </p:spPr>
      </p:pic>
      <p:sp>
        <p:nvSpPr>
          <p:cNvPr id="9" name="Text 6"/>
          <p:cNvSpPr txBox="1"/>
          <p:nvPr/>
        </p:nvSpPr>
        <p:spPr>
          <a:xfrm>
            <a:off x="3291840" y="374904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Diagnose cross-functional breakdowns in reviewing and interpreting performance evidence.</a:t>
            </a:r>
            <a:endParaRPr lang="en-US" sz="2400" dirty="0"/>
          </a:p>
        </p:txBody>
      </p:sp>
      <p:sp>
        <p:nvSpPr>
          <p:cNvPr id="10" name="Shape 7"/>
          <p:cNvSpPr/>
          <p:nvPr/>
        </p:nvSpPr>
        <p:spPr>
          <a:xfrm>
            <a:off x="2743200" y="501091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11" name="Image 1" descr="preencoded.png"/>
          <p:cNvPicPr>
            <a:picLocks noChangeAspect="1"/>
          </p:cNvPicPr>
          <p:nvPr/>
        </p:nvPicPr>
        <p:blipFill>
          <a:blip r:embed="rId3"/>
          <a:stretch>
            <a:fillRect/>
          </a:stretch>
        </p:blipFill>
        <p:spPr>
          <a:xfrm>
            <a:off x="2839212" y="5106924"/>
            <a:ext cx="192024" cy="192024"/>
          </a:xfrm>
          <a:prstGeom prst="rect">
            <a:avLst/>
          </a:prstGeom>
        </p:spPr>
      </p:pic>
      <p:sp>
        <p:nvSpPr>
          <p:cNvPr id="12" name="Text 8"/>
          <p:cNvSpPr txBox="1"/>
          <p:nvPr/>
        </p:nvSpPr>
        <p:spPr>
          <a:xfrm>
            <a:off x="3291840" y="493776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Prioritise corrective action against the organisation’s most consequential measurement breakdown.</a:t>
            </a:r>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3.1 · Four fractures in performance measurement</a:t>
            </a:r>
            <a:endParaRPr lang="en-US" sz="3600" dirty="0"/>
          </a:p>
        </p:txBody>
      </p:sp>
      <p:sp>
        <p:nvSpPr>
          <p:cNvPr id="3" name="Shape 1"/>
          <p:cNvSpPr/>
          <p:nvPr/>
        </p:nvSpPr>
        <p:spPr>
          <a:xfrm>
            <a:off x="548640" y="1508760"/>
            <a:ext cx="5408676" cy="2286000"/>
          </a:xfrm>
          <a:prstGeom prst="roundRect">
            <a:avLst>
              <a:gd name="adj" fmla="val 4000"/>
            </a:avLst>
          </a:prstGeom>
          <a:solidFill>
            <a:srgbClr val="EEF4EF"/>
          </a:solidFill>
          <a:ln w="12700">
            <a:solidFill>
              <a:srgbClr val="EEF4EF"/>
            </a:solidFill>
            <a:prstDash val="solid"/>
          </a:ln>
        </p:spPr>
        <p:txBody>
          <a:bodyPr/>
          <a:lstStyle/>
          <a:p>
            <a:endParaRPr lang="en-ZA"/>
          </a:p>
        </p:txBody>
      </p:sp>
      <p:sp>
        <p:nvSpPr>
          <p:cNvPr id="4" name="Shape 2"/>
          <p:cNvSpPr/>
          <p:nvPr/>
        </p:nvSpPr>
        <p:spPr>
          <a:xfrm>
            <a:off x="777240" y="1737360"/>
            <a:ext cx="548640" cy="548640"/>
          </a:xfrm>
          <a:prstGeom prst="ellipse">
            <a:avLst/>
          </a:prstGeom>
          <a:solidFill>
            <a:srgbClr val="1A5C2C"/>
          </a:solidFill>
          <a:ln w="12700">
            <a:solidFill>
              <a:srgbClr val="1A5C2C"/>
            </a:solidFill>
            <a:prstDash val="solid"/>
          </a:ln>
        </p:spPr>
        <p:txBody>
          <a:bodyPr/>
          <a:lstStyle/>
          <a:p>
            <a:endParaRPr lang="en-ZA"/>
          </a:p>
        </p:txBody>
      </p:sp>
      <p:pic>
        <p:nvPicPr>
          <p:cNvPr id="5" name="Image 0" descr="preencoded.png"/>
          <p:cNvPicPr>
            <a:picLocks noChangeAspect="1"/>
          </p:cNvPicPr>
          <p:nvPr/>
        </p:nvPicPr>
        <p:blipFill>
          <a:blip r:embed="rId3"/>
          <a:stretch>
            <a:fillRect/>
          </a:stretch>
        </p:blipFill>
        <p:spPr>
          <a:xfrm>
            <a:off x="914400" y="1874520"/>
            <a:ext cx="274320" cy="274320"/>
          </a:xfrm>
          <a:prstGeom prst="rect">
            <a:avLst/>
          </a:prstGeom>
        </p:spPr>
      </p:pic>
      <p:sp>
        <p:nvSpPr>
          <p:cNvPr id="6" name="Text 3"/>
          <p:cNvSpPr txBox="1"/>
          <p:nvPr/>
        </p:nvSpPr>
        <p:spPr>
          <a:xfrm>
            <a:off x="1508760" y="1691640"/>
            <a:ext cx="4219956" cy="923544"/>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Gap 01 · Horizontal Coordination</a:t>
            </a:r>
            <a:endParaRPr lang="en-US" sz="2600" dirty="0"/>
          </a:p>
        </p:txBody>
      </p:sp>
      <p:sp>
        <p:nvSpPr>
          <p:cNvPr id="7" name="Text 4"/>
          <p:cNvSpPr txBox="1"/>
          <p:nvPr/>
        </p:nvSpPr>
        <p:spPr>
          <a:xfrm>
            <a:off x="777240" y="2752344"/>
            <a:ext cx="4951476" cy="905256"/>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Reviews happen inside functions.</a:t>
            </a:r>
            <a:endParaRPr lang="en-US" sz="2400" dirty="0"/>
          </a:p>
        </p:txBody>
      </p:sp>
      <p:sp>
        <p:nvSpPr>
          <p:cNvPr id="8" name="Shape 5"/>
          <p:cNvSpPr/>
          <p:nvPr/>
        </p:nvSpPr>
        <p:spPr>
          <a:xfrm>
            <a:off x="6231636" y="1508760"/>
            <a:ext cx="5408676" cy="2286000"/>
          </a:xfrm>
          <a:prstGeom prst="roundRect">
            <a:avLst>
              <a:gd name="adj" fmla="val 4000"/>
            </a:avLst>
          </a:prstGeom>
          <a:solidFill>
            <a:srgbClr val="EEF4EF"/>
          </a:solidFill>
          <a:ln w="12700">
            <a:solidFill>
              <a:srgbClr val="EEF4EF"/>
            </a:solidFill>
            <a:prstDash val="solid"/>
          </a:ln>
        </p:spPr>
        <p:txBody>
          <a:bodyPr/>
          <a:lstStyle/>
          <a:p>
            <a:endParaRPr lang="en-ZA"/>
          </a:p>
        </p:txBody>
      </p:sp>
      <p:sp>
        <p:nvSpPr>
          <p:cNvPr id="9" name="Shape 6"/>
          <p:cNvSpPr/>
          <p:nvPr/>
        </p:nvSpPr>
        <p:spPr>
          <a:xfrm>
            <a:off x="6460236" y="1737360"/>
            <a:ext cx="548640" cy="548640"/>
          </a:xfrm>
          <a:prstGeom prst="ellipse">
            <a:avLst/>
          </a:prstGeom>
          <a:solidFill>
            <a:srgbClr val="1A5C2C"/>
          </a:solidFill>
          <a:ln w="12700">
            <a:solidFill>
              <a:srgbClr val="1A5C2C"/>
            </a:solidFill>
            <a:prstDash val="solid"/>
          </a:ln>
        </p:spPr>
        <p:txBody>
          <a:bodyPr/>
          <a:lstStyle/>
          <a:p>
            <a:endParaRPr lang="en-ZA"/>
          </a:p>
        </p:txBody>
      </p:sp>
      <p:pic>
        <p:nvPicPr>
          <p:cNvPr id="10" name="Image 1" descr="preencoded.png"/>
          <p:cNvPicPr>
            <a:picLocks noChangeAspect="1"/>
          </p:cNvPicPr>
          <p:nvPr/>
        </p:nvPicPr>
        <p:blipFill>
          <a:blip r:embed="rId4"/>
          <a:stretch>
            <a:fillRect/>
          </a:stretch>
        </p:blipFill>
        <p:spPr>
          <a:xfrm>
            <a:off x="6597396" y="1874520"/>
            <a:ext cx="274320" cy="274320"/>
          </a:xfrm>
          <a:prstGeom prst="rect">
            <a:avLst/>
          </a:prstGeom>
        </p:spPr>
      </p:pic>
      <p:sp>
        <p:nvSpPr>
          <p:cNvPr id="11" name="Text 7"/>
          <p:cNvSpPr txBox="1"/>
          <p:nvPr/>
        </p:nvSpPr>
        <p:spPr>
          <a:xfrm>
            <a:off x="7191756" y="1691640"/>
            <a:ext cx="4219956" cy="923544"/>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Gap 02 · Evidence Quality</a:t>
            </a:r>
            <a:endParaRPr lang="en-US" sz="2600" dirty="0"/>
          </a:p>
        </p:txBody>
      </p:sp>
      <p:sp>
        <p:nvSpPr>
          <p:cNvPr id="12" name="Text 8"/>
          <p:cNvSpPr txBox="1"/>
          <p:nvPr/>
        </p:nvSpPr>
        <p:spPr>
          <a:xfrm>
            <a:off x="6460236" y="2752344"/>
            <a:ext cx="4951476" cy="905256"/>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Narrative replaces verifiable indicators.</a:t>
            </a:r>
            <a:endParaRPr lang="en-US" sz="2400" dirty="0"/>
          </a:p>
        </p:txBody>
      </p:sp>
      <p:sp>
        <p:nvSpPr>
          <p:cNvPr id="13" name="Shape 9"/>
          <p:cNvSpPr/>
          <p:nvPr/>
        </p:nvSpPr>
        <p:spPr>
          <a:xfrm>
            <a:off x="548640" y="4069080"/>
            <a:ext cx="5408676" cy="2286000"/>
          </a:xfrm>
          <a:prstGeom prst="roundRect">
            <a:avLst>
              <a:gd name="adj" fmla="val 4000"/>
            </a:avLst>
          </a:prstGeom>
          <a:solidFill>
            <a:srgbClr val="EEF4EF"/>
          </a:solidFill>
          <a:ln w="12700">
            <a:solidFill>
              <a:srgbClr val="EEF4EF"/>
            </a:solidFill>
            <a:prstDash val="solid"/>
          </a:ln>
        </p:spPr>
        <p:txBody>
          <a:bodyPr/>
          <a:lstStyle/>
          <a:p>
            <a:endParaRPr lang="en-ZA"/>
          </a:p>
        </p:txBody>
      </p:sp>
      <p:sp>
        <p:nvSpPr>
          <p:cNvPr id="14" name="Shape 10"/>
          <p:cNvSpPr/>
          <p:nvPr/>
        </p:nvSpPr>
        <p:spPr>
          <a:xfrm>
            <a:off x="777240" y="4297680"/>
            <a:ext cx="548640" cy="548640"/>
          </a:xfrm>
          <a:prstGeom prst="ellipse">
            <a:avLst/>
          </a:prstGeom>
          <a:solidFill>
            <a:srgbClr val="1A5C2C"/>
          </a:solidFill>
          <a:ln w="12700">
            <a:solidFill>
              <a:srgbClr val="1A5C2C"/>
            </a:solidFill>
            <a:prstDash val="solid"/>
          </a:ln>
        </p:spPr>
        <p:txBody>
          <a:bodyPr/>
          <a:lstStyle/>
          <a:p>
            <a:endParaRPr lang="en-ZA"/>
          </a:p>
        </p:txBody>
      </p:sp>
      <p:pic>
        <p:nvPicPr>
          <p:cNvPr id="15" name="Image 2" descr="preencoded.png"/>
          <p:cNvPicPr>
            <a:picLocks noChangeAspect="1"/>
          </p:cNvPicPr>
          <p:nvPr/>
        </p:nvPicPr>
        <p:blipFill>
          <a:blip r:embed="rId5"/>
          <a:stretch>
            <a:fillRect/>
          </a:stretch>
        </p:blipFill>
        <p:spPr>
          <a:xfrm>
            <a:off x="914400" y="4434840"/>
            <a:ext cx="274320" cy="274320"/>
          </a:xfrm>
          <a:prstGeom prst="rect">
            <a:avLst/>
          </a:prstGeom>
        </p:spPr>
      </p:pic>
      <p:sp>
        <p:nvSpPr>
          <p:cNvPr id="16" name="Text 11"/>
          <p:cNvSpPr txBox="1"/>
          <p:nvPr/>
        </p:nvSpPr>
        <p:spPr>
          <a:xfrm>
            <a:off x="1508760" y="4251960"/>
            <a:ext cx="4219956" cy="923544"/>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Gap 03 · Review Rhythm Breakdown</a:t>
            </a:r>
            <a:endParaRPr lang="en-US" sz="2600" dirty="0"/>
          </a:p>
        </p:txBody>
      </p:sp>
      <p:sp>
        <p:nvSpPr>
          <p:cNvPr id="17" name="Text 12"/>
          <p:cNvSpPr txBox="1"/>
          <p:nvPr/>
        </p:nvSpPr>
        <p:spPr>
          <a:xfrm>
            <a:off x="777240" y="5312664"/>
            <a:ext cx="4951476" cy="905256"/>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Reviews become irregular.</a:t>
            </a:r>
            <a:endParaRPr lang="en-US" sz="2400" dirty="0"/>
          </a:p>
        </p:txBody>
      </p:sp>
      <p:sp>
        <p:nvSpPr>
          <p:cNvPr id="18" name="Shape 13"/>
          <p:cNvSpPr/>
          <p:nvPr/>
        </p:nvSpPr>
        <p:spPr>
          <a:xfrm>
            <a:off x="6231636" y="4069080"/>
            <a:ext cx="5408676" cy="2286000"/>
          </a:xfrm>
          <a:prstGeom prst="roundRect">
            <a:avLst>
              <a:gd name="adj" fmla="val 4000"/>
            </a:avLst>
          </a:prstGeom>
          <a:solidFill>
            <a:srgbClr val="EEF4EF"/>
          </a:solidFill>
          <a:ln w="12700">
            <a:solidFill>
              <a:srgbClr val="EEF4EF"/>
            </a:solidFill>
            <a:prstDash val="solid"/>
          </a:ln>
        </p:spPr>
        <p:txBody>
          <a:bodyPr/>
          <a:lstStyle/>
          <a:p>
            <a:endParaRPr lang="en-ZA"/>
          </a:p>
        </p:txBody>
      </p:sp>
      <p:sp>
        <p:nvSpPr>
          <p:cNvPr id="19" name="Shape 14"/>
          <p:cNvSpPr/>
          <p:nvPr/>
        </p:nvSpPr>
        <p:spPr>
          <a:xfrm>
            <a:off x="6460236" y="4297680"/>
            <a:ext cx="548640" cy="548640"/>
          </a:xfrm>
          <a:prstGeom prst="ellipse">
            <a:avLst/>
          </a:prstGeom>
          <a:solidFill>
            <a:srgbClr val="1A5C2C"/>
          </a:solidFill>
          <a:ln w="12700">
            <a:solidFill>
              <a:srgbClr val="1A5C2C"/>
            </a:solidFill>
            <a:prstDash val="solid"/>
          </a:ln>
        </p:spPr>
        <p:txBody>
          <a:bodyPr/>
          <a:lstStyle/>
          <a:p>
            <a:endParaRPr lang="en-ZA"/>
          </a:p>
        </p:txBody>
      </p:sp>
      <p:pic>
        <p:nvPicPr>
          <p:cNvPr id="20" name="Image 3" descr="preencoded.png"/>
          <p:cNvPicPr>
            <a:picLocks noChangeAspect="1"/>
          </p:cNvPicPr>
          <p:nvPr/>
        </p:nvPicPr>
        <p:blipFill>
          <a:blip r:embed="rId6"/>
          <a:stretch>
            <a:fillRect/>
          </a:stretch>
        </p:blipFill>
        <p:spPr>
          <a:xfrm>
            <a:off x="6597396" y="4434840"/>
            <a:ext cx="274320" cy="274320"/>
          </a:xfrm>
          <a:prstGeom prst="rect">
            <a:avLst/>
          </a:prstGeom>
        </p:spPr>
      </p:pic>
      <p:sp>
        <p:nvSpPr>
          <p:cNvPr id="21" name="Text 15"/>
          <p:cNvSpPr txBox="1"/>
          <p:nvPr/>
        </p:nvSpPr>
        <p:spPr>
          <a:xfrm>
            <a:off x="7191756" y="4251960"/>
            <a:ext cx="4219956" cy="923544"/>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Gap 04 · Learning Suppression</a:t>
            </a:r>
            <a:endParaRPr lang="en-US" sz="2600" dirty="0"/>
          </a:p>
        </p:txBody>
      </p:sp>
      <p:sp>
        <p:nvSpPr>
          <p:cNvPr id="22" name="Text 16"/>
          <p:cNvSpPr txBox="1"/>
          <p:nvPr/>
        </p:nvSpPr>
        <p:spPr>
          <a:xfrm>
            <a:off x="6460236" y="5312664"/>
            <a:ext cx="4951476" cy="905256"/>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Reviews focus only on evaluation.</a:t>
            </a:r>
            <a:endParaRPr lang="en-US" sz="2400" dirty="0"/>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3.2 · The CXO performance gap contributors</a:t>
            </a:r>
            <a:endParaRPr lang="en-US" sz="3600" dirty="0"/>
          </a:p>
        </p:txBody>
      </p:sp>
      <p:sp>
        <p:nvSpPr>
          <p:cNvPr id="3" name="Shape 1"/>
          <p:cNvSpPr/>
          <p:nvPr/>
        </p:nvSpPr>
        <p:spPr>
          <a:xfrm>
            <a:off x="548640" y="1508760"/>
            <a:ext cx="5408676" cy="2286000"/>
          </a:xfrm>
          <a:prstGeom prst="roundRect">
            <a:avLst>
              <a:gd name="adj" fmla="val 4000"/>
            </a:avLst>
          </a:prstGeom>
          <a:solidFill>
            <a:srgbClr val="EEF4EF"/>
          </a:solidFill>
          <a:ln w="12700">
            <a:solidFill>
              <a:srgbClr val="EEF4EF"/>
            </a:solidFill>
            <a:prstDash val="solid"/>
          </a:ln>
        </p:spPr>
        <p:txBody>
          <a:bodyPr/>
          <a:lstStyle/>
          <a:p>
            <a:endParaRPr lang="en-ZA"/>
          </a:p>
        </p:txBody>
      </p:sp>
      <p:sp>
        <p:nvSpPr>
          <p:cNvPr id="4" name="Shape 2"/>
          <p:cNvSpPr/>
          <p:nvPr/>
        </p:nvSpPr>
        <p:spPr>
          <a:xfrm>
            <a:off x="777240" y="1737360"/>
            <a:ext cx="548640" cy="548640"/>
          </a:xfrm>
          <a:prstGeom prst="ellipse">
            <a:avLst/>
          </a:prstGeom>
          <a:solidFill>
            <a:srgbClr val="1A5C2C"/>
          </a:solidFill>
          <a:ln w="12700">
            <a:solidFill>
              <a:srgbClr val="1A5C2C"/>
            </a:solidFill>
            <a:prstDash val="solid"/>
          </a:ln>
        </p:spPr>
        <p:txBody>
          <a:bodyPr/>
          <a:lstStyle/>
          <a:p>
            <a:endParaRPr lang="en-ZA"/>
          </a:p>
        </p:txBody>
      </p:sp>
      <p:pic>
        <p:nvPicPr>
          <p:cNvPr id="5" name="Image 0" descr="preencoded.png"/>
          <p:cNvPicPr>
            <a:picLocks noChangeAspect="1"/>
          </p:cNvPicPr>
          <p:nvPr/>
        </p:nvPicPr>
        <p:blipFill>
          <a:blip r:embed="rId2"/>
          <a:stretch>
            <a:fillRect/>
          </a:stretch>
        </p:blipFill>
        <p:spPr>
          <a:xfrm>
            <a:off x="914400" y="1874520"/>
            <a:ext cx="274320" cy="274320"/>
          </a:xfrm>
          <a:prstGeom prst="rect">
            <a:avLst/>
          </a:prstGeom>
        </p:spPr>
      </p:pic>
      <p:sp>
        <p:nvSpPr>
          <p:cNvPr id="6" name="Text 3"/>
          <p:cNvSpPr txBox="1"/>
          <p:nvPr/>
        </p:nvSpPr>
        <p:spPr>
          <a:xfrm>
            <a:off x="1508760" y="1691640"/>
            <a:ext cx="4219956" cy="923544"/>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1 · How you review performance</a:t>
            </a:r>
            <a:endParaRPr lang="en-US" sz="2600" dirty="0"/>
          </a:p>
        </p:txBody>
      </p:sp>
      <p:sp>
        <p:nvSpPr>
          <p:cNvPr id="7" name="Text 4"/>
          <p:cNvSpPr txBox="1"/>
          <p:nvPr/>
        </p:nvSpPr>
        <p:spPr>
          <a:xfrm>
            <a:off x="777240" y="2752344"/>
            <a:ext cx="4951476" cy="905256"/>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Your meetings and your evidence.</a:t>
            </a:r>
            <a:endParaRPr lang="en-US" sz="2400" dirty="0"/>
          </a:p>
        </p:txBody>
      </p:sp>
      <p:sp>
        <p:nvSpPr>
          <p:cNvPr id="8" name="Shape 5"/>
          <p:cNvSpPr/>
          <p:nvPr/>
        </p:nvSpPr>
        <p:spPr>
          <a:xfrm>
            <a:off x="6231636" y="1508760"/>
            <a:ext cx="5408676" cy="2286000"/>
          </a:xfrm>
          <a:prstGeom prst="roundRect">
            <a:avLst>
              <a:gd name="adj" fmla="val 4000"/>
            </a:avLst>
          </a:prstGeom>
          <a:solidFill>
            <a:srgbClr val="EEF4EF"/>
          </a:solidFill>
          <a:ln w="12700">
            <a:solidFill>
              <a:srgbClr val="EEF4EF"/>
            </a:solidFill>
            <a:prstDash val="solid"/>
          </a:ln>
        </p:spPr>
        <p:txBody>
          <a:bodyPr/>
          <a:lstStyle/>
          <a:p>
            <a:endParaRPr lang="en-ZA"/>
          </a:p>
        </p:txBody>
      </p:sp>
      <p:sp>
        <p:nvSpPr>
          <p:cNvPr id="9" name="Shape 6"/>
          <p:cNvSpPr/>
          <p:nvPr/>
        </p:nvSpPr>
        <p:spPr>
          <a:xfrm>
            <a:off x="6460236" y="1737360"/>
            <a:ext cx="548640" cy="548640"/>
          </a:xfrm>
          <a:prstGeom prst="ellipse">
            <a:avLst/>
          </a:prstGeom>
          <a:solidFill>
            <a:srgbClr val="1A5C2C"/>
          </a:solidFill>
          <a:ln w="12700">
            <a:solidFill>
              <a:srgbClr val="1A5C2C"/>
            </a:solidFill>
            <a:prstDash val="solid"/>
          </a:ln>
        </p:spPr>
        <p:txBody>
          <a:bodyPr/>
          <a:lstStyle/>
          <a:p>
            <a:endParaRPr lang="en-ZA"/>
          </a:p>
        </p:txBody>
      </p:sp>
      <p:pic>
        <p:nvPicPr>
          <p:cNvPr id="10" name="Image 1" descr="preencoded.png"/>
          <p:cNvPicPr>
            <a:picLocks noChangeAspect="1"/>
          </p:cNvPicPr>
          <p:nvPr/>
        </p:nvPicPr>
        <p:blipFill>
          <a:blip r:embed="rId5"/>
          <a:stretch>
            <a:fillRect/>
          </a:stretch>
        </p:blipFill>
        <p:spPr>
          <a:xfrm>
            <a:off x="6597396" y="1874520"/>
            <a:ext cx="274320" cy="274320"/>
          </a:xfrm>
          <a:prstGeom prst="rect">
            <a:avLst/>
          </a:prstGeom>
        </p:spPr>
      </p:pic>
      <p:sp>
        <p:nvSpPr>
          <p:cNvPr id="11" name="Text 7"/>
          <p:cNvSpPr txBox="1"/>
          <p:nvPr/>
        </p:nvSpPr>
        <p:spPr>
          <a:xfrm>
            <a:off x="7191756" y="1691640"/>
            <a:ext cx="4219956" cy="923544"/>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2 · What you do</a:t>
            </a:r>
            <a:endParaRPr lang="en-US" sz="2600" dirty="0"/>
          </a:p>
        </p:txBody>
      </p:sp>
      <p:sp>
        <p:nvSpPr>
          <p:cNvPr id="12" name="Text 8"/>
          <p:cNvSpPr txBox="1"/>
          <p:nvPr/>
        </p:nvSpPr>
        <p:spPr>
          <a:xfrm>
            <a:off x="6460236" y="2752344"/>
            <a:ext cx="4951476" cy="905256"/>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A habit in those reviews.</a:t>
            </a:r>
            <a:endParaRPr lang="en-US" sz="2400" dirty="0"/>
          </a:p>
        </p:txBody>
      </p:sp>
      <p:sp>
        <p:nvSpPr>
          <p:cNvPr id="13" name="Shape 9"/>
          <p:cNvSpPr/>
          <p:nvPr/>
        </p:nvSpPr>
        <p:spPr>
          <a:xfrm>
            <a:off x="548640" y="4069080"/>
            <a:ext cx="5408676" cy="2286000"/>
          </a:xfrm>
          <a:prstGeom prst="roundRect">
            <a:avLst>
              <a:gd name="adj" fmla="val 4000"/>
            </a:avLst>
          </a:prstGeom>
          <a:solidFill>
            <a:srgbClr val="EEF4EF"/>
          </a:solidFill>
          <a:ln w="12700">
            <a:solidFill>
              <a:srgbClr val="EEF4EF"/>
            </a:solidFill>
            <a:prstDash val="solid"/>
          </a:ln>
        </p:spPr>
        <p:txBody>
          <a:bodyPr/>
          <a:lstStyle/>
          <a:p>
            <a:endParaRPr lang="en-ZA"/>
          </a:p>
        </p:txBody>
      </p:sp>
      <p:sp>
        <p:nvSpPr>
          <p:cNvPr id="14" name="Shape 10"/>
          <p:cNvSpPr/>
          <p:nvPr/>
        </p:nvSpPr>
        <p:spPr>
          <a:xfrm>
            <a:off x="777240" y="4297680"/>
            <a:ext cx="548640" cy="548640"/>
          </a:xfrm>
          <a:prstGeom prst="ellipse">
            <a:avLst/>
          </a:prstGeom>
          <a:solidFill>
            <a:srgbClr val="1A5C2C"/>
          </a:solidFill>
          <a:ln w="12700">
            <a:solidFill>
              <a:srgbClr val="1A5C2C"/>
            </a:solidFill>
            <a:prstDash val="solid"/>
          </a:ln>
        </p:spPr>
        <p:txBody>
          <a:bodyPr/>
          <a:lstStyle/>
          <a:p>
            <a:endParaRPr lang="en-ZA"/>
          </a:p>
        </p:txBody>
      </p:sp>
      <p:pic>
        <p:nvPicPr>
          <p:cNvPr id="15" name="Image 2" descr="preencoded.png"/>
          <p:cNvPicPr>
            <a:picLocks noChangeAspect="1"/>
          </p:cNvPicPr>
          <p:nvPr/>
        </p:nvPicPr>
        <p:blipFill>
          <a:blip r:embed="rId4"/>
          <a:stretch>
            <a:fillRect/>
          </a:stretch>
        </p:blipFill>
        <p:spPr>
          <a:xfrm>
            <a:off x="914400" y="4434840"/>
            <a:ext cx="274320" cy="274320"/>
          </a:xfrm>
          <a:prstGeom prst="rect">
            <a:avLst/>
          </a:prstGeom>
        </p:spPr>
      </p:pic>
      <p:sp>
        <p:nvSpPr>
          <p:cNvPr id="16" name="Text 11"/>
          <p:cNvSpPr txBox="1"/>
          <p:nvPr/>
        </p:nvSpPr>
        <p:spPr>
          <a:xfrm>
            <a:off x="1508760" y="4251960"/>
            <a:ext cx="4219956" cy="923544"/>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3 · What happens as a result</a:t>
            </a:r>
            <a:endParaRPr lang="en-US" sz="2600" dirty="0"/>
          </a:p>
        </p:txBody>
      </p:sp>
      <p:sp>
        <p:nvSpPr>
          <p:cNvPr id="17" name="Text 12"/>
          <p:cNvSpPr txBox="1"/>
          <p:nvPr/>
        </p:nvSpPr>
        <p:spPr>
          <a:xfrm>
            <a:off x="777240" y="5312664"/>
            <a:ext cx="4951476" cy="905256"/>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The habit opens a fracture of 3.1.</a:t>
            </a:r>
            <a:endParaRPr lang="en-US" sz="2400" dirty="0"/>
          </a:p>
        </p:txBody>
      </p:sp>
      <p:sp>
        <p:nvSpPr>
          <p:cNvPr id="18" name="Shape 13"/>
          <p:cNvSpPr/>
          <p:nvPr/>
        </p:nvSpPr>
        <p:spPr>
          <a:xfrm>
            <a:off x="6231636" y="4069080"/>
            <a:ext cx="5408676" cy="2286000"/>
          </a:xfrm>
          <a:prstGeom prst="roundRect">
            <a:avLst>
              <a:gd name="adj" fmla="val 4000"/>
            </a:avLst>
          </a:prstGeom>
          <a:solidFill>
            <a:srgbClr val="EEF4EF"/>
          </a:solidFill>
          <a:ln w="12700">
            <a:solidFill>
              <a:srgbClr val="EEF4EF"/>
            </a:solidFill>
            <a:prstDash val="solid"/>
          </a:ln>
        </p:spPr>
        <p:txBody>
          <a:bodyPr/>
          <a:lstStyle/>
          <a:p>
            <a:endParaRPr lang="en-ZA"/>
          </a:p>
        </p:txBody>
      </p:sp>
      <p:sp>
        <p:nvSpPr>
          <p:cNvPr id="19" name="Shape 14"/>
          <p:cNvSpPr/>
          <p:nvPr/>
        </p:nvSpPr>
        <p:spPr>
          <a:xfrm>
            <a:off x="6460236" y="4297680"/>
            <a:ext cx="548640" cy="548640"/>
          </a:xfrm>
          <a:prstGeom prst="ellipse">
            <a:avLst/>
          </a:prstGeom>
          <a:solidFill>
            <a:srgbClr val="1A5C2C"/>
          </a:solidFill>
          <a:ln w="12700">
            <a:solidFill>
              <a:srgbClr val="1A5C2C"/>
            </a:solidFill>
            <a:prstDash val="solid"/>
          </a:ln>
        </p:spPr>
        <p:txBody>
          <a:bodyPr/>
          <a:lstStyle/>
          <a:p>
            <a:endParaRPr lang="en-ZA"/>
          </a:p>
        </p:txBody>
      </p:sp>
      <p:pic>
        <p:nvPicPr>
          <p:cNvPr id="20" name="Image 3" descr="preencoded.png"/>
          <p:cNvPicPr>
            <a:picLocks noChangeAspect="1"/>
          </p:cNvPicPr>
          <p:nvPr/>
        </p:nvPicPr>
        <p:blipFill>
          <a:blip r:embed="rId3"/>
          <a:stretch>
            <a:fillRect/>
          </a:stretch>
        </p:blipFill>
        <p:spPr>
          <a:xfrm>
            <a:off x="6597396" y="4434840"/>
            <a:ext cx="274320" cy="274320"/>
          </a:xfrm>
          <a:prstGeom prst="rect">
            <a:avLst/>
          </a:prstGeom>
        </p:spPr>
      </p:pic>
      <p:sp>
        <p:nvSpPr>
          <p:cNvPr id="21" name="Text 15"/>
          <p:cNvSpPr txBox="1"/>
          <p:nvPr/>
        </p:nvSpPr>
        <p:spPr>
          <a:xfrm>
            <a:off x="7191756" y="4251960"/>
            <a:ext cx="4219956" cy="923544"/>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4 · Your own role first</a:t>
            </a:r>
            <a:endParaRPr lang="en-US" sz="2600" dirty="0"/>
          </a:p>
        </p:txBody>
      </p:sp>
      <p:sp>
        <p:nvSpPr>
          <p:cNvPr id="22" name="Text 16"/>
          <p:cNvSpPr txBox="1"/>
          <p:nvPr/>
        </p:nvSpPr>
        <p:spPr>
          <a:xfrm>
            <a:off x="6460236" y="5312664"/>
            <a:ext cx="4951476" cy="905256"/>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Then the two roles closest to yours.</a:t>
            </a:r>
            <a:endParaRPr lang="en-US" sz="2400" dirty="0"/>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Section 3 Reflections</a:t>
            </a:r>
            <a:endParaRPr lang="en-US" sz="3600" dirty="0"/>
          </a:p>
        </p:txBody>
      </p:sp>
      <p:pic>
        <p:nvPicPr>
          <p:cNvPr id="3" name="Reflection 3.1" descr="ref_3.1.png"/>
          <p:cNvPicPr>
            <a:picLocks noChangeAspect="1"/>
          </p:cNvPicPr>
          <p:nvPr/>
        </p:nvPicPr>
        <p:blipFill>
          <a:blip r:embed="rId6"/>
          <a:stretch>
            <a:fillRect/>
          </a:stretch>
        </p:blipFill>
        <p:spPr>
          <a:xfrm>
            <a:off x="1691640" y="1463040"/>
            <a:ext cx="10058400" cy="965491"/>
          </a:xfrm>
          <a:prstGeom prst="rect">
            <a:avLst/>
          </a:prstGeom>
        </p:spPr>
      </p:pic>
      <p:sp>
        <p:nvSpPr>
          <p:cNvPr id="4" name="Part 3.1"/>
          <p:cNvSpPr/>
          <p:nvPr/>
        </p:nvSpPr>
        <p:spPr>
          <a:xfrm>
            <a:off x="548640" y="1511445"/>
            <a:ext cx="868680" cy="868680"/>
          </a:xfrm>
          <a:prstGeom prst="ellipse">
            <a:avLst/>
          </a:prstGeom>
          <a:solidFill>
            <a:srgbClr val="C6A24C"/>
          </a:solidFill>
          <a:ln>
            <a:solidFill>
              <a:srgbClr val="C6A24C"/>
            </a:solidFill>
          </a:ln>
          <a:effectLst/>
        </p:spPr>
        <p:txBody>
          <a:bodyPr wrap="none" lIns="0" tIns="0" rIns="0" bIns="0" rtlCol="0" anchor="ctr"/>
          <a:lstStyle/>
          <a:p>
            <a:pPr algn="ctr"/>
            <a:r>
              <a:rPr lang="en-GB" sz="2400" b="1">
                <a:solidFill>
                  <a:srgbClr val="FFFFFF"/>
                </a:solidFill>
                <a:latin typeface="Calibri"/>
              </a:rPr>
              <a:t>3.1</a:t>
            </a:r>
          </a:p>
        </p:txBody>
      </p:sp>
      <p:pic>
        <p:nvPicPr>
          <p:cNvPr id="5" name="Reflection 3.2" descr="r32.png"/>
          <p:cNvPicPr>
            <a:picLocks noChangeAspect="1"/>
          </p:cNvPicPr>
          <p:nvPr/>
        </p:nvPicPr>
        <p:blipFill>
          <a:blip r:embed="rId7"/>
          <a:stretch>
            <a:fillRect/>
          </a:stretch>
        </p:blipFill>
        <p:spPr>
          <a:xfrm>
            <a:off x="1691640" y="2977171"/>
            <a:ext cx="10058400" cy="1642775"/>
          </a:xfrm>
          <a:prstGeom prst="rect">
            <a:avLst/>
          </a:prstGeom>
        </p:spPr>
      </p:pic>
      <p:sp>
        <p:nvSpPr>
          <p:cNvPr id="4" name="Part 3.2"/>
          <p:cNvSpPr/>
          <p:nvPr/>
        </p:nvSpPr>
        <p:spPr>
          <a:xfrm>
            <a:off x="548640" y="3364218"/>
            <a:ext cx="868680" cy="868680"/>
          </a:xfrm>
          <a:prstGeom prst="ellipse">
            <a:avLst/>
          </a:prstGeom>
          <a:solidFill>
            <a:srgbClr val="C6A24C"/>
          </a:solidFill>
          <a:ln>
            <a:solidFill>
              <a:srgbClr val="C6A24C"/>
            </a:solidFill>
          </a:ln>
          <a:effectLst/>
        </p:spPr>
        <p:txBody>
          <a:bodyPr wrap="none" lIns="0" tIns="0" rIns="0" bIns="0" rtlCol="0" anchor="ctr"/>
          <a:lstStyle/>
          <a:p>
            <a:pPr algn="ctr"/>
            <a:r>
              <a:rPr lang="en-GB" sz="2400" b="1">
                <a:solidFill>
                  <a:srgbClr val="FFFFFF"/>
                </a:solidFill>
                <a:latin typeface="Calibri"/>
              </a:rPr>
              <a:t>3.2</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1A5C2C"/>
        </a:solidFill>
        <a:effectLst/>
      </p:bgPr>
    </p:bg>
    <p:spTree>
      <p:nvGrpSpPr>
        <p:cNvPr id="1" name=""/>
        <p:cNvGrpSpPr/>
        <p:nvPr/>
      </p:nvGrpSpPr>
      <p:grpSpPr>
        <a:xfrm>
          <a:off x="0" y="0"/>
          <a:ext cx="0" cy="0"/>
          <a:chOff x="0" y="0"/>
          <a:chExt cx="0" cy="0"/>
        </a:xfrm>
      </p:grpSpPr>
      <p:sp>
        <p:nvSpPr>
          <p:cNvPr id="2" name="Text 0"/>
          <p:cNvSpPr txBox="1"/>
          <p:nvPr/>
        </p:nvSpPr>
        <p:spPr>
          <a:xfrm>
            <a:off x="457200" y="822960"/>
            <a:ext cx="2103120" cy="2194560"/>
          </a:xfrm>
          <a:prstGeom prst="rect">
            <a:avLst/>
          </a:prstGeom>
          <a:noFill/>
          <a:ln/>
        </p:spPr>
        <p:txBody>
          <a:bodyPr wrap="square" lIns="0" tIns="0" rIns="0" bIns="0" rtlCol="0" anchor="t"/>
          <a:lstStyle/>
          <a:p>
            <a:pPr marL="0" indent="0">
              <a:buNone/>
            </a:pPr>
            <a:r>
              <a:rPr lang="en-US" sz="15000" b="1" dirty="0">
                <a:solidFill>
                  <a:srgbClr val="C6A24C"/>
                </a:solidFill>
                <a:latin typeface="Cambria" pitchFamily="34" charset="0"/>
                <a:ea typeface="Cambria" pitchFamily="34" charset="-122"/>
                <a:cs typeface="Cambria" pitchFamily="34" charset="-120"/>
              </a:rPr>
              <a:t>4</a:t>
            </a:r>
            <a:endParaRPr lang="en-US" sz="15000" dirty="0"/>
          </a:p>
        </p:txBody>
      </p:sp>
      <p:sp>
        <p:nvSpPr>
          <p:cNvPr id="3" name="Text 1"/>
          <p:cNvSpPr txBox="1"/>
          <p:nvPr/>
        </p:nvSpPr>
        <p:spPr>
          <a:xfrm>
            <a:off x="2743200" y="914400"/>
            <a:ext cx="8229600" cy="457200"/>
          </a:xfrm>
          <a:prstGeom prst="rect">
            <a:avLst/>
          </a:prstGeom>
          <a:noFill/>
          <a:ln/>
        </p:spPr>
        <p:txBody>
          <a:bodyPr wrap="square" lIns="0" tIns="0" rIns="0" bIns="0" rtlCol="0" anchor="t"/>
          <a:lstStyle/>
          <a:p>
            <a:pPr marL="0" indent="0">
              <a:buNone/>
            </a:pPr>
            <a:r>
              <a:rPr lang="en-US" sz="2400" b="1" dirty="0">
                <a:solidFill>
                  <a:srgbClr val="E6D3A0"/>
                </a:solidFill>
                <a:latin typeface="Calibri" pitchFamily="34" charset="0"/>
                <a:ea typeface="Calibri" pitchFamily="34" charset="-122"/>
                <a:cs typeface="Calibri" pitchFamily="34" charset="-120"/>
              </a:rPr>
              <a:t>Section 4</a:t>
            </a:r>
            <a:endParaRPr lang="en-US" sz="2400" dirty="0"/>
          </a:p>
        </p:txBody>
      </p:sp>
      <p:sp>
        <p:nvSpPr>
          <p:cNvPr id="4" name="Text 2"/>
          <p:cNvSpPr txBox="1"/>
          <p:nvPr/>
        </p:nvSpPr>
        <p:spPr>
          <a:xfrm>
            <a:off x="2743200" y="1371600"/>
            <a:ext cx="8961120" cy="868680"/>
          </a:xfrm>
          <a:prstGeom prst="rect">
            <a:avLst/>
          </a:prstGeom>
          <a:noFill/>
          <a:ln/>
        </p:spPr>
        <p:txBody>
          <a:bodyPr wrap="square" lIns="0" tIns="0" rIns="0" bIns="0" rtlCol="0" anchor="t"/>
          <a:lstStyle/>
          <a:p>
            <a:pPr marL="0" indent="0">
              <a:buNone/>
            </a:pPr>
            <a:r>
              <a:rPr lang="en-US" sz="4400" b="1" dirty="0">
                <a:solidFill>
                  <a:srgbClr val="FFFFFF"/>
                </a:solidFill>
                <a:latin typeface="Cambria" pitchFamily="34" charset="0"/>
                <a:ea typeface="Cambria" pitchFamily="34" charset="-122"/>
                <a:cs typeface="Cambria" pitchFamily="34" charset="-120"/>
              </a:rPr>
              <a:t>Integration — Collective</a:t>
            </a:r>
            <a:endParaRPr lang="en-US" sz="4400" dirty="0"/>
          </a:p>
        </p:txBody>
      </p:sp>
      <p:sp>
        <p:nvSpPr>
          <p:cNvPr id="5" name="Text 3"/>
          <p:cNvSpPr txBox="1"/>
          <p:nvPr/>
        </p:nvSpPr>
        <p:spPr>
          <a:xfrm>
            <a:off x="2743200" y="2240280"/>
            <a:ext cx="8961120" cy="868680"/>
          </a:xfrm>
          <a:prstGeom prst="rect">
            <a:avLst/>
          </a:prstGeom>
          <a:noFill/>
          <a:ln/>
        </p:spPr>
        <p:txBody>
          <a:bodyPr wrap="square" lIns="0" tIns="0" rIns="0" bIns="0" rtlCol="0" anchor="t"/>
          <a:lstStyle/>
          <a:p>
            <a:pPr marL="0" indent="0">
              <a:buNone/>
            </a:pPr>
            <a:r>
              <a:rPr lang="en-US" sz="2600" i="1" dirty="0">
                <a:solidFill>
                  <a:srgbClr val="DDE8DF"/>
                </a:solidFill>
                <a:latin typeface="Calibri" pitchFamily="34" charset="0"/>
                <a:ea typeface="Calibri" pitchFamily="34" charset="-122"/>
                <a:cs typeface="Calibri" pitchFamily="34" charset="-120"/>
              </a:rPr>
              <a:t>Cross-Leadership Performance Intelligence</a:t>
            </a:r>
            <a:endParaRPr lang="en-US" sz="2600" dirty="0"/>
          </a:p>
        </p:txBody>
      </p:sp>
      <p:sp>
        <p:nvSpPr>
          <p:cNvPr id="6" name="Text 4"/>
          <p:cNvSpPr txBox="1"/>
          <p:nvPr/>
        </p:nvSpPr>
        <p:spPr>
          <a:xfrm>
            <a:off x="2743200" y="3246120"/>
            <a:ext cx="8229600" cy="457200"/>
          </a:xfrm>
          <a:prstGeom prst="rect">
            <a:avLst/>
          </a:prstGeom>
          <a:noFill/>
          <a:ln/>
        </p:spPr>
        <p:txBody>
          <a:bodyPr wrap="square" lIns="0" tIns="0" rIns="0" bIns="0" rtlCol="0" anchor="t"/>
          <a:lstStyle/>
          <a:p>
            <a:pPr marL="0" indent="0">
              <a:buNone/>
            </a:pPr>
            <a:r>
              <a:rPr lang="en-US" sz="2400" b="1" dirty="0">
                <a:solidFill>
                  <a:srgbClr val="C6A24C"/>
                </a:solidFill>
                <a:latin typeface="Calibri" pitchFamily="34" charset="0"/>
                <a:ea typeface="Calibri" pitchFamily="34" charset="-122"/>
                <a:cs typeface="Calibri" pitchFamily="34" charset="-120"/>
              </a:rPr>
              <a:t>Section learning outcomes</a:t>
            </a:r>
            <a:endParaRPr lang="en-US" sz="2400" dirty="0"/>
          </a:p>
        </p:txBody>
      </p:sp>
      <p:sp>
        <p:nvSpPr>
          <p:cNvPr id="7" name="Shape 5"/>
          <p:cNvSpPr/>
          <p:nvPr/>
        </p:nvSpPr>
        <p:spPr>
          <a:xfrm>
            <a:off x="2743200" y="382219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8" name="Image 0" descr="preencoded.png"/>
          <p:cNvPicPr>
            <a:picLocks noChangeAspect="1"/>
          </p:cNvPicPr>
          <p:nvPr/>
        </p:nvPicPr>
        <p:blipFill>
          <a:blip r:embed="rId3"/>
          <a:stretch>
            <a:fillRect/>
          </a:stretch>
        </p:blipFill>
        <p:spPr>
          <a:xfrm>
            <a:off x="2839212" y="3918204"/>
            <a:ext cx="192024" cy="192024"/>
          </a:xfrm>
          <a:prstGeom prst="rect">
            <a:avLst/>
          </a:prstGeom>
        </p:spPr>
      </p:pic>
      <p:sp>
        <p:nvSpPr>
          <p:cNvPr id="9" name="Text 6"/>
          <p:cNvSpPr txBox="1"/>
          <p:nvPr/>
        </p:nvSpPr>
        <p:spPr>
          <a:xfrm>
            <a:off x="3291840" y="374904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Integrate individual performance signals into an enterprise-wide assessment of progress.</a:t>
            </a:r>
            <a:endParaRPr lang="en-US" sz="2400" dirty="0"/>
          </a:p>
        </p:txBody>
      </p:sp>
      <p:sp>
        <p:nvSpPr>
          <p:cNvPr id="10" name="Shape 7"/>
          <p:cNvSpPr/>
          <p:nvPr/>
        </p:nvSpPr>
        <p:spPr>
          <a:xfrm>
            <a:off x="2743200" y="501091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11" name="Image 1" descr="preencoded.png"/>
          <p:cNvPicPr>
            <a:picLocks noChangeAspect="1"/>
          </p:cNvPicPr>
          <p:nvPr/>
        </p:nvPicPr>
        <p:blipFill>
          <a:blip r:embed="rId3"/>
          <a:stretch>
            <a:fillRect/>
          </a:stretch>
        </p:blipFill>
        <p:spPr>
          <a:xfrm>
            <a:off x="2839212" y="5106924"/>
            <a:ext cx="192024" cy="192024"/>
          </a:xfrm>
          <a:prstGeom prst="rect">
            <a:avLst/>
          </a:prstGeom>
        </p:spPr>
      </p:pic>
      <p:sp>
        <p:nvSpPr>
          <p:cNvPr id="12" name="Text 8"/>
          <p:cNvSpPr txBox="1"/>
          <p:nvPr/>
        </p:nvSpPr>
        <p:spPr>
          <a:xfrm>
            <a:off x="3291840" y="493776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Diagnose root causes of underperformance and select proportionate leadership responses.</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4.1 · The Enterprise Performance Intelligence Circle (EPIC)</a:t>
            </a:r>
            <a:endParaRPr lang="en-US" sz="3600" dirty="0"/>
          </a:p>
        </p:txBody>
      </p:sp>
      <p:sp>
        <p:nvSpPr>
          <p:cNvPr id="3" name="Shape 1"/>
          <p:cNvSpPr/>
          <p:nvPr/>
        </p:nvSpPr>
        <p:spPr>
          <a:xfrm>
            <a:off x="548640" y="1508760"/>
            <a:ext cx="3514344" cy="3931920"/>
          </a:xfrm>
          <a:prstGeom prst="roundRect">
            <a:avLst>
              <a:gd name="adj" fmla="val 2602"/>
            </a:avLst>
          </a:prstGeom>
          <a:solidFill>
            <a:srgbClr val="EEF4EF"/>
          </a:solidFill>
          <a:ln w="12700">
            <a:solidFill>
              <a:srgbClr val="EEF4EF"/>
            </a:solidFill>
            <a:prstDash val="solid"/>
          </a:ln>
        </p:spPr>
        <p:txBody>
          <a:bodyPr/>
          <a:lstStyle/>
          <a:p>
            <a:endParaRPr lang="en-ZA"/>
          </a:p>
        </p:txBody>
      </p:sp>
      <p:sp>
        <p:nvSpPr>
          <p:cNvPr id="4" name="Shape 2"/>
          <p:cNvSpPr/>
          <p:nvPr/>
        </p:nvSpPr>
        <p:spPr>
          <a:xfrm>
            <a:off x="777240"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5" name="Image 0" descr="preencoded.png"/>
          <p:cNvPicPr>
            <a:picLocks noChangeAspect="1"/>
          </p:cNvPicPr>
          <p:nvPr/>
        </p:nvPicPr>
        <p:blipFill>
          <a:blip r:embed="rId3"/>
          <a:stretch>
            <a:fillRect/>
          </a:stretch>
        </p:blipFill>
        <p:spPr>
          <a:xfrm>
            <a:off x="937260" y="1897380"/>
            <a:ext cx="320040" cy="320040"/>
          </a:xfrm>
          <a:prstGeom prst="rect">
            <a:avLst/>
          </a:prstGeom>
        </p:spPr>
      </p:pic>
      <p:sp>
        <p:nvSpPr>
          <p:cNvPr id="6" name="Text 3"/>
          <p:cNvSpPr txBox="1"/>
          <p:nvPr/>
        </p:nvSpPr>
        <p:spPr>
          <a:xfrm>
            <a:off x="777240" y="2514600"/>
            <a:ext cx="3057144" cy="507492"/>
          </a:xfrm>
          <a:prstGeom prst="rect">
            <a:avLst/>
          </a:prstGeom>
          <a:noFill/>
          <a:ln/>
        </p:spPr>
        <p:txBody>
          <a:bodyPr wrap="square" lIns="0" tIns="0" rIns="0" bIns="0" rtlCol="0" anchor="t"/>
          <a:lstStyle/>
          <a:p>
            <a:pPr marL="0" indent="0">
              <a:buNone/>
            </a:pPr>
            <a:r>
              <a:rPr lang="en-US" sz="2600" b="1" dirty="0">
                <a:solidFill>
                  <a:srgbClr val="1A5C2C"/>
                </a:solidFill>
                <a:latin typeface="Cambria" pitchFamily="34" charset="0"/>
                <a:ea typeface="Cambria" pitchFamily="34" charset="-122"/>
                <a:cs typeface="Cambria" pitchFamily="34" charset="-120"/>
              </a:rPr>
              <a:t>Signal 1</a:t>
            </a:r>
            <a:endParaRPr lang="en-US" sz="2600" dirty="0"/>
          </a:p>
        </p:txBody>
      </p:sp>
      <p:sp>
        <p:nvSpPr>
          <p:cNvPr id="7" name="Text 4"/>
          <p:cNvSpPr txBox="1"/>
          <p:nvPr/>
        </p:nvSpPr>
        <p:spPr>
          <a:xfrm>
            <a:off x="777240" y="3159252"/>
            <a:ext cx="3057144" cy="2144268"/>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Collective Trajectory: % progress, evidence, momentum</a:t>
            </a:r>
            <a:endParaRPr lang="en-US" sz="2400" dirty="0"/>
          </a:p>
        </p:txBody>
      </p:sp>
      <p:sp>
        <p:nvSpPr>
          <p:cNvPr id="8" name="Shape 5"/>
          <p:cNvSpPr/>
          <p:nvPr/>
        </p:nvSpPr>
        <p:spPr>
          <a:xfrm>
            <a:off x="4337304" y="1508760"/>
            <a:ext cx="3514344" cy="3931920"/>
          </a:xfrm>
          <a:prstGeom prst="roundRect">
            <a:avLst>
              <a:gd name="adj" fmla="val 2602"/>
            </a:avLst>
          </a:prstGeom>
          <a:solidFill>
            <a:srgbClr val="EEF4EF"/>
          </a:solidFill>
          <a:ln w="12700">
            <a:solidFill>
              <a:srgbClr val="EEF4EF"/>
            </a:solidFill>
            <a:prstDash val="solid"/>
          </a:ln>
        </p:spPr>
        <p:txBody>
          <a:bodyPr/>
          <a:lstStyle/>
          <a:p>
            <a:endParaRPr lang="en-ZA"/>
          </a:p>
        </p:txBody>
      </p:sp>
      <p:sp>
        <p:nvSpPr>
          <p:cNvPr id="9" name="Shape 6"/>
          <p:cNvSpPr/>
          <p:nvPr/>
        </p:nvSpPr>
        <p:spPr>
          <a:xfrm>
            <a:off x="4565904"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1" descr="preencoded.png"/>
          <p:cNvPicPr>
            <a:picLocks noChangeAspect="1"/>
          </p:cNvPicPr>
          <p:nvPr/>
        </p:nvPicPr>
        <p:blipFill>
          <a:blip r:embed="rId4"/>
          <a:stretch>
            <a:fillRect/>
          </a:stretch>
        </p:blipFill>
        <p:spPr>
          <a:xfrm>
            <a:off x="4725924" y="1897380"/>
            <a:ext cx="320040" cy="320040"/>
          </a:xfrm>
          <a:prstGeom prst="rect">
            <a:avLst/>
          </a:prstGeom>
        </p:spPr>
      </p:pic>
      <p:sp>
        <p:nvSpPr>
          <p:cNvPr id="11" name="Text 7"/>
          <p:cNvSpPr txBox="1"/>
          <p:nvPr/>
        </p:nvSpPr>
        <p:spPr>
          <a:xfrm>
            <a:off x="4565904" y="2514600"/>
            <a:ext cx="3057144" cy="507492"/>
          </a:xfrm>
          <a:prstGeom prst="rect">
            <a:avLst/>
          </a:prstGeom>
          <a:noFill/>
          <a:ln/>
        </p:spPr>
        <p:txBody>
          <a:bodyPr wrap="square" lIns="0" tIns="0" rIns="0" bIns="0" rtlCol="0" anchor="t"/>
          <a:lstStyle/>
          <a:p>
            <a:pPr marL="0" indent="0">
              <a:buNone/>
            </a:pPr>
            <a:r>
              <a:rPr lang="en-US" sz="2600" b="1" dirty="0">
                <a:solidFill>
                  <a:srgbClr val="1A5C2C"/>
                </a:solidFill>
                <a:latin typeface="Cambria" pitchFamily="34" charset="0"/>
                <a:ea typeface="Cambria" pitchFamily="34" charset="-122"/>
                <a:cs typeface="Cambria" pitchFamily="34" charset="-120"/>
              </a:rPr>
              <a:t>Signal 2</a:t>
            </a:r>
            <a:endParaRPr lang="en-US" sz="2600" dirty="0"/>
          </a:p>
        </p:txBody>
      </p:sp>
      <p:sp>
        <p:nvSpPr>
          <p:cNvPr id="12" name="Text 8"/>
          <p:cNvSpPr txBox="1"/>
          <p:nvPr/>
        </p:nvSpPr>
        <p:spPr>
          <a:xfrm>
            <a:off x="4565904" y="3159252"/>
            <a:ext cx="3057144" cy="2144268"/>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Early Warnings: one or two evidence-based signals</a:t>
            </a:r>
            <a:endParaRPr lang="en-US" sz="2400" dirty="0"/>
          </a:p>
        </p:txBody>
      </p:sp>
      <p:sp>
        <p:nvSpPr>
          <p:cNvPr id="13" name="Shape 9"/>
          <p:cNvSpPr/>
          <p:nvPr/>
        </p:nvSpPr>
        <p:spPr>
          <a:xfrm>
            <a:off x="8125968" y="1508760"/>
            <a:ext cx="3514344" cy="3931920"/>
          </a:xfrm>
          <a:prstGeom prst="roundRect">
            <a:avLst>
              <a:gd name="adj" fmla="val 2602"/>
            </a:avLst>
          </a:prstGeom>
          <a:solidFill>
            <a:srgbClr val="1A5C2C"/>
          </a:solidFill>
          <a:ln w="12700">
            <a:solidFill>
              <a:srgbClr val="1A5C2C"/>
            </a:solidFill>
            <a:prstDash val="solid"/>
          </a:ln>
        </p:spPr>
        <p:txBody>
          <a:bodyPr/>
          <a:lstStyle/>
          <a:p>
            <a:endParaRPr lang="en-ZA"/>
          </a:p>
        </p:txBody>
      </p:sp>
      <p:sp>
        <p:nvSpPr>
          <p:cNvPr id="14" name="Shape 10"/>
          <p:cNvSpPr/>
          <p:nvPr/>
        </p:nvSpPr>
        <p:spPr>
          <a:xfrm>
            <a:off x="8354568" y="1737360"/>
            <a:ext cx="640080" cy="640080"/>
          </a:xfrm>
          <a:prstGeom prst="ellipse">
            <a:avLst/>
          </a:prstGeom>
          <a:solidFill>
            <a:srgbClr val="C6A24C"/>
          </a:solidFill>
          <a:ln w="12700">
            <a:solidFill>
              <a:srgbClr val="C6A24C"/>
            </a:solidFill>
            <a:prstDash val="solid"/>
          </a:ln>
        </p:spPr>
        <p:txBody>
          <a:bodyPr/>
          <a:lstStyle/>
          <a:p>
            <a:endParaRPr lang="en-ZA"/>
          </a:p>
        </p:txBody>
      </p:sp>
      <p:pic>
        <p:nvPicPr>
          <p:cNvPr id="15" name="Image 2" descr="preencoded.png"/>
          <p:cNvPicPr>
            <a:picLocks noChangeAspect="1"/>
          </p:cNvPicPr>
          <p:nvPr/>
        </p:nvPicPr>
        <p:blipFill>
          <a:blip r:embed="rId5"/>
          <a:stretch>
            <a:fillRect/>
          </a:stretch>
        </p:blipFill>
        <p:spPr>
          <a:xfrm>
            <a:off x="8514588" y="1897380"/>
            <a:ext cx="320040" cy="320040"/>
          </a:xfrm>
          <a:prstGeom prst="rect">
            <a:avLst/>
          </a:prstGeom>
        </p:spPr>
      </p:pic>
      <p:sp>
        <p:nvSpPr>
          <p:cNvPr id="16" name="Text 11"/>
          <p:cNvSpPr txBox="1"/>
          <p:nvPr/>
        </p:nvSpPr>
        <p:spPr>
          <a:xfrm>
            <a:off x="8354568" y="2514600"/>
            <a:ext cx="3057144" cy="507492"/>
          </a:xfrm>
          <a:prstGeom prst="rect">
            <a:avLst/>
          </a:prstGeom>
          <a:noFill/>
          <a:ln/>
        </p:spPr>
        <p:txBody>
          <a:bodyPr wrap="square" lIns="0" tIns="0" rIns="0" bIns="0" rtlCol="0" anchor="t"/>
          <a:lstStyle/>
          <a:p>
            <a:pPr marL="0" indent="0">
              <a:buNone/>
            </a:pPr>
            <a:r>
              <a:rPr lang="en-US" sz="2600" b="1" dirty="0">
                <a:solidFill>
                  <a:srgbClr val="FFFFFF"/>
                </a:solidFill>
                <a:latin typeface="Cambria" pitchFamily="34" charset="0"/>
                <a:ea typeface="Cambria" pitchFamily="34" charset="-122"/>
                <a:cs typeface="Cambria" pitchFamily="34" charset="-120"/>
              </a:rPr>
              <a:t>Signal 3</a:t>
            </a:r>
            <a:endParaRPr lang="en-US" sz="2600" dirty="0"/>
          </a:p>
        </p:txBody>
      </p:sp>
      <p:sp>
        <p:nvSpPr>
          <p:cNvPr id="17" name="Text 12"/>
          <p:cNvSpPr txBox="1"/>
          <p:nvPr/>
        </p:nvSpPr>
        <p:spPr>
          <a:xfrm>
            <a:off x="8354568" y="3159252"/>
            <a:ext cx="3057144" cy="2144268"/>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Execution Learning: one key learning</a:t>
            </a:r>
            <a:endParaRPr lang="en-US" sz="2400" dirty="0"/>
          </a:p>
        </p:txBody>
      </p:sp>
      <p:sp>
        <p:nvSpPr>
          <p:cNvPr id="18" name="Shape 13"/>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txBody>
          <a:bodyPr/>
          <a:lstStyle/>
          <a:p>
            <a:endParaRPr lang="en-ZA"/>
          </a:p>
        </p:txBody>
      </p:sp>
      <p:sp>
        <p:nvSpPr>
          <p:cNvPr id="19" name="Text 14"/>
          <p:cNvSpPr txBox="1"/>
          <p:nvPr/>
        </p:nvSpPr>
        <p:spPr>
          <a:xfrm>
            <a:off x="822960" y="5623560"/>
            <a:ext cx="10607040" cy="777240"/>
          </a:xfrm>
          <a:prstGeom prst="rect">
            <a:avLst/>
          </a:prstGeom>
          <a:noFill/>
          <a:ln/>
        </p:spPr>
        <p:txBody>
          <a:bodyPr wrap="square" lIns="0" tIns="0" rIns="0" bIns="0" rtlCol="0" anchor="ctr"/>
          <a:lstStyle/>
          <a:p>
            <a:pPr marL="0" indent="0">
              <a:buNone/>
            </a:pPr>
            <a:r>
              <a:rPr lang="en-US" sz="2400" i="1" dirty="0">
                <a:solidFill>
                  <a:srgbClr val="FFFFFF"/>
                </a:solidFill>
                <a:latin typeface="Calibri" pitchFamily="34" charset="0"/>
                <a:ea typeface="Calibri" pitchFamily="34" charset="-122"/>
                <a:cs typeface="Calibri" pitchFamily="34" charset="-120"/>
              </a:rPr>
              <a:t>Every contribution must be evidence-based.</a:t>
            </a:r>
            <a:endParaRPr lang="en-US"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1">
    <p:bg>
      <p:bgPr>
        <a:solidFill>
          <a:srgbClr val="0F3B1C"/>
        </a:solidFill>
        <a:effectLst/>
      </p:bgPr>
    </p:bg>
    <p:spTree>
      <p:nvGrpSpPr>
        <p:cNvPr id="1" name=""/>
        <p:cNvGrpSpPr/>
        <p:nvPr/>
      </p:nvGrpSpPr>
      <p:grpSpPr>
        <a:xfrm>
          <a:off x="0" y="0"/>
          <a:ext cx="0" cy="0"/>
          <a:chOff x="0" y="0"/>
          <a:chExt cx="0" cy="0"/>
        </a:xfrm>
      </p:grpSpPr>
      <p:sp>
        <p:nvSpPr>
          <p:cNvPr id="2" name="Shape 0"/>
          <p:cNvSpPr/>
          <p:nvPr/>
        </p:nvSpPr>
        <p:spPr>
          <a:xfrm>
            <a:off x="731520" y="1097280"/>
            <a:ext cx="1097280" cy="1097280"/>
          </a:xfrm>
          <a:prstGeom prst="ellipse">
            <a:avLst/>
          </a:prstGeom>
          <a:solidFill>
            <a:srgbClr val="C6A24C"/>
          </a:solidFill>
          <a:ln w="12700">
            <a:solidFill>
              <a:srgbClr val="C6A24C"/>
            </a:solidFill>
            <a:prstDash val="solid"/>
          </a:ln>
        </p:spPr>
        <p:txBody>
          <a:bodyPr/>
          <a:lstStyle/>
          <a:p>
            <a:endParaRPr lang="en-ZA"/>
          </a:p>
        </p:txBody>
      </p:sp>
      <p:pic>
        <p:nvPicPr>
          <p:cNvPr id="3" name="Image 0" descr="preencoded.png"/>
          <p:cNvPicPr>
            <a:picLocks noChangeAspect="1"/>
          </p:cNvPicPr>
          <p:nvPr/>
        </p:nvPicPr>
        <p:blipFill>
          <a:blip r:embed="rId3"/>
          <a:stretch>
            <a:fillRect/>
          </a:stretch>
        </p:blipFill>
        <p:spPr>
          <a:xfrm>
            <a:off x="1005840" y="1371600"/>
            <a:ext cx="548640" cy="548640"/>
          </a:xfrm>
          <a:prstGeom prst="rect">
            <a:avLst/>
          </a:prstGeom>
        </p:spPr>
      </p:pic>
      <p:sp>
        <p:nvSpPr>
          <p:cNvPr id="4" name="Text 1"/>
          <p:cNvSpPr txBox="1"/>
          <p:nvPr/>
        </p:nvSpPr>
        <p:spPr>
          <a:xfrm>
            <a:off x="2103120" y="1280160"/>
            <a:ext cx="9144000" cy="640080"/>
          </a:xfrm>
          <a:prstGeom prst="rect">
            <a:avLst/>
          </a:prstGeom>
          <a:noFill/>
          <a:ln/>
        </p:spPr>
        <p:txBody>
          <a:bodyPr wrap="square" lIns="0" tIns="0" rIns="0" bIns="0" rtlCol="0" anchor="t"/>
          <a:lstStyle/>
          <a:p>
            <a:pPr marL="0" indent="0">
              <a:buNone/>
            </a:pPr>
            <a:r>
              <a:rPr lang="en-US" sz="2600" b="1" dirty="0">
                <a:solidFill>
                  <a:srgbClr val="C6A24C"/>
                </a:solidFill>
                <a:latin typeface="Calibri" pitchFamily="34" charset="0"/>
                <a:ea typeface="Calibri" pitchFamily="34" charset="-122"/>
                <a:cs typeface="Calibri" pitchFamily="34" charset="-120"/>
              </a:rPr>
              <a:t>4.2 · The Accountability Loop role play</a:t>
            </a:r>
            <a:endParaRPr lang="en-US" sz="2600" dirty="0"/>
          </a:p>
        </p:txBody>
      </p:sp>
      <p:sp>
        <p:nvSpPr>
          <p:cNvPr id="5" name="Text 2"/>
          <p:cNvSpPr txBox="1"/>
          <p:nvPr/>
        </p:nvSpPr>
        <p:spPr>
          <a:xfrm>
            <a:off x="2103120" y="2103120"/>
            <a:ext cx="9418320" cy="3474720"/>
          </a:xfrm>
          <a:prstGeom prst="rect">
            <a:avLst/>
          </a:prstGeom>
          <a:noFill/>
          <a:ln/>
        </p:spPr>
        <p:txBody>
          <a:bodyPr wrap="square" lIns="0" tIns="0" rIns="0" bIns="0" rtlCol="0" anchor="t"/>
          <a:lstStyle/>
          <a:p>
            <a:pPr marL="0" indent="0">
              <a:buNone/>
            </a:pPr>
            <a:r>
              <a:rPr lang="en-US" sz="3600" i="1" dirty="0">
                <a:solidFill>
                  <a:srgbClr val="FFFFFF"/>
                </a:solidFill>
                <a:latin typeface="Cambria" pitchFamily="34" charset="0"/>
                <a:ea typeface="Cambria" pitchFamily="34" charset="-122"/>
                <a:cs typeface="Cambria" pitchFamily="34" charset="-120"/>
              </a:rPr>
              <a:t>Complaint resolution fell from 10 days to 8, then stalled, against a target of 5.</a:t>
            </a:r>
            <a:endParaRPr lang="en-US" sz="3600" dirty="0"/>
          </a:p>
        </p:txBody>
      </p:sp>
      <p:sp>
        <p:nvSpPr>
          <p:cNvPr id="6" name="Text 3"/>
          <p:cNvSpPr txBox="1"/>
          <p:nvPr/>
        </p:nvSpPr>
        <p:spPr>
          <a:xfrm>
            <a:off x="2103120" y="5577840"/>
            <a:ext cx="9418320" cy="822960"/>
          </a:xfrm>
          <a:prstGeom prst="rect">
            <a:avLst/>
          </a:prstGeom>
          <a:noFill/>
          <a:ln/>
        </p:spPr>
        <p:txBody>
          <a:bodyPr wrap="square" lIns="0" tIns="0" rIns="0" bIns="0" rtlCol="0" anchor="t"/>
          <a:lstStyle/>
          <a:p>
            <a:pPr marL="0" indent="0">
              <a:buNone/>
            </a:pPr>
            <a:r>
              <a:rPr lang="en-US" sz="2400" dirty="0">
                <a:solidFill>
                  <a:srgbClr val="DDE8DF"/>
                </a:solidFill>
                <a:latin typeface="Calibri" pitchFamily="34" charset="0"/>
                <a:ea typeface="Calibri" pitchFamily="34" charset="-122"/>
                <a:cs typeface="Calibri" pitchFamily="34" charset="-120"/>
              </a:rPr>
              <a:t>Leader · Team member · Observer. The team member privately chooses the root cause.</a:t>
            </a:r>
            <a:endParaRPr 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4.2 · Analysing the conversation with GROW</a:t>
            </a:r>
            <a:endParaRPr lang="en-US" sz="3600" dirty="0"/>
          </a:p>
        </p:txBody>
      </p:sp>
      <p:sp>
        <p:nvSpPr>
          <p:cNvPr id="3" name="Shape 1"/>
          <p:cNvSpPr/>
          <p:nvPr/>
        </p:nvSpPr>
        <p:spPr>
          <a:xfrm>
            <a:off x="548640" y="1691640"/>
            <a:ext cx="640080" cy="640080"/>
          </a:xfrm>
          <a:prstGeom prst="ellipse">
            <a:avLst/>
          </a:prstGeom>
          <a:solidFill>
            <a:srgbClr val="1A5C2C"/>
          </a:solidFill>
          <a:ln w="12700">
            <a:solidFill>
              <a:srgbClr val="1A5C2C"/>
            </a:solidFill>
            <a:prstDash val="solid"/>
          </a:ln>
        </p:spPr>
        <p:txBody>
          <a:bodyPr lIns="0" tIns="0" rIns="0" bIns="0" anchor="ctr"/>
          <a:lstStyle/>
          <a:p>
            <a:pPr algn="ctr"/>
            <a:r>
              <a:rPr lang="en-GB" sz="2400" b="1">
                <a:solidFill>
                  <a:srgbClr val="FFFFFF"/>
                </a:solidFill>
                <a:latin typeface="Cambria"/>
              </a:rPr>
              <a:t>G</a:t>
            </a:r>
          </a:p>
        </p:txBody>
      </p:sp>
      <p:sp>
        <p:nvSpPr>
          <p:cNvPr id="5" name="Text 2"/>
          <p:cNvSpPr txBox="1"/>
          <p:nvPr/>
        </p:nvSpPr>
        <p:spPr>
          <a:xfrm>
            <a:off x="1508760" y="1463040"/>
            <a:ext cx="10131552" cy="109728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Goal  </a:t>
            </a:r>
            <a:r>
              <a:rPr lang="en-US" sz="2600" dirty="0">
                <a:solidFill>
                  <a:srgbClr val="1F2A22"/>
                </a:solidFill>
                <a:latin typeface="Calibri" pitchFamily="34" charset="0"/>
                <a:ea typeface="Calibri" pitchFamily="34" charset="-122"/>
                <a:cs typeface="Calibri" pitchFamily="34" charset="-120"/>
              </a:rPr>
              <a:t>What the leader aims to achieve: the root cause, alignment, or both.</a:t>
            </a:r>
            <a:endParaRPr lang="en-US" sz="2600" dirty="0"/>
          </a:p>
        </p:txBody>
      </p:sp>
      <p:sp>
        <p:nvSpPr>
          <p:cNvPr id="9" name="Shape 5"/>
          <p:cNvSpPr/>
          <p:nvPr/>
        </p:nvSpPr>
        <p:spPr>
          <a:xfrm>
            <a:off x="548640" y="3063240"/>
            <a:ext cx="640080" cy="640080"/>
          </a:xfrm>
          <a:prstGeom prst="ellipse">
            <a:avLst/>
          </a:prstGeom>
          <a:solidFill>
            <a:srgbClr val="1A5C2C"/>
          </a:solidFill>
          <a:ln w="12700">
            <a:solidFill>
              <a:srgbClr val="1A5C2C"/>
            </a:solidFill>
            <a:prstDash val="solid"/>
          </a:ln>
        </p:spPr>
        <p:txBody>
          <a:bodyPr lIns="0" tIns="0" rIns="0" bIns="0" anchor="ctr"/>
          <a:lstStyle/>
          <a:p>
            <a:pPr algn="ctr"/>
            <a:r>
              <a:rPr lang="en-GB" sz="2400" b="1">
                <a:solidFill>
                  <a:srgbClr val="FFFFFF"/>
                </a:solidFill>
                <a:latin typeface="Cambria"/>
              </a:rPr>
              <a:t>R</a:t>
            </a:r>
          </a:p>
        </p:txBody>
      </p:sp>
      <p:sp>
        <p:nvSpPr>
          <p:cNvPr id="11" name="Text 6"/>
          <p:cNvSpPr txBox="1"/>
          <p:nvPr/>
        </p:nvSpPr>
        <p:spPr>
          <a:xfrm>
            <a:off x="1508760" y="2834640"/>
            <a:ext cx="10131552" cy="109728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Reality  </a:t>
            </a:r>
            <a:r>
              <a:rPr lang="en-US" sz="2600" dirty="0">
                <a:solidFill>
                  <a:srgbClr val="1F2A22"/>
                </a:solidFill>
                <a:latin typeface="Calibri" pitchFamily="34" charset="0"/>
                <a:ea typeface="Calibri" pitchFamily="34" charset="-122"/>
                <a:cs typeface="Calibri" pitchFamily="34" charset="-120"/>
              </a:rPr>
              <a:t>What stands behind the gap.</a:t>
            </a:r>
            <a:endParaRPr lang="en-US" sz="2600" dirty="0"/>
          </a:p>
        </p:txBody>
      </p:sp>
      <p:sp>
        <p:nvSpPr>
          <p:cNvPr id="12" name="Shape 7"/>
          <p:cNvSpPr/>
          <p:nvPr/>
        </p:nvSpPr>
        <p:spPr>
          <a:xfrm>
            <a:off x="548640" y="4434840"/>
            <a:ext cx="640080" cy="640080"/>
          </a:xfrm>
          <a:prstGeom prst="ellipse">
            <a:avLst/>
          </a:prstGeom>
          <a:solidFill>
            <a:srgbClr val="1A5C2C"/>
          </a:solidFill>
          <a:ln w="12700">
            <a:solidFill>
              <a:srgbClr val="1A5C2C"/>
            </a:solidFill>
            <a:prstDash val="solid"/>
          </a:ln>
        </p:spPr>
        <p:txBody>
          <a:bodyPr lIns="0" tIns="0" rIns="0" bIns="0" anchor="ctr"/>
          <a:lstStyle/>
          <a:p>
            <a:pPr algn="ctr"/>
            <a:r>
              <a:rPr lang="en-GB" sz="2400" b="1">
                <a:solidFill>
                  <a:srgbClr val="FFFFFF"/>
                </a:solidFill>
                <a:latin typeface="Cambria"/>
              </a:rPr>
              <a:t>O</a:t>
            </a:r>
          </a:p>
        </p:txBody>
      </p:sp>
      <p:sp>
        <p:nvSpPr>
          <p:cNvPr id="14" name="Text 8"/>
          <p:cNvSpPr txBox="1"/>
          <p:nvPr/>
        </p:nvSpPr>
        <p:spPr>
          <a:xfrm>
            <a:off x="1508760" y="4206240"/>
            <a:ext cx="10131552" cy="109728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Options  </a:t>
            </a:r>
            <a:r>
              <a:rPr lang="en-US" sz="2600" dirty="0">
                <a:solidFill>
                  <a:srgbClr val="1F2A22"/>
                </a:solidFill>
                <a:latin typeface="Calibri" pitchFamily="34" charset="0"/>
                <a:ea typeface="Calibri" pitchFamily="34" charset="-122"/>
                <a:cs typeface="Calibri" pitchFamily="34" charset="-120"/>
              </a:rPr>
              <a:t>The ways forward the team member generates.</a:t>
            </a:r>
            <a:endParaRPr lang="en-US" sz="2600" dirty="0"/>
          </a:p>
        </p:txBody>
      </p:sp>
      <p:sp>
        <p:nvSpPr>
          <p:cNvPr id="15" name="Shape 9"/>
          <p:cNvSpPr/>
          <p:nvPr/>
        </p:nvSpPr>
        <p:spPr>
          <a:xfrm>
            <a:off x="548640" y="5806440"/>
            <a:ext cx="640080" cy="640080"/>
          </a:xfrm>
          <a:prstGeom prst="ellipse">
            <a:avLst/>
          </a:prstGeom>
          <a:solidFill>
            <a:srgbClr val="1A5C2C"/>
          </a:solidFill>
          <a:ln w="12700">
            <a:solidFill>
              <a:srgbClr val="1A5C2C"/>
            </a:solidFill>
            <a:prstDash val="solid"/>
          </a:ln>
        </p:spPr>
        <p:txBody>
          <a:bodyPr lIns="0" tIns="0" rIns="0" bIns="0" anchor="ctr"/>
          <a:lstStyle/>
          <a:p>
            <a:pPr algn="ctr"/>
            <a:r>
              <a:rPr lang="en-GB" sz="2400" b="1">
                <a:solidFill>
                  <a:srgbClr val="FFFFFF"/>
                </a:solidFill>
                <a:latin typeface="Cambria"/>
              </a:rPr>
              <a:t>W</a:t>
            </a:r>
          </a:p>
        </p:txBody>
      </p:sp>
      <p:sp>
        <p:nvSpPr>
          <p:cNvPr id="16" name="Text 10"/>
          <p:cNvSpPr txBox="1"/>
          <p:nvPr/>
        </p:nvSpPr>
        <p:spPr>
          <a:xfrm>
            <a:off x="1508760" y="5577840"/>
            <a:ext cx="10131552" cy="109728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Will  </a:t>
            </a:r>
            <a:r>
              <a:rPr lang="en-US" sz="2600" dirty="0">
                <a:solidFill>
                  <a:srgbClr val="1F2A22"/>
                </a:solidFill>
                <a:latin typeface="Calibri" pitchFamily="34" charset="0"/>
                <a:ea typeface="Calibri" pitchFamily="34" charset="-122"/>
                <a:cs typeface="Calibri" pitchFamily="34" charset="-120"/>
              </a:rPr>
              <a:t>What, by whom, by when, and the review date.</a:t>
            </a:r>
            <a:endParaRPr lang="en-US" sz="2600" dirty="0"/>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Section 4 Reflections</a:t>
            </a:r>
            <a:endParaRPr lang="en-US" sz="3600" dirty="0"/>
          </a:p>
        </p:txBody>
      </p:sp>
      <p:pic>
        <p:nvPicPr>
          <p:cNvPr id="3" name="Reflection 4.1" descr="ref_4.1b.png"/>
          <p:cNvPicPr>
            <a:picLocks noChangeAspect="1"/>
          </p:cNvPicPr>
          <p:nvPr/>
        </p:nvPicPr>
        <p:blipFill>
          <a:blip r:embed="rId8"/>
          <a:stretch>
            <a:fillRect/>
          </a:stretch>
        </p:blipFill>
        <p:spPr>
          <a:xfrm>
            <a:off x="1691640" y="1463040"/>
            <a:ext cx="10058400" cy="1002755"/>
          </a:xfrm>
          <a:prstGeom prst="rect">
            <a:avLst/>
          </a:prstGeom>
        </p:spPr>
      </p:pic>
      <p:sp>
        <p:nvSpPr>
          <p:cNvPr id="4" name="Part 4.1"/>
          <p:cNvSpPr/>
          <p:nvPr/>
        </p:nvSpPr>
        <p:spPr>
          <a:xfrm>
            <a:off x="548640" y="1530077"/>
            <a:ext cx="868680" cy="868680"/>
          </a:xfrm>
          <a:prstGeom prst="ellipse">
            <a:avLst/>
          </a:prstGeom>
          <a:solidFill>
            <a:srgbClr val="C6A24C"/>
          </a:solidFill>
          <a:ln>
            <a:solidFill>
              <a:srgbClr val="C6A24C"/>
            </a:solidFill>
          </a:ln>
          <a:effectLst/>
        </p:spPr>
        <p:txBody>
          <a:bodyPr wrap="none" lIns="0" tIns="0" rIns="0" bIns="0" rtlCol="0" anchor="ctr"/>
          <a:lstStyle/>
          <a:p>
            <a:pPr algn="ctr"/>
            <a:r>
              <a:rPr lang="en-GB" sz="2400" b="1">
                <a:solidFill>
                  <a:srgbClr val="FFFFFF"/>
                </a:solidFill>
                <a:latin typeface="Calibri"/>
              </a:rPr>
              <a:t>4.1</a:t>
            </a:r>
          </a:p>
        </p:txBody>
      </p:sp>
      <p:pic>
        <p:nvPicPr>
          <p:cNvPr id="5" name="Reflection 4.1" descr="ref_4.1c.png"/>
          <p:cNvPicPr>
            <a:picLocks noChangeAspect="1"/>
          </p:cNvPicPr>
          <p:nvPr/>
        </p:nvPicPr>
        <p:blipFill>
          <a:blip r:embed="rId9"/>
          <a:stretch>
            <a:fillRect/>
          </a:stretch>
        </p:blipFill>
        <p:spPr>
          <a:xfrm>
            <a:off x="1691640" y="2666962"/>
            <a:ext cx="10058400" cy="1357575"/>
          </a:xfrm>
          <a:prstGeom prst="rect">
            <a:avLst/>
          </a:prstGeom>
        </p:spPr>
      </p:pic>
      <p:sp>
        <p:nvSpPr>
          <p:cNvPr id="6" name="Part 4.1"/>
          <p:cNvSpPr/>
          <p:nvPr/>
        </p:nvSpPr>
        <p:spPr>
          <a:xfrm>
            <a:off x="548640" y="2911409"/>
            <a:ext cx="868680" cy="868680"/>
          </a:xfrm>
          <a:prstGeom prst="ellipse">
            <a:avLst/>
          </a:prstGeom>
          <a:solidFill>
            <a:srgbClr val="C6A24C"/>
          </a:solidFill>
          <a:ln>
            <a:solidFill>
              <a:srgbClr val="C6A24C"/>
            </a:solidFill>
          </a:ln>
          <a:effectLst/>
        </p:spPr>
        <p:txBody>
          <a:bodyPr wrap="none" lIns="0" tIns="0" rIns="0" bIns="0" rtlCol="0" anchor="ctr"/>
          <a:lstStyle/>
          <a:p>
            <a:pPr algn="ctr"/>
            <a:r>
              <a:rPr lang="en-GB" sz="2400" b="1">
                <a:solidFill>
                  <a:srgbClr val="FFFFFF"/>
                </a:solidFill>
                <a:latin typeface="Calibri"/>
              </a:rPr>
              <a:t>4.1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Section 4 Reflections</a:t>
            </a:r>
            <a:endParaRPr lang="en-US" sz="3600" dirty="0"/>
          </a:p>
        </p:txBody>
      </p:sp>
      <p:pic>
        <p:nvPicPr>
          <p:cNvPr id="3" name="Reflection 4.1" descr="ref_4.1a.png"/>
          <p:cNvPicPr>
            <a:picLocks noChangeAspect="1"/>
          </p:cNvPicPr>
          <p:nvPr/>
        </p:nvPicPr>
        <p:blipFill>
          <a:blip r:embed="rId8"/>
          <a:stretch>
            <a:fillRect/>
          </a:stretch>
        </p:blipFill>
        <p:spPr>
          <a:xfrm>
            <a:off x="1691640" y="1463040"/>
            <a:ext cx="10058400" cy="1311339"/>
          </a:xfrm>
          <a:prstGeom prst="rect">
            <a:avLst/>
          </a:prstGeom>
        </p:spPr>
      </p:pic>
      <p:sp>
        <p:nvSpPr>
          <p:cNvPr id="4" name="Part 4.1"/>
          <p:cNvSpPr/>
          <p:nvPr/>
        </p:nvSpPr>
        <p:spPr>
          <a:xfrm>
            <a:off x="548640" y="1684369"/>
            <a:ext cx="868680" cy="868680"/>
          </a:xfrm>
          <a:prstGeom prst="ellipse">
            <a:avLst/>
          </a:prstGeom>
          <a:solidFill>
            <a:srgbClr val="C6A24C"/>
          </a:solidFill>
          <a:ln>
            <a:solidFill>
              <a:srgbClr val="C6A24C"/>
            </a:solidFill>
          </a:ln>
          <a:effectLst/>
        </p:spPr>
        <p:txBody>
          <a:bodyPr wrap="none" lIns="0" tIns="0" rIns="0" bIns="0" rtlCol="0" anchor="ctr"/>
          <a:lstStyle/>
          <a:p>
            <a:pPr algn="ctr"/>
            <a:r>
              <a:rPr lang="en-GB" sz="2400" b="1">
                <a:solidFill>
                  <a:srgbClr val="FFFFFF"/>
                </a:solidFill>
                <a:latin typeface="Calibri"/>
              </a:rPr>
              <a:t>4.1</a:t>
            </a:r>
          </a:p>
        </p:txBody>
      </p:sp>
      <p:pic>
        <p:nvPicPr>
          <p:cNvPr id="5" name="Reflection 4.2" descr="ref_4.2.png"/>
          <p:cNvPicPr>
            <a:picLocks noChangeAspect="1"/>
          </p:cNvPicPr>
          <p:nvPr/>
        </p:nvPicPr>
        <p:blipFill>
          <a:blip r:embed="rId9"/>
          <a:stretch>
            <a:fillRect/>
          </a:stretch>
        </p:blipFill>
        <p:spPr>
          <a:xfrm>
            <a:off x="1691640" y="2975546"/>
            <a:ext cx="10058400" cy="3285552"/>
          </a:xfrm>
          <a:prstGeom prst="rect">
            <a:avLst/>
          </a:prstGeom>
        </p:spPr>
      </p:pic>
      <p:sp>
        <p:nvSpPr>
          <p:cNvPr id="6" name="Part 4.2"/>
          <p:cNvSpPr/>
          <p:nvPr/>
        </p:nvSpPr>
        <p:spPr>
          <a:xfrm>
            <a:off x="548640" y="4183981"/>
            <a:ext cx="868680" cy="868680"/>
          </a:xfrm>
          <a:prstGeom prst="ellipse">
            <a:avLst/>
          </a:prstGeom>
          <a:solidFill>
            <a:srgbClr val="C6A24C"/>
          </a:solidFill>
          <a:ln>
            <a:solidFill>
              <a:srgbClr val="C6A24C"/>
            </a:solidFill>
          </a:ln>
          <a:effectLst/>
        </p:spPr>
        <p:txBody>
          <a:bodyPr wrap="none" lIns="0" tIns="0" rIns="0" bIns="0" rtlCol="0" anchor="ctr"/>
          <a:lstStyle/>
          <a:p>
            <a:pPr algn="ctr"/>
            <a:r>
              <a:rPr lang="en-GB" sz="2400" b="1">
                <a:solidFill>
                  <a:srgbClr val="FFFFFF"/>
                </a:solidFill>
                <a:latin typeface="Calibri"/>
              </a:rPr>
              <a:t>4.2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9">
    <p:bg>
      <p:bgPr>
        <a:solidFill>
          <a:srgbClr val="1A5C2C"/>
        </a:solidFill>
        <a:effectLst/>
      </p:bgPr>
    </p:bg>
    <p:spTree>
      <p:nvGrpSpPr>
        <p:cNvPr id="1" name=""/>
        <p:cNvGrpSpPr/>
        <p:nvPr/>
      </p:nvGrpSpPr>
      <p:grpSpPr>
        <a:xfrm>
          <a:off x="0" y="0"/>
          <a:ext cx="0" cy="0"/>
          <a:chOff x="0" y="0"/>
          <a:chExt cx="0" cy="0"/>
        </a:xfrm>
      </p:grpSpPr>
      <p:sp>
        <p:nvSpPr>
          <p:cNvPr id="2" name="Text 0"/>
          <p:cNvSpPr txBox="1"/>
          <p:nvPr/>
        </p:nvSpPr>
        <p:spPr>
          <a:xfrm>
            <a:off x="457200" y="822960"/>
            <a:ext cx="2103120" cy="2194560"/>
          </a:xfrm>
          <a:prstGeom prst="rect">
            <a:avLst/>
          </a:prstGeom>
          <a:noFill/>
          <a:ln/>
        </p:spPr>
        <p:txBody>
          <a:bodyPr wrap="square" lIns="0" tIns="0" rIns="0" bIns="0" rtlCol="0" anchor="t"/>
          <a:lstStyle/>
          <a:p>
            <a:pPr marL="0" indent="0">
              <a:buNone/>
            </a:pPr>
            <a:r>
              <a:rPr lang="en-US" sz="15000" b="1" dirty="0">
                <a:solidFill>
                  <a:srgbClr val="C6A24C"/>
                </a:solidFill>
                <a:latin typeface="Cambria" pitchFamily="34" charset="0"/>
                <a:ea typeface="Cambria" pitchFamily="34" charset="-122"/>
                <a:cs typeface="Cambria" pitchFamily="34" charset="-120"/>
              </a:rPr>
              <a:t>5</a:t>
            </a:r>
            <a:endParaRPr lang="en-US" sz="15000" dirty="0"/>
          </a:p>
        </p:txBody>
      </p:sp>
      <p:sp>
        <p:nvSpPr>
          <p:cNvPr id="3" name="Text 1"/>
          <p:cNvSpPr txBox="1"/>
          <p:nvPr/>
        </p:nvSpPr>
        <p:spPr>
          <a:xfrm>
            <a:off x="2743200" y="914400"/>
            <a:ext cx="8229600" cy="457200"/>
          </a:xfrm>
          <a:prstGeom prst="rect">
            <a:avLst/>
          </a:prstGeom>
          <a:noFill/>
          <a:ln/>
        </p:spPr>
        <p:txBody>
          <a:bodyPr wrap="square" lIns="0" tIns="0" rIns="0" bIns="0" rtlCol="0" anchor="t"/>
          <a:lstStyle/>
          <a:p>
            <a:pPr marL="0" indent="0">
              <a:buNone/>
            </a:pPr>
            <a:r>
              <a:rPr lang="en-US" sz="2400" b="1" dirty="0">
                <a:solidFill>
                  <a:srgbClr val="E6D3A0"/>
                </a:solidFill>
                <a:latin typeface="Calibri" pitchFamily="34" charset="0"/>
                <a:ea typeface="Calibri" pitchFamily="34" charset="-122"/>
                <a:cs typeface="Calibri" pitchFamily="34" charset="-120"/>
              </a:rPr>
              <a:t>Section 5</a:t>
            </a:r>
            <a:endParaRPr lang="en-US" sz="2400" dirty="0"/>
          </a:p>
        </p:txBody>
      </p:sp>
      <p:sp>
        <p:nvSpPr>
          <p:cNvPr id="4" name="Text 2"/>
          <p:cNvSpPr txBox="1"/>
          <p:nvPr/>
        </p:nvSpPr>
        <p:spPr>
          <a:xfrm>
            <a:off x="2743200" y="1371600"/>
            <a:ext cx="8961120" cy="868680"/>
          </a:xfrm>
          <a:prstGeom prst="rect">
            <a:avLst/>
          </a:prstGeom>
          <a:noFill/>
          <a:ln/>
        </p:spPr>
        <p:txBody>
          <a:bodyPr wrap="square" lIns="0" tIns="0" rIns="0" bIns="0" rtlCol="0" anchor="t"/>
          <a:lstStyle/>
          <a:p>
            <a:pPr marL="0" indent="0">
              <a:buNone/>
            </a:pPr>
            <a:r>
              <a:rPr lang="en-US" sz="4400" b="1" dirty="0">
                <a:solidFill>
                  <a:srgbClr val="FFFFFF"/>
                </a:solidFill>
                <a:latin typeface="Cambria" pitchFamily="34" charset="0"/>
                <a:ea typeface="Cambria" pitchFamily="34" charset="-122"/>
                <a:cs typeface="Cambria" pitchFamily="34" charset="-120"/>
              </a:rPr>
              <a:t>Application — In Practice</a:t>
            </a:r>
            <a:endParaRPr lang="en-US" sz="4400" dirty="0"/>
          </a:p>
        </p:txBody>
      </p:sp>
      <p:sp>
        <p:nvSpPr>
          <p:cNvPr id="5" name="Text 3"/>
          <p:cNvSpPr txBox="1"/>
          <p:nvPr/>
        </p:nvSpPr>
        <p:spPr>
          <a:xfrm>
            <a:off x="2743200" y="2240280"/>
            <a:ext cx="8961120" cy="868680"/>
          </a:xfrm>
          <a:prstGeom prst="rect">
            <a:avLst/>
          </a:prstGeom>
          <a:noFill/>
          <a:ln/>
        </p:spPr>
        <p:txBody>
          <a:bodyPr wrap="square" lIns="0" tIns="0" rIns="0" bIns="0" rtlCol="0" anchor="t"/>
          <a:lstStyle/>
          <a:p>
            <a:pPr marL="0" indent="0">
              <a:buNone/>
            </a:pPr>
            <a:r>
              <a:rPr lang="en-US" sz="2600" i="1" dirty="0">
                <a:solidFill>
                  <a:srgbClr val="DDE8DF"/>
                </a:solidFill>
                <a:latin typeface="Calibri" pitchFamily="34" charset="0"/>
                <a:ea typeface="Calibri" pitchFamily="34" charset="-122"/>
                <a:cs typeface="Calibri" pitchFamily="34" charset="-120"/>
              </a:rPr>
              <a:t>Applying the Four Consequences of Weak Review Discipline</a:t>
            </a:r>
            <a:endParaRPr lang="en-US" sz="2600" dirty="0"/>
          </a:p>
        </p:txBody>
      </p:sp>
      <p:sp>
        <p:nvSpPr>
          <p:cNvPr id="6" name="Text 4"/>
          <p:cNvSpPr txBox="1"/>
          <p:nvPr/>
        </p:nvSpPr>
        <p:spPr>
          <a:xfrm>
            <a:off x="2743200" y="3246120"/>
            <a:ext cx="8229600" cy="457200"/>
          </a:xfrm>
          <a:prstGeom prst="rect">
            <a:avLst/>
          </a:prstGeom>
          <a:noFill/>
          <a:ln/>
        </p:spPr>
        <p:txBody>
          <a:bodyPr wrap="square" lIns="0" tIns="0" rIns="0" bIns="0" rtlCol="0" anchor="t"/>
          <a:lstStyle/>
          <a:p>
            <a:pPr marL="0" indent="0">
              <a:buNone/>
            </a:pPr>
            <a:r>
              <a:rPr lang="en-US" sz="2400" b="1" dirty="0">
                <a:solidFill>
                  <a:srgbClr val="C6A24C"/>
                </a:solidFill>
                <a:latin typeface="Calibri" pitchFamily="34" charset="0"/>
                <a:ea typeface="Calibri" pitchFamily="34" charset="-122"/>
                <a:cs typeface="Calibri" pitchFamily="34" charset="-120"/>
              </a:rPr>
              <a:t>Section learning outcomes</a:t>
            </a:r>
            <a:endParaRPr lang="en-US" sz="2400" dirty="0"/>
          </a:p>
        </p:txBody>
      </p:sp>
      <p:sp>
        <p:nvSpPr>
          <p:cNvPr id="7" name="Shape 5"/>
          <p:cNvSpPr/>
          <p:nvPr/>
        </p:nvSpPr>
        <p:spPr>
          <a:xfrm>
            <a:off x="2743200" y="382219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8" name="Image 0" descr="preencoded.png"/>
          <p:cNvPicPr>
            <a:picLocks noChangeAspect="1"/>
          </p:cNvPicPr>
          <p:nvPr/>
        </p:nvPicPr>
        <p:blipFill>
          <a:blip r:embed="rId3"/>
          <a:stretch>
            <a:fillRect/>
          </a:stretch>
        </p:blipFill>
        <p:spPr>
          <a:xfrm>
            <a:off x="2839212" y="3918204"/>
            <a:ext cx="192024" cy="192024"/>
          </a:xfrm>
          <a:prstGeom prst="rect">
            <a:avLst/>
          </a:prstGeom>
        </p:spPr>
      </p:pic>
      <p:sp>
        <p:nvSpPr>
          <p:cNvPr id="9" name="Text 6"/>
          <p:cNvSpPr txBox="1"/>
          <p:nvPr/>
        </p:nvSpPr>
        <p:spPr>
          <a:xfrm>
            <a:off x="3291840" y="374904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Make evidence-based recovery decisions when results depart from expectations.</a:t>
            </a:r>
            <a:endParaRPr lang="en-US" sz="2400" dirty="0"/>
          </a:p>
        </p:txBody>
      </p:sp>
      <p:sp>
        <p:nvSpPr>
          <p:cNvPr id="10" name="Shape 7"/>
          <p:cNvSpPr/>
          <p:nvPr/>
        </p:nvSpPr>
        <p:spPr>
          <a:xfrm>
            <a:off x="2743200" y="501091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11" name="Image 1" descr="preencoded.png"/>
          <p:cNvPicPr>
            <a:picLocks noChangeAspect="1"/>
          </p:cNvPicPr>
          <p:nvPr/>
        </p:nvPicPr>
        <p:blipFill>
          <a:blip r:embed="rId3"/>
          <a:stretch>
            <a:fillRect/>
          </a:stretch>
        </p:blipFill>
        <p:spPr>
          <a:xfrm>
            <a:off x="2839212" y="5106924"/>
            <a:ext cx="192024" cy="192024"/>
          </a:xfrm>
          <a:prstGeom prst="rect">
            <a:avLst/>
          </a:prstGeom>
        </p:spPr>
      </p:pic>
      <p:sp>
        <p:nvSpPr>
          <p:cNvPr id="12" name="Text 8"/>
          <p:cNvSpPr txBox="1"/>
          <p:nvPr/>
        </p:nvSpPr>
        <p:spPr>
          <a:xfrm>
            <a:off x="3291840" y="493776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Establish executive decisions and routines that protect sustained review discipline.</a:t>
            </a:r>
            <a:endParaRPr lang="en-US" sz="2400" dirty="0"/>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5.1 · Decision points against the four consequences</a:t>
            </a:r>
            <a:endParaRPr lang="en-US" sz="3600" dirty="0"/>
          </a:p>
        </p:txBody>
      </p:sp>
      <p:sp>
        <p:nvSpPr>
          <p:cNvPr id="3" name="Shape 1"/>
          <p:cNvSpPr/>
          <p:nvPr/>
        </p:nvSpPr>
        <p:spPr>
          <a:xfrm>
            <a:off x="548640" y="180022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4" name="Image 0" descr="preencoded.png"/>
          <p:cNvPicPr>
            <a:picLocks noChangeAspect="1"/>
          </p:cNvPicPr>
          <p:nvPr/>
        </p:nvPicPr>
        <p:blipFill>
          <a:blip r:embed="rId2"/>
          <a:stretch>
            <a:fillRect/>
          </a:stretch>
        </p:blipFill>
        <p:spPr>
          <a:xfrm>
            <a:off x="708660" y="1960245"/>
            <a:ext cx="320040" cy="320040"/>
          </a:xfrm>
          <a:prstGeom prst="rect">
            <a:avLst/>
          </a:prstGeom>
        </p:spPr>
      </p:pic>
      <p:sp>
        <p:nvSpPr>
          <p:cNvPr id="5" name="Text 2"/>
          <p:cNvSpPr txBox="1"/>
          <p:nvPr/>
        </p:nvSpPr>
        <p:spPr>
          <a:xfrm>
            <a:off x="1508760" y="1508760"/>
            <a:ext cx="10131552" cy="122301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01  </a:t>
            </a:r>
            <a:r>
              <a:rPr lang="en-US" sz="2600" dirty="0">
                <a:solidFill>
                  <a:srgbClr val="1F2A22"/>
                </a:solidFill>
                <a:latin typeface="Calibri" pitchFamily="34" charset="0"/>
                <a:ea typeface="Calibri" pitchFamily="34" charset="-122"/>
                <a:cs typeface="Calibri" pitchFamily="34" charset="-120"/>
              </a:rPr>
              <a:t>Early Warning Signals Are Missed  ·  individuals · conditions</a:t>
            </a:r>
            <a:endParaRPr lang="en-US" sz="2600" dirty="0"/>
          </a:p>
        </p:txBody>
      </p:sp>
      <p:sp>
        <p:nvSpPr>
          <p:cNvPr id="6" name="Shape 3"/>
          <p:cNvSpPr/>
          <p:nvPr/>
        </p:nvSpPr>
        <p:spPr>
          <a:xfrm>
            <a:off x="548640" y="302323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7" name="Image 1" descr="preencoded.png"/>
          <p:cNvPicPr>
            <a:picLocks noChangeAspect="1"/>
          </p:cNvPicPr>
          <p:nvPr/>
        </p:nvPicPr>
        <p:blipFill>
          <a:blip r:embed="rId5"/>
          <a:stretch>
            <a:fillRect/>
          </a:stretch>
        </p:blipFill>
        <p:spPr>
          <a:xfrm>
            <a:off x="708660" y="3183255"/>
            <a:ext cx="320040" cy="320040"/>
          </a:xfrm>
          <a:prstGeom prst="rect">
            <a:avLst/>
          </a:prstGeom>
        </p:spPr>
      </p:pic>
      <p:sp>
        <p:nvSpPr>
          <p:cNvPr id="8" name="Text 4"/>
          <p:cNvSpPr txBox="1"/>
          <p:nvPr/>
        </p:nvSpPr>
        <p:spPr>
          <a:xfrm>
            <a:off x="1508760" y="2731770"/>
            <a:ext cx="10131552" cy="122301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02  </a:t>
            </a:r>
            <a:r>
              <a:rPr lang="en-US" sz="2600" dirty="0">
                <a:solidFill>
                  <a:srgbClr val="1F2A22"/>
                </a:solidFill>
                <a:latin typeface="Calibri" pitchFamily="34" charset="0"/>
                <a:ea typeface="Calibri" pitchFamily="34" charset="-122"/>
                <a:cs typeface="Calibri" pitchFamily="34" charset="-120"/>
              </a:rPr>
              <a:t>Gradual Diffusion of Accountability  ·  individuals · conditions</a:t>
            </a:r>
            <a:endParaRPr lang="en-US" sz="2600" dirty="0"/>
          </a:p>
        </p:txBody>
      </p:sp>
      <p:sp>
        <p:nvSpPr>
          <p:cNvPr id="9" name="Shape 5"/>
          <p:cNvSpPr/>
          <p:nvPr/>
        </p:nvSpPr>
        <p:spPr>
          <a:xfrm>
            <a:off x="548640" y="424624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2" descr="preencoded.png"/>
          <p:cNvPicPr>
            <a:picLocks noChangeAspect="1"/>
          </p:cNvPicPr>
          <p:nvPr/>
        </p:nvPicPr>
        <p:blipFill>
          <a:blip r:embed="rId4"/>
          <a:stretch>
            <a:fillRect/>
          </a:stretch>
        </p:blipFill>
        <p:spPr>
          <a:xfrm>
            <a:off x="708660" y="4406265"/>
            <a:ext cx="320040" cy="320040"/>
          </a:xfrm>
          <a:prstGeom prst="rect">
            <a:avLst/>
          </a:prstGeom>
        </p:spPr>
      </p:pic>
      <p:sp>
        <p:nvSpPr>
          <p:cNvPr id="11" name="Text 6"/>
          <p:cNvSpPr txBox="1"/>
          <p:nvPr/>
        </p:nvSpPr>
        <p:spPr>
          <a:xfrm>
            <a:off x="1508760" y="3954780"/>
            <a:ext cx="10131552" cy="122301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03  </a:t>
            </a:r>
            <a:r>
              <a:rPr lang="en-US" sz="2600" dirty="0">
                <a:solidFill>
                  <a:srgbClr val="1F2A22"/>
                </a:solidFill>
                <a:latin typeface="Calibri" pitchFamily="34" charset="0"/>
                <a:ea typeface="Calibri" pitchFamily="34" charset="-122"/>
                <a:cs typeface="Calibri" pitchFamily="34" charset="-120"/>
              </a:rPr>
              <a:t>Loss of Organisational Learning  ·  individuals · conditions</a:t>
            </a:r>
            <a:endParaRPr lang="en-US" sz="2600" dirty="0"/>
          </a:p>
        </p:txBody>
      </p:sp>
      <p:sp>
        <p:nvSpPr>
          <p:cNvPr id="12" name="Shape 7"/>
          <p:cNvSpPr/>
          <p:nvPr/>
        </p:nvSpPr>
        <p:spPr>
          <a:xfrm>
            <a:off x="548640" y="546925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3" name="Image 3" descr="preencoded.png"/>
          <p:cNvPicPr>
            <a:picLocks noChangeAspect="1"/>
          </p:cNvPicPr>
          <p:nvPr/>
        </p:nvPicPr>
        <p:blipFill>
          <a:blip r:embed="rId3"/>
          <a:stretch>
            <a:fillRect/>
          </a:stretch>
        </p:blipFill>
        <p:spPr>
          <a:xfrm>
            <a:off x="708660" y="5629275"/>
            <a:ext cx="320040" cy="320040"/>
          </a:xfrm>
          <a:prstGeom prst="rect">
            <a:avLst/>
          </a:prstGeom>
        </p:spPr>
      </p:pic>
      <p:sp>
        <p:nvSpPr>
          <p:cNvPr id="14" name="Text 8"/>
          <p:cNvSpPr txBox="1"/>
          <p:nvPr/>
        </p:nvSpPr>
        <p:spPr>
          <a:xfrm>
            <a:off x="1508760" y="5177790"/>
            <a:ext cx="10131552" cy="122301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04  </a:t>
            </a:r>
            <a:r>
              <a:rPr lang="en-US" sz="2600" dirty="0">
                <a:solidFill>
                  <a:srgbClr val="1F2A22"/>
                </a:solidFill>
                <a:latin typeface="Calibri" pitchFamily="34" charset="0"/>
                <a:ea typeface="Calibri" pitchFamily="34" charset="-122"/>
                <a:cs typeface="Calibri" pitchFamily="34" charset="-120"/>
              </a:rPr>
              <a:t>Erodes Leadership Credibility  ·  individuals · conditions</a:t>
            </a:r>
            <a:endParaRPr lang="en-US" sz="2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611</TotalTime>
  <Words>12023</Words>
  <Application>Microsoft Office PowerPoint</Application>
  <PresentationFormat>Widescreen</PresentationFormat>
  <Paragraphs>474</Paragraphs>
  <Slides>23</Slides>
  <Notes>23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Aptos</vt: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IBSL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8 · Performance Measurement</dc:title>
  <dc:subject>PptxGenJS Presentation</dc:subject>
  <dc:creator>Institute of Behavioural Strategy &amp; Leadership</dc:creator>
  <cp:lastModifiedBy>Carol Lupiya</cp:lastModifiedBy>
  <cp:revision>3</cp:revision>
  <dcterms:created xsi:type="dcterms:W3CDTF">2026-09-29T13:20:37Z</dcterms:created>
  <dcterms:modified xsi:type="dcterms:W3CDTF">2026-10-12T19:55:38Z</dcterms:modified>
</cp:coreProperties>
</file>