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 PERFORMANCE MEASUREMENT
Module 3 · Influence · Unit 8
Unit intent (Facilitator Guide):
Unit 8 closes the loop opened by Units 6 and 7. KPIs have been established, targets have been set, and expectations have been secured. Now the most important discipline of execution begins: the performance review conversation. This unit makes that conversation structured, honest, and useful: a genuine dialogue about execution reality.
The centrepiece is the Review–Realign–Restore Cycle. Leaders must leave this unit understanding that measurement is an execution recovery system. The Accountability Loop role play in Application is non-negotiable: it is where the conceptual work becomes a leadership skill.
The Integration section raises the focus to enterprise level through the Collective Intelligence Circle, shifting leaders from functional reporting to shared execution intelligence.
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the wider organisational context.
2. Distinguish meaningful strategic progress from activity, compliance and short-term fluctuation.
3. Exercise balanced executive judgement when performance differs from agreed expectations.
4. Derive relevant decisions, organisational learning and leadership action from performance evidence.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no minute timings for this unit; see the Timing watch point below.
Key Facilitation Questions
“Think of the last significant performance gap your organisation experienced. When did you first see it coming? What would have had to be true for you to see it three months earlier?”
“Does your organisation measure activity or progress? What’s the difference in your context?”
“If you had to activate the Accountability Loop with a member of your team tomorrow — which of the three root causes would you most likely be diagnosing? And are you equipped for that conversation?”
“When your executive team last reviewed performance together, were you seeing functional KPIs or were you seeing the enterprise execution system? What’s the difference?”
“At the end of your last review cycle, did your organisation learn anything — or did it just record scores?”
Tone &amp; Watch Points
Watch for: leaders who conflate reporting with reviewing. Reporting describes what happened. Reviewing examines why, and determines what must change. Probe: “If your dashboard went dark for 60 days and you only had conversations to guide you — how confident would you be about execution progress?”
Watch for: leaders who treat the Accountability Loop as a confrontation tool. It is a diagnostic discipline. Its purpose is to restore momentum. If the root cause conversation feels uncomfortable, that discomfort is a signal that the culture is still treating performance gaps as verdicts.
Watch for: leaders in the Integration section who revert to functional reporting in the Collective Intelligence Circle. The circle is explicitly designed to surface cross-functional dependencies. If every CXO only discusses their own function, the exercise has failed. Push the horizontal conversation.
Timing: Awareness and Intelligence can move at pace. Extrapolating benefits from a brief discussion of real functional examples. Reserve adequate time for the role play in Application and for the full three rounds of the Collective Intelligence Circle.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Performance Measurement?
Establishing performance measurement as an execution visibility discipline — and introducing the Review–Realign–Restore Cycle as the mechanism that keeps strategy correctable.
Section learning outcomes:
1. Distinguish meaningful strategic progress from activity.
2. Explain how performance evidence converts into realignment and corrective action.
FACILITATOR GUIDANCE — Awareness
Open with the core provocation: "Work is happening. Teams are busy. Initiatives are underway. But can you confidently say the work being done is actually advancing the strategy?" This question unlocks the gap that this entire unit addresses — the difference between activity visibility and progress visibility.
The four strategic purposes are the conceptual anchor. Spend time here. Most leaders can name visibility; fewer spontaneously name learning and course correction. These are the purposes that make performance measurement a leadership discipline.
The Review–Realign–Restore Cycle is the operational centrepiece. Walk each stage with precision: Review establishes evidence-based visibility; Realign diagnoses root cause; Restore rebuilds momentum. The key facilitation moment is when leaders understand that most performance gaps have a diagnosable cause — and that the three root causes (accountability, skill, structural misfit) require fundamentally different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FROM ACTIVITY TO PROGRESS: THE VISIBILITY SHIFT (Core concept)
Content:
The performance management system has been set and mechanisms for establishing performance are in place. Commitments have been secured. Now the most important discipline of execution begins.
Strategy execution fails at the level of visibility. Performance measurement is the discipline that makes execution visible. It answers a simple but decisive question:
Are we actually moving closer to our Success in Practice?
Most organisations are extremely good at measuring activity: how many projects were launched, how many meetings were held, how many deliverables were completed. These indicators provide evidence that work is occurring. But activity alone does not indicate whether the organisation is actually moving closer to the strategic outcome it set out to achieve.
Performance measurement therefore asks a different set of questions. The question moves from "What work was done?" to "What changed because of the work?" The organisation examines evidence of progress. This shift transforms performance management from an administrative reporting exercise into an execution intelligence system.
Participant file (1.1 — From Activity to Progress: The Visibility Shift) — prompts participants complete:
- ✎ Reflection — Activity vs Progress — In your function, what are you currently measuring that reflects activity? What would reflect genuine progress toward your strategic outcome? Activity measures I use: Progress measures I should add:</a:t>
            </a:r>
            <a:endParaRPr lang="en-US" dirty="0"/>
          </a:p>
          <a:p/>
          <a:p>
            <a:r>
              <a:t>Professional insights:</a:t>
            </a:r>
          </a:p>
          <a:p/>
          <a:p>
            <a:r>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t>Source: Journal, 25 June 2026 — Professional Insights: Strategy</a:t>
            </a:r>
          </a:p>
          <a:p/>
          <a:p>
            <a:r>
              <a:t>Understanding and action: A culture that rewards understanding without requiring corresponding action trains people to be articulate more than effective. Check whether people acted on what they understood.</a:t>
            </a:r>
          </a:p>
          <a:p>
            <a:r>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FOUR STRATEGIC PURPOSES OF PERFORMANCE MEASUREMENT (Click each to explore)
Content:
At its core, performance measurement serves four strategic purposes within the organisation. Select each to explore.
Purpose 01
Creates Visibility
Leaders can observe where the organisation is gaining momentum and where it is stalling. Strategic priorities that once existed only as intentions begin to appear as measurable progress signals. Without measurement, leaders are flying blind — confident in effort but uncertain about direction.
Facilitator prompt: “Where in your organisation does execution happen in the dark? Where are you most likely to be surprised at the end of a reporting period?”
Purpose 02
Establishes Accountability
When KPIs are clearly linked to enterprise OKRs, ownership becomes visible. Leaders and teams understand which part of the strategy they are responsible for advancing. Accountability without measurement is aspiration without a feedback loop — it depends entirely on personal commitment, with no organisational structure behind it.
Facilitator prompt: “If your KPIs disappeared from your scorecard but the targets remained unchanged — how many would still be actively owned?”
Purpose 03
Enables Learning
Performance reviews reveal patterns about how work actually unfolds inside the organisation. Leaders begin to see which approaches accelerate progress and which create friction or delay. Over time, disciplined review conversations accumulate into an organisational understanding of how execution actually works — a capability that compounds over successive strategy cycles.
Facilitator prompt: “What did your organisation actually learn from its last strategy cycle? What did it learn about how execution works inside your system?”
Purpose 04
Enables Course Correction
Early signals allow teams to intervene while progress is still recoverable. Problems are addressed when they are small enough to resolve. This purpose is why measurement frequency matters: a signal detected in week four is fundamentally different from the same signal detected in week twelve.
Facilitator prompt: “What is the average gap in your organisation between when a performance problem begins and when leadership first becomes aware of it? What does that gap cost?”</a:t>
            </a:r>
            <a:endParaRPr lang="en-US" dirty="0"/>
          </a:p>
          <a:p/>
          <a:p>
            <a:r>
              <a:t>Professional insights:</a:t>
            </a:r>
          </a:p>
          <a:p/>
          <a:p>
            <a:r>
              <a:t>02 · Establishes Accountability: Strategic completion requires tracking every component of the declared goal, including the parts that bring no visible victory. Record what has been accomplished as evidence that commitments are being kept.</a:t>
            </a:r>
          </a:p>
          <a:p>
            <a:r>
              <a:t>Source: Journal, 9 April 2026 — Professional Insights: Strategy</a:t>
            </a:r>
          </a:p>
          <a:p/>
          <a:p>
            <a:r>
              <a:t>Upstream conditions: Outcomes are shaped long before they become visible. Look past final performance indicators to the upstream conditions shaping decisions: information flows, incentives, norms, routines and dominant voices. Use this with 03 · Enables Learning.</a:t>
            </a:r>
          </a:p>
          <a:p>
            <a:r>
              <a:t>Source: Journal, 6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REVIEW–REALIGN–RESTORE CYCLE (3 stages)
Content:
Within the S2R® system, performance measurement operates through a continuous execution cycle called the Review–Realign–Restore Cycle. Its purpose is to make measurement the starting point of a leadership conversation that protects momentum, strengthens accountability, and restores progress when execution drifts.
Stage 1
Review
Stage 2
Realign
Stage 3
Restore
Establishing Evidence-Based Visibility
The cycle begins with Review. The purpose is to establish a clear and shared understanding of what progress has actually occurred. Execution reality must be grounded in evidence.
In the S2R® system, the review process begins with the KPI owner conducting a first-level self-assessment. The individual examines the agreed targets and assesses progress against the defined rating scale — submitting verifiable evidence that demonstrates what progress has occurred since the previous review period. Evidence may include operational data, financial results, project milestones, customer metrics, or any other proof that demonstrates whether the intended activity produced the expected movement.
At the same time, the leader conducts a parallel assessment — independently evaluating the level of progress achieved. When both perspectives are brought into the review conversation, the organisation avoids two common distortions: the individual evaluating without challenge, and the leader imposing evaluation without understanding operational realities.
Three questions anchor the review:
Did the agreed activity actually occur?
Did the activity produce the expected progress toward the target?
What does the available evidence tell us about execution reality?
Diagnosing the Source of Performance Gaps
The second stage begins when the review reveals a gap between expected progress and actual progress. Execution gaps are common — in complex organisations they are inevitable. The purpose of realignment is to diagnose the true source of the gap so the organisation can intervene intelligently.
When a gap is identified, the leader activates the Accountability Loop — a structured diagnostic process designed to restore traction and ownership without collapsing into unproductive performance pressure. Most performance gaps emerge from one of three underlying conditions:
Lack of accountability — the individual understands the task but has lost the motivational connection to it. Recovery: reconnect purpose and ownership by revisiting the broader organisational context of the KPI.
Lack of skill — the individual is committed but lacks the capability required to achieve the expected level. Recovery: targeted coaching, peer support, formal training, or timeline adjustment.
Misfit of role or structural constraint — the individual's strengths do not align with the specific responsibilities. Recovery: structural alignment discussion, task redistribution, or repositioning. Note: the performance conversation must remain separate from the role conversation.
Rebuilding Momentum
Once the root cause has been identified and addressed, the cycle moves to Restore. The purpose is to convert insight into concrete forward action — rebuilding momentum and re-establishing execution traction.
Corrective actions are defined clearly
Specific next steps are agreed
Responsibilities are reaffirmed
Follow-up timelines are established
The KPI owner leaves the conversation with a renewed understanding of what must happen next and by when. The leader confirms how progress will be monitored going forward. This stage ensures that the review conversation produces visible forward movement.
Within the S2R® system, the alignment state of the KPI is also updated at this stage. The revised state reflects whether the enabling conditions for execution — clarity, capability, and ownership — are now fully restored, providing an ongoing signal of organisational readiness.
Participant file (1.3 — The Review–Realign–Restore Cycle) — prompts participants complete:
- ✎ Reflection — R3 Cycle in Your Organisation — Think of a current performance gap in your function. Which stage of the R3 Cycle are you currently in? If you had to activate the Accountability Loop — which root cause would you most likely be diagnosing?</a:t>
            </a:r>
            <a:endParaRPr lang="en-US" dirty="0"/>
          </a:p>
          <a:p/>
          <a:p>
            <a:r>
              <a:t>Professional insights:</a:t>
            </a:r>
          </a:p>
          <a:p/>
          <a:p>
            <a:r>
              <a:t>Restore · renewed conviction: Stalled work needs renewed conviction as well as renewed activity. New deadlines alone achieve little; restore the purpose, authority and significance of the work so people understand why it must continue.</a:t>
            </a:r>
          </a:p>
          <a:p>
            <a:r>
              <a:t>Source: Journal, 31 July 2026 — Professional Insights: Strategy</a:t>
            </a:r>
          </a:p>
          <a:p/>
          <a:p>
            <a:r>
              <a:t>A recovery pathway in advance: The leader who designs the recovery pathway before a failure happens is doing a higher quality of work. Name one plausible failure and check whether a clear, understood recovery pathway exists. If it does not, build one.</a:t>
            </a:r>
          </a:p>
          <a:p>
            <a:r>
              <a:t>Source: Journal, 9 June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REALIGN — THE ACCOUNTABILITY LOOP
Content:
Diagnosing the Source of Performance Gaps
The second stage begins when the review reveals a gap between expected progress and actual progress. Execution gaps are common — in complex organisations they are inevitable. The purpose of realignment is to diagnose the true source of the gap so the organisation can intervene intelligently.
When a gap is identified, the leader activates the Accountability Loop — a structured diagnostic process designed to restore traction and ownership without collapsing into unproductive performance pressure. Most performance gaps emerge from one of three underlying conditions:
Lack of accountability — the individual understands the task but has lost the motivational connection to it. Recovery: reconnect purpose and ownership by revisiting the broader organisational context of the KPI.
Lack of skill — the individual is committed but lacks the capability required to achieve the expected level. Recovery: targeted coaching, peer support, formal training, or timeline adjustment.
Misfit of role or structural constraint — the individual's strengths do not align with the specific responsibilities. Recovery: structural alignment discussion, task redistribution, or repositioning. Note: the performance conversation must remain separate from the role conversation.
Guidance (Section 1): The key facilitation moment is when leaders understand that most performance gaps have a diagnosable cause — and that the three root causes (accountability, skill, structural misfit) require fundamentally different responses.</a:t>
            </a:r>
            <a:endParaRPr lang="en-US" dirty="0"/>
          </a:p>
          <a:p/>
          <a:p>
            <a:r>
              <a:t>Professional insights:</a:t>
            </a:r>
          </a:p>
          <a:p/>
          <a:p>
            <a:r>
              <a:t>Cannot or will not: Leaders must distinguish between team members who cannot perform and those who will not. The interventions differ: inability needs development and unwillingness needs accountability.</a:t>
            </a:r>
          </a:p>
          <a:p>
            <a:r>
              <a:t>Source: Journal, 7 January 2026 — Professional Insights: Leadership</a:t>
            </a:r>
          </a:p>
          <a:p/>
          <a:p>
            <a:r>
              <a:t>Simple causality: Avoid assuming that every negative outcome proves individual failure, or that every positive outcome proves sound practice. Use this with “Misfit or structural constraint”.</a:t>
            </a:r>
          </a:p>
          <a:p>
            <a:r>
              <a:t>Source: Journal, 18 August 2026 — Professional Insights: Strategy</a:t>
            </a:r>
          </a:p>
          <a:p/>
          <a:p>
            <a:r>
              <a:t>Specific accountability: Accountability works when it is specific and behaviour-based. Vague, general assessments of character produce no specific correction.</a:t>
            </a:r>
          </a:p>
          <a:p>
            <a:r>
              <a:t>Source: Journal, 8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Performance Measurement Determines Execution Velocity
Understanding why the discipline of review conversations is the factor that determines whether strategy execution sustains momentum or quietly stalls.
Section learning outcomes:
1. Explain why review discipline determines the pace of execution.
2. Interpret the progress signals that emerge in performance reviews and the response each requires.
FACILITATOR GUIDANCE — Intelligence
The key shift in this section is from measurement as tool to measurement as leadership discipline. Most leaders accept the logic of measurement; fewer have internalised that the rhythm of review conversations is itself a strategic capability — and that allowing that rhythm to weaken has predictable, compounding consequences.
The four consequences of weak review discipline are cumulative. Missed early warnings lead to diffused accountability; diffused accountability suppresses learning; suppressed learning erodes leadership credibility. Walk this chain deliberately so participants can recognise it in their own organisations.
For the three signals: Progress Confirmation is a leadership opportunity to reinforce the behaviours that generated momentum. Many leaders skip past confirmation because there is nothing to fix. Redirect them: reinforcing what works is as strategically important as correcting what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EXECUTION DISCIPLINE: THE REAL DIFFERENTIATOR (Core argument)
Content:
The difference between organisations that sustain execution momentum and those that quietly stall emerges after the strategy is launched. Most leadership teams are capable of producing sophisticated strategic plans.
The difference appears in the discipline with which leaders return to the strategy and ask a difficult but necessary question: Are we actually progressing?
Execution discipline is the organisational habit of repeatedly examining progress, confronting evidence honestly, and adjusting behaviour before small deviations become systemic failures. Without this discipline, even well-designed strategies slowly lose traction.
Performance measurement must be understood as an execution discipline. This understanding determines whether performance management becomes a compliance ritual or a genuine engine of execution progress.</a:t>
            </a:r>
            <a:endParaRPr lang="en-US" dirty="0"/>
          </a:p>
          <a:p/>
          <a:p>
            <a:r>
              <a:t>Professional insights:</a:t>
            </a:r>
          </a:p>
          <a:p/>
          <a:p>
            <a:r>
              <a:t>After visible success: Sustaining results often means returning to uncomfortable issues people assumed were resolved. Monitor whether commitments remain alive in actual behaviour; previous agreement does not guarantee continued delivery.</a:t>
            </a:r>
          </a:p>
          <a:p>
            <a:r>
              <a:t>Source: Journal, 11 August 2026 — Professional Insights: Leadership</a:t>
            </a:r>
          </a:p>
          <a:p/>
          <a:p>
            <a:r>
              <a:t>Analysis as delay: Requesting more evidence can be a substitute for acting on the evidence already available, and perpetual analysis often protects people from accountability for a decision. Where the evidence is sufficient, set a deadline and decide.</a:t>
            </a:r>
          </a:p>
          <a:p>
            <a:r>
              <a:t>Source: Journal, 24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FOUR CONSEQUENCES OF WEAK REVIEW DISCIPLINE (Click each to explore)
Content:
When performance reviews occur inconsistently or superficially, several predictable patterns begin to emerge. These are the foreseeable consequences of allowing the review rhythm to weaken.
Consequence 01
Early Warning Signals Are Missed
Execution rarely collapses suddenly. Performance deterioration typically begins with small, subtle indicators — a milestone that slips by a few days, a process bottleneck beginning to slow delivery, a capability gap emerging in one team. These signals often appear months before the final KPI target is at risk. But if leaders are not regularly examining performance evidence, these signals remain invisible. By the time the problem becomes visible at the end of the reporting period, the opportunity for early intervention has already been lost.
Facilitator prompt: “In your experience, what is the typical lag between when a performance problem begins and when leadership acts? What would closing that lag by half be worth to your organisation?”
Consequence 02
Gradual Diffusion of Accountability
Accountability is sustained through visibility. When review conversations disappear or become irregular, the psychological signal shifts. Targets remain written on the scorecard, but they no longer appear in leadership dialogue. KPI owners begin to interpret the absence of review as an indication that the target is no longer an active organisational priority. The KPI quietly moves from being operational to being aspirational. Work continues, but the urgency associated with the strategic outcome begins to fade.
Facilitator prompt: “Which KPIs in your current scorecard are operational and which have quietly become aspirational? What made the difference?”
Consequence 03
Loss of Organisational Learning
Every review conversation contains valuable insight about which approaches accelerate progress, where operational friction exists, and which cross-functional dependencies are working and which are slowing things down. When review conversations are reduced to occasional reporting exercises, results are recorded but the organisation never pauses to understand why those results occurred. Without reflection, improvement becomes accidental. The organisation's execution capability stagnates even as it accumulates more strategic ambition.
Facilitator prompt: “What does your organisation know now about how execution works inside your system that it didn’t know eighteen months ago? If the answer is ‘not much,’ that is a review discipline signal.”
Consequence 04
Erodes Leadership Credibility
When leaders set ambitious targets and communicate strategic priorities, they create an expectation that those priorities will remain visible in the leadership conversation. If those targets are not revisited through structured performance discussions, a subtle message spreads: the strategy announcement was more symbolic than operational. Teams become less attentive to new strategic commitments because they have learned that priorities often quietly fade. Consistent performance reviews counteract this by demonstrating that strategic priorities are ongoing leadership commitments.
Facilitator prompt: “What is the current level of strategic commitment in your organisation? How much of that is shaped by what leaders consistently review versus what they announce?”</a:t>
            </a:r>
            <a:endParaRPr lang="en-US" dirty="0"/>
          </a:p>
          <a:p/>
          <a:p>
            <a:r>
              <a:t>Professional insights:</a:t>
            </a:r>
          </a:p>
          <a:p/>
          <a:p>
            <a:r>
              <a:t>01 · Early Warning Signals Are Missed: A strategy without an early warning system, a way to detect drift before collapse, is operating blind.</a:t>
            </a:r>
          </a:p>
          <a:p>
            <a:r>
              <a:t>Source: Journal, 7 January 2026 — Professional Insights: Strategy</a:t>
            </a:r>
          </a:p>
          <a:p/>
          <a:p>
            <a:r>
              <a:t>Deferred warnings: Most organisational decline accumulates through small warnings that everyone could see and no one acted on. Take the risk that has been deferred because it is not yet urgent and put a decision date against it before the deferral becomes the decision.</a:t>
            </a:r>
          </a:p>
          <a:p>
            <a:r>
              <a:t>Source: Journal, 17 June 2026 — Professional Insights: Strategy</a:t>
            </a:r>
          </a:p>
          <a:p/>
          <a:p>
            <a:r>
              <a:t>03 · Loss of Organisational Learning: Reviews create little value when lessons remain conversational. Insight must alter decisions, controls, resource allocation and expected behaviour, or recurring problems keep being treated as isolated events.</a:t>
            </a:r>
          </a:p>
          <a:p>
            <a:r>
              <a:t>Source: Journal, 10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THREE PROGRESS SIGNALS IN HEALTHY REVIEW CONVERSATIONS (Select each signal)
Content:
Healthy performance reviews produce clear signals about the state of execution. Each signal requires a different leadership response. Select a signal below to explore.
Signal 01
Progress Confirmation
⚠
Signal 02
Early Warning
Signal 03
Significant Gap
The KPI is moving steadily toward its target within the expected timeline. The evidence submitted clearly demonstrates that the agreed activities are producing measurable movement toward the desired outcome.
Leadership response: The role of the review conversation is to reinforce the behaviours and decisions that generated the progress. Leaders highlight the factors that contributed to success and acknowledge the discipline and coordination that produced the movement. By recognising these patterns, the organisation strengthens the behaviours that sustain execution momentum.
Progress confirmation serves both as validation and as reinforcement. Do not pass over it quickly. Name what worked and why — this builds the execution behaviours that compound over time.
Results show signs of slowing progress. The evidence indicates that the incremental targets expected for the period have not been fully achieved — but the gap is still small enough that recovery remains possible.
Leadership response: This is precisely the moment when performance measurement demonstrates its strategic value. Because the signal has been detected early, leaders can intervene while there is still time to adjust course. Resources may be reallocated, additional support provided, processes refined, or dependencies between teams addressed. The review conversation becomes an opportunity for proactive correction.
The organisation does not wait for failure to occur before responding. Early warning signals are the primary return on investment of a disciplined review rhythm.
There is a significant gap between expected progress and actual progress. The review conversation must move beyond surface-level discussion. This signal activates the Accountability Loop.
Leadership response: Leaders examine whether the gap reflects a loss of accountability, a capability constraint, or a structural misalignment between the individual and the role. Once the underlying cause becomes visible, the organisation can intervene with clarity. The Accountability Loop ensures that performance gaps become sources of organisational learning and recalibration.
Activate the Accountability Loop. Diagnose before prescribing. The correct root cause determines the correct recovery action — pressure alone will not solve a skill gap, and coaching will not solve a structural misfit.
Participant file (2.3 — Three Progress Signals in Healthy Review Conversations) — prompts participants complete:
- ✎ Reflection — Which Signal Are You Seeing? — Name one KPI or Key Result in your current portfolio. Which signal does it currently show: Progress Confirmation, Early Warning, or Significant Gap? What is the evidence? What is your next leadership action?</a:t>
            </a:r>
            <a:endParaRPr lang="en-US" dirty="0"/>
          </a:p>
          <a:p/>
          <a:p>
            <a:r>
              <a:t>Professional insights:</a:t>
            </a:r>
          </a:p>
          <a:p/>
          <a:p>
            <a:r>
              <a:t>Progress Confirmation: Teams that move from task to task without acknowledging progress build a culture where people feel invisible. Affirmation is structural.</a:t>
            </a:r>
          </a:p>
          <a:p>
            <a:r>
              <a:t>Source: Journal, 5 January 2026 — Professional Insights: Culture</a:t>
            </a:r>
          </a:p>
          <a:p/>
          <a:p>
            <a:r>
              <a:t>Early Warning: Read a difficult moment accurately, naming it honestly without catastrophising it. The leader who treats every disruption as terminal loses the confidence of the people around them.</a:t>
            </a:r>
          </a:p>
          <a:p>
            <a:r>
              <a:t>Source: Journal, 22 June 2026 — Professional Insights: Leadership</a:t>
            </a:r>
          </a:p>
          <a:p/>
          <a:p>
            <a:r>
              <a:t>Significant Gap: Underperforming initiatives often receive an open-ended reprieve that no one revisits. Extensions should come with a defined window and concrete intervention, so that patience with a struggling effort does not become a permanent subsidy of failure.</a:t>
            </a:r>
          </a:p>
          <a:p>
            <a:r>
              <a:t>Source: Journal, 14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Performance Measurement Break Down Across Functions?
Examining where the Alignment Brigade — the collective leadership system — unintentionally weakens the performance measurement discipline through four characteristic fractures.
Section learning outcomes:
1. Identify where the review and interpretation of performance evidence break down across functions.
2. Assess which breakdown is most prevalent in their own organisation.
FACILITATOR GUIDANCE — Extrapolating
Begin by establishing the key provocation: "Most modern organisations have agreed goals and KPIs, dashboards, reporting tools, and performance frameworks. The breakdown usually occurs in how leaders review and interpret the measurement together."
The four gaps are observable patterns. Invite participants to place their organisation honestly on each one. The Horizontal Coordination Gap is typically the most impactful but least visible: each function may report strong progress while the enterprise outcome remains inconsistent. The Learning Suppression Gap is often the most culturally embedded and the hardest to shift because it requires leaders to move from a judgement posture to a curiosity posture.
Use the CXO perspective to make this concrete: ask participants to identify which gap their function is most likely to create — and what the first-order impact of that gap is on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THE FOUR GAPS (select each gap in the file)
Content:
Performance measurement is ultimately a leadership conversation discipline. When that discipline weakens, several predictable fractures appear across the organisation. Select each gap below to examine where it occurs and what it costs.
Gap 01
The Horizontal Coordination Gap
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
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
The Alignment Brigade closes this gap by introducing periodic cross-functional performance reviews where the executive team collectively examines how the KPIs across functions interact to produce enterprise outcomes.
Facilitator question: “Name a strategic outcome in your organisation that required three or more functions to execute successfully. Where did the handoffs break down — and would a cross-functional review have caught it earlier?”
Gap 02
The Evidence Quality Gap
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
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
Closing this gap requires the Alignment Brigade to reinforce a simple but powerful principle: every performance review must be anchored in verifiable evidence that shows observable movement toward the outcome, is timely enough to inform decisions, and is clearly connected to the KPI, target, or Key Result being assessed.
Facilitator question: “In your last performance review, what percentage of the conversation was spent debating the data versus acting on it? That ratio is a proxy for your evidence quality gap.”
Gap 03
The Review Rhythm Breakdown
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
Irregular review cycles also weaken behavioural discipline. KPI owners begin to treat measurement as a reporting event.
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
Facilitator question: “How predictable is your organisation’s review rhythm? If a KPI owner was asked to describe the review schedule without referring to a calendar, could they?”
Gap 04
The Learning Suppression Gap
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
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
Questions shift from “Why was the target missed?” to “What is the system teaching us about how execution actually works?” When this learning dimension becomes part of review conversations, performance measurement evolves from a scoring mechanism into a capability-building system.
Facilitator question: “What is the dominant mood in your organisation’s performance review meetings — defence or curiosity? What would shift it?”</a:t>
            </a:r>
            <a:endParaRPr lang="en-US" dirty="0"/>
          </a:p>
          <a:p/>
          <a:p>
            <a:r>
              <a:t>Professional insights:</a:t>
            </a:r>
          </a:p>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Performance Intelligence
Building the Collective Intelligence Circle — the mechanism through which the executive leadership team transforms individual PM review signals into a shared view of enterprise execution momentum.
Section learning outcomes:
1. Interpret individual performance signals within a shared enterprise view of progress.
2. Derive enterprise decisions and organisational learning from collective performance evidence.
FACILITATOR GUIDANCE — Integration
The shift in this section is from function to enterprise. The critical reframe is the question that must guide the entire zone: “Is the chain of execution across our functions holding together?” This is a fundamentally different question from “Is my function achieving its KPI?”
The three rounds work in sequence — do not allow leaders to skip ahead or blend them. Round 1 establishes the baseline. Without the collective trajectory being visible first, Round 2 warning signals lack context and Round 3 learnings lack a system to learn about.
The Synthesis Layer at the end is where the real intelligence emerges. Protect time for it. If the session runs short, compress the individual round discussions but protect the synthesis conversation: that is where the enterprise decision is made.
Key facilitation discipline: every contribution must be evidence-based. When a CXO makes an assertion without evidence, redirect immediately: “What does the PM review data tell you? What does your evidence say?” This single discipline separates a Collective Intelligence Circle from an opinion forum.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COLLECTIVE INTELLIGENCE PRINCIPLE (Why enterprise performance requires collective review)
Content:
Because performance measurement spans the entire organisation, no single function can safeguard its integrity alone. The responsibility rests with the executive leadership collective. The collective intelligence ensures that performance reviews remain connected to enterprise outcomes.
This means regularly stepping back and asking deeper questions:
Are our review conversations revealing how execution is truly unfolding?
Are the signals we are observing early enough for corrective action?
Are we interpreting the evidence together or only within our functions?
Are we learning from execution patterns or simply recording performance scores?
The conversation shifts from asking “Is my function achieving its KPI/KR?” to asking “Is the chain of execution across our functions holding together?” When leaders observe performance horizontally in this way, coordination improves and performance measurement begins to reveal the true state of enterprise execution.</a:t>
            </a:r>
            <a:endParaRPr lang="en-US" dirty="0"/>
          </a:p>
          <a:p/>
          <a:p>
            <a:r>
              <a:t>Professional insights:</a:t>
            </a:r>
          </a:p>
          <a:p/>
          <a:p>
            <a:r>
              <a:t>Interdependence: Healthy organisations create conditions in which differentiated strengths work together. The test of collective culture: when one part suffers, others respond; when one succeeds, others celebrate. Indifference and internal envy both weaken collective performance.</a:t>
            </a:r>
          </a:p>
          <a:p>
            <a:r>
              <a:t>Source: Journal, 9 September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ENTERPRISE PERFORMANCE INTELLIGENCE CIRCLE: THREE ROUNDS (Step through each round)
Content:
The executive team gathers around a shared board or digital canvas. Each leader contributes three signals drawn directly from their PM review sheets. The process unfolds in three disciplined rounds.
Round 1
Collective Trajectory
Round 2
Early Warnings
Round 3
Execution Learning
Establishing the Collective Trajectory of Strategy Execution
Each leader begins by stating the current percentage progress toward their KR/KPIs. This percentage is derived from the PM ratings and evidence documented in their PM review sheet.
The contribution follows a simple structure: the leader states the overall progress signal, briefly identifies the evidence supporting that signal, and clarifies whether execution momentum is accelerating, stable, or slowing.
Example: The COO may report that operational readiness KPIs show 72% progress toward the strategic Key Result, supported by throughput improvements and cycle-time reductions documented in the review sheets.
Example: The CFO may report that financial indicators show 65% progress toward the quarterly profitability milestone, supported by margin improvements and cost optimisation evidence.
As each leader shares their progress signal, the circle begins to reveal a pattern. Some functions may show strong forward momentum; others may show slower movement toward their targets. The executive team begins to see the collective trajectory of strategy execution.
Surfacing Early Warning Indicators
Once the progress signals are visible, the circle moves to the second signal: early warning indicators. Each leader shares one or two warning signals that emerged during their PM review conversations. These signals must again be grounded in evidence drawn from the review sheets.
Early warnings typically appear before a KPI/KR is formally off target. They often emerge as subtle patterns that indicate potential future friction. Examples might include:
An operational process beginning to slow delivery times
A capability gap that may affect upcoming milestones
A supply constraint that could delay implementation of strategic initiatives
A change in customer feedback signalling emerging dissatisfaction
The purpose of sharing these signals is to surface emerging risks early enough for collective intervention. When these warnings are shared across the circle, leaders often discover that the signal appearing in one function is connected to activity in another — what appeared as an isolated operational issue may reveal itself as a cross-functional execution dependency.
Capturing Execution Learning
The final round focuses on execution learning. Every review conversation produces insight about how the organisation actually executes strategy. During this round, each leader shares one key learning emerging from their PM reviews. This learning must be anchored in evidence from the review conversations.
The CHRO may highlight that performance review discussions revealed a leadership capability gap affecting accountability conversations
The CTO may share that system visibility improvements significantly accelerated operational decision-making
The CMO may highlight a pattern in customer experience data that revealed which service interactions most strongly influence trust
These learnings allow the executive team to develop a shared understanding of how execution works inside the organisation. Over time, the organisation accumulates a body of practical execution intelligence that improves how strategy is implemented.
Many organisations conduct performance reviews. Few organisations convert those reviews into collective strategic intelligence. The Collective Intelligence Circle ensures that insights emerging from PM review sheets are brought together across functions in a structured conversation that allows the Alignment Brigade to observe execution as a living system.
Participant file (4.2 — The Enterprise Performance Intelligence Circle: Three Rounds) — prompts participants complete:
- ✎ Your Round 1 Contribution — My KR/KPI progress: ____% Supporting evidence: ... Momentum signal: Accelerating / Stable / Slowing Because: ...
- ✎ Your Round 2 Contribution — Warning Signal 1: ... Evidence: ... Potential impact: ... Warning Signal 2 (if applicable): ...
- ✎ Your Round 3 Contribution — Key execution learning: ... Evidence: ... Where it applies (function / enterprise):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THE SYNTHESIS LAYER: ENTERPRISE INTELLIGENCE DECISIONS (Closing the circle)
PARTICIPANT ACTIVITY
Participants complete this activity in their own file. The content below is for your preparation.
Facilitator Control Rules
Every entry must be evidence-based — no opinion statements
Contributions must be concise and structured
No storytelling — only signals
Repeated signals must be explicitly highlighted
The session must end with a clear enterprise decision
Content:
After the three rounds, add a synthesis layer to the board. This is where the collective signals are interpreted and a shared enterprise decision is made. The session must end with a clear enterprise decision: a concrete action agreed by the Alignment Brigade.
Question | Collective Insight (to be completed in session)
What execution pattern is emerging?
Where are warning signals repeating?
Where are cross-functional dependencies breaking down?
Where is the expectations chain weakest?
What decision must we take now?</a:t>
            </a:r>
            <a:endParaRPr lang="en-US" dirty="0"/>
          </a:p>
          <a:p/>
          <a:p>
            <a:r>
              <a:t>Professional insights:</a:t>
            </a:r>
          </a:p>
          <a:p/>
          <a:p>
            <a:r>
              <a:t>Reviewing a win: When results are strong, leaders tend to credit their own judgement; when results are weak, they credit conditions. When reviewing a win, name the conditions, the inherited groundwork and the people whose work made it possible before naming your own decisions.</a:t>
            </a:r>
          </a:p>
          <a:p>
            <a:r>
              <a:t>Source: Journal, 25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Building the Collective Intelligence Board &amp; The Accountability Loop
Two structured exercises: building and running the Enterprise Performance Intelligence Board across three zones, and activating the Accountability Loop through a structured role play.
Section learning outcomes:
1. Exercise balanced judgement when performance differs from agreed expectations.
2. Determine the root cause of underperformance and the leadership action it requires.
FACILITATOR GUIDANCE — Application
The Collective Intelligence Board works best when participants use their real PM review data. If participants have completed PM review sheets from their organisations, this exercise produces genuine enterprise intelligence. If not, work from the three examples in the Intelligence section as proxies. The board must end with a populated Synthesis Layer and a named enterprise decision.
The Role Play is non-negotiable. This is where the Accountability Loop becomes a practised skill. The most common failure mode is that the CXO in the role play defaults to pressure and skips diagnosis. If this happens, pause and redirect: “You’ve identified the gap. Now diagnose the cause. Is this an accountability issue, a skill gap, or a structural constraint? What evidence do you have for that?”
Allow adequate time for observer feedback after the role play. The observer evaluation criteria are specific — use them. The quality of the debrief determines how much of the skill transfers into actual leadership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THE COLLECTIVE INTELLIGENCE BOARD (Board structure &amp; facilitation guide)
Simple Facilitator Instruction
“This board is where we make the system visible. Each of you is contributing signals. Our job is to see the pattern and decide what must change.”
Content:
Create a single shared board divided into 3 vertical zones — physical or digital. The board is populated in 3 disciplined rounds corresponding to the Collective Intelligence Circle.
Zone 1
Collective Trajectory — “Where are we on execution?”
CXO Role
% Progress toward KR/KPIs
Supporting Evidence
Momentum Signal
CEO
____%
From PM review sheets...
▲ Accelerating / ▶ Stable / ▼ Slowing
CFO
____%
From PM review sheets...
▲ Accelerating / ▶ Stable / ▼ Slowing
COO
____%
From PM review sheets...
▲ Accelerating / ▶ Stable / ▼ Slowing
CHRO
____%
From PM review sheets...
▲ Accelerating / ▶ Stable / ▼ Slowing
CTO/CMO
____%
From PM review sheets...
▲ Accelerating / ▶ Stable / ▼ Slowing
Zone 2
Early Warning Signals — “What is starting to break?”
CXO Role
Warning Signal
Evidence
Potential Impact Area
CEO
Emerging risk...
Evidence from PM...
Impact area...
CFO
Emerging risk...
Evidence from PM...
Impact area...
COO
Emerging risk...
Evidence from PM...
Impact area...
CHRO
Emerging risk...
Evidence from PM...
Impact area...
CTO/CMO
Emerging risk...
Evidence from PM...
Impact area...
Zone 3
Execution Learning — “What is execution teaching us?”
CXO Role
Key Execution Learning
Evidence
Application Area
CEO
Key insight...
Evidence from PM...
Function / Enterprise
CFO
Key insight...
Evidence from PM...
Function / Enterprise
COO
Key insight...
Evidence from PM...
Function / Enterprise
CHRO
Key insight...
Evidence from PM...
Function / Enterprise
CTO/CMO
Key insight...
Evidence from PM...
Function / Enterprise</a:t>
            </a:r>
            <a:endParaRPr lang="en-US" dirty="0"/>
          </a:p>
          <a:p/>
          <a:p>
            <a:r>
              <a:t>Professional insights:</a:t>
            </a:r>
          </a:p>
          <a:p/>
          <a:p>
            <a:r>
              <a:t>A shared signal system: Organisations that rely on leaders to communicate every directional shift in person are bottlenecked by access to those leaders. A shared, reliable signal system allows consistent coordination without constant individual instruction. Use this with “This board is where we make the system visible”.</a:t>
            </a:r>
          </a:p>
          <a:p>
            <a:r>
              <a:t>Source: Journal, 5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ACCOUNTABILITY LOOP ROLE PLAY (Review–Realign–Restore in practice)
FACILITATOR GUIDANCE
Assign three roles: CXO, team member and observer. Brief observers to track evidence use, blame avoidance, root-cause quality and the corrective actions agreed. In the debrief, ask the observer to name the root cause diagnosed (accountability, skill or structural) and the evidence for it. Close each round by asking the CXO: ‘If you ran this conversation again, what would you change first?’
Content:
► Scenario
You are a CXO responsible for the OKR: “Reduce customer complaint resolution time from 48 hours to 12 hours.”
The latest performance review shows that progress has stalled and complaint resolution is still averaging 36 hours. The target deadline is six weeks away. You must now activate the Accountability Loop.
👤 CXO Role
Conducts the accountability conversation. Must diagnose the root cause without blaming. Uses the Accountability Loop to identify whether the issue is accountability, skill, or structural misfit. Aims to reach an alignment of 9–10.
👤 Report Role
Responsible for execution of the improvement initiative. Responds authentically to the conversation. May exhibit defensiveness, uncertainty, or genuine constraint — reflecting real organisational dynamics.
👤 Observer Role
Evaluates the quality of the conversation against the criteria below. Provides structured feedback after the role play. Does not intervene during the exercise.
Participant file (5.1 — The Accountability Loop Role Play) — prompts participants complete:
- Root Cause Diagnosed — and How You Arrived at It — The root cause I identified was: (accountability / skill / structural) Evidence I used in the conversation: How I avoided blame: How I arrived at the root cause:
- Corrective Actions Agreed — Restore Stage Alignment Score / 10 — Corrective actions agreed: 1. ... 2. ... 3. ... Follow-up: Owner: ___ | By: ___ Revised alignment score: ___/10</a:t>
            </a:r>
            <a:endParaRPr lang="en-US" dirty="0"/>
          </a:p>
          <a:p/>
          <a:p>
            <a:r>
              <a:t>Professional insights:</a:t>
            </a:r>
          </a:p>
          <a:p/>
          <a:p>
            <a:r>
              <a:t>What does this require of me?: The leader who receives honest feedback about a genuine problem and responds with honesty before justification, and action before communication, creates the conditions for real leadership. Use this to brief the CXO role.</a:t>
            </a:r>
          </a:p>
          <a:p>
            <a:r>
              <a:t>Source: Journal, 29 June 2026 — Professional Insights: Leadership</a:t>
            </a:r>
          </a:p>
          <a:p/>
          <a:p>
            <a:r>
              <a:t>Correction with a pathway back: Accountability without a pathway back becomes punishment. Correct firmly where necessary, and deliberately restore trust, contribution and dignity when change is evident.</a:t>
            </a:r>
          </a:p>
          <a:p>
            <a:r>
              <a:t>Source: Journal, 16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LOOP DIAGNOSIS AND OBSERVER CRITERIA
Content:
Accountability Loop Diagnosis
The CXO must determine whether the root cause is:
Root Cause A
Lack of Accountability
Individual understands the task but has lost motivational connection. Recovery: reconnect to purpose and enterprise context.
Root Cause B
Lack of Skill
Individual is committed but lacks capability required. Recovery: coaching, training, timeline adjustment.
Root Cause C
Misfit / Structural Constraint
Strengths do not align with responsibilities. Recovery: structural alignment, redistribution, or repositioning.
Observer Evaluation Criteria
Criterion 01
Evidence Was Used in the Discussion
Did the CXO anchor the conversation in verifiable performance data? Was the 36-hour average cited specifically? Were trends, milestones, or other evidence referenced? A conversation without evidence quickly becomes a debate about effort.
Criterion 02
Leader Avoided Blame and Focused on Diagnosis
Did the CXO approach the conversation with curiosity? Was the tone diagnostic? Key signal: if the Report became defensive and the CXO escalated pressure in response, the blame dynamic was activated. A skilled leader redirects defensiveness by returning to evidence and narrowing to root cause.
Criterion 03
Root Cause Was Correctly Identified
Did the CXO arrive at a root cause diagnosis through genuine dialogue — or did they assume one at the outset? The root cause must emerge from the conversation. A misdiagnosed root cause leads to a mismatched recovery response that will fail even if executed well.
Criterion 04
Clear Corrective Actions Were Agreed
Did the conversation end with specific, time-bound corrective actions that both parties understood and accepted? Was an alignment score agreed? Was a follow-up mechanism established? A review conversation that does not produce a named next action has not completed the Restore stage of the cycle.
Facilitator Capture — Role Play Debrief
Participant file (5.1) — what participants record after the role play:
- Root Cause Diagnosed — and How You Arrived at It — The root cause I identified was: (accountability / skill / structural) Evidence I used in the conversation: How I avoided blame: How I arrived at the root cause:
- Corrective Actions Agreed — Restore Stage Alignment Score / 10 — Corrective actions agreed: 1. ... 2. ... 3. ... Follow-up: Owner: ___ | By: ___ Revised alignment score: ___/10</a:t>
            </a:r>
            <a:endParaRPr lang="en-US" dirty="0"/>
          </a:p>
          <a:p/>
          <a:p>
            <a:r>
              <a:t>Professional insights:</a:t>
            </a:r>
          </a:p>
          <a:p/>
          <a:p>
            <a:r>
              <a:t>02 · Diagnosis: Leaders who either conceal failure or weaponise it prevent learning. Mature accountability names what went wrong, understands why it happened and moves people toward responsible change.</a:t>
            </a:r>
          </a:p>
          <a:p>
            <a:r>
              <a:t>Source: Journal, 10 August 2026 — Professional Insights: Leadership</a:t>
            </a:r>
          </a:p>
          <a:p/>
          <a:p>
            <a:r>
              <a:t>Intent and outcome: Holding people accountable for outcomes without considering intent produces a culture of blame. Intent matters.</a:t>
            </a:r>
          </a:p>
          <a:p>
            <a:r>
              <a:t>Source: Journal, 17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8 synthesis)
Facilitator Closing Note
Close by asking each leader to name one performance KPI they own that has been consistently reviewed — and one that has been allowed to drift. Ask them to commit to scheduling its next review within five working days, with a structured evidence submission required before the conversation. The five-day commitment makes the discipline visible and time-bound.
Content:
Awareness — What
Performance measurement is an execution visibility discipline. KPIs only become meaningful when regularly reviewed through structured conversations grounded in evidence. The Review–Realign–Restore cycle establishes the accountability loop through which leaders examine progress, identify gaps, and restore execution momentum.
Intelligence — Why
The rhythm of performance reviews determines execution velocity. When review conversations are disciplined and evidence-based, early warning signals appear before performance failure occurs. Accountability remains active, organisational learning accumulates, and leaders can intervene early enough to sustain momentum.
Extrapolating — Where
Performance measurement weakens when reviews remain confined within functions, evidence quality is inconsistent, review rhythms become irregular, or conversations focus only on evaluation. These four fractures reduce the organisation’s ability to observe execution as a coordinated enterprise system.
Integration — Collective
The Collective Intelligence Circle synthesises performance insights through three rounds: collective trajectory, early warning signals, and execution learnings. Through this structured exchange, the leadership team develops a shared view of enterprise execution momentum, surfaces emerging risks early, and captures learning that strengthens future performance.
“The result is an organisation that continuously restores performance. And that capability is one of the defining characteristics of organisations that consistently convert strategy into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the wider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meaningful strategic progress from activity, compliance and short-term fluctuation.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differs from agreed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Derive relevant decisions, organisational learning and leadership action from performance evidence.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meaningful strategic progress from activity.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performance evidence converts into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From activity to progress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 Enables Learning</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Patterns in how work actually unfolds.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 Enables Course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Review–Realign–Restore cycle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Establishing evidence-based visibility.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Diagnosing the source of performance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Rebuilding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Accountability Loop: three root causes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review discipline determines the pace of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the progress signals that emerge in performance reviews and the response each requires.</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Execution discipline: the real differentiator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Are we actually progressing?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Examine progress, confront evidence honestly, adjust before small deviations become systemic failures.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Three progress signals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Progress Confirmation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Reinforce what generated the progress.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Warning</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Intervene while recovery is possible.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Significant Gap</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Activate the Accountability Loop.</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the review and interpretation of performance evidence break down across functions.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which breakdown is most prevalent in their own organisation.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individual performance signals within a shared enterprise view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Derive enterprise decisions and organisational learning from collective performance evidence.</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4.1 · The Collective Intelligence principle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Is the chain of execution across our functions holding together?</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Shifting from: “Is my function achieving its KPI/KR?”</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Collective Intelligence Circle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Round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Round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Round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The Synthesis Layer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What execution pattern is emerging?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Where are warning signals repeating?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Where are cross-functional dependencies breaking down?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Where is the expectations chain weakest?</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What decision must we take now?</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the Collective Intelligence Board &amp; The Accountability Loop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balanced judgement when performance differs from agreed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root cause of underperformance and the leadership action it requires.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Collective Intelligence Board</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Zone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Collective Trajectory: “Where are we on execution?”</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Zone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Early Warning Signals: “What is starting to break?”</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Zone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Execution Learning: “What is execution teaching us?”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“This board is where we make the system visible.”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5.1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Complaint resolution is still averaging 36 hours against a 12-hour target, six weeks from the deadline.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Three roles: CXO · Report · Observer. Diagnose before prescribing.</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Observer evaluation criteria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Evidence was used in the discussion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Leader avoided blame and focused on diagnosis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Root cause was correctly identified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Clear corrective actions were agreed</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KPI you own that has been consistently reviewed — and one that has been allowed to drift.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Schedule its next review within five working days, with evidence submitted before the conversation.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Institute of Behavioural Strategy &amp; Leadership</cp:lastModifiedBy>
  <cp:revision>1</cp:revision>
  <dcterms:created xsi:type="dcterms:W3CDTF">2026-09-29T13:20:37Z</dcterms:created>
  <dcterms:modified xsi:type="dcterms:W3CDTF">2026-09-29T13:20:37Z</dcterms:modified>
</cp:coreProperties>
</file>