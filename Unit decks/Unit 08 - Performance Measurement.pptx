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79" r:id="rId30"/>
    <p:sldId id="264" r:id="rId10"/>
    <p:sldId id="266" r:id="rId12"/>
    <p:sldId id="285" r:id="rId24"/>
    <p:sldId id="268" r:id="rId14"/>
    <p:sldId id="269" r:id="rId15"/>
    <p:sldId id="280" r:id="rId31"/>
    <p:sldId id="281" r:id="rId32"/>
    <p:sldId id="270" r:id="rId16"/>
    <p:sldId id="272" r:id="rId18"/>
    <p:sldId id="276" r:id="rId22"/>
    <p:sldId id="277" r:id="rId23"/>
    <p:sldId id="282" r:id="rId33"/>
    <p:sldId id="283" r:id="rId34"/>
    <p:sldId id="274" r:id="rId20"/>
    <p:sldId id="284" r:id="rId35"/>
    <p:sldId id="286"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34421" autoAdjust="0"/>
  </p:normalViewPr>
  <p:slideViewPr>
    <p:cSldViewPr snapToGrid="0" snapToObjects="1">
      <p:cViewPr varScale="1">
        <p:scale>
          <a:sx n="24" d="100"/>
          <a:sy n="24" d="100"/>
        </p:scale>
        <p:origin x="2069" y="1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2" Type="http://schemas.openxmlformats.org/officeDocument/2006/relationships/slide" Target="slides/slide11.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7.xml"/><Relationship Id="rId18" Type="http://schemas.openxmlformats.org/officeDocument/2006/relationships/slide" Target="slides/slide18.xml"/><Relationship Id="rId20" Type="http://schemas.openxmlformats.org/officeDocument/2006/relationships/slide" Target="slides/slide23.xml"/><Relationship Id="rId21" Type="http://schemas.openxmlformats.org/officeDocument/2006/relationships/slide" Target="slides/slide25.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2.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9.xml"/><Relationship Id="rId31" Type="http://schemas.openxmlformats.org/officeDocument/2006/relationships/slide" Target="slides/slide15.xml"/><Relationship Id="rId32" Type="http://schemas.openxmlformats.org/officeDocument/2006/relationships/slide" Target="slides/slide16.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644968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UNIT 8 · PERFORMANCE MEASUREMENT</a:t>
            </a:r>
          </a:p>
          <a:p>
            <a:r>
              <a:t>Module 3 · Influence · Unit 8</a:t>
            </a:r>
          </a:p>
          <a:p/>
          <a:p>
            <a:r>
              <a:rPr b="1"/>
              <a:t>UNIT INTENT:</a:t>
            </a:r>
          </a:p>
          <a:p>
            <a:r>
              <a:t>Unit 8 closes the loop opened by Units 6 and 7. Key performance indicators (KPIs) have been established, targets have been set, and expectations have been secured. Now the most important discipline of execution begins: the performance review conversation. Each review examines two things: the progress of what individuals and teams deliver, and whether the organisational conditions support the execution of their tasks. This unit makes that conversation structured, honest and useful: a genuine dialogue about execution reality.</a:t>
            </a:r>
          </a:p>
          <a:p>
            <a:r>
              <a:t>The centrepiece is the Review–Realign–Restore Cycle. Leaders must leave this unit understanding that measurement is an execution recovery system. The Accountability Loop role play in part 4.2 is where the conceptual work becomes a leadership skill, and Section 5 applies the four consequences of weak review discipline to the group's own strategy.</a:t>
            </a:r>
          </a:p>
          <a:p>
            <a:r>
              <a:t>The Integration section raises the focus to enterprise level through the Enterprise Performance Intelligence Circle (EPIC), shifting leaders from functional reporting to shared execution intelligence.</a:t>
            </a:r>
          </a:p>
          <a:p/>
          <a:p>
            <a:r>
              <a:rPr b="1"/>
              <a:t>WHERE THE UNIT SITS:</a:t>
            </a:r>
          </a:p>
          <a:p>
            <a:r>
              <a:t>Module 3 · Influence runs from Unit 5 — Aligning Heart &amp; Mind (people alignment), to Unit 6 — Performance Management Setup (performance architecture), Unit 7 — Establishing Performance Expectations (owned commitments), Unit 8 — Performance Measurement (review discipline) and Unit 9 — Strategic Unclogging (flow of execution).</a:t>
            </a:r>
          </a:p>
          <a:p/>
          <a:p>
            <a:r>
              <a:rPr b="1"/>
              <a:t>HOW THE UNIT RUNS:</a:t>
            </a:r>
          </a:p>
          <a:p>
            <a:r>
              <a:t>1. You teach the whole unit from this deck first, from Section 1 to the last slide of Section 5. The deck is the teaching material.</a:t>
            </a:r>
          </a:p>
          <a:p>
            <a:r>
              <a:t>2. Part 4.2 includes a role play in groups of three that you run in class. Nothing is entered on the portal during the role play.</a:t>
            </a:r>
          </a:p>
          <a:p>
            <a:r>
              <a:t>3. Participants then complete their own page on the portal, in the session or after it: the reflections, the Portfolio work of parts 3.2 and 4.2, and the group work of Section 5.</a:t>
            </a:r>
          </a:p>
          <a:p>
            <a:r>
              <a:t>4. Section 5 is group work and Capstone work. Each group chooses its scribe for this work; the scribe types what the group agrees, and the entries appear on every member's page. Each member then selects Agree.</a:t>
            </a:r>
          </a:p>
          <a:p/>
          <a:p>
            <a:r>
              <a:rPr b="1"/>
              <a:t>HOW TO OPEN THE UNIT:</a:t>
            </a:r>
          </a:p>
          <a:p/>
          <a:p>
            <a:r>
              <a:rPr b="1"/>
              <a:t>1. Connect to Units 6 and 7.</a:t>
            </a:r>
          </a:p>
          <a:p>
            <a:r>
              <a:t>Say: "In Unit 6 you built the performance architecture. In Unit 7 you established the expectations that go with it. The commitments are secured. Now the most important discipline of execution begins: the review."</a:t>
            </a:r>
          </a:p>
          <a:p/>
          <a:p>
            <a:r>
              <a:rPr b="1"/>
              <a:t>2. Ask the opening question.</a:t>
            </a:r>
          </a:p>
          <a:p>
            <a:r>
              <a:t>Ask: "Think of the last significant performance gap your organisation experienced. When did you first see it coming? What would have had to be true for you to see it three months earlier?"</a:t>
            </a:r>
          </a:p>
          <a:p>
            <a:r>
              <a:t>Take two answers. Listen for: the gap seen only at the end of a reporting period, signals that were there and not asked for.</a:t>
            </a:r>
          </a:p>
          <a:p/>
          <a:p>
            <a:r>
              <a:rPr b="1"/>
              <a:t>3. Name what the unit does.</a:t>
            </a:r>
          </a:p>
          <a:p>
            <a:r>
              <a:t>Say: "This unit makes the review conversation the place where execution becomes visible, diagnosable and correctable, for the people delivering the result and for the organisational conditions that support them."</a:t>
            </a:r>
          </a:p>
          <a:p/>
          <a:p>
            <a:r>
              <a:rPr b="1"/>
              <a:t>WHERE THE OUTPUTS GO:</a:t>
            </a:r>
          </a:p>
          <a:p>
            <a:r>
              <a:t>When every member has agreed, the Section 5 record feeds boxes 8A to 8E of the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KEY LEARNING OUTCOMES</a:t>
            </a:r>
          </a:p>
          <a:p/>
          <a:p>
            <a:r>
              <a:rPr b="1"/>
              <a:t>HOW TO USE THIS SLIDE:</a:t>
            </a:r>
          </a:p>
          <a:p/>
          <a:p>
            <a:r>
              <a:rPr b="1"/>
              <a:t>1. Read the four outcomes aloud.</a:t>
            </a:r>
          </a:p>
          <a:p>
            <a:r>
              <a:t>1. Interpret performance evidence in relation to strategic objectives and organisational context.</a:t>
            </a:r>
          </a:p>
          <a:p>
            <a:r>
              <a:t>2. Discriminate meaningful strategic progress from activity, compliance and temporary variation.</a:t>
            </a:r>
          </a:p>
          <a:p>
            <a:r>
              <a:t>3. Exercise balanced executive judgement when performance diverges from expectations.</a:t>
            </a:r>
          </a:p>
          <a:p>
            <a:r>
              <a:t>4. Translate performance evidence into decisions, learning and corrective leadership action.</a:t>
            </a:r>
          </a:p>
          <a:p/>
          <a:p>
            <a:r>
              <a:rPr b="1"/>
              <a:t>2. Say where the unit delivers each one.</a:t>
            </a:r>
          </a:p>
          <a:p>
            <a:r>
              <a:t>Outcome 1 is taught in 1.1 and 1.2, and practised in EPIC in 4.1, where each leader brings evidence from their PM review sheet.</a:t>
            </a:r>
          </a:p>
          <a:p>
            <a:r>
              <a:t>Outcome 2 is taught in 1.1, the move from activity to progress, and in 3.1, the Evidence Quality Gap.</a:t>
            </a:r>
          </a:p>
          <a:p>
            <a:r>
              <a:t>Outcome 3 is taught in 1.3 and 1.4, the Review–Realign–Restore Cycle and the Accountability Loop, and practised in the role play of 4.2.</a:t>
            </a:r>
          </a:p>
          <a:p>
            <a:r>
              <a:t>Outcome 4 is taught in Section 2, the four consequences of weak review discipline, and applied in Section 5, where each group sets decision points for recovery and tests its WARD check-up.</a:t>
            </a:r>
          </a:p>
          <a:p/>
          <a:p>
            <a:r>
              <a:rPr b="1"/>
              <a:t>3. Ask, now that the outcomes are read.</a:t>
            </a:r>
          </a:p>
          <a:p>
            <a:r>
              <a:t>Ask: "Which of these four outcomes would make the largest difference to how your leadership team reviews performance today?"</a:t>
            </a:r>
          </a:p>
          <a:p>
            <a:r>
              <a:t>Take two or three answers.</a:t>
            </a:r>
          </a:p>
          <a:p/>
          <a:p>
            <a:r>
              <a:t>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FACILITATOR GUIDE · SESSION OVERVIEW</a:t>
            </a:r>
          </a:p>
          <a:p/>
          <a:p>
            <a:r>
              <a:rPr b="1"/>
              <a:t>HOW TO USE THIS SLIDE:</a:t>
            </a:r>
          </a:p>
          <a:p>
            <a:r>
              <a:rPr b="1"/>
              <a:t>1. Walk the five sections in one sentence each, using the list below.</a:t>
            </a:r>
          </a:p>
          <a:p>
            <a:r>
              <a:t>2. Say that Section 1 builds the review discipline, Sections 2 and 3 show what weakens it, Section 4 lifts it to enterprise level, and Section 5 applies it to the group's own strategy.</a:t>
            </a:r>
          </a:p>
          <a:p>
            <a:r>
              <a:t>3. Tell participants how the unit runs: you teach all five sections from the deck first, and they then complete the unit on the portal, in the session or after it.</a:t>
            </a:r>
          </a:p>
          <a:p/>
          <a:p>
            <a:r>
              <a:rPr b="1"/>
              <a:t>THE FIVE SECTIONS:</a:t>
            </a:r>
          </a:p>
          <a:p>
            <a:r>
              <a:t>- Section 1 · Awareness — What: establishing performance measurement as an execution visibility discipline, and introducing the Review–Realign–Restore Cycle as the mechanism that keeps strategy correctable.</a:t>
            </a:r>
          </a:p>
          <a:p/>
          <a:p>
            <a:r>
              <a:t>- Section 2 · Intelligence — Why: why the discipline of review conversations is the factor that determines whether strategy execution sustains momentum or quietly stalls.</a:t>
            </a:r>
          </a:p>
          <a:p/>
          <a:p>
            <a:r>
              <a:t>- Section 3 · Extrapolating — Where: where the collective intelligence for execution discipline of the leadership team unintentionally weakens the performance measurement discipline, through four characteristic fractures.</a:t>
            </a:r>
          </a:p>
          <a:p/>
          <a:p>
            <a:r>
              <a:t>- Section 4 · Integration — Collective: building the Enterprise Performance Intelligence Circle (EPIC), the mechanism through which the executive leadership team turns individual performance management (PM) review signals into a shared view of enterprise execution momentum.</a:t>
            </a:r>
          </a:p>
          <a:p/>
          <a:p>
            <a:r>
              <a:t>- Section 5 · Application — In Practice: each group sets two decision points against each of the four consequences of weak review discipline, for the strategy in its team's Capstone S2R® Blueprint, then tests the WARD check-up it set in Unit 6.</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1 · AWARENESS — WHAT</a:t>
            </a:r>
          </a:p>
          <a:p>
            <a:r>
              <a:t>What is Performance Measurement?</a:t>
            </a:r>
          </a:p>
          <a:p/>
          <a:p>
            <a:r>
              <a:rPr b="1"/>
              <a:t>HOW THIS SECTION RUNS:</a:t>
            </a:r>
          </a:p>
          <a:p>
            <a:r>
              <a:rPr b="1"/>
              <a:t>1. 1.1 The execution visibility infrastructure: from activity to progress.</a:t>
            </a:r>
          </a:p>
          <a:p>
            <a:r>
              <a:rPr b="1"/>
              <a:t>2. 1.2 The four strategic purposes of measurement, each from both sides.</a:t>
            </a:r>
          </a:p>
          <a:p>
            <a:r>
              <a:t>3. 1.3 From performance measurement to execution recovery: the Review–Realign–Restore Cycle (R3).</a:t>
            </a:r>
          </a:p>
          <a:p>
            <a:r>
              <a:t>4. 1.4 The Accountability Loop: the three root causes and how GROW achieves each recovery.</a:t>
            </a:r>
          </a:p>
          <a:p>
            <a:r>
              <a:rPr b="1"/>
              <a:t>5. The Section 1 Reflections slide.</a:t>
            </a:r>
          </a:p>
          <a:p/>
          <a:p>
            <a:r>
              <a:rPr b="1"/>
              <a:t>SECTION LEARNING OUTCOMES:</a:t>
            </a:r>
          </a:p>
          <a:p>
            <a:r>
              <a:t>1. Evaluate whether reported activity demonstrates genuine strategic progress.</a:t>
            </a:r>
          </a:p>
          <a:p>
            <a:r>
              <a:t>2. Use performance evidence to determine timely realignment and corrective action.</a:t>
            </a:r>
          </a:p>
          <a:p/>
          <a:p>
            <a:r>
              <a:rPr b="1"/>
              <a:t>HOW TO OPEN THE SECTION:</a:t>
            </a:r>
          </a:p>
          <a:p/>
          <a:p>
            <a:r>
              <a:rPr b="1"/>
              <a:t>1. Describe the pattern.</a:t>
            </a:r>
          </a:p>
          <a:p>
            <a:r>
              <a:t>Say: "In many organisations, enormous effort goes into designing strategy. Leaders invest months clarifying direction, defining Objectives and Key Results, setting targets and aligning teams around ambitious outcomes. Scorecards are built. KPIs are cascaded. Performance frameworks are communicated."</a:t>
            </a:r>
          </a:p>
          <a:p/>
          <a:p>
            <a:r>
              <a:rPr b="1"/>
              <a:t>2. Give the provocation.</a:t>
            </a:r>
          </a:p>
          <a:p>
            <a:r>
              <a:t>Say: "Several months later, when leadership teams pause and reflect, the same uncertainty often appears. Work is happening. Teams are busy. Initiatives are underway."</a:t>
            </a:r>
          </a:p>
          <a:p>
            <a:r>
              <a:t>Ask: "Can you confidently say the work being done is actually advancing the strategy?"</a:t>
            </a:r>
          </a:p>
          <a:p>
            <a:r>
              <a:t>Let the room sit with it. This question opens the gap the whole unit addresses: the difference between activity visibility and progress visibility.</a:t>
            </a:r>
          </a:p>
          <a:p/>
          <a:p>
            <a:r>
              <a:rPr b="1"/>
              <a:t>3. Bridge to 1.1.</a:t>
            </a:r>
          </a:p>
          <a:p>
            <a:r>
              <a:t>Say: "Performance measurement exists to close that gap."</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1.1 — THE EXECUTION VISIBILITY INFRASTRUCTURE (Core concept)</a:t>
            </a:r>
          </a:p>
          <a:p/>
          <a:p>
            <a:r>
              <a:rPr b="1"/>
              <a:t>HOW TO TEACH IT:</a:t>
            </a:r>
          </a:p>
          <a:p/>
          <a:p>
            <a:r>
              <a:rPr b="1"/>
              <a:t>1. Set the moment.</a:t>
            </a:r>
          </a:p>
          <a:p>
            <a:r>
              <a:t>Say: "The performance management system has been set and the mechanisms for establishing performance are in place. Commitments have been secured. Now the most important discipline of execution begins."</a:t>
            </a:r>
          </a:p>
          <a:p/>
          <a:p>
            <a:r>
              <a:rPr b="1"/>
              <a:t>2. Read the question on the slide.</a:t>
            </a:r>
          </a:p>
          <a:p>
            <a:r>
              <a:t>Say: "Strategy execution fails at the level of visibility. Performance measurement is the discipline that makes execution visible. It answers one decisive question:"</a:t>
            </a:r>
          </a:p>
          <a:p>
            <a:r>
              <a:t>Read: "Are we actually moving closer to our Success in Practice?"</a:t>
            </a:r>
          </a:p>
          <a:p>
            <a:r>
              <a:t>Say: "That is why we call it the execution visibility infrastructure of the strategy."</a:t>
            </a:r>
          </a:p>
          <a:p/>
          <a:p>
            <a:r>
              <a:rPr b="1"/>
              <a:t>3. Teach the visibility infrastructure.</a:t>
            </a:r>
          </a:p>
          <a:p>
            <a:r>
              <a:t>Say: "Without this infrastructure, strategy remains largely interpretive. Each function develops its own sense of progress. Activity becomes mistaken for advancement. Energy is expended, and the connection to the enterprise result becomes difficult to see. Performance measurement restores that line of sight. It moves the organisation from activity visibility to progress visibility."</a:t>
            </a:r>
          </a:p>
          <a:p>
            <a:r>
              <a:t>Teach it on both sides:</a:t>
            </a:r>
          </a:p>
          <a:p>
            <a:r>
              <a:t>People performance: leaders see whether individuals and teams are moving their KPIs, OKRs and behaviours towards the enterprise result.</a:t>
            </a:r>
          </a:p>
          <a:p>
            <a:r>
              <a:t>Organisational performance: leaders see whether the organisational conditions support the execution of the individuals' tasks. These conditions are the Environment, Systems, Resources and Governance (ESRG) agreed in Unit 6.</a:t>
            </a:r>
          </a:p>
          <a:p/>
          <a:p>
            <a:r>
              <a:rPr b="1"/>
              <a:t>4. Teach the move from activity to progress.</a:t>
            </a:r>
          </a:p>
          <a:p>
            <a:r>
              <a:t>Say: "Most organisations are extremely good at measuring activity: how many projects were launched, how many meetings were held, how many deliverables were completed. These indicators show that work is occurring and create a sense of operational movement. Activity alone does not show whether the organisation is moving closer to the outcome it set out to achieve."</a:t>
            </a:r>
          </a:p>
          <a:p>
            <a:r>
              <a:t>Point to the line at the foot of the slide: "The question moves from 'What work was done?' to 'What changed because of the work?' This shift turns performance management from an administrative reporting exercise into an execution intelligence system."</a:t>
            </a:r>
          </a:p>
          <a:p>
            <a:r>
              <a:t>Teach it on both sides:</a:t>
            </a:r>
          </a:p>
          <a:p>
            <a:r>
              <a:t>People performance: the question moves from "How busy are our people?" to "What has their work changed in the Key Result?"</a:t>
            </a:r>
          </a:p>
          <a:p>
            <a:r>
              <a:t>Organisational performance: the question moves from "Has the support been put in place?" to "Does the support enable the individuals' tasks to move the Key Result?"</a:t>
            </a:r>
          </a:p>
          <a:p>
            <a:r>
              <a:t>Deepen, say: "Many costly strategic decisions are made quietly mid-execution, when the team decides that what has been done is probably enough. Audit the exits: where exactly did we decide to stop, and why?"</a:t>
            </a:r>
          </a:p>
          <a:p>
            <a:r>
              <a:t>(Insight: Finished or settled. Source: Journal, 25 June 2026 — Professional Insights: Strategy)</a:t>
            </a:r>
          </a:p>
          <a:p>
            <a:r>
              <a:t>Deepen, say: "A culture that rewards understanding without requiring corresponding action trains people to be articulate more than effective. Check whether people acted on what they understood."</a:t>
            </a:r>
          </a:p>
          <a:p>
            <a:r>
              <a:t>(Insight: Understanding and action. Source: Journal, 8 June 2026 — Professional Insights: Culture)</a:t>
            </a:r>
          </a:p>
          <a:p/>
          <a:p>
            <a:r>
              <a:rPr b="1"/>
              <a:t>5. Ask, now that the shift is taught.</a:t>
            </a:r>
          </a:p>
          <a:p>
            <a:r>
              <a:t>Ask: "Does your organisation measure activity or progress? What is the difference in your context?"</a:t>
            </a:r>
          </a:p>
          <a:p>
            <a:r>
              <a:t>Take two answers.</a:t>
            </a:r>
          </a:p>
          <a:p/>
          <a:p>
            <a:r>
              <a:rPr b="1"/>
              <a:t>6. Bridge to 1.2.</a:t>
            </a:r>
          </a:p>
          <a:p>
            <a:r>
              <a:t>Say: "If measurement is the visibility infrastructure, what exactly does it do for the organisation? Four things."</a:t>
            </a:r>
          </a:p>
          <a:p/>
          <a:p>
            <a:r>
              <a:rPr b="1"/>
              <a:t>ON THE PORTAL, AFTER THE TEACHING:</a:t>
            </a:r>
          </a:p>
          <a:p>
            <a:r>
              <a:t>Participants write the reflection at the foot of part 1.1: what they measure today that reflects activity, what would reflect genuine progress towards their strategic outcome, and what evidence they hold on whether the organisational conditions support the tasks behind that progress.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1.2 — THE FOUR STRATEGIC PURPOSES OF PERFORMANCE MEASUREMENT</a:t>
            </a:r>
          </a:p>
          <a:p/>
          <a:p>
            <a:r>
              <a:rPr b="1"/>
              <a:t>HOW TO TEACH IT:</a:t>
            </a:r>
          </a:p>
          <a:p/>
          <a:p>
            <a:r>
              <a:rPr b="1"/>
              <a:t>1. Teach execution rhythm first.</a:t>
            </a:r>
          </a:p>
          <a:p>
            <a:r>
              <a:t>Say: "Performance measurement creates execution rhythm. Most strategic outcomes are the result of cumulative progress built over time. Regular review cycles let leaders notice the subtle signals that show whether execution is strengthening or weakening. Momentum may accelerate in one area while slowing in another. Resource constraints may appear. Decision bottlenecks may surface. Capability gaps may become visible. Seen early, these signals can be dealt with while the situation is still manageable.</a:t>
            </a:r>
          </a:p>
          <a:p>
            <a:r>
              <a:t>This rhythm prevents the most common leadership surprise: discovering performance failure only at the end of the reporting period. Strategy is observed while it is unfolding, as well as evaluated after the fact."</a:t>
            </a:r>
          </a:p>
          <a:p/>
          <a:p>
            <a:r>
              <a:rPr b="1"/>
              <a:t>2. Purpose 01 · Creates Visibility.</a:t>
            </a:r>
          </a:p>
          <a:p>
            <a:r>
              <a:t>Say: "Leaders can observe where the organisation is gaining momentum and where it is stalling. Strategic priorities that once existed only as intentions appear as measurable progress signals. Without measurement, leaders are flying blind: confident in effort and uncertain about direction."</a:t>
            </a:r>
          </a:p>
          <a:p>
            <a:r>
              <a:t>People performance: where individuals' and teams' KPIs are gaining momentum and where they are stalling.</a:t>
            </a:r>
          </a:p>
          <a:p>
            <a:r>
              <a:t>Organisational performance: where the organisational conditions are supporting the execution of the tasks, and where they are holding it back.</a:t>
            </a:r>
          </a:p>
          <a:p>
            <a:r>
              <a:t>Ask: "Where in your organisation does execution happen in the dark? Where are you most likely to be surprised at the end of a reporting period?"</a:t>
            </a:r>
          </a:p>
          <a:p/>
          <a:p>
            <a:r>
              <a:rPr b="1"/>
              <a:t>3. Purpose 02 · Establishes Accountability.</a:t>
            </a:r>
          </a:p>
          <a:p>
            <a:r>
              <a:t>Say: "Strategic completion requires tracking every component of the declared goal, including the parts that bring no visible victory. What has been accomplished is recorded as evidence that commitments are being kept. Leaders and teams understand which part of the strategy they are responsible for advancing. Accountability without measurement is aspiration without a feedback loop: it depends entirely on personal commitment, with no organisational structure behind it."</a:t>
            </a:r>
          </a:p>
          <a:p>
            <a:r>
              <a:t>People performance: individuals and teams know which part of the strategy they are responsible for advancing, and their delivery is recorded as evidence.</a:t>
            </a:r>
          </a:p>
          <a:p>
            <a:r>
              <a:t>Organisational performance: leaders account for whether the organisational conditions they undertook to provide in Unit 7 support the execution of the individuals' tasks.</a:t>
            </a:r>
          </a:p>
          <a:p>
            <a:r>
              <a:t>Ask: "If your KPIs disappeared from your scorecard but the targets remained unchanged, how many would still be actively owned?"</a:t>
            </a:r>
          </a:p>
          <a:p/>
          <a:p>
            <a:r>
              <a:rPr b="1"/>
              <a:t>4. Purpose 03 · Execution Intelligence.</a:t>
            </a:r>
          </a:p>
          <a:p>
            <a:r>
              <a:t>Say: "Here measurement moves beyond data collection. Data on its own rarely improves performance; numbers describe what has happened. Insight emerges when those numbers are interpreted through disciplined conversation. Each review cycle helps leaders answer three questions: What progress has been achieved since the last review? What obstacles are preventing further progress? What adjustment will restore momentum towards the target? Through these conversations, performance management becomes a learning system."</a:t>
            </a:r>
          </a:p>
          <a:p>
            <a:r>
              <a:t>People performance: the review learns what accelerates and what slows the progress of individuals and teams.</a:t>
            </a:r>
          </a:p>
          <a:p>
            <a:r>
              <a:t>Organisational performance: the review learns which organisational conditions enable execution and which constrain it.</a:t>
            </a:r>
          </a:p>
          <a:p>
            <a:r>
              <a:t>Ask: "What did your organisation actually learn from its last strategy cycle? What did it learn about how execution works inside your system?"</a:t>
            </a:r>
          </a:p>
          <a:p/>
          <a:p>
            <a:r>
              <a:rPr b="1"/>
              <a:t>5. Purpose 04 · Enables Timely Correction.</a:t>
            </a:r>
          </a:p>
          <a:p>
            <a:r>
              <a:t>Say: "Early signals allow teams to intervene while progress is still recoverable. Problems are addressed when they are small enough to resolve. Without early signals, problems are discovered only when targets have already been missed. This is why measurement frequency matters: a signal detected in week four carries a different cost from the same signal detected in week twelve."</a:t>
            </a:r>
          </a:p>
          <a:p>
            <a:r>
              <a:t>People performance: an early signal in an individual's progress lets the leader intervene while the KPI is still recoverable.</a:t>
            </a:r>
          </a:p>
          <a:p>
            <a:r>
              <a:t>Organisational performance: an early signal in an organisational condition, such as a system outage, a capacity shortfall or a delayed decision, lets the leader responsible act before the individuals' delivery is affected.</a:t>
            </a:r>
          </a:p>
          <a:p>
            <a:r>
              <a:t>Ask: "What is the average gap in your organisation between when a performance problem begins and when leadership first becomes aware of it? What does that gap cost?"</a:t>
            </a:r>
          </a:p>
          <a:p/>
          <a:p>
            <a:r>
              <a:rPr b="1"/>
              <a:t>6. Bridge to 1.3.</a:t>
            </a:r>
          </a:p>
          <a:p>
            <a:r>
              <a:t>Say: "The four purposes show you where a gap is. Identifying a gap does not by itself resolve it. The next slide gives the cycle that does."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1.3 — FROM PERFORMANCE MEASUREMENT TO EXECUTION RECOVERY (the Review–Realign–Restore Cycle, R3)</a:t>
            </a:r>
          </a:p>
          <a:p/>
          <a:p>
            <a:r>
              <a:rPr b="1"/>
              <a:t>HOW TO TEACH IT:</a:t>
            </a:r>
          </a:p>
          <a:p/>
          <a:p>
            <a:r>
              <a:rPr b="1"/>
              <a:t>1. Link to 1.2.</a:t>
            </a:r>
          </a:p>
          <a:p>
            <a:r>
              <a:t>Say: "Part 1.2 established that performance measurement serves four purposes: creating visibility, establishing accountability, generating execution intelligence and enabling timely correction. Together they show how strategy is progressing and where intervention is required. Leaders still need a disciplined process for interpreting what the evidence reveals, identifying what needs attention and making sure corrective decisions turn into improved execution. Within the S2R® system, this process is the Review–Realign–Restore Cycle, R3: a recurring leadership rhythm that applies to people performance and organisational performance."</a:t>
            </a:r>
          </a:p>
          <a:p/>
          <a:p>
            <a:r>
              <a:rPr b="1"/>
              <a:t>2. Teach Stage 1 · Review: Establish Execution Reality.</a:t>
            </a:r>
          </a:p>
          <a:p>
            <a:r>
              <a:t>Say: "Review brings together the first three purposes: visibility, accountability and execution intelligence. The KPI owner assesses progress against agreed targets and submits evidence of what has been achieved. The leader independently reviews the same KPI, bringing a broader organisational perspective. Together they establish a shared understanding of execution reality."</a:t>
            </a:r>
          </a:p>
          <a:p>
            <a:r>
              <a:t>Three questions guide the conversation: What progress has been achieved against the agreed target? What does the evidence tell us about performance? Where is actual progress falling short of expectations?</a:t>
            </a:r>
          </a:p>
          <a:p>
            <a:r>
              <a:t>People performance: the individual and the leader establish the progress made against the agreed target.</a:t>
            </a:r>
          </a:p>
          <a:p>
            <a:r>
              <a:t>Organisational performance: the leader brings the agreed measures or evidence of readiness for the organisational conditions, and the review establishes whether those conditions support the execution of the individuals' tasks.</a:t>
            </a:r>
          </a:p>
          <a:p>
            <a:r>
              <a:t>Say: "Outcome: a shared, evidence-based understanding of progress and any emerging performance gaps."</a:t>
            </a:r>
          </a:p>
          <a:p/>
          <a:p>
            <a:r>
              <a:rPr b="1"/>
              <a:t>3. Teach Stage 2 · Realign: Diagnose and Address Execution Gaps.</a:t>
            </a:r>
          </a:p>
          <a:p>
            <a:r>
              <a:t>Say: "Once Review establishes where progress is falling short, Realign determines what is preventing the expected performance. The leader activates the S2R® Accountability Loop, part 1.4, to find whether the gap arises from ownership, where the individual has lost connection to the purpose or accountability; capability, where the individual is committed and lacks the skills or support; or role or structural constraints, where the responsibilities, resources or organisational conditions prevent effective execution. The leader and KPI owner identify an intervention: renewed ownership, coaching, additional support or structural adjustment."</a:t>
            </a:r>
          </a:p>
          <a:p>
            <a:r>
              <a:t>People performance: the Accountability Loop diagnoses what is preventing the individual's expected performance.</a:t>
            </a:r>
          </a:p>
          <a:p>
            <a:r>
              <a:t>Organisational performance: the leader determines what is preventing an organisational condition from supporting the execution of the individuals' tasks, and agrees the response.</a:t>
            </a:r>
          </a:p>
          <a:p>
            <a:r>
              <a:t>Say: "Outcome: a clear understanding of the underlying constraint and an agreed corrective response."</a:t>
            </a:r>
          </a:p>
          <a:p/>
          <a:p>
            <a:r>
              <a:rPr b="1"/>
              <a:t>4. Teach Stage 3 · Restore: Rebuild Execution Momentum.</a:t>
            </a:r>
          </a:p>
          <a:p>
            <a:r>
              <a:t>Say: "Restore activates the fourth purpose: timely correction. The agreed intervention becomes concrete execution commitments. The leader and KPI owner agree corrective actions and expected progress, reaffirm responsibilities and accountability, set follow-up timelines and support requirements, and update the KPI alignment state to show whether clarity, capability and ownership have been restored. Restoring momentum requires renewed commitment to the intended outcome, supported by the conditions needed to achieve it."</a:t>
            </a:r>
          </a:p>
          <a:p>
            <a:r>
              <a:t>People performance: the individual commits to the corrective actions and the follow-up dates.</a:t>
            </a:r>
          </a:p>
          <a:p>
            <a:r>
              <a:t>Organisational performance: the leader responsible commits to the actions on the organisational conditions, each with a review date.</a:t>
            </a:r>
          </a:p>
          <a:p>
            <a:r>
              <a:t>Say: "Outcome: a clear recovery pathway, renewed execution ownership and agreed follow-through."</a:t>
            </a:r>
          </a:p>
          <a:p/>
          <a:p>
            <a:r>
              <a:rPr b="1"/>
              <a:t>5. Teach how the cycle stays continuous.</a:t>
            </a:r>
          </a:p>
          <a:p>
            <a:r>
              <a:t>Say: "The next Review examines whether the corrective actions have produced the expected improvement. If gaps remain, the cycle continues until execution returns to the required trajectory. The next Review examines both: the individuals' progress, and whether the organisational conditions now support their tasks."</a:t>
            </a:r>
          </a:p>
          <a:p/>
          <a:p>
            <a:r>
              <a:rPr b="1"/>
              <a:t>6. Bridge to 1.4.</a:t>
            </a:r>
          </a:p>
          <a:p>
            <a:r>
              <a:t>Say: "Realign depends on one diagnostic: the Accountability Loop. We take it next."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1.4 — THE ACCOUNTABILITY LOOP</a:t>
            </a:r>
          </a:p>
          <a:p/>
          <a:p>
            <a:r>
              <a:rPr b="1"/>
              <a:t>HOW TO TEACH IT:</a:t>
            </a:r>
          </a:p>
          <a:p/>
          <a:p>
            <a:r>
              <a:rPr b="1"/>
              <a:t>1. Name the default response.</a:t>
            </a:r>
          </a:p>
          <a:p>
            <a:r>
              <a:t>Say: "Many organisations respond to performance gaps with one default response: they push harder. More urgency is applied. More pressure is introduced. Deadlines are reinforced. Pressure alone rarely solves execution challenges because pressure does not identify the underlying cause of the problem."</a:t>
            </a:r>
          </a:p>
          <a:p>
            <a:r>
              <a:t>Say: "When a gap is identified, the leader activates the Accountability Loop: a structured diagnostic process designed to restore traction and ownership without collapsing into unproductive performance pressure. Most performance gaps emerge from one of three underlying conditions, and each calls for its own recovery."</a:t>
            </a:r>
          </a:p>
          <a:p/>
          <a:p>
            <a:r>
              <a:rPr b="1"/>
              <a:t>2. Name how the recovery is achieved.</a:t>
            </a:r>
          </a:p>
          <a:p>
            <a:r>
              <a:t>Say: "The leader achieves the recovery through the GROW model you used for the Alignment Dialogue in Unit 7: Goal, Reality, Options and Will. The goal of the conversation is ownership of the KPI: an alignment score of 9 or 10."</a:t>
            </a:r>
          </a:p>
          <a:p/>
          <a:p>
            <a:r>
              <a:rPr b="1"/>
              <a:t>3. Teach the three root causes, one card at a time.</a:t>
            </a:r>
          </a:p>
          <a:p>
            <a:r>
              <a:t>Lack of accountability. Say: "The individual understands the task but has lost the motivational connection to it. The work may feel detached from a meaningful outcome. Competing priorities may have diluted attention. Personal energy may have shifted elsewhere. Recovery: Reconnect purpose and ownership. The leader revisits the broader organisational context of the KPI. The conversation reconnects the task to the enterprise outcome it supports, and the individual is reminded how their contribution fits into the wider organisational map. By restoring that line of sight, motivation and commitment can often be reactivated."</a:t>
            </a:r>
          </a:p>
          <a:p>
            <a:r>
              <a:t>Achieving it through GROW. Goal: Reconnect the KPI to the enterprise outcome it supports, and agree what an alignment of 9 or 10 would look like. Reality: Explore what has drawn attention away from the KPI and how the individual now sees the target. Options: The individual names how they will restore focus on the KPI among competing priorities. Will: The individual restates ownership, the actions and the follow-up date, and the leader asks the alignment question again.</a:t>
            </a:r>
          </a:p>
          <a:p/>
          <a:p>
            <a:r>
              <a:t>Lack of skill. Say: "The individual is committed but lacks the capability required to achieve the expected level. The challenge may involve technical expertise, analytical capability, leadership skills, or process knowledge that was initially underestimated. Recovery: Develop capability, with no added pressure. Targeted coaching may be introduced. Peer support may be arranged. Formal training may be provided. In some cases the timeline attached to the KPI may also require adjustment if the capability development process requires additional time."</a:t>
            </a:r>
          </a:p>
          <a:p>
            <a:r>
              <a:t>Achieving it through GROW. Goal: Agree the result the KPI requires, the capability it calls for, and what an alignment of 9 or 10 would look like. Reality: Establish which part of the task the individual cannot yet do, and what they can already do well. Options: Choose together among targeted coaching, peer support, formal training and an adjusted timeline. Will: Agree the development plan, any adjusted milestones and the follow-up, and ask the alignment question again.</a:t>
            </a:r>
          </a:p>
          <a:p/>
          <a:p>
            <a:r>
              <a:t>Misfit or structural constraint. Say: "The issue lies beyond motivation and skill development. The individual’s strengths do not align with the specific responsibilities, or the role requires capabilities that the individual does not naturally bring to the task. Recovery: Structural alignment. The task may be redistributed across the team. Responsibilities may be adjusted. In some situations the individual may be repositioned into a role that better aligns with their strengths."</a:t>
            </a:r>
          </a:p>
          <a:p>
            <a:r>
              <a:t>Achieving it through GROW. Goal: Agree the outcome the KPI must deliver, whoever delivers it. Reality: Establish where the demands of the role and the strengths of the individual, or the structure around them, do not match. Options: Consider redistributing the task, adjusting responsibilities or, in a separate role conversation, repositioning the individual. Will: Agree the structural change, who decides it and by when, and ask the alignment question again with whoever now owns the KPI.</a:t>
            </a:r>
          </a:p>
          <a:p/>
          <a:p>
            <a:r>
              <a:t>Then say: "Every recovery closes with the alignment question asked again: on a scale of 1 to 10, where is your alignment now?"</a:t>
            </a:r>
          </a:p>
          <a:p>
            <a:r>
              <a:t>Then say: "Leaders must distinguish between team members who cannot perform and those who will not. Inability needs development, and unwillingness needs accountability." (Journal, 7 January 2026, Professional Insights: Leadership)</a:t>
            </a:r>
          </a:p>
          <a:p>
            <a:r>
              <a:t>With the third card, say: "Avoid assuming that every negative outcome proves individual failure, or that every positive outcome proves sound practice." (Journal, 18 August 2026, Professional Insights: Strategy)</a:t>
            </a:r>
          </a:p>
          <a:p/>
          <a:p>
            <a:r>
              <a:rPr b="1"/>
              <a:t>4. Keep the two conversations separate.</a:t>
            </a:r>
          </a:p>
          <a:p>
            <a:r>
              <a:t>Say: "The performance conversation must remain separate from the role conversation. Performance discussions focus on progress towards outcomes. Role alignment discussions focus on placing individuals where their capabilities can generate the greatest organisational value. By maintaining this distinction, the organisation protects both fairness and clarity."</a:t>
            </a:r>
          </a:p>
          <a:p>
            <a:r>
              <a:t>Say: "Accountability works when it is specific and behaviour-based. Vague, general assessments of character produce no specific correction." (Journal, 8 April 2026, Professional Insights: Culture)</a:t>
            </a:r>
          </a:p>
          <a:p/>
          <a:p>
            <a:r>
              <a:rPr b="1"/>
              <a:t>5. Ask, now that the loop is taught.</a:t>
            </a:r>
          </a:p>
          <a:p>
            <a:r>
              <a:t>Ask: "Think of a performance gap in your area. Which of the three root causes sits behind it, and what evidence tells you so?" Take two or three answers in the chat.</a:t>
            </a:r>
          </a:p>
          <a:p/>
          <a:p>
            <a:r>
              <a:rPr b="1"/>
              <a:t>ON THE PORTAL, AFTER THE TEACHING:</a:t>
            </a:r>
          </a:p>
          <a:p>
            <a:r>
              <a:t>Participants write the reflection at the foot of part 1.4: the stage of the Review–Realign–Restore Cycle a current gap sits in, and the root cause they would most likely diagnose.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2 · INTELLIGENCE — WHY</a:t>
            </a:r>
          </a:p>
          <a:p>
            <a:r>
              <a:t>Why Performance Measurement Determines Execution Velocity</a:t>
            </a:r>
          </a:p>
          <a:p/>
          <a:p>
            <a:r>
              <a:rPr b="1"/>
              <a:t>HOW THIS SECTION RUNS:</a:t>
            </a:r>
          </a:p>
          <a:p>
            <a:r>
              <a:t>1. 2.1 Four consequences of weak review discipline: execution velocity first, then the four consequences as one chain, each in people performance and organisational performance.</a:t>
            </a:r>
          </a:p>
          <a:p>
            <a:r>
              <a:rPr b="1"/>
              <a:t>2. The Section 2 Reflections slide.</a:t>
            </a:r>
          </a:p>
          <a:p/>
          <a:p>
            <a:r>
              <a:rPr b="1"/>
              <a:t>SECTION LEARNING OUTCOMES:</a:t>
            </a:r>
          </a:p>
          <a:p>
            <a:r>
              <a:t>1. Lead a consistent review rhythm that sustains execution momentum.</a:t>
            </a:r>
          </a:p>
          <a:p>
            <a:r>
              <a:t>2. Detect weakening review discipline and intervene before performance deteriorates.</a:t>
            </a:r>
          </a:p>
          <a:p/>
          <a:p>
            <a:r>
              <a:rPr b="1"/>
              <a:t>HOW TO OPEN THE SECTION:</a:t>
            </a:r>
          </a:p>
          <a:p/>
          <a:p>
            <a:r>
              <a:rPr b="1"/>
              <a:t>1. Name the shift.</a:t>
            </a:r>
          </a:p>
          <a:p>
            <a:r>
              <a:t>Say: "This section moves from measurement as a tool to measurement as a leadership discipline. The rhythm of review conversations is itself a strategic capability."</a:t>
            </a:r>
          </a:p>
          <a:p/>
          <a:p>
            <a:r>
              <a:rPr b="1"/>
              <a:t>2. Preview the chain.</a:t>
            </a:r>
          </a:p>
          <a:p>
            <a:r>
              <a:t>Say: "When that rhythm weakens, four consequences follow, and they are cumulative. Missed early warnings lead to diffused accountability; diffused accountability suppresses learning; suppressed learning erodes leadership credibility."</a:t>
            </a:r>
          </a:p>
          <a:p/>
          <a:p>
            <a:r>
              <a:rPr b="1"/>
              <a:t>3. Say where it goes.</a:t>
            </a:r>
          </a:p>
          <a:p>
            <a:r>
              <a:t>Say: "Section 5 returns to these four consequences. There, your group sets the decision points that guard against them."</a:t>
            </a:r>
          </a:p>
          <a:p/>
          <a:p>
            <a:r>
              <a:rPr b="1"/>
              <a:t>4. Bridge to 2.1.</a:t>
            </a:r>
          </a:p>
          <a:p>
            <a:r>
              <a:t>Say: "We start with a question about flight."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2.1 — FOUR CONSEQUENCES OF WEAK REVIEW DISCIPLINE</a:t>
            </a:r>
          </a:p>
          <a:p/>
          <a:p>
            <a:r>
              <a:rPr b="1"/>
              <a:t>HOW TO TEACH IT:</a:t>
            </a:r>
          </a:p>
          <a:p/>
          <a:p>
            <a:r>
              <a:rPr b="1"/>
              <a:t>1. Open with the flight.</a:t>
            </a:r>
          </a:p>
          <a:p>
            <a:r>
              <a:t>Ask: "What determines the velocity of a flight?"</a:t>
            </a:r>
          </a:p>
          <a:p>
            <a:r>
              <a:t>Say: "An aircraft's progress depends on continuously interpreting evidence and acting at the right time. A changing wind, a fuel concern, a missed altitude restriction or an unstable approach each calls for a different decision. These decisions cannot all be deferred until landing. By then, the opportunity to respond to an earlier condition may have passed. The same principle applies to strategy execution."</a:t>
            </a:r>
          </a:p>
          <a:p/>
          <a:p>
            <a:r>
              <a:rPr b="1"/>
              <a:t>2. Teach execution velocity.</a:t>
            </a:r>
          </a:p>
          <a:p>
            <a:r>
              <a:t>Say: "Execution velocity is the rate at which an organisation converts strategic intent into measurable results. That rate is shaped by how quickly leaders detect progress or deviation, understand its causes, make decisions and translate those decisions into action. Performance measurement provides the evidence. Review discipline converts that evidence into timely decisions.</a:t>
            </a:r>
          </a:p>
          <a:p>
            <a:r>
              <a:t>This is why organisations can have well-designed strategies, clearly assigned KPIs and detailed execution plans, and still experience slow progress. The measures may exist, and the rhythm of examining them, resolving constraints and adjusting execution may be weak."</a:t>
            </a:r>
          </a:p>
          <a:p>
            <a:r>
              <a:t>Say: "When performance reviews occur inconsistently or superficially, four predictable consequences emerge. Take them as one chain."</a:t>
            </a:r>
          </a:p>
          <a:p/>
          <a:p>
            <a:r>
              <a:rPr b="1"/>
              <a:t>3. Consequence 01 · Early Warning Signals Are Missed.</a:t>
            </a:r>
          </a:p>
          <a:p>
            <a:r>
              <a:t>Say: "Execution rarely collapses suddenly. Deterioration begins with small indicators: a milestone that slips by a few days, a process bottleneck beginning to slow delivery, a capability gap emerging in one team, a dependency between functions that introduces unexpected delays. These signals often appear months before the final KPI target is at risk. If leaders are not regularly examining performance evidence, the signals remain invisible, and by the end of the reporting period the opportunity for early intervention has gone."</a:t>
            </a:r>
          </a:p>
          <a:p>
            <a:r>
              <a:t>People performance, say: "Early warnings in people performance show in the review conversation before they show in the KPI. Three patterns recur. The quality of evidence falls: results give way to explanations, and percentages arrive without the evidence behind them. Alignment drifts: the individual who rated alignment at 9 when the target was agreed now gives short, guarded answers, and no one asks the alignment question again. Effort migrates: the individual's time moves to work that senior leaders ask about, and the KPI receives what is left. Each pattern leads a missed KPI by weeks. A capability gap seen in week four can be met with coaching; the same gap seen in week twelve leaves a revised target."</a:t>
            </a:r>
          </a:p>
          <a:p>
            <a:r>
              <a:t>Give the people examples: Workforce capacity. A contact centre carries a customer-retention Key Result. Two agents resign and their posts stay open for a quarter. The team covers the volume through overtime, resolution times hold for six weeks, then fall sharply as absenteeism rises. The vacancy and the overtime were on record weeks before the KPI moved. Psychological safety. Where raising a problem in front of senior leaders has carried a cost, team leads report amber milestones as green. The warning was there all along: months without a single amber rating.</a:t>
            </a:r>
          </a:p>
          <a:p>
            <a:r>
              <a:t>Organisational performance, say: "An early warning in organisational performance is evidence that a condition has started to weaken in its support for the individuals' tasks. It seldom carries a number of its own, so the review sees it only when it asks for it."</a:t>
            </a:r>
          </a:p>
          <a:p>
            <a:r>
              <a:t>Give the organisational examples: Systems · Integration. Sales, operations and finance each report from their own platform, and every cross-functional figure is consolidated by hand. The executive review works on information a week old, and a slipping delivery reaches the review after customers have escalated it. Environment · Infrastructure. Power outages at the main depot rise from one a month to one a week. Dispatch holds on backup generators until fuel costs exceed the budget; the outage log showed the trend weeks before the delivery KPI moved.</a:t>
            </a:r>
          </a:p>
          <a:p>
            <a:r>
              <a:t>Say: "Measures or evidence of readiness for each condition give these signals a place in the review."</a:t>
            </a:r>
          </a:p>
          <a:p>
            <a:r>
              <a:t>Ask: "In your experience, what is the typical lag between when a performance problem begins and when leadership acts? What would closing that lag by half be worth to your organisation?"</a:t>
            </a:r>
          </a:p>
          <a:p/>
          <a:p>
            <a:r>
              <a:rPr b="1"/>
              <a:t>4. Consequence 02 · Gradual Diffusion of Accountability.</a:t>
            </a:r>
          </a:p>
          <a:p>
            <a:r>
              <a:t>Say: "Accountability is sustained through visibility. When review conversations disappear or become irregular, the signal shifts. Targets remain on the scorecard and no longer appear in leadership dialogue. KPI owners read the absence of review as a sign that the target is no longer an active priority. The KPI quietly moves from operational to aspirational. People assume progress is happening somewhere in the system, and no one feels the immediate responsibility to make sure it is."</a:t>
            </a:r>
          </a:p>
          <a:p>
            <a:r>
              <a:t>People performance, say: "Individuals read priority from the review agenda. When a KPI is absent from three reviews in a row, they conclude that leadership attention has moved. Accountability then weakens in three ways. The KPI is managed for appearance: updates are written to reassure, and risks are held until they can no longer be hidden. Ownership of a shared KPI spreads thin: each individual assumes another is carrying the result. The commitment loses its force: it has not been tested since the target was agreed. When the gap finally surfaces, the review becomes a search for who was responsible. The Accountability Loop cannot diagnose a commitment no one has been asked about."</a:t>
            </a:r>
          </a:p>
          <a:p>
            <a:r>
              <a:t>Give the people example: Capability. A new procurement system is introduced with the promise that every buyer will be trained. Three months later half the buyers are untrained and purchase orders take twice as long. The buyers' cycle-time KPI is reviewed every month; the training commitment has never been raised.</a:t>
            </a:r>
          </a:p>
          <a:p>
            <a:r>
              <a:t>Organisational performance, say: "Leaders make commitments on organisational conditions when targets are agreed. These commitments seldom appear on any scorecard, so they diffuse first."</a:t>
            </a:r>
          </a:p>
          <a:p>
            <a:r>
              <a:t>Give the organisational examples: Governance · Authority. A regional manager is accountable for a margin Key Result, and every discount above a set level still needs head-office sign-off. The change to the delegation was approved in principle and never issued. Resources · Investment. The upgrade budget for the delivery fleet is approved in the plan and never released. The fleet-availability commitment is reported as on track every month until the vehicles are needed.</a:t>
            </a:r>
          </a:p>
          <a:p>
            <a:r>
              <a:t>Say: "Individuals remain held to their targets while the support they were promised quietly lapses. Mutual accountability becomes one-sided, and individuals protect themselves: they commit to less, document more and move from commitment to compliance."</a:t>
            </a:r>
          </a:p>
          <a:p>
            <a:r>
              <a:t>Ask: "Which KPIs in your current scorecard are operational, and which have quietly become aspirational? What made the difference?"</a:t>
            </a:r>
          </a:p>
          <a:p/>
          <a:p>
            <a:r>
              <a:rPr b="1"/>
              <a:t>5. Consequence 03 · Loss of Organisational Learning.</a:t>
            </a:r>
          </a:p>
          <a:p>
            <a:r>
              <a:t>Say: "Every review conversation holds insight about which approaches accelerate progress, where friction exists and which dependencies are working. When reviews are reduced to occasional reporting, results are recorded and the organisation never pauses to understand why they occurred. Without reflection, improvement becomes accidental. Execution capability stagnates even as strategic ambition grows."</a:t>
            </a:r>
          </a:p>
          <a:p>
            <a:r>
              <a:t>People performance, say: "Every review produces evidence on how results are achieved: practices that accelerate progress, capability gaps that recur, behaviours that strengthen ownership. One regional team meets its targets because its manager runs a short daily huddle on the Key Result. Recorded and examined, the practice can be taught to other teams. Unexamined, it stays one manager's habit and leaves when that manager leaves. When reviews only record results, talent decisions and succession rest on ratings with no evidence of how results were achieved, and the organisation keeps rewarding outcomes it cannot reproduce."</a:t>
            </a:r>
          </a:p>
          <a:p>
            <a:r>
              <a:t>Organisational performance, say: "Reviews also show how the conditions behave as the strategy places weight on them. The same constraint appearing in several reviews is evidence that a condition is not yet equal to the strategy."</a:t>
            </a:r>
          </a:p>
          <a:p>
            <a:r>
              <a:t>Give the organisational examples: Systems · Integration. Three functions each report delays at the handover between sales order and dispatch. Reviewed one by one, each delay looks local; reviewed together, they show one handover no one is responsible for. Resources · Investment. For two years running, the budget for strategic initiatives is released in the second quarter, and the initiatives deliver in the second half alone. Governance · Authority. Capital requests above a set value wait a month on average for a decision, and every Key Result that depends on one slips by about the same margin.</a:t>
            </a:r>
          </a:p>
          <a:p>
            <a:r>
              <a:t>Say: "When reviews do not capture this learning, the next strategy is set on the same conditions. Targets rise, the conditions stay where they were, and the same constraints slow execution again."</a:t>
            </a:r>
          </a:p>
          <a:p>
            <a:r>
              <a:t>Ask: "What does your organisation know now about how execution works inside your system that it did not know eighteen months ago? If the answer is 'not much', that is a review discipline signal."</a:t>
            </a:r>
          </a:p>
          <a:p/>
          <a:p>
            <a:r>
              <a:rPr b="1"/>
              <a:t>6. Consequence 04 · Erodes Leadership Credibility.</a:t>
            </a:r>
          </a:p>
          <a:p>
            <a:r>
              <a:t>Say: "When leaders set ambitious targets and announce priorities, they create an expectation that those priorities will stay visible in the leadership conversation. If they are not revisited, a message spreads: the announcement was more symbolic than operational. Teams become less attentive to new commitments because they have learned that priorities quietly fade. Consistent reviews show that strategic priorities are ongoing leadership commitments."</a:t>
            </a:r>
          </a:p>
          <a:p>
            <a:r>
              <a:t>People performance, say: "Credibility is built in the review. Two patterns erode it. Priorities that fade: a strategic KPI launched with energy disappears from the agenda, and high performers, who invest most in strategic commitments, become the most sceptical. Standards applied unevenly: some individuals' KPIs are examined closely while others are excused, often by seniority, and commitment falls across the whole team."</a:t>
            </a:r>
          </a:p>
          <a:p>
            <a:r>
              <a:t>Give the people examples: Values and consequences. A junior manager is challenged in the review for a missed milestone, while a senior executive's missed commitment to release staff for the same project is never raised. Psychological safety. The first person to raise a delivery risk in a review is questioned in front of peers. From then on, risks reach the review late.</a:t>
            </a:r>
          </a:p>
          <a:p>
            <a:r>
              <a:t>Organisational performance, say: "Individuals track leaders' commitments on the conditions closely, because their own delivery depends on them. Credibility in organisational performance is a test of fairness."</a:t>
            </a:r>
          </a:p>
          <a:p>
            <a:r>
              <a:t>Give the organisational examples: Governance · Risk Management. The executive team commits to a monthly decision forum to clear constraints, then postpones it twice in one quarter while the decisions wait. Governance · Policies &amp; Procedures. The review procedure requires evidence for every individual KPI and none for the organisational conditions, so a failed condition never reaches the agenda.</a:t>
            </a:r>
          </a:p>
          <a:p>
            <a:r>
              <a:t>Say: "Reviewing both sides to the same evidence standard shows that leaders hold themselves to the standard they set for others."</a:t>
            </a:r>
          </a:p>
          <a:p>
            <a:r>
              <a:t>Ask: "What is the current level of strategic commitment in your organisation? How much of it is shaped by what leaders consistently review, and how much by what they announce?"</a:t>
            </a:r>
          </a:p>
          <a:p/>
          <a:p>
            <a:r>
              <a:rPr b="1"/>
              <a:t>7. Bridge to the reflection.</a:t>
            </a:r>
          </a:p>
          <a:p>
            <a:r>
              <a:t>Say: "Review discipline sustains execution momentum. When it weakens, warning signals, accountability, learning and credibility weaken with it."</a:t>
            </a:r>
          </a:p>
          <a:p/>
          <a:p>
            <a:r>
              <a:rPr b="1"/>
              <a:t>ON THE PORTAL, AFTER THE TEACHING:</a:t>
            </a:r>
          </a:p>
          <a:p>
            <a:r>
              <a:t>Participants write the reflection at the foot of part 2.1: where they have seen the velocity gap in their own setting, the point where it opened, the consequence that followed, what the delay cost and whether an organisational condition played a part.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3 · EXTRAPOLATING — WHERE</a:t>
            </a:r>
          </a:p>
          <a:p>
            <a:r>
              <a:t>Where Does Performance Measurement Break Down Across Functions?</a:t>
            </a:r>
          </a:p>
          <a:p/>
          <a:p>
            <a:r>
              <a:rPr b="1"/>
              <a:t>HOW THIS SECTION RUNS:</a:t>
            </a:r>
          </a:p>
          <a:p>
            <a:r>
              <a:t>1. 3.1 Four fractures in performance measurement, each with its implication for people performance and organisational performance.</a:t>
            </a:r>
          </a:p>
          <a:p>
            <a:r>
              <a:t>2. 3.2 The CXO performance gap contributors: which executive roles most often feed each fracture.</a:t>
            </a:r>
          </a:p>
          <a:p>
            <a:r>
              <a:rPr b="1"/>
              <a:t>3. The Section 3 Reflections slide.</a:t>
            </a:r>
          </a:p>
          <a:p/>
          <a:p>
            <a:r>
              <a:rPr b="1"/>
              <a:t>SECTION LEARNING OUTCOMES:</a:t>
            </a:r>
          </a:p>
          <a:p>
            <a:r>
              <a:t>1. Diagnose cross-functional breakdowns in reviewing and interpreting performance evidence.</a:t>
            </a:r>
          </a:p>
          <a:p>
            <a:r>
              <a:t>2. Prioritise corrective action against the organisation's most consequential measurement breakdown.</a:t>
            </a:r>
          </a:p>
          <a:p/>
          <a:p>
            <a:r>
              <a:rPr b="1"/>
              <a:t>HOW TO OPEN THE SECTION:</a:t>
            </a:r>
          </a:p>
          <a:p/>
          <a:p>
            <a:r>
              <a:rPr b="1"/>
              <a:t>1. Give the observation.</a:t>
            </a:r>
          </a:p>
          <a:p>
            <a:r>
              <a:t>Say: "Most modern organisations have agreed goals and KPIs, dashboards, reporting tools and performance frameworks. The breakdown usually occurs in how leaders review and interpret the measurement together."</a:t>
            </a:r>
          </a:p>
          <a:p/>
          <a:p>
            <a:r>
              <a:rPr b="1"/>
              <a:t>2. Say what the section holds.</a:t>
            </a:r>
          </a:p>
          <a:p>
            <a:r>
              <a:t>Say: "Part 3.1 gives the four fractures. Part 3.2 shows which executive roles most often feed each one."</a:t>
            </a:r>
          </a:p>
          <a:p/>
          <a:p>
            <a:r>
              <a:rPr b="1"/>
              <a:t>3. Name the question that runs through it.</a:t>
            </a:r>
          </a:p>
          <a:p>
            <a:r>
              <a:t>Say: "The question for this section is: is the chain of execution across our functions holding together?"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3.1 — FOUR FRACTURES IN PERFORMANCE MEASUREMENT</a:t>
            </a:r>
          </a:p>
          <a:p/>
          <a:p>
            <a:r>
              <a:rPr b="1"/>
              <a:t>HOW TO TEACH IT:</a:t>
            </a:r>
          </a:p>
          <a:p/>
          <a:p>
            <a:r>
              <a:rPr b="1"/>
              <a:t>1. Frame the fractures.</a:t>
            </a:r>
          </a:p>
          <a:p>
            <a:r>
              <a:t>Say: "Performance measurement is ultimately a leadership conversation discipline. When that discipline weakens, four predictable fractures appear across the organisation. Take them as observable patterns, and place your own organisation honestly on each."</a:t>
            </a:r>
          </a:p>
          <a:p/>
          <a:p>
            <a:r>
              <a:rPr b="1"/>
              <a:t>2. Gap 01 · The Horizontal Coordination Gap.</a:t>
            </a:r>
          </a:p>
          <a:p>
            <a:r>
              <a:t>Say: "One of the most common breakdowns occurs when reviews happen inside functions, with no cross-functional view. Finance examines financial indicators. Operations reviews throughput. Marketing examines campaign performance. Each conversation may be rigorous. Strategy execution rarely moves through a single function, so leaders see partial signals and miss the full execution pattern. Each function may report strong progress while the enterprise outcome remains inconsistent. The leadership team, acting as the collective intelligence for execution discipline, closes this gap with periodic cross-functional reviews, where the executive team examines how the KPIs across functions interact to produce enterprise outcomes."</a:t>
            </a:r>
          </a:p>
          <a:p>
            <a:r>
              <a:t>Add: "In those sessions the conversation moves from 'How is my function performing?' to 'How is the execution system performing?' Customer experience depends on marketing promises, operational delivery, technology reliability and service responsiveness; revenue growth depends on sales capability, product readiness, pricing discipline and operational fulfilment."</a:t>
            </a:r>
          </a:p>
          <a:p>
            <a:r>
              <a:t>People performance, say: "Individuals are judged on the part of the result they control, and the hand-offs between functions are never examined. An operations planner meets every internal measure while customer orders wait at the boundary with sales. Individuals whose work depends on another function are held to results they cannot complete alone."</a:t>
            </a:r>
          </a:p>
          <a:p>
            <a:r>
              <a:t>Organisational performance, say: "The conditions that span functions fall between the reviews."</a:t>
            </a:r>
          </a:p>
          <a:p>
            <a:r>
              <a:t>Give the examples: Systems · Integration. The order-to-cash process runs through sales, credit control, the warehouse and finance. Each reviews its own step and reports it on time; no review sees the end-to-end cycle, where the customer experiences the delay. Governance · Authority. A non-standard contract needs approval from legal, finance and operations. Each reports its turnaround as acceptable; end to end, the decision takes three weeks, and the sales Key Result absorbs the wait.</a:t>
            </a:r>
          </a:p>
          <a:p>
            <a:r>
              <a:t>Say: "This gap is typically the most impactful and the least visible."</a:t>
            </a:r>
          </a:p>
          <a:p>
            <a:r>
              <a:t>Ask: "Name a strategic outcome in your organisation that required three or more functions to execute. Where did the handoffs break down, and would a cross-functional review have caught it earlier?"</a:t>
            </a:r>
          </a:p>
          <a:p/>
          <a:p>
            <a:r>
              <a:rPr b="1"/>
              <a:t>3. Gap 02 · The Evidence Quality Gap.</a:t>
            </a:r>
          </a:p>
          <a:p>
            <a:r>
              <a:t>Say: "Measurement loses power when reviews rely on weak or inconsistent evidence: narrative with no verifiable indicators, evidence of activity with no evidence of progress, or information that arrives too late to support decisions. Reviews then shift to interpretation debates, and leaders discuss whether the data can be trusted. The principle that closes this gap: every review is anchored in verifiable evidence that shows observable movement towards the outcome, is timely enough to inform decisions, and is clearly connected to the KPI, target or Key Result being assessed. When the evidence standard is consistent across functions, leaders spend less time debating data and more time improving execution."</a:t>
            </a:r>
          </a:p>
          <a:p>
            <a:r>
              <a:t>People performance, say: "Strong performers cannot show what their contribution changed, and weak delivery stays hidden behind narrative. When the evidence offered is activity, such as training attended or meetings held, the review rates effort. Over time, individuals learn that the persuasive account is rewarded."</a:t>
            </a:r>
          </a:p>
          <a:p>
            <a:r>
              <a:t>Give the people example: Workforce capacity. HR reports headcount at budget. The review does not see that a third of the roles in the unit carrying the Key Result are held by new staff still in training. The evidence that matters is productive capacity.</a:t>
            </a:r>
          </a:p>
          <a:p>
            <a:r>
              <a:t>Organisational performance, say: "Most reviews hold no evidence at all on organisational conditions. Their state is asserted: the system is stable, the roles are filled, the budget is available."</a:t>
            </a:r>
          </a:p>
          <a:p>
            <a:r>
              <a:t>Give the organisational examples: Environment · Technology. IT reports system availability at 99 per cent; the finance team reports that the month-end report takes three days to run. The first figure describes the system; the second describes whether it supports the tasks. Resources · Asset Availability. The asset register shows every delivery vehicle in service; a third are off the road awaiting parts.</a:t>
            </a:r>
          </a:p>
          <a:p>
            <a:r>
              <a:t>Deepen, say: "The most corrosive pattern is the gap between advertised and actual performance: dashboards that look green with no results underneath. Make it safer to disclose a thin harvest than to perform a false one."</a:t>
            </a:r>
          </a:p>
          <a:p>
            <a:r>
              <a:t>(Insight: Advertised and actual. Source: Journal, 27 May 2026 — Professional Insights: Culture)</a:t>
            </a:r>
          </a:p>
          <a:p>
            <a:r>
              <a:t>Ask: "In your last performance review, what share of the conversation was spent debating the data, and what share acting on it? That ratio is a proxy for your evidence quality gap."</a:t>
            </a:r>
          </a:p>
          <a:p/>
          <a:p>
            <a:r>
              <a:rPr b="1"/>
              <a:t>4. Gap 03 · The Review Rhythm Breakdown.</a:t>
            </a:r>
          </a:p>
          <a:p>
            <a:r>
              <a:t>Say: "Even well-designed systems weaken without a consistent rhythm of review. Progress appears gradually across weeks and months. If reviews occur too infrequently, leaders lose sight of the trajectory, and small deviations accumulate into significant gaps. Irregular cycles also weaken behavioural discipline: KPI owners treat measurement as a reporting event. Healthy measurement has a predictable rhythm: leaders know when reviews occur, KPI owners know when evidence must be prepared, and teams expect progress to be examined regularly. Measurement is a continuous responsibility of the KPI and Key Result owners, and the leadership team protects the rhythm."</a:t>
            </a:r>
          </a:p>
          <a:p>
            <a:r>
              <a:t>People performance, say: "The rhythm sets the individuals' planning horizon. Reviewed quarterly, people work in quarterly bursts. Reviewed irregularly, evidence is assembled in a hurry. The recoveries of the Accountability Loop need a rhythm short enough for coaching, development or structural change to take effect within the period."</a:t>
            </a:r>
          </a:p>
          <a:p>
            <a:r>
              <a:t>Give the people example: Employee sustainability. Workload is seen through the annual engagement survey, so overload in a critical team shows first in resignations.</a:t>
            </a:r>
          </a:p>
          <a:p>
            <a:r>
              <a:t>Organisational performance, say: "Conditions often have no rhythm of review at all; they reach the agenda when something fails."</a:t>
            </a:r>
          </a:p>
          <a:p>
            <a:r>
              <a:t>Give the organisational examples: Governance · Authority. Capital and risk decisions follow the board calendar, so a decision a Key Result depends on can wait up to three months. Resources · Resource Utilisation. Budgets are reallocated only at the mid-year forecast; an initiative short of funds in its second month waits until its sixth.</a:t>
            </a:r>
          </a:p>
          <a:p>
            <a:r>
              <a:t>Ask: "How predictable is your organisation's review rhythm? If a KPI owner were asked to describe the review schedule without a calendar, could they?"</a:t>
            </a:r>
          </a:p>
          <a:p/>
          <a:p>
            <a:r>
              <a:rPr b="1"/>
              <a:t>5. Gap 04 · The Learning Suppression Gap.</a:t>
            </a:r>
          </a:p>
          <a:p>
            <a:r>
              <a:t>Say: "A subtle, corrosive breakdown appears when reviews focus only on evaluation. If the conversation concentrates on whether targets were achieved, teams become cautious about discussing obstacles, defend results and leave causes unexplored. Execution is inherently experimental, so healthy reviews balance accountability with curiosity. Questions shift from 'Why was the target missed?' to 'What is the system teaching us about how execution actually works?' Measurement then evolves from a scoring mechanism into a capability-building system."</a:t>
            </a:r>
          </a:p>
          <a:p>
            <a:r>
              <a:t>Say: "This gap is often the most culturally embedded and the hardest to shift, because it asks leaders to move from a judgement posture to a curiosity posture."</a:t>
            </a:r>
          </a:p>
          <a:p>
            <a:r>
              <a:t>People performance, say: "When reviews judge, individuals defend. They bring the explanation and hold back the obstacle, and next cycle they propose targets they are sure to meet. Learning moves into corridors."</a:t>
            </a:r>
          </a:p>
          <a:p>
            <a:r>
              <a:t>Give the people example: Psychological safety. A team lead knows the approval process is the real constraint on the Key Result and does not say so, because the approval sits with the executive who chairs the review.</a:t>
            </a:r>
          </a:p>
          <a:p>
            <a:r>
              <a:t>Organisational performance, say: "Suppression falls hardest on the conditions, because naming a condition often means naming a senior leader's area."</a:t>
            </a:r>
          </a:p>
          <a:p>
            <a:r>
              <a:t>Give the organisational examples: Governance · Policies &amp; Procedures. Shortfalls in individual KPIs are examined closely, while a condition failure in a senior leader's area passes without examination. Governance · Risk Management. The risk register lists the approval process as a delivery risk, and no review has examined it since it was logged.</a:t>
            </a:r>
          </a:p>
          <a:p>
            <a:r>
              <a:t>Deepen, say: "Formal systems can exist while actual behaviour contradicts their purpose. Strategic reviews should examine lived practice alongside formal compliance."</a:t>
            </a:r>
          </a:p>
          <a:p>
            <a:r>
              <a:t>(Insight: Lived practice. Source: Journal, 8 September 2026 — Professional Insights: Strategy)</a:t>
            </a:r>
          </a:p>
          <a:p>
            <a:r>
              <a:t>Ask: "What is the dominant mood in your organisation's performance review meetings: defence or curiosity? What would shift it?"</a:t>
            </a:r>
          </a:p>
          <a:p/>
          <a:p>
            <a:r>
              <a:rPr b="1"/>
              <a:t>6. Bridge to 3.2.</a:t>
            </a:r>
          </a:p>
          <a:p>
            <a:r>
              <a:t>Say: "The four fractures rarely begin with one leader. The next slide shows how each executive role feeds them."</a:t>
            </a:r>
          </a:p>
          <a:p/>
          <a:p>
            <a:r>
              <a:rPr b="1"/>
              <a:t>ON THE PORTAL, AFTER THE TEACHING:</a:t>
            </a:r>
          </a:p>
          <a:p>
            <a:r>
              <a:t>Participants write the reflection at the foot of part 3.1: a rating of each of the four gaps in their organisation, from 1 (rare) to 5 (common), the gap they are most responsible for closing and their first action.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4 · INTEGRATION — COLLECTIVE</a:t>
            </a:r>
          </a:p>
          <a:p>
            <a:r>
              <a:t>Cross-Leadership Performance Intelligence</a:t>
            </a:r>
          </a:p>
          <a:p/>
          <a:p>
            <a:r>
              <a:rPr b="1"/>
              <a:t>HOW THIS SECTION RUNS:</a:t>
            </a:r>
          </a:p>
          <a:p>
            <a:r>
              <a:t>1. 4.1 The Enterprise Performance Intelligence Circle (EPIC): the three signals each leader brings from their PM review sheet.</a:t>
            </a:r>
          </a:p>
          <a:p>
            <a:r>
              <a:t>2. 4.2 The Accountability Loop role play, in groups of three, and the GROW conversation that guides it. Nothing is entered on the portal during the role play.</a:t>
            </a:r>
          </a:p>
          <a:p>
            <a:r>
              <a:t>3. Two Section 4 Reflections slides, the second with the Portfolio work of part 4.2.</a:t>
            </a:r>
          </a:p>
          <a:p/>
          <a:p>
            <a:r>
              <a:rPr b="1"/>
              <a:t>SECTION LEARNING OUTCOMES:</a:t>
            </a:r>
          </a:p>
          <a:p>
            <a:r>
              <a:t>1. Integrate individual performance signals into an enterprise-wide assessment of progress.</a:t>
            </a:r>
          </a:p>
          <a:p>
            <a:r>
              <a:t>2. Diagnose root causes of underperformance and select proportionate leadership responses.</a:t>
            </a:r>
          </a:p>
          <a:p/>
          <a:p>
            <a:r>
              <a:rPr b="1"/>
              <a:t>HOW TO OPEN THE SECTION:</a:t>
            </a:r>
          </a:p>
          <a:p/>
          <a:p>
            <a:r>
              <a:rPr b="1"/>
              <a:t>1. Name the shift.</a:t>
            </a:r>
          </a:p>
          <a:p>
            <a:r>
              <a:t>Say: "This section moves from function to enterprise. The question that guides it is the question of part 3.2: is the chain of execution across our functions holding together?"</a:t>
            </a:r>
          </a:p>
          <a:p/>
          <a:p>
            <a:r>
              <a:rPr b="1"/>
              <a:t>2. Say what the section holds.</a:t>
            </a:r>
          </a:p>
          <a:p>
            <a:r>
              <a:t>Say: "Part 4.1 teaches the Enterprise Performance Intelligence Circle, EPIC: the three signals each leader brings from their PM review sheet. Part 4.2 takes one Key Result through the Accountability Loop in a role play."</a:t>
            </a:r>
          </a:p>
          <a:p/>
          <a:p>
            <a:r>
              <a:rPr b="1"/>
              <a:t>3. Name the posture.</a:t>
            </a:r>
          </a:p>
          <a:p>
            <a:r>
              <a:t>Say: "Read every signal horizontally: what it means for the other functions. EPIC exists to surface cross-functional dependencies."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4.1 — THE ENTERPRISE PERFORMANCE INTELLIGENCE CIRCLE (EPIC)</a:t>
            </a:r>
          </a:p>
          <a:p/>
          <a:p>
            <a:r>
              <a:rPr b="1"/>
              <a:t>HOW TO TEACH IT:</a:t>
            </a:r>
          </a:p>
          <a:p/>
          <a:p>
            <a:r>
              <a:rPr b="1"/>
              <a:t>1. Say what EPIC is for.</a:t>
            </a:r>
          </a:p>
          <a:p>
            <a:r>
              <a:t>Say: "The Enterprise Performance Intelligence Circle (EPIC) is the executive team’s structured review of enterprise execution. The question that guides EPIC is: “Is the chain of execution across our functions holding together?”"</a:t>
            </a:r>
          </a:p>
          <a:p>
            <a:r>
              <a:t>Say: "Many organisations conduct performance reviews. Few organisations convert those reviews into collective strategic intelligence. EPIC ensures that insights emerging from PM review sheets are brought together across functions in a structured conversation that allows the leadership team, acting as the collective intelligence for execution discipline, to observe execution as a living system."</a:t>
            </a:r>
          </a:p>
          <a:p/>
          <a:p>
            <a:r>
              <a:rPr b="1"/>
              <a:t>2. Say what each leader brings.</a:t>
            </a:r>
          </a:p>
          <a:p>
            <a:r>
              <a:t>Say: "In EPIC, each member of the executive team brings three signals from their own PM review sheet: where their Key Results stand, what is starting to break, and what execution is teaching them. Each signal answers one question, and the three are shared in that order. Progress comes first because it gives the warnings their context and the learning a system to learn about."</a:t>
            </a:r>
          </a:p>
          <a:p/>
          <a:p>
            <a:r>
              <a:rPr b="1"/>
              <a:t>3. Signal 1 · Collective Trajectory: "Where are we on execution?"</a:t>
            </a:r>
          </a:p>
          <a:p>
            <a:r>
              <a:t>Say: "Each leader brings: The current percentage progress towards their Key Results and KPIs, taken from the PM ratings and evidence in their PM review sheet, and whether momentum is accelerating, stable or slowing. The percentage involves no estimate and no narrative opinion."</a:t>
            </a:r>
          </a:p>
          <a:p>
            <a:r>
              <a:t>Say: "Each leader says it like this: “We are at [X]% progress, supported by [evidence], and momentum is [accelerating, stable or slowing].”"</a:t>
            </a:r>
          </a:p>
          <a:p>
            <a:r>
              <a:t>Examples: The COO reports that operational readiness KPIs show 72% progress towards the strategic Key Result, supported by throughput improvements and cycle-time reductions documented in the review sheets. The CFO reports that financial indicators show 65% progress towards the quarterly profitability milestone, supported by margin improvements and cost optimisation evidence.</a:t>
            </a:r>
          </a:p>
          <a:p>
            <a:r>
              <a:t>Say: "What the executive team sees: Which functions show strong forward momentum and which show slower movement. The executive team sees the collective trajectory of strategy execution, and uneven progress becomes visible at once."</a:t>
            </a:r>
          </a:p>
          <a:p/>
          <a:p>
            <a:r>
              <a:rPr b="1"/>
              <a:t>4. Signal 2 · Early Warnings: "What is starting to break?"</a:t>
            </a:r>
          </a:p>
          <a:p>
            <a:r>
              <a:t>Say: "Each leader brings: One or two warning signals that emerged in their PM review conversations, with the evidence from the review sheets. An early warning appears before a KPI or Key Result is formally off target."</a:t>
            </a:r>
          </a:p>
          <a:p>
            <a:r>
              <a:t>Say: "Each leader says it like this: “An emerging risk is [signal], supported by [evidence].”"</a:t>
            </a:r>
          </a:p>
          <a:p>
            <a:r>
              <a:t>Examples: an operational process beginning to slow delivery times; a capability gap that may affect upcoming milestones; a supply constraint that could delay implementation of strategic initiatives; a change in customer feedback signalling emerging dissatisfaction.</a:t>
            </a:r>
          </a:p>
          <a:p>
            <a:r>
              <a:t>Say: "What the executive team sees: Where a signal in one function is connected to activity in another. What looked like an isolated operational issue shows itself as a cross-functional execution dependency, and the leadership team, acting as the collective intelligence for execution discipline, can act on it before it becomes a measurable performance gap."</a:t>
            </a:r>
          </a:p>
          <a:p/>
          <a:p>
            <a:r>
              <a:rPr b="1"/>
              <a:t>5. Signal 3 · Execution Learning: "What is execution teaching us?"</a:t>
            </a:r>
          </a:p>
          <a:p>
            <a:r>
              <a:t>Say: "Each leader brings: One key learning from their PM reviews, with the evidence behind it: a capability insight, a coordination improvement, a leadership practice that strengthened execution, or a structural obstacle that slowed progress."</a:t>
            </a:r>
          </a:p>
          <a:p>
            <a:r>
              <a:t>Say: "Each leader says it like this: “A key execution learning is [insight], supported by [evidence].”"</a:t>
            </a:r>
          </a:p>
          <a:p>
            <a:r>
              <a:t>Examples: The CHRO highlights that performance review discussions revealed a leadership capability gap affecting accountability conversations. The CTO shares that system visibility improvements significantly accelerated operational decision-making. The CMO highlights a pattern in customer experience data that revealed which service interactions most strongly influence trust.</a:t>
            </a:r>
          </a:p>
          <a:p>
            <a:r>
              <a:t>Say: "What the executive team sees: How execution actually works inside the organisation. Over time, the organisation builds a body of practical execution intelligence that improves how strategy is implemented."</a:t>
            </a:r>
          </a:p>
          <a:p/>
          <a:p>
            <a:r>
              <a:rPr b="1"/>
              <a:t>6. Close on what EPIC produces.</a:t>
            </a:r>
          </a:p>
          <a:p>
            <a:r>
              <a:rPr b="1"/>
              <a:t>1. A clear snapshot of enterprise progress towards the strategic Key Results.</a:t>
            </a:r>
          </a:p>
          <a:p>
            <a:r>
              <a:rPr b="1"/>
              <a:t>2. Emerging risks visible early enough for coordinated intervention.</a:t>
            </a:r>
          </a:p>
          <a:p>
            <a:r>
              <a:rPr b="1"/>
              <a:t>3. Execution learning captured to strengthen future performance.</a:t>
            </a:r>
          </a:p>
          <a:p>
            <a:r>
              <a:t>Say: "Through this practice, performance measurement becomes the organisation’s radar system for strategy execution."</a:t>
            </a:r>
          </a:p>
          <a:p/>
          <a:p>
            <a:r>
              <a:t>Say: "Healthy organisations create conditions in which differentiated strengths work together. The test of collective culture: when one part suffers, others respond; when one succeeds, others celebrate." (Journal, 9 September 2026, Professional Insights: Culture)</a:t>
            </a:r>
          </a:p>
          <a:p/>
          <a:p>
            <a:r>
              <a:rPr b="1"/>
              <a:t>ON THE PORTAL, AFTER THE TEACHING:</a:t>
            </a:r>
          </a:p>
          <a:p>
            <a:r>
              <a:t>Participants write their early warning signal and their execution learning at the foot of the second and third tabs of part 4.1, from their own Key Results and KPIs. At the foot of part 4.1, they name the conversation type most difficult for them and their team.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5 · APPLICATION — IN PRACTICE</a:t>
            </a:r>
          </a:p>
          <a:p>
            <a:r>
              <a:t>Applying the Four Consequences of Weak Review Discipline</a:t>
            </a:r>
          </a:p>
          <a:p/>
          <a:p>
            <a:r>
              <a:rPr b="1"/>
              <a:t>SECTION LEARNING OUTCOMES:</a:t>
            </a:r>
          </a:p>
          <a:p>
            <a:r>
              <a:t>1. Make evidence-based recovery decisions when results depart from expectations.</a:t>
            </a:r>
          </a:p>
          <a:p>
            <a:r>
              <a:t>2. Establish executive decisions and routines that protect sustained review discipline.</a:t>
            </a:r>
          </a:p>
          <a:p/>
          <a:p>
            <a:r>
              <a:rPr b="1"/>
              <a:t>HOW THIS SECTION RUNS:</a:t>
            </a:r>
          </a:p>
          <a:p>
            <a:r>
              <a:t>This is group work and Capstone work. For each of the four consequences of weak review discipline, each group:</a:t>
            </a:r>
          </a:p>
          <a:p>
            <a:r>
              <a:t>1. Simulates a potential gap in the performance of individuals, and a potential gap in the organisational conditions of its strategy.</a:t>
            </a:r>
          </a:p>
          <a:p>
            <a:r>
              <a:t>2. Writes a decision point for recovery for each gap: the decision the executive team takes when the gap appears, and who takes it.</a:t>
            </a:r>
          </a:p>
          <a:p>
            <a:r>
              <a:t>In part 5.2 each group tests the WARD check-up it set for its enterprise Key Result in Unit 6: the alert fires, and the group runs the recovery.</a:t>
            </a:r>
          </a:p>
          <a:p>
            <a:r>
              <a:t>The group chooses its scribe for this work. The scribe types what the group agrees, and the entries appear on every member’s page. Each member then selects Agree. When every member has agreed, the record feeds the team’s Capstone S2R® Blueprint.</a:t>
            </a:r>
          </a:p>
          <a:p/>
          <a:p>
            <a:r>
              <a:rPr b="1"/>
              <a:t>HOW TO OPEN THE SECTION:</a:t>
            </a:r>
          </a:p>
          <a:p/>
          <a:p>
            <a:r>
              <a:rPr b="1"/>
              <a:t>1. Say what the section does.</a:t>
            </a:r>
          </a:p>
          <a:p>
            <a:r>
              <a:t>Say: "For each of the four consequences of weak review discipline, your group simulates a potential gap in the performance of individuals and in the organisational conditions of the strategy in your team’s Capstone S2R® Blueprint, and sets a decision point for recovery for each. Then your group tests the WARD check-up it set in Unit 6: the alert fires, and you run the recovery."</a:t>
            </a:r>
          </a:p>
          <a:p/>
          <a:p>
            <a:r>
              <a:rPr b="1"/>
              <a:t>2. Say how the group works.</a:t>
            </a:r>
          </a:p>
          <a:p>
            <a:r>
              <a:t>Say: "This is group work. Your group agrees each entry and chooses its scribe for this work. The scribe types, and the entries appear on every member’s page."</a:t>
            </a:r>
          </a:p>
          <a:p/>
          <a:p>
            <a:r>
              <a:rPr b="1"/>
              <a:t>3. Say where the work goes.</a:t>
            </a:r>
          </a:p>
          <a:p>
            <a:r>
              <a:t>Say: "This is Capstone work. You read your group’s record at the foot of the section and select Agree. When every member has agreed, your record feeds your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5.2 — TESTING YOUR WARD (CAPSTONE WORK)</a:t>
            </a:r>
          </a:p>
          <a:p/>
          <a:p>
            <a:r>
              <a:rPr b="1"/>
              <a:t>HOW TO TEACH IT:</a:t>
            </a:r>
          </a:p>
          <a:p/>
          <a:p>
            <a:r>
              <a:rPr b="1"/>
              <a:t>1. Recall the check-up.</a:t>
            </a:r>
          </a:p>
          <a:p>
            <a:r>
              <a:t>Say: "In Unit 6 your group set the WARD check-up for its enterprise Key Result: the waypoints, the alert, the recovery and the decider. It was set while the Key Result was on track. Today the alert fires."</a:t>
            </a:r>
          </a:p>
          <a:p/>
          <a:p>
            <a:r>
              <a:rPr b="1"/>
              <a:t>2. Fire the alert.</a:t>
            </a:r>
          </a:p>
          <a:p>
            <a:r>
              <a:t>Say: "Choose one of your waypoints and write the result your executive team reads at that review, beyond the alert."</a:t>
            </a:r>
          </a:p>
          <a:p/>
          <a:p>
            <a:r>
              <a:rPr b="1"/>
              <a:t>3. Run the recovery.</a:t>
            </a:r>
          </a:p>
          <a:p>
            <a:r>
              <a:t>Ask: "What explains the gap in the individuals and in the organisational conditions? Which recovery do you run, who decides, and when do you check the result again?"</a:t>
            </a:r>
          </a:p>
          <a:p>
            <a:r>
              <a:t>Guide the groups to use the evidence in their Contribution Map and the recovery they set in advance.</a:t>
            </a:r>
          </a:p>
          <a:p/>
          <a:p>
            <a:r>
              <a:rPr b="1"/>
              <a:t>4. Give the example from the Unit 6 worked example.</a:t>
            </a:r>
          </a:p>
          <a:p>
            <a:r>
              <a:t>Enterprise Key Result: Increase customer enquiries resolved within 48 hours from 65% to 90% by year-end. Waypoint: 80% by the end of June. Alert: more than three percentage points below a waypoint.</a:t>
            </a:r>
          </a:p>
          <a:p>
            <a:r>
              <a:t>The red flag: At the end of June, 74% of enquiries are resolved within 48 hours against the 80% waypoint: six points below, beyond the alert.</a:t>
            </a:r>
          </a:p>
          <a:p>
            <a:r>
              <a:t>Individuals · what explains the gap: Two teams follow up fewer than 85% of outstanding enquiries on time.</a:t>
            </a:r>
          </a:p>
          <a:p>
            <a:r>
              <a:t>Organisational conditions · what explains the gap: System availability fell to 96% in May, and enquiries waited for the system to return.</a:t>
            </a:r>
          </a:p>
          <a:p>
            <a:r>
              <a:t>The recovery: Team leaders review open enquiries with each owner every morning; IT restores availability to 99% within four weeks; the Customer Service Executive decides and checks the result at the end of July.</a:t>
            </a:r>
          </a:p>
          <a:p/>
          <a:p>
            <a:r>
              <a:rPr b="1"/>
              <a:t>ON THE PORTAL, AFTER THE TEACHING:</a:t>
            </a:r>
          </a:p>
          <a:p>
            <a:r>
              <a:t>Participants work as a group in part 5.2 of their own file. This is Capstone work. The group’s WARD from Unit 6 is shown on each page; if it is missing, the group selects Bring in from my Unit 6 page.</a:t>
            </a:r>
          </a:p>
          <a:p>
            <a:r>
              <a:t>1. The group writes the red flag: the waypoint and the result that raises the alert.</a:t>
            </a:r>
          </a:p>
          <a:p>
            <a:r>
              <a:t>2. The group states what explains the gap in the performance of individuals and in the organisational conditions.</a:t>
            </a:r>
          </a:p>
          <a:p>
            <a:r>
              <a:t>3. The group states the recovery: what is done, who decides and when the result is checked again.</a:t>
            </a:r>
          </a:p>
          <a:p>
            <a:r>
              <a:t>4. Each participant reads the record and selects Agree.</a:t>
            </a:r>
          </a:p>
          <a:p/>
          <a:p>
            <a:r>
              <a:rPr b="1"/>
              <a:t>WHERE THE WORK GOES:</a:t>
            </a:r>
          </a:p>
          <a:p>
            <a:r>
              <a:t>When every member has agreed, the record feeds the Unit 8 boxes of the team’s Capstone S2R® Blueprint: the four consequences in 8A to 8D and the WARD test in 8E. The Capstone work is reviewed independently at graduation.</a:t>
            </a:r>
          </a:p>
          <a:p/>
          <a:p>
            <a:r>
              <a:rPr b="1"/>
              <a:t>CLOSE THE UNIT:</a:t>
            </a:r>
          </a:p>
          <a:p>
            <a:r>
              <a:t>Say: "Measurement becomes an execution recovery system when evidence is reviewed, gaps are diagnosed and momentum is restored. The result is an organisation that continuously restores performance."</a:t>
            </a:r>
          </a:p>
          <a:p>
            <a:r>
              <a:t>Say: "Each group’s decision points now set when and how the team acts on each consequence of weak review discipline. Unit 9 addresses the blockages that remain when review shows execution has stalled."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4.2 — THE ACCOUNTABILITY LOOP ROLE PLAY (PRACTICE IN CLASS)</a:t>
            </a:r>
          </a:p>
          <a:p/>
          <a:p>
            <a:r>
              <a:t>HOW TO TEACH IT:</a:t>
            </a:r>
          </a:p>
          <a:p/>
          <a:p>
            <a:r>
              <a:t>1. Give the case.</a:t>
            </a:r>
          </a:p>
          <a:p>
            <a:r>
              <a:t>Say: "The Head of Customer Service is responsible for the Key Result: Reduce the average time to resolve customer complaints from 10 working days to 5 by the end of the quarter. It supports the enterprise Objective of improving customer retention. The Complaints Team Leader leads a team of eight agents and was fully committed to the Key Result when it was agreed at the start of the quarter. Seven weeks into the quarter, the latest Review shows that resolution time fell from 10 days to 8 in the first month and has not moved since. The Complaints Team Leader missed the last two weekly check-ins, and their written updates have become short. The Head of Customer Service calls a conversation to establish what lies behind the gap."</a:t>
            </a:r>
          </a:p>
          <a:p/>
          <a:p>
            <a:r>
              <a:t>2. Form the groups of three.</a:t>
            </a:r>
          </a:p>
          <a:p>
            <a:r>
              <a:t>Put participants into breakout rooms of three: the leader, the team member and the observer.</a:t>
            </a:r>
          </a:p>
          <a:p>
            <a:r>
              <a:t>The leader (Head of Customer Service): decides the goal of the conversation, then works through Reality, Options and Will to reach it.</a:t>
            </a:r>
          </a:p>
          <a:p>
            <a:r>
              <a:t>The team member (Complaints Team Leader): responds as the person behind the stalled Key Result, from the root cause they chose.</a:t>
            </a:r>
          </a:p>
          <a:p>
            <a:r>
              <a:t>The observer: says nothing during the conversation and completes the observation sheet.</a:t>
            </a:r>
          </a:p>
          <a:p/>
          <a:p>
            <a:r>
              <a:t>3. The team member chooses the root cause.</a:t>
            </a:r>
          </a:p>
          <a:p>
            <a:r>
              <a:t>Say: "Team member, before the conversation, choose privately one of the three root causes as the reason behind the gap: Lack of Accountability, Lack of Skill, or Misfit of Role or Structural Constraint. Play the conversation from that position, drawing on your own experience, and tell no one which one you chose."</a:t>
            </a:r>
          </a:p>
          <a:p/>
          <a:p>
            <a:r>
              <a:t>4. Run the conversation.</a:t>
            </a:r>
          </a:p>
          <a:p>
            <a:r>
              <a:t>The leader decides what the conversation must achieve and runs it through the GROW model.</a:t>
            </a:r>
          </a:p>
          <a:p>
            <a:r>
              <a:t>Brief the leader with this line: "The leader who receives honest feedback about a genuine problem and responds with honesty before justification, and action before communication, creates the conditions for real leadership." (Journal, 29 June 2026, Professional Insights: Leadership)</a:t>
            </a:r>
          </a:p>
          <a:p>
            <a:r>
              <a:t>The observer completes the observation sheet: the goal the leader set and whether it was clear; the questions that opened up what is really happening; the root cause and the lines that rule out the other two; who generated the options and whether they matched the root cause; what was agreed, by whom and when it will be reviewed; whether the conversation reached its goal.</a:t>
            </a:r>
          </a:p>
          <a:p>
            <a:r>
              <a:t>If the leader defaults to pressure, pause and redirect: "You have identified the gap. Now ask about the reality behind it before you move to options."</a:t>
            </a:r>
          </a:p>
          <a:p/>
          <a:p>
            <a:r>
              <a:t>5. Debrief.</a:t>
            </a:r>
          </a:p>
          <a:p>
            <a:r>
              <a:t>The observer reports first: what the leader set out to achieve, how the conversation went at each GROW stage, and which root cause it revealed. The team member then says which root cause they chose. The leader closes with what they would do differently.</a:t>
            </a:r>
          </a:p>
          <a:p>
            <a:r>
              <a:t>Say: "Accountability without a pathway back becomes punishment. Correct firmly where necessary, and deliberately restore trust, contribution and dignity when change is evident." (Journal, 16 September 2026, Professional Insights: Leadership)</a:t>
            </a:r>
          </a:p>
          <a:p/>
          <a:p>
            <a:r>
              <a:t>This is class practice. Nothing is entered on the portal during the role play.</a:t>
            </a:r>
          </a:p>
          <a:p/>
          <a:p>
            <a:r>
              <a:t>ON THE PORTAL, AFTER THE TEACHING:</a:t>
            </a:r>
          </a:p>
          <a:p>
            <a:r>
              <a:t>After class, participants complete personal Portfolio work in part 4.2 of their own file. They read the conversation between the Chief Financial Officer and the Credit Control Manager, in which the root cause is never named. They work out which of the three root causes is evident and the lines that rule out the other two, the goal of the conversation and how Reality, Options and Will led to it, and how well the leader ran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4.2 — THE GROW CONVERSATION</a:t>
            </a:r>
          </a:p>
          <a:p/>
          <a:p>
            <a:r>
              <a:rPr b="1"/>
              <a:t>HOW TO USE THIS SLIDE:</a:t>
            </a:r>
          </a:p>
          <a:p/>
          <a:p>
            <a:r>
              <a:rPr b="1"/>
              <a:t>1. Recall GROW.</a:t>
            </a:r>
          </a:p>
          <a:p>
            <a:r>
              <a:t>Say: "The GROW model guides a conversation with an end in mind. Each stage asks a question, and the team member does the thinking, so the answers reached are their own."</a:t>
            </a:r>
          </a:p>
          <a:p/>
          <a:p>
            <a:r>
              <a:rPr b="1"/>
              <a:t>2. Teach each stage as it works in the Accountability Loop.</a:t>
            </a:r>
          </a:p>
          <a:p>
            <a:r>
              <a:t>G · Goal: "What the leader aims to achieve in the conversation. It may be identifying the root cause of the gap, restoring alignment with the Key Result, or both." Question: "What do we want to have agreed by the end of this conversation?"</a:t>
            </a:r>
          </a:p>
          <a:p>
            <a:r>
              <a:t>R · Reality: "What is true today. The leader explores what stands behind the gap and listens without defending the target." Question: "What is happening on this Key Result, and what makes it hard?"</a:t>
            </a:r>
          </a:p>
          <a:p>
            <a:r>
              <a:t>O · Options: "What could be done. The team member generates the ways forward, matched to the root cause." Question: "What could change? What support would make the difference?"</a:t>
            </a:r>
          </a:p>
          <a:p>
            <a:r>
              <a:t>W · Will: "What will be done, by whom and by when, and when it will be reviewed." Question: "What will you do, and when shall we look at it again?"</a:t>
            </a:r>
          </a:p>
          <a:p/>
          <a:p>
            <a:r>
              <a:rPr b="1"/>
              <a:t>3. Brief the observer before the role play.</a:t>
            </a:r>
          </a:p>
          <a:p>
            <a:r>
              <a:t>Say: "Note what the leader set out to achieve, and how each stage of GROW moved the conversation towards it: did the leader explore the reality before the options, let the team member generate the options, and close with what will be done, by whom and when it will be reviewed?"</a:t>
            </a:r>
          </a:p>
          <a:p/>
          <a:p>
            <a:r>
              <a:rPr b="1"/>
              <a:t>4. Use GROW in the debrief.</a:t>
            </a:r>
          </a:p>
          <a:p>
            <a:r>
              <a:t>The observer reports how the leader used each stage. Ask the group which stage was hardest to hold, and why.</a:t>
            </a:r>
          </a:p>
          <a:p>
            <a:r>
              <a:t>Say: "Leaders who either conceal failure or weaponise it prevent learning. Mature accountability names what went wrong, understands why it happened and moves people towards responsible change." (Journal, 10 August 2026, Professional Insights: Leadership)</a:t>
            </a:r>
          </a:p>
          <a:p>
            <a:r>
              <a:t>Say: "Holding people accountable for outcomes without considering intent produces a culture of blame. Intent matters." (Journal, 17 March 2026, Professional Insights)</a:t>
            </a:r>
          </a:p>
          <a:p/>
          <a:p>
            <a:r>
              <a:rPr b="1"/>
              <a:t>ON THE PORTAL, AFTER THE TEACHING:</a:t>
            </a:r>
          </a:p>
          <a:p>
            <a:r>
              <a:t>After class, in part 4.2 of their own file, participants work out the root cause in a full conversation on a new case, the goal of the conversation and how Reality, Options and Will led to it, and how well the leader ran the conversation.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2 REFLECTIONS</a:t>
            </a:r>
          </a:p>
          <a:p/>
          <a:p>
            <a:r>
              <a:t>HOW TO USE THIS SLIDE:</a:t>
            </a:r>
          </a:p>
          <a:p/>
          <a:p>
            <a:r>
              <a:t>1. Show the slide and read the prompt aloud.</a:t>
            </a:r>
          </a:p>
          <a:p>
            <a:r>
              <a:t>2.1 Reflection — Where You Have Seen the Velocity Gap: "The velocity gap is the distance between the pace of progress you planned and the pace you achieved. Think of a strategic priority in your own setting that moved more slowly than planned while its measures were in place. Where did the velocity gap open: in detecting the deviation, understanding its cause, making the decision or translating the decision into action? Which of the four consequences followed, and what did the delay cost? Did an organisational condition play a part in the delay?"</a:t>
            </a:r>
          </a:p>
          <a:p/>
          <a:p>
            <a:r>
              <a:t>2. Say what the reflection is for.</a:t>
            </a:r>
          </a:p>
          <a:p>
            <a:r>
              <a:t>Say: "Execution velocity is the rate at which an organisation converts strategic intent into measurable results. In this reflection, you name one place in your own setting where the pace fell behind the plan, and the point where the gap opened."</a:t>
            </a:r>
          </a:p>
          <a:p/>
          <a:p>
            <a:r>
              <a:t>3. Set the standard.</a:t>
            </a:r>
          </a:p>
          <a:p>
            <a:r>
              <a:t>Say: "Name a real priority, the real point of delay and what it cost."</a:t>
            </a:r>
          </a:p>
          <a:p/>
          <a:p>
            <a:r>
              <a:t>4. Bridge to Section 3.</a:t>
            </a:r>
          </a:p>
          <a:p>
            <a:r>
              <a:t>Say: "You have seen what weak review discipline costs. Section 3 shows where the review of performance breaks down across functions."</a:t>
            </a:r>
          </a:p>
          <a:p/>
          <a:p>
            <a:r>
              <a:t>ON THE PORTAL, AFTER THE TEACHING:</a:t>
            </a:r>
          </a:p>
          <a:p>
            <a:r>
              <a:t>Participants write this reflection in Section 2 of the participant file, at the foot of part 2.1.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1 REFLECTIONS</a:t>
            </a:r>
          </a:p>
          <a:p/>
          <a:p>
            <a:r>
              <a:rPr b="1"/>
              <a:t>HOW TO USE THIS SLIDE:</a:t>
            </a:r>
          </a:p>
          <a:p/>
          <a:p>
            <a:r>
              <a:rPr b="1"/>
              <a:t>1. Show the slide and read the two prompts aloud.</a:t>
            </a:r>
          </a:p>
          <a:p>
            <a:r>
              <a:t>1.1 Reflection — Activity vs Progress: "In your function, what are you currently measuring that reflects activity? What would reflect genuine progress towards your strategic outcome? What evidence do you hold on whether the organisational conditions support the tasks behind that progress?"</a:t>
            </a:r>
          </a:p>
          <a:p>
            <a:r>
              <a:t>1.4 Reflection — The Cycle and the Loop in Your Organisation: "Think of a current performance gap in your function. Which stage of the Review–Realign–Restore Cycle is it in? If you activated the Accountability Loop, which root cause would you most likely be diagnosing, and why?"</a:t>
            </a:r>
          </a:p>
          <a:p/>
          <a:p>
            <a:r>
              <a:rPr b="1"/>
              <a:t>2. Say what the reflections are for.</a:t>
            </a:r>
          </a:p>
          <a:p>
            <a:r>
              <a:t>Say: "You write these reflections on the portal after the teaching, with as much depth as you can. They build the learning portfolio you receive at the end of the programme."</a:t>
            </a:r>
          </a:p>
          <a:p/>
          <a:p>
            <a:r>
              <a:rPr b="1"/>
              <a:t>3. Set the standard.</a:t>
            </a:r>
          </a:p>
          <a:p>
            <a:r>
              <a:t>Say: "Name a real measure, a real gap and a real root cause from your own function."</a:t>
            </a:r>
          </a:p>
          <a:p/>
          <a:p>
            <a:r>
              <a:rPr b="1"/>
              <a:t>4. Bridge to Section 2.</a:t>
            </a:r>
          </a:p>
          <a:p>
            <a:r>
              <a:t>Say: "You have seen how measurement makes execution visible and how the cycle restores it. Section 2 shows what happens when the review rhythm weakens."</a:t>
            </a:r>
          </a:p>
          <a:p/>
          <a:p>
            <a:r>
              <a:rPr b="1"/>
              <a:t>ON THE PORTAL, AFTER THE TEACHING:</a:t>
            </a:r>
          </a:p>
          <a:p>
            <a:r>
              <a:t>Participants write these reflections in Section 1 of the participant file, at the foot of parts 1.1 and 1.4.</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3.2 — THE CXO PERFORMANCE GAP CONTRIBUTORS</a:t>
            </a:r>
          </a:p>
          <a:p>
            <a:r>
              <a:t>Is the chain of execution across our functions holding together?</a:t>
            </a:r>
          </a:p>
          <a:p/>
          <a:p>
            <a:r>
              <a:rPr b="1"/>
              <a:t>HOW TO TEACH IT:</a:t>
            </a:r>
          </a:p>
          <a:p/>
          <a:p>
            <a:r>
              <a:rPr b="1"/>
              <a:t>1. Set up the part.</a:t>
            </a:r>
          </a:p>
          <a:p>
            <a:r>
              <a:t>Say: "The four fractures of part 3.1 rarely begin with one leader. Each executive role reviews performance in its own meetings and with its own evidence, and the habits in those reviews open one or two of the fractures. When these habits are not seen together, the chain of execution across functions weakens without anyone noticing."</a:t>
            </a:r>
          </a:p>
          <a:p/>
          <a:p>
            <a:r>
              <a:rPr b="1"/>
              <a:t>2. Teach the map on the slide.</a:t>
            </a:r>
          </a:p>
          <a:p>
            <a:r>
              <a:t>Horizontal Coordination Gap: COO, CTO/CIO, CMO, CCO, CPO.</a:t>
            </a:r>
          </a:p>
          <a:p>
            <a:r>
              <a:t>Evidence Quality Gap: CFO, CHRO, CTO/CIO, CMO, CPO.</a:t>
            </a:r>
          </a:p>
          <a:p>
            <a:r>
              <a:t>Review Rhythm Breakdown: CEO, CHRO, CRO, CSO.</a:t>
            </a:r>
          </a:p>
          <a:p>
            <a:r>
              <a:t>Learning Suppression Gap: CEO, CFO, CCO, CRO, CSO.</a:t>
            </a:r>
          </a:p>
          <a:p/>
          <a:p>
            <a:r>
              <a:t>3. Teach each role: how it reviews performance, what it does in those reviews and what happens as a result. Take the participants' own roles first.</a:t>
            </a:r>
          </a:p>
          <a:p>
            <a:r>
              <a:t>The CEO chairs the executive review: the meeting where the executive team reports progress on the Key Results of the strategy. What the CEO does: When the board, investors or a crisis crowd the diary, the CEO postpones or shortens the executive review. What happens as a result: Executives see that the executive review can slip, so they let the reviews with their own teams slip too. Weeks pass without anyone examining progress, and a small delay grows into a missed target before it is discussed. (Review Rhythm Breakdown) What the CEO does: When a target is missed, the CEO’s first question in the review is: “Why did you miss it?” What happens as a result: Executives come to the review ready to defend their numbers. They hold back the obstacles they face, so the executive team never examines what caused the miss or what must change. (Learning Suppression Gap)</a:t>
            </a:r>
          </a:p>
          <a:p>
            <a:r>
              <a:t>The CFO reviews performance through the monthly management accounts: actual results against budget and forecast. What the CFO does: The CFO uses financial results as the main evidence of progress. What happens as a result: Financial results are available only after the month or quarter has closed. By the time the review sees a shortfall, the period is over and it is too late to correct it. (Evidence Quality Gap) What the CFO does: The CFO asks each budget holder to explain every variance. What happens as a result: Budget holders prepare explanations for the number. The discussion stays on justifying the past, and the operational cause of the variance is never examined. (Learning Suppression Gap)</a:t>
            </a:r>
          </a:p>
          <a:p>
            <a:r>
              <a:t>The COO holds weekly operations reviews with the heads of operations, using strong data on throughput, service levels and process efficiency. What the COO does: Only operations attends the review. Sales, technology, procurement and HR, the functions operations depends on, are not in the room. What happens as a result: When a delay comes from another function, for example a late system change or a supplier problem, the operations review can neither see it nor resolve it. Operations reports its own measures as on track while the enterprise result falls behind. (Horizontal Coordination Gap)</a:t>
            </a:r>
          </a:p>
          <a:p>
            <a:r>
              <a:t>The CHRO reviews people performance through the annual engagement survey and the twice-yearly talent review. What the CHRO does: The CHRO reports engagement scores and training completed, with no link to a Key Result. What happens as a result: The executive team cannot tell whether people measures help or hinder the delivery of the strategy, so the review debates what the survey means. (Evidence Quality Gap) What the CHRO does: The CHRO reviews people measures once or twice a year. What happens as a result: A skills gap that will delay a milestone is seen only at the next survey or talent review, after the milestone has already slipped. (Review Rhythm Breakdown)</a:t>
            </a:r>
          </a:p>
          <a:p>
            <a:r>
              <a:t>The CTO or CIO reviews technology projects against plan: milestones delivered, system uptime and budget. What the CTO or CIO does: The CTO or CIO reports a system going live as progress. What happens as a result: Going live is activity. Whether the business uses the system to deliver its Key Result is never checked, so the review reports success while the result does not move. (Evidence Quality Gap) What the CTO or CIO does: The CTO or CIO reviews technology projects in the technology forum, without the business owner of the result. What happens as a result: Technology reports the project on track and the business reports the result off track, and no review puts the two together. (Horizontal Coordination Gap)</a:t>
            </a:r>
          </a:p>
          <a:p>
            <a:r>
              <a:t>The CMO reviews marketing through campaign reports: reach, leads, brand measures and market share. What the CMO does: The CMO reports campaign reach and leads as progress towards the market Key Result. What happens as a result: Reach and leads show marketing activity. They do not show whether customers bought or stayed, so the review cannot see whether the Key Result is moving. (Evidence Quality Gap) What the CMO does: The campaigns promise delivery times and service levels that operations and sales must deliver, and they review their own measures elsewhere. What happens as a result: Marketing meets its campaign targets while customers receive a different experience, and no single review sees the broken promise. (Horizontal Coordination Gap)</a:t>
            </a:r>
          </a:p>
          <a:p>
            <a:r>
              <a:t>The CCO holds weekly sales reviews on pipeline, orders and revenue against target. What the CCO does: The CCO reviews sales commitments without operations in the room. What happens as a result: Sales signs volumes that operations has not confirmed it can deliver. The gap appears only when orders arrive late and customers complain. (Horizontal Coordination Gap) What the CCO does: Every sales review puts pressure on the number. What happens as a result: Sales managers stop raising obstacles, such as pricing or stock problems, until the quarter is already lost. (Learning Suppression Gap)</a:t>
            </a:r>
          </a:p>
          <a:p>
            <a:r>
              <a:t>The CPO reviews procurement through supplier scorecards, savings achieved and contract compliance. What the CPO does: The CPO reviews supplier performance in the procurement forum, apart from the functions that depend on supply. What happens as a result: A late delivery from a supplier reaches a Key Result in operations before anyone connects the two. (Horizontal Coordination Gap) What the CPO does: The CPO reports savings achieved as procurement progress. What happens as a result: The review rewards a cheaper contract without checking whether slower or lower-quality supply is now delaying delivery. (Evidence Quality Gap)</a:t>
            </a:r>
          </a:p>
          <a:p>
            <a:r>
              <a:t>The CRO reviews risk through the risk register, incident reports and compliance audits, on the board’s governance calendar. What the CRO does: The CRO treats a reported breach as a failure to be punished. What happens as a result: Teams stop reporting near misses, so the organisation loses the early information that would let it prevent the next incident. (Learning Suppression Gap) What the CRO does: The CRO reviews risks quarterly for the board committee, apart from the strategy reviews. What happens as a result: A risk that rises against a Key Result between quarters is not discussed until the next committee meeting. (Review Rhythm Breakdown)</a:t>
            </a:r>
          </a:p>
          <a:p>
            <a:r>
              <a:t>The CSO runs the planning calendar: the annual strategy review and the quarterly OKR updates. What the CSO does: The CSO examines Key Results mainly at the quarterly and annual planning points. What happens as a result: Three months pass between two looks at the same Key Result: too long to see whether it is moving or stalling. (Review Rhythm Breakdown) What the CSO does: The planning sessions update the targets and plans for the next period. What happens as a result: The plan is changed without first asking what the last period of execution taught the organisation, so the same mistakes repeat. (Learning Suppression Gap)</a:t>
            </a:r>
          </a:p>
          <a:p/>
          <a:p>
            <a:r>
              <a:rPr b="1"/>
              <a:t>4. Close the part.</a:t>
            </a:r>
          </a:p>
          <a:p>
            <a:r>
              <a:t>Say: "No single role opens a fracture alone. The leadership team, acting as the collective intelligence for execution discipline, closes the four fractures when each leader sees how the habits in their own reviews feed them, and the executive team reviews the chain of execution together."</a:t>
            </a:r>
          </a:p>
          <a:p/>
          <a:p>
            <a:r>
              <a:rPr b="1"/>
              <a:t>5. Ask, now that the roles are taught.</a:t>
            </a:r>
          </a:p>
          <a:p>
            <a:r>
              <a:t>Ask: "What is one habit in your own reviews, and which fracture does it open?" Ask participants to post their answer in the chat.</a:t>
            </a:r>
          </a:p>
          <a:p/>
          <a:p>
            <a:r>
              <a:rPr b="1"/>
              <a:t>ON THE PORTAL, AFTER THE TEACHING:</a:t>
            </a:r>
          </a:p>
          <a:p>
            <a:r>
              <a:t>Participants read the ten role cards in part 3.2 of their own file, their own role first, and answer the question on their own card for themselves. They then complete a personal reflection as Portfolio work: the fracture their own review habits are most prone to open, in the way they review individuals and the organisational conditions they are responsible for, the remedial action they will take and the evidence that will show it is working.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SECTION 3 REFLECTIONS</a:t>
            </a:r>
          </a:p>
          <a:p/>
          <a:p>
            <a:r>
              <a:rPr b="1"/>
              <a:t>HOW TO USE THIS SLIDE:</a:t>
            </a:r>
          </a:p>
          <a:p/>
          <a:p>
            <a:r>
              <a:rPr b="1"/>
              <a:t>1. Show the slide and read the two prompts aloud.</a:t>
            </a:r>
          </a:p>
          <a:p>
            <a:r>
              <a:t>3.1 Reflection — Which Gap Is Most Prevalent in Your Organisation?: "Rate each gap in your organisation (1 = rare, 5 = common). Then name the gap you are most responsible for closing and your first action."</a:t>
            </a:r>
          </a:p>
          <a:p>
            <a:r>
              <a:t>3.2 Reflection — The Fracture You Are Most Prone To (Portfolio work): "Which of the four fractures are your own review habits most prone to open, in the way you review individuals and the organisational conditions you are responsible for? What remedial action will you take, and what evidence will show it is working?"</a:t>
            </a:r>
          </a:p>
          <a:p/>
          <a:p>
            <a:r>
              <a:rPr b="1"/>
              <a:t>2. Say what the reflections are for.</a:t>
            </a:r>
          </a:p>
          <a:p>
            <a:r>
              <a:t>Point learners to the portal section that they will be required to complete with as much depth as possible.</a:t>
            </a:r>
          </a:p>
          <a:p>
            <a:r>
              <a:t>The reflections build the learning portfolio they receive at the end of the programme.</a:t>
            </a:r>
          </a:p>
          <a:p>
            <a:r>
              <a:t>Say: "You write these reflections on the portal after the teaching. Rate each gap honestly, then name the gap you are most responsible for closing. The 3.2 reflection is Portfolio work."</a:t>
            </a:r>
          </a:p>
          <a:p/>
          <a:p>
            <a:r>
              <a:rPr b="1"/>
              <a:t>3. Set the standard.</a:t>
            </a:r>
          </a:p>
          <a:p>
            <a:r>
              <a:t>Say: "Name one habit in your own reviews, the fracture it opens, one remedial action and the evidence that will show it is working."</a:t>
            </a:r>
          </a:p>
          <a:p/>
          <a:p>
            <a:r>
              <a:rPr b="1"/>
              <a:t>4. Bridge to Section 4.</a:t>
            </a:r>
          </a:p>
          <a:p>
            <a:r>
              <a:t>Say: "You have seen where the review of performance breaks down, and which roles feed each gap. Section 4 brings the executive team together around one view of enterprise execution."</a:t>
            </a:r>
          </a:p>
          <a:p/>
          <a:p>
            <a:r>
              <a:rPr b="1"/>
              <a:t>ON THE PORTAL, AFTER THE TEACHING:</a:t>
            </a:r>
          </a:p>
          <a:p>
            <a:r>
              <a:t>Participants complete these reflections in Section 3 of the participant file, at the foot of parts 3.1 and 3.2.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REFLECTIONS (1 OF 2)</a:t>
            </a:r>
          </a:p>
          <a:p>
            <a:endParaRPr lang="en-GB" dirty="0"/>
          </a:p>
          <a:p>
            <a:r>
              <a:rPr lang="en-GB" b="1" dirty="0"/>
              <a:t>HOW TO USE THIS SLIDE:</a:t>
            </a:r>
          </a:p>
          <a:p>
            <a:endParaRPr lang="en-GB" dirty="0"/>
          </a:p>
          <a:p>
            <a:r>
              <a:rPr lang="en-GB" b="1" dirty="0"/>
              <a:t>1. Show the slide and read the two prompts aloud.</a:t>
            </a:r>
          </a:p>
          <a:p>
            <a:r>
              <a:rPr lang="en-GB" dirty="0"/>
              <a:t>4.1 Reflection — Your Early Warning Signal: "Which one or two early warning signals have emerged in your area? What evidence supports each, and what could it affect?"</a:t>
            </a:r>
          </a:p>
          <a:p>
            <a:r>
              <a:rPr lang="en-GB" dirty="0"/>
              <a:t>4.1 Reflection — Your Execution Learning: "What is one key execution learning from your performance reviews? What evidence supports it, and does it apply to your function or to the enterprise?"</a:t>
            </a:r>
          </a:p>
          <a:p>
            <a:endParaRPr lang="en-GB" dirty="0"/>
          </a:p>
          <a:p>
            <a:r>
              <a:rPr lang="en-GB" b="1" dirty="0"/>
              <a:t>2. Say what the reflections are for.</a:t>
            </a:r>
          </a:p>
          <a:p>
            <a:r>
              <a:rPr lang="en-GB" dirty="0"/>
              <a:t>Say: "In part 4.1, you write your own EPIC signals, from your own Key Results and KPIs, with the evidence behind each. These reflections build your learning portfolio."</a:t>
            </a:r>
          </a:p>
          <a:p>
            <a:endParaRPr lang="en-GB" dirty="0"/>
          </a:p>
          <a:p>
            <a:r>
              <a:rPr lang="en-GB" b="1" dirty="0"/>
              <a:t>ON THE PORTAL, AFTER THE TEACHING:</a:t>
            </a:r>
          </a:p>
          <a:p>
            <a:r>
              <a:rPr lang="en-GB" dirty="0"/>
              <a:t>Participants write their early warning signal and their execution learning at the foot of the second and third tabs of part 4.1.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SECTION 4 REFLECTIONS (2 OF 2)</a:t>
            </a:r>
          </a:p>
          <a:p/>
          <a:p>
            <a:r>
              <a:t>HOW TO USE THIS SLIDE:</a:t>
            </a:r>
          </a:p>
          <a:p/>
          <a:p>
            <a:r>
              <a:t>1. Show the slide and read the prompt and the Portfolio work aloud.</a:t>
            </a:r>
          </a:p>
          <a:p>
            <a:r>
              <a:t>4.1 Reflection — The Conversation Type Most Difficult for Your Team: "Which conversation type is most difficult for you and your team: reporting progress against evidence, naming an early warning, or sharing an execution learning? What makes it difficult, and what would make it easier?"</a:t>
            </a:r>
          </a:p>
          <a:p>
            <a:r>
              <a:t>4.2 Portfolio work: the Accountability Loop case, read and analysed alone.</a:t>
            </a:r>
          </a:p>
          <a:p/>
          <a:p>
            <a:r>
              <a:t>2. Say what the work is for.</a:t>
            </a:r>
          </a:p>
          <a:p>
            <a:r>
              <a:t>Say: "In 4.2, you read a full Accountability Loop conversation on a new case: the Chief Financial Officer and the Credit Control Manager. The conversation never names the root cause: you work out which of the three it is, the goal of the conversation and how Reality, Options and Will led to it, and how well the leader ran the conversation. This is personal work, and it builds your learning portfolio."</a:t>
            </a:r>
          </a:p>
          <a:p/>
          <a:p>
            <a:r>
              <a:t>3. Bridge to Section 5.</a:t>
            </a:r>
          </a:p>
          <a:p>
            <a:r>
              <a:t>Say: "You have seen the enterprise view and practised the loop on one Key Result. Section 5 brings back the four consequences of weak review discipline, and your group guards its own strategy against them."</a:t>
            </a:r>
          </a:p>
          <a:p/>
          <a:p>
            <a:r>
              <a:t>ON THE PORTAL, AFTER THE TEACHING:</a:t>
            </a:r>
          </a:p>
          <a:p>
            <a:r>
              <a:t>Participants write the reflection at the foot of part 4.1, and complete the Portfolio work of part 4.2.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5.1 — DECISION POINTS AGAINST THE FOUR CONSEQUENCES (CAPSTONE WORK)</a:t>
            </a:r>
          </a:p>
          <a:p/>
          <a:p>
            <a:r>
              <a:t>HOW TO TEACH IT:</a:t>
            </a:r>
          </a:p>
          <a:p/>
          <a:p>
            <a:r>
              <a:t>1. Recall the four consequences of part 2.1.</a:t>
            </a:r>
          </a:p>
          <a:p>
            <a:r>
              <a:t>Say: "Missed early warning signals. Gradual diffusion of accountability. Loss of organisational learning. Eroded leadership credibility. Each shows in the performance of individuals and in the organisational conditions."</a:t>
            </a:r>
          </a:p>
          <a:p/>
          <a:p>
            <a:r>
              <a:t>2. Say what the group completes for each consequence.</a:t>
            </a:r>
          </a:p>
          <a:p>
            <a:r>
              <a:t>Say: "Simulate a potential gap in your strategy: one in the performance of individuals and one in the organisational conditions. For each gap, write the decision point for recovery: the decision the executive team takes when the gap appears, and who takes it. Write it as one sentence: If the gap appears, then the recovery decision, taken by whom."</a:t>
            </a:r>
          </a:p>
          <a:p/>
          <a:p>
            <a:r>
              <a:t>3. Give one example for each consequence.</a:t>
            </a:r>
          </a:p>
          <a:p>
            <a:r>
              <a:t>Early Warning Signals Are Missed: "If a Key Result shows no movement across two monthly reviews, then a recovery plan is presented at the next executive review, taken by the executive accountable for the Key Result."</a:t>
            </a:r>
          </a:p>
          <a:p>
            <a:r>
              <a:t>Gradual Diffusion of Accountability: "If a Key Result has not been discussed in an executive review for a full month, then it goes first on the agenda of the next review, with the individuals delivering it present, taken by the CEO."</a:t>
            </a:r>
          </a:p>
          <a:p>
            <a:r>
              <a:t>Loss of Organisational Learning: "If the same obstacle is reported in two functions in one quarter, then the executive team names the cause and records what it changes in the way the strategy is executed, taken by the CEO."</a:t>
            </a:r>
          </a:p>
          <a:p>
            <a:r>
              <a:t>Erodes Leadership Credibility: "If a strategic priority is announced with no date for its first review, then the date and the evidence to be brought to it are fixed in the same meeting, taken by the CEO."</a:t>
            </a:r>
          </a:p>
          <a:p/>
          <a:p>
            <a:r>
              <a:t>4. Say how the group completes it.</a:t>
            </a:r>
          </a:p>
          <a:p>
            <a:r>
              <a:t>Say: "Take the four consequences one at a time, each on its own tab. The lesson for each sits above the boxes."</a:t>
            </a:r>
          </a:p>
          <a:p/>
          <a:p>
            <a:r>
              <a:t>ON THE PORTAL, AFTER THE TEACHING:</a:t>
            </a:r>
          </a:p>
          <a:p>
            <a:r>
              <a:t>Participants work as a group in part 5.1 of their own file. This is Capstone work. The group chooses its scribe for this work. The scribe types what the group agrees, and the entries appear on every member’s page.</a:t>
            </a:r>
          </a:p>
          <a:p>
            <a:r>
              <a:t>For each of the four consequences, each group writes a potential gap in the performance of individuals and in the organisational conditions, and a decision point for recovery for each: the decision the executive team takes when the gap appears, and who takes it.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4.xml"/><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3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notesSlide" Target="../notesSlides/notesSlide23.xml"/><Relationship Id="rId8" Type="http://schemas.openxmlformats.org/officeDocument/2006/relationships/image" Target="../media/image18.png"/><Relationship Id="rId9"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29.png"/><Relationship Id="rId4" Type="http://schemas.openxmlformats.org/officeDocument/2006/relationships/image" Target="../media/image28.png"/><Relationship Id="rId5" Type="http://schemas.openxmlformats.org/officeDocument/2006/relationships/image" Target="../media/image27.png"/><Relationship Id="rId6" Type="http://schemas.openxmlformats.org/officeDocument/2006/relationships/notesSlide" Target="../notesSlides/notesSlide2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6.xml"/><Relationship Id="rId6" Type="http://schemas.openxmlformats.org/officeDocument/2006/relationships/image" Target="../media/image43.png"/><Relationship Id="rId7"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31.png"/><Relationship Id="rId4" Type="http://schemas.openxmlformats.org/officeDocument/2006/relationships/image" Target="../media/image24.png"/><Relationship Id="rId5"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39.png"/><Relationship Id="rId5" Type="http://schemas.openxmlformats.org/officeDocument/2006/relationships/image" Target="../media/image13.png"/><Relationship Id="rId6" Type="http://schemas.openxmlformats.org/officeDocument/2006/relationships/image" Target="../media/image4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7.xml"/><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23.png"/><Relationship Id="rId9"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notesSlide" Target="../notesSlides/notesSlide28.xml"/><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30.png"/><Relationship Id="rId9"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22.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2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22.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20.xml"/><Relationship Id="rId7" Type="http://schemas.openxmlformats.org/officeDocument/2006/relationships/image" Target="../media/image24.png"/><Relationship Id="rId8" Type="http://schemas.openxmlformats.org/officeDocument/2006/relationships/image" Target="../media/image12.png"/><Relationship Id="rId9"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8</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Performance Measurement</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Making execution visible, correctable and continuous</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Interpret performance evidence in relation to strategic objectives and organisational context.</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Discriminate meaningful strategic progress from activity, compliance and temporary variation.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Exercise balanced executive judgement when performance diverges from expectations.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Translate performance evidence into decisions, learning and corrective leadership action.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Performance Measurement?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whether reported activity demonstrates genuine strategic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Use performance evidence to determine timely realignment and corrective action.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1.1 · The execution visibility infrastructure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Are we actually moving closer to our Success in Practice?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From “What work was done?” to “What changed because of the work?”</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Four strategic purposes of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 Creates Visibility</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Where momentum is gained and where it stalls.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 Establishes Accountability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KPIs linked to enterprise OKRs make ownership visible.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 Execution Intelligence</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Data turned into decision insight.</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 Enables Timely Correction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Intervene while progress is recoverable.</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100" b="1" dirty="0">
                <a:solidFill>
                  <a:srgbClr val="1A5C2C"/>
                </a:solidFill>
                <a:latin typeface="Cambria" pitchFamily="34" charset="0"/>
                <a:ea typeface="Cambria" pitchFamily="34" charset="-122"/>
                <a:cs typeface="Cambria" pitchFamily="34" charset="-120"/>
              </a:rPr>
              <a:t>1.3 · From performance measurement to execution recovery</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Review</a:t>
            </a:r>
            <a:endParaRPr lang="en-US" sz="2600" dirty="0"/>
          </a:p>
        </p:txBody>
      </p:sp>
      <p:sp>
        <p:nvSpPr>
          <p:cNvPr id="7" name="Text 4"/>
          <p:cNvSpPr txBox="1"/>
          <p:nvPr/>
        </p:nvSpPr>
        <p:spPr>
          <a:xfrm>
            <a:off x="777240"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Establish execution reality.</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Realign</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Diagnose and address execution gaps.</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Restore</a:t>
            </a:r>
            <a:endParaRPr lang="en-US" sz="2600" dirty="0"/>
          </a:p>
        </p:txBody>
      </p:sp>
      <p:sp>
        <p:nvSpPr>
          <p:cNvPr id="17" name="Text 12"/>
          <p:cNvSpPr txBox="1"/>
          <p:nvPr/>
        </p:nvSpPr>
        <p:spPr>
          <a:xfrm>
            <a:off x="8354568" y="3159252"/>
            <a:ext cx="3057144" cy="30586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Rebuild execution momentum.</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Accountability Loop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Lack of accountability</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Reconnect purpose and ownership.</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Lack of skill</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Coaching, peer support, training, timeline.</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Misfit or structural constraint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Structural alignment discussion.</a:t>
            </a:r>
            <a:endParaRPr lang="en-US" sz="2400" dirty="0"/>
          </a:p>
          <a:p>
            <a:pPr marL="0" indent="0">
              <a:spcBef>
                <a:spcPts val="1200"/>
              </a:spcBef>
              <a:buNone/>
            </a:pPr>
            <a:r>
              <a:rPr lang="en-US" sz="2400" dirty="0" b="1">
                <a:solidFill>
                  <a:srgbClr val="1A5C2C"/>
                </a:solidFill>
                <a:latin typeface="Calibri" pitchFamily="34" charset="0"/>
                <a:ea typeface="Calibri" pitchFamily="34" charset="-122"/>
                <a:cs typeface="Calibri" pitchFamily="34" charset="-120"/>
              </a:rPr>
              <a:t>Achieved through GROW.</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Keep the performance conversation separate from the role conversation.</a:t>
            </a:r>
            <a:endParaRPr lang="en-US" sz="24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a:t>
            </a:r>
            <a:endParaRPr lang="en-US" sz="3600" dirty="0"/>
          </a:p>
        </p:txBody>
      </p:sp>
      <p:pic>
        <p:nvPicPr>
          <p:cNvPr id="3" name="Reflection 1.1" descr="ref_1.1.png"/>
          <p:cNvPicPr>
            <a:picLocks noChangeAspect="1"/>
          </p:cNvPicPr>
          <p:nvPr/>
        </p:nvPicPr>
        <p:blipFill>
          <a:blip r:embed="rId8"/>
          <a:stretch>
            <a:fillRect/>
          </a:stretch>
        </p:blipFill>
        <p:spPr>
          <a:xfrm>
            <a:off x="1691640" y="1463040"/>
            <a:ext cx="10058400" cy="1642775"/>
          </a:xfrm>
          <a:prstGeom prst="rect">
            <a:avLst/>
          </a:prstGeom>
        </p:spPr>
      </p:pic>
      <p:sp>
        <p:nvSpPr>
          <p:cNvPr id="4" name="Part 1.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1.1</a:t>
            </a:r>
          </a:p>
        </p:txBody>
      </p:sp>
      <p:pic>
        <p:nvPicPr>
          <p:cNvPr id="5" name="Reflection 1.4" descr="ref_1.4.png"/>
          <p:cNvPicPr>
            <a:picLocks noChangeAspect="1"/>
          </p:cNvPicPr>
          <p:nvPr/>
        </p:nvPicPr>
        <p:blipFill>
          <a:blip r:embed="rId7"/>
          <a:stretch>
            <a:fillRect/>
          </a:stretch>
        </p:blipFill>
        <p:spPr>
          <a:xfrm>
            <a:off x="1691640" y="3306982"/>
            <a:ext cx="10058400" cy="1311339"/>
          </a:xfrm>
          <a:prstGeom prst="rect">
            <a:avLst/>
          </a:prstGeom>
        </p:spPr>
      </p:pic>
      <p:sp>
        <p:nvSpPr>
          <p:cNvPr id="6" name="Part 1.4"/>
          <p:cNvSpPr/>
          <p:nvPr/>
        </p:nvSpPr>
        <p:spPr>
          <a:xfrm>
            <a:off x="548640" y="352831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1.4</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Performance Measurement Determines Execution Velocity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Lead a consistent review rhythm that sustains execution momentum.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Detect weakening review discipline and intervene before performance deteriorates.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Four consequences of weak review discipline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Early Warning Signals Are Missed</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Gradual Diffusion of Accountability</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Loss of Organisational Learning</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a:t>
            </a:r>
            <a:r>
              <a:rPr lang="en-US" sz="2600" dirty="0">
                <a:solidFill>
                  <a:srgbClr val="1F2A22"/>
                </a:solidFill>
                <a:latin typeface="Calibri" pitchFamily="34" charset="0"/>
                <a:ea typeface="Calibri" pitchFamily="34" charset="-122"/>
                <a:cs typeface="Calibri" pitchFamily="34" charset="-120"/>
              </a:rPr>
              <a:t>Erodes Leadership Credibility</a:t>
            </a:r>
            <a:endParaRPr lang="en-US" sz="26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ref_2.1.png"/>
          <p:cNvPicPr>
            <a:picLocks noChangeAspect="1"/>
          </p:cNvPicPr>
          <p:nvPr/>
        </p:nvPicPr>
        <p:blipFill>
          <a:blip r:embed="rId9"/>
          <a:stretch>
            <a:fillRect/>
          </a:stretch>
        </p:blipFill>
        <p:spPr>
          <a:xfrm>
            <a:off x="1691640" y="1463040"/>
            <a:ext cx="10058400" cy="1988623"/>
          </a:xfrm>
          <a:prstGeom prst="rect">
            <a:avLst/>
          </a:prstGeom>
        </p:spPr>
      </p:pic>
      <p:sp>
        <p:nvSpPr>
          <p:cNvPr id="4" name="Part 2.1"/>
          <p:cNvSpPr/>
          <p:nvPr/>
        </p:nvSpPr>
        <p:spPr>
          <a:xfrm>
            <a:off x="548640" y="2030216"/>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2.1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Performance Measurement Break Down Across Functions?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cross-functional breakdowns in reviewing and interpreting performance evidence.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Prioritise corrective action against the organisation’s most consequential measurement breakdown.</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Four fractures in performance measurement</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01 · Horizontal Coordination</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happen inside functions.</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02 · Evidence Quality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Narrative replaces verifiable indicators.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03 · Review Rhythm Breakdown</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become irregular.</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Gap 04 · Learning Suppression</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Reviews focus only on evaluation.</a:t>
            </a:r>
            <a:endParaRPr lang="en-US" sz="24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CXO performance gap contributors</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How you review performance</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Your meetings and your evidence.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5"/>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What you do</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A habit in those reviews.</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914400" y="4434840"/>
            <a:ext cx="274320" cy="274320"/>
          </a:xfrm>
          <a:prstGeom prst="rect">
            <a:avLst/>
          </a:prstGeom>
        </p:spPr>
      </p:pic>
      <p:sp>
        <p:nvSpPr>
          <p:cNvPr id="16" name="Text 11"/>
          <p:cNvSpPr txBox="1"/>
          <p:nvPr/>
        </p:nvSpPr>
        <p:spPr>
          <a:xfrm>
            <a:off x="1508760"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What happens as a result</a:t>
            </a:r>
            <a:endParaRPr lang="en-US" sz="2600" dirty="0"/>
          </a:p>
        </p:txBody>
      </p:sp>
      <p:sp>
        <p:nvSpPr>
          <p:cNvPr id="17" name="Text 12"/>
          <p:cNvSpPr txBox="1"/>
          <p:nvPr/>
        </p:nvSpPr>
        <p:spPr>
          <a:xfrm>
            <a:off x="777240"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habit opens a fracture of 3.1.</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3"/>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Your own role first</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Then the two roles closest to yours.</a:t>
            </a:r>
            <a:endParaRPr lang="en-US" sz="24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ref_3.1.png"/>
          <p:cNvPicPr>
            <a:picLocks noChangeAspect="1"/>
          </p:cNvPicPr>
          <p:nvPr/>
        </p:nvPicPr>
        <p:blipFill>
          <a:blip r:embed="rId6"/>
          <a:stretch>
            <a:fillRect/>
          </a:stretch>
        </p:blipFill>
        <p:spPr>
          <a:xfrm>
            <a:off x="1691640" y="1463040"/>
            <a:ext cx="10058400" cy="965491"/>
          </a:xfrm>
          <a:prstGeom prst="rect">
            <a:avLst/>
          </a:prstGeom>
        </p:spPr>
      </p:pic>
      <p:sp>
        <p:nvSpPr>
          <p:cNvPr id="4" name="Part 3.1"/>
          <p:cNvSpPr/>
          <p:nvPr/>
        </p:nvSpPr>
        <p:spPr>
          <a:xfrm>
            <a:off x="548640" y="1511445"/>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3.1</a:t>
            </a:r>
          </a:p>
        </p:txBody>
      </p:sp>
      <p:pic>
        <p:nvPicPr>
          <p:cNvPr id="5" name="Reflection 3.2" descr="r32.png"/>
          <p:cNvPicPr>
            <a:picLocks noChangeAspect="1"/>
          </p:cNvPicPr>
          <p:nvPr/>
        </p:nvPicPr>
        <p:blipFill>
          <a:blip r:embed="rId7"/>
          <a:stretch>
            <a:fillRect/>
          </a:stretch>
        </p:blipFill>
        <p:spPr>
          <a:xfrm>
            <a:off x="1691640" y="2977171"/>
            <a:ext cx="10058400" cy="1642775"/>
          </a:xfrm>
          <a:prstGeom prst="rect">
            <a:avLst/>
          </a:prstGeom>
        </p:spPr>
      </p:pic>
      <p:sp>
        <p:nvSpPr>
          <p:cNvPr id="4" name="Part 3.2"/>
          <p:cNvSpPr/>
          <p:nvPr/>
        </p:nvSpPr>
        <p:spPr>
          <a:xfrm>
            <a:off x="548640" y="3364218"/>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Cross-Leadership Performance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Integrate individual performance signals into an enterprise-wide assessment of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root causes of underperformance and select proportionate leadership responses.</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4.1 · The Enterprise Performance Intelligence Circle (EPIC)</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Signal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Collective Trajectory: % progress, evidence, momentum</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Signal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Early Warnings: one or two evidence-based signals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Signal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Execution Learning: one key learning</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Every contribution must be evidence-based.</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4.2 · The Accountability Loop role play</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Complaint resolution fell from 10 days to 8, then stalled, against a target of 5.</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Leader · Team member · Observer. The team member privately chooses the root cause.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Analysing the conversation with GROW</a:t>
            </a:r>
            <a:endParaRPr lang="en-US" sz="3600" dirty="0"/>
          </a:p>
        </p:txBody>
      </p:sp>
      <p:sp>
        <p:nvSpPr>
          <p:cNvPr id="3" name="Shape 1"/>
          <p:cNvSpPr/>
          <p:nvPr/>
        </p:nvSpPr>
        <p:spPr>
          <a:xfrm>
            <a:off x="548640" y="16916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G</a:t>
            </a:r>
          </a:p>
        </p:txBody>
      </p:sp>
      <p:sp>
        <p:nvSpPr>
          <p:cNvPr id="5" name="Text 2"/>
          <p:cNvSpPr txBox="1"/>
          <p:nvPr/>
        </p:nvSpPr>
        <p:spPr>
          <a:xfrm>
            <a:off x="1508760" y="14630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Goal  </a:t>
            </a:r>
            <a:r>
              <a:rPr lang="en-US" sz="2600" dirty="0">
                <a:solidFill>
                  <a:srgbClr val="1F2A22"/>
                </a:solidFill>
                <a:latin typeface="Calibri" pitchFamily="34" charset="0"/>
                <a:ea typeface="Calibri" pitchFamily="34" charset="-122"/>
                <a:cs typeface="Calibri" pitchFamily="34" charset="-120"/>
              </a:rPr>
              <a:t>What the leader aims to achieve: the root cause, alignment, or both.</a:t>
            </a:r>
            <a:endParaRPr lang="en-US" sz="2600" dirty="0"/>
          </a:p>
        </p:txBody>
      </p:sp>
      <p:sp>
        <p:nvSpPr>
          <p:cNvPr id="9" name="Shape 5"/>
          <p:cNvSpPr/>
          <p:nvPr/>
        </p:nvSpPr>
        <p:spPr>
          <a:xfrm>
            <a:off x="548640" y="30632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R</a:t>
            </a:r>
          </a:p>
        </p:txBody>
      </p:sp>
      <p:sp>
        <p:nvSpPr>
          <p:cNvPr id="11" name="Text 6"/>
          <p:cNvSpPr txBox="1"/>
          <p:nvPr/>
        </p:nvSpPr>
        <p:spPr>
          <a:xfrm>
            <a:off x="1508760" y="28346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Reality  </a:t>
            </a:r>
            <a:r>
              <a:rPr lang="en-US" sz="2600" dirty="0">
                <a:solidFill>
                  <a:srgbClr val="1F2A22"/>
                </a:solidFill>
                <a:latin typeface="Calibri" pitchFamily="34" charset="0"/>
                <a:ea typeface="Calibri" pitchFamily="34" charset="-122"/>
                <a:cs typeface="Calibri" pitchFamily="34" charset="-120"/>
              </a:rPr>
              <a:t>What stands behind the gap.</a:t>
            </a:r>
            <a:endParaRPr lang="en-US" sz="2600" dirty="0"/>
          </a:p>
        </p:txBody>
      </p:sp>
      <p:sp>
        <p:nvSpPr>
          <p:cNvPr id="12" name="Shape 7"/>
          <p:cNvSpPr/>
          <p:nvPr/>
        </p:nvSpPr>
        <p:spPr>
          <a:xfrm>
            <a:off x="548640" y="44348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O</a:t>
            </a:r>
          </a:p>
        </p:txBody>
      </p:sp>
      <p:sp>
        <p:nvSpPr>
          <p:cNvPr id="14" name="Text 8"/>
          <p:cNvSpPr txBox="1"/>
          <p:nvPr/>
        </p:nvSpPr>
        <p:spPr>
          <a:xfrm>
            <a:off x="1508760" y="42062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Options  </a:t>
            </a:r>
            <a:r>
              <a:rPr lang="en-US" sz="2600" dirty="0">
                <a:solidFill>
                  <a:srgbClr val="1F2A22"/>
                </a:solidFill>
                <a:latin typeface="Calibri" pitchFamily="34" charset="0"/>
                <a:ea typeface="Calibri" pitchFamily="34" charset="-122"/>
                <a:cs typeface="Calibri" pitchFamily="34" charset="-120"/>
              </a:rPr>
              <a:t>The ways forward the team member generates.</a:t>
            </a:r>
            <a:endParaRPr lang="en-US" sz="2600" dirty="0"/>
          </a:p>
        </p:txBody>
      </p:sp>
      <p:sp>
        <p:nvSpPr>
          <p:cNvPr id="15" name="Shape 9"/>
          <p:cNvSpPr/>
          <p:nvPr/>
        </p:nvSpPr>
        <p:spPr>
          <a:xfrm>
            <a:off x="548640" y="5806440"/>
            <a:ext cx="640080" cy="640080"/>
          </a:xfrm>
          <a:prstGeom prst="ellipse">
            <a:avLst/>
          </a:prstGeom>
          <a:solidFill>
            <a:srgbClr val="1A5C2C"/>
          </a:solidFill>
          <a:ln w="12700">
            <a:solidFill>
              <a:srgbClr val="1A5C2C"/>
            </a:solidFill>
            <a:prstDash val="solid"/>
          </a:ln>
        </p:spPr>
        <p:txBody>
          <a:bodyPr lIns="0" tIns="0" rIns="0" bIns="0" anchor="ctr"/>
          <a:lstStyle/>
          <a:p>
            <a:pPr algn="ctr"/>
            <a:r>
              <a:rPr lang="en-GB" sz="2400" b="1">
                <a:solidFill>
                  <a:srgbClr val="FFFFFF"/>
                </a:solidFill>
                <a:latin typeface="Cambria"/>
              </a:rPr>
              <a:t>W</a:t>
            </a:r>
          </a:p>
        </p:txBody>
      </p:sp>
      <p:sp>
        <p:nvSpPr>
          <p:cNvPr id="16" name="Text 10"/>
          <p:cNvSpPr txBox="1"/>
          <p:nvPr/>
        </p:nvSpPr>
        <p:spPr>
          <a:xfrm>
            <a:off x="1508760" y="5577840"/>
            <a:ext cx="10131552" cy="10972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Will  </a:t>
            </a:r>
            <a:r>
              <a:rPr lang="en-US" sz="2600" dirty="0">
                <a:solidFill>
                  <a:srgbClr val="1F2A22"/>
                </a:solidFill>
                <a:latin typeface="Calibri" pitchFamily="34" charset="0"/>
                <a:ea typeface="Calibri" pitchFamily="34" charset="-122"/>
                <a:cs typeface="Calibri" pitchFamily="34" charset="-120"/>
              </a:rPr>
              <a:t>What, by whom, by when, and the review date.</a:t>
            </a:r>
            <a:endParaRPr lang="en-US" sz="2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ref_4.1b.png"/>
          <p:cNvPicPr>
            <a:picLocks noChangeAspect="1"/>
          </p:cNvPicPr>
          <p:nvPr/>
        </p:nvPicPr>
        <p:blipFill>
          <a:blip r:embed="rId8"/>
          <a:stretch>
            <a:fillRect/>
          </a:stretch>
        </p:blipFill>
        <p:spPr>
          <a:xfrm>
            <a:off x="1691640" y="1463040"/>
            <a:ext cx="10058400" cy="1002755"/>
          </a:xfrm>
          <a:prstGeom prst="rect">
            <a:avLst/>
          </a:prstGeom>
        </p:spPr>
      </p:pic>
      <p:sp>
        <p:nvSpPr>
          <p:cNvPr id="4" name="Part 4.1"/>
          <p:cNvSpPr/>
          <p:nvPr/>
        </p:nvSpPr>
        <p:spPr>
          <a:xfrm>
            <a:off x="548640" y="1530077"/>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pic>
        <p:nvPicPr>
          <p:cNvPr id="5" name="Reflection 4.1" descr="ref_4.1c.png"/>
          <p:cNvPicPr>
            <a:picLocks noChangeAspect="1"/>
          </p:cNvPicPr>
          <p:nvPr/>
        </p:nvPicPr>
        <p:blipFill>
          <a:blip r:embed="rId9"/>
          <a:stretch>
            <a:fillRect/>
          </a:stretch>
        </p:blipFill>
        <p:spPr>
          <a:xfrm>
            <a:off x="1691640" y="2666962"/>
            <a:ext cx="10058400" cy="1357575"/>
          </a:xfrm>
          <a:prstGeom prst="rect">
            <a:avLst/>
          </a:prstGeom>
        </p:spPr>
      </p:pic>
      <p:sp>
        <p:nvSpPr>
          <p:cNvPr id="6" name="Part 4.1"/>
          <p:cNvSpPr/>
          <p:nvPr/>
        </p:nvSpPr>
        <p:spPr>
          <a:xfrm>
            <a:off x="548640" y="291140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3" name="Reflection 4.1" descr="ref_4.1a.png"/>
          <p:cNvPicPr>
            <a:picLocks noChangeAspect="1"/>
          </p:cNvPicPr>
          <p:nvPr/>
        </p:nvPicPr>
        <p:blipFill>
          <a:blip r:embed="rId8"/>
          <a:stretch>
            <a:fillRect/>
          </a:stretch>
        </p:blipFill>
        <p:spPr>
          <a:xfrm>
            <a:off x="1691640" y="1463040"/>
            <a:ext cx="10058400" cy="1311339"/>
          </a:xfrm>
          <a:prstGeom prst="rect">
            <a:avLst/>
          </a:prstGeom>
        </p:spPr>
      </p:pic>
      <p:sp>
        <p:nvSpPr>
          <p:cNvPr id="4" name="Part 4.1"/>
          <p:cNvSpPr/>
          <p:nvPr/>
        </p:nvSpPr>
        <p:spPr>
          <a:xfrm>
            <a:off x="548640" y="1684369"/>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4.1</a:t>
            </a:r>
          </a:p>
        </p:txBody>
      </p:sp>
      <p:pic>
        <p:nvPicPr>
          <p:cNvPr id="5" name="Reflection 4.2" descr="ref_4.2.png"/>
          <p:cNvPicPr>
            <a:picLocks noChangeAspect="1"/>
          </p:cNvPicPr>
          <p:nvPr/>
        </p:nvPicPr>
        <p:blipFill>
          <a:blip r:embed="rId9"/>
          <a:stretch>
            <a:fillRect/>
          </a:stretch>
        </p:blipFill>
        <p:spPr>
          <a:xfrm>
            <a:off x="1691640" y="2975546"/>
            <a:ext cx="10058400" cy="3285552"/>
          </a:xfrm>
          <a:prstGeom prst="rect">
            <a:avLst/>
          </a:prstGeom>
        </p:spPr>
      </p:pic>
      <p:sp>
        <p:nvSpPr>
          <p:cNvPr id="6" name="Part 4.2"/>
          <p:cNvSpPr/>
          <p:nvPr/>
        </p:nvSpPr>
        <p:spPr>
          <a:xfrm>
            <a:off x="548640" y="418398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4.2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9">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Applying the Four Consequences of Weak Review Discipline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Make evidence-based recovery decisions when results depart from expectations.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executive decisions and routines that protect sustained review discipline.</a:t>
            </a:r>
            <a:endParaRPr lang="en-US" sz="24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Decision points against the four consequences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Early Warning Signals Are Missed  ·  individuals · conditions</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5"/>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Gradual Diffusion of Accountability  ·  individuals · conditions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Loss of Organisational Learning  ·  individuals · conditions</a:t>
            </a:r>
            <a:endParaRPr lang="en-US" sz="26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04  </a:t>
            </a:r>
            <a:r>
              <a:rPr lang="en-US" sz="2600" dirty="0">
                <a:solidFill>
                  <a:srgbClr val="1F2A22"/>
                </a:solidFill>
                <a:latin typeface="Calibri" pitchFamily="34" charset="0"/>
                <a:ea typeface="Calibri" pitchFamily="34" charset="-122"/>
                <a:cs typeface="Calibri" pitchFamily="34" charset="-120"/>
              </a:rPr>
              <a:t>Erodes Leadership Credibility  ·  individuals · conditions</a:t>
            </a:r>
            <a:endParaRPr lang="en-US" sz="2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 · Testing your WARD</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7"/>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01  </a:t>
            </a:r>
            <a:r>
              <a:rPr lang="en-US" sz="2600" dirty="0">
                <a:solidFill>
                  <a:srgbClr val="1F2A22"/>
                </a:solidFill>
                <a:latin typeface="Calibri" pitchFamily="34" charset="0"/>
                <a:ea typeface="Calibri" pitchFamily="34" charset="-122"/>
                <a:cs typeface="Calibri" pitchFamily="34" charset="-120"/>
              </a:rPr>
              <a:t>The red flag  ·  one waypoint, beyond the alert</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8"/>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02  </a:t>
            </a:r>
            <a:r>
              <a:rPr lang="en-US" sz="2600" dirty="0">
                <a:solidFill>
                  <a:srgbClr val="1F2A22"/>
                </a:solidFill>
                <a:latin typeface="Calibri" pitchFamily="34" charset="0"/>
                <a:ea typeface="Calibri" pitchFamily="34" charset="-122"/>
                <a:cs typeface="Calibri" pitchFamily="34" charset="-120"/>
              </a:rPr>
              <a:t>What explains the gap  ·  individuals · conditions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9"/>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03  </a:t>
            </a:r>
            <a:r>
              <a:rPr lang="en-US" sz="2600" dirty="0">
                <a:solidFill>
                  <a:srgbClr val="1F2A22"/>
                </a:solidFill>
                <a:latin typeface="Calibri" pitchFamily="34" charset="0"/>
                <a:ea typeface="Calibri" pitchFamily="34" charset="-122"/>
                <a:cs typeface="Calibri" pitchFamily="34" charset="-120"/>
              </a:rPr>
              <a:t>The recovery  ·  what, who decides, when checked again</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611</TotalTime>
  <Words>12023</Words>
  <Application>Microsoft Office PowerPoint</Application>
  <PresentationFormat>Widescreen</PresentationFormat>
  <Paragraphs>474</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8 · Performance Measurement</dc:title>
  <dc:subject>PptxGenJS Presentation</dc:subject>
  <dc:creator>Institute of Behavioural Strategy &amp; Leadership</dc:creator>
  <cp:lastModifiedBy>Carol Lupiya</cp:lastModifiedBy>
  <cp:revision>3</cp:revision>
  <dcterms:created xsi:type="dcterms:W3CDTF">2026-09-29T13:20:37Z</dcterms:created>
  <dcterms:modified xsi:type="dcterms:W3CDTF">2026-10-12T19:55:38Z</dcterms:modified>
</cp:coreProperties>
</file>