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 id="2147483670" r:id="rId3"/>
  </p:sldMasterIdLst>
  <p:notesMasterIdLst>
    <p:notesMasterId r:id="rId38"/>
  </p:notesMasterIdLst>
  <p:sldIdLst>
    <p:sldId id="256" r:id="rId4"/>
    <p:sldId id="257" r:id="rId5"/>
    <p:sldId id="258" r:id="rId6"/>
    <p:sldId id="259" r:id="rId7"/>
    <p:sldId id="260" r:id="rId8"/>
    <p:sldId id="261" r:id="rId9"/>
    <p:sldId id="262" r:id="rId10"/>
    <p:sldId id="263" r:id="rId11"/>
    <p:sldId id="264" r:id="rId12"/>
    <p:sldId id="265" r:id="rId13"/>
    <p:sldId id="287" r:id="rId14"/>
    <p:sldId id="266" r:id="rId15"/>
    <p:sldId id="267" r:id="rId16"/>
    <p:sldId id="268" r:id="rId17"/>
    <p:sldId id="269" r:id="rId18"/>
    <p:sldId id="270" r:id="rId19"/>
    <p:sldId id="296" r:id="rId20"/>
    <p:sldId id="297" r:id="rId21"/>
    <p:sldId id="298" r:id="rId22"/>
    <p:sldId id="299" r:id="rId23"/>
    <p:sldId id="300" r:id="rId24"/>
    <p:sldId id="288" r:id="rId25"/>
    <p:sldId id="274" r:id="rId26"/>
    <p:sldId id="275" r:id="rId27"/>
    <p:sldId id="276" r:id="rId28"/>
    <p:sldId id="277" r:id="rId29"/>
    <p:sldId id="301" r:id="rId30"/>
    <p:sldId id="289" r:id="rId31"/>
    <p:sldId id="284" r:id="rId35"/>
    <p:sldId id="285" r:id="rId36"/>
    <p:sldId id="279" r:id="rId32"/>
    <p:sldId id="280" r:id="rId33"/>
    <p:sldId id="302" r:id="rId34"/>
    <p:sldId id="286"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31" autoAdjust="0"/>
    <p:restoredTop sz="66900" autoAdjust="0"/>
  </p:normalViewPr>
  <p:slideViewPr>
    <p:cSldViewPr snapToGrid="0" snapToObjects="1">
      <p:cViewPr>
        <p:scale>
          <a:sx n="35" d="100"/>
          <a:sy n="35" d="100"/>
        </p:scale>
        <p:origin x="1644" y="278"/>
      </p:cViewPr>
      <p:guideLst/>
    </p:cSldViewPr>
  </p:slideViewPr>
  <p:notesTextViewPr>
    <p:cViewPr>
      <p:scale>
        <a:sx n="1" d="1"/>
        <a:sy n="1" d="1"/>
      </p:scale>
      <p:origin x="0" y="-529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4.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495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UNIT 3 · SiP KISS MAPPING &amp; OKR DEFINITION</a:t>
            </a:r>
          </a:p>
          <a:p>
            <a:r>
              <a:rPr lang="en-GB" dirty="0"/>
              <a:t>Module 2 · Direction · Unit 3</a:t>
            </a:r>
          </a:p>
          <a:p>
            <a:endParaRPr lang="en-GB" dirty="0"/>
          </a:p>
          <a:p>
            <a:r>
              <a:rPr lang="en-GB" b="1" dirty="0"/>
              <a:t>HOW THE UNIT RUNS:</a:t>
            </a:r>
          </a:p>
          <a:p>
            <a:r>
              <a:rPr lang="en-GB" dirty="0"/>
              <a:t>1. You teach the whole unit from this deck first, from Section 1 to the Unit Summary. The deck is the teaching material. The teaching includes one learning round of the Strategy Airport game, played with the room.</a:t>
            </a:r>
          </a:p>
          <a:p>
            <a:r>
              <a:rPr lang="en-GB" dirty="0"/>
              <a:t>2. Participants then go to the portal and complete their own page, in the session or after it: the reflections, the matching exercise, the group work of Section 5 and their own Strategy Airport learning round.</a:t>
            </a:r>
          </a:p>
          <a:p>
            <a:r>
              <a:rPr lang="en-GB" dirty="0"/>
              <a:t>3. Section 5 on the portal is group work for the Capstone. The group agrees each entry and one member acts as scribe.</a:t>
            </a:r>
          </a:p>
          <a:p>
            <a:r>
              <a:rPr lang="en-GB" dirty="0"/>
              <a:t>Every member then types the agreed entries into their own page.</a:t>
            </a:r>
          </a:p>
          <a:p>
            <a:r>
              <a:rPr lang="en-GB" dirty="0"/>
              <a:t>4. The matching exercise in Section 3 and the game in Section 4 are portfolio work.</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Have the facilitator file ready in your browser at Section 4, so that the Strategy Airport game can be shared when you reach it.</a:t>
            </a:r>
          </a:p>
          <a:p>
            <a:endParaRPr lang="en-GB" dirty="0"/>
          </a:p>
          <a:p>
            <a:r>
              <a:rPr lang="en-GB" dirty="0"/>
              <a:t>Where the outputs go next:</a:t>
            </a:r>
          </a:p>
          <a:p>
            <a:r>
              <a:rPr lang="en-GB" dirty="0"/>
              <a:t>- The confirmed KISS map, Enterprise Priorities and Enterprise OKRs feed the team’s Capstone Blueprint.</a:t>
            </a:r>
          </a:p>
          <a:p>
            <a:endParaRPr lang="en-GB" dirty="0"/>
          </a:p>
          <a:p>
            <a:endParaRPr lang="en-GB" dirty="0"/>
          </a:p>
          <a:p>
            <a:r>
              <a:rPr lang="en-GB" b="1" dirty="0"/>
              <a:t>UNIT INTENT</a:t>
            </a:r>
          </a:p>
          <a:p>
            <a:r>
              <a:rPr lang="en-GB" dirty="0"/>
              <a:t>Unit overview (facilitator file): This unit guides the leadership team from Success in Practice into a focused, measurable execution architecture — through KISS reflection, OKR construction, and collective prioritisation.</a:t>
            </a:r>
          </a:p>
          <a:p>
            <a:endParaRPr lang="en-GB" dirty="0"/>
          </a:p>
          <a:p>
            <a:r>
              <a:rPr lang="en-GB" dirty="0"/>
              <a:t>Unit 3 converts Success in Practice into a measurable execution architecture. The KISS reflection examines current practice honestly before any target is set; OKRs then express the enterprise priorities that reflection reveals.</a:t>
            </a:r>
          </a:p>
          <a:p>
            <a:endParaRPr lang="en-GB" dirty="0"/>
          </a:p>
          <a:p>
            <a:r>
              <a:rPr lang="en-GB" dirty="0"/>
              <a:t>The five-step path is the core of the unit. It moves executives from functional objectives to enterprise priorities judged on strategic merit.</a:t>
            </a:r>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b="1" dirty="0"/>
              <a:t>Read the four outcomes aloud and say where the unit delivers each one.</a:t>
            </a:r>
          </a:p>
          <a:p>
            <a:r>
              <a:rPr lang="en-GB" dirty="0"/>
              <a:t>- Outcome 1 is built in 1.2 and 1.3 (the four KISS filters and the four SiP domains) and produced in 5.1 (the group’s KISS map).</a:t>
            </a:r>
          </a:p>
          <a:p>
            <a:r>
              <a:rPr lang="en-GB" dirty="0"/>
              <a:t>- Outcome 2 is built in 1.5 (the five steps and the Prioritisation Matrix) and in Section 3 (the natural emphasis of each leadership role), and produced in 5.2 (the Enterprise Priorities).</a:t>
            </a:r>
          </a:p>
          <a:p>
            <a:r>
              <a:rPr lang="en-GB" dirty="0"/>
              <a:t>- Outcome 3 is built in 1.4 (Objectives and Key Results) and produced in 5.2 (the Enterprise OKRs) and in 4.1 (the Strategy Airport flight plan).</a:t>
            </a:r>
          </a:p>
          <a:p>
            <a:r>
              <a:rPr lang="en-GB" dirty="0"/>
              <a:t>- Outcome 4 is shown in 2.2 (the worked example, from one SiP statement to its OKRs) and produced in 5.2, where every Key Result names its contributing roles.</a:t>
            </a:r>
          </a:p>
          <a:p>
            <a:endParaRPr lang="en-GB" dirty="0"/>
          </a:p>
          <a:p>
            <a:r>
              <a:rPr lang="en-GB" dirty="0"/>
              <a:t>Each section slide carries that section’s two learning outcomes.</a:t>
            </a:r>
          </a:p>
          <a:p>
            <a:endParaRPr lang="en-GB" dirty="0"/>
          </a:p>
          <a:p>
            <a:r>
              <a:rPr lang="en-GB" b="1" dirty="0"/>
              <a:t>QUESTION TO ASK:</a:t>
            </a:r>
          </a:p>
          <a:p>
            <a:r>
              <a:rPr lang="en-GB" dirty="0"/>
              <a:t>"Which of these four outcomes would make the largest difference to how your leadership team works today?"</a:t>
            </a:r>
          </a:p>
          <a:p>
            <a:endParaRPr lang="en-GB" dirty="0"/>
          </a:p>
          <a:p>
            <a:r>
              <a:rPr lang="en-GB"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3 prepare the thinking, Section 5 is where each group produces its outputs for the Capstone, and Section 4 is a game: played first with the room, then by each participant alone.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dirty="0"/>
              <a:t>- </a:t>
            </a:r>
            <a:r>
              <a:rPr lang="en-GB" b="1" dirty="0"/>
              <a:t>Section 1 · Awareness </a:t>
            </a:r>
            <a:r>
              <a:rPr lang="en-GB" dirty="0"/>
              <a:t>— What: KISS (Keep, Improve, Start, Stop), the four SiP domains it is applied to, the anatomy of Objectives and Key Results, and the five steps from KISS output to enterprise OKRs.</a:t>
            </a:r>
          </a:p>
          <a:p>
            <a:endParaRPr lang="en-GB" dirty="0"/>
          </a:p>
          <a:p>
            <a:r>
              <a:rPr lang="en-GB" b="1" dirty="0"/>
              <a:t>- Section 2 · Intelligence </a:t>
            </a:r>
            <a:r>
              <a:rPr lang="en-GB" dirty="0"/>
              <a:t>— Why: The danger of going straight into setting objectives and one worked example that follows a SiP statement through KISS and the five steps.</a:t>
            </a:r>
          </a:p>
          <a:p>
            <a:endParaRPr lang="en-GB" dirty="0"/>
          </a:p>
          <a:p>
            <a:r>
              <a:rPr lang="en-GB" b="1" dirty="0"/>
              <a:t>- Section 3 · Extrapolating </a:t>
            </a:r>
            <a:r>
              <a:rPr lang="en-GB" dirty="0"/>
              <a:t>— Where: the natural OKR emphasis of each leadership role, its typical hot zone and its alignment question.</a:t>
            </a:r>
          </a:p>
          <a:p>
            <a:endParaRPr lang="en-GB" dirty="0"/>
          </a:p>
          <a:p>
            <a:r>
              <a:rPr lang="en-GB" b="1" dirty="0"/>
              <a:t>- Section 4 · Integration </a:t>
            </a:r>
            <a:r>
              <a:rPr lang="en-GB" dirty="0"/>
              <a:t>— Collective: the Strategy Airport game, played with the room in the lesson and then by each participant alone.</a:t>
            </a:r>
          </a:p>
          <a:p>
            <a:endParaRPr lang="en-GB" dirty="0"/>
          </a:p>
          <a:p>
            <a:r>
              <a:rPr lang="en-GB" dirty="0"/>
              <a:t>- </a:t>
            </a:r>
            <a:r>
              <a:rPr lang="en-GB" b="1" dirty="0"/>
              <a:t>Section 5 · Application </a:t>
            </a:r>
            <a:r>
              <a:rPr lang="en-GB" dirty="0"/>
              <a:t>— In Practice: each group translates its Success in Practice into a KISS map, follows the five steps to convert to prioritised OKRs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question that carries the unit, from Success in Practice to action.</a:t>
            </a:r>
          </a:p>
          <a:p>
            <a:r>
              <a:rPr lang="en-GB" dirty="0"/>
              <a:t>2. 1.2 and 1.3: the four KISS filters, and the four SiP domains they are applied to.</a:t>
            </a:r>
          </a:p>
          <a:p>
            <a:r>
              <a:rPr lang="en-GB" dirty="0"/>
              <a:t>3. 1.4: the anatomy of Objectives and Key Results.</a:t>
            </a:r>
          </a:p>
          <a:p>
            <a:r>
              <a:rPr lang="en-GB" dirty="0"/>
              <a:t>4. 1.5: the five steps from KISS output to enterprise OKRs, then Step 5 in detail: the Prioritisation Matrix.</a:t>
            </a:r>
          </a:p>
          <a:p>
            <a:r>
              <a:rPr lang="en-GB" dirty="0"/>
              <a:t>5. The Section 1 Reflections slide: the reflection participants write on the portal after the teaching.</a:t>
            </a:r>
          </a:p>
          <a:p>
            <a:endParaRPr lang="en-GB" dirty="0"/>
          </a:p>
          <a:p>
            <a:r>
              <a:rPr lang="en-GB" b="1" dirty="0"/>
              <a:t>HOW TO OPEN THE SECTION:</a:t>
            </a:r>
          </a:p>
          <a:p>
            <a:endParaRPr lang="en-GB" dirty="0"/>
          </a:p>
          <a:p>
            <a:r>
              <a:rPr lang="en-GB" b="1" dirty="0"/>
              <a:t>1. Link from Unit 2.</a:t>
            </a:r>
          </a:p>
          <a:p>
            <a:r>
              <a:rPr lang="en-GB" dirty="0"/>
              <a:t>Say: "In Unit 2, we built our Strategy Intent Statement and our Success in Practice.</a:t>
            </a:r>
          </a:p>
          <a:p>
            <a:r>
              <a:rPr lang="en-GB" dirty="0"/>
              <a:t>Today we answer the harder question: what must actually change in this organisation to make that future real?"</a:t>
            </a:r>
          </a:p>
          <a:p>
            <a:endParaRPr lang="en-GB" dirty="0"/>
          </a:p>
          <a:p>
            <a:r>
              <a:rPr lang="en-GB" b="1" dirty="0"/>
              <a:t>2. Read the two section learning outcomes from the slide.</a:t>
            </a:r>
          </a:p>
          <a:p>
            <a:r>
              <a:rPr lang="en-GB" b="1" dirty="0"/>
              <a:t>SECTION LEARNING OUTCOMES:</a:t>
            </a:r>
          </a:p>
          <a:p>
            <a:r>
              <a:rPr lang="en-GB" dirty="0"/>
              <a:t>1. Distinguish the current practices that reinforce strategic progress from those that constrain it.</a:t>
            </a:r>
          </a:p>
          <a:p>
            <a:r>
              <a:rPr lang="en-GB" dirty="0"/>
              <a:t>2. T</a:t>
            </a:r>
            <a:r>
              <a:rPr lang="en-ZA" sz="1200" b="0" i="0" kern="1200" dirty="0" err="1">
                <a:solidFill>
                  <a:schemeClr val="tx1"/>
                </a:solidFill>
                <a:effectLst/>
                <a:latin typeface="+mn-lt"/>
                <a:ea typeface="+mn-ea"/>
                <a:cs typeface="+mn-cs"/>
              </a:rPr>
              <a:t>ranslate</a:t>
            </a:r>
            <a:r>
              <a:rPr lang="en-ZA" sz="1200" b="0" i="0" kern="1200" dirty="0">
                <a:solidFill>
                  <a:schemeClr val="tx1"/>
                </a:solidFill>
                <a:effectLst/>
                <a:latin typeface="+mn-lt"/>
                <a:ea typeface="+mn-ea"/>
                <a:cs typeface="+mn-cs"/>
              </a:rPr>
              <a:t> the intent to measurable results.</a:t>
            </a:r>
            <a:endParaRPr lang="en-GB" dirty="0"/>
          </a:p>
          <a:p>
            <a:endParaRPr lang="en-GB" dirty="0"/>
          </a:p>
          <a:p>
            <a:r>
              <a:rPr lang="en-GB" b="1" dirty="0"/>
              <a:t>3. Frame the unit.</a:t>
            </a:r>
          </a:p>
          <a:p>
            <a:r>
              <a:rPr lang="en-GB" dirty="0"/>
              <a:t>Say: "This unit is the bridge between the SiP your group has built and the measurable execution reality you must now create.</a:t>
            </a:r>
          </a:p>
          <a:p>
            <a:r>
              <a:rPr lang="en-GB" dirty="0"/>
              <a:t>The KISS reflection is a direct examination of the organisation against the specific future you have described."</a:t>
            </a:r>
          </a:p>
          <a:p>
            <a:r>
              <a:rPr lang="en-GB" dirty="0"/>
              <a:t>Add: "KISS is a practical act of honesty."</a:t>
            </a:r>
          </a:p>
          <a:p>
            <a:endParaRPr lang="en-GB" dirty="0"/>
          </a:p>
          <a:p>
            <a:r>
              <a:rPr lang="en-GB" b="1" dirty="0"/>
              <a:t>5. Bridge to 1.1.</a:t>
            </a:r>
          </a:p>
          <a:p>
            <a:r>
              <a:rPr lang="en-GB" dirty="0"/>
              <a:t>Say: "We start with one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1.1 — TRANSLATING SUCCESS IN PRACTICE INTO ACTION (FOUNDATION)</a:t>
            </a:r>
          </a:p>
          <a:p>
            <a:endParaRPr lang="en-GB" dirty="0"/>
          </a:p>
          <a:p>
            <a:r>
              <a:rPr lang="en-GB" b="1" dirty="0"/>
              <a:t>HOW TO TEACH IT:</a:t>
            </a:r>
          </a:p>
          <a:p>
            <a:endParaRPr lang="en-GB" dirty="0"/>
          </a:p>
          <a:p>
            <a:r>
              <a:rPr lang="en-GB" b="1" dirty="0"/>
              <a:t>1. Say where each group stands.</a:t>
            </a:r>
          </a:p>
          <a:p>
            <a:r>
              <a:rPr lang="en-GB" b="1" dirty="0"/>
              <a:t>Say: </a:t>
            </a:r>
            <a:r>
              <a:rPr lang="en-GB" dirty="0"/>
              <a:t>"Your group has produced a Strategy Intent Statement and four Success in Practice statements, one for each SiP domain.</a:t>
            </a:r>
          </a:p>
          <a:p>
            <a:r>
              <a:rPr lang="en-GB" dirty="0"/>
              <a:t>Together they provide a vivid and shared description of the future organisation: how customers experience the enterprise, how operations function, how people collaborate, and what value the organisation consistently creates."</a:t>
            </a:r>
          </a:p>
          <a:p>
            <a:endParaRPr lang="en-GB" dirty="0"/>
          </a:p>
          <a:p>
            <a:r>
              <a:rPr lang="en-GB" b="1" dirty="0"/>
              <a:t>2. Read the question on the slide aloud.</a:t>
            </a:r>
          </a:p>
          <a:p>
            <a:r>
              <a:rPr lang="en-GB" dirty="0"/>
              <a:t>"If the Success in Practice we described is the future organisation, what must change in the organisation today to make that future possible?"</a:t>
            </a:r>
          </a:p>
          <a:p>
            <a:r>
              <a:rPr lang="en-GB" dirty="0"/>
              <a:t>Ask participants to sit with it for a moment.</a:t>
            </a:r>
          </a:p>
          <a:p>
            <a:endParaRPr lang="en-GB" dirty="0"/>
          </a:p>
          <a:p>
            <a:r>
              <a:rPr lang="en-GB" b="1" dirty="0"/>
              <a:t>3. Say what comes before the targets.</a:t>
            </a:r>
          </a:p>
          <a:p>
            <a:r>
              <a:rPr lang="en-GB" b="1" dirty="0"/>
              <a:t>Say: </a:t>
            </a:r>
            <a:r>
              <a:rPr lang="en-GB" dirty="0"/>
              <a:t>"The next step is to move from this future description to a practical execution agenda.</a:t>
            </a:r>
          </a:p>
          <a:p>
            <a:r>
              <a:rPr lang="en-GB" dirty="0"/>
              <a:t>Before defining Objectives and Key Results, the organisation must first examine its current operating reality in relation to the SiP."</a:t>
            </a:r>
          </a:p>
          <a:p>
            <a:endParaRPr lang="en-GB" dirty="0"/>
          </a:p>
          <a:p>
            <a:r>
              <a:rPr lang="en-GB" b="1" dirty="0"/>
              <a:t>Deepen, say</a:t>
            </a:r>
            <a:r>
              <a:rPr lang="en-GB" dirty="0"/>
              <a:t>: "By the time a programme is announced, the culture that will carry it or starve it is already in place.</a:t>
            </a:r>
          </a:p>
          <a:p>
            <a:r>
              <a:rPr lang="en-GB" dirty="0"/>
              <a:t>Before launch, sit with the team that will execute it and ask: what in our current way of working will feed or fight this?</a:t>
            </a:r>
          </a:p>
          <a:p>
            <a:r>
              <a:rPr lang="en-GB" dirty="0"/>
              <a:t>Fix that before the launch date."</a:t>
            </a:r>
          </a:p>
          <a:p>
            <a:r>
              <a:rPr lang="en-GB" dirty="0"/>
              <a:t>(Insight: What will feed or fight this. Source: Journal, 23 April 2026 — Professional Insights: Strategy)</a:t>
            </a:r>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1.2 — KISS: KEEP · IMPROVE · START · STOP (4 REFLECTIVE FILTERS)</a:t>
            </a:r>
          </a:p>
          <a:p>
            <a:endParaRPr lang="en-GB" dirty="0"/>
          </a:p>
          <a:p>
            <a:r>
              <a:rPr lang="en-GB" b="1" dirty="0"/>
              <a:t>HOW TO TEACH IT:</a:t>
            </a:r>
          </a:p>
          <a:p>
            <a:endParaRPr lang="en-GB" dirty="0"/>
          </a:p>
          <a:p>
            <a:r>
              <a:rPr lang="en-GB" b="1" dirty="0"/>
              <a:t>1. Introduce the filter.</a:t>
            </a:r>
          </a:p>
          <a:p>
            <a:r>
              <a:rPr lang="en-GB" b="1" dirty="0"/>
              <a:t>Say: </a:t>
            </a:r>
            <a:r>
              <a:rPr lang="en-GB" dirty="0"/>
              <a:t>"The Strategy2Results® process introduces a reflective step designed to answer this question.</a:t>
            </a:r>
          </a:p>
          <a:p>
            <a:r>
              <a:rPr lang="en-GB" dirty="0"/>
              <a:t>The SiP statements are passed through a simple but powerful filter called KISS: Keep, Improve, Start, Stop.</a:t>
            </a:r>
          </a:p>
          <a:p>
            <a:r>
              <a:rPr lang="en-GB" dirty="0"/>
              <a:t>Each element asks you to examine the organisation in relation to the future state described in the SiP."</a:t>
            </a:r>
          </a:p>
          <a:p>
            <a:r>
              <a:rPr lang="en-GB" dirty="0"/>
              <a:t>Tell participants: we take the four filters one at a time. </a:t>
            </a:r>
          </a:p>
          <a:p>
            <a:endParaRPr lang="en-GB" dirty="0"/>
          </a:p>
          <a:p>
            <a:r>
              <a:rPr lang="en-GB" b="1" dirty="0"/>
              <a:t>2. KEEP — Protect what is already working.</a:t>
            </a:r>
          </a:p>
          <a:p>
            <a:r>
              <a:rPr lang="en-GB" b="1" dirty="0"/>
              <a:t>Say</a:t>
            </a:r>
            <a:r>
              <a:rPr lang="en-GB" dirty="0"/>
              <a:t>: "KEEP identifies the practices, capabilities, and behaviours that are already moving the organisation toward the SiP and should therefore be protected and reinforced.</a:t>
            </a:r>
          </a:p>
          <a:p>
            <a:r>
              <a:rPr lang="en-GB" dirty="0"/>
              <a:t>These are strategic assets that must not be disrupted in the pursuit of change."</a:t>
            </a:r>
          </a:p>
          <a:p>
            <a:endParaRPr lang="en-GB" dirty="0"/>
          </a:p>
          <a:p>
            <a:r>
              <a:rPr lang="en-GB" b="1" dirty="0"/>
              <a:t>Deepen, say: </a:t>
            </a:r>
            <a:r>
              <a:rPr lang="en-GB" dirty="0"/>
              <a:t>"Organisations that abandon everything from their history each time a new leader arrives lose the institutional knowledge, relationships and infrastructure that took years to build.</a:t>
            </a:r>
          </a:p>
          <a:p>
            <a:r>
              <a:rPr lang="en-GB" dirty="0"/>
              <a:t>Before building new, assess what was working, what has been buried and what needs restoring."</a:t>
            </a:r>
          </a:p>
          <a:p>
            <a:r>
              <a:rPr lang="en-GB" dirty="0"/>
              <a:t>(Insight: KEEP. Source: Journal, 18 January 2026 — Professional Insights: Strategy)</a:t>
            </a:r>
          </a:p>
          <a:p>
            <a:endParaRPr lang="en-GB" dirty="0"/>
          </a:p>
          <a:p>
            <a:r>
              <a:rPr lang="en-GB" b="1" dirty="0"/>
              <a:t>3. IMPROVE — Strengthen what is partially working.</a:t>
            </a:r>
          </a:p>
          <a:p>
            <a:r>
              <a:rPr lang="en-GB" b="1" dirty="0"/>
              <a:t>Say: </a:t>
            </a:r>
            <a:r>
              <a:rPr lang="en-GB" dirty="0"/>
              <a:t>"IMPROVE highlights areas where the organisation is already moving in the right direction but where performance, coordination, or capability must strengthen to support the SiP more fully.</a:t>
            </a:r>
          </a:p>
          <a:p>
            <a:r>
              <a:rPr lang="en-GB" dirty="0"/>
              <a:t>These are often the highest-leverage interventions."</a:t>
            </a:r>
          </a:p>
          <a:p>
            <a:endParaRPr lang="en-GB" dirty="0"/>
          </a:p>
          <a:p>
            <a:r>
              <a:rPr lang="en-GB" b="1" dirty="0"/>
              <a:t>4. START — Introduce what does not yet exist.</a:t>
            </a:r>
          </a:p>
          <a:p>
            <a:r>
              <a:rPr lang="en-GB" b="1" dirty="0"/>
              <a:t>Say: </a:t>
            </a:r>
            <a:r>
              <a:rPr lang="en-GB" dirty="0"/>
              <a:t>"START identifies new practices, capabilities, or initiatives that do not yet exist but will be necessary for the organisation to operate in the way described in the SiP.</a:t>
            </a:r>
          </a:p>
          <a:p>
            <a:r>
              <a:rPr lang="en-GB" dirty="0"/>
              <a:t>These represent genuine strategic gaps."</a:t>
            </a:r>
          </a:p>
          <a:p>
            <a:endParaRPr lang="en-GB" dirty="0"/>
          </a:p>
          <a:p>
            <a:r>
              <a:rPr lang="en-GB" b="1" dirty="0"/>
              <a:t>5. STOP — Eliminate what contradicts the SiP.</a:t>
            </a:r>
          </a:p>
          <a:p>
            <a:r>
              <a:rPr lang="en-GB" b="1" dirty="0"/>
              <a:t>Say: </a:t>
            </a:r>
            <a:r>
              <a:rPr lang="en-GB" dirty="0"/>
              <a:t>"STOP surfaces activities, routines, or commitments that consume energy and resources but do not contribute to the future organisation described in the SiP.</a:t>
            </a:r>
          </a:p>
          <a:p>
            <a:r>
              <a:rPr lang="en-GB" dirty="0"/>
              <a:t>Stopping is often harder than starting — and more strategically valuable."</a:t>
            </a:r>
          </a:p>
          <a:p>
            <a:endParaRPr lang="en-GB" dirty="0"/>
          </a:p>
          <a:p>
            <a:r>
              <a:rPr lang="en-GB" dirty="0"/>
              <a:t>STOP is the hardest filter. Stay here longer.</a:t>
            </a:r>
          </a:p>
          <a:p>
            <a:endParaRPr lang="en-GB" dirty="0"/>
          </a:p>
          <a:p>
            <a:r>
              <a:rPr lang="en-GB" b="1" dirty="0"/>
              <a:t>Deepen, say: </a:t>
            </a:r>
            <a:r>
              <a:rPr lang="en-GB" dirty="0"/>
              <a:t>"Audit the initiatives, products, partnerships and assumptions still drawing resources but no longer drawing contributing to strategic outcome, and name the ones that need to be put away before the next move can land."</a:t>
            </a:r>
          </a:p>
          <a:p>
            <a:r>
              <a:rPr lang="en-GB" dirty="0"/>
              <a:t>(Insight: STOP · the strategic shelf. Source: Journal, 7 May 2026 — Professional Insights: Strategy)</a:t>
            </a:r>
          </a:p>
          <a:p>
            <a:endParaRPr lang="en-GB" dirty="0"/>
          </a:p>
          <a:p>
            <a:r>
              <a:rPr lang="en-GB" b="1" dirty="0"/>
              <a:t>6. Pair START with STOP.</a:t>
            </a:r>
          </a:p>
          <a:p>
            <a:r>
              <a:rPr lang="en-GB" dirty="0"/>
              <a:t>Say: "Alignment needs the active removal of competing influences.</a:t>
            </a:r>
          </a:p>
          <a:p>
            <a:r>
              <a:rPr lang="en-GB" dirty="0"/>
              <a:t>Name what must go alongside what must be chosen: the choice is half of the alignment and the removal is the other half."</a:t>
            </a:r>
          </a:p>
          <a:p>
            <a:r>
              <a:rPr lang="en-GB" dirty="0"/>
              <a:t>(Insight: START and STOP together. Source: Journal, 14 April 2026 — Professional Insights: Culture)</a:t>
            </a:r>
          </a:p>
          <a:p>
            <a:endParaRPr lang="en-GB" dirty="0"/>
          </a:p>
          <a:p>
            <a:r>
              <a:rPr lang="en-GB" b="1" dirty="0"/>
              <a:t>7. Read the critical principle from the foot of the slide.</a:t>
            </a:r>
          </a:p>
          <a:p>
            <a:r>
              <a:rPr lang="en-GB" b="1" dirty="0"/>
              <a:t>Say</a:t>
            </a:r>
            <a:r>
              <a:rPr lang="en-GB" dirty="0"/>
              <a:t>: "Every KISS reflection must be anchored to the Success in Practice statements.</a:t>
            </a:r>
          </a:p>
          <a:p>
            <a:r>
              <a:rPr lang="en-GB" dirty="0"/>
              <a:t>You evaluate the organisation against the future organisation you have collectively described."</a:t>
            </a:r>
          </a:p>
          <a:p>
            <a:endParaRPr lang="en-GB" dirty="0"/>
          </a:p>
          <a:p>
            <a:r>
              <a:rPr lang="en-GB" b="1" dirty="0"/>
              <a:t>Add: </a:t>
            </a:r>
            <a:r>
              <a:rPr lang="en-GB" dirty="0"/>
              <a:t>"By grounding the KISS reflection in the SiP, the organisation ensures that its execution agenda is directly aligned with the future it intends to build."</a:t>
            </a:r>
          </a:p>
          <a:p>
            <a:endParaRPr lang="en-GB" dirty="0"/>
          </a:p>
          <a:p>
            <a:r>
              <a:rPr lang="en-GB" b="1" dirty="0"/>
              <a:t>8. Set the standard of specificity.</a:t>
            </a:r>
          </a:p>
          <a:p>
            <a:r>
              <a:rPr lang="en-GB" dirty="0"/>
              <a:t>Say: "When you generate KISS items, be specific. Push for the operating reality."</a:t>
            </a:r>
          </a:p>
          <a:p>
            <a:endParaRPr lang="en-GB" dirty="0"/>
          </a:p>
          <a:p>
            <a:r>
              <a:rPr lang="en-GB" b="1" dirty="0"/>
              <a:t>EXAMPLE</a:t>
            </a:r>
          </a:p>
          <a:p>
            <a:r>
              <a:rPr lang="en-GB" dirty="0"/>
              <a:t>Too general to act on: “Improve communication.”</a:t>
            </a:r>
          </a:p>
          <a:p>
            <a:r>
              <a:rPr lang="en-GB" dirty="0"/>
              <a:t>A KISS item: “Improve cross-functional handover time from 72 hours to 24 hours.”</a:t>
            </a:r>
          </a:p>
          <a:p>
            <a:r>
              <a:rPr lang="en-GB" dirty="0"/>
              <a:t>The second names what changes, by how much, and where to look for it.</a:t>
            </a:r>
          </a:p>
          <a:p>
            <a:endParaRPr lang="en-GB" dirty="0"/>
          </a:p>
          <a:p>
            <a:r>
              <a:rPr lang="en-GB" dirty="0"/>
              <a:t>Tell participants: this is the standard for every entry their group makes in Section 5.</a:t>
            </a:r>
          </a:p>
          <a:p>
            <a:endParaRPr lang="en-GB" dirty="0"/>
          </a:p>
          <a:p>
            <a:r>
              <a:rPr lang="en-GB" b="1" dirty="0"/>
              <a:t>9. Bridge to 1.3.</a:t>
            </a:r>
          </a:p>
          <a:p>
            <a:r>
              <a:rPr lang="en-GB" dirty="0"/>
              <a:t>Say: "KISS gives us four filters. Next we see where we apply them: the four SiP domains."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1.3 — THE KISS REFLECTION TABLE: FOUR SiP DOMAINS (4 DOMAINS)</a:t>
            </a:r>
          </a:p>
          <a:p>
            <a:endParaRPr lang="en-GB" dirty="0"/>
          </a:p>
          <a:p>
            <a:r>
              <a:rPr lang="en-GB" b="1" dirty="0"/>
              <a:t>HOW TO TEACH IT:</a:t>
            </a:r>
          </a:p>
          <a:p>
            <a:endParaRPr lang="en-GB" dirty="0"/>
          </a:p>
          <a:p>
            <a:r>
              <a:rPr lang="en-GB" b="1" dirty="0"/>
              <a:t>1. Position the SiP Domains.</a:t>
            </a:r>
          </a:p>
          <a:p>
            <a:r>
              <a:rPr lang="en-GB" b="1" dirty="0"/>
              <a:t>Say: </a:t>
            </a:r>
            <a:r>
              <a:rPr lang="en-GB" dirty="0"/>
              <a:t>"The KISS reflection is structured across the four SiP domains.</a:t>
            </a:r>
          </a:p>
          <a:p>
            <a:r>
              <a:rPr lang="en-GB" dirty="0"/>
              <a:t>These are the same four domains in which your group wrote its SiP statements in Unit 2.</a:t>
            </a:r>
          </a:p>
          <a:p>
            <a:r>
              <a:rPr lang="en-GB" dirty="0"/>
              <a:t>Each domain has a SiP anchor question to ground the reflection, and one guiding question for each KISS filter."</a:t>
            </a:r>
          </a:p>
          <a:p>
            <a:r>
              <a:rPr lang="en-GB" dirty="0"/>
              <a:t>Tell participants: this is the preparation for the KISS map their group builds in Section 5.</a:t>
            </a:r>
          </a:p>
          <a:p>
            <a:endParaRPr lang="en-GB" dirty="0"/>
          </a:p>
          <a:p>
            <a:r>
              <a:rPr lang="en-GB" b="1" dirty="0"/>
              <a:t>2. Say how you take the domains.</a:t>
            </a:r>
          </a:p>
          <a:p>
            <a:r>
              <a:rPr lang="en-GB" dirty="0"/>
              <a:t>For each domain, ask what is most likely to be an aspect of KISS</a:t>
            </a:r>
          </a:p>
          <a:p>
            <a:endParaRPr lang="en-GB" dirty="0"/>
          </a:p>
          <a:p>
            <a:r>
              <a:rPr lang="en-GB" b="1" dirty="0"/>
              <a:t>3. Customer Experience &amp; Value.</a:t>
            </a:r>
          </a:p>
          <a:p>
            <a:r>
              <a:rPr lang="en-GB" dirty="0"/>
              <a:t>SiP anchor, </a:t>
            </a:r>
            <a:r>
              <a:rPr lang="en-GB" b="1" dirty="0"/>
              <a:t>say: </a:t>
            </a:r>
            <a:r>
              <a:rPr lang="en-GB" dirty="0"/>
              <a:t>"If our SiP statement is true, what should customers consistently experience?"</a:t>
            </a:r>
          </a:p>
          <a:p>
            <a:r>
              <a:rPr lang="en-GB" b="1" dirty="0"/>
              <a:t>KEEP, </a:t>
            </a:r>
            <a:r>
              <a:rPr lang="en-GB" dirty="0"/>
              <a:t>say: "Which aspects of the current customer experience already move us toward the SiP and should be protected?"</a:t>
            </a:r>
          </a:p>
          <a:p>
            <a:r>
              <a:rPr lang="en-GB" b="1" dirty="0"/>
              <a:t>IMPROVE, </a:t>
            </a:r>
            <a:r>
              <a:rPr lang="en-GB" dirty="0"/>
              <a:t>say: "Where do we see good customer outcomes but recurring friction that weakens reliability or responsiveness?"</a:t>
            </a:r>
          </a:p>
          <a:p>
            <a:r>
              <a:rPr lang="en-GB" b="1" dirty="0"/>
              <a:t>START</a:t>
            </a:r>
            <a:r>
              <a:rPr lang="en-GB" dirty="0"/>
              <a:t>, say: "What new practices or capabilities must begin for customers to experience the organisation as described in the SiP?"</a:t>
            </a:r>
          </a:p>
          <a:p>
            <a:r>
              <a:rPr lang="en-GB" b="1" dirty="0"/>
              <a:t>STOP</a:t>
            </a:r>
            <a:r>
              <a:rPr lang="en-GB" dirty="0"/>
              <a:t>, say: "Which processes or behaviours create customer friction and contradict the SiP experience we described?"</a:t>
            </a:r>
          </a:p>
          <a:p>
            <a:endParaRPr lang="en-GB" dirty="0"/>
          </a:p>
          <a:p>
            <a:r>
              <a:rPr lang="en-GB" b="1" dirty="0"/>
              <a:t>4. Operational Capability &amp; Execution Rhythm.</a:t>
            </a:r>
          </a:p>
          <a:p>
            <a:r>
              <a:rPr lang="en-GB" dirty="0"/>
              <a:t>SiP anchor</a:t>
            </a:r>
            <a:r>
              <a:rPr lang="en-GB" b="1" dirty="0"/>
              <a:t>, say: </a:t>
            </a:r>
            <a:r>
              <a:rPr lang="en-GB" dirty="0"/>
              <a:t>"If the SiP becomes reality, how will the organisation operate differently?"</a:t>
            </a:r>
          </a:p>
          <a:p>
            <a:r>
              <a:rPr lang="en-GB" b="1" dirty="0"/>
              <a:t>KEEP, </a:t>
            </a:r>
            <a:r>
              <a:rPr lang="en-GB" dirty="0"/>
              <a:t>say: "Which operational routines already support the execution rhythm described in the SiP?"</a:t>
            </a:r>
          </a:p>
          <a:p>
            <a:r>
              <a:rPr lang="en-GB" b="1" dirty="0"/>
              <a:t>IMPROVE, </a:t>
            </a:r>
            <a:r>
              <a:rPr lang="en-GB" dirty="0"/>
              <a:t>say: "Where do we see operational capability but delays, coordination gaps, or decision bottlenecks?"</a:t>
            </a:r>
          </a:p>
          <a:p>
            <a:r>
              <a:rPr lang="en-GB" b="1" dirty="0"/>
              <a:t>START</a:t>
            </a:r>
            <a:r>
              <a:rPr lang="en-GB" dirty="0"/>
              <a:t>, say: "What new execution rhythms, coordination practices, or decision frameworks must be introduced?"</a:t>
            </a:r>
          </a:p>
          <a:p>
            <a:r>
              <a:rPr lang="en-GB" b="1" dirty="0"/>
              <a:t>STOP</a:t>
            </a:r>
            <a:r>
              <a:rPr lang="en-GB" dirty="0"/>
              <a:t>, say: "Which processes, reporting routines, or meetings consume effort without strengthening execution?"</a:t>
            </a:r>
          </a:p>
          <a:p>
            <a:endParaRPr lang="en-GB" dirty="0"/>
          </a:p>
          <a:p>
            <a:r>
              <a:rPr lang="en-GB" b="1" dirty="0"/>
              <a:t>5. People &amp; Culture Dynamics.</a:t>
            </a:r>
          </a:p>
          <a:p>
            <a:r>
              <a:rPr lang="en-GB" dirty="0"/>
              <a:t>SiP anchor, </a:t>
            </a:r>
            <a:r>
              <a:rPr lang="en-GB" b="1" dirty="0"/>
              <a:t>say</a:t>
            </a:r>
            <a:r>
              <a:rPr lang="en-GB" dirty="0"/>
              <a:t>: "If the SiP is realised, how will leaders and teams work together?"</a:t>
            </a:r>
          </a:p>
          <a:p>
            <a:r>
              <a:rPr lang="en-GB" b="1" dirty="0"/>
              <a:t>KEEP</a:t>
            </a:r>
            <a:r>
              <a:rPr lang="en-GB" dirty="0"/>
              <a:t>, say: "Which leadership behaviours and collaboration patterns already reinforce the culture described in the SiP?"</a:t>
            </a:r>
          </a:p>
          <a:p>
            <a:r>
              <a:rPr lang="en-GB" b="1" dirty="0"/>
              <a:t>IMPROVE</a:t>
            </a:r>
            <a:r>
              <a:rPr lang="en-GB" dirty="0"/>
              <a:t>, say: "Where do we see positive teamwork but inconsistent accountability or unclear ownership?"</a:t>
            </a:r>
          </a:p>
          <a:p>
            <a:r>
              <a:rPr lang="en-GB" b="1" dirty="0"/>
              <a:t>START</a:t>
            </a:r>
            <a:r>
              <a:rPr lang="en-GB" dirty="0"/>
              <a:t>, say: "What new leadership habits or collaboration norms must be introduced?"</a:t>
            </a:r>
          </a:p>
          <a:p>
            <a:r>
              <a:rPr lang="en-GB" b="1" dirty="0"/>
              <a:t>STOP</a:t>
            </a:r>
            <a:r>
              <a:rPr lang="en-GB" dirty="0"/>
              <a:t>, say: "Which behaviours, informal norms, or leadership practices undermine alignment or trust?"</a:t>
            </a:r>
          </a:p>
          <a:p>
            <a:endParaRPr lang="en-GB" dirty="0"/>
          </a:p>
          <a:p>
            <a:r>
              <a:rPr lang="en-GB" b="1" dirty="0"/>
              <a:t>6. Enterprise Value Creation.</a:t>
            </a:r>
          </a:p>
          <a:p>
            <a:r>
              <a:rPr lang="en-GB" dirty="0"/>
              <a:t>SiP anchor, </a:t>
            </a:r>
            <a:r>
              <a:rPr lang="en-GB" b="1" dirty="0"/>
              <a:t>say</a:t>
            </a:r>
            <a:r>
              <a:rPr lang="en-GB" dirty="0"/>
              <a:t>: "If the SiP succeeds, what financial reality should we see?"</a:t>
            </a:r>
          </a:p>
          <a:p>
            <a:r>
              <a:rPr lang="en-GB" b="1" dirty="0"/>
              <a:t>KEEP, </a:t>
            </a:r>
            <a:r>
              <a:rPr lang="en-GB" dirty="0"/>
              <a:t>say: "Which business activities or revenue streams already support the value creation described in the SiP?"</a:t>
            </a:r>
          </a:p>
          <a:p>
            <a:r>
              <a:rPr lang="en-GB" b="1" dirty="0"/>
              <a:t>IMPROVE, </a:t>
            </a:r>
            <a:r>
              <a:rPr lang="en-GB" dirty="0"/>
              <a:t>say: "Where do we see positive results but margin pressure or inefficient resource use?"</a:t>
            </a:r>
          </a:p>
          <a:p>
            <a:r>
              <a:rPr lang="en-GB" b="1" dirty="0"/>
              <a:t>START, </a:t>
            </a:r>
            <a:r>
              <a:rPr lang="en-GB" dirty="0"/>
              <a:t>say: "What new investments, capabilities, or revenue engines must be introduced?"</a:t>
            </a:r>
          </a:p>
          <a:p>
            <a:r>
              <a:rPr lang="en-GB" b="1" dirty="0"/>
              <a:t>STOP, </a:t>
            </a:r>
            <a:r>
              <a:rPr lang="en-GB" dirty="0"/>
              <a:t>say: "Which initiatives or commitments consume resources without contributing to the value creation described in the SiP?"</a:t>
            </a:r>
          </a:p>
          <a:p>
            <a:endParaRPr lang="en-GB" dirty="0"/>
          </a:p>
          <a:p>
            <a:r>
              <a:rPr lang="en-GB" b="1" dirty="0"/>
              <a:t>7. Keep the items domain-specific.</a:t>
            </a:r>
          </a:p>
          <a:p>
            <a:r>
              <a:rPr lang="en-GB" dirty="0"/>
              <a:t>Say: "KISS items must be domain-specific.</a:t>
            </a:r>
          </a:p>
          <a:p>
            <a:r>
              <a:rPr lang="en-GB" dirty="0"/>
              <a:t>A STOP item in the Customer Experience &amp; Value domain looks different from a STOP item in People &amp; Culture Dynamics.</a:t>
            </a:r>
          </a:p>
          <a:p>
            <a:r>
              <a:rPr lang="en-GB" dirty="0"/>
              <a:t>Keeping them separate prevents the vague cross-functional generalisations that make KISS useless."</a:t>
            </a:r>
          </a:p>
          <a:p>
            <a:endParaRPr lang="en-GB" dirty="0"/>
          </a:p>
          <a:p>
            <a:r>
              <a:rPr lang="en-GB" b="1" dirty="0"/>
              <a:t>EXAMPLE</a:t>
            </a:r>
          </a:p>
          <a:p>
            <a:r>
              <a:rPr lang="en-GB" dirty="0"/>
              <a:t>The same organisation, two domains, two different STOP items.</a:t>
            </a:r>
          </a:p>
          <a:p>
            <a:r>
              <a:rPr lang="en-GB" dirty="0"/>
              <a:t>Customer Experience &amp; Value: “Slow internal handovers that delay customer responses.”</a:t>
            </a:r>
          </a:p>
          <a:p>
            <a:r>
              <a:rPr lang="en-GB" dirty="0"/>
              <a:t>People &amp; Culture Dynamics: “Functional silos and escalation behaviours.”</a:t>
            </a:r>
          </a:p>
          <a:p>
            <a:r>
              <a:rPr lang="en-GB" dirty="0"/>
              <a:t>Each one can be traced to its own SiP statement.</a:t>
            </a:r>
          </a:p>
          <a:p>
            <a:endParaRPr lang="en-GB" dirty="0"/>
          </a:p>
          <a:p>
            <a:r>
              <a:rPr lang="en-GB" b="1" dirty="0"/>
              <a:t>8. Bridge to 1.4.</a:t>
            </a:r>
          </a:p>
          <a:p>
            <a:r>
              <a:rPr lang="en-GB" dirty="0"/>
              <a:t>Say: "KISS tells us what must change. We now need a way to express that change as measurable progress."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1.4 — OKR ANATOMY: OBJECTIVES &amp; KEY RESULTS (STRUCTURE &amp; FORMULA)</a:t>
            </a:r>
          </a:p>
          <a:p>
            <a:endParaRPr lang="en-GB" dirty="0"/>
          </a:p>
          <a:p>
            <a:r>
              <a:rPr lang="en-GB" b="1" dirty="0"/>
              <a:t>HOW TO TEACH IT:</a:t>
            </a:r>
          </a:p>
          <a:p>
            <a:endParaRPr lang="en-GB" dirty="0"/>
          </a:p>
          <a:p>
            <a:r>
              <a:rPr lang="en-GB" b="1" dirty="0"/>
              <a:t>1. Position OKRs.</a:t>
            </a:r>
          </a:p>
          <a:p>
            <a:r>
              <a:rPr lang="en-GB" b="1" dirty="0"/>
              <a:t>Say: </a:t>
            </a:r>
            <a:r>
              <a:rPr lang="en-GB" dirty="0"/>
              <a:t>"Objective Key Results, OKRs, translate the changes identified in the KISS reflection into measurable progress."</a:t>
            </a:r>
          </a:p>
          <a:p>
            <a:endParaRPr lang="en-GB" dirty="0"/>
          </a:p>
          <a:p>
            <a:r>
              <a:rPr lang="en-GB" dirty="0"/>
              <a:t>Add: "The discipline of OKRs lies in their simplicity. </a:t>
            </a:r>
          </a:p>
          <a:p>
            <a:r>
              <a:rPr lang="en-GB" b="1" dirty="0"/>
              <a:t>Objectives </a:t>
            </a:r>
            <a:r>
              <a:rPr lang="en-GB" dirty="0"/>
              <a:t>express the strategic ambition. </a:t>
            </a:r>
          </a:p>
          <a:p>
            <a:r>
              <a:rPr lang="en-GB" b="1" dirty="0"/>
              <a:t>Key Results </a:t>
            </a:r>
            <a:r>
              <a:rPr lang="en-GB" dirty="0"/>
              <a:t>define what success looks like and by when."</a:t>
            </a:r>
          </a:p>
          <a:p>
            <a:endParaRPr lang="en-GB" dirty="0"/>
          </a:p>
          <a:p>
            <a:r>
              <a:rPr lang="en-GB" b="1" dirty="0"/>
              <a:t>2. Objectives, on the left of the slide.</a:t>
            </a:r>
          </a:p>
          <a:p>
            <a:r>
              <a:rPr lang="en-GB" b="1" dirty="0"/>
              <a:t>Say: </a:t>
            </a:r>
            <a:r>
              <a:rPr lang="en-GB" dirty="0"/>
              <a:t>"Objectives define strategic ambition.</a:t>
            </a:r>
          </a:p>
          <a:p>
            <a:r>
              <a:rPr lang="en-GB" dirty="0"/>
              <a:t>An Objective must be qualitative, ambitious, action-oriented, inspirational and memorable.</a:t>
            </a:r>
          </a:p>
          <a:p>
            <a:r>
              <a:rPr lang="en-GB" dirty="0"/>
              <a:t>If you cannot wear it on a T-shirt, it is not worth pursuing."</a:t>
            </a:r>
          </a:p>
          <a:p>
            <a:endParaRPr lang="en-GB" dirty="0"/>
          </a:p>
          <a:p>
            <a:r>
              <a:rPr lang="en-GB" b="1" dirty="0"/>
              <a:t>EXAMPLE</a:t>
            </a:r>
          </a:p>
          <a:p>
            <a:r>
              <a:rPr lang="en-GB" dirty="0"/>
              <a:t>An Objective: “Deliver consistently fast and effortless service experiences for customers.”</a:t>
            </a:r>
          </a:p>
          <a:p>
            <a:r>
              <a:rPr lang="en-GB" dirty="0"/>
              <a:t>It starts with a verb, it describes a transformation, and it carries no number.</a:t>
            </a:r>
          </a:p>
          <a:p>
            <a:endParaRPr lang="en-GB" dirty="0"/>
          </a:p>
          <a:p>
            <a:r>
              <a:rPr lang="en-GB" b="1" dirty="0"/>
              <a:t>3. Key Results, on the right of the slide.</a:t>
            </a:r>
          </a:p>
          <a:p>
            <a:r>
              <a:rPr lang="en-GB" b="1" dirty="0"/>
              <a:t>Say: </a:t>
            </a:r>
            <a:r>
              <a:rPr lang="en-GB" dirty="0"/>
              <a:t>"Key Results define measurable progress. </a:t>
            </a:r>
          </a:p>
          <a:p>
            <a:r>
              <a:rPr lang="en-GB" dirty="0"/>
              <a:t>The formula has four elements: Verb of Change, Metric, From X to Y, By Deadline."</a:t>
            </a:r>
          </a:p>
          <a:p>
            <a:endParaRPr lang="en-GB" dirty="0"/>
          </a:p>
          <a:p>
            <a:r>
              <a:rPr lang="en-GB" dirty="0"/>
              <a:t>Take the four elements one at a time:</a:t>
            </a:r>
          </a:p>
          <a:p>
            <a:r>
              <a:rPr lang="en-GB" dirty="0"/>
              <a:t>- Verb of Change: indicates the direction of improvement. E.g.: Increase, Reduce, Achieve, Improve, Maintain.</a:t>
            </a:r>
          </a:p>
          <a:p>
            <a:r>
              <a:rPr lang="en-GB" dirty="0"/>
              <a:t>- Metric: a clear and measurable indicator. E.g.: customer satisfaction score, cycle time, adoption rate.</a:t>
            </a:r>
          </a:p>
          <a:p>
            <a:r>
              <a:rPr lang="en-GB" dirty="0"/>
              <a:t>- From X to Y: defines the baseline and target. E.g.: from 40% to 75%. Always establish a starting point.</a:t>
            </a:r>
          </a:p>
          <a:p>
            <a:r>
              <a:rPr lang="en-GB" dirty="0"/>
              <a:t>- Deadline: specifies when the result must be achieved. E.g.: by Q4 2026, by end of FY.</a:t>
            </a:r>
          </a:p>
          <a:p>
            <a:endParaRPr lang="en-GB" dirty="0"/>
          </a:p>
          <a:p>
            <a:r>
              <a:rPr lang="en-GB" b="1" dirty="0"/>
              <a:t>EXAMPLE</a:t>
            </a:r>
          </a:p>
          <a:p>
            <a:r>
              <a:rPr lang="en-GB" dirty="0"/>
              <a:t>A Key Result: “Increase digital transaction completion rate from 40% to 75% of total transactions by Q4 2026.”</a:t>
            </a:r>
          </a:p>
          <a:p>
            <a:r>
              <a:rPr lang="en-GB" dirty="0"/>
              <a:t>Verb of Change: Increase. Metric: digital transaction completion rate. From X to Y: from 40% to 75% of total transactions. Deadline: by Q4 2026.</a:t>
            </a:r>
          </a:p>
          <a:p>
            <a:endParaRPr lang="en-GB" dirty="0"/>
          </a:p>
          <a:p>
            <a:r>
              <a:rPr lang="en-GB" b="1" dirty="0"/>
              <a:t>Deepen, say: </a:t>
            </a:r>
            <a:r>
              <a:rPr lang="en-GB" dirty="0"/>
              <a:t>"Vague strategy goals cannot be evaluated, and a strategy that cannot be tested in real time cannot be corrected in real time.</a:t>
            </a:r>
          </a:p>
          <a:p>
            <a:r>
              <a:rPr lang="en-GB" dirty="0"/>
              <a:t>Build in a specific outcome, a defined timeframe and a clear way to know whether it is working."</a:t>
            </a:r>
          </a:p>
          <a:p>
            <a:r>
              <a:rPr lang="en-GB" dirty="0"/>
              <a:t>(Insight: Testable objectives. Source: Journal, 16 January 2026 — Professional Insights: Strategy)</a:t>
            </a:r>
          </a:p>
          <a:p>
            <a:endParaRPr lang="en-GB" dirty="0"/>
          </a:p>
          <a:p>
            <a:r>
              <a:rPr lang="en-GB" b="1" dirty="0"/>
              <a:t>5. Land the critical distinction, at the foot of the slide.</a:t>
            </a:r>
          </a:p>
          <a:p>
            <a:r>
              <a:rPr lang="en-GB" b="1" dirty="0"/>
              <a:t>Say: "OKRs define outcomes</a:t>
            </a:r>
            <a:r>
              <a:rPr lang="en-GB" dirty="0"/>
              <a:t>.</a:t>
            </a:r>
          </a:p>
          <a:p>
            <a:r>
              <a:rPr lang="en-GB" dirty="0"/>
              <a:t>If a statement can be checked off a task list, such as ‘launch new platform’ or ‘run customer survey’, it is a task.</a:t>
            </a:r>
          </a:p>
          <a:p>
            <a:r>
              <a:rPr lang="en-GB" dirty="0"/>
              <a:t>Those are activities that support the Key Result.</a:t>
            </a:r>
          </a:p>
          <a:p>
            <a:r>
              <a:rPr lang="en-GB" dirty="0"/>
              <a:t>Key Results describe the impact those activities must produce."</a:t>
            </a:r>
          </a:p>
          <a:p>
            <a:endParaRPr lang="en-GB" dirty="0"/>
          </a:p>
          <a:p>
            <a:r>
              <a:rPr lang="en-GB" dirty="0"/>
              <a:t>Ask: "Can you check it off a task list? If yes, it is a task."</a:t>
            </a:r>
          </a:p>
          <a:p>
            <a:r>
              <a:rPr lang="en-GB" dirty="0"/>
              <a:t>This single test is the most useful tool in the room. Return to it every time a task appears dressed as a Key Result.</a:t>
            </a:r>
          </a:p>
          <a:p>
            <a:endParaRPr lang="en-GB" dirty="0"/>
          </a:p>
          <a:p>
            <a:r>
              <a:rPr lang="en-GB" b="1" dirty="0"/>
              <a:t>6. Work one live example through the formula.</a:t>
            </a:r>
          </a:p>
          <a:p>
            <a:endParaRPr lang="en-GB" dirty="0"/>
          </a:p>
          <a:p>
            <a:endParaRPr lang="en-GB" dirty="0"/>
          </a:p>
          <a:p>
            <a:endParaRPr lang="en-GB" dirty="0"/>
          </a:p>
          <a:p>
            <a:endParaRPr lang="en-GB" dirty="0"/>
          </a:p>
          <a:p>
            <a:r>
              <a:rPr lang="en-GB" b="1" dirty="0"/>
              <a:t>Deepen, say</a:t>
            </a:r>
            <a:r>
              <a:rPr lang="en-GB" dirty="0"/>
              <a:t>: "Great strategies are specific enough to be built.</a:t>
            </a:r>
          </a:p>
          <a:p>
            <a:r>
              <a:rPr lang="en-GB" dirty="0"/>
              <a:t>Vague vision produces vague results.</a:t>
            </a:r>
          </a:p>
          <a:p>
            <a:r>
              <a:rPr lang="en-GB" dirty="0"/>
              <a:t>Use the formula to make each Key Result precise enough to execute and check."</a:t>
            </a:r>
          </a:p>
          <a:p>
            <a:r>
              <a:rPr lang="en-GB" dirty="0"/>
              <a:t>(Insight: Specific enough to be built. Source: Journal, 8 January 2026 — Professional Insights: Strategy)</a:t>
            </a:r>
          </a:p>
          <a:p>
            <a:endParaRPr lang="en-GB" dirty="0"/>
          </a:p>
          <a:p>
            <a:r>
              <a:rPr lang="en-GB" b="1" dirty="0"/>
              <a:t>7. Bridge to 1.5.</a:t>
            </a:r>
          </a:p>
          <a:p>
            <a:r>
              <a:rPr lang="en-GB" dirty="0"/>
              <a:t>Say: "We have the filter and we have the building blocks. Five steps connect them."</a:t>
            </a:r>
          </a:p>
          <a:p>
            <a:endParaRPr lang="en-GB" dirty="0"/>
          </a:p>
          <a:p>
            <a:r>
              <a:rPr lang="en-GB" b="1" dirty="0"/>
              <a:t>ON THE PORTAL, AFTER THE TEACHING:</a:t>
            </a:r>
          </a:p>
          <a:p>
            <a:r>
              <a:rPr lang="en-GB" dirty="0"/>
              <a:t>Participants write the 1.4 reflection: "Think of a goal your team set in the last 12 months. Was it an Objective, a Key Result, or a task disguised as one of these? What would a proper Key Result look like using the formula?"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1.5 — FIVE STEPS: FROM KISS OUTPUT TO ENTERPRISE OKRs (5 STEPS)</a:t>
            </a:r>
          </a:p>
          <a:p>
            <a:endParaRPr lang="en-GB" dirty="0"/>
          </a:p>
          <a:p>
            <a:r>
              <a:rPr lang="en-GB" b="1" dirty="0"/>
              <a:t>HOW TO TEACH IT:</a:t>
            </a:r>
          </a:p>
          <a:p>
            <a:endParaRPr lang="en-GB" dirty="0"/>
          </a:p>
          <a:p>
            <a:r>
              <a:rPr lang="en-GB" b="1" dirty="0"/>
              <a:t>1. Open.</a:t>
            </a:r>
          </a:p>
          <a:p>
            <a:r>
              <a:rPr lang="en-GB" dirty="0"/>
              <a:t>Say: "Five steps carry the KISS output into enterprise OKRs. We take them in order. </a:t>
            </a:r>
          </a:p>
          <a:p>
            <a:r>
              <a:rPr lang="en-GB" dirty="0"/>
              <a:t>Each step builds on the one before it and prepares the next."</a:t>
            </a:r>
          </a:p>
          <a:p>
            <a:r>
              <a:rPr lang="en-GB" dirty="0"/>
              <a:t>Tell participants: for each step, apply the guiding question mentally to your own area.</a:t>
            </a:r>
          </a:p>
          <a:p>
            <a:endParaRPr lang="en-GB" dirty="0"/>
          </a:p>
          <a:p>
            <a:r>
              <a:rPr lang="en-GB" b="1" dirty="0"/>
              <a:t>2. Step 1 — Find Themes.</a:t>
            </a:r>
          </a:p>
          <a:p>
            <a:r>
              <a:rPr lang="en-GB" b="1" dirty="0"/>
              <a:t>Read the guiding question: "What insights emerged from the SiP and KISS reflections?"</a:t>
            </a:r>
          </a:p>
          <a:p>
            <a:endParaRPr lang="en-GB" dirty="0"/>
          </a:p>
          <a:p>
            <a:r>
              <a:rPr lang="en-GB" b="1" dirty="0"/>
              <a:t>Say</a:t>
            </a:r>
            <a:r>
              <a:rPr lang="en-GB" dirty="0"/>
              <a:t>: "Each leader reviews their KISS reflection.</a:t>
            </a:r>
          </a:p>
          <a:p>
            <a:r>
              <a:rPr lang="en-GB" dirty="0"/>
              <a:t>What are the 2–3 big shifts that will contribute to moving the whole organisation forward?</a:t>
            </a:r>
          </a:p>
          <a:p>
            <a:endParaRPr lang="en-GB" dirty="0"/>
          </a:p>
          <a:p>
            <a:r>
              <a:rPr lang="en-GB" dirty="0"/>
              <a:t>The real question is: If the organisation is going to reach the future it has described, what is the one thing my area can change that would make the biggest difference for everyone?"</a:t>
            </a:r>
          </a:p>
          <a:p>
            <a:endParaRPr lang="en-GB" dirty="0"/>
          </a:p>
          <a:p>
            <a:r>
              <a:rPr lang="en-GB" b="1" dirty="0"/>
              <a:t>Say</a:t>
            </a:r>
            <a:r>
              <a:rPr lang="en-GB" dirty="0"/>
              <a:t>: "Then review the patterns that surfaced across the four SiP domains.</a:t>
            </a:r>
          </a:p>
          <a:p>
            <a:endParaRPr lang="en-GB" dirty="0"/>
          </a:p>
          <a:p>
            <a:r>
              <a:rPr lang="en-GB" dirty="0"/>
              <a:t>Identify the strategic themes that repeatedly appeared in the KEEP, IMPROVE, START, and STOP reflections across the four domains</a:t>
            </a:r>
          </a:p>
          <a:p>
            <a:r>
              <a:rPr lang="en-GB" dirty="0"/>
              <a:t>These themes represent the most important shifts required to move the organisation toward the SiP."</a:t>
            </a:r>
          </a:p>
          <a:p>
            <a:endParaRPr lang="en-GB" dirty="0"/>
          </a:p>
          <a:p>
            <a:r>
              <a:rPr lang="en-GB" dirty="0"/>
              <a:t>Ask: "When you review the KISS reflections across all four domains, what is the pattern? What themes keep appearing?"</a:t>
            </a:r>
          </a:p>
          <a:p>
            <a:endParaRPr lang="en-GB" dirty="0"/>
          </a:p>
          <a:p>
            <a:r>
              <a:rPr lang="en-GB" b="1" dirty="0"/>
              <a:t>Add: "Themes are the connective tissue between scattered KISS observations and purposeful OKRs."</a:t>
            </a:r>
          </a:p>
          <a:p>
            <a:endParaRPr lang="en-GB" dirty="0"/>
          </a:p>
          <a:p>
            <a:r>
              <a:rPr lang="en-GB" dirty="0"/>
              <a:t>Output produced: a small set of strategic themes that reflect the organisation’s priority execution shifts.</a:t>
            </a:r>
          </a:p>
          <a:p>
            <a:endParaRPr lang="en-GB" dirty="0"/>
          </a:p>
          <a:p>
            <a:r>
              <a:rPr lang="en-GB" b="1" dirty="0"/>
              <a:t>3. Step 2 — Inspiring Objectives.</a:t>
            </a:r>
          </a:p>
          <a:p>
            <a:r>
              <a:rPr lang="en-GB" dirty="0"/>
              <a:t>Read the guiding question: "If we get this theme right, what will we be known for?"</a:t>
            </a:r>
          </a:p>
          <a:p>
            <a:endParaRPr lang="en-GB" dirty="0"/>
          </a:p>
          <a:p>
            <a:r>
              <a:rPr lang="en-GB" b="1" dirty="0"/>
              <a:t>Say: </a:t>
            </a:r>
            <a:r>
              <a:rPr lang="en-GB" dirty="0"/>
              <a:t>"Each leader gives their themes a voice.</a:t>
            </a:r>
          </a:p>
          <a:p>
            <a:endParaRPr lang="en-GB" dirty="0"/>
          </a:p>
          <a:p>
            <a:r>
              <a:rPr lang="en-GB" dirty="0"/>
              <a:t>Translate each theme into a bold, qualitative statement that expresses strategic ambition.</a:t>
            </a:r>
          </a:p>
          <a:p>
            <a:endParaRPr lang="en-GB" dirty="0"/>
          </a:p>
          <a:p>
            <a:r>
              <a:rPr lang="en-GB" dirty="0"/>
              <a:t>Start with a verb and describe the desired transformation.</a:t>
            </a:r>
          </a:p>
          <a:p>
            <a:r>
              <a:rPr lang="en-GB" dirty="0"/>
              <a:t>An Objective should look like a transformation."</a:t>
            </a:r>
          </a:p>
          <a:p>
            <a:r>
              <a:rPr lang="en-GB" dirty="0"/>
              <a:t>Ask: "If the organisation actually pulls this off, what will customers and competitors say it is known for?"</a:t>
            </a:r>
          </a:p>
          <a:p>
            <a:r>
              <a:rPr lang="en-GB" dirty="0"/>
              <a:t>Give the three standards:</a:t>
            </a:r>
          </a:p>
          <a:p>
            <a:r>
              <a:rPr lang="en-GB" dirty="0"/>
              <a:t>- Make it ambitious: stretch the team.</a:t>
            </a:r>
          </a:p>
          <a:p>
            <a:r>
              <a:rPr lang="en-GB" dirty="0"/>
              <a:t>- Keep it qualitative: describe the destination.</a:t>
            </a:r>
          </a:p>
          <a:p>
            <a:r>
              <a:rPr lang="en-GB" dirty="0"/>
              <a:t>- Keep it memorable: if you cannot say it in a hallway conversation, it is too complex.</a:t>
            </a:r>
          </a:p>
          <a:p>
            <a:endParaRPr lang="en-GB" dirty="0"/>
          </a:p>
          <a:p>
            <a:r>
              <a:rPr lang="en-GB" b="1" dirty="0"/>
              <a:t>Say: </a:t>
            </a:r>
            <a:r>
              <a:rPr lang="en-GB" dirty="0"/>
              <a:t>"This is the T-shirt test. Try stating an Objective in one sentence before you write it."</a:t>
            </a:r>
          </a:p>
          <a:p>
            <a:endParaRPr lang="en-GB" dirty="0"/>
          </a:p>
          <a:p>
            <a:r>
              <a:rPr lang="en-GB" b="1" dirty="0"/>
              <a:t>Add: </a:t>
            </a:r>
            <a:r>
              <a:rPr lang="en-GB" dirty="0"/>
              <a:t>"An Objective should look like a transformation and never like a line in a budget."</a:t>
            </a:r>
          </a:p>
          <a:p>
            <a:endParaRPr lang="en-GB" dirty="0"/>
          </a:p>
          <a:p>
            <a:r>
              <a:rPr lang="en-GB" dirty="0"/>
              <a:t>Give the room a test for every Objective:</a:t>
            </a:r>
          </a:p>
          <a:p>
            <a:endParaRPr lang="en-GB" dirty="0"/>
          </a:p>
          <a:p>
            <a:r>
              <a:rPr lang="en-GB" b="1" dirty="0"/>
              <a:t>Say: </a:t>
            </a:r>
            <a:r>
              <a:rPr lang="en-GB" dirty="0"/>
              <a:t>"After each Objective is proposed, ask: Is this statement something we could announce publicly with pride?</a:t>
            </a:r>
          </a:p>
          <a:p>
            <a:r>
              <a:rPr lang="en-GB" dirty="0"/>
              <a:t>If the answer is no, it lacks ambition or clarity.</a:t>
            </a:r>
          </a:p>
          <a:p>
            <a:endParaRPr lang="en-GB" dirty="0"/>
          </a:p>
          <a:p>
            <a:r>
              <a:rPr lang="en-GB" dirty="0"/>
              <a:t>Objectives that describe activities, such as ‘Implement new CRM’, are tasks disguised as goals."</a:t>
            </a:r>
          </a:p>
          <a:p>
            <a:endParaRPr lang="en-GB" dirty="0"/>
          </a:p>
          <a:p>
            <a:r>
              <a:rPr lang="en-GB" b="1" dirty="0"/>
              <a:t>Output produced: a clear Objective that expresses the strategic ambition.</a:t>
            </a:r>
          </a:p>
          <a:p>
            <a:endParaRPr lang="en-GB" dirty="0"/>
          </a:p>
          <a:p>
            <a:r>
              <a:rPr lang="en-GB" b="1" dirty="0"/>
              <a:t>4. Step 3 — Define Key Results.</a:t>
            </a:r>
          </a:p>
          <a:p>
            <a:r>
              <a:rPr lang="en-GB" dirty="0"/>
              <a:t>Read the guiding question: "What measurable outcomes will prove the Objective is being achieved?"</a:t>
            </a:r>
          </a:p>
          <a:p>
            <a:endParaRPr lang="en-GB" dirty="0"/>
          </a:p>
          <a:p>
            <a:r>
              <a:rPr lang="en-GB" b="1" dirty="0"/>
              <a:t>Say</a:t>
            </a:r>
            <a:r>
              <a:rPr lang="en-GB" dirty="0"/>
              <a:t>: "For every Objective, identify 2–3 measurable results that demonstrate progress toward it.</a:t>
            </a:r>
          </a:p>
          <a:p>
            <a:r>
              <a:rPr lang="en-GB" dirty="0"/>
              <a:t>Each Key Result must describe a meaningful shift in performance and must follow the Key Result formula: Verb, Metric, From X to Y, Deadline."</a:t>
            </a:r>
          </a:p>
          <a:p>
            <a:endParaRPr lang="en-GB" dirty="0"/>
          </a:p>
          <a:p>
            <a:r>
              <a:rPr lang="en-GB" b="1" dirty="0"/>
              <a:t>EXAMPLE</a:t>
            </a:r>
          </a:p>
          <a:p>
            <a:r>
              <a:rPr lang="en-GB" dirty="0"/>
              <a:t>“Shift response time from 12 hours (frustrating) to 4 hours (exceptional) by Q3.”</a:t>
            </a:r>
          </a:p>
          <a:p>
            <a:r>
              <a:rPr lang="en-GB" dirty="0"/>
              <a:t>Use it as the benchmark. Hold each Key Result to the same standard.</a:t>
            </a:r>
          </a:p>
          <a:p>
            <a:endParaRPr lang="en-GB" dirty="0"/>
          </a:p>
          <a:p>
            <a:r>
              <a:rPr lang="en-GB" dirty="0"/>
              <a:t>Say: "Quick check: if the team can simply check it off a list, it is a task.</a:t>
            </a:r>
          </a:p>
          <a:p>
            <a:r>
              <a:rPr lang="en-GB" dirty="0"/>
              <a:t>Key Results describe outcomes: the actual change in the world that proves the Objective is being achieved."</a:t>
            </a:r>
          </a:p>
          <a:p>
            <a:endParaRPr lang="en-GB" dirty="0"/>
          </a:p>
          <a:p>
            <a:r>
              <a:rPr lang="en-GB" b="1" dirty="0"/>
              <a:t>Output produced: measurable Key Results that define progress toward the Objective.</a:t>
            </a:r>
          </a:p>
          <a:p>
            <a:endParaRPr lang="en-GB" dirty="0"/>
          </a:p>
          <a:p>
            <a:r>
              <a:rPr lang="en-GB" b="1" dirty="0"/>
              <a:t>5. Step 4 — Alignment Test.</a:t>
            </a:r>
          </a:p>
          <a:p>
            <a:endParaRPr lang="en-GB" dirty="0"/>
          </a:p>
          <a:p>
            <a:r>
              <a:rPr lang="en-GB" dirty="0"/>
              <a:t>Say: "Before sharing, every leader tests their OKR against four questions."</a:t>
            </a:r>
          </a:p>
          <a:p>
            <a:endParaRPr lang="en-GB" dirty="0"/>
          </a:p>
          <a:p>
            <a:r>
              <a:rPr lang="en-GB" dirty="0"/>
              <a:t>Read the four questions aloud:</a:t>
            </a:r>
          </a:p>
          <a:p>
            <a:r>
              <a:rPr lang="en-GB" dirty="0"/>
              <a:t>1. Does this truly get the organisation closer to the shared SiP vision?</a:t>
            </a:r>
          </a:p>
          <a:p>
            <a:r>
              <a:rPr lang="en-GB" dirty="0"/>
              <a:t>2. Would fellow leaders see this as a win for the whole organisation — or just for one function?</a:t>
            </a:r>
          </a:p>
          <a:p>
            <a:r>
              <a:rPr lang="en-GB" dirty="0"/>
              <a:t>3. Does it visibly improve culture, operations, or value creation?</a:t>
            </a:r>
          </a:p>
          <a:p>
            <a:r>
              <a:rPr lang="en-GB" dirty="0"/>
              <a:t>4. Is there clear accountability for delivering this outcome?</a:t>
            </a:r>
          </a:p>
          <a:p>
            <a:endParaRPr lang="en-GB" dirty="0"/>
          </a:p>
          <a:p>
            <a:r>
              <a:rPr lang="en-GB" dirty="0"/>
              <a:t>Say: "The four questions show whether an OKR is enterprise-level or functionally disguised."</a:t>
            </a:r>
          </a:p>
          <a:p>
            <a:endParaRPr lang="en-GB" dirty="0"/>
          </a:p>
          <a:p>
            <a:r>
              <a:rPr lang="en-GB" b="1" dirty="0"/>
              <a:t>Deepen, say: </a:t>
            </a:r>
            <a:r>
              <a:rPr lang="en-GB" dirty="0"/>
              <a:t>"Leaders who listen collectively before acting ground their decisions in shared conviction."</a:t>
            </a:r>
          </a:p>
          <a:p>
            <a:r>
              <a:rPr lang="en-GB" dirty="0"/>
              <a:t>(Insight: Listening before acting. Source: Journal, 28 July 2026 — Professional Insights: Leadership)</a:t>
            </a:r>
          </a:p>
          <a:p>
            <a:endParaRPr lang="en-GB" dirty="0"/>
          </a:p>
          <a:p>
            <a:r>
              <a:rPr lang="en-GB" b="1" dirty="0"/>
              <a:t>6. Step 5 — Priority Matrix.</a:t>
            </a:r>
          </a:p>
          <a:p>
            <a:r>
              <a:rPr lang="en-GB" dirty="0"/>
              <a:t>Say: "The last step places each aligned OKR on the Prioritisation Matrix, by Impact and Effort. The next slide shows the matrix."</a:t>
            </a:r>
          </a:p>
          <a:p>
            <a:endParaRPr lang="en-GB" dirty="0"/>
          </a:p>
          <a:p>
            <a:r>
              <a:rPr lang="en-GB" b="1" dirty="0"/>
              <a:t>7. Show how the steps chain.</a:t>
            </a:r>
          </a:p>
          <a:p>
            <a:r>
              <a:rPr lang="en-GB" dirty="0"/>
              <a:t>Say: "Step 2 defines the Objective from the themes of Step 1.</a:t>
            </a:r>
          </a:p>
          <a:p>
            <a:r>
              <a:rPr lang="en-GB" dirty="0"/>
              <a:t>Step 3 defines the Key Results from the Objective of Step 2.</a:t>
            </a:r>
          </a:p>
          <a:p>
            <a:r>
              <a:rPr lang="en-GB" dirty="0"/>
              <a:t>Steps 4 and 5 test and place what Steps 1 to 3 produce."</a:t>
            </a:r>
          </a:p>
          <a:p>
            <a:endParaRPr lang="en-GB" dirty="0"/>
          </a:p>
          <a:p>
            <a:r>
              <a:rPr lang="en-GB" b="1" dirty="0"/>
              <a:t>8. Bridge to the matrix.</a:t>
            </a:r>
          </a:p>
          <a:p>
            <a:r>
              <a:rPr lang="en-GB" dirty="0"/>
              <a:t>Say: "We now look at Step 5 in detail."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1.5 — STEP 5: THE PRIORITISATION MATRIX (IMPACT × EFFORT)</a:t>
            </a:r>
          </a:p>
          <a:p>
            <a:endParaRPr lang="en-GB" dirty="0"/>
          </a:p>
          <a:p>
            <a:r>
              <a:rPr lang="en-GB" b="1" dirty="0"/>
              <a:t>HOW TO TEACH IT:</a:t>
            </a:r>
          </a:p>
          <a:p>
            <a:endParaRPr lang="en-GB" dirty="0"/>
          </a:p>
          <a:p>
            <a:r>
              <a:rPr lang="en-GB" b="1" dirty="0"/>
              <a:t>1. Give the two dimensions.</a:t>
            </a:r>
          </a:p>
          <a:p>
            <a:r>
              <a:rPr lang="en-GB" b="1" dirty="0"/>
              <a:t>Say: </a:t>
            </a:r>
            <a:r>
              <a:rPr lang="en-GB" dirty="0"/>
              <a:t>"The Prioritisation Matrix evaluates each initiative against two dimensions.</a:t>
            </a:r>
          </a:p>
          <a:p>
            <a:endParaRPr lang="en-GB" dirty="0"/>
          </a:p>
          <a:p>
            <a:r>
              <a:rPr lang="en-GB" b="1" dirty="0"/>
              <a:t>Impact</a:t>
            </a:r>
            <a:r>
              <a:rPr lang="en-GB" dirty="0"/>
              <a:t> is the degree of strategic value delivered if it is achieved.</a:t>
            </a:r>
          </a:p>
          <a:p>
            <a:r>
              <a:rPr lang="en-GB" b="1" dirty="0"/>
              <a:t>Effort</a:t>
            </a:r>
            <a:r>
              <a:rPr lang="en-GB" dirty="0"/>
              <a:t> is the time, resources, coordination, and organisational change required."</a:t>
            </a:r>
          </a:p>
          <a:p>
            <a:endParaRPr lang="en-GB" dirty="0"/>
          </a:p>
          <a:p>
            <a:r>
              <a:rPr lang="en-GB" b="1" dirty="0"/>
              <a:t>Say: </a:t>
            </a:r>
            <a:r>
              <a:rPr lang="en-GB" dirty="0"/>
              <a:t>"This structured approach helps distinguish initiatives that accelerate strategic movement from those that consume resources without meaningful progress."</a:t>
            </a:r>
          </a:p>
          <a:p>
            <a:endParaRPr lang="en-GB" dirty="0"/>
          </a:p>
          <a:p>
            <a:r>
              <a:rPr lang="en-GB" b="1" dirty="0"/>
              <a:t>2. Give the question the matrix asks.</a:t>
            </a:r>
          </a:p>
          <a:p>
            <a:r>
              <a:rPr lang="en-GB" dirty="0"/>
              <a:t>Say: "The matrix asks the leadership team to answer a difficult question together: Which of these initiatives will most accelerate our movement toward the Success in Practice?"</a:t>
            </a:r>
          </a:p>
          <a:p>
            <a:endParaRPr lang="en-GB" dirty="0"/>
          </a:p>
          <a:p>
            <a:r>
              <a:rPr lang="en-GB" b="1" dirty="0"/>
              <a:t>3. Walk the nine positions on the slide, row by row.</a:t>
            </a:r>
          </a:p>
          <a:p>
            <a:r>
              <a:rPr lang="en-ZA" b="1" dirty="0"/>
              <a:t>High Impact</a:t>
            </a:r>
            <a:endParaRPr lang="en-ZA" dirty="0"/>
          </a:p>
          <a:p>
            <a:pPr lvl="0"/>
            <a:endParaRPr lang="en-ZA" b="1" dirty="0"/>
          </a:p>
          <a:p>
            <a:pPr lvl="0"/>
            <a:r>
              <a:rPr lang="en-ZA" b="1" dirty="0"/>
              <a:t>Strategic Catalysts — High Impact / Low Effort:</a:t>
            </a:r>
            <a:r>
              <a:rPr lang="en-ZA" dirty="0"/>
              <a:t> Quick breakthroughs that accelerate strategic momentum.</a:t>
            </a:r>
            <a:br>
              <a:rPr lang="en-ZA" dirty="0"/>
            </a:br>
            <a:r>
              <a:rPr lang="en-ZA" i="1" dirty="0"/>
              <a:t>Typical examples:</a:t>
            </a:r>
            <a:r>
              <a:rPr lang="en-ZA" dirty="0"/>
              <a:t> removing an approval bottleneck; changing a decision right; simplifying a critical customer process. </a:t>
            </a:r>
          </a:p>
          <a:p>
            <a:pPr lvl="0"/>
            <a:endParaRPr lang="en-ZA" b="1" dirty="0"/>
          </a:p>
          <a:p>
            <a:pPr lvl="0"/>
            <a:r>
              <a:rPr lang="en-ZA" b="1" dirty="0"/>
              <a:t>Accelerated Enablers — High Impact / Medium Effort:</a:t>
            </a:r>
            <a:r>
              <a:rPr lang="en-ZA" dirty="0"/>
              <a:t> Important initiatives requiring coordination but delivering strong value.</a:t>
            </a:r>
            <a:br>
              <a:rPr lang="en-ZA" dirty="0"/>
            </a:br>
            <a:r>
              <a:rPr lang="en-ZA" i="1" dirty="0"/>
              <a:t>Typical examples:</a:t>
            </a:r>
            <a:r>
              <a:rPr lang="en-ZA" dirty="0"/>
              <a:t> integrating customer data across functions; redesigning a key workflow; introducing a new performance dashboard. </a:t>
            </a:r>
          </a:p>
          <a:p>
            <a:pPr lvl="0"/>
            <a:endParaRPr lang="en-ZA" b="1" dirty="0"/>
          </a:p>
          <a:p>
            <a:pPr lvl="0"/>
            <a:r>
              <a:rPr lang="en-ZA" b="1" dirty="0"/>
              <a:t>Core Strategic Drivers — High Impact / High Effort:</a:t>
            </a:r>
            <a:r>
              <a:rPr lang="en-ZA" dirty="0"/>
              <a:t> Major transformation initiatives essential to achieving the </a:t>
            </a:r>
            <a:r>
              <a:rPr lang="en-ZA" dirty="0" err="1"/>
              <a:t>SiP</a:t>
            </a:r>
            <a:r>
              <a:rPr lang="en-ZA" dirty="0"/>
              <a:t>.</a:t>
            </a:r>
            <a:br>
              <a:rPr lang="en-ZA" dirty="0"/>
            </a:br>
            <a:r>
              <a:rPr lang="en-ZA" i="1" dirty="0"/>
              <a:t>Typical examples:</a:t>
            </a:r>
            <a:r>
              <a:rPr lang="en-ZA" dirty="0"/>
              <a:t> implementing a new core system; entering a new market; major operating-model transformation. </a:t>
            </a:r>
          </a:p>
          <a:p>
            <a:endParaRPr lang="en-ZA" b="1" dirty="0"/>
          </a:p>
          <a:p>
            <a:r>
              <a:rPr lang="en-ZA" b="1" dirty="0"/>
              <a:t>Medium Impact</a:t>
            </a:r>
            <a:endParaRPr lang="en-ZA" dirty="0"/>
          </a:p>
          <a:p>
            <a:pPr lvl="0"/>
            <a:endParaRPr lang="en-ZA" b="1" dirty="0"/>
          </a:p>
          <a:p>
            <a:pPr lvl="0"/>
            <a:r>
              <a:rPr lang="en-ZA" b="1" dirty="0"/>
              <a:t>Quick Efficiency Plays — Medium Impact / Low Effort:</a:t>
            </a:r>
            <a:r>
              <a:rPr lang="en-ZA" dirty="0"/>
              <a:t> Improvements that enhance performance with minimal effort.</a:t>
            </a:r>
            <a:br>
              <a:rPr lang="en-ZA" dirty="0"/>
            </a:br>
            <a:r>
              <a:rPr lang="en-ZA" i="1" dirty="0"/>
              <a:t>Typical examples:</a:t>
            </a:r>
            <a:r>
              <a:rPr lang="en-ZA" dirty="0"/>
              <a:t> simplifying a report; automating a routine approval; removing a duplicate meeting. </a:t>
            </a:r>
          </a:p>
          <a:p>
            <a:pPr lvl="0"/>
            <a:endParaRPr lang="en-ZA" b="1" dirty="0"/>
          </a:p>
          <a:p>
            <a:pPr lvl="0"/>
            <a:r>
              <a:rPr lang="en-ZA" b="1" dirty="0"/>
              <a:t>Targeted Growth Projects — Medium Impact / Medium Effort:</a:t>
            </a:r>
            <a:r>
              <a:rPr lang="en-ZA" dirty="0"/>
              <a:t> Initiatives contributing to strategic progress but not immediate priorities.</a:t>
            </a:r>
            <a:br>
              <a:rPr lang="en-ZA" dirty="0"/>
            </a:br>
            <a:r>
              <a:rPr lang="en-ZA" i="1" dirty="0"/>
              <a:t>Typical examples:</a:t>
            </a:r>
            <a:r>
              <a:rPr lang="en-ZA" dirty="0"/>
              <a:t> piloting a new service; developing a new customer segment; improving an existing digital channel. </a:t>
            </a:r>
          </a:p>
          <a:p>
            <a:pPr lvl="0"/>
            <a:endParaRPr lang="en-ZA" b="1" dirty="0"/>
          </a:p>
          <a:p>
            <a:pPr lvl="0"/>
            <a:r>
              <a:rPr lang="en-ZA" b="1" dirty="0"/>
              <a:t>Heavy Investment Candidates — Medium Impact / High Effort:</a:t>
            </a:r>
            <a:r>
              <a:rPr lang="en-ZA" dirty="0"/>
              <a:t> Initiatives requiring significant resources and careful timing.</a:t>
            </a:r>
            <a:br>
              <a:rPr lang="en-ZA" dirty="0"/>
            </a:br>
            <a:r>
              <a:rPr lang="en-ZA" i="1" dirty="0"/>
              <a:t>Typical examples:</a:t>
            </a:r>
            <a:r>
              <a:rPr lang="en-ZA" dirty="0"/>
              <a:t> upgrading a non-critical system; expanding office capacity; large-scale process redesign with moderate strategic benefit. </a:t>
            </a:r>
          </a:p>
          <a:p>
            <a:endParaRPr lang="en-ZA" b="1" dirty="0"/>
          </a:p>
          <a:p>
            <a:r>
              <a:rPr lang="en-ZA" b="1" dirty="0"/>
              <a:t>Low Impact</a:t>
            </a:r>
            <a:endParaRPr lang="en-ZA" dirty="0"/>
          </a:p>
          <a:p>
            <a:pPr lvl="0"/>
            <a:endParaRPr lang="en-ZA" b="1" dirty="0"/>
          </a:p>
          <a:p>
            <a:pPr lvl="0"/>
            <a:r>
              <a:rPr lang="en-ZA" b="1" dirty="0"/>
              <a:t>Supportive Enablers — Low Impact / Low Effort:</a:t>
            </a:r>
            <a:r>
              <a:rPr lang="en-ZA" dirty="0"/>
              <a:t> Helpful but non-critical initiatives.</a:t>
            </a:r>
            <a:br>
              <a:rPr lang="en-ZA" dirty="0"/>
            </a:br>
            <a:r>
              <a:rPr lang="en-ZA" i="1" dirty="0"/>
              <a:t>Typical examples:</a:t>
            </a:r>
            <a:r>
              <a:rPr lang="en-ZA" dirty="0"/>
              <a:t> updating templates; improving internal guides; minor website improvements. </a:t>
            </a:r>
          </a:p>
          <a:p>
            <a:pPr lvl="0"/>
            <a:endParaRPr lang="en-ZA" b="1" dirty="0"/>
          </a:p>
          <a:p>
            <a:pPr lvl="0"/>
            <a:r>
              <a:rPr lang="en-ZA" b="1" dirty="0"/>
              <a:t>Marginal Utility Tasks — Low Impact / Medium Effort:</a:t>
            </a:r>
            <a:r>
              <a:rPr lang="en-ZA" dirty="0"/>
              <a:t> Limited strategic return relative to effort.</a:t>
            </a:r>
            <a:br>
              <a:rPr lang="en-ZA" dirty="0"/>
            </a:br>
            <a:r>
              <a:rPr lang="en-ZA" i="1" dirty="0"/>
              <a:t>Typical examples:</a:t>
            </a:r>
            <a:r>
              <a:rPr lang="en-ZA" dirty="0"/>
              <a:t> redesigning internal reports with little decision value; creating additional dashboards nobody needs; running non-essential internal campaigns. </a:t>
            </a:r>
          </a:p>
          <a:p>
            <a:pPr lvl="0"/>
            <a:endParaRPr lang="en-ZA" b="1" dirty="0"/>
          </a:p>
          <a:p>
            <a:pPr lvl="0"/>
            <a:r>
              <a:rPr lang="en-ZA" b="1" dirty="0"/>
              <a:t>Resource Pitfalls — Low Impact / High Effort:</a:t>
            </a:r>
            <a:r>
              <a:rPr lang="en-ZA" dirty="0"/>
              <a:t> Consume significant energy without meaningful strategic value.</a:t>
            </a:r>
            <a:br>
              <a:rPr lang="en-ZA" dirty="0"/>
            </a:br>
            <a:r>
              <a:rPr lang="en-ZA" i="1" dirty="0"/>
              <a:t>Typical examples:</a:t>
            </a:r>
            <a:r>
              <a:rPr lang="en-ZA" dirty="0"/>
              <a:t> replacing a functioning system with little benefit; major office redesign; maintaining a legacy initiative because “we have already invested in it.” </a:t>
            </a:r>
          </a:p>
          <a:p>
            <a:endParaRPr lang="en-ZA" b="1" dirty="0"/>
          </a:p>
          <a:p>
            <a:r>
              <a:rPr lang="en-ZA" b="1" dirty="0"/>
              <a:t>Facilitator line to land it:</a:t>
            </a:r>
            <a:br>
              <a:rPr lang="en-ZA" dirty="0"/>
            </a:br>
            <a:r>
              <a:rPr lang="en-ZA" dirty="0"/>
              <a:t>“Notice that an initiative can sound useful and still sit in the wrong place. We are testing its </a:t>
            </a:r>
            <a:r>
              <a:rPr lang="en-ZA" b="1" dirty="0"/>
              <a:t>strategic impact against the effort required</a:t>
            </a:r>
            <a:r>
              <a:rPr lang="en-ZA" dirty="0"/>
              <a:t>, not simply whether it is a good idea.”</a:t>
            </a:r>
          </a:p>
          <a:p>
            <a:endParaRPr lang="en-GB" dirty="0"/>
          </a:p>
          <a:p>
            <a:r>
              <a:rPr lang="en-GB" b="1" dirty="0"/>
              <a:t>4. Point to the three positions that carry the execution signal.</a:t>
            </a:r>
          </a:p>
          <a:p>
            <a:r>
              <a:rPr lang="en-GB" b="1" dirty="0"/>
              <a:t>Say: "</a:t>
            </a:r>
            <a:r>
              <a:rPr lang="en-GB" dirty="0"/>
              <a:t>Pay particular attention to initiatives in Strategic Catalysts, Accelerated Enablers, and Core Strategic Drivers.</a:t>
            </a:r>
          </a:p>
          <a:p>
            <a:r>
              <a:rPr lang="en-GB" dirty="0"/>
              <a:t>These represent the highest leverage execution signals."</a:t>
            </a:r>
          </a:p>
          <a:p>
            <a:endParaRPr lang="en-GB" dirty="0"/>
          </a:p>
          <a:p>
            <a:r>
              <a:rPr lang="en-GB" b="1" dirty="0"/>
              <a:t>Add: </a:t>
            </a:r>
            <a:r>
              <a:rPr lang="en-GB" dirty="0"/>
              <a:t>"When the leadership team agrees on what belongs in these three positions, the organisation knows what must move first, what must follow, what must wait and what should stop."</a:t>
            </a:r>
          </a:p>
          <a:p>
            <a:endParaRPr lang="en-GB" dirty="0"/>
          </a:p>
          <a:p>
            <a:r>
              <a:rPr lang="en-GB" b="1" dirty="0"/>
              <a:t>5. Give the guiding questions for placing an initiative.</a:t>
            </a:r>
          </a:p>
          <a:p>
            <a:r>
              <a:rPr lang="en-GB" b="1" dirty="0"/>
              <a:t>Impact, ask</a:t>
            </a:r>
            <a:r>
              <a:rPr lang="en-GB" dirty="0"/>
              <a:t>: "If this initiative succeeds, how strongly will it move us toward our Success in Practice? Will customers feel the difference? Will execution speed improve? Will collaboration improve? Will enterprise value strengthen?"</a:t>
            </a:r>
          </a:p>
          <a:p>
            <a:endParaRPr lang="en-GB" dirty="0"/>
          </a:p>
          <a:p>
            <a:r>
              <a:rPr lang="en-GB" b="1" dirty="0"/>
              <a:t>Effort, ask: </a:t>
            </a:r>
            <a:r>
              <a:rPr lang="en-GB" dirty="0"/>
              <a:t>"How much organisational coordination is required? How many functions must collaborate? What capability or system changes are required? How much leadership attention is needed?"</a:t>
            </a:r>
          </a:p>
          <a:p>
            <a:endParaRPr lang="en-GB" dirty="0"/>
          </a:p>
          <a:p>
            <a:r>
              <a:rPr lang="en-GB" b="1" dirty="0"/>
              <a:t>Deepen, say</a:t>
            </a:r>
            <a:r>
              <a:rPr lang="en-GB" dirty="0"/>
              <a:t>: "The leader who launches a strategic move without pricing every component retreats publicly when the second invoice arrives.</a:t>
            </a:r>
          </a:p>
          <a:p>
            <a:r>
              <a:rPr lang="en-GB" dirty="0"/>
              <a:t>Stress-test each initiative against the costs that do not appear on the deal sheet: the human responsibility, the cultural change and the long-term obligation."</a:t>
            </a:r>
          </a:p>
          <a:p>
            <a:r>
              <a:rPr lang="en-GB" dirty="0"/>
              <a:t>(Insight: The second cost. Source: Journal, 2 May 2026 — Professional Insights: Strategy)</a:t>
            </a:r>
          </a:p>
          <a:p>
            <a:endParaRPr lang="en-GB" dirty="0"/>
          </a:p>
          <a:p>
            <a:r>
              <a:rPr lang="en-GB" b="1" dirty="0"/>
              <a:t>6. Say what the low-impact row is for.</a:t>
            </a:r>
          </a:p>
          <a:p>
            <a:r>
              <a:rPr lang="en-GB" b="1" dirty="0"/>
              <a:t>Say: </a:t>
            </a:r>
            <a:r>
              <a:rPr lang="en-GB" dirty="0"/>
              <a:t>"The bottom row matters as much as the top row. It shows where energy is leaking."</a:t>
            </a:r>
          </a:p>
          <a:p>
            <a:endParaRPr lang="en-GB" dirty="0"/>
          </a:p>
          <a:p>
            <a:r>
              <a:rPr lang="en-GB" b="1" dirty="0"/>
              <a:t>Deepen, say</a:t>
            </a:r>
            <a:r>
              <a:rPr lang="en-GB" dirty="0"/>
              <a:t>: "Organisations often lose momentum because key people let peripheral demands consume the attention needed to finish.</a:t>
            </a:r>
          </a:p>
          <a:p>
            <a:r>
              <a:rPr lang="en-GB" dirty="0"/>
              <a:t>Strategic discipline includes deciding what will not receive executive time."</a:t>
            </a:r>
          </a:p>
          <a:p>
            <a:r>
              <a:rPr lang="en-GB" dirty="0"/>
              <a:t>(Insight: Protecting attention. Source: Journal, 8 August 2026 — Professional Insights: Strategy)</a:t>
            </a:r>
          </a:p>
          <a:p>
            <a:endParaRPr lang="en-GB" dirty="0"/>
          </a:p>
          <a:p>
            <a:r>
              <a:rPr lang="en-GB" b="1" dirty="0"/>
              <a:t>7. Say what the debate is for.</a:t>
            </a:r>
          </a:p>
          <a:p>
            <a:r>
              <a:rPr lang="en-GB" b="1" dirty="0"/>
              <a:t>Say: </a:t>
            </a:r>
            <a:r>
              <a:rPr lang="en-GB" dirty="0"/>
              <a:t>"The debate about what constitutes high impact versus high effort is often more valuable than the final placements.</a:t>
            </a:r>
          </a:p>
          <a:p>
            <a:r>
              <a:rPr lang="en-GB" dirty="0"/>
              <a:t>As a team debates a placement, it shows how each function interprets impact, how each function perceives effort, and where assumptions about capability, coordination and resources differ."</a:t>
            </a:r>
          </a:p>
          <a:p>
            <a:endParaRPr lang="en-GB" dirty="0"/>
          </a:p>
          <a:p>
            <a:r>
              <a:rPr lang="en-GB" b="1" dirty="0"/>
              <a:t>8. Close Awareness.</a:t>
            </a:r>
          </a:p>
          <a:p>
            <a:r>
              <a:rPr lang="en-GB" b="1" dirty="0"/>
              <a:t>Say: </a:t>
            </a:r>
            <a:r>
              <a:rPr lang="en-GB" dirty="0"/>
              <a:t>"We now have the full toolkit: KISS as the honest diagnostic, OKR anatomy as the building structure, and the five-step path to connect them.</a:t>
            </a:r>
          </a:p>
          <a:p>
            <a:r>
              <a:rPr lang="en-GB" dirty="0"/>
              <a:t>The next two sections explain why this sequence matters and where it typically fails."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prompt aloud.</a:t>
            </a:r>
          </a:p>
          <a:p>
            <a:r>
              <a:rPr lang="en-GB" dirty="0"/>
              <a:t>1.4 Reflection: "Think of a goal your team set in the last 12 months. Was it an Objective, a Key Result, or a task disguised as one of these? What would a proper Key Result look like using the formula?"</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one real goal.</a:t>
            </a:r>
          </a:p>
          <a:p>
            <a:r>
              <a:rPr lang="en-GB" dirty="0"/>
              <a:t>Say which of the three it was: an Objective, a Key Result, or a task.</a:t>
            </a:r>
          </a:p>
          <a:p>
            <a:r>
              <a:rPr lang="en-GB" dirty="0"/>
              <a:t>Then rewrite it as a Key Result with all four elements: the verb of change, the metric, from X to Y, and the deadline."</a:t>
            </a:r>
          </a:p>
          <a:p>
            <a:r>
              <a:rPr lang="en-GB" dirty="0"/>
              <a:t>Listen for: a rewritten Key Result with no baseline. Ask: "From what, to what?"</a:t>
            </a:r>
          </a:p>
          <a:p>
            <a:endParaRPr lang="en-GB" dirty="0"/>
          </a:p>
          <a:p>
            <a:r>
              <a:rPr lang="en-GB" b="1" dirty="0"/>
              <a:t>4. Bridge to Section 2.</a:t>
            </a:r>
          </a:p>
          <a:p>
            <a:r>
              <a:rPr lang="en-GB" dirty="0"/>
              <a:t>Say: "We have the toolkit. Section 2 asks why the sequence matters."</a:t>
            </a:r>
          </a:p>
          <a:p>
            <a:endParaRPr lang="en-GB" dirty="0"/>
          </a:p>
          <a:p>
            <a:r>
              <a:rPr lang="en-GB" b="1" dirty="0"/>
              <a:t>ON THE PORTAL, AFTER THE TEACHING:</a:t>
            </a:r>
          </a:p>
          <a:p>
            <a:r>
              <a:rPr lang="en-GB" dirty="0"/>
              <a:t>Participants write the reflection in Section 1 of the participant file: 1.4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danger of moving straight from vision to targets, and the three human problems it creates.</a:t>
            </a:r>
          </a:p>
          <a:p>
            <a:r>
              <a:rPr lang="en-GB" dirty="0"/>
              <a:t>2. 2.2: the Strategy2Results® sequence (Success in Practice, KISS, OKRs), then one worked example on seven slides: the SiP statement, its KISS table, then Steps 1 to 5 on one slide each.</a:t>
            </a:r>
          </a:p>
          <a:p>
            <a:r>
              <a:rPr lang="en-GB" dirty="0"/>
              <a:t>3. The Section 2 Reflections slide: the reflection participants write on the portal after the teaching.</a:t>
            </a:r>
          </a:p>
          <a:p>
            <a:endParaRPr lang="en-GB" dirty="0"/>
          </a:p>
          <a:p>
            <a:r>
              <a:rPr lang="en-GB" b="1" dirty="0"/>
              <a:t>HOW TO OPEN THE SECTION:</a:t>
            </a:r>
          </a:p>
          <a:p>
            <a:endParaRPr lang="en-GB" dirty="0"/>
          </a:p>
          <a:p>
            <a:r>
              <a:rPr lang="en-GB" b="1" dirty="0"/>
              <a:t>1. Ask before you show any content.</a:t>
            </a:r>
          </a:p>
          <a:p>
            <a:r>
              <a:rPr lang="en-GB" dirty="0"/>
              <a:t>Ask: "Has your organisation ever set goals that felt disconnected from the reality of what was actually happening on the ground? Where Key Results became a to-do list that nobody believed in?"</a:t>
            </a:r>
          </a:p>
          <a:p>
            <a:r>
              <a:rPr lang="en-GB" dirty="0"/>
              <a:t>Take three or four answers. Ask participants to post them in the chat.</a:t>
            </a:r>
          </a:p>
          <a:p>
            <a:r>
              <a:rPr lang="en-GB" dirty="0"/>
              <a:t>Use the responses to anchor why the sequence matters before the content begins.</a:t>
            </a:r>
          </a:p>
          <a:p>
            <a:endParaRPr lang="en-GB" dirty="0"/>
          </a:p>
          <a:p>
            <a:r>
              <a:rPr lang="en-GB" b="1" dirty="0"/>
              <a:t>2. Read the two section learning outcomes from the slide.</a:t>
            </a:r>
          </a:p>
          <a:p>
            <a:r>
              <a:rPr lang="en-GB" b="1" dirty="0"/>
              <a:t>SECTION LEARNING OUTCOMES:</a:t>
            </a:r>
          </a:p>
          <a:p>
            <a:r>
              <a:rPr lang="en-GB" dirty="0"/>
              <a:t>1. Map the strategic terrain before setting goals.</a:t>
            </a:r>
          </a:p>
          <a:p>
            <a:r>
              <a:rPr lang="en-GB" dirty="0"/>
              <a:t>2. Practise the translation of SiP into OKRs.</a:t>
            </a:r>
          </a:p>
          <a:p>
            <a:endParaRPr lang="en-GB" dirty="0"/>
          </a:p>
          <a:p>
            <a:r>
              <a:rPr lang="en-GB" b="1" dirty="0"/>
              <a:t>3. State the section intent.</a:t>
            </a:r>
          </a:p>
          <a:p>
            <a:r>
              <a:rPr lang="en-GB" dirty="0"/>
              <a:t>Say: "This section answers the question you may be quietly asking: why can we not just write the OKRs directly?</a:t>
            </a:r>
          </a:p>
          <a:p>
            <a:r>
              <a:rPr lang="en-GB" dirty="0"/>
              <a:t>The answer: OKRs without KISS become disconnected targets, fragmented efforts, and activity traps."</a:t>
            </a:r>
          </a:p>
          <a:p>
            <a:r>
              <a:rPr lang="en-GB" dirty="0"/>
              <a:t>Add: "Most OKR failures are reflection failures. Most of the time, the OKR framework itself is sound."</a:t>
            </a:r>
          </a:p>
          <a:p>
            <a:endParaRPr lang="en-GB" dirty="0"/>
          </a:p>
          <a:p>
            <a:r>
              <a:rPr lang="en-GB" b="1" dirty="0"/>
              <a:t>4. Bridge to 2.1.</a:t>
            </a:r>
          </a:p>
          <a:p>
            <a:r>
              <a:rPr lang="en-GB" dirty="0"/>
              <a:t>Say: "We start with what goes wrong when an organisation moves too fast."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2.1 — THE DANGER OF MOVING TOO FAST (3 HUMAN PROBLEMS)</a:t>
            </a:r>
          </a:p>
          <a:p>
            <a:endParaRPr lang="en-GB" dirty="0"/>
          </a:p>
          <a:p>
            <a:r>
              <a:rPr lang="en-GB" b="1" dirty="0"/>
              <a:t>HOW TO TEACH IT:</a:t>
            </a:r>
          </a:p>
          <a:p>
            <a:endParaRPr lang="en-GB" dirty="0"/>
          </a:p>
          <a:p>
            <a:r>
              <a:rPr lang="en-GB" b="1" dirty="0"/>
              <a:t>1. Describe the pattern.</a:t>
            </a:r>
          </a:p>
          <a:p>
            <a:r>
              <a:rPr lang="en-GB" dirty="0"/>
              <a:t>Say: "Many organisations dive into OKRs with energy, but that enthusiasm often sours into frustration.</a:t>
            </a:r>
          </a:p>
          <a:p>
            <a:r>
              <a:rPr lang="en-GB" dirty="0"/>
              <a:t>Teams end up with vague goals and Key Results that feel like yet another to-do list."</a:t>
            </a:r>
          </a:p>
          <a:p>
            <a:endParaRPr lang="en-GB" dirty="0"/>
          </a:p>
          <a:p>
            <a:r>
              <a:rPr lang="en-GB" b="1" dirty="0"/>
              <a:t>2. Name the usual cause.</a:t>
            </a:r>
          </a:p>
          <a:p>
            <a:r>
              <a:rPr lang="en-GB" b="1" dirty="0"/>
              <a:t>Say: </a:t>
            </a:r>
            <a:r>
              <a:rPr lang="en-GB" dirty="0"/>
              <a:t>"The usual cause of OKR frustration: organisations try to measure progress before they have had an honest conversation about where they are actually standing.</a:t>
            </a:r>
          </a:p>
          <a:p>
            <a:r>
              <a:rPr lang="en-GB" dirty="0"/>
              <a:t>When leadership moves straight from a big vision to hard targets, they unintentionally skip the reality check.</a:t>
            </a:r>
          </a:p>
          <a:p>
            <a:r>
              <a:rPr lang="en-GB" dirty="0"/>
              <a:t>This creates predictable human problems."</a:t>
            </a:r>
          </a:p>
          <a:p>
            <a:endParaRPr lang="en-GB" dirty="0"/>
          </a:p>
          <a:p>
            <a:r>
              <a:rPr lang="en-GB" b="1" dirty="0"/>
              <a:t>3. Take the three problems on the slide.</a:t>
            </a:r>
          </a:p>
          <a:p>
            <a:endParaRPr lang="en-GB" b="1" dirty="0"/>
          </a:p>
          <a:p>
            <a:r>
              <a:rPr lang="en-GB" b="1" dirty="0"/>
              <a:t>Disconnected Targets, say: </a:t>
            </a:r>
            <a:r>
              <a:rPr lang="en-GB" dirty="0"/>
              <a:t>"People are asked to hit numbers without anyone acknowledging the hurdles that make those numbers nearly impossible."</a:t>
            </a:r>
          </a:p>
          <a:p>
            <a:endParaRPr lang="en-GB" dirty="0"/>
          </a:p>
          <a:p>
            <a:r>
              <a:rPr lang="en-GB" b="1" dirty="0"/>
              <a:t>Fragmented Efforts, say: </a:t>
            </a:r>
            <a:r>
              <a:rPr lang="en-GB" dirty="0"/>
              <a:t>"Different functions row in different directions because they have not agreed on what success looks like in the trenches."</a:t>
            </a:r>
          </a:p>
          <a:p>
            <a:endParaRPr lang="en-GB" dirty="0"/>
          </a:p>
          <a:p>
            <a:r>
              <a:rPr lang="en-GB" b="1" dirty="0"/>
              <a:t>The Activity Trap, say: </a:t>
            </a:r>
            <a:r>
              <a:rPr lang="en-GB" dirty="0"/>
              <a:t>"People default to measuring busyness because they are not sure how to prove they are achieving real outcomes."</a:t>
            </a:r>
          </a:p>
          <a:p>
            <a:endParaRPr lang="en-GB" dirty="0"/>
          </a:p>
          <a:p>
            <a:r>
              <a:rPr lang="en-GB" b="1" dirty="0"/>
              <a:t>EXAMPLE</a:t>
            </a:r>
          </a:p>
          <a:p>
            <a:r>
              <a:rPr lang="en-GB" dirty="0"/>
              <a:t>A leadership team sets a target: “Grow client revenue by 20% this year.”</a:t>
            </a:r>
          </a:p>
          <a:p>
            <a:r>
              <a:rPr lang="en-GB" dirty="0"/>
              <a:t>Sales pursues new accounts. </a:t>
            </a:r>
          </a:p>
          <a:p>
            <a:r>
              <a:rPr lang="en-GB" dirty="0"/>
              <a:t>Operations is measured on cost and reduces service cover. </a:t>
            </a:r>
          </a:p>
          <a:p>
            <a:r>
              <a:rPr lang="en-GB" dirty="0"/>
              <a:t>Nobody has said that response time to existing clients already varies across teams.</a:t>
            </a:r>
          </a:p>
          <a:p>
            <a:r>
              <a:rPr lang="en-GB" dirty="0"/>
              <a:t>All three problems are present: a target disconnected from the hurdle, functions rowing in different directions, and busyness reported as progress.</a:t>
            </a:r>
          </a:p>
          <a:p>
            <a:endParaRPr lang="en-GB" dirty="0"/>
          </a:p>
          <a:p>
            <a:r>
              <a:rPr lang="en-GB" b="1" dirty="0"/>
              <a:t>4. Ask the room to recognise itself.</a:t>
            </a:r>
          </a:p>
          <a:p>
            <a:r>
              <a:rPr lang="en-GB" b="1" dirty="0"/>
              <a:t>Ask: </a:t>
            </a:r>
            <a:r>
              <a:rPr lang="en-GB" dirty="0"/>
              <a:t>"Which of these three describes your experience in your organisation’s goal-setting cycle most accurately?"</a:t>
            </a:r>
          </a:p>
          <a:p>
            <a:r>
              <a:rPr lang="en-GB" dirty="0"/>
              <a:t>Take a show of hands for each problem, or quick responses in the chat, and say what the pattern in the room is.</a:t>
            </a:r>
          </a:p>
          <a:p>
            <a:r>
              <a:rPr lang="en-GB" dirty="0"/>
              <a:t>The near-universal recognition of at least one pattern is itself the lesson.</a:t>
            </a:r>
          </a:p>
          <a:p>
            <a:endParaRPr lang="en-GB" dirty="0"/>
          </a:p>
          <a:p>
            <a:r>
              <a:rPr lang="en-GB" b="1" dirty="0"/>
              <a:t>5. Say what the skipped reality check costs.</a:t>
            </a:r>
          </a:p>
          <a:p>
            <a:r>
              <a:rPr lang="en-GB" b="1" dirty="0"/>
              <a:t>Deepen, say: </a:t>
            </a:r>
            <a:r>
              <a:rPr lang="en-GB" dirty="0"/>
              <a:t>"Execution often stops at the convenient point: the easy quick wins get delivered and the structurally difficult changes are deferred, rationalised and eventually abandoned.</a:t>
            </a:r>
          </a:p>
          <a:p>
            <a:r>
              <a:rPr lang="en-GB" dirty="0"/>
              <a:t>A strategy that is 70% executed often produces almost none of the intended transformation, because the avoided 30% is where the leverage lives."</a:t>
            </a:r>
          </a:p>
          <a:p>
            <a:r>
              <a:rPr lang="en-GB" dirty="0"/>
              <a:t>(Insight: Stopping at convenient. Source: Journal, 16 April 2026 — Professional Insights: Strategy)</a:t>
            </a:r>
          </a:p>
          <a:p>
            <a:endParaRPr lang="en-GB" dirty="0"/>
          </a:p>
          <a:p>
            <a:r>
              <a:rPr lang="en-GB" b="1" dirty="0"/>
              <a:t>6. Read the closing line from the foot of the slide.</a:t>
            </a:r>
          </a:p>
          <a:p>
            <a:r>
              <a:rPr lang="en-GB" b="1" dirty="0"/>
              <a:t>Say:</a:t>
            </a:r>
            <a:r>
              <a:rPr lang="en-GB" dirty="0"/>
              <a:t> "Essentially, the organisation starts measuring the finish line before it has mapped the terrain."</a:t>
            </a:r>
          </a:p>
          <a:p>
            <a:endParaRPr lang="en-GB" dirty="0"/>
          </a:p>
          <a:p>
            <a:r>
              <a:rPr lang="en-GB" b="1" dirty="0"/>
              <a:t>Deepen, say: </a:t>
            </a:r>
            <a:r>
              <a:rPr lang="en-GB" dirty="0"/>
              <a:t>"Many organisations announce a new strategic direction before the systems, people and structures can support it, then spend the next phase defending a position they have not yet earned."</a:t>
            </a:r>
          </a:p>
          <a:p>
            <a:r>
              <a:rPr lang="en-GB" dirty="0"/>
              <a:t>(Insight: Claiming the destination early. Source: Journal, 14 May 2026 — Professional Insights: Strategy)</a:t>
            </a:r>
          </a:p>
          <a:p>
            <a:endParaRPr lang="en-GB" dirty="0"/>
          </a:p>
          <a:p>
            <a:r>
              <a:rPr lang="en-GB" b="1" dirty="0"/>
              <a:t>7. Bridge to 2.2.</a:t>
            </a:r>
          </a:p>
          <a:p>
            <a:r>
              <a:rPr lang="en-GB" dirty="0"/>
              <a:t>Say: "KISS is the map of the terrain. The next slide shows where it sits in the sequence."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TURNING INTENT INTO ACTION: THE STRATEGY2RESULTS® SEQUENCE (3-PART LOGIC)</a:t>
            </a:r>
          </a:p>
          <a:p>
            <a:endParaRPr lang="en-GB" dirty="0"/>
          </a:p>
          <a:p>
            <a:r>
              <a:rPr lang="en-GB" b="1" dirty="0"/>
              <a:t>HOW TO TEACH IT:</a:t>
            </a:r>
          </a:p>
          <a:p>
            <a:endParaRPr lang="en-GB" dirty="0"/>
          </a:p>
          <a:p>
            <a:r>
              <a:rPr lang="en-GB" b="1" dirty="0"/>
              <a:t>1. Introduce the sequence.</a:t>
            </a:r>
          </a:p>
          <a:p>
            <a:r>
              <a:rPr lang="en-GB" b="1" dirty="0"/>
              <a:t>Say: </a:t>
            </a:r>
            <a:r>
              <a:rPr lang="en-GB" dirty="0"/>
              <a:t>"Once these patterns are visible, strategy stops being a deck of slides and starts being a shared journey.</a:t>
            </a:r>
          </a:p>
          <a:p>
            <a:r>
              <a:rPr lang="en-GB" dirty="0"/>
              <a:t>The Strategy2Results® sequence makes the path forward clear and respectful of the people walking it."</a:t>
            </a:r>
          </a:p>
          <a:p>
            <a:endParaRPr lang="en-GB" dirty="0"/>
          </a:p>
          <a:p>
            <a:r>
              <a:rPr lang="en-GB" b="1" dirty="0"/>
              <a:t>2. Success in Practice.</a:t>
            </a:r>
          </a:p>
          <a:p>
            <a:r>
              <a:rPr lang="en-GB" b="1" dirty="0"/>
              <a:t>Say: </a:t>
            </a:r>
            <a:r>
              <a:rPr lang="en-GB" dirty="0"/>
              <a:t>"Success in Practice is the dream of where the organisation wants to be: the vivid future state across the four SiP domains."</a:t>
            </a:r>
          </a:p>
          <a:p>
            <a:endParaRPr lang="en-GB" dirty="0"/>
          </a:p>
          <a:p>
            <a:r>
              <a:rPr lang="en-GB" b="1" dirty="0"/>
              <a:t>3. KISS.</a:t>
            </a:r>
          </a:p>
          <a:p>
            <a:r>
              <a:rPr lang="en-GB" b="1" dirty="0"/>
              <a:t>Say: </a:t>
            </a:r>
            <a:r>
              <a:rPr lang="en-GB" dirty="0"/>
              <a:t>"KISS is the honest look at the changes required to get there. It is the bridge between the future and the present reality."</a:t>
            </a:r>
          </a:p>
          <a:p>
            <a:endParaRPr lang="en-GB" dirty="0"/>
          </a:p>
          <a:p>
            <a:r>
              <a:rPr lang="en-GB" b="1" dirty="0"/>
              <a:t>Deepen, say</a:t>
            </a:r>
            <a:r>
              <a:rPr lang="en-GB" dirty="0"/>
              <a:t>: "Organisations that enter a new strategy without a clear account of what they have, what capacity exists and where the real strengths lie are navigating without an accurate map.</a:t>
            </a:r>
          </a:p>
          <a:p>
            <a:r>
              <a:rPr lang="en-GB" dirty="0"/>
              <a:t>Take stock before planning what you will do."</a:t>
            </a:r>
          </a:p>
          <a:p>
            <a:r>
              <a:rPr lang="en-GB" dirty="0"/>
              <a:t>(Insight: Know what you have. Source: Journal, 28 February 2026 — Professional Insights: Strategy)</a:t>
            </a:r>
          </a:p>
          <a:p>
            <a:endParaRPr lang="en-GB" dirty="0"/>
          </a:p>
          <a:p>
            <a:r>
              <a:rPr lang="en-GB" b="1" dirty="0"/>
              <a:t>4. OKRs.</a:t>
            </a:r>
          </a:p>
          <a:p>
            <a:r>
              <a:rPr lang="en-GB" b="1" dirty="0"/>
              <a:t>Say</a:t>
            </a:r>
            <a:r>
              <a:rPr lang="en-GB" dirty="0"/>
              <a:t>: "OKRs are the manageable, measurable steps taken to prove the organisation is moving. They are the execution compass."</a:t>
            </a:r>
          </a:p>
          <a:p>
            <a:endParaRPr lang="en-GB" dirty="0"/>
          </a:p>
          <a:p>
            <a:r>
              <a:rPr lang="en-GB" b="1" dirty="0"/>
              <a:t>5. Put the question at the foot of the slide to the room.</a:t>
            </a:r>
          </a:p>
          <a:p>
            <a:r>
              <a:rPr lang="en-GB" dirty="0"/>
              <a:t>Ask: "At which point in this sequence does our organisation typically enter? Do we skip the KISS reality check and jump straight to targets?"</a:t>
            </a:r>
          </a:p>
          <a:p>
            <a:r>
              <a:rPr lang="en-GB" dirty="0"/>
              <a:t>The honest answer often unlocks the conversation about why previous goal-setting cycles felt frustrating.</a:t>
            </a:r>
          </a:p>
          <a:p>
            <a:endParaRPr lang="en-GB" dirty="0"/>
          </a:p>
          <a:p>
            <a:r>
              <a:rPr lang="en-GB" b="1" dirty="0"/>
              <a:t>6. Say what the sequence gives.</a:t>
            </a:r>
          </a:p>
          <a:p>
            <a:r>
              <a:rPr lang="en-GB" b="1" dirty="0"/>
              <a:t>Say: </a:t>
            </a:r>
            <a:r>
              <a:rPr lang="en-GB" dirty="0"/>
              <a:t>"When this sequence is respected, OKRs become a way for the organisation to learn, breathe, and align.</a:t>
            </a:r>
          </a:p>
          <a:p>
            <a:r>
              <a:rPr lang="en-GB" dirty="0"/>
              <a:t>Strategy transforms from a statement of intent into a living system that actually helps people succeed."</a:t>
            </a:r>
          </a:p>
          <a:p>
            <a:endParaRPr lang="en-GB" dirty="0"/>
          </a:p>
          <a:p>
            <a:r>
              <a:rPr lang="en-GB" b="1" dirty="0"/>
              <a:t>Deepen, say: </a:t>
            </a:r>
            <a:r>
              <a:rPr lang="en-GB" dirty="0"/>
              <a:t>"Great strategies are sequenced: each phase prepares for the next.</a:t>
            </a:r>
          </a:p>
          <a:p>
            <a:r>
              <a:rPr lang="en-GB" dirty="0"/>
              <a:t>Trying to do everything at once is the fastest way to produce something that resembles nothing."</a:t>
            </a:r>
          </a:p>
          <a:p>
            <a:r>
              <a:rPr lang="en-GB" dirty="0"/>
              <a:t>(Insight: Sequenced execution. Source: Journal, 5 January 2026 — Professional Insights: Strategy)</a:t>
            </a:r>
          </a:p>
          <a:p>
            <a:endParaRPr lang="en-GB" dirty="0"/>
          </a:p>
          <a:p>
            <a:r>
              <a:rPr lang="en-GB" b="1" dirty="0"/>
              <a:t>8. Bridge to the worked example.</a:t>
            </a:r>
          </a:p>
          <a:p>
            <a:r>
              <a:rPr lang="en-GB" dirty="0"/>
              <a:t>Say: "We now follow one simple SiP statement through the whole sequence: first through the KISS filters, then through the five steps."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WORKED EXAMPLE · THE SiP STATEMENT</a:t>
            </a:r>
          </a:p>
          <a:p>
            <a:endParaRPr lang="en-GB" dirty="0"/>
          </a:p>
          <a:p>
            <a:r>
              <a:rPr lang="en-GB" b="1" dirty="0"/>
              <a:t>HOW TO TEACH IT:</a:t>
            </a:r>
          </a:p>
          <a:p>
            <a:endParaRPr lang="en-GB" dirty="0"/>
          </a:p>
          <a:p>
            <a:r>
              <a:rPr lang="en-GB" b="1" dirty="0"/>
              <a:t>1. Introduce the example.</a:t>
            </a:r>
          </a:p>
          <a:p>
            <a:r>
              <a:rPr lang="en-GB" dirty="0"/>
              <a:t>Say: "This is a client services company. It has written one simple SiP statement. </a:t>
            </a:r>
          </a:p>
          <a:p>
            <a:r>
              <a:rPr lang="en-GB" dirty="0"/>
              <a:t>We follow it through the whole sequence."</a:t>
            </a:r>
          </a:p>
          <a:p>
            <a:r>
              <a:rPr lang="en-GB" dirty="0"/>
              <a:t>Tell participants: the same example is in 2.2 of their own page, for them to refer to when they do the group work.</a:t>
            </a:r>
          </a:p>
          <a:p>
            <a:endParaRPr lang="en-GB" b="1" dirty="0"/>
          </a:p>
          <a:p>
            <a:r>
              <a:rPr lang="en-GB" b="1" dirty="0"/>
              <a:t>2. Read the SiP statement from the slide.</a:t>
            </a:r>
          </a:p>
          <a:p>
            <a:r>
              <a:rPr lang="en-GB" dirty="0"/>
              <a:t>"We will be the service partner our clients rely on first, by ensuring every client experiences fast, consistent and effortless service. To achieve this, we will move quickly from insight to action across functions, build shared ownership of enterprise priorities and run scalable, efficient operations that strengthen enterprise performance."</a:t>
            </a:r>
          </a:p>
          <a:p>
            <a:endParaRPr lang="en-GB" dirty="0"/>
          </a:p>
          <a:p>
            <a:r>
              <a:rPr lang="en-GB" dirty="0"/>
              <a:t>Ask: "Which words in this statement belong to each of the four SiP domains?"</a:t>
            </a:r>
          </a:p>
          <a:p>
            <a:r>
              <a:rPr lang="en-GB" b="1" dirty="0"/>
              <a:t>Listen for</a:t>
            </a:r>
            <a:r>
              <a:rPr lang="en-GB" dirty="0"/>
              <a:t>: fast, consistent and effortless service (Customer Experience &amp; Value); </a:t>
            </a:r>
          </a:p>
          <a:p>
            <a:r>
              <a:rPr lang="en-GB" dirty="0"/>
              <a:t>insight to action across functions (Operational Capability &amp; Execution Rhythm); </a:t>
            </a:r>
          </a:p>
          <a:p>
            <a:r>
              <a:rPr lang="en-GB" dirty="0"/>
              <a:t>shared ownership of enterprise priorities (People &amp; Culture Dynamics); </a:t>
            </a:r>
          </a:p>
          <a:p>
            <a:r>
              <a:rPr lang="en-GB" dirty="0"/>
              <a:t>scalable, efficient operations and enterprise performance (Enterprise Value Creation).</a:t>
            </a:r>
          </a:p>
          <a:p>
            <a:endParaRPr lang="en-GB" dirty="0"/>
          </a:p>
          <a:p>
            <a:r>
              <a:rPr lang="en-GB" b="1" dirty="0"/>
              <a:t>3. Bridge to the KISS table.</a:t>
            </a:r>
          </a:p>
          <a:p>
            <a:r>
              <a:rPr lang="en-GB" dirty="0"/>
              <a:t>Say: "The statement describes the future. The leadership team now examines the organisation of today against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WORKED EXAMPLE · THE KISS TABLE</a:t>
            </a:r>
          </a:p>
          <a:p>
            <a:endParaRPr lang="en-GB" dirty="0"/>
          </a:p>
          <a:p>
            <a:r>
              <a:rPr lang="en-GB" b="1" dirty="0"/>
              <a:t>HOW TO TEACH IT:</a:t>
            </a:r>
          </a:p>
          <a:p>
            <a:endParaRPr lang="en-GB" dirty="0"/>
          </a:p>
          <a:p>
            <a:r>
              <a:rPr lang="en-GB" b="1" dirty="0"/>
              <a:t>1. Pass the statement through KISS, one SiP domain at a time.</a:t>
            </a:r>
          </a:p>
          <a:p>
            <a:r>
              <a:rPr lang="en-GB" dirty="0"/>
              <a:t>Say: "The leadership team passes the SiP statement through the four KISS filters, one SiP domain at a time."</a:t>
            </a:r>
          </a:p>
          <a:p>
            <a:endParaRPr lang="en-GB" dirty="0"/>
          </a:p>
          <a:p>
            <a:r>
              <a:rPr lang="en-GB" b="1" dirty="0"/>
              <a:t>2. Read the first domain from the slide: </a:t>
            </a:r>
          </a:p>
          <a:p>
            <a:r>
              <a:rPr lang="en-GB" b="1" dirty="0"/>
              <a:t>Customer Experience &amp; Value.</a:t>
            </a:r>
          </a:p>
          <a:p>
            <a:r>
              <a:rPr lang="en-GB" dirty="0"/>
              <a:t>- KEEP: Strong client relationships with key accounts</a:t>
            </a:r>
          </a:p>
          <a:p>
            <a:r>
              <a:rPr lang="en-GB" dirty="0"/>
              <a:t>- IMPROVE: Response time to customer requests varies across teams</a:t>
            </a:r>
          </a:p>
          <a:p>
            <a:r>
              <a:rPr lang="en-GB" dirty="0"/>
              <a:t>- START: Introduce proactive customer engagement model</a:t>
            </a:r>
          </a:p>
          <a:p>
            <a:r>
              <a:rPr lang="en-GB" dirty="0"/>
              <a:t>- STOP: Slow internal handovers that delay customer responses</a:t>
            </a:r>
          </a:p>
          <a:p>
            <a:endParaRPr lang="en-GB" dirty="0"/>
          </a:p>
          <a:p>
            <a:r>
              <a:rPr lang="en-GB" b="1" dirty="0"/>
              <a:t>Ask</a:t>
            </a:r>
            <a:r>
              <a:rPr lang="en-GB" dirty="0"/>
              <a:t>: "Which words of the SiP statement do these four entries answer to?"</a:t>
            </a:r>
          </a:p>
          <a:p>
            <a:r>
              <a:rPr lang="en-GB" dirty="0"/>
              <a:t>Listen for: fast, consistent and effortless service.</a:t>
            </a:r>
          </a:p>
          <a:p>
            <a:endParaRPr lang="en-GB" dirty="0"/>
          </a:p>
          <a:p>
            <a:r>
              <a:rPr lang="en-GB" b="1" dirty="0"/>
              <a:t>Operational Capability &amp; Execution Rhythm</a:t>
            </a:r>
          </a:p>
          <a:p>
            <a:r>
              <a:rPr lang="en-GB" dirty="0"/>
              <a:t>- KEEP: Clear strategic priorities already exist</a:t>
            </a:r>
          </a:p>
          <a:p>
            <a:r>
              <a:rPr lang="en-GB" dirty="0"/>
              <a:t>- IMPROVE: Decision-making slows when multiple functions are involved</a:t>
            </a:r>
          </a:p>
          <a:p>
            <a:r>
              <a:rPr lang="en-GB" dirty="0"/>
              <a:t>- START: Introduce cross-functional execution routines and faster decision forums</a:t>
            </a:r>
          </a:p>
          <a:p>
            <a:r>
              <a:rPr lang="en-GB" dirty="0"/>
              <a:t>- STOP: Excessive reporting cycles that delay action</a:t>
            </a:r>
          </a:p>
          <a:p>
            <a:endParaRPr lang="en-GB" dirty="0"/>
          </a:p>
          <a:p>
            <a:r>
              <a:rPr lang="en-GB" b="1" dirty="0"/>
              <a:t>People &amp; Culture Dynamics</a:t>
            </a:r>
          </a:p>
          <a:p>
            <a:r>
              <a:rPr lang="en-GB" dirty="0"/>
              <a:t>- KEEP: Strong trust within teams</a:t>
            </a:r>
          </a:p>
          <a:p>
            <a:r>
              <a:rPr lang="en-GB" dirty="0"/>
              <a:t>- IMPROVE: Collaboration across functions remains inconsistent</a:t>
            </a:r>
          </a:p>
          <a:p>
            <a:r>
              <a:rPr lang="en-GB" dirty="0"/>
              <a:t>- START: Introduce shared ownership of enterprise priorities</a:t>
            </a:r>
          </a:p>
          <a:p>
            <a:r>
              <a:rPr lang="en-GB" dirty="0"/>
              <a:t>- STOP: Functional silos and escalation behaviours</a:t>
            </a:r>
          </a:p>
          <a:p>
            <a:endParaRPr lang="en-GB" dirty="0"/>
          </a:p>
          <a:p>
            <a:r>
              <a:rPr lang="en-GB" b="1" dirty="0"/>
              <a:t>Enterprise Value Creation</a:t>
            </a:r>
          </a:p>
          <a:p>
            <a:r>
              <a:rPr lang="en-GB" dirty="0"/>
              <a:t>- KEEP: Solid revenue base and loyal client segments</a:t>
            </a:r>
          </a:p>
          <a:p>
            <a:r>
              <a:rPr lang="en-GB" dirty="0"/>
              <a:t>- IMPROVE: Profit margins fluctuate due to operational inefficiencies</a:t>
            </a:r>
          </a:p>
          <a:p>
            <a:r>
              <a:rPr lang="en-GB" dirty="0"/>
              <a:t>- START: Develop scalable service delivery models</a:t>
            </a:r>
          </a:p>
          <a:p>
            <a:r>
              <a:rPr lang="en-GB" dirty="0"/>
              <a:t>- STOP: Low-value projects that absorb leadership attention</a:t>
            </a:r>
          </a:p>
          <a:p>
            <a:endParaRPr lang="en-GB" dirty="0"/>
          </a:p>
          <a:p>
            <a:r>
              <a:rPr lang="en-GB" b="1" dirty="0"/>
              <a:t>5. Bridge to the five steps.</a:t>
            </a:r>
          </a:p>
          <a:p>
            <a:r>
              <a:rPr lang="en-GB" dirty="0"/>
              <a:t>Say: "This KISS table is the evidence. The five steps now turn it into enterprise OKRs."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1 AND 2: FROM THEMES TO OBJECTIVES</a:t>
            </a:r>
          </a:p>
          <a:p>
            <a:endParaRPr lang="en-GB" dirty="0"/>
          </a:p>
          <a:p>
            <a:r>
              <a:rPr lang="en-GB" b="1" dirty="0"/>
              <a:t>HOW TO TEACH IT:</a:t>
            </a:r>
          </a:p>
          <a:p>
            <a:endParaRPr lang="en-GB" dirty="0"/>
          </a:p>
          <a:p>
            <a:r>
              <a:rPr lang="en-GB" b="1" dirty="0"/>
              <a:t>Step 1 — Find Themes.</a:t>
            </a:r>
          </a:p>
          <a:p>
            <a:r>
              <a:rPr lang="en-GB" dirty="0"/>
              <a:t>Say: "Reading across the four domains of the KISS table, the leadership team finds four patterns that keep appearing. Each becomes a strategic theme."</a:t>
            </a:r>
          </a:p>
          <a:p>
            <a:endParaRPr lang="en-GB" dirty="0"/>
          </a:p>
          <a:p>
            <a:r>
              <a:rPr lang="en-GB" dirty="0"/>
              <a:t>Name the four themes and the shift each one carries:</a:t>
            </a:r>
          </a:p>
          <a:p>
            <a:r>
              <a:rPr lang="en-GB" dirty="0"/>
              <a:t>1. Customer responsiveness: Deliver faster and more reliable customer responsiveness.</a:t>
            </a:r>
          </a:p>
          <a:p>
            <a:r>
              <a:rPr lang="en-GB" dirty="0"/>
              <a:t>2. Execution speed: Strengthen cross-functional execution speed.</a:t>
            </a:r>
          </a:p>
          <a:p>
            <a:r>
              <a:rPr lang="en-GB" dirty="0"/>
              <a:t>3. Collaboration culture: Build enterprise-wide ownership of strategic priorities.</a:t>
            </a:r>
          </a:p>
          <a:p>
            <a:r>
              <a:rPr lang="en-GB" dirty="0"/>
              <a:t>4. Value creation: Improve operational efficiency to strengthen value creation.</a:t>
            </a:r>
          </a:p>
          <a:p>
            <a:endParaRPr lang="en-GB" dirty="0"/>
          </a:p>
          <a:p>
            <a:r>
              <a:rPr lang="en-GB" b="1" dirty="0"/>
              <a:t>Trace one theme back to the table.</a:t>
            </a:r>
          </a:p>
          <a:p>
            <a:r>
              <a:rPr lang="en-GB" dirty="0"/>
              <a:t>Say: "Take the first theme.</a:t>
            </a:r>
          </a:p>
          <a:p>
            <a:r>
              <a:rPr lang="en-GB" dirty="0"/>
              <a:t>Response time to customer requests varies across teams: that was the IMPROVE entry.</a:t>
            </a:r>
          </a:p>
          <a:p>
            <a:r>
              <a:rPr lang="en-GB" dirty="0"/>
              <a:t>Slow internal handovers: that was the STOP entry.</a:t>
            </a:r>
          </a:p>
          <a:p>
            <a:r>
              <a:rPr lang="en-GB" dirty="0"/>
              <a:t>A proactive customer engagement model: that was the START entry.</a:t>
            </a:r>
          </a:p>
          <a:p>
            <a:r>
              <a:rPr lang="en-GB" dirty="0"/>
              <a:t>Three entries, one theme: customer responsiveness."</a:t>
            </a:r>
          </a:p>
          <a:p>
            <a:endParaRPr lang="en-ZA" dirty="0"/>
          </a:p>
        </p:txBody>
      </p:sp>
    </p:spTree>
    <p:extLst>
      <p:ext uri="{BB962C8B-B14F-4D97-AF65-F5344CB8AC3E}">
        <p14:creationId xmlns:p14="http://schemas.microsoft.com/office/powerpoint/2010/main" val="620659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1 AND 2: FROM THEMES TO OBJECTIVES</a:t>
            </a:r>
          </a:p>
          <a:p>
            <a:endParaRPr lang="en-GB" dirty="0"/>
          </a:p>
          <a:p>
            <a:r>
              <a:rPr lang="en-GB" b="1" dirty="0"/>
              <a:t>HOW TO TEACH IT:</a:t>
            </a:r>
          </a:p>
          <a:p>
            <a:endParaRPr lang="en-GB" dirty="0"/>
          </a:p>
          <a:p>
            <a:r>
              <a:rPr lang="en-GB" b="1" dirty="0"/>
              <a:t>Step 2 — Inspiring Objectives.</a:t>
            </a:r>
          </a:p>
          <a:p>
            <a:r>
              <a:rPr lang="en-GB" dirty="0"/>
              <a:t>Say: "Each theme is translated into a bold, qualitative statement that starts with a verb and describes the transformation."</a:t>
            </a:r>
          </a:p>
          <a:p>
            <a:endParaRPr lang="en-GB" dirty="0"/>
          </a:p>
          <a:p>
            <a:r>
              <a:rPr lang="en-GB" dirty="0"/>
              <a:t>Read the four Objectives from the slide:</a:t>
            </a:r>
          </a:p>
          <a:p>
            <a:r>
              <a:rPr lang="en-GB" dirty="0"/>
              <a:t>1. Customer responsiveness → Deliver consistently fast and effortless service experiences for customers</a:t>
            </a:r>
          </a:p>
          <a:p>
            <a:r>
              <a:rPr lang="en-GB" dirty="0"/>
              <a:t>2. Execution speed → Build a high-speed execution engine that moves quickly from insight to action</a:t>
            </a:r>
          </a:p>
          <a:p>
            <a:r>
              <a:rPr lang="en-GB" dirty="0"/>
              <a:t>3. Collaboration culture → Create a culture of shared ownership across functions for strategic priorities</a:t>
            </a:r>
          </a:p>
          <a:p>
            <a:r>
              <a:rPr lang="en-GB" dirty="0"/>
              <a:t>4. Value creation → Strengthen enterprise performance through scalable and efficient operations</a:t>
            </a:r>
          </a:p>
          <a:p>
            <a:endParaRPr lang="en-GB" dirty="0"/>
          </a:p>
          <a:p>
            <a:r>
              <a:rPr lang="en-GB" dirty="0"/>
              <a:t>Say: "Notice how the KISS item maps directly to the Objective.</a:t>
            </a:r>
          </a:p>
          <a:p>
            <a:r>
              <a:rPr lang="en-GB" dirty="0"/>
              <a:t>There is no gap.</a:t>
            </a:r>
          </a:p>
          <a:p>
            <a:r>
              <a:rPr lang="en-GB" dirty="0"/>
              <a:t>The Objective is the direct consequence of what the KISS reflection surfaced."</a:t>
            </a:r>
          </a:p>
          <a:p>
            <a:endParaRPr lang="en-GB" dirty="0"/>
          </a:p>
          <a:p>
            <a:r>
              <a:rPr lang="en-GB" b="1" dirty="0"/>
              <a:t>Apply the T-shirt test.</a:t>
            </a:r>
          </a:p>
          <a:p>
            <a:r>
              <a:rPr lang="en-GB" dirty="0"/>
              <a:t>Ask: "Which of these four Objectives would you wear on a T-shirt? </a:t>
            </a:r>
          </a:p>
          <a:p>
            <a:r>
              <a:rPr lang="en-GB" dirty="0"/>
              <a:t>Which one is hardest to say in a hallway conversation?"</a:t>
            </a:r>
          </a:p>
          <a:p>
            <a:r>
              <a:rPr lang="en-GB" dirty="0"/>
              <a:t>Say: "Each Objective is qualitative, ambitious, action-oriented and memorable. </a:t>
            </a:r>
          </a:p>
          <a:p>
            <a:r>
              <a:rPr lang="en-GB" dirty="0"/>
              <a:t>If you cannot wear it on your T-shirt, it is not worth pursuing."</a:t>
            </a:r>
          </a:p>
          <a:p>
            <a:endParaRPr lang="en-ZA" dirty="0"/>
          </a:p>
        </p:txBody>
      </p:sp>
    </p:spTree>
    <p:extLst>
      <p:ext uri="{BB962C8B-B14F-4D97-AF65-F5344CB8AC3E}">
        <p14:creationId xmlns:p14="http://schemas.microsoft.com/office/powerpoint/2010/main" val="28372267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3 AND 4: KEY RESULTS AND THE ALIGNMENT TEST</a:t>
            </a:r>
          </a:p>
          <a:p>
            <a:endParaRPr lang="en-GB" dirty="0"/>
          </a:p>
          <a:p>
            <a:r>
              <a:rPr lang="en-GB" b="1" dirty="0"/>
              <a:t>HOW TO TEACH IT:</a:t>
            </a:r>
          </a:p>
          <a:p>
            <a:endParaRPr lang="en-GB" dirty="0"/>
          </a:p>
          <a:p>
            <a:r>
              <a:rPr lang="en-GB" b="1" dirty="0"/>
              <a:t>Step 3 — Define Key Results.</a:t>
            </a:r>
          </a:p>
          <a:p>
            <a:r>
              <a:rPr lang="en-GB" dirty="0"/>
              <a:t>Say: "Each Objective receives two Key Results in the form Verb, Metric, From X to Y, Deadline, with the contributing roles named."</a:t>
            </a:r>
          </a:p>
          <a:p>
            <a:r>
              <a:rPr lang="en-GB" dirty="0"/>
              <a:t>Read Objective 1 from the slide, then its two Key Results:</a:t>
            </a:r>
          </a:p>
          <a:p>
            <a:r>
              <a:rPr lang="en-GB" dirty="0"/>
              <a:t>Objective 1 · Deliver consistently fast and effortless service experiences for customers</a:t>
            </a:r>
          </a:p>
          <a:p>
            <a:r>
              <a:rPr lang="en-GB" dirty="0"/>
              <a:t>- Reduce average response time to customer requests from 12 hours to 4 hours by 30 June 2027</a:t>
            </a:r>
          </a:p>
          <a:p>
            <a:r>
              <a:rPr lang="en-GB" dirty="0"/>
              <a:t>- Increase customer requests resolved at first contact from 60% to 85% by 30 September 2027</a:t>
            </a:r>
          </a:p>
          <a:p>
            <a:r>
              <a:rPr lang="en-GB" dirty="0"/>
              <a:t>- Contributing roles: Commercial, Operations, Customer Service, Technology</a:t>
            </a:r>
          </a:p>
          <a:p>
            <a:endParaRPr lang="en-GB" dirty="0"/>
          </a:p>
          <a:p>
            <a:r>
              <a:rPr lang="en-GB" b="1" dirty="0"/>
              <a:t>2. Check the formula with the room.</a:t>
            </a:r>
          </a:p>
          <a:p>
            <a:r>
              <a:rPr lang="en-GB" dirty="0"/>
              <a:t>Ask: "In the first Key Result, what is the verb of change? The metric? The baseline and the target? The deadline?"</a:t>
            </a:r>
          </a:p>
          <a:p>
            <a:r>
              <a:rPr lang="en-GB" dirty="0"/>
              <a:t>Listen for: Reduce · average response time to customer requests · from 12 hours to 4 hours · by 30 June 2027.</a:t>
            </a:r>
          </a:p>
          <a:p>
            <a:endParaRPr lang="en-GB" dirty="0"/>
          </a:p>
          <a:p>
            <a:r>
              <a:rPr lang="en-GB" b="1" dirty="0"/>
              <a:t>3. Give the Key Results of the other three Objectives.</a:t>
            </a:r>
          </a:p>
          <a:p>
            <a:endParaRPr lang="en-GB" dirty="0"/>
          </a:p>
          <a:p>
            <a:r>
              <a:rPr lang="en-GB" dirty="0"/>
              <a:t>Objective 2 · Build a high-speed execution engine that moves quickly from insight to action</a:t>
            </a:r>
          </a:p>
          <a:p>
            <a:r>
              <a:rPr lang="en-GB" dirty="0"/>
              <a:t>- Reduce cross-functional decision time from 5 days to 1 day by 30 June 2027</a:t>
            </a:r>
          </a:p>
          <a:p>
            <a:r>
              <a:rPr lang="en-GB" dirty="0"/>
              <a:t>- Reduce recurring management reports from 24 to 10 by 31 March 2027</a:t>
            </a:r>
          </a:p>
          <a:p>
            <a:r>
              <a:rPr lang="en-GB" dirty="0"/>
              <a:t>- Contributing roles: Operations, Finance, Strategy</a:t>
            </a:r>
          </a:p>
          <a:p>
            <a:endParaRPr lang="en-GB" dirty="0"/>
          </a:p>
          <a:p>
            <a:r>
              <a:rPr lang="en-GB" dirty="0"/>
              <a:t>Objective 3 · Create a culture of shared ownership across functions for strategic priorities</a:t>
            </a:r>
          </a:p>
          <a:p>
            <a:r>
              <a:rPr lang="en-GB" dirty="0"/>
              <a:t>- Increase enterprise priorities with a named cross-functional owner from 40% to 100% by 31 March 2027</a:t>
            </a:r>
          </a:p>
          <a:p>
            <a:r>
              <a:rPr lang="en-GB" dirty="0"/>
              <a:t>- Reduce issues escalated to the executive team from 30 to 10 per quarter by 30 September 2027</a:t>
            </a:r>
          </a:p>
          <a:p>
            <a:r>
              <a:rPr lang="en-GB" dirty="0"/>
              <a:t>- Contributing roles: People &amp; Culture, all functional heads</a:t>
            </a:r>
          </a:p>
          <a:p>
            <a:endParaRPr lang="en-GB" dirty="0"/>
          </a:p>
          <a:p>
            <a:r>
              <a:rPr lang="en-GB" dirty="0"/>
              <a:t>Objective 4 · Strengthen enterprise performance through scalable and efficient operations</a:t>
            </a:r>
          </a:p>
          <a:p>
            <a:r>
              <a:rPr lang="en-GB" dirty="0"/>
              <a:t>- Improve operating margin from 14% to 18% by 31 December 2027</a:t>
            </a:r>
          </a:p>
          <a:p>
            <a:r>
              <a:rPr lang="en-GB" dirty="0"/>
              <a:t>- Reduce leadership time spent on low-value projects from 25% to 10% by 30 June 2027</a:t>
            </a:r>
          </a:p>
          <a:p>
            <a:r>
              <a:rPr lang="en-GB" dirty="0"/>
              <a:t>- Contributing roles: Finance, Operations, Commercial</a:t>
            </a:r>
          </a:p>
          <a:p>
            <a:endParaRPr lang="en-GB" dirty="0"/>
          </a:p>
          <a:p>
            <a:r>
              <a:rPr lang="en-GB" b="1" dirty="0"/>
              <a:t>4. Say why the contributing roles are named.</a:t>
            </a:r>
          </a:p>
          <a:p>
            <a:r>
              <a:rPr lang="en-GB" dirty="0"/>
              <a:t>Say: "Every Key Result names the roles that must contribute to it.</a:t>
            </a:r>
          </a:p>
          <a:p>
            <a:r>
              <a:rPr lang="en-GB" dirty="0"/>
              <a:t>This is the link between each outcome, its contributing roles and the evidence of progress."</a:t>
            </a:r>
          </a:p>
          <a:p>
            <a:endParaRPr lang="en-ZA" dirty="0"/>
          </a:p>
        </p:txBody>
      </p:sp>
    </p:spTree>
    <p:extLst>
      <p:ext uri="{BB962C8B-B14F-4D97-AF65-F5344CB8AC3E}">
        <p14:creationId xmlns:p14="http://schemas.microsoft.com/office/powerpoint/2010/main" val="3299877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3 AND 4: KEY RESULTS AND THE ALIGNMENT TEST</a:t>
            </a:r>
          </a:p>
          <a:p>
            <a:endParaRPr lang="en-GB" dirty="0"/>
          </a:p>
          <a:p>
            <a:r>
              <a:rPr lang="en-GB" b="1" dirty="0"/>
              <a:t>HOW TO TEACH IT:</a:t>
            </a:r>
          </a:p>
          <a:p>
            <a:endParaRPr lang="en-GB" b="1" dirty="0"/>
          </a:p>
          <a:p>
            <a:r>
              <a:rPr lang="en-GB" b="1" dirty="0"/>
              <a:t>Step 4 — Alignment Test.</a:t>
            </a:r>
          </a:p>
          <a:p>
            <a:r>
              <a:rPr lang="en-GB" b="1" dirty="0"/>
              <a:t>Say: </a:t>
            </a:r>
            <a:r>
              <a:rPr lang="en-GB" dirty="0"/>
              <a:t>"Before the OKRs are shared, each one is tested against the four questions. Objective 1 is on the slide."</a:t>
            </a:r>
          </a:p>
          <a:p>
            <a:endParaRPr lang="en-GB" dirty="0"/>
          </a:p>
          <a:p>
            <a:r>
              <a:rPr lang="en-GB" dirty="0"/>
              <a:t>Take the four questions and the answers the team gave:</a:t>
            </a:r>
          </a:p>
          <a:p>
            <a:r>
              <a:rPr lang="en-GB" dirty="0"/>
              <a:t>- Does this truly get the organisation closer to the shared </a:t>
            </a:r>
            <a:r>
              <a:rPr lang="en-GB" dirty="0" err="1"/>
              <a:t>SiP</a:t>
            </a:r>
            <a:r>
              <a:rPr lang="en-GB" dirty="0"/>
              <a:t> vision?</a:t>
            </a:r>
          </a:p>
          <a:p>
            <a:r>
              <a:rPr lang="en-GB" dirty="0"/>
              <a:t>  Yes. Fast, consistent and effortless service is the first line of the </a:t>
            </a:r>
            <a:r>
              <a:rPr lang="en-GB" dirty="0" err="1"/>
              <a:t>SiP</a:t>
            </a:r>
            <a:r>
              <a:rPr lang="en-GB" dirty="0"/>
              <a:t> statement.</a:t>
            </a:r>
          </a:p>
          <a:p>
            <a:endParaRPr lang="en-GB" dirty="0"/>
          </a:p>
          <a:p>
            <a:r>
              <a:rPr lang="en-GB" dirty="0"/>
              <a:t>- Would fellow leaders see this as a win for the whole organisation — or just for one function?</a:t>
            </a:r>
          </a:p>
          <a:p>
            <a:r>
              <a:rPr lang="en-GB" dirty="0"/>
              <a:t>  The whole organisation. It needs Commercial, Operations, Customer Service and Technology, and no single function can deliver it alone.</a:t>
            </a:r>
          </a:p>
          <a:p>
            <a:endParaRPr lang="en-GB" dirty="0"/>
          </a:p>
          <a:p>
            <a:r>
              <a:rPr lang="en-GB" dirty="0"/>
              <a:t>- Does it visibly improve culture, operations, or value creation?</a:t>
            </a:r>
          </a:p>
          <a:p>
            <a:r>
              <a:rPr lang="en-GB" dirty="0"/>
              <a:t>  Yes. Handovers improve in operations, and client retention strengthens value creation.</a:t>
            </a:r>
          </a:p>
          <a:p>
            <a:endParaRPr lang="en-GB" dirty="0"/>
          </a:p>
          <a:p>
            <a:r>
              <a:rPr lang="en-GB" dirty="0"/>
              <a:t>- Is there clear accountability for delivering this outcome?</a:t>
            </a:r>
          </a:p>
          <a:p>
            <a:r>
              <a:rPr lang="en-GB" dirty="0"/>
              <a:t>  Yes. One executive owns the Objective and the contributing roles are named for each Key Result.</a:t>
            </a:r>
          </a:p>
          <a:p>
            <a:endParaRPr lang="en-GB" dirty="0"/>
          </a:p>
          <a:p>
            <a:endParaRPr lang="en-ZA" dirty="0"/>
          </a:p>
        </p:txBody>
      </p:sp>
    </p:spTree>
    <p:extLst>
      <p:ext uri="{BB962C8B-B14F-4D97-AF65-F5344CB8AC3E}">
        <p14:creationId xmlns:p14="http://schemas.microsoft.com/office/powerpoint/2010/main" val="13010855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 5: THE PRIORITISATION MATRIX</a:t>
            </a:r>
          </a:p>
          <a:p>
            <a:endParaRPr lang="en-GB" dirty="0"/>
          </a:p>
          <a:p>
            <a:r>
              <a:rPr lang="en-GB" b="1" dirty="0"/>
              <a:t>HOW TO TEACH IT:</a:t>
            </a:r>
          </a:p>
          <a:p>
            <a:endParaRPr lang="en-GB" dirty="0"/>
          </a:p>
          <a:p>
            <a:r>
              <a:rPr lang="en-GB" b="1" dirty="0"/>
              <a:t>Step 5 — Priority Matrix.</a:t>
            </a:r>
          </a:p>
          <a:p>
            <a:r>
              <a:rPr lang="en-GB" dirty="0"/>
              <a:t>Say: "Each aligned Objective is placed on the Prioritisation Matrix by Impact and Effort."</a:t>
            </a:r>
          </a:p>
          <a:p>
            <a:r>
              <a:rPr lang="en-GB" dirty="0"/>
              <a:t>Read the four placements from the slide:</a:t>
            </a:r>
          </a:p>
          <a:p>
            <a:r>
              <a:rPr lang="en-GB" dirty="0"/>
              <a:t>- Objective 2 · Execution speed: Strategic Catalysts (high impact, low effort).</a:t>
            </a:r>
          </a:p>
          <a:p>
            <a:r>
              <a:rPr lang="en-GB" dirty="0"/>
              <a:t>- Objective 1 · Customer responsiveness: Accelerated Enablers (high impact, medium effort).</a:t>
            </a:r>
          </a:p>
          <a:p>
            <a:r>
              <a:rPr lang="en-GB" dirty="0"/>
              <a:t>- Objective 3 · Collaboration culture: Core Strategic Drivers (high impact, high effort).</a:t>
            </a:r>
          </a:p>
          <a:p>
            <a:r>
              <a:rPr lang="en-GB" dirty="0"/>
              <a:t>- Objective 4 · Value creation: Heavy Investment Candidates (medium impact, high effort).</a:t>
            </a:r>
          </a:p>
          <a:p>
            <a:endParaRPr lang="en-GB" dirty="0"/>
          </a:p>
          <a:p>
            <a:r>
              <a:rPr lang="en-GB" b="1" dirty="0"/>
              <a:t>3. Test one placement with the room.</a:t>
            </a:r>
          </a:p>
          <a:p>
            <a:r>
              <a:rPr lang="en-GB" dirty="0"/>
              <a:t>Ask: "Why is execution speed placed at low effort, while collaboration culture is placed at high effort?"</a:t>
            </a:r>
          </a:p>
          <a:p>
            <a:r>
              <a:rPr lang="en-GB" dirty="0"/>
              <a:t>Listen for: </a:t>
            </a:r>
          </a:p>
          <a:p>
            <a:r>
              <a:rPr lang="en-GB" dirty="0"/>
              <a:t>execution speed begins with stopping reporting cycles and opening faster decision forums; </a:t>
            </a:r>
          </a:p>
          <a:p>
            <a:r>
              <a:rPr lang="en-GB" dirty="0"/>
              <a:t>shared ownership asks leaders in every function to change how they behave.</a:t>
            </a:r>
          </a:p>
          <a:p>
            <a:endParaRPr lang="en-GB" dirty="0"/>
          </a:p>
          <a:p>
            <a:r>
              <a:rPr lang="en-GB" b="1" dirty="0"/>
              <a:t>4. Read the execution signal.</a:t>
            </a:r>
          </a:p>
          <a:p>
            <a:r>
              <a:rPr lang="en-GB" dirty="0"/>
              <a:t>Say: "The execution signal: execution speed moves first, customer responsiveness follows, shared ownership is the long transformation, and the investment in scalable operations is timed with care."</a:t>
            </a:r>
          </a:p>
          <a:p>
            <a:endParaRPr lang="en-GB" dirty="0"/>
          </a:p>
          <a:p>
            <a:r>
              <a:rPr lang="en-GB" b="1" dirty="0"/>
              <a:t>5. Set the standard for the room.</a:t>
            </a:r>
          </a:p>
          <a:p>
            <a:r>
              <a:rPr lang="en-GB" dirty="0"/>
              <a:t>Ask: "At this level of specificity, could you trace every OKR back to a specific KISS observation?"</a:t>
            </a:r>
          </a:p>
          <a:p>
            <a:r>
              <a:rPr lang="en-GB" dirty="0"/>
              <a:t>Say: "That is the standard we are working toward."</a:t>
            </a:r>
          </a:p>
          <a:p>
            <a:endParaRPr lang="en-GB" dirty="0"/>
          </a:p>
          <a:p>
            <a:r>
              <a:rPr lang="en-GB" b="1" dirty="0"/>
              <a:t>6. Close Intelligence.</a:t>
            </a:r>
          </a:p>
          <a:p>
            <a:r>
              <a:rPr lang="en-GB" dirty="0"/>
              <a:t>Say: "Now we know why the sequence matters.</a:t>
            </a:r>
          </a:p>
          <a:p>
            <a:r>
              <a:rPr lang="en-GB" dirty="0"/>
              <a:t>The next section maps where it most commonly breaks down — and which leadership role is most responsible for each break point."</a:t>
            </a:r>
          </a:p>
          <a:p>
            <a:endParaRPr lang="en-ZA" dirty="0"/>
          </a:p>
        </p:txBody>
      </p:sp>
    </p:spTree>
    <p:extLst>
      <p:ext uri="{BB962C8B-B14F-4D97-AF65-F5344CB8AC3E}">
        <p14:creationId xmlns:p14="http://schemas.microsoft.com/office/powerpoint/2010/main" val="41809453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 aloud.</a:t>
            </a:r>
          </a:p>
          <a:p>
            <a:r>
              <a:rPr lang="en-GB" dirty="0"/>
              <a:t>2.2 Reflection: "At which point in the SiP → KISS → OKR sequence does your organisation typically enter? What is the consequence of skipping the KISS stage?"</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point of entry: Success in Practice, KISS or OKRs.</a:t>
            </a:r>
          </a:p>
          <a:p>
            <a:r>
              <a:rPr lang="en-GB" dirty="0"/>
              <a:t>Give one piece of evidence from your organisation’s last planning cycle.</a:t>
            </a:r>
          </a:p>
          <a:p>
            <a:r>
              <a:rPr lang="en-GB" dirty="0"/>
              <a:t>Then name one consequence you have seen when the KISS stage was skipped."</a:t>
            </a:r>
          </a:p>
          <a:p>
            <a:r>
              <a:rPr lang="en-GB" dirty="0"/>
              <a:t>Listen for: a consequence stated as a feeling, such as “people were frustrated”. Ask: "What did it cost, slow down or leave undecided?"</a:t>
            </a:r>
          </a:p>
          <a:p>
            <a:endParaRPr lang="en-GB" dirty="0"/>
          </a:p>
          <a:p>
            <a:r>
              <a:rPr lang="en-GB" b="1" dirty="0"/>
              <a:t>4. Bridge to Section 3.</a:t>
            </a:r>
          </a:p>
          <a:p>
            <a:r>
              <a:rPr lang="en-GB" dirty="0"/>
              <a:t>Say: "We know the sequence and why it matters. Section 3 asks where it breaks down."</a:t>
            </a:r>
          </a:p>
          <a:p>
            <a:endParaRPr lang="en-GB" dirty="0"/>
          </a:p>
          <a:p>
            <a:r>
              <a:rPr lang="en-GB" b="1" dirty="0"/>
              <a:t>ON THE PORTAL, AFTER THE TEACHING:</a:t>
            </a:r>
          </a:p>
          <a:p>
            <a:r>
              <a:rPr lang="en-GB" dirty="0"/>
              <a:t>Participants write the reflection in Section 2 of the participant file: 2.2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3.1a: the natural OKR emphasis of commercial, operational, people and financial leaders.</a:t>
            </a:r>
          </a:p>
          <a:p>
            <a:r>
              <a:rPr lang="en-GB" dirty="0"/>
              <a:t>2. 3.1b: the four execution risks when that emphasis stays unexamined.</a:t>
            </a:r>
          </a:p>
          <a:p>
            <a:r>
              <a:rPr lang="en-GB" dirty="0"/>
              <a:t>3. 3.1c: one hot zone card in full, as the pattern for all ten leadership roles.</a:t>
            </a:r>
          </a:p>
          <a:p>
            <a:r>
              <a:rPr lang="en-GB" dirty="0"/>
              <a:t>4. 3.1d: the matching exercise that each participant completes alone on the portal after the teaching.</a:t>
            </a:r>
          </a:p>
          <a:p>
            <a:r>
              <a:rPr lang="en-GB" dirty="0"/>
              <a:t>5. The Section 3 Reflections slide.</a:t>
            </a:r>
          </a:p>
          <a:p>
            <a:endParaRPr lang="en-GB" dirty="0"/>
          </a:p>
          <a:p>
            <a:r>
              <a:rPr lang="en-GB" b="1" dirty="0"/>
              <a:t>HOW TO OPEN THE SECTION:</a:t>
            </a:r>
          </a:p>
          <a:p>
            <a:endParaRPr lang="en-GB" dirty="0"/>
          </a:p>
          <a:p>
            <a:r>
              <a:rPr lang="en-GB" b="1" dirty="0"/>
              <a:t>1. Frame the section.</a:t>
            </a:r>
          </a:p>
          <a:p>
            <a:r>
              <a:rPr lang="en-GB" dirty="0"/>
              <a:t>Say: "Before we start writing OKRs together, it helps to know the natural biases each of us brings to the table.</a:t>
            </a:r>
          </a:p>
          <a:p>
            <a:r>
              <a:rPr lang="en-GB" dirty="0"/>
              <a:t>This section maps those patterns so the team can compensate for them collectively."</a:t>
            </a:r>
          </a:p>
          <a:p>
            <a:endParaRPr lang="en-GB" dirty="0"/>
          </a:p>
          <a:p>
            <a:r>
              <a:rPr lang="en-GB" b="1" dirty="0"/>
              <a:t>2. Read the two section learning outcomes from the slide.</a:t>
            </a:r>
          </a:p>
          <a:p>
            <a:r>
              <a:rPr lang="en-GB" b="1" dirty="0"/>
              <a:t>SECTION LEARNING OUTCOMES:</a:t>
            </a:r>
          </a:p>
          <a:p>
            <a:r>
              <a:rPr lang="en-GB" dirty="0"/>
              <a:t>1. Recognise how each leadership function’s emphasis shapes the priorities it proposes.</a:t>
            </a:r>
          </a:p>
          <a:p>
            <a:r>
              <a:rPr lang="en-GB" dirty="0"/>
              <a:t>2. Distinguish functional contributions from the enterprise priorities they serve.</a:t>
            </a:r>
          </a:p>
          <a:p>
            <a:endParaRPr lang="en-GB" dirty="0"/>
          </a:p>
          <a:p>
            <a:r>
              <a:rPr lang="en-GB" b="1" dirty="0"/>
              <a:t>3. State the section intent.</a:t>
            </a:r>
          </a:p>
          <a:p>
            <a:r>
              <a:rPr lang="en-GB" dirty="0"/>
              <a:t>Say: "This section maps where the process predictably breaks down, and who is responsible for each break.</a:t>
            </a:r>
          </a:p>
          <a:p>
            <a:r>
              <a:rPr lang="en-GB" dirty="0"/>
              <a:t>The hot zone cards are the diagnostic instrument.</a:t>
            </a:r>
          </a:p>
          <a:p>
            <a:r>
              <a:rPr lang="en-GB" dirty="0"/>
              <a:t>The goal is to make the systemic pattern visible before it plays out in the room."</a:t>
            </a:r>
          </a:p>
          <a:p>
            <a:endParaRPr lang="en-GB" dirty="0"/>
          </a:p>
          <a:p>
            <a:r>
              <a:rPr lang="en-GB" b="1" dirty="0"/>
              <a:t>4. Bridge to 3.1.</a:t>
            </a:r>
          </a:p>
          <a:p>
            <a:r>
              <a:rPr lang="en-GB" dirty="0"/>
              <a:t>Say: "We begin with four tendencies that every leadership team carries."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THE FOUR TENDENCIES</a:t>
            </a:r>
          </a:p>
          <a:p>
            <a:endParaRPr lang="en-GB" dirty="0"/>
          </a:p>
          <a:p>
            <a:r>
              <a:rPr lang="en-GB" b="1" dirty="0"/>
              <a:t>HOW TO TEACH IT:</a:t>
            </a:r>
          </a:p>
          <a:p>
            <a:endParaRPr lang="en-GB" dirty="0"/>
          </a:p>
          <a:p>
            <a:r>
              <a:rPr lang="en-GB" b="1" dirty="0"/>
              <a:t>1. Give the starting point.</a:t>
            </a:r>
          </a:p>
          <a:p>
            <a:r>
              <a:rPr lang="en-GB" b="1" dirty="0"/>
              <a:t>Say: </a:t>
            </a:r>
            <a:r>
              <a:rPr lang="en-GB" dirty="0"/>
              <a:t>"Every leadership role tends to emphasise some of the four SiP domains more strongly than others.</a:t>
            </a:r>
          </a:p>
          <a:p>
            <a:r>
              <a:rPr lang="en-GB" dirty="0"/>
              <a:t>Each role carries responsibility for specific organisational outcomes, so leaders instinctively prioritise the realities that sit closest to their domain."</a:t>
            </a:r>
          </a:p>
          <a:p>
            <a:endParaRPr lang="en-GB" dirty="0"/>
          </a:p>
          <a:p>
            <a:r>
              <a:rPr lang="en-GB" b="1" dirty="0"/>
              <a:t>Recall the four SiP domains in one line each:</a:t>
            </a:r>
          </a:p>
          <a:p>
            <a:r>
              <a:rPr lang="en-GB" dirty="0"/>
              <a:t>- Customer Experience &amp; Value: how customers experience the organisation.</a:t>
            </a:r>
          </a:p>
          <a:p>
            <a:r>
              <a:rPr lang="en-GB" dirty="0"/>
              <a:t>- Operational Capability &amp; Execution Rhythm: how the enterprise operates internally.</a:t>
            </a:r>
          </a:p>
          <a:p>
            <a:r>
              <a:rPr lang="en-GB" dirty="0"/>
              <a:t>- People &amp; Culture Dynamics: how leaders and teams collaborate.</a:t>
            </a:r>
          </a:p>
          <a:p>
            <a:r>
              <a:rPr lang="en-GB" dirty="0"/>
              <a:t>- Enterprise Value Creation: the outcomes that confirm success.</a:t>
            </a:r>
          </a:p>
          <a:p>
            <a:endParaRPr lang="en-GB" dirty="0"/>
          </a:p>
          <a:p>
            <a:endParaRPr lang="en-GB" dirty="0"/>
          </a:p>
          <a:p>
            <a:r>
              <a:rPr lang="en-GB" b="1" dirty="0"/>
              <a:t>2. Ask each participant to place themselves.</a:t>
            </a:r>
          </a:p>
          <a:p>
            <a:r>
              <a:rPr lang="en-GB" dirty="0"/>
              <a:t>Ask each participant to identify privately which category their natural OKR emphasis falls into. </a:t>
            </a:r>
          </a:p>
          <a:p>
            <a:r>
              <a:rPr lang="en-GB" dirty="0"/>
              <a:t>Then ask three or four to share.</a:t>
            </a:r>
          </a:p>
          <a:p>
            <a:r>
              <a:rPr lang="en-GB" b="1" dirty="0"/>
              <a:t>Ask: </a:t>
            </a:r>
            <a:r>
              <a:rPr lang="en-GB" dirty="0"/>
              <a:t>"Which SiP domain do your own objectives most often leave out?"</a:t>
            </a:r>
          </a:p>
          <a:p>
            <a:endParaRPr lang="en-GB" dirty="0"/>
          </a:p>
          <a:p>
            <a:r>
              <a:rPr lang="en-GB" b="1" dirty="0"/>
              <a:t>3. Reinforce the key point.</a:t>
            </a:r>
          </a:p>
          <a:p>
            <a:r>
              <a:rPr lang="en-GB" b="1" dirty="0"/>
              <a:t>Say: </a:t>
            </a:r>
            <a:r>
              <a:rPr lang="en-GB" dirty="0"/>
              <a:t>"Each perspective reflects an important dimension of strategy execution, and each one is valid.</a:t>
            </a:r>
          </a:p>
          <a:p>
            <a:r>
              <a:rPr lang="en-GB" dirty="0"/>
              <a:t>The problem arises when these perspectives remain unexamined and unchallenged."</a:t>
            </a:r>
          </a:p>
          <a:p>
            <a:endParaRPr lang="en-GB" dirty="0"/>
          </a:p>
          <a:p>
            <a:r>
              <a:rPr lang="en-GB" b="1" dirty="0"/>
              <a:t>Say: </a:t>
            </a:r>
            <a:r>
              <a:rPr lang="en-GB" dirty="0"/>
              <a:t>"The purpose of this part is to make the invisible visible before OKR writing begins, so that your group can consciously compensate."</a:t>
            </a:r>
          </a:p>
          <a:p>
            <a:endParaRPr lang="en-GB" dirty="0"/>
          </a:p>
          <a:p>
            <a:r>
              <a:rPr lang="en-GB" b="1" dirty="0"/>
              <a:t>Deepen, say: </a:t>
            </a:r>
            <a:r>
              <a:rPr lang="en-GB" dirty="0"/>
              <a:t>"Effective strategy addresses each team, unit and function with the specific truth about where they are and where they are headed.</a:t>
            </a:r>
          </a:p>
          <a:p>
            <a:r>
              <a:rPr lang="en-GB" dirty="0"/>
              <a:t>Generic strategy inspires no one because it is addressed to no one."</a:t>
            </a:r>
          </a:p>
          <a:p>
            <a:r>
              <a:rPr lang="en-GB" dirty="0"/>
              <a:t>(Insight: Differentiated strategy. Source: Journal, 31 January 2026 — Professional Insights: Strategy)</a:t>
            </a:r>
          </a:p>
          <a:p>
            <a:endParaRPr lang="en-GB" dirty="0"/>
          </a:p>
          <a:p>
            <a:r>
              <a:rPr lang="en-GB" b="1" dirty="0"/>
              <a:t>5. Read the line at the foot of the slide and bridge.</a:t>
            </a:r>
          </a:p>
          <a:p>
            <a:r>
              <a:rPr lang="en-GB" b="1" dirty="0"/>
              <a:t>Say: </a:t>
            </a:r>
            <a:r>
              <a:rPr lang="en-GB" dirty="0"/>
              <a:t>"When these perspectives remain unexamined, OKRs gradually drift into functional scorecards, and the organisation accumulates functional OKRs where enterprise OKRs are needed.</a:t>
            </a:r>
          </a:p>
          <a:p>
            <a:endParaRPr lang="en-GB" dirty="0"/>
          </a:p>
          <a:p>
            <a:r>
              <a:rPr lang="en-GB" dirty="0"/>
              <a:t>The next slide names the risks."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THE FOUR EXECUTION RISKS</a:t>
            </a:r>
          </a:p>
          <a:p>
            <a:endParaRPr lang="en-GB" dirty="0"/>
          </a:p>
          <a:p>
            <a:r>
              <a:rPr lang="en-GB" b="1" dirty="0"/>
              <a:t>HOW TO TEACH IT:</a:t>
            </a:r>
          </a:p>
          <a:p>
            <a:endParaRPr lang="en-GB" dirty="0"/>
          </a:p>
          <a:p>
            <a:r>
              <a:rPr lang="en-GB" b="1" dirty="0"/>
              <a:t>1. Read each risk aloud, one at a time.</a:t>
            </a:r>
          </a:p>
          <a:p>
            <a:r>
              <a:rPr lang="en-GB" dirty="0"/>
              <a:t>After each one, ask for a show of hands:</a:t>
            </a:r>
          </a:p>
          <a:p>
            <a:r>
              <a:rPr lang="en-GB" b="1" dirty="0"/>
              <a:t>Ask</a:t>
            </a:r>
            <a:r>
              <a:rPr lang="en-GB" dirty="0"/>
              <a:t>: "Have you personally experienced this in a previous goal-setting cycle?"</a:t>
            </a:r>
          </a:p>
          <a:p>
            <a:endParaRPr lang="en-GB" dirty="0"/>
          </a:p>
          <a:p>
            <a:r>
              <a:rPr lang="en-GB" dirty="0"/>
              <a:t>1. Competing definitions of success across functions</a:t>
            </a:r>
          </a:p>
          <a:p>
            <a:endParaRPr lang="en-GB" dirty="0"/>
          </a:p>
          <a:p>
            <a:r>
              <a:rPr lang="en-GB" dirty="0"/>
              <a:t>2. Fragmented measurement systems that cannot be integrated</a:t>
            </a:r>
          </a:p>
          <a:p>
            <a:endParaRPr lang="en-GB" dirty="0"/>
          </a:p>
          <a:p>
            <a:r>
              <a:rPr lang="en-GB" dirty="0"/>
              <a:t>3. Functional optimisation that stalls enterprise progress</a:t>
            </a:r>
          </a:p>
          <a:p>
            <a:endParaRPr lang="en-GB" dirty="0"/>
          </a:p>
          <a:p>
            <a:r>
              <a:rPr lang="en-GB" dirty="0"/>
              <a:t>4. Slow decision-making due to misaligned incentives</a:t>
            </a:r>
          </a:p>
          <a:p>
            <a:endParaRPr lang="en-GB" dirty="0"/>
          </a:p>
          <a:p>
            <a:r>
              <a:rPr lang="en-GB" dirty="0"/>
              <a:t>The near-universal recognition creates the readiness to work differently in the Integration section.</a:t>
            </a:r>
          </a:p>
          <a:p>
            <a:endParaRPr lang="en-GB" dirty="0"/>
          </a:p>
          <a:p>
            <a:r>
              <a:rPr lang="en-GB" b="1" dirty="0"/>
              <a:t>2. Deepen the first risk.</a:t>
            </a:r>
          </a:p>
          <a:p>
            <a:r>
              <a:rPr lang="en-GB" b="1" dirty="0"/>
              <a:t>Deepen, say: </a:t>
            </a:r>
            <a:r>
              <a:rPr lang="en-GB" dirty="0"/>
              <a:t>"When each function, team and leader defines success by its own standard, the cumulative result is chaos.</a:t>
            </a:r>
          </a:p>
          <a:p>
            <a:r>
              <a:rPr lang="en-GB" dirty="0"/>
              <a:t>The absence of a shared governing framework produces the worst outcomes from the most sincere efforts."</a:t>
            </a:r>
          </a:p>
          <a:p>
            <a:r>
              <a:rPr lang="en-GB" dirty="0"/>
              <a:t>(Insight: No governing centre. Source: Journal, 15 April 2026 — Professional Insights: Strategy)</a:t>
            </a:r>
          </a:p>
          <a:p>
            <a:endParaRPr lang="en-GB" dirty="0"/>
          </a:p>
          <a:p>
            <a:r>
              <a:rPr lang="en-GB" b="1" dirty="0"/>
              <a:t>EXAMPLE</a:t>
            </a:r>
          </a:p>
          <a:p>
            <a:r>
              <a:rPr lang="en-GB" dirty="0"/>
              <a:t>One organisation, one quarter. Sales reports record revenue. Operations reports record cost savings. Client complaints rise in the same quarter.</a:t>
            </a:r>
          </a:p>
          <a:p>
            <a:r>
              <a:rPr lang="en-GB" dirty="0"/>
              <a:t>Each function has met its own definition of success. Nobody owns the client’s experience of all three.</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A HOT ZONE CARD</a:t>
            </a:r>
          </a:p>
          <a:p>
            <a:endParaRPr lang="en-GB" dirty="0"/>
          </a:p>
          <a:p>
            <a:r>
              <a:rPr lang="en-GB" b="1" dirty="0"/>
              <a:t>HOW TO TEACH IT:</a:t>
            </a:r>
          </a:p>
          <a:p>
            <a:endParaRPr lang="en-GB" dirty="0"/>
          </a:p>
          <a:p>
            <a:r>
              <a:rPr lang="en-GB" b="1" dirty="0"/>
              <a:t>1. Define the two terms.</a:t>
            </a:r>
          </a:p>
          <a:p>
            <a:r>
              <a:rPr lang="en-GB" dirty="0"/>
              <a:t>Say: "Each leadership role has a typical hot zone: the point where its natural emphasis distorts the OKRs it proposes.</a:t>
            </a:r>
          </a:p>
          <a:p>
            <a:r>
              <a:rPr lang="en-GB" dirty="0"/>
              <a:t>Each role also has an alignment question that challenges it toward enterprise thinking."</a:t>
            </a:r>
          </a:p>
          <a:p>
            <a:endParaRPr lang="en-GB" dirty="0"/>
          </a:p>
          <a:p>
            <a:r>
              <a:rPr lang="en-GB" b="1" dirty="0"/>
              <a:t>2. Read the card on the slide: the Chief Executive Officer.</a:t>
            </a:r>
          </a:p>
          <a:p>
            <a:r>
              <a:rPr lang="en-ZA" b="1" dirty="0"/>
              <a:t>When the CEO is leading the OKR conversation, the natural focus is usually big enterprise ambition.</a:t>
            </a:r>
            <a:br>
              <a:rPr lang="en-ZA" dirty="0"/>
            </a:br>
            <a:r>
              <a:rPr lang="en-ZA" dirty="0"/>
              <a:t>The CEO is thinking about where the organisation must go, how it creates value, how customers experience that value, and how the organisation should be positioned in the market.</a:t>
            </a:r>
          </a:p>
          <a:p>
            <a:endParaRPr lang="en-ZA" dirty="0"/>
          </a:p>
          <a:p>
            <a:r>
              <a:rPr lang="en-ZA" dirty="0"/>
              <a:t>The risk is that CEO-level OKRs can become too visionary. </a:t>
            </a:r>
          </a:p>
          <a:p>
            <a:r>
              <a:rPr lang="en-ZA" dirty="0"/>
              <a:t>They may sound strong and strategic, but still fail if the organisation does not have the operational capability to deliver them.</a:t>
            </a:r>
          </a:p>
          <a:p>
            <a:r>
              <a:rPr lang="en-ZA" dirty="0"/>
              <a:t>Simple facilitator explanation:</a:t>
            </a:r>
          </a:p>
          <a:p>
            <a:endParaRPr lang="en-ZA" dirty="0"/>
          </a:p>
          <a:p>
            <a:r>
              <a:rPr lang="en-ZA" dirty="0"/>
              <a:t>“This card shows the CEO’s natural hot zone. </a:t>
            </a:r>
          </a:p>
          <a:p>
            <a:r>
              <a:rPr lang="en-ZA" dirty="0"/>
              <a:t>The CEO will often focus on enterprise value, customer value, ambition and market positioning. </a:t>
            </a:r>
          </a:p>
          <a:p>
            <a:r>
              <a:rPr lang="en-ZA" dirty="0"/>
              <a:t>That is important because it keeps the organisation looking at the bigger picture. </a:t>
            </a:r>
          </a:p>
          <a:p>
            <a:r>
              <a:rPr lang="en-ZA" dirty="0"/>
              <a:t>The caution is that the ambition must still be translated into outcomes the organisation can realistically deliver.”</a:t>
            </a:r>
          </a:p>
          <a:p>
            <a:endParaRPr lang="en-ZA" dirty="0"/>
          </a:p>
          <a:p>
            <a:r>
              <a:rPr lang="en-ZA" b="1" dirty="0"/>
              <a:t>Emphasise the point</a:t>
            </a:r>
          </a:p>
          <a:p>
            <a:r>
              <a:rPr lang="en-ZA" b="1" dirty="0"/>
              <a:t>The CEO brings ambition. The OKR process must convert that ambition into deliverable results.</a:t>
            </a:r>
            <a:endParaRPr lang="en-ZA" dirty="0"/>
          </a:p>
          <a:p>
            <a:endParaRPr lang="en-ZA" dirty="0"/>
          </a:p>
          <a:p>
            <a:r>
              <a:rPr lang="en-ZA" dirty="0"/>
              <a:t>So the alignment question is asking:</a:t>
            </a:r>
          </a:p>
          <a:p>
            <a:r>
              <a:rPr lang="en-ZA" dirty="0"/>
              <a:t>“Are our OKRs strong enough to reflect the ambition, but practical enough for the organisation to execute?”</a:t>
            </a:r>
          </a:p>
          <a:p>
            <a:r>
              <a:rPr lang="en-ZA" dirty="0"/>
              <a:t>Even simpler:</a:t>
            </a:r>
          </a:p>
          <a:p>
            <a:r>
              <a:rPr lang="en-ZA" dirty="0"/>
              <a:t>“This is about making sure the CEO’s vision does not remain a big statement. </a:t>
            </a:r>
          </a:p>
          <a:p>
            <a:r>
              <a:rPr lang="en-ZA" dirty="0"/>
              <a:t>It must become clear outcomes the organisation can actually deliver.”</a:t>
            </a:r>
          </a:p>
          <a:p>
            <a:endParaRPr lang="en-ZA" dirty="0"/>
          </a:p>
          <a:p>
            <a:endParaRPr lang="en-ZA" dirty="0"/>
          </a:p>
          <a:p>
            <a:endParaRPr lang="en-GB" b="1"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Answer key:</a:t>
            </a:r>
          </a:p>
          <a:p>
            <a:r>
              <a:rPr dirty="0"/>
              <a:t>CEO = Strategic ambition and market positioning</a:t>
            </a:r>
          </a:p>
          <a:p>
            <a:r>
              <a:rPr dirty="0"/>
              <a:t>CFO = Financial performance and efficiency</a:t>
            </a:r>
          </a:p>
          <a:p>
            <a:r>
              <a:rPr dirty="0"/>
              <a:t>COO = Operational reliability and execution efficiency</a:t>
            </a:r>
          </a:p>
          <a:p>
            <a:r>
              <a:rPr dirty="0"/>
              <a:t>CHRO = Capability development and organisational health</a:t>
            </a:r>
          </a:p>
          <a:p>
            <a:r>
              <a:rPr dirty="0"/>
              <a:t>CTO/CIO = Technology capability and digital infrastructure</a:t>
            </a:r>
          </a:p>
          <a:p>
            <a:r>
              <a:rPr dirty="0"/>
              <a:t>CMO = Market positioning and brand strength</a:t>
            </a:r>
          </a:p>
          <a:p>
            <a:r>
              <a:rPr dirty="0"/>
              <a:t>CCO = Revenue growth and commercial expansion</a:t>
            </a:r>
          </a:p>
          <a:p>
            <a:r>
              <a:rPr dirty="0"/>
              <a:t>CPO = Supply chain efficiency and cost discipline</a:t>
            </a:r>
          </a:p>
          <a:p>
            <a:r>
              <a:rPr dirty="0"/>
              <a:t>CRO = Risk control and regulatory protection</a:t>
            </a:r>
          </a:p>
          <a:p>
            <a:r>
              <a:rPr dirty="0"/>
              <a:t>CSO = Strategic planning coherence</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Aptos"/>
              <a:ea typeface="+mn-ea"/>
              <a:cs typeface="+mn-c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"Which hot zone description most accurately reflects how you instinctively approach OKR definition? What would you need to do differently to write an enterprise-level Key Result?"</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Start the thinking in the room.</a:t>
            </a:r>
          </a:p>
          <a:p>
            <a:r>
              <a:rPr lang="en-GB" dirty="0"/>
              <a:t>Ask: "Which of these descriptions resonates most with how you instinctively write Key Results?"</a:t>
            </a:r>
          </a:p>
          <a:p>
            <a:r>
              <a:rPr lang="en-GB" dirty="0"/>
              <a:t>Take two answers.</a:t>
            </a:r>
          </a:p>
          <a:p>
            <a:endParaRPr lang="en-GB" dirty="0"/>
          </a:p>
          <a:p>
            <a:r>
              <a:rPr lang="en-GB" b="1" dirty="0"/>
              <a:t>4. Set the standard.</a:t>
            </a:r>
          </a:p>
          <a:p>
            <a:r>
              <a:rPr lang="en-GB" dirty="0"/>
              <a:t>Say: "Name one hot zone description.</a:t>
            </a:r>
          </a:p>
          <a:p>
            <a:r>
              <a:rPr lang="en-GB" dirty="0"/>
              <a:t>Give one objective or Key Result you have written that shows it.</a:t>
            </a:r>
          </a:p>
          <a:p>
            <a:r>
              <a:rPr lang="en-GB" dirty="0"/>
              <a:t>Then say what you would do differently: which SiP domain you would add, and which role you would consult."</a:t>
            </a:r>
          </a:p>
          <a:p>
            <a:endParaRPr lang="en-GB" dirty="0"/>
          </a:p>
          <a:p>
            <a:r>
              <a:rPr lang="en-GB" b="1" dirty="0"/>
              <a:t>5. Bridge to Section 5.</a:t>
            </a:r>
          </a:p>
          <a:p>
            <a:r>
              <a:rPr lang="en-GB" dirty="0"/>
              <a:t>Say: "We know the filter, the building blocks, the steps and our own biases. Section 5 is where your group builds."</a:t>
            </a:r>
          </a:p>
          <a:p>
            <a:endParaRPr lang="en-GB" dirty="0"/>
          </a:p>
          <a:p>
            <a:r>
              <a:rPr lang="en-GB" b="1" dirty="0"/>
              <a:t>ON THE PORTAL, AFTER THE TEACHING:</a:t>
            </a:r>
          </a:p>
          <a:p>
            <a:r>
              <a:rPr lang="en-GB" dirty="0"/>
              <a:t>Participants write the reflection in Section 3 of the participant file: 3.1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1. 5.1a: how the group works. One scribe, agreed entries, every member’s own page.</a:t>
            </a:r>
          </a:p>
          <a:p>
            <a:r>
              <a:rPr lang="en-GB" dirty="0"/>
              <a:t>2. 5.1b: Translating SiP to KISS. The group’s four SiP statements, the sixteen entries of the KISS map, and its confirmation.</a:t>
            </a:r>
          </a:p>
          <a:p>
            <a:r>
              <a:rPr lang="en-GB" dirty="0"/>
              <a:t>3. 5.2a: Translating KISS to OKRs through the five steps.</a:t>
            </a:r>
          </a:p>
          <a:p>
            <a:r>
              <a:rPr lang="en-GB" dirty="0"/>
              <a:t>4. 5.2b: the three confirmed outputs, and how they reach the Capstone.</a:t>
            </a:r>
          </a:p>
          <a:p>
            <a:r>
              <a:rPr lang="en-GB" dirty="0"/>
              <a:t>You explain both steps from the slides. The groups do the work itself on the portal after the teaching, in the session or after it.</a:t>
            </a:r>
          </a:p>
          <a:p>
            <a:endParaRPr lang="en-GB" dirty="0"/>
          </a:p>
          <a:p>
            <a:r>
              <a:rPr lang="en-GB" b="1" dirty="0"/>
              <a:t>HOW TO OPEN THE SECTION:</a:t>
            </a:r>
          </a:p>
          <a:p>
            <a:endParaRPr lang="en-GB" dirty="0"/>
          </a:p>
          <a:p>
            <a:r>
              <a:rPr lang="en-GB" b="1" dirty="0"/>
              <a:t>1. State the section intent.</a:t>
            </a:r>
          </a:p>
          <a:p>
            <a:r>
              <a:rPr lang="en-GB" dirty="0"/>
              <a:t>Say: "This is the production section of the unit, and it is Capstone work.</a:t>
            </a:r>
          </a:p>
          <a:p>
            <a:r>
              <a:rPr lang="en-GB" dirty="0"/>
              <a:t>Everything in Awareness, Intelligence, and Extrapolating has been preparation for this."</a:t>
            </a:r>
          </a:p>
          <a:p>
            <a:endParaRPr lang="en-GB" dirty="0"/>
          </a:p>
          <a:p>
            <a:r>
              <a:rPr lang="en-GB" b="1" dirty="0"/>
              <a:t>2. Read the two section learning outcomes from the slide.</a:t>
            </a:r>
          </a:p>
          <a:p>
            <a:r>
              <a:rPr lang="en-GB" b="1" dirty="0"/>
              <a:t>SECTION LEARNING OUTCOMES:</a:t>
            </a:r>
          </a:p>
          <a:p>
            <a:pPr lvl="0"/>
            <a:r>
              <a:rPr lang="en-ZA" sz="1200" b="0" i="0" kern="1200" dirty="0">
                <a:solidFill>
                  <a:schemeClr val="tx1"/>
                </a:solidFill>
                <a:effectLst/>
                <a:latin typeface="+mn-lt"/>
                <a:ea typeface="+mn-ea"/>
                <a:cs typeface="+mn-cs"/>
              </a:rPr>
              <a:t>Apply the translation of </a:t>
            </a:r>
            <a:r>
              <a:rPr lang="en-ZA" sz="1200" b="0" i="0" kern="1200" dirty="0" err="1">
                <a:solidFill>
                  <a:schemeClr val="tx1"/>
                </a:solidFill>
                <a:effectLst/>
                <a:latin typeface="+mn-lt"/>
                <a:ea typeface="+mn-ea"/>
                <a:cs typeface="+mn-cs"/>
              </a:rPr>
              <a:t>SiP</a:t>
            </a:r>
            <a:r>
              <a:rPr lang="en-ZA" sz="1200" b="0" i="0" kern="1200" dirty="0">
                <a:solidFill>
                  <a:schemeClr val="tx1"/>
                </a:solidFill>
                <a:effectLst/>
                <a:latin typeface="+mn-lt"/>
                <a:ea typeface="+mn-ea"/>
                <a:cs typeface="+mn-cs"/>
              </a:rPr>
              <a:t> into OKRs as a group.</a:t>
            </a:r>
          </a:p>
          <a:p>
            <a:pPr lvl="0"/>
            <a:r>
              <a:rPr lang="en-ZA" sz="1200" b="0" i="0" kern="1200" dirty="0">
                <a:solidFill>
                  <a:schemeClr val="tx1"/>
                </a:solidFill>
                <a:effectLst/>
                <a:latin typeface="+mn-lt"/>
                <a:ea typeface="+mn-ea"/>
                <a:cs typeface="+mn-cs"/>
              </a:rPr>
              <a:t>Draw on collective intelligence to shape the strategic trajectory.</a:t>
            </a:r>
          </a:p>
          <a:p>
            <a:endParaRPr lang="en-GB" dirty="0"/>
          </a:p>
          <a:p>
            <a:r>
              <a:rPr lang="en-GB" b="1" dirty="0"/>
              <a:t>3. Give the two connected stages.</a:t>
            </a:r>
          </a:p>
          <a:p>
            <a:r>
              <a:rPr lang="en-GB" dirty="0"/>
              <a:t>Say: "Your group works through two connected stages."</a:t>
            </a:r>
          </a:p>
          <a:p>
            <a:r>
              <a:rPr lang="en-GB" dirty="0"/>
              <a:t>- 5.1 — Translating SiP to KISS: pass each of your four SiP statements through the four KISS filters and confirm your KISS map.</a:t>
            </a:r>
          </a:p>
          <a:p>
            <a:endParaRPr lang="en-GB" dirty="0"/>
          </a:p>
          <a:p>
            <a:r>
              <a:rPr lang="en-GB" dirty="0"/>
              <a:t>- 5.2 — Translating KISS to OKRs: The five Steps: convert the confirmed KISS map into Enterprise Priorities and Enterprise OKRs.</a:t>
            </a:r>
          </a:p>
          <a:p>
            <a:endParaRPr lang="en-GB" dirty="0"/>
          </a:p>
          <a:p>
            <a:r>
              <a:rPr lang="en-GB" dirty="0"/>
              <a:t>Say: "Each output is the foundation for the next: Success in Practice, then KISS, then OKRs."</a:t>
            </a:r>
          </a:p>
          <a:p>
            <a:endParaRPr lang="en-GB" dirty="0"/>
          </a:p>
          <a:p>
            <a:r>
              <a:rPr lang="en-GB" b="1" dirty="0"/>
              <a:t>4. Frame the goal.</a:t>
            </a:r>
          </a:p>
          <a:p>
            <a:r>
              <a:rPr lang="en-GB" b="1" dirty="0"/>
              <a:t>Say: </a:t>
            </a:r>
            <a:r>
              <a:rPr lang="en-GB" dirty="0"/>
              <a:t>"The goal of this section is to find the few, vital Enterprise OKRs that will shift the needle for the entire organisation.</a:t>
            </a:r>
          </a:p>
          <a:p>
            <a:r>
              <a:rPr lang="en-GB" dirty="0"/>
              <a:t>Departments contribute the insight.</a:t>
            </a:r>
          </a:p>
          <a:p>
            <a:r>
              <a:rPr lang="en-GB" dirty="0"/>
              <a:t>The enterprise owns the results."</a:t>
            </a:r>
          </a:p>
          <a:p>
            <a:endParaRPr lang="en-GB" b="1" dirty="0"/>
          </a:p>
          <a:p>
            <a:r>
              <a:rPr lang="en-GB" b="1" dirty="0"/>
              <a:t>Add: </a:t>
            </a:r>
            <a:r>
              <a:rPr lang="en-GB" dirty="0"/>
              <a:t>"When the focus is on departments, the organisation just gets better silos. When the focus is on the enterprise, it actually executes its strategy."</a:t>
            </a:r>
          </a:p>
          <a:p>
            <a:endParaRPr lang="en-GB" dirty="0"/>
          </a:p>
          <a:p>
            <a:r>
              <a:rPr lang="en-GB" b="1" dirty="0"/>
              <a:t>5. Say why the work is collective.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5.1 — TRANSLATING SiP TO KISS · HOW THE GROUP WORKS</a:t>
            </a:r>
          </a:p>
          <a:p>
            <a:endParaRPr lang="en-GB" dirty="0"/>
          </a:p>
          <a:p>
            <a:r>
              <a:rPr lang="en-GB" b="1" dirty="0"/>
              <a:t>HOW TO TEACH IT:</a:t>
            </a:r>
          </a:p>
          <a:p>
            <a:endParaRPr lang="en-GB" dirty="0"/>
          </a:p>
          <a:p>
            <a:r>
              <a:rPr lang="en-GB" b="1" dirty="0"/>
              <a:t>1. Explain how the group works, using the four lines on the slide.</a:t>
            </a:r>
          </a:p>
          <a:p>
            <a:r>
              <a:rPr lang="en-GB" b="1" dirty="0"/>
              <a:t>Say: </a:t>
            </a:r>
            <a:r>
              <a:rPr lang="en-GB" dirty="0"/>
              <a:t>"Your group agrees each entry.</a:t>
            </a:r>
          </a:p>
          <a:p>
            <a:r>
              <a:rPr lang="en-GB" dirty="0"/>
              <a:t>One member acts as scribe and types the agreed wording.</a:t>
            </a:r>
          </a:p>
          <a:p>
            <a:r>
              <a:rPr lang="en-GB" dirty="0"/>
              <a:t>Every member then types the agreed entries into their own page, in the session or after it."</a:t>
            </a:r>
          </a:p>
          <a:p>
            <a:endParaRPr lang="en-GB" dirty="0"/>
          </a:p>
          <a:p>
            <a:endParaRPr lang="en-GB" dirty="0"/>
          </a:p>
          <a:p>
            <a:r>
              <a:rPr lang="en-ZA" sz="1200" b="0" i="0" kern="1200" dirty="0">
                <a:solidFill>
                  <a:schemeClr val="tx1"/>
                </a:solidFill>
                <a:effectLst/>
                <a:latin typeface="+mn-lt"/>
                <a:ea typeface="+mn-ea"/>
                <a:cs typeface="+mn-cs"/>
              </a:rPr>
              <a:t> For each </a:t>
            </a:r>
            <a:r>
              <a:rPr lang="en-ZA" sz="1200" b="0" i="0" kern="1200" dirty="0" err="1">
                <a:solidFill>
                  <a:schemeClr val="tx1"/>
                </a:solidFill>
                <a:effectLst/>
                <a:latin typeface="+mn-lt"/>
                <a:ea typeface="+mn-ea"/>
                <a:cs typeface="+mn-cs"/>
              </a:rPr>
              <a:t>SiP</a:t>
            </a:r>
            <a:r>
              <a:rPr lang="en-ZA" sz="1200" b="0" i="0" kern="1200" dirty="0">
                <a:solidFill>
                  <a:schemeClr val="tx1"/>
                </a:solidFill>
                <a:effectLst/>
                <a:latin typeface="+mn-lt"/>
                <a:ea typeface="+mn-ea"/>
                <a:cs typeface="+mn-cs"/>
              </a:rPr>
              <a:t> domain the group answers the four KISS guiding questions of 1.3 (Keep, Improve, Start, Stop): sixteen entries in all. The group then confirms its KISS map.</a:t>
            </a:r>
          </a:p>
          <a:p>
            <a:r>
              <a:rPr lang="en-ZA" sz="1200" b="0" i="0" kern="1200" dirty="0">
                <a:solidFill>
                  <a:schemeClr val="tx1"/>
                </a:solidFill>
                <a:effectLst/>
                <a:latin typeface="+mn-lt"/>
                <a:ea typeface="+mn-ea"/>
                <a:cs typeface="+mn-cs"/>
              </a:rPr>
              <a:t>The group agrees each entry and one member acts as scribe. Every member then types the agreed entries into their own page of the participant file, in the session or after it. The confirmed Keep, Improve, Start and Stop feed the team's Capstone Blueprint.</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10E69-D01E-8EE9-A814-81A278323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C62630-A77E-C950-76E5-C73D28DCA7D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E148E1C-74F9-2D8F-2A34-18C620AC3BF2}"/>
              </a:ext>
            </a:extLst>
          </p:cNvPr>
          <p:cNvSpPr>
            <a:spLocks noGrp="1"/>
          </p:cNvSpPr>
          <p:nvPr>
            <p:ph type="body" idx="1"/>
          </p:nvPr>
        </p:nvSpPr>
        <p:spPr/>
        <p:txBody>
          <a:bodyPr/>
          <a:lstStyle/>
          <a:p>
            <a:r>
              <a:rPr lang="en-GB" b="1" dirty="0"/>
              <a:t>5.2 — TRANSLATING KISS TO OKRs: THE FIVE STEPS (5 STEPS · GROUP WORK)</a:t>
            </a:r>
          </a:p>
          <a:p>
            <a:endParaRPr lang="en-GB" dirty="0"/>
          </a:p>
          <a:p>
            <a:r>
              <a:rPr lang="en-GB" b="1" dirty="0"/>
              <a:t>HOW TO TEACH IT:</a:t>
            </a:r>
          </a:p>
          <a:p>
            <a:endParaRPr lang="en-GB" dirty="0"/>
          </a:p>
          <a:p>
            <a:r>
              <a:rPr lang="en-GB" b="1" dirty="0"/>
              <a:t>1. Link the step to the one before it.</a:t>
            </a:r>
          </a:p>
          <a:p>
            <a:r>
              <a:rPr lang="en-GB" dirty="0"/>
              <a:t>Say: "With your KISS map confirmed, your group converts it into enterprise OKRs through the five steps of 1.5.</a:t>
            </a:r>
          </a:p>
          <a:p>
            <a:r>
              <a:rPr lang="en-GB" dirty="0"/>
              <a:t>Work through the steps in order.</a:t>
            </a:r>
          </a:p>
          <a:p>
            <a:r>
              <a:rPr lang="en-GB" dirty="0"/>
              <a:t>Each step uses what your group recorded in the step before it."</a:t>
            </a:r>
          </a:p>
          <a:p>
            <a:endParaRPr lang="en-GB" dirty="0"/>
          </a:p>
          <a:p>
            <a:r>
              <a:rPr lang="en-GB" b="1" dirty="0"/>
              <a:t>2. Step 1 — Find Themes.</a:t>
            </a:r>
          </a:p>
          <a:p>
            <a:r>
              <a:rPr lang="en-GB" dirty="0"/>
              <a:t>Say: "Each member first writes down the 2–3 big shifts they see in the KISS map.</a:t>
            </a:r>
          </a:p>
          <a:p>
            <a:r>
              <a:rPr lang="en-GB" dirty="0"/>
              <a:t>Share them, then agree your group’s themes.</a:t>
            </a:r>
          </a:p>
          <a:p>
            <a:r>
              <a:rPr lang="en-GB" dirty="0"/>
              <a:t>A theme names one shift the organisation must make to reach the SiP.</a:t>
            </a:r>
          </a:p>
          <a:p>
            <a:r>
              <a:rPr lang="en-GB" dirty="0"/>
              <a:t>Your group records up to four themes."</a:t>
            </a:r>
          </a:p>
          <a:p>
            <a:r>
              <a:rPr lang="en-GB" dirty="0"/>
              <a:t>Add: "Written themes prevent the anchoring bias where the first speaker dominates the room."</a:t>
            </a:r>
          </a:p>
          <a:p>
            <a:endParaRPr lang="en-GB" dirty="0"/>
          </a:p>
          <a:p>
            <a:r>
              <a:rPr lang="en-GB" b="1" dirty="0"/>
              <a:t>3. Step 2 — Inspiring Objectives.</a:t>
            </a:r>
          </a:p>
          <a:p>
            <a:r>
              <a:rPr lang="en-GB" dirty="0"/>
              <a:t>Say: "Your group writes one Objective for each theme.</a:t>
            </a:r>
          </a:p>
          <a:p>
            <a:r>
              <a:rPr lang="en-GB" dirty="0"/>
              <a:t>Draft your Objective privately first, then agree the group’s wording.</a:t>
            </a:r>
          </a:p>
          <a:p>
            <a:r>
              <a:rPr lang="en-GB" dirty="0"/>
              <a:t>The T-shirt test applies: if you cannot say it in a hallway conversation, simplify it."</a:t>
            </a:r>
          </a:p>
          <a:p>
            <a:endParaRPr lang="en-GB" dirty="0"/>
          </a:p>
          <a:p>
            <a:r>
              <a:rPr lang="en-GB" b="1" dirty="0"/>
              <a:t>4. Step 3 — Define Key Results.</a:t>
            </a:r>
          </a:p>
          <a:p>
            <a:r>
              <a:rPr lang="en-GB" dirty="0"/>
              <a:t>Say: "For each Objective, your group writes up to two Key Results in the formula, and names the contributing roles for each Key Result.</a:t>
            </a:r>
          </a:p>
          <a:p>
            <a:r>
              <a:rPr lang="en-GB" dirty="0"/>
              <a:t>Every Key Result carries a baseline, a target and a deadline."</a:t>
            </a:r>
          </a:p>
          <a:p>
            <a:r>
              <a:rPr lang="en-GB" dirty="0"/>
              <a:t>Say: "Hold each Key Result to the benchmark: shift response time from 12 hours to 4 hours by Q3."</a:t>
            </a:r>
          </a:p>
          <a:p>
            <a:endParaRPr lang="en-GB" dirty="0"/>
          </a:p>
          <a:p>
            <a:r>
              <a:rPr lang="en-GB" b="1" dirty="0"/>
              <a:t>5. Step 4 — Alignment Test.</a:t>
            </a:r>
          </a:p>
          <a:p>
            <a:r>
              <a:rPr lang="en-GB" dirty="0"/>
              <a:t>Say: "Run the four-question test publicly.</a:t>
            </a:r>
          </a:p>
          <a:p>
            <a:r>
              <a:rPr lang="en-GB" dirty="0"/>
              <a:t>One member reads the OKR and the group answers the four questions aloud.</a:t>
            </a:r>
          </a:p>
          <a:p>
            <a:r>
              <a:rPr lang="en-GB" dirty="0"/>
              <a:t>Tick a question only when the answer is a clear yes.</a:t>
            </a:r>
          </a:p>
          <a:p>
            <a:r>
              <a:rPr lang="en-GB" dirty="0"/>
              <a:t>An OKR that cannot earn all four ticks goes back to Step 2 or Step 3."</a:t>
            </a:r>
          </a:p>
          <a:p>
            <a:endParaRPr lang="en-GB" dirty="0"/>
          </a:p>
          <a:p>
            <a:r>
              <a:rPr lang="en-GB" b="1" dirty="0"/>
              <a:t>6. Step 5 — Priority Matrix.</a:t>
            </a:r>
          </a:p>
          <a:p>
            <a:r>
              <a:rPr lang="en-GB" dirty="0"/>
              <a:t>Say: "Place each aligned OKR on the matrix by its Impact and its Effort.</a:t>
            </a:r>
          </a:p>
          <a:p>
            <a:r>
              <a:rPr lang="en-GB" dirty="0"/>
              <a:t>Before you place the first one, agree what high impact and high effort mean for your organisation: time, money, change management, or all three."</a:t>
            </a:r>
          </a:p>
          <a:p>
            <a:endParaRPr lang="en-GB" dirty="0"/>
          </a:p>
          <a:p>
            <a:r>
              <a:rPr lang="en-GB" b="1" dirty="0"/>
              <a:t>7. Explain confirmation.</a:t>
            </a:r>
          </a:p>
          <a:p>
            <a:r>
              <a:rPr lang="en-GB" dirty="0"/>
              <a:t>Say: "Your two outputs build up below the steps: your Enterprise Priorities and your Enterprise OKRs. Read them together as a group, then confirm them."</a:t>
            </a:r>
          </a:p>
          <a:p>
            <a:endParaRPr lang="en-GB" dirty="0"/>
          </a:p>
          <a:p>
            <a:r>
              <a:rPr lang="en-GB" b="1" dirty="0"/>
              <a:t>ON THE PORTAL, AFTER THE TEACHING:</a:t>
            </a:r>
          </a:p>
          <a:p>
            <a:r>
              <a:rPr lang="en-GB" dirty="0"/>
              <a:t>In 5.2 of the participant file, the group works through the five steps:</a:t>
            </a:r>
          </a:p>
          <a:p>
            <a:r>
              <a:rPr lang="en-GB" dirty="0"/>
              <a:t>records up to four themes from its confirmed KISS map;</a:t>
            </a:r>
          </a:p>
          <a:p>
            <a:r>
              <a:rPr lang="en-GB" dirty="0"/>
              <a:t>writes one Objective for each theme;</a:t>
            </a:r>
          </a:p>
          <a:p>
            <a:r>
              <a:rPr lang="en-GB" dirty="0"/>
              <a:t>writes up to two Key Results for each Objective, with the contributing roles;</a:t>
            </a:r>
          </a:p>
          <a:p>
            <a:r>
              <a:rPr lang="en-GB" dirty="0"/>
              <a:t>applies the four-question alignment test to each Objective;</a:t>
            </a:r>
          </a:p>
          <a:p>
            <a:r>
              <a:rPr lang="en-GB" dirty="0"/>
              <a:t>places each aligned OKR on the Prioritisation Matrix;</a:t>
            </a:r>
          </a:p>
          <a:p>
            <a:r>
              <a:rPr lang="en-GB" dirty="0"/>
              <a:t>confirms its Enterprise Priorities and its Enterprise OKRs.</a:t>
            </a:r>
          </a:p>
          <a:p>
            <a:r>
              <a:rPr lang="en-GB" dirty="0"/>
              <a:t>The group agrees each entry, and every member types the agreed entries into their own page.</a:t>
            </a:r>
          </a:p>
          <a:p>
            <a:endParaRPr lang="en-GB" dirty="0"/>
          </a:p>
          <a:p>
            <a:r>
              <a:rPr lang="en-GB" b="1" dirty="0"/>
              <a:t>LATER, WHEN THE GROUPS DO THE WORK ON THE PORTAL:</a:t>
            </a:r>
          </a:p>
          <a:p>
            <a:r>
              <a:rPr lang="en-GB" dirty="0"/>
              <a:t>- Step 1: collect all themes before any discussion begins.</a:t>
            </a:r>
          </a:p>
          <a:p>
            <a:r>
              <a:rPr lang="en-GB" dirty="0"/>
              <a:t>- Step 3: apply the four-part formula rigorously. When a Key Result reads as an activity, ask: "Can you check it off a task list?"</a:t>
            </a:r>
          </a:p>
          <a:p>
            <a:r>
              <a:rPr lang="en-GB" dirty="0"/>
              <a:t>- Step 4: ask each leader to read their OKR and answer the four questions aloud. The room quickly shows whether the OKR is enterprise-level or functionally disguised.</a:t>
            </a:r>
          </a:p>
          <a:p>
            <a:r>
              <a:rPr lang="en-GB" dirty="0"/>
              <a:t>- Step 5: as the team debates placements, listen for disagreements about what constitutes high impact and high effort. These disagreements are where collective intelligence is built. Hold back from a quick consensus: the quality of the debate is as valuable as the final placement.</a:t>
            </a:r>
          </a:p>
          <a:p>
            <a:r>
              <a:rPr lang="en-GB" dirty="0"/>
              <a:t>- Use the hot zones. After a leader describes an OKR, ask the room: "Which hot zone does this perspective risk creating?"</a:t>
            </a:r>
          </a:p>
        </p:txBody>
      </p:sp>
      <p:sp>
        <p:nvSpPr>
          <p:cNvPr id="4" name="Slide Number Placeholder 3">
            <a:extLst>
              <a:ext uri="{FF2B5EF4-FFF2-40B4-BE49-F238E27FC236}">
                <a16:creationId xmlns:a16="http://schemas.microsoft.com/office/drawing/2014/main" id="{7AF96488-96DF-3B9D-3BBE-924FCC163DF2}"/>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3621622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the Strategy Airport game. You play one learning round with the room, from the facilitator file.</a:t>
            </a:r>
          </a:p>
          <a:p>
            <a:r>
              <a:rPr lang="en-GB" dirty="0"/>
              <a:t>2. After the teaching, each participant plays the same game alone on the portal and submits it with the unit.</a:t>
            </a:r>
          </a:p>
          <a:p>
            <a:r>
              <a:rPr lang="en-GB" dirty="0"/>
              <a:t>3. The Unit Summary.</a:t>
            </a:r>
          </a:p>
          <a:p>
            <a:endParaRPr lang="en-GB" dirty="0"/>
          </a:p>
          <a:p>
            <a:r>
              <a:rPr lang="en-GB" b="1" dirty="0"/>
              <a:t>HOW TO OPEN THE SECTION:</a:t>
            </a:r>
          </a:p>
          <a:p>
            <a:endParaRPr lang="en-GB" dirty="0"/>
          </a:p>
          <a:p>
            <a:r>
              <a:rPr lang="en-GB" b="1" dirty="0"/>
              <a:t>1. State the section intent.</a:t>
            </a:r>
          </a:p>
          <a:p>
            <a:r>
              <a:rPr lang="en-GB" dirty="0"/>
              <a:t>Say: "This is the application section.</a:t>
            </a:r>
          </a:p>
          <a:p>
            <a:r>
              <a:rPr lang="en-GB" dirty="0"/>
              <a:t>You have seen the full path from Success in Practice to KISS to OKRs.</a:t>
            </a:r>
          </a:p>
          <a:p>
            <a:r>
              <a:rPr lang="en-GB" dirty="0"/>
              <a:t>Strategy Airport lets you apply it to a case you have not met: first together in this lesson, then on your own."</a:t>
            </a:r>
          </a:p>
          <a:p>
            <a:endParaRPr lang="en-GB" dirty="0"/>
          </a:p>
          <a:p>
            <a:r>
              <a:rPr lang="en-GB" b="1" dirty="0"/>
              <a:t>2. Read the two section learning outcomes from the slide.</a:t>
            </a:r>
          </a:p>
          <a:p>
            <a:r>
              <a:rPr lang="en-GB" b="1" dirty="0"/>
              <a:t>SECTION LEARNING OUTCOMES:</a:t>
            </a:r>
          </a:p>
          <a:p>
            <a:pPr lvl="0"/>
            <a:r>
              <a:rPr lang="en-ZA" sz="1200" b="0" i="0" kern="1200" dirty="0">
                <a:solidFill>
                  <a:schemeClr val="tx1"/>
                </a:solidFill>
                <a:effectLst/>
                <a:latin typeface="+mn-lt"/>
                <a:ea typeface="+mn-ea"/>
                <a:cs typeface="+mn-cs"/>
              </a:rPr>
              <a:t>Translate strategic intent into measurable results for their own strategy.</a:t>
            </a:r>
          </a:p>
          <a:p>
            <a:pPr lvl="0"/>
            <a:r>
              <a:rPr lang="en-ZA" sz="1200" b="0" i="0" kern="1200" dirty="0">
                <a:solidFill>
                  <a:schemeClr val="tx1"/>
                </a:solidFill>
                <a:effectLst/>
                <a:latin typeface="+mn-lt"/>
                <a:ea typeface="+mn-ea"/>
                <a:cs typeface="+mn-cs"/>
              </a:rPr>
              <a:t>Set a strategic trajectory with clear objectives and measurable results.</a:t>
            </a:r>
          </a:p>
          <a:p>
            <a:endParaRPr lang="en-GB" dirty="0"/>
          </a:p>
          <a:p>
            <a:r>
              <a:rPr lang="en-GB" b="1" dirty="0"/>
              <a:t>3. Name the shift.</a:t>
            </a:r>
          </a:p>
          <a:p>
            <a:r>
              <a:rPr lang="en-GB" dirty="0"/>
              <a:t>Say: "Section 5 is collective: one group, one position. Section 4 is individual: one participant, one learning round."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4.1 — STRATEGY AIRPORT (2 GATES · LEARNING ROUND)</a:t>
            </a:r>
          </a:p>
          <a:p>
            <a:endParaRPr lang="en-GB" dirty="0"/>
          </a:p>
          <a:p>
            <a:r>
              <a:rPr lang="en-GB" b="1" dirty="0"/>
              <a:t>HOW TO TEACH IT:</a:t>
            </a:r>
          </a:p>
          <a:p>
            <a:endParaRPr lang="en-GB" dirty="0"/>
          </a:p>
          <a:p>
            <a:r>
              <a:rPr lang="en-GB" b="1" dirty="0"/>
              <a:t>1. Share the game.</a:t>
            </a:r>
          </a:p>
          <a:p>
            <a:r>
              <a:rPr lang="en-GB" dirty="0"/>
              <a:t>Stop sharing the deck and share the browser window that holds the facilitator file, at Section 4. </a:t>
            </a:r>
          </a:p>
          <a:p>
            <a:r>
              <a:rPr lang="en-GB" dirty="0"/>
              <a:t>Have that page ready before the lesson begins.</a:t>
            </a:r>
          </a:p>
          <a:p>
            <a:r>
              <a:rPr lang="en-GB" dirty="0"/>
              <a:t>Return to the deck when the learning round is complete.</a:t>
            </a:r>
          </a:p>
          <a:p>
            <a:endParaRPr lang="en-GB" dirty="0"/>
          </a:p>
          <a:p>
            <a:r>
              <a:rPr lang="en-GB" b="1" dirty="0"/>
              <a:t>2. Introduce the game.</a:t>
            </a:r>
          </a:p>
          <a:p>
            <a:r>
              <a:rPr lang="en-GB" dirty="0"/>
              <a:t>Say: "This is Strategy Airport.</a:t>
            </a:r>
          </a:p>
          <a:p>
            <a:r>
              <a:rPr lang="en-GB" dirty="0"/>
              <a:t>We move from strategic imagination to operational clearance.</a:t>
            </a:r>
          </a:p>
          <a:p>
            <a:r>
              <a:rPr lang="en-GB" dirty="0"/>
              <a:t>The case is a medical health company.</a:t>
            </a:r>
          </a:p>
          <a:p>
            <a:r>
              <a:rPr lang="en-GB" dirty="0"/>
              <a:t>There are two gates: Baggage Check, which is KISS mapping, and Flight Plan, which is OKR construction."</a:t>
            </a:r>
          </a:p>
          <a:p>
            <a:endParaRPr lang="en-GB" dirty="0"/>
          </a:p>
          <a:p>
            <a:r>
              <a:rPr lang="en-GB" b="1" dirty="0"/>
              <a:t>3. Read the Success in Practice statement of the case aloud.</a:t>
            </a:r>
          </a:p>
          <a:p>
            <a:r>
              <a:rPr lang="en-GB" dirty="0"/>
              <a:t>"We will deliver reliable, accessible and patient-centred healthcare by ensuring patients experience timely support, clear communication and coordinated care across every touchpoint. To achieve this, we will strengthen operational coordination, use data to guide decisions, build shared accountability across teams and improve service reliability, efficiency, patient trust and health outcomes."</a:t>
            </a:r>
          </a:p>
          <a:p>
            <a:endParaRPr lang="en-GB" dirty="0"/>
          </a:p>
          <a:p>
            <a:r>
              <a:rPr lang="en-GB" b="1" dirty="0"/>
              <a:t>4. Gate 1 — Baggage Check.</a:t>
            </a:r>
          </a:p>
          <a:p>
            <a:r>
              <a:rPr lang="en-GB" dirty="0"/>
              <a:t>Take KEEP, IMPROVE, START and STOP in turn. For each filter, read the question on the card and the options under it:</a:t>
            </a:r>
          </a:p>
          <a:p>
            <a:r>
              <a:rPr lang="en-GB" dirty="0"/>
              <a:t>- KEEP: What must be protected because it already supports the SiP?</a:t>
            </a:r>
          </a:p>
          <a:p>
            <a:r>
              <a:rPr lang="en-GB" dirty="0"/>
              <a:t>- IMPROVE: What must work better because it weakens delivery?</a:t>
            </a:r>
          </a:p>
          <a:p>
            <a:r>
              <a:rPr lang="en-GB" dirty="0"/>
              <a:t>- START: What must begin because it is missing?</a:t>
            </a:r>
          </a:p>
          <a:p>
            <a:r>
              <a:rPr lang="en-GB" dirty="0"/>
              <a:t>- STOP: What must stop because it contradicts the SiP?</a:t>
            </a:r>
          </a:p>
          <a:p>
            <a:r>
              <a:rPr lang="en-GB" dirty="0"/>
              <a:t>Game rule: let participants choose first. Ask them to post their choice in the chat. Then choose that option on the screen: the answer is revealed only after selection.</a:t>
            </a:r>
          </a:p>
          <a:p>
            <a:r>
              <a:rPr lang="en-GB" dirty="0"/>
              <a:t>On a green light, read the reason aloud.</a:t>
            </a:r>
          </a:p>
          <a:p>
            <a:r>
              <a:rPr lang="en-GB" dirty="0"/>
              <a:t>On a red alert, ask: "Why does this option fail the SiP?"</a:t>
            </a:r>
          </a:p>
          <a:p>
            <a:r>
              <a:rPr lang="en-GB" dirty="0"/>
              <a:t>Collect at least two items for each filter, then move to the Flight Plan.</a:t>
            </a:r>
          </a:p>
          <a:p>
            <a:endParaRPr lang="en-GB" dirty="0"/>
          </a:p>
          <a:p>
            <a:r>
              <a:rPr lang="en-GB" b="1" dirty="0"/>
              <a:t>EXAMPLE</a:t>
            </a:r>
          </a:p>
          <a:p>
            <a:r>
              <a:rPr lang="en-GB" dirty="0"/>
              <a:t>Under KEEP, one option reads: “Keep complaints informal so teams are not blamed.” Red alert: this hides evidence the strategy needs.</a:t>
            </a:r>
          </a:p>
          <a:p>
            <a:r>
              <a:rPr lang="en-GB" dirty="0"/>
              <a:t>Under START, one option reads: “Start collecting more data without deciding how it will be used.” Red alert: data without decisions creates noise.</a:t>
            </a:r>
          </a:p>
          <a:p>
            <a:r>
              <a:rPr lang="en-GB" dirty="0"/>
              <a:t>Each red alert names the reason the option fails the SiP. Ask the room for the reason before you read it.</a:t>
            </a:r>
          </a:p>
          <a:p>
            <a:endParaRPr lang="en-GB" dirty="0"/>
          </a:p>
          <a:p>
            <a:r>
              <a:rPr lang="en-GB" b="1" dirty="0"/>
              <a:t>5. Gate 2 — Flight Plan.</a:t>
            </a:r>
          </a:p>
          <a:p>
            <a:r>
              <a:rPr lang="en-GB" dirty="0"/>
              <a:t>Say: "The KISS choices have now become your OKR themes."</a:t>
            </a:r>
          </a:p>
          <a:p>
            <a:r>
              <a:rPr lang="en-GB" dirty="0"/>
              <a:t>Ask the group to pick one theme and choose it on the screen. A draft Objective, two Key Results and the contributing roles appear.</a:t>
            </a:r>
          </a:p>
          <a:p>
            <a:r>
              <a:rPr lang="en-GB" dirty="0"/>
              <a:t>Read the draft aloud and test it with the room:</a:t>
            </a:r>
          </a:p>
          <a:p>
            <a:r>
              <a:rPr lang="en-GB" dirty="0"/>
              <a:t>Ask: "Is the Objective enterprise-level? Does each Key Result show a metric, a movement from X to Y and a deadline?"</a:t>
            </a:r>
          </a:p>
          <a:p>
            <a:r>
              <a:rPr lang="en-GB" dirty="0"/>
              <a:t>Edit the draft with the group’s corrections, then add the flight plan.</a:t>
            </a:r>
          </a:p>
          <a:p>
            <a:endParaRPr lang="en-GB" dirty="0"/>
          </a:p>
          <a:p>
            <a:r>
              <a:rPr lang="en-GB" b="1" dirty="0"/>
              <a:t>6. Finish the learning round.</a:t>
            </a:r>
          </a:p>
          <a:p>
            <a:r>
              <a:rPr lang="en-GB" dirty="0"/>
              <a:t>Finish the learning round and read the summary on the screen: the KISS themes captured, and the OKR built from one theme.</a:t>
            </a:r>
          </a:p>
          <a:p>
            <a:endParaRPr lang="en-GB" dirty="0"/>
          </a:p>
          <a:p>
            <a:r>
              <a:rPr lang="en-GB" b="1" dirty="0"/>
              <a:t>7. Land the learning point.</a:t>
            </a:r>
          </a:p>
          <a:p>
            <a:r>
              <a:rPr lang="en-GB" dirty="0"/>
              <a:t>Say: "KISS is the evidence base for deciding what the Objective should be and what Key Results will prove progress."</a:t>
            </a:r>
          </a:p>
          <a:p>
            <a:endParaRPr lang="en-GB" dirty="0"/>
          </a:p>
          <a:p>
            <a:r>
              <a:rPr lang="en-GB" b="1" dirty="0"/>
              <a:t>8. Hand the game to the participants.</a:t>
            </a:r>
          </a:p>
          <a:p>
            <a:r>
              <a:rPr lang="en-GB" dirty="0"/>
              <a:t>Say: "After the teaching, each of you plays one learning round alone, in 4.1 of your own page.</a:t>
            </a:r>
          </a:p>
          <a:p>
            <a:r>
              <a:rPr lang="en-GB" dirty="0"/>
              <a:t>Clear both gates: at least two items for each KISS filter, then at least one OKR flight plan with one Objective, two Key Results and the contributing roles.</a:t>
            </a:r>
          </a:p>
          <a:p>
            <a:r>
              <a:rPr lang="en-GB" dirty="0"/>
              <a:t>This is portfolio work.</a:t>
            </a:r>
          </a:p>
          <a:p>
            <a:r>
              <a:rPr lang="en-GB" dirty="0"/>
              <a:t>Your learning round is saved on your page and reaches me when you submit the unit."</a:t>
            </a:r>
          </a:p>
          <a:p>
            <a:endParaRPr lang="en-GB" dirty="0"/>
          </a:p>
          <a:p>
            <a:r>
              <a:rPr lang="en-GB" b="1" dirty="0"/>
              <a:t>ON THE PORTAL, AFTER THE TEACHING:</a:t>
            </a:r>
          </a:p>
          <a:p>
            <a:r>
              <a:rPr lang="en-GB" dirty="0"/>
              <a:t>Each participant plays one Strategy Airport learning round alone in 4.1 of the participant file and clears both gates.</a:t>
            </a:r>
          </a:p>
          <a:p>
            <a:endParaRPr lang="en-GB" dirty="0"/>
          </a:p>
          <a:p>
            <a:r>
              <a:rPr lang="en-GB" b="1" dirty="0"/>
              <a:t>AFTER THE SESSION:</a:t>
            </a:r>
          </a:p>
          <a:p>
            <a:r>
              <a:rPr lang="en-GB" dirty="0"/>
              <a:t>Each participant’s KISS choices and flight plans reach you with the submission, under the heading Strategy Airport.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UNIT SUMMARY (UNIT 3 SYNTHESIS)</a:t>
            </a:r>
          </a:p>
          <a:p>
            <a:endParaRPr lang="en-GB" dirty="0"/>
          </a:p>
          <a:p>
            <a:r>
              <a:rPr lang="en-GB" b="1" dirty="0"/>
              <a:t>HOW TO TEACH IT:</a:t>
            </a:r>
          </a:p>
          <a:p>
            <a:endParaRPr lang="en-GB" dirty="0"/>
          </a:p>
          <a:p>
            <a:r>
              <a:rPr lang="en-GB" b="1" dirty="0"/>
              <a:t>1, Read the five summary blocks aloud.</a:t>
            </a:r>
          </a:p>
          <a:p>
            <a:r>
              <a:rPr lang="en-GB" dirty="0"/>
              <a:t>The summary is intentionally concise: it crystallises the arc of the unit without adding new content.</a:t>
            </a:r>
          </a:p>
          <a:p>
            <a:r>
              <a:rPr lang="en-GB" dirty="0"/>
              <a:t>The blocks describe the whole unit, including the work participants complete on the portal.</a:t>
            </a:r>
          </a:p>
          <a:p>
            <a:endParaRPr lang="en-GB" dirty="0"/>
          </a:p>
          <a:p>
            <a:r>
              <a:rPr lang="en-GB" b="1" dirty="0"/>
              <a:t>Awareness — What · The KISS Framework as Reflective Filter:</a:t>
            </a:r>
          </a:p>
          <a:p>
            <a:r>
              <a:rPr lang="en-GB" dirty="0"/>
              <a:t>Leaders recognise that KISS (Keep, Improve, Start, Stop) functions as a reflective filter between strategic vision and execution commitments.</a:t>
            </a:r>
          </a:p>
          <a:p>
            <a:r>
              <a:rPr lang="en-GB" dirty="0"/>
              <a:t>Before defining Objectives and Key Results, the leadership team must examine the organisation's current operating reality in relation to its Success in Practice.</a:t>
            </a:r>
          </a:p>
          <a:p>
            <a:r>
              <a:rPr lang="en-GB" dirty="0"/>
              <a:t>This step prevents the common strategic mistake of layering new ambitions on top of an unchanged operational system.</a:t>
            </a:r>
          </a:p>
          <a:p>
            <a:r>
              <a:rPr lang="en-GB" dirty="0"/>
              <a:t>Five steps then carry the KISS output into enterprise OKRs.</a:t>
            </a:r>
          </a:p>
          <a:p>
            <a:endParaRPr lang="en-GB" dirty="0"/>
          </a:p>
          <a:p>
            <a:r>
              <a:rPr lang="en-GB" b="1" dirty="0"/>
              <a:t>Intelligence — Why · Most OKR Failures are Reflection Failures:</a:t>
            </a:r>
          </a:p>
          <a:p>
            <a:r>
              <a:rPr lang="en-GB" dirty="0"/>
              <a:t>When organisations move directly from vision to targets, legacy routines remain in place, resources remain misaligned, and teams attempt to pursue transformational goals while still carrying the weight of outdated priorities.</a:t>
            </a:r>
          </a:p>
          <a:p>
            <a:r>
              <a:rPr lang="en-GB" dirty="0"/>
              <a:t>The KISS-to-OKR sequence resolves this tension: </a:t>
            </a:r>
            <a:r>
              <a:rPr lang="en-GB" dirty="0" err="1"/>
              <a:t>SiP</a:t>
            </a:r>
            <a:r>
              <a:rPr lang="en-GB" dirty="0"/>
              <a:t> defines the future, KISS identifies the changes required, and OKRs translate those changes into measurable progress.</a:t>
            </a:r>
          </a:p>
          <a:p>
            <a:r>
              <a:rPr lang="en-GB" dirty="0"/>
              <a:t>The worked example shows the full sequence in practice.</a:t>
            </a:r>
          </a:p>
          <a:p>
            <a:endParaRPr lang="en-GB" dirty="0"/>
          </a:p>
          <a:p>
            <a:r>
              <a:rPr lang="en-GB" b="1" dirty="0"/>
              <a:t>Extrapolating — Where · Functional Bias Creates OKR Hot Zones:</a:t>
            </a:r>
          </a:p>
          <a:p>
            <a:r>
              <a:rPr lang="en-GB" dirty="0"/>
              <a:t>Each leader naturally emphasises different </a:t>
            </a:r>
            <a:r>
              <a:rPr lang="en-GB" dirty="0" err="1"/>
              <a:t>SiP</a:t>
            </a:r>
            <a:r>
              <a:rPr lang="en-GB" dirty="0"/>
              <a:t> domains.</a:t>
            </a:r>
          </a:p>
          <a:p>
            <a:r>
              <a:rPr lang="en-GB" dirty="0"/>
              <a:t>Unexamined, these perspectives produce functional OKRs where enterprise OKRs are needed.</a:t>
            </a:r>
          </a:p>
          <a:p>
            <a:r>
              <a:rPr lang="en-GB" dirty="0"/>
              <a:t>Participants match each leadership role to its typical hot zone and its alignment question.</a:t>
            </a:r>
          </a:p>
          <a:p>
            <a:r>
              <a:rPr lang="en-GB" dirty="0"/>
              <a:t>Recognising these patterns allows the leadership team to integrate perspectives into a balanced execution system that reflects the full enterprise.</a:t>
            </a:r>
          </a:p>
          <a:p>
            <a:endParaRPr lang="en-GB" dirty="0"/>
          </a:p>
          <a:p>
            <a:r>
              <a:rPr lang="en-GB" b="1" dirty="0"/>
              <a:t>Integration — Collective · Individual Expertise into Collective Intelligence:</a:t>
            </a:r>
          </a:p>
          <a:p>
            <a:r>
              <a:rPr lang="en-GB" dirty="0"/>
              <a:t>Each group translates its Success in Practice into a confirmed KISS map across the four </a:t>
            </a:r>
            <a:r>
              <a:rPr lang="en-GB" dirty="0" err="1"/>
              <a:t>SiP</a:t>
            </a:r>
            <a:r>
              <a:rPr lang="en-GB" dirty="0"/>
              <a:t> domains, then into enterprise priorities and enterprise OKRs through the five steps.</a:t>
            </a:r>
          </a:p>
          <a:p>
            <a:r>
              <a:rPr lang="en-GB" dirty="0"/>
              <a:t>Each leader begins with insights from a functional domain, and the final outcome reflects the success of the enterprise as a whole.</a:t>
            </a:r>
          </a:p>
          <a:p>
            <a:r>
              <a:rPr lang="en-GB" dirty="0"/>
              <a:t>The Prioritisation Matrix concentrates execution energy on the priorities that will most accelerate progress toward the </a:t>
            </a:r>
            <a:r>
              <a:rPr lang="en-GB" dirty="0" err="1"/>
              <a:t>SiP</a:t>
            </a:r>
            <a:r>
              <a:rPr lang="en-GB" dirty="0"/>
              <a:t>.</a:t>
            </a:r>
          </a:p>
          <a:p>
            <a:r>
              <a:rPr lang="en-GB" dirty="0"/>
              <a:t>The confirmed outputs feed the team's Capstone Blueprint.</a:t>
            </a:r>
          </a:p>
          <a:p>
            <a:endParaRPr lang="en-GB" dirty="0"/>
          </a:p>
          <a:p>
            <a:r>
              <a:rPr lang="en-GB" b="1" dirty="0"/>
              <a:t>Application — In Practice · From Strategic Imagination to Operational Clearance:</a:t>
            </a:r>
          </a:p>
          <a:p>
            <a:r>
              <a:rPr lang="en-GB" dirty="0"/>
              <a:t>In Strategy Airport each participant applies the same translation alone to a new case: what the company must keep, improve, start and stop, then one KISS theme converted into an Objective and two Key Results with contributing roles.</a:t>
            </a:r>
          </a:p>
          <a:p>
            <a:r>
              <a:rPr lang="en-GB" dirty="0"/>
              <a:t>KISS is the evidence base for deciding what the Objective should be and what Key Results will prove progress.</a:t>
            </a:r>
          </a:p>
          <a:p>
            <a:endParaRPr lang="en-GB" dirty="0"/>
          </a:p>
          <a:p>
            <a:r>
              <a:rPr lang="en-GB" b="1" dirty="0"/>
              <a:t>2. Name the tangible outputs.</a:t>
            </a:r>
          </a:p>
          <a:p>
            <a:r>
              <a:rPr lang="en-GB" dirty="0"/>
              <a:t>Tell participants what the unit produces once the portal work is complete:</a:t>
            </a:r>
          </a:p>
          <a:p>
            <a:r>
              <a:rPr lang="en-GB" dirty="0"/>
              <a:t>- The matching exercise from each participant (3.1)</a:t>
            </a:r>
          </a:p>
          <a:p>
            <a:r>
              <a:rPr lang="en-GB" dirty="0"/>
              <a:t>- A confirmed KISS map from each group (5.1)</a:t>
            </a:r>
          </a:p>
          <a:p>
            <a:r>
              <a:rPr lang="en-GB" dirty="0"/>
              <a:t>- Confirmed Enterprise Priorities and Enterprise OKRs from each group: maximum 4 Objectives, maximum 2 Key Results each (5.2)</a:t>
            </a:r>
          </a:p>
          <a:p>
            <a:r>
              <a:rPr lang="en-GB" dirty="0"/>
              <a:t>- A completed Strategy Airport learning round from each participant (4.1)</a:t>
            </a:r>
          </a:p>
          <a:p>
            <a:endParaRPr lang="en-GB" dirty="0"/>
          </a:p>
          <a:p>
            <a:endParaRPr lang="en-GB" dirty="0"/>
          </a:p>
          <a:p>
            <a:r>
              <a:rPr lang="en-GB" b="1"/>
              <a:t>3. </a:t>
            </a:r>
            <a:r>
              <a:rPr lang="en-GB" b="1" dirty="0"/>
              <a:t>Give the transition to Unit 4.</a:t>
            </a:r>
          </a:p>
          <a:p>
            <a:r>
              <a:rPr lang="en-GB" dirty="0"/>
              <a:t>Say: "We have built our Strategy Intent Statement, described our future state through </a:t>
            </a:r>
            <a:r>
              <a:rPr lang="en-GB" dirty="0" err="1"/>
              <a:t>SiP</a:t>
            </a:r>
            <a:r>
              <a:rPr lang="en-GB" dirty="0"/>
              <a:t>, and now defined how we will measure our progress through OKRs.</a:t>
            </a:r>
          </a:p>
          <a:p>
            <a:r>
              <a:rPr lang="en-GB" dirty="0"/>
              <a:t>Unit 4 tests the integrity of that direction through ABCV: the conditions that must hold true for the journey toward the organisation we have described."</a:t>
            </a:r>
          </a:p>
          <a:p>
            <a:endParaRPr lang="en-GB" dirty="0"/>
          </a:p>
          <a:p>
            <a:r>
              <a:rPr lang="en-GB" b="1" dirty="0"/>
              <a:t>AFTER THE SESSION:</a:t>
            </a:r>
          </a:p>
          <a:p>
            <a:r>
              <a:rPr lang="en-GB" dirty="0"/>
              <a:t>- Review each participant’s submission from the facilitator dashboard. The work appears under its own headings: Hot Zone Matching, KISS Mapping, KISS Map — Confirmed, Enterprise Priorities &amp; OKRs and Strategy Airport.</a:t>
            </a:r>
          </a:p>
          <a:p>
            <a:r>
              <a:rPr lang="en-GB" dirty="0"/>
              <a:t>- Note the groups whose members hold different versions of an output. Ask them to agree one version and update their pages before the team opens its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34773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047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495865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305434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607641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07110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200348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611171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777544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910711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59475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E1A91-42D1-66A3-3C07-48E5EE62EE7C}"/>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ZA"/>
          </a:p>
        </p:txBody>
      </p:sp>
      <p:sp>
        <p:nvSpPr>
          <p:cNvPr id="3" name="Subtitle 2">
            <a:extLst>
              <a:ext uri="{FF2B5EF4-FFF2-40B4-BE49-F238E27FC236}">
                <a16:creationId xmlns:a16="http://schemas.microsoft.com/office/drawing/2014/main" id="{2C287408-B5A7-7AEF-9367-BF87D91A18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ZA"/>
          </a:p>
        </p:txBody>
      </p:sp>
      <p:sp>
        <p:nvSpPr>
          <p:cNvPr id="4" name="Date Placeholder 3">
            <a:extLst>
              <a:ext uri="{FF2B5EF4-FFF2-40B4-BE49-F238E27FC236}">
                <a16:creationId xmlns:a16="http://schemas.microsoft.com/office/drawing/2014/main" id="{017B4FA5-59A1-20D2-0AFC-5995DD412A74}"/>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B506EC82-C407-A040-0D2D-37AC0613123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11D279C4-B073-03EC-C516-54E15BAFA8EF}"/>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9155268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B54D40-B165-FE30-99EF-EE8654FFB87A}"/>
              </a:ext>
            </a:extLst>
          </p:cNvPr>
          <p:cNvSpPr>
            <a:spLocks noGrp="1"/>
          </p:cNvSpPr>
          <p:nvPr>
            <p:ph type="title"/>
          </p:nvPr>
        </p:nvSpPr>
        <p:spPr/>
        <p:txBody>
          <a:bodyPr/>
          <a:lstStyle/>
          <a:p>
            <a:r>
              <a:rPr lang="en-GB"/>
              <a:t>Click to edit Master title style</a:t>
            </a:r>
            <a:endParaRPr lang="en-ZA"/>
          </a:p>
        </p:txBody>
      </p:sp>
      <p:sp>
        <p:nvSpPr>
          <p:cNvPr id="3" name="Content Placeholder 2">
            <a:extLst>
              <a:ext uri="{FF2B5EF4-FFF2-40B4-BE49-F238E27FC236}">
                <a16:creationId xmlns:a16="http://schemas.microsoft.com/office/drawing/2014/main" id="{108745B9-516C-B364-A72A-D534FE5E63A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3B19FCC1-3BED-AF25-1D88-B21F225A27B1}"/>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1D507812-01D3-AFAE-9F30-534C886C3893}"/>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3B445FBA-BF3F-0E5A-1731-81027ADDAE07}"/>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36545378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E3082-2A84-F5E1-2F6F-C8D3A93A67B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ZA"/>
          </a:p>
        </p:txBody>
      </p:sp>
      <p:sp>
        <p:nvSpPr>
          <p:cNvPr id="3" name="Text Placeholder 2">
            <a:extLst>
              <a:ext uri="{FF2B5EF4-FFF2-40B4-BE49-F238E27FC236}">
                <a16:creationId xmlns:a16="http://schemas.microsoft.com/office/drawing/2014/main" id="{1D4A22D2-71BF-6D22-0286-D2D0F73020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1776283-2741-5527-2202-424A1C5643B8}"/>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C4852C6A-B593-6495-5B40-853156BA6E76}"/>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2EEE42D5-546D-EF88-22E4-CCC6BD05F4E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2395346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17B53-A337-2AC1-8435-49FEBFF357E5}"/>
              </a:ext>
            </a:extLst>
          </p:cNvPr>
          <p:cNvSpPr>
            <a:spLocks noGrp="1"/>
          </p:cNvSpPr>
          <p:nvPr>
            <p:ph type="title"/>
          </p:nvPr>
        </p:nvSpPr>
        <p:spPr/>
        <p:txBody>
          <a:bodyPr/>
          <a:lstStyle/>
          <a:p>
            <a:r>
              <a:rPr lang="en-GB"/>
              <a:t>Click to edit Master title style</a:t>
            </a:r>
            <a:endParaRPr lang="en-ZA"/>
          </a:p>
        </p:txBody>
      </p:sp>
      <p:sp>
        <p:nvSpPr>
          <p:cNvPr id="3" name="Content Placeholder 2">
            <a:extLst>
              <a:ext uri="{FF2B5EF4-FFF2-40B4-BE49-F238E27FC236}">
                <a16:creationId xmlns:a16="http://schemas.microsoft.com/office/drawing/2014/main" id="{06D53270-732C-FED0-E6B8-2D66162762D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Content Placeholder 3">
            <a:extLst>
              <a:ext uri="{FF2B5EF4-FFF2-40B4-BE49-F238E27FC236}">
                <a16:creationId xmlns:a16="http://schemas.microsoft.com/office/drawing/2014/main" id="{CD4FDF4A-6E19-9309-E220-9FF168DC3F0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5" name="Date Placeholder 4">
            <a:extLst>
              <a:ext uri="{FF2B5EF4-FFF2-40B4-BE49-F238E27FC236}">
                <a16:creationId xmlns:a16="http://schemas.microsoft.com/office/drawing/2014/main" id="{DC56EB24-99D7-7C68-1AD6-94C427F0E24E}"/>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9AF35864-1CA4-CB52-6074-152AB5A31532}"/>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1399885A-D122-4BD0-CC35-D9287349687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7439964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EE1933-2310-2AFF-8178-8DED8334AD78}"/>
              </a:ext>
            </a:extLst>
          </p:cNvPr>
          <p:cNvSpPr>
            <a:spLocks noGrp="1"/>
          </p:cNvSpPr>
          <p:nvPr>
            <p:ph type="title"/>
          </p:nvPr>
        </p:nvSpPr>
        <p:spPr>
          <a:xfrm>
            <a:off x="839788" y="365125"/>
            <a:ext cx="10515600" cy="1325563"/>
          </a:xfrm>
        </p:spPr>
        <p:txBody>
          <a:bodyPr/>
          <a:lstStyle/>
          <a:p>
            <a:r>
              <a:rPr lang="en-GB"/>
              <a:t>Click to edit Master title style</a:t>
            </a:r>
            <a:endParaRPr lang="en-ZA"/>
          </a:p>
        </p:txBody>
      </p:sp>
      <p:sp>
        <p:nvSpPr>
          <p:cNvPr id="3" name="Text Placeholder 2">
            <a:extLst>
              <a:ext uri="{FF2B5EF4-FFF2-40B4-BE49-F238E27FC236}">
                <a16:creationId xmlns:a16="http://schemas.microsoft.com/office/drawing/2014/main" id="{7C3402A6-1D71-9285-8B4A-7C22206A15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5AB03C1F-3B49-2812-8E40-50EBEF01A0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5" name="Text Placeholder 4">
            <a:extLst>
              <a:ext uri="{FF2B5EF4-FFF2-40B4-BE49-F238E27FC236}">
                <a16:creationId xmlns:a16="http://schemas.microsoft.com/office/drawing/2014/main" id="{4CF8BD3C-49A3-CB2B-FDE1-B7A23DC6FD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6C7CDB0-D0ED-8E1B-B053-6BF44F830F9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7" name="Date Placeholder 6">
            <a:extLst>
              <a:ext uri="{FF2B5EF4-FFF2-40B4-BE49-F238E27FC236}">
                <a16:creationId xmlns:a16="http://schemas.microsoft.com/office/drawing/2014/main" id="{E6BBD203-0A85-3975-0ADA-9624A4FA7737}"/>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8" name="Footer Placeholder 7">
            <a:extLst>
              <a:ext uri="{FF2B5EF4-FFF2-40B4-BE49-F238E27FC236}">
                <a16:creationId xmlns:a16="http://schemas.microsoft.com/office/drawing/2014/main" id="{F6CD7167-981A-701B-7F53-C2303457BB45}"/>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C8869DA7-0278-A255-2953-117883F2B8B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90076434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1A36-7EC8-79D8-AA8B-1113479F1261}"/>
              </a:ext>
            </a:extLst>
          </p:cNvPr>
          <p:cNvSpPr>
            <a:spLocks noGrp="1"/>
          </p:cNvSpPr>
          <p:nvPr>
            <p:ph type="title"/>
          </p:nvPr>
        </p:nvSpPr>
        <p:spPr/>
        <p:txBody>
          <a:bodyPr/>
          <a:lstStyle/>
          <a:p>
            <a:r>
              <a:rPr lang="en-GB"/>
              <a:t>Click to edit Master title style</a:t>
            </a:r>
            <a:endParaRPr lang="en-ZA"/>
          </a:p>
        </p:txBody>
      </p:sp>
      <p:sp>
        <p:nvSpPr>
          <p:cNvPr id="3" name="Date Placeholder 2">
            <a:extLst>
              <a:ext uri="{FF2B5EF4-FFF2-40B4-BE49-F238E27FC236}">
                <a16:creationId xmlns:a16="http://schemas.microsoft.com/office/drawing/2014/main" id="{B9821982-2C17-5DA8-44B9-AF0832AD32BF}"/>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4" name="Footer Placeholder 3">
            <a:extLst>
              <a:ext uri="{FF2B5EF4-FFF2-40B4-BE49-F238E27FC236}">
                <a16:creationId xmlns:a16="http://schemas.microsoft.com/office/drawing/2014/main" id="{6659F7AF-C9B3-EC46-09E5-3BDE2DAA2A77}"/>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FCD48E09-B7D2-D84B-3569-C266CC5D71B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885193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5E2352-37F1-3229-B107-8FF731BEA80A}"/>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3" name="Footer Placeholder 2">
            <a:extLst>
              <a:ext uri="{FF2B5EF4-FFF2-40B4-BE49-F238E27FC236}">
                <a16:creationId xmlns:a16="http://schemas.microsoft.com/office/drawing/2014/main" id="{14D9EC2C-126F-D183-DEF5-9196ABD78AFD}"/>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0AA7261D-DE78-AA43-70D1-B8D66F273A22}"/>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1808351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62C97-E800-9887-01F7-72196D6538B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ZA"/>
          </a:p>
        </p:txBody>
      </p:sp>
      <p:sp>
        <p:nvSpPr>
          <p:cNvPr id="3" name="Content Placeholder 2">
            <a:extLst>
              <a:ext uri="{FF2B5EF4-FFF2-40B4-BE49-F238E27FC236}">
                <a16:creationId xmlns:a16="http://schemas.microsoft.com/office/drawing/2014/main" id="{D3913443-1709-EF04-5F25-F06968E4A47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Text Placeholder 3">
            <a:extLst>
              <a:ext uri="{FF2B5EF4-FFF2-40B4-BE49-F238E27FC236}">
                <a16:creationId xmlns:a16="http://schemas.microsoft.com/office/drawing/2014/main" id="{AF758F16-A581-18E9-4A0A-27861AE095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B7D9CE5-A7DD-4606-4FB4-75EF260995B6}"/>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3D2F459F-1826-AF61-618D-38DFC29ACE1C}"/>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C04420A0-1D2E-5876-7643-CA7FE4B0C268}"/>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2966328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49108C-2B24-9B64-36E7-235F38B7824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ZA"/>
          </a:p>
        </p:txBody>
      </p:sp>
      <p:sp>
        <p:nvSpPr>
          <p:cNvPr id="3" name="Picture Placeholder 2">
            <a:extLst>
              <a:ext uri="{FF2B5EF4-FFF2-40B4-BE49-F238E27FC236}">
                <a16:creationId xmlns:a16="http://schemas.microsoft.com/office/drawing/2014/main" id="{B4C2DB82-7E49-4CFE-F046-502C4E2D98F4}"/>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60863ACF-B487-7028-9D64-FAD4D0774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DB2E550-999E-091E-6AC8-0638761B1B08}"/>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64790F20-0079-D46B-62EC-E76D6DFDCB44}"/>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866E4026-1194-2CF8-ECEC-763844A59EE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2614788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B72B4-4401-51C3-9F03-0897E7854009}"/>
              </a:ext>
            </a:extLst>
          </p:cNvPr>
          <p:cNvSpPr>
            <a:spLocks noGrp="1"/>
          </p:cNvSpPr>
          <p:nvPr>
            <p:ph type="title"/>
          </p:nvPr>
        </p:nvSpPr>
        <p:spPr/>
        <p:txBody>
          <a:bodyPr/>
          <a:lstStyle/>
          <a:p>
            <a:r>
              <a:rPr lang="en-GB"/>
              <a:t>Click to edit Master title style</a:t>
            </a:r>
            <a:endParaRPr lang="en-ZA"/>
          </a:p>
        </p:txBody>
      </p:sp>
      <p:sp>
        <p:nvSpPr>
          <p:cNvPr id="3" name="Vertical Text Placeholder 2">
            <a:extLst>
              <a:ext uri="{FF2B5EF4-FFF2-40B4-BE49-F238E27FC236}">
                <a16:creationId xmlns:a16="http://schemas.microsoft.com/office/drawing/2014/main" id="{B3FCB369-6AB5-50BA-B637-2148405DD01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49B212EC-6DEA-5D6D-22BA-B64E648F5424}"/>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761ED62B-F42D-7D27-EE34-BA073D26977B}"/>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80B4D928-9893-63B9-F45A-717830FE3FAC}"/>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38151683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035ED1-610D-5C51-0453-7E362DA956C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ZA"/>
          </a:p>
        </p:txBody>
      </p:sp>
      <p:sp>
        <p:nvSpPr>
          <p:cNvPr id="3" name="Vertical Text Placeholder 2">
            <a:extLst>
              <a:ext uri="{FF2B5EF4-FFF2-40B4-BE49-F238E27FC236}">
                <a16:creationId xmlns:a16="http://schemas.microsoft.com/office/drawing/2014/main" id="{26B03130-0FBE-01AE-C9C8-5CB30CD82A5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3C0BFE34-0DF8-485A-B30A-652F42AD9B29}"/>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08DA144B-A743-1DFA-2D6B-84A64B59FDD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08B50C72-5205-18BB-90DD-6EA233A1C79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14738714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84670298"/>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088595-3C8A-4B6F-F2A3-603A011F330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ZA"/>
          </a:p>
        </p:txBody>
      </p:sp>
      <p:sp>
        <p:nvSpPr>
          <p:cNvPr id="3" name="Text Placeholder 2">
            <a:extLst>
              <a:ext uri="{FF2B5EF4-FFF2-40B4-BE49-F238E27FC236}">
                <a16:creationId xmlns:a16="http://schemas.microsoft.com/office/drawing/2014/main" id="{5FDC316C-05ED-BF50-3B5E-06250F8A5A9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95613BC0-13B4-6FC8-BD8F-B2C4EA9AF0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069849B5-290D-C11B-A54B-364C88201E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23A35927-FFCC-BECB-BAE8-228FFC4BD6B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163B2E-5AEE-45A4-BD49-5591A4B15143}" type="slidenum">
              <a:rPr lang="en-ZA" smtClean="0"/>
              <a:t>‹#›</a:t>
            </a:fld>
            <a:endParaRPr lang="en-ZA"/>
          </a:p>
        </p:txBody>
      </p:sp>
    </p:spTree>
    <p:extLst>
      <p:ext uri="{BB962C8B-B14F-4D97-AF65-F5344CB8AC3E}">
        <p14:creationId xmlns:p14="http://schemas.microsoft.com/office/powerpoint/2010/main" val="1474320583"/>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6.png"/><Relationship Id="rId6"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 Id="rId4" Type="http://schemas.openxmlformats.org/officeDocument/2006/relationships/image" Target="../media/image23.png"/><Relationship Id="rId5" Type="http://schemas.openxmlformats.org/officeDocument/2006/relationships/image" Target="../media/image36.png"/><Relationship Id="rId6"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9.png"/><Relationship Id="rId4"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home/claude/u3/deck/new/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3</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SiP KISS Mapping &amp; OKR Definition</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From Success in Practice to a focused, measurable execution architecture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Distinguish the organisational practices that reinforce strategic progress from those that constrain it.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Determine the enterprise priorities required to advance from the current position to the intended future state.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Formulate clear and measurable outcomes that express the strategic priorities of the organisation.</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a clear relationship between strategic ambition, organisational contribution and evidence of progress.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KISS Framing &amp; OKR Definition?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the current practices that reinforce strategic progress from those that constrain it.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Translate the intent to measurable results.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Translating Success in Practice into Action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KISS: Keep · Improve · Start · Stop</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KEEP</a:t>
            </a:r>
            <a:endParaRPr lang="en-US" sz="3000" dirty="0"/>
          </a:p>
        </p:txBody>
      </p:sp>
      <p:sp>
        <p:nvSpPr>
          <p:cNvPr id="7" name="Text 4"/>
          <p:cNvSpPr txBox="1"/>
          <p:nvPr/>
        </p:nvSpPr>
        <p:spPr>
          <a:xfrm>
            <a:off x="777240"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Protect what is already working</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IMPROVE</a:t>
            </a:r>
            <a:endParaRPr lang="en-US" sz="3000" dirty="0"/>
          </a:p>
        </p:txBody>
      </p:sp>
      <p:sp>
        <p:nvSpPr>
          <p:cNvPr id="12" name="Text 8"/>
          <p:cNvSpPr txBox="1"/>
          <p:nvPr/>
        </p:nvSpPr>
        <p:spPr>
          <a:xfrm>
            <a:off x="3618738"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Strengthen what is partially working</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START</a:t>
            </a:r>
            <a:endParaRPr lang="en-US" sz="3000" dirty="0"/>
          </a:p>
        </p:txBody>
      </p:sp>
      <p:sp>
        <p:nvSpPr>
          <p:cNvPr id="17" name="Text 12"/>
          <p:cNvSpPr txBox="1"/>
          <p:nvPr/>
        </p:nvSpPr>
        <p:spPr>
          <a:xfrm>
            <a:off x="6460236"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Introduce what does not yet exist</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715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STOP</a:t>
            </a:r>
            <a:endParaRPr lang="en-US" sz="3000" dirty="0"/>
          </a:p>
        </p:txBody>
      </p:sp>
      <p:sp>
        <p:nvSpPr>
          <p:cNvPr id="22" name="Text 16"/>
          <p:cNvSpPr txBox="1"/>
          <p:nvPr/>
        </p:nvSpPr>
        <p:spPr>
          <a:xfrm>
            <a:off x="9301734" y="3223260"/>
            <a:ext cx="2109978" cy="208026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Eliminate what contradicts the SiP</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KISS reflection must be anchored to the Success in Practice statements.</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88C99EA8-4555-3C8B-F6A7-3FBE8BC2BFD7}"/>
              </a:ext>
            </a:extLst>
          </p:cNvPr>
          <p:cNvPicPr>
            <a:picLocks noChangeAspect="1"/>
          </p:cNvPicPr>
          <p:nvPr/>
        </p:nvPicPr>
        <p:blipFill>
          <a:blip r:embed="rId3"/>
          <a:stretch>
            <a:fillRect/>
          </a:stretch>
        </p:blipFill>
        <p:spPr>
          <a:xfrm>
            <a:off x="711201" y="640820"/>
            <a:ext cx="11052764" cy="6217180"/>
          </a:xfrm>
          <a:prstGeom prst="rect">
            <a:avLst/>
          </a:prstGeom>
        </p:spPr>
      </p:pic>
      <p:sp>
        <p:nvSpPr>
          <p:cNvPr id="38" name="Text 0">
            <a:extLst>
              <a:ext uri="{FF2B5EF4-FFF2-40B4-BE49-F238E27FC236}">
                <a16:creationId xmlns:a16="http://schemas.microsoft.com/office/drawing/2014/main" id="{C8112604-1194-5DE9-EEB5-059CDBE8D5C2}"/>
              </a:ext>
            </a:extLst>
          </p:cNvPr>
          <p:cNvSpPr txBox="1"/>
          <p:nvPr/>
        </p:nvSpPr>
        <p:spPr>
          <a:xfrm>
            <a:off x="794173" y="-2286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KISS Application Across SiP Domains</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OKR Anatomy: Objectives &amp; Key Results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Objectives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Define strategic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Qualitative and ambitious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Action-oriented and inspirational</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Memorable: the T-shirt test</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Key Results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Define measurable progress</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Verb of Change + Metric</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From X to Y + By Deadline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2–3 for each Objective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Can you check it off a task list? If yes, it is a task.</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Five Steps: From KISS to Enterprise OKRs</a:t>
            </a:r>
            <a:endParaRPr lang="en-US" sz="3600" dirty="0"/>
          </a:p>
        </p:txBody>
      </p:sp>
      <p:sp>
        <p:nvSpPr>
          <p:cNvPr id="3" name="Shape 1"/>
          <p:cNvSpPr/>
          <p:nvPr/>
        </p:nvSpPr>
        <p:spPr>
          <a:xfrm>
            <a:off x="548640" y="1714499"/>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856231"/>
            <a:ext cx="285369" cy="285369"/>
          </a:xfrm>
          <a:prstGeom prst="rect">
            <a:avLst/>
          </a:prstGeom>
        </p:spPr>
      </p:pic>
      <p:sp>
        <p:nvSpPr>
          <p:cNvPr id="5" name="Text 2"/>
          <p:cNvSpPr txBox="1"/>
          <p:nvPr/>
        </p:nvSpPr>
        <p:spPr>
          <a:xfrm>
            <a:off x="1439418" y="1508760"/>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1 · Find Themes  </a:t>
            </a:r>
            <a:r>
              <a:rPr lang="en-US" sz="2600" dirty="0">
                <a:solidFill>
                  <a:srgbClr val="1F2A22"/>
                </a:solidFill>
                <a:latin typeface="Calibri" pitchFamily="34" charset="0"/>
                <a:ea typeface="Calibri" pitchFamily="34" charset="-122"/>
                <a:cs typeface="Calibri" pitchFamily="34" charset="-120"/>
              </a:rPr>
              <a:t>the 2–3 big shifts across the four SiP domains</a:t>
            </a:r>
            <a:endParaRPr lang="en-US" sz="2600" dirty="0"/>
          </a:p>
        </p:txBody>
      </p:sp>
      <p:sp>
        <p:nvSpPr>
          <p:cNvPr id="6" name="Shape 3"/>
          <p:cNvSpPr/>
          <p:nvPr/>
        </p:nvSpPr>
        <p:spPr>
          <a:xfrm>
            <a:off x="548640" y="2692908"/>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834639"/>
            <a:ext cx="285369" cy="285369"/>
          </a:xfrm>
          <a:prstGeom prst="rect">
            <a:avLst/>
          </a:prstGeom>
        </p:spPr>
      </p:pic>
      <p:sp>
        <p:nvSpPr>
          <p:cNvPr id="8" name="Text 4"/>
          <p:cNvSpPr txBox="1"/>
          <p:nvPr/>
        </p:nvSpPr>
        <p:spPr>
          <a:xfrm>
            <a:off x="1439418" y="2487168"/>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2 · Inspiring Objectives  </a:t>
            </a:r>
            <a:r>
              <a:rPr lang="en-US" sz="2600" dirty="0">
                <a:solidFill>
                  <a:srgbClr val="1F2A22"/>
                </a:solidFill>
                <a:latin typeface="Calibri" pitchFamily="34" charset="0"/>
                <a:ea typeface="Calibri" pitchFamily="34" charset="-122"/>
                <a:cs typeface="Calibri" pitchFamily="34" charset="-120"/>
              </a:rPr>
              <a:t>what will we be known for?</a:t>
            </a:r>
            <a:endParaRPr lang="en-US" sz="2600" dirty="0"/>
          </a:p>
        </p:txBody>
      </p:sp>
      <p:sp>
        <p:nvSpPr>
          <p:cNvPr id="9" name="Shape 5"/>
          <p:cNvSpPr/>
          <p:nvPr/>
        </p:nvSpPr>
        <p:spPr>
          <a:xfrm>
            <a:off x="548640" y="3671315"/>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813048"/>
            <a:ext cx="285369" cy="285369"/>
          </a:xfrm>
          <a:prstGeom prst="rect">
            <a:avLst/>
          </a:prstGeom>
        </p:spPr>
      </p:pic>
      <p:sp>
        <p:nvSpPr>
          <p:cNvPr id="11" name="Text 6"/>
          <p:cNvSpPr txBox="1"/>
          <p:nvPr/>
        </p:nvSpPr>
        <p:spPr>
          <a:xfrm>
            <a:off x="1439418" y="3465575"/>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3 · Define Key Results  </a:t>
            </a:r>
            <a:r>
              <a:rPr lang="en-US" sz="2600" dirty="0">
                <a:solidFill>
                  <a:srgbClr val="1F2A22"/>
                </a:solidFill>
                <a:latin typeface="Calibri" pitchFamily="34" charset="0"/>
                <a:ea typeface="Calibri" pitchFamily="34" charset="-122"/>
                <a:cs typeface="Calibri" pitchFamily="34" charset="-120"/>
              </a:rPr>
              <a:t>Verb + Metric + From X to Y + Deadline</a:t>
            </a:r>
            <a:endParaRPr lang="en-US" sz="2600" dirty="0"/>
          </a:p>
        </p:txBody>
      </p:sp>
      <p:sp>
        <p:nvSpPr>
          <p:cNvPr id="12" name="Shape 7"/>
          <p:cNvSpPr/>
          <p:nvPr/>
        </p:nvSpPr>
        <p:spPr>
          <a:xfrm>
            <a:off x="548640" y="4649723"/>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791455"/>
            <a:ext cx="285369" cy="285369"/>
          </a:xfrm>
          <a:prstGeom prst="rect">
            <a:avLst/>
          </a:prstGeom>
        </p:spPr>
      </p:pic>
      <p:sp>
        <p:nvSpPr>
          <p:cNvPr id="14" name="Text 8"/>
          <p:cNvSpPr txBox="1"/>
          <p:nvPr/>
        </p:nvSpPr>
        <p:spPr>
          <a:xfrm>
            <a:off x="1439418" y="4443983"/>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4 · Alignment Test  </a:t>
            </a:r>
            <a:r>
              <a:rPr lang="en-US" sz="2600" dirty="0">
                <a:solidFill>
                  <a:srgbClr val="1F2A22"/>
                </a:solidFill>
                <a:latin typeface="Calibri" pitchFamily="34" charset="0"/>
                <a:ea typeface="Calibri" pitchFamily="34" charset="-122"/>
                <a:cs typeface="Calibri" pitchFamily="34" charset="-120"/>
              </a:rPr>
              <a:t>four questions before sharing</a:t>
            </a:r>
            <a:endParaRPr lang="en-US" sz="2600" dirty="0"/>
          </a:p>
        </p:txBody>
      </p:sp>
      <p:sp>
        <p:nvSpPr>
          <p:cNvPr id="18" name="Shape 11"/>
          <p:cNvSpPr/>
          <p:nvPr/>
        </p:nvSpPr>
        <p:spPr>
          <a:xfrm>
            <a:off x="548640" y="562813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769864"/>
            <a:ext cx="285369" cy="285369"/>
          </a:xfrm>
          <a:prstGeom prst="rect">
            <a:avLst/>
          </a:prstGeom>
        </p:spPr>
      </p:pic>
      <p:sp>
        <p:nvSpPr>
          <p:cNvPr id="20" name="Text 12"/>
          <p:cNvSpPr txBox="1"/>
          <p:nvPr/>
        </p:nvSpPr>
        <p:spPr>
          <a:xfrm>
            <a:off x="1439418" y="5422392"/>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5 · Priority Matrix  </a:t>
            </a:r>
            <a:r>
              <a:rPr lang="en-US" sz="2600" dirty="0">
                <a:solidFill>
                  <a:srgbClr val="1F2A22"/>
                </a:solidFill>
                <a:latin typeface="Calibri" pitchFamily="34" charset="0"/>
                <a:ea typeface="Calibri" pitchFamily="34" charset="-122"/>
                <a:cs typeface="Calibri" pitchFamily="34" charset="-120"/>
              </a:rPr>
              <a:t>Impact and Effort</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Step 5: the Prioritisation Matrix</a:t>
            </a:r>
            <a:endParaRPr lang="en-US" sz="3600" dirty="0"/>
          </a:p>
        </p:txBody>
      </p:sp>
      <p:sp>
        <p:nvSpPr>
          <p:cNvPr id="3" name="Text 1"/>
          <p:cNvSpPr txBox="1"/>
          <p:nvPr/>
        </p:nvSpPr>
        <p:spPr>
          <a:xfrm>
            <a:off x="548640" y="1417320"/>
            <a:ext cx="1188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Impact</a:t>
            </a:r>
            <a:endParaRPr lang="en-US" sz="2400" dirty="0"/>
          </a:p>
        </p:txBody>
      </p:sp>
      <p:sp>
        <p:nvSpPr>
          <p:cNvPr id="4" name="Text 2"/>
          <p:cNvSpPr txBox="1"/>
          <p:nvPr/>
        </p:nvSpPr>
        <p:spPr>
          <a:xfrm>
            <a:off x="182880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Low effort</a:t>
            </a:r>
            <a:endParaRPr lang="en-US" sz="2400" dirty="0"/>
          </a:p>
        </p:txBody>
      </p:sp>
      <p:sp>
        <p:nvSpPr>
          <p:cNvPr id="5" name="Text 3"/>
          <p:cNvSpPr txBox="1"/>
          <p:nvPr/>
        </p:nvSpPr>
        <p:spPr>
          <a:xfrm>
            <a:off x="512064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Medium effort</a:t>
            </a:r>
            <a:endParaRPr lang="en-US" sz="2400" dirty="0"/>
          </a:p>
        </p:txBody>
      </p:sp>
      <p:sp>
        <p:nvSpPr>
          <p:cNvPr id="6" name="Text 4"/>
          <p:cNvSpPr txBox="1"/>
          <p:nvPr/>
        </p:nvSpPr>
        <p:spPr>
          <a:xfrm>
            <a:off x="841248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High effort</a:t>
            </a:r>
            <a:endParaRPr lang="en-US" sz="2400" dirty="0"/>
          </a:p>
        </p:txBody>
      </p:sp>
      <p:sp>
        <p:nvSpPr>
          <p:cNvPr id="7" name="Text 5"/>
          <p:cNvSpPr txBox="1"/>
          <p:nvPr/>
        </p:nvSpPr>
        <p:spPr>
          <a:xfrm>
            <a:off x="548640" y="1938528"/>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High</a:t>
            </a:r>
            <a:endParaRPr lang="en-US" sz="2400" dirty="0"/>
          </a:p>
        </p:txBody>
      </p:sp>
      <p:sp>
        <p:nvSpPr>
          <p:cNvPr id="8" name="Shape 6"/>
          <p:cNvSpPr/>
          <p:nvPr/>
        </p:nvSpPr>
        <p:spPr>
          <a:xfrm>
            <a:off x="182880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196596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Strategic Catalysts</a:t>
            </a:r>
            <a:endParaRPr lang="en-US" sz="2400" dirty="0"/>
          </a:p>
        </p:txBody>
      </p:sp>
      <p:sp>
        <p:nvSpPr>
          <p:cNvPr id="10" name="Shape 8"/>
          <p:cNvSpPr/>
          <p:nvPr/>
        </p:nvSpPr>
        <p:spPr>
          <a:xfrm>
            <a:off x="512064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11" name="Text 9"/>
          <p:cNvSpPr txBox="1"/>
          <p:nvPr/>
        </p:nvSpPr>
        <p:spPr>
          <a:xfrm>
            <a:off x="525780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Accelerated Enablers</a:t>
            </a:r>
            <a:endParaRPr lang="en-US" sz="2400" dirty="0"/>
          </a:p>
        </p:txBody>
      </p:sp>
      <p:sp>
        <p:nvSpPr>
          <p:cNvPr id="12" name="Shape 10"/>
          <p:cNvSpPr/>
          <p:nvPr/>
        </p:nvSpPr>
        <p:spPr>
          <a:xfrm>
            <a:off x="841248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854964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Core Strategic Drivers</a:t>
            </a:r>
            <a:endParaRPr lang="en-US" sz="2400" dirty="0"/>
          </a:p>
        </p:txBody>
      </p:sp>
      <p:sp>
        <p:nvSpPr>
          <p:cNvPr id="14" name="Text 12"/>
          <p:cNvSpPr txBox="1"/>
          <p:nvPr/>
        </p:nvSpPr>
        <p:spPr>
          <a:xfrm>
            <a:off x="548640" y="3419856"/>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Medium</a:t>
            </a:r>
            <a:endParaRPr lang="en-US" sz="2400" dirty="0"/>
          </a:p>
        </p:txBody>
      </p:sp>
      <p:sp>
        <p:nvSpPr>
          <p:cNvPr id="15" name="Shape 13"/>
          <p:cNvSpPr/>
          <p:nvPr/>
        </p:nvSpPr>
        <p:spPr>
          <a:xfrm>
            <a:off x="182880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16" name="Text 14"/>
          <p:cNvSpPr txBox="1"/>
          <p:nvPr/>
        </p:nvSpPr>
        <p:spPr>
          <a:xfrm>
            <a:off x="196596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Quick Efficiency Plays</a:t>
            </a:r>
            <a:endParaRPr lang="en-US" sz="2400" dirty="0"/>
          </a:p>
        </p:txBody>
      </p:sp>
      <p:sp>
        <p:nvSpPr>
          <p:cNvPr id="17" name="Shape 15"/>
          <p:cNvSpPr/>
          <p:nvPr/>
        </p:nvSpPr>
        <p:spPr>
          <a:xfrm>
            <a:off x="512064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18" name="Text 16"/>
          <p:cNvSpPr txBox="1"/>
          <p:nvPr/>
        </p:nvSpPr>
        <p:spPr>
          <a:xfrm>
            <a:off x="525780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Targeted Growth Projects</a:t>
            </a:r>
            <a:endParaRPr lang="en-US" sz="2400" dirty="0"/>
          </a:p>
        </p:txBody>
      </p:sp>
      <p:sp>
        <p:nvSpPr>
          <p:cNvPr id="19" name="Shape 17"/>
          <p:cNvSpPr/>
          <p:nvPr/>
        </p:nvSpPr>
        <p:spPr>
          <a:xfrm>
            <a:off x="841248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0" name="Text 18"/>
          <p:cNvSpPr txBox="1"/>
          <p:nvPr/>
        </p:nvSpPr>
        <p:spPr>
          <a:xfrm>
            <a:off x="854964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Heavy Investment Candidates</a:t>
            </a:r>
            <a:endParaRPr lang="en-US" sz="2400" dirty="0"/>
          </a:p>
        </p:txBody>
      </p:sp>
      <p:sp>
        <p:nvSpPr>
          <p:cNvPr id="21" name="Text 19"/>
          <p:cNvSpPr txBox="1"/>
          <p:nvPr/>
        </p:nvSpPr>
        <p:spPr>
          <a:xfrm>
            <a:off x="548640" y="4901184"/>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Low</a:t>
            </a:r>
            <a:endParaRPr lang="en-US" sz="2400" dirty="0"/>
          </a:p>
        </p:txBody>
      </p:sp>
      <p:sp>
        <p:nvSpPr>
          <p:cNvPr id="22" name="Shape 20"/>
          <p:cNvSpPr/>
          <p:nvPr/>
        </p:nvSpPr>
        <p:spPr>
          <a:xfrm>
            <a:off x="182880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3" name="Text 21"/>
          <p:cNvSpPr txBox="1"/>
          <p:nvPr/>
        </p:nvSpPr>
        <p:spPr>
          <a:xfrm>
            <a:off x="196596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Supportive Enablers</a:t>
            </a:r>
            <a:endParaRPr lang="en-US" sz="2400" dirty="0"/>
          </a:p>
        </p:txBody>
      </p:sp>
      <p:sp>
        <p:nvSpPr>
          <p:cNvPr id="24" name="Shape 22"/>
          <p:cNvSpPr/>
          <p:nvPr/>
        </p:nvSpPr>
        <p:spPr>
          <a:xfrm>
            <a:off x="512064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5" name="Text 23"/>
          <p:cNvSpPr txBox="1"/>
          <p:nvPr/>
        </p:nvSpPr>
        <p:spPr>
          <a:xfrm>
            <a:off x="525780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Marginal Utility Tasks</a:t>
            </a:r>
            <a:endParaRPr lang="en-US" sz="2400" dirty="0"/>
          </a:p>
        </p:txBody>
      </p:sp>
      <p:sp>
        <p:nvSpPr>
          <p:cNvPr id="26" name="Shape 24"/>
          <p:cNvSpPr/>
          <p:nvPr/>
        </p:nvSpPr>
        <p:spPr>
          <a:xfrm>
            <a:off x="841248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7" name="Text 25"/>
          <p:cNvSpPr txBox="1"/>
          <p:nvPr/>
        </p:nvSpPr>
        <p:spPr>
          <a:xfrm>
            <a:off x="854964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Resource Pitfalls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4" descr="Reflection 1.4: Think of a goal your team set in the last 12 months. Was it an Objective, a Key Result, or a task disguised as one of these? What would a proper Key Result look like using the formula?"/>
          <p:cNvPicPr>
            <a:picLocks noChangeAspect="1"/>
          </p:cNvPicPr>
          <p:nvPr/>
        </p:nvPicPr>
        <p:blipFill>
          <a:blip r:embed="rId3"/>
          <a:stretch>
            <a:fillRect/>
          </a:stretch>
        </p:blipFill>
        <p:spPr>
          <a:xfrm>
            <a:off x="1691640" y="1572768"/>
            <a:ext cx="9921240" cy="1482484"/>
          </a:xfrm>
          <a:prstGeom prst="rect">
            <a:avLst/>
          </a:prstGeom>
        </p:spPr>
      </p:pic>
      <p:sp>
        <p:nvSpPr>
          <p:cNvPr id="4" name="Part 1.4"/>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the KISS-to-OKR Sequence Matters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Map the strategic terrain before setting goals.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Practise the translation of SiP into OKRs.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Danger of Moving Too Fast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Disconnected Targets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Numbers are set while the hurdles go unacknowledged.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Fragmented Efforts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Functions row in different directions.</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The Activity Trap</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Busyness is measured because outcomes are hard to prove.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organisation starts measuring the finish line before it has mapped the terrain.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The Strategy2Results® Sequence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Success in Practice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dream of where the organisation wants to be.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KISS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honest look at the changes required to get there.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OKRs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execution compass.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which point in this sequence does our organisation typically enter?</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91440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188720"/>
            <a:ext cx="548640" cy="548640"/>
          </a:xfrm>
          <a:prstGeom prst="rect">
            <a:avLst/>
          </a:prstGeom>
        </p:spPr>
      </p:pic>
      <p:sp>
        <p:nvSpPr>
          <p:cNvPr id="4" name="Text 1"/>
          <p:cNvSpPr txBox="1"/>
          <p:nvPr/>
        </p:nvSpPr>
        <p:spPr>
          <a:xfrm>
            <a:off x="2103120" y="109728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2.2 · Worked Example: the SiP Statement</a:t>
            </a:r>
            <a:endParaRPr lang="en-US" sz="2600" dirty="0"/>
          </a:p>
        </p:txBody>
      </p:sp>
      <p:sp>
        <p:nvSpPr>
          <p:cNvPr id="5" name="Text 2"/>
          <p:cNvSpPr txBox="1"/>
          <p:nvPr/>
        </p:nvSpPr>
        <p:spPr>
          <a:xfrm>
            <a:off x="2103120" y="1874520"/>
            <a:ext cx="9418320" cy="3749040"/>
          </a:xfrm>
          <a:prstGeom prst="rect">
            <a:avLst/>
          </a:prstGeom>
          <a:noFill/>
          <a:ln/>
        </p:spPr>
        <p:txBody>
          <a:bodyPr wrap="square" lIns="0" tIns="0" rIns="0" bIns="0" rtlCol="0" anchor="t"/>
          <a:lstStyle/>
          <a:p>
            <a:pPr marL="0" indent="0">
              <a:buNone/>
            </a:pPr>
            <a:r>
              <a:rPr lang="en-US" sz="2800" i="1" dirty="0">
                <a:solidFill>
                  <a:srgbClr val="FFFFFF"/>
                </a:solidFill>
                <a:latin typeface="Cambria" pitchFamily="34" charset="0"/>
                <a:ea typeface="Cambria" pitchFamily="34" charset="-122"/>
                <a:cs typeface="Cambria" pitchFamily="34" charset="-120"/>
              </a:rPr>
              <a:t>We will be the service partner our clients rely on first, by ensuring every client experiences fast, consistent and effortless service. </a:t>
            </a:r>
          </a:p>
          <a:p>
            <a:pPr marL="0" indent="0">
              <a:buNone/>
            </a:pPr>
            <a:endParaRPr lang="en-US" sz="2800" i="1" dirty="0">
              <a:solidFill>
                <a:srgbClr val="FFFFFF"/>
              </a:solidFill>
              <a:latin typeface="Cambria" pitchFamily="34" charset="0"/>
              <a:ea typeface="Cambria" pitchFamily="34" charset="-122"/>
              <a:cs typeface="Cambria" pitchFamily="34" charset="-120"/>
            </a:endParaRPr>
          </a:p>
          <a:p>
            <a:pPr marL="0" indent="0">
              <a:buNone/>
            </a:pPr>
            <a:r>
              <a:rPr lang="en-US" sz="2800" i="1" dirty="0">
                <a:solidFill>
                  <a:srgbClr val="FFFFFF"/>
                </a:solidFill>
                <a:latin typeface="Cambria" pitchFamily="34" charset="0"/>
                <a:ea typeface="Cambria" pitchFamily="34" charset="-122"/>
                <a:cs typeface="Cambria" pitchFamily="34" charset="-120"/>
              </a:rPr>
              <a:t>To achieve this, we will move quickly from insight to action across functions, build shared ownership of enterprise priorities and run scalable, efficient operations that strengthen enterprise performance.</a:t>
            </a:r>
            <a:endParaRPr lang="en-US" sz="2800" dirty="0"/>
          </a:p>
        </p:txBody>
      </p:sp>
      <p:sp>
        <p:nvSpPr>
          <p:cNvPr id="6" name="Text 3"/>
          <p:cNvSpPr txBox="1"/>
          <p:nvPr/>
        </p:nvSpPr>
        <p:spPr>
          <a:xfrm>
            <a:off x="2103120" y="5760720"/>
            <a:ext cx="9418320" cy="54864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 client services company</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8" name="Rounded Rectangle 1">
            <a:extLst>
              <a:ext uri="{FF2B5EF4-FFF2-40B4-BE49-F238E27FC236}">
                <a16:creationId xmlns:a16="http://schemas.microsoft.com/office/drawing/2014/main" id="{46569F61-2560-FE6F-D6B5-ED531ABF8D7F}"/>
              </a:ext>
            </a:extLst>
          </p:cNvPr>
          <p:cNvSpPr/>
          <p:nvPr/>
        </p:nvSpPr>
        <p:spPr>
          <a:xfrm>
            <a:off x="109728" y="226912"/>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A87D8E91-2432-B90E-3B83-26F6804C45E5}"/>
              </a:ext>
            </a:extLst>
          </p:cNvPr>
          <p:cNvSpPr txBox="1"/>
          <p:nvPr/>
        </p:nvSpPr>
        <p:spPr>
          <a:xfrm>
            <a:off x="420624" y="296131"/>
            <a:ext cx="4119526" cy="400110"/>
          </a:xfrm>
          <a:prstGeom prst="rect">
            <a:avLst/>
          </a:prstGeom>
          <a:noFill/>
        </p:spPr>
        <p:txBody>
          <a:bodyPr wrap="none">
            <a:spAutoFit/>
          </a:bodyPr>
          <a:lstStyle/>
          <a:p>
            <a:r>
              <a:rPr lang="en-ZA" sz="2000" b="1" dirty="0">
                <a:solidFill>
                  <a:schemeClr val="bg1"/>
                </a:solidFill>
                <a:latin typeface="Aptos"/>
              </a:rPr>
              <a:t>CUSTOMER EXPERIENCE &amp; VALUE</a:t>
            </a:r>
          </a:p>
        </p:txBody>
      </p:sp>
      <p:sp>
        <p:nvSpPr>
          <p:cNvPr id="32" name="Rectangle 31">
            <a:extLst>
              <a:ext uri="{FF2B5EF4-FFF2-40B4-BE49-F238E27FC236}">
                <a16:creationId xmlns:a16="http://schemas.microsoft.com/office/drawing/2014/main" id="{796C2925-8363-1C90-1AB0-7620BB7A7DEC}"/>
              </a:ext>
            </a:extLst>
          </p:cNvPr>
          <p:cNvSpPr/>
          <p:nvPr/>
        </p:nvSpPr>
        <p:spPr>
          <a:xfrm>
            <a:off x="109728" y="711544"/>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a:extLst>
              <a:ext uri="{FF2B5EF4-FFF2-40B4-BE49-F238E27FC236}">
                <a16:creationId xmlns:a16="http://schemas.microsoft.com/office/drawing/2014/main" id="{8ED7D93A-5495-EE0D-24E8-42C05A320F31}"/>
              </a:ext>
            </a:extLst>
          </p:cNvPr>
          <p:cNvSpPr txBox="1"/>
          <p:nvPr/>
        </p:nvSpPr>
        <p:spPr>
          <a:xfrm>
            <a:off x="274320" y="662009"/>
            <a:ext cx="734496" cy="369332"/>
          </a:xfrm>
          <a:prstGeom prst="rect">
            <a:avLst/>
          </a:prstGeom>
          <a:noFill/>
        </p:spPr>
        <p:txBody>
          <a:bodyPr wrap="none">
            <a:spAutoFit/>
          </a:bodyPr>
          <a:lstStyle/>
          <a:p>
            <a:r>
              <a:rPr b="1" dirty="0">
                <a:solidFill>
                  <a:srgbClr val="78D7A4"/>
                </a:solidFill>
                <a:latin typeface="Aptos"/>
              </a:rPr>
              <a:t>KEEP</a:t>
            </a:r>
          </a:p>
        </p:txBody>
      </p:sp>
      <p:sp>
        <p:nvSpPr>
          <p:cNvPr id="36" name="TextBox 35">
            <a:extLst>
              <a:ext uri="{FF2B5EF4-FFF2-40B4-BE49-F238E27FC236}">
                <a16:creationId xmlns:a16="http://schemas.microsoft.com/office/drawing/2014/main" id="{3DC9B434-699A-5CC8-33E0-320BDCA52955}"/>
              </a:ext>
            </a:extLst>
          </p:cNvPr>
          <p:cNvSpPr txBox="1"/>
          <p:nvPr/>
        </p:nvSpPr>
        <p:spPr>
          <a:xfrm>
            <a:off x="274319" y="914681"/>
            <a:ext cx="2827783" cy="646331"/>
          </a:xfrm>
          <a:prstGeom prst="rect">
            <a:avLst/>
          </a:prstGeom>
          <a:noFill/>
        </p:spPr>
        <p:txBody>
          <a:bodyPr wrap="square">
            <a:spAutoFit/>
          </a:bodyPr>
          <a:lstStyle/>
          <a:p>
            <a:r>
              <a:rPr dirty="0">
                <a:solidFill>
                  <a:schemeClr val="bg1"/>
                </a:solidFill>
                <a:latin typeface="Aptos"/>
              </a:rPr>
              <a:t>Strong client relationships with key accounts</a:t>
            </a:r>
          </a:p>
        </p:txBody>
      </p:sp>
      <p:sp>
        <p:nvSpPr>
          <p:cNvPr id="38" name="Rectangle 37">
            <a:extLst>
              <a:ext uri="{FF2B5EF4-FFF2-40B4-BE49-F238E27FC236}">
                <a16:creationId xmlns:a16="http://schemas.microsoft.com/office/drawing/2014/main" id="{7A5A4690-5BDA-AA40-5AC4-56E33607DE58}"/>
              </a:ext>
            </a:extLst>
          </p:cNvPr>
          <p:cNvSpPr/>
          <p:nvPr/>
        </p:nvSpPr>
        <p:spPr>
          <a:xfrm>
            <a:off x="3102102"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8A9C9AE2-6EF6-506C-8D1E-063F09984C72}"/>
              </a:ext>
            </a:extLst>
          </p:cNvPr>
          <p:cNvSpPr txBox="1"/>
          <p:nvPr/>
        </p:nvSpPr>
        <p:spPr>
          <a:xfrm>
            <a:off x="3266694" y="662009"/>
            <a:ext cx="1164165" cy="369332"/>
          </a:xfrm>
          <a:prstGeom prst="rect">
            <a:avLst/>
          </a:prstGeom>
          <a:noFill/>
        </p:spPr>
        <p:txBody>
          <a:bodyPr wrap="none">
            <a:spAutoFit/>
          </a:bodyPr>
          <a:lstStyle/>
          <a:p>
            <a:r>
              <a:rPr b="1">
                <a:solidFill>
                  <a:srgbClr val="E2C05B"/>
                </a:solidFill>
                <a:latin typeface="Aptos"/>
              </a:rPr>
              <a:t>IMPROVE</a:t>
            </a:r>
          </a:p>
        </p:txBody>
      </p:sp>
      <p:sp>
        <p:nvSpPr>
          <p:cNvPr id="42" name="TextBox 41">
            <a:extLst>
              <a:ext uri="{FF2B5EF4-FFF2-40B4-BE49-F238E27FC236}">
                <a16:creationId xmlns:a16="http://schemas.microsoft.com/office/drawing/2014/main" id="{FA76D4BC-CFFD-F058-AD08-F7A1B074F37F}"/>
              </a:ext>
            </a:extLst>
          </p:cNvPr>
          <p:cNvSpPr txBox="1"/>
          <p:nvPr/>
        </p:nvSpPr>
        <p:spPr>
          <a:xfrm>
            <a:off x="3266693" y="914681"/>
            <a:ext cx="2827783" cy="923330"/>
          </a:xfrm>
          <a:prstGeom prst="rect">
            <a:avLst/>
          </a:prstGeom>
          <a:noFill/>
        </p:spPr>
        <p:txBody>
          <a:bodyPr wrap="square">
            <a:spAutoFit/>
          </a:bodyPr>
          <a:lstStyle/>
          <a:p>
            <a:r>
              <a:rPr>
                <a:solidFill>
                  <a:schemeClr val="bg1"/>
                </a:solidFill>
                <a:latin typeface="Aptos"/>
              </a:rPr>
              <a:t>Response time to customer requests varies across teams</a:t>
            </a:r>
          </a:p>
        </p:txBody>
      </p:sp>
      <p:sp>
        <p:nvSpPr>
          <p:cNvPr id="44" name="Rectangle 43">
            <a:extLst>
              <a:ext uri="{FF2B5EF4-FFF2-40B4-BE49-F238E27FC236}">
                <a16:creationId xmlns:a16="http://schemas.microsoft.com/office/drawing/2014/main" id="{614F4E05-B4CB-6FE1-0854-6E8AC65BE71A}"/>
              </a:ext>
            </a:extLst>
          </p:cNvPr>
          <p:cNvSpPr/>
          <p:nvPr/>
        </p:nvSpPr>
        <p:spPr>
          <a:xfrm>
            <a:off x="6094476"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a:extLst>
              <a:ext uri="{FF2B5EF4-FFF2-40B4-BE49-F238E27FC236}">
                <a16:creationId xmlns:a16="http://schemas.microsoft.com/office/drawing/2014/main" id="{DB6951AC-FD9C-64A9-F1E7-7D887EC3762D}"/>
              </a:ext>
            </a:extLst>
          </p:cNvPr>
          <p:cNvSpPr txBox="1"/>
          <p:nvPr/>
        </p:nvSpPr>
        <p:spPr>
          <a:xfrm>
            <a:off x="6259068" y="662009"/>
            <a:ext cx="826252" cy="369332"/>
          </a:xfrm>
          <a:prstGeom prst="rect">
            <a:avLst/>
          </a:prstGeom>
          <a:noFill/>
        </p:spPr>
        <p:txBody>
          <a:bodyPr wrap="none">
            <a:spAutoFit/>
          </a:bodyPr>
          <a:lstStyle/>
          <a:p>
            <a:r>
              <a:rPr b="1">
                <a:solidFill>
                  <a:srgbClr val="7EBEF4"/>
                </a:solidFill>
                <a:latin typeface="Aptos"/>
              </a:rPr>
              <a:t>START</a:t>
            </a:r>
          </a:p>
        </p:txBody>
      </p:sp>
      <p:sp>
        <p:nvSpPr>
          <p:cNvPr id="48" name="TextBox 47">
            <a:extLst>
              <a:ext uri="{FF2B5EF4-FFF2-40B4-BE49-F238E27FC236}">
                <a16:creationId xmlns:a16="http://schemas.microsoft.com/office/drawing/2014/main" id="{C93CEDB4-FC42-D36A-0542-79E35944EF38}"/>
              </a:ext>
            </a:extLst>
          </p:cNvPr>
          <p:cNvSpPr txBox="1"/>
          <p:nvPr/>
        </p:nvSpPr>
        <p:spPr>
          <a:xfrm>
            <a:off x="6259067" y="914681"/>
            <a:ext cx="2827783" cy="923330"/>
          </a:xfrm>
          <a:prstGeom prst="rect">
            <a:avLst/>
          </a:prstGeom>
          <a:noFill/>
        </p:spPr>
        <p:txBody>
          <a:bodyPr wrap="square">
            <a:spAutoFit/>
          </a:bodyPr>
          <a:lstStyle/>
          <a:p>
            <a:r>
              <a:rPr>
                <a:solidFill>
                  <a:schemeClr val="bg1"/>
                </a:solidFill>
                <a:latin typeface="Aptos"/>
              </a:rPr>
              <a:t>Introduce proactive customer engagement model</a:t>
            </a:r>
          </a:p>
        </p:txBody>
      </p:sp>
      <p:sp>
        <p:nvSpPr>
          <p:cNvPr id="50" name="Rectangle 49">
            <a:extLst>
              <a:ext uri="{FF2B5EF4-FFF2-40B4-BE49-F238E27FC236}">
                <a16:creationId xmlns:a16="http://schemas.microsoft.com/office/drawing/2014/main" id="{E96F224D-C283-A1B3-416F-E320F40F766A}"/>
              </a:ext>
            </a:extLst>
          </p:cNvPr>
          <p:cNvSpPr/>
          <p:nvPr/>
        </p:nvSpPr>
        <p:spPr>
          <a:xfrm>
            <a:off x="9086849"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a:extLst>
              <a:ext uri="{FF2B5EF4-FFF2-40B4-BE49-F238E27FC236}">
                <a16:creationId xmlns:a16="http://schemas.microsoft.com/office/drawing/2014/main" id="{87620D59-4836-4DC8-85C9-EFA5F5A454AE}"/>
              </a:ext>
            </a:extLst>
          </p:cNvPr>
          <p:cNvSpPr txBox="1"/>
          <p:nvPr/>
        </p:nvSpPr>
        <p:spPr>
          <a:xfrm>
            <a:off x="9251441" y="662009"/>
            <a:ext cx="739754" cy="369332"/>
          </a:xfrm>
          <a:prstGeom prst="rect">
            <a:avLst/>
          </a:prstGeom>
          <a:noFill/>
        </p:spPr>
        <p:txBody>
          <a:bodyPr wrap="none">
            <a:spAutoFit/>
          </a:bodyPr>
          <a:lstStyle/>
          <a:p>
            <a:r>
              <a:rPr b="1">
                <a:solidFill>
                  <a:srgbClr val="EC7875"/>
                </a:solidFill>
                <a:latin typeface="Aptos"/>
              </a:rPr>
              <a:t>STOP</a:t>
            </a:r>
          </a:p>
        </p:txBody>
      </p:sp>
      <p:sp>
        <p:nvSpPr>
          <p:cNvPr id="54" name="TextBox 53">
            <a:extLst>
              <a:ext uri="{FF2B5EF4-FFF2-40B4-BE49-F238E27FC236}">
                <a16:creationId xmlns:a16="http://schemas.microsoft.com/office/drawing/2014/main" id="{EE50F975-D0AA-CEBA-CF6A-DB55C613AF60}"/>
              </a:ext>
            </a:extLst>
          </p:cNvPr>
          <p:cNvSpPr txBox="1"/>
          <p:nvPr/>
        </p:nvSpPr>
        <p:spPr>
          <a:xfrm>
            <a:off x="9251440" y="914681"/>
            <a:ext cx="2827783" cy="923330"/>
          </a:xfrm>
          <a:prstGeom prst="rect">
            <a:avLst/>
          </a:prstGeom>
          <a:noFill/>
        </p:spPr>
        <p:txBody>
          <a:bodyPr wrap="square">
            <a:spAutoFit/>
          </a:bodyPr>
          <a:lstStyle/>
          <a:p>
            <a:r>
              <a:rPr>
                <a:solidFill>
                  <a:schemeClr val="bg1"/>
                </a:solidFill>
                <a:latin typeface="Aptos"/>
              </a:rPr>
              <a:t>Slow internal handovers that delay customer responses</a:t>
            </a:r>
          </a:p>
        </p:txBody>
      </p:sp>
      <p:sp>
        <p:nvSpPr>
          <p:cNvPr id="56" name="Rounded Rectangle 16">
            <a:extLst>
              <a:ext uri="{FF2B5EF4-FFF2-40B4-BE49-F238E27FC236}">
                <a16:creationId xmlns:a16="http://schemas.microsoft.com/office/drawing/2014/main" id="{A4A1E1F7-6CAC-4215-3968-08A7B6BAF5EE}"/>
              </a:ext>
            </a:extLst>
          </p:cNvPr>
          <p:cNvSpPr/>
          <p:nvPr/>
        </p:nvSpPr>
        <p:spPr>
          <a:xfrm>
            <a:off x="109728" y="1854544"/>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a:extLst>
              <a:ext uri="{FF2B5EF4-FFF2-40B4-BE49-F238E27FC236}">
                <a16:creationId xmlns:a16="http://schemas.microsoft.com/office/drawing/2014/main" id="{31AAD903-65EB-A8A3-D8C6-0AB69C36216B}"/>
              </a:ext>
            </a:extLst>
          </p:cNvPr>
          <p:cNvSpPr txBox="1"/>
          <p:nvPr/>
        </p:nvSpPr>
        <p:spPr>
          <a:xfrm>
            <a:off x="420624" y="1923763"/>
            <a:ext cx="6013506" cy="400110"/>
          </a:xfrm>
          <a:prstGeom prst="rect">
            <a:avLst/>
          </a:prstGeom>
          <a:noFill/>
        </p:spPr>
        <p:txBody>
          <a:bodyPr wrap="none">
            <a:spAutoFit/>
          </a:bodyPr>
          <a:lstStyle/>
          <a:p>
            <a:r>
              <a:rPr lang="en-ZA" sz="2000" b="1" dirty="0">
                <a:solidFill>
                  <a:schemeClr val="bg1"/>
                </a:solidFill>
                <a:latin typeface="Aptos"/>
              </a:rPr>
              <a:t>OPERATIONAL CAPABILITY &amp; EXECUTION RHYTHM</a:t>
            </a:r>
          </a:p>
        </p:txBody>
      </p:sp>
      <p:sp>
        <p:nvSpPr>
          <p:cNvPr id="60" name="Rectangle 59">
            <a:extLst>
              <a:ext uri="{FF2B5EF4-FFF2-40B4-BE49-F238E27FC236}">
                <a16:creationId xmlns:a16="http://schemas.microsoft.com/office/drawing/2014/main" id="{A7BF9393-BBAD-BB84-8B66-F0293EF06B21}"/>
              </a:ext>
            </a:extLst>
          </p:cNvPr>
          <p:cNvSpPr/>
          <p:nvPr/>
        </p:nvSpPr>
        <p:spPr>
          <a:xfrm>
            <a:off x="109728" y="2339176"/>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a:extLst>
              <a:ext uri="{FF2B5EF4-FFF2-40B4-BE49-F238E27FC236}">
                <a16:creationId xmlns:a16="http://schemas.microsoft.com/office/drawing/2014/main" id="{EE8BA738-CC87-BF73-632C-15EE72289071}"/>
              </a:ext>
            </a:extLst>
          </p:cNvPr>
          <p:cNvSpPr txBox="1"/>
          <p:nvPr/>
        </p:nvSpPr>
        <p:spPr>
          <a:xfrm>
            <a:off x="274320" y="2283855"/>
            <a:ext cx="734496" cy="369332"/>
          </a:xfrm>
          <a:prstGeom prst="rect">
            <a:avLst/>
          </a:prstGeom>
          <a:noFill/>
        </p:spPr>
        <p:txBody>
          <a:bodyPr wrap="none">
            <a:spAutoFit/>
          </a:bodyPr>
          <a:lstStyle/>
          <a:p>
            <a:r>
              <a:rPr b="1" dirty="0">
                <a:solidFill>
                  <a:srgbClr val="78D7A4"/>
                </a:solidFill>
                <a:latin typeface="Aptos"/>
              </a:rPr>
              <a:t>KEEP</a:t>
            </a:r>
          </a:p>
        </p:txBody>
      </p:sp>
      <p:sp>
        <p:nvSpPr>
          <p:cNvPr id="64" name="TextBox 63">
            <a:extLst>
              <a:ext uri="{FF2B5EF4-FFF2-40B4-BE49-F238E27FC236}">
                <a16:creationId xmlns:a16="http://schemas.microsoft.com/office/drawing/2014/main" id="{D0A3FAF7-BB59-6F90-8F05-83D70B3B43A5}"/>
              </a:ext>
            </a:extLst>
          </p:cNvPr>
          <p:cNvSpPr txBox="1"/>
          <p:nvPr/>
        </p:nvSpPr>
        <p:spPr>
          <a:xfrm>
            <a:off x="274319" y="2507591"/>
            <a:ext cx="2827783" cy="646331"/>
          </a:xfrm>
          <a:prstGeom prst="rect">
            <a:avLst/>
          </a:prstGeom>
          <a:noFill/>
        </p:spPr>
        <p:txBody>
          <a:bodyPr wrap="square">
            <a:spAutoFit/>
          </a:bodyPr>
          <a:lstStyle/>
          <a:p>
            <a:r>
              <a:rPr dirty="0">
                <a:solidFill>
                  <a:schemeClr val="bg1"/>
                </a:solidFill>
                <a:latin typeface="Aptos"/>
              </a:rPr>
              <a:t>Clear strategic priorities already exist</a:t>
            </a:r>
          </a:p>
        </p:txBody>
      </p:sp>
      <p:sp>
        <p:nvSpPr>
          <p:cNvPr id="66" name="Rectangle 65">
            <a:extLst>
              <a:ext uri="{FF2B5EF4-FFF2-40B4-BE49-F238E27FC236}">
                <a16:creationId xmlns:a16="http://schemas.microsoft.com/office/drawing/2014/main" id="{B4C5CB1C-2752-C36F-4F11-007BA8817B0C}"/>
              </a:ext>
            </a:extLst>
          </p:cNvPr>
          <p:cNvSpPr/>
          <p:nvPr/>
        </p:nvSpPr>
        <p:spPr>
          <a:xfrm>
            <a:off x="3102102"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a:extLst>
              <a:ext uri="{FF2B5EF4-FFF2-40B4-BE49-F238E27FC236}">
                <a16:creationId xmlns:a16="http://schemas.microsoft.com/office/drawing/2014/main" id="{936CB7A4-814C-D6A3-E602-E3E0AAD049EB}"/>
              </a:ext>
            </a:extLst>
          </p:cNvPr>
          <p:cNvSpPr txBox="1"/>
          <p:nvPr/>
        </p:nvSpPr>
        <p:spPr>
          <a:xfrm>
            <a:off x="3266694" y="2283855"/>
            <a:ext cx="1164165" cy="369332"/>
          </a:xfrm>
          <a:prstGeom prst="rect">
            <a:avLst/>
          </a:prstGeom>
          <a:noFill/>
        </p:spPr>
        <p:txBody>
          <a:bodyPr wrap="none">
            <a:spAutoFit/>
          </a:bodyPr>
          <a:lstStyle/>
          <a:p>
            <a:r>
              <a:rPr b="1">
                <a:solidFill>
                  <a:srgbClr val="E2C05B"/>
                </a:solidFill>
                <a:latin typeface="Aptos"/>
              </a:rPr>
              <a:t>IMPROVE</a:t>
            </a:r>
          </a:p>
        </p:txBody>
      </p:sp>
      <p:sp>
        <p:nvSpPr>
          <p:cNvPr id="70" name="TextBox 69">
            <a:extLst>
              <a:ext uri="{FF2B5EF4-FFF2-40B4-BE49-F238E27FC236}">
                <a16:creationId xmlns:a16="http://schemas.microsoft.com/office/drawing/2014/main" id="{0EC46863-B5A5-B82A-216E-65BDF34A190D}"/>
              </a:ext>
            </a:extLst>
          </p:cNvPr>
          <p:cNvSpPr txBox="1"/>
          <p:nvPr/>
        </p:nvSpPr>
        <p:spPr>
          <a:xfrm>
            <a:off x="3266693" y="2507591"/>
            <a:ext cx="2827783" cy="923330"/>
          </a:xfrm>
          <a:prstGeom prst="rect">
            <a:avLst/>
          </a:prstGeom>
          <a:noFill/>
        </p:spPr>
        <p:txBody>
          <a:bodyPr wrap="square">
            <a:spAutoFit/>
          </a:bodyPr>
          <a:lstStyle/>
          <a:p>
            <a:r>
              <a:rPr>
                <a:solidFill>
                  <a:schemeClr val="bg1"/>
                </a:solidFill>
                <a:latin typeface="Aptos"/>
              </a:rPr>
              <a:t>Decision-making slows when multiple functions are involved</a:t>
            </a:r>
          </a:p>
        </p:txBody>
      </p:sp>
      <p:sp>
        <p:nvSpPr>
          <p:cNvPr id="72" name="Rectangle 71">
            <a:extLst>
              <a:ext uri="{FF2B5EF4-FFF2-40B4-BE49-F238E27FC236}">
                <a16:creationId xmlns:a16="http://schemas.microsoft.com/office/drawing/2014/main" id="{77EA6BC0-30A8-C806-FF37-F5CD07B8DAF2}"/>
              </a:ext>
            </a:extLst>
          </p:cNvPr>
          <p:cNvSpPr/>
          <p:nvPr/>
        </p:nvSpPr>
        <p:spPr>
          <a:xfrm>
            <a:off x="6094476"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a:extLst>
              <a:ext uri="{FF2B5EF4-FFF2-40B4-BE49-F238E27FC236}">
                <a16:creationId xmlns:a16="http://schemas.microsoft.com/office/drawing/2014/main" id="{8A65DD91-9FA7-0B86-7E64-E5ABBF58DD60}"/>
              </a:ext>
            </a:extLst>
          </p:cNvPr>
          <p:cNvSpPr txBox="1"/>
          <p:nvPr/>
        </p:nvSpPr>
        <p:spPr>
          <a:xfrm>
            <a:off x="6259068" y="2283855"/>
            <a:ext cx="826252" cy="369332"/>
          </a:xfrm>
          <a:prstGeom prst="rect">
            <a:avLst/>
          </a:prstGeom>
          <a:noFill/>
        </p:spPr>
        <p:txBody>
          <a:bodyPr wrap="none">
            <a:spAutoFit/>
          </a:bodyPr>
          <a:lstStyle/>
          <a:p>
            <a:r>
              <a:rPr b="1">
                <a:solidFill>
                  <a:srgbClr val="7EBEF4"/>
                </a:solidFill>
                <a:latin typeface="Aptos"/>
              </a:rPr>
              <a:t>START</a:t>
            </a:r>
          </a:p>
        </p:txBody>
      </p:sp>
      <p:sp>
        <p:nvSpPr>
          <p:cNvPr id="76" name="TextBox 75">
            <a:extLst>
              <a:ext uri="{FF2B5EF4-FFF2-40B4-BE49-F238E27FC236}">
                <a16:creationId xmlns:a16="http://schemas.microsoft.com/office/drawing/2014/main" id="{262FEB21-7D2E-BA31-D840-23876B026071}"/>
              </a:ext>
            </a:extLst>
          </p:cNvPr>
          <p:cNvSpPr txBox="1"/>
          <p:nvPr/>
        </p:nvSpPr>
        <p:spPr>
          <a:xfrm>
            <a:off x="6259067" y="2507591"/>
            <a:ext cx="2827783" cy="923330"/>
          </a:xfrm>
          <a:prstGeom prst="rect">
            <a:avLst/>
          </a:prstGeom>
          <a:noFill/>
        </p:spPr>
        <p:txBody>
          <a:bodyPr wrap="square">
            <a:spAutoFit/>
          </a:bodyPr>
          <a:lstStyle/>
          <a:p>
            <a:r>
              <a:rPr>
                <a:solidFill>
                  <a:schemeClr val="bg1"/>
                </a:solidFill>
                <a:latin typeface="Aptos"/>
              </a:rPr>
              <a:t>Introduce cross-functional execution routines and faster decision forums</a:t>
            </a:r>
          </a:p>
        </p:txBody>
      </p:sp>
      <p:sp>
        <p:nvSpPr>
          <p:cNvPr id="78" name="Rectangle 77">
            <a:extLst>
              <a:ext uri="{FF2B5EF4-FFF2-40B4-BE49-F238E27FC236}">
                <a16:creationId xmlns:a16="http://schemas.microsoft.com/office/drawing/2014/main" id="{28C759F4-6A9E-748B-00A4-2844B50F75AB}"/>
              </a:ext>
            </a:extLst>
          </p:cNvPr>
          <p:cNvSpPr/>
          <p:nvPr/>
        </p:nvSpPr>
        <p:spPr>
          <a:xfrm>
            <a:off x="9086849"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a:extLst>
              <a:ext uri="{FF2B5EF4-FFF2-40B4-BE49-F238E27FC236}">
                <a16:creationId xmlns:a16="http://schemas.microsoft.com/office/drawing/2014/main" id="{14DA39FA-AD30-5667-0BC7-4762A618EFDB}"/>
              </a:ext>
            </a:extLst>
          </p:cNvPr>
          <p:cNvSpPr txBox="1"/>
          <p:nvPr/>
        </p:nvSpPr>
        <p:spPr>
          <a:xfrm>
            <a:off x="9251441" y="2283855"/>
            <a:ext cx="739754" cy="369332"/>
          </a:xfrm>
          <a:prstGeom prst="rect">
            <a:avLst/>
          </a:prstGeom>
          <a:noFill/>
        </p:spPr>
        <p:txBody>
          <a:bodyPr wrap="none">
            <a:spAutoFit/>
          </a:bodyPr>
          <a:lstStyle/>
          <a:p>
            <a:r>
              <a:rPr b="1">
                <a:solidFill>
                  <a:srgbClr val="EC7875"/>
                </a:solidFill>
                <a:latin typeface="Aptos"/>
              </a:rPr>
              <a:t>STOP</a:t>
            </a:r>
          </a:p>
        </p:txBody>
      </p:sp>
      <p:sp>
        <p:nvSpPr>
          <p:cNvPr id="82" name="TextBox 81">
            <a:extLst>
              <a:ext uri="{FF2B5EF4-FFF2-40B4-BE49-F238E27FC236}">
                <a16:creationId xmlns:a16="http://schemas.microsoft.com/office/drawing/2014/main" id="{76A19AC0-74BD-F171-47A2-ED9389046C41}"/>
              </a:ext>
            </a:extLst>
          </p:cNvPr>
          <p:cNvSpPr txBox="1"/>
          <p:nvPr/>
        </p:nvSpPr>
        <p:spPr>
          <a:xfrm>
            <a:off x="9251440" y="2507591"/>
            <a:ext cx="2827783" cy="646331"/>
          </a:xfrm>
          <a:prstGeom prst="rect">
            <a:avLst/>
          </a:prstGeom>
          <a:noFill/>
        </p:spPr>
        <p:txBody>
          <a:bodyPr wrap="square">
            <a:spAutoFit/>
          </a:bodyPr>
          <a:lstStyle/>
          <a:p>
            <a:r>
              <a:rPr>
                <a:solidFill>
                  <a:schemeClr val="bg1"/>
                </a:solidFill>
                <a:latin typeface="Aptos"/>
              </a:rPr>
              <a:t>Excessive reporting cycles that delay action</a:t>
            </a:r>
          </a:p>
        </p:txBody>
      </p:sp>
      <p:sp>
        <p:nvSpPr>
          <p:cNvPr id="84" name="Rounded Rectangle 31">
            <a:extLst>
              <a:ext uri="{FF2B5EF4-FFF2-40B4-BE49-F238E27FC236}">
                <a16:creationId xmlns:a16="http://schemas.microsoft.com/office/drawing/2014/main" id="{174EFA79-F051-16DB-709F-A58A2B2FBAA0}"/>
              </a:ext>
            </a:extLst>
          </p:cNvPr>
          <p:cNvSpPr/>
          <p:nvPr/>
        </p:nvSpPr>
        <p:spPr>
          <a:xfrm>
            <a:off x="109728" y="3482176"/>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a:extLst>
              <a:ext uri="{FF2B5EF4-FFF2-40B4-BE49-F238E27FC236}">
                <a16:creationId xmlns:a16="http://schemas.microsoft.com/office/drawing/2014/main" id="{7875597B-E465-E6ED-6412-50F477FADEC3}"/>
              </a:ext>
            </a:extLst>
          </p:cNvPr>
          <p:cNvSpPr txBox="1"/>
          <p:nvPr/>
        </p:nvSpPr>
        <p:spPr>
          <a:xfrm>
            <a:off x="420624" y="3551395"/>
            <a:ext cx="3821880" cy="400110"/>
          </a:xfrm>
          <a:prstGeom prst="rect">
            <a:avLst/>
          </a:prstGeom>
          <a:noFill/>
        </p:spPr>
        <p:txBody>
          <a:bodyPr wrap="none">
            <a:spAutoFit/>
          </a:bodyPr>
          <a:lstStyle/>
          <a:p>
            <a:r>
              <a:rPr lang="en-ZA" sz="2000" b="1" dirty="0">
                <a:solidFill>
                  <a:schemeClr val="bg1"/>
                </a:solidFill>
                <a:latin typeface="Aptos"/>
              </a:rPr>
              <a:t>PEOPLE &amp; CULTURE DYNAMICS</a:t>
            </a:r>
          </a:p>
        </p:txBody>
      </p:sp>
      <p:sp>
        <p:nvSpPr>
          <p:cNvPr id="88" name="Rectangle 87">
            <a:extLst>
              <a:ext uri="{FF2B5EF4-FFF2-40B4-BE49-F238E27FC236}">
                <a16:creationId xmlns:a16="http://schemas.microsoft.com/office/drawing/2014/main" id="{773FAD26-32C3-5039-6355-6769C2E436C4}"/>
              </a:ext>
            </a:extLst>
          </p:cNvPr>
          <p:cNvSpPr/>
          <p:nvPr/>
        </p:nvSpPr>
        <p:spPr>
          <a:xfrm>
            <a:off x="109728" y="3966808"/>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a:extLst>
              <a:ext uri="{FF2B5EF4-FFF2-40B4-BE49-F238E27FC236}">
                <a16:creationId xmlns:a16="http://schemas.microsoft.com/office/drawing/2014/main" id="{1FA89B23-2C4B-4CE7-4A5F-B76A90403673}"/>
              </a:ext>
            </a:extLst>
          </p:cNvPr>
          <p:cNvSpPr txBox="1"/>
          <p:nvPr/>
        </p:nvSpPr>
        <p:spPr>
          <a:xfrm>
            <a:off x="274320" y="3911487"/>
            <a:ext cx="734496" cy="369332"/>
          </a:xfrm>
          <a:prstGeom prst="rect">
            <a:avLst/>
          </a:prstGeom>
          <a:noFill/>
        </p:spPr>
        <p:txBody>
          <a:bodyPr wrap="none">
            <a:spAutoFit/>
          </a:bodyPr>
          <a:lstStyle/>
          <a:p>
            <a:r>
              <a:rPr b="1">
                <a:solidFill>
                  <a:srgbClr val="78D7A4"/>
                </a:solidFill>
                <a:latin typeface="Aptos"/>
              </a:rPr>
              <a:t>KEEP</a:t>
            </a:r>
          </a:p>
        </p:txBody>
      </p:sp>
      <p:sp>
        <p:nvSpPr>
          <p:cNvPr id="92" name="TextBox 91">
            <a:extLst>
              <a:ext uri="{FF2B5EF4-FFF2-40B4-BE49-F238E27FC236}">
                <a16:creationId xmlns:a16="http://schemas.microsoft.com/office/drawing/2014/main" id="{8A443AE4-AD83-7C01-1A38-876D54A42CC3}"/>
              </a:ext>
            </a:extLst>
          </p:cNvPr>
          <p:cNvSpPr txBox="1"/>
          <p:nvPr/>
        </p:nvSpPr>
        <p:spPr>
          <a:xfrm>
            <a:off x="274319" y="4135223"/>
            <a:ext cx="2827783" cy="369332"/>
          </a:xfrm>
          <a:prstGeom prst="rect">
            <a:avLst/>
          </a:prstGeom>
          <a:noFill/>
        </p:spPr>
        <p:txBody>
          <a:bodyPr wrap="square">
            <a:spAutoFit/>
          </a:bodyPr>
          <a:lstStyle/>
          <a:p>
            <a:r>
              <a:rPr>
                <a:solidFill>
                  <a:schemeClr val="bg1"/>
                </a:solidFill>
                <a:latin typeface="Aptos"/>
              </a:rPr>
              <a:t>Strong trust within teams</a:t>
            </a:r>
          </a:p>
        </p:txBody>
      </p:sp>
      <p:sp>
        <p:nvSpPr>
          <p:cNvPr id="94" name="Rectangle 93">
            <a:extLst>
              <a:ext uri="{FF2B5EF4-FFF2-40B4-BE49-F238E27FC236}">
                <a16:creationId xmlns:a16="http://schemas.microsoft.com/office/drawing/2014/main" id="{C75FAD8D-D9B2-1FC4-FA12-EEB2E7A10E8F}"/>
              </a:ext>
            </a:extLst>
          </p:cNvPr>
          <p:cNvSpPr/>
          <p:nvPr/>
        </p:nvSpPr>
        <p:spPr>
          <a:xfrm>
            <a:off x="3102102"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a:extLst>
              <a:ext uri="{FF2B5EF4-FFF2-40B4-BE49-F238E27FC236}">
                <a16:creationId xmlns:a16="http://schemas.microsoft.com/office/drawing/2014/main" id="{89754A80-2ABF-B38F-C184-7BDCE55723BE}"/>
              </a:ext>
            </a:extLst>
          </p:cNvPr>
          <p:cNvSpPr txBox="1"/>
          <p:nvPr/>
        </p:nvSpPr>
        <p:spPr>
          <a:xfrm>
            <a:off x="3266694" y="3911487"/>
            <a:ext cx="1164165" cy="369332"/>
          </a:xfrm>
          <a:prstGeom prst="rect">
            <a:avLst/>
          </a:prstGeom>
          <a:noFill/>
        </p:spPr>
        <p:txBody>
          <a:bodyPr wrap="none">
            <a:spAutoFit/>
          </a:bodyPr>
          <a:lstStyle/>
          <a:p>
            <a:r>
              <a:rPr b="1">
                <a:solidFill>
                  <a:srgbClr val="E2C05B"/>
                </a:solidFill>
                <a:latin typeface="Aptos"/>
              </a:rPr>
              <a:t>IMPROVE</a:t>
            </a:r>
          </a:p>
        </p:txBody>
      </p:sp>
      <p:sp>
        <p:nvSpPr>
          <p:cNvPr id="98" name="TextBox 97">
            <a:extLst>
              <a:ext uri="{FF2B5EF4-FFF2-40B4-BE49-F238E27FC236}">
                <a16:creationId xmlns:a16="http://schemas.microsoft.com/office/drawing/2014/main" id="{200E1432-AFEA-ABE0-4B13-15EE833102BC}"/>
              </a:ext>
            </a:extLst>
          </p:cNvPr>
          <p:cNvSpPr txBox="1"/>
          <p:nvPr/>
        </p:nvSpPr>
        <p:spPr>
          <a:xfrm>
            <a:off x="3266693" y="4135223"/>
            <a:ext cx="2827783" cy="923330"/>
          </a:xfrm>
          <a:prstGeom prst="rect">
            <a:avLst/>
          </a:prstGeom>
          <a:noFill/>
        </p:spPr>
        <p:txBody>
          <a:bodyPr wrap="square">
            <a:spAutoFit/>
          </a:bodyPr>
          <a:lstStyle/>
          <a:p>
            <a:r>
              <a:rPr>
                <a:solidFill>
                  <a:schemeClr val="bg1"/>
                </a:solidFill>
                <a:latin typeface="Aptos"/>
              </a:rPr>
              <a:t>Collaboration across functions remains inconsistent</a:t>
            </a:r>
          </a:p>
        </p:txBody>
      </p:sp>
      <p:sp>
        <p:nvSpPr>
          <p:cNvPr id="100" name="Rectangle 99">
            <a:extLst>
              <a:ext uri="{FF2B5EF4-FFF2-40B4-BE49-F238E27FC236}">
                <a16:creationId xmlns:a16="http://schemas.microsoft.com/office/drawing/2014/main" id="{1D9C680D-5A84-47E3-A7B3-4B5A8F78E6E2}"/>
              </a:ext>
            </a:extLst>
          </p:cNvPr>
          <p:cNvSpPr/>
          <p:nvPr/>
        </p:nvSpPr>
        <p:spPr>
          <a:xfrm>
            <a:off x="6094476"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a:extLst>
              <a:ext uri="{FF2B5EF4-FFF2-40B4-BE49-F238E27FC236}">
                <a16:creationId xmlns:a16="http://schemas.microsoft.com/office/drawing/2014/main" id="{7CA8A04C-A6C3-E403-81AD-5E7DB00B6943}"/>
              </a:ext>
            </a:extLst>
          </p:cNvPr>
          <p:cNvSpPr txBox="1"/>
          <p:nvPr/>
        </p:nvSpPr>
        <p:spPr>
          <a:xfrm>
            <a:off x="6259068" y="3911487"/>
            <a:ext cx="826252" cy="369332"/>
          </a:xfrm>
          <a:prstGeom prst="rect">
            <a:avLst/>
          </a:prstGeom>
          <a:noFill/>
        </p:spPr>
        <p:txBody>
          <a:bodyPr wrap="none">
            <a:spAutoFit/>
          </a:bodyPr>
          <a:lstStyle/>
          <a:p>
            <a:r>
              <a:rPr b="1">
                <a:solidFill>
                  <a:srgbClr val="7EBEF4"/>
                </a:solidFill>
                <a:latin typeface="Aptos"/>
              </a:rPr>
              <a:t>START</a:t>
            </a:r>
          </a:p>
        </p:txBody>
      </p:sp>
      <p:sp>
        <p:nvSpPr>
          <p:cNvPr id="104" name="TextBox 103">
            <a:extLst>
              <a:ext uri="{FF2B5EF4-FFF2-40B4-BE49-F238E27FC236}">
                <a16:creationId xmlns:a16="http://schemas.microsoft.com/office/drawing/2014/main" id="{70EC938B-2493-75D3-F837-17A25A8C3208}"/>
              </a:ext>
            </a:extLst>
          </p:cNvPr>
          <p:cNvSpPr txBox="1"/>
          <p:nvPr/>
        </p:nvSpPr>
        <p:spPr>
          <a:xfrm>
            <a:off x="6259067" y="4135223"/>
            <a:ext cx="2827783" cy="923330"/>
          </a:xfrm>
          <a:prstGeom prst="rect">
            <a:avLst/>
          </a:prstGeom>
          <a:noFill/>
        </p:spPr>
        <p:txBody>
          <a:bodyPr wrap="square">
            <a:spAutoFit/>
          </a:bodyPr>
          <a:lstStyle/>
          <a:p>
            <a:r>
              <a:rPr>
                <a:solidFill>
                  <a:schemeClr val="bg1"/>
                </a:solidFill>
                <a:latin typeface="Aptos"/>
              </a:rPr>
              <a:t>Introduce shared ownership of enterprise priorities</a:t>
            </a:r>
          </a:p>
        </p:txBody>
      </p:sp>
      <p:sp>
        <p:nvSpPr>
          <p:cNvPr id="106" name="Rectangle 105">
            <a:extLst>
              <a:ext uri="{FF2B5EF4-FFF2-40B4-BE49-F238E27FC236}">
                <a16:creationId xmlns:a16="http://schemas.microsoft.com/office/drawing/2014/main" id="{72C57FB2-678E-B833-1943-91CBB8253CBA}"/>
              </a:ext>
            </a:extLst>
          </p:cNvPr>
          <p:cNvSpPr/>
          <p:nvPr/>
        </p:nvSpPr>
        <p:spPr>
          <a:xfrm>
            <a:off x="9086849"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a:extLst>
              <a:ext uri="{FF2B5EF4-FFF2-40B4-BE49-F238E27FC236}">
                <a16:creationId xmlns:a16="http://schemas.microsoft.com/office/drawing/2014/main" id="{5ED09A51-E3D1-6A15-D55F-2FC3359A72A0}"/>
              </a:ext>
            </a:extLst>
          </p:cNvPr>
          <p:cNvSpPr txBox="1"/>
          <p:nvPr/>
        </p:nvSpPr>
        <p:spPr>
          <a:xfrm>
            <a:off x="9251441" y="3911487"/>
            <a:ext cx="739754" cy="369332"/>
          </a:xfrm>
          <a:prstGeom prst="rect">
            <a:avLst/>
          </a:prstGeom>
          <a:noFill/>
        </p:spPr>
        <p:txBody>
          <a:bodyPr wrap="none">
            <a:spAutoFit/>
          </a:bodyPr>
          <a:lstStyle/>
          <a:p>
            <a:r>
              <a:rPr b="1">
                <a:solidFill>
                  <a:srgbClr val="EC7875"/>
                </a:solidFill>
                <a:latin typeface="Aptos"/>
              </a:rPr>
              <a:t>STOP</a:t>
            </a:r>
          </a:p>
        </p:txBody>
      </p:sp>
      <p:sp>
        <p:nvSpPr>
          <p:cNvPr id="110" name="TextBox 109">
            <a:extLst>
              <a:ext uri="{FF2B5EF4-FFF2-40B4-BE49-F238E27FC236}">
                <a16:creationId xmlns:a16="http://schemas.microsoft.com/office/drawing/2014/main" id="{E3C51F63-B0E2-39C2-2080-879555895525}"/>
              </a:ext>
            </a:extLst>
          </p:cNvPr>
          <p:cNvSpPr txBox="1"/>
          <p:nvPr/>
        </p:nvSpPr>
        <p:spPr>
          <a:xfrm>
            <a:off x="9251440" y="4135223"/>
            <a:ext cx="2827783" cy="646331"/>
          </a:xfrm>
          <a:prstGeom prst="rect">
            <a:avLst/>
          </a:prstGeom>
          <a:noFill/>
        </p:spPr>
        <p:txBody>
          <a:bodyPr wrap="square">
            <a:spAutoFit/>
          </a:bodyPr>
          <a:lstStyle/>
          <a:p>
            <a:r>
              <a:rPr>
                <a:solidFill>
                  <a:schemeClr val="bg1"/>
                </a:solidFill>
                <a:latin typeface="Aptos"/>
              </a:rPr>
              <a:t>Functional silos and escalation behaviours</a:t>
            </a:r>
          </a:p>
        </p:txBody>
      </p:sp>
      <p:sp>
        <p:nvSpPr>
          <p:cNvPr id="112" name="Rounded Rectangle 46">
            <a:extLst>
              <a:ext uri="{FF2B5EF4-FFF2-40B4-BE49-F238E27FC236}">
                <a16:creationId xmlns:a16="http://schemas.microsoft.com/office/drawing/2014/main" id="{8B8E298D-D6C7-E0E4-07D3-22C19DF89C90}"/>
              </a:ext>
            </a:extLst>
          </p:cNvPr>
          <p:cNvSpPr/>
          <p:nvPr/>
        </p:nvSpPr>
        <p:spPr>
          <a:xfrm>
            <a:off x="109728" y="5109808"/>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a:extLst>
              <a:ext uri="{FF2B5EF4-FFF2-40B4-BE49-F238E27FC236}">
                <a16:creationId xmlns:a16="http://schemas.microsoft.com/office/drawing/2014/main" id="{C077A4DA-67C1-ADFA-C075-4A12B86113F0}"/>
              </a:ext>
            </a:extLst>
          </p:cNvPr>
          <p:cNvSpPr txBox="1"/>
          <p:nvPr/>
        </p:nvSpPr>
        <p:spPr>
          <a:xfrm>
            <a:off x="420624" y="5179027"/>
            <a:ext cx="3732560" cy="400110"/>
          </a:xfrm>
          <a:prstGeom prst="rect">
            <a:avLst/>
          </a:prstGeom>
          <a:noFill/>
        </p:spPr>
        <p:txBody>
          <a:bodyPr wrap="none">
            <a:spAutoFit/>
          </a:bodyPr>
          <a:lstStyle/>
          <a:p>
            <a:r>
              <a:rPr lang="en-ZA" sz="2000" b="1" dirty="0">
                <a:solidFill>
                  <a:schemeClr val="bg1"/>
                </a:solidFill>
                <a:latin typeface="Aptos"/>
              </a:rPr>
              <a:t>ENTERPRISE VALUE CREATION</a:t>
            </a:r>
          </a:p>
        </p:txBody>
      </p:sp>
      <p:sp>
        <p:nvSpPr>
          <p:cNvPr id="116" name="Rectangle 115">
            <a:extLst>
              <a:ext uri="{FF2B5EF4-FFF2-40B4-BE49-F238E27FC236}">
                <a16:creationId xmlns:a16="http://schemas.microsoft.com/office/drawing/2014/main" id="{1847EB40-E8EF-70D3-E36B-8841751959EA}"/>
              </a:ext>
            </a:extLst>
          </p:cNvPr>
          <p:cNvSpPr/>
          <p:nvPr/>
        </p:nvSpPr>
        <p:spPr>
          <a:xfrm>
            <a:off x="109728" y="5594440"/>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a:extLst>
              <a:ext uri="{FF2B5EF4-FFF2-40B4-BE49-F238E27FC236}">
                <a16:creationId xmlns:a16="http://schemas.microsoft.com/office/drawing/2014/main" id="{BF90AE0F-7632-7C90-AE9A-80DFE5DC6370}"/>
              </a:ext>
            </a:extLst>
          </p:cNvPr>
          <p:cNvSpPr txBox="1"/>
          <p:nvPr/>
        </p:nvSpPr>
        <p:spPr>
          <a:xfrm>
            <a:off x="274320" y="5539118"/>
            <a:ext cx="734496" cy="369332"/>
          </a:xfrm>
          <a:prstGeom prst="rect">
            <a:avLst/>
          </a:prstGeom>
          <a:noFill/>
        </p:spPr>
        <p:txBody>
          <a:bodyPr wrap="none">
            <a:spAutoFit/>
          </a:bodyPr>
          <a:lstStyle/>
          <a:p>
            <a:r>
              <a:rPr b="1">
                <a:solidFill>
                  <a:srgbClr val="78D7A4"/>
                </a:solidFill>
                <a:latin typeface="Aptos"/>
              </a:rPr>
              <a:t>KEEP</a:t>
            </a:r>
          </a:p>
        </p:txBody>
      </p:sp>
      <p:sp>
        <p:nvSpPr>
          <p:cNvPr id="120" name="TextBox 119">
            <a:extLst>
              <a:ext uri="{FF2B5EF4-FFF2-40B4-BE49-F238E27FC236}">
                <a16:creationId xmlns:a16="http://schemas.microsoft.com/office/drawing/2014/main" id="{F0E35F8D-7F96-F02E-8D37-ADD3D6E46353}"/>
              </a:ext>
            </a:extLst>
          </p:cNvPr>
          <p:cNvSpPr txBox="1"/>
          <p:nvPr/>
        </p:nvSpPr>
        <p:spPr>
          <a:xfrm>
            <a:off x="274319" y="5762854"/>
            <a:ext cx="2827783" cy="646331"/>
          </a:xfrm>
          <a:prstGeom prst="rect">
            <a:avLst/>
          </a:prstGeom>
          <a:noFill/>
        </p:spPr>
        <p:txBody>
          <a:bodyPr wrap="square">
            <a:spAutoFit/>
          </a:bodyPr>
          <a:lstStyle/>
          <a:p>
            <a:r>
              <a:rPr>
                <a:solidFill>
                  <a:schemeClr val="bg1"/>
                </a:solidFill>
                <a:latin typeface="Aptos"/>
              </a:rPr>
              <a:t>Solid revenue base and loyal client segments</a:t>
            </a:r>
          </a:p>
        </p:txBody>
      </p:sp>
      <p:sp>
        <p:nvSpPr>
          <p:cNvPr id="122" name="Rectangle 121">
            <a:extLst>
              <a:ext uri="{FF2B5EF4-FFF2-40B4-BE49-F238E27FC236}">
                <a16:creationId xmlns:a16="http://schemas.microsoft.com/office/drawing/2014/main" id="{9C0E602F-41EE-21A8-54C6-1A8CC7A8830C}"/>
              </a:ext>
            </a:extLst>
          </p:cNvPr>
          <p:cNvSpPr/>
          <p:nvPr/>
        </p:nvSpPr>
        <p:spPr>
          <a:xfrm>
            <a:off x="3102102"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a:extLst>
              <a:ext uri="{FF2B5EF4-FFF2-40B4-BE49-F238E27FC236}">
                <a16:creationId xmlns:a16="http://schemas.microsoft.com/office/drawing/2014/main" id="{25BF76F0-C9C0-978E-D57A-3AAA12D94BCC}"/>
              </a:ext>
            </a:extLst>
          </p:cNvPr>
          <p:cNvSpPr txBox="1"/>
          <p:nvPr/>
        </p:nvSpPr>
        <p:spPr>
          <a:xfrm>
            <a:off x="3266694" y="5539118"/>
            <a:ext cx="1164165" cy="369332"/>
          </a:xfrm>
          <a:prstGeom prst="rect">
            <a:avLst/>
          </a:prstGeom>
          <a:noFill/>
        </p:spPr>
        <p:txBody>
          <a:bodyPr wrap="none">
            <a:spAutoFit/>
          </a:bodyPr>
          <a:lstStyle/>
          <a:p>
            <a:r>
              <a:rPr b="1">
                <a:solidFill>
                  <a:srgbClr val="E2C05B"/>
                </a:solidFill>
                <a:latin typeface="Aptos"/>
              </a:rPr>
              <a:t>IMPROVE</a:t>
            </a:r>
          </a:p>
        </p:txBody>
      </p:sp>
      <p:sp>
        <p:nvSpPr>
          <p:cNvPr id="126" name="TextBox 125">
            <a:extLst>
              <a:ext uri="{FF2B5EF4-FFF2-40B4-BE49-F238E27FC236}">
                <a16:creationId xmlns:a16="http://schemas.microsoft.com/office/drawing/2014/main" id="{C593548C-0197-34FE-C493-1B5CE348C975}"/>
              </a:ext>
            </a:extLst>
          </p:cNvPr>
          <p:cNvSpPr txBox="1"/>
          <p:nvPr/>
        </p:nvSpPr>
        <p:spPr>
          <a:xfrm>
            <a:off x="3266693" y="5762854"/>
            <a:ext cx="2827783" cy="923330"/>
          </a:xfrm>
          <a:prstGeom prst="rect">
            <a:avLst/>
          </a:prstGeom>
          <a:noFill/>
        </p:spPr>
        <p:txBody>
          <a:bodyPr wrap="square">
            <a:spAutoFit/>
          </a:bodyPr>
          <a:lstStyle/>
          <a:p>
            <a:r>
              <a:rPr>
                <a:solidFill>
                  <a:schemeClr val="bg1"/>
                </a:solidFill>
                <a:latin typeface="Aptos"/>
              </a:rPr>
              <a:t>Profit margins fluctuate due to operational inefficiencies</a:t>
            </a:r>
          </a:p>
        </p:txBody>
      </p:sp>
      <p:sp>
        <p:nvSpPr>
          <p:cNvPr id="128" name="Rectangle 127">
            <a:extLst>
              <a:ext uri="{FF2B5EF4-FFF2-40B4-BE49-F238E27FC236}">
                <a16:creationId xmlns:a16="http://schemas.microsoft.com/office/drawing/2014/main" id="{3919F473-9657-F86E-40CD-1F5C96D7B667}"/>
              </a:ext>
            </a:extLst>
          </p:cNvPr>
          <p:cNvSpPr/>
          <p:nvPr/>
        </p:nvSpPr>
        <p:spPr>
          <a:xfrm>
            <a:off x="6094476"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a:extLst>
              <a:ext uri="{FF2B5EF4-FFF2-40B4-BE49-F238E27FC236}">
                <a16:creationId xmlns:a16="http://schemas.microsoft.com/office/drawing/2014/main" id="{0118F9A6-6E30-9FEE-AD1C-D8A6684633DF}"/>
              </a:ext>
            </a:extLst>
          </p:cNvPr>
          <p:cNvSpPr txBox="1"/>
          <p:nvPr/>
        </p:nvSpPr>
        <p:spPr>
          <a:xfrm>
            <a:off x="6259068" y="5539118"/>
            <a:ext cx="826252" cy="369332"/>
          </a:xfrm>
          <a:prstGeom prst="rect">
            <a:avLst/>
          </a:prstGeom>
          <a:noFill/>
        </p:spPr>
        <p:txBody>
          <a:bodyPr wrap="none">
            <a:spAutoFit/>
          </a:bodyPr>
          <a:lstStyle/>
          <a:p>
            <a:r>
              <a:rPr b="1">
                <a:solidFill>
                  <a:srgbClr val="7EBEF4"/>
                </a:solidFill>
                <a:latin typeface="Aptos"/>
              </a:rPr>
              <a:t>START</a:t>
            </a:r>
          </a:p>
        </p:txBody>
      </p:sp>
      <p:sp>
        <p:nvSpPr>
          <p:cNvPr id="132" name="TextBox 131">
            <a:extLst>
              <a:ext uri="{FF2B5EF4-FFF2-40B4-BE49-F238E27FC236}">
                <a16:creationId xmlns:a16="http://schemas.microsoft.com/office/drawing/2014/main" id="{C8824070-1338-A173-4CB3-519D8025414D}"/>
              </a:ext>
            </a:extLst>
          </p:cNvPr>
          <p:cNvSpPr txBox="1"/>
          <p:nvPr/>
        </p:nvSpPr>
        <p:spPr>
          <a:xfrm>
            <a:off x="6259067" y="5762854"/>
            <a:ext cx="2827783" cy="646331"/>
          </a:xfrm>
          <a:prstGeom prst="rect">
            <a:avLst/>
          </a:prstGeom>
          <a:noFill/>
        </p:spPr>
        <p:txBody>
          <a:bodyPr wrap="square">
            <a:spAutoFit/>
          </a:bodyPr>
          <a:lstStyle/>
          <a:p>
            <a:r>
              <a:rPr>
                <a:solidFill>
                  <a:schemeClr val="bg1"/>
                </a:solidFill>
                <a:latin typeface="Aptos"/>
              </a:rPr>
              <a:t>Develop scalable service delivery models</a:t>
            </a:r>
          </a:p>
        </p:txBody>
      </p:sp>
      <p:sp>
        <p:nvSpPr>
          <p:cNvPr id="134" name="Rectangle 133">
            <a:extLst>
              <a:ext uri="{FF2B5EF4-FFF2-40B4-BE49-F238E27FC236}">
                <a16:creationId xmlns:a16="http://schemas.microsoft.com/office/drawing/2014/main" id="{4A330624-58C7-C998-F3FF-B285E899EDCD}"/>
              </a:ext>
            </a:extLst>
          </p:cNvPr>
          <p:cNvSpPr/>
          <p:nvPr/>
        </p:nvSpPr>
        <p:spPr>
          <a:xfrm>
            <a:off x="9086849"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a:extLst>
              <a:ext uri="{FF2B5EF4-FFF2-40B4-BE49-F238E27FC236}">
                <a16:creationId xmlns:a16="http://schemas.microsoft.com/office/drawing/2014/main" id="{A9789ABB-DF0E-0FB1-67D4-AC4A1FDB65B8}"/>
              </a:ext>
            </a:extLst>
          </p:cNvPr>
          <p:cNvSpPr txBox="1"/>
          <p:nvPr/>
        </p:nvSpPr>
        <p:spPr>
          <a:xfrm>
            <a:off x="9251441" y="5539118"/>
            <a:ext cx="739754" cy="369332"/>
          </a:xfrm>
          <a:prstGeom prst="rect">
            <a:avLst/>
          </a:prstGeom>
          <a:noFill/>
        </p:spPr>
        <p:txBody>
          <a:bodyPr wrap="none">
            <a:spAutoFit/>
          </a:bodyPr>
          <a:lstStyle/>
          <a:p>
            <a:r>
              <a:rPr b="1">
                <a:solidFill>
                  <a:srgbClr val="EC7875"/>
                </a:solidFill>
                <a:latin typeface="Aptos"/>
              </a:rPr>
              <a:t>STOP</a:t>
            </a:r>
          </a:p>
        </p:txBody>
      </p:sp>
      <p:sp>
        <p:nvSpPr>
          <p:cNvPr id="138" name="TextBox 137">
            <a:extLst>
              <a:ext uri="{FF2B5EF4-FFF2-40B4-BE49-F238E27FC236}">
                <a16:creationId xmlns:a16="http://schemas.microsoft.com/office/drawing/2014/main" id="{247A2245-0609-21FC-F39B-C1238E384AEE}"/>
              </a:ext>
            </a:extLst>
          </p:cNvPr>
          <p:cNvSpPr txBox="1"/>
          <p:nvPr/>
        </p:nvSpPr>
        <p:spPr>
          <a:xfrm>
            <a:off x="9251440" y="5762854"/>
            <a:ext cx="2827783" cy="923330"/>
          </a:xfrm>
          <a:prstGeom prst="rect">
            <a:avLst/>
          </a:prstGeom>
          <a:noFill/>
        </p:spPr>
        <p:txBody>
          <a:bodyPr wrap="square">
            <a:spAutoFit/>
          </a:bodyPr>
          <a:lstStyle/>
          <a:p>
            <a:r>
              <a:rPr>
                <a:solidFill>
                  <a:schemeClr val="bg1"/>
                </a:solidFill>
                <a:latin typeface="Aptos"/>
              </a:rPr>
              <a:t>Low-value projects that absorb leadership attention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1" i="0" u="none" strike="noStrike" kern="1200" cap="none" spc="0" normalizeH="0" baseline="0" noProof="0" dirty="0">
                <a:ln>
                  <a:noFill/>
                </a:ln>
                <a:solidFill>
                  <a:srgbClr val="E7E5D6"/>
                </a:solidFill>
                <a:effectLst/>
                <a:uLnTx/>
                <a:uFillTx/>
                <a:latin typeface="Georgia"/>
                <a:ea typeface="+mn-ea"/>
                <a:cs typeface="+mn-cs"/>
              </a:rPr>
              <a:t>FIND</a:t>
            </a:r>
            <a:r>
              <a:rPr kumimoji="0" lang="en-ZA" sz="2400" b="1" i="0" u="none" strike="noStrike" kern="1200" cap="none" spc="0" normalizeH="0" baseline="0" noProof="0" dirty="0">
                <a:ln>
                  <a:noFill/>
                </a:ln>
                <a:solidFill>
                  <a:srgbClr val="E7E5D6"/>
                </a:solidFill>
                <a:effectLst/>
                <a:uLnTx/>
                <a:uFillTx/>
                <a:latin typeface="Georgia"/>
                <a:ea typeface="+mn-ea"/>
                <a:cs typeface="+mn-cs"/>
              </a:rPr>
              <a:t> </a:t>
            </a:r>
            <a:r>
              <a:rPr kumimoji="0" lang="en-ZA" sz="2000" b="1" i="0" u="none" strike="noStrike" kern="1200" cap="none" spc="0" normalizeH="0" baseline="0" noProof="0" dirty="0">
                <a:ln>
                  <a:noFill/>
                </a:ln>
                <a:solidFill>
                  <a:srgbClr val="E7E5D6"/>
                </a:solidFill>
                <a:effectLst/>
                <a:uLnTx/>
                <a:uFillTx/>
                <a:latin typeface="Georgia"/>
                <a:ea typeface="+mn-ea"/>
                <a:cs typeface="+mn-cs"/>
              </a:rPr>
              <a:t>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chemeClr val="tx1">
                    <a:lumMod val="50000"/>
                    <a:lumOff val="50000"/>
                  </a:schemeClr>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tx1">
                    <a:lumMod val="50000"/>
                    <a:lumOff val="50000"/>
                  </a:schemeClr>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10481652"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Reading across the four KISS domains, four recurring strategic themes emerge:</a:t>
            </a:r>
          </a:p>
        </p:txBody>
      </p:sp>
      <p:sp>
        <p:nvSpPr>
          <p:cNvPr id="10" name="Rounded Rectangle 9"/>
          <p:cNvSpPr/>
          <p:nvPr/>
        </p:nvSpPr>
        <p:spPr>
          <a:xfrm>
            <a:off x="502920" y="2487168"/>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624328"/>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01</a:t>
            </a:r>
          </a:p>
        </p:txBody>
      </p:sp>
      <p:sp>
        <p:nvSpPr>
          <p:cNvPr id="12" name="Rectangle 11"/>
          <p:cNvSpPr/>
          <p:nvPr/>
        </p:nvSpPr>
        <p:spPr>
          <a:xfrm>
            <a:off x="1325880" y="2596896"/>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1572768" y="2587752"/>
            <a:ext cx="3848233"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chemeClr val="bg1"/>
                </a:solidFill>
                <a:effectLst/>
                <a:uLnTx/>
                <a:uFillTx/>
                <a:latin typeface="Aptos"/>
                <a:ea typeface="+mn-ea"/>
                <a:cs typeface="+mn-cs"/>
              </a:rPr>
              <a:t>Customer responsiveness</a:t>
            </a:r>
          </a:p>
        </p:txBody>
      </p:sp>
      <p:sp>
        <p:nvSpPr>
          <p:cNvPr id="14" name="Rounded Rectangle 13"/>
          <p:cNvSpPr/>
          <p:nvPr/>
        </p:nvSpPr>
        <p:spPr>
          <a:xfrm>
            <a:off x="502920" y="3465576"/>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713232" y="3602736"/>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02</a:t>
            </a:r>
          </a:p>
        </p:txBody>
      </p:sp>
      <p:sp>
        <p:nvSpPr>
          <p:cNvPr id="16" name="Rectangle 15"/>
          <p:cNvSpPr/>
          <p:nvPr/>
        </p:nvSpPr>
        <p:spPr>
          <a:xfrm>
            <a:off x="1325880" y="3575304"/>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1572768" y="3566160"/>
            <a:ext cx="249850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Execution speed</a:t>
            </a:r>
          </a:p>
        </p:txBody>
      </p:sp>
      <p:sp>
        <p:nvSpPr>
          <p:cNvPr id="18" name="Rounded Rectangle 17"/>
          <p:cNvSpPr/>
          <p:nvPr/>
        </p:nvSpPr>
        <p:spPr>
          <a:xfrm>
            <a:off x="502920" y="4443984"/>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713232" y="4581144"/>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03</a:t>
            </a:r>
          </a:p>
        </p:txBody>
      </p:sp>
      <p:sp>
        <p:nvSpPr>
          <p:cNvPr id="20" name="Rectangle 19"/>
          <p:cNvSpPr/>
          <p:nvPr/>
        </p:nvSpPr>
        <p:spPr>
          <a:xfrm>
            <a:off x="1325880" y="4553712"/>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1572768" y="4544568"/>
            <a:ext cx="3178947"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Collaboration culture</a:t>
            </a:r>
          </a:p>
        </p:txBody>
      </p:sp>
      <p:sp>
        <p:nvSpPr>
          <p:cNvPr id="22" name="Rounded Rectangle 21"/>
          <p:cNvSpPr/>
          <p:nvPr/>
        </p:nvSpPr>
        <p:spPr>
          <a:xfrm>
            <a:off x="502920" y="5422392"/>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3" name="TextBox 22"/>
          <p:cNvSpPr txBox="1"/>
          <p:nvPr/>
        </p:nvSpPr>
        <p:spPr>
          <a:xfrm>
            <a:off x="713232" y="5559552"/>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04</a:t>
            </a:r>
          </a:p>
        </p:txBody>
      </p:sp>
      <p:sp>
        <p:nvSpPr>
          <p:cNvPr id="24" name="Rectangle 23"/>
          <p:cNvSpPr/>
          <p:nvPr/>
        </p:nvSpPr>
        <p:spPr>
          <a:xfrm>
            <a:off x="1325880" y="5532120"/>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p:cNvSpPr txBox="1"/>
          <p:nvPr/>
        </p:nvSpPr>
        <p:spPr>
          <a:xfrm>
            <a:off x="1572768" y="5522976"/>
            <a:ext cx="219534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Value creation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9040167"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Translate each strategic theme into one clear, qualitative Objective.</a:t>
            </a:r>
          </a:p>
        </p:txBody>
      </p:sp>
      <p:sp>
        <p:nvSpPr>
          <p:cNvPr id="10" name="Rounded Rectangle 9"/>
          <p:cNvSpPr/>
          <p:nvPr/>
        </p:nvSpPr>
        <p:spPr>
          <a:xfrm>
            <a:off x="502920" y="2423160"/>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551176"/>
            <a:ext cx="2839175"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CDAB49"/>
                </a:solidFill>
                <a:effectLst/>
                <a:uLnTx/>
                <a:uFillTx/>
                <a:latin typeface="Calibri"/>
                <a:ea typeface="+mn-ea"/>
                <a:cs typeface="+mn-cs"/>
              </a:rPr>
              <a:t>Customer responsiveness</a:t>
            </a:r>
          </a:p>
        </p:txBody>
      </p:sp>
      <p:sp>
        <p:nvSpPr>
          <p:cNvPr id="12" name="TextBox 11"/>
          <p:cNvSpPr txBox="1"/>
          <p:nvPr/>
        </p:nvSpPr>
        <p:spPr>
          <a:xfrm>
            <a:off x="3459303" y="2532888"/>
            <a:ext cx="8019465"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1: </a:t>
            </a:r>
            <a:r>
              <a:rPr kumimoji="0" sz="2000" b="0" i="0" u="none" strike="noStrike" kern="1200" cap="none" spc="0" normalizeH="0" baseline="0" noProof="0" dirty="0">
                <a:ln>
                  <a:noFill/>
                </a:ln>
                <a:solidFill>
                  <a:srgbClr val="E7E5D6"/>
                </a:solidFill>
                <a:effectLst/>
                <a:uLnTx/>
                <a:uFillTx/>
                <a:latin typeface="Calibri"/>
                <a:ea typeface="+mn-ea"/>
                <a:cs typeface="+mn-cs"/>
              </a:rPr>
              <a:t>Deliver consistently fast </a:t>
            </a:r>
            <a:r>
              <a:rPr kumimoji="0" lang="en-ZA" sz="2000" b="0" i="0" u="none" strike="noStrike" kern="1200" cap="none" spc="0" normalizeH="0" baseline="0" noProof="0" dirty="0">
                <a:ln>
                  <a:noFill/>
                </a:ln>
                <a:solidFill>
                  <a:srgbClr val="E7E5D6"/>
                </a:solidFill>
                <a:effectLst/>
                <a:uLnTx/>
                <a:uFillTx/>
                <a:latin typeface="Calibri"/>
                <a:ea typeface="+mn-ea"/>
                <a:cs typeface="+mn-cs"/>
              </a:rPr>
              <a:t>and </a:t>
            </a:r>
            <a:r>
              <a:rPr kumimoji="0" sz="2000" b="0" i="0" u="none" strike="noStrike" kern="1200" cap="none" spc="0" normalizeH="0" baseline="0" noProof="0" dirty="0">
                <a:ln>
                  <a:noFill/>
                </a:ln>
                <a:solidFill>
                  <a:srgbClr val="E7E5D6"/>
                </a:solidFill>
                <a:effectLst/>
                <a:uLnTx/>
                <a:uFillTx/>
                <a:latin typeface="Calibri"/>
                <a:ea typeface="+mn-ea"/>
                <a:cs typeface="+mn-cs"/>
              </a:rPr>
              <a:t>effortless service experiences for customers</a:t>
            </a:r>
          </a:p>
        </p:txBody>
      </p:sp>
      <p:sp>
        <p:nvSpPr>
          <p:cNvPr id="13" name="Rounded Rectangle 12"/>
          <p:cNvSpPr/>
          <p:nvPr/>
        </p:nvSpPr>
        <p:spPr>
          <a:xfrm>
            <a:off x="502920" y="3364992"/>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4" name="TextBox 13"/>
          <p:cNvSpPr txBox="1"/>
          <p:nvPr/>
        </p:nvSpPr>
        <p:spPr>
          <a:xfrm>
            <a:off x="713232" y="3493008"/>
            <a:ext cx="188513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Execution speed</a:t>
            </a:r>
          </a:p>
        </p:txBody>
      </p:sp>
      <p:sp>
        <p:nvSpPr>
          <p:cNvPr id="15" name="TextBox 14"/>
          <p:cNvSpPr txBox="1"/>
          <p:nvPr/>
        </p:nvSpPr>
        <p:spPr>
          <a:xfrm>
            <a:off x="2660488" y="3523778"/>
            <a:ext cx="8634045"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2: </a:t>
            </a:r>
            <a:r>
              <a:rPr kumimoji="0" sz="2000" b="0" i="0" u="none" strike="noStrike" kern="1200" cap="none" spc="0" normalizeH="0" baseline="0" noProof="0" dirty="0">
                <a:ln>
                  <a:noFill/>
                </a:ln>
                <a:solidFill>
                  <a:srgbClr val="E7E5D6"/>
                </a:solidFill>
                <a:effectLst/>
                <a:uLnTx/>
                <a:uFillTx/>
                <a:latin typeface="Calibri"/>
                <a:ea typeface="+mn-ea"/>
                <a:cs typeface="+mn-cs"/>
              </a:rPr>
              <a:t>Build a high-speed execution engine that moves quickly from insight to action</a:t>
            </a:r>
          </a:p>
        </p:txBody>
      </p:sp>
      <p:sp>
        <p:nvSpPr>
          <p:cNvPr id="16" name="Rounded Rectangle 15"/>
          <p:cNvSpPr/>
          <p:nvPr/>
        </p:nvSpPr>
        <p:spPr>
          <a:xfrm>
            <a:off x="502920" y="4306824"/>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713232" y="4434839"/>
            <a:ext cx="238417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Collaboration culture</a:t>
            </a:r>
          </a:p>
        </p:txBody>
      </p:sp>
      <p:sp>
        <p:nvSpPr>
          <p:cNvPr id="18" name="TextBox 17"/>
          <p:cNvSpPr txBox="1"/>
          <p:nvPr/>
        </p:nvSpPr>
        <p:spPr>
          <a:xfrm>
            <a:off x="3154680" y="4416552"/>
            <a:ext cx="8458200" cy="40010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3: </a:t>
            </a:r>
            <a:r>
              <a:rPr kumimoji="0" sz="2000" b="0" i="0" u="none" strike="noStrike" kern="1200" cap="none" spc="0" normalizeH="0" baseline="0" noProof="0" dirty="0">
                <a:ln>
                  <a:noFill/>
                </a:ln>
                <a:solidFill>
                  <a:srgbClr val="E7E5D6"/>
                </a:solidFill>
                <a:effectLst/>
                <a:uLnTx/>
                <a:uFillTx/>
                <a:latin typeface="Calibri"/>
                <a:ea typeface="+mn-ea"/>
                <a:cs typeface="+mn-cs"/>
              </a:rPr>
              <a:t>Create a culture of shared ownership across functions for strategic priorities</a:t>
            </a:r>
          </a:p>
        </p:txBody>
      </p:sp>
      <p:sp>
        <p:nvSpPr>
          <p:cNvPr id="19" name="Rounded Rectangle 18"/>
          <p:cNvSpPr/>
          <p:nvPr/>
        </p:nvSpPr>
        <p:spPr>
          <a:xfrm>
            <a:off x="502920" y="5248655"/>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0" name="TextBox 19"/>
          <p:cNvSpPr txBox="1"/>
          <p:nvPr/>
        </p:nvSpPr>
        <p:spPr>
          <a:xfrm>
            <a:off x="713232" y="5376671"/>
            <a:ext cx="167943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Value creation</a:t>
            </a:r>
          </a:p>
        </p:txBody>
      </p:sp>
      <p:sp>
        <p:nvSpPr>
          <p:cNvPr id="21" name="TextBox 20"/>
          <p:cNvSpPr txBox="1"/>
          <p:nvPr/>
        </p:nvSpPr>
        <p:spPr>
          <a:xfrm>
            <a:off x="2468880" y="5381123"/>
            <a:ext cx="8825653"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4: </a:t>
            </a:r>
            <a:r>
              <a:rPr kumimoji="0" sz="2000" b="0" i="0" u="none" strike="noStrike" kern="1200" cap="none" spc="0" normalizeH="0" baseline="0" noProof="0" dirty="0">
                <a:ln>
                  <a:noFill/>
                </a:ln>
                <a:solidFill>
                  <a:srgbClr val="E7E5D6"/>
                </a:solidFill>
                <a:effectLst/>
                <a:uLnTx/>
                <a:uFillTx/>
                <a:latin typeface="Calibri"/>
                <a:ea typeface="+mn-ea"/>
                <a:cs typeface="+mn-cs"/>
              </a:rPr>
              <a:t>Strengthen enterprise performance through scalable and efficient operations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8684"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10292498"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Define measurable Key Results using: Verb + Metric + From X to Y + Deadline.</a:t>
            </a:r>
          </a:p>
        </p:txBody>
      </p:sp>
      <p:sp>
        <p:nvSpPr>
          <p:cNvPr id="10" name="Rounded Rectangle 9"/>
          <p:cNvSpPr/>
          <p:nvPr/>
        </p:nvSpPr>
        <p:spPr>
          <a:xfrm>
            <a:off x="502920" y="2423160"/>
            <a:ext cx="11183112" cy="329184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31520" y="2633472"/>
            <a:ext cx="9974205" cy="874535"/>
          </a:xfrm>
          <a:prstGeom prst="rect">
            <a:avLst/>
          </a:prstGeom>
          <a:noFill/>
        </p:spPr>
        <p:txBody>
          <a:bodyPr wrap="none">
            <a:spAutoFit/>
          </a:bodyPr>
          <a:lstStyle/>
          <a:p>
            <a:pPr marL="0" marR="0" lvl="0" indent="0" algn="l" defTabSz="457200" rtl="0" eaLnBrk="1" fontAlgn="auto" latinLnBrk="0" hangingPunct="1">
              <a:lnSpc>
                <a:spcPct val="11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OBJECTIVE 1</a:t>
            </a:r>
          </a:p>
          <a:p>
            <a:pPr marL="0" marR="0" lvl="0" indent="0" algn="l" defTabSz="457200" rtl="0" eaLnBrk="1" fontAlgn="auto" latinLnBrk="0" hangingPunct="1">
              <a:lnSpc>
                <a:spcPct val="11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Georgia"/>
                <a:ea typeface="+mn-ea"/>
                <a:cs typeface="+mn-cs"/>
              </a:rPr>
              <a:t>Deliver consistently fast and effortless service experiences for customers</a:t>
            </a:r>
          </a:p>
        </p:txBody>
      </p:sp>
      <p:grpSp>
        <p:nvGrpSpPr>
          <p:cNvPr id="23" name="Group 22">
            <a:extLst>
              <a:ext uri="{FF2B5EF4-FFF2-40B4-BE49-F238E27FC236}">
                <a16:creationId xmlns:a16="http://schemas.microsoft.com/office/drawing/2014/main" id="{B8908496-1B73-772A-F935-E71C8089FBA5}"/>
              </a:ext>
            </a:extLst>
          </p:cNvPr>
          <p:cNvGrpSpPr/>
          <p:nvPr/>
        </p:nvGrpSpPr>
        <p:grpSpPr>
          <a:xfrm>
            <a:off x="749807" y="3559392"/>
            <a:ext cx="10790259" cy="2026817"/>
            <a:chOff x="749807" y="3559390"/>
            <a:chExt cx="12645238" cy="1461778"/>
          </a:xfrm>
        </p:grpSpPr>
        <p:sp>
          <p:nvSpPr>
            <p:cNvPr id="12" name="Rounded Rectangle 11"/>
            <p:cNvSpPr/>
            <p:nvPr/>
          </p:nvSpPr>
          <p:spPr>
            <a:xfrm>
              <a:off x="749807" y="3559390"/>
              <a:ext cx="12645238" cy="621792"/>
            </a:xfrm>
            <a:prstGeom prst="roundRect">
              <a:avLst/>
            </a:prstGeom>
            <a:solidFill>
              <a:srgbClr val="1220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749808" y="3690351"/>
              <a:ext cx="75052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KR 1</a:t>
              </a:r>
            </a:p>
          </p:txBody>
        </p:sp>
        <p:sp>
          <p:nvSpPr>
            <p:cNvPr id="14" name="TextBox 13"/>
            <p:cNvSpPr txBox="1"/>
            <p:nvPr/>
          </p:nvSpPr>
          <p:spPr>
            <a:xfrm>
              <a:off x="1683213" y="3568029"/>
              <a:ext cx="10817070" cy="599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Reduce average response time to customer requests from 12 hours to 4 hours by 30 June 2027</a:t>
              </a:r>
            </a:p>
          </p:txBody>
        </p:sp>
        <p:sp>
          <p:nvSpPr>
            <p:cNvPr id="15" name="Rounded Rectangle 14"/>
            <p:cNvSpPr/>
            <p:nvPr/>
          </p:nvSpPr>
          <p:spPr>
            <a:xfrm>
              <a:off x="749808" y="4382350"/>
              <a:ext cx="12645237" cy="621792"/>
            </a:xfrm>
            <a:prstGeom prst="roundRect">
              <a:avLst/>
            </a:prstGeom>
            <a:solidFill>
              <a:srgbClr val="1220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6" name="TextBox 15"/>
            <p:cNvSpPr txBox="1"/>
            <p:nvPr/>
          </p:nvSpPr>
          <p:spPr>
            <a:xfrm>
              <a:off x="749807" y="4535881"/>
              <a:ext cx="75052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KR 2</a:t>
              </a:r>
            </a:p>
          </p:txBody>
        </p:sp>
        <p:sp>
          <p:nvSpPr>
            <p:cNvPr id="17" name="TextBox 16"/>
            <p:cNvSpPr txBox="1"/>
            <p:nvPr/>
          </p:nvSpPr>
          <p:spPr>
            <a:xfrm>
              <a:off x="1659737" y="4421838"/>
              <a:ext cx="10375971" cy="599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Increase customer requests resolved at first contact from 60% to 85% by 30 September 2027</a:t>
              </a:r>
            </a:p>
          </p:txBody>
        </p:sp>
      </p:grpSp>
      <p:sp>
        <p:nvSpPr>
          <p:cNvPr id="18" name="TextBox 17"/>
          <p:cNvSpPr txBox="1"/>
          <p:nvPr/>
        </p:nvSpPr>
        <p:spPr>
          <a:xfrm>
            <a:off x="882904" y="5932222"/>
            <a:ext cx="9743373"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effectLst/>
                <a:uLnTx/>
                <a:uFillTx/>
                <a:latin typeface="Calibri"/>
                <a:ea typeface="+mn-ea"/>
                <a:cs typeface="+mn-cs"/>
              </a:rPr>
              <a:t>Contributing roles: </a:t>
            </a:r>
            <a:r>
              <a:rPr kumimoji="0" sz="2400" b="0" i="0" u="none" strike="noStrike" kern="1200" cap="none" spc="0" normalizeH="0" baseline="0" noProof="0" dirty="0">
                <a:ln>
                  <a:noFill/>
                </a:ln>
                <a:effectLst/>
                <a:uLnTx/>
                <a:uFillTx/>
                <a:latin typeface="Calibri"/>
                <a:ea typeface="+mn-ea"/>
                <a:cs typeface="+mn-cs"/>
              </a:rPr>
              <a:t>Commercial · Operations · Customer Service · Technology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881927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Test each OKR before it goes forward. Objective 1 is shown below.</a:t>
            </a:r>
          </a:p>
        </p:txBody>
      </p:sp>
      <p:grpSp>
        <p:nvGrpSpPr>
          <p:cNvPr id="26" name="Group 25">
            <a:extLst>
              <a:ext uri="{FF2B5EF4-FFF2-40B4-BE49-F238E27FC236}">
                <a16:creationId xmlns:a16="http://schemas.microsoft.com/office/drawing/2014/main" id="{5BA05454-D228-80DA-EE91-B2D01266441F}"/>
              </a:ext>
            </a:extLst>
          </p:cNvPr>
          <p:cNvGrpSpPr/>
          <p:nvPr/>
        </p:nvGrpSpPr>
        <p:grpSpPr>
          <a:xfrm>
            <a:off x="502920" y="2423159"/>
            <a:ext cx="11183112" cy="3909907"/>
            <a:chOff x="502920" y="2423160"/>
            <a:chExt cx="11183112" cy="3236976"/>
          </a:xfrm>
        </p:grpSpPr>
        <p:sp>
          <p:nvSpPr>
            <p:cNvPr id="10" name="Rounded Rectangle 9"/>
            <p:cNvSpPr/>
            <p:nvPr/>
          </p:nvSpPr>
          <p:spPr>
            <a:xfrm>
              <a:off x="502920" y="2423160"/>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551176"/>
              <a:ext cx="196111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SiP Alignment</a:t>
              </a:r>
            </a:p>
          </p:txBody>
        </p:sp>
        <p:sp>
          <p:nvSpPr>
            <p:cNvPr id="12" name="TextBox 11"/>
            <p:cNvSpPr txBox="1"/>
            <p:nvPr/>
          </p:nvSpPr>
          <p:spPr>
            <a:xfrm>
              <a:off x="2876971" y="2542032"/>
              <a:ext cx="6373668"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Does this move us closer to the shared </a:t>
              </a:r>
              <a:r>
                <a:rPr kumimoji="0" sz="2400" b="0" i="0" u="none" strike="noStrike" kern="1200" cap="none" spc="0" normalizeH="0" baseline="0" noProof="0" dirty="0" err="1">
                  <a:ln>
                    <a:noFill/>
                  </a:ln>
                  <a:solidFill>
                    <a:srgbClr val="E7E5D6"/>
                  </a:solidFill>
                  <a:effectLst/>
                  <a:uLnTx/>
                  <a:uFillTx/>
                  <a:latin typeface="Calibri"/>
                  <a:ea typeface="+mn-ea"/>
                  <a:cs typeface="+mn-cs"/>
                </a:rPr>
                <a:t>SiP</a:t>
              </a:r>
              <a:r>
                <a:rPr kumimoji="0" sz="2400" b="0" i="0" u="none" strike="noStrike" kern="1200" cap="none" spc="0" normalizeH="0" baseline="0" noProof="0" dirty="0">
                  <a:ln>
                    <a:noFill/>
                  </a:ln>
                  <a:solidFill>
                    <a:srgbClr val="E7E5D6"/>
                  </a:solidFill>
                  <a:effectLst/>
                  <a:uLnTx/>
                  <a:uFillTx/>
                  <a:latin typeface="Calibri"/>
                  <a:ea typeface="+mn-ea"/>
                  <a:cs typeface="+mn-cs"/>
                </a:rPr>
                <a:t> vision?</a:t>
              </a:r>
            </a:p>
          </p:txBody>
        </p:sp>
        <p:sp>
          <p:nvSpPr>
            <p:cNvPr id="13" name="TextBox 12"/>
            <p:cNvSpPr txBox="1"/>
            <p:nvPr/>
          </p:nvSpPr>
          <p:spPr>
            <a:xfrm>
              <a:off x="10998150" y="2578608"/>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78D7A4"/>
                  </a:solidFill>
                  <a:effectLst/>
                  <a:uLnTx/>
                  <a:uFillTx/>
                  <a:latin typeface="Calibri"/>
                  <a:ea typeface="+mn-ea"/>
                  <a:cs typeface="+mn-cs"/>
                </a:rPr>
                <a:t>YES</a:t>
              </a:r>
            </a:p>
          </p:txBody>
        </p:sp>
        <p:sp>
          <p:nvSpPr>
            <p:cNvPr id="14" name="Rounded Rectangle 13"/>
            <p:cNvSpPr/>
            <p:nvPr/>
          </p:nvSpPr>
          <p:spPr>
            <a:xfrm>
              <a:off x="502920" y="3264408"/>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713232" y="3392424"/>
              <a:ext cx="2276970"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Enterprise Value</a:t>
              </a:r>
            </a:p>
          </p:txBody>
        </p:sp>
        <p:sp>
          <p:nvSpPr>
            <p:cNvPr id="16" name="TextBox 15"/>
            <p:cNvSpPr txBox="1"/>
            <p:nvPr/>
          </p:nvSpPr>
          <p:spPr>
            <a:xfrm>
              <a:off x="2876971" y="3383279"/>
              <a:ext cx="7583486"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Would leaders see this as a win for the whole organisation?</a:t>
              </a:r>
            </a:p>
          </p:txBody>
        </p:sp>
        <p:sp>
          <p:nvSpPr>
            <p:cNvPr id="17" name="TextBox 16"/>
            <p:cNvSpPr txBox="1"/>
            <p:nvPr/>
          </p:nvSpPr>
          <p:spPr>
            <a:xfrm>
              <a:off x="10998150" y="3419856"/>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sp>
          <p:nvSpPr>
            <p:cNvPr id="18" name="Rounded Rectangle 17"/>
            <p:cNvSpPr/>
            <p:nvPr/>
          </p:nvSpPr>
          <p:spPr>
            <a:xfrm>
              <a:off x="502920" y="4105656"/>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713232" y="4233672"/>
              <a:ext cx="199125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Visible Impact</a:t>
              </a:r>
            </a:p>
          </p:txBody>
        </p:sp>
        <p:sp>
          <p:nvSpPr>
            <p:cNvPr id="20" name="TextBox 19"/>
            <p:cNvSpPr txBox="1"/>
            <p:nvPr/>
          </p:nvSpPr>
          <p:spPr>
            <a:xfrm>
              <a:off x="2876971" y="4224528"/>
              <a:ext cx="8203336"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Does it improve customer, culture, operations or value creation?</a:t>
              </a:r>
            </a:p>
          </p:txBody>
        </p:sp>
        <p:sp>
          <p:nvSpPr>
            <p:cNvPr id="21" name="TextBox 20"/>
            <p:cNvSpPr txBox="1"/>
            <p:nvPr/>
          </p:nvSpPr>
          <p:spPr>
            <a:xfrm>
              <a:off x="10998150" y="4261104"/>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sp>
          <p:nvSpPr>
            <p:cNvPr id="22" name="Rounded Rectangle 21"/>
            <p:cNvSpPr/>
            <p:nvPr/>
          </p:nvSpPr>
          <p:spPr>
            <a:xfrm>
              <a:off x="502920" y="4946904"/>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3" name="TextBox 22"/>
            <p:cNvSpPr txBox="1"/>
            <p:nvPr/>
          </p:nvSpPr>
          <p:spPr>
            <a:xfrm>
              <a:off x="713232" y="5074920"/>
              <a:ext cx="2019142"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Accountability</a:t>
              </a:r>
            </a:p>
          </p:txBody>
        </p:sp>
        <p:sp>
          <p:nvSpPr>
            <p:cNvPr id="24" name="TextBox 23"/>
            <p:cNvSpPr txBox="1"/>
            <p:nvPr/>
          </p:nvSpPr>
          <p:spPr>
            <a:xfrm>
              <a:off x="2876971" y="5065776"/>
              <a:ext cx="6722610"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Is there clear ownership for delivering the outcome?</a:t>
              </a:r>
            </a:p>
          </p:txBody>
        </p:sp>
        <p:sp>
          <p:nvSpPr>
            <p:cNvPr id="25" name="TextBox 24"/>
            <p:cNvSpPr txBox="1"/>
            <p:nvPr/>
          </p:nvSpPr>
          <p:spPr>
            <a:xfrm>
              <a:off x="10998150" y="5102352"/>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dirty="0">
              <a:ln>
                <a:noFill/>
              </a:ln>
              <a:solidFill>
                <a:prstClr val="white"/>
              </a:solidFill>
              <a:effectLst/>
              <a:uLnTx/>
              <a:uFillTx/>
              <a:latin typeface="Calibri"/>
              <a:ea typeface="+mn-ea"/>
              <a:cs typeface="+mn-cs"/>
            </a:endParaRPr>
          </a:p>
        </p:txBody>
      </p:sp>
      <p:sp>
        <p:nvSpPr>
          <p:cNvPr id="9" name="TextBox 8"/>
          <p:cNvSpPr txBox="1"/>
          <p:nvPr/>
        </p:nvSpPr>
        <p:spPr>
          <a:xfrm>
            <a:off x="438912" y="1736432"/>
            <a:ext cx="1072306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effectLst/>
                <a:uLnTx/>
                <a:uFillTx/>
                <a:latin typeface="Aptos"/>
                <a:ea typeface="+mn-ea"/>
                <a:cs typeface="+mn-cs"/>
              </a:rPr>
              <a:t>Place the aligned Objectives on the </a:t>
            </a:r>
            <a:r>
              <a:rPr kumimoji="0" sz="2000" b="0" i="0" u="none" strike="noStrike" kern="1200" cap="none" spc="0" normalizeH="0" baseline="0" noProof="0" dirty="0" err="1">
                <a:ln>
                  <a:noFill/>
                </a:ln>
                <a:effectLst/>
                <a:uLnTx/>
                <a:uFillTx/>
                <a:latin typeface="Aptos"/>
                <a:ea typeface="+mn-ea"/>
                <a:cs typeface="+mn-cs"/>
              </a:rPr>
              <a:t>Prioritisation</a:t>
            </a:r>
            <a:r>
              <a:rPr kumimoji="0" sz="2000" b="0" i="0" u="none" strike="noStrike" kern="1200" cap="none" spc="0" normalizeH="0" baseline="0" noProof="0" dirty="0">
                <a:ln>
                  <a:noFill/>
                </a:ln>
                <a:effectLst/>
                <a:uLnTx/>
                <a:uFillTx/>
                <a:latin typeface="Aptos"/>
                <a:ea typeface="+mn-ea"/>
                <a:cs typeface="+mn-cs"/>
              </a:rPr>
              <a:t> Matrix according to strategic impact and effort.</a:t>
            </a:r>
          </a:p>
        </p:txBody>
      </p:sp>
      <p:sp>
        <p:nvSpPr>
          <p:cNvPr id="10" name="TextBox 9"/>
          <p:cNvSpPr txBox="1"/>
          <p:nvPr/>
        </p:nvSpPr>
        <p:spPr>
          <a:xfrm>
            <a:off x="1987735" y="2313431"/>
            <a:ext cx="1548052"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LOW EFFORT</a:t>
            </a:r>
          </a:p>
        </p:txBody>
      </p:sp>
      <p:sp>
        <p:nvSpPr>
          <p:cNvPr id="11" name="TextBox 10"/>
          <p:cNvSpPr txBox="1"/>
          <p:nvPr/>
        </p:nvSpPr>
        <p:spPr>
          <a:xfrm>
            <a:off x="5060896" y="2313431"/>
            <a:ext cx="2012538"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MEDIUM EFFORT</a:t>
            </a:r>
          </a:p>
        </p:txBody>
      </p:sp>
      <p:sp>
        <p:nvSpPr>
          <p:cNvPr id="12" name="TextBox 11"/>
          <p:cNvSpPr txBox="1"/>
          <p:nvPr/>
        </p:nvSpPr>
        <p:spPr>
          <a:xfrm>
            <a:off x="8881995" y="2313431"/>
            <a:ext cx="1597360"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HIGH EFFORT</a:t>
            </a:r>
          </a:p>
        </p:txBody>
      </p:sp>
      <p:sp>
        <p:nvSpPr>
          <p:cNvPr id="13" name="TextBox 12"/>
          <p:cNvSpPr txBox="1"/>
          <p:nvPr/>
        </p:nvSpPr>
        <p:spPr>
          <a:xfrm>
            <a:off x="289473" y="3075057"/>
            <a:ext cx="1013547"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HIGH </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14" name="Rounded Rectangle 13"/>
          <p:cNvSpPr/>
          <p:nvPr/>
        </p:nvSpPr>
        <p:spPr>
          <a:xfrm>
            <a:off x="1406139" y="2741269"/>
            <a:ext cx="3079455"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1523188" y="2891590"/>
            <a:ext cx="2500493"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STRATEGIC CATALYSTS</a:t>
            </a:r>
          </a:p>
        </p:txBody>
      </p:sp>
      <p:sp>
        <p:nvSpPr>
          <p:cNvPr id="16" name="TextBox 15"/>
          <p:cNvSpPr txBox="1"/>
          <p:nvPr/>
        </p:nvSpPr>
        <p:spPr>
          <a:xfrm>
            <a:off x="1523188" y="3307863"/>
            <a:ext cx="2194512"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2 · Execution speed</a:t>
            </a:r>
          </a:p>
        </p:txBody>
      </p:sp>
      <p:sp>
        <p:nvSpPr>
          <p:cNvPr id="17" name="Rounded Rectangle 16"/>
          <p:cNvSpPr/>
          <p:nvPr/>
        </p:nvSpPr>
        <p:spPr>
          <a:xfrm>
            <a:off x="4574235" y="2741269"/>
            <a:ext cx="330822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18" name="TextBox 17"/>
          <p:cNvSpPr txBox="1"/>
          <p:nvPr/>
        </p:nvSpPr>
        <p:spPr>
          <a:xfrm>
            <a:off x="4581224" y="2891590"/>
            <a:ext cx="281044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ACCELERATED ENABLERS</a:t>
            </a:r>
          </a:p>
        </p:txBody>
      </p:sp>
      <p:sp>
        <p:nvSpPr>
          <p:cNvPr id="19" name="TextBox 18"/>
          <p:cNvSpPr txBox="1"/>
          <p:nvPr/>
        </p:nvSpPr>
        <p:spPr>
          <a:xfrm>
            <a:off x="4581224" y="3307863"/>
            <a:ext cx="314855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1 · Customer responsiveness</a:t>
            </a:r>
          </a:p>
        </p:txBody>
      </p:sp>
      <p:sp>
        <p:nvSpPr>
          <p:cNvPr id="23" name="TextBox 22"/>
          <p:cNvSpPr txBox="1"/>
          <p:nvPr/>
        </p:nvSpPr>
        <p:spPr>
          <a:xfrm>
            <a:off x="164753" y="4244395"/>
            <a:ext cx="1213794"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MEDIUM </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24" name="Rounded Rectangle 23"/>
          <p:cNvSpPr/>
          <p:nvPr/>
        </p:nvSpPr>
        <p:spPr>
          <a:xfrm>
            <a:off x="1406139" y="4047907"/>
            <a:ext cx="3079455"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p:cNvSpPr txBox="1"/>
          <p:nvPr/>
        </p:nvSpPr>
        <p:spPr>
          <a:xfrm>
            <a:off x="1523189" y="4198228"/>
            <a:ext cx="2816156"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B2B4A7"/>
                </a:solidFill>
                <a:effectLst/>
                <a:uLnTx/>
                <a:uFillTx/>
                <a:latin typeface="Calibri"/>
                <a:ea typeface="+mn-ea"/>
                <a:cs typeface="+mn-cs"/>
              </a:rPr>
              <a:t>QUICK EFFICIENCY PLAYS</a:t>
            </a:r>
          </a:p>
        </p:txBody>
      </p:sp>
      <p:sp>
        <p:nvSpPr>
          <p:cNvPr id="26" name="Rounded Rectangle 25"/>
          <p:cNvSpPr/>
          <p:nvPr/>
        </p:nvSpPr>
        <p:spPr>
          <a:xfrm>
            <a:off x="4574235" y="4047907"/>
            <a:ext cx="330822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4581224" y="4198228"/>
            <a:ext cx="344228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TARGETED GROWTH PROJECTS</a:t>
            </a:r>
          </a:p>
        </p:txBody>
      </p:sp>
      <p:sp>
        <p:nvSpPr>
          <p:cNvPr id="31" name="TextBox 30"/>
          <p:cNvSpPr txBox="1"/>
          <p:nvPr/>
        </p:nvSpPr>
        <p:spPr>
          <a:xfrm>
            <a:off x="255598" y="5429221"/>
            <a:ext cx="1013547"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LOW</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32" name="Rounded Rectangle 31"/>
          <p:cNvSpPr/>
          <p:nvPr/>
        </p:nvSpPr>
        <p:spPr>
          <a:xfrm>
            <a:off x="1406139" y="5354548"/>
            <a:ext cx="3079455"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33" name="TextBox 32"/>
          <p:cNvSpPr txBox="1"/>
          <p:nvPr/>
        </p:nvSpPr>
        <p:spPr>
          <a:xfrm>
            <a:off x="1523189" y="5504869"/>
            <a:ext cx="2681953"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SUPPORTIVE ENABLERS</a:t>
            </a:r>
          </a:p>
        </p:txBody>
      </p:sp>
      <p:sp>
        <p:nvSpPr>
          <p:cNvPr id="34" name="Rounded Rectangle 33"/>
          <p:cNvSpPr/>
          <p:nvPr/>
        </p:nvSpPr>
        <p:spPr>
          <a:xfrm>
            <a:off x="4574235" y="5354548"/>
            <a:ext cx="330822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35" name="TextBox 34"/>
          <p:cNvSpPr txBox="1"/>
          <p:nvPr/>
        </p:nvSpPr>
        <p:spPr>
          <a:xfrm>
            <a:off x="4581224" y="5504869"/>
            <a:ext cx="293227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MARGINAL UTILITY TASKS</a:t>
            </a:r>
          </a:p>
        </p:txBody>
      </p:sp>
      <p:grpSp>
        <p:nvGrpSpPr>
          <p:cNvPr id="39" name="Group 38">
            <a:extLst>
              <a:ext uri="{FF2B5EF4-FFF2-40B4-BE49-F238E27FC236}">
                <a16:creationId xmlns:a16="http://schemas.microsoft.com/office/drawing/2014/main" id="{04B4ADC6-C1B3-5875-7286-1C997F2C2D5A}"/>
              </a:ext>
            </a:extLst>
          </p:cNvPr>
          <p:cNvGrpSpPr/>
          <p:nvPr/>
        </p:nvGrpSpPr>
        <p:grpSpPr>
          <a:xfrm>
            <a:off x="7971104" y="2741269"/>
            <a:ext cx="3459053" cy="3769597"/>
            <a:chOff x="6929702" y="2741269"/>
            <a:chExt cx="3459053" cy="3769597"/>
          </a:xfrm>
        </p:grpSpPr>
        <p:sp>
          <p:nvSpPr>
            <p:cNvPr id="20" name="Rounded Rectangle 19"/>
            <p:cNvSpPr/>
            <p:nvPr/>
          </p:nvSpPr>
          <p:spPr>
            <a:xfrm>
              <a:off x="6929702" y="2741269"/>
              <a:ext cx="344228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7063516" y="2891590"/>
              <a:ext cx="2935162"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Calibri"/>
                  <a:ea typeface="+mn-ea"/>
                  <a:cs typeface="+mn-cs"/>
                </a:rPr>
                <a:t>CORE STRATEGIC DRIVERS</a:t>
              </a:r>
            </a:p>
          </p:txBody>
        </p:sp>
        <p:sp>
          <p:nvSpPr>
            <p:cNvPr id="22" name="TextBox 21"/>
            <p:cNvSpPr txBox="1"/>
            <p:nvPr/>
          </p:nvSpPr>
          <p:spPr>
            <a:xfrm>
              <a:off x="7063516" y="3307863"/>
              <a:ext cx="269355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3 · Collaboration culture</a:t>
              </a:r>
            </a:p>
          </p:txBody>
        </p:sp>
        <p:sp>
          <p:nvSpPr>
            <p:cNvPr id="28" name="Rounded Rectangle 27"/>
            <p:cNvSpPr/>
            <p:nvPr/>
          </p:nvSpPr>
          <p:spPr>
            <a:xfrm>
              <a:off x="6929702" y="4047907"/>
              <a:ext cx="344228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9" name="TextBox 28"/>
            <p:cNvSpPr txBox="1"/>
            <p:nvPr/>
          </p:nvSpPr>
          <p:spPr>
            <a:xfrm>
              <a:off x="7063517" y="4198228"/>
              <a:ext cx="317029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HEAVY INVEST</a:t>
              </a:r>
              <a:r>
                <a:rPr kumimoji="0" lang="en-ZA" sz="2000" b="1" i="0" u="none" strike="noStrike" kern="1200" cap="none" spc="0" normalizeH="0" baseline="0" noProof="0" dirty="0">
                  <a:ln>
                    <a:noFill/>
                  </a:ln>
                  <a:solidFill>
                    <a:srgbClr val="CDAB49"/>
                  </a:solidFill>
                  <a:effectLst/>
                  <a:uLnTx/>
                  <a:uFillTx/>
                  <a:latin typeface="Calibri"/>
                  <a:ea typeface="+mn-ea"/>
                  <a:cs typeface="+mn-cs"/>
                </a:rPr>
                <a:t>.</a:t>
              </a:r>
              <a:r>
                <a:rPr kumimoji="0" sz="2000" b="1" i="0" u="none" strike="noStrike" kern="1200" cap="none" spc="0" normalizeH="0" baseline="0" noProof="0" dirty="0">
                  <a:ln>
                    <a:noFill/>
                  </a:ln>
                  <a:solidFill>
                    <a:srgbClr val="CDAB49"/>
                  </a:solidFill>
                  <a:effectLst/>
                  <a:uLnTx/>
                  <a:uFillTx/>
                  <a:latin typeface="Calibri"/>
                  <a:ea typeface="+mn-ea"/>
                  <a:cs typeface="+mn-cs"/>
                </a:rPr>
                <a:t> CANDIDATES</a:t>
              </a:r>
            </a:p>
          </p:txBody>
        </p:sp>
        <p:sp>
          <p:nvSpPr>
            <p:cNvPr id="30" name="TextBox 29"/>
            <p:cNvSpPr txBox="1"/>
            <p:nvPr/>
          </p:nvSpPr>
          <p:spPr>
            <a:xfrm>
              <a:off x="7063516" y="4614503"/>
              <a:ext cx="303628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4 · Value creation</a:t>
              </a:r>
            </a:p>
          </p:txBody>
        </p:sp>
        <p:sp>
          <p:nvSpPr>
            <p:cNvPr id="36" name="Rounded Rectangle 35"/>
            <p:cNvSpPr/>
            <p:nvPr/>
          </p:nvSpPr>
          <p:spPr>
            <a:xfrm>
              <a:off x="6946466" y="5354548"/>
              <a:ext cx="344228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dirty="0">
                <a:ln>
                  <a:noFill/>
                </a:ln>
                <a:solidFill>
                  <a:prstClr val="white"/>
                </a:solidFill>
                <a:effectLst/>
                <a:uLnTx/>
                <a:uFillTx/>
                <a:latin typeface="Calibri"/>
                <a:ea typeface="+mn-ea"/>
                <a:cs typeface="+mn-cs"/>
              </a:endParaRPr>
            </a:p>
          </p:txBody>
        </p:sp>
        <p:sp>
          <p:nvSpPr>
            <p:cNvPr id="37" name="TextBox 36"/>
            <p:cNvSpPr txBox="1"/>
            <p:nvPr/>
          </p:nvSpPr>
          <p:spPr>
            <a:xfrm>
              <a:off x="7063516" y="5504869"/>
              <a:ext cx="2304157"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RESOURCE PITFALLS</a:t>
              </a: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2" descr="Reflection 2.2: At which point in the SiP → KISS → OKR sequence does your organisation typically enter? What is the consequence of skipping the KISS stage?"/>
          <p:cNvPicPr>
            <a:picLocks noChangeAspect="1"/>
          </p:cNvPicPr>
          <p:nvPr/>
        </p:nvPicPr>
        <p:blipFill>
          <a:blip r:embed="rId3"/>
          <a:stretch>
            <a:fillRect/>
          </a:stretch>
        </p:blipFill>
        <p:spPr>
          <a:xfrm>
            <a:off x="1691640" y="1572768"/>
            <a:ext cx="9921240" cy="1482484"/>
          </a:xfrm>
          <a:prstGeom prst="rect">
            <a:avLst/>
          </a:prstGeom>
        </p:spPr>
      </p:pic>
      <p:sp>
        <p:nvSpPr>
          <p:cNvPr id="4" name="Part 2.2"/>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 OKR Hot Zones Appear?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each leadership function’s emphasis shapes the priorities it proposes.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functional contributions from the enterprise priorities they serve.</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Natural OKR Emphasis: four tendencies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Customer Experience &amp; Value</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Operational Capability &amp; Execution Rhythm</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People &amp; Culture Dynamics</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Enterprise Value Creation</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Unexamined, these perspectives turn OKRs into functional scorecards.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Natural OKR Emphasis: four execution risks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Competing definitions of success across functions</a:t>
            </a:r>
            <a:endParaRPr lang="en-US" sz="26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Fragmented measurement systems that cannot be integrated</a:t>
            </a:r>
            <a:endParaRPr lang="en-US" sz="26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Functional optimisation that stalls enterprise progress</a:t>
            </a:r>
            <a:endParaRPr lang="en-US" sz="26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Slow decision-making due to misaligned incentives</a:t>
            </a:r>
            <a:endParaRPr lang="en-US" sz="26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Recognising these patterns lets the team build a balanced execution system.</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A Hot Zone Card: the CEO</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Dominant Future Realities</a:t>
            </a:r>
            <a:endParaRPr lang="en-US" sz="24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Enterprise Value Creation · Customer Experience &amp; Value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Natural OKR Emphasis</a:t>
            </a:r>
            <a:endParaRPr lang="en-US" sz="24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ambition and market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Typical Hot Zone</a:t>
            </a:r>
            <a:endParaRPr lang="en-US" sz="24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Objectives become visionary but insufficiently grounded in operational capability</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Alignment Question</a:t>
            </a:r>
            <a:endParaRPr lang="en-US" sz="24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Do our OKRs translate ambition into outcomes the organisation can reliably deliver?</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02116"/>
        </a:solidFill>
        <a:effectLst/>
      </p:bgPr>
    </p:bg>
    <p:spTree>
      <p:nvGrpSpPr>
        <p:cNvPr id="1" name=""/>
        <p:cNvGrpSpPr/>
        <p:nvPr/>
      </p:nvGrpSpPr>
      <p:grpSpPr>
        <a:xfrm>
          <a:off x="0" y="0"/>
          <a:ext cx="0" cy="0"/>
          <a:chOff x="0" y="0"/>
          <a:chExt cx="0" cy="0"/>
        </a:xfrm>
      </p:grpSpPr>
      <p:sp>
        <p:nvSpPr>
          <p:cNvPr id="66" name="Rectangle: Rounded Corners 65">
            <a:extLst>
              <a:ext uri="{FF2B5EF4-FFF2-40B4-BE49-F238E27FC236}">
                <a16:creationId xmlns:a16="http://schemas.microsoft.com/office/drawing/2014/main" id="{86E06FF5-34B2-1188-892D-21CE18BA379B}"/>
              </a:ext>
            </a:extLst>
          </p:cNvPr>
          <p:cNvSpPr>
            <a:spLocks noGrp="1"/>
          </p:cNvSpPr>
          <p:nvPr/>
        </p:nvSpPr>
        <p:spPr>
          <a:xfrm>
            <a:off x="223388" y="2711908"/>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72" name="Rectangle 71">
            <a:extLst>
              <a:ext uri="{FF2B5EF4-FFF2-40B4-BE49-F238E27FC236}">
                <a16:creationId xmlns:a16="http://schemas.microsoft.com/office/drawing/2014/main" id="{D7015C29-8708-43A5-9A69-DB2E23B5D897}"/>
              </a:ext>
            </a:extLst>
          </p:cNvPr>
          <p:cNvSpPr>
            <a:spLocks noGrp="1"/>
          </p:cNvSpPr>
          <p:nvPr/>
        </p:nvSpPr>
        <p:spPr>
          <a:xfrm>
            <a:off x="514350" y="117021"/>
            <a:ext cx="11231660" cy="759279"/>
          </a:xfrm>
          <a:prstGeom prst="rect">
            <a:avLst/>
          </a:prstGeom>
          <a:noFill/>
          <a:ln w="0">
            <a:noFill/>
          </a:ln>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sz="2550"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Match the Role to the Natural OKR Emphasis</a:t>
            </a:r>
          </a:p>
        </p:txBody>
      </p:sp>
      <p:sp>
        <p:nvSpPr>
          <p:cNvPr id="2" name="Rectangle 1">
            <a:extLst>
              <a:ext uri="{FF2B5EF4-FFF2-40B4-BE49-F238E27FC236}">
                <a16:creationId xmlns:a16="http://schemas.microsoft.com/office/drawing/2014/main" id="{82964D01-5A66-40A0-92B5-BC42B8E40EAC}"/>
              </a:ext>
            </a:extLst>
          </p:cNvPr>
          <p:cNvSpPr>
            <a:spLocks noGrp="1"/>
          </p:cNvSpPr>
          <p:nvPr/>
        </p:nvSpPr>
        <p:spPr>
          <a:xfrm>
            <a:off x="533400" y="586012"/>
            <a:ext cx="11375571" cy="683532"/>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B8C3B7"/>
                </a:solidFill>
                <a:latin typeface="Aptos"/>
                <a:ea typeface="Aptos"/>
                <a:cs typeface="Aptos"/>
              </a:defRPr>
            </a:pPr>
            <a:r>
              <a:rPr kumimoji="0" sz="2000" b="0" i="0" u="none" strike="noStrike" kern="1200" cap="none" spc="0" normalizeH="0" baseline="0" noProof="0" dirty="0">
                <a:ln>
                  <a:noFill/>
                </a:ln>
                <a:solidFill>
                  <a:srgbClr val="B8C3B7"/>
                </a:solidFill>
                <a:effectLst/>
                <a:uLnTx/>
                <a:uFillTx/>
                <a:latin typeface="Aptos"/>
                <a:ea typeface="Aptos"/>
                <a:cs typeface="Aptos"/>
              </a:rPr>
              <a:t>Exercise: connect each leadership role to the OKR emphasis it will naturally bring into the conversation.</a:t>
            </a:r>
          </a:p>
        </p:txBody>
      </p:sp>
      <p:sp>
        <p:nvSpPr>
          <p:cNvPr id="3" name="Rectangle 2">
            <a:extLst>
              <a:ext uri="{FF2B5EF4-FFF2-40B4-BE49-F238E27FC236}">
                <a16:creationId xmlns:a16="http://schemas.microsoft.com/office/drawing/2014/main" id="{223B615B-665D-4CF7-A203-1F3B6896E553}"/>
              </a:ext>
            </a:extLst>
          </p:cNvPr>
          <p:cNvSpPr>
            <a:spLocks noGrp="1"/>
          </p:cNvSpPr>
          <p:nvPr/>
        </p:nvSpPr>
        <p:spPr>
          <a:xfrm>
            <a:off x="211516" y="1195467"/>
            <a:ext cx="3627658" cy="42227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Roles</a:t>
            </a:r>
          </a:p>
        </p:txBody>
      </p:sp>
      <p:sp>
        <p:nvSpPr>
          <p:cNvPr id="4" name="Rectangle 3">
            <a:extLst>
              <a:ext uri="{FF2B5EF4-FFF2-40B4-BE49-F238E27FC236}">
                <a16:creationId xmlns:a16="http://schemas.microsoft.com/office/drawing/2014/main" id="{DD7E719D-7DD5-4B52-81D1-E32BC1159D39}"/>
              </a:ext>
            </a:extLst>
          </p:cNvPr>
          <p:cNvSpPr>
            <a:spLocks noGrp="1"/>
          </p:cNvSpPr>
          <p:nvPr/>
        </p:nvSpPr>
        <p:spPr>
          <a:xfrm>
            <a:off x="2917531" y="1160236"/>
            <a:ext cx="7644705" cy="435426"/>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Jumbled Natural OKR Emphasis</a:t>
            </a:r>
          </a:p>
        </p:txBody>
      </p:sp>
      <p:sp>
        <p:nvSpPr>
          <p:cNvPr id="5" name="Rectangle: Rounded Corners 4">
            <a:extLst>
              <a:ext uri="{FF2B5EF4-FFF2-40B4-BE49-F238E27FC236}">
                <a16:creationId xmlns:a16="http://schemas.microsoft.com/office/drawing/2014/main" id="{4E8B9804-71CE-45F7-967F-6D4D5BC4FF49}"/>
              </a:ext>
            </a:extLst>
          </p:cNvPr>
          <p:cNvSpPr>
            <a:spLocks noGrp="1"/>
          </p:cNvSpPr>
          <p:nvPr/>
        </p:nvSpPr>
        <p:spPr>
          <a:xfrm>
            <a:off x="228596" y="17253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 name="Rectangle 5">
            <a:extLst>
              <a:ext uri="{FF2B5EF4-FFF2-40B4-BE49-F238E27FC236}">
                <a16:creationId xmlns:a16="http://schemas.microsoft.com/office/drawing/2014/main" id="{6398C277-D5BA-4B02-8B8E-ABDAA9763F5D}"/>
              </a:ext>
            </a:extLst>
          </p:cNvPr>
          <p:cNvSpPr>
            <a:spLocks noGrp="1"/>
          </p:cNvSpPr>
          <p:nvPr/>
        </p:nvSpPr>
        <p:spPr>
          <a:xfrm>
            <a:off x="444771" y="16821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CEO</a:t>
            </a:r>
          </a:p>
        </p:txBody>
      </p:sp>
      <p:sp>
        <p:nvSpPr>
          <p:cNvPr id="8" name="Rectangle: Rounded Corners 7">
            <a:extLst>
              <a:ext uri="{FF2B5EF4-FFF2-40B4-BE49-F238E27FC236}">
                <a16:creationId xmlns:a16="http://schemas.microsoft.com/office/drawing/2014/main" id="{F7BD48CA-4DC4-424D-8B92-D50BD8B7AC54}"/>
              </a:ext>
            </a:extLst>
          </p:cNvPr>
          <p:cNvSpPr>
            <a:spLocks noGrp="1"/>
          </p:cNvSpPr>
          <p:nvPr/>
        </p:nvSpPr>
        <p:spPr>
          <a:xfrm>
            <a:off x="228596" y="22206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9" name="Rectangle 8">
            <a:extLst>
              <a:ext uri="{FF2B5EF4-FFF2-40B4-BE49-F238E27FC236}">
                <a16:creationId xmlns:a16="http://schemas.microsoft.com/office/drawing/2014/main" id="{6549BA71-BB73-4FB6-97BF-AEB4D5DEAF7F}"/>
              </a:ext>
            </a:extLst>
          </p:cNvPr>
          <p:cNvSpPr>
            <a:spLocks noGrp="1"/>
          </p:cNvSpPr>
          <p:nvPr/>
        </p:nvSpPr>
        <p:spPr>
          <a:xfrm>
            <a:off x="444771" y="21774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CFO</a:t>
            </a:r>
          </a:p>
        </p:txBody>
      </p:sp>
      <p:sp>
        <p:nvSpPr>
          <p:cNvPr id="12" name="Rectangle 11">
            <a:extLst>
              <a:ext uri="{FF2B5EF4-FFF2-40B4-BE49-F238E27FC236}">
                <a16:creationId xmlns:a16="http://schemas.microsoft.com/office/drawing/2014/main" id="{09D6029F-4C78-44CD-B946-8E58A5F9D34E}"/>
              </a:ext>
            </a:extLst>
          </p:cNvPr>
          <p:cNvSpPr>
            <a:spLocks noGrp="1"/>
          </p:cNvSpPr>
          <p:nvPr/>
        </p:nvSpPr>
        <p:spPr>
          <a:xfrm>
            <a:off x="444771" y="26727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COO</a:t>
            </a:r>
          </a:p>
        </p:txBody>
      </p:sp>
      <p:sp>
        <p:nvSpPr>
          <p:cNvPr id="14" name="Rectangle: Rounded Corners 13">
            <a:extLst>
              <a:ext uri="{FF2B5EF4-FFF2-40B4-BE49-F238E27FC236}">
                <a16:creationId xmlns:a16="http://schemas.microsoft.com/office/drawing/2014/main" id="{02B5B0B1-F5C5-4814-8ECA-5257505F01D1}"/>
              </a:ext>
            </a:extLst>
          </p:cNvPr>
          <p:cNvSpPr>
            <a:spLocks noGrp="1"/>
          </p:cNvSpPr>
          <p:nvPr/>
        </p:nvSpPr>
        <p:spPr>
          <a:xfrm>
            <a:off x="228596" y="32112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15" name="Rectangle 14">
            <a:extLst>
              <a:ext uri="{FF2B5EF4-FFF2-40B4-BE49-F238E27FC236}">
                <a16:creationId xmlns:a16="http://schemas.microsoft.com/office/drawing/2014/main" id="{F791501D-3335-4CA5-9170-A0D7861311C1}"/>
              </a:ext>
            </a:extLst>
          </p:cNvPr>
          <p:cNvSpPr>
            <a:spLocks noGrp="1"/>
          </p:cNvSpPr>
          <p:nvPr/>
        </p:nvSpPr>
        <p:spPr>
          <a:xfrm>
            <a:off x="444771" y="31680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CHRO</a:t>
            </a:r>
          </a:p>
        </p:txBody>
      </p:sp>
      <p:sp>
        <p:nvSpPr>
          <p:cNvPr id="17" name="Rectangle: Rounded Corners 16">
            <a:extLst>
              <a:ext uri="{FF2B5EF4-FFF2-40B4-BE49-F238E27FC236}">
                <a16:creationId xmlns:a16="http://schemas.microsoft.com/office/drawing/2014/main" id="{4C9615B9-FF72-40B0-AF6F-54ABFAADB471}"/>
              </a:ext>
            </a:extLst>
          </p:cNvPr>
          <p:cNvSpPr>
            <a:spLocks noGrp="1"/>
          </p:cNvSpPr>
          <p:nvPr/>
        </p:nvSpPr>
        <p:spPr>
          <a:xfrm>
            <a:off x="228596" y="37065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18" name="Rectangle 17">
            <a:extLst>
              <a:ext uri="{FF2B5EF4-FFF2-40B4-BE49-F238E27FC236}">
                <a16:creationId xmlns:a16="http://schemas.microsoft.com/office/drawing/2014/main" id="{72292FB6-9481-400A-993C-DD2EEC3CC5AF}"/>
              </a:ext>
            </a:extLst>
          </p:cNvPr>
          <p:cNvSpPr>
            <a:spLocks noGrp="1"/>
          </p:cNvSpPr>
          <p:nvPr/>
        </p:nvSpPr>
        <p:spPr>
          <a:xfrm>
            <a:off x="444771" y="36633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CTO/CIO</a:t>
            </a:r>
          </a:p>
        </p:txBody>
      </p:sp>
      <p:sp>
        <p:nvSpPr>
          <p:cNvPr id="20" name="Rectangle: Rounded Corners 19">
            <a:extLst>
              <a:ext uri="{FF2B5EF4-FFF2-40B4-BE49-F238E27FC236}">
                <a16:creationId xmlns:a16="http://schemas.microsoft.com/office/drawing/2014/main" id="{13D052A3-FA35-49BE-9EC8-51EF888C1F85}"/>
              </a:ext>
            </a:extLst>
          </p:cNvPr>
          <p:cNvSpPr>
            <a:spLocks noGrp="1"/>
          </p:cNvSpPr>
          <p:nvPr/>
        </p:nvSpPr>
        <p:spPr>
          <a:xfrm>
            <a:off x="228596" y="42018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1" name="Rectangle 20">
            <a:extLst>
              <a:ext uri="{FF2B5EF4-FFF2-40B4-BE49-F238E27FC236}">
                <a16:creationId xmlns:a16="http://schemas.microsoft.com/office/drawing/2014/main" id="{7BE8F7FD-8F9E-46AF-8081-211112FA78A4}"/>
              </a:ext>
            </a:extLst>
          </p:cNvPr>
          <p:cNvSpPr>
            <a:spLocks noGrp="1"/>
          </p:cNvSpPr>
          <p:nvPr/>
        </p:nvSpPr>
        <p:spPr>
          <a:xfrm>
            <a:off x="444771" y="41586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CMO</a:t>
            </a:r>
          </a:p>
        </p:txBody>
      </p:sp>
      <p:sp>
        <p:nvSpPr>
          <p:cNvPr id="23" name="Rectangle: Rounded Corners 22">
            <a:extLst>
              <a:ext uri="{FF2B5EF4-FFF2-40B4-BE49-F238E27FC236}">
                <a16:creationId xmlns:a16="http://schemas.microsoft.com/office/drawing/2014/main" id="{5CA4DE7C-3A3D-424F-85BB-449715DE504A}"/>
              </a:ext>
            </a:extLst>
          </p:cNvPr>
          <p:cNvSpPr>
            <a:spLocks noGrp="1"/>
          </p:cNvSpPr>
          <p:nvPr/>
        </p:nvSpPr>
        <p:spPr>
          <a:xfrm>
            <a:off x="228596" y="46971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4" name="Rectangle 23">
            <a:extLst>
              <a:ext uri="{FF2B5EF4-FFF2-40B4-BE49-F238E27FC236}">
                <a16:creationId xmlns:a16="http://schemas.microsoft.com/office/drawing/2014/main" id="{01C2A8FB-CD06-48F9-97B5-8D242EF8BA98}"/>
              </a:ext>
            </a:extLst>
          </p:cNvPr>
          <p:cNvSpPr>
            <a:spLocks noGrp="1"/>
          </p:cNvSpPr>
          <p:nvPr/>
        </p:nvSpPr>
        <p:spPr>
          <a:xfrm>
            <a:off x="444771" y="46539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CCO</a:t>
            </a:r>
          </a:p>
        </p:txBody>
      </p:sp>
      <p:sp>
        <p:nvSpPr>
          <p:cNvPr id="26" name="Rectangle: Rounded Corners 25">
            <a:extLst>
              <a:ext uri="{FF2B5EF4-FFF2-40B4-BE49-F238E27FC236}">
                <a16:creationId xmlns:a16="http://schemas.microsoft.com/office/drawing/2014/main" id="{8EE46EB9-366D-4732-B5A5-723FFB3C335D}"/>
              </a:ext>
            </a:extLst>
          </p:cNvPr>
          <p:cNvSpPr>
            <a:spLocks noGrp="1"/>
          </p:cNvSpPr>
          <p:nvPr/>
        </p:nvSpPr>
        <p:spPr>
          <a:xfrm>
            <a:off x="228596" y="51924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7" name="Rectangle 26">
            <a:extLst>
              <a:ext uri="{FF2B5EF4-FFF2-40B4-BE49-F238E27FC236}">
                <a16:creationId xmlns:a16="http://schemas.microsoft.com/office/drawing/2014/main" id="{BC1F4852-100A-4541-82E9-23731161D761}"/>
              </a:ext>
            </a:extLst>
          </p:cNvPr>
          <p:cNvSpPr>
            <a:spLocks noGrp="1"/>
          </p:cNvSpPr>
          <p:nvPr/>
        </p:nvSpPr>
        <p:spPr>
          <a:xfrm>
            <a:off x="444771" y="51492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CPO</a:t>
            </a:r>
          </a:p>
        </p:txBody>
      </p:sp>
      <p:sp>
        <p:nvSpPr>
          <p:cNvPr id="29" name="Rectangle: Rounded Corners 28">
            <a:extLst>
              <a:ext uri="{FF2B5EF4-FFF2-40B4-BE49-F238E27FC236}">
                <a16:creationId xmlns:a16="http://schemas.microsoft.com/office/drawing/2014/main" id="{3C8E1530-5FDA-41F7-94EF-BF3FA4F4159E}"/>
              </a:ext>
            </a:extLst>
          </p:cNvPr>
          <p:cNvSpPr>
            <a:spLocks noGrp="1"/>
          </p:cNvSpPr>
          <p:nvPr/>
        </p:nvSpPr>
        <p:spPr>
          <a:xfrm>
            <a:off x="228596" y="56877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0" name="Rectangle 29">
            <a:extLst>
              <a:ext uri="{FF2B5EF4-FFF2-40B4-BE49-F238E27FC236}">
                <a16:creationId xmlns:a16="http://schemas.microsoft.com/office/drawing/2014/main" id="{C83BFACC-D7CC-44FF-9DB7-868868FEB86E}"/>
              </a:ext>
            </a:extLst>
          </p:cNvPr>
          <p:cNvSpPr>
            <a:spLocks noGrp="1"/>
          </p:cNvSpPr>
          <p:nvPr/>
        </p:nvSpPr>
        <p:spPr>
          <a:xfrm>
            <a:off x="444771" y="56445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CRO</a:t>
            </a:r>
          </a:p>
        </p:txBody>
      </p:sp>
      <p:sp>
        <p:nvSpPr>
          <p:cNvPr id="32" name="Rectangle: Rounded Corners 31">
            <a:extLst>
              <a:ext uri="{FF2B5EF4-FFF2-40B4-BE49-F238E27FC236}">
                <a16:creationId xmlns:a16="http://schemas.microsoft.com/office/drawing/2014/main" id="{460A47CD-327F-4E6D-8D5F-3A0673D00FED}"/>
              </a:ext>
            </a:extLst>
          </p:cNvPr>
          <p:cNvSpPr>
            <a:spLocks noGrp="1"/>
          </p:cNvSpPr>
          <p:nvPr/>
        </p:nvSpPr>
        <p:spPr>
          <a:xfrm>
            <a:off x="228596" y="61830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3" name="Rectangle 32">
            <a:extLst>
              <a:ext uri="{FF2B5EF4-FFF2-40B4-BE49-F238E27FC236}">
                <a16:creationId xmlns:a16="http://schemas.microsoft.com/office/drawing/2014/main" id="{81DCC2DF-9939-461C-A744-21EEC77960B0}"/>
              </a:ext>
            </a:extLst>
          </p:cNvPr>
          <p:cNvSpPr>
            <a:spLocks noGrp="1"/>
          </p:cNvSpPr>
          <p:nvPr/>
        </p:nvSpPr>
        <p:spPr>
          <a:xfrm>
            <a:off x="444771" y="61398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CSO</a:t>
            </a:r>
          </a:p>
        </p:txBody>
      </p:sp>
      <p:sp>
        <p:nvSpPr>
          <p:cNvPr id="35" name="Rectangle: Rounded Corners 34">
            <a:extLst>
              <a:ext uri="{FF2B5EF4-FFF2-40B4-BE49-F238E27FC236}">
                <a16:creationId xmlns:a16="http://schemas.microsoft.com/office/drawing/2014/main" id="{D7A306C8-28A9-40FD-AB4C-81A88F8152C9}"/>
              </a:ext>
            </a:extLst>
          </p:cNvPr>
          <p:cNvSpPr>
            <a:spLocks noGrp="1"/>
          </p:cNvSpPr>
          <p:nvPr/>
        </p:nvSpPr>
        <p:spPr>
          <a:xfrm>
            <a:off x="2917531" y="16301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6" name="Rectangle 35">
            <a:extLst>
              <a:ext uri="{FF2B5EF4-FFF2-40B4-BE49-F238E27FC236}">
                <a16:creationId xmlns:a16="http://schemas.microsoft.com/office/drawing/2014/main" id="{56FAE399-AE46-49F9-925D-3159307DC0D5}"/>
              </a:ext>
            </a:extLst>
          </p:cNvPr>
          <p:cNvSpPr>
            <a:spLocks noGrp="1"/>
          </p:cNvSpPr>
          <p:nvPr/>
        </p:nvSpPr>
        <p:spPr>
          <a:xfrm>
            <a:off x="2182842" y="16141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A</a:t>
            </a:r>
          </a:p>
        </p:txBody>
      </p:sp>
      <p:sp>
        <p:nvSpPr>
          <p:cNvPr id="37" name="Rectangle 36">
            <a:extLst>
              <a:ext uri="{FF2B5EF4-FFF2-40B4-BE49-F238E27FC236}">
                <a16:creationId xmlns:a16="http://schemas.microsoft.com/office/drawing/2014/main" id="{CA735390-A817-4476-84A4-7A5BB75542BD}"/>
              </a:ext>
            </a:extLst>
          </p:cNvPr>
          <p:cNvSpPr>
            <a:spLocks noGrp="1"/>
          </p:cNvSpPr>
          <p:nvPr/>
        </p:nvSpPr>
        <p:spPr>
          <a:xfrm>
            <a:off x="3450931" y="16251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dirty="0">
                <a:ln>
                  <a:noFill/>
                </a:ln>
                <a:solidFill>
                  <a:srgbClr val="F4F1E8"/>
                </a:solidFill>
                <a:effectLst/>
                <a:uLnTx/>
                <a:uFillTx/>
                <a:latin typeface="Aptos"/>
                <a:ea typeface="Aptos"/>
                <a:cs typeface="Aptos"/>
              </a:rPr>
              <a:t>Technology capability and digital infrastructure</a:t>
            </a:r>
          </a:p>
        </p:txBody>
      </p:sp>
      <p:sp>
        <p:nvSpPr>
          <p:cNvPr id="38" name="Rectangle: Rounded Corners 37">
            <a:extLst>
              <a:ext uri="{FF2B5EF4-FFF2-40B4-BE49-F238E27FC236}">
                <a16:creationId xmlns:a16="http://schemas.microsoft.com/office/drawing/2014/main" id="{1600034E-5505-48A6-9840-C7E2239183FA}"/>
              </a:ext>
            </a:extLst>
          </p:cNvPr>
          <p:cNvSpPr>
            <a:spLocks noGrp="1"/>
          </p:cNvSpPr>
          <p:nvPr/>
        </p:nvSpPr>
        <p:spPr>
          <a:xfrm>
            <a:off x="2917531" y="21254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9" name="Rectangle 38">
            <a:extLst>
              <a:ext uri="{FF2B5EF4-FFF2-40B4-BE49-F238E27FC236}">
                <a16:creationId xmlns:a16="http://schemas.microsoft.com/office/drawing/2014/main" id="{DABAAA89-B207-4BAD-92E5-F0059F5E9AB4}"/>
              </a:ext>
            </a:extLst>
          </p:cNvPr>
          <p:cNvSpPr>
            <a:spLocks noGrp="1"/>
          </p:cNvSpPr>
          <p:nvPr/>
        </p:nvSpPr>
        <p:spPr>
          <a:xfrm>
            <a:off x="2182842" y="21094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B</a:t>
            </a:r>
          </a:p>
        </p:txBody>
      </p:sp>
      <p:sp>
        <p:nvSpPr>
          <p:cNvPr id="40" name="Rectangle 39">
            <a:extLst>
              <a:ext uri="{FF2B5EF4-FFF2-40B4-BE49-F238E27FC236}">
                <a16:creationId xmlns:a16="http://schemas.microsoft.com/office/drawing/2014/main" id="{B792A78A-058E-4977-8736-0EB60E93FB74}"/>
              </a:ext>
            </a:extLst>
          </p:cNvPr>
          <p:cNvSpPr>
            <a:spLocks noGrp="1"/>
          </p:cNvSpPr>
          <p:nvPr/>
        </p:nvSpPr>
        <p:spPr>
          <a:xfrm>
            <a:off x="3450931" y="21204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Strategic ambition and market positioning</a:t>
            </a:r>
          </a:p>
        </p:txBody>
      </p:sp>
      <p:sp>
        <p:nvSpPr>
          <p:cNvPr id="41" name="Rectangle: Rounded Corners 40">
            <a:extLst>
              <a:ext uri="{FF2B5EF4-FFF2-40B4-BE49-F238E27FC236}">
                <a16:creationId xmlns:a16="http://schemas.microsoft.com/office/drawing/2014/main" id="{14818E34-D2B4-4D29-A80A-6B0D0EB9EA34}"/>
              </a:ext>
            </a:extLst>
          </p:cNvPr>
          <p:cNvSpPr>
            <a:spLocks noGrp="1"/>
          </p:cNvSpPr>
          <p:nvPr/>
        </p:nvSpPr>
        <p:spPr>
          <a:xfrm>
            <a:off x="2917531" y="26207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2" name="Rectangle 41">
            <a:extLst>
              <a:ext uri="{FF2B5EF4-FFF2-40B4-BE49-F238E27FC236}">
                <a16:creationId xmlns:a16="http://schemas.microsoft.com/office/drawing/2014/main" id="{A0DFE930-CD9F-4E20-911E-AF31195D6739}"/>
              </a:ext>
            </a:extLst>
          </p:cNvPr>
          <p:cNvSpPr>
            <a:spLocks noGrp="1"/>
          </p:cNvSpPr>
          <p:nvPr/>
        </p:nvSpPr>
        <p:spPr>
          <a:xfrm>
            <a:off x="2182842" y="26047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a:t>
            </a:r>
          </a:p>
        </p:txBody>
      </p:sp>
      <p:sp>
        <p:nvSpPr>
          <p:cNvPr id="43" name="Rectangle 42">
            <a:extLst>
              <a:ext uri="{FF2B5EF4-FFF2-40B4-BE49-F238E27FC236}">
                <a16:creationId xmlns:a16="http://schemas.microsoft.com/office/drawing/2014/main" id="{AC13E85B-ADF1-4016-A125-0648FFC08392}"/>
              </a:ext>
            </a:extLst>
          </p:cNvPr>
          <p:cNvSpPr>
            <a:spLocks noGrp="1"/>
          </p:cNvSpPr>
          <p:nvPr/>
        </p:nvSpPr>
        <p:spPr>
          <a:xfrm>
            <a:off x="3450931" y="26157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Supply chain efficiency and cost discipline</a:t>
            </a:r>
          </a:p>
        </p:txBody>
      </p:sp>
      <p:sp>
        <p:nvSpPr>
          <p:cNvPr id="44" name="Rectangle: Rounded Corners 43">
            <a:extLst>
              <a:ext uri="{FF2B5EF4-FFF2-40B4-BE49-F238E27FC236}">
                <a16:creationId xmlns:a16="http://schemas.microsoft.com/office/drawing/2014/main" id="{FC1DE9EF-82C1-4EB2-ADD8-4270EF57F18F}"/>
              </a:ext>
            </a:extLst>
          </p:cNvPr>
          <p:cNvSpPr>
            <a:spLocks noGrp="1"/>
          </p:cNvSpPr>
          <p:nvPr/>
        </p:nvSpPr>
        <p:spPr>
          <a:xfrm>
            <a:off x="2917531" y="31160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5" name="Rectangle 44">
            <a:extLst>
              <a:ext uri="{FF2B5EF4-FFF2-40B4-BE49-F238E27FC236}">
                <a16:creationId xmlns:a16="http://schemas.microsoft.com/office/drawing/2014/main" id="{F9ED8CE3-5C48-48A0-A6F3-0EDE48CADA0C}"/>
              </a:ext>
            </a:extLst>
          </p:cNvPr>
          <p:cNvSpPr>
            <a:spLocks noGrp="1"/>
          </p:cNvSpPr>
          <p:nvPr/>
        </p:nvSpPr>
        <p:spPr>
          <a:xfrm>
            <a:off x="2182842" y="31000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D</a:t>
            </a:r>
          </a:p>
        </p:txBody>
      </p:sp>
      <p:sp>
        <p:nvSpPr>
          <p:cNvPr id="46" name="Rectangle 45">
            <a:extLst>
              <a:ext uri="{FF2B5EF4-FFF2-40B4-BE49-F238E27FC236}">
                <a16:creationId xmlns:a16="http://schemas.microsoft.com/office/drawing/2014/main" id="{52D45D23-BA2F-477C-832F-DBB4EE722585}"/>
              </a:ext>
            </a:extLst>
          </p:cNvPr>
          <p:cNvSpPr>
            <a:spLocks noGrp="1"/>
          </p:cNvSpPr>
          <p:nvPr/>
        </p:nvSpPr>
        <p:spPr>
          <a:xfrm>
            <a:off x="3450931" y="31110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Capability development and organisational health</a:t>
            </a:r>
          </a:p>
        </p:txBody>
      </p:sp>
      <p:sp>
        <p:nvSpPr>
          <p:cNvPr id="47" name="Rectangle: Rounded Corners 46">
            <a:extLst>
              <a:ext uri="{FF2B5EF4-FFF2-40B4-BE49-F238E27FC236}">
                <a16:creationId xmlns:a16="http://schemas.microsoft.com/office/drawing/2014/main" id="{23E8BCD3-3314-4C9F-9F2E-616B88661C4C}"/>
              </a:ext>
            </a:extLst>
          </p:cNvPr>
          <p:cNvSpPr>
            <a:spLocks noGrp="1"/>
          </p:cNvSpPr>
          <p:nvPr/>
        </p:nvSpPr>
        <p:spPr>
          <a:xfrm>
            <a:off x="2917531" y="36113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8" name="Rectangle 47">
            <a:extLst>
              <a:ext uri="{FF2B5EF4-FFF2-40B4-BE49-F238E27FC236}">
                <a16:creationId xmlns:a16="http://schemas.microsoft.com/office/drawing/2014/main" id="{308689B8-1929-4587-A158-FA71C7D337CB}"/>
              </a:ext>
            </a:extLst>
          </p:cNvPr>
          <p:cNvSpPr>
            <a:spLocks noGrp="1"/>
          </p:cNvSpPr>
          <p:nvPr/>
        </p:nvSpPr>
        <p:spPr>
          <a:xfrm>
            <a:off x="2182842" y="35953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E</a:t>
            </a:r>
          </a:p>
        </p:txBody>
      </p:sp>
      <p:sp>
        <p:nvSpPr>
          <p:cNvPr id="49" name="Rectangle 48">
            <a:extLst>
              <a:ext uri="{FF2B5EF4-FFF2-40B4-BE49-F238E27FC236}">
                <a16:creationId xmlns:a16="http://schemas.microsoft.com/office/drawing/2014/main" id="{98CDBE04-AE8E-43C7-B617-92ED6C67A957}"/>
              </a:ext>
            </a:extLst>
          </p:cNvPr>
          <p:cNvSpPr>
            <a:spLocks noGrp="1"/>
          </p:cNvSpPr>
          <p:nvPr/>
        </p:nvSpPr>
        <p:spPr>
          <a:xfrm>
            <a:off x="3450931" y="36063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Financial performance and efficiency</a:t>
            </a:r>
          </a:p>
        </p:txBody>
      </p:sp>
      <p:sp>
        <p:nvSpPr>
          <p:cNvPr id="50" name="Rectangle: Rounded Corners 49">
            <a:extLst>
              <a:ext uri="{FF2B5EF4-FFF2-40B4-BE49-F238E27FC236}">
                <a16:creationId xmlns:a16="http://schemas.microsoft.com/office/drawing/2014/main" id="{CC363BF8-E92E-44E2-A6A3-81A0CAEC074C}"/>
              </a:ext>
            </a:extLst>
          </p:cNvPr>
          <p:cNvSpPr>
            <a:spLocks noGrp="1"/>
          </p:cNvSpPr>
          <p:nvPr/>
        </p:nvSpPr>
        <p:spPr>
          <a:xfrm>
            <a:off x="2917531" y="41066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1" name="Rectangle 50">
            <a:extLst>
              <a:ext uri="{FF2B5EF4-FFF2-40B4-BE49-F238E27FC236}">
                <a16:creationId xmlns:a16="http://schemas.microsoft.com/office/drawing/2014/main" id="{0D59581A-8986-4880-A1EB-E859B707BEC3}"/>
              </a:ext>
            </a:extLst>
          </p:cNvPr>
          <p:cNvSpPr>
            <a:spLocks noGrp="1"/>
          </p:cNvSpPr>
          <p:nvPr/>
        </p:nvSpPr>
        <p:spPr>
          <a:xfrm>
            <a:off x="2182842" y="40906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F</a:t>
            </a:r>
          </a:p>
        </p:txBody>
      </p:sp>
      <p:sp>
        <p:nvSpPr>
          <p:cNvPr id="52" name="Rectangle 51">
            <a:extLst>
              <a:ext uri="{FF2B5EF4-FFF2-40B4-BE49-F238E27FC236}">
                <a16:creationId xmlns:a16="http://schemas.microsoft.com/office/drawing/2014/main" id="{C90025AF-9EE3-418C-8BDE-1919E9BC69E2}"/>
              </a:ext>
            </a:extLst>
          </p:cNvPr>
          <p:cNvSpPr>
            <a:spLocks noGrp="1"/>
          </p:cNvSpPr>
          <p:nvPr/>
        </p:nvSpPr>
        <p:spPr>
          <a:xfrm>
            <a:off x="3450931" y="41016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Strategic planning coherence</a:t>
            </a:r>
          </a:p>
        </p:txBody>
      </p:sp>
      <p:sp>
        <p:nvSpPr>
          <p:cNvPr id="53" name="Rectangle: Rounded Corners 52">
            <a:extLst>
              <a:ext uri="{FF2B5EF4-FFF2-40B4-BE49-F238E27FC236}">
                <a16:creationId xmlns:a16="http://schemas.microsoft.com/office/drawing/2014/main" id="{19E02410-3C64-4416-80F1-965D033CECC1}"/>
              </a:ext>
            </a:extLst>
          </p:cNvPr>
          <p:cNvSpPr>
            <a:spLocks noGrp="1"/>
          </p:cNvSpPr>
          <p:nvPr/>
        </p:nvSpPr>
        <p:spPr>
          <a:xfrm>
            <a:off x="2917531" y="46019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4" name="Rectangle 53">
            <a:extLst>
              <a:ext uri="{FF2B5EF4-FFF2-40B4-BE49-F238E27FC236}">
                <a16:creationId xmlns:a16="http://schemas.microsoft.com/office/drawing/2014/main" id="{615D8512-B8A9-4A48-B917-AD878BA29EB2}"/>
              </a:ext>
            </a:extLst>
          </p:cNvPr>
          <p:cNvSpPr>
            <a:spLocks noGrp="1"/>
          </p:cNvSpPr>
          <p:nvPr/>
        </p:nvSpPr>
        <p:spPr>
          <a:xfrm>
            <a:off x="2182842" y="45859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G</a:t>
            </a:r>
          </a:p>
        </p:txBody>
      </p:sp>
      <p:sp>
        <p:nvSpPr>
          <p:cNvPr id="55" name="Rectangle 54">
            <a:extLst>
              <a:ext uri="{FF2B5EF4-FFF2-40B4-BE49-F238E27FC236}">
                <a16:creationId xmlns:a16="http://schemas.microsoft.com/office/drawing/2014/main" id="{B4A833F9-2EC9-4662-A29C-571BF73F7E61}"/>
              </a:ext>
            </a:extLst>
          </p:cNvPr>
          <p:cNvSpPr>
            <a:spLocks noGrp="1"/>
          </p:cNvSpPr>
          <p:nvPr/>
        </p:nvSpPr>
        <p:spPr>
          <a:xfrm>
            <a:off x="3450931" y="45969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Operational reliability and execution efficiency</a:t>
            </a:r>
          </a:p>
        </p:txBody>
      </p:sp>
      <p:sp>
        <p:nvSpPr>
          <p:cNvPr id="56" name="Rectangle: Rounded Corners 55">
            <a:extLst>
              <a:ext uri="{FF2B5EF4-FFF2-40B4-BE49-F238E27FC236}">
                <a16:creationId xmlns:a16="http://schemas.microsoft.com/office/drawing/2014/main" id="{972E38AC-9F1F-4DCB-8F6B-A24285FF95AD}"/>
              </a:ext>
            </a:extLst>
          </p:cNvPr>
          <p:cNvSpPr>
            <a:spLocks noGrp="1"/>
          </p:cNvSpPr>
          <p:nvPr/>
        </p:nvSpPr>
        <p:spPr>
          <a:xfrm>
            <a:off x="2917531" y="50972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7" name="Rectangle 56">
            <a:extLst>
              <a:ext uri="{FF2B5EF4-FFF2-40B4-BE49-F238E27FC236}">
                <a16:creationId xmlns:a16="http://schemas.microsoft.com/office/drawing/2014/main" id="{1F2F5586-1FA9-4908-BAF4-8F93A4118E18}"/>
              </a:ext>
            </a:extLst>
          </p:cNvPr>
          <p:cNvSpPr>
            <a:spLocks noGrp="1"/>
          </p:cNvSpPr>
          <p:nvPr/>
        </p:nvSpPr>
        <p:spPr>
          <a:xfrm>
            <a:off x="2182842" y="50812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H</a:t>
            </a:r>
          </a:p>
        </p:txBody>
      </p:sp>
      <p:sp>
        <p:nvSpPr>
          <p:cNvPr id="58" name="Rectangle 57">
            <a:extLst>
              <a:ext uri="{FF2B5EF4-FFF2-40B4-BE49-F238E27FC236}">
                <a16:creationId xmlns:a16="http://schemas.microsoft.com/office/drawing/2014/main" id="{30A12BA1-3DEF-4562-B15A-247C26C11EF1}"/>
              </a:ext>
            </a:extLst>
          </p:cNvPr>
          <p:cNvSpPr>
            <a:spLocks noGrp="1"/>
          </p:cNvSpPr>
          <p:nvPr/>
        </p:nvSpPr>
        <p:spPr>
          <a:xfrm>
            <a:off x="3450931" y="50922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Market positioning and brand strength</a:t>
            </a:r>
          </a:p>
        </p:txBody>
      </p:sp>
      <p:sp>
        <p:nvSpPr>
          <p:cNvPr id="59" name="Rectangle: Rounded Corners 58">
            <a:extLst>
              <a:ext uri="{FF2B5EF4-FFF2-40B4-BE49-F238E27FC236}">
                <a16:creationId xmlns:a16="http://schemas.microsoft.com/office/drawing/2014/main" id="{7F441F68-C1C6-48D3-9CD5-D2C327777469}"/>
              </a:ext>
            </a:extLst>
          </p:cNvPr>
          <p:cNvSpPr>
            <a:spLocks noGrp="1"/>
          </p:cNvSpPr>
          <p:nvPr/>
        </p:nvSpPr>
        <p:spPr>
          <a:xfrm>
            <a:off x="2917531" y="55925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0" name="Rectangle 59">
            <a:extLst>
              <a:ext uri="{FF2B5EF4-FFF2-40B4-BE49-F238E27FC236}">
                <a16:creationId xmlns:a16="http://schemas.microsoft.com/office/drawing/2014/main" id="{ED06FDDF-43E8-4A2F-B3BA-C10EBDAE37A2}"/>
              </a:ext>
            </a:extLst>
          </p:cNvPr>
          <p:cNvSpPr>
            <a:spLocks noGrp="1"/>
          </p:cNvSpPr>
          <p:nvPr/>
        </p:nvSpPr>
        <p:spPr>
          <a:xfrm>
            <a:off x="2182842" y="55765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I</a:t>
            </a:r>
          </a:p>
        </p:txBody>
      </p:sp>
      <p:sp>
        <p:nvSpPr>
          <p:cNvPr id="61" name="Rectangle 60">
            <a:extLst>
              <a:ext uri="{FF2B5EF4-FFF2-40B4-BE49-F238E27FC236}">
                <a16:creationId xmlns:a16="http://schemas.microsoft.com/office/drawing/2014/main" id="{8CE88207-CBC8-4A2B-A762-1C411438DBEE}"/>
              </a:ext>
            </a:extLst>
          </p:cNvPr>
          <p:cNvSpPr>
            <a:spLocks noGrp="1"/>
          </p:cNvSpPr>
          <p:nvPr/>
        </p:nvSpPr>
        <p:spPr>
          <a:xfrm>
            <a:off x="3450931" y="55875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Risk control and regulatory protection</a:t>
            </a:r>
          </a:p>
        </p:txBody>
      </p:sp>
      <p:sp>
        <p:nvSpPr>
          <p:cNvPr id="62" name="Rectangle: Rounded Corners 61">
            <a:extLst>
              <a:ext uri="{FF2B5EF4-FFF2-40B4-BE49-F238E27FC236}">
                <a16:creationId xmlns:a16="http://schemas.microsoft.com/office/drawing/2014/main" id="{C97AAA5E-8428-4877-8421-681928800A18}"/>
              </a:ext>
            </a:extLst>
          </p:cNvPr>
          <p:cNvSpPr>
            <a:spLocks noGrp="1"/>
          </p:cNvSpPr>
          <p:nvPr/>
        </p:nvSpPr>
        <p:spPr>
          <a:xfrm>
            <a:off x="2917531" y="60878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3" name="Rectangle 62">
            <a:extLst>
              <a:ext uri="{FF2B5EF4-FFF2-40B4-BE49-F238E27FC236}">
                <a16:creationId xmlns:a16="http://schemas.microsoft.com/office/drawing/2014/main" id="{1ACB28F7-E39D-48E3-B433-BD36EB18EA7B}"/>
              </a:ext>
            </a:extLst>
          </p:cNvPr>
          <p:cNvSpPr>
            <a:spLocks noGrp="1"/>
          </p:cNvSpPr>
          <p:nvPr/>
        </p:nvSpPr>
        <p:spPr>
          <a:xfrm>
            <a:off x="2182842" y="60718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J</a:t>
            </a:r>
          </a:p>
        </p:txBody>
      </p:sp>
      <p:sp>
        <p:nvSpPr>
          <p:cNvPr id="64" name="Rectangle 63">
            <a:extLst>
              <a:ext uri="{FF2B5EF4-FFF2-40B4-BE49-F238E27FC236}">
                <a16:creationId xmlns:a16="http://schemas.microsoft.com/office/drawing/2014/main" id="{D0217DEC-49A1-4DF0-84D4-E3E047B0B850}"/>
              </a:ext>
            </a:extLst>
          </p:cNvPr>
          <p:cNvSpPr>
            <a:spLocks noGrp="1"/>
          </p:cNvSpPr>
          <p:nvPr/>
        </p:nvSpPr>
        <p:spPr>
          <a:xfrm>
            <a:off x="3450931" y="60828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Revenue growth and commercial expansion</a:t>
            </a:r>
          </a:p>
        </p:txBody>
      </p:sp>
    </p:spTree>
    <p:extLst>
      <p:ext uri="{BB962C8B-B14F-4D97-AF65-F5344CB8AC3E}">
        <p14:creationId xmlns:p14="http://schemas.microsoft.com/office/powerpoint/2010/main" val="1687488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3.1: Which hot zone description most accurately reflects how you instinctively approach OKR definition? What would you need to do differently to write an enterprise-level Key Result?"/>
          <p:cNvPicPr>
            <a:picLocks noChangeAspect="1"/>
          </p:cNvPicPr>
          <p:nvPr/>
        </p:nvPicPr>
        <p:blipFill>
          <a:blip r:embed="rId3"/>
          <a:stretch>
            <a:fillRect/>
          </a:stretch>
        </p:blipFill>
        <p:spPr>
          <a:xfrm>
            <a:off x="1691640" y="1572768"/>
            <a:ext cx="9921240" cy="1482484"/>
          </a:xfrm>
          <a:prstGeom prst="rect">
            <a:avLst/>
          </a:prstGeom>
        </p:spPr>
      </p:pic>
      <p:sp>
        <p:nvSpPr>
          <p:cNvPr id="4" name="Part 3.1"/>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Strategy Airport: From Strategic Imagination to Operational Clearance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Translate strategic intent into measurable results for their own strategy.</a:t>
            </a: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Set a strategic trajectory with clear objectives and measurable results.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Strategy Airport</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Gate 1 · Baggage Check</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KISS mapping: what must the company keep, improve, start and stop?</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Gate 2 · Flight Plan</a:t>
            </a:r>
            <a:endParaRPr lang="en-US" sz="2600" dirty="0"/>
          </a:p>
        </p:txBody>
      </p:sp>
      <p:sp>
        <p:nvSpPr>
          <p:cNvPr id="12" name="Text 8"/>
          <p:cNvSpPr txBox="1"/>
          <p:nvPr/>
        </p:nvSpPr>
        <p:spPr>
          <a:xfrm>
            <a:off x="6460236" y="2560320"/>
            <a:ext cx="4951476" cy="274320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OKR construction: one KISS theme becomes an Objective and two Key Results.</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case: a medical health company. One learning round.</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Collective Intelligence: From SiP to KISS to Enterprise OKRs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Apply the translation of </a:t>
            </a:r>
            <a:r>
              <a:rPr lang="en-GB" sz="2400" dirty="0" err="1">
                <a:solidFill>
                  <a:srgbClr val="FFFFFF"/>
                </a:solidFill>
                <a:latin typeface="Calibri" pitchFamily="34" charset="0"/>
                <a:ea typeface="Calibri" pitchFamily="34" charset="-122"/>
                <a:cs typeface="Calibri" pitchFamily="34" charset="-120"/>
              </a:rPr>
              <a:t>SiP</a:t>
            </a:r>
            <a:r>
              <a:rPr lang="en-GB" sz="2400" dirty="0">
                <a:solidFill>
                  <a:srgbClr val="FFFFFF"/>
                </a:solidFill>
                <a:latin typeface="Calibri" pitchFamily="34" charset="0"/>
                <a:ea typeface="Calibri" pitchFamily="34" charset="-122"/>
                <a:cs typeface="Calibri" pitchFamily="34" charset="-120"/>
              </a:rPr>
              <a:t> into OKRs as a group.</a:t>
            </a: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Draw on collective intelligence to shape the strategic trajectory.</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128" name="Rounded Rectangle 1">
            <a:extLst>
              <a:ext uri="{FF2B5EF4-FFF2-40B4-BE49-F238E27FC236}">
                <a16:creationId xmlns:a16="http://schemas.microsoft.com/office/drawing/2014/main" id="{D910E6D0-F943-0BF3-2E22-B1FDDA8DC613}"/>
              </a:ext>
            </a:extLst>
          </p:cNvPr>
          <p:cNvSpPr/>
          <p:nvPr/>
        </p:nvSpPr>
        <p:spPr>
          <a:xfrm>
            <a:off x="109728" y="226912"/>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a:extLst>
              <a:ext uri="{FF2B5EF4-FFF2-40B4-BE49-F238E27FC236}">
                <a16:creationId xmlns:a16="http://schemas.microsoft.com/office/drawing/2014/main" id="{9A5F6638-A8D0-2007-77B2-F4AA9CFB799F}"/>
              </a:ext>
            </a:extLst>
          </p:cNvPr>
          <p:cNvSpPr txBox="1"/>
          <p:nvPr/>
        </p:nvSpPr>
        <p:spPr>
          <a:xfrm>
            <a:off x="420624" y="296131"/>
            <a:ext cx="4119526" cy="400110"/>
          </a:xfrm>
          <a:prstGeom prst="rect">
            <a:avLst/>
          </a:prstGeom>
          <a:noFill/>
        </p:spPr>
        <p:txBody>
          <a:bodyPr wrap="square">
            <a:spAutoFit/>
          </a:bodyPr>
          <a:lstStyle/>
          <a:p>
            <a:r>
              <a:rPr lang="en-ZA" sz="2000" b="1" dirty="0">
                <a:solidFill>
                  <a:schemeClr val="bg1"/>
                </a:solidFill>
                <a:latin typeface="Aptos"/>
              </a:rPr>
              <a:t>CUSTOMER EXPERIENCE &amp; VALUE</a:t>
            </a:r>
          </a:p>
        </p:txBody>
      </p:sp>
      <p:sp>
        <p:nvSpPr>
          <p:cNvPr id="132" name="Rectangle 131">
            <a:extLst>
              <a:ext uri="{FF2B5EF4-FFF2-40B4-BE49-F238E27FC236}">
                <a16:creationId xmlns:a16="http://schemas.microsoft.com/office/drawing/2014/main" id="{43179C20-363C-A893-1599-763A60ED0472}"/>
              </a:ext>
            </a:extLst>
          </p:cNvPr>
          <p:cNvSpPr/>
          <p:nvPr/>
        </p:nvSpPr>
        <p:spPr>
          <a:xfrm>
            <a:off x="109728" y="711544"/>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a:extLst>
              <a:ext uri="{FF2B5EF4-FFF2-40B4-BE49-F238E27FC236}">
                <a16:creationId xmlns:a16="http://schemas.microsoft.com/office/drawing/2014/main" id="{C7D0C872-968F-CB48-660F-CEE6B50F5206}"/>
              </a:ext>
            </a:extLst>
          </p:cNvPr>
          <p:cNvSpPr txBox="1"/>
          <p:nvPr/>
        </p:nvSpPr>
        <p:spPr>
          <a:xfrm>
            <a:off x="274320" y="662009"/>
            <a:ext cx="734496" cy="369332"/>
          </a:xfrm>
          <a:prstGeom prst="rect">
            <a:avLst/>
          </a:prstGeom>
          <a:noFill/>
        </p:spPr>
        <p:txBody>
          <a:bodyPr wrap="square">
            <a:spAutoFit/>
          </a:bodyPr>
          <a:lstStyle/>
          <a:p>
            <a:r>
              <a:rPr b="1" dirty="0">
                <a:solidFill>
                  <a:srgbClr val="78D7A4"/>
                </a:solidFill>
                <a:latin typeface="Aptos"/>
              </a:rPr>
              <a:t>KEEP</a:t>
            </a:r>
          </a:p>
        </p:txBody>
      </p:sp>
      <p:sp>
        <p:nvSpPr>
          <p:cNvPr id="138" name="Rectangle 137">
            <a:extLst>
              <a:ext uri="{FF2B5EF4-FFF2-40B4-BE49-F238E27FC236}">
                <a16:creationId xmlns:a16="http://schemas.microsoft.com/office/drawing/2014/main" id="{69FA2571-A0C5-71D1-14B3-0A36B06DA7C5}"/>
              </a:ext>
            </a:extLst>
          </p:cNvPr>
          <p:cNvSpPr/>
          <p:nvPr/>
        </p:nvSpPr>
        <p:spPr>
          <a:xfrm>
            <a:off x="3102102"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a:extLst>
              <a:ext uri="{FF2B5EF4-FFF2-40B4-BE49-F238E27FC236}">
                <a16:creationId xmlns:a16="http://schemas.microsoft.com/office/drawing/2014/main" id="{449D1BE5-A9ED-B0EA-4274-288AD362653F}"/>
              </a:ext>
            </a:extLst>
          </p:cNvPr>
          <p:cNvSpPr txBox="1"/>
          <p:nvPr/>
        </p:nvSpPr>
        <p:spPr>
          <a:xfrm>
            <a:off x="3266694" y="662009"/>
            <a:ext cx="1164165" cy="369332"/>
          </a:xfrm>
          <a:prstGeom prst="rect">
            <a:avLst/>
          </a:prstGeom>
          <a:noFill/>
        </p:spPr>
        <p:txBody>
          <a:bodyPr wrap="square">
            <a:spAutoFit/>
          </a:bodyPr>
          <a:lstStyle/>
          <a:p>
            <a:r>
              <a:rPr b="1">
                <a:solidFill>
                  <a:srgbClr val="E2C05B"/>
                </a:solidFill>
                <a:latin typeface="Aptos"/>
              </a:rPr>
              <a:t>IMPROVE</a:t>
            </a:r>
          </a:p>
        </p:txBody>
      </p:sp>
      <p:sp>
        <p:nvSpPr>
          <p:cNvPr id="144" name="Rectangle 143">
            <a:extLst>
              <a:ext uri="{FF2B5EF4-FFF2-40B4-BE49-F238E27FC236}">
                <a16:creationId xmlns:a16="http://schemas.microsoft.com/office/drawing/2014/main" id="{C62AC946-C12F-E040-6171-5149675C0A11}"/>
              </a:ext>
            </a:extLst>
          </p:cNvPr>
          <p:cNvSpPr/>
          <p:nvPr/>
        </p:nvSpPr>
        <p:spPr>
          <a:xfrm>
            <a:off x="6094476"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a:extLst>
              <a:ext uri="{FF2B5EF4-FFF2-40B4-BE49-F238E27FC236}">
                <a16:creationId xmlns:a16="http://schemas.microsoft.com/office/drawing/2014/main" id="{3F5EBE55-31C1-34D3-4F5C-805A842CFF7A}"/>
              </a:ext>
            </a:extLst>
          </p:cNvPr>
          <p:cNvSpPr txBox="1"/>
          <p:nvPr/>
        </p:nvSpPr>
        <p:spPr>
          <a:xfrm>
            <a:off x="6259068" y="662009"/>
            <a:ext cx="826252" cy="369332"/>
          </a:xfrm>
          <a:prstGeom prst="rect">
            <a:avLst/>
          </a:prstGeom>
          <a:noFill/>
        </p:spPr>
        <p:txBody>
          <a:bodyPr wrap="square">
            <a:spAutoFit/>
          </a:bodyPr>
          <a:lstStyle/>
          <a:p>
            <a:r>
              <a:rPr b="1">
                <a:solidFill>
                  <a:srgbClr val="7EBEF4"/>
                </a:solidFill>
                <a:latin typeface="Aptos"/>
              </a:rPr>
              <a:t>START</a:t>
            </a:r>
          </a:p>
        </p:txBody>
      </p:sp>
      <p:sp>
        <p:nvSpPr>
          <p:cNvPr id="150" name="Rectangle 149">
            <a:extLst>
              <a:ext uri="{FF2B5EF4-FFF2-40B4-BE49-F238E27FC236}">
                <a16:creationId xmlns:a16="http://schemas.microsoft.com/office/drawing/2014/main" id="{DB075746-9937-44EF-ACE2-24B01D619034}"/>
              </a:ext>
            </a:extLst>
          </p:cNvPr>
          <p:cNvSpPr/>
          <p:nvPr/>
        </p:nvSpPr>
        <p:spPr>
          <a:xfrm>
            <a:off x="9086849"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a:extLst>
              <a:ext uri="{FF2B5EF4-FFF2-40B4-BE49-F238E27FC236}">
                <a16:creationId xmlns:a16="http://schemas.microsoft.com/office/drawing/2014/main" id="{8D2A8151-1B50-D08D-D2D9-9BF3D2300D3F}"/>
              </a:ext>
            </a:extLst>
          </p:cNvPr>
          <p:cNvSpPr txBox="1"/>
          <p:nvPr/>
        </p:nvSpPr>
        <p:spPr>
          <a:xfrm>
            <a:off x="9251441" y="662009"/>
            <a:ext cx="739754" cy="369332"/>
          </a:xfrm>
          <a:prstGeom prst="rect">
            <a:avLst/>
          </a:prstGeom>
          <a:noFill/>
        </p:spPr>
        <p:txBody>
          <a:bodyPr wrap="square">
            <a:spAutoFit/>
          </a:bodyPr>
          <a:lstStyle/>
          <a:p>
            <a:r>
              <a:rPr b="1">
                <a:solidFill>
                  <a:srgbClr val="EC7875"/>
                </a:solidFill>
                <a:latin typeface="Aptos"/>
              </a:rPr>
              <a:t>STOP</a:t>
            </a:r>
          </a:p>
        </p:txBody>
      </p:sp>
      <p:sp>
        <p:nvSpPr>
          <p:cNvPr id="156" name="Rounded Rectangle 16">
            <a:extLst>
              <a:ext uri="{FF2B5EF4-FFF2-40B4-BE49-F238E27FC236}">
                <a16:creationId xmlns:a16="http://schemas.microsoft.com/office/drawing/2014/main" id="{3CE40403-F610-8F4B-0F94-B6DF54CCA0EB}"/>
              </a:ext>
            </a:extLst>
          </p:cNvPr>
          <p:cNvSpPr/>
          <p:nvPr/>
        </p:nvSpPr>
        <p:spPr>
          <a:xfrm>
            <a:off x="109728" y="1854544"/>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a:extLst>
              <a:ext uri="{FF2B5EF4-FFF2-40B4-BE49-F238E27FC236}">
                <a16:creationId xmlns:a16="http://schemas.microsoft.com/office/drawing/2014/main" id="{739ACD18-474B-2976-4752-3C4AB5FE3470}"/>
              </a:ext>
            </a:extLst>
          </p:cNvPr>
          <p:cNvSpPr txBox="1"/>
          <p:nvPr/>
        </p:nvSpPr>
        <p:spPr>
          <a:xfrm>
            <a:off x="420624" y="1923763"/>
            <a:ext cx="6013506" cy="400110"/>
          </a:xfrm>
          <a:prstGeom prst="rect">
            <a:avLst/>
          </a:prstGeom>
          <a:noFill/>
        </p:spPr>
        <p:txBody>
          <a:bodyPr wrap="square">
            <a:spAutoFit/>
          </a:bodyPr>
          <a:lstStyle/>
          <a:p>
            <a:r>
              <a:rPr lang="en-ZA" sz="2000" b="1" dirty="0">
                <a:solidFill>
                  <a:schemeClr val="bg1"/>
                </a:solidFill>
                <a:latin typeface="Aptos"/>
              </a:rPr>
              <a:t>OPERATIONAL CAPABILITY &amp; EXECUTION RHYTHM</a:t>
            </a:r>
          </a:p>
        </p:txBody>
      </p:sp>
      <p:sp>
        <p:nvSpPr>
          <p:cNvPr id="160" name="Rectangle 159">
            <a:extLst>
              <a:ext uri="{FF2B5EF4-FFF2-40B4-BE49-F238E27FC236}">
                <a16:creationId xmlns:a16="http://schemas.microsoft.com/office/drawing/2014/main" id="{692551C3-15E7-C18C-6B17-4DF5EFB11CCB}"/>
              </a:ext>
            </a:extLst>
          </p:cNvPr>
          <p:cNvSpPr/>
          <p:nvPr/>
        </p:nvSpPr>
        <p:spPr>
          <a:xfrm>
            <a:off x="109728" y="2339176"/>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a:extLst>
              <a:ext uri="{FF2B5EF4-FFF2-40B4-BE49-F238E27FC236}">
                <a16:creationId xmlns:a16="http://schemas.microsoft.com/office/drawing/2014/main" id="{B5956C9A-0F3F-9F41-15B3-5A7668A4D974}"/>
              </a:ext>
            </a:extLst>
          </p:cNvPr>
          <p:cNvSpPr txBox="1"/>
          <p:nvPr/>
        </p:nvSpPr>
        <p:spPr>
          <a:xfrm>
            <a:off x="274320" y="2283855"/>
            <a:ext cx="734496" cy="369332"/>
          </a:xfrm>
          <a:prstGeom prst="rect">
            <a:avLst/>
          </a:prstGeom>
          <a:noFill/>
        </p:spPr>
        <p:txBody>
          <a:bodyPr wrap="square">
            <a:spAutoFit/>
          </a:bodyPr>
          <a:lstStyle/>
          <a:p>
            <a:r>
              <a:rPr b="1" dirty="0">
                <a:solidFill>
                  <a:srgbClr val="78D7A4"/>
                </a:solidFill>
                <a:latin typeface="Aptos"/>
              </a:rPr>
              <a:t>KEEP</a:t>
            </a:r>
          </a:p>
        </p:txBody>
      </p:sp>
      <p:sp>
        <p:nvSpPr>
          <p:cNvPr id="166" name="Rectangle 165">
            <a:extLst>
              <a:ext uri="{FF2B5EF4-FFF2-40B4-BE49-F238E27FC236}">
                <a16:creationId xmlns:a16="http://schemas.microsoft.com/office/drawing/2014/main" id="{04AB8E88-40C3-307A-B007-11D0DDBEEF77}"/>
              </a:ext>
            </a:extLst>
          </p:cNvPr>
          <p:cNvSpPr/>
          <p:nvPr/>
        </p:nvSpPr>
        <p:spPr>
          <a:xfrm>
            <a:off x="3102102"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a:extLst>
              <a:ext uri="{FF2B5EF4-FFF2-40B4-BE49-F238E27FC236}">
                <a16:creationId xmlns:a16="http://schemas.microsoft.com/office/drawing/2014/main" id="{5B2E2BEB-1362-28E0-2A60-AE028110C61C}"/>
              </a:ext>
            </a:extLst>
          </p:cNvPr>
          <p:cNvSpPr txBox="1"/>
          <p:nvPr/>
        </p:nvSpPr>
        <p:spPr>
          <a:xfrm>
            <a:off x="3266694" y="2283855"/>
            <a:ext cx="1164165" cy="369332"/>
          </a:xfrm>
          <a:prstGeom prst="rect">
            <a:avLst/>
          </a:prstGeom>
          <a:noFill/>
        </p:spPr>
        <p:txBody>
          <a:bodyPr wrap="square">
            <a:spAutoFit/>
          </a:bodyPr>
          <a:lstStyle/>
          <a:p>
            <a:r>
              <a:rPr b="1">
                <a:solidFill>
                  <a:srgbClr val="E2C05B"/>
                </a:solidFill>
                <a:latin typeface="Aptos"/>
              </a:rPr>
              <a:t>IMPROVE</a:t>
            </a:r>
          </a:p>
        </p:txBody>
      </p:sp>
      <p:sp>
        <p:nvSpPr>
          <p:cNvPr id="172" name="Rectangle 171">
            <a:extLst>
              <a:ext uri="{FF2B5EF4-FFF2-40B4-BE49-F238E27FC236}">
                <a16:creationId xmlns:a16="http://schemas.microsoft.com/office/drawing/2014/main" id="{0AC64F6B-5F66-7FAB-30D9-F1664BA0223F}"/>
              </a:ext>
            </a:extLst>
          </p:cNvPr>
          <p:cNvSpPr/>
          <p:nvPr/>
        </p:nvSpPr>
        <p:spPr>
          <a:xfrm>
            <a:off x="6094476"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a:extLst>
              <a:ext uri="{FF2B5EF4-FFF2-40B4-BE49-F238E27FC236}">
                <a16:creationId xmlns:a16="http://schemas.microsoft.com/office/drawing/2014/main" id="{14CE5E27-9EF5-C140-A012-D5FA6A3FDCCA}"/>
              </a:ext>
            </a:extLst>
          </p:cNvPr>
          <p:cNvSpPr txBox="1"/>
          <p:nvPr/>
        </p:nvSpPr>
        <p:spPr>
          <a:xfrm>
            <a:off x="6259068" y="2283855"/>
            <a:ext cx="826252" cy="369332"/>
          </a:xfrm>
          <a:prstGeom prst="rect">
            <a:avLst/>
          </a:prstGeom>
          <a:noFill/>
        </p:spPr>
        <p:txBody>
          <a:bodyPr wrap="square">
            <a:spAutoFit/>
          </a:bodyPr>
          <a:lstStyle/>
          <a:p>
            <a:r>
              <a:rPr b="1">
                <a:solidFill>
                  <a:srgbClr val="7EBEF4"/>
                </a:solidFill>
                <a:latin typeface="Aptos"/>
              </a:rPr>
              <a:t>START</a:t>
            </a:r>
          </a:p>
        </p:txBody>
      </p:sp>
      <p:sp>
        <p:nvSpPr>
          <p:cNvPr id="178" name="Rectangle 177">
            <a:extLst>
              <a:ext uri="{FF2B5EF4-FFF2-40B4-BE49-F238E27FC236}">
                <a16:creationId xmlns:a16="http://schemas.microsoft.com/office/drawing/2014/main" id="{B8E190C7-7CF2-38B0-6110-89DCF6982F20}"/>
              </a:ext>
            </a:extLst>
          </p:cNvPr>
          <p:cNvSpPr/>
          <p:nvPr/>
        </p:nvSpPr>
        <p:spPr>
          <a:xfrm>
            <a:off x="9086849"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a:extLst>
              <a:ext uri="{FF2B5EF4-FFF2-40B4-BE49-F238E27FC236}">
                <a16:creationId xmlns:a16="http://schemas.microsoft.com/office/drawing/2014/main" id="{8CA607AF-B965-2555-0146-4A6B28E3C0C1}"/>
              </a:ext>
            </a:extLst>
          </p:cNvPr>
          <p:cNvSpPr txBox="1"/>
          <p:nvPr/>
        </p:nvSpPr>
        <p:spPr>
          <a:xfrm>
            <a:off x="9251441" y="2283855"/>
            <a:ext cx="739754" cy="369332"/>
          </a:xfrm>
          <a:prstGeom prst="rect">
            <a:avLst/>
          </a:prstGeom>
          <a:noFill/>
        </p:spPr>
        <p:txBody>
          <a:bodyPr wrap="square">
            <a:spAutoFit/>
          </a:bodyPr>
          <a:lstStyle/>
          <a:p>
            <a:r>
              <a:rPr b="1">
                <a:solidFill>
                  <a:srgbClr val="EC7875"/>
                </a:solidFill>
                <a:latin typeface="Aptos"/>
              </a:rPr>
              <a:t>STOP</a:t>
            </a:r>
          </a:p>
        </p:txBody>
      </p:sp>
      <p:sp>
        <p:nvSpPr>
          <p:cNvPr id="184" name="Rounded Rectangle 31">
            <a:extLst>
              <a:ext uri="{FF2B5EF4-FFF2-40B4-BE49-F238E27FC236}">
                <a16:creationId xmlns:a16="http://schemas.microsoft.com/office/drawing/2014/main" id="{8D72BC74-C768-3B30-8ACC-CBA661FD415F}"/>
              </a:ext>
            </a:extLst>
          </p:cNvPr>
          <p:cNvSpPr/>
          <p:nvPr/>
        </p:nvSpPr>
        <p:spPr>
          <a:xfrm>
            <a:off x="109728" y="3482176"/>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a:extLst>
              <a:ext uri="{FF2B5EF4-FFF2-40B4-BE49-F238E27FC236}">
                <a16:creationId xmlns:a16="http://schemas.microsoft.com/office/drawing/2014/main" id="{3C28A91B-9072-F53B-C746-02AA833004E4}"/>
              </a:ext>
            </a:extLst>
          </p:cNvPr>
          <p:cNvSpPr txBox="1"/>
          <p:nvPr/>
        </p:nvSpPr>
        <p:spPr>
          <a:xfrm>
            <a:off x="420624" y="3551395"/>
            <a:ext cx="3821880" cy="400110"/>
          </a:xfrm>
          <a:prstGeom prst="rect">
            <a:avLst/>
          </a:prstGeom>
          <a:noFill/>
        </p:spPr>
        <p:txBody>
          <a:bodyPr wrap="square">
            <a:spAutoFit/>
          </a:bodyPr>
          <a:lstStyle/>
          <a:p>
            <a:r>
              <a:rPr lang="en-ZA" sz="2000" b="1" dirty="0">
                <a:solidFill>
                  <a:schemeClr val="bg1"/>
                </a:solidFill>
                <a:latin typeface="Aptos"/>
              </a:rPr>
              <a:t>PEOPLE &amp; CULTURE DYNAMICS</a:t>
            </a:r>
          </a:p>
        </p:txBody>
      </p:sp>
      <p:sp>
        <p:nvSpPr>
          <p:cNvPr id="188" name="Rectangle 187">
            <a:extLst>
              <a:ext uri="{FF2B5EF4-FFF2-40B4-BE49-F238E27FC236}">
                <a16:creationId xmlns:a16="http://schemas.microsoft.com/office/drawing/2014/main" id="{EE7F2E00-E329-D2A3-BB89-72F4D92F1B31}"/>
              </a:ext>
            </a:extLst>
          </p:cNvPr>
          <p:cNvSpPr/>
          <p:nvPr/>
        </p:nvSpPr>
        <p:spPr>
          <a:xfrm>
            <a:off x="109728" y="3966808"/>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a:extLst>
              <a:ext uri="{FF2B5EF4-FFF2-40B4-BE49-F238E27FC236}">
                <a16:creationId xmlns:a16="http://schemas.microsoft.com/office/drawing/2014/main" id="{A4B9FDE9-72D6-A4A6-29D3-FBB09A48C3DC}"/>
              </a:ext>
            </a:extLst>
          </p:cNvPr>
          <p:cNvSpPr txBox="1"/>
          <p:nvPr/>
        </p:nvSpPr>
        <p:spPr>
          <a:xfrm>
            <a:off x="274320" y="3911487"/>
            <a:ext cx="734496" cy="369332"/>
          </a:xfrm>
          <a:prstGeom prst="rect">
            <a:avLst/>
          </a:prstGeom>
          <a:noFill/>
        </p:spPr>
        <p:txBody>
          <a:bodyPr wrap="square">
            <a:spAutoFit/>
          </a:bodyPr>
          <a:lstStyle/>
          <a:p>
            <a:r>
              <a:rPr b="1">
                <a:solidFill>
                  <a:srgbClr val="78D7A4"/>
                </a:solidFill>
                <a:latin typeface="Aptos"/>
              </a:rPr>
              <a:t>KEEP</a:t>
            </a:r>
          </a:p>
        </p:txBody>
      </p:sp>
      <p:sp>
        <p:nvSpPr>
          <p:cNvPr id="194" name="Rectangle 193">
            <a:extLst>
              <a:ext uri="{FF2B5EF4-FFF2-40B4-BE49-F238E27FC236}">
                <a16:creationId xmlns:a16="http://schemas.microsoft.com/office/drawing/2014/main" id="{7EF4B658-67F5-52FB-6A28-F4341F0842CB}"/>
              </a:ext>
            </a:extLst>
          </p:cNvPr>
          <p:cNvSpPr/>
          <p:nvPr/>
        </p:nvSpPr>
        <p:spPr>
          <a:xfrm>
            <a:off x="3102102"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TextBox 195">
            <a:extLst>
              <a:ext uri="{FF2B5EF4-FFF2-40B4-BE49-F238E27FC236}">
                <a16:creationId xmlns:a16="http://schemas.microsoft.com/office/drawing/2014/main" id="{DF485018-33BD-9D7B-8D78-987A868E7CA1}"/>
              </a:ext>
            </a:extLst>
          </p:cNvPr>
          <p:cNvSpPr txBox="1"/>
          <p:nvPr/>
        </p:nvSpPr>
        <p:spPr>
          <a:xfrm>
            <a:off x="3266694" y="3911487"/>
            <a:ext cx="1164165" cy="369332"/>
          </a:xfrm>
          <a:prstGeom prst="rect">
            <a:avLst/>
          </a:prstGeom>
          <a:noFill/>
        </p:spPr>
        <p:txBody>
          <a:bodyPr wrap="square">
            <a:spAutoFit/>
          </a:bodyPr>
          <a:lstStyle/>
          <a:p>
            <a:r>
              <a:rPr b="1">
                <a:solidFill>
                  <a:srgbClr val="E2C05B"/>
                </a:solidFill>
                <a:latin typeface="Aptos"/>
              </a:rPr>
              <a:t>IMPROVE</a:t>
            </a:r>
          </a:p>
        </p:txBody>
      </p:sp>
      <p:sp>
        <p:nvSpPr>
          <p:cNvPr id="200" name="Rectangle 199">
            <a:extLst>
              <a:ext uri="{FF2B5EF4-FFF2-40B4-BE49-F238E27FC236}">
                <a16:creationId xmlns:a16="http://schemas.microsoft.com/office/drawing/2014/main" id="{35741074-3745-BA4E-E7CE-83A08EF95089}"/>
              </a:ext>
            </a:extLst>
          </p:cNvPr>
          <p:cNvSpPr/>
          <p:nvPr/>
        </p:nvSpPr>
        <p:spPr>
          <a:xfrm>
            <a:off x="6094476"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TextBox 201">
            <a:extLst>
              <a:ext uri="{FF2B5EF4-FFF2-40B4-BE49-F238E27FC236}">
                <a16:creationId xmlns:a16="http://schemas.microsoft.com/office/drawing/2014/main" id="{1BA45E2C-8F29-FF28-95C1-F2DF22F8B6AE}"/>
              </a:ext>
            </a:extLst>
          </p:cNvPr>
          <p:cNvSpPr txBox="1"/>
          <p:nvPr/>
        </p:nvSpPr>
        <p:spPr>
          <a:xfrm>
            <a:off x="6259068" y="3911487"/>
            <a:ext cx="826252" cy="369332"/>
          </a:xfrm>
          <a:prstGeom prst="rect">
            <a:avLst/>
          </a:prstGeom>
          <a:noFill/>
        </p:spPr>
        <p:txBody>
          <a:bodyPr wrap="square">
            <a:spAutoFit/>
          </a:bodyPr>
          <a:lstStyle/>
          <a:p>
            <a:r>
              <a:rPr b="1">
                <a:solidFill>
                  <a:srgbClr val="7EBEF4"/>
                </a:solidFill>
                <a:latin typeface="Aptos"/>
              </a:rPr>
              <a:t>START</a:t>
            </a:r>
          </a:p>
        </p:txBody>
      </p:sp>
      <p:sp>
        <p:nvSpPr>
          <p:cNvPr id="206" name="Rectangle 205">
            <a:extLst>
              <a:ext uri="{FF2B5EF4-FFF2-40B4-BE49-F238E27FC236}">
                <a16:creationId xmlns:a16="http://schemas.microsoft.com/office/drawing/2014/main" id="{039FBEF6-D4B4-C224-91E4-A78B6E71B35E}"/>
              </a:ext>
            </a:extLst>
          </p:cNvPr>
          <p:cNvSpPr/>
          <p:nvPr/>
        </p:nvSpPr>
        <p:spPr>
          <a:xfrm>
            <a:off x="9086849"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TextBox 207">
            <a:extLst>
              <a:ext uri="{FF2B5EF4-FFF2-40B4-BE49-F238E27FC236}">
                <a16:creationId xmlns:a16="http://schemas.microsoft.com/office/drawing/2014/main" id="{A6AAAC4A-BDFE-6EE8-36D4-CD1785960FCC}"/>
              </a:ext>
            </a:extLst>
          </p:cNvPr>
          <p:cNvSpPr txBox="1"/>
          <p:nvPr/>
        </p:nvSpPr>
        <p:spPr>
          <a:xfrm>
            <a:off x="9251441" y="3911487"/>
            <a:ext cx="739754" cy="369332"/>
          </a:xfrm>
          <a:prstGeom prst="rect">
            <a:avLst/>
          </a:prstGeom>
          <a:noFill/>
        </p:spPr>
        <p:txBody>
          <a:bodyPr wrap="square">
            <a:spAutoFit/>
          </a:bodyPr>
          <a:lstStyle/>
          <a:p>
            <a:r>
              <a:rPr b="1">
                <a:solidFill>
                  <a:srgbClr val="EC7875"/>
                </a:solidFill>
                <a:latin typeface="Aptos"/>
              </a:rPr>
              <a:t>STOP</a:t>
            </a:r>
          </a:p>
        </p:txBody>
      </p:sp>
      <p:sp>
        <p:nvSpPr>
          <p:cNvPr id="212" name="Rounded Rectangle 46">
            <a:extLst>
              <a:ext uri="{FF2B5EF4-FFF2-40B4-BE49-F238E27FC236}">
                <a16:creationId xmlns:a16="http://schemas.microsoft.com/office/drawing/2014/main" id="{D0F078F5-5E9C-7BD9-7000-740AC39247DF}"/>
              </a:ext>
            </a:extLst>
          </p:cNvPr>
          <p:cNvSpPr/>
          <p:nvPr/>
        </p:nvSpPr>
        <p:spPr>
          <a:xfrm>
            <a:off x="109728" y="5109808"/>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TextBox 213">
            <a:extLst>
              <a:ext uri="{FF2B5EF4-FFF2-40B4-BE49-F238E27FC236}">
                <a16:creationId xmlns:a16="http://schemas.microsoft.com/office/drawing/2014/main" id="{361EBEDE-A147-BA7E-03D1-5534F7D1FED6}"/>
              </a:ext>
            </a:extLst>
          </p:cNvPr>
          <p:cNvSpPr txBox="1"/>
          <p:nvPr/>
        </p:nvSpPr>
        <p:spPr>
          <a:xfrm>
            <a:off x="420624" y="5179027"/>
            <a:ext cx="3732560" cy="400110"/>
          </a:xfrm>
          <a:prstGeom prst="rect">
            <a:avLst/>
          </a:prstGeom>
          <a:noFill/>
        </p:spPr>
        <p:txBody>
          <a:bodyPr wrap="square">
            <a:spAutoFit/>
          </a:bodyPr>
          <a:lstStyle/>
          <a:p>
            <a:r>
              <a:rPr lang="en-ZA" sz="2000" b="1" dirty="0">
                <a:solidFill>
                  <a:schemeClr val="bg1"/>
                </a:solidFill>
                <a:latin typeface="Aptos"/>
              </a:rPr>
              <a:t>ENTERPRISE VALUE CREATION</a:t>
            </a:r>
          </a:p>
        </p:txBody>
      </p:sp>
      <p:sp>
        <p:nvSpPr>
          <p:cNvPr id="216" name="Rectangle 215">
            <a:extLst>
              <a:ext uri="{FF2B5EF4-FFF2-40B4-BE49-F238E27FC236}">
                <a16:creationId xmlns:a16="http://schemas.microsoft.com/office/drawing/2014/main" id="{A9929606-BA12-E0B1-3A8F-617007BAF782}"/>
              </a:ext>
            </a:extLst>
          </p:cNvPr>
          <p:cNvSpPr/>
          <p:nvPr/>
        </p:nvSpPr>
        <p:spPr>
          <a:xfrm>
            <a:off x="109728" y="5594440"/>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TextBox 217">
            <a:extLst>
              <a:ext uri="{FF2B5EF4-FFF2-40B4-BE49-F238E27FC236}">
                <a16:creationId xmlns:a16="http://schemas.microsoft.com/office/drawing/2014/main" id="{827384CF-F580-E9BF-A5AF-FDF4812CA84E}"/>
              </a:ext>
            </a:extLst>
          </p:cNvPr>
          <p:cNvSpPr txBox="1"/>
          <p:nvPr/>
        </p:nvSpPr>
        <p:spPr>
          <a:xfrm>
            <a:off x="274320" y="5539118"/>
            <a:ext cx="734496" cy="369332"/>
          </a:xfrm>
          <a:prstGeom prst="rect">
            <a:avLst/>
          </a:prstGeom>
          <a:noFill/>
        </p:spPr>
        <p:txBody>
          <a:bodyPr wrap="square">
            <a:spAutoFit/>
          </a:bodyPr>
          <a:lstStyle/>
          <a:p>
            <a:r>
              <a:rPr b="1">
                <a:solidFill>
                  <a:srgbClr val="78D7A4"/>
                </a:solidFill>
                <a:latin typeface="Aptos"/>
              </a:rPr>
              <a:t>KEEP</a:t>
            </a:r>
          </a:p>
        </p:txBody>
      </p:sp>
      <p:sp>
        <p:nvSpPr>
          <p:cNvPr id="222" name="Rectangle 221">
            <a:extLst>
              <a:ext uri="{FF2B5EF4-FFF2-40B4-BE49-F238E27FC236}">
                <a16:creationId xmlns:a16="http://schemas.microsoft.com/office/drawing/2014/main" id="{814BCCF0-62B3-4124-E829-96AF20486AF8}"/>
              </a:ext>
            </a:extLst>
          </p:cNvPr>
          <p:cNvSpPr/>
          <p:nvPr/>
        </p:nvSpPr>
        <p:spPr>
          <a:xfrm>
            <a:off x="3102102"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TextBox 223">
            <a:extLst>
              <a:ext uri="{FF2B5EF4-FFF2-40B4-BE49-F238E27FC236}">
                <a16:creationId xmlns:a16="http://schemas.microsoft.com/office/drawing/2014/main" id="{D07433B2-374D-387E-B84E-AA86C8A6154D}"/>
              </a:ext>
            </a:extLst>
          </p:cNvPr>
          <p:cNvSpPr txBox="1"/>
          <p:nvPr/>
        </p:nvSpPr>
        <p:spPr>
          <a:xfrm>
            <a:off x="3266694" y="5539118"/>
            <a:ext cx="1164165" cy="369332"/>
          </a:xfrm>
          <a:prstGeom prst="rect">
            <a:avLst/>
          </a:prstGeom>
          <a:noFill/>
        </p:spPr>
        <p:txBody>
          <a:bodyPr wrap="square">
            <a:spAutoFit/>
          </a:bodyPr>
          <a:lstStyle/>
          <a:p>
            <a:r>
              <a:rPr b="1">
                <a:solidFill>
                  <a:srgbClr val="E2C05B"/>
                </a:solidFill>
                <a:latin typeface="Aptos"/>
              </a:rPr>
              <a:t>IMPROVE</a:t>
            </a:r>
          </a:p>
        </p:txBody>
      </p:sp>
      <p:sp>
        <p:nvSpPr>
          <p:cNvPr id="228" name="Rectangle 227">
            <a:extLst>
              <a:ext uri="{FF2B5EF4-FFF2-40B4-BE49-F238E27FC236}">
                <a16:creationId xmlns:a16="http://schemas.microsoft.com/office/drawing/2014/main" id="{D1185901-0808-42CA-1614-B4E9D7D77099}"/>
              </a:ext>
            </a:extLst>
          </p:cNvPr>
          <p:cNvSpPr/>
          <p:nvPr/>
        </p:nvSpPr>
        <p:spPr>
          <a:xfrm>
            <a:off x="6094476"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TextBox 229">
            <a:extLst>
              <a:ext uri="{FF2B5EF4-FFF2-40B4-BE49-F238E27FC236}">
                <a16:creationId xmlns:a16="http://schemas.microsoft.com/office/drawing/2014/main" id="{8CCE058E-1D9C-11F1-B2B4-823B9BE906EB}"/>
              </a:ext>
            </a:extLst>
          </p:cNvPr>
          <p:cNvSpPr txBox="1"/>
          <p:nvPr/>
        </p:nvSpPr>
        <p:spPr>
          <a:xfrm>
            <a:off x="6259068" y="5539118"/>
            <a:ext cx="826252" cy="369332"/>
          </a:xfrm>
          <a:prstGeom prst="rect">
            <a:avLst/>
          </a:prstGeom>
          <a:noFill/>
        </p:spPr>
        <p:txBody>
          <a:bodyPr wrap="square">
            <a:spAutoFit/>
          </a:bodyPr>
          <a:lstStyle/>
          <a:p>
            <a:r>
              <a:rPr b="1">
                <a:solidFill>
                  <a:srgbClr val="7EBEF4"/>
                </a:solidFill>
                <a:latin typeface="Aptos"/>
              </a:rPr>
              <a:t>START</a:t>
            </a:r>
          </a:p>
        </p:txBody>
      </p:sp>
      <p:sp>
        <p:nvSpPr>
          <p:cNvPr id="234" name="Rectangle 233">
            <a:extLst>
              <a:ext uri="{FF2B5EF4-FFF2-40B4-BE49-F238E27FC236}">
                <a16:creationId xmlns:a16="http://schemas.microsoft.com/office/drawing/2014/main" id="{E45F0AA4-4FE5-3A2E-3DC2-44712B0BD9E6}"/>
              </a:ext>
            </a:extLst>
          </p:cNvPr>
          <p:cNvSpPr/>
          <p:nvPr/>
        </p:nvSpPr>
        <p:spPr>
          <a:xfrm>
            <a:off x="9086849"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TextBox 235">
            <a:extLst>
              <a:ext uri="{FF2B5EF4-FFF2-40B4-BE49-F238E27FC236}">
                <a16:creationId xmlns:a16="http://schemas.microsoft.com/office/drawing/2014/main" id="{4B3EBE03-B8DC-ED3C-189E-16E902858530}"/>
              </a:ext>
            </a:extLst>
          </p:cNvPr>
          <p:cNvSpPr txBox="1"/>
          <p:nvPr/>
        </p:nvSpPr>
        <p:spPr>
          <a:xfrm>
            <a:off x="9251441" y="5539118"/>
            <a:ext cx="739754" cy="369332"/>
          </a:xfrm>
          <a:prstGeom prst="rect">
            <a:avLst/>
          </a:prstGeom>
          <a:noFill/>
        </p:spPr>
        <p:txBody>
          <a:bodyPr wrap="square">
            <a:spAutoFit/>
          </a:bodyPr>
          <a:lstStyle/>
          <a:p>
            <a:r>
              <a:rPr b="1">
                <a:solidFill>
                  <a:srgbClr val="EC7875"/>
                </a:solidFill>
                <a:latin typeface="Aptos"/>
              </a:rPr>
              <a:t>STOP</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0A7447F-715D-4A04-DD90-F3202E6D19D1}"/>
            </a:ext>
          </a:extLst>
        </p:cNvPr>
        <p:cNvGrpSpPr/>
        <p:nvPr/>
      </p:nvGrpSpPr>
      <p:grpSpPr>
        <a:xfrm>
          <a:off x="0" y="0"/>
          <a:ext cx="0" cy="0"/>
          <a:chOff x="0" y="0"/>
          <a:chExt cx="0" cy="0"/>
        </a:xfrm>
      </p:grpSpPr>
      <p:sp>
        <p:nvSpPr>
          <p:cNvPr id="40" name="Rectangle 39">
            <a:extLst>
              <a:ext uri="{FF2B5EF4-FFF2-40B4-BE49-F238E27FC236}">
                <a16:creationId xmlns:a16="http://schemas.microsoft.com/office/drawing/2014/main" id="{4A9D98AB-EDC4-7F7D-1170-C777BCE0B685}"/>
              </a:ext>
            </a:extLst>
          </p:cNvPr>
          <p:cNvSpPr/>
          <p:nvPr/>
        </p:nvSpPr>
        <p:spPr>
          <a:xfrm>
            <a:off x="2532887" y="2729652"/>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2" name="Rectangle 41">
            <a:extLst>
              <a:ext uri="{FF2B5EF4-FFF2-40B4-BE49-F238E27FC236}">
                <a16:creationId xmlns:a16="http://schemas.microsoft.com/office/drawing/2014/main" id="{EFD6C27F-D01B-9FE4-2E13-D763F5F9AADE}"/>
              </a:ext>
            </a:extLst>
          </p:cNvPr>
          <p:cNvSpPr/>
          <p:nvPr/>
        </p:nvSpPr>
        <p:spPr>
          <a:xfrm>
            <a:off x="4928615" y="2729652"/>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4" name="Rectangle 43">
            <a:extLst>
              <a:ext uri="{FF2B5EF4-FFF2-40B4-BE49-F238E27FC236}">
                <a16:creationId xmlns:a16="http://schemas.microsoft.com/office/drawing/2014/main" id="{18AD597B-2718-848E-39EF-CD5F92476C88}"/>
              </a:ext>
            </a:extLst>
          </p:cNvPr>
          <p:cNvSpPr/>
          <p:nvPr/>
        </p:nvSpPr>
        <p:spPr>
          <a:xfrm>
            <a:off x="7324342" y="2726951"/>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6" name="Rectangle 45">
            <a:extLst>
              <a:ext uri="{FF2B5EF4-FFF2-40B4-BE49-F238E27FC236}">
                <a16:creationId xmlns:a16="http://schemas.microsoft.com/office/drawing/2014/main" id="{DBD3F8C2-DA4C-BAD7-AA25-2D14C4FAC11A}"/>
              </a:ext>
            </a:extLst>
          </p:cNvPr>
          <p:cNvSpPr/>
          <p:nvPr/>
        </p:nvSpPr>
        <p:spPr>
          <a:xfrm>
            <a:off x="9720072" y="2725700"/>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8" name="Rectangle 37">
            <a:extLst>
              <a:ext uri="{FF2B5EF4-FFF2-40B4-BE49-F238E27FC236}">
                <a16:creationId xmlns:a16="http://schemas.microsoft.com/office/drawing/2014/main" id="{2F96DC52-718E-B640-D26C-364643DF3B6A}"/>
              </a:ext>
            </a:extLst>
          </p:cNvPr>
          <p:cNvSpPr/>
          <p:nvPr/>
        </p:nvSpPr>
        <p:spPr>
          <a:xfrm>
            <a:off x="137160" y="2732353"/>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 name="Text 0">
            <a:extLst>
              <a:ext uri="{FF2B5EF4-FFF2-40B4-BE49-F238E27FC236}">
                <a16:creationId xmlns:a16="http://schemas.microsoft.com/office/drawing/2014/main" id="{477519F8-C724-F815-9BE0-9B3A5A9D64C7}"/>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Aptos Light" panose="020B0004020202020204" pitchFamily="34" charset="0"/>
                <a:ea typeface="Cambria" pitchFamily="34" charset="-122"/>
                <a:cs typeface="Cambria" pitchFamily="34" charset="-120"/>
              </a:rPr>
              <a:t>5.2 Translating KISS to OKRs: The Five Steps</a:t>
            </a:r>
            <a:endParaRPr lang="en-US" sz="3600" dirty="0">
              <a:latin typeface="Aptos Light" panose="020B0004020202020204" pitchFamily="34" charset="0"/>
            </a:endParaRPr>
          </a:p>
        </p:txBody>
      </p:sp>
      <p:sp>
        <p:nvSpPr>
          <p:cNvPr id="16" name="Rounded Rectangle 2">
            <a:extLst>
              <a:ext uri="{FF2B5EF4-FFF2-40B4-BE49-F238E27FC236}">
                <a16:creationId xmlns:a16="http://schemas.microsoft.com/office/drawing/2014/main" id="{C26B0CC1-8B73-F2EE-E0DD-76A7081A54B5}"/>
              </a:ext>
            </a:extLst>
          </p:cNvPr>
          <p:cNvSpPr/>
          <p:nvPr/>
        </p:nvSpPr>
        <p:spPr>
          <a:xfrm>
            <a:off x="137160"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FIND THEMES</a:t>
            </a:r>
          </a:p>
        </p:txBody>
      </p:sp>
      <p:sp>
        <p:nvSpPr>
          <p:cNvPr id="21" name="Rounded Rectangle 3">
            <a:extLst>
              <a:ext uri="{FF2B5EF4-FFF2-40B4-BE49-F238E27FC236}">
                <a16:creationId xmlns:a16="http://schemas.microsoft.com/office/drawing/2014/main" id="{5FCC10C3-63D6-7023-2EFD-4690719CA782}"/>
              </a:ext>
            </a:extLst>
          </p:cNvPr>
          <p:cNvSpPr/>
          <p:nvPr/>
        </p:nvSpPr>
        <p:spPr>
          <a:xfrm>
            <a:off x="2532887"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457200"/>
            <a:r>
              <a:rPr lang="en-ZA" sz="2400" b="1" dirty="0">
                <a:solidFill>
                  <a:srgbClr val="CDAB49"/>
                </a:solidFill>
                <a:latin typeface="Aptos Light" panose="020B0004020202020204" pitchFamily="34" charset="0"/>
              </a:rPr>
              <a:t>STEP 2</a:t>
            </a:r>
          </a:p>
          <a:p>
            <a:pPr algn="ctr" defTabSz="457200">
              <a:defRPr/>
            </a:pPr>
            <a:r>
              <a:rPr lang="en-ZA" sz="2400" b="1" dirty="0">
                <a:solidFill>
                  <a:srgbClr val="B2B4A7"/>
                </a:solidFill>
                <a:latin typeface="Aptos Light" panose="020B0004020202020204" pitchFamily="34" charset="0"/>
              </a:rPr>
              <a:t>INSPIRING OBJECTIVES</a:t>
            </a:r>
          </a:p>
        </p:txBody>
      </p:sp>
      <p:sp>
        <p:nvSpPr>
          <p:cNvPr id="23" name="Rounded Rectangle 4">
            <a:extLst>
              <a:ext uri="{FF2B5EF4-FFF2-40B4-BE49-F238E27FC236}">
                <a16:creationId xmlns:a16="http://schemas.microsoft.com/office/drawing/2014/main" id="{E85B7795-83E9-BC71-AFEB-0E98447811EC}"/>
              </a:ext>
            </a:extLst>
          </p:cNvPr>
          <p:cNvSpPr/>
          <p:nvPr/>
        </p:nvSpPr>
        <p:spPr>
          <a:xfrm>
            <a:off x="4928616"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CDAB49"/>
                </a:solidFill>
                <a:effectLst/>
                <a:uLnTx/>
                <a:uFillTx/>
                <a:latin typeface="Aptos Light" panose="020B0004020202020204" pitchFamily="34" charset="0"/>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B2B4A7"/>
                </a:solidFill>
                <a:effectLst/>
                <a:uLnTx/>
                <a:uFillTx/>
                <a:latin typeface="Aptos Light" panose="020B0004020202020204" pitchFamily="34" charset="0"/>
              </a:rPr>
              <a:t>DEFINE KEY RESULTS</a:t>
            </a:r>
          </a:p>
        </p:txBody>
      </p:sp>
      <p:sp>
        <p:nvSpPr>
          <p:cNvPr id="25" name="Rounded Rectangle 5">
            <a:extLst>
              <a:ext uri="{FF2B5EF4-FFF2-40B4-BE49-F238E27FC236}">
                <a16:creationId xmlns:a16="http://schemas.microsoft.com/office/drawing/2014/main" id="{494535F2-84A5-04E7-D38A-840600B21240}"/>
              </a:ext>
            </a:extLst>
          </p:cNvPr>
          <p:cNvSpPr/>
          <p:nvPr/>
        </p:nvSpPr>
        <p:spPr>
          <a:xfrm>
            <a:off x="7324344"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ALIGNMENT TEST</a:t>
            </a:r>
          </a:p>
        </p:txBody>
      </p:sp>
      <p:sp>
        <p:nvSpPr>
          <p:cNvPr id="27" name="Rounded Rectangle 6">
            <a:extLst>
              <a:ext uri="{FF2B5EF4-FFF2-40B4-BE49-F238E27FC236}">
                <a16:creationId xmlns:a16="http://schemas.microsoft.com/office/drawing/2014/main" id="{F926502D-9E25-7797-D8B3-DA248BED2051}"/>
              </a:ext>
            </a:extLst>
          </p:cNvPr>
          <p:cNvSpPr/>
          <p:nvPr/>
        </p:nvSpPr>
        <p:spPr>
          <a:xfrm>
            <a:off x="9720072"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PRIORITY MATRIX</a:t>
            </a:r>
          </a:p>
        </p:txBody>
      </p:sp>
      <p:sp>
        <p:nvSpPr>
          <p:cNvPr id="29" name="TextBox 28">
            <a:extLst>
              <a:ext uri="{FF2B5EF4-FFF2-40B4-BE49-F238E27FC236}">
                <a16:creationId xmlns:a16="http://schemas.microsoft.com/office/drawing/2014/main" id="{558B29DB-A509-9C61-3E13-D1644021E56D}"/>
              </a:ext>
            </a:extLst>
          </p:cNvPr>
          <p:cNvSpPr txBox="1"/>
          <p:nvPr/>
        </p:nvSpPr>
        <p:spPr>
          <a:xfrm>
            <a:off x="137160" y="279089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Up to four, from the confirmed KISS map</a:t>
            </a:r>
            <a:endParaRPr lang="en-ZA" dirty="0">
              <a:latin typeface="Aptos Light" panose="020B0004020202020204" pitchFamily="34" charset="0"/>
            </a:endParaRPr>
          </a:p>
        </p:txBody>
      </p:sp>
      <p:sp>
        <p:nvSpPr>
          <p:cNvPr id="31" name="TextBox 30">
            <a:extLst>
              <a:ext uri="{FF2B5EF4-FFF2-40B4-BE49-F238E27FC236}">
                <a16:creationId xmlns:a16="http://schemas.microsoft.com/office/drawing/2014/main" id="{FDC90A1D-15C7-B25E-2C2D-0054DBDACA3B}"/>
              </a:ext>
            </a:extLst>
          </p:cNvPr>
          <p:cNvSpPr txBox="1"/>
          <p:nvPr/>
        </p:nvSpPr>
        <p:spPr>
          <a:xfrm>
            <a:off x="2532888" y="2732354"/>
            <a:ext cx="2331720" cy="892552"/>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One Objective for each theme</a:t>
            </a:r>
            <a:endParaRPr lang="en-ZA" dirty="0">
              <a:latin typeface="Aptos Light" panose="020B0004020202020204" pitchFamily="34" charset="0"/>
            </a:endParaRPr>
          </a:p>
        </p:txBody>
      </p:sp>
      <p:sp>
        <p:nvSpPr>
          <p:cNvPr id="33" name="TextBox 32">
            <a:extLst>
              <a:ext uri="{FF2B5EF4-FFF2-40B4-BE49-F238E27FC236}">
                <a16:creationId xmlns:a16="http://schemas.microsoft.com/office/drawing/2014/main" id="{B034759A-DF6F-B946-1A21-DD44D98C76FC}"/>
              </a:ext>
            </a:extLst>
          </p:cNvPr>
          <p:cNvSpPr txBox="1"/>
          <p:nvPr/>
        </p:nvSpPr>
        <p:spPr>
          <a:xfrm>
            <a:off x="4928616" y="279089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Up to two KRs with the contributing roles</a:t>
            </a:r>
            <a:endParaRPr lang="en-ZA" dirty="0">
              <a:latin typeface="Aptos Light" panose="020B0004020202020204" pitchFamily="34" charset="0"/>
            </a:endParaRPr>
          </a:p>
        </p:txBody>
      </p:sp>
      <p:sp>
        <p:nvSpPr>
          <p:cNvPr id="35" name="TextBox 34">
            <a:extLst>
              <a:ext uri="{FF2B5EF4-FFF2-40B4-BE49-F238E27FC236}">
                <a16:creationId xmlns:a16="http://schemas.microsoft.com/office/drawing/2014/main" id="{6F547797-2244-23FE-7196-042818672AC5}"/>
              </a:ext>
            </a:extLst>
          </p:cNvPr>
          <p:cNvSpPr txBox="1"/>
          <p:nvPr/>
        </p:nvSpPr>
        <p:spPr>
          <a:xfrm>
            <a:off x="7324344" y="2790894"/>
            <a:ext cx="2331720" cy="892552"/>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Align yes, to all four questions</a:t>
            </a:r>
            <a:endParaRPr lang="en-ZA" dirty="0">
              <a:latin typeface="Aptos Light" panose="020B0004020202020204" pitchFamily="34" charset="0"/>
            </a:endParaRPr>
          </a:p>
        </p:txBody>
      </p:sp>
      <p:sp>
        <p:nvSpPr>
          <p:cNvPr id="37" name="TextBox 36">
            <a:extLst>
              <a:ext uri="{FF2B5EF4-FFF2-40B4-BE49-F238E27FC236}">
                <a16:creationId xmlns:a16="http://schemas.microsoft.com/office/drawing/2014/main" id="{8D561D32-9EED-4330-F893-813E5921E283}"/>
              </a:ext>
            </a:extLst>
          </p:cNvPr>
          <p:cNvSpPr txBox="1"/>
          <p:nvPr/>
        </p:nvSpPr>
        <p:spPr>
          <a:xfrm>
            <a:off x="9720071" y="273235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Each priority placed by Impact and Effort</a:t>
            </a:r>
            <a:endParaRPr lang="en-ZA" dirty="0">
              <a:latin typeface="Aptos Light" panose="020B0004020202020204" pitchFamily="34" charset="0"/>
            </a:endParaRPr>
          </a:p>
        </p:txBody>
      </p:sp>
    </p:spTree>
    <p:extLst>
      <p:ext uri="{BB962C8B-B14F-4D97-AF65-F5344CB8AC3E}">
        <p14:creationId xmlns:p14="http://schemas.microsoft.com/office/powerpoint/2010/main" val="14510961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461</TotalTime>
  <Words>15291</Words>
  <Application>Microsoft Office PowerPoint</Application>
  <PresentationFormat>Widescreen</PresentationFormat>
  <Paragraphs>1600</Paragraphs>
  <Slides>34</Slides>
  <Notes>34</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34</vt:i4>
      </vt:variant>
    </vt:vector>
  </HeadingPairs>
  <TitlesOfParts>
    <vt:vector size="44" baseType="lpstr">
      <vt:lpstr>Aptos</vt:lpstr>
      <vt:lpstr>Aptos Display</vt:lpstr>
      <vt:lpstr>Aptos Light</vt:lpstr>
      <vt:lpstr>Arial</vt:lpstr>
      <vt:lpstr>Calibri</vt:lpstr>
      <vt:lpstr>Cambria</vt:lpstr>
      <vt:lpstr>Georgia</vt:lpstr>
      <vt:lpstr>Office Theme</vt:lpstr>
      <vt:lpstr>1_Office Theme</vt:lpstr>
      <vt:lpstr>2_Office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3 · SiP KISS Mapping &amp; OKR Definition</dc:title>
  <dc:subject>PptxGenJS Presentation</dc:subject>
  <dc:creator>Institute of Behavioural Strategy &amp; Leadership</dc:creator>
  <cp:lastModifiedBy>Carol Lupiya</cp:lastModifiedBy>
  <cp:revision>3</cp:revision>
  <dcterms:created xsi:type="dcterms:W3CDTF">2026-10-06T19:01:23Z</dcterms:created>
  <dcterms:modified xsi:type="dcterms:W3CDTF">2026-10-07T14:48:52Z</dcterms:modified>
</cp:coreProperties>
</file>