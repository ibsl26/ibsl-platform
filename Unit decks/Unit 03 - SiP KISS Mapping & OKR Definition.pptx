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 id="2147483670" r:id="rId3"/>
  </p:sldMasterIdLst>
  <p:notesMasterIdLst>
    <p:notesMasterId r:id="rId38"/>
  </p:notesMasterIdLst>
  <p:sldIdLst>
    <p:sldId id="256" r:id="rId4"/>
    <p:sldId id="257" r:id="rId5"/>
    <p:sldId id="258" r:id="rId6"/>
    <p:sldId id="259" r:id="rId7"/>
    <p:sldId id="260" r:id="rId8"/>
    <p:sldId id="261" r:id="rId9"/>
    <p:sldId id="262" r:id="rId10"/>
    <p:sldId id="263" r:id="rId11"/>
    <p:sldId id="264" r:id="rId12"/>
    <p:sldId id="265" r:id="rId13"/>
    <p:sldId id="287" r:id="rId14"/>
    <p:sldId id="266" r:id="rId15"/>
    <p:sldId id="267" r:id="rId16"/>
    <p:sldId id="268" r:id="rId17"/>
    <p:sldId id="269" r:id="rId18"/>
    <p:sldId id="270" r:id="rId19"/>
    <p:sldId id="303" r:id="rId43"/>
    <p:sldId id="296" r:id="rId20"/>
    <p:sldId id="297" r:id="rId21"/>
    <p:sldId id="298" r:id="rId22"/>
    <p:sldId id="299" r:id="rId23"/>
    <p:sldId id="300" r:id="rId24"/>
    <p:sldId id="288" r:id="rId25"/>
    <p:sldId id="274" r:id="rId26"/>
    <p:sldId id="275" r:id="rId27"/>
    <p:sldId id="276" r:id="rId28"/>
    <p:sldId id="277" r:id="rId29"/>
    <p:sldId id="301" r:id="rId30"/>
    <p:sldId id="289" r:id="rId31"/>
    <p:sldId id="284" r:id="rId35"/>
    <p:sldId id="285" r:id="rId36"/>
    <p:sldId id="279" r:id="rId32"/>
    <p:sldId id="280" r:id="rId33"/>
    <p:sldId id="302" r:id="rId34"/>
    <p:sldId id="286"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1" autoAdjust="0"/>
    <p:restoredTop sz="66900" autoAdjust="0"/>
  </p:normalViewPr>
  <p:slideViewPr>
    <p:cSldViewPr snapToGrid="0" snapToObjects="1">
      <p:cViewPr>
        <p:scale>
          <a:sx n="35" d="100"/>
          <a:sy n="35" d="100"/>
        </p:scale>
        <p:origin x="1644" y="278"/>
      </p:cViewPr>
      <p:guideLst/>
    </p:cSldViewPr>
  </p:slideViewPr>
  <p:notesTextViewPr>
    <p:cViewPr>
      <p:scale>
        <a:sx n="1" d="1"/>
        <a:sy n="1" d="1"/>
      </p:scale>
      <p:origin x="0" y="-529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5.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95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UNIT 3 · SiP KISS MAPPING &amp; OKR DEFINITION</a:t>
            </a:r>
          </a:p>
          <a:p>
            <a:r>
              <a:t>Module 2 · Direction · Unit 3</a:t>
            </a:r>
          </a:p>
          <a:p>
            <a:r>
              <a:t/>
            </a:r>
          </a:p>
          <a:p>
            <a:r>
              <a:rPr b="1"/>
              <a:t>HOW THE UNIT RUNS:</a:t>
            </a:r>
          </a:p>
          <a:p>
            <a:r>
              <a:t>1. You teach the whole unit from this deck first, from Section 1 to the Unit Summary. The deck is the teaching material. The teaching includes one learning round of the Strategy Airport game, played with the room.</a:t>
            </a:r>
          </a:p>
          <a:p>
            <a:r>
              <a:t>2. Participants then go to the portal and complete their own page, in the session or after it: the reflections, the matching exercise, their own Strategy Airport learning round and the group work of Section 5.</a:t>
            </a:r>
          </a:p>
          <a:p>
            <a:r>
              <a:t>3. The matching exercise in Section 3 and the game in Section 4 are portfolio work. Each participant completes them alone, and they become part of the participant's Learning Portfolio.</a:t>
            </a:r>
          </a:p>
          <a:p>
            <a:r>
              <a:t>4. Section 5 is group work for the Capstone. The group chooses its scribe for this work. The scribe types what the group agrees, the entries appear on every member's page, and each member then selects Agree.</a:t>
            </a:r>
          </a:p>
          <a:p>
            <a:r>
              <a:t/>
            </a:r>
          </a:p>
          <a:p>
            <a:r>
              <a:t>Each slide's notes end with a block headed "On the portal, after the teaching" wherever participants have something to complete for that part.</a:t>
            </a:r>
          </a:p>
          <a:p>
            <a:r>
              <a:t/>
            </a:r>
          </a:p>
          <a:p>
            <a:r>
              <a:rPr b="1"/>
              <a:t>YOUR PREPARATION AS FACILITATOR:</a:t>
            </a:r>
          </a:p>
          <a:p>
            <a:r>
              <a:t>- Read the Facilitator Guide tab and every section of the facilitator file.</a:t>
            </a:r>
          </a:p>
          <a:p>
            <a:r>
              <a:t>- Have the facilitator file ready in your browser at Section 4, so that the Strategy Airport game can be shared when you reach it.</a:t>
            </a:r>
          </a:p>
          <a:p>
            <a:r>
              <a:t/>
            </a:r>
          </a:p>
          <a:p>
            <a:r>
              <a:rPr b="1"/>
              <a:t>WHERE THE OUTPUTS GO NEXT:</a:t>
            </a:r>
          </a:p>
          <a:p>
            <a:r>
              <a:t>- The confirmed KISS map, Enterprise Priorities and Enterprise OKRs feed boxes 3A to 3F of the team's Capstone S2R® Blueprint.</a:t>
            </a:r>
          </a:p>
          <a:p>
            <a:r>
              <a:t/>
            </a:r>
          </a:p>
          <a:p>
            <a:r>
              <a:rPr b="1"/>
              <a:t>UNIT INTENT:</a:t>
            </a:r>
          </a:p>
          <a:p>
            <a:r>
              <a:t>Unit 3 converts Success in Practice into a measurable execution architecture. The KISS reflection examines current practice honestly before any target is set; OKRs then express the enterprise priorities that reflection reveals.</a:t>
            </a:r>
          </a:p>
          <a:p>
            <a:r>
              <a:t>The five-step path is the core of the unit. It moves executives from functional objectives to enterprise priorities judged on strategic merit.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b="1" dirty="0"/>
              <a:t>KEY LEARNING OUTCOMES</a:t>
            </a:r>
          </a:p>
          <a:p>
            <a:endParaRPr lang="en-GB" dirty="0"/>
          </a:p>
          <a:p>
            <a:r>
              <a:rPr lang="en-GB" b="1" dirty="0"/>
              <a:t>HOW TO USE THIS SLIDE:</a:t>
            </a:r>
          </a:p>
          <a:p>
            <a:r>
              <a:rPr lang="en-GB" b="1" dirty="0"/>
              <a:t>Read the four outcomes aloud and say where the unit delivers each one.</a:t>
            </a:r>
          </a:p>
          <a:p>
            <a:r>
              <a:rPr lang="en-GB" dirty="0"/>
              <a:t>- Outcome 1 is built in 1.2 and 1.3 (the four KISS filters and the four SiP domains) and produced in 5.1 (the group’s KISS map).</a:t>
            </a:r>
          </a:p>
          <a:p>
            <a:r>
              <a:rPr lang="en-GB" dirty="0"/>
              <a:t>- Outcome 2 is built in 1.5 (the five steps and the Prioritisation Matrix) and in Section 3 (the natural emphasis of each leadership role), and produced in 5.2 (the Enterprise Priorities).</a:t>
            </a:r>
          </a:p>
          <a:p>
            <a:r>
              <a:rPr lang="en-GB" dirty="0"/>
              <a:t>- Outcome 3 is built in 1.4 (Objectives and Key Results) and produced in 5.2 (the Enterprise OKRs) and in 4.1 (the Strategy Airport flight plan).</a:t>
            </a:r>
          </a:p>
          <a:p>
            <a:r>
              <a:rPr lang="en-GB" dirty="0"/>
              <a:t>- Outcome 4 is shown in 2.2 (the worked example, from one SiP statement to its OKRs) and produced in 5.2, where every Key Result names its contributing roles.</a:t>
            </a:r>
          </a:p>
          <a:p>
            <a:endParaRPr lang="en-GB" dirty="0"/>
          </a:p>
          <a:p>
            <a:r>
              <a:rPr lang="en-GB" dirty="0"/>
              <a:t>Each section slide carries that section’s two learning outcomes.</a:t>
            </a:r>
          </a:p>
          <a:p>
            <a:endParaRPr lang="en-GB" dirty="0"/>
          </a:p>
          <a:p>
            <a:r>
              <a:rPr lang="en-GB" b="1" dirty="0"/>
              <a:t>QUESTION TO ASK:</a:t>
            </a:r>
          </a:p>
          <a:p>
            <a:r>
              <a:rPr lang="en-GB" dirty="0"/>
              <a:t>"Which of these four outcomes would make the largest difference to how your leadership team works today?"</a:t>
            </a:r>
          </a:p>
          <a:p>
            <a:endParaRPr lang="en-GB" dirty="0"/>
          </a:p>
          <a:p>
            <a:r>
              <a:rPr lang="en-GB" dirty="0"/>
              <a:t>Take two or three answers. They tell you where the room expects the most from the unit.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FACILITATOR GUIDE · SESSION OVERVIEW</a:t>
            </a:r>
          </a:p>
          <a:p>
            <a:r>
              <a:t/>
            </a:r>
          </a:p>
          <a:p>
            <a:r>
              <a:rPr b="1"/>
              <a:t>HOW TO USE THIS SLIDE:</a:t>
            </a:r>
          </a:p>
          <a:p>
            <a:r>
              <a:rPr b="1"/>
              <a:t>1. Walk the five sections.</a:t>
            </a:r>
          </a:p>
          <a:p>
            <a:r>
              <a:t>Use the list below, one sentence for each section.</a:t>
            </a:r>
          </a:p>
          <a:p>
            <a:r>
              <a:t/>
            </a:r>
          </a:p>
          <a:p>
            <a:r>
              <a:rPr b="1"/>
              <a:t>2. Say how the sections fit together.</a:t>
            </a:r>
          </a:p>
          <a:p>
            <a:r>
              <a:rPr b="1"/>
              <a:t>Say:</a:t>
            </a:r>
            <a:r>
              <a:t> "Sections 1 to 3 prepare the thinking. Section 4 is a game: we play it together first, and then each of you plays it alone. Section 5 is where your group produces its own outputs for the Capstone."</a:t>
            </a:r>
          </a:p>
          <a:p>
            <a:r>
              <a:t/>
            </a:r>
          </a:p>
          <a:p>
            <a:r>
              <a:rPr b="1"/>
              <a:t>3. Say how the unit runs.</a:t>
            </a:r>
          </a:p>
          <a:p>
            <a:r>
              <a:rPr b="1"/>
              <a:t>Say:</a:t>
            </a:r>
            <a:r>
              <a:t> "I teach all five sections from this deck first. You then complete the unit on the portal, in the session or after it."</a:t>
            </a:r>
          </a:p>
          <a:p>
            <a:r>
              <a:t/>
            </a:r>
          </a:p>
          <a:p>
            <a:r>
              <a:rPr b="1"/>
              <a:t>4. Bridge to Section 1.</a:t>
            </a:r>
          </a:p>
          <a:p>
            <a:r>
              <a:rPr b="1"/>
              <a:t>Say:</a:t>
            </a:r>
            <a:r>
              <a:t> "We start with what must change, and how that change is made measurable."</a:t>
            </a:r>
          </a:p>
          <a:p>
            <a:r>
              <a:t/>
            </a:r>
          </a:p>
          <a:p>
            <a:r>
              <a:rPr b="1"/>
              <a:t>THE FIVE SECTIONS:</a:t>
            </a:r>
          </a:p>
          <a:p>
            <a:r>
              <a:t>- Section 1 · Awareness — What: examining current operating reality against Success in Practice, and translating it into Objectives and Key Results. KISS (Keep, Improve, Start, Stop), the four SiP domains it is applied to, the anatomy of Objectives and Key Results, and the five steps from KISS output to enterprise OKRs.</a:t>
            </a:r>
          </a:p>
          <a:p>
            <a:r>
              <a:t>- Section 2 · Intelligence — Why: why OKRs built on an honest reading of operating reality hold up in execution. The danger of going straight from vision to targets, and one worked example that follows a SiP statement through KISS and the five steps.</a:t>
            </a:r>
          </a:p>
          <a:p>
            <a:r>
              <a:t>- Section 3 · Extrapolating — Where: how each leadership role's natural emphasis shapes the OKRs it proposes: its natural OKR emphasis, its typical hot zone and its alignment question.</a:t>
            </a:r>
          </a:p>
          <a:p>
            <a:r>
              <a:t>- Section 4 · Integration — Collective: Strategy Airport, a game that takes one Success in Practice statement through KISS insight to an execution-ready OKR. Played with the room in the lesson, then by each participant alone.</a:t>
            </a:r>
          </a:p>
          <a:p>
            <a:r>
              <a:t>- Section 5 · Application — In Practice: each group translates its Success in Practice into a KISS map and then into Enterprise OKRs through the five steps. This is Capstone work: the confirmed outputs feed boxes 3A to 3F of the team's Capstone S2R® Blueprint.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SECTION 1 · AWARENESS — WHAT</a:t>
            </a:r>
          </a:p>
          <a:p>
            <a:r>
              <a:t/>
            </a:r>
          </a:p>
          <a:p>
            <a:r>
              <a:rPr b="1"/>
              <a:t>HOW THIS SECTION RUNS:</a:t>
            </a:r>
          </a:p>
          <a:p>
            <a:r>
              <a:rPr b="1"/>
              <a:t>1. 1.1: the question that carries the unit, from Success in Practice to action.</a:t>
            </a:r>
          </a:p>
          <a:p>
            <a:r>
              <a:rPr b="1"/>
              <a:t>2. 1.2 and 1.3: the four KISS filters, and the four SiP domains they are applied to.</a:t>
            </a:r>
          </a:p>
          <a:p>
            <a:r>
              <a:rPr b="1"/>
              <a:t>3. 1.4: the anatomy of Objectives and Key Results.</a:t>
            </a:r>
          </a:p>
          <a:p>
            <a:r>
              <a:t>4. 1.5: the five steps from KISS output to enterprise OKRs, then Step 5 in detail: the Prioritisation Matrix.</a:t>
            </a:r>
          </a:p>
          <a:p>
            <a:r>
              <a:t>5. The Section 1 Reflections slide: the reflection participants write on the portal after the teaching.</a:t>
            </a:r>
          </a:p>
          <a:p>
            <a:r>
              <a:t/>
            </a:r>
          </a:p>
          <a:p>
            <a:r>
              <a:rPr b="1"/>
              <a:t>SECTION LEARNING OUTCOMES:</a:t>
            </a:r>
          </a:p>
          <a:p>
            <a:r>
              <a:rPr b="1"/>
              <a:t>1. Evaluate organisational practices and determine what should be sustained or changed.</a:t>
            </a:r>
          </a:p>
          <a:p>
            <a:r>
              <a:rPr b="1"/>
              <a:t>2. Translate strategic intent into outcomes that can be meaningfully measured.</a:t>
            </a:r>
          </a:p>
          <a:p>
            <a:r>
              <a:t/>
            </a:r>
          </a:p>
          <a:p>
            <a:r>
              <a:rPr b="1"/>
              <a:t>HOW TO OPEN THE SECTION:</a:t>
            </a:r>
          </a:p>
          <a:p>
            <a:r>
              <a:t/>
            </a:r>
          </a:p>
          <a:p>
            <a:r>
              <a:rPr b="1"/>
              <a:t>1. Link from Unit 2.</a:t>
            </a:r>
          </a:p>
          <a:p>
            <a:r>
              <a:rPr b="1"/>
              <a:t>Say:</a:t>
            </a:r>
            <a:r>
              <a:t> "In Unit 2, we built our Strategy Intent Statement and our Success in Practice.</a:t>
            </a:r>
          </a:p>
          <a:p>
            <a:r>
              <a:t>Today we answer the harder question: what must actually change in this organisation to make that future real?"</a:t>
            </a:r>
          </a:p>
          <a:p>
            <a:r>
              <a:t/>
            </a:r>
          </a:p>
          <a:p>
            <a:r>
              <a:rPr b="1"/>
              <a:t>2. Read the two section learning outcomes from the slide.</a:t>
            </a:r>
          </a:p>
          <a:p>
            <a:r>
              <a:t/>
            </a:r>
          </a:p>
          <a:p>
            <a:r>
              <a:rPr b="1"/>
              <a:t>3. Frame the unit.</a:t>
            </a:r>
          </a:p>
          <a:p>
            <a:r>
              <a:rPr b="1"/>
              <a:t>Say:</a:t>
            </a:r>
            <a:r>
              <a:t> "This unit is the bridge between the SiP your group has built and the measurable execution reality you must now create.</a:t>
            </a:r>
          </a:p>
          <a:p>
            <a:r>
              <a:t>The KISS reflection is a direct examination of the organisation against the specific future you have described."</a:t>
            </a:r>
          </a:p>
          <a:p>
            <a:r>
              <a:rPr b="1"/>
              <a:t>Add:</a:t>
            </a:r>
            <a:r>
              <a:t> "KISS is a practical act of honesty."</a:t>
            </a:r>
          </a:p>
          <a:p>
            <a:r>
              <a:t/>
            </a:r>
          </a:p>
          <a:p>
            <a:r>
              <a:rPr b="1"/>
              <a:t>4. Say what this section gives you.</a:t>
            </a:r>
          </a:p>
          <a:p>
            <a:r>
              <a:rPr b="1"/>
              <a:t>Say:</a:t>
            </a:r>
            <a:r>
              <a:t> "This section gives you the full toolkit: the KISS framework, the anatomy of an OKR, and the five-step path from KISS output to enterprise OKRs.</a:t>
            </a:r>
          </a:p>
          <a:p>
            <a:r>
              <a:t>You need all three before your group can do its own work in Section 5, so we take them carefully."</a:t>
            </a:r>
          </a:p>
          <a:p>
            <a:r>
              <a:t/>
            </a:r>
          </a:p>
          <a:p>
            <a:r>
              <a:rPr b="1"/>
              <a:t>5. Bridge to 1.1.</a:t>
            </a:r>
          </a:p>
          <a:p>
            <a:r>
              <a:rPr b="1"/>
              <a:t>Say:</a:t>
            </a:r>
            <a:r>
              <a:t> "We start with one question."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1.1 — TRANSLATING SUCCESS IN PRACTICE INTO ACTION (FOUNDATION)</a:t>
            </a:r>
          </a:p>
          <a:p>
            <a:r>
              <a:t/>
            </a:r>
          </a:p>
          <a:p>
            <a:r>
              <a:rPr b="1"/>
              <a:t>HOW TO TEACH IT:</a:t>
            </a:r>
          </a:p>
          <a:p>
            <a:r>
              <a:t/>
            </a:r>
          </a:p>
          <a:p>
            <a:r>
              <a:rPr b="1"/>
              <a:t>1. Say where each group stands.</a:t>
            </a:r>
          </a:p>
          <a:p>
            <a:r>
              <a:rPr b="1"/>
              <a:t>Say:</a:t>
            </a:r>
            <a:r>
              <a:t> "Your group has produced a Strategy Intent Statement and four Success in Practice statements, one for each SiP domain.</a:t>
            </a:r>
          </a:p>
          <a:p>
            <a:r>
              <a:t>Together they provide a vivid and shared description of the future organisation: how customers experience the enterprise, how operations function, how people collaborate, and what value the organisation consistently creates."</a:t>
            </a:r>
          </a:p>
          <a:p>
            <a:r>
              <a:t/>
            </a:r>
          </a:p>
          <a:p>
            <a:r>
              <a:rPr b="1"/>
              <a:t>2. Read the question on the slide aloud.</a:t>
            </a:r>
          </a:p>
          <a:p>
            <a:r>
              <a:t>"If the Success in Practice we described is the future organisation, what must change in the organisation today to make that future possible?"</a:t>
            </a:r>
          </a:p>
          <a:p>
            <a:r>
              <a:t>Ask participants to sit with it for a moment.</a:t>
            </a:r>
          </a:p>
          <a:p>
            <a:r>
              <a:t/>
            </a:r>
          </a:p>
          <a:p>
            <a:r>
              <a:rPr b="1"/>
              <a:t>3. Take the first answers.</a:t>
            </a:r>
          </a:p>
          <a:p>
            <a:r>
              <a:rPr b="1"/>
              <a:t>Ask:</a:t>
            </a:r>
            <a:r>
              <a:t> "What is the one thing that most needs to change in your area to close that gap?"</a:t>
            </a:r>
          </a:p>
          <a:p>
            <a:r>
              <a:t>Take three or four responses. Note them without evaluating them. They resurface when the groups build their KISS map in Section 5.</a:t>
            </a:r>
          </a:p>
          <a:p>
            <a:r>
              <a:t/>
            </a:r>
          </a:p>
          <a:p>
            <a:r>
              <a:rPr b="1"/>
              <a:t>4. Say what comes before the targets.</a:t>
            </a:r>
          </a:p>
          <a:p>
            <a:r>
              <a:rPr b="1"/>
              <a:t>Say:</a:t>
            </a:r>
            <a:r>
              <a:t> "The next step is to move from this future description to a practical execution agenda.</a:t>
            </a:r>
          </a:p>
          <a:p>
            <a:r>
              <a:t>Before defining Objectives and Key Results, the organisation must first examine its current operating reality in relation to the SiP."</a:t>
            </a:r>
          </a:p>
          <a:p>
            <a:r>
              <a:t/>
            </a:r>
          </a:p>
          <a:p>
            <a:r>
              <a:rPr b="1"/>
              <a:t>Deepen, say:</a:t>
            </a:r>
            <a:r>
              <a:t> "By the time a programme is announced, the culture that will carry it or starve it is already in place.</a:t>
            </a:r>
          </a:p>
          <a:p>
            <a:r>
              <a:t>Before launch, sit with the team that will execute it and ask: what in our current way of working will feed or fight this?</a:t>
            </a:r>
          </a:p>
          <a:p>
            <a:r>
              <a:t>Fix that before the launch date."</a:t>
            </a:r>
          </a:p>
          <a:p>
            <a:r>
              <a:t>(Insight: What will feed or fight this. Source: Journal, 23 April 2026 — Professional Insights: Strategy)</a:t>
            </a:r>
          </a:p>
          <a:p>
            <a:r>
              <a:t/>
            </a:r>
          </a:p>
          <a:p>
            <a:r>
              <a:rPr b="1"/>
              <a:t>5. Frame the purpose of the filter.</a:t>
            </a:r>
          </a:p>
          <a:p>
            <a:r>
              <a:rPr b="1"/>
              <a:t>Say:</a:t>
            </a:r>
            <a:r>
              <a:t> "KISS is a targeted filter, applied against the specific future your group has described.</a:t>
            </a:r>
          </a:p>
          <a:p>
            <a:r>
              <a:t>Generality is the enemy of this exercise. We push for the operating reality."</a:t>
            </a:r>
          </a:p>
          <a:p>
            <a:r>
              <a:t/>
            </a:r>
          </a:p>
          <a:p>
            <a:r>
              <a:rPr b="1"/>
              <a:t>6. Bridge to 1.2.</a:t>
            </a:r>
          </a:p>
          <a:p>
            <a:r>
              <a:rPr b="1"/>
              <a:t>Say:</a:t>
            </a:r>
            <a:r>
              <a:t> "The filter has four parts. We take them one at a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1.2 — KISS: KEEP · IMPROVE · START · STOP (4 REFLECTIVE FILTERS)</a:t>
            </a:r>
          </a:p>
          <a:p>
            <a:r>
              <a:t/>
            </a:r>
          </a:p>
          <a:p>
            <a:r>
              <a:rPr b="1"/>
              <a:t>HOW TO TEACH IT:</a:t>
            </a:r>
          </a:p>
          <a:p>
            <a:r>
              <a:t/>
            </a:r>
          </a:p>
          <a:p>
            <a:r>
              <a:rPr b="1"/>
              <a:t>1. Introduce the filter.</a:t>
            </a:r>
          </a:p>
          <a:p>
            <a:r>
              <a:rPr b="1"/>
              <a:t>Say:</a:t>
            </a:r>
            <a:r>
              <a:t> "The Strategy2Results® process introduces a reflective step designed to answer this question.</a:t>
            </a:r>
          </a:p>
          <a:p>
            <a:r>
              <a:t>The SiP statements are passed through a simple but powerful filter called KISS: Keep, Improve, Start, Stop.</a:t>
            </a:r>
          </a:p>
          <a:p>
            <a:r>
              <a:t>Each element asks you to examine the organisation in relation to the future state described in the SiP."</a:t>
            </a:r>
          </a:p>
          <a:p>
            <a:r>
              <a:rPr b="1"/>
              <a:t>Tell participants:</a:t>
            </a:r>
            <a:r>
              <a:t> we take the four filters one at a time.</a:t>
            </a:r>
          </a:p>
          <a:p>
            <a:r>
              <a:t>For each filter, ask one or two participants for a live example from their own function, anchored to the SiP.</a:t>
            </a:r>
          </a:p>
          <a:p>
            <a:r>
              <a:t/>
            </a:r>
          </a:p>
          <a:p>
            <a:r>
              <a:rPr b="1"/>
              <a:t>2. KEEP — Protect what is already working.</a:t>
            </a:r>
          </a:p>
          <a:p>
            <a:r>
              <a:rPr b="1"/>
              <a:t>Say:</a:t>
            </a:r>
            <a:r>
              <a:t> "KEEP identifies the practices, capabilities, and behaviours that are already moving the organisation toward the SiP and should therefore be protected and reinforced.</a:t>
            </a:r>
          </a:p>
          <a:p>
            <a:r>
              <a:t>These are strategic assets that must not be disrupted in the pursuit of change."</a:t>
            </a:r>
          </a:p>
          <a:p>
            <a:r>
              <a:t/>
            </a:r>
          </a:p>
          <a:p>
            <a:r>
              <a:rPr b="1"/>
              <a:t>Deepen, say:</a:t>
            </a:r>
            <a:r>
              <a:t> "Organisations that abandon everything from their history each time a new leader arrives lose the institutional knowledge, relationships and infrastructure that took years to build.</a:t>
            </a:r>
          </a:p>
          <a:p>
            <a:r>
              <a:t>Before building new, assess what was working, what has been buried and what needs restoring."</a:t>
            </a:r>
          </a:p>
          <a:p>
            <a:r>
              <a:t>(Insight: KEEP. Source: Journal, 18 January 2026 — Professional Insights: Strategy)</a:t>
            </a:r>
          </a:p>
          <a:p>
            <a:r>
              <a:t/>
            </a:r>
          </a:p>
          <a:p>
            <a:r>
              <a:rPr b="1"/>
              <a:t>3. IMPROVE — Strengthen what is partially working.</a:t>
            </a:r>
          </a:p>
          <a:p>
            <a:r>
              <a:rPr b="1"/>
              <a:t>Say:</a:t>
            </a:r>
            <a:r>
              <a:t> "IMPROVE highlights areas where the organisation is already moving in the right direction but where performance, coordination, or capability must strengthen to support the SiP more fully.</a:t>
            </a:r>
          </a:p>
          <a:p>
            <a:r>
              <a:t>These are often the highest-leverage interventions."</a:t>
            </a:r>
          </a:p>
          <a:p>
            <a:r>
              <a:t/>
            </a:r>
          </a:p>
          <a:p>
            <a:r>
              <a:rPr b="1"/>
              <a:t>4. START — Introduce what does not yet exist.</a:t>
            </a:r>
          </a:p>
          <a:p>
            <a:r>
              <a:rPr b="1"/>
              <a:t>Say:</a:t>
            </a:r>
            <a:r>
              <a:t> "START identifies new practices, capabilities, or initiatives the organisation will need for the organisation to operate in the way described in the SiP.</a:t>
            </a:r>
          </a:p>
          <a:p>
            <a:r>
              <a:t>These represent genuine strategic gaps."</a:t>
            </a:r>
          </a:p>
          <a:p>
            <a:r>
              <a:t/>
            </a:r>
          </a:p>
          <a:p>
            <a:r>
              <a:rPr b="1"/>
              <a:t>5. STOP — Eliminate what contradicts the SiP.</a:t>
            </a:r>
          </a:p>
          <a:p>
            <a:r>
              <a:rPr b="1"/>
              <a:t>Say:</a:t>
            </a:r>
            <a:r>
              <a:t> "STOP surfaces activities, routines, or commitments that consume energy and resources but do not contribute to the future organisation described in the SiP.</a:t>
            </a:r>
          </a:p>
          <a:p>
            <a:r>
              <a:t>Stopping is often harder than starting — and more strategically valuable."</a:t>
            </a:r>
          </a:p>
          <a:p>
            <a:r>
              <a:t/>
            </a:r>
          </a:p>
          <a:p>
            <a:r>
              <a:t>STOP is the hardest filter. Stay here longer.</a:t>
            </a:r>
          </a:p>
          <a:p>
            <a:r>
              <a:rPr b="1"/>
              <a:t>Ask:</a:t>
            </a:r>
            <a:r>
              <a:t> "What is one thing your function is currently doing that actively contradicts the future we described? What would it take to stop it?"</a:t>
            </a:r>
          </a:p>
          <a:p>
            <a:r>
              <a:t>Let the silence run. It is productive.</a:t>
            </a:r>
          </a:p>
          <a:p>
            <a:r>
              <a:t/>
            </a:r>
          </a:p>
          <a:p>
            <a:r>
              <a:rPr b="1"/>
              <a:t>Deepen, say:</a:t>
            </a:r>
            <a:r>
              <a:t> "Audit the initiatives, products, partnerships and assumptions still drawing resources but no longer contributing to strategic outcomes, and name the ones that need to be put away before the next move can land."</a:t>
            </a:r>
          </a:p>
          <a:p>
            <a:r>
              <a:t>(Insight: STOP · the strategic shelf. Source: Journal, 7 May 2026 — Professional Insights: Strategy)</a:t>
            </a:r>
          </a:p>
          <a:p>
            <a:r>
              <a:t/>
            </a:r>
          </a:p>
          <a:p>
            <a:r>
              <a:rPr b="1"/>
              <a:t>6. Pair START with STOP.</a:t>
            </a:r>
          </a:p>
          <a:p>
            <a:r>
              <a:rPr b="1"/>
              <a:t>Say:</a:t>
            </a:r>
            <a:r>
              <a:t> "Alignment needs the active removal of competing influences.</a:t>
            </a:r>
          </a:p>
          <a:p>
            <a:r>
              <a:t>Name what must go alongside what must be chosen: the choice is half of the alignment and the removal is the other half."</a:t>
            </a:r>
          </a:p>
          <a:p>
            <a:r>
              <a:t>(Insight: START and STOP together. Source: Journal, 14 April 2026 — Professional Insights: Culture)</a:t>
            </a:r>
          </a:p>
          <a:p>
            <a:r>
              <a:t/>
            </a:r>
          </a:p>
          <a:p>
            <a:r>
              <a:rPr b="1"/>
              <a:t>7. Read the critical principle from the foot of the slide.</a:t>
            </a:r>
          </a:p>
          <a:p>
            <a:r>
              <a:rPr b="1"/>
              <a:t>Say:</a:t>
            </a:r>
            <a:r>
              <a:t> "Every KISS reflection must be anchored to the Success in Practice statements.</a:t>
            </a:r>
          </a:p>
          <a:p>
            <a:r>
              <a:t>You evaluate the organisation against the future organisation you have collectively described."</a:t>
            </a:r>
          </a:p>
          <a:p>
            <a:r>
              <a:t/>
            </a:r>
          </a:p>
          <a:p>
            <a:r>
              <a:rPr b="1"/>
              <a:t>Add:</a:t>
            </a:r>
            <a:r>
              <a:t> "By grounding the KISS reflection in the SiP, the organisation ensures that its execution agenda is directly aligned with the future it intends to build."</a:t>
            </a:r>
          </a:p>
          <a:p>
            <a:r>
              <a:t/>
            </a:r>
          </a:p>
          <a:p>
            <a:r>
              <a:rPr b="1"/>
              <a:t>8. Set the standard of specificity.</a:t>
            </a:r>
          </a:p>
          <a:p>
            <a:r>
              <a:rPr b="1"/>
              <a:t>Say:</a:t>
            </a:r>
            <a:r>
              <a:t> "When you generate KISS items, be specific. Push for the operating reality."</a:t>
            </a:r>
          </a:p>
          <a:p>
            <a:r>
              <a:t/>
            </a:r>
          </a:p>
          <a:p>
            <a:r>
              <a:rPr b="1"/>
              <a:t>EXAMPLE</a:t>
            </a:r>
          </a:p>
          <a:p>
            <a:r>
              <a:t>Too general to act on: “Improve communication.”</a:t>
            </a:r>
          </a:p>
          <a:p>
            <a:r>
              <a:t>A KISS item: “Improve cross-functional handover time from 72 hours to 24 hours.”</a:t>
            </a:r>
          </a:p>
          <a:p>
            <a:r>
              <a:t>The second names what changes, by how much, and where to look for it.</a:t>
            </a:r>
          </a:p>
          <a:p>
            <a:r>
              <a:t/>
            </a:r>
          </a:p>
          <a:p>
            <a:r>
              <a:rPr b="1"/>
              <a:t>Tell participants:</a:t>
            </a:r>
            <a:r>
              <a:t> this is the standard for every entry their group makes in Section 5.</a:t>
            </a:r>
          </a:p>
          <a:p>
            <a:r>
              <a:t/>
            </a:r>
          </a:p>
          <a:p>
            <a:r>
              <a:rPr b="1"/>
              <a:t>9. Bridge to 1.3.</a:t>
            </a:r>
          </a:p>
          <a:p>
            <a:r>
              <a:rPr b="1"/>
              <a:t>Say:</a:t>
            </a:r>
            <a:r>
              <a:t> "KISS gives us four filters. Next we see where we apply them: the four SiP domains."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1.3 — THE KISS REFLECTION TABLE: FOUR SiP DOMAINS (4 DOMAINS)</a:t>
            </a:r>
          </a:p>
          <a:p>
            <a:r>
              <a:t/>
            </a:r>
          </a:p>
          <a:p>
            <a:r>
              <a:rPr b="1"/>
              <a:t>HOW TO TEACH IT:</a:t>
            </a:r>
          </a:p>
          <a:p>
            <a:r>
              <a:t/>
            </a:r>
          </a:p>
          <a:p>
            <a:r>
              <a:rPr b="1"/>
              <a:t>1. Position the SiP Domains.</a:t>
            </a:r>
          </a:p>
          <a:p>
            <a:r>
              <a:rPr b="1"/>
              <a:t>Say:</a:t>
            </a:r>
            <a:r>
              <a:t> "The KISS reflection is structured across the four SiP domains.</a:t>
            </a:r>
          </a:p>
          <a:p>
            <a:r>
              <a:t>These are the same four domains in which your group wrote its SiP statements in Unit 2.</a:t>
            </a:r>
          </a:p>
          <a:p>
            <a:r>
              <a:t>Each domain has a SiP anchor question to ground the reflection, and one guiding question for each KISS filter."</a:t>
            </a:r>
          </a:p>
          <a:p>
            <a:r>
              <a:rPr b="1"/>
              <a:t>Tell participants:</a:t>
            </a:r>
            <a:r>
              <a:t> this is the preparation for the KISS map their group builds in Section 5.</a:t>
            </a:r>
          </a:p>
          <a:p>
            <a:r>
              <a:t/>
            </a:r>
          </a:p>
          <a:p>
            <a:r>
              <a:rPr b="1"/>
              <a:t>2. Say how you take the domains.</a:t>
            </a:r>
          </a:p>
          <a:p>
            <a:r>
              <a:t>For each domain, ask what is most likely to be an aspect of KISS.</a:t>
            </a:r>
          </a:p>
          <a:p>
            <a:r>
              <a:t>Read the SiP anchor question aloud, then ask: "What does your organisation currently look like in this domain, and how far is that from the SiP you described?"</a:t>
            </a:r>
          </a:p>
          <a:p>
            <a:r>
              <a:t/>
            </a:r>
          </a:p>
          <a:p>
            <a:r>
              <a:rPr b="1"/>
              <a:t>3. Customer Experience &amp; Value.</a:t>
            </a:r>
          </a:p>
          <a:p>
            <a:r>
              <a:t>SiP anchor, say: "If our SiP statement is true, what should customers consistently experience?"</a:t>
            </a:r>
          </a:p>
          <a:p>
            <a:r>
              <a:t>KEEP, say: "Which aspects of the current customer experience already move us toward the SiP and should be protected?"</a:t>
            </a:r>
          </a:p>
          <a:p>
            <a:r>
              <a:t>IMPROVE, say: "Where do we see good customer outcomes but recurring friction that weakens reliability or responsiveness?"</a:t>
            </a:r>
          </a:p>
          <a:p>
            <a:r>
              <a:t>START, say: "What new practices or capabilities must begin for customers to experience the organisation as described in the SiP?"</a:t>
            </a:r>
          </a:p>
          <a:p>
            <a:r>
              <a:t>STOP, say: "Which processes or behaviours create customer friction and contradict the SiP experience we described?"</a:t>
            </a:r>
          </a:p>
          <a:p>
            <a:r>
              <a:t/>
            </a:r>
          </a:p>
          <a:p>
            <a:r>
              <a:rPr b="1"/>
              <a:t>4. Operational Capability &amp; Execution Rhythm.</a:t>
            </a:r>
          </a:p>
          <a:p>
            <a:r>
              <a:t>SiP anchor, say: "If the SiP becomes reality, how will the organisation operate differently?"</a:t>
            </a:r>
          </a:p>
          <a:p>
            <a:r>
              <a:t>KEEP, say: "Which operational routines already support the execution rhythm described in the SiP?"</a:t>
            </a:r>
          </a:p>
          <a:p>
            <a:r>
              <a:t>IMPROVE, say: "Where do we see operational capability but delays, coordination gaps, or decision bottlenecks?"</a:t>
            </a:r>
          </a:p>
          <a:p>
            <a:r>
              <a:t>START, say: "What new execution rhythms, coordination practices, or decision frameworks must be introduced?"</a:t>
            </a:r>
          </a:p>
          <a:p>
            <a:r>
              <a:t>STOP, say: "Which processes, reporting routines, or meetings consume effort without strengthening execution?"</a:t>
            </a:r>
          </a:p>
          <a:p>
            <a:r>
              <a:t/>
            </a:r>
          </a:p>
          <a:p>
            <a:r>
              <a:rPr b="1"/>
              <a:t>5. People &amp; Culture Dynamics.</a:t>
            </a:r>
          </a:p>
          <a:p>
            <a:r>
              <a:t>SiP anchor, say: "If the SiP is realised, how will leaders and teams work together?"</a:t>
            </a:r>
          </a:p>
          <a:p>
            <a:r>
              <a:t>KEEP, say: "Which leadership behaviours and collaboration patterns already reinforce the culture described in the SiP?"</a:t>
            </a:r>
          </a:p>
          <a:p>
            <a:r>
              <a:t>IMPROVE, say: "Where do we see positive teamwork but inconsistent accountability or unclear ownership?"</a:t>
            </a:r>
          </a:p>
          <a:p>
            <a:r>
              <a:t>START, say: "What new leadership habits or collaboration norms must be introduced?"</a:t>
            </a:r>
          </a:p>
          <a:p>
            <a:r>
              <a:t>STOP, say: "Which behaviours, informal norms, or leadership practices undermine alignment or trust?"</a:t>
            </a:r>
          </a:p>
          <a:p>
            <a:r>
              <a:t/>
            </a:r>
          </a:p>
          <a:p>
            <a:r>
              <a:rPr b="1"/>
              <a:t>6. Enterprise Value Creation.</a:t>
            </a:r>
          </a:p>
          <a:p>
            <a:r>
              <a:t>SiP anchor, say: "If the SiP succeeds, what financial reality should we see?"</a:t>
            </a:r>
          </a:p>
          <a:p>
            <a:r>
              <a:t>KEEP, say: "Which business activities or revenue streams already support the value creation described in the SiP?"</a:t>
            </a:r>
          </a:p>
          <a:p>
            <a:r>
              <a:t>IMPROVE, say: "Where do we see positive results but margin pressure or inefficient resource use?"</a:t>
            </a:r>
          </a:p>
          <a:p>
            <a:r>
              <a:t>START, say: "What new investments, capabilities, or revenue engines must be introduced?"</a:t>
            </a:r>
          </a:p>
          <a:p>
            <a:r>
              <a:t>STOP, say: "Which initiatives or commitments consume resources without contributing to the value creation described in the SiP?"</a:t>
            </a:r>
          </a:p>
          <a:p>
            <a:r>
              <a:t/>
            </a:r>
          </a:p>
          <a:p>
            <a:r>
              <a:rPr b="1"/>
              <a:t>7. Keep the items domain-specific.</a:t>
            </a:r>
          </a:p>
          <a:p>
            <a:r>
              <a:rPr b="1"/>
              <a:t>Say:</a:t>
            </a:r>
            <a:r>
              <a:t> "KISS items must be domain-specific.</a:t>
            </a:r>
          </a:p>
          <a:p>
            <a:r>
              <a:t>A STOP item in the Customer Experience &amp; Value domain looks different from a STOP item in People &amp; Culture Dynamics.</a:t>
            </a:r>
          </a:p>
          <a:p>
            <a:r>
              <a:t>Keeping them separate prevents the vague cross-functional generalisations that make KISS useless."</a:t>
            </a:r>
          </a:p>
          <a:p>
            <a:r>
              <a:t/>
            </a:r>
          </a:p>
          <a:p>
            <a:r>
              <a:rPr b="1"/>
              <a:t>EXAMPLE</a:t>
            </a:r>
          </a:p>
          <a:p>
            <a:r>
              <a:t>The same organisation, two domains, two different STOP items.</a:t>
            </a:r>
          </a:p>
          <a:p>
            <a:r>
              <a:t>Customer Experience &amp; Value: “Slow internal handovers that delay customer responses.”</a:t>
            </a:r>
          </a:p>
          <a:p>
            <a:r>
              <a:t>People &amp; Culture Dynamics: “Functional silos and escalation behaviours.”</a:t>
            </a:r>
          </a:p>
          <a:p>
            <a:r>
              <a:t>Each one can be traced to its own SiP statement.</a:t>
            </a:r>
          </a:p>
          <a:p>
            <a:r>
              <a:t/>
            </a:r>
          </a:p>
          <a:p>
            <a:r>
              <a:rPr b="1"/>
              <a:t>8. Bridge to 1.4.</a:t>
            </a:r>
          </a:p>
          <a:p>
            <a:r>
              <a:rPr b="1"/>
              <a:t>Say:</a:t>
            </a:r>
            <a:r>
              <a:t> "KISS tells us what must change. We now need a way to express that change as measurable progress."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1.4 — OKR ANATOMY: OBJECTIVES &amp; KEY RESULTS (STRUCTURE &amp; FORMULA)</a:t>
            </a:r>
          </a:p>
          <a:p>
            <a:r>
              <a:t/>
            </a:r>
          </a:p>
          <a:p>
            <a:r>
              <a:rPr b="1"/>
              <a:t>HOW TO TEACH IT:</a:t>
            </a:r>
          </a:p>
          <a:p>
            <a:r>
              <a:t/>
            </a:r>
          </a:p>
          <a:p>
            <a:r>
              <a:rPr b="1"/>
              <a:t>1. Position OKRs.</a:t>
            </a:r>
          </a:p>
          <a:p>
            <a:r>
              <a:rPr b="1"/>
              <a:t>Say:</a:t>
            </a:r>
            <a:r>
              <a:t> "Objective Key Results, OKRs, translate the changes identified in the KISS reflection into measurable progress."</a:t>
            </a:r>
          </a:p>
          <a:p>
            <a:r>
              <a:t/>
            </a:r>
          </a:p>
          <a:p>
            <a:r>
              <a:rPr b="1"/>
              <a:t>Add:</a:t>
            </a:r>
            <a:r>
              <a:t> "The discipline of OKRs lies in their simplicity. </a:t>
            </a:r>
          </a:p>
          <a:p>
            <a:r>
              <a:t>Objectives express the strategic ambition. </a:t>
            </a:r>
          </a:p>
          <a:p>
            <a:r>
              <a:t>Key Results define what success looks like and by when."</a:t>
            </a:r>
          </a:p>
          <a:p>
            <a:r>
              <a:t/>
            </a:r>
          </a:p>
          <a:p>
            <a:r>
              <a:rPr b="1"/>
              <a:t>2. Objectives, on the left of the slide.</a:t>
            </a:r>
          </a:p>
          <a:p>
            <a:r>
              <a:rPr b="1"/>
              <a:t>Say:</a:t>
            </a:r>
            <a:r>
              <a:t> "Objectives define strategic ambition.</a:t>
            </a:r>
          </a:p>
          <a:p>
            <a:r>
              <a:t>An Objective must be qualitative, ambitious, action-oriented, inspirational and memorable.</a:t>
            </a:r>
          </a:p>
          <a:p>
            <a:r>
              <a:t>If you cannot wear it on a T-shirt, it is not worth pursuing."</a:t>
            </a:r>
          </a:p>
          <a:p>
            <a:r>
              <a:t/>
            </a:r>
          </a:p>
          <a:p>
            <a:r>
              <a:rPr b="1"/>
              <a:t>EXAMPLE</a:t>
            </a:r>
          </a:p>
          <a:p>
            <a:r>
              <a:t>An Objective: “Deliver consistently fast and effortless service experiences for customers.”</a:t>
            </a:r>
          </a:p>
          <a:p>
            <a:r>
              <a:t>It starts with a verb, it describes a transformation, and it carries no number.</a:t>
            </a:r>
          </a:p>
          <a:p>
            <a:r>
              <a:t/>
            </a:r>
          </a:p>
          <a:p>
            <a:r>
              <a:rPr b="1"/>
              <a:t>3. Key Results, on the right of the slide.</a:t>
            </a:r>
          </a:p>
          <a:p>
            <a:r>
              <a:rPr b="1"/>
              <a:t>Say:</a:t>
            </a:r>
            <a:r>
              <a:t> "Key Results define measurable progress. </a:t>
            </a:r>
          </a:p>
          <a:p>
            <a:r>
              <a:t>The formula has four elements: Verb of Change, Metric, From X to Y, By Deadline."</a:t>
            </a:r>
          </a:p>
          <a:p>
            <a:r>
              <a:t/>
            </a:r>
          </a:p>
          <a:p>
            <a:r>
              <a:t>Take the four elements one at a time:</a:t>
            </a:r>
          </a:p>
          <a:p>
            <a:r>
              <a:t>- Verb of Change: indicates the direction of improvement. E.g.: Increase, Reduce, Achieve, Improve, Maintain.</a:t>
            </a:r>
          </a:p>
          <a:p>
            <a:r>
              <a:t>- Metric: a clear and measurable indicator. E.g.: customer satisfaction score, cycle time, adoption rate.</a:t>
            </a:r>
          </a:p>
          <a:p>
            <a:r>
              <a:t>- From X to Y: defines the baseline and target. E.g.: from 40% to 75%. Always establish a starting point.</a:t>
            </a:r>
          </a:p>
          <a:p>
            <a:r>
              <a:t>- Deadline: specifies when the result must be achieved. E.g.: by Q4 2026, by end of FY.</a:t>
            </a:r>
          </a:p>
          <a:p>
            <a:r>
              <a:t/>
            </a:r>
          </a:p>
          <a:p>
            <a:r>
              <a:rPr b="1"/>
              <a:t>EXAMPLE</a:t>
            </a:r>
          </a:p>
          <a:p>
            <a:r>
              <a:t>A Key Result: “Increase digital transaction completion rate from 40% to 75% of total transactions by Q4 2026.”</a:t>
            </a:r>
          </a:p>
          <a:p>
            <a:r>
              <a:t>Verb of Change: Increase. Metric: digital transaction completion rate. From X to Y: from 40% to 75% of total transactions. Deadline: by Q4 2026.</a:t>
            </a:r>
          </a:p>
          <a:p>
            <a:r>
              <a:t/>
            </a:r>
          </a:p>
          <a:p>
            <a:r>
              <a:rPr b="1"/>
              <a:t>Deepen, say:</a:t>
            </a:r>
            <a:r>
              <a:t> "Vague strategy goals cannot be evaluated, and a strategy that cannot be tested in real time cannot be corrected in real time.</a:t>
            </a:r>
          </a:p>
          <a:p>
            <a:r>
              <a:t>Build in a specific outcome, a defined timeframe and a clear way to know whether it is working."</a:t>
            </a:r>
          </a:p>
          <a:p>
            <a:r>
              <a:t>(Insight: Testable objectives. Source: Journal, 16 January 2026 — Professional Insights: Strategy)</a:t>
            </a:r>
          </a:p>
          <a:p>
            <a:r>
              <a:t/>
            </a:r>
          </a:p>
          <a:p>
            <a:r>
              <a:rPr b="1"/>
              <a:t>4. Land the critical distinction, at the foot of the slide.</a:t>
            </a:r>
          </a:p>
          <a:p>
            <a:r>
              <a:rPr b="1"/>
              <a:t>Say:</a:t>
            </a:r>
            <a:r>
              <a:t> "OKRs define outcomes.</a:t>
            </a:r>
          </a:p>
          <a:p>
            <a:r>
              <a:t>If a statement can be checked off a task list, such as ‘launch new platform’ or ‘run customer survey’, it is a task.</a:t>
            </a:r>
          </a:p>
          <a:p>
            <a:r>
              <a:t>Those are activities that support the Key Result.</a:t>
            </a:r>
          </a:p>
          <a:p>
            <a:r>
              <a:t>Key Results describe the impact those activities must produce."</a:t>
            </a:r>
          </a:p>
          <a:p>
            <a:r>
              <a:t/>
            </a:r>
          </a:p>
          <a:p>
            <a:r>
              <a:rPr b="1"/>
              <a:t>Ask:</a:t>
            </a:r>
            <a:r>
              <a:t> "Can you check it off a task list? If yes, it is a task."</a:t>
            </a:r>
          </a:p>
          <a:p>
            <a:r>
              <a:t>This single test is the most useful tool in the session. Return to it every time a task appears dressed as a Key Result.</a:t>
            </a:r>
          </a:p>
          <a:p>
            <a:r>
              <a:t/>
            </a:r>
          </a:p>
          <a:p>
            <a:r>
              <a:rPr b="1"/>
              <a:t>5. Work one live example through the formula.</a:t>
            </a:r>
          </a:p>
          <a:p>
            <a:r>
              <a:t>Ask one participant to state a goal they are working towards. Workshop it through the formula in real time with the room: the verb of change, the metric, from X to Y, the deadline.</a:t>
            </a:r>
          </a:p>
          <a:p>
            <a:r>
              <a:rPr b="1"/>
              <a:t>Say:</a:t>
            </a:r>
            <a:r>
              <a:t> "One concrete example does more than ten theoretical ones."</a:t>
            </a:r>
          </a:p>
          <a:p>
            <a:r>
              <a:t/>
            </a:r>
          </a:p>
          <a:p>
            <a:r>
              <a:rPr b="1"/>
              <a:t>Deepen, say:</a:t>
            </a:r>
            <a:r>
              <a:t> "Great strategies are specific enough to be built.</a:t>
            </a:r>
          </a:p>
          <a:p>
            <a:r>
              <a:t>Vague vision produces vague results.</a:t>
            </a:r>
          </a:p>
          <a:p>
            <a:r>
              <a:t>Use the formula to make each Key Result precise enough to execute and check."</a:t>
            </a:r>
          </a:p>
          <a:p>
            <a:r>
              <a:t>(Insight: Specific enough to be built. Source: Journal, 8 January 2026 — Professional Insights: Strategy)</a:t>
            </a:r>
          </a:p>
          <a:p>
            <a:r>
              <a:t/>
            </a:r>
          </a:p>
          <a:p>
            <a:r>
              <a:rPr b="1"/>
              <a:t>6. Bridge to 1.5.</a:t>
            </a:r>
          </a:p>
          <a:p>
            <a:r>
              <a:rPr b="1"/>
              <a:t>Say:</a:t>
            </a:r>
            <a:r>
              <a:t> "We have the filter and we have the building blocks. Five steps connect them."</a:t>
            </a:r>
          </a:p>
          <a:p>
            <a:r>
              <a:t/>
            </a:r>
          </a:p>
          <a:p>
            <a:r>
              <a:rPr b="1"/>
              <a:t>ON THE PORTAL, AFTER THE TEACHING:</a:t>
            </a:r>
          </a:p>
          <a:p>
            <a:r>
              <a:t>Participants write the 1.4 reflection: "Think of a goal your team set in the last 12 months. Was it an Objective, a Key Result, or a task disguised as one of these? What would a proper Key Result look like using the formula?"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b="1" dirty="0"/>
              <a:t>1.5 — FIVE STEPS: FROM KISS OUTPUT TO ENTERPRISE OKRs (5 STEPS)</a:t>
            </a:r>
          </a:p>
          <a:p>
            <a:endParaRPr lang="en-GB" dirty="0"/>
          </a:p>
          <a:p>
            <a:r>
              <a:rPr lang="en-GB" b="1" dirty="0"/>
              <a:t>HOW TO TEACH IT:</a:t>
            </a:r>
          </a:p>
          <a:p>
            <a:endParaRPr lang="en-GB" dirty="0"/>
          </a:p>
          <a:p>
            <a:r>
              <a:rPr lang="en-GB" b="1" dirty="0"/>
              <a:t>1. Open.</a:t>
            </a:r>
          </a:p>
          <a:p>
            <a:r>
              <a:rPr lang="en-GB" dirty="0"/>
              <a:t>Say: "Five steps carry the KISS output into enterprise OKRs. We take them in order. </a:t>
            </a:r>
          </a:p>
          <a:p>
            <a:r>
              <a:rPr lang="en-GB" dirty="0"/>
              <a:t>Each step builds on the one before it and prepares the next."</a:t>
            </a:r>
          </a:p>
          <a:p>
            <a:r>
              <a:rPr lang="en-GB" dirty="0"/>
              <a:t>Tell participants: for each step, apply the guiding question mentally to your own area.</a:t>
            </a:r>
          </a:p>
          <a:p>
            <a:endParaRPr lang="en-GB" dirty="0"/>
          </a:p>
          <a:p>
            <a:r>
              <a:rPr lang="en-GB" b="1" dirty="0"/>
              <a:t>2. Step 1 — Find Themes.</a:t>
            </a:r>
          </a:p>
          <a:p>
            <a:r>
              <a:rPr lang="en-GB" b="1" dirty="0"/>
              <a:t>Read the guiding question: "What insights emerged from the SiP and KISS reflections?"</a:t>
            </a:r>
          </a:p>
          <a:p>
            <a:endParaRPr lang="en-GB" dirty="0"/>
          </a:p>
          <a:p>
            <a:r>
              <a:rPr lang="en-GB" b="1" dirty="0"/>
              <a:t>Say</a:t>
            </a:r>
            <a:r>
              <a:rPr lang="en-GB" dirty="0"/>
              <a:t>: "Each leader reviews their KISS reflection.</a:t>
            </a:r>
          </a:p>
          <a:p>
            <a:r>
              <a:rPr lang="en-GB" dirty="0"/>
              <a:t>What are the 2–3 big shifts that will contribute to moving the whole organisation forward?</a:t>
            </a:r>
          </a:p>
          <a:p>
            <a:endParaRPr lang="en-GB" dirty="0"/>
          </a:p>
          <a:p>
            <a:r>
              <a:rPr lang="en-GB" dirty="0"/>
              <a:t>The real question is: If the organisation is going to reach the future it has described, what is the one thing my area can change that would make the biggest difference for everyone?"</a:t>
            </a:r>
          </a:p>
          <a:p>
            <a:endParaRPr lang="en-GB" dirty="0"/>
          </a:p>
          <a:p>
            <a:r>
              <a:rPr lang="en-GB" b="1" dirty="0"/>
              <a:t>Say</a:t>
            </a:r>
            <a:r>
              <a:rPr lang="en-GB" dirty="0"/>
              <a:t>: "Then review the patterns that surfaced across the four SiP domains.</a:t>
            </a:r>
          </a:p>
          <a:p>
            <a:endParaRPr lang="en-GB" dirty="0"/>
          </a:p>
          <a:p>
            <a:r>
              <a:rPr lang="en-GB" dirty="0"/>
              <a:t>Identify the strategic themes that repeatedly appeared in the KEEP, IMPROVE, START, and STOP reflections across the four domains</a:t>
            </a:r>
          </a:p>
          <a:p>
            <a:r>
              <a:rPr lang="en-GB" dirty="0"/>
              <a:t>These themes represent the most important shifts required to move the organisation toward the SiP."</a:t>
            </a:r>
          </a:p>
          <a:p>
            <a:endParaRPr lang="en-GB" dirty="0"/>
          </a:p>
          <a:p>
            <a:r>
              <a:rPr lang="en-GB" dirty="0"/>
              <a:t>Ask: "When you review the KISS reflections across all four domains, what is the pattern? What themes keep appearing?"</a:t>
            </a:r>
          </a:p>
          <a:p>
            <a:endParaRPr lang="en-GB" dirty="0"/>
          </a:p>
          <a:p>
            <a:r>
              <a:rPr lang="en-GB" b="1" dirty="0"/>
              <a:t>Add: "Themes are the connective tissue between scattered KISS observations and purposeful OKRs."</a:t>
            </a:r>
          </a:p>
          <a:p>
            <a:endParaRPr lang="en-GB" dirty="0"/>
          </a:p>
          <a:p>
            <a:r>
              <a:rPr lang="en-GB" dirty="0"/>
              <a:t>Output produced: a small set of strategic themes that reflect the organisation’s priority execution shifts.</a:t>
            </a:r>
          </a:p>
          <a:p>
            <a:endParaRPr lang="en-GB" dirty="0"/>
          </a:p>
          <a:p>
            <a:r>
              <a:rPr lang="en-GB" b="1" dirty="0"/>
              <a:t>3. Step 2 — Inspiring Objectives.</a:t>
            </a:r>
          </a:p>
          <a:p>
            <a:r>
              <a:rPr lang="en-GB" dirty="0"/>
              <a:t>Read the guiding question: "If we get this theme right, what will we be known for?"</a:t>
            </a:r>
          </a:p>
          <a:p>
            <a:endParaRPr lang="en-GB" dirty="0"/>
          </a:p>
          <a:p>
            <a:r>
              <a:rPr lang="en-GB" b="1" dirty="0"/>
              <a:t>Say: </a:t>
            </a:r>
            <a:r>
              <a:rPr lang="en-GB" dirty="0"/>
              <a:t>"Each leader gives their themes a voice.</a:t>
            </a:r>
          </a:p>
          <a:p>
            <a:endParaRPr lang="en-GB" dirty="0"/>
          </a:p>
          <a:p>
            <a:r>
              <a:rPr lang="en-GB" dirty="0"/>
              <a:t>Translate each theme into a bold, qualitative statement that expresses strategic ambition.</a:t>
            </a:r>
          </a:p>
          <a:p>
            <a:endParaRPr lang="en-GB" dirty="0"/>
          </a:p>
          <a:p>
            <a:r>
              <a:rPr lang="en-GB" dirty="0"/>
              <a:t>Start with a verb and describe the desired transformation.</a:t>
            </a:r>
          </a:p>
          <a:p>
            <a:r>
              <a:rPr lang="en-GB" dirty="0"/>
              <a:t>An Objective should look like a transformation."</a:t>
            </a:r>
          </a:p>
          <a:p>
            <a:r>
              <a:rPr lang="en-GB" dirty="0"/>
              <a:t>Ask: "If the organisation actually pulls this off, what will customers and competitors say it is known for?"</a:t>
            </a:r>
          </a:p>
          <a:p>
            <a:r>
              <a:rPr lang="en-GB" dirty="0"/>
              <a:t>Give the three standards:</a:t>
            </a:r>
          </a:p>
          <a:p>
            <a:r>
              <a:rPr lang="en-GB" dirty="0"/>
              <a:t>- Make it ambitious: stretch the team.</a:t>
            </a:r>
          </a:p>
          <a:p>
            <a:r>
              <a:rPr lang="en-GB" dirty="0"/>
              <a:t>- Keep it qualitative: describe the destination.</a:t>
            </a:r>
          </a:p>
          <a:p>
            <a:r>
              <a:rPr lang="en-GB" dirty="0"/>
              <a:t>- Keep it memorable: if you cannot say it in a hallway conversation, it is too complex.</a:t>
            </a:r>
          </a:p>
          <a:p>
            <a:endParaRPr lang="en-GB" dirty="0"/>
          </a:p>
          <a:p>
            <a:r>
              <a:rPr lang="en-GB" b="1" dirty="0"/>
              <a:t>Say: </a:t>
            </a:r>
            <a:r>
              <a:rPr lang="en-GB" dirty="0"/>
              <a:t>"This is the T-shirt test. Try stating an Objective in one sentence before you write it."</a:t>
            </a:r>
          </a:p>
          <a:p>
            <a:endParaRPr lang="en-GB" dirty="0"/>
          </a:p>
          <a:p>
            <a:r>
              <a:rPr lang="en-GB" b="1" dirty="0"/>
              <a:t>Add: </a:t>
            </a:r>
            <a:r>
              <a:rPr lang="en-GB" dirty="0"/>
              <a:t>"An Objective should look like a transformation and never like a line in a budget."</a:t>
            </a:r>
          </a:p>
          <a:p>
            <a:endParaRPr lang="en-GB" dirty="0"/>
          </a:p>
          <a:p>
            <a:r>
              <a:rPr lang="en-GB" dirty="0"/>
              <a:t>Give the room a test for every Objective:</a:t>
            </a:r>
          </a:p>
          <a:p>
            <a:endParaRPr lang="en-GB" dirty="0"/>
          </a:p>
          <a:p>
            <a:r>
              <a:rPr lang="en-GB" b="1" dirty="0"/>
              <a:t>Say: </a:t>
            </a:r>
            <a:r>
              <a:rPr lang="en-GB" dirty="0"/>
              <a:t>"After each Objective is proposed, ask: Is this statement something we could announce publicly with pride?</a:t>
            </a:r>
          </a:p>
          <a:p>
            <a:r>
              <a:rPr lang="en-GB" dirty="0"/>
              <a:t>If the answer is no, it lacks ambition or clarity.</a:t>
            </a:r>
          </a:p>
          <a:p>
            <a:endParaRPr lang="en-GB" dirty="0"/>
          </a:p>
          <a:p>
            <a:r>
              <a:rPr lang="en-GB" dirty="0"/>
              <a:t>Objectives that describe activities, such as ‘Implement new CRM’, are tasks disguised as goals."</a:t>
            </a:r>
          </a:p>
          <a:p>
            <a:endParaRPr lang="en-GB" dirty="0"/>
          </a:p>
          <a:p>
            <a:r>
              <a:rPr lang="en-GB" b="1" dirty="0"/>
              <a:t>Output produced: a clear Objective that expresses the strategic ambition.</a:t>
            </a:r>
          </a:p>
          <a:p>
            <a:endParaRPr lang="en-GB" dirty="0"/>
          </a:p>
          <a:p>
            <a:r>
              <a:rPr lang="en-GB" b="1" dirty="0"/>
              <a:t>4. Step 3 — Define Key Results.</a:t>
            </a:r>
          </a:p>
          <a:p>
            <a:r>
              <a:rPr lang="en-GB" dirty="0"/>
              <a:t>Read the guiding question: "What measurable outcomes will prove the Objective is being achieved?"</a:t>
            </a:r>
          </a:p>
          <a:p>
            <a:endParaRPr lang="en-GB" dirty="0"/>
          </a:p>
          <a:p>
            <a:r>
              <a:rPr lang="en-GB" b="1" dirty="0"/>
              <a:t>Say</a:t>
            </a:r>
            <a:r>
              <a:rPr lang="en-GB" dirty="0"/>
              <a:t>: "For every Objective, identify 2–3 measurable results that demonstrate progress toward it.</a:t>
            </a:r>
          </a:p>
          <a:p>
            <a:r>
              <a:rPr lang="en-GB" dirty="0"/>
              <a:t>Each Key Result must describe a meaningful shift in performance and must follow the Key Result formula: Verb, Metric, From X to Y, Deadline."</a:t>
            </a:r>
          </a:p>
          <a:p>
            <a:endParaRPr lang="en-GB" dirty="0"/>
          </a:p>
          <a:p>
            <a:r>
              <a:rPr lang="en-GB" b="1" dirty="0"/>
              <a:t>EXAMPLE</a:t>
            </a:r>
          </a:p>
          <a:p>
            <a:r>
              <a:rPr lang="en-GB" dirty="0"/>
              <a:t>“Shift response time from 12 hours (frustrating) to 4 hours (exceptional) by Q3.”</a:t>
            </a:r>
          </a:p>
          <a:p>
            <a:r>
              <a:rPr lang="en-GB" dirty="0"/>
              <a:t>Use it as the benchmark. Hold each Key Result to the same standard.</a:t>
            </a:r>
          </a:p>
          <a:p>
            <a:endParaRPr lang="en-GB" dirty="0"/>
          </a:p>
          <a:p>
            <a:r>
              <a:rPr lang="en-GB" dirty="0"/>
              <a:t>Say: "Quick check: if the team can simply check it off a list, it is a task.</a:t>
            </a:r>
          </a:p>
          <a:p>
            <a:r>
              <a:rPr lang="en-GB" dirty="0"/>
              <a:t>Key Results describe outcomes: the actual change in the world that proves the Objective is being achieved."</a:t>
            </a:r>
          </a:p>
          <a:p>
            <a:endParaRPr lang="en-GB" dirty="0"/>
          </a:p>
          <a:p>
            <a:r>
              <a:rPr lang="en-GB" b="1" dirty="0"/>
              <a:t>Output produced: measurable Key Results that define progress toward the Objective.</a:t>
            </a:r>
          </a:p>
          <a:p>
            <a:endParaRPr lang="en-GB" dirty="0"/>
          </a:p>
          <a:p>
            <a:r>
              <a:rPr lang="en-GB" b="1" dirty="0"/>
              <a:t>5. Step 4 — Alignment Test.</a:t>
            </a:r>
          </a:p>
          <a:p>
            <a:endParaRPr lang="en-GB" dirty="0"/>
          </a:p>
          <a:p>
            <a:r>
              <a:rPr lang="en-GB" dirty="0"/>
              <a:t>Say: "Before sharing, every leader tests their OKR against four questions."</a:t>
            </a:r>
          </a:p>
          <a:p>
            <a:endParaRPr lang="en-GB" dirty="0"/>
          </a:p>
          <a:p>
            <a:r>
              <a:rPr lang="en-GB" dirty="0"/>
              <a:t>Read the four questions aloud:</a:t>
            </a:r>
          </a:p>
          <a:p>
            <a:r>
              <a:rPr lang="en-GB" dirty="0"/>
              <a:t>1. Does this truly get the organisation closer to the shared SiP vision?</a:t>
            </a:r>
          </a:p>
          <a:p>
            <a:r>
              <a:rPr lang="en-GB" dirty="0"/>
              <a:t>2. Would fellow leaders see this as a win for the whole organisation — or just for one function?</a:t>
            </a:r>
          </a:p>
          <a:p>
            <a:r>
              <a:rPr lang="en-GB" dirty="0"/>
              <a:t>3. Does it visibly improve culture, operations, or value creation?</a:t>
            </a:r>
          </a:p>
          <a:p>
            <a:r>
              <a:rPr lang="en-GB" dirty="0"/>
              <a:t>4. Is there clear accountability for delivering this outcome?</a:t>
            </a:r>
          </a:p>
          <a:p>
            <a:endParaRPr lang="en-GB" dirty="0"/>
          </a:p>
          <a:p>
            <a:r>
              <a:rPr lang="en-GB" dirty="0"/>
              <a:t>Say: "The four questions show whether an OKR is enterprise-level or functionally disguised."</a:t>
            </a:r>
          </a:p>
          <a:p>
            <a:endParaRPr lang="en-GB" dirty="0"/>
          </a:p>
          <a:p>
            <a:r>
              <a:rPr lang="en-GB" b="1" dirty="0"/>
              <a:t>Deepen, say: </a:t>
            </a:r>
            <a:r>
              <a:rPr lang="en-GB" dirty="0"/>
              <a:t>"Leaders who listen collectively before acting ground their decisions in shared conviction."</a:t>
            </a:r>
          </a:p>
          <a:p>
            <a:r>
              <a:rPr lang="en-GB" dirty="0"/>
              <a:t>(Insight: Listening before acting. Source: Journal, 28 July 2026 — Professional Insights: Leadership)</a:t>
            </a:r>
          </a:p>
          <a:p>
            <a:endParaRPr lang="en-GB" dirty="0"/>
          </a:p>
          <a:p>
            <a:r>
              <a:rPr lang="en-GB" b="1" dirty="0"/>
              <a:t>6. Step 5 — Priority Matrix.</a:t>
            </a:r>
          </a:p>
          <a:p>
            <a:r>
              <a:rPr lang="en-GB" dirty="0"/>
              <a:t>Say: "The last step places each aligned OKR on the Prioritisation Matrix, by Impact and Effort. The next slide shows the matrix."</a:t>
            </a:r>
          </a:p>
          <a:p>
            <a:endParaRPr lang="en-GB" dirty="0"/>
          </a:p>
          <a:p>
            <a:r>
              <a:rPr lang="en-GB" b="1" dirty="0"/>
              <a:t>7. Show how the steps chain.</a:t>
            </a:r>
          </a:p>
          <a:p>
            <a:r>
              <a:rPr lang="en-GB" dirty="0"/>
              <a:t>Say: "Step 2 defines the Objective from the themes of Step 1.</a:t>
            </a:r>
          </a:p>
          <a:p>
            <a:r>
              <a:rPr lang="en-GB" dirty="0"/>
              <a:t>Step 3 defines the Key Results from the Objective of Step 2.</a:t>
            </a:r>
          </a:p>
          <a:p>
            <a:r>
              <a:rPr lang="en-GB" dirty="0"/>
              <a:t>Steps 4 and 5 test and place what Steps 1 to 3 produce."</a:t>
            </a:r>
          </a:p>
          <a:p>
            <a:endParaRPr lang="en-GB" dirty="0"/>
          </a:p>
          <a:p>
            <a:r>
              <a:rPr lang="en-GB" b="1" dirty="0"/>
              <a:t>8. Bridge to the matrix.</a:t>
            </a:r>
          </a:p>
          <a:p>
            <a:r>
              <a:rPr lang="en-GB" dirty="0"/>
              <a:t>Say: "We now look at Step 5 in detail."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1.5 — STEP 5: THE PRIORITISATION MATRIX (IMPACT × EFFORT)</a:t>
            </a:r>
          </a:p>
          <a:p>
            <a:r>
              <a:t/>
            </a:r>
          </a:p>
          <a:p>
            <a:r>
              <a:rPr b="1"/>
              <a:t>HOW TO TEACH IT:</a:t>
            </a:r>
          </a:p>
          <a:p>
            <a:r>
              <a:t/>
            </a:r>
          </a:p>
          <a:p>
            <a:r>
              <a:rPr b="1"/>
              <a:t>1. Give the two dimensions.</a:t>
            </a:r>
          </a:p>
          <a:p>
            <a:r>
              <a:rPr b="1"/>
              <a:t>Say:</a:t>
            </a:r>
            <a:r>
              <a:t> "The Prioritisation Matrix evaluates each initiative against two dimensions.</a:t>
            </a:r>
          </a:p>
          <a:p>
            <a:r>
              <a:t/>
            </a:r>
          </a:p>
          <a:p>
            <a:r>
              <a:t>Impact is the degree of strategic value delivered if it is achieved.</a:t>
            </a:r>
          </a:p>
          <a:p>
            <a:r>
              <a:t>Effort is the time, resources, coordination, and organisational change required."</a:t>
            </a:r>
          </a:p>
          <a:p>
            <a:r>
              <a:t/>
            </a:r>
          </a:p>
          <a:p>
            <a:r>
              <a:rPr b="1"/>
              <a:t>Say:</a:t>
            </a:r>
            <a:r>
              <a:t> "This structured approach helps distinguish initiatives that accelerate strategic movement from those that consume resources without meaningful progress."</a:t>
            </a:r>
          </a:p>
          <a:p>
            <a:r>
              <a:t/>
            </a:r>
          </a:p>
          <a:p>
            <a:r>
              <a:rPr b="1"/>
              <a:t>2. Give the question the matrix asks.</a:t>
            </a:r>
          </a:p>
          <a:p>
            <a:r>
              <a:rPr b="1"/>
              <a:t>Say:</a:t>
            </a:r>
            <a:r>
              <a:t> "The matrix asks the leadership team to answer a difficult question together: Which of these initiatives will most accelerate our movement toward the Success in Practice?"</a:t>
            </a:r>
          </a:p>
          <a:p>
            <a:r>
              <a:t/>
            </a:r>
          </a:p>
          <a:p>
            <a:r>
              <a:rPr b="1"/>
              <a:t>3. Walk the nine positions on the slide, row by row.</a:t>
            </a:r>
          </a:p>
          <a:p>
            <a:r>
              <a:t>High Impact</a:t>
            </a:r>
          </a:p>
          <a:p>
            <a:r>
              <a:t/>
            </a:r>
          </a:p>
          <a:p>
            <a:r>
              <a:t>Strategic Catalysts — High Impact / Low Effort: Quick breakthroughs that accelerate strategic momentum.</a:t>
            </a:r>
          </a:p>
          <a:p>
            <a:r>
              <a:t>Typical examples: removing an approval bottleneck; changing a decision right; simplifying a critical customer process. </a:t>
            </a:r>
          </a:p>
          <a:p>
            <a:r>
              <a:t/>
            </a:r>
          </a:p>
          <a:p>
            <a:r>
              <a:t>Accelerated Enablers — High Impact / Medium Effort: Important initiatives requiring coordination but delivering strong value.</a:t>
            </a:r>
          </a:p>
          <a:p>
            <a:r>
              <a:t>Typical examples: integrating customer data across functions; redesigning a key workflow; introducing a new performance dashboard. </a:t>
            </a:r>
          </a:p>
          <a:p>
            <a:r>
              <a:t/>
            </a:r>
          </a:p>
          <a:p>
            <a:r>
              <a:t>Core Strategic Drivers — High Impact / High Effort: Major transformation initiatives essential to achieving the SiP.</a:t>
            </a:r>
          </a:p>
          <a:p>
            <a:r>
              <a:t>Typical examples: implementing a new core system; entering a new market; major operating-model transformation. </a:t>
            </a:r>
          </a:p>
          <a:p>
            <a:r>
              <a:t/>
            </a:r>
          </a:p>
          <a:p>
            <a:r>
              <a:t>Medium Impact</a:t>
            </a:r>
          </a:p>
          <a:p>
            <a:r>
              <a:t/>
            </a:r>
          </a:p>
          <a:p>
            <a:r>
              <a:t>Quick Efficiency Plays — Medium Impact / Low Effort: Improvements that enhance performance with minimal effort.</a:t>
            </a:r>
          </a:p>
          <a:p>
            <a:r>
              <a:t>Typical examples: simplifying a report; automating a routine approval; removing a duplicate meeting. </a:t>
            </a:r>
          </a:p>
          <a:p>
            <a:r>
              <a:t/>
            </a:r>
          </a:p>
          <a:p>
            <a:r>
              <a:t>Targeted Growth Projects — Medium Impact / Medium Effort: Initiatives contributing to strategic progress but not immediate priorities.</a:t>
            </a:r>
          </a:p>
          <a:p>
            <a:r>
              <a:t>Typical examples: piloting a new service; developing a new customer segment; improving an existing digital channel. </a:t>
            </a:r>
          </a:p>
          <a:p>
            <a:r>
              <a:t/>
            </a:r>
          </a:p>
          <a:p>
            <a:r>
              <a:t>Heavy Investment Candidates — Medium Impact / High Effort: Initiatives requiring significant resources and careful timing.</a:t>
            </a:r>
          </a:p>
          <a:p>
            <a:r>
              <a:t>Typical examples: upgrading a non-critical system; expanding office capacity; large-scale process redesign with moderate strategic benefit. </a:t>
            </a:r>
          </a:p>
          <a:p>
            <a:r>
              <a:t/>
            </a:r>
          </a:p>
          <a:p>
            <a:r>
              <a:t>Low Impact</a:t>
            </a:r>
          </a:p>
          <a:p>
            <a:r>
              <a:t/>
            </a:r>
          </a:p>
          <a:p>
            <a:r>
              <a:t>Supportive Enablers — Low Impact / Low Effort: Helpful but non-critical initiatives.</a:t>
            </a:r>
          </a:p>
          <a:p>
            <a:r>
              <a:t>Typical examples: updating templates; improving internal guides; minor website improvements. </a:t>
            </a:r>
          </a:p>
          <a:p>
            <a:r>
              <a:t/>
            </a:r>
          </a:p>
          <a:p>
            <a:r>
              <a:t>Marginal Utility Tasks — Low Impact / Medium Effort: Limited strategic return relative to effort.</a:t>
            </a:r>
          </a:p>
          <a:p>
            <a:r>
              <a:t>Typical examples: redesigning internal reports with little decision value; creating additional dashboards nobody needs; running non-essential internal campaigns. </a:t>
            </a:r>
          </a:p>
          <a:p>
            <a:r>
              <a:t/>
            </a:r>
          </a:p>
          <a:p>
            <a:r>
              <a:t>Resource Pitfalls — Low Impact / High Effort: Consume significant energy without meaningful strategic value.</a:t>
            </a:r>
          </a:p>
          <a:p>
            <a:r>
              <a:t>Typical examples: replacing a functioning system with little benefit; major office redesign; maintaining a legacy initiative because “we have already invested in it.” </a:t>
            </a:r>
          </a:p>
          <a:p>
            <a:r>
              <a:t/>
            </a:r>
          </a:p>
          <a:p>
            <a:r>
              <a:rPr b="1"/>
              <a:t>Say:</a:t>
            </a:r>
            <a:r>
              <a:t> "Notice that an initiative can sound useful and still sit in the wrong place. We are testing its strategic impact against the effort it requires."</a:t>
            </a:r>
          </a:p>
          <a:p>
            <a:r>
              <a:t/>
            </a:r>
          </a:p>
          <a:p>
            <a:r>
              <a:t/>
            </a:r>
          </a:p>
          <a:p>
            <a:r>
              <a:rPr b="1"/>
              <a:t>4. Point to the three positions that carry the execution signal.</a:t>
            </a:r>
          </a:p>
          <a:p>
            <a:r>
              <a:rPr b="1"/>
              <a:t>Say:</a:t>
            </a:r>
            <a:r>
              <a:t> "Pay particular attention to initiatives in Strategic Catalysts, Accelerated Enablers, and Core Strategic Drivers.</a:t>
            </a:r>
          </a:p>
          <a:p>
            <a:r>
              <a:t>These represent the highest leverage execution signals."</a:t>
            </a:r>
          </a:p>
          <a:p>
            <a:r>
              <a:t/>
            </a:r>
          </a:p>
          <a:p>
            <a:r>
              <a:rPr b="1"/>
              <a:t>Add:</a:t>
            </a:r>
            <a:r>
              <a:t> "When the leadership team agrees on what belongs in these three positions, the organisation knows what must move first, what must follow, what must wait and what should stop."</a:t>
            </a:r>
          </a:p>
          <a:p>
            <a:r>
              <a:t/>
            </a:r>
          </a:p>
          <a:p>
            <a:r>
              <a:rPr b="1"/>
              <a:t>5. Give the guiding questions for placing an initiative.</a:t>
            </a:r>
          </a:p>
          <a:p>
            <a:r>
              <a:t>Impact, ask: "If this initiative succeeds, how strongly will it move us toward our Success in Practice? Will customers feel the difference? Will execution speed improve? Will collaboration improve? Will enterprise value strengthen?"</a:t>
            </a:r>
          </a:p>
          <a:p>
            <a:r>
              <a:t/>
            </a:r>
          </a:p>
          <a:p>
            <a:r>
              <a:t>Effort, ask: "How much organisational coordination is required? How many functions must collaborate? What capability or system changes are required? How much leadership attention is needed?"</a:t>
            </a:r>
          </a:p>
          <a:p>
            <a:r>
              <a:t/>
            </a:r>
          </a:p>
          <a:p>
            <a:r>
              <a:rPr b="1"/>
              <a:t>Deepen, say:</a:t>
            </a:r>
            <a:r>
              <a:t> "The leader who launches a strategic move without pricing every component retreats publicly when the second invoice arrives.</a:t>
            </a:r>
          </a:p>
          <a:p>
            <a:r>
              <a:t>Stress-test each initiative against the costs that do not appear on the deal sheet: the human responsibility, the cultural change and the long-term obligation."</a:t>
            </a:r>
          </a:p>
          <a:p>
            <a:r>
              <a:t>(Insight: The second cost. Source: Journal, 2 May 2026 — Professional Insights: Strategy)</a:t>
            </a:r>
          </a:p>
          <a:p>
            <a:r>
              <a:t/>
            </a:r>
          </a:p>
          <a:p>
            <a:r>
              <a:rPr b="1"/>
              <a:t>6. Say what the low-impact row is for.</a:t>
            </a:r>
          </a:p>
          <a:p>
            <a:r>
              <a:rPr b="1"/>
              <a:t>Say:</a:t>
            </a:r>
            <a:r>
              <a:t> "The bottom row matters as much as the top row. It shows where energy is leaking."</a:t>
            </a:r>
          </a:p>
          <a:p>
            <a:r>
              <a:t/>
            </a:r>
          </a:p>
          <a:p>
            <a:r>
              <a:rPr b="1"/>
              <a:t>Deepen, say:</a:t>
            </a:r>
            <a:r>
              <a:t> "Organisations often lose momentum because key people let peripheral demands consume the attention needed to finish.</a:t>
            </a:r>
          </a:p>
          <a:p>
            <a:r>
              <a:t>Strategic discipline includes deciding what will not receive executive time."</a:t>
            </a:r>
          </a:p>
          <a:p>
            <a:r>
              <a:t>(Insight: Protecting attention. Source: Journal, 8 August 2026 — Professional Insights: Strategy)</a:t>
            </a:r>
          </a:p>
          <a:p>
            <a:r>
              <a:t/>
            </a:r>
          </a:p>
          <a:p>
            <a:r>
              <a:rPr b="1"/>
              <a:t>7. Say what the debate is for.</a:t>
            </a:r>
          </a:p>
          <a:p>
            <a:r>
              <a:rPr b="1"/>
              <a:t>Say:</a:t>
            </a:r>
            <a:r>
              <a:t> "The debate about what constitutes high impact versus high effort is often more valuable than the final placements.</a:t>
            </a:r>
          </a:p>
          <a:p>
            <a:r>
              <a:t>As a team debates a placement, it shows how each function interprets impact, how each function perceives effort, and where assumptions about capability, coordination and resources differ."</a:t>
            </a:r>
          </a:p>
          <a:p>
            <a:r>
              <a:t/>
            </a:r>
          </a:p>
          <a:p>
            <a:r>
              <a:rPr b="1"/>
              <a:t>8. Close Awareness.</a:t>
            </a:r>
          </a:p>
          <a:p>
            <a:r>
              <a:rPr b="1"/>
              <a:t>Say:</a:t>
            </a:r>
            <a:r>
              <a:t> "We now have the full toolkit: KISS as the honest diagnostic, OKR anatomy as the building structure, and the five-step path to connect them.</a:t>
            </a:r>
          </a:p>
          <a:p>
            <a:r>
              <a:t>The next two sections explain why this sequence matters and where it typically fails."</a:t>
            </a:r>
          </a:p>
          <a:p>
            <a:r>
              <a:rPr b="1"/>
              <a:t>Add:</a:t>
            </a:r>
            <a:r>
              <a:t> "KISS reads the organisation against its Success in Practice; OKRs turn that reading into measurable commitments."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ZA"/>
          </a:p>
        </p:txBody>
      </p:sp>
      <p:sp>
        <p:nvSpPr>
          <p:cNvPr id="3" name="Notes Placeholder 2"/>
          <p:cNvSpPr>
            <a:spLocks noGrp="1"/>
          </p:cNvSpPr>
          <p:nvPr>
            <p:ph type="body" sz="quarter" idx="3"/>
          </p:nvPr>
        </p:nvSpPr>
        <p:spPr/>
        <p:txBody>
          <a:bodyPr/>
          <a:lstStyle/>
          <a:p>
            <a:r>
              <a:rPr b="1"/>
              <a:t>SECTION 1 REFLECTIONS</a:t>
            </a:r>
          </a:p>
          <a:p>
            <a:r>
              <a:t/>
            </a:r>
          </a:p>
          <a:p>
            <a:r>
              <a:rPr b="1"/>
              <a:t>HOW TO USE THIS SLIDE:</a:t>
            </a:r>
          </a:p>
          <a:p>
            <a:r>
              <a:t/>
            </a:r>
          </a:p>
          <a:p>
            <a:r>
              <a:rPr b="1"/>
              <a:t>1. Show the slide and read the prompt aloud.</a:t>
            </a:r>
          </a:p>
          <a:p>
            <a:r>
              <a:t>1.4 Reflection: "Think of a goal your team set in the last 12 months. Was it an Objective, a Key Result, or a task disguised as one of these? What would a proper Key Result look like using the formula?"</a:t>
            </a:r>
          </a:p>
          <a:p>
            <a:r>
              <a:t/>
            </a:r>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
            </a:r>
          </a:p>
          <a:p>
            <a:r>
              <a:rPr b="1"/>
              <a:t>Say:</a:t>
            </a:r>
            <a:r>
              <a:t> "You write this reflection on the portal after the teaching, with as much depth as you can."</a:t>
            </a:r>
          </a:p>
          <a:p>
            <a:r>
              <a:t/>
            </a:r>
          </a:p>
          <a:p>
            <a:r>
              <a:rPr b="1"/>
              <a:t>3. Set the standard.</a:t>
            </a:r>
          </a:p>
          <a:p>
            <a:r>
              <a:rPr b="1"/>
              <a:t>Say:</a:t>
            </a:r>
            <a:r>
              <a:t> "Name one real goal.</a:t>
            </a:r>
          </a:p>
          <a:p>
            <a:r>
              <a:t>Say which of the three it was: an Objective, a Key Result, or a task.</a:t>
            </a:r>
          </a:p>
          <a:p>
            <a:r>
              <a:t>Then rewrite it as a Key Result with all four elements: the verb of change, the metric, from X to Y, and the deadline."</a:t>
            </a:r>
          </a:p>
          <a:p>
            <a:r>
              <a:rPr b="1"/>
              <a:t>Listen for:</a:t>
            </a:r>
            <a:r>
              <a:t> a rewritten Key Result with no baseline. Ask: "From what, to what?"</a:t>
            </a:r>
          </a:p>
          <a:p>
            <a:r>
              <a:t/>
            </a:r>
          </a:p>
          <a:p>
            <a:r>
              <a:rPr b="1"/>
              <a:t>4. Bridge to Section 2.</a:t>
            </a:r>
          </a:p>
          <a:p>
            <a:r>
              <a:rPr b="1"/>
              <a:t>Say:</a:t>
            </a:r>
            <a:r>
              <a:t> "We have the toolkit. Section 2 examines why the KISS-to-OKR sequence determines whether OKRs hold up in execution."</a:t>
            </a:r>
          </a:p>
          <a:p>
            <a:r>
              <a:t/>
            </a:r>
          </a:p>
          <a:p>
            <a:r>
              <a:rPr b="1"/>
              <a:t>ON THE PORTAL, AFTER THE TEACHING:</a:t>
            </a:r>
          </a:p>
          <a:p>
            <a:r>
              <a:t>Participants write the reflection in Section 1 of the participant file: 1.4 Reflection.</a:t>
            </a:r>
          </a:p>
        </p:txBody>
      </p:sp>
      <p:sp>
        <p:nvSpPr>
          <p:cNvPr id="4" name="Slide Number Placeholder 3"/>
          <p:cNvSpPr>
            <a:spLocks noGrp="1"/>
          </p:cNvSpPr>
          <p:nvPr>
            <p:ph type="sldNum" sz="quarter" idx="5"/>
          </p:nvPr>
        </p:nvSpPr>
        <p:spPr/>
        <p:txBody>
          <a:bodyPr/>
          <a:lstStyle/>
          <a:p>
            <a:endParaRPr lang="en-ZA"/>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b="1" dirty="0"/>
              <a:t>SECTION 2 · INTELLIGENCE — WHY</a:t>
            </a:r>
          </a:p>
          <a:p>
            <a:endParaRPr lang="en-GB" dirty="0"/>
          </a:p>
          <a:p>
            <a:r>
              <a:rPr lang="en-GB" b="1" dirty="0"/>
              <a:t>HOW THIS SECTION RUNS:</a:t>
            </a:r>
          </a:p>
          <a:p>
            <a:r>
              <a:rPr lang="en-GB" dirty="0"/>
              <a:t>1. 2.1: the danger of moving straight from vision to targets, and the three human problems it creates.</a:t>
            </a:r>
          </a:p>
          <a:p>
            <a:r>
              <a:rPr lang="en-GB" dirty="0"/>
              <a:t>2. 2.2: the Strategy2Results® sequence (Success in Practice, KISS, OKRs), then one worked example on seven slides: the SiP statement, its KISS table, then Steps 1 to 5 on one slide each.</a:t>
            </a:r>
          </a:p>
          <a:p>
            <a:r>
              <a:rPr lang="en-GB" dirty="0"/>
              <a:t>3. The Section 2 Reflections slide: the reflection participants write on the portal after the teaching.</a:t>
            </a:r>
          </a:p>
          <a:p>
            <a:endParaRPr lang="en-GB" dirty="0"/>
          </a:p>
          <a:p>
            <a:r>
              <a:rPr lang="en-GB" b="1" dirty="0"/>
              <a:t>HOW TO OPEN THE SECTION:</a:t>
            </a:r>
          </a:p>
          <a:p>
            <a:endParaRPr lang="en-GB" dirty="0"/>
          </a:p>
          <a:p>
            <a:r>
              <a:rPr lang="en-GB" b="1" dirty="0"/>
              <a:t>1. Ask before you show any content.</a:t>
            </a:r>
          </a:p>
          <a:p>
            <a:r>
              <a:rPr lang="en-GB" dirty="0"/>
              <a:t>Ask: "Has your organisation ever set goals that felt disconnected from the reality of what was actually happening on the ground? Where Key Results became a to-do list that nobody believed in?"</a:t>
            </a:r>
          </a:p>
          <a:p>
            <a:r>
              <a:rPr lang="en-GB" dirty="0"/>
              <a:t>Take three or four answers. Ask participants to post them in the chat.</a:t>
            </a:r>
          </a:p>
          <a:p>
            <a:r>
              <a:rPr lang="en-GB" dirty="0"/>
              <a:t>Use the responses to anchor why the sequence matters before the content begins.</a:t>
            </a:r>
          </a:p>
          <a:p>
            <a:endParaRPr lang="en-GB" dirty="0"/>
          </a:p>
          <a:p>
            <a:r>
              <a:rPr lang="en-GB" b="1" dirty="0"/>
              <a:t>2. Read the two section learning outcomes from the slide.</a:t>
            </a:r>
          </a:p>
          <a:p>
            <a:r>
              <a:rPr lang="en-GB" b="1" dirty="0"/>
              <a:t>SECTION LEARNING OUTCOMES:</a:t>
            </a:r>
          </a:p>
          <a:p>
            <a:r>
              <a:rPr lang="en-GB" dirty="0"/>
              <a:t>1. Assess the strategic changes required before committing to performance targets.</a:t>
            </a:r>
          </a:p>
          <a:p>
            <a:r>
              <a:rPr lang="en-GB" dirty="0"/>
              <a:t>2. Derive measurable results that are traceable to Success in Practice.</a:t>
            </a:r>
          </a:p>
          <a:p>
            <a:endParaRPr lang="en-GB" dirty="0"/>
          </a:p>
          <a:p>
            <a:r>
              <a:rPr lang="en-GB" b="1" dirty="0"/>
              <a:t>3. State the section intent.</a:t>
            </a:r>
          </a:p>
          <a:p>
            <a:r>
              <a:rPr lang="en-GB" dirty="0"/>
              <a:t>Say: "This section answers the question you may be quietly asking: why can we not just write the OKRs directly?</a:t>
            </a:r>
          </a:p>
          <a:p>
            <a:r>
              <a:rPr lang="en-GB" dirty="0"/>
              <a:t>The answer: OKRs without KISS become disconnected targets, fragmented efforts, and activity traps."</a:t>
            </a:r>
          </a:p>
          <a:p>
            <a:r>
              <a:rPr lang="en-GB" dirty="0"/>
              <a:t>Add: "Most OKR failures are reflection failures. Most of the time, the OKR framework itself is sound."</a:t>
            </a:r>
          </a:p>
          <a:p>
            <a:endParaRPr lang="en-GB" dirty="0"/>
          </a:p>
          <a:p>
            <a:r>
              <a:rPr lang="en-GB" b="1" dirty="0"/>
              <a:t>4. Bridge to 2.1.</a:t>
            </a:r>
          </a:p>
          <a:p>
            <a:r>
              <a:rPr lang="en-GB" dirty="0"/>
              <a:t>Say: "We start with what goes wrong when an organisation moves too fast."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2.1 — THE DANGER OF MOVING TOO FAST (3 HUMAN PROBLEMS)</a:t>
            </a:r>
          </a:p>
          <a:p>
            <a:r>
              <a:t/>
            </a:r>
          </a:p>
          <a:p>
            <a:r>
              <a:rPr b="1"/>
              <a:t>HOW TO TEACH IT:</a:t>
            </a:r>
          </a:p>
          <a:p>
            <a:r>
              <a:t/>
            </a:r>
          </a:p>
          <a:p>
            <a:r>
              <a:rPr b="1"/>
              <a:t>1. Describe the pattern.</a:t>
            </a:r>
          </a:p>
          <a:p>
            <a:r>
              <a:rPr b="1"/>
              <a:t>Say:</a:t>
            </a:r>
            <a:r>
              <a:t> "Many organisations dive into OKRs with energy, but that enthusiasm often sours into frustration.</a:t>
            </a:r>
          </a:p>
          <a:p>
            <a:r>
              <a:t>Teams end up with vague goals and Key Results that feel like yet another to-do list."</a:t>
            </a:r>
          </a:p>
          <a:p>
            <a:r>
              <a:t/>
            </a:r>
          </a:p>
          <a:p>
            <a:r>
              <a:rPr b="1"/>
              <a:t>2. Name the usual cause.</a:t>
            </a:r>
          </a:p>
          <a:p>
            <a:r>
              <a:rPr b="1"/>
              <a:t>Say:</a:t>
            </a:r>
            <a:r>
              <a:t> "The usual cause of OKR frustration: organisations try to measure progress before they have had an honest conversation about where they are actually standing.</a:t>
            </a:r>
          </a:p>
          <a:p>
            <a:r>
              <a:t>When leadership moves straight from a big vision to hard targets, they unintentionally skip the reality check.</a:t>
            </a:r>
          </a:p>
          <a:p>
            <a:r>
              <a:t>This creates predictable human problems."</a:t>
            </a:r>
          </a:p>
          <a:p>
            <a:r>
              <a:t/>
            </a:r>
          </a:p>
          <a:p>
            <a:r>
              <a:rPr b="1"/>
              <a:t>3. Take the three problems on the slide.</a:t>
            </a:r>
          </a:p>
          <a:p>
            <a:r>
              <a:t/>
            </a:r>
          </a:p>
          <a:p>
            <a:r>
              <a:t>Disconnected Targets, say: "People are asked to hit numbers without anyone acknowledging the hurdles that make those numbers nearly impossible."</a:t>
            </a:r>
          </a:p>
          <a:p>
            <a:r>
              <a:t/>
            </a:r>
          </a:p>
          <a:p>
            <a:r>
              <a:t>Fragmented Efforts, say: "Different functions row in different directions because they have not agreed on what success looks like in the trenches."</a:t>
            </a:r>
          </a:p>
          <a:p>
            <a:r>
              <a:t/>
            </a:r>
          </a:p>
          <a:p>
            <a:r>
              <a:t>The Activity Trap, say: "People default to measuring busyness because they are not sure how to prove they are achieving real outcomes."</a:t>
            </a:r>
          </a:p>
          <a:p>
            <a:r>
              <a:t/>
            </a:r>
          </a:p>
          <a:p>
            <a:r>
              <a:rPr b="1"/>
              <a:t>EXAMPLE</a:t>
            </a:r>
          </a:p>
          <a:p>
            <a:r>
              <a:t>A leadership team sets a target: “Grow client revenue by 20% this year.”</a:t>
            </a:r>
          </a:p>
          <a:p>
            <a:r>
              <a:t>Sales pursues new accounts. </a:t>
            </a:r>
          </a:p>
          <a:p>
            <a:r>
              <a:t>Operations is measured on cost and reduces service cover. </a:t>
            </a:r>
          </a:p>
          <a:p>
            <a:r>
              <a:t>Nobody has said that response time to existing clients already varies across teams.</a:t>
            </a:r>
          </a:p>
          <a:p>
            <a:r>
              <a:t>All three problems are present: a target disconnected from the hurdle, functions rowing in different directions, and busyness reported as progress.</a:t>
            </a:r>
          </a:p>
          <a:p>
            <a:r>
              <a:t/>
            </a:r>
          </a:p>
          <a:p>
            <a:r>
              <a:rPr b="1"/>
              <a:t>4. Ask the room to recognise itself.</a:t>
            </a:r>
          </a:p>
          <a:p>
            <a:r>
              <a:rPr b="1"/>
              <a:t>Ask:</a:t>
            </a:r>
            <a:r>
              <a:t> "Which of these three describes your experience in your organisation’s goal-setting cycle most accurately?"</a:t>
            </a:r>
          </a:p>
          <a:p>
            <a:r>
              <a:t>Take a show of hands for each problem, or quick responses in the chat, and say what pattern the group shows.</a:t>
            </a:r>
          </a:p>
          <a:p>
            <a:r>
              <a:t>The near-universal recognition of at least one pattern is itself the lesson.</a:t>
            </a:r>
          </a:p>
          <a:p>
            <a:r>
              <a:t/>
            </a:r>
          </a:p>
          <a:p>
            <a:r>
              <a:rPr b="1"/>
              <a:t>5. Say what the skipped reality check costs.</a:t>
            </a:r>
          </a:p>
          <a:p>
            <a:r>
              <a:rPr b="1"/>
              <a:t>Deepen, say:</a:t>
            </a:r>
            <a:r>
              <a:t> "Execution often stops at the convenient point: the easy quick wins get delivered and the structurally difficult changes are deferred, rationalised and eventually abandoned.</a:t>
            </a:r>
          </a:p>
          <a:p>
            <a:r>
              <a:t>A strategy that is 70% executed often produces almost none of the intended transformation, because the avoided 30% is where the leverage lives."</a:t>
            </a:r>
          </a:p>
          <a:p>
            <a:r>
              <a:t>(Insight: Stopping at convenient. Source: Journal, 16 April 2026 — Professional Insights: Strategy)</a:t>
            </a:r>
          </a:p>
          <a:p>
            <a:r>
              <a:t/>
            </a:r>
          </a:p>
          <a:p>
            <a:r>
              <a:rPr b="1"/>
              <a:t>6. Read the closing line from the foot of the slide.</a:t>
            </a:r>
          </a:p>
          <a:p>
            <a:r>
              <a:rPr b="1"/>
              <a:t>Say:</a:t>
            </a:r>
            <a:r>
              <a:t> "Essentially, the organisation starts measuring the finish line before it has mapped the terrain."</a:t>
            </a:r>
          </a:p>
          <a:p>
            <a:r>
              <a:t/>
            </a:r>
          </a:p>
          <a:p>
            <a:r>
              <a:rPr b="1"/>
              <a:t>Deepen, say:</a:t>
            </a:r>
            <a:r>
              <a:t> "Many organisations announce a new strategic direction before the systems, people and structures can support it, then spend the next phase defending a position they have not yet earned."</a:t>
            </a:r>
          </a:p>
          <a:p>
            <a:r>
              <a:t>(Insight: Claiming the destination early. Source: Journal, 14 May 2026 — Professional Insights: Strategy)</a:t>
            </a:r>
          </a:p>
          <a:p>
            <a:r>
              <a:t/>
            </a:r>
          </a:p>
          <a:p>
            <a:r>
              <a:rPr b="1"/>
              <a:t>Ask:</a:t>
            </a:r>
            <a:r>
              <a:t> "What does mapping the terrain mean practically, and what does KISS give us that we do not currently have?"</a:t>
            </a:r>
          </a:p>
          <a:p>
            <a:r>
              <a:t/>
            </a:r>
          </a:p>
          <a:p>
            <a:r>
              <a:rPr b="1"/>
              <a:t>7. Bridge to 2.2.</a:t>
            </a:r>
          </a:p>
          <a:p>
            <a:r>
              <a:rPr b="1"/>
              <a:t>Say:</a:t>
            </a:r>
            <a:r>
              <a:t> "KISS is the map of the terrain. The next slide shows where it sits in the sequence."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2.2 — TURNING INTENT INTO ACTION: THE STRATEGY2RESULTS® SEQUENCE (3-PART LOGIC)</a:t>
            </a:r>
          </a:p>
          <a:p>
            <a:r>
              <a:t/>
            </a:r>
          </a:p>
          <a:p>
            <a:r>
              <a:rPr b="1"/>
              <a:t>HOW TO TEACH IT:</a:t>
            </a:r>
          </a:p>
          <a:p>
            <a:r>
              <a:t/>
            </a:r>
          </a:p>
          <a:p>
            <a:r>
              <a:rPr b="1"/>
              <a:t>1. Introduce the sequence.</a:t>
            </a:r>
          </a:p>
          <a:p>
            <a:r>
              <a:rPr b="1"/>
              <a:t>Say:</a:t>
            </a:r>
            <a:r>
              <a:t> "Once these patterns are visible, strategy stops being a deck of slides and starts being a shared journey.</a:t>
            </a:r>
          </a:p>
          <a:p>
            <a:r>
              <a:t>The Strategy2Results® sequence makes the path forward clear and respectful of the people walking it."</a:t>
            </a:r>
          </a:p>
          <a:p>
            <a:r>
              <a:t/>
            </a:r>
          </a:p>
          <a:p>
            <a:r>
              <a:rPr b="1"/>
              <a:t>2. Success in Practice.</a:t>
            </a:r>
          </a:p>
          <a:p>
            <a:r>
              <a:rPr b="1"/>
              <a:t>Say:</a:t>
            </a:r>
            <a:r>
              <a:t> "Success in Practice is the dream of where the organisation wants to be: the vivid future state across the four SiP domains."</a:t>
            </a:r>
          </a:p>
          <a:p>
            <a:r>
              <a:t/>
            </a:r>
          </a:p>
          <a:p>
            <a:r>
              <a:rPr b="1"/>
              <a:t>3. KISS.</a:t>
            </a:r>
          </a:p>
          <a:p>
            <a:r>
              <a:rPr b="1"/>
              <a:t>Say:</a:t>
            </a:r>
            <a:r>
              <a:t> "KISS is the honest look at the changes required to get there. It is the bridge between the future and the present reality."</a:t>
            </a:r>
          </a:p>
          <a:p>
            <a:r>
              <a:t/>
            </a:r>
          </a:p>
          <a:p>
            <a:r>
              <a:rPr b="1"/>
              <a:t>Deepen, say:</a:t>
            </a:r>
            <a:r>
              <a:t> "Organisations that enter a new strategy without a clear account of what they have, what capacity exists and where the real strengths lie are navigating without an accurate map.</a:t>
            </a:r>
          </a:p>
          <a:p>
            <a:r>
              <a:t>Take stock before planning what you will do."</a:t>
            </a:r>
          </a:p>
          <a:p>
            <a:r>
              <a:t>(Insight: Know what you have. Source: Journal, 28 February 2026 — Professional Insights: Strategy)</a:t>
            </a:r>
          </a:p>
          <a:p>
            <a:r>
              <a:t/>
            </a:r>
          </a:p>
          <a:p>
            <a:r>
              <a:rPr b="1"/>
              <a:t>4. OKRs.</a:t>
            </a:r>
          </a:p>
          <a:p>
            <a:r>
              <a:rPr b="1"/>
              <a:t>Say:</a:t>
            </a:r>
            <a:r>
              <a:t> "OKRs are the manageable, measurable steps taken to prove the organisation is moving. They are the execution compass."</a:t>
            </a:r>
          </a:p>
          <a:p>
            <a:r>
              <a:rPr b="1"/>
              <a:t>Ask:</a:t>
            </a:r>
            <a:r>
              <a:t> "Where is your organisation in its current strategic cycle: still describing the future, examining what must change, or already setting targets?"</a:t>
            </a:r>
          </a:p>
          <a:p>
            <a:r>
              <a:t>Take a few answers. They give you a live picture of where the room sits on the sequence.</a:t>
            </a:r>
          </a:p>
          <a:p>
            <a:r>
              <a:t/>
            </a:r>
          </a:p>
          <a:p>
            <a:r>
              <a:rPr b="1"/>
              <a:t>5. Put the question at the foot of the slide to the room.</a:t>
            </a:r>
          </a:p>
          <a:p>
            <a:r>
              <a:rPr b="1"/>
              <a:t>Ask:</a:t>
            </a:r>
            <a:r>
              <a:t> "At which point in this sequence does our organisation typically enter? Do we skip the KISS reality check and jump straight to targets?"</a:t>
            </a:r>
          </a:p>
          <a:p>
            <a:r>
              <a:t>The honest answer often unlocks the conversation about why previous goal-setting cycles felt frustrating.</a:t>
            </a:r>
          </a:p>
          <a:p>
            <a:r>
              <a:t/>
            </a:r>
          </a:p>
          <a:p>
            <a:r>
              <a:rPr b="1"/>
              <a:t>6. Say what the sequence gives.</a:t>
            </a:r>
          </a:p>
          <a:p>
            <a:r>
              <a:rPr b="1"/>
              <a:t>Say:</a:t>
            </a:r>
            <a:r>
              <a:t> "When this sequence is respected, OKRs become a way for the organisation to learn, breathe, and align.</a:t>
            </a:r>
          </a:p>
          <a:p>
            <a:r>
              <a:t>Strategy transforms from a statement of intent into a living system that actually helps people succeed."</a:t>
            </a:r>
          </a:p>
          <a:p>
            <a:r>
              <a:t/>
            </a:r>
          </a:p>
          <a:p>
            <a:r>
              <a:rPr b="1"/>
              <a:t>Deepen, say:</a:t>
            </a:r>
            <a:r>
              <a:t> "Great strategies are sequenced: each phase prepares for the next.</a:t>
            </a:r>
          </a:p>
          <a:p>
            <a:r>
              <a:t>Trying to do everything at once is the fastest way to produce something that resembles nothing."</a:t>
            </a:r>
          </a:p>
          <a:p>
            <a:r>
              <a:t>(Insight: Sequenced execution. Source: Journal, 5 January 2026 — Professional Insights: Strategy)</a:t>
            </a:r>
          </a:p>
          <a:p>
            <a:r>
              <a:t/>
            </a:r>
          </a:p>
          <a:p>
            <a:r>
              <a:rPr b="1"/>
              <a:t>7. Bridge to the worked example.</a:t>
            </a:r>
          </a:p>
          <a:p>
            <a:r>
              <a:rPr b="1"/>
              <a:t>Say:</a:t>
            </a:r>
            <a:r>
              <a:t> "We now follow one simple SiP statement through the whole sequence: first through the KISS filters, then through the five steps."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b="1" dirty="0"/>
              <a:t>2.2 — WORKED EXAMPLE · THE SiP STATEMENT</a:t>
            </a:r>
          </a:p>
          <a:p>
            <a:endParaRPr lang="en-GB" dirty="0"/>
          </a:p>
          <a:p>
            <a:r>
              <a:rPr lang="en-GB" b="1" dirty="0"/>
              <a:t>HOW TO TEACH IT:</a:t>
            </a:r>
          </a:p>
          <a:p>
            <a:endParaRPr lang="en-GB" dirty="0"/>
          </a:p>
          <a:p>
            <a:r>
              <a:rPr lang="en-GB" b="1" dirty="0"/>
              <a:t>1. Introduce the example.</a:t>
            </a:r>
          </a:p>
          <a:p>
            <a:r>
              <a:rPr lang="en-GB" dirty="0"/>
              <a:t>Say: "This is a client services company. It has written one simple SiP statement. </a:t>
            </a:r>
          </a:p>
          <a:p>
            <a:r>
              <a:rPr lang="en-GB" dirty="0"/>
              <a:t>We follow it through the whole sequence."</a:t>
            </a:r>
          </a:p>
          <a:p>
            <a:r>
              <a:rPr lang="en-GB" dirty="0"/>
              <a:t>Tell participants: the same example is in 2.2 of their own page, for them to refer to when they do the group work.</a:t>
            </a:r>
          </a:p>
          <a:p>
            <a:endParaRPr lang="en-GB" b="1" dirty="0"/>
          </a:p>
          <a:p>
            <a:r>
              <a:rPr lang="en-GB" b="1" dirty="0"/>
              <a:t>2. Read the SiP statement from the slide.</a:t>
            </a:r>
          </a:p>
          <a:p>
            <a:r>
              <a:rPr lang="en-GB" dirty="0"/>
              <a:t>"We will be the service partner our clients rely on first, by ensuring every client experiences fast, consistent and effortless service. To achieve this, we will move quickly from insight to action across functions, build shared ownership of enterprise priorities and run scalable, efficient operations that strengthen enterprise performance."</a:t>
            </a:r>
          </a:p>
          <a:p>
            <a:endParaRPr lang="en-GB" dirty="0"/>
          </a:p>
          <a:p>
            <a:r>
              <a:rPr lang="en-GB" dirty="0"/>
              <a:t>Ask: "Which words in this statement belong to each of the four SiP domains?"</a:t>
            </a:r>
          </a:p>
          <a:p>
            <a:r>
              <a:rPr lang="en-GB" b="1" dirty="0"/>
              <a:t>Listen for</a:t>
            </a:r>
            <a:r>
              <a:rPr lang="en-GB" dirty="0"/>
              <a:t>: fast, consistent and effortless service (Customer Experience &amp; Value); </a:t>
            </a:r>
          </a:p>
          <a:p>
            <a:r>
              <a:rPr lang="en-GB" dirty="0"/>
              <a:t>insight to action across functions (Operational Capability &amp; Execution Rhythm); </a:t>
            </a:r>
          </a:p>
          <a:p>
            <a:r>
              <a:rPr lang="en-GB" dirty="0"/>
              <a:t>shared ownership of enterprise priorities (People &amp; Culture Dynamics); </a:t>
            </a:r>
          </a:p>
          <a:p>
            <a:r>
              <a:rPr lang="en-GB" dirty="0"/>
              <a:t>scalable, efficient operations and enterprise performance (Enterprise Value Creation).</a:t>
            </a:r>
          </a:p>
          <a:p>
            <a:endParaRPr lang="en-GB" dirty="0"/>
          </a:p>
          <a:p>
            <a:r>
              <a:rPr lang="en-GB" b="1" dirty="0"/>
              <a:t>3. Bridge to the KISS table.</a:t>
            </a:r>
          </a:p>
          <a:p>
            <a:r>
              <a:rPr lang="en-GB" dirty="0"/>
              <a:t>Say: "The statement describes the future. The leadership team now examines the organisation of today against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2.2 — WORKED EXAMPLE · THE KISS TABLE (1 OF 2)</a:t>
            </a:r>
          </a:p>
          <a:p>
            <a:r>
              <a:t/>
            </a:r>
          </a:p>
          <a:p>
            <a:r>
              <a:rPr b="1"/>
              <a:t>HOW TO TEACH IT:</a:t>
            </a:r>
          </a:p>
          <a:p>
            <a:r>
              <a:t/>
            </a:r>
          </a:p>
          <a:p>
            <a:r>
              <a:rPr b="1"/>
              <a:t>1. Pass the statement through KISS, one SiP domain at a time.</a:t>
            </a:r>
          </a:p>
          <a:p>
            <a:r>
              <a:rPr b="1"/>
              <a:t>Say:</a:t>
            </a:r>
            <a:r>
              <a:t> "The leadership team passes the SiP statement through the four KISS filters, one SiP domain at a time. This slide shows the first two domains; the next slide shows the other two."</a:t>
            </a:r>
          </a:p>
          <a:p>
            <a:r>
              <a:t/>
            </a:r>
          </a:p>
          <a:p>
            <a:r>
              <a:rPr b="1"/>
              <a:t>2. Customer Experience &amp; Value.</a:t>
            </a:r>
          </a:p>
          <a:p>
            <a:r>
              <a:t>Read the four entries from the slide:</a:t>
            </a:r>
          </a:p>
          <a:p>
            <a:r>
              <a:t>- KEEP: Strong client relationships with key accounts</a:t>
            </a:r>
          </a:p>
          <a:p>
            <a:r>
              <a:t>- IMPROVE: Response time to customer requests varies across teams</a:t>
            </a:r>
          </a:p>
          <a:p>
            <a:r>
              <a:t>- START: Introduce proactive customer engagement model</a:t>
            </a:r>
          </a:p>
          <a:p>
            <a:r>
              <a:t>- STOP: Slow internal handovers that delay customer responses</a:t>
            </a:r>
          </a:p>
          <a:p>
            <a:r>
              <a:rPr b="1"/>
              <a:t>Ask:</a:t>
            </a:r>
            <a:r>
              <a:t> "Which words of the SiP statement do these four entries answer to?"</a:t>
            </a:r>
          </a:p>
          <a:p>
            <a:r>
              <a:rPr b="1"/>
              <a:t>Listen for:</a:t>
            </a:r>
            <a:r>
              <a:t> fast, consistent and effortless service.</a:t>
            </a:r>
          </a:p>
          <a:p>
            <a:r>
              <a:t/>
            </a:r>
          </a:p>
          <a:p>
            <a:r>
              <a:rPr b="1"/>
              <a:t>3. Operational Capability &amp; Execution Rhythm.</a:t>
            </a:r>
          </a:p>
          <a:p>
            <a:r>
              <a:t>Read the four entries from the slide:</a:t>
            </a:r>
          </a:p>
          <a:p>
            <a:r>
              <a:t>- KEEP: Clear strategic priorities already exist</a:t>
            </a:r>
          </a:p>
          <a:p>
            <a:r>
              <a:t>- IMPROVE: Decision-making slows when multiple functions are involved</a:t>
            </a:r>
          </a:p>
          <a:p>
            <a:r>
              <a:t>- START: Introduce cross-functional execution routines and faster decision forums</a:t>
            </a:r>
          </a:p>
          <a:p>
            <a:r>
              <a:t>- STOP: Excessive reporting cycles that delay action</a:t>
            </a:r>
          </a:p>
          <a:p>
            <a:r>
              <a:rPr b="1"/>
              <a:t>Ask:</a:t>
            </a:r>
            <a:r>
              <a:t> "Which words of the SiP statement do these entries answer to?"</a:t>
            </a:r>
          </a:p>
          <a:p>
            <a:r>
              <a:rPr b="1"/>
              <a:t>Listen for:</a:t>
            </a:r>
            <a:r>
              <a:t> move quickly from insight to action across functions.</a:t>
            </a:r>
          </a:p>
          <a:p>
            <a:r>
              <a:t/>
            </a:r>
          </a:p>
          <a:p>
            <a:r>
              <a:rPr b="1"/>
              <a:t>4. Point to the standard.</a:t>
            </a:r>
          </a:p>
          <a:p>
            <a:r>
              <a:rPr b="1"/>
              <a:t>Say:</a:t>
            </a:r>
            <a:r>
              <a:t> "Each entry names something specific in the organisation of today. None of them is a general wish."</a:t>
            </a:r>
          </a:p>
          <a:p>
            <a:r>
              <a:t/>
            </a:r>
          </a:p>
          <a:p>
            <a:r>
              <a:rPr b="1"/>
              <a:t>5. Bridge to the next two domains.</a:t>
            </a:r>
          </a:p>
          <a:p>
            <a:r>
              <a:rPr b="1"/>
              <a:t>Say:</a:t>
            </a:r>
            <a:r>
              <a:t> "The same filters, applied to the people and the value the organisation creates."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b="1"/>
              <a:t>2.2 — WORKED EXAMPLE · STEP 1: FIND THEMES</a:t>
            </a:r>
          </a:p>
          <a:p>
            <a:r>
              <a:t/>
            </a:r>
          </a:p>
          <a:p>
            <a:r>
              <a:rPr b="1"/>
              <a:t>HOW TO TEACH IT:</a:t>
            </a:r>
          </a:p>
          <a:p>
            <a:r>
              <a:t/>
            </a:r>
          </a:p>
          <a:p>
            <a:r>
              <a:rPr b="1"/>
              <a:t>1. Find the themes.</a:t>
            </a:r>
          </a:p>
          <a:p>
            <a:r>
              <a:rPr b="1"/>
              <a:t>Say:</a:t>
            </a:r>
            <a:r>
              <a:t> "Reading across the four domains of the KISS table, the leadership team finds four patterns that keep appearing. Each becomes a strategic theme."</a:t>
            </a:r>
          </a:p>
          <a:p>
            <a:r>
              <a:t/>
            </a:r>
          </a:p>
          <a:p>
            <a:r>
              <a:rPr b="1"/>
              <a:t>2. Name the four themes and the shift each one carries.</a:t>
            </a:r>
          </a:p>
          <a:p>
            <a:r>
              <a:t>- Customer responsiveness: deliver faster and more reliable customer responsiveness.</a:t>
            </a:r>
          </a:p>
          <a:p>
            <a:r>
              <a:t>- Execution speed: strengthen cross-functional execution speed.</a:t>
            </a:r>
          </a:p>
          <a:p>
            <a:r>
              <a:t>- Collaboration culture: build enterprise-wide ownership of strategic priorities.</a:t>
            </a:r>
          </a:p>
          <a:p>
            <a:r>
              <a:t>- Value creation: improve operational efficiency to strengthen value creation.</a:t>
            </a:r>
          </a:p>
          <a:p>
            <a:r>
              <a:t/>
            </a:r>
          </a:p>
          <a:p>
            <a:r>
              <a:rPr b="1"/>
              <a:t>3. Trace one theme back to the table.</a:t>
            </a:r>
          </a:p>
          <a:p>
            <a:r>
              <a:rPr b="1"/>
              <a:t>Say:</a:t>
            </a:r>
            <a:r>
              <a:t> "Take the first theme.</a:t>
            </a:r>
          </a:p>
          <a:p>
            <a:r>
              <a:t>Response time to customer requests varies across teams: that was the IMPROVE entry.</a:t>
            </a:r>
          </a:p>
          <a:p>
            <a:r>
              <a:t>Slow internal handovers: that was the STOP entry.</a:t>
            </a:r>
          </a:p>
          <a:p>
            <a:r>
              <a:t>A proactive customer engagement model: that was the START entry.</a:t>
            </a:r>
          </a:p>
          <a:p>
            <a:r>
              <a:t>Three entries, one theme: customer responsiveness."</a:t>
            </a:r>
          </a:p>
          <a:p>
            <a:r>
              <a:t/>
            </a:r>
          </a:p>
          <a:p>
            <a:r>
              <a:rPr b="1"/>
              <a:t>4. Bridge to Step 2.</a:t>
            </a:r>
          </a:p>
          <a:p>
            <a:r>
              <a:rPr b="1"/>
              <a:t>Say:</a:t>
            </a:r>
            <a:r>
              <a:t> "A theme names a shift. Step 2 gives each theme a voice."</a:t>
            </a:r>
          </a:p>
        </p:txBody>
      </p:sp>
    </p:spTree>
    <p:extLst>
      <p:ext uri="{BB962C8B-B14F-4D97-AF65-F5344CB8AC3E}">
        <p14:creationId xmlns:p14="http://schemas.microsoft.com/office/powerpoint/2010/main" val="620659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b="1"/>
              <a:t>2.2 — WORKED EXAMPLE · STEP 2: INSPIRING OBJECTIVES</a:t>
            </a:r>
          </a:p>
          <a:p>
            <a:r>
              <a:t/>
            </a:r>
          </a:p>
          <a:p>
            <a:r>
              <a:rPr b="1"/>
              <a:t>HOW TO TEACH IT:</a:t>
            </a:r>
          </a:p>
          <a:p>
            <a:r>
              <a:t/>
            </a:r>
          </a:p>
          <a:p>
            <a:r>
              <a:rPr b="1"/>
              <a:t>1. Translate each theme into an Objective.</a:t>
            </a:r>
          </a:p>
          <a:p>
            <a:r>
              <a:rPr b="1"/>
              <a:t>Say:</a:t>
            </a:r>
            <a:r>
              <a:t> "Each theme is translated into a bold, qualitative statement that starts with a verb and describes the transformation."</a:t>
            </a:r>
          </a:p>
          <a:p>
            <a:r>
              <a:t/>
            </a:r>
          </a:p>
          <a:p>
            <a:r>
              <a:rPr b="1"/>
              <a:t>2. Read the four Objectives from the slide.</a:t>
            </a:r>
          </a:p>
          <a:p>
            <a:r>
              <a:t>- Customer responsiveness → Deliver consistently fast and effortless service experiences for customers</a:t>
            </a:r>
          </a:p>
          <a:p>
            <a:r>
              <a:t>- Execution speed → Build a high-speed execution engine that moves quickly from insight to action</a:t>
            </a:r>
          </a:p>
          <a:p>
            <a:r>
              <a:t>- Collaboration culture → Create a culture of shared ownership across functions for strategic priorities</a:t>
            </a:r>
          </a:p>
          <a:p>
            <a:r>
              <a:t>- Value creation → Strengthen enterprise performance through scalable and efficient operations</a:t>
            </a:r>
          </a:p>
          <a:p>
            <a:r>
              <a:t/>
            </a:r>
          </a:p>
          <a:p>
            <a:r>
              <a:rPr b="1"/>
              <a:t>3. Show the direct line from KISS.</a:t>
            </a:r>
          </a:p>
          <a:p>
            <a:r>
              <a:rPr b="1"/>
              <a:t>Say:</a:t>
            </a:r>
            <a:r>
              <a:t> "Notice how the KISS item maps directly to the Objective.</a:t>
            </a:r>
          </a:p>
          <a:p>
            <a:r>
              <a:t>There is no gap.</a:t>
            </a:r>
          </a:p>
          <a:p>
            <a:r>
              <a:t>The Objective is the direct consequence of what the KISS reflection surfaced."</a:t>
            </a:r>
          </a:p>
          <a:p>
            <a:r>
              <a:t/>
            </a:r>
          </a:p>
          <a:p>
            <a:r>
              <a:rPr b="1"/>
              <a:t>4. Apply the T-shirt test.</a:t>
            </a:r>
          </a:p>
          <a:p>
            <a:r>
              <a:rPr b="1"/>
              <a:t>Ask:</a:t>
            </a:r>
            <a:r>
              <a:t> "Which of these four Objectives would you wear on a T-shirt? Which one is hardest to say in a hallway conversation?"</a:t>
            </a:r>
          </a:p>
          <a:p>
            <a:r>
              <a:rPr b="1"/>
              <a:t>Say:</a:t>
            </a:r>
            <a:r>
              <a:t> "Each Objective is qualitative, ambitious, action-oriented and memorable.</a:t>
            </a:r>
          </a:p>
          <a:p>
            <a:r>
              <a:t>If you cannot wear it on your T-shirt, it is not worth pursuing."</a:t>
            </a:r>
          </a:p>
          <a:p>
            <a:r>
              <a:t/>
            </a:r>
          </a:p>
          <a:p>
            <a:r>
              <a:rPr b="1"/>
              <a:t>5. Bridge to Step 3.</a:t>
            </a:r>
          </a:p>
          <a:p>
            <a:r>
              <a:rPr b="1"/>
              <a:t>Say:</a:t>
            </a:r>
            <a:r>
              <a:t> "An Objective carries no number. Step 3 adds the measures that prove it is being achieved."</a:t>
            </a:r>
          </a:p>
        </p:txBody>
      </p:sp>
    </p:spTree>
    <p:extLst>
      <p:ext uri="{BB962C8B-B14F-4D97-AF65-F5344CB8AC3E}">
        <p14:creationId xmlns:p14="http://schemas.microsoft.com/office/powerpoint/2010/main" val="2837226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b="1"/>
              <a:t>2.2 — WORKED EXAMPLE · STEP 3: DEFINE KEY RESULTS</a:t>
            </a:r>
          </a:p>
          <a:p>
            <a:r>
              <a:t/>
            </a:r>
          </a:p>
          <a:p>
            <a:r>
              <a:rPr b="1"/>
              <a:t>HOW TO TEACH IT:</a:t>
            </a:r>
          </a:p>
          <a:p>
            <a:r>
              <a:t/>
            </a:r>
          </a:p>
          <a:p>
            <a:r>
              <a:rPr b="1"/>
              <a:t>1. Read Objective 1 and its two Key Results from the slide.</a:t>
            </a:r>
          </a:p>
          <a:p>
            <a:r>
              <a:rPr b="1"/>
              <a:t>Say:</a:t>
            </a:r>
            <a:r>
              <a:t> "Each Objective receives two Key Results in the form Verb, Metric, From X to Y, Deadline, with the contributing roles named."</a:t>
            </a:r>
          </a:p>
          <a:p>
            <a:r>
              <a:t>Objective 1 · Deliver consistently fast and effortless service experiences for customers</a:t>
            </a:r>
          </a:p>
          <a:p>
            <a:r>
              <a:t>- Reduce average response time to customer requests from 12 hours to 4 hours by 30 June 2027</a:t>
            </a:r>
          </a:p>
          <a:p>
            <a:r>
              <a:t>- Increase customer requests resolved at first contact from 60% to 85% by 30 September 2027</a:t>
            </a:r>
          </a:p>
          <a:p>
            <a:r>
              <a:t>- Contributing roles: Commercial, Operations, Customer Service, Technology</a:t>
            </a:r>
          </a:p>
          <a:p>
            <a:r>
              <a:t/>
            </a:r>
          </a:p>
          <a:p>
            <a:r>
              <a:rPr b="1"/>
              <a:t>2. Check the formula with the room.</a:t>
            </a:r>
          </a:p>
          <a:p>
            <a:r>
              <a:rPr b="1"/>
              <a:t>Ask:</a:t>
            </a:r>
            <a:r>
              <a:t> "In the first Key Result, what is the verb of change? The metric? The baseline and the target? The deadline?"</a:t>
            </a:r>
          </a:p>
          <a:p>
            <a:r>
              <a:rPr b="1"/>
              <a:t>Listen for:</a:t>
            </a:r>
            <a:r>
              <a:t> Reduce · average response time to customer requests · from 12 hours to 4 hours · by 30 June 2027.</a:t>
            </a:r>
          </a:p>
          <a:p>
            <a:r>
              <a:t/>
            </a:r>
          </a:p>
          <a:p>
            <a:r>
              <a:rPr b="1"/>
              <a:t>3. Give the Key Results of the other three Objectives.</a:t>
            </a:r>
          </a:p>
          <a:p>
            <a:r>
              <a:t>Objective 2 · Build a high-speed execution engine that moves quickly from insight to action</a:t>
            </a:r>
          </a:p>
          <a:p>
            <a:r>
              <a:t>- Reduce cross-functional decision time from 5 days to 1 day by 30 June 2027</a:t>
            </a:r>
          </a:p>
          <a:p>
            <a:r>
              <a:t>- Reduce recurring management reports from 24 to 10 by 31 March 2027</a:t>
            </a:r>
          </a:p>
          <a:p>
            <a:r>
              <a:t>- Contributing roles: Operations, Finance, Strategy</a:t>
            </a:r>
          </a:p>
          <a:p>
            <a:r>
              <a:t/>
            </a:r>
          </a:p>
          <a:p>
            <a:r>
              <a:t>Objective 3 · Create a culture of shared ownership across functions for strategic priorities</a:t>
            </a:r>
          </a:p>
          <a:p>
            <a:r>
              <a:t>- Increase enterprise priorities with a named cross-functional owner from 40% to 100% by 31 March 2027</a:t>
            </a:r>
          </a:p>
          <a:p>
            <a:r>
              <a:t>- Reduce issues escalated to the executive team from 30 to 10 per quarter by 30 September 2027</a:t>
            </a:r>
          </a:p>
          <a:p>
            <a:r>
              <a:t>- Contributing roles: People &amp; Culture, all functional heads</a:t>
            </a:r>
          </a:p>
          <a:p>
            <a:r>
              <a:t/>
            </a:r>
          </a:p>
          <a:p>
            <a:r>
              <a:t>Objective 4 · Strengthen enterprise performance through scalable and efficient operations</a:t>
            </a:r>
          </a:p>
          <a:p>
            <a:r>
              <a:t>- Improve operating margin from 14% to 18% by 31 December 2027</a:t>
            </a:r>
          </a:p>
          <a:p>
            <a:r>
              <a:t>- Reduce leadership time spent on low-value projects from 25% to 10% by 30 June 2027</a:t>
            </a:r>
          </a:p>
          <a:p>
            <a:r>
              <a:t>- Contributing roles: Finance, Operations, Commercial</a:t>
            </a:r>
          </a:p>
          <a:p>
            <a:r>
              <a:t/>
            </a:r>
          </a:p>
          <a:p>
            <a:r>
              <a:rPr b="1"/>
              <a:t>4. Say why the contributing roles are named.</a:t>
            </a:r>
          </a:p>
          <a:p>
            <a:r>
              <a:rPr b="1"/>
              <a:t>Say:</a:t>
            </a:r>
            <a:r>
              <a:t> "Every Key Result names the roles that must contribute to it.</a:t>
            </a:r>
          </a:p>
          <a:p>
            <a:r>
              <a:t>This is the link between each outcome, its contributing roles and the evidence of progress."</a:t>
            </a:r>
          </a:p>
          <a:p>
            <a:r>
              <a:t/>
            </a:r>
          </a:p>
          <a:p>
            <a:r>
              <a:rPr b="1"/>
              <a:t>5. Bridge to Step 4.</a:t>
            </a:r>
          </a:p>
          <a:p>
            <a:r>
              <a:rPr b="1"/>
              <a:t>Say:</a:t>
            </a:r>
            <a:r>
              <a:t> "Before any OKR goes forward, it is tested."</a:t>
            </a:r>
          </a:p>
        </p:txBody>
      </p:sp>
    </p:spTree>
    <p:extLst>
      <p:ext uri="{BB962C8B-B14F-4D97-AF65-F5344CB8AC3E}">
        <p14:creationId xmlns:p14="http://schemas.microsoft.com/office/powerpoint/2010/main" val="3299877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b="1"/>
              <a:t>2.2 — WORKED EXAMPLE · STEP 4: THE ALIGNMENT TEST</a:t>
            </a:r>
          </a:p>
          <a:p>
            <a:r>
              <a:t/>
            </a:r>
          </a:p>
          <a:p>
            <a:r>
              <a:rPr b="1"/>
              <a:t>HOW TO TEACH IT:</a:t>
            </a:r>
          </a:p>
          <a:p>
            <a:r>
              <a:t/>
            </a:r>
          </a:p>
          <a:p>
            <a:r>
              <a:rPr b="1"/>
              <a:t>1. Introduce the test.</a:t>
            </a:r>
          </a:p>
          <a:p>
            <a:r>
              <a:rPr b="1"/>
              <a:t>Say:</a:t>
            </a:r>
            <a:r>
              <a:t> "Before the OKRs are shared, each one is tested against the four questions. Objective 1 is on the slide."</a:t>
            </a:r>
          </a:p>
          <a:p>
            <a:r>
              <a:t/>
            </a:r>
          </a:p>
          <a:p>
            <a:r>
              <a:rPr b="1"/>
              <a:t>2. Take the four questions and the answers the team gave.</a:t>
            </a:r>
          </a:p>
          <a:p>
            <a:r>
              <a:t>- Does this truly get the organisation closer to the shared SiP vision?</a:t>
            </a:r>
          </a:p>
          <a:p>
            <a:r>
              <a:t>Yes. Fast, consistent and effortless service is the first line of the SiP statement.</a:t>
            </a:r>
          </a:p>
          <a:p>
            <a:r>
              <a:t>- Would fellow leaders see this as a win for the whole organisation, or just for one function?</a:t>
            </a:r>
          </a:p>
          <a:p>
            <a:r>
              <a:t>The whole organisation. It needs Commercial, Operations, Customer Service and Technology, and no single function can deliver it alone.</a:t>
            </a:r>
          </a:p>
          <a:p>
            <a:r>
              <a:t>- Does it visibly improve culture, operations, or value creation?</a:t>
            </a:r>
          </a:p>
          <a:p>
            <a:r>
              <a:t>Yes. Handovers improve in operations, and client retention strengthens value creation.</a:t>
            </a:r>
          </a:p>
          <a:p>
            <a:r>
              <a:t>- Is there clear accountability for delivering this outcome?</a:t>
            </a:r>
          </a:p>
          <a:p>
            <a:r>
              <a:t>Yes. One executive owns the Objective and the contributing roles are named for each Key Result.</a:t>
            </a:r>
          </a:p>
          <a:p>
            <a:r>
              <a:t/>
            </a:r>
          </a:p>
          <a:p>
            <a:r>
              <a:rPr b="1"/>
              <a:t>3. Say what the test shows.</a:t>
            </a:r>
          </a:p>
          <a:p>
            <a:r>
              <a:rPr b="1"/>
              <a:t>Say:</a:t>
            </a:r>
            <a:r>
              <a:t> "All four OKRs of the company earn four of four on the alignment test and go forward to the Prioritisation Matrix."</a:t>
            </a:r>
          </a:p>
          <a:p>
            <a:r>
              <a:t/>
            </a:r>
          </a:p>
          <a:p>
            <a:r>
              <a:rPr b="1"/>
              <a:t>4. Bridge to Step 5.</a:t>
            </a:r>
          </a:p>
          <a:p>
            <a:r>
              <a:rPr b="1"/>
              <a:t>Say:</a:t>
            </a:r>
            <a:r>
              <a:t> "Four aligned OKRs. They cannot all move first."</a:t>
            </a:r>
          </a:p>
        </p:txBody>
      </p:sp>
    </p:spTree>
    <p:extLst>
      <p:ext uri="{BB962C8B-B14F-4D97-AF65-F5344CB8AC3E}">
        <p14:creationId xmlns:p14="http://schemas.microsoft.com/office/powerpoint/2010/main" val="13010855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685800" y="5867400"/>
            <a:ext cx="5486400" cy="4800600"/>
          </a:xfrm>
          <a:prstGeom prst="rect">
            <a:avLst/>
          </a:prstGeom>
        </p:spPr>
        <p:txBody>
          <a:bodyPr/>
          <a:lstStyle/>
          <a:p>
            <a:r>
              <a:rPr b="1"/>
              <a:t>2.2 — WORKED EXAMPLE · STEP 5: THE PRIORITISATION MATRIX</a:t>
            </a:r>
          </a:p>
          <a:p>
            <a:r>
              <a:t/>
            </a:r>
          </a:p>
          <a:p>
            <a:r>
              <a:rPr b="1"/>
              <a:t>HOW TO TEACH IT:</a:t>
            </a:r>
          </a:p>
          <a:p>
            <a:r>
              <a:t/>
            </a:r>
          </a:p>
          <a:p>
            <a:r>
              <a:rPr b="1"/>
              <a:t>1. Read the four placements from the slide.</a:t>
            </a:r>
          </a:p>
          <a:p>
            <a:r>
              <a:rPr b="1"/>
              <a:t>Say:</a:t>
            </a:r>
            <a:r>
              <a:t> "Each aligned Objective is placed on the Prioritisation Matrix by Impact and Effort."</a:t>
            </a:r>
          </a:p>
          <a:p>
            <a:r>
              <a:t>- Objective 2 · Execution speed: Strategic Catalysts (high impact, low effort).</a:t>
            </a:r>
          </a:p>
          <a:p>
            <a:r>
              <a:t>- Objective 1 · Customer responsiveness: Accelerated Enablers (high impact, medium effort).</a:t>
            </a:r>
          </a:p>
          <a:p>
            <a:r>
              <a:t>- Objective 3 · Collaboration culture: Core Strategic Drivers (high impact, high effort).</a:t>
            </a:r>
          </a:p>
          <a:p>
            <a:r>
              <a:t>- Objective 4 · Value creation: Heavy Investment Candidates (medium impact, high effort).</a:t>
            </a:r>
          </a:p>
          <a:p>
            <a:r>
              <a:t/>
            </a:r>
          </a:p>
          <a:p>
            <a:r>
              <a:rPr b="1"/>
              <a:t>2. Test one placement with the room.</a:t>
            </a:r>
          </a:p>
          <a:p>
            <a:r>
              <a:rPr b="1"/>
              <a:t>Ask:</a:t>
            </a:r>
            <a:r>
              <a:t> "Why is execution speed placed at low effort, while collaboration culture is placed at high effort?"</a:t>
            </a:r>
          </a:p>
          <a:p>
            <a:r>
              <a:rPr b="1"/>
              <a:t>Listen for:</a:t>
            </a:r>
            <a:r>
              <a:t> execution speed begins with stopping reporting cycles and opening faster decision forums; shared ownership asks leaders in every function to change how they behave.</a:t>
            </a:r>
          </a:p>
          <a:p>
            <a:r>
              <a:t/>
            </a:r>
          </a:p>
          <a:p>
            <a:r>
              <a:rPr b="1"/>
              <a:t>3. Read the execution signal.</a:t>
            </a:r>
          </a:p>
          <a:p>
            <a:r>
              <a:rPr b="1"/>
              <a:t>Say:</a:t>
            </a:r>
            <a:r>
              <a:t> "The execution signal: execution speed moves first, customer responsiveness follows, shared ownership is the long transformation, and the investment in scalable operations is timed with care."</a:t>
            </a:r>
          </a:p>
          <a:p>
            <a:r>
              <a:t/>
            </a:r>
          </a:p>
          <a:p>
            <a:r>
              <a:rPr b="1"/>
              <a:t>4. Set the standard for the room.</a:t>
            </a:r>
          </a:p>
          <a:p>
            <a:r>
              <a:rPr b="1"/>
              <a:t>Ask:</a:t>
            </a:r>
            <a:r>
              <a:t> "At this level of specificity, could you trace every OKR back to a specific KISS observation?"</a:t>
            </a:r>
          </a:p>
          <a:p>
            <a:r>
              <a:rPr b="1"/>
              <a:t>Say:</a:t>
            </a:r>
            <a:r>
              <a:t> "That is the standard we are working towards."</a:t>
            </a:r>
          </a:p>
          <a:p>
            <a:r>
              <a:t/>
            </a:r>
          </a:p>
          <a:p>
            <a:r>
              <a:rPr b="1"/>
              <a:t>5. Close Intelligence.</a:t>
            </a:r>
          </a:p>
          <a:p>
            <a:r>
              <a:rPr b="1"/>
              <a:t>Say:</a:t>
            </a:r>
            <a:r>
              <a:t> "Objectives and Key Results hold when they rest on an honest assessment of what to keep, improve, start and stop.</a:t>
            </a:r>
          </a:p>
          <a:p>
            <a:r>
              <a:t>Now we know why the sequence matters. The next section maps where it most commonly breaks down, and which leadership role is most responsible for each break point."</a:t>
            </a:r>
          </a:p>
        </p:txBody>
      </p:sp>
    </p:spTree>
    <p:extLst>
      <p:ext uri="{BB962C8B-B14F-4D97-AF65-F5344CB8AC3E}">
        <p14:creationId xmlns:p14="http://schemas.microsoft.com/office/powerpoint/2010/main" val="41809453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ZA"/>
          </a:p>
        </p:txBody>
      </p:sp>
      <p:sp>
        <p:nvSpPr>
          <p:cNvPr id="3" name="Notes Placeholder 2"/>
          <p:cNvSpPr>
            <a:spLocks noGrp="1"/>
          </p:cNvSpPr>
          <p:nvPr>
            <p:ph type="body" sz="quarter" idx="3"/>
          </p:nvPr>
        </p:nvSpPr>
        <p:spPr/>
        <p:txBody>
          <a:bodyPr/>
          <a:lstStyle/>
          <a:p>
            <a:r>
              <a:rPr b="1"/>
              <a:t>SECTION 2 REFLECTIONS</a:t>
            </a:r>
          </a:p>
          <a:p>
            <a:r>
              <a:t/>
            </a:r>
          </a:p>
          <a:p>
            <a:r>
              <a:rPr b="1"/>
              <a:t>HOW TO USE THIS SLIDE:</a:t>
            </a:r>
          </a:p>
          <a:p>
            <a:r>
              <a:t/>
            </a:r>
          </a:p>
          <a:p>
            <a:r>
              <a:rPr b="1"/>
              <a:t>1. Show the slide and read the prompt aloud.</a:t>
            </a:r>
          </a:p>
          <a:p>
            <a:r>
              <a:t>2.2 Reflection: "At which point in the SiP → KISS → OKR sequence does your organisation typically enter? What is the consequence of skipping the KISS stage?"</a:t>
            </a:r>
          </a:p>
          <a:p>
            <a:r>
              <a:t/>
            </a:r>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
            </a:r>
          </a:p>
          <a:p>
            <a:r>
              <a:rPr b="1"/>
              <a:t>Say:</a:t>
            </a:r>
            <a:r>
              <a:t> "You write this reflection on the portal after the teaching, with as much depth as you can."</a:t>
            </a:r>
          </a:p>
          <a:p>
            <a:r>
              <a:t/>
            </a:r>
          </a:p>
          <a:p>
            <a:r>
              <a:rPr b="1"/>
              <a:t>3. Set the standard.</a:t>
            </a:r>
          </a:p>
          <a:p>
            <a:r>
              <a:rPr b="1"/>
              <a:t>Say:</a:t>
            </a:r>
            <a:r>
              <a:t> "Name the point of entry: Success in Practice, KISS or OKRs.</a:t>
            </a:r>
          </a:p>
          <a:p>
            <a:r>
              <a:t>Give one piece of evidence from your organisation’s last planning cycle.</a:t>
            </a:r>
          </a:p>
          <a:p>
            <a:r>
              <a:t>Then name one consequence you have seen when the KISS stage was skipped."</a:t>
            </a:r>
          </a:p>
          <a:p>
            <a:r>
              <a:rPr b="1"/>
              <a:t>Listen for:</a:t>
            </a:r>
            <a:r>
              <a:t> a consequence stated as a feeling, such as “people were frustrated”. Ask: "What did it cost, slow down or leave undecided?"</a:t>
            </a:r>
          </a:p>
          <a:p>
            <a:r>
              <a:t/>
            </a:r>
          </a:p>
          <a:p>
            <a:r>
              <a:rPr b="1"/>
              <a:t>4. Bridge to Section 3.</a:t>
            </a:r>
          </a:p>
          <a:p>
            <a:r>
              <a:rPr b="1"/>
              <a:t>Say:</a:t>
            </a:r>
            <a:r>
              <a:t> "We know the sequence and why it matters. Section 3 examines where each leadership role's natural emphasis concentrates OKRs, and how those hot zones distort enterprise priorities."</a:t>
            </a:r>
          </a:p>
          <a:p>
            <a:r>
              <a:t/>
            </a:r>
          </a:p>
          <a:p>
            <a:r>
              <a:rPr b="1"/>
              <a:t>ON THE PORTAL, AFTER THE TEACHING:</a:t>
            </a:r>
          </a:p>
          <a:p>
            <a:r>
              <a:t>Participants write the reflection in Section 2 of the participant file: 2.2 Reflection.</a:t>
            </a:r>
          </a:p>
        </p:txBody>
      </p:sp>
      <p:sp>
        <p:nvSpPr>
          <p:cNvPr id="4" name="Slide Number Placeholder 3"/>
          <p:cNvSpPr>
            <a:spLocks noGrp="1"/>
          </p:cNvSpPr>
          <p:nvPr>
            <p:ph type="sldNum" sz="quarter" idx="5"/>
          </p:nvPr>
        </p:nvSpPr>
        <p:spPr/>
        <p:txBody>
          <a:bodyPr/>
          <a:lstStyle/>
          <a:p>
            <a:endParaRPr lang="en-ZA"/>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b="1" dirty="0"/>
              <a:t>SECTION 3 · EXTRAPOLATING — WHERE</a:t>
            </a:r>
          </a:p>
          <a:p>
            <a:endParaRPr lang="en-GB" dirty="0"/>
          </a:p>
          <a:p>
            <a:r>
              <a:rPr lang="en-GB" b="1" dirty="0"/>
              <a:t>HOW THIS SECTION RUNS:</a:t>
            </a:r>
          </a:p>
          <a:p>
            <a:r>
              <a:rPr lang="en-GB" dirty="0"/>
              <a:t>1. 3.1a: the natural OKR emphasis of commercial, operational, people and financial leaders.</a:t>
            </a:r>
          </a:p>
          <a:p>
            <a:r>
              <a:rPr lang="en-GB" dirty="0"/>
              <a:t>2. 3.1b: the four execution risks when that emphasis stays unexamined.</a:t>
            </a:r>
          </a:p>
          <a:p>
            <a:r>
              <a:rPr lang="en-GB" dirty="0"/>
              <a:t>3. 3.1c: one hot zone card in full, as the pattern for all ten leadership roles.</a:t>
            </a:r>
          </a:p>
          <a:p>
            <a:r>
              <a:rPr lang="en-GB" dirty="0"/>
              <a:t>4. 3.1d: the matching exercise that each participant completes alone on the portal after the teaching.</a:t>
            </a:r>
          </a:p>
          <a:p>
            <a:r>
              <a:rPr lang="en-GB" dirty="0"/>
              <a:t>5. The Section 3 Reflections slide.</a:t>
            </a:r>
          </a:p>
          <a:p>
            <a:endParaRPr lang="en-GB" dirty="0"/>
          </a:p>
          <a:p>
            <a:r>
              <a:rPr lang="en-GB" b="1" dirty="0"/>
              <a:t>HOW TO OPEN THE SECTION:</a:t>
            </a:r>
          </a:p>
          <a:p>
            <a:endParaRPr lang="en-GB" dirty="0"/>
          </a:p>
          <a:p>
            <a:r>
              <a:rPr lang="en-GB" b="1" dirty="0"/>
              <a:t>1. Frame the section.</a:t>
            </a:r>
          </a:p>
          <a:p>
            <a:r>
              <a:rPr lang="en-GB" dirty="0"/>
              <a:t>Say: "Before we start writing OKRs together, it helps to know the natural biases each of us brings to the table.</a:t>
            </a:r>
          </a:p>
          <a:p>
            <a:r>
              <a:rPr lang="en-GB" dirty="0"/>
              <a:t>This section maps those patterns so the team can compensate for them collectively."</a:t>
            </a:r>
          </a:p>
          <a:p>
            <a:endParaRPr lang="en-GB" dirty="0"/>
          </a:p>
          <a:p>
            <a:r>
              <a:rPr lang="en-GB" b="1" dirty="0"/>
              <a:t>2. Read the two section learning outcomes from the slide.</a:t>
            </a:r>
          </a:p>
          <a:p>
            <a:r>
              <a:rPr lang="en-GB" b="1" dirty="0"/>
              <a:t>SECTION LEARNING OUTCOMES:</a:t>
            </a:r>
          </a:p>
          <a:p>
            <a:r>
              <a:rPr lang="en-GB" dirty="0"/>
              <a:t>1. Challenge functional preferences that distort enterprise priority-setting.</a:t>
            </a:r>
          </a:p>
          <a:p>
            <a:r>
              <a:rPr lang="en-GB" dirty="0"/>
              <a:t>2. Align functional contributions with enterprise-wide strategic priorities.</a:t>
            </a:r>
          </a:p>
          <a:p>
            <a:endParaRPr lang="en-GB" dirty="0"/>
          </a:p>
          <a:p>
            <a:r>
              <a:rPr lang="en-GB" b="1" dirty="0"/>
              <a:t>3. State the section intent.</a:t>
            </a:r>
          </a:p>
          <a:p>
            <a:r>
              <a:rPr lang="en-GB" dirty="0"/>
              <a:t>Say: "This section maps where the process predictably breaks down, and who is responsible for each break.</a:t>
            </a:r>
          </a:p>
          <a:p>
            <a:r>
              <a:rPr lang="en-GB" dirty="0"/>
              <a:t>The hot zone cards are the diagnostic instrument.</a:t>
            </a:r>
          </a:p>
          <a:p>
            <a:r>
              <a:rPr lang="en-GB" dirty="0"/>
              <a:t>The goal is to make the systemic pattern visible before it plays out in the group’s own work."</a:t>
            </a:r>
          </a:p>
          <a:p>
            <a:endParaRPr lang="en-GB" dirty="0"/>
          </a:p>
          <a:p>
            <a:r>
              <a:rPr lang="en-GB" b="1" dirty="0"/>
              <a:t>4. Bridge to 3.1.</a:t>
            </a:r>
          </a:p>
          <a:p>
            <a:r>
              <a:rPr lang="en-GB" dirty="0"/>
              <a:t>Say: "We begin with four tendencies that every leadership team carries."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lang="en-GB" b="1" dirty="0"/>
              <a:t>3.1 — NATURAL OKR EMPHASIS ACROSS LEADERSHIP FUNCTIONS · THE FOUR TENDENCIES</a:t>
            </a:r>
          </a:p>
          <a:p>
            <a:endParaRPr lang="en-GB" dirty="0"/>
          </a:p>
          <a:p>
            <a:r>
              <a:rPr lang="en-GB" b="1" dirty="0"/>
              <a:t>HOW TO TEACH IT:</a:t>
            </a:r>
          </a:p>
          <a:p>
            <a:endParaRPr lang="en-GB" dirty="0"/>
          </a:p>
          <a:p>
            <a:r>
              <a:rPr lang="en-GB" b="1" dirty="0"/>
              <a:t>1. Give the starting point.</a:t>
            </a:r>
          </a:p>
          <a:p>
            <a:r>
              <a:rPr lang="en-GB" b="1" dirty="0"/>
              <a:t>Say: </a:t>
            </a:r>
            <a:r>
              <a:rPr lang="en-GB" dirty="0"/>
              <a:t>"Every leadership role tends to emphasise some of the four SiP domains more strongly than others.</a:t>
            </a:r>
          </a:p>
          <a:p>
            <a:r>
              <a:rPr lang="en-GB" dirty="0"/>
              <a:t>Each role carries responsibility for specific organisational outcomes, so leaders instinctively prioritise the realities that sit closest to their domain."</a:t>
            </a:r>
          </a:p>
          <a:p>
            <a:endParaRPr lang="en-GB" dirty="0"/>
          </a:p>
          <a:p>
            <a:r>
              <a:rPr lang="en-GB" b="1" dirty="0"/>
              <a:t>Recall the four SiP domains in one line each:</a:t>
            </a:r>
          </a:p>
          <a:p>
            <a:r>
              <a:rPr lang="en-GB" dirty="0"/>
              <a:t>- Customer Experience &amp; Value: how customers experience the organisation.</a:t>
            </a:r>
          </a:p>
          <a:p>
            <a:r>
              <a:rPr lang="en-GB" dirty="0"/>
              <a:t>- Operational Capability &amp; Execution Rhythm: how the enterprise operates internally.</a:t>
            </a:r>
          </a:p>
          <a:p>
            <a:r>
              <a:rPr lang="en-GB" dirty="0"/>
              <a:t>- People &amp; Culture Dynamics: how leaders and teams collaborate.</a:t>
            </a:r>
          </a:p>
          <a:p>
            <a:r>
              <a:rPr lang="en-GB" dirty="0"/>
              <a:t>- Enterprise Value Creation: the outcomes that confirm success.</a:t>
            </a:r>
          </a:p>
          <a:p>
            <a:endParaRPr lang="en-GB" dirty="0"/>
          </a:p>
          <a:p>
            <a:endParaRPr lang="en-GB" dirty="0"/>
          </a:p>
          <a:p>
            <a:r>
              <a:rPr lang="en-GB" b="1" dirty="0"/>
              <a:t>2. Ask each participant to place themselves.</a:t>
            </a:r>
          </a:p>
          <a:p>
            <a:r>
              <a:rPr lang="en-GB" dirty="0"/>
              <a:t>Ask each participant to identify privately which category their natural OKR emphasis falls into. </a:t>
            </a:r>
          </a:p>
          <a:p>
            <a:r>
              <a:rPr lang="en-GB" dirty="0"/>
              <a:t>Then ask three or four to share.</a:t>
            </a:r>
          </a:p>
          <a:p>
            <a:r>
              <a:rPr lang="en-GB" b="1" dirty="0"/>
              <a:t>Ask: </a:t>
            </a:r>
            <a:r>
              <a:rPr lang="en-GB" dirty="0"/>
              <a:t>"Which SiP domain do your own objectives most often leave out?"</a:t>
            </a:r>
          </a:p>
          <a:p>
            <a:endParaRPr lang="en-GB" dirty="0"/>
          </a:p>
          <a:p>
            <a:r>
              <a:rPr lang="en-GB" b="1" dirty="0"/>
              <a:t>3. Reinforce the key point.</a:t>
            </a:r>
          </a:p>
          <a:p>
            <a:r>
              <a:rPr lang="en-GB" b="1" dirty="0"/>
              <a:t>Say: </a:t>
            </a:r>
            <a:r>
              <a:rPr lang="en-GB" dirty="0"/>
              <a:t>"Each perspective reflects an important dimension of strategy execution, and each one is valid.</a:t>
            </a:r>
          </a:p>
          <a:p>
            <a:r>
              <a:rPr lang="en-GB" dirty="0"/>
              <a:t>The problem arises when these perspectives remain unexamined and unchallenged."</a:t>
            </a:r>
          </a:p>
          <a:p>
            <a:endParaRPr lang="en-GB" dirty="0"/>
          </a:p>
          <a:p>
            <a:r>
              <a:rPr lang="en-GB" b="1" dirty="0"/>
              <a:t>Say: </a:t>
            </a:r>
            <a:r>
              <a:rPr lang="en-GB" dirty="0"/>
              <a:t>"The purpose of this part is to make the invisible visible before OKR writing begins, so that your group can consciously compensate."</a:t>
            </a:r>
          </a:p>
          <a:p>
            <a:endParaRPr lang="en-GB" dirty="0"/>
          </a:p>
          <a:p>
            <a:r>
              <a:rPr lang="en-GB" b="1" dirty="0"/>
              <a:t>Deepen, say: </a:t>
            </a:r>
            <a:r>
              <a:rPr lang="en-GB" dirty="0"/>
              <a:t>"Effective strategy addresses each team, unit and function with the specific truth about where they are and where they are headed.</a:t>
            </a:r>
          </a:p>
          <a:p>
            <a:r>
              <a:rPr lang="en-GB" dirty="0"/>
              <a:t>Generic strategy inspires no one because it is addressed to no one."</a:t>
            </a:r>
          </a:p>
          <a:p>
            <a:r>
              <a:rPr lang="en-GB" dirty="0"/>
              <a:t>(Insight: Differentiated strategy. Source: Journal, 31 January 2026 — Professional Insights: Strategy)</a:t>
            </a:r>
          </a:p>
          <a:p>
            <a:endParaRPr lang="en-GB" dirty="0"/>
          </a:p>
          <a:p>
            <a:r>
              <a:rPr lang="en-GB" b="1" dirty="0"/>
              <a:t>5. Read the line at the foot of the slide and bridge.</a:t>
            </a:r>
          </a:p>
          <a:p>
            <a:r>
              <a:rPr lang="en-GB" b="1" dirty="0"/>
              <a:t>Say: </a:t>
            </a:r>
            <a:r>
              <a:rPr lang="en-GB" dirty="0"/>
              <a:t>"When these perspectives remain unexamined, OKRs gradually drift into functional scorecards, and the organisation accumulates functional OKRs where enterprise OKRs are needed.</a:t>
            </a:r>
          </a:p>
          <a:p>
            <a:endParaRPr lang="en-GB" dirty="0"/>
          </a:p>
          <a:p>
            <a:r>
              <a:rPr lang="en-GB" dirty="0"/>
              <a:t>The next slide names the risks."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3.1 — NATURAL OKR EMPHASIS ACROSS LEADERSHIP FUNCTIONS · THE FOUR EXECUTION RISKS</a:t>
            </a:r>
          </a:p>
          <a:p>
            <a:r>
              <a:t/>
            </a:r>
          </a:p>
          <a:p>
            <a:r>
              <a:rPr b="1"/>
              <a:t>HOW TO TEACH IT:</a:t>
            </a:r>
          </a:p>
          <a:p>
            <a:r>
              <a:t/>
            </a:r>
          </a:p>
          <a:p>
            <a:r>
              <a:rPr b="1"/>
              <a:t>1. Read each risk aloud, one at a time.</a:t>
            </a:r>
          </a:p>
          <a:p>
            <a:r>
              <a:t>After each one, ask for a show of hands:</a:t>
            </a:r>
          </a:p>
          <a:p>
            <a:r>
              <a:rPr b="1"/>
              <a:t>Ask:</a:t>
            </a:r>
            <a:r>
              <a:t> "Have you personally experienced this in a previous goal-setting cycle?"</a:t>
            </a:r>
          </a:p>
          <a:p>
            <a:r>
              <a:t/>
            </a:r>
          </a:p>
          <a:p>
            <a:r>
              <a:t>1. Competing definitions of success across functions</a:t>
            </a:r>
          </a:p>
          <a:p>
            <a:r>
              <a:t/>
            </a:r>
          </a:p>
          <a:p>
            <a:r>
              <a:t>2. Fragmented measurement systems that cannot be integrated</a:t>
            </a:r>
          </a:p>
          <a:p>
            <a:r>
              <a:t/>
            </a:r>
          </a:p>
          <a:p>
            <a:r>
              <a:t>3. Functional optimisation that stalls enterprise progress</a:t>
            </a:r>
          </a:p>
          <a:p>
            <a:r>
              <a:t/>
            </a:r>
          </a:p>
          <a:p>
            <a:r>
              <a:t>4. Slow decision-making due to misaligned incentives</a:t>
            </a:r>
          </a:p>
          <a:p>
            <a:r>
              <a:t/>
            </a:r>
          </a:p>
          <a:p>
            <a:r>
              <a:t>The near-universal recognition creates the readiness to work differently in the Integration section.</a:t>
            </a:r>
          </a:p>
          <a:p>
            <a:r>
              <a:t/>
            </a:r>
          </a:p>
          <a:p>
            <a:r>
              <a:rPr b="1"/>
              <a:t>2. Deepen the first risk.</a:t>
            </a:r>
          </a:p>
          <a:p>
            <a:r>
              <a:rPr b="1"/>
              <a:t>Deepen, say:</a:t>
            </a:r>
            <a:r>
              <a:t> "When each function, team and leader defines success by its own standard, the cumulative result is chaos.</a:t>
            </a:r>
          </a:p>
          <a:p>
            <a:r>
              <a:t>The absence of a shared governing framework produces the worst outcomes from the most sincere efforts."</a:t>
            </a:r>
          </a:p>
          <a:p>
            <a:r>
              <a:t>(Insight: No governing centre. Source: Journal, 15 April 2026 — Professional Insights: Strategy)</a:t>
            </a:r>
          </a:p>
          <a:p>
            <a:r>
              <a:t/>
            </a:r>
          </a:p>
          <a:p>
            <a:r>
              <a:rPr b="1"/>
              <a:t>EXAMPLE</a:t>
            </a:r>
          </a:p>
          <a:p>
            <a:r>
              <a:t>One organisation, one quarter. Sales reports record revenue. Operations reports record cost savings. Client complaints rise in the same quarter.</a:t>
            </a:r>
          </a:p>
          <a:p>
            <a:r>
              <a:t>Each function has met its own definition of success. Nobody owns the client’s experience of all three.</a:t>
            </a:r>
          </a:p>
          <a:p>
            <a:r>
              <a:t/>
            </a:r>
          </a:p>
          <a:p>
            <a:r>
              <a:rPr b="1"/>
              <a:t>3. Bridge to the hot zone card.</a:t>
            </a:r>
          </a:p>
          <a:p>
            <a:r>
              <a:rPr b="1"/>
              <a:t>Say:</a:t>
            </a:r>
            <a:r>
              <a:t> "Recognising these patterns lets the team build a balanced execution system. We now look at how one role's emphasis shows up in the OKRs it proposes."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3.1c — NATURAL OKR EMPHASIS ACROSS LEADERSHIP FUNCTIONS · A HOT ZONE CARD</a:t>
            </a:r>
          </a:p>
          <a:p>
            <a:r>
              <a:t/>
            </a:r>
          </a:p>
          <a:p>
            <a:r>
              <a:rPr b="1"/>
              <a:t>HOW TO TEACH IT:</a:t>
            </a:r>
          </a:p>
          <a:p>
            <a:r>
              <a:t/>
            </a:r>
          </a:p>
          <a:p>
            <a:r>
              <a:rPr b="1"/>
              <a:t>1. Define the two terms.</a:t>
            </a:r>
          </a:p>
          <a:p>
            <a:r>
              <a:rPr b="1"/>
              <a:t>Say:</a:t>
            </a:r>
            <a:r>
              <a:t> "Each leadership role has a typical hot zone: the point where its natural emphasis distorts the OKRs it proposes.</a:t>
            </a:r>
          </a:p>
          <a:p>
            <a:r>
              <a:t>Each role also has an alignment question that challenges it towards enterprise thinking."</a:t>
            </a:r>
          </a:p>
          <a:p>
            <a:r>
              <a:t/>
            </a:r>
          </a:p>
          <a:p>
            <a:r>
              <a:rPr b="1"/>
              <a:t>2. Read the card on the slide: the Chief Executive Officer.</a:t>
            </a:r>
          </a:p>
          <a:p>
            <a:r>
              <a:rPr b="1"/>
              <a:t>Say:</a:t>
            </a:r>
            <a:r>
              <a:t> "When the CEO is leading the OKR conversation, the natural focus is usually big enterprise ambition. The CEO is thinking about where the organisation must go, how it creates value, how customers experience that value, and how the organisation should be positioned in the market."</a:t>
            </a:r>
          </a:p>
          <a:p>
            <a:r>
              <a:rPr b="1"/>
              <a:t>Say:</a:t>
            </a:r>
            <a:r>
              <a:t> "The risk is that CEO-level OKRs can become too visionary.</a:t>
            </a:r>
          </a:p>
          <a:p>
            <a:r>
              <a:t>They may sound strong and strategic, but still fail if the organisation does not have the operational capability to deliver them."</a:t>
            </a:r>
          </a:p>
          <a:p>
            <a:r>
              <a:t/>
            </a:r>
          </a:p>
          <a:p>
            <a:r>
              <a:rPr b="1"/>
              <a:t>3. Explain the card simply.</a:t>
            </a:r>
          </a:p>
          <a:p>
            <a:r>
              <a:rPr b="1"/>
              <a:t>Say:</a:t>
            </a:r>
            <a:r>
              <a:t> "This card shows the CEO's natural hot zone.</a:t>
            </a:r>
          </a:p>
          <a:p>
            <a:r>
              <a:t>The CEO will often focus on enterprise value, customer value, ambition and market positioning.</a:t>
            </a:r>
          </a:p>
          <a:p>
            <a:r>
              <a:t>That is important because it keeps the organisation looking at the bigger picture.</a:t>
            </a:r>
          </a:p>
          <a:p>
            <a:r>
              <a:t>The caution is that the ambition must still be translated into outcomes the organisation can realistically deliver."</a:t>
            </a:r>
          </a:p>
          <a:p>
            <a:r>
              <a:t>Emphasise the point: the CEO brings ambition. The OKR process must convert that ambition into deliverable results.</a:t>
            </a:r>
          </a:p>
          <a:p>
            <a:r>
              <a:t/>
            </a:r>
          </a:p>
          <a:p>
            <a:r>
              <a:rPr b="1"/>
              <a:t>4. Read the alignment question.</a:t>
            </a:r>
          </a:p>
          <a:p>
            <a:r>
              <a:rPr b="1"/>
              <a:t>Say:</a:t>
            </a:r>
            <a:r>
              <a:t> "So the alignment question is asking: are our OKRs strong enough to reflect the ambition, but practical enough for the organisation to execute?"</a:t>
            </a:r>
          </a:p>
          <a:p>
            <a:r>
              <a:t>Even simpler, say: "This is about making sure the CEO's vision does not remain a big statement. It must become clear outcomes the organisation can actually deliver."</a:t>
            </a:r>
          </a:p>
          <a:p>
            <a:r>
              <a:t/>
            </a:r>
          </a:p>
          <a:p>
            <a:r>
              <a:rPr b="1"/>
              <a:t>5. Give two more roles in the same pattern.</a:t>
            </a:r>
          </a:p>
          <a:p>
            <a:r>
              <a:t>Chief Financial Officer, say: "Dominant future realities: Enterprise Value Creation and Operational Capability &amp; Execution Rhythm. Natural OKR emphasis: financial performance and efficiency. Typical hot zone: Key Results become overly financial, ignoring customer or capability drivers. Alignment question: are we measuring the drivers of value creation as well as the financial outcomes?"</a:t>
            </a:r>
          </a:p>
          <a:p>
            <a:r>
              <a:t>Chief Operating Officer, say: "Dominant future realities: Operational Capability &amp; Execution Rhythm and Enterprise Value Creation. Natural OKR emphasis: operational reliability and execution efficiency. Typical hot zone: Objectives drift towards operational optimisation and away from strategic transformation. Alignment question: are our OKRs reinforcing strategic movement, beyond operational performance?"</a:t>
            </a:r>
          </a:p>
          <a:p>
            <a:r>
              <a:rPr b="1"/>
              <a:t>Say:</a:t>
            </a:r>
            <a:r>
              <a:t> "The other roles follow the same pattern. You match them yourselves in the exercise."</a:t>
            </a:r>
          </a:p>
          <a:p>
            <a:r>
              <a:t/>
            </a:r>
          </a:p>
          <a:p>
            <a:r>
              <a:rPr b="1"/>
              <a:t>6. Hand each leader the alignment question.</a:t>
            </a:r>
          </a:p>
          <a:p>
            <a:r>
              <a:rPr b="1"/>
              <a:t>Say:</a:t>
            </a:r>
            <a:r>
              <a:t> "Hold the alignment question of your own role in your mind throughout the group work in Section 5. It is your personal quality check on every OKR you propose."</a:t>
            </a:r>
          </a:p>
          <a:p>
            <a:r>
              <a:t/>
            </a:r>
          </a:p>
          <a:p>
            <a:r>
              <a:rPr b="1"/>
              <a:t>7. Bridge to the matching exercise.</a:t>
            </a:r>
          </a:p>
          <a:p>
            <a:r>
              <a:rPr b="1"/>
              <a:t>Say:</a:t>
            </a:r>
            <a:r>
              <a:t> "Ten roles, ten natural emphases. Let us see how well the room can match them."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3.1d — MATCH THE ROLE TO THE NATURAL OKR EMPHASIS (10 ROLES · PORTFOLIO WORK)</a:t>
            </a:r>
          </a:p>
          <a:p>
            <a:r>
              <a:t/>
            </a:r>
          </a:p>
          <a:p>
            <a:r>
              <a:rPr b="1"/>
              <a:t>HOW TO TEACH IT:</a:t>
            </a:r>
          </a:p>
          <a:p>
            <a:r>
              <a:t/>
            </a:r>
          </a:p>
          <a:p>
            <a:r>
              <a:rPr b="1"/>
              <a:t>1. Run the matching with the room.</a:t>
            </a:r>
          </a:p>
          <a:p>
            <a:r>
              <a:rPr b="1"/>
              <a:t>Say:</a:t>
            </a:r>
            <a:r>
              <a:t> "The ten leadership roles are on the left. Their natural OKR emphases are on the right, in jumbled order.</a:t>
            </a:r>
          </a:p>
          <a:p>
            <a:r>
              <a:t>Connect each role to the emphasis it will naturally bring into the conversation."</a:t>
            </a:r>
          </a:p>
          <a:p>
            <a:r>
              <a:t>Read each role in turn and ask the room for the letter. Online: ask participants to post the role and the letter in the chat.</a:t>
            </a:r>
          </a:p>
          <a:p>
            <a:r>
              <a:t/>
            </a:r>
          </a:p>
          <a:p>
            <a:r>
              <a:rPr b="1"/>
              <a:t>2. Give the answer key, role by role, with the hot zone and the alignment question.</a:t>
            </a:r>
          </a:p>
          <a:p>
            <a:r>
              <a:t>- CEO = B · Strategic ambition and market positioning. Hot zone: Objectives become visionary but insufficiently grounded in operational capability. Alignment question: Do our OKRs translate ambition into outcomes the organisation can reliably deliver?</a:t>
            </a:r>
          </a:p>
          <a:p>
            <a:r>
              <a:t>- CFO = E · Financial performance and efficiency. Hot zone: Key Results become overly financial, ignoring customer or capability drivers. Alignment question: Are we measuring the drivers of value creation as well as the financial outcomes?</a:t>
            </a:r>
          </a:p>
          <a:p>
            <a:r>
              <a:t>- COO = G · Operational reliability and execution efficiency. Hot zone: Objectives drift towards operational optimisation and away from strategic transformation. Alignment question: Are our OKRs reinforcing strategic movement, beyond operational performance?</a:t>
            </a:r>
          </a:p>
          <a:p>
            <a:r>
              <a:t>- CHRO = D · Capability development and organisational health. Hot zone: Objectives emphasise culture initiatives without clear connection to enterprise results. Alignment question: Do our people objectives clearly support strategic outcomes?</a:t>
            </a:r>
          </a:p>
          <a:p>
            <a:r>
              <a:t>- CTO/CIO = A · Technology capability and digital infrastructure. Hot zone: Key Results become technology delivery milestones with no line of sight to business outcomes. Alignment question: Are we measuring the impact technology creates for customers and the enterprise?</a:t>
            </a:r>
          </a:p>
          <a:p>
            <a:r>
              <a:t>- CMO = H · Market positioning and brand strength. Hot zone: Objectives emphasise perception beyond what the organisation can consistently deliver. Alignment question: Do our OKRs balance customer promise with operational capability?</a:t>
            </a:r>
          </a:p>
          <a:p>
            <a:r>
              <a:t>- CCO = J · Revenue growth and commercial expansion. Hot zone: Key Results prioritise sales outcomes without strengthening the customer experience system. Alignment question: Are we building repeatable value creation, beyond short-term revenue?</a:t>
            </a:r>
          </a:p>
          <a:p>
            <a:r>
              <a:t>- CPO = C · Supply chain efficiency and cost discipline. Hot zone: Objectives prioritise cost optimisation at the expense of strategic capability development. Alignment question: Are we balancing efficiency with long-term strategic capability?</a:t>
            </a:r>
          </a:p>
          <a:p>
            <a:r>
              <a:t>- CRO = I · Risk control and regulatory protection. Hot zone: Key Results become defensive safeguards that slow strategic movement. Alignment question: Are we enabling responsible risk-taking while protecting the organisation?</a:t>
            </a:r>
          </a:p>
          <a:p>
            <a:r>
              <a:t>- CSO = F · Strategic planning coherence. Hot zone: Objectives become conceptually strong but disconnected from operational ownership. Alignment question: Are our OKRs grounded in clear accountability and execution ownership?</a:t>
            </a:r>
          </a:p>
          <a:p>
            <a:r>
              <a:t/>
            </a:r>
          </a:p>
          <a:p>
            <a:r>
              <a:rPr b="1"/>
              <a:t>3. Debrief the whole picture.</a:t>
            </a:r>
          </a:p>
          <a:p>
            <a:r>
              <a:rPr b="1"/>
              <a:t>Ask:</a:t>
            </a:r>
            <a:r>
              <a:t> "If all ten of these hot zones operated simultaneously in our OKR work, what would our final OKR landscape look like? Which domains would be over-represented, and which would be left out?"</a:t>
            </a:r>
          </a:p>
          <a:p>
            <a:r>
              <a:t/>
            </a:r>
          </a:p>
          <a:p>
            <a:r>
              <a:rPr b="1"/>
              <a:t>4. Name the shift.</a:t>
            </a:r>
          </a:p>
          <a:p>
            <a:r>
              <a:rPr b="1"/>
              <a:t>Ask:</a:t>
            </a:r>
            <a:r>
              <a:t> "What is the difference between a functional interpretation of success and a collective definition of success? What does that difference look like in a room full of leaders with different mandates?"</a:t>
            </a:r>
          </a:p>
          <a:p>
            <a:r>
              <a:rPr b="1"/>
              <a:t>Say:</a:t>
            </a:r>
            <a:r>
              <a:t> "That is the conversation Section 5 is designed to produce."</a:t>
            </a:r>
          </a:p>
          <a:p>
            <a:r>
              <a:t/>
            </a:r>
          </a:p>
          <a:p>
            <a:r>
              <a:rPr b="1"/>
              <a:t>5. Explain the exercise on the portal.</a:t>
            </a:r>
          </a:p>
          <a:p>
            <a:r>
              <a:rPr b="1"/>
              <a:t>Say:</a:t>
            </a:r>
            <a:r>
              <a:t> "After the teaching you complete the matching exercise in 3.1 of your own page, on your own.</a:t>
            </a:r>
          </a:p>
          <a:p>
            <a:r>
              <a:t>For each of the ten roles the dominant future realities and the natural OKR emphasis are given. You select the typical hot zone and the alignment question that belong to the role.</a:t>
            </a:r>
          </a:p>
          <a:p>
            <a:r>
              <a:t>A green light confirms a match; a red alert shows a choice that belongs to another role.</a:t>
            </a:r>
          </a:p>
          <a:p>
            <a:r>
              <a:t>This is portfolio work: your matches become part of your Learning Portfolio."</a:t>
            </a:r>
          </a:p>
          <a:p>
            <a:r>
              <a:t/>
            </a:r>
          </a:p>
          <a:p>
            <a:r>
              <a:rPr b="1"/>
              <a:t>6. Close the section.</a:t>
            </a:r>
          </a:p>
          <a:p>
            <a:r>
              <a:rPr b="1"/>
              <a:t>Say:</a:t>
            </a:r>
            <a:r>
              <a:t> "Enterprise OKRs emerge when leaders recognise their functional emphasis and balance it across the four Success in Practice domains.</a:t>
            </a:r>
          </a:p>
          <a:p>
            <a:r>
              <a:t>We now know what biases we each bring into the room. Section 5 is where we use that awareness to build something none of us could build alone."</a:t>
            </a:r>
          </a:p>
          <a:p>
            <a:r>
              <a:t/>
            </a:r>
          </a:p>
          <a:p>
            <a:r>
              <a:rPr b="1"/>
              <a:t>ON THE PORTAL, AFTER THE TEACHING:</a:t>
            </a:r>
          </a:p>
          <a:p>
            <a:r>
              <a:t>Each participant completes the matching exercise in 3.1 of the participant file, alone, as portfolio work, then writes the Section 3 reflection.</a:t>
            </a:r>
          </a:p>
          <a:p>
            <a:r>
              <a:t/>
            </a:r>
          </a:p>
          <a:p>
            <a:r>
              <a:rPr b="1"/>
              <a:t>AFTER THE SESSION:</a:t>
            </a:r>
          </a:p>
          <a:p>
            <a:r>
              <a:t>Each participant's matches, with the number of attempts, and the reflection reach you with the submission, under the heading Hot Zone Matching.</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ZA"/>
          </a:p>
        </p:txBody>
      </p:sp>
      <p:sp>
        <p:nvSpPr>
          <p:cNvPr id="3" name="Notes Placeholder 2"/>
          <p:cNvSpPr>
            <a:spLocks noGrp="1"/>
          </p:cNvSpPr>
          <p:nvPr>
            <p:ph type="body" sz="quarter" idx="3"/>
          </p:nvPr>
        </p:nvSpPr>
        <p:spPr/>
        <p:txBody>
          <a:bodyPr/>
          <a:lstStyle/>
          <a:p>
            <a:r>
              <a:rPr b="1"/>
              <a:t>SECTION 3 REFLECTIONS</a:t>
            </a:r>
          </a:p>
          <a:p>
            <a:r>
              <a:t/>
            </a:r>
          </a:p>
          <a:p>
            <a:r>
              <a:rPr b="1"/>
              <a:t>HOW TO USE THIS SLIDE:</a:t>
            </a:r>
          </a:p>
          <a:p>
            <a:r>
              <a:t/>
            </a:r>
          </a:p>
          <a:p>
            <a:r>
              <a:rPr b="1"/>
              <a:t>1. Show the slide and read the prompt aloud.</a:t>
            </a:r>
          </a:p>
          <a:p>
            <a:r>
              <a:t>3.1 Reflection: "Which hot zone description most accurately reflects how you instinctively approach OKR definition? What would you need to do differently to write an enterprise-level Key Result?"</a:t>
            </a:r>
          </a:p>
          <a:p>
            <a:r>
              <a:t/>
            </a:r>
          </a:p>
          <a:p>
            <a:r>
              <a:rPr b="1"/>
              <a:t>2. Say what the reflection is for.</a:t>
            </a:r>
          </a:p>
          <a:p>
            <a:r>
              <a:t>Point learners to the portal section that they will be required to complete with as much depth as possible.</a:t>
            </a:r>
          </a:p>
          <a:p>
            <a:r>
              <a:t>The reflections build the learning portfolio they receive at the end of the programme.</a:t>
            </a:r>
          </a:p>
          <a:p>
            <a:r>
              <a:t/>
            </a:r>
          </a:p>
          <a:p>
            <a:r>
              <a:rPr b="1"/>
              <a:t>Say:</a:t>
            </a:r>
            <a:r>
              <a:t> "You write this reflection on the portal after the teaching, with as much depth as you can."</a:t>
            </a:r>
          </a:p>
          <a:p>
            <a:r>
              <a:t/>
            </a:r>
          </a:p>
          <a:p>
            <a:r>
              <a:rPr b="1"/>
              <a:t>3. Start the thinking with the group.</a:t>
            </a:r>
          </a:p>
          <a:p>
            <a:r>
              <a:rPr b="1"/>
              <a:t>Ask:</a:t>
            </a:r>
            <a:r>
              <a:t> "Which of these descriptions resonates most with how you instinctively write Key Results?"</a:t>
            </a:r>
          </a:p>
          <a:p>
            <a:r>
              <a:t>Take two answers.</a:t>
            </a:r>
          </a:p>
          <a:p>
            <a:r>
              <a:t/>
            </a:r>
          </a:p>
          <a:p>
            <a:r>
              <a:rPr b="1"/>
              <a:t>4. Set the standard.</a:t>
            </a:r>
          </a:p>
          <a:p>
            <a:r>
              <a:rPr b="1"/>
              <a:t>Say:</a:t>
            </a:r>
            <a:r>
              <a:t> "Name one hot zone description.</a:t>
            </a:r>
          </a:p>
          <a:p>
            <a:r>
              <a:t>Give one objective or Key Result you have written that shows it.</a:t>
            </a:r>
          </a:p>
          <a:p>
            <a:r>
              <a:t>Then say what you would do differently: which SiP domain you would add, and which role you would consult."</a:t>
            </a:r>
          </a:p>
          <a:p>
            <a:r>
              <a:t/>
            </a:r>
          </a:p>
          <a:p>
            <a:r>
              <a:rPr b="1"/>
              <a:t>5. Bridge to Section 4.</a:t>
            </a:r>
          </a:p>
          <a:p>
            <a:r>
              <a:rPr b="1"/>
              <a:t>Say:</a:t>
            </a:r>
            <a:r>
              <a:t> "We know the filter, the building blocks, the steps and our own biases. Section 4 puts the sequence into practice through Strategy Airport, taking one Success in Practice statement through to an execution-ready OKR."</a:t>
            </a:r>
          </a:p>
          <a:p>
            <a:r>
              <a:t/>
            </a:r>
          </a:p>
          <a:p>
            <a:r>
              <a:rPr b="1"/>
              <a:t>ON THE PORTAL, AFTER THE TEACHING:</a:t>
            </a:r>
          </a:p>
          <a:p>
            <a:r>
              <a:t>Participants write the reflection in Section 3 of the participant file: 3.1 Reflection.</a:t>
            </a:r>
          </a:p>
        </p:txBody>
      </p:sp>
      <p:sp>
        <p:nvSpPr>
          <p:cNvPr id="4" name="Slide Number Placeholder 3"/>
          <p:cNvSpPr>
            <a:spLocks noGrp="1"/>
          </p:cNvSpPr>
          <p:nvPr>
            <p:ph type="sldNum" sz="quarter" idx="5"/>
          </p:nvPr>
        </p:nvSpPr>
        <p:spPr/>
        <p:txBody>
          <a:bodyPr/>
          <a:lstStyle/>
          <a:p>
            <a:endParaRPr lang="en-ZA"/>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SECTION 5 · APPLICATION — IN PRACTICE</a:t>
            </a:r>
          </a:p>
          <a:p>
            <a:r>
              <a:t/>
            </a:r>
          </a:p>
          <a:p>
            <a:r>
              <a:rPr b="1"/>
              <a:t>HOW THIS SECTION RUNS:</a:t>
            </a:r>
          </a:p>
          <a:p>
            <a:r>
              <a:t>1. 5.1: Translating SiP to KISS. The group's four SiP statements pass through the four KISS filters, and the group confirms its KISS map.</a:t>
            </a:r>
          </a:p>
          <a:p>
            <a:r>
              <a:t>2. 5.2: Translating KISS to OKRs through the five steps. The group confirms its Enterprise Priorities and Enterprise OKRs.</a:t>
            </a:r>
          </a:p>
          <a:p>
            <a:r>
              <a:t>3. You explain both steps from the slides. The groups do the work itself on the portal after the teaching, in the session or after it.</a:t>
            </a:r>
          </a:p>
          <a:p>
            <a:r>
              <a:t>4. Into the Capstone: the Unit 3 section of a team's Capstone S2R® Blueprint opens once every member has completed the unit. It brings in the confirmed Keep, Improve, Start, Stop, Enterprise Priorities and Enterprise OKRs (boxes 3A to 3F), and the team reads them together and confirms them.</a:t>
            </a:r>
          </a:p>
          <a:p>
            <a:r>
              <a:t/>
            </a:r>
          </a:p>
          <a:p>
            <a:r>
              <a:rPr b="1"/>
              <a:t>SECTION LEARNING OUTCOMES:</a:t>
            </a:r>
          </a:p>
          <a:p>
            <a:r>
              <a:rPr b="1"/>
              <a:t>1. Negotiate a coherent set of enterprise objectives and results across the leadership team.</a:t>
            </a:r>
          </a:p>
          <a:p>
            <a:r>
              <a:rPr b="1"/>
              <a:t>2. Integrate diverse executive perspectives into a shared strategic trajectory.</a:t>
            </a:r>
          </a:p>
          <a:p>
            <a:r>
              <a:t/>
            </a:r>
          </a:p>
          <a:p>
            <a:r>
              <a:rPr b="1"/>
              <a:t>HOW TO OPEN THE SECTION:</a:t>
            </a:r>
          </a:p>
          <a:p>
            <a:r>
              <a:t/>
            </a:r>
          </a:p>
          <a:p>
            <a:r>
              <a:rPr b="1"/>
              <a:t>1. State the section intent.</a:t>
            </a:r>
          </a:p>
          <a:p>
            <a:r>
              <a:rPr b="1"/>
              <a:t>Say:</a:t>
            </a:r>
            <a:r>
              <a:t> "This is the production section of the unit, and it is Capstone work.</a:t>
            </a:r>
          </a:p>
          <a:p>
            <a:r>
              <a:t>Everything in Awareness, Intelligence and Extrapolating has been preparation for this."</a:t>
            </a:r>
          </a:p>
          <a:p>
            <a:r>
              <a:t/>
            </a:r>
          </a:p>
          <a:p>
            <a:r>
              <a:rPr b="1"/>
              <a:t>2. Read the two section learning outcomes from the slide.</a:t>
            </a:r>
          </a:p>
          <a:p>
            <a:r>
              <a:t/>
            </a:r>
          </a:p>
          <a:p>
            <a:r>
              <a:rPr b="1"/>
              <a:t>3. Give the two connected stages.</a:t>
            </a:r>
          </a:p>
          <a:p>
            <a:r>
              <a:rPr b="1"/>
              <a:t>Say:</a:t>
            </a:r>
            <a:r>
              <a:t> "Your group works through two connected stages."</a:t>
            </a:r>
          </a:p>
          <a:p>
            <a:r>
              <a:t>- 5.1 — Translating SiP to KISS: pass each of your four SiP statements through the four KISS filters and confirm your KISS map.</a:t>
            </a:r>
          </a:p>
          <a:p>
            <a:r>
              <a:t>- 5.2 — Translating KISS to OKRs: the five steps: convert the confirmed KISS map into Enterprise Priorities and Enterprise OKRs.</a:t>
            </a:r>
          </a:p>
          <a:p>
            <a:r>
              <a:rPr b="1"/>
              <a:t>Say:</a:t>
            </a:r>
            <a:r>
              <a:t> "Each output is the foundation for the next: Success in Practice, then KISS, then OKRs."</a:t>
            </a:r>
          </a:p>
          <a:p>
            <a:r>
              <a:t/>
            </a:r>
          </a:p>
          <a:p>
            <a:r>
              <a:rPr b="1"/>
              <a:t>4. Frame the goal.</a:t>
            </a:r>
          </a:p>
          <a:p>
            <a:r>
              <a:rPr b="1"/>
              <a:t>Say:</a:t>
            </a:r>
            <a:r>
              <a:t> "The goal of this section is to find the few, vital Enterprise OKRs that will shift the needle for the entire organisation.</a:t>
            </a:r>
          </a:p>
          <a:p>
            <a:r>
              <a:t>Departments contribute the insight. The enterprise owns the results."</a:t>
            </a:r>
          </a:p>
          <a:p>
            <a:r>
              <a:rPr b="1"/>
              <a:t>Add:</a:t>
            </a:r>
            <a:r>
              <a:t> "When the focus is on departments, the organisation just gets better silos. When the focus is on the enterprise, it actually executes its strategy."</a:t>
            </a:r>
          </a:p>
          <a:p>
            <a:r>
              <a:t/>
            </a:r>
          </a:p>
          <a:p>
            <a:r>
              <a:rPr b="1"/>
              <a:t>5. Say how the group works.</a:t>
            </a:r>
          </a:p>
          <a:p>
            <a:r>
              <a:rPr b="1"/>
              <a:t>Say:</a:t>
            </a:r>
            <a:r>
              <a:t> "The group chooses its scribe for this work. The scribe types what the group agrees, the entries appear on every member's page, and each member then selects Agree.</a:t>
            </a:r>
          </a:p>
          <a:p>
            <a:r>
              <a:t>Bring the alignment question of your own role into every discussion."</a:t>
            </a:r>
          </a:p>
          <a:p>
            <a:r>
              <a:t/>
            </a:r>
          </a:p>
          <a:p>
            <a:r>
              <a:rPr b="1"/>
              <a:t>6. Bridge to 5.1.</a:t>
            </a:r>
          </a:p>
          <a:p>
            <a:r>
              <a:rPr b="1"/>
              <a:t>Say:</a:t>
            </a:r>
            <a:r>
              <a:t> "We start with the KISS map."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5.1 — TRANSLATING SiP TO KISS (4 DOMAINS · GROUP WORK)</a:t>
            </a:r>
          </a:p>
          <a:p>
            <a:r>
              <a:t/>
            </a:r>
          </a:p>
          <a:p>
            <a:r>
              <a:rPr b="1"/>
              <a:t>HOW TO TEACH IT:</a:t>
            </a:r>
          </a:p>
          <a:p>
            <a:r>
              <a:t/>
            </a:r>
          </a:p>
          <a:p>
            <a:r>
              <a:rPr b="1"/>
              <a:t>1. Say what the group starts with.</a:t>
            </a:r>
          </a:p>
          <a:p>
            <a:r>
              <a:rPr b="1"/>
              <a:t>Say:</a:t>
            </a:r>
            <a:r>
              <a:t> "In 5.1 your group's four SiP statements from Unit 2 appear at the top of the page, brought in from each member's Unit 2 page.</a:t>
            </a:r>
          </a:p>
          <a:p>
            <a:r>
              <a:t>Nothing is typed again."</a:t>
            </a:r>
          </a:p>
          <a:p>
            <a:r>
              <a:t/>
            </a:r>
          </a:p>
          <a:p>
            <a:r>
              <a:rPr b="1"/>
              <a:t>2. Walk the grid on the slide.</a:t>
            </a:r>
          </a:p>
          <a:p>
            <a:r>
              <a:rPr b="1"/>
              <a:t>Say:</a:t>
            </a:r>
            <a:r>
              <a:t> "For each SiP domain your group answers the four KISS guiding questions of 1.3: Keep, Improve, Start and Stop. Four domains, four filters: sixteen entries in all."</a:t>
            </a:r>
          </a:p>
          <a:p>
            <a:r>
              <a:t>Point to each domain band on the slide as you name it: Customer Experience &amp; Value, Operational Capability &amp; Execution Rhythm, People &amp; Culture Dynamics, Enterprise Value Creation.</a:t>
            </a:r>
          </a:p>
          <a:p>
            <a:r>
              <a:t/>
            </a:r>
          </a:p>
          <a:p>
            <a:r>
              <a:rPr b="1"/>
              <a:t>3. Anchor every entry to the SiP.</a:t>
            </a:r>
          </a:p>
          <a:p>
            <a:r>
              <a:rPr b="1"/>
              <a:t>Say:</a:t>
            </a:r>
            <a:r>
              <a:t> "Every item you enter must be anchored to the SiP. For example: we should improve cross-functional handover time from 72 to 24 hours because the SiP describes seamless execution rhythm."</a:t>
            </a:r>
          </a:p>
          <a:p>
            <a:r>
              <a:rPr b="1"/>
              <a:t>Add:</a:t>
            </a:r>
            <a:r>
              <a:t> "Insist on specificity in your group. Push for the operating reality."</a:t>
            </a:r>
          </a:p>
          <a:p>
            <a:r>
              <a:t/>
            </a:r>
          </a:p>
          <a:p>
            <a:r>
              <a:rPr b="1"/>
              <a:t>4. Say how the group reaches its entries.</a:t>
            </a:r>
          </a:p>
          <a:p>
            <a:r>
              <a:rPr b="1"/>
              <a:t>Say:</a:t>
            </a:r>
            <a:r>
              <a:t> "For each domain, each member first writes their own inputs. Then the group shares them and agrees its entries.</a:t>
            </a:r>
          </a:p>
          <a:p>
            <a:r>
              <a:t>This keeps the first speaker from dominating the KISS landscape."</a:t>
            </a:r>
          </a:p>
          <a:p>
            <a:r>
              <a:t/>
            </a:r>
          </a:p>
          <a:p>
            <a:r>
              <a:rPr b="1"/>
              <a:t>5. Set the scale.</a:t>
            </a:r>
          </a:p>
          <a:p>
            <a:r>
              <a:rPr b="1"/>
              <a:t>Say:</a:t>
            </a:r>
            <a:r>
              <a:t> "Aim for three or four items for each KISS element in each domain. More than five means the group has not yet prioritised: choose."</a:t>
            </a:r>
          </a:p>
          <a:p>
            <a:r>
              <a:t/>
            </a:r>
          </a:p>
          <a:p>
            <a:r>
              <a:rPr b="1"/>
              <a:t>6. Confirm the map.</a:t>
            </a:r>
          </a:p>
          <a:p>
            <a:r>
              <a:rPr b="1"/>
              <a:t>Say:</a:t>
            </a:r>
            <a:r>
              <a:t> "When the four domains are complete, your group reads the whole map and confirms it. The confirmed Keep, Improve, Start and Stop feed your team's Capstone S2R® Blueprint."</a:t>
            </a:r>
          </a:p>
          <a:p>
            <a:r>
              <a:t/>
            </a:r>
          </a:p>
          <a:p>
            <a:r>
              <a:rPr b="1"/>
              <a:t>7. Bridge to 5.2.</a:t>
            </a:r>
          </a:p>
          <a:p>
            <a:r>
              <a:rPr b="1"/>
              <a:t>Say:</a:t>
            </a:r>
            <a:r>
              <a:t> "The confirmed KISS map is the evidence for the five steps."</a:t>
            </a:r>
          </a:p>
          <a:p>
            <a:r>
              <a:t/>
            </a:r>
          </a:p>
          <a:p>
            <a:r>
              <a:rPr b="1"/>
              <a:t>ON THE PORTAL, AFTER THE TEACHING:</a:t>
            </a:r>
          </a:p>
          <a:p>
            <a:r>
              <a:t>In 5.1 of the participant file the group answers the four KISS guiding questions for each SiP domain (sixteen entries) and confirms its KISS map. The scribe types what the group agrees, the entries appear on every member's page, and each member selects Agree.</a:t>
            </a:r>
          </a:p>
          <a:p>
            <a:r>
              <a:t/>
            </a:r>
          </a:p>
          <a:p>
            <a:r>
              <a:rPr b="1"/>
              <a:t>LATER, WHEN THE GROUPS DO THE WORK ON THE PORTAL:</a:t>
            </a:r>
          </a:p>
          <a:p>
            <a:r>
              <a:t>- Ask each member to write their own inputs for a domain before the group discusses it.</a:t>
            </a:r>
          </a:p>
          <a:p>
            <a:r>
              <a:t>- After all four domains are captured, ask the group: "Look across all four domains. What are the two or three patterns that keep appearing? What does the organisation most consistently need to start, stop or improve relative to the SiP?" These patterns become the strategic themes of 5.2.</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10E69-D01E-8EE9-A814-81A278323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62630-A77E-C950-76E5-C73D28DCA7D9}"/>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EE148E1C-74F9-2D8F-2A34-18C620AC3BF2}"/>
              </a:ext>
            </a:extLst>
          </p:cNvPr>
          <p:cNvSpPr>
            <a:spLocks noGrp="1"/>
          </p:cNvSpPr>
          <p:nvPr>
            <p:ph type="body" idx="1"/>
          </p:nvPr>
        </p:nvSpPr>
        <p:spPr/>
        <p:txBody>
          <a:bodyPr/>
          <a:lstStyle/>
          <a:p>
            <a:r>
              <a:rPr b="1"/>
              <a:t>5.2 — TRANSLATING KISS TO OKRs: THE FIVE STEPS (5 STEPS · GROUP WORK)</a:t>
            </a:r>
          </a:p>
          <a:p>
            <a:r>
              <a:t/>
            </a:r>
          </a:p>
          <a:p>
            <a:r>
              <a:rPr b="1"/>
              <a:t>HOW TO TEACH IT:</a:t>
            </a:r>
          </a:p>
          <a:p>
            <a:r>
              <a:t/>
            </a:r>
          </a:p>
          <a:p>
            <a:r>
              <a:rPr b="1"/>
              <a:t>1. Link the step to the one before it.</a:t>
            </a:r>
          </a:p>
          <a:p>
            <a:r>
              <a:rPr b="1"/>
              <a:t>Say:</a:t>
            </a:r>
            <a:r>
              <a:t> "With your KISS map confirmed, your group converts it into enterprise OKRs through the five steps of 1.5.</a:t>
            </a:r>
          </a:p>
          <a:p>
            <a:r>
              <a:t>Work through the steps in order.</a:t>
            </a:r>
          </a:p>
          <a:p>
            <a:r>
              <a:t>Each step uses what your group recorded in the step before it."</a:t>
            </a:r>
          </a:p>
          <a:p>
            <a:r>
              <a:t/>
            </a:r>
          </a:p>
          <a:p>
            <a:r>
              <a:rPr b="1"/>
              <a:t>2. Step 1 — Find Themes.</a:t>
            </a:r>
          </a:p>
          <a:p>
            <a:r>
              <a:rPr b="1"/>
              <a:t>Say:</a:t>
            </a:r>
            <a:r>
              <a:t> "Each member first writes down the 2–3 big shifts they see in the KISS map.</a:t>
            </a:r>
          </a:p>
          <a:p>
            <a:r>
              <a:t>Share them, then agree your group’s themes.</a:t>
            </a:r>
          </a:p>
          <a:p>
            <a:r>
              <a:t>A theme names one shift the organisation must make to reach the SiP.</a:t>
            </a:r>
          </a:p>
          <a:p>
            <a:r>
              <a:t>Your group records up to four themes."</a:t>
            </a:r>
          </a:p>
          <a:p>
            <a:r>
              <a:rPr b="1"/>
              <a:t>Add:</a:t>
            </a:r>
            <a:r>
              <a:t> "Written themes prevent the anchoring bias where the first speaker dominates the room."</a:t>
            </a:r>
          </a:p>
          <a:p>
            <a:r>
              <a:t/>
            </a:r>
          </a:p>
          <a:p>
            <a:r>
              <a:rPr b="1"/>
              <a:t>3. Step 2 — Inspiring Objectives.</a:t>
            </a:r>
          </a:p>
          <a:p>
            <a:r>
              <a:rPr b="1"/>
              <a:t>Say:</a:t>
            </a:r>
            <a:r>
              <a:t> "Your group writes one Objective for each theme.</a:t>
            </a:r>
          </a:p>
          <a:p>
            <a:r>
              <a:t>Draft your Objective privately first, then agree the group’s wording.</a:t>
            </a:r>
          </a:p>
          <a:p>
            <a:r>
              <a:t>The T-shirt test applies: if you cannot say it in a hallway conversation, simplify it."</a:t>
            </a:r>
          </a:p>
          <a:p>
            <a:r>
              <a:t/>
            </a:r>
          </a:p>
          <a:p>
            <a:r>
              <a:rPr b="1"/>
              <a:t>4. Step 3 — Define Key Results.</a:t>
            </a:r>
          </a:p>
          <a:p>
            <a:r>
              <a:rPr b="1"/>
              <a:t>Say:</a:t>
            </a:r>
            <a:r>
              <a:t> "For each Objective, your group writes up to two Key Results in the formula, and names the contributing roles for each Key Result.</a:t>
            </a:r>
          </a:p>
          <a:p>
            <a:r>
              <a:t>Every Key Result carries a baseline, a target and a deadline."</a:t>
            </a:r>
          </a:p>
          <a:p>
            <a:r>
              <a:rPr b="1"/>
              <a:t>Say:</a:t>
            </a:r>
            <a:r>
              <a:t> "Hold each Key Result to the benchmark: shift response time from 12 hours to 4 hours by Q3."</a:t>
            </a:r>
          </a:p>
          <a:p>
            <a:r>
              <a:t/>
            </a:r>
          </a:p>
          <a:p>
            <a:r>
              <a:rPr b="1"/>
              <a:t>5. Step 4 — Alignment Test.</a:t>
            </a:r>
          </a:p>
          <a:p>
            <a:r>
              <a:rPr b="1"/>
              <a:t>Say:</a:t>
            </a:r>
            <a:r>
              <a:t> "Run the four-question test publicly.</a:t>
            </a:r>
          </a:p>
          <a:p>
            <a:r>
              <a:t>One member reads the OKR and the group answers the four questions aloud.</a:t>
            </a:r>
          </a:p>
          <a:p>
            <a:r>
              <a:t>Tick a question only when the answer is a clear yes.</a:t>
            </a:r>
          </a:p>
          <a:p>
            <a:r>
              <a:t>An OKR that cannot earn all four ticks goes back to Step 2 or Step 3."</a:t>
            </a:r>
          </a:p>
          <a:p>
            <a:r>
              <a:t/>
            </a:r>
          </a:p>
          <a:p>
            <a:r>
              <a:rPr b="1"/>
              <a:t>6. Step 5 — Priority Matrix.</a:t>
            </a:r>
          </a:p>
          <a:p>
            <a:r>
              <a:rPr b="1"/>
              <a:t>Say:</a:t>
            </a:r>
            <a:r>
              <a:t> "Place each aligned OKR on the matrix by its Impact and its Effort.</a:t>
            </a:r>
          </a:p>
          <a:p>
            <a:r>
              <a:t>Before you place the first one, agree what high impact and high effort mean for your organisation: time, money, change management, or all three."</a:t>
            </a:r>
          </a:p>
          <a:p>
            <a:r>
              <a:t/>
            </a:r>
          </a:p>
          <a:p>
            <a:r>
              <a:rPr b="1"/>
              <a:t>7. Explain confirmation.</a:t>
            </a:r>
          </a:p>
          <a:p>
            <a:r>
              <a:rPr b="1"/>
              <a:t>Say:</a:t>
            </a:r>
            <a:r>
              <a:t> "A record builds up above the steps, theme by theme: the theme, its Objective, its Key Results with the contributing roles, the alignment test and the matrix position.</a:t>
            </a:r>
          </a:p>
          <a:p>
            <a:r>
              <a:t>When the five steps are complete, read the record together as a group, then confirm your Enterprise Priorities and your Enterprise OKRs. You can print the record.</a:t>
            </a:r>
          </a:p>
          <a:p>
            <a:r>
              <a:t>When every member has agreed, both outputs feed your team's Capstone S2R® Blueprint."</a:t>
            </a:r>
          </a:p>
          <a:p>
            <a:r>
              <a:t/>
            </a:r>
          </a:p>
          <a:p>
            <a:r>
              <a:rPr b="1"/>
              <a:t>ON THE PORTAL, AFTER THE TEACHING:</a:t>
            </a:r>
          </a:p>
          <a:p>
            <a:r>
              <a:t>In 5.2 of the participant file, the group works through the five steps:</a:t>
            </a:r>
          </a:p>
          <a:p>
            <a:r>
              <a:t>records up to four themes from its confirmed KISS map;</a:t>
            </a:r>
          </a:p>
          <a:p>
            <a:r>
              <a:t>writes one Objective for each theme;</a:t>
            </a:r>
          </a:p>
          <a:p>
            <a:r>
              <a:t>writes up to two Key Results for each Objective, with the contributing roles;</a:t>
            </a:r>
          </a:p>
          <a:p>
            <a:r>
              <a:t>applies the four-question alignment test to each Objective;</a:t>
            </a:r>
          </a:p>
          <a:p>
            <a:r>
              <a:t>places each aligned OKR on the Prioritisation Matrix;</a:t>
            </a:r>
          </a:p>
          <a:p>
            <a:r>
              <a:t>confirms its Enterprise Priorities and its Enterprise OKRs.</a:t>
            </a:r>
          </a:p>
          <a:p>
            <a:r>
              <a:t>The group agrees each entry; the scribe types it, and it appears on every member’s page.</a:t>
            </a:r>
          </a:p>
          <a:p>
            <a:r>
              <a:t/>
            </a:r>
          </a:p>
          <a:p>
            <a:r>
              <a:rPr b="1"/>
              <a:t>LATER, WHEN THE GROUPS DO THE WORK ON THE PORTAL:</a:t>
            </a:r>
          </a:p>
          <a:p>
            <a:r>
              <a:t>- Step 1: collect all themes before any discussion begins.</a:t>
            </a:r>
          </a:p>
          <a:p>
            <a:r>
              <a:t>- Step 3: apply the four-part formula rigorously. When a Key Result reads as an activity, ask: "Can you check it off a task list?"</a:t>
            </a:r>
          </a:p>
          <a:p>
            <a:r>
              <a:t>- Step 4: ask each leader to read their OKR and answer the four questions aloud. The room quickly shows whether the OKR is enterprise-level or functionally disguised.</a:t>
            </a:r>
          </a:p>
          <a:p>
            <a:r>
              <a:t>- Step 5: walk through the matrix structure before the group places any item, and ask it to agree what counts as high impact and high effort for its strategy. These discussions are where collective intelligence is built, so the group takes the time it needs: the quality of the discussion is as valuable as the final placement.</a:t>
            </a:r>
          </a:p>
          <a:p>
            <a:r>
              <a:t>- Use the hot zones. After a leader describes an OKR, ask the room: "Which hot zone does this perspective risk creating?"</a:t>
            </a:r>
          </a:p>
        </p:txBody>
      </p:sp>
      <p:sp>
        <p:nvSpPr>
          <p:cNvPr id="4" name="Slide Number Placeholder 3">
            <a:extLst>
              <a:ext uri="{FF2B5EF4-FFF2-40B4-BE49-F238E27FC236}">
                <a16:creationId xmlns:a16="http://schemas.microsoft.com/office/drawing/2014/main" id="{7AF96488-96DF-3B9D-3BBE-924FCC163DF2}"/>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3621622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SECTION 4 · INTEGRATION — COLLECTIVE</a:t>
            </a:r>
          </a:p>
          <a:p>
            <a:r>
              <a:t/>
            </a:r>
          </a:p>
          <a:p>
            <a:r>
              <a:rPr b="1"/>
              <a:t>HOW THIS SECTION RUNS:</a:t>
            </a:r>
          </a:p>
          <a:p>
            <a:r>
              <a:t>1. 4.1: the Strategy Airport game. You play one learning round with the room, from the facilitator file.</a:t>
            </a:r>
          </a:p>
          <a:p>
            <a:r>
              <a:t>2. After the teaching, each participant plays the same game alone on the portal and submits it with the unit. It is portfolio work.</a:t>
            </a:r>
          </a:p>
          <a:p>
            <a:r>
              <a:t/>
            </a:r>
          </a:p>
          <a:p>
            <a:r>
              <a:rPr b="1"/>
              <a:t>SECTION LEARNING OUTCOMES:</a:t>
            </a:r>
          </a:p>
          <a:p>
            <a:r>
              <a:rPr b="1"/>
              <a:t>1. Translate strategic intent into execution-ready objectives and key results.</a:t>
            </a:r>
          </a:p>
          <a:p>
            <a:r>
              <a:rPr b="1"/>
              <a:t>2. Construct a measurable strategic trajectory from the intended future position.</a:t>
            </a:r>
          </a:p>
          <a:p>
            <a:r>
              <a:t/>
            </a:r>
          </a:p>
          <a:p>
            <a:r>
              <a:rPr b="1"/>
              <a:t>HOW TO OPEN THE SECTION:</a:t>
            </a:r>
          </a:p>
          <a:p>
            <a:r>
              <a:t/>
            </a:r>
          </a:p>
          <a:p>
            <a:r>
              <a:rPr b="1"/>
              <a:t>1. State the section intent.</a:t>
            </a:r>
          </a:p>
          <a:p>
            <a:r>
              <a:rPr b="1"/>
              <a:t>Say:</a:t>
            </a:r>
            <a:r>
              <a:t> "You have seen the full path from Success in Practice to KISS to OKRs.</a:t>
            </a:r>
          </a:p>
          <a:p>
            <a:r>
              <a:t>Strategy Airport lets you apply it to a case you have not met: first together in this lesson, then on your own."</a:t>
            </a:r>
          </a:p>
          <a:p>
            <a:r>
              <a:t/>
            </a:r>
          </a:p>
          <a:p>
            <a:r>
              <a:rPr b="1"/>
              <a:t>2. Read the two section learning outcomes from the slide.</a:t>
            </a:r>
          </a:p>
          <a:p>
            <a:r>
              <a:t/>
            </a:r>
          </a:p>
          <a:p>
            <a:r>
              <a:rPr b="1"/>
              <a:t>3. Name the shift.</a:t>
            </a:r>
          </a:p>
          <a:p>
            <a:r>
              <a:rPr b="1"/>
              <a:t>Say:</a:t>
            </a:r>
            <a:r>
              <a:t> "Section 4 is individual: one participant, one learning round. Section 5 is collective: one group, one position."</a:t>
            </a:r>
          </a:p>
          <a:p>
            <a:r>
              <a:t/>
            </a:r>
          </a:p>
          <a:p>
            <a:r>
              <a:rPr b="1"/>
              <a:t>4. Bridge to 4.1.</a:t>
            </a:r>
          </a:p>
          <a:p>
            <a:r>
              <a:rPr b="1"/>
              <a:t>Say:</a:t>
            </a:r>
            <a:r>
              <a:t> "Welcome to Strategy Airport."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4.1 — STRATEGY AIRPORT (2 GATES · LEARNING ROUND)</a:t>
            </a:r>
          </a:p>
          <a:p>
            <a:r>
              <a:t/>
            </a:r>
          </a:p>
          <a:p>
            <a:r>
              <a:rPr b="1"/>
              <a:t>HOW TO TEACH IT:</a:t>
            </a:r>
          </a:p>
          <a:p>
            <a:r>
              <a:t/>
            </a:r>
          </a:p>
          <a:p>
            <a:r>
              <a:rPr b="1"/>
              <a:t>1. Share the game.</a:t>
            </a:r>
          </a:p>
          <a:p>
            <a:r>
              <a:t>Stop sharing the deck and share the browser window that holds the facilitator file, at Section 4. </a:t>
            </a:r>
          </a:p>
          <a:p>
            <a:r>
              <a:t>Have that page ready before the lesson begins.</a:t>
            </a:r>
          </a:p>
          <a:p>
            <a:r>
              <a:t>Return to the deck when the learning round is complete.</a:t>
            </a:r>
          </a:p>
          <a:p>
            <a:r>
              <a:t/>
            </a:r>
          </a:p>
          <a:p>
            <a:r>
              <a:rPr b="1"/>
              <a:t>2. Introduce the game.</a:t>
            </a:r>
          </a:p>
          <a:p>
            <a:r>
              <a:rPr b="1"/>
              <a:t>Say:</a:t>
            </a:r>
            <a:r>
              <a:t> "This is Strategy Airport.</a:t>
            </a:r>
          </a:p>
          <a:p>
            <a:r>
              <a:t>We move from strategic imagination to operational clearance.</a:t>
            </a:r>
          </a:p>
          <a:p>
            <a:r>
              <a:t>The case is a medical health company.</a:t>
            </a:r>
          </a:p>
          <a:p>
            <a:r>
              <a:t>There are two gates: Baggage Check, which is KISS mapping, and Flight Plan, which is OKR construction."</a:t>
            </a:r>
          </a:p>
          <a:p>
            <a:r>
              <a:t/>
            </a:r>
          </a:p>
          <a:p>
            <a:r>
              <a:rPr b="1"/>
              <a:t>3. Read the Success in Practice statement of the case aloud.</a:t>
            </a:r>
          </a:p>
          <a:p>
            <a:r>
              <a:t>"We will deliver reliable, accessible and patient-centred healthcare by ensuring patients experience timely support, clear communication and coordinated care across every touchpoint. To achieve this, we will strengthen operational coordination, use data to guide decisions, build shared accountability across teams and improve service reliability, efficiency, patient trust and health outcomes."</a:t>
            </a:r>
          </a:p>
          <a:p>
            <a:r>
              <a:t/>
            </a:r>
          </a:p>
          <a:p>
            <a:r>
              <a:rPr b="1"/>
              <a:t>4. Gate 1 — Baggage Check.</a:t>
            </a:r>
          </a:p>
          <a:p>
            <a:r>
              <a:t>Take KEEP, IMPROVE, START and STOP in turn. For each filter, read the question on the card and the options under it:</a:t>
            </a:r>
          </a:p>
          <a:p>
            <a:r>
              <a:t>- KEEP: What must be protected because it already supports the SiP?</a:t>
            </a:r>
          </a:p>
          <a:p>
            <a:r>
              <a:t>- IMPROVE: What must work better because it weakens delivery?</a:t>
            </a:r>
          </a:p>
          <a:p>
            <a:r>
              <a:t>- START: What must begin because it is missing?</a:t>
            </a:r>
          </a:p>
          <a:p>
            <a:r>
              <a:t>- STOP: What must stop because it contradicts the SiP?</a:t>
            </a:r>
          </a:p>
          <a:p>
            <a:r>
              <a:t>Game rule: let participants choose first. Ask them to post their choice in the chat. Then choose that option on the screen: the answer is revealed only after selection.</a:t>
            </a:r>
          </a:p>
          <a:p>
            <a:r>
              <a:t>On a green light, read the reason aloud.</a:t>
            </a:r>
          </a:p>
          <a:p>
            <a:r>
              <a:t>On a red alert, ask: "Why does this option fail the SiP?"</a:t>
            </a:r>
          </a:p>
          <a:p>
            <a:r>
              <a:t>Collect at least two items for each filter, then move to the Flight Plan.</a:t>
            </a:r>
          </a:p>
          <a:p>
            <a:r>
              <a:t/>
            </a:r>
          </a:p>
          <a:p>
            <a:r>
              <a:rPr b="1"/>
              <a:t>EXAMPLE</a:t>
            </a:r>
          </a:p>
          <a:p>
            <a:r>
              <a:t>Under KEEP, one option reads: “Keep complaints informal so teams are not blamed.” Red alert: this hides evidence the strategy needs.</a:t>
            </a:r>
          </a:p>
          <a:p>
            <a:r>
              <a:t>Under START, one option reads: “Start collecting more data without deciding how it will be used.” Red alert: data without decisions creates noise.</a:t>
            </a:r>
          </a:p>
          <a:p>
            <a:r>
              <a:t>Each red alert names the reason the option fails the SiP. Ask the room for the reason before you read it.</a:t>
            </a:r>
          </a:p>
          <a:p>
            <a:r>
              <a:t/>
            </a:r>
          </a:p>
          <a:p>
            <a:r>
              <a:rPr b="1"/>
              <a:t>5. Gate 2 — Flight Plan.</a:t>
            </a:r>
          </a:p>
          <a:p>
            <a:r>
              <a:rPr b="1"/>
              <a:t>Say:</a:t>
            </a:r>
            <a:r>
              <a:t> "The KISS choices have now become your OKR themes."</a:t>
            </a:r>
          </a:p>
          <a:p>
            <a:r>
              <a:t>Ask the group to pick one theme and choose it on the screen. A draft Objective, two Key Results and the contributing roles appear.</a:t>
            </a:r>
          </a:p>
          <a:p>
            <a:r>
              <a:t>Read the draft aloud and test it with the room:</a:t>
            </a:r>
          </a:p>
          <a:p>
            <a:r>
              <a:rPr b="1"/>
              <a:t>Ask:</a:t>
            </a:r>
            <a:r>
              <a:t> "Is the Objective enterprise-level? Does each Key Result show a metric, a movement from X to Y and a deadline?"</a:t>
            </a:r>
          </a:p>
          <a:p>
            <a:r>
              <a:t>Edit the draft with the group’s corrections, then add the flight plan.</a:t>
            </a:r>
          </a:p>
          <a:p>
            <a:r>
              <a:t/>
            </a:r>
          </a:p>
          <a:p>
            <a:r>
              <a:rPr b="1"/>
              <a:t>6. Finish the learning round.</a:t>
            </a:r>
          </a:p>
          <a:p>
            <a:r>
              <a:t>Finish the learning round and read the summary on the screen: the KISS themes captured, and the OKR built from one theme.</a:t>
            </a:r>
          </a:p>
          <a:p>
            <a:r>
              <a:t/>
            </a:r>
          </a:p>
          <a:p>
            <a:r>
              <a:rPr b="1"/>
              <a:t>7. Land the learning point.</a:t>
            </a:r>
          </a:p>
          <a:p>
            <a:r>
              <a:rPr b="1"/>
              <a:t>Say:</a:t>
            </a:r>
            <a:r>
              <a:t> "KISS is the evidence base for deciding what the Objective should be and what Key Results will prove progress.</a:t>
            </a:r>
          </a:p>
          <a:p>
            <a:r>
              <a:t>Strategic imagination becomes executable once each objective clears the tests of operating reality and measurable change."</a:t>
            </a:r>
          </a:p>
          <a:p>
            <a:r>
              <a:t/>
            </a:r>
          </a:p>
          <a:p>
            <a:r>
              <a:rPr b="1"/>
              <a:t>8. Hand the game to the participants.</a:t>
            </a:r>
          </a:p>
          <a:p>
            <a:r>
              <a:rPr b="1"/>
              <a:t>Say:</a:t>
            </a:r>
            <a:r>
              <a:t> "After the teaching, each of you plays one learning round alone, in 4.1 of your own page.</a:t>
            </a:r>
          </a:p>
          <a:p>
            <a:r>
              <a:t>Clear both gates: at least two items for each KISS filter, then at least one OKR flight plan with one Objective, two Key Results and the contributing roles.</a:t>
            </a:r>
          </a:p>
          <a:p>
            <a:r>
              <a:t>This is portfolio work.</a:t>
            </a:r>
          </a:p>
          <a:p>
            <a:r>
              <a:t>Your learning round is saved on your page and reaches me when you submit the unit."</a:t>
            </a:r>
          </a:p>
          <a:p>
            <a:r>
              <a:t/>
            </a:r>
          </a:p>
          <a:p>
            <a:r>
              <a:rPr b="1"/>
              <a:t>9. Bridge to Section 5.</a:t>
            </a:r>
          </a:p>
          <a:p>
            <a:r>
              <a:rPr b="1"/>
              <a:t>Say:</a:t>
            </a:r>
            <a:r>
              <a:t> "Next, each group translates its own Success in Practice into a KISS map and then into Enterprise OKRs."</a:t>
            </a:r>
          </a:p>
          <a:p>
            <a:r>
              <a:t/>
            </a:r>
          </a:p>
          <a:p>
            <a:r>
              <a:rPr b="1"/>
              <a:t>ON THE PORTAL, AFTER THE TEACHING:</a:t>
            </a:r>
          </a:p>
          <a:p>
            <a:r>
              <a:t>Each participant plays one Strategy Airport learning round alone in 4.1 of the participant file and clears both gates.</a:t>
            </a:r>
          </a:p>
          <a:p>
            <a:r>
              <a:t/>
            </a:r>
          </a:p>
          <a:p>
            <a:r>
              <a:rPr b="1"/>
              <a:t>AFTER THE SESSION:</a:t>
            </a:r>
          </a:p>
          <a:p>
            <a:r>
              <a:t>Each participant’s KISS choices and flight plans reach you with the submission, under the heading Strategy Airport.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r>
              <a:rPr b="1"/>
              <a:t>UNIT SUMMARY (UNIT 3 SYNTHESIS)</a:t>
            </a:r>
          </a:p>
          <a:p>
            <a:r>
              <a:t/>
            </a:r>
          </a:p>
          <a:p>
            <a:r>
              <a:rPr b="1"/>
              <a:t>HOW TO TEACH IT:</a:t>
            </a:r>
          </a:p>
          <a:p>
            <a:r>
              <a:t/>
            </a:r>
          </a:p>
          <a:p>
            <a:r>
              <a:rPr b="1"/>
              <a:t>1. Return to the opening question.</a:t>
            </a:r>
          </a:p>
          <a:p>
            <a:r>
              <a:t>Read the question on the slide aloud: "If the Success in Practice we described is the future organisation, what must change in the organisation today to make that future possible?"</a:t>
            </a:r>
          </a:p>
          <a:p>
            <a:r>
              <a:t>Ask two or three participants: "Have we answered that question? Where are the remaining gaps?"</a:t>
            </a:r>
          </a:p>
          <a:p>
            <a:r>
              <a:t/>
            </a:r>
          </a:p>
          <a:p>
            <a:r>
              <a:rPr b="1"/>
              <a:t>2. Read the five summary blocks aloud, or ask participants to read them in turn.</a:t>
            </a:r>
          </a:p>
          <a:p>
            <a:r>
              <a:t>The summary is intentionally concise: it crystallises the arc of the unit without adding new content. The blocks describe the whole unit, including the work participants complete on the portal.</a:t>
            </a:r>
          </a:p>
          <a:p>
            <a:r>
              <a:t/>
            </a:r>
          </a:p>
          <a:p>
            <a:r>
              <a:t>Awareness — What · The KISS Framework as Reflective Filter:</a:t>
            </a:r>
          </a:p>
          <a:p>
            <a:r>
              <a:t>Leaders recognise that KISS (Keep, Improve, Start, Stop) functions as a reflective filter between strategic vision and execution commitments.</a:t>
            </a:r>
          </a:p>
          <a:p>
            <a:r>
              <a:t>Before defining Objectives and Key Results, the leadership team examines the organisation's current operating reality in relation to its Success in Practice.</a:t>
            </a:r>
          </a:p>
          <a:p>
            <a:r>
              <a:t>This step prevents the common strategic mistake of layering new ambitions on top of an unchanged operational system.</a:t>
            </a:r>
          </a:p>
          <a:p>
            <a:r>
              <a:t>Five steps then carry the KISS output into enterprise OKRs.</a:t>
            </a:r>
          </a:p>
          <a:p>
            <a:r>
              <a:t/>
            </a:r>
          </a:p>
          <a:p>
            <a:r>
              <a:t>Intelligence — Why · Most OKR Failures are Reflection Failures:</a:t>
            </a:r>
          </a:p>
          <a:p>
            <a:r>
              <a:t>When organisations move directly from vision to targets, legacy routines remain in place, resources remain misaligned, and teams attempt to pursue transformational goals while still carrying the weight of outdated priorities.</a:t>
            </a:r>
          </a:p>
          <a:p>
            <a:r>
              <a:t>The KISS-to-OKR sequence resolves this tension: SiP defines the future, KISS identifies the changes required, and OKRs translate those changes into measurable progress.</a:t>
            </a:r>
          </a:p>
          <a:p>
            <a:r>
              <a:t>The worked example shows the full sequence in practice.</a:t>
            </a:r>
          </a:p>
          <a:p>
            <a:r>
              <a:t/>
            </a:r>
          </a:p>
          <a:p>
            <a:r>
              <a:t>Extrapolating — Where · Functional Bias Creates OKR Hot Zones:</a:t>
            </a:r>
          </a:p>
          <a:p>
            <a:r>
              <a:t>Each leader naturally emphasises different SiP domains.</a:t>
            </a:r>
          </a:p>
          <a:p>
            <a:r>
              <a:t>Unexamined, these perspectives produce functional OKRs where enterprise OKRs are needed.</a:t>
            </a:r>
          </a:p>
          <a:p>
            <a:r>
              <a:t>Participants match each leadership role to its typical hot zone and its alignment question.</a:t>
            </a:r>
          </a:p>
          <a:p>
            <a:r>
              <a:t>Recognising these patterns allows the leadership team to integrate perspectives into a balanced execution system that reflects the full enterprise.</a:t>
            </a:r>
          </a:p>
          <a:p>
            <a:r>
              <a:t/>
            </a:r>
          </a:p>
          <a:p>
            <a:r>
              <a:t>Integration — Collective · From Strategic Imagination to Operational Clearance:</a:t>
            </a:r>
          </a:p>
          <a:p>
            <a:r>
              <a:t>In Strategy Airport each participant applies the same translation alone to a new case: what the company must keep, improve, start and stop, then one KISS theme converted into an Objective and two Key Results with contributing roles.</a:t>
            </a:r>
          </a:p>
          <a:p>
            <a:r>
              <a:t>KISS is the evidence base for deciding what the Objective should be and what Key Results will prove progress.</a:t>
            </a:r>
          </a:p>
          <a:p>
            <a:r>
              <a:t/>
            </a:r>
          </a:p>
          <a:p>
            <a:r>
              <a:t>Application — In Practice · Individual Expertise into Collective Intelligence:</a:t>
            </a:r>
          </a:p>
          <a:p>
            <a:r>
              <a:t>Each group translates its Success in Practice into a confirmed KISS map across the four SiP domains, then into enterprise priorities and enterprise OKRs through the five steps.</a:t>
            </a:r>
          </a:p>
          <a:p>
            <a:r>
              <a:t>Each member begins with insights from a functional domain, and the final outcome reflects the success of the enterprise as a whole.</a:t>
            </a:r>
          </a:p>
          <a:p>
            <a:r>
              <a:t>The Prioritisation Matrix concentrates execution energy on the priorities that will most accelerate progress towards the SiP.</a:t>
            </a:r>
          </a:p>
          <a:p>
            <a:r>
              <a:t>The confirmed outputs feed boxes 3A to 3F of the team's Capstone S2R® Blueprint.</a:t>
            </a:r>
          </a:p>
          <a:p>
            <a:r>
              <a:t/>
            </a:r>
          </a:p>
          <a:p>
            <a:r>
              <a:rPr b="1"/>
              <a:t>3. Name the tangible outputs.</a:t>
            </a:r>
          </a:p>
          <a:p>
            <a:r>
              <a:t>Tell participants what the unit produces once the portal work is complete:</a:t>
            </a:r>
          </a:p>
          <a:p>
            <a:r>
              <a:t>- The matching exercise from each participant, as portfolio work (3.1)</a:t>
            </a:r>
          </a:p>
          <a:p>
            <a:r>
              <a:t>- A completed Strategy Airport learning round from each participant, as portfolio work (4.1)</a:t>
            </a:r>
          </a:p>
          <a:p>
            <a:r>
              <a:t>- A confirmed KISS map from each group (5.1)</a:t>
            </a:r>
          </a:p>
          <a:p>
            <a:r>
              <a:t>- Confirmed Enterprise Priorities and Enterprise OKRs from each group: maximum 4 Objectives, maximum 2 Key Results each (5.2)</a:t>
            </a:r>
          </a:p>
          <a:p>
            <a:r>
              <a:t/>
            </a:r>
          </a:p>
          <a:p>
            <a:r>
              <a:rPr b="1"/>
              <a:t>4. Close the unit.</a:t>
            </a:r>
          </a:p>
          <a:p>
            <a:r>
              <a:rPr b="1"/>
              <a:t>Say:</a:t>
            </a:r>
            <a:r>
              <a:t> "Each group's Enterprise OKRs will trace back through its KISS map to Success in Practice, giving the enterprise one measurable trajectory."</a:t>
            </a:r>
          </a:p>
          <a:p>
            <a:r>
              <a:t>Ask each participant to complete this sentence privately: "The one thing I am committing to before our next session to make these OKRs real is…"</a:t>
            </a:r>
          </a:p>
          <a:p>
            <a:r>
              <a:t>Invite two or three to share. These are the accountability anchors between now and Unit 4.</a:t>
            </a:r>
          </a:p>
          <a:p>
            <a:r>
              <a:t/>
            </a:r>
          </a:p>
          <a:p>
            <a:r>
              <a:rPr b="1"/>
              <a:t>5. Give the transition to Unit 4.</a:t>
            </a:r>
          </a:p>
          <a:p>
            <a:r>
              <a:rPr b="1"/>
              <a:t>Say:</a:t>
            </a:r>
            <a:r>
              <a:t> "We have built our Strategy Intent Statement, described our future state through SiP, and now defined how we will measure our progress through OKRs.</a:t>
            </a:r>
          </a:p>
          <a:p>
            <a:r>
              <a:t>Unit 4 tests the integrity of that direction through ABCV: whether the direction our OKRs express holds against customer reality, strategic boundaries, competition and the value the organisation offers."</a:t>
            </a:r>
          </a:p>
          <a:p>
            <a:r>
              <a:t/>
            </a:r>
          </a:p>
          <a:p>
            <a:r>
              <a:rPr b="1"/>
              <a:t>ON THE PORTAL, AFTER THE TEACHING:</a:t>
            </a:r>
          </a:p>
          <a:p>
            <a:r>
              <a:t>Participants complete every part of the participant file and submit the unit to the facilitator at the end of the page.</a:t>
            </a:r>
          </a:p>
          <a:p>
            <a:r>
              <a:t/>
            </a:r>
          </a:p>
          <a:p>
            <a:r>
              <a:rPr b="1"/>
              <a:t>AFTER THE SESSION:</a:t>
            </a:r>
          </a:p>
          <a:p>
            <a:r>
              <a:t>- Each participant's portfolio work (Hot Zone Matching and Strategy Airport) and reflections reach you in the facilitator dashboard.</a:t>
            </a:r>
          </a:p>
          <a:p>
            <a:r>
              <a:t>- The group's confirmed KISS map, Enterprise Priorities and Enterprise OKRs go to the team's Capstone S2R® Blueprint (boxes 3A to 3F).</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b="1"/>
              <a:t>2.2 — WORKED EXAMPLE · THE KISS TABLE (2 OF 2)</a:t>
            </a:r>
          </a:p>
          <a:p>
            <a:r>
              <a:t/>
            </a:r>
          </a:p>
          <a:p>
            <a:r>
              <a:rPr b="1"/>
              <a:t>HOW TO TEACH IT:</a:t>
            </a:r>
          </a:p>
          <a:p>
            <a:r>
              <a:t/>
            </a:r>
          </a:p>
          <a:p>
            <a:r>
              <a:rPr b="1"/>
              <a:t>1. People &amp; Culture Dynamics.</a:t>
            </a:r>
          </a:p>
          <a:p>
            <a:r>
              <a:t>Read the four entries from the slide:</a:t>
            </a:r>
          </a:p>
          <a:p>
            <a:r>
              <a:t>- KEEP: Strong trust within teams</a:t>
            </a:r>
          </a:p>
          <a:p>
            <a:r>
              <a:t>- IMPROVE: Collaboration across functions remains inconsistent</a:t>
            </a:r>
          </a:p>
          <a:p>
            <a:r>
              <a:t>- START: Introduce shared ownership of enterprise priorities</a:t>
            </a:r>
          </a:p>
          <a:p>
            <a:r>
              <a:t>- STOP: Functional silos and escalation behaviours</a:t>
            </a:r>
          </a:p>
          <a:p>
            <a:r>
              <a:rPr b="1"/>
              <a:t>Ask:</a:t>
            </a:r>
            <a:r>
              <a:t> "Which words of the SiP statement do these entries answer to?"</a:t>
            </a:r>
          </a:p>
          <a:p>
            <a:r>
              <a:rPr b="1"/>
              <a:t>Listen for:</a:t>
            </a:r>
            <a:r>
              <a:t> build shared ownership of enterprise priorities.</a:t>
            </a:r>
          </a:p>
          <a:p>
            <a:r>
              <a:t/>
            </a:r>
          </a:p>
          <a:p>
            <a:r>
              <a:rPr b="1"/>
              <a:t>2. Enterprise Value Creation.</a:t>
            </a:r>
          </a:p>
          <a:p>
            <a:r>
              <a:t>Read the four entries from the slide:</a:t>
            </a:r>
          </a:p>
          <a:p>
            <a:r>
              <a:t>- KEEP: Solid revenue base and loyal client segments</a:t>
            </a:r>
          </a:p>
          <a:p>
            <a:r>
              <a:t>- IMPROVE: Profit margins fluctuate due to operational inefficiencies</a:t>
            </a:r>
          </a:p>
          <a:p>
            <a:r>
              <a:t>- START: Develop scalable service delivery models</a:t>
            </a:r>
          </a:p>
          <a:p>
            <a:r>
              <a:t>- STOP: Low-value projects that absorb leadership attention</a:t>
            </a:r>
          </a:p>
          <a:p>
            <a:r>
              <a:rPr b="1"/>
              <a:t>Ask:</a:t>
            </a:r>
            <a:r>
              <a:t> "Which words of the SiP statement do these entries answer to?"</a:t>
            </a:r>
          </a:p>
          <a:p>
            <a:r>
              <a:rPr b="1"/>
              <a:t>Listen for:</a:t>
            </a:r>
            <a:r>
              <a:t> scalable, efficient operations that strengthen enterprise performance.</a:t>
            </a:r>
          </a:p>
          <a:p>
            <a:r>
              <a:t/>
            </a:r>
          </a:p>
          <a:p>
            <a:r>
              <a:rPr b="1"/>
              <a:t>3. Bridge to the five steps.</a:t>
            </a:r>
          </a:p>
          <a:p>
            <a:r>
              <a:rPr b="1"/>
              <a:t>Say:</a:t>
            </a:r>
            <a:r>
              <a:t> "This KISS table is the evidence. The five steps now turn it into enterprise OKRs."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477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47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9586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30543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60764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0711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0034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111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7754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10711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9475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E1A91-42D1-66A3-3C07-48E5EE62EE7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ZA"/>
          </a:p>
        </p:txBody>
      </p:sp>
      <p:sp>
        <p:nvSpPr>
          <p:cNvPr id="3" name="Subtitle 2">
            <a:extLst>
              <a:ext uri="{FF2B5EF4-FFF2-40B4-BE49-F238E27FC236}">
                <a16:creationId xmlns:a16="http://schemas.microsoft.com/office/drawing/2014/main" id="{2C287408-B5A7-7AEF-9367-BF87D91A1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ZA"/>
          </a:p>
        </p:txBody>
      </p:sp>
      <p:sp>
        <p:nvSpPr>
          <p:cNvPr id="4" name="Date Placeholder 3">
            <a:extLst>
              <a:ext uri="{FF2B5EF4-FFF2-40B4-BE49-F238E27FC236}">
                <a16:creationId xmlns:a16="http://schemas.microsoft.com/office/drawing/2014/main" id="{017B4FA5-59A1-20D2-0AFC-5995DD412A74}"/>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5" name="Footer Placeholder 4">
            <a:extLst>
              <a:ext uri="{FF2B5EF4-FFF2-40B4-BE49-F238E27FC236}">
                <a16:creationId xmlns:a16="http://schemas.microsoft.com/office/drawing/2014/main" id="{B506EC82-C407-A040-0D2D-37AC0613123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1D279C4-B073-03EC-C516-54E15BAFA8EF}"/>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9155268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4D40-B165-FE30-99EF-EE8654FFB87A}"/>
              </a:ext>
            </a:extLst>
          </p:cNvPr>
          <p:cNvSpPr>
            <a:spLocks noGrp="1"/>
          </p:cNvSpPr>
          <p:nvPr>
            <p:ph type="title"/>
          </p:nvPr>
        </p:nvSpPr>
        <p:spPr/>
        <p:txBody>
          <a:bodyPr/>
          <a:lstStyle/>
          <a:p>
            <a:r>
              <a:rPr lang="en-GB"/>
              <a:t>Click to edit Master title style</a:t>
            </a:r>
            <a:endParaRPr lang="en-ZA"/>
          </a:p>
        </p:txBody>
      </p:sp>
      <p:sp>
        <p:nvSpPr>
          <p:cNvPr id="3" name="Content Placeholder 2">
            <a:extLst>
              <a:ext uri="{FF2B5EF4-FFF2-40B4-BE49-F238E27FC236}">
                <a16:creationId xmlns:a16="http://schemas.microsoft.com/office/drawing/2014/main" id="{108745B9-516C-B364-A72A-D534FE5E63A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3B19FCC1-3BED-AF25-1D88-B21F225A27B1}"/>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5" name="Footer Placeholder 4">
            <a:extLst>
              <a:ext uri="{FF2B5EF4-FFF2-40B4-BE49-F238E27FC236}">
                <a16:creationId xmlns:a16="http://schemas.microsoft.com/office/drawing/2014/main" id="{1D507812-01D3-AFAE-9F30-534C886C389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B445FBA-BF3F-0E5A-1731-81027ADDAE07}"/>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2365453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3082-2A84-F5E1-2F6F-C8D3A93A67B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ZA"/>
          </a:p>
        </p:txBody>
      </p:sp>
      <p:sp>
        <p:nvSpPr>
          <p:cNvPr id="3" name="Text Placeholder 2">
            <a:extLst>
              <a:ext uri="{FF2B5EF4-FFF2-40B4-BE49-F238E27FC236}">
                <a16:creationId xmlns:a16="http://schemas.microsoft.com/office/drawing/2014/main" id="{1D4A22D2-71BF-6D22-0286-D2D0F73020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1776283-2741-5527-2202-424A1C5643B8}"/>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5" name="Footer Placeholder 4">
            <a:extLst>
              <a:ext uri="{FF2B5EF4-FFF2-40B4-BE49-F238E27FC236}">
                <a16:creationId xmlns:a16="http://schemas.microsoft.com/office/drawing/2014/main" id="{C4852C6A-B593-6495-5B40-853156BA6E7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EEE42D5-546D-EF88-22E4-CCC6BD05F4E6}"/>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3239534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7B53-A337-2AC1-8435-49FEBFF357E5}"/>
              </a:ext>
            </a:extLst>
          </p:cNvPr>
          <p:cNvSpPr>
            <a:spLocks noGrp="1"/>
          </p:cNvSpPr>
          <p:nvPr>
            <p:ph type="title"/>
          </p:nvPr>
        </p:nvSpPr>
        <p:spPr/>
        <p:txBody>
          <a:bodyPr/>
          <a:lstStyle/>
          <a:p>
            <a:r>
              <a:rPr lang="en-GB"/>
              <a:t>Click to edit Master title style</a:t>
            </a:r>
            <a:endParaRPr lang="en-ZA"/>
          </a:p>
        </p:txBody>
      </p:sp>
      <p:sp>
        <p:nvSpPr>
          <p:cNvPr id="3" name="Content Placeholder 2">
            <a:extLst>
              <a:ext uri="{FF2B5EF4-FFF2-40B4-BE49-F238E27FC236}">
                <a16:creationId xmlns:a16="http://schemas.microsoft.com/office/drawing/2014/main" id="{06D53270-732C-FED0-E6B8-2D66162762D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Content Placeholder 3">
            <a:extLst>
              <a:ext uri="{FF2B5EF4-FFF2-40B4-BE49-F238E27FC236}">
                <a16:creationId xmlns:a16="http://schemas.microsoft.com/office/drawing/2014/main" id="{CD4FDF4A-6E19-9309-E220-9FF168DC3F0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5" name="Date Placeholder 4">
            <a:extLst>
              <a:ext uri="{FF2B5EF4-FFF2-40B4-BE49-F238E27FC236}">
                <a16:creationId xmlns:a16="http://schemas.microsoft.com/office/drawing/2014/main" id="{DC56EB24-99D7-7C68-1AD6-94C427F0E24E}"/>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6" name="Footer Placeholder 5">
            <a:extLst>
              <a:ext uri="{FF2B5EF4-FFF2-40B4-BE49-F238E27FC236}">
                <a16:creationId xmlns:a16="http://schemas.microsoft.com/office/drawing/2014/main" id="{9AF35864-1CA4-CB52-6074-152AB5A3153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399885A-D122-4BD0-CC35-D92873496876}"/>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743996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E1933-2310-2AFF-8178-8DED8334AD78}"/>
              </a:ext>
            </a:extLst>
          </p:cNvPr>
          <p:cNvSpPr>
            <a:spLocks noGrp="1"/>
          </p:cNvSpPr>
          <p:nvPr>
            <p:ph type="title"/>
          </p:nvPr>
        </p:nvSpPr>
        <p:spPr>
          <a:xfrm>
            <a:off x="839788" y="365125"/>
            <a:ext cx="10515600" cy="1325563"/>
          </a:xfrm>
        </p:spPr>
        <p:txBody>
          <a:bodyPr/>
          <a:lstStyle/>
          <a:p>
            <a:r>
              <a:rPr lang="en-GB"/>
              <a:t>Click to edit Master title style</a:t>
            </a:r>
            <a:endParaRPr lang="en-ZA"/>
          </a:p>
        </p:txBody>
      </p:sp>
      <p:sp>
        <p:nvSpPr>
          <p:cNvPr id="3" name="Text Placeholder 2">
            <a:extLst>
              <a:ext uri="{FF2B5EF4-FFF2-40B4-BE49-F238E27FC236}">
                <a16:creationId xmlns:a16="http://schemas.microsoft.com/office/drawing/2014/main" id="{7C3402A6-1D71-9285-8B4A-7C22206A15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AB03C1F-3B49-2812-8E40-50EBEF01A09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5" name="Text Placeholder 4">
            <a:extLst>
              <a:ext uri="{FF2B5EF4-FFF2-40B4-BE49-F238E27FC236}">
                <a16:creationId xmlns:a16="http://schemas.microsoft.com/office/drawing/2014/main" id="{4CF8BD3C-49A3-CB2B-FDE1-B7A23DC6FD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6C7CDB0-D0ED-8E1B-B053-6BF44F830F9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7" name="Date Placeholder 6">
            <a:extLst>
              <a:ext uri="{FF2B5EF4-FFF2-40B4-BE49-F238E27FC236}">
                <a16:creationId xmlns:a16="http://schemas.microsoft.com/office/drawing/2014/main" id="{E6BBD203-0A85-3975-0ADA-9624A4FA7737}"/>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8" name="Footer Placeholder 7">
            <a:extLst>
              <a:ext uri="{FF2B5EF4-FFF2-40B4-BE49-F238E27FC236}">
                <a16:creationId xmlns:a16="http://schemas.microsoft.com/office/drawing/2014/main" id="{F6CD7167-981A-701B-7F53-C2303457BB45}"/>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C8869DA7-0278-A255-2953-117883F2B8B3}"/>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3900764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B1A36-7EC8-79D8-AA8B-1113479F1261}"/>
              </a:ext>
            </a:extLst>
          </p:cNvPr>
          <p:cNvSpPr>
            <a:spLocks noGrp="1"/>
          </p:cNvSpPr>
          <p:nvPr>
            <p:ph type="title"/>
          </p:nvPr>
        </p:nvSpPr>
        <p:spPr/>
        <p:txBody>
          <a:bodyPr/>
          <a:lstStyle/>
          <a:p>
            <a:r>
              <a:rPr lang="en-GB"/>
              <a:t>Click to edit Master title style</a:t>
            </a:r>
            <a:endParaRPr lang="en-ZA"/>
          </a:p>
        </p:txBody>
      </p:sp>
      <p:sp>
        <p:nvSpPr>
          <p:cNvPr id="3" name="Date Placeholder 2">
            <a:extLst>
              <a:ext uri="{FF2B5EF4-FFF2-40B4-BE49-F238E27FC236}">
                <a16:creationId xmlns:a16="http://schemas.microsoft.com/office/drawing/2014/main" id="{B9821982-2C17-5DA8-44B9-AF0832AD32BF}"/>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4" name="Footer Placeholder 3">
            <a:extLst>
              <a:ext uri="{FF2B5EF4-FFF2-40B4-BE49-F238E27FC236}">
                <a16:creationId xmlns:a16="http://schemas.microsoft.com/office/drawing/2014/main" id="{6659F7AF-C9B3-EC46-09E5-3BDE2DAA2A7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FCD48E09-B7D2-D84B-3569-C266CC5D71B6}"/>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885193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5E2352-37F1-3229-B107-8FF731BEA80A}"/>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3" name="Footer Placeholder 2">
            <a:extLst>
              <a:ext uri="{FF2B5EF4-FFF2-40B4-BE49-F238E27FC236}">
                <a16:creationId xmlns:a16="http://schemas.microsoft.com/office/drawing/2014/main" id="{14D9EC2C-126F-D183-DEF5-9196ABD78AF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0AA7261D-DE78-AA43-70D1-B8D66F273A22}"/>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18083516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62C97-E800-9887-01F7-72196D6538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ZA"/>
          </a:p>
        </p:txBody>
      </p:sp>
      <p:sp>
        <p:nvSpPr>
          <p:cNvPr id="3" name="Content Placeholder 2">
            <a:extLst>
              <a:ext uri="{FF2B5EF4-FFF2-40B4-BE49-F238E27FC236}">
                <a16:creationId xmlns:a16="http://schemas.microsoft.com/office/drawing/2014/main" id="{D3913443-1709-EF04-5F25-F06968E4A4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Text Placeholder 3">
            <a:extLst>
              <a:ext uri="{FF2B5EF4-FFF2-40B4-BE49-F238E27FC236}">
                <a16:creationId xmlns:a16="http://schemas.microsoft.com/office/drawing/2014/main" id="{AF758F16-A581-18E9-4A0A-27861AE095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7D9CE5-A7DD-4606-4FB4-75EF260995B6}"/>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6" name="Footer Placeholder 5">
            <a:extLst>
              <a:ext uri="{FF2B5EF4-FFF2-40B4-BE49-F238E27FC236}">
                <a16:creationId xmlns:a16="http://schemas.microsoft.com/office/drawing/2014/main" id="{3D2F459F-1826-AF61-618D-38DFC29ACE1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04420A0-1D2E-5876-7643-CA7FE4B0C268}"/>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329663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9108C-2B24-9B64-36E7-235F38B7824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ZA"/>
          </a:p>
        </p:txBody>
      </p:sp>
      <p:sp>
        <p:nvSpPr>
          <p:cNvPr id="3" name="Picture Placeholder 2">
            <a:extLst>
              <a:ext uri="{FF2B5EF4-FFF2-40B4-BE49-F238E27FC236}">
                <a16:creationId xmlns:a16="http://schemas.microsoft.com/office/drawing/2014/main" id="{B4C2DB82-7E49-4CFE-F046-502C4E2D98F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60863ACF-B487-7028-9D64-FAD4D0774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DB2E550-999E-091E-6AC8-0638761B1B08}"/>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6" name="Footer Placeholder 5">
            <a:extLst>
              <a:ext uri="{FF2B5EF4-FFF2-40B4-BE49-F238E27FC236}">
                <a16:creationId xmlns:a16="http://schemas.microsoft.com/office/drawing/2014/main" id="{64790F20-0079-D46B-62EC-E76D6DFDCB4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66E4026-1194-2CF8-ECEC-763844A59EE3}"/>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22614788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B72B4-4401-51C3-9F03-0897E7854009}"/>
              </a:ext>
            </a:extLst>
          </p:cNvPr>
          <p:cNvSpPr>
            <a:spLocks noGrp="1"/>
          </p:cNvSpPr>
          <p:nvPr>
            <p:ph type="title"/>
          </p:nvPr>
        </p:nvSpPr>
        <p:spPr/>
        <p:txBody>
          <a:bodyPr/>
          <a:lstStyle/>
          <a:p>
            <a:r>
              <a:rPr lang="en-GB"/>
              <a:t>Click to edit Master title style</a:t>
            </a:r>
            <a:endParaRPr lang="en-ZA"/>
          </a:p>
        </p:txBody>
      </p:sp>
      <p:sp>
        <p:nvSpPr>
          <p:cNvPr id="3" name="Vertical Text Placeholder 2">
            <a:extLst>
              <a:ext uri="{FF2B5EF4-FFF2-40B4-BE49-F238E27FC236}">
                <a16:creationId xmlns:a16="http://schemas.microsoft.com/office/drawing/2014/main" id="{B3FCB369-6AB5-50BA-B637-2148405DD01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49B212EC-6DEA-5D6D-22BA-B64E648F5424}"/>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5" name="Footer Placeholder 4">
            <a:extLst>
              <a:ext uri="{FF2B5EF4-FFF2-40B4-BE49-F238E27FC236}">
                <a16:creationId xmlns:a16="http://schemas.microsoft.com/office/drawing/2014/main" id="{761ED62B-F42D-7D27-EE34-BA073D26977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0B4D928-9893-63B9-F45A-717830FE3FAC}"/>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23815168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035ED1-610D-5C51-0453-7E362DA956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ZA"/>
          </a:p>
        </p:txBody>
      </p:sp>
      <p:sp>
        <p:nvSpPr>
          <p:cNvPr id="3" name="Vertical Text Placeholder 2">
            <a:extLst>
              <a:ext uri="{FF2B5EF4-FFF2-40B4-BE49-F238E27FC236}">
                <a16:creationId xmlns:a16="http://schemas.microsoft.com/office/drawing/2014/main" id="{26B03130-0FBE-01AE-C9C8-5CB30CD82A5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3C0BFE34-0DF8-485A-B30A-652F42AD9B29}"/>
              </a:ext>
            </a:extLst>
          </p:cNvPr>
          <p:cNvSpPr>
            <a:spLocks noGrp="1"/>
          </p:cNvSpPr>
          <p:nvPr>
            <p:ph type="dt" sz="half" idx="10"/>
          </p:nvPr>
        </p:nvSpPr>
        <p:spPr/>
        <p:txBody>
          <a:bodyPr/>
          <a:lstStyle/>
          <a:p>
            <a:fld id="{6013ED6E-060D-45F5-B0F7-93915BFF0209}" type="datetimeFigureOut">
              <a:rPr lang="en-ZA" smtClean="0"/>
              <a:t>2026/10/07</a:t>
            </a:fld>
            <a:endParaRPr lang="en-ZA"/>
          </a:p>
        </p:txBody>
      </p:sp>
      <p:sp>
        <p:nvSpPr>
          <p:cNvPr id="5" name="Footer Placeholder 4">
            <a:extLst>
              <a:ext uri="{FF2B5EF4-FFF2-40B4-BE49-F238E27FC236}">
                <a16:creationId xmlns:a16="http://schemas.microsoft.com/office/drawing/2014/main" id="{08DA144B-A743-1DFA-2D6B-84A64B59FDD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8B50C72-5205-18BB-90DD-6EA233A1C793}"/>
              </a:ext>
            </a:extLst>
          </p:cNvPr>
          <p:cNvSpPr>
            <a:spLocks noGrp="1"/>
          </p:cNvSpPr>
          <p:nvPr>
            <p:ph type="sldNum" sz="quarter" idx="12"/>
          </p:nvPr>
        </p:nvSpPr>
        <p:spPr/>
        <p:txBody>
          <a:bodyPr/>
          <a:lstStyle/>
          <a:p>
            <a:fld id="{92163B2E-5AEE-45A4-BD49-5591A4B15143}" type="slidenum">
              <a:rPr lang="en-ZA" smtClean="0"/>
              <a:t>‹#›</a:t>
            </a:fld>
            <a:endParaRPr lang="en-ZA"/>
          </a:p>
        </p:txBody>
      </p:sp>
    </p:spTree>
    <p:extLst>
      <p:ext uri="{BB962C8B-B14F-4D97-AF65-F5344CB8AC3E}">
        <p14:creationId xmlns:p14="http://schemas.microsoft.com/office/powerpoint/2010/main" val="14738714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467029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088595-3C8A-4B6F-F2A3-603A011F33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ZA"/>
          </a:p>
        </p:txBody>
      </p:sp>
      <p:sp>
        <p:nvSpPr>
          <p:cNvPr id="3" name="Text Placeholder 2">
            <a:extLst>
              <a:ext uri="{FF2B5EF4-FFF2-40B4-BE49-F238E27FC236}">
                <a16:creationId xmlns:a16="http://schemas.microsoft.com/office/drawing/2014/main" id="{5FDC316C-05ED-BF50-3B5E-06250F8A5A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95613BC0-13B4-6FC8-BD8F-B2C4EA9AF0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13ED6E-060D-45F5-B0F7-93915BFF0209}" type="datetimeFigureOut">
              <a:rPr lang="en-ZA" smtClean="0"/>
              <a:t>2026/10/07</a:t>
            </a:fld>
            <a:endParaRPr lang="en-ZA"/>
          </a:p>
        </p:txBody>
      </p:sp>
      <p:sp>
        <p:nvSpPr>
          <p:cNvPr id="5" name="Footer Placeholder 4">
            <a:extLst>
              <a:ext uri="{FF2B5EF4-FFF2-40B4-BE49-F238E27FC236}">
                <a16:creationId xmlns:a16="http://schemas.microsoft.com/office/drawing/2014/main" id="{069849B5-290D-C11B-A54B-364C88201E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23A35927-FFCC-BECB-BAE8-228FFC4BD6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163B2E-5AEE-45A4-BD49-5591A4B15143}" type="slidenum">
              <a:rPr lang="en-ZA" smtClean="0"/>
              <a:t>‹#›</a:t>
            </a:fld>
            <a:endParaRPr lang="en-ZA"/>
          </a:p>
        </p:txBody>
      </p:sp>
    </p:spTree>
    <p:extLst>
      <p:ext uri="{BB962C8B-B14F-4D97-AF65-F5344CB8AC3E}">
        <p14:creationId xmlns:p14="http://schemas.microsoft.com/office/powerpoint/2010/main" val="1474320583"/>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6.png"/><Relationship Id="rId6"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image" Target="../media/image36.png"/><Relationship Id="rId6" Type="http://schemas.openxmlformats.org/officeDocument/2006/relationships/image" Target="../media/image3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9.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home/claude/u3/deck/new/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2 · Direction · Unit 3</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SiP KISS Mapping &amp; OKR Definition</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From Success in Practice to a focused, measurable execution architecture</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Evaluate existing practices to determine which advance or obstruct strategic progress.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Prioritise enterprise changes that bridge the current position and intended future.</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Formulate measurable strategic outcomes that provide reliable evidence of progress.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Establish a clear line of sight from strategic ambition through contributions to measurable results.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What is KISS Framing &amp; OKR Definition?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organisational practices and determine what should be sustained or changed.</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GB" sz="2400" dirty="0">
                <a:solidFill>
                  <a:srgbClr val="FFFFFF"/>
                </a:solidFill>
                <a:latin typeface="Calibri" pitchFamily="34" charset="0"/>
                <a:ea typeface="Calibri" pitchFamily="34" charset="-122"/>
                <a:cs typeface="Calibri" pitchFamily="34" charset="-120"/>
              </a:rPr>
              <a:t>Translate strategic intent into outcomes that can be meaningfully measured.</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1.1 · Translating Success in Practice into Action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If the Success in Practice we described is the future organisation, what must change in the organisation today to make that future possible?</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KISS: Keep · Improve · Start · Stop</a:t>
            </a:r>
            <a:endParaRPr lang="en-US" sz="3600" dirty="0"/>
          </a:p>
        </p:txBody>
      </p:sp>
      <p:sp>
        <p:nvSpPr>
          <p:cNvPr id="3" name="Shape 1"/>
          <p:cNvSpPr/>
          <p:nvPr/>
        </p:nvSpPr>
        <p:spPr>
          <a:xfrm>
            <a:off x="548640"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2109978" cy="571500"/>
          </a:xfrm>
          <a:prstGeom prst="rect">
            <a:avLst/>
          </a:prstGeom>
          <a:noFill/>
          <a:ln/>
        </p:spPr>
        <p:txBody>
          <a:bodyPr wrap="square" lIns="0" tIns="0" rIns="0" bIns="0" rtlCol="0" anchor="t"/>
          <a:lstStyle/>
          <a:p>
            <a:pPr marL="0" indent="0">
              <a:buNone/>
            </a:pPr>
            <a:r>
              <a:rPr lang="en-US" sz="3000" b="1" dirty="0">
                <a:solidFill>
                  <a:srgbClr val="1A5C2C"/>
                </a:solidFill>
                <a:latin typeface="Cambria" pitchFamily="34" charset="0"/>
                <a:ea typeface="Cambria" pitchFamily="34" charset="-122"/>
                <a:cs typeface="Cambria" pitchFamily="34" charset="-120"/>
              </a:rPr>
              <a:t>KEEP</a:t>
            </a:r>
            <a:endParaRPr lang="en-US" sz="3000" dirty="0"/>
          </a:p>
        </p:txBody>
      </p:sp>
      <p:sp>
        <p:nvSpPr>
          <p:cNvPr id="7" name="Text 4"/>
          <p:cNvSpPr txBox="1"/>
          <p:nvPr/>
        </p:nvSpPr>
        <p:spPr>
          <a:xfrm>
            <a:off x="777240" y="3223260"/>
            <a:ext cx="2109978" cy="208026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Protect what is already working</a:t>
            </a:r>
            <a:endParaRPr lang="en-US" sz="2400" dirty="0"/>
          </a:p>
        </p:txBody>
      </p:sp>
      <p:sp>
        <p:nvSpPr>
          <p:cNvPr id="8" name="Shape 5"/>
          <p:cNvSpPr/>
          <p:nvPr/>
        </p:nvSpPr>
        <p:spPr>
          <a:xfrm>
            <a:off x="3390138"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361873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3778758" y="1897380"/>
            <a:ext cx="320040" cy="320040"/>
          </a:xfrm>
          <a:prstGeom prst="rect">
            <a:avLst/>
          </a:prstGeom>
        </p:spPr>
      </p:pic>
      <p:sp>
        <p:nvSpPr>
          <p:cNvPr id="11" name="Text 7"/>
          <p:cNvSpPr txBox="1"/>
          <p:nvPr/>
        </p:nvSpPr>
        <p:spPr>
          <a:xfrm>
            <a:off x="3618738" y="2514600"/>
            <a:ext cx="2109978" cy="571500"/>
          </a:xfrm>
          <a:prstGeom prst="rect">
            <a:avLst/>
          </a:prstGeom>
          <a:noFill/>
          <a:ln/>
        </p:spPr>
        <p:txBody>
          <a:bodyPr wrap="square" lIns="0" tIns="0" rIns="0" bIns="0" rtlCol="0" anchor="t"/>
          <a:lstStyle/>
          <a:p>
            <a:pPr marL="0" indent="0">
              <a:buNone/>
            </a:pPr>
            <a:r>
              <a:rPr lang="en-US" sz="3000" b="1" dirty="0">
                <a:solidFill>
                  <a:srgbClr val="1A5C2C"/>
                </a:solidFill>
                <a:latin typeface="Cambria" pitchFamily="34" charset="0"/>
                <a:ea typeface="Cambria" pitchFamily="34" charset="-122"/>
                <a:cs typeface="Cambria" pitchFamily="34" charset="-120"/>
              </a:rPr>
              <a:t>IMPROVE</a:t>
            </a:r>
            <a:endParaRPr lang="en-US" sz="3000" dirty="0"/>
          </a:p>
        </p:txBody>
      </p:sp>
      <p:sp>
        <p:nvSpPr>
          <p:cNvPr id="12" name="Text 8"/>
          <p:cNvSpPr txBox="1"/>
          <p:nvPr/>
        </p:nvSpPr>
        <p:spPr>
          <a:xfrm>
            <a:off x="3618738" y="3223260"/>
            <a:ext cx="2109978" cy="208026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Strengthen what is partially working</a:t>
            </a:r>
            <a:endParaRPr lang="en-US" sz="2400" dirty="0"/>
          </a:p>
        </p:txBody>
      </p:sp>
      <p:sp>
        <p:nvSpPr>
          <p:cNvPr id="13" name="Shape 9"/>
          <p:cNvSpPr/>
          <p:nvPr/>
        </p:nvSpPr>
        <p:spPr>
          <a:xfrm>
            <a:off x="6231636" y="1508760"/>
            <a:ext cx="2567178" cy="3931920"/>
          </a:xfrm>
          <a:prstGeom prst="roundRect">
            <a:avLst>
              <a:gd name="adj" fmla="val 356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6460236"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6620256" y="1897380"/>
            <a:ext cx="320040" cy="320040"/>
          </a:xfrm>
          <a:prstGeom prst="rect">
            <a:avLst/>
          </a:prstGeom>
        </p:spPr>
      </p:pic>
      <p:sp>
        <p:nvSpPr>
          <p:cNvPr id="16" name="Text 11"/>
          <p:cNvSpPr txBox="1"/>
          <p:nvPr/>
        </p:nvSpPr>
        <p:spPr>
          <a:xfrm>
            <a:off x="6460236" y="2514600"/>
            <a:ext cx="2109978" cy="571500"/>
          </a:xfrm>
          <a:prstGeom prst="rect">
            <a:avLst/>
          </a:prstGeom>
          <a:noFill/>
          <a:ln/>
        </p:spPr>
        <p:txBody>
          <a:bodyPr wrap="square" lIns="0" tIns="0" rIns="0" bIns="0" rtlCol="0" anchor="t"/>
          <a:lstStyle/>
          <a:p>
            <a:pPr marL="0" indent="0">
              <a:buNone/>
            </a:pPr>
            <a:r>
              <a:rPr lang="en-US" sz="3000" b="1" dirty="0">
                <a:solidFill>
                  <a:srgbClr val="1A5C2C"/>
                </a:solidFill>
                <a:latin typeface="Cambria" pitchFamily="34" charset="0"/>
                <a:ea typeface="Cambria" pitchFamily="34" charset="-122"/>
                <a:cs typeface="Cambria" pitchFamily="34" charset="-120"/>
              </a:rPr>
              <a:t>START</a:t>
            </a:r>
            <a:endParaRPr lang="en-US" sz="3000" dirty="0"/>
          </a:p>
        </p:txBody>
      </p:sp>
      <p:sp>
        <p:nvSpPr>
          <p:cNvPr id="17" name="Text 12"/>
          <p:cNvSpPr txBox="1"/>
          <p:nvPr/>
        </p:nvSpPr>
        <p:spPr>
          <a:xfrm>
            <a:off x="6460236" y="3223260"/>
            <a:ext cx="2109978" cy="208026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Introduce what does not yet exist</a:t>
            </a:r>
            <a:endParaRPr lang="en-US" sz="2400" dirty="0"/>
          </a:p>
        </p:txBody>
      </p:sp>
      <p:sp>
        <p:nvSpPr>
          <p:cNvPr id="18" name="Shape 13"/>
          <p:cNvSpPr/>
          <p:nvPr/>
        </p:nvSpPr>
        <p:spPr>
          <a:xfrm>
            <a:off x="9073134" y="1508760"/>
            <a:ext cx="2567178" cy="3931920"/>
          </a:xfrm>
          <a:prstGeom prst="roundRect">
            <a:avLst>
              <a:gd name="adj" fmla="val 3562"/>
            </a:avLst>
          </a:prstGeom>
          <a:solidFill>
            <a:srgbClr val="1A5C2C"/>
          </a:solidFill>
          <a:ln w="12700">
            <a:solidFill>
              <a:srgbClr val="1A5C2C"/>
            </a:solidFill>
            <a:prstDash val="solid"/>
          </a:ln>
        </p:spPr>
        <p:txBody>
          <a:bodyPr/>
          <a:lstStyle/>
          <a:p>
            <a:endParaRPr lang="en-ZA"/>
          </a:p>
        </p:txBody>
      </p:sp>
      <p:sp>
        <p:nvSpPr>
          <p:cNvPr id="19" name="Shape 14"/>
          <p:cNvSpPr/>
          <p:nvPr/>
        </p:nvSpPr>
        <p:spPr>
          <a:xfrm>
            <a:off x="9301734"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9461754" y="1897380"/>
            <a:ext cx="320040" cy="320040"/>
          </a:xfrm>
          <a:prstGeom prst="rect">
            <a:avLst/>
          </a:prstGeom>
        </p:spPr>
      </p:pic>
      <p:sp>
        <p:nvSpPr>
          <p:cNvPr id="21" name="Text 15"/>
          <p:cNvSpPr txBox="1"/>
          <p:nvPr/>
        </p:nvSpPr>
        <p:spPr>
          <a:xfrm>
            <a:off x="9301734" y="2514600"/>
            <a:ext cx="2109978" cy="5715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STOP</a:t>
            </a:r>
            <a:endParaRPr lang="en-US" sz="3000" dirty="0"/>
          </a:p>
        </p:txBody>
      </p:sp>
      <p:sp>
        <p:nvSpPr>
          <p:cNvPr id="22" name="Text 16"/>
          <p:cNvSpPr txBox="1"/>
          <p:nvPr/>
        </p:nvSpPr>
        <p:spPr>
          <a:xfrm>
            <a:off x="9301734" y="3223260"/>
            <a:ext cx="2109978" cy="208026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Eliminate what contradicts the SiP</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24" name="Text 18"/>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Every KISS reflection must be anchored to the Success in Practice statements.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88C99EA8-4555-3C8B-F6A7-3FBE8BC2BFD7}"/>
              </a:ext>
            </a:extLst>
          </p:cNvPr>
          <p:cNvPicPr>
            <a:picLocks noChangeAspect="1"/>
          </p:cNvPicPr>
          <p:nvPr/>
        </p:nvPicPr>
        <p:blipFill>
          <a:blip r:embed="rId3"/>
          <a:stretch>
            <a:fillRect/>
          </a:stretch>
        </p:blipFill>
        <p:spPr>
          <a:xfrm>
            <a:off x="934567" y="960120"/>
            <a:ext cx="10322559" cy="5806440"/>
          </a:xfrm>
          <a:prstGeom prst="rect">
            <a:avLst/>
          </a:prstGeom>
        </p:spPr>
      </p:pic>
      <p:sp>
        <p:nvSpPr>
          <p:cNvPr id="38" name="Text 0">
            <a:extLst>
              <a:ext uri="{FF2B5EF4-FFF2-40B4-BE49-F238E27FC236}">
                <a16:creationId xmlns:a16="http://schemas.microsoft.com/office/drawing/2014/main" id="{C8112604-1194-5DE9-EEB5-059CDBE8D5C2}"/>
              </a:ext>
            </a:extLst>
          </p:cNvPr>
          <p:cNvSpPr txBox="1"/>
          <p:nvPr/>
        </p:nvSpPr>
        <p:spPr>
          <a:xfrm>
            <a:off x="794173" y="182880"/>
            <a:ext cx="11064240" cy="73152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KISS Application Across SiP Domains</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OKR Anatomy: Objectives &amp; Key Results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Objectives</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Define strategic ambition</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Qualitative and ambitious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Action-oriented and inspirational</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Memorable: the T-shirt test</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Key Results</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Define measurable progress</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Verb of Change + Metric</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From X to Y + By Deadline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2–3 for each Objective</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Can you check it off a task list? If yes, it is a task.</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1.5 · Five Steps: From KISS to Enterprise OKRs</a:t>
            </a:r>
            <a:endParaRPr lang="en-US" sz="3600" dirty="0"/>
          </a:p>
        </p:txBody>
      </p:sp>
      <p:sp>
        <p:nvSpPr>
          <p:cNvPr id="3" name="Shape 1"/>
          <p:cNvSpPr/>
          <p:nvPr/>
        </p:nvSpPr>
        <p:spPr>
          <a:xfrm>
            <a:off x="548640" y="1714499"/>
            <a:ext cx="570738" cy="570738"/>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691325" y="1856231"/>
            <a:ext cx="285369" cy="285369"/>
          </a:xfrm>
          <a:prstGeom prst="rect">
            <a:avLst/>
          </a:prstGeom>
        </p:spPr>
      </p:pic>
      <p:sp>
        <p:nvSpPr>
          <p:cNvPr id="5" name="Text 2"/>
          <p:cNvSpPr txBox="1"/>
          <p:nvPr/>
        </p:nvSpPr>
        <p:spPr>
          <a:xfrm>
            <a:off x="1439418" y="1508760"/>
            <a:ext cx="10200894" cy="978407"/>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Step 1 · Find Themes  </a:t>
            </a:r>
            <a:r>
              <a:rPr lang="en-US" sz="2600" dirty="0">
                <a:solidFill>
                  <a:srgbClr val="1F2A22"/>
                </a:solidFill>
                <a:latin typeface="Calibri" pitchFamily="34" charset="0"/>
                <a:ea typeface="Calibri" pitchFamily="34" charset="-122"/>
                <a:cs typeface="Calibri" pitchFamily="34" charset="-120"/>
              </a:rPr>
              <a:t>the 2–3 big shifts across the four SiP domains</a:t>
            </a:r>
            <a:endParaRPr lang="en-US" sz="2600" dirty="0"/>
          </a:p>
        </p:txBody>
      </p:sp>
      <p:sp>
        <p:nvSpPr>
          <p:cNvPr id="6" name="Shape 3"/>
          <p:cNvSpPr/>
          <p:nvPr/>
        </p:nvSpPr>
        <p:spPr>
          <a:xfrm>
            <a:off x="548640" y="2692908"/>
            <a:ext cx="570738" cy="570738"/>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691325" y="2834639"/>
            <a:ext cx="285369" cy="285369"/>
          </a:xfrm>
          <a:prstGeom prst="rect">
            <a:avLst/>
          </a:prstGeom>
        </p:spPr>
      </p:pic>
      <p:sp>
        <p:nvSpPr>
          <p:cNvPr id="8" name="Text 4"/>
          <p:cNvSpPr txBox="1"/>
          <p:nvPr/>
        </p:nvSpPr>
        <p:spPr>
          <a:xfrm>
            <a:off x="1439418" y="2487168"/>
            <a:ext cx="10200894" cy="978407"/>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Step 2 · Inspiring Objectives  </a:t>
            </a:r>
            <a:r>
              <a:rPr lang="en-US" sz="2600" dirty="0">
                <a:solidFill>
                  <a:srgbClr val="1F2A22"/>
                </a:solidFill>
                <a:latin typeface="Calibri" pitchFamily="34" charset="0"/>
                <a:ea typeface="Calibri" pitchFamily="34" charset="-122"/>
                <a:cs typeface="Calibri" pitchFamily="34" charset="-120"/>
              </a:rPr>
              <a:t>what will we be known for?</a:t>
            </a:r>
            <a:endParaRPr lang="en-US" sz="2600" dirty="0"/>
          </a:p>
        </p:txBody>
      </p:sp>
      <p:sp>
        <p:nvSpPr>
          <p:cNvPr id="9" name="Shape 5"/>
          <p:cNvSpPr/>
          <p:nvPr/>
        </p:nvSpPr>
        <p:spPr>
          <a:xfrm>
            <a:off x="548640" y="3671315"/>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691325" y="3813048"/>
            <a:ext cx="285369" cy="285369"/>
          </a:xfrm>
          <a:prstGeom prst="rect">
            <a:avLst/>
          </a:prstGeom>
        </p:spPr>
      </p:pic>
      <p:sp>
        <p:nvSpPr>
          <p:cNvPr id="11" name="Text 6"/>
          <p:cNvSpPr txBox="1"/>
          <p:nvPr/>
        </p:nvSpPr>
        <p:spPr>
          <a:xfrm>
            <a:off x="1439418" y="3465575"/>
            <a:ext cx="10200894" cy="978407"/>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Step 3 · Define Key Results  </a:t>
            </a:r>
            <a:r>
              <a:rPr lang="en-US" sz="2600" dirty="0">
                <a:solidFill>
                  <a:srgbClr val="1F2A22"/>
                </a:solidFill>
                <a:latin typeface="Calibri" pitchFamily="34" charset="0"/>
                <a:ea typeface="Calibri" pitchFamily="34" charset="-122"/>
                <a:cs typeface="Calibri" pitchFamily="34" charset="-120"/>
              </a:rPr>
              <a:t>Verb + Metric + From X to Y + Deadline</a:t>
            </a:r>
            <a:endParaRPr lang="en-US" sz="2600" dirty="0"/>
          </a:p>
        </p:txBody>
      </p:sp>
      <p:sp>
        <p:nvSpPr>
          <p:cNvPr id="12" name="Shape 7"/>
          <p:cNvSpPr/>
          <p:nvPr/>
        </p:nvSpPr>
        <p:spPr>
          <a:xfrm>
            <a:off x="548640" y="4649723"/>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691325" y="4791455"/>
            <a:ext cx="285369" cy="285369"/>
          </a:xfrm>
          <a:prstGeom prst="rect">
            <a:avLst/>
          </a:prstGeom>
        </p:spPr>
      </p:pic>
      <p:sp>
        <p:nvSpPr>
          <p:cNvPr id="14" name="Text 8"/>
          <p:cNvSpPr txBox="1"/>
          <p:nvPr/>
        </p:nvSpPr>
        <p:spPr>
          <a:xfrm>
            <a:off x="1439418" y="4443983"/>
            <a:ext cx="10200894" cy="978407"/>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Step 4 · Alignment Test  </a:t>
            </a:r>
            <a:r>
              <a:rPr lang="en-US" sz="2600" dirty="0">
                <a:solidFill>
                  <a:srgbClr val="1F2A22"/>
                </a:solidFill>
                <a:latin typeface="Calibri" pitchFamily="34" charset="0"/>
                <a:ea typeface="Calibri" pitchFamily="34" charset="-122"/>
                <a:cs typeface="Calibri" pitchFamily="34" charset="-120"/>
              </a:rPr>
              <a:t>four questions before sharing</a:t>
            </a:r>
            <a:endParaRPr lang="en-US" sz="2600" dirty="0"/>
          </a:p>
        </p:txBody>
      </p:sp>
      <p:sp>
        <p:nvSpPr>
          <p:cNvPr id="18" name="Shape 11"/>
          <p:cNvSpPr/>
          <p:nvPr/>
        </p:nvSpPr>
        <p:spPr>
          <a:xfrm>
            <a:off x="548640" y="5628131"/>
            <a:ext cx="570738" cy="570738"/>
          </a:xfrm>
          <a:prstGeom prst="ellipse">
            <a:avLst/>
          </a:prstGeom>
          <a:solidFill>
            <a:srgbClr val="1A5C2C"/>
          </a:solidFill>
          <a:ln w="12700">
            <a:solidFill>
              <a:srgbClr val="1A5C2C"/>
            </a:solidFill>
            <a:prstDash val="solid"/>
          </a:ln>
        </p:spPr>
        <p:txBody>
          <a:bodyPr/>
          <a:lstStyle/>
          <a:p>
            <a:endParaRPr lang="en-ZA"/>
          </a:p>
        </p:txBody>
      </p:sp>
      <p:pic>
        <p:nvPicPr>
          <p:cNvPr id="19" name="Image 5" descr="preencoded.png"/>
          <p:cNvPicPr>
            <a:picLocks noChangeAspect="1"/>
          </p:cNvPicPr>
          <p:nvPr/>
        </p:nvPicPr>
        <p:blipFill>
          <a:blip r:embed="rId8"/>
          <a:stretch>
            <a:fillRect/>
          </a:stretch>
        </p:blipFill>
        <p:spPr>
          <a:xfrm>
            <a:off x="691325" y="5769864"/>
            <a:ext cx="285369" cy="285369"/>
          </a:xfrm>
          <a:prstGeom prst="rect">
            <a:avLst/>
          </a:prstGeom>
        </p:spPr>
      </p:pic>
      <p:sp>
        <p:nvSpPr>
          <p:cNvPr id="20" name="Text 12"/>
          <p:cNvSpPr txBox="1"/>
          <p:nvPr/>
        </p:nvSpPr>
        <p:spPr>
          <a:xfrm>
            <a:off x="1439418" y="5422392"/>
            <a:ext cx="10200894" cy="978407"/>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Step 5 · Priority Matrix  </a:t>
            </a:r>
            <a:r>
              <a:rPr lang="en-US" sz="2600" dirty="0">
                <a:solidFill>
                  <a:srgbClr val="1F2A22"/>
                </a:solidFill>
                <a:latin typeface="Calibri" pitchFamily="34" charset="0"/>
                <a:ea typeface="Calibri" pitchFamily="34" charset="-122"/>
                <a:cs typeface="Calibri" pitchFamily="34" charset="-120"/>
              </a:rPr>
              <a:t>Impact and Effort</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1.5 · Step 5: the Prioritisation Matrix</a:t>
            </a:r>
            <a:endParaRPr lang="en-US" sz="3600" dirty="0"/>
          </a:p>
        </p:txBody>
      </p:sp>
      <p:sp>
        <p:nvSpPr>
          <p:cNvPr id="3" name="Text 1"/>
          <p:cNvSpPr txBox="1"/>
          <p:nvPr/>
        </p:nvSpPr>
        <p:spPr>
          <a:xfrm>
            <a:off x="548640" y="1417320"/>
            <a:ext cx="1188720" cy="457200"/>
          </a:xfrm>
          <a:prstGeom prst="rect">
            <a:avLst/>
          </a:prstGeom>
          <a:noFill/>
          <a:ln/>
        </p:spPr>
        <p:txBody>
          <a:bodyPr wrap="square" lIns="0" tIns="0" rIns="0" bIns="0" rtlCol="0" anchor="t"/>
          <a:lstStyle/>
          <a:p>
            <a:pPr marL="0" indent="0">
              <a:buNone/>
            </a:pPr>
            <a:r>
              <a:rPr lang="en-US" sz="2400" b="1" dirty="0">
                <a:solidFill>
                  <a:srgbClr val="4E5E53"/>
                </a:solidFill>
                <a:latin typeface="Calibri" pitchFamily="34" charset="0"/>
                <a:ea typeface="Calibri" pitchFamily="34" charset="-122"/>
                <a:cs typeface="Calibri" pitchFamily="34" charset="-120"/>
              </a:rPr>
              <a:t>Impact</a:t>
            </a:r>
            <a:endParaRPr lang="en-US" sz="2400" dirty="0"/>
          </a:p>
        </p:txBody>
      </p:sp>
      <p:sp>
        <p:nvSpPr>
          <p:cNvPr id="4" name="Text 2"/>
          <p:cNvSpPr txBox="1"/>
          <p:nvPr/>
        </p:nvSpPr>
        <p:spPr>
          <a:xfrm>
            <a:off x="1828800" y="1417320"/>
            <a:ext cx="3154680" cy="457200"/>
          </a:xfrm>
          <a:prstGeom prst="rect">
            <a:avLst/>
          </a:prstGeom>
          <a:noFill/>
          <a:ln/>
        </p:spPr>
        <p:txBody>
          <a:bodyPr wrap="square" lIns="0" tIns="0" rIns="0" bIns="0" rtlCol="0" anchor="t"/>
          <a:lstStyle/>
          <a:p>
            <a:pPr marL="0" indent="0" algn="ctr">
              <a:buNone/>
            </a:pPr>
            <a:r>
              <a:rPr lang="en-US" sz="2400" b="1" dirty="0">
                <a:solidFill>
                  <a:srgbClr val="1A5C2C"/>
                </a:solidFill>
                <a:latin typeface="Calibri" pitchFamily="34" charset="0"/>
                <a:ea typeface="Calibri" pitchFamily="34" charset="-122"/>
                <a:cs typeface="Calibri" pitchFamily="34" charset="-120"/>
              </a:rPr>
              <a:t>Low effort</a:t>
            </a:r>
            <a:endParaRPr lang="en-US" sz="2400" dirty="0"/>
          </a:p>
        </p:txBody>
      </p:sp>
      <p:sp>
        <p:nvSpPr>
          <p:cNvPr id="5" name="Text 3"/>
          <p:cNvSpPr txBox="1"/>
          <p:nvPr/>
        </p:nvSpPr>
        <p:spPr>
          <a:xfrm>
            <a:off x="5120640" y="1417320"/>
            <a:ext cx="3154680" cy="457200"/>
          </a:xfrm>
          <a:prstGeom prst="rect">
            <a:avLst/>
          </a:prstGeom>
          <a:noFill/>
          <a:ln/>
        </p:spPr>
        <p:txBody>
          <a:bodyPr wrap="square" lIns="0" tIns="0" rIns="0" bIns="0" rtlCol="0" anchor="t"/>
          <a:lstStyle/>
          <a:p>
            <a:pPr marL="0" indent="0" algn="ctr">
              <a:buNone/>
            </a:pPr>
            <a:r>
              <a:rPr lang="en-US" sz="2400" b="1" dirty="0">
                <a:solidFill>
                  <a:srgbClr val="1A5C2C"/>
                </a:solidFill>
                <a:latin typeface="Calibri" pitchFamily="34" charset="0"/>
                <a:ea typeface="Calibri" pitchFamily="34" charset="-122"/>
                <a:cs typeface="Calibri" pitchFamily="34" charset="-120"/>
              </a:rPr>
              <a:t>Medium effort</a:t>
            </a:r>
            <a:endParaRPr lang="en-US" sz="2400" dirty="0"/>
          </a:p>
        </p:txBody>
      </p:sp>
      <p:sp>
        <p:nvSpPr>
          <p:cNvPr id="6" name="Text 4"/>
          <p:cNvSpPr txBox="1"/>
          <p:nvPr/>
        </p:nvSpPr>
        <p:spPr>
          <a:xfrm>
            <a:off x="8412480" y="1417320"/>
            <a:ext cx="3154680" cy="457200"/>
          </a:xfrm>
          <a:prstGeom prst="rect">
            <a:avLst/>
          </a:prstGeom>
          <a:noFill/>
          <a:ln/>
        </p:spPr>
        <p:txBody>
          <a:bodyPr wrap="square" lIns="0" tIns="0" rIns="0" bIns="0" rtlCol="0" anchor="t"/>
          <a:lstStyle/>
          <a:p>
            <a:pPr marL="0" indent="0" algn="ctr">
              <a:buNone/>
            </a:pPr>
            <a:r>
              <a:rPr lang="en-US" sz="2400" b="1" dirty="0">
                <a:solidFill>
                  <a:srgbClr val="1A5C2C"/>
                </a:solidFill>
                <a:latin typeface="Calibri" pitchFamily="34" charset="0"/>
                <a:ea typeface="Calibri" pitchFamily="34" charset="-122"/>
                <a:cs typeface="Calibri" pitchFamily="34" charset="-120"/>
              </a:rPr>
              <a:t>High effort</a:t>
            </a:r>
            <a:endParaRPr lang="en-US" sz="2400" dirty="0"/>
          </a:p>
        </p:txBody>
      </p:sp>
      <p:sp>
        <p:nvSpPr>
          <p:cNvPr id="7" name="Text 5"/>
          <p:cNvSpPr txBox="1"/>
          <p:nvPr/>
        </p:nvSpPr>
        <p:spPr>
          <a:xfrm>
            <a:off x="548640" y="1938528"/>
            <a:ext cx="1188720" cy="1325880"/>
          </a:xfrm>
          <a:prstGeom prst="rect">
            <a:avLst/>
          </a:prstGeom>
          <a:noFill/>
          <a:ln/>
        </p:spPr>
        <p:txBody>
          <a:bodyPr wrap="square" lIns="0" tIns="0" rIns="0" bIns="0" rtlCol="0" anchor="ctr"/>
          <a:lstStyle/>
          <a:p>
            <a:pPr marL="0" indent="0">
              <a:buNone/>
            </a:pPr>
            <a:r>
              <a:rPr lang="en-US" sz="2400" b="1" dirty="0">
                <a:solidFill>
                  <a:srgbClr val="1A5C2C"/>
                </a:solidFill>
                <a:latin typeface="Calibri" pitchFamily="34" charset="0"/>
                <a:ea typeface="Calibri" pitchFamily="34" charset="-122"/>
                <a:cs typeface="Calibri" pitchFamily="34" charset="-120"/>
              </a:rPr>
              <a:t>High</a:t>
            </a:r>
            <a:endParaRPr lang="en-US" sz="2400" dirty="0"/>
          </a:p>
        </p:txBody>
      </p:sp>
      <p:sp>
        <p:nvSpPr>
          <p:cNvPr id="8" name="Shape 6"/>
          <p:cNvSpPr/>
          <p:nvPr/>
        </p:nvSpPr>
        <p:spPr>
          <a:xfrm>
            <a:off x="1828800" y="1938528"/>
            <a:ext cx="3154680" cy="1325880"/>
          </a:xfrm>
          <a:prstGeom prst="roundRect">
            <a:avLst>
              <a:gd name="adj" fmla="val 6897"/>
            </a:avLst>
          </a:prstGeom>
          <a:solidFill>
            <a:srgbClr val="1A5C2C"/>
          </a:solidFill>
          <a:ln w="12700">
            <a:solidFill>
              <a:srgbClr val="1A5C2C"/>
            </a:solidFill>
            <a:prstDash val="solid"/>
          </a:ln>
        </p:spPr>
        <p:txBody>
          <a:bodyPr/>
          <a:lstStyle/>
          <a:p>
            <a:endParaRPr lang="en-ZA"/>
          </a:p>
        </p:txBody>
      </p:sp>
      <p:sp>
        <p:nvSpPr>
          <p:cNvPr id="9" name="Text 7"/>
          <p:cNvSpPr txBox="1"/>
          <p:nvPr/>
        </p:nvSpPr>
        <p:spPr>
          <a:xfrm>
            <a:off x="1965960" y="1938528"/>
            <a:ext cx="2880360" cy="13258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Strategic Catalysts</a:t>
            </a:r>
            <a:endParaRPr lang="en-US" sz="2400" dirty="0"/>
          </a:p>
        </p:txBody>
      </p:sp>
      <p:sp>
        <p:nvSpPr>
          <p:cNvPr id="10" name="Shape 8"/>
          <p:cNvSpPr/>
          <p:nvPr/>
        </p:nvSpPr>
        <p:spPr>
          <a:xfrm>
            <a:off x="5120640" y="1938528"/>
            <a:ext cx="3154680" cy="1325880"/>
          </a:xfrm>
          <a:prstGeom prst="roundRect">
            <a:avLst>
              <a:gd name="adj" fmla="val 6897"/>
            </a:avLst>
          </a:prstGeom>
          <a:solidFill>
            <a:srgbClr val="1A5C2C"/>
          </a:solidFill>
          <a:ln w="12700">
            <a:solidFill>
              <a:srgbClr val="1A5C2C"/>
            </a:solidFill>
            <a:prstDash val="solid"/>
          </a:ln>
        </p:spPr>
        <p:txBody>
          <a:bodyPr/>
          <a:lstStyle/>
          <a:p>
            <a:endParaRPr lang="en-ZA"/>
          </a:p>
        </p:txBody>
      </p:sp>
      <p:sp>
        <p:nvSpPr>
          <p:cNvPr id="11" name="Text 9"/>
          <p:cNvSpPr txBox="1"/>
          <p:nvPr/>
        </p:nvSpPr>
        <p:spPr>
          <a:xfrm>
            <a:off x="5257800" y="1938528"/>
            <a:ext cx="2880360" cy="13258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Accelerated Enablers</a:t>
            </a:r>
            <a:endParaRPr lang="en-US" sz="2400" dirty="0"/>
          </a:p>
        </p:txBody>
      </p:sp>
      <p:sp>
        <p:nvSpPr>
          <p:cNvPr id="12" name="Shape 10"/>
          <p:cNvSpPr/>
          <p:nvPr/>
        </p:nvSpPr>
        <p:spPr>
          <a:xfrm>
            <a:off x="8412480" y="1938528"/>
            <a:ext cx="3154680" cy="1325880"/>
          </a:xfrm>
          <a:prstGeom prst="roundRect">
            <a:avLst>
              <a:gd name="adj" fmla="val 6897"/>
            </a:avLst>
          </a:prstGeom>
          <a:solidFill>
            <a:srgbClr val="1A5C2C"/>
          </a:solidFill>
          <a:ln w="12700">
            <a:solidFill>
              <a:srgbClr val="1A5C2C"/>
            </a:solidFill>
            <a:prstDash val="solid"/>
          </a:ln>
        </p:spPr>
        <p:txBody>
          <a:bodyPr/>
          <a:lstStyle/>
          <a:p>
            <a:endParaRPr lang="en-ZA"/>
          </a:p>
        </p:txBody>
      </p:sp>
      <p:sp>
        <p:nvSpPr>
          <p:cNvPr id="13" name="Text 11"/>
          <p:cNvSpPr txBox="1"/>
          <p:nvPr/>
        </p:nvSpPr>
        <p:spPr>
          <a:xfrm>
            <a:off x="8549640" y="1938528"/>
            <a:ext cx="2880360" cy="13258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Core Strategic Drivers</a:t>
            </a:r>
            <a:endParaRPr lang="en-US" sz="2400" dirty="0"/>
          </a:p>
        </p:txBody>
      </p:sp>
      <p:sp>
        <p:nvSpPr>
          <p:cNvPr id="14" name="Text 12"/>
          <p:cNvSpPr txBox="1"/>
          <p:nvPr/>
        </p:nvSpPr>
        <p:spPr>
          <a:xfrm>
            <a:off x="548640" y="3419856"/>
            <a:ext cx="1188720" cy="1325880"/>
          </a:xfrm>
          <a:prstGeom prst="rect">
            <a:avLst/>
          </a:prstGeom>
          <a:noFill/>
          <a:ln/>
        </p:spPr>
        <p:txBody>
          <a:bodyPr wrap="square" lIns="0" tIns="0" rIns="0" bIns="0" rtlCol="0" anchor="ctr"/>
          <a:lstStyle/>
          <a:p>
            <a:pPr marL="0" indent="0">
              <a:buNone/>
            </a:pPr>
            <a:r>
              <a:rPr lang="en-US" sz="2400" b="1" dirty="0">
                <a:solidFill>
                  <a:srgbClr val="1A5C2C"/>
                </a:solidFill>
                <a:latin typeface="Calibri" pitchFamily="34" charset="0"/>
                <a:ea typeface="Calibri" pitchFamily="34" charset="-122"/>
                <a:cs typeface="Calibri" pitchFamily="34" charset="-120"/>
              </a:rPr>
              <a:t>Medium</a:t>
            </a:r>
            <a:endParaRPr lang="en-US" sz="2400" dirty="0"/>
          </a:p>
        </p:txBody>
      </p:sp>
      <p:sp>
        <p:nvSpPr>
          <p:cNvPr id="15" name="Shape 13"/>
          <p:cNvSpPr/>
          <p:nvPr/>
        </p:nvSpPr>
        <p:spPr>
          <a:xfrm>
            <a:off x="1828800" y="3419856"/>
            <a:ext cx="3154680"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16" name="Text 14"/>
          <p:cNvSpPr txBox="1"/>
          <p:nvPr/>
        </p:nvSpPr>
        <p:spPr>
          <a:xfrm>
            <a:off x="1965960" y="3419856"/>
            <a:ext cx="2880360" cy="1325880"/>
          </a:xfrm>
          <a:prstGeom prst="rect">
            <a:avLst/>
          </a:prstGeom>
          <a:noFill/>
          <a:ln/>
        </p:spPr>
        <p:txBody>
          <a:bodyPr wrap="square" lIns="0" tIns="0" rIns="0" bIns="0" rtlCol="0" anchor="ctr"/>
          <a:lstStyle/>
          <a:p>
            <a:pPr marL="0" indent="0" algn="ctr">
              <a:buNone/>
            </a:pPr>
            <a:r>
              <a:rPr lang="en-US" sz="2400" b="1" dirty="0">
                <a:solidFill>
                  <a:srgbClr val="1A5C2C"/>
                </a:solidFill>
                <a:latin typeface="Calibri" pitchFamily="34" charset="0"/>
                <a:ea typeface="Calibri" pitchFamily="34" charset="-122"/>
                <a:cs typeface="Calibri" pitchFamily="34" charset="-120"/>
              </a:rPr>
              <a:t>Quick Efficiency Plays</a:t>
            </a:r>
            <a:endParaRPr lang="en-US" sz="2400" dirty="0"/>
          </a:p>
        </p:txBody>
      </p:sp>
      <p:sp>
        <p:nvSpPr>
          <p:cNvPr id="17" name="Shape 15"/>
          <p:cNvSpPr/>
          <p:nvPr/>
        </p:nvSpPr>
        <p:spPr>
          <a:xfrm>
            <a:off x="5120640" y="3419856"/>
            <a:ext cx="3154680"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18" name="Text 16"/>
          <p:cNvSpPr txBox="1"/>
          <p:nvPr/>
        </p:nvSpPr>
        <p:spPr>
          <a:xfrm>
            <a:off x="5257800" y="3419856"/>
            <a:ext cx="2880360" cy="1325880"/>
          </a:xfrm>
          <a:prstGeom prst="rect">
            <a:avLst/>
          </a:prstGeom>
          <a:noFill/>
          <a:ln/>
        </p:spPr>
        <p:txBody>
          <a:bodyPr wrap="square" lIns="0" tIns="0" rIns="0" bIns="0" rtlCol="0" anchor="ctr"/>
          <a:lstStyle/>
          <a:p>
            <a:pPr marL="0" indent="0" algn="ctr">
              <a:buNone/>
            </a:pPr>
            <a:r>
              <a:rPr lang="en-US" sz="2400" b="1" dirty="0">
                <a:solidFill>
                  <a:srgbClr val="1A5C2C"/>
                </a:solidFill>
                <a:latin typeface="Calibri" pitchFamily="34" charset="0"/>
                <a:ea typeface="Calibri" pitchFamily="34" charset="-122"/>
                <a:cs typeface="Calibri" pitchFamily="34" charset="-120"/>
              </a:rPr>
              <a:t>Targeted Growth Projects</a:t>
            </a:r>
            <a:endParaRPr lang="en-US" sz="2400" dirty="0"/>
          </a:p>
        </p:txBody>
      </p:sp>
      <p:sp>
        <p:nvSpPr>
          <p:cNvPr id="19" name="Shape 17"/>
          <p:cNvSpPr/>
          <p:nvPr/>
        </p:nvSpPr>
        <p:spPr>
          <a:xfrm>
            <a:off x="8412480" y="3419856"/>
            <a:ext cx="3154680"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20" name="Text 18"/>
          <p:cNvSpPr txBox="1"/>
          <p:nvPr/>
        </p:nvSpPr>
        <p:spPr>
          <a:xfrm>
            <a:off x="8549640" y="3419856"/>
            <a:ext cx="2880360" cy="1325880"/>
          </a:xfrm>
          <a:prstGeom prst="rect">
            <a:avLst/>
          </a:prstGeom>
          <a:noFill/>
          <a:ln/>
        </p:spPr>
        <p:txBody>
          <a:bodyPr wrap="square" lIns="0" tIns="0" rIns="0" bIns="0" rtlCol="0" anchor="ctr"/>
          <a:lstStyle/>
          <a:p>
            <a:pPr marL="0" indent="0" algn="ctr">
              <a:buNone/>
            </a:pPr>
            <a:r>
              <a:rPr lang="en-US" sz="2400" b="1" dirty="0">
                <a:solidFill>
                  <a:srgbClr val="1A5C2C"/>
                </a:solidFill>
                <a:latin typeface="Calibri" pitchFamily="34" charset="0"/>
                <a:ea typeface="Calibri" pitchFamily="34" charset="-122"/>
                <a:cs typeface="Calibri" pitchFamily="34" charset="-120"/>
              </a:rPr>
              <a:t>Heavy Investment Candidates</a:t>
            </a:r>
            <a:endParaRPr lang="en-US" sz="2400" dirty="0"/>
          </a:p>
        </p:txBody>
      </p:sp>
      <p:sp>
        <p:nvSpPr>
          <p:cNvPr id="21" name="Text 19"/>
          <p:cNvSpPr txBox="1"/>
          <p:nvPr/>
        </p:nvSpPr>
        <p:spPr>
          <a:xfrm>
            <a:off x="548640" y="4901184"/>
            <a:ext cx="1188720" cy="1325880"/>
          </a:xfrm>
          <a:prstGeom prst="rect">
            <a:avLst/>
          </a:prstGeom>
          <a:noFill/>
          <a:ln/>
        </p:spPr>
        <p:txBody>
          <a:bodyPr wrap="square" lIns="0" tIns="0" rIns="0" bIns="0" rtlCol="0" anchor="ctr"/>
          <a:lstStyle/>
          <a:p>
            <a:pPr marL="0" indent="0">
              <a:buNone/>
            </a:pPr>
            <a:r>
              <a:rPr lang="en-US" sz="2400" b="1" dirty="0">
                <a:solidFill>
                  <a:srgbClr val="1A5C2C"/>
                </a:solidFill>
                <a:latin typeface="Calibri" pitchFamily="34" charset="0"/>
                <a:ea typeface="Calibri" pitchFamily="34" charset="-122"/>
                <a:cs typeface="Calibri" pitchFamily="34" charset="-120"/>
              </a:rPr>
              <a:t>Low</a:t>
            </a:r>
            <a:endParaRPr lang="en-US" sz="2400" dirty="0"/>
          </a:p>
        </p:txBody>
      </p:sp>
      <p:sp>
        <p:nvSpPr>
          <p:cNvPr id="22" name="Shape 20"/>
          <p:cNvSpPr/>
          <p:nvPr/>
        </p:nvSpPr>
        <p:spPr>
          <a:xfrm>
            <a:off x="1828800" y="4901184"/>
            <a:ext cx="3154680"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23" name="Text 21"/>
          <p:cNvSpPr txBox="1"/>
          <p:nvPr/>
        </p:nvSpPr>
        <p:spPr>
          <a:xfrm>
            <a:off x="1965960" y="4901184"/>
            <a:ext cx="2880360" cy="1325880"/>
          </a:xfrm>
          <a:prstGeom prst="rect">
            <a:avLst/>
          </a:prstGeom>
          <a:noFill/>
          <a:ln/>
        </p:spPr>
        <p:txBody>
          <a:bodyPr wrap="square" lIns="0" tIns="0" rIns="0" bIns="0" rtlCol="0" anchor="ctr"/>
          <a:lstStyle/>
          <a:p>
            <a:pPr marL="0" indent="0" algn="ctr">
              <a:buNone/>
            </a:pPr>
            <a:r>
              <a:rPr lang="en-US" sz="2400" b="1" dirty="0">
                <a:solidFill>
                  <a:srgbClr val="1A5C2C"/>
                </a:solidFill>
                <a:latin typeface="Calibri" pitchFamily="34" charset="0"/>
                <a:ea typeface="Calibri" pitchFamily="34" charset="-122"/>
                <a:cs typeface="Calibri" pitchFamily="34" charset="-120"/>
              </a:rPr>
              <a:t>Supportive Enablers</a:t>
            </a:r>
            <a:endParaRPr lang="en-US" sz="2400" dirty="0"/>
          </a:p>
        </p:txBody>
      </p:sp>
      <p:sp>
        <p:nvSpPr>
          <p:cNvPr id="24" name="Shape 22"/>
          <p:cNvSpPr/>
          <p:nvPr/>
        </p:nvSpPr>
        <p:spPr>
          <a:xfrm>
            <a:off x="5120640" y="4901184"/>
            <a:ext cx="3154680"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25" name="Text 23"/>
          <p:cNvSpPr txBox="1"/>
          <p:nvPr/>
        </p:nvSpPr>
        <p:spPr>
          <a:xfrm>
            <a:off x="5257800" y="4901184"/>
            <a:ext cx="2880360" cy="1325880"/>
          </a:xfrm>
          <a:prstGeom prst="rect">
            <a:avLst/>
          </a:prstGeom>
          <a:noFill/>
          <a:ln/>
        </p:spPr>
        <p:txBody>
          <a:bodyPr wrap="square" lIns="0" tIns="0" rIns="0" bIns="0" rtlCol="0" anchor="ctr"/>
          <a:lstStyle/>
          <a:p>
            <a:pPr marL="0" indent="0" algn="ctr">
              <a:buNone/>
            </a:pPr>
            <a:r>
              <a:rPr lang="en-US" sz="2400" b="1" dirty="0">
                <a:solidFill>
                  <a:srgbClr val="1A5C2C"/>
                </a:solidFill>
                <a:latin typeface="Calibri" pitchFamily="34" charset="0"/>
                <a:ea typeface="Calibri" pitchFamily="34" charset="-122"/>
                <a:cs typeface="Calibri" pitchFamily="34" charset="-120"/>
              </a:rPr>
              <a:t>Marginal Utility Tasks</a:t>
            </a:r>
            <a:endParaRPr lang="en-US" sz="2400" dirty="0"/>
          </a:p>
        </p:txBody>
      </p:sp>
      <p:sp>
        <p:nvSpPr>
          <p:cNvPr id="26" name="Shape 24"/>
          <p:cNvSpPr/>
          <p:nvPr/>
        </p:nvSpPr>
        <p:spPr>
          <a:xfrm>
            <a:off x="8412480" y="4901184"/>
            <a:ext cx="3154680" cy="1325880"/>
          </a:xfrm>
          <a:prstGeom prst="roundRect">
            <a:avLst>
              <a:gd name="adj" fmla="val 6897"/>
            </a:avLst>
          </a:prstGeom>
          <a:solidFill>
            <a:srgbClr val="EEF4EF"/>
          </a:solidFill>
          <a:ln w="12700">
            <a:solidFill>
              <a:srgbClr val="EEF4EF"/>
            </a:solidFill>
            <a:prstDash val="solid"/>
          </a:ln>
        </p:spPr>
        <p:txBody>
          <a:bodyPr/>
          <a:lstStyle/>
          <a:p>
            <a:endParaRPr lang="en-ZA"/>
          </a:p>
        </p:txBody>
      </p:sp>
      <p:sp>
        <p:nvSpPr>
          <p:cNvPr id="27" name="Text 25"/>
          <p:cNvSpPr txBox="1"/>
          <p:nvPr/>
        </p:nvSpPr>
        <p:spPr>
          <a:xfrm>
            <a:off x="8549640" y="4901184"/>
            <a:ext cx="2880360" cy="1325880"/>
          </a:xfrm>
          <a:prstGeom prst="rect">
            <a:avLst/>
          </a:prstGeom>
          <a:noFill/>
          <a:ln/>
        </p:spPr>
        <p:txBody>
          <a:bodyPr wrap="square" lIns="0" tIns="0" rIns="0" bIns="0" rtlCol="0" anchor="ctr"/>
          <a:lstStyle/>
          <a:p>
            <a:pPr marL="0" indent="0" algn="ctr">
              <a:buNone/>
            </a:pPr>
            <a:r>
              <a:rPr lang="en-US" sz="2400" b="1" dirty="0">
                <a:solidFill>
                  <a:srgbClr val="1A5C2C"/>
                </a:solidFill>
                <a:latin typeface="Calibri" pitchFamily="34" charset="0"/>
                <a:ea typeface="Calibri" pitchFamily="34" charset="-122"/>
                <a:cs typeface="Calibri" pitchFamily="34" charset="-120"/>
              </a:rPr>
              <a:t>Resource Pitfalls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4" descr="Reflection 1.4: Think of a goal your team set in the last 12 months. Was it an Objective, a Key Result, or a task disguised as one of these? What would a proper Key Result look like using the formula?"/>
          <p:cNvPicPr>
            <a:picLocks noChangeAspect="1"/>
          </p:cNvPicPr>
          <p:nvPr/>
        </p:nvPicPr>
        <p:blipFill>
          <a:blip r:embed="rId3"/>
          <a:stretch>
            <a:fillRect/>
          </a:stretch>
        </p:blipFill>
        <p:spPr>
          <a:xfrm>
            <a:off x="1691640" y="1572768"/>
            <a:ext cx="9921240" cy="1482484"/>
          </a:xfrm>
          <a:prstGeom prst="rect">
            <a:avLst/>
          </a:prstGeom>
        </p:spPr>
      </p:pic>
      <p:sp>
        <p:nvSpPr>
          <p:cNvPr id="4" name="Part 1.4"/>
          <p:cNvSpPr/>
          <p:nvPr/>
        </p:nvSpPr>
        <p:spPr>
          <a:xfrm>
            <a:off x="548640" y="1879670"/>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Why the KISS-to-OKR Sequence Matters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Assess the strategic changes required before committing to performance targets.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Derive measurable results that are traceable to Success in Practice.</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The Danger of Moving Too Fast</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Disconnected Targets</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Numbers are set while the hurdles go unacknowledged.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Fragmented Efforts</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Functions row in different directions.</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The Activity Trap</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Busyness is measured because outcomes are hard to prove.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organisation starts measuring the finish line before it has mapped the terrain.</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The Strategy2Results® Sequence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Success in Practice</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dream of where the organisation wants to be.</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KISS</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The honest look at the changes required to get there.</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OKRs</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The execution compass.</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At which point in this sequence does our organisation typically enter?</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91440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188720"/>
            <a:ext cx="548640" cy="548640"/>
          </a:xfrm>
          <a:prstGeom prst="rect">
            <a:avLst/>
          </a:prstGeom>
        </p:spPr>
      </p:pic>
      <p:sp>
        <p:nvSpPr>
          <p:cNvPr id="4" name="Text 1"/>
          <p:cNvSpPr txBox="1"/>
          <p:nvPr/>
        </p:nvSpPr>
        <p:spPr>
          <a:xfrm>
            <a:off x="2103120" y="109728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2.2 · Worked Example: the SiP Statement</a:t>
            </a:r>
            <a:endParaRPr lang="en-US" sz="2600" dirty="0"/>
          </a:p>
        </p:txBody>
      </p:sp>
      <p:sp>
        <p:nvSpPr>
          <p:cNvPr id="5" name="Text 2"/>
          <p:cNvSpPr txBox="1"/>
          <p:nvPr/>
        </p:nvSpPr>
        <p:spPr>
          <a:xfrm>
            <a:off x="2103120" y="1874520"/>
            <a:ext cx="9418320" cy="3749040"/>
          </a:xfrm>
          <a:prstGeom prst="rect">
            <a:avLst/>
          </a:prstGeom>
          <a:noFill/>
          <a:ln/>
        </p:spPr>
        <p:txBody>
          <a:bodyPr wrap="square" lIns="0" tIns="0" rIns="0" bIns="0" rtlCol="0" anchor="t"/>
          <a:lstStyle/>
          <a:p>
            <a:pPr marL="0" indent="0">
              <a:buNone/>
            </a:pPr>
            <a:r>
              <a:rPr lang="en-US" sz="2800" i="1" dirty="0">
                <a:solidFill>
                  <a:srgbClr val="FFFFFF"/>
                </a:solidFill>
                <a:latin typeface="Cambria" pitchFamily="34" charset="0"/>
                <a:ea typeface="Cambria" pitchFamily="34" charset="-122"/>
                <a:cs typeface="Cambria" pitchFamily="34" charset="-120"/>
              </a:rPr>
              <a:t>We will be the service partner our clients rely on first, by ensuring every client experiences fast, consistent and effortless service. </a:t>
            </a:r>
          </a:p>
          <a:p>
            <a:pPr marL="0" indent="0">
              <a:buNone/>
            </a:pPr>
            <a:endParaRPr lang="en-US" sz="2800" i="1" dirty="0">
              <a:solidFill>
                <a:srgbClr val="FFFFFF"/>
              </a:solidFill>
              <a:latin typeface="Cambria" pitchFamily="34" charset="0"/>
              <a:ea typeface="Cambria" pitchFamily="34" charset="-122"/>
              <a:cs typeface="Cambria" pitchFamily="34" charset="-120"/>
            </a:endParaRPr>
          </a:p>
          <a:p>
            <a:pPr marL="0" indent="0">
              <a:buNone/>
            </a:pPr>
            <a:r>
              <a:rPr lang="en-US" sz="2800" i="1" dirty="0">
                <a:solidFill>
                  <a:srgbClr val="FFFFFF"/>
                </a:solidFill>
                <a:latin typeface="Cambria" pitchFamily="34" charset="0"/>
                <a:ea typeface="Cambria" pitchFamily="34" charset="-122"/>
                <a:cs typeface="Cambria" pitchFamily="34" charset="-120"/>
              </a:rPr>
              <a:t>To achieve this, we will move quickly from insight to action across functions, build shared ownership of enterprise priorities and run scalable, efficient operations that strengthen enterprise performance.</a:t>
            </a:r>
            <a:endParaRPr lang="en-US" sz="2800" dirty="0"/>
          </a:p>
        </p:txBody>
      </p:sp>
      <p:sp>
        <p:nvSpPr>
          <p:cNvPr id="6" name="Text 3"/>
          <p:cNvSpPr txBox="1"/>
          <p:nvPr/>
        </p:nvSpPr>
        <p:spPr>
          <a:xfrm>
            <a:off x="2103120" y="5760720"/>
            <a:ext cx="9418320" cy="54864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A client services company</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28600" y="274320"/>
            <a:ext cx="11731752" cy="3154680"/>
          </a:xfrm>
          <a:prstGeom prst="roundRect">
            <a:avLst>
              <a:gd name="adj" fmla="val 5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65760"/>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CUSTOMER EXPERIENCE &amp; VALUE</a:t>
            </a:r>
          </a:p>
        </p:txBody>
      </p:sp>
      <p:sp>
        <p:nvSpPr>
          <p:cNvPr id="4" name="TextBox 3"/>
          <p:cNvSpPr txBox="1"/>
          <p:nvPr/>
        </p:nvSpPr>
        <p:spPr>
          <a:xfrm>
            <a:off x="411480" y="896112"/>
            <a:ext cx="2788920" cy="438912"/>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5" name="TextBox 4"/>
          <p:cNvSpPr txBox="1"/>
          <p:nvPr/>
        </p:nvSpPr>
        <p:spPr>
          <a:xfrm>
            <a:off x="411480"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Strong client relationships with key accounts</a:t>
            </a:r>
          </a:p>
        </p:txBody>
      </p:sp>
      <p:sp>
        <p:nvSpPr>
          <p:cNvPr id="6" name="TextBox 5"/>
          <p:cNvSpPr txBox="1"/>
          <p:nvPr/>
        </p:nvSpPr>
        <p:spPr>
          <a:xfrm>
            <a:off x="3310128" y="896112"/>
            <a:ext cx="2788920" cy="438912"/>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7" name="TextBox 6"/>
          <p:cNvSpPr txBox="1"/>
          <p:nvPr/>
        </p:nvSpPr>
        <p:spPr>
          <a:xfrm>
            <a:off x="3310128"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Response time to customer requests varies across teams</a:t>
            </a:r>
          </a:p>
        </p:txBody>
      </p:sp>
      <p:sp>
        <p:nvSpPr>
          <p:cNvPr id="8" name="TextBox 7"/>
          <p:cNvSpPr txBox="1"/>
          <p:nvPr/>
        </p:nvSpPr>
        <p:spPr>
          <a:xfrm>
            <a:off x="6208776" y="896112"/>
            <a:ext cx="2788920" cy="438912"/>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9" name="TextBox 8"/>
          <p:cNvSpPr txBox="1"/>
          <p:nvPr/>
        </p:nvSpPr>
        <p:spPr>
          <a:xfrm>
            <a:off x="6208776"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Introduce proactive customer engagement model</a:t>
            </a:r>
          </a:p>
        </p:txBody>
      </p:sp>
      <p:sp>
        <p:nvSpPr>
          <p:cNvPr id="10" name="TextBox 9"/>
          <p:cNvSpPr txBox="1"/>
          <p:nvPr/>
        </p:nvSpPr>
        <p:spPr>
          <a:xfrm>
            <a:off x="9107424" y="896112"/>
            <a:ext cx="2788920" cy="438912"/>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11" name="TextBox 10"/>
          <p:cNvSpPr txBox="1"/>
          <p:nvPr/>
        </p:nvSpPr>
        <p:spPr>
          <a:xfrm>
            <a:off x="9107424"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Slow internal handovers that delay customer responses</a:t>
            </a:r>
          </a:p>
        </p:txBody>
      </p:sp>
      <p:sp>
        <p:nvSpPr>
          <p:cNvPr id="12" name="Rounded Rectangle 11"/>
          <p:cNvSpPr/>
          <p:nvPr/>
        </p:nvSpPr>
        <p:spPr>
          <a:xfrm>
            <a:off x="228600" y="3566160"/>
            <a:ext cx="11731752" cy="3154680"/>
          </a:xfrm>
          <a:prstGeom prst="roundRect">
            <a:avLst>
              <a:gd name="adj" fmla="val 5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657600"/>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OPERATIONAL CAPABILITY &amp; EXECUTION RHYTHM</a:t>
            </a:r>
          </a:p>
        </p:txBody>
      </p:sp>
      <p:sp>
        <p:nvSpPr>
          <p:cNvPr id="14" name="TextBox 13"/>
          <p:cNvSpPr txBox="1"/>
          <p:nvPr/>
        </p:nvSpPr>
        <p:spPr>
          <a:xfrm>
            <a:off x="411480" y="4187952"/>
            <a:ext cx="2788920" cy="438912"/>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15" name="TextBox 14"/>
          <p:cNvSpPr txBox="1"/>
          <p:nvPr/>
        </p:nvSpPr>
        <p:spPr>
          <a:xfrm>
            <a:off x="411480"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Clear strategic priorities already exist</a:t>
            </a:r>
          </a:p>
        </p:txBody>
      </p:sp>
      <p:sp>
        <p:nvSpPr>
          <p:cNvPr id="16" name="TextBox 15"/>
          <p:cNvSpPr txBox="1"/>
          <p:nvPr/>
        </p:nvSpPr>
        <p:spPr>
          <a:xfrm>
            <a:off x="3310128" y="4187952"/>
            <a:ext cx="2788920" cy="438912"/>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17" name="TextBox 16"/>
          <p:cNvSpPr txBox="1"/>
          <p:nvPr/>
        </p:nvSpPr>
        <p:spPr>
          <a:xfrm>
            <a:off x="3310128"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Decision-making slows when multiple functions are involved</a:t>
            </a:r>
          </a:p>
        </p:txBody>
      </p:sp>
      <p:sp>
        <p:nvSpPr>
          <p:cNvPr id="18" name="TextBox 17"/>
          <p:cNvSpPr txBox="1"/>
          <p:nvPr/>
        </p:nvSpPr>
        <p:spPr>
          <a:xfrm>
            <a:off x="6208776" y="4187952"/>
            <a:ext cx="2788920" cy="438912"/>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19" name="TextBox 18"/>
          <p:cNvSpPr txBox="1"/>
          <p:nvPr/>
        </p:nvSpPr>
        <p:spPr>
          <a:xfrm>
            <a:off x="6208776"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Introduce cross-functional execution routines and faster decision forums</a:t>
            </a:r>
          </a:p>
        </p:txBody>
      </p:sp>
      <p:sp>
        <p:nvSpPr>
          <p:cNvPr id="20" name="TextBox 19"/>
          <p:cNvSpPr txBox="1"/>
          <p:nvPr/>
        </p:nvSpPr>
        <p:spPr>
          <a:xfrm>
            <a:off x="9107424" y="4187952"/>
            <a:ext cx="2788920" cy="438912"/>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21" name="TextBox 20"/>
          <p:cNvSpPr txBox="1"/>
          <p:nvPr/>
        </p:nvSpPr>
        <p:spPr>
          <a:xfrm>
            <a:off x="9107424"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Excessive reporting cycles that delay action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228600" y="274320"/>
            <a:ext cx="11731752" cy="3154680"/>
          </a:xfrm>
          <a:prstGeom prst="roundRect">
            <a:avLst>
              <a:gd name="adj" fmla="val 5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65760"/>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PEOPLE &amp; CULTURE DYNAMICS</a:t>
            </a:r>
          </a:p>
        </p:txBody>
      </p:sp>
      <p:sp>
        <p:nvSpPr>
          <p:cNvPr id="4" name="TextBox 3"/>
          <p:cNvSpPr txBox="1"/>
          <p:nvPr/>
        </p:nvSpPr>
        <p:spPr>
          <a:xfrm>
            <a:off x="411480" y="896112"/>
            <a:ext cx="2788920" cy="438912"/>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5" name="TextBox 4"/>
          <p:cNvSpPr txBox="1"/>
          <p:nvPr/>
        </p:nvSpPr>
        <p:spPr>
          <a:xfrm>
            <a:off x="411480"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Strong trust within teams</a:t>
            </a:r>
          </a:p>
        </p:txBody>
      </p:sp>
      <p:sp>
        <p:nvSpPr>
          <p:cNvPr id="6" name="TextBox 5"/>
          <p:cNvSpPr txBox="1"/>
          <p:nvPr/>
        </p:nvSpPr>
        <p:spPr>
          <a:xfrm>
            <a:off x="3310128" y="896112"/>
            <a:ext cx="2788920" cy="438912"/>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7" name="TextBox 6"/>
          <p:cNvSpPr txBox="1"/>
          <p:nvPr/>
        </p:nvSpPr>
        <p:spPr>
          <a:xfrm>
            <a:off x="3310128"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Collaboration across functions remains inconsistent</a:t>
            </a:r>
          </a:p>
        </p:txBody>
      </p:sp>
      <p:sp>
        <p:nvSpPr>
          <p:cNvPr id="8" name="TextBox 7"/>
          <p:cNvSpPr txBox="1"/>
          <p:nvPr/>
        </p:nvSpPr>
        <p:spPr>
          <a:xfrm>
            <a:off x="6208776" y="896112"/>
            <a:ext cx="2788920" cy="438912"/>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9" name="TextBox 8"/>
          <p:cNvSpPr txBox="1"/>
          <p:nvPr/>
        </p:nvSpPr>
        <p:spPr>
          <a:xfrm>
            <a:off x="6208776"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Introduce shared ownership of enterprise priorities</a:t>
            </a:r>
          </a:p>
        </p:txBody>
      </p:sp>
      <p:sp>
        <p:nvSpPr>
          <p:cNvPr id="10" name="TextBox 9"/>
          <p:cNvSpPr txBox="1"/>
          <p:nvPr/>
        </p:nvSpPr>
        <p:spPr>
          <a:xfrm>
            <a:off x="9107424" y="896112"/>
            <a:ext cx="2788920" cy="438912"/>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11" name="TextBox 10"/>
          <p:cNvSpPr txBox="1"/>
          <p:nvPr/>
        </p:nvSpPr>
        <p:spPr>
          <a:xfrm>
            <a:off x="9107424" y="135331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Functional silos and escalation behaviours</a:t>
            </a:r>
          </a:p>
        </p:txBody>
      </p:sp>
      <p:sp>
        <p:nvSpPr>
          <p:cNvPr id="12" name="Rounded Rectangle 11"/>
          <p:cNvSpPr/>
          <p:nvPr/>
        </p:nvSpPr>
        <p:spPr>
          <a:xfrm>
            <a:off x="228600" y="3566160"/>
            <a:ext cx="11731752" cy="3154680"/>
          </a:xfrm>
          <a:prstGeom prst="roundRect">
            <a:avLst>
              <a:gd name="adj" fmla="val 5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7200" y="3657600"/>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ENTERPRISE VALUE CREATION</a:t>
            </a:r>
          </a:p>
        </p:txBody>
      </p:sp>
      <p:sp>
        <p:nvSpPr>
          <p:cNvPr id="14" name="TextBox 13"/>
          <p:cNvSpPr txBox="1"/>
          <p:nvPr/>
        </p:nvSpPr>
        <p:spPr>
          <a:xfrm>
            <a:off x="411480" y="4187952"/>
            <a:ext cx="2788920" cy="438912"/>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15" name="TextBox 14"/>
          <p:cNvSpPr txBox="1"/>
          <p:nvPr/>
        </p:nvSpPr>
        <p:spPr>
          <a:xfrm>
            <a:off x="411480"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Solid revenue base and loyal client segments</a:t>
            </a:r>
          </a:p>
        </p:txBody>
      </p:sp>
      <p:sp>
        <p:nvSpPr>
          <p:cNvPr id="16" name="TextBox 15"/>
          <p:cNvSpPr txBox="1"/>
          <p:nvPr/>
        </p:nvSpPr>
        <p:spPr>
          <a:xfrm>
            <a:off x="3310128" y="4187952"/>
            <a:ext cx="2788920" cy="438912"/>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17" name="TextBox 16"/>
          <p:cNvSpPr txBox="1"/>
          <p:nvPr/>
        </p:nvSpPr>
        <p:spPr>
          <a:xfrm>
            <a:off x="3310128"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Profit margins fluctuate due to operational inefficiencies</a:t>
            </a:r>
          </a:p>
        </p:txBody>
      </p:sp>
      <p:sp>
        <p:nvSpPr>
          <p:cNvPr id="18" name="TextBox 17"/>
          <p:cNvSpPr txBox="1"/>
          <p:nvPr/>
        </p:nvSpPr>
        <p:spPr>
          <a:xfrm>
            <a:off x="6208776" y="4187952"/>
            <a:ext cx="2788920" cy="438912"/>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19" name="TextBox 18"/>
          <p:cNvSpPr txBox="1"/>
          <p:nvPr/>
        </p:nvSpPr>
        <p:spPr>
          <a:xfrm>
            <a:off x="6208776"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Develop scalable service delivery models</a:t>
            </a:r>
          </a:p>
        </p:txBody>
      </p:sp>
      <p:sp>
        <p:nvSpPr>
          <p:cNvPr id="20" name="TextBox 19"/>
          <p:cNvSpPr txBox="1"/>
          <p:nvPr/>
        </p:nvSpPr>
        <p:spPr>
          <a:xfrm>
            <a:off x="9107424" y="4187952"/>
            <a:ext cx="2788920" cy="438912"/>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21" name="TextBox 20"/>
          <p:cNvSpPr txBox="1"/>
          <p:nvPr/>
        </p:nvSpPr>
        <p:spPr>
          <a:xfrm>
            <a:off x="9107424" y="4645152"/>
            <a:ext cx="2788920" cy="2011680"/>
          </a:xfrm>
          <a:prstGeom prst="rect">
            <a:avLst/>
          </a:prstGeom>
          <a:noFill/>
        </p:spPr>
        <p:txBody>
          <a:bodyPr wrap="square" lIns="45720" tIns="27432" rIns="45720" bIns="27432" anchor="t">
            <a:noAutofit/>
          </a:bodyPr>
          <a:lstStyle/>
          <a:p>
            <a:pPr algn="l"/>
            <a:r>
              <a:rPr sz="2400" b="0" i="0">
                <a:solidFill>
                  <a:srgbClr val="E7E5D6"/>
                </a:solidFill>
                <a:latin typeface="Calibri"/>
              </a:rPr>
              <a:t>Low-value projects that absorb leadership attention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2C1F"/>
        </a:solidFill>
        <a:effectLst/>
      </p:bgPr>
    </p:bg>
    <p:spTree>
      <p:nvGrpSpPr>
        <p:cNvPr id="1" name=""/>
        <p:cNvGrpSpPr/>
        <p:nvPr/>
      </p:nvGrpSpPr>
      <p:grpSpPr>
        <a:xfrm>
          <a:off x="0" y="0"/>
          <a:ext cx="0" cy="0"/>
          <a:chOff x="0" y="0"/>
          <a:chExt cx="0" cy="0"/>
        </a:xfrm>
      </p:grpSpPr>
      <p:sp>
        <p:nvSpPr>
          <p:cNvPr id="2" name="TextBox 1"/>
          <p:cNvSpPr txBox="1"/>
          <p:nvPr/>
        </p:nvSpPr>
        <p:spPr>
          <a:xfrm>
            <a:off x="274320" y="109728"/>
            <a:ext cx="11612880" cy="502920"/>
          </a:xfrm>
          <a:prstGeom prst="rect">
            <a:avLst/>
          </a:prstGeom>
          <a:noFill/>
        </p:spPr>
        <p:txBody>
          <a:bodyPr wrap="square" lIns="45720" tIns="27432" rIns="45720" bIns="27432" anchor="t">
            <a:noAutofit/>
          </a:bodyPr>
          <a:lstStyle/>
          <a:p>
            <a:pPr algn="l"/>
            <a:r>
              <a:rPr sz="2400" b="1" i="0">
                <a:solidFill>
                  <a:srgbClr val="CDAB49"/>
                </a:solidFill>
                <a:latin typeface="Calibri"/>
              </a:rPr>
              <a:t>FROM KISS TO OKRs: THE FIVE STEPS</a:t>
            </a:r>
          </a:p>
        </p:txBody>
      </p:sp>
      <p:sp>
        <p:nvSpPr>
          <p:cNvPr id="3" name="Rounded Rectangle 2"/>
          <p:cNvSpPr/>
          <p:nvPr/>
        </p:nvSpPr>
        <p:spPr>
          <a:xfrm>
            <a:off x="274320" y="658368"/>
            <a:ext cx="2286000" cy="1207008"/>
          </a:xfrm>
          <a:prstGeom prst="roundRect">
            <a:avLst>
              <a:gd name="adj" fmla="val 8000"/>
            </a:avLst>
          </a:prstGeom>
          <a:solidFill>
            <a:srgbClr val="1D2D20"/>
          </a:solidFill>
          <a:ln w="19050">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1</a:t>
            </a:r>
          </a:p>
          <a:p>
            <a:pPr algn="ctr">
              <a:lnSpc>
                <a:spcPct val="95000"/>
              </a:lnSpc>
            </a:pPr>
            <a:r>
              <a:rPr sz="2400" b="0" i="0">
                <a:solidFill>
                  <a:srgbClr val="E7E5D6"/>
                </a:solidFill>
                <a:latin typeface="Cambria"/>
              </a:rPr>
              <a:t>FIND THEMES</a:t>
            </a:r>
          </a:p>
        </p:txBody>
      </p:sp>
      <p:sp>
        <p:nvSpPr>
          <p:cNvPr id="4" name="Rounded Rectangle 3"/>
          <p:cNvSpPr/>
          <p:nvPr/>
        </p:nvSpPr>
        <p:spPr>
          <a:xfrm>
            <a:off x="2633472"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2</a:t>
            </a:r>
          </a:p>
          <a:p>
            <a:pPr algn="ctr">
              <a:lnSpc>
                <a:spcPct val="95000"/>
              </a:lnSpc>
            </a:pPr>
            <a:r>
              <a:rPr sz="2400" b="0" i="0">
                <a:solidFill>
                  <a:srgbClr val="B2B4A7"/>
                </a:solidFill>
                <a:latin typeface="Cambria"/>
              </a:rPr>
              <a:t>Inspiring Objectives</a:t>
            </a:r>
          </a:p>
        </p:txBody>
      </p:sp>
      <p:sp>
        <p:nvSpPr>
          <p:cNvPr id="5" name="Rounded Rectangle 4"/>
          <p:cNvSpPr/>
          <p:nvPr/>
        </p:nvSpPr>
        <p:spPr>
          <a:xfrm>
            <a:off x="4992624"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3</a:t>
            </a:r>
          </a:p>
          <a:p>
            <a:pPr algn="ctr">
              <a:lnSpc>
                <a:spcPct val="95000"/>
              </a:lnSpc>
            </a:pPr>
            <a:r>
              <a:rPr sz="2400" b="0" i="0">
                <a:solidFill>
                  <a:srgbClr val="B2B4A7"/>
                </a:solidFill>
                <a:latin typeface="Cambria"/>
              </a:rPr>
              <a:t>Define Key Results</a:t>
            </a:r>
          </a:p>
        </p:txBody>
      </p:sp>
      <p:sp>
        <p:nvSpPr>
          <p:cNvPr id="6" name="Rounded Rectangle 5"/>
          <p:cNvSpPr/>
          <p:nvPr/>
        </p:nvSpPr>
        <p:spPr>
          <a:xfrm>
            <a:off x="7351776"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4</a:t>
            </a:r>
          </a:p>
          <a:p>
            <a:pPr algn="ctr">
              <a:lnSpc>
                <a:spcPct val="95000"/>
              </a:lnSpc>
            </a:pPr>
            <a:r>
              <a:rPr sz="2400" b="0" i="0">
                <a:solidFill>
                  <a:srgbClr val="B2B4A7"/>
                </a:solidFill>
                <a:latin typeface="Cambria"/>
              </a:rPr>
              <a:t>Alignment Test</a:t>
            </a:r>
          </a:p>
        </p:txBody>
      </p:sp>
      <p:sp>
        <p:nvSpPr>
          <p:cNvPr id="7" name="Rounded Rectangle 6"/>
          <p:cNvSpPr/>
          <p:nvPr/>
        </p:nvSpPr>
        <p:spPr>
          <a:xfrm>
            <a:off x="9710928"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5</a:t>
            </a:r>
          </a:p>
          <a:p>
            <a:pPr algn="ctr">
              <a:lnSpc>
                <a:spcPct val="95000"/>
              </a:lnSpc>
            </a:pPr>
            <a:r>
              <a:rPr sz="2400" b="0" i="0">
                <a:solidFill>
                  <a:srgbClr val="B2B4A7"/>
                </a:solidFill>
                <a:latin typeface="Cambria"/>
              </a:rPr>
              <a:t>Priority Matrix</a:t>
            </a:r>
          </a:p>
        </p:txBody>
      </p:sp>
      <p:sp>
        <p:nvSpPr>
          <p:cNvPr id="8" name="Rounded Rectangle 7"/>
          <p:cNvSpPr/>
          <p:nvPr/>
        </p:nvSpPr>
        <p:spPr>
          <a:xfrm>
            <a:off x="274320" y="1956816"/>
            <a:ext cx="11640312" cy="4754880"/>
          </a:xfrm>
          <a:prstGeom prst="roundRect">
            <a:avLst>
              <a:gd name="adj" fmla="val 4000"/>
            </a:avLst>
          </a:prstGeom>
          <a:solidFill>
            <a:srgbClr val="FFFFFF"/>
          </a:solidFill>
          <a:ln w="9525">
            <a:solidFill>
              <a:srgbClr val="3042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103120"/>
            <a:ext cx="11155680" cy="777240"/>
          </a:xfrm>
          <a:prstGeom prst="rect">
            <a:avLst/>
          </a:prstGeom>
          <a:noFill/>
        </p:spPr>
        <p:txBody>
          <a:bodyPr wrap="square" lIns="45720" tIns="27432" rIns="45720" bIns="27432" anchor="t">
            <a:noAutofit/>
          </a:bodyPr>
          <a:lstStyle/>
          <a:p>
            <a:pPr algn="l"/>
            <a:r>
              <a:rPr sz="2400" b="0" i="0">
                <a:solidFill>
                  <a:srgbClr val="1F2A22"/>
                </a:solidFill>
                <a:latin typeface="Calibri"/>
              </a:rPr>
              <a:t>Reading across the four KISS domains, four recurring strategic themes emerge:</a:t>
            </a:r>
          </a:p>
        </p:txBody>
      </p:sp>
      <p:sp>
        <p:nvSpPr>
          <p:cNvPr id="10" name="Rounded Rectangle 9"/>
          <p:cNvSpPr/>
          <p:nvPr/>
        </p:nvSpPr>
        <p:spPr>
          <a:xfrm>
            <a:off x="548640" y="2971800"/>
            <a:ext cx="11091672" cy="749808"/>
          </a:xfrm>
          <a:prstGeom prst="roundRect">
            <a:avLst>
              <a:gd name="adj" fmla="val 15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971800"/>
            <a:ext cx="731520" cy="749808"/>
          </a:xfrm>
          <a:prstGeom prst="rect">
            <a:avLst/>
          </a:prstGeom>
          <a:noFill/>
        </p:spPr>
        <p:txBody>
          <a:bodyPr wrap="square" lIns="45720" tIns="27432" rIns="45720" bIns="27432" anchor="ctr">
            <a:noAutofit/>
          </a:bodyPr>
          <a:lstStyle/>
          <a:p>
            <a:pPr algn="l"/>
            <a:r>
              <a:rPr sz="2400" b="1" i="0">
                <a:solidFill>
                  <a:srgbClr val="CDAB49"/>
                </a:solidFill>
                <a:latin typeface="Calibri"/>
              </a:rPr>
              <a:t>01</a:t>
            </a:r>
          </a:p>
        </p:txBody>
      </p:sp>
      <p:sp>
        <p:nvSpPr>
          <p:cNvPr id="12" name="TextBox 11"/>
          <p:cNvSpPr txBox="1"/>
          <p:nvPr/>
        </p:nvSpPr>
        <p:spPr>
          <a:xfrm>
            <a:off x="1554480" y="2971800"/>
            <a:ext cx="9875520" cy="749808"/>
          </a:xfrm>
          <a:prstGeom prst="rect">
            <a:avLst/>
          </a:prstGeom>
          <a:noFill/>
        </p:spPr>
        <p:txBody>
          <a:bodyPr wrap="square" lIns="45720" tIns="27432" rIns="45720" bIns="27432" anchor="ctr">
            <a:noAutofit/>
          </a:bodyPr>
          <a:lstStyle/>
          <a:p>
            <a:pPr algn="l"/>
            <a:r>
              <a:rPr sz="2400" b="1" i="0">
                <a:solidFill>
                  <a:srgbClr val="E7E5D6"/>
                </a:solidFill>
                <a:latin typeface="Calibri"/>
              </a:rPr>
              <a:t>Customer responsiveness</a:t>
            </a:r>
          </a:p>
        </p:txBody>
      </p:sp>
      <p:sp>
        <p:nvSpPr>
          <p:cNvPr id="13" name="Rounded Rectangle 12"/>
          <p:cNvSpPr/>
          <p:nvPr/>
        </p:nvSpPr>
        <p:spPr>
          <a:xfrm>
            <a:off x="548640" y="3867912"/>
            <a:ext cx="11091672" cy="749808"/>
          </a:xfrm>
          <a:prstGeom prst="roundRect">
            <a:avLst>
              <a:gd name="adj" fmla="val 15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3867912"/>
            <a:ext cx="731520" cy="749808"/>
          </a:xfrm>
          <a:prstGeom prst="rect">
            <a:avLst/>
          </a:prstGeom>
          <a:noFill/>
        </p:spPr>
        <p:txBody>
          <a:bodyPr wrap="square" lIns="45720" tIns="27432" rIns="45720" bIns="27432" anchor="ctr">
            <a:noAutofit/>
          </a:bodyPr>
          <a:lstStyle/>
          <a:p>
            <a:pPr algn="l"/>
            <a:r>
              <a:rPr sz="2400" b="1" i="0">
                <a:solidFill>
                  <a:srgbClr val="CDAB49"/>
                </a:solidFill>
                <a:latin typeface="Calibri"/>
              </a:rPr>
              <a:t>02</a:t>
            </a:r>
          </a:p>
        </p:txBody>
      </p:sp>
      <p:sp>
        <p:nvSpPr>
          <p:cNvPr id="15" name="TextBox 14"/>
          <p:cNvSpPr txBox="1"/>
          <p:nvPr/>
        </p:nvSpPr>
        <p:spPr>
          <a:xfrm>
            <a:off x="1554480" y="3867912"/>
            <a:ext cx="9875520" cy="749808"/>
          </a:xfrm>
          <a:prstGeom prst="rect">
            <a:avLst/>
          </a:prstGeom>
          <a:noFill/>
        </p:spPr>
        <p:txBody>
          <a:bodyPr wrap="square" lIns="45720" tIns="27432" rIns="45720" bIns="27432" anchor="ctr">
            <a:noAutofit/>
          </a:bodyPr>
          <a:lstStyle/>
          <a:p>
            <a:pPr algn="l"/>
            <a:r>
              <a:rPr sz="2400" b="1" i="0">
                <a:solidFill>
                  <a:srgbClr val="E7E5D6"/>
                </a:solidFill>
                <a:latin typeface="Calibri"/>
              </a:rPr>
              <a:t>Execution speed</a:t>
            </a:r>
          </a:p>
        </p:txBody>
      </p:sp>
      <p:sp>
        <p:nvSpPr>
          <p:cNvPr id="16" name="Rounded Rectangle 15"/>
          <p:cNvSpPr/>
          <p:nvPr/>
        </p:nvSpPr>
        <p:spPr>
          <a:xfrm>
            <a:off x="548640" y="4764024"/>
            <a:ext cx="11091672" cy="749808"/>
          </a:xfrm>
          <a:prstGeom prst="roundRect">
            <a:avLst>
              <a:gd name="adj" fmla="val 15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 y="4764024"/>
            <a:ext cx="731520" cy="749808"/>
          </a:xfrm>
          <a:prstGeom prst="rect">
            <a:avLst/>
          </a:prstGeom>
          <a:noFill/>
        </p:spPr>
        <p:txBody>
          <a:bodyPr wrap="square" lIns="45720" tIns="27432" rIns="45720" bIns="27432" anchor="ctr">
            <a:noAutofit/>
          </a:bodyPr>
          <a:lstStyle/>
          <a:p>
            <a:pPr algn="l"/>
            <a:r>
              <a:rPr sz="2400" b="1" i="0">
                <a:solidFill>
                  <a:srgbClr val="CDAB49"/>
                </a:solidFill>
                <a:latin typeface="Calibri"/>
              </a:rPr>
              <a:t>03</a:t>
            </a:r>
          </a:p>
        </p:txBody>
      </p:sp>
      <p:sp>
        <p:nvSpPr>
          <p:cNvPr id="18" name="TextBox 17"/>
          <p:cNvSpPr txBox="1"/>
          <p:nvPr/>
        </p:nvSpPr>
        <p:spPr>
          <a:xfrm>
            <a:off x="1554480" y="4764024"/>
            <a:ext cx="9875520" cy="749808"/>
          </a:xfrm>
          <a:prstGeom prst="rect">
            <a:avLst/>
          </a:prstGeom>
          <a:noFill/>
        </p:spPr>
        <p:txBody>
          <a:bodyPr wrap="square" lIns="45720" tIns="27432" rIns="45720" bIns="27432" anchor="ctr">
            <a:noAutofit/>
          </a:bodyPr>
          <a:lstStyle/>
          <a:p>
            <a:pPr algn="l"/>
            <a:r>
              <a:rPr sz="2400" b="1" i="0">
                <a:solidFill>
                  <a:srgbClr val="E7E5D6"/>
                </a:solidFill>
                <a:latin typeface="Calibri"/>
              </a:rPr>
              <a:t>Collaboration culture</a:t>
            </a:r>
          </a:p>
        </p:txBody>
      </p:sp>
      <p:sp>
        <p:nvSpPr>
          <p:cNvPr id="19" name="Rounded Rectangle 18"/>
          <p:cNvSpPr/>
          <p:nvPr/>
        </p:nvSpPr>
        <p:spPr>
          <a:xfrm>
            <a:off x="548640" y="5660136"/>
            <a:ext cx="11091672" cy="749808"/>
          </a:xfrm>
          <a:prstGeom prst="roundRect">
            <a:avLst>
              <a:gd name="adj" fmla="val 15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5660136"/>
            <a:ext cx="731520" cy="749808"/>
          </a:xfrm>
          <a:prstGeom prst="rect">
            <a:avLst/>
          </a:prstGeom>
          <a:noFill/>
        </p:spPr>
        <p:txBody>
          <a:bodyPr wrap="square" lIns="45720" tIns="27432" rIns="45720" bIns="27432" anchor="ctr">
            <a:noAutofit/>
          </a:bodyPr>
          <a:lstStyle/>
          <a:p>
            <a:pPr algn="l"/>
            <a:r>
              <a:rPr sz="2400" b="1" i="0">
                <a:solidFill>
                  <a:srgbClr val="CDAB49"/>
                </a:solidFill>
                <a:latin typeface="Calibri"/>
              </a:rPr>
              <a:t>04</a:t>
            </a:r>
          </a:p>
        </p:txBody>
      </p:sp>
      <p:sp>
        <p:nvSpPr>
          <p:cNvPr id="21" name="TextBox 20"/>
          <p:cNvSpPr txBox="1"/>
          <p:nvPr/>
        </p:nvSpPr>
        <p:spPr>
          <a:xfrm>
            <a:off x="1554480" y="5660136"/>
            <a:ext cx="9875520" cy="749808"/>
          </a:xfrm>
          <a:prstGeom prst="rect">
            <a:avLst/>
          </a:prstGeom>
          <a:noFill/>
        </p:spPr>
        <p:txBody>
          <a:bodyPr wrap="square" lIns="45720" tIns="27432" rIns="45720" bIns="27432" anchor="ctr">
            <a:noAutofit/>
          </a:bodyPr>
          <a:lstStyle/>
          <a:p>
            <a:pPr algn="l"/>
            <a:r>
              <a:rPr sz="2400" b="1" i="0">
                <a:solidFill>
                  <a:srgbClr val="E7E5D6"/>
                </a:solidFill>
                <a:latin typeface="Calibri"/>
              </a:rPr>
              <a:t>Value creation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2C1F"/>
        </a:solidFill>
        <a:effectLst/>
      </p:bgPr>
    </p:bg>
    <p:spTree>
      <p:nvGrpSpPr>
        <p:cNvPr id="1" name=""/>
        <p:cNvGrpSpPr/>
        <p:nvPr/>
      </p:nvGrpSpPr>
      <p:grpSpPr>
        <a:xfrm>
          <a:off x="0" y="0"/>
          <a:ext cx="0" cy="0"/>
          <a:chOff x="0" y="0"/>
          <a:chExt cx="0" cy="0"/>
        </a:xfrm>
      </p:grpSpPr>
      <p:sp>
        <p:nvSpPr>
          <p:cNvPr id="2" name="TextBox 1"/>
          <p:cNvSpPr txBox="1"/>
          <p:nvPr/>
        </p:nvSpPr>
        <p:spPr>
          <a:xfrm>
            <a:off x="274320" y="109728"/>
            <a:ext cx="11612880" cy="502920"/>
          </a:xfrm>
          <a:prstGeom prst="rect">
            <a:avLst/>
          </a:prstGeom>
          <a:noFill/>
        </p:spPr>
        <p:txBody>
          <a:bodyPr wrap="square" lIns="45720" tIns="27432" rIns="45720" bIns="27432" anchor="t">
            <a:noAutofit/>
          </a:bodyPr>
          <a:lstStyle/>
          <a:p>
            <a:pPr algn="l"/>
            <a:r>
              <a:rPr sz="2400" b="1" i="0">
                <a:solidFill>
                  <a:srgbClr val="CDAB49"/>
                </a:solidFill>
                <a:latin typeface="Calibri"/>
              </a:rPr>
              <a:t>FROM KISS TO OKRs: THE FIVE STEPS</a:t>
            </a:r>
          </a:p>
        </p:txBody>
      </p:sp>
      <p:sp>
        <p:nvSpPr>
          <p:cNvPr id="3" name="Rounded Rectangle 2"/>
          <p:cNvSpPr/>
          <p:nvPr/>
        </p:nvSpPr>
        <p:spPr>
          <a:xfrm>
            <a:off x="274320"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1</a:t>
            </a:r>
          </a:p>
          <a:p>
            <a:pPr algn="ctr">
              <a:lnSpc>
                <a:spcPct val="95000"/>
              </a:lnSpc>
            </a:pPr>
            <a:r>
              <a:rPr sz="2400" b="0" i="0">
                <a:solidFill>
                  <a:srgbClr val="B2B4A7"/>
                </a:solidFill>
                <a:latin typeface="Cambria"/>
              </a:rPr>
              <a:t>Find Themes</a:t>
            </a:r>
          </a:p>
        </p:txBody>
      </p:sp>
      <p:sp>
        <p:nvSpPr>
          <p:cNvPr id="4" name="Rounded Rectangle 3"/>
          <p:cNvSpPr/>
          <p:nvPr/>
        </p:nvSpPr>
        <p:spPr>
          <a:xfrm>
            <a:off x="2633472" y="658368"/>
            <a:ext cx="2286000" cy="1207008"/>
          </a:xfrm>
          <a:prstGeom prst="roundRect">
            <a:avLst>
              <a:gd name="adj" fmla="val 8000"/>
            </a:avLst>
          </a:prstGeom>
          <a:solidFill>
            <a:srgbClr val="1D2D20"/>
          </a:solidFill>
          <a:ln w="19050">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2</a:t>
            </a:r>
          </a:p>
          <a:p>
            <a:pPr algn="ctr">
              <a:lnSpc>
                <a:spcPct val="95000"/>
              </a:lnSpc>
            </a:pPr>
            <a:r>
              <a:rPr sz="2400" b="0" i="0">
                <a:solidFill>
                  <a:srgbClr val="E7E5D6"/>
                </a:solidFill>
                <a:latin typeface="Cambria"/>
              </a:rPr>
              <a:t>INSPIRING OBJECTIVES</a:t>
            </a:r>
          </a:p>
        </p:txBody>
      </p:sp>
      <p:sp>
        <p:nvSpPr>
          <p:cNvPr id="5" name="Rounded Rectangle 4"/>
          <p:cNvSpPr/>
          <p:nvPr/>
        </p:nvSpPr>
        <p:spPr>
          <a:xfrm>
            <a:off x="4992624"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3</a:t>
            </a:r>
          </a:p>
          <a:p>
            <a:pPr algn="ctr">
              <a:lnSpc>
                <a:spcPct val="95000"/>
              </a:lnSpc>
            </a:pPr>
            <a:r>
              <a:rPr sz="2400" b="0" i="0">
                <a:solidFill>
                  <a:srgbClr val="B2B4A7"/>
                </a:solidFill>
                <a:latin typeface="Cambria"/>
              </a:rPr>
              <a:t>Define Key Results</a:t>
            </a:r>
          </a:p>
        </p:txBody>
      </p:sp>
      <p:sp>
        <p:nvSpPr>
          <p:cNvPr id="6" name="Rounded Rectangle 5"/>
          <p:cNvSpPr/>
          <p:nvPr/>
        </p:nvSpPr>
        <p:spPr>
          <a:xfrm>
            <a:off x="7351776"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4</a:t>
            </a:r>
          </a:p>
          <a:p>
            <a:pPr algn="ctr">
              <a:lnSpc>
                <a:spcPct val="95000"/>
              </a:lnSpc>
            </a:pPr>
            <a:r>
              <a:rPr sz="2400" b="0" i="0">
                <a:solidFill>
                  <a:srgbClr val="B2B4A7"/>
                </a:solidFill>
                <a:latin typeface="Cambria"/>
              </a:rPr>
              <a:t>Alignment Test</a:t>
            </a:r>
          </a:p>
        </p:txBody>
      </p:sp>
      <p:sp>
        <p:nvSpPr>
          <p:cNvPr id="7" name="Rounded Rectangle 6"/>
          <p:cNvSpPr/>
          <p:nvPr/>
        </p:nvSpPr>
        <p:spPr>
          <a:xfrm>
            <a:off x="9710928"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5</a:t>
            </a:r>
          </a:p>
          <a:p>
            <a:pPr algn="ctr">
              <a:lnSpc>
                <a:spcPct val="95000"/>
              </a:lnSpc>
            </a:pPr>
            <a:r>
              <a:rPr sz="2400" b="0" i="0">
                <a:solidFill>
                  <a:srgbClr val="B2B4A7"/>
                </a:solidFill>
                <a:latin typeface="Cambria"/>
              </a:rPr>
              <a:t>Priority Matrix</a:t>
            </a:r>
          </a:p>
        </p:txBody>
      </p:sp>
      <p:sp>
        <p:nvSpPr>
          <p:cNvPr id="8" name="Rounded Rectangle 7"/>
          <p:cNvSpPr/>
          <p:nvPr/>
        </p:nvSpPr>
        <p:spPr>
          <a:xfrm>
            <a:off x="274320" y="1956816"/>
            <a:ext cx="11640312" cy="4754880"/>
          </a:xfrm>
          <a:prstGeom prst="roundRect">
            <a:avLst>
              <a:gd name="adj" fmla="val 4000"/>
            </a:avLst>
          </a:prstGeom>
          <a:solidFill>
            <a:srgbClr val="FFFFFF"/>
          </a:solidFill>
          <a:ln w="9525">
            <a:solidFill>
              <a:srgbClr val="3042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084831"/>
            <a:ext cx="11155680" cy="502920"/>
          </a:xfrm>
          <a:prstGeom prst="rect">
            <a:avLst/>
          </a:prstGeom>
          <a:noFill/>
        </p:spPr>
        <p:txBody>
          <a:bodyPr wrap="square" lIns="45720" tIns="27432" rIns="45720" bIns="27432" anchor="t">
            <a:noAutofit/>
          </a:bodyPr>
          <a:lstStyle/>
          <a:p>
            <a:pPr algn="l"/>
            <a:r>
              <a:rPr sz="2400" b="0" i="0">
                <a:solidFill>
                  <a:srgbClr val="1F2A22"/>
                </a:solidFill>
                <a:latin typeface="Calibri"/>
              </a:rPr>
              <a:t>Translate each strategic theme into one clear, qualitative Objective.</a:t>
            </a:r>
          </a:p>
        </p:txBody>
      </p:sp>
      <p:sp>
        <p:nvSpPr>
          <p:cNvPr id="10" name="Rounded Rectangle 9"/>
          <p:cNvSpPr/>
          <p:nvPr/>
        </p:nvSpPr>
        <p:spPr>
          <a:xfrm>
            <a:off x="548640" y="2670048"/>
            <a:ext cx="11091672" cy="914400"/>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2670048"/>
            <a:ext cx="2743200" cy="914400"/>
          </a:xfrm>
          <a:prstGeom prst="rect">
            <a:avLst/>
          </a:prstGeom>
          <a:noFill/>
        </p:spPr>
        <p:txBody>
          <a:bodyPr wrap="square" lIns="45720" tIns="27432" rIns="45720" bIns="27432" anchor="ctr">
            <a:noAutofit/>
          </a:bodyPr>
          <a:lstStyle/>
          <a:p>
            <a:pPr algn="l"/>
            <a:r>
              <a:rPr sz="2400" b="0" i="0">
                <a:solidFill>
                  <a:srgbClr val="CDAB49"/>
                </a:solidFill>
                <a:latin typeface="Calibri"/>
              </a:rPr>
              <a:t>Customer responsiveness</a:t>
            </a:r>
          </a:p>
        </p:txBody>
      </p:sp>
      <p:sp>
        <p:nvSpPr>
          <p:cNvPr id="12" name="TextBox 11"/>
          <p:cNvSpPr txBox="1"/>
          <p:nvPr/>
        </p:nvSpPr>
        <p:spPr>
          <a:xfrm>
            <a:off x="3520440" y="2670048"/>
            <a:ext cx="8046720" cy="914400"/>
          </a:xfrm>
          <a:prstGeom prst="rect">
            <a:avLst/>
          </a:prstGeom>
          <a:noFill/>
        </p:spPr>
        <p:txBody>
          <a:bodyPr wrap="square" lIns="45720" tIns="27432" rIns="45720" bIns="27432" anchor="ctr">
            <a:noAutofit/>
          </a:bodyPr>
          <a:lstStyle/>
          <a:p>
            <a:pPr algn="l"/>
            <a:r>
              <a:rPr sz="2400" b="1" i="0">
                <a:solidFill>
                  <a:srgbClr val="E7E5D6"/>
                </a:solidFill>
                <a:latin typeface="Calibri"/>
              </a:rPr>
              <a:t>1: </a:t>
            </a:r>
            <a:r>
              <a:rPr sz="2400" b="0" i="0">
                <a:solidFill>
                  <a:srgbClr val="E7E5D6"/>
                </a:solidFill>
                <a:latin typeface="Calibri"/>
              </a:rPr>
              <a:t>Deliver consistently fast </a:t>
            </a:r>
            <a:r>
              <a:rPr sz="2400" b="0" i="0">
                <a:solidFill>
                  <a:srgbClr val="E7E5D6"/>
                </a:solidFill>
                <a:latin typeface="Calibri"/>
              </a:rPr>
              <a:t>and </a:t>
            </a:r>
            <a:r>
              <a:rPr sz="2400" b="0" i="0">
                <a:solidFill>
                  <a:srgbClr val="E7E5D6"/>
                </a:solidFill>
                <a:latin typeface="Calibri"/>
              </a:rPr>
              <a:t>effortless service experiences for customers</a:t>
            </a:r>
          </a:p>
        </p:txBody>
      </p:sp>
      <p:sp>
        <p:nvSpPr>
          <p:cNvPr id="13" name="Rounded Rectangle 12"/>
          <p:cNvSpPr/>
          <p:nvPr/>
        </p:nvSpPr>
        <p:spPr>
          <a:xfrm>
            <a:off x="548640" y="3657600"/>
            <a:ext cx="11091672" cy="914400"/>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3657600"/>
            <a:ext cx="2743200" cy="914400"/>
          </a:xfrm>
          <a:prstGeom prst="rect">
            <a:avLst/>
          </a:prstGeom>
          <a:noFill/>
        </p:spPr>
        <p:txBody>
          <a:bodyPr wrap="square" lIns="45720" tIns="27432" rIns="45720" bIns="27432" anchor="ctr">
            <a:noAutofit/>
          </a:bodyPr>
          <a:lstStyle/>
          <a:p>
            <a:pPr algn="l"/>
            <a:r>
              <a:rPr sz="2400" b="0" i="0">
                <a:solidFill>
                  <a:srgbClr val="CDAB49"/>
                </a:solidFill>
                <a:latin typeface="Calibri"/>
              </a:rPr>
              <a:t>Execution speed</a:t>
            </a:r>
          </a:p>
        </p:txBody>
      </p:sp>
      <p:sp>
        <p:nvSpPr>
          <p:cNvPr id="15" name="TextBox 14"/>
          <p:cNvSpPr txBox="1"/>
          <p:nvPr/>
        </p:nvSpPr>
        <p:spPr>
          <a:xfrm>
            <a:off x="3520440" y="3657600"/>
            <a:ext cx="8046720" cy="914400"/>
          </a:xfrm>
          <a:prstGeom prst="rect">
            <a:avLst/>
          </a:prstGeom>
          <a:noFill/>
        </p:spPr>
        <p:txBody>
          <a:bodyPr wrap="square" lIns="45720" tIns="27432" rIns="45720" bIns="27432" anchor="ctr">
            <a:noAutofit/>
          </a:bodyPr>
          <a:lstStyle/>
          <a:p>
            <a:pPr algn="l"/>
            <a:r>
              <a:rPr sz="2400" b="1" i="0">
                <a:solidFill>
                  <a:srgbClr val="E7E5D6"/>
                </a:solidFill>
                <a:latin typeface="Calibri"/>
              </a:rPr>
              <a:t>2: </a:t>
            </a:r>
            <a:r>
              <a:rPr sz="2400" b="0" i="0">
                <a:solidFill>
                  <a:srgbClr val="E7E5D6"/>
                </a:solidFill>
                <a:latin typeface="Calibri"/>
              </a:rPr>
              <a:t>Build a high-speed execution engine that moves quickly from insight to action</a:t>
            </a:r>
          </a:p>
        </p:txBody>
      </p:sp>
      <p:sp>
        <p:nvSpPr>
          <p:cNvPr id="16" name="Rounded Rectangle 15"/>
          <p:cNvSpPr/>
          <p:nvPr/>
        </p:nvSpPr>
        <p:spPr>
          <a:xfrm>
            <a:off x="548640" y="4645152"/>
            <a:ext cx="11091672" cy="914400"/>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85800" y="4645152"/>
            <a:ext cx="2743200" cy="914400"/>
          </a:xfrm>
          <a:prstGeom prst="rect">
            <a:avLst/>
          </a:prstGeom>
          <a:noFill/>
        </p:spPr>
        <p:txBody>
          <a:bodyPr wrap="square" lIns="45720" tIns="27432" rIns="45720" bIns="27432" anchor="ctr">
            <a:noAutofit/>
          </a:bodyPr>
          <a:lstStyle/>
          <a:p>
            <a:pPr algn="l"/>
            <a:r>
              <a:rPr sz="2400" b="0" i="0">
                <a:solidFill>
                  <a:srgbClr val="CDAB49"/>
                </a:solidFill>
                <a:latin typeface="Calibri"/>
              </a:rPr>
              <a:t>Collaboration culture</a:t>
            </a:r>
          </a:p>
        </p:txBody>
      </p:sp>
      <p:sp>
        <p:nvSpPr>
          <p:cNvPr id="18" name="TextBox 17"/>
          <p:cNvSpPr txBox="1"/>
          <p:nvPr/>
        </p:nvSpPr>
        <p:spPr>
          <a:xfrm>
            <a:off x="3520440" y="4645152"/>
            <a:ext cx="8046720" cy="914400"/>
          </a:xfrm>
          <a:prstGeom prst="rect">
            <a:avLst/>
          </a:prstGeom>
          <a:noFill/>
        </p:spPr>
        <p:txBody>
          <a:bodyPr wrap="square" lIns="45720" tIns="27432" rIns="45720" bIns="27432" anchor="ctr">
            <a:noAutofit/>
          </a:bodyPr>
          <a:lstStyle/>
          <a:p>
            <a:pPr algn="l"/>
            <a:r>
              <a:rPr sz="2400" b="1" i="0">
                <a:solidFill>
                  <a:srgbClr val="E7E5D6"/>
                </a:solidFill>
                <a:latin typeface="Calibri"/>
              </a:rPr>
              <a:t>3: </a:t>
            </a:r>
            <a:r>
              <a:rPr sz="2400" b="0" i="0">
                <a:solidFill>
                  <a:srgbClr val="E7E5D6"/>
                </a:solidFill>
                <a:latin typeface="Calibri"/>
              </a:rPr>
              <a:t>Create a culture of shared ownership across functions for strategic priorities</a:t>
            </a:r>
          </a:p>
        </p:txBody>
      </p:sp>
      <p:sp>
        <p:nvSpPr>
          <p:cNvPr id="19" name="Rounded Rectangle 18"/>
          <p:cNvSpPr/>
          <p:nvPr/>
        </p:nvSpPr>
        <p:spPr>
          <a:xfrm>
            <a:off x="548640" y="5632704"/>
            <a:ext cx="11091672" cy="914400"/>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5632704"/>
            <a:ext cx="2743200" cy="914400"/>
          </a:xfrm>
          <a:prstGeom prst="rect">
            <a:avLst/>
          </a:prstGeom>
          <a:noFill/>
        </p:spPr>
        <p:txBody>
          <a:bodyPr wrap="square" lIns="45720" tIns="27432" rIns="45720" bIns="27432" anchor="ctr">
            <a:noAutofit/>
          </a:bodyPr>
          <a:lstStyle/>
          <a:p>
            <a:pPr algn="l"/>
            <a:r>
              <a:rPr sz="2400" b="0" i="0">
                <a:solidFill>
                  <a:srgbClr val="CDAB49"/>
                </a:solidFill>
                <a:latin typeface="Calibri"/>
              </a:rPr>
              <a:t>Value creation</a:t>
            </a:r>
          </a:p>
        </p:txBody>
      </p:sp>
      <p:sp>
        <p:nvSpPr>
          <p:cNvPr id="21" name="TextBox 20"/>
          <p:cNvSpPr txBox="1"/>
          <p:nvPr/>
        </p:nvSpPr>
        <p:spPr>
          <a:xfrm>
            <a:off x="3520440" y="5632704"/>
            <a:ext cx="8046720" cy="914400"/>
          </a:xfrm>
          <a:prstGeom prst="rect">
            <a:avLst/>
          </a:prstGeom>
          <a:noFill/>
        </p:spPr>
        <p:txBody>
          <a:bodyPr wrap="square" lIns="45720" tIns="27432" rIns="45720" bIns="27432" anchor="ctr">
            <a:noAutofit/>
          </a:bodyPr>
          <a:lstStyle/>
          <a:p>
            <a:pPr algn="l"/>
            <a:r>
              <a:rPr sz="2400" b="1" i="0">
                <a:solidFill>
                  <a:srgbClr val="E7E5D6"/>
                </a:solidFill>
                <a:latin typeface="Calibri"/>
              </a:rPr>
              <a:t>4: </a:t>
            </a:r>
            <a:r>
              <a:rPr sz="2400" b="0" i="0">
                <a:solidFill>
                  <a:srgbClr val="E7E5D6"/>
                </a:solidFill>
                <a:latin typeface="Calibri"/>
              </a:rPr>
              <a:t>Strengthen enterprise performance through scalable and efficient operations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B2C1F"/>
        </a:solidFill>
        <a:effectLst/>
      </p:bgPr>
    </p:bg>
    <p:spTree>
      <p:nvGrpSpPr>
        <p:cNvPr id="1" name=""/>
        <p:cNvGrpSpPr/>
        <p:nvPr/>
      </p:nvGrpSpPr>
      <p:grpSpPr>
        <a:xfrm>
          <a:off x="0" y="0"/>
          <a:ext cx="0" cy="0"/>
          <a:chOff x="0" y="0"/>
          <a:chExt cx="0" cy="0"/>
        </a:xfrm>
      </p:grpSpPr>
      <p:sp>
        <p:nvSpPr>
          <p:cNvPr id="2" name="TextBox 1"/>
          <p:cNvSpPr txBox="1"/>
          <p:nvPr/>
        </p:nvSpPr>
        <p:spPr>
          <a:xfrm>
            <a:off x="274320" y="109728"/>
            <a:ext cx="11612880" cy="502920"/>
          </a:xfrm>
          <a:prstGeom prst="rect">
            <a:avLst/>
          </a:prstGeom>
          <a:noFill/>
        </p:spPr>
        <p:txBody>
          <a:bodyPr wrap="square" lIns="45720" tIns="27432" rIns="45720" bIns="27432" anchor="t">
            <a:noAutofit/>
          </a:bodyPr>
          <a:lstStyle/>
          <a:p>
            <a:pPr algn="l"/>
            <a:r>
              <a:rPr sz="2400" b="1" i="0">
                <a:solidFill>
                  <a:srgbClr val="CDAB49"/>
                </a:solidFill>
                <a:latin typeface="Calibri"/>
              </a:rPr>
              <a:t>FROM KISS TO OKRs: THE FIVE STEPS</a:t>
            </a:r>
          </a:p>
        </p:txBody>
      </p:sp>
      <p:sp>
        <p:nvSpPr>
          <p:cNvPr id="3" name="Rounded Rectangle 2"/>
          <p:cNvSpPr/>
          <p:nvPr/>
        </p:nvSpPr>
        <p:spPr>
          <a:xfrm>
            <a:off x="274320"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1</a:t>
            </a:r>
          </a:p>
          <a:p>
            <a:pPr algn="ctr">
              <a:lnSpc>
                <a:spcPct val="95000"/>
              </a:lnSpc>
            </a:pPr>
            <a:r>
              <a:rPr sz="2400" b="0" i="0">
                <a:solidFill>
                  <a:srgbClr val="B2B4A7"/>
                </a:solidFill>
                <a:latin typeface="Cambria"/>
              </a:rPr>
              <a:t>Find Themes</a:t>
            </a:r>
          </a:p>
        </p:txBody>
      </p:sp>
      <p:sp>
        <p:nvSpPr>
          <p:cNvPr id="4" name="Rounded Rectangle 3"/>
          <p:cNvSpPr/>
          <p:nvPr/>
        </p:nvSpPr>
        <p:spPr>
          <a:xfrm>
            <a:off x="2633472"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2</a:t>
            </a:r>
          </a:p>
          <a:p>
            <a:pPr algn="ctr">
              <a:lnSpc>
                <a:spcPct val="95000"/>
              </a:lnSpc>
            </a:pPr>
            <a:r>
              <a:rPr sz="2400" b="0" i="0">
                <a:solidFill>
                  <a:srgbClr val="B2B4A7"/>
                </a:solidFill>
                <a:latin typeface="Cambria"/>
              </a:rPr>
              <a:t>Inspiring Objectives</a:t>
            </a:r>
          </a:p>
        </p:txBody>
      </p:sp>
      <p:sp>
        <p:nvSpPr>
          <p:cNvPr id="5" name="Rounded Rectangle 4"/>
          <p:cNvSpPr/>
          <p:nvPr/>
        </p:nvSpPr>
        <p:spPr>
          <a:xfrm>
            <a:off x="4992624" y="658368"/>
            <a:ext cx="2286000" cy="1207008"/>
          </a:xfrm>
          <a:prstGeom prst="roundRect">
            <a:avLst>
              <a:gd name="adj" fmla="val 8000"/>
            </a:avLst>
          </a:prstGeom>
          <a:solidFill>
            <a:srgbClr val="1D2D20"/>
          </a:solidFill>
          <a:ln w="19050">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3</a:t>
            </a:r>
          </a:p>
          <a:p>
            <a:pPr algn="ctr">
              <a:lnSpc>
                <a:spcPct val="95000"/>
              </a:lnSpc>
            </a:pPr>
            <a:r>
              <a:rPr sz="2400" b="0" i="0">
                <a:solidFill>
                  <a:srgbClr val="E7E5D6"/>
                </a:solidFill>
                <a:latin typeface="Cambria"/>
              </a:rPr>
              <a:t>DEFINE KEY RESULTS</a:t>
            </a:r>
          </a:p>
        </p:txBody>
      </p:sp>
      <p:sp>
        <p:nvSpPr>
          <p:cNvPr id="6" name="Rounded Rectangle 5"/>
          <p:cNvSpPr/>
          <p:nvPr/>
        </p:nvSpPr>
        <p:spPr>
          <a:xfrm>
            <a:off x="7351776"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4</a:t>
            </a:r>
          </a:p>
          <a:p>
            <a:pPr algn="ctr">
              <a:lnSpc>
                <a:spcPct val="95000"/>
              </a:lnSpc>
            </a:pPr>
            <a:r>
              <a:rPr sz="2400" b="0" i="0">
                <a:solidFill>
                  <a:srgbClr val="B2B4A7"/>
                </a:solidFill>
                <a:latin typeface="Cambria"/>
              </a:rPr>
              <a:t>Alignment Test</a:t>
            </a:r>
          </a:p>
        </p:txBody>
      </p:sp>
      <p:sp>
        <p:nvSpPr>
          <p:cNvPr id="7" name="Rounded Rectangle 6"/>
          <p:cNvSpPr/>
          <p:nvPr/>
        </p:nvSpPr>
        <p:spPr>
          <a:xfrm>
            <a:off x="9710928"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5</a:t>
            </a:r>
          </a:p>
          <a:p>
            <a:pPr algn="ctr">
              <a:lnSpc>
                <a:spcPct val="95000"/>
              </a:lnSpc>
            </a:pPr>
            <a:r>
              <a:rPr sz="2400" b="0" i="0">
                <a:solidFill>
                  <a:srgbClr val="B2B4A7"/>
                </a:solidFill>
                <a:latin typeface="Cambria"/>
              </a:rPr>
              <a:t>Priority Matrix</a:t>
            </a:r>
          </a:p>
        </p:txBody>
      </p:sp>
      <p:sp>
        <p:nvSpPr>
          <p:cNvPr id="8" name="Rounded Rectangle 7"/>
          <p:cNvSpPr/>
          <p:nvPr/>
        </p:nvSpPr>
        <p:spPr>
          <a:xfrm>
            <a:off x="274320" y="1956816"/>
            <a:ext cx="11640312" cy="4754880"/>
          </a:xfrm>
          <a:prstGeom prst="roundRect">
            <a:avLst>
              <a:gd name="adj" fmla="val 4000"/>
            </a:avLst>
          </a:prstGeom>
          <a:solidFill>
            <a:srgbClr val="FFFFFF"/>
          </a:solidFill>
          <a:ln w="9525">
            <a:solidFill>
              <a:srgbClr val="3042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048256"/>
            <a:ext cx="11155680" cy="777240"/>
          </a:xfrm>
          <a:prstGeom prst="rect">
            <a:avLst/>
          </a:prstGeom>
          <a:noFill/>
        </p:spPr>
        <p:txBody>
          <a:bodyPr wrap="square" lIns="45720" tIns="27432" rIns="45720" bIns="27432" anchor="t">
            <a:noAutofit/>
          </a:bodyPr>
          <a:lstStyle/>
          <a:p>
            <a:pPr algn="l"/>
            <a:r>
              <a:rPr sz="2400" b="0" i="0">
                <a:solidFill>
                  <a:srgbClr val="1F2A22"/>
                </a:solidFill>
                <a:latin typeface="Calibri"/>
              </a:rPr>
              <a:t>Define measurable Key Results using: Verb + Metric + From X to Y + Deadline.</a:t>
            </a:r>
          </a:p>
        </p:txBody>
      </p:sp>
      <p:sp>
        <p:nvSpPr>
          <p:cNvPr id="10" name="Rounded Rectangle 9"/>
          <p:cNvSpPr/>
          <p:nvPr/>
        </p:nvSpPr>
        <p:spPr>
          <a:xfrm>
            <a:off x="548640" y="2816352"/>
            <a:ext cx="11091672" cy="3017520"/>
          </a:xfrm>
          <a:prstGeom prst="roundRect">
            <a:avLst>
              <a:gd name="adj" fmla="val 6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2862072"/>
            <a:ext cx="10698480" cy="1097280"/>
          </a:xfrm>
          <a:prstGeom prst="rect">
            <a:avLst/>
          </a:prstGeom>
          <a:noFill/>
        </p:spPr>
        <p:txBody>
          <a:bodyPr wrap="square" lIns="45720" tIns="27432" rIns="45720" bIns="27432" anchor="t">
            <a:noAutofit/>
          </a:bodyPr>
          <a:lstStyle/>
          <a:p>
            <a:pPr algn="l"/>
            <a:r>
              <a:rPr sz="2400" b="1" i="0">
                <a:solidFill>
                  <a:srgbClr val="CDAB49"/>
                </a:solidFill>
                <a:latin typeface="Calibri"/>
              </a:rPr>
              <a:t>OBJECTIVE 1</a:t>
            </a:r>
          </a:p>
          <a:p>
            <a:pPr algn="l"/>
            <a:r>
              <a:rPr sz="2400" b="0" i="0">
                <a:solidFill>
                  <a:srgbClr val="E7E5D6"/>
                </a:solidFill>
                <a:latin typeface="Cambria"/>
              </a:rPr>
              <a:t>Deliver consistently fast and effortless service experiences for customers</a:t>
            </a:r>
          </a:p>
        </p:txBody>
      </p:sp>
      <p:sp>
        <p:nvSpPr>
          <p:cNvPr id="12" name="Rounded Rectangle 11"/>
          <p:cNvSpPr/>
          <p:nvPr/>
        </p:nvSpPr>
        <p:spPr>
          <a:xfrm>
            <a:off x="731520" y="4005072"/>
            <a:ext cx="10744200" cy="822960"/>
          </a:xfrm>
          <a:prstGeom prst="roundRect">
            <a:avLst>
              <a:gd name="adj" fmla="val 12000"/>
            </a:avLst>
          </a:prstGeom>
          <a:solidFill>
            <a:srgbClr val="1F2F23"/>
          </a:solidFill>
          <a:ln w="9525">
            <a:solidFill>
              <a:srgbClr val="3346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4005072"/>
            <a:ext cx="914400" cy="822960"/>
          </a:xfrm>
          <a:prstGeom prst="rect">
            <a:avLst/>
          </a:prstGeom>
          <a:noFill/>
        </p:spPr>
        <p:txBody>
          <a:bodyPr wrap="square" lIns="45720" tIns="27432" rIns="45720" bIns="27432" anchor="ctr">
            <a:noAutofit/>
          </a:bodyPr>
          <a:lstStyle/>
          <a:p>
            <a:pPr algn="l"/>
            <a:r>
              <a:rPr sz="2400" b="1" i="0">
                <a:solidFill>
                  <a:srgbClr val="CDAB49"/>
                </a:solidFill>
                <a:latin typeface="Calibri"/>
              </a:rPr>
              <a:t>KR 1</a:t>
            </a:r>
          </a:p>
        </p:txBody>
      </p:sp>
      <p:sp>
        <p:nvSpPr>
          <p:cNvPr id="14" name="TextBox 13"/>
          <p:cNvSpPr txBox="1"/>
          <p:nvPr/>
        </p:nvSpPr>
        <p:spPr>
          <a:xfrm>
            <a:off x="1828800" y="4005072"/>
            <a:ext cx="9555480" cy="822960"/>
          </a:xfrm>
          <a:prstGeom prst="rect">
            <a:avLst/>
          </a:prstGeom>
          <a:noFill/>
        </p:spPr>
        <p:txBody>
          <a:bodyPr wrap="square" lIns="45720" tIns="27432" rIns="45720" bIns="27432" anchor="ctr">
            <a:noAutofit/>
          </a:bodyPr>
          <a:lstStyle/>
          <a:p>
            <a:pPr algn="l"/>
            <a:r>
              <a:rPr sz="2400" b="0" i="0">
                <a:solidFill>
                  <a:srgbClr val="E7E5D6"/>
                </a:solidFill>
                <a:latin typeface="Calibri"/>
              </a:rPr>
              <a:t>Reduce average response time to customer requests from 12 hours to 4 hours by 30 June 2027</a:t>
            </a:r>
          </a:p>
        </p:txBody>
      </p:sp>
      <p:sp>
        <p:nvSpPr>
          <p:cNvPr id="15" name="Rounded Rectangle 14"/>
          <p:cNvSpPr/>
          <p:nvPr/>
        </p:nvSpPr>
        <p:spPr>
          <a:xfrm>
            <a:off x="731520" y="4901183"/>
            <a:ext cx="10744200" cy="822960"/>
          </a:xfrm>
          <a:prstGeom prst="roundRect">
            <a:avLst>
              <a:gd name="adj" fmla="val 12000"/>
            </a:avLst>
          </a:prstGeom>
          <a:solidFill>
            <a:srgbClr val="1F2F23"/>
          </a:solidFill>
          <a:ln w="9525">
            <a:solidFill>
              <a:srgbClr val="3346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8680" y="4901183"/>
            <a:ext cx="914400" cy="822960"/>
          </a:xfrm>
          <a:prstGeom prst="rect">
            <a:avLst/>
          </a:prstGeom>
          <a:noFill/>
        </p:spPr>
        <p:txBody>
          <a:bodyPr wrap="square" lIns="45720" tIns="27432" rIns="45720" bIns="27432" anchor="ctr">
            <a:noAutofit/>
          </a:bodyPr>
          <a:lstStyle/>
          <a:p>
            <a:pPr algn="l"/>
            <a:r>
              <a:rPr sz="2400" b="1" i="0">
                <a:solidFill>
                  <a:srgbClr val="CDAB49"/>
                </a:solidFill>
                <a:latin typeface="Calibri"/>
              </a:rPr>
              <a:t>KR 2</a:t>
            </a:r>
          </a:p>
        </p:txBody>
      </p:sp>
      <p:sp>
        <p:nvSpPr>
          <p:cNvPr id="17" name="TextBox 16"/>
          <p:cNvSpPr txBox="1"/>
          <p:nvPr/>
        </p:nvSpPr>
        <p:spPr>
          <a:xfrm>
            <a:off x="1828800" y="4901183"/>
            <a:ext cx="9555480" cy="822960"/>
          </a:xfrm>
          <a:prstGeom prst="rect">
            <a:avLst/>
          </a:prstGeom>
          <a:noFill/>
        </p:spPr>
        <p:txBody>
          <a:bodyPr wrap="square" lIns="45720" tIns="27432" rIns="45720" bIns="27432" anchor="ctr">
            <a:noAutofit/>
          </a:bodyPr>
          <a:lstStyle/>
          <a:p>
            <a:pPr algn="l"/>
            <a:r>
              <a:rPr sz="2400" b="0" i="0">
                <a:solidFill>
                  <a:srgbClr val="E7E5D6"/>
                </a:solidFill>
                <a:latin typeface="Calibri"/>
              </a:rPr>
              <a:t>Increase customer requests resolved at first contact from 60% to 85% by 30 September 2027</a:t>
            </a:r>
          </a:p>
        </p:txBody>
      </p:sp>
      <p:sp>
        <p:nvSpPr>
          <p:cNvPr id="18" name="TextBox 17"/>
          <p:cNvSpPr txBox="1"/>
          <p:nvPr/>
        </p:nvSpPr>
        <p:spPr>
          <a:xfrm>
            <a:off x="685800" y="5897880"/>
            <a:ext cx="11064240" cy="777240"/>
          </a:xfrm>
          <a:prstGeom prst="rect">
            <a:avLst/>
          </a:prstGeom>
          <a:noFill/>
        </p:spPr>
        <p:txBody>
          <a:bodyPr wrap="square" lIns="45720" tIns="27432" rIns="45720" bIns="27432" anchor="t">
            <a:noAutofit/>
          </a:bodyPr>
          <a:lstStyle/>
          <a:p>
            <a:pPr algn="l"/>
            <a:r>
              <a:rPr sz="2400" b="1" i="0">
                <a:solidFill>
                  <a:srgbClr val="1F2A22"/>
                </a:solidFill>
                <a:latin typeface="Calibri"/>
              </a:rPr>
              <a:t>Contributing roles: </a:t>
            </a:r>
            <a:r>
              <a:rPr sz="2400" b="0" i="0">
                <a:solidFill>
                  <a:srgbClr val="1F2A22"/>
                </a:solidFill>
                <a:latin typeface="Calibri"/>
              </a:rPr>
              <a:t>Commercial · Operations · Customer Service · Technology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2C1F"/>
        </a:solidFill>
        <a:effectLst/>
      </p:bgPr>
    </p:bg>
    <p:spTree>
      <p:nvGrpSpPr>
        <p:cNvPr id="1" name=""/>
        <p:cNvGrpSpPr/>
        <p:nvPr/>
      </p:nvGrpSpPr>
      <p:grpSpPr>
        <a:xfrm>
          <a:off x="0" y="0"/>
          <a:ext cx="0" cy="0"/>
          <a:chOff x="0" y="0"/>
          <a:chExt cx="0" cy="0"/>
        </a:xfrm>
      </p:grpSpPr>
      <p:sp>
        <p:nvSpPr>
          <p:cNvPr id="2" name="TextBox 1"/>
          <p:cNvSpPr txBox="1"/>
          <p:nvPr/>
        </p:nvSpPr>
        <p:spPr>
          <a:xfrm>
            <a:off x="274320" y="109728"/>
            <a:ext cx="11612880" cy="502920"/>
          </a:xfrm>
          <a:prstGeom prst="rect">
            <a:avLst/>
          </a:prstGeom>
          <a:noFill/>
        </p:spPr>
        <p:txBody>
          <a:bodyPr wrap="square" lIns="45720" tIns="27432" rIns="45720" bIns="27432" anchor="t">
            <a:noAutofit/>
          </a:bodyPr>
          <a:lstStyle/>
          <a:p>
            <a:pPr algn="l"/>
            <a:r>
              <a:rPr sz="2400" b="1" i="0">
                <a:solidFill>
                  <a:srgbClr val="CDAB49"/>
                </a:solidFill>
                <a:latin typeface="Calibri"/>
              </a:rPr>
              <a:t>FROM KISS TO OKRs: THE FIVE STEPS</a:t>
            </a:r>
          </a:p>
        </p:txBody>
      </p:sp>
      <p:sp>
        <p:nvSpPr>
          <p:cNvPr id="3" name="Rounded Rectangle 2"/>
          <p:cNvSpPr/>
          <p:nvPr/>
        </p:nvSpPr>
        <p:spPr>
          <a:xfrm>
            <a:off x="274320"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1</a:t>
            </a:r>
          </a:p>
          <a:p>
            <a:pPr algn="ctr">
              <a:lnSpc>
                <a:spcPct val="95000"/>
              </a:lnSpc>
            </a:pPr>
            <a:r>
              <a:rPr sz="2400" b="0" i="0">
                <a:solidFill>
                  <a:srgbClr val="B2B4A7"/>
                </a:solidFill>
                <a:latin typeface="Cambria"/>
              </a:rPr>
              <a:t>Find Themes</a:t>
            </a:r>
          </a:p>
        </p:txBody>
      </p:sp>
      <p:sp>
        <p:nvSpPr>
          <p:cNvPr id="4" name="Rounded Rectangle 3"/>
          <p:cNvSpPr/>
          <p:nvPr/>
        </p:nvSpPr>
        <p:spPr>
          <a:xfrm>
            <a:off x="2633472"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2</a:t>
            </a:r>
          </a:p>
          <a:p>
            <a:pPr algn="ctr">
              <a:lnSpc>
                <a:spcPct val="95000"/>
              </a:lnSpc>
            </a:pPr>
            <a:r>
              <a:rPr sz="2400" b="0" i="0">
                <a:solidFill>
                  <a:srgbClr val="B2B4A7"/>
                </a:solidFill>
                <a:latin typeface="Cambria"/>
              </a:rPr>
              <a:t>Inspiring Objectives</a:t>
            </a:r>
          </a:p>
        </p:txBody>
      </p:sp>
      <p:sp>
        <p:nvSpPr>
          <p:cNvPr id="5" name="Rounded Rectangle 4"/>
          <p:cNvSpPr/>
          <p:nvPr/>
        </p:nvSpPr>
        <p:spPr>
          <a:xfrm>
            <a:off x="4992624"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3</a:t>
            </a:r>
          </a:p>
          <a:p>
            <a:pPr algn="ctr">
              <a:lnSpc>
                <a:spcPct val="95000"/>
              </a:lnSpc>
            </a:pPr>
            <a:r>
              <a:rPr sz="2400" b="0" i="0">
                <a:solidFill>
                  <a:srgbClr val="B2B4A7"/>
                </a:solidFill>
                <a:latin typeface="Cambria"/>
              </a:rPr>
              <a:t>Define Key Results</a:t>
            </a:r>
          </a:p>
        </p:txBody>
      </p:sp>
      <p:sp>
        <p:nvSpPr>
          <p:cNvPr id="6" name="Rounded Rectangle 5"/>
          <p:cNvSpPr/>
          <p:nvPr/>
        </p:nvSpPr>
        <p:spPr>
          <a:xfrm>
            <a:off x="7351776" y="658368"/>
            <a:ext cx="2286000" cy="1207008"/>
          </a:xfrm>
          <a:prstGeom prst="roundRect">
            <a:avLst>
              <a:gd name="adj" fmla="val 8000"/>
            </a:avLst>
          </a:prstGeom>
          <a:solidFill>
            <a:srgbClr val="1D2D20"/>
          </a:solidFill>
          <a:ln w="19050">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4</a:t>
            </a:r>
          </a:p>
          <a:p>
            <a:pPr algn="ctr">
              <a:lnSpc>
                <a:spcPct val="95000"/>
              </a:lnSpc>
            </a:pPr>
            <a:r>
              <a:rPr sz="2400" b="0" i="0">
                <a:solidFill>
                  <a:srgbClr val="E7E5D6"/>
                </a:solidFill>
                <a:latin typeface="Cambria"/>
              </a:rPr>
              <a:t>ALIGNMENT TEST</a:t>
            </a:r>
          </a:p>
        </p:txBody>
      </p:sp>
      <p:sp>
        <p:nvSpPr>
          <p:cNvPr id="7" name="Rounded Rectangle 6"/>
          <p:cNvSpPr/>
          <p:nvPr/>
        </p:nvSpPr>
        <p:spPr>
          <a:xfrm>
            <a:off x="9710928"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5</a:t>
            </a:r>
          </a:p>
          <a:p>
            <a:pPr algn="ctr">
              <a:lnSpc>
                <a:spcPct val="95000"/>
              </a:lnSpc>
            </a:pPr>
            <a:r>
              <a:rPr sz="2400" b="0" i="0">
                <a:solidFill>
                  <a:srgbClr val="B2B4A7"/>
                </a:solidFill>
                <a:latin typeface="Cambria"/>
              </a:rPr>
              <a:t>Priority Matrix</a:t>
            </a:r>
          </a:p>
        </p:txBody>
      </p:sp>
      <p:sp>
        <p:nvSpPr>
          <p:cNvPr id="8" name="Rounded Rectangle 7"/>
          <p:cNvSpPr/>
          <p:nvPr/>
        </p:nvSpPr>
        <p:spPr>
          <a:xfrm>
            <a:off x="274320" y="1956816"/>
            <a:ext cx="11640312" cy="4754880"/>
          </a:xfrm>
          <a:prstGeom prst="roundRect">
            <a:avLst>
              <a:gd name="adj" fmla="val 4000"/>
            </a:avLst>
          </a:prstGeom>
          <a:solidFill>
            <a:srgbClr val="FFFFFF"/>
          </a:solidFill>
          <a:ln w="9525">
            <a:solidFill>
              <a:srgbClr val="3042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048256"/>
            <a:ext cx="11155680" cy="777240"/>
          </a:xfrm>
          <a:prstGeom prst="rect">
            <a:avLst/>
          </a:prstGeom>
          <a:noFill/>
        </p:spPr>
        <p:txBody>
          <a:bodyPr wrap="square" lIns="45720" tIns="27432" rIns="45720" bIns="27432" anchor="t">
            <a:noAutofit/>
          </a:bodyPr>
          <a:lstStyle/>
          <a:p>
            <a:pPr algn="l"/>
            <a:r>
              <a:rPr sz="2400" b="0" i="0">
                <a:solidFill>
                  <a:srgbClr val="1F2A22"/>
                </a:solidFill>
                <a:latin typeface="Calibri"/>
              </a:rPr>
              <a:t>Test each OKR before it goes forward. Objective 1 is shown below.</a:t>
            </a:r>
          </a:p>
        </p:txBody>
      </p:sp>
      <p:sp>
        <p:nvSpPr>
          <p:cNvPr id="10" name="Rounded Rectangle 9"/>
          <p:cNvSpPr/>
          <p:nvPr/>
        </p:nvSpPr>
        <p:spPr>
          <a:xfrm>
            <a:off x="548640" y="2880360"/>
            <a:ext cx="11091672" cy="877824"/>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2880360"/>
            <a:ext cx="2468880" cy="877824"/>
          </a:xfrm>
          <a:prstGeom prst="rect">
            <a:avLst/>
          </a:prstGeom>
          <a:noFill/>
        </p:spPr>
        <p:txBody>
          <a:bodyPr wrap="square" lIns="45720" tIns="27432" rIns="45720" bIns="27432" anchor="ctr">
            <a:noAutofit/>
          </a:bodyPr>
          <a:lstStyle/>
          <a:p>
            <a:pPr algn="l"/>
            <a:r>
              <a:rPr sz="2400" b="1" i="0">
                <a:solidFill>
                  <a:srgbClr val="CDAB49"/>
                </a:solidFill>
                <a:latin typeface="Calibri"/>
              </a:rPr>
              <a:t>SiP Alignment</a:t>
            </a:r>
          </a:p>
        </p:txBody>
      </p:sp>
      <p:sp>
        <p:nvSpPr>
          <p:cNvPr id="12" name="TextBox 11"/>
          <p:cNvSpPr txBox="1"/>
          <p:nvPr/>
        </p:nvSpPr>
        <p:spPr>
          <a:xfrm>
            <a:off x="3200400" y="2880360"/>
            <a:ext cx="7406640" cy="877824"/>
          </a:xfrm>
          <a:prstGeom prst="rect">
            <a:avLst/>
          </a:prstGeom>
          <a:noFill/>
        </p:spPr>
        <p:txBody>
          <a:bodyPr wrap="square" lIns="45720" tIns="27432" rIns="45720" bIns="27432" anchor="ctr">
            <a:noAutofit/>
          </a:bodyPr>
          <a:lstStyle/>
          <a:p>
            <a:pPr algn="l"/>
            <a:r>
              <a:rPr sz="2400" b="0" i="0">
                <a:solidFill>
                  <a:srgbClr val="E7E5D6"/>
                </a:solidFill>
                <a:latin typeface="Calibri"/>
              </a:rPr>
              <a:t>Does this move us closer to the shared SiP vision?</a:t>
            </a:r>
          </a:p>
        </p:txBody>
      </p:sp>
      <p:sp>
        <p:nvSpPr>
          <p:cNvPr id="13" name="TextBox 12"/>
          <p:cNvSpPr txBox="1"/>
          <p:nvPr/>
        </p:nvSpPr>
        <p:spPr>
          <a:xfrm>
            <a:off x="10607040" y="2880360"/>
            <a:ext cx="960120" cy="877824"/>
          </a:xfrm>
          <a:prstGeom prst="rect">
            <a:avLst/>
          </a:prstGeom>
          <a:noFill/>
        </p:spPr>
        <p:txBody>
          <a:bodyPr wrap="square" lIns="45720" tIns="27432" rIns="45720" bIns="27432" anchor="ctr">
            <a:noAutofit/>
          </a:bodyPr>
          <a:lstStyle/>
          <a:p>
            <a:pPr algn="ctr"/>
            <a:r>
              <a:rPr sz="2400" b="1" i="0">
                <a:solidFill>
                  <a:srgbClr val="78D7A4"/>
                </a:solidFill>
                <a:latin typeface="Calibri"/>
              </a:rPr>
              <a:t>YES</a:t>
            </a:r>
          </a:p>
        </p:txBody>
      </p:sp>
      <p:sp>
        <p:nvSpPr>
          <p:cNvPr id="14" name="Rounded Rectangle 13"/>
          <p:cNvSpPr/>
          <p:nvPr/>
        </p:nvSpPr>
        <p:spPr>
          <a:xfrm>
            <a:off x="548640" y="3831335"/>
            <a:ext cx="11091672" cy="877824"/>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5800" y="3831335"/>
            <a:ext cx="2468880" cy="877824"/>
          </a:xfrm>
          <a:prstGeom prst="rect">
            <a:avLst/>
          </a:prstGeom>
          <a:noFill/>
        </p:spPr>
        <p:txBody>
          <a:bodyPr wrap="square" lIns="45720" tIns="27432" rIns="45720" bIns="27432" anchor="ctr">
            <a:noAutofit/>
          </a:bodyPr>
          <a:lstStyle/>
          <a:p>
            <a:pPr algn="l"/>
            <a:r>
              <a:rPr sz="2400" b="1" i="0">
                <a:solidFill>
                  <a:srgbClr val="CDAB49"/>
                </a:solidFill>
                <a:latin typeface="Calibri"/>
              </a:rPr>
              <a:t>Enterprise Value</a:t>
            </a:r>
          </a:p>
        </p:txBody>
      </p:sp>
      <p:sp>
        <p:nvSpPr>
          <p:cNvPr id="16" name="TextBox 15"/>
          <p:cNvSpPr txBox="1"/>
          <p:nvPr/>
        </p:nvSpPr>
        <p:spPr>
          <a:xfrm>
            <a:off x="3200400" y="3831335"/>
            <a:ext cx="7406640" cy="877824"/>
          </a:xfrm>
          <a:prstGeom prst="rect">
            <a:avLst/>
          </a:prstGeom>
          <a:noFill/>
        </p:spPr>
        <p:txBody>
          <a:bodyPr wrap="square" lIns="45720" tIns="27432" rIns="45720" bIns="27432" anchor="ctr">
            <a:noAutofit/>
          </a:bodyPr>
          <a:lstStyle/>
          <a:p>
            <a:pPr algn="l"/>
            <a:r>
              <a:rPr sz="2400" b="0" i="0">
                <a:solidFill>
                  <a:srgbClr val="E7E5D6"/>
                </a:solidFill>
                <a:latin typeface="Calibri"/>
              </a:rPr>
              <a:t>Would leaders see this as a win for the whole organisation?</a:t>
            </a:r>
          </a:p>
        </p:txBody>
      </p:sp>
      <p:sp>
        <p:nvSpPr>
          <p:cNvPr id="17" name="TextBox 16"/>
          <p:cNvSpPr txBox="1"/>
          <p:nvPr/>
        </p:nvSpPr>
        <p:spPr>
          <a:xfrm>
            <a:off x="10607040" y="3831335"/>
            <a:ext cx="960120" cy="877824"/>
          </a:xfrm>
          <a:prstGeom prst="rect">
            <a:avLst/>
          </a:prstGeom>
          <a:noFill/>
        </p:spPr>
        <p:txBody>
          <a:bodyPr wrap="square" lIns="45720" tIns="27432" rIns="45720" bIns="27432" anchor="ctr">
            <a:noAutofit/>
          </a:bodyPr>
          <a:lstStyle/>
          <a:p>
            <a:pPr algn="ctr"/>
            <a:r>
              <a:rPr sz="2400" b="1" i="0">
                <a:solidFill>
                  <a:srgbClr val="78D7A4"/>
                </a:solidFill>
                <a:latin typeface="Calibri"/>
              </a:rPr>
              <a:t>YES</a:t>
            </a:r>
          </a:p>
        </p:txBody>
      </p:sp>
      <p:sp>
        <p:nvSpPr>
          <p:cNvPr id="18" name="Rounded Rectangle 17"/>
          <p:cNvSpPr/>
          <p:nvPr/>
        </p:nvSpPr>
        <p:spPr>
          <a:xfrm>
            <a:off x="548640" y="4782312"/>
            <a:ext cx="11091672" cy="877824"/>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4782312"/>
            <a:ext cx="2468880" cy="877824"/>
          </a:xfrm>
          <a:prstGeom prst="rect">
            <a:avLst/>
          </a:prstGeom>
          <a:noFill/>
        </p:spPr>
        <p:txBody>
          <a:bodyPr wrap="square" lIns="45720" tIns="27432" rIns="45720" bIns="27432" anchor="ctr">
            <a:noAutofit/>
          </a:bodyPr>
          <a:lstStyle/>
          <a:p>
            <a:pPr algn="l"/>
            <a:r>
              <a:rPr sz="2400" b="1" i="0">
                <a:solidFill>
                  <a:srgbClr val="CDAB49"/>
                </a:solidFill>
                <a:latin typeface="Calibri"/>
              </a:rPr>
              <a:t>Visible Impact</a:t>
            </a:r>
          </a:p>
        </p:txBody>
      </p:sp>
      <p:sp>
        <p:nvSpPr>
          <p:cNvPr id="20" name="TextBox 19"/>
          <p:cNvSpPr txBox="1"/>
          <p:nvPr/>
        </p:nvSpPr>
        <p:spPr>
          <a:xfrm>
            <a:off x="3200400" y="4782312"/>
            <a:ext cx="7406640" cy="877824"/>
          </a:xfrm>
          <a:prstGeom prst="rect">
            <a:avLst/>
          </a:prstGeom>
          <a:noFill/>
        </p:spPr>
        <p:txBody>
          <a:bodyPr wrap="square" lIns="45720" tIns="27432" rIns="45720" bIns="27432" anchor="ctr">
            <a:noAutofit/>
          </a:bodyPr>
          <a:lstStyle/>
          <a:p>
            <a:pPr algn="l"/>
            <a:r>
              <a:rPr sz="2400" b="0" i="0">
                <a:solidFill>
                  <a:srgbClr val="E7E5D6"/>
                </a:solidFill>
                <a:latin typeface="Calibri"/>
              </a:rPr>
              <a:t>Does it improve customer, culture, operations or value creation?</a:t>
            </a:r>
          </a:p>
        </p:txBody>
      </p:sp>
      <p:sp>
        <p:nvSpPr>
          <p:cNvPr id="21" name="TextBox 20"/>
          <p:cNvSpPr txBox="1"/>
          <p:nvPr/>
        </p:nvSpPr>
        <p:spPr>
          <a:xfrm>
            <a:off x="10607040" y="4782312"/>
            <a:ext cx="960120" cy="877824"/>
          </a:xfrm>
          <a:prstGeom prst="rect">
            <a:avLst/>
          </a:prstGeom>
          <a:noFill/>
        </p:spPr>
        <p:txBody>
          <a:bodyPr wrap="square" lIns="45720" tIns="27432" rIns="45720" bIns="27432" anchor="ctr">
            <a:noAutofit/>
          </a:bodyPr>
          <a:lstStyle/>
          <a:p>
            <a:pPr algn="ctr"/>
            <a:r>
              <a:rPr sz="2400" b="1" i="0">
                <a:solidFill>
                  <a:srgbClr val="78D7A4"/>
                </a:solidFill>
                <a:latin typeface="Calibri"/>
              </a:rPr>
              <a:t>YES</a:t>
            </a:r>
          </a:p>
        </p:txBody>
      </p:sp>
      <p:sp>
        <p:nvSpPr>
          <p:cNvPr id="22" name="Rounded Rectangle 21"/>
          <p:cNvSpPr/>
          <p:nvPr/>
        </p:nvSpPr>
        <p:spPr>
          <a:xfrm>
            <a:off x="548640" y="5733288"/>
            <a:ext cx="11091672" cy="877824"/>
          </a:xfrm>
          <a:prstGeom prst="roundRect">
            <a:avLst>
              <a:gd name="adj" fmla="val 12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5800" y="5733288"/>
            <a:ext cx="2468880" cy="877824"/>
          </a:xfrm>
          <a:prstGeom prst="rect">
            <a:avLst/>
          </a:prstGeom>
          <a:noFill/>
        </p:spPr>
        <p:txBody>
          <a:bodyPr wrap="square" lIns="45720" tIns="27432" rIns="45720" bIns="27432" anchor="ctr">
            <a:noAutofit/>
          </a:bodyPr>
          <a:lstStyle/>
          <a:p>
            <a:pPr algn="l"/>
            <a:r>
              <a:rPr sz="2400" b="1" i="0">
                <a:solidFill>
                  <a:srgbClr val="CDAB49"/>
                </a:solidFill>
                <a:latin typeface="Calibri"/>
              </a:rPr>
              <a:t>Accountability</a:t>
            </a:r>
          </a:p>
        </p:txBody>
      </p:sp>
      <p:sp>
        <p:nvSpPr>
          <p:cNvPr id="24" name="TextBox 23"/>
          <p:cNvSpPr txBox="1"/>
          <p:nvPr/>
        </p:nvSpPr>
        <p:spPr>
          <a:xfrm>
            <a:off x="3200400" y="5733288"/>
            <a:ext cx="7406640" cy="877824"/>
          </a:xfrm>
          <a:prstGeom prst="rect">
            <a:avLst/>
          </a:prstGeom>
          <a:noFill/>
        </p:spPr>
        <p:txBody>
          <a:bodyPr wrap="square" lIns="45720" tIns="27432" rIns="45720" bIns="27432" anchor="ctr">
            <a:noAutofit/>
          </a:bodyPr>
          <a:lstStyle/>
          <a:p>
            <a:pPr algn="l"/>
            <a:r>
              <a:rPr sz="2400" b="0" i="0">
                <a:solidFill>
                  <a:srgbClr val="E7E5D6"/>
                </a:solidFill>
                <a:latin typeface="Calibri"/>
              </a:rPr>
              <a:t>Is there clear ownership for delivering the outcome?</a:t>
            </a:r>
          </a:p>
        </p:txBody>
      </p:sp>
      <p:sp>
        <p:nvSpPr>
          <p:cNvPr id="25" name="TextBox 24"/>
          <p:cNvSpPr txBox="1"/>
          <p:nvPr/>
        </p:nvSpPr>
        <p:spPr>
          <a:xfrm>
            <a:off x="10607040" y="5733288"/>
            <a:ext cx="960120" cy="877824"/>
          </a:xfrm>
          <a:prstGeom prst="rect">
            <a:avLst/>
          </a:prstGeom>
          <a:noFill/>
        </p:spPr>
        <p:txBody>
          <a:bodyPr wrap="square" lIns="45720" tIns="27432" rIns="45720" bIns="27432" anchor="ctr">
            <a:noAutofit/>
          </a:bodyPr>
          <a:lstStyle/>
          <a:p>
            <a:pPr algn="ctr"/>
            <a:r>
              <a:rPr sz="2400" b="1" i="0">
                <a:solidFill>
                  <a:srgbClr val="78D7A4"/>
                </a:solidFill>
                <a:latin typeface="Calibri"/>
              </a:rPr>
              <a:t>YES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2C1F"/>
        </a:solidFill>
        <a:effectLst/>
      </p:bgPr>
    </p:bg>
    <p:spTree>
      <p:nvGrpSpPr>
        <p:cNvPr id="1" name=""/>
        <p:cNvGrpSpPr/>
        <p:nvPr/>
      </p:nvGrpSpPr>
      <p:grpSpPr>
        <a:xfrm>
          <a:off x="0" y="0"/>
          <a:ext cx="0" cy="0"/>
          <a:chOff x="0" y="0"/>
          <a:chExt cx="0" cy="0"/>
        </a:xfrm>
      </p:grpSpPr>
      <p:sp>
        <p:nvSpPr>
          <p:cNvPr id="2" name="TextBox 1"/>
          <p:cNvSpPr txBox="1"/>
          <p:nvPr/>
        </p:nvSpPr>
        <p:spPr>
          <a:xfrm>
            <a:off x="274320" y="109728"/>
            <a:ext cx="11612880" cy="502920"/>
          </a:xfrm>
          <a:prstGeom prst="rect">
            <a:avLst/>
          </a:prstGeom>
          <a:noFill/>
        </p:spPr>
        <p:txBody>
          <a:bodyPr wrap="square" lIns="45720" tIns="27432" rIns="45720" bIns="27432" anchor="t">
            <a:noAutofit/>
          </a:bodyPr>
          <a:lstStyle/>
          <a:p>
            <a:pPr algn="l"/>
            <a:r>
              <a:rPr sz="2400" b="1" i="0">
                <a:solidFill>
                  <a:srgbClr val="CDAB49"/>
                </a:solidFill>
                <a:latin typeface="Calibri"/>
              </a:rPr>
              <a:t>FROM KISS TO OKRs: THE FIVE STEPS</a:t>
            </a:r>
          </a:p>
        </p:txBody>
      </p:sp>
      <p:sp>
        <p:nvSpPr>
          <p:cNvPr id="3" name="Rounded Rectangle 2"/>
          <p:cNvSpPr/>
          <p:nvPr/>
        </p:nvSpPr>
        <p:spPr>
          <a:xfrm>
            <a:off x="274320"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1</a:t>
            </a:r>
          </a:p>
          <a:p>
            <a:pPr algn="ctr">
              <a:lnSpc>
                <a:spcPct val="95000"/>
              </a:lnSpc>
            </a:pPr>
            <a:r>
              <a:rPr sz="2400" b="0" i="0">
                <a:solidFill>
                  <a:srgbClr val="B2B4A7"/>
                </a:solidFill>
                <a:latin typeface="Cambria"/>
              </a:rPr>
              <a:t>Find Themes</a:t>
            </a:r>
          </a:p>
        </p:txBody>
      </p:sp>
      <p:sp>
        <p:nvSpPr>
          <p:cNvPr id="4" name="Rounded Rectangle 3"/>
          <p:cNvSpPr/>
          <p:nvPr/>
        </p:nvSpPr>
        <p:spPr>
          <a:xfrm>
            <a:off x="2633472"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2</a:t>
            </a:r>
          </a:p>
          <a:p>
            <a:pPr algn="ctr">
              <a:lnSpc>
                <a:spcPct val="95000"/>
              </a:lnSpc>
            </a:pPr>
            <a:r>
              <a:rPr sz="2400" b="0" i="0">
                <a:solidFill>
                  <a:srgbClr val="B2B4A7"/>
                </a:solidFill>
                <a:latin typeface="Cambria"/>
              </a:rPr>
              <a:t>Inspiring Objectives</a:t>
            </a:r>
          </a:p>
        </p:txBody>
      </p:sp>
      <p:sp>
        <p:nvSpPr>
          <p:cNvPr id="5" name="Rounded Rectangle 4"/>
          <p:cNvSpPr/>
          <p:nvPr/>
        </p:nvSpPr>
        <p:spPr>
          <a:xfrm>
            <a:off x="4992624"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3</a:t>
            </a:r>
          </a:p>
          <a:p>
            <a:pPr algn="ctr">
              <a:lnSpc>
                <a:spcPct val="95000"/>
              </a:lnSpc>
            </a:pPr>
            <a:r>
              <a:rPr sz="2400" b="0" i="0">
                <a:solidFill>
                  <a:srgbClr val="B2B4A7"/>
                </a:solidFill>
                <a:latin typeface="Cambria"/>
              </a:rPr>
              <a:t>Define Key Results</a:t>
            </a:r>
          </a:p>
        </p:txBody>
      </p:sp>
      <p:sp>
        <p:nvSpPr>
          <p:cNvPr id="6" name="Rounded Rectangle 5"/>
          <p:cNvSpPr/>
          <p:nvPr/>
        </p:nvSpPr>
        <p:spPr>
          <a:xfrm>
            <a:off x="7351776" y="658368"/>
            <a:ext cx="2286000" cy="1207008"/>
          </a:xfrm>
          <a:prstGeom prst="roundRect">
            <a:avLst>
              <a:gd name="adj" fmla="val 8000"/>
            </a:avLst>
          </a:prstGeom>
          <a:solidFill>
            <a:srgbClr val="131C15"/>
          </a:solidFill>
          <a:ln w="9525">
            <a:solidFill>
              <a:srgbClr val="2A3A2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4</a:t>
            </a:r>
          </a:p>
          <a:p>
            <a:pPr algn="ctr">
              <a:lnSpc>
                <a:spcPct val="95000"/>
              </a:lnSpc>
            </a:pPr>
            <a:r>
              <a:rPr sz="2400" b="0" i="0">
                <a:solidFill>
                  <a:srgbClr val="B2B4A7"/>
                </a:solidFill>
                <a:latin typeface="Cambria"/>
              </a:rPr>
              <a:t>Alignment Test</a:t>
            </a:r>
          </a:p>
        </p:txBody>
      </p:sp>
      <p:sp>
        <p:nvSpPr>
          <p:cNvPr id="7" name="Rounded Rectangle 6"/>
          <p:cNvSpPr/>
          <p:nvPr/>
        </p:nvSpPr>
        <p:spPr>
          <a:xfrm>
            <a:off x="9710928" y="658368"/>
            <a:ext cx="2286000" cy="1207008"/>
          </a:xfrm>
          <a:prstGeom prst="roundRect">
            <a:avLst>
              <a:gd name="adj" fmla="val 8000"/>
            </a:avLst>
          </a:prstGeom>
          <a:solidFill>
            <a:srgbClr val="1D2D20"/>
          </a:solidFill>
          <a:ln w="19050">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noAutofit/>
          </a:bodyPr>
          <a:lstStyle/>
          <a:p>
            <a:pPr algn="ctr">
              <a:lnSpc>
                <a:spcPct val="95000"/>
              </a:lnSpc>
            </a:pPr>
            <a:r>
              <a:rPr sz="2400" b="1" i="0">
                <a:solidFill>
                  <a:srgbClr val="CDAB49"/>
                </a:solidFill>
                <a:latin typeface="Calibri"/>
              </a:rPr>
              <a:t>STEP 5</a:t>
            </a:r>
          </a:p>
          <a:p>
            <a:pPr algn="ctr">
              <a:lnSpc>
                <a:spcPct val="95000"/>
              </a:lnSpc>
            </a:pPr>
            <a:r>
              <a:rPr sz="2400" b="0" i="0">
                <a:solidFill>
                  <a:srgbClr val="E7E5D6"/>
                </a:solidFill>
                <a:latin typeface="Cambria"/>
              </a:rPr>
              <a:t>PRIORITY MATRIX</a:t>
            </a:r>
          </a:p>
        </p:txBody>
      </p:sp>
      <p:sp>
        <p:nvSpPr>
          <p:cNvPr id="8" name="Rounded Rectangle 7"/>
          <p:cNvSpPr/>
          <p:nvPr/>
        </p:nvSpPr>
        <p:spPr>
          <a:xfrm>
            <a:off x="274320" y="1956816"/>
            <a:ext cx="11640312" cy="4754880"/>
          </a:xfrm>
          <a:prstGeom prst="roundRect">
            <a:avLst>
              <a:gd name="adj" fmla="val 4000"/>
            </a:avLst>
          </a:prstGeom>
          <a:solidFill>
            <a:srgbClr val="FFFFFF"/>
          </a:solidFill>
          <a:ln w="9525">
            <a:solidFill>
              <a:srgbClr val="3042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011680"/>
            <a:ext cx="11155680" cy="731520"/>
          </a:xfrm>
          <a:prstGeom prst="rect">
            <a:avLst/>
          </a:prstGeom>
          <a:noFill/>
        </p:spPr>
        <p:txBody>
          <a:bodyPr wrap="square" lIns="45720" tIns="27432" rIns="45720" bIns="27432" anchor="t">
            <a:noAutofit/>
          </a:bodyPr>
          <a:lstStyle/>
          <a:p>
            <a:pPr algn="l"/>
            <a:r>
              <a:rPr sz="2400" b="0" i="0">
                <a:solidFill>
                  <a:srgbClr val="1F2A22"/>
                </a:solidFill>
                <a:latin typeface="Calibri"/>
              </a:rPr>
              <a:t>Place the aligned Objectives on the Prioritisation Matrix according to strategic impact and effort.</a:t>
            </a:r>
          </a:p>
        </p:txBody>
      </p:sp>
      <p:sp>
        <p:nvSpPr>
          <p:cNvPr id="10" name="TextBox 9"/>
          <p:cNvSpPr txBox="1"/>
          <p:nvPr/>
        </p:nvSpPr>
        <p:spPr>
          <a:xfrm>
            <a:off x="1737360" y="2761488"/>
            <a:ext cx="3346704" cy="411480"/>
          </a:xfrm>
          <a:prstGeom prst="rect">
            <a:avLst/>
          </a:prstGeom>
          <a:noFill/>
        </p:spPr>
        <p:txBody>
          <a:bodyPr wrap="square" lIns="45720" tIns="27432" rIns="45720" bIns="27432" anchor="t">
            <a:noAutofit/>
          </a:bodyPr>
          <a:lstStyle/>
          <a:p>
            <a:pPr algn="ctr"/>
            <a:r>
              <a:rPr sz="2400" b="1" i="0">
                <a:solidFill>
                  <a:srgbClr val="1F2A22"/>
                </a:solidFill>
                <a:latin typeface="Calibri"/>
              </a:rPr>
              <a:t>LOW EFFORT</a:t>
            </a:r>
          </a:p>
        </p:txBody>
      </p:sp>
      <p:sp>
        <p:nvSpPr>
          <p:cNvPr id="11" name="TextBox 10"/>
          <p:cNvSpPr txBox="1"/>
          <p:nvPr/>
        </p:nvSpPr>
        <p:spPr>
          <a:xfrm>
            <a:off x="5138928" y="2761488"/>
            <a:ext cx="3346704" cy="411480"/>
          </a:xfrm>
          <a:prstGeom prst="rect">
            <a:avLst/>
          </a:prstGeom>
          <a:noFill/>
        </p:spPr>
        <p:txBody>
          <a:bodyPr wrap="square" lIns="45720" tIns="27432" rIns="45720" bIns="27432" anchor="t">
            <a:noAutofit/>
          </a:bodyPr>
          <a:lstStyle/>
          <a:p>
            <a:pPr algn="ctr"/>
            <a:r>
              <a:rPr sz="2400" b="1" i="0">
                <a:solidFill>
                  <a:srgbClr val="1F2A22"/>
                </a:solidFill>
                <a:latin typeface="Calibri"/>
              </a:rPr>
              <a:t>MEDIUM EFFORT</a:t>
            </a:r>
          </a:p>
        </p:txBody>
      </p:sp>
      <p:sp>
        <p:nvSpPr>
          <p:cNvPr id="12" name="TextBox 11"/>
          <p:cNvSpPr txBox="1"/>
          <p:nvPr/>
        </p:nvSpPr>
        <p:spPr>
          <a:xfrm>
            <a:off x="8540496" y="2761488"/>
            <a:ext cx="3346704" cy="411480"/>
          </a:xfrm>
          <a:prstGeom prst="rect">
            <a:avLst/>
          </a:prstGeom>
          <a:noFill/>
        </p:spPr>
        <p:txBody>
          <a:bodyPr wrap="square" lIns="45720" tIns="27432" rIns="45720" bIns="27432" anchor="t">
            <a:noAutofit/>
          </a:bodyPr>
          <a:lstStyle/>
          <a:p>
            <a:pPr algn="ctr"/>
            <a:r>
              <a:rPr sz="2400" b="1" i="0">
                <a:solidFill>
                  <a:srgbClr val="1F2A22"/>
                </a:solidFill>
                <a:latin typeface="Calibri"/>
              </a:rPr>
              <a:t>HIGH EFFORT</a:t>
            </a:r>
          </a:p>
        </p:txBody>
      </p:sp>
      <p:sp>
        <p:nvSpPr>
          <p:cNvPr id="13" name="TextBox 12"/>
          <p:cNvSpPr txBox="1"/>
          <p:nvPr/>
        </p:nvSpPr>
        <p:spPr>
          <a:xfrm>
            <a:off x="365760" y="3200400"/>
            <a:ext cx="1325880" cy="1097280"/>
          </a:xfrm>
          <a:prstGeom prst="rect">
            <a:avLst/>
          </a:prstGeom>
          <a:noFill/>
        </p:spPr>
        <p:txBody>
          <a:bodyPr wrap="square" lIns="45720" tIns="27432" rIns="45720" bIns="27432" anchor="ctr">
            <a:noAutofit/>
          </a:bodyPr>
          <a:lstStyle/>
          <a:p>
            <a:pPr algn="ctr">
              <a:lnSpc>
                <a:spcPct val="90000"/>
              </a:lnSpc>
            </a:pPr>
            <a:r>
              <a:rPr sz="2400" b="1" i="0">
                <a:solidFill>
                  <a:srgbClr val="1F2A22"/>
                </a:solidFill>
                <a:latin typeface="Calibri"/>
              </a:rPr>
              <a:t>HIGH</a:t>
            </a:r>
          </a:p>
          <a:p>
            <a:pPr algn="ctr">
              <a:lnSpc>
                <a:spcPct val="90000"/>
              </a:lnSpc>
            </a:pPr>
            <a:r>
              <a:rPr sz="2400" b="1" i="0">
                <a:solidFill>
                  <a:srgbClr val="1F2A22"/>
                </a:solidFill>
                <a:latin typeface="Calibri"/>
              </a:rPr>
              <a:t>IMPACT</a:t>
            </a:r>
          </a:p>
        </p:txBody>
      </p:sp>
      <p:sp>
        <p:nvSpPr>
          <p:cNvPr id="14" name="Rounded Rectangle 13"/>
          <p:cNvSpPr/>
          <p:nvPr/>
        </p:nvSpPr>
        <p:spPr>
          <a:xfrm>
            <a:off x="1737360" y="3200400"/>
            <a:ext cx="3346704" cy="1097280"/>
          </a:xfrm>
          <a:prstGeom prst="roundRect">
            <a:avLst>
              <a:gd name="adj" fmla="val 10000"/>
            </a:avLst>
          </a:prstGeom>
          <a:solidFill>
            <a:srgbClr val="172319"/>
          </a:solidFill>
          <a:ln w="15875">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737360" y="3200400"/>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CDAB49"/>
                </a:solidFill>
                <a:latin typeface="Calibri"/>
              </a:rPr>
              <a:t>STRATEGIC CATALYSTS</a:t>
            </a:r>
          </a:p>
          <a:p>
            <a:pPr algn="l">
              <a:lnSpc>
                <a:spcPct val="90000"/>
              </a:lnSpc>
            </a:pPr>
            <a:r>
              <a:rPr sz="2400" b="0" i="0">
                <a:solidFill>
                  <a:srgbClr val="E7E5D6"/>
                </a:solidFill>
                <a:latin typeface="Calibri"/>
              </a:rPr>
              <a:t>2 · Execution speed</a:t>
            </a:r>
          </a:p>
        </p:txBody>
      </p:sp>
      <p:sp>
        <p:nvSpPr>
          <p:cNvPr id="16" name="Rounded Rectangle 15"/>
          <p:cNvSpPr/>
          <p:nvPr/>
        </p:nvSpPr>
        <p:spPr>
          <a:xfrm>
            <a:off x="5138928" y="3200400"/>
            <a:ext cx="3346704" cy="1097280"/>
          </a:xfrm>
          <a:prstGeom prst="roundRect">
            <a:avLst>
              <a:gd name="adj" fmla="val 10000"/>
            </a:avLst>
          </a:prstGeom>
          <a:solidFill>
            <a:srgbClr val="172319"/>
          </a:solidFill>
          <a:ln w="15875">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38928" y="3200400"/>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CDAB49"/>
                </a:solidFill>
                <a:latin typeface="Calibri"/>
              </a:rPr>
              <a:t>ACCELERATED ENABLERS</a:t>
            </a:r>
          </a:p>
          <a:p>
            <a:pPr algn="l">
              <a:lnSpc>
                <a:spcPct val="90000"/>
              </a:lnSpc>
            </a:pPr>
            <a:r>
              <a:rPr sz="2400" b="0" i="0">
                <a:solidFill>
                  <a:srgbClr val="E7E5D6"/>
                </a:solidFill>
                <a:latin typeface="Calibri"/>
              </a:rPr>
              <a:t>1 · Customer responsiveness</a:t>
            </a:r>
          </a:p>
        </p:txBody>
      </p:sp>
      <p:sp>
        <p:nvSpPr>
          <p:cNvPr id="18" name="Rounded Rectangle 17"/>
          <p:cNvSpPr/>
          <p:nvPr/>
        </p:nvSpPr>
        <p:spPr>
          <a:xfrm>
            <a:off x="8540496" y="3200400"/>
            <a:ext cx="3346704" cy="1097280"/>
          </a:xfrm>
          <a:prstGeom prst="roundRect">
            <a:avLst>
              <a:gd name="adj" fmla="val 10000"/>
            </a:avLst>
          </a:prstGeom>
          <a:solidFill>
            <a:srgbClr val="172319"/>
          </a:solidFill>
          <a:ln w="15875">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540496" y="3200400"/>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CDAB49"/>
                </a:solidFill>
                <a:latin typeface="Calibri"/>
              </a:rPr>
              <a:t>CORE STRATEGIC DRIVERS</a:t>
            </a:r>
          </a:p>
          <a:p>
            <a:pPr algn="l">
              <a:lnSpc>
                <a:spcPct val="90000"/>
              </a:lnSpc>
            </a:pPr>
            <a:r>
              <a:rPr sz="2400" b="0" i="0">
                <a:solidFill>
                  <a:srgbClr val="E7E5D6"/>
                </a:solidFill>
                <a:latin typeface="Calibri"/>
              </a:rPr>
              <a:t>3 · Collaboration culture</a:t>
            </a:r>
          </a:p>
        </p:txBody>
      </p:sp>
      <p:sp>
        <p:nvSpPr>
          <p:cNvPr id="20" name="TextBox 19"/>
          <p:cNvSpPr txBox="1"/>
          <p:nvPr/>
        </p:nvSpPr>
        <p:spPr>
          <a:xfrm>
            <a:off x="365760" y="4352544"/>
            <a:ext cx="1325880" cy="1097280"/>
          </a:xfrm>
          <a:prstGeom prst="rect">
            <a:avLst/>
          </a:prstGeom>
          <a:noFill/>
        </p:spPr>
        <p:txBody>
          <a:bodyPr wrap="square" lIns="45720" tIns="27432" rIns="45720" bIns="27432" anchor="ctr">
            <a:noAutofit/>
          </a:bodyPr>
          <a:lstStyle/>
          <a:p>
            <a:pPr algn="ctr">
              <a:lnSpc>
                <a:spcPct val="90000"/>
              </a:lnSpc>
            </a:pPr>
            <a:r>
              <a:rPr sz="2400" b="1" i="0">
                <a:solidFill>
                  <a:srgbClr val="1F2A22"/>
                </a:solidFill>
                <a:latin typeface="Calibri"/>
              </a:rPr>
              <a:t>MEDIUM</a:t>
            </a:r>
          </a:p>
          <a:p>
            <a:pPr algn="ctr">
              <a:lnSpc>
                <a:spcPct val="90000"/>
              </a:lnSpc>
            </a:pPr>
            <a:r>
              <a:rPr sz="2400" b="1" i="0">
                <a:solidFill>
                  <a:srgbClr val="1F2A22"/>
                </a:solidFill>
                <a:latin typeface="Calibri"/>
              </a:rPr>
              <a:t>IMPACT</a:t>
            </a:r>
          </a:p>
        </p:txBody>
      </p:sp>
      <p:sp>
        <p:nvSpPr>
          <p:cNvPr id="21" name="Rounded Rectangle 20"/>
          <p:cNvSpPr/>
          <p:nvPr/>
        </p:nvSpPr>
        <p:spPr>
          <a:xfrm>
            <a:off x="1737360" y="4352544"/>
            <a:ext cx="3346704" cy="1097280"/>
          </a:xfrm>
          <a:prstGeom prst="roundRect">
            <a:avLst>
              <a:gd name="adj" fmla="val 10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737360" y="4352544"/>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B2B4A7"/>
                </a:solidFill>
                <a:latin typeface="Calibri"/>
              </a:rPr>
              <a:t>QUICK EFFICIENCY PLAYS</a:t>
            </a:r>
          </a:p>
        </p:txBody>
      </p:sp>
      <p:sp>
        <p:nvSpPr>
          <p:cNvPr id="23" name="Rounded Rectangle 22"/>
          <p:cNvSpPr/>
          <p:nvPr/>
        </p:nvSpPr>
        <p:spPr>
          <a:xfrm>
            <a:off x="5138928" y="4352544"/>
            <a:ext cx="3346704" cy="1097280"/>
          </a:xfrm>
          <a:prstGeom prst="roundRect">
            <a:avLst>
              <a:gd name="adj" fmla="val 10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138928" y="4352544"/>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B2B4A7"/>
                </a:solidFill>
                <a:latin typeface="Calibri"/>
              </a:rPr>
              <a:t>TARGETED GROWTH PROJECTS</a:t>
            </a:r>
          </a:p>
        </p:txBody>
      </p:sp>
      <p:sp>
        <p:nvSpPr>
          <p:cNvPr id="25" name="Rounded Rectangle 24"/>
          <p:cNvSpPr/>
          <p:nvPr/>
        </p:nvSpPr>
        <p:spPr>
          <a:xfrm>
            <a:off x="8540496" y="4352544"/>
            <a:ext cx="3346704" cy="1097280"/>
          </a:xfrm>
          <a:prstGeom prst="roundRect">
            <a:avLst>
              <a:gd name="adj" fmla="val 10000"/>
            </a:avLst>
          </a:prstGeom>
          <a:solidFill>
            <a:srgbClr val="172319"/>
          </a:solidFill>
          <a:ln w="15875">
            <a:solidFill>
              <a:srgbClr val="CDAB4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40496" y="4352544"/>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CDAB49"/>
                </a:solidFill>
                <a:latin typeface="Calibri"/>
              </a:rPr>
              <a:t>HEAVY INVEST. CANDIDATES</a:t>
            </a:r>
          </a:p>
          <a:p>
            <a:pPr algn="l">
              <a:lnSpc>
                <a:spcPct val="90000"/>
              </a:lnSpc>
            </a:pPr>
            <a:r>
              <a:rPr sz="2400" b="0" i="0">
                <a:solidFill>
                  <a:srgbClr val="E7E5D6"/>
                </a:solidFill>
                <a:latin typeface="Calibri"/>
              </a:rPr>
              <a:t>4 · Value creation</a:t>
            </a:r>
          </a:p>
        </p:txBody>
      </p:sp>
      <p:sp>
        <p:nvSpPr>
          <p:cNvPr id="27" name="TextBox 26"/>
          <p:cNvSpPr txBox="1"/>
          <p:nvPr/>
        </p:nvSpPr>
        <p:spPr>
          <a:xfrm>
            <a:off x="365760" y="5504688"/>
            <a:ext cx="1325880" cy="1097280"/>
          </a:xfrm>
          <a:prstGeom prst="rect">
            <a:avLst/>
          </a:prstGeom>
          <a:noFill/>
        </p:spPr>
        <p:txBody>
          <a:bodyPr wrap="square" lIns="45720" tIns="27432" rIns="45720" bIns="27432" anchor="ctr">
            <a:noAutofit/>
          </a:bodyPr>
          <a:lstStyle/>
          <a:p>
            <a:pPr algn="ctr">
              <a:lnSpc>
                <a:spcPct val="90000"/>
              </a:lnSpc>
            </a:pPr>
            <a:r>
              <a:rPr sz="2400" b="1" i="0">
                <a:solidFill>
                  <a:srgbClr val="1F2A22"/>
                </a:solidFill>
                <a:latin typeface="Calibri"/>
              </a:rPr>
              <a:t>LOW</a:t>
            </a:r>
          </a:p>
          <a:p>
            <a:pPr algn="ctr">
              <a:lnSpc>
                <a:spcPct val="90000"/>
              </a:lnSpc>
            </a:pPr>
            <a:r>
              <a:rPr sz="2400" b="1" i="0">
                <a:solidFill>
                  <a:srgbClr val="1F2A22"/>
                </a:solidFill>
                <a:latin typeface="Calibri"/>
              </a:rPr>
              <a:t>IMPACT</a:t>
            </a:r>
          </a:p>
        </p:txBody>
      </p:sp>
      <p:sp>
        <p:nvSpPr>
          <p:cNvPr id="28" name="Rounded Rectangle 27"/>
          <p:cNvSpPr/>
          <p:nvPr/>
        </p:nvSpPr>
        <p:spPr>
          <a:xfrm>
            <a:off x="1737360" y="5504688"/>
            <a:ext cx="3346704" cy="1097280"/>
          </a:xfrm>
          <a:prstGeom prst="roundRect">
            <a:avLst>
              <a:gd name="adj" fmla="val 10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737360" y="5504688"/>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B2B4A7"/>
                </a:solidFill>
                <a:latin typeface="Calibri"/>
              </a:rPr>
              <a:t>SUPPORTIVE ENABLERS</a:t>
            </a:r>
          </a:p>
        </p:txBody>
      </p:sp>
      <p:sp>
        <p:nvSpPr>
          <p:cNvPr id="30" name="Rounded Rectangle 29"/>
          <p:cNvSpPr/>
          <p:nvPr/>
        </p:nvSpPr>
        <p:spPr>
          <a:xfrm>
            <a:off x="5138928" y="5504688"/>
            <a:ext cx="3346704" cy="1097280"/>
          </a:xfrm>
          <a:prstGeom prst="roundRect">
            <a:avLst>
              <a:gd name="adj" fmla="val 10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138928" y="5504688"/>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B2B4A7"/>
                </a:solidFill>
                <a:latin typeface="Calibri"/>
              </a:rPr>
              <a:t>MARGINAL UTILITY TASKS</a:t>
            </a:r>
          </a:p>
        </p:txBody>
      </p:sp>
      <p:sp>
        <p:nvSpPr>
          <p:cNvPr id="32" name="Rounded Rectangle 31"/>
          <p:cNvSpPr/>
          <p:nvPr/>
        </p:nvSpPr>
        <p:spPr>
          <a:xfrm>
            <a:off x="8540496" y="5504688"/>
            <a:ext cx="3346704" cy="1097280"/>
          </a:xfrm>
          <a:prstGeom prst="roundRect">
            <a:avLst>
              <a:gd name="adj" fmla="val 10000"/>
            </a:avLst>
          </a:prstGeom>
          <a:solidFill>
            <a:srgbClr val="172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540496" y="5504688"/>
            <a:ext cx="3346704" cy="1097280"/>
          </a:xfrm>
          <a:prstGeom prst="rect">
            <a:avLst/>
          </a:prstGeom>
          <a:noFill/>
        </p:spPr>
        <p:txBody>
          <a:bodyPr wrap="square" lIns="54864" tIns="18288" rIns="36576" bIns="18288" anchor="ctr">
            <a:noAutofit/>
          </a:bodyPr>
          <a:lstStyle/>
          <a:p>
            <a:pPr algn="l">
              <a:lnSpc>
                <a:spcPct val="90000"/>
              </a:lnSpc>
            </a:pPr>
            <a:r>
              <a:rPr sz="2400" b="1" i="0">
                <a:solidFill>
                  <a:srgbClr val="B2B4A7"/>
                </a:solidFill>
                <a:latin typeface="Calibri"/>
              </a:rPr>
              <a:t>RESOURCE PITFALLS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3" name="Reflection 2.2" descr="Reflection 2.2: At which point in the SiP → KISS → OKR sequence does your organisation typically enter? What is the consequence of skipping the KISS stage?"/>
          <p:cNvPicPr>
            <a:picLocks noChangeAspect="1"/>
          </p:cNvPicPr>
          <p:nvPr/>
        </p:nvPicPr>
        <p:blipFill>
          <a:blip r:embed="rId3"/>
          <a:stretch>
            <a:fillRect/>
          </a:stretch>
        </p:blipFill>
        <p:spPr>
          <a:xfrm>
            <a:off x="1691640" y="1572768"/>
            <a:ext cx="9921240" cy="1482484"/>
          </a:xfrm>
          <a:prstGeom prst="rect">
            <a:avLst/>
          </a:prstGeom>
        </p:spPr>
      </p:pic>
      <p:sp>
        <p:nvSpPr>
          <p:cNvPr id="4" name="Part 2.2"/>
          <p:cNvSpPr/>
          <p:nvPr/>
        </p:nvSpPr>
        <p:spPr>
          <a:xfrm>
            <a:off x="548640" y="1879670"/>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Where do OKR Hot Zones Appear?</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Challenge functional preferences that distort enterprise priority-setting.</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Align functional contributions with enterprise-wide strategic priorities.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3.1a · Natural OKR Emphasis: four tendencies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Customer Experience &amp; Value</a:t>
            </a:r>
            <a:endParaRPr lang="en-US" sz="24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Operational Capability &amp; Execution Rhythm</a:t>
            </a:r>
            <a:endParaRPr lang="en-US" sz="24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People &amp; Culture Dynamics</a:t>
            </a:r>
            <a:endParaRPr lang="en-US" sz="24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Enterprise Value Creation</a:t>
            </a:r>
            <a:endParaRPr lang="en-US" sz="24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Unexamined, these perspectives turn OKRs into functional scorecards.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3.1b · Natural OKR Emphasis: four execution risks</a:t>
            </a:r>
            <a:endParaRPr lang="en-US" sz="3600" dirty="0"/>
          </a:p>
        </p:txBody>
      </p:sp>
      <p:sp>
        <p:nvSpPr>
          <p:cNvPr id="3" name="Shape 1"/>
          <p:cNvSpPr/>
          <p:nvPr/>
        </p:nvSpPr>
        <p:spPr>
          <a:xfrm>
            <a:off x="548640" y="16859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45945"/>
            <a:ext cx="320040" cy="320040"/>
          </a:xfrm>
          <a:prstGeom prst="rect">
            <a:avLst/>
          </a:prstGeom>
        </p:spPr>
      </p:pic>
      <p:sp>
        <p:nvSpPr>
          <p:cNvPr id="5" name="Text 2"/>
          <p:cNvSpPr txBox="1"/>
          <p:nvPr/>
        </p:nvSpPr>
        <p:spPr>
          <a:xfrm>
            <a:off x="1508760" y="1508760"/>
            <a:ext cx="10131552" cy="99441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Competing definitions of success across functions</a:t>
            </a:r>
            <a:endParaRPr lang="en-US" sz="2600" dirty="0"/>
          </a:p>
        </p:txBody>
      </p:sp>
      <p:sp>
        <p:nvSpPr>
          <p:cNvPr id="6" name="Shape 3"/>
          <p:cNvSpPr/>
          <p:nvPr/>
        </p:nvSpPr>
        <p:spPr>
          <a:xfrm>
            <a:off x="548640" y="26803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40355"/>
            <a:ext cx="320040" cy="320040"/>
          </a:xfrm>
          <a:prstGeom prst="rect">
            <a:avLst/>
          </a:prstGeom>
        </p:spPr>
      </p:pic>
      <p:sp>
        <p:nvSpPr>
          <p:cNvPr id="8" name="Text 4"/>
          <p:cNvSpPr txBox="1"/>
          <p:nvPr/>
        </p:nvSpPr>
        <p:spPr>
          <a:xfrm>
            <a:off x="1508760" y="2503170"/>
            <a:ext cx="10131552" cy="99441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Fragmented measurement systems that cannot be integrated</a:t>
            </a:r>
            <a:endParaRPr lang="en-US" sz="2600" dirty="0"/>
          </a:p>
        </p:txBody>
      </p:sp>
      <p:sp>
        <p:nvSpPr>
          <p:cNvPr id="9" name="Shape 5"/>
          <p:cNvSpPr/>
          <p:nvPr/>
        </p:nvSpPr>
        <p:spPr>
          <a:xfrm>
            <a:off x="548640" y="36747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834765"/>
            <a:ext cx="320040" cy="320040"/>
          </a:xfrm>
          <a:prstGeom prst="rect">
            <a:avLst/>
          </a:prstGeom>
        </p:spPr>
      </p:pic>
      <p:sp>
        <p:nvSpPr>
          <p:cNvPr id="11" name="Text 6"/>
          <p:cNvSpPr txBox="1"/>
          <p:nvPr/>
        </p:nvSpPr>
        <p:spPr>
          <a:xfrm>
            <a:off x="1508760" y="3497580"/>
            <a:ext cx="10131552" cy="99441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Functional optimisation that stalls enterprise progress</a:t>
            </a:r>
            <a:endParaRPr lang="en-US" sz="2600" dirty="0"/>
          </a:p>
        </p:txBody>
      </p:sp>
      <p:sp>
        <p:nvSpPr>
          <p:cNvPr id="12" name="Shape 7"/>
          <p:cNvSpPr/>
          <p:nvPr/>
        </p:nvSpPr>
        <p:spPr>
          <a:xfrm>
            <a:off x="548640" y="46691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829175"/>
            <a:ext cx="320040" cy="320040"/>
          </a:xfrm>
          <a:prstGeom prst="rect">
            <a:avLst/>
          </a:prstGeom>
        </p:spPr>
      </p:pic>
      <p:sp>
        <p:nvSpPr>
          <p:cNvPr id="14" name="Text 8"/>
          <p:cNvSpPr txBox="1"/>
          <p:nvPr/>
        </p:nvSpPr>
        <p:spPr>
          <a:xfrm>
            <a:off x="1508760" y="4491990"/>
            <a:ext cx="10131552" cy="994410"/>
          </a:xfrm>
          <a:prstGeom prst="rect">
            <a:avLst/>
          </a:prstGeom>
          <a:noFill/>
          <a:ln/>
        </p:spPr>
        <p:txBody>
          <a:bodyPr wrap="square" lIns="0" tIns="0" rIns="0" bIns="0" rtlCol="0" anchor="ctr"/>
          <a:lstStyle/>
          <a:p>
            <a:pPr marL="0" indent="0">
              <a:buNone/>
            </a:pPr>
            <a:r>
              <a:rPr lang="en-US" sz="2600" dirty="0">
                <a:solidFill>
                  <a:srgbClr val="1F2A22"/>
                </a:solidFill>
                <a:latin typeface="Calibri" pitchFamily="34" charset="0"/>
                <a:ea typeface="Calibri" pitchFamily="34" charset="-122"/>
                <a:cs typeface="Calibri" pitchFamily="34" charset="-120"/>
              </a:rPr>
              <a:t>Slow decision-making due to misaligned incentives</a:t>
            </a:r>
            <a:endParaRPr lang="en-US" sz="2600" dirty="0"/>
          </a:p>
        </p:txBody>
      </p:sp>
      <p:sp>
        <p:nvSpPr>
          <p:cNvPr id="15"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Recognising these patterns lets the team build a balanced execution system.</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3.1c · A Hot Zone Card: the CEO</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Dominant Future Realities</a:t>
            </a:r>
            <a:endParaRPr lang="en-US" sz="24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Enterprise Value Creation · Customer Experience &amp; Value</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Natural OKR Emphasis</a:t>
            </a:r>
            <a:endParaRPr lang="en-US" sz="24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Strategic ambition and market positioning</a:t>
            </a:r>
            <a:endParaRPr lang="en-US" sz="2400" dirty="0"/>
          </a:p>
        </p:txBody>
      </p:sp>
      <p:sp>
        <p:nvSpPr>
          <p:cNvPr id="13" name="Shape 9"/>
          <p:cNvSpPr/>
          <p:nvPr/>
        </p:nvSpPr>
        <p:spPr>
          <a:xfrm>
            <a:off x="548640" y="4069080"/>
            <a:ext cx="5408676" cy="2286000"/>
          </a:xfrm>
          <a:prstGeom prst="roundRect">
            <a:avLst>
              <a:gd name="adj" fmla="val 4000"/>
            </a:avLst>
          </a:prstGeom>
          <a:solidFill>
            <a:srgbClr val="1A5C2C"/>
          </a:solidFill>
          <a:ln w="12700">
            <a:solidFill>
              <a:srgbClr val="1A5C2C"/>
            </a:solidFill>
            <a:prstDash val="solid"/>
          </a:ln>
        </p:spPr>
        <p:txBody>
          <a:bodyPr/>
          <a:lstStyle/>
          <a:p>
            <a:endParaRPr lang="en-ZA"/>
          </a:p>
        </p:txBody>
      </p:sp>
      <p:sp>
        <p:nvSpPr>
          <p:cNvPr id="14" name="Shape 10"/>
          <p:cNvSpPr/>
          <p:nvPr/>
        </p:nvSpPr>
        <p:spPr>
          <a:xfrm>
            <a:off x="777240" y="4297680"/>
            <a:ext cx="548640" cy="548640"/>
          </a:xfrm>
          <a:prstGeom prst="ellipse">
            <a:avLst/>
          </a:prstGeom>
          <a:solidFill>
            <a:srgbClr val="C6A24C"/>
          </a:solidFill>
          <a:ln w="12700">
            <a:solidFill>
              <a:srgbClr val="C6A24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Typical Hot Zone</a:t>
            </a:r>
            <a:endParaRPr lang="en-US" sz="24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Objectives become visionary but insufficiently grounded in operational capability</a:t>
            </a:r>
            <a:endParaRPr lang="en-US" sz="2400" dirty="0"/>
          </a:p>
        </p:txBody>
      </p:sp>
      <p:sp>
        <p:nvSpPr>
          <p:cNvPr id="18" name="Shape 13"/>
          <p:cNvSpPr/>
          <p:nvPr/>
        </p:nvSpPr>
        <p:spPr>
          <a:xfrm>
            <a:off x="6231636" y="4069080"/>
            <a:ext cx="5408676" cy="2286000"/>
          </a:xfrm>
          <a:prstGeom prst="roundRect">
            <a:avLst>
              <a:gd name="adj" fmla="val 4000"/>
            </a:avLst>
          </a:prstGeom>
          <a:solidFill>
            <a:srgbClr val="1A5C2C"/>
          </a:solidFill>
          <a:ln w="12700">
            <a:solidFill>
              <a:srgbClr val="1A5C2C"/>
            </a:solidFill>
            <a:prstDash val="solid"/>
          </a:ln>
        </p:spPr>
        <p:txBody>
          <a:bodyPr/>
          <a:lstStyle/>
          <a:p>
            <a:endParaRPr lang="en-ZA"/>
          </a:p>
        </p:txBody>
      </p:sp>
      <p:sp>
        <p:nvSpPr>
          <p:cNvPr id="19" name="Shape 14"/>
          <p:cNvSpPr/>
          <p:nvPr/>
        </p:nvSpPr>
        <p:spPr>
          <a:xfrm>
            <a:off x="6460236" y="4297680"/>
            <a:ext cx="548640" cy="548640"/>
          </a:xfrm>
          <a:prstGeom prst="ellipse">
            <a:avLst/>
          </a:prstGeom>
          <a:solidFill>
            <a:srgbClr val="C6A24C"/>
          </a:solidFill>
          <a:ln w="12700">
            <a:solidFill>
              <a:srgbClr val="C6A24C"/>
            </a:solidFill>
            <a:prstDash val="solid"/>
          </a:ln>
        </p:spPr>
        <p:txBody>
          <a:bodyPr/>
          <a:lstStyle/>
          <a:p>
            <a:endParaRPr lang="en-ZA"/>
          </a:p>
        </p:txBody>
      </p:sp>
      <p:pic>
        <p:nvPicPr>
          <p:cNvPr id="20" name="Image 3" descr="preencoded.png"/>
          <p:cNvPicPr>
            <a:picLocks noChangeAspect="1"/>
          </p:cNvPicPr>
          <p:nvPr/>
        </p:nvPicPr>
        <p:blipFill>
          <a:blip r:embed="rId6"/>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Alignment Question</a:t>
            </a:r>
            <a:endParaRPr lang="en-US" sz="24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Do our OKRs translate ambition into outcomes the organisation can reliably deliver?</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02116"/>
        </a:solidFill>
        <a:effectLst/>
      </p:bgPr>
    </p:bg>
    <p:spTree>
      <p:nvGrpSpPr>
        <p:cNvPr id="1" name=""/>
        <p:cNvGrpSpPr/>
        <p:nvPr/>
      </p:nvGrpSpPr>
      <p:grpSpPr>
        <a:xfrm>
          <a:off x="0" y="0"/>
          <a:ext cx="0" cy="0"/>
          <a:chOff x="0" y="0"/>
          <a:chExt cx="0" cy="0"/>
        </a:xfrm>
      </p:grpSpPr>
      <p:sp>
        <p:nvSpPr>
          <p:cNvPr id="2" name="TextBox 1"/>
          <p:cNvSpPr txBox="1"/>
          <p:nvPr/>
        </p:nvSpPr>
        <p:spPr>
          <a:xfrm>
            <a:off x="411480" y="109728"/>
            <a:ext cx="11338560" cy="502920"/>
          </a:xfrm>
          <a:prstGeom prst="rect">
            <a:avLst/>
          </a:prstGeom>
          <a:noFill/>
        </p:spPr>
        <p:txBody>
          <a:bodyPr wrap="square" lIns="45720" tIns="27432" rIns="45720" bIns="27432" anchor="t">
            <a:noAutofit/>
          </a:bodyPr>
          <a:lstStyle/>
          <a:p>
            <a:pPr algn="l"/>
            <a:r>
              <a:rPr sz="2800" b="1" i="0">
                <a:solidFill>
                  <a:srgbClr val="D6B75A"/>
                </a:solidFill>
                <a:latin typeface="Calibri"/>
              </a:rPr>
              <a:t>Match the Role to the Natural OKR Emphasis</a:t>
            </a:r>
          </a:p>
        </p:txBody>
      </p:sp>
      <p:sp>
        <p:nvSpPr>
          <p:cNvPr id="3" name="TextBox 2"/>
          <p:cNvSpPr txBox="1"/>
          <p:nvPr/>
        </p:nvSpPr>
        <p:spPr>
          <a:xfrm>
            <a:off x="411480" y="640080"/>
            <a:ext cx="11338560" cy="777240"/>
          </a:xfrm>
          <a:prstGeom prst="rect">
            <a:avLst/>
          </a:prstGeom>
          <a:noFill/>
        </p:spPr>
        <p:txBody>
          <a:bodyPr wrap="square" lIns="45720" tIns="27432" rIns="45720" bIns="27432" anchor="t">
            <a:noAutofit/>
          </a:bodyPr>
          <a:lstStyle/>
          <a:p>
            <a:pPr algn="l"/>
            <a:r>
              <a:rPr sz="2400" b="0" i="0">
                <a:solidFill>
                  <a:srgbClr val="B8C3B7"/>
                </a:solidFill>
                <a:latin typeface="Calibri"/>
              </a:rPr>
              <a:t>Exercise: connect each leadership role to the OKR emphasis it will naturally bring into the conversation.</a:t>
            </a:r>
          </a:p>
        </p:txBody>
      </p:sp>
      <p:sp>
        <p:nvSpPr>
          <p:cNvPr id="4" name="TextBox 3"/>
          <p:cNvSpPr txBox="1"/>
          <p:nvPr/>
        </p:nvSpPr>
        <p:spPr>
          <a:xfrm>
            <a:off x="411480" y="1426464"/>
            <a:ext cx="2011680" cy="411480"/>
          </a:xfrm>
          <a:prstGeom prst="rect">
            <a:avLst/>
          </a:prstGeom>
          <a:noFill/>
        </p:spPr>
        <p:txBody>
          <a:bodyPr wrap="square" lIns="45720" tIns="27432" rIns="45720" bIns="27432" anchor="t">
            <a:noAutofit/>
          </a:bodyPr>
          <a:lstStyle/>
          <a:p>
            <a:pPr algn="l"/>
            <a:r>
              <a:rPr sz="2400" b="1" i="0">
                <a:solidFill>
                  <a:srgbClr val="D6B75A"/>
                </a:solidFill>
                <a:latin typeface="Calibri"/>
              </a:rPr>
              <a:t>Roles</a:t>
            </a:r>
          </a:p>
        </p:txBody>
      </p:sp>
      <p:sp>
        <p:nvSpPr>
          <p:cNvPr id="5" name="TextBox 4"/>
          <p:cNvSpPr txBox="1"/>
          <p:nvPr/>
        </p:nvSpPr>
        <p:spPr>
          <a:xfrm>
            <a:off x="3017520" y="1426464"/>
            <a:ext cx="8686800" cy="411480"/>
          </a:xfrm>
          <a:prstGeom prst="rect">
            <a:avLst/>
          </a:prstGeom>
          <a:noFill/>
        </p:spPr>
        <p:txBody>
          <a:bodyPr wrap="square" lIns="45720" tIns="27432" rIns="45720" bIns="27432" anchor="t">
            <a:noAutofit/>
          </a:bodyPr>
          <a:lstStyle/>
          <a:p>
            <a:pPr algn="l"/>
            <a:r>
              <a:rPr sz="2400" b="1" i="0">
                <a:solidFill>
                  <a:srgbClr val="D6B75A"/>
                </a:solidFill>
                <a:latin typeface="Calibri"/>
              </a:rPr>
              <a:t>Jumbled Natural OKR Emphasis</a:t>
            </a:r>
          </a:p>
        </p:txBody>
      </p:sp>
      <p:sp>
        <p:nvSpPr>
          <p:cNvPr id="6" name="Rounded Rectangle 5"/>
          <p:cNvSpPr/>
          <p:nvPr/>
        </p:nvSpPr>
        <p:spPr>
          <a:xfrm>
            <a:off x="411480" y="1874519"/>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1874519"/>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CEO</a:t>
            </a:r>
          </a:p>
        </p:txBody>
      </p:sp>
      <p:sp>
        <p:nvSpPr>
          <p:cNvPr id="8" name="TextBox 7"/>
          <p:cNvSpPr txBox="1"/>
          <p:nvPr/>
        </p:nvSpPr>
        <p:spPr>
          <a:xfrm>
            <a:off x="2514600" y="1874519"/>
            <a:ext cx="457200" cy="438912"/>
          </a:xfrm>
          <a:prstGeom prst="rect">
            <a:avLst/>
          </a:prstGeom>
          <a:noFill/>
        </p:spPr>
        <p:txBody>
          <a:bodyPr wrap="square" lIns="0" tIns="0" rIns="0" bIns="0" anchor="ctr">
            <a:noAutofit/>
          </a:bodyPr>
          <a:lstStyle/>
          <a:p>
            <a:pPr algn="ctr"/>
            <a:r>
              <a:rPr sz="2400" b="1" i="0">
                <a:solidFill>
                  <a:srgbClr val="D6B75A"/>
                </a:solidFill>
                <a:latin typeface="Calibri"/>
              </a:rPr>
              <a:t>A</a:t>
            </a:r>
          </a:p>
        </p:txBody>
      </p:sp>
      <p:sp>
        <p:nvSpPr>
          <p:cNvPr id="9" name="Rounded Rectangle 8"/>
          <p:cNvSpPr/>
          <p:nvPr/>
        </p:nvSpPr>
        <p:spPr>
          <a:xfrm>
            <a:off x="3017520" y="1874519"/>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154680" y="1874519"/>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Technology capability and digital infrastructure</a:t>
            </a:r>
          </a:p>
        </p:txBody>
      </p:sp>
      <p:sp>
        <p:nvSpPr>
          <p:cNvPr id="11" name="Rounded Rectangle 10"/>
          <p:cNvSpPr/>
          <p:nvPr/>
        </p:nvSpPr>
        <p:spPr>
          <a:xfrm>
            <a:off x="411480" y="2359152"/>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7200" y="2359152"/>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CFO</a:t>
            </a:r>
          </a:p>
        </p:txBody>
      </p:sp>
      <p:sp>
        <p:nvSpPr>
          <p:cNvPr id="13" name="TextBox 12"/>
          <p:cNvSpPr txBox="1"/>
          <p:nvPr/>
        </p:nvSpPr>
        <p:spPr>
          <a:xfrm>
            <a:off x="2514600" y="2359152"/>
            <a:ext cx="457200" cy="438912"/>
          </a:xfrm>
          <a:prstGeom prst="rect">
            <a:avLst/>
          </a:prstGeom>
          <a:noFill/>
        </p:spPr>
        <p:txBody>
          <a:bodyPr wrap="square" lIns="0" tIns="0" rIns="0" bIns="0" anchor="ctr">
            <a:noAutofit/>
          </a:bodyPr>
          <a:lstStyle/>
          <a:p>
            <a:pPr algn="ctr"/>
            <a:r>
              <a:rPr sz="2400" b="1" i="0">
                <a:solidFill>
                  <a:srgbClr val="D6B75A"/>
                </a:solidFill>
                <a:latin typeface="Calibri"/>
              </a:rPr>
              <a:t>B</a:t>
            </a:r>
          </a:p>
        </p:txBody>
      </p:sp>
      <p:sp>
        <p:nvSpPr>
          <p:cNvPr id="14" name="Rounded Rectangle 13"/>
          <p:cNvSpPr/>
          <p:nvPr/>
        </p:nvSpPr>
        <p:spPr>
          <a:xfrm>
            <a:off x="3017520" y="2359152"/>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154680" y="2359152"/>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Strategic ambition and market positioning</a:t>
            </a:r>
          </a:p>
        </p:txBody>
      </p:sp>
      <p:sp>
        <p:nvSpPr>
          <p:cNvPr id="16" name="Rounded Rectangle 15"/>
          <p:cNvSpPr/>
          <p:nvPr/>
        </p:nvSpPr>
        <p:spPr>
          <a:xfrm>
            <a:off x="411480" y="2843784"/>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7200" y="2843784"/>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COO</a:t>
            </a:r>
          </a:p>
        </p:txBody>
      </p:sp>
      <p:sp>
        <p:nvSpPr>
          <p:cNvPr id="18" name="TextBox 17"/>
          <p:cNvSpPr txBox="1"/>
          <p:nvPr/>
        </p:nvSpPr>
        <p:spPr>
          <a:xfrm>
            <a:off x="2514600" y="2843784"/>
            <a:ext cx="457200" cy="438912"/>
          </a:xfrm>
          <a:prstGeom prst="rect">
            <a:avLst/>
          </a:prstGeom>
          <a:noFill/>
        </p:spPr>
        <p:txBody>
          <a:bodyPr wrap="square" lIns="0" tIns="0" rIns="0" bIns="0" anchor="ctr">
            <a:noAutofit/>
          </a:bodyPr>
          <a:lstStyle/>
          <a:p>
            <a:pPr algn="ctr"/>
            <a:r>
              <a:rPr sz="2400" b="1" i="0">
                <a:solidFill>
                  <a:srgbClr val="D6B75A"/>
                </a:solidFill>
                <a:latin typeface="Calibri"/>
              </a:rPr>
              <a:t>C</a:t>
            </a:r>
          </a:p>
        </p:txBody>
      </p:sp>
      <p:sp>
        <p:nvSpPr>
          <p:cNvPr id="19" name="Rounded Rectangle 18"/>
          <p:cNvSpPr/>
          <p:nvPr/>
        </p:nvSpPr>
        <p:spPr>
          <a:xfrm>
            <a:off x="3017520" y="2843784"/>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154680" y="2843784"/>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Supply chain efficiency and cost discipline</a:t>
            </a:r>
          </a:p>
        </p:txBody>
      </p:sp>
      <p:sp>
        <p:nvSpPr>
          <p:cNvPr id="21" name="Rounded Rectangle 20"/>
          <p:cNvSpPr/>
          <p:nvPr/>
        </p:nvSpPr>
        <p:spPr>
          <a:xfrm>
            <a:off x="411480" y="3328415"/>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7200" y="3328415"/>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CHRO</a:t>
            </a:r>
          </a:p>
        </p:txBody>
      </p:sp>
      <p:sp>
        <p:nvSpPr>
          <p:cNvPr id="23" name="TextBox 22"/>
          <p:cNvSpPr txBox="1"/>
          <p:nvPr/>
        </p:nvSpPr>
        <p:spPr>
          <a:xfrm>
            <a:off x="2514600" y="3328415"/>
            <a:ext cx="457200" cy="438912"/>
          </a:xfrm>
          <a:prstGeom prst="rect">
            <a:avLst/>
          </a:prstGeom>
          <a:noFill/>
        </p:spPr>
        <p:txBody>
          <a:bodyPr wrap="square" lIns="0" tIns="0" rIns="0" bIns="0" anchor="ctr">
            <a:noAutofit/>
          </a:bodyPr>
          <a:lstStyle/>
          <a:p>
            <a:pPr algn="ctr"/>
            <a:r>
              <a:rPr sz="2400" b="1" i="0">
                <a:solidFill>
                  <a:srgbClr val="D6B75A"/>
                </a:solidFill>
                <a:latin typeface="Calibri"/>
              </a:rPr>
              <a:t>D</a:t>
            </a:r>
          </a:p>
        </p:txBody>
      </p:sp>
      <p:sp>
        <p:nvSpPr>
          <p:cNvPr id="24" name="Rounded Rectangle 23"/>
          <p:cNvSpPr/>
          <p:nvPr/>
        </p:nvSpPr>
        <p:spPr>
          <a:xfrm>
            <a:off x="3017520" y="3328415"/>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154680" y="3328415"/>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Capability development and organisational health</a:t>
            </a:r>
          </a:p>
        </p:txBody>
      </p:sp>
      <p:sp>
        <p:nvSpPr>
          <p:cNvPr id="26" name="Rounded Rectangle 25"/>
          <p:cNvSpPr/>
          <p:nvPr/>
        </p:nvSpPr>
        <p:spPr>
          <a:xfrm>
            <a:off x="411480" y="3813048"/>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3813048"/>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CTO/CIO</a:t>
            </a:r>
          </a:p>
        </p:txBody>
      </p:sp>
      <p:sp>
        <p:nvSpPr>
          <p:cNvPr id="28" name="TextBox 27"/>
          <p:cNvSpPr txBox="1"/>
          <p:nvPr/>
        </p:nvSpPr>
        <p:spPr>
          <a:xfrm>
            <a:off x="2514600" y="3813048"/>
            <a:ext cx="457200" cy="438912"/>
          </a:xfrm>
          <a:prstGeom prst="rect">
            <a:avLst/>
          </a:prstGeom>
          <a:noFill/>
        </p:spPr>
        <p:txBody>
          <a:bodyPr wrap="square" lIns="0" tIns="0" rIns="0" bIns="0" anchor="ctr">
            <a:noAutofit/>
          </a:bodyPr>
          <a:lstStyle/>
          <a:p>
            <a:pPr algn="ctr"/>
            <a:r>
              <a:rPr sz="2400" b="1" i="0">
                <a:solidFill>
                  <a:srgbClr val="D6B75A"/>
                </a:solidFill>
                <a:latin typeface="Calibri"/>
              </a:rPr>
              <a:t>E</a:t>
            </a:r>
          </a:p>
        </p:txBody>
      </p:sp>
      <p:sp>
        <p:nvSpPr>
          <p:cNvPr id="29" name="Rounded Rectangle 28"/>
          <p:cNvSpPr/>
          <p:nvPr/>
        </p:nvSpPr>
        <p:spPr>
          <a:xfrm>
            <a:off x="3017520" y="3813048"/>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154680" y="3813048"/>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Financial performance and efficiency</a:t>
            </a:r>
          </a:p>
        </p:txBody>
      </p:sp>
      <p:sp>
        <p:nvSpPr>
          <p:cNvPr id="31" name="Rounded Rectangle 30"/>
          <p:cNvSpPr/>
          <p:nvPr/>
        </p:nvSpPr>
        <p:spPr>
          <a:xfrm>
            <a:off x="411480" y="4297680"/>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7200" y="4297680"/>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CMO</a:t>
            </a:r>
          </a:p>
        </p:txBody>
      </p:sp>
      <p:sp>
        <p:nvSpPr>
          <p:cNvPr id="33" name="TextBox 32"/>
          <p:cNvSpPr txBox="1"/>
          <p:nvPr/>
        </p:nvSpPr>
        <p:spPr>
          <a:xfrm>
            <a:off x="2514600" y="4297680"/>
            <a:ext cx="457200" cy="438912"/>
          </a:xfrm>
          <a:prstGeom prst="rect">
            <a:avLst/>
          </a:prstGeom>
          <a:noFill/>
        </p:spPr>
        <p:txBody>
          <a:bodyPr wrap="square" lIns="0" tIns="0" rIns="0" bIns="0" anchor="ctr">
            <a:noAutofit/>
          </a:bodyPr>
          <a:lstStyle/>
          <a:p>
            <a:pPr algn="ctr"/>
            <a:r>
              <a:rPr sz="2400" b="1" i="0">
                <a:solidFill>
                  <a:srgbClr val="D6B75A"/>
                </a:solidFill>
                <a:latin typeface="Calibri"/>
              </a:rPr>
              <a:t>F</a:t>
            </a:r>
          </a:p>
        </p:txBody>
      </p:sp>
      <p:sp>
        <p:nvSpPr>
          <p:cNvPr id="34" name="Rounded Rectangle 33"/>
          <p:cNvSpPr/>
          <p:nvPr/>
        </p:nvSpPr>
        <p:spPr>
          <a:xfrm>
            <a:off x="3017520" y="4297680"/>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154680" y="4297680"/>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Strategic planning coherence</a:t>
            </a:r>
          </a:p>
        </p:txBody>
      </p:sp>
      <p:sp>
        <p:nvSpPr>
          <p:cNvPr id="36" name="Rounded Rectangle 35"/>
          <p:cNvSpPr/>
          <p:nvPr/>
        </p:nvSpPr>
        <p:spPr>
          <a:xfrm>
            <a:off x="411480" y="4782312"/>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57200" y="4782312"/>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CCO</a:t>
            </a:r>
          </a:p>
        </p:txBody>
      </p:sp>
      <p:sp>
        <p:nvSpPr>
          <p:cNvPr id="38" name="TextBox 37"/>
          <p:cNvSpPr txBox="1"/>
          <p:nvPr/>
        </p:nvSpPr>
        <p:spPr>
          <a:xfrm>
            <a:off x="2514600" y="4782312"/>
            <a:ext cx="457200" cy="438912"/>
          </a:xfrm>
          <a:prstGeom prst="rect">
            <a:avLst/>
          </a:prstGeom>
          <a:noFill/>
        </p:spPr>
        <p:txBody>
          <a:bodyPr wrap="square" lIns="0" tIns="0" rIns="0" bIns="0" anchor="ctr">
            <a:noAutofit/>
          </a:bodyPr>
          <a:lstStyle/>
          <a:p>
            <a:pPr algn="ctr"/>
            <a:r>
              <a:rPr sz="2400" b="1" i="0">
                <a:solidFill>
                  <a:srgbClr val="D6B75A"/>
                </a:solidFill>
                <a:latin typeface="Calibri"/>
              </a:rPr>
              <a:t>G</a:t>
            </a:r>
          </a:p>
        </p:txBody>
      </p:sp>
      <p:sp>
        <p:nvSpPr>
          <p:cNvPr id="39" name="Rounded Rectangle 38"/>
          <p:cNvSpPr/>
          <p:nvPr/>
        </p:nvSpPr>
        <p:spPr>
          <a:xfrm>
            <a:off x="3017520" y="4782312"/>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154680" y="4782312"/>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Operational reliability and execution efficiency</a:t>
            </a:r>
          </a:p>
        </p:txBody>
      </p:sp>
      <p:sp>
        <p:nvSpPr>
          <p:cNvPr id="41" name="Rounded Rectangle 40"/>
          <p:cNvSpPr/>
          <p:nvPr/>
        </p:nvSpPr>
        <p:spPr>
          <a:xfrm>
            <a:off x="411480" y="5266944"/>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457200" y="5266944"/>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CPO</a:t>
            </a:r>
          </a:p>
        </p:txBody>
      </p:sp>
      <p:sp>
        <p:nvSpPr>
          <p:cNvPr id="43" name="TextBox 42"/>
          <p:cNvSpPr txBox="1"/>
          <p:nvPr/>
        </p:nvSpPr>
        <p:spPr>
          <a:xfrm>
            <a:off x="2514600" y="5266944"/>
            <a:ext cx="457200" cy="438912"/>
          </a:xfrm>
          <a:prstGeom prst="rect">
            <a:avLst/>
          </a:prstGeom>
          <a:noFill/>
        </p:spPr>
        <p:txBody>
          <a:bodyPr wrap="square" lIns="0" tIns="0" rIns="0" bIns="0" anchor="ctr">
            <a:noAutofit/>
          </a:bodyPr>
          <a:lstStyle/>
          <a:p>
            <a:pPr algn="ctr"/>
            <a:r>
              <a:rPr sz="2400" b="1" i="0">
                <a:solidFill>
                  <a:srgbClr val="D6B75A"/>
                </a:solidFill>
                <a:latin typeface="Calibri"/>
              </a:rPr>
              <a:t>H</a:t>
            </a:r>
          </a:p>
        </p:txBody>
      </p:sp>
      <p:sp>
        <p:nvSpPr>
          <p:cNvPr id="44" name="Rounded Rectangle 43"/>
          <p:cNvSpPr/>
          <p:nvPr/>
        </p:nvSpPr>
        <p:spPr>
          <a:xfrm>
            <a:off x="3017520" y="5266944"/>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3154680" y="5266944"/>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Market positioning and brand strength</a:t>
            </a:r>
          </a:p>
        </p:txBody>
      </p:sp>
      <p:sp>
        <p:nvSpPr>
          <p:cNvPr id="46" name="Rounded Rectangle 45"/>
          <p:cNvSpPr/>
          <p:nvPr/>
        </p:nvSpPr>
        <p:spPr>
          <a:xfrm>
            <a:off x="411480" y="5751576"/>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457200" y="5751576"/>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CRO</a:t>
            </a:r>
          </a:p>
        </p:txBody>
      </p:sp>
      <p:sp>
        <p:nvSpPr>
          <p:cNvPr id="48" name="TextBox 47"/>
          <p:cNvSpPr txBox="1"/>
          <p:nvPr/>
        </p:nvSpPr>
        <p:spPr>
          <a:xfrm>
            <a:off x="2514600" y="5751576"/>
            <a:ext cx="457200" cy="438912"/>
          </a:xfrm>
          <a:prstGeom prst="rect">
            <a:avLst/>
          </a:prstGeom>
          <a:noFill/>
        </p:spPr>
        <p:txBody>
          <a:bodyPr wrap="square" lIns="0" tIns="0" rIns="0" bIns="0" anchor="ctr">
            <a:noAutofit/>
          </a:bodyPr>
          <a:lstStyle/>
          <a:p>
            <a:pPr algn="ctr"/>
            <a:r>
              <a:rPr sz="2400" b="1" i="0">
                <a:solidFill>
                  <a:srgbClr val="D6B75A"/>
                </a:solidFill>
                <a:latin typeface="Calibri"/>
              </a:rPr>
              <a:t>I</a:t>
            </a:r>
          </a:p>
        </p:txBody>
      </p:sp>
      <p:sp>
        <p:nvSpPr>
          <p:cNvPr id="49" name="Rounded Rectangle 48"/>
          <p:cNvSpPr/>
          <p:nvPr/>
        </p:nvSpPr>
        <p:spPr>
          <a:xfrm>
            <a:off x="3017520" y="5751576"/>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3154680" y="5751576"/>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Risk control and regulatory protection</a:t>
            </a:r>
          </a:p>
        </p:txBody>
      </p:sp>
      <p:sp>
        <p:nvSpPr>
          <p:cNvPr id="51" name="Rounded Rectangle 50"/>
          <p:cNvSpPr/>
          <p:nvPr/>
        </p:nvSpPr>
        <p:spPr>
          <a:xfrm>
            <a:off x="411480" y="6236208"/>
            <a:ext cx="201168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57200" y="6236208"/>
            <a:ext cx="1920240" cy="438912"/>
          </a:xfrm>
          <a:prstGeom prst="rect">
            <a:avLst/>
          </a:prstGeom>
          <a:noFill/>
        </p:spPr>
        <p:txBody>
          <a:bodyPr wrap="square" lIns="18288" tIns="0" rIns="18288" bIns="0" anchor="ctr">
            <a:noAutofit/>
          </a:bodyPr>
          <a:lstStyle/>
          <a:p>
            <a:pPr algn="ctr"/>
            <a:r>
              <a:rPr sz="2400" b="1" i="0">
                <a:solidFill>
                  <a:srgbClr val="D6B75A"/>
                </a:solidFill>
                <a:latin typeface="Calibri"/>
              </a:rPr>
              <a:t>CSO</a:t>
            </a:r>
          </a:p>
        </p:txBody>
      </p:sp>
      <p:sp>
        <p:nvSpPr>
          <p:cNvPr id="53" name="TextBox 52"/>
          <p:cNvSpPr txBox="1"/>
          <p:nvPr/>
        </p:nvSpPr>
        <p:spPr>
          <a:xfrm>
            <a:off x="2514600" y="6236208"/>
            <a:ext cx="457200" cy="438912"/>
          </a:xfrm>
          <a:prstGeom prst="rect">
            <a:avLst/>
          </a:prstGeom>
          <a:noFill/>
        </p:spPr>
        <p:txBody>
          <a:bodyPr wrap="square" lIns="0" tIns="0" rIns="0" bIns="0" anchor="ctr">
            <a:noAutofit/>
          </a:bodyPr>
          <a:lstStyle/>
          <a:p>
            <a:pPr algn="ctr"/>
            <a:r>
              <a:rPr sz="2400" b="1" i="0">
                <a:solidFill>
                  <a:srgbClr val="D6B75A"/>
                </a:solidFill>
                <a:latin typeface="Calibri"/>
              </a:rPr>
              <a:t>J</a:t>
            </a:r>
          </a:p>
        </p:txBody>
      </p:sp>
      <p:sp>
        <p:nvSpPr>
          <p:cNvPr id="54" name="Rounded Rectangle 53"/>
          <p:cNvSpPr/>
          <p:nvPr/>
        </p:nvSpPr>
        <p:spPr>
          <a:xfrm>
            <a:off x="3017520" y="6236208"/>
            <a:ext cx="8778240" cy="438912"/>
          </a:xfrm>
          <a:prstGeom prst="roundRect">
            <a:avLst>
              <a:gd name="adj" fmla="val 15000"/>
            </a:avLst>
          </a:prstGeom>
          <a:solidFill>
            <a:srgbClr val="0B1B10"/>
          </a:solidFill>
          <a:ln w="9525">
            <a:solidFill>
              <a:srgbClr val="2C4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154680" y="6236208"/>
            <a:ext cx="8595360" cy="438912"/>
          </a:xfrm>
          <a:prstGeom prst="rect">
            <a:avLst/>
          </a:prstGeom>
          <a:noFill/>
        </p:spPr>
        <p:txBody>
          <a:bodyPr wrap="square" lIns="45720" tIns="0" rIns="45720" bIns="0" anchor="ctr">
            <a:noAutofit/>
          </a:bodyPr>
          <a:lstStyle/>
          <a:p>
            <a:pPr algn="l"/>
            <a:r>
              <a:rPr sz="2400" b="0" i="0">
                <a:solidFill>
                  <a:srgbClr val="E7E5D6"/>
                </a:solidFill>
                <a:latin typeface="Calibri"/>
              </a:rPr>
              <a:t>Revenue growth and commercial expansion</a:t>
            </a:r>
          </a:p>
        </p:txBody>
      </p:sp>
    </p:spTree>
    <p:extLst>
      <p:ext uri="{BB962C8B-B14F-4D97-AF65-F5344CB8AC3E}">
        <p14:creationId xmlns:p14="http://schemas.microsoft.com/office/powerpoint/2010/main" val="16874885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lection 3.1: Which hot zone description most accurately reflects how you instinctively approach OKR definition? What would you need to do differently to write an enterprise-level Key Result?"/>
          <p:cNvPicPr>
            <a:picLocks noChangeAspect="1"/>
          </p:cNvPicPr>
          <p:nvPr/>
        </p:nvPicPr>
        <p:blipFill>
          <a:blip r:embed="rId3"/>
          <a:stretch>
            <a:fillRect/>
          </a:stretch>
        </p:blipFill>
        <p:spPr>
          <a:xfrm>
            <a:off x="1691640" y="1572768"/>
            <a:ext cx="9921240" cy="1482484"/>
          </a:xfrm>
          <a:prstGeom prst="rect">
            <a:avLst/>
          </a:prstGeom>
        </p:spPr>
      </p:pic>
      <p:sp>
        <p:nvSpPr>
          <p:cNvPr id="4" name="Part 3.1"/>
          <p:cNvSpPr/>
          <p:nvPr/>
        </p:nvSpPr>
        <p:spPr>
          <a:xfrm>
            <a:off x="548640" y="1879670"/>
            <a:ext cx="868680" cy="868680"/>
          </a:xfrm>
          <a:prstGeom prst="ellipse">
            <a:avLst/>
          </a:prstGeom>
          <a:solidFill>
            <a:srgbClr val="C6A24C"/>
          </a:solidFill>
          <a:ln>
            <a:solidFill>
              <a:srgbClr val="C6A24C"/>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400" b="1">
                <a:solidFill>
                  <a:srgbClr val="FFFFFF"/>
                </a:solidFill>
                <a:latin typeface="Calibri"/>
              </a:rPr>
              <a:t>3.1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Strategy Airport: From Strategic Imagination to Operational Clearance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Translate strategic intent into execution-ready objectives and key results.</a:t>
            </a:r>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GB" sz="2400" dirty="0">
                <a:solidFill>
                  <a:srgbClr val="FFFFFF"/>
                </a:solidFill>
                <a:latin typeface="Calibri" pitchFamily="34" charset="0"/>
                <a:ea typeface="Calibri" pitchFamily="34" charset="-122"/>
                <a:cs typeface="Calibri" pitchFamily="34" charset="-120"/>
              </a:rPr>
              <a:t>Construct a measurable strategic trajectory from the intended future position.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Strategy Airport</a:t>
            </a:r>
            <a:endParaRPr lang="en-US" sz="3600" dirty="0"/>
          </a:p>
        </p:txBody>
      </p:sp>
      <p:sp>
        <p:nvSpPr>
          <p:cNvPr id="3" name="Shape 1"/>
          <p:cNvSpPr/>
          <p:nvPr/>
        </p:nvSpPr>
        <p:spPr>
          <a:xfrm>
            <a:off x="548640" y="1508760"/>
            <a:ext cx="5408676"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1600200" y="1691640"/>
            <a:ext cx="4128516" cy="73152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Gate 1 · Baggage Check</a:t>
            </a:r>
            <a:endParaRPr lang="en-US" sz="2600" dirty="0"/>
          </a:p>
        </p:txBody>
      </p:sp>
      <p:sp>
        <p:nvSpPr>
          <p:cNvPr id="7" name="Text 4"/>
          <p:cNvSpPr txBox="1"/>
          <p:nvPr/>
        </p:nvSpPr>
        <p:spPr>
          <a:xfrm>
            <a:off x="777240" y="2560320"/>
            <a:ext cx="4951476" cy="2743200"/>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KISS mapping: what must the company keep, improve, start and stop?</a:t>
            </a:r>
            <a:endParaRPr lang="en-US" sz="2400" dirty="0"/>
          </a:p>
        </p:txBody>
      </p:sp>
      <p:sp>
        <p:nvSpPr>
          <p:cNvPr id="8" name="Shape 5"/>
          <p:cNvSpPr/>
          <p:nvPr/>
        </p:nvSpPr>
        <p:spPr>
          <a:xfrm>
            <a:off x="6231636" y="1508760"/>
            <a:ext cx="5408676"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9" name="Shape 6"/>
          <p:cNvSpPr/>
          <p:nvPr/>
        </p:nvSpPr>
        <p:spPr>
          <a:xfrm>
            <a:off x="6460236" y="1737360"/>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6620256" y="1897380"/>
            <a:ext cx="320040" cy="320040"/>
          </a:xfrm>
          <a:prstGeom prst="rect">
            <a:avLst/>
          </a:prstGeom>
        </p:spPr>
      </p:pic>
      <p:sp>
        <p:nvSpPr>
          <p:cNvPr id="11" name="Text 7"/>
          <p:cNvSpPr txBox="1"/>
          <p:nvPr/>
        </p:nvSpPr>
        <p:spPr>
          <a:xfrm>
            <a:off x="7283196" y="1691640"/>
            <a:ext cx="4128516" cy="73152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Gate 2 · Flight Plan</a:t>
            </a:r>
            <a:endParaRPr lang="en-US" sz="2600" dirty="0"/>
          </a:p>
        </p:txBody>
      </p:sp>
      <p:sp>
        <p:nvSpPr>
          <p:cNvPr id="12" name="Text 8"/>
          <p:cNvSpPr txBox="1"/>
          <p:nvPr/>
        </p:nvSpPr>
        <p:spPr>
          <a:xfrm>
            <a:off x="6460236" y="2560320"/>
            <a:ext cx="4951476" cy="2743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OKR construction: one KISS theme becomes an Objective and two Key Results.</a:t>
            </a:r>
            <a:endParaRPr lang="en-US" sz="2400" dirty="0"/>
          </a:p>
        </p:txBody>
      </p:sp>
      <p:sp>
        <p:nvSpPr>
          <p:cNvPr id="13" name="Shape 9"/>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4" name="Text 10"/>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The case: a medical health company. One learning round.</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Building Collective Intelligence: From SiP to KISS to Enterprise OKRs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GB" sz="2400" dirty="0">
                <a:solidFill>
                  <a:srgbClr val="FFFFFF"/>
                </a:solidFill>
                <a:latin typeface="Calibri" pitchFamily="34" charset="0"/>
                <a:ea typeface="Calibri" pitchFamily="34" charset="-122"/>
                <a:cs typeface="Calibri" pitchFamily="34" charset="-120"/>
              </a:rPr>
              <a:t>Negotiate a coherent set of enterprise objectives and results across the leadership team.</a:t>
            </a:r>
            <a:r>
              <a:rPr lang="en-GB" sz="2400" dirty="0" err="1">
                <a:solidFill>
                  <a:srgbClr val="FFFFFF"/>
                </a:solidFill>
                <a:latin typeface="Calibri" pitchFamily="34" charset="0"/>
                <a:ea typeface="Calibri" pitchFamily="34" charset="-122"/>
                <a:cs typeface="Calibri" pitchFamily="34" charset="-120"/>
              </a:rPr>
              <a:t/>
            </a:r>
            <a:r>
              <a:rPr lang="en-GB" sz="2400" dirty="0">
                <a:solidFill>
                  <a:srgbClr val="FFFFFF"/>
                </a:solidFill>
                <a:latin typeface="Calibri" pitchFamily="34" charset="0"/>
                <a:ea typeface="Calibri" pitchFamily="34" charset="-122"/>
                <a:cs typeface="Calibri" pitchFamily="34" charset="-120"/>
              </a:rPr>
              <a:t/>
            </a:r>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GB" sz="2400" dirty="0">
                <a:solidFill>
                  <a:srgbClr val="FFFFFF"/>
                </a:solidFill>
                <a:latin typeface="Calibri" pitchFamily="34" charset="0"/>
                <a:ea typeface="Calibri" pitchFamily="34" charset="-122"/>
                <a:cs typeface="Calibri" pitchFamily="34" charset="-120"/>
              </a:rPr>
              <a:t>Integrate diverse executive perspectives into a shared strategic trajectory.</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228600" y="228600"/>
            <a:ext cx="11731752" cy="1517904"/>
          </a:xfrm>
          <a:prstGeom prst="roundRect">
            <a:avLst>
              <a:gd name="adj" fmla="val 10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1752"/>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CUSTOMER EXPERIENCE &amp; VALUE</a:t>
            </a:r>
          </a:p>
        </p:txBody>
      </p:sp>
      <p:sp>
        <p:nvSpPr>
          <p:cNvPr id="4" name="TextBox 3"/>
          <p:cNvSpPr txBox="1"/>
          <p:nvPr/>
        </p:nvSpPr>
        <p:spPr>
          <a:xfrm>
            <a:off x="457200" y="795528"/>
            <a:ext cx="2743200" cy="457200"/>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5" name="TextBox 4"/>
          <p:cNvSpPr txBox="1"/>
          <p:nvPr/>
        </p:nvSpPr>
        <p:spPr>
          <a:xfrm>
            <a:off x="3337560" y="795528"/>
            <a:ext cx="2743200" cy="457200"/>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6" name="TextBox 5"/>
          <p:cNvSpPr txBox="1"/>
          <p:nvPr/>
        </p:nvSpPr>
        <p:spPr>
          <a:xfrm>
            <a:off x="6217920" y="795528"/>
            <a:ext cx="2743200" cy="457200"/>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7" name="TextBox 6"/>
          <p:cNvSpPr txBox="1"/>
          <p:nvPr/>
        </p:nvSpPr>
        <p:spPr>
          <a:xfrm>
            <a:off x="9098280" y="795528"/>
            <a:ext cx="2743200" cy="457200"/>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8" name="Rounded Rectangle 7"/>
          <p:cNvSpPr/>
          <p:nvPr/>
        </p:nvSpPr>
        <p:spPr>
          <a:xfrm>
            <a:off x="228600" y="1856232"/>
            <a:ext cx="11731752" cy="1517904"/>
          </a:xfrm>
          <a:prstGeom prst="roundRect">
            <a:avLst>
              <a:gd name="adj" fmla="val 10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 y="1929384"/>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OPERATIONAL CAPABILITY &amp; EXECUTION RHYTHM</a:t>
            </a:r>
          </a:p>
        </p:txBody>
      </p:sp>
      <p:sp>
        <p:nvSpPr>
          <p:cNvPr id="10" name="TextBox 9"/>
          <p:cNvSpPr txBox="1"/>
          <p:nvPr/>
        </p:nvSpPr>
        <p:spPr>
          <a:xfrm>
            <a:off x="457200" y="2423160"/>
            <a:ext cx="2743200" cy="457200"/>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11" name="TextBox 10"/>
          <p:cNvSpPr txBox="1"/>
          <p:nvPr/>
        </p:nvSpPr>
        <p:spPr>
          <a:xfrm>
            <a:off x="3337560" y="2423160"/>
            <a:ext cx="2743200" cy="457200"/>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12" name="TextBox 11"/>
          <p:cNvSpPr txBox="1"/>
          <p:nvPr/>
        </p:nvSpPr>
        <p:spPr>
          <a:xfrm>
            <a:off x="6217920" y="2423160"/>
            <a:ext cx="2743200" cy="457200"/>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13" name="TextBox 12"/>
          <p:cNvSpPr txBox="1"/>
          <p:nvPr/>
        </p:nvSpPr>
        <p:spPr>
          <a:xfrm>
            <a:off x="9098280" y="2423160"/>
            <a:ext cx="2743200" cy="457200"/>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14" name="Rounded Rectangle 13"/>
          <p:cNvSpPr/>
          <p:nvPr/>
        </p:nvSpPr>
        <p:spPr>
          <a:xfrm>
            <a:off x="228600" y="3483864"/>
            <a:ext cx="11731752" cy="1517904"/>
          </a:xfrm>
          <a:prstGeom prst="roundRect">
            <a:avLst>
              <a:gd name="adj" fmla="val 10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200" y="3557016"/>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PEOPLE &amp; CULTURE DYNAMICS</a:t>
            </a:r>
          </a:p>
        </p:txBody>
      </p:sp>
      <p:sp>
        <p:nvSpPr>
          <p:cNvPr id="16" name="TextBox 15"/>
          <p:cNvSpPr txBox="1"/>
          <p:nvPr/>
        </p:nvSpPr>
        <p:spPr>
          <a:xfrm>
            <a:off x="457200" y="4050791"/>
            <a:ext cx="2743200" cy="457200"/>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17" name="TextBox 16"/>
          <p:cNvSpPr txBox="1"/>
          <p:nvPr/>
        </p:nvSpPr>
        <p:spPr>
          <a:xfrm>
            <a:off x="3337560" y="4050791"/>
            <a:ext cx="2743200" cy="457200"/>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18" name="TextBox 17"/>
          <p:cNvSpPr txBox="1"/>
          <p:nvPr/>
        </p:nvSpPr>
        <p:spPr>
          <a:xfrm>
            <a:off x="6217920" y="4050791"/>
            <a:ext cx="2743200" cy="457200"/>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19" name="TextBox 18"/>
          <p:cNvSpPr txBox="1"/>
          <p:nvPr/>
        </p:nvSpPr>
        <p:spPr>
          <a:xfrm>
            <a:off x="9098280" y="4050791"/>
            <a:ext cx="2743200" cy="457200"/>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
        <p:nvSpPr>
          <p:cNvPr id="20" name="Rounded Rectangle 19"/>
          <p:cNvSpPr/>
          <p:nvPr/>
        </p:nvSpPr>
        <p:spPr>
          <a:xfrm>
            <a:off x="228600" y="5111496"/>
            <a:ext cx="11731752" cy="1517904"/>
          </a:xfrm>
          <a:prstGeom prst="roundRect">
            <a:avLst>
              <a:gd name="adj" fmla="val 10000"/>
            </a:avLst>
          </a:prstGeom>
          <a:solidFill>
            <a:srgbClr val="1B2F21"/>
          </a:solidFill>
          <a:ln w="9525">
            <a:solidFill>
              <a:srgbClr val="3348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7200" y="5184648"/>
            <a:ext cx="11247120" cy="457200"/>
          </a:xfrm>
          <a:prstGeom prst="rect">
            <a:avLst/>
          </a:prstGeom>
          <a:noFill/>
        </p:spPr>
        <p:txBody>
          <a:bodyPr wrap="square" lIns="45720" tIns="27432" rIns="45720" bIns="27432" anchor="t">
            <a:noAutofit/>
          </a:bodyPr>
          <a:lstStyle/>
          <a:p>
            <a:pPr algn="l"/>
            <a:r>
              <a:rPr sz="2400" b="1" i="0">
                <a:solidFill>
                  <a:srgbClr val="FFFFFF"/>
                </a:solidFill>
                <a:latin typeface="Calibri"/>
              </a:rPr>
              <a:t>ENTERPRISE VALUE CREATION</a:t>
            </a:r>
          </a:p>
        </p:txBody>
      </p:sp>
      <p:sp>
        <p:nvSpPr>
          <p:cNvPr id="22" name="TextBox 21"/>
          <p:cNvSpPr txBox="1"/>
          <p:nvPr/>
        </p:nvSpPr>
        <p:spPr>
          <a:xfrm>
            <a:off x="457200" y="5678424"/>
            <a:ext cx="2743200" cy="457200"/>
          </a:xfrm>
          <a:prstGeom prst="rect">
            <a:avLst/>
          </a:prstGeom>
          <a:noFill/>
        </p:spPr>
        <p:txBody>
          <a:bodyPr wrap="square" lIns="45720" tIns="27432" rIns="45720" bIns="27432" anchor="t">
            <a:noAutofit/>
          </a:bodyPr>
          <a:lstStyle/>
          <a:p>
            <a:pPr algn="l"/>
            <a:r>
              <a:rPr sz="2400" b="1" i="0">
                <a:solidFill>
                  <a:srgbClr val="78D7A4"/>
                </a:solidFill>
                <a:latin typeface="Calibri"/>
              </a:rPr>
              <a:t>KEEP</a:t>
            </a:r>
          </a:p>
        </p:txBody>
      </p:sp>
      <p:sp>
        <p:nvSpPr>
          <p:cNvPr id="23" name="TextBox 22"/>
          <p:cNvSpPr txBox="1"/>
          <p:nvPr/>
        </p:nvSpPr>
        <p:spPr>
          <a:xfrm>
            <a:off x="3337560" y="5678424"/>
            <a:ext cx="2743200" cy="457200"/>
          </a:xfrm>
          <a:prstGeom prst="rect">
            <a:avLst/>
          </a:prstGeom>
          <a:noFill/>
        </p:spPr>
        <p:txBody>
          <a:bodyPr wrap="square" lIns="45720" tIns="27432" rIns="45720" bIns="27432" anchor="t">
            <a:noAutofit/>
          </a:bodyPr>
          <a:lstStyle/>
          <a:p>
            <a:pPr algn="l"/>
            <a:r>
              <a:rPr sz="2400" b="1" i="0">
                <a:solidFill>
                  <a:srgbClr val="E2C05B"/>
                </a:solidFill>
                <a:latin typeface="Calibri"/>
              </a:rPr>
              <a:t>IMPROVE</a:t>
            </a:r>
          </a:p>
        </p:txBody>
      </p:sp>
      <p:sp>
        <p:nvSpPr>
          <p:cNvPr id="24" name="TextBox 23"/>
          <p:cNvSpPr txBox="1"/>
          <p:nvPr/>
        </p:nvSpPr>
        <p:spPr>
          <a:xfrm>
            <a:off x="6217920" y="5678424"/>
            <a:ext cx="2743200" cy="457200"/>
          </a:xfrm>
          <a:prstGeom prst="rect">
            <a:avLst/>
          </a:prstGeom>
          <a:noFill/>
        </p:spPr>
        <p:txBody>
          <a:bodyPr wrap="square" lIns="45720" tIns="27432" rIns="45720" bIns="27432" anchor="t">
            <a:noAutofit/>
          </a:bodyPr>
          <a:lstStyle/>
          <a:p>
            <a:pPr algn="l"/>
            <a:r>
              <a:rPr sz="2400" b="1" i="0">
                <a:solidFill>
                  <a:srgbClr val="7EBEF4"/>
                </a:solidFill>
                <a:latin typeface="Calibri"/>
              </a:rPr>
              <a:t>START</a:t>
            </a:r>
          </a:p>
        </p:txBody>
      </p:sp>
      <p:sp>
        <p:nvSpPr>
          <p:cNvPr id="25" name="TextBox 24"/>
          <p:cNvSpPr txBox="1"/>
          <p:nvPr/>
        </p:nvSpPr>
        <p:spPr>
          <a:xfrm>
            <a:off x="9098280" y="5678424"/>
            <a:ext cx="2743200" cy="457200"/>
          </a:xfrm>
          <a:prstGeom prst="rect">
            <a:avLst/>
          </a:prstGeom>
          <a:noFill/>
        </p:spPr>
        <p:txBody>
          <a:bodyPr wrap="square" lIns="45720" tIns="27432" rIns="45720" bIns="27432" anchor="t">
            <a:noAutofit/>
          </a:bodyPr>
          <a:lstStyle/>
          <a:p>
            <a:pPr algn="l"/>
            <a:r>
              <a:rPr sz="2400" b="1" i="0">
                <a:solidFill>
                  <a:srgbClr val="EC7875"/>
                </a:solidFill>
                <a:latin typeface="Calibri"/>
              </a:rPr>
              <a:t>STOP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A7447F-715D-4A04-DD90-F3202E6D19D1}"/>
            </a:ext>
          </a:extLst>
        </p:cNvPr>
        <p:cNvGrpSpPr/>
        <p:nvPr/>
      </p:nvGrpSpPr>
      <p:grpSpPr>
        <a:xfrm>
          <a:off x="0" y="0"/>
          <a:ext cx="0" cy="0"/>
          <a:chOff x="0" y="0"/>
          <a:chExt cx="0" cy="0"/>
        </a:xfrm>
      </p:grpSpPr>
      <p:sp>
        <p:nvSpPr>
          <p:cNvPr id="2" name="TextBox 1"/>
          <p:cNvSpPr txBox="1"/>
          <p:nvPr/>
        </p:nvSpPr>
        <p:spPr>
          <a:xfrm>
            <a:off x="548640" y="320040"/>
            <a:ext cx="11155680" cy="731520"/>
          </a:xfrm>
          <a:prstGeom prst="rect">
            <a:avLst/>
          </a:prstGeom>
          <a:noFill/>
        </p:spPr>
        <p:txBody>
          <a:bodyPr wrap="square" lIns="45720" tIns="27432" rIns="45720" bIns="27432" anchor="t">
            <a:noAutofit/>
          </a:bodyPr>
          <a:lstStyle/>
          <a:p>
            <a:pPr algn="l"/>
            <a:r>
              <a:rPr sz="3600" b="1" i="0">
                <a:solidFill>
                  <a:srgbClr val="1A5C2C"/>
                </a:solidFill>
                <a:latin typeface="Cambria"/>
              </a:rPr>
              <a:t>5.2 Translating KISS to OKRs: The Five Steps</a:t>
            </a:r>
          </a:p>
        </p:txBody>
      </p:sp>
      <p:sp>
        <p:nvSpPr>
          <p:cNvPr id="3" name="Rounded Rectangle 2"/>
          <p:cNvSpPr/>
          <p:nvPr/>
        </p:nvSpPr>
        <p:spPr>
          <a:xfrm>
            <a:off x="274320" y="1234440"/>
            <a:ext cx="2286000" cy="1325880"/>
          </a:xfrm>
          <a:prstGeom prst="roundRect">
            <a:avLst>
              <a:gd name="adj" fmla="val 10000"/>
            </a:avLst>
          </a:prstGeom>
          <a:solidFill>
            <a:srgbClr val="131C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92000"/>
              </a:lnSpc>
            </a:pPr>
            <a:r>
              <a:rPr sz="2400" b="1" i="0">
                <a:solidFill>
                  <a:srgbClr val="CDAB49"/>
                </a:solidFill>
                <a:latin typeface="Calibri"/>
              </a:rPr>
              <a:t>STEP 1</a:t>
            </a:r>
          </a:p>
          <a:p>
            <a:pPr algn="ctr">
              <a:lnSpc>
                <a:spcPct val="92000"/>
              </a:lnSpc>
            </a:pPr>
            <a:r>
              <a:rPr sz="2400" b="1" i="0">
                <a:solidFill>
                  <a:srgbClr val="E7E5D6"/>
                </a:solidFill>
                <a:latin typeface="Calibri"/>
              </a:rPr>
              <a:t>FIND THEMES</a:t>
            </a:r>
          </a:p>
        </p:txBody>
      </p:sp>
      <p:sp>
        <p:nvSpPr>
          <p:cNvPr id="4" name="Rounded Rectangle 3"/>
          <p:cNvSpPr/>
          <p:nvPr/>
        </p:nvSpPr>
        <p:spPr>
          <a:xfrm>
            <a:off x="274320" y="2651760"/>
            <a:ext cx="2286000" cy="3931920"/>
          </a:xfrm>
          <a:prstGeom prst="roundRect">
            <a:avLst>
              <a:gd name="adj" fmla="val 5000"/>
            </a:avLst>
          </a:prstGeom>
          <a:solidFill>
            <a:srgbClr val="EEF4EF"/>
          </a:solidFill>
          <a:ln w="9525">
            <a:solidFill>
              <a:srgbClr val="D5DE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47472" y="2743200"/>
            <a:ext cx="2139696" cy="3749039"/>
          </a:xfrm>
          <a:prstGeom prst="rect">
            <a:avLst/>
          </a:prstGeom>
          <a:noFill/>
        </p:spPr>
        <p:txBody>
          <a:bodyPr wrap="square" lIns="45720" tIns="27432" rIns="45720" bIns="27432" anchor="t">
            <a:noAutofit/>
          </a:bodyPr>
          <a:lstStyle/>
          <a:p>
            <a:pPr algn="l"/>
            <a:r>
              <a:rPr sz="2400" b="0" i="0">
                <a:solidFill>
                  <a:srgbClr val="1F2A22"/>
                </a:solidFill>
                <a:latin typeface="Calibri"/>
              </a:rPr>
              <a:t>Up to four, from the confirmed KISS map</a:t>
            </a:r>
          </a:p>
        </p:txBody>
      </p:sp>
      <p:sp>
        <p:nvSpPr>
          <p:cNvPr id="6" name="Rounded Rectangle 5"/>
          <p:cNvSpPr/>
          <p:nvPr/>
        </p:nvSpPr>
        <p:spPr>
          <a:xfrm>
            <a:off x="2633472" y="1234440"/>
            <a:ext cx="2286000" cy="1325880"/>
          </a:xfrm>
          <a:prstGeom prst="roundRect">
            <a:avLst>
              <a:gd name="adj" fmla="val 10000"/>
            </a:avLst>
          </a:prstGeom>
          <a:solidFill>
            <a:srgbClr val="131C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92000"/>
              </a:lnSpc>
            </a:pPr>
            <a:r>
              <a:rPr sz="2400" b="1" i="0">
                <a:solidFill>
                  <a:srgbClr val="CDAB49"/>
                </a:solidFill>
                <a:latin typeface="Calibri"/>
              </a:rPr>
              <a:t>STEP 2</a:t>
            </a:r>
          </a:p>
          <a:p>
            <a:pPr algn="ctr">
              <a:lnSpc>
                <a:spcPct val="92000"/>
              </a:lnSpc>
            </a:pPr>
            <a:r>
              <a:rPr sz="2400" b="1" i="0">
                <a:solidFill>
                  <a:srgbClr val="E7E5D6"/>
                </a:solidFill>
                <a:latin typeface="Calibri"/>
              </a:rPr>
              <a:t>INSPIRING OBJECTIVES</a:t>
            </a:r>
          </a:p>
        </p:txBody>
      </p:sp>
      <p:sp>
        <p:nvSpPr>
          <p:cNvPr id="7" name="Rounded Rectangle 6"/>
          <p:cNvSpPr/>
          <p:nvPr/>
        </p:nvSpPr>
        <p:spPr>
          <a:xfrm>
            <a:off x="2633472" y="2651760"/>
            <a:ext cx="2286000" cy="3931920"/>
          </a:xfrm>
          <a:prstGeom prst="roundRect">
            <a:avLst>
              <a:gd name="adj" fmla="val 5000"/>
            </a:avLst>
          </a:prstGeom>
          <a:solidFill>
            <a:srgbClr val="EEF4EF"/>
          </a:solidFill>
          <a:ln w="9525">
            <a:solidFill>
              <a:srgbClr val="D5DE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706624" y="2743200"/>
            <a:ext cx="2139696" cy="3749039"/>
          </a:xfrm>
          <a:prstGeom prst="rect">
            <a:avLst/>
          </a:prstGeom>
          <a:noFill/>
        </p:spPr>
        <p:txBody>
          <a:bodyPr wrap="square" lIns="45720" tIns="27432" rIns="45720" bIns="27432" anchor="t">
            <a:noAutofit/>
          </a:bodyPr>
          <a:lstStyle/>
          <a:p>
            <a:pPr algn="l"/>
            <a:r>
              <a:rPr sz="2400" b="0" i="0">
                <a:solidFill>
                  <a:srgbClr val="1F2A22"/>
                </a:solidFill>
                <a:latin typeface="Calibri"/>
              </a:rPr>
              <a:t>One Objective for each theme</a:t>
            </a:r>
          </a:p>
        </p:txBody>
      </p:sp>
      <p:sp>
        <p:nvSpPr>
          <p:cNvPr id="9" name="Rounded Rectangle 8"/>
          <p:cNvSpPr/>
          <p:nvPr/>
        </p:nvSpPr>
        <p:spPr>
          <a:xfrm>
            <a:off x="4992624" y="1234440"/>
            <a:ext cx="2286000" cy="1325880"/>
          </a:xfrm>
          <a:prstGeom prst="roundRect">
            <a:avLst>
              <a:gd name="adj" fmla="val 10000"/>
            </a:avLst>
          </a:prstGeom>
          <a:solidFill>
            <a:srgbClr val="131C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92000"/>
              </a:lnSpc>
            </a:pPr>
            <a:r>
              <a:rPr sz="2400" b="1" i="0">
                <a:solidFill>
                  <a:srgbClr val="CDAB49"/>
                </a:solidFill>
                <a:latin typeface="Calibri"/>
              </a:rPr>
              <a:t>STEP 3</a:t>
            </a:r>
          </a:p>
          <a:p>
            <a:pPr algn="ctr">
              <a:lnSpc>
                <a:spcPct val="92000"/>
              </a:lnSpc>
            </a:pPr>
            <a:r>
              <a:rPr sz="2400" b="1" i="0">
                <a:solidFill>
                  <a:srgbClr val="E7E5D6"/>
                </a:solidFill>
                <a:latin typeface="Calibri"/>
              </a:rPr>
              <a:t>DEFINE KEY RESULTS</a:t>
            </a:r>
          </a:p>
        </p:txBody>
      </p:sp>
      <p:sp>
        <p:nvSpPr>
          <p:cNvPr id="10" name="Rounded Rectangle 9"/>
          <p:cNvSpPr/>
          <p:nvPr/>
        </p:nvSpPr>
        <p:spPr>
          <a:xfrm>
            <a:off x="4992624" y="2651760"/>
            <a:ext cx="2286000" cy="3931920"/>
          </a:xfrm>
          <a:prstGeom prst="roundRect">
            <a:avLst>
              <a:gd name="adj" fmla="val 5000"/>
            </a:avLst>
          </a:prstGeom>
          <a:solidFill>
            <a:srgbClr val="EEF4EF"/>
          </a:solidFill>
          <a:ln w="9525">
            <a:solidFill>
              <a:srgbClr val="D5DE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65776" y="2743200"/>
            <a:ext cx="2139696" cy="3749039"/>
          </a:xfrm>
          <a:prstGeom prst="rect">
            <a:avLst/>
          </a:prstGeom>
          <a:noFill/>
        </p:spPr>
        <p:txBody>
          <a:bodyPr wrap="square" lIns="45720" tIns="27432" rIns="45720" bIns="27432" anchor="t">
            <a:noAutofit/>
          </a:bodyPr>
          <a:lstStyle/>
          <a:p>
            <a:pPr algn="l"/>
            <a:r>
              <a:rPr sz="2400" b="0" i="0">
                <a:solidFill>
                  <a:srgbClr val="1F2A22"/>
                </a:solidFill>
                <a:latin typeface="Calibri"/>
              </a:rPr>
              <a:t>Up to two KRs with the contributing roles</a:t>
            </a:r>
          </a:p>
        </p:txBody>
      </p:sp>
      <p:sp>
        <p:nvSpPr>
          <p:cNvPr id="12" name="Rounded Rectangle 11"/>
          <p:cNvSpPr/>
          <p:nvPr/>
        </p:nvSpPr>
        <p:spPr>
          <a:xfrm>
            <a:off x="7351776" y="1234440"/>
            <a:ext cx="2286000" cy="1325880"/>
          </a:xfrm>
          <a:prstGeom prst="roundRect">
            <a:avLst>
              <a:gd name="adj" fmla="val 10000"/>
            </a:avLst>
          </a:prstGeom>
          <a:solidFill>
            <a:srgbClr val="131C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92000"/>
              </a:lnSpc>
            </a:pPr>
            <a:r>
              <a:rPr sz="2400" b="1" i="0">
                <a:solidFill>
                  <a:srgbClr val="CDAB49"/>
                </a:solidFill>
                <a:latin typeface="Calibri"/>
              </a:rPr>
              <a:t>STEP 4</a:t>
            </a:r>
          </a:p>
          <a:p>
            <a:pPr algn="ctr">
              <a:lnSpc>
                <a:spcPct val="92000"/>
              </a:lnSpc>
            </a:pPr>
            <a:r>
              <a:rPr sz="2400" b="1" i="0">
                <a:solidFill>
                  <a:srgbClr val="E7E5D6"/>
                </a:solidFill>
                <a:latin typeface="Calibri"/>
              </a:rPr>
              <a:t>ALIGNMENT TEST</a:t>
            </a:r>
          </a:p>
        </p:txBody>
      </p:sp>
      <p:sp>
        <p:nvSpPr>
          <p:cNvPr id="13" name="Rounded Rectangle 12"/>
          <p:cNvSpPr/>
          <p:nvPr/>
        </p:nvSpPr>
        <p:spPr>
          <a:xfrm>
            <a:off x="7351776" y="2651760"/>
            <a:ext cx="2286000" cy="3931920"/>
          </a:xfrm>
          <a:prstGeom prst="roundRect">
            <a:avLst>
              <a:gd name="adj" fmla="val 5000"/>
            </a:avLst>
          </a:prstGeom>
          <a:solidFill>
            <a:srgbClr val="EEF4EF"/>
          </a:solidFill>
          <a:ln w="9525">
            <a:solidFill>
              <a:srgbClr val="D5DE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24928" y="2743200"/>
            <a:ext cx="2139696" cy="3749039"/>
          </a:xfrm>
          <a:prstGeom prst="rect">
            <a:avLst/>
          </a:prstGeom>
          <a:noFill/>
        </p:spPr>
        <p:txBody>
          <a:bodyPr wrap="square" lIns="45720" tIns="27432" rIns="45720" bIns="27432" anchor="t">
            <a:noAutofit/>
          </a:bodyPr>
          <a:lstStyle/>
          <a:p>
            <a:pPr algn="l"/>
            <a:r>
              <a:rPr sz="2400" b="0" i="0">
                <a:solidFill>
                  <a:srgbClr val="1F2A22"/>
                </a:solidFill>
                <a:latin typeface="Calibri"/>
              </a:rPr>
              <a:t>Align yes, to all four questions</a:t>
            </a:r>
          </a:p>
        </p:txBody>
      </p:sp>
      <p:sp>
        <p:nvSpPr>
          <p:cNvPr id="15" name="Rounded Rectangle 14"/>
          <p:cNvSpPr/>
          <p:nvPr/>
        </p:nvSpPr>
        <p:spPr>
          <a:xfrm>
            <a:off x="9710928" y="1234440"/>
            <a:ext cx="2286000" cy="1325880"/>
          </a:xfrm>
          <a:prstGeom prst="roundRect">
            <a:avLst>
              <a:gd name="adj" fmla="val 10000"/>
            </a:avLst>
          </a:prstGeom>
          <a:solidFill>
            <a:srgbClr val="131C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92000"/>
              </a:lnSpc>
            </a:pPr>
            <a:r>
              <a:rPr sz="2400" b="1" i="0">
                <a:solidFill>
                  <a:srgbClr val="CDAB49"/>
                </a:solidFill>
                <a:latin typeface="Calibri"/>
              </a:rPr>
              <a:t>STEP 5</a:t>
            </a:r>
          </a:p>
          <a:p>
            <a:pPr algn="ctr">
              <a:lnSpc>
                <a:spcPct val="92000"/>
              </a:lnSpc>
            </a:pPr>
            <a:r>
              <a:rPr sz="2400" b="1" i="0">
                <a:solidFill>
                  <a:srgbClr val="E7E5D6"/>
                </a:solidFill>
                <a:latin typeface="Calibri"/>
              </a:rPr>
              <a:t>PRIORITY MATRIX</a:t>
            </a:r>
          </a:p>
        </p:txBody>
      </p:sp>
      <p:sp>
        <p:nvSpPr>
          <p:cNvPr id="16" name="Rounded Rectangle 15"/>
          <p:cNvSpPr/>
          <p:nvPr/>
        </p:nvSpPr>
        <p:spPr>
          <a:xfrm>
            <a:off x="9710928" y="2651760"/>
            <a:ext cx="2286000" cy="3931920"/>
          </a:xfrm>
          <a:prstGeom prst="roundRect">
            <a:avLst>
              <a:gd name="adj" fmla="val 5000"/>
            </a:avLst>
          </a:prstGeom>
          <a:solidFill>
            <a:srgbClr val="EEF4EF"/>
          </a:solidFill>
          <a:ln w="9525">
            <a:solidFill>
              <a:srgbClr val="D5DED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84080" y="2743200"/>
            <a:ext cx="2139696" cy="3749039"/>
          </a:xfrm>
          <a:prstGeom prst="rect">
            <a:avLst/>
          </a:prstGeom>
          <a:noFill/>
        </p:spPr>
        <p:txBody>
          <a:bodyPr wrap="square" lIns="45720" tIns="27432" rIns="45720" bIns="27432" anchor="t">
            <a:noAutofit/>
          </a:bodyPr>
          <a:lstStyle/>
          <a:p>
            <a:pPr algn="l"/>
            <a:r>
              <a:rPr sz="2400" b="0" i="0">
                <a:solidFill>
                  <a:srgbClr val="1F2A22"/>
                </a:solidFill>
                <a:latin typeface="Calibri"/>
              </a:rPr>
              <a:t>Each priority placed by Impact and Effort</a:t>
            </a:r>
          </a:p>
        </p:txBody>
      </p:sp>
    </p:spTree>
    <p:extLst>
      <p:ext uri="{BB962C8B-B14F-4D97-AF65-F5344CB8AC3E}">
        <p14:creationId xmlns:p14="http://schemas.microsoft.com/office/powerpoint/2010/main" val="1451096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Return to the opening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If the Success in Practice we described is the future organisation, what must change in the organisation today to make that future possible?</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461</TotalTime>
  <Words>15291</Words>
  <Application>Microsoft Office PowerPoint</Application>
  <PresentationFormat>Widescreen</PresentationFormat>
  <Paragraphs>1600</Paragraphs>
  <Slides>34</Slides>
  <Notes>34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34</vt:i4>
      </vt:variant>
    </vt:vector>
  </HeadingPairs>
  <TitlesOfParts>
    <vt:vector size="44" baseType="lpstr">
      <vt:lpstr>Aptos</vt:lpstr>
      <vt:lpstr>Aptos Display</vt:lpstr>
      <vt:lpstr>Aptos Light</vt:lpstr>
      <vt:lpstr>Arial</vt:lpstr>
      <vt:lpstr>Calibri</vt:lpstr>
      <vt:lpstr>Cambria</vt:lpstr>
      <vt:lpstr>Georgia</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 SiP KISS Mapping &amp; OKR Definition</dc:title>
  <dc:subject>PptxGenJS Presentation</dc:subject>
  <dc:creator>Institute of Behavioural Strategy &amp; Leadership</dc:creator>
  <cp:lastModifiedBy>Carol Lupiya</cp:lastModifiedBy>
  <cp:revision>3</cp:revision>
  <dcterms:created xsi:type="dcterms:W3CDTF">2026-10-06T19:01:23Z</dcterms:created>
  <dcterms:modified xsi:type="dcterms:W3CDTF">2026-10-07T14:48:52Z</dcterms:modified>
</cp:coreProperties>
</file>