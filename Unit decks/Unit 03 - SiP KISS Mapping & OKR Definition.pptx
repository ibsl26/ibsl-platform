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3 · SiP KISS MAPPING &amp; OKR DEFINITION
Module 2 · Direction · Unit 3
Unit intent (Facilitator Guide):
Unit 3 converts the Success in Practice narrative into a measurable execution architecture. The KISS reflection examines current practice honestly before any target is set; OKRs then express the enterprise priorities that reflection reveals.
The six-step synthesis is the core of the unit. It moves executives from functional objectives to enterprise priorities judged on strategic merit.
Unit overview (facilitator file): This unit guides the leadership team from the Success in Practice narrative into a focused, measurable execution architecture — through KISS reflection, OKR construction, and collective prioritisation.
Time: section timings in the facilitator file add up to 145–190 minutes (about 2.5 to 3 hours), plus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Distinguish the organisational practices that reinforce strategic progress from those that constrain it.
2. Determine the enterprise priorities required to advance from the current position to the intended future state.
3. Formulate clear and measurable outcomes that express the strategic priorities of the organisation.
4. Establish a clear relationship between strategic ambition, organisational contribution and evidence of progress.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by section (from the facilitator file):
- Section 1 · Awareness — What: 30–40 minutes
- Section 2 · Intelligence — Why: 15–20 minutes
- Section 3 · Extrapolating — Where: 20–25 minutes
- Section 4 · Integration — Collective: 25–35 minutes
- Section 5 · Application — In Practice: 55–70 minutes
Key Facilitation Questions
“Which current practice in your organisation most advances the SiP, and which most constrains it?”
“Look at your draft Key Result. Does it measure a result or an activity?”
“Which OKR hot zone describes how you instinctively set objectives? What would an enterprise-level Key Result look like instead?”
“If the functional labels were removed from the proposed OKRs, which would the team still choose?”
Tone &amp; Watch Points
Watch for: a rush to OKRs before the KISS reflection is complete. The reflection is the bridge; hold the sequence.
Watch for: Key Results written as activities such as “launch” or “implement”. Apply the formula: verb of change + metric + from X to Y + by deadline.
Watch for: advocacy for functional OKRs during synthesis. Use de-labelling so each proposal is judged on its merit.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is KISS Framing &amp; OKR Definition?
Interrogative Anchor · Before defining Objectives and Key Results, the leadership team must examine current operating reality in relation to the Success in Practice narrative.
Section learning outcomes:
1. Distinguish the current practices that reinforce strategic progress from those that constrain it.
2. Distinguish results that evidence progress from the activities that produce them.
FACILITATOR GUIDANCE — Section 1 · Awareness
Section intent: This section establishes the full conceptual architecture of Unit 3 — the KISS framework, the OKR anatomy, and the three-step path from KISS output to OKR. Participants need to understand all three before they can do the work. Do not rush this section — the quality of the Integration and Application sessions depends entirely on how well these foundations are laid.
Transition from Unit 2: Open by connecting to what was built in Unit 2. Ask — "In Unit 2, we built our Strategic Intent and Success in Practice narrative. Today we answer the harder question: what must actually change in this organisation to make that future real?" This framing positions KISS as a practical act of honesty.
Suggested section time: 30–40 minutes across all five sections.
Facilitator Opening
Frame this unit as the bridge between the SiP the team has built and the execution reality they must now create. The KISS reflection is a direct examination of the organisation against the specific future they have described.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TRANSLATING SUCCESS IN PRACTICE INTO ACTION (Foundation)
FACILITATOR GUIDANCE — Section 1
Directing participants: Read the central quote aloud — "If the Success in Practice we described is the future organisation, what must change in the organisation today to make that future possible?" Ask participants to sit with it for a moment. Then ask: "What is the one thing that most needs to change in your area to close that gap?" Take 3–4 responses. Do not evaluate — just note them. They will resurface in the KISS exercise.
Framing the purpose: Emphasise that KISS is a targeted filter applied against the specific future the team has described. Generality is the enemy of this exercise — push for the operating reality.
Suggested time: 5–7 minutes.
Content:
, the leadership team has produced a Strategy Intent statement and Success in Practice (SiP) narrative. These describe what, why, how, and when the organisation will deliver its value to stakeholders — and what success looks like in practice.
They provide a vivid and shared description of the future organisation: how customers experience the enterprise, how operations function, how people collaborate, and what value the organisation consistently creates.
The question now becomes: If the Success in Practice we described is the future organisation, what must change in the organisation today to make that future possible?
The next step is to move from this future description to a practical execution agenda. However, before defining Objectives and Key Results, the organisation must first examine its current operating reality in relation to the SiP statement.
Participant file (1.1 — Translating Success in Practice into Action) — prompts participants complete:
- ✦✎ Reflection What does your SiP describe that your organisation does not yet consistently deliver? Be 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KISS: KEEP · IMPROVE · START · STOP (4 Reflective Filters)
FACILITATOR GUIDANCE — Section 2
Directing through the four sub-accordions: Expand KEEP, IMPROVE, START, and STOP one at a time. For each, ask participants to give a live example from their own function — anchored to the SiP. This prevents the exercise from becoming abstract.
The specificity standard: Draw attention to the existing Facilitator Move note in this section — the difference between "improve communication" and "improve cross-functional handover time from 72 to 24 hours." Reinforce this standard before the Application section exercise begins.
STOP — the hardest filter: Give this extra time. Ask — "What is one thing your function is currently doing that actively contradicts the future we described? What would it take to stop it?" Silence after this question is productive. Let it run.
Suggested time: 8–10 minutes.
Facilitator Move
When leaders generate KISS items, insist on specificity. "Improve cross-functional handover time from 72 hours to 24 hours" is a KISS reflection. Push for the operating reality.
Content:
The Strategy2Results® process introduces a reflective step designed to answer this question. The SiP statement is passed through a simple but powerful filter called KISS — Keep, Improve, Start, Stop.
Each element asks leaders to examine the organisation in relation to the future state described in the SiP narrative:
◆ KEEP — Protect what is already working▾
Identifies the practices, capabilities, and behaviours that are already moving the organisation toward the SiP and should therefore be protected and reinforced. These are strategic assets that must not be disrupted in the pursuit of change.
◆ IMPROVE — Strengthen what is partially working▾
Highlights areas where the organisation is already moving in the right direction but where performance, coordination, or capability must strengthen to support the SiP more fully. These are often the highest-leverage interventions.
◆ START — Introduce what does not yet exist▾
Identifies new practices, capabilities, or initiatives that do not yet exist but will be necessary for the organisation to operate in the way described in the SiP. These represent genuine strategic gaps.
◆ STOP — Eliminate what contradicts the SiP▾
Surfaces activities, routines, or commitments that consume energy and resources but do not contribute to the future organisation described in the SiP. Stopping is often harder than starting — and more strategically valuable.
Critical principle: Every KISS reflection must be anchored to the Success in Practice statement. Leaders evaluate the organisation against the future organisation they have collectively described.</a:t>
            </a:r>
            <a:endParaRPr lang="en-US" dirty="0"/>
          </a:p>
          <a:p/>
          <a:p>
            <a:r>
              <a:t>Professional insights:</a:t>
            </a:r>
          </a:p>
          <a:p/>
          <a:p>
            <a:r>
              <a:t>KEEP: Organisations that abandon everything from their history each time a new leader arrives lose the institutional knowledge, relationships and infrastructure that took years to build. Before building new, assess what was working, what has been buried and what needs restoring.</a:t>
            </a:r>
          </a:p>
          <a:p>
            <a:r>
              <a:t>Source: Journal, 18 January 2026 — Professional Insights: Strategy</a:t>
            </a:r>
          </a:p>
          <a:p/>
          <a:p>
            <a:r>
              <a:t>START and STOP together: Alignment needs the active removal of competing influences. Name what must go alongside what must be chosen: the choice is half of the alignment and the removal is the other half.</a:t>
            </a:r>
          </a:p>
          <a:p>
            <a:r>
              <a:t>Source: Journal, 14 April 2026 — Professional Insights: Culture</a:t>
            </a:r>
          </a:p>
          <a:p/>
          <a:p>
            <a:r>
              <a:t>STOP · the strategic shelf: Audit the initiatives, products, partnerships and assumptions still drawing resources but no longer drawing belief, and name the two that need to be put away before the next move can land.</a:t>
            </a:r>
          </a:p>
          <a:p>
            <a:r>
              <a:t>Source: Journal, 7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KISS REFLECTION TABLE: FOUR FUTURE-REALITY DOMAINS (4 Domains · Click to expand each)
FACILITATOR GUIDANCE — Section 3
Directing through the domains: Walk through each domain (Customer Experience, Operational Capability, People &amp; Culture, Financial Performance) and read the SiP anchor question aloud. For each, ask: "What does your organisation currently look like in this domain — and how far is that from the SiP you described?"
Purpose of this section: This is the preparation for the Application section KISS exercise. Participants need to understand all four domains and their anchor questions before they begin writing. Rushing here creates superficial responses in the exercise.
Key facilitation point: Point out that KISS items must be domain-specific. A STOP item in the Customer Experience domain looks different from a STOP item in People &amp; Culture. Keeping them separate prevents the vague cross-functional generalisations that make KISS useless.
Suggested time: 6–8 minutes.
Content:
The KISS reflection is structured across the four future-reality dimensions of the Success in Practice statement. Each domain has an SiP anchor question to ground the reflection.
The four domains, SiP anchor questions and KISS prompts:
CUSTOMER EXPERIENCE &amp; VALUE
SiP anchor: If our SiP statement is true, what should customers consistently experience?
KEEP: Which aspects of the current customer experience already move us toward the SiP and should be protected?
IMPROVE: Where do we see good customer outcomes but recurring friction that weakens reliability or responsiveness?
START: What new practices or capabilities must begin for customers to experience the organisation as described in the SiP?
STOP: Which processes or behaviours create customer friction and contradict the SiP experience we described?
OPERATIONAL CAPABILITY &amp; EXECUTION RHYTHM
SiP anchor: If the SiP becomes reality, how will the organisation operate differently?
KEEP: Which operational routines already support the execution rhythm described in the SiP?
IMPROVE: Where do we see operational capability but delays, coordination gaps, or decision bottlenecks?
START: What new execution rhythms, coordination practices, or decision frameworks must be introduced?
STOP: Which processes, reporting routines, or meetings consume effort without strengthening execution?
PEOPLE &amp; CULTURE DYNAMICS
SiP anchor: If the SiP is realised, how will leaders and teams work together?
KEEP: Which leadership behaviours and collaboration patterns already reinforce the culture described in the SiP?
IMPROVE: Where do we see positive teamwork but inconsistent accountability or unclear ownership?
START: What new leadership habits or collaboration norms must be introduced?
STOP: Which behaviours, informal norms, or leadership practices undermine alignment or trust?
FINANCIAL PERFORMANCE &amp; VALUE CREATION
SiP anchor: If the SiP succeeds, what financial reality should we see?
KEEP: Which business activities or revenue streams already support the value creation described in the SiP?
IMPROVE: Where do we see positive results but margin pressure or inefficient resource use?
START: What new investments, capabilities, or revenue engines must be introduced?
STOP: Which initiatives or commitments consume resources without contributing to the value creation described in the SiP?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OKR ANATOMY: OBJECTIVES &amp; KEY RESULTS (Structure &amp; Formula)
FACILITATOR GUIDANCE — Section 4
Directing through the OKR anatomy: Walk through the two panels (Objectives and Key Results) side by side. Ask participants: "Think of a goal your team set in the last 12 months. Was it an Objective, a Key Result, or a task disguised as one of these?"
The Key Result Construction Guide: Expand the sub-accordion and walk through all four elements with participants. Then give a live example — ask a participant to state a goal they are working toward, and workshop it through the formula in real time. One concrete example does more than ten theoretical ones.
The critical distinction to land: Draw specific attention to the red box — outcomes versus activities. Ask: "Can you check it off a task list? If yes — it's a task." This single test is the most useful tool in the room. Reinforce it every time a task-disguised-as-KR appears in the session.
Suggested time: 8–10 minutes.
Content:
Objective Key Results (OKRs) translate the identified changes into measurable progress.
Objectives
Define strategic ambition. Must be: Qualitative · Ambitious · Action-Oriented · Inspirational · Memorable. If you cannot wear it on a T-shirt, it is not worth pursuing.
Key Results
Define measurable progress. Formula: Verb of Change + Metric + From X to Y + By Deadline. Example: Increase digital transaction completion rate from 40% to 75% by Q4 2026.
Key Result Construction Guide — 4 Elements▾
Verb of Change
Indicates the direction of improvement. E.g.: Increase, Reduce, Achieve, Improve, Maintain.
Metric
A clear and measurable indicator. E.g.: Customer satisfaction score, cycle time, adoption rate.
From X to Y
Defines the baseline and target. E.g.: From 40% to 75%. Always establish a starting point.
Deadline
Specifies when the result must be achieved. E.g.: By Q4 2026, By end of FY.
Critical Distinction: OKRs define outcomes. If a statement can be checked off a task list — "launch new platform" or "run customer survey" — it is a task. Those are activities that support the Key Result. Key Results describe the impact those activities must produce.
Participant file (1.4 — OKR Anatomy: Objectives &amp; Key Results) — prompts participants complete:
- ✦✎ Reflection Think of a goal your team set in the last 12 months. Was it an Objective, a Key Result, or a task disguised as one of these? What would a proper Key Result look like using the formula?</a:t>
            </a:r>
            <a:endParaRPr lang="en-US" dirty="0"/>
          </a:p>
          <a:p/>
          <a:p>
            <a:r>
              <a:t>Professional insights:</a:t>
            </a:r>
          </a:p>
          <a:p/>
          <a:p>
            <a:r>
              <a:t>Testable objectives: Vague strategy goals cannot be evaluated, and a strategy that cannot be tested in real time cannot be corrected in real time. Build in a specific outcome, a defined timeframe and a clear way to know whether it is working.</a:t>
            </a:r>
          </a:p>
          <a:p>
            <a:r>
              <a:t>Source: Journal, 16 January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KEY RESULT CONSTRUCTION GUIDE — 4 ELEMENTS (sub-accordion)
Content:
Verb of Change: Indicates the direction of improvement. E.g.: Increase, Reduce, Achieve, Improve, Maintain.
Metric: A clear and measurable indicator. E.g.: Customer satisfaction score, cycle time, adoption rate.
From X to Y: Defines the baseline and target. E.g.: From 40% to 75%. Always establish a starting point.
Deadline: Specifies when the result must be achieved. E.g.: By Q4 2026, By end of FY.
Example: Increase digital transaction completion rate from 40% to 75% by Q4 2026.
Guidance: Expand the sub-accordion and walk through all four elements with participants. Then give a live example — ask a participant to state a goal they are working toward, and workshop it through the formula in real time. One concrete example does more than ten theoretical ones.</a:t>
            </a:r>
            <a:endParaRPr lang="en-US" dirty="0"/>
          </a:p>
          <a:p/>
          <a:p>
            <a:r>
              <a:t>Professional insights:</a:t>
            </a:r>
          </a:p>
          <a:p/>
          <a:p>
            <a:r>
              <a:t>Specific enough to be built: Great strategies are specific enough to be built. Vague vision produces vague results. Use the formula to make each Key Result precise enough to execute and check.</a:t>
            </a:r>
          </a:p>
          <a:p>
            <a:r>
              <a:t>Source: Journal, 8 January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 THREE STEPS: FROM KISS OUTPUT TO OKRS (3 Steps)
FACILITATOR GUIDANCE — Section 5
Directing through the three step tabs: Walk through Step 1 (Identify Strategic Themes), Step 2 (Define the Objective), and Step 3 (Define Key Results) one at a time. For each step, read the guiding question aloud and ask participants to mentally apply it to their own area.
Step 1 — Strategic Themes: Ask — "When you review the KISS reflections across all four domains, what is the pattern? What themes keep appearing?" Themes are the connective tissue between scattered KISS observations and purposeful OKRs.
Step 2 — The Objective: Reference the "T-shirt test" — if the Objective cannot survive a hallway conversation, it is too complex. Ask participants to try stating an Objective in one sentence before writing it.
Closing Awareness: Before moving to Intelligence, summarise — "We now have the full toolkit: KISS as the honest diagnostic, OKR anatomy as the building structure, and the three-step path to connect them. The next two sections explain why this sequence matters and where it typically fails."
Suggested time: 6–8 minutes.
Facilitator Move
After each Objective is proposed, ask the room: "Is this statement something we could announce publicly with pride?" If the answer is no — it lacks ambition or clarity. Objectives that describe activities ("Implement new CRM") are tasks disguised as goals.
Content:
Step 01
Identify Strategic Themes
Step 02
Define the Objective
Step 03
Define Key Results
Guiding Question: What insights emerged from the SiP and KISS reflections?
Review the patterns that surfaced across the four future-reality domains. Identify the strategic themes that repeatedly appeared in the KEEP, IMPROVE, START, and STOP reflections. These themes represent the most important shifts required to move the organisation toward the SiP.
Output produced: A small set of strategic themes that reflect the organisation's priority execution shifts.
Guiding Question: If we get this theme right, what will we be known for?
Translate each theme into a bold, qualitative statement that expresses strategic ambition. Start with a verb and describe the desired transformation.
Make it ambitious — stretch the team.
Keep it qualitative — describe the destination.
Keep it memorable — if you cannot say it in a hallway conversation, it is too complex.
Output produced: A clear Objective that expresses the strategic ambition.
Guiding Question: What measurable outcomes will prove the Objective is being achieved?
Identify 2–3 measurable results that demonstrate progress toward the Objective. Each Key Result must describe a meaningful shift in performance and must follow the Key Result formula: Verb + Metric + From X to Y + Deadline.
A quick check: If you can simply "check it off" a list, it is a task. The team wants outcomes — the actual change in the world that proves the Objective is being achieved.
Output produced: Measurable Key Results that define progress toward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the KISS-to-OKR Sequence Matters
Ignition Point · Most OKR failures are reflection failures. The KISS-OKR transition provides the missing bridge between strategic intent and measurable execution.
Section learning outcomes:
1. Explain why an honest review of current practice must precede the setting of priorities.
2. Recognise the cost of setting targets before the path to the future state is understood.
FACILITATOR GUIDANCE — Section 2 · Intelligence
Section intent: This section answers the question participants are quietly asking: why can't we just write the OKRs directly? The answer — because OKRs without KISS become disconnected targets, fragmented efforts, and activity traps — must land personally. This section should prompt candid recognition.
Framing before entering content: Ask — "Has your organisation ever set goals that felt disconnected from the reality of what was actually happening on the ground? Where Key Results became a to-do list that nobody believed in?" Use the responses to anchor why the sequence matters before content begins.
Suggested section time: 15–20 minutes.
Facilitator Frame
Open this section by asking the leadership team: "Has your organisation ever set goals that felt disconnected from reality — or where Key Results became to-do lists?" Use their answers to anchor why this sequence matters before moving into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THE DANGER OF MOVING TOO FAST (3 Human Problems)
FACILITATOR GUIDANCE — Section 2.1
Directing participants: After reading the three problem cards (Disconnected Targets, Fragmented Efforts, The Activity Trap), ask: "Which of these three describes your organisation's most recent goal-setting cycle most accurately?" Take a show of hands or quick responses. The near-universal recognition of at least one pattern is itself the lesson.
The closing red box: Read it aloud — "The organisation starts measuring the finish line before it has mapped the terrain." Ask: "What does 'mapping the terrain' mean practically — and what does KISS give us that we don't currently have?"
Suggested time: 5–7 minutes.
Content:
, but that enthusiasm often sours into frustration. Teams end up with vague goals and Key Results that feel like just another to-do list. Meetings shift from strategic conversations to tedious reporting sessions where everyone is going through the motions.
The usual cause: organisations try to measure progress before they have had an honest conversation about where they are actually standing.
When leadership moves straight from a big vision to hard targets, they unintentionally skip the reality check. This creates predictable human problems:
Disconnected Targets
People are asked to hit numbers without anyone acknowledging the hurdles that make those numbers nearly impossible.
Fragmented Efforts
Different functions row in different directions because they have not agreed on what success looks like in the trenches.
The Activity Trap
People default to measuring busyness because they are not sure how to prove they are achieving real outcomes.
Essentially, the organisation starts measuring the finish line before it has mapped the terrain.</a:t>
            </a:r>
            <a:endParaRPr lang="en-US" dirty="0"/>
          </a:p>
          <a:p/>
          <a:p>
            <a:r>
              <a:t>Professional insights:</a:t>
            </a:r>
          </a:p>
          <a:p/>
          <a:p>
            <a:r>
              <a:t>Stopping at convenient: Execution often stops at the convenient point: the easy quick wins get delivered and the structurally difficult changes are deferred, rationalised and eventually abandoned. A strategy that is 70% executed often produces almost none of the intended transformation, because the avoided 30% is where the leverage lives.</a:t>
            </a:r>
          </a:p>
          <a:p>
            <a:r>
              <a:t>Source: Journal, 16 April 2026 — Professional Insights: Strategy</a:t>
            </a:r>
          </a:p>
          <a:p/>
          <a:p>
            <a:r>
              <a:t>Claiming the destination early: Many organisations announce a new strategic direction before the systems, people and structures can support it, then spend the next phase defending a position they have not yet earned. Use this with the closing line on the slide.</a:t>
            </a:r>
          </a:p>
          <a:p>
            <a:r>
              <a:t>Source: Journal, 14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THE KISS REFLECTION AS THE MISSING BRIDGE (4 Honest Realities)
FACILITATOR GUIDANCE — Section 2.2
Directing participants: Read the four bullet points — strengths, friction points, gaps, old habits — and after each, ask for one live example from any participant. This converts abstract categories into organisational specifics the room can feel.
Key facilitation point: Emphasise the word "honest" — KISS is the act of pausing long enough to see what is actually true before committing to metrics. Ask: "In your last planning cycle, did you have a structured conversation about the friction points and old habits before writing the goals? What happened when you didn't?"
Suggested time: 5–6 minutes.
Content:
The KISS reflection is where the team pauses to be honest. It forces leaders to look at the Success in Practice vision they have created and ask: "What is actually happening on the ground right now?"
This reflection creates a bridge between strategic imagination and operational reality. The team builds OKRs from evidence. The KISS discussion brings real issues to the surface:
The strengths to protect and lean into.
The friction points that are quietly draining energy.
The gaps where genuine support or investment is needed.
The old habits to finally let go of because they no longer serve the strategy.</a:t>
            </a:r>
            <a:endParaRPr lang="en-US" dirty="0"/>
          </a:p>
          <a:p/>
          <a:p>
            <a:r>
              <a:t>Professional insights:</a:t>
            </a:r>
          </a:p>
          <a:p/>
          <a:p>
            <a:r>
              <a:t>What will feed or fight this: By the time a programme is announced, the culture that will carry it or starve it is already in place. Before launch, sit with the team that will execute it and ask: what in our current way of working will feed or fight this? Fix that before the launch date.</a:t>
            </a:r>
          </a:p>
          <a:p>
            <a:r>
              <a:t>Source: Journal, 23 April 2026 — Professional Insights: Strategy</a:t>
            </a:r>
          </a:p>
          <a:p/>
          <a:p>
            <a:r>
              <a:t>Know what you have: Organisations that enter a new strategy without a clear account of what they have, what capacity exists and where the real strengths lie are navigating without an accurate map. Take stock before planning what you will do.</a:t>
            </a:r>
          </a:p>
          <a:p>
            <a:r>
              <a:t>Source: Journal, 28 February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TURNING INTENT INTO ACTION: THE STRATEGY2RESULTS® SEQUENCE (3-Part Logic)
FACILITATOR GUIDANCE — Section 2.3
Directing through the three-stage model: Walk through the SiP, KISS, and OKR panels one at a time. For each, ask participants to briefly state what stage they are at in their current strategic cycle. This creates a live diagnostic of where the group's execution journey currently sits.
The Facilitator Insight note (existing): Use the question in the existing gold note — "At which point in this sequence does our organisation typically enter?" — as a group discussion prompt. The honest answer often unlocks the most candid conversation of the unit.
Closing Intelligence: After section 2.3, transition to Extrapolating by saying — "Now we know why the sequence matters. The next section maps where it most commonly breaks down — and which leadership role is most responsible for each break point."
Suggested time: 5–6 minutes.
Facilitator Insight
Ask the leadership team to pause and reflect: "At which point in this sequence does our organisation typically enter? Do we skip the KISS reality check and jump straight to targets?" The honest answer often unlocks the conversation about why previous goal-setting cycles felt frustrating.
Content:
Once these patterns are visible, strategy stops being a deck of slides and starts being a shared journey. The Strategy2Results® sequence makes the path forward clear and respectful of the people walking it:
Success in Practice
The dream of where the organisation wants to be. The vivid future state across four observable dimensions.
KISS
The honest look at the changes required to get there. The bridge between the future and the present reality.
OKRs
The manageable, measurable steps taken to prove the organisation is moving. The execution compass.
When this sequence is respected, OKRs become a way for the organisation to learn, breathe, and align. Strategy transforms from a statement of intent into a living system that actually helps people succeed.
Participant file (2.3 — Turning Intent into Action: The Strategy2Results® Sequence) — prompts participants complete:
- ✦✎ Reflection At which point in the SiP → KISS → OKR sequence does your organisation typically enter? What is the consequence of skipping the KISS stage?</a:t>
            </a:r>
            <a:endParaRPr lang="en-US" dirty="0"/>
          </a:p>
          <a:p/>
          <a:p>
            <a:r>
              <a:t>Professional insights:</a:t>
            </a:r>
          </a:p>
          <a:p/>
          <a:p>
            <a:r>
              <a:t>Sequenced execution: Great strategies are sequenced: each phase prepares for the next. Trying to do everything at once is the fastest way to produce something that resembles nothing.</a:t>
            </a:r>
          </a:p>
          <a:p>
            <a:r>
              <a:t>Source: Journal, 5 January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do OKR Hot Zones Appear?
The Alignment Brigade · Where do OKR hot zones appear across leadership functions? Where does functional bias create enterprise fragility?
Section learning outcomes:
1. Recognise how each leadership function’s emphasis shapes the priorities it proposes.
2. Distinguish functional contributions from the enterprise priorities they serve.
FACILITATOR GUIDANCE — Section 3 · Extrapolating
Section intent: This section does for OKR definition what Unit 2's Extrapolating section did for the SiP — it maps where the process predictably breaks down, and who is responsible for each break. The Hot Zone cards are the diagnostic instrument. The goal is to make the systemic pattern visible before it plays out in the room.
Framing before entering content: Ask — "Before we start writing OKRs together, it helps to know the natural biases each of us brings to the table. This section maps those patterns so the team can compensate for them collectively."
Suggested section time: 20–25 minutes.
Facilitator Frame
This section surfaces the natural biases each leader brings to OKR definition. Use the hot zone cards to name these tendencies explicitly and reveal the systemic pattern. Ask: "Which of these descriptions resonates most with how you instinctively write Key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NATURAL OKR EMPHASIS ACROSS LEADERSHIP FUNCTIONS (Why Functions Diverge)
FACILITATOR GUIDANCE — Section 3.1
Directing participants: Read the four functional bias tendencies aloud (commercial, operational, people, financial). Ask each participant to privately identify which category their natural OKR emphasis falls into. Then ask 3–4 to share.
Key point to reinforce: Each perspective is valid — the problem arises when these perspectives remain unexamined and unchallenged. The purpose of this section is to make the invisible visible before OKR writing begins, so that the group can consciously compensate.
Suggested time: 5–6 minutes.
Content:
— because each role carries responsibility for specific organisational outcomes, leaders instinctively prioritise the realities that sit closest to their domain.
This creates a natural imbalance in how OKRs are proposed and evaluated:
Commercial leaders emphasise Customer Experience and Enterprise Value Creation
Operational leaders emphasise Operational Capability and Enterprise Value Creation
People leaders emphasise People &amp; Culture and Operational Capability
Financial leaders emphasise Enterprise Value Creation and Operational Discipline
Each perspective reflects an important dimension of strategy execution. However, when these perspectives remain unexamined, the organisation begins to accumulate functional OKRs where enterprise OKRs are needed.</a:t>
            </a:r>
            <a:endParaRPr lang="en-US" dirty="0"/>
          </a:p>
          <a:p/>
          <a:p>
            <a:r>
              <a:t>Professional insights:</a:t>
            </a:r>
          </a:p>
          <a:p/>
          <a:p>
            <a:r>
              <a:t>Differentiated strategy: Effective strategy addresses each team, unit and function with the specific truth about where they are and where they are headed. Generic strategy inspires no one because it is addressed to no one.</a:t>
            </a:r>
          </a:p>
          <a:p>
            <a:r>
              <a:t>Source: Journal, 31 January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LEADERSHIP TEAM HOT ZONE CARDS (10 Roles · Click to expand)
FACILITATOR GUIDANCE — Section 3.2
Directing through the Hot Zone Cards: Ask each participant to click their own assigned role card. Give 2 minutes of individual reading. Then ask 3–4 participants to read their "Hot Zone" description aloud. The recognition is usually immediate and often candid.
Group debrief: After individual reading, ask — "If all ten of these hot zones operated simultaneously in our OKR session — what would our final OKR landscape look like? Which domains would be over-represented, and which would be left out?"
The alignment question: Point to the alignment question for each role. Tell participants — "Hold your alignment question in your mind throughout the Integration session. It is your personal quality check on every OKR you propose."
Suggested time: 10–12 minutes.
Content:
Click each role to reveal its dominant future realities, natural OKR emphasis, typical hot zone, and the alignment question to surface in the session.
Participant file (3.2 — Leadership Team Hot Zone Cards) — prompts participants complete:
- ✦✎ Reflection Which hot zone description most accurately reflects how you instinctively approach OKR definition? What would you need to do differently to write an enterprise-level Key Result?
The ten hot zone cards:
CEO — Chief Executive Officer
Dominant future realities: Enterprise Value Creation · Customer Experience &amp; Value
Natural OKR emphasis: Strategic ambition and market positioning
Typical hot zone: Objectives become visionary but insufficiently grounded in operational capability
Alignment question: Do our OKRs translate ambition into outcomes the organisation can reliably deliver?
CFO — Chief Financial Officer
Dominant future realities: Enterprise Value Creation · Operational Capability
Natural OKR emphasis: Financial performance and efficiency
Typical hot zone: Key Results become overly financial, ignoring customer or capability drivers
Alignment question: Are we measuring the drivers of value creation as well as the financial outcomes?
COO — Chief Operating Officer
Dominant future realities: Operational Capability · Enterprise Value Creation
Natural OKR emphasis: Operational reliability and execution efficiency
Typical hot zone: Objectives drift toward operational optimisation
Alignment question: Are our OKRs reinforcing strategic movement?
CHRO — Chief People &amp; Culture Officer
Dominant future realities: People &amp; Culture Dynamics · Operational Capability
Natural OKR emphasis: Capability development and organisational health
Typical hot zone: Objectives emphasise culture initiatives without clear connection to enterprise results
Alignment question: Do our people objectives clearly support strategic outcomes?
CTO/CIO — Chief Technology / Information Officer
Dominant future realities: Operational Capability · Customer Experience
Natural OKR emphasis: Technology capability and digital infrastructure
Typical hot zone: Key Results become technology delivery milestones with no line of sight to business outcomes
Alignment question: Are we measuring the impact technology creates for customers and the enterprise?
CMO — Chief Marketing Officer
Dominant future realities: Customer Experience · Enterprise Value Creation
Natural OKR emphasis: Market positioning and brand strength
Typical hot zone: Objectives emphasise perception beyond what the organisation can consistently deliver
Alignment question: Do our OKRs balance customer promise with operational capability?
CCO — Chief Commercial Officer
Dominant future realities: Enterprise Value Creation · Customer Experience
Natural OKR emphasis: Revenue growth and commercial expansion
Typical hot zone: Key Results prioritise sales outcomes without strengthening the customer experience system
Alignment question: Are we building repeatable value creation?
CPO — Chief Procurement Officer
Dominant future realities: Operational Capability · Enterprise Value Creation
Natural OKR emphasis: Supply chain efficiency and cost discipline
Typical hot zone: Objectives prioritise cost optimisation at the expense of strategic capability development
Alignment question: Are we balancing efficiency with long-term strategic capability?
CRO — Chief Risk Officer
Dominant future realities: Enterprise Value Creation · Operational Capability
Natural OKR emphasis: Risk control and regulatory protection
Typical hot zone: Key Results become defensive safeguards that slow strategic movement
Alignment question: Are we enabling responsible risk-taking while protecting the organisation?
CSO — Chief Strategy Officer
Dominant future realities: Enterprise Value Creation · Operational Capability
Natural OKR emphasis: Strategic planning coherence
Typical hot zone: Objectives become conceptually strong but disconnected from operational ownership
Alignment question: Are our OKRs grounded in clear accountability and execution ownership?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 THE ALIGNMENT BRIGADE: FROM FUNCTIONAL TO ENTERPRISE THINKING (4 Execution Risks)
FACILITATOR GUIDANCE — Section 3.3
Directing participants through the four risk cards: Read each risk aloud and ask for a show of hands — "Have you personally experienced this in a previous goal-setting cycle?" The near-universal recognition creates the psychological readiness to work differently in the Integration session.
The shift to name explicitly: Ask — "What is the difference between a functional interpretation of success and a collective definition of success? What does that difference look like in a room full of leaders with different mandates?" This is the conversation the Integration section is designed to produce.
The existing gold Facilitator Move note: Use the prompt in the existing note — asking the room which hot zone each perspective risks creating — as a live rehearsal of what the Integration session will require. This primes participants for the de-labelling exercise in Section 4.
Closing Extrapolating: Before moving to Integration, tell participants — "We now know what biases we each bring into the room. The Integration section is where we use that awareness to build something none of us could build alone."
Suggested time: 5–7 minutes.
Facilitator Move
After each leader describes their OKR perspective, ask the room: "Which hot zone does this perspective risk creating?" Name the imbalance explicitly. This builds collective intelligence by surfacing what each function cannot see about itself.
Content:
If these perspectives remain unexamined, OKRs gradually drift into functional scorecards. This produces several execution risks:
Competing definitions of success across functions
Fragmented measurement systems that cannot be integrated
Functional optimisation that stalls enterprise progress
Slow decision-making due to misaligned incentives</a:t>
            </a:r>
            <a:endParaRPr lang="en-US" dirty="0"/>
          </a:p>
          <a:p/>
          <a:p>
            <a:r>
              <a:t>Professional insights:</a:t>
            </a:r>
          </a:p>
          <a:p/>
          <a:p>
            <a:r>
              <a:t>No governing centre: When each function, team and leader defines success by its own standard, the cumulative result is chaos. The absence of a shared governing framework produces the worst outcomes from the most sincere efforts. Use this with “Competing definitions of success across functions”.</a:t>
            </a:r>
          </a:p>
          <a:p>
            <a:r>
              <a:t>Source: Journal, 15 April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Building Collective Intelligence: The Six-Step Path to Enterprise OKRs
Integrator Zone · How does the leadership team convert individual insights into a single enterprise execution architecture?
Section learning outcomes:
1. Determine the enterprise priorities that emerge from the leadership team’s collective reflection.
2. Evaluate proposed outcomes on strategic merit, independent of their functional source.
FACILITATOR GUIDANCE — Section 4 · Integration
Section intent: This is the synthesis section. Everything in Awareness, Intelligence, and Extrapolating has been preparation for this. The group now moves from individual KISS reflections and hot zone awareness into the collective enterprise OKR build. Two tools are available: the Six-Step Path and the De-labelling process. Both must run.
Sequencing: Work through section 4.1 (Six Steps) as a group, then section 4.2 (De-labelling) to understand what happens when role labels are removed from the OKR landscape. The actual OKR drafting and de-labelling exercise happens in Section 5 · Application.
Critical framing: Reinforce the existing gold note — departments contribute the insight, the enterprise owns the results. This is the mindset shift the entire unit is designed to produce.
Suggested section time: 25–35 minutes.
Facilitator Frame
The goal of this session is to find the few, vital Enterprise OKRs that will shift the needle for the entire organisation. Remind the room: Departments contribute the insight — the enterprise owns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THE SIX-STEP PATH TO SYNTHESIS (6 Steps · Click each to explore)
FACILITATOR GUIDANCE — Section 4.1
Directing through the six step tabs: Walk through each step as a group. Do not allow participants to browse individually — the six steps build sequentially and each primes the next.
Step 1 — Find Themes: Give each leader 5 minutes to identify their 2–3 themes in writing before sharing. Written submissions prevent the anchoring bias where the first speaker dominates the room. Collect all themes before any discussion begins.
Step 2 — Inspiring Objectives: After themes are collected, ask participants to draft their Objective privately. The "T-shirt test" applies — if they cannot say it in a hallway conversation, send them back to simplify.
Step 3 — Define Key Results: Apply the four-part formula rigorously. The example in the content (shift response time from 12 to 4 hours by Q3) is a useful benchmark. Hold each KR to the same standard.
Step 4 — Alignment Test: Use the existing Facilitator Move note in this step — run the four-question test publicly. The room will quickly surface whether the OKR is enterprise-level or functionally disguised.
Step 5 — Panoramic Priority: Enforce the Less is More Rule — maximum 4 Enterprise Objectives, maximum 3 Key Results per Objective. This constraint is non-negotiable. The discomfort of trade-offs is the work.
Step 6 — Priority Matrix: Walk through the matrix structure before the group places any items. The debate about what constitutes high impact versus high effort is often more valuable than the final placements.
Suggested time: 15–18 minutes.
Facilitator Move
Run this test publicly. Ask each leader to read their OKR and answer these four questions aloud. The room will quickly surface whether the OKR is enterprise-level or functionally disguised.
Content:
Step 1
Find Themes
Step 2
Inspiring Objectives
Step 3
Define Key Results
Step 4
Alignment Test
Step 5
Panoramic Priority
Step 6
Priority Matrix
Each leader reviews their KISS reflection.
What are the 2–3 big shifts that will contribute to moving the whole organisation forward? The real question is: "If the organisation is going to reach the future it has described, what is the one thing my area can change that would make the biggest difference for everyone?"
Facilitator move: Give each leader 5 minutes to identify their 2–3 themes before the group shares. Written submissions prevent anchoring bias where early voices dominate the group.
Each leader gives their themes a voice.
An Objective should look like a transformation. Real question: "If the organisation actually pulls this off, what will customers and competitors say it is known for?"
Make it ambitious — stretch the room.
Keep it qualitative — describe the destination.
Keep it memorable — if it cannot survive a hallway conversation, it is too complex.
For every Objective, define 2–3 ways to prove achievement.
Use the four-part rhythm: Verb + Metric + From X to Y + Deadline.
Example: Shift response time from 12 hours (frustrating) to 4 hours (exceptional) by Q3.
Quick check: If the team can simply "check it off" a list, it is a task. Key Results describe outcomes — the actual change in the world that proves the Objective is being achieved.
Before sharing, every leader MUST test their OKR against four questions.
Does this truly get the organisation closer to the shared SiP vision?
Would fellow leaders see this as a win for the whole organisation — or just for one function?
Does it visibly improve culture, operations, or value creation?
Is there clear accountability for delivering this outcome?
Panoramic Enterprise OKR Prioritisation
Once initial OKRs have been drafted, the leadership team determines which Objectives deserve enterprise focus now. Strategy execution fails when too many priorities are pursued simultaneously.
Each team member reviews proposed Objectives and votes on which represent the most critical strategic movements at this moment.
The Less is More Rule: No more than 4 Enterprise Objectives. No more than 3 Key Results per Objective. This constraint forces explicit trade-offs, ensuring execution energy is concentrated.
The Prioritisation Matrix: Impact versus Effort
The matrix evaluates initiatives along two dimensions: Impact — the degree of strategic value delivered if achieved — and Effort — the time, resources, coordination, and organisational change required.
The leadership team must pay particular attention to initiatives in Strategic Catalysts, Accelerated Enablers, and Core Strategic Drivers — these represent the highest leverage execution signals.</a:t>
            </a:r>
            <a:endParaRPr lang="en-US" dirty="0"/>
          </a:p>
          <a:p/>
          <a:p>
            <a:r>
              <a:t>Professional insights:</a:t>
            </a:r>
          </a:p>
          <a:p/>
          <a:p>
            <a:r>
              <a:t>Listening before acting: Leaders who listen collectively before acting ground their decisions in shared conviction. Use this with Step 4, the alignment test run publicly.</a:t>
            </a:r>
          </a:p>
          <a:p>
            <a:r>
              <a:t>Source: Journal, 28 July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STEPS 5 AND 6: PANORAMIC PRIORITY AND THE PRIORITISATION MATRIX
Content:
Panoramic Enterprise OKR Prioritisation: Once initial OKRs have been drafted, the leadership team determines which Objectives deserve enterprise focus now. Strategy execution fails when too many priorities are pursued simultaneously.
Each team member reviews proposed Objectives and votes on which represent the most critical strategic movements at this moment.
The Less is More Rule: No more than 4 Enterprise Objectives. No more than 3 Key Results per Objective. This constraint forces explicit trade-offs, ensuring execution energy is concentrated.
The Prioritisation Matrix: Impact versus Effort. The matrix evaluates initiatives along two dimensions: Impact — the degree of strategic value delivered if achieved — and Effort — the time, resources, coordination, and organisational change required.
The leadership team must pay particular attention to initiatives in Strategic Catalysts, Accelerated Enablers, and Core Strategic Drivers — these represent the highest leverage execution signals.
The nine cells (Impact / Effort):
- High impact / Low effort: Strategic Catalysts
- High impact / Medium effort: Accelerated Enablers
- High impact / High effort: Core Strategic Drivers
- Medium impact / Low effort: Quick Efficiency Plays
- Medium impact / Medium effort: Targeted Growth Projects
- Medium impact / High effort: Heavy Investment Candidates
- Low impact / Low effort: Supportive Enablers
- Low impact / Medium effort: Marginal Utility Tasks
- Low impact / High effort: Resource Pitfalls
Guidance: Step 5 — Panoramic Priority: Enforce the Less is More Rule — maximum 4 Enterprise Objectives, maximum 3 Key Results per Objective. This constraint is non-negotiable. The discomfort of trade-offs is the work.
Step 6 — Priority Matrix: Walk through the matrix structure before the group places any items. The debate about what constitutes high impact versus high effort is often more valuable than the final placements.</a:t>
            </a:r>
            <a:endParaRPr lang="en-US" dirty="0"/>
          </a:p>
          <a:p/>
          <a:p>
            <a:r>
              <a:t>Professional insights:</a:t>
            </a:r>
          </a:p>
          <a:p/>
          <a:p>
            <a:r>
              <a:t>Protecting attention: Organisations often lose momentum because key people let peripheral demands consume the attention needed to finish. Strategic discipline includes deciding what will not receive executive time. Use this with the low-impact cells.</a:t>
            </a:r>
          </a:p>
          <a:p>
            <a:r>
              <a:t>Source: Journal, 8 August 2026 — Professional Insights: Strategy</a:t>
            </a:r>
          </a:p>
          <a:p/>
          <a:p>
            <a:r>
              <a:t>The capacity for distinction: Organisations that treat all risks as equivalent and all opportunities as equally weighted have lost an essential decision tool. Not everything deserves the same response.</a:t>
            </a:r>
          </a:p>
          <a:p>
            <a:r>
              <a:t>Source: Journal, 24 February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BREAKING THE BIASES: HOW DE-LABELLING BUILDS ENTERPRISE THINKING (5 Bias Patterns)
FACILITATOR GUIDANCE — Section 4.2
Directing participants through the five bias patterns: Read each bias aloud and ask for private recognition. These are uncomfortable patterns and public admission may trigger defensiveness. After all five are read, ask: "Which of these five is most likely to show up in our session today — and what will it look like when it does?"
How de-labelling works in practice: In the Application section, participants will draft OKRs and these will be compiled and presented to the group without role attribution. The group then evaluates the OKRs purely on merit — does this move the enterprise forward? This removes authority bias, silo bias, and groupthink from the evaluation simultaneously.
The key mindset shift to articulate: Read the closing quote aloud — "The focus shifts from 'How do I protect my budget and team?' to 'How do we move this metric?'" Ask: "What would it mean for this organisation if every leader in this room consistently operated from the second question?"
Closing Integration: Tell participants — "You now have the thinking architecture for the session. Section 5 is where the work gets built. Everything from here is about doing."
Suggested time: 8–10 minutes.
Content:
, the leadership team enters a moment of genuine collective intelligence. Five cognitive biases are dissolved in this process:
The result: a Whole-System Perspective. The focus shifts from "How do I protect my budget and team?" to "How do we move this metric?" This transition is the moment a group of high-performing individuals truly becomes a high-performing leadership team.
Participant file (4.2 — Breaking the Biases: How De-labelling Builds Enterprise Thinking) — prompts participants complete:
- ✦✎ Reflection Which of the five biases do you recognise most in yourself or your leadership team? What would it look like to act beyond that bias in the session today?
The five bias patterns:
Dissolving Silo Mentality (The "In-Group" Bias)
When an OKR is labelled "Finance," the rest of the room tends to tune out, assuming it is someone else's problem. By stripping the labels, the team forces the brain to evaluate the outcome on its merits. It stops being "the CFO's goal" and starts being "our collective challenge."
Neutralising Confirmation Bias (Functional Label Removal)
Experts look for data that supports their existing function-specific beliefs. When goals are grouped by function, they are interpreted in light of what that department's limitations are known to be. Removing labels creates a "blind audition" — priorities are judged on merit and alignment with the SiP.
Combating the Curse of Knowledge (Jargon Elimination)
Experts struggle to imagine what it is like not to know what they know. The synthesis process filters out "inside baseball" language. If a Key Result cannot stand on its own without a functional label to explain it, it is not yet an enterprise-level outcome.
Overcoming Status Quo Bias (Transformation Signal)
Functional OKRs often act as a "tweak" to existing operations and fall short of a true strategic shift. Looking at the landscape as a single, interdependent system makes it glaringly obvious if the organisation is merely trying to optimise the past.
Building a Whole-System Perspective (From Individual to Collective Leadership)
When the team looks at the scoreboard together, the focus shifts from "How do I protect my budget and team?" to "How do we move this metric?" This transition is the moment a group of high-performing individuals truly becomes a high-performing leadership team.</a:t>
            </a:r>
            <a:endParaRPr lang="en-US" dirty="0"/>
          </a:p>
          <a:p/>
          <a:p>
            <a:r>
              <a:t>Professional insights:</a:t>
            </a:r>
          </a:p>
          <a:p/>
          <a:p>
            <a:r>
              <a:t>Seniority and challenge: Seniority deserves respect and stays open to challenge. Healthy leaders create room for insight from different levels and generations.</a:t>
            </a:r>
          </a:p>
          <a:p>
            <a:r>
              <a:t>Source: Journal, 2 September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Working Session: KISS Mapping, OKR Construction &amp; Prioritisation
Three Tasks · Group KISS reflection · Enterprise OKRs · Prioritisation Matrix
Section learning outcomes:
1. Formulate clear and measurable outcomes for each enterprise priority.
2. Establish the link between each outcome, its contributing roles and the evidence of progress.
FACILITATOR GUIDANCE — Section 5 · Application
Section intent: This is the production section — the session where the concepts become outputs. Three tasks run in sequence. Protect the time for each and do not allow them to overlap. The quality of the outputs depends entirely on the discipline of the sequence.
Session architecture:
Worked Example — reference case (5 min, facilitator-led): show participants what a complete KISS-to-OKR sequence looks like before they attempt their own
Task 1 — Group KISS Reflection (15–20 min): group captures KISS items across all four domains
Task 2 — OKR Builder (20–25 min): individual drafting followed by de-labelled group synthesis
Task 3 — Prioritisation Matrix (10–15 min): collective placement and debate
Non-negotiable facilitation principles: Individual drafting must precede group discussion in Tasks 1 and 2. Written submissions prevent the anchoring bias where vocal leaders dominate the output before quieter voices have formed their perspective.
Suggested total section time: 55–70 minutes.
Facilitator Instructions
This is the active working session. Complete each task in sequence with the full leadership team. In Task 1 participants record their KISS reflection across the four domains. In Task 2 they draft Key Results and the group de-labels the OKR landscape. Task 3 applies the Prioritisation Matrix to concentrate execution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 WORKED EXAMPLE: KISS REFLECTION &amp; STRATEGIC THEMES (Reference Case)
FACILITATOR GUIDANCE — Worked Example
Purpose: Show the group what a complete KISS-to-OKR sequence looks like before they attempt their own. This prevents blank-page paralysis and establishes the quality standard for specificity.
Directing participants: Walk through the example KISS table and the resulting Objectives. For each, ask — "Notice how the KISS item maps directly to the Objective. There is no gap. The Objective is the direct consequence of what the KISS reflection surfaced."
Quality check: After walking through the example, ask participants — "At this level of specificity, could you trace every OKR back to a specific KISS observation? That is the standard we are working toward."
Suggested time: 5 minutes, facilitator-led.
Content:
The table below shows how a Strategy Intent and SiP have been filtered through the KISS reflection across four domains, producing the strategic themes that became Objectives.
Strategic Themes → Enterprise Objectives
Worked example — KISS reflection by domain (facilitator reference case):
Customer Experience &amp; Value
KEEP: Strong client relationships with key accounts
IMPROVE: Response time to customer requests varies across teams
START: Introduce proactive customer engagement model
STOP: Slow internal handovers that delay customer responses
Operational Capability &amp; Execution Rhythm
KEEP: Clear strategic priorities already exist
IMPROVE: Decision-making slows when multiple functions are involved
START: Introduce cross-functional execution routines and faster decision forums
STOP: Excessive reporting cycles that delay action
People &amp; Culture Dynamics
KEEP: Strong trust within teams
IMPROVE: Collaboration across functions remains inconsistent
START: Introduce shared ownership of enterprise priorities
STOP: Functional silos and escalation behaviours
Financial Performance &amp; Value Creation
KEEP: Solid revenue base and loyal client segments
IMPROVE: Profit margins fluctuate due to operational inefficiencies
START: Develop scalable service delivery models
STOP: Low-value projects that absorb leadership attention
Strategic Themes → Enterprise Objectives:
1. Customer responsiveness → Deliver consistently fast and effortless service experiences for customers
2. Execution speed → Build a high-speed execution engine that moves quickly from insight to action
3. Collaboration culture → Create a culture of shared ownership across functions for strategic priorities
4. Value creation → Strengthen enterprise performance through scalable and efficient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TASK 1 · GROUP KISS REFLECTION CAPTURE (4 Domains · Group Discussion)
FACILITATOR GUIDANCE — Task 1
Running the task: Before the group begins, remind participants — "Every item you enter must be anchored to the SiP. For example: 'we should improve cross-functional handover time from 72 to 24 hours because the SiP describes seamless execution rhythm.'"
Individual before collective: Ask participants to write their own inputs first (2–3 minutes per domain), then share with the group. The facilitator captures the agreed items in the tool. This prevents the first speaker from dominating the KISS landscape.
After all four domains are captured: Ask the group — "Look across all four domains. What are the 2–3 patterns that keep appearing? What does the organisation most consistently need to START, STOP, or IMPROVE relative to the SiP?" These patterns become the strategic themes that anchor the Objectives in Task 2.
Time discipline: Aim for 3–4 items per KISS element per domain. More than 5 items per element means the group has not prioritised — push for selection.
Suggested time: 15–20 minutes.
PARTICIPANT ACTIVITY
Participants complete this activity in their own file. The content below is for your preparation.
PARTICIPANT ACTIVITY
Participants record their KISS reflection across the four future-reality domains in Task 1 of their own file. Take each domain in turn and lead the group discussion from what they have 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 TASK 2 · DETERMINE KEY RESULTS &amp; DE-LABEL THE OKR LANDSCAPE (4 Objectives · 2 Key Results Each)
FACILITATOR GUIDANCE — Task 2
Running the OKR build: Work through each Objective one at a time with the full group. For each, allow 3–4 minutes for individual Key Result drafting before the group discusses. Apply the formula rigorously — Verb of Change + Metric + From X to Y + Deadline. If a Key Result cannot pass the "can you check it off a task list?" test, it is a task.
The alignment test in real time: Before a KR is entered, ask — "Does this result move the whole enterprise forward — or only one function?" This is Step 4 from the Integration section applied live. Do not skip it for any KR.
Assembling the de-labelled landscape: Once all KRs are entered, click "Assemble Landscape." Walk the group through the de-labelled view and ask — "Looking at this landscape without knowing who proposed what — which KRs are clearly enterprise-level? Which ones feel functional even without the label? What does that tell you?"
The Less is More Rule: Enforce it here — maximum 4 Objectives, maximum 3 Key Results per Objective. Any KR that does not survive the de-labelled scrutiny should be released.
Suggested time: 20–25 minutes.
PARTICIPANT ACTIVITY
Participants complete this activity in their own file. The content below is for your preparation.
PARTICIPANT ACTIVITY
Participants draft two Key Results for each enterprise Objective in Task 2 of their own file and name the contributing role for each. To de-label the landscape, list all Key Results together with the role names removed, then ask the group who now owns each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 TASK 3 · COLLECTIVE INTELLIGENCE: PRIORITISATION MATRIX (Impact × Effort · Assign OKRs)
FACILITATOR GUIDANCE — Task 3
Before placing any items: Establish shared definitions — ask the group: "What does 'high impact' mean for this organisation specifically? What does 'high effort' mean in our context — time, money, change management, or all three?" Without shared definitions, the placements will be meaningless.
Running the exercise: Place OKRs one at a time. For each, ask the group to call out their placement before showing any individual view. Disagreements are the data — do not resolve them too quickly. Ask: "Why do you see this as high impact? What would need to be true for this to be low effort?"
The existing Facilitator Move note applies here: Listen for disagreements about impact versus effort — this is where collective intelligence is built in real time. The quality of the debate is as valuable as the final matrix.
Closing the session: After the matrix is complete, ask — "Looking at this matrix — what does it tell you about where to focus your first 90 days? What must start immediately? What can wait?" Then direct the group to produce their individual portfolio commitments in the participant file before closing.
Suggested time: 10–15 minutes.
PARTICIPANT ACTIVITY
Draw the Impact × Effort matrix on a flip chart or whiteboard. Each leader places their Key Results on it; the group then tests every placement.
Facilitator Move
As the team debates placements, listen for disagreements about what constitutes "high impact" versus "high effort." These disagreements are where collective intelligence is built. Do not rush to consensus — the quality of the debate is as valuable as the final placement.
Content:
Evaluate each OKR initiative against Impact and Effort. The matrix becomes the strategic conversation device for aligning the leadership team on execution priority.</a:t>
            </a:r>
            <a:endParaRPr lang="en-US" dirty="0"/>
          </a:p>
          <a:p/>
          <a:p>
            <a:r>
              <a:t>Professional insights:</a:t>
            </a:r>
          </a:p>
          <a:p/>
          <a:p>
            <a:r>
              <a:t>The second cost: The leader who launches a strategic move without pricing every component retreats publicly when the second invoice arrives. Stress-test each initiative against the costs that do not appear on the deal sheet: the human responsibility, the cultural change and the long-term obligation. Use this when the group places items on the effort axis.</a:t>
            </a:r>
          </a:p>
          <a:p>
            <a:r>
              <a:t>Source: Journal, 2 May 2026 — Professional Insights: Strategy</a:t>
            </a:r>
          </a:p>
          <a:p/>
          <a:p>
            <a:r>
              <a:t>An open door is information: Not every available opportunity deserves automatic pursuit. Test each one against readiness, priorities, capacity and surrounding conditions.</a:t>
            </a:r>
          </a:p>
          <a:p>
            <a:r>
              <a:t>Source: Journal, 16 September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PORTFOLIO ARTEFACT (participant file: Portfolio Artefact · 3 Prompts)
Participant activity (participant file): participants answer each prompt in writing:
- What Has Shifted What is the most important insight this unit has given you about how your organisation currently approaches execution planning?
- Commitment to Action Based on this unit, what is one specific commitment you are making to how you will contribute to the enterprise OKR definition in today's session?
- Development Priority What capability or habit would most strengthen your contribution to enterprise OKR thinking and collective execution leadership? — Your development priority here...
Participants save the artefact, then submit Unit 3 to the facilitator from their file (supporting documents can be attached).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3 synthesis)
FACILITATOR GUIDANCE — Unit Summary
Closing the unit: Read the summary aloud or ask a participant to read it. It is intentionally concise — it crystallises the arc of the unit without adding new content. Let it do its work without embellishment.
Return to the opening question: Go back to the question you asked at the start of Awareness — "If the Success in Practice we described is the future organisation, what must change today to make that future possible?" Ask 2–3 participants: "Looking at the OKRs we have just built — have we answered that question? Where are the remaining gaps?"
Tangible outputs check: Before closing, confirm the following have been produced:
A completed group KISS reflection across all four domains (Task 1)
Enterprise OKRs — maximum 4 Objectives, maximum 3 KRs each — reviewed in de-labelled form (Task 2)
A completed Prioritisation Matrix with collective agreement on execution priority (Task 3)
A Session Report exported for distribution (Export)
Closing commitment: Ask each participant to complete this sentence privately — "The one thing I am committing to before our next session to make these OKRs real is…" Invite 2–3 to share. These are the accountability anchors between now and Unit 4.
Transition to Unit 4: Close with — "We have built our Strategic Intent, described our future state through SiP, and now defined how we will measure our progress through OKRs. Unit 4 examines the competitive environment — the external forces that will shape, enable, or resist the journey toward the organisation we have described."
Unit Summary (read aloud):
Awareness — What · The KISS Framework as Reflective Filter
Leaders recognise that KISS (Keep, Improve, Start, Stop) functions as a reflective filter between strategic vision and execution commitments. Before defining Objectives and Key Results, the leadership team must examine the organisation's current operating reality in relation to the Success in Practice narrative. This step prevents the common strategic mistake of layering new ambitions on top of an unchanged operational system.
Intelligence — Why · Most OKR Failures are Reflection Failures
When organisations move directly from vision to targets, legacy routines remain in place, resources remain misaligned, and teams attempt to pursue transformational goals while still carrying the weight of outdated priorities. The KISS-to-OKR sequence resolves this tension: SiP defines the future, KISS identifies the changes required, and OKRs translate those changes into measurable progress.
Extrapolating — Where · Functional Bias Creates OKR Hot Zones
Each leader naturally emphasises different dimensions of the future organisation. Unexamined, these perspectives produce functional OKRs where enterprise OKRs are needed. Recognising these patterns allows the leadership team to integrate perspectives into a balanced execution system that reflects the full enterprise.
Integration — Collective · Individual Expertise into Collective Intelligence
In the Integration stage, each leader begins with insights from their functional domain, but the final outcome must reflect the success of the enterprise as a whole. The Prioritisation Matrix concentrates execution energy on the initiatives that will most accelerate progress toward the SiP. Deliberately limiting the enterprise OKR set ensures that attention, resources, and accountability remain focused on what matters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2 · Direction · Unit 3</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SiP KISS Mapping &amp; OKR Definition</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From Success in Practice to a focused, measurable execution architecture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Distinguish the organisational practices that reinforce strategic progress from those that constrain it.</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Determine the enterprise priorities required to advance from the current position to the intended future state.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Formulate clear and measurable outcomes that express the strategic priorities of the organisation.</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Establish a clear relationship between strategic ambition, organisational contribution and evidence of progress.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KISS Framing &amp; OKR Definition?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the current practices that reinforce strategic progress from those that constrain it.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results that evidence progress from the activities that produce them.</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Translating Success in Practice into action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If the Success in Practice we described is the future organisation, what must change in the organisation today to make that future possible?</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KISS: four reflective filters</a:t>
            </a:r>
            <a:endParaRPr lang="en-US" sz="3600" dirty="0"/>
          </a:p>
        </p:txBody>
      </p:sp>
      <p:sp>
        <p:nvSpPr>
          <p:cNvPr id="3" name="Shape 1"/>
          <p:cNvSpPr/>
          <p:nvPr/>
        </p:nvSpPr>
        <p:spPr>
          <a:xfrm>
            <a:off x="548640" y="1508760"/>
            <a:ext cx="2567178" cy="3931920"/>
          </a:xfrm>
          <a:prstGeom prst="roundRect">
            <a:avLst>
              <a:gd name="adj" fmla="val 356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2109978" cy="571500"/>
          </a:xfrm>
          <a:prstGeom prst="rect">
            <a:avLst/>
          </a:prstGeom>
          <a:noFill/>
          <a:ln/>
        </p:spPr>
        <p:txBody>
          <a:bodyPr wrap="square" lIns="0" tIns="0" rIns="0" bIns="0" rtlCol="0" anchor="t"/>
          <a:lstStyle/>
          <a:p>
            <a:pPr indent="0" marL="0">
              <a:buNone/>
            </a:pPr>
            <a:r>
              <a:rPr lang="en-US" sz="3000" b="1" dirty="0">
                <a:solidFill>
                  <a:srgbClr val="1A5C2C"/>
                </a:solidFill>
                <a:latin typeface="Cambria" pitchFamily="34" charset="0"/>
                <a:ea typeface="Cambria" pitchFamily="34" charset="-122"/>
                <a:cs typeface="Cambria" pitchFamily="34" charset="-120"/>
              </a:rPr>
              <a:t>KEEP</a:t>
            </a:r>
            <a:endParaRPr lang="en-US" sz="3000" dirty="0"/>
          </a:p>
        </p:txBody>
      </p:sp>
      <p:sp>
        <p:nvSpPr>
          <p:cNvPr id="7" name="Text 4"/>
          <p:cNvSpPr txBox="1"/>
          <p:nvPr/>
        </p:nvSpPr>
        <p:spPr>
          <a:xfrm>
            <a:off x="777240" y="3223260"/>
            <a:ext cx="2109978" cy="208026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Protect what is already working</a:t>
            </a:r>
            <a:endParaRPr lang="en-US" sz="2400" dirty="0"/>
          </a:p>
        </p:txBody>
      </p:sp>
      <p:sp>
        <p:nvSpPr>
          <p:cNvPr id="8" name="Shape 5"/>
          <p:cNvSpPr/>
          <p:nvPr/>
        </p:nvSpPr>
        <p:spPr>
          <a:xfrm>
            <a:off x="3390138" y="1508760"/>
            <a:ext cx="2567178" cy="3931920"/>
          </a:xfrm>
          <a:prstGeom prst="roundRect">
            <a:avLst>
              <a:gd name="adj" fmla="val 3562"/>
            </a:avLst>
          </a:prstGeom>
          <a:solidFill>
            <a:srgbClr val="EEF4EF"/>
          </a:solidFill>
          <a:ln w="12700">
            <a:solidFill>
              <a:srgbClr val="EEF4EF"/>
            </a:solidFill>
            <a:prstDash val="solid"/>
          </a:ln>
        </p:spPr>
      </p:sp>
      <p:sp>
        <p:nvSpPr>
          <p:cNvPr id="9" name="Shape 6"/>
          <p:cNvSpPr/>
          <p:nvPr/>
        </p:nvSpPr>
        <p:spPr>
          <a:xfrm>
            <a:off x="3618738"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3778758" y="1897380"/>
            <a:ext cx="320040" cy="320040"/>
          </a:xfrm>
          <a:prstGeom prst="rect">
            <a:avLst/>
          </a:prstGeom>
        </p:spPr>
      </p:pic>
      <p:sp>
        <p:nvSpPr>
          <p:cNvPr id="11" name="Text 7"/>
          <p:cNvSpPr txBox="1"/>
          <p:nvPr/>
        </p:nvSpPr>
        <p:spPr>
          <a:xfrm>
            <a:off x="3618738" y="2514600"/>
            <a:ext cx="2109978" cy="571500"/>
          </a:xfrm>
          <a:prstGeom prst="rect">
            <a:avLst/>
          </a:prstGeom>
          <a:noFill/>
          <a:ln/>
        </p:spPr>
        <p:txBody>
          <a:bodyPr wrap="square" lIns="0" tIns="0" rIns="0" bIns="0" rtlCol="0" anchor="t"/>
          <a:lstStyle/>
          <a:p>
            <a:pPr indent="0" marL="0">
              <a:buNone/>
            </a:pPr>
            <a:r>
              <a:rPr lang="en-US" sz="3000" b="1" dirty="0">
                <a:solidFill>
                  <a:srgbClr val="1A5C2C"/>
                </a:solidFill>
                <a:latin typeface="Cambria" pitchFamily="34" charset="0"/>
                <a:ea typeface="Cambria" pitchFamily="34" charset="-122"/>
                <a:cs typeface="Cambria" pitchFamily="34" charset="-120"/>
              </a:rPr>
              <a:t>IMPROVE</a:t>
            </a:r>
            <a:endParaRPr lang="en-US" sz="3000" dirty="0"/>
          </a:p>
        </p:txBody>
      </p:sp>
      <p:sp>
        <p:nvSpPr>
          <p:cNvPr id="12" name="Text 8"/>
          <p:cNvSpPr txBox="1"/>
          <p:nvPr/>
        </p:nvSpPr>
        <p:spPr>
          <a:xfrm>
            <a:off x="3618738" y="3223260"/>
            <a:ext cx="2109978" cy="208026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Strengthen what is partially working</a:t>
            </a:r>
            <a:endParaRPr lang="en-US" sz="2400" dirty="0"/>
          </a:p>
        </p:txBody>
      </p:sp>
      <p:sp>
        <p:nvSpPr>
          <p:cNvPr id="13" name="Shape 9"/>
          <p:cNvSpPr/>
          <p:nvPr/>
        </p:nvSpPr>
        <p:spPr>
          <a:xfrm>
            <a:off x="6231636" y="1508760"/>
            <a:ext cx="2567178" cy="3931920"/>
          </a:xfrm>
          <a:prstGeom prst="roundRect">
            <a:avLst>
              <a:gd name="adj" fmla="val 3562"/>
            </a:avLst>
          </a:prstGeom>
          <a:solidFill>
            <a:srgbClr val="EEF4EF"/>
          </a:solidFill>
          <a:ln w="12700">
            <a:solidFill>
              <a:srgbClr val="EEF4EF"/>
            </a:solidFill>
            <a:prstDash val="solid"/>
          </a:ln>
        </p:spPr>
      </p:sp>
      <p:sp>
        <p:nvSpPr>
          <p:cNvPr id="14" name="Shape 10"/>
          <p:cNvSpPr/>
          <p:nvPr/>
        </p:nvSpPr>
        <p:spPr>
          <a:xfrm>
            <a:off x="6460236"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6620256" y="1897380"/>
            <a:ext cx="320040" cy="320040"/>
          </a:xfrm>
          <a:prstGeom prst="rect">
            <a:avLst/>
          </a:prstGeom>
        </p:spPr>
      </p:pic>
      <p:sp>
        <p:nvSpPr>
          <p:cNvPr id="16" name="Text 11"/>
          <p:cNvSpPr txBox="1"/>
          <p:nvPr/>
        </p:nvSpPr>
        <p:spPr>
          <a:xfrm>
            <a:off x="6460236" y="2514600"/>
            <a:ext cx="2109978" cy="571500"/>
          </a:xfrm>
          <a:prstGeom prst="rect">
            <a:avLst/>
          </a:prstGeom>
          <a:noFill/>
          <a:ln/>
        </p:spPr>
        <p:txBody>
          <a:bodyPr wrap="square" lIns="0" tIns="0" rIns="0" bIns="0" rtlCol="0" anchor="t"/>
          <a:lstStyle/>
          <a:p>
            <a:pPr indent="0" marL="0">
              <a:buNone/>
            </a:pPr>
            <a:r>
              <a:rPr lang="en-US" sz="3000" b="1" dirty="0">
                <a:solidFill>
                  <a:srgbClr val="1A5C2C"/>
                </a:solidFill>
                <a:latin typeface="Cambria" pitchFamily="34" charset="0"/>
                <a:ea typeface="Cambria" pitchFamily="34" charset="-122"/>
                <a:cs typeface="Cambria" pitchFamily="34" charset="-120"/>
              </a:rPr>
              <a:t>START</a:t>
            </a:r>
            <a:endParaRPr lang="en-US" sz="3000" dirty="0"/>
          </a:p>
        </p:txBody>
      </p:sp>
      <p:sp>
        <p:nvSpPr>
          <p:cNvPr id="17" name="Text 12"/>
          <p:cNvSpPr txBox="1"/>
          <p:nvPr/>
        </p:nvSpPr>
        <p:spPr>
          <a:xfrm>
            <a:off x="6460236" y="3223260"/>
            <a:ext cx="2109978" cy="208026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Introduce what does not yet exist</a:t>
            </a:r>
            <a:endParaRPr lang="en-US" sz="2400" dirty="0"/>
          </a:p>
        </p:txBody>
      </p:sp>
      <p:sp>
        <p:nvSpPr>
          <p:cNvPr id="18" name="Shape 13"/>
          <p:cNvSpPr/>
          <p:nvPr/>
        </p:nvSpPr>
        <p:spPr>
          <a:xfrm>
            <a:off x="9073134" y="1508760"/>
            <a:ext cx="2567178" cy="3931920"/>
          </a:xfrm>
          <a:prstGeom prst="roundRect">
            <a:avLst>
              <a:gd name="adj" fmla="val 3562"/>
            </a:avLst>
          </a:prstGeom>
          <a:solidFill>
            <a:srgbClr val="1A5C2C"/>
          </a:solidFill>
          <a:ln w="12700">
            <a:solidFill>
              <a:srgbClr val="1A5C2C"/>
            </a:solidFill>
            <a:prstDash val="solid"/>
          </a:ln>
        </p:spPr>
      </p:sp>
      <p:sp>
        <p:nvSpPr>
          <p:cNvPr id="19" name="Shape 14"/>
          <p:cNvSpPr/>
          <p:nvPr/>
        </p:nvSpPr>
        <p:spPr>
          <a:xfrm>
            <a:off x="9301734" y="1737360"/>
            <a:ext cx="640080" cy="640080"/>
          </a:xfrm>
          <a:prstGeom prst="ellipse">
            <a:avLst/>
          </a:prstGeom>
          <a:solidFill>
            <a:srgbClr val="C6A24C"/>
          </a:solidFill>
          <a:ln w="12700">
            <a:solidFill>
              <a:srgbClr val="C6A24C"/>
            </a:solidFill>
            <a:prstDash val="solid"/>
          </a:ln>
        </p:spPr>
      </p:sp>
      <p:pic>
        <p:nvPicPr>
          <p:cNvPr id="20" name="Image 3" descr="preencoded.png">    </p:cNvPr>
          <p:cNvPicPr>
            <a:picLocks noChangeAspect="1"/>
          </p:cNvPicPr>
          <p:nvPr/>
        </p:nvPicPr>
        <p:blipFill>
          <a:blip r:embed="rId4"/>
          <a:stretch>
            <a:fillRect/>
          </a:stretch>
        </p:blipFill>
        <p:spPr>
          <a:xfrm>
            <a:off x="9461754" y="1897380"/>
            <a:ext cx="320040" cy="320040"/>
          </a:xfrm>
          <a:prstGeom prst="rect">
            <a:avLst/>
          </a:prstGeom>
        </p:spPr>
      </p:pic>
      <p:sp>
        <p:nvSpPr>
          <p:cNvPr id="21" name="Text 15"/>
          <p:cNvSpPr txBox="1"/>
          <p:nvPr/>
        </p:nvSpPr>
        <p:spPr>
          <a:xfrm>
            <a:off x="9301734" y="2514600"/>
            <a:ext cx="2109978" cy="5715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STOP</a:t>
            </a:r>
            <a:endParaRPr lang="en-US" sz="3000" dirty="0"/>
          </a:p>
        </p:txBody>
      </p:sp>
      <p:sp>
        <p:nvSpPr>
          <p:cNvPr id="22" name="Text 16"/>
          <p:cNvSpPr txBox="1"/>
          <p:nvPr/>
        </p:nvSpPr>
        <p:spPr>
          <a:xfrm>
            <a:off x="9301734" y="3223260"/>
            <a:ext cx="2109978" cy="208026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Eliminate what contradicts the SiP</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24" name="Text 18"/>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Every KISS reflection must be anchored to the Success in Practice statement.</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The KISS reflection table: four domains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859536"/>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Customer Experience &amp; Value</a:t>
            </a:r>
            <a:endParaRPr lang="en-US" sz="2400" dirty="0"/>
          </a:p>
        </p:txBody>
      </p:sp>
      <p:sp>
        <p:nvSpPr>
          <p:cNvPr id="7" name="Text 4"/>
          <p:cNvSpPr txBox="1"/>
          <p:nvPr/>
        </p:nvSpPr>
        <p:spPr>
          <a:xfrm>
            <a:off x="777240" y="2688336"/>
            <a:ext cx="4951476" cy="969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If our SiP statement is true, what should customers consistently experience?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6400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Operational Capability</a:t>
            </a:r>
            <a:endParaRPr lang="en-US" sz="2400" dirty="0"/>
          </a:p>
        </p:txBody>
      </p:sp>
      <p:sp>
        <p:nvSpPr>
          <p:cNvPr id="12" name="Text 8"/>
          <p:cNvSpPr txBox="1"/>
          <p:nvPr/>
        </p:nvSpPr>
        <p:spPr>
          <a:xfrm>
            <a:off x="6460236" y="246888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If the SiP becomes reality, how will the organisation operate differently?</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People &amp; Culture</a:t>
            </a:r>
            <a:endParaRPr lang="en-US" sz="24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If the SiP is realised, how will leaders and teams work together?</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859536"/>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Financial Performance &amp; Value Creation</a:t>
            </a:r>
            <a:endParaRPr lang="en-US" sz="2400" dirty="0"/>
          </a:p>
        </p:txBody>
      </p:sp>
      <p:sp>
        <p:nvSpPr>
          <p:cNvPr id="22" name="Text 16"/>
          <p:cNvSpPr txBox="1"/>
          <p:nvPr/>
        </p:nvSpPr>
        <p:spPr>
          <a:xfrm>
            <a:off x="6460236" y="5248656"/>
            <a:ext cx="4951476" cy="969264"/>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If the SiP succeeds, what financial reality should we see?</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1.4 · OKR anatomy</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Objectives</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Define strategic ambition</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Qualitative and ambitious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Action-oriented and inspirational</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Memorable: the T-shirt test</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Key Results</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Define measurable progress</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Verb of Change + Metric</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From X to Y + By Deadline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2–3 per Objective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Can you check it off a task list? If yes, it is a task.</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1.4 · The Key Result formula</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Verb of Change  </a:t>
            </a:r>
            <a:pPr indent="0" marL="0">
              <a:buNone/>
            </a:pPr>
            <a:r>
              <a:rPr lang="en-US" sz="2600" dirty="0">
                <a:solidFill>
                  <a:srgbClr val="1F2A22"/>
                </a:solidFill>
                <a:latin typeface="Calibri" pitchFamily="34" charset="0"/>
                <a:ea typeface="Calibri" pitchFamily="34" charset="-122"/>
                <a:cs typeface="Calibri" pitchFamily="34" charset="-120"/>
              </a:rPr>
              <a:t>Increase, Reduce, Achieve, Improve, Maintain</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Metric  </a:t>
            </a:r>
            <a:pPr indent="0" marL="0">
              <a:buNone/>
            </a:pPr>
            <a:r>
              <a:rPr lang="en-US" sz="2600" dirty="0">
                <a:solidFill>
                  <a:srgbClr val="1F2A22"/>
                </a:solidFill>
                <a:latin typeface="Calibri" pitchFamily="34" charset="0"/>
                <a:ea typeface="Calibri" pitchFamily="34" charset="-122"/>
                <a:cs typeface="Calibri" pitchFamily="34" charset="-120"/>
              </a:rPr>
              <a:t>a clear and measurable indicator</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From X to Y  </a:t>
            </a:r>
            <a:pPr indent="0" marL="0">
              <a:buNone/>
            </a:pPr>
            <a:r>
              <a:rPr lang="en-US" sz="2600" dirty="0">
                <a:solidFill>
                  <a:srgbClr val="1F2A22"/>
                </a:solidFill>
                <a:latin typeface="Calibri" pitchFamily="34" charset="0"/>
                <a:ea typeface="Calibri" pitchFamily="34" charset="-122"/>
                <a:cs typeface="Calibri" pitchFamily="34" charset="-120"/>
              </a:rPr>
              <a:t>baseline and target: from 40% to 75%</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Deadline  </a:t>
            </a:r>
            <a:pPr indent="0" marL="0">
              <a:buNone/>
            </a:pPr>
            <a:r>
              <a:rPr lang="en-US" sz="2600" dirty="0">
                <a:solidFill>
                  <a:srgbClr val="1F2A22"/>
                </a:solidFill>
                <a:latin typeface="Calibri" pitchFamily="34" charset="0"/>
                <a:ea typeface="Calibri" pitchFamily="34" charset="-122"/>
                <a:cs typeface="Calibri" pitchFamily="34" charset="-120"/>
              </a:rPr>
              <a:t>By Q4 2026, by end of FY</a:t>
            </a:r>
            <a:endParaRPr lang="en-US" sz="2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1.5 · From KISS output to OKRs</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1 · Identify Strategic Themes  </a:t>
            </a:r>
            <a:pPr indent="0" marL="0">
              <a:buNone/>
            </a:pPr>
            <a:r>
              <a:rPr lang="en-US" sz="2600" dirty="0">
                <a:solidFill>
                  <a:srgbClr val="1F2A22"/>
                </a:solidFill>
                <a:latin typeface="Calibri" pitchFamily="34" charset="0"/>
                <a:ea typeface="Calibri" pitchFamily="34" charset="-122"/>
                <a:cs typeface="Calibri" pitchFamily="34" charset="-120"/>
              </a:rPr>
              <a:t>What insights emerged from the SiP and KISS reflections?</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2 · Define the Objective  </a:t>
            </a:r>
            <a:pPr indent="0" marL="0">
              <a:buNone/>
            </a:pPr>
            <a:r>
              <a:rPr lang="en-US" sz="2600" dirty="0">
                <a:solidFill>
                  <a:srgbClr val="1F2A22"/>
                </a:solidFill>
                <a:latin typeface="Calibri" pitchFamily="34" charset="0"/>
                <a:ea typeface="Calibri" pitchFamily="34" charset="-122"/>
                <a:cs typeface="Calibri" pitchFamily="34" charset="-120"/>
              </a:rPr>
              <a:t>If we get this theme right, what will we be known for?</a:t>
            </a:r>
            <a:endParaRPr lang="en-US" sz="2600" dirty="0"/>
          </a:p>
        </p:txBody>
      </p:sp>
      <p:sp>
        <p:nvSpPr>
          <p:cNvPr id="9" name="Shape 5"/>
          <p:cNvSpPr/>
          <p:nvPr/>
        </p:nvSpPr>
        <p:spPr>
          <a:xfrm>
            <a:off x="548640" y="526542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Step 3 · Define Key Results  </a:t>
            </a:r>
            <a:pPr indent="0" marL="0">
              <a:buNone/>
            </a:pPr>
            <a:r>
              <a:rPr lang="en-US" sz="2600" dirty="0">
                <a:solidFill>
                  <a:srgbClr val="1F2A22"/>
                </a:solidFill>
                <a:latin typeface="Calibri" pitchFamily="34" charset="0"/>
                <a:ea typeface="Calibri" pitchFamily="34" charset="-122"/>
                <a:cs typeface="Calibri" pitchFamily="34" charset="-120"/>
              </a:rPr>
              <a:t>What measurable outcomes will prove the Objective is being achieved?</a:t>
            </a:r>
            <a:endParaRPr lang="en-US" sz="2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the KISS-to-OKR Sequence Matters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Explain why an honest review of current practice must precede the setting of priorities.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cost of setting targets before the path to the future state is understood.</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The danger of moving too fast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Disconnected Targets</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Numbers set without acknowledging the hurdles.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Fragmented Efforts</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Functions row in different directions.</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Activity Trap</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Busyness measured in place of outcomes.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The organisation starts measuring the finish line before it has mapped the terrain.</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KISS: the missing bridge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The strengths to protect and lean into.</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The friction points that are quietly draining energy.</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The gaps where genuine support or investment is needed.</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The old habits to finally let go of.</a:t>
            </a:r>
            <a:endParaRPr lang="en-US" sz="2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The Strategy2Results® sequence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Success in Practice</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dream of where the organisation wants to be.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KISS</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honest look at the changes required to get there.</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OKRs</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The execution compass.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At which point in this sequence does our organisation typically enter?</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do OKR Hot Zones Appear?</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how each leadership function’s emphasis shapes the priorities it proposes.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functional contributions from the enterprise priorities they serve.</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Natural OKR emphasis across functions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Commercial leaders:  </a:t>
            </a:r>
            <a:pPr indent="0" marL="0">
              <a:buNone/>
            </a:pPr>
            <a:r>
              <a:rPr lang="en-US" sz="2600" dirty="0">
                <a:solidFill>
                  <a:srgbClr val="1F2A22"/>
                </a:solidFill>
                <a:latin typeface="Calibri" pitchFamily="34" charset="0"/>
                <a:ea typeface="Calibri" pitchFamily="34" charset="-122"/>
                <a:cs typeface="Calibri" pitchFamily="34" charset="-120"/>
              </a:rPr>
              <a:t>Customer Experience and Enterprise Value Creation</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Operational leaders:  </a:t>
            </a:r>
            <a:pPr indent="0" marL="0">
              <a:buNone/>
            </a:pPr>
            <a:r>
              <a:rPr lang="en-US" sz="2600" dirty="0">
                <a:solidFill>
                  <a:srgbClr val="1F2A22"/>
                </a:solidFill>
                <a:latin typeface="Calibri" pitchFamily="34" charset="0"/>
                <a:ea typeface="Calibri" pitchFamily="34" charset="-122"/>
                <a:cs typeface="Calibri" pitchFamily="34" charset="-120"/>
              </a:rPr>
              <a:t>Operational Capability and Enterprise Value Creation</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People leaders:  </a:t>
            </a:r>
            <a:pPr indent="0" marL="0">
              <a:buNone/>
            </a:pPr>
            <a:r>
              <a:rPr lang="en-US" sz="2600" dirty="0">
                <a:solidFill>
                  <a:srgbClr val="1F2A22"/>
                </a:solidFill>
                <a:latin typeface="Calibri" pitchFamily="34" charset="0"/>
                <a:ea typeface="Calibri" pitchFamily="34" charset="-122"/>
                <a:cs typeface="Calibri" pitchFamily="34" charset="-120"/>
              </a:rPr>
              <a:t>People &amp; Culture and Operational Capability</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Financial leaders:  </a:t>
            </a:r>
            <a:pPr indent="0" marL="0">
              <a:buNone/>
            </a:pPr>
            <a:r>
              <a:rPr lang="en-US" sz="2600" dirty="0">
                <a:solidFill>
                  <a:srgbClr val="1F2A22"/>
                </a:solidFill>
                <a:latin typeface="Calibri" pitchFamily="34" charset="0"/>
                <a:ea typeface="Calibri" pitchFamily="34" charset="-122"/>
                <a:cs typeface="Calibri" pitchFamily="34" charset="-120"/>
              </a:rPr>
              <a:t>Enterprise Value Creation and Operational Discipline</a:t>
            </a:r>
            <a:endParaRPr lang="en-US" sz="2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Leadership team hot zone cards</a:t>
            </a:r>
            <a:endParaRPr lang="en-US" sz="3600" dirty="0"/>
          </a:p>
        </p:txBody>
      </p:sp>
      <p:sp>
        <p:nvSpPr>
          <p:cNvPr id="3" name="Shape 1"/>
          <p:cNvSpPr/>
          <p:nvPr/>
        </p:nvSpPr>
        <p:spPr>
          <a:xfrm>
            <a:off x="548640" y="1508760"/>
            <a:ext cx="11091672" cy="1737360"/>
          </a:xfrm>
          <a:prstGeom prst="roundRect">
            <a:avLst>
              <a:gd name="adj" fmla="val 5263"/>
            </a:avLst>
          </a:prstGeom>
          <a:solidFill>
            <a:srgbClr val="1A5C2C"/>
          </a:solidFill>
          <a:ln w="12700">
            <a:solidFill>
              <a:srgbClr val="1A5C2C"/>
            </a:solidFill>
            <a:prstDash val="solid"/>
          </a:ln>
        </p:spPr>
      </p:sp>
      <p:sp>
        <p:nvSpPr>
          <p:cNvPr id="4" name="Text 2"/>
          <p:cNvSpPr txBox="1"/>
          <p:nvPr/>
        </p:nvSpPr>
        <p:spPr>
          <a:xfrm>
            <a:off x="822960" y="1508760"/>
            <a:ext cx="10607040" cy="1737360"/>
          </a:xfrm>
          <a:prstGeom prst="rect">
            <a:avLst/>
          </a:prstGeom>
          <a:noFill/>
          <a:ln/>
        </p:spPr>
        <p:txBody>
          <a:bodyPr wrap="square" lIns="0" tIns="0" rIns="0" bIns="0" rtlCol="0" anchor="ctr"/>
          <a:lstStyle/>
          <a:p>
            <a:pPr indent="0" marL="0">
              <a:buNone/>
            </a:pPr>
            <a:r>
              <a:rPr lang="en-US" sz="2800" dirty="0">
                <a:solidFill>
                  <a:srgbClr val="FFFFFF"/>
                </a:solidFill>
                <a:latin typeface="Calibri" pitchFamily="34" charset="0"/>
                <a:ea typeface="Calibri" pitchFamily="34" charset="-122"/>
                <a:cs typeface="Calibri" pitchFamily="34" charset="-120"/>
              </a:rPr>
              <a:t>Each role: dominant future realities, natural OKR emphasis, typical hot zone and its alignment question.</a:t>
            </a:r>
            <a:endParaRPr lang="en-US" sz="2800" dirty="0"/>
          </a:p>
        </p:txBody>
      </p:sp>
      <p:sp>
        <p:nvSpPr>
          <p:cNvPr id="5" name="Shape 3"/>
          <p:cNvSpPr/>
          <p:nvPr/>
        </p:nvSpPr>
        <p:spPr>
          <a:xfrm>
            <a:off x="548640" y="3657600"/>
            <a:ext cx="2011680" cy="868680"/>
          </a:xfrm>
          <a:prstGeom prst="roundRect">
            <a:avLst>
              <a:gd name="adj" fmla="val 10526"/>
            </a:avLst>
          </a:prstGeom>
          <a:solidFill>
            <a:srgbClr val="EEF4EF"/>
          </a:solidFill>
          <a:ln w="12700">
            <a:solidFill>
              <a:srgbClr val="EEF4EF"/>
            </a:solidFill>
            <a:prstDash val="solid"/>
          </a:ln>
        </p:spPr>
      </p:sp>
      <p:sp>
        <p:nvSpPr>
          <p:cNvPr id="6" name="Text 4"/>
          <p:cNvSpPr txBox="1"/>
          <p:nvPr/>
        </p:nvSpPr>
        <p:spPr>
          <a:xfrm>
            <a:off x="548640"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CEO</a:t>
            </a:r>
            <a:endParaRPr lang="en-US" sz="2800" dirty="0"/>
          </a:p>
        </p:txBody>
      </p:sp>
      <p:sp>
        <p:nvSpPr>
          <p:cNvPr id="7" name="Shape 5"/>
          <p:cNvSpPr/>
          <p:nvPr/>
        </p:nvSpPr>
        <p:spPr>
          <a:xfrm>
            <a:off x="2802636" y="3657600"/>
            <a:ext cx="2011680" cy="868680"/>
          </a:xfrm>
          <a:prstGeom prst="roundRect">
            <a:avLst>
              <a:gd name="adj" fmla="val 10526"/>
            </a:avLst>
          </a:prstGeom>
          <a:solidFill>
            <a:srgbClr val="EEF4EF"/>
          </a:solidFill>
          <a:ln w="12700">
            <a:solidFill>
              <a:srgbClr val="EEF4EF"/>
            </a:solidFill>
            <a:prstDash val="solid"/>
          </a:ln>
        </p:spPr>
      </p:sp>
      <p:sp>
        <p:nvSpPr>
          <p:cNvPr id="8" name="Text 6"/>
          <p:cNvSpPr txBox="1"/>
          <p:nvPr/>
        </p:nvSpPr>
        <p:spPr>
          <a:xfrm>
            <a:off x="2802636"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CFO</a:t>
            </a:r>
            <a:endParaRPr lang="en-US" sz="2800" dirty="0"/>
          </a:p>
        </p:txBody>
      </p:sp>
      <p:sp>
        <p:nvSpPr>
          <p:cNvPr id="9" name="Shape 7"/>
          <p:cNvSpPr/>
          <p:nvPr/>
        </p:nvSpPr>
        <p:spPr>
          <a:xfrm>
            <a:off x="5056632" y="3657600"/>
            <a:ext cx="2011680" cy="868680"/>
          </a:xfrm>
          <a:prstGeom prst="roundRect">
            <a:avLst>
              <a:gd name="adj" fmla="val 10526"/>
            </a:avLst>
          </a:prstGeom>
          <a:solidFill>
            <a:srgbClr val="EEF4EF"/>
          </a:solidFill>
          <a:ln w="12700">
            <a:solidFill>
              <a:srgbClr val="EEF4EF"/>
            </a:solidFill>
            <a:prstDash val="solid"/>
          </a:ln>
        </p:spPr>
      </p:sp>
      <p:sp>
        <p:nvSpPr>
          <p:cNvPr id="10" name="Text 8"/>
          <p:cNvSpPr txBox="1"/>
          <p:nvPr/>
        </p:nvSpPr>
        <p:spPr>
          <a:xfrm>
            <a:off x="5056632"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COO</a:t>
            </a:r>
            <a:endParaRPr lang="en-US" sz="2800" dirty="0"/>
          </a:p>
        </p:txBody>
      </p:sp>
      <p:sp>
        <p:nvSpPr>
          <p:cNvPr id="11" name="Shape 9"/>
          <p:cNvSpPr/>
          <p:nvPr/>
        </p:nvSpPr>
        <p:spPr>
          <a:xfrm>
            <a:off x="7310628" y="3657600"/>
            <a:ext cx="2011680" cy="868680"/>
          </a:xfrm>
          <a:prstGeom prst="roundRect">
            <a:avLst>
              <a:gd name="adj" fmla="val 10526"/>
            </a:avLst>
          </a:prstGeom>
          <a:solidFill>
            <a:srgbClr val="EEF4EF"/>
          </a:solidFill>
          <a:ln w="12700">
            <a:solidFill>
              <a:srgbClr val="EEF4EF"/>
            </a:solidFill>
            <a:prstDash val="solid"/>
          </a:ln>
        </p:spPr>
      </p:sp>
      <p:sp>
        <p:nvSpPr>
          <p:cNvPr id="12" name="Text 10"/>
          <p:cNvSpPr txBox="1"/>
          <p:nvPr/>
        </p:nvSpPr>
        <p:spPr>
          <a:xfrm>
            <a:off x="7310628"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CHRO</a:t>
            </a:r>
            <a:endParaRPr lang="en-US" sz="2800" dirty="0"/>
          </a:p>
        </p:txBody>
      </p:sp>
      <p:sp>
        <p:nvSpPr>
          <p:cNvPr id="13" name="Shape 11"/>
          <p:cNvSpPr/>
          <p:nvPr/>
        </p:nvSpPr>
        <p:spPr>
          <a:xfrm>
            <a:off x="9564624" y="3657600"/>
            <a:ext cx="2011680" cy="868680"/>
          </a:xfrm>
          <a:prstGeom prst="roundRect">
            <a:avLst>
              <a:gd name="adj" fmla="val 10526"/>
            </a:avLst>
          </a:prstGeom>
          <a:solidFill>
            <a:srgbClr val="EEF4EF"/>
          </a:solidFill>
          <a:ln w="12700">
            <a:solidFill>
              <a:srgbClr val="EEF4EF"/>
            </a:solidFill>
            <a:prstDash val="solid"/>
          </a:ln>
        </p:spPr>
      </p:sp>
      <p:sp>
        <p:nvSpPr>
          <p:cNvPr id="14" name="Text 12"/>
          <p:cNvSpPr txBox="1"/>
          <p:nvPr/>
        </p:nvSpPr>
        <p:spPr>
          <a:xfrm>
            <a:off x="9564624" y="365760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CTO/CIO</a:t>
            </a:r>
            <a:endParaRPr lang="en-US" sz="2800" dirty="0"/>
          </a:p>
        </p:txBody>
      </p:sp>
      <p:sp>
        <p:nvSpPr>
          <p:cNvPr id="15" name="Shape 13"/>
          <p:cNvSpPr/>
          <p:nvPr/>
        </p:nvSpPr>
        <p:spPr>
          <a:xfrm>
            <a:off x="548640" y="4754880"/>
            <a:ext cx="2011680" cy="868680"/>
          </a:xfrm>
          <a:prstGeom prst="roundRect">
            <a:avLst>
              <a:gd name="adj" fmla="val 10526"/>
            </a:avLst>
          </a:prstGeom>
          <a:solidFill>
            <a:srgbClr val="EEF4EF"/>
          </a:solidFill>
          <a:ln w="12700">
            <a:solidFill>
              <a:srgbClr val="EEF4EF"/>
            </a:solidFill>
            <a:prstDash val="solid"/>
          </a:ln>
        </p:spPr>
      </p:sp>
      <p:sp>
        <p:nvSpPr>
          <p:cNvPr id="16" name="Text 14"/>
          <p:cNvSpPr txBox="1"/>
          <p:nvPr/>
        </p:nvSpPr>
        <p:spPr>
          <a:xfrm>
            <a:off x="548640"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CMO</a:t>
            </a:r>
            <a:endParaRPr lang="en-US" sz="2800" dirty="0"/>
          </a:p>
        </p:txBody>
      </p:sp>
      <p:sp>
        <p:nvSpPr>
          <p:cNvPr id="17" name="Shape 15"/>
          <p:cNvSpPr/>
          <p:nvPr/>
        </p:nvSpPr>
        <p:spPr>
          <a:xfrm>
            <a:off x="2802636" y="4754880"/>
            <a:ext cx="2011680" cy="868680"/>
          </a:xfrm>
          <a:prstGeom prst="roundRect">
            <a:avLst>
              <a:gd name="adj" fmla="val 10526"/>
            </a:avLst>
          </a:prstGeom>
          <a:solidFill>
            <a:srgbClr val="EEF4EF"/>
          </a:solidFill>
          <a:ln w="12700">
            <a:solidFill>
              <a:srgbClr val="EEF4EF"/>
            </a:solidFill>
            <a:prstDash val="solid"/>
          </a:ln>
        </p:spPr>
      </p:sp>
      <p:sp>
        <p:nvSpPr>
          <p:cNvPr id="18" name="Text 16"/>
          <p:cNvSpPr txBox="1"/>
          <p:nvPr/>
        </p:nvSpPr>
        <p:spPr>
          <a:xfrm>
            <a:off x="2802636"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CCO</a:t>
            </a:r>
            <a:endParaRPr lang="en-US" sz="2800" dirty="0"/>
          </a:p>
        </p:txBody>
      </p:sp>
      <p:sp>
        <p:nvSpPr>
          <p:cNvPr id="19" name="Shape 17"/>
          <p:cNvSpPr/>
          <p:nvPr/>
        </p:nvSpPr>
        <p:spPr>
          <a:xfrm>
            <a:off x="5056632" y="4754880"/>
            <a:ext cx="2011680" cy="868680"/>
          </a:xfrm>
          <a:prstGeom prst="roundRect">
            <a:avLst>
              <a:gd name="adj" fmla="val 10526"/>
            </a:avLst>
          </a:prstGeom>
          <a:solidFill>
            <a:srgbClr val="EEF4EF"/>
          </a:solidFill>
          <a:ln w="12700">
            <a:solidFill>
              <a:srgbClr val="EEF4EF"/>
            </a:solidFill>
            <a:prstDash val="solid"/>
          </a:ln>
        </p:spPr>
      </p:sp>
      <p:sp>
        <p:nvSpPr>
          <p:cNvPr id="20" name="Text 18"/>
          <p:cNvSpPr txBox="1"/>
          <p:nvPr/>
        </p:nvSpPr>
        <p:spPr>
          <a:xfrm>
            <a:off x="5056632"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CPO</a:t>
            </a:r>
            <a:endParaRPr lang="en-US" sz="2800" dirty="0"/>
          </a:p>
        </p:txBody>
      </p:sp>
      <p:sp>
        <p:nvSpPr>
          <p:cNvPr id="21" name="Shape 19"/>
          <p:cNvSpPr/>
          <p:nvPr/>
        </p:nvSpPr>
        <p:spPr>
          <a:xfrm>
            <a:off x="7310628" y="4754880"/>
            <a:ext cx="2011680" cy="868680"/>
          </a:xfrm>
          <a:prstGeom prst="roundRect">
            <a:avLst>
              <a:gd name="adj" fmla="val 10526"/>
            </a:avLst>
          </a:prstGeom>
          <a:solidFill>
            <a:srgbClr val="EEF4EF"/>
          </a:solidFill>
          <a:ln w="12700">
            <a:solidFill>
              <a:srgbClr val="EEF4EF"/>
            </a:solidFill>
            <a:prstDash val="solid"/>
          </a:ln>
        </p:spPr>
      </p:sp>
      <p:sp>
        <p:nvSpPr>
          <p:cNvPr id="22" name="Text 20"/>
          <p:cNvSpPr txBox="1"/>
          <p:nvPr/>
        </p:nvSpPr>
        <p:spPr>
          <a:xfrm>
            <a:off x="7310628"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CRO</a:t>
            </a:r>
            <a:endParaRPr lang="en-US" sz="2800" dirty="0"/>
          </a:p>
        </p:txBody>
      </p:sp>
      <p:sp>
        <p:nvSpPr>
          <p:cNvPr id="23" name="Shape 21"/>
          <p:cNvSpPr/>
          <p:nvPr/>
        </p:nvSpPr>
        <p:spPr>
          <a:xfrm>
            <a:off x="9564624" y="4754880"/>
            <a:ext cx="2011680" cy="868680"/>
          </a:xfrm>
          <a:prstGeom prst="roundRect">
            <a:avLst>
              <a:gd name="adj" fmla="val 10526"/>
            </a:avLst>
          </a:prstGeom>
          <a:solidFill>
            <a:srgbClr val="EEF4EF"/>
          </a:solidFill>
          <a:ln w="12700">
            <a:solidFill>
              <a:srgbClr val="EEF4EF"/>
            </a:solidFill>
            <a:prstDash val="solid"/>
          </a:ln>
        </p:spPr>
      </p:sp>
      <p:sp>
        <p:nvSpPr>
          <p:cNvPr id="24" name="Text 22"/>
          <p:cNvSpPr txBox="1"/>
          <p:nvPr/>
        </p:nvSpPr>
        <p:spPr>
          <a:xfrm>
            <a:off x="9564624" y="4754880"/>
            <a:ext cx="2011680" cy="868680"/>
          </a:xfrm>
          <a:prstGeom prst="rect">
            <a:avLst/>
          </a:prstGeom>
          <a:noFill/>
          <a:ln/>
        </p:spPr>
        <p:txBody>
          <a:bodyPr wrap="square" lIns="0" tIns="0" rIns="0" bIns="0" rtlCol="0" anchor="ctr"/>
          <a:lstStyle/>
          <a:p>
            <a:pPr algn="ctr" indent="0" marL="0">
              <a:buNone/>
            </a:pPr>
            <a:r>
              <a:rPr lang="en-US" sz="2800" b="1" dirty="0">
                <a:solidFill>
                  <a:srgbClr val="1A5C2C"/>
                </a:solidFill>
                <a:latin typeface="Calibri" pitchFamily="34" charset="0"/>
                <a:ea typeface="Calibri" pitchFamily="34" charset="-122"/>
                <a:cs typeface="Calibri" pitchFamily="34" charset="-120"/>
              </a:rPr>
              <a:t>CSO</a:t>
            </a:r>
            <a:endParaRPr lang="en-US" sz="2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3.3 · The Alignment Brigade: four execution risks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Competing definitions of success across functions</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Fragmented measurement systems that cannot be integrated</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Functional optimisation in place of enterprise progress</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dirty="0">
                <a:solidFill>
                  <a:srgbClr val="1F2A22"/>
                </a:solidFill>
                <a:latin typeface="Calibri" pitchFamily="34" charset="0"/>
                <a:ea typeface="Calibri" pitchFamily="34" charset="-122"/>
                <a:cs typeface="Calibri" pitchFamily="34" charset="-120"/>
              </a:rPr>
              <a:t>Slow decision-making due to misaligned incentives</a:t>
            </a:r>
            <a:endParaRPr lang="en-US" sz="2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Building Collective Intelligence: The Six-Step Path to Enterprise OKRs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Determine the enterprise priorities that emerge from the leadership team’s collective reflection.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proposed outcomes on strategic merit, independent of their functional source.</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The six-step path to synthesis</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 Find Themes  </a:t>
            </a:r>
            <a:pPr indent="0" marL="0">
              <a:buNone/>
            </a:pPr>
            <a:r>
              <a:rPr lang="en-US" sz="2600" dirty="0">
                <a:solidFill>
                  <a:srgbClr val="1F2A22"/>
                </a:solidFill>
                <a:latin typeface="Calibri" pitchFamily="34" charset="0"/>
                <a:ea typeface="Calibri" pitchFamily="34" charset="-122"/>
                <a:cs typeface="Calibri" pitchFamily="34" charset="-120"/>
              </a:rPr>
              <a:t>2–3 big shifts, written first</a:t>
            </a:r>
            <a:endParaRPr lang="en-US" sz="26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 Inspiring Objectives  </a:t>
            </a:r>
            <a:pPr indent="0" marL="0">
              <a:buNone/>
            </a:pPr>
            <a:r>
              <a:rPr lang="en-US" sz="2600" dirty="0">
                <a:solidFill>
                  <a:srgbClr val="1F2A22"/>
                </a:solidFill>
                <a:latin typeface="Calibri" pitchFamily="34" charset="0"/>
                <a:ea typeface="Calibri" pitchFamily="34" charset="-122"/>
                <a:cs typeface="Calibri" pitchFamily="34" charset="-120"/>
              </a:rPr>
              <a:t>a transformation to be known for</a:t>
            </a:r>
            <a:endParaRPr lang="en-US" sz="26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 Define Key Results  </a:t>
            </a:r>
            <a:pPr indent="0" marL="0">
              <a:buNone/>
            </a:pPr>
            <a:r>
              <a:rPr lang="en-US" sz="2600" dirty="0">
                <a:solidFill>
                  <a:srgbClr val="1F2A22"/>
                </a:solidFill>
                <a:latin typeface="Calibri" pitchFamily="34" charset="0"/>
                <a:ea typeface="Calibri" pitchFamily="34" charset="-122"/>
                <a:cs typeface="Calibri" pitchFamily="34" charset="-120"/>
              </a:rPr>
              <a:t>Verb + Metric + From X to Y + Deadline</a:t>
            </a:r>
            <a:endParaRPr lang="en-US" sz="26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 Alignment Test  </a:t>
            </a:r>
            <a:pPr indent="0" marL="0">
              <a:buNone/>
            </a:pPr>
            <a:r>
              <a:rPr lang="en-US" sz="2600" dirty="0">
                <a:solidFill>
                  <a:srgbClr val="1F2A22"/>
                </a:solidFill>
                <a:latin typeface="Calibri" pitchFamily="34" charset="0"/>
                <a:ea typeface="Calibri" pitchFamily="34" charset="-122"/>
                <a:cs typeface="Calibri" pitchFamily="34" charset="-120"/>
              </a:rPr>
              <a:t>four questions, run publicly</a:t>
            </a:r>
            <a:endParaRPr lang="en-US" sz="26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5 · Panoramic Priority  </a:t>
            </a:r>
            <a:pPr indent="0" marL="0">
              <a:buNone/>
            </a:pPr>
            <a:r>
              <a:rPr lang="en-US" sz="2600" dirty="0">
                <a:solidFill>
                  <a:srgbClr val="1F2A22"/>
                </a:solidFill>
                <a:latin typeface="Calibri" pitchFamily="34" charset="0"/>
                <a:ea typeface="Calibri" pitchFamily="34" charset="-122"/>
                <a:cs typeface="Calibri" pitchFamily="34" charset="-120"/>
              </a:rPr>
              <a:t>the Less is More Rule</a:t>
            </a:r>
            <a:endParaRPr lang="en-US" sz="26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6 · Priority Matrix  </a:t>
            </a:r>
            <a:pPr indent="0" marL="0">
              <a:buNone/>
            </a:pPr>
            <a:r>
              <a:rPr lang="en-US" sz="2600" dirty="0">
                <a:solidFill>
                  <a:srgbClr val="1F2A22"/>
                </a:solidFill>
                <a:latin typeface="Calibri" pitchFamily="34" charset="0"/>
                <a:ea typeface="Calibri" pitchFamily="34" charset="-122"/>
                <a:cs typeface="Calibri" pitchFamily="34" charset="-120"/>
              </a:rPr>
              <a:t>impact versus effort</a:t>
            </a:r>
            <a:endParaRPr lang="en-US" sz="2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The Prioritisation Matrix: impact × effort</a:t>
            </a:r>
            <a:endParaRPr lang="en-US" sz="3600" dirty="0"/>
          </a:p>
        </p:txBody>
      </p:sp>
      <p:sp>
        <p:nvSpPr>
          <p:cNvPr id="3" name="Text 1"/>
          <p:cNvSpPr txBox="1"/>
          <p:nvPr/>
        </p:nvSpPr>
        <p:spPr>
          <a:xfrm>
            <a:off x="548640" y="1417320"/>
            <a:ext cx="2743200" cy="457200"/>
          </a:xfrm>
          <a:prstGeom prst="rect">
            <a:avLst/>
          </a:prstGeom>
          <a:noFill/>
          <a:ln/>
        </p:spPr>
        <p:txBody>
          <a:bodyPr wrap="square" lIns="0" tIns="0" rIns="0" bIns="0" rtlCol="0" anchor="t"/>
          <a:lstStyle/>
          <a:p>
            <a:pPr indent="0" marL="0">
              <a:buNone/>
            </a:pPr>
            <a:r>
              <a:rPr lang="en-US" sz="2400" b="1" dirty="0">
                <a:solidFill>
                  <a:srgbClr val="4E5E53"/>
                </a:solidFill>
                <a:latin typeface="Calibri" pitchFamily="34" charset="0"/>
                <a:ea typeface="Calibri" pitchFamily="34" charset="-122"/>
                <a:cs typeface="Calibri" pitchFamily="34" charset="-120"/>
              </a:rPr>
              <a:t>Impact ↓   Effort →</a:t>
            </a:r>
            <a:endParaRPr lang="en-US" sz="2400" dirty="0"/>
          </a:p>
        </p:txBody>
      </p:sp>
      <p:sp>
        <p:nvSpPr>
          <p:cNvPr id="4" name="Text 2"/>
          <p:cNvSpPr txBox="1"/>
          <p:nvPr/>
        </p:nvSpPr>
        <p:spPr>
          <a:xfrm>
            <a:off x="2286000" y="1417320"/>
            <a:ext cx="3017520" cy="457200"/>
          </a:xfrm>
          <a:prstGeom prst="rect">
            <a:avLst/>
          </a:prstGeom>
          <a:noFill/>
          <a:ln/>
        </p:spPr>
        <p:txBody>
          <a:bodyPr wrap="square" lIns="0" tIns="0" rIns="0" bIns="0" rtlCol="0" anchor="t"/>
          <a:lstStyle/>
          <a:p>
            <a:pPr algn="ctr" indent="0" marL="0">
              <a:buNone/>
            </a:pPr>
            <a:r>
              <a:rPr lang="en-US" sz="2400" b="1" dirty="0">
                <a:solidFill>
                  <a:srgbClr val="1A5C2C"/>
                </a:solidFill>
                <a:latin typeface="Calibri" pitchFamily="34" charset="0"/>
                <a:ea typeface="Calibri" pitchFamily="34" charset="-122"/>
                <a:cs typeface="Calibri" pitchFamily="34" charset="-120"/>
              </a:rPr>
              <a:t>Low</a:t>
            </a:r>
            <a:endParaRPr lang="en-US" sz="2400" dirty="0"/>
          </a:p>
        </p:txBody>
      </p:sp>
      <p:sp>
        <p:nvSpPr>
          <p:cNvPr id="5" name="Text 3"/>
          <p:cNvSpPr txBox="1"/>
          <p:nvPr/>
        </p:nvSpPr>
        <p:spPr>
          <a:xfrm>
            <a:off x="5440680" y="1417320"/>
            <a:ext cx="3017520" cy="457200"/>
          </a:xfrm>
          <a:prstGeom prst="rect">
            <a:avLst/>
          </a:prstGeom>
          <a:noFill/>
          <a:ln/>
        </p:spPr>
        <p:txBody>
          <a:bodyPr wrap="square" lIns="0" tIns="0" rIns="0" bIns="0" rtlCol="0" anchor="t"/>
          <a:lstStyle/>
          <a:p>
            <a:pPr algn="ctr" indent="0" marL="0">
              <a:buNone/>
            </a:pPr>
            <a:r>
              <a:rPr lang="en-US" sz="2400" b="1" dirty="0">
                <a:solidFill>
                  <a:srgbClr val="1A5C2C"/>
                </a:solidFill>
                <a:latin typeface="Calibri" pitchFamily="34" charset="0"/>
                <a:ea typeface="Calibri" pitchFamily="34" charset="-122"/>
                <a:cs typeface="Calibri" pitchFamily="34" charset="-120"/>
              </a:rPr>
              <a:t>Medium</a:t>
            </a:r>
            <a:endParaRPr lang="en-US" sz="2400" dirty="0"/>
          </a:p>
        </p:txBody>
      </p:sp>
      <p:sp>
        <p:nvSpPr>
          <p:cNvPr id="6" name="Text 4"/>
          <p:cNvSpPr txBox="1"/>
          <p:nvPr/>
        </p:nvSpPr>
        <p:spPr>
          <a:xfrm>
            <a:off x="8595360" y="1417320"/>
            <a:ext cx="3017520" cy="457200"/>
          </a:xfrm>
          <a:prstGeom prst="rect">
            <a:avLst/>
          </a:prstGeom>
          <a:noFill/>
          <a:ln/>
        </p:spPr>
        <p:txBody>
          <a:bodyPr wrap="square" lIns="0" tIns="0" rIns="0" bIns="0" rtlCol="0" anchor="t"/>
          <a:lstStyle/>
          <a:p>
            <a:pPr algn="ctr" indent="0" marL="0">
              <a:buNone/>
            </a:pPr>
            <a:r>
              <a:rPr lang="en-US" sz="2400" b="1" dirty="0">
                <a:solidFill>
                  <a:srgbClr val="1A5C2C"/>
                </a:solidFill>
                <a:latin typeface="Calibri" pitchFamily="34" charset="0"/>
                <a:ea typeface="Calibri" pitchFamily="34" charset="-122"/>
                <a:cs typeface="Calibri" pitchFamily="34" charset="-120"/>
              </a:rPr>
              <a:t>High</a:t>
            </a:r>
            <a:endParaRPr lang="en-US" sz="2400" dirty="0"/>
          </a:p>
        </p:txBody>
      </p:sp>
      <p:sp>
        <p:nvSpPr>
          <p:cNvPr id="7" name="Text 5"/>
          <p:cNvSpPr txBox="1"/>
          <p:nvPr/>
        </p:nvSpPr>
        <p:spPr>
          <a:xfrm>
            <a:off x="548640" y="1965960"/>
            <a:ext cx="1645920" cy="1325880"/>
          </a:xfrm>
          <a:prstGeom prst="rect">
            <a:avLst/>
          </a:prstGeom>
          <a:noFill/>
          <a:ln/>
        </p:spPr>
        <p:txBody>
          <a:bodyPr wrap="square" lIns="0" tIns="0" rIns="0" bIns="0" rtlCol="0" anchor="ctr"/>
          <a:lstStyle/>
          <a:p>
            <a:pPr indent="0" marL="0">
              <a:buNone/>
            </a:pPr>
            <a:r>
              <a:rPr lang="en-US" sz="2400" b="1" dirty="0">
                <a:solidFill>
                  <a:srgbClr val="1A5C2C"/>
                </a:solidFill>
                <a:latin typeface="Calibri" pitchFamily="34" charset="0"/>
                <a:ea typeface="Calibri" pitchFamily="34" charset="-122"/>
                <a:cs typeface="Calibri" pitchFamily="34" charset="-120"/>
              </a:rPr>
              <a:t>High</a:t>
            </a:r>
            <a:endParaRPr lang="en-US" sz="2400" dirty="0"/>
          </a:p>
        </p:txBody>
      </p:sp>
      <p:sp>
        <p:nvSpPr>
          <p:cNvPr id="8" name="Shape 6"/>
          <p:cNvSpPr/>
          <p:nvPr/>
        </p:nvSpPr>
        <p:spPr>
          <a:xfrm>
            <a:off x="2286000" y="1965960"/>
            <a:ext cx="3017520" cy="1325880"/>
          </a:xfrm>
          <a:prstGeom prst="roundRect">
            <a:avLst>
              <a:gd name="adj" fmla="val 6897"/>
            </a:avLst>
          </a:prstGeom>
          <a:solidFill>
            <a:srgbClr val="1A5C2C"/>
          </a:solidFill>
          <a:ln w="12700">
            <a:solidFill>
              <a:srgbClr val="1A5C2C"/>
            </a:solidFill>
            <a:prstDash val="solid"/>
          </a:ln>
        </p:spPr>
      </p:sp>
      <p:sp>
        <p:nvSpPr>
          <p:cNvPr id="9" name="Text 7"/>
          <p:cNvSpPr txBox="1"/>
          <p:nvPr/>
        </p:nvSpPr>
        <p:spPr>
          <a:xfrm>
            <a:off x="2423160" y="1965960"/>
            <a:ext cx="2743200" cy="13258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Strategic Catalysts</a:t>
            </a:r>
            <a:endParaRPr lang="en-US" sz="2400" dirty="0"/>
          </a:p>
        </p:txBody>
      </p:sp>
      <p:sp>
        <p:nvSpPr>
          <p:cNvPr id="10" name="Shape 8"/>
          <p:cNvSpPr/>
          <p:nvPr/>
        </p:nvSpPr>
        <p:spPr>
          <a:xfrm>
            <a:off x="5440680" y="1965960"/>
            <a:ext cx="3017520" cy="1325880"/>
          </a:xfrm>
          <a:prstGeom prst="roundRect">
            <a:avLst>
              <a:gd name="adj" fmla="val 6897"/>
            </a:avLst>
          </a:prstGeom>
          <a:solidFill>
            <a:srgbClr val="1A5C2C"/>
          </a:solidFill>
          <a:ln w="12700">
            <a:solidFill>
              <a:srgbClr val="1A5C2C"/>
            </a:solidFill>
            <a:prstDash val="solid"/>
          </a:ln>
        </p:spPr>
      </p:sp>
      <p:sp>
        <p:nvSpPr>
          <p:cNvPr id="11" name="Text 9"/>
          <p:cNvSpPr txBox="1"/>
          <p:nvPr/>
        </p:nvSpPr>
        <p:spPr>
          <a:xfrm>
            <a:off x="5577840" y="1965960"/>
            <a:ext cx="2743200" cy="13258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Accelerated Enablers</a:t>
            </a:r>
            <a:endParaRPr lang="en-US" sz="2400" dirty="0"/>
          </a:p>
        </p:txBody>
      </p:sp>
      <p:sp>
        <p:nvSpPr>
          <p:cNvPr id="12" name="Shape 10"/>
          <p:cNvSpPr/>
          <p:nvPr/>
        </p:nvSpPr>
        <p:spPr>
          <a:xfrm>
            <a:off x="8595360" y="1965960"/>
            <a:ext cx="3017520" cy="1325880"/>
          </a:xfrm>
          <a:prstGeom prst="roundRect">
            <a:avLst>
              <a:gd name="adj" fmla="val 6897"/>
            </a:avLst>
          </a:prstGeom>
          <a:solidFill>
            <a:srgbClr val="1A5C2C"/>
          </a:solidFill>
          <a:ln w="12700">
            <a:solidFill>
              <a:srgbClr val="1A5C2C"/>
            </a:solidFill>
            <a:prstDash val="solid"/>
          </a:ln>
        </p:spPr>
      </p:sp>
      <p:sp>
        <p:nvSpPr>
          <p:cNvPr id="13" name="Text 11"/>
          <p:cNvSpPr txBox="1"/>
          <p:nvPr/>
        </p:nvSpPr>
        <p:spPr>
          <a:xfrm>
            <a:off x="8732520" y="1965960"/>
            <a:ext cx="2743200" cy="13258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Core Strategic Drivers</a:t>
            </a:r>
            <a:endParaRPr lang="en-US" sz="2400" dirty="0"/>
          </a:p>
        </p:txBody>
      </p:sp>
      <p:sp>
        <p:nvSpPr>
          <p:cNvPr id="14" name="Text 12"/>
          <p:cNvSpPr txBox="1"/>
          <p:nvPr/>
        </p:nvSpPr>
        <p:spPr>
          <a:xfrm>
            <a:off x="548640" y="3447288"/>
            <a:ext cx="1645920" cy="1325880"/>
          </a:xfrm>
          <a:prstGeom prst="rect">
            <a:avLst/>
          </a:prstGeom>
          <a:noFill/>
          <a:ln/>
        </p:spPr>
        <p:txBody>
          <a:bodyPr wrap="square" lIns="0" tIns="0" rIns="0" bIns="0" rtlCol="0" anchor="ctr"/>
          <a:lstStyle/>
          <a:p>
            <a:pPr indent="0" marL="0">
              <a:buNone/>
            </a:pPr>
            <a:r>
              <a:rPr lang="en-US" sz="2400" b="1" dirty="0">
                <a:solidFill>
                  <a:srgbClr val="1A5C2C"/>
                </a:solidFill>
                <a:latin typeface="Calibri" pitchFamily="34" charset="0"/>
                <a:ea typeface="Calibri" pitchFamily="34" charset="-122"/>
                <a:cs typeface="Calibri" pitchFamily="34" charset="-120"/>
              </a:rPr>
              <a:t>Medium</a:t>
            </a:r>
            <a:endParaRPr lang="en-US" sz="2400" dirty="0"/>
          </a:p>
        </p:txBody>
      </p:sp>
      <p:sp>
        <p:nvSpPr>
          <p:cNvPr id="15" name="Shape 13"/>
          <p:cNvSpPr/>
          <p:nvPr/>
        </p:nvSpPr>
        <p:spPr>
          <a:xfrm>
            <a:off x="2286000" y="3447288"/>
            <a:ext cx="3017520" cy="1325880"/>
          </a:xfrm>
          <a:prstGeom prst="roundRect">
            <a:avLst>
              <a:gd name="adj" fmla="val 6897"/>
            </a:avLst>
          </a:prstGeom>
          <a:solidFill>
            <a:srgbClr val="EEF4EF"/>
          </a:solidFill>
          <a:ln w="12700">
            <a:solidFill>
              <a:srgbClr val="EEF4EF"/>
            </a:solidFill>
            <a:prstDash val="solid"/>
          </a:ln>
        </p:spPr>
      </p:sp>
      <p:sp>
        <p:nvSpPr>
          <p:cNvPr id="16" name="Text 14"/>
          <p:cNvSpPr txBox="1"/>
          <p:nvPr/>
        </p:nvSpPr>
        <p:spPr>
          <a:xfrm>
            <a:off x="2423160" y="3447288"/>
            <a:ext cx="2743200" cy="1325880"/>
          </a:xfrm>
          <a:prstGeom prst="rect">
            <a:avLst/>
          </a:prstGeom>
          <a:noFill/>
          <a:ln/>
        </p:spPr>
        <p:txBody>
          <a:bodyPr wrap="square" lIns="0" tIns="0" rIns="0" bIns="0" rtlCol="0" anchor="ctr"/>
          <a:lstStyle/>
          <a:p>
            <a:pPr algn="ctr" indent="0" marL="0">
              <a:buNone/>
            </a:pPr>
            <a:r>
              <a:rPr lang="en-US" sz="2400" b="1" dirty="0">
                <a:solidFill>
                  <a:srgbClr val="1A5C2C"/>
                </a:solidFill>
                <a:latin typeface="Calibri" pitchFamily="34" charset="0"/>
                <a:ea typeface="Calibri" pitchFamily="34" charset="-122"/>
                <a:cs typeface="Calibri" pitchFamily="34" charset="-120"/>
              </a:rPr>
              <a:t>Quick Efficiency Plays</a:t>
            </a:r>
            <a:endParaRPr lang="en-US" sz="2400" dirty="0"/>
          </a:p>
        </p:txBody>
      </p:sp>
      <p:sp>
        <p:nvSpPr>
          <p:cNvPr id="17" name="Shape 15"/>
          <p:cNvSpPr/>
          <p:nvPr/>
        </p:nvSpPr>
        <p:spPr>
          <a:xfrm>
            <a:off x="5440680" y="3447288"/>
            <a:ext cx="3017520" cy="1325880"/>
          </a:xfrm>
          <a:prstGeom prst="roundRect">
            <a:avLst>
              <a:gd name="adj" fmla="val 6897"/>
            </a:avLst>
          </a:prstGeom>
          <a:solidFill>
            <a:srgbClr val="EEF4EF"/>
          </a:solidFill>
          <a:ln w="12700">
            <a:solidFill>
              <a:srgbClr val="EEF4EF"/>
            </a:solidFill>
            <a:prstDash val="solid"/>
          </a:ln>
        </p:spPr>
      </p:sp>
      <p:sp>
        <p:nvSpPr>
          <p:cNvPr id="18" name="Text 16"/>
          <p:cNvSpPr txBox="1"/>
          <p:nvPr/>
        </p:nvSpPr>
        <p:spPr>
          <a:xfrm>
            <a:off x="5577840" y="3447288"/>
            <a:ext cx="2743200" cy="1325880"/>
          </a:xfrm>
          <a:prstGeom prst="rect">
            <a:avLst/>
          </a:prstGeom>
          <a:noFill/>
          <a:ln/>
        </p:spPr>
        <p:txBody>
          <a:bodyPr wrap="square" lIns="0" tIns="0" rIns="0" bIns="0" rtlCol="0" anchor="ctr"/>
          <a:lstStyle/>
          <a:p>
            <a:pPr algn="ctr" indent="0" marL="0">
              <a:buNone/>
            </a:pPr>
            <a:r>
              <a:rPr lang="en-US" sz="2400" b="1" dirty="0">
                <a:solidFill>
                  <a:srgbClr val="1A5C2C"/>
                </a:solidFill>
                <a:latin typeface="Calibri" pitchFamily="34" charset="0"/>
                <a:ea typeface="Calibri" pitchFamily="34" charset="-122"/>
                <a:cs typeface="Calibri" pitchFamily="34" charset="-120"/>
              </a:rPr>
              <a:t>Targeted Growth Projects</a:t>
            </a:r>
            <a:endParaRPr lang="en-US" sz="2400" dirty="0"/>
          </a:p>
        </p:txBody>
      </p:sp>
      <p:sp>
        <p:nvSpPr>
          <p:cNvPr id="19" name="Shape 17"/>
          <p:cNvSpPr/>
          <p:nvPr/>
        </p:nvSpPr>
        <p:spPr>
          <a:xfrm>
            <a:off x="8595360" y="3447288"/>
            <a:ext cx="3017520" cy="1325880"/>
          </a:xfrm>
          <a:prstGeom prst="roundRect">
            <a:avLst>
              <a:gd name="adj" fmla="val 6897"/>
            </a:avLst>
          </a:prstGeom>
          <a:solidFill>
            <a:srgbClr val="EEF4EF"/>
          </a:solidFill>
          <a:ln w="12700">
            <a:solidFill>
              <a:srgbClr val="EEF4EF"/>
            </a:solidFill>
            <a:prstDash val="solid"/>
          </a:ln>
        </p:spPr>
      </p:sp>
      <p:sp>
        <p:nvSpPr>
          <p:cNvPr id="20" name="Text 18"/>
          <p:cNvSpPr txBox="1"/>
          <p:nvPr/>
        </p:nvSpPr>
        <p:spPr>
          <a:xfrm>
            <a:off x="8732520" y="3447288"/>
            <a:ext cx="2743200" cy="1325880"/>
          </a:xfrm>
          <a:prstGeom prst="rect">
            <a:avLst/>
          </a:prstGeom>
          <a:noFill/>
          <a:ln/>
        </p:spPr>
        <p:txBody>
          <a:bodyPr wrap="square" lIns="0" tIns="0" rIns="0" bIns="0" rtlCol="0" anchor="ctr"/>
          <a:lstStyle/>
          <a:p>
            <a:pPr algn="ctr" indent="0" marL="0">
              <a:buNone/>
            </a:pPr>
            <a:r>
              <a:rPr lang="en-US" sz="2400" b="1" dirty="0">
                <a:solidFill>
                  <a:srgbClr val="1A5C2C"/>
                </a:solidFill>
                <a:latin typeface="Calibri" pitchFamily="34" charset="0"/>
                <a:ea typeface="Calibri" pitchFamily="34" charset="-122"/>
                <a:cs typeface="Calibri" pitchFamily="34" charset="-120"/>
              </a:rPr>
              <a:t>Heavy Investment Candidates</a:t>
            </a:r>
            <a:endParaRPr lang="en-US" sz="2400" dirty="0"/>
          </a:p>
        </p:txBody>
      </p:sp>
      <p:sp>
        <p:nvSpPr>
          <p:cNvPr id="21" name="Text 19"/>
          <p:cNvSpPr txBox="1"/>
          <p:nvPr/>
        </p:nvSpPr>
        <p:spPr>
          <a:xfrm>
            <a:off x="548640" y="4928616"/>
            <a:ext cx="1645920" cy="1325880"/>
          </a:xfrm>
          <a:prstGeom prst="rect">
            <a:avLst/>
          </a:prstGeom>
          <a:noFill/>
          <a:ln/>
        </p:spPr>
        <p:txBody>
          <a:bodyPr wrap="square" lIns="0" tIns="0" rIns="0" bIns="0" rtlCol="0" anchor="ctr"/>
          <a:lstStyle/>
          <a:p>
            <a:pPr indent="0" marL="0">
              <a:buNone/>
            </a:pPr>
            <a:r>
              <a:rPr lang="en-US" sz="2400" b="1" dirty="0">
                <a:solidFill>
                  <a:srgbClr val="1A5C2C"/>
                </a:solidFill>
                <a:latin typeface="Calibri" pitchFamily="34" charset="0"/>
                <a:ea typeface="Calibri" pitchFamily="34" charset="-122"/>
                <a:cs typeface="Calibri" pitchFamily="34" charset="-120"/>
              </a:rPr>
              <a:t>Low</a:t>
            </a:r>
            <a:endParaRPr lang="en-US" sz="2400" dirty="0"/>
          </a:p>
        </p:txBody>
      </p:sp>
      <p:sp>
        <p:nvSpPr>
          <p:cNvPr id="22" name="Shape 20"/>
          <p:cNvSpPr/>
          <p:nvPr/>
        </p:nvSpPr>
        <p:spPr>
          <a:xfrm>
            <a:off x="2286000" y="4928616"/>
            <a:ext cx="3017520" cy="1325880"/>
          </a:xfrm>
          <a:prstGeom prst="roundRect">
            <a:avLst>
              <a:gd name="adj" fmla="val 6897"/>
            </a:avLst>
          </a:prstGeom>
          <a:solidFill>
            <a:srgbClr val="EEF4EF"/>
          </a:solidFill>
          <a:ln w="12700">
            <a:solidFill>
              <a:srgbClr val="EEF4EF"/>
            </a:solidFill>
            <a:prstDash val="solid"/>
          </a:ln>
        </p:spPr>
      </p:sp>
      <p:sp>
        <p:nvSpPr>
          <p:cNvPr id="23" name="Text 21"/>
          <p:cNvSpPr txBox="1"/>
          <p:nvPr/>
        </p:nvSpPr>
        <p:spPr>
          <a:xfrm>
            <a:off x="2423160" y="4928616"/>
            <a:ext cx="2743200" cy="1325880"/>
          </a:xfrm>
          <a:prstGeom prst="rect">
            <a:avLst/>
          </a:prstGeom>
          <a:noFill/>
          <a:ln/>
        </p:spPr>
        <p:txBody>
          <a:bodyPr wrap="square" lIns="0" tIns="0" rIns="0" bIns="0" rtlCol="0" anchor="ctr"/>
          <a:lstStyle/>
          <a:p>
            <a:pPr algn="ctr" indent="0" marL="0">
              <a:buNone/>
            </a:pPr>
            <a:r>
              <a:rPr lang="en-US" sz="2400" b="1" dirty="0">
                <a:solidFill>
                  <a:srgbClr val="1A5C2C"/>
                </a:solidFill>
                <a:latin typeface="Calibri" pitchFamily="34" charset="0"/>
                <a:ea typeface="Calibri" pitchFamily="34" charset="-122"/>
                <a:cs typeface="Calibri" pitchFamily="34" charset="-120"/>
              </a:rPr>
              <a:t>Supportive Enablers</a:t>
            </a:r>
            <a:endParaRPr lang="en-US" sz="2400" dirty="0"/>
          </a:p>
        </p:txBody>
      </p:sp>
      <p:sp>
        <p:nvSpPr>
          <p:cNvPr id="24" name="Shape 22"/>
          <p:cNvSpPr/>
          <p:nvPr/>
        </p:nvSpPr>
        <p:spPr>
          <a:xfrm>
            <a:off x="5440680" y="4928616"/>
            <a:ext cx="3017520" cy="1325880"/>
          </a:xfrm>
          <a:prstGeom prst="roundRect">
            <a:avLst>
              <a:gd name="adj" fmla="val 6897"/>
            </a:avLst>
          </a:prstGeom>
          <a:solidFill>
            <a:srgbClr val="EEF4EF"/>
          </a:solidFill>
          <a:ln w="12700">
            <a:solidFill>
              <a:srgbClr val="EEF4EF"/>
            </a:solidFill>
            <a:prstDash val="solid"/>
          </a:ln>
        </p:spPr>
      </p:sp>
      <p:sp>
        <p:nvSpPr>
          <p:cNvPr id="25" name="Text 23"/>
          <p:cNvSpPr txBox="1"/>
          <p:nvPr/>
        </p:nvSpPr>
        <p:spPr>
          <a:xfrm>
            <a:off x="5577840" y="4928616"/>
            <a:ext cx="2743200" cy="1325880"/>
          </a:xfrm>
          <a:prstGeom prst="rect">
            <a:avLst/>
          </a:prstGeom>
          <a:noFill/>
          <a:ln/>
        </p:spPr>
        <p:txBody>
          <a:bodyPr wrap="square" lIns="0" tIns="0" rIns="0" bIns="0" rtlCol="0" anchor="ctr"/>
          <a:lstStyle/>
          <a:p>
            <a:pPr algn="ctr" indent="0" marL="0">
              <a:buNone/>
            </a:pPr>
            <a:r>
              <a:rPr lang="en-US" sz="2400" b="1" dirty="0">
                <a:solidFill>
                  <a:srgbClr val="1A5C2C"/>
                </a:solidFill>
                <a:latin typeface="Calibri" pitchFamily="34" charset="0"/>
                <a:ea typeface="Calibri" pitchFamily="34" charset="-122"/>
                <a:cs typeface="Calibri" pitchFamily="34" charset="-120"/>
              </a:rPr>
              <a:t>Marginal Utility Tasks</a:t>
            </a:r>
            <a:endParaRPr lang="en-US" sz="2400" dirty="0"/>
          </a:p>
        </p:txBody>
      </p:sp>
      <p:sp>
        <p:nvSpPr>
          <p:cNvPr id="26" name="Shape 24"/>
          <p:cNvSpPr/>
          <p:nvPr/>
        </p:nvSpPr>
        <p:spPr>
          <a:xfrm>
            <a:off x="8595360" y="4928616"/>
            <a:ext cx="3017520" cy="1325880"/>
          </a:xfrm>
          <a:prstGeom prst="roundRect">
            <a:avLst>
              <a:gd name="adj" fmla="val 6897"/>
            </a:avLst>
          </a:prstGeom>
          <a:solidFill>
            <a:srgbClr val="EEF4EF"/>
          </a:solidFill>
          <a:ln w="12700">
            <a:solidFill>
              <a:srgbClr val="EEF4EF"/>
            </a:solidFill>
            <a:prstDash val="solid"/>
          </a:ln>
        </p:spPr>
      </p:sp>
      <p:sp>
        <p:nvSpPr>
          <p:cNvPr id="27" name="Text 25"/>
          <p:cNvSpPr txBox="1"/>
          <p:nvPr/>
        </p:nvSpPr>
        <p:spPr>
          <a:xfrm>
            <a:off x="8732520" y="4928616"/>
            <a:ext cx="2743200" cy="1325880"/>
          </a:xfrm>
          <a:prstGeom prst="rect">
            <a:avLst/>
          </a:prstGeom>
          <a:noFill/>
          <a:ln/>
        </p:spPr>
        <p:txBody>
          <a:bodyPr wrap="square" lIns="0" tIns="0" rIns="0" bIns="0" rtlCol="0" anchor="ctr"/>
          <a:lstStyle/>
          <a:p>
            <a:pPr algn="ctr" indent="0" marL="0">
              <a:buNone/>
            </a:pPr>
            <a:r>
              <a:rPr lang="en-US" sz="2400" b="1" dirty="0">
                <a:solidFill>
                  <a:srgbClr val="1A5C2C"/>
                </a:solidFill>
                <a:latin typeface="Calibri" pitchFamily="34" charset="0"/>
                <a:ea typeface="Calibri" pitchFamily="34" charset="-122"/>
                <a:cs typeface="Calibri" pitchFamily="34" charset="-120"/>
              </a:rPr>
              <a:t>Resource Pitfalls</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Breaking the biases through de-labelling</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Dissolving Silo Mentality  </a:t>
            </a:r>
            <a:pPr indent="0" marL="0">
              <a:buNone/>
            </a:pPr>
            <a:r>
              <a:rPr lang="en-US" sz="2400" dirty="0">
                <a:solidFill>
                  <a:srgbClr val="1F2A22"/>
                </a:solidFill>
                <a:latin typeface="Calibri" pitchFamily="34" charset="0"/>
                <a:ea typeface="Calibri" pitchFamily="34" charset="-122"/>
                <a:cs typeface="Calibri" pitchFamily="34" charset="-120"/>
              </a:rPr>
              <a:t>· The "In-Group" Bias</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Neutralising Confirmation Bias  </a:t>
            </a:r>
            <a:pPr indent="0" marL="0">
              <a:buNone/>
            </a:pPr>
            <a:r>
              <a:rPr lang="en-US" sz="2400" dirty="0">
                <a:solidFill>
                  <a:srgbClr val="1F2A22"/>
                </a:solidFill>
                <a:latin typeface="Calibri" pitchFamily="34" charset="0"/>
                <a:ea typeface="Calibri" pitchFamily="34" charset="-122"/>
                <a:cs typeface="Calibri" pitchFamily="34" charset="-120"/>
              </a:rPr>
              <a:t>· Functional Label Removal</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Combating the Curse of Knowledge  </a:t>
            </a:r>
            <a:pPr indent="0" marL="0">
              <a:buNone/>
            </a:pPr>
            <a:r>
              <a:rPr lang="en-US" sz="2400" dirty="0">
                <a:solidFill>
                  <a:srgbClr val="1F2A22"/>
                </a:solidFill>
                <a:latin typeface="Calibri" pitchFamily="34" charset="0"/>
                <a:ea typeface="Calibri" pitchFamily="34" charset="-122"/>
                <a:cs typeface="Calibri" pitchFamily="34" charset="-120"/>
              </a:rPr>
              <a:t>· Jargon Elimination</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Overcoming Status Quo Bias  </a:t>
            </a:r>
            <a:pPr indent="0" marL="0">
              <a:buNone/>
            </a:pPr>
            <a:r>
              <a:rPr lang="en-US" sz="2400" dirty="0">
                <a:solidFill>
                  <a:srgbClr val="1F2A22"/>
                </a:solidFill>
                <a:latin typeface="Calibri" pitchFamily="34" charset="0"/>
                <a:ea typeface="Calibri" pitchFamily="34" charset="-122"/>
                <a:cs typeface="Calibri" pitchFamily="34" charset="-120"/>
              </a:rPr>
              <a:t>· Transformation Signal</a:t>
            </a:r>
            <a:endParaRPr lang="en-US" sz="24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Building a Whole-System Perspective  </a:t>
            </a:r>
            <a:pPr indent="0" marL="0">
              <a:buNone/>
            </a:pPr>
            <a:r>
              <a:rPr lang="en-US" sz="2400" dirty="0">
                <a:solidFill>
                  <a:srgbClr val="1F2A22"/>
                </a:solidFill>
                <a:latin typeface="Calibri" pitchFamily="34" charset="0"/>
                <a:ea typeface="Calibri" pitchFamily="34" charset="-122"/>
                <a:cs typeface="Calibri" pitchFamily="34" charset="-120"/>
              </a:rPr>
              <a:t>· From Individual to Collective Leadership</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Working Session: KISS Mapping, OKR Construction &amp; Prioritisation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Formulate clear and measurable outcomes for each enterprise priority.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Establish the link between each outcome, its contributing roles and the evidence of progress.</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Worked example: KISS themes to Objectives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Customer responsiveness:  </a:t>
            </a:r>
            <a:pPr indent="0" marL="0">
              <a:buNone/>
            </a:pPr>
            <a:r>
              <a:rPr lang="en-US" sz="2400" dirty="0">
                <a:solidFill>
                  <a:srgbClr val="1F2A22"/>
                </a:solidFill>
                <a:latin typeface="Calibri" pitchFamily="34" charset="0"/>
                <a:ea typeface="Calibri" pitchFamily="34" charset="-122"/>
                <a:cs typeface="Calibri" pitchFamily="34" charset="-120"/>
              </a:rPr>
              <a:t>Deliver consistently fast and effortless service experiences for customers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Execution speed:  </a:t>
            </a:r>
            <a:pPr indent="0" marL="0">
              <a:buNone/>
            </a:pPr>
            <a:r>
              <a:rPr lang="en-US" sz="2400" dirty="0">
                <a:solidFill>
                  <a:srgbClr val="1F2A22"/>
                </a:solidFill>
                <a:latin typeface="Calibri" pitchFamily="34" charset="0"/>
                <a:ea typeface="Calibri" pitchFamily="34" charset="-122"/>
                <a:cs typeface="Calibri" pitchFamily="34" charset="-120"/>
              </a:rPr>
              <a:t>Build a high-speed execution engine that moves quickly from insight to action</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Collaboration culture:  </a:t>
            </a:r>
            <a:pPr indent="0" marL="0">
              <a:buNone/>
            </a:pPr>
            <a:r>
              <a:rPr lang="en-US" sz="2400" dirty="0">
                <a:solidFill>
                  <a:srgbClr val="1F2A22"/>
                </a:solidFill>
                <a:latin typeface="Calibri" pitchFamily="34" charset="0"/>
                <a:ea typeface="Calibri" pitchFamily="34" charset="-122"/>
                <a:cs typeface="Calibri" pitchFamily="34" charset="-120"/>
              </a:rPr>
              <a:t>Create a culture of shared ownership across functions for strategic priorities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Value creation:  </a:t>
            </a:r>
            <a:pPr indent="0" marL="0">
              <a:buNone/>
            </a:pPr>
            <a:r>
              <a:rPr lang="en-US" sz="2400" dirty="0">
                <a:solidFill>
                  <a:srgbClr val="1F2A22"/>
                </a:solidFill>
                <a:latin typeface="Calibri" pitchFamily="34" charset="0"/>
                <a:ea typeface="Calibri" pitchFamily="34" charset="-122"/>
                <a:cs typeface="Calibri" pitchFamily="34" charset="-120"/>
              </a:rPr>
              <a:t>Strengthen enterprise performance through scalable and efficient operations</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Task 1 · Group KISS reflection</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Anchor every item  </a:t>
            </a:r>
            <a:pPr indent="0" marL="0">
              <a:buNone/>
            </a:pPr>
            <a:r>
              <a:rPr lang="en-US" sz="2600" dirty="0">
                <a:solidFill>
                  <a:srgbClr val="1F2A22"/>
                </a:solidFill>
                <a:latin typeface="Calibri" pitchFamily="34" charset="0"/>
                <a:ea typeface="Calibri" pitchFamily="34" charset="-122"/>
                <a:cs typeface="Calibri" pitchFamily="34" charset="-120"/>
              </a:rPr>
              <a:t>to the SiP</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2–3 minutes per domain:  </a:t>
            </a:r>
            <a:pPr indent="0" marL="0">
              <a:buNone/>
            </a:pPr>
            <a:r>
              <a:rPr lang="en-US" sz="2600" dirty="0">
                <a:solidFill>
                  <a:srgbClr val="1F2A22"/>
                </a:solidFill>
                <a:latin typeface="Calibri" pitchFamily="34" charset="0"/>
                <a:ea typeface="Calibri" pitchFamily="34" charset="-122"/>
                <a:cs typeface="Calibri" pitchFamily="34" charset="-120"/>
              </a:rPr>
              <a:t>write your own inputs first</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Then share:  </a:t>
            </a:r>
            <a:pPr indent="0" marL="0">
              <a:buNone/>
            </a:pPr>
            <a:r>
              <a:rPr lang="en-US" sz="2600" dirty="0">
                <a:solidFill>
                  <a:srgbClr val="1F2A22"/>
                </a:solidFill>
                <a:latin typeface="Calibri" pitchFamily="34" charset="0"/>
                <a:ea typeface="Calibri" pitchFamily="34" charset="-122"/>
                <a:cs typeface="Calibri" pitchFamily="34" charset="-120"/>
              </a:rPr>
              <a:t>the facilitator captures agreed items</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Patterns:  </a:t>
            </a:r>
            <a:pPr indent="0" marL="0">
              <a:buNone/>
            </a:pPr>
            <a:r>
              <a:rPr lang="en-US" sz="2600" dirty="0">
                <a:solidFill>
                  <a:srgbClr val="1F2A22"/>
                </a:solidFill>
                <a:latin typeface="Calibri" pitchFamily="34" charset="0"/>
                <a:ea typeface="Calibri" pitchFamily="34" charset="-122"/>
                <a:cs typeface="Calibri" pitchFamily="34" charset="-120"/>
              </a:rPr>
              <a:t>the 2–3 themes that anchor the Objectives</a:t>
            </a:r>
            <a:endParaRPr lang="en-US" sz="2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Task 2 · Key Results and the de-labelled landscape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3–4 minutes per Objective:  </a:t>
            </a:r>
            <a:pPr indent="0" marL="0">
              <a:buNone/>
            </a:pPr>
            <a:r>
              <a:rPr lang="en-US" sz="2600" dirty="0">
                <a:solidFill>
                  <a:srgbClr val="1F2A22"/>
                </a:solidFill>
                <a:latin typeface="Calibri" pitchFamily="34" charset="0"/>
                <a:ea typeface="Calibri" pitchFamily="34" charset="-122"/>
                <a:cs typeface="Calibri" pitchFamily="34" charset="-120"/>
              </a:rPr>
              <a:t>individual Key Result drafting</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Alignment test:  </a:t>
            </a:r>
            <a:pPr indent="0" marL="0">
              <a:buNone/>
            </a:pPr>
            <a:r>
              <a:rPr lang="en-US" sz="2600" dirty="0">
                <a:solidFill>
                  <a:srgbClr val="1F2A22"/>
                </a:solidFill>
                <a:latin typeface="Calibri" pitchFamily="34" charset="0"/>
                <a:ea typeface="Calibri" pitchFamily="34" charset="-122"/>
                <a:cs typeface="Calibri" pitchFamily="34" charset="-120"/>
              </a:rPr>
              <a:t>does this move the whole enterprise forward?</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De-label:  </a:t>
            </a:r>
            <a:pPr indent="0" marL="0">
              <a:buNone/>
            </a:pPr>
            <a:r>
              <a:rPr lang="en-US" sz="2600" dirty="0">
                <a:solidFill>
                  <a:srgbClr val="1F2A22"/>
                </a:solidFill>
                <a:latin typeface="Calibri" pitchFamily="34" charset="0"/>
                <a:ea typeface="Calibri" pitchFamily="34" charset="-122"/>
                <a:cs typeface="Calibri" pitchFamily="34" charset="-120"/>
              </a:rPr>
              <a:t>judge each Key Result without its role name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Less is More:  </a:t>
            </a:r>
            <a:pPr indent="0" marL="0">
              <a:buNone/>
            </a:pPr>
            <a:r>
              <a:rPr lang="en-US" sz="2600" dirty="0">
                <a:solidFill>
                  <a:srgbClr val="1F2A22"/>
                </a:solidFill>
                <a:latin typeface="Calibri" pitchFamily="34" charset="0"/>
                <a:ea typeface="Calibri" pitchFamily="34" charset="-122"/>
                <a:cs typeface="Calibri" pitchFamily="34" charset="-120"/>
              </a:rPr>
              <a:t>maximum 4 Objectives, 3 Key Results each</a:t>
            </a:r>
            <a:endParaRPr lang="en-US" sz="2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Task 3 · The Prioritisation Matrix</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Shared definitions first:  </a:t>
            </a:r>
            <a:pPr indent="0" marL="0">
              <a:buNone/>
            </a:pPr>
            <a:r>
              <a:rPr lang="en-US" sz="2600" dirty="0">
                <a:solidFill>
                  <a:srgbClr val="1F2A22"/>
                </a:solidFill>
                <a:latin typeface="Calibri" pitchFamily="34" charset="0"/>
                <a:ea typeface="Calibri" pitchFamily="34" charset="-122"/>
                <a:cs typeface="Calibri" pitchFamily="34" charset="-120"/>
              </a:rPr>
              <a:t>what “high impact” and “high effort” mean here</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One OKR at a time:  </a:t>
            </a:r>
            <a:pPr indent="0" marL="0">
              <a:buNone/>
            </a:pPr>
            <a:r>
              <a:rPr lang="en-US" sz="2600" dirty="0">
                <a:solidFill>
                  <a:srgbClr val="1F2A22"/>
                </a:solidFill>
                <a:latin typeface="Calibri" pitchFamily="34" charset="0"/>
                <a:ea typeface="Calibri" pitchFamily="34" charset="-122"/>
                <a:cs typeface="Calibri" pitchFamily="34" charset="-120"/>
              </a:rPr>
              <a:t>the group calls out its placement</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Disagreements are the data:  </a:t>
            </a:r>
            <a:pPr indent="0" marL="0">
              <a:buNone/>
            </a:pPr>
            <a:r>
              <a:rPr lang="en-US" sz="2600" dirty="0">
                <a:solidFill>
                  <a:srgbClr val="1F2A22"/>
                </a:solidFill>
                <a:latin typeface="Calibri" pitchFamily="34" charset="0"/>
                <a:ea typeface="Calibri" pitchFamily="34" charset="-122"/>
                <a:cs typeface="Calibri" pitchFamily="34" charset="-120"/>
              </a:rPr>
              <a:t>do not rush to consensus</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Close:  </a:t>
            </a:r>
            <a:pPr indent="0" marL="0">
              <a:buNone/>
            </a:pPr>
            <a:r>
              <a:rPr lang="en-US" sz="2600" dirty="0">
                <a:solidFill>
                  <a:srgbClr val="1F2A22"/>
                </a:solidFill>
                <a:latin typeface="Calibri" pitchFamily="34" charset="0"/>
                <a:ea typeface="Calibri" pitchFamily="34" charset="-122"/>
                <a:cs typeface="Calibri" pitchFamily="34" charset="-120"/>
              </a:rPr>
              <a:t>what must start in the first 90 days?</a:t>
            </a:r>
            <a:endParaRPr lang="en-US" sz="2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Portfolio Artefact</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What Has Shifted</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Your key insight on how execution is planned.</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Commitment to Action</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How you will contribute to the enterprise OKRs.</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Development Priority</a:t>
            </a:r>
            <a:endParaRPr lang="en-US" sz="2600" dirty="0"/>
          </a:p>
        </p:txBody>
      </p:sp>
      <p:sp>
        <p:nvSpPr>
          <p:cNvPr id="17" name="Text 12"/>
          <p:cNvSpPr txBox="1"/>
          <p:nvPr/>
        </p:nvSpPr>
        <p:spPr>
          <a:xfrm>
            <a:off x="8354568"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capability or habit that would most strengthen you.</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Looking at the OKRs we have just built — have we answered the question? Where are the remaining gaps?</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The one thing I am committing to before our next session to make these OKRs real is…</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3 · SiP KISS Mapping &amp; OKR Definition</dc:title>
  <dc:subject>PptxGenJS Presentation</dc:subject>
  <dc:creator>Institute of Behavioural Strategy &amp; Leadership</dc:creator>
  <cp:lastModifiedBy>Institute of Behavioural Strategy &amp; Leadership</cp:lastModifiedBy>
  <cp:revision>1</cp:revision>
  <dcterms:created xsi:type="dcterms:W3CDTF">2026-09-29T13:20:17Z</dcterms:created>
  <dcterms:modified xsi:type="dcterms:W3CDTF">2026-09-29T13:20:17Z</dcterms:modified>
</cp:coreProperties>
</file>