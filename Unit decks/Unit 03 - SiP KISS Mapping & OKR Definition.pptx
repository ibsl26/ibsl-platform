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5 and their own Strategy Airport learning round.</a:t>
            </a:r>
          </a:p>
          <a:p>
            <a:r>
              <a:rPr lang="en-GB" dirty="0"/>
              <a:t>3. Section 5 on the portal is group work for the Capstone. The group chooses its scribe for this work.</a:t>
            </a:r>
          </a:p>
          <a:p>
            <a:r>
              <a:rPr lang="en-GB" dirty="0"/>
              <a:t>The scribe types what the group agrees, the entries appear on every member’s page, and each member then selects Agree.</a:t>
            </a:r>
          </a:p>
          <a:p>
            <a:r>
              <a:rPr lang="en-GB" dirty="0"/>
              <a:t>4. The matching exercise in Section 3 and the game in Section 4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4,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S2R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produces its outputs for the Capstone, and Section 4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the Strategy Airport game, played with the room in the lesson and then by each participant alone.</a:t>
            </a:r>
          </a:p>
          <a:p>
            <a:endParaRPr lang="en-GB" dirty="0"/>
          </a:p>
          <a:p>
            <a:r>
              <a:rPr lang="en-GB" dirty="0"/>
              <a:t>- </a:t>
            </a:r>
            <a:r>
              <a:rPr lang="en-GB" b="1" dirty="0"/>
              <a:t>Section 5 · Application </a:t>
            </a:r>
            <a:r>
              <a:rPr lang="en-GB" dirty="0"/>
              <a:t>— In Practice: each group translates its Success in Practice into a KISS map, follows the five steps to convert to prioritised OKRs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Evaluate organisational practices and determine what should be sustained or changed.</a:t>
            </a:r>
          </a:p>
          <a:p>
            <a:r>
              <a:rPr lang="en-GB" dirty="0"/>
              <a:t>2. Translate strategic intent into outcomes that can be meaningfully measured.</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the organisation will need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5.</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5.</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session.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it:“Notice that an initiative can sound useful and still sit in the wrong place. We are testing its strategic impact against the effort it requires.”</a:t>
            </a:r>
            <a:br>
              <a:rPr lang="en-ZA" dirty="0"/>
            </a:b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Assess the strategic changes required before committing to performance targets.</a:t>
            </a:r>
          </a:p>
          <a:p>
            <a:r>
              <a:rPr lang="en-GB" dirty="0"/>
              <a:t>2. Derive measurable results that are traceable to Success in Practice.</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pattern the group shows.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Challenge functional preferences that distort enterprise priority-setting.</a:t>
            </a:r>
          </a:p>
          <a:p>
            <a:r>
              <a:rPr lang="en-GB" dirty="0"/>
              <a:t>2. Align functional contributions with enterprise-wide strategic priorities.</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group’s own work."</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with the group.</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5.</a:t>
            </a:r>
          </a:p>
          <a:p>
            <a:r>
              <a:rPr lang="en-GB" dirty="0"/>
              <a:t>Say: "We know the filter, the building blocks, the steps and our own biases. Section 5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5.1a: how the group works. One scribe per assignment; the agreed entries appear on every member’s page.</a:t>
            </a:r>
          </a:p>
          <a:p>
            <a:r>
              <a:rPr lang="en-GB" dirty="0"/>
              <a:t>2. 5.1b: Translating SiP to KISS. The group’s four SiP statements, the sixteen entries of the KISS map, and its confirmation.</a:t>
            </a:r>
          </a:p>
          <a:p>
            <a:r>
              <a:rPr lang="en-GB" dirty="0"/>
              <a:t>3. 5.2a: Translating KISS to OKRs through the five steps.</a:t>
            </a:r>
          </a:p>
          <a:p>
            <a:r>
              <a:rPr lang="en-GB" dirty="0"/>
              <a:t>4. 5.2b: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Negotiate a coherent set of enterprise objectives and results across the leadership team.</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p>
          <a:p>
            <a:pPr lvl="0"/>
            <a:r>
              <a:rPr lang="en-ZA" sz="1200" b="0" i="0" kern="1200" dirty="0">
                <a:solidFill>
                  <a:schemeClr val="tx1"/>
                </a:solidFill>
                <a:effectLst/>
                <a:latin typeface="+mn-lt"/>
                <a:ea typeface="+mn-ea"/>
                <a:cs typeface="+mn-cs"/>
              </a:rPr>
              <a:t>Integrate diverse executive perspectives into a shared strategic trajectory.</a:t>
            </a:r>
          </a:p>
          <a:p>
            <a:endParaRPr lang="en-GB" dirty="0"/>
          </a:p>
          <a:p>
            <a:r>
              <a:rPr lang="en-GB" b="1" dirty="0"/>
              <a:t>3. Give the two connected stages.</a:t>
            </a:r>
          </a:p>
          <a:p>
            <a:r>
              <a:rPr lang="en-GB" dirty="0"/>
              <a:t>Say: "Your group works through two connected stages."</a:t>
            </a:r>
          </a:p>
          <a:p>
            <a:r>
              <a:rPr lang="en-GB" dirty="0"/>
              <a:t>- 5.1 — Translating SiP to KISS: pass each of your four SiP statements through the four KISS filters and confirm your KISS map.</a:t>
            </a:r>
          </a:p>
          <a:p>
            <a:endParaRPr lang="en-GB" dirty="0"/>
          </a:p>
          <a:p>
            <a:r>
              <a:rPr lang="en-GB" dirty="0"/>
              <a:t>- 5.2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The group chooses its scribe, who types the agreed wording.</a:t>
            </a:r>
          </a:p>
          <a:p>
            <a:r>
              <a:rPr lang="en-GB" dirty="0"/>
              <a:t>The entries appear on every member’s page, and each member then selects Agree."</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chooses its scribe for this work. The scribe types what the group agrees, and the entries appear on every member’s page. When every member has agreed, the Keep, Improve, Start and Stop feed the team's Capstone S2R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5.2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5.2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the scribe types it, and it appears on every member’s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the group discusses each placement until it agrees what counts as high impact and high effort for its strategy. These discussions are where collective intelligence is built, so the group takes the time it needs: the quality of the discussion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Translate strategic intent into execution-ready objectives and key results.</a:t>
            </a:r>
          </a:p>
          <a:p>
            <a:pPr lvl="0"/>
            <a:r>
              <a:rPr lang="en-ZA" sz="1200" b="0" i="0" kern="1200" dirty="0">
                <a:solidFill>
                  <a:schemeClr val="tx1"/>
                </a:solidFill>
                <a:effectLst/>
                <a:latin typeface="+mn-lt"/>
                <a:ea typeface="+mn-ea"/>
                <a:cs typeface="+mn-cs"/>
              </a:rPr>
              <a:t>Construct a measurable strategic trajectory from the intended future position.</a:t>
            </a:r>
          </a:p>
          <a:p>
            <a:endParaRPr lang="en-GB" dirty="0"/>
          </a:p>
          <a:p>
            <a:r>
              <a:rPr lang="en-GB" b="1" dirty="0"/>
              <a:t>3. Name the shift.</a:t>
            </a:r>
          </a:p>
          <a:p>
            <a:r>
              <a:rPr lang="en-GB" dirty="0"/>
              <a:t>Say: "Section 5 is collective: one group, one position. Section 4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4.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4.1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4.1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S2R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(5.1)</a:t>
            </a:r>
          </a:p>
          <a:p>
            <a:r>
              <a:rPr lang="en-GB" dirty="0"/>
              <a:t>- Confirmed Enterprise Priorities and Enterprise OKRs from each group: maximum 4 Objectives, maximum 2 Key Results each (5.2)</a:t>
            </a:r>
          </a:p>
          <a:p>
            <a:r>
              <a:rPr lang="en-GB" dirty="0"/>
              <a:t>- A completed Strategy Airport learning round from each participant (4.1)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existing practices to determine which advance or obstruct strategic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Prioritise enterprise changes that bridge the current position and intended future.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measurable strategic outcomes that provide reliable evidence of progress.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line of sight from strategic ambition through contributions to measurable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organisational practices and determine what should be sustained or changed.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strategic intent into outcomes that can be meaningfully measured.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strategic changes required before committing to performance targets.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Derive measurable results that are traceable to Success in Practice.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Challenge functional preferences that distort enterprise priority-setting.</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functional contributions with enterprise-wide strategic priorities.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execution-ready objectives and key results.</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Construct a measurable strategic trajectory from the intended future position.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Negotiate a coherent set of enterprise objectives and results across the leadership team.</a:t>
            </a:r>
            <a:r>
              <a:rPr lang="en-GB" sz="2400" dirty="0" err="1">
                <a:solidFill>
                  <a:srgbClr val="FFFFFF"/>
                </a:solidFill>
                <a:latin typeface="Calibri" pitchFamily="34" charset="0"/>
                <a:ea typeface="Calibri" pitchFamily="34" charset="-122"/>
                <a:cs typeface="Calibri" pitchFamily="34" charset="-120"/>
              </a:rPr>
              <a:t/>
            </a:r>
            <a:r>
              <a:rPr lang="en-GB" sz="2400" dirty="0">
                <a:solidFill>
                  <a:srgbClr val="FFFFFF"/>
                </a:solidFill>
                <a:latin typeface="Calibri" pitchFamily="34" charset="0"/>
                <a:ea typeface="Calibri" pitchFamily="34" charset="-122"/>
                <a:cs typeface="Calibri" pitchFamily="34" charset="-120"/>
              </a:rPr>
              <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Integrate diverse executive perspectives into a shared strategic trajectory.</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5.2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