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96" r:id="rId7"/>
    <p:sldId id="262" r:id="rId8"/>
    <p:sldId id="263" r:id="rId9"/>
    <p:sldId id="264" r:id="rId10"/>
    <p:sldId id="265" r:id="rId11"/>
    <p:sldId id="266" r:id="rId12"/>
    <p:sldId id="267" r:id="rId13"/>
    <p:sldId id="269" r:id="rId14"/>
    <p:sldId id="297" r:id="rId15"/>
    <p:sldId id="271" r:id="rId16"/>
    <p:sldId id="272" r:id="rId17"/>
    <p:sldId id="273" r:id="rId18"/>
    <p:sldId id="275" r:id="rId19"/>
    <p:sldId id="298" r:id="rId20"/>
    <p:sldId id="276" r:id="rId21"/>
    <p:sldId id="277" r:id="rId22"/>
    <p:sldId id="279" r:id="rId23"/>
    <p:sldId id="299" r:id="rId24"/>
    <p:sldId id="300" r:id="rId25"/>
    <p:sldId id="281" r:id="rId26"/>
    <p:sldId id="301" r:id="rId27"/>
    <p:sldId id="282" r:id="rId28"/>
    <p:sldId id="283" r:id="rId29"/>
    <p:sldId id="284" r:id="rId30"/>
    <p:sldId id="285" r:id="rId31"/>
    <p:sldId id="286" r:id="rId32"/>
    <p:sldId id="302" r:id="rId33"/>
    <p:sldId id="287" r:id="rId34"/>
    <p:sldId id="288" r:id="rId35"/>
    <p:sldId id="289" r:id="rId36"/>
    <p:sldId id="290" r:id="rId37"/>
    <p:sldId id="303"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1904" autoAdjust="0"/>
  </p:normalViewPr>
  <p:slideViewPr>
    <p:cSldViewPr snapToGrid="0" snapToObjects="1">
      <p:cViewPr varScale="1">
        <p:scale>
          <a:sx n="36" d="100"/>
          <a:sy n="36" d="100"/>
        </p:scale>
        <p:origin x="1606" y="29"/>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544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UNIT 1 · BEHAVIOURAL STRATEGY FUNDAMENTALS
Module 1 · Foundation · Unit 1 · Unscored
Unit intent (Facilitator Guide):
P</a:t>
            </a:r>
            <a:r>
              <a:rPr dirty="0"/>
              <a:t>rogramme context: Strategy2Results®. Collective Intelligence for Execution. Where Strategy Meets the People Who Execute It.</a:t>
            </a:r>
            <a:endParaRPr lang="en-ZA" dirty="0"/>
          </a:p>
          <a:p>
            <a:endParaRPr dirty="0"/>
          </a:p>
          <a:p>
            <a:r>
              <a:rPr dirty="0"/>
              <a:t>What Strategy2Results® is: Strategy2Results® is a structured leadership certification programme designed to equip senior leaders with the behavioural intelligence, cross-functional perspective, and execution discipline to translate strategic intent into measurable organisational results, consistently and collectively.</a:t>
            </a:r>
            <a:endParaRPr lang="en-ZA" dirty="0"/>
          </a:p>
          <a:p>
            <a:endParaRPr dirty="0"/>
          </a:p>
          <a:p>
            <a:r>
              <a:rPr dirty="0"/>
              <a:t>The programme is underpinned by three integrated pillars, Direction, Influence, and Grounding (DIG), each building on the last to produce a leader who understands strategy and actively integrates it across the enterprise.</a:t>
            </a:r>
            <a:endParaRPr lang="en-ZA" dirty="0"/>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Programme architecture at a glance: The Strategy2Results® programme is structured across four modules, each representing a pillar of enterprise strategy integration: Module 1 · Foundation (Behavioural Strategy Fundamentals), Module 2 · Direction (Pillar 1), Module 3 · Influence (Pillar 2) and Module 4 · Grounding (Pillar 3). The Foundation module is the prerequisite for all that follows: it establishes the behavioural and cognitive literacy that every subsequent unit requires.</a:t>
            </a:r>
          </a:p>
          <a:p>
            <a:endParaRPr dirty="0"/>
          </a:p>
          <a:p>
            <a:r>
              <a:rPr dirty="0"/>
              <a:t>“The quality of your strategy is a direct function of the quality of the thinking environment in which it was made. Strategy2Results® is designed to build that environment, deliberately.”</a:t>
            </a:r>
          </a:p>
          <a:p>
            <a:endParaRPr dirty="0"/>
          </a:p>
          <a:p>
            <a:r>
              <a:rPr dirty="0"/>
              <a:t>The certification, what participants earn: CESI, Certified Enterprise Strategy Integrator.</a:t>
            </a:r>
            <a:endParaRPr lang="en-ZA" dirty="0"/>
          </a:p>
          <a:p>
            <a:endParaRPr dirty="0"/>
          </a:p>
          <a:p>
            <a:r>
              <a:rPr dirty="0"/>
              <a:t>What the title means: The designation Certified Enterprise Strategy Integrator </a:t>
            </a:r>
            <a:r>
              <a:rPr dirty="0" err="1"/>
              <a:t>recognises</a:t>
            </a:r>
            <a:r>
              <a:rPr dirty="0"/>
              <a:t> leaders who have demonstrated the capacity to operate beyond the boundaries of their own function: to see the enterprise whole, to integrate competing priorities into coherent direction, and to create the conditions in which strategy moves from intent to execution. </a:t>
            </a:r>
            <a:endParaRPr lang="en-ZA" dirty="0"/>
          </a:p>
          <a:p>
            <a:endParaRPr lang="en-ZA" dirty="0"/>
          </a:p>
          <a:p>
            <a:r>
              <a:rPr dirty="0"/>
              <a:t>It is a practice credential, earned through application, peer challenge, and demonstrated integration across the four pillars of the programme.</a:t>
            </a:r>
            <a:endParaRPr lang="en-ZA" dirty="0"/>
          </a:p>
          <a:p>
            <a:endParaRPr dirty="0"/>
          </a:p>
          <a:p>
            <a:r>
              <a:rPr dirty="0"/>
              <a:t>What CESI holders are equipped to do:</a:t>
            </a:r>
          </a:p>
          <a:p>
            <a:r>
              <a:rPr dirty="0"/>
              <a:t>- Navigate strategic decisions through multiple executive perspectives simultaneously.</a:t>
            </a:r>
          </a:p>
          <a:p>
            <a:r>
              <a:rPr dirty="0"/>
              <a:t>- Identify and interrupt cognitive bias at the point of decision.</a:t>
            </a:r>
          </a:p>
          <a:p>
            <a:r>
              <a:rPr dirty="0"/>
              <a:t>- Translate enterprise strategy into executable, cross-functional priority frameworks.</a:t>
            </a:r>
          </a:p>
          <a:p>
            <a:r>
              <a:rPr dirty="0"/>
              <a:t>- Build and sustain leadership cultures where honest challenge and collective intelligence are the norm.</a:t>
            </a:r>
          </a:p>
          <a:p>
            <a:r>
              <a:rPr dirty="0"/>
              <a:t>- Hold their own function accountable to enterprise outcomes.</a:t>
            </a:r>
          </a:p>
          <a:p>
            <a:r>
              <a:rPr dirty="0"/>
              <a:t>- Diagnose execution failure at its source: thinking, alignment, and process.</a:t>
            </a:r>
          </a:p>
          <a:p>
            <a:endParaRPr dirty="0"/>
          </a:p>
          <a:p>
            <a:endParaRPr dirty="0"/>
          </a:p>
          <a:p>
            <a:r>
              <a:rPr dirty="0"/>
              <a:t>Who the programme is for: Strategy2Results® is designed for senior leaders who carry enterprise-level responsibility, whether they hold a CXO title or a role that functions at that level. It is for leaders who are already capable within their function and who are ready for the next level of challenge: leading at the level of the whole.</a:t>
            </a:r>
            <a:endParaRPr lang="en-ZA" dirty="0"/>
          </a:p>
          <a:p>
            <a:endParaRPr dirty="0"/>
          </a:p>
          <a:p>
            <a:r>
              <a:rPr dirty="0"/>
              <a:t>The programme is particularly valuable for:</a:t>
            </a:r>
          </a:p>
          <a:p>
            <a:r>
              <a:rPr dirty="0"/>
              <a:t>- Executive Team Members: CXO leaders who need to align across functions and translate board-level strategy into enterprise execution.</a:t>
            </a:r>
          </a:p>
          <a:p>
            <a:r>
              <a:rPr dirty="0"/>
              <a:t>- Senior Leaders on the Rise: high-potential leaders preparing for executive roles who need to develop enterprise-wide perspective before stepping into it.</a:t>
            </a:r>
          </a:p>
          <a:p>
            <a:r>
              <a:rPr dirty="0"/>
              <a:t>- Strategy &amp; Governance Teams: leaders responsible for planning, strategy office, or enterprise performance who need the tools to drive integration and execution quality.</a:t>
            </a:r>
          </a:p>
          <a:p>
            <a:r>
              <a:rPr dirty="0"/>
              <a:t>Strategy2Results® is a practice you develop, and a capability your organisation keeps.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KEY LEARNING OUTCOMES 
1. Critically examine the influence of human judgement and organisational dynamics on strategic decision-making.
2. Recognise the behavioural conditions that strengthen or weaken objectivity, decision quality and organisational performance.
3. Interpret strategic issues from an integrated enterprise perspective.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FACILITATOR GUIDE · SESSION OVERVIEW
</a:t>
            </a: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in six sections: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1 · Orientation (Introduction: Understanding the Basics);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2 · Awareness (What Behavioural Strategy Is);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3 · Intelligence (Why Behavioural Strategy Is Critical);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4 · Extrapolating (Where Behavioural Strategy Operates);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5 · Integration (How to Build Collective Intelligence); Section 6 · Application (the unit in practice).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establishes the behavioural foundation for the whole programme.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Leaders examine how judgement, bias and emotional climate shape the strategies their organisations choose, and practise recognising these forces in their own leadership team.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later unit relies on the shared vocabulary built here.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is unscored. Use it to build candour: participants must be willing to name their own biases before they can challenge the team’s. The ground rules set in Orientation carry through all twelve units.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1 · ORIENTATION — OVERVIEW
</a:t>
            </a:r>
            <a:r>
              <a:rPr lang="en-US" b="1" dirty="0"/>
              <a:t>SECTION LEARNING OUTCOMES:</a:t>
            </a:r>
            <a:r>
              <a:rPr lang="en-US" dirty="0"/>
              <a:t>
1. Recognise how human judgement shapes the way your team debates, decides and sets organisational direction.
2. Articulate a personal learning intention anchored in a current leadership or strategic challenge.
</a:t>
            </a:r>
            <a:r>
              <a:rPr lang="en-US" b="1" dirty="0"/>
              <a:t>PURPOSE</a:t>
            </a:r>
            <a:r>
              <a:rPr lang="en-US" dirty="0"/>
              <a:t>: This is a scene-setting section. Do not rush it. The quality of engagement throughout the rest of the unit depends on participants understanding why they are here and what they are being asked to do differently.
</a:t>
            </a:r>
            <a:r>
              <a:rPr lang="en-GB" b="1" dirty="0"/>
              <a:t>CONTENT (UNDERSTANDING THE BASICS):</a:t>
            </a:r>
            <a:r>
              <a:rPr lang="en-GB" dirty="0"/>
              <a:t>
Behavioural Strategy sits at the intersection of cognitive psychology and strategic management.
Behavioural Strategy, incorporating psychology into strategy recognises that strategy is deeply human. </a:t>
            </a:r>
          </a:p>
          <a:p>
            <a:r>
              <a:rPr lang="en-GB" dirty="0"/>
              <a:t>This field bridges cognitive and social insights to improve decision quality. It challenges the assumption that leaders think rationally when charting organisational direction and, more importantly, equips them to do something about it.
As you progress through the Strategy2Results® process, you will begin to recognise patterns in how your team debates, how your organisation makes decisions, and how your own mental models shape the strategy your organisation ultimately pursues.
The Executive Leadership Perspective Simulation: The most powerful feature of the Strategy2Results® programme is how participants learn.</a:t>
            </a:r>
          </a:p>
          <a:p>
            <a:endParaRPr lang="en-GB" dirty="0"/>
          </a:p>
          <a:p>
            <a:r>
              <a:rPr lang="en-GB" dirty="0"/>
              <a:t>Participants are assigned an executive role outside their own function and create a Simulated Enterprise Executive Team – SEET (CEO, CFO, COO, CHRO, CTO, CMO, CCO, CPO, CRO, or CSO) and required to analyse each unit’s challenge through that executive’s priorities, concerns, and strategic perspective. </a:t>
            </a:r>
          </a:p>
          <a:p>
            <a:endParaRPr lang="en-GB" dirty="0"/>
          </a:p>
          <a:p>
            <a:endParaRPr lang="en-GB" dirty="0"/>
          </a:p>
          <a:p>
            <a:r>
              <a:rPr lang="en-GB" dirty="0"/>
              <a:t>Facilitators actively enforce this role discipline. </a:t>
            </a:r>
          </a:p>
          <a:p>
            <a:endParaRPr lang="en-GB" dirty="0"/>
          </a:p>
          <a:p>
            <a:r>
              <a:rPr lang="en-GB" dirty="0"/>
              <a:t>This is the mechanism through which the programme builds collective intelligence. By inhabiting another executive’s perspective with rigour, as a genuine analytical discipline, participants develop the capacity to anticipate cross-functional implications, surface hidden dependencies, and make decisions that hold at the enterprise level as well as within their own function.</a:t>
            </a:r>
          </a:p>
          <a:p>
            <a:endParaRPr lang="en-GB" dirty="0"/>
          </a:p>
          <a:p>
            <a:r>
              <a:rPr lang="en-GB" dirty="0"/>
              <a:t>“This is what separates strategic leaders from functional experts: the ability to think from a seat you do not occupy, and to do it well enough that the person who does occupy it trusts your reasoning.”</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OPENING THE SESSION</a:t>
            </a:r>
          </a:p>
          <a:p>
            <a:endParaRPr lang="en-ZA" b="1" dirty="0"/>
          </a:p>
          <a:p>
            <a:r>
              <a:rPr lang="en-ZA" b="1" dirty="0"/>
              <a:t>The problem this programme solves</a:t>
            </a:r>
          </a:p>
          <a:p>
            <a:r>
              <a:rPr lang="en-ZA" dirty="0"/>
              <a:t>Research consistently shows that </a:t>
            </a:r>
            <a:r>
              <a:rPr lang="en-ZA" b="1" dirty="0"/>
              <a:t>60–90% of strategies fail in delivery</a:t>
            </a:r>
            <a:r>
              <a:rPr lang="en-ZA" dirty="0"/>
              <a:t>.</a:t>
            </a:r>
          </a:p>
          <a:p>
            <a:r>
              <a:rPr lang="en-ZA" dirty="0"/>
              <a:t>The causes may appear different across organisations, but they tend to sit within </a:t>
            </a:r>
            <a:r>
              <a:rPr lang="en-ZA" b="1" dirty="0"/>
              <a:t>three areas of strategy failure: </a:t>
            </a:r>
          </a:p>
          <a:p>
            <a:r>
              <a:rPr lang="en-ZA" b="1" dirty="0"/>
              <a:t>Direction,</a:t>
            </a:r>
          </a:p>
          <a:p>
            <a:r>
              <a:rPr lang="en-ZA" b="1" dirty="0"/>
              <a:t>Influence and </a:t>
            </a:r>
          </a:p>
          <a:p>
            <a:r>
              <a:rPr lang="en-ZA" b="1" dirty="0"/>
              <a:t>Grounding.</a:t>
            </a:r>
          </a:p>
          <a:p>
            <a:endParaRPr lang="en-ZA" b="1" dirty="0"/>
          </a:p>
          <a:p>
            <a:endParaRPr lang="en-ZA" dirty="0"/>
          </a:p>
          <a:p>
            <a:r>
              <a:rPr lang="en-ZA" b="1" dirty="0"/>
              <a:t>1. DIRECTION FAILURE</a:t>
            </a:r>
          </a:p>
          <a:p>
            <a:r>
              <a:rPr lang="en-ZA" dirty="0"/>
              <a:t>T</a:t>
            </a:r>
            <a:r>
              <a:rPr lang="en-GB" dirty="0"/>
              <a:t>he whole before the parts.</a:t>
            </a:r>
          </a:p>
          <a:p>
            <a:r>
              <a:rPr lang="en-GB" dirty="0"/>
              <a:t>Organisations often let functions, departments and individuals pursue objectives without enough understanding of how those objectives contribute to the larger organisational intent. The result can be excellent local performance without coherent enterprise progress. Start with the whole, then locate each part within it.</a:t>
            </a:r>
          </a:p>
          <a:p>
            <a:r>
              <a:rPr lang="en-GB" dirty="0"/>
              <a:t>Source: Journal, 3 October 2026 — Professional Insights: Strategy</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Here are examples of what happens when the organisation is not thinking about strategy with sufficient clarity, coherence and enterprise perspective:</a:t>
            </a:r>
          </a:p>
          <a:p>
            <a:endParaRPr lang="en-ZA" b="1" dirty="0"/>
          </a:p>
          <a:p>
            <a:pPr marL="285750" indent="-285750">
              <a:buFont typeface="+mj-lt"/>
              <a:buAutoNum type="alphaLcPeriod"/>
            </a:pPr>
            <a:r>
              <a:rPr lang="en-ZA" b="1" dirty="0"/>
              <a:t>Leaders think in functional silos.</a:t>
            </a:r>
            <a:br>
              <a:rPr lang="en-ZA" dirty="0"/>
            </a:br>
            <a:r>
              <a:rPr lang="en-ZA" b="1" dirty="0"/>
              <a:t>What it costs:</a:t>
            </a:r>
            <a:r>
              <a:rPr lang="en-ZA" dirty="0"/>
              <a:t> Fragmented priorities, competing KPIs and decisions that optimise functions at the expense of the enterprise.</a:t>
            </a:r>
            <a:br>
              <a:rPr lang="en-ZA" dirty="0"/>
            </a:br>
            <a:r>
              <a:rPr lang="en-ZA" b="1" dirty="0"/>
              <a:t>What S2R® builds:</a:t>
            </a:r>
            <a:r>
              <a:rPr lang="en-ZA" dirty="0"/>
              <a:t> Enterprise perspective—the capacity to think beyond one's function and understand strategy from every seat at the table.</a:t>
            </a:r>
          </a:p>
          <a:p>
            <a:endParaRPr lang="en-ZA" b="1" dirty="0"/>
          </a:p>
          <a:p>
            <a:pPr marL="228600" indent="-228600">
              <a:buFont typeface="+mj-lt"/>
              <a:buAutoNum type="alphaLcPeriod"/>
            </a:pPr>
            <a:r>
              <a:rPr lang="en-ZA" b="1" dirty="0"/>
              <a:t>Cognitive bias distorts decisions invisibly.</a:t>
            </a:r>
            <a:br>
              <a:rPr lang="en-ZA" dirty="0"/>
            </a:br>
            <a:r>
              <a:rPr lang="en-ZA" b="1" dirty="0"/>
              <a:t>What it costs:</a:t>
            </a:r>
            <a:r>
              <a:rPr lang="en-ZA" dirty="0"/>
              <a:t> Poor capital allocation, strategic inertia, suppressed innovation and purpose drift.</a:t>
            </a:r>
            <a:br>
              <a:rPr lang="en-ZA" dirty="0"/>
            </a:br>
            <a:r>
              <a:rPr lang="en-ZA" b="1" dirty="0"/>
              <a:t>What S2R® builds:</a:t>
            </a:r>
            <a:r>
              <a:rPr lang="en-ZA" dirty="0"/>
              <a:t> Behavioural intelligence—the ability to recognise and challenge bias before it becomes a strategic cost.</a:t>
            </a:r>
          </a:p>
          <a:p>
            <a:br>
              <a:rPr lang="en-ZA" dirty="0"/>
            </a:br>
            <a:endParaRPr lang="en-ZA" dirty="0"/>
          </a:p>
          <a:p>
            <a:r>
              <a:rPr lang="en-ZA" b="1" dirty="0"/>
              <a:t>2. INFLUENCE FAILURE</a:t>
            </a:r>
          </a:p>
          <a:p>
            <a:r>
              <a:rPr lang="en-GB" dirty="0"/>
              <a:t>Symbolic compliance.</a:t>
            </a:r>
          </a:p>
          <a:p>
            <a:r>
              <a:rPr lang="en-GB" dirty="0"/>
              <a:t>Strategies, values, policies and governance structures may all exist formally while everyday decisions follow an entirely different logic. Test whether those artefacts meaningfully govern resource allocation, priorities and behaviour.</a:t>
            </a:r>
          </a:p>
          <a:p>
            <a:r>
              <a:rPr lang="en-GB" dirty="0"/>
              <a:t>Source: Journal, 1 October 2026 — Professional Insights: Strategy</a:t>
            </a:r>
          </a:p>
          <a:p>
            <a:endParaRPr lang="en-ZA" b="1" dirty="0"/>
          </a:p>
          <a:p>
            <a:r>
              <a:rPr lang="en-ZA" b="1" dirty="0"/>
              <a:t>When people, decisions and organisational conditions are not aligned behind the strategy, the following is bound to manifest:</a:t>
            </a:r>
            <a:endParaRPr lang="en-ZA" dirty="0"/>
          </a:p>
          <a:p>
            <a:endParaRPr lang="en-ZA" b="1" dirty="0"/>
          </a:p>
          <a:p>
            <a:pPr marL="228600" indent="-228600">
              <a:buFont typeface="+mj-lt"/>
              <a:buAutoNum type="alphaLcPeriod"/>
            </a:pPr>
            <a:r>
              <a:rPr lang="en-ZA" b="1" dirty="0"/>
              <a:t>Emotional climate is left unmanaged.</a:t>
            </a:r>
            <a:br>
              <a:rPr lang="en-ZA" dirty="0"/>
            </a:br>
            <a:r>
              <a:rPr lang="en-ZA" b="1" dirty="0"/>
              <a:t>What it costs:</a:t>
            </a:r>
            <a:r>
              <a:rPr lang="en-ZA" dirty="0"/>
              <a:t> Fear and ego replace curiosity; honest challenge disappears; groupthink fills the gap.</a:t>
            </a:r>
            <a:br>
              <a:rPr lang="en-ZA" dirty="0"/>
            </a:br>
            <a:r>
              <a:rPr lang="en-ZA" b="1" dirty="0"/>
              <a:t>What S2R® builds:</a:t>
            </a:r>
            <a:r>
              <a:rPr lang="en-ZA" dirty="0"/>
              <a:t> Climate leadership—the ability to create conditions in which people can challenge, contribute and make better strategic decisions.</a:t>
            </a:r>
          </a:p>
          <a:p>
            <a:endParaRPr lang="en-ZA" b="1" dirty="0"/>
          </a:p>
          <a:p>
            <a:pPr marL="228600" indent="-228600">
              <a:buFont typeface="+mj-lt"/>
              <a:buAutoNum type="alphaLcPeriod"/>
            </a:pPr>
            <a:r>
              <a:rPr lang="en-ZA" b="1" dirty="0"/>
              <a:t>Accountability stays structural and does not become cultural.</a:t>
            </a:r>
            <a:br>
              <a:rPr lang="en-ZA" dirty="0"/>
            </a:br>
            <a:r>
              <a:rPr lang="en-ZA" b="1" dirty="0"/>
              <a:t>What it costs:</a:t>
            </a:r>
            <a:r>
              <a:rPr lang="en-ZA" dirty="0"/>
              <a:t> Leaders protect their functions, progress is reported without being owned, and strategy reviews become performance theatre.</a:t>
            </a:r>
            <a:br>
              <a:rPr lang="en-ZA" dirty="0"/>
            </a:br>
            <a:r>
              <a:rPr lang="en-ZA" b="1" dirty="0"/>
              <a:t>What S2R® builds:</a:t>
            </a:r>
            <a:r>
              <a:rPr lang="en-ZA" dirty="0"/>
              <a:t> Strategic ownership—leaders who carry responsibility for the whole while remaining accountable for their part.</a:t>
            </a:r>
          </a:p>
          <a:p>
            <a:br>
              <a:rPr lang="en-ZA" dirty="0"/>
            </a:br>
            <a:endParaRPr lang="en-ZA" dirty="0"/>
          </a:p>
          <a:p>
            <a:r>
              <a:rPr lang="en-ZA" b="1" dirty="0"/>
              <a:t>3. GROUNDING FAILURE</a:t>
            </a:r>
          </a:p>
          <a:p>
            <a:r>
              <a:rPr lang="en-GB" dirty="0"/>
              <a:t>The connections between the parts.</a:t>
            </a:r>
          </a:p>
          <a:p>
            <a:r>
              <a:rPr lang="en-GB" dirty="0"/>
              <a:t>Organisations frequently possess capable functions, talented individuals and substantial resources and still struggle to convert them into collective results. The problem may lie in the quality of the connections between the parts. Strategy must determine how those contributions fit together around the outcome the organisation is trying to create.</a:t>
            </a:r>
          </a:p>
          <a:p>
            <a:r>
              <a:rPr lang="en-GB" dirty="0"/>
              <a:t>Source: Journal, 4 October 2026 — Professional Insights: Strategy</a:t>
            </a:r>
          </a:p>
          <a:p>
            <a:endParaRPr lang="en-ZA" b="1" dirty="0"/>
          </a:p>
          <a:p>
            <a:r>
              <a:rPr lang="en-ZA" b="1" dirty="0"/>
              <a:t>This is what you are likely to get when strategic intent does not translate into coordinated execution and sustained results:</a:t>
            </a:r>
            <a:endParaRPr lang="en-ZA" dirty="0"/>
          </a:p>
          <a:p>
            <a:endParaRPr lang="en-ZA" b="1" dirty="0"/>
          </a:p>
          <a:p>
            <a:pPr marL="228600" indent="-228600">
              <a:buFont typeface="+mj-lt"/>
              <a:buAutoNum type="alphaLcPeriod"/>
            </a:pPr>
            <a:r>
              <a:rPr lang="en-ZA" b="1" dirty="0"/>
              <a:t>Strategy is cascaded without being integrated.</a:t>
            </a:r>
            <a:br>
              <a:rPr lang="en-ZA" dirty="0"/>
            </a:br>
            <a:r>
              <a:rPr lang="en-ZA" b="1" dirty="0"/>
              <a:t>What it costs:</a:t>
            </a:r>
            <a:r>
              <a:rPr lang="en-ZA" dirty="0"/>
              <a:t> Strategic intent fragments as it moves through functions, levels and teams; dependencies are missed and execution energy dissipates.</a:t>
            </a:r>
            <a:br>
              <a:rPr lang="en-ZA" dirty="0"/>
            </a:br>
            <a:r>
              <a:rPr lang="en-ZA" b="1" dirty="0"/>
              <a:t>What S2R® builds:</a:t>
            </a:r>
            <a:r>
              <a:rPr lang="en-ZA" dirty="0"/>
              <a:t> Integration discipline—the ability to connect strategic intent, organisational contributions, decisions and action across the enterprise.</a:t>
            </a:r>
          </a:p>
          <a:p>
            <a:br>
              <a:rPr lang="en-ZA" dirty="0"/>
            </a:br>
            <a:r>
              <a:rPr lang="en-ZA" dirty="0"/>
              <a:t>These are not isolated leadership problems. They are </a:t>
            </a:r>
            <a:r>
              <a:rPr lang="en-ZA" b="1" dirty="0"/>
              <a:t>predictable failure points in the journey from strategy to results.</a:t>
            </a:r>
          </a:p>
          <a:p>
            <a:endParaRPr lang="en-ZA" dirty="0"/>
          </a:p>
          <a:p>
            <a:r>
              <a:rPr lang="en-ZA" b="1" dirty="0"/>
              <a:t>S2R® develops leaders who can recognise them, intervene in them and integrate across them—so that strategy does not simply travel through the organisation; it produces results.</a:t>
            </a:r>
          </a:p>
          <a:p>
            <a:endParaRPr lang="en-ZA" b="1" dirty="0"/>
          </a:p>
          <a:p>
            <a:endParaRPr dirty="0"/>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FE345-6365-0D9C-7950-7A25686DB1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EB7EF-6824-90BA-2F54-C829EE9736B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0A403F1-2DF2-BC1B-E60A-E37CA3602EF9}"/>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AA8E9C2-9ABF-8522-79E1-6B63A8BF0F8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7365807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endParaRPr lang="en-US" dirty="0"/>
          </a:p>
          <a:p>
            <a:r>
              <a:rPr lang="en-US" dirty="0"/>
              <a:t>SECTION 2 · AWARENESS — WHAT
Awareness — What Behavioural Strategy Is · Sections 2.1 · 2.2 · 2.3 · 2.4
SECTION LEARNING OUTCOMES:
1. Recognise how intuitive thinking, functional expertise and cognitive bias shape strategic judgement.
2. Identify the patterns of bias most active in your leadership team, your team members and your organisation.
</a:t>
            </a:r>
            <a:r>
              <a:rPr lang="en-US" b="1" dirty="0"/>
              <a:t>SECTION INTENT: </a:t>
            </a:r>
          </a:p>
          <a:p>
            <a:r>
              <a:rPr lang="en-US" dirty="0"/>
              <a:t>This section establishes the conceptual foundation. Participants are introduced to what behavioural strategy is, how individual thinking is structured, how collective thinking breaks down, and what the 20 most common cognitive biases look like in practice. Expect some resistance — experienced leaders often feel they already know this. The role of the facilitator is to make the content feel personally relevant.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Next: the question on the following slide, before moving into Section 2.1.</a:t>
            </a:r>
          </a:p>
          <a:p>
            <a:endParaRPr lang="en-US" dirty="0"/>
          </a:p>
          <a:p>
            <a:r>
              <a:rPr lang="en-US" dirty="0"/>
              <a:t>Ask the group: “When you make a strategic decision, how much of it do you believe is purely rational?”</a:t>
            </a:r>
          </a:p>
          <a:p>
            <a:endParaRPr lang="en-US" dirty="0"/>
          </a:p>
          <a:p>
            <a:r>
              <a:rPr lang="en-ZA" dirty="0"/>
              <a:t>In this case, </a:t>
            </a:r>
            <a:r>
              <a:rPr lang="en-ZA" b="1" dirty="0"/>
              <a:t>rational means making a decision based only on facts, evidence and logic—without being influenced by emotions, assumptions, past experiences or personal preferences.</a:t>
            </a:r>
            <a:r>
              <a:rPr lang="en-US" dirty="0"/>
              <a:t>
Take 2–3 responses. Hold the tension. This prepares the ground for the definition that follows.</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2.1a · DEFINING BEHAVIOURAL STRATEGY</a:t>
            </a:r>
          </a:p>
          <a:p>
            <a:endParaRPr lang="en-ZA" b="1" dirty="0"/>
          </a:p>
          <a:p>
            <a:r>
              <a:rPr lang="en-ZA" b="1" dirty="0"/>
              <a:t>KEY CONCEPT TO LAND:</a:t>
            </a:r>
            <a:br>
              <a:rPr lang="en-ZA" dirty="0"/>
            </a:br>
            <a:r>
              <a:rPr lang="en-ZA" dirty="0"/>
              <a:t>Strategic decisions are shaped not only by the information available to us, but also by </a:t>
            </a:r>
            <a:r>
              <a:rPr lang="en-ZA" b="1" dirty="0"/>
              <a:t>how we think, interpret and respond to that information.</a:t>
            </a:r>
          </a:p>
          <a:p>
            <a:endParaRPr lang="en-ZA" dirty="0"/>
          </a:p>
          <a:p>
            <a:r>
              <a:rPr lang="en-ZA" b="1" dirty="0"/>
              <a:t>What is Behavioural Strategy?</a:t>
            </a:r>
          </a:p>
          <a:p>
            <a:r>
              <a:rPr lang="en-ZA" b="1" dirty="0"/>
              <a:t>Behavioural strategy applies insights from cognitive and social psychology to strategic management.</a:t>
            </a:r>
            <a:endParaRPr lang="en-ZA" dirty="0"/>
          </a:p>
          <a:p>
            <a:r>
              <a:rPr lang="en-ZA" dirty="0"/>
              <a:t>At its core, behavioural strategy recognises that </a:t>
            </a:r>
            <a:r>
              <a:rPr lang="en-ZA" b="1" dirty="0"/>
              <a:t>strategy is a human process</a:t>
            </a:r>
            <a:r>
              <a:rPr lang="en-ZA" dirty="0"/>
              <a:t>. </a:t>
            </a:r>
          </a:p>
          <a:p>
            <a:r>
              <a:rPr lang="en-ZA" dirty="0"/>
              <a:t>People make strategic choices, and people interpret, respond to and ultimately execute those choices.</a:t>
            </a:r>
          </a:p>
          <a:p>
            <a:endParaRPr lang="en-ZA" dirty="0"/>
          </a:p>
          <a:p>
            <a:r>
              <a:rPr lang="en-ZA" dirty="0"/>
              <a:t>This means people sit on </a:t>
            </a:r>
            <a:r>
              <a:rPr lang="en-ZA" b="1" dirty="0"/>
              <a:t>both sides of strategy</a:t>
            </a:r>
            <a:r>
              <a:rPr lang="en-ZA" dirty="0"/>
              <a:t>: </a:t>
            </a:r>
            <a:r>
              <a:rPr lang="en-ZA" b="1" dirty="0"/>
              <a:t>the people who shape it and the people who must make it happen.</a:t>
            </a:r>
          </a:p>
          <a:p>
            <a:endParaRPr lang="en-ZA" dirty="0"/>
          </a:p>
          <a:p>
            <a:r>
              <a:rPr lang="en-ZA" dirty="0"/>
              <a:t>Leaders do not make strategic decisions through logic and analysis alone. </a:t>
            </a:r>
          </a:p>
          <a:p>
            <a:r>
              <a:rPr lang="en-ZA" dirty="0"/>
              <a:t>Their thinking is influenced by </a:t>
            </a:r>
            <a:r>
              <a:rPr lang="en-ZA" b="1" dirty="0"/>
              <a:t>cognitive biases, assumptions, emotions, past experiences and social dynamics</a:t>
            </a:r>
            <a:r>
              <a:rPr lang="en-ZA" dirty="0"/>
              <a:t>—often without conscious awareness.</a:t>
            </a:r>
          </a:p>
          <a:p>
            <a:endParaRPr lang="en-ZA" dirty="0"/>
          </a:p>
          <a:p>
            <a:r>
              <a:rPr lang="en-ZA" dirty="0"/>
              <a:t>Equally, once a strategy has been decided, its success depends on how others </a:t>
            </a:r>
            <a:r>
              <a:rPr lang="en-ZA" b="1" dirty="0"/>
              <a:t>understand it, respond to it, make decisions around it and behave in delivering it.</a:t>
            </a:r>
          </a:p>
          <a:p>
            <a:endParaRPr lang="en-ZA" dirty="0"/>
          </a:p>
          <a:p>
            <a:r>
              <a:rPr lang="en-ZA" dirty="0"/>
              <a:t>Behavioural strategy therefore brings the </a:t>
            </a:r>
            <a:r>
              <a:rPr lang="en-ZA" b="1" dirty="0"/>
              <a:t>human dimension</a:t>
            </a:r>
            <a:r>
              <a:rPr lang="en-ZA" dirty="0"/>
              <a:t> into both strategy formulation and execution.</a:t>
            </a:r>
          </a:p>
          <a:p>
            <a:endParaRPr lang="en-ZA" b="1" dirty="0"/>
          </a:p>
          <a:p>
            <a:r>
              <a:rPr lang="en-ZA" b="1" dirty="0"/>
              <a:t>The distinction</a:t>
            </a:r>
          </a:p>
          <a:p>
            <a:r>
              <a:rPr lang="en-ZA" b="1" dirty="0"/>
              <a:t>Traditional strategy asks:</a:t>
            </a:r>
            <a:br>
              <a:rPr lang="en-ZA" dirty="0"/>
            </a:br>
            <a:r>
              <a:rPr lang="en-ZA" i="1" dirty="0"/>
              <a:t>What should we do?</a:t>
            </a:r>
            <a:endParaRPr lang="en-ZA" dirty="0"/>
          </a:p>
          <a:p>
            <a:r>
              <a:rPr lang="en-ZA" b="1" dirty="0"/>
              <a:t>Behavioural strategy goes further and asks:</a:t>
            </a:r>
            <a:br>
              <a:rPr lang="en-ZA" dirty="0"/>
            </a:br>
            <a:r>
              <a:rPr lang="en-ZA" i="1" dirty="0"/>
              <a:t>What is shaping how we decide what we should do—and what will shape how people respond and act?</a:t>
            </a:r>
            <a:endParaRPr lang="en-ZA" dirty="0"/>
          </a:p>
          <a:p>
            <a:r>
              <a:rPr lang="en-ZA" dirty="0"/>
              <a:t>The focus therefore expands from </a:t>
            </a:r>
            <a:r>
              <a:rPr lang="en-ZA" b="1" dirty="0"/>
              <a:t>the strategic decision itself to the human thinking and behaviour surrounding it.</a:t>
            </a:r>
            <a:endParaRPr lang="en-ZA" dirty="0"/>
          </a:p>
          <a:p>
            <a:endParaRPr lang="en-ZA" b="1" dirty="0"/>
          </a:p>
          <a:p>
            <a:r>
              <a:rPr lang="en-ZA" b="1" dirty="0"/>
              <a:t>Academic Foundation</a:t>
            </a:r>
          </a:p>
          <a:p>
            <a:r>
              <a:rPr lang="en-ZA" dirty="0"/>
              <a:t>Powell, Lovallo &amp; Fox (2011) define behavioural strategy as </a:t>
            </a:r>
            <a:r>
              <a:rPr lang="en-ZA" b="1" dirty="0"/>
              <a:t>the application of cognitive and social psychology to strategic management theory and practice.</a:t>
            </a:r>
            <a:endParaRPr lang="en-ZA" dirty="0"/>
          </a:p>
          <a:p>
            <a:endParaRPr lang="en-ZA" b="1" dirty="0"/>
          </a:p>
          <a:p>
            <a:r>
              <a:rPr lang="en-ZA" b="1" dirty="0"/>
              <a:t>The S2R® Definition</a:t>
            </a:r>
          </a:p>
          <a:p>
            <a:r>
              <a:rPr lang="en-ZA" b="1" dirty="0"/>
              <a:t>Behavioural Strategy is the application of behavioural science to understand and improve how people think, decide and behave throughout the process of strategy—from shaping strategic choices to delivering results.</a:t>
            </a:r>
            <a:endParaRPr lang="en-ZA" dirty="0"/>
          </a:p>
          <a:p>
            <a:endParaRPr lang="en-US" dirty="0"/>
          </a:p>
          <a:p>
            <a:r>
              <a:rPr lang="en-GB" dirty="0"/>
              <a:t>Strategy execution requires more than communicating priorities. People need to understand where the organisation is going, what the larger outcome is, and how their particular contribution connects to it. Without that connection, organisations can generate significant activity while producing fragmented results. </a:t>
            </a:r>
          </a:p>
          <a:p>
            <a:r>
              <a:rPr lang="en-GB" dirty="0"/>
              <a:t>Source: Journal, 3 October 2026 — Professional Insights: Strategy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2.1b · THE THREE PHRASES THAT CARRY THE IDEA</a:t>
            </a:r>
          </a:p>
          <a:p>
            <a:endParaRPr lang="en-ZA" b="1" dirty="0"/>
          </a:p>
          <a:p>
            <a:r>
              <a:rPr lang="en-ZA" b="1" dirty="0"/>
              <a:t>Facilitator opening</a:t>
            </a:r>
          </a:p>
          <a:p>
            <a:r>
              <a:rPr lang="en-ZA" dirty="0"/>
              <a:t>We have defined behavioural strategy. Now I want us to slow down and look at </a:t>
            </a:r>
            <a:r>
              <a:rPr lang="en-ZA" b="1" dirty="0"/>
              <a:t>three parts of that definition more closely</a:t>
            </a:r>
            <a:r>
              <a:rPr lang="en-ZA" dirty="0"/>
              <a:t>.</a:t>
            </a:r>
          </a:p>
          <a:p>
            <a:r>
              <a:rPr lang="en-ZA" dirty="0"/>
              <a:t>They give us a simple way of understanding where the human dimension enters strategy:</a:t>
            </a:r>
          </a:p>
          <a:p>
            <a:endParaRPr lang="en-ZA" b="1" dirty="0"/>
          </a:p>
          <a:p>
            <a:r>
              <a:rPr lang="en-ZA" b="1" dirty="0"/>
              <a:t>How we think. How we decide. How we behave.</a:t>
            </a:r>
            <a:endParaRPr lang="en-ZA" dirty="0"/>
          </a:p>
          <a:p>
            <a:br>
              <a:rPr lang="en-ZA" dirty="0"/>
            </a:br>
            <a:endParaRPr lang="en-ZA" dirty="0"/>
          </a:p>
          <a:p>
            <a:r>
              <a:rPr lang="en-ZA" b="1" dirty="0"/>
              <a:t>1. HOW WE THINK</a:t>
            </a:r>
          </a:p>
          <a:p>
            <a:r>
              <a:rPr lang="en-ZA" b="1" dirty="0"/>
              <a:t>How we make sense of what we see or do.</a:t>
            </a:r>
            <a:endParaRPr lang="en-ZA" dirty="0"/>
          </a:p>
          <a:p>
            <a:r>
              <a:rPr lang="en-ZA" dirty="0"/>
              <a:t>The assumptions, mental models and biases that shape what we notice, how we interpret it and what we believe it means.</a:t>
            </a:r>
          </a:p>
          <a:p>
            <a:r>
              <a:rPr lang="en-ZA" dirty="0"/>
              <a:t>We don't simply absorb information exactly as it is presented to us. We interpret it.</a:t>
            </a:r>
          </a:p>
          <a:p>
            <a:r>
              <a:rPr lang="en-ZA" dirty="0"/>
              <a:t>What we notice, what we pay attention to, what we dismiss and the meaning we give to information are influenced by the thinking we bring with us.</a:t>
            </a:r>
          </a:p>
          <a:p>
            <a:r>
              <a:rPr lang="en-ZA" dirty="0"/>
              <a:t>This is why two people can look at the same evidence and reach very different conclusions.</a:t>
            </a:r>
          </a:p>
          <a:p>
            <a:endParaRPr lang="en-GB" dirty="0"/>
          </a:p>
          <a:p>
            <a:r>
              <a:rPr lang="en-GB" dirty="0"/>
              <a:t>Same evidence, different conclusions.</a:t>
            </a:r>
          </a:p>
          <a:p>
            <a:r>
              <a:rPr lang="en-GB" dirty="0"/>
              <a:t>When two groups read the same evidence and reach opposite conclusions, the difference usually sits in the interpretive framework each brings to it. Every strategic assessment is shaped partly by the evidence and partly by the assumptions of the people assessing it. Honest strategy separates the two.</a:t>
            </a:r>
          </a:p>
          <a:p>
            <a:r>
              <a:rPr lang="en-GB" dirty="0"/>
              <a:t>Source: Journal, 7 March 2026 — Professional Insights</a:t>
            </a:r>
          </a:p>
          <a:p>
            <a:endParaRPr lang="en-GB" dirty="0"/>
          </a:p>
          <a:p>
            <a:r>
              <a:rPr lang="en-ZA" dirty="0"/>
              <a:t>So the first behavioural question in strategy is </a:t>
            </a:r>
            <a:r>
              <a:rPr lang="en-ZA" b="1" dirty="0"/>
              <a:t>“How are we thinking about what we are seeing or doing?”</a:t>
            </a:r>
            <a:endParaRPr lang="en-ZA" dirty="0"/>
          </a:p>
          <a:p>
            <a:br>
              <a:rPr lang="en-ZA" dirty="0"/>
            </a:br>
            <a:endParaRPr lang="en-ZA" dirty="0"/>
          </a:p>
          <a:p>
            <a:r>
              <a:rPr lang="en-ZA" b="1" dirty="0"/>
              <a:t>2. HOW WE DECIDE</a:t>
            </a:r>
          </a:p>
          <a:p>
            <a:r>
              <a:rPr lang="en-ZA" b="1" dirty="0"/>
              <a:t>How we turn understanding into choice and commitment.</a:t>
            </a:r>
            <a:endParaRPr lang="en-ZA" dirty="0"/>
          </a:p>
          <a:p>
            <a:r>
              <a:rPr lang="en-ZA" dirty="0"/>
              <a:t>The judgements, trade-offs and influences that shape what we choose, what we prioritise and what we commit to doing.</a:t>
            </a:r>
          </a:p>
          <a:p>
            <a:r>
              <a:rPr lang="en-ZA" dirty="0"/>
              <a:t>What we believe about a situation eventually has to become a choice.</a:t>
            </a:r>
          </a:p>
          <a:p>
            <a:r>
              <a:rPr lang="en-ZA" dirty="0"/>
              <a:t>We decide what matters, what takes priority, what we will pursue, what we will leave behind and, importantly, </a:t>
            </a:r>
            <a:r>
              <a:rPr lang="en-ZA" b="1" dirty="0"/>
              <a:t>what we are prepared to commit ourselves to doing.</a:t>
            </a:r>
            <a:endParaRPr lang="en-ZA" dirty="0"/>
          </a:p>
          <a:p>
            <a:r>
              <a:rPr lang="en-ZA" dirty="0"/>
              <a:t>Those choices are shaped not only by the information available to us, but by our judgement, perceptions, relationships, emotions and the influence of others.</a:t>
            </a:r>
          </a:p>
          <a:p>
            <a:endParaRPr lang="en-GB" dirty="0"/>
          </a:p>
          <a:p>
            <a:r>
              <a:rPr lang="en-GB" dirty="0"/>
              <a:t>Emotion in the decision.</a:t>
            </a:r>
          </a:p>
          <a:p>
            <a:r>
              <a:rPr lang="en-GB" dirty="0"/>
              <a:t>Decisions made under emotional pressure can create consequences far beyond the immediate issue. Emotion, group reinforcement and reputational anxiety can drive consequential decisions without sufficient reflection. Separate the presenting problem from the emotional reaction around it and test whether the proposed response is proportionate.</a:t>
            </a:r>
          </a:p>
          <a:p>
            <a:r>
              <a:rPr lang="en-GB" dirty="0"/>
              <a:t>Source: Journal, 13 August 2026 — Professional Insights: Strategy</a:t>
            </a:r>
          </a:p>
          <a:p>
            <a:endParaRPr lang="en-GB" dirty="0"/>
          </a:p>
          <a:p>
            <a:r>
              <a:rPr lang="en-ZA" dirty="0"/>
              <a:t>So the second question becomes: </a:t>
            </a:r>
            <a:r>
              <a:rPr lang="en-ZA" b="1" dirty="0"/>
              <a:t>“What is shaping the choices and commitments we are making?”</a:t>
            </a:r>
            <a:endParaRPr lang="en-ZA" dirty="0"/>
          </a:p>
          <a:p>
            <a:br>
              <a:rPr lang="en-ZA" dirty="0"/>
            </a:br>
            <a:endParaRPr lang="en-ZA" dirty="0"/>
          </a:p>
          <a:p>
            <a:r>
              <a:rPr lang="en-ZA" b="1" dirty="0"/>
              <a:t>3. HOW WE BEHAVE</a:t>
            </a:r>
          </a:p>
          <a:p>
            <a:r>
              <a:rPr lang="en-ZA" b="1" dirty="0"/>
              <a:t>How our commitments become action.</a:t>
            </a:r>
            <a:endParaRPr lang="en-ZA" dirty="0"/>
          </a:p>
          <a:p>
            <a:r>
              <a:rPr lang="en-ZA" dirty="0"/>
              <a:t>How people respond, contribute, coordinate and act—determining whether we deliver and achieve the intended outcomes.</a:t>
            </a:r>
          </a:p>
          <a:p>
            <a:r>
              <a:rPr lang="en-ZA" b="1" dirty="0"/>
              <a:t>Facilitator narrative:</a:t>
            </a:r>
            <a:endParaRPr lang="en-ZA" dirty="0"/>
          </a:p>
          <a:p>
            <a:r>
              <a:rPr lang="en-ZA" dirty="0"/>
              <a:t>A decision does not produce a result simply because it has been made.</a:t>
            </a:r>
          </a:p>
          <a:p>
            <a:r>
              <a:rPr lang="en-ZA" dirty="0"/>
              <a:t>People still have to respond to it, translate it into their own contribution, coordinate with others and act consistently with what has been agreed.</a:t>
            </a:r>
          </a:p>
          <a:p>
            <a:r>
              <a:rPr lang="en-ZA" dirty="0"/>
              <a:t>This is where our commitments become visible.</a:t>
            </a:r>
          </a:p>
          <a:p>
            <a:endParaRPr lang="en-GB" dirty="0"/>
          </a:p>
          <a:p>
            <a:r>
              <a:rPr lang="en-GB" dirty="0"/>
              <a:t>The gap between intention and action.</a:t>
            </a:r>
          </a:p>
          <a:p>
            <a:r>
              <a:rPr lang="en-GB" dirty="0"/>
              <a:t>The gap between stated intention and actual behaviour is one of the most revealing leadership diagnostics available. Build accountability into the space between the commitment and the moment of execution, so that what people sincerely intend is what they do when the pressure of circumstances arrives.</a:t>
            </a:r>
          </a:p>
          <a:p>
            <a:r>
              <a:rPr lang="en-GB" dirty="0"/>
              <a:t>Source: Journal, 20 February 2026 — Professional Insights: Leadership</a:t>
            </a:r>
          </a:p>
          <a:p>
            <a:endParaRPr lang="en-GB" dirty="0"/>
          </a:p>
          <a:p>
            <a:r>
              <a:rPr lang="en-ZA" dirty="0"/>
              <a:t>So the third question is: </a:t>
            </a:r>
            <a:r>
              <a:rPr lang="en-ZA" b="1" dirty="0"/>
              <a:t>“Are our behaviours actually carrying our commitments through to the intended outcomes?”</a:t>
            </a:r>
            <a:endParaRPr lang="en-ZA" dirty="0"/>
          </a:p>
          <a:p>
            <a:br>
              <a:rPr lang="en-ZA" dirty="0"/>
            </a:br>
            <a:endParaRPr lang="en-ZA" dirty="0"/>
          </a:p>
          <a:p>
            <a:r>
              <a:rPr lang="en-ZA" b="1" dirty="0"/>
              <a:t>LAND THE THREE PHRASES</a:t>
            </a:r>
          </a:p>
          <a:p>
            <a:r>
              <a:rPr lang="en-ZA" dirty="0"/>
              <a:t>Bring participants back to the three cards:</a:t>
            </a:r>
          </a:p>
          <a:p>
            <a:r>
              <a:rPr lang="en-ZA" b="1" dirty="0"/>
              <a:t>How we think shapes how we decide.</a:t>
            </a:r>
            <a:br>
              <a:rPr lang="en-ZA" b="1" dirty="0"/>
            </a:br>
            <a:r>
              <a:rPr lang="en-ZA" b="1" dirty="0"/>
              <a:t>How we decide shapes what we commit to.</a:t>
            </a:r>
            <a:br>
              <a:rPr lang="en-ZA" b="1" dirty="0"/>
            </a:br>
            <a:r>
              <a:rPr lang="en-ZA" b="1" dirty="0"/>
              <a:t>How we behave determines whether those commitments become results.</a:t>
            </a:r>
            <a:endParaRPr lang="en-ZA" dirty="0"/>
          </a:p>
          <a:p>
            <a:endParaRPr lang="en-ZA" dirty="0"/>
          </a:p>
          <a:p>
            <a:r>
              <a:rPr lang="en-ZA" dirty="0"/>
              <a:t>Then ask:</a:t>
            </a:r>
          </a:p>
          <a:p>
            <a:r>
              <a:rPr lang="en-ZA" b="1" dirty="0"/>
              <a:t>“Which of these three—how we think, how we decide or how we behave—presents the greatest challenge in your organisation today?”</a:t>
            </a:r>
            <a:endParaRPr lang="en-ZA" dirty="0"/>
          </a:p>
          <a:p>
            <a:r>
              <a:rPr lang="en-ZA" dirty="0"/>
              <a:t>Allow a short pair discussion before moving on.</a:t>
            </a:r>
          </a:p>
          <a:p>
            <a:endParaRPr lang="en-ZA" b="1" dirty="0"/>
          </a:p>
          <a:p>
            <a:r>
              <a:rPr lang="en-ZA" b="1" dirty="0"/>
              <a:t>Bridge to 2.2</a:t>
            </a:r>
          </a:p>
          <a:p>
            <a:r>
              <a:rPr lang="en-ZA" dirty="0"/>
              <a:t>We begin with the first of these: how we think. The task on the table is not simply to examine what we think, but to understand what is shaping how we think.</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Facilitator opening</a:t>
            </a:r>
            <a:endParaRPr lang="en-ZA" dirty="0"/>
          </a:p>
          <a:p>
            <a:r>
              <a:rPr lang="en-ZA" dirty="0"/>
              <a:t>We have just said that </a:t>
            </a:r>
            <a:r>
              <a:rPr lang="en-ZA" b="1" dirty="0"/>
              <a:t>how we think shapes how we decide</a:t>
            </a:r>
            <a:r>
              <a:rPr lang="en-ZA" dirty="0"/>
              <a:t>.</a:t>
            </a:r>
          </a:p>
          <a:p>
            <a:r>
              <a:rPr lang="en-ZA" dirty="0"/>
              <a:t>So the next question is: </a:t>
            </a:r>
            <a:r>
              <a:rPr lang="en-ZA" b="1" dirty="0"/>
              <a:t>How do we actually think?</a:t>
            </a:r>
            <a:endParaRPr lang="en-ZA" dirty="0"/>
          </a:p>
          <a:p>
            <a:endParaRPr lang="en-ZA" dirty="0"/>
          </a:p>
          <a:p>
            <a:r>
              <a:rPr lang="en-ZA" dirty="0"/>
              <a:t>One useful way of understanding this comes from Daniel Kahneman’s work on dual-process thinking.</a:t>
            </a:r>
          </a:p>
          <a:p>
            <a:r>
              <a:rPr lang="en-ZA" dirty="0"/>
              <a:t>Kahneman helps us see that our thinking does not always happen in the same way. </a:t>
            </a:r>
          </a:p>
          <a:p>
            <a:r>
              <a:rPr lang="en-ZA" dirty="0"/>
              <a:t>At times, we think </a:t>
            </a:r>
            <a:r>
              <a:rPr lang="en-ZA" b="1" dirty="0"/>
              <a:t>quickly and intuitively</a:t>
            </a:r>
            <a:r>
              <a:rPr lang="en-ZA" dirty="0"/>
              <a:t>. At other times, we slow down and think </a:t>
            </a:r>
            <a:r>
              <a:rPr lang="en-ZA" b="1" dirty="0"/>
              <a:t>deliberately and analytically</a:t>
            </a:r>
            <a:r>
              <a:rPr lang="en-ZA" dirty="0"/>
              <a:t>.</a:t>
            </a:r>
          </a:p>
          <a:p>
            <a:endParaRPr lang="en-ZA" dirty="0"/>
          </a:p>
          <a:p>
            <a:r>
              <a:rPr lang="en-ZA" dirty="0"/>
              <a:t>He describes these as </a:t>
            </a:r>
            <a:r>
              <a:rPr lang="en-ZA" b="1" dirty="0"/>
              <a:t>System 1 and System 2 thinking.</a:t>
            </a:r>
            <a:endParaRPr lang="en-ZA" dirty="0"/>
          </a:p>
          <a:p>
            <a:endParaRPr lang="en-ZA" dirty="0"/>
          </a:p>
          <a:p>
            <a:r>
              <a:rPr lang="en-ZA" dirty="0"/>
              <a:t>The important point is not that one is good and the other is bad. </a:t>
            </a:r>
            <a:r>
              <a:rPr lang="en-ZA" b="1" dirty="0"/>
              <a:t>We need both.</a:t>
            </a:r>
            <a:endParaRPr lang="en-ZA" dirty="0"/>
          </a:p>
          <a:p>
            <a:r>
              <a:rPr lang="en-ZA" dirty="0"/>
              <a:t>The strategic discipline is recognising </a:t>
            </a:r>
            <a:r>
              <a:rPr lang="en-ZA" b="1" dirty="0"/>
              <a:t>which one is shaping our judgement—and whether the situation requires us to slow down and examine that judgement more carefully.</a:t>
            </a:r>
            <a:endParaRPr lang="en-ZA" dirty="0"/>
          </a:p>
          <a:p>
            <a:br>
              <a:rPr lang="en-ZA" dirty="0"/>
            </a:br>
            <a:r>
              <a:rPr lang="en-ZA" b="1" dirty="0"/>
              <a:t>SYSTEM 1 — FAST THINKING</a:t>
            </a:r>
          </a:p>
          <a:p>
            <a:r>
              <a:rPr lang="en-ZA" b="1" dirty="0"/>
              <a:t>Automatic. Intuitive. Pattern-based.</a:t>
            </a:r>
            <a:endParaRPr lang="en-ZA" dirty="0"/>
          </a:p>
          <a:p>
            <a:r>
              <a:rPr lang="en-ZA" dirty="0"/>
              <a:t>System 1 is the thinking that happens quickly, often without us consciously working through every step.</a:t>
            </a:r>
          </a:p>
          <a:p>
            <a:r>
              <a:rPr lang="en-ZA" dirty="0"/>
              <a:t>It draws heavily on </a:t>
            </a:r>
            <a:r>
              <a:rPr lang="en-ZA" b="1" dirty="0"/>
              <a:t>experience, patterns, associations and emotion</a:t>
            </a:r>
            <a:r>
              <a:rPr lang="en-ZA" dirty="0"/>
              <a:t> to help us reach a judgement quickly.</a:t>
            </a:r>
          </a:p>
          <a:p>
            <a:r>
              <a:rPr lang="en-ZA" dirty="0"/>
              <a:t>This is why an experienced leader can walk into a situation and immediately feel that something is wrong—or see an opportunity before others do.</a:t>
            </a:r>
          </a:p>
          <a:p>
            <a:r>
              <a:rPr lang="en-ZA" dirty="0"/>
              <a:t>That intuition can be extremely valuable. But because System 1 works quickly, it can also rely on assumptions and mental shortcuts that we have not examined.</a:t>
            </a:r>
          </a:p>
          <a:p>
            <a:endParaRPr lang="en-ZA" b="1" dirty="0"/>
          </a:p>
          <a:p>
            <a:r>
              <a:rPr lang="en-ZA" b="1" dirty="0"/>
              <a:t>In practice:</a:t>
            </a:r>
            <a:endParaRPr lang="en-ZA" dirty="0"/>
          </a:p>
          <a:p>
            <a:r>
              <a:rPr lang="en-ZA" dirty="0"/>
              <a:t>A leader hears about a new market opportunity and almost immediately thinks:</a:t>
            </a:r>
          </a:p>
          <a:p>
            <a:r>
              <a:rPr lang="en-ZA" i="1" dirty="0"/>
              <a:t>“This is something we should pursue.”</a:t>
            </a:r>
            <a:endParaRPr lang="en-ZA" dirty="0"/>
          </a:p>
          <a:p>
            <a:r>
              <a:rPr lang="en-ZA" dirty="0"/>
              <a:t>That judgement may contain years of valuable experience. But it may also contain assumptions that have not yet been tested.</a:t>
            </a:r>
          </a:p>
          <a:p>
            <a:r>
              <a:rPr lang="en-ZA" dirty="0"/>
              <a:t>So the question is not: </a:t>
            </a:r>
            <a:r>
              <a:rPr lang="en-ZA" b="1" dirty="0"/>
              <a:t>“Should we trust our gut?”</a:t>
            </a:r>
            <a:endParaRPr lang="en-ZA" dirty="0"/>
          </a:p>
          <a:p>
            <a:r>
              <a:rPr lang="en-ZA" dirty="0"/>
              <a:t>The better question is:</a:t>
            </a:r>
          </a:p>
          <a:p>
            <a:r>
              <a:rPr lang="en-ZA" b="1" dirty="0"/>
              <a:t>“When should we trust it, and when should we test it?”</a:t>
            </a:r>
            <a:endParaRPr lang="en-ZA" dirty="0"/>
          </a:p>
          <a:p>
            <a:br>
              <a:rPr lang="en-ZA" dirty="0"/>
            </a:br>
            <a:endParaRPr lang="en-ZA" dirty="0"/>
          </a:p>
          <a:p>
            <a:r>
              <a:rPr lang="en-ZA" b="1" dirty="0"/>
              <a:t>SYSTEM 2 — SLOW THINKING</a:t>
            </a:r>
          </a:p>
          <a:p>
            <a:r>
              <a:rPr lang="en-ZA" b="1" dirty="0"/>
              <a:t>Deliberate. Analytical. Effortful.</a:t>
            </a:r>
            <a:endParaRPr lang="en-ZA" dirty="0"/>
          </a:p>
          <a:p>
            <a:r>
              <a:rPr lang="en-ZA" dirty="0"/>
              <a:t>System 2 is what happens when we deliberately slow our thinking down.</a:t>
            </a:r>
          </a:p>
          <a:p>
            <a:r>
              <a:rPr lang="en-ZA" dirty="0"/>
              <a:t>We examine evidence, question assumptions, compare alternatives, consider trade-offs and work through complexity.</a:t>
            </a:r>
          </a:p>
          <a:p>
            <a:r>
              <a:rPr lang="en-ZA" dirty="0"/>
              <a:t>It requires attention and effort—which is why we do not operate this way all the time.</a:t>
            </a:r>
          </a:p>
          <a:p>
            <a:endParaRPr lang="en-ZA" b="1" dirty="0"/>
          </a:p>
          <a:p>
            <a:r>
              <a:rPr lang="en-ZA" b="1" dirty="0"/>
              <a:t>In practice:</a:t>
            </a:r>
            <a:endParaRPr lang="en-ZA" dirty="0"/>
          </a:p>
          <a:p>
            <a:r>
              <a:rPr lang="en-ZA" dirty="0"/>
              <a:t>The leader's initial instinct may be:</a:t>
            </a:r>
          </a:p>
          <a:p>
            <a:r>
              <a:rPr lang="en-ZA" i="1" dirty="0"/>
              <a:t>“This market looks attractive.”</a:t>
            </a:r>
            <a:endParaRPr lang="en-ZA" dirty="0"/>
          </a:p>
          <a:p>
            <a:r>
              <a:rPr lang="en-ZA" dirty="0"/>
              <a:t>System 2 asks:</a:t>
            </a:r>
          </a:p>
          <a:p>
            <a:r>
              <a:rPr lang="en-ZA" i="1" dirty="0"/>
              <a:t>What evidence supports that? What might we be missing? What assumptions are we making? What are the alternatives? What would have to be true for this choice to succeed?</a:t>
            </a:r>
            <a:endParaRPr lang="en-ZA" dirty="0"/>
          </a:p>
          <a:p>
            <a:r>
              <a:rPr lang="en-ZA" dirty="0"/>
              <a:t>System 2 does not necessarily reject the intuition.</a:t>
            </a:r>
          </a:p>
          <a:p>
            <a:r>
              <a:rPr lang="en-ZA" b="1" dirty="0"/>
              <a:t>It tests it.</a:t>
            </a:r>
            <a:endParaRPr lang="en-ZA" dirty="0"/>
          </a:p>
          <a:p>
            <a:endParaRPr lang="en-GB" dirty="0"/>
          </a:p>
          <a:p>
            <a:r>
              <a:rPr lang="en-GB" dirty="0"/>
              <a:t>A disciplined pause.</a:t>
            </a:r>
          </a:p>
          <a:p>
            <a:r>
              <a:rPr lang="en-GB" dirty="0"/>
              <a:t>Strategy is weakened when leaders become so committed to movement that they ignore capability gaps. A disciplined pause can prevent an expensive failure later.</a:t>
            </a:r>
          </a:p>
          <a:p>
            <a:r>
              <a:rPr lang="en-GB" dirty="0"/>
              <a:t>Source: Journal, 1 August 2026 — Professional Insights: Strategy</a:t>
            </a:r>
          </a:p>
          <a:p>
            <a:endParaRPr lang="en-ZA" dirty="0"/>
          </a:p>
          <a:p>
            <a:r>
              <a:rPr lang="en-ZA" b="1" dirty="0"/>
              <a:t>LAND THE TWO SYSTEMS</a:t>
            </a:r>
          </a:p>
          <a:p>
            <a:r>
              <a:rPr lang="en-ZA" dirty="0"/>
              <a:t>Draw participants' attention to the two cards.</a:t>
            </a:r>
          </a:p>
          <a:p>
            <a:r>
              <a:rPr lang="en-ZA" b="1" dirty="0"/>
              <a:t>System 1 gives us speed.</a:t>
            </a:r>
            <a:br>
              <a:rPr lang="en-ZA" b="1" dirty="0"/>
            </a:br>
            <a:r>
              <a:rPr lang="en-ZA" b="1" dirty="0"/>
              <a:t>System 2 gives us scrutiny.</a:t>
            </a:r>
            <a:endParaRPr lang="en-ZA" dirty="0"/>
          </a:p>
          <a:p>
            <a:r>
              <a:rPr lang="en-ZA" dirty="0"/>
              <a:t>Both have a place in strategy.</a:t>
            </a:r>
          </a:p>
          <a:p>
            <a:endParaRPr lang="en-ZA" dirty="0"/>
          </a:p>
          <a:p>
            <a:r>
              <a:rPr lang="en-ZA" dirty="0"/>
              <a:t>The challenge arises when </a:t>
            </a:r>
            <a:r>
              <a:rPr lang="en-ZA" b="1" dirty="0"/>
              <a:t>fast thinking produces a judgement in a situation that requires deeper examination—and we never recognise that we needed to slow down.</a:t>
            </a:r>
            <a:endParaRPr lang="en-ZA" dirty="0"/>
          </a:p>
          <a:p>
            <a:r>
              <a:rPr lang="en-ZA" dirty="0"/>
              <a:t>For anyone responsible for strategy, the capability is therefore not simply knowing about System 1 and System 2.</a:t>
            </a:r>
          </a:p>
          <a:p>
            <a:r>
              <a:rPr lang="en-ZA" dirty="0"/>
              <a:t>It is being able to ask:</a:t>
            </a:r>
          </a:p>
          <a:p>
            <a:r>
              <a:rPr lang="en-ZA" b="1" dirty="0"/>
              <a:t>“What kind of thinking does this decision require from us?”</a:t>
            </a:r>
            <a:endParaRPr lang="en-ZA" dirty="0"/>
          </a:p>
          <a:p>
            <a:br>
              <a:rPr lang="en-ZA" dirty="0"/>
            </a:br>
            <a:endParaRPr lang="en-ZA" dirty="0"/>
          </a:p>
          <a:p>
            <a:r>
              <a:rPr lang="en-ZA" b="1" dirty="0"/>
              <a:t>PARTICIPANT DISCUSSION</a:t>
            </a:r>
          </a:p>
          <a:p>
            <a:r>
              <a:rPr lang="en-ZA" dirty="0"/>
              <a:t>Ask:</a:t>
            </a:r>
          </a:p>
          <a:p>
            <a:r>
              <a:rPr lang="en-ZA" b="1" dirty="0"/>
              <a:t>“Under what conditions does System 1 tend to take over in your organisation?”</a:t>
            </a:r>
            <a:endParaRPr lang="en-ZA" dirty="0"/>
          </a:p>
          <a:p>
            <a:r>
              <a:rPr lang="en-ZA" dirty="0"/>
              <a:t>Then probe:</a:t>
            </a:r>
          </a:p>
          <a:p>
            <a:r>
              <a:rPr lang="en-ZA" b="1" dirty="0"/>
              <a:t>“What does that actually look like in the meeting room?”</a:t>
            </a:r>
            <a:endParaRPr lang="en-ZA" dirty="0"/>
          </a:p>
          <a:p>
            <a:r>
              <a:rPr lang="en-ZA" dirty="0"/>
              <a:t>Listen for examples such as time pressure, hierarchy, strong personalities, familiarity, crisis, fatigue, previous success, consensus or pressure to demonstrate action.</a:t>
            </a:r>
          </a:p>
          <a:p>
            <a:br>
              <a:rPr lang="en-ZA" dirty="0"/>
            </a:br>
            <a:endParaRPr lang="en-ZA" dirty="0"/>
          </a:p>
          <a:p>
            <a:r>
              <a:rPr lang="en-ZA" b="1" dirty="0"/>
              <a:t>KEY FACILITATION POINT</a:t>
            </a:r>
          </a:p>
          <a:p>
            <a:r>
              <a:rPr lang="en-ZA" dirty="0"/>
              <a:t>The objective is </a:t>
            </a:r>
            <a:r>
              <a:rPr lang="en-ZA" b="1" dirty="0"/>
              <a:t>not to eliminate System 1</a:t>
            </a:r>
            <a:r>
              <a:rPr lang="en-ZA" dirty="0"/>
              <a:t>.</a:t>
            </a:r>
          </a:p>
          <a:p>
            <a:r>
              <a:rPr lang="en-ZA" dirty="0"/>
              <a:t>Experienced leaders need intuition. Pattern recognition is part of expertise.</a:t>
            </a:r>
          </a:p>
          <a:p>
            <a:r>
              <a:rPr lang="en-ZA" dirty="0"/>
              <a:t>The discipline is knowing </a:t>
            </a:r>
            <a:r>
              <a:rPr lang="en-ZA" b="1" dirty="0"/>
              <a:t>when intuition is enough and when the stakes, uncertainty or complexity require us to deliberately engage System 2.</a:t>
            </a:r>
            <a:endParaRPr lang="en-ZA" dirty="0"/>
          </a:p>
          <a:p>
            <a:r>
              <a:rPr lang="en-ZA" dirty="0"/>
              <a:t>And sometimes that requires creating the conditions to slow the room down.</a:t>
            </a:r>
          </a:p>
          <a:p>
            <a:endParaRPr lang="en-GB" dirty="0"/>
          </a:p>
          <a:p>
            <a:r>
              <a:rPr lang="en-GB" dirty="0"/>
              <a:t>Room to say “We do not yet know”.</a:t>
            </a:r>
          </a:p>
          <a:p>
            <a:r>
              <a:rPr lang="en-GB" dirty="0"/>
              <a:t>Strong organisations need room to say “We do not yet know” without reading uncertainty as incompetence. That humility improves learning and stops assumptions from hardening prematurely into facts.</a:t>
            </a:r>
          </a:p>
          <a:p>
            <a:r>
              <a:rPr lang="en-GB" dirty="0"/>
              <a:t>Source: Journal, 3 September 2026 — Professional Insights: Culture</a:t>
            </a:r>
          </a:p>
          <a:p>
            <a:br>
              <a:rPr lang="en-ZA" dirty="0"/>
            </a:br>
            <a:endParaRPr lang="en-ZA" dirty="0"/>
          </a:p>
          <a:p>
            <a:r>
              <a:rPr lang="en-ZA" b="1" dirty="0"/>
              <a:t>PARTICIPANT REFLECTION</a:t>
            </a:r>
          </a:p>
          <a:p>
            <a:r>
              <a:rPr lang="en-ZA" b="1" dirty="0"/>
              <a:t>Think of a significant strategic decision you were recently involved in. Which system appeared to dominate? What conditions made that more likely?</a:t>
            </a:r>
            <a:endParaRPr lang="en-ZA" dirty="0"/>
          </a:p>
          <a:p>
            <a:r>
              <a:rPr lang="en-ZA" dirty="0"/>
              <a:t>Then ask:</a:t>
            </a:r>
          </a:p>
          <a:p>
            <a:r>
              <a:rPr lang="en-ZA" b="1" dirty="0"/>
              <a:t>“Looking back, was that the kind of thinking the decision required?”</a:t>
            </a:r>
            <a:endParaRPr lang="en-ZA" dirty="0"/>
          </a:p>
          <a:p>
            <a:br>
              <a:rPr lang="en-ZA" dirty="0"/>
            </a:br>
            <a:endParaRPr lang="en-ZA" dirty="0"/>
          </a:p>
          <a:p>
            <a:r>
              <a:rPr lang="en-ZA" b="1" dirty="0"/>
              <a:t>The urge to be seen doing something</a:t>
            </a:r>
            <a:endParaRPr lang="en-ZA" dirty="0"/>
          </a:p>
          <a:p>
            <a:r>
              <a:rPr lang="en-ZA" dirty="0"/>
              <a:t>Under pressure, leaders can feel compelled to demonstrate action. But speed of response is not always quality of response.</a:t>
            </a:r>
          </a:p>
          <a:p>
            <a:r>
              <a:rPr lang="en-ZA" b="1" dirty="0"/>
              <a:t>The discipline to slow down, think clearly and act from assessed calm is one of the rarest leadership capacities.</a:t>
            </a:r>
            <a:endParaRPr lang="en-ZA" dirty="0"/>
          </a:p>
          <a:p>
            <a:r>
              <a:rPr lang="en-ZA" dirty="0"/>
              <a:t>Use this to demonstrate how pressure can increase reliance on System 1.</a:t>
            </a:r>
          </a:p>
          <a:p>
            <a:endParaRPr lang="en-ZA" dirty="0"/>
          </a:p>
          <a:p>
            <a:r>
              <a:rPr lang="en-ZA" dirty="0"/>
              <a:t>A leader's position gives weight to what they say. A quick reaction from the most senior person in the room can become organisational direction before it was ever intended to be.</a:t>
            </a:r>
          </a:p>
          <a:p>
            <a:r>
              <a:rPr lang="en-ZA" dirty="0"/>
              <a:t>Sometimes System 2 begins with something as simple as:</a:t>
            </a:r>
          </a:p>
          <a:p>
            <a:r>
              <a:rPr lang="en-ZA" b="1" dirty="0"/>
              <a:t>“Let me think about that before we decide.”</a:t>
            </a:r>
            <a:endParaRPr lang="en-ZA" dirty="0"/>
          </a:p>
          <a:p>
            <a:r>
              <a:rPr lang="en-ZA" dirty="0"/>
              <a:t>The pause is not indecision. </a:t>
            </a:r>
            <a:r>
              <a:rPr lang="en-ZA" b="1" dirty="0"/>
              <a:t>It is a deliberate thinking discipline.</a:t>
            </a:r>
          </a:p>
          <a:p>
            <a:endParaRPr lang="en-ZA" b="1" dirty="0"/>
          </a:p>
          <a:p>
            <a:r>
              <a:rPr lang="en-ZA" b="1" dirty="0"/>
              <a:t>Bridge</a:t>
            </a:r>
          </a:p>
          <a:p>
            <a:r>
              <a:rPr lang="en-ZA" dirty="0"/>
              <a:t>And this leads us to the next problem.</a:t>
            </a:r>
          </a:p>
          <a:p>
            <a:r>
              <a:rPr lang="en-ZA" b="1" dirty="0"/>
              <a:t>If System 1 works quickly and often outside our conscious awareness, what happens when the shortcuts it relies on systematically distort our judgement?</a:t>
            </a:r>
            <a:endParaRPr lang="en-ZA" dirty="0"/>
          </a:p>
          <a:p>
            <a:r>
              <a:rPr lang="en-ZA" dirty="0"/>
              <a:t>That is where we begin to encounter </a:t>
            </a:r>
            <a:r>
              <a:rPr lang="en-ZA" b="1" dirty="0"/>
              <a:t>functional bias.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2.3 · FUNCTIONAL BIAS IN STRATEGY: THE ELEPHANT PERSPECTIVE</a:t>
            </a:r>
          </a:p>
          <a:p>
            <a:endParaRPr lang="en-ZA" b="1" dirty="0"/>
          </a:p>
          <a:p>
            <a:r>
              <a:rPr lang="en-ZA" b="1" dirty="0"/>
              <a:t>Facilitator opening</a:t>
            </a:r>
          </a:p>
          <a:p>
            <a:r>
              <a:rPr lang="en-ZA" dirty="0"/>
              <a:t>We have just looked at how </a:t>
            </a:r>
            <a:r>
              <a:rPr lang="en-ZA" b="1" dirty="0"/>
              <a:t>our individual thinking shapes our judgement.</a:t>
            </a:r>
            <a:endParaRPr lang="en-ZA" dirty="0"/>
          </a:p>
          <a:p>
            <a:r>
              <a:rPr lang="en-ZA" dirty="0"/>
              <a:t>But strategy is rarely shaped or delivered by one person.</a:t>
            </a:r>
          </a:p>
          <a:p>
            <a:r>
              <a:rPr lang="en-ZA" dirty="0"/>
              <a:t>It is shaped around a table—by leaders responsible for different parts of the organisation—and brought to life by people across the organisation who must interpret it, respond to it and act on it.</a:t>
            </a:r>
          </a:p>
          <a:p>
            <a:endParaRPr lang="en-ZA" dirty="0"/>
          </a:p>
          <a:p>
            <a:r>
              <a:rPr lang="en-ZA" dirty="0"/>
              <a:t>And that introduces another challenge.</a:t>
            </a:r>
          </a:p>
          <a:p>
            <a:r>
              <a:rPr lang="en-ZA" b="1" dirty="0"/>
              <a:t>We may be working towards the same strategic outcome, but we may not be thinking about what it requires—or how to achieve it—in the same way.</a:t>
            </a:r>
          </a:p>
          <a:p>
            <a:endParaRPr lang="en-ZA" dirty="0"/>
          </a:p>
          <a:p>
            <a:r>
              <a:rPr lang="en-ZA" dirty="0"/>
              <a:t>One person may see a people issue. Another sees a financial issue. Another sees an operational issue. Another sees a customer issue.</a:t>
            </a:r>
          </a:p>
          <a:p>
            <a:r>
              <a:rPr lang="en-ZA" b="1" dirty="0"/>
              <a:t>Same strategy. Same intended outcome. Different ways of thinking about what needs to be done.</a:t>
            </a:r>
            <a:endParaRPr lang="en-ZA" dirty="0"/>
          </a:p>
          <a:p>
            <a:endParaRPr lang="en-ZA" dirty="0"/>
          </a:p>
          <a:p>
            <a:r>
              <a:rPr lang="en-ZA" dirty="0"/>
              <a:t>We do not come to a strategic task as blank slates.</a:t>
            </a:r>
          </a:p>
          <a:p>
            <a:r>
              <a:rPr lang="en-ZA" dirty="0"/>
              <a:t>And this brings us to </a:t>
            </a:r>
            <a:r>
              <a:rPr lang="en-ZA" b="1" dirty="0"/>
              <a:t>functional bias.</a:t>
            </a:r>
            <a:endParaRPr lang="en-ZA" dirty="0"/>
          </a:p>
          <a:p>
            <a:br>
              <a:rPr lang="en-ZA" dirty="0"/>
            </a:br>
            <a:endParaRPr lang="en-ZA" dirty="0"/>
          </a:p>
          <a:p>
            <a:r>
              <a:rPr lang="en-ZA" b="1" dirty="0"/>
              <a:t>WHAT IS FUNCTIONAL BIAS?</a:t>
            </a:r>
          </a:p>
          <a:p>
            <a:r>
              <a:rPr lang="en-ZA" dirty="0"/>
              <a:t>Every person engages strategy from somewhere.</a:t>
            </a:r>
          </a:p>
          <a:p>
            <a:r>
              <a:rPr lang="en-ZA" dirty="0"/>
              <a:t>Our roles, expertise and responsibilities give us a particular perspective from which we understand what is happening and what needs to be done.</a:t>
            </a:r>
          </a:p>
          <a:p>
            <a:r>
              <a:rPr lang="en-ZA" dirty="0"/>
              <a:t>That perspective is valuable. It gives us knowledge, experience and depth.</a:t>
            </a:r>
          </a:p>
          <a:p>
            <a:r>
              <a:rPr lang="en-ZA" dirty="0"/>
              <a:t>But it can also influence </a:t>
            </a:r>
            <a:r>
              <a:rPr lang="en-ZA" b="1" dirty="0"/>
              <a:t>what we notice, what we prioritise, how we interpret a situation and what we believe should be done about it.</a:t>
            </a:r>
            <a:endParaRPr lang="en-ZA" dirty="0"/>
          </a:p>
          <a:p>
            <a:r>
              <a:rPr lang="en-ZA" dirty="0"/>
              <a:t>This is what we mean by </a:t>
            </a:r>
            <a:r>
              <a:rPr lang="en-ZA" b="1" dirty="0"/>
              <a:t>functional bias</a:t>
            </a:r>
            <a:r>
              <a:rPr lang="en-ZA" dirty="0"/>
              <a:t>:</a:t>
            </a:r>
          </a:p>
          <a:p>
            <a:endParaRPr lang="en-ZA" dirty="0"/>
          </a:p>
          <a:p>
            <a:r>
              <a:rPr lang="en-ZA" b="1" dirty="0"/>
              <a:t>The tendency to interpret a strategic issue and what should be done about it primarily from the perspective of our own function, expertise or area of responsibility.</a:t>
            </a:r>
          </a:p>
          <a:p>
            <a:endParaRPr lang="en-ZA" dirty="0"/>
          </a:p>
          <a:p>
            <a:r>
              <a:rPr lang="en-ZA" dirty="0"/>
              <a:t>The issue is not that our perspective is necessarily wrong.</a:t>
            </a:r>
          </a:p>
          <a:p>
            <a:r>
              <a:rPr lang="en-ZA" b="1" dirty="0"/>
              <a:t>The issue is that it may only be part of the picture.</a:t>
            </a:r>
            <a:endParaRPr lang="en-ZA" dirty="0"/>
          </a:p>
          <a:p>
            <a:br>
              <a:rPr lang="en-ZA" dirty="0"/>
            </a:br>
            <a:endParaRPr lang="en-ZA" dirty="0"/>
          </a:p>
          <a:p>
            <a:r>
              <a:rPr lang="en-ZA" b="1" dirty="0"/>
              <a:t>THE ELEPHANT PERSPECTIVE</a:t>
            </a:r>
          </a:p>
          <a:p>
            <a:r>
              <a:rPr lang="en-ZA" dirty="0"/>
              <a:t>There is an old story, told in many forms across different cultures, about six men who are blind from birth.</a:t>
            </a:r>
          </a:p>
          <a:p>
            <a:r>
              <a:rPr lang="en-ZA" dirty="0"/>
              <a:t>One day, they are led to an elephant—an animal they have heard about but never encountered—and each is invited to discover what it is.</a:t>
            </a:r>
          </a:p>
          <a:p>
            <a:endParaRPr lang="en-ZA" dirty="0"/>
          </a:p>
          <a:p>
            <a:r>
              <a:rPr lang="en-ZA" dirty="0"/>
              <a:t>The first man reaches out and touches the side of the elephant. It is vast, flat and solid.</a:t>
            </a:r>
          </a:p>
          <a:p>
            <a:r>
              <a:rPr lang="en-ZA" b="1" dirty="0"/>
              <a:t>“An elephant,” he declares, “is like a wall.”</a:t>
            </a:r>
          </a:p>
          <a:p>
            <a:endParaRPr lang="en-ZA" dirty="0"/>
          </a:p>
          <a:p>
            <a:r>
              <a:rPr lang="en-ZA" dirty="0"/>
              <a:t>The second finds a tusk and wraps his hands around its smooth, curved length.</a:t>
            </a:r>
          </a:p>
          <a:p>
            <a:r>
              <a:rPr lang="en-ZA" b="1" dirty="0"/>
              <a:t>“Not at all,” he says. “It is like a spear.”</a:t>
            </a:r>
          </a:p>
          <a:p>
            <a:endParaRPr lang="en-ZA" dirty="0"/>
          </a:p>
          <a:p>
            <a:r>
              <a:rPr lang="en-ZA" dirty="0"/>
              <a:t>The third takes hold of the trunk as it curls and twists.</a:t>
            </a:r>
          </a:p>
          <a:p>
            <a:r>
              <a:rPr lang="en-ZA" b="1" dirty="0"/>
              <a:t>“You are both wrong. It is like a snake.”</a:t>
            </a:r>
          </a:p>
          <a:p>
            <a:endParaRPr lang="en-ZA" dirty="0"/>
          </a:p>
          <a:p>
            <a:r>
              <a:rPr lang="en-ZA" dirty="0"/>
              <a:t>The fourth encircles a leg and feels the rough, pillar-like mass beneath his hands.</a:t>
            </a:r>
          </a:p>
          <a:p>
            <a:r>
              <a:rPr lang="en-ZA" b="1" dirty="0"/>
              <a:t>“It is a tree trunk.”</a:t>
            </a:r>
          </a:p>
          <a:p>
            <a:endParaRPr lang="en-ZA" dirty="0"/>
          </a:p>
          <a:p>
            <a:r>
              <a:rPr lang="en-ZA" dirty="0"/>
              <a:t>The fifth grasps the ear and feels its wide, flat sweep.</a:t>
            </a:r>
          </a:p>
          <a:p>
            <a:r>
              <a:rPr lang="en-ZA" b="1" dirty="0"/>
              <a:t>“It is a fan.”</a:t>
            </a:r>
          </a:p>
          <a:p>
            <a:endParaRPr lang="en-ZA" dirty="0"/>
          </a:p>
          <a:p>
            <a:r>
              <a:rPr lang="en-ZA" dirty="0"/>
              <a:t>The sixth grabs the tail.</a:t>
            </a:r>
          </a:p>
          <a:p>
            <a:r>
              <a:rPr lang="en-ZA" b="1" dirty="0"/>
              <a:t>“It is a rope.”</a:t>
            </a:r>
          </a:p>
          <a:p>
            <a:endParaRPr lang="en-ZA" b="1" dirty="0"/>
          </a:p>
          <a:p>
            <a:endParaRPr lang="en-ZA" b="1" dirty="0"/>
          </a:p>
          <a:p>
            <a:r>
              <a:rPr lang="en-GB" dirty="0"/>
              <a:t>The classic “Elephant” parable illustrates a structural requirement for strategic leadership: the shift from individual accuracy to collective coherence.</a:t>
            </a:r>
          </a:p>
          <a:p>
            <a:r>
              <a:rPr lang="en-GB" dirty="0"/>
              <a:t>At the enterprise level, strategic quality is determined by an organisation’s ability to: Surface these partial truths; Hold them in tension; Integrate them into a unified understanding of reality.
</a:t>
            </a:r>
          </a:p>
          <a:p>
            <a:endParaRPr lang="en-ZA" dirty="0"/>
          </a:p>
          <a:p>
            <a:r>
              <a:rPr lang="en-ZA" b="1" dirty="0"/>
              <a:t>Pause.</a:t>
            </a:r>
            <a:endParaRPr lang="en-ZA" dirty="0"/>
          </a:p>
          <a:p>
            <a:r>
              <a:rPr lang="en-ZA" dirty="0"/>
              <a:t>Each person has encountered something real.</a:t>
            </a:r>
          </a:p>
          <a:p>
            <a:r>
              <a:rPr lang="en-ZA" dirty="0"/>
              <a:t>Each has evidence for what they believe.</a:t>
            </a:r>
          </a:p>
          <a:p>
            <a:r>
              <a:rPr lang="en-ZA" dirty="0"/>
              <a:t>And each conclusion makes sense </a:t>
            </a:r>
            <a:r>
              <a:rPr lang="en-ZA" b="1" dirty="0"/>
              <a:t>from where that person is standing.</a:t>
            </a:r>
            <a:endParaRPr lang="en-ZA" dirty="0"/>
          </a:p>
          <a:p>
            <a:r>
              <a:rPr lang="en-ZA" dirty="0"/>
              <a:t>But none has the complete picture.</a:t>
            </a:r>
          </a:p>
          <a:p>
            <a:r>
              <a:rPr lang="en-ZA" b="1" dirty="0"/>
              <a:t>The problem is not necessarily what each person sees. The problem begins when the part they see becomes the whole of what they believe.</a:t>
            </a:r>
            <a:endParaRPr lang="en-ZA" dirty="0"/>
          </a:p>
          <a:p>
            <a:endParaRPr lang="en-GB" dirty="0"/>
          </a:p>
          <a:p>
            <a:r>
              <a:rPr lang="en-GB" dirty="0"/>
              <a:t>Knowledge, capability and wisdom.</a:t>
            </a:r>
          </a:p>
          <a:p>
            <a:r>
              <a:rPr lang="en-GB" dirty="0"/>
              <a:t>Organisations can hold deep technical expertise and still make poor choices when judgement lacks the discipline of purpose. Fragmentation around personalities distorts collective direction.</a:t>
            </a:r>
          </a:p>
          <a:p>
            <a:r>
              <a:rPr lang="en-GB" dirty="0"/>
              <a:t>Source: Journal, 31 August 2026 — Professional Insights: Strategy</a:t>
            </a:r>
          </a:p>
          <a:p>
            <a:br>
              <a:rPr lang="en-ZA" dirty="0"/>
            </a:br>
            <a:endParaRPr lang="en-ZA" dirty="0"/>
          </a:p>
          <a:p>
            <a:r>
              <a:rPr lang="en-ZA" b="1" dirty="0"/>
              <a:t>BRING IT BACK TO STRATEGY</a:t>
            </a:r>
          </a:p>
          <a:p>
            <a:r>
              <a:rPr lang="en-ZA" dirty="0"/>
              <a:t>This is what can happen in strategy.</a:t>
            </a:r>
          </a:p>
          <a:p>
            <a:r>
              <a:rPr lang="en-ZA" dirty="0"/>
              <a:t>Different people can engage the same strategic task and arrive at very different conclusions about what it means and what should be done.</a:t>
            </a:r>
          </a:p>
          <a:p>
            <a:r>
              <a:rPr lang="en-ZA" dirty="0"/>
              <a:t>Finance may see one implication.</a:t>
            </a:r>
            <a:br>
              <a:rPr lang="en-ZA" dirty="0"/>
            </a:br>
            <a:r>
              <a:rPr lang="en-ZA" dirty="0"/>
              <a:t>Operations another.</a:t>
            </a:r>
            <a:br>
              <a:rPr lang="en-ZA" dirty="0"/>
            </a:br>
            <a:r>
              <a:rPr lang="en-ZA" dirty="0"/>
              <a:t>People and Culture another.</a:t>
            </a:r>
            <a:br>
              <a:rPr lang="en-ZA" dirty="0"/>
            </a:br>
            <a:r>
              <a:rPr lang="en-ZA" dirty="0"/>
              <a:t>Technology another.</a:t>
            </a:r>
            <a:br>
              <a:rPr lang="en-ZA" dirty="0"/>
            </a:br>
            <a:r>
              <a:rPr lang="en-ZA" dirty="0"/>
              <a:t>The frontline may experience something else entirely.</a:t>
            </a:r>
          </a:p>
          <a:p>
            <a:r>
              <a:rPr lang="en-ZA" dirty="0"/>
              <a:t>Each perspective may contain something important.</a:t>
            </a:r>
          </a:p>
          <a:p>
            <a:r>
              <a:rPr lang="en-ZA" dirty="0"/>
              <a:t>But if each person acts only from their own interpretation, the organisation can have </a:t>
            </a:r>
            <a:r>
              <a:rPr lang="en-ZA" b="1" dirty="0"/>
              <a:t>capable people making reasonable decisions that collectively do not add up to a coherent response.</a:t>
            </a:r>
            <a:endParaRPr lang="en-ZA" dirty="0"/>
          </a:p>
          <a:p>
            <a:endParaRPr lang="en-ZA" dirty="0"/>
          </a:p>
          <a:p>
            <a:r>
              <a:rPr lang="en-ZA" dirty="0"/>
              <a:t>That is where functional bias becomes a strategic problem.</a:t>
            </a:r>
          </a:p>
          <a:p>
            <a:r>
              <a:rPr lang="en-ZA" dirty="0"/>
              <a:t>It can show up as competing priorities, conflicting decisions, misaligned measures, missed dependencies and teams working hard in different directions.</a:t>
            </a:r>
          </a:p>
          <a:p>
            <a:endParaRPr lang="en-GB" dirty="0"/>
          </a:p>
          <a:p>
            <a:r>
              <a:rPr lang="en-GB" dirty="0"/>
              <a:t>Function and enterprise.</a:t>
            </a:r>
          </a:p>
          <a:p>
            <a:r>
              <a:rPr lang="en-GB" dirty="0"/>
              <a:t>Finance optimises finance, HR optimises HR, operations optimises operations, and each may perform well individually while the enterprise struggles collectively. Coherence grows when people routinely ask two questions: “What is my function responsible for?” and “What does the organisation need from my function for the whole to succeed?”</a:t>
            </a:r>
          </a:p>
          <a:p>
            <a:r>
              <a:rPr lang="en-GB" dirty="0"/>
              <a:t>Source: Journal, 3 October 2026 — Professional Insights: Culture</a:t>
            </a:r>
          </a:p>
          <a:p>
            <a:br>
              <a:rPr lang="en-ZA" dirty="0"/>
            </a:br>
            <a:endParaRPr lang="en-ZA" dirty="0"/>
          </a:p>
          <a:p>
            <a:r>
              <a:rPr lang="en-ZA" b="1" dirty="0"/>
              <a:t>DEBRIEF</a:t>
            </a:r>
          </a:p>
          <a:p>
            <a:r>
              <a:rPr lang="en-ZA" dirty="0"/>
              <a:t>Ask:</a:t>
            </a:r>
          </a:p>
          <a:p>
            <a:r>
              <a:rPr lang="en-ZA" b="1" dirty="0"/>
              <a:t>“If your organisation were this elephant, what part might different functions or teams be touching?”</a:t>
            </a:r>
            <a:endParaRPr lang="en-ZA" dirty="0"/>
          </a:p>
          <a:p>
            <a:r>
              <a:rPr lang="en-ZA" dirty="0"/>
              <a:t>Allow the discussion to develop.</a:t>
            </a:r>
          </a:p>
          <a:p>
            <a:endParaRPr lang="en-ZA" dirty="0"/>
          </a:p>
          <a:p>
            <a:r>
              <a:rPr lang="en-ZA" dirty="0"/>
              <a:t>Then deepen it:</a:t>
            </a:r>
          </a:p>
          <a:p>
            <a:r>
              <a:rPr lang="en-ZA" b="1" dirty="0"/>
              <a:t>“Where might people be making perfectly reasonable decisions from where they sit, but those decisions are not producing the best outcome for the whole?”</a:t>
            </a:r>
            <a:endParaRPr lang="en-ZA" dirty="0"/>
          </a:p>
          <a:p>
            <a:endParaRPr lang="en-ZA" dirty="0"/>
          </a:p>
          <a:p>
            <a:r>
              <a:rPr lang="en-ZA" dirty="0"/>
              <a:t>And finally:</a:t>
            </a:r>
          </a:p>
          <a:p>
            <a:r>
              <a:rPr lang="en-ZA" b="1" dirty="0"/>
              <a:t>“What would have to happen for everyone around the elephant to understand more of the whole?”</a:t>
            </a:r>
            <a:endParaRPr lang="en-ZA" dirty="0"/>
          </a:p>
          <a:p>
            <a:br>
              <a:rPr lang="en-ZA" dirty="0"/>
            </a:br>
            <a:endParaRPr lang="en-ZA" dirty="0"/>
          </a:p>
          <a:p>
            <a:r>
              <a:rPr lang="en-ZA" b="1" dirty="0"/>
              <a:t>LAND THE INSIGHT</a:t>
            </a:r>
          </a:p>
          <a:p>
            <a:r>
              <a:rPr lang="en-ZA" dirty="0"/>
              <a:t>Functional bias does not mean we should abandon our expertise.</a:t>
            </a:r>
          </a:p>
          <a:p>
            <a:r>
              <a:rPr lang="en-ZA" b="1" dirty="0"/>
              <a:t>We need the different perspectives.</a:t>
            </a:r>
            <a:endParaRPr lang="en-ZA" dirty="0"/>
          </a:p>
          <a:p>
            <a:r>
              <a:rPr lang="en-ZA" dirty="0"/>
              <a:t>The strategic discipline is being able to bring the depth of our own perspective </a:t>
            </a:r>
            <a:r>
              <a:rPr lang="en-ZA" b="1" dirty="0"/>
              <a:t>without assuming that our perspective is complete.</a:t>
            </a:r>
            <a:endParaRPr lang="en-ZA" dirty="0"/>
          </a:p>
          <a:p>
            <a:endParaRPr lang="en-GB" dirty="0"/>
          </a:p>
          <a:p>
            <a:r>
              <a:rPr lang="en-GB" dirty="0"/>
              <a:t>The person who does not fit the template.</a:t>
            </a:r>
          </a:p>
          <a:p>
            <a:r>
              <a:rPr lang="en-GB" dirty="0"/>
              <a:t>A team that is too uniform will be blind to the moments it was never built for. When building a team, deliberately include the person who does not fit the template; that person often solves the problem no one else can see.</a:t>
            </a:r>
          </a:p>
          <a:p>
            <a:r>
              <a:rPr lang="en-GB" dirty="0"/>
              <a:t>Source: Journal, 18 April 2026 — Professional Insights: Leadership</a:t>
            </a:r>
          </a:p>
          <a:p>
            <a:endParaRPr lang="en-ZA" b="1" dirty="0"/>
          </a:p>
          <a:p>
            <a:r>
              <a:rPr lang="en-ZA" b="1" dirty="0"/>
              <a:t>The challenge is not that people see different parts of the elephant. The challenge is whether those different perspectives can be brought together to understand the whole.</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2.4 · THE COGNITIVE BIAS FAMILY</a:t>
            </a:r>
          </a:p>
          <a:p>
            <a:r>
              <a:rPr lang="en-ZA" b="1" dirty="0"/>
              <a:t>20 Biases Across 4 Families</a:t>
            </a:r>
          </a:p>
          <a:p>
            <a:endParaRPr lang="en-ZA" b="1" dirty="0"/>
          </a:p>
          <a:p>
            <a:r>
              <a:rPr lang="en-ZA" b="1" dirty="0"/>
              <a:t>Facilitator opening</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strategic message passes through two human filters: **the mind—cognition—and the heart—emotion.**</a:t>
            </a:r>
          </a:p>
          <a:p>
            <a:endParaRPr lang="en-ZA" b="1" dirty="0"/>
          </a:p>
          <a:p>
            <a:r>
              <a:rPr lang="en-ZA" dirty="0"/>
              <a:t>We have just seen that people can engage the same strategic task and think about it differently.</a:t>
            </a:r>
          </a:p>
          <a:p>
            <a:r>
              <a:rPr lang="en-ZA" dirty="0"/>
              <a:t>Our roles and experience can explain some of that difference.</a:t>
            </a:r>
          </a:p>
          <a:p>
            <a:r>
              <a:rPr lang="en-ZA" dirty="0"/>
              <a:t>But there is another layer.</a:t>
            </a:r>
          </a:p>
          <a:p>
            <a:r>
              <a:rPr lang="en-ZA" dirty="0"/>
              <a:t>Sometimes the difference is not simply </a:t>
            </a:r>
            <a:r>
              <a:rPr lang="en-ZA" b="1" dirty="0"/>
              <a:t>what we know or where we sit</a:t>
            </a:r>
            <a:r>
              <a:rPr lang="en-ZA" dirty="0"/>
              <a:t>. </a:t>
            </a:r>
          </a:p>
          <a:p>
            <a:r>
              <a:rPr lang="en-ZA" dirty="0"/>
              <a:t>It is the predictable ways in which human judgement can become distorted.</a:t>
            </a:r>
          </a:p>
          <a:p>
            <a:endParaRPr lang="en-ZA" dirty="0"/>
          </a:p>
          <a:p>
            <a:r>
              <a:rPr lang="en-ZA" dirty="0"/>
              <a:t>These are what we call </a:t>
            </a:r>
            <a:r>
              <a:rPr lang="en-ZA" b="1" dirty="0"/>
              <a:t>cognitive biases</a:t>
            </a:r>
            <a:r>
              <a:rPr lang="en-ZA" dirty="0"/>
              <a:t>.</a:t>
            </a:r>
          </a:p>
          <a:p>
            <a:r>
              <a:rPr lang="en-ZA" dirty="0"/>
              <a:t>A cognitive bias is not simply a mistake or poor judgement.</a:t>
            </a:r>
          </a:p>
          <a:p>
            <a:r>
              <a:rPr lang="en-ZA" dirty="0"/>
              <a:t>It is a </a:t>
            </a:r>
            <a:r>
              <a:rPr lang="en-ZA" b="1" dirty="0"/>
              <a:t>pattern in our thinking that can systematically influence how we interpret information, make judgements and arrive at decisions.</a:t>
            </a:r>
            <a:endParaRPr lang="en-ZA" dirty="0"/>
          </a:p>
          <a:p>
            <a:endParaRPr lang="en-ZA" dirty="0"/>
          </a:p>
          <a:p>
            <a:r>
              <a:rPr lang="en-ZA" dirty="0"/>
              <a:t>And importantly, we all have them.</a:t>
            </a:r>
          </a:p>
          <a:p>
            <a:r>
              <a:rPr lang="en-ZA" dirty="0"/>
              <a:t>The challenge is that we are often much better at recognising bias in </a:t>
            </a:r>
            <a:r>
              <a:rPr lang="en-ZA" b="1" dirty="0"/>
              <a:t>someone else's thinking</a:t>
            </a:r>
            <a:r>
              <a:rPr lang="en-ZA" dirty="0"/>
              <a:t> than in our own.</a:t>
            </a:r>
          </a:p>
          <a:p>
            <a:br>
              <a:rPr lang="en-ZA" dirty="0"/>
            </a:br>
            <a:r>
              <a:rPr lang="en-ZA" b="1" dirty="0"/>
              <a:t>The biases we will examine help us understand the mind:</a:t>
            </a:r>
            <a:r>
              <a:rPr lang="en-ZA" dirty="0"/>
              <a:t> how human judgement can distort what we notice, interpret, assume and decide.</a:t>
            </a:r>
          </a:p>
          <a:p>
            <a:endParaRPr lang="en-ZA" dirty="0"/>
          </a:p>
          <a:p>
            <a:r>
              <a:rPr lang="en-ZA" b="1" dirty="0"/>
              <a:t>WHY BIAS MATTERS IN STRATEGY</a:t>
            </a:r>
          </a:p>
          <a:p>
            <a:r>
              <a:rPr lang="en-ZA" dirty="0"/>
              <a:t>Remember System 1.</a:t>
            </a:r>
          </a:p>
          <a:p>
            <a:r>
              <a:rPr lang="en-ZA" dirty="0"/>
              <a:t>Our minds are constantly helping us make sense of complexity quickly. </a:t>
            </a:r>
          </a:p>
          <a:p>
            <a:r>
              <a:rPr lang="en-ZA" dirty="0"/>
              <a:t>We use experience, patterns and mental shortcuts so that we do not have to analyse everything from the beginning every time.</a:t>
            </a:r>
          </a:p>
          <a:p>
            <a:r>
              <a:rPr lang="en-ZA" dirty="0"/>
              <a:t>Most of the time, that is useful.</a:t>
            </a:r>
          </a:p>
          <a:p>
            <a:endParaRPr lang="en-ZA" dirty="0"/>
          </a:p>
          <a:p>
            <a:r>
              <a:rPr lang="en-ZA" dirty="0"/>
              <a:t>But those same shortcuts can sometimes pull our judgement in a particular direction without us realising it.</a:t>
            </a:r>
          </a:p>
          <a:p>
            <a:r>
              <a:rPr lang="en-ZA" dirty="0"/>
              <a:t>That matters in strategy because the distortion can influence </a:t>
            </a:r>
            <a:r>
              <a:rPr lang="en-ZA" b="1" dirty="0"/>
              <a:t>what we believe, what we decide and what we commit to doing.</a:t>
            </a:r>
            <a:endParaRPr lang="en-ZA" dirty="0"/>
          </a:p>
          <a:p>
            <a:endParaRPr lang="en-ZA" dirty="0"/>
          </a:p>
          <a:p>
            <a:r>
              <a:rPr lang="en-ZA" dirty="0"/>
              <a:t>So the question is </a:t>
            </a:r>
            <a:r>
              <a:rPr lang="en-ZA" b="1" dirty="0"/>
              <a:t>“Which biases might be influencing our thinking here?”</a:t>
            </a:r>
            <a:endParaRPr lang="en-ZA" dirty="0"/>
          </a:p>
          <a:p>
            <a:br>
              <a:rPr lang="en-ZA" dirty="0"/>
            </a:br>
            <a:endParaRPr lang="en-ZA" dirty="0"/>
          </a:p>
          <a:p>
            <a:r>
              <a:rPr lang="en-ZA" b="1" dirty="0"/>
              <a:t>THE FOUR FAMILIES</a:t>
            </a:r>
          </a:p>
          <a:p>
            <a:r>
              <a:rPr lang="en-ZA" dirty="0"/>
              <a:t>There are many documented cognitive biases.</a:t>
            </a:r>
          </a:p>
          <a:p>
            <a:r>
              <a:rPr lang="en-ZA" dirty="0"/>
              <a:t>For this programme, we are going to work with the </a:t>
            </a:r>
            <a:r>
              <a:rPr lang="en-ZA" b="1" dirty="0"/>
              <a:t>20 biases grouped into four families</a:t>
            </a:r>
            <a:r>
              <a:rPr lang="en-ZA" dirty="0"/>
              <a:t> so that we can recognise them more easily in strategic situations.</a:t>
            </a:r>
          </a:p>
          <a:p>
            <a:r>
              <a:rPr lang="en-ZA" dirty="0"/>
              <a:t>Each family represents a different way our judgement can be pulled away from a more considered assessment.</a:t>
            </a:r>
          </a:p>
          <a:p>
            <a:r>
              <a:rPr lang="en-ZA" dirty="0"/>
              <a:t>For now, I want you to explore them. There is no need to memorise them.</a:t>
            </a:r>
          </a:p>
          <a:p>
            <a:br>
              <a:rPr lang="en-ZA" dirty="0"/>
            </a:br>
            <a:endParaRPr lang="en-ZA" dirty="0"/>
          </a:p>
          <a:p>
            <a:r>
              <a:rPr lang="en-ZA" b="1" dirty="0"/>
              <a:t>1. ACTION-ORIENTED BIASES</a:t>
            </a:r>
          </a:p>
          <a:p>
            <a:r>
              <a:rPr lang="en-ZA" b="1" dirty="0"/>
              <a:t>The pull towards acting, committing or moving ahead.</a:t>
            </a:r>
            <a:endParaRPr lang="en-ZA" dirty="0"/>
          </a:p>
          <a:p>
            <a:r>
              <a:rPr lang="en-ZA" dirty="0"/>
              <a:t>These biases can influence how confident we feel about what we know, how positively we see the future, how much control we believe we have, and how quickly we commit to action.</a:t>
            </a:r>
          </a:p>
          <a:p>
            <a:r>
              <a:rPr lang="en-ZA" dirty="0"/>
              <a:t>They include:</a:t>
            </a:r>
          </a:p>
          <a:p>
            <a:r>
              <a:rPr lang="en-ZA" b="1" dirty="0"/>
              <a:t>Overconfidence · Optimism · Illusion of Control · Planning Fallacy · Confirmation</a:t>
            </a:r>
            <a:endParaRPr lang="en-ZA" dirty="0"/>
          </a:p>
          <a:p>
            <a:r>
              <a:rPr lang="en-ZA" dirty="0"/>
              <a:t>The strategic question to hold is:</a:t>
            </a:r>
          </a:p>
          <a:p>
            <a:r>
              <a:rPr lang="en-ZA" b="1" dirty="0"/>
              <a:t>“What might be causing us to move with greater confidence or certainty than the situation warrants?”</a:t>
            </a:r>
          </a:p>
          <a:p>
            <a:endParaRPr lang="en-ZA" b="1" dirty="0"/>
          </a:p>
          <a:p>
            <a:r>
              <a:rPr lang="en-ZA" b="1" dirty="0"/>
              <a:t>CASE 1 · STEINHOFF</a:t>
            </a:r>
          </a:p>
          <a:p>
            <a:r>
              <a:rPr lang="en-ZA" dirty="0"/>
              <a:t>For years, Steinhoff was celebrated for rapid growth and international expansion. Acquisition followed acquisition, and the organisation grew into a multinational retail group. In 2017, accounting irregularities came to light, triggering a dramatic collapse in market value and exposing significant governance failures.</a:t>
            </a:r>
          </a:p>
          <a:p>
            <a:endParaRPr lang="en-ZA" b="1" dirty="0"/>
          </a:p>
          <a:p>
            <a:r>
              <a:rPr lang="en-ZA" b="1" dirty="0"/>
              <a:t>Ask the group:</a:t>
            </a:r>
            <a:endParaRPr lang="en-ZA" dirty="0"/>
          </a:p>
          <a:p>
            <a:r>
              <a:rPr lang="en-ZA" b="1" dirty="0"/>
              <a:t>“If we looked at this as a case in point, which bias or biases might have been at play?”</a:t>
            </a:r>
            <a:endParaRPr lang="en-ZA" dirty="0"/>
          </a:p>
          <a:p>
            <a:r>
              <a:rPr lang="en-ZA" dirty="0"/>
              <a:t>Allow participants to identify possibilities before discussing them.</a:t>
            </a:r>
          </a:p>
          <a:p>
            <a:endParaRPr lang="en-ZA" b="1" dirty="0"/>
          </a:p>
          <a:p>
            <a:r>
              <a:rPr lang="en-ZA" b="1" dirty="0"/>
              <a:t>Facilitator reflection:</a:t>
            </a:r>
            <a:endParaRPr lang="en-ZA" dirty="0"/>
          </a:p>
          <a:p>
            <a:r>
              <a:rPr lang="en-ZA" dirty="0"/>
              <a:t>Listen for </a:t>
            </a:r>
            <a:r>
              <a:rPr lang="en-ZA" b="1" dirty="0"/>
              <a:t>overconfidence, optimism, illusion of control and confirmation bias</a:t>
            </a:r>
            <a:r>
              <a:rPr lang="en-ZA" dirty="0"/>
              <a:t>.</a:t>
            </a:r>
          </a:p>
          <a:p>
            <a:r>
              <a:rPr lang="en-ZA" dirty="0"/>
              <a:t>Repeated success can strengthen confidence in the organisation's judgement and ability to manage increasing complexity. As confidence grows, assumptions may receive less challenge and warning signals may carry less weight.</a:t>
            </a:r>
          </a:p>
          <a:p>
            <a:endParaRPr lang="en-ZA" b="1" dirty="0"/>
          </a:p>
          <a:p>
            <a:endParaRPr lang="en-ZA" b="1" dirty="0"/>
          </a:p>
          <a:p>
            <a:r>
              <a:rPr lang="en-ZA" b="1" dirty="0"/>
              <a:t>CONNECT IT TO THE FAMILY</a:t>
            </a:r>
            <a:endParaRPr lang="en-ZA" dirty="0"/>
          </a:p>
          <a:p>
            <a:r>
              <a:rPr lang="en-ZA" b="1" dirty="0"/>
              <a:t>Overconfidence:</a:t>
            </a:r>
            <a:r>
              <a:rPr lang="en-ZA" dirty="0"/>
              <a:t> </a:t>
            </a:r>
            <a:r>
              <a:rPr lang="en-ZA" i="1" dirty="0"/>
              <a:t>Has repeated success increased our confidence in our own judgement beyond what the evidence supports?</a:t>
            </a:r>
            <a:endParaRPr lang="en-ZA" dirty="0"/>
          </a:p>
          <a:p>
            <a:r>
              <a:rPr lang="en-ZA" b="1" dirty="0"/>
              <a:t>Optimism:</a:t>
            </a:r>
            <a:r>
              <a:rPr lang="en-ZA" dirty="0"/>
              <a:t> </a:t>
            </a:r>
            <a:r>
              <a:rPr lang="en-ZA" i="1" dirty="0"/>
              <a:t>Are we placing greater weight on how well this could go than on what could go wrong?</a:t>
            </a:r>
            <a:endParaRPr lang="en-ZA" dirty="0"/>
          </a:p>
          <a:p>
            <a:r>
              <a:rPr lang="en-ZA" b="1" dirty="0"/>
              <a:t>Illusion of Control:</a:t>
            </a:r>
            <a:r>
              <a:rPr lang="en-ZA" dirty="0"/>
              <a:t> </a:t>
            </a:r>
            <a:r>
              <a:rPr lang="en-ZA" i="1" dirty="0"/>
              <a:t>Are we assuming we can manage complexities and outcomes that may sit beyond our control?</a:t>
            </a:r>
            <a:endParaRPr lang="en-ZA" dirty="0"/>
          </a:p>
          <a:p>
            <a:r>
              <a:rPr lang="en-ZA" b="1" dirty="0"/>
              <a:t>Planning Fallacy:</a:t>
            </a:r>
            <a:r>
              <a:rPr lang="en-ZA" dirty="0"/>
              <a:t> </a:t>
            </a:r>
            <a:r>
              <a:rPr lang="en-ZA" i="1" dirty="0"/>
              <a:t>Are we underestimating the time, resources and complexity required to deliver what we have committed to?</a:t>
            </a:r>
            <a:endParaRPr lang="en-ZA" dirty="0"/>
          </a:p>
          <a:p>
            <a:r>
              <a:rPr lang="en-ZA" b="1" dirty="0"/>
              <a:t>Confirmation:</a:t>
            </a:r>
            <a:r>
              <a:rPr lang="en-ZA" dirty="0"/>
              <a:t> </a:t>
            </a:r>
            <a:r>
              <a:rPr lang="en-ZA" i="1" dirty="0"/>
              <a:t>Once we have committed to a direction, are we paying more attention to evidence that supports it than evidence that challenges it?</a:t>
            </a:r>
            <a:endParaRPr lang="en-ZA" dirty="0"/>
          </a:p>
          <a:p>
            <a:endParaRPr lang="en-GB" dirty="0"/>
          </a:p>
          <a:p>
            <a:r>
              <a:rPr lang="en-GB" dirty="0"/>
              <a:t>Committing before counting the cost.</a:t>
            </a:r>
          </a:p>
          <a:p>
            <a:r>
              <a:rPr lang="en-GB" dirty="0"/>
              <a:t>The leader who promises the board a delivery date in the heat of the meeting, or announces a pricing change before the commercial modelling is done, shows the planning fallacy at work. One discipline: no public commitment to a number, date or outcome above an agreed threshold without a 24-hour pause.</a:t>
            </a:r>
          </a:p>
          <a:p>
            <a:r>
              <a:rPr lang="en-GB" dirty="0"/>
              <a:t>Source: Journal, 22 April 2026 — Professional Insights: Leadership</a:t>
            </a:r>
          </a:p>
          <a:p>
            <a:endParaRPr lang="en-ZA" b="1" dirty="0"/>
          </a:p>
          <a:p>
            <a:r>
              <a:rPr lang="en-ZA" b="1" dirty="0"/>
              <a:t>Facilitator reflection</a:t>
            </a:r>
            <a:endParaRPr lang="en-ZA" dirty="0"/>
          </a:p>
          <a:p>
            <a:r>
              <a:rPr lang="en-ZA" dirty="0"/>
              <a:t>Notice how these biases can reinforce one another.</a:t>
            </a:r>
          </a:p>
          <a:p>
            <a:r>
              <a:rPr lang="en-ZA" dirty="0"/>
              <a:t>Success can increase confidence. </a:t>
            </a:r>
          </a:p>
          <a:p>
            <a:r>
              <a:rPr lang="en-ZA" dirty="0"/>
              <a:t>Confidence can strengthen optimism. </a:t>
            </a:r>
          </a:p>
          <a:p>
            <a:r>
              <a:rPr lang="en-ZA" dirty="0"/>
              <a:t>Optimism can make ambitious plans appear more achievable. </a:t>
            </a:r>
          </a:p>
          <a:p>
            <a:r>
              <a:rPr lang="en-ZA" dirty="0"/>
              <a:t>Once we have committed, confirmation bias can make contradictory evidence easier to explain away.</a:t>
            </a:r>
          </a:p>
          <a:p>
            <a:endParaRPr lang="en-ZA" b="1" dirty="0"/>
          </a:p>
          <a:p>
            <a:r>
              <a:rPr lang="en-ZA" b="1" dirty="0"/>
              <a:t>The behavioural lesson:</a:t>
            </a:r>
            <a:endParaRPr lang="en-ZA" dirty="0"/>
          </a:p>
          <a:p>
            <a:r>
              <a:rPr lang="en-ZA" b="1" dirty="0"/>
              <a:t>Success can become part of the conditions that make overconfidence possible.</a:t>
            </a:r>
          </a:p>
          <a:p>
            <a:endParaRPr lang="en-GB" dirty="0"/>
          </a:p>
          <a:p>
            <a:r>
              <a:rPr lang="en-GB" dirty="0"/>
              <a:t>Overconfidence after a win.</a:t>
            </a:r>
          </a:p>
          <a:p>
            <a:r>
              <a:rPr lang="en-GB" dirty="0"/>
              <a:t>Overconfidence after a significant victory is one of the most dangerous leadership conditions. Build a habit of consultation that holds regardless of how strong the last result felt.</a:t>
            </a:r>
          </a:p>
          <a:p>
            <a:r>
              <a:rPr lang="en-GB" dirty="0"/>
              <a:t>Source: Journal, 6 April 2026 — Professional Insights: Leadership</a:t>
            </a:r>
          </a:p>
          <a:p>
            <a:endParaRPr lang="en-ZA" b="1" dirty="0"/>
          </a:p>
          <a:p>
            <a:r>
              <a:rPr lang="en-ZA" b="1" dirty="0"/>
              <a:t>2. STABILITY BIASES</a:t>
            </a:r>
          </a:p>
          <a:p>
            <a:r>
              <a:rPr lang="en-ZA" b="1" dirty="0"/>
              <a:t>The pull towards protecting, preserving or staying with what we already know.</a:t>
            </a:r>
            <a:endParaRPr lang="en-ZA" dirty="0"/>
          </a:p>
          <a:p>
            <a:r>
              <a:rPr lang="en-ZA" dirty="0"/>
              <a:t>These biases can influence how strongly we hold onto existing assumptions, investments, arrangements and positions—even as circumstances change.</a:t>
            </a:r>
          </a:p>
          <a:p>
            <a:r>
              <a:rPr lang="en-ZA" dirty="0"/>
              <a:t>They include:</a:t>
            </a:r>
          </a:p>
          <a:p>
            <a:r>
              <a:rPr lang="en-ZA" b="1" dirty="0"/>
              <a:t>Anchoring · Status Quo · Loss Aversion · Sunk-Cost · Endowment</a:t>
            </a:r>
            <a:endParaRPr lang="en-ZA" dirty="0"/>
          </a:p>
          <a:p>
            <a:r>
              <a:rPr lang="en-ZA" dirty="0"/>
              <a:t>The strategic question is:</a:t>
            </a:r>
          </a:p>
          <a:p>
            <a:r>
              <a:rPr lang="en-ZA" b="1" dirty="0"/>
              <a:t>“What might we be holding onto simply because it is familiar, established or already ours?”</a:t>
            </a:r>
            <a:endParaRPr lang="en-ZA" dirty="0"/>
          </a:p>
          <a:p>
            <a:endParaRPr lang="en-ZA" dirty="0"/>
          </a:p>
          <a:p>
            <a:endParaRPr lang="en-ZA" dirty="0"/>
          </a:p>
          <a:p>
            <a:r>
              <a:rPr lang="en-ZA" b="1" dirty="0"/>
              <a:t>CASE · KODAK </a:t>
            </a:r>
          </a:p>
          <a:p>
            <a:r>
              <a:rPr lang="en-ZA" dirty="0"/>
              <a:t>For much of the 20th century, </a:t>
            </a:r>
            <a:r>
              <a:rPr lang="en-ZA" b="1" dirty="0"/>
              <a:t>Kodak dominated the photography industry</a:t>
            </a:r>
            <a:r>
              <a:rPr lang="en-ZA" dirty="0"/>
              <a:t>. </a:t>
            </a:r>
          </a:p>
          <a:p>
            <a:r>
              <a:rPr lang="en-ZA" dirty="0"/>
              <a:t>Its film-based business was highly profitable, and the company had built enormous capability, infrastructure and brand strength around it.</a:t>
            </a:r>
          </a:p>
          <a:p>
            <a:r>
              <a:rPr lang="en-ZA" dirty="0"/>
              <a:t>In 1975, a Kodak engineer developed one of the world's first digital cameras. Kodak therefore had early visibility of the technology that would eventually transform photography.</a:t>
            </a:r>
          </a:p>
          <a:p>
            <a:r>
              <a:rPr lang="en-ZA" dirty="0"/>
              <a:t>But digital photography presented a difficult strategic tension. </a:t>
            </a:r>
          </a:p>
          <a:p>
            <a:r>
              <a:rPr lang="en-ZA" dirty="0"/>
              <a:t>Moving aggressively towards digital meant embracing a technology that threatened the highly profitable film business on which Kodak's existing success was built.</a:t>
            </a:r>
          </a:p>
          <a:p>
            <a:r>
              <a:rPr lang="en-ZA" dirty="0"/>
              <a:t>As consumers increasingly moved towards digital photography, Kodak struggled to adapt its business model quickly enough. The company eventually filed for Chapter 11 bankruptcy protection in 2012.</a:t>
            </a:r>
          </a:p>
          <a:p>
            <a:endParaRPr lang="en-ZA" b="1" dirty="0"/>
          </a:p>
          <a:p>
            <a:r>
              <a:rPr lang="en-ZA" b="1" dirty="0"/>
              <a:t>Ask the group</a:t>
            </a:r>
          </a:p>
          <a:p>
            <a:r>
              <a:rPr lang="en-ZA" b="1" dirty="0"/>
              <a:t>“If this were a case in point, which biases might have been at play?”</a:t>
            </a:r>
            <a:endParaRPr lang="en-ZA" dirty="0"/>
          </a:p>
          <a:p>
            <a:r>
              <a:rPr lang="en-ZA" dirty="0"/>
              <a:t>Allow participants to diagnose the case before offering your reflection.</a:t>
            </a:r>
          </a:p>
          <a:p>
            <a:endParaRPr lang="en-ZA" b="1" dirty="0"/>
          </a:p>
          <a:p>
            <a:r>
              <a:rPr lang="en-ZA" b="1" dirty="0"/>
              <a:t>Facilitator reflection</a:t>
            </a:r>
          </a:p>
          <a:p>
            <a:r>
              <a:rPr lang="en-ZA" dirty="0"/>
              <a:t>Listen for </a:t>
            </a:r>
            <a:r>
              <a:rPr lang="en-ZA" b="1" dirty="0"/>
              <a:t>status quo bias, loss aversion, anchoring and the endowment effect.</a:t>
            </a:r>
            <a:endParaRPr lang="en-ZA" dirty="0"/>
          </a:p>
          <a:p>
            <a:r>
              <a:rPr lang="en-ZA" dirty="0"/>
              <a:t>Kodak's challenge was not simply that it failed to see digital technology coming. </a:t>
            </a:r>
            <a:r>
              <a:rPr lang="en-ZA" b="1" dirty="0"/>
              <a:t>It had participated in its development.</a:t>
            </a:r>
            <a:endParaRPr lang="en-ZA" dirty="0"/>
          </a:p>
          <a:p>
            <a:endParaRPr lang="en-ZA" dirty="0"/>
          </a:p>
          <a:p>
            <a:r>
              <a:rPr lang="en-ZA" dirty="0"/>
              <a:t>The deeper strategic challenge was what embracing digital required Kodak to reconsider: a successful existing business, established capabilities, investments and an economic model that had served the organisation extremely well.</a:t>
            </a:r>
          </a:p>
          <a:p>
            <a:endParaRPr lang="en-ZA" dirty="0"/>
          </a:p>
          <a:p>
            <a:r>
              <a:rPr lang="en-ZA" dirty="0"/>
              <a:t>This is where stability biases become powerful. </a:t>
            </a:r>
            <a:r>
              <a:rPr lang="en-ZA" b="1" dirty="0"/>
              <a:t>What already exists can become the reference point from which the future is judged. What has created value can become difficult to disrupt. And what we already own can appear more valuable because it is ours.</a:t>
            </a:r>
            <a:endParaRPr lang="en-ZA" dirty="0"/>
          </a:p>
          <a:p>
            <a:endParaRPr lang="en-ZA" b="1" dirty="0"/>
          </a:p>
          <a:p>
            <a:r>
              <a:rPr lang="en-ZA" b="1" dirty="0"/>
              <a:t>CONNECT IT TO THE FAMILY</a:t>
            </a:r>
            <a:endParaRPr lang="en-ZA" dirty="0"/>
          </a:p>
          <a:p>
            <a:r>
              <a:rPr lang="en-ZA" b="1" dirty="0"/>
              <a:t>Anchoring:</a:t>
            </a:r>
            <a:r>
              <a:rPr lang="en-ZA" dirty="0"/>
              <a:t> </a:t>
            </a:r>
            <a:r>
              <a:rPr lang="en-ZA" i="1" dirty="0"/>
              <a:t>Are we judging the future using assumptions formed when our existing business model was still dominant?</a:t>
            </a:r>
            <a:endParaRPr lang="en-ZA" dirty="0"/>
          </a:p>
          <a:p>
            <a:r>
              <a:rPr lang="en-ZA" b="1" dirty="0"/>
              <a:t>Status Quo:</a:t>
            </a:r>
            <a:r>
              <a:rPr lang="en-ZA" dirty="0"/>
              <a:t> </a:t>
            </a:r>
            <a:r>
              <a:rPr lang="en-ZA" i="1" dirty="0"/>
              <a:t>Does staying with what we know feel safer than fundamentally changing how we create value?</a:t>
            </a:r>
            <a:endParaRPr lang="en-ZA" dirty="0"/>
          </a:p>
          <a:p>
            <a:r>
              <a:rPr lang="en-ZA" b="1" dirty="0"/>
              <a:t>Loss Aversion:</a:t>
            </a:r>
            <a:r>
              <a:rPr lang="en-ZA" dirty="0"/>
              <a:t> </a:t>
            </a:r>
            <a:r>
              <a:rPr lang="en-ZA" i="1" dirty="0"/>
              <a:t>Are we more concerned about losing the value of our existing business than capturing the value of the emerging opportunity?</a:t>
            </a:r>
            <a:endParaRPr lang="en-ZA" dirty="0"/>
          </a:p>
          <a:p>
            <a:r>
              <a:rPr lang="en-ZA" b="1" dirty="0"/>
              <a:t>Sunk Cost:</a:t>
            </a:r>
            <a:r>
              <a:rPr lang="en-ZA" dirty="0"/>
              <a:t> </a:t>
            </a:r>
            <a:r>
              <a:rPr lang="en-ZA" i="1" dirty="0"/>
              <a:t>Are previous investments influencing our willingness to redirect resources, even when circumstances have changed?</a:t>
            </a:r>
            <a:endParaRPr lang="en-ZA" dirty="0"/>
          </a:p>
          <a:p>
            <a:r>
              <a:rPr lang="en-ZA" b="1" dirty="0"/>
              <a:t>Endowment Effect:</a:t>
            </a:r>
            <a:r>
              <a:rPr lang="en-ZA" dirty="0"/>
              <a:t> </a:t>
            </a:r>
            <a:r>
              <a:rPr lang="en-ZA" i="1" dirty="0"/>
              <a:t>Are we placing greater value on our existing capabilities, assets and business model because they belong to us?</a:t>
            </a:r>
            <a:endParaRPr lang="en-ZA" dirty="0"/>
          </a:p>
          <a:p>
            <a:endParaRPr lang="en-ZA" b="1" dirty="0"/>
          </a:p>
          <a:p>
            <a:r>
              <a:rPr lang="en-ZA" b="1" dirty="0"/>
              <a:t>Facilitator reflection</a:t>
            </a:r>
            <a:endParaRPr lang="en-ZA" dirty="0"/>
          </a:p>
          <a:p>
            <a:r>
              <a:rPr lang="en-ZA" b="1" dirty="0"/>
              <a:t>Notice how these biases can reinforce one another.</a:t>
            </a:r>
            <a:endParaRPr lang="en-ZA" dirty="0"/>
          </a:p>
          <a:p>
            <a:r>
              <a:rPr lang="en-ZA" dirty="0"/>
              <a:t>Past success can </a:t>
            </a:r>
            <a:r>
              <a:rPr lang="en-ZA" b="1" dirty="0"/>
              <a:t>anchor</a:t>
            </a:r>
            <a:r>
              <a:rPr lang="en-ZA" dirty="0"/>
              <a:t> our expectations around the existing business.</a:t>
            </a:r>
          </a:p>
          <a:p>
            <a:r>
              <a:rPr lang="en-ZA" dirty="0"/>
              <a:t>That anchor can make the </a:t>
            </a:r>
            <a:r>
              <a:rPr lang="en-ZA" b="1" dirty="0"/>
              <a:t>status quo</a:t>
            </a:r>
            <a:r>
              <a:rPr lang="en-ZA" dirty="0"/>
              <a:t> feel familiar, proven and therefore safer.</a:t>
            </a:r>
          </a:p>
          <a:p>
            <a:r>
              <a:rPr lang="en-ZA" dirty="0"/>
              <a:t>The prospect of disrupting what already works can activate </a:t>
            </a:r>
            <a:r>
              <a:rPr lang="en-ZA" b="1" dirty="0"/>
              <a:t>loss aversion</a:t>
            </a:r>
            <a:r>
              <a:rPr lang="en-ZA" dirty="0"/>
              <a:t>.</a:t>
            </a:r>
          </a:p>
          <a:p>
            <a:r>
              <a:rPr lang="en-ZA" dirty="0"/>
              <a:t>The more we have already invested, the stronger the pull of </a:t>
            </a:r>
            <a:r>
              <a:rPr lang="en-ZA" b="1" dirty="0"/>
              <a:t>sunk cost</a:t>
            </a:r>
            <a:r>
              <a:rPr lang="en-ZA" dirty="0"/>
              <a:t> can become.</a:t>
            </a:r>
          </a:p>
          <a:p>
            <a:r>
              <a:rPr lang="en-ZA" dirty="0"/>
              <a:t>And because the capabilities, assets and business are already ours, the </a:t>
            </a:r>
            <a:r>
              <a:rPr lang="en-ZA" b="1" dirty="0"/>
              <a:t>endowment effect</a:t>
            </a:r>
            <a:r>
              <a:rPr lang="en-ZA" dirty="0"/>
              <a:t> can make them appear more valuable and more difficult to relinquish.</a:t>
            </a:r>
          </a:p>
          <a:p>
            <a:endParaRPr lang="en-ZA" b="1" dirty="0"/>
          </a:p>
          <a:p>
            <a:r>
              <a:rPr lang="en-ZA" b="1" dirty="0"/>
              <a:t>The result: the more we have built around the past, the harder it can become to move towards the future.</a:t>
            </a:r>
            <a:endParaRPr lang="en-ZA" dirty="0"/>
          </a:p>
          <a:p>
            <a:endParaRPr lang="en-GB" dirty="0"/>
          </a:p>
          <a:p>
            <a:r>
              <a:rPr lang="en-GB" dirty="0"/>
              <a:t>Previous success and present discernment.</a:t>
            </a:r>
          </a:p>
          <a:p>
            <a:r>
              <a:rPr lang="en-GB" dirty="0"/>
              <a:t>Past evidence matters, yet it cannot substitute for present discernment. Organisations need institutional memory without becoming prisoners of historical formulas. What worked before is one input to present thinking.</a:t>
            </a:r>
          </a:p>
          <a:p>
            <a:r>
              <a:rPr lang="en-GB" dirty="0"/>
              <a:t>Source: Journal, 28 September 2026 — Professional Insights: Strategy</a:t>
            </a:r>
          </a:p>
          <a:p>
            <a:endParaRPr lang="en-ZA" b="1" dirty="0"/>
          </a:p>
          <a:p>
            <a:r>
              <a:rPr lang="en-ZA" b="1" dirty="0"/>
              <a:t>Land the insight</a:t>
            </a:r>
          </a:p>
          <a:p>
            <a:r>
              <a:rPr lang="en-ZA" b="1" dirty="0"/>
              <a:t>Sometimes the greatest difficulty in responding to the future is letting go of what made us successful in the past.</a:t>
            </a:r>
          </a:p>
          <a:p>
            <a:r>
              <a:rPr lang="en-ZA" b="1" dirty="0"/>
              <a:t>“What are we protecting today because it has worked for us before?”</a:t>
            </a:r>
            <a:endParaRPr lang="en-ZA" dirty="0"/>
          </a:p>
          <a:p>
            <a:br>
              <a:rPr lang="en-ZA" dirty="0"/>
            </a:br>
            <a:endParaRPr lang="en-ZA" dirty="0"/>
          </a:p>
          <a:p>
            <a:r>
              <a:rPr lang="en-ZA" b="1" dirty="0"/>
              <a:t>3. INTEREST BIASES</a:t>
            </a:r>
          </a:p>
          <a:p>
            <a:r>
              <a:rPr lang="en-ZA" b="1" dirty="0"/>
              <a:t>The pull of our own position, interests and perspective.</a:t>
            </a:r>
            <a:endParaRPr lang="en-ZA" dirty="0"/>
          </a:p>
          <a:p>
            <a:r>
              <a:rPr lang="en-ZA" dirty="0"/>
              <a:t>Our responsibilities, incentives, expertise and personal exposure can influence what we believe is best for the organisation.</a:t>
            </a:r>
          </a:p>
          <a:p>
            <a:r>
              <a:rPr lang="en-ZA" dirty="0"/>
              <a:t>This can happen without deliberate self-interest. </a:t>
            </a:r>
          </a:p>
          <a:p>
            <a:r>
              <a:rPr lang="en-ZA" dirty="0"/>
              <a:t>A leader can genuinely believe they are making the right strategic recommendation while their judgement is being shaped by what they are responsible for, rewarded for, know best or feel exposed by.</a:t>
            </a:r>
          </a:p>
          <a:p>
            <a:endParaRPr lang="en-ZA" dirty="0"/>
          </a:p>
          <a:p>
            <a:r>
              <a:rPr lang="en-ZA" dirty="0"/>
              <a:t>They include:</a:t>
            </a:r>
          </a:p>
          <a:p>
            <a:r>
              <a:rPr lang="en-ZA" b="1" dirty="0"/>
              <a:t>Self-Interest · Silo · Incentive · Career-Risk · Perspective</a:t>
            </a:r>
            <a:endParaRPr lang="en-ZA" dirty="0"/>
          </a:p>
          <a:p>
            <a:r>
              <a:rPr lang="en-ZA" dirty="0"/>
              <a:t>The strategic question is:</a:t>
            </a:r>
          </a:p>
          <a:p>
            <a:r>
              <a:rPr lang="en-ZA" b="1" dirty="0"/>
              <a:t>“How might where I sit, what I know, what I am responsible for or what I stand to gain or lose be shaping my judgement?”</a:t>
            </a:r>
            <a:endParaRPr lang="en-ZA" dirty="0"/>
          </a:p>
          <a:p>
            <a:r>
              <a:rPr lang="en-ZA" dirty="0"/>
              <a:t>This connects directly back to the </a:t>
            </a:r>
            <a:r>
              <a:rPr lang="en-ZA" b="1" dirty="0"/>
              <a:t>Elephant Perspective</a:t>
            </a:r>
            <a:r>
              <a:rPr lang="en-ZA" dirty="0"/>
              <a:t>. </a:t>
            </a:r>
          </a:p>
          <a:p>
            <a:r>
              <a:rPr lang="en-ZA" dirty="0"/>
              <a:t>The part of the elephant we touch can influence what we believe the whole organisation needs.</a:t>
            </a:r>
          </a:p>
          <a:p>
            <a:br>
              <a:rPr lang="en-ZA" dirty="0"/>
            </a:br>
            <a:r>
              <a:rPr lang="en-ZA" b="1" dirty="0"/>
              <a:t>CASE · SAFARICOM — THE MOVE INTO M-PESA</a:t>
            </a:r>
          </a:p>
          <a:p>
            <a:r>
              <a:rPr lang="en-ZA" dirty="0"/>
              <a:t>When Safaricom was developing M-PESA in Kenya, the idea represented something quite different from the traditional telecommunications business.</a:t>
            </a:r>
          </a:p>
          <a:p>
            <a:r>
              <a:rPr lang="en-ZA" dirty="0"/>
              <a:t>A telecommunications company normally thinks about customers through calls, airtime, network usage and subscriber growth. </a:t>
            </a:r>
          </a:p>
          <a:p>
            <a:r>
              <a:rPr lang="en-ZA" dirty="0"/>
              <a:t>M-PESA required the organisation to think beyond the interests and assumptions of a conventional mobile operator and enter financial services—building an agent network, managing cash, addressing regulation and creating a service for people who often did not have conventional bank accounts.</a:t>
            </a:r>
          </a:p>
          <a:p>
            <a:r>
              <a:rPr lang="en-ZA" dirty="0"/>
              <a:t>Imagine the strategic conversation inside such an organisation.</a:t>
            </a:r>
          </a:p>
          <a:p>
            <a:r>
              <a:rPr lang="en-ZA" dirty="0"/>
              <a:t>The </a:t>
            </a:r>
            <a:r>
              <a:rPr lang="en-ZA" b="1" dirty="0"/>
              <a:t>technology team</a:t>
            </a:r>
            <a:r>
              <a:rPr lang="en-ZA" dirty="0"/>
              <a:t> could see a technology platform.</a:t>
            </a:r>
            <a:br>
              <a:rPr lang="en-ZA" dirty="0"/>
            </a:br>
            <a:r>
              <a:rPr lang="en-ZA" dirty="0"/>
              <a:t>The </a:t>
            </a:r>
            <a:r>
              <a:rPr lang="en-ZA" b="1" dirty="0"/>
              <a:t>commercial team</a:t>
            </a:r>
            <a:r>
              <a:rPr lang="en-ZA" dirty="0"/>
              <a:t> could see subscribers and revenue.</a:t>
            </a:r>
            <a:br>
              <a:rPr lang="en-ZA" dirty="0"/>
            </a:br>
            <a:r>
              <a:rPr lang="en-ZA" dirty="0"/>
              <a:t>The </a:t>
            </a:r>
            <a:r>
              <a:rPr lang="en-ZA" b="1" dirty="0"/>
              <a:t>finance team</a:t>
            </a:r>
            <a:r>
              <a:rPr lang="en-ZA" dirty="0"/>
              <a:t> could see investment and risk.</a:t>
            </a:r>
            <a:br>
              <a:rPr lang="en-ZA" dirty="0"/>
            </a:br>
            <a:r>
              <a:rPr lang="en-ZA" dirty="0"/>
              <a:t>The </a:t>
            </a:r>
            <a:r>
              <a:rPr lang="en-ZA" b="1" dirty="0"/>
              <a:t>regulatory team</a:t>
            </a:r>
            <a:r>
              <a:rPr lang="en-ZA" dirty="0"/>
              <a:t> could see an unfamiliar regulatory environment.</a:t>
            </a:r>
            <a:br>
              <a:rPr lang="en-ZA" dirty="0"/>
            </a:br>
            <a:r>
              <a:rPr lang="en-ZA" dirty="0"/>
              <a:t>The traditional telecommunications business could ask why resources should move towards something outside its established core.</a:t>
            </a:r>
          </a:p>
          <a:p>
            <a:r>
              <a:rPr lang="en-ZA" dirty="0"/>
              <a:t>Yet the opportunity required these interests to be integrated around a larger enterprise opportunity.</a:t>
            </a:r>
          </a:p>
          <a:p>
            <a:endParaRPr lang="en-ZA" b="1" dirty="0"/>
          </a:p>
          <a:p>
            <a:r>
              <a:rPr lang="en-ZA" b="1" dirty="0"/>
              <a:t>Ask the group</a:t>
            </a:r>
          </a:p>
          <a:p>
            <a:r>
              <a:rPr lang="en-ZA" b="1" dirty="0"/>
              <a:t>“If this were a case in point, which Interest Bias could easily have prevented the organisation from seeing the opportunity?”</a:t>
            </a:r>
            <a:endParaRPr lang="en-ZA" dirty="0"/>
          </a:p>
          <a:p>
            <a:endParaRPr lang="en-ZA" dirty="0"/>
          </a:p>
          <a:p>
            <a:r>
              <a:rPr lang="en-ZA" dirty="0"/>
              <a:t>Remember our elephant.</a:t>
            </a:r>
          </a:p>
          <a:p>
            <a:r>
              <a:rPr lang="en-ZA" dirty="0"/>
              <a:t>Each function could have looked at M-PESA and reached a perfectly reasonable conclusion from where it sat.</a:t>
            </a:r>
          </a:p>
          <a:p>
            <a:r>
              <a:rPr lang="en-ZA" dirty="0"/>
              <a:t>The danger would have arisen if any one of those functional perspectives had been allowed to define the opportunity for the whole organisation.</a:t>
            </a:r>
          </a:p>
          <a:p>
            <a:r>
              <a:rPr lang="en-ZA" dirty="0"/>
              <a:t>This is how interest bias can operate without anyone behaving improperly. </a:t>
            </a:r>
          </a:p>
          <a:p>
            <a:r>
              <a:rPr lang="en-ZA" b="1" dirty="0"/>
              <a:t>Our responsibility influences what we pay attention to. What we are measured on influences what we protect. Our expertise influences what we consider possible.</a:t>
            </a:r>
            <a:endParaRPr lang="en-ZA" dirty="0"/>
          </a:p>
          <a:p>
            <a:r>
              <a:rPr lang="en-ZA" dirty="0"/>
              <a:t>Safaricom's opportunity required the organisation to see beyond the interests and boundaries of its traditional telecommunications business.”</a:t>
            </a:r>
          </a:p>
          <a:p>
            <a:endParaRPr lang="en-ZA" b="1" dirty="0"/>
          </a:p>
          <a:p>
            <a:r>
              <a:rPr lang="en-ZA" b="1" dirty="0"/>
              <a:t>CONNECT IT TO THE FAMILY</a:t>
            </a:r>
            <a:endParaRPr lang="en-ZA" dirty="0"/>
          </a:p>
          <a:p>
            <a:r>
              <a:rPr lang="en-ZA" b="1" dirty="0"/>
              <a:t>Self-Interest:</a:t>
            </a:r>
            <a:r>
              <a:rPr lang="en-ZA" dirty="0"/>
              <a:t> </a:t>
            </a:r>
            <a:r>
              <a:rPr lang="en-ZA" i="1" dirty="0"/>
              <a:t>Does this opportunity strengthen or threaten something I/we personally control, influence or benefit from?</a:t>
            </a:r>
            <a:endParaRPr lang="en-ZA" dirty="0"/>
          </a:p>
          <a:p>
            <a:r>
              <a:rPr lang="en-ZA" b="1" dirty="0"/>
              <a:t>Silo:</a:t>
            </a:r>
            <a:r>
              <a:rPr lang="en-ZA" dirty="0"/>
              <a:t> </a:t>
            </a:r>
            <a:r>
              <a:rPr lang="en-ZA" i="1" dirty="0"/>
              <a:t>Am I / are we judging the opportunity primarily through what it means for my/our function, and missing what it could mean for the enterprise?</a:t>
            </a:r>
            <a:endParaRPr lang="en-ZA" dirty="0"/>
          </a:p>
          <a:p>
            <a:r>
              <a:rPr lang="en-ZA" b="1" dirty="0"/>
              <a:t>Incentive:</a:t>
            </a:r>
            <a:r>
              <a:rPr lang="en-ZA" dirty="0"/>
              <a:t> </a:t>
            </a:r>
            <a:r>
              <a:rPr lang="en-ZA" i="1" dirty="0"/>
              <a:t>Are the measures and targets I am / we are accountable for influencing whether I/we see this opportunity as attractive?</a:t>
            </a:r>
            <a:endParaRPr lang="en-ZA" dirty="0"/>
          </a:p>
          <a:p>
            <a:r>
              <a:rPr lang="en-ZA" b="1" dirty="0"/>
              <a:t>Career-Risk:</a:t>
            </a:r>
            <a:r>
              <a:rPr lang="en-ZA" dirty="0"/>
              <a:t> </a:t>
            </a:r>
            <a:r>
              <a:rPr lang="en-ZA" i="1" dirty="0"/>
              <a:t>Would supporting an unfamiliar opportunity expose me personally if it failed?</a:t>
            </a:r>
            <a:endParaRPr lang="en-ZA" dirty="0"/>
          </a:p>
          <a:p>
            <a:r>
              <a:rPr lang="en-ZA" b="1" dirty="0"/>
              <a:t>Perspective:</a:t>
            </a:r>
            <a:r>
              <a:rPr lang="en-ZA" dirty="0"/>
              <a:t> </a:t>
            </a:r>
            <a:r>
              <a:rPr lang="en-ZA" i="1" dirty="0"/>
              <a:t>Is what I/we know well limiting my/our ability to see possibilities outside my/our expertise and experience?</a:t>
            </a:r>
            <a:endParaRPr lang="en-ZA" dirty="0"/>
          </a:p>
          <a:p>
            <a:endParaRPr lang="en-ZA" b="1" dirty="0"/>
          </a:p>
          <a:p>
            <a:r>
              <a:rPr lang="en-ZA" b="1" dirty="0"/>
              <a:t>Facilitator reflection</a:t>
            </a:r>
            <a:endParaRPr lang="en-ZA" dirty="0"/>
          </a:p>
          <a:p>
            <a:r>
              <a:rPr lang="en-ZA" dirty="0"/>
              <a:t>The strategic discipline is therefore the ability to bring those perspectives together around what creates value for the enterprise.</a:t>
            </a:r>
          </a:p>
          <a:p>
            <a:endParaRPr lang="en-ZA" dirty="0"/>
          </a:p>
          <a:p>
            <a:r>
              <a:rPr lang="en-ZA" b="1" dirty="0"/>
              <a:t>Notice how these biases can reinforce one another.</a:t>
            </a:r>
            <a:endParaRPr lang="en-ZA" dirty="0"/>
          </a:p>
          <a:p>
            <a:r>
              <a:rPr lang="en-ZA" dirty="0"/>
              <a:t>Our </a:t>
            </a:r>
            <a:r>
              <a:rPr lang="en-ZA" b="1" dirty="0"/>
              <a:t>perspective</a:t>
            </a:r>
            <a:r>
              <a:rPr lang="en-ZA" dirty="0"/>
              <a:t> shapes what we notice and how we understand the opportunity.</a:t>
            </a:r>
          </a:p>
          <a:p>
            <a:r>
              <a:rPr lang="en-ZA" dirty="0"/>
              <a:t>Our functional position can turn that perspective into </a:t>
            </a:r>
            <a:r>
              <a:rPr lang="en-ZA" b="1" dirty="0"/>
              <a:t>silo thinking</a:t>
            </a:r>
            <a:r>
              <a:rPr lang="en-ZA" dirty="0"/>
              <a:t>—we begin judging the opportunity primarily through the needs of our own area.</a:t>
            </a:r>
          </a:p>
          <a:p>
            <a:r>
              <a:rPr lang="en-ZA" dirty="0"/>
              <a:t>Our </a:t>
            </a:r>
            <a:r>
              <a:rPr lang="en-ZA" b="1" dirty="0"/>
              <a:t>incentives</a:t>
            </a:r>
            <a:r>
              <a:rPr lang="en-ZA" dirty="0"/>
              <a:t> can reinforce which outcomes appear most important.</a:t>
            </a:r>
          </a:p>
          <a:p>
            <a:r>
              <a:rPr lang="en-ZA" dirty="0"/>
              <a:t>Those interests can become more personal when a decision affects our influence, resources or standing, strengthening </a:t>
            </a:r>
            <a:r>
              <a:rPr lang="en-ZA" b="1" dirty="0"/>
              <a:t>self-interest</a:t>
            </a:r>
            <a:r>
              <a:rPr lang="en-ZA" dirty="0"/>
              <a:t>.</a:t>
            </a:r>
          </a:p>
          <a:p>
            <a:r>
              <a:rPr lang="en-ZA" dirty="0"/>
              <a:t>And when supporting a different direction could expose us personally, </a:t>
            </a:r>
            <a:r>
              <a:rPr lang="en-ZA" b="1" dirty="0"/>
              <a:t>career-risk bias</a:t>
            </a:r>
            <a:r>
              <a:rPr lang="en-ZA" dirty="0"/>
              <a:t> can make the familiar position easier to defend.</a:t>
            </a:r>
          </a:p>
          <a:p>
            <a:endParaRPr lang="en-ZA" b="1" dirty="0"/>
          </a:p>
          <a:p>
            <a:r>
              <a:rPr lang="en-ZA" b="1" dirty="0"/>
              <a:t>The result: where we sit can gradually shape what we come to believe is best for the whole organisation.</a:t>
            </a:r>
            <a:endParaRPr lang="en-ZA" dirty="0"/>
          </a:p>
          <a:p>
            <a:r>
              <a:rPr lang="en-ZA" dirty="0"/>
              <a:t>This one is particularly important because nobody needs to be acting dishonestly. The reinforcement can happen through completely legitimate responsibilities.</a:t>
            </a:r>
          </a:p>
          <a:p>
            <a:endParaRPr lang="en-ZA" dirty="0"/>
          </a:p>
          <a:p>
            <a:r>
              <a:rPr lang="en-ZA" b="1" dirty="0"/>
              <a:t>Land:</a:t>
            </a:r>
            <a:endParaRPr lang="en-ZA" dirty="0"/>
          </a:p>
          <a:p>
            <a:r>
              <a:rPr lang="en-ZA" b="1" dirty="0"/>
              <a:t>Functional expertise gives us depth. Enterprise thinking helps us see beyond the interests of the function.</a:t>
            </a:r>
            <a:endParaRPr lang="en-ZA" dirty="0"/>
          </a:p>
          <a:p>
            <a:r>
              <a:rPr lang="en-ZA" dirty="0"/>
              <a:t>And then the executive question:</a:t>
            </a:r>
          </a:p>
          <a:p>
            <a:r>
              <a:rPr lang="en-ZA" b="1" dirty="0"/>
              <a:t>“What opportunity might your organisation be interpreting too narrowly because each function is looking at it from where it sits?”</a:t>
            </a:r>
            <a:endParaRPr lang="en-ZA" dirty="0"/>
          </a:p>
          <a:p>
            <a:endParaRPr lang="en-ZA" dirty="0"/>
          </a:p>
          <a:p>
            <a:r>
              <a:rPr lang="en-ZA" b="1" dirty="0"/>
              <a:t>4. SOCIAL BIASES</a:t>
            </a:r>
          </a:p>
          <a:p>
            <a:r>
              <a:rPr lang="en-ZA" b="1" dirty="0"/>
              <a:t>The pull of other people on our judgement.</a:t>
            </a:r>
            <a:endParaRPr lang="en-ZA" dirty="0"/>
          </a:p>
          <a:p>
            <a:r>
              <a:rPr lang="en-ZA" dirty="0"/>
              <a:t>We do not think and decide in isolation.</a:t>
            </a:r>
          </a:p>
          <a:p>
            <a:r>
              <a:rPr lang="en-ZA" dirty="0"/>
              <a:t>Who is in the room, who holds authority, what the group believes, whose voice carries weight and what feels socially acceptable can all influence what people are willing to think, say and support.</a:t>
            </a:r>
          </a:p>
          <a:p>
            <a:r>
              <a:rPr lang="en-ZA" dirty="0"/>
              <a:t>They include:</a:t>
            </a:r>
          </a:p>
          <a:p>
            <a:r>
              <a:rPr lang="en-ZA" b="1" dirty="0"/>
              <a:t>Conformity · Authority · Groupthink · Availability · Halo Effect</a:t>
            </a:r>
            <a:endParaRPr lang="en-ZA" dirty="0"/>
          </a:p>
          <a:p>
            <a:r>
              <a:rPr lang="en-ZA" dirty="0"/>
              <a:t>The strategic question is:</a:t>
            </a:r>
          </a:p>
          <a:p>
            <a:r>
              <a:rPr lang="en-ZA" b="1" dirty="0"/>
              <a:t>“How might the people around us be influencing what we are willing to see, say or decide?”</a:t>
            </a:r>
            <a:endParaRPr lang="en-ZA" dirty="0"/>
          </a:p>
          <a:p>
            <a:endParaRPr lang="en-ZA" dirty="0"/>
          </a:p>
          <a:p>
            <a:r>
              <a:rPr lang="en-ZA" b="1" dirty="0"/>
              <a:t>CASE 4 · KPMG SOUTH AFRICA </a:t>
            </a:r>
          </a:p>
          <a:p>
            <a:r>
              <a:rPr lang="en-ZA" dirty="0"/>
              <a:t>KPMG South Africa had a long-standing relationship with companies linked to the Gupta family, providing auditing and other professional services.</a:t>
            </a:r>
          </a:p>
          <a:p>
            <a:r>
              <a:rPr lang="en-ZA" dirty="0"/>
              <a:t>As concerns around the Gupta businesses and state capture intensified, KPMG came under scrutiny over work it had performed, including its audits of Gupta-linked companies and its controversial SARS report.</a:t>
            </a:r>
          </a:p>
          <a:p>
            <a:endParaRPr lang="en-ZA" dirty="0"/>
          </a:p>
          <a:p>
            <a:r>
              <a:rPr lang="en-ZA" dirty="0"/>
              <a:t>In 2017, KPMG International conducted an investigation into the South African practice. The consequences were significant: senior leadership resigned, clients terminated relationships with the firm, and KPMG withdrew findings and recommendations from its SARS report.</a:t>
            </a:r>
          </a:p>
          <a:p>
            <a:r>
              <a:rPr lang="en-ZA" dirty="0"/>
              <a:t>For a global professional-services firm whose very business depends upon </a:t>
            </a:r>
            <a:r>
              <a:rPr lang="en-ZA" b="1" dirty="0"/>
              <a:t>independent judgement and professional challenge</a:t>
            </a:r>
            <a:r>
              <a:rPr lang="en-ZA" dirty="0"/>
              <a:t>, the case raises an important behavioural question.</a:t>
            </a:r>
          </a:p>
          <a:p>
            <a:endParaRPr lang="en-ZA" dirty="0"/>
          </a:p>
          <a:p>
            <a:r>
              <a:rPr lang="en-ZA" b="1" dirty="0"/>
              <a:t>Ask the group</a:t>
            </a:r>
          </a:p>
          <a:p>
            <a:r>
              <a:rPr lang="en-ZA" b="1" dirty="0"/>
              <a:t>“If this were a case in point, which biases might have been at play?”</a:t>
            </a:r>
            <a:endParaRPr lang="en-ZA" dirty="0"/>
          </a:p>
          <a:p>
            <a:r>
              <a:rPr lang="en-ZA" dirty="0"/>
              <a:t>Listen for </a:t>
            </a:r>
            <a:r>
              <a:rPr lang="en-ZA" b="1" dirty="0"/>
              <a:t>authority bias, conformity, groupthink and potentially halo effect.</a:t>
            </a:r>
          </a:p>
          <a:p>
            <a:endParaRPr lang="en-ZA" b="1" dirty="0"/>
          </a:p>
          <a:p>
            <a:r>
              <a:rPr lang="en-ZA" b="1" dirty="0"/>
              <a:t>CONNECT IT TO THE FAMILY</a:t>
            </a:r>
            <a:endParaRPr lang="en-ZA" dirty="0"/>
          </a:p>
          <a:p>
            <a:r>
              <a:rPr lang="en-ZA" b="1" dirty="0"/>
              <a:t>Conformity:</a:t>
            </a:r>
            <a:r>
              <a:rPr lang="en-ZA" dirty="0"/>
              <a:t> </a:t>
            </a:r>
            <a:r>
              <a:rPr lang="en-ZA" i="1" dirty="0"/>
              <a:t>Everyone around me appears comfortable with this. Am I really the one who has it wrong?</a:t>
            </a:r>
            <a:endParaRPr lang="en-ZA" dirty="0"/>
          </a:p>
          <a:p>
            <a:r>
              <a:rPr lang="en-ZA" b="1" dirty="0"/>
              <a:t>Authority:</a:t>
            </a:r>
            <a:r>
              <a:rPr lang="en-ZA" dirty="0"/>
              <a:t> </a:t>
            </a:r>
            <a:r>
              <a:rPr lang="en-ZA" i="1" dirty="0"/>
              <a:t>Senior and respected people have approved this. How strongly should I challenge it?</a:t>
            </a:r>
            <a:endParaRPr lang="en-ZA" dirty="0"/>
          </a:p>
          <a:p>
            <a:r>
              <a:rPr lang="en-ZA" b="1" dirty="0"/>
              <a:t>Groupthink:</a:t>
            </a:r>
            <a:r>
              <a:rPr lang="en-ZA" dirty="0"/>
              <a:t> </a:t>
            </a:r>
            <a:r>
              <a:rPr lang="en-ZA" i="1" dirty="0"/>
              <a:t>The group appears to agree. Do I really want to be the person who reopens the issue?</a:t>
            </a:r>
            <a:endParaRPr lang="en-ZA" dirty="0"/>
          </a:p>
          <a:p>
            <a:r>
              <a:rPr lang="en-ZA" b="1" dirty="0"/>
              <a:t>Availability:</a:t>
            </a:r>
            <a:r>
              <a:rPr lang="en-ZA" dirty="0"/>
              <a:t> </a:t>
            </a:r>
            <a:r>
              <a:rPr lang="en-ZA" i="1" dirty="0"/>
              <a:t>Are the views we hear most frequently or most confidently receiving more weight than the evidence warrants?</a:t>
            </a:r>
            <a:endParaRPr lang="en-ZA" dirty="0"/>
          </a:p>
          <a:p>
            <a:r>
              <a:rPr lang="en-ZA" b="1" dirty="0"/>
              <a:t>Halo Effect:</a:t>
            </a:r>
            <a:r>
              <a:rPr lang="en-ZA" dirty="0"/>
              <a:t> </a:t>
            </a:r>
            <a:r>
              <a:rPr lang="en-ZA" i="1" dirty="0"/>
              <a:t>Does the reputation, status or previous success of this person, client or institution influence how critically we examine them?</a:t>
            </a:r>
            <a:endParaRPr lang="en-ZA" dirty="0"/>
          </a:p>
          <a:p>
            <a:endParaRPr lang="en-ZA" b="1" dirty="0"/>
          </a:p>
          <a:p>
            <a:r>
              <a:rPr lang="en-ZA" b="1" dirty="0"/>
              <a:t>Facilitator reflection</a:t>
            </a:r>
            <a:endParaRPr lang="en-ZA" dirty="0"/>
          </a:p>
          <a:p>
            <a:r>
              <a:rPr lang="en-ZA" dirty="0"/>
              <a:t>Social bias can operate without anyone explicitly telling us what to think.</a:t>
            </a:r>
          </a:p>
          <a:p>
            <a:r>
              <a:rPr lang="en-ZA" dirty="0"/>
              <a:t>We read the room. We recognise authority. We notice which relationships matter, whose views receive support, what others are willing to challenge and what happens to people who disagree.</a:t>
            </a:r>
          </a:p>
          <a:p>
            <a:r>
              <a:rPr lang="en-ZA" dirty="0"/>
              <a:t>Those signals can gradually shape what people are prepared to see, say and support.</a:t>
            </a:r>
          </a:p>
          <a:p>
            <a:endParaRPr lang="en-GB" dirty="0"/>
          </a:p>
          <a:p>
            <a:r>
              <a:rPr lang="en-GB" dirty="0"/>
              <a:t>Informal pressure.</a:t>
            </a:r>
          </a:p>
          <a:p>
            <a:r>
              <a:rPr lang="en-GB" dirty="0"/>
              <a:t>Informal social pressure can overpower formally held beliefs. No policy is needed; the presence of particular people is enough to change behaviour. This is culture operating through signals, belonging and perceived approval.</a:t>
            </a:r>
          </a:p>
          <a:p>
            <a:r>
              <a:rPr lang="en-GB" dirty="0"/>
              <a:t>Source: Journal, 27 September 2026 — Professional Insights: Culture</a:t>
            </a:r>
          </a:p>
          <a:p>
            <a:endParaRPr lang="en-ZA" b="1" dirty="0"/>
          </a:p>
          <a:p>
            <a:r>
              <a:rPr lang="en-ZA" b="1" dirty="0"/>
              <a:t>Notice how these biases can reinforce one another.</a:t>
            </a:r>
            <a:endParaRPr lang="en-ZA" dirty="0"/>
          </a:p>
          <a:p>
            <a:r>
              <a:rPr lang="en-ZA" dirty="0"/>
              <a:t>The reputation or standing of a person can create a </a:t>
            </a:r>
            <a:r>
              <a:rPr lang="en-ZA" b="1" dirty="0"/>
              <a:t>halo effect</a:t>
            </a:r>
            <a:r>
              <a:rPr lang="en-ZA" dirty="0"/>
              <a:t>, giving their judgement greater credibility.</a:t>
            </a:r>
          </a:p>
          <a:p>
            <a:r>
              <a:rPr lang="en-ZA" dirty="0"/>
              <a:t>Their seniority can strengthen </a:t>
            </a:r>
            <a:r>
              <a:rPr lang="en-ZA" b="1" dirty="0"/>
              <a:t>authority bias</a:t>
            </a:r>
            <a:r>
              <a:rPr lang="en-ZA" dirty="0"/>
              <a:t>, making others less willing to challenge them.</a:t>
            </a:r>
          </a:p>
          <a:p>
            <a:r>
              <a:rPr lang="en-ZA" dirty="0"/>
              <a:t>As fewer people challenge, </a:t>
            </a:r>
            <a:r>
              <a:rPr lang="en-ZA" b="1" dirty="0"/>
              <a:t>conformity</a:t>
            </a:r>
            <a:r>
              <a:rPr lang="en-ZA" dirty="0"/>
              <a:t> becomes easier—</a:t>
            </a:r>
            <a:r>
              <a:rPr lang="en-ZA" i="1" dirty="0"/>
              <a:t>everyone else appears comfortable with this.</a:t>
            </a:r>
            <a:endParaRPr lang="en-ZA" dirty="0"/>
          </a:p>
          <a:p>
            <a:r>
              <a:rPr lang="en-ZA" dirty="0"/>
              <a:t>Repeated agreement can develop into </a:t>
            </a:r>
            <a:r>
              <a:rPr lang="en-ZA" b="1" dirty="0"/>
              <a:t>groupthink</a:t>
            </a:r>
            <a:r>
              <a:rPr lang="en-ZA" dirty="0"/>
              <a:t>, where maintaining alignment becomes more important than examining alternatives.</a:t>
            </a:r>
          </a:p>
          <a:p>
            <a:r>
              <a:rPr lang="en-ZA" dirty="0"/>
              <a:t>And as the same views are repeatedly heard and reinforced, </a:t>
            </a:r>
            <a:r>
              <a:rPr lang="en-ZA" b="1" dirty="0"/>
              <a:t>availability bias</a:t>
            </a:r>
            <a:r>
              <a:rPr lang="en-ZA" dirty="0"/>
              <a:t> can make those views feel increasingly representative of reality.</a:t>
            </a:r>
          </a:p>
          <a:p>
            <a:endParaRPr lang="en-ZA" b="1" dirty="0"/>
          </a:p>
          <a:p>
            <a:r>
              <a:rPr lang="en-ZA" b="1" dirty="0"/>
              <a:t>The result: what begins as influence can gradually become agreement, and agreement can begin to look like evidence.</a:t>
            </a:r>
            <a:endParaRPr lang="en-ZA" dirty="0"/>
          </a:p>
          <a:p>
            <a:endParaRPr lang="en-GB" dirty="0"/>
          </a:p>
          <a:p>
            <a:r>
              <a:rPr lang="en-GB" dirty="0"/>
              <a:t>Engineered blind spots.</a:t>
            </a:r>
          </a:p>
          <a:p>
            <a:r>
              <a:rPr lang="en-GB" dirty="0"/>
              <a:t>A leader who fills the room with people who agree has engineered a blind spot and called it harmony. Unwelcome accuracy is worth more than pleasant confirmation. Seek out the person willing to say what the agreeable majority will not, and protect them from the cost honesty usually carries.</a:t>
            </a:r>
          </a:p>
          <a:p>
            <a:r>
              <a:rPr lang="en-GB" dirty="0"/>
              <a:t>Source: Journal, 16 June 2026 — Professional Insights: Leadership</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Land it</a:t>
            </a:r>
          </a:p>
          <a:p>
            <a:r>
              <a:rPr lang="en-ZA" dirty="0"/>
              <a:t>Social bias does not require someone to explicitly tell us, </a:t>
            </a:r>
            <a:r>
              <a:rPr lang="en-ZA" i="1" dirty="0"/>
              <a:t>“Do not challenge this.”</a:t>
            </a:r>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And then the executive question:</a:t>
            </a:r>
          </a:p>
          <a:p>
            <a:r>
              <a:rPr lang="en-ZA" dirty="0"/>
              <a:t>“Think about your own leadership table. What would someone have to risk to disagree with the most powerful person in the room?”</a:t>
            </a:r>
          </a:p>
          <a:p>
            <a:endParaRPr lang="en-ZA" dirty="0"/>
          </a:p>
          <a:p>
            <a:endParaRPr lang="en-ZA" dirty="0"/>
          </a:p>
          <a:p>
            <a:r>
              <a:rPr lang="en-ZA" b="1" dirty="0"/>
              <a:t>Biases can form chains. One bias changes how we interpret the situation, which creates conditions for another, and another. </a:t>
            </a:r>
          </a:p>
          <a:p>
            <a:r>
              <a:rPr lang="en-ZA" b="1" dirty="0"/>
              <a:t>By the time the organisation reaches a decision, several biases may be reinforcing the same conclusion.</a:t>
            </a:r>
            <a:endParaRPr lang="en-ZA" dirty="0"/>
          </a:p>
          <a:p>
            <a:endParaRPr lang="en-ZA" dirty="0"/>
          </a:p>
          <a:p>
            <a:r>
              <a:rPr lang="en-ZA" dirty="0"/>
              <a:t>Then connect it to behavioural strategy:</a:t>
            </a:r>
          </a:p>
          <a:p>
            <a:r>
              <a:rPr lang="en-ZA" b="1" dirty="0"/>
              <a:t>This is why recognising bias early matters. </a:t>
            </a:r>
          </a:p>
          <a:p>
            <a:r>
              <a:rPr lang="en-ZA" b="1" dirty="0"/>
              <a:t>The earlier we interrupt the chain, the greater our opportunity to improve the quality of judgement before it becomes commitment and action.</a:t>
            </a:r>
            <a:endParaRPr lang="en-ZA" dirty="0"/>
          </a:p>
          <a:p>
            <a:endParaRPr lang="en-ZA" dirty="0"/>
          </a:p>
          <a:p>
            <a:endParaRPr lang="en-ZA" dirty="0"/>
          </a:p>
          <a:p>
            <a:r>
              <a:rPr lang="en-ZA" b="1" dirty="0"/>
              <a:t>EMPHASISE </a:t>
            </a:r>
          </a:p>
          <a:p>
            <a:r>
              <a:rPr lang="en-ZA" dirty="0"/>
              <a:t>The cases gives participants observable circumstances from which to </a:t>
            </a:r>
            <a:r>
              <a:rPr lang="en-ZA" b="1" dirty="0"/>
              <a:t>investigate the possible influence of respective bias</a:t>
            </a:r>
            <a:r>
              <a:rPr lang="en-ZA" dirty="0"/>
              <a:t>. </a:t>
            </a:r>
          </a:p>
          <a:p>
            <a:br>
              <a:rPr lang="en-ZA" dirty="0"/>
            </a:br>
            <a:endParaRPr lang="en-ZA" dirty="0"/>
          </a:p>
          <a:p>
            <a:r>
              <a:rPr lang="en-ZA" b="1" dirty="0"/>
              <a:t>LAND THE FOUR FAMILIES</a:t>
            </a:r>
          </a:p>
          <a:p>
            <a:r>
              <a:rPr lang="en-ZA" dirty="0"/>
              <a:t>Bring participants back to the four cards.</a:t>
            </a:r>
          </a:p>
          <a:p>
            <a:r>
              <a:rPr lang="en-ZA" dirty="0"/>
              <a:t>Our judgement can therefore be pulled in different directions:</a:t>
            </a:r>
          </a:p>
          <a:p>
            <a:r>
              <a:rPr lang="en-ZA" b="1" dirty="0"/>
              <a:t>Action</a:t>
            </a:r>
            <a:r>
              <a:rPr lang="en-ZA" dirty="0"/>
              <a:t> can pull us towards moving.</a:t>
            </a:r>
            <a:br>
              <a:rPr lang="en-ZA" dirty="0"/>
            </a:br>
            <a:r>
              <a:rPr lang="en-ZA" b="1" dirty="0"/>
              <a:t>Stability</a:t>
            </a:r>
            <a:r>
              <a:rPr lang="en-ZA" dirty="0"/>
              <a:t> can pull us towards staying.</a:t>
            </a:r>
            <a:br>
              <a:rPr lang="en-ZA" dirty="0"/>
            </a:br>
            <a:r>
              <a:rPr lang="en-ZA" b="1" dirty="0"/>
              <a:t>Interest</a:t>
            </a:r>
            <a:r>
              <a:rPr lang="en-ZA" dirty="0"/>
              <a:t> can pull us towards our own position or perspective.</a:t>
            </a:r>
            <a:br>
              <a:rPr lang="en-ZA" dirty="0"/>
            </a:br>
            <a:r>
              <a:rPr lang="en-ZA" b="1" dirty="0"/>
              <a:t>Social influence</a:t>
            </a:r>
            <a:r>
              <a:rPr lang="en-ZA" dirty="0"/>
              <a:t> can pull us towards others.</a:t>
            </a:r>
          </a:p>
          <a:p>
            <a:r>
              <a:rPr lang="en-ZA" dirty="0"/>
              <a:t>And these influences can operate </a:t>
            </a:r>
            <a:r>
              <a:rPr lang="en-ZA" b="1" dirty="0"/>
              <a:t>without us consciously recognising them.</a:t>
            </a:r>
            <a:endParaRPr lang="en-ZA" dirty="0"/>
          </a:p>
          <a:p>
            <a:endParaRPr lang="en-ZA" b="1" dirty="0"/>
          </a:p>
          <a:p>
            <a:r>
              <a:rPr lang="en-ZA" b="1" dirty="0"/>
              <a:t>The strategic discipline is learning to recognise what may be pulling our judgement before that judgement becomes a decision, commitment or action.</a:t>
            </a:r>
            <a:endParaRPr lang="en-ZA" dirty="0"/>
          </a:p>
          <a:p>
            <a:br>
              <a:rPr lang="en-ZA" dirty="0"/>
            </a:br>
            <a:r>
              <a:rPr lang="en-ZA" b="1" dirty="0"/>
              <a:t>PARTICIPANT REFLECTION</a:t>
            </a:r>
          </a:p>
          <a:p>
            <a:r>
              <a:rPr lang="en-ZA" dirty="0"/>
              <a:t>Bring participants back to the four families:</a:t>
            </a:r>
          </a:p>
          <a:p>
            <a:r>
              <a:rPr lang="en-ZA" b="1" dirty="0"/>
              <a:t>ACTION · STABILITY · INTEREST · SOCIAL</a:t>
            </a:r>
            <a:endParaRPr lang="en-ZA" dirty="0"/>
          </a:p>
          <a:p>
            <a:r>
              <a:rPr lang="en-ZA" dirty="0"/>
              <a:t>Ask:</a:t>
            </a:r>
          </a:p>
          <a:p>
            <a:r>
              <a:rPr lang="en-ZA" b="1" dirty="0"/>
              <a:t>“Which of these four families do you recognise most strongly in your own thinking?”</a:t>
            </a:r>
            <a:endParaRPr lang="en-ZA" dirty="0"/>
          </a:p>
          <a:p>
            <a:r>
              <a:rPr lang="en-ZA" dirty="0"/>
              <a:t>Then:</a:t>
            </a:r>
          </a:p>
          <a:p>
            <a:r>
              <a:rPr lang="en-ZA" b="1" dirty="0"/>
              <a:t>“Which one do you see most clearly in your organisation?”</a:t>
            </a:r>
            <a:endParaRPr lang="en-ZA" dirty="0"/>
          </a:p>
          <a:p>
            <a:r>
              <a:rPr lang="en-ZA" dirty="0"/>
              <a:t>And finally:</a:t>
            </a:r>
          </a:p>
          <a:p>
            <a:r>
              <a:rPr lang="en-ZA" b="1" dirty="0"/>
              <a:t>“Can you identify a strategic decision where one of these biases may have influenced what was ultimately decided or done?”</a:t>
            </a:r>
            <a:endParaRPr lang="en-ZA" dirty="0"/>
          </a:p>
          <a:p>
            <a:br>
              <a:rPr lang="en-ZA" dirty="0"/>
            </a:br>
            <a:endParaRPr lang="en-ZA" dirty="0"/>
          </a:p>
          <a:p>
            <a:r>
              <a:rPr lang="en-ZA" b="1" dirty="0"/>
              <a:t>CLOSING INSIGHT</a:t>
            </a:r>
          </a:p>
          <a:p>
            <a:r>
              <a:rPr lang="en-ZA" b="1" dirty="0"/>
              <a:t>Bias does not always look like poor judgement while it is happening. It often feels like experience, confidence, caution, expertise or agreement.</a:t>
            </a:r>
            <a:endParaRPr lang="en-ZA" dirty="0"/>
          </a:p>
          <a:p>
            <a:endParaRPr lang="en-ZA" dirty="0"/>
          </a:p>
          <a:p>
            <a:endParaRPr lang="en-ZA" dirty="0"/>
          </a:p>
          <a:p>
            <a:r>
              <a:rPr lang="en-ZA" dirty="0"/>
              <a:t>PARTICIPANT PORTAL ALERT</a:t>
            </a:r>
          </a:p>
          <a:p>
            <a:r>
              <a:rPr lang="en-ZA" dirty="0"/>
              <a:t>Alert the participants that on the learning portal these biases are discussed from 2 important angles </a:t>
            </a:r>
          </a:p>
          <a:p>
            <a:pPr marL="228600" indent="-228600">
              <a:buAutoNum type="arabicPeriod"/>
            </a:pPr>
            <a:r>
              <a:rPr lang="en-ZA" dirty="0"/>
              <a:t>What it does in strategy</a:t>
            </a:r>
          </a:p>
          <a:p>
            <a:pPr marL="228600" indent="-228600">
              <a:buAutoNum type="arabicPeriod"/>
            </a:pPr>
            <a:r>
              <a:rPr lang="en-ZA" dirty="0"/>
              <a:t>Organisational signals that the bias is at play.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3B8B0-B18F-CF9B-7AE4-CF55784DD0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A7B31-547D-B6FC-5478-C945145584F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7E7E2C75-0DD4-8DD8-C512-F7C6918A56A0}"/>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2015A550-10B2-22F2-119C-03A6F60B6C78}"/>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995446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3 · INTELLIGENCE — WHY
Intelligence — Why Behavioural Strategy Is Critical · Sections 3.1 · 3.2
</a:t>
            </a:r>
            <a:r>
              <a:rPr lang="en-US" b="1" dirty="0"/>
              <a:t>SECTION LEARNING OUTCOMES:</a:t>
            </a:r>
            <a:r>
              <a:rPr lang="en-US" dirty="0"/>
              <a:t>
1. Interpret how different executive roles translate the same strategy into divergent priorities that leave enterprise gaps unowned.
2. Evaluate the strategic and performance costs of unexamined bias in your organisation.
</a:t>
            </a:r>
            <a:r>
              <a:rPr lang="en-US" b="1" dirty="0"/>
              <a:t>SECTION INTENT: </a:t>
            </a:r>
            <a:r>
              <a:rPr lang="en-US" dirty="0"/>
              <a:t>Section 2 established what behavioural strategy is. </a:t>
            </a:r>
          </a:p>
          <a:p>
            <a:r>
              <a:rPr lang="en-US" dirty="0"/>
              <a:t>This section answers why it matters — through a live case and quantified organisational costs. </a:t>
            </a:r>
          </a:p>
          <a:p>
            <a:r>
              <a:rPr lang="en-US" dirty="0"/>
              <a:t>
</a:t>
            </a:r>
            <a:r>
              <a:rPr lang="en-US" b="1" dirty="0"/>
              <a:t>CONTENT: </a:t>
            </a:r>
            <a:r>
              <a:rPr lang="en-US" dirty="0"/>
              <a:t>Behavioural biases are systematic, predictable, and cumulative. Left unmanaged, they act as a silent rot, compromising the integrity of even the most technically rigorous strategic frameworks.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TRANSITION FROM SECTION 2
Ask: “If every executive in your organisation performed perfectly within their own function, would your strategy actually deliver the result you intend?”
Hold the silence. </a:t>
            </a:r>
            <a:endParaRPr lang="en-GB" dirty="0"/>
          </a:p>
          <a:p>
            <a:endParaRPr lang="en-GB" dirty="0"/>
          </a:p>
          <a:p>
            <a:r>
              <a:rPr lang="en-GB" dirty="0"/>
              <a:t>While functional bias does not appear on any dashboard, it shows up everywhere: </a:t>
            </a:r>
          </a:p>
          <a:p>
            <a:endParaRPr lang="en-GB" dirty="0"/>
          </a:p>
          <a:p>
            <a:r>
              <a:rPr lang="en-GB" dirty="0"/>
              <a:t>Ask participants where bias shows up</a:t>
            </a:r>
          </a:p>
          <a:p>
            <a:r>
              <a:rPr lang="en-GB" dirty="0"/>
              <a:t>in delayed decisions, in misaligned KPIs, in teams working hard in different directions. </a:t>
            </a:r>
          </a:p>
          <a:p>
            <a:endParaRPr lang="en-GB" dirty="0"/>
          </a:p>
          <a:p>
            <a:r>
              <a:rPr lang="en-GB" dirty="0"/>
              <a:t>This is because each executive function experiences the organisation through the variable they control most directly.</a:t>
            </a:r>
          </a:p>
          <a:p>
            <a:endParaRPr lang="en-GB"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3.1 · FUNCTIONAL BIAS IN PRACTICE: THE MYHEALTH CASE (Interactive Executive Leader Explorer)
</a:t>
            </a:r>
            <a:r>
              <a:rPr lang="en-ZA" b="1" dirty="0"/>
              <a:t>Content</a:t>
            </a:r>
            <a:endParaRPr lang="en-ZA" dirty="0"/>
          </a:p>
          <a:p>
            <a:r>
              <a:rPr lang="en-ZA" dirty="0"/>
              <a:t>When a strategic direction is announced, every executive in the room hears the same words through their own professional filter.</a:t>
            </a:r>
          </a:p>
          <a:p>
            <a:r>
              <a:rPr lang="en-ZA" dirty="0"/>
              <a:t>Years of professional training and experience shape how leaders interpret opportunity, risk and priority.</a:t>
            </a:r>
          </a:p>
          <a:p>
            <a:r>
              <a:rPr lang="en-ZA" dirty="0"/>
              <a:t>The CFO listens for financial exposure.</a:t>
            </a:r>
            <a:br>
              <a:rPr lang="en-ZA" dirty="0"/>
            </a:br>
            <a:r>
              <a:rPr lang="en-ZA" dirty="0"/>
              <a:t>The COO hears operational feasibility.</a:t>
            </a:r>
            <a:br>
              <a:rPr lang="en-ZA" dirty="0"/>
            </a:br>
            <a:r>
              <a:rPr lang="en-ZA" dirty="0"/>
              <a:t>The CHRO listens for capability implications.</a:t>
            </a:r>
            <a:br>
              <a:rPr lang="en-ZA" dirty="0"/>
            </a:br>
            <a:r>
              <a:rPr lang="en-ZA" dirty="0"/>
              <a:t>The CMO hears the customer promise.</a:t>
            </a:r>
          </a:p>
          <a:p>
            <a:endParaRPr lang="en-ZA" dirty="0"/>
          </a:p>
          <a:p>
            <a:r>
              <a:rPr lang="en-ZA" dirty="0"/>
              <a:t>Each interpretation is rational. Each perspective is valuable.</a:t>
            </a:r>
          </a:p>
          <a:p>
            <a:r>
              <a:rPr lang="en-ZA" dirty="0"/>
              <a:t>But when these perspectives remain unspoken, functional bias can begin quietly reshaping how the strategy is understood and acted upon.</a:t>
            </a:r>
          </a:p>
          <a:p>
            <a:endParaRPr lang="en-ZA" b="1" dirty="0"/>
          </a:p>
          <a:p>
            <a:r>
              <a:rPr lang="en-ZA" b="1" dirty="0"/>
              <a:t>Read aloud · Setting up the case</a:t>
            </a:r>
          </a:p>
          <a:p>
            <a:r>
              <a:rPr lang="en-ZA" dirty="0"/>
              <a:t>“To become the leading patient-centric provider, we are launching the </a:t>
            </a:r>
            <a:r>
              <a:rPr lang="en-ZA" b="1" dirty="0" err="1"/>
              <a:t>MyHealth</a:t>
            </a:r>
            <a:r>
              <a:rPr lang="en-ZA" b="1" dirty="0"/>
              <a:t> Live Portal</a:t>
            </a:r>
            <a:r>
              <a:rPr lang="en-ZA" dirty="0"/>
              <a:t>.”</a:t>
            </a:r>
          </a:p>
          <a:p>
            <a:r>
              <a:rPr lang="en-ZA" dirty="0"/>
              <a:t>The portal has three strategic objectives:</a:t>
            </a:r>
          </a:p>
          <a:p>
            <a:pPr lvl="0"/>
            <a:r>
              <a:rPr lang="en-ZA" dirty="0"/>
              <a:t>Provide patients with 24/7 digital access to their data. </a:t>
            </a:r>
          </a:p>
          <a:p>
            <a:pPr lvl="0"/>
            <a:r>
              <a:rPr lang="en-ZA" dirty="0"/>
              <a:t>Reduce administrative calls by 30%. </a:t>
            </a:r>
          </a:p>
          <a:p>
            <a:pPr lvl="0"/>
            <a:r>
              <a:rPr lang="en-ZA" dirty="0"/>
              <a:t>Improve patient trust through greater transparency. </a:t>
            </a:r>
          </a:p>
          <a:p>
            <a:endParaRPr lang="en-ZA" b="1" dirty="0"/>
          </a:p>
          <a:p>
            <a:r>
              <a:rPr lang="en-ZA" b="1" dirty="0"/>
              <a:t>Ask participants to select the executive leadership role most relevant to them. Ask them to share what that executive hears from their position and how they define success. Ask them to hold that thought—we will return to it when examining the tensions that emerge.</a:t>
            </a:r>
            <a:endParaRPr lang="en-ZA" dirty="0"/>
          </a:p>
          <a:p>
            <a:pPr lvl="0"/>
            <a:endParaRPr lang="en-ZA" b="1" dirty="0"/>
          </a:p>
          <a:p>
            <a:pPr lvl="0"/>
            <a:r>
              <a:rPr lang="en-ZA" b="1" dirty="0"/>
              <a:t>Your reference points:</a:t>
            </a:r>
          </a:p>
          <a:p>
            <a:pPr lvl="0"/>
            <a:r>
              <a:rPr lang="en-ZA" b="1" dirty="0"/>
              <a:t>CEO (Managing Director):</a:t>
            </a:r>
            <a:r>
              <a:rPr lang="en-ZA" dirty="0"/>
              <a:t> “We need a win. Speed is everything to keep our momentum.”</a:t>
            </a:r>
            <a:br>
              <a:rPr lang="en-ZA" dirty="0"/>
            </a:br>
            <a:r>
              <a:rPr lang="en-ZA" i="1" dirty="0"/>
              <a:t>Success: Launching ahead of the competition.</a:t>
            </a:r>
            <a:r>
              <a:rPr lang="en-ZA" dirty="0"/>
              <a:t> </a:t>
            </a:r>
          </a:p>
          <a:p>
            <a:pPr lvl="0"/>
            <a:r>
              <a:rPr lang="en-ZA" b="1" dirty="0"/>
              <a:t>CFO (Finance Director):</a:t>
            </a:r>
            <a:r>
              <a:rPr lang="en-ZA" dirty="0"/>
              <a:t> “How does this affect the bottom line? We need to offset the cost.”</a:t>
            </a:r>
            <a:br>
              <a:rPr lang="en-ZA" dirty="0"/>
            </a:br>
            <a:r>
              <a:rPr lang="en-ZA" i="1" dirty="0"/>
              <a:t>Success: Delivering 8% under budget with clear ROI.</a:t>
            </a:r>
            <a:r>
              <a:rPr lang="en-ZA" dirty="0"/>
              <a:t> </a:t>
            </a:r>
          </a:p>
          <a:p>
            <a:pPr lvl="0"/>
            <a:r>
              <a:rPr lang="en-ZA" b="1" dirty="0"/>
              <a:t>COO (Operations Director):</a:t>
            </a:r>
            <a:r>
              <a:rPr lang="en-ZA" dirty="0"/>
              <a:t> “Will this actually make the ER run smoother or just add more steps?”</a:t>
            </a:r>
            <a:br>
              <a:rPr lang="en-ZA" dirty="0"/>
            </a:br>
            <a:r>
              <a:rPr lang="en-ZA" i="1" dirty="0"/>
              <a:t>Success: Reducing patient processing time by 22%.</a:t>
            </a:r>
            <a:r>
              <a:rPr lang="en-ZA" dirty="0"/>
              <a:t> </a:t>
            </a:r>
          </a:p>
          <a:p>
            <a:pPr lvl="0"/>
            <a:r>
              <a:rPr lang="en-ZA" b="1" dirty="0"/>
              <a:t>CHRO (HR Director):</a:t>
            </a:r>
            <a:r>
              <a:rPr lang="en-ZA" dirty="0"/>
              <a:t> “My people are tired. Can they handle another digital tool?”</a:t>
            </a:r>
            <a:br>
              <a:rPr lang="en-ZA" dirty="0"/>
            </a:br>
            <a:r>
              <a:rPr lang="en-ZA" i="1" dirty="0"/>
              <a:t>Success: 95% of staff feeling confident and trained.</a:t>
            </a:r>
            <a:r>
              <a:rPr lang="en-ZA" dirty="0"/>
              <a:t> </a:t>
            </a:r>
          </a:p>
          <a:p>
            <a:pPr lvl="0"/>
            <a:r>
              <a:rPr lang="en-ZA" b="1" dirty="0"/>
              <a:t>CTO (IT Director):</a:t>
            </a:r>
            <a:r>
              <a:rPr lang="en-ZA" dirty="0"/>
              <a:t> “One data leak and we're done. This has to be a fortress.”</a:t>
            </a:r>
            <a:br>
              <a:rPr lang="en-ZA" dirty="0"/>
            </a:br>
            <a:r>
              <a:rPr lang="en-ZA" i="1" dirty="0"/>
              <a:t>Success: 100% uptime with zero security breaches.</a:t>
            </a:r>
            <a:r>
              <a:rPr lang="en-ZA" dirty="0"/>
              <a:t> </a:t>
            </a:r>
          </a:p>
          <a:p>
            <a:pPr lvl="0"/>
            <a:r>
              <a:rPr lang="en-ZA" b="1" dirty="0"/>
              <a:t>CMO (Marketing Director):</a:t>
            </a:r>
            <a:r>
              <a:rPr lang="en-ZA" dirty="0"/>
              <a:t> “If patients don't use it, it doesn't exist. We need adoption.”</a:t>
            </a:r>
            <a:br>
              <a:rPr lang="en-ZA" dirty="0"/>
            </a:br>
            <a:r>
              <a:rPr lang="en-ZA" i="1" dirty="0"/>
              <a:t>Success: 90% of active patients registered within 90 days.</a:t>
            </a:r>
            <a:r>
              <a:rPr lang="en-ZA" dirty="0"/>
              <a:t> </a:t>
            </a:r>
          </a:p>
          <a:p>
            <a:pPr lvl="0"/>
            <a:r>
              <a:rPr lang="en-ZA" b="1" dirty="0"/>
              <a:t>CCO (Commercial Director):</a:t>
            </a:r>
            <a:r>
              <a:rPr lang="en-ZA" dirty="0"/>
              <a:t> “This is a growth engine. How do we turn clicks into consults?”</a:t>
            </a:r>
            <a:br>
              <a:rPr lang="en-ZA" dirty="0"/>
            </a:br>
            <a:r>
              <a:rPr lang="en-ZA" i="1" dirty="0"/>
              <a:t>Success: A 35% increase in digital bookings.</a:t>
            </a:r>
            <a:r>
              <a:rPr lang="en-ZA" dirty="0"/>
              <a:t> </a:t>
            </a:r>
          </a:p>
          <a:p>
            <a:pPr lvl="0"/>
            <a:r>
              <a:rPr lang="en-ZA" b="1" dirty="0"/>
              <a:t>CPO (Procurement Director):</a:t>
            </a:r>
            <a:r>
              <a:rPr lang="en-ZA" dirty="0"/>
              <a:t> “I need those vendor contracts signed yesterday to hit that 60-day mark.”</a:t>
            </a:r>
            <a:br>
              <a:rPr lang="en-ZA" dirty="0"/>
            </a:br>
            <a:r>
              <a:rPr lang="en-ZA" i="1" dirty="0"/>
              <a:t>Success: Seamless infrastructure and logistics delivered on time.</a:t>
            </a:r>
            <a:r>
              <a:rPr lang="en-ZA" dirty="0"/>
              <a:t> </a:t>
            </a:r>
          </a:p>
          <a:p>
            <a:pPr lvl="0"/>
            <a:r>
              <a:rPr lang="en-ZA" b="1" dirty="0"/>
              <a:t>CRO (Risk Director):</a:t>
            </a:r>
            <a:r>
              <a:rPr lang="en-ZA" dirty="0"/>
              <a:t> “Transparency is important, but privacy laws are non-negotiable.”</a:t>
            </a:r>
            <a:br>
              <a:rPr lang="en-ZA" dirty="0"/>
            </a:br>
            <a:r>
              <a:rPr lang="en-ZA" i="1" dirty="0"/>
              <a:t>Success: Zero compliance incidents or regulatory flags.</a:t>
            </a:r>
            <a:r>
              <a:rPr lang="en-ZA" dirty="0"/>
              <a:t> </a:t>
            </a:r>
          </a:p>
          <a:p>
            <a:pPr lvl="0"/>
            <a:r>
              <a:rPr lang="en-ZA" b="1" dirty="0"/>
              <a:t>CSO (Strategy Director):</a:t>
            </a:r>
            <a:r>
              <a:rPr lang="en-ZA" dirty="0"/>
              <a:t> “This portal is our first-mover advantage.”</a:t>
            </a:r>
            <a:br>
              <a:rPr lang="en-ZA" dirty="0"/>
            </a:br>
            <a:r>
              <a:rPr lang="en-ZA" i="1" dirty="0"/>
              <a:t>Success: Solidifying our position as the regional digital leader.</a:t>
            </a:r>
            <a:r>
              <a:rPr lang="en-ZA" dirty="0"/>
              <a:t> </a:t>
            </a:r>
          </a:p>
          <a:p>
            <a:endParaRPr lang="en-ZA" b="1" dirty="0"/>
          </a:p>
          <a:p>
            <a:r>
              <a:rPr lang="en-ZA" b="1" dirty="0"/>
              <a:t>Now move participants to the tensions at play</a:t>
            </a:r>
          </a:p>
          <a:p>
            <a:r>
              <a:rPr lang="en-ZA" dirty="0"/>
              <a:t>Bring the group back to the competing perspectives.</a:t>
            </a:r>
          </a:p>
          <a:p>
            <a:r>
              <a:rPr lang="en-ZA" dirty="0"/>
              <a:t>Take two or three role combinations—for example, </a:t>
            </a:r>
            <a:r>
              <a:rPr lang="en-ZA" b="1" dirty="0"/>
              <a:t>CTO and CMO</a:t>
            </a:r>
            <a:r>
              <a:rPr lang="en-ZA" dirty="0"/>
              <a:t>, or </a:t>
            </a:r>
            <a:r>
              <a:rPr lang="en-ZA" b="1" dirty="0"/>
              <a:t>CEO and CHRO</a:t>
            </a:r>
            <a:r>
              <a:rPr lang="en-ZA" dirty="0"/>
              <a:t>.</a:t>
            </a:r>
          </a:p>
          <a:p>
            <a:r>
              <a:rPr lang="en-ZA" dirty="0"/>
              <a:t>Select two roles and ask participants who chose those roles to share again.</a:t>
            </a:r>
          </a:p>
          <a:p>
            <a:endParaRPr lang="en-ZA" dirty="0"/>
          </a:p>
          <a:p>
            <a:r>
              <a:rPr lang="en-ZA" dirty="0"/>
              <a:t>Then ask:</a:t>
            </a:r>
          </a:p>
          <a:p>
            <a:r>
              <a:rPr lang="en-ZA" b="1" dirty="0"/>
              <a:t>“Where do these two perspectives create friction?”</a:t>
            </a:r>
            <a:endParaRPr lang="en-ZA" dirty="0"/>
          </a:p>
          <a:p>
            <a:r>
              <a:rPr lang="en-ZA" b="1" dirty="0"/>
              <a:t>“What happens if both leaders pursue their own definition of success without talking to each other?”</a:t>
            </a:r>
            <a:endParaRPr lang="en-ZA" dirty="0"/>
          </a:p>
          <a:p>
            <a:endParaRPr lang="en-ZA" dirty="0"/>
          </a:p>
          <a:p>
            <a:r>
              <a:rPr lang="en-ZA" dirty="0"/>
              <a:t>For example, the CTO may prioritise maximum security while the CMO prioritises simplicity and ease of use. Both are pursuing legitimate outcomes, but the requirements of one may affect the ability of the other to succeed.</a:t>
            </a:r>
          </a:p>
          <a:p>
            <a:endParaRPr lang="en-ZA" b="1" dirty="0"/>
          </a:p>
          <a:p>
            <a:r>
              <a:rPr lang="en-ZA" b="1" dirty="0"/>
              <a:t>Why this matters</a:t>
            </a:r>
          </a:p>
          <a:p>
            <a:r>
              <a:rPr lang="en-ZA" dirty="0"/>
              <a:t>Every executive could deliver a “result.”</a:t>
            </a:r>
          </a:p>
          <a:p>
            <a:r>
              <a:rPr lang="en-ZA" dirty="0"/>
              <a:t>The CFO could deliver the budget.</a:t>
            </a:r>
            <a:br>
              <a:rPr lang="en-ZA" dirty="0"/>
            </a:br>
            <a:r>
              <a:rPr lang="en-ZA" dirty="0"/>
              <a:t>The CTO could deliver security.</a:t>
            </a:r>
            <a:br>
              <a:rPr lang="en-ZA" dirty="0"/>
            </a:br>
            <a:r>
              <a:rPr lang="en-ZA" dirty="0"/>
              <a:t>The CMO could deliver adoption.</a:t>
            </a:r>
            <a:br>
              <a:rPr lang="en-ZA" dirty="0"/>
            </a:br>
            <a:r>
              <a:rPr lang="en-ZA" dirty="0"/>
              <a:t>The CHRO could deliver workforce readiness.</a:t>
            </a:r>
            <a:br>
              <a:rPr lang="en-ZA" dirty="0"/>
            </a:br>
            <a:r>
              <a:rPr lang="en-ZA" dirty="0"/>
              <a:t>The COO could deliver operational efficiency.</a:t>
            </a:r>
          </a:p>
          <a:p>
            <a:endParaRPr lang="en-ZA" b="1" dirty="0"/>
          </a:p>
          <a:p>
            <a:r>
              <a:rPr lang="en-ZA" b="1" dirty="0"/>
              <a:t>And the organisation could still fail to achieve the intended enterprise outcome.</a:t>
            </a:r>
            <a:endParaRPr lang="en-ZA" dirty="0"/>
          </a:p>
          <a:p>
            <a:r>
              <a:rPr lang="en-ZA" dirty="0"/>
              <a:t>If leaders do not surface how their contributions depend on, constrain or compete with one another, the strategy can begin to fracture between functions.</a:t>
            </a:r>
          </a:p>
          <a:p>
            <a:endParaRPr lang="en-GB" dirty="0"/>
          </a:p>
          <a:p>
            <a:r>
              <a:rPr lang="en-GB" dirty="0"/>
              <a:t>Complementary capability.</a:t>
            </a:r>
          </a:p>
          <a:p>
            <a:r>
              <a:rPr lang="en-GB" dirty="0"/>
              <a:t>Sustainable execution rarely depends on one dominant function. Value is produced when differentiated capabilities are deliberately integrated around a common purpose.</a:t>
            </a:r>
          </a:p>
          <a:p>
            <a:r>
              <a:rPr lang="en-GB" dirty="0"/>
              <a:t>Source: Journal, 9 September 2026 — Professional Insights: Strategy</a:t>
            </a:r>
          </a:p>
          <a:p>
            <a:endParaRPr lang="en-ZA" dirty="0"/>
          </a:p>
          <a:p>
            <a:r>
              <a:rPr lang="en-ZA" b="1" dirty="0"/>
              <a:t>Introduce the White Space</a:t>
            </a:r>
          </a:p>
          <a:p>
            <a:r>
              <a:rPr lang="en-ZA" b="1" dirty="0"/>
              <a:t>“And this brings us to the space between those functional contributions—the White Space.”</a:t>
            </a:r>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White Space is the gap between what individual functions successfully deliver and what the organisation needs those contributions to produce together.</a:t>
            </a:r>
            <a:endParaRPr lang="en-ZA" dirty="0"/>
          </a:p>
          <a:p>
            <a:endParaRPr lang="en-ZA" dirty="0"/>
          </a:p>
          <a:p>
            <a:r>
              <a:rPr lang="en-ZA" dirty="0"/>
              <a:t>Return to the </a:t>
            </a:r>
            <a:r>
              <a:rPr lang="en-ZA" dirty="0" err="1"/>
              <a:t>MyHealth</a:t>
            </a:r>
            <a:r>
              <a:rPr lang="en-ZA" dirty="0"/>
              <a:t> case.</a:t>
            </a:r>
          </a:p>
          <a:p>
            <a:r>
              <a:rPr lang="en-ZA" dirty="0"/>
              <a:t>The portal launches.</a:t>
            </a:r>
          </a:p>
          <a:p>
            <a:r>
              <a:rPr lang="en-ZA" dirty="0"/>
              <a:t>Technology delivers a secure and stable platform.</a:t>
            </a:r>
            <a:br>
              <a:rPr lang="en-ZA" dirty="0"/>
            </a:br>
            <a:r>
              <a:rPr lang="en-ZA" dirty="0"/>
              <a:t>Marketing achieves strong patient adoption.</a:t>
            </a:r>
            <a:br>
              <a:rPr lang="en-ZA" dirty="0"/>
            </a:br>
            <a:r>
              <a:rPr lang="en-ZA" dirty="0"/>
              <a:t>Operations delivers the required processes.</a:t>
            </a:r>
            <a:br>
              <a:rPr lang="en-ZA" dirty="0"/>
            </a:br>
            <a:r>
              <a:rPr lang="en-ZA" dirty="0"/>
              <a:t>HR trains the workforce.</a:t>
            </a:r>
            <a:br>
              <a:rPr lang="en-ZA" dirty="0"/>
            </a:br>
            <a:r>
              <a:rPr lang="en-ZA" dirty="0"/>
              <a:t>Finance keeps the programme within budget.</a:t>
            </a:r>
          </a:p>
          <a:p>
            <a:r>
              <a:rPr lang="en-ZA" b="1" dirty="0"/>
              <a:t>The dashboards are green.</a:t>
            </a:r>
            <a:endParaRPr lang="en-ZA" dirty="0"/>
          </a:p>
          <a:p>
            <a:r>
              <a:rPr lang="en-ZA" dirty="0"/>
              <a:t>But something unexpected happens.</a:t>
            </a:r>
          </a:p>
          <a:p>
            <a:r>
              <a:rPr lang="en-ZA" dirty="0"/>
              <a:t>Emergency Rooms experience a </a:t>
            </a:r>
            <a:r>
              <a:rPr lang="en-ZA" b="1" dirty="0"/>
              <a:t>40% spike in ‘panic visits’</a:t>
            </a:r>
            <a:r>
              <a:rPr lang="en-ZA" dirty="0"/>
              <a:t> from patients who receive raw, uninterpreted laboratory results at 9:00 PM on a Friday.</a:t>
            </a:r>
          </a:p>
          <a:p>
            <a:r>
              <a:rPr lang="en-ZA" dirty="0"/>
              <a:t>Patient satisfaction (NPS) falls because patients feel confused, anxious and unsupported.</a:t>
            </a:r>
          </a:p>
          <a:p>
            <a:r>
              <a:rPr lang="en-ZA" b="1" dirty="0"/>
              <a:t>Everyone delivered. The enterprise outcome did not.</a:t>
            </a:r>
            <a:endParaRPr lang="en-ZA" dirty="0"/>
          </a:p>
          <a:p>
            <a:endParaRPr lang="en-ZA" sz="1200" b="0" i="0" kern="1200" dirty="0">
              <a:solidFill>
                <a:schemeClr val="tx1"/>
              </a:solidFill>
              <a:effectLst/>
              <a:latin typeface="+mn-lt"/>
              <a:ea typeface="+mn-ea"/>
              <a:cs typeface="+mn-cs"/>
            </a:endParaRPr>
          </a:p>
          <a:p>
            <a:r>
              <a:rPr lang="en-ZA" b="1" dirty="0"/>
              <a:t>This is the White Space</a:t>
            </a:r>
          </a:p>
          <a:p>
            <a:r>
              <a:rPr lang="en-ZA" dirty="0"/>
              <a:t>The problem did not sit neatly inside Technology, Marketing, Operations or any other single function.</a:t>
            </a:r>
          </a:p>
          <a:p>
            <a:r>
              <a:rPr lang="en-ZA" dirty="0"/>
              <a:t>It sat </a:t>
            </a:r>
            <a:r>
              <a:rPr lang="en-ZA" b="1" dirty="0"/>
              <a:t>between them</a:t>
            </a:r>
            <a:r>
              <a:rPr lang="en-ZA" dirty="0"/>
              <a:t>.</a:t>
            </a:r>
          </a:p>
          <a:p>
            <a:r>
              <a:rPr lang="en-ZA" dirty="0"/>
              <a:t>Who considered what happens emotionally when a patient receives a concerning result after hours?</a:t>
            </a:r>
          </a:p>
          <a:p>
            <a:r>
              <a:rPr lang="en-ZA" dirty="0"/>
              <a:t>Who connects digital access to clinical interpretation?</a:t>
            </a:r>
          </a:p>
          <a:p>
            <a:r>
              <a:rPr lang="en-ZA" dirty="0"/>
              <a:t>Who owns the hand-off between receiving information and knowing what to do with it?</a:t>
            </a:r>
          </a:p>
          <a:p>
            <a:endParaRPr lang="en-ZA" dirty="0"/>
          </a:p>
          <a:p>
            <a:r>
              <a:rPr lang="en-ZA" b="1" dirty="0"/>
              <a:t>The White Space is the gap between functional mandates where no one function is fully in charge, but where the customer experience, dependencies and enterprise outcome often come together.</a:t>
            </a:r>
            <a:endParaRPr lang="en-ZA" dirty="0"/>
          </a:p>
          <a:p>
            <a:endParaRPr lang="en-ZA" dirty="0"/>
          </a:p>
          <a:p>
            <a:r>
              <a:rPr lang="en-ZA" dirty="0"/>
              <a:t>It is where individually successful contributions must connect to produce the intended result.</a:t>
            </a:r>
          </a:p>
          <a:p>
            <a:endParaRPr lang="en-GB" dirty="0"/>
          </a:p>
          <a:p>
            <a:r>
              <a:rPr lang="en-GB" dirty="0"/>
              <a:t>Where culture is tested.</a:t>
            </a:r>
          </a:p>
          <a:p>
            <a:r>
              <a:rPr lang="en-GB" dirty="0"/>
              <a:t>Examine the interfaces where culture is actually tested: hand-offs between functions, resource conflicts, decision disagreements and responses to mistakes. These moments reveal whether people experience themselves as contributors to one whole or as representatives protecting separate territories.</a:t>
            </a:r>
          </a:p>
          <a:p>
            <a:r>
              <a:rPr lang="en-GB" dirty="0"/>
              <a:t>Source: Journal, 2 October 2026 — Professional Insights: Culture</a:t>
            </a:r>
          </a:p>
          <a:p>
            <a:endParaRPr lang="en-ZA" b="1" dirty="0"/>
          </a:p>
          <a:p>
            <a:r>
              <a:rPr lang="en-ZA" b="1" dirty="0"/>
              <a:t>Three-point check to colour the White Space</a:t>
            </a:r>
          </a:p>
          <a:p>
            <a:r>
              <a:rPr lang="en-ZA" b="1" dirty="0"/>
              <a:t>1. Does my “done” create more work—or unintended consequences—for someone else?</a:t>
            </a:r>
            <a:br>
              <a:rPr lang="en-ZA" dirty="0"/>
            </a:br>
            <a:r>
              <a:rPr lang="en-ZA" i="1" dirty="0"/>
              <a:t>Functional Success</a:t>
            </a:r>
            <a:endParaRPr lang="en-ZA" dirty="0"/>
          </a:p>
          <a:p>
            <a:endParaRPr lang="en-ZA" b="1" dirty="0"/>
          </a:p>
          <a:p>
            <a:r>
              <a:rPr lang="en-ZA" b="1" dirty="0"/>
              <a:t>2. If my dashboard is green but the customer, employee or another part of the system is red, where is the disconnect?</a:t>
            </a:r>
            <a:br>
              <a:rPr lang="en-ZA" dirty="0"/>
            </a:br>
            <a:r>
              <a:rPr lang="en-ZA" i="1" dirty="0"/>
              <a:t>White Space</a:t>
            </a:r>
            <a:endParaRPr lang="en-ZA" dirty="0"/>
          </a:p>
          <a:p>
            <a:endParaRPr lang="en-ZA" b="1" dirty="0"/>
          </a:p>
          <a:p>
            <a:r>
              <a:rPr lang="en-ZA" b="1" dirty="0"/>
              <a:t>3. When all the contributions come together, has the enterprise actually won?</a:t>
            </a:r>
            <a:br>
              <a:rPr lang="en-ZA" dirty="0"/>
            </a:br>
            <a:r>
              <a:rPr lang="en-ZA" i="1" dirty="0"/>
              <a:t>Enterprise Consequence</a:t>
            </a:r>
            <a:endParaRPr lang="en-ZA" dirty="0"/>
          </a:p>
          <a:p>
            <a:endParaRPr lang="en-ZA" b="1" dirty="0"/>
          </a:p>
          <a:p>
            <a:r>
              <a:rPr lang="en-ZA" b="1" dirty="0"/>
              <a:t>Land it</a:t>
            </a:r>
          </a:p>
          <a:p>
            <a:r>
              <a:rPr lang="en-ZA" b="1" dirty="0"/>
              <a:t>A green dashboard does not necessarily mean a successful strategy.</a:t>
            </a:r>
            <a:endParaRPr lang="en-ZA" dirty="0"/>
          </a:p>
          <a:p>
            <a:endParaRPr lang="en-ZA" dirty="0"/>
          </a:p>
          <a:p>
            <a:r>
              <a:rPr lang="en-ZA" dirty="0"/>
              <a:t>Then:</a:t>
            </a:r>
          </a:p>
          <a:p>
            <a:r>
              <a:rPr lang="en-ZA" b="1" dirty="0"/>
              <a:t>The strategic question is whether our individual successes combine to produce the outcome we intended.</a:t>
            </a:r>
            <a:endParaRPr lang="en-ZA" dirty="0"/>
          </a:p>
          <a:p>
            <a:endParaRPr lang="en-GB" dirty="0"/>
          </a:p>
          <a:p>
            <a:r>
              <a:rPr lang="en-GB" dirty="0"/>
              <a:t>Invisible walls.</a:t>
            </a:r>
          </a:p>
          <a:p>
            <a:r>
              <a:rPr lang="en-GB" dirty="0"/>
              <a:t>People can work in the same organisation, attend the same meetings and share the same corporate values while remaining separated by invisible walls: functional silos, hierarchy, professional status, historical conflict or assumptions about whose contribution matters most. Ask the group: what invisible walls are preventing capable people from becoming an integrated organisation?</a:t>
            </a:r>
          </a:p>
          <a:p>
            <a:r>
              <a:rPr lang="en-GB" dirty="0"/>
              <a:t>Source: Journal, 4 October 2026 — Professional Insights: Culture</a:t>
            </a:r>
          </a:p>
          <a:p>
            <a:endParaRPr lang="en-ZA" dirty="0"/>
          </a:p>
          <a:p>
            <a:r>
              <a:rPr lang="en-ZA" dirty="0"/>
              <a:t>So why is all this important?</a:t>
            </a:r>
          </a:p>
          <a:p>
            <a:r>
              <a:rPr lang="en-ZA" dirty="0"/>
              <a:t>Because there is a hidden cost of behaviours which in a organisation translates to strategic costs.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3.2 · THE HIDDEN COST OF POOR BEHAVIOURAL AWARENESS (5 Strategic Costs)</a:t>
            </a:r>
            <a:r>
              <a:rPr lang="en-US" dirty="0"/>
              <a:t>
</a:t>
            </a:r>
            <a:r>
              <a:rPr lang="en-US" b="1" dirty="0"/>
              <a:t>OPENING THE SECTION. Ask </a:t>
            </a:r>
            <a:r>
              <a:rPr lang="en-US" dirty="0"/>
              <a:t>“If I told you that disciplined decision-making delivers approximately 6% higher returns than the norm — what would that mean in real terms for your organisation?” Let the number land before proceeding.
</a:t>
            </a:r>
            <a:r>
              <a:rPr lang="en-US" b="1" dirty="0"/>
              <a:t>CONTENT: </a:t>
            </a:r>
            <a:r>
              <a:rPr lang="en-US" dirty="0"/>
              <a:t>Research by McKinsey &amp; Company indicates that organisations with disciplined decision-making practices — specifically those that actively mitigate cognitive bias — deliver returns approximately 6% higher than their peers. Conversely, a lack of behavioural awareness creates a “hidden tax” on the organisation:</a:t>
            </a:r>
          </a:p>
          <a:p>
            <a:endParaRPr lang="en-US" dirty="0"/>
          </a:p>
          <a:p>
            <a:r>
              <a:rPr lang="en-ZA" dirty="0"/>
              <a:t>The question we are now asking is:</a:t>
            </a:r>
          </a:p>
          <a:p>
            <a:r>
              <a:rPr lang="en-ZA" b="1" dirty="0"/>
              <a:t>What can biased thinking and behaviour actually cost the strategy?</a:t>
            </a:r>
            <a:r>
              <a:rPr lang="en-ZA" dirty="0"/>
              <a:t>”</a:t>
            </a:r>
          </a:p>
          <a:p>
            <a:br>
              <a:rPr lang="en-ZA" dirty="0"/>
            </a:br>
            <a:endParaRPr lang="en-ZA" dirty="0"/>
          </a:p>
          <a:p>
            <a:r>
              <a:rPr lang="en-ZA" b="1" dirty="0"/>
              <a:t>1. Misallocated Capital</a:t>
            </a:r>
          </a:p>
          <a:p>
            <a:r>
              <a:rPr lang="en-ZA" b="1" dirty="0"/>
              <a:t>What does it mean?</a:t>
            </a:r>
            <a:endParaRPr lang="en-ZA" dirty="0"/>
          </a:p>
          <a:p>
            <a:r>
              <a:rPr lang="en-ZA" b="1" dirty="0"/>
              <a:t>Resources go to the wrong places.</a:t>
            </a:r>
            <a:endParaRPr lang="en-ZA" dirty="0"/>
          </a:p>
          <a:p>
            <a:r>
              <a:rPr lang="en-ZA" dirty="0"/>
              <a:t>Capital, people and management attention continue flowing towards investments that no longer offer the best future value—or towards new opportunities whose potential has been overestimated.</a:t>
            </a:r>
          </a:p>
          <a:p>
            <a:endParaRPr lang="en-ZA" b="1" dirty="0"/>
          </a:p>
          <a:p>
            <a:r>
              <a:rPr lang="en-ZA" b="1" dirty="0"/>
              <a:t>ASK - Which bias and how can bias contribute?</a:t>
            </a:r>
            <a:endParaRPr lang="en-ZA" dirty="0"/>
          </a:p>
          <a:p>
            <a:r>
              <a:rPr lang="en-ZA" b="1" dirty="0"/>
              <a:t>Sunk-Cost Bias</a:t>
            </a:r>
            <a:r>
              <a:rPr lang="en-ZA" dirty="0"/>
              <a:t> can keep resources tied to an investment because so much has already been spent on it.</a:t>
            </a:r>
          </a:p>
          <a:p>
            <a:r>
              <a:rPr lang="en-ZA" b="1" dirty="0"/>
              <a:t>Endowment Effect</a:t>
            </a:r>
            <a:r>
              <a:rPr lang="en-ZA" dirty="0"/>
              <a:t> can cause leaders to overvalue businesses, assets or projects simply because the organisation already owns them.</a:t>
            </a:r>
          </a:p>
          <a:p>
            <a:r>
              <a:rPr lang="en-ZA" dirty="0"/>
              <a:t>At the other extreme, </a:t>
            </a:r>
            <a:r>
              <a:rPr lang="en-ZA" b="1" dirty="0"/>
              <a:t>Overconfidence</a:t>
            </a:r>
            <a:r>
              <a:rPr lang="en-ZA" dirty="0"/>
              <a:t> and the </a:t>
            </a:r>
            <a:r>
              <a:rPr lang="en-ZA" b="1" dirty="0"/>
              <a:t>Illusion of Control</a:t>
            </a:r>
            <a:r>
              <a:rPr lang="en-ZA" dirty="0"/>
              <a:t> can encourage ambitious investments or acquisitions because leaders overestimate their judgement or their ability to control the outcome.</a:t>
            </a:r>
          </a:p>
          <a:p>
            <a:endParaRPr lang="en-ZA" dirty="0"/>
          </a:p>
          <a:p>
            <a:r>
              <a:rPr lang="en-ZA" b="1" dirty="0"/>
              <a:t>Facilitator example:</a:t>
            </a:r>
            <a:endParaRPr lang="en-ZA" dirty="0"/>
          </a:p>
          <a:p>
            <a:r>
              <a:rPr lang="en-ZA" dirty="0"/>
              <a:t>“We can therefore misallocate capital in two directions: </a:t>
            </a:r>
            <a:r>
              <a:rPr lang="en-ZA" b="1" dirty="0"/>
              <a:t>holding onto yesterday for too long, or betting too confidently on tomorrow.</a:t>
            </a:r>
            <a:r>
              <a:rPr lang="en-ZA" dirty="0"/>
              <a:t>”</a:t>
            </a:r>
          </a:p>
          <a:p>
            <a:endParaRPr lang="en-ZA" b="1" dirty="0"/>
          </a:p>
          <a:p>
            <a:r>
              <a:rPr lang="en-ZA" b="1" dirty="0"/>
              <a:t>Strategic cost:</a:t>
            </a:r>
            <a:endParaRPr lang="en-ZA" dirty="0"/>
          </a:p>
          <a:p>
            <a:r>
              <a:rPr lang="en-ZA" b="1" dirty="0"/>
              <a:t>Resources are committed according to behavioural attachment or confidence, and future value is overlooked.</a:t>
            </a:r>
            <a:endParaRPr lang="en-ZA" dirty="0"/>
          </a:p>
          <a:p>
            <a:endParaRPr lang="en-GB" dirty="0"/>
          </a:p>
          <a:p>
            <a:r>
              <a:rPr lang="en-GB" dirty="0"/>
              <a:t>Where the resources go.</a:t>
            </a:r>
          </a:p>
          <a:p>
            <a:r>
              <a:rPr lang="en-GB" dirty="0"/>
              <a:t>Cultures are revealed by their budget allocations and recognition rituals. List the three things the team has invested most resource in over the last quarter and the three things it has most publicly celebrated. If those lists do not match the stated values, the values on the wall are decoration.</a:t>
            </a:r>
          </a:p>
          <a:p>
            <a:r>
              <a:rPr lang="en-GB" dirty="0"/>
              <a:t>Source: Journal, 26 April 2026 — Professional Insights: Culture</a:t>
            </a:r>
          </a:p>
          <a:p>
            <a:br>
              <a:rPr lang="en-ZA" dirty="0"/>
            </a:br>
            <a:endParaRPr lang="en-ZA" dirty="0"/>
          </a:p>
          <a:p>
            <a:r>
              <a:rPr lang="en-ZA" b="1" dirty="0"/>
              <a:t>2. Strategic Inertia</a:t>
            </a:r>
          </a:p>
          <a:p>
            <a:r>
              <a:rPr lang="en-ZA" b="1" dirty="0"/>
              <a:t>What does it mean?</a:t>
            </a:r>
            <a:endParaRPr lang="en-ZA" dirty="0"/>
          </a:p>
          <a:p>
            <a:r>
              <a:rPr lang="en-ZA" b="1" dirty="0"/>
              <a:t>The organisation can see that change is needed, but struggles to move.</a:t>
            </a:r>
            <a:endParaRPr lang="en-ZA" dirty="0"/>
          </a:p>
          <a:p>
            <a:r>
              <a:rPr lang="en-ZA" dirty="0"/>
              <a:t>The market may be changing. Customer expectations may be shifting. New technology may be emerging. Leadership may even recognise these changes.</a:t>
            </a:r>
          </a:p>
          <a:p>
            <a:r>
              <a:rPr lang="en-ZA" dirty="0"/>
              <a:t>Yet the organisation continues operating largely as before.</a:t>
            </a:r>
          </a:p>
          <a:p>
            <a:endParaRPr lang="en-ZA" dirty="0"/>
          </a:p>
          <a:p>
            <a:r>
              <a:rPr lang="en-ZA" b="1" dirty="0"/>
              <a:t>ASK - Which bias and how can bias contribute?</a:t>
            </a:r>
            <a:endParaRPr lang="en-ZA" dirty="0"/>
          </a:p>
          <a:p>
            <a:r>
              <a:rPr lang="en-ZA" b="1" dirty="0"/>
              <a:t>Anchoring Bias</a:t>
            </a:r>
            <a:r>
              <a:rPr lang="en-ZA" dirty="0"/>
              <a:t> keeps thinking tied to old assumptions, measures or definitions of success.</a:t>
            </a:r>
          </a:p>
          <a:p>
            <a:r>
              <a:rPr lang="en-ZA" b="1" dirty="0"/>
              <a:t>Status Quo Bias</a:t>
            </a:r>
            <a:r>
              <a:rPr lang="en-ZA" dirty="0"/>
              <a:t> makes the existing model feel safer simply because it is familiar.</a:t>
            </a:r>
          </a:p>
          <a:p>
            <a:r>
              <a:rPr lang="en-ZA" b="1" dirty="0"/>
              <a:t>Loss Aversion</a:t>
            </a:r>
            <a:r>
              <a:rPr lang="en-ZA" dirty="0"/>
              <a:t> makes leaders focus more strongly on what could be lost through change than on what could be gained.</a:t>
            </a:r>
          </a:p>
          <a:p>
            <a:r>
              <a:rPr lang="en-ZA" dirty="0"/>
              <a:t>The organisation therefore keeps finding reasons to delay, protect or incrementally adjust what already exists.</a:t>
            </a:r>
          </a:p>
          <a:p>
            <a:endParaRPr lang="en-ZA" b="1" dirty="0"/>
          </a:p>
          <a:p>
            <a:r>
              <a:rPr lang="en-ZA" b="1" dirty="0"/>
              <a:t>Strategic cost:</a:t>
            </a:r>
            <a:endParaRPr lang="en-ZA" dirty="0"/>
          </a:p>
          <a:p>
            <a:r>
              <a:rPr lang="en-ZA" b="1" dirty="0"/>
              <a:t>The organisation responds to a changing environment more slowly than the environment itself is changing.</a:t>
            </a:r>
            <a:endParaRPr lang="en-ZA" dirty="0"/>
          </a:p>
          <a:p>
            <a:endParaRPr lang="en-GB" dirty="0"/>
          </a:p>
          <a:p>
            <a:r>
              <a:rPr lang="en-GB" dirty="0"/>
              <a:t>Programmes that outlive their purpose.</a:t>
            </a:r>
          </a:p>
          <a:p>
            <a:r>
              <a:rPr lang="en-GB" dirty="0"/>
              <a:t>Senior leaders accumulate programmes built to reproduce past breakthroughs. Identify one programme, ritual or initiative that exists mainly because something like it succeeded before, and pull the data on whether it still produces the original effect. If the case for keeping it is mostly nostalgia, schedule its sunset this quarter.</a:t>
            </a:r>
          </a:p>
          <a:p>
            <a:r>
              <a:rPr lang="en-GB" dirty="0"/>
              <a:t>Source: Journal, 6 May 2026 — Professional Insights: Leadership</a:t>
            </a:r>
          </a:p>
          <a:p>
            <a:br>
              <a:rPr lang="en-ZA" dirty="0"/>
            </a:br>
            <a:endParaRPr lang="en-ZA" dirty="0"/>
          </a:p>
          <a:p>
            <a:r>
              <a:rPr lang="en-ZA" b="1" dirty="0"/>
              <a:t>3. Execution Failure</a:t>
            </a:r>
          </a:p>
          <a:p>
            <a:r>
              <a:rPr lang="en-ZA" b="1" dirty="0"/>
              <a:t>What does it mean?</a:t>
            </a:r>
            <a:endParaRPr lang="en-ZA" dirty="0"/>
          </a:p>
          <a:p>
            <a:r>
              <a:rPr lang="en-ZA" b="1" dirty="0"/>
              <a:t>The strategy looks achievable on paper but breaks down during delivery.</a:t>
            </a:r>
            <a:endParaRPr lang="en-ZA" dirty="0"/>
          </a:p>
          <a:p>
            <a:r>
              <a:rPr lang="en-ZA" dirty="0"/>
              <a:t>The organisation commits to outcomes, timelines and initiatives without sufficiently accounting for the conditions required to deliver them.</a:t>
            </a:r>
          </a:p>
          <a:p>
            <a:endParaRPr lang="en-ZA" b="1" dirty="0"/>
          </a:p>
          <a:p>
            <a:r>
              <a:rPr lang="en-ZA" b="1" dirty="0"/>
              <a:t>ASK - Which bias and how can bias contribute?</a:t>
            </a:r>
            <a:endParaRPr lang="en-ZA" dirty="0"/>
          </a:p>
          <a:p>
            <a:r>
              <a:rPr lang="en-ZA" b="1" dirty="0"/>
              <a:t>Optimism Bias</a:t>
            </a:r>
            <a:r>
              <a:rPr lang="en-ZA" dirty="0"/>
              <a:t> encourages leaders to expect more favourable outcomes than the evidence supports.</a:t>
            </a:r>
          </a:p>
          <a:p>
            <a:r>
              <a:rPr lang="en-ZA" dirty="0"/>
              <a:t>The </a:t>
            </a:r>
            <a:r>
              <a:rPr lang="en-ZA" b="1" dirty="0"/>
              <a:t>Planning Fallacy</a:t>
            </a:r>
            <a:r>
              <a:rPr lang="en-ZA" dirty="0"/>
              <a:t> causes teams to underestimate how much time, money, capability and coordination delivery will actually require.</a:t>
            </a:r>
          </a:p>
          <a:p>
            <a:r>
              <a:rPr lang="en-ZA" b="1" dirty="0"/>
              <a:t>Overconfidence</a:t>
            </a:r>
            <a:r>
              <a:rPr lang="en-ZA" dirty="0"/>
              <a:t> can strengthen the belief that the organisation will somehow overcome those constraints.</a:t>
            </a:r>
          </a:p>
          <a:p>
            <a:r>
              <a:rPr lang="en-ZA" dirty="0"/>
              <a:t>Once execution begins, </a:t>
            </a:r>
            <a:r>
              <a:rPr lang="en-ZA" b="1" dirty="0"/>
              <a:t>Confirmation Bias</a:t>
            </a:r>
            <a:r>
              <a:rPr lang="en-ZA" dirty="0"/>
              <a:t> can make leaders pay greater attention to evidence that the plan is working while explaining away early warning signs.</a:t>
            </a:r>
          </a:p>
          <a:p>
            <a:endParaRPr lang="en-ZA" b="1" dirty="0"/>
          </a:p>
          <a:p>
            <a:r>
              <a:rPr lang="en-ZA" b="1" dirty="0"/>
              <a:t>Strategic cost:</a:t>
            </a:r>
            <a:endParaRPr lang="en-ZA" dirty="0"/>
          </a:p>
          <a:p>
            <a:r>
              <a:rPr lang="en-ZA" b="1" dirty="0"/>
              <a:t>The organisation commits beyond its realistic capacity to deliver—and recognises the gap too late.</a:t>
            </a:r>
            <a:endParaRPr lang="en-ZA" dirty="0"/>
          </a:p>
          <a:p>
            <a:r>
              <a:rPr lang="en-ZA" dirty="0"/>
              <a:t>This connects strongly to your White Space discussion because some of that underestimated complexity sits </a:t>
            </a:r>
            <a:r>
              <a:rPr lang="en-ZA" b="1" dirty="0"/>
              <a:t>between functions</a:t>
            </a:r>
            <a:r>
              <a:rPr lang="en-ZA" dirty="0"/>
              <a:t>, not simply within the project plan.</a:t>
            </a:r>
          </a:p>
          <a:p>
            <a:endParaRPr lang="en-GB" dirty="0"/>
          </a:p>
          <a:p>
            <a:r>
              <a:rPr lang="en-GB" dirty="0"/>
              <a:t>Failing, or still maturing.</a:t>
            </a:r>
          </a:p>
          <a:p>
            <a:r>
              <a:rPr lang="en-GB" dirty="0"/>
              <a:t>Strategic outcomes are usually cumulative. Capability, trust, customer loyalty and operational discipline are built through repeated investments whose effects may not be immediately visible. Good execution distinguishes between an initiative that is failing and one whose results have not yet matured, while using evidence to test whether the underlying assumptions remain valid.</a:t>
            </a:r>
          </a:p>
          <a:p>
            <a:r>
              <a:rPr lang="en-GB" dirty="0"/>
              <a:t>Source: Journal, 1 October 2026 — Professional Insights: Strategy</a:t>
            </a:r>
          </a:p>
          <a:p>
            <a:br>
              <a:rPr lang="en-ZA" dirty="0"/>
            </a:br>
            <a:endParaRPr lang="en-ZA" dirty="0"/>
          </a:p>
          <a:p>
            <a:r>
              <a:rPr lang="en-ZA" b="1" dirty="0"/>
              <a:t>4. Innovation Suppression</a:t>
            </a:r>
          </a:p>
          <a:p>
            <a:r>
              <a:rPr lang="en-ZA" b="1" dirty="0"/>
              <a:t>What does it mean?</a:t>
            </a:r>
            <a:endParaRPr lang="en-ZA" dirty="0"/>
          </a:p>
          <a:p>
            <a:r>
              <a:rPr lang="en-ZA" b="1" dirty="0"/>
              <a:t>Good ideas, alternative perspectives and uncomfortable truths struggle to survive inside the organisation.</a:t>
            </a:r>
            <a:endParaRPr lang="en-ZA" dirty="0"/>
          </a:p>
          <a:p>
            <a:r>
              <a:rPr lang="en-ZA" dirty="0"/>
              <a:t>Innovation does not always fail because people lack ideas. Sometimes people have ideas but learn which ideas are safe to voice, which assumptions are dangerous to challenge, and whose thinking carries the greatest weight.</a:t>
            </a:r>
          </a:p>
          <a:p>
            <a:endParaRPr lang="en-ZA" b="1" dirty="0"/>
          </a:p>
          <a:p>
            <a:r>
              <a:rPr lang="en-ZA" b="1" dirty="0"/>
              <a:t>ASK - Which bias and how can bias contribute?</a:t>
            </a:r>
            <a:endParaRPr lang="en-ZA" dirty="0"/>
          </a:p>
          <a:p>
            <a:r>
              <a:rPr lang="en-ZA" b="1" dirty="0"/>
              <a:t>Groupthink</a:t>
            </a:r>
            <a:r>
              <a:rPr lang="en-ZA" dirty="0"/>
              <a:t> can make maintaining agreement more important than examining alternatives.</a:t>
            </a:r>
          </a:p>
          <a:p>
            <a:r>
              <a:rPr lang="en-ZA" b="1" dirty="0"/>
              <a:t>Conformity Bias</a:t>
            </a:r>
            <a:r>
              <a:rPr lang="en-ZA" dirty="0"/>
              <a:t> encourages people to align with the dominant view.</a:t>
            </a:r>
          </a:p>
          <a:p>
            <a:r>
              <a:rPr lang="en-ZA" b="1" dirty="0"/>
              <a:t>Authority Bias</a:t>
            </a:r>
            <a:r>
              <a:rPr lang="en-ZA" dirty="0"/>
              <a:t> can make people reluctant to challenge powerful or respected leaders.</a:t>
            </a:r>
          </a:p>
          <a:p>
            <a:r>
              <a:rPr lang="en-ZA" b="1" dirty="0"/>
              <a:t>Career-Risk Bias</a:t>
            </a:r>
            <a:r>
              <a:rPr lang="en-ZA" dirty="0"/>
              <a:t> raises the personal cost of dissent: </a:t>
            </a:r>
            <a:r>
              <a:rPr lang="en-ZA" i="1" dirty="0"/>
              <a:t>“What happens to me if I challenge this and I am wrong?”</a:t>
            </a:r>
            <a:endParaRPr lang="en-ZA" dirty="0"/>
          </a:p>
          <a:p>
            <a:r>
              <a:rPr lang="en-ZA" dirty="0"/>
              <a:t>The result is that potentially valuable ideas may disappear before they are ever seriously considered.</a:t>
            </a:r>
          </a:p>
          <a:p>
            <a:endParaRPr lang="en-ZA" b="1" dirty="0"/>
          </a:p>
          <a:p>
            <a:r>
              <a:rPr lang="en-ZA" b="1" dirty="0"/>
              <a:t>Strategic cost:</a:t>
            </a:r>
            <a:endParaRPr lang="en-ZA" dirty="0"/>
          </a:p>
          <a:p>
            <a:r>
              <a:rPr lang="en-ZA" b="1" dirty="0"/>
              <a:t>The organisation loses access to ideas and information that could have improved the strategy because people learn to filter themselves.</a:t>
            </a:r>
            <a:endParaRPr lang="en-ZA" dirty="0"/>
          </a:p>
          <a:p>
            <a:endParaRPr lang="en-GB" dirty="0"/>
          </a:p>
          <a:p>
            <a:r>
              <a:rPr lang="en-GB" dirty="0"/>
              <a:t>Protect the truth-teller.</a:t>
            </a:r>
          </a:p>
          <a:p>
            <a:r>
              <a:rPr lang="en-GB" dirty="0"/>
              <a:t>Organisations often face the most intense resistance to necessary truth from the people who should be most invested in hearing it. Build the protection of truth-tellers into the structure of the culture as well as the values statement.</a:t>
            </a:r>
          </a:p>
          <a:p>
            <a:r>
              <a:rPr lang="en-GB" dirty="0"/>
              <a:t>Source: Journal, 7 February 2026 — Professional Insights: Culture</a:t>
            </a:r>
          </a:p>
          <a:p>
            <a:endParaRPr lang="en-GB" dirty="0"/>
          </a:p>
          <a:p>
            <a:r>
              <a:rPr lang="en-ZA" dirty="0"/>
              <a:t>A strong question to land this:</a:t>
            </a:r>
          </a:p>
          <a:p>
            <a:r>
              <a:rPr lang="en-ZA" b="1" dirty="0"/>
              <a:t>“How many ideas never reach the strategy table because people already know what the table wants to hear?”</a:t>
            </a:r>
            <a:endParaRPr lang="en-ZA" dirty="0"/>
          </a:p>
          <a:p>
            <a:br>
              <a:rPr lang="en-ZA" dirty="0"/>
            </a:br>
            <a:endParaRPr lang="en-ZA" dirty="0"/>
          </a:p>
          <a:p>
            <a:r>
              <a:rPr lang="en-ZA" b="1" dirty="0"/>
              <a:t>5. Purpose Drift</a:t>
            </a:r>
          </a:p>
          <a:p>
            <a:r>
              <a:rPr lang="en-ZA" b="1" dirty="0"/>
              <a:t>What does it mean?</a:t>
            </a:r>
            <a:endParaRPr lang="en-ZA" dirty="0"/>
          </a:p>
          <a:p>
            <a:r>
              <a:rPr lang="en-ZA" b="1" dirty="0"/>
              <a:t>The organisation gradually starts making decisions that serve immediate interests while moving away from its longer-term strategic intent.</a:t>
            </a:r>
            <a:endParaRPr lang="en-ZA" dirty="0"/>
          </a:p>
          <a:p>
            <a:r>
              <a:rPr lang="en-ZA" dirty="0"/>
              <a:t>Purpose drift is often gradual. Individual decisions can appear reasonable on their own, but over time they begin pulling the organisation away from what it originally set out to achieve.</a:t>
            </a:r>
          </a:p>
          <a:p>
            <a:endParaRPr lang="en-ZA" b="1" dirty="0"/>
          </a:p>
          <a:p>
            <a:r>
              <a:rPr lang="en-ZA" b="1" dirty="0"/>
              <a:t>ASK - Which bias and how can bias contribute?</a:t>
            </a:r>
            <a:endParaRPr lang="en-ZA" dirty="0"/>
          </a:p>
          <a:p>
            <a:r>
              <a:rPr lang="en-ZA" b="1" dirty="0"/>
              <a:t>Self-Interest Bias</a:t>
            </a:r>
            <a:r>
              <a:rPr lang="en-ZA" dirty="0"/>
              <a:t> can influence decisions towards protecting individual or functional interests.</a:t>
            </a:r>
          </a:p>
          <a:p>
            <a:r>
              <a:rPr lang="en-ZA" b="1" dirty="0"/>
              <a:t>Incentive Bias</a:t>
            </a:r>
            <a:r>
              <a:rPr lang="en-ZA" dirty="0"/>
              <a:t> can make people optimise for what is measured and rewarded—even when that behaviour works against the wider strategy.</a:t>
            </a:r>
          </a:p>
          <a:p>
            <a:r>
              <a:rPr lang="en-ZA" dirty="0"/>
              <a:t>The </a:t>
            </a:r>
            <a:r>
              <a:rPr lang="en-ZA" b="1" dirty="0"/>
              <a:t>Halo Effect</a:t>
            </a:r>
            <a:r>
              <a:rPr lang="en-ZA" dirty="0"/>
              <a:t> can cause a highly visible success, influential leader or celebrated initiative to receive more strategic weight than the evidence warrants.</a:t>
            </a:r>
          </a:p>
          <a:p>
            <a:r>
              <a:rPr lang="en-ZA" dirty="0"/>
              <a:t>Social pressure can then reinforce the direction because challenging something perceived as successful becomes increasingly difficult.</a:t>
            </a:r>
          </a:p>
          <a:p>
            <a:endParaRPr lang="en-ZA" b="1" dirty="0"/>
          </a:p>
          <a:p>
            <a:r>
              <a:rPr lang="en-ZA" b="1" dirty="0"/>
              <a:t>Strategic cost:</a:t>
            </a:r>
            <a:endParaRPr lang="en-ZA" dirty="0"/>
          </a:p>
          <a:p>
            <a:r>
              <a:rPr lang="en-ZA" b="1" dirty="0"/>
              <a:t>Short-term success begins to redefine what matters, and the organisation gradually loses alignment with its longer-term intent.</a:t>
            </a:r>
            <a:endParaRPr lang="en-ZA" dirty="0"/>
          </a:p>
          <a:p>
            <a:endParaRPr lang="en-GB" dirty="0"/>
          </a:p>
          <a:p>
            <a:r>
              <a:rPr lang="en-GB" dirty="0"/>
              <a:t>Small accommodations.</a:t>
            </a:r>
          </a:p>
          <a:p>
            <a:r>
              <a:rPr lang="en-GB" dirty="0"/>
              <a:t>Drift happens through a series of small accommodations that go unchallenged. What is tolerated becomes what is normal, and by the time the values have shifted no one can point to the moment it happened. Leaders who want to protect what the organisation stands for must challenge early drift.</a:t>
            </a:r>
          </a:p>
          <a:p>
            <a:r>
              <a:rPr lang="en-GB" dirty="0"/>
              <a:t>Source: Journal, 16 April 2026 — Professional Insights: Culture</a:t>
            </a:r>
          </a:p>
          <a:p>
            <a:br>
              <a:rPr lang="en-ZA" dirty="0"/>
            </a:br>
            <a:endParaRPr lang="en-ZA" dirty="0"/>
          </a:p>
          <a:p>
            <a:r>
              <a:rPr lang="en-ZA" b="1" dirty="0"/>
              <a:t>Land the Five Costs</a:t>
            </a:r>
          </a:p>
          <a:p>
            <a:r>
              <a:rPr lang="en-ZA" dirty="0"/>
              <a:t>So cognitive bias does not remain inside someone's head. It can eventually show up in the economics and performance of the organisation.”</a:t>
            </a:r>
          </a:p>
          <a:p>
            <a:endParaRPr lang="en-ZA" b="1" dirty="0"/>
          </a:p>
          <a:p>
            <a:r>
              <a:rPr lang="en-ZA" dirty="0"/>
              <a:t>Then land it with:</a:t>
            </a:r>
          </a:p>
          <a:p>
            <a:r>
              <a:rPr lang="en-ZA" b="1" dirty="0"/>
              <a:t>“Bias begins in judgement. Its cost appears in strategy.”</a:t>
            </a:r>
          </a:p>
          <a:p>
            <a:r>
              <a:rPr lang="en-US" dirty="0"/>
              <a:t>
Transition (closing point for Section 3): “Now that we know what bias costs, the next question is: where exactly in the strategy process do these costs accumulate? That’s what Section 4 maps for us.”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AE779-CBDC-BE05-1965-752F76AB54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4B0382-26B3-964C-FE53-769101787732}"/>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3977CC7-2E08-38C7-30AC-6063ED9790F3}"/>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FA359836-9064-ADC8-CB72-4EEE286D4CAF}"/>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016769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4 · EXTRAPOLATING — WHERE
Extrapolating — Where Behavioural Strategy Operates
</a:t>
            </a:r>
            <a:r>
              <a:rPr lang="en-US" b="1" dirty="0"/>
              <a:t>SECTION LEARNING OUTCOMES:</a:t>
            </a:r>
            <a:r>
              <a:rPr lang="en-US" dirty="0"/>
              <a:t>
1. Identify where bias and emotional climate most affect decision quality across the strategy process.
2. Determine the interventions that would most strengthen objectivity in your own strategy process.
</a:t>
            </a:r>
            <a:r>
              <a:rPr lang="en-US" b="1" dirty="0"/>
              <a:t>SECTION INTENT: </a:t>
            </a:r>
            <a:r>
              <a:rPr lang="en-US" dirty="0"/>
              <a:t>This is the most diagnostic section. Participants move from understanding bias conceptually to mapping where it shows up — across their own strategy process (4.1) and in the emotional environment that either amplifies or dampens it (4.2.1 to 4.2.3). </a:t>
            </a:r>
          </a:p>
          <a:p>
            <a:r>
              <a:rPr lang="en-US" dirty="0"/>
              <a:t>Expect this section to surface uncomfortable recognitions. That is the design intent.
Say (framing for the group): “Every bias we explored in Section 2 has a home. It lives in specific moments of the strategy process. This section maps those moments.”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4.1 · THE STRATEGY JOURNEY AS A BIAS LANDSCAPE (4 Phases)
</a:t>
            </a:r>
            <a:r>
              <a:rPr lang="en-US" b="1" dirty="0"/>
              <a:t>CONTENT:</a:t>
            </a:r>
            <a:r>
              <a:rPr lang="en-US" dirty="0"/>
              <a:t>
</a:t>
            </a:r>
            <a:r>
              <a:rPr lang="en-ZA" dirty="0"/>
              <a:t>Strategy is </a:t>
            </a:r>
            <a:r>
              <a:rPr lang="en-ZA" b="1" dirty="0"/>
              <a:t>designed by people and delivered by people</a:t>
            </a:r>
            <a:r>
              <a:rPr lang="en-ZA" dirty="0"/>
              <a:t>.</a:t>
            </a:r>
          </a:p>
          <a:p>
            <a:r>
              <a:rPr lang="en-ZA" dirty="0"/>
              <a:t>Throughout the strategy journey, people are required to interpret information, make sense of circumstances, generate possibilities, make choices, translate direction into their own contribution, coordinate with others and act.</a:t>
            </a:r>
          </a:p>
          <a:p>
            <a:endParaRPr lang="en-ZA" dirty="0"/>
          </a:p>
          <a:p>
            <a:r>
              <a:rPr lang="en-ZA" dirty="0"/>
              <a:t>At every one of these moments, what people </a:t>
            </a:r>
            <a:r>
              <a:rPr lang="en-ZA" b="1" dirty="0"/>
              <a:t>think, decide and do</a:t>
            </a:r>
            <a:r>
              <a:rPr lang="en-ZA" dirty="0"/>
              <a:t> can influence the strategy.</a:t>
            </a:r>
          </a:p>
          <a:p>
            <a:endParaRPr lang="en-ZA" dirty="0"/>
          </a:p>
          <a:p>
            <a:r>
              <a:rPr lang="en-ZA" dirty="0"/>
              <a:t>Every strategic message is filtered through the </a:t>
            </a:r>
            <a:r>
              <a:rPr lang="en-ZA" b="1" dirty="0"/>
              <a:t>mind—cognition—and the heart—emotion</a:t>
            </a:r>
            <a:r>
              <a:rPr lang="en-ZA" dirty="0"/>
              <a:t>.</a:t>
            </a:r>
          </a:p>
          <a:p>
            <a:endParaRPr lang="en-ZA" dirty="0"/>
          </a:p>
          <a:p>
            <a:r>
              <a:rPr lang="en-ZA" dirty="0"/>
              <a:t>Bias therefore lives in processes as well as in people. More precisely, it enters at the specific moments within the strategy process where human judgement is required—where data must be interpreted, options imagined, choices made, and strategic intent translated into action.</a:t>
            </a:r>
          </a:p>
          <a:p>
            <a:endParaRPr lang="en-ZA" dirty="0"/>
          </a:p>
          <a:p>
            <a:r>
              <a:rPr lang="en-ZA" dirty="0"/>
              <a:t>This is the core insight of the </a:t>
            </a:r>
            <a:r>
              <a:rPr lang="en-ZA" b="1" dirty="0"/>
              <a:t>Bias Landscape</a:t>
            </a:r>
            <a:r>
              <a:rPr lang="en-ZA" dirty="0"/>
              <a:t>:</a:t>
            </a:r>
          </a:p>
          <a:p>
            <a:r>
              <a:rPr lang="en-ZA" b="1" dirty="0"/>
              <a:t>Behavioural Strategy helps us identify where, across the strategy journey, human judgement is most exposed to invisible distortion—from the people shaping the strategy to the people ultimately delivering it.</a:t>
            </a:r>
            <a:endParaRPr lang="en-ZA" dirty="0"/>
          </a:p>
          <a:p>
            <a:endParaRPr lang="en-ZA" dirty="0"/>
          </a:p>
          <a:p>
            <a:r>
              <a:rPr lang="en-ZA" dirty="0"/>
              <a:t>The four phases give us a practical way to examine that exposure.</a:t>
            </a:r>
          </a:p>
          <a:p>
            <a:endParaRPr lang="en-ZA" b="1" dirty="0"/>
          </a:p>
          <a:p>
            <a:r>
              <a:rPr lang="en-ZA" b="1" dirty="0"/>
              <a:t>PHASE 1 · DIAGNOSIS</a:t>
            </a:r>
          </a:p>
          <a:p>
            <a:r>
              <a:rPr lang="en-ZA" b="1" dirty="0"/>
              <a:t>Wrong reality enters the strategy</a:t>
            </a:r>
          </a:p>
          <a:p>
            <a:r>
              <a:rPr lang="en-ZA" dirty="0"/>
              <a:t>Every strategy begins with a reading of reality.</a:t>
            </a:r>
          </a:p>
          <a:p>
            <a:r>
              <a:rPr lang="en-ZA" dirty="0"/>
              <a:t>Leaders scan the external environment, assess internal capability and form a view of what is true about the organisation's position.</a:t>
            </a:r>
          </a:p>
          <a:p>
            <a:r>
              <a:rPr lang="en-ZA" dirty="0"/>
              <a:t>This diagnostic work provides the foundation on which everything else is built. </a:t>
            </a:r>
          </a:p>
          <a:p>
            <a:r>
              <a:rPr lang="en-ZA" dirty="0"/>
              <a:t>It is also where the first—and potentially most consequential—distortions can enter.</a:t>
            </a:r>
          </a:p>
          <a:p>
            <a:r>
              <a:rPr lang="en-ZA" dirty="0"/>
              <a:t>The human mind cannot process all available information equally. It selects. And the criteria for selection are rarely completely objective.</a:t>
            </a:r>
          </a:p>
          <a:p>
            <a:endParaRPr lang="en-GB" dirty="0"/>
          </a:p>
          <a:p>
            <a:r>
              <a:rPr lang="en-GB" dirty="0"/>
              <a:t>Diagnosis beneath visible behaviour.</a:t>
            </a:r>
          </a:p>
          <a:p>
            <a:r>
              <a:rPr lang="en-GB" dirty="0"/>
              <a:t>Organisations misdiagnose problems when they address visible symptoms without examining the beliefs producing them. Persistent silo behaviour or poor accountability may survive new processes because the underlying assumptions remain intact. Ask what is happening, and what logic keeps making this behaviour reasonable to the people practising it.</a:t>
            </a:r>
          </a:p>
          <a:p>
            <a:r>
              <a:rPr lang="en-GB" dirty="0"/>
              <a:t>Source: Journal, 2 October 2026 — Professional Insights: Strategy</a:t>
            </a:r>
          </a:p>
          <a:p>
            <a:endParaRPr lang="en-ZA" dirty="0"/>
          </a:p>
          <a:p>
            <a:r>
              <a:rPr lang="en-ZA" b="1" dirty="0"/>
              <a:t>Link to how bias may influence diagnosis</a:t>
            </a:r>
          </a:p>
          <a:p>
            <a:endParaRPr lang="en-ZA" b="1" dirty="0"/>
          </a:p>
          <a:p>
            <a:r>
              <a:rPr lang="en-ZA" b="1" dirty="0"/>
              <a:t>Availability Bias</a:t>
            </a:r>
            <a:r>
              <a:rPr lang="en-ZA" dirty="0"/>
              <a:t> governs what gets noticed. Information that is recent, vivid or frequently discussed can receive far greater weight than its actual strategic significance. </a:t>
            </a:r>
          </a:p>
          <a:p>
            <a:r>
              <a:rPr lang="en-ZA" dirty="0"/>
              <a:t>A competitor's recent product launch or a difficult quarter just closed can dominate diagnostic conversations in ways that distort the overall picture.</a:t>
            </a:r>
          </a:p>
          <a:p>
            <a:endParaRPr lang="en-ZA" b="1" dirty="0"/>
          </a:p>
          <a:p>
            <a:r>
              <a:rPr lang="en-ZA" b="1" dirty="0"/>
              <a:t>Anchoring Bias</a:t>
            </a:r>
            <a:r>
              <a:rPr lang="en-ZA" dirty="0"/>
              <a:t> governs what gets used as a reference point. </a:t>
            </a:r>
          </a:p>
          <a:p>
            <a:r>
              <a:rPr lang="en-ZA" dirty="0"/>
              <a:t>The first number on a slide, the previous year's result or an analyst's initial estimate can become a gravitational centre around which subsequent thinking orbits. </a:t>
            </a:r>
          </a:p>
          <a:p>
            <a:r>
              <a:rPr lang="en-ZA" dirty="0"/>
              <a:t>The frame may be set before the analysis has really begun.</a:t>
            </a:r>
          </a:p>
          <a:p>
            <a:endParaRPr lang="en-ZA" b="1" dirty="0"/>
          </a:p>
          <a:p>
            <a:r>
              <a:rPr lang="en-ZA" b="1" dirty="0"/>
              <a:t>Confirmation Bias</a:t>
            </a:r>
            <a:r>
              <a:rPr lang="en-ZA" dirty="0"/>
              <a:t> closes the loop. Once leaders have formed an initial view—even provisionally—they may begin seeking and giving greater weight to information that supports it. </a:t>
            </a:r>
          </a:p>
          <a:p>
            <a:r>
              <a:rPr lang="en-ZA" dirty="0"/>
              <a:t>Disconfirming evidence can receive less attention or be processed more sceptically.</a:t>
            </a:r>
          </a:p>
          <a:p>
            <a:endParaRPr lang="en-GB" dirty="0"/>
          </a:p>
          <a:p>
            <a:r>
              <a:rPr lang="en-GB" dirty="0"/>
              <a:t>Deciding first.</a:t>
            </a:r>
          </a:p>
          <a:p>
            <a:r>
              <a:rPr lang="en-GB" dirty="0"/>
              <a:t>Organisations often decide first and then use analysis to validate the decision. Sound strategy needs enough humility to let evidence alter the chosen path.</a:t>
            </a:r>
          </a:p>
          <a:p>
            <a:r>
              <a:rPr lang="en-GB" dirty="0"/>
              <a:t>Source: Journal, 17 September 2026 — Professional Insights: Strategy</a:t>
            </a:r>
          </a:p>
          <a:p>
            <a:endParaRPr lang="en-ZA" b="1" dirty="0"/>
          </a:p>
          <a:p>
            <a:r>
              <a:rPr lang="en-ZA" b="1" dirty="0"/>
              <a:t>A strategy built on a flawed diagnosis can become a well-organised response to a reality the organisation has misread.</a:t>
            </a:r>
            <a:endParaRPr lang="en-ZA" dirty="0"/>
          </a:p>
          <a:p>
            <a:endParaRPr lang="en-GB" dirty="0"/>
          </a:p>
          <a:p>
            <a:r>
              <a:rPr lang="en-GB" dirty="0"/>
              <a:t>Disciplined diagnosis.</a:t>
            </a:r>
          </a:p>
          <a:p>
            <a:r>
              <a:rPr lang="en-GB" dirty="0"/>
              <a:t>Consequential decisions require leaders to separate facts from framing, individual interests from institutional interests, and genuine risk from manufactured urgency.</a:t>
            </a:r>
          </a:p>
          <a:p>
            <a:r>
              <a:rPr lang="en-GB" dirty="0"/>
              <a:t>Source: Journal, 14 August 2026 — Professional Insights: Strategy</a:t>
            </a:r>
          </a:p>
          <a:p>
            <a:endParaRPr lang="en-ZA" b="1" dirty="0"/>
          </a:p>
          <a:p>
            <a:r>
              <a:rPr lang="en-ZA" b="1" dirty="0"/>
              <a:t>Scanner Question</a:t>
            </a:r>
            <a:endParaRPr lang="en-ZA" dirty="0"/>
          </a:p>
          <a:p>
            <a:r>
              <a:rPr lang="en-ZA" dirty="0"/>
              <a:t>“If we stripped out everything our team already knew or believed before this process began, what would the remaining evidence actually tell us?”</a:t>
            </a:r>
          </a:p>
          <a:p>
            <a:endParaRPr lang="en-ZA" b="1" dirty="0"/>
          </a:p>
          <a:p>
            <a:r>
              <a:rPr lang="en-ZA" b="1" dirty="0"/>
              <a:t>Ask</a:t>
            </a:r>
            <a:endParaRPr lang="en-ZA" dirty="0"/>
          </a:p>
          <a:p>
            <a:r>
              <a:rPr lang="en-ZA" dirty="0"/>
              <a:t>“Is your current strategic diagnosis based on data you deliberately sought—or data that happened to be available?”</a:t>
            </a:r>
          </a:p>
          <a:p>
            <a:br>
              <a:rPr lang="en-ZA" dirty="0"/>
            </a:br>
            <a:endParaRPr lang="en-ZA" dirty="0"/>
          </a:p>
          <a:p>
            <a:r>
              <a:rPr lang="en-ZA" b="1" dirty="0"/>
              <a:t>PHASE 2 · OPTION GENERATION</a:t>
            </a:r>
          </a:p>
          <a:p>
            <a:r>
              <a:rPr lang="en-ZA" b="1" dirty="0"/>
              <a:t>The solution space is narrowed before debate</a:t>
            </a:r>
          </a:p>
          <a:p>
            <a:r>
              <a:rPr lang="en-ZA" dirty="0"/>
              <a:t>Once the organisation has formed a view of reality, people begin asking:</a:t>
            </a:r>
          </a:p>
          <a:p>
            <a:r>
              <a:rPr lang="en-ZA" b="1" dirty="0"/>
              <a:t>What could we do? What directions are available? What choices exist?</a:t>
            </a:r>
            <a:endParaRPr lang="en-ZA" dirty="0"/>
          </a:p>
          <a:p>
            <a:endParaRPr lang="en-ZA" dirty="0"/>
          </a:p>
          <a:p>
            <a:r>
              <a:rPr lang="en-ZA" dirty="0"/>
              <a:t>This should be one of the most generative moments in strategy. </a:t>
            </a:r>
          </a:p>
          <a:p>
            <a:r>
              <a:rPr lang="en-ZA" dirty="0"/>
              <a:t>It is where imagination, expertise and creative tension should produce a range of possible paths.</a:t>
            </a:r>
          </a:p>
          <a:p>
            <a:r>
              <a:rPr lang="en-ZA" dirty="0"/>
              <a:t>Yet the range of possibilities can begin narrowing before options are ever formally tabled.</a:t>
            </a:r>
          </a:p>
          <a:p>
            <a:r>
              <a:rPr lang="en-ZA" dirty="0"/>
              <a:t>Social dynamics, professional filters and unspoken assumptions about what is realistic, acceptable or safe to propose all influence what reaches the table.</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option generation</a:t>
            </a:r>
          </a:p>
          <a:p>
            <a:endParaRPr lang="en-ZA" b="1" dirty="0"/>
          </a:p>
          <a:p>
            <a:r>
              <a:rPr lang="en-ZA" sz="1200" b="1" i="0" kern="1200" dirty="0">
                <a:solidFill>
                  <a:schemeClr val="tx1"/>
                </a:solidFill>
                <a:effectLst/>
                <a:latin typeface="+mn-lt"/>
                <a:ea typeface="+mn-ea"/>
                <a:cs typeface="+mn-cs"/>
              </a:rPr>
              <a:t>Status Quo Bias</a:t>
            </a:r>
            <a:r>
              <a:rPr lang="en-ZA" sz="1200" b="0" i="0" kern="1200" dirty="0">
                <a:solidFill>
                  <a:schemeClr val="tx1"/>
                </a:solidFill>
                <a:effectLst/>
                <a:latin typeface="+mn-lt"/>
                <a:ea typeface="+mn-ea"/>
                <a:cs typeface="+mn-cs"/>
              </a:rPr>
              <a:t> is the most pervasive. The current strategy naturally pulls thinking toward what already exists. </a:t>
            </a:r>
          </a:p>
          <a:p>
            <a:r>
              <a:rPr lang="en-ZA" sz="1200" b="0" i="0" kern="1200" dirty="0">
                <a:solidFill>
                  <a:schemeClr val="tx1"/>
                </a:solidFill>
                <a:effectLst/>
                <a:latin typeface="+mn-lt"/>
                <a:ea typeface="+mn-ea"/>
                <a:cs typeface="+mn-cs"/>
              </a:rPr>
              <a:t>Teams tend to make small adjustments to the current approach and leave bold or different options unexplored.</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Functional and Silo Bias</a:t>
            </a:r>
            <a:r>
              <a:rPr lang="en-ZA" sz="1200" b="0" i="0" kern="1200" dirty="0">
                <a:solidFill>
                  <a:schemeClr val="tx1"/>
                </a:solidFill>
                <a:effectLst/>
                <a:latin typeface="+mn-lt"/>
                <a:ea typeface="+mn-ea"/>
                <a:cs typeface="+mn-cs"/>
              </a:rPr>
              <a:t> means that options tend to be generated inside each organisational lane. </a:t>
            </a:r>
          </a:p>
          <a:p>
            <a:r>
              <a:rPr lang="en-ZA" sz="1200" b="0" i="0" kern="1200" dirty="0">
                <a:solidFill>
                  <a:schemeClr val="tx1"/>
                </a:solidFill>
                <a:effectLst/>
                <a:latin typeface="+mn-lt"/>
                <a:ea typeface="+mn-ea"/>
                <a:cs typeface="+mn-cs"/>
              </a:rPr>
              <a:t>The genuinely transformative options — those that require cross-functional integration and new ways of working — are structurally disadvantaged in the generation process.</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Career-Risk Bias</a:t>
            </a:r>
            <a:r>
              <a:rPr lang="en-ZA" sz="1200" b="0" i="0" kern="1200" dirty="0">
                <a:solidFill>
                  <a:schemeClr val="tx1"/>
                </a:solidFill>
                <a:effectLst/>
                <a:latin typeface="+mn-lt"/>
                <a:ea typeface="+mn-ea"/>
                <a:cs typeface="+mn-cs"/>
              </a:rPr>
              <a:t> is perhaps the most damaging and least visible. Leaders and their teams have a well-developed instinct for what it is safe to propose. </a:t>
            </a:r>
          </a:p>
          <a:p>
            <a:r>
              <a:rPr lang="en-ZA" sz="1200" b="0" i="0" kern="1200" dirty="0">
                <a:solidFill>
                  <a:schemeClr val="tx1"/>
                </a:solidFill>
                <a:effectLst/>
                <a:latin typeface="+mn-lt"/>
                <a:ea typeface="+mn-ea"/>
                <a:cs typeface="+mn-cs"/>
              </a:rPr>
              <a:t>Radical options carry personal risk for the people who advocate them. So they do not get advocated. They may not even get thought.</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Groupthink and Conformity Bias</a:t>
            </a:r>
            <a:r>
              <a:rPr lang="en-ZA" sz="1200" b="0" i="0" kern="1200" dirty="0">
                <a:solidFill>
                  <a:schemeClr val="tx1"/>
                </a:solidFill>
                <a:effectLst/>
                <a:latin typeface="+mn-lt"/>
                <a:ea typeface="+mn-ea"/>
                <a:cs typeface="+mn-cs"/>
              </a:rPr>
              <a:t> operate in the room itself. Once a dominant view begins to form — even loosely — the social pressure to align with it grows. </a:t>
            </a:r>
          </a:p>
          <a:p>
            <a:r>
              <a:rPr lang="en-ZA" sz="1200" b="0" i="0" kern="1200" dirty="0">
                <a:solidFill>
                  <a:schemeClr val="tx1"/>
                </a:solidFill>
                <a:effectLst/>
                <a:latin typeface="+mn-lt"/>
                <a:ea typeface="+mn-ea"/>
                <a:cs typeface="+mn-cs"/>
              </a:rPr>
              <a:t>Dissenting options require social courage as well as intellectual effort. In most rooms, courage is in shorter supply than intelligence.</a:t>
            </a:r>
          </a:p>
          <a:p>
            <a:endParaRPr lang="en-ZA" b="1" dirty="0"/>
          </a:p>
          <a:p>
            <a:r>
              <a:rPr lang="en-ZA" b="1" dirty="0"/>
              <a:t>The options that eventually reach a decision have already passed through human, professional and social filters.</a:t>
            </a:r>
            <a:endParaRPr lang="en-ZA" dirty="0"/>
          </a:p>
          <a:p>
            <a:endParaRPr lang="en-ZA" b="1" dirty="0"/>
          </a:p>
          <a:p>
            <a:r>
              <a:rPr lang="en-ZA" b="1" dirty="0"/>
              <a:t>Scanner Question</a:t>
            </a:r>
            <a:endParaRPr lang="en-ZA" dirty="0"/>
          </a:p>
          <a:p>
            <a:r>
              <a:rPr lang="en-ZA" dirty="0"/>
              <a:t>“What is the most disruptive option we have not yet put on the table—and what is the real reason it is not there?”</a:t>
            </a:r>
          </a:p>
          <a:p>
            <a:endParaRPr lang="en-ZA" b="1" dirty="0"/>
          </a:p>
          <a:p>
            <a:r>
              <a:rPr lang="en-ZA" b="1" dirty="0"/>
              <a:t>Ask</a:t>
            </a:r>
            <a:endParaRPr lang="en-ZA" dirty="0"/>
          </a:p>
          <a:p>
            <a:r>
              <a:rPr lang="en-ZA" dirty="0"/>
              <a:t>“How many genuinely different strategic options did your team consider before committing to your current direction?”</a:t>
            </a:r>
          </a:p>
          <a:p>
            <a:br>
              <a:rPr lang="en-ZA" dirty="0"/>
            </a:br>
            <a:endParaRPr lang="en-ZA" dirty="0"/>
          </a:p>
          <a:p>
            <a:r>
              <a:rPr lang="en-ZA" b="1" dirty="0"/>
              <a:t>PHASE 3 · DECISION</a:t>
            </a:r>
          </a:p>
          <a:p>
            <a:r>
              <a:rPr lang="en-ZA" b="1" dirty="0"/>
              <a:t>The chosen path becomes flawed or skewed</a:t>
            </a:r>
          </a:p>
          <a:p>
            <a:r>
              <a:rPr lang="en-ZA" dirty="0"/>
              <a:t>Eventually, possibilities must become choices.</a:t>
            </a:r>
          </a:p>
          <a:p>
            <a:r>
              <a:rPr lang="en-ZA" dirty="0"/>
              <a:t>This phase is particularly vulnerable because strategic decisions are rarely made in neutral conditions.</a:t>
            </a:r>
          </a:p>
          <a:p>
            <a:r>
              <a:rPr lang="en-ZA" dirty="0"/>
              <a:t>There may be pressure to commit, uncertainty about outcomes, competing interests and differences in authority around the table.</a:t>
            </a:r>
          </a:p>
          <a:p>
            <a:endParaRPr lang="en-ZA" dirty="0"/>
          </a:p>
          <a:p>
            <a:r>
              <a:rPr lang="en-ZA" dirty="0"/>
              <a:t>As the choice gets closer, the desire for certainty can become stronger. </a:t>
            </a:r>
          </a:p>
          <a:p>
            <a:r>
              <a:rPr lang="en-ZA" dirty="0"/>
              <a:t>Confidence can increase even when the evidence has not changed. </a:t>
            </a:r>
          </a:p>
          <a:p>
            <a:r>
              <a:rPr lang="en-ZA" dirty="0"/>
              <a:t>Who holds authority, who is most respected, and who has the most to gain or lose can begin influencing the outcome alongside the evidence itself.</a:t>
            </a:r>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decisions</a:t>
            </a:r>
          </a:p>
          <a:p>
            <a:endParaRPr lang="en-ZA" dirty="0"/>
          </a:p>
          <a:p>
            <a:r>
              <a:rPr lang="en-ZA" b="1" dirty="0"/>
              <a:t>Overconfidence Bias</a:t>
            </a:r>
            <a:r>
              <a:rPr lang="en-ZA" dirty="0"/>
              <a:t> can inflate the perceived quality of the preferred option. </a:t>
            </a:r>
          </a:p>
          <a:p>
            <a:r>
              <a:rPr lang="en-ZA" dirty="0"/>
              <a:t>Once a direction is favoured, its advantages may receive greater weight while its risks are progressively managed down.</a:t>
            </a:r>
          </a:p>
          <a:p>
            <a:endParaRPr lang="en-ZA" dirty="0"/>
          </a:p>
          <a:p>
            <a:r>
              <a:rPr lang="en-ZA" b="1" dirty="0"/>
              <a:t>Loss Aversion</a:t>
            </a:r>
            <a:r>
              <a:rPr lang="en-ZA" dirty="0"/>
              <a:t> can tilt choices towards protecting what already exists. </a:t>
            </a:r>
          </a:p>
          <a:p>
            <a:r>
              <a:rPr lang="en-ZA" dirty="0"/>
              <a:t>When alternatives appear close in value, the option that protects existing positions can feel safer than one requiring exposure to unfamiliar risk.</a:t>
            </a:r>
          </a:p>
          <a:p>
            <a:endParaRPr lang="en-ZA" dirty="0"/>
          </a:p>
          <a:p>
            <a:r>
              <a:rPr lang="en-ZA" b="1" dirty="0"/>
              <a:t>Authority Bias and the Halo Effect</a:t>
            </a:r>
            <a:r>
              <a:rPr lang="en-ZA" dirty="0"/>
              <a:t> influence whose judgement receives the greatest weight. </a:t>
            </a:r>
          </a:p>
          <a:p>
            <a:r>
              <a:rPr lang="en-ZA" dirty="0"/>
              <a:t>A senior leader, respected colleague or highly regarded external adviser can influence the decision beyond the strength of the evidence supporting their position.</a:t>
            </a:r>
          </a:p>
          <a:p>
            <a:endParaRPr lang="en-ZA" dirty="0"/>
          </a:p>
          <a:p>
            <a:r>
              <a:rPr lang="en-ZA" b="1" dirty="0"/>
              <a:t>The Sunk-Cost Fallacy and Endowment Effect</a:t>
            </a:r>
            <a:r>
              <a:rPr lang="en-ZA" dirty="0"/>
              <a:t> can influence which portfolio options survive. </a:t>
            </a:r>
          </a:p>
          <a:p>
            <a:r>
              <a:rPr lang="en-ZA" dirty="0"/>
              <a:t>Choices requiring the organisation to write down previous investments or relinquish something it has built can become harder to make because of what has already been invested.</a:t>
            </a:r>
          </a:p>
          <a:p>
            <a:endParaRPr lang="en-GB" dirty="0"/>
          </a:p>
          <a:p>
            <a:r>
              <a:rPr lang="en-GB" dirty="0"/>
              <a:t>The sunk-cost trap.</a:t>
            </a:r>
          </a:p>
          <a:p>
            <a:r>
              <a:rPr lang="en-GB" dirty="0"/>
              <a:t>Organisations often continue weak initiatives because money, reputation or effort has already been invested, defending yesterday’s choice at the expense of tomorrow’s outcome. Sound strategy needs the courage to discontinue an unsuitable course, absorb the immediate cost and return to the principles that should govern the decision.</a:t>
            </a:r>
          </a:p>
          <a:p>
            <a:r>
              <a:rPr lang="en-GB" dirty="0"/>
              <a:t>Source: Journal, 22 July 2026 — Professional Insights: Strategy</a:t>
            </a:r>
          </a:p>
          <a:p>
            <a:endParaRPr lang="en-ZA" dirty="0"/>
          </a:p>
          <a:p>
            <a:r>
              <a:rPr lang="en-ZA" b="1" dirty="0"/>
              <a:t>The moment of decision is often where the pressure to commit is highest and the tolerance for challenge is lowest.</a:t>
            </a:r>
            <a:endParaRPr lang="en-ZA" dirty="0"/>
          </a:p>
          <a:p>
            <a:endParaRPr lang="en-ZA" b="1" dirty="0"/>
          </a:p>
          <a:p>
            <a:r>
              <a:rPr lang="en-ZA" b="1" dirty="0"/>
              <a:t>Scanner Question</a:t>
            </a:r>
            <a:endParaRPr lang="en-ZA" dirty="0"/>
          </a:p>
          <a:p>
            <a:r>
              <a:rPr lang="en-ZA" dirty="0"/>
              <a:t>“If the person who proposed this option had no stake in the outcome and no prior relationship with the team, would we make the same decision?”</a:t>
            </a:r>
          </a:p>
          <a:p>
            <a:endParaRPr lang="en-ZA" b="1" dirty="0"/>
          </a:p>
          <a:p>
            <a:r>
              <a:rPr lang="en-ZA" b="1" dirty="0"/>
              <a:t>Ask</a:t>
            </a:r>
            <a:endParaRPr lang="en-ZA" dirty="0"/>
          </a:p>
          <a:p>
            <a:r>
              <a:rPr lang="en-ZA" dirty="0"/>
              <a:t>“Who had the most influence over your last major strategic call—and was that influence based on evidence or authority?”</a:t>
            </a:r>
          </a:p>
          <a:p>
            <a:br>
              <a:rPr lang="en-ZA" dirty="0"/>
            </a:br>
            <a:endParaRPr lang="en-ZA" dirty="0"/>
          </a:p>
          <a:p>
            <a:r>
              <a:rPr lang="en-ZA" b="1" dirty="0"/>
              <a:t>PHASE 4 · EXECUTION</a:t>
            </a:r>
          </a:p>
          <a:p>
            <a:r>
              <a:rPr lang="en-ZA" b="1" dirty="0"/>
              <a:t>Strategy decays in delivery</a:t>
            </a:r>
          </a:p>
          <a:p>
            <a:r>
              <a:rPr lang="en-ZA" dirty="0"/>
              <a:t>The strategy may have been shaped and decided by a relatively small group of people. </a:t>
            </a:r>
            <a:r>
              <a:rPr lang="en-ZA" b="1" dirty="0"/>
              <a:t>It now has to be delivered through many more.</a:t>
            </a:r>
            <a:endParaRPr lang="en-ZA" dirty="0"/>
          </a:p>
          <a:p>
            <a:r>
              <a:rPr lang="en-ZA" dirty="0"/>
              <a:t>People across the organisation must interpret what the strategy means for them, translate it into their own contributions, make day-to-day decisions, coordinate across functions, respond to changing conditions and act.</a:t>
            </a:r>
          </a:p>
          <a:p>
            <a:endParaRPr lang="en-ZA" dirty="0"/>
          </a:p>
          <a:p>
            <a:r>
              <a:rPr lang="en-ZA" dirty="0"/>
              <a:t>The strategy therefore continues to pass through human judgement long after the formal strategic decision has been made.</a:t>
            </a:r>
          </a:p>
          <a:p>
            <a:r>
              <a:rPr lang="en-ZA" dirty="0"/>
              <a:t>Bias does not end when planning ends. </a:t>
            </a:r>
            <a:r>
              <a:rPr lang="en-ZA" b="1" dirty="0"/>
              <a:t>It travels into delivery.</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execution</a:t>
            </a:r>
          </a:p>
          <a:p>
            <a:endParaRPr lang="en-ZA" dirty="0"/>
          </a:p>
          <a:p>
            <a:r>
              <a:rPr lang="en-ZA" dirty="0"/>
              <a:t>The </a:t>
            </a:r>
            <a:r>
              <a:rPr lang="en-ZA" b="1" dirty="0"/>
              <a:t>Planning Fallacy</a:t>
            </a:r>
            <a:r>
              <a:rPr lang="en-ZA" dirty="0"/>
              <a:t> means the execution plan may already underestimate the time, resources and complexity required. </a:t>
            </a:r>
          </a:p>
          <a:p>
            <a:r>
              <a:rPr lang="en-ZA" dirty="0"/>
              <a:t>Interdependencies between teams and functions can be underweighted until they become visible during delivery.</a:t>
            </a:r>
          </a:p>
          <a:p>
            <a:endParaRPr lang="en-ZA" dirty="0"/>
          </a:p>
          <a:p>
            <a:r>
              <a:rPr lang="en-ZA" b="1" dirty="0"/>
              <a:t>Confirmation Bias</a:t>
            </a:r>
            <a:r>
              <a:rPr lang="en-ZA" dirty="0"/>
              <a:t>, in its action-reinforcing form, influences how people interpret execution signals. </a:t>
            </a:r>
          </a:p>
          <a:p>
            <a:r>
              <a:rPr lang="en-ZA" dirty="0"/>
              <a:t>Green indicators are noticed. Amber indicators can be rationalised. Red indicators may be attributed to temporary conditions. </a:t>
            </a:r>
          </a:p>
          <a:p>
            <a:r>
              <a:rPr lang="en-ZA" dirty="0"/>
              <a:t>By the time the evidence becomes undeniable, the opportunity for course correction may have narrowed.</a:t>
            </a:r>
          </a:p>
          <a:p>
            <a:endParaRPr lang="en-GB" dirty="0"/>
          </a:p>
          <a:p>
            <a:r>
              <a:rPr lang="en-GB" dirty="0"/>
              <a:t>Outcomes taken as proof.</a:t>
            </a:r>
          </a:p>
          <a:p>
            <a:r>
              <a:rPr lang="en-GB" dirty="0"/>
              <a:t>Senior teams routinely read good outcomes as evidence of sound process. A deal closes or a launch lands, and the messy path that produced it is quietly adopted as the method. Ask participants to pick one recent win and audit how it happened separately from what it produced.</a:t>
            </a:r>
          </a:p>
          <a:p>
            <a:r>
              <a:rPr lang="en-GB" dirty="0"/>
              <a:t>Source: Journal, 24 April 2026 — Professional Insights: Culture</a:t>
            </a:r>
          </a:p>
          <a:p>
            <a:endParaRPr lang="en-ZA" dirty="0"/>
          </a:p>
          <a:p>
            <a:r>
              <a:rPr lang="en-ZA" b="1" dirty="0"/>
              <a:t>Incentive Bias</a:t>
            </a:r>
            <a:r>
              <a:rPr lang="en-ZA" dirty="0"/>
              <a:t> can fracture alignment. People naturally pay attention to what they are measured and rewarded for. </a:t>
            </a:r>
          </a:p>
          <a:p>
            <a:r>
              <a:rPr lang="en-ZA" dirty="0"/>
              <a:t>When those incentives do not align with the strategy, individuals and teams can deliver against their own measures while the enterprise outcome falls behind.</a:t>
            </a:r>
          </a:p>
          <a:p>
            <a:endParaRPr lang="en-ZA" dirty="0"/>
          </a:p>
          <a:p>
            <a:r>
              <a:rPr lang="en-ZA" b="1" dirty="0"/>
              <a:t>Self-Interest and Functional Bias</a:t>
            </a:r>
            <a:r>
              <a:rPr lang="en-ZA" dirty="0"/>
              <a:t> can fragment what the strategy requires to be integrated. Each function executes its part. </a:t>
            </a:r>
          </a:p>
          <a:p>
            <a:r>
              <a:rPr lang="en-ZA" dirty="0"/>
              <a:t>Each team pursues its KPIs. Yet execution often depends on contributions crossing organisational boundaries.</a:t>
            </a:r>
          </a:p>
          <a:p>
            <a:endParaRPr lang="en-ZA" dirty="0"/>
          </a:p>
          <a:p>
            <a:r>
              <a:rPr lang="en-ZA" dirty="0"/>
              <a:t>This is where the </a:t>
            </a:r>
            <a:r>
              <a:rPr lang="en-ZA" b="1" dirty="0"/>
              <a:t>White Space</a:t>
            </a:r>
            <a:r>
              <a:rPr lang="en-ZA" dirty="0"/>
              <a:t> we examined earlier becomes particularly important.</a:t>
            </a:r>
          </a:p>
          <a:p>
            <a:r>
              <a:rPr lang="en-ZA" dirty="0"/>
              <a:t>People can perform successfully within their own mandates while the dependencies, hand-offs and competing requirements between those mandates remain unresolved.</a:t>
            </a:r>
          </a:p>
          <a:p>
            <a:endParaRPr lang="en-ZA" b="1" dirty="0"/>
          </a:p>
          <a:p>
            <a:r>
              <a:rPr lang="en-ZA" b="1" dirty="0"/>
              <a:t>The people delivering the strategy are therefore not passive recipients of a strategy designed elsewhere. </a:t>
            </a:r>
          </a:p>
          <a:p>
            <a:r>
              <a:rPr lang="en-ZA" b="1" dirty="0"/>
              <a:t>Through the decisions, interpretations and behaviours of execution, they continue shaping what the strategy ultimately becomes.</a:t>
            </a:r>
          </a:p>
          <a:p>
            <a:endParaRPr lang="en-GB" dirty="0"/>
          </a:p>
          <a:p>
            <a:r>
              <a:rPr lang="en-GB" dirty="0"/>
              <a:t>Line of sight.</a:t>
            </a:r>
          </a:p>
          <a:p>
            <a:r>
              <a:rPr lang="en-GB" dirty="0"/>
              <a:t>Leaders have a responsibility to allocate work and to create line of sight between contribution and collective purpose. When people understand where they fit, responsibility becomes more meaningful and coordination becomes easier.</a:t>
            </a:r>
          </a:p>
          <a:p>
            <a:r>
              <a:rPr lang="en-GB" dirty="0"/>
              <a:t>Source: Journal, 3 October 2026 — Professional Insights: Leadership</a:t>
            </a:r>
          </a:p>
          <a:p>
            <a:endParaRPr lang="en-ZA" dirty="0"/>
          </a:p>
          <a:p>
            <a:r>
              <a:rPr lang="en-ZA" dirty="0"/>
              <a:t>Execution failure can therefore be a continuation of behavioural problems that entered earlier in the strategy journey—or the result of new behavioural dynamics emerging as more people engage with the strategy.</a:t>
            </a:r>
          </a:p>
          <a:p>
            <a:endParaRPr lang="en-ZA" dirty="0"/>
          </a:p>
          <a:p>
            <a:r>
              <a:rPr lang="en-ZA" b="1" dirty="0"/>
              <a:t>Scanner Question</a:t>
            </a:r>
            <a:endParaRPr lang="en-ZA" dirty="0"/>
          </a:p>
          <a:p>
            <a:r>
              <a:rPr lang="en-ZA" dirty="0"/>
              <a:t>As strategy moves through the organisation, how are people interpreting what it means for them—and are those interpretations and contributions coming together to produce the intended enterprise outcome?”</a:t>
            </a:r>
          </a:p>
          <a:p>
            <a:r>
              <a:rPr lang="en-ZA" b="1" dirty="0"/>
              <a:t>Ask</a:t>
            </a:r>
            <a:endParaRPr lang="en-ZA" dirty="0"/>
          </a:p>
          <a:p>
            <a:r>
              <a:rPr lang="en-ZA" dirty="0"/>
              <a:t>“How confident are you that people across your organisation understand what the strategy requires of them—and how their contribution connects with others?”</a:t>
            </a:r>
            <a:br>
              <a:rPr lang="en-ZA" dirty="0"/>
            </a:br>
            <a:endParaRPr lang="en-ZA" dirty="0"/>
          </a:p>
          <a:p>
            <a:r>
              <a:rPr lang="en-ZA" b="1" dirty="0"/>
              <a:t>LAND THE FOUR PHASES</a:t>
            </a:r>
          </a:p>
          <a:p>
            <a:r>
              <a:rPr lang="en-ZA" dirty="0"/>
              <a:t>So when we say that strategy is designed by people and delivered by people, behavioural strategy asks us to examine the human influences across that entire journey.”</a:t>
            </a:r>
          </a:p>
          <a:p>
            <a:endParaRPr lang="en-ZA" dirty="0"/>
          </a:p>
          <a:p>
            <a:r>
              <a:rPr lang="en-ZA" b="1" dirty="0"/>
              <a:t>ASK and DISCUSS “At which of the four phases is your organisation currently most exposed? </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4.2 · THE EMOTIONAL DIMENSION OF STRATEGY </a:t>
            </a:r>
            <a:r>
              <a:rPr lang="en-US" dirty="0"/>
              <a:t>
</a:t>
            </a:r>
            <a:r>
              <a:rPr lang="en-US" b="1" dirty="0"/>
              <a:t>CONTENT:</a:t>
            </a:r>
            <a:r>
              <a:rPr lang="en-US" dirty="0"/>
              <a:t>
</a:t>
            </a:r>
            <a:r>
              <a:rPr lang="en-GB" dirty="0"/>
              <a:t>We have established that strategy is **designed by people and delivered by people**, and that across the strategy journey, what people think, decide and do can influence what the strategy ultimately becomes.</a:t>
            </a:r>
          </a:p>
          <a:p>
            <a:endParaRPr lang="en-GB" dirty="0"/>
          </a:p>
          <a:p>
            <a:r>
              <a:rPr lang="en-GB" dirty="0"/>
              <a:t>We have also seen that every strategic message passes through two human filters: **the mind—cognition—and the heart—emotion.**</a:t>
            </a:r>
          </a:p>
          <a:p>
            <a:endParaRPr lang="en-GB" dirty="0"/>
          </a:p>
          <a:p>
            <a:r>
              <a:rPr lang="en-GB" dirty="0"/>
              <a:t>We now turn specifically to the emotional dimension. </a:t>
            </a:r>
            <a:r>
              <a:rPr lang="en-ZA" dirty="0"/>
              <a:t>How what people feel can influence how they think, engage and act around strategy.</a:t>
            </a:r>
            <a:endParaRPr lang="en-GB" dirty="0"/>
          </a:p>
          <a:p>
            <a:endParaRPr lang="en-GB" dirty="0"/>
          </a:p>
          <a:p>
            <a:r>
              <a:rPr lang="en-GB" dirty="0"/>
              <a:t>People do not encounter strategy in an emotionally neutral state. </a:t>
            </a:r>
          </a:p>
          <a:p>
            <a:r>
              <a:rPr lang="en-GB" dirty="0"/>
              <a:t>They may experience it through confidence, fear, optimism, frustration, fatigue, anger or uncertainty. </a:t>
            </a:r>
          </a:p>
          <a:p>
            <a:r>
              <a:rPr lang="en-GB" dirty="0"/>
              <a:t>These emotional conditions influence how people interpret information, respond to challenge, perceive risk, engage with decisions and ultimately act.</a:t>
            </a:r>
          </a:p>
          <a:p>
            <a:endParaRPr lang="en-GB" dirty="0"/>
          </a:p>
          <a:p>
            <a:r>
              <a:rPr lang="en-GB" dirty="0"/>
              <a:t>This means emotion can shape strategy at both ends of the journey. </a:t>
            </a:r>
          </a:p>
          <a:p>
            <a:r>
              <a:rPr lang="en-GB" dirty="0"/>
              <a:t>It can influence the leaders **designing and deciding strategy**, and it can influence the people **interpreting, translating and delivering it** across the organisation.</a:t>
            </a:r>
          </a:p>
          <a:p>
            <a:endParaRPr lang="en-GB" dirty="0"/>
          </a:p>
          <a:p>
            <a:r>
              <a:rPr lang="en-GB" dirty="0"/>
              <a:t>The emotional dimension therefore requires us to examine three connected areas: **the emotional climate surrounding strategy, the emotional states through which people experience strategy, and the practices that help prevent emotion and bias from distorting strategic judgement and action.**</a:t>
            </a:r>
          </a:p>
          <a:p>
            <a:endParaRPr lang="en-GB" dirty="0"/>
          </a:p>
          <a:p>
            <a:r>
              <a:rPr lang="en-GB" dirty="0"/>
              <a:t>Understanding these forces helps leaders create the conditions for clearer thinking, constructive challenge and more effective strategy execution.</a:t>
            </a:r>
          </a:p>
          <a:p>
            <a:r>
              <a:rPr lang="en-US" dirty="0"/>
              <a:t>
</a:t>
            </a:r>
            <a:r>
              <a:rPr lang="en-ZA" b="1" dirty="0"/>
              <a:t>4.2.1 — Emotional Climate as Atmospheric Pressure</a:t>
            </a:r>
          </a:p>
          <a:p>
            <a:r>
              <a:rPr lang="en-ZA" dirty="0"/>
              <a:t>The </a:t>
            </a:r>
            <a:r>
              <a:rPr lang="en-ZA" b="1" dirty="0"/>
              <a:t>emotional climate</a:t>
            </a:r>
            <a:r>
              <a:rPr lang="en-ZA" dirty="0"/>
              <a:t> of an organisation or team acts like atmospheric pressure around strategy.</a:t>
            </a:r>
          </a:p>
          <a:p>
            <a:r>
              <a:rPr lang="en-ZA" dirty="0"/>
              <a:t>It shapes whether the organisation’s </a:t>
            </a:r>
            <a:r>
              <a:rPr lang="en-ZA" b="1" dirty="0"/>
              <a:t>Thinking Architecture</a:t>
            </a:r>
            <a:r>
              <a:rPr lang="en-ZA" dirty="0"/>
              <a:t> can function effectively—or whether thinking becomes constrained, defensive or closed.</a:t>
            </a:r>
          </a:p>
          <a:p>
            <a:endParaRPr lang="en-ZA" dirty="0"/>
          </a:p>
          <a:p>
            <a:r>
              <a:rPr lang="en-ZA" sz="1200" kern="1200" dirty="0">
                <a:solidFill>
                  <a:schemeClr val="tx1"/>
                </a:solidFill>
                <a:effectLst/>
                <a:latin typeface="+mn-lt"/>
                <a:ea typeface="+mn-ea"/>
                <a:cs typeface="+mn-cs"/>
              </a:rPr>
              <a:t>Think of cabin pressure in an aeroplane. When the pressure is right, you barely notice it—you simply function. When the pressure changes significantly, however, your ability to function can change with it. You may become uncomfortable or disoriented, and your judgement may eventually be affected.</a:t>
            </a:r>
          </a:p>
          <a:p>
            <a:endParaRPr lang="en-ZA" b="1" dirty="0"/>
          </a:p>
          <a:p>
            <a:r>
              <a:rPr lang="en-ZA" b="1" dirty="0"/>
              <a:t>The person has not changed. The conditions around them have.</a:t>
            </a:r>
            <a:endParaRPr lang="en-ZA" dirty="0"/>
          </a:p>
          <a:p>
            <a:endParaRPr lang="en-ZA" dirty="0"/>
          </a:p>
          <a:p>
            <a:r>
              <a:rPr lang="en-ZA" dirty="0"/>
              <a:t>But people also differ in their capacity to respond to changing pressure. </a:t>
            </a:r>
          </a:p>
          <a:p>
            <a:r>
              <a:rPr lang="en-ZA" dirty="0"/>
              <a:t>A baby, for example, has less developed capacity to regulate and adapt to changes in cabin pressure. </a:t>
            </a:r>
          </a:p>
          <a:p>
            <a:r>
              <a:rPr lang="en-ZA" dirty="0"/>
              <a:t>An adult is better able to recognise what is happening and take deliberate action to adjust.</a:t>
            </a:r>
          </a:p>
          <a:p>
            <a:endParaRPr lang="en-ZA" dirty="0"/>
          </a:p>
          <a:p>
            <a:r>
              <a:rPr lang="en-ZA" dirty="0"/>
              <a:t>This gives us an important parallel for leadership.</a:t>
            </a:r>
          </a:p>
          <a:p>
            <a:endParaRPr lang="en-ZA" b="1" dirty="0"/>
          </a:p>
          <a:p>
            <a:r>
              <a:rPr lang="en-ZA" b="1" dirty="0"/>
              <a:t>Strategic pressure is inevitable.</a:t>
            </a:r>
            <a:r>
              <a:rPr lang="en-ZA" dirty="0"/>
              <a:t> Leaders will face uncertainty, disagreement, challenge, competing interests and difficult choices. What matters is their capacity to remain effective within that pressure.</a:t>
            </a:r>
          </a:p>
          <a:p>
            <a:endParaRPr lang="en-ZA" dirty="0"/>
          </a:p>
          <a:p>
            <a:r>
              <a:rPr lang="en-ZA" dirty="0"/>
              <a:t>This is why leaders must develop the discipline of </a:t>
            </a:r>
            <a:r>
              <a:rPr lang="en-ZA" b="1" dirty="0"/>
              <a:t>emotional maturity</a:t>
            </a:r>
            <a:r>
              <a:rPr lang="en-ZA" dirty="0"/>
              <a:t>—the capacity to recognise and regulate their own emotional responses so that pressure does not unnecessarily distort how they think, decide or engage with others.</a:t>
            </a:r>
          </a:p>
          <a:p>
            <a:endParaRPr lang="en-ZA" dirty="0"/>
          </a:p>
          <a:p>
            <a:r>
              <a:rPr lang="en-ZA" dirty="0"/>
              <a:t>And because leaders shape the conditions around them, their emotional maturity does not affect them alone. </a:t>
            </a:r>
            <a:r>
              <a:rPr lang="en-ZA" b="1" dirty="0"/>
              <a:t>How leaders respond under pressure contributes to the emotional climate in which everyone else must think and operate.</a:t>
            </a:r>
          </a:p>
          <a:p>
            <a:endParaRPr lang="en-GB" dirty="0"/>
          </a:p>
          <a:p>
            <a:r>
              <a:rPr lang="en-GB" dirty="0"/>
              <a:t>Alert without becoming absorbed.</a:t>
            </a:r>
          </a:p>
          <a:p>
            <a:r>
              <a:rPr lang="en-GB" dirty="0"/>
              <a:t>When leaders become psychologically captured by a threat, organisations often inherit that preoccupation through excessive controls, defensive decisions or distorted priorities. Mature leadership keeps problems in proportion and preserves enough internal steadiness to continue exercising judgement.</a:t>
            </a:r>
          </a:p>
          <a:p>
            <a:r>
              <a:rPr lang="en-GB" dirty="0"/>
              <a:t>Source: Journal, 4 October 2026 — Professional Insights: Leadership</a:t>
            </a:r>
          </a:p>
          <a:p>
            <a:endParaRPr lang="en-ZA" dirty="0"/>
          </a:p>
          <a:p>
            <a:r>
              <a:rPr lang="en-ZA" dirty="0"/>
              <a:t>As Quy Nguyen Huy’s research suggests, emotions can act as </a:t>
            </a:r>
            <a:r>
              <a:rPr lang="en-ZA" b="1" dirty="0"/>
              <a:t>gatekeepers to deliberate thinking</a:t>
            </a:r>
            <a:r>
              <a:rPr lang="en-ZA" dirty="0"/>
              <a:t>. They influence whether people slow down to examine evidence, question assumptions and consider alternatives—or rely more heavily on instinctive and defensive responses.</a:t>
            </a:r>
          </a:p>
          <a:p>
            <a:endParaRPr lang="en-ZA" dirty="0"/>
          </a:p>
          <a:p>
            <a:r>
              <a:rPr lang="en-ZA" dirty="0"/>
              <a:t>The emotional climate surrounding strategy can therefore either </a:t>
            </a:r>
            <a:r>
              <a:rPr lang="en-ZA" b="1" dirty="0"/>
              <a:t>support the organisation’s capacity to think clearly or progressively constrain it.</a:t>
            </a:r>
            <a:endParaRPr lang="en-ZA" dirty="0"/>
          </a:p>
          <a:p>
            <a:endParaRPr lang="en-ZA" dirty="0"/>
          </a:p>
          <a:p>
            <a:r>
              <a:rPr lang="en-ZA" dirty="0"/>
              <a:t>We can think of this as </a:t>
            </a:r>
            <a:r>
              <a:rPr lang="en-ZA" b="1" dirty="0"/>
              <a:t>three different atmospheric conditions around strategy</a:t>
            </a:r>
            <a:r>
              <a:rPr lang="en-ZA" dirty="0"/>
              <a:t>. </a:t>
            </a:r>
          </a:p>
          <a:p>
            <a:r>
              <a:rPr lang="en-ZA" dirty="0"/>
              <a:t>Each creates a different kind of emotional pressure, which impacts strategy and people’s thinking negatively. </a:t>
            </a:r>
          </a:p>
          <a:p>
            <a:endParaRPr lang="en-ZA" b="1" dirty="0"/>
          </a:p>
          <a:p>
            <a:r>
              <a:rPr lang="en-ZA" b="1" dirty="0"/>
              <a:t>1. FEAR-DOMINATED — Pressure to Protect</a:t>
            </a:r>
          </a:p>
          <a:p>
            <a:r>
              <a:rPr lang="en-ZA" b="1" dirty="0"/>
              <a:t>The Emotional Driver — Anxiety &amp; Defence</a:t>
            </a:r>
            <a:endParaRPr lang="en-ZA" dirty="0"/>
          </a:p>
          <a:p>
            <a:r>
              <a:rPr lang="en-ZA" dirty="0"/>
              <a:t>The dominant pressure is </a:t>
            </a:r>
            <a:r>
              <a:rPr lang="en-ZA" b="1" dirty="0"/>
              <a:t>self-protection</a:t>
            </a:r>
            <a:r>
              <a:rPr lang="en-ZA" dirty="0"/>
              <a:t>. People become concerned about blame, punishment or personal exposure. They learn to protect themselves before they challenge, question or experiment.</a:t>
            </a:r>
          </a:p>
          <a:p>
            <a:r>
              <a:rPr lang="en-ZA" dirty="0"/>
              <a:t>People focus on protecting themselves. They worry about being blamed, punished or seen as wrong.</a:t>
            </a:r>
          </a:p>
          <a:p>
            <a:endParaRPr lang="en-GB" dirty="0"/>
          </a:p>
          <a:p>
            <a:r>
              <a:rPr lang="en-GB" dirty="0"/>
              <a:t>What authority creates.</a:t>
            </a:r>
          </a:p>
          <a:p>
            <a:r>
              <a:rPr lang="en-GB" dirty="0"/>
              <a:t>A technically correct leader can still generate fear, silence or defensive behaviour through the way they exercise authority. Leaders need to examine what their habitual responses create around them, alongside what their decisions accomplish.</a:t>
            </a:r>
          </a:p>
          <a:p>
            <a:r>
              <a:rPr lang="en-GB" dirty="0"/>
              <a:t>Source: Journal, 30 September 2026 — Professional Insights: Leadership</a:t>
            </a:r>
          </a:p>
          <a:p>
            <a:endParaRPr lang="en-ZA" b="1" dirty="0"/>
          </a:p>
          <a:p>
            <a:r>
              <a:rPr lang="en-ZA" b="1" dirty="0"/>
              <a:t>The Strategic Outcome — Strategic Paralysis</a:t>
            </a:r>
            <a:endParaRPr lang="en-ZA" dirty="0"/>
          </a:p>
          <a:p>
            <a:r>
              <a:rPr lang="en-ZA" dirty="0"/>
              <a:t>The organisation becomes too careful. People choose safer options, avoid difficult decisions and are less willing to take necessary risks. Good ideas may never be raised because people are afraid of getting them wrong.</a:t>
            </a:r>
          </a:p>
          <a:p>
            <a:endParaRPr lang="en-ZA" b="1" dirty="0"/>
          </a:p>
          <a:p>
            <a:r>
              <a:rPr lang="en-ZA" b="1" dirty="0"/>
              <a:t>Impact on Thinking — Threat Narrows Thinking</a:t>
            </a:r>
            <a:endParaRPr lang="en-ZA" dirty="0"/>
          </a:p>
          <a:p>
            <a:r>
              <a:rPr lang="en-ZA" dirty="0"/>
              <a:t>Fear makes it harder for people to think openly. They may keep quiet, agree with others or avoid challenging senior people. This means important information and different ideas may never enter the conversation.</a:t>
            </a:r>
          </a:p>
          <a:p>
            <a:endParaRPr lang="en-GB" dirty="0"/>
          </a:p>
          <a:p>
            <a:r>
              <a:rPr lang="en-GB" dirty="0"/>
              <a:t>Anxiety that governs decisions.</a:t>
            </a:r>
          </a:p>
          <a:p>
            <a:r>
              <a:rPr lang="en-GB" dirty="0"/>
              <a:t>The danger arises when internal anxiety begins governing external decisions. Fear can produce unnecessary control, rushed decisions, avoidance or constant changes in direction.</a:t>
            </a:r>
          </a:p>
          <a:p>
            <a:r>
              <a:rPr lang="en-GB" dirty="0"/>
              <a:t>Source: Journal, 3 October 2026 — Professional Insights: Leadership</a:t>
            </a:r>
          </a:p>
          <a:p>
            <a:br>
              <a:rPr lang="en-ZA" dirty="0"/>
            </a:br>
            <a:endParaRPr lang="en-ZA" dirty="0"/>
          </a:p>
          <a:p>
            <a:r>
              <a:rPr lang="en-ZA" b="1" dirty="0"/>
              <a:t>2. NARCISSISM-DOMINATED — Pressure to Validate</a:t>
            </a:r>
          </a:p>
          <a:p>
            <a:r>
              <a:rPr lang="en-ZA" b="1" dirty="0"/>
              <a:t>The Emotional Driver — Ego &amp; Validation</a:t>
            </a:r>
            <a:endParaRPr lang="en-ZA" dirty="0"/>
          </a:p>
          <a:p>
            <a:r>
              <a:rPr lang="en-ZA" dirty="0"/>
              <a:t>People feel pressure to support the leader and their ideas. Agreement becomes easier than challenge.</a:t>
            </a:r>
          </a:p>
          <a:p>
            <a:endParaRPr lang="en-GB" dirty="0"/>
          </a:p>
          <a:p>
            <a:r>
              <a:rPr lang="en-GB" dirty="0"/>
              <a:t>The echo chamber.</a:t>
            </a:r>
          </a:p>
          <a:p>
            <a:r>
              <a:rPr lang="en-GB" dirty="0"/>
              <a:t>When advisers reinforce the posture the leader already wants to adopt, the leadership team becomes an echo chamber. People learn that influence is gained through agreement, and the culture loses the ability to challenge damaging assumptions.</a:t>
            </a:r>
          </a:p>
          <a:p>
            <a:r>
              <a:rPr lang="en-GB" dirty="0"/>
              <a:t>Source: Journal, 17 July 2026 — Professional Insights: Culture</a:t>
            </a:r>
          </a:p>
          <a:p>
            <a:endParaRPr lang="en-ZA" b="1" dirty="0"/>
          </a:p>
          <a:p>
            <a:r>
              <a:rPr lang="en-ZA" b="1" dirty="0"/>
              <a:t>The Strategic Outcome — Strategic Delusion</a:t>
            </a:r>
            <a:endParaRPr lang="en-ZA" dirty="0"/>
          </a:p>
          <a:p>
            <a:r>
              <a:rPr lang="en-ZA" dirty="0"/>
              <a:t>The organisation can become too confident in its own strategy. Warning signs may be ignored, weak assumptions may go untested, and the organisation may continue in the wrong direction because people are unwilling to question it.</a:t>
            </a:r>
          </a:p>
          <a:p>
            <a:endParaRPr lang="en-ZA" b="1" dirty="0"/>
          </a:p>
          <a:p>
            <a:r>
              <a:rPr lang="en-ZA" b="1" dirty="0"/>
              <a:t>Impact on Thinking — Thinking Becomes One-Sided</a:t>
            </a:r>
            <a:endParaRPr lang="en-ZA" dirty="0"/>
          </a:p>
          <a:p>
            <a:r>
              <a:rPr lang="en-ZA" dirty="0"/>
              <a:t>People look for reasons why the chosen direction is right and stop asking whether it could be wrong. Different views receive less attention, and the same thinking gets repeated and reinforced.</a:t>
            </a:r>
          </a:p>
          <a:p>
            <a:endParaRPr lang="en-GB" dirty="0"/>
          </a:p>
          <a:p>
            <a:r>
              <a:rPr lang="en-GB" dirty="0"/>
              <a:t>Secure identity.</a:t>
            </a:r>
          </a:p>
          <a:p>
            <a:r>
              <a:rPr lang="en-GB" dirty="0"/>
              <a:t>Leaders who derive too much identity from position, recognition or being right can experience disagreement as a personal threat. Secure leaders have greater capacity to listen, share authority, acknowledge mistakes and recognise others. Inner security becomes an organisational capability.</a:t>
            </a:r>
          </a:p>
          <a:p>
            <a:r>
              <a:rPr lang="en-GB" dirty="0"/>
              <a:t>Source: Journal, 2 October 2026 — Professional Insights: Leadership</a:t>
            </a:r>
          </a:p>
          <a:p>
            <a:br>
              <a:rPr lang="en-ZA" dirty="0"/>
            </a:br>
            <a:endParaRPr lang="en-ZA" dirty="0"/>
          </a:p>
          <a:p>
            <a:r>
              <a:rPr lang="en-ZA" b="1" dirty="0"/>
              <a:t>3. GROUNDED CONFIDENCE — Pressure to Examine</a:t>
            </a:r>
          </a:p>
          <a:p>
            <a:r>
              <a:rPr lang="en-ZA" b="1" dirty="0"/>
              <a:t>The Emotional Driver — Curiosity &amp; Security</a:t>
            </a:r>
            <a:endParaRPr lang="en-ZA" dirty="0"/>
          </a:p>
          <a:p>
            <a:r>
              <a:rPr lang="en-ZA" dirty="0"/>
              <a:t>People feel safe enough to ask questions, disagree and admit when they do not know something.</a:t>
            </a:r>
          </a:p>
          <a:p>
            <a:endParaRPr lang="en-ZA" b="1" dirty="0"/>
          </a:p>
          <a:p>
            <a:r>
              <a:rPr lang="en-ZA" b="1" dirty="0"/>
              <a:t>The Strategic Outcome — Strategic Agility</a:t>
            </a:r>
            <a:endParaRPr lang="en-ZA" dirty="0"/>
          </a:p>
          <a:p>
            <a:r>
              <a:rPr lang="en-ZA" dirty="0"/>
              <a:t>The organisation can respond when things change. It can question its assumptions, learn from what is happening and adjust the strategy when needed without losing direction.</a:t>
            </a:r>
          </a:p>
          <a:p>
            <a:endParaRPr lang="en-GB" dirty="0"/>
          </a:p>
          <a:p>
            <a:r>
              <a:rPr lang="en-GB" dirty="0"/>
              <a:t>Calm before the crisis.</a:t>
            </a:r>
          </a:p>
          <a:p>
            <a:r>
              <a:rPr lang="en-GB" dirty="0"/>
              <a:t>In a crisis, organisations with a culture of calm, evidence-based thinking hold their nerve better than those that follow the emotional temperature of the room. Build the capacity for calm assessment before you need it.</a:t>
            </a:r>
          </a:p>
          <a:p>
            <a:r>
              <a:rPr lang="en-GB" dirty="0"/>
              <a:t>Source: Journal, 13 January 2026 — Professional Insights: Culture</a:t>
            </a:r>
          </a:p>
          <a:p>
            <a:endParaRPr lang="en-ZA" b="1" dirty="0"/>
          </a:p>
          <a:p>
            <a:r>
              <a:rPr lang="en-ZA" b="1" dirty="0"/>
              <a:t>Impact on Thinking — Thinking Stays Open</a:t>
            </a:r>
            <a:endParaRPr lang="en-ZA" dirty="0"/>
          </a:p>
          <a:p>
            <a:r>
              <a:rPr lang="en-ZA" dirty="0"/>
              <a:t>People can examine the evidence, consider different views and challenge assumptions. This makes it easier to spot weak thinking and bias before they affect important strategic decisions.</a:t>
            </a:r>
          </a:p>
          <a:p>
            <a:r>
              <a:rPr lang="en-US" dirty="0"/>
              <a:t>
</a:t>
            </a:r>
          </a:p>
          <a:p>
            <a:r>
              <a:rPr lang="en-ZA" dirty="0"/>
              <a:t>So we now move from the </a:t>
            </a:r>
            <a:r>
              <a:rPr lang="en-ZA" b="1" dirty="0"/>
              <a:t>emotional climate around people</a:t>
            </a:r>
            <a:r>
              <a:rPr lang="en-ZA" dirty="0"/>
              <a:t> to the </a:t>
            </a:r>
            <a:r>
              <a:rPr lang="en-ZA" b="1" dirty="0"/>
              <a:t>emotional state within people</a:t>
            </a:r>
            <a:r>
              <a:rPr lang="en-ZA" dirty="0"/>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3B352-1A90-94E8-70A9-45469249C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51F2A0-2364-BCBD-A572-95F61FFC0F3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59C4605D-87E4-D649-CF82-D16166CF6D7D}"/>
              </a:ext>
            </a:extLst>
          </p:cNvPr>
          <p:cNvSpPr>
            <a:spLocks noGrp="1"/>
          </p:cNvSpPr>
          <p:nvPr>
            <p:ph type="body" idx="1"/>
          </p:nvPr>
        </p:nvSpPr>
        <p:spPr/>
        <p:txBody>
          <a:bodyPr/>
          <a:lstStyle/>
          <a:p>
            <a:r>
              <a:rPr lang="en-US" b="1" dirty="0"/>
              <a:t>4.2.2 · EMOTIONAL ALIGNMENT: IDENTIFYING THE STATE OF BEING</a:t>
            </a:r>
            <a:r>
              <a:rPr lang="en-US" dirty="0"/>
              <a:t>
Strategy always lands into an emotional climate before it lands into action. </a:t>
            </a:r>
          </a:p>
          <a:p>
            <a:r>
              <a:rPr lang="en-US" dirty="0"/>
              <a:t>Content: Emotional alignment is achieved by explicitly naming the current emotional state through which strategy is being experienced. </a:t>
            </a:r>
          </a:p>
          <a:p>
            <a:endParaRPr lang="en-US" dirty="0"/>
          </a:p>
          <a:p>
            <a:r>
              <a:rPr lang="en-US" dirty="0"/>
              <a:t>Leaders and teams operate from a dominant state of being, commonly expressed across </a:t>
            </a:r>
            <a:r>
              <a:rPr lang="en-US" sz="1600" b="1" dirty="0"/>
              <a:t>EKMAN’S SIX BASIC EMOTIONS: JOY · SADNESS · ANGER · FEAR · DISGUST · SURPRISE.</a:t>
            </a:r>
            <a:endParaRPr lang="en-US" b="1" dirty="0"/>
          </a:p>
          <a:p>
            <a:r>
              <a:rPr lang="en-US" dirty="0"/>
              <a:t>
Each state influences:
- Engagement Energy — the level of discretionary effort, momentum, and willingness to contribute beyond minimum requirements.
- Morale Drain — the degree to which emotional fatigue, disappointment, or disengagement reduces capacity and persistence.</a:t>
            </a:r>
          </a:p>
          <a:p>
            <a:endParaRPr lang="en-GB" dirty="0"/>
          </a:p>
          <a:p>
            <a:r>
              <a:rPr lang="en-GB" dirty="0"/>
              <a:t>Cultures become healthier when people can voice concern, disappointment or uncertainty without being labelled negative or disloyal. Suppressed emotion moves underground.</a:t>
            </a:r>
          </a:p>
          <a:p>
            <a:r>
              <a:rPr lang="en-GB" dirty="0"/>
              <a:t>Source: Journal, 5 September 2026 — Professional Insights: Culture</a:t>
            </a:r>
          </a:p>
          <a:p>
            <a:endParaRPr lang="en-GB" dirty="0"/>
          </a:p>
          <a:p>
            <a:r>
              <a:rPr lang="en-US" dirty="0"/>
              <a:t>- Friction Load — the amount of hidden resistance, tension, or drag experienced in decisions, collaboration, and follow-through.
- Psychological Safety — the extent to which individuals feel safe to speak, challenge, admit uncertainty, and take appropriate risk.</a:t>
            </a:r>
          </a:p>
          <a:p>
            <a:endParaRPr lang="en-GB" dirty="0"/>
          </a:p>
          <a:p>
            <a:r>
              <a:rPr lang="en-GB" dirty="0"/>
              <a:t>Part of an organisation’s culture is what people believe will happen to them if they try something and it fails. Where the prevailing belief is that failure is punished, people stop trying, whatever the stated values say. Examine what people saw happen to the last person who took a risk and got it wrong.</a:t>
            </a:r>
          </a:p>
          <a:p>
            <a:r>
              <a:rPr lang="en-GB" dirty="0"/>
              <a:t>Source: Journal, 13 May 2026 — Professional Insights: Culture</a:t>
            </a:r>
          </a:p>
          <a:p>
            <a:endParaRPr lang="en-GB" dirty="0"/>
          </a:p>
          <a:p>
            <a:r>
              <a:rPr lang="en-US" dirty="0"/>
              <a:t>- Values Alignment — the consistency between stated values, observed leadership behaviour, and everyday decisions under pressure.</a:t>
            </a:r>
          </a:p>
          <a:p>
            <a:endParaRPr lang="en-GB" dirty="0"/>
          </a:p>
          <a:p>
            <a:r>
              <a:rPr lang="en-GB" dirty="0"/>
              <a:t>An organisation may repeatedly communicate integrity, collaboration or accountability while rewarding behaviour that contradicts those values. Employees learn that the real culture is encoded in consequences. Culture becomes credible when what leaders praise publicly, tolerate privately and reward materially tells the same story.</a:t>
            </a:r>
          </a:p>
          <a:p>
            <a:r>
              <a:rPr lang="en-GB" dirty="0"/>
              <a:t>Source: Journal, 1 October 2026 — Professional Insights: Culture</a:t>
            </a:r>
          </a:p>
          <a:p>
            <a:endParaRPr lang="en-GB" dirty="0"/>
          </a:p>
          <a:p>
            <a:r>
              <a:rPr lang="en-US" dirty="0"/>
              <a:t>Key insight to reinforce: draw attention to the highlight box — “Unacknowledged emotional states silently override rational plans.</a:t>
            </a:r>
          </a:p>
          <a:p>
            <a:endParaRPr lang="en-US" dirty="0"/>
          </a:p>
          <a:p>
            <a:endParaRPr dirty="0"/>
          </a:p>
          <a:p>
            <a:r>
              <a:rPr dirty="0"/>
              <a:t>From climate to state of being: To make emotional climate actionable, it must move from an abstract organisational condition to something leaders can see, name, and work with directly at the individual level. This shift happens through emotional alignment: the practice of identifying the specific state of being through which strategy is being experienced.</a:t>
            </a:r>
          </a:p>
          <a:p>
            <a:endParaRPr lang="en-ZA" dirty="0"/>
          </a:p>
          <a:p>
            <a:r>
              <a:rPr dirty="0"/>
              <a:t>In practice, this means: identifying the prevailing emotional state at leadership and team level; understanding how that state is shaping behaviour and attention</a:t>
            </a:r>
            <a:r>
              <a:rPr lang="en-ZA" dirty="0"/>
              <a:t>.</a:t>
            </a:r>
          </a:p>
        </p:txBody>
      </p:sp>
      <p:sp>
        <p:nvSpPr>
          <p:cNvPr id="4" name="Slide Number Placeholder 3">
            <a:extLst>
              <a:ext uri="{FF2B5EF4-FFF2-40B4-BE49-F238E27FC236}">
                <a16:creationId xmlns:a16="http://schemas.microsoft.com/office/drawing/2014/main" id="{9A002F39-162B-869A-037E-7A1C8E19DCE7}"/>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9456468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095C8-8307-58BB-41DD-6F8377D51F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FD9B2F-84E7-5829-D75B-26D4A4F55237}"/>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43D36D6B-D5C1-0284-0A11-9A4B5A1F5499}"/>
              </a:ext>
            </a:extLst>
          </p:cNvPr>
          <p:cNvSpPr>
            <a:spLocks noGrp="1"/>
          </p:cNvSpPr>
          <p:nvPr>
            <p:ph type="body" idx="1"/>
          </p:nvPr>
        </p:nvSpPr>
        <p:spPr/>
        <p:txBody>
          <a:bodyPr/>
          <a:lstStyle/>
          <a:p>
            <a:r>
              <a:rPr lang="en-US" b="1" dirty="0"/>
              <a:t>4.2.2 · EMOTIONAL ALIGNMENT: IDENTIFYING THE STATE OF BEING</a:t>
            </a:r>
            <a:r>
              <a:rPr lang="en-US" dirty="0"/>
              <a:t>
</a:t>
            </a:r>
            <a:r>
              <a:rPr lang="en-ZA" dirty="0"/>
              <a:t>The key is to make this </a:t>
            </a:r>
            <a:r>
              <a:rPr lang="en-ZA" b="1" dirty="0"/>
              <a:t>observable</a:t>
            </a:r>
            <a:r>
              <a:rPr lang="en-ZA" dirty="0"/>
              <a:t>. Leaders can look for signals and then test what those signals mean.</a:t>
            </a:r>
          </a:p>
          <a:p>
            <a:endParaRPr lang="en-ZA" dirty="0"/>
          </a:p>
          <a:p>
            <a:r>
              <a:rPr lang="en-ZA" dirty="0"/>
              <a:t>For example:</a:t>
            </a:r>
          </a:p>
          <a:p>
            <a:r>
              <a:rPr lang="en-ZA" dirty="0"/>
              <a:t>What leaders do</a:t>
            </a:r>
          </a:p>
          <a:p>
            <a:r>
              <a:rPr lang="en-ZA" dirty="0"/>
              <a:t>Practical example</a:t>
            </a:r>
          </a:p>
          <a:p>
            <a:endParaRPr lang="en-ZA" b="1" dirty="0"/>
          </a:p>
          <a:p>
            <a:r>
              <a:rPr lang="en-ZA" b="1" dirty="0"/>
              <a:t>Name the emotional </a:t>
            </a:r>
            <a:r>
              <a:rPr lang="en-ZA" b="1" dirty="0" err="1"/>
              <a:t>state</a:t>
            </a:r>
            <a:r>
              <a:rPr lang="en-ZA" dirty="0" err="1"/>
              <a:t>“There</a:t>
            </a:r>
            <a:r>
              <a:rPr lang="en-ZA" dirty="0"/>
              <a:t> seems to be a lot of frustration around this strategy change. Is that a fair reading?”</a:t>
            </a:r>
          </a:p>
          <a:p>
            <a:endParaRPr lang="en-GB" dirty="0"/>
          </a:p>
          <a:p>
            <a:r>
              <a:rPr lang="en-GB" dirty="0"/>
              <a:t>Emotionally honest leadership.</a:t>
            </a:r>
          </a:p>
          <a:p>
            <a:r>
              <a:rPr lang="en-GB" dirty="0"/>
              <a:t>Leaders do not strengthen people by pretending that fear, disappointment or grief do not exist. Mature leadership makes space for reality while helping people move from raw emotion toward reflection, meaning and renewed trust.</a:t>
            </a:r>
          </a:p>
          <a:p>
            <a:r>
              <a:rPr lang="en-GB" dirty="0"/>
              <a:t>Source: Journal, 5 September 2026 — Professional Insights: Leadership</a:t>
            </a:r>
          </a:p>
          <a:p>
            <a:endParaRPr lang="en-GB" dirty="0"/>
          </a:p>
          <a:p>
            <a:r>
              <a:rPr lang="en-ZA" b="1" dirty="0"/>
              <a:t>Ask </a:t>
            </a:r>
            <a:r>
              <a:rPr lang="en-ZA" b="1" dirty="0" err="1"/>
              <a:t>directly</a:t>
            </a:r>
            <a:r>
              <a:rPr lang="en-ZA" dirty="0" err="1"/>
              <a:t>“What</a:t>
            </a:r>
            <a:r>
              <a:rPr lang="en-ZA" dirty="0"/>
              <a:t> emotion best describes how you are experiencing this strategy right now—confidence, fear, frustration, excitement, uncertainty?”</a:t>
            </a:r>
          </a:p>
          <a:p>
            <a:endParaRPr lang="en-ZA" b="1" dirty="0"/>
          </a:p>
          <a:p>
            <a:r>
              <a:rPr lang="en-ZA" b="1" dirty="0"/>
              <a:t>Observe behaviour - </a:t>
            </a:r>
            <a:r>
              <a:rPr lang="en-ZA" dirty="0"/>
              <a:t>A team that was previously vocal has become unusually quiet. The leader treats the silence as a signal and asks what is behind it.</a:t>
            </a:r>
          </a:p>
          <a:p>
            <a:endParaRPr lang="en-ZA" b="1" dirty="0"/>
          </a:p>
          <a:p>
            <a:r>
              <a:rPr lang="en-ZA" b="1" dirty="0"/>
              <a:t>Notice where attention is going -</a:t>
            </a:r>
            <a:r>
              <a:rPr lang="en-ZA" dirty="0"/>
              <a:t>If people repeatedly focus on what could go wrong, </a:t>
            </a:r>
            <a:r>
              <a:rPr lang="en-ZA" b="1" dirty="0"/>
              <a:t>fear</a:t>
            </a:r>
            <a:r>
              <a:rPr lang="en-ZA" dirty="0"/>
              <a:t> may be directing attention towards risk and self-protection.</a:t>
            </a:r>
          </a:p>
          <a:p>
            <a:endParaRPr lang="en-ZA" b="1" dirty="0"/>
          </a:p>
          <a:p>
            <a:r>
              <a:rPr lang="en-ZA" b="1" dirty="0"/>
              <a:t>Look for changes in energy - </a:t>
            </a:r>
            <a:r>
              <a:rPr lang="en-ZA" dirty="0"/>
              <a:t>People attend meetings but contribute very little, deadlines start slipping and initiative falls. The leader explores whether </a:t>
            </a:r>
            <a:r>
              <a:rPr lang="en-ZA" b="1" dirty="0"/>
              <a:t>disappointment or fatigue</a:t>
            </a:r>
            <a:r>
              <a:rPr lang="en-ZA" dirty="0"/>
              <a:t> is draining morale.</a:t>
            </a:r>
          </a:p>
          <a:p>
            <a:endParaRPr lang="en-ZA" b="1" dirty="0"/>
          </a:p>
          <a:p>
            <a:r>
              <a:rPr lang="en-ZA" b="1" dirty="0"/>
              <a:t>Watch how people respond to challenge - </a:t>
            </a:r>
            <a:r>
              <a:rPr lang="en-ZA" dirty="0"/>
              <a:t>Discussions quickly become defensive or argumentative. </a:t>
            </a:r>
            <a:r>
              <a:rPr lang="en-ZA" b="1" dirty="0"/>
              <a:t>Anger or frustration</a:t>
            </a:r>
            <a:r>
              <a:rPr lang="en-ZA" dirty="0"/>
              <a:t> may be increasing friction and reducing people's willingness to listen.</a:t>
            </a:r>
          </a:p>
          <a:p>
            <a:endParaRPr lang="en-GB" dirty="0"/>
          </a:p>
          <a:p>
            <a:r>
              <a:rPr lang="en-GB" dirty="0"/>
              <a:t>Listen before you reframe.</a:t>
            </a:r>
          </a:p>
          <a:p>
            <a:r>
              <a:rPr lang="en-GB" dirty="0"/>
              <a:t>Cultures that move straight from “here is what changed” to “here is what we need you to do next” produce resistance they cannot explain. The resistance signals that people do not yet feel understood. In a restructure, a strategic pivot or a change in leadership, listening is the load-bearing wall.</a:t>
            </a:r>
          </a:p>
          <a:p>
            <a:r>
              <a:rPr lang="en-GB" dirty="0"/>
              <a:t>Source: Journal, 25 June 2026 — Professional Insights: Culture</a:t>
            </a:r>
          </a:p>
          <a:p>
            <a:endParaRPr lang="en-ZA" b="1" dirty="0"/>
          </a:p>
          <a:p>
            <a:r>
              <a:rPr lang="en-ZA" b="1" dirty="0"/>
              <a:t>Listen to informal language - </a:t>
            </a:r>
            <a:r>
              <a:rPr lang="en-ZA" dirty="0"/>
              <a:t>Repeated comments such as “What is the point?”, “They have already decided” or “Just do what they want” can signal </a:t>
            </a:r>
            <a:r>
              <a:rPr lang="en-ZA" b="1" dirty="0"/>
              <a:t>disappointment, frustration or disengagement</a:t>
            </a:r>
            <a:r>
              <a:rPr lang="en-ZA" dirty="0"/>
              <a:t>.</a:t>
            </a:r>
          </a:p>
          <a:p>
            <a:endParaRPr lang="en-ZA" b="1" dirty="0"/>
          </a:p>
          <a:p>
            <a:r>
              <a:rPr lang="en-ZA" b="1" dirty="0"/>
              <a:t>Connect emotion to behaviour</a:t>
            </a:r>
            <a:r>
              <a:rPr lang="en-ZA" dirty="0"/>
              <a:t>“ - We have identified frustration as the dominant emotion. Where are we seeing that frustration show up—in collaboration, decision-making, effort or willingness to speak?”</a:t>
            </a:r>
          </a:p>
          <a:p>
            <a:endParaRPr lang="en-ZA" dirty="0"/>
          </a:p>
          <a:p>
            <a:r>
              <a:rPr lang="en-ZA" b="1" dirty="0"/>
              <a:t>NAME → OBSERVE → CONNECT</a:t>
            </a:r>
            <a:endParaRPr lang="en-ZA" dirty="0"/>
          </a:p>
          <a:p>
            <a:r>
              <a:rPr lang="en-ZA" b="1" dirty="0"/>
              <a:t>Name:</a:t>
            </a:r>
            <a:r>
              <a:rPr lang="en-ZA" dirty="0"/>
              <a:t> What are people feeling?</a:t>
            </a:r>
            <a:br>
              <a:rPr lang="en-ZA" dirty="0"/>
            </a:br>
            <a:r>
              <a:rPr lang="en-ZA" b="1" dirty="0"/>
              <a:t>Observe:</a:t>
            </a:r>
            <a:r>
              <a:rPr lang="en-ZA" dirty="0"/>
              <a:t> What are people doing?</a:t>
            </a:r>
            <a:br>
              <a:rPr lang="en-ZA" dirty="0"/>
            </a:br>
            <a:r>
              <a:rPr lang="en-ZA" b="1" dirty="0"/>
              <a:t>Connect:</a:t>
            </a:r>
            <a:r>
              <a:rPr lang="en-ZA" dirty="0"/>
              <a:t> How might that emotional state be shaping what people notice, avoid, say or do?</a:t>
            </a:r>
          </a:p>
          <a:p>
            <a:endParaRPr lang="en-GB" dirty="0"/>
          </a:p>
          <a:p>
            <a:r>
              <a:rPr lang="en-GB" dirty="0"/>
              <a:t>Emotion processed in the right place.</a:t>
            </a:r>
          </a:p>
          <a:p>
            <a:r>
              <a:rPr lang="en-GB" dirty="0"/>
              <a:t>The leader who has no outlet for genuine emotion carries it into every decision. The leader who processes it appropriately can remain clear-headed in the most emotionally charged situations.</a:t>
            </a:r>
          </a:p>
          <a:p>
            <a:r>
              <a:rPr lang="en-GB" dirty="0"/>
              <a:t>Source: Journal, 27 January 2026 — Professional Insights: Leadership</a:t>
            </a:r>
          </a:p>
          <a:p>
            <a:endParaRPr lang="en-ZA" dirty="0"/>
          </a:p>
          <a:p>
            <a:r>
              <a:rPr lang="en-ZA" b="1" dirty="0"/>
              <a:t>“What are people feeling—and what is that feeling causing them to pay attention to, avoid or do?”</a:t>
            </a:r>
            <a:endParaRPr lang="en-ZA" dirty="0"/>
          </a:p>
        </p:txBody>
      </p:sp>
      <p:sp>
        <p:nvSpPr>
          <p:cNvPr id="4" name="Slide Number Placeholder 3">
            <a:extLst>
              <a:ext uri="{FF2B5EF4-FFF2-40B4-BE49-F238E27FC236}">
                <a16:creationId xmlns:a16="http://schemas.microsoft.com/office/drawing/2014/main" id="{E5EDD100-3BED-7A1D-B8D3-0D1A0A9745AE}"/>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6007465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4.2.3 · DEBIASING PRINCIPLES FOR STRATEGY MANAGEMENT
</a:t>
            </a:r>
            <a:r>
              <a:rPr lang="en-US" b="1" dirty="0"/>
              <a:t>CONTENT: </a:t>
            </a:r>
            <a:r>
              <a:rPr lang="en-US" dirty="0"/>
              <a:t>Awareness alone does not change outcomes. Without deliberate intervention, the same biases will continue to shape strategic conversations and decisions.</a:t>
            </a:r>
          </a:p>
          <a:p>
            <a:r>
              <a:rPr lang="en-US" dirty="0"/>
              <a:t>
What matters is how strategy processes are designed — who speaks, how options are generated, how challenge is introduced, and how decisions are tested. These design choices determine whether thinking becomes clearer or more distorted.</a:t>
            </a:r>
          </a:p>
          <a:p>
            <a:endParaRPr lang="en-GB" dirty="0"/>
          </a:p>
          <a:p>
            <a:r>
              <a:rPr lang="en-GB" dirty="0"/>
              <a:t>Verification before response.</a:t>
            </a:r>
          </a:p>
          <a:p>
            <a:r>
              <a:rPr lang="en-GB" dirty="0"/>
              <a:t>A common and costly strategic failure is acting at the speed of assumption on information that was heard and never confirmed. Build an explicit verification step into decision-making before any significant response.</a:t>
            </a:r>
          </a:p>
          <a:p>
            <a:r>
              <a:rPr lang="en-GB" dirty="0"/>
              <a:t>Source: Journal, 13 April 2026 — Professional Insights: Strategy</a:t>
            </a:r>
          </a:p>
          <a:p>
            <a:r>
              <a:rPr lang="en-US" dirty="0"/>
              <a:t>
The principles below — adopted from the works of Kahneman, Lovallo, Sibony, Huy, Lencioni, and Edmondson — provide practical ways to strengthen the quality of the strategy management process:
</a:t>
            </a:r>
            <a:r>
              <a:rPr lang="en-ZA" b="1" dirty="0"/>
              <a:t>1. Separate ideas from evaluation</a:t>
            </a:r>
          </a:p>
          <a:p>
            <a:r>
              <a:rPr lang="en-ZA" dirty="0"/>
              <a:t>When generating ideas, </a:t>
            </a:r>
            <a:r>
              <a:rPr lang="en-ZA" b="1" dirty="0"/>
              <a:t>let the ideas come first and judge them later</a:t>
            </a:r>
            <a:r>
              <a:rPr lang="en-ZA" dirty="0"/>
              <a:t>. Early criticism can stop people from sharing different or bold options.</a:t>
            </a:r>
          </a:p>
          <a:p>
            <a:r>
              <a:rPr lang="en-ZA" dirty="0"/>
              <a:t>First, create as many useful options as possible. Then evaluate them, compare them and decide which ones are strongest.</a:t>
            </a:r>
          </a:p>
          <a:p>
            <a:r>
              <a:rPr lang="en-ZA" b="1" dirty="0"/>
              <a:t>Simple rule:</a:t>
            </a:r>
            <a:r>
              <a:rPr lang="en-ZA" dirty="0"/>
              <a:t> </a:t>
            </a:r>
            <a:r>
              <a:rPr lang="en-ZA" b="1" dirty="0"/>
              <a:t>Generate first. Evaluate afterwards.</a:t>
            </a:r>
          </a:p>
          <a:p>
            <a:endParaRPr lang="en-ZA" dirty="0"/>
          </a:p>
          <a:p>
            <a:r>
              <a:rPr lang="en-ZA" b="1" dirty="0"/>
              <a:t>2. Name the emotional temperature</a:t>
            </a:r>
          </a:p>
          <a:p>
            <a:r>
              <a:rPr lang="en-ZA" dirty="0"/>
              <a:t>Before an important strategy, performance or review conversation, </a:t>
            </a:r>
            <a:r>
              <a:rPr lang="en-ZA" b="1" dirty="0"/>
              <a:t>check what people are feeling</a:t>
            </a:r>
            <a:r>
              <a:rPr lang="en-ZA" dirty="0"/>
              <a:t>.</a:t>
            </a:r>
          </a:p>
          <a:p>
            <a:r>
              <a:rPr lang="en-ZA" dirty="0"/>
              <a:t>Ask:</a:t>
            </a:r>
          </a:p>
          <a:p>
            <a:r>
              <a:rPr lang="en-ZA" b="1" dirty="0"/>
              <a:t>“What emotions are people bringing into this discussion that could affect how we think?”</a:t>
            </a:r>
            <a:endParaRPr lang="en-ZA" dirty="0"/>
          </a:p>
          <a:p>
            <a:r>
              <a:rPr lang="en-ZA" dirty="0"/>
              <a:t>Naming emotions such as fear, frustration, excitement or disappointment can reduce hidden tension and help people think and speak more openly.</a:t>
            </a:r>
          </a:p>
          <a:p>
            <a:r>
              <a:rPr lang="en-ZA" b="1" dirty="0"/>
              <a:t>Simple rule:</a:t>
            </a:r>
            <a:r>
              <a:rPr lang="en-ZA" dirty="0"/>
              <a:t> </a:t>
            </a:r>
            <a:r>
              <a:rPr lang="en-ZA" b="1" dirty="0"/>
              <a:t>Name the emotional climate in the room before discussing what is on the table.</a:t>
            </a:r>
          </a:p>
          <a:p>
            <a:endParaRPr lang="en-ZA" dirty="0"/>
          </a:p>
          <a:p>
            <a:r>
              <a:rPr lang="en-ZA" b="1" dirty="0"/>
              <a:t>3. Assign a challenger</a:t>
            </a:r>
          </a:p>
          <a:p>
            <a:r>
              <a:rPr lang="en-ZA" dirty="0"/>
              <a:t>For important decisions, give someone the clear role of </a:t>
            </a:r>
            <a:r>
              <a:rPr lang="en-ZA" b="1" dirty="0"/>
              <a:t>challenging the group's thinking</a:t>
            </a:r>
            <a:r>
              <a:rPr lang="en-ZA" dirty="0"/>
              <a:t>.</a:t>
            </a:r>
          </a:p>
          <a:p>
            <a:r>
              <a:rPr lang="en-ZA" dirty="0"/>
              <a:t>Their job is to question assumptions, test the preferred view and raise other possible explanations or options. </a:t>
            </a:r>
          </a:p>
          <a:p>
            <a:r>
              <a:rPr lang="en-ZA" dirty="0"/>
              <a:t>Rotate this role so that challenge becomes a normal part of decision-making.</a:t>
            </a:r>
          </a:p>
          <a:p>
            <a:r>
              <a:rPr lang="en-ZA" dirty="0"/>
              <a:t>This helps the team find blind spots before they become problems.</a:t>
            </a:r>
          </a:p>
          <a:p>
            <a:r>
              <a:rPr lang="en-ZA" b="1" dirty="0"/>
              <a:t>Simple rule:</a:t>
            </a:r>
            <a:r>
              <a:rPr lang="en-ZA" dirty="0"/>
              <a:t> </a:t>
            </a:r>
            <a:r>
              <a:rPr lang="en-ZA" b="1" dirty="0"/>
              <a:t>Give someone permission to challenge the thinking.</a:t>
            </a:r>
          </a:p>
          <a:p>
            <a:endParaRPr lang="en-GB" dirty="0"/>
          </a:p>
          <a:p>
            <a:r>
              <a:rPr lang="en-GB" dirty="0"/>
              <a:t>Designated challenger.</a:t>
            </a:r>
          </a:p>
          <a:p>
            <a:r>
              <a:rPr lang="en-GB" dirty="0"/>
              <a:t>Most flawed plans survive because dissent was quietly designed out of the room. Before the next significant decision, invite the one person most likely to disagree and hear them out fully.</a:t>
            </a:r>
          </a:p>
          <a:p>
            <a:r>
              <a:rPr lang="en-GB" dirty="0"/>
              <a:t>Source: Journal, 5 June 2026 — Professional Insights: Leadership</a:t>
            </a:r>
          </a:p>
          <a:p>
            <a:endParaRPr lang="en-ZA" dirty="0"/>
          </a:p>
          <a:p>
            <a:r>
              <a:rPr lang="en-ZA" b="1" dirty="0"/>
              <a:t>4. Use a pre-mortem</a:t>
            </a:r>
          </a:p>
          <a:p>
            <a:r>
              <a:rPr lang="en-ZA" dirty="0"/>
              <a:t>Before making a major decision or starting an important initiative, imagine that it has already failed.</a:t>
            </a:r>
          </a:p>
          <a:p>
            <a:r>
              <a:rPr lang="en-ZA" dirty="0"/>
              <a:t>Ask:</a:t>
            </a:r>
          </a:p>
          <a:p>
            <a:r>
              <a:rPr lang="en-ZA" b="1" dirty="0"/>
              <a:t>“If this fails, what are the most likely reasons?”</a:t>
            </a:r>
            <a:endParaRPr lang="en-ZA" dirty="0"/>
          </a:p>
          <a:p>
            <a:r>
              <a:rPr lang="en-ZA" dirty="0"/>
              <a:t>Then identify what could be done now to prevent those problems. This helps teams see risks early and prepare better for execution.</a:t>
            </a:r>
          </a:p>
          <a:p>
            <a:r>
              <a:rPr lang="en-ZA" b="1" dirty="0"/>
              <a:t>Simple rule:</a:t>
            </a:r>
            <a:r>
              <a:rPr lang="en-ZA" dirty="0"/>
              <a:t> </a:t>
            </a:r>
            <a:r>
              <a:rPr lang="en-ZA" b="1" dirty="0"/>
              <a:t>Imagine failure before it happens—and learn from it early.</a:t>
            </a:r>
          </a:p>
          <a:p>
            <a:endParaRPr lang="en-ZA" dirty="0"/>
          </a:p>
          <a:p>
            <a:r>
              <a:rPr lang="en-ZA" b="1" dirty="0"/>
              <a:t>5. Make the reference class visible</a:t>
            </a:r>
          </a:p>
          <a:p>
            <a:r>
              <a:rPr lang="en-ZA" dirty="0"/>
              <a:t>Do not judge a plan only by what the team believes will happen. </a:t>
            </a:r>
            <a:r>
              <a:rPr lang="en-ZA" b="1" dirty="0"/>
              <a:t>Look at what happened in similar situations.</a:t>
            </a:r>
            <a:endParaRPr lang="en-ZA" dirty="0"/>
          </a:p>
          <a:p>
            <a:r>
              <a:rPr lang="en-ZA" dirty="0"/>
              <a:t>Ask:</a:t>
            </a:r>
          </a:p>
          <a:p>
            <a:r>
              <a:rPr lang="en-ZA" b="1" dirty="0"/>
              <a:t>“What happened when other organisations or teams tried something similar under similar conditions?”</a:t>
            </a:r>
            <a:endParaRPr lang="en-ZA" dirty="0"/>
          </a:p>
          <a:p>
            <a:r>
              <a:rPr lang="en-ZA" dirty="0"/>
              <a:t>Use that evidence when setting targets, estimating time and resources, and reviewing performance. This helps reduce overconfidence and keeps decisions grounded in reality.</a:t>
            </a:r>
          </a:p>
          <a:p>
            <a:r>
              <a:rPr lang="en-ZA" b="1" dirty="0"/>
              <a:t>Simple rule:</a:t>
            </a:r>
            <a:r>
              <a:rPr lang="en-ZA" dirty="0"/>
              <a:t> </a:t>
            </a:r>
            <a:r>
              <a:rPr lang="en-ZA" b="1" dirty="0"/>
              <a:t>Look outside before predicting what will happen inside.</a:t>
            </a:r>
          </a:p>
          <a:p>
            <a:endParaRPr lang="en-ZA" dirty="0"/>
          </a:p>
          <a:p>
            <a:r>
              <a:rPr lang="en-ZA" b="1" dirty="0"/>
              <a:t>6. Create after-action protocols</a:t>
            </a:r>
          </a:p>
          <a:p>
            <a:r>
              <a:rPr lang="en-ZA" dirty="0"/>
              <a:t>Build regular learning reviews into execution. Do not wait until the strategy or project is finished.</a:t>
            </a:r>
          </a:p>
          <a:p>
            <a:r>
              <a:rPr lang="en-ZA" dirty="0"/>
              <a:t>Ask:</a:t>
            </a:r>
          </a:p>
          <a:p>
            <a:r>
              <a:rPr lang="en-ZA" b="1" dirty="0"/>
              <a:t>“What happened? What did we expect? What have we learned? What should we change?”</a:t>
            </a:r>
            <a:endParaRPr lang="en-ZA" dirty="0"/>
          </a:p>
          <a:p>
            <a:r>
              <a:rPr lang="en-ZA" dirty="0"/>
              <a:t>Use what the team learns to adjust decisions and actions while there is still time to improve the result.</a:t>
            </a:r>
          </a:p>
          <a:p>
            <a:r>
              <a:rPr lang="en-ZA" b="1" dirty="0"/>
              <a:t>Simple rule:</a:t>
            </a:r>
            <a:r>
              <a:rPr lang="en-ZA" dirty="0"/>
              <a:t> </a:t>
            </a:r>
            <a:r>
              <a:rPr lang="en-ZA" b="1" dirty="0"/>
              <a:t>Learn while you can still change the outcome.</a:t>
            </a:r>
            <a:endParaRPr lang="en-ZA" dirty="0"/>
          </a:p>
          <a:p>
            <a:endParaRPr lang="en-GB" dirty="0"/>
          </a:p>
          <a:p>
            <a:r>
              <a:rPr lang="en-GB" dirty="0"/>
              <a:t>Lessons that change something.</a:t>
            </a:r>
          </a:p>
          <a:p>
            <a:r>
              <a:rPr lang="en-GB" dirty="0"/>
              <a:t>Review organisational history to recognise the patterns that must be interrupted; recurring problems treated as isolated events return. Reviews create little value when lessons remain conversational. Insight must eventually alter decisions, controls, resource allocation and expected behaviour.</a:t>
            </a:r>
          </a:p>
          <a:p>
            <a:r>
              <a:rPr lang="en-GB" dirty="0"/>
              <a:t>Source: Journal, 10 August 2026 — Professional Insights: Strategy</a:t>
            </a:r>
          </a:p>
          <a:p>
            <a:r>
              <a:rPr lang="en-GB" dirty="0"/>
              <a:t>
Group debrief. Ask: “Which principle does your organisation consistently skip — and what does that cost you?” Then: “Which one could you introduce into your very next strategy meeting without needing anyone’s permission?”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F211D-E7A4-9714-E76B-5A15AE3D00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4DD521-995A-A56B-4FA6-C3F57D0D04BD}"/>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6413ABD-6C1D-2BCA-771B-F55C9FD2F387}"/>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D0942FC-0D36-348D-D256-F6FD4FB0CBE4}"/>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8003819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5 · INTEGRATION — COLLECTIVE
</a:t>
            </a:r>
            <a:r>
              <a:rPr lang="en-US" b="1" dirty="0"/>
              <a:t>SECTION LEARNING OUTCOMES:</a:t>
            </a:r>
            <a:r>
              <a:rPr lang="en-US" dirty="0"/>
              <a:t>
1. Recognise the conditions that turn individual perspectives into collective intelligence within a leadership team.
2. Prioritise the organisational practices that would most strengthen collective decision quality.
</a:t>
            </a:r>
            <a:r>
              <a:rPr lang="en-US" b="1" dirty="0"/>
              <a:t>SECTION INTENT: </a:t>
            </a:r>
            <a:r>
              <a:rPr lang="en-US" dirty="0"/>
              <a:t>This section is where the unit moves from diagnosis to design. Participants have identified what behavioural strategy is, why it matters, and where biases operate. Now they learn how to build an environment where collective intelligence can actually function. This is the most practically actionable section — treat it that way.
Say (framing the transition): “Everything we have covered so far reveals the problem. This section is about the solution architecture. It designs better environments for judgement.”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OPENING CONTEXT (Foundation)
Opening the section. Ask: “If everyone in your leadership team performed at their personal best — would the quality of your collective decisions automatically improve?” The expected answer is yes. The correct answer is not necessarily. Allow the tension to sit before revealing the content.
Content:
The quality of strategy execution is a direct function of the quality of the thinking environment: the conditions under which thinking happens.</a:t>
            </a:r>
          </a:p>
          <a:p>
            <a:r>
              <a:rPr lang="en-US" dirty="0"/>
              <a:t>
In the Integration section, we solve the “Elephant Perspective” problem. We do this by moving from functional silos to an Enterprise-Wide Perspective. This requires shifting the leadership team from “Defending the Part” to “Designing the Whole.”</a:t>
            </a:r>
          </a:p>
          <a:p>
            <a:r>
              <a:rPr lang="en-US" dirty="0"/>
              <a:t>
Integration is where the “Me” becomes “We.” It’s the process of trading individual opinions for Collective Intelligence.</a:t>
            </a:r>
          </a:p>
          <a:p>
            <a:endParaRPr lang="en-GB" dirty="0"/>
          </a:p>
          <a:p>
            <a:r>
              <a:rPr lang="en-GB" dirty="0"/>
              <a:t>A healthy culture creates conditions in which different contributions can genuinely be joined together. This requires a shared identity strong enough to transcend functional identity, relationships strong enough to carry disagreement, and an understanding that no single part can independently produce the whole organisational outcome.</a:t>
            </a:r>
          </a:p>
          <a:p>
            <a:r>
              <a:rPr lang="en-GB" dirty="0"/>
              <a:t>Source: Journal, 4 October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5.1 · THE THREE PILLARS OF INTEGRATION</a:t>
            </a:r>
            <a:r>
              <a:rPr lang="en-US" dirty="0"/>
              <a:t>
</a:t>
            </a:r>
            <a:r>
              <a:rPr lang="en-ZA" sz="1200" b="0" i="0" kern="1200" dirty="0">
                <a:solidFill>
                  <a:schemeClr val="tx1"/>
                </a:solidFill>
                <a:effectLst/>
                <a:latin typeface="+mn-lt"/>
                <a:ea typeface="+mn-ea"/>
                <a:cs typeface="+mn-cs"/>
              </a:rPr>
              <a:t>There are three pillars that provide a practical framework for building collective intelligence in your leadership environment. </a:t>
            </a:r>
          </a:p>
          <a:p>
            <a:endParaRPr lang="en-ZA" sz="1200" b="0" i="0" kern="1200" dirty="0">
              <a:solidFill>
                <a:schemeClr val="tx1"/>
              </a:solidFill>
              <a:effectLst/>
              <a:latin typeface="+mn-lt"/>
              <a:ea typeface="+mn-ea"/>
              <a:cs typeface="+mn-cs"/>
            </a:endParaRPr>
          </a:p>
          <a:p>
            <a:r>
              <a:rPr lang="en-ZA" sz="1200" b="0" i="0" kern="1200" dirty="0">
                <a:solidFill>
                  <a:schemeClr val="tx1"/>
                </a:solidFill>
                <a:effectLst/>
                <a:latin typeface="+mn-lt"/>
                <a:ea typeface="+mn-ea"/>
                <a:cs typeface="+mn-cs"/>
              </a:rPr>
              <a:t>Let us explore each pillar to understand how it fosters collective intelligence.</a:t>
            </a:r>
          </a:p>
          <a:p>
            <a:r>
              <a:rPr lang="en-US" dirty="0"/>
              <a:t>
</a:t>
            </a:r>
            <a:r>
              <a:rPr lang="en-US" b="1" dirty="0"/>
              <a:t>PILLAR 1 · COGNITIVE INTEGRATION: CONNECTING THE DOTS</a:t>
            </a:r>
            <a:r>
              <a:rPr lang="en-US" dirty="0"/>
              <a:t>
This is about breaking down the “I’m an expert in my area” silos. </a:t>
            </a:r>
          </a:p>
          <a:p>
            <a:r>
              <a:rPr lang="en-US" dirty="0"/>
              <a:t>If Marketing only sees customers and Finance only sees costs, they are both looking at a fragmented reality.
</a:t>
            </a:r>
            <a:r>
              <a:rPr lang="en-US" b="1" dirty="0"/>
              <a:t>The Goal</a:t>
            </a:r>
            <a:r>
              <a:rPr lang="en-US" dirty="0"/>
              <a:t>: Build a single version of the truth.
</a:t>
            </a:r>
            <a:r>
              <a:rPr lang="en-US" b="1" dirty="0"/>
              <a:t>How it works: </a:t>
            </a:r>
            <a:r>
              <a:rPr lang="en-US" dirty="0"/>
              <a:t>You require every department to explain how its information affects everyone else.
</a:t>
            </a:r>
            <a:r>
              <a:rPr lang="en-US" b="1" dirty="0"/>
              <a:t>In Practice: </a:t>
            </a:r>
            <a:r>
              <a:rPr lang="en-US" dirty="0"/>
              <a:t>A “Stress Test” where the team asks: “If the Finance data is right, does the Marketing plan still make sense?”</a:t>
            </a:r>
          </a:p>
          <a:p>
            <a:endParaRPr lang="en-GB" dirty="0"/>
          </a:p>
          <a:p>
            <a:r>
              <a:rPr lang="en-GB" dirty="0"/>
              <a:t>The most accurate intelligence about what the organisation’s decisions are producing is often held by those furthest from the decision-making centre. Build explicit structures that bring this intelligence from the edges into the rooms where decisions are made.</a:t>
            </a:r>
          </a:p>
          <a:p>
            <a:r>
              <a:rPr lang="en-GB" dirty="0"/>
              <a:t>Source: Journal, 2 April 2026 — Professional Insights: Culture</a:t>
            </a:r>
          </a:p>
          <a:p>
            <a:endParaRPr lang="en-GB" dirty="0"/>
          </a:p>
          <a:p>
            <a:r>
              <a:rPr lang="en-US" b="1" dirty="0"/>
              <a:t>PILLAR 2 · BEHAVIOURAL GUARDRAILS: PUTTING UP SAFETY NETS</a:t>
            </a:r>
            <a:r>
              <a:rPr lang="en-US" dirty="0"/>
              <a:t>
Smart people make bad choices when they rush. </a:t>
            </a:r>
          </a:p>
          <a:p>
            <a:r>
              <a:rPr lang="en-US" dirty="0"/>
              <a:t>Guardrails are simple rules that force your brain to slow down and switch from “Gut Feel” (System 1) to “Logic” (System 2).
</a:t>
            </a:r>
            <a:r>
              <a:rPr lang="en-US" b="1" dirty="0"/>
              <a:t>The Goal: </a:t>
            </a:r>
            <a:r>
              <a:rPr lang="en-US" dirty="0"/>
              <a:t>Stop the “loudest voice” or the “fastest talker” from winning by default.
</a:t>
            </a:r>
            <a:r>
              <a:rPr lang="en-US" b="1" dirty="0"/>
              <a:t>How it works: </a:t>
            </a:r>
            <a:r>
              <a:rPr lang="en-US" dirty="0"/>
              <a:t>You build “friction” into the meeting. You make it a requirement to disagree before a final vote is taken.
</a:t>
            </a:r>
            <a:r>
              <a:rPr lang="en-US" b="1" dirty="0"/>
              <a:t>In Practice: </a:t>
            </a:r>
            <a:r>
              <a:rPr lang="en-US" dirty="0"/>
              <a:t>The Challenge Clock — Dedicate 10 minutes to only finding reasons why the plan won’t work.</a:t>
            </a:r>
          </a:p>
          <a:p>
            <a:endParaRPr lang="en-GB" dirty="0"/>
          </a:p>
          <a:p>
            <a:r>
              <a:rPr lang="en-GB" dirty="0"/>
              <a:t>Leaders who decide by who is loudest in the room, ahead of what is most true in the data, consistently make poor calls. Good judgement goes beneath the surface presentation and the political pressure to what is actually true.</a:t>
            </a:r>
          </a:p>
          <a:p>
            <a:r>
              <a:rPr lang="en-GB" dirty="0"/>
              <a:t>Source: Journal, 14 January 2026 — Professional Insights: Leadership</a:t>
            </a:r>
          </a:p>
          <a:p>
            <a:endParaRPr lang="en-GB" dirty="0"/>
          </a:p>
          <a:p>
            <a:r>
              <a:rPr lang="en-US" b="1" dirty="0"/>
              <a:t>PILLAR 3 · EMOTIONAL STABILISATION: CLEARING THE AIR</a:t>
            </a:r>
            <a:r>
              <a:rPr lang="en-US" dirty="0"/>
              <a:t>
If a room is full of fear or big egos, no one tells the truth. </a:t>
            </a:r>
          </a:p>
          <a:p>
            <a:r>
              <a:rPr lang="en-US" dirty="0" err="1"/>
              <a:t>Stabilisation</a:t>
            </a:r>
            <a:r>
              <a:rPr lang="en-US" dirty="0"/>
              <a:t> is about making the environment “safe” enough for high-level thinking.
</a:t>
            </a:r>
            <a:r>
              <a:rPr lang="en-US" b="1" dirty="0"/>
              <a:t>The Goal: </a:t>
            </a:r>
            <a:r>
              <a:rPr lang="en-US" dirty="0"/>
              <a:t>Move the team from defensiveness to curiosity.
</a:t>
            </a:r>
            <a:r>
              <a:rPr lang="en-US" b="1" dirty="0"/>
              <a:t>How it works: </a:t>
            </a:r>
            <a:r>
              <a:rPr lang="en-US" dirty="0"/>
              <a:t>Leaders must admit they don’t have all the answers. This lowers the “atmospheric pressure” and lets the team speak up without fear of looking bad.
</a:t>
            </a:r>
            <a:r>
              <a:rPr lang="en-US" b="1" dirty="0"/>
              <a:t>In Practice: </a:t>
            </a:r>
            <a:r>
              <a:rPr lang="en-US" dirty="0"/>
              <a:t>Naming the Feeling — Start by saying, “I know we may all be anxious about this deadline. Let’s acknowledge that before we look at the numbers.”</a:t>
            </a:r>
          </a:p>
          <a:p>
            <a:endParaRPr lang="en-GB" dirty="0"/>
          </a:p>
          <a:p>
            <a:r>
              <a:rPr lang="en-GB" dirty="0"/>
              <a:t>Leadership maturity includes the ability to acknowledge uncertainty without transferring anxiety throughout the organisation. Steadiness means remaining sufficiently grounded to assess reality clearly and respond proportionately.</a:t>
            </a:r>
          </a:p>
          <a:p>
            <a:r>
              <a:rPr lang="en-GB" dirty="0"/>
              <a:t>Source: Journal, 3 October 2026 — Professional Insights: Leadership</a:t>
            </a:r>
          </a:p>
          <a:p>
            <a:endParaRPr lang="en-GB" dirty="0"/>
          </a:p>
          <a:p>
            <a:r>
              <a:rPr lang="en-US" b="1" dirty="0"/>
              <a:t>Key facilitation point: </a:t>
            </a:r>
            <a:r>
              <a:rPr lang="en-US" dirty="0"/>
              <a:t>Remind the group that all three pillars are interdependent. A strong Cognitive Integration process will collapse in a fear-dominated climate (Pillar 3 failure). Guardrails will be bypassed if there is no psychological safety to use them (Pillar 3 again). The pillars reinforce each other.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 · INSTITUTIONAL PRACTICES FOR COLLECTIVE INTELLIGENCE (10 Practices)</a:t>
            </a:r>
            <a:r>
              <a:rPr lang="en-US" dirty="0"/>
              <a:t>
</a:t>
            </a:r>
            <a:r>
              <a:rPr lang="en-US" b="1" dirty="0"/>
              <a:t>CONTENT: </a:t>
            </a:r>
            <a:r>
              <a:rPr lang="en-US" dirty="0"/>
              <a:t>What must exist in the organisation for good thinking to happen consistently. These are structural changes to how strategy is conducted.
5.2.1 </a:t>
            </a:r>
            <a:r>
              <a:rPr lang="en-US" b="1" dirty="0"/>
              <a:t>IN THE STRATEGY ROOM</a:t>
            </a:r>
          </a:p>
          <a:p>
            <a:r>
              <a:rPr lang="en-ZA" dirty="0"/>
              <a:t>This is about </a:t>
            </a:r>
            <a:r>
              <a:rPr lang="en-ZA" b="1" dirty="0"/>
              <a:t>how you design meetings and decision processes</a:t>
            </a:r>
            <a:r>
              <a:rPr lang="en-ZA" dirty="0"/>
              <a:t> to reduce bias while people are making strategic decisions.</a:t>
            </a:r>
          </a:p>
          <a:p>
            <a:r>
              <a:rPr lang="en-US" dirty="0"/>
              <a:t>
</a:t>
            </a:r>
            <a:r>
              <a:rPr lang="en-US" b="1" dirty="0"/>
              <a:t>1. 72-Hour Pre-Read Mandate (Neutralises: Anchoring): </a:t>
            </a:r>
            <a:r>
              <a:rPr lang="en-US" dirty="0"/>
              <a:t>Strategic documents distributed 3 days prior to the session. Prevents Anchoring to the presenter’s live framing and allows for independent reflection.</a:t>
            </a:r>
          </a:p>
          <a:p>
            <a:r>
              <a:rPr lang="en-US" dirty="0"/>
              <a:t>
</a:t>
            </a:r>
            <a:r>
              <a:rPr lang="en-US" b="1" dirty="0"/>
              <a:t>2. Rotating Neutral Facilitation (Neutralises: Authority Bias &amp; Groupthink): </a:t>
            </a:r>
            <a:r>
              <a:rPr lang="en-US" dirty="0"/>
              <a:t>Sessions are led by someone other than the CEO or the most senior executive. Neutralises Authority Bias and Groupthink by decoupling power from the process.</a:t>
            </a:r>
          </a:p>
          <a:p>
            <a:endParaRPr lang="en-GB" dirty="0"/>
          </a:p>
          <a:p>
            <a:r>
              <a:rPr lang="en-GB" dirty="0"/>
              <a:t>Insight from every level.</a:t>
            </a:r>
          </a:p>
          <a:p>
            <a:r>
              <a:rPr lang="en-GB" dirty="0"/>
              <a:t>Leaders who assume strategic insight belongs only to the senior tier miss what the rest of the organisation sees. The next strategic insight may come from the youngest person on the team.</a:t>
            </a:r>
          </a:p>
          <a:p>
            <a:r>
              <a:rPr lang="en-GB" dirty="0"/>
              <a:t>Source: Journal, 29 March 2026 — Professional Insights</a:t>
            </a:r>
          </a:p>
          <a:p>
            <a:r>
              <a:rPr lang="en-US" dirty="0"/>
              <a:t>
</a:t>
            </a:r>
            <a:r>
              <a:rPr lang="en-US" b="1" dirty="0"/>
              <a:t>3. Blind Ideation (Neutralises: Conformity &amp; Halo Effect): </a:t>
            </a:r>
            <a:r>
              <a:rPr lang="en-US" dirty="0"/>
              <a:t>Anonymous submission of ideas and critiques during the exploration phase. Eliminates Conformity Bias and the Halo Effect of senior-led suggestions.</a:t>
            </a:r>
          </a:p>
          <a:p>
            <a:endParaRPr lang="en-GB" dirty="0"/>
          </a:p>
          <a:p>
            <a:r>
              <a:rPr lang="en-GB" dirty="0"/>
              <a:t>Halo Effect.</a:t>
            </a:r>
          </a:p>
          <a:p>
            <a:r>
              <a:rPr lang="en-GB" dirty="0"/>
              <a:t>Cultures become vulnerable when prestige determines whose ideas matter. Healthy cultures combine competence with humility and value overlooked contributors.</a:t>
            </a:r>
          </a:p>
          <a:p>
            <a:r>
              <a:rPr lang="en-GB" dirty="0"/>
              <a:t>Source: Journal, 31 August 2026 — Professional Insights: Culture</a:t>
            </a:r>
          </a:p>
          <a:p>
            <a:r>
              <a:rPr lang="en-US" dirty="0"/>
              <a:t>
</a:t>
            </a:r>
            <a:r>
              <a:rPr lang="en-US" b="1" dirty="0"/>
              <a:t>4. The “Challenge Clock” (Neutralises: Action-Oriented rush): </a:t>
            </a:r>
            <a:r>
              <a:rPr lang="en-US" dirty="0"/>
              <a:t>A dedicated, non-negotiable segment on the agenda for dissenting views. Forces System 2 engagement and protects against the Action-Oriented rush to decide.</a:t>
            </a:r>
          </a:p>
          <a:p>
            <a:r>
              <a:rPr lang="en-US" dirty="0"/>
              <a:t>
</a:t>
            </a:r>
            <a:r>
              <a:rPr lang="en-US" b="1" dirty="0"/>
              <a:t>5. Silent Deliberation (Neutralises: Availability Bias): </a:t>
            </a:r>
            <a:r>
              <a:rPr lang="en-US" dirty="0"/>
              <a:t>Individual written reflection is required before any verbal group discussion. Prevents the “First Voice” from dominating and triggering Availability Bias.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5.2.2 · IN LEADERSHIP CULTURE</a:t>
            </a:r>
            <a:r>
              <a:rPr lang="en-US" dirty="0"/>
              <a:t>
</a:t>
            </a:r>
            <a:r>
              <a:rPr lang="en-US" b="1" dirty="0"/>
              <a:t>IN LEADERSHIP CULTURE</a:t>
            </a:r>
          </a:p>
          <a:p>
            <a:r>
              <a:rPr lang="en-ZA" dirty="0"/>
              <a:t>This is about </a:t>
            </a:r>
            <a:r>
              <a:rPr lang="en-ZA" b="1" dirty="0"/>
              <a:t>building leadership habits and organisational practices</a:t>
            </a:r>
            <a:r>
              <a:rPr lang="en-ZA" dirty="0"/>
              <a:t> that reduce bias over time.</a:t>
            </a:r>
          </a:p>
          <a:p>
            <a:r>
              <a:rPr lang="en-US" dirty="0"/>
              <a:t>
</a:t>
            </a:r>
            <a:r>
              <a:rPr lang="en-US" b="1" dirty="0"/>
              <a:t>1. Public Cognitive Humility (Neutralises: Overconfidence): </a:t>
            </a:r>
            <a:r>
              <a:rPr lang="en-US" dirty="0"/>
              <a:t>Leaders explicitly share past errors and the logic used to correct them. Reduces the Overconfidence Bias and models a culture of continuous learning.</a:t>
            </a:r>
          </a:p>
          <a:p>
            <a:endParaRPr lang="en-GB" dirty="0"/>
          </a:p>
          <a:p>
            <a:r>
              <a:rPr lang="en-GB" dirty="0"/>
              <a:t>Teams that only ever hear the polished version stop believing any of it. Name one of your own missteps openly to the people you lead; the candour builds the credibility that spin erodes.</a:t>
            </a:r>
          </a:p>
          <a:p>
            <a:r>
              <a:rPr lang="en-GB" dirty="0"/>
              <a:t>Source: Journal, 22 May 2026 — Professional Insights: Leadership</a:t>
            </a:r>
          </a:p>
          <a:p>
            <a:endParaRPr lang="en-GB" dirty="0"/>
          </a:p>
          <a:p>
            <a:r>
              <a:rPr lang="en-GB" dirty="0"/>
              <a:t>Self-examination.</a:t>
            </a:r>
          </a:p>
          <a:p>
            <a:r>
              <a:rPr lang="en-GB" dirty="0"/>
              <a:t>When something goes wrong, positional power makes it easy to locate failure elsewhere: in the team, the environment, the systems or the execution. Ask “Who failed?” and also “What did my decisions, assumptions, signals or omissions make possible?”</a:t>
            </a:r>
          </a:p>
          <a:p>
            <a:r>
              <a:rPr lang="en-GB" dirty="0"/>
              <a:t>Source: Journal, 1 October 2026 — Professional Insights: Leadership</a:t>
            </a:r>
          </a:p>
          <a:p>
            <a:r>
              <a:rPr lang="en-US" dirty="0"/>
              <a:t>
</a:t>
            </a:r>
            <a:r>
              <a:rPr lang="en-US" b="1" dirty="0"/>
              <a:t>2. Behavioural 360s (Neutralises: Self-Interest &amp; Perspective): </a:t>
            </a:r>
            <a:r>
              <a:rPr lang="en-US" dirty="0"/>
              <a:t>Leadership assessments that measure self-awareness and decision-making rigour. Addresses Self-Interest and Perspective Bias through external feedback loops.</a:t>
            </a:r>
          </a:p>
          <a:p>
            <a:r>
              <a:rPr lang="en-US" dirty="0"/>
              <a:t>
</a:t>
            </a:r>
            <a:r>
              <a:rPr lang="en-US" b="1" dirty="0"/>
              <a:t>3. Debiasing Coaching (Neutralises: System 1 dominance): </a:t>
            </a:r>
            <a:r>
              <a:rPr lang="en-US" dirty="0"/>
              <a:t>Professional development focused on identifying personal “cognitive signatures.” Builds the “muscle” for System 2 thinking under high-pressure conditions.</a:t>
            </a:r>
          </a:p>
          <a:p>
            <a:r>
              <a:rPr lang="en-US" dirty="0"/>
              <a:t>
</a:t>
            </a:r>
            <a:r>
              <a:rPr lang="en-US" b="1" dirty="0"/>
              <a:t>4. Safety Metrics (Neutralises: Innovation Suppression &amp; Career-Risk): </a:t>
            </a:r>
            <a:r>
              <a:rPr lang="en-US" dirty="0"/>
              <a:t>Using psychological safety surveys as a “Lead Indicator” for strategy quality. Ensures the absence of Innovation Suppression and Career-Risk Bias.</a:t>
            </a:r>
          </a:p>
          <a:p>
            <a:r>
              <a:rPr lang="en-US" dirty="0"/>
              <a:t>
</a:t>
            </a:r>
            <a:r>
              <a:rPr lang="en-US" b="1" dirty="0"/>
              <a:t>5. Strategic Post-Mortems (Neutralises: Hindsight Bias): </a:t>
            </a:r>
            <a:r>
              <a:rPr lang="en-US" dirty="0"/>
              <a:t>Radical transparency regarding why a strategy succeeded or failed. Dismantles Hindsight Bias and provides a database of organisational learning.</a:t>
            </a:r>
          </a:p>
          <a:p>
            <a:endParaRPr lang="en-GB" dirty="0"/>
          </a:p>
          <a:p>
            <a:r>
              <a:rPr lang="en-GB" dirty="0"/>
              <a:t>Shame is what cultures produce when failure is punished and never processed. When people are more afraid of being found wrong than of being wrong, they hide problems until those problems become crises. Build a culture where people can say “I got this wrong” before it becomes “we failed”.</a:t>
            </a:r>
          </a:p>
          <a:p>
            <a:r>
              <a:rPr lang="en-GB" dirty="0"/>
              <a:t>Source: Journal, 6 January 2026 — Professional Insights: Culture</a:t>
            </a:r>
          </a:p>
          <a:p>
            <a:endParaRPr lang="en-GB" dirty="0"/>
          </a:p>
          <a:p>
            <a:r>
              <a:rPr lang="en-US" dirty="0"/>
              <a:t>Group debrief. Ask: “Which practice is most immediately implementable in your organisation without needing a mandate from above? What is stopping you from introducing it in your next meeting?”
Prioritisation exercise: Ask each participant to select their top two or three practices and share one with the group along with the bias it directly addresses. This connects the institutional practices back to the bias families explored in Section 2.</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29F52-6CDF-374B-4FB0-ED89822B6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4D6290-2E3F-06B6-B3C9-6C95343096C4}"/>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27749809-64AF-BC7E-C1D9-E81FEB331FF8}"/>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3C8EFFC1-2991-F979-526E-E4344B48FC72}"/>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889507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SECTION 6 · APPLICATION — IN PRACTICE</a:t>
            </a:r>
            <a:r>
              <a:rPr lang="en-US" dirty="0"/>
              <a:t>
Application — Behavioural Strategy in Practice
</a:t>
            </a:r>
            <a:r>
              <a:rPr lang="en-US" b="1" dirty="0"/>
              <a:t>SECTION LEARNING OUTCOMES:</a:t>
            </a:r>
            <a:r>
              <a:rPr lang="en-US" dirty="0"/>
              <a:t>
1. Assess your own leadership conduct against the behavioural conditions for sound strategic judgement.
2. Commit to the development priority with the greatest effect on your strategic judgement.
Section intent: This is the integration section. Everything learned across Sections 1–5 is now applied — first in a live simulation (the Distortion Lab) and then in a personal self-assessment (Section 6.1). Do not skip the simulation. It is where the concepts become visceral.
Say (framing for participants): “In every section so far, we have been thinking about bias. Now we are going to experience it. The Distortion Lab is designed to show you how bias operates in real-time, even when you know it exists.”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THE DISTORTION LAB: THE GROWTH DECISION (Integration Simulation · Printable)
Preparation: Print the exercise using the gold “Print Exercise” button in the facilitator file before the session begins. Each group needs one printed copy, or works from your slides. Groups of 4–6 work best — assign roles across the group so that different functions are represented.
Participant activity: Participants do this exercise in the session, from the material you give them. Their own file (Section 6 · The Distortion Lab: The Growth Decision) holds only the debrief questions. The Phase 1 group data is in the facilitator file: distribute it separately to each group.
Running the exercise:</a:t>
            </a:r>
          </a:p>
          <a:p>
            <a:r>
              <a:rPr lang="en-US" dirty="0"/>
              <a:t>
1. Allow 5 minutes for participants to read the scenario individually and silently.
</a:t>
            </a:r>
          </a:p>
          <a:p>
            <a:r>
              <a:rPr lang="en-US" dirty="0"/>
              <a:t>2. Assign each participant (or pair) a functional role — do not allow self-selection. Functional attachment to an assigned role is part of the learning.</a:t>
            </a:r>
          </a:p>
          <a:p>
            <a:r>
              <a:rPr lang="en-US" dirty="0"/>
              <a:t>
3. Send the groups into break-out rooms. Run the group discussion for 5 minutes without facilitator intervention. </a:t>
            </a:r>
          </a:p>
          <a:p>
            <a:r>
              <a:rPr lang="en-US" dirty="0"/>
              <a:t>
4. Bring the groups back and ask them to share their recommendations.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PHASE 1 — FRAGMENTED REALITY (Distribute separately to each group)
Each group receives only its own data (facilitator file: “Distribute separately to each group”).
Group 1: Finance
- Margins declining over last 2 years
- Capital constraints tightening
- Debt capacity limited
- Large investments increase financial risk
Reality: Financial sustainability is under pressure.
Group 2: Market &amp; Strategy
- Adjacent markets growing faster than core
- Competitors expanding aggressively
- Strong acquisition targets available
Reality: Growth acceleration is critical to remain competitive.
Group 3: Operations
- Plants near full capacity
- Integration capability limited
- Previous integration effort struggled
Reality: Operational system is stretched and fragile.
Group 4: People &amp; Culture
- Leadership bandwidth constrained
- Change fatigue visible
- Talent retention becoming a concern
Reality: Organisation may not absorb further strain.
Round 1 Task: Each group defines a strategic direction based only on their data. Prepare: one strategic recommendation and key rationale.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PHASE 2 — BOARD OPTIONS (Reveal ONLY after Round 1 is complete)
Ask participants to mark their choice before revealing others.
Option A · Organic Growth: Invest $40M in capacity expansion. Projected revenue growth: 18–22%. Risk: Moderate.
Option B · Acquisition: Acquire competitor in adjacent market. Investment: $65M. Projected revenue growth: 35–45%. 40% of similar acquisitions underperform. Risk: High Integration Complexity.
Option C · Strategic Pause: No major capital investment for 18 months. Focus on capability building and market intelligence. Risk: Competitive Displacement Risk.
The Task: Given what you now know— what is the right decision for the enterprise, and how do these options help or limit that decision. Define ONE integrated enterprise decision.</a:t>
            </a:r>
          </a:p>
          <a:p>
            <a:r>
              <a:rPr lang="en-US" dirty="0"/>
              <a:t>
Ask 2 people to suggest what the enterprise decision must be.</a:t>
            </a:r>
          </a:p>
          <a:p>
            <a:endParaRPr lang="en-GB" dirty="0"/>
          </a:p>
          <a:p>
            <a:r>
              <a:rPr lang="en-GB" dirty="0"/>
              <a:t>A common reference point.</a:t>
            </a:r>
          </a:p>
          <a:p>
            <a:r>
              <a:rPr lang="en-GB" dirty="0"/>
              <a:t>Integration requires a common reference point. When every function interprets priorities primarily through its own objectives, coherence becomes difficult. Shared strategic intent provides the reference against which local decisions can be aligned.</a:t>
            </a:r>
          </a:p>
          <a:p>
            <a:r>
              <a:rPr lang="en-GB" dirty="0"/>
              <a:t>Source: Journal, 4 October 2026 — Professional Insights: Strategy</a:t>
            </a:r>
          </a:p>
          <a:p>
            <a:endParaRPr lang="en-US" dirty="0"/>
          </a:p>
          <a:p>
            <a:r>
              <a:rPr lang="en-US" dirty="0"/>
              <a:t>Debrief after the simulation: Return to the three bias families most relevant to the scenario. </a:t>
            </a:r>
          </a:p>
          <a:p>
            <a:r>
              <a:rPr lang="en-US" dirty="0"/>
              <a:t>Ask: “Which biases were operating in this room just now — and did knowing about them protect you from them?” The expected and honest answer is usually: not fully. That is the lesson.</a:t>
            </a:r>
          </a:p>
          <a:p>
            <a:endParaRPr lang="en-US" dirty="0"/>
          </a:p>
          <a:p>
            <a:r>
              <a:rPr lang="en-US" dirty="0"/>
              <a:t>Collective intelligence requires deliberate integration of partial realities.
The quality of strategy execution is a function of the quality of the thinking environment.</a:t>
            </a:r>
          </a:p>
          <a:p>
            <a:endParaRPr lang="en-US" dirty="0"/>
          </a:p>
          <a:p>
            <a:r>
              <a:rPr lang="en-US" dirty="0"/>
              <a:t>Transition: move to Section 6.1 · The Five Commitments.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C6367-03CC-6A58-B038-B2A798DEE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FCD260-0C18-F080-223E-C84923D59BA8}"/>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309DEDDA-9F60-5886-9AEE-BC93FB2F1EA6}"/>
              </a:ext>
            </a:extLst>
          </p:cNvPr>
          <p:cNvSpPr>
            <a:spLocks noGrp="1"/>
          </p:cNvSpPr>
          <p:nvPr>
            <p:ph type="body" idx="1"/>
          </p:nvPr>
        </p:nvSpPr>
        <p:spPr/>
        <p:txBody>
          <a:bodyPr/>
          <a:lstStyle/>
          <a:p>
            <a:r>
              <a:rPr lang="en-US" dirty="0"/>
              <a:t>Complete the commitment self-assessment on 6.1 section and the three reflections.</a:t>
            </a:r>
          </a:p>
          <a:p>
            <a:endParaRPr lang="en-GB" dirty="0"/>
          </a:p>
          <a:p>
            <a:r>
              <a:rPr lang="en-GB" dirty="0"/>
              <a:t>C1 · I Know My Biases.</a:t>
            </a:r>
          </a:p>
          <a:p>
            <a:r>
              <a:rPr lang="en-GB" dirty="0"/>
              <a:t>Leaders need mechanisms that reveal their blind spots as well as their strengths. Acknowledging difficulty deepens trust when it comes with responsibility, learning and perseverance.</a:t>
            </a:r>
          </a:p>
          <a:p>
            <a:r>
              <a:rPr lang="en-GB" dirty="0"/>
              <a:t>Source: Journal, 14 September 2026 — Professional Insights: Leadership</a:t>
            </a:r>
          </a:p>
        </p:txBody>
      </p:sp>
      <p:sp>
        <p:nvSpPr>
          <p:cNvPr id="4" name="Slide Number Placeholder 3">
            <a:extLst>
              <a:ext uri="{FF2B5EF4-FFF2-40B4-BE49-F238E27FC236}">
                <a16:creationId xmlns:a16="http://schemas.microsoft.com/office/drawing/2014/main" id="{EFB66239-2E52-BDEB-6325-2DEE7B47DC36}"/>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5249078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Closing the room: Ask each participant to complete this sentence privately in writing: “The one thing I am taking from this unit that I intend to act on is…” </a:t>
            </a:r>
          </a:p>
          <a:p>
            <a:endParaRPr lang="en-US" dirty="0"/>
          </a:p>
          <a:p>
            <a:r>
              <a:rPr lang="en-US" dirty="0"/>
              <a:t>Invite 2–3 to share voluntarily. This is the unit’s final anchoring moment.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6.png"/><Relationship Id="rId6" Type="http://schemas.openxmlformats.org/officeDocument/2006/relationships/image" Target="../media/image31.png"/><Relationship Id="rId7"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1.png"/><Relationship Id="rId7" Type="http://schemas.openxmlformats.org/officeDocument/2006/relationships/image" Target="../media/image44.png"/><Relationship Id="rId8"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46.png"/><Relationship Id="rId5" Type="http://schemas.openxmlformats.org/officeDocument/2006/relationships/image" Target="../media/image37.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image" Target="../media/image5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5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4.png"/><Relationship Id="rId7"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0.png"/><Relationship Id="rId4" Type="http://schemas.openxmlformats.org/officeDocument/2006/relationships/image" Target="../media/image57.png"/><Relationship Id="rId5" Type="http://schemas.openxmlformats.org/officeDocument/2006/relationships/image" Target="../media/image61.png"/><Relationship Id="rId6" Type="http://schemas.openxmlformats.org/officeDocument/2006/relationships/image" Target="../media/image21.png"/><Relationship Id="rId7" Type="http://schemas.openxmlformats.org/officeDocument/2006/relationships/image" Target="../media/image4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9.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67.png"/><Relationship Id="rId4" Type="http://schemas.openxmlformats.org/officeDocument/2006/relationships/image" Target="../media/image44.png"/><Relationship Id="rId5" Type="http://schemas.openxmlformats.org/officeDocument/2006/relationships/image" Target="../media/image6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7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1 · Foundation · Unit 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Behavioural Strategy Fundamentals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How judgement, bias and emotional climate shape the strategies organisations pursue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Critically examine the influence of human judgement and organisational dynamics on strategic decision-making.</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Recognise the behavioural conditions that strengthen or weaken objectivity, decision quality and organisational performance.</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Interpret strategic issues from an integrated enterprise perspective.</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31061"/>
            <a:ext cx="570738" cy="570738"/>
          </a:xfrm>
          <a:prstGeom prst="ellipse">
            <a:avLst/>
          </a:prstGeom>
          <a:solidFill>
            <a:srgbClr val="C6A24C"/>
          </a:solidFill>
          <a:ln w="12700">
            <a:solidFill>
              <a:srgbClr val="C6A24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Orientation  </a:t>
            </a:r>
            <a:r>
              <a:rPr lang="en-US" sz="2800" dirty="0">
                <a:solidFill>
                  <a:srgbClr val="1F2A22"/>
                </a:solidFill>
                <a:latin typeface="Calibri" pitchFamily="34" charset="0"/>
                <a:ea typeface="Calibri" pitchFamily="34" charset="-122"/>
                <a:cs typeface="Calibri" pitchFamily="34" charset="-120"/>
              </a:rPr>
              <a:t>— Overview</a:t>
            </a:r>
            <a:endParaRPr lang="en-US" sz="28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6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Orientation — Overview</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Your starting point in the S2R® journey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human judgement shapes the way your team debates, decides and sets organisational direction.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Articulate a personal learning intention anchored in a current leadership or strategic challenge.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Research Statistics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GB" sz="3600" i="1" dirty="0">
                <a:solidFill>
                  <a:srgbClr val="FFFFFF"/>
                </a:solidFill>
                <a:latin typeface="Cambria" pitchFamily="34" charset="0"/>
                <a:ea typeface="Cambria" pitchFamily="34" charset="-122"/>
                <a:cs typeface="Cambria" pitchFamily="34" charset="-120"/>
              </a:rPr>
              <a:t>Research consistently shows that 60–90% of strategies fail in delivery. </a:t>
            </a:r>
          </a:p>
          <a:p>
            <a:pPr marL="0" indent="0">
              <a:buNone/>
            </a:pPr>
            <a:r>
              <a:rPr lang="en-GB" sz="3600" i="1" dirty="0">
                <a:solidFill>
                  <a:srgbClr val="FFFFFF"/>
                </a:solidFill>
                <a:latin typeface="Cambria" pitchFamily="34" charset="0"/>
                <a:ea typeface="Cambria" pitchFamily="34" charset="-122"/>
                <a:cs typeface="Cambria" pitchFamily="34" charset="-120"/>
              </a:rPr>
              <a:t>The causes are </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Direction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Influence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Grounding Failure</a:t>
            </a:r>
          </a:p>
        </p:txBody>
      </p:sp>
      <p:pic>
        <p:nvPicPr>
          <p:cNvPr id="7" name="Graphic 6" descr="Books with solid fill">
            <a:extLst>
              <a:ext uri="{FF2B5EF4-FFF2-40B4-BE49-F238E27FC236}">
                <a16:creationId xmlns:a16="http://schemas.microsoft.com/office/drawing/2014/main" id="{B2DE2A23-E0D3-DBAE-C68B-DFC9A289582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143000"/>
            <a:ext cx="914400" cy="914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47DE49-5475-C0EF-A2CA-74CB90F110C5}"/>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a:extLst>
              <a:ext uri="{FF2B5EF4-FFF2-40B4-BE49-F238E27FC236}">
                <a16:creationId xmlns:a16="http://schemas.microsoft.com/office/drawing/2014/main" id="{5CB0AB8E-AE32-09DA-C9AF-23B61595588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1 Reflections</a:t>
            </a:r>
            <a:endParaRPr lang="en-US" sz="6600" kern="1200" dirty="0">
              <a:solidFill>
                <a:schemeClr val="tx1"/>
              </a:solidFill>
              <a:latin typeface="+mj-lt"/>
              <a:ea typeface="+mj-ea"/>
              <a:cs typeface="+mj-cs"/>
            </a:endParaRPr>
          </a:p>
        </p:txBody>
      </p:sp>
      <p:sp>
        <p:nvSpPr>
          <p:cNvPr id="2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D7A46D10-128A-4FBE-DA7A-D7C2F67589F7}"/>
              </a:ext>
            </a:extLst>
          </p:cNvPr>
          <p:cNvPicPr>
            <a:picLocks noChangeAspect="1"/>
          </p:cNvPicPr>
          <p:nvPr/>
        </p:nvPicPr>
        <p:blipFill>
          <a:blip r:embed="rId3"/>
          <a:stretch>
            <a:fillRect/>
          </a:stretch>
        </p:blipFill>
        <p:spPr>
          <a:xfrm>
            <a:off x="1230163" y="2081736"/>
            <a:ext cx="10559807" cy="1425575"/>
          </a:xfrm>
          <a:prstGeom prst="rect">
            <a:avLst/>
          </a:prstGeom>
        </p:spPr>
      </p:pic>
    </p:spTree>
    <p:extLst>
      <p:ext uri="{BB962C8B-B14F-4D97-AF65-F5344CB8AC3E}">
        <p14:creationId xmlns:p14="http://schemas.microsoft.com/office/powerpoint/2010/main" val="21019153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foundations — Sections 2.1 to 2.4</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intuitive thinking, functional expertise and cognitive bias shape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the patterns of bias most active in your leadership team, your team members and your organisation.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311812"/>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Starting with the person in the mirror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When you make a strategic decision, how much of it do you believe is purely rational?</a:t>
            </a:r>
            <a:endParaRPr lang="en-US" sz="3600" dirty="0"/>
          </a:p>
        </p:txBody>
      </p:sp>
      <p:pic>
        <p:nvPicPr>
          <p:cNvPr id="7" name="Picture 6">
            <a:extLst>
              <a:ext uri="{FF2B5EF4-FFF2-40B4-BE49-F238E27FC236}">
                <a16:creationId xmlns:a16="http://schemas.microsoft.com/office/drawing/2014/main" id="{90A13A83-C5E5-DAC9-93E2-DCC8EBEF51EC}"/>
              </a:ext>
            </a:extLst>
          </p:cNvPr>
          <p:cNvPicPr>
            <a:picLocks noChangeAspect="1"/>
          </p:cNvPicPr>
          <p:nvPr/>
        </p:nvPicPr>
        <p:blipFill>
          <a:blip r:embed="rId3">
            <a:duotone>
              <a:prstClr val="black"/>
              <a:schemeClr val="tx1">
                <a:tint val="45000"/>
                <a:satMod val="400000"/>
              </a:schemeClr>
            </a:duotone>
            <a:extLst>
              <a:ext uri="{BEBA8EAE-BF5A-486C-A8C5-ECC9F3942E4B}">
                <a14:imgProps xmlns:a14="http://schemas.microsoft.com/office/drawing/2010/main">
                  <a14:imgLayer r:embed="rId4">
                    <a14:imgEffect>
                      <a14:brightnessContrast bright="-40000" contrast="-20000"/>
                    </a14:imgEffect>
                  </a14:imgLayer>
                </a14:imgProps>
              </a:ext>
            </a:extLst>
          </a:blip>
          <a:srcRect l="14322" t="8503" r="16613" b="11690"/>
          <a:stretch>
            <a:fillRect/>
          </a:stretch>
        </p:blipFill>
        <p:spPr>
          <a:xfrm flipH="1">
            <a:off x="916812" y="1217314"/>
            <a:ext cx="726696" cy="82907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2.1a · Defining Behavioural Strategy</a:t>
            </a:r>
            <a:endParaRPr lang="en-US" sz="3600" dirty="0"/>
          </a:p>
        </p:txBody>
      </p:sp>
      <p:sp>
        <p:nvSpPr>
          <p:cNvPr id="3" name="Shape 1"/>
          <p:cNvSpPr/>
          <p:nvPr/>
        </p:nvSpPr>
        <p:spPr>
          <a:xfrm>
            <a:off x="548640" y="1508760"/>
            <a:ext cx="3931920" cy="4056581"/>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783080"/>
            <a:ext cx="3474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Traditional strategy asks</a:t>
            </a:r>
            <a:endParaRPr lang="en-US" sz="2400" dirty="0"/>
          </a:p>
        </p:txBody>
      </p:sp>
      <p:sp>
        <p:nvSpPr>
          <p:cNvPr id="5" name="Text 3"/>
          <p:cNvSpPr txBox="1"/>
          <p:nvPr/>
        </p:nvSpPr>
        <p:spPr>
          <a:xfrm>
            <a:off x="822960" y="2468880"/>
            <a:ext cx="3474720" cy="3200400"/>
          </a:xfrm>
          <a:prstGeom prst="rect">
            <a:avLst/>
          </a:prstGeom>
          <a:noFill/>
          <a:ln/>
        </p:spPr>
        <p:txBody>
          <a:bodyPr wrap="square" lIns="0" tIns="0" rIns="0" bIns="0" rtlCol="0" anchor="ctr"/>
          <a:lstStyle/>
          <a:p>
            <a:pPr marL="0" indent="0">
              <a:buNone/>
            </a:pPr>
            <a:r>
              <a:rPr lang="en-US" sz="4000" b="1" dirty="0">
                <a:solidFill>
                  <a:srgbClr val="1A5C2C"/>
                </a:solidFill>
                <a:latin typeface="Cambria" pitchFamily="34" charset="0"/>
                <a:ea typeface="Cambria" pitchFamily="34" charset="-122"/>
                <a:cs typeface="Cambria" pitchFamily="34" charset="-120"/>
              </a:rPr>
              <a:t>What should we do?</a:t>
            </a:r>
            <a:endParaRPr lang="en-US" sz="4000" dirty="0"/>
          </a:p>
        </p:txBody>
      </p:sp>
      <p:sp>
        <p:nvSpPr>
          <p:cNvPr id="6" name="Shape 4"/>
          <p:cNvSpPr/>
          <p:nvPr/>
        </p:nvSpPr>
        <p:spPr>
          <a:xfrm>
            <a:off x="4754880" y="1508760"/>
            <a:ext cx="6885432" cy="4056581"/>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7" name="Text 5"/>
          <p:cNvSpPr txBox="1"/>
          <p:nvPr/>
        </p:nvSpPr>
        <p:spPr>
          <a:xfrm>
            <a:off x="5029200" y="1783080"/>
            <a:ext cx="64008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Behavioural strategy asks first</a:t>
            </a:r>
            <a:endParaRPr lang="en-US" sz="2400" dirty="0"/>
          </a:p>
        </p:txBody>
      </p:sp>
      <p:sp>
        <p:nvSpPr>
          <p:cNvPr id="8" name="Text 6"/>
          <p:cNvSpPr txBox="1"/>
          <p:nvPr/>
        </p:nvSpPr>
        <p:spPr>
          <a:xfrm>
            <a:off x="5029200" y="2468880"/>
            <a:ext cx="6400800" cy="3566160"/>
          </a:xfrm>
          <a:prstGeom prst="rect">
            <a:avLst/>
          </a:prstGeom>
          <a:noFill/>
          <a:ln/>
        </p:spPr>
        <p:txBody>
          <a:bodyPr wrap="square" lIns="0" tIns="0" rIns="0" bIns="0" rtlCol="0" anchor="ctr"/>
          <a:lstStyle/>
          <a:p>
            <a:pPr marL="0" indent="0">
              <a:buNone/>
            </a:pPr>
            <a:r>
              <a:rPr lang="en-US" sz="3600" i="1" dirty="0">
                <a:solidFill>
                  <a:srgbClr val="FFFFFF"/>
                </a:solidFill>
                <a:latin typeface="Cambria" pitchFamily="34" charset="0"/>
                <a:ea typeface="Cambria" pitchFamily="34" charset="-122"/>
                <a:cs typeface="Cambria" pitchFamily="34" charset="-120"/>
              </a:rPr>
              <a:t>How does the way we think shape what we believe we should do — </a:t>
            </a:r>
            <a:r>
              <a:rPr lang="en-GB" sz="3600" i="1" dirty="0">
                <a:solidFill>
                  <a:srgbClr val="FFFFFF"/>
                </a:solidFill>
                <a:latin typeface="Cambria" pitchFamily="34" charset="0"/>
                <a:ea typeface="Cambria" pitchFamily="34" charset="-122"/>
                <a:cs typeface="Cambria" pitchFamily="34" charset="-120"/>
              </a:rPr>
              <a:t>and what will shape how people respond and act?</a:t>
            </a:r>
            <a:endParaRPr lang="en-US" sz="3600" dirty="0"/>
          </a:p>
        </p:txBody>
      </p:sp>
      <p:sp>
        <p:nvSpPr>
          <p:cNvPr id="10" name="TextBox 9">
            <a:extLst>
              <a:ext uri="{FF2B5EF4-FFF2-40B4-BE49-F238E27FC236}">
                <a16:creationId xmlns:a16="http://schemas.microsoft.com/office/drawing/2014/main" id="{53A06713-C679-9289-D122-075BDE215EE9}"/>
              </a:ext>
            </a:extLst>
          </p:cNvPr>
          <p:cNvSpPr txBox="1"/>
          <p:nvPr/>
        </p:nvSpPr>
        <p:spPr>
          <a:xfrm>
            <a:off x="521208" y="5576853"/>
            <a:ext cx="11091672" cy="954107"/>
          </a:xfrm>
          <a:prstGeom prst="rect">
            <a:avLst/>
          </a:prstGeom>
          <a:noFill/>
        </p:spPr>
        <p:txBody>
          <a:bodyPr wrap="square">
            <a:spAutoFit/>
          </a:bodyPr>
          <a:lstStyle/>
          <a:p>
            <a:r>
              <a:rPr lang="en-ZA" sz="2800" dirty="0">
                <a:solidFill>
                  <a:schemeClr val="tx1">
                    <a:lumMod val="85000"/>
                    <a:lumOff val="15000"/>
                  </a:schemeClr>
                </a:solidFill>
                <a:latin typeface="Aptos Display" panose="020B0004020202020204" pitchFamily="34" charset="0"/>
              </a:rPr>
              <a:t>Behavioural strategy is the application of behavioural science to understand and improve how people think, decide and behave in the process of strategy.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2.1b · Three Phrases That Carry The Idea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Think”</a:t>
            </a:r>
            <a:endParaRPr lang="en-US" sz="2600" dirty="0"/>
          </a:p>
        </p:txBody>
      </p:sp>
      <p:sp>
        <p:nvSpPr>
          <p:cNvPr id="7" name="Text 4"/>
          <p:cNvSpPr txBox="1"/>
          <p:nvPr/>
        </p:nvSpPr>
        <p:spPr>
          <a:xfrm>
            <a:off x="777240" y="3575303"/>
            <a:ext cx="3057144" cy="1174313"/>
          </a:xfrm>
          <a:prstGeom prst="rect">
            <a:avLst/>
          </a:prstGeom>
          <a:noFill/>
          <a:ln/>
        </p:spPr>
        <p:txBody>
          <a:bodyPr wrap="square" lIns="0" tIns="0" rIns="0" bIns="0" rtlCol="0" anchor="t"/>
          <a:lstStyle/>
          <a:p>
            <a:r>
              <a:rPr lang="en-ZA" sz="2400" dirty="0"/>
              <a:t>How are we thinking about what we are seeing or doing?</a:t>
            </a:r>
            <a:endParaRPr lang="en-GB" sz="2400" dirty="0">
              <a:solidFill>
                <a:srgbClr val="1F2A22"/>
              </a:solidFill>
              <a:latin typeface="Calibri" pitchFamily="34" charset="0"/>
              <a:ea typeface="Calibri" pitchFamily="34" charset="-122"/>
              <a:cs typeface="Calibri" pitchFamily="34" charset="-120"/>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Decide”</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r>
              <a:rPr lang="en-ZA" sz="2400" dirty="0"/>
              <a:t>What is shaping the choices and commitments we are making?</a:t>
            </a:r>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Behave”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r>
              <a:rPr lang="en-ZA" sz="2400" dirty="0"/>
              <a:t>Are our behaviours actually carrying our commitments through to the intended outcomes?</a:t>
            </a: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GB" sz="2400" i="1" dirty="0">
                <a:solidFill>
                  <a:srgbClr val="FFFFFF"/>
                </a:solidFill>
                <a:latin typeface="Calibri" pitchFamily="34" charset="0"/>
                <a:ea typeface="Calibri" pitchFamily="34" charset="-122"/>
                <a:cs typeface="Calibri" pitchFamily="34" charset="-120"/>
              </a:rPr>
              <a:t>If we do not understand what shapes how we think, decide and behave, we cannot know whether we are moving towards or away from our intended outcomes!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Two Systems Of Thinking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System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Fast, automatic, intuitive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Operates below conscious awareness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Produces rapid, confident judgements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Vulnerable to cognitive biases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System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Slow, deliberate, analytical</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Weighs options and trade-offs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More reliable for complex problems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psychological safety to activate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Know when System 2 is needed, and create the conditions for it to activate.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Functional Bias - The Elephant Perspective</a:t>
            </a:r>
            <a:endParaRPr lang="en-US" sz="3600" dirty="0"/>
          </a:p>
        </p:txBody>
      </p:sp>
      <p:sp>
        <p:nvSpPr>
          <p:cNvPr id="3" name="Shape 1"/>
          <p:cNvSpPr/>
          <p:nvPr/>
        </p:nvSpPr>
        <p:spPr>
          <a:xfrm>
            <a:off x="548640" y="1508760"/>
            <a:ext cx="3840480" cy="4142100"/>
          </a:xfrm>
          <a:prstGeom prst="roundRect">
            <a:avLst>
              <a:gd name="adj" fmla="val 2381"/>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1097280" y="2194560"/>
            <a:ext cx="2743200" cy="274320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783080" y="2880360"/>
            <a:ext cx="1371600" cy="1371600"/>
          </a:xfrm>
          <a:prstGeom prst="rect">
            <a:avLst/>
          </a:prstGeom>
        </p:spPr>
      </p:pic>
      <p:sp>
        <p:nvSpPr>
          <p:cNvPr id="6" name="Text 3"/>
          <p:cNvSpPr txBox="1"/>
          <p:nvPr/>
        </p:nvSpPr>
        <p:spPr>
          <a:xfrm>
            <a:off x="731520" y="5257800"/>
            <a:ext cx="3474720" cy="54864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Six men, one elephant</a:t>
            </a:r>
            <a:endParaRPr lang="en-US" sz="2400" dirty="0"/>
          </a:p>
        </p:txBody>
      </p:sp>
      <p:sp>
        <p:nvSpPr>
          <p:cNvPr id="7" name="Shape 4"/>
          <p:cNvSpPr/>
          <p:nvPr/>
        </p:nvSpPr>
        <p:spPr>
          <a:xfrm>
            <a:off x="466344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489204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Side: </a:t>
            </a:r>
            <a:r>
              <a:rPr lang="en-US" sz="2600" dirty="0">
                <a:solidFill>
                  <a:srgbClr val="1F2A22"/>
                </a:solidFill>
                <a:latin typeface="Calibri" pitchFamily="34" charset="0"/>
                <a:ea typeface="Calibri" pitchFamily="34" charset="-122"/>
                <a:cs typeface="Calibri" pitchFamily="34" charset="-120"/>
              </a:rPr>
              <a:t>a wall</a:t>
            </a:r>
            <a:endParaRPr lang="en-US" sz="2600" dirty="0"/>
          </a:p>
        </p:txBody>
      </p:sp>
      <p:sp>
        <p:nvSpPr>
          <p:cNvPr id="9" name="Shape 6"/>
          <p:cNvSpPr/>
          <p:nvPr/>
        </p:nvSpPr>
        <p:spPr>
          <a:xfrm>
            <a:off x="822960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845820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Tusk: </a:t>
            </a:r>
            <a:r>
              <a:rPr lang="en-US" sz="2600" dirty="0">
                <a:solidFill>
                  <a:srgbClr val="1F2A22"/>
                </a:solidFill>
                <a:latin typeface="Calibri" pitchFamily="34" charset="0"/>
                <a:ea typeface="Calibri" pitchFamily="34" charset="-122"/>
                <a:cs typeface="Calibri" pitchFamily="34" charset="-120"/>
              </a:rPr>
              <a:t>a spear</a:t>
            </a:r>
            <a:endParaRPr lang="en-US" sz="2600" dirty="0"/>
          </a:p>
        </p:txBody>
      </p:sp>
      <p:sp>
        <p:nvSpPr>
          <p:cNvPr id="11" name="Shape 8"/>
          <p:cNvSpPr/>
          <p:nvPr/>
        </p:nvSpPr>
        <p:spPr>
          <a:xfrm>
            <a:off x="466344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489204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Trunk: </a:t>
            </a:r>
            <a:r>
              <a:rPr lang="en-US" sz="2600" dirty="0">
                <a:solidFill>
                  <a:srgbClr val="1F2A22"/>
                </a:solidFill>
                <a:latin typeface="Calibri" pitchFamily="34" charset="0"/>
                <a:ea typeface="Calibri" pitchFamily="34" charset="-122"/>
                <a:cs typeface="Calibri" pitchFamily="34" charset="-120"/>
              </a:rPr>
              <a:t>a snake</a:t>
            </a:r>
            <a:endParaRPr lang="en-US" sz="2600" dirty="0"/>
          </a:p>
        </p:txBody>
      </p:sp>
      <p:sp>
        <p:nvSpPr>
          <p:cNvPr id="13" name="Shape 10"/>
          <p:cNvSpPr/>
          <p:nvPr/>
        </p:nvSpPr>
        <p:spPr>
          <a:xfrm>
            <a:off x="822960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845820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Leg: </a:t>
            </a:r>
            <a:r>
              <a:rPr lang="en-US" sz="2600" dirty="0">
                <a:solidFill>
                  <a:srgbClr val="1F2A22"/>
                </a:solidFill>
                <a:latin typeface="Calibri" pitchFamily="34" charset="0"/>
                <a:ea typeface="Calibri" pitchFamily="34" charset="-122"/>
                <a:cs typeface="Calibri" pitchFamily="34" charset="-120"/>
              </a:rPr>
              <a:t>a tree trunk</a:t>
            </a:r>
            <a:endParaRPr lang="en-US" sz="2600" dirty="0"/>
          </a:p>
        </p:txBody>
      </p:sp>
      <p:sp>
        <p:nvSpPr>
          <p:cNvPr id="15" name="Shape 12"/>
          <p:cNvSpPr/>
          <p:nvPr/>
        </p:nvSpPr>
        <p:spPr>
          <a:xfrm>
            <a:off x="466344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489204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Ear: </a:t>
            </a:r>
            <a:r>
              <a:rPr lang="en-US" sz="2600" dirty="0">
                <a:solidFill>
                  <a:srgbClr val="1F2A22"/>
                </a:solidFill>
                <a:latin typeface="Calibri" pitchFamily="34" charset="0"/>
                <a:ea typeface="Calibri" pitchFamily="34" charset="-122"/>
                <a:cs typeface="Calibri" pitchFamily="34" charset="-120"/>
              </a:rPr>
              <a:t>a fan</a:t>
            </a:r>
            <a:endParaRPr lang="en-US" sz="2600" dirty="0"/>
          </a:p>
        </p:txBody>
      </p:sp>
      <p:sp>
        <p:nvSpPr>
          <p:cNvPr id="17" name="Shape 14"/>
          <p:cNvSpPr/>
          <p:nvPr/>
        </p:nvSpPr>
        <p:spPr>
          <a:xfrm>
            <a:off x="822960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845820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Tail: </a:t>
            </a:r>
            <a:r>
              <a:rPr lang="en-US" sz="2600" dirty="0">
                <a:solidFill>
                  <a:srgbClr val="1F2A22"/>
                </a:solidFill>
                <a:latin typeface="Calibri" pitchFamily="34" charset="0"/>
                <a:ea typeface="Calibri" pitchFamily="34" charset="-122"/>
                <a:cs typeface="Calibri" pitchFamily="34" charset="-120"/>
              </a:rPr>
              <a:t>a rope</a:t>
            </a:r>
            <a:endParaRPr lang="en-US" sz="2600" dirty="0"/>
          </a:p>
        </p:txBody>
      </p:sp>
      <p:sp>
        <p:nvSpPr>
          <p:cNvPr id="19" name="Shape 16"/>
          <p:cNvSpPr/>
          <p:nvPr/>
        </p:nvSpPr>
        <p:spPr>
          <a:xfrm>
            <a:off x="4663440" y="4526280"/>
            <a:ext cx="6976872" cy="112458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20" name="Text 17"/>
          <p:cNvSpPr txBox="1"/>
          <p:nvPr/>
        </p:nvSpPr>
        <p:spPr>
          <a:xfrm>
            <a:off x="4937760" y="4526280"/>
            <a:ext cx="6492240" cy="1058796"/>
          </a:xfrm>
          <a:prstGeom prst="rect">
            <a:avLst/>
          </a:prstGeom>
          <a:noFill/>
          <a:ln/>
        </p:spPr>
        <p:txBody>
          <a:bodyPr wrap="square" lIns="0" tIns="0" rIns="0" bIns="0" rtlCol="0" anchor="ctr"/>
          <a:lstStyle/>
          <a:p>
            <a:pPr marL="0" indent="0">
              <a:buNone/>
            </a:pPr>
            <a:r>
              <a:rPr lang="en-US" sz="2800" i="1" dirty="0">
                <a:solidFill>
                  <a:srgbClr val="FFFFFF"/>
                </a:solidFill>
                <a:latin typeface="Cambria" pitchFamily="34" charset="0"/>
                <a:ea typeface="Cambria" pitchFamily="34" charset="-122"/>
                <a:cs typeface="Cambria" pitchFamily="34" charset="-120"/>
              </a:rPr>
              <a:t>Each is seeing a different part of the same reality.</a:t>
            </a:r>
            <a:endParaRPr lang="en-US" sz="2800" dirty="0"/>
          </a:p>
        </p:txBody>
      </p:sp>
      <p:sp>
        <p:nvSpPr>
          <p:cNvPr id="22" name="TextBox 21">
            <a:extLst>
              <a:ext uri="{FF2B5EF4-FFF2-40B4-BE49-F238E27FC236}">
                <a16:creationId xmlns:a16="http://schemas.microsoft.com/office/drawing/2014/main" id="{94118D5A-CB37-B159-90C6-A7961A891805}"/>
              </a:ext>
            </a:extLst>
          </p:cNvPr>
          <p:cNvSpPr txBox="1"/>
          <p:nvPr/>
        </p:nvSpPr>
        <p:spPr>
          <a:xfrm>
            <a:off x="475290" y="5916229"/>
            <a:ext cx="11165022" cy="830997"/>
          </a:xfrm>
          <a:prstGeom prst="rect">
            <a:avLst/>
          </a:prstGeom>
          <a:noFill/>
        </p:spPr>
        <p:txBody>
          <a:bodyPr wrap="square">
            <a:spAutoFit/>
          </a:bodyPr>
          <a:lstStyle/>
          <a:p>
            <a:r>
              <a:rPr lang="en-ZA" sz="2400" dirty="0">
                <a:solidFill>
                  <a:schemeClr val="tx1">
                    <a:lumMod val="85000"/>
                    <a:lumOff val="15000"/>
                  </a:schemeClr>
                </a:solidFill>
              </a:rPr>
              <a:t>The strategic discipline is being able to bring the depth of our own perspective </a:t>
            </a:r>
            <a:r>
              <a:rPr lang="en-ZA" sz="2400" b="1" dirty="0">
                <a:solidFill>
                  <a:schemeClr val="tx1">
                    <a:lumMod val="85000"/>
                    <a:lumOff val="15000"/>
                  </a:schemeClr>
                </a:solidFill>
              </a:rPr>
              <a:t>without assuming that our perspective is complete.</a:t>
            </a:r>
            <a:endParaRPr lang="en-ZA" sz="2400" dirty="0">
              <a:solidFill>
                <a:schemeClr val="tx1">
                  <a:lumMod val="85000"/>
                  <a:lumOff val="15000"/>
                </a:schemeClr>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2.4 · Bias Families</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Action-Oriented Biases</a:t>
            </a:r>
            <a:endParaRPr lang="en-US" sz="2800" dirty="0"/>
          </a:p>
        </p:txBody>
      </p:sp>
      <p:sp>
        <p:nvSpPr>
          <p:cNvPr id="7" name="Text 4"/>
          <p:cNvSpPr txBox="1"/>
          <p:nvPr/>
        </p:nvSpPr>
        <p:spPr>
          <a:xfrm>
            <a:off x="777240" y="2816352"/>
            <a:ext cx="4951476" cy="1295159"/>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Overconfidence · Optimism · Illusion of Control · Planning Fallacy · Confirmation</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Stability Biases</a:t>
            </a:r>
            <a:endParaRPr lang="en-US" sz="2800" dirty="0"/>
          </a:p>
        </p:txBody>
      </p:sp>
      <p:sp>
        <p:nvSpPr>
          <p:cNvPr id="12" name="Text 8"/>
          <p:cNvSpPr txBox="1"/>
          <p:nvPr/>
        </p:nvSpPr>
        <p:spPr>
          <a:xfrm>
            <a:off x="6460236" y="2560320"/>
            <a:ext cx="4951476" cy="99202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Anchoring · Status Quo · Loss Aversion · Sunk-Cost · Endowment</a:t>
            </a:r>
            <a:endParaRPr lang="en-US" sz="2800" dirty="0"/>
          </a:p>
        </p:txBody>
      </p:sp>
      <p:grpSp>
        <p:nvGrpSpPr>
          <p:cNvPr id="29" name="Group 28">
            <a:extLst>
              <a:ext uri="{FF2B5EF4-FFF2-40B4-BE49-F238E27FC236}">
                <a16:creationId xmlns:a16="http://schemas.microsoft.com/office/drawing/2014/main" id="{F743AE09-6450-9DCE-49F3-6C89B955D510}"/>
              </a:ext>
            </a:extLst>
          </p:cNvPr>
          <p:cNvGrpSpPr/>
          <p:nvPr/>
        </p:nvGrpSpPr>
        <p:grpSpPr>
          <a:xfrm>
            <a:off x="777240" y="4438129"/>
            <a:ext cx="10635996" cy="1925452"/>
            <a:chOff x="775716" y="1691640"/>
            <a:chExt cx="10635996" cy="3601487"/>
          </a:xfrm>
        </p:grpSpPr>
        <p:sp>
          <p:nvSpPr>
            <p:cNvPr id="14" name="Shape 2">
              <a:extLst>
                <a:ext uri="{FF2B5EF4-FFF2-40B4-BE49-F238E27FC236}">
                  <a16:creationId xmlns:a16="http://schemas.microsoft.com/office/drawing/2014/main" id="{575F2D29-08F8-3393-4BE9-E44028417A02}"/>
                </a:ext>
              </a:extLst>
            </p:cNvPr>
            <p:cNvSpPr/>
            <p:nvPr/>
          </p:nvSpPr>
          <p:spPr>
            <a:xfrm>
              <a:off x="775716" y="1737358"/>
              <a:ext cx="640080" cy="1127534"/>
            </a:xfrm>
            <a:prstGeom prst="ellipse">
              <a:avLst/>
            </a:prstGeom>
            <a:solidFill>
              <a:srgbClr val="1A5C2C"/>
            </a:solidFill>
            <a:ln w="12700">
              <a:solidFill>
                <a:srgbClr val="1A5C2C"/>
              </a:solidFill>
              <a:prstDash val="solid"/>
            </a:ln>
          </p:spPr>
          <p:txBody>
            <a:bodyPr/>
            <a:lstStyle/>
            <a:p>
              <a:endParaRPr lang="en-ZA"/>
            </a:p>
          </p:txBody>
        </p:sp>
        <p:pic>
          <p:nvPicPr>
            <p:cNvPr id="16" name="Image 0" descr="preencoded.png">
              <a:extLst>
                <a:ext uri="{FF2B5EF4-FFF2-40B4-BE49-F238E27FC236}">
                  <a16:creationId xmlns:a16="http://schemas.microsoft.com/office/drawing/2014/main" id="{D3EF503D-BAD6-26EC-1C50-102586CE33B0}"/>
                </a:ext>
              </a:extLst>
            </p:cNvPr>
            <p:cNvPicPr>
              <a:picLocks noChangeAspect="1"/>
            </p:cNvPicPr>
            <p:nvPr/>
          </p:nvPicPr>
          <p:blipFill>
            <a:blip r:embed="rId5"/>
            <a:stretch>
              <a:fillRect/>
            </a:stretch>
          </p:blipFill>
          <p:spPr>
            <a:xfrm>
              <a:off x="832866" y="2038235"/>
              <a:ext cx="525780" cy="525780"/>
            </a:xfrm>
            <a:prstGeom prst="rect">
              <a:avLst/>
            </a:prstGeom>
          </p:spPr>
        </p:pic>
        <p:sp>
          <p:nvSpPr>
            <p:cNvPr id="18" name="Text 3">
              <a:extLst>
                <a:ext uri="{FF2B5EF4-FFF2-40B4-BE49-F238E27FC236}">
                  <a16:creationId xmlns:a16="http://schemas.microsoft.com/office/drawing/2014/main" id="{92B5DDC0-DFE7-694C-BEF9-610E29F7DA82}"/>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Interest Biases</a:t>
              </a:r>
              <a:endParaRPr lang="en-US" sz="2800" dirty="0"/>
            </a:p>
          </p:txBody>
        </p:sp>
        <p:sp>
          <p:nvSpPr>
            <p:cNvPr id="20" name="Text 4">
              <a:extLst>
                <a:ext uri="{FF2B5EF4-FFF2-40B4-BE49-F238E27FC236}">
                  <a16:creationId xmlns:a16="http://schemas.microsoft.com/office/drawing/2014/main" id="{2AF7C4F4-6D21-0629-8BA9-1DD8266AA467}"/>
                </a:ext>
              </a:extLst>
            </p:cNvPr>
            <p:cNvSpPr txBox="1"/>
            <p:nvPr/>
          </p:nvSpPr>
          <p:spPr>
            <a:xfrm>
              <a:off x="777240" y="3311521"/>
              <a:ext cx="4951476" cy="1965706"/>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Self-Interest · Silo · Incentive · Career-Risk · Perspective</a:t>
              </a:r>
              <a:endParaRPr lang="en-US" sz="2800" dirty="0"/>
            </a:p>
          </p:txBody>
        </p:sp>
        <p:sp>
          <p:nvSpPr>
            <p:cNvPr id="22" name="Shape 6">
              <a:extLst>
                <a:ext uri="{FF2B5EF4-FFF2-40B4-BE49-F238E27FC236}">
                  <a16:creationId xmlns:a16="http://schemas.microsoft.com/office/drawing/2014/main" id="{57D887C4-9DE8-0DD7-BFC2-E06EA61CC718}"/>
                </a:ext>
              </a:extLst>
            </p:cNvPr>
            <p:cNvSpPr/>
            <p:nvPr/>
          </p:nvSpPr>
          <p:spPr>
            <a:xfrm>
              <a:off x="6458712" y="1737358"/>
              <a:ext cx="641604" cy="1127532"/>
            </a:xfrm>
            <a:prstGeom prst="ellipse">
              <a:avLst/>
            </a:prstGeom>
            <a:solidFill>
              <a:srgbClr val="1A5C2C"/>
            </a:solidFill>
            <a:ln w="12700">
              <a:solidFill>
                <a:srgbClr val="1A5C2C"/>
              </a:solidFill>
              <a:prstDash val="solid"/>
            </a:ln>
          </p:spPr>
          <p:txBody>
            <a:bodyPr/>
            <a:lstStyle/>
            <a:p>
              <a:endParaRPr lang="en-ZA"/>
            </a:p>
          </p:txBody>
        </p:sp>
        <p:pic>
          <p:nvPicPr>
            <p:cNvPr id="24" name="Image 1" descr="preencoded.png">
              <a:extLst>
                <a:ext uri="{FF2B5EF4-FFF2-40B4-BE49-F238E27FC236}">
                  <a16:creationId xmlns:a16="http://schemas.microsoft.com/office/drawing/2014/main" id="{69E1C9A4-EE78-A9D9-E674-FADFB83BC1EF}"/>
                </a:ext>
              </a:extLst>
            </p:cNvPr>
            <p:cNvPicPr>
              <a:picLocks noChangeAspect="1"/>
            </p:cNvPicPr>
            <p:nvPr/>
          </p:nvPicPr>
          <p:blipFill>
            <a:blip r:embed="rId6"/>
            <a:stretch>
              <a:fillRect/>
            </a:stretch>
          </p:blipFill>
          <p:spPr>
            <a:xfrm>
              <a:off x="6502327" y="1935363"/>
              <a:ext cx="548122" cy="731519"/>
            </a:xfrm>
            <a:prstGeom prst="rect">
              <a:avLst/>
            </a:prstGeom>
          </p:spPr>
        </p:pic>
        <p:sp>
          <p:nvSpPr>
            <p:cNvPr id="26" name="Text 7">
              <a:extLst>
                <a:ext uri="{FF2B5EF4-FFF2-40B4-BE49-F238E27FC236}">
                  <a16:creationId xmlns:a16="http://schemas.microsoft.com/office/drawing/2014/main" id="{70F6E1FE-EB6A-920A-5903-930918F034B5}"/>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Social Biases</a:t>
              </a:r>
              <a:endParaRPr lang="en-US" sz="2800" dirty="0"/>
            </a:p>
          </p:txBody>
        </p:sp>
        <p:sp>
          <p:nvSpPr>
            <p:cNvPr id="28" name="Text 8">
              <a:extLst>
                <a:ext uri="{FF2B5EF4-FFF2-40B4-BE49-F238E27FC236}">
                  <a16:creationId xmlns:a16="http://schemas.microsoft.com/office/drawing/2014/main" id="{CC49C3C9-2A86-1F8F-BA4B-3CEA837B44E2}"/>
                </a:ext>
              </a:extLst>
            </p:cNvPr>
            <p:cNvSpPr txBox="1"/>
            <p:nvPr/>
          </p:nvSpPr>
          <p:spPr>
            <a:xfrm>
              <a:off x="6460236" y="2958282"/>
              <a:ext cx="4951476" cy="233484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Conformity · Authority · Groupthink · Availability · Halo Effect</a:t>
              </a:r>
              <a:endParaRPr lang="en-US" sz="2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59DDA-201F-6222-A7AE-CBF64E3CFCB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868271B-F81B-9F60-7283-9257D3D5ABC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2 Reflections</a:t>
            </a:r>
            <a:endParaRPr lang="en-US" sz="6600" kern="1200" dirty="0">
              <a:solidFill>
                <a:schemeClr val="tx1"/>
              </a:solidFill>
              <a:latin typeface="+mj-lt"/>
              <a:ea typeface="+mj-ea"/>
              <a:cs typeface="+mj-cs"/>
            </a:endParaRPr>
          </a:p>
        </p:txBody>
      </p:sp>
      <p:grpSp>
        <p:nvGrpSpPr>
          <p:cNvPr id="11" name="Group 10">
            <a:extLst>
              <a:ext uri="{FF2B5EF4-FFF2-40B4-BE49-F238E27FC236}">
                <a16:creationId xmlns:a16="http://schemas.microsoft.com/office/drawing/2014/main" id="{D1E83264-0AA7-8B10-4A90-CF20DA01EAE0}"/>
              </a:ext>
            </a:extLst>
          </p:cNvPr>
          <p:cNvGrpSpPr/>
          <p:nvPr/>
        </p:nvGrpSpPr>
        <p:grpSpPr>
          <a:xfrm>
            <a:off x="1011411" y="1769094"/>
            <a:ext cx="10909640" cy="3579813"/>
            <a:chOff x="379888" y="1578324"/>
            <a:chExt cx="10909640" cy="3579813"/>
          </a:xfrm>
        </p:grpSpPr>
        <p:pic>
          <p:nvPicPr>
            <p:cNvPr id="4" name="Picture 3">
              <a:extLst>
                <a:ext uri="{FF2B5EF4-FFF2-40B4-BE49-F238E27FC236}">
                  <a16:creationId xmlns:a16="http://schemas.microsoft.com/office/drawing/2014/main" id="{F654E0C8-D5F8-2A3F-276E-0FAD882FB9D2}"/>
                </a:ext>
              </a:extLst>
            </p:cNvPr>
            <p:cNvPicPr>
              <a:picLocks noChangeAspect="1"/>
            </p:cNvPicPr>
            <p:nvPr/>
          </p:nvPicPr>
          <p:blipFill>
            <a:blip r:embed="rId3"/>
            <a:stretch>
              <a:fillRect/>
            </a:stretch>
          </p:blipFill>
          <p:spPr>
            <a:xfrm>
              <a:off x="379889" y="1578324"/>
              <a:ext cx="10909639" cy="1251772"/>
            </a:xfrm>
            <a:prstGeom prst="rect">
              <a:avLst/>
            </a:prstGeom>
          </p:spPr>
        </p:pic>
        <p:pic>
          <p:nvPicPr>
            <p:cNvPr id="6" name="Picture 5">
              <a:extLst>
                <a:ext uri="{FF2B5EF4-FFF2-40B4-BE49-F238E27FC236}">
                  <a16:creationId xmlns:a16="http://schemas.microsoft.com/office/drawing/2014/main" id="{B92D2372-CE8D-9F9B-7F18-35F5C4F74C84}"/>
                </a:ext>
              </a:extLst>
            </p:cNvPr>
            <p:cNvPicPr>
              <a:picLocks noChangeAspect="1"/>
            </p:cNvPicPr>
            <p:nvPr/>
          </p:nvPicPr>
          <p:blipFill>
            <a:blip r:embed="rId4"/>
            <a:stretch>
              <a:fillRect/>
            </a:stretch>
          </p:blipFill>
          <p:spPr>
            <a:xfrm>
              <a:off x="379888" y="2836674"/>
              <a:ext cx="10909639" cy="821156"/>
            </a:xfrm>
            <a:prstGeom prst="rect">
              <a:avLst/>
            </a:prstGeom>
          </p:spPr>
        </p:pic>
        <p:pic>
          <p:nvPicPr>
            <p:cNvPr id="8" name="Picture 7">
              <a:extLst>
                <a:ext uri="{FF2B5EF4-FFF2-40B4-BE49-F238E27FC236}">
                  <a16:creationId xmlns:a16="http://schemas.microsoft.com/office/drawing/2014/main" id="{123C9398-D4D3-EEE3-B3D2-4FDF8D30AA5E}"/>
                </a:ext>
              </a:extLst>
            </p:cNvPr>
            <p:cNvPicPr>
              <a:picLocks noChangeAspect="1"/>
            </p:cNvPicPr>
            <p:nvPr/>
          </p:nvPicPr>
          <p:blipFill>
            <a:blip r:embed="rId5"/>
            <a:stretch>
              <a:fillRect/>
            </a:stretch>
          </p:blipFill>
          <p:spPr>
            <a:xfrm>
              <a:off x="379889" y="3666054"/>
              <a:ext cx="10909638" cy="756899"/>
            </a:xfrm>
            <a:prstGeom prst="rect">
              <a:avLst/>
            </a:prstGeom>
          </p:spPr>
        </p:pic>
        <p:pic>
          <p:nvPicPr>
            <p:cNvPr id="10" name="Picture 9">
              <a:extLst>
                <a:ext uri="{FF2B5EF4-FFF2-40B4-BE49-F238E27FC236}">
                  <a16:creationId xmlns:a16="http://schemas.microsoft.com/office/drawing/2014/main" id="{3FA54940-7EA4-A490-A8BD-BECAD5DEC46F}"/>
                </a:ext>
              </a:extLst>
            </p:cNvPr>
            <p:cNvPicPr>
              <a:picLocks noChangeAspect="1"/>
            </p:cNvPicPr>
            <p:nvPr/>
          </p:nvPicPr>
          <p:blipFill>
            <a:blip r:embed="rId6"/>
            <a:stretch>
              <a:fillRect/>
            </a:stretch>
          </p:blipFill>
          <p:spPr>
            <a:xfrm>
              <a:off x="379889" y="4424598"/>
              <a:ext cx="10909639" cy="733539"/>
            </a:xfrm>
            <a:prstGeom prst="rect">
              <a:avLst/>
            </a:prstGeom>
          </p:spPr>
        </p:pic>
      </p:grpSp>
      <p:sp>
        <p:nvSpPr>
          <p:cNvPr id="15" name="Oval 14">
            <a:extLst>
              <a:ext uri="{FF2B5EF4-FFF2-40B4-BE49-F238E27FC236}">
                <a16:creationId xmlns:a16="http://schemas.microsoft.com/office/drawing/2014/main" id="{0475E091-6F0F-ABB2-1C69-FEB8893BE59A}"/>
              </a:ext>
            </a:extLst>
          </p:cNvPr>
          <p:cNvSpPr/>
          <p:nvPr/>
        </p:nvSpPr>
        <p:spPr>
          <a:xfrm>
            <a:off x="92098" y="2348491"/>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2.1</a:t>
            </a:r>
          </a:p>
        </p:txBody>
      </p:sp>
      <p:sp>
        <p:nvSpPr>
          <p:cNvPr id="17" name="Oval 16">
            <a:extLst>
              <a:ext uri="{FF2B5EF4-FFF2-40B4-BE49-F238E27FC236}">
                <a16:creationId xmlns:a16="http://schemas.microsoft.com/office/drawing/2014/main" id="{7BC4E887-D49F-2081-4692-F65591CB3A66}"/>
              </a:ext>
            </a:extLst>
          </p:cNvPr>
          <p:cNvSpPr/>
          <p:nvPr/>
        </p:nvSpPr>
        <p:spPr>
          <a:xfrm>
            <a:off x="92098" y="3101834"/>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2.2</a:t>
            </a:r>
          </a:p>
        </p:txBody>
      </p:sp>
      <p:sp>
        <p:nvSpPr>
          <p:cNvPr id="19" name="Oval 18">
            <a:extLst>
              <a:ext uri="{FF2B5EF4-FFF2-40B4-BE49-F238E27FC236}">
                <a16:creationId xmlns:a16="http://schemas.microsoft.com/office/drawing/2014/main" id="{3714E88C-96C9-A600-3CF9-112E8909562C}"/>
              </a:ext>
            </a:extLst>
          </p:cNvPr>
          <p:cNvSpPr/>
          <p:nvPr/>
        </p:nvSpPr>
        <p:spPr>
          <a:xfrm>
            <a:off x="92098" y="3899085"/>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2.3</a:t>
            </a:r>
          </a:p>
        </p:txBody>
      </p:sp>
      <p:sp>
        <p:nvSpPr>
          <p:cNvPr id="21" name="Oval 20">
            <a:extLst>
              <a:ext uri="{FF2B5EF4-FFF2-40B4-BE49-F238E27FC236}">
                <a16:creationId xmlns:a16="http://schemas.microsoft.com/office/drawing/2014/main" id="{C98B4A87-8B7E-CA3D-04C3-CF759D13E926}"/>
              </a:ext>
            </a:extLst>
          </p:cNvPr>
          <p:cNvSpPr/>
          <p:nvPr/>
        </p:nvSpPr>
        <p:spPr>
          <a:xfrm>
            <a:off x="92098" y="4696336"/>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2.4</a:t>
            </a:r>
          </a:p>
        </p:txBody>
      </p:sp>
    </p:spTree>
    <p:extLst>
      <p:ext uri="{BB962C8B-B14F-4D97-AF65-F5344CB8AC3E}">
        <p14:creationId xmlns:p14="http://schemas.microsoft.com/office/powerpoint/2010/main" val="8814171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bias costs — Sections 3.1 &amp; 3.2</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different executive roles translate the same strategy into divergent priorities that leave enterprise gaps unowned.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the strategic and performance costs of unexamined bias in your organisation.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Zooming in functional landscape - </a:t>
            </a:r>
            <a:r>
              <a:rPr lang="en-GB" sz="2600" b="1" dirty="0">
                <a:solidFill>
                  <a:srgbClr val="C6A24C"/>
                </a:solidFill>
                <a:latin typeface="Calibri" pitchFamily="34" charset="0"/>
                <a:ea typeface="Calibri" pitchFamily="34" charset="-122"/>
                <a:cs typeface="Calibri" pitchFamily="34" charset="-120"/>
              </a:rPr>
              <a:t>Where functional bias shows up</a:t>
            </a:r>
            <a:r>
              <a:rPr lang="en-US" sz="2600" b="1" dirty="0">
                <a:solidFill>
                  <a:srgbClr val="C6A24C"/>
                </a:solidFill>
                <a:latin typeface="Calibri" pitchFamily="34" charset="0"/>
                <a:ea typeface="Calibri" pitchFamily="34" charset="-122"/>
                <a:cs typeface="Calibri" pitchFamily="34" charset="-120"/>
              </a:rPr>
              <a:t> </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every executive in your organisation performed perfectly within their own function, would your strategy actually deliver the result you intend?</a:t>
            </a:r>
            <a:endParaRPr lang="en-US" sz="3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Functional Bias In Action – </a:t>
            </a:r>
            <a:r>
              <a:rPr lang="en-US" sz="3600" b="1" dirty="0" err="1">
                <a:solidFill>
                  <a:srgbClr val="1A5C2C"/>
                </a:solidFill>
                <a:latin typeface="Cambria" pitchFamily="34" charset="0"/>
                <a:ea typeface="Cambria" pitchFamily="34" charset="-122"/>
                <a:cs typeface="Cambria" pitchFamily="34" charset="-120"/>
              </a:rPr>
              <a:t>MyHealth</a:t>
            </a:r>
            <a:r>
              <a:rPr lang="en-US" sz="3600" b="1" dirty="0">
                <a:solidFill>
                  <a:srgbClr val="1A5C2C"/>
                </a:solidFill>
                <a:latin typeface="Cambria" pitchFamily="34" charset="0"/>
                <a:ea typeface="Cambria" pitchFamily="34" charset="-122"/>
                <a:cs typeface="Cambria" pitchFamily="34" charset="-120"/>
              </a:rPr>
              <a:t> Live Case Study</a:t>
            </a:r>
            <a:endParaRPr lang="en-US" sz="3600" dirty="0"/>
          </a:p>
        </p:txBody>
      </p:sp>
      <p:sp>
        <p:nvSpPr>
          <p:cNvPr id="3" name="Shape 1"/>
          <p:cNvSpPr/>
          <p:nvPr/>
        </p:nvSpPr>
        <p:spPr>
          <a:xfrm>
            <a:off x="548640" y="1508760"/>
            <a:ext cx="11091672" cy="1920240"/>
          </a:xfrm>
          <a:prstGeom prst="roundRect">
            <a:avLst>
              <a:gd name="adj" fmla="val 4762"/>
            </a:avLst>
          </a:prstGeom>
          <a:solidFill>
            <a:srgbClr val="1A5C2C"/>
          </a:solidFill>
          <a:ln w="12700">
            <a:solidFill>
              <a:srgbClr val="1A5C2C"/>
            </a:solidFill>
            <a:prstDash val="solid"/>
          </a:ln>
        </p:spPr>
        <p:txBody>
          <a:bodyPr/>
          <a:lstStyle/>
          <a:p>
            <a:endParaRPr lang="en-ZA"/>
          </a:p>
        </p:txBody>
      </p:sp>
      <p:sp>
        <p:nvSpPr>
          <p:cNvPr id="4" name="Shape 2"/>
          <p:cNvSpPr/>
          <p:nvPr/>
        </p:nvSpPr>
        <p:spPr>
          <a:xfrm>
            <a:off x="822960" y="1920240"/>
            <a:ext cx="1005840" cy="1005840"/>
          </a:xfrm>
          <a:prstGeom prst="ellipse">
            <a:avLst/>
          </a:prstGeom>
          <a:solidFill>
            <a:srgbClr val="C6A24C"/>
          </a:solidFill>
          <a:ln w="12700">
            <a:solidFill>
              <a:srgbClr val="C6A24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74420" y="2171700"/>
            <a:ext cx="502920" cy="502920"/>
          </a:xfrm>
          <a:prstGeom prst="rect">
            <a:avLst/>
          </a:prstGeom>
        </p:spPr>
      </p:pic>
      <p:sp>
        <p:nvSpPr>
          <p:cNvPr id="6" name="Text 3"/>
          <p:cNvSpPr txBox="1"/>
          <p:nvPr/>
        </p:nvSpPr>
        <p:spPr>
          <a:xfrm>
            <a:off x="2103120" y="1508760"/>
            <a:ext cx="9326880" cy="1920240"/>
          </a:xfrm>
          <a:prstGeom prst="rect">
            <a:avLst/>
          </a:prstGeom>
          <a:noFill/>
          <a:ln/>
        </p:spPr>
        <p:txBody>
          <a:bodyPr wrap="square" lIns="0" tIns="0" rIns="0" bIns="0" rtlCol="0" anchor="ctr"/>
          <a:lstStyle/>
          <a:p>
            <a:pPr marL="0" indent="0">
              <a:buNone/>
            </a:pPr>
            <a:r>
              <a:rPr lang="en-US" sz="2800" dirty="0">
                <a:solidFill>
                  <a:srgbClr val="FFFFFF"/>
                </a:solidFill>
                <a:latin typeface="Calibri" pitchFamily="34" charset="0"/>
                <a:ea typeface="Calibri" pitchFamily="34" charset="-122"/>
                <a:cs typeface="Calibri" pitchFamily="34" charset="-120"/>
              </a:rPr>
              <a:t>A hospital chain launches a 24/7 patient portal to cut admin calls by 30% and build patient trust. We must go live in 60 days.</a:t>
            </a:r>
            <a:endParaRPr lang="en-US" sz="2800" dirty="0"/>
          </a:p>
        </p:txBody>
      </p:sp>
      <p:sp>
        <p:nvSpPr>
          <p:cNvPr id="7" name="Shape 4"/>
          <p:cNvSpPr/>
          <p:nvPr/>
        </p:nvSpPr>
        <p:spPr>
          <a:xfrm>
            <a:off x="548640"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548640"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CEO</a:t>
            </a:r>
            <a:endParaRPr lang="en-US" sz="2600" dirty="0"/>
          </a:p>
        </p:txBody>
      </p:sp>
      <p:sp>
        <p:nvSpPr>
          <p:cNvPr id="9" name="Shape 6"/>
          <p:cNvSpPr/>
          <p:nvPr/>
        </p:nvSpPr>
        <p:spPr>
          <a:xfrm>
            <a:off x="2802636"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2802636"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CFO</a:t>
            </a:r>
            <a:endParaRPr lang="en-US" sz="2600" dirty="0"/>
          </a:p>
        </p:txBody>
      </p:sp>
      <p:sp>
        <p:nvSpPr>
          <p:cNvPr id="11" name="Shape 8"/>
          <p:cNvSpPr/>
          <p:nvPr/>
        </p:nvSpPr>
        <p:spPr>
          <a:xfrm>
            <a:off x="5056632"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5056632"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COO</a:t>
            </a:r>
            <a:endParaRPr lang="en-US" sz="2600" dirty="0"/>
          </a:p>
        </p:txBody>
      </p:sp>
      <p:sp>
        <p:nvSpPr>
          <p:cNvPr id="13" name="Shape 10"/>
          <p:cNvSpPr/>
          <p:nvPr/>
        </p:nvSpPr>
        <p:spPr>
          <a:xfrm>
            <a:off x="7310628"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7310628"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CHRO</a:t>
            </a:r>
            <a:endParaRPr lang="en-US" sz="2600" dirty="0"/>
          </a:p>
        </p:txBody>
      </p:sp>
      <p:sp>
        <p:nvSpPr>
          <p:cNvPr id="15" name="Shape 12"/>
          <p:cNvSpPr/>
          <p:nvPr/>
        </p:nvSpPr>
        <p:spPr>
          <a:xfrm>
            <a:off x="9564624"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9564624"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CTO</a:t>
            </a:r>
            <a:endParaRPr lang="en-US" sz="2600" dirty="0"/>
          </a:p>
        </p:txBody>
      </p:sp>
      <p:sp>
        <p:nvSpPr>
          <p:cNvPr id="17" name="Shape 14"/>
          <p:cNvSpPr/>
          <p:nvPr/>
        </p:nvSpPr>
        <p:spPr>
          <a:xfrm>
            <a:off x="548640"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548640"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CMO</a:t>
            </a:r>
            <a:endParaRPr lang="en-US" sz="2600" dirty="0"/>
          </a:p>
        </p:txBody>
      </p:sp>
      <p:sp>
        <p:nvSpPr>
          <p:cNvPr id="19" name="Shape 16"/>
          <p:cNvSpPr/>
          <p:nvPr/>
        </p:nvSpPr>
        <p:spPr>
          <a:xfrm>
            <a:off x="2802636"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0" name="Text 17"/>
          <p:cNvSpPr txBox="1"/>
          <p:nvPr/>
        </p:nvSpPr>
        <p:spPr>
          <a:xfrm>
            <a:off x="2802636"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CCO</a:t>
            </a:r>
            <a:endParaRPr lang="en-US" sz="2600" dirty="0"/>
          </a:p>
        </p:txBody>
      </p:sp>
      <p:sp>
        <p:nvSpPr>
          <p:cNvPr id="21" name="Shape 18"/>
          <p:cNvSpPr/>
          <p:nvPr/>
        </p:nvSpPr>
        <p:spPr>
          <a:xfrm>
            <a:off x="5056632"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2" name="Text 19"/>
          <p:cNvSpPr txBox="1"/>
          <p:nvPr/>
        </p:nvSpPr>
        <p:spPr>
          <a:xfrm>
            <a:off x="5056632"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CPO</a:t>
            </a:r>
            <a:endParaRPr lang="en-US" sz="2600" dirty="0"/>
          </a:p>
        </p:txBody>
      </p:sp>
      <p:sp>
        <p:nvSpPr>
          <p:cNvPr id="23" name="Shape 20"/>
          <p:cNvSpPr/>
          <p:nvPr/>
        </p:nvSpPr>
        <p:spPr>
          <a:xfrm>
            <a:off x="7310628"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4" name="Text 21"/>
          <p:cNvSpPr txBox="1"/>
          <p:nvPr/>
        </p:nvSpPr>
        <p:spPr>
          <a:xfrm>
            <a:off x="7310628"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CRO</a:t>
            </a:r>
            <a:endParaRPr lang="en-US" sz="2600" dirty="0"/>
          </a:p>
        </p:txBody>
      </p:sp>
      <p:sp>
        <p:nvSpPr>
          <p:cNvPr id="25" name="Shape 22"/>
          <p:cNvSpPr/>
          <p:nvPr/>
        </p:nvSpPr>
        <p:spPr>
          <a:xfrm>
            <a:off x="9564624"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6" name="Text 23"/>
          <p:cNvSpPr txBox="1"/>
          <p:nvPr/>
        </p:nvSpPr>
        <p:spPr>
          <a:xfrm>
            <a:off x="9564624"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CSO</a:t>
            </a:r>
            <a:endParaRPr lang="en-US" sz="2600" dirty="0"/>
          </a:p>
        </p:txBody>
      </p:sp>
      <p:sp>
        <p:nvSpPr>
          <p:cNvPr id="27" name="Text 24"/>
          <p:cNvSpPr txBox="1"/>
          <p:nvPr/>
        </p:nvSpPr>
        <p:spPr>
          <a:xfrm>
            <a:off x="548640" y="5669280"/>
            <a:ext cx="11064240" cy="64008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Every executive hears the same words through their own professional filter.</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Hidden Cost Of Poor Behavioural Awareness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≈6%</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higher returns where decision-making actively mitigates bias (McKinsey)</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Misallocated Capital  </a:t>
            </a:r>
            <a:r>
              <a:rPr lang="en-US" sz="2400" dirty="0">
                <a:solidFill>
                  <a:srgbClr val="4E5E53"/>
                </a:solidFill>
                <a:latin typeface="Calibri" pitchFamily="34" charset="0"/>
                <a:ea typeface="Calibri" pitchFamily="34" charset="-122"/>
                <a:cs typeface="Calibri" pitchFamily="34" charset="-120"/>
              </a:rPr>
              <a:t>Stability &amp; Action Biases</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Strategic Inertia  </a:t>
            </a:r>
            <a:r>
              <a:rPr lang="en-US" sz="2400" dirty="0">
                <a:solidFill>
                  <a:srgbClr val="4E5E53"/>
                </a:solidFill>
                <a:latin typeface="Calibri" pitchFamily="34" charset="0"/>
                <a:ea typeface="Calibri" pitchFamily="34" charset="-122"/>
                <a:cs typeface="Calibri" pitchFamily="34" charset="-120"/>
              </a:rPr>
              <a:t>Stability Biases</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Execution Failure  </a:t>
            </a:r>
            <a:r>
              <a:rPr lang="en-US" sz="2400" dirty="0">
                <a:solidFill>
                  <a:srgbClr val="4E5E53"/>
                </a:solidFill>
                <a:latin typeface="Calibri" pitchFamily="34" charset="0"/>
                <a:ea typeface="Calibri" pitchFamily="34" charset="-122"/>
                <a:cs typeface="Calibri" pitchFamily="34" charset="-120"/>
              </a:rPr>
              <a:t>Action-Oriented Biases</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6" name="Image 3" descr="preencoded.png"/>
          <p:cNvPicPr>
            <a:picLocks noChangeAspect="1"/>
          </p:cNvPicPr>
          <p:nvPr/>
        </p:nvPicPr>
        <p:blipFill>
          <a:blip r:embed="rId6"/>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Innovation Suppression  </a:t>
            </a:r>
            <a:r>
              <a:rPr lang="en-US" sz="2400" dirty="0">
                <a:solidFill>
                  <a:srgbClr val="4E5E53"/>
                </a:solidFill>
                <a:latin typeface="Calibri" pitchFamily="34" charset="0"/>
                <a:ea typeface="Calibri" pitchFamily="34" charset="-122"/>
                <a:cs typeface="Calibri" pitchFamily="34" charset="-120"/>
              </a:rPr>
              <a:t>Social &amp; Interest Biases</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9" name="Image 4" descr="preencoded.png"/>
          <p:cNvPicPr>
            <a:picLocks noChangeAspect="1"/>
          </p:cNvPicPr>
          <p:nvPr/>
        </p:nvPicPr>
        <p:blipFill>
          <a:blip r:embed="rId7"/>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Purpose Drift  </a:t>
            </a:r>
            <a:r>
              <a:rPr lang="en-US" sz="2400" dirty="0">
                <a:solidFill>
                  <a:srgbClr val="4E5E53"/>
                </a:solidFill>
                <a:latin typeface="Calibri" pitchFamily="34" charset="0"/>
                <a:ea typeface="Calibri" pitchFamily="34" charset="-122"/>
                <a:cs typeface="Calibri" pitchFamily="34" charset="-120"/>
              </a:rPr>
              <a:t>Interest &amp; Social Biases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80A6D-2200-7597-FBCD-21B7A5264D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173494-1931-DB11-8432-DABB33F3A10C}"/>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3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AC3B1411-7240-B985-3F32-4E9FA55D19F4}"/>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3.1</a:t>
            </a:r>
          </a:p>
        </p:txBody>
      </p:sp>
      <p:sp>
        <p:nvSpPr>
          <p:cNvPr id="17" name="Oval 16">
            <a:extLst>
              <a:ext uri="{FF2B5EF4-FFF2-40B4-BE49-F238E27FC236}">
                <a16:creationId xmlns:a16="http://schemas.microsoft.com/office/drawing/2014/main" id="{D4C65E01-49EC-3F27-38EA-BE13B8AB6355}"/>
              </a:ext>
            </a:extLst>
          </p:cNvPr>
          <p:cNvSpPr/>
          <p:nvPr/>
        </p:nvSpPr>
        <p:spPr>
          <a:xfrm>
            <a:off x="92098" y="2972380"/>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3.2</a:t>
            </a:r>
          </a:p>
        </p:txBody>
      </p:sp>
      <p:pic>
        <p:nvPicPr>
          <p:cNvPr id="5" name="Picture 4">
            <a:extLst>
              <a:ext uri="{FF2B5EF4-FFF2-40B4-BE49-F238E27FC236}">
                <a16:creationId xmlns:a16="http://schemas.microsoft.com/office/drawing/2014/main" id="{0E6B0501-ADBF-CC53-5253-B24FDA51BB62}"/>
              </a:ext>
            </a:extLst>
          </p:cNvPr>
          <p:cNvPicPr>
            <a:picLocks noChangeAspect="1"/>
          </p:cNvPicPr>
          <p:nvPr/>
        </p:nvPicPr>
        <p:blipFill>
          <a:blip r:embed="rId3"/>
          <a:stretch>
            <a:fillRect/>
          </a:stretch>
        </p:blipFill>
        <p:spPr>
          <a:xfrm>
            <a:off x="1107324" y="1710640"/>
            <a:ext cx="10688687" cy="1310226"/>
          </a:xfrm>
          <a:prstGeom prst="rect">
            <a:avLst/>
          </a:prstGeom>
        </p:spPr>
      </p:pic>
      <p:pic>
        <p:nvPicPr>
          <p:cNvPr id="9" name="Picture 8">
            <a:extLst>
              <a:ext uri="{FF2B5EF4-FFF2-40B4-BE49-F238E27FC236}">
                <a16:creationId xmlns:a16="http://schemas.microsoft.com/office/drawing/2014/main" id="{06993554-51E9-C344-E480-BBB1B7329E64}"/>
              </a:ext>
            </a:extLst>
          </p:cNvPr>
          <p:cNvPicPr>
            <a:picLocks noChangeAspect="1"/>
          </p:cNvPicPr>
          <p:nvPr/>
        </p:nvPicPr>
        <p:blipFill>
          <a:blip r:embed="rId4"/>
          <a:stretch>
            <a:fillRect/>
          </a:stretch>
        </p:blipFill>
        <p:spPr>
          <a:xfrm>
            <a:off x="1107323" y="3033559"/>
            <a:ext cx="10688687" cy="550019"/>
          </a:xfrm>
          <a:prstGeom prst="rect">
            <a:avLst/>
          </a:prstGeom>
        </p:spPr>
      </p:pic>
    </p:spTree>
    <p:extLst>
      <p:ext uri="{BB962C8B-B14F-4D97-AF65-F5344CB8AC3E}">
        <p14:creationId xmlns:p14="http://schemas.microsoft.com/office/powerpoint/2010/main" val="1953440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bias landscape · The emotional dimension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bias and emotional climate most affect decision quality across the strategy process.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interventions that would most strengthen objectivity in your own strategy process.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a:t>
            </a:r>
            <a:r>
              <a:rPr lang="en-GB" sz="3600" b="1" dirty="0">
                <a:solidFill>
                  <a:srgbClr val="1A5C2C"/>
                </a:solidFill>
                <a:latin typeface="Cambria" pitchFamily="34" charset="0"/>
                <a:ea typeface="Cambria" pitchFamily="34" charset="-122"/>
                <a:cs typeface="Cambria" pitchFamily="34" charset="-120"/>
              </a:rPr>
              <a:t>The Strategy Journey As A Bias Landscape</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1 · Diagnosis</a:t>
            </a:r>
            <a:endParaRPr lang="en-US" sz="2800" dirty="0"/>
          </a:p>
        </p:txBody>
      </p:sp>
      <p:sp>
        <p:nvSpPr>
          <p:cNvPr id="7" name="Text 4"/>
          <p:cNvSpPr txBox="1"/>
          <p:nvPr/>
        </p:nvSpPr>
        <p:spPr>
          <a:xfrm>
            <a:off x="777240" y="2560320"/>
            <a:ext cx="4951476" cy="1053439"/>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Wrong reality enters the strategy</a:t>
            </a:r>
            <a:endParaRPr lang="en-US" sz="2600" dirty="0"/>
          </a:p>
          <a:p>
            <a:pPr marL="0" indent="0">
              <a:buNone/>
            </a:pP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2 · Option Generation</a:t>
            </a:r>
            <a:endParaRPr lang="en-US" sz="2800" dirty="0"/>
          </a:p>
        </p:txBody>
      </p:sp>
      <p:sp>
        <p:nvSpPr>
          <p:cNvPr id="12" name="Text 8"/>
          <p:cNvSpPr txBox="1"/>
          <p:nvPr/>
        </p:nvSpPr>
        <p:spPr>
          <a:xfrm>
            <a:off x="6460236" y="2816352"/>
            <a:ext cx="4951476" cy="941456"/>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Solution space narrowed before debate</a:t>
            </a:r>
            <a:endParaRPr lang="en-US" sz="2600" dirty="0"/>
          </a:p>
          <a:p>
            <a:pPr marL="0" indent="0">
              <a:buNone/>
            </a:pPr>
            <a:endParaRPr lang="en-US" sz="2600" dirty="0"/>
          </a:p>
        </p:txBody>
      </p:sp>
      <p:grpSp>
        <p:nvGrpSpPr>
          <p:cNvPr id="45" name="Group 44">
            <a:extLst>
              <a:ext uri="{FF2B5EF4-FFF2-40B4-BE49-F238E27FC236}">
                <a16:creationId xmlns:a16="http://schemas.microsoft.com/office/drawing/2014/main" id="{9211A600-8C2A-8DCB-BAF0-C2765316C5EF}"/>
              </a:ext>
            </a:extLst>
          </p:cNvPr>
          <p:cNvGrpSpPr/>
          <p:nvPr/>
        </p:nvGrpSpPr>
        <p:grpSpPr>
          <a:xfrm>
            <a:off x="777240" y="4353415"/>
            <a:ext cx="10634472" cy="1677861"/>
            <a:chOff x="777240" y="1691640"/>
            <a:chExt cx="10634472" cy="1677861"/>
          </a:xfrm>
        </p:grpSpPr>
        <p:sp>
          <p:nvSpPr>
            <p:cNvPr id="30" name="Shape 2">
              <a:extLst>
                <a:ext uri="{FF2B5EF4-FFF2-40B4-BE49-F238E27FC236}">
                  <a16:creationId xmlns:a16="http://schemas.microsoft.com/office/drawing/2014/main" id="{1A91D732-C1DC-F64E-EECC-D174A90EEFE7}"/>
                </a:ext>
              </a:extLst>
            </p:cNvPr>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descr="preencoded.png">
              <a:extLst>
                <a:ext uri="{FF2B5EF4-FFF2-40B4-BE49-F238E27FC236}">
                  <a16:creationId xmlns:a16="http://schemas.microsoft.com/office/drawing/2014/main" id="{6E07E720-1270-E7DC-D5E9-764CC809254E}"/>
                </a:ext>
              </a:extLst>
            </p:cNvPr>
            <p:cNvPicPr>
              <a:picLocks noChangeAspect="1"/>
            </p:cNvPicPr>
            <p:nvPr/>
          </p:nvPicPr>
          <p:blipFill>
            <a:blip r:embed="rId5"/>
            <a:stretch>
              <a:fillRect/>
            </a:stretch>
          </p:blipFill>
          <p:spPr>
            <a:xfrm>
              <a:off x="937260" y="1897380"/>
              <a:ext cx="320040" cy="320040"/>
            </a:xfrm>
            <a:prstGeom prst="rect">
              <a:avLst/>
            </a:prstGeom>
          </p:spPr>
        </p:pic>
        <p:sp>
          <p:nvSpPr>
            <p:cNvPr id="34" name="Text 3">
              <a:extLst>
                <a:ext uri="{FF2B5EF4-FFF2-40B4-BE49-F238E27FC236}">
                  <a16:creationId xmlns:a16="http://schemas.microsoft.com/office/drawing/2014/main" id="{10FA8043-6E72-C96B-EFBD-F3A942F11AFC}"/>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3 · Decision</a:t>
              </a:r>
              <a:endParaRPr lang="en-US" sz="2800" dirty="0"/>
            </a:p>
          </p:txBody>
        </p:sp>
        <p:sp>
          <p:nvSpPr>
            <p:cNvPr id="36" name="Text 4">
              <a:extLst>
                <a:ext uri="{FF2B5EF4-FFF2-40B4-BE49-F238E27FC236}">
                  <a16:creationId xmlns:a16="http://schemas.microsoft.com/office/drawing/2014/main" id="{039E2F08-59EB-52F9-2E75-33372952C3CD}"/>
                </a:ext>
              </a:extLst>
            </p:cNvPr>
            <p:cNvSpPr txBox="1"/>
            <p:nvPr/>
          </p:nvSpPr>
          <p:spPr>
            <a:xfrm>
              <a:off x="777240" y="2560320"/>
              <a:ext cx="4951476" cy="809181"/>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Chosen path flawed or skewed</a:t>
              </a:r>
              <a:endParaRPr lang="en-US" sz="2600" dirty="0"/>
            </a:p>
            <a:p>
              <a:pPr marL="0" indent="0">
                <a:buNone/>
              </a:pPr>
              <a:endParaRPr lang="en-US" sz="2600" dirty="0"/>
            </a:p>
          </p:txBody>
        </p:sp>
        <p:sp>
          <p:nvSpPr>
            <p:cNvPr id="38" name="Shape 6">
              <a:extLst>
                <a:ext uri="{FF2B5EF4-FFF2-40B4-BE49-F238E27FC236}">
                  <a16:creationId xmlns:a16="http://schemas.microsoft.com/office/drawing/2014/main" id="{5C133616-AE6B-2E8C-E14A-99E3A283833F}"/>
                </a:ext>
              </a:extLst>
            </p:cNvPr>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0" name="Image 1" descr="preencoded.png">
              <a:extLst>
                <a:ext uri="{FF2B5EF4-FFF2-40B4-BE49-F238E27FC236}">
                  <a16:creationId xmlns:a16="http://schemas.microsoft.com/office/drawing/2014/main" id="{9F6C55D7-2C62-50DF-F765-29B17D3242E3}"/>
                </a:ext>
              </a:extLst>
            </p:cNvPr>
            <p:cNvPicPr>
              <a:picLocks noChangeAspect="1"/>
            </p:cNvPicPr>
            <p:nvPr/>
          </p:nvPicPr>
          <p:blipFill>
            <a:blip r:embed="rId6"/>
            <a:stretch>
              <a:fillRect/>
            </a:stretch>
          </p:blipFill>
          <p:spPr>
            <a:xfrm>
              <a:off x="6620256" y="1897380"/>
              <a:ext cx="320040" cy="320040"/>
            </a:xfrm>
            <a:prstGeom prst="rect">
              <a:avLst/>
            </a:prstGeom>
          </p:spPr>
        </p:pic>
        <p:sp>
          <p:nvSpPr>
            <p:cNvPr id="42" name="Text 7">
              <a:extLst>
                <a:ext uri="{FF2B5EF4-FFF2-40B4-BE49-F238E27FC236}">
                  <a16:creationId xmlns:a16="http://schemas.microsoft.com/office/drawing/2014/main" id="{E86D7E52-48C7-0966-43C3-B224DE2DC427}"/>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4 · Execution</a:t>
              </a:r>
              <a:endParaRPr lang="en-US" sz="2800" dirty="0"/>
            </a:p>
          </p:txBody>
        </p:sp>
        <p:sp>
          <p:nvSpPr>
            <p:cNvPr id="44" name="Text 8">
              <a:extLst>
                <a:ext uri="{FF2B5EF4-FFF2-40B4-BE49-F238E27FC236}">
                  <a16:creationId xmlns:a16="http://schemas.microsoft.com/office/drawing/2014/main" id="{DAC6D9ED-9B10-1B8E-8E2D-03515E38731B}"/>
                </a:ext>
              </a:extLst>
            </p:cNvPr>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Strategy decays in delivery</a:t>
              </a:r>
              <a:endParaRPr lang="en-US" sz="2600" dirty="0"/>
            </a:p>
            <a:p>
              <a:pPr marL="0" indent="0">
                <a:buNone/>
              </a:pPr>
              <a:endParaRPr lang="en-US" sz="2600" dirty="0"/>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a:t>
            </a:r>
            <a:r>
              <a:rPr lang="en-GB" sz="3600" b="1" dirty="0">
                <a:solidFill>
                  <a:srgbClr val="1A5C2C"/>
                </a:solidFill>
                <a:latin typeface="Cambria" pitchFamily="34" charset="0"/>
                <a:ea typeface="Cambria" pitchFamily="34" charset="-122"/>
                <a:cs typeface="Cambria" pitchFamily="34" charset="-120"/>
              </a:rPr>
              <a:t> The Emotional Dimension Of Strategy</a:t>
            </a:r>
            <a:endParaRPr lang="en-US" sz="3600" b="1" dirty="0">
              <a:solidFill>
                <a:srgbClr val="1A5C2C"/>
              </a:solidFill>
              <a:latin typeface="Cambria" pitchFamily="34" charset="0"/>
              <a:ea typeface="Cambria" pitchFamily="34" charset="-122"/>
              <a:cs typeface="Cambria" pitchFamily="34" charset="-120"/>
            </a:endParaRPr>
          </a:p>
          <a:p>
            <a:pPr marL="0" indent="0">
              <a:buNone/>
            </a:pPr>
            <a:r>
              <a:rPr lang="en-US" sz="3600" b="1" dirty="0">
                <a:solidFill>
                  <a:srgbClr val="1A5C2C"/>
                </a:solidFill>
                <a:latin typeface="Cambria" pitchFamily="34" charset="0"/>
                <a:ea typeface="Cambria" pitchFamily="34" charset="-122"/>
                <a:cs typeface="Cambria" pitchFamily="34" charset="-120"/>
              </a:rPr>
              <a:t>4.2.1. Emotional Climate As Atmospheric Pressure</a:t>
            </a:r>
            <a:endParaRPr lang="en-US" sz="3600" dirty="0"/>
          </a:p>
        </p:txBody>
      </p:sp>
      <p:sp>
        <p:nvSpPr>
          <p:cNvPr id="3" name="Shape 1"/>
          <p:cNvSpPr/>
          <p:nvPr/>
        </p:nvSpPr>
        <p:spPr>
          <a:xfrm>
            <a:off x="548640"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2154555"/>
            <a:ext cx="320040" cy="320040"/>
          </a:xfrm>
          <a:prstGeom prst="rect">
            <a:avLst/>
          </a:prstGeom>
        </p:spPr>
      </p:pic>
      <p:sp>
        <p:nvSpPr>
          <p:cNvPr id="6" name="Text 3"/>
          <p:cNvSpPr txBox="1"/>
          <p:nvPr/>
        </p:nvSpPr>
        <p:spPr>
          <a:xfrm>
            <a:off x="777240" y="2771775"/>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Fear-Dominated</a:t>
            </a:r>
            <a:endParaRPr lang="en-US" sz="2600" dirty="0"/>
          </a:p>
        </p:txBody>
      </p:sp>
      <p:sp>
        <p:nvSpPr>
          <p:cNvPr id="7" name="Text 4"/>
          <p:cNvSpPr txBox="1"/>
          <p:nvPr/>
        </p:nvSpPr>
        <p:spPr>
          <a:xfrm>
            <a:off x="777240" y="3416427"/>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Paralysis · System 1 Hijack</a:t>
            </a:r>
            <a:endParaRPr lang="en-US" sz="2400" dirty="0"/>
          </a:p>
        </p:txBody>
      </p:sp>
      <p:sp>
        <p:nvSpPr>
          <p:cNvPr id="8" name="Shape 5"/>
          <p:cNvSpPr/>
          <p:nvPr/>
        </p:nvSpPr>
        <p:spPr>
          <a:xfrm>
            <a:off x="4337304"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2154555"/>
            <a:ext cx="320040" cy="320040"/>
          </a:xfrm>
          <a:prstGeom prst="rect">
            <a:avLst/>
          </a:prstGeom>
        </p:spPr>
      </p:pic>
      <p:sp>
        <p:nvSpPr>
          <p:cNvPr id="11" name="Text 7"/>
          <p:cNvSpPr txBox="1"/>
          <p:nvPr/>
        </p:nvSpPr>
        <p:spPr>
          <a:xfrm>
            <a:off x="4565904" y="2771775"/>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Narcissism-Dominated</a:t>
            </a:r>
            <a:endParaRPr lang="en-US" sz="2600" dirty="0"/>
          </a:p>
        </p:txBody>
      </p:sp>
      <p:sp>
        <p:nvSpPr>
          <p:cNvPr id="12" name="Text 8"/>
          <p:cNvSpPr txBox="1"/>
          <p:nvPr/>
        </p:nvSpPr>
        <p:spPr>
          <a:xfrm>
            <a:off x="4565904" y="3832479"/>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Delusion · Validation Loop</a:t>
            </a:r>
            <a:endParaRPr lang="en-US" sz="2400" dirty="0"/>
          </a:p>
        </p:txBody>
      </p:sp>
      <p:sp>
        <p:nvSpPr>
          <p:cNvPr id="13" name="Shape 9"/>
          <p:cNvSpPr/>
          <p:nvPr/>
        </p:nvSpPr>
        <p:spPr>
          <a:xfrm>
            <a:off x="8125968" y="1765935"/>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99453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2154555"/>
            <a:ext cx="320040" cy="320040"/>
          </a:xfrm>
          <a:prstGeom prst="rect">
            <a:avLst/>
          </a:prstGeom>
        </p:spPr>
      </p:pic>
      <p:sp>
        <p:nvSpPr>
          <p:cNvPr id="16" name="Text 11"/>
          <p:cNvSpPr txBox="1"/>
          <p:nvPr/>
        </p:nvSpPr>
        <p:spPr>
          <a:xfrm>
            <a:off x="8354568" y="2771775"/>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Grounded Confidence</a:t>
            </a:r>
            <a:endParaRPr lang="en-US" sz="2600" dirty="0"/>
          </a:p>
        </p:txBody>
      </p:sp>
      <p:sp>
        <p:nvSpPr>
          <p:cNvPr id="17" name="Text 12"/>
          <p:cNvSpPr txBox="1"/>
          <p:nvPr/>
        </p:nvSpPr>
        <p:spPr>
          <a:xfrm>
            <a:off x="8354568" y="3832479"/>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Strategic Agility · System 2 Optimisation</a:t>
            </a:r>
            <a:endParaRPr lang="en-US" sz="2400" dirty="0"/>
          </a:p>
        </p:txBody>
      </p:sp>
      <p:sp>
        <p:nvSpPr>
          <p:cNvPr id="18" name="Shape 13"/>
          <p:cNvSpPr/>
          <p:nvPr/>
        </p:nvSpPr>
        <p:spPr>
          <a:xfrm>
            <a:off x="548640" y="5880735"/>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880735"/>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For a leader, managing the emotional climate is a fiduciary responsibility.</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6A3271A-C636-8510-CE6A-045F7C77339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71DD541-61ED-01F3-5ABD-C1ADB4899BFD}"/>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4.2.2a · Emotional Alignment: The State Of Being</a:t>
            </a:r>
            <a:endParaRPr lang="en-US" sz="3600" dirty="0"/>
          </a:p>
        </p:txBody>
      </p:sp>
      <p:sp>
        <p:nvSpPr>
          <p:cNvPr id="3" name="Shape 1">
            <a:extLst>
              <a:ext uri="{FF2B5EF4-FFF2-40B4-BE49-F238E27FC236}">
                <a16:creationId xmlns:a16="http://schemas.microsoft.com/office/drawing/2014/main" id="{24BD3A50-EB18-09A2-83AD-857A3E7ED16D}"/>
              </a:ext>
            </a:extLst>
          </p:cNvPr>
          <p:cNvSpPr/>
          <p:nvPr/>
        </p:nvSpPr>
        <p:spPr>
          <a:xfrm>
            <a:off x="7394995"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a:extLst>
              <a:ext uri="{FF2B5EF4-FFF2-40B4-BE49-F238E27FC236}">
                <a16:creationId xmlns:a16="http://schemas.microsoft.com/office/drawing/2014/main" id="{0E560649-F343-1C0B-EC30-111224B26B16}"/>
              </a:ext>
            </a:extLst>
          </p:cNvPr>
          <p:cNvPicPr>
            <a:picLocks noChangeAspect="1"/>
          </p:cNvPicPr>
          <p:nvPr/>
        </p:nvPicPr>
        <p:blipFill>
          <a:blip r:embed="rId3"/>
          <a:stretch>
            <a:fillRect/>
          </a:stretch>
        </p:blipFill>
        <p:spPr>
          <a:xfrm>
            <a:off x="7555015" y="1837944"/>
            <a:ext cx="320040" cy="320040"/>
          </a:xfrm>
          <a:prstGeom prst="rect">
            <a:avLst/>
          </a:prstGeom>
        </p:spPr>
      </p:pic>
      <p:sp>
        <p:nvSpPr>
          <p:cNvPr id="5" name="Text 2">
            <a:extLst>
              <a:ext uri="{FF2B5EF4-FFF2-40B4-BE49-F238E27FC236}">
                <a16:creationId xmlns:a16="http://schemas.microsoft.com/office/drawing/2014/main" id="{2F9C62C9-9F53-819D-ECF8-BDD3DB7B9428}"/>
              </a:ext>
            </a:extLst>
          </p:cNvPr>
          <p:cNvSpPr txBox="1"/>
          <p:nvPr/>
        </p:nvSpPr>
        <p:spPr>
          <a:xfrm>
            <a:off x="8355115" y="1508760"/>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Engagement Energy  </a:t>
            </a:r>
            <a:endParaRPr lang="en-US" sz="2800" dirty="0"/>
          </a:p>
        </p:txBody>
      </p:sp>
      <p:sp>
        <p:nvSpPr>
          <p:cNvPr id="6" name="Shape 3">
            <a:extLst>
              <a:ext uri="{FF2B5EF4-FFF2-40B4-BE49-F238E27FC236}">
                <a16:creationId xmlns:a16="http://schemas.microsoft.com/office/drawing/2014/main" id="{8399BEE9-0B2D-4E44-349E-B91C6C99478A}"/>
              </a:ext>
            </a:extLst>
          </p:cNvPr>
          <p:cNvSpPr/>
          <p:nvPr/>
        </p:nvSpPr>
        <p:spPr>
          <a:xfrm>
            <a:off x="7394995"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a:extLst>
              <a:ext uri="{FF2B5EF4-FFF2-40B4-BE49-F238E27FC236}">
                <a16:creationId xmlns:a16="http://schemas.microsoft.com/office/drawing/2014/main" id="{E41B5F26-18A8-D879-E166-1A9372463DCA}"/>
              </a:ext>
            </a:extLst>
          </p:cNvPr>
          <p:cNvPicPr>
            <a:picLocks noChangeAspect="1"/>
          </p:cNvPicPr>
          <p:nvPr/>
        </p:nvPicPr>
        <p:blipFill>
          <a:blip r:embed="rId4"/>
          <a:stretch>
            <a:fillRect/>
          </a:stretch>
        </p:blipFill>
        <p:spPr>
          <a:xfrm>
            <a:off x="7555015" y="2816352"/>
            <a:ext cx="320040" cy="320040"/>
          </a:xfrm>
          <a:prstGeom prst="rect">
            <a:avLst/>
          </a:prstGeom>
        </p:spPr>
      </p:pic>
      <p:sp>
        <p:nvSpPr>
          <p:cNvPr id="8" name="Text 4">
            <a:extLst>
              <a:ext uri="{FF2B5EF4-FFF2-40B4-BE49-F238E27FC236}">
                <a16:creationId xmlns:a16="http://schemas.microsoft.com/office/drawing/2014/main" id="{E31D5299-4D09-C81D-01DB-DFC7462F9320}"/>
              </a:ext>
            </a:extLst>
          </p:cNvPr>
          <p:cNvSpPr txBox="1"/>
          <p:nvPr/>
        </p:nvSpPr>
        <p:spPr>
          <a:xfrm>
            <a:off x="8355115" y="2487168"/>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Morale Drain  </a:t>
            </a:r>
            <a:endParaRPr lang="en-US" sz="2800" dirty="0"/>
          </a:p>
        </p:txBody>
      </p:sp>
      <p:sp>
        <p:nvSpPr>
          <p:cNvPr id="9" name="Shape 5">
            <a:extLst>
              <a:ext uri="{FF2B5EF4-FFF2-40B4-BE49-F238E27FC236}">
                <a16:creationId xmlns:a16="http://schemas.microsoft.com/office/drawing/2014/main" id="{1B3BB657-7F47-7218-B665-97F5D161B25E}"/>
              </a:ext>
            </a:extLst>
          </p:cNvPr>
          <p:cNvSpPr/>
          <p:nvPr/>
        </p:nvSpPr>
        <p:spPr>
          <a:xfrm>
            <a:off x="7394995"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a:extLst>
              <a:ext uri="{FF2B5EF4-FFF2-40B4-BE49-F238E27FC236}">
                <a16:creationId xmlns:a16="http://schemas.microsoft.com/office/drawing/2014/main" id="{678B6FC8-A3FD-7F74-C367-6895322A6698}"/>
              </a:ext>
            </a:extLst>
          </p:cNvPr>
          <p:cNvPicPr>
            <a:picLocks noChangeAspect="1"/>
          </p:cNvPicPr>
          <p:nvPr/>
        </p:nvPicPr>
        <p:blipFill>
          <a:blip r:embed="rId5"/>
          <a:stretch>
            <a:fillRect/>
          </a:stretch>
        </p:blipFill>
        <p:spPr>
          <a:xfrm>
            <a:off x="7555015" y="3794760"/>
            <a:ext cx="320040" cy="320040"/>
          </a:xfrm>
          <a:prstGeom prst="rect">
            <a:avLst/>
          </a:prstGeom>
        </p:spPr>
      </p:pic>
      <p:sp>
        <p:nvSpPr>
          <p:cNvPr id="11" name="Text 6">
            <a:extLst>
              <a:ext uri="{FF2B5EF4-FFF2-40B4-BE49-F238E27FC236}">
                <a16:creationId xmlns:a16="http://schemas.microsoft.com/office/drawing/2014/main" id="{236CC8B0-2AEF-2738-4747-984476A667DA}"/>
              </a:ext>
            </a:extLst>
          </p:cNvPr>
          <p:cNvSpPr txBox="1"/>
          <p:nvPr/>
        </p:nvSpPr>
        <p:spPr>
          <a:xfrm>
            <a:off x="8355115" y="3465576"/>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Friction Load  </a:t>
            </a:r>
            <a:endParaRPr lang="en-US" sz="2800" dirty="0"/>
          </a:p>
        </p:txBody>
      </p:sp>
      <p:sp>
        <p:nvSpPr>
          <p:cNvPr id="12" name="Shape 7">
            <a:extLst>
              <a:ext uri="{FF2B5EF4-FFF2-40B4-BE49-F238E27FC236}">
                <a16:creationId xmlns:a16="http://schemas.microsoft.com/office/drawing/2014/main" id="{6A553D95-236E-D8EE-5F4E-6C5F663E2547}"/>
              </a:ext>
            </a:extLst>
          </p:cNvPr>
          <p:cNvSpPr/>
          <p:nvPr/>
        </p:nvSpPr>
        <p:spPr>
          <a:xfrm>
            <a:off x="7394995"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a:extLst>
              <a:ext uri="{FF2B5EF4-FFF2-40B4-BE49-F238E27FC236}">
                <a16:creationId xmlns:a16="http://schemas.microsoft.com/office/drawing/2014/main" id="{5BDAFF4B-1ACA-C0CB-2A9C-64CA83B1CCE8}"/>
              </a:ext>
            </a:extLst>
          </p:cNvPr>
          <p:cNvPicPr>
            <a:picLocks noChangeAspect="1"/>
          </p:cNvPicPr>
          <p:nvPr/>
        </p:nvPicPr>
        <p:blipFill>
          <a:blip r:embed="rId6"/>
          <a:stretch>
            <a:fillRect/>
          </a:stretch>
        </p:blipFill>
        <p:spPr>
          <a:xfrm>
            <a:off x="7555015" y="4773168"/>
            <a:ext cx="320040" cy="320040"/>
          </a:xfrm>
          <a:prstGeom prst="rect">
            <a:avLst/>
          </a:prstGeom>
        </p:spPr>
      </p:pic>
      <p:sp>
        <p:nvSpPr>
          <p:cNvPr id="14" name="Text 8">
            <a:extLst>
              <a:ext uri="{FF2B5EF4-FFF2-40B4-BE49-F238E27FC236}">
                <a16:creationId xmlns:a16="http://schemas.microsoft.com/office/drawing/2014/main" id="{5144CCB0-90D0-0059-7742-3631518A12BF}"/>
              </a:ext>
            </a:extLst>
          </p:cNvPr>
          <p:cNvSpPr txBox="1"/>
          <p:nvPr/>
        </p:nvSpPr>
        <p:spPr>
          <a:xfrm>
            <a:off x="8355115" y="4443984"/>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Psychological Safety  </a:t>
            </a:r>
            <a:endParaRPr lang="en-US" sz="2800" dirty="0"/>
          </a:p>
        </p:txBody>
      </p:sp>
      <p:sp>
        <p:nvSpPr>
          <p:cNvPr id="15" name="Shape 9">
            <a:extLst>
              <a:ext uri="{FF2B5EF4-FFF2-40B4-BE49-F238E27FC236}">
                <a16:creationId xmlns:a16="http://schemas.microsoft.com/office/drawing/2014/main" id="{2A47AAD2-B7DA-65A0-498C-4A0860DEC197}"/>
              </a:ext>
            </a:extLst>
          </p:cNvPr>
          <p:cNvSpPr/>
          <p:nvPr/>
        </p:nvSpPr>
        <p:spPr>
          <a:xfrm>
            <a:off x="7394995"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a:extLst>
              <a:ext uri="{FF2B5EF4-FFF2-40B4-BE49-F238E27FC236}">
                <a16:creationId xmlns:a16="http://schemas.microsoft.com/office/drawing/2014/main" id="{0E237549-5B93-3C80-B539-D23979053C04}"/>
              </a:ext>
            </a:extLst>
          </p:cNvPr>
          <p:cNvPicPr>
            <a:picLocks noChangeAspect="1"/>
          </p:cNvPicPr>
          <p:nvPr/>
        </p:nvPicPr>
        <p:blipFill>
          <a:blip r:embed="rId7"/>
          <a:stretch>
            <a:fillRect/>
          </a:stretch>
        </p:blipFill>
        <p:spPr>
          <a:xfrm>
            <a:off x="7555015" y="5751576"/>
            <a:ext cx="320040" cy="320040"/>
          </a:xfrm>
          <a:prstGeom prst="rect">
            <a:avLst/>
          </a:prstGeom>
        </p:spPr>
      </p:pic>
      <p:sp>
        <p:nvSpPr>
          <p:cNvPr id="17" name="Text 10">
            <a:extLst>
              <a:ext uri="{FF2B5EF4-FFF2-40B4-BE49-F238E27FC236}">
                <a16:creationId xmlns:a16="http://schemas.microsoft.com/office/drawing/2014/main" id="{B7844BC4-9028-9405-D314-B950F14B0E91}"/>
              </a:ext>
            </a:extLst>
          </p:cNvPr>
          <p:cNvSpPr txBox="1"/>
          <p:nvPr/>
        </p:nvSpPr>
        <p:spPr>
          <a:xfrm>
            <a:off x="8355115" y="5422392"/>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Values Alignment  </a:t>
            </a:r>
            <a:endParaRPr lang="en-US" sz="2800" dirty="0"/>
          </a:p>
        </p:txBody>
      </p:sp>
      <p:pic>
        <p:nvPicPr>
          <p:cNvPr id="22" name="Picture 21">
            <a:extLst>
              <a:ext uri="{FF2B5EF4-FFF2-40B4-BE49-F238E27FC236}">
                <a16:creationId xmlns:a16="http://schemas.microsoft.com/office/drawing/2014/main" id="{CAB2E31F-4A3B-5284-F78F-B4BC7B276BB9}"/>
              </a:ext>
            </a:extLst>
          </p:cNvPr>
          <p:cNvPicPr>
            <a:picLocks noChangeAspect="1"/>
          </p:cNvPicPr>
          <p:nvPr/>
        </p:nvPicPr>
        <p:blipFill>
          <a:blip r:embed="rId8"/>
          <a:stretch>
            <a:fillRect/>
          </a:stretch>
        </p:blipFill>
        <p:spPr>
          <a:xfrm>
            <a:off x="548640" y="1402741"/>
            <a:ext cx="4619708" cy="5193157"/>
          </a:xfrm>
          <a:prstGeom prst="rect">
            <a:avLst/>
          </a:prstGeom>
        </p:spPr>
      </p:pic>
      <p:sp>
        <p:nvSpPr>
          <p:cNvPr id="23" name="Isosceles Triangle 22">
            <a:extLst>
              <a:ext uri="{FF2B5EF4-FFF2-40B4-BE49-F238E27FC236}">
                <a16:creationId xmlns:a16="http://schemas.microsoft.com/office/drawing/2014/main" id="{1C6A4F73-8F45-4DFF-E034-F8340C5ACBB8}"/>
              </a:ext>
            </a:extLst>
          </p:cNvPr>
          <p:cNvSpPr/>
          <p:nvPr/>
        </p:nvSpPr>
        <p:spPr>
          <a:xfrm rot="5400000">
            <a:off x="4672890" y="3020911"/>
            <a:ext cx="2650717" cy="1956816"/>
          </a:xfrm>
          <a:prstGeom prst="triangle">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25268822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DFF992E-270D-A84D-2DBD-CAFD6B1B59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5095F15-E299-D75F-09CE-331DF34C6272}"/>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4.2.2b · Emotional Alignment: The State Of Being</a:t>
            </a:r>
            <a:endParaRPr lang="en-US" sz="3600" dirty="0"/>
          </a:p>
        </p:txBody>
      </p:sp>
      <p:sp>
        <p:nvSpPr>
          <p:cNvPr id="21" name="Rounded Rectangle 3">
            <a:extLst>
              <a:ext uri="{FF2B5EF4-FFF2-40B4-BE49-F238E27FC236}">
                <a16:creationId xmlns:a16="http://schemas.microsoft.com/office/drawing/2014/main" id="{AAA27679-D408-71F5-8BE9-9E8D10A3B0D3}"/>
              </a:ext>
            </a:extLst>
          </p:cNvPr>
          <p:cNvSpPr/>
          <p:nvPr/>
        </p:nvSpPr>
        <p:spPr>
          <a:xfrm>
            <a:off x="594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25" name="Oval 24">
            <a:extLst>
              <a:ext uri="{FF2B5EF4-FFF2-40B4-BE49-F238E27FC236}">
                <a16:creationId xmlns:a16="http://schemas.microsoft.com/office/drawing/2014/main" id="{382F4F12-0FDD-C9D1-1D5E-912D87178B68}"/>
              </a:ext>
            </a:extLst>
          </p:cNvPr>
          <p:cNvSpPr/>
          <p:nvPr/>
        </p:nvSpPr>
        <p:spPr>
          <a:xfrm>
            <a:off x="758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1</a:t>
            </a:r>
          </a:p>
        </p:txBody>
      </p:sp>
      <p:sp>
        <p:nvSpPr>
          <p:cNvPr id="27" name="TextBox 26">
            <a:extLst>
              <a:ext uri="{FF2B5EF4-FFF2-40B4-BE49-F238E27FC236}">
                <a16:creationId xmlns:a16="http://schemas.microsoft.com/office/drawing/2014/main" id="{4C13ED1F-C1F8-D0BD-17B7-C040F3AC81B2}"/>
              </a:ext>
            </a:extLst>
          </p:cNvPr>
          <p:cNvSpPr txBox="1"/>
          <p:nvPr/>
        </p:nvSpPr>
        <p:spPr>
          <a:xfrm>
            <a:off x="1435608" y="1313950"/>
            <a:ext cx="425251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dirty="0">
                <a:ln>
                  <a:noFill/>
                </a:ln>
                <a:solidFill>
                  <a:srgbClr val="166030"/>
                </a:solidFill>
                <a:effectLst/>
                <a:uLnTx/>
                <a:uFillTx/>
                <a:ea typeface="+mn-ea"/>
                <a:cs typeface="+mn-cs"/>
              </a:rPr>
              <a:t>NAME — Name the emotional state</a:t>
            </a:r>
          </a:p>
        </p:txBody>
      </p:sp>
      <p:sp>
        <p:nvSpPr>
          <p:cNvPr id="29" name="TextBox 28">
            <a:extLst>
              <a:ext uri="{FF2B5EF4-FFF2-40B4-BE49-F238E27FC236}">
                <a16:creationId xmlns:a16="http://schemas.microsoft.com/office/drawing/2014/main" id="{E05A9768-BB36-D275-72E7-26BADE294930}"/>
              </a:ext>
            </a:extLst>
          </p:cNvPr>
          <p:cNvSpPr txBox="1"/>
          <p:nvPr/>
        </p:nvSpPr>
        <p:spPr>
          <a:xfrm>
            <a:off x="1435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“There seems to be a lot of frustration around this strategy change. Is that a fair reading?”</a:t>
            </a:r>
          </a:p>
        </p:txBody>
      </p:sp>
      <p:sp>
        <p:nvSpPr>
          <p:cNvPr id="31" name="Rounded Rectangle 7">
            <a:extLst>
              <a:ext uri="{FF2B5EF4-FFF2-40B4-BE49-F238E27FC236}">
                <a16:creationId xmlns:a16="http://schemas.microsoft.com/office/drawing/2014/main" id="{85DD8811-D3B6-43F8-9FD0-EED57D65F4E1}"/>
              </a:ext>
            </a:extLst>
          </p:cNvPr>
          <p:cNvSpPr/>
          <p:nvPr/>
        </p:nvSpPr>
        <p:spPr>
          <a:xfrm>
            <a:off x="6309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33" name="Oval 32">
            <a:extLst>
              <a:ext uri="{FF2B5EF4-FFF2-40B4-BE49-F238E27FC236}">
                <a16:creationId xmlns:a16="http://schemas.microsoft.com/office/drawing/2014/main" id="{8EB60B86-526D-FFEB-C8AF-6EDB50803D60}"/>
              </a:ext>
            </a:extLst>
          </p:cNvPr>
          <p:cNvSpPr/>
          <p:nvPr/>
        </p:nvSpPr>
        <p:spPr>
          <a:xfrm>
            <a:off x="6473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2</a:t>
            </a:r>
          </a:p>
        </p:txBody>
      </p:sp>
      <p:sp>
        <p:nvSpPr>
          <p:cNvPr id="35" name="TextBox 34">
            <a:extLst>
              <a:ext uri="{FF2B5EF4-FFF2-40B4-BE49-F238E27FC236}">
                <a16:creationId xmlns:a16="http://schemas.microsoft.com/office/drawing/2014/main" id="{E3DD1554-63DD-587D-50FE-F243C20095CE}"/>
              </a:ext>
            </a:extLst>
          </p:cNvPr>
          <p:cNvSpPr txBox="1"/>
          <p:nvPr/>
        </p:nvSpPr>
        <p:spPr>
          <a:xfrm>
            <a:off x="7150608" y="1313950"/>
            <a:ext cx="237026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ASK — Ask directly</a:t>
            </a:r>
          </a:p>
        </p:txBody>
      </p:sp>
      <p:sp>
        <p:nvSpPr>
          <p:cNvPr id="37" name="TextBox 36">
            <a:extLst>
              <a:ext uri="{FF2B5EF4-FFF2-40B4-BE49-F238E27FC236}">
                <a16:creationId xmlns:a16="http://schemas.microsoft.com/office/drawing/2014/main" id="{15D030B0-61D5-6532-7518-F596E2AB930D}"/>
              </a:ext>
            </a:extLst>
          </p:cNvPr>
          <p:cNvSpPr txBox="1"/>
          <p:nvPr/>
        </p:nvSpPr>
        <p:spPr>
          <a:xfrm>
            <a:off x="7150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“What emotion best describes how you are experiencing this strategy right now?”</a:t>
            </a:r>
          </a:p>
        </p:txBody>
      </p:sp>
      <p:sp>
        <p:nvSpPr>
          <p:cNvPr id="39" name="Rounded Rectangle 11">
            <a:extLst>
              <a:ext uri="{FF2B5EF4-FFF2-40B4-BE49-F238E27FC236}">
                <a16:creationId xmlns:a16="http://schemas.microsoft.com/office/drawing/2014/main" id="{673481AA-A993-35CF-CF24-3B2757D6CE88}"/>
              </a:ext>
            </a:extLst>
          </p:cNvPr>
          <p:cNvSpPr/>
          <p:nvPr/>
        </p:nvSpPr>
        <p:spPr>
          <a:xfrm>
            <a:off x="594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1" name="Oval 40">
            <a:extLst>
              <a:ext uri="{FF2B5EF4-FFF2-40B4-BE49-F238E27FC236}">
                <a16:creationId xmlns:a16="http://schemas.microsoft.com/office/drawing/2014/main" id="{338B9077-0B06-1FC0-1C3C-F1C9FB358864}"/>
              </a:ext>
            </a:extLst>
          </p:cNvPr>
          <p:cNvSpPr/>
          <p:nvPr/>
        </p:nvSpPr>
        <p:spPr>
          <a:xfrm>
            <a:off x="758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3</a:t>
            </a:r>
          </a:p>
        </p:txBody>
      </p:sp>
      <p:sp>
        <p:nvSpPr>
          <p:cNvPr id="43" name="TextBox 42">
            <a:extLst>
              <a:ext uri="{FF2B5EF4-FFF2-40B4-BE49-F238E27FC236}">
                <a16:creationId xmlns:a16="http://schemas.microsoft.com/office/drawing/2014/main" id="{DEA2C57E-40C7-AF02-F3D5-B8B0183EBDA1}"/>
              </a:ext>
            </a:extLst>
          </p:cNvPr>
          <p:cNvSpPr txBox="1"/>
          <p:nvPr/>
        </p:nvSpPr>
        <p:spPr>
          <a:xfrm>
            <a:off x="1435608" y="2792899"/>
            <a:ext cx="384554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OBSERVE — Observe behaviour</a:t>
            </a:r>
          </a:p>
        </p:txBody>
      </p:sp>
      <p:sp>
        <p:nvSpPr>
          <p:cNvPr id="45" name="TextBox 44">
            <a:extLst>
              <a:ext uri="{FF2B5EF4-FFF2-40B4-BE49-F238E27FC236}">
                <a16:creationId xmlns:a16="http://schemas.microsoft.com/office/drawing/2014/main" id="{38B15685-14C4-2121-2B4B-2FA799986BBF}"/>
              </a:ext>
            </a:extLst>
          </p:cNvPr>
          <p:cNvSpPr txBox="1"/>
          <p:nvPr/>
        </p:nvSpPr>
        <p:spPr>
          <a:xfrm>
            <a:off x="1435608" y="313758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A team that was vocal becomes unusually quiet. Ask what is behind the silence.</a:t>
            </a:r>
          </a:p>
        </p:txBody>
      </p:sp>
      <p:sp>
        <p:nvSpPr>
          <p:cNvPr id="47" name="Rounded Rectangle 15">
            <a:extLst>
              <a:ext uri="{FF2B5EF4-FFF2-40B4-BE49-F238E27FC236}">
                <a16:creationId xmlns:a16="http://schemas.microsoft.com/office/drawing/2014/main" id="{517CEFE7-E99E-95BF-4F3C-879161DFAD73}"/>
              </a:ext>
            </a:extLst>
          </p:cNvPr>
          <p:cNvSpPr/>
          <p:nvPr/>
        </p:nvSpPr>
        <p:spPr>
          <a:xfrm>
            <a:off x="6309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9" name="Oval 48">
            <a:extLst>
              <a:ext uri="{FF2B5EF4-FFF2-40B4-BE49-F238E27FC236}">
                <a16:creationId xmlns:a16="http://schemas.microsoft.com/office/drawing/2014/main" id="{F580895D-5E6C-4CA1-297E-4AC446559FCC}"/>
              </a:ext>
            </a:extLst>
          </p:cNvPr>
          <p:cNvSpPr/>
          <p:nvPr/>
        </p:nvSpPr>
        <p:spPr>
          <a:xfrm>
            <a:off x="6473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4</a:t>
            </a:r>
          </a:p>
        </p:txBody>
      </p:sp>
      <p:sp>
        <p:nvSpPr>
          <p:cNvPr id="51" name="TextBox 50">
            <a:extLst>
              <a:ext uri="{FF2B5EF4-FFF2-40B4-BE49-F238E27FC236}">
                <a16:creationId xmlns:a16="http://schemas.microsoft.com/office/drawing/2014/main" id="{7B24C59E-EEC3-DAEE-5002-F33CD3D02EBA}"/>
              </a:ext>
            </a:extLst>
          </p:cNvPr>
          <p:cNvSpPr txBox="1"/>
          <p:nvPr/>
        </p:nvSpPr>
        <p:spPr>
          <a:xfrm>
            <a:off x="7150608" y="2792899"/>
            <a:ext cx="33289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NOTICE — Notice attention</a:t>
            </a:r>
          </a:p>
        </p:txBody>
      </p:sp>
      <p:sp>
        <p:nvSpPr>
          <p:cNvPr id="53" name="TextBox 52">
            <a:extLst>
              <a:ext uri="{FF2B5EF4-FFF2-40B4-BE49-F238E27FC236}">
                <a16:creationId xmlns:a16="http://schemas.microsoft.com/office/drawing/2014/main" id="{2D6BE733-BD9B-5707-2F33-9AFCE9195B8D}"/>
              </a:ext>
            </a:extLst>
          </p:cNvPr>
          <p:cNvSpPr txBox="1"/>
          <p:nvPr/>
        </p:nvSpPr>
        <p:spPr>
          <a:xfrm>
            <a:off x="7150608" y="3145536"/>
            <a:ext cx="4233672" cy="132343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People keep focusing on what could go wrong. Fear may be directing attention towards risk and self-protection.</a:t>
            </a:r>
          </a:p>
        </p:txBody>
      </p:sp>
      <p:sp>
        <p:nvSpPr>
          <p:cNvPr id="55" name="Rounded Rectangle 19">
            <a:extLst>
              <a:ext uri="{FF2B5EF4-FFF2-40B4-BE49-F238E27FC236}">
                <a16:creationId xmlns:a16="http://schemas.microsoft.com/office/drawing/2014/main" id="{A0CA4807-EAC8-DC18-BADF-C8139AC7D9FD}"/>
              </a:ext>
            </a:extLst>
          </p:cNvPr>
          <p:cNvSpPr/>
          <p:nvPr/>
        </p:nvSpPr>
        <p:spPr>
          <a:xfrm>
            <a:off x="594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57" name="Oval 56">
            <a:extLst>
              <a:ext uri="{FF2B5EF4-FFF2-40B4-BE49-F238E27FC236}">
                <a16:creationId xmlns:a16="http://schemas.microsoft.com/office/drawing/2014/main" id="{3ACBAC87-D574-07A5-2F02-46C69DCF9BB0}"/>
              </a:ext>
            </a:extLst>
          </p:cNvPr>
          <p:cNvSpPr/>
          <p:nvPr/>
        </p:nvSpPr>
        <p:spPr>
          <a:xfrm>
            <a:off x="758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5</a:t>
            </a:r>
          </a:p>
        </p:txBody>
      </p:sp>
      <p:sp>
        <p:nvSpPr>
          <p:cNvPr id="59" name="TextBox 58">
            <a:extLst>
              <a:ext uri="{FF2B5EF4-FFF2-40B4-BE49-F238E27FC236}">
                <a16:creationId xmlns:a16="http://schemas.microsoft.com/office/drawing/2014/main" id="{1A58470D-F74B-2E33-5122-85F4D4E62386}"/>
              </a:ext>
            </a:extLst>
          </p:cNvPr>
          <p:cNvSpPr txBox="1"/>
          <p:nvPr/>
        </p:nvSpPr>
        <p:spPr>
          <a:xfrm>
            <a:off x="1435608" y="4232078"/>
            <a:ext cx="440922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WATCH — Watch energy &amp; challenge</a:t>
            </a:r>
          </a:p>
        </p:txBody>
      </p:sp>
      <p:sp>
        <p:nvSpPr>
          <p:cNvPr id="61" name="TextBox 60">
            <a:extLst>
              <a:ext uri="{FF2B5EF4-FFF2-40B4-BE49-F238E27FC236}">
                <a16:creationId xmlns:a16="http://schemas.microsoft.com/office/drawing/2014/main" id="{F42A507B-28D7-FA98-1242-70C640D488CB}"/>
              </a:ext>
            </a:extLst>
          </p:cNvPr>
          <p:cNvSpPr txBox="1"/>
          <p:nvPr/>
        </p:nvSpPr>
        <p:spPr>
          <a:xfrm>
            <a:off x="1435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Low contribution, slipping deadlines or defensive debate may signal fatigue, anger or frustration.</a:t>
            </a:r>
          </a:p>
        </p:txBody>
      </p:sp>
      <p:sp>
        <p:nvSpPr>
          <p:cNvPr id="63" name="Rounded Rectangle 23">
            <a:extLst>
              <a:ext uri="{FF2B5EF4-FFF2-40B4-BE49-F238E27FC236}">
                <a16:creationId xmlns:a16="http://schemas.microsoft.com/office/drawing/2014/main" id="{AFC9623B-F15A-927E-EBE7-1A710E206B5E}"/>
              </a:ext>
            </a:extLst>
          </p:cNvPr>
          <p:cNvSpPr/>
          <p:nvPr/>
        </p:nvSpPr>
        <p:spPr>
          <a:xfrm>
            <a:off x="6309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65" name="Oval 64">
            <a:extLst>
              <a:ext uri="{FF2B5EF4-FFF2-40B4-BE49-F238E27FC236}">
                <a16:creationId xmlns:a16="http://schemas.microsoft.com/office/drawing/2014/main" id="{BE6C456C-05C6-6E78-2630-261C42F98F81}"/>
              </a:ext>
            </a:extLst>
          </p:cNvPr>
          <p:cNvSpPr/>
          <p:nvPr/>
        </p:nvSpPr>
        <p:spPr>
          <a:xfrm>
            <a:off x="6473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6</a:t>
            </a:r>
          </a:p>
        </p:txBody>
      </p:sp>
      <p:sp>
        <p:nvSpPr>
          <p:cNvPr id="67" name="TextBox 66">
            <a:extLst>
              <a:ext uri="{FF2B5EF4-FFF2-40B4-BE49-F238E27FC236}">
                <a16:creationId xmlns:a16="http://schemas.microsoft.com/office/drawing/2014/main" id="{29870982-BF94-6454-B100-5CC9313058A2}"/>
              </a:ext>
            </a:extLst>
          </p:cNvPr>
          <p:cNvSpPr txBox="1"/>
          <p:nvPr/>
        </p:nvSpPr>
        <p:spPr>
          <a:xfrm>
            <a:off x="7150608" y="4232078"/>
            <a:ext cx="38963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LISTEN — Listen to the language</a:t>
            </a:r>
          </a:p>
        </p:txBody>
      </p:sp>
      <p:sp>
        <p:nvSpPr>
          <p:cNvPr id="69" name="TextBox 68">
            <a:extLst>
              <a:ext uri="{FF2B5EF4-FFF2-40B4-BE49-F238E27FC236}">
                <a16:creationId xmlns:a16="http://schemas.microsoft.com/office/drawing/2014/main" id="{DA67B124-BCDF-FDAC-9E12-D090FAEC0E02}"/>
              </a:ext>
            </a:extLst>
          </p:cNvPr>
          <p:cNvSpPr txBox="1"/>
          <p:nvPr/>
        </p:nvSpPr>
        <p:spPr>
          <a:xfrm>
            <a:off x="7150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“What is the point?” · “They have already decided.” · “Just do what they want.”</a:t>
            </a:r>
          </a:p>
        </p:txBody>
      </p:sp>
      <p:sp>
        <p:nvSpPr>
          <p:cNvPr id="71" name="Rounded Rectangle 27">
            <a:extLst>
              <a:ext uri="{FF2B5EF4-FFF2-40B4-BE49-F238E27FC236}">
                <a16:creationId xmlns:a16="http://schemas.microsoft.com/office/drawing/2014/main" id="{13974345-241F-EDC9-D95E-80DCB737543B}"/>
              </a:ext>
            </a:extLst>
          </p:cNvPr>
          <p:cNvSpPr/>
          <p:nvPr/>
        </p:nvSpPr>
        <p:spPr>
          <a:xfrm>
            <a:off x="594360" y="5563923"/>
            <a:ext cx="10972800" cy="106450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73" name="Oval 72">
            <a:extLst>
              <a:ext uri="{FF2B5EF4-FFF2-40B4-BE49-F238E27FC236}">
                <a16:creationId xmlns:a16="http://schemas.microsoft.com/office/drawing/2014/main" id="{4AB77C67-64EE-303C-4FC0-2749EAE72EAF}"/>
              </a:ext>
            </a:extLst>
          </p:cNvPr>
          <p:cNvSpPr/>
          <p:nvPr/>
        </p:nvSpPr>
        <p:spPr>
          <a:xfrm>
            <a:off x="758952" y="5746803"/>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7</a:t>
            </a:r>
          </a:p>
        </p:txBody>
      </p:sp>
      <p:sp>
        <p:nvSpPr>
          <p:cNvPr id="75" name="TextBox 74">
            <a:extLst>
              <a:ext uri="{FF2B5EF4-FFF2-40B4-BE49-F238E27FC236}">
                <a16:creationId xmlns:a16="http://schemas.microsoft.com/office/drawing/2014/main" id="{11B3D9FE-0EAD-E72D-45E4-2DE34891ED7B}"/>
              </a:ext>
            </a:extLst>
          </p:cNvPr>
          <p:cNvSpPr txBox="1"/>
          <p:nvPr/>
        </p:nvSpPr>
        <p:spPr>
          <a:xfrm>
            <a:off x="1435608" y="5655363"/>
            <a:ext cx="526079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CONNECT — Connect emotion to behaviour</a:t>
            </a:r>
          </a:p>
        </p:txBody>
      </p:sp>
      <p:sp>
        <p:nvSpPr>
          <p:cNvPr id="77" name="TextBox 76">
            <a:extLst>
              <a:ext uri="{FF2B5EF4-FFF2-40B4-BE49-F238E27FC236}">
                <a16:creationId xmlns:a16="http://schemas.microsoft.com/office/drawing/2014/main" id="{E746D57D-9211-B886-18CF-209A86FA0D16}"/>
              </a:ext>
            </a:extLst>
          </p:cNvPr>
          <p:cNvSpPr txBox="1"/>
          <p:nvPr/>
        </p:nvSpPr>
        <p:spPr>
          <a:xfrm>
            <a:off x="1435608" y="5920539"/>
            <a:ext cx="9948672" cy="707886"/>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“Where is this emotion showing up—in collaboration, decisions, effort or willingness to speak?”</a:t>
            </a:r>
          </a:p>
        </p:txBody>
      </p:sp>
    </p:spTree>
    <p:extLst>
      <p:ext uri="{BB962C8B-B14F-4D97-AF65-F5344CB8AC3E}">
        <p14:creationId xmlns:p14="http://schemas.microsoft.com/office/powerpoint/2010/main" val="3375783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4.2.3 · Six Principles For Debiasing Strategy</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a:t>
            </a:r>
            <a:r>
              <a:rPr lang="en-US" sz="2400" dirty="0">
                <a:solidFill>
                  <a:srgbClr val="1F2A22"/>
                </a:solidFill>
                <a:latin typeface="Calibri" pitchFamily="34" charset="0"/>
                <a:ea typeface="Calibri" pitchFamily="34" charset="-122"/>
                <a:cs typeface="Calibri" pitchFamily="34" charset="-120"/>
              </a:rPr>
              <a:t>Separate ideation from evaluation.</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a:t>
            </a:r>
            <a:r>
              <a:rPr lang="en-US" sz="2400" dirty="0">
                <a:solidFill>
                  <a:srgbClr val="1F2A22"/>
                </a:solidFill>
                <a:latin typeface="Calibri" pitchFamily="34" charset="0"/>
                <a:ea typeface="Calibri" pitchFamily="34" charset="-122"/>
                <a:cs typeface="Calibri" pitchFamily="34" charset="-120"/>
              </a:rPr>
              <a:t>Name the emotional temperature before the strategic content.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a:t>
            </a:r>
            <a:r>
              <a:rPr lang="en-US" sz="2400" dirty="0">
                <a:solidFill>
                  <a:srgbClr val="1F2A22"/>
                </a:solidFill>
                <a:latin typeface="Calibri" pitchFamily="34" charset="0"/>
                <a:ea typeface="Calibri" pitchFamily="34" charset="-122"/>
                <a:cs typeface="Calibri" pitchFamily="34" charset="-120"/>
              </a:rPr>
              <a:t>Assign a designated challenger role.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a:t>
            </a:r>
            <a:r>
              <a:rPr lang="en-US" sz="2400" dirty="0">
                <a:solidFill>
                  <a:srgbClr val="1F2A22"/>
                </a:solidFill>
                <a:latin typeface="Calibri" pitchFamily="34" charset="0"/>
                <a:ea typeface="Calibri" pitchFamily="34" charset="-122"/>
                <a:cs typeface="Calibri" pitchFamily="34" charset="-120"/>
              </a:rPr>
              <a:t>Use pre-mortem analysis as standard practice.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5  </a:t>
            </a:r>
            <a:r>
              <a:rPr lang="en-US" sz="2400" dirty="0">
                <a:solidFill>
                  <a:srgbClr val="1F2A22"/>
                </a:solidFill>
                <a:latin typeface="Calibri" pitchFamily="34" charset="0"/>
                <a:ea typeface="Calibri" pitchFamily="34" charset="-122"/>
                <a:cs typeface="Calibri" pitchFamily="34" charset="-120"/>
              </a:rPr>
              <a:t>Make the reference class visible.</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6  </a:t>
            </a:r>
            <a:r>
              <a:rPr lang="en-US" sz="2400" dirty="0">
                <a:solidFill>
                  <a:srgbClr val="1F2A22"/>
                </a:solidFill>
                <a:latin typeface="Calibri" pitchFamily="34" charset="0"/>
                <a:ea typeface="Calibri" pitchFamily="34" charset="-122"/>
                <a:cs typeface="Calibri" pitchFamily="34" charset="-120"/>
              </a:rPr>
              <a:t>Create after-action protocols.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FC277-4D5B-C658-961E-0DB6E133B90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AA76D62-704C-8963-0313-9F7FD9624E83}"/>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4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558AD7DF-CFD5-53C0-4A74-0CCFA9E91FC9}"/>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4.2</a:t>
            </a:r>
          </a:p>
        </p:txBody>
      </p:sp>
      <p:pic>
        <p:nvPicPr>
          <p:cNvPr id="4" name="Picture 3">
            <a:extLst>
              <a:ext uri="{FF2B5EF4-FFF2-40B4-BE49-F238E27FC236}">
                <a16:creationId xmlns:a16="http://schemas.microsoft.com/office/drawing/2014/main" id="{E4975986-2782-9EC2-114A-0E2A50F42147}"/>
              </a:ext>
            </a:extLst>
          </p:cNvPr>
          <p:cNvPicPr>
            <a:picLocks noChangeAspect="1"/>
          </p:cNvPicPr>
          <p:nvPr/>
        </p:nvPicPr>
        <p:blipFill>
          <a:blip r:embed="rId3"/>
          <a:stretch>
            <a:fillRect/>
          </a:stretch>
        </p:blipFill>
        <p:spPr>
          <a:xfrm>
            <a:off x="1107323" y="3326788"/>
            <a:ext cx="10593905" cy="1249393"/>
          </a:xfrm>
          <a:prstGeom prst="rect">
            <a:avLst/>
          </a:prstGeom>
        </p:spPr>
      </p:pic>
      <p:pic>
        <p:nvPicPr>
          <p:cNvPr id="5" name="Picture 4">
            <a:extLst>
              <a:ext uri="{FF2B5EF4-FFF2-40B4-BE49-F238E27FC236}">
                <a16:creationId xmlns:a16="http://schemas.microsoft.com/office/drawing/2014/main" id="{5A31D79F-0BD6-1241-C4C3-D1F062434C68}"/>
              </a:ext>
            </a:extLst>
          </p:cNvPr>
          <p:cNvPicPr>
            <a:picLocks noChangeAspect="1"/>
          </p:cNvPicPr>
          <p:nvPr/>
        </p:nvPicPr>
        <p:blipFill>
          <a:blip r:embed="rId4"/>
          <a:stretch>
            <a:fillRect/>
          </a:stretch>
        </p:blipFill>
        <p:spPr>
          <a:xfrm>
            <a:off x="1107323" y="1710639"/>
            <a:ext cx="10560894" cy="1249392"/>
          </a:xfrm>
          <a:prstGeom prst="rect">
            <a:avLst/>
          </a:prstGeom>
        </p:spPr>
      </p:pic>
    </p:spTree>
    <p:extLst>
      <p:ext uri="{BB962C8B-B14F-4D97-AF65-F5344CB8AC3E}">
        <p14:creationId xmlns:p14="http://schemas.microsoft.com/office/powerpoint/2010/main" val="22321200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From individual thinking to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conditions that turn individual perspectives into collective intelligence within a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Prioritise the organisational practices that would most strengthen collective decision quality.</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Creating Collective Intelligence for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Integration is where the “Me” becomes “We.”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At which phase in your current strategy process are you most exposed?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The Three Pillars Of Integration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Cognitive Integration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Build a single version of the truth.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Behavioural Guardrails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Stop the “loudest voice” winning by default.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Emotional Stabilisation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Move the team from defensiveness to curiosity.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pillars reinforce each other.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5.2.1 · Neutralising Bias in the Strategy Room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72-Hour Pre-Read Mandate  - </a:t>
            </a:r>
            <a:r>
              <a:rPr lang="en-US" sz="2600" dirty="0">
                <a:solidFill>
                  <a:srgbClr val="1F2A22"/>
                </a:solidFill>
                <a:latin typeface="Calibri" pitchFamily="34" charset="0"/>
                <a:ea typeface="Calibri" pitchFamily="34" charset="-122"/>
                <a:cs typeface="Calibri" pitchFamily="34" charset="-120"/>
              </a:rPr>
              <a:t>Anchoring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Rotating Neutral Facilitation - </a:t>
            </a:r>
            <a:r>
              <a:rPr lang="en-US" sz="2600" dirty="0">
                <a:solidFill>
                  <a:srgbClr val="1F2A22"/>
                </a:solidFill>
                <a:latin typeface="Calibri" pitchFamily="34" charset="0"/>
                <a:ea typeface="Calibri" pitchFamily="34" charset="-122"/>
                <a:cs typeface="Calibri" pitchFamily="34" charset="-120"/>
              </a:rPr>
              <a:t>Authority Bias &amp; Groupthink</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Blind Ideation  </a:t>
            </a:r>
            <a:r>
              <a:rPr lang="en-US" sz="2600" dirty="0">
                <a:solidFill>
                  <a:srgbClr val="1F2A22"/>
                </a:solidFill>
                <a:latin typeface="Calibri" pitchFamily="34" charset="0"/>
                <a:ea typeface="Calibri" pitchFamily="34" charset="-122"/>
                <a:cs typeface="Calibri" pitchFamily="34" charset="-120"/>
              </a:rPr>
              <a:t>Conformity &amp; Halo Effect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“Challenge Clock”  </a:t>
            </a:r>
            <a:r>
              <a:rPr lang="en-US" sz="2600" dirty="0">
                <a:solidFill>
                  <a:srgbClr val="1F2A22"/>
                </a:solidFill>
                <a:latin typeface="Calibri" pitchFamily="34" charset="0"/>
                <a:ea typeface="Calibri" pitchFamily="34" charset="-122"/>
                <a:cs typeface="Calibri" pitchFamily="34" charset="-120"/>
              </a:rPr>
              <a:t>Action-Oriented rush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Silent Deliberation  </a:t>
            </a:r>
            <a:r>
              <a:rPr lang="en-US" sz="2600" dirty="0">
                <a:solidFill>
                  <a:srgbClr val="1F2A22"/>
                </a:solidFill>
                <a:latin typeface="Calibri" pitchFamily="34" charset="0"/>
                <a:ea typeface="Calibri" pitchFamily="34" charset="-122"/>
                <a:cs typeface="Calibri" pitchFamily="34" charset="-120"/>
              </a:rPr>
              <a:t>Availability Bias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5.2.2 · In Leadership Culture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Public Cognitive Humility  </a:t>
            </a:r>
            <a:r>
              <a:rPr lang="en-US" sz="2600" dirty="0">
                <a:solidFill>
                  <a:srgbClr val="1F2A22"/>
                </a:solidFill>
                <a:latin typeface="Calibri" pitchFamily="34" charset="0"/>
                <a:ea typeface="Calibri" pitchFamily="34" charset="-122"/>
                <a:cs typeface="Calibri" pitchFamily="34" charset="-120"/>
              </a:rPr>
              <a:t>Overconfidence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 360s  </a:t>
            </a:r>
            <a:r>
              <a:rPr lang="en-US" sz="2600" dirty="0">
                <a:solidFill>
                  <a:srgbClr val="1F2A22"/>
                </a:solidFill>
                <a:latin typeface="Calibri" pitchFamily="34" charset="0"/>
                <a:ea typeface="Calibri" pitchFamily="34" charset="-122"/>
                <a:cs typeface="Calibri" pitchFamily="34" charset="-120"/>
              </a:rPr>
              <a:t>Self-Interest &amp; Perspective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Debiasing Coaching  </a:t>
            </a:r>
            <a:r>
              <a:rPr lang="en-US" sz="2600" dirty="0">
                <a:solidFill>
                  <a:srgbClr val="1F2A22"/>
                </a:solidFill>
                <a:latin typeface="Calibri" pitchFamily="34" charset="0"/>
                <a:ea typeface="Calibri" pitchFamily="34" charset="-122"/>
                <a:cs typeface="Calibri" pitchFamily="34" charset="-120"/>
              </a:rPr>
              <a:t>System 1 dominance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Safety Metrics  </a:t>
            </a:r>
            <a:r>
              <a:rPr lang="en-US" sz="2600" dirty="0">
                <a:solidFill>
                  <a:srgbClr val="1F2A22"/>
                </a:solidFill>
                <a:latin typeface="Calibri" pitchFamily="34" charset="0"/>
                <a:ea typeface="Calibri" pitchFamily="34" charset="-122"/>
                <a:cs typeface="Calibri" pitchFamily="34" charset="-120"/>
              </a:rPr>
              <a:t>Innovation Suppression &amp; Career-Risk</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Post-Mortems  </a:t>
            </a:r>
            <a:r>
              <a:rPr lang="en-US" sz="2600" dirty="0">
                <a:solidFill>
                  <a:srgbClr val="1F2A22"/>
                </a:solidFill>
                <a:latin typeface="Calibri" pitchFamily="34" charset="0"/>
                <a:ea typeface="Calibri" pitchFamily="34" charset="-122"/>
                <a:cs typeface="Calibri" pitchFamily="34" charset="-120"/>
              </a:rPr>
              <a:t>Hindsight Bias</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67D40-C5D1-BC68-1E0D-C18B8EFBA2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6C66A42-31DA-D3D7-6662-D8CBBA3AFA99}"/>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5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8C50EA20-78FA-7B4B-6845-B867D325F9CB}"/>
              </a:ext>
            </a:extLst>
          </p:cNvPr>
          <p:cNvSpPr/>
          <p:nvPr/>
        </p:nvSpPr>
        <p:spPr>
          <a:xfrm>
            <a:off x="272788" y="290595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5.1</a:t>
            </a:r>
          </a:p>
        </p:txBody>
      </p:sp>
      <p:pic>
        <p:nvPicPr>
          <p:cNvPr id="4" name="Picture 3">
            <a:extLst>
              <a:ext uri="{FF2B5EF4-FFF2-40B4-BE49-F238E27FC236}">
                <a16:creationId xmlns:a16="http://schemas.microsoft.com/office/drawing/2014/main" id="{FFCE4DB1-21CE-5644-DC49-A5BD942ABD8D}"/>
              </a:ext>
            </a:extLst>
          </p:cNvPr>
          <p:cNvPicPr>
            <a:picLocks noChangeAspect="1"/>
          </p:cNvPicPr>
          <p:nvPr/>
        </p:nvPicPr>
        <p:blipFill>
          <a:blip r:embed="rId3"/>
          <a:stretch>
            <a:fillRect/>
          </a:stretch>
        </p:blipFill>
        <p:spPr>
          <a:xfrm>
            <a:off x="1107321" y="1727294"/>
            <a:ext cx="10672127" cy="1178658"/>
          </a:xfrm>
          <a:prstGeom prst="rect">
            <a:avLst/>
          </a:prstGeom>
        </p:spPr>
      </p:pic>
      <p:pic>
        <p:nvPicPr>
          <p:cNvPr id="6" name="Picture 5">
            <a:extLst>
              <a:ext uri="{FF2B5EF4-FFF2-40B4-BE49-F238E27FC236}">
                <a16:creationId xmlns:a16="http://schemas.microsoft.com/office/drawing/2014/main" id="{F7F49B7F-3274-1547-8F02-1D1631CD127E}"/>
              </a:ext>
            </a:extLst>
          </p:cNvPr>
          <p:cNvPicPr>
            <a:picLocks noChangeAspect="1"/>
          </p:cNvPicPr>
          <p:nvPr/>
        </p:nvPicPr>
        <p:blipFill>
          <a:blip r:embed="rId4"/>
          <a:stretch>
            <a:fillRect/>
          </a:stretch>
        </p:blipFill>
        <p:spPr>
          <a:xfrm>
            <a:off x="1107321" y="2950327"/>
            <a:ext cx="10672127" cy="738839"/>
          </a:xfrm>
          <a:prstGeom prst="rect">
            <a:avLst/>
          </a:prstGeom>
        </p:spPr>
      </p:pic>
      <p:pic>
        <p:nvPicPr>
          <p:cNvPr id="9" name="Picture 8">
            <a:extLst>
              <a:ext uri="{FF2B5EF4-FFF2-40B4-BE49-F238E27FC236}">
                <a16:creationId xmlns:a16="http://schemas.microsoft.com/office/drawing/2014/main" id="{55DC6D83-F7B4-83B0-0B55-8F5B82453683}"/>
              </a:ext>
            </a:extLst>
          </p:cNvPr>
          <p:cNvPicPr>
            <a:picLocks noChangeAspect="1"/>
          </p:cNvPicPr>
          <p:nvPr/>
        </p:nvPicPr>
        <p:blipFill>
          <a:blip r:embed="rId5"/>
          <a:stretch>
            <a:fillRect/>
          </a:stretch>
        </p:blipFill>
        <p:spPr>
          <a:xfrm>
            <a:off x="1107321" y="3743352"/>
            <a:ext cx="10672127" cy="763948"/>
          </a:xfrm>
          <a:prstGeom prst="rect">
            <a:avLst/>
          </a:prstGeom>
        </p:spPr>
      </p:pic>
      <p:sp>
        <p:nvSpPr>
          <p:cNvPr id="13" name="Oval 12">
            <a:extLst>
              <a:ext uri="{FF2B5EF4-FFF2-40B4-BE49-F238E27FC236}">
                <a16:creationId xmlns:a16="http://schemas.microsoft.com/office/drawing/2014/main" id="{1083ED90-1566-EF2A-D8CB-6714992B2CDB}"/>
              </a:ext>
            </a:extLst>
          </p:cNvPr>
          <p:cNvSpPr/>
          <p:nvPr/>
        </p:nvSpPr>
        <p:spPr>
          <a:xfrm>
            <a:off x="272788" y="3789138"/>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5.2</a:t>
            </a:r>
          </a:p>
        </p:txBody>
      </p:sp>
    </p:spTree>
    <p:extLst>
      <p:ext uri="{BB962C8B-B14F-4D97-AF65-F5344CB8AC3E}">
        <p14:creationId xmlns:p14="http://schemas.microsoft.com/office/powerpoint/2010/main" val="2689096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6</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Distortion Lab and the Five Commitments Assessment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your own leadership conduct against the behavioural conditions for sound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Commit to the development priority with the greatest effect on your strategic judgement.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Distortion Lab: The Growth Decision</a:t>
            </a:r>
            <a:endParaRPr lang="en-US" sz="3600" dirty="0"/>
          </a:p>
        </p:txBody>
      </p:sp>
      <p:sp>
        <p:nvSpPr>
          <p:cNvPr id="19" name="TextBox 18">
            <a:extLst>
              <a:ext uri="{FF2B5EF4-FFF2-40B4-BE49-F238E27FC236}">
                <a16:creationId xmlns:a16="http://schemas.microsoft.com/office/drawing/2014/main" id="{02C626F8-B2FA-F8CB-AB52-840606A2C915}"/>
              </a:ext>
            </a:extLst>
          </p:cNvPr>
          <p:cNvSpPr txBox="1"/>
          <p:nvPr/>
        </p:nvSpPr>
        <p:spPr>
          <a:xfrm>
            <a:off x="530352" y="1183156"/>
            <a:ext cx="10881360" cy="329184"/>
          </a:xfrm>
          <a:prstGeom prst="rect">
            <a:avLst/>
          </a:prstGeom>
          <a:noFill/>
        </p:spPr>
        <p:txBody>
          <a:bodyPr wrap="none">
            <a:spAutoFit/>
          </a:bodyPr>
          <a:lstStyle/>
          <a:p>
            <a:pPr>
              <a:defRPr sz="1200">
                <a:solidFill>
                  <a:srgbClr val="696969"/>
                </a:solidFill>
                <a:latin typeface="Aptos"/>
              </a:defRPr>
            </a:pPr>
            <a:r>
              <a:t>ROUND 1 · THE FUNCTIONAL VIEW</a:t>
            </a:r>
          </a:p>
        </p:txBody>
      </p:sp>
      <p:sp>
        <p:nvSpPr>
          <p:cNvPr id="21" name="Rounded Rectangle 3">
            <a:extLst>
              <a:ext uri="{FF2B5EF4-FFF2-40B4-BE49-F238E27FC236}">
                <a16:creationId xmlns:a16="http://schemas.microsoft.com/office/drawing/2014/main" id="{EF424D11-E12F-B53E-6BEF-4E01A8774232}"/>
              </a:ext>
            </a:extLst>
          </p:cNvPr>
          <p:cNvSpPr/>
          <p:nvPr/>
        </p:nvSpPr>
        <p:spPr>
          <a:xfrm>
            <a:off x="594360" y="1603780"/>
            <a:ext cx="10972800" cy="1661438"/>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33D8E0D2-6C1D-9C32-7AB8-FFD9925B7C8C}"/>
              </a:ext>
            </a:extLst>
          </p:cNvPr>
          <p:cNvSpPr txBox="1"/>
          <p:nvPr/>
        </p:nvSpPr>
        <p:spPr>
          <a:xfrm>
            <a:off x="841248" y="1786660"/>
            <a:ext cx="10725912" cy="1569660"/>
          </a:xfrm>
          <a:prstGeom prst="rect">
            <a:avLst/>
          </a:prstGeom>
          <a:noFill/>
        </p:spPr>
        <p:txBody>
          <a:bodyPr wrap="square">
            <a:spAutoFit/>
          </a:bodyPr>
          <a:lstStyle/>
          <a:p>
            <a:pPr>
              <a:defRPr sz="1400" b="1">
                <a:solidFill>
                  <a:srgbClr val="166030"/>
                </a:solidFill>
                <a:latin typeface="Aptos"/>
              </a:defRPr>
            </a:pPr>
            <a:r>
              <a:rPr sz="2400" dirty="0"/>
              <a:t>APEX MANUFACTURING · Industrial Components</a:t>
            </a:r>
          </a:p>
          <a:p>
            <a:pPr>
              <a:defRPr sz="1500">
                <a:solidFill>
                  <a:srgbClr val="1E1E1E"/>
                </a:solidFill>
                <a:latin typeface="Aptos"/>
              </a:defRPr>
            </a:pPr>
            <a:r>
              <a:rPr sz="2400" dirty="0"/>
              <a:t>A mid-sized company with a strong regional reputation. The board wants faster growth while protecting financial stability and operational integrity. The executive team must decide the best strategic direction for the next 12–36 months.</a:t>
            </a:r>
          </a:p>
        </p:txBody>
      </p:sp>
      <p:sp>
        <p:nvSpPr>
          <p:cNvPr id="25" name="Rounded Rectangle 5">
            <a:extLst>
              <a:ext uri="{FF2B5EF4-FFF2-40B4-BE49-F238E27FC236}">
                <a16:creationId xmlns:a16="http://schemas.microsoft.com/office/drawing/2014/main" id="{CDF4E4B9-C17E-1212-F046-D57558794A40}"/>
              </a:ext>
            </a:extLst>
          </p:cNvPr>
          <p:cNvSpPr/>
          <p:nvPr/>
        </p:nvSpPr>
        <p:spPr>
          <a:xfrm>
            <a:off x="594360"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7" name="Oval 26">
            <a:extLst>
              <a:ext uri="{FF2B5EF4-FFF2-40B4-BE49-F238E27FC236}">
                <a16:creationId xmlns:a16="http://schemas.microsoft.com/office/drawing/2014/main" id="{4389E99C-0109-ECCB-FAFF-264CD0D12929}"/>
              </a:ext>
            </a:extLst>
          </p:cNvPr>
          <p:cNvSpPr/>
          <p:nvPr/>
        </p:nvSpPr>
        <p:spPr>
          <a:xfrm>
            <a:off x="740664"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TextBox 28">
            <a:extLst>
              <a:ext uri="{FF2B5EF4-FFF2-40B4-BE49-F238E27FC236}">
                <a16:creationId xmlns:a16="http://schemas.microsoft.com/office/drawing/2014/main" id="{1BD73A33-367A-E0E1-CE62-DF6B051FB66E}"/>
              </a:ext>
            </a:extLst>
          </p:cNvPr>
          <p:cNvSpPr txBox="1"/>
          <p:nvPr/>
        </p:nvSpPr>
        <p:spPr>
          <a:xfrm>
            <a:off x="757800" y="3530393"/>
            <a:ext cx="349776" cy="461665"/>
          </a:xfrm>
          <a:prstGeom prst="rect">
            <a:avLst/>
          </a:prstGeom>
          <a:noFill/>
        </p:spPr>
        <p:txBody>
          <a:bodyPr wrap="square">
            <a:spAutoFit/>
          </a:bodyPr>
          <a:lstStyle/>
          <a:p>
            <a:pPr algn="ctr">
              <a:defRPr sz="1200" b="1">
                <a:solidFill>
                  <a:srgbClr val="FFFFFF"/>
                </a:solidFill>
                <a:latin typeface="Aptos"/>
              </a:defRPr>
            </a:pPr>
            <a:r>
              <a:rPr sz="2400" dirty="0"/>
              <a:t>1</a:t>
            </a:r>
          </a:p>
        </p:txBody>
      </p:sp>
      <p:sp>
        <p:nvSpPr>
          <p:cNvPr id="31" name="TextBox 30">
            <a:extLst>
              <a:ext uri="{FF2B5EF4-FFF2-40B4-BE49-F238E27FC236}">
                <a16:creationId xmlns:a16="http://schemas.microsoft.com/office/drawing/2014/main" id="{C971913A-5784-6464-B3DF-252D6403A69C}"/>
              </a:ext>
            </a:extLst>
          </p:cNvPr>
          <p:cNvSpPr txBox="1"/>
          <p:nvPr/>
        </p:nvSpPr>
        <p:spPr>
          <a:xfrm>
            <a:off x="1216152" y="3457241"/>
            <a:ext cx="1470274" cy="461665"/>
          </a:xfrm>
          <a:prstGeom prst="rect">
            <a:avLst/>
          </a:prstGeom>
          <a:noFill/>
        </p:spPr>
        <p:txBody>
          <a:bodyPr wrap="none">
            <a:spAutoFit/>
          </a:bodyPr>
          <a:lstStyle/>
          <a:p>
            <a:pPr>
              <a:defRPr sz="1200" b="1">
                <a:solidFill>
                  <a:srgbClr val="166030"/>
                </a:solidFill>
                <a:latin typeface="Aptos"/>
              </a:defRPr>
            </a:pPr>
            <a:r>
              <a:rPr sz="2400"/>
              <a:t>FINANCE</a:t>
            </a:r>
          </a:p>
        </p:txBody>
      </p:sp>
      <p:sp>
        <p:nvSpPr>
          <p:cNvPr id="33" name="TextBox 32">
            <a:extLst>
              <a:ext uri="{FF2B5EF4-FFF2-40B4-BE49-F238E27FC236}">
                <a16:creationId xmlns:a16="http://schemas.microsoft.com/office/drawing/2014/main" id="{21228044-C046-8F83-2983-28C7806BF95B}"/>
              </a:ext>
            </a:extLst>
          </p:cNvPr>
          <p:cNvSpPr txBox="1"/>
          <p:nvPr/>
        </p:nvSpPr>
        <p:spPr>
          <a:xfrm>
            <a:off x="758952" y="4359712"/>
            <a:ext cx="2310155" cy="830997"/>
          </a:xfrm>
          <a:prstGeom prst="rect">
            <a:avLst/>
          </a:prstGeom>
          <a:noFill/>
        </p:spPr>
        <p:txBody>
          <a:bodyPr wrap="square">
            <a:spAutoFit/>
          </a:bodyPr>
          <a:lstStyle/>
          <a:p>
            <a:pPr>
              <a:defRPr sz="1150">
                <a:solidFill>
                  <a:srgbClr val="1E1E1E"/>
                </a:solidFill>
                <a:latin typeface="Aptos"/>
              </a:defRPr>
            </a:pPr>
            <a:r>
              <a:rPr sz="2400" dirty="0"/>
              <a:t>Your financial reality</a:t>
            </a:r>
          </a:p>
        </p:txBody>
      </p:sp>
      <p:sp>
        <p:nvSpPr>
          <p:cNvPr id="35" name="Rounded Rectangle 10">
            <a:extLst>
              <a:ext uri="{FF2B5EF4-FFF2-40B4-BE49-F238E27FC236}">
                <a16:creationId xmlns:a16="http://schemas.microsoft.com/office/drawing/2014/main" id="{86C34346-5507-5FC2-0CF1-1668E705FE1E}"/>
              </a:ext>
            </a:extLst>
          </p:cNvPr>
          <p:cNvSpPr/>
          <p:nvPr/>
        </p:nvSpPr>
        <p:spPr>
          <a:xfrm>
            <a:off x="3401568"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7" name="Oval 36">
            <a:extLst>
              <a:ext uri="{FF2B5EF4-FFF2-40B4-BE49-F238E27FC236}">
                <a16:creationId xmlns:a16="http://schemas.microsoft.com/office/drawing/2014/main" id="{F54303D5-B0AF-5A2B-ABBC-42A466DA9C8B}"/>
              </a:ext>
            </a:extLst>
          </p:cNvPr>
          <p:cNvSpPr/>
          <p:nvPr/>
        </p:nvSpPr>
        <p:spPr>
          <a:xfrm>
            <a:off x="3547872"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9" name="TextBox 38">
            <a:extLst>
              <a:ext uri="{FF2B5EF4-FFF2-40B4-BE49-F238E27FC236}">
                <a16:creationId xmlns:a16="http://schemas.microsoft.com/office/drawing/2014/main" id="{18F7B6F5-EA27-A63A-EF58-8CDCDBDAD37B}"/>
              </a:ext>
            </a:extLst>
          </p:cNvPr>
          <p:cNvSpPr txBox="1"/>
          <p:nvPr/>
        </p:nvSpPr>
        <p:spPr>
          <a:xfrm>
            <a:off x="3565008" y="3530393"/>
            <a:ext cx="349776" cy="461665"/>
          </a:xfrm>
          <a:prstGeom prst="rect">
            <a:avLst/>
          </a:prstGeom>
          <a:noFill/>
        </p:spPr>
        <p:txBody>
          <a:bodyPr wrap="none">
            <a:spAutoFit/>
          </a:bodyPr>
          <a:lstStyle/>
          <a:p>
            <a:pPr algn="ctr">
              <a:defRPr sz="1200" b="1">
                <a:solidFill>
                  <a:srgbClr val="FFFFFF"/>
                </a:solidFill>
                <a:latin typeface="Aptos"/>
              </a:defRPr>
            </a:pPr>
            <a:r>
              <a:rPr sz="2400"/>
              <a:t>2</a:t>
            </a:r>
          </a:p>
        </p:txBody>
      </p:sp>
      <p:sp>
        <p:nvSpPr>
          <p:cNvPr id="41" name="TextBox 40">
            <a:extLst>
              <a:ext uri="{FF2B5EF4-FFF2-40B4-BE49-F238E27FC236}">
                <a16:creationId xmlns:a16="http://schemas.microsoft.com/office/drawing/2014/main" id="{FD135C1D-0529-73E7-A0D8-C22189E180BB}"/>
              </a:ext>
            </a:extLst>
          </p:cNvPr>
          <p:cNvSpPr txBox="1"/>
          <p:nvPr/>
        </p:nvSpPr>
        <p:spPr>
          <a:xfrm>
            <a:off x="4023360" y="3457241"/>
            <a:ext cx="1681871" cy="830997"/>
          </a:xfrm>
          <a:prstGeom prst="rect">
            <a:avLst/>
          </a:prstGeom>
          <a:noFill/>
        </p:spPr>
        <p:txBody>
          <a:bodyPr wrap="none">
            <a:spAutoFit/>
          </a:bodyPr>
          <a:lstStyle/>
          <a:p>
            <a:pPr>
              <a:defRPr sz="1200" b="1">
                <a:solidFill>
                  <a:srgbClr val="166030"/>
                </a:solidFill>
                <a:latin typeface="Aptos"/>
              </a:defRPr>
            </a:pPr>
            <a:r>
              <a:rPr sz="2400" dirty="0"/>
              <a:t>MARKET &amp; </a:t>
            </a:r>
            <a:endParaRPr lang="en-ZA" sz="2400" dirty="0"/>
          </a:p>
          <a:p>
            <a:pPr>
              <a:defRPr sz="1200" b="1">
                <a:solidFill>
                  <a:srgbClr val="166030"/>
                </a:solidFill>
                <a:latin typeface="Aptos"/>
              </a:defRPr>
            </a:pPr>
            <a:r>
              <a:rPr sz="2400" dirty="0"/>
              <a:t>STRATEGY</a:t>
            </a:r>
          </a:p>
        </p:txBody>
      </p:sp>
      <p:sp>
        <p:nvSpPr>
          <p:cNvPr id="43" name="TextBox 42">
            <a:extLst>
              <a:ext uri="{FF2B5EF4-FFF2-40B4-BE49-F238E27FC236}">
                <a16:creationId xmlns:a16="http://schemas.microsoft.com/office/drawing/2014/main" id="{9FDB820A-5138-6B60-92F5-14A42C48080A}"/>
              </a:ext>
            </a:extLst>
          </p:cNvPr>
          <p:cNvSpPr txBox="1"/>
          <p:nvPr/>
        </p:nvSpPr>
        <p:spPr>
          <a:xfrm>
            <a:off x="3566160" y="4359712"/>
            <a:ext cx="2400016" cy="830997"/>
          </a:xfrm>
          <a:prstGeom prst="rect">
            <a:avLst/>
          </a:prstGeom>
          <a:noFill/>
        </p:spPr>
        <p:txBody>
          <a:bodyPr wrap="none">
            <a:spAutoFit/>
          </a:bodyPr>
          <a:lstStyle/>
          <a:p>
            <a:pPr>
              <a:defRPr sz="1150">
                <a:solidFill>
                  <a:srgbClr val="1E1E1E"/>
                </a:solidFill>
                <a:latin typeface="Aptos"/>
              </a:defRPr>
            </a:pPr>
            <a:r>
              <a:rPr sz="2400" dirty="0"/>
              <a:t>Your market and </a:t>
            </a:r>
            <a:endParaRPr lang="en-ZA" sz="2400" dirty="0"/>
          </a:p>
          <a:p>
            <a:pPr>
              <a:defRPr sz="1150">
                <a:solidFill>
                  <a:srgbClr val="1E1E1E"/>
                </a:solidFill>
                <a:latin typeface="Aptos"/>
              </a:defRPr>
            </a:pPr>
            <a:r>
              <a:rPr sz="2400" dirty="0"/>
              <a:t>growth reality</a:t>
            </a:r>
          </a:p>
        </p:txBody>
      </p:sp>
      <p:sp>
        <p:nvSpPr>
          <p:cNvPr id="45" name="Rounded Rectangle 15">
            <a:extLst>
              <a:ext uri="{FF2B5EF4-FFF2-40B4-BE49-F238E27FC236}">
                <a16:creationId xmlns:a16="http://schemas.microsoft.com/office/drawing/2014/main" id="{3C797754-AB05-3008-A3E7-34E987BC015C}"/>
              </a:ext>
            </a:extLst>
          </p:cNvPr>
          <p:cNvSpPr/>
          <p:nvPr/>
        </p:nvSpPr>
        <p:spPr>
          <a:xfrm>
            <a:off x="6208776"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7" name="Oval 46">
            <a:extLst>
              <a:ext uri="{FF2B5EF4-FFF2-40B4-BE49-F238E27FC236}">
                <a16:creationId xmlns:a16="http://schemas.microsoft.com/office/drawing/2014/main" id="{CEC3B8F7-C022-7683-6353-593A9E39A71E}"/>
              </a:ext>
            </a:extLst>
          </p:cNvPr>
          <p:cNvSpPr/>
          <p:nvPr/>
        </p:nvSpPr>
        <p:spPr>
          <a:xfrm>
            <a:off x="6355080"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9" name="TextBox 48">
            <a:extLst>
              <a:ext uri="{FF2B5EF4-FFF2-40B4-BE49-F238E27FC236}">
                <a16:creationId xmlns:a16="http://schemas.microsoft.com/office/drawing/2014/main" id="{8DB0D42D-8296-C58E-B6C2-8B22CC2E0165}"/>
              </a:ext>
            </a:extLst>
          </p:cNvPr>
          <p:cNvSpPr txBox="1"/>
          <p:nvPr/>
        </p:nvSpPr>
        <p:spPr>
          <a:xfrm>
            <a:off x="6372216" y="3530393"/>
            <a:ext cx="349776" cy="461665"/>
          </a:xfrm>
          <a:prstGeom prst="rect">
            <a:avLst/>
          </a:prstGeom>
          <a:noFill/>
        </p:spPr>
        <p:txBody>
          <a:bodyPr wrap="none">
            <a:spAutoFit/>
          </a:bodyPr>
          <a:lstStyle/>
          <a:p>
            <a:pPr algn="ctr">
              <a:defRPr sz="1200" b="1">
                <a:solidFill>
                  <a:srgbClr val="FFFFFF"/>
                </a:solidFill>
                <a:latin typeface="Aptos"/>
              </a:defRPr>
            </a:pPr>
            <a:r>
              <a:rPr sz="2400"/>
              <a:t>3</a:t>
            </a:r>
          </a:p>
        </p:txBody>
      </p:sp>
      <p:sp>
        <p:nvSpPr>
          <p:cNvPr id="51" name="TextBox 50">
            <a:extLst>
              <a:ext uri="{FF2B5EF4-FFF2-40B4-BE49-F238E27FC236}">
                <a16:creationId xmlns:a16="http://schemas.microsoft.com/office/drawing/2014/main" id="{28A7142A-82A7-C916-3FD5-F5C2588F6510}"/>
              </a:ext>
            </a:extLst>
          </p:cNvPr>
          <p:cNvSpPr txBox="1"/>
          <p:nvPr/>
        </p:nvSpPr>
        <p:spPr>
          <a:xfrm>
            <a:off x="6830568" y="3457241"/>
            <a:ext cx="2025619" cy="461665"/>
          </a:xfrm>
          <a:prstGeom prst="rect">
            <a:avLst/>
          </a:prstGeom>
          <a:noFill/>
        </p:spPr>
        <p:txBody>
          <a:bodyPr wrap="none">
            <a:spAutoFit/>
          </a:bodyPr>
          <a:lstStyle/>
          <a:p>
            <a:pPr>
              <a:defRPr sz="1200" b="1">
                <a:solidFill>
                  <a:srgbClr val="166030"/>
                </a:solidFill>
                <a:latin typeface="Aptos"/>
              </a:defRPr>
            </a:pPr>
            <a:r>
              <a:rPr sz="2400"/>
              <a:t>OPERATIONS</a:t>
            </a:r>
          </a:p>
        </p:txBody>
      </p:sp>
      <p:sp>
        <p:nvSpPr>
          <p:cNvPr id="53" name="TextBox 52">
            <a:extLst>
              <a:ext uri="{FF2B5EF4-FFF2-40B4-BE49-F238E27FC236}">
                <a16:creationId xmlns:a16="http://schemas.microsoft.com/office/drawing/2014/main" id="{CBE60CA2-0605-2566-7762-9B71E09050B2}"/>
              </a:ext>
            </a:extLst>
          </p:cNvPr>
          <p:cNvSpPr txBox="1"/>
          <p:nvPr/>
        </p:nvSpPr>
        <p:spPr>
          <a:xfrm>
            <a:off x="6373368" y="4359712"/>
            <a:ext cx="2301505" cy="830997"/>
          </a:xfrm>
          <a:prstGeom prst="rect">
            <a:avLst/>
          </a:prstGeom>
          <a:noFill/>
        </p:spPr>
        <p:txBody>
          <a:bodyPr wrap="square">
            <a:spAutoFit/>
          </a:bodyPr>
          <a:lstStyle/>
          <a:p>
            <a:pPr>
              <a:defRPr sz="1150">
                <a:solidFill>
                  <a:srgbClr val="1E1E1E"/>
                </a:solidFill>
                <a:latin typeface="Aptos"/>
              </a:defRPr>
            </a:pPr>
            <a:r>
              <a:rPr sz="2400" dirty="0"/>
              <a:t>Your delivery reality</a:t>
            </a:r>
          </a:p>
        </p:txBody>
      </p:sp>
      <p:sp>
        <p:nvSpPr>
          <p:cNvPr id="55" name="Rounded Rectangle 20">
            <a:extLst>
              <a:ext uri="{FF2B5EF4-FFF2-40B4-BE49-F238E27FC236}">
                <a16:creationId xmlns:a16="http://schemas.microsoft.com/office/drawing/2014/main" id="{275079EB-D2AD-C607-8333-3F99277B2C43}"/>
              </a:ext>
            </a:extLst>
          </p:cNvPr>
          <p:cNvSpPr/>
          <p:nvPr/>
        </p:nvSpPr>
        <p:spPr>
          <a:xfrm>
            <a:off x="9015984"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7" name="Oval 56">
            <a:extLst>
              <a:ext uri="{FF2B5EF4-FFF2-40B4-BE49-F238E27FC236}">
                <a16:creationId xmlns:a16="http://schemas.microsoft.com/office/drawing/2014/main" id="{57817BF0-38E9-112C-94D1-B4DA6236BC3B}"/>
              </a:ext>
            </a:extLst>
          </p:cNvPr>
          <p:cNvSpPr/>
          <p:nvPr/>
        </p:nvSpPr>
        <p:spPr>
          <a:xfrm>
            <a:off x="9162288"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9" name="TextBox 58">
            <a:extLst>
              <a:ext uri="{FF2B5EF4-FFF2-40B4-BE49-F238E27FC236}">
                <a16:creationId xmlns:a16="http://schemas.microsoft.com/office/drawing/2014/main" id="{60057AE7-A6FF-4093-143C-FA7D4D9A4289}"/>
              </a:ext>
            </a:extLst>
          </p:cNvPr>
          <p:cNvSpPr txBox="1"/>
          <p:nvPr/>
        </p:nvSpPr>
        <p:spPr>
          <a:xfrm>
            <a:off x="9179424" y="3530393"/>
            <a:ext cx="349776" cy="461665"/>
          </a:xfrm>
          <a:prstGeom prst="rect">
            <a:avLst/>
          </a:prstGeom>
          <a:noFill/>
        </p:spPr>
        <p:txBody>
          <a:bodyPr wrap="none">
            <a:spAutoFit/>
          </a:bodyPr>
          <a:lstStyle/>
          <a:p>
            <a:pPr algn="ctr">
              <a:defRPr sz="1200" b="1">
                <a:solidFill>
                  <a:srgbClr val="FFFFFF"/>
                </a:solidFill>
                <a:latin typeface="Aptos"/>
              </a:defRPr>
            </a:pPr>
            <a:r>
              <a:rPr sz="2400"/>
              <a:t>4</a:t>
            </a:r>
          </a:p>
        </p:txBody>
      </p:sp>
      <p:sp>
        <p:nvSpPr>
          <p:cNvPr id="61" name="TextBox 60">
            <a:extLst>
              <a:ext uri="{FF2B5EF4-FFF2-40B4-BE49-F238E27FC236}">
                <a16:creationId xmlns:a16="http://schemas.microsoft.com/office/drawing/2014/main" id="{AF2ADE26-F48B-CB0B-8E8B-F4DB7D24F62B}"/>
              </a:ext>
            </a:extLst>
          </p:cNvPr>
          <p:cNvSpPr txBox="1"/>
          <p:nvPr/>
        </p:nvSpPr>
        <p:spPr>
          <a:xfrm>
            <a:off x="9637776" y="3457241"/>
            <a:ext cx="1624355" cy="830997"/>
          </a:xfrm>
          <a:prstGeom prst="rect">
            <a:avLst/>
          </a:prstGeom>
          <a:noFill/>
        </p:spPr>
        <p:txBody>
          <a:bodyPr wrap="none">
            <a:spAutoFit/>
          </a:bodyPr>
          <a:lstStyle/>
          <a:p>
            <a:pPr>
              <a:defRPr sz="1200" b="1">
                <a:solidFill>
                  <a:srgbClr val="166030"/>
                </a:solidFill>
                <a:latin typeface="Aptos"/>
              </a:defRPr>
            </a:pPr>
            <a:r>
              <a:rPr sz="2400" dirty="0"/>
              <a:t>PEOPLE &amp; </a:t>
            </a:r>
            <a:endParaRPr lang="en-ZA" sz="2400" dirty="0"/>
          </a:p>
          <a:p>
            <a:pPr>
              <a:defRPr sz="1200" b="1">
                <a:solidFill>
                  <a:srgbClr val="166030"/>
                </a:solidFill>
                <a:latin typeface="Aptos"/>
              </a:defRPr>
            </a:pPr>
            <a:r>
              <a:rPr sz="2400" dirty="0"/>
              <a:t>CULTURE</a:t>
            </a:r>
          </a:p>
        </p:txBody>
      </p:sp>
      <p:sp>
        <p:nvSpPr>
          <p:cNvPr id="63" name="TextBox 62">
            <a:extLst>
              <a:ext uri="{FF2B5EF4-FFF2-40B4-BE49-F238E27FC236}">
                <a16:creationId xmlns:a16="http://schemas.microsoft.com/office/drawing/2014/main" id="{E58BF566-34BC-F297-75ED-DDB74D46C799}"/>
              </a:ext>
            </a:extLst>
          </p:cNvPr>
          <p:cNvSpPr txBox="1"/>
          <p:nvPr/>
        </p:nvSpPr>
        <p:spPr>
          <a:xfrm>
            <a:off x="9180576" y="4359712"/>
            <a:ext cx="2081555" cy="830997"/>
          </a:xfrm>
          <a:prstGeom prst="rect">
            <a:avLst/>
          </a:prstGeom>
          <a:noFill/>
        </p:spPr>
        <p:txBody>
          <a:bodyPr wrap="square">
            <a:spAutoFit/>
          </a:bodyPr>
          <a:lstStyle/>
          <a:p>
            <a:pPr>
              <a:defRPr sz="1150">
                <a:solidFill>
                  <a:srgbClr val="1E1E1E"/>
                </a:solidFill>
                <a:latin typeface="Aptos"/>
              </a:defRPr>
            </a:pPr>
            <a:r>
              <a:rPr sz="2400" dirty="0"/>
              <a:t>Your people reality</a:t>
            </a:r>
          </a:p>
        </p:txBody>
      </p:sp>
      <p:sp>
        <p:nvSpPr>
          <p:cNvPr id="69" name="TextBox 68">
            <a:extLst>
              <a:ext uri="{FF2B5EF4-FFF2-40B4-BE49-F238E27FC236}">
                <a16:creationId xmlns:a16="http://schemas.microsoft.com/office/drawing/2014/main" id="{B5ECEBC8-849D-254D-4C2B-12D6FC728A4A}"/>
              </a:ext>
            </a:extLst>
          </p:cNvPr>
          <p:cNvSpPr txBox="1"/>
          <p:nvPr/>
        </p:nvSpPr>
        <p:spPr>
          <a:xfrm>
            <a:off x="685800" y="5535700"/>
            <a:ext cx="10789920" cy="1200329"/>
          </a:xfrm>
          <a:prstGeom prst="rect">
            <a:avLst/>
          </a:prstGeom>
          <a:noFill/>
        </p:spPr>
        <p:txBody>
          <a:bodyPr wrap="square">
            <a:spAutoFit/>
          </a:bodyPr>
          <a:lstStyle/>
          <a:p>
            <a:pPr>
              <a:defRPr sz="1700" b="1">
                <a:solidFill>
                  <a:srgbClr val="1E1E1E"/>
                </a:solidFill>
                <a:latin typeface="Georgia"/>
              </a:defRPr>
            </a:pPr>
            <a:r>
              <a:rPr sz="2400" dirty="0"/>
              <a:t>Based only on </a:t>
            </a:r>
            <a:r>
              <a:rPr lang="en-ZA" sz="2400" dirty="0"/>
              <a:t>the knowledge of </a:t>
            </a:r>
            <a:r>
              <a:rPr sz="2400" dirty="0"/>
              <a:t>your function, what should Apex do over the next 12–36 months?</a:t>
            </a:r>
          </a:p>
          <a:p>
            <a:pPr>
              <a:defRPr sz="1300">
                <a:solidFill>
                  <a:srgbClr val="696969"/>
                </a:solidFill>
                <a:latin typeface="Aptos"/>
              </a:defRPr>
            </a:pPr>
            <a:r>
              <a:rPr sz="2400" dirty="0"/>
              <a:t>Prepare one strategic recommendation and the key reason for it.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Phase 1 · Fragmented Reality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1: Finance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Financial sustainability is under pressure.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2: Market &amp; Strategy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Growth acceleration is critical to remain competitive.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3: Operations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Operational system is stretched and fragile.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4: People &amp; Culture</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Organisation may not absorb further strain.</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Phase 2 · Board Options</a:t>
            </a:r>
            <a:endParaRPr lang="en-US" sz="3600" dirty="0"/>
          </a:p>
        </p:txBody>
      </p:sp>
      <p:sp>
        <p:nvSpPr>
          <p:cNvPr id="3" name="Shape 1"/>
          <p:cNvSpPr/>
          <p:nvPr/>
        </p:nvSpPr>
        <p:spPr>
          <a:xfrm>
            <a:off x="548640" y="1508760"/>
            <a:ext cx="3514344" cy="281675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87552"/>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A · Organic Growth</a:t>
            </a:r>
            <a:endParaRPr lang="en-US" sz="2800" dirty="0"/>
          </a:p>
        </p:txBody>
      </p:sp>
      <p:sp>
        <p:nvSpPr>
          <p:cNvPr id="7" name="Text 4"/>
          <p:cNvSpPr txBox="1"/>
          <p:nvPr/>
        </p:nvSpPr>
        <p:spPr>
          <a:xfrm>
            <a:off x="763325" y="3191256"/>
            <a:ext cx="3057144" cy="166420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$40M capacity expansion · 18–22% growth</a:t>
            </a:r>
            <a:endParaRPr lang="en-US" sz="2400" dirty="0"/>
          </a:p>
        </p:txBody>
      </p:sp>
      <p:sp>
        <p:nvSpPr>
          <p:cNvPr id="8" name="Shape 5"/>
          <p:cNvSpPr/>
          <p:nvPr/>
        </p:nvSpPr>
        <p:spPr>
          <a:xfrm>
            <a:off x="4337304" y="1508760"/>
            <a:ext cx="3514344" cy="281675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B · Acquisition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$65M · 35–45% growth · 40% of similar deals underperform</a:t>
            </a:r>
            <a:endParaRPr lang="en-US" sz="2400" dirty="0"/>
          </a:p>
        </p:txBody>
      </p:sp>
      <p:sp>
        <p:nvSpPr>
          <p:cNvPr id="13" name="Shape 9"/>
          <p:cNvSpPr/>
          <p:nvPr/>
        </p:nvSpPr>
        <p:spPr>
          <a:xfrm>
            <a:off x="8125968" y="1508760"/>
            <a:ext cx="3514344" cy="281675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87552"/>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C · Strategic Pause</a:t>
            </a:r>
            <a:endParaRPr lang="en-US" sz="2800" dirty="0"/>
          </a:p>
        </p:txBody>
      </p:sp>
      <p:sp>
        <p:nvSpPr>
          <p:cNvPr id="17" name="Text 12"/>
          <p:cNvSpPr txBox="1"/>
          <p:nvPr/>
        </p:nvSpPr>
        <p:spPr>
          <a:xfrm>
            <a:off x="8354568" y="3191256"/>
            <a:ext cx="3057144" cy="166420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No major capital investment for 18 months</a:t>
            </a:r>
            <a:endParaRPr lang="en-US" sz="2400" dirty="0"/>
          </a:p>
        </p:txBody>
      </p:sp>
      <p:sp>
        <p:nvSpPr>
          <p:cNvPr id="21" name="Rounded Rectangle 18">
            <a:extLst>
              <a:ext uri="{FF2B5EF4-FFF2-40B4-BE49-F238E27FC236}">
                <a16:creationId xmlns:a16="http://schemas.microsoft.com/office/drawing/2014/main" id="{94D326D5-F65C-5669-1DC9-B3D8ACEEF71C}"/>
              </a:ext>
            </a:extLst>
          </p:cNvPr>
          <p:cNvSpPr/>
          <p:nvPr/>
        </p:nvSpPr>
        <p:spPr>
          <a:xfrm>
            <a:off x="594360" y="4414964"/>
            <a:ext cx="10972800" cy="1691638"/>
          </a:xfrm>
          <a:prstGeom prst="roundRect">
            <a:avLst/>
          </a:prstGeom>
          <a:solidFill>
            <a:srgbClr val="0F4623"/>
          </a:solidFill>
          <a:ln>
            <a:solidFill>
              <a:srgbClr val="0F4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3" name="TextBox 22">
            <a:extLst>
              <a:ext uri="{FF2B5EF4-FFF2-40B4-BE49-F238E27FC236}">
                <a16:creationId xmlns:a16="http://schemas.microsoft.com/office/drawing/2014/main" id="{3CC61B5A-FDFD-C265-F7DA-058C7AC7A795}"/>
              </a:ext>
            </a:extLst>
          </p:cNvPr>
          <p:cNvSpPr txBox="1"/>
          <p:nvPr/>
        </p:nvSpPr>
        <p:spPr>
          <a:xfrm>
            <a:off x="868680" y="4606988"/>
            <a:ext cx="10663362" cy="1569660"/>
          </a:xfrm>
          <a:prstGeom prst="rect">
            <a:avLst/>
          </a:prstGeom>
          <a:noFill/>
        </p:spPr>
        <p:txBody>
          <a:bodyPr wrap="square">
            <a:spAutoFit/>
          </a:bodyPr>
          <a:lstStyle/>
          <a:p>
            <a:pPr>
              <a:defRPr sz="1100" b="1">
                <a:solidFill>
                  <a:srgbClr val="ECCD69"/>
                </a:solidFill>
                <a:latin typeface="Aptos"/>
              </a:defRPr>
            </a:pPr>
            <a:r>
              <a:rPr sz="2400" dirty="0"/>
              <a:t>THE ENTERPRISE TASK</a:t>
            </a:r>
          </a:p>
          <a:p>
            <a:pPr>
              <a:defRPr sz="1800" b="1">
                <a:solidFill>
                  <a:srgbClr val="FFFFFF"/>
                </a:solidFill>
                <a:latin typeface="Georgia"/>
              </a:defRPr>
            </a:pPr>
            <a:r>
              <a:rPr lang="en-ZA" sz="2400" dirty="0"/>
              <a:t>W</a:t>
            </a:r>
            <a:r>
              <a:rPr sz="2400" dirty="0"/>
              <a:t>hat is the right decision for Apex as a whole?</a:t>
            </a:r>
          </a:p>
          <a:p>
            <a:pPr>
              <a:defRPr sz="1250">
                <a:solidFill>
                  <a:srgbClr val="FFFFFF"/>
                </a:solidFill>
                <a:latin typeface="Aptos"/>
              </a:defRPr>
            </a:pPr>
            <a:r>
              <a:rPr sz="2400" dirty="0"/>
              <a:t>Your decision must address growth · financial sustainability · operational reality · people capacity.</a:t>
            </a:r>
          </a:p>
        </p:txBody>
      </p:sp>
      <p:sp>
        <p:nvSpPr>
          <p:cNvPr id="25" name="TextBox 24">
            <a:extLst>
              <a:ext uri="{FF2B5EF4-FFF2-40B4-BE49-F238E27FC236}">
                <a16:creationId xmlns:a16="http://schemas.microsoft.com/office/drawing/2014/main" id="{C0E2D656-5BB9-19C6-46C9-657084509706}"/>
              </a:ext>
            </a:extLst>
          </p:cNvPr>
          <p:cNvSpPr txBox="1"/>
          <p:nvPr/>
        </p:nvSpPr>
        <p:spPr>
          <a:xfrm>
            <a:off x="659958" y="6033452"/>
            <a:ext cx="10907202" cy="830997"/>
          </a:xfrm>
          <a:prstGeom prst="rect">
            <a:avLst/>
          </a:prstGeom>
          <a:noFill/>
        </p:spPr>
        <p:txBody>
          <a:bodyPr wrap="square">
            <a:spAutoFit/>
          </a:bodyPr>
          <a:lstStyle/>
          <a:p>
            <a:pPr>
              <a:defRPr sz="1200" b="1">
                <a:solidFill>
                  <a:srgbClr val="166030"/>
                </a:solidFill>
                <a:latin typeface="Aptos"/>
              </a:defRPr>
            </a:pPr>
            <a:r>
              <a:rPr sz="2400" dirty="0"/>
              <a:t>You may select, combine, sequence or challenge the options to form ONE integrated enterprise decision.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7681F-50C2-E459-5425-4CED7FF04B1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C36CB37-762D-9A50-F9E6-546628264321}"/>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6 Reflections</a:t>
            </a:r>
            <a:endParaRPr lang="en-US" sz="6600" kern="1200" dirty="0">
              <a:solidFill>
                <a:schemeClr val="tx1"/>
              </a:solidFill>
              <a:latin typeface="+mj-lt"/>
              <a:ea typeface="+mj-ea"/>
              <a:cs typeface="+mj-cs"/>
            </a:endParaRPr>
          </a:p>
        </p:txBody>
      </p:sp>
      <p:pic>
        <p:nvPicPr>
          <p:cNvPr id="9" name="Picture 8">
            <a:extLst>
              <a:ext uri="{FF2B5EF4-FFF2-40B4-BE49-F238E27FC236}">
                <a16:creationId xmlns:a16="http://schemas.microsoft.com/office/drawing/2014/main" id="{4A0A5DE5-F79F-B1EC-CFF0-E93602BD7537}"/>
              </a:ext>
            </a:extLst>
          </p:cNvPr>
          <p:cNvPicPr>
            <a:picLocks noChangeAspect="1"/>
          </p:cNvPicPr>
          <p:nvPr/>
        </p:nvPicPr>
        <p:blipFill>
          <a:blip r:embed="rId3"/>
          <a:stretch>
            <a:fillRect/>
          </a:stretch>
        </p:blipFill>
        <p:spPr>
          <a:xfrm>
            <a:off x="1107322" y="1710639"/>
            <a:ext cx="10541339" cy="1130854"/>
          </a:xfrm>
          <a:prstGeom prst="rect">
            <a:avLst/>
          </a:prstGeom>
        </p:spPr>
      </p:pic>
      <p:pic>
        <p:nvPicPr>
          <p:cNvPr id="12" name="Picture 11">
            <a:extLst>
              <a:ext uri="{FF2B5EF4-FFF2-40B4-BE49-F238E27FC236}">
                <a16:creationId xmlns:a16="http://schemas.microsoft.com/office/drawing/2014/main" id="{983E7308-312A-B6D5-2B93-612EDC3C8DEC}"/>
              </a:ext>
            </a:extLst>
          </p:cNvPr>
          <p:cNvPicPr>
            <a:picLocks noChangeAspect="1"/>
          </p:cNvPicPr>
          <p:nvPr/>
        </p:nvPicPr>
        <p:blipFill>
          <a:blip r:embed="rId4"/>
          <a:stretch>
            <a:fillRect/>
          </a:stretch>
        </p:blipFill>
        <p:spPr>
          <a:xfrm>
            <a:off x="1107322" y="3093563"/>
            <a:ext cx="10541339" cy="939555"/>
          </a:xfrm>
          <a:prstGeom prst="rect">
            <a:avLst/>
          </a:prstGeom>
        </p:spPr>
      </p:pic>
      <p:pic>
        <p:nvPicPr>
          <p:cNvPr id="14" name="Picture 13">
            <a:extLst>
              <a:ext uri="{FF2B5EF4-FFF2-40B4-BE49-F238E27FC236}">
                <a16:creationId xmlns:a16="http://schemas.microsoft.com/office/drawing/2014/main" id="{BD684DB9-0954-82F7-186E-F799E8C485FE}"/>
              </a:ext>
            </a:extLst>
          </p:cNvPr>
          <p:cNvPicPr>
            <a:picLocks noChangeAspect="1"/>
          </p:cNvPicPr>
          <p:nvPr/>
        </p:nvPicPr>
        <p:blipFill>
          <a:blip r:embed="rId5"/>
          <a:stretch>
            <a:fillRect/>
          </a:stretch>
        </p:blipFill>
        <p:spPr>
          <a:xfrm>
            <a:off x="1107321" y="4285188"/>
            <a:ext cx="10541339" cy="881538"/>
          </a:xfrm>
          <a:prstGeom prst="rect">
            <a:avLst/>
          </a:prstGeom>
        </p:spPr>
      </p:pic>
      <p:pic>
        <p:nvPicPr>
          <p:cNvPr id="17" name="Picture 16">
            <a:extLst>
              <a:ext uri="{FF2B5EF4-FFF2-40B4-BE49-F238E27FC236}">
                <a16:creationId xmlns:a16="http://schemas.microsoft.com/office/drawing/2014/main" id="{020CEB8F-66B2-B780-ED06-3F4DF6EDD096}"/>
              </a:ext>
            </a:extLst>
          </p:cNvPr>
          <p:cNvPicPr>
            <a:picLocks noChangeAspect="1"/>
          </p:cNvPicPr>
          <p:nvPr/>
        </p:nvPicPr>
        <p:blipFill>
          <a:blip r:embed="rId6"/>
          <a:stretch>
            <a:fillRect/>
          </a:stretch>
        </p:blipFill>
        <p:spPr>
          <a:xfrm>
            <a:off x="1107322" y="5418797"/>
            <a:ext cx="10541338" cy="970912"/>
          </a:xfrm>
          <a:prstGeom prst="rect">
            <a:avLst/>
          </a:prstGeom>
        </p:spPr>
      </p:pic>
    </p:spTree>
    <p:extLst>
      <p:ext uri="{BB962C8B-B14F-4D97-AF65-F5344CB8AC3E}">
        <p14:creationId xmlns:p14="http://schemas.microsoft.com/office/powerpoint/2010/main" val="10792105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0">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has shifted in your understanding of how you think and make decisions as a leader.</a:t>
            </a:r>
          </a:p>
          <a:p>
            <a:pPr marL="0" indent="0">
              <a:buNone/>
            </a:pPr>
            <a:endParaRPr lang="en-US" sz="3600" i="1" dirty="0">
              <a:solidFill>
                <a:srgbClr val="FFFFFF"/>
              </a:solidFill>
              <a:latin typeface="Cambria" pitchFamily="34" charset="0"/>
              <a:ea typeface="Cambria" pitchFamily="34" charset="-122"/>
            </a:endParaRPr>
          </a:p>
          <a:p>
            <a:pPr marL="0" indent="0">
              <a:buNone/>
            </a:pPr>
            <a:r>
              <a:rPr lang="en-GB" sz="3600" i="1" dirty="0">
                <a:solidFill>
                  <a:schemeClr val="bg1"/>
                </a:solidFill>
              </a:rPr>
              <a:t>The one thing I am taking from this unit that I intend to act on is…</a:t>
            </a:r>
            <a:endParaRPr lang="en-US" sz="3600" i="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665</TotalTime>
  <Words>21917</Words>
  <Application>Microsoft Office PowerPoint</Application>
  <PresentationFormat>Widescreen</PresentationFormat>
  <Paragraphs>1662</Paragraphs>
  <Slides>38</Slides>
  <Notes>38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Aptos</vt:lpstr>
      <vt:lpstr>Aptos Display</vt: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 · Behavioural Strategy Fundamentals</dc:title>
  <dc:subject>PptxGenJS Presentation</dc:subject>
  <dc:creator>Institute of Behavioural Strategy &amp; Leadership</dc:creator>
  <cp:lastModifiedBy>Carol Lupiya</cp:lastModifiedBy>
  <cp:revision>7</cp:revision>
  <dcterms:created xsi:type="dcterms:W3CDTF">2026-09-29T13:20:10Z</dcterms:created>
  <dcterms:modified xsi:type="dcterms:W3CDTF">2026-10-05T06:46:32Z</dcterms:modified>
</cp:coreProperties>
</file>