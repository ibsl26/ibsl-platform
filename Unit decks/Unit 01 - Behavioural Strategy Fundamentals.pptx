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96" r:id="rId7"/>
    <p:sldId id="262" r:id="rId8"/>
    <p:sldId id="263" r:id="rId9"/>
    <p:sldId id="264" r:id="rId10"/>
    <p:sldId id="265" r:id="rId11"/>
    <p:sldId id="266" r:id="rId12"/>
    <p:sldId id="267" r:id="rId13"/>
    <p:sldId id="269" r:id="rId14"/>
    <p:sldId id="297" r:id="rId15"/>
    <p:sldId id="271" r:id="rId16"/>
    <p:sldId id="272" r:id="rId17"/>
    <p:sldId id="273" r:id="rId18"/>
    <p:sldId id="275" r:id="rId19"/>
    <p:sldId id="298" r:id="rId20"/>
    <p:sldId id="276" r:id="rId21"/>
    <p:sldId id="277" r:id="rId22"/>
    <p:sldId id="279" r:id="rId23"/>
    <p:sldId id="299" r:id="rId24"/>
    <p:sldId id="300" r:id="rId25"/>
    <p:sldId id="304" r:id="rId37"/>
    <p:sldId id="281" r:id="rId26"/>
    <p:sldId id="301" r:id="rId27"/>
    <p:sldId id="282" r:id="rId28"/>
    <p:sldId id="283" r:id="rId29"/>
    <p:sldId id="284" r:id="rId30"/>
    <p:sldId id="285" r:id="rId31"/>
    <p:sldId id="286" r:id="rId32"/>
    <p:sldId id="302" r:id="rId33"/>
    <p:sldId id="287" r:id="rId34"/>
    <p:sldId id="303" r:id="rId38"/>
    <p:sldId id="295"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1904" autoAdjust="0"/>
  </p:normalViewPr>
  <p:slideViewPr>
    <p:cSldViewPr snapToGrid="0" snapToObjects="1">
      <p:cViewPr varScale="1">
        <p:scale>
          <a:sx n="36" d="100"/>
          <a:sy n="36" d="100"/>
        </p:scale>
        <p:origin x="1606" y="29"/>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7" Type="http://schemas.openxmlformats.org/officeDocument/2006/relationships/slide" Target="slides/slide36.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544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dirty="0" b="1"/>
              <a:t>UNIT 1 · BEHAVIOURAL STRATEGY FUNDAMENTALS</a:t>
            </a:r>
          </a:p>
          <a:p>
            <a:r>
              <a:rPr lang="en-GB" dirty="0"/>
              <a:t>Module 1 · Foundation · Unit 1 · Unscored</a:t>
            </a:r>
          </a:p>
          <a:p>
            <a:endParaRPr lang="en-GB" dirty="0"/>
          </a:p>
          <a:p>
            <a:r>
              <a:rPr lang="en-GB" dirty="0" b="1"/>
              <a:t>HOW TO TEACH IT:</a:t>
            </a:r>
          </a:p>
          <a:p>
            <a:endParaRPr lang="en-GB" dirty="0"/>
          </a:p>
          <a:p>
            <a:r>
              <a:rPr lang="en-GB" dirty="0" b="1"/>
              <a:t>1. Welcome the room and name the programme.</a:t>
            </a:r>
          </a:p>
          <a:p>
            <a:r>
              <a:rPr lang="en-GB" dirty="0" b="1"/>
              <a:t>Say: </a:t>
            </a:r>
            <a:r>
              <a:rPr lang="en-GB" dirty="0"/>
              <a:t>"Welcome to Strategy2Results®. Collective Intelligence for Execution. Where Strategy Meets the People Who Execute It."</a:t>
            </a:r>
          </a:p>
          <a:p>
            <a:r>
              <a:rPr lang="en-GB" dirty="0" b="1"/>
              <a:t>Say: </a:t>
            </a:r>
            <a:r>
              <a:rPr lang="en-GB" dirty="0"/>
              <a:t>"Strategy2Results® is a structured leadership certification programme designed to equip senior leaders with the behavioural intelligence, cross-functional perspective and execution discipline to translate strategic intent into measurable organisational results, consistently and collectively."</a:t>
            </a:r>
          </a:p>
          <a:p>
            <a:endParaRPr lang="en-GB" dirty="0"/>
          </a:p>
          <a:p>
            <a:r>
              <a:rPr lang="en-GB" dirty="0" b="1"/>
              <a:t>2. Show the architecture of the programme.</a:t>
            </a:r>
          </a:p>
          <a:p>
            <a:r>
              <a:rPr lang="en-GB" dirty="0" b="1"/>
              <a:t>Say: </a:t>
            </a:r>
            <a:r>
              <a:rPr lang="en-GB" dirty="0"/>
              <a:t>"The programme is underpinned by three integrated pillars: Direction, Influence and Grounding, which we call DIG. Each builds on the last to produce a leader who understands strategy and actively integrates it across the enterprise."</a:t>
            </a:r>
          </a:p>
          <a:p>
            <a:r>
              <a:rPr lang="en-GB" dirty="0" b="1"/>
              <a:t>Say: </a:t>
            </a:r>
            <a:r>
              <a:rPr lang="en-GB" dirty="0"/>
              <a:t>"The programme runs across four modules. Module 1 · Foundation, which is this unit, Behavioural Strategy Fundamentals. Module 2 · Direction. Module 3 · Influence. Module 4 · Grounding. The Foundation module is the prerequisite for all that follows: it establishes the behavioural and cognitive literacy that every later unit requires."</a:t>
            </a:r>
          </a:p>
          <a:p>
            <a:r>
              <a:rPr lang="en-GB" dirty="0" b="1"/>
              <a:t>Say: </a:t>
            </a:r>
            <a:r>
              <a:rPr lang="en-GB" dirty="0"/>
              <a:t>"Foundation establishes the behavioural basis of strategy: how human judgement, bias and emotional climate shape the decisions an executive team makes. Unit 1 is the single unit of this module. Its Problem Charter sets up the simulated company each of your groups will lead through every later unit."</a:t>
            </a:r>
          </a:p>
          <a:p>
            <a:endParaRPr lang="en-GB" dirty="0"/>
          </a:p>
          <a:p>
            <a:r>
              <a:rPr lang="en-GB" dirty="0" b="1"/>
              <a:t>3. Give the line that carries the whole programme.</a:t>
            </a:r>
          </a:p>
          <a:p>
            <a:r>
              <a:rPr lang="en-GB" dirty="0" b="1"/>
              <a:t>Say: </a:t>
            </a:r>
            <a:r>
              <a:rPr lang="en-GB" dirty="0"/>
              <a:t>"The quality of your strategy is a direct function of the quality of the thinking environment in which it was made. Strategy2Results® is designed to build that environment, deliberately."</a:t>
            </a:r>
          </a:p>
          <a:p>
            <a:endParaRPr lang="en-GB" dirty="0"/>
          </a:p>
          <a:p>
            <a:r>
              <a:rPr lang="en-GB" dirty="0" b="1"/>
              <a:t>4. Explain the certification.</a:t>
            </a:r>
          </a:p>
          <a:p>
            <a:r>
              <a:rPr lang="en-GB" dirty="0" b="1"/>
              <a:t>Say: </a:t>
            </a:r>
            <a:r>
              <a:rPr lang="en-GB" dirty="0"/>
              <a:t>"What you earn is CESI: Certified Enterprise Strategy Integrator. The designation recognises leaders who have demonstrated the capacity to operate beyond the boundaries of their own function: to see the enterprise whole, to integrate competing priorities into coherent direction, and to create the conditions in which strategy moves from intent to execution."</a:t>
            </a:r>
          </a:p>
          <a:p>
            <a:r>
              <a:rPr lang="en-GB" dirty="0" b="1"/>
              <a:t>Say: </a:t>
            </a:r>
            <a:r>
              <a:rPr lang="en-GB" dirty="0"/>
              <a:t>"It is a practice credential, earned through application, peer challenge and demonstrated integration across the four modules of the programme."</a:t>
            </a:r>
          </a:p>
          <a:p>
            <a:r>
              <a:rPr lang="en-GB" dirty="0" b="1"/>
              <a:t>Say: </a:t>
            </a:r>
            <a:r>
              <a:rPr lang="en-GB" dirty="0"/>
              <a:t>"CESI holders are equipped to navigate strategic decisions through multiple executive perspectives simultaneously; identify and interrupt cognitive bias at the point of decision; translate enterprise strategy into executable, cross-functional priority frameworks; build and sustain leadership cultures where honest challenge and collective intelligence are the norm; hold their own function accountable to enterprise outcomes; and diagnose execution failure at its source: thinking, alignment and process."</a:t>
            </a:r>
          </a:p>
          <a:p>
            <a:endParaRPr lang="en-GB" dirty="0"/>
          </a:p>
          <a:p>
            <a:r>
              <a:rPr lang="en-GB" dirty="0" b="1"/>
              <a:t>5. Say who the programme is for.</a:t>
            </a:r>
          </a:p>
          <a:p>
            <a:r>
              <a:rPr lang="en-GB" dirty="0" b="1"/>
              <a:t>Say: </a:t>
            </a:r>
            <a:r>
              <a:rPr lang="en-GB" dirty="0"/>
              <a:t>"Strategy2Results® is designed for senior leaders who carry enterprise-level responsibility, whether they hold a CXO title or a role that functions at that level. It is for leaders who are already capable within their function and ready for the next level of challenge: leading at the level of the whole."</a:t>
            </a:r>
          </a:p>
          <a:p>
            <a:r>
              <a:rPr lang="en-GB" dirty="0" b="1"/>
              <a:t>Say: </a:t>
            </a:r>
            <a:r>
              <a:rPr lang="en-GB" dirty="0"/>
              <a:t>"It is particularly valuable for Executive Team Members, CXO leaders who need to align across functions and translate board-level strategy into enterprise execution; Senior Leaders on the Rise, high-potential leaders preparing for executive roles who need an enterprise-wide perspective before stepping into it; and Strategy and Governance Teams, leaders responsible for planning, the strategy office or enterprise performance who need the tools to drive integration and execution quality."</a:t>
            </a:r>
          </a:p>
          <a:p>
            <a:r>
              <a:rPr lang="en-GB" dirty="0" b="1"/>
              <a:t>Say: </a:t>
            </a:r>
            <a:r>
              <a:rPr lang="en-GB" dirty="0"/>
              <a:t>"Strategy2Results® is a practice you develop, and a capability your organisation keeps."</a:t>
            </a:r>
          </a:p>
          <a:p>
            <a:endParaRPr lang="en-GB" dirty="0"/>
          </a:p>
          <a:p>
            <a:r>
              <a:rPr lang="en-GB" dirty="0" b="1"/>
              <a:t>6. Bridge to the outcomes.</a:t>
            </a:r>
          </a:p>
          <a:p>
            <a:r>
              <a:rPr lang="en-GB" dirty="0" b="1"/>
              <a:t>Say: </a:t>
            </a:r>
            <a:r>
              <a:rPr lang="en-GB" dirty="0"/>
              <a:t>"Let us look at what this first unit sets out to build in you."</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dirty="0" b="1"/>
              <a:t>KEY LEARNING OUTCOMES</a:t>
            </a:r>
          </a:p>
          <a:p>
            <a:endParaRPr lang="en-GB" dirty="0"/>
          </a:p>
          <a:p>
            <a:r>
              <a:rPr lang="en-GB" dirty="0" b="1"/>
              <a:t>HOW TO TEACH IT:</a:t>
            </a:r>
          </a:p>
          <a:p>
            <a:endParaRPr lang="en-GB" dirty="0"/>
          </a:p>
          <a:p>
            <a:r>
              <a:rPr lang="en-GB" dirty="0" b="1"/>
              <a:t>1. Read the three outcomes aloud.</a:t>
            </a:r>
          </a:p>
          <a:p>
            <a:r>
              <a:rPr lang="en-GB" dirty="0" b="1"/>
              <a:t>Say: </a:t>
            </a:r>
            <a:r>
              <a:rPr lang="en-GB" dirty="0"/>
              <a:t>"By the end of this unit you will be able to:"</a:t>
            </a:r>
          </a:p>
          <a:p>
            <a:r>
              <a:rPr lang="en-GB" dirty="0" b="1"/>
              <a:t>Say: </a:t>
            </a:r>
            <a:r>
              <a:rPr lang="en-GB" dirty="0"/>
              <a:t>"One. Critically examine the influence of human judgement and organisational dynamics on strategic decision-making."</a:t>
            </a:r>
          </a:p>
          <a:p>
            <a:r>
              <a:rPr lang="en-GB" dirty="0" b="1"/>
              <a:t>Say: </a:t>
            </a:r>
            <a:r>
              <a:rPr lang="en-GB" dirty="0"/>
              <a:t>"Two. Recognise the behavioural conditions that strengthen or weaken objectivity, decision quality and organisational performance."</a:t>
            </a:r>
          </a:p>
          <a:p>
            <a:r>
              <a:rPr lang="en-GB" dirty="0" b="1"/>
              <a:t>Say: </a:t>
            </a:r>
            <a:r>
              <a:rPr lang="en-GB" dirty="0"/>
              <a:t>"Three. Interpret strategic issues from an integrated enterprise perspective."</a:t>
            </a:r>
          </a:p>
          <a:p>
            <a:endParaRPr lang="en-GB" dirty="0"/>
          </a:p>
          <a:p>
            <a:r>
              <a:rPr lang="en-GB" dirty="0" b="1"/>
              <a:t>2. Place the unit inside its module.</a:t>
            </a:r>
          </a:p>
          <a:p>
            <a:r>
              <a:rPr lang="en-GB" dirty="0" b="1"/>
              <a:t>Say: </a:t>
            </a:r>
            <a:r>
              <a:rPr lang="en-GB" dirty="0"/>
              <a:t>"These three outcomes serve the Foundation module as a whole. The module sets out to strengthen the objectivity of strategic decisions by recognising how human judgement and organisational dynamics shape them; to cultivate a decision climate in which leaders examine evidence and assumptions before committing to strategic choices; and to lead collective decision-making that converts diverse executive perspectives into sound enterprise judgement."</a:t>
            </a:r>
          </a:p>
          <a:p>
            <a:endParaRPr lang="en-GB" dirty="0"/>
          </a:p>
          <a:p>
            <a:r>
              <a:rPr lang="en-GB" dirty="0" b="1"/>
              <a:t>3. Set the tone for the unit.</a:t>
            </a:r>
          </a:p>
          <a:p>
            <a:r>
              <a:rPr lang="en-GB" dirty="0" b="1"/>
              <a:t>Say: </a:t>
            </a:r>
            <a:r>
              <a:rPr lang="en-GB" dirty="0"/>
              <a:t>"Unit 1 is unscored. Its value depends on candour. You will be asked to name your own biases before you challenge anyone else's."</a:t>
            </a:r>
          </a:p>
          <a:p>
            <a:endParaRPr lang="en-GB" dirty="0"/>
          </a:p>
          <a:p>
            <a:r>
              <a:rPr lang="en-GB" dirty="0" b="1"/>
              <a:t>4. Bridge to the unit journey.</a:t>
            </a:r>
          </a:p>
          <a:p>
            <a:r>
              <a:rPr lang="en-GB" dirty="0" b="1"/>
              <a:t>Say: </a:t>
            </a:r>
            <a:r>
              <a:rPr lang="en-GB" dirty="0"/>
              <a:t>"Each section of the unit carries two learning outcomes of its own. Here is the journey."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dirty="0" b="1"/>
              <a:t>THE UNIT JOURNEY</a:t>
            </a:r>
          </a:p>
          <a:p>
            <a:endParaRPr lang="en-GB" dirty="0"/>
          </a:p>
          <a:p>
            <a:r>
              <a:rPr lang="en-GB" dirty="0" b="1"/>
              <a:t>HOW TO TEACH IT:</a:t>
            </a:r>
          </a:p>
          <a:p>
            <a:endParaRPr lang="en-GB" dirty="0"/>
          </a:p>
          <a:p>
            <a:r>
              <a:rPr lang="en-GB" dirty="0" b="1"/>
              <a:t>1. Walk the six sections on the slide.</a:t>
            </a:r>
          </a:p>
          <a:p>
            <a:r>
              <a:rPr lang="en-GB" dirty="0" b="1"/>
              <a:t>Say: </a:t>
            </a:r>
            <a:r>
              <a:rPr lang="en-GB" dirty="0"/>
              <a:t>"Unit 1 runs in six sections. Each one builds on the last, so the unit is cumulative."</a:t>
            </a:r>
          </a:p>
          <a:p>
            <a:r>
              <a:rPr lang="en-GB" dirty="0" b="1"/>
              <a:t>Say: </a:t>
            </a:r>
            <a:r>
              <a:rPr lang="en-GB" dirty="0"/>
              <a:t>"Section 1 · Orientation, the Overview: where you start, your learning intention and the challenge you bring to the programme."</a:t>
            </a:r>
          </a:p>
          <a:p>
            <a:r>
              <a:rPr lang="en-GB" dirty="0" b="1"/>
              <a:t>Say: </a:t>
            </a:r>
            <a:r>
              <a:rPr lang="en-GB" dirty="0"/>
              <a:t>"Section 2 · Awareness, the What: how human thinking, functional expertise and cognitive bias shape strategic judgement."</a:t>
            </a:r>
          </a:p>
          <a:p>
            <a:r>
              <a:rPr lang="en-GB" dirty="0" b="1"/>
              <a:t>Say: </a:t>
            </a:r>
            <a:r>
              <a:rPr lang="en-GB" dirty="0"/>
              <a:t>"Section 3 · Intelligence, the Why: how functional bias diverts strategy, and what poor behavioural awareness costs the enterprise."</a:t>
            </a:r>
          </a:p>
          <a:p>
            <a:r>
              <a:rPr lang="en-GB" dirty="0" b="1"/>
              <a:t>Say: </a:t>
            </a:r>
            <a:r>
              <a:rPr lang="en-GB" dirty="0"/>
              <a:t>"Section 4 · Extrapolating, the Where: where bias and emotional climate act across the strategy journey."</a:t>
            </a:r>
          </a:p>
          <a:p>
            <a:r>
              <a:rPr lang="en-GB" dirty="0" b="1"/>
              <a:t>Say: </a:t>
            </a:r>
            <a:r>
              <a:rPr lang="en-GB" dirty="0"/>
              <a:t>"Section 5 · Integration, the Collective: the pillars and institutional practices that turn individual thinking into collective intelligence."</a:t>
            </a:r>
          </a:p>
          <a:p>
            <a:r>
              <a:rPr lang="en-GB" dirty="0" b="1"/>
              <a:t>Say: </a:t>
            </a:r>
            <a:r>
              <a:rPr lang="en-GB" dirty="0"/>
              <a:t>"Section 6 · Application, In Practice: you assess your own bias profile, and each group sets out the challenge it will address in its Problem Charter."</a:t>
            </a:r>
          </a:p>
          <a:p>
            <a:endParaRPr lang="en-GB" dirty="0"/>
          </a:p>
          <a:p>
            <a:r>
              <a:rPr lang="en-GB" dirty="0" b="1"/>
              <a:t>2. Explain why the order matters.</a:t>
            </a:r>
          </a:p>
          <a:p>
            <a:r>
              <a:rPr lang="en-GB" dirty="0" b="1"/>
              <a:t>Say: </a:t>
            </a:r>
            <a:r>
              <a:rPr lang="en-GB" dirty="0"/>
              <a:t>"Unit 1 establishes the behavioural foundation for the whole programme. We examine how judgement, bias and emotional climate shape the strategies organisations choose, and we practise recognising these forces in our own leadership teams. Every later unit relies on the shared vocabulary we build here."</a:t>
            </a:r>
          </a:p>
          <a:p>
            <a:endParaRPr lang="en-GB" dirty="0"/>
          </a:p>
          <a:p>
            <a:r>
              <a:rPr lang="en-GB" dirty="0" b="1"/>
              <a:t>3. Bridge to Section 1.</a:t>
            </a:r>
          </a:p>
          <a:p>
            <a:r>
              <a:rPr lang="en-GB" dirty="0" b="1"/>
              <a:t>Say: </a:t>
            </a:r>
            <a:r>
              <a:rPr lang="en-GB" dirty="0"/>
              <a:t>"We start with Orientation."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dirty="0" b="1"/>
              <a:t>SECTION 1 · ORIENTATION — OVERVIEW</a:t>
            </a:r>
          </a:p>
          <a:p>
            <a:endParaRPr lang="en-GB" dirty="0"/>
          </a:p>
          <a:p>
            <a:r>
              <a:rPr lang="en-GB" dirty="0" b="1"/>
              <a:t>HOW THIS SECTION RUNS:</a:t>
            </a:r>
          </a:p>
          <a:p>
            <a:r>
              <a:rPr lang="en-GB" dirty="0"/>
              <a:t>This is a scene-setting section. Do not rush it. The quality of engagement throughout the rest of the unit depends on participants understanding why they are here and what they are being asked to do differently. You open with the problem the programme solves (next slide), explain how participants learn through the executive role simulation, agree the ground rules for candour and confidentiality, and close with each participant's learning intention.</a:t>
            </a:r>
          </a:p>
          <a:p>
            <a:endParaRPr lang="en-GB" dirty="0"/>
          </a:p>
          <a:p>
            <a:r>
              <a:rPr lang="en-GB" dirty="0" b="1"/>
              <a:t>SECTION LEARNING OUTCOMES:</a:t>
            </a:r>
          </a:p>
          <a:p>
            <a:r>
              <a:rPr lang="en-GB" dirty="0"/>
              <a:t>1. Recognise how human judgement shapes the way your team debates, decides and sets organisational direction.</a:t>
            </a:r>
          </a:p>
          <a:p>
            <a:r>
              <a:rPr lang="en-GB" dirty="0"/>
              <a:t>2. Articulate a personal learning intention anchored in a current leadership or strategic challenge.</a:t>
            </a:r>
          </a:p>
          <a:p>
            <a:endParaRPr lang="en-GB" dirty="0"/>
          </a:p>
          <a:p>
            <a:r>
              <a:rPr lang="en-GB" dirty="0" b="1"/>
              <a:t>HOW TO OPEN THE SECTION:</a:t>
            </a:r>
          </a:p>
          <a:p>
            <a:endParaRPr lang="en-GB" dirty="0"/>
          </a:p>
          <a:p>
            <a:r>
              <a:rPr lang="en-GB" dirty="0" b="1"/>
              <a:t>1. Introduce behavioural strategy in plain terms.</a:t>
            </a:r>
          </a:p>
          <a:p>
            <a:r>
              <a:rPr lang="en-GB" dirty="0" b="1"/>
              <a:t>Say: </a:t>
            </a:r>
            <a:r>
              <a:rPr lang="en-GB" dirty="0"/>
              <a:t>"Behavioural strategy sits at the intersection of cognitive psychology and strategic management. By incorporating psychology into strategy, it recognises that strategy is deeply human."</a:t>
            </a:r>
          </a:p>
          <a:p>
            <a:r>
              <a:rPr lang="en-GB" dirty="0" b="1"/>
              <a:t>Say: </a:t>
            </a:r>
            <a:r>
              <a:rPr lang="en-GB" dirty="0"/>
              <a:t>"This field bridges cognitive and social insights to improve decision quality. It challenges the assumption that leaders think rationally when charting organisational direction and, more importantly, equips them to do something about it."</a:t>
            </a:r>
          </a:p>
          <a:p>
            <a:r>
              <a:rPr lang="en-GB" dirty="0" b="1"/>
              <a:t>Say: </a:t>
            </a:r>
            <a:r>
              <a:rPr lang="en-GB" dirty="0"/>
              <a:t>"As you progress through the Strategy2Results® process, you will begin to recognise patterns in how your team debates, how your organisation makes decisions, and how your own mental models shape the strategy your organisation ultimately pursues."</a:t>
            </a:r>
          </a:p>
          <a:p>
            <a:endParaRPr lang="en-GB" dirty="0"/>
          </a:p>
          <a:p>
            <a:r>
              <a:rPr lang="en-GB" dirty="0" b="1"/>
              <a:t>2. Explain how you will learn: the Executive Leadership Perspective Simulation.</a:t>
            </a:r>
          </a:p>
          <a:p>
            <a:r>
              <a:rPr lang="en-GB" dirty="0" b="1"/>
              <a:t>Say: </a:t>
            </a:r>
            <a:r>
              <a:rPr lang="en-GB" dirty="0"/>
              <a:t>"The most powerful feature of the Strategy2Results® programme is how you learn."</a:t>
            </a:r>
          </a:p>
          <a:p>
            <a:r>
              <a:rPr lang="en-GB" dirty="0" b="1"/>
              <a:t>Say: </a:t>
            </a:r>
            <a:r>
              <a:rPr lang="en-GB" dirty="0"/>
              <a:t>"Each of you takes an executive role outside your own function, and together your group forms a Simulated Enterprise Executive Team, the SEET: CEO, CFO, COO, CHRO, CTO, CMO, CCO, CPO, CRO or CSO. You analyse each unit's challenge through that executive's priorities, concerns and strategic perspective."</a:t>
            </a:r>
          </a:p>
          <a:p>
            <a:r>
              <a:rPr lang="en-GB" dirty="0" b="1"/>
              <a:t>Say: </a:t>
            </a:r>
            <a:r>
              <a:rPr lang="en-GB" dirty="0"/>
              <a:t>"I will hold you to that role discipline from this first unit. It is the mechanism through which the programme builds collective intelligence. By inhabiting another executive's perspective with rigour, as a genuine analytical discipline, you develop the capacity to anticipate cross-functional implications, surface hidden dependencies, and make decisions that hold at the enterprise level as well as within your own function."</a:t>
            </a:r>
          </a:p>
          <a:p>
            <a:r>
              <a:rPr lang="en-GB" dirty="0" b="1"/>
              <a:t>Say: </a:t>
            </a:r>
            <a:r>
              <a:rPr lang="en-GB" dirty="0"/>
              <a:t>"This is what separates strategic leaders from functional experts: the ability to think from a seat you do not occupy, and to do it well enough that the person who does occupy it trusts your reasoning."</a:t>
            </a:r>
          </a:p>
          <a:p>
            <a:endParaRPr lang="en-GB" dirty="0"/>
          </a:p>
          <a:p>
            <a:r>
              <a:rPr lang="en-GB" dirty="0" b="1"/>
              <a:t>3. Agree the ground rules for candour and confidentiality.</a:t>
            </a:r>
          </a:p>
          <a:p>
            <a:r>
              <a:rPr lang="en-GB" dirty="0" b="1"/>
              <a:t>Say: </a:t>
            </a:r>
            <a:r>
              <a:rPr lang="en-GB" dirty="0"/>
              <a:t>"Before we go further, we agree how we will work together. What is said in this room about your organisations and your colleagues stays in this room. And we commit to candour: we name our own biases before we name anyone else's."</a:t>
            </a:r>
          </a:p>
          <a:p>
            <a:r>
              <a:rPr lang="en-GB" dirty="0" b="1"/>
              <a:t>Ask: </a:t>
            </a:r>
            <a:r>
              <a:rPr lang="en-GB" dirty="0"/>
              <a:t>"What else do we need to agree so that everyone can speak honestly here?"</a:t>
            </a:r>
          </a:p>
          <a:p>
            <a:r>
              <a:rPr lang="en-GB" dirty="0" b="1"/>
              <a:t>Listen for: </a:t>
            </a:r>
            <a:r>
              <a:rPr lang="en-GB" dirty="0"/>
              <a:t>confidentiality, respect for different seats, permission to challenge, no point-scoring. These ground rules carry through all twelve units.</a:t>
            </a:r>
          </a:p>
          <a:p>
            <a:endParaRPr lang="en-GB" dirty="0"/>
          </a:p>
          <a:p>
            <a:r>
              <a:rPr lang="en-GB" dirty="0" b="1"/>
              <a:t>4. Bridge to the opening research.</a:t>
            </a:r>
          </a:p>
          <a:p>
            <a:r>
              <a:rPr lang="en-GB" dirty="0" b="1"/>
              <a:t>Say: </a:t>
            </a:r>
            <a:r>
              <a:rPr lang="en-GB" dirty="0"/>
              <a:t>"Let us begin with the problem this programme solves."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dirty="0" b="1"/>
              <a:t>OPENING THE SESSION · THE PROBLEM THIS PROGRAMME SOLVES</a:t>
            </a:r>
          </a:p>
          <a:p>
            <a:endParaRPr lang="en-GB" dirty="0"/>
          </a:p>
          <a:p>
            <a:r>
              <a:rPr lang="en-GB" dirty="0" b="1"/>
              <a:t>HOW TO TEACH IT:</a:t>
            </a:r>
          </a:p>
          <a:p>
            <a:endParaRPr lang="en-GB" dirty="0"/>
          </a:p>
          <a:p>
            <a:r>
              <a:rPr lang="en-GB" dirty="0" b="1"/>
              <a:t>1. Read the research on the slide.</a:t>
            </a:r>
          </a:p>
          <a:p>
            <a:r>
              <a:rPr lang="en-GB" dirty="0" b="1"/>
              <a:t>Say: </a:t>
            </a:r>
            <a:r>
              <a:rPr lang="en-GB" dirty="0"/>
              <a:t>"Research consistently shows that 60–90% of strategies fail in delivery. The causes may appear different across organisations, but they tend to sit within three areas of strategy failure: Direction, Influence and Grounding."</a:t>
            </a:r>
          </a:p>
          <a:p>
            <a:r>
              <a:rPr lang="en-GB" dirty="0" b="1"/>
              <a:t>Say: </a:t>
            </a:r>
            <a:r>
              <a:rPr lang="en-GB" dirty="0"/>
              <a:t>"Let us walk through each of the three."</a:t>
            </a:r>
          </a:p>
          <a:p>
            <a:endParaRPr lang="en-GB" dirty="0"/>
          </a:p>
          <a:p>
            <a:r>
              <a:rPr lang="en-GB" dirty="0" b="1"/>
              <a:t>2. Direction Failure.</a:t>
            </a:r>
          </a:p>
          <a:p>
            <a:r>
              <a:rPr lang="en-GB" dirty="0" b="1"/>
              <a:t>Say: </a:t>
            </a:r>
            <a:r>
              <a:rPr lang="en-GB" dirty="0"/>
              <a:t>"Direction failure: the organisation is not thinking about strategy with sufficient clarity, coherence and enterprise perspective."</a:t>
            </a:r>
          </a:p>
          <a:p>
            <a:r>
              <a:rPr lang="en-GB" dirty="0" b="1"/>
              <a:t>Deepen, say: </a:t>
            </a:r>
            <a:r>
              <a:rPr lang="en-GB" dirty="0"/>
              <a:t>"Organisations often let functions, departments and individuals pursue objectives without enough understanding of how those objectives contribute to the larger organisational intent. The result can be excellent local performance without coherent enterprise progress. Start with the whole, then locate each part within it."</a:t>
            </a:r>
          </a:p>
          <a:p>
            <a:r>
              <a:rPr lang="en-GB" dirty="0"/>
              <a:t>(Insight: The whole before the parts. Source: Journal, 3 October 2026 — Professional Insights: Strategy)</a:t>
            </a:r>
          </a:p>
          <a:p>
            <a:r>
              <a:rPr lang="en-GB" dirty="0" b="1"/>
              <a:t>Say: </a:t>
            </a:r>
            <a:r>
              <a:rPr lang="en-GB" dirty="0"/>
              <a:t>"Here is what happens when the organisation is not thinking about strategy with sufficient clarity, coherence and enterprise perspective."</a:t>
            </a:r>
          </a:p>
          <a:p>
            <a:r>
              <a:rPr lang="en-GB" dirty="0" b="1"/>
              <a:t>Say: </a:t>
            </a:r>
            <a:r>
              <a:rPr lang="en-GB" dirty="0"/>
              <a:t>"First, leaders think in functional silos. What it costs: fragmented priorities, competing KPIs and decisions that optimise functions at the expense of the enterprise. What S2R® builds: enterprise perspective, the capacity to think beyond one's function and understand strategy from every seat at the table."</a:t>
            </a:r>
          </a:p>
          <a:p>
            <a:r>
              <a:rPr lang="en-GB" dirty="0" b="1"/>
              <a:t>Say: </a:t>
            </a:r>
            <a:r>
              <a:rPr lang="en-GB" dirty="0"/>
              <a:t>"Second, cognitive bias distorts decisions invisibly. What it costs: poor capital allocation, strategic inertia, suppressed innovation and purpose drift. What S2R® builds: behavioural intelligence, the ability to recognise and challenge bias before it becomes a strategic cost."</a:t>
            </a:r>
          </a:p>
          <a:p>
            <a:endParaRPr lang="en-GB" dirty="0"/>
          </a:p>
          <a:p>
            <a:r>
              <a:rPr lang="en-GB" dirty="0" b="1"/>
              <a:t>3. Influence Failure.</a:t>
            </a:r>
          </a:p>
          <a:p>
            <a:r>
              <a:rPr lang="en-GB" dirty="0" b="1"/>
              <a:t>Say: </a:t>
            </a:r>
            <a:r>
              <a:rPr lang="en-GB" dirty="0"/>
              <a:t>"Influence failure: people, decisions and organisational conditions are not aligned behind the strategy."</a:t>
            </a:r>
          </a:p>
          <a:p>
            <a:r>
              <a:rPr lang="en-GB" dirty="0" b="1"/>
              <a:t>Deepen, say: </a:t>
            </a:r>
            <a:r>
              <a:rPr lang="en-GB" dirty="0"/>
              <a:t>"Strategies, values, policies and governance structures may all exist formally while everyday decisions follow an entirely different logic. Test whether those artefacts meaningfully govern resource allocation, priorities and behaviour."</a:t>
            </a:r>
          </a:p>
          <a:p>
            <a:r>
              <a:rPr lang="en-GB" dirty="0"/>
              <a:t>(Insight: Symbolic compliance. Source: Journal, 1 October 2026 — Professional Insights: Strategy)</a:t>
            </a:r>
          </a:p>
          <a:p>
            <a:r>
              <a:rPr lang="en-GB" dirty="0" b="1"/>
              <a:t>Say: </a:t>
            </a:r>
            <a:r>
              <a:rPr lang="en-GB" dirty="0"/>
              <a:t>"When people, decisions and organisational conditions are not aligned behind the strategy, two things manifest."</a:t>
            </a:r>
          </a:p>
          <a:p>
            <a:r>
              <a:rPr lang="en-GB" dirty="0" b="1"/>
              <a:t>Say: </a:t>
            </a:r>
            <a:r>
              <a:rPr lang="en-GB" dirty="0"/>
              <a:t>"First, emotional climate is left unmanaged. What it costs: fear and ego replace curiosity; honest challenge disappears; groupthink fills the gap. What S2R® builds: climate leadership, the ability to create conditions in which people can challenge, contribute and make better strategic decisions."</a:t>
            </a:r>
          </a:p>
          <a:p>
            <a:r>
              <a:rPr lang="en-GB" dirty="0" b="1"/>
              <a:t>Say: </a:t>
            </a:r>
            <a:r>
              <a:rPr lang="en-GB" dirty="0"/>
              <a:t>"Second, accountability stays structural and does not become cultural. What it costs: leaders protect their functions, progress is reported without being owned, and strategy reviews become performance theatre. What S2R® builds: strategic ownership, leaders who carry responsibility for the whole while remaining accountable for their part."</a:t>
            </a:r>
          </a:p>
          <a:p>
            <a:endParaRPr lang="en-GB" dirty="0"/>
          </a:p>
          <a:p>
            <a:r>
              <a:rPr lang="en-GB" dirty="0" b="1"/>
              <a:t>4. Grounding Failure.</a:t>
            </a:r>
          </a:p>
          <a:p>
            <a:r>
              <a:rPr lang="en-GB" dirty="0" b="1"/>
              <a:t>Say: </a:t>
            </a:r>
            <a:r>
              <a:rPr lang="en-GB" dirty="0"/>
              <a:t>"Grounding failure: strategic intent does not translate into coordinated execution and sustained results."</a:t>
            </a:r>
          </a:p>
          <a:p>
            <a:r>
              <a:rPr lang="en-GB" dirty="0" b="1"/>
              <a:t>Deepen, say: </a:t>
            </a:r>
            <a:r>
              <a:rPr lang="en-GB" dirty="0"/>
              <a:t>"Organisations frequently possess capable functions, talented individuals and substantial resources and still struggle to convert them into collective results. The problem may lie in the quality of the connections between the parts. Strategy must determine how those contributions fit together around the outcome the organisation is trying to create."</a:t>
            </a:r>
          </a:p>
          <a:p>
            <a:r>
              <a:rPr lang="en-GB" dirty="0"/>
              <a:t>(Insight: The connections between the parts. Source: Journal, 4 October 2026 — Professional Insights: Strategy)</a:t>
            </a:r>
          </a:p>
          <a:p>
            <a:r>
              <a:rPr lang="en-GB" dirty="0" b="1"/>
              <a:t>Say: </a:t>
            </a:r>
            <a:r>
              <a:rPr lang="en-GB" dirty="0"/>
              <a:t>"This is what you are likely to get: strategy is cascaded without being integrated. What it costs: strategic intent fragments as it moves through functions, levels and teams; dependencies are missed and execution energy dissipates. What S2R® builds: integration discipline, the ability to connect strategic intent, organisational contributions, decisions and action across the enterprise."</a:t>
            </a:r>
          </a:p>
          <a:p>
            <a:endParaRPr lang="en-GB" dirty="0"/>
          </a:p>
          <a:p>
            <a:r>
              <a:rPr lang="en-GB" dirty="0" b="1"/>
              <a:t>5. Close the opening.</a:t>
            </a:r>
          </a:p>
          <a:p>
            <a:r>
              <a:rPr lang="en-GB" dirty="0" b="1"/>
              <a:t>Say: </a:t>
            </a:r>
            <a:r>
              <a:rPr lang="en-GB" dirty="0"/>
              <a:t>"These are predictable failure points in the journey from strategy to results. S2R® develops leaders who can recognise them, intervene in them and integrate across them, so that strategy produces results."</a:t>
            </a:r>
          </a:p>
          <a:p>
            <a:endParaRPr lang="en-GB" dirty="0"/>
          </a:p>
          <a:p>
            <a:r>
              <a:rPr lang="en-GB" dirty="0" b="1"/>
              <a:t>6. Ask for the learning intention.</a:t>
            </a:r>
          </a:p>
          <a:p>
            <a:r>
              <a:rPr lang="en-GB" dirty="0" b="1"/>
              <a:t>Say: </a:t>
            </a:r>
            <a:r>
              <a:rPr lang="en-GB" dirty="0"/>
              <a:t>"Hold one question as we move on: what brings you here? What is one thing about your leadership or your organisation's strategy that you most want to understand differently by the end of this unit?"</a:t>
            </a:r>
          </a:p>
          <a:p>
            <a:r>
              <a:rPr lang="en-GB" dirty="0"/>
              <a:t>Ask two or three participants to share.</a:t>
            </a:r>
          </a:p>
          <a:p>
            <a:endParaRPr lang="en-GB" dirty="0"/>
          </a:p>
          <a:p>
            <a:r>
              <a:rPr lang="en-GB" dirty="0" b="1"/>
              <a:t>7. Bridge to the section close.</a:t>
            </a:r>
          </a:p>
          <a:p>
            <a:r>
              <a:rPr lang="en-GB" dirty="0" b="1"/>
              <a:t>Say: </a:t>
            </a:r>
            <a:r>
              <a:rPr lang="en-GB" dirty="0"/>
              <a:t>"Strategic judgement begins with the person exercising it. Your learning intention anchors this unit in a challenge you lead today. Next, Section 2 examines what behavioural strategy 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FE345-6365-0D9C-7950-7A25686DB1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DEB7EF-6824-90BA-2F54-C829EE9736B9}"/>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90A403F1-2DF2-BC1B-E60A-E37CA3602EF9}"/>
              </a:ext>
            </a:extLst>
          </p:cNvPr>
          <p:cNvSpPr>
            <a:spLocks noGrp="1"/>
          </p:cNvSpPr>
          <p:nvPr>
            <p:ph type="body" idx="1"/>
          </p:nvPr>
        </p:nvSpPr>
        <p:spPr/>
        <p:txBody>
          <a:bodyPr/>
          <a:lstStyle/>
          <a:p>
            <a:r>
              <a:rPr lang="en-GB" dirty="0" b="1"/>
              <a:t>SECTION 1 REFLECTIONS</a:t>
            </a:r>
          </a:p>
          <a:p>
            <a:endParaRPr lang="en-GB" dirty="0"/>
          </a:p>
          <a:p>
            <a:r>
              <a:rPr lang="en-GB" dirty="0" b="1"/>
              <a:t>HOW TO USE THIS SLIDE:</a:t>
            </a:r>
          </a:p>
          <a:p>
            <a:endParaRPr lang="en-GB" dirty="0"/>
          </a:p>
          <a:p>
            <a:r>
              <a:rPr lang="en-GB" dirty="0" b="1"/>
              <a:t>1. Show the reflection.</a:t>
            </a:r>
          </a:p>
          <a:p>
            <a:r>
              <a:rPr lang="en-GB" dirty="0" b="1"/>
              <a:t>Say: </a:t>
            </a:r>
            <a:r>
              <a:rPr lang="en-GB" dirty="0"/>
              <a:t>"This is the reflection that closes Section 1 on your portal page."</a:t>
            </a:r>
          </a:p>
          <a:p>
            <a:r>
              <a:rPr lang="en-GB" dirty="0" b="1"/>
              <a:t>Read aloud: </a:t>
            </a:r>
            <a:r>
              <a:rPr lang="en-GB" dirty="0"/>
              <a:t>"Before diving in: What brings you here? What is one thing about your leadership or your organisation's strategy that you most want to understand differently by the end of this unit?"</a:t>
            </a:r>
          </a:p>
          <a:p>
            <a:endParaRPr lang="en-GB" dirty="0"/>
          </a:p>
          <a:p>
            <a:r>
              <a:rPr lang="en-GB" dirty="0" b="1"/>
              <a:t>2. Set the expectation for depth.</a:t>
            </a:r>
          </a:p>
          <a:p>
            <a:r>
              <a:rPr lang="en-GB" dirty="0" b="1"/>
              <a:t>Say: </a:t>
            </a:r>
            <a:r>
              <a:rPr lang="en-GB" dirty="0"/>
              <a:t>"Write your intention down with as much depth as you can. Anchor it in a real leadership or strategic challenge you carry today. Your reflections build the Learning Portfolio you receive at the end of the programme."</a:t>
            </a:r>
          </a:p>
          <a:p>
            <a:endParaRPr lang="en-GB" dirty="0"/>
          </a:p>
          <a:p>
            <a:r>
              <a:rPr lang="en-GB" dirty="0" b="1"/>
              <a:t>ON THE PORTAL, AFTER THE TEACHING:</a:t>
            </a:r>
          </a:p>
          <a:p>
            <a:r>
              <a:rPr lang="en-GB" dirty="0"/>
              <a:t>Participants write the Section 1 reflection on their portal page and select Save Reflection.</a:t>
            </a:r>
          </a:p>
        </p:txBody>
      </p:sp>
      <p:sp>
        <p:nvSpPr>
          <p:cNvPr id="4" name="Slide Number Placeholder 3">
            <a:extLst>
              <a:ext uri="{FF2B5EF4-FFF2-40B4-BE49-F238E27FC236}">
                <a16:creationId xmlns:a16="http://schemas.microsoft.com/office/drawing/2014/main" id="{6AA8E9C2-9ABF-8522-79E1-6B63A8BF0F87}"/>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7365807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dirty="0" b="1"/>
              <a:t>SECTION 2 · AWARENESS — WHAT</a:t>
            </a:r>
          </a:p>
          <a:p>
            <a:r>
              <a:rPr lang="en-GB" dirty="0"/>
              <a:t>What Behavioural Strategy Is · 2.1 · 2.2 · 2.3 · 2.4</a:t>
            </a:r>
          </a:p>
          <a:p>
            <a:endParaRPr lang="en-GB" dirty="0"/>
          </a:p>
          <a:p>
            <a:r>
              <a:rPr lang="en-GB" dirty="0" b="1"/>
              <a:t>HOW THIS SECTION RUNS:</a:t>
            </a:r>
          </a:p>
          <a:p>
            <a:r>
              <a:rPr lang="en-GB" dirty="0"/>
              <a:t>This section establishes the conceptual foundation. Participants are introduced to what behavioural strategy is (2.1), how individual thinking is structured (2.2), how collective thinking breaks down through functional bias (2.3), and what the 20 most common cognitive biases look like in practice (2.4). Expect some resistance: experienced leaders often feel they already know this. The role of the facilitator is to make the content feel personally relevant.</a:t>
            </a:r>
          </a:p>
          <a:p>
            <a:endParaRPr lang="en-GB" dirty="0"/>
          </a:p>
          <a:p>
            <a:r>
              <a:rPr lang="en-GB" dirty="0" b="1"/>
              <a:t>SECTION LEARNING OUTCOMES:</a:t>
            </a:r>
          </a:p>
          <a:p>
            <a:r>
              <a:rPr lang="en-GB" dirty="0"/>
              <a:t>1. Recognise how intuitive thinking, functional expertise and cognitive bias shape strategic judgement.</a:t>
            </a:r>
          </a:p>
          <a:p>
            <a:r>
              <a:rPr lang="en-GB" dirty="0"/>
              <a:t>2. Identify the patterns of bias most active in your leadership team, your team members and your organisation.</a:t>
            </a:r>
          </a:p>
          <a:p>
            <a:endParaRPr lang="en-GB" dirty="0"/>
          </a:p>
          <a:p>
            <a:r>
              <a:rPr lang="en-GB" dirty="0" b="1"/>
              <a:t>HOW TO OPEN THE SECTION:</a:t>
            </a:r>
          </a:p>
          <a:p>
            <a:endParaRPr lang="en-GB" dirty="0"/>
          </a:p>
          <a:p>
            <a:r>
              <a:rPr lang="en-GB" dirty="0" b="1"/>
              <a:t>1. Name what the section covers.</a:t>
            </a:r>
          </a:p>
          <a:p>
            <a:r>
              <a:rPr lang="en-GB" dirty="0" b="1"/>
              <a:t>Say: </a:t>
            </a:r>
            <a:r>
              <a:rPr lang="en-GB" dirty="0"/>
              <a:t>"Section 2 examines what behavioural strategy is: how intuitive thinking, functional expertise and cognitive bias shape strategic judgement."</a:t>
            </a:r>
          </a:p>
          <a:p>
            <a:endParaRPr lang="en-GB" dirty="0"/>
          </a:p>
          <a:p>
            <a:r>
              <a:rPr lang="en-GB" dirty="0" b="1"/>
              <a:t>2. Bridge to the opening question.</a:t>
            </a:r>
          </a:p>
          <a:p>
            <a:r>
              <a:rPr lang="en-GB" dirty="0" b="1"/>
              <a:t>Say: </a:t>
            </a:r>
            <a:r>
              <a:rPr lang="en-GB" dirty="0"/>
              <a:t>"Before we define anything, I want to start with the person in the mirror."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dirty="0" b="1"/>
              <a:t>STARTING WITH THE PERSON IN THE MIRROR</a:t>
            </a:r>
          </a:p>
          <a:p>
            <a:endParaRPr lang="en-GB" dirty="0"/>
          </a:p>
          <a:p>
            <a:r>
              <a:rPr lang="en-GB" dirty="0" b="1"/>
              <a:t>HOW TO TEACH IT:</a:t>
            </a:r>
          </a:p>
          <a:p>
            <a:endParaRPr lang="en-GB" dirty="0"/>
          </a:p>
          <a:p>
            <a:r>
              <a:rPr lang="en-GB" dirty="0" b="1"/>
              <a:t>1. Ask the question on the slide.</a:t>
            </a:r>
          </a:p>
          <a:p>
            <a:r>
              <a:rPr lang="en-GB" dirty="0" b="1"/>
              <a:t>Ask: </a:t>
            </a:r>
            <a:r>
              <a:rPr lang="en-GB" dirty="0"/>
              <a:t>"When you make a strategic decision, how much of it do you believe is purely rational?"</a:t>
            </a:r>
          </a:p>
          <a:p>
            <a:endParaRPr lang="en-GB" dirty="0"/>
          </a:p>
          <a:p>
            <a:r>
              <a:rPr lang="en-GB" dirty="0" b="1"/>
              <a:t>2. Define what rational means here.</a:t>
            </a:r>
          </a:p>
          <a:p>
            <a:r>
              <a:rPr lang="en-GB" dirty="0" b="1"/>
              <a:t>Say: </a:t>
            </a:r>
            <a:r>
              <a:rPr lang="en-GB" dirty="0"/>
              <a:t>"In this case, rational means making a decision based only on facts, evidence and logic, without being influenced by emotions, assumptions, past experiences or personal preferences."</a:t>
            </a:r>
          </a:p>
          <a:p>
            <a:endParaRPr lang="en-GB" dirty="0"/>
          </a:p>
          <a:p>
            <a:r>
              <a:rPr lang="en-GB" dirty="0" b="1"/>
              <a:t>3. Take responses and hold the tension.</a:t>
            </a:r>
          </a:p>
          <a:p>
            <a:r>
              <a:rPr lang="en-GB" dirty="0"/>
              <a:t>Take two or three responses. Do not resolve the question. Hold the tension: this prepares the ground for the definition that follows.</a:t>
            </a:r>
          </a:p>
          <a:p>
            <a:endParaRPr lang="en-GB" dirty="0"/>
          </a:p>
          <a:p>
            <a:r>
              <a:rPr lang="en-GB" dirty="0" b="1"/>
              <a:t>4. Bridge to 2.1.</a:t>
            </a:r>
          </a:p>
          <a:p>
            <a:r>
              <a:rPr lang="en-GB" dirty="0" b="1"/>
              <a:t>Say: </a:t>
            </a:r>
            <a:r>
              <a:rPr lang="en-GB" dirty="0"/>
              <a:t>"Keep your answer in mind. The definition of behavioural strategy will test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dirty="0" b="1"/>
              <a:t>2.1a · DEFINING BEHAVIOURAL STRATEGY</a:t>
            </a:r>
          </a:p>
          <a:p>
            <a:endParaRPr lang="en-GB" dirty="0"/>
          </a:p>
          <a:p>
            <a:r>
              <a:rPr lang="en-GB" dirty="0" b="1"/>
              <a:t>HOW TO TEACH IT:</a:t>
            </a:r>
          </a:p>
          <a:p>
            <a:endParaRPr lang="en-GB" dirty="0"/>
          </a:p>
          <a:p>
            <a:r>
              <a:rPr lang="en-GB" dirty="0" b="1"/>
              <a:t>1. Land the key concept.</a:t>
            </a:r>
          </a:p>
          <a:p>
            <a:r>
              <a:rPr lang="en-GB" dirty="0" b="1"/>
              <a:t>Say: </a:t>
            </a:r>
            <a:r>
              <a:rPr lang="en-GB" dirty="0"/>
              <a:t>"Strategic decisions are shaped by the information available to us and by how we think, interpret and respond to that information. This is the central pivot of the unit; everything else builds from it."</a:t>
            </a:r>
          </a:p>
          <a:p>
            <a:endParaRPr lang="en-GB" dirty="0"/>
          </a:p>
          <a:p>
            <a:r>
              <a:rPr lang="en-GB" dirty="0" b="1"/>
              <a:t>2. Explain what behavioural strategy is.</a:t>
            </a:r>
          </a:p>
          <a:p>
            <a:r>
              <a:rPr lang="en-GB" dirty="0" b="1"/>
              <a:t>Say: </a:t>
            </a:r>
            <a:r>
              <a:rPr lang="en-GB" dirty="0"/>
              <a:t>"Behavioural strategy applies insights from cognitive and social psychology to strategic management. At its core, it recognises that strategy is a human process. People make strategic choices, and people interpret, respond to and ultimately execute those choices."</a:t>
            </a:r>
          </a:p>
          <a:p>
            <a:r>
              <a:rPr lang="en-GB" dirty="0" b="1"/>
              <a:t>Say: </a:t>
            </a:r>
            <a:r>
              <a:rPr lang="en-GB" dirty="0"/>
              <a:t>"This means people sit on both sides of strategy: the people who shape it and the people who must make it happen."</a:t>
            </a:r>
          </a:p>
          <a:p>
            <a:r>
              <a:rPr lang="en-GB" dirty="0" b="1"/>
              <a:t>Say: </a:t>
            </a:r>
            <a:r>
              <a:rPr lang="en-GB" dirty="0"/>
              <a:t>"Leaders do not make strategic decisions through logic and analysis alone. Their thinking is influenced by cognitive biases, assumptions, emotions, past experiences and social dynamics, often without conscious awareness. Equally, once a strategy has been decided, its success depends on how others understand it, respond to it, make decisions around it and behave in delivering it. Behavioural strategy therefore brings the human dimension into both strategy formulation and execution."</a:t>
            </a:r>
          </a:p>
          <a:p>
            <a:r>
              <a:rPr lang="en-GB" dirty="0" b="1"/>
              <a:t>Add: </a:t>
            </a:r>
            <a:r>
              <a:rPr lang="en-GB" dirty="0"/>
              <a:t>"The discipline is grounded in the work of scholars such as Daniel Kahneman and advanced in the field of behavioural strategy by thinkers like Olivier Sibony. It acknowledges that strategic choices are the final output of invisible mental filters (shortcuts, ignored data and trusted patterns) that operate beneath the level of conscious analysis."</a:t>
            </a:r>
          </a:p>
          <a:p>
            <a:endParaRPr lang="en-GB" dirty="0"/>
          </a:p>
          <a:p>
            <a:r>
              <a:rPr lang="en-GB" dirty="0" b="1"/>
              <a:t>3. Read the core question on the slide.</a:t>
            </a:r>
          </a:p>
          <a:p>
            <a:r>
              <a:rPr lang="en-GB" dirty="0"/>
              <a:t>Point to the two cards.</a:t>
            </a:r>
          </a:p>
          <a:p>
            <a:r>
              <a:rPr lang="en-GB" dirty="0" b="1"/>
              <a:t>Say: </a:t>
            </a:r>
            <a:r>
              <a:rPr lang="en-GB" dirty="0"/>
              <a:t>"Traditional strategy asks: what should we do?"</a:t>
            </a:r>
          </a:p>
          <a:p>
            <a:r>
              <a:rPr lang="en-GB" dirty="0" b="1"/>
              <a:t>Read aloud: </a:t>
            </a:r>
            <a:r>
              <a:rPr lang="en-GB" dirty="0"/>
              <a:t>"Behavioural strategy asks first: how does the way we think shape what we believe we should do — and what will shape how people respond and act?"</a:t>
            </a:r>
          </a:p>
          <a:p>
            <a:r>
              <a:rPr lang="en-GB" dirty="0"/>
              <a:t>Ask the group to sit with the question for a moment before you go on.</a:t>
            </a:r>
          </a:p>
          <a:p>
            <a:r>
              <a:rPr lang="en-GB" dirty="0" b="1"/>
              <a:t>Say: </a:t>
            </a:r>
            <a:r>
              <a:rPr lang="en-GB" dirty="0"/>
              <a:t>"The focus expands from the strategic decision itself to the human thinking and behaviour surrounding it."</a:t>
            </a:r>
          </a:p>
          <a:p>
            <a:endParaRPr lang="en-GB" dirty="0"/>
          </a:p>
          <a:p>
            <a:r>
              <a:rPr lang="en-GB" dirty="0" b="1"/>
              <a:t>4. Give the formal definition.</a:t>
            </a:r>
          </a:p>
          <a:p>
            <a:r>
              <a:rPr lang="en-GB" dirty="0" b="1"/>
              <a:t>Say: </a:t>
            </a:r>
            <a:r>
              <a:rPr lang="en-GB" dirty="0"/>
              <a:t>"Powell, Lovallo and Fox (2011) define behavioural strategy as the application of cognitive and social psychology to strategic management theory and practice."</a:t>
            </a:r>
          </a:p>
          <a:p>
            <a:r>
              <a:rPr lang="en-GB" dirty="0"/>
              <a:t>Point to the definition at the foot of the slide.</a:t>
            </a:r>
          </a:p>
          <a:p>
            <a:r>
              <a:rPr lang="en-GB" dirty="0" b="1"/>
              <a:t>Read aloud: </a:t>
            </a:r>
            <a:r>
              <a:rPr lang="en-GB" dirty="0"/>
              <a:t>"The S2R® definition: Behavioural Strategy is the application of behavioural science to understand and improve how people think, decide and behave throughout the process of strategy, from shaping strategic choices to delivering results."</a:t>
            </a:r>
          </a:p>
          <a:p>
            <a:r>
              <a:rPr lang="en-GB" dirty="0" b="1"/>
              <a:t>Ask: </a:t>
            </a:r>
            <a:r>
              <a:rPr lang="en-GB" dirty="0"/>
              <a:t>"Does this definition change how you understood strategy before walking in today?"</a:t>
            </a:r>
          </a:p>
          <a:p>
            <a:endParaRPr lang="en-GB" dirty="0"/>
          </a:p>
          <a:p>
            <a:r>
              <a:rPr lang="en-GB" dirty="0" b="1"/>
              <a:t>5. Connect the definition to execution.</a:t>
            </a:r>
          </a:p>
          <a:p>
            <a:r>
              <a:rPr lang="en-GB" dirty="0" b="1"/>
              <a:t>Deepen, say: </a:t>
            </a:r>
            <a:r>
              <a:rPr lang="en-GB" dirty="0"/>
              <a:t>"Strategy execution requires more than communicating priorities. People need to understand where the organisation is going, what the larger outcome is, and how their particular contribution connects to it. Without that connection, organisations can generate significant activity while producing fragmented results."</a:t>
            </a:r>
          </a:p>
          <a:p>
            <a:r>
              <a:rPr lang="en-GB" dirty="0"/>
              <a:t>(Insight: Contribution and the larger outcome. Source: Journal, 3 October 2026 — Professional Insights: Strategy)</a:t>
            </a:r>
          </a:p>
          <a:p>
            <a:endParaRPr lang="en-GB" dirty="0"/>
          </a:p>
          <a:p>
            <a:r>
              <a:rPr lang="en-GB" dirty="0" b="1"/>
              <a:t>6. Bridge to 2.1b.</a:t>
            </a:r>
          </a:p>
          <a:p>
            <a:r>
              <a:rPr lang="en-GB" dirty="0" b="1"/>
              <a:t>Say: </a:t>
            </a:r>
            <a:r>
              <a:rPr lang="en-GB" dirty="0"/>
              <a:t>"Three phrases in that definition carry the whole idea: how we think, how we decide, how we behave."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dirty="0" b="1"/>
              <a:t>2.1b · THREE PHRASES THAT CARRY THE IDEA</a:t>
            </a:r>
          </a:p>
          <a:p>
            <a:endParaRPr lang="en-GB" dirty="0"/>
          </a:p>
          <a:p>
            <a:r>
              <a:rPr lang="en-GB" dirty="0" b="1"/>
              <a:t>HOW TO TEACH IT:</a:t>
            </a:r>
          </a:p>
          <a:p>
            <a:endParaRPr lang="en-GB" dirty="0"/>
          </a:p>
          <a:p>
            <a:r>
              <a:rPr lang="en-GB" dirty="0" b="1"/>
              <a:t>1. Open the three phrases.</a:t>
            </a:r>
          </a:p>
          <a:p>
            <a:r>
              <a:rPr lang="en-GB" dirty="0" b="1"/>
              <a:t>Say: </a:t>
            </a:r>
            <a:r>
              <a:rPr lang="en-GB" dirty="0"/>
              <a:t>"We have defined behavioural strategy. Now I want us to slow down and look at three parts of that definition more closely. They give us a simple way of understanding where the human dimension enters strategy: how we think, how we decide, how we behave."</a:t>
            </a:r>
          </a:p>
          <a:p>
            <a:endParaRPr lang="en-GB" dirty="0"/>
          </a:p>
          <a:p>
            <a:r>
              <a:rPr lang="en-GB" dirty="0" b="1"/>
              <a:t>2. How we think.</a:t>
            </a:r>
          </a:p>
          <a:p>
            <a:r>
              <a:rPr lang="en-GB" dirty="0" b="1"/>
              <a:t>Say: </a:t>
            </a:r>
            <a:r>
              <a:rPr lang="en-GB" dirty="0"/>
              <a:t>"How we think is how we make sense of what we see or do: the assumptions, mental models and biases that shape what we notice, how we interpret it and what we believe it means."</a:t>
            </a:r>
          </a:p>
          <a:p>
            <a:r>
              <a:rPr lang="en-GB" dirty="0" b="1"/>
              <a:t>Say: </a:t>
            </a:r>
            <a:r>
              <a:rPr lang="en-GB" dirty="0"/>
              <a:t>"We do not simply absorb information exactly as it is presented to us. We interpret it. What we notice, what we pay attention to, what we dismiss and the meaning we give to information are influenced by the thinking we bring with us. This is why two people can look at the same evidence and reach very different conclusions."</a:t>
            </a:r>
          </a:p>
          <a:p>
            <a:r>
              <a:rPr lang="en-GB" dirty="0" b="1"/>
              <a:t>Deepen, say: </a:t>
            </a:r>
            <a:r>
              <a:rPr lang="en-GB" dirty="0"/>
              <a:t>"When two groups read the same evidence and reach opposite conclusions, the difference usually sits in the interpretive framework each brings to it. Every strategic assessment is shaped partly by the evidence and partly by the assumptions of the people assessing it. Honest strategy separates the two."</a:t>
            </a:r>
          </a:p>
          <a:p>
            <a:r>
              <a:rPr lang="en-GB" dirty="0"/>
              <a:t>(Insight: Same evidence, different conclusions. Source: Journal, 7 March 2026 — Professional Insights)</a:t>
            </a:r>
          </a:p>
          <a:p>
            <a:r>
              <a:rPr lang="en-GB" dirty="0" b="1"/>
              <a:t>Say: </a:t>
            </a:r>
            <a:r>
              <a:rPr lang="en-GB" dirty="0"/>
              <a:t>"So the first behavioural question in strategy is: how are we thinking about what we are seeing or doing?"</a:t>
            </a:r>
          </a:p>
          <a:p>
            <a:endParaRPr lang="en-GB" dirty="0"/>
          </a:p>
          <a:p>
            <a:r>
              <a:rPr lang="en-GB" dirty="0" b="1"/>
              <a:t>3. How we decide.</a:t>
            </a:r>
          </a:p>
          <a:p>
            <a:r>
              <a:rPr lang="en-GB" dirty="0" b="1"/>
              <a:t>Say: </a:t>
            </a:r>
            <a:r>
              <a:rPr lang="en-GB" dirty="0"/>
              <a:t>"How we decide is how we turn understanding into choice and commitment: the judgements, trade-offs and influences that shape what we choose, what we prioritise and what we commit to doing."</a:t>
            </a:r>
          </a:p>
          <a:p>
            <a:r>
              <a:rPr lang="en-GB" dirty="0" b="1"/>
              <a:t>Say: </a:t>
            </a:r>
            <a:r>
              <a:rPr lang="en-GB" dirty="0"/>
              <a:t>"What we believe about a situation eventually has to become a choice. We decide what matters, what takes priority, what we will pursue, what we will leave behind and, importantly, what we are prepared to commit ourselves to doing. Those choices are shaped by the information available to us and also by our judgement, perceptions, relationships, emotions and the influence of others."</a:t>
            </a:r>
          </a:p>
          <a:p>
            <a:r>
              <a:rPr lang="en-GB" dirty="0" b="1"/>
              <a:t>Deepen, say: </a:t>
            </a:r>
            <a:r>
              <a:rPr lang="en-GB" dirty="0"/>
              <a:t>"Decisions made under emotional pressure can create consequences far beyond the immediate issue. Emotion, group reinforcement and reputational anxiety can drive consequential decisions without sufficient reflection. Separate the presenting problem from the emotional reaction around it and test whether the proposed response is proportionate."</a:t>
            </a:r>
          </a:p>
          <a:p>
            <a:r>
              <a:rPr lang="en-GB" dirty="0"/>
              <a:t>(Insight: Emotion in the decision. Source: Journal, 13 August 2026 — Professional Insights: Strategy)</a:t>
            </a:r>
          </a:p>
          <a:p>
            <a:r>
              <a:rPr lang="en-GB" dirty="0" b="1"/>
              <a:t>Say: </a:t>
            </a:r>
            <a:r>
              <a:rPr lang="en-GB" dirty="0"/>
              <a:t>"So the second question becomes: what is shaping the choices and commitments we are making?"</a:t>
            </a:r>
          </a:p>
          <a:p>
            <a:endParaRPr lang="en-GB" dirty="0"/>
          </a:p>
          <a:p>
            <a:r>
              <a:rPr lang="en-GB" dirty="0" b="1"/>
              <a:t>4. How we behave.</a:t>
            </a:r>
          </a:p>
          <a:p>
            <a:r>
              <a:rPr lang="en-GB" dirty="0" b="1"/>
              <a:t>Say: </a:t>
            </a:r>
            <a:r>
              <a:rPr lang="en-GB" dirty="0"/>
              <a:t>"How we behave is how our commitments become action: how people respond, contribute, coordinate and act, which determines whether we deliver and achieve the intended outcomes."</a:t>
            </a:r>
          </a:p>
          <a:p>
            <a:r>
              <a:rPr lang="en-GB" dirty="0" b="1"/>
              <a:t>Say: </a:t>
            </a:r>
            <a:r>
              <a:rPr lang="en-GB" dirty="0"/>
              <a:t>"A decision produces a result only once people act on it. People still have to respond to it, translate it into their own contribution, coordinate with others and act consistently with what has been agreed. This is where our commitments become visible."</a:t>
            </a:r>
          </a:p>
          <a:p>
            <a:r>
              <a:rPr lang="en-GB" dirty="0" b="1"/>
              <a:t>Deepen, say: </a:t>
            </a:r>
            <a:r>
              <a:rPr lang="en-GB" dirty="0"/>
              <a:t>"The gap between stated intention and actual behaviour is one of the most revealing leadership diagnostics available. Build accountability into the space between the commitment and the moment of execution, so that what people sincerely intend is what they do when the pressure of circumstances arrives."</a:t>
            </a:r>
          </a:p>
          <a:p>
            <a:r>
              <a:rPr lang="en-GB" dirty="0"/>
              <a:t>(Insight: The gap between intention and action. Source: Journal, 20 February 2026 — Professional Insights: Leadership)</a:t>
            </a:r>
          </a:p>
          <a:p>
            <a:r>
              <a:rPr lang="en-GB" dirty="0" b="1"/>
              <a:t>Say: </a:t>
            </a:r>
            <a:r>
              <a:rPr lang="en-GB" dirty="0"/>
              <a:t>"So the third question is: are our behaviours actually carrying our commitments through to the intended outcomes?"</a:t>
            </a:r>
          </a:p>
          <a:p>
            <a:endParaRPr lang="en-GB" dirty="0"/>
          </a:p>
          <a:p>
            <a:r>
              <a:rPr lang="en-GB" dirty="0" b="1"/>
              <a:t>5. Land the three phrases.</a:t>
            </a:r>
          </a:p>
          <a:p>
            <a:r>
              <a:rPr lang="en-GB" dirty="0"/>
              <a:t>Point to the three cards.</a:t>
            </a:r>
          </a:p>
          <a:p>
            <a:r>
              <a:rPr lang="en-GB" dirty="0" b="1"/>
              <a:t>Say: </a:t>
            </a:r>
            <a:r>
              <a:rPr lang="en-GB" dirty="0"/>
              <a:t>"How we think shapes how we decide. How we decide shapes what we commit to. How we behave determines whether those commitments become results."</a:t>
            </a:r>
          </a:p>
          <a:p>
            <a:r>
              <a:rPr lang="en-GB" dirty="0"/>
              <a:t>Read the banner aloud: "If we do not understand what shapes how we think, decide and behave, we cannot know whether we are moving towards or away from our intended outcomes."</a:t>
            </a:r>
          </a:p>
          <a:p>
            <a:endParaRPr lang="en-GB" dirty="0"/>
          </a:p>
          <a:p>
            <a:r>
              <a:rPr lang="en-GB" dirty="0" b="1"/>
              <a:t>6. Ask the room.</a:t>
            </a:r>
          </a:p>
          <a:p>
            <a:r>
              <a:rPr lang="en-GB" dirty="0" b="1"/>
              <a:t>Ask: </a:t>
            </a:r>
            <a:r>
              <a:rPr lang="en-GB" dirty="0"/>
              <a:t>"Which of these three, how we think, how we decide or how we behave, presents the greatest challenge in your organisation today?"</a:t>
            </a:r>
          </a:p>
          <a:p>
            <a:r>
              <a:rPr lang="en-GB" dirty="0"/>
              <a:t>Allow a short pair discussion before moving on.</a:t>
            </a:r>
          </a:p>
          <a:p>
            <a:endParaRPr lang="en-GB" dirty="0"/>
          </a:p>
          <a:p>
            <a:r>
              <a:rPr lang="en-GB" dirty="0" b="1"/>
              <a:t>7. Bridge to 2.2.</a:t>
            </a:r>
          </a:p>
          <a:p>
            <a:r>
              <a:rPr lang="en-GB" dirty="0" b="1"/>
              <a:t>Say: </a:t>
            </a:r>
            <a:r>
              <a:rPr lang="en-GB" dirty="0"/>
              <a:t>"We begin with the first of these: how we think. The task is to understand what is shaping how we think, as well as what we think."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dirty="0" b="1"/>
              <a:t>2.2 · TWO SYSTEMS OF THINKING</a:t>
            </a:r>
          </a:p>
          <a:p>
            <a:endParaRPr lang="en-GB" dirty="0"/>
          </a:p>
          <a:p>
            <a:r>
              <a:rPr lang="en-GB" dirty="0" b="1"/>
              <a:t>HOW TO TEACH IT:</a:t>
            </a:r>
          </a:p>
          <a:p>
            <a:endParaRPr lang="en-GB" dirty="0"/>
          </a:p>
          <a:p>
            <a:r>
              <a:rPr lang="en-GB" dirty="0" b="1"/>
              <a:t>1. Open with the question.</a:t>
            </a:r>
          </a:p>
          <a:p>
            <a:r>
              <a:rPr lang="en-GB" dirty="0" b="1"/>
              <a:t>Say: </a:t>
            </a:r>
            <a:r>
              <a:rPr lang="en-GB" dirty="0"/>
              <a:t>"We have just said that how we think shapes how we decide. So the next question is: how do we actually think?"</a:t>
            </a:r>
          </a:p>
          <a:p>
            <a:r>
              <a:rPr lang="en-GB" dirty="0" b="1"/>
              <a:t>Say: </a:t>
            </a:r>
            <a:r>
              <a:rPr lang="en-GB" dirty="0"/>
              <a:t>"One useful way of understanding this comes from Nobel laureate Daniel Kahneman's work on dual-process thinking. At times we think quickly and intuitively. At other times we slow down and think deliberately and analytically. He describes these as System 1 and System 2 thinking."</a:t>
            </a:r>
          </a:p>
          <a:p>
            <a:r>
              <a:rPr lang="en-GB" dirty="0" b="1"/>
              <a:t>Say: </a:t>
            </a:r>
            <a:r>
              <a:rPr lang="en-GB" dirty="0"/>
              <a:t>"We need both. The strategic discipline is recognising which one is shaping our judgement, and whether the situation requires us to slow down and examine that judgement more carefully. For anyone with a mandate for strategy, recognising which system is dominant is the difference between a reactive impulse and a disciplined, well thought through choice."</a:t>
            </a:r>
          </a:p>
          <a:p>
            <a:endParaRPr lang="en-GB" dirty="0"/>
          </a:p>
          <a:p>
            <a:r>
              <a:rPr lang="en-GB" dirty="0" b="1"/>
              <a:t>2. System 1: fast thinking.</a:t>
            </a:r>
          </a:p>
          <a:p>
            <a:r>
              <a:rPr lang="en-GB" dirty="0"/>
              <a:t>Point to the System 1 card.</a:t>
            </a:r>
          </a:p>
          <a:p>
            <a:r>
              <a:rPr lang="en-GB" dirty="0" b="1"/>
              <a:t>Say: </a:t>
            </a:r>
            <a:r>
              <a:rPr lang="en-GB" dirty="0"/>
              <a:t>"System 1 is automatic, intuitive and pattern-based. It is the thinking that happens quickly, often without us consciously working through every step. It operates below conscious awareness, draws heavily on experience, patterns, associations and emotion, and produces rapid, confident judgements. It is dominant in high-pressure strategy sessions, and it is vulnerable to cognitive biases."</a:t>
            </a:r>
          </a:p>
          <a:p>
            <a:r>
              <a:rPr lang="en-GB" dirty="0" b="1"/>
              <a:t>Say: </a:t>
            </a:r>
            <a:r>
              <a:rPr lang="en-GB" dirty="0"/>
              <a:t>"This is why an experienced leader can walk into a situation and immediately feel that something is wrong, or see an opportunity before others do. That intuition can be extremely valuable. Because System 1 works quickly, it can also rely on assumptions and mental shortcuts that we have not examined."</a:t>
            </a:r>
          </a:p>
          <a:p>
            <a:r>
              <a:rPr lang="en-GB" dirty="0" b="1"/>
              <a:t>Example, say: </a:t>
            </a:r>
            <a:r>
              <a:rPr lang="en-GB" dirty="0"/>
              <a:t>"A leader hears about a new market opportunity and almost immediately thinks: 'This is something we should pursue.' That judgement may contain years of valuable experience. It may also contain assumptions that have not yet been tested. So the better question is: when should we trust our gut, and when should we test it?"</a:t>
            </a:r>
          </a:p>
          <a:p>
            <a:endParaRPr lang="en-GB" dirty="0"/>
          </a:p>
          <a:p>
            <a:r>
              <a:rPr lang="en-GB" dirty="0" b="1"/>
              <a:t>3. System 2: slow thinking.</a:t>
            </a:r>
          </a:p>
          <a:p>
            <a:r>
              <a:rPr lang="en-GB" dirty="0"/>
              <a:t>Point to the System 2 card.</a:t>
            </a:r>
          </a:p>
          <a:p>
            <a:r>
              <a:rPr lang="en-GB" dirty="0" b="1"/>
              <a:t>Say: </a:t>
            </a:r>
            <a:r>
              <a:rPr lang="en-GB" dirty="0"/>
              <a:t>"System 2 is deliberate, analytical and effortful. It is what happens when we deliberately slow our thinking down. We examine evidence, question assumptions, compare alternatives, weigh options and trade-offs, and work through complexity. It is slower and more reliable for complex problems. It requires attention and effort, which is why we do not operate this way all the time. It is easily overridden by System 1 under time pressure, and it requires psychological safety to activate."</a:t>
            </a:r>
          </a:p>
          <a:p>
            <a:r>
              <a:rPr lang="en-GB" dirty="0" b="1"/>
              <a:t>Example, say: </a:t>
            </a:r>
            <a:r>
              <a:rPr lang="en-GB" dirty="0"/>
              <a:t>"The leader's initial instinct may be: 'This market looks attractive.' System 2 asks: what evidence supports that? What might we be missing? What assumptions are we making? What are the alternatives? What would have to be true for this choice to succeed? System 2 tests the intuition."</a:t>
            </a:r>
          </a:p>
          <a:p>
            <a:r>
              <a:rPr lang="en-GB" dirty="0" b="1"/>
              <a:t>Deepen, say: </a:t>
            </a:r>
            <a:r>
              <a:rPr lang="en-GB" dirty="0"/>
              <a:t>"Strategy is weakened when leaders become so committed to movement that they ignore capability gaps. A disciplined pause can prevent an expensive failure later."</a:t>
            </a:r>
          </a:p>
          <a:p>
            <a:r>
              <a:rPr lang="en-GB" dirty="0"/>
              <a:t>(Insight: A disciplined pause. Source: Journal, 1 August 2026 — Professional Insights: Strategy)</a:t>
            </a:r>
          </a:p>
          <a:p>
            <a:endParaRPr lang="en-GB" dirty="0"/>
          </a:p>
          <a:p>
            <a:r>
              <a:rPr lang="en-GB" dirty="0" b="1"/>
              <a:t>4. Land the two systems.</a:t>
            </a:r>
          </a:p>
          <a:p>
            <a:r>
              <a:rPr lang="en-GB" dirty="0" b="1"/>
              <a:t>Say: </a:t>
            </a:r>
            <a:r>
              <a:rPr lang="en-GB" dirty="0"/>
              <a:t>"System 1 gives us speed. System 2 gives us scrutiny. Both have a place in strategy. The challenge arises when fast thinking produces a judgement in a situation that requires deeper examination, and we never recognise that we needed to slow down."</a:t>
            </a:r>
          </a:p>
          <a:p>
            <a:r>
              <a:rPr lang="en-GB" dirty="0"/>
              <a:t>Read the banner aloud: "Know when System 2 is needed, and create the conditions for it to activate."</a:t>
            </a:r>
          </a:p>
          <a:p>
            <a:endParaRPr lang="en-GB" dirty="0"/>
          </a:p>
          <a:p>
            <a:r>
              <a:rPr lang="en-GB" dirty="0" b="1"/>
              <a:t>5. Ask where System 1 takes over.</a:t>
            </a:r>
          </a:p>
          <a:p>
            <a:r>
              <a:rPr lang="en-GB" dirty="0" b="1"/>
              <a:t>Ask: </a:t>
            </a:r>
            <a:r>
              <a:rPr lang="en-GB" dirty="0"/>
              <a:t>"Under what conditions does System 1 tend to take over in your organisation?"</a:t>
            </a:r>
          </a:p>
          <a:p>
            <a:r>
              <a:rPr lang="en-GB" dirty="0" b="1"/>
              <a:t>Then ask: </a:t>
            </a:r>
            <a:r>
              <a:rPr lang="en-GB" dirty="0"/>
              <a:t>"What does that actually look like in the meeting room?"</a:t>
            </a:r>
          </a:p>
          <a:p>
            <a:r>
              <a:rPr lang="en-GB" dirty="0" b="1"/>
              <a:t>Listen for: </a:t>
            </a:r>
            <a:r>
              <a:rPr lang="en-GB" dirty="0"/>
              <a:t>time pressure, hierarchy, strong personalities, familiarity, crisis, fatigue, previous success, consensus or pressure to demonstrate action.</a:t>
            </a:r>
          </a:p>
          <a:p>
            <a:endParaRPr lang="en-GB" dirty="0"/>
          </a:p>
          <a:p>
            <a:r>
              <a:rPr lang="en-GB" dirty="0" b="1"/>
              <a:t>6. Make the key facilitation point.</a:t>
            </a:r>
          </a:p>
          <a:p>
            <a:r>
              <a:rPr lang="en-GB" dirty="0" b="1"/>
              <a:t>Say: </a:t>
            </a:r>
            <a:r>
              <a:rPr lang="en-GB" dirty="0"/>
              <a:t>"Experienced leaders need intuition; pattern recognition is part of expertise. The discipline is knowing when intuition is enough and when the stakes, uncertainty or complexity require us to engage System 2 deliberately. Sometimes that requires creating the conditions to slow the room down."</a:t>
            </a:r>
          </a:p>
          <a:p>
            <a:r>
              <a:rPr lang="en-GB" dirty="0" b="1"/>
              <a:t>Deepen, say: </a:t>
            </a:r>
            <a:r>
              <a:rPr lang="en-GB" dirty="0"/>
              <a:t>"Strong organisations need room to say 'We do not yet know' without reading uncertainty as incompetence. That humility improves learning and stops assumptions from hardening prematurely into facts."</a:t>
            </a:r>
          </a:p>
          <a:p>
            <a:r>
              <a:rPr lang="en-GB" dirty="0"/>
              <a:t>(Insight: Room to say "We do not yet know". Source: Journal, 3 September 2026 — Professional Insights: Culture)</a:t>
            </a:r>
          </a:p>
          <a:p>
            <a:endParaRPr lang="en-GB" dirty="0"/>
          </a:p>
          <a:p>
            <a:r>
              <a:rPr lang="en-GB" dirty="0" b="1"/>
              <a:t>7. Show how pressure feeds System 1.</a:t>
            </a:r>
          </a:p>
          <a:p>
            <a:r>
              <a:rPr lang="en-GB" dirty="0" b="1"/>
              <a:t>Say: </a:t>
            </a:r>
            <a:r>
              <a:rPr lang="en-GB" dirty="0"/>
              <a:t>"Under pressure, leaders can feel compelled to demonstrate action. Speed of response and quality of response are different things. The discipline to slow down, think clearly and act from assessed calm is one of the rarest leadership capacities."</a:t>
            </a:r>
          </a:p>
          <a:p>
            <a:r>
              <a:rPr lang="en-GB" dirty="0" b="1"/>
              <a:t>Say: </a:t>
            </a:r>
            <a:r>
              <a:rPr lang="en-GB" dirty="0"/>
              <a:t>"A leader's position gives weight to what they say. A quick reaction from the most senior person in the room can become organisational direction before it was ever intended to be. Sometimes System 2 begins with something as simple as: 'Let me think about that before we decide.' That pause is a deliberate thinking discipline."</a:t>
            </a:r>
          </a:p>
          <a:p>
            <a:endParaRPr lang="en-GB" dirty="0"/>
          </a:p>
          <a:p>
            <a:r>
              <a:rPr lang="en-GB" dirty="0" b="1"/>
              <a:t>8. Leave the room with one question.</a:t>
            </a:r>
          </a:p>
          <a:p>
            <a:r>
              <a:rPr lang="en-GB" dirty="0" b="1"/>
              <a:t>Say: </a:t>
            </a:r>
            <a:r>
              <a:rPr lang="en-GB" dirty="0"/>
              <a:t>"Think of a significant strategic decision you were recently involved in. Which system appeared to dominate? What conditions made that more likely?"</a:t>
            </a:r>
          </a:p>
          <a:p>
            <a:r>
              <a:rPr lang="en-GB" dirty="0" b="1"/>
              <a:t>Then ask: </a:t>
            </a:r>
            <a:r>
              <a:rPr lang="en-GB" dirty="0"/>
              <a:t>"Looking back, was that the kind of thinking the decision required?"</a:t>
            </a:r>
          </a:p>
          <a:p>
            <a:r>
              <a:rPr lang="en-GB" dirty="0" b="1"/>
              <a:t>Say: </a:t>
            </a:r>
            <a:r>
              <a:rPr lang="en-GB" dirty="0"/>
              <a:t>"The question to carry into every important decision is: what kind of thinking does this decision require from us?"</a:t>
            </a:r>
          </a:p>
          <a:p>
            <a:endParaRPr lang="en-GB" dirty="0"/>
          </a:p>
          <a:p>
            <a:r>
              <a:rPr lang="en-GB" dirty="0" b="1"/>
              <a:t>9. Bridge to 2.3.</a:t>
            </a:r>
          </a:p>
          <a:p>
            <a:r>
              <a:rPr lang="en-GB" dirty="0" b="1"/>
              <a:t>Say: </a:t>
            </a:r>
            <a:r>
              <a:rPr lang="en-GB" dirty="0"/>
              <a:t>"If System 1 works quickly and often outside our conscious awareness, what happens when the shortcuts it relies on distort our judgement? That is where functional bias begins."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dirty="0" b="1"/>
              <a:t>2.3 · FUNCTIONAL BIAS IN STRATEGY: THE ELEPHANT PERSPECTIVE</a:t>
            </a:r>
          </a:p>
          <a:p>
            <a:endParaRPr lang="en-GB" dirty="0"/>
          </a:p>
          <a:p>
            <a:r>
              <a:rPr lang="en-GB" dirty="0" b="1"/>
              <a:t>HOW TO TEACH IT:</a:t>
            </a:r>
          </a:p>
          <a:p>
            <a:endParaRPr lang="en-GB" dirty="0"/>
          </a:p>
          <a:p>
            <a:r>
              <a:rPr lang="en-GB" dirty="0" b="1"/>
              <a:t>1. Open with a provocation.</a:t>
            </a:r>
          </a:p>
          <a:p>
            <a:r>
              <a:rPr lang="en-GB" dirty="0" b="1"/>
              <a:t>Ask: </a:t>
            </a:r>
            <a:r>
              <a:rPr lang="en-GB" dirty="0"/>
              <a:t>"In your leadership team, who sees the most complete picture of the organisation's strategic reality? What does that person's role tell you?"</a:t>
            </a:r>
          </a:p>
          <a:p>
            <a:r>
              <a:rPr lang="en-GB" dirty="0"/>
              <a:t>Allow a brief discussion.</a:t>
            </a:r>
          </a:p>
          <a:p>
            <a:endParaRPr lang="en-GB" dirty="0"/>
          </a:p>
          <a:p>
            <a:r>
              <a:rPr lang="en-GB" dirty="0" b="1"/>
              <a:t>2. Move from the individual to the table.</a:t>
            </a:r>
          </a:p>
          <a:p>
            <a:r>
              <a:rPr lang="en-GB" dirty="0" b="1"/>
              <a:t>Say: </a:t>
            </a:r>
            <a:r>
              <a:rPr lang="en-GB" dirty="0"/>
              <a:t>"We have just looked at how our individual thinking shapes our judgement. Strategy is rarely shaped or delivered by one person. It is shaped around a table, by leaders responsible for different parts of the organisation, and brought to life by people across the organisation who must interpret it, respond to it and act on it."</a:t>
            </a:r>
          </a:p>
          <a:p>
            <a:r>
              <a:rPr lang="en-GB" dirty="0" b="1"/>
              <a:t>Say: </a:t>
            </a:r>
            <a:r>
              <a:rPr lang="en-GB" dirty="0"/>
              <a:t>"That introduces another challenge. We may be working towards the same strategic outcome without thinking about what it requires, or how to achieve it, in the same way. One person sees a people issue. Another sees a financial issue. Another an operational issue. Another a customer issue. Same strategy. Same intended outcome. Different ways of thinking about what needs to be done."</a:t>
            </a:r>
          </a:p>
          <a:p>
            <a:r>
              <a:rPr lang="en-GB" dirty="0" b="1"/>
              <a:t>Say: </a:t>
            </a:r>
            <a:r>
              <a:rPr lang="en-GB" dirty="0"/>
              <a:t>"Every executive leader develops deep expertise within their domain. That expertise drives competence, speed and confidence. It also creates invisible filters that shape what leaders notice, how they interpret information, what they prioritise and what they believe needs to be done. Left unexamined, these differences surface as execution friction: delayed decisions, misaligned KPIs, teams moving with energy in different directions."</a:t>
            </a:r>
          </a:p>
          <a:p>
            <a:endParaRPr lang="en-GB" dirty="0"/>
          </a:p>
          <a:p>
            <a:r>
              <a:rPr lang="en-GB" dirty="0" b="1"/>
              <a:t>3. Define functional bias.</a:t>
            </a:r>
          </a:p>
          <a:p>
            <a:r>
              <a:rPr lang="en-GB" dirty="0" b="1"/>
              <a:t>Say: </a:t>
            </a:r>
            <a:r>
              <a:rPr lang="en-GB" dirty="0"/>
              <a:t>"Every person engages strategy from somewhere. Our roles, expertise and responsibilities give us a particular perspective. That perspective is valuable. It can also influence what we notice, what we prioritise, how we interpret a situation and what we believe should be done about it."</a:t>
            </a:r>
          </a:p>
          <a:p>
            <a:r>
              <a:rPr lang="en-GB" dirty="0" b="1"/>
              <a:t>Read aloud: </a:t>
            </a:r>
            <a:r>
              <a:rPr lang="en-GB" dirty="0"/>
              <a:t>"Functional bias: the tendency to interpret a strategic issue, and what should be done about it, primarily from the perspective of our own function, expertise or area of responsibility."</a:t>
            </a:r>
          </a:p>
          <a:p>
            <a:r>
              <a:rPr lang="en-GB" dirty="0" b="1"/>
              <a:t>Say: </a:t>
            </a:r>
            <a:r>
              <a:rPr lang="en-GB" dirty="0"/>
              <a:t>"Our perspective may well be right. The difficulty is that it may only be part of the picture."</a:t>
            </a:r>
          </a:p>
          <a:p>
            <a:endParaRPr lang="en-GB" dirty="0"/>
          </a:p>
          <a:p>
            <a:r>
              <a:rPr lang="en-GB" dirty="0" b="1"/>
              <a:t>4. Read the parable.</a:t>
            </a:r>
          </a:p>
          <a:p>
            <a:r>
              <a:rPr lang="en-GB" dirty="0"/>
              <a:t>Read the parable aloud yourself, or invite a participant to read it to the group. Point to the six cards as you go.</a:t>
            </a:r>
          </a:p>
          <a:p>
            <a:r>
              <a:rPr lang="en-GB" dirty="0" b="1"/>
              <a:t>Read aloud: </a:t>
            </a:r>
            <a:r>
              <a:rPr lang="en-GB" dirty="0"/>
              <a:t>"There is an old story, told in many forms across many cultures, about six men who are blind from birth. One day they are led to an elephant, an animal they have heard spoken of but never encountered, and each is invited to discover it."</a:t>
            </a:r>
          </a:p>
          <a:p>
            <a:r>
              <a:rPr lang="en-GB" dirty="0" b="1"/>
              <a:t>Read aloud: </a:t>
            </a:r>
            <a:r>
              <a:rPr lang="en-GB" dirty="0"/>
              <a:t>"The first man reaches out and touches the side of the elephant. It is vast, flat and solid. 'An elephant,' he declares, 'is like a wall.' The second finds a tusk and wraps his hands around its smooth, curved length. 'Not at all,' he says. 'It is like a spear.' The third takes hold of the trunk as it curls and twists. 'You are both wrong. It is like a snake.' The fourth encircles a leg and feels the rough, pillar-like mass beneath his palms. 'It is a tree trunk.' The fifth grasps the ear and feels its wide, flat sweep. 'It is a fan.' The sixth grabs the tail. 'It is a rope.'"</a:t>
            </a:r>
          </a:p>
          <a:p>
            <a:r>
              <a:rPr lang="en-GB" dirty="0"/>
              <a:t>Pause. Give the room a moment of quiet. Resist the urge to explain it straight away.</a:t>
            </a:r>
          </a:p>
          <a:p>
            <a:endParaRPr lang="en-GB" dirty="0"/>
          </a:p>
          <a:p>
            <a:r>
              <a:rPr lang="en-GB" dirty="0" b="1"/>
              <a:t>5. Draw out the meaning.</a:t>
            </a:r>
          </a:p>
          <a:p>
            <a:r>
              <a:rPr lang="en-GB" dirty="0" b="1"/>
              <a:t>Say: </a:t>
            </a:r>
            <a:r>
              <a:rPr lang="en-GB" dirty="0"/>
              <a:t>"Each person has encountered something real. Each has evidence for what they believe. Each conclusion makes sense from where that person is standing. None has the complete picture. None is lying and none is careless. The problem begins when the part they see becomes the whole of what they believe."</a:t>
            </a:r>
          </a:p>
          <a:p>
            <a:r>
              <a:rPr lang="en-GB" dirty="0" b="1"/>
              <a:t>Deepen, say: </a:t>
            </a:r>
            <a:r>
              <a:rPr lang="en-GB" dirty="0"/>
              <a:t>"Organisations can hold deep technical expertise and still make poor choices when judgement lacks the discipline of purpose. Fragmentation around personalities distorts collective direction."</a:t>
            </a:r>
          </a:p>
          <a:p>
            <a:r>
              <a:rPr lang="en-GB" dirty="0"/>
              <a:t>(Insight: Knowledge, capability and wisdom. Source: Journal, 31 August 2026 — Professional Insights: Strategy)</a:t>
            </a:r>
          </a:p>
          <a:p>
            <a:endParaRPr lang="en-GB" dirty="0"/>
          </a:p>
          <a:p>
            <a:r>
              <a:rPr lang="en-GB" dirty="0" b="1"/>
              <a:t>6. Bring it back to strategy.</a:t>
            </a:r>
          </a:p>
          <a:p>
            <a:r>
              <a:rPr lang="en-GB" dirty="0" b="1"/>
              <a:t>Say: </a:t>
            </a:r>
            <a:r>
              <a:rPr lang="en-GB" dirty="0"/>
              <a:t>"This is what can happen in strategy. Finance may see one implication. Operations another. People and Culture another. Technology another. The frontline may experience something else entirely. Each perspective may contain something important. If each person acts only from their own interpretation, the organisation can have capable people making reasonable decisions that collectively do not add up to a coherent response."</a:t>
            </a:r>
          </a:p>
          <a:p>
            <a:r>
              <a:rPr lang="en-GB" dirty="0" b="1"/>
              <a:t>Say: </a:t>
            </a:r>
            <a:r>
              <a:rPr lang="en-GB" dirty="0"/>
              <a:t>"That is where functional bias becomes a strategic problem. It shows up as competing priorities, conflicting decisions, misaligned measures, missed dependencies and teams working hard in different directions."</a:t>
            </a:r>
          </a:p>
          <a:p>
            <a:r>
              <a:rPr lang="en-GB" dirty="0" b="1"/>
              <a:t>Deepen, say: </a:t>
            </a:r>
            <a:r>
              <a:rPr lang="en-GB" dirty="0"/>
              <a:t>"Finance optimises finance, HR optimises HR, operations optimises operations, and each may perform well individually while the enterprise struggles collectively. Coherence grows when people routinely ask two questions: 'What is my function responsible for?' and 'What does the organisation need from my function for the whole to succeed?'"</a:t>
            </a:r>
          </a:p>
          <a:p>
            <a:r>
              <a:rPr lang="en-GB" dirty="0"/>
              <a:t>(Insight: Function and enterprise. Source: Journal, 3 October 2026 — Professional Insights: Culture)</a:t>
            </a:r>
          </a:p>
          <a:p>
            <a:endParaRPr lang="en-GB" dirty="0"/>
          </a:p>
          <a:p>
            <a:r>
              <a:rPr lang="en-GB" dirty="0" b="1"/>
              <a:t>7. Debrief.</a:t>
            </a:r>
          </a:p>
          <a:p>
            <a:r>
              <a:rPr lang="en-GB" dirty="0" b="1"/>
              <a:t>Ask: </a:t>
            </a:r>
            <a:r>
              <a:rPr lang="en-GB" dirty="0"/>
              <a:t>"If your organisation were this elephant, what part might different functions or teams be touching?"</a:t>
            </a:r>
          </a:p>
          <a:p>
            <a:r>
              <a:rPr lang="en-GB" dirty="0"/>
              <a:t>Allow the discussion to develop.</a:t>
            </a:r>
          </a:p>
          <a:p>
            <a:r>
              <a:rPr lang="en-GB" dirty="0" b="1"/>
              <a:t>Then ask: </a:t>
            </a:r>
            <a:r>
              <a:rPr lang="en-GB" dirty="0"/>
              <a:t>"Where might people be making perfectly reasonable decisions from where they sit, but those decisions are not producing the best outcome for the whole?"</a:t>
            </a:r>
          </a:p>
          <a:p>
            <a:r>
              <a:rPr lang="en-GB" dirty="0" b="1"/>
              <a:t>And finally: </a:t>
            </a:r>
            <a:r>
              <a:rPr lang="en-GB" dirty="0"/>
              <a:t>"What would have to happen for everyone around the elephant to understand more of the whole?"</a:t>
            </a:r>
          </a:p>
          <a:p>
            <a:r>
              <a:rPr lang="en-GB" dirty="0" b="1"/>
              <a:t>Listen for: </a:t>
            </a:r>
            <a:r>
              <a:rPr lang="en-GB" dirty="0"/>
              <a:t>the functions that are consistently named. This often surfaces the real silo structure of the organisation.</a:t>
            </a:r>
          </a:p>
          <a:p>
            <a:endParaRPr lang="en-GB" dirty="0"/>
          </a:p>
          <a:p>
            <a:r>
              <a:rPr lang="en-GB" dirty="0" b="1"/>
              <a:t>8. Land the insight.</a:t>
            </a:r>
          </a:p>
          <a:p>
            <a:r>
              <a:rPr lang="en-GB" dirty="0" b="1"/>
              <a:t>Say: </a:t>
            </a:r>
            <a:r>
              <a:rPr lang="en-GB" dirty="0"/>
              <a:t>"The classic Elephant parable illustrates a structural requirement for strategic leadership: the shift from individual accuracy to collective coherence. At the enterprise level, strategic quality is determined by an organisation's ability to surface these partial truths, hold them in tension and integrate them into a unified understanding of reality."</a:t>
            </a:r>
          </a:p>
          <a:p>
            <a:r>
              <a:rPr lang="en-GB" dirty="0" b="1"/>
              <a:t>Ask: </a:t>
            </a:r>
            <a:r>
              <a:rPr lang="en-GB" dirty="0"/>
              <a:t>"What would it take in your organisation to surface, hold and integrate all those partial truths?"</a:t>
            </a:r>
          </a:p>
          <a:p>
            <a:r>
              <a:rPr lang="en-GB" dirty="0"/>
              <a:t>Read the line at the foot of the slide: "The strategic discipline is being able to bring the depth of our own perspective without assuming that our perspective is complete."</a:t>
            </a:r>
          </a:p>
          <a:p>
            <a:r>
              <a:rPr lang="en-GB" dirty="0" b="1"/>
              <a:t>Say: </a:t>
            </a:r>
            <a:r>
              <a:rPr lang="en-GB" dirty="0"/>
              <a:t>"Functional bias does not mean we abandon our expertise. We need the different perspectives."</a:t>
            </a:r>
          </a:p>
          <a:p>
            <a:r>
              <a:rPr lang="en-GB" dirty="0" b="1"/>
              <a:t>Deepen, say: </a:t>
            </a:r>
            <a:r>
              <a:rPr lang="en-GB" dirty="0"/>
              <a:t>"A team that is too uniform will be blind to the moments it was never built for. When building a team, deliberately include the person who does not fit the template; that person often solves the problem no one else can see."</a:t>
            </a:r>
          </a:p>
          <a:p>
            <a:r>
              <a:rPr lang="en-GB" dirty="0"/>
              <a:t>(Insight: The person who does not fit the template. Source: Journal, 18 April 2026 — Professional Insights: Leadership)</a:t>
            </a:r>
          </a:p>
          <a:p>
            <a:endParaRPr lang="en-GB" dirty="0"/>
          </a:p>
          <a:p>
            <a:r>
              <a:rPr lang="en-GB" dirty="0" b="1"/>
              <a:t>9. Bridge to 2.4.</a:t>
            </a:r>
          </a:p>
          <a:p>
            <a:r>
              <a:rPr lang="en-GB" dirty="0" b="1"/>
              <a:t>Say: </a:t>
            </a:r>
            <a:r>
              <a:rPr lang="en-GB" dirty="0"/>
              <a:t>"The challenge is whether different perspectives can be brought together to understand the whole. There is another layer beneath where we sit: the predictable ways human judgement can become distorted. These are cognitive biases."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dirty="0" b="1"/>
              <a:t>2.4 · THE COGNITIVE BIAS FAMILY: 20 BIASES ACROSS 4 FAMILIES</a:t>
            </a:r>
          </a:p>
          <a:p>
            <a:endParaRPr lang="en-GB" dirty="0"/>
          </a:p>
          <a:p>
            <a:r>
              <a:rPr lang="en-GB" dirty="0" b="1"/>
              <a:t>HOW TO TEACH IT:</a:t>
            </a:r>
          </a:p>
          <a:p>
            <a:endParaRPr lang="en-GB" dirty="0"/>
          </a:p>
          <a:p>
            <a:r>
              <a:rPr lang="en-GB" dirty="0" b="1"/>
              <a:t>1. Open with the two filters.</a:t>
            </a:r>
          </a:p>
          <a:p>
            <a:r>
              <a:rPr lang="en-GB" dirty="0" b="1"/>
              <a:t>Say: </a:t>
            </a:r>
            <a:r>
              <a:rPr lang="en-GB" dirty="0"/>
              <a:t>"Every strategic message passes through two human filters: the mind, which is cognition, and the heart, which is emotion. The biases in this part help us understand the mind: how human judgement can distort what we notice, interpret, assume and decide."</a:t>
            </a:r>
          </a:p>
          <a:p>
            <a:r>
              <a:rPr lang="en-GB" dirty="0" b="1"/>
              <a:t>Say: </a:t>
            </a:r>
            <a:r>
              <a:rPr lang="en-GB" dirty="0"/>
              <a:t>"We have just seen that people can engage the same strategic task and think about it differently. Our roles and experience explain some of that difference. Sometimes the difference comes from the predictable ways in which human judgement can become distorted."</a:t>
            </a:r>
          </a:p>
          <a:p>
            <a:endParaRPr lang="en-GB" dirty="0"/>
          </a:p>
          <a:p>
            <a:r>
              <a:rPr lang="en-GB" dirty="0" b="1"/>
              <a:t>2. Define a cognitive bias.</a:t>
            </a:r>
          </a:p>
          <a:p>
            <a:r>
              <a:rPr lang="en-GB" dirty="0" b="1"/>
              <a:t>Say: </a:t>
            </a:r>
            <a:r>
              <a:rPr lang="en-GB" dirty="0"/>
              <a:t>"A cognitive bias is a pattern in our thinking that can systematically influence how we interpret information, make judgements and arrive at decisions. It goes deeper than a single mistake. And we all have them. We are often much better at recognising bias in someone else's thinking than in our own."</a:t>
            </a:r>
          </a:p>
          <a:p>
            <a:endParaRPr lang="en-GB" dirty="0"/>
          </a:p>
          <a:p>
            <a:r>
              <a:rPr lang="en-GB" dirty="0" b="1"/>
              <a:t>3. Explain why bias matters in strategy.</a:t>
            </a:r>
          </a:p>
          <a:p>
            <a:r>
              <a:rPr lang="en-GB" dirty="0" b="1"/>
              <a:t>Say: </a:t>
            </a:r>
            <a:r>
              <a:rPr lang="en-GB" dirty="0"/>
              <a:t>"Remember System 1. Our minds are constantly helping us make sense of complexity quickly. We use experience, patterns and mental shortcuts so that we do not have to analyse everything from the beginning every time. Most of the time, that is useful. Those same shortcuts can also pull our judgement in a particular direction without us realising it. That matters in strategy because the distortion can influence what we believe, what we decide and what we commit to doing."</a:t>
            </a:r>
          </a:p>
          <a:p>
            <a:r>
              <a:rPr lang="en-GB" dirty="0" b="1"/>
              <a:t>Say: </a:t>
            </a:r>
            <a:r>
              <a:rPr lang="en-GB" dirty="0"/>
              <a:t>"So the question is: which biases might be influencing our thinking here?"</a:t>
            </a:r>
          </a:p>
          <a:p>
            <a:endParaRPr lang="en-GB" dirty="0"/>
          </a:p>
          <a:p>
            <a:r>
              <a:rPr lang="en-GB" dirty="0" b="1"/>
              <a:t>4. Introduce the four families.</a:t>
            </a:r>
          </a:p>
          <a:p>
            <a:r>
              <a:rPr lang="en-GB" dirty="0" b="1"/>
              <a:t>Say: </a:t>
            </a:r>
            <a:r>
              <a:rPr lang="en-GB" dirty="0"/>
              <a:t>"There are many documented cognitive biases. In this programme we work with 20 biases grouped into four families, so that we can recognise them more easily in strategic situations. Each family represents a different way our judgement can be pulled away from a more considered assessment. For now, explore them. There is no need to memorise them."</a:t>
            </a:r>
          </a:p>
          <a:p>
            <a:endParaRPr lang="en-GB" dirty="0"/>
          </a:p>
          <a:p>
            <a:r>
              <a:rPr lang="en-GB" dirty="0" b="1"/>
              <a:t>5. Family 1: Action-Oriented Biases.</a:t>
            </a:r>
          </a:p>
          <a:p>
            <a:r>
              <a:rPr lang="en-GB" dirty="0" b="1"/>
              <a:t>Say: </a:t>
            </a:r>
            <a:r>
              <a:rPr lang="en-GB" dirty="0"/>
              <a:t>"Action-oriented biases are the pull towards acting, committing or moving ahead. They influence how confident we feel about what we know, how positively we see the future, how much control we believe we have and how quickly we commit to action. They are Overconfidence, Optimism, Illusion of Control, Planning Fallacy and Confirmation."</a:t>
            </a:r>
          </a:p>
          <a:p>
            <a:r>
              <a:rPr lang="en-GB" dirty="0" b="1"/>
              <a:t>Say: </a:t>
            </a:r>
            <a:r>
              <a:rPr lang="en-GB" dirty="0"/>
              <a:t>"The question to hold: what might be causing us to move with greater confidence or certainty than the situation warrants?"</a:t>
            </a:r>
          </a:p>
          <a:p>
            <a:r>
              <a:rPr lang="en-GB" dirty="0" b="1"/>
              <a:t>Say: </a:t>
            </a:r>
            <a:r>
              <a:rPr lang="en-GB" dirty="0"/>
              <a:t>"Case in point: Steinhoff. For years, Steinhoff was celebrated for rapid growth and international expansion. Acquisition followed acquisition, and the organisation grew into a multinational retail group. In 2017, accounting irregularities came to light, triggering a dramatic collapse in market value and exposing significant governance failures."</a:t>
            </a:r>
          </a:p>
          <a:p>
            <a:r>
              <a:rPr lang="en-GB" dirty="0" b="1"/>
              <a:t>Ask: </a:t>
            </a:r>
            <a:r>
              <a:rPr lang="en-GB" dirty="0"/>
              <a:t>"If we looked at this as a case in point, which bias or biases might have been at play?"</a:t>
            </a:r>
          </a:p>
          <a:p>
            <a:r>
              <a:rPr lang="en-GB" dirty="0"/>
              <a:t>Let participants diagnose the case before you offer your reflection.</a:t>
            </a:r>
          </a:p>
          <a:p>
            <a:r>
              <a:rPr lang="en-GB" dirty="0" b="1"/>
              <a:t>Listen for: </a:t>
            </a:r>
            <a:r>
              <a:rPr lang="en-GB" dirty="0"/>
              <a:t>overconfidence, optimism, illusion of control and confirmation bias.</a:t>
            </a:r>
          </a:p>
          <a:p>
            <a:r>
              <a:rPr lang="en-GB" dirty="0" b="1"/>
              <a:t>Say: </a:t>
            </a:r>
            <a:r>
              <a:rPr lang="en-GB" dirty="0"/>
              <a:t>"Repeated success can strengthen confidence in the organisation's judgement and its ability to manage increasing complexity. As confidence grows, assumptions may receive less challenge and warning signals may carry less weight."</a:t>
            </a:r>
          </a:p>
          <a:p>
            <a:r>
              <a:rPr lang="en-GB" dirty="0"/>
              <a:t>Connect it to the family. Say: "Overconfidence: has repeated success increased our confidence in our own judgement beyond what the evidence supports? Optimism: are we placing greater weight on how well this could go than on what could go wrong? Illusion of Control: are we assuming we can manage complexities and outcomes that may sit beyond our control? Planning Fallacy: are we underestimating the time, resources and complexity required to deliver what we have committed to? Confirmation: once we have committed to a direction, are we paying more attention to evidence that supports it than evidence that challenges it?"</a:t>
            </a:r>
          </a:p>
          <a:p>
            <a:r>
              <a:rPr lang="en-GB" dirty="0" b="1"/>
              <a:t>Deepen, say: </a:t>
            </a:r>
            <a:r>
              <a:rPr lang="en-GB" dirty="0"/>
              <a:t>"The leader who promises the board a delivery date in the heat of the meeting, or announces a pricing change before the commercial modelling is done, shows the planning fallacy at work. One discipline: no public commitment to a number, date or outcome above an agreed threshold without a 24-hour pause."</a:t>
            </a:r>
          </a:p>
          <a:p>
            <a:r>
              <a:rPr lang="en-GB" dirty="0"/>
              <a:t>(Insight: Committing before counting the cost. Source: Journal, 22 April 2026 — Professional Insights: Leadership)</a:t>
            </a:r>
          </a:p>
          <a:p>
            <a:r>
              <a:rPr lang="en-GB" dirty="0" b="1"/>
              <a:t>Say: </a:t>
            </a:r>
            <a:r>
              <a:rPr lang="en-GB" dirty="0"/>
              <a:t>"Notice how these biases reinforce one another. Success can increase confidence. Confidence can strengthen optimism. Optimism can make ambitious plans appear more achievable. Once we have committed, confirmation bias can make contradictory evidence easier to explain away. The behavioural lesson: success can become part of the conditions that make overconfidence possible."</a:t>
            </a:r>
          </a:p>
          <a:p>
            <a:r>
              <a:rPr lang="en-GB" dirty="0" b="1"/>
              <a:t>Deepen, say: </a:t>
            </a:r>
            <a:r>
              <a:rPr lang="en-GB" dirty="0"/>
              <a:t>"Overconfidence after a significant victory is one of the most dangerous leadership conditions. Build a habit of consultation that holds regardless of how strong the last result felt."</a:t>
            </a:r>
          </a:p>
          <a:p>
            <a:r>
              <a:rPr lang="en-GB" dirty="0"/>
              <a:t>(Insight: Overconfidence after a win. Source: Journal, 6 April 2026 — Professional Insights: Leadership)</a:t>
            </a:r>
          </a:p>
          <a:p>
            <a:endParaRPr lang="en-GB" dirty="0"/>
          </a:p>
          <a:p>
            <a:r>
              <a:rPr lang="en-GB" dirty="0" b="1"/>
              <a:t>6. Family 2: Stability Biases.</a:t>
            </a:r>
          </a:p>
          <a:p>
            <a:r>
              <a:rPr lang="en-GB" dirty="0" b="1"/>
              <a:t>Say: </a:t>
            </a:r>
            <a:r>
              <a:rPr lang="en-GB" dirty="0"/>
              <a:t>"Stability biases are the pull towards protecting, preserving or staying with what we already know. They influence how strongly we hold onto existing assumptions, investments, arrangements and positions, even as circumstances change. They are Anchoring, Status Quo, Loss Aversion, Sunk-Cost and Endowment."</a:t>
            </a:r>
          </a:p>
          <a:p>
            <a:r>
              <a:rPr lang="en-GB" dirty="0" b="1"/>
              <a:t>Say: </a:t>
            </a:r>
            <a:r>
              <a:rPr lang="en-GB" dirty="0"/>
              <a:t>"The question to hold: what might we be holding onto simply because it is familiar, established or already ours?"</a:t>
            </a:r>
          </a:p>
          <a:p>
            <a:r>
              <a:rPr lang="en-GB" dirty="0" b="1"/>
              <a:t>Say: </a:t>
            </a:r>
            <a:r>
              <a:rPr lang="en-GB" dirty="0"/>
              <a:t>"Case in point: Kodak. For much of the 20th century, Kodak dominated the photography industry. Its film-based business was highly profitable, and the company had built enormous capability, infrastructure and brand strength around it. In 1975, a Kodak engineer developed one of the world's first digital cameras, so Kodak had early visibility of the technology that would eventually transform photography. Digital photography presented a difficult strategic tension: moving aggressively towards digital meant embracing a technology that threatened the highly profitable film business on which Kodak's success was built. As consumers moved towards digital photography, Kodak struggled to adapt its business model quickly enough. The company filed for Chapter 11 bankruptcy protection in 2012."</a:t>
            </a:r>
          </a:p>
          <a:p>
            <a:r>
              <a:rPr lang="en-GB" dirty="0" b="1"/>
              <a:t>Ask: </a:t>
            </a:r>
            <a:r>
              <a:rPr lang="en-GB" dirty="0"/>
              <a:t>"If this were a case in point, which biases might have been at play?"</a:t>
            </a:r>
          </a:p>
          <a:p>
            <a:r>
              <a:rPr lang="en-GB" dirty="0"/>
              <a:t>Let participants diagnose the case before offering your reflection.</a:t>
            </a:r>
          </a:p>
          <a:p>
            <a:r>
              <a:rPr lang="en-GB" dirty="0" b="1"/>
              <a:t>Listen for: </a:t>
            </a:r>
            <a:r>
              <a:rPr lang="en-GB" dirty="0"/>
              <a:t>status quo bias, loss aversion, anchoring and the endowment effect.</a:t>
            </a:r>
          </a:p>
          <a:p>
            <a:r>
              <a:rPr lang="en-GB" dirty="0" b="1"/>
              <a:t>Say: </a:t>
            </a:r>
            <a:r>
              <a:rPr lang="en-GB" dirty="0"/>
              <a:t>"Kodak saw digital technology coming. It had participated in its development. The deeper strategic challenge was what embracing digital required Kodak to reconsider: a successful existing business, established capabilities, investments and an economic model that had served the organisation extremely well. This is where stability biases become powerful. What already exists can become the reference point from which the future is judged. What has created value can become difficult to disrupt. And what we already own can appear more valuable because it is ours."</a:t>
            </a:r>
          </a:p>
          <a:p>
            <a:r>
              <a:rPr lang="en-GB" dirty="0"/>
              <a:t>Connect it to the family. Say: "Anchoring: are we judging the future using assumptions formed when our existing business model was still dominant? Status Quo: does staying with what we know feel safer than fundamentally changing how we create value? Loss Aversion: are we more concerned about losing the value of our existing business than capturing the value of the emerging opportunity? Sunk Cost: are previous investments influencing our willingness to redirect resources, even when circumstances have changed? Endowment Effect: are we placing greater value on our existing capabilities, assets and business model because they belong to us?"</a:t>
            </a:r>
          </a:p>
          <a:p>
            <a:r>
              <a:rPr lang="en-GB" dirty="0" b="1"/>
              <a:t>Say: </a:t>
            </a:r>
            <a:r>
              <a:rPr lang="en-GB" dirty="0"/>
              <a:t>"Notice how these reinforce one another. Past success anchors our expectations around the existing business. That anchor makes the status quo feel familiar, proven and therefore safer. The prospect of disrupting what already works activates loss aversion. The more we have invested, the stronger the pull of sunk cost. And because the capabilities, assets and business are already ours, the endowment effect makes them appear more valuable and more difficult to relinquish. The more we have built around the past, the harder it can become to move towards the future."</a:t>
            </a:r>
          </a:p>
          <a:p>
            <a:r>
              <a:rPr lang="en-GB" dirty="0" b="1"/>
              <a:t>Deepen, say: </a:t>
            </a:r>
            <a:r>
              <a:rPr lang="en-GB" dirty="0"/>
              <a:t>"Past evidence matters, yet it cannot substitute for present discernment. Organisations need institutional memory without becoming prisoners of historical formulas. What worked before is one input to present thinking."</a:t>
            </a:r>
          </a:p>
          <a:p>
            <a:r>
              <a:rPr lang="en-GB" dirty="0"/>
              <a:t>(Insight: Previous success and present discernment. Source: Journal, 28 September 2026 — Professional Insights: Strategy)</a:t>
            </a:r>
          </a:p>
          <a:p>
            <a:r>
              <a:rPr lang="en-GB" dirty="0" b="1"/>
              <a:t>Say: </a:t>
            </a:r>
            <a:r>
              <a:rPr lang="en-GB" dirty="0"/>
              <a:t>"Sometimes the greatest difficulty in responding to the future is letting go of what made us successful in the past."</a:t>
            </a:r>
          </a:p>
          <a:p>
            <a:r>
              <a:rPr lang="en-GB" dirty="0" b="1"/>
              <a:t>Ask: </a:t>
            </a:r>
            <a:r>
              <a:rPr lang="en-GB" dirty="0"/>
              <a:t>"What are we protecting today because it has worked for us before?"</a:t>
            </a:r>
          </a:p>
          <a:p>
            <a:endParaRPr lang="en-GB" dirty="0"/>
          </a:p>
          <a:p>
            <a:r>
              <a:rPr lang="en-GB" dirty="0" b="1"/>
              <a:t>7. Family 3: Interest Biases.</a:t>
            </a:r>
          </a:p>
          <a:p>
            <a:r>
              <a:rPr lang="en-GB" dirty="0" b="1"/>
              <a:t>Say: </a:t>
            </a:r>
            <a:r>
              <a:rPr lang="en-GB" dirty="0"/>
              <a:t>"Interest biases are the pull of our own position, interests and perspective. Our responsibilities, incentives, expertise and personal exposure can influence what we believe is best for the organisation. This can happen without deliberate self-interest. A leader can genuinely believe they are making the right strategic recommendation while their judgement is being shaped by what they are responsible for, rewarded for, know best or feel exposed by. They are Self-Interest, Silo, Incentive, Career-Risk and Perspective."</a:t>
            </a:r>
          </a:p>
          <a:p>
            <a:r>
              <a:rPr lang="en-GB" dirty="0" b="1"/>
              <a:t>Say: </a:t>
            </a:r>
            <a:r>
              <a:rPr lang="en-GB" dirty="0"/>
              <a:t>"The question to hold: how might where I sit, what I know, what I am responsible for or what I stand to gain or lose be shaping my judgement? This connects directly back to the Elephant: the part of the elephant we touch can influence what we believe the whole organisation needs."</a:t>
            </a:r>
          </a:p>
          <a:p>
            <a:r>
              <a:rPr lang="en-GB" dirty="0" b="1"/>
              <a:t>Say: </a:t>
            </a:r>
            <a:r>
              <a:rPr lang="en-GB" dirty="0"/>
              <a:t>"Case in point: Safaricom and the move into M-PESA. When Safaricom was developing M-PESA in Kenya, the idea represented something quite different from the traditional telecommunications business. A telecommunications company normally thinks about customers through calls, airtime, network usage and subscriber growth. M-PESA required the organisation to think beyond the interests and assumptions of a conventional mobile operator and enter financial services: building an agent network, managing cash, addressing regulation and creating a service for people who often did not have conventional bank accounts."</a:t>
            </a:r>
          </a:p>
          <a:p>
            <a:r>
              <a:rPr lang="en-GB" dirty="0" b="1"/>
              <a:t>Say: </a:t>
            </a:r>
            <a:r>
              <a:rPr lang="en-GB" dirty="0"/>
              <a:t>"Imagine the strategic conversation inside such an organisation. The technology team could see a technology platform. The commercial team could see subscribers and revenue. The finance team could see investment and risk. The regulatory team could see an unfamiliar regulatory environment. The traditional telecommunications business could ask why resources should move towards something outside its established core. Yet the opportunity required these interests to be integrated around a larger enterprise opportunity."</a:t>
            </a:r>
          </a:p>
          <a:p>
            <a:r>
              <a:rPr lang="en-GB" dirty="0" b="1"/>
              <a:t>Ask: </a:t>
            </a:r>
            <a:r>
              <a:rPr lang="en-GB" dirty="0"/>
              <a:t>"If this were a case in point, which interest bias could easily have prevented the organisation from seeing the opportunity?"</a:t>
            </a:r>
          </a:p>
          <a:p>
            <a:r>
              <a:rPr lang="en-GB" dirty="0" b="1"/>
              <a:t>Say: </a:t>
            </a:r>
            <a:r>
              <a:rPr lang="en-GB" dirty="0"/>
              <a:t>"Remember our elephant. Each function could have looked at M-PESA and reached a perfectly reasonable conclusion from where it sat. The danger would have arisen if any one of those functional perspectives had been allowed to define the opportunity for the whole organisation. This is how interest bias can operate without anyone behaving improperly. Our responsibility influences what we pay attention to. What we are measured on influences what we protect. Our expertise influences what we consider possible."</a:t>
            </a:r>
          </a:p>
          <a:p>
            <a:r>
              <a:rPr lang="en-GB" dirty="0"/>
              <a:t>Connect it to the family. Say: "Self-Interest: does this opportunity strengthen or threaten something I or we personally control, influence or benefit from? Silo: am I judging the opportunity primarily through what it means for my function, and missing what it could mean for the enterprise? Incentive: are the measures and targets I am accountable for influencing whether I see this opportunity as attractive? Career-Risk: would supporting an unfamiliar opportunity expose me personally if it failed? Perspective: is what I know well limiting my ability to see possibilities outside my expertise and experience?"</a:t>
            </a:r>
          </a:p>
          <a:p>
            <a:r>
              <a:rPr lang="en-GB" dirty="0" b="1"/>
              <a:t>Say: </a:t>
            </a:r>
            <a:r>
              <a:rPr lang="en-GB" dirty="0"/>
              <a:t>"Notice how these reinforce one another. Our perspective shapes what we notice. Our functional position can turn that perspective into silo thinking. Our incentives reinforce which outcomes appear most important. Those interests become more personal when a decision affects our influence, resources or standing, strengthening self-interest. And when supporting a different direction could expose us personally, career-risk bias makes the familiar position easier to defend. Where we sit can gradually shape what we come to believe is best for the whole organisation, and nobody needs to be acting dishonestly. The reinforcement can happen through completely legitimate responsibilities."</a:t>
            </a:r>
          </a:p>
          <a:p>
            <a:r>
              <a:rPr lang="en-GB" dirty="0" b="1"/>
              <a:t>Say: </a:t>
            </a:r>
            <a:r>
              <a:rPr lang="en-GB" dirty="0"/>
              <a:t>"Functional expertise gives us depth. Enterprise thinking helps us see beyond the interests of the function."</a:t>
            </a:r>
          </a:p>
          <a:p>
            <a:r>
              <a:rPr lang="en-GB" dirty="0" b="1"/>
              <a:t>Ask: </a:t>
            </a:r>
            <a:r>
              <a:rPr lang="en-GB" dirty="0"/>
              <a:t>"What opportunity might your organisation be interpreting too narrowly because each function is looking at it from where it sits?"</a:t>
            </a:r>
          </a:p>
          <a:p>
            <a:endParaRPr lang="en-GB" dirty="0"/>
          </a:p>
          <a:p>
            <a:r>
              <a:rPr lang="en-GB" dirty="0" b="1"/>
              <a:t>8. Family 4: Social Biases.</a:t>
            </a:r>
          </a:p>
          <a:p>
            <a:r>
              <a:rPr lang="en-GB" dirty="0" b="1"/>
              <a:t>Say: </a:t>
            </a:r>
            <a:r>
              <a:rPr lang="en-GB" dirty="0"/>
              <a:t>"Social biases are the pull of other people on our judgement. We do not think and decide in isolation. Who is in the room, who holds authority, what the group believes, whose voice carries weight and what feels socially acceptable can all influence what people are willing to think, say and support. They are Conformity, Authority, Groupthink, Availability and Halo Effect."</a:t>
            </a:r>
          </a:p>
          <a:p>
            <a:r>
              <a:rPr lang="en-GB" dirty="0" b="1"/>
              <a:t>Say: </a:t>
            </a:r>
            <a:r>
              <a:rPr lang="en-GB" dirty="0"/>
              <a:t>"The question to hold: how might the people around us be influencing what we are willing to see, say or decide?"</a:t>
            </a:r>
          </a:p>
          <a:p>
            <a:r>
              <a:rPr lang="en-GB" dirty="0" b="1"/>
              <a:t>Say: </a:t>
            </a:r>
            <a:r>
              <a:rPr lang="en-GB" dirty="0"/>
              <a:t>"Case in point: KPMG South Africa. KPMG South Africa had a long-standing relationship with companies linked to the Gupta family, providing auditing and other professional services. As concerns around the Gupta businesses and state capture intensified, KPMG came under scrutiny over work it had performed, including its audits of Gupta-linked companies and its controversial SARS report. In 2017, KPMG International conducted an investigation into the South African practice. The consequences were significant: senior leadership resigned, clients terminated relationships with the firm, and KPMG withdrew findings and recommendations from its SARS report. For a global professional-services firm whose business depends on independent judgement and professional challenge, the case raises an important behavioural question."</a:t>
            </a:r>
          </a:p>
          <a:p>
            <a:r>
              <a:rPr lang="en-GB" dirty="0" b="1"/>
              <a:t>Ask: </a:t>
            </a:r>
            <a:r>
              <a:rPr lang="en-GB" dirty="0"/>
              <a:t>"If this were a case in point, which biases might have been at play?"</a:t>
            </a:r>
          </a:p>
          <a:p>
            <a:r>
              <a:rPr lang="en-GB" dirty="0" b="1"/>
              <a:t>Listen for: </a:t>
            </a:r>
            <a:r>
              <a:rPr lang="en-GB" dirty="0"/>
              <a:t>authority bias, conformity, groupthink and potentially the halo effect.</a:t>
            </a:r>
          </a:p>
          <a:p>
            <a:r>
              <a:rPr lang="en-GB" dirty="0"/>
              <a:t>Connect it to the family. Say: "Conformity: everyone around me appears comfortable with this; am I really the one who has it wrong? Authority: senior and respected people have approved this; how strongly should I challenge it? Groupthink: the group appears to agree; do I really want to be the person who reopens the issue? Availability: are the views we hear most frequently or most confidently receiving more weight than the evidence warrants? Halo Effect: does the reputation, status or previous success of this person, client or institution influence how critically we examine them?"</a:t>
            </a:r>
          </a:p>
          <a:p>
            <a:r>
              <a:rPr lang="en-GB" dirty="0" b="1"/>
              <a:t>Say: </a:t>
            </a:r>
            <a:r>
              <a:rPr lang="en-GB" dirty="0"/>
              <a:t>"Social bias can operate without anyone explicitly telling us what to think. We read the room. We recognise authority. We notice which relationships matter, whose views receive support, what others are willing to challenge and what happens to people who disagree. Those signals gradually shape what people are prepared to see, say and support."</a:t>
            </a:r>
          </a:p>
          <a:p>
            <a:r>
              <a:rPr lang="en-GB" dirty="0" b="1"/>
              <a:t>Deepen, say: </a:t>
            </a:r>
            <a:r>
              <a:rPr lang="en-GB" dirty="0"/>
              <a:t>"Informal social pressure can overpower formally held beliefs. No policy is needed; the presence of particular people is enough to change behaviour. This is culture operating through signals, belonging and perceived approval."</a:t>
            </a:r>
          </a:p>
          <a:p>
            <a:r>
              <a:rPr lang="en-GB" dirty="0"/>
              <a:t>(Insight: Informal pressure. Source: Journal, 27 September 2026 — Professional Insights: Culture)</a:t>
            </a:r>
          </a:p>
          <a:p>
            <a:r>
              <a:rPr lang="en-GB" dirty="0" b="1"/>
              <a:t>Say: </a:t>
            </a:r>
            <a:r>
              <a:rPr lang="en-GB" dirty="0"/>
              <a:t>"Notice how these reinforce one another. The reputation or standing of a person creates a halo effect, giving their judgement greater credibility. Their seniority strengthens authority bias, making others less willing to challenge them. As fewer people challenge, conformity becomes easier. Repeated agreement develops into groupthink, where maintaining alignment becomes more important than examining alternatives. And as the same views are repeatedly heard, availability bias makes them feel increasingly representative of reality. What begins as influence can become agreement, and agreement can begin to look like evidence."</a:t>
            </a:r>
          </a:p>
          <a:p>
            <a:r>
              <a:rPr lang="en-GB" dirty="0" b="1"/>
              <a:t>Deepen, say: </a:t>
            </a:r>
            <a:r>
              <a:rPr lang="en-GB" dirty="0"/>
              <a:t>"A leader who fills the room with people who agree has engineered a blind spot and called it harmony. Unwelcome accuracy is worth more than pleasant confirmation. Seek out the person willing to say what the agreeable majority will not, and protect them from the cost honesty usually carries."</a:t>
            </a:r>
          </a:p>
          <a:p>
            <a:r>
              <a:rPr lang="en-GB" dirty="0"/>
              <a:t>(Insight: Engineered blind spots. Source: Journal, 16 June 2026 — Professional Insights: Leadership)</a:t>
            </a:r>
          </a:p>
          <a:p>
            <a:r>
              <a:rPr lang="en-GB" dirty="0" b="1"/>
              <a:t>Ask: </a:t>
            </a:r>
            <a:r>
              <a:rPr lang="en-GB" dirty="0"/>
              <a:t>"Think about your own leadership table. What would someone have to risk to disagree with the most powerful person in the room?"</a:t>
            </a:r>
          </a:p>
          <a:p>
            <a:endParaRPr lang="en-GB" dirty="0"/>
          </a:p>
          <a:p>
            <a:r>
              <a:rPr lang="en-GB" dirty="0" b="1"/>
              <a:t>9. Explain bias chains.</a:t>
            </a:r>
          </a:p>
          <a:p>
            <a:r>
              <a:rPr lang="en-GB" dirty="0" b="1"/>
              <a:t>Say: </a:t>
            </a:r>
            <a:r>
              <a:rPr lang="en-GB" dirty="0"/>
              <a:t>"Biases can form chains. One bias changes how we interpret the situation, which creates the conditions for another, and another. By the time the organisation reaches a decision, several biases may be reinforcing the same conclusion. This is why recognising bias early matters. The earlier we interrupt the chain, the greater our opportunity to improve the quality of judgement before it becomes commitment and action."</a:t>
            </a:r>
          </a:p>
          <a:p>
            <a:endParaRPr lang="en-GB" dirty="0"/>
          </a:p>
          <a:p>
            <a:r>
              <a:rPr lang="en-GB" dirty="0" b="1"/>
              <a:t>10. Land the four families.</a:t>
            </a:r>
          </a:p>
          <a:p>
            <a:r>
              <a:rPr lang="en-GB" dirty="0"/>
              <a:t>Point to the four cards.</a:t>
            </a:r>
          </a:p>
          <a:p>
            <a:r>
              <a:rPr lang="en-GB" dirty="0" b="1"/>
              <a:t>Say: </a:t>
            </a:r>
            <a:r>
              <a:rPr lang="en-GB" dirty="0"/>
              <a:t>"Our judgement can be pulled in different directions. Action pulls us towards moving. Stability pulls us towards staying. Interest pulls us towards our own position or perspective. Social influence pulls us towards others. And these influences can operate without us consciously recognising them. The strategic discipline is learning to recognise what may be pulling our judgement before that judgement becomes a decision, commitment or action."</a:t>
            </a:r>
          </a:p>
          <a:p>
            <a:endParaRPr lang="en-GB" dirty="0"/>
          </a:p>
          <a:p>
            <a:r>
              <a:rPr lang="en-GB" dirty="0" b="1"/>
              <a:t>11. Group reflection.</a:t>
            </a:r>
          </a:p>
          <a:p>
            <a:r>
              <a:rPr lang="en-GB" dirty="0" b="1"/>
              <a:t>Ask: </a:t>
            </a:r>
            <a:r>
              <a:rPr lang="en-GB" dirty="0"/>
              <a:t>"Which of these four families do you recognise most strongly in your own thinking?"</a:t>
            </a:r>
          </a:p>
          <a:p>
            <a:r>
              <a:rPr lang="en-GB" dirty="0" b="1"/>
              <a:t>Then ask: </a:t>
            </a:r>
            <a:r>
              <a:rPr lang="en-GB" dirty="0"/>
              <a:t>"Which one do you see most clearly in your organisation?"</a:t>
            </a:r>
          </a:p>
          <a:p>
            <a:r>
              <a:rPr lang="en-GB" dirty="0" b="1"/>
              <a:t>And finally: </a:t>
            </a:r>
            <a:r>
              <a:rPr lang="en-GB" dirty="0"/>
              <a:t>"Can you identify a strategic decision where one of these biases may have influenced what was ultimately decided or done?"</a:t>
            </a:r>
          </a:p>
          <a:p>
            <a:r>
              <a:rPr lang="en-GB" dirty="0" b="1"/>
              <a:t>Caution: </a:t>
            </a:r>
            <a:r>
              <a:rPr lang="en-GB" dirty="0"/>
              <a:t>participants may drift towards naming other people's biases. Redirect gently: "We are here to understand the patterns so we can design better processes. Where did that bias show up in your own last decision?"</a:t>
            </a:r>
          </a:p>
          <a:p>
            <a:endParaRPr lang="en-GB" dirty="0"/>
          </a:p>
          <a:p>
            <a:r>
              <a:rPr lang="en-GB" dirty="0" b="1"/>
              <a:t>12. Close the section.</a:t>
            </a:r>
          </a:p>
          <a:p>
            <a:r>
              <a:rPr lang="en-GB" dirty="0" b="1"/>
              <a:t>Say: </a:t>
            </a:r>
            <a:r>
              <a:rPr lang="en-GB" dirty="0"/>
              <a:t>"While it is happening, bias often feels like experience, confidence, caution, expertise or agreement. The strategic discipline is learning to recognise what may be pulling our judgement before that judgement becomes a decision, commitment or action."</a:t>
            </a:r>
          </a:p>
          <a:p>
            <a:endParaRPr lang="en-GB" dirty="0"/>
          </a:p>
          <a:p>
            <a:r>
              <a:rPr lang="en-GB" dirty="0" b="1"/>
              <a:t>13. Bridge to Section 3.</a:t>
            </a:r>
          </a:p>
          <a:p>
            <a:r>
              <a:rPr lang="en-GB" dirty="0" b="1"/>
              <a:t>Say: </a:t>
            </a:r>
            <a:r>
              <a:rPr lang="en-GB" dirty="0"/>
              <a:t>"Section 3 examines why behavioural strategy is critical, through a case of functional bias and the hidden cost of poor behavioural awareness."</a:t>
            </a:r>
          </a:p>
          <a:p>
            <a:endParaRPr lang="en-GB" dirty="0"/>
          </a:p>
          <a:p>
            <a:r>
              <a:rPr lang="en-GB" dirty="0" b="1"/>
              <a:t>ON THE PORTAL, AFTER THE TEACHING:</a:t>
            </a:r>
          </a:p>
          <a:p>
            <a:r>
              <a:rPr lang="en-GB" dirty="0"/>
              <a:t>The portal describes each of the 20 biases from two angles: what it does in strategy, and the organisational signals that the bias is at play. Participants click a family card and then each bias to read the full detail.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3B8B0-B18F-CF9B-7AE4-CF55784DD0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FA7B31-547D-B6FC-5478-C945145584F9}"/>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7E7E2C75-0DD4-8DD8-C512-F7C6918A56A0}"/>
              </a:ext>
            </a:extLst>
          </p:cNvPr>
          <p:cNvSpPr>
            <a:spLocks noGrp="1"/>
          </p:cNvSpPr>
          <p:nvPr>
            <p:ph type="body" idx="1"/>
          </p:nvPr>
        </p:nvSpPr>
        <p:spPr/>
        <p:txBody>
          <a:bodyPr/>
          <a:lstStyle/>
          <a:p>
            <a:r>
              <a:rPr lang="en-GB" dirty="0" b="1"/>
              <a:t>SECTION 2 REFLECTIONS</a:t>
            </a:r>
          </a:p>
          <a:p>
            <a:endParaRPr lang="en-GB" dirty="0"/>
          </a:p>
          <a:p>
            <a:r>
              <a:rPr lang="en-GB" dirty="0" b="1"/>
              <a:t>HOW TO USE THIS SLIDE:</a:t>
            </a:r>
          </a:p>
          <a:p>
            <a:endParaRPr lang="en-GB" dirty="0"/>
          </a:p>
          <a:p>
            <a:r>
              <a:rPr lang="en-GB" dirty="0" b="1"/>
              <a:t>1. Show the four reflections.</a:t>
            </a:r>
          </a:p>
          <a:p>
            <a:r>
              <a:rPr lang="en-GB" dirty="0" b="1"/>
              <a:t>Say: </a:t>
            </a:r>
            <a:r>
              <a:rPr lang="en-GB" dirty="0"/>
              <a:t>"Section 2 closes with four reflections on your portal page, one for each part."</a:t>
            </a:r>
          </a:p>
          <a:p>
            <a:r>
              <a:rPr lang="en-GB" dirty="0" b="1"/>
              <a:t>Read aloud: </a:t>
            </a:r>
            <a:r>
              <a:rPr lang="en-GB" dirty="0"/>
              <a:t>"2.1: How does the definition of behavioural strategy apply to your current context? Can you think of a recent decision in your organisation that might have been shaped by invisible mental filters?"</a:t>
            </a:r>
          </a:p>
          <a:p>
            <a:r>
              <a:rPr lang="en-GB" dirty="0" b="1"/>
              <a:t>Read aloud: </a:t>
            </a:r>
            <a:r>
              <a:rPr lang="en-GB" dirty="0"/>
              <a:t>"2.2: Think of a significant strategic decision you were involved in recently. Which system was dominant, System 1 or System 2? What were the conditions that determined which one took over?"</a:t>
            </a:r>
          </a:p>
          <a:p>
            <a:r>
              <a:rPr lang="en-GB" dirty="0" b="1"/>
              <a:t>Read aloud: </a:t>
            </a:r>
            <a:r>
              <a:rPr lang="en-GB" dirty="0"/>
              <a:t>"2.3: In your own organisation, where does the 'Elephant Problem' most clearly show up? Which functions or perspectives tend to see very different parts of the same strategic reality?"</a:t>
            </a:r>
          </a:p>
          <a:p>
            <a:r>
              <a:rPr lang="en-GB" dirty="0" b="1"/>
              <a:t>Read aloud: </a:t>
            </a:r>
            <a:r>
              <a:rPr lang="en-GB" dirty="0"/>
              <a:t>"2.4: Which of the four bias families resonates most strongly with you personally? Which do you recognise most clearly in your organisation's culture? What is one specific way this bias has shaped a strategic decision recently?"</a:t>
            </a:r>
          </a:p>
          <a:p>
            <a:endParaRPr lang="en-GB" dirty="0"/>
          </a:p>
          <a:p>
            <a:r>
              <a:rPr lang="en-GB" dirty="0" b="1"/>
              <a:t>2. Set the expectation for depth.</a:t>
            </a:r>
          </a:p>
          <a:p>
            <a:r>
              <a:rPr lang="en-GB" dirty="0" b="1"/>
              <a:t>Say: </a:t>
            </a:r>
            <a:r>
              <a:rPr lang="en-GB" dirty="0"/>
              <a:t>"Answer from your own leadership and your own organisation, with real decisions and real examples. Your reflections build the Learning Portfolio you receive at the end of the programme."</a:t>
            </a:r>
          </a:p>
          <a:p>
            <a:endParaRPr lang="en-GB" dirty="0"/>
          </a:p>
          <a:p>
            <a:r>
              <a:rPr lang="en-GB" dirty="0" b="1"/>
              <a:t>ON THE PORTAL, AFTER THE TEACHING:</a:t>
            </a:r>
          </a:p>
          <a:p>
            <a:r>
              <a:rPr lang="en-GB" dirty="0"/>
              <a:t>Participants write each reflection on their portal page and select Save Reflection.</a:t>
            </a:r>
          </a:p>
        </p:txBody>
      </p:sp>
      <p:sp>
        <p:nvSpPr>
          <p:cNvPr id="4" name="Slide Number Placeholder 3">
            <a:extLst>
              <a:ext uri="{FF2B5EF4-FFF2-40B4-BE49-F238E27FC236}">
                <a16:creationId xmlns:a16="http://schemas.microsoft.com/office/drawing/2014/main" id="{2015A550-10B2-22F2-119C-03A6F60B6C78}"/>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9954469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dirty="0" b="1"/>
              <a:t>SECTION 3 · INTELLIGENCE — WHY</a:t>
            </a:r>
          </a:p>
          <a:p>
            <a:r>
              <a:rPr lang="en-GB" dirty="0"/>
              <a:t>Why Behavioural Strategy Is Critical · 3.1 · 3.2</a:t>
            </a:r>
          </a:p>
          <a:p>
            <a:endParaRPr lang="en-GB" dirty="0"/>
          </a:p>
          <a:p>
            <a:r>
              <a:rPr lang="en-GB" dirty="0" b="1"/>
              <a:t>HOW THIS SECTION RUNS:</a:t>
            </a:r>
          </a:p>
          <a:p>
            <a:r>
              <a:rPr lang="en-GB" dirty="0"/>
              <a:t>Section 2 established what behavioural strategy is. This section answers why it matters, through a live case (3.1, MyHealth) and quantified organisational costs (3.2). Participants who were intellectually engaged in Section 2 should become personally invested here. The MyHealth case is the turning point.</a:t>
            </a:r>
          </a:p>
          <a:p>
            <a:endParaRPr lang="en-GB" dirty="0"/>
          </a:p>
          <a:p>
            <a:r>
              <a:rPr lang="en-GB" dirty="0" b="1"/>
              <a:t>SECTION LEARNING OUTCOMES:</a:t>
            </a:r>
          </a:p>
          <a:p>
            <a:r>
              <a:rPr lang="en-GB" dirty="0"/>
              <a:t>1. Interpret how different executive roles translate the same strategy into divergent priorities that leave enterprise gaps unowned.</a:t>
            </a:r>
          </a:p>
          <a:p>
            <a:r>
              <a:rPr lang="en-GB" dirty="0"/>
              <a:t>2. Evaluate the strategic and performance costs of unexamined bias in your organisation.</a:t>
            </a:r>
          </a:p>
          <a:p>
            <a:endParaRPr lang="en-GB" dirty="0"/>
          </a:p>
          <a:p>
            <a:r>
              <a:rPr lang="en-GB" dirty="0" b="1"/>
              <a:t>HOW TO OPEN THE SECTION:</a:t>
            </a:r>
          </a:p>
          <a:p>
            <a:endParaRPr lang="en-GB" dirty="0"/>
          </a:p>
          <a:p>
            <a:r>
              <a:rPr lang="en-GB" dirty="0" b="1"/>
              <a:t>1. Say why this section matters.</a:t>
            </a:r>
          </a:p>
          <a:p>
            <a:r>
              <a:rPr lang="en-GB" dirty="0" b="1"/>
              <a:t>Say: </a:t>
            </a:r>
            <a:r>
              <a:rPr lang="en-GB" dirty="0"/>
              <a:t>"Behavioural biases are systematic, predictable and cumulative. Left unmanaged, they act as a silent rot, compromising the integrity of even the most technically rigorous strategic frameworks."</a:t>
            </a:r>
          </a:p>
          <a:p>
            <a:endParaRPr lang="en-GB" dirty="0"/>
          </a:p>
          <a:p>
            <a:r>
              <a:rPr lang="en-GB" dirty="0" b="1"/>
              <a:t>2. Bridge to the opening question.</a:t>
            </a:r>
          </a:p>
          <a:p>
            <a:r>
              <a:rPr lang="en-GB" dirty="0" b="1"/>
              <a:t>Say: </a:t>
            </a:r>
            <a:r>
              <a:rPr lang="en-GB" dirty="0"/>
              <a:t>"Let us zoom in on the functional landscape, where functional bias shows up."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dirty="0" b="1"/>
              <a:t>ZOOMING IN ON THE FUNCTIONAL LANDSCAPE · WHERE FUNCTIONAL BIAS SHOWS UP</a:t>
            </a:r>
          </a:p>
          <a:p>
            <a:endParaRPr lang="en-GB" dirty="0"/>
          </a:p>
          <a:p>
            <a:r>
              <a:rPr lang="en-GB" dirty="0" b="1"/>
              <a:t>HOW TO TEACH IT:</a:t>
            </a:r>
          </a:p>
          <a:p>
            <a:endParaRPr lang="en-GB" dirty="0"/>
          </a:p>
          <a:p>
            <a:r>
              <a:rPr lang="en-GB" dirty="0" b="1"/>
              <a:t>1. Ask the question on the slide.</a:t>
            </a:r>
          </a:p>
          <a:p>
            <a:r>
              <a:rPr lang="en-GB" dirty="0" b="1"/>
              <a:t>Ask: </a:t>
            </a:r>
            <a:r>
              <a:rPr lang="en-GB" dirty="0"/>
              <a:t>"If every executive in your organisation performed perfectly within their own function, would your strategy actually deliver the result you intend?"</a:t>
            </a:r>
          </a:p>
          <a:p>
            <a:r>
              <a:rPr lang="en-GB" dirty="0"/>
              <a:t>Hold the silence. Let the room sit with it before anyone answers.</a:t>
            </a:r>
          </a:p>
          <a:p>
            <a:endParaRPr lang="en-GB" dirty="0"/>
          </a:p>
          <a:p>
            <a:r>
              <a:rPr lang="en-GB" dirty="0" b="1"/>
              <a:t>2. Ask where functional bias shows up.</a:t>
            </a:r>
          </a:p>
          <a:p>
            <a:r>
              <a:rPr lang="en-GB" dirty="0" b="1"/>
              <a:t>Ask: </a:t>
            </a:r>
            <a:r>
              <a:rPr lang="en-GB" dirty="0"/>
              <a:t>"Where do you see functional bias show up in your organisation?"</a:t>
            </a:r>
          </a:p>
          <a:p>
            <a:r>
              <a:rPr lang="en-GB" dirty="0" b="1"/>
              <a:t>Listen for: </a:t>
            </a:r>
            <a:r>
              <a:rPr lang="en-GB" dirty="0"/>
              <a:t>delayed decisions, misaligned KPIs, teams working hard in different directions.</a:t>
            </a:r>
          </a:p>
          <a:p>
            <a:endParaRPr lang="en-GB" dirty="0"/>
          </a:p>
          <a:p>
            <a:r>
              <a:rPr lang="en-GB" dirty="0" b="1"/>
              <a:t>3. Name why it happens.</a:t>
            </a:r>
          </a:p>
          <a:p>
            <a:r>
              <a:rPr lang="en-GB" dirty="0" b="1"/>
              <a:t>Say: </a:t>
            </a:r>
            <a:r>
              <a:rPr lang="en-GB" dirty="0"/>
              <a:t>"Functional bias does not appear on any dashboard, yet it shows up everywhere. Each executive function experiences the organisation through the variable it controls most directly."</a:t>
            </a:r>
          </a:p>
          <a:p>
            <a:endParaRPr lang="en-GB" dirty="0"/>
          </a:p>
          <a:p>
            <a:r>
              <a:rPr lang="en-GB" dirty="0" b="1"/>
              <a:t>4. Bridge to 3.1.</a:t>
            </a:r>
          </a:p>
          <a:p>
            <a:r>
              <a:rPr lang="en-GB" dirty="0" b="1"/>
              <a:t>Say: </a:t>
            </a:r>
            <a:r>
              <a:rPr lang="en-GB" dirty="0"/>
              <a:t>"Let us watch it happen in a live case."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dirty="0" b="1"/>
              <a:t>3.1 · FUNCTIONAL BIAS IN PRACTICE: THE MYHEALTH CASE</a:t>
            </a:r>
          </a:p>
          <a:p>
            <a:endParaRPr lang="en-GB" dirty="0"/>
          </a:p>
          <a:p>
            <a:r>
              <a:rPr lang="en-GB" dirty="0" b="1"/>
              <a:t>HOW TO TEACH IT:</a:t>
            </a:r>
          </a:p>
          <a:p>
            <a:endParaRPr lang="en-GB" dirty="0"/>
          </a:p>
          <a:p>
            <a:r>
              <a:rPr lang="en-GB" dirty="0" b="1"/>
              <a:t>1. Explain the professional filter.</a:t>
            </a:r>
          </a:p>
          <a:p>
            <a:r>
              <a:rPr lang="en-GB" dirty="0" b="1"/>
              <a:t>Say: </a:t>
            </a:r>
            <a:r>
              <a:rPr lang="en-GB" dirty="0"/>
              <a:t>"When a strategic direction is announced, every executive in the room hears the same words through their own professional filter. Years of professional training and experience shape how leaders interpret opportunity, risk and priority."</a:t>
            </a:r>
          </a:p>
          <a:p>
            <a:r>
              <a:rPr lang="en-GB" dirty="0" b="1"/>
              <a:t>Say: </a:t>
            </a:r>
            <a:r>
              <a:rPr lang="en-GB" dirty="0"/>
              <a:t>"The CFO listens for financial exposure. The COO hears operational feasibility. The CHRO listens for capability implications. The CMO hears the customer promise. Each interpretation is rational. Each perspective is valuable. When these perspectives remain unspoken, functional bias begins quietly reshaping how the strategy is understood and acted upon."</a:t>
            </a:r>
          </a:p>
          <a:p>
            <a:endParaRPr lang="en-GB" dirty="0"/>
          </a:p>
          <a:p>
            <a:r>
              <a:rPr lang="en-GB" dirty="0" b="1"/>
              <a:t>2. Read the announcement aloud.</a:t>
            </a:r>
          </a:p>
          <a:p>
            <a:r>
              <a:rPr lang="en-GB" dirty="0" b="1"/>
              <a:t>Read aloud: </a:t>
            </a:r>
            <a:r>
              <a:rPr lang="en-GB" dirty="0"/>
              <a:t>"To become the leading patient-centric provider, we are launching the 'MyHealth Live' Portal. It provides 24/7 digital access to data, cuts admin calls by 30%, and builds trust through transparency. We go live in 60 days."</a:t>
            </a:r>
          </a:p>
          <a:p>
            <a:r>
              <a:rPr lang="en-GB" dirty="0" b="1"/>
              <a:t>Say: </a:t>
            </a:r>
            <a:r>
              <a:rPr lang="en-GB" dirty="0"/>
              <a:t>"The portal has three strategic objectives: 24/7 digital access for patients to their data; a 30% reduction in administrative calls; and greater patient trust through transparency."</a:t>
            </a:r>
          </a:p>
          <a:p>
            <a:r>
              <a:rPr lang="en-GB" dirty="0" b="1"/>
              <a:t>Ask: </a:t>
            </a:r>
            <a:r>
              <a:rPr lang="en-GB" dirty="0"/>
              <a:t>"Before we explore the executive perspectives, what is your immediate reaction to this announcement?"</a:t>
            </a:r>
          </a:p>
          <a:p>
            <a:endParaRPr lang="en-GB" dirty="0"/>
          </a:p>
          <a:p>
            <a:r>
              <a:rPr lang="en-GB" dirty="0" b="1"/>
              <a:t>3. Take the room through the executive roles.</a:t>
            </a:r>
          </a:p>
          <a:p>
            <a:r>
              <a:rPr lang="en-GB" dirty="0"/>
              <a:t>Ask each participant to choose the executive role on the slide closest to their own function or most relevant to their organisation, and to say what that executive hears and how they would define success. Ask them to hold that thought; you return to it when examining the tensions.</a:t>
            </a:r>
          </a:p>
          <a:p>
            <a:r>
              <a:rPr lang="en-GB" dirty="0"/>
              <a:t>Use these as your reference points:</a:t>
            </a:r>
          </a:p>
          <a:p>
            <a:r>
              <a:rPr lang="en-GB" dirty="0"/>
              <a:t>CEO (Managing Director): "We need a win. Speed is everything to keep our momentum." Success: launching ahead of the competition.</a:t>
            </a:r>
          </a:p>
          <a:p>
            <a:r>
              <a:rPr lang="en-GB" dirty="0"/>
              <a:t>CFO (Finance Director): "How does this affect the bottom line? We need to offset the cost." Success: delivering 8% under budget with clear ROI.</a:t>
            </a:r>
          </a:p>
          <a:p>
            <a:r>
              <a:rPr lang="en-GB" dirty="0"/>
              <a:t>COO (Operations Director): "Will this actually make the ER run smoother or just add more steps?" Success: reducing patient processing time by 22%.</a:t>
            </a:r>
          </a:p>
          <a:p>
            <a:r>
              <a:rPr lang="en-GB" dirty="0"/>
              <a:t>CHRO (HR Director): "My people are tired. Can they handle another digital tool?" Success: 95% of staff feeling confident and trained.</a:t>
            </a:r>
          </a:p>
          <a:p>
            <a:r>
              <a:rPr lang="en-GB" dirty="0"/>
              <a:t>CTO (IT Director): "One data leak and we're done. This has to be a fortress." Success: 100% uptime with zero security breaches.</a:t>
            </a:r>
          </a:p>
          <a:p>
            <a:r>
              <a:rPr lang="en-GB" dirty="0"/>
              <a:t>CMO (Marketing Director): "If patients don't use it, it doesn't exist. We need adoption." Success: 90% of active patients registered within 90 days.</a:t>
            </a:r>
          </a:p>
          <a:p>
            <a:r>
              <a:rPr lang="en-GB" dirty="0"/>
              <a:t>CCO (Commercial Director): "This is a growth engine. How do we turn clicks into consults?" Success: a 35% increase in digital bookings.</a:t>
            </a:r>
          </a:p>
          <a:p>
            <a:r>
              <a:rPr lang="en-GB" dirty="0"/>
              <a:t>CPO (Procurement Director): "I need those vendor contracts signed yesterday to hit that 60-day mark." Success: seamless infrastructure and logistics delivered on time.</a:t>
            </a:r>
          </a:p>
          <a:p>
            <a:r>
              <a:rPr lang="en-GB" dirty="0"/>
              <a:t>CRO (Risk Director): "Transparency is important, but privacy laws are non-negotiable." Success: zero compliance incidents or regulatory flags.</a:t>
            </a:r>
          </a:p>
          <a:p>
            <a:r>
              <a:rPr lang="en-GB" dirty="0"/>
              <a:t>CSO (Strategy Director): "This portal is our first-mover advantage." Success: solidifying our position as the regional digital leader.</a:t>
            </a:r>
          </a:p>
          <a:p>
            <a:r>
              <a:rPr lang="en-GB" dirty="0" b="1"/>
              <a:t>Ask: </a:t>
            </a:r>
            <a:r>
              <a:rPr lang="en-GB" dirty="0"/>
              <a:t>"Does this match what you would have been thinking?"</a:t>
            </a:r>
          </a:p>
          <a:p>
            <a:endParaRPr lang="en-GB" dirty="0"/>
          </a:p>
          <a:p>
            <a:r>
              <a:rPr lang="en-GB" dirty="0" b="1"/>
              <a:t>4. Move to the tensions.</a:t>
            </a:r>
          </a:p>
          <a:p>
            <a:r>
              <a:rPr lang="en-GB" dirty="0"/>
              <a:t>Take two or three role combinations, for example CTO and CMO, or CEO and CHRO. Ask the participants who chose those roles to share again.</a:t>
            </a:r>
          </a:p>
          <a:p>
            <a:r>
              <a:rPr lang="en-GB" dirty="0" b="1"/>
              <a:t>Ask: </a:t>
            </a:r>
            <a:r>
              <a:rPr lang="en-GB" dirty="0"/>
              <a:t>"Where do these two perspectives create friction?"</a:t>
            </a:r>
          </a:p>
          <a:p>
            <a:r>
              <a:rPr lang="en-GB" dirty="0" b="1"/>
              <a:t>Then ask: </a:t>
            </a:r>
            <a:r>
              <a:rPr lang="en-GB" dirty="0"/>
              <a:t>"What happens if both leaders pursue their own definition of success without talking to each other?"</a:t>
            </a:r>
          </a:p>
          <a:p>
            <a:r>
              <a:rPr lang="en-GB" dirty="0" b="1"/>
              <a:t>Example, say: </a:t>
            </a:r>
            <a:r>
              <a:rPr lang="en-GB" dirty="0"/>
              <a:t>"The CTO may prioritise maximum security while the CMO prioritises simplicity and ease of use. Both are pursuing legitimate outcomes, and the requirements of one may affect the ability of the other to succeed."</a:t>
            </a:r>
          </a:p>
          <a:p>
            <a:endParaRPr lang="en-GB" dirty="0"/>
          </a:p>
          <a:p>
            <a:r>
              <a:rPr lang="en-GB" dirty="0" b="1"/>
              <a:t>5. Say why this matters.</a:t>
            </a:r>
          </a:p>
          <a:p>
            <a:r>
              <a:rPr lang="en-GB" dirty="0" b="1"/>
              <a:t>Say: </a:t>
            </a:r>
            <a:r>
              <a:rPr lang="en-GB" dirty="0"/>
              <a:t>"Every executive could deliver a result. The CFO could deliver the budget. The CTO could deliver security. The CMO could deliver adoption. The CHRO could deliver workforce readiness. The COO could deliver operational efficiency. And the organisation could still fail to achieve the intended enterprise outcome. If leaders do not surface how their contributions depend on, constrain or compete with one another, the strategy begins to fracture between functions."</a:t>
            </a:r>
          </a:p>
          <a:p>
            <a:r>
              <a:rPr lang="en-GB" dirty="0" b="1"/>
              <a:t>Deepen, say: </a:t>
            </a:r>
            <a:r>
              <a:rPr lang="en-GB" dirty="0"/>
              <a:t>"Sustainable execution rarely depends on one dominant function. Value is produced when differentiated capabilities are deliberately integrated around a common purpose."</a:t>
            </a:r>
          </a:p>
          <a:p>
            <a:r>
              <a:rPr lang="en-GB" dirty="0"/>
              <a:t>(Insight: Complementary capability. Source: Journal, 9 September 2026 — Professional Insights: Strategy)</a:t>
            </a:r>
          </a:p>
          <a:p>
            <a:endParaRPr lang="en-GB" dirty="0"/>
          </a:p>
          <a:p>
            <a:r>
              <a:rPr lang="en-GB" dirty="0" b="1"/>
              <a:t>6. Introduce the White Space.</a:t>
            </a:r>
          </a:p>
          <a:p>
            <a:r>
              <a:rPr lang="en-GB" dirty="0" b="1"/>
              <a:t>Say: </a:t>
            </a:r>
            <a:r>
              <a:rPr lang="en-GB" dirty="0"/>
              <a:t>"This brings us to the space between those functional contributions: the White Space. White Space is the gap between what individual functions successfully deliver and what the organisation needs those contributions to produce together."</a:t>
            </a:r>
          </a:p>
          <a:p>
            <a:r>
              <a:rPr lang="en-GB" dirty="0" b="1"/>
              <a:t>Say: </a:t>
            </a:r>
            <a:r>
              <a:rPr lang="en-GB" dirty="0"/>
              <a:t>"Return to the MyHealth case. The portal launches. Technology delivers a secure and stable platform. Marketing achieves strong patient adoption. Operations delivers the required processes. HR trains the workforce. Finance keeps the programme within budget. The dashboards are green."</a:t>
            </a:r>
          </a:p>
          <a:p>
            <a:r>
              <a:rPr lang="en-GB" dirty="0" b="1"/>
              <a:t>Say: </a:t>
            </a:r>
            <a:r>
              <a:rPr lang="en-GB" dirty="0"/>
              <a:t>"Then something unexpected happens. Emergency rooms experience a 40% spike in 'panic visits' from patients who receive raw, uninterpreted laboratory results at 9:00 pm on a Friday. Patient satisfaction falls because patients feel confused, anxious and unsupported. Everyone delivered. The enterprise outcome did not."</a:t>
            </a:r>
          </a:p>
          <a:p>
            <a:r>
              <a:rPr lang="en-GB" dirty="0" b="1"/>
              <a:t>Say: </a:t>
            </a:r>
            <a:r>
              <a:rPr lang="en-GB" dirty="0"/>
              <a:t>"The problem did not sit neatly inside Technology, Marketing, Operations or any other single function. It sat between them. Who considered what happens emotionally when a patient receives a concerning result after hours? Who connects digital access to clinical interpretation? Who owns the hand-off between receiving information and knowing what to do with it?"</a:t>
            </a:r>
          </a:p>
          <a:p>
            <a:r>
              <a:rPr lang="en-GB" dirty="0" b="1"/>
              <a:t>Say: </a:t>
            </a:r>
            <a:r>
              <a:rPr lang="en-GB" dirty="0"/>
              <a:t>"The White Space sits between functional mandates, where no one function is fully in charge, and where the customer experience, the dependencies and the enterprise outcome come together. It is where individually successful contributions must connect to produce the intended result."</a:t>
            </a:r>
          </a:p>
          <a:p>
            <a:r>
              <a:rPr lang="en-GB" dirty="0" b="1"/>
              <a:t>Deepen, say: </a:t>
            </a:r>
            <a:r>
              <a:rPr lang="en-GB" dirty="0"/>
              <a:t>"Examine the interfaces where culture is actually tested: hand-offs between functions, resource conflicts, decision disagreements and responses to mistakes. These moments reveal whether people experience themselves as contributors to one whole or as representatives protecting separate territories."</a:t>
            </a:r>
          </a:p>
          <a:p>
            <a:r>
              <a:rPr lang="en-GB" dirty="0"/>
              <a:t>(Insight: Where culture is tested. Source: Journal, 2 October 2026 — Professional Insights: Culture)</a:t>
            </a:r>
          </a:p>
          <a:p>
            <a:endParaRPr lang="en-GB" dirty="0"/>
          </a:p>
          <a:p>
            <a:r>
              <a:rPr lang="en-GB" dirty="0" b="1"/>
              <a:t>7. Read the three-point check aloud.</a:t>
            </a:r>
          </a:p>
          <a:p>
            <a:r>
              <a:rPr lang="en-GB" dirty="0" b="1"/>
              <a:t>Read aloud: </a:t>
            </a:r>
            <a:r>
              <a:rPr lang="en-GB" dirty="0"/>
              <a:t>"One, Functional Success: does my 'done' create more work, or unintended consequences, for someone else? Two, White Space: if my dashboard is green but the customer, employee or another part of the system is red, where is the disconnect? Three, Enterprise Consequence: when all the contributions come together, has the enterprise actually won?"</a:t>
            </a:r>
          </a:p>
          <a:p>
            <a:endParaRPr lang="en-GB" dirty="0"/>
          </a:p>
          <a:p>
            <a:r>
              <a:rPr lang="en-GB" dirty="0" b="1"/>
              <a:t>8. Hold the key facilitation moment.</a:t>
            </a:r>
          </a:p>
          <a:p>
            <a:r>
              <a:rPr lang="en-GB" dirty="0" b="1"/>
              <a:t>Ask: </a:t>
            </a:r>
            <a:r>
              <a:rPr lang="en-GB" dirty="0"/>
              <a:t>"In your current strategy, where is the enterprise consequence that nobody formally owns?"</a:t>
            </a:r>
          </a:p>
          <a:p>
            <a:r>
              <a:rPr lang="en-GB" dirty="0"/>
              <a:t>This is often where the most candid and valuable conversation in the session occurs. Give it space.</a:t>
            </a:r>
          </a:p>
          <a:p>
            <a:endParaRPr lang="en-GB" dirty="0"/>
          </a:p>
          <a:p>
            <a:r>
              <a:rPr lang="en-GB" dirty="0" b="1"/>
              <a:t>9. Land it.</a:t>
            </a:r>
          </a:p>
          <a:p>
            <a:r>
              <a:rPr lang="en-GB" dirty="0" b="1"/>
              <a:t>Say: </a:t>
            </a:r>
            <a:r>
              <a:rPr lang="en-GB" dirty="0"/>
              <a:t>"A green dashboard does not necessarily mean a successful strategy. The strategic question is whether our individual successes combine to produce the outcome we intended."</a:t>
            </a:r>
          </a:p>
          <a:p>
            <a:r>
              <a:rPr lang="en-GB" dirty="0" b="1"/>
              <a:t>Deepen, say: </a:t>
            </a:r>
            <a:r>
              <a:rPr lang="en-GB" dirty="0"/>
              <a:t>"People can work in the same organisation, attend the same meetings and share the same corporate values while remaining separated by invisible walls: functional silos, hierarchy, professional status, historical conflict or assumptions about whose contribution matters most."</a:t>
            </a:r>
          </a:p>
          <a:p>
            <a:r>
              <a:rPr lang="en-GB" dirty="0"/>
              <a:t>(Insight: Invisible walls. Source: Journal, 4 October 2026 — Professional Insights: Culture)</a:t>
            </a:r>
          </a:p>
          <a:p>
            <a:r>
              <a:rPr lang="en-GB" dirty="0" b="1"/>
              <a:t>Ask: </a:t>
            </a:r>
            <a:r>
              <a:rPr lang="en-GB" dirty="0"/>
              <a:t>"What invisible walls are preventing capable people from becoming an integrated organisation?"</a:t>
            </a:r>
          </a:p>
          <a:p>
            <a:endParaRPr lang="en-GB" dirty="0"/>
          </a:p>
          <a:p>
            <a:r>
              <a:rPr lang="en-GB" dirty="0" b="1"/>
              <a:t>10. Bridge to 3.2.</a:t>
            </a:r>
          </a:p>
          <a:p>
            <a:r>
              <a:rPr lang="en-GB" dirty="0" b="1"/>
              <a:t>Say: </a:t>
            </a:r>
            <a:r>
              <a:rPr lang="en-GB" dirty="0"/>
              <a:t>"So why is all this important? Because the behaviours behind it carry a hidden cost, and in an organisation that cost becomes strategic."</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dirty="0" b="1"/>
              <a:t>3.2 · THE HIDDEN COST OF POOR BEHAVIOURAL AWARENESS (5 STRATEGIC COSTS)</a:t>
            </a:r>
          </a:p>
          <a:p>
            <a:endParaRPr lang="en-GB" dirty="0"/>
          </a:p>
          <a:p>
            <a:r>
              <a:rPr lang="en-GB" dirty="0" b="1"/>
              <a:t>HOW TO TEACH IT:</a:t>
            </a:r>
          </a:p>
          <a:p>
            <a:endParaRPr lang="en-GB" dirty="0"/>
          </a:p>
          <a:p>
            <a:r>
              <a:rPr lang="en-GB" dirty="0" b="1"/>
              <a:t>1. Let the number land.</a:t>
            </a:r>
          </a:p>
          <a:p>
            <a:r>
              <a:rPr lang="en-GB" dirty="0" b="1"/>
              <a:t>Ask: </a:t>
            </a:r>
            <a:r>
              <a:rPr lang="en-GB" dirty="0"/>
              <a:t>"If I told you that disciplined decision-making delivers approximately 6% higher returns than the norm, what would that mean in real terms for your organisation?"</a:t>
            </a:r>
          </a:p>
          <a:p>
            <a:r>
              <a:rPr lang="en-GB" dirty="0"/>
              <a:t>Let the number land before proceeding.</a:t>
            </a:r>
          </a:p>
          <a:p>
            <a:r>
              <a:rPr lang="en-GB" dirty="0" b="1"/>
              <a:t>Say: </a:t>
            </a:r>
            <a:r>
              <a:rPr lang="en-GB" dirty="0"/>
              <a:t>"Research by McKinsey &amp; Company indicates that organisations with disciplined decision-making practices, specifically those that actively mitigate cognitive bias, deliver returns approximately 6% higher than their peers. Conversely, a lack of behavioural awareness creates a hidden tax on the organisation."</a:t>
            </a:r>
          </a:p>
          <a:p>
            <a:r>
              <a:rPr lang="en-GB" dirty="0" b="1"/>
              <a:t>Say: </a:t>
            </a:r>
            <a:r>
              <a:rPr lang="en-GB" dirty="0"/>
              <a:t>"The question we are now asking is: what can biased thinking and behaviour actually cost the strategy?"</a:t>
            </a:r>
          </a:p>
          <a:p>
            <a:endParaRPr lang="en-GB" dirty="0"/>
          </a:p>
          <a:p>
            <a:r>
              <a:rPr lang="en-GB" dirty="0" b="1"/>
              <a:t>2. Cost 1: Misallocated Capital (Stability and Action Biases).</a:t>
            </a:r>
          </a:p>
          <a:p>
            <a:r>
              <a:rPr lang="en-GB" dirty="0" b="1"/>
              <a:t>Say: </a:t>
            </a:r>
            <a:r>
              <a:rPr lang="en-GB" dirty="0"/>
              <a:t>"Resources go to the wrong places. Capital, people and management attention keep flowing towards investments that no longer offer the best future value, or towards new opportunities whose potential has been overestimated."</a:t>
            </a:r>
          </a:p>
          <a:p>
            <a:r>
              <a:rPr lang="en-GB" dirty="0" b="1"/>
              <a:t>Ask: </a:t>
            </a:r>
            <a:r>
              <a:rPr lang="en-GB" dirty="0"/>
              <a:t>"Which biases could contribute, and how?"</a:t>
            </a:r>
          </a:p>
          <a:p>
            <a:r>
              <a:rPr lang="en-GB" dirty="0" b="1"/>
              <a:t>Say: </a:t>
            </a:r>
            <a:r>
              <a:rPr lang="en-GB" dirty="0"/>
              <a:t>"Sunk-Cost bias keeps resources tied to an investment because so much has already been spent on it. The Endowment Effect causes leaders to overvalue businesses, assets or projects simply because the organisation already owns them. At the other extreme, Overconfidence and the Illusion of Control encourage ambitious investments or 'ego acquisitions' because leaders overestimate their judgement or their ability to control the outcome."</a:t>
            </a:r>
          </a:p>
          <a:p>
            <a:r>
              <a:rPr lang="en-GB" dirty="0" b="1"/>
              <a:t>Say: </a:t>
            </a:r>
            <a:r>
              <a:rPr lang="en-GB" dirty="0"/>
              <a:t>"We can therefore misallocate capital in two directions: holding onto yesterday for too long, or betting too confidently on tomorrow. The strategic cost: resources are committed according to behavioural attachment or confidence, and future value is overlooked."</a:t>
            </a:r>
          </a:p>
          <a:p>
            <a:r>
              <a:rPr lang="en-GB" dirty="0" b="1"/>
              <a:t>Deepen, say: </a:t>
            </a:r>
            <a:r>
              <a:rPr lang="en-GB" dirty="0"/>
              <a:t>"Cultures are revealed by their budget allocations and recognition rituals. List the three things the team has invested most resource in over the last quarter and the three things it has most publicly celebrated. If those lists do not match the stated values, the values on the wall are decoration."</a:t>
            </a:r>
          </a:p>
          <a:p>
            <a:r>
              <a:rPr lang="en-GB" dirty="0"/>
              <a:t>(Insight: Where the resources go. Source: Journal, 26 April 2026 — Professional Insights: Culture)</a:t>
            </a:r>
          </a:p>
          <a:p>
            <a:endParaRPr lang="en-GB" dirty="0"/>
          </a:p>
          <a:p>
            <a:r>
              <a:rPr lang="en-GB" dirty="0" b="1"/>
              <a:t>3. Cost 2: Strategic Inertia (Stability Biases).</a:t>
            </a:r>
          </a:p>
          <a:p>
            <a:r>
              <a:rPr lang="en-GB" dirty="0" b="1"/>
              <a:t>Say: </a:t>
            </a:r>
            <a:r>
              <a:rPr lang="en-GB" dirty="0"/>
              <a:t>"The organisation can see that change is needed, but struggles to move. The market may be changing, customer expectations shifting, new technology emerging. Leadership may even recognise these changes. Yet the organisation continues operating largely as before."</a:t>
            </a:r>
          </a:p>
          <a:p>
            <a:r>
              <a:rPr lang="en-GB" dirty="0" b="1"/>
              <a:t>Ask: </a:t>
            </a:r>
            <a:r>
              <a:rPr lang="en-GB" dirty="0"/>
              <a:t>"Which biases could contribute, and how?"</a:t>
            </a:r>
          </a:p>
          <a:p>
            <a:r>
              <a:rPr lang="en-GB" dirty="0" b="1"/>
              <a:t>Say: </a:t>
            </a:r>
            <a:r>
              <a:rPr lang="en-GB" dirty="0"/>
              <a:t>"Anchoring keeps thinking tied to old assumptions, measures or definitions of success. Status Quo bias makes the existing model feel safer simply because it is familiar. Loss Aversion makes leaders focus more strongly on what could be lost through change than on what could be gained. The fear of change stops the dominant coalition from shifting to new models, so the organisation keeps finding reasons to delay, protect or incrementally adjust what already exists."</a:t>
            </a:r>
          </a:p>
          <a:p>
            <a:r>
              <a:rPr lang="en-GB" dirty="0" b="1"/>
              <a:t>Say: </a:t>
            </a:r>
            <a:r>
              <a:rPr lang="en-GB" dirty="0"/>
              <a:t>"The strategic cost: the organisation responds to a changing environment more slowly than the environment itself is changing."</a:t>
            </a:r>
          </a:p>
          <a:p>
            <a:r>
              <a:rPr lang="en-GB" dirty="0" b="1"/>
              <a:t>Deepen, say: </a:t>
            </a:r>
            <a:r>
              <a:rPr lang="en-GB" dirty="0"/>
              <a:t>"Senior leaders accumulate programmes built to reproduce past breakthroughs. Identify one programme, ritual or initiative that exists mainly because something like it succeeded before, and pull the data on whether it still produces the original effect. If the case for keeping it is mostly nostalgia, schedule its sunset this quarter."</a:t>
            </a:r>
          </a:p>
          <a:p>
            <a:r>
              <a:rPr lang="en-GB" dirty="0"/>
              <a:t>(Insight: Programmes that outlive their purpose. Source: Journal, 6 May 2026 — Professional Insights: Leadership)</a:t>
            </a:r>
          </a:p>
          <a:p>
            <a:endParaRPr lang="en-GB" dirty="0"/>
          </a:p>
          <a:p>
            <a:r>
              <a:rPr lang="en-GB" dirty="0" b="1"/>
              <a:t>4. Cost 3: Execution Failure (Action-Oriented Biases).</a:t>
            </a:r>
          </a:p>
          <a:p>
            <a:r>
              <a:rPr lang="en-GB" dirty="0" b="1"/>
              <a:t>Say: </a:t>
            </a:r>
            <a:r>
              <a:rPr lang="en-GB" dirty="0"/>
              <a:t>"The strategy looks achievable on paper but breaks down during delivery. The organisation commits to outcomes, timelines and initiatives without sufficiently accounting for the conditions required to deliver them."</a:t>
            </a:r>
          </a:p>
          <a:p>
            <a:r>
              <a:rPr lang="en-GB" dirty="0" b="1"/>
              <a:t>Ask: </a:t>
            </a:r>
            <a:r>
              <a:rPr lang="en-GB" dirty="0"/>
              <a:t>"Which biases could contribute, and how?"</a:t>
            </a:r>
          </a:p>
          <a:p>
            <a:r>
              <a:rPr lang="en-GB" dirty="0" b="1"/>
              <a:t>Say: </a:t>
            </a:r>
            <a:r>
              <a:rPr lang="en-GB" dirty="0"/>
              <a:t>"Optimism bias encourages leaders to expect more favourable outcomes than the evidence supports. The Planning Fallacy causes teams to underestimate how much time, money, capability and coordination delivery will actually require. Overconfidence strengthens the belief that the organisation will somehow overcome those constraints. Once execution begins, action-reinforcing Confirmation bias makes leaders pay greater attention to evidence that the plan is working while explaining away early warning signs."</a:t>
            </a:r>
          </a:p>
          <a:p>
            <a:r>
              <a:rPr lang="en-GB" dirty="0" b="1"/>
              <a:t>Say: </a:t>
            </a:r>
            <a:r>
              <a:rPr lang="en-GB" dirty="0"/>
              <a:t>"The strategic cost: the organisation commits beyond its realistic capacity to deliver, and recognises the gap too late. Some of that underestimated complexity sits between functions, in the White Space, as well as in the project plan."</a:t>
            </a:r>
          </a:p>
          <a:p>
            <a:r>
              <a:rPr lang="en-GB" dirty="0" b="1"/>
              <a:t>Deepen, say: </a:t>
            </a:r>
            <a:r>
              <a:rPr lang="en-GB" dirty="0"/>
              <a:t>"Strategic outcomes are usually cumulative. Capability, trust, customer loyalty and operational discipline are built through repeated investments whose effects may not be immediately visible. Good execution distinguishes between an initiative that is failing and one whose results have not yet matured, while using evidence to test whether the underlying assumptions remain valid."</a:t>
            </a:r>
          </a:p>
          <a:p>
            <a:r>
              <a:rPr lang="en-GB" dirty="0"/>
              <a:t>(Insight: Failing, or still maturing. Source: Journal, 1 October 2026 — Professional Insights: Strategy)</a:t>
            </a:r>
          </a:p>
          <a:p>
            <a:endParaRPr lang="en-GB" dirty="0"/>
          </a:p>
          <a:p>
            <a:r>
              <a:rPr lang="en-GB" dirty="0" b="1"/>
              <a:t>5. Cost 4: Innovation Suppression (Social and Interest Biases).</a:t>
            </a:r>
          </a:p>
          <a:p>
            <a:r>
              <a:rPr lang="en-GB" dirty="0" b="1"/>
              <a:t>Say: </a:t>
            </a:r>
            <a:r>
              <a:rPr lang="en-GB" dirty="0"/>
              <a:t>"Good ideas, alternative perspectives and uncomfortable truths struggle to survive inside the organisation. People may have ideas and still learn which ideas are safe to voice, which assumptions are dangerous to challenge, and whose thinking carries the greatest weight."</a:t>
            </a:r>
          </a:p>
          <a:p>
            <a:r>
              <a:rPr lang="en-GB" dirty="0" b="1"/>
              <a:t>Ask: </a:t>
            </a:r>
            <a:r>
              <a:rPr lang="en-GB" dirty="0"/>
              <a:t>"Which biases could contribute, and how?"</a:t>
            </a:r>
          </a:p>
          <a:p>
            <a:r>
              <a:rPr lang="en-GB" dirty="0" b="1"/>
              <a:t>Say: </a:t>
            </a:r>
            <a:r>
              <a:rPr lang="en-GB" dirty="0"/>
              <a:t>"Groupthink makes maintaining agreement more important than examining alternatives. Conformity bias encourages people to align with the dominant view. Authority bias makes people reluctant to challenge powerful or respected leaders. Career-Risk bias raises the personal cost of dissent: what happens to me if I challenge this and I am wrong? Valuable ideas may disappear before they are ever seriously considered."</a:t>
            </a:r>
          </a:p>
          <a:p>
            <a:r>
              <a:rPr lang="en-GB" dirty="0" b="1"/>
              <a:t>Say: </a:t>
            </a:r>
            <a:r>
              <a:rPr lang="en-GB" dirty="0"/>
              <a:t>"The strategic cost: the organisation loses access to ideas and information that could have improved the strategy, because people learn to filter themselves."</a:t>
            </a:r>
          </a:p>
          <a:p>
            <a:r>
              <a:rPr lang="en-GB" dirty="0" b="1"/>
              <a:t>Deepen, say: </a:t>
            </a:r>
            <a:r>
              <a:rPr lang="en-GB" dirty="0"/>
              <a:t>"Organisations often face the most intense resistance to necessary truth from the people who should be most invested in hearing it. Build the protection of truth-tellers into the structure of the culture as well as the values statement."</a:t>
            </a:r>
          </a:p>
          <a:p>
            <a:r>
              <a:rPr lang="en-GB" dirty="0"/>
              <a:t>(Insight: Protect the truth-teller. Source: Journal, 7 February 2026 — Professional Insights: Culture)</a:t>
            </a:r>
          </a:p>
          <a:p>
            <a:r>
              <a:rPr lang="en-GB" dirty="0" b="1"/>
              <a:t>Ask: </a:t>
            </a:r>
            <a:r>
              <a:rPr lang="en-GB" dirty="0"/>
              <a:t>"How many ideas never reach the strategy table because people already know what the table wants to hear?"</a:t>
            </a:r>
          </a:p>
          <a:p>
            <a:endParaRPr lang="en-GB" dirty="0"/>
          </a:p>
          <a:p>
            <a:r>
              <a:rPr lang="en-GB" dirty="0" b="1"/>
              <a:t>6. Cost 5: Purpose Drift (Interest and Social Biases).</a:t>
            </a:r>
          </a:p>
          <a:p>
            <a:r>
              <a:rPr lang="en-GB" dirty="0" b="1"/>
              <a:t>Say: </a:t>
            </a:r>
            <a:r>
              <a:rPr lang="en-GB" dirty="0"/>
              <a:t>"The organisation gradually starts making decisions that serve immediate interests while moving away from its longer-term strategic intent. Purpose drift is often gradual. Individual decisions can appear reasonable on their own, but over time they pull the organisation away from what it set out to achieve."</a:t>
            </a:r>
          </a:p>
          <a:p>
            <a:r>
              <a:rPr lang="en-GB" dirty="0" b="1"/>
              <a:t>Ask: </a:t>
            </a:r>
            <a:r>
              <a:rPr lang="en-GB" dirty="0"/>
              <a:t>"Which biases could contribute, and how?"</a:t>
            </a:r>
          </a:p>
          <a:p>
            <a:r>
              <a:rPr lang="en-GB" dirty="0" b="1"/>
              <a:t>Say: </a:t>
            </a:r>
            <a:r>
              <a:rPr lang="en-GB" dirty="0"/>
              <a:t>"Self-Interest bias can steer decisions towards protecting individual or functional interests. Incentive bias makes people optimise for what is measured and rewarded, even when that behaviour works against the wider strategy. The Halo Effect lets a highly visible success, influential leader or celebrated 'quick win' receive more strategic weight than the evidence warrants. Social pressure then reinforces the direction, because challenging something perceived as successful becomes increasingly difficult."</a:t>
            </a:r>
          </a:p>
          <a:p>
            <a:r>
              <a:rPr lang="en-GB" dirty="0" b="1"/>
              <a:t>Say: </a:t>
            </a:r>
            <a:r>
              <a:rPr lang="en-GB" dirty="0"/>
              <a:t>"The strategic cost: short-term success begins to redefine what matters, and the organisation gradually loses alignment with its longer-term intent."</a:t>
            </a:r>
          </a:p>
          <a:p>
            <a:r>
              <a:rPr lang="en-GB" dirty="0" b="1"/>
              <a:t>Deepen, say: </a:t>
            </a:r>
            <a:r>
              <a:rPr lang="en-GB" dirty="0"/>
              <a:t>"Drift happens through a series of small accommodations that go unchallenged. What is tolerated becomes what is normal, and by the time the values have shifted no one can point to the moment it happened. Leaders who want to protect what the organisation stands for must challenge early drift."</a:t>
            </a:r>
          </a:p>
          <a:p>
            <a:r>
              <a:rPr lang="en-GB" dirty="0"/>
              <a:t>(Insight: Small accommodations. Source: Journal, 16 April 2026 — Professional Insights: Culture)</a:t>
            </a:r>
          </a:p>
          <a:p>
            <a:endParaRPr lang="en-GB" dirty="0"/>
          </a:p>
          <a:p>
            <a:r>
              <a:rPr lang="en-GB" dirty="0" b="1"/>
              <a:t>7. Ask which cost is most active.</a:t>
            </a:r>
          </a:p>
          <a:p>
            <a:r>
              <a:rPr lang="en-GB" dirty="0" b="1"/>
              <a:t>Ask: </a:t>
            </a:r>
            <a:r>
              <a:rPr lang="en-GB" dirty="0"/>
              <a:t>"Which of these is the most expensive one in your organisation right now, and which is the most invisible?"</a:t>
            </a:r>
          </a:p>
          <a:p>
            <a:r>
              <a:rPr lang="en-GB" dirty="0" b="1"/>
              <a:t>If time allows: </a:t>
            </a:r>
            <a:r>
              <a:rPr lang="en-GB" dirty="0"/>
              <a:t>put participants in pairs. Each pair identifies the cost it believes is most active and traces it back to a bias family from 2.4. Bring the pairs back for a short share-out.</a:t>
            </a:r>
          </a:p>
          <a:p>
            <a:endParaRPr lang="en-GB" dirty="0"/>
          </a:p>
          <a:p>
            <a:r>
              <a:rPr lang="en-GB" dirty="0" b="1"/>
              <a:t>8. Land the five costs.</a:t>
            </a:r>
          </a:p>
          <a:p>
            <a:r>
              <a:rPr lang="en-GB" dirty="0" b="1"/>
              <a:t>Say: </a:t>
            </a:r>
            <a:r>
              <a:rPr lang="en-GB" dirty="0"/>
              <a:t>"Cognitive bias does not remain inside someone's head. It eventually shows up in the economics and performance of the organisation. Bias begins in judgement. Its cost appears in strategy."</a:t>
            </a:r>
          </a:p>
          <a:p>
            <a:r>
              <a:rPr lang="en-GB" dirty="0" b="1"/>
              <a:t>Say: </a:t>
            </a:r>
            <a:r>
              <a:rPr lang="en-GB" dirty="0"/>
              <a:t>"Unexamined bias turns one strategy into competing functional priorities, and its cost shows in decisions, delays and lost value."</a:t>
            </a:r>
          </a:p>
          <a:p>
            <a:endParaRPr lang="en-GB" dirty="0"/>
          </a:p>
          <a:p>
            <a:r>
              <a:rPr lang="en-GB" dirty="0" b="1"/>
              <a:t>9. Bridge to Section 4.</a:t>
            </a:r>
          </a:p>
          <a:p>
            <a:r>
              <a:rPr lang="en-GB" dirty="0" b="1"/>
              <a:t>Say: </a:t>
            </a:r>
            <a:r>
              <a:rPr lang="en-GB" dirty="0"/>
              <a:t>"Now that we know what bias costs, the next question is: where exactly in the strategy process do these costs accumulate? That is what Section 4 maps for us."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AE779-CBDC-BE05-1965-752F76AB54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4B0382-26B3-964C-FE53-769101787732}"/>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93977CC7-2E08-38C7-30AC-6063ED9790F3}"/>
              </a:ext>
            </a:extLst>
          </p:cNvPr>
          <p:cNvSpPr>
            <a:spLocks noGrp="1"/>
          </p:cNvSpPr>
          <p:nvPr>
            <p:ph type="body" idx="1"/>
          </p:nvPr>
        </p:nvSpPr>
        <p:spPr/>
        <p:txBody>
          <a:bodyPr/>
          <a:lstStyle/>
          <a:p>
            <a:r>
              <a:rPr lang="en-GB" dirty="0" b="1"/>
              <a:t>SECTION 3 REFLECTIONS</a:t>
            </a:r>
          </a:p>
          <a:p>
            <a:endParaRPr lang="en-GB" dirty="0"/>
          </a:p>
          <a:p>
            <a:r>
              <a:rPr lang="en-GB" dirty="0" b="1"/>
              <a:t>HOW TO USE THIS SLIDE:</a:t>
            </a:r>
          </a:p>
          <a:p>
            <a:endParaRPr lang="en-GB" dirty="0"/>
          </a:p>
          <a:p>
            <a:r>
              <a:rPr lang="en-GB" dirty="0" b="1"/>
              <a:t>1. Show the two reflections.</a:t>
            </a:r>
          </a:p>
          <a:p>
            <a:r>
              <a:rPr lang="en-GB" dirty="0" b="1"/>
              <a:t>Say: </a:t>
            </a:r>
            <a:r>
              <a:rPr lang="en-GB" dirty="0"/>
              <a:t>"Section 3 closes with two reflections on your portal page."</a:t>
            </a:r>
          </a:p>
          <a:p>
            <a:r>
              <a:rPr lang="en-GB" dirty="0" b="1"/>
              <a:t>Read aloud: </a:t>
            </a:r>
            <a:r>
              <a:rPr lang="en-GB" dirty="0"/>
              <a:t>"3.1: Select the executive leader role that is most relevant to you. What does the internal translation reveal about your own blind spots? Where is the 'White Space' in your organisation's current strategy — the gap between functional success and enterprise outcome?"</a:t>
            </a:r>
          </a:p>
          <a:p>
            <a:r>
              <a:rPr lang="en-GB" dirty="0" b="1"/>
              <a:t>Read aloud: </a:t>
            </a:r>
            <a:r>
              <a:rPr lang="en-GB" dirty="0"/>
              <a:t>"3.2: Which of the five hidden costs is most visible in your current organisation? Can you trace it back to a specific bias family? What would it take to address it?"</a:t>
            </a:r>
          </a:p>
          <a:p>
            <a:endParaRPr lang="en-GB" dirty="0"/>
          </a:p>
          <a:p>
            <a:r>
              <a:rPr lang="en-GB" dirty="0" b="1"/>
              <a:t>2. Set the expectation for depth.</a:t>
            </a:r>
          </a:p>
          <a:p>
            <a:r>
              <a:rPr lang="en-GB" dirty="0" b="1"/>
              <a:t>Say: </a:t>
            </a:r>
            <a:r>
              <a:rPr lang="en-GB" dirty="0"/>
              <a:t>"Name the White Space and the cost you actually see in your organisation, and trace each back to the bias behind it. Your reflections build the Learning Portfolio you receive at the end of the programme."</a:t>
            </a:r>
          </a:p>
          <a:p>
            <a:endParaRPr lang="en-GB" dirty="0"/>
          </a:p>
          <a:p>
            <a:r>
              <a:rPr lang="en-GB" dirty="0" b="1"/>
              <a:t>ON THE PORTAL, AFTER THE TEACHING:</a:t>
            </a:r>
          </a:p>
          <a:p>
            <a:r>
              <a:rPr lang="en-GB" dirty="0"/>
              <a:t>Participants write each reflection on their portal page and select Save Reflection.</a:t>
            </a:r>
          </a:p>
        </p:txBody>
      </p:sp>
      <p:sp>
        <p:nvSpPr>
          <p:cNvPr id="4" name="Slide Number Placeholder 3">
            <a:extLst>
              <a:ext uri="{FF2B5EF4-FFF2-40B4-BE49-F238E27FC236}">
                <a16:creationId xmlns:a16="http://schemas.microsoft.com/office/drawing/2014/main" id="{FA359836-9064-ADC8-CB72-4EEE286D4CAF}"/>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8016769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dirty="0" b="1"/>
              <a:t>SECTION 4 · EXTRAPOLATING — WHERE</a:t>
            </a:r>
          </a:p>
          <a:p>
            <a:r>
              <a:rPr lang="en-GB" dirty="0"/>
              <a:t>Where Behavioural Strategy Operates · 4.1 · 4.2</a:t>
            </a:r>
          </a:p>
          <a:p>
            <a:endParaRPr lang="en-GB" dirty="0"/>
          </a:p>
          <a:p>
            <a:r>
              <a:rPr lang="en-GB" dirty="0" b="1"/>
              <a:t>HOW THIS SECTION RUNS:</a:t>
            </a:r>
          </a:p>
          <a:p>
            <a:r>
              <a:rPr lang="en-GB" dirty="0"/>
              <a:t>This is the most diagnostic section. Participants move from understanding bias conceptually to mapping where it shows up: across their own strategy process (4.1, the four phases) and in the emotional environment that either amplifies or dampens it (4.2.1 emotional climate, 4.2.2 emotional state, 4.2.3 the six debiasing principles). Expect this section to surface uncomfortable recognitions. That is the design intent.</a:t>
            </a:r>
          </a:p>
          <a:p>
            <a:endParaRPr lang="en-GB" dirty="0"/>
          </a:p>
          <a:p>
            <a:r>
              <a:rPr lang="en-GB" dirty="0" b="1"/>
              <a:t>SECTION LEARNING OUTCOMES:</a:t>
            </a:r>
          </a:p>
          <a:p>
            <a:r>
              <a:rPr lang="en-GB" dirty="0"/>
              <a:t>1. Identify where bias and emotional climate most affect decision quality across the strategy process.</a:t>
            </a:r>
          </a:p>
          <a:p>
            <a:r>
              <a:rPr lang="en-GB" dirty="0"/>
              <a:t>2. Determine the interventions that would most strengthen objectivity in your own strategy process.</a:t>
            </a:r>
          </a:p>
          <a:p>
            <a:endParaRPr lang="en-GB" dirty="0"/>
          </a:p>
          <a:p>
            <a:r>
              <a:rPr lang="en-GB" dirty="0" b="1"/>
              <a:t>HOW TO OPEN THE SECTION:</a:t>
            </a:r>
          </a:p>
          <a:p>
            <a:endParaRPr lang="en-GB" dirty="0"/>
          </a:p>
          <a:p>
            <a:r>
              <a:rPr lang="en-GB" dirty="0" b="1"/>
              <a:t>1. Frame the section.</a:t>
            </a:r>
          </a:p>
          <a:p>
            <a:r>
              <a:rPr lang="en-GB" dirty="0" b="1"/>
              <a:t>Say: </a:t>
            </a:r>
            <a:r>
              <a:rPr lang="en-GB" dirty="0"/>
              <a:t>"Every bias we explored in Section 2 has a home. It lives in specific moments of the strategy process. This section maps those moments."</a:t>
            </a:r>
          </a:p>
          <a:p>
            <a:endParaRPr lang="en-GB" dirty="0"/>
          </a:p>
          <a:p>
            <a:r>
              <a:rPr lang="en-GB" dirty="0" b="1"/>
              <a:t>2. Bridge to 4.1.</a:t>
            </a:r>
          </a:p>
          <a:p>
            <a:r>
              <a:rPr lang="en-GB" dirty="0" b="1"/>
              <a:t>Say: </a:t>
            </a:r>
            <a:r>
              <a:rPr lang="en-GB" dirty="0"/>
              <a:t>"We start with the strategy journey itself."</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dirty="0" b="1"/>
              <a:t>4.1 · THE STRATEGY JOURNEY AS A BIAS LANDSCAPE (4 PHASES)</a:t>
            </a:r>
          </a:p>
          <a:p>
            <a:endParaRPr lang="en-GB" dirty="0"/>
          </a:p>
          <a:p>
            <a:r>
              <a:rPr lang="en-GB" dirty="0" b="1"/>
              <a:t>HOW TO TEACH IT:</a:t>
            </a:r>
          </a:p>
          <a:p>
            <a:r>
              <a:rPr lang="en-GB" dirty="0"/>
              <a:t>Walk through the four phases as a group, in order. For each phase, teach the content, pause on its scanner question, then ask the phase question. If possible, capture the room's answers on a whiteboard or shared screen: this builds a live bias exposure map of the group's actual strategy processes.</a:t>
            </a:r>
          </a:p>
          <a:p>
            <a:endParaRPr lang="en-GB" dirty="0"/>
          </a:p>
          <a:p>
            <a:r>
              <a:rPr lang="en-GB" dirty="0" b="1"/>
              <a:t>1. Set up the landscape.</a:t>
            </a:r>
          </a:p>
          <a:p>
            <a:r>
              <a:rPr lang="en-GB" dirty="0" b="1"/>
              <a:t>Say: </a:t>
            </a:r>
            <a:r>
              <a:rPr lang="en-GB" dirty="0"/>
              <a:t>"Strategy is designed by people and delivered by people. Throughout the strategy journey, people are required to interpret information, make sense of circumstances, generate possibilities, make choices, translate direction into their own contribution, coordinate with others and act. At every one of these moments, what people think, decide and do can influence the strategy."</a:t>
            </a:r>
          </a:p>
          <a:p>
            <a:r>
              <a:rPr lang="en-GB" dirty="0" b="1"/>
              <a:t>Say: </a:t>
            </a:r>
            <a:r>
              <a:rPr lang="en-GB" dirty="0"/>
              <a:t>"Every strategic message is filtered through the mind and the heart. Bias therefore lives in processes as well as in people. More precisely, it enters at the specific moments within the strategy process where human judgement is required: where data must be interpreted, options imagined, choices made, and strategic intent translated into action."</a:t>
            </a:r>
          </a:p>
          <a:p>
            <a:r>
              <a:rPr lang="en-GB" dirty="0" b="1"/>
              <a:t>Say: </a:t>
            </a:r>
            <a:r>
              <a:rPr lang="en-GB" dirty="0"/>
              <a:t>"This is the core insight of the Bias Landscape: behavioural strategy helps us identify where, across the strategy journey, human judgement is most exposed to invisible distortion, from the people shaping the strategy to the people delivering it. The four phases give us a practical way to examine that exposure."</a:t>
            </a:r>
          </a:p>
          <a:p>
            <a:endParaRPr lang="en-GB" dirty="0"/>
          </a:p>
          <a:p>
            <a:r>
              <a:rPr lang="en-GB" dirty="0" b="1"/>
              <a:t>2. Phase 1 · Diagnosis: wrong reality enters the strategy.</a:t>
            </a:r>
          </a:p>
          <a:p>
            <a:r>
              <a:rPr lang="en-GB" dirty="0" b="1"/>
              <a:t>Say: </a:t>
            </a:r>
            <a:r>
              <a:rPr lang="en-GB" dirty="0"/>
              <a:t>"Every strategy begins with a reading of reality. Leaders scan the external environment, assess internal capability and form a view of what is true about the organisation's position. This diagnostic work is the foundation on which everything else is built. It is also where the first, and potentially most consequential, distortions can enter. The human mind cannot process all available information equally. It selects. And the criteria for selection are rarely completely objective."</a:t>
            </a:r>
          </a:p>
          <a:p>
            <a:r>
              <a:rPr lang="en-GB" dirty="0" b="1"/>
              <a:t>Say: </a:t>
            </a:r>
            <a:r>
              <a:rPr lang="en-GB" dirty="0"/>
              <a:t>"Availability bias governs what gets noticed. Information that is recent, vivid or frequently discussed can receive far greater weight than its actual strategic significance; a competitor's recent product launch or a difficult quarter just closed can dominate the diagnostic conversation. Anchoring governs what gets used as a reference point: the first number on a slide, the previous year's result or an analyst's initial estimate becomes a gravitational centre around which later thinking orbits. Confirmation bias closes the loop: once leaders have formed an initial view, even provisionally, they seek and give greater weight to information that supports it."</a:t>
            </a:r>
          </a:p>
          <a:p>
            <a:r>
              <a:rPr lang="en-GB" dirty="0" b="1"/>
              <a:t>Say: </a:t>
            </a:r>
            <a:r>
              <a:rPr lang="en-GB" dirty="0"/>
              <a:t>"A strategy built on a flawed diagnosis can become a well-organised response to a reality the organisation has misread."</a:t>
            </a:r>
          </a:p>
          <a:p>
            <a:r>
              <a:rPr lang="en-GB" dirty="0" b="1"/>
              <a:t>Deepen, say: </a:t>
            </a:r>
            <a:r>
              <a:rPr lang="en-GB" dirty="0"/>
              <a:t>"Organisations misdiagnose problems when they address visible symptoms without examining the beliefs producing them. Persistent silo behaviour or poor accountability may survive new processes because the underlying assumptions remain intact. Ask what is happening, and what logic keeps making this behaviour reasonable to the people practising it."</a:t>
            </a:r>
          </a:p>
          <a:p>
            <a:r>
              <a:rPr lang="en-GB" dirty="0"/>
              <a:t>(Insight: Diagnosis beneath visible behaviour. Source: Journal, 2 October 2026 — Professional Insights: Strategy)</a:t>
            </a:r>
          </a:p>
          <a:p>
            <a:r>
              <a:rPr lang="en-GB" dirty="0" b="1"/>
              <a:t>Deepen, say: </a:t>
            </a:r>
            <a:r>
              <a:rPr lang="en-GB" dirty="0"/>
              <a:t>"Organisations often decide first and then use analysis to validate the decision. Sound strategy needs enough humility to let evidence alter the chosen path."</a:t>
            </a:r>
          </a:p>
          <a:p>
            <a:r>
              <a:rPr lang="en-GB" dirty="0"/>
              <a:t>(Insight: Deciding first. Source: Journal, 17 September 2026 — Professional Insights: Strategy)</a:t>
            </a:r>
          </a:p>
          <a:p>
            <a:r>
              <a:rPr lang="en-GB" dirty="0"/>
              <a:t>Read the scanner question: "If we stripped out everything our team already knew or believed before this process began, what would the remaining evidence actually tell us?"</a:t>
            </a:r>
          </a:p>
          <a:p>
            <a:r>
              <a:rPr lang="en-GB" dirty="0" b="1"/>
              <a:t>Ask: </a:t>
            </a:r>
            <a:r>
              <a:rPr lang="en-GB" dirty="0"/>
              <a:t>"Is your current strategic diagnosis based on data you deliberately sought, or data that happened to be available?"</a:t>
            </a:r>
          </a:p>
          <a:p>
            <a:endParaRPr lang="en-GB" dirty="0"/>
          </a:p>
          <a:p>
            <a:r>
              <a:rPr lang="en-GB" dirty="0" b="1"/>
              <a:t>3. Phase 2 · Option Generation: the solution space is narrowed before debate.</a:t>
            </a:r>
          </a:p>
          <a:p>
            <a:r>
              <a:rPr lang="en-GB" dirty="0" b="1"/>
              <a:t>Say: </a:t>
            </a:r>
            <a:r>
              <a:rPr lang="en-GB" dirty="0"/>
              <a:t>"Once the organisation has formed a view of reality, people begin asking: what could we do? What directions are available? This should be one of the most generative moments in strategy, where imagination, expertise and creative tension produce a range of possible paths. Yet the range of possibilities can begin narrowing before options are ever formally tabled. Social dynamics, professional filters and unspoken assumptions about what is realistic, acceptable or safe to propose all influence what reaches the table."</a:t>
            </a:r>
          </a:p>
          <a:p>
            <a:r>
              <a:rPr lang="en-GB" dirty="0" b="1"/>
              <a:t>Say: </a:t>
            </a:r>
            <a:r>
              <a:rPr lang="en-GB" dirty="0"/>
              <a:t>"Status Quo bias is the most pervasive: the current strategy pulls thinking towards what already exists, so teams make small adjustments and leave bold options unexplored. Functional and Silo bias means options are generated inside each organisational lane, so the transformative options that need cross-functional integration are structurally disadvantaged. Career-Risk bias is perhaps the most damaging and least visible: radical options carry personal risk for the people who advocate them, so they do not get advocated; they may not even get thought. Groupthink and Conformity operate in the room itself: once a dominant view begins to form, the social pressure to align with it grows. Dissenting options require social courage as well as intellectual effort, and in most rooms courage is in shorter supply than intelligence."</a:t>
            </a:r>
          </a:p>
          <a:p>
            <a:r>
              <a:rPr lang="en-GB" dirty="0" b="1"/>
              <a:t>Say: </a:t>
            </a:r>
            <a:r>
              <a:rPr lang="en-GB" dirty="0"/>
              <a:t>"The options that eventually reach a decision have already passed through human, professional and social filters."</a:t>
            </a:r>
          </a:p>
          <a:p>
            <a:r>
              <a:rPr lang="en-GB" dirty="0"/>
              <a:t>Read the scanner question: "What is the most disruptive option we have not yet put on the table, and what is the real reason it is not there?"</a:t>
            </a:r>
          </a:p>
          <a:p>
            <a:r>
              <a:rPr lang="en-GB" dirty="0" b="1"/>
              <a:t>Ask: </a:t>
            </a:r>
            <a:r>
              <a:rPr lang="en-GB" dirty="0"/>
              <a:t>"How many genuinely different strategic options did your team consider before committing to your current direction?"</a:t>
            </a:r>
          </a:p>
          <a:p>
            <a:endParaRPr lang="en-GB" dirty="0"/>
          </a:p>
          <a:p>
            <a:r>
              <a:rPr lang="en-GB" dirty="0" b="1"/>
              <a:t>4. Phase 3 · Decision: the chosen path becomes flawed or skewed.</a:t>
            </a:r>
          </a:p>
          <a:p>
            <a:r>
              <a:rPr lang="en-GB" dirty="0" b="1"/>
              <a:t>Say: </a:t>
            </a:r>
            <a:r>
              <a:rPr lang="en-GB" dirty="0"/>
              <a:t>"Eventually, possibilities must become choices. Strategic decisions are rarely made in neutral conditions: there may be pressure to commit, uncertainty about outcomes, competing interests and differences in authority around the table. As the choice gets closer, the desire for certainty grows. Confidence can increase even when the evidence has not changed. Who holds authority, who is most respected and who has the most to gain or lose begin influencing the outcome alongside the evidence."</a:t>
            </a:r>
          </a:p>
          <a:p>
            <a:r>
              <a:rPr lang="en-GB" dirty="0" b="1"/>
              <a:t>Say: </a:t>
            </a:r>
            <a:r>
              <a:rPr lang="en-GB" dirty="0"/>
              <a:t>"Overconfidence inflates the perceived quality of the preferred option; its advantages gain weight while its risks are progressively managed down. Loss Aversion tilts choices towards protecting what already exists. Authority bias and the Halo Effect influence whose judgement receives the greatest weight. The Sunk-Cost Fallacy and the Endowment Effect influence which portfolio options survive, because choices that write down previous investments or relinquish something the organisation has built are harder to make."</a:t>
            </a:r>
          </a:p>
          <a:p>
            <a:r>
              <a:rPr lang="en-GB" dirty="0" b="1"/>
              <a:t>Deepen, say: </a:t>
            </a:r>
            <a:r>
              <a:rPr lang="en-GB" dirty="0"/>
              <a:t>"Organisations often continue weak initiatives because money, reputation or effort has already been invested, defending yesterday's choice at the expense of tomorrow's outcome. Sound strategy needs the courage to discontinue an unsuitable course, absorb the immediate cost and return to the principles that should govern the decision."</a:t>
            </a:r>
          </a:p>
          <a:p>
            <a:r>
              <a:rPr lang="en-GB" dirty="0"/>
              <a:t>(Insight: The sunk-cost trap. Source: Journal, 22 July 2026 — Professional Insights: Strategy)</a:t>
            </a:r>
          </a:p>
          <a:p>
            <a:r>
              <a:rPr lang="en-GB" dirty="0" b="1"/>
              <a:t>Say: </a:t>
            </a:r>
            <a:r>
              <a:rPr lang="en-GB" dirty="0"/>
              <a:t>"The moment of decision is often where the pressure to commit is highest and the tolerance for challenge is lowest."</a:t>
            </a:r>
          </a:p>
          <a:p>
            <a:r>
              <a:rPr lang="en-GB" dirty="0" b="1"/>
              <a:t>Deepen, say: </a:t>
            </a:r>
            <a:r>
              <a:rPr lang="en-GB" dirty="0"/>
              <a:t>"Consequential decisions require leaders to separate facts from framing, individual interests from institutional interests, and genuine risk from manufactured urgency."</a:t>
            </a:r>
          </a:p>
          <a:p>
            <a:r>
              <a:rPr lang="en-GB" dirty="0"/>
              <a:t>(Insight: Disciplined diagnosis. Source: Journal, 14 August 2026 — Professional Insights: Strategy)</a:t>
            </a:r>
          </a:p>
          <a:p>
            <a:r>
              <a:rPr lang="en-GB" dirty="0"/>
              <a:t>Read the scanner question: "If the person who proposed this option had no stake in the outcome and no prior relationship with the team, would we make the same decision?"</a:t>
            </a:r>
          </a:p>
          <a:p>
            <a:r>
              <a:rPr lang="en-GB" dirty="0" b="1"/>
              <a:t>Ask: </a:t>
            </a:r>
            <a:r>
              <a:rPr lang="en-GB" dirty="0"/>
              <a:t>"Who had the most influence over your last major strategic call, and was that influence based on evidence or authority?"</a:t>
            </a:r>
          </a:p>
          <a:p>
            <a:endParaRPr lang="en-GB" dirty="0"/>
          </a:p>
          <a:p>
            <a:r>
              <a:rPr lang="en-GB" dirty="0" b="1"/>
              <a:t>5. Phase 4 · Execution: strategy decays in delivery.</a:t>
            </a:r>
          </a:p>
          <a:p>
            <a:r>
              <a:rPr lang="en-GB" dirty="0" b="1"/>
              <a:t>Say: </a:t>
            </a:r>
            <a:r>
              <a:rPr lang="en-GB" dirty="0"/>
              <a:t>"The strategy may have been shaped and decided by a relatively small group of people. It now has to be delivered through many more. People across the organisation must interpret what the strategy means for them, translate it into their own contributions, make day-to-day decisions, coordinate across functions, respond to changing conditions and act. The strategy continues to pass through human judgement long after the formal decision. Bias travels from planning into delivery."</a:t>
            </a:r>
          </a:p>
          <a:p>
            <a:r>
              <a:rPr lang="en-GB" dirty="0" b="1"/>
              <a:t>Say: </a:t>
            </a:r>
            <a:r>
              <a:rPr lang="en-GB" dirty="0"/>
              <a:t>"The Planning Fallacy means the execution plan may already underestimate the time, resources and complexity required; interdependencies between teams stay underweighted until they surface in delivery. Confirmation bias, in its action-reinforcing form, shapes how execution signals are read: green indicators are noticed, amber ones rationalised, red ones attributed to temporary conditions, and by the time the evidence is undeniable the opportunity for correction has narrowed. Incentive bias fractures alignment: people deliver against their own measures while the enterprise outcome falls behind. Self-Interest and Functional bias fragment what the strategy requires to be integrated."</a:t>
            </a:r>
          </a:p>
          <a:p>
            <a:r>
              <a:rPr lang="en-GB" dirty="0" b="1"/>
              <a:t>Deepen, say: </a:t>
            </a:r>
            <a:r>
              <a:rPr lang="en-GB" dirty="0"/>
              <a:t>"Senior teams routinely read good outcomes as evidence of sound process. A deal closes or a launch lands, and the messy path that produced it is quietly adopted as the method."</a:t>
            </a:r>
          </a:p>
          <a:p>
            <a:r>
              <a:rPr lang="en-GB" dirty="0"/>
              <a:t>(Insight: Outcomes taken as proof. Source: Journal, 24 April 2026 — Professional Insights: Culture)</a:t>
            </a:r>
          </a:p>
          <a:p>
            <a:r>
              <a:rPr lang="en-GB" dirty="0" b="1"/>
              <a:t>Ask: </a:t>
            </a:r>
            <a:r>
              <a:rPr lang="en-GB" dirty="0"/>
              <a:t>"Pick one recent win. How did it actually happen, separately from what it produced?"</a:t>
            </a:r>
          </a:p>
          <a:p>
            <a:r>
              <a:rPr lang="en-GB" dirty="0" b="1"/>
              <a:t>Say: </a:t>
            </a:r>
            <a:r>
              <a:rPr lang="en-GB" dirty="0"/>
              <a:t>"This is where the White Space from 3.1 becomes particularly important. People can perform successfully within their own mandates while the dependencies, hand-offs and competing requirements between those mandates remain unresolved. Through the decisions, interpretations and behaviours of execution, the people delivering the strategy continue shaping what it ultimately becomes."</a:t>
            </a:r>
          </a:p>
          <a:p>
            <a:r>
              <a:rPr lang="en-GB" dirty="0" b="1"/>
              <a:t>Deepen, say: </a:t>
            </a:r>
            <a:r>
              <a:rPr lang="en-GB" dirty="0"/>
              <a:t>"Leaders have a responsibility to allocate work and to create line of sight between contribution and collective purpose. When people understand where they fit, responsibility becomes more meaningful and coordination becomes easier."</a:t>
            </a:r>
          </a:p>
          <a:p>
            <a:r>
              <a:rPr lang="en-GB" dirty="0"/>
              <a:t>(Insight: Line of sight. Source: Journal, 3 October 2026 — Professional Insights: Leadership)</a:t>
            </a:r>
          </a:p>
          <a:p>
            <a:r>
              <a:rPr lang="en-GB" dirty="0" b="1"/>
              <a:t>Say: </a:t>
            </a:r>
            <a:r>
              <a:rPr lang="en-GB" dirty="0"/>
              <a:t>"Execution failure can be a continuation of behavioural problems that entered earlier in the strategy journey, or the result of new behavioural dynamics emerging as more people engage with the strategy."</a:t>
            </a:r>
          </a:p>
          <a:p>
            <a:r>
              <a:rPr lang="en-GB" dirty="0"/>
              <a:t>Read the scanner question: "As strategy moves through the organisation, how are people interpreting what it means for them, and are those interpretations and contributions coming together to produce the intended enterprise outcome?"</a:t>
            </a:r>
          </a:p>
          <a:p>
            <a:r>
              <a:rPr lang="en-GB" dirty="0" b="1"/>
              <a:t>Ask: </a:t>
            </a:r>
            <a:r>
              <a:rPr lang="en-GB" dirty="0"/>
              <a:t>"How confident are you that people across your organisation understand what the strategy requires of them, and how their contribution connects with others?"</a:t>
            </a:r>
          </a:p>
          <a:p>
            <a:endParaRPr lang="en-GB" dirty="0"/>
          </a:p>
          <a:p>
            <a:r>
              <a:rPr lang="en-GB" dirty="0" b="1"/>
              <a:t>6. Land the four phases.</a:t>
            </a:r>
          </a:p>
          <a:p>
            <a:r>
              <a:rPr lang="en-GB" dirty="0" b="1"/>
              <a:t>Say: </a:t>
            </a:r>
            <a:r>
              <a:rPr lang="en-GB" dirty="0"/>
              <a:t>"When we say that strategy is designed by people and delivered by people, behavioural strategy asks us to examine the human influences across that entire journey."</a:t>
            </a:r>
          </a:p>
          <a:p>
            <a:r>
              <a:rPr lang="en-GB" dirty="0" b="1"/>
              <a:t>Ask: </a:t>
            </a:r>
            <a:r>
              <a:rPr lang="en-GB" dirty="0"/>
              <a:t>"At which of the four phases is your organisation currently most exposed?"</a:t>
            </a:r>
          </a:p>
          <a:p>
            <a:r>
              <a:rPr lang="en-GB" dirty="0"/>
              <a:t>Participants often locate their organisation primarily in Phase 3 or 4. Take them back to Phase 1. Ask: "Was the diagnosis clean before the decision was ever made?"</a:t>
            </a:r>
          </a:p>
          <a:p>
            <a:endParaRPr lang="en-GB" dirty="0"/>
          </a:p>
          <a:p>
            <a:r>
              <a:rPr lang="en-GB" dirty="0" b="1"/>
              <a:t>7. Bridge to 4.2.</a:t>
            </a:r>
          </a:p>
          <a:p>
            <a:r>
              <a:rPr lang="en-GB" dirty="0" b="1"/>
              <a:t>Say: </a:t>
            </a:r>
            <a:r>
              <a:rPr lang="en-GB" dirty="0"/>
              <a:t>"We have mapped where judgement is exposed. Now we turn to the heart: the emotional dimension of strategy."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dirty="0" b="1"/>
              <a:t>4.2 · THE EMOTIONAL DIMENSION OF STRATEGY · 4.2.1 · EMOTIONAL CLIMATE AS ATMOSPHERIC PRESSURE</a:t>
            </a:r>
          </a:p>
          <a:p>
            <a:endParaRPr lang="en-GB" dirty="0"/>
          </a:p>
          <a:p>
            <a:r>
              <a:rPr lang="en-GB" dirty="0" b="1"/>
              <a:t>HOW TO TEACH IT:</a:t>
            </a:r>
          </a:p>
          <a:p>
            <a:endParaRPr lang="en-GB" dirty="0"/>
          </a:p>
          <a:p>
            <a:r>
              <a:rPr lang="en-GB" dirty="0" b="1"/>
              <a:t>1. Open with a one-word map of the room.</a:t>
            </a:r>
          </a:p>
          <a:p>
            <a:r>
              <a:rPr lang="en-GB" dirty="0" b="1"/>
              <a:t>Ask: </a:t>
            </a:r>
            <a:r>
              <a:rPr lang="en-GB" dirty="0"/>
              <a:t>"In one word, what is the dominant emotional state in your leadership team's strategy conversations right now?"</a:t>
            </a:r>
          </a:p>
          <a:p>
            <a:r>
              <a:rPr lang="en-GB" dirty="0"/>
              <a:t>Ask three or four participants. Write the words on a whiteboard or flip chart. This creates a live emotional map of the room before the framework is introduced.</a:t>
            </a:r>
          </a:p>
          <a:p>
            <a:endParaRPr lang="en-GB" dirty="0"/>
          </a:p>
          <a:p>
            <a:r>
              <a:rPr lang="en-GB" dirty="0" b="1"/>
              <a:t>2. Introduce the emotional dimension.</a:t>
            </a:r>
          </a:p>
          <a:p>
            <a:r>
              <a:rPr lang="en-GB" dirty="0" b="1"/>
              <a:t>Say: </a:t>
            </a:r>
            <a:r>
              <a:rPr lang="en-GB" dirty="0"/>
              <a:t>"We have established that strategy is designed by people and delivered by people, and that every strategic message passes through two human filters: the mind and the heart. We now turn to the emotional dimension: how what people feel can influence how they think, engage and act around strategy."</a:t>
            </a:r>
          </a:p>
          <a:p>
            <a:r>
              <a:rPr lang="en-GB" dirty="0" b="1"/>
              <a:t>Say: </a:t>
            </a:r>
            <a:r>
              <a:rPr lang="en-GB" dirty="0"/>
              <a:t>"People do not encounter strategy in an emotionally neutral state. They may experience it through confidence, fear, optimism, frustration, fatigue, anger or uncertainty. These emotional conditions influence how people interpret information, respond to challenge, perceive risk, engage with decisions and ultimately act. Emotion can shape strategy at both ends of the journey: in the leaders designing and deciding it, and in the people interpreting, translating and delivering it."</a:t>
            </a:r>
          </a:p>
          <a:p>
            <a:r>
              <a:rPr lang="en-GB" dirty="0" b="1"/>
              <a:t>Say: </a:t>
            </a:r>
            <a:r>
              <a:rPr lang="en-GB" dirty="0"/>
              <a:t>"The emotional dimension asks us to examine three connected areas: the emotional climate surrounding strategy, the emotional states through which people experience strategy, and the practices that stop emotion and bias from distorting strategic judgement and action."</a:t>
            </a:r>
          </a:p>
          <a:p>
            <a:endParaRPr lang="en-GB" dirty="0"/>
          </a:p>
          <a:p>
            <a:r>
              <a:rPr lang="en-GB" dirty="0" b="1"/>
              <a:t>3. Teach the cabin-pressure picture.</a:t>
            </a:r>
          </a:p>
          <a:p>
            <a:r>
              <a:rPr lang="en-GB" dirty="0" b="1"/>
              <a:t>Say: </a:t>
            </a:r>
            <a:r>
              <a:rPr lang="en-GB" dirty="0"/>
              <a:t>"The emotional climate of an organisation or team acts like atmospheric pressure around strategy. It shapes whether the organisation's Thinking Architecture can function effectively, or whether thinking becomes constrained, defensive or closed."</a:t>
            </a:r>
          </a:p>
          <a:p>
            <a:r>
              <a:rPr lang="en-GB" dirty="0" b="1"/>
              <a:t>Say: </a:t>
            </a:r>
            <a:r>
              <a:rPr lang="en-GB" dirty="0"/>
              <a:t>"Think of cabin pressure in an aeroplane. When the pressure is right, you barely notice it; you simply function. When the pressure changes significantly, your ability to function can change with it. You may become uncomfortable or disoriented, and your judgement may eventually be affected. The person has not changed. The conditions around them have."</a:t>
            </a:r>
          </a:p>
          <a:p>
            <a:r>
              <a:rPr lang="en-GB" dirty="0" b="1"/>
              <a:t>Say: </a:t>
            </a:r>
            <a:r>
              <a:rPr lang="en-GB" dirty="0"/>
              <a:t>"People also differ in their capacity to respond to changing pressure. A baby has less developed capacity to regulate and adapt to changes in cabin pressure. An adult is better able to recognise what is happening and take deliberate action to adjust."</a:t>
            </a:r>
          </a:p>
          <a:p>
            <a:r>
              <a:rPr lang="en-GB" dirty="0" b="1"/>
              <a:t>Say: </a:t>
            </a:r>
            <a:r>
              <a:rPr lang="en-GB" dirty="0"/>
              <a:t>"Strategic pressure is inevitable. Leaders will face uncertainty, disagreement, challenge, competing interests and difficult choices. What matters is their capacity to remain effective within that pressure. This is why leaders must develop emotional maturity: the capacity to recognise and regulate their own emotional responses so that pressure does not unnecessarily distort how they think, decide or engage with others. And because leaders shape the conditions around them, how they respond under pressure contributes to the climate in which everyone else must think and operate."</a:t>
            </a:r>
          </a:p>
          <a:p>
            <a:r>
              <a:rPr lang="en-GB" dirty="0" b="1"/>
              <a:t>Deepen, say: </a:t>
            </a:r>
            <a:r>
              <a:rPr lang="en-GB" dirty="0"/>
              <a:t>"When leaders become psychologically captured by a threat, organisations often inherit that preoccupation through excessive controls, defensive decisions or distorted priorities. Mature leadership keeps problems in proportion and preserves enough internal steadiness to continue exercising judgement."</a:t>
            </a:r>
          </a:p>
          <a:p>
            <a:r>
              <a:rPr lang="en-GB" dirty="0"/>
              <a:t>(Insight: Alert without becoming absorbed. Source: Journal, 4 October 2026 — Professional Insights: Leadership)</a:t>
            </a:r>
          </a:p>
          <a:p>
            <a:r>
              <a:rPr lang="en-GB" dirty="0" b="1"/>
              <a:t>Say: </a:t>
            </a:r>
            <a:r>
              <a:rPr lang="en-GB" dirty="0"/>
              <a:t>"As Quy Nguyen Huy's research suggests, emotions can act as gatekeepers to deliberate thinking. They influence whether people slow down to examine evidence, question assumptions and consider alternatives, or rely more heavily on instinctive and defensive responses."</a:t>
            </a:r>
          </a:p>
          <a:p>
            <a:endParaRPr lang="en-GB" dirty="0"/>
          </a:p>
          <a:p>
            <a:r>
              <a:rPr lang="en-GB" dirty="0" b="1"/>
              <a:t>4. Teach the three climates, one at a time.</a:t>
            </a:r>
          </a:p>
          <a:p>
            <a:r>
              <a:rPr lang="en-GB" dirty="0" b="1"/>
              <a:t>Say: </a:t>
            </a:r>
            <a:r>
              <a:rPr lang="en-GB" dirty="0"/>
              <a:t>"We can think of three different atmospheric conditions around strategy. Each creates a different kind of emotional pressure on strategy and on people's thinking."</a:t>
            </a:r>
          </a:p>
          <a:p>
            <a:r>
              <a:rPr lang="en-GB" dirty="0" b="1"/>
              <a:t>Say: </a:t>
            </a:r>
            <a:r>
              <a:rPr lang="en-GB" dirty="0"/>
              <a:t>"One: Fear-Dominated, the pressure to protect. The emotional driver is anxiety and defence: people focus on protecting themselves and worry about being blamed, punished or seen as wrong. The strategic outcome is Strategic Paralysis: the organisation becomes too careful, people choose safer options, avoid difficult decisions and are less willing to take necessary risks. The impact on thinking: threat narrows thinking. People keep quiet, agree with others or avoid challenging senior people, so important information and different ideas never enter the conversation. On the slide: System 1 hijack."</a:t>
            </a:r>
          </a:p>
          <a:p>
            <a:r>
              <a:rPr lang="en-GB" dirty="0" b="1"/>
              <a:t>Deepen, say: </a:t>
            </a:r>
            <a:r>
              <a:rPr lang="en-GB" dirty="0"/>
              <a:t>"A technically correct leader can still generate fear, silence or defensive behaviour through the way they exercise authority. Leaders need to examine what their habitual responses create around them, alongside what their decisions accomplish."</a:t>
            </a:r>
          </a:p>
          <a:p>
            <a:r>
              <a:rPr lang="en-GB" dirty="0"/>
              <a:t>(Insight: What authority creates. Source: Journal, 30 September 2026 — Professional Insights: Leadership)</a:t>
            </a:r>
          </a:p>
          <a:p>
            <a:r>
              <a:rPr lang="en-GB" dirty="0" b="1"/>
              <a:t>Deepen, say: </a:t>
            </a:r>
            <a:r>
              <a:rPr lang="en-GB" dirty="0"/>
              <a:t>"The danger arises when internal anxiety begins governing external decisions. Fear can produce unnecessary control, rushed decisions, avoidance or constant changes in direction."</a:t>
            </a:r>
          </a:p>
          <a:p>
            <a:r>
              <a:rPr lang="en-GB" dirty="0"/>
              <a:t>(Insight: Anxiety that governs decisions. Source: Journal, 3 October 2026 — Professional Insights: Leadership)</a:t>
            </a:r>
          </a:p>
          <a:p>
            <a:r>
              <a:rPr lang="en-GB" dirty="0" b="1"/>
              <a:t>Ask: </a:t>
            </a:r>
            <a:r>
              <a:rPr lang="en-GB" dirty="0"/>
              <a:t>"Raise your hand if you have personally experienced this climate at any point in your career."</a:t>
            </a:r>
          </a:p>
          <a:p>
            <a:r>
              <a:rPr lang="en-GB" dirty="0" b="1"/>
              <a:t>Say: </a:t>
            </a:r>
            <a:r>
              <a:rPr lang="en-GB" dirty="0"/>
              <a:t>"Two: Narcissism-Dominated, the pressure to validate. The emotional driver is ego and validation: people feel pressure to support the leader and their ideas, and agreement becomes easier than challenge. The strategic outcome is Strategic Delusion: the organisation becomes too confident in its own strategy, warning signs are ignored, weak assumptions go untested, and it may continue in the wrong direction because people are unwilling to question it. The impact on thinking: thinking becomes one-sided. People look for reasons the chosen direction is right and stop asking whether it could be wrong. On the slide: the validation loop."</a:t>
            </a:r>
          </a:p>
          <a:p>
            <a:r>
              <a:rPr lang="en-GB" dirty="0" b="1"/>
              <a:t>Deepen, say: </a:t>
            </a:r>
            <a:r>
              <a:rPr lang="en-GB" dirty="0"/>
              <a:t>"When advisers reinforce the posture the leader already wants to adopt, the leadership team becomes an echo chamber. People learn that influence is gained through agreement, and the culture loses the ability to challenge damaging assumptions."</a:t>
            </a:r>
          </a:p>
          <a:p>
            <a:r>
              <a:rPr lang="en-GB" dirty="0"/>
              <a:t>(Insight: The echo chamber. Source: Journal, 17 July 2026 — Professional Insights: Culture)</a:t>
            </a:r>
          </a:p>
          <a:p>
            <a:r>
              <a:rPr lang="en-GB" dirty="0" b="1"/>
              <a:t>Deepen, say: </a:t>
            </a:r>
            <a:r>
              <a:rPr lang="en-GB" dirty="0"/>
              <a:t>"Leaders who derive too much identity from position, recognition or being right can experience disagreement as a personal threat. Secure leaders have greater capacity to listen, share authority, acknowledge mistakes and recognise others. Inner security becomes an organisational capability."</a:t>
            </a:r>
          </a:p>
          <a:p>
            <a:r>
              <a:rPr lang="en-GB" dirty="0"/>
              <a:t>(Insight: Secure identity. Source: Journal, 2 October 2026 — Professional Insights: Leadership)</a:t>
            </a:r>
          </a:p>
          <a:p>
            <a:r>
              <a:rPr lang="en-GB" dirty="0" b="1"/>
              <a:t>Ask: </a:t>
            </a:r>
            <a:r>
              <a:rPr lang="en-GB" dirty="0"/>
              <a:t>"Raise your hand if you have personally experienced this climate."</a:t>
            </a:r>
          </a:p>
          <a:p>
            <a:r>
              <a:rPr lang="en-GB" dirty="0" b="1"/>
              <a:t>Say: </a:t>
            </a:r>
            <a:r>
              <a:rPr lang="en-GB" dirty="0"/>
              <a:t>"Three: Grounded Confidence, the pressure to examine. The emotional driver is curiosity and security: people feel safe enough to ask questions, disagree and admit when they do not know something. The strategic outcome is Strategic Agility: the organisation can respond when things change, question its assumptions, learn from what is happening and adjust the strategy without losing direction. The impact on thinking: thinking stays open. People examine the evidence, consider different views and challenge assumptions, which makes it easier to spot weak thinking and bias before they affect important decisions. On the slide: System 2 optimisation."</a:t>
            </a:r>
          </a:p>
          <a:p>
            <a:r>
              <a:rPr lang="en-GB" dirty="0" b="1"/>
              <a:t>Deepen, say: </a:t>
            </a:r>
            <a:r>
              <a:rPr lang="en-GB" dirty="0"/>
              <a:t>"In a crisis, organisations with a culture of calm, evidence-based thinking hold their nerve better than those that follow the emotional temperature of the room. Build the capacity for calm assessment before you need it."</a:t>
            </a:r>
          </a:p>
          <a:p>
            <a:r>
              <a:rPr lang="en-GB" dirty="0"/>
              <a:t>(Insight: Calm before the crisis. Source: Journal, 13 January 2026 — Professional Insights: Culture)</a:t>
            </a:r>
          </a:p>
          <a:p>
            <a:r>
              <a:rPr lang="en-GB" dirty="0" b="1"/>
              <a:t>Ask: </a:t>
            </a:r>
            <a:r>
              <a:rPr lang="en-GB" dirty="0"/>
              <a:t>"Raise your hand if you have experienced this climate." Asking for hands on each climate normalises the conversation and reduces defensiveness.</a:t>
            </a:r>
          </a:p>
          <a:p>
            <a:endParaRPr lang="en-GB" dirty="0"/>
          </a:p>
          <a:p>
            <a:r>
              <a:rPr lang="en-GB" dirty="0" b="1"/>
              <a:t>5. Make the key facilitation point.</a:t>
            </a:r>
          </a:p>
          <a:p>
            <a:r>
              <a:rPr lang="en-GB" dirty="0"/>
              <a:t>Read the banner aloud: "For a leader, managing the emotional climate is a fiduciary responsibility."</a:t>
            </a:r>
          </a:p>
          <a:p>
            <a:r>
              <a:rPr lang="en-GB" dirty="0" b="1"/>
              <a:t>Say: </a:t>
            </a:r>
            <a:r>
              <a:rPr lang="en-GB" dirty="0"/>
              <a:t>"If you allow a climate of fear or narcissism to take root, you are effectively dismantling the organisation's ability to process reality."</a:t>
            </a:r>
          </a:p>
          <a:p>
            <a:r>
              <a:rPr lang="en-GB" dirty="0" b="1"/>
              <a:t>Ask: </a:t>
            </a:r>
            <a:r>
              <a:rPr lang="en-GB" dirty="0"/>
              <a:t>"What does it cost your organisation when the climate is wrong, and who is accountable for that?"</a:t>
            </a:r>
          </a:p>
          <a:p>
            <a:endParaRPr lang="en-GB" dirty="0"/>
          </a:p>
          <a:p>
            <a:r>
              <a:rPr lang="en-GB" dirty="0" b="1"/>
              <a:t>6. Bridge to 4.2.2.</a:t>
            </a:r>
          </a:p>
          <a:p>
            <a:r>
              <a:rPr lang="en-GB" dirty="0" b="1"/>
              <a:t>Say: </a:t>
            </a:r>
            <a:r>
              <a:rPr lang="en-GB" dirty="0"/>
              <a:t>"We now move from the emotional climate around people to the emotional state within people."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3B352-1A90-94E8-70A9-45469249C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51F2A0-2364-BCBD-A572-95F61FFC0F39}"/>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59C4605D-87E4-D649-CF82-D16166CF6D7D}"/>
              </a:ext>
            </a:extLst>
          </p:cNvPr>
          <p:cNvSpPr>
            <a:spLocks noGrp="1"/>
          </p:cNvSpPr>
          <p:nvPr>
            <p:ph type="body" idx="1"/>
          </p:nvPr>
        </p:nvSpPr>
        <p:spPr/>
        <p:txBody>
          <a:bodyPr/>
          <a:lstStyle/>
          <a:p>
            <a:r>
              <a:rPr lang="en-GB" dirty="0" b="1"/>
              <a:t>4.2.2a · EMOTIONAL ALIGNMENT: THE STATE OF BEING</a:t>
            </a:r>
          </a:p>
          <a:p>
            <a:endParaRPr lang="en-GB" dirty="0"/>
          </a:p>
          <a:p>
            <a:r>
              <a:rPr lang="en-GB" dirty="0" b="1"/>
              <a:t>HOW TO TEACH IT:</a:t>
            </a:r>
          </a:p>
          <a:p>
            <a:endParaRPr lang="en-GB" dirty="0"/>
          </a:p>
          <a:p>
            <a:r>
              <a:rPr lang="en-GB" dirty="0" b="1"/>
              <a:t>1. Move from climate to state of being.</a:t>
            </a:r>
          </a:p>
          <a:p>
            <a:r>
              <a:rPr lang="en-GB" dirty="0" b="1"/>
              <a:t>Say: </a:t>
            </a:r>
            <a:r>
              <a:rPr lang="en-GB" dirty="0"/>
              <a:t>"This part moves from the macro climate to the individual and team emotional states that strategy lands into. It is practical and diagnostic, so apply it to a current project or decision as we go."</a:t>
            </a:r>
          </a:p>
          <a:p>
            <a:r>
              <a:rPr lang="en-GB" dirty="0" b="1"/>
              <a:t>Say: </a:t>
            </a:r>
            <a:r>
              <a:rPr lang="en-GB" dirty="0"/>
              <a:t>"To make emotional climate actionable, it must move from an abstract organisational condition to something leaders can see, name and work with directly at the individual level. This shift happens through emotional alignment: the practice of identifying the specific state of being through which strategy is being experienced."</a:t>
            </a:r>
          </a:p>
          <a:p>
            <a:endParaRPr lang="en-GB" dirty="0"/>
          </a:p>
          <a:p>
            <a:r>
              <a:rPr lang="en-GB" dirty="0" b="1"/>
              <a:t>2. Teach Ekman's six basic emotions.</a:t>
            </a:r>
          </a:p>
          <a:p>
            <a:r>
              <a:rPr lang="en-GB" dirty="0"/>
              <a:t>Point to the six faces on the left of the slide.</a:t>
            </a:r>
          </a:p>
          <a:p>
            <a:r>
              <a:rPr lang="en-GB" dirty="0" b="1"/>
              <a:t>Say: </a:t>
            </a:r>
            <a:r>
              <a:rPr lang="en-GB" dirty="0"/>
              <a:t>"Strategy always lands into an emotional climate before it lands into action. Emotional alignment is achieved by explicitly naming the current emotional state through which strategy is being experienced. Leaders and teams operate from a dominant state of being, commonly expressed across Ekman's six basic emotions: joy, sadness, anger, fear, disgust and surprise."</a:t>
            </a:r>
          </a:p>
          <a:p>
            <a:endParaRPr lang="en-GB" dirty="0"/>
          </a:p>
          <a:p>
            <a:r>
              <a:rPr lang="en-GB" dirty="0" b="1"/>
              <a:t>3. Read the five factors, with a private rating after each.</a:t>
            </a:r>
          </a:p>
          <a:p>
            <a:r>
              <a:rPr lang="en-GB" dirty="0" b="1"/>
              <a:t>Say: </a:t>
            </a:r>
            <a:r>
              <a:rPr lang="en-GB" dirty="0"/>
              <a:t>"Each state influences five factors. After each one, give your current team a private rating from 1 to 5. This becomes a personal baseline you can return to at the end of the unit."</a:t>
            </a:r>
          </a:p>
          <a:p>
            <a:r>
              <a:rPr lang="en-GB" dirty="0" b="1"/>
              <a:t>Say: </a:t>
            </a:r>
            <a:r>
              <a:rPr lang="en-GB" dirty="0"/>
              <a:t>"Engagement Energy: the level of discretionary effort, momentum and willingness to contribute beyond minimum requirements."</a:t>
            </a:r>
          </a:p>
          <a:p>
            <a:r>
              <a:rPr lang="en-GB" dirty="0" b="1"/>
              <a:t>Say: </a:t>
            </a:r>
            <a:r>
              <a:rPr lang="en-GB" dirty="0"/>
              <a:t>"Morale Drain: the degree to which emotional fatigue, disappointment or disengagement reduces capacity and persistence."</a:t>
            </a:r>
          </a:p>
          <a:p>
            <a:r>
              <a:rPr lang="en-GB" dirty="0" b="1"/>
              <a:t>Deepen, say: </a:t>
            </a:r>
            <a:r>
              <a:rPr lang="en-GB" dirty="0"/>
              <a:t>"Cultures become healthier when people can voice concern, disappointment or uncertainty without being labelled negative or disloyal. Suppressed emotion moves underground."</a:t>
            </a:r>
          </a:p>
          <a:p>
            <a:r>
              <a:rPr lang="en-GB" dirty="0"/>
              <a:t>(Insight: Suppressed emotion moves underground. Source: Journal, 5 September 2026 — Professional Insights: Culture)</a:t>
            </a:r>
          </a:p>
          <a:p>
            <a:r>
              <a:rPr lang="en-GB" dirty="0" b="1"/>
              <a:t>Say: </a:t>
            </a:r>
            <a:r>
              <a:rPr lang="en-GB" dirty="0"/>
              <a:t>"Friction Load: the amount of hidden resistance, tension or drag experienced in decisions, collaboration and follow-through."</a:t>
            </a:r>
          </a:p>
          <a:p>
            <a:r>
              <a:rPr lang="en-GB" dirty="0" b="1"/>
              <a:t>Say: </a:t>
            </a:r>
            <a:r>
              <a:rPr lang="en-GB" dirty="0"/>
              <a:t>"Psychological Safety: the extent to which individuals feel safe to speak, challenge, admit uncertainty and take appropriate risk."</a:t>
            </a:r>
          </a:p>
          <a:p>
            <a:r>
              <a:rPr lang="en-GB" dirty="0" b="1"/>
              <a:t>Deepen, say: </a:t>
            </a:r>
            <a:r>
              <a:rPr lang="en-GB" dirty="0"/>
              <a:t>"Part of an organisation's culture is what people believe will happen to them if they try something and it fails. Where the prevailing belief is that failure is punished, people stop trying, whatever the stated values say. Examine what people saw happen to the last person who took a risk and got it wrong."</a:t>
            </a:r>
          </a:p>
          <a:p>
            <a:r>
              <a:rPr lang="en-GB" dirty="0"/>
              <a:t>(Insight: What happened to the last risk-taker. Source: Journal, 13 May 2026 — Professional Insights: Culture)</a:t>
            </a:r>
          </a:p>
          <a:p>
            <a:r>
              <a:rPr lang="en-GB" dirty="0" b="1"/>
              <a:t>Say: </a:t>
            </a:r>
            <a:r>
              <a:rPr lang="en-GB" dirty="0"/>
              <a:t>"Values Alignment: the consistency between stated values, observed leadership behaviour and everyday decisions under pressure."</a:t>
            </a:r>
          </a:p>
          <a:p>
            <a:r>
              <a:rPr lang="en-GB" dirty="0" b="1"/>
              <a:t>Deepen, say: </a:t>
            </a:r>
            <a:r>
              <a:rPr lang="en-GB" dirty="0"/>
              <a:t>"An organisation may repeatedly communicate integrity, collaboration or accountability while rewarding behaviour that contradicts those values. Employees learn that the real culture is encoded in consequences. Culture becomes credible when what leaders praise publicly, tolerate privately and reward materially tells the same story."</a:t>
            </a:r>
          </a:p>
          <a:p>
            <a:r>
              <a:rPr lang="en-GB" dirty="0"/>
              <a:t>(Insight: Culture encoded in consequences. Source: Journal, 1 October 2026 — Professional Insights: Culture)</a:t>
            </a:r>
          </a:p>
          <a:p>
            <a:endParaRPr lang="en-GB" dirty="0"/>
          </a:p>
          <a:p>
            <a:r>
              <a:rPr lang="en-GB" dirty="0" b="1"/>
              <a:t>4. Reinforce the key insight.</a:t>
            </a:r>
          </a:p>
          <a:p>
            <a:r>
              <a:rPr lang="en-GB" dirty="0" b="1"/>
              <a:t>Say: </a:t>
            </a:r>
            <a:r>
              <a:rPr lang="en-GB" dirty="0"/>
              <a:t>"Unacknowledged emotional states silently override rational plans."</a:t>
            </a:r>
          </a:p>
          <a:p>
            <a:r>
              <a:rPr lang="en-GB" dirty="0" b="1"/>
              <a:t>Ask: </a:t>
            </a:r>
            <a:r>
              <a:rPr lang="en-GB" dirty="0"/>
              <a:t>"What is the unacknowledged emotional state in your organisation's current strategy cycle?"</a:t>
            </a:r>
          </a:p>
          <a:p>
            <a:r>
              <a:rPr lang="en-GB" dirty="0"/>
              <a:t>This is often the most candid question in the entire unit. Give it time.</a:t>
            </a:r>
          </a:p>
          <a:p>
            <a:endParaRPr lang="en-GB" dirty="0"/>
          </a:p>
          <a:p>
            <a:r>
              <a:rPr lang="en-GB" dirty="0" b="1"/>
              <a:t>5. Bridge to 4.2.2b.</a:t>
            </a:r>
          </a:p>
          <a:p>
            <a:r>
              <a:rPr lang="en-GB" dirty="0" b="1"/>
              <a:t>Say: </a:t>
            </a:r>
            <a:r>
              <a:rPr lang="en-GB" dirty="0"/>
              <a:t>"The key is to make the emotional state observable. Leaders look for signals and then test what those signals mean. There are seven."</a:t>
            </a:r>
          </a:p>
        </p:txBody>
      </p:sp>
      <p:sp>
        <p:nvSpPr>
          <p:cNvPr id="4" name="Slide Number Placeholder 3">
            <a:extLst>
              <a:ext uri="{FF2B5EF4-FFF2-40B4-BE49-F238E27FC236}">
                <a16:creationId xmlns:a16="http://schemas.microsoft.com/office/drawing/2014/main" id="{9A002F39-162B-869A-037E-7A1C8E19DCE7}"/>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9456468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095C8-8307-58BB-41DD-6F8377D51F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FD9B2F-84E7-5829-D75B-26D4A4F55237}"/>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43D36D6B-D5C1-0284-0A11-9A4B5A1F5499}"/>
              </a:ext>
            </a:extLst>
          </p:cNvPr>
          <p:cNvSpPr>
            <a:spLocks noGrp="1"/>
          </p:cNvSpPr>
          <p:nvPr>
            <p:ph type="body" idx="1"/>
          </p:nvPr>
        </p:nvSpPr>
        <p:spPr/>
        <p:txBody>
          <a:bodyPr/>
          <a:lstStyle/>
          <a:p>
            <a:r>
              <a:rPr lang="en-GB" dirty="0" b="1"/>
              <a:t>4.2.2b · EMOTIONAL ALIGNMENT: FROM EMOTION TO EVIDENCE · SIGNALS 1 TO 4</a:t>
            </a:r>
          </a:p>
          <a:p>
            <a:endParaRPr lang="en-GB" dirty="0"/>
          </a:p>
          <a:p>
            <a:r>
              <a:rPr lang="en-GB" dirty="0" b="1"/>
              <a:t>HOW TO TEACH IT:</a:t>
            </a:r>
          </a:p>
          <a:p>
            <a:endParaRPr lang="en-GB" dirty="0"/>
          </a:p>
          <a:p>
            <a:r>
              <a:rPr lang="en-GB" dirty="0" b="1"/>
              <a:t>1. Frame the seven signals.</a:t>
            </a:r>
          </a:p>
          <a:p>
            <a:r>
              <a:rPr lang="en-GB" dirty="0" b="1"/>
              <a:t>Say: </a:t>
            </a:r>
            <a:r>
              <a:rPr lang="en-GB" dirty="0"/>
              <a:t>"Make the emotional state observable: look for signals, then test what those signals mean. Here are the first four."</a:t>
            </a:r>
          </a:p>
          <a:p>
            <a:endParaRPr lang="en-GB" dirty="0"/>
          </a:p>
          <a:p>
            <a:r>
              <a:rPr lang="en-GB" dirty="0" b="1"/>
              <a:t>2. Signal 1 · Name the emotional state.</a:t>
            </a:r>
          </a:p>
          <a:p>
            <a:r>
              <a:rPr lang="en-GB" dirty="0" b="1"/>
              <a:t>Say: </a:t>
            </a:r>
            <a:r>
              <a:rPr lang="en-GB" dirty="0"/>
              <a:t>"Name it, and invite correction."</a:t>
            </a:r>
          </a:p>
          <a:p>
            <a:r>
              <a:rPr lang="en-GB" dirty="0" b="1"/>
              <a:t>Example, say: </a:t>
            </a:r>
            <a:r>
              <a:rPr lang="en-GB" dirty="0"/>
              <a:t>"There seems to be a lot of frustration around this strategy change. Is that a fair reading?"</a:t>
            </a:r>
          </a:p>
          <a:p>
            <a:r>
              <a:rPr lang="en-GB" dirty="0" b="1"/>
              <a:t>Deepen, say: </a:t>
            </a:r>
            <a:r>
              <a:rPr lang="en-GB" dirty="0"/>
              <a:t>"Leaders do not strengthen people by pretending that fear, disappointment or grief do not exist. Mature leadership makes space for reality while helping people move from raw emotion towards reflection, meaning and renewed trust."</a:t>
            </a:r>
          </a:p>
          <a:p>
            <a:r>
              <a:rPr lang="en-GB" dirty="0"/>
              <a:t>(Insight: Emotionally honest leadership. Source: Journal, 5 September 2026 — Professional Insights: Leadership)</a:t>
            </a:r>
          </a:p>
          <a:p>
            <a:endParaRPr lang="en-GB" dirty="0"/>
          </a:p>
          <a:p>
            <a:r>
              <a:rPr lang="en-GB" dirty="0" b="1"/>
              <a:t>3. Signal 2 · Ask directly.</a:t>
            </a:r>
          </a:p>
          <a:p>
            <a:r>
              <a:rPr lang="en-GB" dirty="0" b="1"/>
              <a:t>Example, say: </a:t>
            </a:r>
            <a:r>
              <a:rPr lang="en-GB" dirty="0"/>
              <a:t>"What emotion best describes how you are experiencing this strategy right now: confidence, fear, frustration, excitement, uncertainty?"</a:t>
            </a:r>
          </a:p>
          <a:p>
            <a:endParaRPr lang="en-GB" dirty="0"/>
          </a:p>
          <a:p>
            <a:r>
              <a:rPr lang="en-GB" dirty="0" b="1"/>
              <a:t>4. Signal 3 · Observe behaviour.</a:t>
            </a:r>
          </a:p>
          <a:p>
            <a:r>
              <a:rPr lang="en-GB" dirty="0" b="1"/>
              <a:t>Say: </a:t>
            </a:r>
            <a:r>
              <a:rPr lang="en-GB" dirty="0"/>
              <a:t>"A team that was previously vocal has become unusually quiet. The leader treats the silence as a signal and asks what is behind it."</a:t>
            </a:r>
          </a:p>
          <a:p>
            <a:endParaRPr lang="en-GB" dirty="0"/>
          </a:p>
          <a:p>
            <a:r>
              <a:rPr lang="en-GB" dirty="0" b="1"/>
              <a:t>5. Signal 4 · Notice where attention is going.</a:t>
            </a:r>
          </a:p>
          <a:p>
            <a:r>
              <a:rPr lang="en-GB" dirty="0" b="1"/>
              <a:t>Say: </a:t>
            </a:r>
            <a:r>
              <a:rPr lang="en-GB" dirty="0"/>
              <a:t>"If people repeatedly focus on what could go wrong, fear may be directing attention towards risk and self-protection."</a:t>
            </a:r>
          </a:p>
          <a:p>
            <a:endParaRPr lang="en-GB" dirty="0"/>
          </a:p>
          <a:p>
            <a:r>
              <a:rPr lang="en-GB" dirty="0" b="1"/>
              <a:t>6. Bridge to the next three signals.</a:t>
            </a:r>
          </a:p>
          <a:p>
            <a:r>
              <a:rPr lang="en-GB" dirty="0" b="1"/>
              <a:t>Say: </a:t>
            </a:r>
            <a:r>
              <a:rPr lang="en-GB" dirty="0"/>
              <a:t>"Three more signals sit in energy, language and behaviour."</a:t>
            </a:r>
          </a:p>
        </p:txBody>
      </p:sp>
      <p:sp>
        <p:nvSpPr>
          <p:cNvPr id="4" name="Slide Number Placeholder 3">
            <a:extLst>
              <a:ext uri="{FF2B5EF4-FFF2-40B4-BE49-F238E27FC236}">
                <a16:creationId xmlns:a16="http://schemas.microsoft.com/office/drawing/2014/main" id="{E5EDD100-3BED-7A1D-B8D3-0D1A0A9745AE}"/>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6007465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dirty="0" b="1"/>
              <a:t>4.2.3 · SIX PRINCIPLES FOR DEBIASING STRATEGY</a:t>
            </a:r>
          </a:p>
          <a:p>
            <a:endParaRPr lang="en-GB" dirty="0"/>
          </a:p>
          <a:p>
            <a:r>
              <a:rPr lang="en-GB" dirty="0" b="1"/>
              <a:t>HOW TO TEACH IT:</a:t>
            </a:r>
          </a:p>
          <a:p>
            <a:endParaRPr lang="en-GB" dirty="0"/>
          </a:p>
          <a:p>
            <a:r>
              <a:rPr lang="en-GB" dirty="0" b="1"/>
              <a:t>1. Frame the part.</a:t>
            </a:r>
          </a:p>
          <a:p>
            <a:r>
              <a:rPr lang="en-GB" dirty="0" b="1"/>
              <a:t>Say: </a:t>
            </a:r>
            <a:r>
              <a:rPr lang="en-GB" dirty="0"/>
              <a:t>"The goal now is to change how we design our strategy processes. This is where the unit becomes actionable."</a:t>
            </a:r>
          </a:p>
          <a:p>
            <a:r>
              <a:rPr lang="en-GB" dirty="0" b="1"/>
              <a:t>Say: </a:t>
            </a:r>
            <a:r>
              <a:rPr lang="en-GB" dirty="0"/>
              <a:t>"Awareness alone does not change outcomes. Without deliberate intervention, the same biases will continue to shape strategic conversations and decisions. What matters is how strategy processes are designed: who speaks, how options are generated, how challenge is introduced and how decisions are tested. These design choices determine whether thinking becomes clearer or more distorted."</a:t>
            </a:r>
          </a:p>
          <a:p>
            <a:r>
              <a:rPr lang="en-GB" dirty="0" b="1"/>
              <a:t>Deepen, say: </a:t>
            </a:r>
            <a:r>
              <a:rPr lang="en-GB" dirty="0"/>
              <a:t>"A common and costly strategic failure is acting at the speed of assumption on information that was heard and never confirmed. Build an explicit verification step into decision-making before any significant response."</a:t>
            </a:r>
          </a:p>
          <a:p>
            <a:r>
              <a:rPr lang="en-GB" dirty="0"/>
              <a:t>(Insight: Verification before response. Source: Journal, 13 April 2026 — Professional Insights: Strategy)</a:t>
            </a:r>
          </a:p>
          <a:p>
            <a:r>
              <a:rPr lang="en-GB" dirty="0" b="1"/>
              <a:t>Say: </a:t>
            </a:r>
            <a:r>
              <a:rPr lang="en-GB" dirty="0"/>
              <a:t>"The six principles on the slide, adopted from the work of Kahneman, Lovallo, Sibony, Huy, Lencioni and Edmondson, give practical ways to strengthen the quality of the strategy management process. Each one closes with a simple rule."</a:t>
            </a:r>
          </a:p>
          <a:p>
            <a:endParaRPr lang="en-GB" dirty="0"/>
          </a:p>
          <a:p>
            <a:r>
              <a:rPr lang="en-GB" dirty="0" b="1"/>
              <a:t>2. Principle 1 · Separate ideation from evaluation.</a:t>
            </a:r>
          </a:p>
          <a:p>
            <a:r>
              <a:rPr lang="en-GB" dirty="0" b="1"/>
              <a:t>Say: </a:t>
            </a:r>
            <a:r>
              <a:rPr lang="en-GB" dirty="0"/>
              <a:t>"When generating ideas, let the ideas come first and judge them later. Early criticism can stop people from sharing different or bold options. First create as many useful options as possible. Then evaluate them, compare them and decide which are strongest. Simple rule: generate first, evaluate afterwards."</a:t>
            </a:r>
          </a:p>
          <a:p>
            <a:endParaRPr lang="en-GB" dirty="0"/>
          </a:p>
          <a:p>
            <a:r>
              <a:rPr lang="en-GB" dirty="0" b="1"/>
              <a:t>3. Principle 2 · Name the emotional temperature before the strategic content.</a:t>
            </a:r>
          </a:p>
          <a:p>
            <a:r>
              <a:rPr lang="en-GB" dirty="0" b="1"/>
              <a:t>Say: </a:t>
            </a:r>
            <a:r>
              <a:rPr lang="en-GB" dirty="0"/>
              <a:t>"Before an important strategy, performance or review conversation, check what people are feeling. Ask: what emotions are people bringing into this discussion that could affect how we think? Naming emotions such as fear, frustration, excitement or disappointment reduces hidden tension and helps people think and speak more openly. Simple rule: name the emotional climate in the room before discussing what is on the table."</a:t>
            </a:r>
          </a:p>
          <a:p>
            <a:endParaRPr lang="en-GB" dirty="0"/>
          </a:p>
          <a:p>
            <a:r>
              <a:rPr lang="en-GB" dirty="0" b="1"/>
              <a:t>4. Principle 3 · Assign a designated challenger role.</a:t>
            </a:r>
          </a:p>
          <a:p>
            <a:r>
              <a:rPr lang="en-GB" dirty="0" b="1"/>
              <a:t>Say: </a:t>
            </a:r>
            <a:r>
              <a:rPr lang="en-GB" dirty="0"/>
              <a:t>"For important decisions, give someone the clear role of challenging the group's thinking: questioning assumptions, testing the preferred view and raising other explanations or options. Rotate the role so that challenge becomes a normal part of decision-making. It helps the team find blind spots before they become problems. Simple rule: give someone permission to challenge the thinking."</a:t>
            </a:r>
          </a:p>
          <a:p>
            <a:r>
              <a:rPr lang="en-GB" dirty="0" b="1"/>
              <a:t>Deepen, say: </a:t>
            </a:r>
            <a:r>
              <a:rPr lang="en-GB" dirty="0"/>
              <a:t>"Most flawed plans survive because dissent was quietly designed out of the room. Before the next significant decision, invite the one person most likely to disagree and hear them out fully."</a:t>
            </a:r>
          </a:p>
          <a:p>
            <a:r>
              <a:rPr lang="en-GB" dirty="0"/>
              <a:t>(Insight: Designated challenger. Source: Journal, 5 June 2026 — Professional Insights: Leadership)</a:t>
            </a:r>
          </a:p>
          <a:p>
            <a:endParaRPr lang="en-GB" dirty="0"/>
          </a:p>
          <a:p>
            <a:r>
              <a:rPr lang="en-GB" dirty="0" b="1"/>
              <a:t>5. Principle 4 · Use pre-mortem analysis as standard practice.</a:t>
            </a:r>
          </a:p>
          <a:p>
            <a:r>
              <a:rPr lang="en-GB" dirty="0" b="1"/>
              <a:t>Say: </a:t>
            </a:r>
            <a:r>
              <a:rPr lang="en-GB" dirty="0"/>
              <a:t>"Before a major decision or an important initiative, imagine that it has already failed. Ask: if this fails, what are the most likely reasons? Then identify what could be done now to prevent those problems. Simple rule: imagine failure before it happens, and learn from it early."</a:t>
            </a:r>
          </a:p>
          <a:p>
            <a:endParaRPr lang="en-GB" dirty="0"/>
          </a:p>
          <a:p>
            <a:r>
              <a:rPr lang="en-GB" dirty="0" b="1"/>
              <a:t>6. Principle 5 · Make the reference class visible.</a:t>
            </a:r>
          </a:p>
          <a:p>
            <a:r>
              <a:rPr lang="en-GB" dirty="0" b="1"/>
              <a:t>Say: </a:t>
            </a:r>
            <a:r>
              <a:rPr lang="en-GB" dirty="0"/>
              <a:t>"Judge a plan against what happened in similar situations as well as what the team believes will happen. Ask: what happened when other organisations or teams tried something similar under similar conditions? Use that evidence when setting targets, estimating time and resources, and reviewing performance. It reduces overconfidence and keeps decisions grounded in reality. Simple rule: look outside before predicting what will happen inside."</a:t>
            </a:r>
          </a:p>
          <a:p>
            <a:endParaRPr lang="en-GB" dirty="0"/>
          </a:p>
          <a:p>
            <a:r>
              <a:rPr lang="en-GB" dirty="0" b="1"/>
              <a:t>7. Principle 6 · Create after-action protocols.</a:t>
            </a:r>
          </a:p>
          <a:p>
            <a:r>
              <a:rPr lang="en-GB" dirty="0" b="1"/>
              <a:t>Say: </a:t>
            </a:r>
            <a:r>
              <a:rPr lang="en-GB" dirty="0"/>
              <a:t>"Build regular learning reviews into execution, during the strategy or project as well as at the end. Ask: what happened? What did we expect? What have we learned? What should we change? Use what the team learns to adjust decisions and actions while there is still time to improve the result. Simple rule: learn while you can still change the outcome."</a:t>
            </a:r>
          </a:p>
          <a:p>
            <a:r>
              <a:rPr lang="en-GB" dirty="0" b="1"/>
              <a:t>Deepen, say: </a:t>
            </a:r>
            <a:r>
              <a:rPr lang="en-GB" dirty="0"/>
              <a:t>"Recurring problems treated as isolated events return. Reviews create little value when lessons remain conversational. Insight must eventually alter decisions, controls, resource allocation and expected behaviour."</a:t>
            </a:r>
          </a:p>
          <a:p>
            <a:r>
              <a:rPr lang="en-GB" dirty="0"/>
              <a:t>(Insight: Lessons that change something. Source: Journal, 10 August 2026 — Professional Insights: Strategy)</a:t>
            </a:r>
          </a:p>
          <a:p>
            <a:endParaRPr lang="en-GB" dirty="0"/>
          </a:p>
          <a:p>
            <a:r>
              <a:rPr lang="en-GB" dirty="0" b="1"/>
              <a:t>8. Ask each participant to choose the most absent principle.</a:t>
            </a:r>
          </a:p>
          <a:p>
            <a:r>
              <a:rPr lang="en-GB" dirty="0"/>
              <a:t>Ask the room to read the six principles on the slide silently and choose the one most absent from their current practice.</a:t>
            </a:r>
          </a:p>
          <a:p>
            <a:r>
              <a:rPr lang="en-GB" dirty="0" b="1"/>
              <a:t>Ask: </a:t>
            </a:r>
            <a:r>
              <a:rPr lang="en-GB" dirty="0"/>
              <a:t>"Which principle does your organisation consistently skip, and what does that cost you?"</a:t>
            </a:r>
          </a:p>
          <a:p>
            <a:r>
              <a:rPr lang="en-GB" dirty="0" b="1"/>
              <a:t>Then ask: </a:t>
            </a:r>
            <a:r>
              <a:rPr lang="en-GB" dirty="0"/>
              <a:t>"Which one could you introduce into your very next strategy meeting without needing anyone's permission?"</a:t>
            </a:r>
          </a:p>
          <a:p>
            <a:endParaRPr lang="en-GB" dirty="0"/>
          </a:p>
          <a:p>
            <a:r>
              <a:rPr lang="en-GB" dirty="0" b="1"/>
              <a:t>9. Close the Extrapolating section.</a:t>
            </a:r>
          </a:p>
          <a:p>
            <a:r>
              <a:rPr lang="en-GB" dirty="0" b="1"/>
              <a:t>Say: </a:t>
            </a:r>
            <a:r>
              <a:rPr lang="en-GB" dirty="0"/>
              <a:t>"Every phase of the strategy journey carries its own biases, and the emotional climate decides whether leaders surface them or defend them."</a:t>
            </a:r>
          </a:p>
          <a:p>
            <a:r>
              <a:rPr lang="en-GB" dirty="0" b="1"/>
              <a:t>Ask: </a:t>
            </a:r>
            <a:r>
              <a:rPr lang="en-GB" dirty="0"/>
              <a:t>"You have now mapped where your organisation is most exposed and why. What is the one thing you are most committed to changing?"</a:t>
            </a:r>
          </a:p>
          <a:p>
            <a:r>
              <a:rPr lang="en-GB" dirty="0"/>
              <a:t>Allow a brief pair share.</a:t>
            </a:r>
          </a:p>
          <a:p>
            <a:endParaRPr lang="en-GB" dirty="0"/>
          </a:p>
          <a:p>
            <a:r>
              <a:rPr lang="en-GB" dirty="0" b="1"/>
              <a:t>10. Bridge to Section 5.</a:t>
            </a:r>
          </a:p>
          <a:p>
            <a:r>
              <a:rPr lang="en-GB" dirty="0" b="1"/>
              <a:t>Say: </a:t>
            </a:r>
            <a:r>
              <a:rPr lang="en-GB" dirty="0"/>
              <a:t>"Section 5 examines how leadership teams turn individual thinking into collective intelligence."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F211D-E7A4-9714-E76B-5A15AE3D00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4DD521-995A-A56B-4FA6-C3F57D0D04BD}"/>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E6413ABD-6C1D-2BCA-771B-F55C9FD2F387}"/>
              </a:ext>
            </a:extLst>
          </p:cNvPr>
          <p:cNvSpPr>
            <a:spLocks noGrp="1"/>
          </p:cNvSpPr>
          <p:nvPr>
            <p:ph type="body" idx="1"/>
          </p:nvPr>
        </p:nvSpPr>
        <p:spPr/>
        <p:txBody>
          <a:bodyPr/>
          <a:lstStyle/>
          <a:p>
            <a:r>
              <a:rPr lang="en-GB" dirty="0" b="1"/>
              <a:t>SECTION 4 REFLECTIONS</a:t>
            </a:r>
          </a:p>
          <a:p>
            <a:endParaRPr lang="en-GB" dirty="0"/>
          </a:p>
          <a:p>
            <a:r>
              <a:rPr lang="en-GB" dirty="0" b="1"/>
              <a:t>HOW TO USE THIS SLIDE:</a:t>
            </a:r>
          </a:p>
          <a:p>
            <a:endParaRPr lang="en-GB" dirty="0"/>
          </a:p>
          <a:p>
            <a:r>
              <a:rPr lang="en-GB" dirty="0" b="1"/>
              <a:t>1. Show the reflections.</a:t>
            </a:r>
          </a:p>
          <a:p>
            <a:r>
              <a:rPr lang="en-GB" dirty="0" b="1"/>
              <a:t>Say: </a:t>
            </a:r>
            <a:r>
              <a:rPr lang="en-GB" dirty="0"/>
              <a:t>"Section 4 closes with three reflections on your portal page."</a:t>
            </a:r>
          </a:p>
          <a:p>
            <a:r>
              <a:rPr lang="en-GB" dirty="0" b="1"/>
              <a:t>Read aloud: </a:t>
            </a:r>
            <a:r>
              <a:rPr lang="en-GB" dirty="0"/>
              <a:t>"4.1: At which of the four phases is your organisation currently most exposed? Use the scanner question for that phase to frame your answer. What would it mean for your strategy process if you addressed that phase more deliberately?"</a:t>
            </a:r>
          </a:p>
          <a:p>
            <a:r>
              <a:rPr lang="en-GB" dirty="0" b="1"/>
              <a:t>Read aloud: </a:t>
            </a:r>
            <a:r>
              <a:rPr lang="en-GB" dirty="0"/>
              <a:t>"4.2.1: Which climate type best describes your team or organisation right now? What specific leadership behaviours are creating or sustaining that climate? What is the cost of that climate to the quality of your strategy work?"</a:t>
            </a:r>
          </a:p>
          <a:p>
            <a:r>
              <a:rPr lang="en-GB" dirty="0" b="1"/>
              <a:t>Read aloud: </a:t>
            </a:r>
            <a:r>
              <a:rPr lang="en-GB" dirty="0"/>
              <a:t>"4.2.3: Which of these six principles do you currently apply most consistently? Which is most absent from your current practice? What would it look like to introduce one of the absent principles into your next important decision or meeting?"</a:t>
            </a:r>
          </a:p>
          <a:p>
            <a:endParaRPr lang="en-GB" dirty="0"/>
          </a:p>
          <a:p>
            <a:r>
              <a:rPr lang="en-GB" dirty="0" b="1"/>
              <a:t>2. Set the expectation for depth.</a:t>
            </a:r>
          </a:p>
          <a:p>
            <a:r>
              <a:rPr lang="en-GB" dirty="0" b="1"/>
              <a:t>Say: </a:t>
            </a:r>
            <a:r>
              <a:rPr lang="en-GB" dirty="0"/>
              <a:t>"Be honest about your own climate and your own practice. Your reflections build the Learning Portfolio you receive at the end of the programme."</a:t>
            </a:r>
          </a:p>
          <a:p>
            <a:endParaRPr lang="en-GB" dirty="0"/>
          </a:p>
          <a:p>
            <a:r>
              <a:rPr lang="en-GB" dirty="0" b="1"/>
              <a:t>ON THE PORTAL, AFTER THE TEACHING:</a:t>
            </a:r>
          </a:p>
          <a:p>
            <a:r>
              <a:rPr lang="en-GB" dirty="0"/>
              <a:t>Participants write each reflection on their portal page and select Save Reflection.</a:t>
            </a:r>
          </a:p>
        </p:txBody>
      </p:sp>
      <p:sp>
        <p:nvSpPr>
          <p:cNvPr id="4" name="Slide Number Placeholder 3">
            <a:extLst>
              <a:ext uri="{FF2B5EF4-FFF2-40B4-BE49-F238E27FC236}">
                <a16:creationId xmlns:a16="http://schemas.microsoft.com/office/drawing/2014/main" id="{6D0942FC-0D36-348D-D256-F6FD4FB0CBE4}"/>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8003819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dirty="0" b="1"/>
              <a:t>SECTION 5 · INTEGRATION — COLLECTIVE</a:t>
            </a:r>
          </a:p>
          <a:p>
            <a:r>
              <a:rPr lang="en-GB" dirty="0"/>
              <a:t>How to Build Collective Intelligence · 5.1 · 5.2</a:t>
            </a:r>
          </a:p>
          <a:p>
            <a:endParaRPr lang="en-GB" dirty="0"/>
          </a:p>
          <a:p>
            <a:r>
              <a:rPr lang="en-GB" dirty="0" b="1"/>
              <a:t>HOW THIS SECTION RUNS:</a:t>
            </a:r>
          </a:p>
          <a:p>
            <a:r>
              <a:rPr lang="en-GB" dirty="0"/>
              <a:t>This section is where the unit moves from diagnosis to design. Participants have identified what behavioural strategy is, why it matters and where biases operate. Now they learn how to build an environment where collective intelligence can actually function: the opening context (Me becomes We), the three pillars of integration (5.1) and the institutional practices (5.2). This is the most practically actionable section; treat it that way.</a:t>
            </a:r>
          </a:p>
          <a:p>
            <a:endParaRPr lang="en-GB" dirty="0"/>
          </a:p>
          <a:p>
            <a:r>
              <a:rPr lang="en-GB" dirty="0" b="1"/>
              <a:t>SECTION LEARNING OUTCOMES:</a:t>
            </a:r>
          </a:p>
          <a:p>
            <a:r>
              <a:rPr lang="en-GB" dirty="0"/>
              <a:t>1. Recognise the conditions that turn individual perspectives into collective intelligence within a leadership team.</a:t>
            </a:r>
          </a:p>
          <a:p>
            <a:r>
              <a:rPr lang="en-GB" dirty="0"/>
              <a:t>2. Prioritise the organisational practices that would most strengthen collective decision quality.</a:t>
            </a:r>
          </a:p>
          <a:p>
            <a:endParaRPr lang="en-GB" dirty="0"/>
          </a:p>
          <a:p>
            <a:r>
              <a:rPr lang="en-GB" dirty="0" b="1"/>
              <a:t>HOW TO OPEN THE SECTION:</a:t>
            </a:r>
          </a:p>
          <a:p>
            <a:endParaRPr lang="en-GB" dirty="0"/>
          </a:p>
          <a:p>
            <a:r>
              <a:rPr lang="en-GB" dirty="0" b="1"/>
              <a:t>1. Frame the transition.</a:t>
            </a:r>
          </a:p>
          <a:p>
            <a:r>
              <a:rPr lang="en-GB" dirty="0" b="1"/>
              <a:t>Say: </a:t>
            </a:r>
            <a:r>
              <a:rPr lang="en-GB" dirty="0"/>
              <a:t>"Everything we have covered so far reveals the problem. This section is about the solution architecture. It designs better environments for judgement."</a:t>
            </a:r>
          </a:p>
          <a:p>
            <a:endParaRPr lang="en-GB" dirty="0"/>
          </a:p>
          <a:p>
            <a:r>
              <a:rPr lang="en-GB" dirty="0" b="1"/>
              <a:t>2. Bridge to the opening context.</a:t>
            </a:r>
          </a:p>
          <a:p>
            <a:r>
              <a:rPr lang="en-GB" dirty="0" b="1"/>
              <a:t>Say: </a:t>
            </a:r>
            <a:r>
              <a:rPr lang="en-GB" dirty="0"/>
              <a:t>"We start with what integration means."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dirty="0" b="1"/>
              <a:t>CREATING COLLECTIVE INTELLIGENCE FOR EXECUTION · OPENING CONTEXT</a:t>
            </a:r>
          </a:p>
          <a:p>
            <a:endParaRPr lang="en-GB" dirty="0"/>
          </a:p>
          <a:p>
            <a:r>
              <a:rPr lang="en-GB" dirty="0" b="1"/>
              <a:t>HOW TO TEACH IT:</a:t>
            </a:r>
          </a:p>
          <a:p>
            <a:endParaRPr lang="en-GB" dirty="0"/>
          </a:p>
          <a:p>
            <a:r>
              <a:rPr lang="en-GB" dirty="0" b="1"/>
              <a:t>1. Open with the question.</a:t>
            </a:r>
          </a:p>
          <a:p>
            <a:r>
              <a:rPr lang="en-GB" dirty="0" b="1"/>
              <a:t>Ask: </a:t>
            </a:r>
            <a:r>
              <a:rPr lang="en-GB" dirty="0"/>
              <a:t>"If everyone in your leadership team performed at their personal best, would the quality of your collective decisions improve as a result?"</a:t>
            </a:r>
          </a:p>
          <a:p>
            <a:r>
              <a:rPr lang="en-GB" dirty="0"/>
              <a:t>The expected answer is yes. The correct answer is: not necessarily. Allow the tension to sit before you teach the content.</a:t>
            </a:r>
          </a:p>
          <a:p>
            <a:endParaRPr lang="en-GB" dirty="0"/>
          </a:p>
          <a:p>
            <a:r>
              <a:rPr lang="en-GB" dirty="0" b="1"/>
              <a:t>2. Teach the thinking environment.</a:t>
            </a:r>
          </a:p>
          <a:p>
            <a:r>
              <a:rPr lang="en-GB" dirty="0" b="1"/>
              <a:t>Say: </a:t>
            </a:r>
            <a:r>
              <a:rPr lang="en-GB" dirty="0"/>
              <a:t>"The quality of strategy execution is a direct function of the quality of the thinking environment: the conditions under which thinking happens."</a:t>
            </a:r>
          </a:p>
          <a:p>
            <a:r>
              <a:rPr lang="en-GB" dirty="0" b="1"/>
              <a:t>Say: </a:t>
            </a:r>
            <a:r>
              <a:rPr lang="en-GB" dirty="0"/>
              <a:t>"In the Integration section, we solve the Elephant Perspective problem. We move from functional silos to an enterprise-wide perspective. This requires shifting the leadership team from 'Defending the Part' to 'Designing the Whole'."</a:t>
            </a:r>
          </a:p>
          <a:p>
            <a:endParaRPr lang="en-GB" dirty="0"/>
          </a:p>
          <a:p>
            <a:r>
              <a:rPr lang="en-GB" dirty="0" b="1"/>
              <a:t>3. Land the key shift.</a:t>
            </a:r>
          </a:p>
          <a:p>
            <a:r>
              <a:rPr lang="en-GB" dirty="0"/>
              <a:t>Read the line on the slide: "Integration is where the 'Me' becomes 'We'."</a:t>
            </a:r>
          </a:p>
          <a:p>
            <a:r>
              <a:rPr lang="en-GB" dirty="0" b="1"/>
              <a:t>Say: </a:t>
            </a:r>
            <a:r>
              <a:rPr lang="en-GB" dirty="0"/>
              <a:t>"It is the process of trading individual opinions for collective intelligence."</a:t>
            </a:r>
          </a:p>
          <a:p>
            <a:r>
              <a:rPr lang="en-GB" dirty="0" b="1"/>
              <a:t>Deepen, say: </a:t>
            </a:r>
            <a:r>
              <a:rPr lang="en-GB" dirty="0"/>
              <a:t>"A healthy culture creates conditions in which different contributions can genuinely be joined together. This requires a shared identity strong enough to transcend functional identity, relationships strong enough to carry disagreement, and an understanding that no single part can independently produce the whole organisational outcome."</a:t>
            </a:r>
          </a:p>
          <a:p>
            <a:r>
              <a:rPr lang="en-GB" dirty="0"/>
              <a:t>(Insight: Joining different contributions. Source: Journal, 4 October 2026 — Professional Insights: Culture)</a:t>
            </a:r>
          </a:p>
          <a:p>
            <a:r>
              <a:rPr lang="en-GB" dirty="0" b="1"/>
              <a:t>Ask: </a:t>
            </a:r>
            <a:r>
              <a:rPr lang="en-GB" dirty="0"/>
              <a:t>"What does your current strategy process do to actively create that shift, or does it assume it will happen naturally?"</a:t>
            </a:r>
          </a:p>
          <a:p>
            <a:endParaRPr lang="en-GB" dirty="0"/>
          </a:p>
          <a:p>
            <a:r>
              <a:rPr lang="en-GB" dirty="0" b="1"/>
              <a:t>4. Pose the diagnostic question.</a:t>
            </a:r>
          </a:p>
          <a:p>
            <a:r>
              <a:rPr lang="en-GB" dirty="0"/>
              <a:t>Read the question on the slide: "At which phase in your current strategy process are you most exposed?"</a:t>
            </a:r>
          </a:p>
          <a:p>
            <a:r>
              <a:rPr lang="en-GB" dirty="0" b="1"/>
              <a:t>Say: </a:t>
            </a:r>
            <a:r>
              <a:rPr lang="en-GB" dirty="0"/>
              <a:t>"Where is the quality of your thinking least protected? The answer to that question is where your debiasing effort should begin."</a:t>
            </a:r>
          </a:p>
          <a:p>
            <a:r>
              <a:rPr lang="en-GB" dirty="0"/>
              <a:t>Ask participants to answer it privately in writing before you move to 5.1.</a:t>
            </a:r>
          </a:p>
          <a:p>
            <a:endParaRPr lang="en-GB" dirty="0"/>
          </a:p>
          <a:p>
            <a:r>
              <a:rPr lang="en-GB" dirty="0" b="1"/>
              <a:t>5. Bridge to 5.1.</a:t>
            </a:r>
          </a:p>
          <a:p>
            <a:r>
              <a:rPr lang="en-GB" dirty="0" b="1"/>
              <a:t>Say: </a:t>
            </a:r>
            <a:r>
              <a:rPr lang="en-GB" dirty="0"/>
              <a:t>"Three pillars give us a practical framework for building collective intelligence."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dirty="0" b="1"/>
              <a:t>5.1 · THE THREE PILLARS OF INTEGRATION</a:t>
            </a:r>
          </a:p>
          <a:p>
            <a:endParaRPr lang="en-GB" dirty="0"/>
          </a:p>
          <a:p>
            <a:r>
              <a:rPr lang="en-GB" dirty="0" b="1"/>
              <a:t>HOW TO TEACH IT:</a:t>
            </a:r>
          </a:p>
          <a:p>
            <a:endParaRPr lang="en-GB" dirty="0"/>
          </a:p>
          <a:p>
            <a:r>
              <a:rPr lang="en-GB" dirty="0" b="1"/>
              <a:t>1. Surface the barriers first.</a:t>
            </a:r>
          </a:p>
          <a:p>
            <a:r>
              <a:rPr lang="en-GB" dirty="0" b="1"/>
              <a:t>Ask: </a:t>
            </a:r>
            <a:r>
              <a:rPr lang="en-GB" dirty="0"/>
              <a:t>"Without looking at the screen, what do you think the biggest structural barrier to genuine collective intelligence is in your organisation?"</a:t>
            </a:r>
          </a:p>
          <a:p>
            <a:r>
              <a:rPr lang="en-GB" dirty="0"/>
              <a:t>Take three or four responses. As you teach each pillar, show how the framework responds to the barriers the room has named.</a:t>
            </a:r>
          </a:p>
          <a:p>
            <a:endParaRPr lang="en-GB" dirty="0"/>
          </a:p>
          <a:p>
            <a:r>
              <a:rPr lang="en-GB" dirty="0" b="1"/>
              <a:t>2. Introduce the pillars.</a:t>
            </a:r>
          </a:p>
          <a:p>
            <a:r>
              <a:rPr lang="en-GB" dirty="0" b="1"/>
              <a:t>Say: </a:t>
            </a:r>
            <a:r>
              <a:rPr lang="en-GB" dirty="0"/>
              <a:t>"Three pillars provide a practical framework for building collective intelligence in your leadership environment. Let us explore how each one fosters it."</a:t>
            </a:r>
          </a:p>
          <a:p>
            <a:endParaRPr lang="en-GB" dirty="0"/>
          </a:p>
          <a:p>
            <a:r>
              <a:rPr lang="en-GB" dirty="0" b="1"/>
              <a:t>3. Pillar 1 · Cognitive Integration: connecting the dots.</a:t>
            </a:r>
          </a:p>
          <a:p>
            <a:r>
              <a:rPr lang="en-GB" dirty="0" b="1"/>
              <a:t>Say: </a:t>
            </a:r>
            <a:r>
              <a:rPr lang="en-GB" dirty="0"/>
              <a:t>"This is about breaking down the 'I'm an expert in my area' silos. If Marketing only sees customers and Finance only sees costs, they are both looking at a fragmented reality."</a:t>
            </a:r>
          </a:p>
          <a:p>
            <a:r>
              <a:rPr lang="en-GB" dirty="0" b="1"/>
              <a:t>Say: </a:t>
            </a:r>
            <a:r>
              <a:rPr lang="en-GB" dirty="0"/>
              <a:t>"The goal: build a single version of the truth. How it works: you require every department to explain how its information affects everyone else. In practice: a stress test where the team asks, 'If the Finance data is right, does the Marketing plan still make sense?'"</a:t>
            </a:r>
          </a:p>
          <a:p>
            <a:r>
              <a:rPr lang="en-GB" dirty="0" b="1"/>
              <a:t>Deepen, say: </a:t>
            </a:r>
            <a:r>
              <a:rPr lang="en-GB" dirty="0"/>
              <a:t>"The most accurate intelligence about what the organisation's decisions are producing is often held by those furthest from the decision-making centre. Build explicit structures that bring this intelligence from the edges into the rooms where decisions are made."</a:t>
            </a:r>
          </a:p>
          <a:p>
            <a:r>
              <a:rPr lang="en-GB" dirty="0"/>
              <a:t>(Insight: Intelligence from the edges. Source: Journal, 2 April 2026 — Professional Insights: Culture)</a:t>
            </a:r>
          </a:p>
          <a:p>
            <a:r>
              <a:rPr lang="en-GB" dirty="0" b="1"/>
              <a:t>Ask: </a:t>
            </a:r>
            <a:r>
              <a:rPr lang="en-GB" dirty="0"/>
              <a:t>"Is this pillar present in your current strategy process, and if so, what does it look like in practice?"</a:t>
            </a:r>
          </a:p>
          <a:p>
            <a:endParaRPr lang="en-GB" dirty="0"/>
          </a:p>
          <a:p>
            <a:r>
              <a:rPr lang="en-GB" dirty="0" b="1"/>
              <a:t>4. Pillar 2 · Behavioural Guardrails: putting up safety nets.</a:t>
            </a:r>
          </a:p>
          <a:p>
            <a:r>
              <a:rPr lang="en-GB" dirty="0" b="1"/>
              <a:t>Say: </a:t>
            </a:r>
            <a:r>
              <a:rPr lang="en-GB" dirty="0"/>
              <a:t>"Smart people make bad choices when they rush. Guardrails are simple rules that force your brain to slow down and switch from gut feel, System 1, to logic, System 2."</a:t>
            </a:r>
          </a:p>
          <a:p>
            <a:r>
              <a:rPr lang="en-GB" dirty="0" b="1"/>
              <a:t>Say: </a:t>
            </a:r>
            <a:r>
              <a:rPr lang="en-GB" dirty="0"/>
              <a:t>"The goal: stop the loudest voice or the fastest talker from winning by default. How it works: you build friction into the meeting; you make it a requirement to disagree before a final vote is taken. In practice: the Challenge Clock, where you dedicate ten minutes to finding only reasons why the plan won't work."</a:t>
            </a:r>
          </a:p>
          <a:p>
            <a:r>
              <a:rPr lang="en-GB" dirty="0" b="1"/>
              <a:t>Deepen, say: </a:t>
            </a:r>
            <a:r>
              <a:rPr lang="en-GB" dirty="0"/>
              <a:t>"Leaders who decide by who is loudest in the room, ahead of what is most true in the data, consistently make poor calls. Good judgement goes beneath the surface presentation and the political pressure to what is actually true."</a:t>
            </a:r>
          </a:p>
          <a:p>
            <a:r>
              <a:rPr lang="en-GB" dirty="0"/>
              <a:t>(Insight: The loudest voice. Source: Journal, 14 January 2026 — Professional Insights: Leadership)</a:t>
            </a:r>
          </a:p>
          <a:p>
            <a:r>
              <a:rPr lang="en-GB" dirty="0" b="1"/>
              <a:t>Ask: </a:t>
            </a:r>
            <a:r>
              <a:rPr lang="en-GB" dirty="0"/>
              <a:t>"Is this pillar present in your current strategy process, and what does it look like?"</a:t>
            </a:r>
          </a:p>
          <a:p>
            <a:endParaRPr lang="en-GB" dirty="0"/>
          </a:p>
          <a:p>
            <a:r>
              <a:rPr lang="en-GB" dirty="0" b="1"/>
              <a:t>5. Pillar 3 · Emotional Stabilisation: clearing the air.</a:t>
            </a:r>
          </a:p>
          <a:p>
            <a:r>
              <a:rPr lang="en-GB" dirty="0" b="1"/>
              <a:t>Say: </a:t>
            </a:r>
            <a:r>
              <a:rPr lang="en-GB" dirty="0"/>
              <a:t>"If a room is full of fear or big egos, no one tells the truth. Stabilisation is about making the environment safe enough for high-level thinking."</a:t>
            </a:r>
          </a:p>
          <a:p>
            <a:r>
              <a:rPr lang="en-GB" dirty="0" b="1"/>
              <a:t>Say: </a:t>
            </a:r>
            <a:r>
              <a:rPr lang="en-GB" dirty="0"/>
              <a:t>"The goal: move the team from defensiveness to curiosity. How it works: leaders admit they don't have all the answers. This lowers the atmospheric pressure and lets the team speak up without fear of looking bad. In practice: naming the feeling. Start by saying, 'I know we may all be anxious about this deadline. Let's acknowledge that before we look at the numbers.'"</a:t>
            </a:r>
          </a:p>
          <a:p>
            <a:r>
              <a:rPr lang="en-GB" dirty="0" b="1"/>
              <a:t>Deepen, say: </a:t>
            </a:r>
            <a:r>
              <a:rPr lang="en-GB" dirty="0"/>
              <a:t>"Leadership maturity includes the ability to acknowledge uncertainty without transferring anxiety throughout the organisation. Steadiness means remaining sufficiently grounded to assess reality clearly and respond proportionately."</a:t>
            </a:r>
          </a:p>
          <a:p>
            <a:r>
              <a:rPr lang="en-GB" dirty="0"/>
              <a:t>(Insight: Steadiness. Source: Journal, 3 October 2026 — Professional Insights: Leadership)</a:t>
            </a:r>
          </a:p>
          <a:p>
            <a:r>
              <a:rPr lang="en-GB" dirty="0" b="1"/>
              <a:t>Ask: </a:t>
            </a:r>
            <a:r>
              <a:rPr lang="en-GB" dirty="0"/>
              <a:t>"Is this pillar present in your current strategy process, and what does it look like?"</a:t>
            </a:r>
          </a:p>
          <a:p>
            <a:endParaRPr lang="en-GB" dirty="0"/>
          </a:p>
          <a:p>
            <a:r>
              <a:rPr lang="en-GB" dirty="0" b="1"/>
              <a:t>6. Identify the weakest pillar.</a:t>
            </a:r>
          </a:p>
          <a:p>
            <a:r>
              <a:rPr lang="en-GB" dirty="0"/>
              <a:t>Ask each participant to identify privately which pillar is most underdeveloped in their current environment. Invite three or four to share their answer and their reason. This is often the most direct conversation in the section.</a:t>
            </a:r>
          </a:p>
          <a:p>
            <a:endParaRPr lang="en-GB" dirty="0"/>
          </a:p>
          <a:p>
            <a:r>
              <a:rPr lang="en-GB" dirty="0" b="1"/>
              <a:t>7. Land the interdependence.</a:t>
            </a:r>
          </a:p>
          <a:p>
            <a:r>
              <a:rPr lang="en-GB" dirty="0"/>
              <a:t>Read the banner aloud: "The pillars reinforce each other."</a:t>
            </a:r>
          </a:p>
          <a:p>
            <a:r>
              <a:rPr lang="en-GB" dirty="0" b="1"/>
              <a:t>Say: </a:t>
            </a:r>
            <a:r>
              <a:rPr lang="en-GB" dirty="0"/>
              <a:t>"A strong Cognitive Integration process will collapse in a fear-dominated climate: that is a Pillar 3 failure. Guardrails will be bypassed if there is no psychological safety to use them: Pillar 3 again."</a:t>
            </a:r>
          </a:p>
          <a:p>
            <a:endParaRPr lang="en-GB" dirty="0"/>
          </a:p>
          <a:p>
            <a:r>
              <a:rPr lang="en-GB" dirty="0" b="1"/>
              <a:t>8. Bridge to 5.2.</a:t>
            </a:r>
          </a:p>
          <a:p>
            <a:r>
              <a:rPr lang="en-GB" dirty="0" b="1"/>
              <a:t>Say: </a:t>
            </a:r>
            <a:r>
              <a:rPr lang="en-GB" dirty="0"/>
              <a:t>"The principles in 4.2.3 told you what to do. The institutional practices tell you how to embed it structurally, so it does not depend on one person's intention or memory."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dirty="0" b="1"/>
              <a:t>5.2.1 · INSTITUTIONAL PRACTICES FOR COLLECTIVE INTELLIGENCE · IN THE STRATEGY ROOM</a:t>
            </a:r>
          </a:p>
          <a:p>
            <a:endParaRPr lang="en-GB" dirty="0"/>
          </a:p>
          <a:p>
            <a:r>
              <a:rPr lang="en-GB" dirty="0" b="1"/>
              <a:t>HOW TO TEACH IT:</a:t>
            </a:r>
          </a:p>
          <a:p>
            <a:endParaRPr lang="en-GB" dirty="0"/>
          </a:p>
          <a:p>
            <a:r>
              <a:rPr lang="en-GB" dirty="0" b="1"/>
              <a:t>1. Frame the ten practices.</a:t>
            </a:r>
          </a:p>
          <a:p>
            <a:r>
              <a:rPr lang="en-GB" dirty="0" b="1"/>
              <a:t>Say: </a:t>
            </a:r>
            <a:r>
              <a:rPr lang="en-GB" dirty="0"/>
              <a:t>"The institutional practices are what must exist in the organisation for good thinking to happen consistently. They are structural changes to how strategy is conducted. There are ten: five in the strategy room and five in leadership culture."</a:t>
            </a:r>
          </a:p>
          <a:p>
            <a:r>
              <a:rPr lang="en-GB" dirty="0" b="1"/>
              <a:t>Say: </a:t>
            </a:r>
            <a:r>
              <a:rPr lang="en-GB" dirty="0"/>
              <a:t>"In the strategy room is about how you design meetings and decision processes to reduce bias while people are making strategic decisions. As I go through each one, mark for yourself whether it is already active, partially active or absent in your organisation."</a:t>
            </a:r>
          </a:p>
          <a:p>
            <a:endParaRPr lang="en-GB" dirty="0"/>
          </a:p>
          <a:p>
            <a:r>
              <a:rPr lang="en-GB" dirty="0" b="1"/>
              <a:t>2. 72-Hour Pre-Read Mandate (neutralises Anchoring).</a:t>
            </a:r>
          </a:p>
          <a:p>
            <a:r>
              <a:rPr lang="en-GB" dirty="0" b="1"/>
              <a:t>Say: </a:t>
            </a:r>
            <a:r>
              <a:rPr lang="en-GB" dirty="0"/>
              <a:t>"Strategic documents are distributed three days before the session. This prevents anchoring to the presenter's live framing and allows for independent reflection."</a:t>
            </a:r>
          </a:p>
          <a:p>
            <a:endParaRPr lang="en-GB" dirty="0"/>
          </a:p>
          <a:p>
            <a:r>
              <a:rPr lang="en-GB" dirty="0" b="1"/>
              <a:t>3. Rotating Neutral Facilitation (neutralises Authority Bias and Groupthink).</a:t>
            </a:r>
          </a:p>
          <a:p>
            <a:r>
              <a:rPr lang="en-GB" dirty="0" b="1"/>
              <a:t>Say: </a:t>
            </a:r>
            <a:r>
              <a:rPr lang="en-GB" dirty="0"/>
              <a:t>"Sessions are led by someone other than the CEO or the most senior executive. This neutralises authority bias and groupthink by decoupling power from the process."</a:t>
            </a:r>
          </a:p>
          <a:p>
            <a:r>
              <a:rPr lang="en-GB" dirty="0" b="1"/>
              <a:t>Deepen, say: </a:t>
            </a:r>
            <a:r>
              <a:rPr lang="en-GB" dirty="0"/>
              <a:t>"Leaders who assume strategic insight belongs only to the senior tier miss what the rest of the organisation sees. The next strategic insight may come from the youngest person on the team."</a:t>
            </a:r>
          </a:p>
          <a:p>
            <a:r>
              <a:rPr lang="en-GB" dirty="0"/>
              <a:t>(Insight: Insight from every level. Source: Journal, 29 March 2026 — Professional Insights)</a:t>
            </a:r>
          </a:p>
          <a:p>
            <a:endParaRPr lang="en-GB" dirty="0"/>
          </a:p>
          <a:p>
            <a:r>
              <a:rPr lang="en-GB" dirty="0" b="1"/>
              <a:t>4. Blind Ideation (neutralises Conformity and the Halo Effect).</a:t>
            </a:r>
          </a:p>
          <a:p>
            <a:r>
              <a:rPr lang="en-GB" dirty="0" b="1"/>
              <a:t>Say: </a:t>
            </a:r>
            <a:r>
              <a:rPr lang="en-GB" dirty="0"/>
              <a:t>"Ideas and critiques are submitted anonymously during the exploration phase. This removes conformity bias and the halo effect of senior-led suggestions."</a:t>
            </a:r>
          </a:p>
          <a:p>
            <a:r>
              <a:rPr lang="en-GB" dirty="0" b="1"/>
              <a:t>Deepen, say: </a:t>
            </a:r>
            <a:r>
              <a:rPr lang="en-GB" dirty="0"/>
              <a:t>"Cultures become vulnerable when prestige determines whose ideas matter. Healthy cultures combine competence with humility and value overlooked contributors."</a:t>
            </a:r>
          </a:p>
          <a:p>
            <a:r>
              <a:rPr lang="en-GB" dirty="0"/>
              <a:t>(Insight: Halo Effect. Source: Journal, 31 August 2026 — Professional Insights: Culture)</a:t>
            </a:r>
          </a:p>
          <a:p>
            <a:endParaRPr lang="en-GB" dirty="0"/>
          </a:p>
          <a:p>
            <a:r>
              <a:rPr lang="en-GB" dirty="0" b="1"/>
              <a:t>5. The Challenge Clock (neutralises the Action-Oriented rush).</a:t>
            </a:r>
          </a:p>
          <a:p>
            <a:r>
              <a:rPr lang="en-GB" dirty="0" b="1"/>
              <a:t>Say: </a:t>
            </a:r>
            <a:r>
              <a:rPr lang="en-GB" dirty="0"/>
              <a:t>"A dedicated, non-negotiable segment on the agenda for dissenting views. It forces System 2 engagement and protects against the action-oriented rush to decide."</a:t>
            </a:r>
          </a:p>
          <a:p>
            <a:endParaRPr lang="en-GB" dirty="0"/>
          </a:p>
          <a:p>
            <a:r>
              <a:rPr lang="en-GB" dirty="0" b="1"/>
              <a:t>6. Silent Deliberation (neutralises Availability Bias).</a:t>
            </a:r>
          </a:p>
          <a:p>
            <a:r>
              <a:rPr lang="en-GB" dirty="0" b="1"/>
              <a:t>Say: </a:t>
            </a:r>
            <a:r>
              <a:rPr lang="en-GB" dirty="0"/>
              <a:t>"Individual written reflection is required before any verbal group discussion. This prevents the 'first voice' from dominating and triggering availability bias."</a:t>
            </a:r>
          </a:p>
          <a:p>
            <a:endParaRPr lang="en-GB" dirty="0"/>
          </a:p>
          <a:p>
            <a:r>
              <a:rPr lang="en-GB" dirty="0" b="1"/>
              <a:t>7. Bridge to 5.2.2.</a:t>
            </a:r>
          </a:p>
          <a:p>
            <a:r>
              <a:rPr lang="en-GB" dirty="0" b="1"/>
              <a:t>Say: </a:t>
            </a:r>
            <a:r>
              <a:rPr lang="en-GB" dirty="0"/>
              <a:t>"The second five practices sit in leadership culture."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dirty="0" b="1"/>
              <a:t>5.2.2 · INSTITUTIONAL PRACTICES FOR COLLECTIVE INTELLIGENCE · IN LEADERSHIP CULTURE</a:t>
            </a:r>
          </a:p>
          <a:p>
            <a:endParaRPr lang="en-GB" dirty="0"/>
          </a:p>
          <a:p>
            <a:r>
              <a:rPr lang="en-GB" dirty="0" b="1"/>
              <a:t>HOW TO TEACH IT:</a:t>
            </a:r>
          </a:p>
          <a:p>
            <a:endParaRPr lang="en-GB" dirty="0"/>
          </a:p>
          <a:p>
            <a:r>
              <a:rPr lang="en-GB" dirty="0" b="1"/>
              <a:t>1. Frame leadership culture.</a:t>
            </a:r>
          </a:p>
          <a:p>
            <a:r>
              <a:rPr lang="en-GB" dirty="0" b="1"/>
              <a:t>Say: </a:t>
            </a:r>
            <a:r>
              <a:rPr lang="en-GB" dirty="0"/>
              <a:t>"In leadership culture is about building leadership habits and organisational practices that reduce bias over time. Keep marking each practice as active, partially active or absent."</a:t>
            </a:r>
          </a:p>
          <a:p>
            <a:endParaRPr lang="en-GB" dirty="0"/>
          </a:p>
          <a:p>
            <a:r>
              <a:rPr lang="en-GB" dirty="0" b="1"/>
              <a:t>2. Public Cognitive Humility (neutralises Overconfidence).</a:t>
            </a:r>
          </a:p>
          <a:p>
            <a:r>
              <a:rPr lang="en-GB" dirty="0" b="1"/>
              <a:t>Say: </a:t>
            </a:r>
            <a:r>
              <a:rPr lang="en-GB" dirty="0"/>
              <a:t>"Leaders explicitly share past errors and the logic used to correct them. This reduces overconfidence and models a culture of continuous learning."</a:t>
            </a:r>
          </a:p>
          <a:p>
            <a:r>
              <a:rPr lang="en-GB" dirty="0" b="1"/>
              <a:t>Deepen, say: </a:t>
            </a:r>
            <a:r>
              <a:rPr lang="en-GB" dirty="0"/>
              <a:t>"Teams that only ever hear the polished version stop believing any of it. Name one of your own missteps openly to the people you lead; the candour builds the credibility that spin erodes."</a:t>
            </a:r>
          </a:p>
          <a:p>
            <a:r>
              <a:rPr lang="en-GB" dirty="0"/>
              <a:t>(Insight: The polished version. Source: Journal, 22 May 2026 — Professional Insights: Leadership)</a:t>
            </a:r>
          </a:p>
          <a:p>
            <a:r>
              <a:rPr lang="en-GB" dirty="0" b="1"/>
              <a:t>Deepen, say: </a:t>
            </a:r>
            <a:r>
              <a:rPr lang="en-GB" dirty="0"/>
              <a:t>"When something goes wrong, positional power makes it easy to locate failure elsewhere: in the team, the environment, the systems or the execution. Ask 'Who failed?' and also 'What did my decisions, assumptions, signals or omissions make possible?'"</a:t>
            </a:r>
          </a:p>
          <a:p>
            <a:r>
              <a:rPr lang="en-GB" dirty="0"/>
              <a:t>(Insight: Self-examination. Source: Journal, 1 October 2026 — Professional Insights: Leadership)</a:t>
            </a:r>
          </a:p>
          <a:p>
            <a:endParaRPr lang="en-GB" dirty="0"/>
          </a:p>
          <a:p>
            <a:r>
              <a:rPr lang="en-GB" dirty="0" b="1"/>
              <a:t>3. Behavioural 360s (neutralises Self-Interest and Perspective).</a:t>
            </a:r>
          </a:p>
          <a:p>
            <a:r>
              <a:rPr lang="en-GB" dirty="0" b="1"/>
              <a:t>Say: </a:t>
            </a:r>
            <a:r>
              <a:rPr lang="en-GB" dirty="0"/>
              <a:t>"Leadership assessments that measure self-awareness and decision-making rigour. They address self-interest and perspective bias through external feedback loops."</a:t>
            </a:r>
          </a:p>
          <a:p>
            <a:endParaRPr lang="en-GB" dirty="0"/>
          </a:p>
          <a:p>
            <a:r>
              <a:rPr lang="en-GB" dirty="0" b="1"/>
              <a:t>4. Debiasing Coaching (neutralises System 1 dominance).</a:t>
            </a:r>
          </a:p>
          <a:p>
            <a:r>
              <a:rPr lang="en-GB" dirty="0" b="1"/>
              <a:t>Say: </a:t>
            </a:r>
            <a:r>
              <a:rPr lang="en-GB" dirty="0"/>
              <a:t>"Professional development focused on identifying personal 'cognitive signatures'. It builds the muscle for System 2 thinking under high-pressure conditions."</a:t>
            </a:r>
          </a:p>
          <a:p>
            <a:endParaRPr lang="en-GB" dirty="0"/>
          </a:p>
          <a:p>
            <a:r>
              <a:rPr lang="en-GB" dirty="0" b="1"/>
              <a:t>5. Safety Metrics (neutralises Innovation Suppression and Career-Risk).</a:t>
            </a:r>
          </a:p>
          <a:p>
            <a:r>
              <a:rPr lang="en-GB" dirty="0" b="1"/>
              <a:t>Say: </a:t>
            </a:r>
            <a:r>
              <a:rPr lang="en-GB" dirty="0"/>
              <a:t>"Psychological safety surveys used as a lead indicator for strategy quality. They guard against innovation suppression and career-risk bias."</a:t>
            </a:r>
          </a:p>
          <a:p>
            <a:endParaRPr lang="en-GB" dirty="0"/>
          </a:p>
          <a:p>
            <a:r>
              <a:rPr lang="en-GB" dirty="0" b="1"/>
              <a:t>6. Strategic Post-Mortems (neutralises Hindsight Bias).</a:t>
            </a:r>
          </a:p>
          <a:p>
            <a:r>
              <a:rPr lang="en-GB" dirty="0" b="1"/>
              <a:t>Say: </a:t>
            </a:r>
            <a:r>
              <a:rPr lang="en-GB" dirty="0"/>
              <a:t>"Radical transparency about why a strategy succeeded or failed. It dismantles hindsight bias and builds a database of organisational learning."</a:t>
            </a:r>
          </a:p>
          <a:p>
            <a:r>
              <a:rPr lang="en-GB" dirty="0" b="1"/>
              <a:t>Deepen, say: </a:t>
            </a:r>
            <a:r>
              <a:rPr lang="en-GB" dirty="0"/>
              <a:t>"Shame is what cultures produce when failure is punished and never processed. When people are more afraid of being found wrong than of being wrong, they hide problems until those problems become crises. Build a culture where people can say 'I got this wrong' before it becomes 'we failed'."</a:t>
            </a:r>
          </a:p>
          <a:p>
            <a:r>
              <a:rPr lang="en-GB" dirty="0"/>
              <a:t>(Insight: Saying "I got this wrong". Source: Journal, 6 January 2026 — Professional Insights: Culture)</a:t>
            </a:r>
          </a:p>
          <a:p>
            <a:endParaRPr lang="en-GB" dirty="0"/>
          </a:p>
          <a:p>
            <a:r>
              <a:rPr lang="en-GB" dirty="0" b="1"/>
              <a:t>7. Debrief.</a:t>
            </a:r>
          </a:p>
          <a:p>
            <a:r>
              <a:rPr lang="en-GB" dirty="0" b="1"/>
              <a:t>Ask: </a:t>
            </a:r>
            <a:r>
              <a:rPr lang="en-GB" dirty="0"/>
              <a:t>"Which practice is most immediately implementable in your organisation without needing a mandate from above? What is stopping you from introducing it in your next meeting?"</a:t>
            </a:r>
          </a:p>
          <a:p>
            <a:endParaRPr lang="en-GB" dirty="0"/>
          </a:p>
          <a:p>
            <a:r>
              <a:rPr lang="en-GB" dirty="0" b="1"/>
              <a:t>8. Prioritise.</a:t>
            </a:r>
          </a:p>
          <a:p>
            <a:r>
              <a:rPr lang="en-GB" dirty="0"/>
              <a:t>Ask each participant to select their top two or three practices and share one with the group, together with the bias it directly addresses. This connects the institutional practices back to the bias families of 2.4.</a:t>
            </a:r>
          </a:p>
          <a:p>
            <a:endParaRPr lang="en-GB" dirty="0"/>
          </a:p>
          <a:p>
            <a:r>
              <a:rPr lang="en-GB" dirty="0" b="1"/>
              <a:t>9. Close the section.</a:t>
            </a:r>
          </a:p>
          <a:p>
            <a:r>
              <a:rPr lang="en-GB" dirty="0" b="1"/>
              <a:t>Say: </a:t>
            </a:r>
            <a:r>
              <a:rPr lang="en-GB" dirty="0"/>
              <a:t>"Collective intelligence emerges when leadership teams build practices that bring diverse perspectives into every strategic decision."</a:t>
            </a:r>
          </a:p>
          <a:p>
            <a:endParaRPr lang="en-GB" dirty="0"/>
          </a:p>
          <a:p>
            <a:r>
              <a:rPr lang="en-GB" dirty="0" b="1"/>
              <a:t>10. Bridge to Section 6.</a:t>
            </a:r>
          </a:p>
          <a:p>
            <a:r>
              <a:rPr lang="en-GB" dirty="0" b="1"/>
              <a:t>Say: </a:t>
            </a:r>
            <a:r>
              <a:rPr lang="en-GB" dirty="0"/>
              <a:t>"In Section 6 you assess your own bias profile, and each group sets out the challenge it will address in its Problem Charter."</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29F52-6CDF-374B-4FB0-ED89822B60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4D6290-2E3F-06B6-B3C9-6C95343096C4}"/>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27749809-64AF-BC7E-C1D9-E81FEB331FF8}"/>
              </a:ext>
            </a:extLst>
          </p:cNvPr>
          <p:cNvSpPr>
            <a:spLocks noGrp="1"/>
          </p:cNvSpPr>
          <p:nvPr>
            <p:ph type="body" idx="1"/>
          </p:nvPr>
        </p:nvSpPr>
        <p:spPr/>
        <p:txBody>
          <a:bodyPr/>
          <a:lstStyle/>
          <a:p>
            <a:r>
              <a:rPr lang="en-GB" dirty="0" b="1"/>
              <a:t>SECTION 5 REFLECTIONS</a:t>
            </a:r>
          </a:p>
          <a:p>
            <a:endParaRPr lang="en-GB" dirty="0"/>
          </a:p>
          <a:p>
            <a:r>
              <a:rPr lang="en-GB" dirty="0" b="1"/>
              <a:t>HOW TO USE THIS SLIDE:</a:t>
            </a:r>
          </a:p>
          <a:p>
            <a:endParaRPr lang="en-GB" dirty="0"/>
          </a:p>
          <a:p>
            <a:r>
              <a:rPr lang="en-GB" dirty="0" b="1"/>
              <a:t>1. Show the three reflections.</a:t>
            </a:r>
          </a:p>
          <a:p>
            <a:r>
              <a:rPr lang="en-GB" dirty="0" b="1"/>
              <a:t>Say: </a:t>
            </a:r>
            <a:r>
              <a:rPr lang="en-GB" dirty="0"/>
              <a:t>"Section 5 closes with three reflections on your portal page."</a:t>
            </a:r>
          </a:p>
          <a:p>
            <a:r>
              <a:rPr lang="en-GB" dirty="0" b="1"/>
              <a:t>Read aloud: </a:t>
            </a:r>
            <a:r>
              <a:rPr lang="en-GB" dirty="0"/>
              <a:t>"Opening context: What does 'integration' currently look like in your organisation? Where does the transition from individual perspectives to a shared enterprise view most often break down?"</a:t>
            </a:r>
          </a:p>
          <a:p>
            <a:r>
              <a:rPr lang="en-GB" dirty="0" b="1"/>
              <a:t>Read aloud: </a:t>
            </a:r>
            <a:r>
              <a:rPr lang="en-GB" dirty="0"/>
              <a:t>"5.1: Which of the three pillars is most underdeveloped in your current team or organisation? What is one specific practice from that pillar that you could introduce in your next strategy meeting or working session?"</a:t>
            </a:r>
          </a:p>
          <a:p>
            <a:r>
              <a:rPr lang="en-GB" dirty="0" b="1"/>
              <a:t>Read aloud: </a:t>
            </a:r>
            <a:r>
              <a:rPr lang="en-GB" dirty="0"/>
              <a:t>"5.2: Which two or three institutional practices are most immediately implementable in your context? What resistance might you encounter, and how would you address it?"</a:t>
            </a:r>
          </a:p>
          <a:p>
            <a:endParaRPr lang="en-GB" dirty="0"/>
          </a:p>
          <a:p>
            <a:r>
              <a:rPr lang="en-GB" dirty="0" b="1"/>
              <a:t>2. Set the expectation for depth.</a:t>
            </a:r>
          </a:p>
          <a:p>
            <a:r>
              <a:rPr lang="en-GB" dirty="0" b="1"/>
              <a:t>Say: </a:t>
            </a:r>
            <a:r>
              <a:rPr lang="en-GB" dirty="0"/>
              <a:t>"Name a real practice and a real meeting where you will use it. Your reflections build the Learning Portfolio you receive at the end of the programme."</a:t>
            </a:r>
          </a:p>
          <a:p>
            <a:endParaRPr lang="en-GB" dirty="0"/>
          </a:p>
          <a:p>
            <a:r>
              <a:rPr lang="en-GB" dirty="0" b="1"/>
              <a:t>ON THE PORTAL, AFTER THE TEACHING:</a:t>
            </a:r>
          </a:p>
          <a:p>
            <a:r>
              <a:rPr lang="en-GB" dirty="0"/>
              <a:t>Participants write each reflection on their portal page and select Save Reflection.</a:t>
            </a:r>
          </a:p>
        </p:txBody>
      </p:sp>
      <p:sp>
        <p:nvSpPr>
          <p:cNvPr id="4" name="Slide Number Placeholder 3">
            <a:extLst>
              <a:ext uri="{FF2B5EF4-FFF2-40B4-BE49-F238E27FC236}">
                <a16:creationId xmlns:a16="http://schemas.microsoft.com/office/drawing/2014/main" id="{3C8EFFC1-2991-F979-526E-E4344B48FC72}"/>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889507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dirty="0" b="1"/>
              <a:t>SECTION 6 · APPLICATION — IN PRACTICE</a:t>
            </a:r>
          </a:p>
          <a:p>
            <a:r>
              <a:rPr lang="en-GB" dirty="0"/>
              <a:t>Behavioural Strategy in Practice · 6.1 · 6.2</a:t>
            </a:r>
          </a:p>
          <a:p>
            <a:endParaRPr lang="en-GB" dirty="0"/>
          </a:p>
          <a:p>
            <a:r>
              <a:rPr lang="en-GB" dirty="0" b="1"/>
              <a:t>HOW THIS SECTION RUNS:</a:t>
            </a:r>
          </a:p>
          <a:p>
            <a:r>
              <a:rPr lang="en-GB" dirty="0"/>
              <a:t>This is the application section. Participants first turn the unit's learning on themselves in the Self Reflection Bias Assessment (6.1), individually and in silence. Each group then creates its simulated company and writes its Problem Charter (6.2), which opens the Capstone.</a:t>
            </a:r>
          </a:p>
          <a:p>
            <a:endParaRPr lang="en-GB" dirty="0"/>
          </a:p>
          <a:p>
            <a:r>
              <a:rPr lang="en-GB" dirty="0" b="1"/>
              <a:t>SECTION LEARNING OUTCOMES:</a:t>
            </a:r>
          </a:p>
          <a:p>
            <a:r>
              <a:rPr lang="en-GB" dirty="0"/>
              <a:t>1. Assess your own leadership conduct against the behavioural conditions for sound strategic judgement.</a:t>
            </a:r>
          </a:p>
          <a:p>
            <a:r>
              <a:rPr lang="en-GB" dirty="0"/>
              <a:t>2. Commit to the development priority with the greatest effect on your strategic judgement.</a:t>
            </a:r>
          </a:p>
          <a:p>
            <a:endParaRPr lang="en-GB" dirty="0"/>
          </a:p>
          <a:p>
            <a:r>
              <a:rPr lang="en-GB" dirty="0" b="1"/>
              <a:t>HOW TO OPEN THE SECTION:</a:t>
            </a:r>
          </a:p>
          <a:p>
            <a:endParaRPr lang="en-GB" dirty="0"/>
          </a:p>
          <a:p>
            <a:r>
              <a:rPr lang="en-GB" dirty="0" b="1"/>
              <a:t>1. Say what the section does.</a:t>
            </a:r>
          </a:p>
          <a:p>
            <a:r>
              <a:rPr lang="en-GB" dirty="0" b="1"/>
              <a:t>Say: </a:t>
            </a:r>
            <a:r>
              <a:rPr lang="en-GB" dirty="0"/>
              <a:t>"Sections 1 to 5 showed how bias shapes the way leaders think, decide and behave, and how the thinking environment a leader creates protects or weakens judgement. Section 6 turns that learning on you, and then on your group."</a:t>
            </a:r>
          </a:p>
          <a:p>
            <a:endParaRPr lang="en-GB" dirty="0"/>
          </a:p>
          <a:p>
            <a:r>
              <a:rPr lang="en-GB" dirty="0" b="1"/>
              <a:t>2. Introduce 6.1, the Self Reflection Bias Assessment.</a:t>
            </a:r>
          </a:p>
          <a:p>
            <a:r>
              <a:rPr lang="en-GB" dirty="0" b="1"/>
              <a:t>Say: </a:t>
            </a:r>
            <a:r>
              <a:rPr lang="en-GB" dirty="0"/>
              <a:t>"The Self Reflection Bias Assessment shows how consistently your own leadership practice holds the behavioural conditions for sound strategic judgement today. It covers five areas, with four statements in each: A1 · I Know My Biases; A2 · I Manage My Emotional Impact; A3 · I Build Psychological Safety; A4 · I Use Process to Protect Quality; A5 · I Treat People as the Strategy."</a:t>
            </a:r>
          </a:p>
          <a:p>
            <a:r>
              <a:rPr lang="en-GB" dirty="0" b="1"/>
              <a:t>Say: </a:t>
            </a:r>
            <a:r>
              <a:rPr lang="en-GB" dirty="0"/>
              <a:t>"You score each statement from 1 to 5: 1 is rarely or never, 2 occasionally, 3 sometimes, 4 often, 5 consistently. The results give an overall score out of 100, a score for each area, and the area where you are most exposed: your development priority as you lead your simulated executive team through CESI."</a:t>
            </a:r>
          </a:p>
          <a:p>
            <a:r>
              <a:rPr lang="en-GB" dirty="0" b="1"/>
              <a:t>Say: </a:t>
            </a:r>
            <a:r>
              <a:rPr lang="en-GB" dirty="0"/>
              <a:t>"The score bands are: 85–100 Leading Practice; 65–84 Established Awareness; 45–64 Developing Awareness; 25–44 Emerging Awareness; 20–24 At Risk."</a:t>
            </a:r>
          </a:p>
          <a:p>
            <a:endParaRPr lang="en-GB" dirty="0"/>
          </a:p>
          <a:p>
            <a:r>
              <a:rPr lang="en-GB" dirty="0" b="1"/>
              <a:t>3. Introduce 6.2, the Problem Charter.</a:t>
            </a:r>
          </a:p>
          <a:p>
            <a:r>
              <a:rPr lang="en-GB" dirty="0" b="1"/>
              <a:t>Say: </a:t>
            </a:r>
            <a:r>
              <a:rPr lang="en-GB" dirty="0"/>
              <a:t>"Each group then creates the simulated company it will lead as an executive team for the rest of CESI, and writes its Problem Charter. The confirmed Charter becomes Section 1 of your group's Capstone S2R® Blueprint. From Unit 2 onwards, every section of the Blueprint is built for this company."</a:t>
            </a:r>
          </a:p>
          <a:p>
            <a:endParaRPr lang="en-GB" dirty="0"/>
          </a:p>
          <a:p>
            <a:r>
              <a:rPr lang="en-GB" dirty="0" b="1"/>
              <a:t>4. Bridge to the portal work.</a:t>
            </a:r>
          </a:p>
          <a:p>
            <a:r>
              <a:rPr lang="en-GB" dirty="0" b="1"/>
              <a:t>Say: </a:t>
            </a:r>
            <a:r>
              <a:rPr lang="en-GB" dirty="0"/>
              <a:t>"Here is how the two parts run on your portal page."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FD9B2F-84E7-5829-D75B-26D4A4F55237}"/>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43D36D6B-D5C1-0284-0A11-9A4B5A1F5499}"/>
              </a:ext>
            </a:extLst>
          </p:cNvPr>
          <p:cNvSpPr>
            <a:spLocks noGrp="1"/>
          </p:cNvSpPr>
          <p:nvPr>
            <p:ph type="body" idx="1"/>
          </p:nvPr>
        </p:nvSpPr>
        <p:spPr/>
        <p:txBody>
          <a:bodyPr/>
          <a:lstStyle/>
          <a:p>
            <a:r>
              <a:rPr lang="en-GB" dirty="0" b="1"/>
              <a:t>4.2.2c · EMOTIONAL ALIGNMENT: FROM EMOTION TO EVIDENCE · SIGNALS 5 TO 7</a:t>
            </a:r>
          </a:p>
          <a:p>
            <a:endParaRPr lang="en-GB" dirty="0"/>
          </a:p>
          <a:p>
            <a:r>
              <a:rPr lang="en-GB" dirty="0" b="1"/>
              <a:t>HOW TO TEACH IT:</a:t>
            </a:r>
          </a:p>
          <a:p>
            <a:endParaRPr lang="en-GB" dirty="0"/>
          </a:p>
          <a:p>
            <a:r>
              <a:rPr lang="en-GB" dirty="0" b="1"/>
              <a:t>1. Signal 5 · Watch energy and challenge.</a:t>
            </a:r>
          </a:p>
          <a:p>
            <a:r>
              <a:rPr lang="en-GB" dirty="0" b="1"/>
              <a:t>Say: </a:t>
            </a:r>
            <a:r>
              <a:rPr lang="en-GB" dirty="0"/>
              <a:t>"People attend meetings but contribute very little, deadlines start slipping and initiative falls. The leader explores whether disappointment or fatigue is draining morale. When discussions quickly become defensive or argumentative, anger or frustration may be increasing friction and reducing people's willingness to listen."</a:t>
            </a:r>
          </a:p>
          <a:p>
            <a:endParaRPr lang="en-GB" dirty="0"/>
          </a:p>
          <a:p>
            <a:r>
              <a:rPr lang="en-GB" dirty="0" b="1"/>
              <a:t>2. Signal 6 · Listen to the language.</a:t>
            </a:r>
          </a:p>
          <a:p>
            <a:r>
              <a:rPr lang="en-GB" dirty="0" b="1"/>
              <a:t>Say: </a:t>
            </a:r>
            <a:r>
              <a:rPr lang="en-GB" dirty="0"/>
              <a:t>"Repeated comments such as 'What is the point?', 'They have already decided' or 'Just do what they want' can signal disappointment, frustration or disengagement."</a:t>
            </a:r>
          </a:p>
          <a:p>
            <a:r>
              <a:rPr lang="en-GB" dirty="0" b="1"/>
              <a:t>Deepen, say: </a:t>
            </a:r>
            <a:r>
              <a:rPr lang="en-GB" dirty="0"/>
              <a:t>"Cultures that move straight from 'here is what changed' to 'here is what we need you to do next' produce resistance they cannot explain. The resistance signals that people do not yet feel understood. In a restructure, a strategic pivot or a change in leadership, listening is the load-bearing wall."</a:t>
            </a:r>
          </a:p>
          <a:p>
            <a:r>
              <a:rPr lang="en-GB" dirty="0"/>
              <a:t>(Insight: Listen before you reframe. Source: Journal, 25 June 2026 — Professional Insights: Culture)</a:t>
            </a:r>
          </a:p>
          <a:p>
            <a:endParaRPr lang="en-GB" dirty="0"/>
          </a:p>
          <a:p>
            <a:r>
              <a:rPr lang="en-GB" dirty="0" b="1"/>
              <a:t>3. Signal 7 · Connect emotion to behaviour.</a:t>
            </a:r>
          </a:p>
          <a:p>
            <a:r>
              <a:rPr lang="en-GB" dirty="0" b="1"/>
              <a:t>Example, say: </a:t>
            </a:r>
            <a:r>
              <a:rPr lang="en-GB" dirty="0"/>
              <a:t>"We have identified frustration as the dominant emotion. Where are we seeing that frustration show up: in collaboration, decision-making, effort or willingness to speak?"</a:t>
            </a:r>
          </a:p>
          <a:p>
            <a:endParaRPr lang="en-GB" dirty="0"/>
          </a:p>
          <a:p>
            <a:r>
              <a:rPr lang="en-GB" dirty="0" b="1"/>
              <a:t>4. Close on Name → Observe → Connect.</a:t>
            </a:r>
          </a:p>
          <a:p>
            <a:r>
              <a:rPr lang="en-GB" dirty="0" b="1"/>
              <a:t>Say: </a:t>
            </a:r>
            <a:r>
              <a:rPr lang="en-GB" dirty="0"/>
              <a:t>"Name: what are people feeling? Observe: what are people doing? Connect: how might that emotional state be shaping what people notice, avoid, say or do?"</a:t>
            </a:r>
          </a:p>
          <a:p>
            <a:r>
              <a:rPr lang="en-GB" dirty="0" b="1"/>
              <a:t>Say: </a:t>
            </a:r>
            <a:r>
              <a:rPr lang="en-GB" dirty="0"/>
              <a:t>"What are people feeling, and what is that feeling causing them to pay attention to, avoid or do?"</a:t>
            </a:r>
          </a:p>
          <a:p>
            <a:r>
              <a:rPr lang="en-GB" dirty="0" b="1"/>
              <a:t>Deepen, say: </a:t>
            </a:r>
            <a:r>
              <a:rPr lang="en-GB" dirty="0"/>
              <a:t>"The leader who has no outlet for genuine emotion carries it into every decision. The leader who processes it appropriately can remain clear-headed in the most emotionally charged situations."</a:t>
            </a:r>
          </a:p>
          <a:p>
            <a:r>
              <a:rPr lang="en-GB" dirty="0"/>
              <a:t>(Insight: Emotion processed in the right place. Source: Journal, 27 January 2026 — Professional Insights: Leadership)</a:t>
            </a:r>
          </a:p>
          <a:p>
            <a:endParaRPr lang="en-GB" dirty="0"/>
          </a:p>
          <a:p>
            <a:r>
              <a:rPr lang="en-GB" dirty="0" b="1"/>
              <a:t>5. Ask for a signal from the room.</a:t>
            </a:r>
          </a:p>
          <a:p>
            <a:r>
              <a:rPr lang="en-GB" dirty="0" b="1"/>
              <a:t>Ask: </a:t>
            </a:r>
            <a:r>
              <a:rPr lang="en-GB" dirty="0"/>
              <a:t>"Which of these seven signals have you seen in your own team in the last month, and what did it tell you?"</a:t>
            </a:r>
          </a:p>
          <a:p>
            <a:endParaRPr lang="en-GB" dirty="0"/>
          </a:p>
          <a:p>
            <a:r>
              <a:rPr lang="en-GB" dirty="0" b="1"/>
              <a:t>6. Bridge to 4.2.3.</a:t>
            </a:r>
          </a:p>
          <a:p>
            <a:r>
              <a:rPr lang="en-GB" dirty="0" b="1"/>
              <a:t>Say: </a:t>
            </a:r>
            <a:r>
              <a:rPr lang="en-GB" dirty="0"/>
              <a:t>"Awareness alone does not change outcomes. The goal now is to change how we design our strategy processes."</a:t>
            </a:r>
          </a:p>
        </p:txBody>
      </p:sp>
      <p:sp>
        <p:nvSpPr>
          <p:cNvPr id="4" name="Slide Number Placeholder 3">
            <a:extLst>
              <a:ext uri="{FF2B5EF4-FFF2-40B4-BE49-F238E27FC236}">
                <a16:creationId xmlns:a16="http://schemas.microsoft.com/office/drawing/2014/main" id="{E5EDD100-3BED-7A1D-B8D3-0D1A0A9745AE}"/>
              </a:ext>
            </a:extLst>
          </p:cNvPr>
          <p:cNvSpPr>
            <a:spLocks noGrp="1"/>
          </p:cNvSpPr>
          <p:nvPr>
            <p:ph type="sldNum" sz="quarter" idx="10"/>
          </p:nvPr>
        </p:nvSpPr>
        <p:spPr/>
        <p:txBody>
          <a:bodyPr/>
          <a:lstStyle/>
          <a:p>
            <a:fld id="{F7021451-1387-4CA6-816F-3879F97B5CBC}" type="slidenum">
              <a:rPr lang="en-US"/>
              <a:t>24</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C6367-03CC-6A58-B038-B2A798DEE2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FCD260-0C18-F080-223E-C84923D59BA8}"/>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309DEDDA-9F60-5886-9AEE-BC93FB2F1EA6}"/>
              </a:ext>
            </a:extLst>
          </p:cNvPr>
          <p:cNvSpPr>
            <a:spLocks noGrp="1"/>
          </p:cNvSpPr>
          <p:nvPr>
            <p:ph type="body" idx="1"/>
          </p:nvPr>
        </p:nvSpPr>
        <p:spPr/>
        <p:txBody>
          <a:bodyPr/>
          <a:lstStyle/>
          <a:p>
            <a:r>
              <a:rPr lang="en-GB" dirty="0" b="1"/>
              <a:t>SECTION 6 · ON THE PORTAL</a:t>
            </a:r>
          </a:p>
          <a:p>
            <a:endParaRPr lang="en-GB" dirty="0"/>
          </a:p>
          <a:p>
            <a:r>
              <a:rPr lang="en-GB" dirty="0" b="1"/>
              <a:t>HOW TO USE THIS SLIDE:</a:t>
            </a:r>
          </a:p>
          <a:p>
            <a:endParaRPr lang="en-GB" dirty="0"/>
          </a:p>
          <a:p>
            <a:r>
              <a:rPr lang="en-GB" dirty="0" b="1"/>
              <a:t>1. Set up the Self Reflection Bias Assessment.</a:t>
            </a:r>
          </a:p>
          <a:p>
            <a:r>
              <a:rPr lang="en-GB" dirty="0" b="1"/>
              <a:t>Read aloud: </a:t>
            </a:r>
            <a:r>
              <a:rPr lang="en-GB" dirty="0"/>
              <a:t>"Score what is consistently true of your practice right now. The value of this tool is entirely dependent on your honesty."</a:t>
            </a:r>
          </a:p>
          <a:p>
            <a:r>
              <a:rPr lang="en-GB" dirty="0"/>
              <a:t>Allow silence to settle before participants begin.</a:t>
            </a:r>
          </a:p>
          <a:p>
            <a:r>
              <a:rPr lang="en-GB" dirty="0" b="1"/>
              <a:t>Say: </a:t>
            </a:r>
            <a:r>
              <a:rPr lang="en-GB" dirty="0"/>
              <a:t>"The assessment is done individually and in silence. Work through each of the five area tabs, A1 to A5, and score yourself 1 to 5 on each statement."</a:t>
            </a:r>
          </a:p>
          <a:p>
            <a:r>
              <a:rPr lang="en-GB" dirty="0"/>
              <a:t>Allow completion without interruption.</a:t>
            </a:r>
          </a:p>
          <a:p>
            <a:r>
              <a:rPr lang="en-GB" dirty="0" b="1"/>
              <a:t>Deepen, say: </a:t>
            </a:r>
            <a:r>
              <a:rPr lang="en-GB" dirty="0"/>
              <a:t>"Leaders need mechanisms that reveal their blind spots as well as their strengths. Acknowledging difficulty deepens trust when it comes with responsibility, learning and perseverance."</a:t>
            </a:r>
          </a:p>
          <a:p>
            <a:r>
              <a:rPr lang="en-GB" dirty="0"/>
              <a:t>(Insight: A1 · I Know My Biases. Source: Journal, 14 September 2026 — Professional Insights: Leadership)</a:t>
            </a:r>
          </a:p>
          <a:p>
            <a:endParaRPr lang="en-GB" dirty="0"/>
          </a:p>
          <a:p>
            <a:r>
              <a:rPr lang="en-GB" dirty="0" b="1"/>
              <a:t>2. Read the results.</a:t>
            </a:r>
          </a:p>
          <a:p>
            <a:r>
              <a:rPr lang="en-GB" dirty="0" b="1"/>
              <a:t>Say: </a:t>
            </a:r>
            <a:r>
              <a:rPr lang="en-GB" dirty="0"/>
              <a:t>"Open the Summary tab. Your overall score and its level appear there. Read the interpretation for your level before we discuss anything."</a:t>
            </a:r>
          </a:p>
          <a:p>
            <a:r>
              <a:rPr lang="en-GB" dirty="0" b="1"/>
              <a:t>Caution: </a:t>
            </a:r>
            <a:r>
              <a:rPr lang="en-GB" dirty="0"/>
              <a:t>do not ask participants to share their overall score publicly. Say explicitly before the debrief: "The assessment is a personal diagnostic. Share only what you are comfortable sharing."</a:t>
            </a:r>
          </a:p>
          <a:p>
            <a:endParaRPr lang="en-GB" dirty="0"/>
          </a:p>
          <a:p>
            <a:r>
              <a:rPr lang="en-GB" dirty="0" b="1"/>
              <a:t>3. Debrief with three questions.</a:t>
            </a:r>
          </a:p>
          <a:p>
            <a:r>
              <a:rPr lang="en-GB" dirty="0" b="1"/>
              <a:t>Ask: </a:t>
            </a:r>
            <a:r>
              <a:rPr lang="en-GB" dirty="0"/>
              <a:t>"What did your score reveal that surprised you?"</a:t>
            </a:r>
          </a:p>
          <a:p>
            <a:r>
              <a:rPr lang="en-GB" dirty="0" b="1"/>
              <a:t>Then ask: </a:t>
            </a:r>
            <a:r>
              <a:rPr lang="en-GB" dirty="0"/>
              <a:t>"Which single area had the lowest sub-score, and what does that tell you?"</a:t>
            </a:r>
          </a:p>
          <a:p>
            <a:r>
              <a:rPr lang="en-GB" dirty="0" b="1"/>
              <a:t>And finally: </a:t>
            </a:r>
            <a:r>
              <a:rPr lang="en-GB" dirty="0"/>
              <a:t>"What is one concrete action you will take before your next strategy session based on what this assessment surfaced?"</a:t>
            </a:r>
          </a:p>
          <a:p>
            <a:r>
              <a:rPr lang="en-GB" dirty="0" b="1"/>
              <a:t>Say: </a:t>
            </a:r>
            <a:r>
              <a:rPr lang="en-GB" dirty="0"/>
              <a:t>"Self-assessment is the beginning of the work. The most useful thing you can do with this tool is to share what it surfaced with someone who observes you closely, and to let that become a real conversation."</a:t>
            </a:r>
          </a:p>
          <a:p>
            <a:endParaRPr lang="en-GB" dirty="0"/>
          </a:p>
          <a:p>
            <a:r>
              <a:rPr lang="en-GB" dirty="0" b="1"/>
              <a:t>4. Introduce the Problem Charter.</a:t>
            </a:r>
          </a:p>
          <a:p>
            <a:r>
              <a:rPr lang="en-GB" dirty="0"/>
              <a:t>Post the challenge question in the chat and read it aloud: "How can an organisation strengthen its capability to design strategy, execute it through people and performance systems, and sustain results through the appropriate organisational environment?"</a:t>
            </a:r>
          </a:p>
          <a:p>
            <a:r>
              <a:rPr lang="en-GB" dirty="0" b="1"/>
              <a:t>Say: </a:t>
            </a:r>
            <a:r>
              <a:rPr lang="en-GB" dirty="0"/>
              <a:t>"There are three ground rules. One: real experience, no confidential detail. Use your actual professional experiences as inspiration, and remove identifying and confidential details. Two: observable problems. Write about observable organisational problems, and distinguish what people have seen from what they assume causes it. Three: no solutions yet. Describe the problem; your group develops its detailed responses in the units that follow."</a:t>
            </a:r>
          </a:p>
          <a:p>
            <a:endParaRPr lang="en-GB" dirty="0"/>
          </a:p>
          <a:p>
            <a:r>
              <a:rPr lang="en-GB" dirty="0" b="1"/>
              <a:t>5. Explain the three steps.</a:t>
            </a:r>
          </a:p>
          <a:p>
            <a:r>
              <a:rPr lang="en-GB" dirty="0" b="1"/>
              <a:t>Say: </a:t>
            </a:r>
            <a:r>
              <a:rPr lang="en-GB" dirty="0"/>
              <a:t>"Step 1, create your simulated company: its name, sector or industry, approximate size and main activity or service. Record your simulated executive team: each member and the executive role assigned to them, up to ten roles, each role held by one member."</a:t>
            </a:r>
          </a:p>
          <a:p>
            <a:r>
              <a:rPr lang="en-GB" dirty="0" b="1"/>
              <a:t>Say: </a:t>
            </a:r>
            <a:r>
              <a:rPr lang="en-GB" dirty="0"/>
              <a:t>"Step 2, our shared reality: each member shares their examples. List at least four recurring challenges in each of strategy design, strategy execution and sustaining performance. Describe at least two scenarios each for the observable behaviours, management practices and organisational conditions through which the challenges manifested. Then set out the consequences for results in each of the three areas."</a:t>
            </a:r>
          </a:p>
          <a:p>
            <a:r>
              <a:rPr lang="en-GB" dirty="0" b="1"/>
              <a:t>Say: </a:t>
            </a:r>
            <a:r>
              <a:rPr lang="en-GB" dirty="0"/>
              <a:t>"Step 3, our central problem: choose, from drop-down lists of your own Step 2 challenges, the three challenges in each area your executive team will address in the programme. Then determine your central organisational problem: your group's synthesis of its shared experience across strategy design, strategy execution and sustaining performance."</a:t>
            </a:r>
          </a:p>
          <a:p>
            <a:endParaRPr lang="en-GB" dirty="0"/>
          </a:p>
          <a:p>
            <a:r>
              <a:rPr lang="en-GB" dirty="0" b="1"/>
              <a:t>6. Explain the group record.</a:t>
            </a:r>
          </a:p>
          <a:p>
            <a:r>
              <a:rPr lang="en-GB" dirty="0" b="1"/>
              <a:t>Say: </a:t>
            </a:r>
            <a:r>
              <a:rPr lang="en-GB" dirty="0"/>
              <a:t>"Your group chooses a scribe for this work. The scribe types what the group agrees, and the entries appear on every member's page. When the Charter is complete, each member reads it and selects Agree. When every member has agreed, the Charter feeds boxes 1A to 1H, Section 1 of your team's Capstone S2R® Blueprint."</a:t>
            </a:r>
          </a:p>
          <a:p>
            <a:endParaRPr lang="en-GB" dirty="0"/>
          </a:p>
          <a:p>
            <a:r>
              <a:rPr lang="en-GB" dirty="0" b="1"/>
              <a:t>7. Send the groups to work.</a:t>
            </a:r>
          </a:p>
          <a:p>
            <a:r>
              <a:rPr lang="en-GB" dirty="0"/>
              <a:t>Send the groups to their break-out rooms.</a:t>
            </a:r>
          </a:p>
          <a:p>
            <a:endParaRPr lang="en-GB" dirty="0"/>
          </a:p>
          <a:p>
            <a:r>
              <a:rPr lang="en-GB" dirty="0" b="1"/>
              <a:t>LATER, WHEN THE GROUPS DO THE WORK ON THE PORTAL:</a:t>
            </a:r>
          </a:p>
          <a:p>
            <a:r>
              <a:rPr lang="en-GB" dirty="0"/>
              <a:t>Your role is to guide how the work is completed. The Charter is Capstone work and is assessed independently at the capstone. Help groups keep to the three ground rules, choose their scribe, complete all three steps in order and reach Agree from every member.</a:t>
            </a:r>
          </a:p>
        </p:txBody>
      </p:sp>
      <p:sp>
        <p:nvSpPr>
          <p:cNvPr id="4" name="Slide Number Placeholder 3">
            <a:extLst>
              <a:ext uri="{FF2B5EF4-FFF2-40B4-BE49-F238E27FC236}">
                <a16:creationId xmlns:a16="http://schemas.microsoft.com/office/drawing/2014/main" id="{EFB66239-2E52-BDEB-6325-2DEE7B47DC36}"/>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5249078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dirty="0" b="1"/>
              <a:t>UNIT SUMMARY · RETURN TO THE OPENING QUESTION</a:t>
            </a:r>
          </a:p>
          <a:p>
            <a:endParaRPr lang="en-GB" dirty="0"/>
          </a:p>
          <a:p>
            <a:r>
              <a:rPr lang="en-GB" dirty="0" b="1"/>
              <a:t>HOW TO TEACH IT:</a:t>
            </a:r>
          </a:p>
          <a:p>
            <a:endParaRPr lang="en-GB" dirty="0"/>
          </a:p>
          <a:p>
            <a:r>
              <a:rPr lang="en-GB" dirty="0" b="1"/>
              <a:t>1. Read the summary aloud.</a:t>
            </a:r>
          </a:p>
          <a:p>
            <a:r>
              <a:rPr lang="en-GB" dirty="0"/>
              <a:t>Read the summary aloud, or ask a participant to read it. It is intentionally compact; it crystallises the arc of the unit. Do not add to it. Let it do its work.</a:t>
            </a:r>
          </a:p>
          <a:p>
            <a:r>
              <a:rPr lang="en-GB" dirty="0" b="1"/>
              <a:t>Read aloud: </a:t>
            </a:r>
            <a:r>
              <a:rPr lang="en-GB" dirty="0"/>
              <a:t>"Unit 1, Behavioural Strategy Fundamentals, establishes the psychological bedrock that underpins all strategic decision-making. It opens by defining behavioural strategy as the intersection of cognitive psychology and strategic management, making the case that strategy is a deeply human exercise shaped by invisible mental filters. The unit introduces Kahneman's dual-process framework, System 1 fast thinking and System 2 deliberate thinking, as the core framework through which leaders should understand their own judgement."</a:t>
            </a:r>
          </a:p>
          <a:p>
            <a:r>
              <a:rPr lang="en-GB" dirty="0" b="1"/>
              <a:t>Read aloud: </a:t>
            </a:r>
            <a:r>
              <a:rPr lang="en-GB" dirty="0"/>
              <a:t>"From there, it maps 20 cognitive biases across four families, Action-Oriented, Stability, Interest and Social, showing how each distorts strategic decisions in predictable, measurable ways, and what the organisational warning signs look like in practice."</a:t>
            </a:r>
          </a:p>
          <a:p>
            <a:r>
              <a:rPr lang="en-GB" dirty="0" b="1"/>
              <a:t>Read aloud: </a:t>
            </a:r>
            <a:r>
              <a:rPr lang="en-GB" dirty="0"/>
              <a:t>"The unit then traces where these biases show up across the four phases of any strategy process: Diagnosis, Option Generation, Decision and Execution, demonstrating that bias is a process vulnerability. It adds a second dimension through the emotional climate, showing how fear, ego or grounded confidence in a leadership environment either amplifies or dampens the quality of thinking."</a:t>
            </a:r>
          </a:p>
          <a:p>
            <a:r>
              <a:rPr lang="en-GB" dirty="0" b="1"/>
              <a:t>Read aloud: </a:t>
            </a:r>
            <a:r>
              <a:rPr lang="en-GB" dirty="0"/>
              <a:t>"It closes with practical intervention: six debiasing principles, three pillars for building collective intelligence, and institutional practices for embedding behavioural discipline, culminating in a self reflection bias assessment across five areas and each group's Problem Charter."</a:t>
            </a:r>
          </a:p>
          <a:p>
            <a:r>
              <a:rPr lang="en-GB" dirty="0" b="1"/>
              <a:t>Read aloud: </a:t>
            </a:r>
            <a:r>
              <a:rPr lang="en-GB" dirty="0"/>
              <a:t>"The central argument of the unit, in one line: the quality of your strategy is a direct function of the quality of the thinking environment in which it was made."</a:t>
            </a:r>
          </a:p>
          <a:p>
            <a:endParaRPr lang="en-GB" dirty="0"/>
          </a:p>
          <a:p>
            <a:r>
              <a:rPr lang="en-GB" dirty="0" b="1"/>
              <a:t>2. Return to the opening question.</a:t>
            </a:r>
          </a:p>
          <a:p>
            <a:r>
              <a:rPr lang="en-GB" dirty="0"/>
              <a:t>Ask two or three participants: "What has shifted in your understanding of how you think and make decisions as a leader?"</a:t>
            </a:r>
          </a:p>
          <a:p>
            <a:endParaRPr lang="en-GB" dirty="0"/>
          </a:p>
          <a:p>
            <a:r>
              <a:rPr lang="en-GB" dirty="0" b="1"/>
              <a:t>3. Close the room.</a:t>
            </a:r>
          </a:p>
          <a:p>
            <a:r>
              <a:rPr lang="en-GB" dirty="0"/>
              <a:t>Ask each participant to complete the sentence on the slide privately in writing: "The one thing I am taking from this unit that I intend to act on is…"</a:t>
            </a:r>
          </a:p>
          <a:p>
            <a:r>
              <a:rPr lang="en-GB" dirty="0"/>
              <a:t>Invite two or three to share voluntarily. This is the unit's final anchoring moment.</a:t>
            </a:r>
          </a:p>
          <a:p>
            <a:endParaRPr lang="en-GB" dirty="0"/>
          </a:p>
          <a:p>
            <a:r>
              <a:rPr lang="en-GB" dirty="0" b="1"/>
              <a:t>4. Bridge to Module 2.</a:t>
            </a:r>
          </a:p>
          <a:p>
            <a:r>
              <a:rPr lang="en-GB" dirty="0" b="1"/>
              <a:t>Say: </a:t>
            </a:r>
            <a:r>
              <a:rPr lang="en-GB" dirty="0"/>
              <a:t>"Each of you now knows where your judgement needs support, and each group has the challenge it will lead through every later unit. Module 2, Direction, begins with Unit 2, Strategy Visioning and Success in Practice, where each group defines the strategy of the simulated company set out in its Problem Charter. The behavioural awareness you developed here is the filter through which all the strategy work that follows should pass."</a:t>
            </a:r>
          </a:p>
          <a:p>
            <a:endParaRPr lang="en-GB" dirty="0"/>
          </a:p>
          <a:p>
            <a:r>
              <a:rPr lang="en-GB" dirty="0" b="1"/>
              <a:t>ON THE PORTAL, AFTER THE TEACHING:</a:t>
            </a:r>
          </a:p>
          <a:p>
            <a:r>
              <a:rPr lang="en-GB" dirty="0"/>
              <a:t>Participants select "Unit 1 Complete" at the end of the unit page.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16.png"/><Relationship Id="rId6" Type="http://schemas.openxmlformats.org/officeDocument/2006/relationships/image" Target="../media/image31.png"/><Relationship Id="rId7"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3.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6.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21.png"/><Relationship Id="rId7" Type="http://schemas.openxmlformats.org/officeDocument/2006/relationships/image" Target="../media/image44.png"/><Relationship Id="rId8" Type="http://schemas.openxmlformats.org/officeDocument/2006/relationships/image" Target="../media/image4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png"/><Relationship Id="rId4" Type="http://schemas.openxmlformats.org/officeDocument/2006/relationships/image" Target="../media/image46.png"/><Relationship Id="rId5" Type="http://schemas.openxmlformats.org/officeDocument/2006/relationships/image" Target="../media/image37.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4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50.png"/><Relationship Id="rId4" Type="http://schemas.openxmlformats.org/officeDocument/2006/relationships/image" Target="../media/image5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5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4.png"/><Relationship Id="rId7" Type="http://schemas.openxmlformats.org/officeDocument/2006/relationships/image" Target="../media/image5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60.png"/><Relationship Id="rId4" Type="http://schemas.openxmlformats.org/officeDocument/2006/relationships/image" Target="../media/image57.png"/><Relationship Id="rId5" Type="http://schemas.openxmlformats.org/officeDocument/2006/relationships/image" Target="../media/image61.png"/><Relationship Id="rId6" Type="http://schemas.openxmlformats.org/officeDocument/2006/relationships/image" Target="../media/image21.png"/><Relationship Id="rId7" Type="http://schemas.openxmlformats.org/officeDocument/2006/relationships/image" Target="../media/image4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image" Target="../media/image72.png"/><Relationship Id="rId7" Type="http://schemas.openxmlformats.org/officeDocument/2006/relationships/image" Target="../media/image7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7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B1C"/>
        </a:solidFill>
        <a:effectLst/>
      </p:bgPr>
    </p:bg>
    <p:spTree>
      <p:nvGrpSpPr>
        <p:cNvPr id="1" name=""/>
        <p:cNvGrpSpPr/>
        <p:nvPr/>
      </p:nvGrpSpPr>
      <p:grpSpPr>
        <a:xfrm>
          <a:off x="0" y="0"/>
          <a:ext cx="0" cy="0"/>
          <a:chOff x="0" y="0"/>
          <a:chExt cx="0" cy="0"/>
        </a:xfrm>
      </p:grpSpPr>
      <p:pic>
        <p:nvPicPr>
          <p:cNvPr id="2" name="Image 0" descr="logo.png"/>
          <p:cNvPicPr>
            <a:picLocks noChangeAspect="1"/>
          </p:cNvPicPr>
          <p:nvPr/>
        </p:nvPicPr>
        <p:blipFill>
          <a:blip r:embed="rId3"/>
          <a:stretch>
            <a:fillRect/>
          </a:stretch>
        </p:blipFill>
        <p:spPr>
          <a:xfrm>
            <a:off x="8259775" y="1325880"/>
            <a:ext cx="3108960" cy="3017520"/>
          </a:xfrm>
          <a:prstGeom prst="rect">
            <a:avLst/>
          </a:prstGeom>
        </p:spPr>
      </p:pic>
      <p:sp>
        <p:nvSpPr>
          <p:cNvPr id="3" name="Text 0"/>
          <p:cNvSpPr txBox="1"/>
          <p:nvPr/>
        </p:nvSpPr>
        <p:spPr>
          <a:xfrm>
            <a:off x="731520" y="1188720"/>
            <a:ext cx="73152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Module 1 · Foundation · Unit 1</a:t>
            </a:r>
            <a:endParaRPr lang="en-US" sz="2400" dirty="0"/>
          </a:p>
        </p:txBody>
      </p:sp>
      <p:sp>
        <p:nvSpPr>
          <p:cNvPr id="4" name="Text 1"/>
          <p:cNvSpPr txBox="1"/>
          <p:nvPr/>
        </p:nvSpPr>
        <p:spPr>
          <a:xfrm>
            <a:off x="731520" y="1783080"/>
            <a:ext cx="7223760" cy="20116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Behavioural Strategy Fundamentals</a:t>
            </a:r>
            <a:endParaRPr lang="en-US" sz="4800" dirty="0"/>
          </a:p>
        </p:txBody>
      </p:sp>
      <p:sp>
        <p:nvSpPr>
          <p:cNvPr id="5" name="Text 2"/>
          <p:cNvSpPr txBox="1"/>
          <p:nvPr/>
        </p:nvSpPr>
        <p:spPr>
          <a:xfrm>
            <a:off x="731520" y="3977640"/>
            <a:ext cx="7223760" cy="1188720"/>
          </a:xfrm>
          <a:prstGeom prst="rect">
            <a:avLst/>
          </a:prstGeom>
          <a:noFill/>
          <a:ln/>
        </p:spPr>
        <p:txBody>
          <a:bodyPr wrap="square" lIns="0" tIns="0" rIns="0" bIns="0" rtlCol="0" anchor="t"/>
          <a:lstStyle/>
          <a:p>
            <a:pPr marL="0" indent="0">
              <a:buNone/>
            </a:pPr>
            <a:r>
              <a:rPr lang="en-US" sz="2400" i="1" dirty="0">
                <a:solidFill>
                  <a:srgbClr val="DDE8DF"/>
                </a:solidFill>
                <a:latin typeface="Calibri" pitchFamily="34" charset="0"/>
                <a:ea typeface="Calibri" pitchFamily="34" charset="-122"/>
                <a:cs typeface="Calibri" pitchFamily="34" charset="-120"/>
              </a:rPr>
              <a:t>How judgement, bias and emotional climate shape the strategies organisations pursue</a:t>
            </a:r>
            <a:endParaRPr lang="en-US" sz="2400" dirty="0"/>
          </a:p>
        </p:txBody>
      </p:sp>
      <p:sp>
        <p:nvSpPr>
          <p:cNvPr id="6" name="Text 3"/>
          <p:cNvSpPr txBox="1"/>
          <p:nvPr/>
        </p:nvSpPr>
        <p:spPr>
          <a:xfrm>
            <a:off x="731520" y="5669280"/>
            <a:ext cx="7315200" cy="457200"/>
          </a:xfrm>
          <a:prstGeom prst="rect">
            <a:avLst/>
          </a:prstGeom>
          <a:noFill/>
          <a:ln/>
        </p:spPr>
        <p:txBody>
          <a:bodyPr wrap="square" lIns="0" tIns="0" rIns="0" bIns="0" rtlCol="0" anchor="t"/>
          <a:lstStyle/>
          <a:p>
            <a:pPr marL="0" indent="0">
              <a:buNone/>
            </a:pPr>
            <a:r>
              <a:rPr lang="en-US" sz="2400" dirty="0">
                <a:solidFill>
                  <a:srgbClr val="E6D3A0"/>
                </a:solidFill>
                <a:latin typeface="Calibri" pitchFamily="34" charset="0"/>
                <a:ea typeface="Calibri" pitchFamily="34" charset="-122"/>
                <a:cs typeface="Calibri" pitchFamily="34" charset="-120"/>
              </a:rPr>
              <a:t>Strategy2Results® · Facilitator deck</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Key Learning Outcomes</a:t>
            </a:r>
            <a:endParaRPr lang="en-US" sz="3600" dirty="0"/>
          </a:p>
        </p:txBody>
      </p:sp>
      <p:sp>
        <p:nvSpPr>
          <p:cNvPr id="3" name="Shape 1"/>
          <p:cNvSpPr/>
          <p:nvPr/>
        </p:nvSpPr>
        <p:spPr>
          <a:xfrm>
            <a:off x="548640" y="20040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2164080"/>
            <a:ext cx="320040" cy="320040"/>
          </a:xfrm>
          <a:prstGeom prst="rect">
            <a:avLst/>
          </a:prstGeom>
        </p:spPr>
      </p:pic>
      <p:sp>
        <p:nvSpPr>
          <p:cNvPr id="5" name="Text 2"/>
          <p:cNvSpPr txBox="1"/>
          <p:nvPr/>
        </p:nvSpPr>
        <p:spPr>
          <a:xfrm>
            <a:off x="1508760" y="1508760"/>
            <a:ext cx="10131552" cy="1630680"/>
          </a:xfrm>
          <a:prstGeom prst="rect">
            <a:avLst/>
          </a:prstGeom>
          <a:noFill/>
          <a:ln/>
        </p:spPr>
        <p:txBody>
          <a:bodyPr wrap="square" lIns="0" tIns="0" rIns="0" bIns="0" rtlCol="0" anchor="ctr"/>
          <a:lstStyle/>
          <a:p>
            <a:pPr marL="0" indent="0">
              <a:buNone/>
            </a:pPr>
            <a:r>
              <a:rPr lang="en-US" sz="2600" dirty="0">
                <a:solidFill>
                  <a:srgbClr val="1F2A22"/>
                </a:solidFill>
                <a:latin typeface="Calibri" pitchFamily="34" charset="0"/>
                <a:ea typeface="Calibri" pitchFamily="34" charset="-122"/>
                <a:cs typeface="Calibri" pitchFamily="34" charset="-120"/>
              </a:rPr>
              <a:t>Critically examine the influence of human judgement and organisational dynamics on strategic decision-making.</a:t>
            </a:r>
            <a:endParaRPr lang="en-US" sz="2600" dirty="0"/>
          </a:p>
        </p:txBody>
      </p:sp>
      <p:sp>
        <p:nvSpPr>
          <p:cNvPr id="6" name="Shape 3"/>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708660" y="3794760"/>
            <a:ext cx="320040" cy="320040"/>
          </a:xfrm>
          <a:prstGeom prst="rect">
            <a:avLst/>
          </a:prstGeom>
        </p:spPr>
      </p:pic>
      <p:sp>
        <p:nvSpPr>
          <p:cNvPr id="8" name="Text 4"/>
          <p:cNvSpPr txBox="1"/>
          <p:nvPr/>
        </p:nvSpPr>
        <p:spPr>
          <a:xfrm>
            <a:off x="1508760" y="3139440"/>
            <a:ext cx="10131552" cy="1630680"/>
          </a:xfrm>
          <a:prstGeom prst="rect">
            <a:avLst/>
          </a:prstGeom>
          <a:noFill/>
          <a:ln/>
        </p:spPr>
        <p:txBody>
          <a:bodyPr wrap="square" lIns="0" tIns="0" rIns="0" bIns="0" rtlCol="0" anchor="ctr"/>
          <a:lstStyle/>
          <a:p>
            <a:pPr marL="0" indent="0">
              <a:buNone/>
            </a:pPr>
            <a:r>
              <a:rPr lang="en-US" sz="2600" dirty="0">
                <a:solidFill>
                  <a:srgbClr val="1F2A22"/>
                </a:solidFill>
                <a:latin typeface="Calibri" pitchFamily="34" charset="0"/>
                <a:ea typeface="Calibri" pitchFamily="34" charset="-122"/>
                <a:cs typeface="Calibri" pitchFamily="34" charset="-120"/>
              </a:rPr>
              <a:t>Recognise the behavioural conditions that strengthen or weaken objectivity, decision quality and organisational performance.</a:t>
            </a:r>
            <a:endParaRPr lang="en-US" sz="2600" dirty="0"/>
          </a:p>
        </p:txBody>
      </p:sp>
      <p:sp>
        <p:nvSpPr>
          <p:cNvPr id="9" name="Shape 5"/>
          <p:cNvSpPr/>
          <p:nvPr/>
        </p:nvSpPr>
        <p:spPr>
          <a:xfrm>
            <a:off x="548640" y="526542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3"/>
          <a:stretch>
            <a:fillRect/>
          </a:stretch>
        </p:blipFill>
        <p:spPr>
          <a:xfrm>
            <a:off x="708660" y="5425440"/>
            <a:ext cx="320040" cy="320040"/>
          </a:xfrm>
          <a:prstGeom prst="rect">
            <a:avLst/>
          </a:prstGeom>
        </p:spPr>
      </p:pic>
      <p:sp>
        <p:nvSpPr>
          <p:cNvPr id="11" name="Text 6"/>
          <p:cNvSpPr txBox="1"/>
          <p:nvPr/>
        </p:nvSpPr>
        <p:spPr>
          <a:xfrm>
            <a:off x="1508760" y="4770120"/>
            <a:ext cx="10131552" cy="1630680"/>
          </a:xfrm>
          <a:prstGeom prst="rect">
            <a:avLst/>
          </a:prstGeom>
          <a:noFill/>
          <a:ln/>
        </p:spPr>
        <p:txBody>
          <a:bodyPr wrap="square" lIns="0" tIns="0" rIns="0" bIns="0" rtlCol="0" anchor="ctr"/>
          <a:lstStyle/>
          <a:p>
            <a:pPr marL="0" indent="0">
              <a:buNone/>
            </a:pPr>
            <a:r>
              <a:rPr lang="en-US" sz="2600" dirty="0">
                <a:solidFill>
                  <a:srgbClr val="1F2A22"/>
                </a:solidFill>
                <a:latin typeface="Calibri" pitchFamily="34" charset="0"/>
                <a:ea typeface="Calibri" pitchFamily="34" charset="-122"/>
                <a:cs typeface="Calibri" pitchFamily="34" charset="-120"/>
              </a:rPr>
              <a:t>Interpret strategic issues from an integrated enterprise perspective.</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The Unit Journey</a:t>
            </a:r>
            <a:endParaRPr lang="en-US" sz="3600" dirty="0"/>
          </a:p>
        </p:txBody>
      </p:sp>
      <p:sp>
        <p:nvSpPr>
          <p:cNvPr id="3" name="Shape 1"/>
          <p:cNvSpPr/>
          <p:nvPr/>
        </p:nvSpPr>
        <p:spPr>
          <a:xfrm>
            <a:off x="548640" y="1631061"/>
            <a:ext cx="570738" cy="570738"/>
          </a:xfrm>
          <a:prstGeom prst="ellipse">
            <a:avLst/>
          </a:prstGeom>
          <a:solidFill>
            <a:srgbClr val="C6A24C"/>
          </a:solidFill>
          <a:ln w="12700">
            <a:solidFill>
              <a:srgbClr val="C6A24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691325" y="1773746"/>
            <a:ext cx="285369" cy="285369"/>
          </a:xfrm>
          <a:prstGeom prst="rect">
            <a:avLst/>
          </a:prstGeom>
        </p:spPr>
      </p:pic>
      <p:sp>
        <p:nvSpPr>
          <p:cNvPr id="5" name="Text 2"/>
          <p:cNvSpPr txBox="1"/>
          <p:nvPr/>
        </p:nvSpPr>
        <p:spPr>
          <a:xfrm>
            <a:off x="1439418" y="1508760"/>
            <a:ext cx="10200894" cy="815340"/>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1 · Orientation  </a:t>
            </a:r>
            <a:r>
              <a:rPr lang="en-US" sz="2800" dirty="0">
                <a:solidFill>
                  <a:srgbClr val="1F2A22"/>
                </a:solidFill>
                <a:latin typeface="Calibri" pitchFamily="34" charset="0"/>
                <a:ea typeface="Calibri" pitchFamily="34" charset="-122"/>
                <a:cs typeface="Calibri" pitchFamily="34" charset="-120"/>
              </a:rPr>
              <a:t>— Overview</a:t>
            </a:r>
            <a:endParaRPr lang="en-US" sz="2800" dirty="0"/>
          </a:p>
        </p:txBody>
      </p:sp>
      <p:sp>
        <p:nvSpPr>
          <p:cNvPr id="6" name="Shape 3"/>
          <p:cNvSpPr/>
          <p:nvPr/>
        </p:nvSpPr>
        <p:spPr>
          <a:xfrm>
            <a:off x="548640" y="2446401"/>
            <a:ext cx="570738" cy="570738"/>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691325" y="2589085"/>
            <a:ext cx="285369" cy="285369"/>
          </a:xfrm>
          <a:prstGeom prst="rect">
            <a:avLst/>
          </a:prstGeom>
        </p:spPr>
      </p:pic>
      <p:sp>
        <p:nvSpPr>
          <p:cNvPr id="8" name="Text 4"/>
          <p:cNvSpPr txBox="1"/>
          <p:nvPr/>
        </p:nvSpPr>
        <p:spPr>
          <a:xfrm>
            <a:off x="1439418" y="2324100"/>
            <a:ext cx="10200894" cy="815340"/>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2 · Awareness  </a:t>
            </a:r>
            <a:r>
              <a:rPr lang="en-US" sz="2800" dirty="0">
                <a:solidFill>
                  <a:srgbClr val="1F2A22"/>
                </a:solidFill>
                <a:latin typeface="Calibri" pitchFamily="34" charset="0"/>
                <a:ea typeface="Calibri" pitchFamily="34" charset="-122"/>
                <a:cs typeface="Calibri" pitchFamily="34" charset="-120"/>
              </a:rPr>
              <a:t>— What</a:t>
            </a:r>
            <a:endParaRPr lang="en-US" sz="2800" dirty="0"/>
          </a:p>
        </p:txBody>
      </p:sp>
      <p:sp>
        <p:nvSpPr>
          <p:cNvPr id="9" name="Shape 5"/>
          <p:cNvSpPr/>
          <p:nvPr/>
        </p:nvSpPr>
        <p:spPr>
          <a:xfrm>
            <a:off x="548640" y="3261741"/>
            <a:ext cx="570738" cy="570738"/>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691325" y="3404425"/>
            <a:ext cx="285369" cy="285369"/>
          </a:xfrm>
          <a:prstGeom prst="rect">
            <a:avLst/>
          </a:prstGeom>
        </p:spPr>
      </p:pic>
      <p:sp>
        <p:nvSpPr>
          <p:cNvPr id="11" name="Text 6"/>
          <p:cNvSpPr txBox="1"/>
          <p:nvPr/>
        </p:nvSpPr>
        <p:spPr>
          <a:xfrm>
            <a:off x="1439418" y="3139440"/>
            <a:ext cx="10200894" cy="815340"/>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3 · Intelligence  </a:t>
            </a:r>
            <a:r>
              <a:rPr lang="en-US" sz="2800" dirty="0">
                <a:solidFill>
                  <a:srgbClr val="1F2A22"/>
                </a:solidFill>
                <a:latin typeface="Calibri" pitchFamily="34" charset="0"/>
                <a:ea typeface="Calibri" pitchFamily="34" charset="-122"/>
                <a:cs typeface="Calibri" pitchFamily="34" charset="-120"/>
              </a:rPr>
              <a:t>— Why</a:t>
            </a:r>
            <a:endParaRPr lang="en-US" sz="2800" dirty="0"/>
          </a:p>
        </p:txBody>
      </p:sp>
      <p:sp>
        <p:nvSpPr>
          <p:cNvPr id="12" name="Shape 7"/>
          <p:cNvSpPr/>
          <p:nvPr/>
        </p:nvSpPr>
        <p:spPr>
          <a:xfrm>
            <a:off x="548640" y="4077081"/>
            <a:ext cx="570738" cy="570738"/>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691325" y="4219766"/>
            <a:ext cx="285369" cy="285369"/>
          </a:xfrm>
          <a:prstGeom prst="rect">
            <a:avLst/>
          </a:prstGeom>
        </p:spPr>
      </p:pic>
      <p:sp>
        <p:nvSpPr>
          <p:cNvPr id="14" name="Text 8"/>
          <p:cNvSpPr txBox="1"/>
          <p:nvPr/>
        </p:nvSpPr>
        <p:spPr>
          <a:xfrm>
            <a:off x="1439418" y="3954780"/>
            <a:ext cx="10200894" cy="815340"/>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4 · Extrapolating  </a:t>
            </a:r>
            <a:r>
              <a:rPr lang="en-US" sz="2800" dirty="0">
                <a:solidFill>
                  <a:srgbClr val="1F2A22"/>
                </a:solidFill>
                <a:latin typeface="Calibri" pitchFamily="34" charset="0"/>
                <a:ea typeface="Calibri" pitchFamily="34" charset="-122"/>
                <a:cs typeface="Calibri" pitchFamily="34" charset="-120"/>
              </a:rPr>
              <a:t>— Where</a:t>
            </a:r>
            <a:endParaRPr lang="en-US" sz="2800" dirty="0"/>
          </a:p>
        </p:txBody>
      </p:sp>
      <p:sp>
        <p:nvSpPr>
          <p:cNvPr id="15" name="Shape 9"/>
          <p:cNvSpPr/>
          <p:nvPr/>
        </p:nvSpPr>
        <p:spPr>
          <a:xfrm>
            <a:off x="548640" y="4892421"/>
            <a:ext cx="570738" cy="570738"/>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691325" y="5035106"/>
            <a:ext cx="285369" cy="285369"/>
          </a:xfrm>
          <a:prstGeom prst="rect">
            <a:avLst/>
          </a:prstGeom>
        </p:spPr>
      </p:pic>
      <p:sp>
        <p:nvSpPr>
          <p:cNvPr id="17" name="Text 10"/>
          <p:cNvSpPr txBox="1"/>
          <p:nvPr/>
        </p:nvSpPr>
        <p:spPr>
          <a:xfrm>
            <a:off x="1439418" y="4770120"/>
            <a:ext cx="10200894" cy="815340"/>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5 · Integration  </a:t>
            </a:r>
            <a:r>
              <a:rPr lang="en-US" sz="2800" dirty="0">
                <a:solidFill>
                  <a:srgbClr val="1F2A22"/>
                </a:solidFill>
                <a:latin typeface="Calibri" pitchFamily="34" charset="0"/>
                <a:ea typeface="Calibri" pitchFamily="34" charset="-122"/>
                <a:cs typeface="Calibri" pitchFamily="34" charset="-120"/>
              </a:rPr>
              <a:t>— Collective</a:t>
            </a:r>
            <a:endParaRPr lang="en-US" sz="2800" dirty="0"/>
          </a:p>
        </p:txBody>
      </p:sp>
      <p:sp>
        <p:nvSpPr>
          <p:cNvPr id="18" name="Shape 11"/>
          <p:cNvSpPr/>
          <p:nvPr/>
        </p:nvSpPr>
        <p:spPr>
          <a:xfrm>
            <a:off x="548640" y="5707761"/>
            <a:ext cx="570738" cy="570738"/>
          </a:xfrm>
          <a:prstGeom prst="ellipse">
            <a:avLst/>
          </a:prstGeom>
          <a:solidFill>
            <a:srgbClr val="1A5C2C"/>
          </a:solidFill>
          <a:ln w="12700">
            <a:solidFill>
              <a:srgbClr val="1A5C2C"/>
            </a:solidFill>
            <a:prstDash val="solid"/>
          </a:ln>
        </p:spPr>
        <p:txBody>
          <a:bodyPr/>
          <a:lstStyle/>
          <a:p>
            <a:endParaRPr lang="en-ZA"/>
          </a:p>
        </p:txBody>
      </p:sp>
      <p:pic>
        <p:nvPicPr>
          <p:cNvPr id="19" name="Image 5" descr="preencoded.png"/>
          <p:cNvPicPr>
            <a:picLocks noChangeAspect="1"/>
          </p:cNvPicPr>
          <p:nvPr/>
        </p:nvPicPr>
        <p:blipFill>
          <a:blip r:embed="rId8"/>
          <a:stretch>
            <a:fillRect/>
          </a:stretch>
        </p:blipFill>
        <p:spPr>
          <a:xfrm>
            <a:off x="691325" y="5850445"/>
            <a:ext cx="285369" cy="285369"/>
          </a:xfrm>
          <a:prstGeom prst="rect">
            <a:avLst/>
          </a:prstGeom>
        </p:spPr>
      </p:pic>
      <p:sp>
        <p:nvSpPr>
          <p:cNvPr id="20" name="Text 12"/>
          <p:cNvSpPr txBox="1"/>
          <p:nvPr/>
        </p:nvSpPr>
        <p:spPr>
          <a:xfrm>
            <a:off x="1439418" y="5585460"/>
            <a:ext cx="10200894" cy="815340"/>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6 · Application  </a:t>
            </a:r>
            <a:r>
              <a:rPr lang="en-US" sz="2800" dirty="0">
                <a:solidFill>
                  <a:srgbClr val="1F2A22"/>
                </a:solidFill>
                <a:latin typeface="Calibri" pitchFamily="34" charset="0"/>
                <a:ea typeface="Calibri" pitchFamily="34" charset="-122"/>
                <a:cs typeface="Calibri" pitchFamily="34" charset="-120"/>
              </a:rPr>
              <a:t>— In Practice</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1</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1</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Orientation — Overview</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Your starting point in the S2R® journey</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Recognise how human judgement shapes the way your team debates, decides and sets organisational direction.</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Articulate a personal learning intention anchored in a current leadership or strategic challenge.</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Research Statistics</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GB" sz="3600" i="1" dirty="0">
                <a:solidFill>
                  <a:srgbClr val="FFFFFF"/>
                </a:solidFill>
                <a:latin typeface="Cambria" pitchFamily="34" charset="0"/>
                <a:ea typeface="Cambria" pitchFamily="34" charset="-122"/>
                <a:cs typeface="Cambria" pitchFamily="34" charset="-120"/>
              </a:rPr>
              <a:t>Research consistently shows that 60–90% of strategies fail in delivery. </a:t>
            </a:r>
          </a:p>
          <a:p>
            <a:pPr marL="0" indent="0">
              <a:buNone/>
            </a:pPr>
            <a:r>
              <a:rPr lang="en-GB" sz="3600" i="1" dirty="0">
                <a:solidFill>
                  <a:srgbClr val="FFFFFF"/>
                </a:solidFill>
                <a:latin typeface="Cambria" pitchFamily="34" charset="0"/>
                <a:ea typeface="Cambria" pitchFamily="34" charset="-122"/>
                <a:cs typeface="Cambria" pitchFamily="34" charset="-120"/>
              </a:rPr>
              <a:t>The causes are </a:t>
            </a:r>
          </a:p>
          <a:p>
            <a:pPr marL="857250" indent="-857250">
              <a:buFont typeface="+mj-lt"/>
              <a:buAutoNum type="romanUcPeriod"/>
            </a:pPr>
            <a:r>
              <a:rPr lang="en-GB" sz="3600" i="1" dirty="0">
                <a:solidFill>
                  <a:srgbClr val="FFFFFF"/>
                </a:solidFill>
                <a:latin typeface="Cambria" pitchFamily="34" charset="0"/>
                <a:ea typeface="Cambria" pitchFamily="34" charset="-122"/>
                <a:cs typeface="Cambria" pitchFamily="34" charset="-120"/>
              </a:rPr>
              <a:t>Direction Failure</a:t>
            </a:r>
          </a:p>
          <a:p>
            <a:pPr marL="857250" indent="-857250">
              <a:buFont typeface="+mj-lt"/>
              <a:buAutoNum type="romanUcPeriod"/>
            </a:pPr>
            <a:r>
              <a:rPr lang="en-GB" sz="3600" i="1" dirty="0">
                <a:solidFill>
                  <a:srgbClr val="FFFFFF"/>
                </a:solidFill>
                <a:latin typeface="Cambria" pitchFamily="34" charset="0"/>
                <a:ea typeface="Cambria" pitchFamily="34" charset="-122"/>
                <a:cs typeface="Cambria" pitchFamily="34" charset="-120"/>
              </a:rPr>
              <a:t>Influence Failure</a:t>
            </a:r>
          </a:p>
          <a:p>
            <a:pPr marL="857250" indent="-857250">
              <a:buFont typeface="+mj-lt"/>
              <a:buAutoNum type="romanUcPeriod"/>
            </a:pPr>
            <a:r>
              <a:rPr lang="en-GB" sz="3600" i="1" dirty="0">
                <a:solidFill>
                  <a:srgbClr val="FFFFFF"/>
                </a:solidFill>
                <a:latin typeface="Cambria" pitchFamily="34" charset="0"/>
                <a:ea typeface="Cambria" pitchFamily="34" charset="-122"/>
                <a:cs typeface="Cambria" pitchFamily="34" charset="-120"/>
              </a:rPr>
              <a:t>Grounding Failure</a:t>
            </a:r>
          </a:p>
        </p:txBody>
      </p:sp>
      <p:pic>
        <p:nvPicPr>
          <p:cNvPr id="7" name="Graphic 6" descr="Books with solid fill">
            <a:extLst>
              <a:ext uri="{FF2B5EF4-FFF2-40B4-BE49-F238E27FC236}">
                <a16:creationId xmlns:a16="http://schemas.microsoft.com/office/drawing/2014/main" id="{B2DE2A23-E0D3-DBAE-C68B-DFC9A28958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2960" y="1143000"/>
            <a:ext cx="914400" cy="914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47DE49-5475-C0EF-A2CA-74CB90F110C5}"/>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5CB0AB8E-AE32-09DA-C9AF-23B61595588D}"/>
              </a:ext>
            </a:extLst>
          </p:cNvPr>
          <p:cNvSpPr txBox="1"/>
          <p:nvPr/>
        </p:nvSpPr>
        <p:spPr>
          <a:xfrm>
            <a:off x="641180" y="417576"/>
            <a:ext cx="10909640" cy="1249394"/>
          </a:xfrm>
          <a:prstGeom prst="rect">
            <a:avLst/>
          </a:prstGeom>
        </p:spPr>
        <p:txBody>
          <a:bodyPr vert="horz" lIns="91440" tIns="45720" rIns="91440" bIns="45720" rtlCol="0" anchor="ctr">
            <a:normAutofit/>
          </a:bodyPr>
          <a:lstStyle/>
          <a:p>
            <a:pPr marL="0" indent="0" algn="ctr">
              <a:lnSpc>
                <a:spcPct val="90000"/>
              </a:lnSpc>
              <a:spcBef>
                <a:spcPct val="0"/>
              </a:spcBef>
              <a:spcAft>
                <a:spcPts val="600"/>
              </a:spcAft>
            </a:pPr>
            <a:r>
              <a:rPr lang="en-US" sz="6600" b="1" kern="1200" dirty="0">
                <a:solidFill>
                  <a:schemeClr val="tx1"/>
                </a:solidFill>
                <a:latin typeface="+mj-lt"/>
                <a:ea typeface="+mj-ea"/>
                <a:cs typeface="+mj-cs"/>
              </a:rPr>
              <a:t>Section 1 Reflections</a:t>
            </a:r>
            <a:endParaRPr lang="en-US" sz="6600" kern="1200" dirty="0">
              <a:solidFill>
                <a:schemeClr val="tx1"/>
              </a:solidFill>
              <a:latin typeface="+mj-lt"/>
              <a:ea typeface="+mj-ea"/>
              <a:cs typeface="+mj-cs"/>
            </a:endParaRPr>
          </a:p>
        </p:txBody>
      </p:sp>
      <p:sp>
        <p:nvSpPr>
          <p:cNvPr id="29"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D7A46D10-128A-4FBE-DA7A-D7C2F67589F7}"/>
              </a:ext>
            </a:extLst>
          </p:cNvPr>
          <p:cNvPicPr>
            <a:picLocks noChangeAspect="1"/>
          </p:cNvPicPr>
          <p:nvPr/>
        </p:nvPicPr>
        <p:blipFill>
          <a:blip r:embed="rId3"/>
          <a:stretch>
            <a:fillRect/>
          </a:stretch>
        </p:blipFill>
        <p:spPr>
          <a:xfrm>
            <a:off x="1230163" y="2081736"/>
            <a:ext cx="10559807" cy="1425575"/>
          </a:xfrm>
          <a:prstGeom prst="rect">
            <a:avLst/>
          </a:prstGeom>
        </p:spPr>
      </p:pic>
    </p:spTree>
    <p:extLst>
      <p:ext uri="{BB962C8B-B14F-4D97-AF65-F5344CB8AC3E}">
        <p14:creationId xmlns:p14="http://schemas.microsoft.com/office/powerpoint/2010/main" val="2101915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2</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2</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Awareness — What</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The foundations — Sections 2.1 to 2.4</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Recognise how intuitive thinking, functional expertise and cognitive bias shape strategic judgement.</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Identify the patterns of bias most active in your leadership team, your team members and your organisation.</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sp>
        <p:nvSpPr>
          <p:cNvPr id="4" name="Text 1"/>
          <p:cNvSpPr txBox="1"/>
          <p:nvPr/>
        </p:nvSpPr>
        <p:spPr>
          <a:xfrm>
            <a:off x="2103120" y="1311812"/>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Starting with the person in the mirror</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When you make a strategic decision, how much of it do you believe is purely rational?</a:t>
            </a:r>
            <a:endParaRPr lang="en-US" sz="3600" dirty="0"/>
          </a:p>
        </p:txBody>
      </p:sp>
      <p:pic>
        <p:nvPicPr>
          <p:cNvPr id="7" name="Picture 6">
            <a:extLst>
              <a:ext uri="{FF2B5EF4-FFF2-40B4-BE49-F238E27FC236}">
                <a16:creationId xmlns:a16="http://schemas.microsoft.com/office/drawing/2014/main" id="{90A13A83-C5E5-DAC9-93E2-DCC8EBEF51EC}"/>
              </a:ext>
            </a:extLst>
          </p:cNvPr>
          <p:cNvPicPr>
            <a:picLocks noChangeAspect="1"/>
          </p:cNvPicPr>
          <p:nvPr/>
        </p:nvPicPr>
        <p:blipFill>
          <a:blip r:embed="rId3">
            <a:duotone>
              <a:prstClr val="black"/>
              <a:schemeClr val="tx1">
                <a:tint val="45000"/>
                <a:satMod val="400000"/>
              </a:schemeClr>
            </a:duotone>
            <a:extLst>
              <a:ext uri="{BEBA8EAE-BF5A-486C-A8C5-ECC9F3942E4B}">
                <a14:imgProps xmlns:a14="http://schemas.microsoft.com/office/drawing/2010/main">
                  <a14:imgLayer r:embed="rId4">
                    <a14:imgEffect>
                      <a14:brightnessContrast bright="-40000" contrast="-20000"/>
                    </a14:imgEffect>
                  </a14:imgLayer>
                </a14:imgProps>
              </a:ext>
            </a:extLst>
          </a:blip>
          <a:srcRect l="14322" t="8503" r="16613" b="11690"/>
          <a:stretch>
            <a:fillRect/>
          </a:stretch>
        </p:blipFill>
        <p:spPr>
          <a:xfrm flipH="1">
            <a:off x="916812" y="1217314"/>
            <a:ext cx="726696" cy="8290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2.1a · Defining Behavioural Strategy</a:t>
            </a:r>
            <a:endParaRPr lang="en-US" sz="3600" dirty="0"/>
          </a:p>
        </p:txBody>
      </p:sp>
      <p:sp>
        <p:nvSpPr>
          <p:cNvPr id="3" name="Shape 1"/>
          <p:cNvSpPr/>
          <p:nvPr/>
        </p:nvSpPr>
        <p:spPr>
          <a:xfrm>
            <a:off x="548640" y="1508760"/>
            <a:ext cx="3931920" cy="3611880"/>
          </a:xfrm>
          <a:prstGeom prst="roundRect">
            <a:avLst>
              <a:gd name="adj" fmla="val 2326"/>
            </a:avLst>
          </a:prstGeom>
          <a:solidFill>
            <a:srgbClr val="EEF4EF"/>
          </a:solidFill>
          <a:ln w="12700">
            <a:solidFill>
              <a:srgbClr val="EEF4EF"/>
            </a:solidFill>
            <a:prstDash val="solid"/>
          </a:ln>
        </p:spPr>
        <p:txBody>
          <a:bodyPr/>
          <a:lstStyle/>
          <a:p>
            <a:endParaRPr lang="en-ZA"/>
          </a:p>
        </p:txBody>
      </p:sp>
      <p:sp>
        <p:nvSpPr>
          <p:cNvPr id="4" name="Text 2"/>
          <p:cNvSpPr txBox="1"/>
          <p:nvPr/>
        </p:nvSpPr>
        <p:spPr>
          <a:xfrm>
            <a:off x="822960" y="1783080"/>
            <a:ext cx="3474720" cy="457200"/>
          </a:xfrm>
          <a:prstGeom prst="rect">
            <a:avLst/>
          </a:prstGeom>
          <a:noFill/>
          <a:ln/>
        </p:spPr>
        <p:txBody>
          <a:bodyPr wrap="square" lIns="0" tIns="0" rIns="0" bIns="0" rtlCol="0" anchor="t"/>
          <a:lstStyle/>
          <a:p>
            <a:pPr marL="0" indent="0">
              <a:buNone/>
            </a:pPr>
            <a:r>
              <a:rPr lang="en-US" sz="2400" b="1" dirty="0">
                <a:solidFill>
                  <a:srgbClr val="4E5E53"/>
                </a:solidFill>
                <a:latin typeface="Calibri" pitchFamily="34" charset="0"/>
                <a:ea typeface="Calibri" pitchFamily="34" charset="-122"/>
                <a:cs typeface="Calibri" pitchFamily="34" charset="-120"/>
              </a:rPr>
              <a:t>Traditional strategy asks</a:t>
            </a:r>
            <a:endParaRPr lang="en-US" sz="2400" dirty="0"/>
          </a:p>
        </p:txBody>
      </p:sp>
      <p:sp>
        <p:nvSpPr>
          <p:cNvPr id="5" name="Text 3"/>
          <p:cNvSpPr txBox="1"/>
          <p:nvPr/>
        </p:nvSpPr>
        <p:spPr>
          <a:xfrm>
            <a:off x="822960" y="2468880"/>
            <a:ext cx="3474720" cy="2651760"/>
          </a:xfrm>
          <a:prstGeom prst="rect">
            <a:avLst/>
          </a:prstGeom>
          <a:noFill/>
          <a:ln/>
        </p:spPr>
        <p:txBody>
          <a:bodyPr wrap="square" lIns="0" tIns="0" rIns="0" bIns="0" rtlCol="0" anchor="ctr"/>
          <a:lstStyle/>
          <a:p>
            <a:pPr marL="0" indent="0">
              <a:buNone/>
            </a:pPr>
            <a:r>
              <a:rPr lang="en-US" sz="4000" b="1" dirty="0">
                <a:solidFill>
                  <a:srgbClr val="1A5C2C"/>
                </a:solidFill>
                <a:latin typeface="Cambria" pitchFamily="34" charset="0"/>
                <a:ea typeface="Cambria" pitchFamily="34" charset="-122"/>
                <a:cs typeface="Cambria" pitchFamily="34" charset="-120"/>
              </a:rPr>
              <a:t>What should we do?</a:t>
            </a:r>
            <a:endParaRPr lang="en-US" sz="4000" dirty="0"/>
          </a:p>
        </p:txBody>
      </p:sp>
      <p:sp>
        <p:nvSpPr>
          <p:cNvPr id="6" name="Shape 4"/>
          <p:cNvSpPr/>
          <p:nvPr/>
        </p:nvSpPr>
        <p:spPr>
          <a:xfrm>
            <a:off x="4754880" y="1508760"/>
            <a:ext cx="6885432" cy="3611880"/>
          </a:xfrm>
          <a:prstGeom prst="roundRect">
            <a:avLst>
              <a:gd name="adj" fmla="val 1887"/>
            </a:avLst>
          </a:prstGeom>
          <a:solidFill>
            <a:srgbClr val="1A5C2C"/>
          </a:solidFill>
          <a:ln w="12700">
            <a:solidFill>
              <a:srgbClr val="1A5C2C"/>
            </a:solidFill>
            <a:prstDash val="solid"/>
          </a:ln>
        </p:spPr>
        <p:txBody>
          <a:bodyPr/>
          <a:lstStyle/>
          <a:p>
            <a:endParaRPr lang="en-ZA"/>
          </a:p>
        </p:txBody>
      </p:sp>
      <p:sp>
        <p:nvSpPr>
          <p:cNvPr id="7" name="Text 5"/>
          <p:cNvSpPr txBox="1"/>
          <p:nvPr/>
        </p:nvSpPr>
        <p:spPr>
          <a:xfrm>
            <a:off x="5029200" y="1783080"/>
            <a:ext cx="64008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Behavioural strategy asks first</a:t>
            </a:r>
            <a:endParaRPr lang="en-US" sz="2400" dirty="0"/>
          </a:p>
        </p:txBody>
      </p:sp>
      <p:sp>
        <p:nvSpPr>
          <p:cNvPr id="8" name="Text 6"/>
          <p:cNvSpPr txBox="1"/>
          <p:nvPr/>
        </p:nvSpPr>
        <p:spPr>
          <a:xfrm>
            <a:off x="5029200" y="2468880"/>
            <a:ext cx="6400800" cy="2651760"/>
          </a:xfrm>
          <a:prstGeom prst="rect">
            <a:avLst/>
          </a:prstGeom>
          <a:noFill/>
          <a:ln/>
        </p:spPr>
        <p:txBody>
          <a:bodyPr wrap="square" lIns="0" tIns="0" rIns="0" bIns="0" rtlCol="0" anchor="ctr"/>
          <a:lstStyle/>
          <a:p>
            <a:pPr marL="0" indent="0">
              <a:buNone/>
            </a:pPr>
            <a:r>
              <a:rPr lang="en-US" sz="3600" i="1" dirty="0">
                <a:solidFill>
                  <a:srgbClr val="FFFFFF"/>
                </a:solidFill>
                <a:latin typeface="Cambria" pitchFamily="34" charset="0"/>
                <a:ea typeface="Cambria" pitchFamily="34" charset="-122"/>
                <a:cs typeface="Cambria" pitchFamily="34" charset="-120"/>
              </a:rPr>
              <a:t>How does the way we think shape what we believe we should do — </a:t>
            </a:r>
            <a:r>
              <a:rPr lang="en-GB" sz="3600" i="1" dirty="0">
                <a:solidFill>
                  <a:srgbClr val="FFFFFF"/>
                </a:solidFill>
                <a:latin typeface="Cambria" pitchFamily="34" charset="0"/>
                <a:ea typeface="Cambria" pitchFamily="34" charset="-122"/>
                <a:cs typeface="Cambria" pitchFamily="34" charset="-120"/>
              </a:rPr>
              <a:t>and what will shape how people respond and act?</a:t>
            </a:r>
            <a:endParaRPr lang="en-US" sz="3600" dirty="0"/>
          </a:p>
        </p:txBody>
      </p:sp>
      <p:sp>
        <p:nvSpPr>
          <p:cNvPr id="10" name="TextBox 9">
            <a:extLst>
              <a:ext uri="{FF2B5EF4-FFF2-40B4-BE49-F238E27FC236}">
                <a16:creationId xmlns:a16="http://schemas.microsoft.com/office/drawing/2014/main" id="{53A06713-C679-9289-D122-075BDE215EE9}"/>
              </a:ext>
            </a:extLst>
          </p:cNvPr>
          <p:cNvSpPr txBox="1"/>
          <p:nvPr/>
        </p:nvSpPr>
        <p:spPr>
          <a:xfrm>
            <a:off x="548640" y="5303520"/>
            <a:ext cx="11091672" cy="1325880"/>
          </a:xfrm>
          <a:prstGeom prst="rect">
            <a:avLst/>
          </a:prstGeom>
          <a:noFill/>
        </p:spPr>
        <p:txBody>
          <a:bodyPr wrap="square"/>
          <a:lstStyle/>
          <a:p>
            <a:r>
              <a:rPr lang="en-ZA" sz="2800" dirty="0">
                <a:solidFill>
                  <a:schemeClr val="tx1">
                    <a:lumMod val="85000"/>
                    <a:lumOff val="15000"/>
                  </a:schemeClr>
                </a:solidFill>
                <a:latin typeface="Aptos Display" panose="020B0004020202020204" pitchFamily="34" charset="0"/>
              </a:rPr>
              <a:t>Behavioural strategy is the application of behavioural science to understand and improve how people think, decide and behave in the process of strategy.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2.1b · Three Phrases That Carry The Idea</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“How We Think”</a:t>
            </a:r>
            <a:endParaRPr lang="en-US" sz="2600" dirty="0"/>
          </a:p>
        </p:txBody>
      </p:sp>
      <p:sp>
        <p:nvSpPr>
          <p:cNvPr id="7" name="Text 4"/>
          <p:cNvSpPr txBox="1"/>
          <p:nvPr/>
        </p:nvSpPr>
        <p:spPr>
          <a:xfrm>
            <a:off x="777240" y="3575303"/>
            <a:ext cx="3057144" cy="1174313"/>
          </a:xfrm>
          <a:prstGeom prst="rect">
            <a:avLst/>
          </a:prstGeom>
          <a:noFill/>
          <a:ln/>
        </p:spPr>
        <p:txBody>
          <a:bodyPr wrap="square" lIns="0" tIns="0" rIns="0" bIns="0" rtlCol="0" anchor="t"/>
          <a:lstStyle/>
          <a:p>
            <a:r>
              <a:rPr lang="en-ZA" sz="2400" dirty="0"/>
              <a:t>How are we thinking about what we are seeing or doing?</a:t>
            </a:r>
            <a:endParaRPr lang="en-GB" sz="2400" dirty="0">
              <a:solidFill>
                <a:srgbClr val="1F2A22"/>
              </a:solidFill>
              <a:latin typeface="Calibri" pitchFamily="34" charset="0"/>
              <a:ea typeface="Calibri" pitchFamily="34" charset="-122"/>
              <a:cs typeface="Calibri" pitchFamily="34" charset="-120"/>
            </a:endParaRPr>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“How We Decide”</a:t>
            </a:r>
            <a:endParaRPr lang="en-US" sz="2600" dirty="0"/>
          </a:p>
        </p:txBody>
      </p:sp>
      <p:sp>
        <p:nvSpPr>
          <p:cNvPr id="12" name="Text 8"/>
          <p:cNvSpPr txBox="1"/>
          <p:nvPr/>
        </p:nvSpPr>
        <p:spPr>
          <a:xfrm>
            <a:off x="4565904" y="3575304"/>
            <a:ext cx="3057144" cy="1728216"/>
          </a:xfrm>
          <a:prstGeom prst="rect">
            <a:avLst/>
          </a:prstGeom>
          <a:noFill/>
          <a:ln/>
        </p:spPr>
        <p:txBody>
          <a:bodyPr wrap="square" lIns="0" tIns="0" rIns="0" bIns="0" rtlCol="0" anchor="t"/>
          <a:lstStyle/>
          <a:p>
            <a:r>
              <a:rPr lang="en-ZA" sz="2400" dirty="0"/>
              <a:t>What is shaping the choices and commitments we are making?</a:t>
            </a:r>
          </a:p>
        </p:txBody>
      </p:sp>
      <p:sp>
        <p:nvSpPr>
          <p:cNvPr id="13" name="Shape 9"/>
          <p:cNvSpPr/>
          <p:nvPr/>
        </p:nvSpPr>
        <p:spPr>
          <a:xfrm>
            <a:off x="8125968"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“How We Behave”</a:t>
            </a:r>
            <a:endParaRPr lang="en-US" sz="2600" dirty="0"/>
          </a:p>
        </p:txBody>
      </p:sp>
      <p:sp>
        <p:nvSpPr>
          <p:cNvPr id="17" name="Text 12"/>
          <p:cNvSpPr txBox="1"/>
          <p:nvPr/>
        </p:nvSpPr>
        <p:spPr>
          <a:xfrm>
            <a:off x="8354568" y="3575304"/>
            <a:ext cx="3057144" cy="1728216"/>
          </a:xfrm>
          <a:prstGeom prst="rect">
            <a:avLst/>
          </a:prstGeom>
          <a:noFill/>
          <a:ln/>
        </p:spPr>
        <p:txBody>
          <a:bodyPr wrap="square" lIns="0" tIns="0" rIns="0" bIns="0" rtlCol="0" anchor="t"/>
          <a:lstStyle/>
          <a:p>
            <a:r>
              <a:rPr lang="en-ZA" sz="2400" dirty="0"/>
              <a:t>Are our behaviours actually carrying our commitments through to the intended outcomes?</a:t>
            </a:r>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GB" sz="2400" i="1" dirty="0">
                <a:solidFill>
                  <a:srgbClr val="FFFFFF"/>
                </a:solidFill>
                <a:latin typeface="Calibri" pitchFamily="34" charset="0"/>
                <a:ea typeface="Calibri" pitchFamily="34" charset="-122"/>
                <a:cs typeface="Calibri" pitchFamily="34" charset="-120"/>
              </a:rPr>
              <a:t>If we do not understand what shapes how we think, decide and behave, we cannot know whether we are moving towards or away from our intended outcomes!</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2.2 · Two Systems Of Thinking</a:t>
            </a:r>
            <a:endParaRPr lang="en-US" sz="3600" dirty="0"/>
          </a:p>
        </p:txBody>
      </p:sp>
      <p:sp>
        <p:nvSpPr>
          <p:cNvPr id="3" name="Shape 1"/>
          <p:cNvSpPr/>
          <p:nvPr/>
        </p:nvSpPr>
        <p:spPr>
          <a:xfrm>
            <a:off x="548640" y="1508760"/>
            <a:ext cx="5394960" cy="3931920"/>
          </a:xfrm>
          <a:prstGeom prst="roundRect">
            <a:avLst>
              <a:gd name="adj" fmla="val 2326"/>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System 1</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marL="0" indent="0">
              <a:buNone/>
            </a:pPr>
            <a:r>
              <a:rPr lang="en-US" sz="2400" i="1" dirty="0">
                <a:solidFill>
                  <a:srgbClr val="4E5E53"/>
                </a:solidFill>
                <a:latin typeface="Calibri" pitchFamily="34" charset="0"/>
                <a:ea typeface="Calibri" pitchFamily="34" charset="-122"/>
                <a:cs typeface="Calibri" pitchFamily="34" charset="-120"/>
              </a:rPr>
              <a:t>Fast, automatic, intuitive</a:t>
            </a:r>
            <a:endParaRPr lang="en-US" sz="2400" dirty="0"/>
          </a:p>
        </p:txBody>
      </p:sp>
      <p:sp>
        <p:nvSpPr>
          <p:cNvPr id="8" name="Text 5"/>
          <p:cNvSpPr txBox="1"/>
          <p:nvPr/>
        </p:nvSpPr>
        <p:spPr>
          <a:xfrm>
            <a:off x="868680" y="2834640"/>
            <a:ext cx="4846320" cy="25146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Operates below conscious awareness</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Produces rapid, confident judgements</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Vulnerable to cognitive biases</a:t>
            </a:r>
            <a:endParaRPr lang="en-US" sz="2400" dirty="0"/>
          </a:p>
        </p:txBody>
      </p:sp>
      <p:sp>
        <p:nvSpPr>
          <p:cNvPr id="9" name="Shape 6"/>
          <p:cNvSpPr/>
          <p:nvPr/>
        </p:nvSpPr>
        <p:spPr>
          <a:xfrm>
            <a:off x="6245352" y="1508760"/>
            <a:ext cx="5394960" cy="3931920"/>
          </a:xfrm>
          <a:prstGeom prst="roundRect">
            <a:avLst>
              <a:gd name="adj" fmla="val 2326"/>
            </a:avLst>
          </a:prstGeom>
          <a:solidFill>
            <a:srgbClr val="1A5C2C"/>
          </a:solidFill>
          <a:ln w="12700">
            <a:solidFill>
              <a:srgbClr val="1A5C2C"/>
            </a:solidFill>
            <a:prstDash val="solid"/>
          </a:ln>
        </p:spPr>
        <p:txBody>
          <a:bodyPr/>
          <a:lstStyle/>
          <a:p>
            <a:endParaRPr lang="en-ZA"/>
          </a:p>
        </p:txBody>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4"/>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System 2</a:t>
            </a:r>
            <a:endParaRPr lang="en-US" sz="2800" dirty="0"/>
          </a:p>
        </p:txBody>
      </p:sp>
      <p:sp>
        <p:nvSpPr>
          <p:cNvPr id="13" name="Text 9"/>
          <p:cNvSpPr txBox="1"/>
          <p:nvPr/>
        </p:nvSpPr>
        <p:spPr>
          <a:xfrm>
            <a:off x="7434072" y="2194560"/>
            <a:ext cx="4069080" cy="457200"/>
          </a:xfrm>
          <a:prstGeom prst="rect">
            <a:avLst/>
          </a:prstGeom>
          <a:noFill/>
          <a:ln/>
        </p:spPr>
        <p:txBody>
          <a:bodyPr wrap="square" lIns="0" tIns="0" rIns="0" bIns="0" rtlCol="0" anchor="t"/>
          <a:lstStyle/>
          <a:p>
            <a:pPr marL="0" indent="0">
              <a:buNone/>
            </a:pPr>
            <a:r>
              <a:rPr lang="en-US" sz="2400" i="1" dirty="0">
                <a:solidFill>
                  <a:srgbClr val="E6D3A0"/>
                </a:solidFill>
                <a:latin typeface="Calibri" pitchFamily="34" charset="0"/>
                <a:ea typeface="Calibri" pitchFamily="34" charset="-122"/>
                <a:cs typeface="Calibri" pitchFamily="34" charset="-120"/>
              </a:rPr>
              <a:t>Slow, deliberate, analytical</a:t>
            </a:r>
            <a:endParaRPr lang="en-US" sz="2400" dirty="0"/>
          </a:p>
        </p:txBody>
      </p:sp>
      <p:sp>
        <p:nvSpPr>
          <p:cNvPr id="14" name="Text 10"/>
          <p:cNvSpPr txBox="1"/>
          <p:nvPr/>
        </p:nvSpPr>
        <p:spPr>
          <a:xfrm>
            <a:off x="6565392" y="2834640"/>
            <a:ext cx="4846320" cy="25146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Weighs options and trade-offs</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More reliable for complex problems</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Requires psychological safety to activate</a:t>
            </a:r>
            <a:endParaRPr lang="en-US" sz="2400" dirty="0"/>
          </a:p>
        </p:txBody>
      </p:sp>
      <p:sp>
        <p:nvSpPr>
          <p:cNvPr id="15" name="Shape 11"/>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2"/>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Know when System 2 is needed, and create the conditions for it to activate.</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2.3 · Functional Bias - The Elephant Perspective</a:t>
            </a:r>
            <a:endParaRPr lang="en-US" sz="3600" dirty="0"/>
          </a:p>
        </p:txBody>
      </p:sp>
      <p:sp>
        <p:nvSpPr>
          <p:cNvPr id="3" name="Shape 1"/>
          <p:cNvSpPr/>
          <p:nvPr/>
        </p:nvSpPr>
        <p:spPr>
          <a:xfrm>
            <a:off x="548640" y="1508760"/>
            <a:ext cx="3840480" cy="4142100"/>
          </a:xfrm>
          <a:prstGeom prst="roundRect">
            <a:avLst>
              <a:gd name="adj" fmla="val 2381"/>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1097280" y="2194560"/>
            <a:ext cx="2743200" cy="274320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1783080" y="2880360"/>
            <a:ext cx="1371600" cy="1371600"/>
          </a:xfrm>
          <a:prstGeom prst="rect">
            <a:avLst/>
          </a:prstGeom>
        </p:spPr>
      </p:pic>
      <p:sp>
        <p:nvSpPr>
          <p:cNvPr id="6" name="Text 3"/>
          <p:cNvSpPr txBox="1"/>
          <p:nvPr/>
        </p:nvSpPr>
        <p:spPr>
          <a:xfrm>
            <a:off x="731520" y="5257800"/>
            <a:ext cx="3474720" cy="548640"/>
          </a:xfrm>
          <a:prstGeom prst="rect">
            <a:avLst/>
          </a:prstGeom>
          <a:noFill/>
          <a:ln/>
        </p:spPr>
        <p:txBody>
          <a:bodyPr wrap="square" lIns="0" tIns="0" rIns="0" bIns="0" rtlCol="0" anchor="t"/>
          <a:lstStyle/>
          <a:p>
            <a:pPr marL="0" indent="0" algn="ctr">
              <a:buNone/>
            </a:pPr>
            <a:r>
              <a:rPr lang="en-US" sz="2400" b="1" dirty="0">
                <a:solidFill>
                  <a:srgbClr val="1A5C2C"/>
                </a:solidFill>
                <a:latin typeface="Calibri" pitchFamily="34" charset="0"/>
                <a:ea typeface="Calibri" pitchFamily="34" charset="-122"/>
                <a:cs typeface="Calibri" pitchFamily="34" charset="-120"/>
              </a:rPr>
              <a:t>Six men, one elephant</a:t>
            </a:r>
            <a:endParaRPr lang="en-US" sz="2400" dirty="0"/>
          </a:p>
        </p:txBody>
      </p:sp>
      <p:sp>
        <p:nvSpPr>
          <p:cNvPr id="7" name="Shape 4"/>
          <p:cNvSpPr/>
          <p:nvPr/>
        </p:nvSpPr>
        <p:spPr>
          <a:xfrm>
            <a:off x="4663440" y="1508760"/>
            <a:ext cx="3383280" cy="777240"/>
          </a:xfrm>
          <a:prstGeom prst="roundRect">
            <a:avLst>
              <a:gd name="adj" fmla="val 11765"/>
            </a:avLst>
          </a:prstGeom>
          <a:solidFill>
            <a:srgbClr val="EEF4EF"/>
          </a:solidFill>
          <a:ln w="12700">
            <a:solidFill>
              <a:srgbClr val="EEF4EF"/>
            </a:solidFill>
            <a:prstDash val="solid"/>
          </a:ln>
        </p:spPr>
        <p:txBody>
          <a:bodyPr/>
          <a:lstStyle/>
          <a:p>
            <a:endParaRPr lang="en-ZA"/>
          </a:p>
        </p:txBody>
      </p:sp>
      <p:sp>
        <p:nvSpPr>
          <p:cNvPr id="8" name="Text 5"/>
          <p:cNvSpPr txBox="1"/>
          <p:nvPr/>
        </p:nvSpPr>
        <p:spPr>
          <a:xfrm>
            <a:off x="4892040" y="1508760"/>
            <a:ext cx="3017520" cy="777240"/>
          </a:xfrm>
          <a:prstGeom prst="rect">
            <a:avLst/>
          </a:prstGeom>
          <a:noFill/>
          <a:ln/>
        </p:spPr>
        <p:txBody>
          <a:bodyPr wrap="square" lIns="0" tIns="0" rIns="0" bIns="0" rtlCol="0" anchor="ctr"/>
          <a:lstStyle/>
          <a:p>
            <a:pPr marL="0" indent="0">
              <a:buNone/>
            </a:pPr>
            <a:r>
              <a:rPr lang="en-US" sz="2600" b="1" dirty="0">
                <a:solidFill>
                  <a:srgbClr val="1A5C2C"/>
                </a:solidFill>
                <a:latin typeface="Calibri" pitchFamily="34" charset="0"/>
                <a:ea typeface="Calibri" pitchFamily="34" charset="-122"/>
                <a:cs typeface="Calibri" pitchFamily="34" charset="-120"/>
              </a:rPr>
              <a:t>Side: </a:t>
            </a:r>
            <a:r>
              <a:rPr lang="en-US" sz="2600" dirty="0">
                <a:solidFill>
                  <a:srgbClr val="1F2A22"/>
                </a:solidFill>
                <a:latin typeface="Calibri" pitchFamily="34" charset="0"/>
                <a:ea typeface="Calibri" pitchFamily="34" charset="-122"/>
                <a:cs typeface="Calibri" pitchFamily="34" charset="-120"/>
              </a:rPr>
              <a:t>a wall</a:t>
            </a:r>
            <a:endParaRPr lang="en-US" sz="2600" dirty="0"/>
          </a:p>
        </p:txBody>
      </p:sp>
      <p:sp>
        <p:nvSpPr>
          <p:cNvPr id="9" name="Shape 6"/>
          <p:cNvSpPr/>
          <p:nvPr/>
        </p:nvSpPr>
        <p:spPr>
          <a:xfrm>
            <a:off x="8229600" y="1508760"/>
            <a:ext cx="3383280" cy="777240"/>
          </a:xfrm>
          <a:prstGeom prst="roundRect">
            <a:avLst>
              <a:gd name="adj" fmla="val 11765"/>
            </a:avLst>
          </a:prstGeom>
          <a:solidFill>
            <a:srgbClr val="EEF4EF"/>
          </a:solidFill>
          <a:ln w="12700">
            <a:solidFill>
              <a:srgbClr val="EEF4EF"/>
            </a:solidFill>
            <a:prstDash val="solid"/>
          </a:ln>
        </p:spPr>
        <p:txBody>
          <a:bodyPr/>
          <a:lstStyle/>
          <a:p>
            <a:endParaRPr lang="en-ZA"/>
          </a:p>
        </p:txBody>
      </p:sp>
      <p:sp>
        <p:nvSpPr>
          <p:cNvPr id="10" name="Text 7"/>
          <p:cNvSpPr txBox="1"/>
          <p:nvPr/>
        </p:nvSpPr>
        <p:spPr>
          <a:xfrm>
            <a:off x="8458200" y="1508760"/>
            <a:ext cx="3017520" cy="777240"/>
          </a:xfrm>
          <a:prstGeom prst="rect">
            <a:avLst/>
          </a:prstGeom>
          <a:noFill/>
          <a:ln/>
        </p:spPr>
        <p:txBody>
          <a:bodyPr wrap="square" lIns="0" tIns="0" rIns="0" bIns="0" rtlCol="0" anchor="ctr"/>
          <a:lstStyle/>
          <a:p>
            <a:pPr marL="0" indent="0">
              <a:buNone/>
            </a:pPr>
            <a:r>
              <a:rPr lang="en-US" sz="2600" b="1" dirty="0">
                <a:solidFill>
                  <a:srgbClr val="1A5C2C"/>
                </a:solidFill>
                <a:latin typeface="Calibri" pitchFamily="34" charset="0"/>
                <a:ea typeface="Calibri" pitchFamily="34" charset="-122"/>
                <a:cs typeface="Calibri" pitchFamily="34" charset="-120"/>
              </a:rPr>
              <a:t>Tusk: </a:t>
            </a:r>
            <a:r>
              <a:rPr lang="en-US" sz="2600" dirty="0">
                <a:solidFill>
                  <a:srgbClr val="1F2A22"/>
                </a:solidFill>
                <a:latin typeface="Calibri" pitchFamily="34" charset="0"/>
                <a:ea typeface="Calibri" pitchFamily="34" charset="-122"/>
                <a:cs typeface="Calibri" pitchFamily="34" charset="-120"/>
              </a:rPr>
              <a:t>a spear</a:t>
            </a:r>
            <a:endParaRPr lang="en-US" sz="2600" dirty="0"/>
          </a:p>
        </p:txBody>
      </p:sp>
      <p:sp>
        <p:nvSpPr>
          <p:cNvPr id="11" name="Shape 8"/>
          <p:cNvSpPr/>
          <p:nvPr/>
        </p:nvSpPr>
        <p:spPr>
          <a:xfrm>
            <a:off x="4663440" y="2468880"/>
            <a:ext cx="3383280" cy="777240"/>
          </a:xfrm>
          <a:prstGeom prst="roundRect">
            <a:avLst>
              <a:gd name="adj" fmla="val 11765"/>
            </a:avLst>
          </a:prstGeom>
          <a:solidFill>
            <a:srgbClr val="EEF4EF"/>
          </a:solidFill>
          <a:ln w="12700">
            <a:solidFill>
              <a:srgbClr val="EEF4EF"/>
            </a:solidFill>
            <a:prstDash val="solid"/>
          </a:ln>
        </p:spPr>
        <p:txBody>
          <a:bodyPr/>
          <a:lstStyle/>
          <a:p>
            <a:endParaRPr lang="en-ZA"/>
          </a:p>
        </p:txBody>
      </p:sp>
      <p:sp>
        <p:nvSpPr>
          <p:cNvPr id="12" name="Text 9"/>
          <p:cNvSpPr txBox="1"/>
          <p:nvPr/>
        </p:nvSpPr>
        <p:spPr>
          <a:xfrm>
            <a:off x="4892040" y="2468880"/>
            <a:ext cx="3017520" cy="777240"/>
          </a:xfrm>
          <a:prstGeom prst="rect">
            <a:avLst/>
          </a:prstGeom>
          <a:noFill/>
          <a:ln/>
        </p:spPr>
        <p:txBody>
          <a:bodyPr wrap="square" lIns="0" tIns="0" rIns="0" bIns="0" rtlCol="0" anchor="ctr"/>
          <a:lstStyle/>
          <a:p>
            <a:pPr marL="0" indent="0">
              <a:buNone/>
            </a:pPr>
            <a:r>
              <a:rPr lang="en-US" sz="2600" b="1" dirty="0">
                <a:solidFill>
                  <a:srgbClr val="1A5C2C"/>
                </a:solidFill>
                <a:latin typeface="Calibri" pitchFamily="34" charset="0"/>
                <a:ea typeface="Calibri" pitchFamily="34" charset="-122"/>
                <a:cs typeface="Calibri" pitchFamily="34" charset="-120"/>
              </a:rPr>
              <a:t>Trunk: </a:t>
            </a:r>
            <a:r>
              <a:rPr lang="en-US" sz="2600" dirty="0">
                <a:solidFill>
                  <a:srgbClr val="1F2A22"/>
                </a:solidFill>
                <a:latin typeface="Calibri" pitchFamily="34" charset="0"/>
                <a:ea typeface="Calibri" pitchFamily="34" charset="-122"/>
                <a:cs typeface="Calibri" pitchFamily="34" charset="-120"/>
              </a:rPr>
              <a:t>a snake</a:t>
            </a:r>
            <a:endParaRPr lang="en-US" sz="2600" dirty="0"/>
          </a:p>
        </p:txBody>
      </p:sp>
      <p:sp>
        <p:nvSpPr>
          <p:cNvPr id="13" name="Shape 10"/>
          <p:cNvSpPr/>
          <p:nvPr/>
        </p:nvSpPr>
        <p:spPr>
          <a:xfrm>
            <a:off x="8229600" y="2468880"/>
            <a:ext cx="3383280" cy="777240"/>
          </a:xfrm>
          <a:prstGeom prst="roundRect">
            <a:avLst>
              <a:gd name="adj" fmla="val 11765"/>
            </a:avLst>
          </a:prstGeom>
          <a:solidFill>
            <a:srgbClr val="EEF4EF"/>
          </a:solidFill>
          <a:ln w="12700">
            <a:solidFill>
              <a:srgbClr val="EEF4EF"/>
            </a:solidFill>
            <a:prstDash val="solid"/>
          </a:ln>
        </p:spPr>
        <p:txBody>
          <a:bodyPr/>
          <a:lstStyle/>
          <a:p>
            <a:endParaRPr lang="en-ZA"/>
          </a:p>
        </p:txBody>
      </p:sp>
      <p:sp>
        <p:nvSpPr>
          <p:cNvPr id="14" name="Text 11"/>
          <p:cNvSpPr txBox="1"/>
          <p:nvPr/>
        </p:nvSpPr>
        <p:spPr>
          <a:xfrm>
            <a:off x="8458200" y="2468880"/>
            <a:ext cx="3017520" cy="777240"/>
          </a:xfrm>
          <a:prstGeom prst="rect">
            <a:avLst/>
          </a:prstGeom>
          <a:noFill/>
          <a:ln/>
        </p:spPr>
        <p:txBody>
          <a:bodyPr wrap="square" lIns="0" tIns="0" rIns="0" bIns="0" rtlCol="0" anchor="ctr"/>
          <a:lstStyle/>
          <a:p>
            <a:pPr marL="0" indent="0">
              <a:buNone/>
            </a:pPr>
            <a:r>
              <a:rPr lang="en-US" sz="2600" b="1" dirty="0">
                <a:solidFill>
                  <a:srgbClr val="1A5C2C"/>
                </a:solidFill>
                <a:latin typeface="Calibri" pitchFamily="34" charset="0"/>
                <a:ea typeface="Calibri" pitchFamily="34" charset="-122"/>
                <a:cs typeface="Calibri" pitchFamily="34" charset="-120"/>
              </a:rPr>
              <a:t>Leg: </a:t>
            </a:r>
            <a:r>
              <a:rPr lang="en-US" sz="2600" dirty="0">
                <a:solidFill>
                  <a:srgbClr val="1F2A22"/>
                </a:solidFill>
                <a:latin typeface="Calibri" pitchFamily="34" charset="0"/>
                <a:ea typeface="Calibri" pitchFamily="34" charset="-122"/>
                <a:cs typeface="Calibri" pitchFamily="34" charset="-120"/>
              </a:rPr>
              <a:t>a tree trunk</a:t>
            </a:r>
            <a:endParaRPr lang="en-US" sz="2600" dirty="0"/>
          </a:p>
        </p:txBody>
      </p:sp>
      <p:sp>
        <p:nvSpPr>
          <p:cNvPr id="15" name="Shape 12"/>
          <p:cNvSpPr/>
          <p:nvPr/>
        </p:nvSpPr>
        <p:spPr>
          <a:xfrm>
            <a:off x="4663440" y="3429000"/>
            <a:ext cx="3383280" cy="777240"/>
          </a:xfrm>
          <a:prstGeom prst="roundRect">
            <a:avLst>
              <a:gd name="adj" fmla="val 11765"/>
            </a:avLst>
          </a:prstGeom>
          <a:solidFill>
            <a:srgbClr val="EEF4EF"/>
          </a:solidFill>
          <a:ln w="12700">
            <a:solidFill>
              <a:srgbClr val="EEF4EF"/>
            </a:solidFill>
            <a:prstDash val="solid"/>
          </a:ln>
        </p:spPr>
        <p:txBody>
          <a:bodyPr/>
          <a:lstStyle/>
          <a:p>
            <a:endParaRPr lang="en-ZA"/>
          </a:p>
        </p:txBody>
      </p:sp>
      <p:sp>
        <p:nvSpPr>
          <p:cNvPr id="16" name="Text 13"/>
          <p:cNvSpPr txBox="1"/>
          <p:nvPr/>
        </p:nvSpPr>
        <p:spPr>
          <a:xfrm>
            <a:off x="4892040" y="3429000"/>
            <a:ext cx="3017520" cy="777240"/>
          </a:xfrm>
          <a:prstGeom prst="rect">
            <a:avLst/>
          </a:prstGeom>
          <a:noFill/>
          <a:ln/>
        </p:spPr>
        <p:txBody>
          <a:bodyPr wrap="square" lIns="0" tIns="0" rIns="0" bIns="0" rtlCol="0" anchor="ctr"/>
          <a:lstStyle/>
          <a:p>
            <a:pPr marL="0" indent="0">
              <a:buNone/>
            </a:pPr>
            <a:r>
              <a:rPr lang="en-US" sz="2600" b="1" dirty="0">
                <a:solidFill>
                  <a:srgbClr val="1A5C2C"/>
                </a:solidFill>
                <a:latin typeface="Calibri" pitchFamily="34" charset="0"/>
                <a:ea typeface="Calibri" pitchFamily="34" charset="-122"/>
                <a:cs typeface="Calibri" pitchFamily="34" charset="-120"/>
              </a:rPr>
              <a:t>Ear: </a:t>
            </a:r>
            <a:r>
              <a:rPr lang="en-US" sz="2600" dirty="0">
                <a:solidFill>
                  <a:srgbClr val="1F2A22"/>
                </a:solidFill>
                <a:latin typeface="Calibri" pitchFamily="34" charset="0"/>
                <a:ea typeface="Calibri" pitchFamily="34" charset="-122"/>
                <a:cs typeface="Calibri" pitchFamily="34" charset="-120"/>
              </a:rPr>
              <a:t>a fan</a:t>
            </a:r>
            <a:endParaRPr lang="en-US" sz="2600" dirty="0"/>
          </a:p>
        </p:txBody>
      </p:sp>
      <p:sp>
        <p:nvSpPr>
          <p:cNvPr id="17" name="Shape 14"/>
          <p:cNvSpPr/>
          <p:nvPr/>
        </p:nvSpPr>
        <p:spPr>
          <a:xfrm>
            <a:off x="8229600" y="3429000"/>
            <a:ext cx="3383280" cy="777240"/>
          </a:xfrm>
          <a:prstGeom prst="roundRect">
            <a:avLst>
              <a:gd name="adj" fmla="val 11765"/>
            </a:avLst>
          </a:prstGeom>
          <a:solidFill>
            <a:srgbClr val="EEF4EF"/>
          </a:solidFill>
          <a:ln w="12700">
            <a:solidFill>
              <a:srgbClr val="EEF4EF"/>
            </a:solidFill>
            <a:prstDash val="solid"/>
          </a:ln>
        </p:spPr>
        <p:txBody>
          <a:bodyPr/>
          <a:lstStyle/>
          <a:p>
            <a:endParaRPr lang="en-ZA"/>
          </a:p>
        </p:txBody>
      </p:sp>
      <p:sp>
        <p:nvSpPr>
          <p:cNvPr id="18" name="Text 15"/>
          <p:cNvSpPr txBox="1"/>
          <p:nvPr/>
        </p:nvSpPr>
        <p:spPr>
          <a:xfrm>
            <a:off x="8458200" y="3429000"/>
            <a:ext cx="3017520" cy="777240"/>
          </a:xfrm>
          <a:prstGeom prst="rect">
            <a:avLst/>
          </a:prstGeom>
          <a:noFill/>
          <a:ln/>
        </p:spPr>
        <p:txBody>
          <a:bodyPr wrap="square" lIns="0" tIns="0" rIns="0" bIns="0" rtlCol="0" anchor="ctr"/>
          <a:lstStyle/>
          <a:p>
            <a:pPr marL="0" indent="0">
              <a:buNone/>
            </a:pPr>
            <a:r>
              <a:rPr lang="en-US" sz="2600" b="1" dirty="0">
                <a:solidFill>
                  <a:srgbClr val="1A5C2C"/>
                </a:solidFill>
                <a:latin typeface="Calibri" pitchFamily="34" charset="0"/>
                <a:ea typeface="Calibri" pitchFamily="34" charset="-122"/>
                <a:cs typeface="Calibri" pitchFamily="34" charset="-120"/>
              </a:rPr>
              <a:t>Tail: </a:t>
            </a:r>
            <a:r>
              <a:rPr lang="en-US" sz="2600" dirty="0">
                <a:solidFill>
                  <a:srgbClr val="1F2A22"/>
                </a:solidFill>
                <a:latin typeface="Calibri" pitchFamily="34" charset="0"/>
                <a:ea typeface="Calibri" pitchFamily="34" charset="-122"/>
                <a:cs typeface="Calibri" pitchFamily="34" charset="-120"/>
              </a:rPr>
              <a:t>a rope</a:t>
            </a:r>
            <a:endParaRPr lang="en-US" sz="2600" dirty="0"/>
          </a:p>
        </p:txBody>
      </p:sp>
      <p:sp>
        <p:nvSpPr>
          <p:cNvPr id="19" name="Shape 16"/>
          <p:cNvSpPr/>
          <p:nvPr/>
        </p:nvSpPr>
        <p:spPr>
          <a:xfrm>
            <a:off x="4663440" y="4526280"/>
            <a:ext cx="6976872" cy="1124580"/>
          </a:xfrm>
          <a:prstGeom prst="roundRect">
            <a:avLst>
              <a:gd name="adj" fmla="val 5000"/>
            </a:avLst>
          </a:prstGeom>
          <a:solidFill>
            <a:srgbClr val="1A5C2C"/>
          </a:solidFill>
          <a:ln w="12700">
            <a:solidFill>
              <a:srgbClr val="1A5C2C"/>
            </a:solidFill>
            <a:prstDash val="solid"/>
          </a:ln>
        </p:spPr>
        <p:txBody>
          <a:bodyPr/>
          <a:lstStyle/>
          <a:p>
            <a:endParaRPr lang="en-ZA"/>
          </a:p>
        </p:txBody>
      </p:sp>
      <p:sp>
        <p:nvSpPr>
          <p:cNvPr id="20" name="Text 17"/>
          <p:cNvSpPr txBox="1"/>
          <p:nvPr/>
        </p:nvSpPr>
        <p:spPr>
          <a:xfrm>
            <a:off x="4937760" y="4526280"/>
            <a:ext cx="6492240" cy="1058796"/>
          </a:xfrm>
          <a:prstGeom prst="rect">
            <a:avLst/>
          </a:prstGeom>
          <a:noFill/>
          <a:ln/>
        </p:spPr>
        <p:txBody>
          <a:bodyPr wrap="square" lIns="0" tIns="0" rIns="0" bIns="0" rtlCol="0" anchor="ctr"/>
          <a:lstStyle/>
          <a:p>
            <a:pPr marL="0" indent="0">
              <a:buNone/>
            </a:pPr>
            <a:r>
              <a:rPr lang="en-US" sz="2800" i="1" dirty="0">
                <a:solidFill>
                  <a:srgbClr val="FFFFFF"/>
                </a:solidFill>
                <a:latin typeface="Cambria" pitchFamily="34" charset="0"/>
                <a:ea typeface="Cambria" pitchFamily="34" charset="-122"/>
                <a:cs typeface="Cambria" pitchFamily="34" charset="-120"/>
              </a:rPr>
              <a:t>Each is seeing a different part of the same reality.</a:t>
            </a:r>
            <a:endParaRPr lang="en-US" sz="2800" dirty="0"/>
          </a:p>
        </p:txBody>
      </p:sp>
      <p:sp>
        <p:nvSpPr>
          <p:cNvPr id="22" name="TextBox 21">
            <a:extLst>
              <a:ext uri="{FF2B5EF4-FFF2-40B4-BE49-F238E27FC236}">
                <a16:creationId xmlns:a16="http://schemas.microsoft.com/office/drawing/2014/main" id="{94118D5A-CB37-B159-90C6-A7961A891805}"/>
              </a:ext>
            </a:extLst>
          </p:cNvPr>
          <p:cNvSpPr txBox="1"/>
          <p:nvPr/>
        </p:nvSpPr>
        <p:spPr>
          <a:xfrm>
            <a:off x="475290" y="5916229"/>
            <a:ext cx="11165022" cy="830997"/>
          </a:xfrm>
          <a:prstGeom prst="rect">
            <a:avLst/>
          </a:prstGeom>
          <a:noFill/>
        </p:spPr>
        <p:txBody>
          <a:bodyPr wrap="square">
            <a:spAutoFit/>
          </a:bodyPr>
          <a:lstStyle/>
          <a:p>
            <a:r>
              <a:rPr lang="en-ZA" sz="2400" dirty="0">
                <a:solidFill>
                  <a:schemeClr val="tx1">
                    <a:lumMod val="85000"/>
                    <a:lumOff val="15000"/>
                  </a:schemeClr>
                </a:solidFill>
              </a:rPr>
              <a:t>The strategic discipline is being able to bring the depth of our own perspective </a:t>
            </a:r>
            <a:r>
              <a:rPr lang="en-ZA" sz="2400" b="1" dirty="0">
                <a:solidFill>
                  <a:schemeClr val="tx1">
                    <a:lumMod val="85000"/>
                    <a:lumOff val="15000"/>
                  </a:schemeClr>
                </a:solidFill>
              </a:rPr>
              <a:t>without assuming that our perspective is complete.</a:t>
            </a:r>
            <a:endParaRPr lang="en-ZA" sz="2400" dirty="0">
              <a:solidFill>
                <a:schemeClr val="tx1">
                  <a:lumMod val="85000"/>
                  <a:lumOff val="15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2.4 · Bias Families</a:t>
            </a:r>
            <a:endParaRPr lang="en-US" sz="3600" dirty="0"/>
          </a:p>
        </p:txBody>
      </p:sp>
      <p:sp>
        <p:nvSpPr>
          <p:cNvPr id="3" name="Shape 1"/>
          <p:cNvSpPr/>
          <p:nvPr/>
        </p:nvSpPr>
        <p:spPr>
          <a:xfrm>
            <a:off x="548640" y="1508760"/>
            <a:ext cx="5408676" cy="4846320"/>
          </a:xfrm>
          <a:prstGeom prst="roundRect">
            <a:avLst>
              <a:gd name="adj" fmla="val 1887"/>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1600200" y="1691640"/>
            <a:ext cx="4128516" cy="731520"/>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Action-Oriented Biases</a:t>
            </a:r>
            <a:endParaRPr lang="en-US" sz="2800" dirty="0"/>
          </a:p>
        </p:txBody>
      </p:sp>
      <p:sp>
        <p:nvSpPr>
          <p:cNvPr id="7" name="Text 4"/>
          <p:cNvSpPr txBox="1"/>
          <p:nvPr/>
        </p:nvSpPr>
        <p:spPr>
          <a:xfrm>
            <a:off x="777240" y="2514600"/>
            <a:ext cx="4951476" cy="1371600"/>
          </a:xfrm>
          <a:prstGeom prst="rect">
            <a:avLst/>
          </a:prstGeom>
          <a:noFill/>
          <a:ln/>
        </p:spPr>
        <p:txBody>
          <a:bodyPr wrap="square" lIns="0" tIns="0" rIns="0" bIns="0" rtlCol="0" anchor="t"/>
          <a:lstStyle/>
          <a:p>
            <a:pPr marL="0" indent="0">
              <a:buNone/>
            </a:pPr>
            <a:r>
              <a:rPr lang="en-US" sz="2800" dirty="0">
                <a:solidFill>
                  <a:srgbClr val="1F2A22"/>
                </a:solidFill>
                <a:latin typeface="Calibri" pitchFamily="34" charset="0"/>
                <a:ea typeface="Calibri" pitchFamily="34" charset="-122"/>
                <a:cs typeface="Calibri" pitchFamily="34" charset="-120"/>
              </a:rPr>
              <a:t>Overconfidence · Optimism · Illusion of Control · Planning Fallacy · Confirmation</a:t>
            </a:r>
            <a:endParaRPr lang="en-US" sz="2800" dirty="0"/>
          </a:p>
        </p:txBody>
      </p:sp>
      <p:sp>
        <p:nvSpPr>
          <p:cNvPr id="8" name="Shape 5"/>
          <p:cNvSpPr/>
          <p:nvPr/>
        </p:nvSpPr>
        <p:spPr>
          <a:xfrm>
            <a:off x="6231636" y="1508760"/>
            <a:ext cx="5408676" cy="4846320"/>
          </a:xfrm>
          <a:prstGeom prst="roundRect">
            <a:avLst>
              <a:gd name="adj" fmla="val 1887"/>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6460236"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620256" y="1897380"/>
            <a:ext cx="320040" cy="320040"/>
          </a:xfrm>
          <a:prstGeom prst="rect">
            <a:avLst/>
          </a:prstGeom>
        </p:spPr>
      </p:pic>
      <p:sp>
        <p:nvSpPr>
          <p:cNvPr id="11" name="Text 7"/>
          <p:cNvSpPr txBox="1"/>
          <p:nvPr/>
        </p:nvSpPr>
        <p:spPr>
          <a:xfrm>
            <a:off x="7283196" y="1691640"/>
            <a:ext cx="4128516" cy="731520"/>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Stability Biases</a:t>
            </a:r>
            <a:endParaRPr lang="en-US" sz="2800" dirty="0"/>
          </a:p>
        </p:txBody>
      </p:sp>
      <p:sp>
        <p:nvSpPr>
          <p:cNvPr id="12" name="Text 8"/>
          <p:cNvSpPr txBox="1"/>
          <p:nvPr/>
        </p:nvSpPr>
        <p:spPr>
          <a:xfrm>
            <a:off x="6460236" y="2514600"/>
            <a:ext cx="4951476" cy="1371600"/>
          </a:xfrm>
          <a:prstGeom prst="rect">
            <a:avLst/>
          </a:prstGeom>
          <a:noFill/>
          <a:ln/>
        </p:spPr>
        <p:txBody>
          <a:bodyPr wrap="square" lIns="0" tIns="0" rIns="0" bIns="0" rtlCol="0" anchor="t"/>
          <a:lstStyle/>
          <a:p>
            <a:pPr marL="0" indent="0">
              <a:buNone/>
            </a:pPr>
            <a:r>
              <a:rPr lang="en-US" sz="2800" dirty="0">
                <a:solidFill>
                  <a:srgbClr val="1F2A22"/>
                </a:solidFill>
                <a:latin typeface="Calibri" pitchFamily="34" charset="0"/>
                <a:ea typeface="Calibri" pitchFamily="34" charset="-122"/>
                <a:cs typeface="Calibri" pitchFamily="34" charset="-120"/>
              </a:rPr>
              <a:t>Anchoring · Status Quo · Loss Aversion · Sunk-Cost · Endowment</a:t>
            </a:r>
            <a:endParaRPr lang="en-US" sz="2800" dirty="0"/>
          </a:p>
        </p:txBody>
      </p:sp>
      <p:grpSp>
        <p:nvGrpSpPr>
          <p:cNvPr id="29" name="Group 28">
            <a:extLst>
              <a:ext uri="{FF2B5EF4-FFF2-40B4-BE49-F238E27FC236}">
                <a16:creationId xmlns:a16="http://schemas.microsoft.com/office/drawing/2014/main" id="{F743AE09-6450-9DCE-49F3-6C89B955D510}"/>
              </a:ext>
            </a:extLst>
          </p:cNvPr>
          <p:cNvGrpSpPr/>
          <p:nvPr/>
        </p:nvGrpSpPr>
        <p:grpSpPr>
          <a:xfrm>
            <a:off x="777240" y="4023360"/>
            <a:ext cx="10634472" cy="2286000"/>
            <a:chOff x="777240" y="4023360"/>
            <a:chExt cx="10634472" cy="2286000"/>
          </a:xfrm>
        </p:grpSpPr>
        <p:sp>
          <p:nvSpPr>
            <p:cNvPr id="14" name="Shape 2">
              <a:extLst>
                <a:ext uri="{FF2B5EF4-FFF2-40B4-BE49-F238E27FC236}">
                  <a16:creationId xmlns:a16="http://schemas.microsoft.com/office/drawing/2014/main" id="{575F2D29-08F8-3393-4BE9-E44028417A02}"/>
                </a:ext>
              </a:extLst>
            </p:cNvPr>
            <p:cNvSpPr/>
            <p:nvPr/>
          </p:nvSpPr>
          <p:spPr>
            <a:xfrm>
              <a:off x="777240" y="406908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0" descr="preencoded.png">
              <a:extLst>
                <a:ext uri="{FF2B5EF4-FFF2-40B4-BE49-F238E27FC236}">
                  <a16:creationId xmlns:a16="http://schemas.microsoft.com/office/drawing/2014/main" id="{D3EF503D-BAD6-26EC-1C50-102586CE33B0}"/>
                </a:ext>
              </a:extLst>
            </p:cNvPr>
            <p:cNvPicPr>
              <a:picLocks noChangeAspect="1"/>
            </p:cNvPicPr>
            <p:nvPr/>
          </p:nvPicPr>
          <p:blipFill>
            <a:blip r:embed="rId5"/>
            <a:stretch>
              <a:fillRect/>
            </a:stretch>
          </p:blipFill>
          <p:spPr>
            <a:xfrm>
              <a:off x="937259" y="4229100"/>
              <a:ext cx="320040" cy="320040"/>
            </a:xfrm>
            <a:prstGeom prst="rect">
              <a:avLst/>
            </a:prstGeom>
          </p:spPr>
        </p:pic>
        <p:sp>
          <p:nvSpPr>
            <p:cNvPr id="18" name="Text 3">
              <a:extLst>
                <a:ext uri="{FF2B5EF4-FFF2-40B4-BE49-F238E27FC236}">
                  <a16:creationId xmlns:a16="http://schemas.microsoft.com/office/drawing/2014/main" id="{92B5DDC0-DFE7-694C-BEF9-610E29F7DA82}"/>
                </a:ext>
              </a:extLst>
            </p:cNvPr>
            <p:cNvSpPr txBox="1"/>
            <p:nvPr/>
          </p:nvSpPr>
          <p:spPr>
            <a:xfrm>
              <a:off x="1600200" y="4023360"/>
              <a:ext cx="4123944" cy="731520"/>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Interest Biases</a:t>
              </a:r>
              <a:endParaRPr lang="en-US" sz="2800" dirty="0"/>
            </a:p>
          </p:txBody>
        </p:sp>
        <p:sp>
          <p:nvSpPr>
            <p:cNvPr id="20" name="Text 4">
              <a:extLst>
                <a:ext uri="{FF2B5EF4-FFF2-40B4-BE49-F238E27FC236}">
                  <a16:creationId xmlns:a16="http://schemas.microsoft.com/office/drawing/2014/main" id="{2AF7C4F4-6D21-0629-8BA9-1DD8266AA467}"/>
                </a:ext>
              </a:extLst>
            </p:cNvPr>
            <p:cNvSpPr txBox="1"/>
            <p:nvPr/>
          </p:nvSpPr>
          <p:spPr>
            <a:xfrm>
              <a:off x="777240" y="4800600"/>
              <a:ext cx="4956048" cy="1417320"/>
            </a:xfrm>
            <a:prstGeom prst="rect">
              <a:avLst/>
            </a:prstGeom>
            <a:noFill/>
            <a:ln/>
          </p:spPr>
          <p:txBody>
            <a:bodyPr wrap="square" lIns="0" tIns="0" rIns="0" bIns="0" rtlCol="0" anchor="t"/>
            <a:lstStyle/>
            <a:p>
              <a:pPr marL="0" indent="0">
                <a:buNone/>
              </a:pPr>
              <a:r>
                <a:rPr lang="en-US" sz="2800" dirty="0">
                  <a:solidFill>
                    <a:srgbClr val="1F2A22"/>
                  </a:solidFill>
                  <a:latin typeface="Calibri" pitchFamily="34" charset="0"/>
                  <a:ea typeface="Calibri" pitchFamily="34" charset="-122"/>
                  <a:cs typeface="Calibri" pitchFamily="34" charset="-120"/>
                </a:rPr>
                <a:t>Self-Interest · Silo · Incentive · Career-Risk · Perspective</a:t>
              </a:r>
              <a:endParaRPr lang="en-US" sz="2800" dirty="0"/>
            </a:p>
          </p:txBody>
        </p:sp>
        <p:sp>
          <p:nvSpPr>
            <p:cNvPr id="22" name="Shape 6">
              <a:extLst>
                <a:ext uri="{FF2B5EF4-FFF2-40B4-BE49-F238E27FC236}">
                  <a16:creationId xmlns:a16="http://schemas.microsoft.com/office/drawing/2014/main" id="{57D887C4-9DE8-0DD7-BFC2-E06EA61CC718}"/>
                </a:ext>
              </a:extLst>
            </p:cNvPr>
            <p:cNvSpPr/>
            <p:nvPr/>
          </p:nvSpPr>
          <p:spPr>
            <a:xfrm>
              <a:off x="6464808" y="406908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24" name="Image 1" descr="preencoded.png">
              <a:extLst>
                <a:ext uri="{FF2B5EF4-FFF2-40B4-BE49-F238E27FC236}">
                  <a16:creationId xmlns:a16="http://schemas.microsoft.com/office/drawing/2014/main" id="{69E1C9A4-EE78-A9D9-E674-FADFB83BC1EF}"/>
                </a:ext>
              </a:extLst>
            </p:cNvPr>
            <p:cNvPicPr>
              <a:picLocks noChangeAspect="1"/>
            </p:cNvPicPr>
            <p:nvPr/>
          </p:nvPicPr>
          <p:blipFill>
            <a:blip r:embed="rId6"/>
            <a:stretch>
              <a:fillRect/>
            </a:stretch>
          </p:blipFill>
          <p:spPr>
            <a:xfrm>
              <a:off x="6624828" y="4229100"/>
              <a:ext cx="320040" cy="320040"/>
            </a:xfrm>
            <a:prstGeom prst="rect">
              <a:avLst/>
            </a:prstGeom>
          </p:spPr>
        </p:pic>
        <p:sp>
          <p:nvSpPr>
            <p:cNvPr id="26" name="Text 7">
              <a:extLst>
                <a:ext uri="{FF2B5EF4-FFF2-40B4-BE49-F238E27FC236}">
                  <a16:creationId xmlns:a16="http://schemas.microsoft.com/office/drawing/2014/main" id="{70F6E1FE-EB6A-920A-5903-930918F034B5}"/>
                </a:ext>
              </a:extLst>
            </p:cNvPr>
            <p:cNvSpPr txBox="1"/>
            <p:nvPr/>
          </p:nvSpPr>
          <p:spPr>
            <a:xfrm>
              <a:off x="7278624" y="4023360"/>
              <a:ext cx="4123944" cy="731520"/>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Social Biases</a:t>
              </a:r>
              <a:endParaRPr lang="en-US" sz="2800" dirty="0"/>
            </a:p>
          </p:txBody>
        </p:sp>
        <p:sp>
          <p:nvSpPr>
            <p:cNvPr id="28" name="Text 8">
              <a:extLst>
                <a:ext uri="{FF2B5EF4-FFF2-40B4-BE49-F238E27FC236}">
                  <a16:creationId xmlns:a16="http://schemas.microsoft.com/office/drawing/2014/main" id="{CC49C3C9-2A86-1F8F-BA4B-3CEA837B44E2}"/>
                </a:ext>
              </a:extLst>
            </p:cNvPr>
            <p:cNvSpPr txBox="1"/>
            <p:nvPr/>
          </p:nvSpPr>
          <p:spPr>
            <a:xfrm>
              <a:off x="6464808" y="4800600"/>
              <a:ext cx="4956048" cy="1417320"/>
            </a:xfrm>
            <a:prstGeom prst="rect">
              <a:avLst/>
            </a:prstGeom>
            <a:noFill/>
            <a:ln/>
          </p:spPr>
          <p:txBody>
            <a:bodyPr wrap="square" lIns="0" tIns="0" rIns="0" bIns="0" rtlCol="0" anchor="t"/>
            <a:lstStyle/>
            <a:p>
              <a:pPr marL="0" indent="0">
                <a:buNone/>
              </a:pPr>
              <a:r>
                <a:rPr lang="en-US" sz="2800" dirty="0">
                  <a:solidFill>
                    <a:srgbClr val="1F2A22"/>
                  </a:solidFill>
                  <a:latin typeface="Calibri" pitchFamily="34" charset="0"/>
                  <a:ea typeface="Calibri" pitchFamily="34" charset="-122"/>
                  <a:cs typeface="Calibri" pitchFamily="34" charset="-120"/>
                </a:rPr>
                <a:t>Conformity · Authority · Groupthink · Availability · Halo Effect</a:t>
              </a:r>
              <a:endParaRPr lang="en-US" sz="2800" dirty="0"/>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59DDA-201F-6222-A7AE-CBF64E3CFCB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868271B-F81B-9F60-7283-9257D3D5ABCD}"/>
              </a:ext>
            </a:extLst>
          </p:cNvPr>
          <p:cNvSpPr txBox="1"/>
          <p:nvPr/>
        </p:nvSpPr>
        <p:spPr>
          <a:xfrm>
            <a:off x="641180" y="417576"/>
            <a:ext cx="10909640" cy="1249394"/>
          </a:xfrm>
          <a:prstGeom prst="rect">
            <a:avLst/>
          </a:prstGeom>
        </p:spPr>
        <p:txBody>
          <a:bodyPr vert="horz" lIns="91440" tIns="45720" rIns="91440" bIns="45720" rtlCol="0" anchor="ctr">
            <a:normAutofit/>
          </a:bodyPr>
          <a:lstStyle/>
          <a:p>
            <a:pPr marL="0" indent="0" algn="ctr">
              <a:lnSpc>
                <a:spcPct val="90000"/>
              </a:lnSpc>
              <a:spcBef>
                <a:spcPct val="0"/>
              </a:spcBef>
              <a:spcAft>
                <a:spcPts val="600"/>
              </a:spcAft>
            </a:pPr>
            <a:r>
              <a:rPr lang="en-US" sz="6600" b="1" kern="1200" dirty="0">
                <a:solidFill>
                  <a:schemeClr val="tx1"/>
                </a:solidFill>
                <a:latin typeface="+mj-lt"/>
                <a:ea typeface="+mj-ea"/>
                <a:cs typeface="+mj-cs"/>
              </a:rPr>
              <a:t>Section 2 Reflections</a:t>
            </a:r>
            <a:endParaRPr lang="en-US" sz="6600" kern="1200" dirty="0">
              <a:solidFill>
                <a:schemeClr val="tx1"/>
              </a:solidFill>
              <a:latin typeface="+mj-lt"/>
              <a:ea typeface="+mj-ea"/>
              <a:cs typeface="+mj-cs"/>
            </a:endParaRPr>
          </a:p>
        </p:txBody>
      </p:sp>
      <p:grpSp>
        <p:nvGrpSpPr>
          <p:cNvPr id="11" name="Group 10">
            <a:extLst>
              <a:ext uri="{FF2B5EF4-FFF2-40B4-BE49-F238E27FC236}">
                <a16:creationId xmlns:a16="http://schemas.microsoft.com/office/drawing/2014/main" id="{D1E83264-0AA7-8B10-4A90-CF20DA01EAE0}"/>
              </a:ext>
            </a:extLst>
          </p:cNvPr>
          <p:cNvGrpSpPr/>
          <p:nvPr/>
        </p:nvGrpSpPr>
        <p:grpSpPr>
          <a:xfrm>
            <a:off x="1011411" y="1769094"/>
            <a:ext cx="10909640" cy="3579813"/>
            <a:chOff x="379888" y="1578324"/>
            <a:chExt cx="10909640" cy="3579813"/>
          </a:xfrm>
        </p:grpSpPr>
        <p:pic>
          <p:nvPicPr>
            <p:cNvPr id="4" name="Picture 3">
              <a:extLst>
                <a:ext uri="{FF2B5EF4-FFF2-40B4-BE49-F238E27FC236}">
                  <a16:creationId xmlns:a16="http://schemas.microsoft.com/office/drawing/2014/main" id="{F654E0C8-D5F8-2A3F-276E-0FAD882FB9D2}"/>
                </a:ext>
              </a:extLst>
            </p:cNvPr>
            <p:cNvPicPr>
              <a:picLocks noChangeAspect="1"/>
            </p:cNvPicPr>
            <p:nvPr/>
          </p:nvPicPr>
          <p:blipFill>
            <a:blip r:embed="rId3"/>
            <a:stretch>
              <a:fillRect/>
            </a:stretch>
          </p:blipFill>
          <p:spPr>
            <a:xfrm>
              <a:off x="379889" y="1578324"/>
              <a:ext cx="10909639" cy="1251772"/>
            </a:xfrm>
            <a:prstGeom prst="rect">
              <a:avLst/>
            </a:prstGeom>
          </p:spPr>
        </p:pic>
        <p:pic>
          <p:nvPicPr>
            <p:cNvPr id="6" name="Picture 5">
              <a:extLst>
                <a:ext uri="{FF2B5EF4-FFF2-40B4-BE49-F238E27FC236}">
                  <a16:creationId xmlns:a16="http://schemas.microsoft.com/office/drawing/2014/main" id="{B92D2372-CE8D-9F9B-7F18-35F5C4F74C84}"/>
                </a:ext>
              </a:extLst>
            </p:cNvPr>
            <p:cNvPicPr>
              <a:picLocks noChangeAspect="1"/>
            </p:cNvPicPr>
            <p:nvPr/>
          </p:nvPicPr>
          <p:blipFill>
            <a:blip r:embed="rId4"/>
            <a:stretch>
              <a:fillRect/>
            </a:stretch>
          </p:blipFill>
          <p:spPr>
            <a:xfrm>
              <a:off x="379888" y="2836674"/>
              <a:ext cx="10909639" cy="821156"/>
            </a:xfrm>
            <a:prstGeom prst="rect">
              <a:avLst/>
            </a:prstGeom>
          </p:spPr>
        </p:pic>
        <p:pic>
          <p:nvPicPr>
            <p:cNvPr id="8" name="Picture 7">
              <a:extLst>
                <a:ext uri="{FF2B5EF4-FFF2-40B4-BE49-F238E27FC236}">
                  <a16:creationId xmlns:a16="http://schemas.microsoft.com/office/drawing/2014/main" id="{123C9398-D4D3-EEE3-B3D2-4FDF8D30AA5E}"/>
                </a:ext>
              </a:extLst>
            </p:cNvPr>
            <p:cNvPicPr>
              <a:picLocks noChangeAspect="1"/>
            </p:cNvPicPr>
            <p:nvPr/>
          </p:nvPicPr>
          <p:blipFill>
            <a:blip r:embed="rId5"/>
            <a:stretch>
              <a:fillRect/>
            </a:stretch>
          </p:blipFill>
          <p:spPr>
            <a:xfrm>
              <a:off x="379889" y="3666054"/>
              <a:ext cx="10909638" cy="756899"/>
            </a:xfrm>
            <a:prstGeom prst="rect">
              <a:avLst/>
            </a:prstGeom>
          </p:spPr>
        </p:pic>
        <p:pic>
          <p:nvPicPr>
            <p:cNvPr id="10" name="Picture 9">
              <a:extLst>
                <a:ext uri="{FF2B5EF4-FFF2-40B4-BE49-F238E27FC236}">
                  <a16:creationId xmlns:a16="http://schemas.microsoft.com/office/drawing/2014/main" id="{3FA54940-7EA4-A490-A8BD-BECAD5DEC46F}"/>
                </a:ext>
              </a:extLst>
            </p:cNvPr>
            <p:cNvPicPr>
              <a:picLocks noChangeAspect="1"/>
            </p:cNvPicPr>
            <p:nvPr/>
          </p:nvPicPr>
          <p:blipFill>
            <a:blip r:embed="rId6"/>
            <a:stretch>
              <a:fillRect/>
            </a:stretch>
          </p:blipFill>
          <p:spPr>
            <a:xfrm>
              <a:off x="379889" y="4424598"/>
              <a:ext cx="10909639" cy="733539"/>
            </a:xfrm>
            <a:prstGeom prst="rect">
              <a:avLst/>
            </a:prstGeom>
          </p:spPr>
        </p:pic>
      </p:grpSp>
      <p:sp>
        <p:nvSpPr>
          <p:cNvPr id="15" name="Oval 14">
            <a:extLst>
              <a:ext uri="{FF2B5EF4-FFF2-40B4-BE49-F238E27FC236}">
                <a16:creationId xmlns:a16="http://schemas.microsoft.com/office/drawing/2014/main" id="{0475E091-6F0F-ABB2-1C69-FEB8893BE59A}"/>
              </a:ext>
            </a:extLst>
          </p:cNvPr>
          <p:cNvSpPr/>
          <p:nvPr/>
        </p:nvSpPr>
        <p:spPr>
          <a:xfrm>
            <a:off x="137160" y="2318918"/>
            <a:ext cx="777240" cy="731520"/>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tIns="0" bIns="0"/>
          <a:lstStyle/>
          <a:p>
            <a:pPr algn="ctr"/>
            <a:r>
              <a:rPr lang="en-ZA" sz="2400" dirty="0"/>
              <a:t>2.1</a:t>
            </a:r>
          </a:p>
        </p:txBody>
      </p:sp>
      <p:sp>
        <p:nvSpPr>
          <p:cNvPr id="17" name="Oval 16">
            <a:extLst>
              <a:ext uri="{FF2B5EF4-FFF2-40B4-BE49-F238E27FC236}">
                <a16:creationId xmlns:a16="http://schemas.microsoft.com/office/drawing/2014/main" id="{7BC4E887-D49F-2081-4692-F65591CB3A66}"/>
              </a:ext>
            </a:extLst>
          </p:cNvPr>
          <p:cNvSpPr/>
          <p:nvPr/>
        </p:nvSpPr>
        <p:spPr>
          <a:xfrm>
            <a:off x="137160" y="3072261"/>
            <a:ext cx="777240" cy="731520"/>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tIns="0" bIns="0"/>
          <a:lstStyle/>
          <a:p>
            <a:pPr algn="ctr"/>
            <a:r>
              <a:rPr lang="en-ZA" sz="2400" dirty="0"/>
              <a:t>2.2</a:t>
            </a:r>
          </a:p>
        </p:txBody>
      </p:sp>
      <p:sp>
        <p:nvSpPr>
          <p:cNvPr id="19" name="Oval 18">
            <a:extLst>
              <a:ext uri="{FF2B5EF4-FFF2-40B4-BE49-F238E27FC236}">
                <a16:creationId xmlns:a16="http://schemas.microsoft.com/office/drawing/2014/main" id="{3714E88C-96C9-A600-3CF9-112E8909562C}"/>
              </a:ext>
            </a:extLst>
          </p:cNvPr>
          <p:cNvSpPr/>
          <p:nvPr/>
        </p:nvSpPr>
        <p:spPr>
          <a:xfrm>
            <a:off x="137160" y="3869512"/>
            <a:ext cx="777240" cy="731520"/>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tIns="0" bIns="0"/>
          <a:lstStyle/>
          <a:p>
            <a:pPr algn="ctr"/>
            <a:r>
              <a:rPr lang="en-ZA" sz="2400" dirty="0"/>
              <a:t>2.3</a:t>
            </a:r>
          </a:p>
        </p:txBody>
      </p:sp>
      <p:sp>
        <p:nvSpPr>
          <p:cNvPr id="21" name="Oval 20">
            <a:extLst>
              <a:ext uri="{FF2B5EF4-FFF2-40B4-BE49-F238E27FC236}">
                <a16:creationId xmlns:a16="http://schemas.microsoft.com/office/drawing/2014/main" id="{C98B4A87-8B7E-CA3D-04C3-CF759D13E926}"/>
              </a:ext>
            </a:extLst>
          </p:cNvPr>
          <p:cNvSpPr/>
          <p:nvPr/>
        </p:nvSpPr>
        <p:spPr>
          <a:xfrm>
            <a:off x="137160" y="4666763"/>
            <a:ext cx="777240" cy="731520"/>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tIns="0" bIns="0"/>
          <a:lstStyle/>
          <a:p>
            <a:pPr algn="ctr"/>
            <a:r>
              <a:rPr lang="en-ZA" sz="2400" dirty="0"/>
              <a:t>2.4</a:t>
            </a:r>
          </a:p>
        </p:txBody>
      </p:sp>
    </p:spTree>
    <p:extLst>
      <p:ext uri="{BB962C8B-B14F-4D97-AF65-F5344CB8AC3E}">
        <p14:creationId xmlns:p14="http://schemas.microsoft.com/office/powerpoint/2010/main" val="881417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3</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3</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Intelligence — Why</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Why bias costs — Sections 3.1 &amp; 3.2</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Interpret how different executive roles translate the same strategy into divergent priorities that leave enterprise gaps unowned.</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Evaluate the strategic and performance costs of unexamined bias in your organisation.</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Zooming in functional landscape - </a:t>
            </a:r>
            <a:r>
              <a:rPr lang="en-GB" sz="2600" b="1" dirty="0">
                <a:solidFill>
                  <a:srgbClr val="C6A24C"/>
                </a:solidFill>
                <a:latin typeface="Calibri" pitchFamily="34" charset="0"/>
                <a:ea typeface="Calibri" pitchFamily="34" charset="-122"/>
                <a:cs typeface="Calibri" pitchFamily="34" charset="-120"/>
              </a:rPr>
              <a:t>Where functional bias shows up</a:t>
            </a:r>
            <a:r>
              <a:rPr lang="en-US" sz="2600" b="1" dirty="0">
                <a:solidFill>
                  <a:srgbClr val="C6A24C"/>
                </a:solidFill>
                <a:latin typeface="Calibri" pitchFamily="34" charset="0"/>
                <a:ea typeface="Calibri" pitchFamily="34" charset="-122"/>
                <a:cs typeface="Calibri" pitchFamily="34" charset="-120"/>
              </a:rPr>
              <a:t> </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If every executive in your organisation performed perfectly within their own function, would your strategy actually deliver the result you intend?</a:t>
            </a:r>
            <a:endParaRPr lang="en-US"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10972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3.1 · Functional Bias In Action – </a:t>
            </a:r>
            <a:r>
              <a:rPr lang="en-US" sz="3600" b="1" dirty="0" err="1">
                <a:solidFill>
                  <a:srgbClr val="1A5C2C"/>
                </a:solidFill>
                <a:latin typeface="Cambria" pitchFamily="34" charset="0"/>
                <a:ea typeface="Cambria" pitchFamily="34" charset="-122"/>
                <a:cs typeface="Cambria" pitchFamily="34" charset="-120"/>
              </a:rPr>
              <a:t>MyHealth</a:t>
            </a:r>
            <a:r>
              <a:rPr lang="en-US" sz="3600" b="1" dirty="0">
                <a:solidFill>
                  <a:srgbClr val="1A5C2C"/>
                </a:solidFill>
                <a:latin typeface="Cambria" pitchFamily="34" charset="0"/>
                <a:ea typeface="Cambria" pitchFamily="34" charset="-122"/>
                <a:cs typeface="Cambria" pitchFamily="34" charset="-120"/>
              </a:rPr>
              <a:t> Live Case Study</a:t>
            </a:r>
            <a:endParaRPr lang="en-US" sz="3600" dirty="0"/>
          </a:p>
        </p:txBody>
      </p:sp>
      <p:sp>
        <p:nvSpPr>
          <p:cNvPr id="3" name="Shape 1"/>
          <p:cNvSpPr/>
          <p:nvPr/>
        </p:nvSpPr>
        <p:spPr>
          <a:xfrm>
            <a:off x="548640" y="1508760"/>
            <a:ext cx="11091672" cy="1920240"/>
          </a:xfrm>
          <a:prstGeom prst="roundRect">
            <a:avLst>
              <a:gd name="adj" fmla="val 4762"/>
            </a:avLst>
          </a:prstGeom>
          <a:solidFill>
            <a:srgbClr val="1A5C2C"/>
          </a:solidFill>
          <a:ln w="12700">
            <a:solidFill>
              <a:srgbClr val="1A5C2C"/>
            </a:solidFill>
            <a:prstDash val="solid"/>
          </a:ln>
        </p:spPr>
        <p:txBody>
          <a:bodyPr/>
          <a:lstStyle/>
          <a:p>
            <a:endParaRPr lang="en-ZA"/>
          </a:p>
        </p:txBody>
      </p:sp>
      <p:sp>
        <p:nvSpPr>
          <p:cNvPr id="4" name="Shape 2"/>
          <p:cNvSpPr/>
          <p:nvPr/>
        </p:nvSpPr>
        <p:spPr>
          <a:xfrm>
            <a:off x="822960" y="1920240"/>
            <a:ext cx="1005840" cy="1005840"/>
          </a:xfrm>
          <a:prstGeom prst="ellipse">
            <a:avLst/>
          </a:prstGeom>
          <a:solidFill>
            <a:srgbClr val="C6A24C"/>
          </a:solidFill>
          <a:ln w="12700">
            <a:solidFill>
              <a:srgbClr val="C6A24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1074420" y="2171700"/>
            <a:ext cx="502920" cy="502920"/>
          </a:xfrm>
          <a:prstGeom prst="rect">
            <a:avLst/>
          </a:prstGeom>
        </p:spPr>
      </p:pic>
      <p:sp>
        <p:nvSpPr>
          <p:cNvPr id="6" name="Text 3"/>
          <p:cNvSpPr txBox="1"/>
          <p:nvPr/>
        </p:nvSpPr>
        <p:spPr>
          <a:xfrm>
            <a:off x="2103120" y="1508760"/>
            <a:ext cx="9326880" cy="1920240"/>
          </a:xfrm>
          <a:prstGeom prst="rect">
            <a:avLst/>
          </a:prstGeom>
          <a:noFill/>
          <a:ln/>
        </p:spPr>
        <p:txBody>
          <a:bodyPr wrap="square" lIns="0" tIns="0" rIns="0" bIns="0" rtlCol="0" anchor="ctr"/>
          <a:lstStyle/>
          <a:p>
            <a:pPr marL="0" indent="0">
              <a:buNone/>
            </a:pPr>
            <a:r>
              <a:rPr lang="en-US" sz="2800" dirty="0">
                <a:solidFill>
                  <a:srgbClr val="FFFFFF"/>
                </a:solidFill>
                <a:latin typeface="Calibri" pitchFamily="34" charset="0"/>
                <a:ea typeface="Calibri" pitchFamily="34" charset="-122"/>
                <a:cs typeface="Calibri" pitchFamily="34" charset="-120"/>
              </a:rPr>
              <a:t>A hospital chain launches a 24/7 patient portal to cut admin calls by 30% and build patient trust. We must go live in 60 days.</a:t>
            </a:r>
            <a:endParaRPr lang="en-US" sz="2800" dirty="0"/>
          </a:p>
        </p:txBody>
      </p:sp>
      <p:sp>
        <p:nvSpPr>
          <p:cNvPr id="7" name="Shape 4"/>
          <p:cNvSpPr/>
          <p:nvPr/>
        </p:nvSpPr>
        <p:spPr>
          <a:xfrm>
            <a:off x="548640" y="3703320"/>
            <a:ext cx="2011680" cy="731520"/>
          </a:xfrm>
          <a:prstGeom prst="roundRect">
            <a:avLst>
              <a:gd name="adj" fmla="val 12500"/>
            </a:avLst>
          </a:prstGeom>
          <a:solidFill>
            <a:srgbClr val="EEF4EF"/>
          </a:solidFill>
          <a:ln w="12700">
            <a:solidFill>
              <a:srgbClr val="EEF4EF"/>
            </a:solidFill>
            <a:prstDash val="solid"/>
          </a:ln>
        </p:spPr>
        <p:txBody>
          <a:bodyPr/>
          <a:lstStyle/>
          <a:p>
            <a:endParaRPr lang="en-ZA"/>
          </a:p>
        </p:txBody>
      </p:sp>
      <p:sp>
        <p:nvSpPr>
          <p:cNvPr id="8" name="Text 5"/>
          <p:cNvSpPr txBox="1"/>
          <p:nvPr/>
        </p:nvSpPr>
        <p:spPr>
          <a:xfrm>
            <a:off x="548640" y="3703320"/>
            <a:ext cx="2011680" cy="731520"/>
          </a:xfrm>
          <a:prstGeom prst="rect">
            <a:avLst/>
          </a:prstGeom>
          <a:noFill/>
          <a:ln/>
        </p:spPr>
        <p:txBody>
          <a:bodyPr wrap="square" lIns="0" tIns="0" rIns="0" bIns="0" rtlCol="0" anchor="ctr"/>
          <a:lstStyle/>
          <a:p>
            <a:pPr marL="0" indent="0" algn="ctr">
              <a:buNone/>
            </a:pPr>
            <a:r>
              <a:rPr lang="en-US" sz="2600" b="1" dirty="0">
                <a:solidFill>
                  <a:srgbClr val="1A5C2C"/>
                </a:solidFill>
                <a:latin typeface="Calibri" pitchFamily="34" charset="0"/>
                <a:ea typeface="Calibri" pitchFamily="34" charset="-122"/>
                <a:cs typeface="Calibri" pitchFamily="34" charset="-120"/>
              </a:rPr>
              <a:t>CEO</a:t>
            </a:r>
            <a:endParaRPr lang="en-US" sz="2600" dirty="0"/>
          </a:p>
        </p:txBody>
      </p:sp>
      <p:sp>
        <p:nvSpPr>
          <p:cNvPr id="9" name="Shape 6"/>
          <p:cNvSpPr/>
          <p:nvPr/>
        </p:nvSpPr>
        <p:spPr>
          <a:xfrm>
            <a:off x="2802636" y="3703320"/>
            <a:ext cx="2011680" cy="731520"/>
          </a:xfrm>
          <a:prstGeom prst="roundRect">
            <a:avLst>
              <a:gd name="adj" fmla="val 12500"/>
            </a:avLst>
          </a:prstGeom>
          <a:solidFill>
            <a:srgbClr val="EEF4EF"/>
          </a:solidFill>
          <a:ln w="12700">
            <a:solidFill>
              <a:srgbClr val="EEF4EF"/>
            </a:solidFill>
            <a:prstDash val="solid"/>
          </a:ln>
        </p:spPr>
        <p:txBody>
          <a:bodyPr/>
          <a:lstStyle/>
          <a:p>
            <a:endParaRPr lang="en-ZA"/>
          </a:p>
        </p:txBody>
      </p:sp>
      <p:sp>
        <p:nvSpPr>
          <p:cNvPr id="10" name="Text 7"/>
          <p:cNvSpPr txBox="1"/>
          <p:nvPr/>
        </p:nvSpPr>
        <p:spPr>
          <a:xfrm>
            <a:off x="2802636" y="3703320"/>
            <a:ext cx="2011680" cy="731520"/>
          </a:xfrm>
          <a:prstGeom prst="rect">
            <a:avLst/>
          </a:prstGeom>
          <a:noFill/>
          <a:ln/>
        </p:spPr>
        <p:txBody>
          <a:bodyPr wrap="square" lIns="0" tIns="0" rIns="0" bIns="0" rtlCol="0" anchor="ctr"/>
          <a:lstStyle/>
          <a:p>
            <a:pPr marL="0" indent="0" algn="ctr">
              <a:buNone/>
            </a:pPr>
            <a:r>
              <a:rPr lang="en-US" sz="2600" b="1" dirty="0">
                <a:solidFill>
                  <a:srgbClr val="1A5C2C"/>
                </a:solidFill>
                <a:latin typeface="Calibri" pitchFamily="34" charset="0"/>
                <a:ea typeface="Calibri" pitchFamily="34" charset="-122"/>
                <a:cs typeface="Calibri" pitchFamily="34" charset="-120"/>
              </a:rPr>
              <a:t>CFO</a:t>
            </a:r>
            <a:endParaRPr lang="en-US" sz="2600" dirty="0"/>
          </a:p>
        </p:txBody>
      </p:sp>
      <p:sp>
        <p:nvSpPr>
          <p:cNvPr id="11" name="Shape 8"/>
          <p:cNvSpPr/>
          <p:nvPr/>
        </p:nvSpPr>
        <p:spPr>
          <a:xfrm>
            <a:off x="5056632" y="3703320"/>
            <a:ext cx="2011680" cy="731520"/>
          </a:xfrm>
          <a:prstGeom prst="roundRect">
            <a:avLst>
              <a:gd name="adj" fmla="val 12500"/>
            </a:avLst>
          </a:prstGeom>
          <a:solidFill>
            <a:srgbClr val="EEF4EF"/>
          </a:solidFill>
          <a:ln w="12700">
            <a:solidFill>
              <a:srgbClr val="EEF4EF"/>
            </a:solidFill>
            <a:prstDash val="solid"/>
          </a:ln>
        </p:spPr>
        <p:txBody>
          <a:bodyPr/>
          <a:lstStyle/>
          <a:p>
            <a:endParaRPr lang="en-ZA"/>
          </a:p>
        </p:txBody>
      </p:sp>
      <p:sp>
        <p:nvSpPr>
          <p:cNvPr id="12" name="Text 9"/>
          <p:cNvSpPr txBox="1"/>
          <p:nvPr/>
        </p:nvSpPr>
        <p:spPr>
          <a:xfrm>
            <a:off x="5056632" y="3703320"/>
            <a:ext cx="2011680" cy="731520"/>
          </a:xfrm>
          <a:prstGeom prst="rect">
            <a:avLst/>
          </a:prstGeom>
          <a:noFill/>
          <a:ln/>
        </p:spPr>
        <p:txBody>
          <a:bodyPr wrap="square" lIns="0" tIns="0" rIns="0" bIns="0" rtlCol="0" anchor="ctr"/>
          <a:lstStyle/>
          <a:p>
            <a:pPr marL="0" indent="0" algn="ctr">
              <a:buNone/>
            </a:pPr>
            <a:r>
              <a:rPr lang="en-US" sz="2600" b="1" dirty="0">
                <a:solidFill>
                  <a:srgbClr val="1A5C2C"/>
                </a:solidFill>
                <a:latin typeface="Calibri" pitchFamily="34" charset="0"/>
                <a:ea typeface="Calibri" pitchFamily="34" charset="-122"/>
                <a:cs typeface="Calibri" pitchFamily="34" charset="-120"/>
              </a:rPr>
              <a:t>COO</a:t>
            </a:r>
            <a:endParaRPr lang="en-US" sz="2600" dirty="0"/>
          </a:p>
        </p:txBody>
      </p:sp>
      <p:sp>
        <p:nvSpPr>
          <p:cNvPr id="13" name="Shape 10"/>
          <p:cNvSpPr/>
          <p:nvPr/>
        </p:nvSpPr>
        <p:spPr>
          <a:xfrm>
            <a:off x="7310628" y="3703320"/>
            <a:ext cx="2011680" cy="731520"/>
          </a:xfrm>
          <a:prstGeom prst="roundRect">
            <a:avLst>
              <a:gd name="adj" fmla="val 12500"/>
            </a:avLst>
          </a:prstGeom>
          <a:solidFill>
            <a:srgbClr val="EEF4EF"/>
          </a:solidFill>
          <a:ln w="12700">
            <a:solidFill>
              <a:srgbClr val="EEF4EF"/>
            </a:solidFill>
            <a:prstDash val="solid"/>
          </a:ln>
        </p:spPr>
        <p:txBody>
          <a:bodyPr/>
          <a:lstStyle/>
          <a:p>
            <a:endParaRPr lang="en-ZA"/>
          </a:p>
        </p:txBody>
      </p:sp>
      <p:sp>
        <p:nvSpPr>
          <p:cNvPr id="14" name="Text 11"/>
          <p:cNvSpPr txBox="1"/>
          <p:nvPr/>
        </p:nvSpPr>
        <p:spPr>
          <a:xfrm>
            <a:off x="7310628" y="3703320"/>
            <a:ext cx="2011680" cy="731520"/>
          </a:xfrm>
          <a:prstGeom prst="rect">
            <a:avLst/>
          </a:prstGeom>
          <a:noFill/>
          <a:ln/>
        </p:spPr>
        <p:txBody>
          <a:bodyPr wrap="square" lIns="0" tIns="0" rIns="0" bIns="0" rtlCol="0" anchor="ctr"/>
          <a:lstStyle/>
          <a:p>
            <a:pPr marL="0" indent="0" algn="ctr">
              <a:buNone/>
            </a:pPr>
            <a:r>
              <a:rPr lang="en-US" sz="2600" b="1" dirty="0">
                <a:solidFill>
                  <a:srgbClr val="1A5C2C"/>
                </a:solidFill>
                <a:latin typeface="Calibri" pitchFamily="34" charset="0"/>
                <a:ea typeface="Calibri" pitchFamily="34" charset="-122"/>
                <a:cs typeface="Calibri" pitchFamily="34" charset="-120"/>
              </a:rPr>
              <a:t>CHRO</a:t>
            </a:r>
            <a:endParaRPr lang="en-US" sz="2600" dirty="0"/>
          </a:p>
        </p:txBody>
      </p:sp>
      <p:sp>
        <p:nvSpPr>
          <p:cNvPr id="15" name="Shape 12"/>
          <p:cNvSpPr/>
          <p:nvPr/>
        </p:nvSpPr>
        <p:spPr>
          <a:xfrm>
            <a:off x="9564624" y="3703320"/>
            <a:ext cx="2011680" cy="731520"/>
          </a:xfrm>
          <a:prstGeom prst="roundRect">
            <a:avLst>
              <a:gd name="adj" fmla="val 12500"/>
            </a:avLst>
          </a:prstGeom>
          <a:solidFill>
            <a:srgbClr val="EEF4EF"/>
          </a:solidFill>
          <a:ln w="12700">
            <a:solidFill>
              <a:srgbClr val="EEF4EF"/>
            </a:solidFill>
            <a:prstDash val="solid"/>
          </a:ln>
        </p:spPr>
        <p:txBody>
          <a:bodyPr/>
          <a:lstStyle/>
          <a:p>
            <a:endParaRPr lang="en-ZA"/>
          </a:p>
        </p:txBody>
      </p:sp>
      <p:sp>
        <p:nvSpPr>
          <p:cNvPr id="16" name="Text 13"/>
          <p:cNvSpPr txBox="1"/>
          <p:nvPr/>
        </p:nvSpPr>
        <p:spPr>
          <a:xfrm>
            <a:off x="9564624" y="3703320"/>
            <a:ext cx="2011680" cy="731520"/>
          </a:xfrm>
          <a:prstGeom prst="rect">
            <a:avLst/>
          </a:prstGeom>
          <a:noFill/>
          <a:ln/>
        </p:spPr>
        <p:txBody>
          <a:bodyPr wrap="square" lIns="0" tIns="0" rIns="0" bIns="0" rtlCol="0" anchor="ctr"/>
          <a:lstStyle/>
          <a:p>
            <a:pPr marL="0" indent="0" algn="ctr">
              <a:buNone/>
            </a:pPr>
            <a:r>
              <a:rPr lang="en-US" sz="2600" b="1" dirty="0">
                <a:solidFill>
                  <a:srgbClr val="1A5C2C"/>
                </a:solidFill>
                <a:latin typeface="Calibri" pitchFamily="34" charset="0"/>
                <a:ea typeface="Calibri" pitchFamily="34" charset="-122"/>
                <a:cs typeface="Calibri" pitchFamily="34" charset="-120"/>
              </a:rPr>
              <a:t>CTO</a:t>
            </a:r>
            <a:endParaRPr lang="en-US" sz="2600" dirty="0"/>
          </a:p>
        </p:txBody>
      </p:sp>
      <p:sp>
        <p:nvSpPr>
          <p:cNvPr id="17" name="Shape 14"/>
          <p:cNvSpPr/>
          <p:nvPr/>
        </p:nvSpPr>
        <p:spPr>
          <a:xfrm>
            <a:off x="548640" y="4617720"/>
            <a:ext cx="2011680" cy="731520"/>
          </a:xfrm>
          <a:prstGeom prst="roundRect">
            <a:avLst>
              <a:gd name="adj" fmla="val 12500"/>
            </a:avLst>
          </a:prstGeom>
          <a:solidFill>
            <a:srgbClr val="EEF4EF"/>
          </a:solidFill>
          <a:ln w="12700">
            <a:solidFill>
              <a:srgbClr val="EEF4EF"/>
            </a:solidFill>
            <a:prstDash val="solid"/>
          </a:ln>
        </p:spPr>
        <p:txBody>
          <a:bodyPr/>
          <a:lstStyle/>
          <a:p>
            <a:endParaRPr lang="en-ZA"/>
          </a:p>
        </p:txBody>
      </p:sp>
      <p:sp>
        <p:nvSpPr>
          <p:cNvPr id="18" name="Text 15"/>
          <p:cNvSpPr txBox="1"/>
          <p:nvPr/>
        </p:nvSpPr>
        <p:spPr>
          <a:xfrm>
            <a:off x="548640" y="4617720"/>
            <a:ext cx="2011680" cy="731520"/>
          </a:xfrm>
          <a:prstGeom prst="rect">
            <a:avLst/>
          </a:prstGeom>
          <a:noFill/>
          <a:ln/>
        </p:spPr>
        <p:txBody>
          <a:bodyPr wrap="square" lIns="0" tIns="0" rIns="0" bIns="0" rtlCol="0" anchor="ctr"/>
          <a:lstStyle/>
          <a:p>
            <a:pPr marL="0" indent="0" algn="ctr">
              <a:buNone/>
            </a:pPr>
            <a:r>
              <a:rPr lang="en-US" sz="2600" b="1" dirty="0">
                <a:solidFill>
                  <a:srgbClr val="1A5C2C"/>
                </a:solidFill>
                <a:latin typeface="Calibri" pitchFamily="34" charset="0"/>
                <a:ea typeface="Calibri" pitchFamily="34" charset="-122"/>
                <a:cs typeface="Calibri" pitchFamily="34" charset="-120"/>
              </a:rPr>
              <a:t>CMO</a:t>
            </a:r>
            <a:endParaRPr lang="en-US" sz="2600" dirty="0"/>
          </a:p>
        </p:txBody>
      </p:sp>
      <p:sp>
        <p:nvSpPr>
          <p:cNvPr id="19" name="Shape 16"/>
          <p:cNvSpPr/>
          <p:nvPr/>
        </p:nvSpPr>
        <p:spPr>
          <a:xfrm>
            <a:off x="2802636" y="4617720"/>
            <a:ext cx="2011680" cy="731520"/>
          </a:xfrm>
          <a:prstGeom prst="roundRect">
            <a:avLst>
              <a:gd name="adj" fmla="val 12500"/>
            </a:avLst>
          </a:prstGeom>
          <a:solidFill>
            <a:srgbClr val="EEF4EF"/>
          </a:solidFill>
          <a:ln w="12700">
            <a:solidFill>
              <a:srgbClr val="EEF4EF"/>
            </a:solidFill>
            <a:prstDash val="solid"/>
          </a:ln>
        </p:spPr>
        <p:txBody>
          <a:bodyPr/>
          <a:lstStyle/>
          <a:p>
            <a:endParaRPr lang="en-ZA"/>
          </a:p>
        </p:txBody>
      </p:sp>
      <p:sp>
        <p:nvSpPr>
          <p:cNvPr id="20" name="Text 17"/>
          <p:cNvSpPr txBox="1"/>
          <p:nvPr/>
        </p:nvSpPr>
        <p:spPr>
          <a:xfrm>
            <a:off x="2802636" y="4617720"/>
            <a:ext cx="2011680" cy="731520"/>
          </a:xfrm>
          <a:prstGeom prst="rect">
            <a:avLst/>
          </a:prstGeom>
          <a:noFill/>
          <a:ln/>
        </p:spPr>
        <p:txBody>
          <a:bodyPr wrap="square" lIns="0" tIns="0" rIns="0" bIns="0" rtlCol="0" anchor="ctr"/>
          <a:lstStyle/>
          <a:p>
            <a:pPr marL="0" indent="0" algn="ctr">
              <a:buNone/>
            </a:pPr>
            <a:r>
              <a:rPr lang="en-US" sz="2600" b="1" dirty="0">
                <a:solidFill>
                  <a:srgbClr val="1A5C2C"/>
                </a:solidFill>
                <a:latin typeface="Calibri" pitchFamily="34" charset="0"/>
                <a:ea typeface="Calibri" pitchFamily="34" charset="-122"/>
                <a:cs typeface="Calibri" pitchFamily="34" charset="-120"/>
              </a:rPr>
              <a:t>CCO</a:t>
            </a:r>
            <a:endParaRPr lang="en-US" sz="2600" dirty="0"/>
          </a:p>
        </p:txBody>
      </p:sp>
      <p:sp>
        <p:nvSpPr>
          <p:cNvPr id="21" name="Shape 18"/>
          <p:cNvSpPr/>
          <p:nvPr/>
        </p:nvSpPr>
        <p:spPr>
          <a:xfrm>
            <a:off x="5056632" y="4617720"/>
            <a:ext cx="2011680" cy="731520"/>
          </a:xfrm>
          <a:prstGeom prst="roundRect">
            <a:avLst>
              <a:gd name="adj" fmla="val 12500"/>
            </a:avLst>
          </a:prstGeom>
          <a:solidFill>
            <a:srgbClr val="EEF4EF"/>
          </a:solidFill>
          <a:ln w="12700">
            <a:solidFill>
              <a:srgbClr val="EEF4EF"/>
            </a:solidFill>
            <a:prstDash val="solid"/>
          </a:ln>
        </p:spPr>
        <p:txBody>
          <a:bodyPr/>
          <a:lstStyle/>
          <a:p>
            <a:endParaRPr lang="en-ZA"/>
          </a:p>
        </p:txBody>
      </p:sp>
      <p:sp>
        <p:nvSpPr>
          <p:cNvPr id="22" name="Text 19"/>
          <p:cNvSpPr txBox="1"/>
          <p:nvPr/>
        </p:nvSpPr>
        <p:spPr>
          <a:xfrm>
            <a:off x="5056632" y="4617720"/>
            <a:ext cx="2011680" cy="731520"/>
          </a:xfrm>
          <a:prstGeom prst="rect">
            <a:avLst/>
          </a:prstGeom>
          <a:noFill/>
          <a:ln/>
        </p:spPr>
        <p:txBody>
          <a:bodyPr wrap="square" lIns="0" tIns="0" rIns="0" bIns="0" rtlCol="0" anchor="ctr"/>
          <a:lstStyle/>
          <a:p>
            <a:pPr marL="0" indent="0" algn="ctr">
              <a:buNone/>
            </a:pPr>
            <a:r>
              <a:rPr lang="en-US" sz="2600" b="1" dirty="0">
                <a:solidFill>
                  <a:srgbClr val="1A5C2C"/>
                </a:solidFill>
                <a:latin typeface="Calibri" pitchFamily="34" charset="0"/>
                <a:ea typeface="Calibri" pitchFamily="34" charset="-122"/>
                <a:cs typeface="Calibri" pitchFamily="34" charset="-120"/>
              </a:rPr>
              <a:t>CPO</a:t>
            </a:r>
            <a:endParaRPr lang="en-US" sz="2600" dirty="0"/>
          </a:p>
        </p:txBody>
      </p:sp>
      <p:sp>
        <p:nvSpPr>
          <p:cNvPr id="23" name="Shape 20"/>
          <p:cNvSpPr/>
          <p:nvPr/>
        </p:nvSpPr>
        <p:spPr>
          <a:xfrm>
            <a:off x="7310628" y="4617720"/>
            <a:ext cx="2011680" cy="731520"/>
          </a:xfrm>
          <a:prstGeom prst="roundRect">
            <a:avLst>
              <a:gd name="adj" fmla="val 12500"/>
            </a:avLst>
          </a:prstGeom>
          <a:solidFill>
            <a:srgbClr val="EEF4EF"/>
          </a:solidFill>
          <a:ln w="12700">
            <a:solidFill>
              <a:srgbClr val="EEF4EF"/>
            </a:solidFill>
            <a:prstDash val="solid"/>
          </a:ln>
        </p:spPr>
        <p:txBody>
          <a:bodyPr/>
          <a:lstStyle/>
          <a:p>
            <a:endParaRPr lang="en-ZA"/>
          </a:p>
        </p:txBody>
      </p:sp>
      <p:sp>
        <p:nvSpPr>
          <p:cNvPr id="24" name="Text 21"/>
          <p:cNvSpPr txBox="1"/>
          <p:nvPr/>
        </p:nvSpPr>
        <p:spPr>
          <a:xfrm>
            <a:off x="7310628" y="4617720"/>
            <a:ext cx="2011680" cy="731520"/>
          </a:xfrm>
          <a:prstGeom prst="rect">
            <a:avLst/>
          </a:prstGeom>
          <a:noFill/>
          <a:ln/>
        </p:spPr>
        <p:txBody>
          <a:bodyPr wrap="square" lIns="0" tIns="0" rIns="0" bIns="0" rtlCol="0" anchor="ctr"/>
          <a:lstStyle/>
          <a:p>
            <a:pPr marL="0" indent="0" algn="ctr">
              <a:buNone/>
            </a:pPr>
            <a:r>
              <a:rPr lang="en-US" sz="2600" b="1" dirty="0">
                <a:solidFill>
                  <a:srgbClr val="1A5C2C"/>
                </a:solidFill>
                <a:latin typeface="Calibri" pitchFamily="34" charset="0"/>
                <a:ea typeface="Calibri" pitchFamily="34" charset="-122"/>
                <a:cs typeface="Calibri" pitchFamily="34" charset="-120"/>
              </a:rPr>
              <a:t>CRO</a:t>
            </a:r>
            <a:endParaRPr lang="en-US" sz="2600" dirty="0"/>
          </a:p>
        </p:txBody>
      </p:sp>
      <p:sp>
        <p:nvSpPr>
          <p:cNvPr id="25" name="Shape 22"/>
          <p:cNvSpPr/>
          <p:nvPr/>
        </p:nvSpPr>
        <p:spPr>
          <a:xfrm>
            <a:off x="9564624" y="4617720"/>
            <a:ext cx="2011680" cy="731520"/>
          </a:xfrm>
          <a:prstGeom prst="roundRect">
            <a:avLst>
              <a:gd name="adj" fmla="val 12500"/>
            </a:avLst>
          </a:prstGeom>
          <a:solidFill>
            <a:srgbClr val="EEF4EF"/>
          </a:solidFill>
          <a:ln w="12700">
            <a:solidFill>
              <a:srgbClr val="EEF4EF"/>
            </a:solidFill>
            <a:prstDash val="solid"/>
          </a:ln>
        </p:spPr>
        <p:txBody>
          <a:bodyPr/>
          <a:lstStyle/>
          <a:p>
            <a:endParaRPr lang="en-ZA"/>
          </a:p>
        </p:txBody>
      </p:sp>
      <p:sp>
        <p:nvSpPr>
          <p:cNvPr id="26" name="Text 23"/>
          <p:cNvSpPr txBox="1"/>
          <p:nvPr/>
        </p:nvSpPr>
        <p:spPr>
          <a:xfrm>
            <a:off x="9564624" y="4617720"/>
            <a:ext cx="2011680" cy="731520"/>
          </a:xfrm>
          <a:prstGeom prst="rect">
            <a:avLst/>
          </a:prstGeom>
          <a:noFill/>
          <a:ln/>
        </p:spPr>
        <p:txBody>
          <a:bodyPr wrap="square" lIns="0" tIns="0" rIns="0" bIns="0" rtlCol="0" anchor="ctr"/>
          <a:lstStyle/>
          <a:p>
            <a:pPr marL="0" indent="0" algn="ctr">
              <a:buNone/>
            </a:pPr>
            <a:r>
              <a:rPr lang="en-US" sz="2600" b="1" dirty="0">
                <a:solidFill>
                  <a:srgbClr val="1A5C2C"/>
                </a:solidFill>
                <a:latin typeface="Calibri" pitchFamily="34" charset="0"/>
                <a:ea typeface="Calibri" pitchFamily="34" charset="-122"/>
                <a:cs typeface="Calibri" pitchFamily="34" charset="-120"/>
              </a:rPr>
              <a:t>CSO</a:t>
            </a:r>
            <a:endParaRPr lang="en-US" sz="2600" dirty="0"/>
          </a:p>
        </p:txBody>
      </p:sp>
      <p:sp>
        <p:nvSpPr>
          <p:cNvPr id="27" name="Text 24"/>
          <p:cNvSpPr txBox="1"/>
          <p:nvPr/>
        </p:nvSpPr>
        <p:spPr>
          <a:xfrm>
            <a:off x="548640" y="5669280"/>
            <a:ext cx="11064240" cy="640080"/>
          </a:xfrm>
          <a:prstGeom prst="rect">
            <a:avLst/>
          </a:prstGeom>
          <a:noFill/>
          <a:ln/>
        </p:spPr>
        <p:txBody>
          <a:bodyPr wrap="square" lIns="0" tIns="0" rIns="0" bIns="0" rtlCol="0" anchor="t"/>
          <a:lstStyle/>
          <a:p>
            <a:pPr marL="0" indent="0">
              <a:buNone/>
            </a:pPr>
            <a:r>
              <a:rPr lang="en-US" sz="2400" i="1" dirty="0">
                <a:solidFill>
                  <a:srgbClr val="4E5E53"/>
                </a:solidFill>
                <a:latin typeface="Calibri" pitchFamily="34" charset="0"/>
                <a:ea typeface="Calibri" pitchFamily="34" charset="-122"/>
                <a:cs typeface="Calibri" pitchFamily="34" charset="-120"/>
              </a:rPr>
              <a:t>Every executive hears the same words through their own professional filter.</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10972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3.2 · The Hidden Cost Of Poor Behavioural Awareness</a:t>
            </a:r>
            <a:endParaRPr lang="en-US" sz="3600" dirty="0"/>
          </a:p>
        </p:txBody>
      </p:sp>
      <p:sp>
        <p:nvSpPr>
          <p:cNvPr id="3" name="Shape 1"/>
          <p:cNvSpPr/>
          <p:nvPr/>
        </p:nvSpPr>
        <p:spPr>
          <a:xfrm>
            <a:off x="548640" y="1508760"/>
            <a:ext cx="3657600" cy="4846320"/>
          </a:xfrm>
          <a:prstGeom prst="roundRect">
            <a:avLst>
              <a:gd name="adj" fmla="val 2500"/>
            </a:avLst>
          </a:prstGeom>
          <a:solidFill>
            <a:srgbClr val="1A5C2C"/>
          </a:solidFill>
          <a:ln w="12700">
            <a:solidFill>
              <a:srgbClr val="1A5C2C"/>
            </a:solidFill>
            <a:prstDash val="solid"/>
          </a:ln>
        </p:spPr>
        <p:txBody>
          <a:bodyPr/>
          <a:lstStyle/>
          <a:p>
            <a:endParaRPr lang="en-ZA"/>
          </a:p>
        </p:txBody>
      </p:sp>
      <p:sp>
        <p:nvSpPr>
          <p:cNvPr id="4" name="Text 2"/>
          <p:cNvSpPr txBox="1"/>
          <p:nvPr/>
        </p:nvSpPr>
        <p:spPr>
          <a:xfrm>
            <a:off x="640080" y="1737360"/>
            <a:ext cx="3474720" cy="1463040"/>
          </a:xfrm>
          <a:prstGeom prst="rect">
            <a:avLst/>
          </a:prstGeom>
          <a:noFill/>
          <a:ln/>
        </p:spPr>
        <p:txBody>
          <a:bodyPr wrap="square" lIns="0" tIns="0" rIns="0" bIns="0" rtlCol="0" anchor="ctr"/>
          <a:lstStyle/>
          <a:p>
            <a:pPr marL="0" indent="0" algn="ctr">
              <a:buNone/>
            </a:pPr>
            <a:r>
              <a:rPr lang="en-US" sz="8000" b="1" dirty="0">
                <a:solidFill>
                  <a:srgbClr val="C6A24C"/>
                </a:solidFill>
                <a:latin typeface="Cambria" pitchFamily="34" charset="0"/>
                <a:ea typeface="Cambria" pitchFamily="34" charset="-122"/>
                <a:cs typeface="Cambria" pitchFamily="34" charset="-120"/>
              </a:rPr>
              <a:t>≈6%</a:t>
            </a:r>
            <a:endParaRPr lang="en-US" sz="8000" dirty="0"/>
          </a:p>
        </p:txBody>
      </p:sp>
      <p:sp>
        <p:nvSpPr>
          <p:cNvPr id="5" name="Text 3"/>
          <p:cNvSpPr txBox="1"/>
          <p:nvPr/>
        </p:nvSpPr>
        <p:spPr>
          <a:xfrm>
            <a:off x="777240" y="3291840"/>
            <a:ext cx="3200400" cy="2926080"/>
          </a:xfrm>
          <a:prstGeom prst="rect">
            <a:avLst/>
          </a:prstGeom>
          <a:noFill/>
          <a:ln/>
        </p:spPr>
        <p:txBody>
          <a:bodyPr wrap="square" lIns="0" tIns="0" rIns="0" bIns="0" rtlCol="0" anchor="t"/>
          <a:lstStyle/>
          <a:p>
            <a:pPr marL="0" indent="0" algn="ctr">
              <a:buNone/>
            </a:pPr>
            <a:r>
              <a:rPr lang="en-US" sz="2400" dirty="0">
                <a:solidFill>
                  <a:srgbClr val="FFFFFF"/>
                </a:solidFill>
                <a:latin typeface="Calibri" pitchFamily="34" charset="0"/>
                <a:ea typeface="Calibri" pitchFamily="34" charset="-122"/>
                <a:cs typeface="Calibri" pitchFamily="34" charset="-120"/>
              </a:rPr>
              <a:t>higher returns where decision-making actively mitigates bias (McKinsey)</a:t>
            </a:r>
            <a:endParaRPr lang="en-US" sz="2400" dirty="0"/>
          </a:p>
        </p:txBody>
      </p:sp>
      <p:sp>
        <p:nvSpPr>
          <p:cNvPr id="6" name="Shape 4"/>
          <p:cNvSpPr/>
          <p:nvPr/>
        </p:nvSpPr>
        <p:spPr>
          <a:xfrm>
            <a:off x="4526280" y="1709928"/>
            <a:ext cx="566928" cy="566928"/>
          </a:xfrm>
          <a:prstGeom prst="ellipse">
            <a:avLst/>
          </a:prstGeom>
          <a:solidFill>
            <a:srgbClr val="1A5C2C"/>
          </a:solidFill>
          <a:ln w="12700">
            <a:solidFill>
              <a:srgbClr val="1A5C2C"/>
            </a:solidFill>
            <a:prstDash val="solid"/>
          </a:ln>
        </p:spPr>
        <p:txBody>
          <a:bodyPr/>
          <a:lstStyle/>
          <a:p>
            <a:endParaRPr lang="en-ZA"/>
          </a:p>
        </p:txBody>
      </p:sp>
      <p:pic>
        <p:nvPicPr>
          <p:cNvPr id="7" name="Image 0" descr="preencoded.png"/>
          <p:cNvPicPr>
            <a:picLocks noChangeAspect="1"/>
          </p:cNvPicPr>
          <p:nvPr/>
        </p:nvPicPr>
        <p:blipFill>
          <a:blip r:embed="rId3"/>
          <a:stretch>
            <a:fillRect/>
          </a:stretch>
        </p:blipFill>
        <p:spPr>
          <a:xfrm>
            <a:off x="4668012" y="1851660"/>
            <a:ext cx="283464" cy="283464"/>
          </a:xfrm>
          <a:prstGeom prst="rect">
            <a:avLst/>
          </a:prstGeom>
        </p:spPr>
      </p:pic>
      <p:sp>
        <p:nvSpPr>
          <p:cNvPr id="8" name="Text 5"/>
          <p:cNvSpPr txBox="1"/>
          <p:nvPr/>
        </p:nvSpPr>
        <p:spPr>
          <a:xfrm>
            <a:off x="5303520" y="1508760"/>
            <a:ext cx="6336792" cy="969264"/>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Misallocated Capital  </a:t>
            </a:r>
            <a:r>
              <a:rPr lang="en-US" sz="2400" dirty="0">
                <a:solidFill>
                  <a:srgbClr val="4E5E53"/>
                </a:solidFill>
                <a:latin typeface="Calibri" pitchFamily="34" charset="0"/>
                <a:ea typeface="Calibri" pitchFamily="34" charset="-122"/>
                <a:cs typeface="Calibri" pitchFamily="34" charset="-120"/>
              </a:rPr>
              <a:t>Stability &amp; Action Biases</a:t>
            </a:r>
            <a:endParaRPr lang="en-US" sz="2400" dirty="0"/>
          </a:p>
        </p:txBody>
      </p:sp>
      <p:sp>
        <p:nvSpPr>
          <p:cNvPr id="9" name="Shape 6"/>
          <p:cNvSpPr/>
          <p:nvPr/>
        </p:nvSpPr>
        <p:spPr>
          <a:xfrm>
            <a:off x="4526280" y="2679192"/>
            <a:ext cx="566928" cy="566928"/>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668012" y="2820924"/>
            <a:ext cx="283464" cy="283464"/>
          </a:xfrm>
          <a:prstGeom prst="rect">
            <a:avLst/>
          </a:prstGeom>
        </p:spPr>
      </p:pic>
      <p:sp>
        <p:nvSpPr>
          <p:cNvPr id="11" name="Text 7"/>
          <p:cNvSpPr txBox="1"/>
          <p:nvPr/>
        </p:nvSpPr>
        <p:spPr>
          <a:xfrm>
            <a:off x="5303520" y="2478024"/>
            <a:ext cx="6336792" cy="969264"/>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Strategic Inertia  </a:t>
            </a:r>
            <a:r>
              <a:rPr lang="en-US" sz="2400" dirty="0">
                <a:solidFill>
                  <a:srgbClr val="4E5E53"/>
                </a:solidFill>
                <a:latin typeface="Calibri" pitchFamily="34" charset="0"/>
                <a:ea typeface="Calibri" pitchFamily="34" charset="-122"/>
                <a:cs typeface="Calibri" pitchFamily="34" charset="-120"/>
              </a:rPr>
              <a:t>Stability Biases</a:t>
            </a:r>
            <a:endParaRPr lang="en-US" sz="2400" dirty="0"/>
          </a:p>
        </p:txBody>
      </p:sp>
      <p:sp>
        <p:nvSpPr>
          <p:cNvPr id="12" name="Shape 8"/>
          <p:cNvSpPr/>
          <p:nvPr/>
        </p:nvSpPr>
        <p:spPr>
          <a:xfrm>
            <a:off x="4526280" y="3648456"/>
            <a:ext cx="566928" cy="566928"/>
          </a:xfrm>
          <a:prstGeom prst="ellipse">
            <a:avLst/>
          </a:prstGeom>
          <a:solidFill>
            <a:srgbClr val="1A5C2C"/>
          </a:solidFill>
          <a:ln w="12700">
            <a:solidFill>
              <a:srgbClr val="1A5C2C"/>
            </a:solidFill>
            <a:prstDash val="solid"/>
          </a:ln>
        </p:spPr>
        <p:txBody>
          <a:bodyPr/>
          <a:lstStyle/>
          <a:p>
            <a:endParaRPr lang="en-ZA"/>
          </a:p>
        </p:txBody>
      </p:sp>
      <p:pic>
        <p:nvPicPr>
          <p:cNvPr id="13" name="Image 2" descr="preencoded.png"/>
          <p:cNvPicPr>
            <a:picLocks noChangeAspect="1"/>
          </p:cNvPicPr>
          <p:nvPr/>
        </p:nvPicPr>
        <p:blipFill>
          <a:blip r:embed="rId5"/>
          <a:stretch>
            <a:fillRect/>
          </a:stretch>
        </p:blipFill>
        <p:spPr>
          <a:xfrm>
            <a:off x="4668012" y="3790188"/>
            <a:ext cx="283464" cy="283464"/>
          </a:xfrm>
          <a:prstGeom prst="rect">
            <a:avLst/>
          </a:prstGeom>
        </p:spPr>
      </p:pic>
      <p:sp>
        <p:nvSpPr>
          <p:cNvPr id="14" name="Text 9"/>
          <p:cNvSpPr txBox="1"/>
          <p:nvPr/>
        </p:nvSpPr>
        <p:spPr>
          <a:xfrm>
            <a:off x="5303520" y="3447288"/>
            <a:ext cx="6336792" cy="969264"/>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Execution Failure  </a:t>
            </a:r>
            <a:r>
              <a:rPr lang="en-US" sz="2400" dirty="0">
                <a:solidFill>
                  <a:srgbClr val="4E5E53"/>
                </a:solidFill>
                <a:latin typeface="Calibri" pitchFamily="34" charset="0"/>
                <a:ea typeface="Calibri" pitchFamily="34" charset="-122"/>
                <a:cs typeface="Calibri" pitchFamily="34" charset="-120"/>
              </a:rPr>
              <a:t>Action-Oriented Biases</a:t>
            </a:r>
            <a:endParaRPr lang="en-US" sz="2400" dirty="0"/>
          </a:p>
        </p:txBody>
      </p:sp>
      <p:sp>
        <p:nvSpPr>
          <p:cNvPr id="15" name="Shape 10"/>
          <p:cNvSpPr/>
          <p:nvPr/>
        </p:nvSpPr>
        <p:spPr>
          <a:xfrm>
            <a:off x="4526280" y="4617720"/>
            <a:ext cx="566928" cy="566928"/>
          </a:xfrm>
          <a:prstGeom prst="ellipse">
            <a:avLst/>
          </a:prstGeom>
          <a:solidFill>
            <a:srgbClr val="1A5C2C"/>
          </a:solidFill>
          <a:ln w="12700">
            <a:solidFill>
              <a:srgbClr val="1A5C2C"/>
            </a:solidFill>
            <a:prstDash val="solid"/>
          </a:ln>
        </p:spPr>
        <p:txBody>
          <a:bodyPr/>
          <a:lstStyle/>
          <a:p>
            <a:endParaRPr lang="en-ZA"/>
          </a:p>
        </p:txBody>
      </p:sp>
      <p:pic>
        <p:nvPicPr>
          <p:cNvPr id="16" name="Image 3" descr="preencoded.png"/>
          <p:cNvPicPr>
            <a:picLocks noChangeAspect="1"/>
          </p:cNvPicPr>
          <p:nvPr/>
        </p:nvPicPr>
        <p:blipFill>
          <a:blip r:embed="rId6"/>
          <a:stretch>
            <a:fillRect/>
          </a:stretch>
        </p:blipFill>
        <p:spPr>
          <a:xfrm>
            <a:off x="4668012" y="4759452"/>
            <a:ext cx="283464" cy="283464"/>
          </a:xfrm>
          <a:prstGeom prst="rect">
            <a:avLst/>
          </a:prstGeom>
        </p:spPr>
      </p:pic>
      <p:sp>
        <p:nvSpPr>
          <p:cNvPr id="17" name="Text 11"/>
          <p:cNvSpPr txBox="1"/>
          <p:nvPr/>
        </p:nvSpPr>
        <p:spPr>
          <a:xfrm>
            <a:off x="5303520" y="4416552"/>
            <a:ext cx="6336792" cy="969264"/>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Innovation Suppression  </a:t>
            </a:r>
            <a:r>
              <a:rPr lang="en-US" sz="2400" dirty="0">
                <a:solidFill>
                  <a:srgbClr val="4E5E53"/>
                </a:solidFill>
                <a:latin typeface="Calibri" pitchFamily="34" charset="0"/>
                <a:ea typeface="Calibri" pitchFamily="34" charset="-122"/>
                <a:cs typeface="Calibri" pitchFamily="34" charset="-120"/>
              </a:rPr>
              <a:t>Social &amp; Interest Biases</a:t>
            </a:r>
            <a:endParaRPr lang="en-US" sz="2400" dirty="0"/>
          </a:p>
        </p:txBody>
      </p:sp>
      <p:sp>
        <p:nvSpPr>
          <p:cNvPr id="18" name="Shape 12"/>
          <p:cNvSpPr/>
          <p:nvPr/>
        </p:nvSpPr>
        <p:spPr>
          <a:xfrm>
            <a:off x="4526280" y="5586984"/>
            <a:ext cx="566928" cy="566928"/>
          </a:xfrm>
          <a:prstGeom prst="ellipse">
            <a:avLst/>
          </a:prstGeom>
          <a:solidFill>
            <a:srgbClr val="1A5C2C"/>
          </a:solidFill>
          <a:ln w="12700">
            <a:solidFill>
              <a:srgbClr val="1A5C2C"/>
            </a:solidFill>
            <a:prstDash val="solid"/>
          </a:ln>
        </p:spPr>
        <p:txBody>
          <a:bodyPr/>
          <a:lstStyle/>
          <a:p>
            <a:endParaRPr lang="en-ZA"/>
          </a:p>
        </p:txBody>
      </p:sp>
      <p:pic>
        <p:nvPicPr>
          <p:cNvPr id="19" name="Image 4" descr="preencoded.png"/>
          <p:cNvPicPr>
            <a:picLocks noChangeAspect="1"/>
          </p:cNvPicPr>
          <p:nvPr/>
        </p:nvPicPr>
        <p:blipFill>
          <a:blip r:embed="rId7"/>
          <a:stretch>
            <a:fillRect/>
          </a:stretch>
        </p:blipFill>
        <p:spPr>
          <a:xfrm>
            <a:off x="4668012" y="5728716"/>
            <a:ext cx="283464" cy="283464"/>
          </a:xfrm>
          <a:prstGeom prst="rect">
            <a:avLst/>
          </a:prstGeom>
        </p:spPr>
      </p:pic>
      <p:sp>
        <p:nvSpPr>
          <p:cNvPr id="20" name="Text 13"/>
          <p:cNvSpPr txBox="1"/>
          <p:nvPr/>
        </p:nvSpPr>
        <p:spPr>
          <a:xfrm>
            <a:off x="5303520" y="5385816"/>
            <a:ext cx="6336792" cy="969264"/>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Purpose Drift  </a:t>
            </a:r>
            <a:r>
              <a:rPr lang="en-US" sz="2400" dirty="0">
                <a:solidFill>
                  <a:srgbClr val="4E5E53"/>
                </a:solidFill>
                <a:latin typeface="Calibri" pitchFamily="34" charset="0"/>
                <a:ea typeface="Calibri" pitchFamily="34" charset="-122"/>
                <a:cs typeface="Calibri" pitchFamily="34" charset="-120"/>
              </a:rPr>
              <a:t>Interest &amp; Social Biases</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80A6D-2200-7597-FBCD-21B7A5264D5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F173494-1931-DB11-8432-DABB33F3A10C}"/>
              </a:ext>
            </a:extLst>
          </p:cNvPr>
          <p:cNvSpPr txBox="1"/>
          <p:nvPr/>
        </p:nvSpPr>
        <p:spPr>
          <a:xfrm>
            <a:off x="641180" y="417576"/>
            <a:ext cx="10909640" cy="1249394"/>
          </a:xfrm>
          <a:prstGeom prst="rect">
            <a:avLst/>
          </a:prstGeom>
        </p:spPr>
        <p:txBody>
          <a:bodyPr vert="horz" lIns="91440" tIns="45720" rIns="91440" bIns="45720" rtlCol="0" anchor="ctr">
            <a:normAutofit/>
          </a:bodyPr>
          <a:lstStyle/>
          <a:p>
            <a:pPr marL="0" indent="0" algn="ctr">
              <a:lnSpc>
                <a:spcPct val="90000"/>
              </a:lnSpc>
              <a:spcBef>
                <a:spcPct val="0"/>
              </a:spcBef>
              <a:spcAft>
                <a:spcPts val="600"/>
              </a:spcAft>
            </a:pPr>
            <a:r>
              <a:rPr lang="en-US" sz="6600" b="1" kern="1200" dirty="0">
                <a:solidFill>
                  <a:schemeClr val="tx1"/>
                </a:solidFill>
                <a:latin typeface="+mj-lt"/>
                <a:ea typeface="+mj-ea"/>
                <a:cs typeface="+mj-cs"/>
              </a:rPr>
              <a:t>Section 3 Reflections</a:t>
            </a:r>
            <a:endParaRPr lang="en-US" sz="6600" kern="1200" dirty="0">
              <a:solidFill>
                <a:schemeClr val="tx1"/>
              </a:solidFill>
              <a:latin typeface="+mj-lt"/>
              <a:ea typeface="+mj-ea"/>
              <a:cs typeface="+mj-cs"/>
            </a:endParaRPr>
          </a:p>
        </p:txBody>
      </p:sp>
      <p:sp>
        <p:nvSpPr>
          <p:cNvPr id="15" name="Oval 14">
            <a:extLst>
              <a:ext uri="{FF2B5EF4-FFF2-40B4-BE49-F238E27FC236}">
                <a16:creationId xmlns:a16="http://schemas.microsoft.com/office/drawing/2014/main" id="{AC3B1411-7240-B985-3F32-4E9FA55D19F4}"/>
              </a:ext>
            </a:extLst>
          </p:cNvPr>
          <p:cNvSpPr/>
          <p:nvPr/>
        </p:nvSpPr>
        <p:spPr>
          <a:xfrm>
            <a:off x="137160" y="2187349"/>
            <a:ext cx="777240" cy="731520"/>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tIns="0" bIns="0"/>
          <a:lstStyle/>
          <a:p>
            <a:pPr algn="ctr"/>
            <a:r>
              <a:rPr lang="en-ZA" sz="2400" dirty="0"/>
              <a:t>3.1</a:t>
            </a:r>
          </a:p>
        </p:txBody>
      </p:sp>
      <p:sp>
        <p:nvSpPr>
          <p:cNvPr id="17" name="Oval 16">
            <a:extLst>
              <a:ext uri="{FF2B5EF4-FFF2-40B4-BE49-F238E27FC236}">
                <a16:creationId xmlns:a16="http://schemas.microsoft.com/office/drawing/2014/main" id="{D4C65E01-49EC-3F27-38EA-BE13B8AB6355}"/>
              </a:ext>
            </a:extLst>
          </p:cNvPr>
          <p:cNvSpPr/>
          <p:nvPr/>
        </p:nvSpPr>
        <p:spPr>
          <a:xfrm>
            <a:off x="137160" y="2942807"/>
            <a:ext cx="777240" cy="731520"/>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tIns="0" bIns="0"/>
          <a:lstStyle/>
          <a:p>
            <a:pPr algn="ctr"/>
            <a:r>
              <a:rPr lang="en-ZA" sz="2400" dirty="0"/>
              <a:t>3.2</a:t>
            </a:r>
          </a:p>
        </p:txBody>
      </p:sp>
      <p:pic>
        <p:nvPicPr>
          <p:cNvPr id="5" name="Picture 4">
            <a:extLst>
              <a:ext uri="{FF2B5EF4-FFF2-40B4-BE49-F238E27FC236}">
                <a16:creationId xmlns:a16="http://schemas.microsoft.com/office/drawing/2014/main" id="{0E6B0501-ADBF-CC53-5253-B24FDA51BB62}"/>
              </a:ext>
            </a:extLst>
          </p:cNvPr>
          <p:cNvPicPr>
            <a:picLocks noChangeAspect="1"/>
          </p:cNvPicPr>
          <p:nvPr/>
        </p:nvPicPr>
        <p:blipFill>
          <a:blip r:embed="rId3"/>
          <a:stretch>
            <a:fillRect/>
          </a:stretch>
        </p:blipFill>
        <p:spPr>
          <a:xfrm>
            <a:off x="1107324" y="1710640"/>
            <a:ext cx="10688687" cy="1310226"/>
          </a:xfrm>
          <a:prstGeom prst="rect">
            <a:avLst/>
          </a:prstGeom>
        </p:spPr>
      </p:pic>
      <p:pic>
        <p:nvPicPr>
          <p:cNvPr id="9" name="Picture 8">
            <a:extLst>
              <a:ext uri="{FF2B5EF4-FFF2-40B4-BE49-F238E27FC236}">
                <a16:creationId xmlns:a16="http://schemas.microsoft.com/office/drawing/2014/main" id="{06993554-51E9-C344-E480-BBB1B7329E64}"/>
              </a:ext>
            </a:extLst>
          </p:cNvPr>
          <p:cNvPicPr>
            <a:picLocks noChangeAspect="1"/>
          </p:cNvPicPr>
          <p:nvPr/>
        </p:nvPicPr>
        <p:blipFill>
          <a:blip r:embed="rId4"/>
          <a:stretch>
            <a:fillRect/>
          </a:stretch>
        </p:blipFill>
        <p:spPr>
          <a:xfrm>
            <a:off x="1107323" y="3033559"/>
            <a:ext cx="10688687" cy="550019"/>
          </a:xfrm>
          <a:prstGeom prst="rect">
            <a:avLst/>
          </a:prstGeom>
        </p:spPr>
      </p:pic>
    </p:spTree>
    <p:extLst>
      <p:ext uri="{BB962C8B-B14F-4D97-AF65-F5344CB8AC3E}">
        <p14:creationId xmlns:p14="http://schemas.microsoft.com/office/powerpoint/2010/main" val="1953440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4</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4</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Extrapolating — Where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The bias landscape · The emotional dimension</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Identify where bias and emotional climate most affect decision quality across the strategy process.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Determine the interventions that would most strengthen objectivity in your own strategy process.</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4.1 · </a:t>
            </a:r>
            <a:r>
              <a:rPr lang="en-GB" sz="3600" b="1" dirty="0">
                <a:solidFill>
                  <a:srgbClr val="1A5C2C"/>
                </a:solidFill>
                <a:latin typeface="Cambria" pitchFamily="34" charset="0"/>
                <a:ea typeface="Cambria" pitchFamily="34" charset="-122"/>
                <a:cs typeface="Cambria" pitchFamily="34" charset="-120"/>
              </a:rPr>
              <a:t>The Strategy Journey As A Bias Landscape</a:t>
            </a:r>
            <a:endParaRPr lang="en-US" sz="3600" dirty="0"/>
          </a:p>
        </p:txBody>
      </p:sp>
      <p:sp>
        <p:nvSpPr>
          <p:cNvPr id="3" name="Shape 1"/>
          <p:cNvSpPr/>
          <p:nvPr/>
        </p:nvSpPr>
        <p:spPr>
          <a:xfrm>
            <a:off x="548640" y="1508760"/>
            <a:ext cx="5408676" cy="4846320"/>
          </a:xfrm>
          <a:prstGeom prst="roundRect">
            <a:avLst>
              <a:gd name="adj" fmla="val 1887"/>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1600200" y="1691640"/>
            <a:ext cx="4128516" cy="731520"/>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Phase 1 · Diagnosis</a:t>
            </a:r>
            <a:endParaRPr lang="en-US" sz="2800" dirty="0"/>
          </a:p>
        </p:txBody>
      </p:sp>
      <p:sp>
        <p:nvSpPr>
          <p:cNvPr id="7" name="Text 4"/>
          <p:cNvSpPr txBox="1"/>
          <p:nvPr/>
        </p:nvSpPr>
        <p:spPr>
          <a:xfrm>
            <a:off x="777240" y="2560320"/>
            <a:ext cx="4951476" cy="1053439"/>
          </a:xfrm>
          <a:prstGeom prst="rect">
            <a:avLst/>
          </a:prstGeom>
          <a:noFill/>
          <a:ln/>
        </p:spPr>
        <p:txBody>
          <a:bodyPr wrap="square" lIns="0" tIns="0" rIns="0" bIns="0" rtlCol="0" anchor="t"/>
          <a:lstStyle/>
          <a:p>
            <a:pPr marL="0" indent="0">
              <a:buNone/>
            </a:pPr>
            <a:r>
              <a:rPr lang="en-US" sz="2600" dirty="0">
                <a:solidFill>
                  <a:srgbClr val="1F2A22"/>
                </a:solidFill>
                <a:latin typeface="Calibri" pitchFamily="34" charset="0"/>
                <a:ea typeface="Calibri" pitchFamily="34" charset="-122"/>
                <a:cs typeface="Calibri" pitchFamily="34" charset="-120"/>
              </a:rPr>
              <a:t>Wrong reality enters the strategy</a:t>
            </a:r>
            <a:endParaRPr lang="en-US" sz="2600" dirty="0"/>
          </a:p>
          <a:p>
            <a:pPr marL="0" indent="0">
              <a:buNone/>
            </a:pPr>
            <a:endParaRPr lang="en-US" sz="2600" dirty="0"/>
          </a:p>
        </p:txBody>
      </p:sp>
      <p:sp>
        <p:nvSpPr>
          <p:cNvPr id="8" name="Shape 5"/>
          <p:cNvSpPr/>
          <p:nvPr/>
        </p:nvSpPr>
        <p:spPr>
          <a:xfrm>
            <a:off x="6231636" y="1508760"/>
            <a:ext cx="5408676" cy="4846320"/>
          </a:xfrm>
          <a:prstGeom prst="roundRect">
            <a:avLst>
              <a:gd name="adj" fmla="val 1887"/>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6460236"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620256" y="1897380"/>
            <a:ext cx="320040" cy="320040"/>
          </a:xfrm>
          <a:prstGeom prst="rect">
            <a:avLst/>
          </a:prstGeom>
        </p:spPr>
      </p:pic>
      <p:sp>
        <p:nvSpPr>
          <p:cNvPr id="11" name="Text 7"/>
          <p:cNvSpPr txBox="1"/>
          <p:nvPr/>
        </p:nvSpPr>
        <p:spPr>
          <a:xfrm>
            <a:off x="7283196" y="1691640"/>
            <a:ext cx="4128516" cy="987552"/>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Phase 2 · Option Generation</a:t>
            </a:r>
            <a:endParaRPr lang="en-US" sz="2800" dirty="0"/>
          </a:p>
        </p:txBody>
      </p:sp>
      <p:sp>
        <p:nvSpPr>
          <p:cNvPr id="12" name="Text 8"/>
          <p:cNvSpPr txBox="1"/>
          <p:nvPr/>
        </p:nvSpPr>
        <p:spPr>
          <a:xfrm>
            <a:off x="6460236" y="2816352"/>
            <a:ext cx="4951476" cy="941456"/>
          </a:xfrm>
          <a:prstGeom prst="rect">
            <a:avLst/>
          </a:prstGeom>
          <a:noFill/>
          <a:ln/>
        </p:spPr>
        <p:txBody>
          <a:bodyPr wrap="square" lIns="0" tIns="0" rIns="0" bIns="0" rtlCol="0" anchor="t"/>
          <a:lstStyle/>
          <a:p>
            <a:pPr marL="0" indent="0">
              <a:buNone/>
            </a:pPr>
            <a:r>
              <a:rPr lang="en-US" sz="2600" dirty="0">
                <a:solidFill>
                  <a:srgbClr val="1F2A22"/>
                </a:solidFill>
                <a:latin typeface="Calibri" pitchFamily="34" charset="0"/>
                <a:ea typeface="Calibri" pitchFamily="34" charset="-122"/>
                <a:cs typeface="Calibri" pitchFamily="34" charset="-120"/>
              </a:rPr>
              <a:t>Solution space narrowed before debate</a:t>
            </a:r>
            <a:endParaRPr lang="en-US" sz="2600" dirty="0"/>
          </a:p>
          <a:p>
            <a:pPr marL="0" indent="0">
              <a:buNone/>
            </a:pPr>
            <a:endParaRPr lang="en-US" sz="2600" dirty="0"/>
          </a:p>
        </p:txBody>
      </p:sp>
      <p:grpSp>
        <p:nvGrpSpPr>
          <p:cNvPr id="45" name="Group 44">
            <a:extLst>
              <a:ext uri="{FF2B5EF4-FFF2-40B4-BE49-F238E27FC236}">
                <a16:creationId xmlns:a16="http://schemas.microsoft.com/office/drawing/2014/main" id="{9211A600-8C2A-8DCB-BAF0-C2765316C5EF}"/>
              </a:ext>
            </a:extLst>
          </p:cNvPr>
          <p:cNvGrpSpPr/>
          <p:nvPr/>
        </p:nvGrpSpPr>
        <p:grpSpPr>
          <a:xfrm>
            <a:off x="777240" y="4353415"/>
            <a:ext cx="10634472" cy="1677861"/>
            <a:chOff x="777240" y="1691640"/>
            <a:chExt cx="10634472" cy="1677861"/>
          </a:xfrm>
        </p:grpSpPr>
        <p:sp>
          <p:nvSpPr>
            <p:cNvPr id="30" name="Shape 2">
              <a:extLst>
                <a:ext uri="{FF2B5EF4-FFF2-40B4-BE49-F238E27FC236}">
                  <a16:creationId xmlns:a16="http://schemas.microsoft.com/office/drawing/2014/main" id="{1A91D732-C1DC-F64E-EECC-D174A90EEFE7}"/>
                </a:ext>
              </a:extLst>
            </p:cNvPr>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32" name="Image 0" descr="preencoded.png">
              <a:extLst>
                <a:ext uri="{FF2B5EF4-FFF2-40B4-BE49-F238E27FC236}">
                  <a16:creationId xmlns:a16="http://schemas.microsoft.com/office/drawing/2014/main" id="{6E07E720-1270-E7DC-D5E9-764CC809254E}"/>
                </a:ext>
              </a:extLst>
            </p:cNvPr>
            <p:cNvPicPr>
              <a:picLocks noChangeAspect="1"/>
            </p:cNvPicPr>
            <p:nvPr/>
          </p:nvPicPr>
          <p:blipFill>
            <a:blip r:embed="rId5"/>
            <a:stretch>
              <a:fillRect/>
            </a:stretch>
          </p:blipFill>
          <p:spPr>
            <a:xfrm>
              <a:off x="937260" y="1897380"/>
              <a:ext cx="320040" cy="320040"/>
            </a:xfrm>
            <a:prstGeom prst="rect">
              <a:avLst/>
            </a:prstGeom>
          </p:spPr>
        </p:pic>
        <p:sp>
          <p:nvSpPr>
            <p:cNvPr id="34" name="Text 3">
              <a:extLst>
                <a:ext uri="{FF2B5EF4-FFF2-40B4-BE49-F238E27FC236}">
                  <a16:creationId xmlns:a16="http://schemas.microsoft.com/office/drawing/2014/main" id="{10FA8043-6E72-C96B-EFBD-F3A942F11AFC}"/>
                </a:ext>
              </a:extLst>
            </p:cNvPr>
            <p:cNvSpPr txBox="1"/>
            <p:nvPr/>
          </p:nvSpPr>
          <p:spPr>
            <a:xfrm>
              <a:off x="1600200" y="1691640"/>
              <a:ext cx="4128516" cy="731520"/>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Phase 3 · Decision</a:t>
              </a:r>
              <a:endParaRPr lang="en-US" sz="2800" dirty="0"/>
            </a:p>
          </p:txBody>
        </p:sp>
        <p:sp>
          <p:nvSpPr>
            <p:cNvPr id="36" name="Text 4">
              <a:extLst>
                <a:ext uri="{FF2B5EF4-FFF2-40B4-BE49-F238E27FC236}">
                  <a16:creationId xmlns:a16="http://schemas.microsoft.com/office/drawing/2014/main" id="{039E2F08-59EB-52F9-2E75-33372952C3CD}"/>
                </a:ext>
              </a:extLst>
            </p:cNvPr>
            <p:cNvSpPr txBox="1"/>
            <p:nvPr/>
          </p:nvSpPr>
          <p:spPr>
            <a:xfrm>
              <a:off x="777240" y="2560320"/>
              <a:ext cx="4951476" cy="809181"/>
            </a:xfrm>
            <a:prstGeom prst="rect">
              <a:avLst/>
            </a:prstGeom>
            <a:noFill/>
            <a:ln/>
          </p:spPr>
          <p:txBody>
            <a:bodyPr wrap="square" lIns="0" tIns="0" rIns="0" bIns="0" rtlCol="0" anchor="t"/>
            <a:lstStyle/>
            <a:p>
              <a:pPr marL="0" indent="0">
                <a:buNone/>
              </a:pPr>
              <a:r>
                <a:rPr lang="en-US" sz="2600" dirty="0">
                  <a:solidFill>
                    <a:srgbClr val="1F2A22"/>
                  </a:solidFill>
                  <a:latin typeface="Calibri" pitchFamily="34" charset="0"/>
                  <a:ea typeface="Calibri" pitchFamily="34" charset="-122"/>
                  <a:cs typeface="Calibri" pitchFamily="34" charset="-120"/>
                </a:rPr>
                <a:t>Chosen path flawed or skewed</a:t>
              </a:r>
              <a:endParaRPr lang="en-US" sz="2600" dirty="0"/>
            </a:p>
            <a:p>
              <a:pPr marL="0" indent="0">
                <a:buNone/>
              </a:pPr>
              <a:endParaRPr lang="en-US" sz="2600" dirty="0"/>
            </a:p>
          </p:txBody>
        </p:sp>
        <p:sp>
          <p:nvSpPr>
            <p:cNvPr id="38" name="Shape 6">
              <a:extLst>
                <a:ext uri="{FF2B5EF4-FFF2-40B4-BE49-F238E27FC236}">
                  <a16:creationId xmlns:a16="http://schemas.microsoft.com/office/drawing/2014/main" id="{5C133616-AE6B-2E8C-E14A-99E3A283833F}"/>
                </a:ext>
              </a:extLst>
            </p:cNvPr>
            <p:cNvSpPr/>
            <p:nvPr/>
          </p:nvSpPr>
          <p:spPr>
            <a:xfrm>
              <a:off x="6460236"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0" name="Image 1" descr="preencoded.png">
              <a:extLst>
                <a:ext uri="{FF2B5EF4-FFF2-40B4-BE49-F238E27FC236}">
                  <a16:creationId xmlns:a16="http://schemas.microsoft.com/office/drawing/2014/main" id="{9F6C55D7-2C62-50DF-F765-29B17D3242E3}"/>
                </a:ext>
              </a:extLst>
            </p:cNvPr>
            <p:cNvPicPr>
              <a:picLocks noChangeAspect="1"/>
            </p:cNvPicPr>
            <p:nvPr/>
          </p:nvPicPr>
          <p:blipFill>
            <a:blip r:embed="rId6"/>
            <a:stretch>
              <a:fillRect/>
            </a:stretch>
          </p:blipFill>
          <p:spPr>
            <a:xfrm>
              <a:off x="6620256" y="1897380"/>
              <a:ext cx="320040" cy="320040"/>
            </a:xfrm>
            <a:prstGeom prst="rect">
              <a:avLst/>
            </a:prstGeom>
          </p:spPr>
        </p:pic>
        <p:sp>
          <p:nvSpPr>
            <p:cNvPr id="42" name="Text 7">
              <a:extLst>
                <a:ext uri="{FF2B5EF4-FFF2-40B4-BE49-F238E27FC236}">
                  <a16:creationId xmlns:a16="http://schemas.microsoft.com/office/drawing/2014/main" id="{E86D7E52-48C7-0966-43C3-B224DE2DC427}"/>
                </a:ext>
              </a:extLst>
            </p:cNvPr>
            <p:cNvSpPr txBox="1"/>
            <p:nvPr/>
          </p:nvSpPr>
          <p:spPr>
            <a:xfrm>
              <a:off x="7283196" y="1691640"/>
              <a:ext cx="4128516" cy="731520"/>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Phase 4 · Execution</a:t>
              </a:r>
              <a:endParaRPr lang="en-US" sz="2800" dirty="0"/>
            </a:p>
          </p:txBody>
        </p:sp>
        <p:sp>
          <p:nvSpPr>
            <p:cNvPr id="44" name="Text 8">
              <a:extLst>
                <a:ext uri="{FF2B5EF4-FFF2-40B4-BE49-F238E27FC236}">
                  <a16:creationId xmlns:a16="http://schemas.microsoft.com/office/drawing/2014/main" id="{DAC6D9ED-9B10-1B8E-8E2D-03515E38731B}"/>
                </a:ext>
              </a:extLst>
            </p:cNvPr>
            <p:cNvSpPr txBox="1"/>
            <p:nvPr/>
          </p:nvSpPr>
          <p:spPr>
            <a:xfrm>
              <a:off x="6460236" y="2560320"/>
              <a:ext cx="4951476" cy="640080"/>
            </a:xfrm>
            <a:prstGeom prst="rect">
              <a:avLst/>
            </a:prstGeom>
            <a:noFill/>
            <a:ln/>
          </p:spPr>
          <p:txBody>
            <a:bodyPr wrap="square" lIns="0" tIns="0" rIns="0" bIns="0" rtlCol="0" anchor="t"/>
            <a:lstStyle/>
            <a:p>
              <a:pPr marL="0" indent="0">
                <a:buNone/>
              </a:pPr>
              <a:r>
                <a:rPr lang="en-US" sz="2600" dirty="0">
                  <a:solidFill>
                    <a:srgbClr val="1F2A22"/>
                  </a:solidFill>
                  <a:latin typeface="Calibri" pitchFamily="34" charset="0"/>
                  <a:ea typeface="Calibri" pitchFamily="34" charset="-122"/>
                  <a:cs typeface="Calibri" pitchFamily="34" charset="-120"/>
                </a:rPr>
                <a:t>Strategy decays in delivery</a:t>
              </a:r>
              <a:endParaRPr lang="en-US" sz="2600" dirty="0"/>
            </a:p>
            <a:p>
              <a:pPr marL="0" indent="0">
                <a:buNone/>
              </a:pPr>
              <a:endParaRPr lang="en-US" sz="2600" dirty="0"/>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10972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4.2.</a:t>
            </a:r>
            <a:r>
              <a:rPr lang="en-GB" sz="3600" b="1" dirty="0">
                <a:solidFill>
                  <a:srgbClr val="1A5C2C"/>
                </a:solidFill>
                <a:latin typeface="Cambria" pitchFamily="34" charset="0"/>
                <a:ea typeface="Cambria" pitchFamily="34" charset="-122"/>
                <a:cs typeface="Cambria" pitchFamily="34" charset="-120"/>
              </a:rPr>
              <a:t> The Emotional Dimension Of Strategy</a:t>
            </a:r>
            <a:endParaRPr lang="en-US" sz="3600" b="1" dirty="0">
              <a:solidFill>
                <a:srgbClr val="1A5C2C"/>
              </a:solidFill>
              <a:latin typeface="Cambria" pitchFamily="34" charset="0"/>
              <a:ea typeface="Cambria" pitchFamily="34" charset="-122"/>
              <a:cs typeface="Cambria" pitchFamily="34" charset="-120"/>
            </a:endParaRPr>
          </a:p>
          <a:p>
            <a:pPr marL="0" indent="0">
              <a:buNone/>
            </a:pPr>
            <a:r>
              <a:rPr lang="en-US" sz="3600" b="1" dirty="0">
                <a:solidFill>
                  <a:srgbClr val="1A5C2C"/>
                </a:solidFill>
                <a:latin typeface="Cambria" pitchFamily="34" charset="0"/>
                <a:ea typeface="Cambria" pitchFamily="34" charset="-122"/>
                <a:cs typeface="Cambria" pitchFamily="34" charset="-120"/>
              </a:rPr>
              <a:t>4.2.1. Emotional Climate As Atmospheric Pressure</a:t>
            </a:r>
            <a:endParaRPr lang="en-US" sz="3600" dirty="0"/>
          </a:p>
        </p:txBody>
      </p:sp>
      <p:sp>
        <p:nvSpPr>
          <p:cNvPr id="3" name="Shape 1"/>
          <p:cNvSpPr/>
          <p:nvPr/>
        </p:nvSpPr>
        <p:spPr>
          <a:xfrm>
            <a:off x="548640" y="1765935"/>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9945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2154555"/>
            <a:ext cx="320040" cy="320040"/>
          </a:xfrm>
          <a:prstGeom prst="rect">
            <a:avLst/>
          </a:prstGeom>
        </p:spPr>
      </p:pic>
      <p:sp>
        <p:nvSpPr>
          <p:cNvPr id="6" name="Text 3"/>
          <p:cNvSpPr txBox="1"/>
          <p:nvPr/>
        </p:nvSpPr>
        <p:spPr>
          <a:xfrm>
            <a:off x="777240" y="2771775"/>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Fear-Dominated</a:t>
            </a:r>
            <a:endParaRPr lang="en-US" sz="2600" dirty="0"/>
          </a:p>
        </p:txBody>
      </p:sp>
      <p:sp>
        <p:nvSpPr>
          <p:cNvPr id="7" name="Text 4"/>
          <p:cNvSpPr txBox="1"/>
          <p:nvPr/>
        </p:nvSpPr>
        <p:spPr>
          <a:xfrm>
            <a:off x="777240" y="3416427"/>
            <a:ext cx="3057144" cy="21442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Strategic Paralysis · System 1 Hijack</a:t>
            </a:r>
            <a:endParaRPr lang="en-US" sz="2400" dirty="0"/>
          </a:p>
        </p:txBody>
      </p:sp>
      <p:sp>
        <p:nvSpPr>
          <p:cNvPr id="8" name="Shape 5"/>
          <p:cNvSpPr/>
          <p:nvPr/>
        </p:nvSpPr>
        <p:spPr>
          <a:xfrm>
            <a:off x="4337304" y="1765935"/>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9945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2154555"/>
            <a:ext cx="320040" cy="320040"/>
          </a:xfrm>
          <a:prstGeom prst="rect">
            <a:avLst/>
          </a:prstGeom>
        </p:spPr>
      </p:pic>
      <p:sp>
        <p:nvSpPr>
          <p:cNvPr id="11" name="Text 7"/>
          <p:cNvSpPr txBox="1"/>
          <p:nvPr/>
        </p:nvSpPr>
        <p:spPr>
          <a:xfrm>
            <a:off x="4565904" y="2771775"/>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Narcissism-Dominated</a:t>
            </a:r>
            <a:endParaRPr lang="en-US" sz="2600" dirty="0"/>
          </a:p>
        </p:txBody>
      </p:sp>
      <p:sp>
        <p:nvSpPr>
          <p:cNvPr id="12" name="Text 8"/>
          <p:cNvSpPr txBox="1"/>
          <p:nvPr/>
        </p:nvSpPr>
        <p:spPr>
          <a:xfrm>
            <a:off x="4565904" y="3832479"/>
            <a:ext cx="3057144" cy="172821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Strategic Delusion · Validation Loop</a:t>
            </a:r>
            <a:endParaRPr lang="en-US" sz="2400" dirty="0"/>
          </a:p>
        </p:txBody>
      </p:sp>
      <p:sp>
        <p:nvSpPr>
          <p:cNvPr id="13" name="Shape 9"/>
          <p:cNvSpPr/>
          <p:nvPr/>
        </p:nvSpPr>
        <p:spPr>
          <a:xfrm>
            <a:off x="8125968" y="1765935"/>
            <a:ext cx="3514344" cy="3931920"/>
          </a:xfrm>
          <a:prstGeom prst="roundRect">
            <a:avLst>
              <a:gd name="adj" fmla="val 2602"/>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8354568" y="1994535"/>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2154555"/>
            <a:ext cx="320040" cy="320040"/>
          </a:xfrm>
          <a:prstGeom prst="rect">
            <a:avLst/>
          </a:prstGeom>
        </p:spPr>
      </p:pic>
      <p:sp>
        <p:nvSpPr>
          <p:cNvPr id="16" name="Text 11"/>
          <p:cNvSpPr txBox="1"/>
          <p:nvPr/>
        </p:nvSpPr>
        <p:spPr>
          <a:xfrm>
            <a:off x="8354568" y="2771775"/>
            <a:ext cx="3057144" cy="923544"/>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Grounded Confidence</a:t>
            </a:r>
            <a:endParaRPr lang="en-US" sz="2600" dirty="0"/>
          </a:p>
        </p:txBody>
      </p:sp>
      <p:sp>
        <p:nvSpPr>
          <p:cNvPr id="17" name="Text 12"/>
          <p:cNvSpPr txBox="1"/>
          <p:nvPr/>
        </p:nvSpPr>
        <p:spPr>
          <a:xfrm>
            <a:off x="8354568" y="3832479"/>
            <a:ext cx="3057144" cy="1728216"/>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Strategic Agility · System 2 Optimisation</a:t>
            </a:r>
            <a:endParaRPr lang="en-US" sz="2400" dirty="0"/>
          </a:p>
        </p:txBody>
      </p:sp>
      <p:sp>
        <p:nvSpPr>
          <p:cNvPr id="18" name="Shape 13"/>
          <p:cNvSpPr/>
          <p:nvPr/>
        </p:nvSpPr>
        <p:spPr>
          <a:xfrm>
            <a:off x="548640" y="5880735"/>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880735"/>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For a leader, managing the emotional climate is a fiduciary responsibility.</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6A3271A-C636-8510-CE6A-045F7C77339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71DD541-61ED-01F3-5ABD-C1ADB4899BFD}"/>
              </a:ext>
            </a:extLst>
          </p:cNvPr>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4.2.2a · Emotional Alignment: The State Of Being</a:t>
            </a:r>
            <a:endParaRPr lang="en-US" sz="3600" dirty="0"/>
          </a:p>
        </p:txBody>
      </p:sp>
      <p:sp>
        <p:nvSpPr>
          <p:cNvPr id="3" name="Shape 1">
            <a:extLst>
              <a:ext uri="{FF2B5EF4-FFF2-40B4-BE49-F238E27FC236}">
                <a16:creationId xmlns:a16="http://schemas.microsoft.com/office/drawing/2014/main" id="{24BD3A50-EB18-09A2-83AD-857A3E7ED16D}"/>
              </a:ext>
            </a:extLst>
          </p:cNvPr>
          <p:cNvSpPr/>
          <p:nvPr/>
        </p:nvSpPr>
        <p:spPr>
          <a:xfrm>
            <a:off x="7394995"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a:extLst>
              <a:ext uri="{FF2B5EF4-FFF2-40B4-BE49-F238E27FC236}">
                <a16:creationId xmlns:a16="http://schemas.microsoft.com/office/drawing/2014/main" id="{0E560649-F343-1C0B-EC30-111224B26B16}"/>
              </a:ext>
            </a:extLst>
          </p:cNvPr>
          <p:cNvPicPr>
            <a:picLocks noChangeAspect="1"/>
          </p:cNvPicPr>
          <p:nvPr/>
        </p:nvPicPr>
        <p:blipFill>
          <a:blip r:embed="rId3"/>
          <a:stretch>
            <a:fillRect/>
          </a:stretch>
        </p:blipFill>
        <p:spPr>
          <a:xfrm>
            <a:off x="7555015" y="1837944"/>
            <a:ext cx="320040" cy="320040"/>
          </a:xfrm>
          <a:prstGeom prst="rect">
            <a:avLst/>
          </a:prstGeom>
        </p:spPr>
      </p:pic>
      <p:sp>
        <p:nvSpPr>
          <p:cNvPr id="5" name="Text 2">
            <a:extLst>
              <a:ext uri="{FF2B5EF4-FFF2-40B4-BE49-F238E27FC236}">
                <a16:creationId xmlns:a16="http://schemas.microsoft.com/office/drawing/2014/main" id="{2F9C62C9-9F53-819D-ECF8-BDD3DB7B9428}"/>
              </a:ext>
            </a:extLst>
          </p:cNvPr>
          <p:cNvSpPr txBox="1"/>
          <p:nvPr/>
        </p:nvSpPr>
        <p:spPr>
          <a:xfrm>
            <a:off x="8355115" y="1508760"/>
            <a:ext cx="3492324"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Engagement Energy  </a:t>
            </a:r>
            <a:endParaRPr lang="en-US" sz="2800" dirty="0"/>
          </a:p>
        </p:txBody>
      </p:sp>
      <p:sp>
        <p:nvSpPr>
          <p:cNvPr id="6" name="Shape 3">
            <a:extLst>
              <a:ext uri="{FF2B5EF4-FFF2-40B4-BE49-F238E27FC236}">
                <a16:creationId xmlns:a16="http://schemas.microsoft.com/office/drawing/2014/main" id="{8399BEE9-0B2D-4E44-349E-B91C6C99478A}"/>
              </a:ext>
            </a:extLst>
          </p:cNvPr>
          <p:cNvSpPr/>
          <p:nvPr/>
        </p:nvSpPr>
        <p:spPr>
          <a:xfrm>
            <a:off x="7394995"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a:extLst>
              <a:ext uri="{FF2B5EF4-FFF2-40B4-BE49-F238E27FC236}">
                <a16:creationId xmlns:a16="http://schemas.microsoft.com/office/drawing/2014/main" id="{E41B5F26-18A8-D879-E166-1A9372463DCA}"/>
              </a:ext>
            </a:extLst>
          </p:cNvPr>
          <p:cNvPicPr>
            <a:picLocks noChangeAspect="1"/>
          </p:cNvPicPr>
          <p:nvPr/>
        </p:nvPicPr>
        <p:blipFill>
          <a:blip r:embed="rId4"/>
          <a:stretch>
            <a:fillRect/>
          </a:stretch>
        </p:blipFill>
        <p:spPr>
          <a:xfrm>
            <a:off x="7555015" y="2816352"/>
            <a:ext cx="320040" cy="320040"/>
          </a:xfrm>
          <a:prstGeom prst="rect">
            <a:avLst/>
          </a:prstGeom>
        </p:spPr>
      </p:pic>
      <p:sp>
        <p:nvSpPr>
          <p:cNvPr id="8" name="Text 4">
            <a:extLst>
              <a:ext uri="{FF2B5EF4-FFF2-40B4-BE49-F238E27FC236}">
                <a16:creationId xmlns:a16="http://schemas.microsoft.com/office/drawing/2014/main" id="{E31D5299-4D09-C81D-01DB-DFC7462F9320}"/>
              </a:ext>
            </a:extLst>
          </p:cNvPr>
          <p:cNvSpPr txBox="1"/>
          <p:nvPr/>
        </p:nvSpPr>
        <p:spPr>
          <a:xfrm>
            <a:off x="8355115" y="2487168"/>
            <a:ext cx="3492324"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Morale Drain  </a:t>
            </a:r>
            <a:endParaRPr lang="en-US" sz="2800" dirty="0"/>
          </a:p>
        </p:txBody>
      </p:sp>
      <p:sp>
        <p:nvSpPr>
          <p:cNvPr id="9" name="Shape 5">
            <a:extLst>
              <a:ext uri="{FF2B5EF4-FFF2-40B4-BE49-F238E27FC236}">
                <a16:creationId xmlns:a16="http://schemas.microsoft.com/office/drawing/2014/main" id="{1B3BB657-7F47-7218-B665-97F5D161B25E}"/>
              </a:ext>
            </a:extLst>
          </p:cNvPr>
          <p:cNvSpPr/>
          <p:nvPr/>
        </p:nvSpPr>
        <p:spPr>
          <a:xfrm>
            <a:off x="7394995"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a:extLst>
              <a:ext uri="{FF2B5EF4-FFF2-40B4-BE49-F238E27FC236}">
                <a16:creationId xmlns:a16="http://schemas.microsoft.com/office/drawing/2014/main" id="{678B6FC8-A3FD-7F74-C367-6895322A6698}"/>
              </a:ext>
            </a:extLst>
          </p:cNvPr>
          <p:cNvPicPr>
            <a:picLocks noChangeAspect="1"/>
          </p:cNvPicPr>
          <p:nvPr/>
        </p:nvPicPr>
        <p:blipFill>
          <a:blip r:embed="rId5"/>
          <a:stretch>
            <a:fillRect/>
          </a:stretch>
        </p:blipFill>
        <p:spPr>
          <a:xfrm>
            <a:off x="7555015" y="3794760"/>
            <a:ext cx="320040" cy="320040"/>
          </a:xfrm>
          <a:prstGeom prst="rect">
            <a:avLst/>
          </a:prstGeom>
        </p:spPr>
      </p:pic>
      <p:sp>
        <p:nvSpPr>
          <p:cNvPr id="11" name="Text 6">
            <a:extLst>
              <a:ext uri="{FF2B5EF4-FFF2-40B4-BE49-F238E27FC236}">
                <a16:creationId xmlns:a16="http://schemas.microsoft.com/office/drawing/2014/main" id="{236CC8B0-2AEF-2738-4747-984476A667DA}"/>
              </a:ext>
            </a:extLst>
          </p:cNvPr>
          <p:cNvSpPr txBox="1"/>
          <p:nvPr/>
        </p:nvSpPr>
        <p:spPr>
          <a:xfrm>
            <a:off x="8355115" y="3465576"/>
            <a:ext cx="3492324"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Friction Load  </a:t>
            </a:r>
            <a:endParaRPr lang="en-US" sz="2800" dirty="0"/>
          </a:p>
        </p:txBody>
      </p:sp>
      <p:sp>
        <p:nvSpPr>
          <p:cNvPr id="12" name="Shape 7">
            <a:extLst>
              <a:ext uri="{FF2B5EF4-FFF2-40B4-BE49-F238E27FC236}">
                <a16:creationId xmlns:a16="http://schemas.microsoft.com/office/drawing/2014/main" id="{6A553D95-236E-D8EE-5F4E-6C5F663E2547}"/>
              </a:ext>
            </a:extLst>
          </p:cNvPr>
          <p:cNvSpPr/>
          <p:nvPr/>
        </p:nvSpPr>
        <p:spPr>
          <a:xfrm>
            <a:off x="7394995"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a:extLst>
              <a:ext uri="{FF2B5EF4-FFF2-40B4-BE49-F238E27FC236}">
                <a16:creationId xmlns:a16="http://schemas.microsoft.com/office/drawing/2014/main" id="{5BDAFF4B-1ACA-C0CB-2A9C-64CA83B1CCE8}"/>
              </a:ext>
            </a:extLst>
          </p:cNvPr>
          <p:cNvPicPr>
            <a:picLocks noChangeAspect="1"/>
          </p:cNvPicPr>
          <p:nvPr/>
        </p:nvPicPr>
        <p:blipFill>
          <a:blip r:embed="rId6"/>
          <a:stretch>
            <a:fillRect/>
          </a:stretch>
        </p:blipFill>
        <p:spPr>
          <a:xfrm>
            <a:off x="7555015" y="4773168"/>
            <a:ext cx="320040" cy="320040"/>
          </a:xfrm>
          <a:prstGeom prst="rect">
            <a:avLst/>
          </a:prstGeom>
        </p:spPr>
      </p:pic>
      <p:sp>
        <p:nvSpPr>
          <p:cNvPr id="14" name="Text 8">
            <a:extLst>
              <a:ext uri="{FF2B5EF4-FFF2-40B4-BE49-F238E27FC236}">
                <a16:creationId xmlns:a16="http://schemas.microsoft.com/office/drawing/2014/main" id="{5144CCB0-90D0-0059-7742-3631518A12BF}"/>
              </a:ext>
            </a:extLst>
          </p:cNvPr>
          <p:cNvSpPr txBox="1"/>
          <p:nvPr/>
        </p:nvSpPr>
        <p:spPr>
          <a:xfrm>
            <a:off x="8355115" y="4443984"/>
            <a:ext cx="3492324"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Psychological Safety  </a:t>
            </a:r>
            <a:endParaRPr lang="en-US" sz="2800" dirty="0"/>
          </a:p>
        </p:txBody>
      </p:sp>
      <p:sp>
        <p:nvSpPr>
          <p:cNvPr id="15" name="Shape 9">
            <a:extLst>
              <a:ext uri="{FF2B5EF4-FFF2-40B4-BE49-F238E27FC236}">
                <a16:creationId xmlns:a16="http://schemas.microsoft.com/office/drawing/2014/main" id="{2A47AAD2-B7DA-65A0-498C-4A0860DEC197}"/>
              </a:ext>
            </a:extLst>
          </p:cNvPr>
          <p:cNvSpPr/>
          <p:nvPr/>
        </p:nvSpPr>
        <p:spPr>
          <a:xfrm>
            <a:off x="7394995"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a:extLst>
              <a:ext uri="{FF2B5EF4-FFF2-40B4-BE49-F238E27FC236}">
                <a16:creationId xmlns:a16="http://schemas.microsoft.com/office/drawing/2014/main" id="{0E237549-5B93-3C80-B539-D23979053C04}"/>
              </a:ext>
            </a:extLst>
          </p:cNvPr>
          <p:cNvPicPr>
            <a:picLocks noChangeAspect="1"/>
          </p:cNvPicPr>
          <p:nvPr/>
        </p:nvPicPr>
        <p:blipFill>
          <a:blip r:embed="rId7"/>
          <a:stretch>
            <a:fillRect/>
          </a:stretch>
        </p:blipFill>
        <p:spPr>
          <a:xfrm>
            <a:off x="7555015" y="5751576"/>
            <a:ext cx="320040" cy="320040"/>
          </a:xfrm>
          <a:prstGeom prst="rect">
            <a:avLst/>
          </a:prstGeom>
        </p:spPr>
      </p:pic>
      <p:sp>
        <p:nvSpPr>
          <p:cNvPr id="17" name="Text 10">
            <a:extLst>
              <a:ext uri="{FF2B5EF4-FFF2-40B4-BE49-F238E27FC236}">
                <a16:creationId xmlns:a16="http://schemas.microsoft.com/office/drawing/2014/main" id="{B7844BC4-9028-9405-D314-B950F14B0E91}"/>
              </a:ext>
            </a:extLst>
          </p:cNvPr>
          <p:cNvSpPr txBox="1"/>
          <p:nvPr/>
        </p:nvSpPr>
        <p:spPr>
          <a:xfrm>
            <a:off x="8355115" y="5422392"/>
            <a:ext cx="3492324"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Values Alignment  </a:t>
            </a:r>
            <a:endParaRPr lang="en-US" sz="2800" dirty="0"/>
          </a:p>
        </p:txBody>
      </p:sp>
      <p:pic>
        <p:nvPicPr>
          <p:cNvPr id="22" name="Picture 21">
            <a:extLst>
              <a:ext uri="{FF2B5EF4-FFF2-40B4-BE49-F238E27FC236}">
                <a16:creationId xmlns:a16="http://schemas.microsoft.com/office/drawing/2014/main" id="{CAB2E31F-4A3B-5284-F78F-B4BC7B276BB9}"/>
              </a:ext>
            </a:extLst>
          </p:cNvPr>
          <p:cNvPicPr>
            <a:picLocks noChangeAspect="1"/>
          </p:cNvPicPr>
          <p:nvPr/>
        </p:nvPicPr>
        <p:blipFill>
          <a:blip r:embed="rId8"/>
          <a:stretch>
            <a:fillRect/>
          </a:stretch>
        </p:blipFill>
        <p:spPr>
          <a:xfrm>
            <a:off x="548640" y="1402741"/>
            <a:ext cx="4619708" cy="5193157"/>
          </a:xfrm>
          <a:prstGeom prst="rect">
            <a:avLst/>
          </a:prstGeom>
        </p:spPr>
      </p:pic>
      <p:sp>
        <p:nvSpPr>
          <p:cNvPr id="23" name="Isosceles Triangle 22">
            <a:extLst>
              <a:ext uri="{FF2B5EF4-FFF2-40B4-BE49-F238E27FC236}">
                <a16:creationId xmlns:a16="http://schemas.microsoft.com/office/drawing/2014/main" id="{1C6A4F73-8F45-4DFF-E034-F8340C5ACBB8}"/>
              </a:ext>
            </a:extLst>
          </p:cNvPr>
          <p:cNvSpPr/>
          <p:nvPr/>
        </p:nvSpPr>
        <p:spPr>
          <a:xfrm rot="5400000">
            <a:off x="4672890" y="3020911"/>
            <a:ext cx="2650717" cy="1956816"/>
          </a:xfrm>
          <a:prstGeom prst="triangle">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25268822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DFF992E-270D-A84D-2DBD-CAFD6B1B59F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5095F15-E299-D75F-09CE-331DF34C6272}"/>
              </a:ext>
            </a:extLst>
          </p:cNvPr>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4.2.2b · Emotional Alignment: The State Of Being</a:t>
            </a:r>
            <a:endParaRPr lang="en-US" sz="3600" dirty="0"/>
          </a:p>
        </p:txBody>
      </p:sp>
      <p:sp>
        <p:nvSpPr>
          <p:cNvPr id="21" name="Rounded Rectangle 3">
            <a:extLst>
              <a:ext uri="{FF2B5EF4-FFF2-40B4-BE49-F238E27FC236}">
                <a16:creationId xmlns:a16="http://schemas.microsoft.com/office/drawing/2014/main" id="{AAA27679-D408-71F5-8BE9-9E8D10A3B0D3}"/>
              </a:ext>
            </a:extLst>
          </p:cNvPr>
          <p:cNvSpPr/>
          <p:nvPr/>
        </p:nvSpPr>
        <p:spPr>
          <a:xfrm>
            <a:off x="548640" y="1371600"/>
            <a:ext cx="5440680" cy="2560320"/>
          </a:xfrm>
          <a:prstGeom prst="roundRect">
            <a:avLst/>
          </a:prstGeom>
          <a:solidFill>
            <a:srgbClr val="F1F6F2"/>
          </a:solidFill>
          <a:ln>
            <a:solidFill>
              <a:srgbClr val="D7E1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ea typeface="+mn-ea"/>
              <a:cs typeface="+mn-cs"/>
            </a:endParaRPr>
          </a:p>
        </p:txBody>
      </p:sp>
      <p:sp>
        <p:nvSpPr>
          <p:cNvPr id="25" name="Oval 24">
            <a:extLst>
              <a:ext uri="{FF2B5EF4-FFF2-40B4-BE49-F238E27FC236}">
                <a16:creationId xmlns:a16="http://schemas.microsoft.com/office/drawing/2014/main" id="{382F4F12-0FDD-C9D1-1D5E-912D87178B68}"/>
              </a:ext>
            </a:extLst>
          </p:cNvPr>
          <p:cNvSpPr/>
          <p:nvPr/>
        </p:nvSpPr>
        <p:spPr>
          <a:xfrm>
            <a:off x="731520" y="1572768"/>
            <a:ext cx="566928" cy="566928"/>
          </a:xfrm>
          <a:prstGeom prst="ellipse">
            <a:avLst/>
          </a:prstGeom>
          <a:solidFill>
            <a:srgbClr val="166030"/>
          </a:solidFill>
          <a:ln>
            <a:solidFill>
              <a:srgbClr val="16603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marL="0" marR="0" lvl="0" indent="0" algn="ctr" defTabSz="457200" rtl="0" eaLnBrk="1" fontAlgn="auto" latinLnBrk="0" hangingPunct="1">
              <a:lnSpc>
                <a:spcPct val="100000"/>
              </a:lnSpc>
              <a:spcBef>
                <a:spcPts val="0"/>
              </a:spcBef>
              <a:spcAft>
                <a:spcPts val="0"/>
              </a:spcAft>
              <a:buClrTx/>
              <a:buSzTx/>
              <a:buFontTx/>
              <a:buNone/>
              <a:tabLst/>
              <a:defRPr sz="2400" b="1">
                <a:solidFill>
                  <a:srgbClr val="FFFFFF"/>
                </a:solidFill>
                <a:latin typeface="Aptos"/>
              </a:defRPr>
            </a:pPr>
            <a:r>
              <a:rPr kumimoji="0" sz="2400" b="1" i="0" u="none" strike="noStrike" kern="1200" cap="none" spc="0" normalizeH="0" baseline="0" noProof="0">
                <a:ln>
                  <a:noFill/>
                </a:ln>
                <a:solidFill>
                  <a:srgbClr val="FFFFFF"/>
                </a:solidFill>
                <a:effectLst/>
                <a:uLnTx/>
                <a:uFillTx/>
                <a:ea typeface="+mn-ea"/>
                <a:cs typeface="+mn-cs"/>
              </a:rPr>
              <a:t>1</a:t>
            </a:r>
          </a:p>
        </p:txBody>
      </p:sp>
      <p:sp>
        <p:nvSpPr>
          <p:cNvPr id="27" name="TextBox 26">
            <a:extLst>
              <a:ext uri="{FF2B5EF4-FFF2-40B4-BE49-F238E27FC236}">
                <a16:creationId xmlns:a16="http://schemas.microsoft.com/office/drawing/2014/main" id="{4C13ED1F-C1F8-D0BD-17B7-C040F3AC81B2}"/>
              </a:ext>
            </a:extLst>
          </p:cNvPr>
          <p:cNvSpPr txBox="1"/>
          <p:nvPr/>
        </p:nvSpPr>
        <p:spPr>
          <a:xfrm>
            <a:off x="1444752" y="1481328"/>
            <a:ext cx="4389120" cy="77724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166030"/>
                </a:solidFill>
                <a:latin typeface="Aptos"/>
              </a:defRPr>
            </a:pPr>
            <a:r>
              <a:rPr kumimoji="0" sz="2400" b="1" i="0" u="none" strike="noStrike" kern="1200" cap="none" spc="0" normalizeH="0" baseline="0" noProof="0" dirty="0">
                <a:ln>
                  <a:noFill/>
                </a:ln>
                <a:solidFill>
                  <a:srgbClr val="166030"/>
                </a:solidFill>
                <a:effectLst/>
                <a:uLnTx/>
                <a:uFillTx/>
                <a:ea typeface="+mn-ea"/>
                <a:cs typeface="+mn-cs"/>
              </a:rPr>
              <a:t>NAME — Name the emotional state</a:t>
            </a:r>
          </a:p>
        </p:txBody>
      </p:sp>
      <p:sp>
        <p:nvSpPr>
          <p:cNvPr id="29" name="TextBox 28">
            <a:extLst>
              <a:ext uri="{FF2B5EF4-FFF2-40B4-BE49-F238E27FC236}">
                <a16:creationId xmlns:a16="http://schemas.microsoft.com/office/drawing/2014/main" id="{E05A9768-BB36-D275-72E7-26BADE294930}"/>
              </a:ext>
            </a:extLst>
          </p:cNvPr>
          <p:cNvSpPr txBox="1"/>
          <p:nvPr/>
        </p:nvSpPr>
        <p:spPr>
          <a:xfrm>
            <a:off x="1444752" y="2286000"/>
            <a:ext cx="4389120" cy="1572767"/>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2400">
                <a:solidFill>
                  <a:srgbClr val="1E1E1E"/>
                </a:solidFill>
                <a:latin typeface="Aptos"/>
              </a:defRPr>
            </a:pPr>
            <a:r>
              <a:rPr kumimoji="0" sz="2400" b="0" i="0" u="none" strike="noStrike" kern="1200" cap="none" spc="0" normalizeH="0" baseline="0" noProof="0" dirty="0">
                <a:ln>
                  <a:noFill/>
                </a:ln>
                <a:solidFill>
                  <a:srgbClr val="1E1E1E"/>
                </a:solidFill>
                <a:effectLst/>
                <a:uLnTx/>
                <a:uFillTx/>
                <a:ea typeface="+mn-ea"/>
                <a:cs typeface="+mn-cs"/>
              </a:rPr>
              <a:t>“There seems to be a lot of frustration around this strategy change. Is that a fair reading?”</a:t>
            </a:r>
          </a:p>
        </p:txBody>
      </p:sp>
      <p:sp>
        <p:nvSpPr>
          <p:cNvPr id="31" name="Rounded Rectangle 7">
            <a:extLst>
              <a:ext uri="{FF2B5EF4-FFF2-40B4-BE49-F238E27FC236}">
                <a16:creationId xmlns:a16="http://schemas.microsoft.com/office/drawing/2014/main" id="{85DD8811-D3B6-43F8-9FD0-EED57D65F4E1}"/>
              </a:ext>
            </a:extLst>
          </p:cNvPr>
          <p:cNvSpPr/>
          <p:nvPr/>
        </p:nvSpPr>
        <p:spPr>
          <a:xfrm>
            <a:off x="6199632" y="1371600"/>
            <a:ext cx="5440680" cy="2560320"/>
          </a:xfrm>
          <a:prstGeom prst="roundRect">
            <a:avLst/>
          </a:prstGeom>
          <a:solidFill>
            <a:srgbClr val="F1F6F2"/>
          </a:solidFill>
          <a:ln>
            <a:solidFill>
              <a:srgbClr val="D7E1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ea typeface="+mn-ea"/>
              <a:cs typeface="+mn-cs"/>
            </a:endParaRPr>
          </a:p>
        </p:txBody>
      </p:sp>
      <p:sp>
        <p:nvSpPr>
          <p:cNvPr id="33" name="Oval 32">
            <a:extLst>
              <a:ext uri="{FF2B5EF4-FFF2-40B4-BE49-F238E27FC236}">
                <a16:creationId xmlns:a16="http://schemas.microsoft.com/office/drawing/2014/main" id="{8EB60B86-526D-FFEB-C8AF-6EDB50803D60}"/>
              </a:ext>
            </a:extLst>
          </p:cNvPr>
          <p:cNvSpPr/>
          <p:nvPr/>
        </p:nvSpPr>
        <p:spPr>
          <a:xfrm>
            <a:off x="6382512" y="1572768"/>
            <a:ext cx="566928" cy="566928"/>
          </a:xfrm>
          <a:prstGeom prst="ellipse">
            <a:avLst/>
          </a:prstGeom>
          <a:solidFill>
            <a:srgbClr val="166030"/>
          </a:solidFill>
          <a:ln>
            <a:solidFill>
              <a:srgbClr val="16603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marL="0" marR="0" lvl="0" indent="0" algn="ctr" defTabSz="457200" rtl="0" eaLnBrk="1" fontAlgn="auto" latinLnBrk="0" hangingPunct="1">
              <a:lnSpc>
                <a:spcPct val="100000"/>
              </a:lnSpc>
              <a:spcBef>
                <a:spcPts val="0"/>
              </a:spcBef>
              <a:spcAft>
                <a:spcPts val="0"/>
              </a:spcAft>
              <a:buClrTx/>
              <a:buSzTx/>
              <a:buFontTx/>
              <a:buNone/>
              <a:tabLst/>
              <a:defRPr sz="2400" b="1">
                <a:solidFill>
                  <a:srgbClr val="FFFFFF"/>
                </a:solidFill>
                <a:latin typeface="Aptos"/>
              </a:defRPr>
            </a:pPr>
            <a:r>
              <a:rPr kumimoji="0" sz="2400" b="1" i="0" u="none" strike="noStrike" kern="1200" cap="none" spc="0" normalizeH="0" baseline="0" noProof="0">
                <a:ln>
                  <a:noFill/>
                </a:ln>
                <a:solidFill>
                  <a:srgbClr val="FFFFFF"/>
                </a:solidFill>
                <a:effectLst/>
                <a:uLnTx/>
                <a:uFillTx/>
                <a:ea typeface="+mn-ea"/>
                <a:cs typeface="+mn-cs"/>
              </a:rPr>
              <a:t>2</a:t>
            </a:r>
          </a:p>
        </p:txBody>
      </p:sp>
      <p:sp>
        <p:nvSpPr>
          <p:cNvPr id="35" name="TextBox 34">
            <a:extLst>
              <a:ext uri="{FF2B5EF4-FFF2-40B4-BE49-F238E27FC236}">
                <a16:creationId xmlns:a16="http://schemas.microsoft.com/office/drawing/2014/main" id="{E3DD1554-63DD-587D-50FE-F243C20095CE}"/>
              </a:ext>
            </a:extLst>
          </p:cNvPr>
          <p:cNvSpPr txBox="1"/>
          <p:nvPr/>
        </p:nvSpPr>
        <p:spPr>
          <a:xfrm>
            <a:off x="7095744" y="1481328"/>
            <a:ext cx="4389120" cy="77724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166030"/>
                </a:solidFill>
                <a:latin typeface="Aptos"/>
              </a:defRPr>
            </a:pPr>
            <a:r>
              <a:rPr kumimoji="0" sz="2400" b="1" i="0" u="none" strike="noStrike" kern="1200" cap="none" spc="0" normalizeH="0" baseline="0" noProof="0">
                <a:ln>
                  <a:noFill/>
                </a:ln>
                <a:solidFill>
                  <a:srgbClr val="166030"/>
                </a:solidFill>
                <a:effectLst/>
                <a:uLnTx/>
                <a:uFillTx/>
                <a:ea typeface="+mn-ea"/>
                <a:cs typeface="+mn-cs"/>
              </a:rPr>
              <a:t>ASK — Ask directly</a:t>
            </a:r>
          </a:p>
        </p:txBody>
      </p:sp>
      <p:sp>
        <p:nvSpPr>
          <p:cNvPr id="37" name="TextBox 36">
            <a:extLst>
              <a:ext uri="{FF2B5EF4-FFF2-40B4-BE49-F238E27FC236}">
                <a16:creationId xmlns:a16="http://schemas.microsoft.com/office/drawing/2014/main" id="{15D030B0-61D5-6532-7518-F596E2AB930D}"/>
              </a:ext>
            </a:extLst>
          </p:cNvPr>
          <p:cNvSpPr txBox="1"/>
          <p:nvPr/>
        </p:nvSpPr>
        <p:spPr>
          <a:xfrm>
            <a:off x="7095744" y="2286000"/>
            <a:ext cx="4389120" cy="1572767"/>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2400">
                <a:solidFill>
                  <a:srgbClr val="1E1E1E"/>
                </a:solidFill>
                <a:latin typeface="Aptos"/>
              </a:defRPr>
            </a:pPr>
            <a:r>
              <a:rPr kumimoji="0" sz="2400" b="0" i="0" u="none" strike="noStrike" kern="1200" cap="none" spc="0" normalizeH="0" baseline="0" noProof="0" dirty="0">
                <a:ln>
                  <a:noFill/>
                </a:ln>
                <a:solidFill>
                  <a:srgbClr val="1E1E1E"/>
                </a:solidFill>
                <a:effectLst/>
                <a:uLnTx/>
                <a:uFillTx/>
                <a:ea typeface="+mn-ea"/>
                <a:cs typeface="+mn-cs"/>
              </a:rPr>
              <a:t>“What emotion best describes how you are experiencing this strategy right now?”</a:t>
            </a:r>
          </a:p>
        </p:txBody>
      </p:sp>
      <p:sp>
        <p:nvSpPr>
          <p:cNvPr id="39" name="Rounded Rectangle 11">
            <a:extLst>
              <a:ext uri="{FF2B5EF4-FFF2-40B4-BE49-F238E27FC236}">
                <a16:creationId xmlns:a16="http://schemas.microsoft.com/office/drawing/2014/main" id="{673481AA-A993-35CF-CF24-3B2757D6CE88}"/>
              </a:ext>
            </a:extLst>
          </p:cNvPr>
          <p:cNvSpPr/>
          <p:nvPr/>
        </p:nvSpPr>
        <p:spPr>
          <a:xfrm>
            <a:off x="548640" y="4069080"/>
            <a:ext cx="5440680" cy="2560320"/>
          </a:xfrm>
          <a:prstGeom prst="roundRect">
            <a:avLst/>
          </a:prstGeom>
          <a:solidFill>
            <a:srgbClr val="F1F6F2"/>
          </a:solidFill>
          <a:ln>
            <a:solidFill>
              <a:srgbClr val="D7E1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ea typeface="+mn-ea"/>
              <a:cs typeface="+mn-cs"/>
            </a:endParaRPr>
          </a:p>
        </p:txBody>
      </p:sp>
      <p:sp>
        <p:nvSpPr>
          <p:cNvPr id="41" name="Oval 40">
            <a:extLst>
              <a:ext uri="{FF2B5EF4-FFF2-40B4-BE49-F238E27FC236}">
                <a16:creationId xmlns:a16="http://schemas.microsoft.com/office/drawing/2014/main" id="{338B9077-0B06-1FC0-1C3C-F1C9FB358864}"/>
              </a:ext>
            </a:extLst>
          </p:cNvPr>
          <p:cNvSpPr/>
          <p:nvPr/>
        </p:nvSpPr>
        <p:spPr>
          <a:xfrm>
            <a:off x="731520" y="4270248"/>
            <a:ext cx="566928" cy="566928"/>
          </a:xfrm>
          <a:prstGeom prst="ellipse">
            <a:avLst/>
          </a:prstGeom>
          <a:solidFill>
            <a:srgbClr val="166030"/>
          </a:solidFill>
          <a:ln>
            <a:solidFill>
              <a:srgbClr val="16603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marL="0" marR="0" lvl="0" indent="0" algn="ctr" defTabSz="457200" rtl="0" eaLnBrk="1" fontAlgn="auto" latinLnBrk="0" hangingPunct="1">
              <a:lnSpc>
                <a:spcPct val="100000"/>
              </a:lnSpc>
              <a:spcBef>
                <a:spcPts val="0"/>
              </a:spcBef>
              <a:spcAft>
                <a:spcPts val="0"/>
              </a:spcAft>
              <a:buClrTx/>
              <a:buSzTx/>
              <a:buFontTx/>
              <a:buNone/>
              <a:tabLst/>
              <a:defRPr sz="2400" b="1">
                <a:solidFill>
                  <a:srgbClr val="FFFFFF"/>
                </a:solidFill>
                <a:latin typeface="Aptos"/>
              </a:defRPr>
            </a:pPr>
            <a:r>
              <a:rPr kumimoji="0" sz="2400" b="1" i="0" u="none" strike="noStrike" kern="1200" cap="none" spc="0" normalizeH="0" baseline="0" noProof="0">
                <a:ln>
                  <a:noFill/>
                </a:ln>
                <a:solidFill>
                  <a:srgbClr val="FFFFFF"/>
                </a:solidFill>
                <a:effectLst/>
                <a:uLnTx/>
                <a:uFillTx/>
                <a:ea typeface="+mn-ea"/>
                <a:cs typeface="+mn-cs"/>
              </a:rPr>
              <a:t>3</a:t>
            </a:r>
          </a:p>
        </p:txBody>
      </p:sp>
      <p:sp>
        <p:nvSpPr>
          <p:cNvPr id="43" name="TextBox 42">
            <a:extLst>
              <a:ext uri="{FF2B5EF4-FFF2-40B4-BE49-F238E27FC236}">
                <a16:creationId xmlns:a16="http://schemas.microsoft.com/office/drawing/2014/main" id="{DEA2C57E-40C7-AF02-F3D5-B8B0183EBDA1}"/>
              </a:ext>
            </a:extLst>
          </p:cNvPr>
          <p:cNvSpPr txBox="1"/>
          <p:nvPr/>
        </p:nvSpPr>
        <p:spPr>
          <a:xfrm>
            <a:off x="1444752" y="4178808"/>
            <a:ext cx="4389120" cy="77724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166030"/>
                </a:solidFill>
                <a:latin typeface="Aptos"/>
              </a:defRPr>
            </a:pPr>
            <a:r>
              <a:rPr kumimoji="0" sz="2400" b="1" i="0" u="none" strike="noStrike" kern="1200" cap="none" spc="0" normalizeH="0" baseline="0" noProof="0">
                <a:ln>
                  <a:noFill/>
                </a:ln>
                <a:solidFill>
                  <a:srgbClr val="166030"/>
                </a:solidFill>
                <a:effectLst/>
                <a:uLnTx/>
                <a:uFillTx/>
                <a:ea typeface="+mn-ea"/>
                <a:cs typeface="+mn-cs"/>
              </a:rPr>
              <a:t>OBSERVE — Observe behaviour</a:t>
            </a:r>
          </a:p>
        </p:txBody>
      </p:sp>
      <p:sp>
        <p:nvSpPr>
          <p:cNvPr id="45" name="TextBox 44">
            <a:extLst>
              <a:ext uri="{FF2B5EF4-FFF2-40B4-BE49-F238E27FC236}">
                <a16:creationId xmlns:a16="http://schemas.microsoft.com/office/drawing/2014/main" id="{38B15685-14C4-2121-2B4B-2FA799986BBF}"/>
              </a:ext>
            </a:extLst>
          </p:cNvPr>
          <p:cNvSpPr txBox="1"/>
          <p:nvPr/>
        </p:nvSpPr>
        <p:spPr>
          <a:xfrm>
            <a:off x="1444752" y="4983480"/>
            <a:ext cx="4389120" cy="1572767"/>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2400">
                <a:solidFill>
                  <a:srgbClr val="1E1E1E"/>
                </a:solidFill>
                <a:latin typeface="Aptos"/>
              </a:defRPr>
            </a:pPr>
            <a:r>
              <a:rPr kumimoji="0" sz="2400" b="0" i="0" u="none" strike="noStrike" kern="1200" cap="none" spc="0" normalizeH="0" baseline="0" noProof="0">
                <a:ln>
                  <a:noFill/>
                </a:ln>
                <a:solidFill>
                  <a:srgbClr val="1E1E1E"/>
                </a:solidFill>
                <a:effectLst/>
                <a:uLnTx/>
                <a:uFillTx/>
                <a:ea typeface="+mn-ea"/>
                <a:cs typeface="+mn-cs"/>
              </a:rPr>
              <a:t>A team that was vocal becomes unusually quiet. Ask what is behind the silence.</a:t>
            </a:r>
          </a:p>
        </p:txBody>
      </p:sp>
      <p:sp>
        <p:nvSpPr>
          <p:cNvPr id="47" name="Rounded Rectangle 15">
            <a:extLst>
              <a:ext uri="{FF2B5EF4-FFF2-40B4-BE49-F238E27FC236}">
                <a16:creationId xmlns:a16="http://schemas.microsoft.com/office/drawing/2014/main" id="{517CEFE7-E99E-95BF-4F3C-879161DFAD73}"/>
              </a:ext>
            </a:extLst>
          </p:cNvPr>
          <p:cNvSpPr/>
          <p:nvPr/>
        </p:nvSpPr>
        <p:spPr>
          <a:xfrm>
            <a:off x="6199632" y="4069080"/>
            <a:ext cx="5440680" cy="2560320"/>
          </a:xfrm>
          <a:prstGeom prst="roundRect">
            <a:avLst/>
          </a:prstGeom>
          <a:solidFill>
            <a:srgbClr val="F1F6F2"/>
          </a:solidFill>
          <a:ln>
            <a:solidFill>
              <a:srgbClr val="D7E1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ea typeface="+mn-ea"/>
              <a:cs typeface="+mn-cs"/>
            </a:endParaRPr>
          </a:p>
        </p:txBody>
      </p:sp>
      <p:sp>
        <p:nvSpPr>
          <p:cNvPr id="49" name="Oval 48">
            <a:extLst>
              <a:ext uri="{FF2B5EF4-FFF2-40B4-BE49-F238E27FC236}">
                <a16:creationId xmlns:a16="http://schemas.microsoft.com/office/drawing/2014/main" id="{F580895D-5E6C-4CA1-297E-4AC446559FCC}"/>
              </a:ext>
            </a:extLst>
          </p:cNvPr>
          <p:cNvSpPr/>
          <p:nvPr/>
        </p:nvSpPr>
        <p:spPr>
          <a:xfrm>
            <a:off x="6382512" y="4270248"/>
            <a:ext cx="566928" cy="566928"/>
          </a:xfrm>
          <a:prstGeom prst="ellipse">
            <a:avLst/>
          </a:prstGeom>
          <a:solidFill>
            <a:srgbClr val="166030"/>
          </a:solidFill>
          <a:ln>
            <a:solidFill>
              <a:srgbClr val="16603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marL="0" marR="0" lvl="0" indent="0" algn="ctr" defTabSz="457200" rtl="0" eaLnBrk="1" fontAlgn="auto" latinLnBrk="0" hangingPunct="1">
              <a:lnSpc>
                <a:spcPct val="100000"/>
              </a:lnSpc>
              <a:spcBef>
                <a:spcPts val="0"/>
              </a:spcBef>
              <a:spcAft>
                <a:spcPts val="0"/>
              </a:spcAft>
              <a:buClrTx/>
              <a:buSzTx/>
              <a:buFontTx/>
              <a:buNone/>
              <a:tabLst/>
              <a:defRPr sz="2400" b="1">
                <a:solidFill>
                  <a:srgbClr val="FFFFFF"/>
                </a:solidFill>
                <a:latin typeface="Aptos"/>
              </a:defRPr>
            </a:pPr>
            <a:r>
              <a:rPr kumimoji="0" sz="2400" b="1" i="0" u="none" strike="noStrike" kern="1200" cap="none" spc="0" normalizeH="0" baseline="0" noProof="0">
                <a:ln>
                  <a:noFill/>
                </a:ln>
                <a:solidFill>
                  <a:srgbClr val="FFFFFF"/>
                </a:solidFill>
                <a:effectLst/>
                <a:uLnTx/>
                <a:uFillTx/>
                <a:ea typeface="+mn-ea"/>
                <a:cs typeface="+mn-cs"/>
              </a:rPr>
              <a:t>4</a:t>
            </a:r>
          </a:p>
        </p:txBody>
      </p:sp>
      <p:sp>
        <p:nvSpPr>
          <p:cNvPr id="51" name="TextBox 50">
            <a:extLst>
              <a:ext uri="{FF2B5EF4-FFF2-40B4-BE49-F238E27FC236}">
                <a16:creationId xmlns:a16="http://schemas.microsoft.com/office/drawing/2014/main" id="{7B24C59E-EEC3-DAEE-5002-F33CD3D02EBA}"/>
              </a:ext>
            </a:extLst>
          </p:cNvPr>
          <p:cNvSpPr txBox="1"/>
          <p:nvPr/>
        </p:nvSpPr>
        <p:spPr>
          <a:xfrm>
            <a:off x="7095744" y="4178808"/>
            <a:ext cx="4389120" cy="77724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166030"/>
                </a:solidFill>
                <a:latin typeface="Aptos"/>
              </a:defRPr>
            </a:pPr>
            <a:r>
              <a:rPr kumimoji="0" sz="2400" b="1" i="0" u="none" strike="noStrike" kern="1200" cap="none" spc="0" normalizeH="0" baseline="0" noProof="0">
                <a:ln>
                  <a:noFill/>
                </a:ln>
                <a:solidFill>
                  <a:srgbClr val="166030"/>
                </a:solidFill>
                <a:effectLst/>
                <a:uLnTx/>
                <a:uFillTx/>
                <a:ea typeface="+mn-ea"/>
                <a:cs typeface="+mn-cs"/>
              </a:rPr>
              <a:t>NOTICE — Notice attention</a:t>
            </a:r>
          </a:p>
        </p:txBody>
      </p:sp>
      <p:sp>
        <p:nvSpPr>
          <p:cNvPr id="53" name="TextBox 52">
            <a:extLst>
              <a:ext uri="{FF2B5EF4-FFF2-40B4-BE49-F238E27FC236}">
                <a16:creationId xmlns:a16="http://schemas.microsoft.com/office/drawing/2014/main" id="{2D6BE733-BD9B-5707-2F33-9AFCE9195B8D}"/>
              </a:ext>
            </a:extLst>
          </p:cNvPr>
          <p:cNvSpPr txBox="1"/>
          <p:nvPr/>
        </p:nvSpPr>
        <p:spPr>
          <a:xfrm>
            <a:off x="7095744" y="4983480"/>
            <a:ext cx="4389120" cy="1572767"/>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2400">
                <a:solidFill>
                  <a:srgbClr val="1E1E1E"/>
                </a:solidFill>
                <a:latin typeface="Aptos"/>
              </a:defRPr>
            </a:pPr>
            <a:r>
              <a:rPr kumimoji="0" sz="2400" b="0" i="0" u="none" strike="noStrike" kern="1200" cap="none" spc="0" normalizeH="0" baseline="0" noProof="0">
                <a:ln>
                  <a:noFill/>
                </a:ln>
                <a:solidFill>
                  <a:srgbClr val="1E1E1E"/>
                </a:solidFill>
                <a:effectLst/>
                <a:uLnTx/>
                <a:uFillTx/>
                <a:ea typeface="+mn-ea"/>
                <a:cs typeface="+mn-cs"/>
              </a:rPr>
              <a:t>People keep focusing on what could go wrong. Fear may be directing attention towards risk and self-protection.</a:t>
            </a:r>
          </a:p>
        </p:txBody>
      </p:sp>
    </p:spTree>
    <p:extLst>
      <p:ext uri="{BB962C8B-B14F-4D97-AF65-F5344CB8AC3E}">
        <p14:creationId xmlns:p14="http://schemas.microsoft.com/office/powerpoint/2010/main" val="3375783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4.2.3 · Six Principles For Debiasing Strategy</a:t>
            </a:r>
            <a:endParaRPr lang="en-US" sz="3600" dirty="0"/>
          </a:p>
        </p:txBody>
      </p:sp>
      <p:sp>
        <p:nvSpPr>
          <p:cNvPr id="3" name="Shape 1"/>
          <p:cNvSpPr/>
          <p:nvPr/>
        </p:nvSpPr>
        <p:spPr>
          <a:xfrm>
            <a:off x="548640" y="1631061"/>
            <a:ext cx="570738" cy="570738"/>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691325" y="1773746"/>
            <a:ext cx="285369" cy="285369"/>
          </a:xfrm>
          <a:prstGeom prst="rect">
            <a:avLst/>
          </a:prstGeom>
        </p:spPr>
      </p:pic>
      <p:sp>
        <p:nvSpPr>
          <p:cNvPr id="5" name="Text 2"/>
          <p:cNvSpPr txBox="1"/>
          <p:nvPr/>
        </p:nvSpPr>
        <p:spPr>
          <a:xfrm>
            <a:off x="1439418" y="1508760"/>
            <a:ext cx="10200894" cy="81534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1  </a:t>
            </a:r>
            <a:r>
              <a:rPr lang="en-US" sz="2400" dirty="0">
                <a:solidFill>
                  <a:srgbClr val="1F2A22"/>
                </a:solidFill>
                <a:latin typeface="Calibri" pitchFamily="34" charset="0"/>
                <a:ea typeface="Calibri" pitchFamily="34" charset="-122"/>
                <a:cs typeface="Calibri" pitchFamily="34" charset="-120"/>
              </a:rPr>
              <a:t>Separate ideation from evaluation.</a:t>
            </a:r>
            <a:endParaRPr lang="en-US" sz="2400" dirty="0"/>
          </a:p>
        </p:txBody>
      </p:sp>
      <p:sp>
        <p:nvSpPr>
          <p:cNvPr id="6" name="Shape 3"/>
          <p:cNvSpPr/>
          <p:nvPr/>
        </p:nvSpPr>
        <p:spPr>
          <a:xfrm>
            <a:off x="548640" y="2446401"/>
            <a:ext cx="570738" cy="570738"/>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691325" y="2589085"/>
            <a:ext cx="285369" cy="285369"/>
          </a:xfrm>
          <a:prstGeom prst="rect">
            <a:avLst/>
          </a:prstGeom>
        </p:spPr>
      </p:pic>
      <p:sp>
        <p:nvSpPr>
          <p:cNvPr id="8" name="Text 4"/>
          <p:cNvSpPr txBox="1"/>
          <p:nvPr/>
        </p:nvSpPr>
        <p:spPr>
          <a:xfrm>
            <a:off x="1439418" y="2324100"/>
            <a:ext cx="10200894" cy="81534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2  </a:t>
            </a:r>
            <a:r>
              <a:rPr lang="en-US" sz="2400" dirty="0">
                <a:solidFill>
                  <a:srgbClr val="1F2A22"/>
                </a:solidFill>
                <a:latin typeface="Calibri" pitchFamily="34" charset="0"/>
                <a:ea typeface="Calibri" pitchFamily="34" charset="-122"/>
                <a:cs typeface="Calibri" pitchFamily="34" charset="-120"/>
              </a:rPr>
              <a:t>Name the emotional temperature before the strategic content.</a:t>
            </a:r>
            <a:endParaRPr lang="en-US" sz="2400" dirty="0"/>
          </a:p>
        </p:txBody>
      </p:sp>
      <p:sp>
        <p:nvSpPr>
          <p:cNvPr id="9" name="Shape 5"/>
          <p:cNvSpPr/>
          <p:nvPr/>
        </p:nvSpPr>
        <p:spPr>
          <a:xfrm>
            <a:off x="548640" y="3261741"/>
            <a:ext cx="570738" cy="570738"/>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691325" y="3404425"/>
            <a:ext cx="285369" cy="285369"/>
          </a:xfrm>
          <a:prstGeom prst="rect">
            <a:avLst/>
          </a:prstGeom>
        </p:spPr>
      </p:pic>
      <p:sp>
        <p:nvSpPr>
          <p:cNvPr id="11" name="Text 6"/>
          <p:cNvSpPr txBox="1"/>
          <p:nvPr/>
        </p:nvSpPr>
        <p:spPr>
          <a:xfrm>
            <a:off x="1439418" y="3139440"/>
            <a:ext cx="10200894" cy="81534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3  </a:t>
            </a:r>
            <a:r>
              <a:rPr lang="en-US" sz="2400" dirty="0">
                <a:solidFill>
                  <a:srgbClr val="1F2A22"/>
                </a:solidFill>
                <a:latin typeface="Calibri" pitchFamily="34" charset="0"/>
                <a:ea typeface="Calibri" pitchFamily="34" charset="-122"/>
                <a:cs typeface="Calibri" pitchFamily="34" charset="-120"/>
              </a:rPr>
              <a:t>Assign a designated challenger role.</a:t>
            </a:r>
            <a:endParaRPr lang="en-US" sz="2400" dirty="0"/>
          </a:p>
        </p:txBody>
      </p:sp>
      <p:sp>
        <p:nvSpPr>
          <p:cNvPr id="12" name="Shape 7"/>
          <p:cNvSpPr/>
          <p:nvPr/>
        </p:nvSpPr>
        <p:spPr>
          <a:xfrm>
            <a:off x="548640" y="4077081"/>
            <a:ext cx="570738" cy="570738"/>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691325" y="4219766"/>
            <a:ext cx="285369" cy="285369"/>
          </a:xfrm>
          <a:prstGeom prst="rect">
            <a:avLst/>
          </a:prstGeom>
        </p:spPr>
      </p:pic>
      <p:sp>
        <p:nvSpPr>
          <p:cNvPr id="14" name="Text 8"/>
          <p:cNvSpPr txBox="1"/>
          <p:nvPr/>
        </p:nvSpPr>
        <p:spPr>
          <a:xfrm>
            <a:off x="1439418" y="3954780"/>
            <a:ext cx="10200894" cy="81534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4  </a:t>
            </a:r>
            <a:r>
              <a:rPr lang="en-US" sz="2400" dirty="0">
                <a:solidFill>
                  <a:srgbClr val="1F2A22"/>
                </a:solidFill>
                <a:latin typeface="Calibri" pitchFamily="34" charset="0"/>
                <a:ea typeface="Calibri" pitchFamily="34" charset="-122"/>
                <a:cs typeface="Calibri" pitchFamily="34" charset="-120"/>
              </a:rPr>
              <a:t>Use pre-mortem analysis as standard practice.</a:t>
            </a:r>
            <a:endParaRPr lang="en-US" sz="2400" dirty="0"/>
          </a:p>
        </p:txBody>
      </p:sp>
      <p:sp>
        <p:nvSpPr>
          <p:cNvPr id="15" name="Shape 9"/>
          <p:cNvSpPr/>
          <p:nvPr/>
        </p:nvSpPr>
        <p:spPr>
          <a:xfrm>
            <a:off x="548640" y="4892421"/>
            <a:ext cx="570738" cy="570738"/>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691325" y="5035106"/>
            <a:ext cx="285369" cy="285369"/>
          </a:xfrm>
          <a:prstGeom prst="rect">
            <a:avLst/>
          </a:prstGeom>
        </p:spPr>
      </p:pic>
      <p:sp>
        <p:nvSpPr>
          <p:cNvPr id="17" name="Text 10"/>
          <p:cNvSpPr txBox="1"/>
          <p:nvPr/>
        </p:nvSpPr>
        <p:spPr>
          <a:xfrm>
            <a:off x="1439418" y="4770120"/>
            <a:ext cx="10200894" cy="81534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5  </a:t>
            </a:r>
            <a:r>
              <a:rPr lang="en-US" sz="2400" dirty="0">
                <a:solidFill>
                  <a:srgbClr val="1F2A22"/>
                </a:solidFill>
                <a:latin typeface="Calibri" pitchFamily="34" charset="0"/>
                <a:ea typeface="Calibri" pitchFamily="34" charset="-122"/>
                <a:cs typeface="Calibri" pitchFamily="34" charset="-120"/>
              </a:rPr>
              <a:t>Make the reference class visible.</a:t>
            </a:r>
            <a:endParaRPr lang="en-US" sz="2400" dirty="0"/>
          </a:p>
        </p:txBody>
      </p:sp>
      <p:sp>
        <p:nvSpPr>
          <p:cNvPr id="18" name="Shape 11"/>
          <p:cNvSpPr/>
          <p:nvPr/>
        </p:nvSpPr>
        <p:spPr>
          <a:xfrm>
            <a:off x="548640" y="5707761"/>
            <a:ext cx="570738" cy="570738"/>
          </a:xfrm>
          <a:prstGeom prst="ellipse">
            <a:avLst/>
          </a:prstGeom>
          <a:solidFill>
            <a:srgbClr val="1A5C2C"/>
          </a:solidFill>
          <a:ln w="12700">
            <a:solidFill>
              <a:srgbClr val="1A5C2C"/>
            </a:solidFill>
            <a:prstDash val="solid"/>
          </a:ln>
        </p:spPr>
        <p:txBody>
          <a:bodyPr/>
          <a:lstStyle/>
          <a:p>
            <a:endParaRPr lang="en-ZA"/>
          </a:p>
        </p:txBody>
      </p:sp>
      <p:pic>
        <p:nvPicPr>
          <p:cNvPr id="19" name="Image 5" descr="preencoded.png"/>
          <p:cNvPicPr>
            <a:picLocks noChangeAspect="1"/>
          </p:cNvPicPr>
          <p:nvPr/>
        </p:nvPicPr>
        <p:blipFill>
          <a:blip r:embed="rId8"/>
          <a:stretch>
            <a:fillRect/>
          </a:stretch>
        </p:blipFill>
        <p:spPr>
          <a:xfrm>
            <a:off x="691325" y="5850445"/>
            <a:ext cx="285369" cy="285369"/>
          </a:xfrm>
          <a:prstGeom prst="rect">
            <a:avLst/>
          </a:prstGeom>
        </p:spPr>
      </p:pic>
      <p:sp>
        <p:nvSpPr>
          <p:cNvPr id="20" name="Text 12"/>
          <p:cNvSpPr txBox="1"/>
          <p:nvPr/>
        </p:nvSpPr>
        <p:spPr>
          <a:xfrm>
            <a:off x="1439418" y="5585460"/>
            <a:ext cx="10200894" cy="81534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6  </a:t>
            </a:r>
            <a:r>
              <a:rPr lang="en-US" sz="2400" dirty="0">
                <a:solidFill>
                  <a:srgbClr val="1F2A22"/>
                </a:solidFill>
                <a:latin typeface="Calibri" pitchFamily="34" charset="0"/>
                <a:ea typeface="Calibri" pitchFamily="34" charset="-122"/>
                <a:cs typeface="Calibri" pitchFamily="34" charset="-120"/>
              </a:rPr>
              <a:t>Create after-action protocols.</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FC277-4D5B-C658-961E-0DB6E133B90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AA76D62-704C-8963-0313-9F7FD9624E83}"/>
              </a:ext>
            </a:extLst>
          </p:cNvPr>
          <p:cNvSpPr txBox="1"/>
          <p:nvPr/>
        </p:nvSpPr>
        <p:spPr>
          <a:xfrm>
            <a:off x="641180" y="417576"/>
            <a:ext cx="10909640" cy="1249394"/>
          </a:xfrm>
          <a:prstGeom prst="rect">
            <a:avLst/>
          </a:prstGeom>
        </p:spPr>
        <p:txBody>
          <a:bodyPr vert="horz" lIns="91440" tIns="45720" rIns="91440" bIns="45720" rtlCol="0" anchor="ctr">
            <a:normAutofit/>
          </a:bodyPr>
          <a:lstStyle/>
          <a:p>
            <a:pPr marL="0" indent="0" algn="ctr">
              <a:lnSpc>
                <a:spcPct val="90000"/>
              </a:lnSpc>
              <a:spcBef>
                <a:spcPct val="0"/>
              </a:spcBef>
              <a:spcAft>
                <a:spcPts val="600"/>
              </a:spcAft>
            </a:pPr>
            <a:r>
              <a:rPr lang="en-US" sz="6600" b="1" kern="1200" dirty="0">
                <a:solidFill>
                  <a:schemeClr val="tx1"/>
                </a:solidFill>
                <a:latin typeface="+mj-lt"/>
                <a:ea typeface="+mj-ea"/>
                <a:cs typeface="+mj-cs"/>
              </a:rPr>
              <a:t>Section 4 Reflections</a:t>
            </a:r>
            <a:endParaRPr lang="en-US" sz="6600" kern="1200" dirty="0">
              <a:solidFill>
                <a:schemeClr val="tx1"/>
              </a:solidFill>
              <a:latin typeface="+mj-lt"/>
              <a:ea typeface="+mj-ea"/>
              <a:cs typeface="+mj-cs"/>
            </a:endParaRPr>
          </a:p>
        </p:txBody>
      </p:sp>
      <p:sp>
        <p:nvSpPr>
          <p:cNvPr id="15" name="Oval 14">
            <a:extLst>
              <a:ext uri="{FF2B5EF4-FFF2-40B4-BE49-F238E27FC236}">
                <a16:creationId xmlns:a16="http://schemas.microsoft.com/office/drawing/2014/main" id="{558AD7DF-CFD5-53C0-4A74-0CCFA9E91FC9}"/>
              </a:ext>
            </a:extLst>
          </p:cNvPr>
          <p:cNvSpPr/>
          <p:nvPr/>
        </p:nvSpPr>
        <p:spPr>
          <a:xfrm>
            <a:off x="137160" y="2187349"/>
            <a:ext cx="777240" cy="731520"/>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tIns="0" bIns="0"/>
          <a:lstStyle/>
          <a:p>
            <a:pPr algn="ctr"/>
            <a:r>
              <a:rPr lang="en-ZA" sz="2400" dirty="0"/>
              <a:t>4.2</a:t>
            </a:r>
          </a:p>
        </p:txBody>
      </p:sp>
      <p:pic>
        <p:nvPicPr>
          <p:cNvPr id="4" name="Picture 3">
            <a:extLst>
              <a:ext uri="{FF2B5EF4-FFF2-40B4-BE49-F238E27FC236}">
                <a16:creationId xmlns:a16="http://schemas.microsoft.com/office/drawing/2014/main" id="{E4975986-2782-9EC2-114A-0E2A50F42147}"/>
              </a:ext>
            </a:extLst>
          </p:cNvPr>
          <p:cNvPicPr>
            <a:picLocks noChangeAspect="1"/>
          </p:cNvPicPr>
          <p:nvPr/>
        </p:nvPicPr>
        <p:blipFill>
          <a:blip r:embed="rId3"/>
          <a:stretch>
            <a:fillRect/>
          </a:stretch>
        </p:blipFill>
        <p:spPr>
          <a:xfrm>
            <a:off x="1107323" y="3326788"/>
            <a:ext cx="10593905" cy="1249393"/>
          </a:xfrm>
          <a:prstGeom prst="rect">
            <a:avLst/>
          </a:prstGeom>
        </p:spPr>
      </p:pic>
      <p:pic>
        <p:nvPicPr>
          <p:cNvPr id="5" name="Picture 4">
            <a:extLst>
              <a:ext uri="{FF2B5EF4-FFF2-40B4-BE49-F238E27FC236}">
                <a16:creationId xmlns:a16="http://schemas.microsoft.com/office/drawing/2014/main" id="{5A31D79F-0BD6-1241-C4C3-D1F062434C68}"/>
              </a:ext>
            </a:extLst>
          </p:cNvPr>
          <p:cNvPicPr>
            <a:picLocks noChangeAspect="1"/>
          </p:cNvPicPr>
          <p:nvPr/>
        </p:nvPicPr>
        <p:blipFill>
          <a:blip r:embed="rId4"/>
          <a:stretch>
            <a:fillRect/>
          </a:stretch>
        </p:blipFill>
        <p:spPr>
          <a:xfrm>
            <a:off x="1107323" y="1710639"/>
            <a:ext cx="10560894" cy="1249392"/>
          </a:xfrm>
          <a:prstGeom prst="rect">
            <a:avLst/>
          </a:prstGeom>
        </p:spPr>
      </p:pic>
    </p:spTree>
    <p:extLst>
      <p:ext uri="{BB962C8B-B14F-4D97-AF65-F5344CB8AC3E}">
        <p14:creationId xmlns:p14="http://schemas.microsoft.com/office/powerpoint/2010/main" val="22321200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5</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5</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Integration — Collective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From individual thinking to collective intelligence</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Recognise the conditions that turn individual perspectives into collective intelligence within a leadership team.</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Prioritise the organisational practices that would most strengthen collective decision quality.</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Creating Collective Intelligence for Execution</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Integration is where the “Me” becomes “We.”</a:t>
            </a:r>
            <a:endParaRPr lang="en-US" sz="3600" dirty="0"/>
          </a:p>
        </p:txBody>
      </p:sp>
      <p:sp>
        <p:nvSpPr>
          <p:cNvPr id="6" name="Text 3"/>
          <p:cNvSpPr txBox="1"/>
          <p:nvPr/>
        </p:nvSpPr>
        <p:spPr>
          <a:xfrm>
            <a:off x="2103120" y="5577840"/>
            <a:ext cx="9418320" cy="822960"/>
          </a:xfrm>
          <a:prstGeom prst="rect">
            <a:avLst/>
          </a:prstGeom>
          <a:noFill/>
          <a:ln/>
        </p:spPr>
        <p:txBody>
          <a:bodyPr wrap="square" lIns="0" tIns="0" rIns="0" bIns="0" rtlCol="0" anchor="t"/>
          <a:lstStyle/>
          <a:p>
            <a:pPr marL="0" indent="0">
              <a:buNone/>
            </a:pPr>
            <a:r>
              <a:rPr lang="en-US" sz="2400" dirty="0">
                <a:solidFill>
                  <a:srgbClr val="DDE8DF"/>
                </a:solidFill>
                <a:latin typeface="Calibri" pitchFamily="34" charset="0"/>
                <a:ea typeface="Calibri" pitchFamily="34" charset="-122"/>
                <a:cs typeface="Calibri" pitchFamily="34" charset="-120"/>
              </a:rPr>
              <a:t>At which phase in your current strategy process are you most exposed?</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5.1 · The Three Pillars Of Integration</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Cognitive Integration</a:t>
            </a:r>
            <a:endParaRPr lang="en-US" sz="2600" dirty="0"/>
          </a:p>
        </p:txBody>
      </p:sp>
      <p:sp>
        <p:nvSpPr>
          <p:cNvPr id="7" name="Text 4"/>
          <p:cNvSpPr txBox="1"/>
          <p:nvPr/>
        </p:nvSpPr>
        <p:spPr>
          <a:xfrm>
            <a:off x="777240" y="3575304"/>
            <a:ext cx="3057144" cy="172821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Build a single version of the truth.</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Behavioural Guardrails</a:t>
            </a:r>
            <a:endParaRPr lang="en-US" sz="2600" dirty="0"/>
          </a:p>
        </p:txBody>
      </p:sp>
      <p:sp>
        <p:nvSpPr>
          <p:cNvPr id="12" name="Text 8"/>
          <p:cNvSpPr txBox="1"/>
          <p:nvPr/>
        </p:nvSpPr>
        <p:spPr>
          <a:xfrm>
            <a:off x="4565904" y="3575304"/>
            <a:ext cx="3057144" cy="172821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Stop the “loudest voice” winning by default.</a:t>
            </a:r>
            <a:endParaRPr lang="en-US" sz="2400" dirty="0"/>
          </a:p>
        </p:txBody>
      </p:sp>
      <p:sp>
        <p:nvSpPr>
          <p:cNvPr id="13" name="Shape 9"/>
          <p:cNvSpPr/>
          <p:nvPr/>
        </p:nvSpPr>
        <p:spPr>
          <a:xfrm>
            <a:off x="8125968"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Emotional Stabilisation</a:t>
            </a:r>
            <a:endParaRPr lang="en-US" sz="2600" dirty="0"/>
          </a:p>
        </p:txBody>
      </p:sp>
      <p:sp>
        <p:nvSpPr>
          <p:cNvPr id="17" name="Text 12"/>
          <p:cNvSpPr txBox="1"/>
          <p:nvPr/>
        </p:nvSpPr>
        <p:spPr>
          <a:xfrm>
            <a:off x="8354568" y="3575304"/>
            <a:ext cx="3057144" cy="172821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Move the team from defensiveness to curiosity.</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The pillars reinforce each other.</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5.2.1 · Neutralising Bias in the Strategy Room</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72-Hour Pre-Read Mandate  - </a:t>
            </a:r>
            <a:r>
              <a:rPr lang="en-US" sz="2600" dirty="0">
                <a:solidFill>
                  <a:srgbClr val="1F2A22"/>
                </a:solidFill>
                <a:latin typeface="Calibri" pitchFamily="34" charset="0"/>
                <a:ea typeface="Calibri" pitchFamily="34" charset="-122"/>
                <a:cs typeface="Calibri" pitchFamily="34" charset="-120"/>
              </a:rPr>
              <a:t>Anchoring</a:t>
            </a:r>
            <a:endParaRPr lang="en-US" sz="26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Rotating Neutral Facilitation - </a:t>
            </a:r>
            <a:r>
              <a:rPr lang="en-US" sz="2600" dirty="0">
                <a:solidFill>
                  <a:srgbClr val="1F2A22"/>
                </a:solidFill>
                <a:latin typeface="Calibri" pitchFamily="34" charset="0"/>
                <a:ea typeface="Calibri" pitchFamily="34" charset="-122"/>
                <a:cs typeface="Calibri" pitchFamily="34" charset="-120"/>
              </a:rPr>
              <a:t>Authority Bias &amp; Groupthink</a:t>
            </a:r>
            <a:endParaRPr lang="en-US" sz="26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Blind Ideation  </a:t>
            </a:r>
            <a:r>
              <a:rPr lang="en-US" sz="2600" dirty="0">
                <a:solidFill>
                  <a:srgbClr val="1F2A22"/>
                </a:solidFill>
                <a:latin typeface="Calibri" pitchFamily="34" charset="0"/>
                <a:ea typeface="Calibri" pitchFamily="34" charset="-122"/>
                <a:cs typeface="Calibri" pitchFamily="34" charset="-120"/>
              </a:rPr>
              <a:t>Conformity &amp; Halo Effect</a:t>
            </a:r>
            <a:endParaRPr lang="en-US" sz="26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The “Challenge Clock”  </a:t>
            </a:r>
            <a:r>
              <a:rPr lang="en-US" sz="2600" dirty="0">
                <a:solidFill>
                  <a:srgbClr val="1F2A22"/>
                </a:solidFill>
                <a:latin typeface="Calibri" pitchFamily="34" charset="0"/>
                <a:ea typeface="Calibri" pitchFamily="34" charset="-122"/>
                <a:cs typeface="Calibri" pitchFamily="34" charset="-120"/>
              </a:rPr>
              <a:t>Action-Oriented rush</a:t>
            </a:r>
            <a:endParaRPr lang="en-US" sz="26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Silent Deliberation  </a:t>
            </a:r>
            <a:r>
              <a:rPr lang="en-US" sz="2600" dirty="0">
                <a:solidFill>
                  <a:srgbClr val="1F2A22"/>
                </a:solidFill>
                <a:latin typeface="Calibri" pitchFamily="34" charset="0"/>
                <a:ea typeface="Calibri" pitchFamily="34" charset="-122"/>
                <a:cs typeface="Calibri" pitchFamily="34" charset="-120"/>
              </a:rPr>
              <a:t>Availability Bias</a:t>
            </a:r>
            <a:endParaRPr lang="en-US" sz="2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5.2.2 · In Leadership Culture</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Public Cognitive Humility  </a:t>
            </a:r>
            <a:r>
              <a:rPr lang="en-US" sz="2600" dirty="0">
                <a:solidFill>
                  <a:srgbClr val="1F2A22"/>
                </a:solidFill>
                <a:latin typeface="Calibri" pitchFamily="34" charset="0"/>
                <a:ea typeface="Calibri" pitchFamily="34" charset="-122"/>
                <a:cs typeface="Calibri" pitchFamily="34" charset="-120"/>
              </a:rPr>
              <a:t>Overconfidence</a:t>
            </a:r>
            <a:endParaRPr lang="en-US" sz="26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Behavioural 360s  </a:t>
            </a:r>
            <a:r>
              <a:rPr lang="en-US" sz="2600" dirty="0">
                <a:solidFill>
                  <a:srgbClr val="1F2A22"/>
                </a:solidFill>
                <a:latin typeface="Calibri" pitchFamily="34" charset="0"/>
                <a:ea typeface="Calibri" pitchFamily="34" charset="-122"/>
                <a:cs typeface="Calibri" pitchFamily="34" charset="-120"/>
              </a:rPr>
              <a:t>Self-Interest &amp; Perspective</a:t>
            </a:r>
            <a:endParaRPr lang="en-US" sz="26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Debiasing Coaching  </a:t>
            </a:r>
            <a:r>
              <a:rPr lang="en-US" sz="2600" dirty="0">
                <a:solidFill>
                  <a:srgbClr val="1F2A22"/>
                </a:solidFill>
                <a:latin typeface="Calibri" pitchFamily="34" charset="0"/>
                <a:ea typeface="Calibri" pitchFamily="34" charset="-122"/>
                <a:cs typeface="Calibri" pitchFamily="34" charset="-120"/>
              </a:rPr>
              <a:t>System 1 dominance</a:t>
            </a:r>
            <a:endParaRPr lang="en-US" sz="26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Safety Metrics  </a:t>
            </a:r>
            <a:r>
              <a:rPr lang="en-US" sz="2600" dirty="0">
                <a:solidFill>
                  <a:srgbClr val="1F2A22"/>
                </a:solidFill>
                <a:latin typeface="Calibri" pitchFamily="34" charset="0"/>
                <a:ea typeface="Calibri" pitchFamily="34" charset="-122"/>
                <a:cs typeface="Calibri" pitchFamily="34" charset="-120"/>
              </a:rPr>
              <a:t>Innovation Suppression &amp; Career-Risk</a:t>
            </a:r>
            <a:endParaRPr lang="en-US" sz="26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Strategic Post-Mortems  </a:t>
            </a:r>
            <a:r>
              <a:rPr lang="en-US" sz="2600" dirty="0">
                <a:solidFill>
                  <a:srgbClr val="1F2A22"/>
                </a:solidFill>
                <a:latin typeface="Calibri" pitchFamily="34" charset="0"/>
                <a:ea typeface="Calibri" pitchFamily="34" charset="-122"/>
                <a:cs typeface="Calibri" pitchFamily="34" charset="-120"/>
              </a:rPr>
              <a:t>Hindsight Bias</a:t>
            </a:r>
            <a:endParaRPr lang="en-US" sz="2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67D40-C5D1-BC68-1E0D-C18B8EFBA29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6C66A42-31DA-D3D7-6662-D8CBBA3AFA99}"/>
              </a:ext>
            </a:extLst>
          </p:cNvPr>
          <p:cNvSpPr txBox="1"/>
          <p:nvPr/>
        </p:nvSpPr>
        <p:spPr>
          <a:xfrm>
            <a:off x="641180" y="417576"/>
            <a:ext cx="10909640" cy="1249394"/>
          </a:xfrm>
          <a:prstGeom prst="rect">
            <a:avLst/>
          </a:prstGeom>
        </p:spPr>
        <p:txBody>
          <a:bodyPr vert="horz" lIns="91440" tIns="45720" rIns="91440" bIns="45720" rtlCol="0" anchor="ctr">
            <a:normAutofit/>
          </a:bodyPr>
          <a:lstStyle/>
          <a:p>
            <a:pPr marL="0" indent="0" algn="ctr">
              <a:lnSpc>
                <a:spcPct val="90000"/>
              </a:lnSpc>
              <a:spcBef>
                <a:spcPct val="0"/>
              </a:spcBef>
              <a:spcAft>
                <a:spcPts val="600"/>
              </a:spcAft>
            </a:pPr>
            <a:r>
              <a:rPr lang="en-US" sz="6600" b="1" kern="1200" dirty="0">
                <a:solidFill>
                  <a:schemeClr val="tx1"/>
                </a:solidFill>
                <a:latin typeface="+mj-lt"/>
                <a:ea typeface="+mj-ea"/>
                <a:cs typeface="+mj-cs"/>
              </a:rPr>
              <a:t>Section 5 Reflections</a:t>
            </a:r>
            <a:endParaRPr lang="en-US" sz="6600" kern="1200" dirty="0">
              <a:solidFill>
                <a:schemeClr val="tx1"/>
              </a:solidFill>
              <a:latin typeface="+mj-lt"/>
              <a:ea typeface="+mj-ea"/>
              <a:cs typeface="+mj-cs"/>
            </a:endParaRPr>
          </a:p>
        </p:txBody>
      </p:sp>
      <p:sp>
        <p:nvSpPr>
          <p:cNvPr id="15" name="Oval 14">
            <a:extLst>
              <a:ext uri="{FF2B5EF4-FFF2-40B4-BE49-F238E27FC236}">
                <a16:creationId xmlns:a16="http://schemas.microsoft.com/office/drawing/2014/main" id="{8C50EA20-78FA-7B4B-6845-B867D325F9CB}"/>
              </a:ext>
            </a:extLst>
          </p:cNvPr>
          <p:cNvSpPr/>
          <p:nvPr/>
        </p:nvSpPr>
        <p:spPr>
          <a:xfrm>
            <a:off x="137160" y="2876379"/>
            <a:ext cx="777240" cy="731520"/>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tIns="0" bIns="0"/>
          <a:lstStyle/>
          <a:p>
            <a:pPr algn="ctr"/>
            <a:r>
              <a:rPr lang="en-ZA" sz="2400" dirty="0"/>
              <a:t>5.1</a:t>
            </a:r>
          </a:p>
        </p:txBody>
      </p:sp>
      <p:pic>
        <p:nvPicPr>
          <p:cNvPr id="4" name="Picture 3">
            <a:extLst>
              <a:ext uri="{FF2B5EF4-FFF2-40B4-BE49-F238E27FC236}">
                <a16:creationId xmlns:a16="http://schemas.microsoft.com/office/drawing/2014/main" id="{FFCE4DB1-21CE-5644-DC49-A5BD942ABD8D}"/>
              </a:ext>
            </a:extLst>
          </p:cNvPr>
          <p:cNvPicPr>
            <a:picLocks noChangeAspect="1"/>
          </p:cNvPicPr>
          <p:nvPr/>
        </p:nvPicPr>
        <p:blipFill>
          <a:blip r:embed="rId3"/>
          <a:stretch>
            <a:fillRect/>
          </a:stretch>
        </p:blipFill>
        <p:spPr>
          <a:xfrm>
            <a:off x="1107321" y="1727294"/>
            <a:ext cx="10672127" cy="1178658"/>
          </a:xfrm>
          <a:prstGeom prst="rect">
            <a:avLst/>
          </a:prstGeom>
        </p:spPr>
      </p:pic>
      <p:pic>
        <p:nvPicPr>
          <p:cNvPr id="6" name="Picture 5">
            <a:extLst>
              <a:ext uri="{FF2B5EF4-FFF2-40B4-BE49-F238E27FC236}">
                <a16:creationId xmlns:a16="http://schemas.microsoft.com/office/drawing/2014/main" id="{F7F49B7F-3274-1547-8F02-1D1631CD127E}"/>
              </a:ext>
            </a:extLst>
          </p:cNvPr>
          <p:cNvPicPr>
            <a:picLocks noChangeAspect="1"/>
          </p:cNvPicPr>
          <p:nvPr/>
        </p:nvPicPr>
        <p:blipFill>
          <a:blip r:embed="rId4"/>
          <a:stretch>
            <a:fillRect/>
          </a:stretch>
        </p:blipFill>
        <p:spPr>
          <a:xfrm>
            <a:off x="1107321" y="2950327"/>
            <a:ext cx="10672127" cy="738839"/>
          </a:xfrm>
          <a:prstGeom prst="rect">
            <a:avLst/>
          </a:prstGeom>
        </p:spPr>
      </p:pic>
      <p:pic>
        <p:nvPicPr>
          <p:cNvPr id="9" name="Picture 8">
            <a:extLst>
              <a:ext uri="{FF2B5EF4-FFF2-40B4-BE49-F238E27FC236}">
                <a16:creationId xmlns:a16="http://schemas.microsoft.com/office/drawing/2014/main" id="{55DC6D83-F7B4-83B0-0B55-8F5B82453683}"/>
              </a:ext>
            </a:extLst>
          </p:cNvPr>
          <p:cNvPicPr>
            <a:picLocks noChangeAspect="1"/>
          </p:cNvPicPr>
          <p:nvPr/>
        </p:nvPicPr>
        <p:blipFill>
          <a:blip r:embed="rId5"/>
          <a:stretch>
            <a:fillRect/>
          </a:stretch>
        </p:blipFill>
        <p:spPr>
          <a:xfrm>
            <a:off x="1107321" y="3743352"/>
            <a:ext cx="10672127" cy="763948"/>
          </a:xfrm>
          <a:prstGeom prst="rect">
            <a:avLst/>
          </a:prstGeom>
        </p:spPr>
      </p:pic>
      <p:sp>
        <p:nvSpPr>
          <p:cNvPr id="13" name="Oval 12">
            <a:extLst>
              <a:ext uri="{FF2B5EF4-FFF2-40B4-BE49-F238E27FC236}">
                <a16:creationId xmlns:a16="http://schemas.microsoft.com/office/drawing/2014/main" id="{1083ED90-1566-EF2A-D8CB-6714992B2CDB}"/>
              </a:ext>
            </a:extLst>
          </p:cNvPr>
          <p:cNvSpPr/>
          <p:nvPr/>
        </p:nvSpPr>
        <p:spPr>
          <a:xfrm>
            <a:off x="137160" y="3759565"/>
            <a:ext cx="777240" cy="731520"/>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tIns="0" bIns="0"/>
          <a:lstStyle/>
          <a:p>
            <a:pPr algn="ctr"/>
            <a:r>
              <a:rPr lang="en-ZA" sz="2400" dirty="0"/>
              <a:t>5.2</a:t>
            </a:r>
          </a:p>
        </p:txBody>
      </p:sp>
    </p:spTree>
    <p:extLst>
      <p:ext uri="{BB962C8B-B14F-4D97-AF65-F5344CB8AC3E}">
        <p14:creationId xmlns:p14="http://schemas.microsoft.com/office/powerpoint/2010/main" val="26890962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6</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6</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Application — In Practice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The Self Reflection Bias Assessment and the Problem Charter</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Assess your own leadership conduct against the behavioural conditions for sound strategic judgement.</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Commit to the development priority with the greatest effect on your strategic judgement.</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7681F-50C2-E459-5425-4CED7FF04B1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C36CB37-762D-9A50-F9E6-546628264321}"/>
              </a:ext>
            </a:extLst>
          </p:cNvPr>
          <p:cNvSpPr txBox="1"/>
          <p:nvPr/>
        </p:nvSpPr>
        <p:spPr>
          <a:xfrm>
            <a:off x="641180" y="417576"/>
            <a:ext cx="10909640" cy="1249394"/>
          </a:xfrm>
          <a:prstGeom prst="rect">
            <a:avLst/>
          </a:prstGeom>
        </p:spPr>
        <p:txBody>
          <a:bodyPr vert="horz" lIns="91440" tIns="45720" rIns="91440" bIns="45720" rtlCol="0" anchor="ctr">
            <a:normAutofit/>
          </a:bodyPr>
          <a:lstStyle/>
          <a:p>
            <a:pPr marL="0" indent="0" algn="ctr">
              <a:lnSpc>
                <a:spcPct val="90000"/>
              </a:lnSpc>
              <a:spcBef>
                <a:spcPct val="0"/>
              </a:spcBef>
              <a:spcAft>
                <a:spcPts val="600"/>
              </a:spcAft>
            </a:pPr>
            <a:r>
              <a:rPr lang="en-US" sz="6600" b="1" kern="1200" dirty="0">
                <a:solidFill>
                  <a:schemeClr val="tx1"/>
                </a:solidFill>
                <a:latin typeface="+mj-lt"/>
                <a:ea typeface="+mj-ea"/>
                <a:cs typeface="+mj-cs"/>
              </a:rPr>
              <a:t>Section 6 · On the Portal</a:t>
            </a:r>
            <a:endParaRPr lang="en-US" sz="6600" kern="1200" dirty="0">
              <a:solidFill>
                <a:schemeClr val="tx1"/>
              </a:solidFill>
              <a:latin typeface="+mj-lt"/>
              <a:ea typeface="+mj-ea"/>
              <a:cs typeface="+mj-cs"/>
            </a:endParaRPr>
          </a:p>
        </p:txBody>
      </p:sp>
      <p:pic>
        <p:nvPicPr>
          <p:cNvPr id="9" name="Picture 8">
            <a:extLst>
              <a:ext uri="{FF2B5EF4-FFF2-40B4-BE49-F238E27FC236}">
                <a16:creationId xmlns:a16="http://schemas.microsoft.com/office/drawing/2014/main" id="{4A0A5DE5-F79F-B1EC-CFF0-E93602BD7537}"/>
              </a:ext>
            </a:extLst>
          </p:cNvPr>
          <p:cNvPicPr>
            <a:picLocks noChangeAspect="1"/>
          </p:cNvPicPr>
          <p:nvPr/>
        </p:nvPicPr>
        <p:blipFill>
          <a:blip r:embed="rId3"/>
          <a:stretch>
            <a:fillRect/>
          </a:stretch>
        </p:blipFill>
        <p:spPr>
          <a:xfrm>
            <a:off x="1107322" y="1710639"/>
            <a:ext cx="10541339" cy="1130854"/>
          </a:xfrm>
          <a:prstGeom prst="rect">
            <a:avLst/>
          </a:prstGeom>
        </p:spPr>
      </p:pic>
      <p:pic>
        <p:nvPicPr>
          <p:cNvPr id="10" name="Picture 9" descr="img62.png"/>
          <p:cNvPicPr>
            <a:picLocks noChangeAspect="1"/>
          </p:cNvPicPr>
          <p:nvPr/>
        </p:nvPicPr>
        <p:blipFill>
          <a:blip r:embed="rId7"/>
          <a:stretch>
            <a:fillRect/>
          </a:stretch>
        </p:blipFill>
        <p:spPr>
          <a:xfrm>
            <a:off x="1107322" y="3291493"/>
            <a:ext cx="10541339" cy="1457231"/>
          </a:xfrm>
          <a:prstGeom prst="rect">
            <a:avLst/>
          </a:prstGeom>
        </p:spPr>
      </p:pic>
    </p:spTree>
    <p:extLst>
      <p:ext uri="{BB962C8B-B14F-4D97-AF65-F5344CB8AC3E}">
        <p14:creationId xmlns:p14="http://schemas.microsoft.com/office/powerpoint/2010/main" val="10792105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0">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Unit Summary · Return to the opening question</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What has shifted in your understanding of how you think and make decisions as a leader.</a:t>
            </a:r>
          </a:p>
          <a:p>
            <a:pPr marL="0" indent="0">
              <a:buNone/>
            </a:pPr>
            <a:endParaRPr lang="en-US" sz="3600" i="1" dirty="0">
              <a:solidFill>
                <a:srgbClr val="FFFFFF"/>
              </a:solidFill>
              <a:latin typeface="Cambria" pitchFamily="34" charset="0"/>
              <a:ea typeface="Cambria" pitchFamily="34" charset="-122"/>
            </a:endParaRPr>
          </a:p>
          <a:p>
            <a:pPr marL="0" indent="0">
              <a:buNone/>
            </a:pPr>
            <a:r>
              <a:rPr lang="en-GB" sz="3600" i="1" dirty="0">
                <a:solidFill>
                  <a:schemeClr val="bg1"/>
                </a:solidFill>
              </a:rPr>
              <a:t>The one thing I am taking from this unit that I intend to act on is…</a:t>
            </a:r>
            <a:endParaRPr lang="en-US" sz="3600" i="1" dirty="0">
              <a:solidFill>
                <a:schemeClr val="bg1"/>
              </a:solidFill>
            </a:endParaR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a:extLst>
              <a:ext uri="{FF2B5EF4-FFF2-40B4-BE49-F238E27FC236}">
                <a16:creationId xmlns:a16="http://schemas.microsoft.com/office/drawing/2014/main" id="{A5095F15-E299-D75F-09CE-331DF34C6272}"/>
              </a:ext>
            </a:extLst>
          </p:cNvPr>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4.2.2c · Emotional Alignment: The State Of Being</a:t>
            </a:r>
            <a:endParaRPr lang="en-US" sz="3600" dirty="0"/>
          </a:p>
        </p:txBody>
      </p:sp>
      <p:sp>
        <p:nvSpPr>
          <p:cNvPr id="55" name="Rounded Rectangle 19">
            <a:extLst>
              <a:ext uri="{FF2B5EF4-FFF2-40B4-BE49-F238E27FC236}">
                <a16:creationId xmlns:a16="http://schemas.microsoft.com/office/drawing/2014/main" id="{A0CA4807-EAC8-DC18-BADF-C8139AC7D9FD}"/>
              </a:ext>
            </a:extLst>
          </p:cNvPr>
          <p:cNvSpPr/>
          <p:nvPr/>
        </p:nvSpPr>
        <p:spPr>
          <a:xfrm>
            <a:off x="548640" y="1371600"/>
            <a:ext cx="5440680" cy="2560320"/>
          </a:xfrm>
          <a:prstGeom prst="roundRect">
            <a:avLst/>
          </a:prstGeom>
          <a:solidFill>
            <a:srgbClr val="F1F6F2"/>
          </a:solidFill>
          <a:ln>
            <a:solidFill>
              <a:srgbClr val="D7E1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ea typeface="+mn-ea"/>
              <a:cs typeface="+mn-cs"/>
            </a:endParaRPr>
          </a:p>
        </p:txBody>
      </p:sp>
      <p:sp>
        <p:nvSpPr>
          <p:cNvPr id="57" name="Oval 56">
            <a:extLst>
              <a:ext uri="{FF2B5EF4-FFF2-40B4-BE49-F238E27FC236}">
                <a16:creationId xmlns:a16="http://schemas.microsoft.com/office/drawing/2014/main" id="{3ACBAC87-D574-07A5-2F02-46C69DCF9BB0}"/>
              </a:ext>
            </a:extLst>
          </p:cNvPr>
          <p:cNvSpPr/>
          <p:nvPr/>
        </p:nvSpPr>
        <p:spPr>
          <a:xfrm>
            <a:off x="731520" y="1572768"/>
            <a:ext cx="566928" cy="566928"/>
          </a:xfrm>
          <a:prstGeom prst="ellipse">
            <a:avLst/>
          </a:prstGeom>
          <a:solidFill>
            <a:srgbClr val="166030"/>
          </a:solidFill>
          <a:ln>
            <a:solidFill>
              <a:srgbClr val="16603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marL="0" marR="0" lvl="0" indent="0" algn="ctr" defTabSz="457200" rtl="0" eaLnBrk="1" fontAlgn="auto" latinLnBrk="0" hangingPunct="1">
              <a:lnSpc>
                <a:spcPct val="100000"/>
              </a:lnSpc>
              <a:spcBef>
                <a:spcPts val="0"/>
              </a:spcBef>
              <a:spcAft>
                <a:spcPts val="0"/>
              </a:spcAft>
              <a:buClrTx/>
              <a:buSzTx/>
              <a:buFontTx/>
              <a:buNone/>
              <a:tabLst/>
              <a:defRPr sz="2400" b="1">
                <a:solidFill>
                  <a:srgbClr val="FFFFFF"/>
                </a:solidFill>
                <a:latin typeface="Aptos"/>
              </a:defRPr>
            </a:pPr>
            <a:r>
              <a:rPr kumimoji="0" sz="2400" b="1" i="0" u="none" strike="noStrike" kern="1200" cap="none" spc="0" normalizeH="0" baseline="0" noProof="0">
                <a:ln>
                  <a:noFill/>
                </a:ln>
                <a:solidFill>
                  <a:srgbClr val="FFFFFF"/>
                </a:solidFill>
                <a:effectLst/>
                <a:uLnTx/>
                <a:uFillTx/>
                <a:ea typeface="+mn-ea"/>
                <a:cs typeface="+mn-cs"/>
              </a:rPr>
              <a:t>5</a:t>
            </a:r>
          </a:p>
        </p:txBody>
      </p:sp>
      <p:sp>
        <p:nvSpPr>
          <p:cNvPr id="59" name="TextBox 58">
            <a:extLst>
              <a:ext uri="{FF2B5EF4-FFF2-40B4-BE49-F238E27FC236}">
                <a16:creationId xmlns:a16="http://schemas.microsoft.com/office/drawing/2014/main" id="{1A58470D-F74B-2E33-5122-85F4D4E62386}"/>
              </a:ext>
            </a:extLst>
          </p:cNvPr>
          <p:cNvSpPr txBox="1"/>
          <p:nvPr/>
        </p:nvSpPr>
        <p:spPr>
          <a:xfrm>
            <a:off x="1444752" y="1481328"/>
            <a:ext cx="4389120" cy="77724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166030"/>
                </a:solidFill>
                <a:latin typeface="Aptos"/>
              </a:defRPr>
            </a:pPr>
            <a:r>
              <a:rPr kumimoji="0" sz="2400" b="1" i="0" u="none" strike="noStrike" kern="1200" cap="none" spc="0" normalizeH="0" baseline="0" noProof="0">
                <a:ln>
                  <a:noFill/>
                </a:ln>
                <a:solidFill>
                  <a:srgbClr val="166030"/>
                </a:solidFill>
                <a:effectLst/>
                <a:uLnTx/>
                <a:uFillTx/>
                <a:ea typeface="+mn-ea"/>
                <a:cs typeface="+mn-cs"/>
              </a:rPr>
              <a:t>WATCH — Watch energy &amp; challenge</a:t>
            </a:r>
          </a:p>
        </p:txBody>
      </p:sp>
      <p:sp>
        <p:nvSpPr>
          <p:cNvPr id="61" name="TextBox 60">
            <a:extLst>
              <a:ext uri="{FF2B5EF4-FFF2-40B4-BE49-F238E27FC236}">
                <a16:creationId xmlns:a16="http://schemas.microsoft.com/office/drawing/2014/main" id="{F42A507B-28D7-FA98-1242-70C640D488CB}"/>
              </a:ext>
            </a:extLst>
          </p:cNvPr>
          <p:cNvSpPr txBox="1"/>
          <p:nvPr/>
        </p:nvSpPr>
        <p:spPr>
          <a:xfrm>
            <a:off x="1444752" y="2286000"/>
            <a:ext cx="4389120" cy="1572767"/>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2400">
                <a:solidFill>
                  <a:srgbClr val="1E1E1E"/>
                </a:solidFill>
                <a:latin typeface="Aptos"/>
              </a:defRPr>
            </a:pPr>
            <a:r>
              <a:rPr kumimoji="0" sz="2400" b="0" i="0" u="none" strike="noStrike" kern="1200" cap="none" spc="0" normalizeH="0" baseline="0" noProof="0">
                <a:ln>
                  <a:noFill/>
                </a:ln>
                <a:solidFill>
                  <a:srgbClr val="1E1E1E"/>
                </a:solidFill>
                <a:effectLst/>
                <a:uLnTx/>
                <a:uFillTx/>
                <a:ea typeface="+mn-ea"/>
                <a:cs typeface="+mn-cs"/>
              </a:rPr>
              <a:t>Low contribution, slipping deadlines or defensive debate may signal fatigue, anger or frustration.</a:t>
            </a:r>
          </a:p>
        </p:txBody>
      </p:sp>
      <p:sp>
        <p:nvSpPr>
          <p:cNvPr id="63" name="Rounded Rectangle 23">
            <a:extLst>
              <a:ext uri="{FF2B5EF4-FFF2-40B4-BE49-F238E27FC236}">
                <a16:creationId xmlns:a16="http://schemas.microsoft.com/office/drawing/2014/main" id="{AFC9623B-F15A-927E-EBE7-1A710E206B5E}"/>
              </a:ext>
            </a:extLst>
          </p:cNvPr>
          <p:cNvSpPr/>
          <p:nvPr/>
        </p:nvSpPr>
        <p:spPr>
          <a:xfrm>
            <a:off x="6199632" y="1371600"/>
            <a:ext cx="5440680" cy="2560320"/>
          </a:xfrm>
          <a:prstGeom prst="roundRect">
            <a:avLst/>
          </a:prstGeom>
          <a:solidFill>
            <a:srgbClr val="F1F6F2"/>
          </a:solidFill>
          <a:ln>
            <a:solidFill>
              <a:srgbClr val="D7E1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ea typeface="+mn-ea"/>
              <a:cs typeface="+mn-cs"/>
            </a:endParaRPr>
          </a:p>
        </p:txBody>
      </p:sp>
      <p:sp>
        <p:nvSpPr>
          <p:cNvPr id="65" name="Oval 64">
            <a:extLst>
              <a:ext uri="{FF2B5EF4-FFF2-40B4-BE49-F238E27FC236}">
                <a16:creationId xmlns:a16="http://schemas.microsoft.com/office/drawing/2014/main" id="{BE6C456C-05C6-6E78-2630-261C42F98F81}"/>
              </a:ext>
            </a:extLst>
          </p:cNvPr>
          <p:cNvSpPr/>
          <p:nvPr/>
        </p:nvSpPr>
        <p:spPr>
          <a:xfrm>
            <a:off x="6382512" y="1572768"/>
            <a:ext cx="566928" cy="566928"/>
          </a:xfrm>
          <a:prstGeom prst="ellipse">
            <a:avLst/>
          </a:prstGeom>
          <a:solidFill>
            <a:srgbClr val="166030"/>
          </a:solidFill>
          <a:ln>
            <a:solidFill>
              <a:srgbClr val="16603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marL="0" marR="0" lvl="0" indent="0" algn="ctr" defTabSz="457200" rtl="0" eaLnBrk="1" fontAlgn="auto" latinLnBrk="0" hangingPunct="1">
              <a:lnSpc>
                <a:spcPct val="100000"/>
              </a:lnSpc>
              <a:spcBef>
                <a:spcPts val="0"/>
              </a:spcBef>
              <a:spcAft>
                <a:spcPts val="0"/>
              </a:spcAft>
              <a:buClrTx/>
              <a:buSzTx/>
              <a:buFontTx/>
              <a:buNone/>
              <a:tabLst/>
              <a:defRPr sz="2400" b="1">
                <a:solidFill>
                  <a:srgbClr val="FFFFFF"/>
                </a:solidFill>
                <a:latin typeface="Aptos"/>
              </a:defRPr>
            </a:pPr>
            <a:r>
              <a:rPr kumimoji="0" sz="2400" b="1" i="0" u="none" strike="noStrike" kern="1200" cap="none" spc="0" normalizeH="0" baseline="0" noProof="0">
                <a:ln>
                  <a:noFill/>
                </a:ln>
                <a:solidFill>
                  <a:srgbClr val="FFFFFF"/>
                </a:solidFill>
                <a:effectLst/>
                <a:uLnTx/>
                <a:uFillTx/>
                <a:ea typeface="+mn-ea"/>
                <a:cs typeface="+mn-cs"/>
              </a:rPr>
              <a:t>6</a:t>
            </a:r>
          </a:p>
        </p:txBody>
      </p:sp>
      <p:sp>
        <p:nvSpPr>
          <p:cNvPr id="67" name="TextBox 66">
            <a:extLst>
              <a:ext uri="{FF2B5EF4-FFF2-40B4-BE49-F238E27FC236}">
                <a16:creationId xmlns:a16="http://schemas.microsoft.com/office/drawing/2014/main" id="{29870982-BF94-6454-B100-5CC9313058A2}"/>
              </a:ext>
            </a:extLst>
          </p:cNvPr>
          <p:cNvSpPr txBox="1"/>
          <p:nvPr/>
        </p:nvSpPr>
        <p:spPr>
          <a:xfrm>
            <a:off x="7095744" y="1481328"/>
            <a:ext cx="4389120" cy="77724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166030"/>
                </a:solidFill>
                <a:latin typeface="Aptos"/>
              </a:defRPr>
            </a:pPr>
            <a:r>
              <a:rPr kumimoji="0" sz="2400" b="1" i="0" u="none" strike="noStrike" kern="1200" cap="none" spc="0" normalizeH="0" baseline="0" noProof="0">
                <a:ln>
                  <a:noFill/>
                </a:ln>
                <a:solidFill>
                  <a:srgbClr val="166030"/>
                </a:solidFill>
                <a:effectLst/>
                <a:uLnTx/>
                <a:uFillTx/>
                <a:ea typeface="+mn-ea"/>
                <a:cs typeface="+mn-cs"/>
              </a:rPr>
              <a:t>LISTEN — Listen to the language</a:t>
            </a:r>
          </a:p>
        </p:txBody>
      </p:sp>
      <p:sp>
        <p:nvSpPr>
          <p:cNvPr id="69" name="TextBox 68">
            <a:extLst>
              <a:ext uri="{FF2B5EF4-FFF2-40B4-BE49-F238E27FC236}">
                <a16:creationId xmlns:a16="http://schemas.microsoft.com/office/drawing/2014/main" id="{DA67B124-BCDF-FDAC-9E12-D090FAEC0E02}"/>
              </a:ext>
            </a:extLst>
          </p:cNvPr>
          <p:cNvSpPr txBox="1"/>
          <p:nvPr/>
        </p:nvSpPr>
        <p:spPr>
          <a:xfrm>
            <a:off x="7095744" y="2286000"/>
            <a:ext cx="4389120" cy="1572767"/>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2400">
                <a:solidFill>
                  <a:srgbClr val="1E1E1E"/>
                </a:solidFill>
                <a:latin typeface="Aptos"/>
              </a:defRPr>
            </a:pPr>
            <a:r>
              <a:rPr kumimoji="0" sz="2400" b="0" i="0" u="none" strike="noStrike" kern="1200" cap="none" spc="0" normalizeH="0" baseline="0" noProof="0">
                <a:ln>
                  <a:noFill/>
                </a:ln>
                <a:solidFill>
                  <a:srgbClr val="1E1E1E"/>
                </a:solidFill>
                <a:effectLst/>
                <a:uLnTx/>
                <a:uFillTx/>
                <a:ea typeface="+mn-ea"/>
                <a:cs typeface="+mn-cs"/>
              </a:rPr>
              <a:t>“What is the point?” · “They have already decided.” · “Just do what they want.”</a:t>
            </a:r>
          </a:p>
        </p:txBody>
      </p:sp>
      <p:sp>
        <p:nvSpPr>
          <p:cNvPr id="71" name="Rounded Rectangle 27">
            <a:extLst>
              <a:ext uri="{FF2B5EF4-FFF2-40B4-BE49-F238E27FC236}">
                <a16:creationId xmlns:a16="http://schemas.microsoft.com/office/drawing/2014/main" id="{13974345-241F-EDC9-D95E-80DCB737543B}"/>
              </a:ext>
            </a:extLst>
          </p:cNvPr>
          <p:cNvSpPr/>
          <p:nvPr/>
        </p:nvSpPr>
        <p:spPr>
          <a:xfrm>
            <a:off x="548640" y="4069080"/>
            <a:ext cx="11091672" cy="1828800"/>
          </a:xfrm>
          <a:prstGeom prst="roundRect">
            <a:avLst/>
          </a:prstGeom>
          <a:solidFill>
            <a:srgbClr val="F1F6F2"/>
          </a:solidFill>
          <a:ln>
            <a:solidFill>
              <a:srgbClr val="D7E1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ea typeface="+mn-ea"/>
              <a:cs typeface="+mn-cs"/>
            </a:endParaRPr>
          </a:p>
        </p:txBody>
      </p:sp>
      <p:sp>
        <p:nvSpPr>
          <p:cNvPr id="73" name="Oval 72">
            <a:extLst>
              <a:ext uri="{FF2B5EF4-FFF2-40B4-BE49-F238E27FC236}">
                <a16:creationId xmlns:a16="http://schemas.microsoft.com/office/drawing/2014/main" id="{4AB77C67-64EE-303C-4FC0-2749EAE72EAF}"/>
              </a:ext>
            </a:extLst>
          </p:cNvPr>
          <p:cNvSpPr/>
          <p:nvPr/>
        </p:nvSpPr>
        <p:spPr>
          <a:xfrm>
            <a:off x="731520" y="4270248"/>
            <a:ext cx="566928" cy="566928"/>
          </a:xfrm>
          <a:prstGeom prst="ellipse">
            <a:avLst/>
          </a:prstGeom>
          <a:solidFill>
            <a:srgbClr val="166030"/>
          </a:solidFill>
          <a:ln>
            <a:solidFill>
              <a:srgbClr val="16603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marL="0" marR="0" lvl="0" indent="0" algn="ctr" defTabSz="457200" rtl="0" eaLnBrk="1" fontAlgn="auto" latinLnBrk="0" hangingPunct="1">
              <a:lnSpc>
                <a:spcPct val="100000"/>
              </a:lnSpc>
              <a:spcBef>
                <a:spcPts val="0"/>
              </a:spcBef>
              <a:spcAft>
                <a:spcPts val="0"/>
              </a:spcAft>
              <a:buClrTx/>
              <a:buSzTx/>
              <a:buFontTx/>
              <a:buNone/>
              <a:tabLst/>
              <a:defRPr sz="2400" b="1">
                <a:solidFill>
                  <a:srgbClr val="FFFFFF"/>
                </a:solidFill>
                <a:latin typeface="Aptos"/>
              </a:defRPr>
            </a:pPr>
            <a:r>
              <a:rPr kumimoji="0" sz="2400" b="1" i="0" u="none" strike="noStrike" kern="1200" cap="none" spc="0" normalizeH="0" baseline="0" noProof="0">
                <a:ln>
                  <a:noFill/>
                </a:ln>
                <a:solidFill>
                  <a:srgbClr val="FFFFFF"/>
                </a:solidFill>
                <a:effectLst/>
                <a:uLnTx/>
                <a:uFillTx/>
                <a:ea typeface="+mn-ea"/>
                <a:cs typeface="+mn-cs"/>
              </a:rPr>
              <a:t>7</a:t>
            </a:r>
          </a:p>
        </p:txBody>
      </p:sp>
      <p:sp>
        <p:nvSpPr>
          <p:cNvPr id="75" name="TextBox 74">
            <a:extLst>
              <a:ext uri="{FF2B5EF4-FFF2-40B4-BE49-F238E27FC236}">
                <a16:creationId xmlns:a16="http://schemas.microsoft.com/office/drawing/2014/main" id="{11B3D9FE-0EAD-E72D-45E4-2DE34891ED7B}"/>
              </a:ext>
            </a:extLst>
          </p:cNvPr>
          <p:cNvSpPr txBox="1"/>
          <p:nvPr/>
        </p:nvSpPr>
        <p:spPr>
          <a:xfrm>
            <a:off x="1444752" y="4178808"/>
            <a:ext cx="10040112" cy="45720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166030"/>
                </a:solidFill>
                <a:latin typeface="Aptos"/>
              </a:defRPr>
            </a:pPr>
            <a:r>
              <a:rPr kumimoji="0" sz="2400" b="1" i="0" u="none" strike="noStrike" kern="1200" cap="none" spc="0" normalizeH="0" baseline="0" noProof="0">
                <a:ln>
                  <a:noFill/>
                </a:ln>
                <a:solidFill>
                  <a:srgbClr val="166030"/>
                </a:solidFill>
                <a:effectLst/>
                <a:uLnTx/>
                <a:uFillTx/>
                <a:ea typeface="+mn-ea"/>
                <a:cs typeface="+mn-cs"/>
              </a:rPr>
              <a:t>CONNECT — Connect emotion to behaviour</a:t>
            </a:r>
          </a:p>
        </p:txBody>
      </p:sp>
      <p:sp>
        <p:nvSpPr>
          <p:cNvPr id="77" name="TextBox 76">
            <a:extLst>
              <a:ext uri="{FF2B5EF4-FFF2-40B4-BE49-F238E27FC236}">
                <a16:creationId xmlns:a16="http://schemas.microsoft.com/office/drawing/2014/main" id="{E746D57D-9211-B886-18CF-209A86FA0D16}"/>
              </a:ext>
            </a:extLst>
          </p:cNvPr>
          <p:cNvSpPr txBox="1"/>
          <p:nvPr/>
        </p:nvSpPr>
        <p:spPr>
          <a:xfrm>
            <a:off x="1444752" y="4709160"/>
            <a:ext cx="10040112" cy="109728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2400">
                <a:solidFill>
                  <a:srgbClr val="1E1E1E"/>
                </a:solidFill>
                <a:latin typeface="Aptos"/>
              </a:defRPr>
            </a:pPr>
            <a:r>
              <a:rPr kumimoji="0" sz="2400" b="0" i="0" u="none" strike="noStrike" kern="1200" cap="none" spc="0" normalizeH="0" baseline="0" noProof="0" dirty="0">
                <a:ln>
                  <a:noFill/>
                </a:ln>
                <a:solidFill>
                  <a:srgbClr val="1E1E1E"/>
                </a:solidFill>
                <a:effectLst/>
                <a:uLnTx/>
                <a:uFillTx/>
                <a:ea typeface="+mn-ea"/>
                <a:cs typeface="+mn-cs"/>
              </a:rPr>
              <a:t>“Where is this emotion showing up—in collaboration, decisions, effort or willingness to speak?”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665</TotalTime>
  <Words>21917</Words>
  <Application>Microsoft Office PowerPoint</Application>
  <PresentationFormat>Widescreen</PresentationFormat>
  <Paragraphs>1662</Paragraphs>
  <Slides>38</Slides>
  <Notes>38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Aptos</vt:lpstr>
      <vt:lpstr>Aptos Display</vt:lpstr>
      <vt:lpstr>Arial</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IBSL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 · Behavioural Strategy Fundamentals</dc:title>
  <dc:subject>PptxGenJS Presentation</dc:subject>
  <dc:creator>Institute of Behavioural Strategy &amp; Leadership</dc:creator>
  <cp:lastModifiedBy>Carol Lupiya</cp:lastModifiedBy>
  <cp:revision>7</cp:revision>
  <dcterms:created xsi:type="dcterms:W3CDTF">2026-09-29T13:20:10Z</dcterms:created>
  <dcterms:modified xsi:type="dcterms:W3CDTF">2026-10-05T06:46:32Z</dcterms:modified>
</cp:coreProperties>
</file>