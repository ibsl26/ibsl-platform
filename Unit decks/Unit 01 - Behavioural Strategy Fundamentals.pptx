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participants to Unit 1. This unit is unscored and sets the behavioural foundation for the whole programme. Every later unit relies on the shared vocabulary built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outcomes aloud. They are the capabilities participants will hold at the end of Unit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section builds on the last: the unit is cumulative, so discourage skipping ahead.
Agree the ground rules for candour and confidentiality now. Participants must be willing to name their own biases before they can challenge the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scene-setting. Do not rush it; engagement across the unit depends on participants understanding why they are here.
Behavioural strategy sits at the intersection of cognitive psychology and strategic management.
Suggested time: 10–15 minutes including the opening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before showing any other content. Take 2–3 responses. Do not challenge or affirm; note them and return to them at the close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participants to write, not just think, their intention in the portal reflection box. It becomes the anchor for their portfolio artefact at the end of Unit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intent: the conceptual foundation: what behavioural strategy is, how individual thinking is structured, how collective thinking breaks down, and the 20 most common cognitive biases.
Expect some resistance: experienced leaders often feel they already know this. Make the content personally relevant.
Suggested section time: 40–55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2–3 responses. Hold the tension; it prepares the ground for the definition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concept to land: the distinction between what we decide and how our thinking shapes what we believe we should decide. This is the unit's central pivot.
Read the question aloud and let the group sit with it.
Definition (Sibony and others): the application of insights from psychology and behavioural economics to reduce the impact of cognitive biases, emotional distortions and group dynamics on strategic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of these three phrases feels most personally relevant to you right now?" Allow brief pair discussion.
Then: "Does this definition change how you understood strategy before walking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Kahneman's dual-process framework. System 1 example: the gut feeling about a market opportunity, formed in seconds from years of experience. System 2 example: the structured analysis that validates or challenges that gut feeling.
Ask first: "Think of the last major strategic decision your team made. Was the final call driven more by instinct or deliberate analysis?"
Then: "Under what conditions does System 1 take over in your organisation? What does that look like in a meeting room?"
Suggested time: 8–10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question: "In your leadership team, who sees the most complete picture of the organisation's strategic reality? What does that person's role tell you?"
Read the parable aloud (or invite a participant): six men, blind from birth, each touch one part of an elephant and each describes a different animal. Allow a moment of quiet; resist explaining it immediately.
Debrief: "Who in your organisation is each blind man? Which function sees the wall? Which one sees the rope?" Listen for the functions consistently named: this often surfaces the real silo structure.
Suggested time: 10–12 minutes including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would it take in your organisation to Surface, Hold and Integrate all those partial truths?"
Unexamined differences in functional perspective do not surface as disagreement; they surface as execution friction.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5–7 minutes for participants to explore the bias families in the portal.
Prompt: "Open the family you suspect is most active in your organisation's strategy process. Which bias do you recognise most immediately?"
Go round the group: each person names one bias and one organisational signal. Build a live picture of the group's collective blind spots.
Caution: redirect anyone naming other people's biases: "We're here to understand the patterns so we can design better processes."
Suggested time: 12–15 minutes across both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5–7 minutes for participants to explore the bias families in the portal.
Prompt: "Open the family you suspect is most active in your organisation's strategy process. Which bias do you recognise most immediately?"
Go round the group: each person names one bias and one organisational signal. Build a live picture of the group's collective blind spots.
Caution: redirect anyone naming other people's biases: "We're here to understand the patterns so we can design better processes."
Suggested time: 12–15 minutes across both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intent: Section 2 established what behavioural strategy is; this section shows why it matters, through a live case and the costs of unexamined bias. The MyHealth case is the turning point.
Suggested section time: 25–35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question and hold the silence before moving to the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announcement aloud: "To become the leading patient-centric provider, we are launching the MyHealth Live Portal. It provides 24/7 digital access to data, cuts admin calls by 30%, and builds trust through transparency. We go live in 60 days." Ask for immediate reactions.
Participants open the role closest to their own function in the portal and read its internal translation. Ask: "Does this match what you would have been thinking?"
Compare 2–3 role pairs (CTO vs CMO, CEO vs CHRO): "Where do these perspectives create friction? What happens if both pursue their own definition of success without talking?"
Suggested time: 15–20 minutes including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40% spike came from patients receiving raw, uninterpreted lab results at 9pm on a Friday. Customer satisfaction fell because patients felt overwhelmed.
The white space is the gap between functional mandates, where no one is in charge and where the customer experience lives.
Read the three-point check aloud, then ask: "In your current strategy, where is the enterprise consequence that nobody formally owns?" This is often the most candid conversation of the session. Give it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cost is shown with the bias families that drive it.
- Misallocated capital: legacy lines fed by sunk cost; "ego acquisitions" driven by overconfidence.
- Strategic inertia: disruption is seen, yet anchoring and status quo bias freeze the response.
- Execution failure: plans built on the planning fallacy and optimism collapse under friction.
- Innovation suppression: groupthink and career-risk silence transformative ideas.
- Purpose drift: short-term incentives and quick-win halos override long-term intent.
Ask: "If disciplined decision-making delivers approximately 6% higher returns, what would that mean for your organisation?" Then: "Which cost is the most expensive in your organisation right now, and which is the most invisible?"
Transition: "Where exactly in the strategy process do these costs accumulate?"
Suggested time: 10–12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intent: the most diagnostic section. Participants map where bias shows up across their strategy process and in the emotional environment. Expect uncomfortable recognitions; that is the design intent.
Frame: "Every bias from Section 2 has a home in a specific moment of the strategy process."
Suggested section time: 35–45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phases as a group; do not allow individual browsing yet. For each phase, ask the group to answer the scanner question for their own organisation, right now, and capture answers on a whiteboard. This builds a live bias-exposure map of the group's real strategy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phases as a group; do not allow individual browsing yet. For each phase, ask the group to answer the scanner question for their own organisation, right now, and capture answers on a whiteboard. This builds a live bias-exposure map of the group's real strategy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Emotions decide whether careful System 2 thinking happens. Fear: anxiety and defence; System 1 hijack, triggering conformity and career-risk bias. Narcissism: ego and grandiosity; System 2 used only to justify overconfidence. Grounded confidence: curiosity and security; high psychological safety allows structured dissent.
Ask first: "In one word, what is the dominant emotional state in your leadership team's strategy conversations right now?" Write 3–4 answers on the flip chart.
For each climate: "Raise your hand if you have experienced this climate at any point in your career."
Ask: "What does it cost your organisation when the climate is wrong, and who is accountable for that?"
Suggested time: 10–12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Strategy always lands into an emotional climate before it lands into action.
Read each factor and ask participants to rate their current team 1–5 privately:
- Engagement energy: discretionary effort beyond the minimum.
- Morale drain: how far emotional fatigue reduces capacity.
- Friction load: hidden resistance and drag in decisions.
- Psychological safety: how safe people feel to speak, challenge and admit uncertainty.
- Values alignment: consistency between stated values and behaviour under pressure.
Then ask: "What is the unacknowledged emotional state in your organisation's current strategy cycle?" Unacknowledged emotional states silently override rational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Protect the generative phase from early criticism.
2 Surface the emotions in the room before the strategic content.
3 A rotating role that tests assumptions in every high-stakes decision.
4 Ask: "If this fails, what are the most likely reasons?"
5 Compare plans with similar initiatives in comparable conditions.
6 Structured learning reviews throughout execution, not only at the end.
Participants read silently (3 minutes) and select the principle most absent from their practice. Debrief: "Which principle does your organisation consistently skip, and what does that cost you?" Then: "Which one could you introduce into your next strategy meeting without anyone's permission?"
Suggested time: 10–12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intent: the unit moves from diagnosis to design. Integration is where the "Me" becomes "We": from defending the part to designing the whole.
Ask: "If everyone in your leadership team performed at their personal best, would the quality of your collective decisions automatically improve?" Let the tension sit.
Suggested section time: 30–40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 Cognitive integration: the stress test. "If the Finance data is right, does the Marketing plan still make sense?"
- Behavioural guardrails: the Challenge Clock, ten minutes spent only on why the plan will not work.
- Emotional stabilisation: naming the feeling. "We're all anxious about this deadline; let's acknowledge that first."
Ask first: "What is the biggest structural barrier to collective intelligence in your organisation?" Then, for each pillar: "Is this present in your current strategy process?" Each participant identifies the weakest pillar in their environment privately; invite 3–4 to share.
Guardrails are bypassed where there is no psychological safety to use them.
Suggested time: 12–15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principles in 4.4 told you what to do. These practices embed it structurally."
Participants mark each practice as active, partially active or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"Which practice is most immediately implementable without a mandate from above? What is stopping you from introducing it in your next meeting?"
Each participant selects their top two or three and shares one with the group, naming the bias it addresses.
Suggested time: 12–15 minutes across both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intent: everything from Sections 1–5 is applied, first in a live simulation and then in a personal self-assessment. Do not skip the simulation.
Frame: "So far we have been thinking about bias. Now we are going to experience it."
Suggested section time: 40–55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the exercise from the facilitator file before the session. Allow 5 minutes of silent reading.
Observe where dominant voices emerge, where functions dig in, and where the white space goes unaddressed. Stop the group before consensus and ask whether anyone has identified the gap between their individual positions and the enterprise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statements, four per commitment, each scored 1–5 (total out of 100).
Read the instruction aloud: "Score what is consistently true of your practice right now, not what you aspire to." Complete individually and in silence (10–12 minutes).
Debrief: "What did your score reveal that surprised you?" and "Which commitment had the lowest sub-score, and what does that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reference at least one bias family, one phase of strategy and one emotional climate concept.
Part 2: what will be different, and how will you know it has worked?
Part 3: based on the Five Commitments score; specific to the participant.
Participants complete the three parts in the portal and submit Unit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Unit Summary aloud from the portal, or ask a participant to. Do not add to it.
Return to the opening question. Ask 2–3 participants: "Has anything shifted, and if so, what specifically?"
Each participant completes privately in writing: "The one thing I am taking from this unit that I intend to act on is…" Invite 2–3 to share.
Transition: Module 2 (Direction) builds directly on this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mnt/user-data/uploads/ibsl-platform/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 rather than from a single functional position.</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Orientation  </a:t>
            </a:r>
            <a:pPr indent="0" marL="0">
              <a:buNone/>
            </a:pP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6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human judgement shapes the way their team debates, decides and sets direction.</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assumption you hold about how good decisions get made in your organisation?</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Your learning intention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is one thing about your leadership or your organisation's strategy that you most want to understand differently by the end of this unit?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Write it in the portal. It anchors your portfolio artefact.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behavioural strategy is</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patterns of bias most active in their own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Before we begin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Defining behavioural strategy</a:t>
            </a:r>
            <a:endParaRPr lang="en-US" sz="3600" dirty="0"/>
          </a:p>
        </p:txBody>
      </p:sp>
      <p:sp>
        <p:nvSpPr>
          <p:cNvPr id="3" name="Shape 1"/>
          <p:cNvSpPr/>
          <p:nvPr/>
        </p:nvSpPr>
        <p:spPr>
          <a:xfrm>
            <a:off x="548640" y="1508760"/>
            <a:ext cx="3931920" cy="4846320"/>
          </a:xfrm>
          <a:prstGeom prst="roundRect">
            <a:avLst>
              <a:gd name="adj" fmla="val 2326"/>
            </a:avLst>
          </a:prstGeom>
          <a:solidFill>
            <a:srgbClr val="EEF4EF"/>
          </a:solidFill>
          <a:ln w="12700">
            <a:solidFill>
              <a:srgbClr val="EEF4EF"/>
            </a:solidFill>
            <a:prstDash val="solid"/>
          </a:ln>
        </p:spPr>
      </p:sp>
      <p:sp>
        <p:nvSpPr>
          <p:cNvPr id="4" name="Text 2"/>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indent="0" marL="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846320"/>
          </a:xfrm>
          <a:prstGeom prst="roundRect">
            <a:avLst>
              <a:gd name="adj" fmla="val 1887"/>
            </a:avLst>
          </a:prstGeom>
          <a:solidFill>
            <a:srgbClr val="1A5C2C"/>
          </a:solidFill>
          <a:ln w="12700">
            <a:solidFill>
              <a:srgbClr val="1A5C2C"/>
            </a:solidFill>
            <a:prstDash val="solid"/>
          </a:ln>
        </p:spPr>
      </p:sp>
      <p:sp>
        <p:nvSpPr>
          <p:cNvPr id="7" name="Text 5"/>
          <p:cNvSpPr txBox="1"/>
          <p:nvPr/>
        </p:nvSpPr>
        <p:spPr>
          <a:xfrm>
            <a:off x="5029200" y="1783080"/>
            <a:ext cx="64008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indent="0" marL="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and are those thinking patterns helping or hurting us?</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way we think"</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shortcuts we use, the patterns we trust, the data we ignore.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we believe we should do"</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Every call is filtered through the thinking of the people who made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"Helping or hurting us"</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shortcuts that make leaders fast can also make them wrong.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If we do not understand how we think, we cannot judge our thinking.</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Pattern recognition from experience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bias under pressure</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Needs time and psychological safety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Elephant Perspective</a:t>
            </a:r>
            <a:endParaRPr lang="en-US" sz="3600" dirty="0"/>
          </a:p>
        </p:txBody>
      </p:sp>
      <p:sp>
        <p:nvSpPr>
          <p:cNvPr id="3" name="Shape 1"/>
          <p:cNvSpPr/>
          <p:nvPr/>
        </p:nvSpPr>
        <p:spPr>
          <a:xfrm>
            <a:off x="548640" y="1508760"/>
            <a:ext cx="3840480" cy="4846320"/>
          </a:xfrm>
          <a:prstGeom prst="roundRect">
            <a:avLst>
              <a:gd name="adj" fmla="val 2381"/>
            </a:avLst>
          </a:prstGeom>
          <a:solidFill>
            <a:srgbClr val="EEF4EF"/>
          </a:solidFill>
          <a:ln w="12700">
            <a:solidFill>
              <a:srgbClr val="EEF4EF"/>
            </a:solidFill>
            <a:prstDash val="solid"/>
          </a:ln>
        </p:spPr>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Six leaders,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sp>
      <p:sp>
        <p:nvSpPr>
          <p:cNvPr id="8" name="Text 5"/>
          <p:cNvSpPr txBox="1"/>
          <p:nvPr/>
        </p:nvSpPr>
        <p:spPr>
          <a:xfrm>
            <a:off x="489204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Side: </a:t>
            </a:r>
            <a:pPr indent="0" marL="0">
              <a:buNone/>
            </a:pP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sp>
      <p:sp>
        <p:nvSpPr>
          <p:cNvPr id="10" name="Text 7"/>
          <p:cNvSpPr txBox="1"/>
          <p:nvPr/>
        </p:nvSpPr>
        <p:spPr>
          <a:xfrm>
            <a:off x="8458200" y="150876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Tusk: </a:t>
            </a:r>
            <a:pPr indent="0" marL="0">
              <a:buNone/>
            </a:pP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sp>
      <p:sp>
        <p:nvSpPr>
          <p:cNvPr id="12" name="Text 9"/>
          <p:cNvSpPr txBox="1"/>
          <p:nvPr/>
        </p:nvSpPr>
        <p:spPr>
          <a:xfrm>
            <a:off x="489204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Trunk: </a:t>
            </a:r>
            <a:pPr indent="0" marL="0">
              <a:buNone/>
            </a:pP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sp>
      <p:sp>
        <p:nvSpPr>
          <p:cNvPr id="14" name="Text 11"/>
          <p:cNvSpPr txBox="1"/>
          <p:nvPr/>
        </p:nvSpPr>
        <p:spPr>
          <a:xfrm>
            <a:off x="8458200" y="246888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Leg: </a:t>
            </a:r>
            <a:pPr indent="0" marL="0">
              <a:buNone/>
            </a:pP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sp>
      <p:sp>
        <p:nvSpPr>
          <p:cNvPr id="16" name="Text 13"/>
          <p:cNvSpPr txBox="1"/>
          <p:nvPr/>
        </p:nvSpPr>
        <p:spPr>
          <a:xfrm>
            <a:off x="489204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Ear: </a:t>
            </a:r>
            <a:pPr indent="0" marL="0">
              <a:buNone/>
            </a:pP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sp>
      <p:sp>
        <p:nvSpPr>
          <p:cNvPr id="18" name="Text 15"/>
          <p:cNvSpPr txBox="1"/>
          <p:nvPr/>
        </p:nvSpPr>
        <p:spPr>
          <a:xfrm>
            <a:off x="8458200" y="3429000"/>
            <a:ext cx="3017520" cy="777240"/>
          </a:xfrm>
          <a:prstGeom prst="rect">
            <a:avLst/>
          </a:prstGeom>
          <a:noFill/>
          <a:ln/>
        </p:spPr>
        <p:txBody>
          <a:bodyPr wrap="square" lIns="0" tIns="0" rIns="0" bIns="0" rtlCol="0" anchor="ctr"/>
          <a:lstStyle/>
          <a:p>
            <a:pPr indent="0" marL="0">
              <a:buNone/>
            </a:pPr>
            <a:r>
              <a:rPr lang="en-US" sz="2600" b="1" dirty="0">
                <a:solidFill>
                  <a:srgbClr val="1A5C2C"/>
                </a:solidFill>
                <a:latin typeface="Calibri" pitchFamily="34" charset="0"/>
                <a:ea typeface="Calibri" pitchFamily="34" charset="-122"/>
                <a:cs typeface="Calibri" pitchFamily="34" charset="-120"/>
              </a:rPr>
              <a:t>Tail: </a:t>
            </a:r>
            <a:pPr indent="0" marL="0">
              <a:buNone/>
            </a:pP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828800"/>
          </a:xfrm>
          <a:prstGeom prst="roundRect">
            <a:avLst>
              <a:gd name="adj" fmla="val 5000"/>
            </a:avLst>
          </a:prstGeom>
          <a:solidFill>
            <a:srgbClr val="1A5C2C"/>
          </a:solidFill>
          <a:ln w="12700">
            <a:solidFill>
              <a:srgbClr val="1A5C2C"/>
            </a:solidFill>
            <a:prstDash val="solid"/>
          </a:ln>
        </p:spPr>
      </p:sp>
      <p:sp>
        <p:nvSpPr>
          <p:cNvPr id="20" name="Text 17"/>
          <p:cNvSpPr txBox="1"/>
          <p:nvPr/>
        </p:nvSpPr>
        <p:spPr>
          <a:xfrm>
            <a:off x="4937760" y="4526280"/>
            <a:ext cx="6492240" cy="1828800"/>
          </a:xfrm>
          <a:prstGeom prst="rect">
            <a:avLst/>
          </a:prstGeom>
          <a:noFill/>
          <a:ln/>
        </p:spPr>
        <p:txBody>
          <a:bodyPr wrap="square" lIns="0" tIns="0" rIns="0" bIns="0" rtlCol="0" anchor="ctr"/>
          <a:lstStyle/>
          <a:p>
            <a:pPr indent="0" marL="0">
              <a:buNone/>
            </a:pPr>
            <a:r>
              <a:rPr lang="en-US" sz="2800" i="1" dirty="0">
                <a:solidFill>
                  <a:srgbClr val="FFFFFF"/>
                </a:solidFill>
                <a:latin typeface="Cambria" pitchFamily="34" charset="0"/>
                <a:ea typeface="Cambria" pitchFamily="34" charset="-122"/>
                <a:cs typeface="Cambria" pitchFamily="34" charset="-120"/>
              </a:rPr>
              <a:t>Each holds real evidence. The error is taking one part for the whole.</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From individual accuracy to collective coherence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Surface  </a:t>
            </a:r>
            <a:pPr indent="0" marL="0">
              <a:buNone/>
            </a:pPr>
            <a:r>
              <a:rPr lang="en-US" sz="2800" dirty="0">
                <a:solidFill>
                  <a:srgbClr val="1F2A22"/>
                </a:solidFill>
                <a:latin typeface="Calibri" pitchFamily="34" charset="0"/>
                <a:ea typeface="Calibri" pitchFamily="34" charset="-122"/>
                <a:cs typeface="Calibri" pitchFamily="34" charset="-120"/>
              </a:rPr>
              <a:t>the partial truths each function holds</a:t>
            </a:r>
            <a:endParaRPr lang="en-US" sz="28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Hold  </a:t>
            </a:r>
            <a:pPr indent="0" marL="0">
              <a:buNone/>
            </a:pPr>
            <a:r>
              <a:rPr lang="en-US" sz="2800" dirty="0">
                <a:solidFill>
                  <a:srgbClr val="1F2A22"/>
                </a:solidFill>
                <a:latin typeface="Calibri" pitchFamily="34" charset="0"/>
                <a:ea typeface="Calibri" pitchFamily="34" charset="-122"/>
                <a:cs typeface="Calibri" pitchFamily="34" charset="-120"/>
              </a:rPr>
              <a:t>them in tension without forcing early agreement</a:t>
            </a:r>
            <a:endParaRPr lang="en-US" sz="28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Integrate  </a:t>
            </a:r>
            <a:pPr indent="0" marL="0">
              <a:buNone/>
            </a:pPr>
            <a:r>
              <a:rPr lang="en-US" sz="2800" dirty="0">
                <a:solidFill>
                  <a:srgbClr val="1F2A22"/>
                </a:solidFill>
                <a:latin typeface="Calibri" pitchFamily="34" charset="0"/>
                <a:ea typeface="Calibri" pitchFamily="34" charset="-122"/>
                <a:cs typeface="Calibri" pitchFamily="34" charset="-120"/>
              </a:rPr>
              <a:t>them into one understanding of reality</a:t>
            </a:r>
            <a:endParaRPr lang="en-US" sz="28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Left unexamined:  </a:t>
            </a:r>
            <a:pPr indent="0" marL="0">
              <a:buNone/>
            </a:pPr>
            <a:r>
              <a:rPr lang="en-US" sz="2800" dirty="0">
                <a:solidFill>
                  <a:srgbClr val="1F2A22"/>
                </a:solidFill>
                <a:latin typeface="Calibri" pitchFamily="34" charset="0"/>
                <a:ea typeface="Calibri" pitchFamily="34" charset="-122"/>
                <a:cs typeface="Calibri" pitchFamily="34" charset="-120"/>
              </a:rPr>
              <a:t>delayed decisions, misaligned KPIs, energy in different directions</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act and preserve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Action-oriented</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Stability</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Bias families: protect and align</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Interest</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Self-Interest · Functional / Silo · Incentive · Career-Risk · Perspective</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Social</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behavioural strategy is critical</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how executive roles translate one strategy into divergent priorities that leave gaps unowned.</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their organisation.</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The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If every executive performed perfectly within their own function, would your strategy deliver the result you intend?</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MyHealth Live: ten perspectives</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sp>
      <p:pic>
        <p:nvPicPr>
          <p:cNvPr id="5" name="Image 0" descr="preencoded.png">    </p:cNvPr>
          <p:cNvPicPr>
            <a:picLocks noChangeAspect="1"/>
          </p:cNvPicPr>
          <p:nvPr/>
        </p:nvPicPr>
        <p:blipFill>
          <a:blip r:embed="rId1"/>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A hospital chain launches a 24/7 patient portal: cut admin calls by 30%, build trust,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sp>
      <p:sp>
        <p:nvSpPr>
          <p:cNvPr id="8" name="Text 5"/>
          <p:cNvSpPr txBox="1"/>
          <p:nvPr/>
        </p:nvSpPr>
        <p:spPr>
          <a:xfrm>
            <a:off x="548640"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sp>
      <p:sp>
        <p:nvSpPr>
          <p:cNvPr id="10" name="Text 7"/>
          <p:cNvSpPr txBox="1"/>
          <p:nvPr/>
        </p:nvSpPr>
        <p:spPr>
          <a:xfrm>
            <a:off x="2802636"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sp>
      <p:sp>
        <p:nvSpPr>
          <p:cNvPr id="12" name="Text 9"/>
          <p:cNvSpPr txBox="1"/>
          <p:nvPr/>
        </p:nvSpPr>
        <p:spPr>
          <a:xfrm>
            <a:off x="5056632"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sp>
      <p:sp>
        <p:nvSpPr>
          <p:cNvPr id="14" name="Text 11"/>
          <p:cNvSpPr txBox="1"/>
          <p:nvPr/>
        </p:nvSpPr>
        <p:spPr>
          <a:xfrm>
            <a:off x="7310628"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sp>
      <p:sp>
        <p:nvSpPr>
          <p:cNvPr id="16" name="Text 13"/>
          <p:cNvSpPr txBox="1"/>
          <p:nvPr/>
        </p:nvSpPr>
        <p:spPr>
          <a:xfrm>
            <a:off x="9564624" y="37033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sp>
      <p:sp>
        <p:nvSpPr>
          <p:cNvPr id="18" name="Text 15"/>
          <p:cNvSpPr txBox="1"/>
          <p:nvPr/>
        </p:nvSpPr>
        <p:spPr>
          <a:xfrm>
            <a:off x="548640"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sp>
      <p:sp>
        <p:nvSpPr>
          <p:cNvPr id="20" name="Text 17"/>
          <p:cNvSpPr txBox="1"/>
          <p:nvPr/>
        </p:nvSpPr>
        <p:spPr>
          <a:xfrm>
            <a:off x="2802636"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sp>
      <p:sp>
        <p:nvSpPr>
          <p:cNvPr id="22" name="Text 19"/>
          <p:cNvSpPr txBox="1"/>
          <p:nvPr/>
        </p:nvSpPr>
        <p:spPr>
          <a:xfrm>
            <a:off x="5056632"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sp>
      <p:sp>
        <p:nvSpPr>
          <p:cNvPr id="24" name="Text 21"/>
          <p:cNvSpPr txBox="1"/>
          <p:nvPr/>
        </p:nvSpPr>
        <p:spPr>
          <a:xfrm>
            <a:off x="7310628"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sp>
      <p:sp>
        <p:nvSpPr>
          <p:cNvPr id="26" name="Text 23"/>
          <p:cNvSpPr txBox="1"/>
          <p:nvPr/>
        </p:nvSpPr>
        <p:spPr>
          <a:xfrm>
            <a:off x="9564624" y="4617720"/>
            <a:ext cx="2011680" cy="731520"/>
          </a:xfrm>
          <a:prstGeom prst="rect">
            <a:avLst/>
          </a:prstGeom>
          <a:noFill/>
          <a:ln/>
        </p:spPr>
        <p:txBody>
          <a:bodyPr wrap="square" lIns="0" tIns="0" rIns="0" bIns="0" rtlCol="0" anchor="ctr"/>
          <a:lstStyle/>
          <a:p>
            <a:pPr algn="ctr" indent="0" marL="0">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Each role hears the same words through its own functional perspective.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White Space</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40%</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spike in emergency "panic visits" while every function hit its target</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Vertical success:  </a:t>
            </a:r>
            <a:pPr indent="0" marL="0">
              <a:buNone/>
            </a:pPr>
            <a:r>
              <a:rPr lang="en-US" sz="2400" dirty="0">
                <a:solidFill>
                  <a:srgbClr val="4E5E53"/>
                </a:solidFill>
                <a:latin typeface="Calibri" pitchFamily="34" charset="0"/>
                <a:ea typeface="Calibri" pitchFamily="34" charset="-122"/>
                <a:cs typeface="Calibri" pitchFamily="34" charset="-120"/>
              </a:rPr>
              <a:t>does my "done" create more work for you?</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White space:  </a:t>
            </a:r>
            <a:pPr indent="0" marL="0">
              <a:buNone/>
            </a:pPr>
            <a:r>
              <a:rPr lang="en-US" sz="2400" dirty="0">
                <a:solidFill>
                  <a:srgbClr val="4E5E53"/>
                </a:solidFill>
                <a:latin typeface="Calibri" pitchFamily="34" charset="0"/>
                <a:ea typeface="Calibri" pitchFamily="34" charset="-122"/>
                <a:cs typeface="Calibri" pitchFamily="34" charset="-120"/>
              </a:rPr>
              <a:t>green system, red customer: where do we neutralise the impact?</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Enterprise consequence:  </a:t>
            </a:r>
            <a:pPr indent="0" marL="0">
              <a:buNone/>
            </a:pPr>
            <a:r>
              <a:rPr lang="en-US" sz="2400" dirty="0">
                <a:solidFill>
                  <a:srgbClr val="4E5E53"/>
                </a:solidFill>
                <a:latin typeface="Calibri" pitchFamily="34" charset="0"/>
                <a:ea typeface="Calibri" pitchFamily="34" charset="-122"/>
                <a:cs typeface="Calibri" pitchFamily="34" charset="-120"/>
              </a:rPr>
              <a:t>has the enterprise won?</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Misallocated capital  </a:t>
            </a:r>
            <a:pPr indent="0" marL="0">
              <a:buNone/>
            </a:pPr>
            <a:r>
              <a:rPr lang="en-US" sz="2400" dirty="0">
                <a:solidFill>
                  <a:srgbClr val="4E5E53"/>
                </a:solidFill>
                <a:latin typeface="Calibri" pitchFamily="34" charset="0"/>
                <a:ea typeface="Calibri" pitchFamily="34" charset="-122"/>
                <a:cs typeface="Calibri" pitchFamily="34" charset="-120"/>
              </a:rPr>
              <a:t>stability &amp; action</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Strategic inertia  </a:t>
            </a:r>
            <a:pPr indent="0" marL="0">
              <a:buNone/>
            </a:pPr>
            <a:r>
              <a:rPr lang="en-US" sz="2400" dirty="0">
                <a:solidFill>
                  <a:srgbClr val="4E5E53"/>
                </a:solidFill>
                <a:latin typeface="Calibri" pitchFamily="34" charset="0"/>
                <a:ea typeface="Calibri" pitchFamily="34" charset="-122"/>
                <a:cs typeface="Calibri" pitchFamily="34" charset="-120"/>
              </a:rPr>
              <a:t>stability</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failure  </a:t>
            </a:r>
            <a:pPr indent="0" marL="0">
              <a:buNone/>
            </a:pPr>
            <a:r>
              <a:rPr lang="en-US" sz="2400" dirty="0">
                <a:solidFill>
                  <a:srgbClr val="4E5E53"/>
                </a:solidFill>
                <a:latin typeface="Calibri" pitchFamily="34" charset="0"/>
                <a:ea typeface="Calibri" pitchFamily="34" charset="-122"/>
                <a:cs typeface="Calibri" pitchFamily="34" charset="-120"/>
              </a:rPr>
              <a:t>action-oriented</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sp>
      <p:pic>
        <p:nvPicPr>
          <p:cNvPr id="16" name="Image 3" descr="preencoded.png">    </p:cNvPr>
          <p:cNvPicPr>
            <a:picLocks noChangeAspect="1"/>
          </p:cNvPicPr>
          <p:nvPr/>
        </p:nvPicPr>
        <p:blipFill>
          <a:blip r:embed="rId4"/>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Innovation suppression  </a:t>
            </a:r>
            <a:pPr indent="0" marL="0">
              <a:buNone/>
            </a:pPr>
            <a:r>
              <a:rPr lang="en-US" sz="2400" dirty="0">
                <a:solidFill>
                  <a:srgbClr val="4E5E53"/>
                </a:solidFill>
                <a:latin typeface="Calibri" pitchFamily="34" charset="0"/>
                <a:ea typeface="Calibri" pitchFamily="34" charset="-122"/>
                <a:cs typeface="Calibri" pitchFamily="34" charset="-120"/>
              </a:rPr>
              <a:t>social &amp; interest</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sp>
      <p:pic>
        <p:nvPicPr>
          <p:cNvPr id="19" name="Image 4" descr="preencoded.png">    </p:cNvPr>
          <p:cNvPicPr>
            <a:picLocks noChangeAspect="1"/>
          </p:cNvPicPr>
          <p:nvPr/>
        </p:nvPicPr>
        <p:blipFill>
          <a:blip r:embed="rId5"/>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Purpose drift  </a:t>
            </a:r>
            <a:pPr indent="0" marL="0">
              <a:buNone/>
            </a:pPr>
            <a:r>
              <a:rPr lang="en-US" sz="2400" dirty="0">
                <a:solidFill>
                  <a:srgbClr val="4E5E53"/>
                </a:solidFill>
                <a:latin typeface="Calibri" pitchFamily="34" charset="0"/>
                <a:ea typeface="Calibri" pitchFamily="34" charset="-122"/>
                <a:cs typeface="Calibri" pitchFamily="34" charset="-120"/>
              </a:rPr>
              <a:t>interest &amp; social</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behavioural strategy operates</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their own strategy process.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diagnosis and options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1 · Diagnosis</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Availability · Anchoring · Confirmation</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Was our diagnosis based on data we sought, or data that happened to be available?</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2 · Option generation</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Status Quo · Groupthink · Career-Risk · Silo</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How many different options did we consider before committing?</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bias landscape: decision and execution</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3 · Decision</a:t>
            </a:r>
            <a:endParaRPr lang="en-US" sz="2800" dirty="0"/>
          </a:p>
        </p:txBody>
      </p:sp>
      <p:sp>
        <p:nvSpPr>
          <p:cNvPr id="7" name="Text 4"/>
          <p:cNvSpPr txBox="1"/>
          <p:nvPr/>
        </p:nvSpPr>
        <p:spPr>
          <a:xfrm>
            <a:off x="777240"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Overconfidence · Loss Aversion · Authority · Halo · Sunk-Cost</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Was our last major call driven by evidence or by authority?</a:t>
            </a: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4 · Execution</a:t>
            </a:r>
            <a:endParaRPr lang="en-US" sz="2800" dirty="0"/>
          </a:p>
        </p:txBody>
      </p:sp>
      <p:sp>
        <p:nvSpPr>
          <p:cNvPr id="12" name="Text 8"/>
          <p:cNvSpPr txBox="1"/>
          <p:nvPr/>
        </p:nvSpPr>
        <p:spPr>
          <a:xfrm>
            <a:off x="6460236" y="2560320"/>
            <a:ext cx="4951476" cy="3657600"/>
          </a:xfrm>
          <a:prstGeom prst="rect">
            <a:avLst/>
          </a:prstGeom>
          <a:noFill/>
          <a:ln/>
        </p:spPr>
        <p:txBody>
          <a:bodyPr wrap="square" lIns="0" tIns="0" rIns="0" bIns="0" rtlCol="0" anchor="t"/>
          <a:lstStyle/>
          <a:p>
            <a:pPr indent="0" marL="0">
              <a:buNone/>
            </a:pPr>
            <a:r>
              <a:rPr lang="en-US" sz="2600" dirty="0">
                <a:solidFill>
                  <a:srgbClr val="1F2A22"/>
                </a:solidFill>
                <a:latin typeface="Calibri" pitchFamily="34" charset="0"/>
                <a:ea typeface="Calibri" pitchFamily="34" charset="-122"/>
                <a:cs typeface="Calibri" pitchFamily="34" charset="-120"/>
              </a:rPr>
              <a:t>Planning Fallacy · Incentive · Self-Interest · Confirmation</a:t>
            </a:r>
            <a:endParaRPr lang="en-US" sz="2600" dirty="0"/>
          </a:p>
          <a:p>
            <a:pPr indent="0" marL="0">
              <a:buNone/>
            </a:pPr>
            <a:endParaRPr lang="en-US" sz="2600" dirty="0"/>
          </a:p>
          <a:p>
            <a:pPr indent="0" marL="0">
              <a:buNone/>
            </a:pPr>
            <a:r>
              <a:rPr lang="en-US" sz="2600" dirty="0">
                <a:solidFill>
                  <a:srgbClr val="1F2A22"/>
                </a:solidFill>
                <a:latin typeface="Calibri" pitchFamily="34" charset="0"/>
                <a:ea typeface="Calibri" pitchFamily="34" charset="-122"/>
                <a:cs typeface="Calibri" pitchFamily="34" charset="-120"/>
              </a:rPr>
              <a:t>If we were off-track, how quickly would we know?</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emotional climate as atmospheric pressure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Fear</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paralysis: safe, incremental bets.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Narcissism</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delusion: grand plans, no grounding.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Strategic agility: dissent is safe; bias is caught early.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Managing the emotional climate is a leadership responsibility.</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Five factors to read in any team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Engagement energy  </a:t>
            </a:r>
            <a:pPr indent="0" marL="0">
              <a:buNone/>
            </a:pP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Morale drain  </a:t>
            </a:r>
            <a:pPr indent="0" marL="0">
              <a:buNone/>
            </a:pP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Friction load  </a:t>
            </a:r>
            <a:pPr indent="0" marL="0">
              <a:buNone/>
            </a:pP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Psychological safety  </a:t>
            </a:r>
            <a:pPr indent="0" marL="0">
              <a:buNone/>
            </a:pP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Values alignment  </a:t>
            </a:r>
            <a:pPr indent="0" marL="0">
              <a:buNone/>
            </a:pP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Six principles for debiasing strategy</a:t>
            </a:r>
            <a:endParaRPr lang="en-US" sz="3600" dirty="0"/>
          </a:p>
        </p:txBody>
      </p:sp>
      <p:sp>
        <p:nvSpPr>
          <p:cNvPr id="3" name="Shape 1"/>
          <p:cNvSpPr/>
          <p:nvPr/>
        </p:nvSpPr>
        <p:spPr>
          <a:xfrm>
            <a:off x="548640" y="1508760"/>
            <a:ext cx="5408676" cy="1127760"/>
          </a:xfrm>
          <a:prstGeom prst="roundRect">
            <a:avLst>
              <a:gd name="adj" fmla="val 8108"/>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Separate ideation from evaluation</a:t>
            </a:r>
            <a:endParaRPr lang="en-US" sz="2400" dirty="0"/>
          </a:p>
        </p:txBody>
      </p:sp>
      <p:sp>
        <p:nvSpPr>
          <p:cNvPr id="7" name="Shape 4"/>
          <p:cNvSpPr/>
          <p:nvPr/>
        </p:nvSpPr>
        <p:spPr>
          <a:xfrm>
            <a:off x="6231636" y="1508760"/>
            <a:ext cx="5408676" cy="1127760"/>
          </a:xfrm>
          <a:prstGeom prst="roundRect">
            <a:avLst>
              <a:gd name="adj" fmla="val 8108"/>
            </a:avLst>
          </a:prstGeom>
          <a:solidFill>
            <a:srgbClr val="EEF4EF"/>
          </a:solidFill>
          <a:ln w="12700">
            <a:solidFill>
              <a:srgbClr val="EEF4EF"/>
            </a:solidFill>
            <a:prstDash val="solid"/>
          </a:ln>
        </p:spPr>
      </p:sp>
      <p:sp>
        <p:nvSpPr>
          <p:cNvPr id="8" name="Shape 5"/>
          <p:cNvSpPr/>
          <p:nvPr/>
        </p:nvSpPr>
        <p:spPr>
          <a:xfrm>
            <a:off x="6460236" y="1737360"/>
            <a:ext cx="548640" cy="548640"/>
          </a:xfrm>
          <a:prstGeom prst="ellipse">
            <a:avLst/>
          </a:prstGeom>
          <a:solidFill>
            <a:srgbClr val="1A5C2C"/>
          </a:solidFill>
          <a:ln w="12700">
            <a:solidFill>
              <a:srgbClr val="1A5C2C"/>
            </a:solidFill>
            <a:prstDash val="solid"/>
          </a:ln>
        </p:spPr>
      </p:sp>
      <p:pic>
        <p:nvPicPr>
          <p:cNvPr id="9"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0" name="Text 6"/>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Name the emotional temperature first</a:t>
            </a:r>
            <a:endParaRPr lang="en-US" sz="2400" dirty="0"/>
          </a:p>
        </p:txBody>
      </p:sp>
      <p:sp>
        <p:nvSpPr>
          <p:cNvPr id="11" name="Shape 7"/>
          <p:cNvSpPr/>
          <p:nvPr/>
        </p:nvSpPr>
        <p:spPr>
          <a:xfrm>
            <a:off x="548640" y="2910840"/>
            <a:ext cx="5408676" cy="1127760"/>
          </a:xfrm>
          <a:prstGeom prst="roundRect">
            <a:avLst>
              <a:gd name="adj" fmla="val 8108"/>
            </a:avLst>
          </a:prstGeom>
          <a:solidFill>
            <a:srgbClr val="EEF4EF"/>
          </a:solidFill>
          <a:ln w="12700">
            <a:solidFill>
              <a:srgbClr val="EEF4EF"/>
            </a:solidFill>
            <a:prstDash val="solid"/>
          </a:ln>
        </p:spPr>
      </p:sp>
      <p:sp>
        <p:nvSpPr>
          <p:cNvPr id="12" name="Shape 8"/>
          <p:cNvSpPr/>
          <p:nvPr/>
        </p:nvSpPr>
        <p:spPr>
          <a:xfrm>
            <a:off x="777240" y="3139440"/>
            <a:ext cx="548640" cy="548640"/>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914400" y="3276600"/>
            <a:ext cx="274320" cy="274320"/>
          </a:xfrm>
          <a:prstGeom prst="rect">
            <a:avLst/>
          </a:prstGeom>
        </p:spPr>
      </p:pic>
      <p:sp>
        <p:nvSpPr>
          <p:cNvPr id="14" name="Text 9"/>
          <p:cNvSpPr txBox="1"/>
          <p:nvPr/>
        </p:nvSpPr>
        <p:spPr>
          <a:xfrm>
            <a:off x="1508760" y="309372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Assign a designated challenger</a:t>
            </a:r>
            <a:endParaRPr lang="en-US" sz="2400" dirty="0"/>
          </a:p>
        </p:txBody>
      </p:sp>
      <p:sp>
        <p:nvSpPr>
          <p:cNvPr id="15" name="Shape 10"/>
          <p:cNvSpPr/>
          <p:nvPr/>
        </p:nvSpPr>
        <p:spPr>
          <a:xfrm>
            <a:off x="6231636" y="2910840"/>
            <a:ext cx="5408676" cy="1127760"/>
          </a:xfrm>
          <a:prstGeom prst="roundRect">
            <a:avLst>
              <a:gd name="adj" fmla="val 8108"/>
            </a:avLst>
          </a:prstGeom>
          <a:solidFill>
            <a:srgbClr val="EEF4EF"/>
          </a:solidFill>
          <a:ln w="12700">
            <a:solidFill>
              <a:srgbClr val="EEF4EF"/>
            </a:solidFill>
            <a:prstDash val="solid"/>
          </a:ln>
        </p:spPr>
      </p:sp>
      <p:sp>
        <p:nvSpPr>
          <p:cNvPr id="16" name="Shape 11"/>
          <p:cNvSpPr/>
          <p:nvPr/>
        </p:nvSpPr>
        <p:spPr>
          <a:xfrm>
            <a:off x="6460236" y="3139440"/>
            <a:ext cx="548640" cy="548640"/>
          </a:xfrm>
          <a:prstGeom prst="ellipse">
            <a:avLst/>
          </a:prstGeom>
          <a:solidFill>
            <a:srgbClr val="1A5C2C"/>
          </a:solidFill>
          <a:ln w="12700">
            <a:solidFill>
              <a:srgbClr val="1A5C2C"/>
            </a:solidFill>
            <a:prstDash val="solid"/>
          </a:ln>
        </p:spPr>
      </p:sp>
      <p:pic>
        <p:nvPicPr>
          <p:cNvPr id="17" name="Image 3" descr="preencoded.png">    </p:cNvPr>
          <p:cNvPicPr>
            <a:picLocks noChangeAspect="1"/>
          </p:cNvPicPr>
          <p:nvPr/>
        </p:nvPicPr>
        <p:blipFill>
          <a:blip r:embed="rId4"/>
          <a:stretch>
            <a:fillRect/>
          </a:stretch>
        </p:blipFill>
        <p:spPr>
          <a:xfrm>
            <a:off x="6597396" y="3276600"/>
            <a:ext cx="274320" cy="274320"/>
          </a:xfrm>
          <a:prstGeom prst="rect">
            <a:avLst/>
          </a:prstGeom>
        </p:spPr>
      </p:pic>
      <p:sp>
        <p:nvSpPr>
          <p:cNvPr id="18" name="Text 12"/>
          <p:cNvSpPr txBox="1"/>
          <p:nvPr/>
        </p:nvSpPr>
        <p:spPr>
          <a:xfrm>
            <a:off x="7191756" y="309372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Run pre-mortems as standard</a:t>
            </a:r>
            <a:endParaRPr lang="en-US" sz="2400" dirty="0"/>
          </a:p>
        </p:txBody>
      </p:sp>
      <p:sp>
        <p:nvSpPr>
          <p:cNvPr id="19" name="Shape 13"/>
          <p:cNvSpPr/>
          <p:nvPr/>
        </p:nvSpPr>
        <p:spPr>
          <a:xfrm>
            <a:off x="548640" y="4312920"/>
            <a:ext cx="5408676" cy="1127760"/>
          </a:xfrm>
          <a:prstGeom prst="roundRect">
            <a:avLst>
              <a:gd name="adj" fmla="val 8108"/>
            </a:avLst>
          </a:prstGeom>
          <a:solidFill>
            <a:srgbClr val="EEF4EF"/>
          </a:solidFill>
          <a:ln w="12700">
            <a:solidFill>
              <a:srgbClr val="EEF4EF"/>
            </a:solidFill>
            <a:prstDash val="solid"/>
          </a:ln>
        </p:spPr>
      </p:sp>
      <p:sp>
        <p:nvSpPr>
          <p:cNvPr id="20" name="Shape 14"/>
          <p:cNvSpPr/>
          <p:nvPr/>
        </p:nvSpPr>
        <p:spPr>
          <a:xfrm>
            <a:off x="777240" y="4541520"/>
            <a:ext cx="548640" cy="548640"/>
          </a:xfrm>
          <a:prstGeom prst="ellipse">
            <a:avLst/>
          </a:prstGeom>
          <a:solidFill>
            <a:srgbClr val="1A5C2C"/>
          </a:solidFill>
          <a:ln w="12700">
            <a:solidFill>
              <a:srgbClr val="1A5C2C"/>
            </a:solidFill>
            <a:prstDash val="solid"/>
          </a:ln>
        </p:spPr>
      </p:sp>
      <p:pic>
        <p:nvPicPr>
          <p:cNvPr id="21" name="Image 4" descr="preencoded.png">    </p:cNvPr>
          <p:cNvPicPr>
            <a:picLocks noChangeAspect="1"/>
          </p:cNvPicPr>
          <p:nvPr/>
        </p:nvPicPr>
        <p:blipFill>
          <a:blip r:embed="rId5"/>
          <a:stretch>
            <a:fillRect/>
          </a:stretch>
        </p:blipFill>
        <p:spPr>
          <a:xfrm>
            <a:off x="914400" y="4678680"/>
            <a:ext cx="274320" cy="274320"/>
          </a:xfrm>
          <a:prstGeom prst="rect">
            <a:avLst/>
          </a:prstGeom>
        </p:spPr>
      </p:pic>
      <p:sp>
        <p:nvSpPr>
          <p:cNvPr id="22" name="Text 15"/>
          <p:cNvSpPr txBox="1"/>
          <p:nvPr/>
        </p:nvSpPr>
        <p:spPr>
          <a:xfrm>
            <a:off x="1508760" y="449580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Make the reference class visible</a:t>
            </a:r>
            <a:endParaRPr lang="en-US" sz="2400" dirty="0"/>
          </a:p>
        </p:txBody>
      </p:sp>
      <p:sp>
        <p:nvSpPr>
          <p:cNvPr id="23" name="Shape 16"/>
          <p:cNvSpPr/>
          <p:nvPr/>
        </p:nvSpPr>
        <p:spPr>
          <a:xfrm>
            <a:off x="6231636" y="4312920"/>
            <a:ext cx="5408676" cy="1127760"/>
          </a:xfrm>
          <a:prstGeom prst="roundRect">
            <a:avLst>
              <a:gd name="adj" fmla="val 8108"/>
            </a:avLst>
          </a:prstGeom>
          <a:solidFill>
            <a:srgbClr val="EEF4EF"/>
          </a:solidFill>
          <a:ln w="12700">
            <a:solidFill>
              <a:srgbClr val="EEF4EF"/>
            </a:solidFill>
            <a:prstDash val="solid"/>
          </a:ln>
        </p:spPr>
      </p:sp>
      <p:sp>
        <p:nvSpPr>
          <p:cNvPr id="24" name="Shape 17"/>
          <p:cNvSpPr/>
          <p:nvPr/>
        </p:nvSpPr>
        <p:spPr>
          <a:xfrm>
            <a:off x="6460236" y="4541520"/>
            <a:ext cx="548640" cy="548640"/>
          </a:xfrm>
          <a:prstGeom prst="ellipse">
            <a:avLst/>
          </a:prstGeom>
          <a:solidFill>
            <a:srgbClr val="1A5C2C"/>
          </a:solidFill>
          <a:ln w="12700">
            <a:solidFill>
              <a:srgbClr val="1A5C2C"/>
            </a:solidFill>
            <a:prstDash val="solid"/>
          </a:ln>
        </p:spPr>
      </p:sp>
      <p:pic>
        <p:nvPicPr>
          <p:cNvPr id="25" name="Image 5" descr="preencoded.png">    </p:cNvPr>
          <p:cNvPicPr>
            <a:picLocks noChangeAspect="1"/>
          </p:cNvPicPr>
          <p:nvPr/>
        </p:nvPicPr>
        <p:blipFill>
          <a:blip r:embed="rId6"/>
          <a:stretch>
            <a:fillRect/>
          </a:stretch>
        </p:blipFill>
        <p:spPr>
          <a:xfrm>
            <a:off x="6597396" y="4678680"/>
            <a:ext cx="274320" cy="274320"/>
          </a:xfrm>
          <a:prstGeom prst="rect">
            <a:avLst/>
          </a:prstGeom>
        </p:spPr>
      </p:pic>
      <p:sp>
        <p:nvSpPr>
          <p:cNvPr id="26" name="Text 18"/>
          <p:cNvSpPr txBox="1"/>
          <p:nvPr/>
        </p:nvSpPr>
        <p:spPr>
          <a:xfrm>
            <a:off x="7191756" y="449580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Create after-action protocols</a:t>
            </a:r>
            <a:endParaRPr lang="en-US" sz="2400" dirty="0"/>
          </a:p>
        </p:txBody>
      </p:sp>
      <p:sp>
        <p:nvSpPr>
          <p:cNvPr id="27" name="Shape 1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8" name="Text 2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Outcomes change when the strategy process is designed to counter bias.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to build collective intelligence</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Prioritise the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version of the truth across functions.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Slow the rush; the loudest voice cannot win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pillars depend on each other.</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Practices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72-hour pre-read  </a:t>
            </a:r>
            <a:pPr indent="0" marL="0">
              <a:buNone/>
            </a:pPr>
            <a:r>
              <a:rPr lang="en-US" sz="2600" dirty="0">
                <a:solidFill>
                  <a:srgbClr val="1F2A22"/>
                </a:solidFill>
                <a:latin typeface="Calibri" pitchFamily="34" charset="0"/>
                <a:ea typeface="Calibri" pitchFamily="34" charset="-122"/>
                <a:cs typeface="Calibri" pitchFamily="34" charset="-120"/>
              </a:rPr>
              <a:t>counters 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Rotating neutral facilitation  </a:t>
            </a:r>
            <a:pPr indent="0" marL="0">
              <a:buNone/>
            </a:pPr>
            <a:r>
              <a:rPr lang="en-US" sz="2600" dirty="0">
                <a:solidFill>
                  <a:srgbClr val="1F2A22"/>
                </a:solidFill>
                <a:latin typeface="Calibri" pitchFamily="34" charset="0"/>
                <a:ea typeface="Calibri" pitchFamily="34" charset="-122"/>
                <a:cs typeface="Calibri" pitchFamily="34" charset="-120"/>
              </a:rPr>
              <a:t>counters authority bias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Blind ideation  </a:t>
            </a:r>
            <a:pPr indent="0" marL="0">
              <a:buNone/>
            </a:pPr>
            <a:r>
              <a:rPr lang="en-US" sz="2600" dirty="0">
                <a:solidFill>
                  <a:srgbClr val="1F2A22"/>
                </a:solidFill>
                <a:latin typeface="Calibri" pitchFamily="34" charset="0"/>
                <a:ea typeface="Calibri" pitchFamily="34" charset="-122"/>
                <a:cs typeface="Calibri" pitchFamily="34" charset="-120"/>
              </a:rPr>
              <a:t>counters conformity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 Challenge Clock  </a:t>
            </a:r>
            <a:pPr indent="0" marL="0">
              <a:buNone/>
            </a:pPr>
            <a:r>
              <a:rPr lang="en-US" sz="2600" dirty="0">
                <a:solidFill>
                  <a:srgbClr val="1F2A22"/>
                </a:solidFill>
                <a:latin typeface="Calibri" pitchFamily="34" charset="0"/>
                <a:ea typeface="Calibri" pitchFamily="34" charset="-122"/>
                <a:cs typeface="Calibri" pitchFamily="34" charset="-120"/>
              </a:rPr>
              <a:t>counters the rush to decide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Silent deliberation  </a:t>
            </a:r>
            <a:pPr indent="0" marL="0">
              <a:buNone/>
            </a:pPr>
            <a:r>
              <a:rPr lang="en-US" sz="2600" dirty="0">
                <a:solidFill>
                  <a:srgbClr val="1F2A22"/>
                </a:solidFill>
                <a:latin typeface="Calibri" pitchFamily="34" charset="0"/>
                <a:ea typeface="Calibri" pitchFamily="34" charset="-122"/>
                <a:cs typeface="Calibri" pitchFamily="34" charset="-120"/>
              </a:rPr>
              <a:t>counters availability bias</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Practices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Public cognitive humility  </a:t>
            </a:r>
            <a:pPr indent="0" marL="0">
              <a:buNone/>
            </a:pPr>
            <a:r>
              <a:rPr lang="en-US" sz="2600" dirty="0">
                <a:solidFill>
                  <a:srgbClr val="1F2A22"/>
                </a:solidFill>
                <a:latin typeface="Calibri" pitchFamily="34" charset="0"/>
                <a:ea typeface="Calibri" pitchFamily="34" charset="-122"/>
                <a:cs typeface="Calibri" pitchFamily="34" charset="-120"/>
              </a:rPr>
              <a:t>counters 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Behavioural 360s  </a:t>
            </a:r>
            <a:pPr indent="0" marL="0">
              <a:buNone/>
            </a:pPr>
            <a:r>
              <a:rPr lang="en-US" sz="2600" dirty="0">
                <a:solidFill>
                  <a:srgbClr val="1F2A22"/>
                </a:solidFill>
                <a:latin typeface="Calibri" pitchFamily="34" charset="0"/>
                <a:ea typeface="Calibri" pitchFamily="34" charset="-122"/>
                <a:cs typeface="Calibri" pitchFamily="34" charset="-120"/>
              </a:rPr>
              <a:t>counters self-interest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Debiasing coaching  </a:t>
            </a:r>
            <a:pPr indent="0" marL="0">
              <a:buNone/>
            </a:pPr>
            <a:r>
              <a:rPr lang="en-US" sz="2600" dirty="0">
                <a:solidFill>
                  <a:srgbClr val="1F2A22"/>
                </a:solidFill>
                <a:latin typeface="Calibri" pitchFamily="34" charset="0"/>
                <a:ea typeface="Calibri" pitchFamily="34" charset="-122"/>
                <a:cs typeface="Calibri" pitchFamily="34" charset="-120"/>
              </a:rPr>
              <a:t>counters 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Safety metrics  </a:t>
            </a:r>
            <a:pPr indent="0" marL="0">
              <a:buNone/>
            </a:pPr>
            <a:r>
              <a:rPr lang="en-US" sz="2600" dirty="0">
                <a:solidFill>
                  <a:srgbClr val="1F2A22"/>
                </a:solidFill>
                <a:latin typeface="Calibri" pitchFamily="34" charset="0"/>
                <a:ea typeface="Calibri" pitchFamily="34" charset="-122"/>
                <a:cs typeface="Calibri" pitchFamily="34" charset="-120"/>
              </a:rPr>
              <a:t>counters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Strategic post-mortems  </a:t>
            </a:r>
            <a:pPr indent="0" marL="0">
              <a:buNone/>
            </a:pPr>
            <a:r>
              <a:rPr lang="en-US" sz="2600" dirty="0">
                <a:solidFill>
                  <a:srgbClr val="1F2A22"/>
                </a:solidFill>
                <a:latin typeface="Calibri" pitchFamily="34" charset="0"/>
                <a:ea typeface="Calibri" pitchFamily="34" charset="-122"/>
                <a:cs typeface="Calibri" pitchFamily="34" charset="-120"/>
              </a:rPr>
              <a:t>counters hindsight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54864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Behavioural strategy in practice</a:t>
            </a:r>
            <a:endParaRPr lang="en-US" sz="2600" dirty="0"/>
          </a:p>
        </p:txBody>
      </p:sp>
      <p:sp>
        <p:nvSpPr>
          <p:cNvPr id="6" name="Text 4"/>
          <p:cNvSpPr txBox="1"/>
          <p:nvPr/>
        </p:nvSpPr>
        <p:spPr>
          <a:xfrm>
            <a:off x="2743200" y="310896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68503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781044"/>
            <a:ext cx="192024" cy="192024"/>
          </a:xfrm>
          <a:prstGeom prst="rect">
            <a:avLst/>
          </a:prstGeom>
        </p:spPr>
      </p:pic>
      <p:sp>
        <p:nvSpPr>
          <p:cNvPr id="9" name="Text 6"/>
          <p:cNvSpPr txBox="1"/>
          <p:nvPr/>
        </p:nvSpPr>
        <p:spPr>
          <a:xfrm>
            <a:off x="3291840" y="361188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their own leadership conduct against the conditions for sound strategic judgement.</a:t>
            </a:r>
            <a:endParaRPr lang="en-US" sz="2400" dirty="0"/>
          </a:p>
        </p:txBody>
      </p:sp>
      <p:sp>
        <p:nvSpPr>
          <p:cNvPr id="10" name="Shape 7"/>
          <p:cNvSpPr/>
          <p:nvPr/>
        </p:nvSpPr>
        <p:spPr>
          <a:xfrm>
            <a:off x="2743200" y="487375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4969764"/>
            <a:ext cx="192024" cy="192024"/>
          </a:xfrm>
          <a:prstGeom prst="rect">
            <a:avLst/>
          </a:prstGeom>
        </p:spPr>
      </p:pic>
      <p:sp>
        <p:nvSpPr>
          <p:cNvPr id="12" name="Text 8"/>
          <p:cNvSpPr txBox="1"/>
          <p:nvPr/>
        </p:nvSpPr>
        <p:spPr>
          <a:xfrm>
            <a:off x="3291840" y="480060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their strategic judgement.</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Distortion Lab</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Groups of 4–6:  </a:t>
            </a:r>
            <a:pPr indent="0" marL="0">
              <a:buNone/>
            </a:pPr>
            <a:r>
              <a:rPr lang="en-US" sz="2600" dirty="0">
                <a:solidFill>
                  <a:srgbClr val="1F2A22"/>
                </a:solidFill>
                <a:latin typeface="Calibri" pitchFamily="34" charset="0"/>
                <a:ea typeface="Calibri" pitchFamily="34" charset="-122"/>
                <a:cs typeface="Calibri" pitchFamily="34" charset="-120"/>
              </a:rPr>
              <a:t>read the scenario silently</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Assigned roles:  </a:t>
            </a:r>
            <a:pPr indent="0" marL="0">
              <a:buNone/>
            </a:pPr>
            <a:r>
              <a:rPr lang="en-US" sz="2600" dirty="0">
                <a:solidFill>
                  <a:srgbClr val="1F2A22"/>
                </a:solidFill>
                <a:latin typeface="Calibri" pitchFamily="34" charset="0"/>
                <a:ea typeface="Calibri" pitchFamily="34" charset="-122"/>
                <a:cs typeface="Calibri" pitchFamily="34" charset="-120"/>
              </a:rPr>
              <a:t>no self-selection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10–12 minutes:  </a:t>
            </a:r>
            <a:pPr indent="0" marL="0">
              <a:buNone/>
            </a:pPr>
            <a:r>
              <a:rPr lang="en-US" sz="2600" dirty="0">
                <a:solidFill>
                  <a:srgbClr val="1F2A22"/>
                </a:solidFill>
                <a:latin typeface="Calibri" pitchFamily="34" charset="0"/>
                <a:ea typeface="Calibri" pitchFamily="34" charset="-122"/>
                <a:cs typeface="Calibri" pitchFamily="34" charset="-120"/>
              </a:rPr>
              <a:t>discuss without facilitator input</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Stop before consensus:  </a:t>
            </a:r>
            <a:pPr indent="0" marL="0">
              <a:buNone/>
            </a:pPr>
            <a:r>
              <a:rPr lang="en-US" sz="2600" dirty="0">
                <a:solidFill>
                  <a:srgbClr val="1F2A22"/>
                </a:solidFill>
                <a:latin typeface="Calibri" pitchFamily="34" charset="0"/>
                <a:ea typeface="Calibri" pitchFamily="34" charset="-122"/>
                <a:cs typeface="Calibri" pitchFamily="34" charset="-120"/>
              </a:rPr>
              <a:t>has anyone found the white space?</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6.1 · The Five Commitments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C1  </a:t>
            </a:r>
            <a:pPr indent="0" marL="0">
              <a:buNone/>
            </a:pPr>
            <a:r>
              <a:rPr lang="en-US" sz="2600" dirty="0">
                <a:solidFill>
                  <a:srgbClr val="1F2A22"/>
                </a:solidFill>
                <a:latin typeface="Calibri" pitchFamily="34" charset="0"/>
                <a:ea typeface="Calibri" pitchFamily="34" charset="-122"/>
                <a:cs typeface="Calibri" pitchFamily="34" charset="-120"/>
              </a:rPr>
              <a:t>I know my biases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C2  </a:t>
            </a:r>
            <a:pPr indent="0" marL="0">
              <a:buNone/>
            </a:pPr>
            <a:r>
              <a:rPr lang="en-US" sz="2600" dirty="0">
                <a:solidFill>
                  <a:srgbClr val="1F2A22"/>
                </a:solidFill>
                <a:latin typeface="Calibri" pitchFamily="34" charset="0"/>
                <a:ea typeface="Calibri" pitchFamily="34" charset="-122"/>
                <a:cs typeface="Calibri" pitchFamily="34" charset="-120"/>
              </a:rPr>
              <a:t>I manage my emotional impact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C3  </a:t>
            </a:r>
            <a:pPr indent="0" marL="0">
              <a:buNone/>
            </a:pPr>
            <a:r>
              <a:rPr lang="en-US" sz="2600" dirty="0">
                <a:solidFill>
                  <a:srgbClr val="1F2A22"/>
                </a:solidFill>
                <a:latin typeface="Calibri" pitchFamily="34" charset="0"/>
                <a:ea typeface="Calibri" pitchFamily="34" charset="-122"/>
                <a:cs typeface="Calibri" pitchFamily="34" charset="-120"/>
              </a:rPr>
              <a:t>I build psychological safety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C4  </a:t>
            </a:r>
            <a:pPr indent="0" marL="0">
              <a:buNone/>
            </a:pPr>
            <a:r>
              <a:rPr lang="en-US" sz="2600" dirty="0">
                <a:solidFill>
                  <a:srgbClr val="1F2A22"/>
                </a:solidFill>
                <a:latin typeface="Calibri" pitchFamily="34" charset="0"/>
                <a:ea typeface="Calibri" pitchFamily="34" charset="-122"/>
                <a:cs typeface="Calibri" pitchFamily="34" charset="-120"/>
              </a:rPr>
              <a:t>I use process to protect quality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C5  </a:t>
            </a:r>
            <a:pPr indent="0" marL="0">
              <a:buNone/>
            </a:pPr>
            <a:r>
              <a:rPr lang="en-US" sz="2600" dirty="0">
                <a:solidFill>
                  <a:srgbClr val="1F2A22"/>
                </a:solidFill>
                <a:latin typeface="Calibri" pitchFamily="34" charset="0"/>
                <a:ea typeface="Calibri" pitchFamily="34" charset="-122"/>
                <a:cs typeface="Calibri" pitchFamily="34" charset="-120"/>
              </a:rPr>
              <a:t>I treat people as the strategy</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 your thinking and your organisation's decisions.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observable change in the next 30 days.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most exposed commitment, and what growth looks like.</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assumption did you hold about how good decisions get made? Has anything shifted?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one thing I will act on from this unit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Institute of Behavioural Strategy &amp; Leadership</cp:lastModifiedBy>
  <cp:revision>1</cp:revision>
  <dcterms:created xsi:type="dcterms:W3CDTF">2026-09-28T21:33:28Z</dcterms:created>
  <dcterms:modified xsi:type="dcterms:W3CDTF">2026-09-28T21:33:28Z</dcterms:modified>
</cp:coreProperties>
</file>