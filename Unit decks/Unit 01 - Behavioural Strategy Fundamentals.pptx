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P</a:t>
            </a:r>
            <a:r>
              <a:rPr dirty="0"/>
              <a:t>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dirty="0"/>
              <a:t>T</a:t>
            </a:r>
            <a:r>
              <a:rPr lang="en-GB" dirty="0"/>
              <a:t>he whole before the parts.</a:t>
            </a:r>
          </a:p>
          <a:p>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Source: Journal, 3 October 2026 — Professional Insights: Strategy</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Here are examples of what happens when the organisation is not thinking about strategy with sufficient clarity, coherence and enterprise perspective:</a:t>
            </a:r>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GB" dirty="0"/>
              <a:t>Symbolic compliance.</a:t>
            </a:r>
          </a:p>
          <a:p>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Source: Journal, 1 October 2026 — Professional Insights: Strategy</a:t>
            </a:r>
          </a:p>
          <a:p>
            <a:endParaRPr lang="en-ZA" b="1" dirty="0"/>
          </a:p>
          <a:p>
            <a:r>
              <a:rPr lang="en-ZA" b="1" dirty="0"/>
              <a:t>When people, decisions and organisational conditions are not aligned behind the strategy, the following is bound to manifest:</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GB" dirty="0"/>
              <a:t>The connections between the parts.</a:t>
            </a:r>
          </a:p>
          <a:p>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Source: Journal, 4 October 2026 — Professional Insights: Strategy</a:t>
            </a:r>
          </a:p>
          <a:p>
            <a:endParaRPr lang="en-ZA" b="1" dirty="0"/>
          </a:p>
          <a:p>
            <a:r>
              <a:rPr lang="en-ZA" b="1" dirty="0"/>
              <a:t>This is what you are likely to get 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p>
          <a:p>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dirty="0"/>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a:p>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 </a:t>
            </a:r>
          </a:p>
          <a:p>
            <a:r>
              <a:rPr lang="en-GB" dirty="0"/>
              <a:t>Source: Journal, 3 October 2026 — Professional Insights: Strategy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endParaRPr lang="en-GB" dirty="0"/>
          </a:p>
          <a:p>
            <a:r>
              <a:rPr lang="en-GB" dirty="0"/>
              <a:t>Same evidence, different conclusions.</a:t>
            </a:r>
          </a:p>
          <a:p>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Source: Journal, 7 March 2026 — Professional Insights</a:t>
            </a:r>
          </a:p>
          <a:p>
            <a:endParaRPr lang="en-GB" dirty="0"/>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endParaRPr lang="en-GB" dirty="0"/>
          </a:p>
          <a:p>
            <a:r>
              <a:rPr lang="en-GB" dirty="0"/>
              <a:t>Emotion in the decision.</a:t>
            </a:r>
          </a:p>
          <a:p>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Source: Journal, 13 August 2026 — Professional Insights: Strategy</a:t>
            </a:r>
          </a:p>
          <a:p>
            <a:endParaRPr lang="en-GB" dirty="0"/>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endParaRPr lang="en-GB" dirty="0"/>
          </a:p>
          <a:p>
            <a:r>
              <a:rPr lang="en-GB" dirty="0"/>
              <a:t>The gap between intention and action.</a:t>
            </a:r>
          </a:p>
          <a:p>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Source: Journal, 20 February 2026 — Professional Insights: Leadership</a:t>
            </a:r>
          </a:p>
          <a:p>
            <a:endParaRPr lang="en-GB" dirty="0"/>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endParaRPr lang="en-GB" dirty="0"/>
          </a:p>
          <a:p>
            <a:r>
              <a:rPr lang="en-GB" dirty="0"/>
              <a:t>A disciplined pause.</a:t>
            </a:r>
          </a:p>
          <a:p>
            <a:r>
              <a:rPr lang="en-GB" dirty="0"/>
              <a:t>Strategy is weakened when leaders become so committed to movement that they ignore capability gaps. A disciplined pause can prevent an expensive failure later.</a:t>
            </a:r>
          </a:p>
          <a:p>
            <a:r>
              <a:rPr lang="en-GB" dirty="0"/>
              <a:t>Source: Journal, 1 August 2026 — Professional Insights: Strategy</a:t>
            </a:r>
          </a:p>
          <a:p>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endParaRPr lang="en-GB" dirty="0"/>
          </a:p>
          <a:p>
            <a:r>
              <a:rPr lang="en-GB" dirty="0"/>
              <a:t>Room to say “We do not yet know”.</a:t>
            </a:r>
          </a:p>
          <a:p>
            <a:r>
              <a:rPr lang="en-GB" dirty="0"/>
              <a:t>Strong organisations need room to say “We do not yet know” without reading uncertainty as incompetence. That humility improves learning and stops assumptions from hardening prematurely into facts.</a:t>
            </a:r>
          </a:p>
          <a:p>
            <a:r>
              <a:rPr lang="en-GB" dirty="0"/>
              <a:t>Source: Journal, 3 September 2026 — Professional Insights: Culture</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endParaRPr lang="en-GB" dirty="0"/>
          </a:p>
          <a:p>
            <a:r>
              <a:rPr lang="en-GB" dirty="0"/>
              <a:t>Knowledge, capability and wisdom.</a:t>
            </a:r>
          </a:p>
          <a:p>
            <a:r>
              <a:rPr lang="en-GB" dirty="0"/>
              <a:t>Organisations can hold deep technical expertise and still make poor choices when judgement lacks the discipline of purpose. Fragmentation around personalities distorts collective direction.</a:t>
            </a:r>
          </a:p>
          <a:p>
            <a:r>
              <a:rPr lang="en-GB" dirty="0"/>
              <a:t>Source: Journal, 31 August 2026 — Professional Insights: Strategy</a:t>
            </a:r>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endParaRPr lang="en-GB" dirty="0"/>
          </a:p>
          <a:p>
            <a:r>
              <a:rPr lang="en-GB" dirty="0"/>
              <a:t>Function and enterprise.</a:t>
            </a:r>
          </a:p>
          <a:p>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Source: Journal, 3 October 2026 — Professional Insights: Culture</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GB" dirty="0"/>
          </a:p>
          <a:p>
            <a:r>
              <a:rPr lang="en-GB" dirty="0"/>
              <a:t>The person who does not fit the template.</a:t>
            </a:r>
          </a:p>
          <a:p>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Source: Journal, 18 April 2026 — Professional Insights: Leadership</a:t>
            </a:r>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GB" dirty="0"/>
          </a:p>
          <a:p>
            <a:r>
              <a:rPr lang="en-GB" dirty="0"/>
              <a:t>Committing before counting the cost.</a:t>
            </a:r>
          </a:p>
          <a:p>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Source: Journal, 22 April 2026 — Professional Insights: Leadership</a:t>
            </a:r>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GB" dirty="0"/>
          </a:p>
          <a:p>
            <a:r>
              <a:rPr lang="en-GB" dirty="0"/>
              <a:t>Overconfidence after a win.</a:t>
            </a:r>
          </a:p>
          <a:p>
            <a:r>
              <a:rPr lang="en-GB" dirty="0"/>
              <a:t>Overconfidence after a significant victory is one of the most dangerous leadership conditions. Build a habit of consultation that holds regardless of how strong the last result felt.</a:t>
            </a:r>
          </a:p>
          <a:p>
            <a:r>
              <a:rPr lang="en-GB" dirty="0"/>
              <a:t>Source: Journal, 6 April 2026 — Professional Insights: Leadership</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GB" dirty="0"/>
          </a:p>
          <a:p>
            <a:r>
              <a:rPr lang="en-GB" dirty="0"/>
              <a:t>Previous success and present discernment.</a:t>
            </a:r>
          </a:p>
          <a:p>
            <a:r>
              <a:rPr lang="en-GB" dirty="0"/>
              <a:t>Past evidence matters, yet it cannot substitute for present discernment. Organisations need institutional memory without becoming prisoners of historical formulas. What worked before is one input to present thinking.</a:t>
            </a:r>
          </a:p>
          <a:p>
            <a:r>
              <a:rPr lang="en-GB" dirty="0"/>
              <a:t>Source: Journal, 28 September 2026 — Professional Insights: Strategy</a:t>
            </a:r>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GB" dirty="0"/>
          </a:p>
          <a:p>
            <a:r>
              <a:rPr lang="en-GB" dirty="0"/>
              <a:t>Informal pressure.</a:t>
            </a:r>
          </a:p>
          <a:p>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Source: Journal, 27 September 2026 — Professional Insights: Culture</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GB" dirty="0"/>
          </a:p>
          <a:p>
            <a:r>
              <a:rPr lang="en-GB" dirty="0"/>
              <a:t>Engineered blind spots.</a:t>
            </a:r>
          </a:p>
          <a:p>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Source: Journal, 16 June 2026 — Professional Insights: Leadership</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GB" dirty="0"/>
          </a:p>
          <a:p>
            <a:r>
              <a:rPr lang="en-GB" dirty="0"/>
              <a:t>Complementary capability.</a:t>
            </a:r>
          </a:p>
          <a:p>
            <a:r>
              <a:rPr lang="en-GB" dirty="0"/>
              <a:t>Sustainable execution rarely depends on one dominant function. Value is produced when differentiated capabilities are deliberately integrated around a common purpose.</a:t>
            </a:r>
          </a:p>
          <a:p>
            <a:r>
              <a:rPr lang="en-GB" dirty="0"/>
              <a:t>Source: Journal, 9 September 2026 — Professional Insights: Strategy</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GB" dirty="0"/>
          </a:p>
          <a:p>
            <a:r>
              <a:rPr lang="en-GB" dirty="0"/>
              <a:t>Where culture is tested.</a:t>
            </a:r>
          </a:p>
          <a:p>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Source: Journal, 2 October 2026 — Professional Insights: Culture</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GB" dirty="0"/>
          </a:p>
          <a:p>
            <a:r>
              <a:rPr lang="en-GB" dirty="0"/>
              <a:t>Invisible walls.</a:t>
            </a:r>
          </a:p>
          <a:p>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 Ask the group: what invisible walls are preventing capable people from becoming an integrated organisation?</a:t>
            </a:r>
          </a:p>
          <a:p>
            <a:r>
              <a:rPr lang="en-GB" dirty="0"/>
              <a:t>Source: Journal, 4 October 2026 — Professional Insights: Culture</a:t>
            </a:r>
          </a:p>
          <a:p>
            <a:endParaRPr lang="en-ZA" dirty="0"/>
          </a:p>
          <a:p>
            <a:r>
              <a:rPr lang="en-ZA" dirty="0"/>
              <a:t>So why is all this important?</a:t>
            </a:r>
          </a:p>
          <a:p>
            <a:r>
              <a:rPr lang="en-ZA" dirty="0"/>
              <a:t>Because there is a hidden cost of behaviours which in a organisation translates to strategic costs.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endParaRPr lang="en-GB" dirty="0"/>
          </a:p>
          <a:p>
            <a:r>
              <a:rPr lang="en-GB" dirty="0"/>
              <a:t>Where the resources go.</a:t>
            </a:r>
          </a:p>
          <a:p>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Source: Journal, 26 April 2026 — Professional Insights: Culture</a:t>
            </a:r>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endParaRPr lang="en-GB" dirty="0"/>
          </a:p>
          <a:p>
            <a:r>
              <a:rPr lang="en-GB" dirty="0"/>
              <a:t>Programmes that outlive their purpose.</a:t>
            </a:r>
          </a:p>
          <a:p>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Source: Journal, 6 May 2026 — Professional Insights: Leadership</a:t>
            </a:r>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endParaRPr lang="en-GB" dirty="0"/>
          </a:p>
          <a:p>
            <a:r>
              <a:rPr lang="en-GB" dirty="0"/>
              <a:t>Failing, or still maturing.</a:t>
            </a:r>
          </a:p>
          <a:p>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Source: Journal, 1 October 2026 — Professional Insights: Strategy</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endParaRPr lang="en-GB" dirty="0"/>
          </a:p>
          <a:p>
            <a:r>
              <a:rPr lang="en-GB" dirty="0"/>
              <a:t>Protect the truth-teller.</a:t>
            </a:r>
          </a:p>
          <a:p>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Source: Journal, 7 February 2026 — Professional Insights: Culture</a:t>
            </a:r>
          </a:p>
          <a:p>
            <a:endParaRPr lang="en-GB"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endParaRPr lang="en-GB" dirty="0"/>
          </a:p>
          <a:p>
            <a:r>
              <a:rPr lang="en-GB" dirty="0"/>
              <a:t>Small accommodations.</a:t>
            </a:r>
          </a:p>
          <a:p>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Source: Journal, 16 April 2026 — Professional Insights: Culture</a:t>
            </a:r>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GB" dirty="0"/>
          </a:p>
          <a:p>
            <a:r>
              <a:rPr lang="en-GB" dirty="0"/>
              <a:t>Diagnosis beneath visible behaviour.</a:t>
            </a:r>
          </a:p>
          <a:p>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Source: Journal, 2 October 2026 — Professional Insights: Strategy</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GB" dirty="0"/>
          </a:p>
          <a:p>
            <a:r>
              <a:rPr lang="en-GB" dirty="0"/>
              <a:t>Deciding first.</a:t>
            </a:r>
          </a:p>
          <a:p>
            <a:r>
              <a:rPr lang="en-GB" dirty="0"/>
              <a:t>Organisations often decide first and then use analysis to validate the decision. Sound strategy needs enough humility to let evidence alter the chosen path.</a:t>
            </a:r>
          </a:p>
          <a:p>
            <a:r>
              <a:rPr lang="en-GB" dirty="0"/>
              <a:t>Source: Journal, 17 September 2026 — Professional Insights: Strategy</a:t>
            </a:r>
          </a:p>
          <a:p>
            <a:endParaRPr lang="en-ZA" b="1" dirty="0"/>
          </a:p>
          <a:p>
            <a:r>
              <a:rPr lang="en-ZA" b="1" dirty="0"/>
              <a:t>A strategy built on a flawed diagnosis can become a well-organised response to a reality the organisation has misread.</a:t>
            </a:r>
            <a:endParaRPr lang="en-ZA" dirty="0"/>
          </a:p>
          <a:p>
            <a:endParaRPr lang="en-GB" dirty="0"/>
          </a:p>
          <a:p>
            <a:r>
              <a:rPr lang="en-GB" dirty="0"/>
              <a:t>Disciplined diagnosis.</a:t>
            </a:r>
          </a:p>
          <a:p>
            <a:r>
              <a:rPr lang="en-GB" dirty="0"/>
              <a:t>Consequential decisions require leaders to separate facts from framing, individual interests from institutional interests, and genuine risk from manufactured urgency.</a:t>
            </a:r>
          </a:p>
          <a:p>
            <a:r>
              <a:rPr lang="en-GB" dirty="0"/>
              <a:t>Source: Journal, 14 August 2026 — Professional Insights: Strategy</a:t>
            </a:r>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GB" dirty="0"/>
          </a:p>
          <a:p>
            <a:r>
              <a:rPr lang="en-GB" dirty="0"/>
              <a:t>The sunk-cost trap.</a:t>
            </a:r>
          </a:p>
          <a:p>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Source: Journal, 22 July 2026 — Professional Insights: Strategy</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execution</a:t>
            </a:r>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GB" dirty="0"/>
          </a:p>
          <a:p>
            <a:r>
              <a:rPr lang="en-GB" dirty="0"/>
              <a:t>Outcomes taken as proof.</a:t>
            </a:r>
          </a:p>
          <a:p>
            <a:r>
              <a:rPr lang="en-GB" dirty="0"/>
              <a:t>Senior teams routinely read good outcomes as evidence of sound process. A deal closes or a launch lands, and the messy path that produced it is quietly adopted as the method. Ask participants to pick one recent win and audit how it happened separately from what it produced.</a:t>
            </a:r>
          </a:p>
          <a:p>
            <a:r>
              <a:rPr lang="en-GB" dirty="0"/>
              <a:t>Source: Journal, 24 April 2026 — Professional Insights: Culture</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GB" dirty="0"/>
          </a:p>
          <a:p>
            <a:r>
              <a:rPr lang="en-GB" dirty="0"/>
              <a:t>Line of sight.</a:t>
            </a:r>
          </a:p>
          <a:p>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Source: Journal, 3 October 2026 — Professional Insights: Leadership</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GB" dirty="0"/>
          </a:p>
          <a:p>
            <a:r>
              <a:rPr lang="en-GB" dirty="0"/>
              <a:t>Alert without becoming absorbed.</a:t>
            </a:r>
          </a:p>
          <a:p>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Source: Journal, 4 October 2026 — Professional Insights: Leadership</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GB" dirty="0"/>
          </a:p>
          <a:p>
            <a:r>
              <a:rPr lang="en-GB" dirty="0"/>
              <a:t>What authority creates.</a:t>
            </a:r>
          </a:p>
          <a:p>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Source: Journal, 30 September 2026 — Professional Insights: Leadership</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endParaRPr lang="en-GB" dirty="0"/>
          </a:p>
          <a:p>
            <a:r>
              <a:rPr lang="en-GB" dirty="0"/>
              <a:t>Anxiety that governs decisions.</a:t>
            </a:r>
          </a:p>
          <a:p>
            <a:r>
              <a:rPr lang="en-GB" dirty="0"/>
              <a:t>The danger arises when internal anxiety begins governing external decisions. Fear can produce unnecessary control, rushed decisions, avoidance or constant changes in direction.</a:t>
            </a:r>
          </a:p>
          <a:p>
            <a:r>
              <a:rPr lang="en-GB" dirty="0"/>
              <a:t>Source: Journal, 3 October 2026 — Professional Insights: Leadership</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GB" dirty="0"/>
          </a:p>
          <a:p>
            <a:r>
              <a:rPr lang="en-GB" dirty="0"/>
              <a:t>The echo chamber.</a:t>
            </a:r>
          </a:p>
          <a:p>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Source: Journal, 17 July 2026 — Professional Insights: Culture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endParaRPr lang="en-GB" dirty="0"/>
          </a:p>
          <a:p>
            <a:r>
              <a:rPr lang="en-GB" dirty="0"/>
              <a:t>Secure identity.</a:t>
            </a:r>
          </a:p>
          <a:p>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Source: Journal, 2 October 2026 — Professional Insights: Leadership</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GB" dirty="0"/>
          </a:p>
          <a:p>
            <a:r>
              <a:rPr lang="en-GB" dirty="0"/>
              <a:t>Calm before the crisis.</a:t>
            </a:r>
          </a:p>
          <a:p>
            <a:r>
              <a:rPr lang="en-GB" dirty="0"/>
              <a:t>In a crisis, organisations with a culture of calm, evidence-based thinking hold their nerve better than those that follow the emotional temperature of the room. Build the capacity for calm assessment before you need it.</a:t>
            </a:r>
          </a:p>
          <a:p>
            <a:r>
              <a:rPr lang="en-GB" dirty="0"/>
              <a:t>Source: Journal, 13 January 2026 — Professional Insights: Culture</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a:t>
            </a:r>
          </a:p>
          <a:p>
            <a:endParaRPr lang="en-GB" dirty="0"/>
          </a:p>
          <a:p>
            <a:r>
              <a:rPr lang="en-GB" dirty="0"/>
              <a:t>Cultures become healthier when people can voice concern, disappointment or uncertainty without being labelled negative or disloyal. Suppressed emotion moves underground.</a:t>
            </a:r>
          </a:p>
          <a:p>
            <a:r>
              <a:rPr lang="en-GB" dirty="0"/>
              <a:t>Source: Journal, 5 September 2026 — Professional Insights: Culture</a:t>
            </a:r>
          </a:p>
          <a:p>
            <a:endParaRPr lang="en-GB" dirty="0"/>
          </a:p>
          <a:p>
            <a:r>
              <a:rPr lang="en-US" dirty="0"/>
              <a:t>- Friction Load — the amount of hidden resistance, tension, or drag experienced in decisions, collaboration, and follow-through.
- Psychological Safety — the extent to which individuals feel safe to speak, challenge, admit uncertainty, and take appropriate risk.</a:t>
            </a:r>
          </a:p>
          <a:p>
            <a:endParaRPr lang="en-GB" dirty="0"/>
          </a:p>
          <a:p>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Source: Journal, 13 May 2026 — Professional Insights: Culture</a:t>
            </a:r>
          </a:p>
          <a:p>
            <a:endParaRPr lang="en-GB" dirty="0"/>
          </a:p>
          <a:p>
            <a:r>
              <a:rPr lang="en-US" dirty="0"/>
              <a:t>- Values Alignment — the consistency between stated values, observed leadership behaviour, and everyday decisions under pressure.</a:t>
            </a:r>
          </a:p>
          <a:p>
            <a:endParaRPr lang="en-GB" dirty="0"/>
          </a:p>
          <a:p>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Source: Journal, 1 October 2026 — Professional Insights: Culture</a:t>
            </a:r>
          </a:p>
          <a:p>
            <a:endParaRPr lang="en-GB" dirty="0"/>
          </a:p>
          <a:p>
            <a:r>
              <a:rPr lang="en-US" dirty="0"/>
              <a:t>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endParaRPr lang="en-GB" dirty="0"/>
          </a:p>
          <a:p>
            <a:r>
              <a:rPr lang="en-GB" dirty="0"/>
              <a:t>Emotionally honest leadership.</a:t>
            </a:r>
          </a:p>
          <a:p>
            <a:r>
              <a:rPr lang="en-GB" dirty="0"/>
              <a:t>Leaders do not strengthen people by pretending that fear, disappointment or grief do not exist. Mature leadership makes space for reality while helping people move from raw emotion toward reflection, meaning and renewed trust.</a:t>
            </a:r>
          </a:p>
          <a:p>
            <a:r>
              <a:rPr lang="en-GB" dirty="0"/>
              <a:t>Source: Journal, 5 September 2026 — Professional Insights: Leadership</a:t>
            </a:r>
          </a:p>
          <a:p>
            <a:endParaRPr lang="en-GB" dirty="0"/>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GB" dirty="0"/>
          </a:p>
          <a:p>
            <a:r>
              <a:rPr lang="en-GB" dirty="0"/>
              <a:t>Listen before you reframe.</a:t>
            </a:r>
          </a:p>
          <a:p>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Source: Journal, 25 June 2026 — Professional Insights: Culture</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GB" dirty="0"/>
          </a:p>
          <a:p>
            <a:r>
              <a:rPr lang="en-GB" dirty="0"/>
              <a:t>Emotion processed in the right place.</a:t>
            </a:r>
          </a:p>
          <a:p>
            <a:r>
              <a:rPr lang="en-GB" dirty="0"/>
              <a:t>The leader who has no outlet for genuine emotion carries it into every decision. The leader who processes it appropriately can remain clear-headed in the most emotionally charged situations.</a:t>
            </a:r>
          </a:p>
          <a:p>
            <a:r>
              <a:rPr lang="en-GB" dirty="0"/>
              <a:t>Source: Journal, 27 January 2026 — Professional Insights: Leadership</a:t>
            </a:r>
          </a:p>
          <a:p>
            <a:endParaRPr lang="en-ZA" dirty="0"/>
          </a:p>
          <a:p>
            <a:r>
              <a:rPr lang="en-ZA" b="1" dirty="0"/>
              <a:t>“What are people feeling—and what is that feeling causing them to pay attention to, avoid or do?”</a:t>
            </a:r>
            <a:endParaRPr lang="en-ZA" dirty="0"/>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endParaRPr lang="en-GB" dirty="0"/>
          </a:p>
          <a:p>
            <a:r>
              <a:rPr lang="en-GB" dirty="0"/>
              <a:t>Verification before response.</a:t>
            </a:r>
          </a:p>
          <a:p>
            <a:r>
              <a:rPr lang="en-GB" dirty="0"/>
              <a:t>A common and costly strategic failure is acting at the speed of assumption on information that was heard and never confirmed. Build an explicit verification step into decision-making before any significant response.</a:t>
            </a:r>
          </a:p>
          <a:p>
            <a:r>
              <a:rPr lang="en-GB" dirty="0"/>
              <a:t>Source: Journal, 13 April 2026 — Professional Insights: Strategy</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GB" dirty="0"/>
          </a:p>
          <a:p>
            <a:r>
              <a:rPr lang="en-GB" dirty="0"/>
              <a:t>Designated challenger.</a:t>
            </a:r>
          </a:p>
          <a:p>
            <a:r>
              <a:rPr lang="en-GB" dirty="0"/>
              <a:t>Most flawed plans survive because dissent was quietly designed out of the room. Before the next significant decision, invite the one person most likely to disagree and hear them out fully.</a:t>
            </a:r>
          </a:p>
          <a:p>
            <a:r>
              <a:rPr lang="en-GB" dirty="0"/>
              <a:t>Source: Journal, 5 June 2026 — Professional Insights: Leadership</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endParaRPr lang="en-GB" dirty="0"/>
          </a:p>
          <a:p>
            <a:r>
              <a:rPr lang="en-GB" dirty="0"/>
              <a:t>Lessons that change something.</a:t>
            </a:r>
          </a:p>
          <a:p>
            <a:r>
              <a:rPr lang="en-GB" dirty="0"/>
              <a:t>Review organisational history to recognise the patterns that must be interrupted; recurring problems treated as isolated events return. Reviews create little value when lessons remain conversational. Insight must eventually alter decisions, controls, resource allocation and expected behaviour.</a:t>
            </a:r>
          </a:p>
          <a:p>
            <a:r>
              <a:rPr lang="en-GB" dirty="0"/>
              <a:t>Source: Journal, 10 August 2026 — Professional Insights: Strategy</a:t>
            </a:r>
          </a:p>
          <a:p>
            <a:r>
              <a:rPr lang="en-GB" dirty="0"/>
              <a:t>
Group debrief. Ask: “Which principle does your organisation consistently skip — and what does that cost you?” Then: “Which one could you introduce into your very next strategy meeting without needing anyone’s permission?”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a:t>
            </a:r>
          </a:p>
          <a:p>
            <a:endParaRPr lang="en-GB" dirty="0"/>
          </a:p>
          <a:p>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Source: Journal, 4 October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a:t>
            </a:r>
          </a:p>
          <a:p>
            <a:endParaRPr lang="en-GB" dirty="0"/>
          </a:p>
          <a:p>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Source: Journal, 2 April 2026 — Professional Insights: Culture</a:t>
            </a:r>
          </a:p>
          <a:p>
            <a:endParaRPr lang="en-GB" dirty="0"/>
          </a:p>
          <a:p>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a:t>
            </a:r>
          </a:p>
          <a:p>
            <a:endParaRPr lang="en-GB" dirty="0"/>
          </a:p>
          <a:p>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Source: Journal, 14 January 2026 — Professional Insights: Leadership</a:t>
            </a:r>
          </a:p>
          <a:p>
            <a:endParaRPr lang="en-GB" dirty="0"/>
          </a:p>
          <a:p>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a:t>
            </a:r>
          </a:p>
          <a:p>
            <a:endParaRPr lang="en-GB" dirty="0"/>
          </a:p>
          <a:p>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Source: Journal, 3 October 2026 — Professional Insights: Leadership</a:t>
            </a:r>
          </a:p>
          <a:p>
            <a:endParaRPr lang="en-GB" dirty="0"/>
          </a:p>
          <a:p>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endParaRPr lang="en-GB" dirty="0"/>
          </a:p>
          <a:p>
            <a:r>
              <a:rPr lang="en-GB" dirty="0"/>
              <a:t>Insight from every level.</a:t>
            </a:r>
          </a:p>
          <a:p>
            <a:r>
              <a:rPr lang="en-GB" dirty="0"/>
              <a:t>Leaders who assume strategic insight belongs only to the senior tier miss what the rest of the organisation sees. The next strategic insight may come from the youngest person on the team.</a:t>
            </a:r>
          </a:p>
          <a:p>
            <a:r>
              <a:rPr lang="en-GB" dirty="0"/>
              <a:t>Source: Journal, 29 March 2026 — Professional Insights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endParaRPr lang="en-GB" dirty="0"/>
          </a:p>
          <a:p>
            <a:r>
              <a:rPr lang="en-GB" dirty="0"/>
              <a:t>Halo Effect.</a:t>
            </a:r>
          </a:p>
          <a:p>
            <a:r>
              <a:rPr lang="en-GB" dirty="0"/>
              <a:t>Cultures become vulnerable when prestige determines whose ideas matter. Healthy cultures combine competence with humility and value overlooked contributors.</a:t>
            </a:r>
          </a:p>
          <a:p>
            <a:r>
              <a:rPr lang="en-GB" dirty="0"/>
              <a:t>Source: Journal, 31 August 2026 — Professional Insights: Culture</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endParaRPr lang="en-GB" dirty="0"/>
          </a:p>
          <a:p>
            <a:r>
              <a:rPr lang="en-GB" dirty="0"/>
              <a:t>Teams that only ever hear the polished version stop believing any of it. Name one of your own missteps openly to the people you lead; the candour builds the credibility that spin erodes.</a:t>
            </a:r>
          </a:p>
          <a:p>
            <a:r>
              <a:rPr lang="en-GB" dirty="0"/>
              <a:t>Source: Journal, 22 May 2026 — Professional Insights: Leadership</a:t>
            </a:r>
          </a:p>
          <a:p>
            <a:endParaRPr lang="en-GB" dirty="0"/>
          </a:p>
          <a:p>
            <a:r>
              <a:rPr lang="en-GB" dirty="0"/>
              <a:t>Self-examination.</a:t>
            </a:r>
          </a:p>
          <a:p>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Source: Journal, 1 October 2026 — Professional Insights: Leadership</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a:t>
            </a:r>
          </a:p>
          <a:p>
            <a:endParaRPr lang="en-GB" dirty="0"/>
          </a:p>
          <a:p>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Source: Journal, 6 January 2026 — Professional Insights: Culture</a:t>
            </a:r>
          </a:p>
          <a:p>
            <a:endParaRPr lang="en-GB" dirty="0"/>
          </a:p>
          <a:p>
            <a:r>
              <a:rPr lang="en-US" dirty="0"/>
              <a:t>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t>SECTION 6 · APPLICATION — IN PRACTICE</a:t>
            </a:r>
          </a:p>
          <a:p>
            <a:r>
              <a:t>Application — Behavioural Strategy in Practice</a:t>
            </a:r>
          </a:p>
          <a:p/>
          <a:p>
            <a:r>
              <a:t>SECTION LEARNING OUTCOMES:</a:t>
            </a:r>
          </a:p>
          <a:p>
            <a:r>
              <a:t>1. Assess your own leadership conduct against the behavioural conditions for sound strategic judgement.</a:t>
            </a:r>
          </a:p>
          <a:p>
            <a:r>
              <a:t>2. Commit to the development priority with the greatest effect on your strategic judgement.</a:t>
            </a:r>
          </a:p>
          <a:p/>
          <a:p>
            <a:r>
              <a:t>Section intent: This is the application section. Participants first turn the unit’s learning on themselves in the Self Reflection Bias Assessment (Section 6.1). Each group then creates its simulated company and writes its Problem Charter (Section 6.2), which opens the Capstone.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t>Complete the Self Reflection Bias Assessment in Section 6.1.</a:t>
            </a:r>
          </a:p>
          <a:p/>
          <a:p>
            <a:r>
              <a:t>Then, as a group, write the Problem Charter in Section 6.2: create your simulated company and record your simulated executive team (Step 1), set out your shared reality (Step 2) and determine the central problem your executive team will address (Step 3). In the Charter record each member selects Agree: when every member has agreed, it becomes Section 1 of your team’s Capstone Blueprint.</a:t>
            </a:r>
          </a:p>
          <a:p/>
          <a:p>
            <a:r>
              <a:t>A1 · I Know My Biases.</a:t>
            </a:r>
          </a:p>
          <a:p>
            <a:r>
              <a:t>Leaders need mechanisms that reveal their blind spots as well as their strengths. Acknowledging difficulty deepens trust when it comes with responsibility, learning and perseverance.</a:t>
            </a:r>
          </a:p>
          <a:p>
            <a:r>
              <a:t>Source: Journal, 14 September 2026 — Professional Insights: Leadership</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Self Reflection Bias Assessment and the Problem Charter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 On the Portal</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0" name="Picture 9" descr="img62.png"/>
          <p:cNvPicPr>
            <a:picLocks noChangeAspect="1"/>
          </p:cNvPicPr>
          <p:nvPr/>
        </p:nvPicPr>
        <p:blipFill>
          <a:blip r:embed="rId7"/>
          <a:stretch>
            <a:fillRect/>
          </a:stretch>
        </p:blipFill>
        <p:spPr>
          <a:xfrm>
            <a:off x="1107322" y="3291493"/>
            <a:ext cx="10541339" cy="1457231"/>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