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510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agrees each entry and one member acts as scribe.</a:t>
            </a:r>
          </a:p>
          <a:p>
            <a:r>
              <a:rPr lang="en-GB" dirty="0"/>
              <a:t>Every member then types the agreed entries into their own page.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endParaRPr lang="en-GB" dirty="0"/>
          </a:p>
          <a:p>
            <a:r>
              <a:rPr lang="en-GB" dirty="0"/>
              <a:t>Where the outputs go next:</a:t>
            </a:r>
          </a:p>
          <a:p>
            <a:r>
              <a:rPr lang="en-GB" dirty="0"/>
              <a:t>- Each member’s submitted OCEAVL scores feed the team’s profile in the Capstone Blueprint once every member has submitted. The team sees levels and counts, with no names.</a:t>
            </a:r>
          </a:p>
          <a:p>
            <a:r>
              <a:rPr lang="en-GB" dirty="0"/>
              <a:t>- The group’s confirmed record from Section 5 feeds boxes 5B and 5C.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leading change with one voice, then the Converging Zone Contribution and the Alignment Hot Zone of each leadership role.</a:t>
            </a:r>
          </a:p>
          <a:p>
            <a:endParaRPr lang="en-GB" dirty="0"/>
          </a:p>
          <a:p>
            <a:r>
              <a:rPr lang="en-GB" dirty="0"/>
              <a:t>- Section 5 · Application — In Practice: Leading with Clarity. Each group states its Shift, Stake and Step, then the ACE-IT behaviours it expects from the leadership team.</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expected behaviours that describe intentions. Each behaviour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Examine how functional expertise, cognitive bias and emotion shape the interpretation of strategy.</a:t>
            </a:r>
          </a:p>
          <a:p>
            <a:r>
              <a:rPr lang="en-GB" dirty="0"/>
              <a:t>2. Recognise what people need in order to adopt a strategic change, and the behaviours that sustain it.</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Explain why shared understanding and commitment convert strategy into execution.</a:t>
            </a:r>
          </a:p>
          <a:p>
            <a:r>
              <a:rPr lang="en-GB" dirty="0"/>
              <a:t>2. Distinguish commitment from compliance and explain why change delivers value only when it is adopted.</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and its seven dimensions.</a:t>
            </a:r>
          </a:p>
          <a:p>
            <a:r>
              <a:rPr lang="en-GB" dirty="0"/>
              <a:t>2. The Section 3 Reflections slide: the reflection participants write on the portal after the teaching.</a:t>
            </a:r>
          </a:p>
          <a:p>
            <a:endParaRPr lang="en-GB" dirty="0"/>
          </a:p>
          <a:p>
            <a:r>
              <a:rPr lang="en-GB" b="1" dirty="0"/>
              <a:t>SECTION LEARNING OUTCOMES:</a:t>
            </a:r>
          </a:p>
          <a:p>
            <a:r>
              <a:rPr lang="en-GB" dirty="0"/>
              <a:t>1. Recognise where interpretation, emotional climate and behaviour strengthen or weaken alignment, and the signals that misalignment is escalating into crisis.</a:t>
            </a:r>
          </a:p>
          <a:p>
            <a:r>
              <a:rPr lang="en-GB" dirty="0"/>
              <a:t>2. Assess the readiness of the people most affected by the changes the strategy requires.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ZA" b="1" dirty="0"/>
              <a:t>Link The Assessment To Principle 3</a:t>
            </a:r>
            <a:endParaRPr lang="en-ZA" dirty="0"/>
          </a:p>
          <a:p>
            <a:r>
              <a:rPr lang="en-ZA" b="1" dirty="0"/>
              <a:t>Say:</a:t>
            </a:r>
          </a:p>
          <a:p>
            <a:r>
              <a:rPr lang="en-ZA" dirty="0"/>
              <a:t>“Principle 3 established that alignment must be designed.</a:t>
            </a:r>
          </a:p>
          <a:p>
            <a:r>
              <a:rPr lang="en-ZA" dirty="0"/>
              <a:t>One way to design alignment is to understand the human tendencies that shape how leaders read strategy, handle disagreement, make decisions and respond under pressure.</a:t>
            </a:r>
          </a:p>
          <a:p>
            <a:endParaRPr lang="en-ZA" dirty="0"/>
          </a:p>
          <a:p>
            <a:r>
              <a:rPr lang="en-ZA" dirty="0"/>
              <a:t>For this programme, we use the OCEAVL Assessment.</a:t>
            </a:r>
          </a:p>
          <a:p>
            <a:r>
              <a:rPr lang="en-ZA" dirty="0"/>
              <a:t>OCEAVL is adapted from the Big Five personality model. We use it here as a strategy execution tool, not as a personality label.</a:t>
            </a:r>
          </a:p>
          <a:p>
            <a:endParaRPr lang="en-ZA" dirty="0"/>
          </a:p>
          <a:p>
            <a:r>
              <a:rPr lang="en-ZA" dirty="0"/>
              <a:t>The assessment surfaces seven psychological tendencies that may influence executive decision-making and team coherence.</a:t>
            </a:r>
          </a:p>
          <a:p>
            <a:r>
              <a:rPr lang="en-ZA" dirty="0"/>
              <a:t>It gives each leader a profile across seven dimensions. </a:t>
            </a:r>
          </a:p>
          <a:p>
            <a:r>
              <a:rPr lang="en-ZA" dirty="0"/>
              <a:t>For each dimension, the tool shows whether the tendency is expressed at a low, balanced or high level.</a:t>
            </a:r>
          </a:p>
          <a:p>
            <a:endParaRPr lang="en-ZA" dirty="0"/>
          </a:p>
          <a:p>
            <a:r>
              <a:rPr lang="en-ZA" dirty="0"/>
              <a:t>Each level then gives three things:</a:t>
            </a:r>
          </a:p>
          <a:p>
            <a:pPr marL="228600" lvl="0" indent="-228600">
              <a:buFont typeface="+mj-lt"/>
              <a:buAutoNum type="arabicPeriod"/>
            </a:pPr>
            <a:r>
              <a:rPr lang="en-ZA" dirty="0"/>
              <a:t>The risk this disposition may create for strategy execution.</a:t>
            </a:r>
          </a:p>
          <a:p>
            <a:pPr marL="228600" lvl="0" indent="-228600">
              <a:buFont typeface="+mj-lt"/>
              <a:buAutoNum type="arabicPeriod"/>
            </a:pPr>
            <a:r>
              <a:rPr lang="en-ZA" dirty="0"/>
              <a:t>The response required to manage the risk.</a:t>
            </a:r>
          </a:p>
          <a:p>
            <a:pPr marL="228600" lvl="0" indent="-228600">
              <a:buFont typeface="+mj-lt"/>
              <a:buAutoNum type="arabicPeriod"/>
            </a:pPr>
            <a:r>
              <a:rPr lang="en-ZA" dirty="0"/>
              <a:t>The routine that turns the response into repeated leadership practice.”</a:t>
            </a:r>
          </a:p>
          <a:p>
            <a:endParaRPr lang="en-ZA" dirty="0"/>
          </a:p>
          <a:p>
            <a:r>
              <a:rPr lang="en-ZA" dirty="0"/>
              <a:t>Then add:</a:t>
            </a:r>
          </a:p>
          <a:p>
            <a:r>
              <a:rPr lang="en-ZA" dirty="0"/>
              <a:t>“The value of the tool is not the score. The value is the insight. </a:t>
            </a:r>
          </a:p>
          <a:p>
            <a:r>
              <a:rPr lang="en-ZA" dirty="0"/>
              <a:t>It helps us see how our personal disposition may be helping or hurting alignment before the strategy reaches execution.”</a:t>
            </a:r>
          </a:p>
          <a:p>
            <a:endParaRPr lang="en-ZA" b="1" dirty="0"/>
          </a:p>
          <a:p>
            <a:r>
              <a:rPr lang="en-ZA" b="1" dirty="0"/>
              <a:t>Explain How To Read The Tool</a:t>
            </a:r>
            <a:endParaRPr lang="en-ZA" dirty="0"/>
          </a:p>
          <a:p>
            <a:r>
              <a:rPr lang="en-ZA" b="1" dirty="0"/>
              <a:t>Say:</a:t>
            </a:r>
          </a:p>
          <a:p>
            <a:r>
              <a:rPr lang="en-ZA" dirty="0"/>
              <a:t>“When you read your profile, read it as a map, not as a judgement.</a:t>
            </a:r>
          </a:p>
          <a:p>
            <a:r>
              <a:rPr lang="en-ZA" dirty="0"/>
              <a:t>The tool is asking four simple questions:</a:t>
            </a:r>
          </a:p>
          <a:p>
            <a:pPr marL="228600" lvl="0" indent="-228600">
              <a:buFont typeface="+mj-lt"/>
              <a:buAutoNum type="arabicPeriod"/>
            </a:pPr>
            <a:r>
              <a:rPr lang="en-ZA" dirty="0"/>
              <a:t>What tendency is showing up?</a:t>
            </a:r>
          </a:p>
          <a:p>
            <a:pPr marL="228600" lvl="0" indent="-228600">
              <a:buFont typeface="+mj-lt"/>
              <a:buAutoNum type="arabicPeriod"/>
            </a:pPr>
            <a:r>
              <a:rPr lang="en-ZA" dirty="0"/>
              <a:t>At what level is it showing up? Low, balanced or high</a:t>
            </a:r>
          </a:p>
          <a:p>
            <a:pPr marL="228600" lvl="0" indent="-228600">
              <a:buFont typeface="+mj-lt"/>
              <a:buAutoNum type="arabicPeriod"/>
            </a:pPr>
            <a:r>
              <a:rPr lang="en-ZA" dirty="0"/>
              <a:t>What risk could this create for strategy execution?</a:t>
            </a:r>
          </a:p>
          <a:p>
            <a:pPr marL="228600" lvl="0" indent="-228600">
              <a:buFont typeface="+mj-lt"/>
              <a:buAutoNum type="arabicPeriod"/>
            </a:pPr>
            <a:r>
              <a:rPr lang="en-ZA" dirty="0"/>
              <a:t>What routine can help us manage that risk?”</a:t>
            </a:r>
          </a:p>
          <a:p>
            <a:endParaRPr lang="en-ZA" dirty="0"/>
          </a:p>
          <a:p>
            <a:r>
              <a:rPr lang="en-ZA" b="1" dirty="0"/>
              <a:t>Then explain:</a:t>
            </a:r>
          </a:p>
          <a:p>
            <a:r>
              <a:rPr lang="en-ZA" dirty="0"/>
              <a:t>“A low level is not automatically bad. </a:t>
            </a:r>
          </a:p>
          <a:p>
            <a:r>
              <a:rPr lang="en-ZA" dirty="0"/>
              <a:t>A high level is not automatically good. </a:t>
            </a:r>
          </a:p>
          <a:p>
            <a:r>
              <a:rPr lang="en-ZA" dirty="0"/>
              <a:t>A balanced level is not automatically safe.</a:t>
            </a:r>
          </a:p>
          <a:p>
            <a:endParaRPr lang="en-ZA" dirty="0"/>
          </a:p>
          <a:p>
            <a:r>
              <a:rPr lang="en-ZA" dirty="0"/>
              <a:t>Every level has a contribution. Every level also has a possible risk.</a:t>
            </a:r>
          </a:p>
          <a:p>
            <a:r>
              <a:rPr lang="en-ZA" dirty="0"/>
              <a:t>The question is: what does this strategy require from us now?”</a:t>
            </a:r>
          </a:p>
          <a:p>
            <a:endParaRPr lang="en-ZA" b="1" dirty="0"/>
          </a:p>
          <a:p>
            <a:r>
              <a:rPr lang="en-ZA" b="1" dirty="0"/>
              <a:t>Say How Each Participant Completes It</a:t>
            </a:r>
            <a:endParaRPr lang="en-ZA" dirty="0"/>
          </a:p>
          <a:p>
            <a:r>
              <a:rPr lang="en-ZA" b="1" dirty="0"/>
              <a:t>Say:</a:t>
            </a:r>
          </a:p>
          <a:p>
            <a:r>
              <a:rPr lang="en-ZA" dirty="0"/>
              <a:t>“You will complete the assessment alone, on your own page.</a:t>
            </a:r>
          </a:p>
          <a:p>
            <a:r>
              <a:rPr lang="en-ZA" dirty="0"/>
              <a:t>You will score yourself from 1 to 5 on each of the seven dimensions.</a:t>
            </a:r>
          </a:p>
          <a:p>
            <a:r>
              <a:rPr lang="en-ZA" dirty="0"/>
              <a:t>After that, you will read your own profile. Your profile will show your level for each dimension, the possible risk, the response and the suggested routine.</a:t>
            </a:r>
          </a:p>
          <a:p>
            <a:r>
              <a:rPr lang="en-ZA" dirty="0"/>
              <a:t>You will then select </a:t>
            </a:r>
            <a:r>
              <a:rPr lang="en-ZA" b="1" dirty="0"/>
              <a:t>Submit to My Team’s Capstone</a:t>
            </a:r>
            <a:r>
              <a:rPr lang="en-ZA" dirty="0"/>
              <a:t>.”</a:t>
            </a:r>
          </a:p>
          <a:p>
            <a:endParaRPr lang="en-ZA" dirty="0"/>
          </a:p>
          <a:p>
            <a:r>
              <a:rPr lang="en-ZA" b="1" dirty="0"/>
              <a:t>Add:</a:t>
            </a:r>
          </a:p>
          <a:p>
            <a:r>
              <a:rPr lang="en-ZA" dirty="0"/>
              <a:t>“This is personal reflection first. </a:t>
            </a:r>
          </a:p>
          <a:p>
            <a:r>
              <a:rPr lang="en-ZA" dirty="0"/>
              <a:t>Do not rush to compare yourself with others. </a:t>
            </a:r>
          </a:p>
          <a:p>
            <a:r>
              <a:rPr lang="en-ZA" dirty="0"/>
              <a:t>First ask: what does this reveal about how I read and lead strategy?”</a:t>
            </a:r>
          </a:p>
          <a:p>
            <a:endParaRPr lang="en-ZA" b="1" dirty="0"/>
          </a:p>
          <a:p>
            <a:r>
              <a:rPr lang="en-ZA" b="1" dirty="0"/>
              <a:t>Say What The Team Sees</a:t>
            </a:r>
            <a:endParaRPr lang="en-ZA" dirty="0"/>
          </a:p>
          <a:p>
            <a:r>
              <a:rPr lang="en-ZA" b="1" dirty="0"/>
              <a:t>Say:</a:t>
            </a:r>
          </a:p>
          <a:p>
            <a:r>
              <a:rPr lang="en-ZA" dirty="0"/>
              <a:t>“Your team does not see individual names or single personal scores.</a:t>
            </a:r>
          </a:p>
          <a:p>
            <a:r>
              <a:rPr lang="en-ZA" dirty="0"/>
              <a:t>The team sees the team’s overall level on each dimension and the count at each level.</a:t>
            </a:r>
          </a:p>
          <a:p>
            <a:r>
              <a:rPr lang="en-ZA" dirty="0"/>
              <a:t>This allows the team to discuss its collective behavioural pattern without exposing individual profiles.”</a:t>
            </a:r>
          </a:p>
          <a:p>
            <a:endParaRPr lang="en-ZA" dirty="0"/>
          </a:p>
          <a:p>
            <a:r>
              <a:rPr lang="en-ZA" b="1" dirty="0"/>
              <a:t>Then add:</a:t>
            </a:r>
          </a:p>
          <a:p>
            <a:r>
              <a:rPr lang="en-ZA" dirty="0"/>
              <a:t>“The team discussion is not about who scored what. It is about what the collective pattern could mean for the strategy.”</a:t>
            </a:r>
          </a:p>
          <a:p>
            <a:endParaRPr lang="en-ZA" b="1" dirty="0"/>
          </a:p>
          <a:p>
            <a:r>
              <a:rPr lang="en-ZA" b="1" dirty="0"/>
              <a:t>Walk The Seven Dimensions On The Slide</a:t>
            </a:r>
            <a:endParaRPr lang="en-ZA" dirty="0"/>
          </a:p>
          <a:p>
            <a:r>
              <a:rPr lang="en-ZA" b="1" dirty="0"/>
              <a:t>Say:</a:t>
            </a:r>
          </a:p>
          <a:p>
            <a:r>
              <a:rPr lang="en-ZA" dirty="0"/>
              <a:t>“These are the seven dimensions we are assessing. Each one tells us something about how leaders carry strategy.”</a:t>
            </a:r>
          </a:p>
          <a:p>
            <a:endParaRPr lang="en-ZA" b="1" dirty="0"/>
          </a:p>
          <a:p>
            <a:r>
              <a:rPr lang="en-ZA" b="1" dirty="0"/>
              <a:t>1. Openness</a:t>
            </a:r>
            <a:endParaRPr lang="en-ZA" dirty="0"/>
          </a:p>
          <a:p>
            <a:r>
              <a:rPr lang="en-ZA" dirty="0"/>
              <a:t>“Openness is about curiosity, creativity and adaptability to new approaches.</a:t>
            </a:r>
          </a:p>
          <a:p>
            <a:r>
              <a:rPr lang="en-ZA" dirty="0"/>
              <a:t>It shows how willing a leader is to consider new ideas, question old assumptions and respond to change.</a:t>
            </a:r>
          </a:p>
          <a:p>
            <a:r>
              <a:rPr lang="en-ZA" dirty="0"/>
              <a:t>In strategy, openness matters because the environment keeps changing. </a:t>
            </a:r>
          </a:p>
          <a:p>
            <a:r>
              <a:rPr lang="en-ZA" dirty="0"/>
              <a:t>A team with too little openness may stay too attached to familiar ways. </a:t>
            </a:r>
          </a:p>
          <a:p>
            <a:r>
              <a:rPr lang="en-ZA" dirty="0"/>
              <a:t>A team with too much openness may chase too many ideas at once.”</a:t>
            </a:r>
          </a:p>
          <a:p>
            <a:endParaRPr lang="en-ZA" b="1" dirty="0"/>
          </a:p>
          <a:p>
            <a:r>
              <a:rPr lang="en-ZA" b="1" dirty="0"/>
              <a:t>2. Conscientiousness</a:t>
            </a:r>
            <a:endParaRPr lang="en-ZA" dirty="0"/>
          </a:p>
          <a:p>
            <a:r>
              <a:rPr lang="en-ZA" dirty="0"/>
              <a:t>“Conscientiousness is about discipline, planning and follow-through on commitments.</a:t>
            </a:r>
          </a:p>
          <a:p>
            <a:r>
              <a:rPr lang="en-ZA" dirty="0"/>
              <a:t>It shows how reliably a leader organises work, tracks commitments and completes what has been agreed.</a:t>
            </a:r>
          </a:p>
          <a:p>
            <a:r>
              <a:rPr lang="en-ZA" dirty="0"/>
              <a:t>In strategy, conscientiousness matters because execution needs structure. </a:t>
            </a:r>
          </a:p>
          <a:p>
            <a:r>
              <a:rPr lang="en-ZA" dirty="0"/>
              <a:t>Without discipline, strategy remains a statement. </a:t>
            </a:r>
          </a:p>
          <a:p>
            <a:r>
              <a:rPr lang="en-ZA" dirty="0"/>
              <a:t>With discipline, strategy becomes action, ownership and review.”</a:t>
            </a:r>
          </a:p>
          <a:p>
            <a:endParaRPr lang="en-ZA" b="1" dirty="0"/>
          </a:p>
          <a:p>
            <a:r>
              <a:rPr lang="en-ZA" b="1" dirty="0"/>
              <a:t>3. Extraversion</a:t>
            </a:r>
            <a:endParaRPr lang="en-ZA" dirty="0"/>
          </a:p>
          <a:p>
            <a:r>
              <a:rPr lang="en-ZA" dirty="0"/>
              <a:t>“Extraversion is about outward energy, communication and comfort with collaboration.</a:t>
            </a:r>
          </a:p>
          <a:p>
            <a:r>
              <a:rPr lang="en-ZA" dirty="0"/>
              <a:t>It shows how easily a leader engages others, speaks into the room and helps move energy through the team.</a:t>
            </a:r>
          </a:p>
          <a:p>
            <a:r>
              <a:rPr lang="en-ZA" dirty="0"/>
              <a:t>In strategy, extraversion matters because strategy must be communicated. </a:t>
            </a:r>
          </a:p>
          <a:p>
            <a:r>
              <a:rPr lang="en-ZA" dirty="0"/>
              <a:t>People do not align to a document alone. They align through conversation, explanation and leadership signals.”</a:t>
            </a:r>
          </a:p>
          <a:p>
            <a:endParaRPr lang="en-ZA" b="1" dirty="0"/>
          </a:p>
          <a:p>
            <a:r>
              <a:rPr lang="en-ZA" b="1" dirty="0"/>
              <a:t>4. Agreeableness</a:t>
            </a:r>
            <a:endParaRPr lang="en-ZA" dirty="0"/>
          </a:p>
          <a:p>
            <a:r>
              <a:rPr lang="en-ZA" dirty="0"/>
              <a:t>“Agreeableness is about harmony, conflict management and cooperation.</a:t>
            </a:r>
          </a:p>
          <a:p>
            <a:r>
              <a:rPr lang="en-ZA" dirty="0"/>
              <a:t>It shows how a leader works with others, handles tension and protects relationships.</a:t>
            </a:r>
          </a:p>
          <a:p>
            <a:r>
              <a:rPr lang="en-ZA" dirty="0"/>
              <a:t>In strategy, agreeableness matters because execution depends on trust and cooperation. </a:t>
            </a:r>
          </a:p>
          <a:p>
            <a:r>
              <a:rPr lang="en-ZA" dirty="0"/>
              <a:t>But harmony must not replace honesty. A team can agree politely and still avoid the difficult issue.”</a:t>
            </a:r>
          </a:p>
          <a:p>
            <a:endParaRPr lang="en-ZA" b="1" dirty="0"/>
          </a:p>
          <a:p>
            <a:r>
              <a:rPr lang="en-ZA" b="1" dirty="0"/>
              <a:t>5. Emotional Stability</a:t>
            </a:r>
            <a:endParaRPr lang="en-ZA" dirty="0"/>
          </a:p>
          <a:p>
            <a:r>
              <a:rPr lang="en-ZA" dirty="0"/>
              <a:t>“Emotional Stability is about composure under pressure and emotional resilience.</a:t>
            </a:r>
          </a:p>
          <a:p>
            <a:r>
              <a:rPr lang="en-ZA" dirty="0"/>
              <a:t>It shows how a leader behaves when there is stress, criticism, uncertainty or failure.</a:t>
            </a:r>
          </a:p>
          <a:p>
            <a:r>
              <a:rPr lang="en-ZA" dirty="0"/>
              <a:t>In strategy, emotional stability matters because execution always brings pressure.</a:t>
            </a:r>
          </a:p>
          <a:p>
            <a:r>
              <a:rPr lang="en-ZA" dirty="0"/>
              <a:t>If leaders become reactive, the team starts managing emotions instead of managing the strategy.”</a:t>
            </a:r>
          </a:p>
          <a:p>
            <a:endParaRPr lang="en-ZA" b="1" dirty="0"/>
          </a:p>
          <a:p>
            <a:r>
              <a:rPr lang="en-ZA" b="1" dirty="0"/>
              <a:t>6. Values Alignment</a:t>
            </a:r>
            <a:endParaRPr lang="en-ZA" dirty="0"/>
          </a:p>
          <a:p>
            <a:r>
              <a:rPr lang="en-ZA" dirty="0"/>
              <a:t>“Values Alignment is about consistency between stated values and lived behaviour.</a:t>
            </a:r>
          </a:p>
          <a:p>
            <a:r>
              <a:rPr lang="en-ZA" dirty="0"/>
              <a:t>It shows whether a leader’s choices, actions and trade-offs match what the organisation says it stands for.</a:t>
            </a:r>
          </a:p>
          <a:p>
            <a:r>
              <a:rPr lang="en-ZA" dirty="0"/>
              <a:t>In strategy, values alignment matters because people watch behaviour more than slogans. </a:t>
            </a:r>
          </a:p>
          <a:p>
            <a:r>
              <a:rPr lang="en-ZA" dirty="0"/>
              <a:t>When values and decisions match, trust grows. When they do not match, people may comply but commitment weakens.”</a:t>
            </a:r>
          </a:p>
          <a:p>
            <a:endParaRPr lang="en-ZA" b="1" dirty="0"/>
          </a:p>
          <a:p>
            <a:r>
              <a:rPr lang="en-ZA" b="1" dirty="0"/>
              <a:t>7. Learning Orientation</a:t>
            </a:r>
            <a:endParaRPr lang="en-ZA" dirty="0"/>
          </a:p>
          <a:p>
            <a:r>
              <a:rPr lang="en-ZA" dirty="0"/>
              <a:t>“Learning Orientation is about growth mindset, openness to feedback and skill development.</a:t>
            </a:r>
          </a:p>
          <a:p>
            <a:r>
              <a:rPr lang="en-ZA" dirty="0"/>
              <a:t>It shows whether a leader can learn, adapt and improve through experience.</a:t>
            </a:r>
          </a:p>
          <a:p>
            <a:r>
              <a:rPr lang="en-ZA" dirty="0"/>
              <a:t>In strategy, learning orientation matters because strategy is iterative. </a:t>
            </a:r>
          </a:p>
          <a:p>
            <a:r>
              <a:rPr lang="en-ZA" dirty="0"/>
              <a:t>We decide, test, learn and refine. A team that cannot learn will keep defending old choices even when reality has changed.”</a:t>
            </a:r>
          </a:p>
          <a:p>
            <a:endParaRPr lang="en-ZA" b="1" dirty="0"/>
          </a:p>
          <a:p>
            <a:r>
              <a:rPr lang="en-ZA" b="1" dirty="0"/>
              <a:t>Explain The Three Levels Of Disposition</a:t>
            </a:r>
            <a:endParaRPr lang="en-ZA" dirty="0"/>
          </a:p>
          <a:p>
            <a:r>
              <a:rPr lang="en-ZA" b="1" dirty="0"/>
              <a:t>Say:</a:t>
            </a:r>
          </a:p>
          <a:p>
            <a:r>
              <a:rPr lang="en-ZA" dirty="0"/>
              <a:t>“For each dimension, the tool reads the tendency at three levels: Low, Balanced and High.</a:t>
            </a:r>
          </a:p>
          <a:p>
            <a:r>
              <a:rPr lang="en-ZA" dirty="0"/>
              <a:t>Low means the tendency is less visible or less naturally used.</a:t>
            </a:r>
          </a:p>
          <a:p>
            <a:r>
              <a:rPr lang="en-ZA" dirty="0"/>
              <a:t>Balanced means the tendency is present in a moderate way.</a:t>
            </a:r>
          </a:p>
          <a:p>
            <a:r>
              <a:rPr lang="en-ZA" dirty="0"/>
              <a:t>High means the tendency is strongly visible.</a:t>
            </a:r>
          </a:p>
          <a:p>
            <a:endParaRPr lang="en-ZA" dirty="0"/>
          </a:p>
          <a:p>
            <a:r>
              <a:rPr lang="en-ZA" dirty="0"/>
              <a:t>None of these levels is automatically good or bad. </a:t>
            </a:r>
          </a:p>
          <a:p>
            <a:r>
              <a:rPr lang="en-ZA" dirty="0"/>
              <a:t>The level becomes useful or risky depending on the strategy being carried.”</a:t>
            </a:r>
          </a:p>
          <a:p>
            <a:endParaRPr lang="en-ZA" dirty="0"/>
          </a:p>
          <a:p>
            <a:r>
              <a:rPr lang="en-ZA" dirty="0"/>
              <a:t>Then add:</a:t>
            </a:r>
          </a:p>
          <a:p>
            <a:r>
              <a:rPr lang="en-ZA" dirty="0"/>
              <a:t>“For example, high openness may help innovation, but it may also create too many ideas. Low openness may protect stability, but it may also delay adaptation. Balanced openness may support careful experimentation, but it may still avoid uncomfortable change.”</a:t>
            </a:r>
          </a:p>
          <a:p>
            <a:endParaRPr lang="en-ZA" b="1" dirty="0"/>
          </a:p>
          <a:p>
            <a:r>
              <a:rPr lang="en-ZA" b="1" dirty="0"/>
              <a:t>Use One Worked Example</a:t>
            </a:r>
            <a:endParaRPr lang="en-ZA" dirty="0"/>
          </a:p>
          <a:p>
            <a:r>
              <a:rPr lang="en-ZA" b="1" dirty="0"/>
              <a:t>Say:</a:t>
            </a:r>
          </a:p>
          <a:p>
            <a:r>
              <a:rPr lang="en-ZA" dirty="0"/>
              <a:t>“Let us take one example so that you can see how the tool works.”</a:t>
            </a:r>
          </a:p>
          <a:p>
            <a:r>
              <a:rPr lang="en-ZA" b="1" dirty="0"/>
              <a:t>Example: High Agreeableness</a:t>
            </a:r>
            <a:endParaRPr lang="en-ZA" dirty="0"/>
          </a:p>
          <a:p>
            <a:r>
              <a:rPr lang="en-ZA" dirty="0"/>
              <a:t>“High agreeableness means the leader is kind, warm, cooperative and ready to help.</a:t>
            </a:r>
          </a:p>
          <a:p>
            <a:r>
              <a:rPr lang="en-ZA" dirty="0"/>
              <a:t>This is a strength because it builds trust. People feel supported and respected.</a:t>
            </a:r>
          </a:p>
          <a:p>
            <a:r>
              <a:rPr lang="en-ZA" dirty="0"/>
              <a:t>But the risk is that agreement may be given without real commitment. People may avoid saying no. The team may over-commit because nobody wants to disappoint others. Resentment may build under the surface.”</a:t>
            </a:r>
          </a:p>
          <a:p>
            <a:endParaRPr lang="en-ZA" dirty="0"/>
          </a:p>
          <a:p>
            <a:r>
              <a:rPr lang="en-ZA" b="1" dirty="0"/>
              <a:t>Say:</a:t>
            </a:r>
          </a:p>
          <a:p>
            <a:r>
              <a:rPr lang="en-ZA" dirty="0"/>
              <a:t>“The response is to create a formal challenge role. Someone must be allowed to ask the difficult question without being seen as negative.”</a:t>
            </a:r>
          </a:p>
          <a:p>
            <a:endParaRPr lang="en-ZA" dirty="0"/>
          </a:p>
          <a:p>
            <a:r>
              <a:rPr lang="en-ZA" b="1" dirty="0"/>
              <a:t>Say:</a:t>
            </a:r>
          </a:p>
          <a:p>
            <a:r>
              <a:rPr lang="en-ZA" dirty="0"/>
              <a:t>“The routine is the Rotating Challenger. In each major discussion, one person is assigned to challenge assumptions, name risks and ask what the team may be avoiding.”</a:t>
            </a:r>
          </a:p>
          <a:p>
            <a:endParaRPr lang="en-ZA" dirty="0"/>
          </a:p>
          <a:p>
            <a:r>
              <a:rPr lang="en-ZA" dirty="0"/>
              <a:t>Then connect to S2R®:</a:t>
            </a:r>
          </a:p>
          <a:p>
            <a:r>
              <a:rPr lang="en-ZA" dirty="0"/>
              <a:t>“In Strategy2Results®, this protects alignment. It helps the team move from polite agreement to real commitment.”</a:t>
            </a:r>
          </a:p>
          <a:p>
            <a:endParaRPr lang="en-ZA" b="1" dirty="0"/>
          </a:p>
          <a:p>
            <a:r>
              <a:rPr lang="en-ZA" b="1" dirty="0"/>
              <a:t>Refer Participants To The Portal</a:t>
            </a:r>
            <a:endParaRPr lang="en-ZA" dirty="0"/>
          </a:p>
          <a:p>
            <a:r>
              <a:rPr lang="en-ZA" dirty="0"/>
              <a:t>Say:</a:t>
            </a:r>
          </a:p>
          <a:p>
            <a:r>
              <a:rPr lang="en-ZA" dirty="0"/>
              <a:t>“We will not teach every risk, response and routine in class. The full detail is in the portal.</a:t>
            </a:r>
          </a:p>
          <a:p>
            <a:r>
              <a:rPr lang="en-ZA" dirty="0"/>
              <a:t>In the portal, you will find all seven dimensions. For each one, you will see the low, balanced and high levels, with the matching risk, response and routine.</a:t>
            </a:r>
          </a:p>
          <a:p>
            <a:r>
              <a:rPr lang="en-ZA" dirty="0"/>
              <a:t>Your task is to complete the assessment, read your personal profile and then reflect on the disposition that may carry the highest risk for how you read and lead strategy.”</a:t>
            </a:r>
          </a:p>
          <a:p>
            <a:endParaRPr lang="en-ZA" b="1" dirty="0"/>
          </a:p>
          <a:p>
            <a:r>
              <a:rPr lang="en-ZA" b="1" dirty="0"/>
              <a:t>Close</a:t>
            </a:r>
            <a:endParaRPr lang="en-ZA" dirty="0"/>
          </a:p>
          <a:p>
            <a:r>
              <a:rPr lang="en-ZA" dirty="0"/>
              <a:t>Say:</a:t>
            </a:r>
          </a:p>
          <a:p>
            <a:r>
              <a:rPr lang="en-ZA" dirty="0"/>
              <a:t>“OCEAVL helps us see the human pattern behind strategy execution. Once we can see the pattern, we can design the right guardrails. That is how alignment becomes designed, not assumed.”</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Explain how individual alignment responsibilities combine into a coherent enterprise interpretation.</a:t>
            </a:r>
          </a:p>
          <a:p>
            <a:r>
              <a:rPr lang="en-GB" dirty="0"/>
              <a:t>2. Recognise where gaps in role alignment and competing change demands create enterprise vulnerability.</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LEADING CHANGE WITH ONE VOICE (FOUR COMMITMENTS)</a:t>
            </a:r>
          </a:p>
          <a:p>
            <a:endParaRPr lang="en-GB" dirty="0"/>
          </a:p>
          <a:p>
            <a:r>
              <a:rPr lang="en-GB" b="1" dirty="0"/>
              <a:t>HOW TO TEACH IT:</a:t>
            </a:r>
          </a:p>
          <a:p>
            <a:endParaRPr lang="en-GB" dirty="0"/>
          </a:p>
          <a:p>
            <a:r>
              <a:rPr lang="en-GB" b="1" dirty="0"/>
              <a:t>1. Frame the part.</a:t>
            </a:r>
          </a:p>
          <a:p>
            <a:r>
              <a:rPr lang="en-GB" dirty="0"/>
              <a:t>Say: </a:t>
            </a:r>
            <a:r>
              <a:rPr lang="en-ZA" sz="1200" b="0" i="0" kern="1200" dirty="0">
                <a:solidFill>
                  <a:schemeClr val="tx1"/>
                </a:solidFill>
                <a:effectLst/>
                <a:latin typeface="+mn-lt"/>
                <a:ea typeface="+mn-ea"/>
                <a:cs typeface="+mn-cs"/>
              </a:rPr>
              <a:t>The Converging Zone is the point where the separate views of each function come together into one shared reading of the strategy. </a:t>
            </a:r>
          </a:p>
          <a:p>
            <a:r>
              <a:rPr lang="en-ZA" sz="1200" b="0" i="0" kern="1200" dirty="0">
                <a:solidFill>
                  <a:schemeClr val="tx1"/>
                </a:solidFill>
                <a:effectLst/>
                <a:latin typeface="+mn-lt"/>
                <a:ea typeface="+mn-ea"/>
                <a:cs typeface="+mn-cs"/>
              </a:rPr>
              <a:t>A leadership team that reaches it has Collective Intelligence, and the organisation hears one voice.</a:t>
            </a:r>
            <a:endParaRPr lang="en-GB" dirty="0"/>
          </a:p>
          <a:p>
            <a:endParaRPr lang="en-GB" dirty="0"/>
          </a:p>
          <a:p>
            <a:r>
              <a:rPr lang="en-GB" dirty="0"/>
              <a:t>To lead with one voice leaders must send one message, exhibit one example, demonstrate one way of landing the message and assign one leader to keep the glue tight.</a:t>
            </a:r>
          </a:p>
          <a:p>
            <a:endParaRPr lang="en-GB" dirty="0"/>
          </a:p>
          <a:p>
            <a:r>
              <a:rPr lang="en-GB" dirty="0"/>
              <a:t>"The 4 Checks describe what one group of people needs from one leadership team.</a:t>
            </a:r>
          </a:p>
          <a:p>
            <a:endParaRPr lang="en-GB" dirty="0"/>
          </a:p>
          <a:p>
            <a:r>
              <a:rPr lang="en-GB" dirty="0"/>
              <a:t>Most changes reach a group through several leaders at once.</a:t>
            </a:r>
          </a:p>
          <a:p>
            <a:r>
              <a:rPr lang="en-GB" dirty="0"/>
              <a:t>People hear from their own leader, watch the others, and compare.</a:t>
            </a:r>
          </a:p>
          <a:p>
            <a:endParaRPr lang="en-GB" dirty="0"/>
          </a:p>
          <a:p>
            <a:r>
              <a:rPr lang="en-GB" dirty="0"/>
              <a:t>Where the leaders differ, the group takes the difference as the real message."</a:t>
            </a:r>
          </a:p>
          <a:p>
            <a:endParaRPr lang="en-GB" dirty="0"/>
          </a:p>
          <a:p>
            <a:r>
              <a:rPr lang="en-GB" dirty="0"/>
              <a:t>Say: "In the Converging Zone, the leadership team makes four commitments that no single function can make alone. </a:t>
            </a:r>
          </a:p>
          <a:p>
            <a:endParaRPr lang="en-GB" b="1" dirty="0"/>
          </a:p>
          <a:p>
            <a:r>
              <a:rPr lang="en-GB" b="1" dirty="0"/>
              <a:t>2. Teach the four commitments on the slide.</a:t>
            </a:r>
          </a:p>
          <a:p>
            <a:r>
              <a:rPr lang="en-GB" b="1" dirty="0"/>
              <a:t>One message · Protects Mind</a:t>
            </a:r>
          </a:p>
          <a:p>
            <a:r>
              <a:rPr lang="en-GB" dirty="0"/>
              <a:t>Every leader gives the same Shift, Stake and Step for each change. </a:t>
            </a:r>
          </a:p>
          <a:p>
            <a:r>
              <a:rPr lang="en-GB" dirty="0"/>
              <a:t>The test is the 3S Check applied to the leadership team itself. </a:t>
            </a:r>
          </a:p>
          <a:p>
            <a:r>
              <a:rPr lang="en-GB" dirty="0"/>
              <a:t>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b="1" dirty="0"/>
              <a:t>One example · Protects Heart</a:t>
            </a:r>
          </a:p>
          <a:p>
            <a:r>
              <a:rPr lang="en-GB" dirty="0"/>
              <a:t>Leaders show the ACE-IT behaviours the change needs before they ask for them. </a:t>
            </a:r>
          </a:p>
          <a:p>
            <a:r>
              <a:rPr lang="en-GB" dirty="0"/>
              <a:t>People read a leader’s diary, questions and decisions as the real message.</a:t>
            </a:r>
          </a:p>
          <a:p>
            <a:r>
              <a:rPr lang="en-GB" dirty="0"/>
              <a:t>When absent: people copy what leaders do and discount what leaders say.</a:t>
            </a:r>
          </a:p>
          <a:p>
            <a:endParaRPr lang="en-GB" dirty="0"/>
          </a:p>
          <a:p>
            <a:r>
              <a:rPr lang="en-GB" b="1" dirty="0"/>
              <a:t>One sequence · Protects Hands</a:t>
            </a:r>
          </a:p>
          <a:p>
            <a:r>
              <a:rPr lang="en-GB" dirty="0"/>
              <a:t>Leaders pool their changes and count how many land on the same group in the same period. </a:t>
            </a:r>
          </a:p>
          <a:p>
            <a:r>
              <a:rPr lang="en-GB" dirty="0"/>
              <a:t>The team then agrees the order and the pace. Time is the first STAT element to give way under the total load.</a:t>
            </a:r>
          </a:p>
          <a:p>
            <a:r>
              <a:rPr lang="en-GB" dirty="0"/>
              <a:t>When absent: one group is asked to absorb several changes together, and its willingness falls.</a:t>
            </a:r>
          </a:p>
          <a:p>
            <a:endParaRPr lang="en-GB" dirty="0"/>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b="1" dirty="0"/>
              <a:t>One owner · Protects Habit</a:t>
            </a:r>
          </a:p>
          <a:p>
            <a:r>
              <a:rPr lang="en-GB" dirty="0"/>
              <a:t>Each transition has one named leader who answers for adoption, through to Habit. </a:t>
            </a:r>
          </a:p>
          <a:p>
            <a:r>
              <a:rPr lang="en-GB" dirty="0"/>
              <a:t>The owner runs the 4 Checks, reports which check the change has reached, and stays with it after the launch.</a:t>
            </a:r>
          </a:p>
          <a:p>
            <a:r>
              <a:rPr lang="en-GB" dirty="0"/>
              <a:t>When absent: the change is installed and nobody answers for whether it is adopted.</a:t>
            </a:r>
          </a:p>
          <a:p>
            <a:endParaRPr lang="en-GB" dirty="0"/>
          </a:p>
          <a:p>
            <a:r>
              <a:rPr lang="en-GB" dirty="0"/>
              <a:t>Data: projects with extremely effective sponsors were 79% likely to meet their objectives, against 27% with extremely ineffective sponsors (Prosci, Best Practices in Change Management, 12th edition).</a:t>
            </a:r>
          </a:p>
          <a:p>
            <a:endParaRPr lang="en-GB" dirty="0"/>
          </a:p>
          <a:p>
            <a:endParaRPr lang="en-GB" dirty="0"/>
          </a:p>
          <a:p>
            <a:r>
              <a:rPr lang="en-GB" b="1" dirty="0"/>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ZA" dirty="0"/>
              <a:t>They are the </a:t>
            </a:r>
            <a:r>
              <a:rPr lang="en-ZA" b="1" dirty="0"/>
              <a:t>specific alignment responsibilities each executive role must clarify when the organisation is moving through change or a new strategic trajectory</a:t>
            </a:r>
            <a:r>
              <a:rPr lang="en-ZA" dirty="0"/>
              <a:t>.</a:t>
            </a:r>
          </a:p>
          <a:p>
            <a:r>
              <a:rPr lang="en-ZA" dirty="0"/>
              <a:t>“Every role carries a different part of the change into the organisation. If that role does not clarify its part, people lose alignment at that point.”</a:t>
            </a:r>
          </a:p>
          <a:p>
            <a:endParaRPr lang="en-ZA" dirty="0"/>
          </a:p>
          <a:p>
            <a:r>
              <a:rPr lang="en-ZA" dirty="0"/>
              <a:t>That means for example - The CEO can clarify direction, but the CFO must clarify resource logic, the COO must clarify operating capacity, and the CHRO must clarify human capability.</a:t>
            </a:r>
          </a:p>
          <a:p>
            <a:endParaRPr lang="en-ZA" dirty="0"/>
          </a:p>
          <a:p>
            <a:r>
              <a:rPr lang="en-ZA" dirty="0"/>
              <a:t>What is important is for leaders to know which lever to pull when aligning people heart and mind to create collective intelligence for execution whether as a leadership team or as a leader for a team.</a:t>
            </a:r>
          </a:p>
          <a:p>
            <a:endParaRPr lang="en-GB" dirty="0"/>
          </a:p>
          <a:p>
            <a:r>
              <a:rPr lang="en-GB" b="1" dirty="0"/>
              <a:t>3. Walk some selected roles</a:t>
            </a:r>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endParaRPr lang="en-GB" dirty="0"/>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endParaRPr lang="en-GB" dirty="0"/>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endParaRPr lang="en-GB" dirty="0"/>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endParaRPr lang="en-GB" dirty="0"/>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endParaRPr lang="en-GB" dirty="0"/>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endParaRPr lang="en-GB" dirty="0"/>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endParaRPr lang="en-GB" dirty="0"/>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endParaRPr lang="en-GB" dirty="0"/>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endParaRPr lang="en-GB" dirty="0"/>
          </a:p>
          <a:p>
            <a:endParaRPr lang="en-GB" b="1"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with a closely adjacent role in the next 30 days?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endParaRPr lang="en-GB" dirty="0"/>
          </a:p>
          <a:p>
            <a:r>
              <a:rPr lang="en-GB" dirty="0"/>
              <a:t>4.2 Reflection: "What is the most important alignment conversation you need to have with a closely adjacent role in the next 30 days? What would that conversation need to address?"</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endParaRPr lang="en-GB" dirty="0"/>
          </a:p>
          <a:p>
            <a:r>
              <a:rPr lang="en-GB" b="1" dirty="0"/>
              <a:t>4. Bridge to Section 5.</a:t>
            </a:r>
          </a:p>
          <a:p>
            <a:r>
              <a:rPr lang="en-GB" dirty="0"/>
              <a:t>Say: "We have the checks, the commitments and the hot zones. Section 5 applies two of the tools to the strategy in your Capstone Blueprint."</a:t>
            </a:r>
          </a:p>
          <a:p>
            <a:endParaRPr lang="en-GB" dirty="0"/>
          </a:p>
          <a:p>
            <a:r>
              <a:rPr lang="en-GB" b="1" dirty="0"/>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pPr lvl="0"/>
            <a:r>
              <a:rPr lang="en-ZA" sz="1200" b="1" i="0" kern="1200" dirty="0">
                <a:solidFill>
                  <a:schemeClr val="tx1"/>
                </a:solidFill>
                <a:effectLst/>
                <a:latin typeface="+mn-lt"/>
                <a:ea typeface="+mn-ea"/>
                <a:cs typeface="+mn-cs"/>
              </a:rPr>
              <a:t>Step 1 · The 3S Check.</a:t>
            </a:r>
            <a:r>
              <a:rPr lang="en-ZA" sz="1200" b="0" i="0" kern="1200" dirty="0">
                <a:solidFill>
                  <a:schemeClr val="tx1"/>
                </a:solidFill>
                <a:effectLst/>
                <a:latin typeface="+mn-lt"/>
                <a:ea typeface="+mn-ea"/>
                <a:cs typeface="+mn-cs"/>
              </a:rPr>
              <a:t> Your group states three things for the strategy in your Capstone Blueprint: the </a:t>
            </a:r>
            <a:r>
              <a:rPr lang="en-ZA" sz="1200" b="1" i="0" kern="1200" dirty="0">
                <a:solidFill>
                  <a:schemeClr val="tx1"/>
                </a:solidFill>
                <a:effectLst/>
                <a:latin typeface="+mn-lt"/>
                <a:ea typeface="+mn-ea"/>
                <a:cs typeface="+mn-cs"/>
              </a:rPr>
              <a:t>Shift</a:t>
            </a:r>
            <a:r>
              <a:rPr lang="en-ZA" sz="1200" b="0" i="0" kern="1200" dirty="0">
                <a:solidFill>
                  <a:schemeClr val="tx1"/>
                </a:solidFill>
                <a:effectLst/>
                <a:latin typeface="+mn-lt"/>
                <a:ea typeface="+mn-ea"/>
                <a:cs typeface="+mn-cs"/>
              </a:rPr>
              <a:t> (what is changing), the </a:t>
            </a:r>
            <a:r>
              <a:rPr lang="en-ZA" sz="1200" b="1" i="0" kern="1200" dirty="0">
                <a:solidFill>
                  <a:schemeClr val="tx1"/>
                </a:solidFill>
                <a:effectLst/>
                <a:latin typeface="+mn-lt"/>
                <a:ea typeface="+mn-ea"/>
                <a:cs typeface="+mn-cs"/>
              </a:rPr>
              <a:t>Stake</a:t>
            </a:r>
            <a:r>
              <a:rPr lang="en-ZA" sz="1200" b="0" i="0" kern="1200" dirty="0">
                <a:solidFill>
                  <a:schemeClr val="tx1"/>
                </a:solidFill>
                <a:effectLst/>
                <a:latin typeface="+mn-lt"/>
                <a:ea typeface="+mn-ea"/>
                <a:cs typeface="+mn-cs"/>
              </a:rPr>
              <a:t> (what the organisation gains if it changes, and what it loses if it stays as it is) and the </a:t>
            </a:r>
            <a:r>
              <a:rPr lang="en-ZA" sz="1200" b="1" i="0" kern="1200" dirty="0">
                <a:solidFill>
                  <a:schemeClr val="tx1"/>
                </a:solidFill>
                <a:effectLst/>
                <a:latin typeface="+mn-lt"/>
                <a:ea typeface="+mn-ea"/>
                <a:cs typeface="+mn-cs"/>
              </a:rPr>
              <a:t>Step</a:t>
            </a:r>
            <a:r>
              <a:rPr lang="en-ZA" sz="1200" b="0" i="0" kern="1200" dirty="0">
                <a:solidFill>
                  <a:schemeClr val="tx1"/>
                </a:solidFill>
                <a:effectLst/>
                <a:latin typeface="+mn-lt"/>
                <a:ea typeface="+mn-ea"/>
                <a:cs typeface="+mn-cs"/>
              </a:rPr>
              <a:t> (what must be done differently). The guide from part 1.3.1 sits beside each box.</a:t>
            </a:r>
          </a:p>
          <a:p>
            <a:pPr lvl="0"/>
            <a:endParaRPr lang="en-ZA" sz="1200" b="1" i="0" kern="1200" dirty="0">
              <a:solidFill>
                <a:schemeClr val="tx1"/>
              </a:solidFill>
              <a:effectLst/>
              <a:latin typeface="+mn-lt"/>
              <a:ea typeface="+mn-ea"/>
              <a:cs typeface="+mn-cs"/>
            </a:endParaRPr>
          </a:p>
          <a:p>
            <a:pPr lvl="0"/>
            <a:r>
              <a:rPr lang="en-ZA" sz="1200" b="1" i="0" kern="1200" dirty="0">
                <a:solidFill>
                  <a:schemeClr val="tx1"/>
                </a:solidFill>
                <a:effectLst/>
                <a:latin typeface="+mn-lt"/>
                <a:ea typeface="+mn-ea"/>
                <a:cs typeface="+mn-cs"/>
              </a:rPr>
              <a:t>Step 2 · ACE-IT.</a:t>
            </a:r>
            <a:r>
              <a:rPr lang="en-ZA" sz="1200" b="0" i="0" kern="1200" dirty="0">
                <a:solidFill>
                  <a:schemeClr val="tx1"/>
                </a:solidFill>
                <a:effectLst/>
                <a:latin typeface="+mn-lt"/>
                <a:ea typeface="+mn-ea"/>
                <a:cs typeface="+mn-cs"/>
              </a:rPr>
              <a:t> Your group reads its team OCEAVL profile. It then states the behaviour it expects from the leadership team under each of the five ACE-IT behaviours: Accountability, Commitment, Engagement, Integrity and Transparency. The guide from part 1.3.4 sits beside each box.</a:t>
            </a:r>
          </a:p>
          <a:p>
            <a:r>
              <a:rPr lang="en-ZA" sz="1200" b="0" i="0" kern="1200" dirty="0">
                <a:solidFill>
                  <a:schemeClr val="tx1"/>
                </a:solidFill>
                <a:effectLst/>
                <a:latin typeface="+mn-lt"/>
                <a:ea typeface="+mn-ea"/>
                <a:cs typeface="+mn-cs"/>
              </a:rPr>
              <a:t>You then select Confirm. This is Capstone work, and your confirmed record feeds your team’s Capstone Blueprint.</a:t>
            </a:r>
          </a:p>
          <a:p>
            <a:endParaRPr lang="en-GB" dirty="0"/>
          </a:p>
          <a:p>
            <a:r>
              <a:rPr lang="en-GB" b="1" dirty="0"/>
              <a:t>SECTION LEARNING OUTCOMES:</a:t>
            </a:r>
          </a:p>
          <a:p>
            <a:r>
              <a:rPr lang="en-GB" dirty="0"/>
              <a:t>1. Determine how the organisation will land the strategy agenda.</a:t>
            </a:r>
          </a:p>
          <a:p>
            <a:r>
              <a:rPr lang="en-GB" dirty="0"/>
              <a:t>2. Demonstrate commitment through a behavioural change that strengthens collective alignment.</a:t>
            </a:r>
          </a:p>
          <a:p>
            <a:endParaRPr lang="en-GB" dirty="0"/>
          </a:p>
          <a:p>
            <a:r>
              <a:rPr lang="en-GB" b="1" dirty="0"/>
              <a:t>HOW TO OPEN THE SECTION:</a:t>
            </a:r>
          </a:p>
          <a:p>
            <a:endParaRPr lang="en-GB" dirty="0"/>
          </a:p>
          <a:p>
            <a:r>
              <a:rPr lang="en-GB" b="1"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endParaRPr lang="en-GB" dirty="0"/>
          </a:p>
          <a:p>
            <a:r>
              <a:rPr lang="en-GB" b="1" dirty="0"/>
              <a:t>2. Say how the group works.</a:t>
            </a:r>
          </a:p>
          <a:p>
            <a:r>
              <a:rPr lang="en-GB" dirty="0"/>
              <a:t>Say: "Both steps are group work.</a:t>
            </a:r>
          </a:p>
          <a:p>
            <a:r>
              <a:rPr lang="en-GB" dirty="0"/>
              <a:t>Your group agrees each entry.</a:t>
            </a:r>
          </a:p>
          <a:p>
            <a:r>
              <a:rPr lang="en-GB" dirty="0"/>
              <a:t>One member acts as scribe.</a:t>
            </a:r>
          </a:p>
          <a:p>
            <a:r>
              <a:rPr lang="en-GB" dirty="0"/>
              <a:t>Every member then types the agreed entries into their own page, in the session or after it."</a:t>
            </a:r>
          </a:p>
          <a:p>
            <a:endParaRPr lang="en-GB" dirty="0"/>
          </a:p>
          <a:p>
            <a:r>
              <a:rPr lang="en-GB" b="1" dirty="0"/>
              <a:t>3. Say where the work goes.</a:t>
            </a:r>
          </a:p>
          <a:p>
            <a:r>
              <a:rPr lang="en-GB" dirty="0"/>
              <a:t>Say: "This is Capstone work. Your group’s confirmed record feeds your team’s Capstone Blueprint."</a:t>
            </a:r>
          </a:p>
          <a:p>
            <a:r>
              <a:rPr lang="en-GB" dirty="0"/>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3S CHECK (CAPSTONE WORK)</a:t>
            </a:r>
          </a:p>
          <a:p>
            <a:endParaRPr lang="en-GB" dirty="0"/>
          </a:p>
          <a:p>
            <a:r>
              <a:rPr lang="en-GB" b="1" dirty="0"/>
              <a:t>HOW TO TEACH IT:</a:t>
            </a:r>
          </a:p>
          <a:p>
            <a:r>
              <a:rPr lang="en-ZA" sz="1200" b="0" i="0" kern="1200" dirty="0">
                <a:solidFill>
                  <a:schemeClr val="tx1"/>
                </a:solidFill>
                <a:effectLst/>
                <a:latin typeface="+mn-lt"/>
                <a:ea typeface="+mn-ea"/>
                <a:cs typeface="+mn-cs"/>
              </a:rPr>
              <a:t>This is group work. Your group builds the case for the change your strategy asks of people, in two steps:</a:t>
            </a:r>
          </a:p>
          <a:p>
            <a:pPr lvl="0"/>
            <a:endParaRPr lang="en-ZA" sz="1200" b="1" i="0" kern="1200" dirty="0">
              <a:solidFill>
                <a:schemeClr val="tx1"/>
              </a:solidFill>
              <a:effectLst/>
              <a:latin typeface="+mn-lt"/>
              <a:ea typeface="+mn-ea"/>
              <a:cs typeface="+mn-cs"/>
            </a:endParaRPr>
          </a:p>
          <a:p>
            <a:endParaRPr lang="en-GB" dirty="0"/>
          </a:p>
          <a:p>
            <a:r>
              <a:rPr lang="en-GB" b="1" dirty="0"/>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endParaRPr lang="en-GB" dirty="0"/>
          </a:p>
          <a:p>
            <a:r>
              <a:rPr lang="en-GB" b="1" dirty="0"/>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endParaRPr lang="en-GB" dirty="0"/>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endParaRPr lang="en-GB" dirty="0"/>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endParaRPr lang="en-GB" dirty="0"/>
          </a:p>
          <a:p>
            <a:endParaRPr lang="en-GB" dirty="0"/>
          </a:p>
          <a:p>
            <a:r>
              <a:rPr lang="en-GB" b="1" dirty="0"/>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ACE-IT (CAPSTONE WORK)</a:t>
            </a:r>
          </a:p>
          <a:p>
            <a:endParaRPr lang="en-GB" dirty="0"/>
          </a:p>
          <a:p>
            <a:r>
              <a:rPr lang="en-GB" b="1" dirty="0"/>
              <a:t>HOW TO TEACH IT:</a:t>
            </a:r>
          </a:p>
          <a:p>
            <a:endParaRPr lang="en-GB" dirty="0"/>
          </a:p>
          <a:p>
            <a:r>
              <a:rPr lang="en-GB" b="1"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2. Ask the linking question.</a:t>
            </a:r>
          </a:p>
          <a:p>
            <a:r>
              <a:rPr lang="en-GB" dirty="0"/>
              <a:t>Ask: "Which level in your team’s profile carries the highest risk for this change? Which ACE-IT behaviour answers it?"</a:t>
            </a:r>
          </a:p>
          <a:p>
            <a:endParaRPr lang="en-GB" dirty="0"/>
          </a:p>
          <a:p>
            <a:r>
              <a:rPr lang="en-GB" b="1"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endParaRPr lang="en-GB" dirty="0"/>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endParaRPr lang="en-GB" dirty="0"/>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endParaRPr lang="en-GB" dirty="0"/>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endParaRPr lang="en-GB" dirty="0"/>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endParaRPr lang="en-GB" dirty="0"/>
          </a:p>
          <a:p>
            <a:r>
              <a:rPr lang="en-GB" dirty="0"/>
              <a:t>For each behaviour the group writes: the behaviour we expect from our leadership team.</a:t>
            </a:r>
          </a:p>
          <a:p>
            <a:endParaRPr lang="en-GB" dirty="0"/>
          </a:p>
          <a:p>
            <a:r>
              <a:rPr lang="en-GB" b="1" dirty="0"/>
              <a:t>4. Give the example.</a:t>
            </a:r>
          </a:p>
          <a:p>
            <a:endParaRPr lang="en-GB" dirty="0"/>
          </a:p>
          <a:p>
            <a:r>
              <a:rPr lang="en-GB" b="1"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endParaRPr lang="en-GB" dirty="0"/>
          </a:p>
          <a:p>
            <a:r>
              <a:rPr lang="en-GB" b="1"/>
              <a:t>ON </a:t>
            </a:r>
            <a:r>
              <a:rPr lang="en-GB" b="1" dirty="0"/>
              <a:t>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reads the guide in each card. It is the lesson from part 1.3.4.</a:t>
            </a:r>
          </a:p>
          <a:p>
            <a:r>
              <a:rPr lang="en-GB" dirty="0"/>
              <a:t>3. For each behaviour, the group agrees what it expects to see the leadership team do so that the change in Step 1 holds. Where the team’s level carries a risk for this change, the group states the behaviour that answers it.</a:t>
            </a:r>
          </a:p>
          <a:p>
            <a:r>
              <a:rPr lang="en-GB" dirty="0"/>
              <a:t>4. Each participant reads the record and selects Confirm. Print gives a copy of the record.</a:t>
            </a:r>
          </a:p>
          <a:p>
            <a:endParaRPr lang="en-GB" dirty="0"/>
          </a:p>
          <a:p>
            <a:r>
              <a:rPr lang="en-GB" b="1" dirty="0"/>
              <a:t>AFTER THE SESSION:</a:t>
            </a:r>
          </a:p>
          <a:p>
            <a:r>
              <a:rPr lang="en-GB" dirty="0"/>
              <a:t>The record reaches you with each participant’s submission, under the heading Leading with Clarity.</a:t>
            </a:r>
          </a:p>
          <a:p>
            <a:r>
              <a:rPr lang="en-GB" dirty="0"/>
              <a:t>The confirmed record feeds boxes 5B and 5C of the team’s Capstone Blueprint: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OCEAVL Assessment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Each member’s OCEAVL scores feed the team’s profile in the Capstone Blueprint. The group’s confirmed record feeds boxes 5B and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009934"/>
            <a:ext cx="5227093" cy="5920398"/>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6856635" y="1120289"/>
            <a:ext cx="4708478" cy="573771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5" name="Reflection 4.2" descr="4.2 Reflection: What is the most important alignment conversation you need to have with a closely adjacent role in the next 30 days? What would that conversation need to address?"/>
          <p:cNvPicPr>
            <a:picLocks noChangeAspect="1"/>
          </p:cNvPicPr>
          <p:nvPr/>
        </p:nvPicPr>
        <p:blipFill>
          <a:blip r:embed="rId4"/>
          <a:stretch>
            <a:fillRect/>
          </a:stretch>
        </p:blipFill>
        <p:spPr>
          <a:xfrm>
            <a:off x="1691640" y="2888770"/>
            <a:ext cx="9921240" cy="1023394"/>
          </a:xfrm>
          <a:prstGeom prst="rect">
            <a:avLst/>
          </a:prstGeom>
        </p:spPr>
      </p:pic>
      <p:sp>
        <p:nvSpPr>
          <p:cNvPr id="6" name="Part 4.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5"/>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Determine how the organisation will land the strategy agenda.</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Demonstrate commitment through a behavioural change that strengthens collective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Where your team’s level carries a risk for this change, state the behaviour that answers it.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19948</Words>
  <Application>Microsoft Office PowerPoint</Application>
  <PresentationFormat>Widescreen</PresentationFormat>
  <Paragraphs>1715</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2026-10-09T07:27:16Z</dcterms:modified>
</cp:coreProperties>
</file>