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5 · ALIGNING HEART &amp; MIND
Module 3 · Influence · Unit 5
Unit intent (Facilitator Guide):
Unit 5 establishes the human operating system of execution. Strategy moves through people, and functional expertise, bias and emotion shape how each leader interprets it. The unit builds a shared enterprise interpretation and the behaviours that sustain commitment.
SCARF explains resistance, ACE-IT sets the behaviour standard and COMPASS locates the hot zones. The Section 5 exercise, in which leaders map how their roles connect, is the centrepiece.
Unit overview (facilitator file): Before strategy becomes operational activity, it must be interpreted, experienced, and accepted by the people responsible for carrying it forward. This unit establishes the human operating system that enables strategy to move from intention to execution.
Time: section timings in the facilitator file add up to about 180–235 minutes (3 to 4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Critically examine how functional expertise, personality, cognitive bias and emotional conditions influence the interpretation of strategy.
2. Demonstrate shared strategic understanding and commitment across the leadership system.
3. Recognise the organisational conditions that strengthen or weaken strategic alignment.
4. Formulate a coherent enterprise interpretation that supports consistent decisions and coordinated action.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45–60 minutes
- Section 2 · Intelligence — Why: 25–30 minutes
- Section 3 · Extrapolating — Where: 35–45 minutes
- Section 4 · Integration — Collective: 30–40 minutes
- Section 5 · Application — In Practice: Step 1 12–15 min · Step 2 15–20 min · Step 3 20–25 min
Key Facilitation Questions
“What is the dominant emotion your team carries into the current strategy, and how does it change what people invest?”
“Which SCARF trigger does the current strategy activate most for your people?”
“Which COMPASS zone would flare first in your organisation under pressure? What is the early warning?”
“What behavioural change will you model in the next month so others can see alignment in action?”
Tone &amp; Watch Points
Watch for: compliance mistaken for commitment. Probe: “Would they still act this way if no one were checking?”
Watch for: emotion treated as a side topic. Connect each emotional state to an execution consequence.
Watch for: commitments that describe intentions. Each behavioural change must be observable by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Aligning Heart &amp; Mind?
Interrogative Anchor · Before any strategy can be executed, it must travel through people. People arrive at every strategy meeting carrying a personality profile, emotional defaults, and personal motives that determine how much energy they will invest in the organisation’s goals.
Section learning outcomes:
1. Examine how functional expertise, cognitive bias and emotion shape the interpretation of strategy.
2. Recognise the triggers of resistance and the behaviours that sustain alignment.
FACILITATOR GUIDANCE — Section 1 · Awareness
Section intent: Establish the foundational insight that strategy is first and foremost a human interpretation problem. Leaders must feel this before they can act on it. Resist the urge to move to solutions quickly — create space for recognition.
Opening provocation: “Think of a strategy that was perfectly designed and then failed in execution. What broke? Was it the plan — or the people who had to carry it?” Pause. Use silence productively. This question surfaces the lived experience that anchors the entire unit.
On the Five Principles: Work through these sequentially. Each builds on the previous. Do not allow leaders to skip to SCARF or ACE-IT without first establishing the foundational logic. Suggested section time: 45–60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HUMAN TERRAIN OF STRATEGY EXECUTION (Foundation)
FACILITATOR GUIDANCE — Section 1
The Functional Bias Problem: Ask leaders to honestly name their primary perspective. The CFO thinks in capital efficiency. The COO in delivery flow. The CHRO in capability. None is wrong — but when these operate without deliberate integration, strategy fragments invisibly. Suggested time: 10–12 minutes.
Key facilitation question: “When your leadership team last debated a strategic priority — were you all interpreting the same data from the same perspective? Or from the perspective of your function?”
Content:
Strategy enters an organisation through the people responsible for interpreting and acting on it. Before strategy becomes operational activity, it passes through two human filters:
Cognition — Mind
How individuals interpret what strategy means. Shaped by professional expertise, mental shortcuts, past experience, and risk perception.
Emotion — Heart
How individuals experience the strategy. Shapes engagement energy, morale, friction load, psychological safety, and values alignment.
The Result
Whether strategy produces clarity or confusion, commitment or compliance, momentum or hesitation. Execution begins inside the human system.
The deeper challenge behind execution friction: Strategy is fundamentally a human interpretation problem. The Functional Bias Problem reveals that organisations do not interpret strategy as a single, shared reality. When perspectives diverge, even highly capable executives can unintentionally pull the organisation in different directions.
Participant file (1.1 — The Human Terrain of Strategy Execution) — prompts participants complete:
- ✎ Reflection In your current role, which filter (Mind or Heart) tends to shape your first response to a new strategic priority? What are the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FIVE PRINCIPLES OF ALIGNING HEART &amp; MIND (Expand Each Principle)
FACILITATOR GUIDANCE — Section 2
Pacing: Open each principle card and read the insight aloud before inviting reflection. Do not let the group race through. Principle 2 (Misalignment Fragments Effort) generates the most immediate recognition — use it as a pivot.
After all five: “Which principle describes the most critical gap in your leadership team right now? Choose one.” The choice itself is diagnostic. Suggested time: 15–18 minutes.
Content:
Principle 1
Strategy Moves Through People
The human entry point of execution. Alignment of the mind (cognition) and heart (emotion) is the first execution system.
Cognitive alignment focuses on making biases visible so they can be managed deliberately. In practice: identify dominant decision biases at executive level, name how those biases shape the S2R® process, establish shared decision principles that counter predictable distortions.
Emotional alignment requires naming the current emotional state through which strategy is being experienced. Leaders operate from a dominant state of being (Joy, Sadness, Anger, Fear, Disgust, Surprise). Each state influences engagement energy, morale drain, friction load, psychological safety, and values alignment.
➤ Facilitation insight: Ask leaders to name the dominant emotion in their current team right now. If they cannot name it, they cannot manage it — and it will manage them.
Principle 2
Misalignment Fragments Effort
The cost of ignoring the human system. When interpretation and emotional experience are not aligned, effort begins to fragment. Everyone remains active, yet the organisation moves with split effort.
Chinese Whispers
Intent mutates as it travels downward. Frontline execution bears little resemblance to boardroom intent.
Clarification Debt
60–80% of leadership time spent re-explaining, correcting, realigning. Leaders are patching.
Silent Disengagement
People comply outwardly but withdraw inwardly. Looks like cooperation. Feels like exhaustion.
Data: Low-alignment organisations experience 41% lower productivity and 48% higher turnover. This drift is dangerous because it is gradual, rationalised, and expensive (Gallup; PMI).
Principle 3
Alignment Must Be Designed
Alignment rarely emerges naturally. It must be intentionally designed through structured interventions that make interpretation and emotional climate visible. Two diagnostic assessments support this design:
OCEAVL Assessment
Surfaces psychological tendencies influencing executive decision-making. Dimensions: Openness, Conscientiousness, Extraversion, Agreeableness, Emotional Stability, Values Alignment, Learning Orientation. Available on demand — excel or HTML format with facilitated report generation.
Emotional Climate Assessment
Identifies the prevailing state of being across six core emotional categories: Joy, Sadness, Anger, Fear, Disgust, Surprise. Allows leaders to stabilise engagement before demanding execution. Available on demand.
➤ Facilitation insight: These assessments are diagnostic tools. Their power lies in the conversation they generate. Frame them as leadership mirrors.
Principle 4
Human Reactions Are Predictable
Reactions to strategic change follow predictable psychological patterns. The SCARF Model (David Rock) explains five social conditions that trigger emotional responses during change. The human brain processes social change using the same threat circuitry as physical danger — any new goal, system, or way of working is evaluated emotionally before it is evaluated rationally.
The five SCARF triggers are explored in detail in the next section. The SCARF Tool is available on demand for leaders who want to monitor observable behaviours and proactively strengthen their alignment of heart and mind.
➤ Facilitation insight: The power of SCARF lies in the recognition. When a leader can name which trigger is driving resistance, they can address the root cause.
Principle 5
Execution Must Be Visible in Behaviour
Strategic alignment ultimately becomes visible through behaviour. Without observable behaviour, alignment remains theoretical. With behavioural standards, alignment becomes visible, measurable, and sustainable.
The ACE-IT Framework defines five universally desired behaviours: Accountability, Commitment, Engagement, Integrity, Transparency. These behaviours are independent of an organisation’s stated values — they represent the minimum behavioural standard for any leadership team serious about execution. Explored in detail in section 1.4.
➤ Facilitation insight: Ask leaders: “If someone external observed your team for one week, which ACE-IT behaviour would they see most clearly? Which would be absent?” The honest answer is a diagnostic.
Participant file (1.2 — The Five Principles of Aligning Heart &amp; Mind) — prompts participants complete:
- ✎ Reflection Which of the Five Principles describes the most critical gap in your leadership team right now? What is the evidence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2 — MISALIGNMENT FRAGMENTS EFFORT
Content:
Principle 2
Misalignment Fragments Effort
The cost of ignoring the human system. When interpretation and emotional experience are not aligned, effort begins to fragment. Everyone remains active, yet the organisation moves with split effort.
Chinese Whispers
Intent mutates as it travels downward. Frontline execution bears little resemblance to boardroom intent.
Clarification Debt
60–80% of leadership time spent re-explaining, correcting, realigning. Leaders are patching.
Silent Disengagement
People comply outwardly but withdraw inwardly. Looks like cooperation. Feels like exhaustion.
Data: Low-alignment organisations experience 41% lower productivity and 48% higher turnover. This drift is dangerous because it is gradual, rationalised, and expensive (Gallup; PMI).
Guidance: Principle 2 (Misalignment Fragments Effort) generates the most immediate recognition — use it as a pivot.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SCARF MODEL: FIVE TRIGGERS OF HUMAN RESISTANCE (Expand Each Trigger)
FACILITATOR GUIDANCE — Section 3
On pacing: Open each SCARF card and read the trigger question aloud. Then pause: “In your last major strategy implementation — which of these triggers did you observe most? How did you know?”
Key distinction: The SCARF triggers activate universally. Leaders who manage it well are distinguished by awareness and deliberate counter-strategy. Suggested time: 12–15 minutes.
SCARF Tool
Available on demand for leaders who want to actively monitor observable behaviours during strategy discussions or change initiatives. Helps identify the underlying social concerns influencing reactions — enabling leaders to adjust their approach in real time.
Content:
Expand each trigger to explore what activates it, how it shows up in behaviour, its execution impact, and the counter-strategy that addresses it.
Status
“Will this reduce my importance?”
Activated By
New leaders • New KPIs exposing performance • New systems shifting expertise • Changed reporting lines
Shows Up As
Defensive behaviour • Undermining decisions • Withholding information or cooperation
⚠ Execution: Political friction • Slowed decisions • Misalignment masked as professionalism
➤ Counter: Explicitly acknowledge existing credibility. Involve senior leaders in co-designing new structures — status is protected when people have agency in the change.
Certainty
“Do I know what success looks like?”
Activated By
New goals • Ambiguous ownership • Changing metrics or timelines • Shifting review processes
Shows Up As
Repeated clarification requests • Delay disguised as “waiting for alignment” • Reversion to old habits
⚠ Execution: Loss of momentum • Paralysis under pressure • Risk avoidance
➤ Counter: Create visible milestones early. The brain seeks pattern — give it enough structure to move without removing all ambiguity.
Autonomy
“Am I losing control of my work?”
Activated By
New systems • Standardised processes • Centralised decision rights • Increased oversight or reporting
Shows Up As
Passive compliance • Minimal effort delivery • Resistance through bureaucracy
⚠ Execution: Low engagement energy • Mechanical execution • Fragile performance
➤ Counter: Standardise the what and offer bounded choice on the how. Bounded choice preserves autonomy while honouring the mandate.
Relatedness
“Do I still belong here?”
Activated By
Team restructuring • New leaders or external hires • Cross-functional initiatives • Remote or hybrid shifts
Shows Up As
Silo behaviour • Reduced collaboration • Guarded communication
⚠ Execution: Trust erosion • Coordination breakdown • Rework and duplication
➤ Counter: Create visible connection rituals during transitions. People need to feel part of the tribe before they will share resources or risk vulnerability.
Fairness
“Is this being applied equitably?”
Activated By
Uneven workload • Selective enforcement of rules • Inconsistent rewards • Unclear decision rationale
Shows Up As
Cynicism • Gossip replacing dialogue • Emotional withdrawal
⚠ Execution: Values misalignment • Morale drain • Cultural decay
➤ Counter: Proactively explain rationale behind decisions — especially asymmetric ones. Transparency about trade-offs is perceived as fairness even when outcomes differ.
Participant file (1.3 — The SCARF Model: Five Triggers of Human Resistance) — prompts participants complete:
- ✎ Reflection Which SCARF trigger is most frequently activated in your organisation during strategy implementation? What is the observable evidence? What counter-strategy would address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ACE-IT: THE OBSERVABLE BEHAVIOUR STANDARD (Expand Each Behaviour)
FACILITATOR GUIDANCE — Section 4
Key framing: ACE-IT is a behavioural standard, independent of the organisation’s stated values. It describes the minimum visible behaviours required for strategic alignment to be real and visible.
After all five: “If you audited your last leadership review against these five behaviours — where would you find the biggest gap between the ideal and the observable?” Suggested time: 10–12 minutes.
Content:
A
Accountability
Definition
Taking full ownership for results. Acknowledging missteps and driving corrective action.
Desired Behaviour
Defines clear ownership • Acknowledges missteps • Holds self and others to measurable standards
✓ Observable: Commitments tracked • Reviews end with named owners • “We missed it, here’s the fix” language common
C
Commitment
Definition
Staying anchored to agreed strategic intent even when pressure rises. Following through despite discomfort.
Desired Behaviour
Aligns daily choices to long-term direction • Protects priorities from noise • Closes loops they open
✓ Observable: Strategic priorities stay consistent • Leaders decline non-strategic work • Promises kept visibly
E
Engagement
Definition
Actively involving self and others in sense-making, dialogue, and execution. Listening to understand.
Desired Behaviour
Invites participation and dissent • Connects roles to purpose • Creates two-way dialogue
✓ Observable: Team meetings are two-way • Feedback loops visible • People quote the shared “why”
I
Integrity
Definition
Acting consistently with values, facts, and truth — even when inconvenient. Declaring conflicts of interest early.
Desired Behaviour
Says what is true, even when it is hard • Uses data to support choices • References values in trade-offs
✓ Observable: Evidence cited before decisions • Values referenced in hard choices • Teams trust word matches deed
T
Transparency
Definition
Making reasoning, progress, and constraints visible to all stakeholders. Sharing challenges openly.
Desired Behaviour
Communicates decisions with rationale • Documents choices and lessons • Shares progress including setbacks
✓ Observable: Dashboards updated regularly • Decisions logged and accessible • “No surprises” culture evident
Participant file (1.4 — ACE-IT: The Observable Behaviour Standard) — prompts participants complete:
- ✎ Reflection If you audited your last leadership review against the ACE-IT behaviours — where would you find the biggest gap between the ideal and the observable? What one behavioural change would create the most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Does Heart &amp; Mind Alignment Determine Execution Outcomes?
Ignition Point · Within the Strategy2Results® process, Aligning Hearts and Minds functions as the ignition point of execution — the moment where strategy transitions from a document describing intent into a system capable of producing movement.
Section learning outcomes:
1. Explain why shared understanding and commitment convert strategy into execution.
2. Distinguish execution driven by commitment from execution driven by compliance.
FACILITATOR GUIDANCE — Section 2 · Intelligence
Section intent: Move from describing the concept of alignment to understanding its strategic necessity. Leaders must understand why this is the mechanical conversion point of strategy. This section should create a shift from intellectual understanding to operational conviction.
The energy analogy: The Potential vs. Kinetic Energy logic is highly effective with CXO-level audiences. Engineers, finance leaders, and operators all recognise this from their domain. Use it as an anchor before moving to the compliance/commitment distinction. Suggested section time: 25–30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IGNITION POINT OF STRATEGY EXECUTION (Foundation Logic)
FACILITATOR GUIDANCE — Section 2.1
On the ignition metaphor: An ignition point is where fuel becomes power. A strategy document is stored potential. The moment a person decides “This matters to me” is when kinetic energy begins. Without that moment, the fuel stays fuel.
Discussion prompt: “Think of a time when you personally chose to go beyond compliance and genuinely committed to a strategic direction. What caused that shift? What would it take to create that same shift in your team?” Suggested time: 8–10 minutes.
Content:
A strategy document contains strategic potential. It articulates direction, ambition, and possibility. However, potential by definition represents energy at rest. For strategic potential to convert into kinetic energy — movement, execution, and results — human action must occur. No system executes itself.
Execution begins the moment an individual decides: “This matters to me. I am willing to invest energy in making this succeed.” Until that moment occurs across the organisation, strategy remains theoretical. Aligning Hearts and Minds activates the human energy required to convert intention into action. This is the ignition point.
Without this ignition point, strategy remains defined but not delivered. With it, the organisation shifts from supervised effort to self-driven momentum — the strategic payoff that makes alignment the highest-leverage leadership intervention available.
Participant file (2.1 — The Ignition Point of Strategy Execution) — prompts participants complete:
- ✎ Reflection Think of a time when you personally chose to go beyond compliance and genuinely committed to a strategic direction. What caused that shift? What would it take to create that same shift in your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FOUNDATIONAL LOGICS (Why It Matters Operationally)
FACILITATOR GUIDANCE — Section 2.2
Logic II (Compliance vs. Commitment) typically generates the highest impact with CXO audiences. Leaders recognise compliance-driven execution immediately — they have managed it and been frustrated by it. Ask: “How much of your leadership time is currently spent enforcing compliance?” The honest answer is usually sobering. Suggested time: 12–15 minutes.
Content:
I. Potential vs. Kinetic Energy Logic
A strategy document is strategic potential — energy at rest. For it to become kinetic energy (movement, execution, results), a human decision must activate it. The alignment of heart and mind is precisely the conversion mechanism. Every day that decision is not made is a day strategic potential sits unused. The organisation does not move until people decide to move it. Leadership cannot shortcut this decision — it can only create the conditions for it.
II. Compliance vs. Commitment Logic
Compliance — Mind Only
People act because authority requires it, rules enforce it, or systems monitor it. Produces visible output short-term. Requires continuous supervision. Creates hidden costs: leadership time consumed by follow-ups, teams dependent on instruction, decision-making slows as control increases. Mechanical and brittle.
Commitment — Mind &amp; Heart
People act because they understand strategic intent, believe the direction is meaningful, and feel personal ownership. Generates behaviours compliance cannot sustain: discretionary effort, adaptive problem-solving, resilience when conditions change. Execution continues even when leaders are not present.
III. The Strategic Payoff of Alignment
When both cognition and emotion are aligned: people act with ownership, coordination improves across functions, and leaders spend less time correcting and more time advancing strategy. This shift reduces rework, lowers escalation, and preserves leadership capacity for decisions that truly require executive attention. Aligning Hearts and Minds is the mechanical conversion point where strategic potential becomes strategic movement.
Participant file (2.2 — Three Foundational Logics) — prompts participants complete:
- ✎ Reflection How much of your current leadership time is spent enforcing compliance? What is the opportunity cost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Alignment Hot Zones Across the Organisation?
The Alignment Brigade · The COMPASS framework identifies seven High Flammable Zones where human interpretation, emotional climate, and behaviour directly influence strategic outcomes. These are the leverage points — and the danger zones.
Section learning outcomes:
1. Recognise where interpretation, emotional climate and behaviour most strengthen or weaken alignment.
2. Identify the warning signals that alignment is escalating into crisis.
FACILITATOR GUIDANCE — Section 3 · Extrapolating
Section intent: Make the alignment concept specific and organisationally urgent. Leaders must finish this section knowing where their most significant alignment risks live, in named domains of their enterprise.
Diagnostic exercise: Before revealing the COMPASS narratives, ask participants to independently rate their organisation on each domain (1 = strong alignment, 5 = severe misalignment). Then compare ratings across the leadership team. Divergent ratings are themselves diagnostic. Suggested section time: 35–45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COMPASS FRAMEWORK: SEVEN HIGH FLAMMABLE ZONES (Click a Domain)
FACILITATOR GUIDANCE — Section 3.1
On the COMPASS cards: Invite leaders to click the domain they rated highest risk first. Then ask the group: “Who has a different view? Where does your assessment diverge?” Divergence in the room is itself a signal — name it explicitly.
Key distinction: High Flammables are leverage points — dangerous, but early intervention stabilises them. Burning Platforms are what happens when leverage points are ignored. The COMPASS diagnostic is about catching zones before they ignite. Suggested time: 18–22 minutes.
Content:
Click each COMPASS domain to explore the signal narrative, how it appears when lit, and the facilitation question that drives early intervention.
C
Clarity of Strategic Direction
O
Organisational Alignment
M
Management Discipline
P
People &amp; Capability
A
Allocation of Resources
S
Sensing &amp; Adaptation
S
Systems &amp; Execution
The Signal Narrative
The most dangerous fire in any organisation is the quiet combustion when leaders believe they are aligned but are navigating by different compasses. Clarity of Strategic Direction is whether people can describe the strategy in the same language, connect it to daily decisions, and hold it steady under pressure.
When this signal flares: confidence in meetings, confusion in corridors. Priorities multiply. Trade-offs are avoided. Frontline execution diverges from boardroom intent when the destination was never made unambiguous enough to follow.
Observable Indicators
Executives presenting polished strategies that fracture the moment they leave the room. Multiple competing priorities in different functions. Leaders spending time re-explaining decisions that should already be settled.
⚠ Signal lit: “Everyone has a different version of what we said.”
➤ Facilitation question: “Can every person in this room describe the top three strategic priorities in the same order, using the same language? Try it now.”
The Signal Narrative
Alignment is coordinated behaviour outside the room. Leaders declare alignment after a planning session, observe nodding in forums, and interpret absence of challenge as shared commitment. They are often wrong. True alignment is only visible in behaviour.
When this signal ignites, it burns slowly and spreads widely. Silos deepen. Functions execute their own version of the strategy. The informal system quietly undermines the formal one.
Observable Indicators
Agreements reached in meetings relitigated through resource approvals and parallel conversations. Initiatives requiring cross-functional collaboration consistently stall. Senior arbitration required for decisions that should be self-coordinating.
⚠ Signal lit: “We agreed on this — why is it not happening?”
➤ Facilitation question: “Where in your organisation do decisions made at the top not survive the journey to implementation? What sits between the decision and the delivery?”
The Signal Narrative
Strategy fails in the gap between what leaders decide and what managers actually enforce, measure, and hold accountable. Management Discipline is the signal that tells you whether the operating rhythm — reviews, escalation norms, accountability structures, governance forums — is a genuine engine of delivery or an elaborate performance of oversight.
When this signal flares, performance reviews recycle the same issues without resolution. The same gaps appear in consecutive cycles and are explained and left uncorrected.
Observable Indicators
Accountability is diffuse — owned collectively, which means owned by no one. Leaders tolerate persistent underperformance. The culture has decided that explanation is an acceptable substitute for consequence.
⚠ Signal lit: “We keep discussing the same issues with no resolution.”
➤ Facilitation question: “In your last three performance reviews, what was the single most recurring issue? Has it been resolved, or has it been re-explained?”
The Signal Narrative
Organisations frequently approve strategies that their people are not yet equipped to deliver. The People &amp; Capability signal is alight when there is a meaningful distance between the skills, capacity, and engagement required and what the organisation actually has available.
This signal is particularly dangerous because it is slow-burning and easy to rationalise. Leaders attribute execution failures to process or strategy when the root cause is a capability system never designed to carry the weight being placed on it.
Observable Indicators
Middle managers stretched beyond bandwidth. Succession plans that exist as documents but not operational reality. Engagement scores declining while leadership describes culture as resilient. Key talent exiting quietly. Institutional knowledge walking out the door.
⚠ Signal lit: “We have the strategy but not the people to execute it.”
➤ Facilitation question: “If you had to deliver your strategy with the team you have today — which specific capability gaps would most limit you? When did you last name those gaps explicitly?”
The Signal Narrative
An organisation’s true strategy is found in its budget. When this signal ignites, there is a visible gap between what leadership declares as strategic and what gets funded, staffed, and protected when decisions become difficult.
Legacy spend continues by inertia. New priorities are approved in language but starved in practice. The longer resources misalign with stated direction, the more credibility erodes, and the harder it becomes to mobilise genuine commitment behind any priority.
Observable Indicators
Stated priorities and funded priorities are clearly different. Strategy decks bear no resemblance to budget allocation. “Strategic” initiatives consistently underfunded or deferred. Leaders handed responsibility without resources to honour it.
⚠ Signal lit: “We say this is a priority but the resources tell a different story.”
➤ Facilitation question: “Look at your budget allocation. Does money follow the stated strategy? Where is the gap between declared priority and funded priority?”
The Signal Narrative
Markets shift. Customer needs evolve. Competitive dynamics change faster than planning cycles. The Sensing &amp; Adaptation signal measures whether the organisation is genuinely learning from what is happening around it — or whether it is processing information selectively, defending existing plans, and mistaking activity for responsiveness.
The deeper danger is cultural — when leaders learn that raising uncomfortable signals carries social cost, the organisation gradually loses its early warning system entirely.
Observable Indicators
Customer data reviewed but not acted on. Market shifts acknowledged then filed away. Leaders defending forecasts the evidence no longer supports. Early warning signals dismissed as noise. The organisation confuses having a strategy with having the right strategy.
⚠ Signal lit: “We knew this was coming, but we didn’t adapt fast enough.”
➤ Facilitation question: “What is one market or customer signal your organisation is receiving that is not yet reflected in your strategic plan? What would it take to act on it?”
The Signal Narrative
A new strategy running through an old machine will always produce the same result. Systems &amp; Execution asks the hardest question: is the organisation actually built to deliver what it has committed to, in its architecture? Does the operating model match the strategic priorities?
When this signal is lit, technology investments produce impressive demonstrations and negligible adoption. Operating models built for stability are asked to deliver agility. Leaders sense something fundamental is misaligned but reach for tactical interventions when what is required is a willingness to redesign the machine.
Observable Indicators
The organisation invests in transformation while being structurally configured to resist it. Structural ambiguities create friction compounding with every execution cycle. Leaders sense misalignment but add governance layers, urgency, or communication, and leave the structure unchanged.
⚠ Signal lit: “The structure is working against the strategy.”
➤ Facilitation question: “Is your current operating model designed for the strategy you have now — or for a strategy you had two years ago? What would redesigning the machine actually require?”
Participant file (3.1 — The COMPASS Framework: Seven High Flammable Zones) — prompts participants complete:
- ✎ Reflection — COMPASS Diagnostic Which domain did you rate highest risk? What is the observable evidence? Is it still a High Flammable or has it crossed to Burning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FROM HIGH FLAMMABLES TO BURNING PLATFORMS (Escalation Threshold)
FACILITATOR GUIDANCE — Section 3.2
On the escalation threshold: High Flammable Zones are pressure points with high leverage. They become Burning Platforms only when alignment is consistently absent and the zone crosses a tipping point. Ask: “Which of your COMPASS domains is closest to that threshold right now?”
Enterprise COMPASS Screening Tool: Available on demand. Helps teams move from vague alignment concerns to clear diagnosis and targeted intervention. Recommended for use at strategy reviews and execution forums. Suggested time: 8–10 minutes.
Enterprise COMPASS Screening Tool
Available on demand for structured diagnostic baseline. Used regularly during strategy reviews, execution forums, or leadership discussions to identify which zones are approaching the escalation threshold before they cross it. Converts vague “alignment concerns” into specific diagnosis and targeted intervention.
Content:
High Flammable Zone
Organisational leverage points. When alignment is strong: rapid clarity, coordinated effort, compounding momentum. When alignment is weak: distorted interpretation, defensive behaviour, multiplying friction.
✓ Early intervention stabilises the zone and converts it into a performance amplifier.
Burning Platform
What a High Flammable becomes when misalignment persists and crosses the escalation threshold. By this point, execution breakdown is visible and costly. Reactive interventions cost exponentially more than proactive alignment would have.
⚠ The same zone that was manageable as a leverage point becomes a crisis requiring systemic rebuilding.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How Aligning Heart &amp; Mind Creates Collective Intelligence
The Converging Zone · The executive team enters the Converging Zone, where individual functional perspectives integrate into a shared leadership interpretation. At this point, the leadership team begins operating as a single leadership system, stabilising all seven COMPASS domains.
Section learning outcomes:
1. Explain how individual alignment responsibilities combine into a coherent enterprise interpretation.
2. Recognise where gaps in role alignment create enterprise vulnerability.
FACILITATOR GUIDANCE — Section 4 · Integration
Section intent: Lift the focus from individual alignment to systemic leadership alignment. The Converging Zone is where individual functional expertise becomes coordinated leadership judgement. Without this, the organisation receives multiple interpretations of strategy, causing instability across all seven COMPASS domains.
On the role grid: Ask each leader to click their own role card first. Then: “Do you recognise this description? Is this how your team experiences your alignment contribution?” Then invite leaders to look at each other’s cards. This is particularly powerful when the full CXO team is in the room. Suggested section time: 30–40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CONVERGING ZONE: WHAT COLLECTIVE INTELLIGENCE CREATES (Foundation)
FACILITATOR GUIDANCE — Section 4.1
Two states exercise: Ask leaders to identify which state their organisation is currently closer to. Then: “What is the single most important convergence you need to achieve before your next major strategy initiative?” Suggested time: 8–10 minutes.
Content:
With Collective Intelligence
Direction remains clear across all layers
Resources reinforce priorities
Systems enable execution
People move with coordinated effort
✓ One coherent signal across the organisation. COMPASS domains become leverage points for performance.
Without Collective Intelligence
Different leaders transmit different interpretations
COMPASS domains begin to drift
Functions receive competing signals
Strategic instability spreads invisibly
⚠ Multiple conflicting signals. Leverage zones become sources of execution friction.
Participant file (4.1 — The Converging Zone: What Collective Intelligence Creates) — prompts participants complete:
- ✎ Reflection Which state is your organisation currently closer to? What is the single most important convergence you need to achieve before your next major strategy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COLLECTIVE INTELLIGENCE ACROSS THE LEADERSHIP TEAM (Click a Role)
FACILITATOR GUIDANCE — Section 4.2
Key facilitation: After each leader has reviewed their own role, invite them to look at the role most adjacent to theirs. Ask: “What is the most important alignment conversation you need to have with that role in the next 30 days?” The answer frequently becomes a direct post-session commitment. Suggested time: 15–18 minutes.
Content:
Click a role to explore how each CXO function contributes to Collective Intelligence and which COMPASS domains it most directly activates.
CEO
Chief Executive
CFO
Chief Financial
COO
Chief Operating
CHRO
Chief Human Resources
CTO/CIO
Chief Technology/Information
CMO
Chief Marketing
CCO
Chief Commercial
CPO
Chief Procurement
CRO
Chief Risk
CSO
Chief Strategy
Converging Zone Contribution
Integrates all seven COMPASS domains into one coherent strategic narrative. Ensures direction, priorities, and trade-offs are communicated with one leadership voice. The CEO’s primary alignment responsibility is preventing the “Chinese Whispers” effect by keeping the strategic story intact as it moves through the organisation.
Primary COMPASS Activation
Clarity of DirectionOrganisational Alignment
When the CEO’s alignment is absent or inconsistent, all other roles struggle to converge — the COMPASS framework loses its anchor point.
Converging Zone Contribution
Ensures capital allocation and financial discipline reinforce strategic intent and concentrate resources on the agreed priorities. The CFO’s alignment responsibility is making the budget reflect the stated strategy — and having the courage to make trade-offs visible when they arise.
Primary COMPASS Activation
Allocation of ResourcesManagement Discipline
When the CFO’s alignment is absent, resources follow inertia, and the credibility of strategic priorities collapses.
Converging Zone Contribution
Converts strategy into operational flow, ensuring execution routines, coordination, and hand-offs move the organisation forward. The COO’s alignment responsibility is ensuring the operating system is configured for the current strategy.
Primary COMPASS Activation
Systems &amp; ExecutionManagement Discipline
When COO alignment is absent, execution machinery runs efficiently but in the wrong direction.
Converging Zone Contribution
Aligns leadership behaviour, capability development, and organisational trust with the strategic direction. The CHRO’s alignment responsibility is ensuring the human system has the capacity, engagement, and psychological safety to carry the strategy forward.
Primary COMPASS Activation
People &amp; CapabilityOrganisational Alignment
When CHRO alignment is absent, strategy consistently exceeds the human system’s capacity to carry it.
Converging Zone Contribution
Aligns technology architecture and data capability with the organisation’s strategic priorities and future operating model. The CTO/CIO’s alignment responsibility is ensuring technology investments actually change how the organisation works.
Primary COMPASS Activation
Systems &amp; ExecutionSensing &amp; Adaptation
When CTO/CIO alignment is absent, technology investments produce demonstrations with no capability shift.
Converging Zone Contribution
Aligns market positioning and brand promise with the organisation’s operational ability to deliver. The CMO’s alignment responsibility is ensuring that demand created externally can be fulfilled internally — and that the brand promise is one the organisation can keep consistently.
Primary COMPASS Activation
Clarity of DirectionSensing &amp; Adaptation
When CMO alignment is absent, market signals are disconnected from strategic direction, and brand promises outpace operational reality.
Converging Zone Contribution
Aligns revenue generation and customer growth strategies with enterprise positioning and operational capacity. The CCO’s alignment responsibility is ensuring all deals strengthen the organisation’s distinctive positioning — that all revenue is strategic revenue.
Primary COMPASS Activation
Allocation of ResourcesOrganisational Alignment
When CCO alignment is absent, growth strategies create internal incoherence that compounds over time.
Converging Zone Contribution
Ensures procurement decisions strengthen operational capability and reinforce strategic priorities. The CPO’s alignment responsibility is ensuring cost efficiency decisions serve the customer’s end-game and the strategy’s priorities.
Primary COMPASS Activation
Systems &amp; ExecutionAllocation of Resources
When CPO alignment is absent, procurement optimises for cost at the expense of strategic capability.
Converging Zone Contribution
Aligns enterprise risk interpretation so that strategic initiatives operate within a shared risk appetite framework. The CRO’s alignment responsibility is ensuring risk assessment enables strategic ambition — and that risk tolerance is consistently interpreted across all functions.
Primary COMPASS Activation
Management DisciplineSystems &amp; Execution
When CRO alignment is absent, risk appetite becomes function-by-function interpretation, creating asymmetric exposure.
Converging Zone Contribution
Maintains the integrity of the strategic narrative as it moves from formulation into execution across the organisation. The CSO’s alignment responsibility is ensuring the strategy survives the transition from idea to implementation — that strategic intent does not mutate as it moves through the organisation.
Primary COMPASS Activation
Clarity of DirectionSensing &amp; Adaptation
When CSO alignment is absent, the strategic narrative fragments and different layers execute different versions of the strategy.
Participant file (4.2 — Collective Intelligence Across the Leadership Team) — prompts participants complete:
- ✎ Reflection What is the most important alignment conversation you need to have with a closely adjacent role in the next 30 days? What would that conversation need to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Building Collective Intelligence Through Shared Interpretation
Application · This exercise highlights how Collective Intelligence emerges when leaders understand each other’s alignment responsibilities. The goal: move from individual interpretations to a shared understanding of how roles jointly stabilise all seven COMPASS domains.
Section learning outcomes:
1. Formulate a shared interpretation of how leadership roles connect to support coordinated action.
2. Demonstrate commitment through a behavioural change that strengthens collective alignment.
FACILITATOR GUIDANCE — Section 5 · Application
Timing: Step 1 is individual — 12–15 minutes. Step 2 is paired exchange — 15–20 minutes. Step 3 is plenary synthesis — 20–25 minutes. Do not rush Steps 1–2. The quality of the plenary depends entirely on the depth of individual reflection and peer dialogue that precedes it.
Facilitation principle: Your role in the plenary is to name patterns. When leaders disagree about connectivity, name it explicitly: “That disagreement tells us something important about how alignment responsibilities are currently experienced in this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EXERCISE · STEPS 1–3
FACILITATOR GUIDANCE — Step 1
Briefing: Each person works independently. They complete the table for their own role first, then for two closely related roles. The “How We Create Collective Intelligence” column must go beyond job description — it should describe the alignment mechanism the role provides to the organisation.
Watch for: Participants who list tasks; push them to name alignment contributions. Redirect: “That’s what you do — what happens to the organisation’s alignment when you do it well? And when you don’t?”
FACILITATOR GUIDANCE
Participants complete the map for their own role and two closely related roles. Circulate and check that each row names a specific COMPASS domain and a concrete collaboration behaviour.
FACILITATOR GUIDANCE — Step 2
Process: Each leader shares their table with the colleague(s) whose role they selected. Three exchange questions: (1) Do you agree with how I described your alignment contribution? (2) How else do you create Collective Intelligence that I missed? (3) Where do our interpretations diverge?
Key facilitation move: Where leaders disagree, do not resolve it. Name it explicitly: “That disagreement is diagnostic. It tells you something about how these roles are currently experienced in the organisation.”
FACILITATOR GUIDANCE
Pair participants from closely related roles. Allow five minutes per person, then ask each pair where their interpretations diverged. Treat divergence as diagnostic and leave it unresolved.
FACILITATOR GUIDANCE — Step 3
Synthesis question: “Looking at all the tables in the room — which COMPASS domain appears most frequently as underactivated or poorly understood? That is your team’s most critical alignment vulnerability.”
Closing commitment: Each leader names one specific behavioural change in the next 30 days to strengthen their alignment contribution. Make these visible — write them on the board or capture them centrally. Follow up at the next leadership forum.
FACILITATOR GUIDANCE
Facilitate the group synthesis: the most underactivated COMPASS domain, shared strengths and connectivity gaps. Close by asking each participant to read one 30-day behavioural commitment aloud.
Content:
Step 1
Individual Reflection
Step 2
Exchange &amp; Dialogue
Step 3
Plenary Synthesis
Work independently. Complete the table for your own role and for two closely related roles. Focus on the alignment mechanism.
Unit Outcome: The organisation leaves this session with aligned leadership interpretation, emotional commitment to the strategy, and clear visibility of the conditions that will enable or constrain execution — the human foundation for the next stage of the Strategy2Results® journey.
Participant file (Section 5) — what participants complete:
Work independently. Complete the table for your own role and for two closely related roles. Focus on the alignment mechanism.
👥 Team &amp; Executive Identity
Identify yourself and your team so your facilitator can attribute this working paper.
Team Name
Your Name
Your Role
Row 1: Your Own Role
Leadership Role
Top Two COMPASS Domains Activated
How I Create Collective Intelligence
Row 2: First Closely Related Role
Leadership Role
Top Two COMPASS Domains Activated
Why This Role’s Alignment Is Critical to Mine
Row 3: Second Closely Related Role
Leadership Role
Top Two COMPASS Domains Activated
What Would Strengthen Our Alignment
Share your table with the colleague(s) whose role you selected. Three exchange questions to explore together:
Exchange 1: Does your colleague agree with how you described their alignment contribution?
Exchange 2: Additional connectivity your colleague identified
Exchange 3: Where your interpretations diverged and what that signals
Most Frequently Underactivated COMPASS Domain(s)
Shared Patterns — Where Alignment Is Already Strong
Your 30-Day Behavioural Commitment
Unit Outcome: The organisation leaves this session with aligned leadership interpretation, emotional commitment to the strategy, and clear visibility of the conditions that will enable or constrain execution — the human foundation for the next stage of the Strategy2Results®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5 synthesis)
FACILITATOR GUIDANCE — Unit Summary
Closing the unit: Use this summary to close the session, to brief sponsors or observers beforehand, or to re-anchor the group at the start of a later session. Reserve the final five minutes for one pointed question: “Which COMPASS domain is this team most likely rating too generously — and which executive role has quietly stopped carrying its alignment responsibility there?” It is also the reference point for connecting this unit to what follows — Performance Management Setup and the translation of strategy into individual accountability across the enterprise.
Content:
This session was about the human conditions that decide whether a strategy ever moves. We have all watched sound strategies stall because the people meant to execute it never aligned in how they interpreted it or whether they were committed to it. Aligning Hearts &amp; Minds treated execution as first a human problem: strategy moves through people before it moves through systems.
Here is a recap of how we moved from fragmented functional interpretations to a single, committed leadership signal.
1 — Awareness: Strategy Enters Through Two Human Filters
We began with the What. Strategy enters through Cognition (Mind), how each leader interprets it, and Emotion (Heart), how each leader experiences it. When these diverge across a team, the Functional Bias Problem fragments execution into competing interpretations. The unit established Five Principles:
Strategy Moves Through People — direction is carried by interpretation.
Misalignment Fragments Effort — surfacing as Chinese Whispers, Clarification Debt, and Silent Disengagement.
Alignment Must Be Designed — diagnosed with the OCEAVL Assessment and the Emotional Climate Assessment.
Human Reactions Are Predictable — the SCARF Model (Status, Certainty, Autonomy, Relatedness, Fairness) trips the same threat circuitry as physical danger.
Execution Must Be Visible in Behaviour — the ACE-IT standard: Accountability, Commitment, Engagement, Integrity, Transparency.
2 — Intelligence: Why Alignment Is the Ignition Point
This stage explored the Why. Heart &amp; Mind alignment is the ignition point that converts strategic potential energy (the document at rest) into kinetic energy (movement and results). Three logics make the stakes operational:
Potential vs Kinetic Energy — the organisation does not move until people decide to move it.
Compliance vs Commitment — compliance (Mind only) yields short-term output but is mechanical and consumes leadership time; commitment (Mind + Heart) generates discretionary effort, adaptive problem-solving, and resilience when leaders are not present.
The Strategic Payoff — aligned teams act with ownership, coordinate across functions, and free leaders to advance strategy.
3 — Extrapolating: Where Misalignment Concentrates
Next, the Where. Misalignment concentrates in seven High Flammable Zones, mapped by the COMPASS framework:
Clarity of Strategic Direction
Organisational Alignment
Management Discipline
People &amp; Capability
Allocation of Resources
Sensing &amp; Adaptation
Systems &amp; Execution
Each domain carries a signal narrative and a diagnostic question, and is rated 1 (strong alignment) to 5 (severe misalignment). A lit zone is either a High Flammable — a live leverage point — or a Burning Platform, escalated and consuming resources. Mapping where the signals are lit tells leaders where alignment work earns the highest return.
4 — Converging Zone: Collective Intelligence
The session culminated in the Converging Zone, where functional interpretations integrate into a shared leadership signal and the team begins operating as a single leadership system. Each CXO role carries a distinct alignment responsibility, mapped to two primary COMPASS activations:
CEO — anchors Clarity of Strategic Direction and Organisational Alignment
CFO / CPO — activate Allocation of Resources
COO / CTO / CRO — drive Systems &amp; Execution
CHRO — carries People &amp; Capability
CMO / CSO — maintain Clarity and Sensing &amp; Adaptation
When any role drops its responsibility, the COMPASS framework loses an anchor and the rest cannot fully converge. Collective Intelligence is the combined signal.
Aligned hearts and minds turn a strategy from a document the organisation has read into a direction the organisation is willing to move on — the human foundation for Performance Management Setup and the translation of strategy into individual accountability across the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The human operating system that moves strategy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Critically examine how functional expertise, personality, cognitive bias and emotional conditions influence the interpretation of strategy.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organisational conditions that strengthen or weaken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Formulate a coherent enterprise interpretation that supports consistent decisions and coordinated action.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Examine how functional expertise, cognitive bias and emotion shape the interpretation of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triggers of resistance and the behaviours that sustain alignment.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Cognition — Mind</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How strategy is interpreted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Professional expertise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Mental shortcuts and past experience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Risk perception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Emotion — Heart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How strategy is experienced</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Engagement energy and morale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Friction load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Psychological safety and values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Five principles of aligning heart and mind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Strategy Moves Through People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Misalignment Fragments Effort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Alignment Must Be Designed</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Human Reactions Are Predictable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a:t>
            </a:r>
            <a:pPr indent="0" marL="0">
              <a:buNone/>
            </a:pPr>
            <a:r>
              <a:rPr lang="en-US" sz="2600" dirty="0">
                <a:solidFill>
                  <a:srgbClr val="1F2A22"/>
                </a:solidFill>
                <a:latin typeface="Calibri" pitchFamily="34" charset="0"/>
                <a:ea typeface="Calibri" pitchFamily="34" charset="-122"/>
                <a:cs typeface="Calibri" pitchFamily="34" charset="-120"/>
              </a:rPr>
              <a:t>Execution Must Be Visible in Behaviour</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Principle 2: the cost of misalignment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60–80% of leadership time spent re-explaining.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Outward compliance, inward withdrawal.</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Low alignment: 41% lower productivity, 48% higher turnover (Gallup; PMI).</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SCARF: five triggers of human resistance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Status  </a:t>
            </a:r>
            <a:pPr indent="0" marL="0">
              <a:buNone/>
            </a:pP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Certainty  </a:t>
            </a:r>
            <a:pPr indent="0" marL="0">
              <a:buNone/>
            </a:pP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Autonomy  </a:t>
            </a:r>
            <a:pPr indent="0" marL="0">
              <a:buNone/>
            </a:pP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Relatedness  </a:t>
            </a:r>
            <a:pPr indent="0" marL="0">
              <a:buNone/>
            </a:pP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Fairness  </a:t>
            </a:r>
            <a:pPr indent="0" marL="0">
              <a:buNone/>
            </a:pP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ACE-IT: the observable behaviour standard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Accountability  </a:t>
            </a:r>
            <a:pPr indent="0" marL="0">
              <a:buNone/>
            </a:pPr>
            <a:r>
              <a:rPr lang="en-US" sz="2600" dirty="0">
                <a:solidFill>
                  <a:srgbClr val="1F2A22"/>
                </a:solidFill>
                <a:latin typeface="Calibri" pitchFamily="34" charset="0"/>
                <a:ea typeface="Calibri" pitchFamily="34" charset="-122"/>
                <a:cs typeface="Calibri" pitchFamily="34" charset="-120"/>
              </a:rPr>
              <a:t>full ownership for results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Commitment  </a:t>
            </a:r>
            <a:pPr indent="0" marL="0">
              <a:buNone/>
            </a:pPr>
            <a:r>
              <a:rPr lang="en-US" sz="2600" dirty="0">
                <a:solidFill>
                  <a:srgbClr val="1F2A22"/>
                </a:solidFill>
                <a:latin typeface="Calibri" pitchFamily="34" charset="0"/>
                <a:ea typeface="Calibri" pitchFamily="34" charset="-122"/>
                <a:cs typeface="Calibri" pitchFamily="34" charset="-120"/>
              </a:rPr>
              <a:t>anchored to agreed strategic intent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Engagement  </a:t>
            </a:r>
            <a:pPr indent="0" marL="0">
              <a:buNone/>
            </a:pPr>
            <a:r>
              <a:rPr lang="en-US" sz="2600" dirty="0">
                <a:solidFill>
                  <a:srgbClr val="1F2A22"/>
                </a:solidFill>
                <a:latin typeface="Calibri" pitchFamily="34" charset="0"/>
                <a:ea typeface="Calibri" pitchFamily="34" charset="-122"/>
                <a:cs typeface="Calibri" pitchFamily="34" charset="-120"/>
              </a:rPr>
              <a:t>listening to understand</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 · Integrity  </a:t>
            </a:r>
            <a:pPr indent="0" marL="0">
              <a:buNone/>
            </a:pPr>
            <a:r>
              <a:rPr lang="en-US" sz="2600" dirty="0">
                <a:solidFill>
                  <a:srgbClr val="1F2A22"/>
                </a:solidFill>
                <a:latin typeface="Calibri" pitchFamily="34" charset="0"/>
                <a:ea typeface="Calibri" pitchFamily="34" charset="-122"/>
                <a:cs typeface="Calibri" pitchFamily="34" charset="-120"/>
              </a:rPr>
              <a:t>consistent with values, facts and truth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 · Transparency  </a:t>
            </a:r>
            <a:pPr indent="0" marL="0">
              <a:buNone/>
            </a:pPr>
            <a:r>
              <a:rPr lang="en-US" sz="2600" dirty="0">
                <a:solidFill>
                  <a:srgbClr val="1F2A22"/>
                </a:solidFill>
                <a:latin typeface="Calibri" pitchFamily="34" charset="0"/>
                <a:ea typeface="Calibri" pitchFamily="34" charset="-122"/>
                <a:cs typeface="Calibri" pitchFamily="34" charset="-120"/>
              </a:rPr>
              <a:t>reasoning, progress and constraints visible</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shared understanding and commitment convert strategy into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execution driven by commitment from execution driven by compliance.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Compliance and commitment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Compliance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Mind only</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Authority, rules or monitoring</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Continuous supervision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Mechanical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Commitment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Mind and heart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Understanding, belief,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Discretionary effort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Resilient when leaders are absent</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is the conversion point where strategic potential becomes movement.</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Alignment Hot Zones Across the Organisation?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interpretation, emotional climate and behaviour most strengthen or weaken alignment.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warning signals that alignment is escalating into crisis.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COMPASS: seven High Flammable Zones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Clarity of Strategic Direction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From High Flammable to Burning Platform</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High Flammable Zone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A leverage point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Strong alignment: compounding momentum</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Weak alignment: multiplying friction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Early intervention stabilises it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Burning Platform</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Past the escalation threshold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Breakdown visible and costly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Reactive fixes cost far more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systemic rebuilding</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individual alignment responsibilities combine into a coherent enterprise interpretation.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gaps in role alignment create enterprise vulnerability.</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Converging Zone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Without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Collective Intelligence</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Different interpretations transmitted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COMPASS domains drift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Competing signals</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With</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Collective Intelligence</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Direction clear across all layers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reinforce priorities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One coherent signal</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Collective intelligence by role</a:t>
            </a:r>
            <a:endParaRPr lang="en-US" sz="3600" dirty="0"/>
          </a:p>
        </p:txBody>
      </p:sp>
      <p:sp>
        <p:nvSpPr>
          <p:cNvPr id="3" name="Text 1"/>
          <p:cNvSpPr txBox="1"/>
          <p:nvPr/>
        </p:nvSpPr>
        <p:spPr>
          <a:xfrm>
            <a:off x="548640" y="1417320"/>
            <a:ext cx="1097280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Primary COMPASS activation by role</a:t>
            </a:r>
            <a:endParaRPr lang="en-US" sz="2400" dirty="0"/>
          </a:p>
        </p:txBody>
      </p:sp>
      <p:sp>
        <p:nvSpPr>
          <p:cNvPr id="4" name="Shape 2"/>
          <p:cNvSpPr/>
          <p:nvPr/>
        </p:nvSpPr>
        <p:spPr>
          <a:xfrm>
            <a:off x="548640" y="1965960"/>
            <a:ext cx="5440680" cy="777240"/>
          </a:xfrm>
          <a:prstGeom prst="roundRect">
            <a:avLst>
              <a:gd name="adj" fmla="val 11765"/>
            </a:avLst>
          </a:prstGeom>
          <a:solidFill>
            <a:srgbClr val="EEF4EF"/>
          </a:solidFill>
          <a:ln w="12700">
            <a:solidFill>
              <a:srgbClr val="EEF4EF"/>
            </a:solidFill>
            <a:prstDash val="solid"/>
          </a:ln>
        </p:spPr>
      </p:sp>
      <p:sp>
        <p:nvSpPr>
          <p:cNvPr id="5" name="Text 3"/>
          <p:cNvSpPr txBox="1"/>
          <p:nvPr/>
        </p:nvSpPr>
        <p:spPr>
          <a:xfrm>
            <a:off x="777240" y="1965960"/>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Clarity · Alignment</a:t>
            </a:r>
            <a:endParaRPr lang="en-US" sz="2400" dirty="0"/>
          </a:p>
        </p:txBody>
      </p:sp>
      <p:sp>
        <p:nvSpPr>
          <p:cNvPr id="6" name="Shape 4"/>
          <p:cNvSpPr/>
          <p:nvPr/>
        </p:nvSpPr>
        <p:spPr>
          <a:xfrm>
            <a:off x="6172200" y="1965960"/>
            <a:ext cx="5440680" cy="777240"/>
          </a:xfrm>
          <a:prstGeom prst="roundRect">
            <a:avLst>
              <a:gd name="adj" fmla="val 11765"/>
            </a:avLst>
          </a:prstGeom>
          <a:solidFill>
            <a:srgbClr val="EEF4EF"/>
          </a:solidFill>
          <a:ln w="12700">
            <a:solidFill>
              <a:srgbClr val="EEF4EF"/>
            </a:solidFill>
            <a:prstDash val="solid"/>
          </a:ln>
        </p:spPr>
      </p:sp>
      <p:sp>
        <p:nvSpPr>
          <p:cNvPr id="7" name="Text 5"/>
          <p:cNvSpPr txBox="1"/>
          <p:nvPr/>
        </p:nvSpPr>
        <p:spPr>
          <a:xfrm>
            <a:off x="6400800" y="1965960"/>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Resources · Discipline</a:t>
            </a:r>
            <a:endParaRPr lang="en-US" sz="2400" dirty="0"/>
          </a:p>
        </p:txBody>
      </p:sp>
      <p:sp>
        <p:nvSpPr>
          <p:cNvPr id="8" name="Shape 6"/>
          <p:cNvSpPr/>
          <p:nvPr/>
        </p:nvSpPr>
        <p:spPr>
          <a:xfrm>
            <a:off x="548640" y="2862072"/>
            <a:ext cx="5440680" cy="777240"/>
          </a:xfrm>
          <a:prstGeom prst="roundRect">
            <a:avLst>
              <a:gd name="adj" fmla="val 11765"/>
            </a:avLst>
          </a:prstGeom>
          <a:solidFill>
            <a:srgbClr val="EEF4EF"/>
          </a:solidFill>
          <a:ln w="12700">
            <a:solidFill>
              <a:srgbClr val="EEF4EF"/>
            </a:solidFill>
            <a:prstDash val="solid"/>
          </a:ln>
        </p:spPr>
      </p:sp>
      <p:sp>
        <p:nvSpPr>
          <p:cNvPr id="9" name="Text 7"/>
          <p:cNvSpPr txBox="1"/>
          <p:nvPr/>
        </p:nvSpPr>
        <p:spPr>
          <a:xfrm>
            <a:off x="777240" y="2862072"/>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Systems · Discipline</a:t>
            </a:r>
            <a:endParaRPr lang="en-US" sz="2400" dirty="0"/>
          </a:p>
        </p:txBody>
      </p:sp>
      <p:sp>
        <p:nvSpPr>
          <p:cNvPr id="10" name="Shape 8"/>
          <p:cNvSpPr/>
          <p:nvPr/>
        </p:nvSpPr>
        <p:spPr>
          <a:xfrm>
            <a:off x="6172200" y="2862072"/>
            <a:ext cx="5440680" cy="777240"/>
          </a:xfrm>
          <a:prstGeom prst="roundRect">
            <a:avLst>
              <a:gd name="adj" fmla="val 11765"/>
            </a:avLst>
          </a:prstGeom>
          <a:solidFill>
            <a:srgbClr val="EEF4EF"/>
          </a:solidFill>
          <a:ln w="12700">
            <a:solidFill>
              <a:srgbClr val="EEF4EF"/>
            </a:solidFill>
            <a:prstDash val="solid"/>
          </a:ln>
        </p:spPr>
      </p:sp>
      <p:sp>
        <p:nvSpPr>
          <p:cNvPr id="11" name="Text 9"/>
          <p:cNvSpPr txBox="1"/>
          <p:nvPr/>
        </p:nvSpPr>
        <p:spPr>
          <a:xfrm>
            <a:off x="6400800" y="2862072"/>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 Alignment</a:t>
            </a:r>
            <a:endParaRPr lang="en-US" sz="2400" dirty="0"/>
          </a:p>
        </p:txBody>
      </p:sp>
      <p:sp>
        <p:nvSpPr>
          <p:cNvPr id="12" name="Shape 10"/>
          <p:cNvSpPr/>
          <p:nvPr/>
        </p:nvSpPr>
        <p:spPr>
          <a:xfrm>
            <a:off x="548640" y="3758184"/>
            <a:ext cx="5440680" cy="777240"/>
          </a:xfrm>
          <a:prstGeom prst="roundRect">
            <a:avLst>
              <a:gd name="adj" fmla="val 11765"/>
            </a:avLst>
          </a:prstGeom>
          <a:solidFill>
            <a:srgbClr val="EEF4EF"/>
          </a:solidFill>
          <a:ln w="12700">
            <a:solidFill>
              <a:srgbClr val="EEF4EF"/>
            </a:solidFill>
            <a:prstDash val="solid"/>
          </a:ln>
        </p:spPr>
      </p:sp>
      <p:sp>
        <p:nvSpPr>
          <p:cNvPr id="13" name="Text 11"/>
          <p:cNvSpPr txBox="1"/>
          <p:nvPr/>
        </p:nvSpPr>
        <p:spPr>
          <a:xfrm>
            <a:off x="777240" y="3758184"/>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Systems · Sensing</a:t>
            </a:r>
            <a:endParaRPr lang="en-US" sz="2400" dirty="0"/>
          </a:p>
        </p:txBody>
      </p:sp>
      <p:sp>
        <p:nvSpPr>
          <p:cNvPr id="14" name="Shape 12"/>
          <p:cNvSpPr/>
          <p:nvPr/>
        </p:nvSpPr>
        <p:spPr>
          <a:xfrm>
            <a:off x="6172200" y="3758184"/>
            <a:ext cx="5440680" cy="777240"/>
          </a:xfrm>
          <a:prstGeom prst="roundRect">
            <a:avLst>
              <a:gd name="adj" fmla="val 11765"/>
            </a:avLst>
          </a:prstGeom>
          <a:solidFill>
            <a:srgbClr val="EEF4EF"/>
          </a:solidFill>
          <a:ln w="12700">
            <a:solidFill>
              <a:srgbClr val="EEF4EF"/>
            </a:solidFill>
            <a:prstDash val="solid"/>
          </a:ln>
        </p:spPr>
      </p:sp>
      <p:sp>
        <p:nvSpPr>
          <p:cNvPr id="15" name="Text 13"/>
          <p:cNvSpPr txBox="1"/>
          <p:nvPr/>
        </p:nvSpPr>
        <p:spPr>
          <a:xfrm>
            <a:off x="6400800" y="3758184"/>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Clarity · Sensing</a:t>
            </a:r>
            <a:endParaRPr lang="en-US" sz="2400" dirty="0"/>
          </a:p>
        </p:txBody>
      </p:sp>
      <p:sp>
        <p:nvSpPr>
          <p:cNvPr id="16" name="Shape 14"/>
          <p:cNvSpPr/>
          <p:nvPr/>
        </p:nvSpPr>
        <p:spPr>
          <a:xfrm>
            <a:off x="548640" y="4654296"/>
            <a:ext cx="5440680" cy="777240"/>
          </a:xfrm>
          <a:prstGeom prst="roundRect">
            <a:avLst>
              <a:gd name="adj" fmla="val 11765"/>
            </a:avLst>
          </a:prstGeom>
          <a:solidFill>
            <a:srgbClr val="EEF4EF"/>
          </a:solidFill>
          <a:ln w="12700">
            <a:solidFill>
              <a:srgbClr val="EEF4EF"/>
            </a:solidFill>
            <a:prstDash val="solid"/>
          </a:ln>
        </p:spPr>
      </p:sp>
      <p:sp>
        <p:nvSpPr>
          <p:cNvPr id="17" name="Text 15"/>
          <p:cNvSpPr txBox="1"/>
          <p:nvPr/>
        </p:nvSpPr>
        <p:spPr>
          <a:xfrm>
            <a:off x="777240" y="4654296"/>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Resources · Alignment</a:t>
            </a:r>
            <a:endParaRPr lang="en-US" sz="2400" dirty="0"/>
          </a:p>
        </p:txBody>
      </p:sp>
      <p:sp>
        <p:nvSpPr>
          <p:cNvPr id="18" name="Shape 16"/>
          <p:cNvSpPr/>
          <p:nvPr/>
        </p:nvSpPr>
        <p:spPr>
          <a:xfrm>
            <a:off x="6172200" y="4654296"/>
            <a:ext cx="5440680" cy="777240"/>
          </a:xfrm>
          <a:prstGeom prst="roundRect">
            <a:avLst>
              <a:gd name="adj" fmla="val 11765"/>
            </a:avLst>
          </a:prstGeom>
          <a:solidFill>
            <a:srgbClr val="EEF4EF"/>
          </a:solidFill>
          <a:ln w="12700">
            <a:solidFill>
              <a:srgbClr val="EEF4EF"/>
            </a:solidFill>
            <a:prstDash val="solid"/>
          </a:ln>
        </p:spPr>
      </p:sp>
      <p:sp>
        <p:nvSpPr>
          <p:cNvPr id="19" name="Text 17"/>
          <p:cNvSpPr txBox="1"/>
          <p:nvPr/>
        </p:nvSpPr>
        <p:spPr>
          <a:xfrm>
            <a:off x="6400800" y="4654296"/>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Systems · Resources</a:t>
            </a:r>
            <a:endParaRPr lang="en-US" sz="2400" dirty="0"/>
          </a:p>
        </p:txBody>
      </p:sp>
      <p:sp>
        <p:nvSpPr>
          <p:cNvPr id="20" name="Shape 18"/>
          <p:cNvSpPr/>
          <p:nvPr/>
        </p:nvSpPr>
        <p:spPr>
          <a:xfrm>
            <a:off x="548640" y="5550408"/>
            <a:ext cx="5440680" cy="777240"/>
          </a:xfrm>
          <a:prstGeom prst="roundRect">
            <a:avLst>
              <a:gd name="adj" fmla="val 11765"/>
            </a:avLst>
          </a:prstGeom>
          <a:solidFill>
            <a:srgbClr val="EEF4EF"/>
          </a:solidFill>
          <a:ln w="12700">
            <a:solidFill>
              <a:srgbClr val="EEF4EF"/>
            </a:solidFill>
            <a:prstDash val="solid"/>
          </a:ln>
        </p:spPr>
      </p:sp>
      <p:sp>
        <p:nvSpPr>
          <p:cNvPr id="21" name="Text 19"/>
          <p:cNvSpPr txBox="1"/>
          <p:nvPr/>
        </p:nvSpPr>
        <p:spPr>
          <a:xfrm>
            <a:off x="777240" y="5550408"/>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Discipline · Systems</a:t>
            </a:r>
            <a:endParaRPr lang="en-US" sz="2400" dirty="0"/>
          </a:p>
        </p:txBody>
      </p:sp>
      <p:sp>
        <p:nvSpPr>
          <p:cNvPr id="22" name="Shape 20"/>
          <p:cNvSpPr/>
          <p:nvPr/>
        </p:nvSpPr>
        <p:spPr>
          <a:xfrm>
            <a:off x="6172200" y="5550408"/>
            <a:ext cx="5440680" cy="777240"/>
          </a:xfrm>
          <a:prstGeom prst="roundRect">
            <a:avLst>
              <a:gd name="adj" fmla="val 11765"/>
            </a:avLst>
          </a:prstGeom>
          <a:solidFill>
            <a:srgbClr val="EEF4EF"/>
          </a:solidFill>
          <a:ln w="12700">
            <a:solidFill>
              <a:srgbClr val="EEF4EF"/>
            </a:solidFill>
            <a:prstDash val="solid"/>
          </a:ln>
        </p:spPr>
      </p:sp>
      <p:sp>
        <p:nvSpPr>
          <p:cNvPr id="23" name="Text 21"/>
          <p:cNvSpPr txBox="1"/>
          <p:nvPr/>
        </p:nvSpPr>
        <p:spPr>
          <a:xfrm>
            <a:off x="6400800" y="5550408"/>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Clarity · Sensing</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Collective Intelligence Through Shared Interpretation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a shared interpretation of how leadership roles connect to support coordinated action.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commitment through a behavioural change that strengthens collective alignment.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Mapping how our roles connect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 Individual Reflection (12–15 min):  </a:t>
            </a:r>
            <a:pPr indent="0" marL="0">
              <a:buNone/>
            </a:pPr>
            <a:r>
              <a:rPr lang="en-US" sz="2600" dirty="0">
                <a:solidFill>
                  <a:srgbClr val="1F2A22"/>
                </a:solidFill>
                <a:latin typeface="Calibri" pitchFamily="34" charset="0"/>
                <a:ea typeface="Calibri" pitchFamily="34" charset="-122"/>
                <a:cs typeface="Calibri" pitchFamily="34" charset="-120"/>
              </a:rPr>
              <a:t>your role and two related roles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 Exchange &amp; Dialogue (15–20 min):  </a:t>
            </a:r>
            <a:pPr indent="0" marL="0">
              <a:buNone/>
            </a:pPr>
            <a:r>
              <a:rPr lang="en-US" sz="2600" dirty="0">
                <a:solidFill>
                  <a:srgbClr val="1F2A22"/>
                </a:solidFill>
                <a:latin typeface="Calibri" pitchFamily="34" charset="0"/>
                <a:ea typeface="Calibri" pitchFamily="34" charset="-122"/>
                <a:cs typeface="Calibri" pitchFamily="34" charset="-120"/>
              </a:rPr>
              <a:t>check each other’s descriptions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 Plenary Synthesis (20–25 min):  </a:t>
            </a:r>
            <a:pPr indent="0" marL="0">
              <a:buNone/>
            </a:pPr>
            <a:r>
              <a:rPr lang="en-US" sz="2600" dirty="0">
                <a:solidFill>
                  <a:srgbClr val="1F2A22"/>
                </a:solidFill>
                <a:latin typeface="Calibri" pitchFamily="34" charset="0"/>
                <a:ea typeface="Calibri" pitchFamily="34" charset="-122"/>
                <a:cs typeface="Calibri" pitchFamily="34" charset="-120"/>
              </a:rPr>
              <a:t>the most underactivated domain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30-day commitment:  </a:t>
            </a:r>
            <a:pPr indent="0" marL="0">
              <a:buNone/>
            </a:pPr>
            <a:r>
              <a:rPr lang="en-US" sz="2600" dirty="0">
                <a:solidFill>
                  <a:srgbClr val="1F2A22"/>
                </a:solidFill>
                <a:latin typeface="Calibri" pitchFamily="34" charset="0"/>
                <a:ea typeface="Calibri" pitchFamily="34" charset="-122"/>
                <a:cs typeface="Calibri" pitchFamily="34" charset="-120"/>
              </a:rPr>
              <a:t>one behavioural change, read aloud</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COMPASS domain is this team most likely rating too generously — and which executive role has quietly stopped carrying its alignment responsibility there?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Institute of Behavioural Strategy &amp; Leadership</cp:lastModifiedBy>
  <cp:revision>1</cp:revision>
  <dcterms:created xsi:type="dcterms:W3CDTF">2026-09-29T13:20:25Z</dcterms:created>
  <dcterms:modified xsi:type="dcterms:W3CDTF">2026-09-29T13:20:25Z</dcterms:modified>
</cp:coreProperties>
</file>