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92" r:id="rId43"/>
    <p:sldId id="291" r:id="rId42"/>
    <p:sldId id="273" r:id="rId19"/>
    <p:sldId id="274" r:id="rId20"/>
    <p:sldId id="275" r:id="rId21"/>
    <p:sldId id="276" r:id="rId22"/>
    <p:sldId id="293" r:id="rId44"/>
    <p:sldId id="277" r:id="rId23"/>
    <p:sldId id="278" r:id="rId24"/>
    <p:sldId id="279" r:id="rId25"/>
    <p:sldId id="280" r:id="rId26"/>
    <p:sldId id="294" r:id="rId45"/>
    <p:sldId id="281" r:id="rId27"/>
    <p:sldId id="282" r:id="rId28"/>
    <p:sldId id="283" r:id="rId29"/>
    <p:sldId id="284" r:id="rId30"/>
    <p:sldId id="295" r:id="rId46"/>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23.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32.xml"/><Relationship Id="rId30" Type="http://schemas.openxmlformats.org/officeDocument/2006/relationships/slide" Target="slides/slide33.xml"/><Relationship Id="rId31" Type="http://schemas.openxmlformats.org/officeDocument/2006/relationships/slide" Target="slides/slide35.xml"/><Relationship Id="rId32" Type="http://schemas.openxmlformats.org/officeDocument/2006/relationships/slide" Target="slides/slide36.xml"/><Relationship Id="rId33" Type="http://schemas.openxmlformats.org/officeDocument/2006/relationships/slide" Target="slides/slide37.xml"/><Relationship Id="rId34" Type="http://schemas.openxmlformats.org/officeDocument/2006/relationships/slide" Target="slides/slide38.xml"/><Relationship Id="rId35" Type="http://schemas.openxmlformats.org/officeDocument/2006/relationships/slide" Target="slides/slide39.xml"/><Relationship Id="rId36" Type="http://schemas.openxmlformats.org/officeDocument/2006/relationships/slide" Target="slides/slide40.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openxmlformats.org/officeDocument/2006/relationships/slide" Target="slides/slide19.xml"/><Relationship Id="rId43" Type="http://schemas.openxmlformats.org/officeDocument/2006/relationships/slide" Target="slides/slide18.xml"/><Relationship Id="rId44" Type="http://schemas.openxmlformats.org/officeDocument/2006/relationships/slide" Target="slides/slide24.xml"/><Relationship Id="rId45" Type="http://schemas.openxmlformats.org/officeDocument/2006/relationships/slide" Target="slides/slide29.xml"/><Relationship Id="rId46"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5 · ALIGNING HEART &amp; MIND</a:t>
            </a:r>
          </a:p>
          <a:p>
            <a:r>
              <a:rPr lang="en-GB" dirty="0"/>
              <a:t>Module 3 · Influence · Unit 5</a:t>
            </a:r>
          </a:p>
          <a:p>
            <a:endParaRPr lang="en-GB" dirty="0"/>
          </a:p>
          <a:p>
            <a:r>
              <a:rPr lang="en-GB" b="1" dirty="0"/>
              <a:t>UNIT INTENT</a:t>
            </a:r>
          </a:p>
          <a:p>
            <a:r>
              <a:rPr lang="en-GB" dirty="0"/>
              <a:t>Unit 5 establishes the human operating system of execution. Strategy moves through people, and functional expertise, bias and emotion shape how each leader interprets it.</a:t>
            </a:r>
          </a:p>
          <a:p>
            <a:r>
              <a:rPr lang="en-GB" dirty="0"/>
              <a:t>The unit builds a shared enterprise interpretation and the behaviours that sustain commitment.</a:t>
            </a:r>
          </a:p>
          <a:p>
            <a:endParaRPr lang="en-GB" dirty="0"/>
          </a:p>
          <a:p>
            <a:r>
              <a:rPr lang="en-GB" dirty="0"/>
              <a:t>SCARF explains resistance, ACE-IT sets the behaviour standard and COMPASS locates the hot zones.</a:t>
            </a:r>
          </a:p>
          <a:p>
            <a:endParaRPr lang="en-GB" dirty="0"/>
          </a:p>
          <a:p>
            <a:r>
              <a:rPr lang="en-GB" dirty="0"/>
              <a:t>The 4 Checks of Mind, Heart, Hands and Habit give leaders one discipline for leading people through the changes the strategy requires: 3S tests Mind, SCARF reads Heart, STAT tests Hands and ACE-IT holds Habit.</a:t>
            </a:r>
          </a:p>
          <a:p>
            <a:endParaRPr lang="en-GB" dirty="0"/>
          </a:p>
          <a:p>
            <a:r>
              <a:rPr lang="en-GB" b="1" dirty="0"/>
              <a:t>WHAT THE UNIT PRODUCES:</a:t>
            </a:r>
          </a:p>
          <a:p>
            <a:r>
              <a:rPr lang="en-GB" dirty="0"/>
              <a:t>1. Each participant produces three pieces of portfolio work in Section 5: the Change Transition Map for two changes, the Role Connections table and the notes of the Exchange &amp; Dialogue.</a:t>
            </a:r>
          </a:p>
          <a:p>
            <a:r>
              <a:rPr lang="en-GB" dirty="0"/>
              <a:t>2. Each group produces its Plenary Synthesis record: the COMPASS domain most often underactivated, where alignment is already strong, and the sequence for the changes landing on the same group. This is Capstone work.</a:t>
            </a:r>
          </a:p>
          <a:p>
            <a:r>
              <a:rPr lang="en-GB" dirty="0"/>
              <a:t>3. Each participant writes fifteen reflections and one 30-day behavioural commitment.</a:t>
            </a:r>
          </a:p>
          <a:p>
            <a:endParaRPr lang="en-GB" dirty="0"/>
          </a:p>
          <a:p>
            <a:r>
              <a:rPr lang="en-GB" b="1" dirty="0"/>
              <a:t>HOW THE UNIT RUNS:</a:t>
            </a:r>
          </a:p>
          <a:p>
            <a:r>
              <a:rPr lang="en-GB" dirty="0"/>
              <a:t>1. You teach the whole unit from this deck first, from Section 1 to the Unit Summary. The deck is the teaching material.</a:t>
            </a:r>
          </a:p>
          <a:p>
            <a:r>
              <a:rPr lang="en-GB" dirty="0"/>
              <a:t>2. Participants then complete their own page on the portal, in the session or after it: the reflections and the four steps of Section 5.</a:t>
            </a:r>
          </a:p>
          <a:p>
            <a:r>
              <a:rPr lang="en-GB" dirty="0"/>
              <a:t>3. Steps 1 to 3 of Section 5 are portfolio work. Steps 1 and 2 are completed by each participant alone, and Step 3 with a colleague.</a:t>
            </a:r>
          </a:p>
          <a:p>
            <a:r>
              <a:rPr lang="en-GB" dirty="0"/>
              <a:t>4. Step 4 of Section 5 is group work for the Capstone. The group agrees each entry and one member acts as scribe.</a:t>
            </a:r>
          </a:p>
          <a:p>
            <a:r>
              <a:rPr lang="en-GB" dirty="0"/>
              <a:t>Every member then types the agreed entries into their own page.</a:t>
            </a:r>
          </a:p>
          <a:p>
            <a:endParaRPr lang="en-GB" dirty="0"/>
          </a:p>
          <a:p>
            <a:r>
              <a:rPr lang="en-GB" dirty="0"/>
              <a:t>Each slide’s notes end with a block headed "On the portal, after the teaching" wherever participants have something to complete for that part.</a:t>
            </a:r>
          </a:p>
          <a:p>
            <a:endParaRPr lang="en-GB" dirty="0"/>
          </a:p>
          <a:p>
            <a:r>
              <a:rPr lang="en-GB" dirty="0"/>
              <a:t>Your preparation as facilitator:</a:t>
            </a:r>
          </a:p>
          <a:p>
            <a:r>
              <a:rPr lang="en-GB" dirty="0"/>
              <a:t>- Read the Facilitator Guide tab and every section of the facilitator file.</a:t>
            </a:r>
          </a:p>
          <a:p>
            <a:r>
              <a:rPr lang="en-GB" dirty="0"/>
              <a:t>- Each participant needs one live change their strategy requires of a named group. They write it down in 1.3 and carry it to the end of the unit.</a:t>
            </a:r>
          </a:p>
          <a:p>
            <a:r>
              <a:rPr lang="en-GB" dirty="0"/>
              <a:t>- Each group needs the KISS map it confirmed in Unit 3: the two changes of Step 1 come from its Start and Stop lists.</a:t>
            </a:r>
          </a:p>
          <a:p>
            <a:endParaRPr lang="en-GB" dirty="0"/>
          </a:p>
          <a:p>
            <a:r>
              <a:rPr lang="en-GB" dirty="0"/>
              <a:t>Where the outputs go next:</a:t>
            </a:r>
          </a:p>
          <a:p>
            <a:r>
              <a:rPr lang="en-GB" dirty="0"/>
              <a:t>- The group’s confirmed entry on the underactivated COMPASS domain feeds box 5C of the team’s Capstone Blueprint.</a:t>
            </a:r>
          </a:p>
          <a:p>
            <a:r>
              <a:rPr lang="en-GB" dirty="0"/>
              <a:t>- The team writes boxes 5A, 5B, 5D and 5E in the Capstone itself.</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KEY LEARNING OUTCOMES</a:t>
            </a:r>
          </a:p>
          <a:p>
            <a:endParaRPr lang="en-GB" dirty="0"/>
          </a:p>
          <a:p>
            <a:r>
              <a:rPr lang="en-GB" b="1" dirty="0"/>
              <a:t>HOW TO USE THIS SLIDE:</a:t>
            </a:r>
          </a:p>
          <a:p>
            <a:r>
              <a:rPr lang="en-GB" dirty="0"/>
              <a:t>Read the four outcomes aloud and say where the unit delivers each one.</a:t>
            </a:r>
          </a:p>
          <a:p>
            <a:r>
              <a:rPr lang="en-GB" dirty="0"/>
              <a:t>- Outcome 1 is built in Section 1: the two human filters (1.1) and the five principles (1.2).</a:t>
            </a:r>
          </a:p>
          <a:p>
            <a:r>
              <a:rPr lang="en-GB" dirty="0"/>
              <a:t>- Outcome 2 is built in Section 2 (commitment and compliance) and Section 4 (the Converging Zone), and produced in Step 4 of Section 5, where each group confirms its shared reading.</a:t>
            </a:r>
          </a:p>
          <a:p>
            <a:r>
              <a:rPr lang="en-GB" dirty="0"/>
              <a:t>- Outcome 3 is built in Section 3: the seven COMPASS domains and the readiness scan.</a:t>
            </a:r>
          </a:p>
          <a:p>
            <a:r>
              <a:rPr lang="en-GB" dirty="0"/>
              <a:t>- Outcome 4 is built in 1.3 to 1.7 (the 4 Checks and their four tools), in 2.3, 3.3 and 4.3, and produced in Step 1 of Section 5 (the Change Transition Map).</a:t>
            </a:r>
          </a:p>
          <a:p>
            <a:endParaRPr lang="en-GB" dirty="0"/>
          </a:p>
          <a:p>
            <a:r>
              <a:rPr lang="en-GB" dirty="0"/>
              <a:t>Each section slide carries that section’s two learning outcomes.</a:t>
            </a:r>
          </a:p>
          <a:p>
            <a:endParaRPr lang="en-GB" dirty="0"/>
          </a:p>
          <a:p>
            <a:r>
              <a:rPr lang="en-GB" b="1" dirty="0"/>
              <a:t>QUESTION TO ASK:</a:t>
            </a:r>
          </a:p>
          <a:p>
            <a:r>
              <a:rPr lang="en-GB" dirty="0"/>
              <a:t>"What is the dominant emotion your team carries into the current strategy, and how does it change what people invest?"</a:t>
            </a:r>
          </a:p>
          <a:p>
            <a:endParaRPr lang="en-GB" dirty="0"/>
          </a:p>
          <a:p>
            <a:r>
              <a:rPr lang="en-GB" dirty="0"/>
              <a:t>Take two or three answers. They tell you where the group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FACILITATOR GUIDE · SESSION OVERVIEW</a:t>
            </a:r>
          </a:p>
          <a:p>
            <a:endParaRPr lang="en-GB" dirty="0"/>
          </a:p>
          <a:p>
            <a:r>
              <a:rPr lang="en-GB" b="1" dirty="0"/>
              <a:t>HOW TO USE THIS SLIDE:</a:t>
            </a:r>
          </a:p>
          <a:p>
            <a:r>
              <a:rPr lang="en-GB" dirty="0"/>
              <a:t>1. Walk the five sections in one sentence each, using the list below.</a:t>
            </a:r>
          </a:p>
          <a:p>
            <a:r>
              <a:rPr lang="en-GB" dirty="0"/>
              <a:t>2. Say plainly that Sections 1 to 4 prepare the thinking and Section 5 is where it is applied: three pieces of portfolio work, then the group work for the Capstone.</a:t>
            </a:r>
          </a:p>
          <a:p>
            <a:r>
              <a:rPr lang="en-GB" dirty="0"/>
              <a:t>3. Tell participants how the unit runs: you teach all five sections from the deck first, and they then complete the unit on the portal, in the session or after it.</a:t>
            </a:r>
          </a:p>
          <a:p>
            <a:endParaRPr lang="en-GB" dirty="0"/>
          </a:p>
          <a:p>
            <a:r>
              <a:rPr lang="en-GB" b="1" dirty="0"/>
              <a:t>THE FIVE SECTIONS:</a:t>
            </a:r>
          </a:p>
          <a:p>
            <a:r>
              <a:rPr lang="en-GB" dirty="0"/>
              <a:t>- Section 1 · Awareness — What: the two human filters, the five principles, then change management: the 4 Checks of Mind, Heart, Hands and Habit and the tool for each check (3S, SCARF, STAT, ACE-IT).</a:t>
            </a:r>
          </a:p>
          <a:p>
            <a:endParaRPr lang="en-GB" dirty="0"/>
          </a:p>
          <a:p>
            <a:r>
              <a:rPr lang="en-GB" dirty="0"/>
              <a:t>- Section 2 · Intelligence — Why: the ignition point of execution, the three foundational logics, and why a change delivers value only when it is adopted.</a:t>
            </a:r>
          </a:p>
          <a:p>
            <a:endParaRPr lang="en-GB" dirty="0"/>
          </a:p>
          <a:p>
            <a:r>
              <a:rPr lang="en-GB" dirty="0"/>
              <a:t>- Section 3 · Extrapolating — Where: the seven COMPASS domains, the threshold between a High Flammable Zone and a Burning Platform, and the readiness scan.</a:t>
            </a:r>
          </a:p>
          <a:p>
            <a:endParaRPr lang="en-GB" dirty="0"/>
          </a:p>
          <a:p>
            <a:r>
              <a:rPr lang="en-GB" dirty="0"/>
              <a:t>- Section 4 · Integration — Collective: the Converging Zone, the alignment responsibility of each leadership role, and leading change with one voice.</a:t>
            </a:r>
          </a:p>
          <a:p>
            <a:endParaRPr lang="en-GB" dirty="0"/>
          </a:p>
          <a:p>
            <a:r>
              <a:rPr lang="en-GB" dirty="0"/>
              <a:t>- Section 5 · Application — In Practice: the Change Transition Map, Role Connections, Exchange &amp; Dialogue and the Plenary Synthesis.</a:t>
            </a:r>
          </a:p>
          <a:p>
            <a:endParaRPr lang="en-GB" dirty="0"/>
          </a:p>
          <a:p>
            <a:r>
              <a:rPr lang="en-GB" b="1" dirty="0"/>
              <a:t>KEY FACILITATION QUESTIONS:</a:t>
            </a:r>
          </a:p>
          <a:p>
            <a:r>
              <a:rPr lang="en-GB" dirty="0"/>
              <a:t>- "What is the dominant emotion your team carries into the current strategy, and how does it change what people invest?"</a:t>
            </a:r>
          </a:p>
          <a:p>
            <a:r>
              <a:rPr lang="en-GB" dirty="0"/>
              <a:t>- "Which SCARF trigger does the current strategy activate most for your people?"</a:t>
            </a:r>
          </a:p>
          <a:p>
            <a:r>
              <a:rPr lang="en-GB" dirty="0"/>
              <a:t>- "For the most important change in your strategy, which check would your people fail first: Mind, Heart, Hands or Habit?"</a:t>
            </a:r>
          </a:p>
          <a:p>
            <a:r>
              <a:rPr lang="en-GB" dirty="0"/>
              <a:t>- "Which COMPASS zone would flare first in your organisation under pressure? What is the early warning?"</a:t>
            </a:r>
          </a:p>
          <a:p>
            <a:r>
              <a:rPr lang="en-GB" dirty="0"/>
              <a:t>- "What behavioural change will you model in the next month so others can see alignment in action?"</a:t>
            </a:r>
          </a:p>
          <a:p>
            <a:endParaRPr lang="en-GB" dirty="0"/>
          </a:p>
          <a:p>
            <a:r>
              <a:rPr lang="en-GB" b="1" dirty="0"/>
              <a:t>TONE AND WATCH POINTS:</a:t>
            </a:r>
          </a:p>
          <a:p>
            <a:r>
              <a:rPr lang="en-GB" dirty="0"/>
              <a:t>- Watch for compliance mistaken for commitment. Probe: "Would they still act this way if no one were checking?"</a:t>
            </a:r>
          </a:p>
          <a:p>
            <a:r>
              <a:rPr lang="en-GB" dirty="0"/>
              <a:t>- Watch for installation reported as adoption. Probe: "Would the new practice hold on a busy day with no one checking?"</a:t>
            </a:r>
          </a:p>
          <a:p>
            <a:r>
              <a:rPr lang="en-GB" dirty="0"/>
              <a:t>- Watch for emotion treated as a side topic. Connect each emotional state to an execution consequence.</a:t>
            </a:r>
          </a:p>
          <a:p>
            <a:r>
              <a:rPr lang="en-GB" dirty="0"/>
              <a:t>- Watch for commitments that describe intentions. Each behavioural change must be observable by the team.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1 · AWARENESS — WHAT</a:t>
            </a:r>
          </a:p>
          <a:p>
            <a:endParaRPr lang="en-GB" dirty="0"/>
          </a:p>
          <a:p>
            <a:r>
              <a:rPr lang="en-GB" b="1" dirty="0"/>
              <a:t>HOW THIS SECTION RUNS:</a:t>
            </a:r>
          </a:p>
          <a:p>
            <a:r>
              <a:rPr lang="en-GB" dirty="0"/>
              <a:t>1. 1.1: the two human filters, Mind and Heart.</a:t>
            </a:r>
          </a:p>
          <a:p>
            <a:r>
              <a:rPr lang="en-GB" dirty="0"/>
              <a:t>2. 1.2: the five principles. One slide gives the overview and each principle then has its own slide.</a:t>
            </a:r>
          </a:p>
          <a:p>
            <a:r>
              <a:rPr lang="en-GB" dirty="0"/>
              <a:t>3. 1.3: change management, on two slides: the event and the transition, then the 4 Checks.</a:t>
            </a:r>
          </a:p>
          <a:p>
            <a:r>
              <a:rPr lang="en-GB" dirty="0"/>
              <a:t>4. 1.4 to 1.7: the four tools, one for each check: 3S, SCARF, STAT and ACE-IT.</a:t>
            </a:r>
          </a:p>
          <a:p>
            <a:r>
              <a:rPr lang="en-GB" dirty="0"/>
              <a:t>5. Two Section 1 Reflections slides: the seven reflections participants write on the portal after the teaching.</a:t>
            </a:r>
          </a:p>
          <a:p>
            <a:endParaRPr lang="en-GB" dirty="0"/>
          </a:p>
          <a:p>
            <a:r>
              <a:rPr lang="en-GB" b="1" dirty="0"/>
              <a:t>SECTION LEARNING OUTCOMES:</a:t>
            </a:r>
          </a:p>
          <a:p>
            <a:r>
              <a:rPr lang="en-GB" dirty="0"/>
              <a:t>1. Examine how functional expertise, cognitive bias and emotion shape the interpretation of strategy.</a:t>
            </a:r>
          </a:p>
          <a:p>
            <a:r>
              <a:rPr lang="en-GB" dirty="0"/>
              <a:t>2. Recognise what people need in order to adopt a strategic change, and the behaviours that sustain it.</a:t>
            </a:r>
          </a:p>
          <a:p>
            <a:endParaRPr lang="en-GB" dirty="0"/>
          </a:p>
          <a:p>
            <a:r>
              <a:rPr lang="en-GB" b="1" dirty="0"/>
              <a:t>HOW TO OPEN THE SECTION:</a:t>
            </a:r>
          </a:p>
          <a:p>
            <a:endParaRPr lang="en-GB" dirty="0"/>
          </a:p>
          <a:p>
            <a:r>
              <a:rPr lang="en-GB" b="1" dirty="0"/>
              <a:t>1. Open with the question that anchors the unit.</a:t>
            </a:r>
          </a:p>
          <a:p>
            <a:r>
              <a:rPr lang="en-GB" dirty="0"/>
              <a:t>Ask: "Think of a strategy that was perfectly designed and then failed in execution. What broke? Was it the plan, or the people who had to carry it?"</a:t>
            </a:r>
          </a:p>
          <a:p>
            <a:r>
              <a:rPr lang="en-GB" dirty="0"/>
              <a:t>Pause. Use the silence. This question surfaces the lived experience that anchors the entire unit.</a:t>
            </a:r>
          </a:p>
          <a:p>
            <a:endParaRPr lang="en-GB" dirty="0"/>
          </a:p>
          <a:p>
            <a:r>
              <a:rPr lang="en-GB" b="1" dirty="0"/>
              <a:t>2. Name the insight of the section.</a:t>
            </a:r>
          </a:p>
          <a:p>
            <a:r>
              <a:rPr lang="en-GB" dirty="0"/>
              <a:t>Say: "Before any strategy can be executed, it must travel through people.</a:t>
            </a:r>
          </a:p>
          <a:p>
            <a:r>
              <a:rPr lang="en-GB" dirty="0"/>
              <a:t>People arrive at every strategy meeting carrying a personality profile, emotional defaults, and personal motives that determine how much energy they will invest in the organisation’s goals."</a:t>
            </a:r>
          </a:p>
          <a:p>
            <a:r>
              <a:rPr lang="en-GB" dirty="0"/>
              <a:t>Section intent: strategy is first and foremost a human interpretation problem. Leaders must feel this before they can act on it.</a:t>
            </a:r>
          </a:p>
          <a:p>
            <a:r>
              <a:rPr lang="en-GB" dirty="0"/>
              <a:t>Resist the urge to move to solutions quickly. Create space for recognition.</a:t>
            </a:r>
          </a:p>
          <a:p>
            <a:endParaRPr lang="en-GB" dirty="0"/>
          </a:p>
          <a:p>
            <a:r>
              <a:rPr lang="en-GB" b="1" dirty="0"/>
              <a:t>3. Say the order.</a:t>
            </a:r>
          </a:p>
          <a:p>
            <a:r>
              <a:rPr lang="en-GB" dirty="0"/>
              <a:t>Say: "We take the five principles in order. Each builds on the one before it."</a:t>
            </a:r>
          </a:p>
          <a:p>
            <a:r>
              <a:rPr lang="en-GB" dirty="0"/>
              <a:t>Do not allow leaders to skip to SCARF or ACE-IT without first establishing the foundational logic.</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THE HUMAN TERRAIN OF STRATEGY EXECUTION (FOUNDATION)</a:t>
            </a:r>
          </a:p>
          <a:p>
            <a:endParaRPr lang="en-GB" dirty="0"/>
          </a:p>
          <a:p>
            <a:r>
              <a:rPr lang="en-GB" b="1" dirty="0"/>
              <a:t>HOW TO TEACH IT:</a:t>
            </a:r>
          </a:p>
          <a:p>
            <a:endParaRPr lang="en-GB" dirty="0"/>
          </a:p>
          <a:p>
            <a:r>
              <a:rPr lang="en-GB" b="1" dirty="0"/>
              <a:t>1. Say how strategy enters an organisation.</a:t>
            </a:r>
          </a:p>
          <a:p>
            <a:r>
              <a:rPr lang="en-GB" dirty="0"/>
              <a:t>Say: "Strategy enters an organisation through the people responsible for interpreting and acting on it.</a:t>
            </a:r>
          </a:p>
          <a:p>
            <a:r>
              <a:rPr lang="en-GB" dirty="0"/>
              <a:t>Before strategy becomes operational activity, it passes through two human filters."</a:t>
            </a:r>
          </a:p>
          <a:p>
            <a:endParaRPr lang="en-GB" dirty="0"/>
          </a:p>
          <a:p>
            <a:r>
              <a:rPr lang="en-GB" b="1" dirty="0"/>
              <a:t>2. Teach the first filter: Cognition — Mind.</a:t>
            </a:r>
          </a:p>
          <a:p>
            <a:r>
              <a:rPr lang="en-GB" dirty="0"/>
              <a:t>Say: "Cognition is how individuals interpret what strategy means.</a:t>
            </a:r>
          </a:p>
          <a:p>
            <a:r>
              <a:rPr lang="en-GB" dirty="0"/>
              <a:t>It is shaped by professional expertise, mental shortcuts, past experience, and risk perception."</a:t>
            </a:r>
          </a:p>
          <a:p>
            <a:endParaRPr lang="en-GB" dirty="0"/>
          </a:p>
          <a:p>
            <a:r>
              <a:rPr lang="en-GB" dirty="0"/>
              <a:t>Deepen, say: "Many leaders are one bad interior sentence away from a quarter of poor decisions: the silent conclusion that the situation is unwinnable or that the board has already decided.</a:t>
            </a:r>
          </a:p>
          <a:p>
            <a:r>
              <a:rPr lang="en-GB" dirty="0"/>
              <a:t>Write down the sentence running in your head about the future, and test it against the evidence."</a:t>
            </a:r>
          </a:p>
          <a:p>
            <a:r>
              <a:rPr lang="en-GB" dirty="0"/>
              <a:t>(Insight: Cognition · the interior sentence. Source: Journal, 18 May 2026 — Professional Insights: Strategy)</a:t>
            </a:r>
          </a:p>
          <a:p>
            <a:endParaRPr lang="en-GB" dirty="0"/>
          </a:p>
          <a:p>
            <a:r>
              <a:rPr lang="en-GB" b="1" dirty="0"/>
              <a:t>3. Teach the second filter: Emotion — Heart.</a:t>
            </a:r>
          </a:p>
          <a:p>
            <a:r>
              <a:rPr lang="en-GB" dirty="0"/>
              <a:t>Say: "Emotion is how individuals experience the strategy. It shapes engagement energy, morale, friction load, psychological safety, and values alignment."</a:t>
            </a:r>
          </a:p>
          <a:p>
            <a:endParaRPr lang="en-GB" dirty="0"/>
          </a:p>
          <a:p>
            <a:r>
              <a:rPr lang="en-GB" dirty="0"/>
              <a:t>Deepen, say: "Organisations that reduce everything to deliverables and KPIs, with no sense of what it is all for, produce people who show up physically and are absent in every other way.</a:t>
            </a:r>
          </a:p>
          <a:p>
            <a:r>
              <a:rPr lang="en-GB" dirty="0"/>
              <a:t>People need to feel the significance of what they are part of."</a:t>
            </a:r>
          </a:p>
          <a:p>
            <a:r>
              <a:rPr lang="en-GB" dirty="0"/>
              <a:t>(Insight: Emotion · significance. Source: Journal, 12 January 2026 — Professional Insights: Culture)</a:t>
            </a:r>
          </a:p>
          <a:p>
            <a:endParaRPr lang="en-GB" dirty="0"/>
          </a:p>
          <a:p>
            <a:r>
              <a:rPr lang="en-GB" b="1" dirty="0"/>
              <a:t>4. Name the result.</a:t>
            </a:r>
          </a:p>
          <a:p>
            <a:r>
              <a:rPr lang="en-GB" dirty="0"/>
              <a:t>Say: "The result is whether strategy produces clarity or confusion, commitment or compliance, momentum or hesitation.</a:t>
            </a:r>
          </a:p>
          <a:p>
            <a:r>
              <a:rPr lang="en-GB" dirty="0"/>
              <a:t>Execution begins inside the human system."</a:t>
            </a:r>
          </a:p>
          <a:p>
            <a:endParaRPr lang="en-GB" dirty="0"/>
          </a:p>
          <a:p>
            <a:r>
              <a:rPr lang="en-GB" b="1" dirty="0"/>
              <a:t>5. Name the Functional Bias Problem.</a:t>
            </a:r>
          </a:p>
          <a:p>
            <a:r>
              <a:rPr lang="en-GB" dirty="0"/>
              <a:t>Say: "Strategy is fundamentally a human interpretation problem.</a:t>
            </a:r>
          </a:p>
          <a:p>
            <a:r>
              <a:rPr lang="en-GB" dirty="0"/>
              <a:t>The Functional Bias Problem reveals that organisations do not interpret strategy as a single, shared reality.</a:t>
            </a:r>
          </a:p>
          <a:p>
            <a:r>
              <a:rPr lang="en-GB" dirty="0"/>
              <a:t>When perspectives diverge, even highly capable executives can unintentionally pull the organisation in different directions."</a:t>
            </a:r>
          </a:p>
          <a:p>
            <a:r>
              <a:rPr lang="en-GB" dirty="0"/>
              <a:t>Say: "The CFO thinks in capital efficiency.</a:t>
            </a:r>
          </a:p>
          <a:p>
            <a:r>
              <a:rPr lang="en-GB" dirty="0"/>
              <a:t>The COO in delivery flow.</a:t>
            </a:r>
          </a:p>
          <a:p>
            <a:r>
              <a:rPr lang="en-GB" dirty="0"/>
              <a:t>The CHRO in capability.</a:t>
            </a:r>
          </a:p>
          <a:p>
            <a:r>
              <a:rPr lang="en-GB" dirty="0"/>
              <a:t>None is wrong.</a:t>
            </a:r>
          </a:p>
          <a:p>
            <a:r>
              <a:rPr lang="en-GB" dirty="0"/>
              <a:t>When these operate without deliberate integration, strategy fragments invisibly."</a:t>
            </a:r>
          </a:p>
          <a:p>
            <a:r>
              <a:rPr lang="en-GB" dirty="0"/>
              <a:t>Ask leaders to honestly name their primary perspective. Online: ask them to post it in the chat.</a:t>
            </a:r>
          </a:p>
          <a:p>
            <a:endParaRPr lang="en-GB" dirty="0"/>
          </a:p>
          <a:p>
            <a:r>
              <a:rPr lang="en-GB" b="1" dirty="0"/>
              <a:t>6. Ask the key question.</a:t>
            </a:r>
          </a:p>
          <a:p>
            <a:r>
              <a:rPr lang="en-GB" dirty="0"/>
              <a:t>Ask: "When your leadership team last debated a strategic priority, were you all interpreting the same data from the same perspective? Or from the perspective of your function?"</a:t>
            </a:r>
          </a:p>
          <a:p>
            <a:endParaRPr lang="en-GB" dirty="0"/>
          </a:p>
          <a:p>
            <a:r>
              <a:rPr lang="en-GB" b="1" dirty="0"/>
              <a:t>ON THE PORTAL, AFTER THE TEACHING:</a:t>
            </a:r>
          </a:p>
          <a:p>
            <a:r>
              <a:rPr lang="en-GB" dirty="0"/>
              <a:t>Participants write the reflection of 1.1 in the participant file:</a:t>
            </a:r>
          </a:p>
          <a:p>
            <a:r>
              <a:rPr lang="en-GB" dirty="0"/>
              <a:t>"In your current role, which filter (Mind or Heart) tends to shape your first response to a new strategic priority? What are the implications?"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THE FIVE PRINCIPLES OF ALIGNING HEART &amp; MIND (EXPAND EACH PRINCIPLE)</a:t>
            </a:r>
          </a:p>
          <a:p>
            <a:endParaRPr lang="en-GB" dirty="0"/>
          </a:p>
          <a:p>
            <a:r>
              <a:rPr lang="en-GB" b="1" dirty="0"/>
              <a:t>HOW TO TEACH IT:</a:t>
            </a:r>
          </a:p>
          <a:p>
            <a:endParaRPr lang="en-GB" dirty="0"/>
          </a:p>
          <a:p>
            <a:r>
              <a:rPr lang="en-GB" b="1" dirty="0"/>
              <a:t>1. Say what the five principles are for.</a:t>
            </a:r>
          </a:p>
          <a:p>
            <a:r>
              <a:rPr lang="en-GB" dirty="0"/>
              <a:t>Say: "The five principles explain how alignment is created and sustained.</a:t>
            </a:r>
          </a:p>
          <a:p>
            <a:r>
              <a:rPr lang="en-GB" dirty="0"/>
              <a:t>Together they describe the human operating system that enables strategy to move from intention to execution."</a:t>
            </a:r>
          </a:p>
          <a:p>
            <a:endParaRPr lang="en-GB" dirty="0"/>
          </a:p>
          <a:p>
            <a:r>
              <a:rPr lang="en-GB" b="1" dirty="0"/>
              <a:t>2. Walk the five lines on the slide.</a:t>
            </a:r>
          </a:p>
          <a:p>
            <a:r>
              <a:rPr lang="en-GB" dirty="0"/>
              <a:t>- Principle 1 · Strategy Moves Through People: the human entry point of execution.</a:t>
            </a:r>
          </a:p>
          <a:p>
            <a:r>
              <a:rPr lang="en-GB" dirty="0"/>
              <a:t>- Principle 2 · Misalignment Fragments Effort: the cost of ignoring the human system.</a:t>
            </a:r>
          </a:p>
          <a:p>
            <a:r>
              <a:rPr lang="en-GB" dirty="0"/>
              <a:t>- Principle 3 · Alignment Must Be Designed: the tools that create alignment.</a:t>
            </a:r>
          </a:p>
          <a:p>
            <a:r>
              <a:rPr lang="en-GB" dirty="0"/>
              <a:t>- Principle 4 · Human Reactions Are Predictable: the behavioural dynamics that influence execution.</a:t>
            </a:r>
          </a:p>
          <a:p>
            <a:r>
              <a:rPr lang="en-GB" dirty="0"/>
              <a:t>- Principle 5 · Execution Must Be Visible in Behaviour: the observable standard for alignment.</a:t>
            </a:r>
          </a:p>
          <a:p>
            <a:endParaRPr lang="en-GB" dirty="0"/>
          </a:p>
          <a:p>
            <a:r>
              <a:rPr lang="en-GB" b="1" dirty="0"/>
              <a:t>3. Say how the principles are taught.</a:t>
            </a:r>
          </a:p>
          <a:p>
            <a:r>
              <a:rPr lang="en-GB" dirty="0"/>
              <a:t>Say: "Each principle has its own slide. We work through them in order."</a:t>
            </a:r>
          </a:p>
          <a:p>
            <a:r>
              <a:rPr lang="en-GB" dirty="0"/>
              <a:t>Teach one principle at a time and give its insight before inviting reflection. Do not let the group race through.</a:t>
            </a:r>
          </a:p>
          <a:p>
            <a:r>
              <a:rPr lang="en-GB" dirty="0"/>
              <a:t>Principle 2 (Misalignment Fragments Effort) generates the most immediate recognition. Use it as a pivot.</a:t>
            </a:r>
          </a:p>
          <a:p>
            <a:endParaRPr lang="en-GB" dirty="0"/>
          </a:p>
          <a:p>
            <a:r>
              <a:rPr lang="en-GB" b="1" dirty="0"/>
              <a:t>ON THE PORTAL, AFTER THE TEACHING:</a:t>
            </a:r>
          </a:p>
          <a:p>
            <a:r>
              <a:rPr lang="en-GB" dirty="0"/>
              <a:t>Participants write the reflection of 1.2 in the participant file:</a:t>
            </a:r>
          </a:p>
          <a:p>
            <a:r>
              <a:rPr lang="en-GB" dirty="0"/>
              <a:t>"Which of the Five Principles describes the most critical gap in your leadership team right now? What is the evidence for this?"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1 — STRATEGY MOVES THROUGH PEOPLE</a:t>
            </a:r>
          </a:p>
          <a:p>
            <a:endParaRPr lang="en-GB" dirty="0"/>
          </a:p>
          <a:p>
            <a:r>
              <a:rPr lang="en-GB" b="1" dirty="0"/>
              <a:t>HOW TO TEACH IT:</a:t>
            </a:r>
          </a:p>
          <a:p>
            <a:endParaRPr lang="en-GB" dirty="0"/>
          </a:p>
          <a:p>
            <a:r>
              <a:rPr lang="en-GB" b="1" dirty="0"/>
              <a:t>1. State the principle.</a:t>
            </a:r>
          </a:p>
          <a:p>
            <a:r>
              <a:rPr lang="en-GB" dirty="0"/>
              <a:t>Say: "Strategy moves through people. This is the human entry point of execution. Alignment of the mind and the heart is the first execution system."</a:t>
            </a:r>
          </a:p>
          <a:p>
            <a:endParaRPr lang="en-GB" dirty="0"/>
          </a:p>
          <a:p>
            <a:r>
              <a:rPr lang="en-GB" b="1" dirty="0"/>
              <a:t>2. Teach cognitive alignment.</a:t>
            </a:r>
          </a:p>
          <a:p>
            <a:r>
              <a:rPr lang="en-GB" dirty="0"/>
              <a:t>Say: "Cognitive alignment focuses on making biases visible so they can be managed deliberately."</a:t>
            </a:r>
          </a:p>
          <a:p>
            <a:r>
              <a:rPr lang="en-GB" dirty="0"/>
              <a:t>In practice:</a:t>
            </a:r>
          </a:p>
          <a:p>
            <a:r>
              <a:rPr lang="en-GB" dirty="0"/>
              <a:t>- identify dominant decision biases at executive level;</a:t>
            </a:r>
          </a:p>
          <a:p>
            <a:r>
              <a:rPr lang="en-GB" dirty="0"/>
              <a:t>- name how those biases shape the S2R® process;</a:t>
            </a:r>
          </a:p>
          <a:p>
            <a:r>
              <a:rPr lang="en-GB" dirty="0"/>
              <a:t>- establish shared decision principles that counter predictable distortions.</a:t>
            </a:r>
          </a:p>
          <a:p>
            <a:endParaRPr lang="en-GB" dirty="0"/>
          </a:p>
          <a:p>
            <a:r>
              <a:rPr lang="en-GB" b="1" dirty="0"/>
              <a:t>3. Teach emotional alignment.</a:t>
            </a:r>
          </a:p>
          <a:p>
            <a:r>
              <a:rPr lang="en-GB" dirty="0"/>
              <a:t>Say: "Emotional alignment requires naming the current emotional state through which strategy is being experienced.</a:t>
            </a:r>
          </a:p>
          <a:p>
            <a:r>
              <a:rPr lang="en-GB" dirty="0"/>
              <a:t>Leaders operate from a dominant state of being: Joy, Sadness, Anger, Fear, Disgust or Surprise.</a:t>
            </a:r>
          </a:p>
          <a:p>
            <a:r>
              <a:rPr lang="en-GB" dirty="0"/>
              <a:t>Each state influences engagement energy, morale drain, friction load, psychological safety, and values alignment."</a:t>
            </a:r>
          </a:p>
          <a:p>
            <a:endParaRPr lang="en-GB" dirty="0"/>
          </a:p>
          <a:p>
            <a:r>
              <a:rPr lang="en-GB" b="1" dirty="0"/>
              <a:t>4. Ask leaders to name the emotion.</a:t>
            </a:r>
          </a:p>
          <a:p>
            <a:r>
              <a:rPr lang="en-GB" dirty="0"/>
              <a:t>Ask: "What is the dominant emotion in your current team right now?"</a:t>
            </a:r>
          </a:p>
          <a:p>
            <a:r>
              <a:rPr lang="en-GB" dirty="0"/>
              <a:t>Online: ask for one word in the chat.</a:t>
            </a:r>
          </a:p>
          <a:p>
            <a:r>
              <a:rPr lang="en-GB" dirty="0"/>
              <a:t>Say: "If you cannot name it, you cannot manage it, and it will manage you."</a:t>
            </a:r>
          </a:p>
          <a:p>
            <a:endParaRPr lang="en-GB" dirty="0"/>
          </a:p>
          <a:p>
            <a:r>
              <a:rPr lang="en-GB" dirty="0"/>
              <a:t>Deepen, say: "Leaders who consistently explain the why behind hard decisions, structural changes and accountability moments build a culture of understanding.</a:t>
            </a:r>
          </a:p>
          <a:p>
            <a:r>
              <a:rPr lang="en-GB" dirty="0"/>
              <a:t>Every significant leadership act should leave people knowing something true about the organisation’s direction and character."</a:t>
            </a:r>
          </a:p>
          <a:p>
            <a:r>
              <a:rPr lang="en-GB" dirty="0"/>
              <a:t>(Insight: Principle 1 · explain the why. Source: Journal, 2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2 — MISALIGNMENT FRAGMENTS EFFORT</a:t>
            </a:r>
          </a:p>
          <a:p>
            <a:endParaRPr lang="en-GB" dirty="0"/>
          </a:p>
          <a:p>
            <a:r>
              <a:rPr lang="en-GB" b="1" dirty="0"/>
              <a:t>HOW TO TEACH IT:</a:t>
            </a:r>
          </a:p>
          <a:p>
            <a:endParaRPr lang="en-GB" dirty="0"/>
          </a:p>
          <a:p>
            <a:r>
              <a:rPr lang="en-GB" b="1" dirty="0"/>
              <a:t>1. State the principle.</a:t>
            </a:r>
          </a:p>
          <a:p>
            <a:r>
              <a:rPr lang="en-GB" dirty="0"/>
              <a:t>Say: "Misalignment fragments effort.</a:t>
            </a:r>
          </a:p>
          <a:p>
            <a:r>
              <a:rPr lang="en-GB" dirty="0"/>
              <a:t>This is the cost of ignoring the human system.</a:t>
            </a:r>
          </a:p>
          <a:p>
            <a:r>
              <a:rPr lang="en-GB" dirty="0"/>
              <a:t>When interpretation and emotional experience are not aligned, effort begins to fragment.</a:t>
            </a:r>
          </a:p>
          <a:p>
            <a:r>
              <a:rPr lang="en-GB" dirty="0"/>
              <a:t>Everyone remains active, yet the organisation moves with split effort."</a:t>
            </a:r>
          </a:p>
          <a:p>
            <a:endParaRPr lang="en-GB" dirty="0"/>
          </a:p>
          <a:p>
            <a:r>
              <a:rPr lang="en-GB" b="1" dirty="0"/>
              <a:t>2. Teach the three consequences on the slide.</a:t>
            </a:r>
          </a:p>
          <a:p>
            <a:r>
              <a:rPr lang="en-GB" dirty="0"/>
              <a:t>Chinese Whispers</a:t>
            </a:r>
          </a:p>
          <a:p>
            <a:r>
              <a:rPr lang="en-GB" dirty="0"/>
              <a:t>Say: "Intent mutates as it travels downward. Frontline execution bears little resemblance to boardroom intent."</a:t>
            </a:r>
          </a:p>
          <a:p>
            <a:endParaRPr lang="en-GB" dirty="0"/>
          </a:p>
          <a:p>
            <a:r>
              <a:rPr lang="en-GB" dirty="0"/>
              <a:t>Deepen, say: "Organisations that communicate direction only in crisis moments find that the alignment achieved has dissipated by the next one.</a:t>
            </a:r>
          </a:p>
          <a:p>
            <a:r>
              <a:rPr lang="en-GB" dirty="0"/>
              <a:t>Consistent, continuous direction communication produces lasting alignment."</a:t>
            </a:r>
          </a:p>
          <a:p>
            <a:r>
              <a:rPr lang="en-GB" dirty="0"/>
              <a:t>(Insight: Chinese Whispers · continuous direction. Source: Journal, 17 February 2026 — Professional Insights: Strategy)</a:t>
            </a:r>
          </a:p>
          <a:p>
            <a:endParaRPr lang="en-GB" dirty="0"/>
          </a:p>
          <a:p>
            <a:r>
              <a:rPr lang="en-GB" dirty="0"/>
              <a:t>Clarification Debt</a:t>
            </a:r>
          </a:p>
          <a:p>
            <a:r>
              <a:rPr lang="en-GB" dirty="0"/>
              <a:t>Say: "60–80% of leadership time is spent re-explaining, correcting, realigning. Leaders are patching."</a:t>
            </a:r>
          </a:p>
          <a:p>
            <a:endParaRPr lang="en-GB" dirty="0"/>
          </a:p>
          <a:p>
            <a:r>
              <a:rPr lang="en-GB" dirty="0"/>
              <a:t>Deepen, say: "Leadership communication must be designed for the receiver. Expertise becomes ineffective when it cannot be translated into clear understanding."</a:t>
            </a:r>
          </a:p>
          <a:p>
            <a:r>
              <a:rPr lang="en-GB" dirty="0"/>
              <a:t>(Insight: Clarification Debt · designed for the receiver. Source: Journal, 11 September 2026 — Professional Insights: Leadership)</a:t>
            </a:r>
          </a:p>
          <a:p>
            <a:endParaRPr lang="en-GB" dirty="0"/>
          </a:p>
          <a:p>
            <a:r>
              <a:rPr lang="en-GB" dirty="0"/>
              <a:t>Silent Disengagement</a:t>
            </a:r>
          </a:p>
          <a:p>
            <a:r>
              <a:rPr lang="en-GB" dirty="0"/>
              <a:t>Say: "People comply outwardly but withdraw inwardly. It looks like cooperation. It feels like exhaustion."</a:t>
            </a:r>
          </a:p>
          <a:p>
            <a:endParaRPr lang="en-GB" dirty="0"/>
          </a:p>
          <a:p>
            <a:r>
              <a:rPr lang="en-GB" b="1" dirty="0"/>
              <a:t>3. Give the data.</a:t>
            </a:r>
          </a:p>
          <a:p>
            <a:r>
              <a:rPr lang="en-GB" dirty="0"/>
              <a:t>Say: "Low-alignment organisations experience 41% lower productivity and 48% higher turnover.</a:t>
            </a:r>
          </a:p>
          <a:p>
            <a:r>
              <a:rPr lang="en-GB" dirty="0"/>
              <a:t>This drift is dangerous because it is gradual, rationalised, and expensive."</a:t>
            </a:r>
          </a:p>
          <a:p>
            <a:r>
              <a:rPr lang="en-GB" dirty="0"/>
              <a:t>Source on the page: Gallup; PMI.</a:t>
            </a:r>
          </a:p>
          <a:p>
            <a:endParaRPr lang="en-GB" dirty="0"/>
          </a:p>
          <a:p>
            <a:r>
              <a:rPr lang="en-GB" b="1" dirty="0"/>
              <a:t>4. Use the principle as the pivot.</a:t>
            </a:r>
          </a:p>
          <a:p>
            <a:r>
              <a:rPr lang="en-GB" dirty="0"/>
              <a:t>Ask: "Which of the three do you recognise in your own organisation this quarter?"</a:t>
            </a:r>
          </a:p>
          <a:p>
            <a:r>
              <a:rPr lang="en-GB" dirty="0"/>
              <a:t>Take two or three answers, or ask for one word in the chat.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3 — ALIGNMENT MUST BE DESIGNED</a:t>
            </a:r>
          </a:p>
          <a:p>
            <a:endParaRPr lang="en-GB" dirty="0"/>
          </a:p>
          <a:p>
            <a:r>
              <a:rPr lang="en-GB" b="1" dirty="0"/>
              <a:t>HOW TO TEACH IT:</a:t>
            </a:r>
          </a:p>
          <a:p>
            <a:endParaRPr lang="en-GB" dirty="0"/>
          </a:p>
          <a:p>
            <a:r>
              <a:rPr lang="en-GB" b="1" dirty="0"/>
              <a:t>1. State the principle.</a:t>
            </a:r>
          </a:p>
          <a:p>
            <a:r>
              <a:rPr lang="en-GB" dirty="0"/>
              <a:t>Say: "Alignment rarely emerges naturally.</a:t>
            </a:r>
          </a:p>
          <a:p>
            <a:r>
              <a:rPr lang="en-GB" dirty="0"/>
              <a:t>It must be intentionally designed through structured interventions that make interpretation and emotional climate visible."</a:t>
            </a:r>
          </a:p>
          <a:p>
            <a:endParaRPr lang="en-GB" dirty="0"/>
          </a:p>
          <a:p>
            <a:r>
              <a:rPr lang="en-GB" b="1" dirty="0"/>
              <a:t>2. Introduce the two diagnostic assessments on the slide.</a:t>
            </a:r>
          </a:p>
          <a:p>
            <a:r>
              <a:rPr lang="en-GB" dirty="0"/>
              <a:t>OCEAVL Assessment</a:t>
            </a:r>
          </a:p>
          <a:p>
            <a:r>
              <a:rPr lang="en-GB" dirty="0"/>
              <a:t>It surfaces psychological tendencies influencing executive decision-making.</a:t>
            </a:r>
          </a:p>
          <a:p>
            <a:r>
              <a:rPr lang="en-GB" dirty="0"/>
              <a:t>Dimensions: Openness, Conscientiousness, Extraversion, Agreeableness, Emotional Stability, Values Alignment, Learning Orientation.</a:t>
            </a:r>
          </a:p>
          <a:p>
            <a:endParaRPr lang="en-GB" dirty="0"/>
          </a:p>
          <a:p>
            <a:r>
              <a:rPr lang="en-GB" dirty="0"/>
              <a:t>Emotional Climate Assessment</a:t>
            </a:r>
          </a:p>
          <a:p>
            <a:r>
              <a:rPr lang="en-GB" dirty="0"/>
              <a:t>It identifies the prevailing state of being across six core emotional categories: Joy, Sadness, Anger, Fear, Disgust, Surprise.</a:t>
            </a:r>
          </a:p>
          <a:p>
            <a:r>
              <a:rPr lang="en-GB" dirty="0"/>
              <a:t>It allows leaders to stabilise engagement before demanding execution.</a:t>
            </a:r>
          </a:p>
          <a:p>
            <a:endParaRPr lang="en-GB" dirty="0"/>
          </a:p>
          <a:p>
            <a:r>
              <a:rPr lang="en-GB" b="1" dirty="0"/>
              <a:t>3. Frame the assessments.</a:t>
            </a:r>
          </a:p>
          <a:p>
            <a:r>
              <a:rPr lang="en-GB" dirty="0"/>
              <a:t>Say: "These assessments are diagnostic tools. Their power lies in the conversation they generate. Treat them as leadership mirrors."</a:t>
            </a:r>
          </a:p>
          <a:p>
            <a:r>
              <a:rPr lang="en-GB" dirty="0"/>
              <a:t>Both assessments are available on demand, in Excel or HTML format with facilitated report generation.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4 — HUMAN REACTIONS ARE PREDICTABLE</a:t>
            </a:r>
          </a:p>
          <a:p>
            <a:endParaRPr lang="en-GB" dirty="0"/>
          </a:p>
          <a:p>
            <a:r>
              <a:rPr lang="en-GB" b="1" dirty="0"/>
              <a:t>HOW TO TEACH IT:</a:t>
            </a:r>
          </a:p>
          <a:p>
            <a:endParaRPr lang="en-GB" dirty="0"/>
          </a:p>
          <a:p>
            <a:r>
              <a:rPr lang="en-GB" b="1" dirty="0"/>
              <a:t>1. State the principle.</a:t>
            </a:r>
          </a:p>
          <a:p>
            <a:r>
              <a:rPr lang="en-GB" dirty="0"/>
              <a:t>Say: "Reactions to strategic change follow predictable psychological patterns."</a:t>
            </a:r>
          </a:p>
          <a:p>
            <a:endParaRPr lang="en-GB" dirty="0"/>
          </a:p>
          <a:p>
            <a:r>
              <a:rPr lang="en-GB" b="1" dirty="0"/>
              <a:t>2. Explain why.</a:t>
            </a:r>
          </a:p>
          <a:p>
            <a:r>
              <a:rPr lang="en-GB" dirty="0"/>
              <a:t>Say: "The SCARF Model, developed by David Rock, explains five social conditions that trigger emotional responses during change.</a:t>
            </a:r>
          </a:p>
          <a:p>
            <a:r>
              <a:rPr lang="en-GB" dirty="0"/>
              <a:t>The human brain processes social change using the same threat circuitry as physical danger.</a:t>
            </a:r>
          </a:p>
          <a:p>
            <a:r>
              <a:rPr lang="en-GB" dirty="0"/>
              <a:t>Any new goal, system, or way of working is evaluated emotionally before it is evaluated rationally."</a:t>
            </a:r>
          </a:p>
          <a:p>
            <a:endParaRPr lang="en-GB" dirty="0"/>
          </a:p>
          <a:p>
            <a:r>
              <a:rPr lang="en-GB" b="1" dirty="0"/>
              <a:t>3. Say where the model is taught.</a:t>
            </a:r>
          </a:p>
          <a:p>
            <a:r>
              <a:rPr lang="en-GB" dirty="0"/>
              <a:t>Say: "The five SCARF triggers are explored in detail in 1.5."</a:t>
            </a:r>
          </a:p>
          <a:p>
            <a:r>
              <a:rPr lang="en-GB" dirty="0"/>
              <a:t>Say: "The power of SCARF lies in the recognition. When a leader can name which trigger is driving resistance, they can address the root cause."</a:t>
            </a:r>
          </a:p>
          <a:p>
            <a:r>
              <a:rPr lang="en-GB" dirty="0"/>
              <a:t>The SCARF Tool is available on demand for leaders who want to monitor observable behaviours and proactively strengthen their alignment of heart and mind.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5 — EXECUTION MUST BE VISIBLE IN BEHAVIOUR</a:t>
            </a:r>
          </a:p>
          <a:p>
            <a:endParaRPr lang="en-GB" dirty="0"/>
          </a:p>
          <a:p>
            <a:r>
              <a:rPr lang="en-GB" b="1" dirty="0"/>
              <a:t>HOW TO TEACH IT:</a:t>
            </a:r>
          </a:p>
          <a:p>
            <a:endParaRPr lang="en-GB" dirty="0"/>
          </a:p>
          <a:p>
            <a:r>
              <a:rPr lang="en-GB" b="1" dirty="0"/>
              <a:t>1. State the principle.</a:t>
            </a:r>
          </a:p>
          <a:p>
            <a:r>
              <a:rPr lang="en-GB" dirty="0"/>
              <a:t>Say: "Strategic alignment ultimately becomes visible through behaviour.</a:t>
            </a:r>
          </a:p>
          <a:p>
            <a:r>
              <a:rPr lang="en-GB" dirty="0"/>
              <a:t>Without observable behaviour, alignment remains theoretical.</a:t>
            </a:r>
          </a:p>
          <a:p>
            <a:r>
              <a:rPr lang="en-GB" dirty="0"/>
              <a:t>With behavioural standards, alignment becomes visible, measurable, and sustainable."</a:t>
            </a:r>
          </a:p>
          <a:p>
            <a:endParaRPr lang="en-GB" dirty="0"/>
          </a:p>
          <a:p>
            <a:r>
              <a:rPr lang="en-GB" b="1" dirty="0"/>
              <a:t>2. Introduce ACE-IT.</a:t>
            </a:r>
          </a:p>
          <a:p>
            <a:r>
              <a:rPr lang="en-GB" dirty="0"/>
              <a:t>Say: "The ACE-IT Framework defines five universally desired behaviours: Accountability, Commitment, Engagement, Integrity, Transparency.</a:t>
            </a:r>
          </a:p>
          <a:p>
            <a:r>
              <a:rPr lang="en-GB" dirty="0"/>
              <a:t>These behaviours are independent of an organisation’s stated values.</a:t>
            </a:r>
          </a:p>
          <a:p>
            <a:r>
              <a:rPr lang="en-GB" dirty="0"/>
              <a:t>They represent the minimum behavioural standard for any leadership team serious about execution."</a:t>
            </a:r>
          </a:p>
          <a:p>
            <a:r>
              <a:rPr lang="en-GB" dirty="0"/>
              <a:t>ACE-IT is explored in detail in 1.7.</a:t>
            </a:r>
          </a:p>
          <a:p>
            <a:endParaRPr lang="en-GB" dirty="0"/>
          </a:p>
          <a:p>
            <a:r>
              <a:rPr lang="en-GB" b="1" dirty="0"/>
              <a:t>3. Ask the diagnostic question.</a:t>
            </a:r>
          </a:p>
          <a:p>
            <a:r>
              <a:rPr lang="en-GB" dirty="0"/>
              <a:t>Ask: "If someone external observed your team for one week, which ACE-IT behaviour would they see most clearly? Which would be absent?"</a:t>
            </a:r>
          </a:p>
          <a:p>
            <a:r>
              <a:rPr lang="en-GB" dirty="0"/>
              <a:t>The honest answer is a diagnostic.</a:t>
            </a:r>
          </a:p>
          <a:p>
            <a:endParaRPr lang="en-GB" dirty="0"/>
          </a:p>
          <a:p>
            <a:r>
              <a:rPr lang="en-GB" b="1" dirty="0"/>
              <a:t>4. Close the five principles.</a:t>
            </a:r>
          </a:p>
          <a:p>
            <a:r>
              <a:rPr lang="en-GB" dirty="0"/>
              <a:t>Ask: "Which principle describes the most critical gap in your leadership team right now? Choose one."</a:t>
            </a:r>
          </a:p>
          <a:p>
            <a:r>
              <a:rPr lang="en-GB" dirty="0"/>
              <a:t>The choice itself is diagnostic. Online: ask for the number of the principle in the chat.</a:t>
            </a:r>
          </a:p>
          <a:p>
            <a:endParaRPr lang="en-GB" dirty="0"/>
          </a:p>
          <a:p>
            <a:r>
              <a:rPr lang="en-GB" b="1" dirty="0"/>
              <a:t>5. Bridge to 1.3.</a:t>
            </a:r>
          </a:p>
          <a:p>
            <a:r>
              <a:rPr lang="en-GB" dirty="0"/>
              <a:t>Say: "1.1 showed that strategy reaches people through two filters, Mind and Heart. 1.2 showed that alignment has to be designed.</a:t>
            </a:r>
          </a:p>
          <a:p>
            <a:r>
              <a:rPr lang="en-GB" dirty="0"/>
              <a:t>We now apply both to the moment a strategy asks people to work differently."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CHANGE MANAGEMENT: THE 4 CHECKS OF MIND, HEART, HANDS AND HABIT (EXPAND EACH CHECK) · THE EVENT AND THE TRANSITION</a:t>
            </a:r>
          </a:p>
          <a:p>
            <a:endParaRPr lang="en-GB" dirty="0"/>
          </a:p>
          <a:p>
            <a:r>
              <a:rPr lang="en-GB" b="1" dirty="0"/>
              <a:t>HOW TO TEACH IT:</a:t>
            </a:r>
          </a:p>
          <a:p>
            <a:endParaRPr lang="en-GB" dirty="0"/>
          </a:p>
          <a:p>
            <a:r>
              <a:rPr lang="en-GB" b="1" dirty="0"/>
              <a:t>1. Open with the question.</a:t>
            </a:r>
          </a:p>
          <a:p>
            <a:r>
              <a:rPr lang="en-GB" dirty="0"/>
              <a:t>Ask: "Think of a change your organisation announced well and still struggled to land. On the day after the announcement, what did you believe was done?"</a:t>
            </a:r>
          </a:p>
          <a:p>
            <a:r>
              <a:rPr lang="en-GB" dirty="0"/>
              <a:t>Use the answers to separate the event from the transition.</a:t>
            </a:r>
          </a:p>
          <a:p>
            <a:endParaRPr lang="en-GB" dirty="0"/>
          </a:p>
          <a:p>
            <a:r>
              <a:rPr lang="en-GB" b="1" dirty="0"/>
              <a:t>2. Define change management.</a:t>
            </a:r>
          </a:p>
          <a:p>
            <a:r>
              <a:rPr lang="en-GB" dirty="0"/>
              <a:t>Say: "Change management is the leadership discipline of moving people from current practice to the practice the strategy requires."</a:t>
            </a:r>
          </a:p>
          <a:p>
            <a:r>
              <a:rPr lang="en-GB" dirty="0"/>
              <a:t>Section intent: leaders leave 1.3 able to say which check a change has reached.</a:t>
            </a:r>
          </a:p>
          <a:p>
            <a:endParaRPr lang="en-GB" dirty="0"/>
          </a:p>
          <a:p>
            <a:r>
              <a:rPr lang="en-GB" b="1" dirty="0"/>
              <a:t>3. Teach the event.</a:t>
            </a:r>
          </a:p>
          <a:p>
            <a:r>
              <a:rPr lang="en-GB" dirty="0"/>
              <a:t>Say: "A change is an event.</a:t>
            </a:r>
          </a:p>
          <a:p>
            <a:r>
              <a:rPr lang="en-GB" dirty="0"/>
              <a:t>It is announced on a date, and on that date the structure, the system or the target is different.</a:t>
            </a:r>
          </a:p>
          <a:p>
            <a:r>
              <a:rPr lang="en-GB" dirty="0"/>
              <a:t>The event belongs to the organisation."</a:t>
            </a:r>
          </a:p>
          <a:p>
            <a:endParaRPr lang="en-GB" dirty="0"/>
          </a:p>
          <a:p>
            <a:r>
              <a:rPr lang="en-GB" b="1" dirty="0"/>
              <a:t>4. Teach the transition.</a:t>
            </a:r>
          </a:p>
          <a:p>
            <a:r>
              <a:rPr lang="en-GB" dirty="0"/>
              <a:t>Say: "The transition is what each affected person goes through afterwards: letting go of a familiar practice, working out what the new one asks of them, and becoming able to do it.</a:t>
            </a:r>
          </a:p>
          <a:p>
            <a:r>
              <a:rPr lang="en-GB" dirty="0"/>
              <a:t>The transition belongs to the person."</a:t>
            </a:r>
          </a:p>
          <a:p>
            <a:endParaRPr lang="en-GB" dirty="0"/>
          </a:p>
          <a:p>
            <a:r>
              <a:rPr lang="en-GB" b="1" dirty="0"/>
              <a:t>5. Name the distance between the two.</a:t>
            </a:r>
          </a:p>
          <a:p>
            <a:r>
              <a:rPr lang="en-GB" dirty="0"/>
              <a:t>Say: "A leadership team debates a change for months before announcing it.</a:t>
            </a:r>
          </a:p>
          <a:p>
            <a:r>
              <a:rPr lang="en-GB" dirty="0"/>
              <a:t>Leaders finish their own transition on the day everyone else begins theirs.</a:t>
            </a:r>
          </a:p>
          <a:p>
            <a:r>
              <a:rPr lang="en-GB" dirty="0"/>
              <a:t>The distance between the two is where impatience on one side meets resistance on the other.</a:t>
            </a:r>
          </a:p>
          <a:p>
            <a:r>
              <a:rPr lang="en-GB" dirty="0"/>
              <a:t>Change management is the work of leading people across that distance."</a:t>
            </a:r>
          </a:p>
          <a:p>
            <a:endParaRPr lang="en-GB" dirty="0"/>
          </a:p>
          <a:p>
            <a:r>
              <a:rPr lang="en-GB" dirty="0"/>
              <a:t>Deepen, say: "Teams that move straight from ‘here is what changed’ to ‘here is what we need you to do next’ produce resistance they cannot explain.</a:t>
            </a:r>
          </a:p>
          <a:p>
            <a:r>
              <a:rPr lang="en-GB" dirty="0"/>
              <a:t>The resistance signals that people do not yet feel understood."</a:t>
            </a:r>
          </a:p>
          <a:p>
            <a:r>
              <a:rPr lang="en-GB" dirty="0"/>
              <a:t>(Insight: Listening first. Source: Journal, 25 June 2026 — Professional Insights: Culture)</a:t>
            </a:r>
          </a:p>
          <a:p>
            <a:endParaRPr lang="en-GB" dirty="0"/>
          </a:p>
          <a:p>
            <a:r>
              <a:rPr lang="en-GB" b="1" dirty="0"/>
              <a:t>6. Set up the change each leader carries.</a:t>
            </a:r>
          </a:p>
          <a:p>
            <a:r>
              <a:rPr lang="en-GB" dirty="0"/>
              <a:t>Say: "Write down one live change your strategy requires of a named group. You carry it through every later part and into the Section 5 exercise."</a:t>
            </a:r>
          </a:p>
          <a:p>
            <a:endParaRPr lang="en-GB" dirty="0"/>
          </a:p>
          <a:p>
            <a:r>
              <a:rPr lang="en-GB" b="1" dirty="0"/>
              <a:t>ON THE PORTAL, AFTER THE TEACHING:</a:t>
            </a:r>
          </a:p>
          <a:p>
            <a:r>
              <a:rPr lang="en-GB" dirty="0"/>
              <a:t>Participants write the reflection of 1.3 in the participant file:</a:t>
            </a:r>
          </a:p>
          <a:p>
            <a:r>
              <a:rPr lang="en-GB" dirty="0"/>
              <a:t>"Write down one change your strategy requires of a named group. You will carry this change through the rest of the unit. On the day it was announced, how far through their own transition were the leaders, and how far were the people affected?"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CHANGE MANAGEMENT: THE 4 CHECKS OF MIND, HEART, HANDS AND HABIT (EXPAND EACH CHECK) · THE 4 CHECKS</a:t>
            </a:r>
          </a:p>
          <a:p>
            <a:endParaRPr lang="en-GB" dirty="0"/>
          </a:p>
          <a:p>
            <a:r>
              <a:rPr lang="en-GB" b="1" dirty="0"/>
              <a:t>HOW TO TEACH IT:</a:t>
            </a:r>
          </a:p>
          <a:p>
            <a:endParaRPr lang="en-GB" dirty="0"/>
          </a:p>
          <a:p>
            <a:r>
              <a:rPr lang="en-GB" b="1" dirty="0"/>
              <a:t>1. Introduce the 4 Checks.</a:t>
            </a:r>
          </a:p>
          <a:p>
            <a:r>
              <a:rPr lang="en-GB" dirty="0"/>
              <a:t>Say: "A change is adopted when it passes four checks for the people it affects.</a:t>
            </a:r>
          </a:p>
          <a:p>
            <a:r>
              <a:rPr lang="en-GB" dirty="0"/>
              <a:t>Mind and Heart are the two filters from 1.1.</a:t>
            </a:r>
          </a:p>
          <a:p>
            <a:r>
              <a:rPr lang="en-GB" dirty="0"/>
              <a:t>Hands and Habit extend the same path to the point where the new practice is real.</a:t>
            </a:r>
          </a:p>
          <a:p>
            <a:r>
              <a:rPr lang="en-GB" dirty="0"/>
              <a:t>Each check asks one question and has one tool."</a:t>
            </a:r>
          </a:p>
          <a:p>
            <a:endParaRPr lang="en-GB" dirty="0"/>
          </a:p>
          <a:p>
            <a:r>
              <a:rPr lang="en-GB" b="1" dirty="0"/>
              <a:t>2. Walk the four checks on the slide.</a:t>
            </a:r>
          </a:p>
          <a:p>
            <a:r>
              <a:rPr lang="en-GB" dirty="0"/>
              <a:t>Check 1 · Mind: they understand the change, why it matters and what they do differently.</a:t>
            </a:r>
          </a:p>
          <a:p>
            <a:r>
              <a:rPr lang="en-GB" dirty="0"/>
              <a:t>Tool: the 3S Check (1.4).</a:t>
            </a:r>
          </a:p>
          <a:p>
            <a:r>
              <a:rPr lang="en-GB" dirty="0"/>
              <a:t>Passed when: people in the same team describe the change in the same way.</a:t>
            </a:r>
          </a:p>
          <a:p>
            <a:r>
              <a:rPr lang="en-GB" dirty="0"/>
              <a:t>Failed when: people repeat the slogan and cannot say what they personally do differently.</a:t>
            </a:r>
          </a:p>
          <a:p>
            <a:endParaRPr lang="en-GB" dirty="0"/>
          </a:p>
          <a:p>
            <a:r>
              <a:rPr lang="en-GB" dirty="0"/>
              <a:t>Check 2 · Heart: they want it to succeed.</a:t>
            </a:r>
          </a:p>
          <a:p>
            <a:r>
              <a:rPr lang="en-GB" dirty="0"/>
              <a:t>Tool: the SCARF Model (1.5).</a:t>
            </a:r>
          </a:p>
          <a:p>
            <a:r>
              <a:rPr lang="en-GB" dirty="0"/>
              <a:t>Passed when: people bring problems and ideas to the change.</a:t>
            </a:r>
          </a:p>
          <a:p>
            <a:r>
              <a:rPr lang="en-GB" dirty="0"/>
              <a:t>Failed when: the room is quiet, effort is minimal and people say they are “waiting for alignment”.</a:t>
            </a:r>
          </a:p>
          <a:p>
            <a:endParaRPr lang="en-GB" dirty="0"/>
          </a:p>
          <a:p>
            <a:r>
              <a:rPr lang="en-GB" dirty="0"/>
              <a:t>Check 3 · Hands: they are able to do it.</a:t>
            </a:r>
          </a:p>
          <a:p>
            <a:r>
              <a:rPr lang="en-GB" dirty="0"/>
              <a:t>Tool: the STAT Check (1.6).</a:t>
            </a:r>
          </a:p>
          <a:p>
            <a:r>
              <a:rPr lang="en-GB" dirty="0"/>
              <a:t>Passed when: people do the new work unaided.</a:t>
            </a:r>
          </a:p>
          <a:p>
            <a:r>
              <a:rPr lang="en-GB" dirty="0"/>
              <a:t>Failed when: workarounds appear, decisions are passed upward and the new practice is done last.</a:t>
            </a:r>
          </a:p>
          <a:p>
            <a:endParaRPr lang="en-GB" dirty="0"/>
          </a:p>
          <a:p>
            <a:r>
              <a:rPr lang="en-GB" dirty="0"/>
              <a:t>Check 4 · Habit: it has become the way they work.</a:t>
            </a:r>
          </a:p>
          <a:p>
            <a:r>
              <a:rPr lang="en-GB" dirty="0"/>
              <a:t>Tool: ACE-IT (1.7).</a:t>
            </a:r>
          </a:p>
          <a:p>
            <a:r>
              <a:rPr lang="en-GB" dirty="0"/>
              <a:t>Passed when: the practice holds when the leader is absent.</a:t>
            </a:r>
          </a:p>
          <a:p>
            <a:r>
              <a:rPr lang="en-GB" dirty="0"/>
              <a:t>Failed when: the old way returns under the first pressure.</a:t>
            </a:r>
          </a:p>
          <a:p>
            <a:endParaRPr lang="en-GB" dirty="0"/>
          </a:p>
          <a:p>
            <a:r>
              <a:rPr lang="en-GB" b="1" dirty="0"/>
              <a:t>3. Explain why the order matters.</a:t>
            </a:r>
          </a:p>
          <a:p>
            <a:r>
              <a:rPr lang="en-GB" dirty="0"/>
              <a:t>Say: "Each check depends on the one before it.</a:t>
            </a:r>
          </a:p>
          <a:p>
            <a:r>
              <a:rPr lang="en-GB" dirty="0"/>
              <a:t>A person cannot want a change they have misread.</a:t>
            </a:r>
          </a:p>
          <a:p>
            <a:r>
              <a:rPr lang="en-GB" dirty="0"/>
              <a:t>They will not perform a change they do not want, and skill offered to an unwilling person is left unused.</a:t>
            </a:r>
          </a:p>
          <a:p>
            <a:r>
              <a:rPr lang="en-GB" dirty="0"/>
              <a:t>A practice cannot become habit while most people are unable to perform it."</a:t>
            </a:r>
          </a:p>
          <a:p>
            <a:r>
              <a:rPr lang="en-GB" dirty="0"/>
              <a:t>Say: "The practical rule follows.</a:t>
            </a:r>
          </a:p>
          <a:p>
            <a:r>
              <a:rPr lang="en-GB" dirty="0"/>
              <a:t>A change stalls at the first check it fails, and that check is where the leader’s effort belongs.</a:t>
            </a:r>
          </a:p>
          <a:p>
            <a:r>
              <a:rPr lang="en-GB" dirty="0"/>
              <a:t>Effort spent further along the path is lost."</a:t>
            </a:r>
          </a:p>
          <a:p>
            <a:endParaRPr lang="en-GB" dirty="0"/>
          </a:p>
          <a:p>
            <a:r>
              <a:rPr lang="en-GB" b="1" dirty="0"/>
              <a:t>EXAMPLE</a:t>
            </a:r>
          </a:p>
          <a:p>
            <a:r>
              <a:rPr lang="en-GB" dirty="0"/>
              <a:t>A team that understands a change and resents it has stalled at Heart. More explanation will not move it.</a:t>
            </a:r>
          </a:p>
          <a:p>
            <a:r>
              <a:rPr lang="en-GB" dirty="0"/>
              <a:t>A team that wants a change and has no authority to act has stalled at Hands. More encouragement will not move it.</a:t>
            </a:r>
          </a:p>
          <a:p>
            <a:r>
              <a:rPr lang="en-GB" dirty="0"/>
              <a:t>A team that did it well for a month and drifted back has stalled at Habit. A relaunch will not hold it.</a:t>
            </a:r>
          </a:p>
          <a:p>
            <a:endParaRPr lang="en-GB" dirty="0"/>
          </a:p>
          <a:p>
            <a:r>
              <a:rPr lang="en-GB" b="1" dirty="0"/>
              <a:t>4. Give the leader’s four jobs.</a:t>
            </a:r>
          </a:p>
          <a:p>
            <a:r>
              <a:rPr lang="en-GB" dirty="0"/>
              <a:t>Say: "Leading the transition means doing one job at each check. Each job is taught with its tool in the four parts that follow."</a:t>
            </a:r>
          </a:p>
          <a:p>
            <a:r>
              <a:rPr lang="en-GB" dirty="0"/>
              <a:t>- Mind · 3S · Explain. Complete when: three people from the affected group give the same Shift, Stake and Step.</a:t>
            </a:r>
          </a:p>
          <a:p>
            <a:r>
              <a:rPr lang="en-GB" dirty="0"/>
              <a:t>- Heart · SCARF · Involve. Complete when: the people affected can point to a part of the change they shaped.</a:t>
            </a:r>
          </a:p>
          <a:p>
            <a:r>
              <a:rPr lang="en-GB" dirty="0"/>
              <a:t>- Hands · STAT · Equip. Complete when: a person can perform the new practice from start to finish without asking permission or using a workaround.</a:t>
            </a:r>
          </a:p>
          <a:p>
            <a:r>
              <a:rPr lang="en-GB" dirty="0"/>
              <a:t>- Habit · ACE-IT · Reinforce. Complete when: the practice holds through a full review period with the leader absent.</a:t>
            </a:r>
          </a:p>
          <a:p>
            <a:r>
              <a:rPr lang="en-GB" dirty="0"/>
              <a:t>Industry parallel: the Prosci ADKAR® Model (Awareness, Desire, Knowledge, Ability, Reinforcement).</a:t>
            </a:r>
          </a:p>
          <a:p>
            <a:endParaRPr lang="en-GB" dirty="0"/>
          </a:p>
          <a:p>
            <a:r>
              <a:rPr lang="en-GB" b="1" dirty="0"/>
              <a:t>5. Ask the key question.</a:t>
            </a:r>
          </a:p>
          <a:p>
            <a:r>
              <a:rPr lang="en-GB" dirty="0"/>
              <a:t>Ask: "For the change you wrote down, which check would your people fail first?"</a:t>
            </a:r>
          </a:p>
          <a:p>
            <a:r>
              <a:rPr lang="en-GB" dirty="0"/>
              <a:t>Take three answers. Note which checks are named and which are left out, and return to the list in 1.6.</a:t>
            </a:r>
          </a:p>
          <a:p>
            <a:r>
              <a:rPr lang="en-GB" dirty="0"/>
              <a:t>Watch for: leaders who treat the four checks as four communications. Only the first is about the message.</a:t>
            </a:r>
          </a:p>
          <a:p>
            <a:endParaRPr lang="en-GB" dirty="0"/>
          </a:p>
          <a:p>
            <a:r>
              <a:rPr lang="en-GB" b="1" dirty="0"/>
              <a:t>6. Land the insight of the part.</a:t>
            </a:r>
          </a:p>
          <a:p>
            <a:r>
              <a:rPr lang="en-GB" dirty="0"/>
              <a:t>Ask: "For the last change you announced, which check has it reached today?"</a:t>
            </a:r>
          </a:p>
          <a:p>
            <a:r>
              <a:rPr lang="en-GB" dirty="0"/>
              <a:t>Say: "If you cannot name the check, the change has been announced and left to chance."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3S CHECK: SHIFT, STAKE, STEP (THREE QUESTIONS)</a:t>
            </a:r>
          </a:p>
          <a:p>
            <a:endParaRPr lang="en-GB" dirty="0"/>
          </a:p>
          <a:p>
            <a:r>
              <a:rPr lang="en-GB" b="1" dirty="0"/>
              <a:t>HOW TO TEACH IT:</a:t>
            </a:r>
          </a:p>
          <a:p>
            <a:endParaRPr lang="en-GB" dirty="0"/>
          </a:p>
          <a:p>
            <a:r>
              <a:rPr lang="en-GB" b="1" dirty="0"/>
              <a:t>1. Frame the check.</a:t>
            </a:r>
          </a:p>
          <a:p>
            <a:r>
              <a:rPr lang="en-GB" dirty="0"/>
              <a:t>Say: "3S is the Mind check.</a:t>
            </a:r>
          </a:p>
          <a:p>
            <a:r>
              <a:rPr lang="en-GB" dirty="0"/>
              <a:t>It asks whether the people affected have understood the change as the leader intended it.</a:t>
            </a:r>
          </a:p>
          <a:p>
            <a:r>
              <a:rPr lang="en-GB" dirty="0"/>
              <a:t>Understanding is interpretation.</a:t>
            </a:r>
          </a:p>
          <a:p>
            <a:r>
              <a:rPr lang="en-GB" dirty="0"/>
              <a:t>Each person rebuilds the message through their own expertise, mental shortcuts, past experience and risk perception."</a:t>
            </a:r>
          </a:p>
          <a:p>
            <a:r>
              <a:rPr lang="en-GB" dirty="0"/>
              <a:t>Say: "The Functional Bias Problem from 1.1 applies in full: finance hears a cost decision, operations hears a process change, and the front line hears a judgement on how they have worked until now."</a:t>
            </a:r>
          </a:p>
          <a:p>
            <a:r>
              <a:rPr lang="en-GB" dirty="0"/>
              <a:t>Say: "Leaders are poorly placed to judge this for themselves.</a:t>
            </a:r>
          </a:p>
          <a:p>
            <a:r>
              <a:rPr lang="en-GB" dirty="0"/>
              <a:t>After months inside a change, its logic feels obvious to them, and an obvious message feels like a clear one.</a:t>
            </a:r>
          </a:p>
          <a:p>
            <a:r>
              <a:rPr lang="en-GB" dirty="0"/>
              <a:t>The 3S Check replaces that feeling with a test.</a:t>
            </a:r>
          </a:p>
          <a:p>
            <a:r>
              <a:rPr lang="en-GB" dirty="0"/>
              <a:t>Mind passes when the people affected can say three things about the change in their own words."</a:t>
            </a:r>
          </a:p>
          <a:p>
            <a:endParaRPr lang="en-GB" dirty="0"/>
          </a:p>
          <a:p>
            <a:r>
              <a:rPr lang="en-GB" b="1" dirty="0"/>
              <a:t>2. Teach the three questions on the slide.</a:t>
            </a:r>
          </a:p>
          <a:p>
            <a:r>
              <a:rPr lang="en-GB" dirty="0"/>
              <a:t>Shift — “What is changing?”</a:t>
            </a:r>
          </a:p>
          <a:p>
            <a:r>
              <a:rPr lang="en-GB" dirty="0"/>
              <a:t>The Shift names the practice that ends and the practice that begins, for a named group, from a named date.</a:t>
            </a:r>
          </a:p>
          <a:p>
            <a:r>
              <a:rPr lang="en-GB" dirty="0"/>
              <a:t>Weak: “We are becoming more customer-focused.”</a:t>
            </a:r>
          </a:p>
          <a:p>
            <a:r>
              <a:rPr lang="en-GB" dirty="0"/>
              <a:t>Clear: “From March, agents resolve complaints on the first call.”</a:t>
            </a:r>
          </a:p>
          <a:p>
            <a:r>
              <a:rPr lang="en-GB" dirty="0"/>
              <a:t>Leader’s move: state the Shift as from and to: what stops, what starts, for whom, from when.</a:t>
            </a:r>
          </a:p>
          <a:p>
            <a:endParaRPr lang="en-GB" dirty="0"/>
          </a:p>
          <a:p>
            <a:r>
              <a:rPr lang="en-GB" dirty="0"/>
              <a:t>Stake — “What do we gain if we change, and what do we lose if we stay as we are?”</a:t>
            </a:r>
          </a:p>
          <a:p>
            <a:r>
              <a:rPr lang="en-GB" dirty="0"/>
              <a:t>The Stake is why the change matters, and it has two sides. Both are needed, because people weigh a loss more heavily than an equal gain.</a:t>
            </a:r>
          </a:p>
          <a:p>
            <a:r>
              <a:rPr lang="en-GB" dirty="0"/>
              <a:t>Weak: “It supports our strategy.”</a:t>
            </a:r>
          </a:p>
          <a:p>
            <a:r>
              <a:rPr lang="en-GB" dirty="0"/>
              <a:t>Clear: “We keep the customers who now leave after a two-day wait. If we stay as we are, we keep losing them.”</a:t>
            </a:r>
          </a:p>
          <a:p>
            <a:r>
              <a:rPr lang="en-GB" dirty="0"/>
              <a:t>Leader’s move: state the gain and the loss together, in the group’s own terms.</a:t>
            </a:r>
          </a:p>
          <a:p>
            <a:endParaRPr lang="en-GB" dirty="0"/>
          </a:p>
          <a:p>
            <a:r>
              <a:rPr lang="en-GB" dirty="0"/>
              <a:t>Step — “What do I do differently?”</a:t>
            </a:r>
          </a:p>
          <a:p>
            <a:r>
              <a:rPr lang="en-GB" dirty="0"/>
              <a:t>The Step is the person’s own part. It is said in the first person and is small enough to do next week.</a:t>
            </a:r>
          </a:p>
          <a:p>
            <a:r>
              <a:rPr lang="en-GB" dirty="0"/>
              <a:t>Weak: “Embrace the new process.”</a:t>
            </a:r>
          </a:p>
          <a:p>
            <a:r>
              <a:rPr lang="en-GB" dirty="0"/>
              <a:t>Clear: “I decide on the call, within my limit.”</a:t>
            </a:r>
          </a:p>
          <a:p>
            <a:r>
              <a:rPr lang="en-GB" dirty="0"/>
              <a:t>Leader’s move: give each affected role its own Step, and ask people to say it back.</a:t>
            </a:r>
          </a:p>
          <a:p>
            <a:endParaRPr lang="en-GB" dirty="0"/>
          </a:p>
          <a:p>
            <a:r>
              <a:rPr lang="en-GB" b="1" dirty="0"/>
              <a:t>3. Run the live demonstration.</a:t>
            </a:r>
          </a:p>
          <a:p>
            <a:r>
              <a:rPr lang="en-GB" dirty="0"/>
              <a:t>Ask two leaders to write the Shift, the Stake and the Step for the same change, without conferring, and post them in the chat.</a:t>
            </a:r>
          </a:p>
          <a:p>
            <a:r>
              <a:rPr lang="en-GB" dirty="0"/>
              <a:t>The difference between the two versions is the lesson.</a:t>
            </a:r>
          </a:p>
          <a:p>
            <a:r>
              <a:rPr lang="en-GB" dirty="0"/>
              <a:t>Say: "Two leaders with different versions pass on two different changes."</a:t>
            </a:r>
          </a:p>
          <a:p>
            <a:r>
              <a:rPr lang="en-GB" dirty="0"/>
              <a:t>Check that each Stake gives both sides. Where only the gain is given, ask: "What happens to this team in a year if nothing changes?"</a:t>
            </a:r>
          </a:p>
          <a:p>
            <a:endParaRPr lang="en-GB" dirty="0"/>
          </a:p>
          <a:p>
            <a:r>
              <a:rPr lang="en-GB" b="1" dirty="0"/>
              <a:t>4. Teach how to run the check and read the result.</a:t>
            </a:r>
          </a:p>
          <a:p>
            <a:r>
              <a:rPr lang="en-GB" dirty="0"/>
              <a:t>1. Write your own Shift, Stake and Step for the change.</a:t>
            </a:r>
          </a:p>
          <a:p>
            <a:r>
              <a:rPr lang="en-GB" dirty="0"/>
              <a:t>2. Ask three people from the affected group to say theirs, without prompting.</a:t>
            </a:r>
          </a:p>
          <a:p>
            <a:r>
              <a:rPr lang="en-GB" dirty="0"/>
              <a:t>3. Compare their versions with yours and with each other.</a:t>
            </a:r>
          </a:p>
          <a:p>
            <a:endParaRPr lang="en-GB" dirty="0"/>
          </a:p>
          <a:p>
            <a:r>
              <a:rPr lang="en-GB" dirty="0"/>
              <a:t>- The versions match: Mind passes. Move to the Heart check.</a:t>
            </a:r>
          </a:p>
          <a:p>
            <a:r>
              <a:rPr lang="en-GB" dirty="0"/>
              <a:t>- Same Shift, different Stake: people know what is changing and disagree on why. Restate the Stake in their terms.</a:t>
            </a:r>
          </a:p>
          <a:p>
            <a:r>
              <a:rPr lang="en-GB" dirty="0"/>
              <a:t>- Shift and Stake are clear, and there is no Step: people see the change as someone else’s. Give each role its own Step.</a:t>
            </a:r>
          </a:p>
          <a:p>
            <a:r>
              <a:rPr lang="en-GB" dirty="0"/>
              <a:t>- Different Shifts: Chinese Whispers. Return to one message, said in the same words by every leader.</a:t>
            </a:r>
          </a:p>
          <a:p>
            <a:endParaRPr lang="en-GB" dirty="0"/>
          </a:p>
          <a:p>
            <a:r>
              <a:rPr lang="en-GB" b="1" dirty="0"/>
              <a:t>5. Name the leader’s job at this check: Explain.</a:t>
            </a:r>
          </a:p>
          <a:p>
            <a:r>
              <a:rPr lang="en-GB" dirty="0"/>
              <a:t>Say: "The job is to give people a version of the change they can repeat.</a:t>
            </a:r>
          </a:p>
          <a:p>
            <a:r>
              <a:rPr lang="en-GB" dirty="0"/>
              <a:t>State the Shift, the Stake and the Step in the same words each time, in every forum, until people can say them back.</a:t>
            </a:r>
          </a:p>
          <a:p>
            <a:r>
              <a:rPr lang="en-GB" dirty="0"/>
              <a:t>Repetition feels excessive to the leader long before the message has landed."</a:t>
            </a:r>
          </a:p>
          <a:p>
            <a:r>
              <a:rPr lang="en-GB" dirty="0"/>
              <a:t>Complete when: three people from the affected group give the same Shift, Stake and Step.</a:t>
            </a:r>
          </a:p>
          <a:p>
            <a:r>
              <a:rPr lang="en-GB" dirty="0"/>
              <a:t>Sounds like: “From March, complaints are resolved on the first call. We are losing customers who wait two days for an answer. Your part is to decide on the call, within your limit.”</a:t>
            </a:r>
          </a:p>
          <a:p>
            <a:r>
              <a:rPr lang="en-GB" dirty="0"/>
              <a:t>When skipped: people fill the gap with their own version, and Clarification Debt builds.</a:t>
            </a:r>
          </a:p>
          <a:p>
            <a:endParaRPr lang="en-GB" dirty="0"/>
          </a:p>
          <a:p>
            <a:r>
              <a:rPr lang="en-GB" dirty="0"/>
              <a:t>Deepen, say: "Where people do not know the governing principles, the strategic direction or the cultural standards, drift follows.</a:t>
            </a:r>
          </a:p>
          <a:p>
            <a:r>
              <a:rPr lang="en-GB" dirty="0"/>
              <a:t>The leaders responsible for communicating them are accountable for the gap between what people know and what they need to know."</a:t>
            </a:r>
          </a:p>
          <a:p>
            <a:r>
              <a:rPr lang="en-GB" dirty="0"/>
              <a:t>(Insight: Leaders own the knowledge gap. Source: Journal, 26 March 2026 — Professional Insights)</a:t>
            </a:r>
          </a:p>
          <a:p>
            <a:endParaRPr lang="en-GB" dirty="0"/>
          </a:p>
          <a:p>
            <a:r>
              <a:rPr lang="en-GB" dirty="0"/>
              <a:t>Watch for: Explain rated as complete because an announcement went out. Probe: "What would a front-line employee say back to you?"</a:t>
            </a:r>
          </a:p>
          <a:p>
            <a:r>
              <a:rPr lang="en-GB" dirty="0"/>
              <a:t>Watch for: a Step written for the organisation. Ask the leader to say it in the first person, as a member of the affected group.</a:t>
            </a:r>
          </a:p>
          <a:p>
            <a:endParaRPr lang="en-GB" dirty="0"/>
          </a:p>
          <a:p>
            <a:r>
              <a:rPr lang="en-GB" b="1" dirty="0"/>
              <a:t>ON THE PORTAL, AFTER THE TEACHING:</a:t>
            </a:r>
          </a:p>
          <a:p>
            <a:r>
              <a:rPr lang="en-GB" dirty="0"/>
              <a:t>Participants write the reflection of 1.4 in the participant file:</a:t>
            </a:r>
          </a:p>
          <a:p>
            <a:r>
              <a:rPr lang="en-GB" dirty="0"/>
              <a:t>"Write the Shift, the Stake and the Step for the change you are carrying through this unit. Which of the three would your people find hardest to say back, and why?"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1.5 — THE SCARF MODEL: FIVE TRIGGERS OF HUMAN RESISTANCE (EXPAND EACH TRIGGER)</a:t>
            </a:r>
          </a:p>
          <a:p>
            <a:endParaRPr lang="en-GB" dirty="0"/>
          </a:p>
          <a:p>
            <a:r>
              <a:rPr lang="en-GB" b="1" dirty="0"/>
              <a:t>HOW TO TEACH IT:</a:t>
            </a:r>
          </a:p>
          <a:p>
            <a:endParaRPr lang="en-GB" dirty="0"/>
          </a:p>
          <a:p>
            <a:r>
              <a:rPr lang="en-GB" b="1" dirty="0"/>
              <a:t>1. Frame the model.</a:t>
            </a:r>
          </a:p>
          <a:p>
            <a:r>
              <a:rPr lang="en-GB" dirty="0"/>
              <a:t>Say: "SCARF is the Heart check. When a trigger fires, a person who understands the change still withholds their energy from it."</a:t>
            </a:r>
          </a:p>
          <a:p>
            <a:endParaRPr lang="en-GB" dirty="0"/>
          </a:p>
          <a:p>
            <a:r>
              <a:rPr lang="en-GB" b="1" dirty="0"/>
              <a:t>2. Give each trigger with its question.</a:t>
            </a:r>
          </a:p>
          <a:p>
            <a:r>
              <a:rPr lang="en-GB" dirty="0"/>
              <a:t>Status — “Will this reduce my importance?”</a:t>
            </a:r>
          </a:p>
          <a:p>
            <a:r>
              <a:rPr lang="en-GB" dirty="0"/>
              <a:t>Activated by: new leaders; new KPIs exposing performance; new systems shifting expertise; changed reporting lines.</a:t>
            </a:r>
          </a:p>
          <a:p>
            <a:r>
              <a:rPr lang="en-GB" dirty="0"/>
              <a:t>Shows up as: defensive behaviour; undermining decisions; withholding information or cooperation.</a:t>
            </a:r>
          </a:p>
          <a:p>
            <a:r>
              <a:rPr lang="en-GB" dirty="0"/>
              <a:t>Execution: political friction; slowed decisions; misalignment masked as professionalism.</a:t>
            </a:r>
          </a:p>
          <a:p>
            <a:r>
              <a:rPr lang="en-GB" dirty="0"/>
              <a:t>Counter: explicitly acknowledge existing credibility. Involve senior leaders in co-designing new structures. Status is protected when people have agency in the change.</a:t>
            </a:r>
          </a:p>
          <a:p>
            <a:endParaRPr lang="en-GB" dirty="0"/>
          </a:p>
          <a:p>
            <a:r>
              <a:rPr lang="en-GB" dirty="0"/>
              <a:t>Certainty — “Do I know what success looks like?”</a:t>
            </a:r>
          </a:p>
          <a:p>
            <a:r>
              <a:rPr lang="en-GB" dirty="0"/>
              <a:t>Activated by: new goals; ambiguous ownership; changing metrics or timelines; shifting review processes.</a:t>
            </a:r>
          </a:p>
          <a:p>
            <a:r>
              <a:rPr lang="en-GB" dirty="0"/>
              <a:t>Shows up as: repeated clarification requests; delay disguised as “waiting for alignment”; reversion to old habits.</a:t>
            </a:r>
          </a:p>
          <a:p>
            <a:r>
              <a:rPr lang="en-GB" dirty="0"/>
              <a:t>Execution: loss of momentum; paralysis under pressure; risk avoidance.</a:t>
            </a:r>
          </a:p>
          <a:p>
            <a:r>
              <a:rPr lang="en-GB" dirty="0"/>
              <a:t>Counter: create visible milestones early. The brain seeks pattern. Give it enough structure to move without removing all ambiguity.</a:t>
            </a:r>
          </a:p>
          <a:p>
            <a:endParaRPr lang="en-GB" dirty="0"/>
          </a:p>
          <a:p>
            <a:r>
              <a:rPr lang="en-GB" dirty="0"/>
              <a:t>Deepen, say: "In unfamiliar territory, address the fear in the team directly, promise presence and support, and describe what success looks like and how the team will know it has been achieved."</a:t>
            </a:r>
          </a:p>
          <a:p>
            <a:r>
              <a:rPr lang="en-GB" dirty="0"/>
              <a:t>(Insight: Certainty · unfamiliar territory. Source: Journal, 29 January 2026 — Professional Insights: Strategy)</a:t>
            </a:r>
          </a:p>
          <a:p>
            <a:endParaRPr lang="en-GB" dirty="0"/>
          </a:p>
          <a:p>
            <a:r>
              <a:rPr lang="en-GB" dirty="0"/>
              <a:t>Autonomy — “Am I losing control of my work?”</a:t>
            </a:r>
          </a:p>
          <a:p>
            <a:r>
              <a:rPr lang="en-GB" dirty="0"/>
              <a:t>Activated by: new systems; standardised processes; centralised decision rights; increased oversight or reporting.</a:t>
            </a:r>
          </a:p>
          <a:p>
            <a:r>
              <a:rPr lang="en-GB" dirty="0"/>
              <a:t>Shows up as: passive compliance; minimal effort delivery; resistance through bureaucracy.</a:t>
            </a:r>
          </a:p>
          <a:p>
            <a:r>
              <a:rPr lang="en-GB" dirty="0"/>
              <a:t>Execution: low engagement energy; mechanical execution; fragile performance.</a:t>
            </a:r>
          </a:p>
          <a:p>
            <a:r>
              <a:rPr lang="en-GB" dirty="0"/>
              <a:t>Counter: standardise the what and offer bounded choice on the how. Bounded choice preserves autonomy while honouring the mandate.</a:t>
            </a:r>
          </a:p>
          <a:p>
            <a:endParaRPr lang="en-GB" dirty="0"/>
          </a:p>
          <a:p>
            <a:r>
              <a:rPr lang="en-GB" dirty="0"/>
              <a:t>Relatedness — “Do I still belong here?”</a:t>
            </a:r>
          </a:p>
          <a:p>
            <a:r>
              <a:rPr lang="en-GB" dirty="0"/>
              <a:t>Activated by: team restructuring; new leaders or external hires; cross-functional initiatives; remote or hybrid shifts.</a:t>
            </a:r>
          </a:p>
          <a:p>
            <a:r>
              <a:rPr lang="en-GB" dirty="0"/>
              <a:t>Shows up as: silo behaviour; reduced collaboration; guarded communication.</a:t>
            </a:r>
          </a:p>
          <a:p>
            <a:r>
              <a:rPr lang="en-GB" dirty="0"/>
              <a:t>Execution: trust erosion; coordination breakdown; rework and duplication.</a:t>
            </a:r>
          </a:p>
          <a:p>
            <a:r>
              <a:rPr lang="en-GB" dirty="0"/>
              <a:t>Counter: create visible connection rituals during transitions. People need to feel part of the tribe before they will share resources or risk vulnerability.</a:t>
            </a:r>
          </a:p>
          <a:p>
            <a:endParaRPr lang="en-GB" dirty="0"/>
          </a:p>
          <a:p>
            <a:r>
              <a:rPr lang="en-GB" dirty="0"/>
              <a:t>Fairness — “Is this being applied equitably?”</a:t>
            </a:r>
          </a:p>
          <a:p>
            <a:r>
              <a:rPr lang="en-GB" dirty="0"/>
              <a:t>Activated by: uneven workload; selective enforcement of rules; inconsistent rewards; unclear decision rationale.</a:t>
            </a:r>
          </a:p>
          <a:p>
            <a:r>
              <a:rPr lang="en-GB" dirty="0"/>
              <a:t>Shows up as: cynicism; gossip replacing dialogue; emotional withdrawal.</a:t>
            </a:r>
          </a:p>
          <a:p>
            <a:r>
              <a:rPr lang="en-GB" dirty="0"/>
              <a:t>Execution: values misalignment; morale drain; cultural decay.</a:t>
            </a:r>
          </a:p>
          <a:p>
            <a:r>
              <a:rPr lang="en-GB" dirty="0"/>
              <a:t>Counter: proactively explain rationale behind decisions, especially asymmetric ones. Transparency about trade-offs is perceived as fairness even when outcomes differ.</a:t>
            </a:r>
          </a:p>
          <a:p>
            <a:endParaRPr lang="en-GB" dirty="0"/>
          </a:p>
          <a:p>
            <a:r>
              <a:rPr lang="en-GB" b="1" dirty="0"/>
              <a:t>3. Pause on recognition.</a:t>
            </a:r>
          </a:p>
          <a:p>
            <a:r>
              <a:rPr lang="en-GB" dirty="0"/>
              <a:t>Ask: "In your last major strategy implementation, which of these triggers did you observe most? How did you know?"</a:t>
            </a:r>
          </a:p>
          <a:p>
            <a:r>
              <a:rPr lang="en-GB" dirty="0"/>
              <a:t>Key distinction: the SCARF triggers activate universally. Leaders who manage it well are distinguished by awareness and deliberate counter-strategy.</a:t>
            </a:r>
          </a:p>
          <a:p>
            <a:endParaRPr lang="en-GB" dirty="0"/>
          </a:p>
          <a:p>
            <a:r>
              <a:rPr lang="en-GB" dirty="0"/>
              <a:t>Deepen, say: "Leaders who answer resistance with escalating force are solving for control when the problem is legitimacy.</a:t>
            </a:r>
          </a:p>
          <a:p>
            <a:r>
              <a:rPr lang="en-GB" dirty="0"/>
              <a:t>Ask why the resistance exists before deciding how to respond."</a:t>
            </a:r>
          </a:p>
          <a:p>
            <a:r>
              <a:rPr lang="en-GB" dirty="0"/>
              <a:t>(Insight: Resistance and legitimacy. Source: Journal, 3 February 2026 — Professional Insights: Strategy)</a:t>
            </a:r>
          </a:p>
          <a:p>
            <a:endParaRPr lang="en-GB" dirty="0"/>
          </a:p>
          <a:p>
            <a:r>
              <a:rPr lang="en-GB" b="1" dirty="0"/>
              <a:t>4. Name the leader’s job at this check: Involve.</a:t>
            </a:r>
          </a:p>
          <a:p>
            <a:r>
              <a:rPr lang="en-GB" dirty="0"/>
              <a:t>Say: "The job is to give people a hand in shaping how the change lands.</a:t>
            </a:r>
          </a:p>
          <a:p>
            <a:r>
              <a:rPr lang="en-GB" dirty="0"/>
              <a:t>The leader decides what changes and opens up how it is done.</a:t>
            </a:r>
          </a:p>
          <a:p>
            <a:r>
              <a:rPr lang="en-GB" dirty="0"/>
              <a:t>Name plainly what people give up.</a:t>
            </a:r>
          </a:p>
          <a:p>
            <a:r>
              <a:rPr lang="en-GB" dirty="0"/>
              <a:t>Identify the live SCARF trigger and apply its counter.</a:t>
            </a:r>
          </a:p>
          <a:p>
            <a:r>
              <a:rPr lang="en-GB" dirty="0"/>
              <a:t>Involve their managers first, because managers carry the change into every team conversation."</a:t>
            </a:r>
          </a:p>
          <a:p>
            <a:r>
              <a:rPr lang="en-GB" dirty="0"/>
              <a:t>Why it works: a part in the decision answers each trigger. Being consulted restores Status. Seeing the plan early restores Certainty. Choosing how restores Autonomy. Working on it together restores Relatedness. Hearing the reasons restores Fairness.</a:t>
            </a:r>
          </a:p>
          <a:p>
            <a:r>
              <a:rPr lang="en-GB" dirty="0"/>
              <a:t>Complete when: the people affected can point to a part of the change they shaped.</a:t>
            </a:r>
          </a:p>
          <a:p>
            <a:r>
              <a:rPr lang="en-GB" dirty="0"/>
              <a:t>Sounds like: “You know these calls better than I do. Where should the decision limit sit?”</a:t>
            </a:r>
          </a:p>
          <a:p>
            <a:r>
              <a:rPr lang="en-GB" dirty="0"/>
              <a:t>When skipped: Silent Disengagement. People comply, do the minimum and wait to be chased.</a:t>
            </a:r>
          </a:p>
          <a:p>
            <a:endParaRPr lang="en-GB" dirty="0"/>
          </a:p>
          <a:p>
            <a:r>
              <a:rPr lang="en-GB" dirty="0"/>
              <a:t>On involvement: involvement is about how the change is done. The decision that it will be done stays with the leader. Leaders who blur the two invite a debate they did not intend.</a:t>
            </a:r>
          </a:p>
          <a:p>
            <a:r>
              <a:rPr lang="en-GB" dirty="0"/>
              <a:t>The SCARF Tool is available on demand for leaders who want to actively monitor observable behaviours during strategy discussions or change initiatives.</a:t>
            </a:r>
          </a:p>
          <a:p>
            <a:endParaRPr lang="en-GB" dirty="0"/>
          </a:p>
          <a:p>
            <a:r>
              <a:rPr lang="en-GB" b="1" dirty="0"/>
              <a:t>ON THE PORTAL, AFTER THE TEACHING:</a:t>
            </a:r>
          </a:p>
          <a:p>
            <a:r>
              <a:rPr lang="en-GB" dirty="0"/>
              <a:t>Participants write the reflection of 1.5 in the participant file:</a:t>
            </a:r>
          </a:p>
          <a:p>
            <a:r>
              <a:rPr lang="en-GB" dirty="0"/>
              <a:t>"Which SCARF trigger is most frequently activated in your organisation during strategy implementation? What is the observable evidence? What counter-strategy would address the root cause?"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1.6 — THE STAT CHECK: SKILL, TIME, AUTHORITY, TOOLS (FOUR ELEMENTS)</a:t>
            </a:r>
          </a:p>
          <a:p>
            <a:endParaRPr lang="en-GB" dirty="0"/>
          </a:p>
          <a:p>
            <a:r>
              <a:rPr lang="en-GB" b="1" dirty="0"/>
              <a:t>HOW TO TEACH IT:</a:t>
            </a:r>
          </a:p>
          <a:p>
            <a:endParaRPr lang="en-GB" dirty="0"/>
          </a:p>
          <a:p>
            <a:r>
              <a:rPr lang="en-GB" b="1" dirty="0"/>
              <a:t>1. Frame the check.</a:t>
            </a:r>
          </a:p>
          <a:p>
            <a:r>
              <a:rPr lang="en-GB" dirty="0"/>
              <a:t>Say: "STAT is the Hands check.</a:t>
            </a:r>
          </a:p>
          <a:p>
            <a:r>
              <a:rPr lang="en-GB" dirty="0"/>
              <a:t>It asks whether people who understand a change and want it are able to carry it out on an ordinary working day.</a:t>
            </a:r>
          </a:p>
          <a:p>
            <a:r>
              <a:rPr lang="en-GB" dirty="0"/>
              <a:t>Mind and Heart sit inside the person.</a:t>
            </a:r>
          </a:p>
          <a:p>
            <a:r>
              <a:rPr lang="en-GB" dirty="0"/>
              <a:t>Hands sits largely in the conditions around the person, and those conditions are set by leaders."</a:t>
            </a:r>
          </a:p>
          <a:p>
            <a:endParaRPr lang="en-GB" dirty="0"/>
          </a:p>
          <a:p>
            <a:r>
              <a:rPr lang="en-GB" b="1" dirty="0"/>
              <a:t>2. Say why this check is misread.</a:t>
            </a:r>
          </a:p>
          <a:p>
            <a:r>
              <a:rPr lang="en-GB" dirty="0"/>
              <a:t>Say: "This is the check most easily misread.</a:t>
            </a:r>
          </a:p>
          <a:p>
            <a:r>
              <a:rPr lang="en-GB" dirty="0"/>
              <a:t>A person who is unable to perform a change looks, from a distance, like a person who is unwilling: the new practice is late, partial or missing.</a:t>
            </a:r>
          </a:p>
          <a:p>
            <a:r>
              <a:rPr lang="en-GB" dirty="0"/>
              <a:t>A leader who reads that as resistance answers with more persuasion, when the gap is a missing decision right or a system that still fits the old way.</a:t>
            </a:r>
          </a:p>
          <a:p>
            <a:r>
              <a:rPr lang="en-GB" dirty="0"/>
              <a:t>STAT separates the two.</a:t>
            </a:r>
          </a:p>
          <a:p>
            <a:r>
              <a:rPr lang="en-GB" dirty="0"/>
              <a:t>Hands passes when all four elements are in place."</a:t>
            </a:r>
          </a:p>
          <a:p>
            <a:endParaRPr lang="en-GB" dirty="0"/>
          </a:p>
          <a:p>
            <a:r>
              <a:rPr lang="en-GB" dirty="0"/>
              <a:t>Deepen, say: "Repeated resistance can be the signal of a genuine obstacle.</a:t>
            </a:r>
          </a:p>
          <a:p>
            <a:r>
              <a:rPr lang="en-GB" dirty="0"/>
              <a:t>Leaders who suppress it without investigating its source risk striking the messenger and missing the obstacle."</a:t>
            </a:r>
          </a:p>
          <a:p>
            <a:r>
              <a:rPr lang="en-GB" dirty="0"/>
              <a:t>(Insight: Resistance as information. Source: Journal, 11 March 2026 — Professional Insights)</a:t>
            </a:r>
          </a:p>
          <a:p>
            <a:endParaRPr lang="en-GB" dirty="0"/>
          </a:p>
          <a:p>
            <a:r>
              <a:rPr lang="en-GB" b="1" dirty="0"/>
              <a:t>3. Teach the four elements on the slide.</a:t>
            </a:r>
          </a:p>
          <a:p>
            <a:r>
              <a:rPr lang="en-GB" dirty="0"/>
              <a:t>Skill — “Do they know how to do it?”</a:t>
            </a:r>
          </a:p>
          <a:p>
            <a:r>
              <a:rPr lang="en-GB" dirty="0"/>
              <a:t>Skill is the practised ability to do the new work to standard. It is built by doing the work with feedback.</a:t>
            </a:r>
          </a:p>
          <a:p>
            <a:r>
              <a:rPr lang="en-GB" dirty="0"/>
              <a:t>Shows up as: errors and rework; reliance on one or two experts; people reverting to the old method “to get it done”.</a:t>
            </a:r>
          </a:p>
          <a:p>
            <a:r>
              <a:rPr lang="en-GB" dirty="0"/>
              <a:t>Leader’s move: teach, practise on real work and coach on the job. Pair the experts with the rest.</a:t>
            </a:r>
          </a:p>
          <a:p>
            <a:endParaRPr lang="en-GB" dirty="0"/>
          </a:p>
          <a:p>
            <a:r>
              <a:rPr lang="en-GB" dirty="0"/>
              <a:t>Time — “Do they have the hours to do it?”</a:t>
            </a:r>
          </a:p>
          <a:p>
            <a:r>
              <a:rPr lang="en-GB" dirty="0"/>
              <a:t>Time is the working capacity to perform the new practice properly. Most changes are added to a full day.</a:t>
            </a:r>
          </a:p>
          <a:p>
            <a:r>
              <a:rPr lang="en-GB" dirty="0"/>
              <a:t>Shows up as: the new practice is done last; done in a rush; dropped on a busy day.</a:t>
            </a:r>
          </a:p>
          <a:p>
            <a:r>
              <a:rPr lang="en-GB" dirty="0"/>
              <a:t>Leader’s move: take old work away before adding new work, and say what stops.</a:t>
            </a:r>
          </a:p>
          <a:p>
            <a:endParaRPr lang="en-GB" dirty="0"/>
          </a:p>
          <a:p>
            <a:r>
              <a:rPr lang="en-GB" dirty="0"/>
              <a:t>Authority — “Are they allowed to decide and act?”</a:t>
            </a:r>
          </a:p>
          <a:p>
            <a:r>
              <a:rPr lang="en-GB" dirty="0"/>
              <a:t>Authority is the permission to decide and act as the change requires. Until the limit of the new decision is stated, the safest course for the individual is to ask permission.</a:t>
            </a:r>
          </a:p>
          <a:p>
            <a:r>
              <a:rPr lang="en-GB" dirty="0"/>
              <a:t>Shows up as: escalations; people ask permission for what the change asks them to do.</a:t>
            </a:r>
          </a:p>
          <a:p>
            <a:r>
              <a:rPr lang="en-GB" dirty="0"/>
              <a:t>Leader’s move: set the decision limit, state it openly, and back the first decisions made under it. The first decision that is overruled teaches everyone to keep asking.</a:t>
            </a:r>
          </a:p>
          <a:p>
            <a:endParaRPr lang="en-GB" dirty="0"/>
          </a:p>
          <a:p>
            <a:r>
              <a:rPr lang="en-GB" dirty="0"/>
              <a:t>Tools — “Do they have the systems and resources?”</a:t>
            </a:r>
          </a:p>
          <a:p>
            <a:r>
              <a:rPr lang="en-GB" dirty="0"/>
              <a:t>Tools are the systems, information and resources the new practice depends on. Where the system, the form or the budget still fits the old way, people build workarounds.</a:t>
            </a:r>
          </a:p>
          <a:p>
            <a:r>
              <a:rPr lang="en-GB" dirty="0"/>
              <a:t>Shows up as: spreadsheets beside the system; manual steps; requests waiting on another team.</a:t>
            </a:r>
          </a:p>
          <a:p>
            <a:r>
              <a:rPr lang="en-GB" dirty="0"/>
              <a:t>Leader’s move: provide access and budget before the start date, and retire the old form or route.</a:t>
            </a:r>
          </a:p>
          <a:p>
            <a:endParaRPr lang="en-GB" dirty="0"/>
          </a:p>
          <a:p>
            <a:r>
              <a:rPr lang="en-GB" b="1" dirty="0"/>
              <a:t>4. Demonstrate on a live change.</a:t>
            </a:r>
          </a:p>
          <a:p>
            <a:r>
              <a:rPr lang="en-GB" dirty="0"/>
              <a:t>Take one leader’s change and run the four questions in front of the group. Stay longest on Authority.</a:t>
            </a:r>
          </a:p>
          <a:p>
            <a:r>
              <a:rPr lang="en-GB" dirty="0"/>
              <a:t>Ask: "What can this person now decide without asking you?"</a:t>
            </a:r>
          </a:p>
          <a:p>
            <a:endParaRPr lang="en-GB" dirty="0"/>
          </a:p>
          <a:p>
            <a:r>
              <a:rPr lang="en-GB" b="1" dirty="0"/>
              <a:t>5. Return to the list from 1.3.</a:t>
            </a:r>
          </a:p>
          <a:p>
            <a:r>
              <a:rPr lang="en-GB" dirty="0"/>
              <a:t>Revisit the checks leaders named as most likely to fail.</a:t>
            </a:r>
          </a:p>
          <a:p>
            <a:r>
              <a:rPr lang="en-GB" dirty="0"/>
              <a:t>Ask: "Could any of the resistance you described be a Hands gap?"</a:t>
            </a:r>
          </a:p>
          <a:p>
            <a:endParaRPr lang="en-GB" dirty="0"/>
          </a:p>
          <a:p>
            <a:r>
              <a:rPr lang="en-GB" b="1" dirty="0"/>
              <a:t>6. Name the leader’s job at this check: Equip.</a:t>
            </a:r>
          </a:p>
          <a:p>
            <a:r>
              <a:rPr lang="en-GB" dirty="0"/>
              <a:t>Say: "One missing element is enough to stop people who understand and want the change.</a:t>
            </a:r>
          </a:p>
          <a:p>
            <a:r>
              <a:rPr lang="en-GB" dirty="0"/>
              <a:t>Training closes a Skill gap.</a:t>
            </a:r>
          </a:p>
          <a:p>
            <a:r>
              <a:rPr lang="en-GB" dirty="0"/>
              <a:t>It leaves a Time, Authority or Tools gap exactly where it was."</a:t>
            </a:r>
          </a:p>
          <a:p>
            <a:r>
              <a:rPr lang="en-GB" dirty="0"/>
              <a:t>Say: "The job is to make the new practice possible on an ordinary working day.</a:t>
            </a:r>
          </a:p>
          <a:p>
            <a:r>
              <a:rPr lang="en-GB" dirty="0"/>
              <a:t>Run the STAT Check with the people affected, since they know what is missing.</a:t>
            </a:r>
          </a:p>
          <a:p>
            <a:r>
              <a:rPr lang="en-GB" dirty="0"/>
              <a:t>Supply it, and remove the old work, rules and approvals that stand in the way."</a:t>
            </a:r>
          </a:p>
          <a:p>
            <a:r>
              <a:rPr lang="en-GB" dirty="0"/>
              <a:t>Complete when: a person can perform the new practice from start to finish without asking permission or using a workaround.</a:t>
            </a:r>
          </a:p>
          <a:p>
            <a:r>
              <a:rPr lang="en-GB" dirty="0"/>
              <a:t>Sounds like: “What do you need from me to do this on Monday?”</a:t>
            </a:r>
          </a:p>
          <a:p>
            <a:r>
              <a:rPr lang="en-GB" dirty="0"/>
              <a:t>When skipped: willing people fail, and their failure is read as resistance. Heart, which had passed, begins to fail as well.</a:t>
            </a:r>
          </a:p>
          <a:p>
            <a:r>
              <a:rPr lang="en-GB" dirty="0"/>
              <a:t>Watch for: training offered as the answer to every Hands gap. Ask which STAT element the training closes.</a:t>
            </a:r>
          </a:p>
          <a:p>
            <a:r>
              <a:rPr lang="en-GB" dirty="0"/>
              <a:t>Ask: "Which of the four is your organisation quickest to supply, and which is it slowest to grant?"</a:t>
            </a:r>
          </a:p>
          <a:p>
            <a:endParaRPr lang="en-GB" dirty="0"/>
          </a:p>
          <a:p>
            <a:r>
              <a:rPr lang="en-GB" b="1" dirty="0"/>
              <a:t>ON THE PORTAL, AFTER THE TEACHING:</a:t>
            </a:r>
          </a:p>
          <a:p>
            <a:r>
              <a:rPr lang="en-GB" dirty="0"/>
              <a:t>Participants write the reflection of 1.6 in the participant file:</a:t>
            </a:r>
          </a:p>
          <a:p>
            <a:r>
              <a:rPr lang="en-GB" dirty="0"/>
              <a:t>"Run STAT for the change you are carrying through this unit. Which element is missing for the people it affects most? What is your evidence, and what is yours to supply?"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1.7 — ACE-IT: THE OBSERVABLE BEHAVIOUR STANDARD (EXPAND EACH BEHAVIOUR)</a:t>
            </a:r>
          </a:p>
          <a:p>
            <a:endParaRPr lang="en-GB" dirty="0"/>
          </a:p>
          <a:p>
            <a:r>
              <a:rPr lang="en-GB" b="1" dirty="0"/>
              <a:t>HOW TO TEACH IT:</a:t>
            </a:r>
          </a:p>
          <a:p>
            <a:endParaRPr lang="en-GB" dirty="0"/>
          </a:p>
          <a:p>
            <a:r>
              <a:rPr lang="en-GB" b="1" dirty="0"/>
              <a:t>1. Frame the standard.</a:t>
            </a:r>
          </a:p>
          <a:p>
            <a:r>
              <a:rPr lang="en-GB" dirty="0"/>
              <a:t>Say: "ACE-IT is the Habit check. These five behaviours are what hold a new practice in place."</a:t>
            </a:r>
          </a:p>
          <a:p>
            <a:r>
              <a:rPr lang="en-GB" dirty="0"/>
              <a:t>Key framing: ACE-IT is a behavioural standard, independent of the organisation’s stated values. It describes the minimum visible behaviours required for strategic alignment to be real and visible.</a:t>
            </a:r>
          </a:p>
          <a:p>
            <a:endParaRPr lang="en-GB" dirty="0"/>
          </a:p>
          <a:p>
            <a:r>
              <a:rPr lang="en-GB" b="1" dirty="0"/>
              <a:t>2. Teach the five behaviours on the slide.</a:t>
            </a:r>
          </a:p>
          <a:p>
            <a:r>
              <a:rPr lang="en-GB" dirty="0"/>
              <a:t>Accountability: taking full ownership for results. Acknowledging missteps and driving corrective action.</a:t>
            </a:r>
          </a:p>
          <a:p>
            <a:r>
              <a:rPr lang="en-GB" dirty="0"/>
              <a:t>Desired behaviour: defines clear ownership; acknowledges missteps; holds self and others to measurable standards.</a:t>
            </a:r>
          </a:p>
          <a:p>
            <a:r>
              <a:rPr lang="en-GB" dirty="0"/>
              <a:t>Observable: commitments tracked; reviews end with named owners; “We missed it, here’s the fix” language common.</a:t>
            </a:r>
          </a:p>
          <a:p>
            <a:endParaRPr lang="en-GB" dirty="0"/>
          </a:p>
          <a:p>
            <a:r>
              <a:rPr lang="en-GB" dirty="0"/>
              <a:t>Commitment: staying anchored to agreed strategic intent even when pressure rises. Following through despite discomfort.</a:t>
            </a:r>
          </a:p>
          <a:p>
            <a:r>
              <a:rPr lang="en-GB" dirty="0"/>
              <a:t>Desired behaviour: aligns daily choices to long-term direction; protects priorities from noise; closes loops they open.</a:t>
            </a:r>
          </a:p>
          <a:p>
            <a:r>
              <a:rPr lang="en-GB" dirty="0"/>
              <a:t>Observable: strategic priorities stay consistent; leaders decline non-strategic work; promises kept visibly.</a:t>
            </a:r>
          </a:p>
          <a:p>
            <a:endParaRPr lang="en-GB" dirty="0"/>
          </a:p>
          <a:p>
            <a:r>
              <a:rPr lang="en-GB" dirty="0"/>
              <a:t>Engagement: actively involving self and others in sense-making, dialogue, and execution. Listening to understand.</a:t>
            </a:r>
          </a:p>
          <a:p>
            <a:r>
              <a:rPr lang="en-GB" dirty="0"/>
              <a:t>Desired behaviour: invites participation and dissent; connects roles to purpose; creates two-way dialogue.</a:t>
            </a:r>
          </a:p>
          <a:p>
            <a:r>
              <a:rPr lang="en-GB" dirty="0"/>
              <a:t>Observable: team meetings are two-way; feedback loops visible; people quote the shared “why”.</a:t>
            </a:r>
          </a:p>
          <a:p>
            <a:endParaRPr lang="en-GB" dirty="0"/>
          </a:p>
          <a:p>
            <a:r>
              <a:rPr lang="en-GB" dirty="0"/>
              <a:t>Integrity: acting consistently with values, facts, and truth, even when inconvenient. Declaring conflicts of interest early.</a:t>
            </a:r>
          </a:p>
          <a:p>
            <a:r>
              <a:rPr lang="en-GB" dirty="0"/>
              <a:t>Desired behaviour: says what is true, even when it is hard; uses data to support choices; references values in trade-offs.</a:t>
            </a:r>
          </a:p>
          <a:p>
            <a:r>
              <a:rPr lang="en-GB" dirty="0"/>
              <a:t>Observable: evidence cited before decisions; values referenced in hard choices; teams trust word matches deed.</a:t>
            </a:r>
          </a:p>
          <a:p>
            <a:endParaRPr lang="en-GB" dirty="0"/>
          </a:p>
          <a:p>
            <a:r>
              <a:rPr lang="en-GB" dirty="0"/>
              <a:t>Deepen, say: "The team reads the practice and discounts the statement, and the gap between the two is where credibility erodes fastest.</a:t>
            </a:r>
          </a:p>
          <a:p>
            <a:r>
              <a:rPr lang="en-GB" dirty="0"/>
              <a:t>Name where your stated position and your lived practice run in opposite directions, and close the gap before someone else names it."</a:t>
            </a:r>
          </a:p>
          <a:p>
            <a:r>
              <a:rPr lang="en-GB" dirty="0"/>
              <a:t>(Insight: Integrity · practice and statement. Source: Journal, 21 April 2026 — Professional Insights: Leadership)</a:t>
            </a:r>
          </a:p>
          <a:p>
            <a:endParaRPr lang="en-GB" dirty="0"/>
          </a:p>
          <a:p>
            <a:r>
              <a:rPr lang="en-GB" dirty="0"/>
              <a:t>Transparency: making reasoning, progress, and constraints visible to all stakeholders. Sharing challenges openly.</a:t>
            </a:r>
          </a:p>
          <a:p>
            <a:r>
              <a:rPr lang="en-GB" dirty="0"/>
              <a:t>Desired behaviour: communicates decisions with rationale; documents choices and lessons; shares progress including setbacks.</a:t>
            </a:r>
          </a:p>
          <a:p>
            <a:r>
              <a:rPr lang="en-GB" dirty="0"/>
              <a:t>Observable: dashboards updated regularly; decisions logged and accessible; “no surprises” culture evident.</a:t>
            </a:r>
          </a:p>
          <a:p>
            <a:endParaRPr lang="en-GB" dirty="0"/>
          </a:p>
          <a:p>
            <a:r>
              <a:rPr lang="en-GB" b="1" dirty="0"/>
              <a:t>3. Show how ACE-IT holds a new practice.</a:t>
            </a:r>
          </a:p>
          <a:p>
            <a:r>
              <a:rPr lang="en-GB" dirty="0"/>
              <a:t>Say: "Habit is the last check and the one asked earliest.</a:t>
            </a:r>
          </a:p>
          <a:p>
            <a:r>
              <a:rPr lang="en-GB" dirty="0"/>
              <a:t>The question is put before the change starts: how will the five behaviours hold the new practice in place?</a:t>
            </a:r>
          </a:p>
          <a:p>
            <a:r>
              <a:rPr lang="en-GB" dirty="0"/>
              <a:t>A change with no answer has no plan for the day after launch."</a:t>
            </a:r>
          </a:p>
          <a:p>
            <a:r>
              <a:rPr lang="en-GB" dirty="0"/>
              <a:t>- Accountability: one named person owns the practice and its result.</a:t>
            </a:r>
          </a:p>
          <a:p>
            <a:r>
              <a:rPr lang="en-GB" dirty="0"/>
              <a:t>- Commitment: the practice is kept when pressure rises and the old way is quicker.</a:t>
            </a:r>
          </a:p>
          <a:p>
            <a:r>
              <a:rPr lang="en-GB" dirty="0"/>
              <a:t>- Engagement: people talk about how it is going and improve it together.</a:t>
            </a:r>
          </a:p>
          <a:p>
            <a:r>
              <a:rPr lang="en-GB" dirty="0"/>
              <a:t>- Integrity: slips are reported as they are, and early.</a:t>
            </a:r>
          </a:p>
          <a:p>
            <a:r>
              <a:rPr lang="en-GB" dirty="0"/>
              <a:t>- Transparency: its results are visible to everyone the change affects.</a:t>
            </a:r>
          </a:p>
          <a:p>
            <a:endParaRPr lang="en-GB" dirty="0"/>
          </a:p>
          <a:p>
            <a:r>
              <a:rPr lang="en-GB" b="1" dirty="0"/>
              <a:t>4. Name the leader’s job at this check: Reinforce.</a:t>
            </a:r>
          </a:p>
          <a:p>
            <a:r>
              <a:rPr lang="en-GB" dirty="0"/>
              <a:t>Say: "The job is to make the new practice the expected practice.</a:t>
            </a:r>
          </a:p>
          <a:p>
            <a:r>
              <a:rPr lang="en-GB" dirty="0"/>
              <a:t>Show it yourself first.</a:t>
            </a:r>
          </a:p>
          <a:p>
            <a:r>
              <a:rPr lang="en-GB" dirty="0"/>
              <a:t>Notice it when it happens, recognise it by name and correct a slip early.</a:t>
            </a:r>
          </a:p>
          <a:p>
            <a:r>
              <a:rPr lang="en-GB" dirty="0"/>
              <a:t>Put it into the regular review so that it is asked about every time.</a:t>
            </a:r>
          </a:p>
          <a:p>
            <a:r>
              <a:rPr lang="en-GB" dirty="0"/>
              <a:t>What leaders ask about, people repeat.</a:t>
            </a:r>
          </a:p>
          <a:p>
            <a:r>
              <a:rPr lang="en-GB" dirty="0"/>
              <a:t>A practice that is never asked about is understood to be optional."</a:t>
            </a:r>
          </a:p>
          <a:p>
            <a:r>
              <a:rPr lang="en-GB" dirty="0"/>
              <a:t>Complete when: the practice holds through a full review period with the leader absent.</a:t>
            </a:r>
          </a:p>
          <a:p>
            <a:r>
              <a:rPr lang="en-GB" dirty="0"/>
              <a:t>Sounds like: “I saw you close that case on the call. That is the standard.”</a:t>
            </a:r>
          </a:p>
          <a:p>
            <a:r>
              <a:rPr lang="en-GB" dirty="0"/>
              <a:t>When skipped: the old way returns under the first pressure, and the organisation concludes that the change was a phase.</a:t>
            </a:r>
          </a:p>
          <a:p>
            <a:endParaRPr lang="en-GB" dirty="0"/>
          </a:p>
          <a:p>
            <a:r>
              <a:rPr lang="en-GB" b="1" dirty="0"/>
              <a:t>5. Ask the audit question.</a:t>
            </a:r>
          </a:p>
          <a:p>
            <a:r>
              <a:rPr lang="en-GB" dirty="0"/>
              <a:t>Ask: "If you audited your last leadership review against these five behaviours, where would you find the biggest gap between the ideal and the observable?"</a:t>
            </a:r>
          </a:p>
          <a:p>
            <a:endParaRPr lang="en-GB" dirty="0"/>
          </a:p>
          <a:p>
            <a:r>
              <a:rPr lang="en-GB" b="1" dirty="0"/>
              <a:t>6. Close Section 1.</a:t>
            </a:r>
          </a:p>
          <a:p>
            <a:r>
              <a:rPr lang="en-GB" dirty="0"/>
              <a:t>Ask each leader to state, for the change they are carrying, the check they expect it to fail first and the job that follows. Online: ask them to post the sentence in the chat.</a:t>
            </a:r>
          </a:p>
          <a:p>
            <a:r>
              <a:rPr lang="en-GB" dirty="0"/>
              <a:t>This sentence is the bridge into Section 2.</a:t>
            </a:r>
          </a:p>
          <a:p>
            <a:endParaRPr lang="en-GB" dirty="0"/>
          </a:p>
          <a:p>
            <a:r>
              <a:rPr lang="en-GB" b="1" dirty="0"/>
              <a:t>ON THE PORTAL, AFTER THE TEACHING:</a:t>
            </a:r>
          </a:p>
          <a:p>
            <a:r>
              <a:rPr lang="en-GB" dirty="0"/>
              <a:t>Participants write the reflection of 1.7 in the participant file:</a:t>
            </a:r>
          </a:p>
          <a:p>
            <a:r>
              <a:rPr lang="en-GB" dirty="0"/>
              <a:t>"If you audited your last leadership review against the ACE-IT behaviours — where would you find the biggest gap between the ideal and the observable? What one behavioural change would create the most impact?"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2 · INTELLIGENCE — WHY</a:t>
            </a:r>
          </a:p>
          <a:p>
            <a:endParaRPr lang="en-GB" dirty="0"/>
          </a:p>
          <a:p>
            <a:r>
              <a:rPr lang="en-GB" b="1" dirty="0"/>
              <a:t>HOW THIS SECTION RUNS:</a:t>
            </a:r>
          </a:p>
          <a:p>
            <a:r>
              <a:rPr lang="en-GB" dirty="0"/>
              <a:t>1. 2.1: the ignition point of strategy execution.</a:t>
            </a:r>
          </a:p>
          <a:p>
            <a:r>
              <a:rPr lang="en-GB" dirty="0"/>
              <a:t>2. 2.2: the three foundational logics.</a:t>
            </a:r>
          </a:p>
          <a:p>
            <a:r>
              <a:rPr lang="en-GB" dirty="0"/>
              <a:t>3. 2.3: why change must be led. Installed and adopted.</a:t>
            </a:r>
          </a:p>
          <a:p>
            <a:r>
              <a:rPr lang="en-GB" dirty="0"/>
              <a:t>4. The Section 2 Reflections slide: the three reflections participants write on the portal after the teaching.</a:t>
            </a:r>
          </a:p>
          <a:p>
            <a:endParaRPr lang="en-GB" dirty="0"/>
          </a:p>
          <a:p>
            <a:r>
              <a:rPr lang="en-GB" b="1" dirty="0"/>
              <a:t>SECTION LEARNING OUTCOMES:</a:t>
            </a:r>
          </a:p>
          <a:p>
            <a:r>
              <a:rPr lang="en-GB" dirty="0"/>
              <a:t>1. Explain why shared understanding and commitment convert strategy into execution.</a:t>
            </a:r>
          </a:p>
          <a:p>
            <a:r>
              <a:rPr lang="en-GB" dirty="0"/>
              <a:t>2. Distinguish commitment from compliance and explain why change delivers value only when it is adopted.</a:t>
            </a:r>
          </a:p>
          <a:p>
            <a:endParaRPr lang="en-GB" dirty="0"/>
          </a:p>
          <a:p>
            <a:r>
              <a:rPr lang="en-GB" b="1" dirty="0"/>
              <a:t>HOW TO OPEN THE SECTION:</a:t>
            </a:r>
          </a:p>
          <a:p>
            <a:endParaRPr lang="en-GB" dirty="0"/>
          </a:p>
          <a:p>
            <a:r>
              <a:rPr lang="en-GB" b="1" dirty="0"/>
              <a:t>1. Say what the section does.</a:t>
            </a:r>
          </a:p>
          <a:p>
            <a:r>
              <a:rPr lang="en-GB" dirty="0"/>
              <a:t>Say: "Section 1 described alignment. This section shows why it is a strategic necessity."</a:t>
            </a:r>
          </a:p>
          <a:p>
            <a:r>
              <a:rPr lang="en-GB" dirty="0"/>
              <a:t>Section intent: leaders must understand why this is the mechanical conversion point of strategy. The section should create a shift from intellectual understanding to operational conviction.</a:t>
            </a:r>
          </a:p>
          <a:p>
            <a:endParaRPr lang="en-GB" dirty="0"/>
          </a:p>
          <a:p>
            <a:r>
              <a:rPr lang="en-GB" b="1" dirty="0"/>
              <a:t>2. Place the unit in the process.</a:t>
            </a:r>
          </a:p>
          <a:p>
            <a:r>
              <a:rPr lang="en-GB" dirty="0"/>
              <a:t>Say: "Within the Strategy2Results® process, Aligning Heart &amp; Mind functions as the ignition point of execution: the moment where strategy transitions from a document describing intent into a system capable of producing movement."</a:t>
            </a:r>
          </a:p>
          <a:p>
            <a:endParaRPr lang="en-GB" dirty="0"/>
          </a:p>
          <a:p>
            <a:r>
              <a:rPr lang="en-GB" b="1" dirty="0"/>
              <a:t>3. Anchor on the energy analogy.</a:t>
            </a:r>
          </a:p>
          <a:p>
            <a:r>
              <a:rPr lang="en-GB" dirty="0"/>
              <a:t>The Potential vs. Kinetic Energy logic is highly effective with CXO-level audiences. Engineers, finance leaders, and operators all recognise this from their domain.</a:t>
            </a:r>
          </a:p>
          <a:p>
            <a:r>
              <a:rPr lang="en-GB" dirty="0"/>
              <a:t>Use it as an anchor before moving to the compliance and commitment distinction.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 — THE IGNITION POINT OF STRATEGY EXECUTION (FOUNDATION LOGIC)</a:t>
            </a:r>
          </a:p>
          <a:p>
            <a:endParaRPr lang="en-GB" dirty="0"/>
          </a:p>
          <a:p>
            <a:r>
              <a:rPr lang="en-GB" b="1" dirty="0"/>
              <a:t>HOW TO TEACH IT:</a:t>
            </a:r>
          </a:p>
          <a:p>
            <a:endParaRPr lang="en-GB" dirty="0"/>
          </a:p>
          <a:p>
            <a:r>
              <a:rPr lang="en-GB" b="1" dirty="0"/>
              <a:t>1. Read the statement on the slide aloud.</a:t>
            </a:r>
          </a:p>
          <a:p>
            <a:r>
              <a:rPr lang="en-GB" dirty="0"/>
              <a:t>“This matters to me. I am willing to invest energy in making this succeed.”</a:t>
            </a:r>
          </a:p>
          <a:p>
            <a:endParaRPr lang="en-GB" dirty="0"/>
          </a:p>
          <a:p>
            <a:r>
              <a:rPr lang="en-GB" b="1" dirty="0"/>
              <a:t>2. Teach the energy logic.</a:t>
            </a:r>
          </a:p>
          <a:p>
            <a:r>
              <a:rPr lang="en-GB" dirty="0"/>
              <a:t>Say: "A strategy document contains strategic potential.</a:t>
            </a:r>
          </a:p>
          <a:p>
            <a:r>
              <a:rPr lang="en-GB" dirty="0"/>
              <a:t>It articulates direction, ambition, and possibility.</a:t>
            </a:r>
          </a:p>
          <a:p>
            <a:r>
              <a:rPr lang="en-GB" dirty="0"/>
              <a:t>Potential by definition represents energy at rest.</a:t>
            </a:r>
          </a:p>
          <a:p>
            <a:r>
              <a:rPr lang="en-GB" dirty="0"/>
              <a:t>For strategic potential to convert into kinetic energy, which is movement, execution, and results, human action must occur.</a:t>
            </a:r>
          </a:p>
          <a:p>
            <a:r>
              <a:rPr lang="en-GB" dirty="0"/>
              <a:t>No system executes itself."</a:t>
            </a:r>
          </a:p>
          <a:p>
            <a:endParaRPr lang="en-GB" dirty="0"/>
          </a:p>
          <a:p>
            <a:r>
              <a:rPr lang="en-GB" b="1" dirty="0"/>
              <a:t>3. Name the ignition point.</a:t>
            </a:r>
          </a:p>
          <a:p>
            <a:r>
              <a:rPr lang="en-GB" dirty="0"/>
              <a:t>Say: "Execution begins the moment an individual decides: ‘This matters to me.</a:t>
            </a:r>
          </a:p>
          <a:p>
            <a:r>
              <a:rPr lang="en-GB" dirty="0"/>
              <a:t>I am willing to invest energy in making this succeed.’ Until that moment occurs across the organisation, strategy remains theoretical.</a:t>
            </a:r>
          </a:p>
          <a:p>
            <a:r>
              <a:rPr lang="en-GB" dirty="0"/>
              <a:t>Aligning Heart &amp; Mind activates the human energy required to convert intention into action.</a:t>
            </a:r>
          </a:p>
          <a:p>
            <a:r>
              <a:rPr lang="en-GB" dirty="0"/>
              <a:t>This is the ignition point."</a:t>
            </a:r>
          </a:p>
          <a:p>
            <a:r>
              <a:rPr lang="en-GB" dirty="0"/>
              <a:t>On the metaphor: an ignition point is where fuel becomes power. A strategy document is stored potential. The moment a person decides “This matters to me” is when kinetic energy begins. Without that moment, the fuel stays fuel.</a:t>
            </a:r>
          </a:p>
          <a:p>
            <a:endParaRPr lang="en-GB" dirty="0"/>
          </a:p>
          <a:p>
            <a:r>
              <a:rPr lang="en-GB" dirty="0"/>
              <a:t>Deepen, say: "Strategic paralysis often comes from the gap between knowing what needs to happen and committing to do it.</a:t>
            </a:r>
          </a:p>
          <a:p>
            <a:r>
              <a:rPr lang="en-GB" dirty="0"/>
              <a:t>If the strategy has been articulated and nothing has moved in a quarter, the bottleneck is the commitment."</a:t>
            </a:r>
          </a:p>
          <a:p>
            <a:r>
              <a:rPr lang="en-GB" dirty="0"/>
              <a:t>(Insight: Knowing and committing. Source: Journal, 13 May 2026 — Professional Insights: Strategy)</a:t>
            </a:r>
          </a:p>
          <a:p>
            <a:endParaRPr lang="en-GB" dirty="0"/>
          </a:p>
          <a:p>
            <a:r>
              <a:rPr lang="en-GB" b="1" dirty="0"/>
              <a:t>4. Give the payoff.</a:t>
            </a:r>
          </a:p>
          <a:p>
            <a:r>
              <a:rPr lang="en-GB" dirty="0"/>
              <a:t>Say: "Without this ignition point, strategy remains defined but not delivered.</a:t>
            </a:r>
          </a:p>
          <a:p>
            <a:r>
              <a:rPr lang="en-GB" dirty="0"/>
              <a:t>With it, the organisation shifts from supervised effort to self-driven momentum.</a:t>
            </a:r>
          </a:p>
          <a:p>
            <a:r>
              <a:rPr lang="en-GB" dirty="0"/>
              <a:t>That is the strategic payoff that makes alignment the highest-leverage leadership intervention available."</a:t>
            </a:r>
          </a:p>
          <a:p>
            <a:endParaRPr lang="en-GB" dirty="0"/>
          </a:p>
          <a:p>
            <a:r>
              <a:rPr lang="en-GB" b="1" dirty="0"/>
              <a:t>5. Open the discussion.</a:t>
            </a:r>
          </a:p>
          <a:p>
            <a:r>
              <a:rPr lang="en-GB" dirty="0"/>
              <a:t>Ask: "Think of a time when you personally chose to go beyond compliance and genuinely committed to a strategic direction. What caused that shift? What would it take to create that same shift in your team?"</a:t>
            </a:r>
          </a:p>
          <a:p>
            <a:endParaRPr lang="en-GB" dirty="0"/>
          </a:p>
          <a:p>
            <a:r>
              <a:rPr lang="en-GB" b="1" dirty="0"/>
              <a:t>ON THE PORTAL, AFTER THE TEACHING:</a:t>
            </a:r>
          </a:p>
          <a:p>
            <a:r>
              <a:rPr lang="en-GB" dirty="0"/>
              <a:t>Participants write the reflection of 2.1 in the participant file:</a:t>
            </a:r>
          </a:p>
          <a:p>
            <a:r>
              <a:rPr lang="en-GB" dirty="0"/>
              <a:t>"Think of a time when you personally chose to go beyond compliance and genuinely committed to a strategic direction. What caused that shift? What would it take to create that same shift in your team?"</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 — THREE FOUNDATIONAL LOGICS (WHY IT MATTERS OPERATIONALLY)</a:t>
            </a:r>
          </a:p>
          <a:p>
            <a:endParaRPr lang="en-GB" dirty="0"/>
          </a:p>
          <a:p>
            <a:r>
              <a:rPr lang="en-GB" b="1" dirty="0"/>
              <a:t>HOW TO TEACH IT:</a:t>
            </a:r>
          </a:p>
          <a:p>
            <a:endParaRPr lang="en-GB" dirty="0"/>
          </a:p>
          <a:p>
            <a:r>
              <a:rPr lang="en-GB" b="1" dirty="0"/>
              <a:t>1. Teach Logic I: Potential vs. Kinetic Energy.</a:t>
            </a:r>
          </a:p>
          <a:p>
            <a:r>
              <a:rPr lang="en-GB" dirty="0"/>
              <a:t>Say: "A strategy document is strategic potential: energy at rest.</a:t>
            </a:r>
          </a:p>
          <a:p>
            <a:r>
              <a:rPr lang="en-GB" dirty="0"/>
              <a:t>For it to become kinetic energy, a human decision must activate it.</a:t>
            </a:r>
          </a:p>
          <a:p>
            <a:r>
              <a:rPr lang="en-GB" dirty="0"/>
              <a:t>The alignment of heart and mind is precisely the conversion mechanism.</a:t>
            </a:r>
          </a:p>
          <a:p>
            <a:r>
              <a:rPr lang="en-GB" dirty="0"/>
              <a:t>Every day that decision is not made is a day strategic potential sits unused.</a:t>
            </a:r>
          </a:p>
          <a:p>
            <a:r>
              <a:rPr lang="en-GB" dirty="0"/>
              <a:t>The organisation does not move until people decide to move it.</a:t>
            </a:r>
          </a:p>
          <a:p>
            <a:r>
              <a:rPr lang="en-GB" dirty="0"/>
              <a:t>Leadership cannot shortcut this decision.</a:t>
            </a:r>
          </a:p>
          <a:p>
            <a:r>
              <a:rPr lang="en-GB" dirty="0"/>
              <a:t>It can only create the conditions for it."</a:t>
            </a:r>
          </a:p>
          <a:p>
            <a:endParaRPr lang="en-GB" dirty="0"/>
          </a:p>
          <a:p>
            <a:r>
              <a:rPr lang="en-GB" b="1" dirty="0"/>
              <a:t>2. Teach Logic II: Compliance vs. Commitment.</a:t>
            </a:r>
          </a:p>
          <a:p>
            <a:r>
              <a:rPr lang="en-GB" dirty="0"/>
              <a:t>Compliance — Mind Only</a:t>
            </a:r>
          </a:p>
          <a:p>
            <a:r>
              <a:rPr lang="en-GB" dirty="0"/>
              <a:t>Say: "People act because authority requires it, rules enforce it, or systems monitor it.</a:t>
            </a:r>
          </a:p>
          <a:p>
            <a:r>
              <a:rPr lang="en-GB" dirty="0"/>
              <a:t>It produces visible output short-term.</a:t>
            </a:r>
          </a:p>
          <a:p>
            <a:r>
              <a:rPr lang="en-GB" dirty="0"/>
              <a:t>It requires continuous supervision.</a:t>
            </a:r>
          </a:p>
          <a:p>
            <a:r>
              <a:rPr lang="en-GB" dirty="0"/>
              <a:t>It creates hidden costs: leadership time consumed by follow-ups, teams dependent on instruction, decision-making that slows as control increases.</a:t>
            </a:r>
          </a:p>
          <a:p>
            <a:r>
              <a:rPr lang="en-GB" dirty="0"/>
              <a:t>It is mechanical and brittle."</a:t>
            </a:r>
          </a:p>
          <a:p>
            <a:endParaRPr lang="en-GB" dirty="0"/>
          </a:p>
          <a:p>
            <a:r>
              <a:rPr lang="en-GB" dirty="0"/>
              <a:t>Commitment — Mind &amp; Heart</a:t>
            </a:r>
          </a:p>
          <a:p>
            <a:r>
              <a:rPr lang="en-GB" dirty="0"/>
              <a:t>Say: "People act because they understand strategic intent, believe the direction is meaningful, and feel personal ownership.</a:t>
            </a:r>
          </a:p>
          <a:p>
            <a:r>
              <a:rPr lang="en-GB" dirty="0"/>
              <a:t>It generates behaviours compliance cannot sustain: discretionary effort, adaptive problem-solving, resilience when conditions change.</a:t>
            </a:r>
          </a:p>
          <a:p>
            <a:r>
              <a:rPr lang="en-GB" dirty="0"/>
              <a:t>Execution continues even when leaders are not present."</a:t>
            </a:r>
          </a:p>
          <a:p>
            <a:endParaRPr lang="en-GB" dirty="0"/>
          </a:p>
          <a:p>
            <a:r>
              <a:rPr lang="en-GB" dirty="0"/>
              <a:t>Logic II typically generates the highest impact with CXO audiences. Leaders recognise compliance-driven execution immediately: they have managed it and been frustrated by it.</a:t>
            </a:r>
          </a:p>
          <a:p>
            <a:r>
              <a:rPr lang="en-GB" dirty="0"/>
              <a:t>Ask: "How much of your leadership time is currently spent enforcing compliance?"</a:t>
            </a:r>
          </a:p>
          <a:p>
            <a:r>
              <a:rPr lang="en-GB" dirty="0"/>
              <a:t>The honest answer is usually sobering.</a:t>
            </a:r>
          </a:p>
          <a:p>
            <a:endParaRPr lang="en-GB" dirty="0"/>
          </a:p>
          <a:p>
            <a:r>
              <a:rPr lang="en-GB" dirty="0"/>
              <a:t>Deepen, say: "A leader can manage someone’s conduct without ever securing their conviction.</a:t>
            </a:r>
          </a:p>
          <a:p>
            <a:r>
              <a:rPr lang="en-GB" dirty="0"/>
              <a:t>Ask this about the people you are developing: do they understand why well enough to sustain it without me?</a:t>
            </a:r>
          </a:p>
          <a:p>
            <a:r>
              <a:rPr lang="en-GB" dirty="0"/>
              <a:t>Dependence on the leader’s presence is managed behaviour."</a:t>
            </a:r>
          </a:p>
          <a:p>
            <a:r>
              <a:rPr lang="en-GB" dirty="0"/>
              <a:t>(Insight: Conduct and conviction. Source: Journal, 24 June 2026 — Professional Insights: Leadership)</a:t>
            </a:r>
          </a:p>
          <a:p>
            <a:endParaRPr lang="en-GB" dirty="0"/>
          </a:p>
          <a:p>
            <a:r>
              <a:rPr lang="en-GB" b="1" dirty="0"/>
              <a:t>3. Teach Logic III: The Strategic Payoff of Alignment.</a:t>
            </a:r>
          </a:p>
          <a:p>
            <a:r>
              <a:rPr lang="en-GB" dirty="0"/>
              <a:t>Say: "When both cognition and emotion are aligned: people act with ownership, coordination improves across functions, and leaders spend less time correcting and more time advancing strategy.</a:t>
            </a:r>
          </a:p>
          <a:p>
            <a:r>
              <a:rPr lang="en-GB" dirty="0"/>
              <a:t>This shift reduces rework, lowers escalation, and preserves leadership capacity for decisions that truly require executive attention."</a:t>
            </a:r>
          </a:p>
          <a:p>
            <a:endParaRPr lang="en-GB" dirty="0"/>
          </a:p>
          <a:p>
            <a:r>
              <a:rPr lang="en-GB" b="1" dirty="0"/>
              <a:t>4. Land the line at the foot of the slide.</a:t>
            </a:r>
          </a:p>
          <a:p>
            <a:r>
              <a:rPr lang="en-GB" dirty="0"/>
              <a:t>Read it in full: "Aligning Heart &amp; Mind is the mechanical conversion point where strategic potential becomes strategic movement."</a:t>
            </a:r>
          </a:p>
          <a:p>
            <a:endParaRPr lang="en-GB" dirty="0"/>
          </a:p>
          <a:p>
            <a:r>
              <a:rPr lang="en-GB" b="1" dirty="0"/>
              <a:t>ON THE PORTAL, AFTER THE TEACHING:</a:t>
            </a:r>
          </a:p>
          <a:p>
            <a:r>
              <a:rPr lang="en-GB" dirty="0"/>
              <a:t>Participants write the reflection of 2.2 in the participant file:</a:t>
            </a:r>
          </a:p>
          <a:p>
            <a:r>
              <a:rPr lang="en-GB" dirty="0"/>
              <a:t>"How much of your current leadership time is spent enforcing compliance? What is the opportunity cost of this?"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2.3 — WHY CHANGE MUST BE LED: INSTALLED AND ADOPTED (THE VALUE LOGIC)</a:t>
            </a:r>
          </a:p>
          <a:p>
            <a:endParaRPr lang="en-GB" dirty="0"/>
          </a:p>
          <a:p>
            <a:r>
              <a:rPr lang="en-GB" b="1" dirty="0"/>
              <a:t>HOW TO TEACH IT:</a:t>
            </a:r>
          </a:p>
          <a:p>
            <a:endParaRPr lang="en-GB" dirty="0"/>
          </a:p>
          <a:p>
            <a:r>
              <a:rPr lang="en-GB" b="1" dirty="0"/>
              <a:t>1. Link to 2.2.</a:t>
            </a:r>
          </a:p>
          <a:p>
            <a:r>
              <a:rPr lang="en-GB" dirty="0"/>
              <a:t>Say: "2.2 described a strategy as potential energy that a human decision converts into movement.</a:t>
            </a:r>
          </a:p>
          <a:p>
            <a:r>
              <a:rPr lang="en-GB" dirty="0"/>
              <a:t>A change follows the same logic.</a:t>
            </a:r>
          </a:p>
          <a:p>
            <a:r>
              <a:rPr lang="en-GB" dirty="0"/>
              <a:t>On the day it is installed, its value is still potential.</a:t>
            </a:r>
          </a:p>
          <a:p>
            <a:r>
              <a:rPr lang="en-GB" dirty="0"/>
              <a:t>The value is earned later, when people work the new way without being watched."</a:t>
            </a:r>
          </a:p>
          <a:p>
            <a:endParaRPr lang="en-GB" dirty="0"/>
          </a:p>
          <a:p>
            <a:r>
              <a:rPr lang="en-GB" b="1" dirty="0"/>
              <a:t>2. Teach Installed.</a:t>
            </a:r>
          </a:p>
          <a:p>
            <a:r>
              <a:rPr lang="en-GB" dirty="0"/>
              <a:t>Say: "Installed means the new system, structure or KPI is in place, and people have been told.</a:t>
            </a:r>
          </a:p>
          <a:p>
            <a:r>
              <a:rPr lang="en-GB" dirty="0"/>
              <a:t>Installation is a project outcome.</a:t>
            </a:r>
          </a:p>
          <a:p>
            <a:r>
              <a:rPr lang="en-GB" dirty="0"/>
              <a:t>It can be planned, funded and delivered on a date, and it is easy to report as success."</a:t>
            </a:r>
          </a:p>
          <a:p>
            <a:r>
              <a:rPr lang="en-GB" dirty="0"/>
              <a:t>What you see: the launch is complete, the training register is signed and the dashboard is live.</a:t>
            </a:r>
          </a:p>
          <a:p>
            <a:r>
              <a:rPr lang="en-GB" dirty="0"/>
              <a:t>What it yields: cost. The organisation has paid for the change and is still working the old way.</a:t>
            </a:r>
          </a:p>
          <a:p>
            <a:endParaRPr lang="en-GB" dirty="0"/>
          </a:p>
          <a:p>
            <a:r>
              <a:rPr lang="en-GB" b="1" dirty="0"/>
              <a:t>3. Teach Adopted.</a:t>
            </a:r>
          </a:p>
          <a:p>
            <a:r>
              <a:rPr lang="en-GB" dirty="0"/>
              <a:t>Say: "Adopted means people work the new way without supervision.</a:t>
            </a:r>
          </a:p>
          <a:p>
            <a:r>
              <a:rPr lang="en-GB" dirty="0"/>
              <a:t>The change has passed all four checks.</a:t>
            </a:r>
          </a:p>
          <a:p>
            <a:r>
              <a:rPr lang="en-GB" dirty="0"/>
              <a:t>Adoption is a behavioural outcome.</a:t>
            </a:r>
          </a:p>
          <a:p>
            <a:r>
              <a:rPr lang="en-GB" dirty="0"/>
              <a:t>It arrives group by group, at the pace of each group’s slowest check, and no launch date can declare it."</a:t>
            </a:r>
          </a:p>
          <a:p>
            <a:r>
              <a:rPr lang="en-GB" dirty="0"/>
              <a:t>What you see: the new practice holds on a busy day, people correct each other, and the old workaround has gone.</a:t>
            </a:r>
          </a:p>
          <a:p>
            <a:r>
              <a:rPr lang="en-GB" dirty="0"/>
              <a:t>What it yields: value. The benefit the strategy counted on is being earned.</a:t>
            </a:r>
          </a:p>
          <a:p>
            <a:endParaRPr lang="en-GB" dirty="0"/>
          </a:p>
          <a:p>
            <a:r>
              <a:rPr lang="en-GB" dirty="0"/>
              <a:t>Deepen, say: "Organisations often assume that completing a restructure, implementing a system or publishing a strategy means transformation has occurred.</a:t>
            </a:r>
          </a:p>
          <a:p>
            <a:r>
              <a:rPr lang="en-GB" dirty="0"/>
              <a:t>Sustainable results require people to understand what the change means, why it matters and what they must now do differently."</a:t>
            </a:r>
          </a:p>
          <a:p>
            <a:r>
              <a:rPr lang="en-GB" dirty="0"/>
              <a:t>(Insight: Published and understood. Source: Journal, 9 August 2026 — Professional Insights: Strategy)</a:t>
            </a:r>
          </a:p>
          <a:p>
            <a:endParaRPr lang="en-GB" dirty="0"/>
          </a:p>
          <a:p>
            <a:r>
              <a:rPr lang="en-GB" b="1" dirty="0"/>
              <a:t>4. Teach the adoption gap.</a:t>
            </a:r>
          </a:p>
          <a:p>
            <a:r>
              <a:rPr lang="en-GB" dirty="0"/>
              <a:t>Say: "The time between installed and adopted is the adoption gap.</a:t>
            </a:r>
          </a:p>
          <a:p>
            <a:r>
              <a:rPr lang="en-GB" dirty="0"/>
              <a:t>While it lasts, the organisation runs two practices at once: the new one it has built and the old one people still use.</a:t>
            </a:r>
          </a:p>
          <a:p>
            <a:r>
              <a:rPr lang="en-GB" dirty="0"/>
              <a:t>Supervision rises, because compliance has to be checked.</a:t>
            </a:r>
          </a:p>
          <a:p>
            <a:r>
              <a:rPr lang="en-GB" dirty="0"/>
              <a:t>The benefits counted when the strategy was approved remain unearned."</a:t>
            </a:r>
          </a:p>
          <a:p>
            <a:r>
              <a:rPr lang="en-GB" dirty="0"/>
              <a:t>Say: "The gap also has a cost that outlasts the change itself.</a:t>
            </a:r>
          </a:p>
          <a:p>
            <a:r>
              <a:rPr lang="en-GB" dirty="0"/>
              <a:t>Every change that is installed and left unadopted teaches the organisation that a change can be waited out.</a:t>
            </a:r>
          </a:p>
          <a:p>
            <a:r>
              <a:rPr lang="en-GB" dirty="0"/>
              <a:t>The next change starts with less belief, and Heart is harder to pass."</a:t>
            </a:r>
          </a:p>
          <a:p>
            <a:r>
              <a:rPr lang="en-GB" dirty="0"/>
              <a:t>Say: "The gap closes one check at a time.</a:t>
            </a:r>
          </a:p>
          <a:p>
            <a:r>
              <a:rPr lang="en-GB" dirty="0"/>
              <a:t>Compliance can install a change.</a:t>
            </a:r>
          </a:p>
          <a:p>
            <a:r>
              <a:rPr lang="en-GB" dirty="0"/>
              <a:t>Commitment is what carries it through to Habit, and adoption holds when leaders notice and reinforce the new practice."</a:t>
            </a:r>
          </a:p>
          <a:p>
            <a:endParaRPr lang="en-GB" dirty="0"/>
          </a:p>
          <a:p>
            <a:r>
              <a:rPr lang="en-GB" b="1" dirty="0"/>
              <a:t>5. Give the three signals and the data.</a:t>
            </a:r>
          </a:p>
          <a:p>
            <a:r>
              <a:rPr lang="en-GB" dirty="0"/>
              <a:t>Three signals a change is installed and awaiting adoption:</a:t>
            </a:r>
          </a:p>
          <a:p>
            <a:r>
              <a:rPr lang="en-GB" dirty="0"/>
              <a:t>1. Use of the new practice falls when the leader is absent.</a:t>
            </a:r>
          </a:p>
          <a:p>
            <a:r>
              <a:rPr lang="en-GB" dirty="0"/>
              <a:t>2. Reports are complete and the result has not moved.</a:t>
            </a:r>
          </a:p>
          <a:p>
            <a:r>
              <a:rPr lang="en-GB" dirty="0"/>
              <a:t>3. People call it “the new system” and describe their own work as unchanged.</a:t>
            </a:r>
          </a:p>
          <a:p>
            <a:endParaRPr lang="en-GB" dirty="0"/>
          </a:p>
          <a:p>
            <a:r>
              <a:rPr lang="en-GB" dirty="0"/>
              <a:t>Data: 81% of those who planned for reinforcement met or exceeded their project objectives (Prosci, Best Practices in Change Management, 12th edition).</a:t>
            </a:r>
          </a:p>
          <a:p>
            <a:endParaRPr lang="en-GB" dirty="0"/>
          </a:p>
          <a:p>
            <a:r>
              <a:rPr lang="en-GB" b="1" dirty="0"/>
              <a:t>6. Open the discussion.</a:t>
            </a:r>
          </a:p>
          <a:p>
            <a:r>
              <a:rPr lang="en-GB" dirty="0"/>
              <a:t>Key distinction: installation is a project milestone and adoption is a behaviour. Ask which of the two the leadership team currently reports on.</a:t>
            </a:r>
          </a:p>
          <a:p>
            <a:r>
              <a:rPr lang="en-GB" dirty="0"/>
              <a:t>Ask: "Name one change that is installed and still awaiting adoption. What has the wait cost in rework, supervision or lost benefit?"</a:t>
            </a:r>
          </a:p>
          <a:p>
            <a:r>
              <a:rPr lang="en-GB" dirty="0"/>
              <a:t>Ask for a figure, even a rough one.</a:t>
            </a:r>
          </a:p>
          <a:p>
            <a:r>
              <a:rPr lang="en-GB" dirty="0"/>
              <a:t>Watch for: the gap blamed on the people affected. Ask which check failed, and whose job that check was.</a:t>
            </a:r>
          </a:p>
          <a:p>
            <a:endParaRPr lang="en-GB" dirty="0"/>
          </a:p>
          <a:p>
            <a:r>
              <a:rPr lang="en-GB" b="1" dirty="0"/>
              <a:t>ON THE PORTAL, AFTER THE TEACHING:</a:t>
            </a:r>
          </a:p>
          <a:p>
            <a:r>
              <a:rPr lang="en-GB" dirty="0"/>
              <a:t>Participants write the reflection of 2.3 in the participant file:</a:t>
            </a:r>
          </a:p>
          <a:p>
            <a:r>
              <a:rPr lang="en-GB" dirty="0"/>
              <a:t>"Name one change in your organisation that is installed and still awaiting adoption. Which check did it fail: Mind, Heart, Hands or Habit? What has the adoption gap cost so far?"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3 · EXTRAPOLATING — WHERE</a:t>
            </a:r>
          </a:p>
          <a:p>
            <a:endParaRPr lang="en-GB" dirty="0"/>
          </a:p>
          <a:p>
            <a:r>
              <a:rPr lang="en-GB" b="1" dirty="0"/>
              <a:t>HOW THIS SECTION RUNS:</a:t>
            </a:r>
          </a:p>
          <a:p>
            <a:r>
              <a:rPr lang="en-GB" dirty="0"/>
              <a:t>1. 3.1: the COMPASS framework and its seven High Flammable Zones.</a:t>
            </a:r>
          </a:p>
          <a:p>
            <a:r>
              <a:rPr lang="en-GB" dirty="0"/>
              <a:t>2. 3.2: the escalation threshold between a High Flammable Zone and a Burning Platform.</a:t>
            </a:r>
          </a:p>
          <a:p>
            <a:r>
              <a:rPr lang="en-GB" dirty="0"/>
              <a:t>3. 3.3: the readiness scan, which reads each group of people on the 4 Checks for one change.</a:t>
            </a:r>
          </a:p>
          <a:p>
            <a:r>
              <a:rPr lang="en-GB" dirty="0"/>
              <a:t>4. The Section 3 Reflections slide: the two reflections participants write on the portal after the teaching.</a:t>
            </a:r>
          </a:p>
          <a:p>
            <a:endParaRPr lang="en-GB" dirty="0"/>
          </a:p>
          <a:p>
            <a:r>
              <a:rPr lang="en-GB" b="1" dirty="0"/>
              <a:t>SECTION LEARNING OUTCOMES:</a:t>
            </a:r>
          </a:p>
          <a:p>
            <a:r>
              <a:rPr lang="en-GB" dirty="0"/>
              <a:t>1. Recognise where interpretation, emotional climate and behaviour strengthen or weaken alignment, and the signals that misalignment is escalating into crisis.</a:t>
            </a:r>
          </a:p>
          <a:p>
            <a:r>
              <a:rPr lang="en-GB" dirty="0"/>
              <a:t>2. Assess the readiness of the people most affected by the changes the strategy requires.</a:t>
            </a:r>
          </a:p>
          <a:p>
            <a:endParaRPr lang="en-GB" dirty="0"/>
          </a:p>
          <a:p>
            <a:r>
              <a:rPr lang="en-GB" b="1" dirty="0"/>
              <a:t>HOW TO OPEN THE SECTION:</a:t>
            </a:r>
          </a:p>
          <a:p>
            <a:endParaRPr lang="en-GB" dirty="0"/>
          </a:p>
          <a:p>
            <a:r>
              <a:rPr lang="en-GB" b="1" dirty="0"/>
              <a:t>1. Say what the section does.</a:t>
            </a:r>
          </a:p>
          <a:p>
            <a:r>
              <a:rPr lang="en-GB" dirty="0"/>
              <a:t>Say: "This section makes alignment specific and urgent.</a:t>
            </a:r>
          </a:p>
          <a:p>
            <a:r>
              <a:rPr lang="en-GB" dirty="0"/>
              <a:t>You finish it knowing where your most significant alignment risks live, in named domains of your enterprise."</a:t>
            </a:r>
          </a:p>
          <a:p>
            <a:endParaRPr lang="en-GB" dirty="0"/>
          </a:p>
          <a:p>
            <a:r>
              <a:rPr lang="en-GB" b="1" dirty="0"/>
              <a:t>2. Run the diagnostic exercise.</a:t>
            </a:r>
          </a:p>
          <a:p>
            <a:r>
              <a:rPr lang="en-GB" dirty="0"/>
              <a:t>Before teaching the COMPASS narratives, ask participants to rate each domain on their own, from 1 (strong alignment) to 5 (severe misalignment), and post the seven ratings in the chat.</a:t>
            </a:r>
          </a:p>
          <a:p>
            <a:r>
              <a:rPr lang="en-GB" dirty="0"/>
              <a:t>Then compare the ratings across the group. Divergent ratings are themselves diagnostic.</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 — THE COMPASS FRAMEWORK: SEVEN HIGH FLAMMABLE ZONES (CLICK A DOMAIN)</a:t>
            </a:r>
          </a:p>
          <a:p>
            <a:endParaRPr lang="en-GB" dirty="0"/>
          </a:p>
          <a:p>
            <a:r>
              <a:rPr lang="en-GB" b="1" dirty="0"/>
              <a:t>HOW TO TEACH IT:</a:t>
            </a:r>
          </a:p>
          <a:p>
            <a:endParaRPr lang="en-GB" dirty="0"/>
          </a:p>
          <a:p>
            <a:r>
              <a:rPr lang="en-GB" b="1" dirty="0"/>
              <a:t>1. Introduce the framework.</a:t>
            </a:r>
          </a:p>
          <a:p>
            <a:r>
              <a:rPr lang="en-GB" dirty="0"/>
              <a:t>Say: "The COMPASS framework identifies seven High Flammable Zones where human interpretation, emotional climate, and behaviour directly influence strategic outcomes.</a:t>
            </a:r>
          </a:p>
          <a:p>
            <a:r>
              <a:rPr lang="en-GB" dirty="0"/>
              <a:t>These are the leverage points and the danger zones."</a:t>
            </a:r>
          </a:p>
          <a:p>
            <a:endParaRPr lang="en-GB" dirty="0"/>
          </a:p>
          <a:p>
            <a:r>
              <a:rPr lang="en-GB" b="1" dirty="0"/>
              <a:t>2. Start with the domain most participants rated highest risk.</a:t>
            </a:r>
          </a:p>
          <a:p>
            <a:r>
              <a:rPr lang="en-GB" dirty="0"/>
              <a:t>Ask: "Who has a different view? Where does your assessment diverge?"</a:t>
            </a:r>
          </a:p>
          <a:p>
            <a:r>
              <a:rPr lang="en-GB" dirty="0"/>
              <a:t>Divergence in the group is itself a signal. Name it explicitly.</a:t>
            </a:r>
          </a:p>
          <a:p>
            <a:endParaRPr lang="en-GB" dirty="0"/>
          </a:p>
          <a:p>
            <a:r>
              <a:rPr lang="en-GB" b="1" dirty="0"/>
              <a:t>3. Teach the seven domains on the slide.</a:t>
            </a:r>
          </a:p>
          <a:p>
            <a:r>
              <a:rPr lang="en-GB" dirty="0"/>
              <a:t>C · Clarity of Strategic Direction</a:t>
            </a:r>
          </a:p>
          <a:p>
            <a:r>
              <a:rPr lang="en-GB" dirty="0"/>
              <a:t>Whether people can describe the strategy in the same language, connect it to daily decisions, and hold it steady under pressure. When this signal flares: confidence in meetings, confusion in corridors.</a:t>
            </a:r>
          </a:p>
          <a:p>
            <a:r>
              <a:rPr lang="en-GB" dirty="0"/>
              <a:t>Observable indicators: executives presenting polished strategies that fracture the moment they leave the room. Multiple competing priorities in different functions.</a:t>
            </a:r>
          </a:p>
          <a:p>
            <a:r>
              <a:rPr lang="en-GB" dirty="0"/>
              <a:t>Signal lit: “Everyone has a different version of what we said.”</a:t>
            </a:r>
          </a:p>
          <a:p>
            <a:r>
              <a:rPr lang="en-GB" dirty="0"/>
              <a:t>Ask: "Can every person in this group describe the top three strategic priorities in the same order, using the same language? Try it now."</a:t>
            </a:r>
          </a:p>
          <a:p>
            <a:endParaRPr lang="en-GB" dirty="0"/>
          </a:p>
          <a:p>
            <a:r>
              <a:rPr lang="en-GB" dirty="0"/>
              <a:t>O · Organisational Alignment</a:t>
            </a:r>
          </a:p>
          <a:p>
            <a:r>
              <a:rPr lang="en-GB" dirty="0"/>
              <a:t>Alignment is coordinated behaviour outside the room. Leaders declare alignment after a planning session, observe nodding in forums, and interpret absence of challenge as shared commitment. True alignment is only visible in behaviour.</a:t>
            </a:r>
          </a:p>
          <a:p>
            <a:r>
              <a:rPr lang="en-GB" dirty="0"/>
              <a:t>Observable indicators: agreements reached in meetings relitigated through resource approvals and parallel conversations. Senior arbitration required for decisions that should be self-coordinating.</a:t>
            </a:r>
          </a:p>
          <a:p>
            <a:r>
              <a:rPr lang="en-GB" dirty="0"/>
              <a:t>Signal lit: “We agreed on this — why is it not happening?”</a:t>
            </a:r>
          </a:p>
          <a:p>
            <a:r>
              <a:rPr lang="en-GB" dirty="0"/>
              <a:t>Ask: "Where in your organisation do decisions made at the top not survive the journey to implementation? What sits between the decision and the delivery?"</a:t>
            </a:r>
          </a:p>
          <a:p>
            <a:endParaRPr lang="en-GB" dirty="0"/>
          </a:p>
          <a:p>
            <a:r>
              <a:rPr lang="en-GB" dirty="0"/>
              <a:t>Deepen, say: "A draining pattern in mature teams is engagement without adoption: the team attends, questions and challenges, and the decision is never received.</a:t>
            </a:r>
          </a:p>
          <a:p>
            <a:r>
              <a:rPr lang="en-GB" dirty="0"/>
              <a:t>Name the pattern directly, then either revise the decision or close the debate and call for adoption."</a:t>
            </a:r>
          </a:p>
          <a:p>
            <a:r>
              <a:rPr lang="en-GB" dirty="0"/>
              <a:t>(Insight: Engagement without adoption. Source: Journal, 19 April 2026 — Professional Insights: Culture)</a:t>
            </a:r>
          </a:p>
          <a:p>
            <a:endParaRPr lang="en-GB" dirty="0"/>
          </a:p>
          <a:p>
            <a:r>
              <a:rPr lang="en-GB" dirty="0"/>
              <a:t>M · Management Discipline</a:t>
            </a:r>
          </a:p>
          <a:p>
            <a:r>
              <a:rPr lang="en-GB" dirty="0"/>
              <a:t>Whether the operating rhythm (reviews, escalation norms, accountability structures, governance forums) is a genuine engine of delivery or an elaborate performance of oversight.</a:t>
            </a:r>
          </a:p>
          <a:p>
            <a:r>
              <a:rPr lang="en-GB" dirty="0"/>
              <a:t>Observable indicators: accountability is diffuse. Leaders tolerate persistent underperformance.</a:t>
            </a:r>
          </a:p>
          <a:p>
            <a:r>
              <a:rPr lang="en-GB" dirty="0"/>
              <a:t>Signal lit: “We keep discussing the same issues with no resolution.”</a:t>
            </a:r>
          </a:p>
          <a:p>
            <a:r>
              <a:rPr lang="en-GB" dirty="0"/>
              <a:t>Ask: "In your last three performance reviews, what was the single most recurring issue? Has it been resolved, or has it been re-explained?"</a:t>
            </a:r>
          </a:p>
          <a:p>
            <a:endParaRPr lang="en-GB" dirty="0"/>
          </a:p>
          <a:p>
            <a:r>
              <a:rPr lang="en-GB" dirty="0"/>
              <a:t>P · People &amp; Capability</a:t>
            </a:r>
          </a:p>
          <a:p>
            <a:r>
              <a:rPr lang="en-GB" dirty="0"/>
              <a:t>Organisations frequently approve strategies that their people are not yet equipped to deliver. This signal is slow-burning and easy to rationalise.</a:t>
            </a:r>
          </a:p>
          <a:p>
            <a:r>
              <a:rPr lang="en-GB" dirty="0"/>
              <a:t>Observable indicators: middle managers stretched beyond bandwidth. Key talent exiting quietly. Institutional knowledge walking out the door.</a:t>
            </a:r>
          </a:p>
          <a:p>
            <a:r>
              <a:rPr lang="en-GB" dirty="0"/>
              <a:t>Signal lit: “We have the strategy but not the people to execute it.”</a:t>
            </a:r>
          </a:p>
          <a:p>
            <a:r>
              <a:rPr lang="en-GB" dirty="0"/>
              <a:t>Ask: "If you had to deliver your strategy with the team you have today, which specific capability gaps would most limit you? When did you last name those gaps explicitly?"</a:t>
            </a:r>
          </a:p>
          <a:p>
            <a:endParaRPr lang="en-GB" dirty="0"/>
          </a:p>
          <a:p>
            <a:r>
              <a:rPr lang="en-GB" dirty="0"/>
              <a:t>A · Allocation of Resources</a:t>
            </a:r>
          </a:p>
          <a:p>
            <a:r>
              <a:rPr lang="en-GB" dirty="0"/>
              <a:t>An organisation’s true strategy is found in its budget. Legacy spend continues by inertia. New priorities are approved in language but starved in practice.</a:t>
            </a:r>
          </a:p>
          <a:p>
            <a:r>
              <a:rPr lang="en-GB" dirty="0"/>
              <a:t>Observable indicators: stated priorities and funded priorities are clearly different. Leaders handed responsibility without resources to honour it.</a:t>
            </a:r>
          </a:p>
          <a:p>
            <a:r>
              <a:rPr lang="en-GB" dirty="0"/>
              <a:t>Signal lit: “We say this is a priority but the resources tell a different story.”</a:t>
            </a:r>
          </a:p>
          <a:p>
            <a:r>
              <a:rPr lang="en-GB" dirty="0"/>
              <a:t>Ask: "Look at your budget allocation. Does money follow the stated strategy? Where is the gap between declared priority and funded priority?"</a:t>
            </a:r>
          </a:p>
          <a:p>
            <a:endParaRPr lang="en-GB" dirty="0"/>
          </a:p>
          <a:p>
            <a:r>
              <a:rPr lang="en-GB" dirty="0"/>
              <a:t>S · Sensing &amp; Adaptation</a:t>
            </a:r>
          </a:p>
          <a:p>
            <a:r>
              <a:rPr lang="en-GB" dirty="0"/>
              <a:t>Whether the organisation is genuinely learning from what is happening around it. When leaders learn that raising uncomfortable signals carries social cost, the organisation gradually loses its early warning system entirely.</a:t>
            </a:r>
          </a:p>
          <a:p>
            <a:r>
              <a:rPr lang="en-GB" dirty="0"/>
              <a:t>Observable indicators: customer data reviewed but not acted on. Leaders defending forecasts the evidence no longer supports.</a:t>
            </a:r>
          </a:p>
          <a:p>
            <a:r>
              <a:rPr lang="en-GB" dirty="0"/>
              <a:t>Signal lit: “We knew this was coming, but we didn’t adapt fast enough.”</a:t>
            </a:r>
          </a:p>
          <a:p>
            <a:r>
              <a:rPr lang="en-GB" dirty="0"/>
              <a:t>Ask: "What is one market or customer signal your organisation is receiving that is not yet reflected in your strategic plan? What would it take to act on it?"</a:t>
            </a:r>
          </a:p>
          <a:p>
            <a:endParaRPr lang="en-GB" dirty="0"/>
          </a:p>
          <a:p>
            <a:r>
              <a:rPr lang="en-GB" dirty="0"/>
              <a:t>S · Systems &amp; Execution</a:t>
            </a:r>
          </a:p>
          <a:p>
            <a:r>
              <a:rPr lang="en-GB" dirty="0"/>
              <a:t>A new strategy running through an old machine will always produce the same result. Does the operating model match the strategic priorities?</a:t>
            </a:r>
          </a:p>
          <a:p>
            <a:r>
              <a:rPr lang="en-GB" dirty="0"/>
              <a:t>Observable indicators: the organisation invests in transformation while being structurally configured to resist it.</a:t>
            </a:r>
          </a:p>
          <a:p>
            <a:r>
              <a:rPr lang="en-GB" dirty="0"/>
              <a:t>Signal lit: “The structure is working against the strategy.”</a:t>
            </a:r>
          </a:p>
          <a:p>
            <a:r>
              <a:rPr lang="en-GB" dirty="0"/>
              <a:t>Ask: "Is your current operating model designed for the strategy you have now, or for a strategy you had two years ago? What would redesigning the machine actually require?"</a:t>
            </a:r>
          </a:p>
          <a:p>
            <a:endParaRPr lang="en-GB" dirty="0"/>
          </a:p>
          <a:p>
            <a:r>
              <a:rPr lang="en-GB" b="1" dirty="0"/>
              <a:t>4. Draw the key distinction.</a:t>
            </a:r>
          </a:p>
          <a:p>
            <a:r>
              <a:rPr lang="en-GB" dirty="0"/>
              <a:t>Say: "High Flammables are leverage points.</a:t>
            </a:r>
          </a:p>
          <a:p>
            <a:r>
              <a:rPr lang="en-GB" dirty="0"/>
              <a:t>They are dangerous, and early intervention stabilises them.</a:t>
            </a:r>
          </a:p>
          <a:p>
            <a:r>
              <a:rPr lang="en-GB" dirty="0"/>
              <a:t>Burning Platforms are what happens when leverage points are ignored.</a:t>
            </a:r>
          </a:p>
          <a:p>
            <a:r>
              <a:rPr lang="en-GB" dirty="0"/>
              <a:t>The COMPASS diagnostic is about catching zones before they ignite."</a:t>
            </a:r>
          </a:p>
          <a:p>
            <a:endParaRPr lang="en-GB" dirty="0"/>
          </a:p>
          <a:p>
            <a:r>
              <a:rPr lang="en-GB" b="1" dirty="0"/>
              <a:t>ON THE PORTAL, AFTER THE TEACHING:</a:t>
            </a:r>
          </a:p>
          <a:p>
            <a:r>
              <a:rPr lang="en-GB" dirty="0"/>
              <a:t>Participants write the reflection of 3.1 in the participant file:</a:t>
            </a:r>
          </a:p>
          <a:p>
            <a:r>
              <a:rPr lang="en-GB" dirty="0"/>
              <a:t>"Write your seven ratings. Which domain did you rate highest risk? What is the observable evidence? Is it still a High Flammable or has it crossed to Burning Platform?"</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3.2 — FROM HIGH FLAMMABLES TO BURNING PLATFORMS (ESCALATION THRESHOLD)</a:t>
            </a:r>
          </a:p>
          <a:p>
            <a:endParaRPr lang="en-GB" dirty="0"/>
          </a:p>
          <a:p>
            <a:r>
              <a:rPr lang="en-GB" b="1" dirty="0"/>
              <a:t>HOW TO TEACH IT:</a:t>
            </a:r>
          </a:p>
          <a:p>
            <a:endParaRPr lang="en-GB" dirty="0"/>
          </a:p>
          <a:p>
            <a:r>
              <a:rPr lang="en-GB" b="1" dirty="0"/>
              <a:t>1. Teach the High Flammable Zone.</a:t>
            </a:r>
          </a:p>
          <a:p>
            <a:r>
              <a:rPr lang="en-GB" dirty="0"/>
              <a:t>Say: "High Flammable Zones are organisational leverage points.</a:t>
            </a:r>
          </a:p>
          <a:p>
            <a:r>
              <a:rPr lang="en-GB" dirty="0"/>
              <a:t>When alignment is strong: rapid clarity, coordinated effort, compounding momentum.</a:t>
            </a:r>
          </a:p>
          <a:p>
            <a:r>
              <a:rPr lang="en-GB" dirty="0"/>
              <a:t>When alignment is weak: distorted interpretation, defensive behaviour, multiplying friction."</a:t>
            </a:r>
          </a:p>
          <a:p>
            <a:r>
              <a:rPr lang="en-GB" dirty="0"/>
              <a:t>Say: "Early intervention stabilises the zone and converts it into a performance amplifier."</a:t>
            </a:r>
          </a:p>
          <a:p>
            <a:endParaRPr lang="en-GB" dirty="0"/>
          </a:p>
          <a:p>
            <a:r>
              <a:rPr lang="en-GB" dirty="0"/>
              <a:t>Deepen, say: "A strategy that cannot absorb honest feedback becomes disconnected from reality.</a:t>
            </a:r>
          </a:p>
          <a:p>
            <a:r>
              <a:rPr lang="en-GB" dirty="0"/>
              <a:t>When operational strain, excessive demands or declining trust are raised, assess how people are experiencing the system.</a:t>
            </a:r>
          </a:p>
          <a:p>
            <a:r>
              <a:rPr lang="en-GB" dirty="0"/>
              <a:t>Early listening is the intervention that stabilises a High Flammable Zone."</a:t>
            </a:r>
          </a:p>
          <a:p>
            <a:r>
              <a:rPr lang="en-GB" dirty="0"/>
              <a:t>(Insight: Listening to strain. Source: Journal, 17 July 2026 — Professional Insights: Strategy)</a:t>
            </a:r>
          </a:p>
          <a:p>
            <a:endParaRPr lang="en-GB" dirty="0"/>
          </a:p>
          <a:p>
            <a:r>
              <a:rPr lang="en-GB" b="1" dirty="0"/>
              <a:t>2. Teach the Burning Platform.</a:t>
            </a:r>
          </a:p>
          <a:p>
            <a:r>
              <a:rPr lang="en-GB" dirty="0"/>
              <a:t>Say: "A Burning Platform is what a High Flammable becomes when misalignment persists and crosses the escalation threshold.</a:t>
            </a:r>
          </a:p>
          <a:p>
            <a:r>
              <a:rPr lang="en-GB" dirty="0"/>
              <a:t>By this point, execution breakdown is visible and costly.</a:t>
            </a:r>
          </a:p>
          <a:p>
            <a:r>
              <a:rPr lang="en-GB" dirty="0"/>
              <a:t>Reactive interventions cost exponentially more than proactive alignment would have."</a:t>
            </a:r>
          </a:p>
          <a:p>
            <a:r>
              <a:rPr lang="en-GB" dirty="0"/>
              <a:t>Say: "The same zone that was manageable as a leverage point becomes a crisis requiring systemic rebuilding."</a:t>
            </a:r>
          </a:p>
          <a:p>
            <a:endParaRPr lang="en-GB" dirty="0"/>
          </a:p>
          <a:p>
            <a:r>
              <a:rPr lang="en-GB" b="1" dirty="0"/>
              <a:t>3. Ask where the threshold is closest.</a:t>
            </a:r>
          </a:p>
          <a:p>
            <a:r>
              <a:rPr lang="en-GB" dirty="0"/>
              <a:t>Ask: "Which of your COMPASS domains is closest to that threshold right now?"</a:t>
            </a:r>
          </a:p>
          <a:p>
            <a:r>
              <a:rPr lang="en-GB" dirty="0"/>
              <a:t>The Enterprise COMPASS Screening Tool is available on demand. It helps teams move from vague alignment concerns to clear diagnosis and targeted intervention, and is recommended for use at strategy reviews and execution forums.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3.3 — CHANGE READINESS ACROSS THE ORGANISATION (READINESS SCAN)</a:t>
            </a:r>
          </a:p>
          <a:p>
            <a:endParaRPr lang="en-GB" dirty="0"/>
          </a:p>
          <a:p>
            <a:r>
              <a:rPr lang="en-GB" b="1" dirty="0"/>
              <a:t>HOW TO TEACH IT:</a:t>
            </a:r>
          </a:p>
          <a:p>
            <a:endParaRPr lang="en-GB" dirty="0"/>
          </a:p>
          <a:p>
            <a:r>
              <a:rPr lang="en-GB" b="1" dirty="0"/>
              <a:t>1. Link readiness to COMPASS.</a:t>
            </a:r>
          </a:p>
          <a:p>
            <a:r>
              <a:rPr lang="en-GB" dirty="0"/>
              <a:t>Say: "COMPASS shows where the organisation is exposed.</a:t>
            </a:r>
          </a:p>
          <a:p>
            <a:r>
              <a:rPr lang="en-GB" dirty="0"/>
              <a:t>Readiness shows how far each group of people has come through the 4 Checks for one specific change.</a:t>
            </a:r>
          </a:p>
          <a:p>
            <a:r>
              <a:rPr lang="en-GB" dirty="0"/>
              <a:t>The two are read together."</a:t>
            </a:r>
          </a:p>
          <a:p>
            <a:r>
              <a:rPr lang="en-GB" dirty="0"/>
              <a:t>Say: "Readiness belongs to a group and a change together.</a:t>
            </a:r>
          </a:p>
          <a:p>
            <a:r>
              <a:rPr lang="en-GB" dirty="0"/>
              <a:t>The same group can be ready for one change and unready for another.</a:t>
            </a:r>
          </a:p>
          <a:p>
            <a:r>
              <a:rPr lang="en-GB" dirty="0"/>
              <a:t>The same change finds different groups at different checks, because it asks something different of each: one group gives up a decision, another gains one, a third carries on as before and feels overlooked."</a:t>
            </a:r>
          </a:p>
          <a:p>
            <a:endParaRPr lang="en-GB" dirty="0"/>
          </a:p>
          <a:p>
            <a:r>
              <a:rPr lang="en-GB" b="1" dirty="0"/>
              <a:t>2. Teach the three steps of the scan on the slide.</a:t>
            </a:r>
          </a:p>
          <a:p>
            <a:r>
              <a:rPr lang="en-GB" dirty="0"/>
              <a:t>1. Name one change and list the groups it affects.</a:t>
            </a:r>
          </a:p>
          <a:p>
            <a:r>
              <a:rPr lang="en-GB" dirty="0"/>
              <a:t>2. Run the 4 Checks for each group. Rate each check from 1 (fully in place) to 5 (missing).</a:t>
            </a:r>
          </a:p>
          <a:p>
            <a:r>
              <a:rPr lang="en-GB" dirty="0"/>
              <a:t>3. Find each group’s first check that scores 4 or 5. Leadership effort for that group starts there.</a:t>
            </a:r>
          </a:p>
          <a:p>
            <a:endParaRPr lang="en-GB" dirty="0"/>
          </a:p>
          <a:p>
            <a:r>
              <a:rPr lang="en-GB" dirty="0"/>
              <a:t>Rating guide (scores of 2 and 4 fall between these descriptions):</a:t>
            </a:r>
          </a:p>
          <a:p>
            <a:r>
              <a:rPr lang="en-GB" dirty="0"/>
              <a:t>- Mind · 3S. 1: people give the same Shift, Stake and Step. 3: people give the Shift and differ on the Stake or the Step. 5: people give different versions of the change.</a:t>
            </a:r>
          </a:p>
          <a:p>
            <a:r>
              <a:rPr lang="en-GB" dirty="0"/>
              <a:t>- Heart · SCARF. 1: people bring ideas and problems to the change. 3: people comply and stay quiet. 5: a SCARF trigger is live and resistance is open or hidden.</a:t>
            </a:r>
          </a:p>
          <a:p>
            <a:r>
              <a:rPr lang="en-GB" dirty="0"/>
              <a:t>- Hands · STAT. 1: skill, time, authority and tools are all in place. 3: one STAT element is missing. 5: two or more STAT elements are missing.</a:t>
            </a:r>
          </a:p>
          <a:p>
            <a:r>
              <a:rPr lang="en-GB" dirty="0"/>
              <a:t>- Habit · ACE-IT. 1: the practice holds when the leader is absent. 3: the practice holds when it is checked. 5: the new practice has not started, or the old one has returned.</a:t>
            </a:r>
          </a:p>
          <a:p>
            <a:endParaRPr lang="en-GB" dirty="0"/>
          </a:p>
          <a:p>
            <a:r>
              <a:rPr lang="en-GB" b="1" dirty="0"/>
              <a:t>3. Walk the worked scan.</a:t>
            </a:r>
          </a:p>
          <a:p>
            <a:endParaRPr lang="en-GB" dirty="0"/>
          </a:p>
          <a:p>
            <a:r>
              <a:rPr lang="en-GB" b="1" dirty="0"/>
              <a:t>EXAMPLE</a:t>
            </a:r>
          </a:p>
          <a:p>
            <a:r>
              <a:rPr lang="en-GB" dirty="0"/>
              <a:t>Worked scan · resolve complaints at first contact</a:t>
            </a:r>
          </a:p>
          <a:p>
            <a:r>
              <a:rPr lang="en-GB" dirty="0"/>
              <a:t>Contact-centre agents: Mind 2 · Heart 3 · Hands 5 · Habit 4. Start here: Hands.</a:t>
            </a:r>
          </a:p>
          <a:p>
            <a:r>
              <a:rPr lang="en-GB" dirty="0"/>
              <a:t>Agents understand the change and broadly accept it. They have no decision limit and no access to the refunds system. Further communication adds nothing for this group until authority and tools are in place.</a:t>
            </a:r>
          </a:p>
          <a:p>
            <a:endParaRPr lang="en-GB" dirty="0"/>
          </a:p>
          <a:p>
            <a:r>
              <a:rPr lang="en-GB" dirty="0"/>
              <a:t>Team leaders: Mind 1 · Heart 4 · Hands 2 · Habit 4. Start here: Heart.</a:t>
            </a:r>
          </a:p>
          <a:p>
            <a:r>
              <a:rPr lang="en-GB" dirty="0"/>
              <a:t>Team leaders understand the change best of all. It moves decisions from them to their agents, which fires Status and Autonomy. Until that is addressed, they are unlikely to coach agents to use the new authority, and the agents’ Hands gap will stay open.</a:t>
            </a:r>
          </a:p>
          <a:p>
            <a:endParaRPr lang="en-GB" dirty="0"/>
          </a:p>
          <a:p>
            <a:r>
              <a:rPr lang="en-GB" dirty="0"/>
              <a:t>Back-office specialists: Mind 4 · Heart 4 · Hands 1 · Habit 3. Start here: Mind.</a:t>
            </a:r>
          </a:p>
          <a:p>
            <a:r>
              <a:rPr lang="en-GB" dirty="0"/>
              <a:t>Specialists have the ability and have not been told what the change means for their own work. A strong Hands score has no effect while Mind fails.</a:t>
            </a:r>
          </a:p>
          <a:p>
            <a:endParaRPr lang="en-GB" dirty="0"/>
          </a:p>
          <a:p>
            <a:r>
              <a:rPr lang="en-GB" dirty="0"/>
              <a:t>Draw attention to the team leaders. They score best on Mind and are the group most likely to block the change. Understanding a change and wanting it are separate checks.</a:t>
            </a:r>
          </a:p>
          <a:p>
            <a:r>
              <a:rPr lang="en-GB" dirty="0"/>
              <a:t>Say: "One change, three groups, three starting points. A single plan written for every group serves one of them."</a:t>
            </a:r>
          </a:p>
          <a:p>
            <a:endParaRPr lang="en-GB" dirty="0"/>
          </a:p>
          <a:p>
            <a:r>
              <a:rPr lang="en-GB" dirty="0"/>
              <a:t>Deepen, say: "The same input lands differently depending on the ground it falls on.</a:t>
            </a:r>
          </a:p>
          <a:p>
            <a:r>
              <a:rPr lang="en-GB" dirty="0"/>
              <a:t>When a change initiative fails to take, the reflex is to blame the message.</a:t>
            </a:r>
          </a:p>
          <a:p>
            <a:r>
              <a:rPr lang="en-GB" dirty="0"/>
              <a:t>First diagnose the conditions stopping good input from rooting."</a:t>
            </a:r>
          </a:p>
          <a:p>
            <a:r>
              <a:rPr lang="en-GB" dirty="0"/>
              <a:t>(Insight: Diagnose the soil. Source: Journal, 21 May 2026 — Professional Insights: Culture)</a:t>
            </a:r>
          </a:p>
          <a:p>
            <a:endParaRPr lang="en-GB" dirty="0"/>
          </a:p>
          <a:p>
            <a:r>
              <a:rPr lang="en-GB" b="1" dirty="0"/>
              <a:t>4. Name the three misreadings to avoid.</a:t>
            </a:r>
          </a:p>
          <a:p>
            <a:r>
              <a:rPr lang="en-GB" dirty="0"/>
              <a:t>- Reading quiet as ready. A group that complies and stays silent scores 3 on Heart. Silence is the absence of information.</a:t>
            </a:r>
          </a:p>
          <a:p>
            <a:r>
              <a:rPr lang="en-GB" dirty="0"/>
              <a:t>- Reading a Hands gap as resistance. Late or partial practice looks the same whether people are unwilling or unable. Run STAT before concluding.</a:t>
            </a:r>
          </a:p>
          <a:p>
            <a:r>
              <a:rPr lang="en-GB" dirty="0"/>
              <a:t>- Averaging the scores. A group strong on three checks and failing one is stalled at that one. The first failing check decides, and an average hides it.</a:t>
            </a:r>
          </a:p>
          <a:p>
            <a:endParaRPr lang="en-GB" dirty="0"/>
          </a:p>
          <a:p>
            <a:r>
              <a:rPr lang="en-GB" b="1" dirty="0"/>
              <a:t>5. Read readiness and COMPASS together.</a:t>
            </a:r>
          </a:p>
          <a:p>
            <a:r>
              <a:rPr lang="en-GB" dirty="0"/>
              <a:t>Say: "Now place each group in its COMPASS zone from 3.1.</a:t>
            </a:r>
          </a:p>
          <a:p>
            <a:r>
              <a:rPr lang="en-GB" dirty="0"/>
              <a:t>Low readiness inside a High Flammable Zone marks where a change is most likely to cross the escalation threshold and become a Burning Platform.</a:t>
            </a:r>
          </a:p>
          <a:p>
            <a:r>
              <a:rPr lang="en-GB" dirty="0"/>
              <a:t>Those groups come first."</a:t>
            </a:r>
          </a:p>
          <a:p>
            <a:endParaRPr lang="en-GB" dirty="0"/>
          </a:p>
          <a:p>
            <a:r>
              <a:rPr lang="en-GB" b="1" dirty="0"/>
              <a:t>6. Run the scan on a live change.</a:t>
            </a:r>
          </a:p>
          <a:p>
            <a:r>
              <a:rPr lang="en-GB" dirty="0"/>
              <a:t>Participants rate their own change on their own, using the rating guide. Then pair participants who share an affected group to compare their ratings.</a:t>
            </a:r>
          </a:p>
          <a:p>
            <a:r>
              <a:rPr lang="en-GB" dirty="0"/>
              <a:t>Where two leaders rate the same group differently, leave it unresolved and name it.</a:t>
            </a:r>
          </a:p>
          <a:p>
            <a:r>
              <a:rPr lang="en-GB" dirty="0"/>
              <a:t>Say: "You are leading the same people through the same change with two different readings."</a:t>
            </a:r>
          </a:p>
          <a:p>
            <a:r>
              <a:rPr lang="en-GB" dirty="0"/>
              <a:t>Watch for: one plan for every group. Ask which group the plan was written for.</a:t>
            </a:r>
          </a:p>
          <a:p>
            <a:endParaRPr lang="en-GB" dirty="0"/>
          </a:p>
          <a:p>
            <a:r>
              <a:rPr lang="en-GB" b="1" dirty="0"/>
              <a:t>ON THE PORTAL, AFTER THE TEACHING:</a:t>
            </a:r>
          </a:p>
          <a:p>
            <a:r>
              <a:rPr lang="en-GB" dirty="0"/>
              <a:t>Participants write the reflection of 3.3 in the participant file:</a:t>
            </a:r>
          </a:p>
          <a:p>
            <a:r>
              <a:rPr lang="en-GB" dirty="0"/>
              <a:t>"For the change you are carrying through this unit, list the groups it affects and rate each on the 4 Checks. Which group is least ready? Which check fails first, and what is your evidence?"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 INTEGRATION — COLLECTIVE</a:t>
            </a:r>
          </a:p>
          <a:p>
            <a:endParaRPr lang="en-GB" dirty="0"/>
          </a:p>
          <a:p>
            <a:r>
              <a:rPr lang="en-GB" b="1" dirty="0"/>
              <a:t>HOW THIS SECTION RUNS:</a:t>
            </a:r>
          </a:p>
          <a:p>
            <a:r>
              <a:rPr lang="en-GB" dirty="0"/>
              <a:t>1. 4.1: the Converging Zone and the two states it separates.</a:t>
            </a:r>
          </a:p>
          <a:p>
            <a:r>
              <a:rPr lang="en-GB" dirty="0"/>
              <a:t>2. 4.2: the alignment responsibility of each leadership role.</a:t>
            </a:r>
          </a:p>
          <a:p>
            <a:r>
              <a:rPr lang="en-GB" dirty="0"/>
              <a:t>3. 4.3: the four commitments of leading change with one voice.</a:t>
            </a:r>
          </a:p>
          <a:p>
            <a:r>
              <a:rPr lang="en-GB" dirty="0"/>
              <a:t>4. The Section 4 Reflections slide: the three reflections participants write on the portal after the teaching.</a:t>
            </a:r>
          </a:p>
          <a:p>
            <a:endParaRPr lang="en-GB" dirty="0"/>
          </a:p>
          <a:p>
            <a:r>
              <a:rPr lang="en-GB" b="1" dirty="0"/>
              <a:t>SECTION LEARNING OUTCOMES:</a:t>
            </a:r>
          </a:p>
          <a:p>
            <a:r>
              <a:rPr lang="en-GB" dirty="0"/>
              <a:t>1. Explain how individual alignment responsibilities combine into a coherent enterprise interpretation.</a:t>
            </a:r>
          </a:p>
          <a:p>
            <a:r>
              <a:rPr lang="en-GB" dirty="0"/>
              <a:t>2. Recognise where gaps in role alignment and competing change demands create enterprise vulnerability.</a:t>
            </a:r>
          </a:p>
          <a:p>
            <a:endParaRPr lang="en-GB" dirty="0"/>
          </a:p>
          <a:p>
            <a:r>
              <a:rPr lang="en-GB" b="1" dirty="0"/>
              <a:t>HOW TO OPEN THE SECTION:</a:t>
            </a:r>
          </a:p>
          <a:p>
            <a:endParaRPr lang="en-GB" dirty="0"/>
          </a:p>
          <a:p>
            <a:r>
              <a:rPr lang="en-GB" b="1" dirty="0"/>
              <a:t>1. Say what the section does.</a:t>
            </a:r>
          </a:p>
          <a:p>
            <a:r>
              <a:rPr lang="en-GB" dirty="0"/>
              <a:t>Say: "This section lifts the focus from individual alignment to systemic leadership alignment.</a:t>
            </a:r>
          </a:p>
          <a:p>
            <a:r>
              <a:rPr lang="en-GB" dirty="0"/>
              <a:t>The Converging Zone is where individual functional expertise becomes coordinated leadership judgement."</a:t>
            </a:r>
          </a:p>
          <a:p>
            <a:endParaRPr lang="en-GB" dirty="0"/>
          </a:p>
          <a:p>
            <a:r>
              <a:rPr lang="en-GB" b="1" dirty="0"/>
              <a:t>2. Say what is at stake.</a:t>
            </a:r>
          </a:p>
          <a:p>
            <a:r>
              <a:rPr lang="en-GB" dirty="0"/>
              <a:t>Say: "The executive team enters the Converging Zone, where individual functional perspectives integrate into a shared leadership interpretation.</a:t>
            </a:r>
          </a:p>
          <a:p>
            <a:r>
              <a:rPr lang="en-GB" dirty="0"/>
              <a:t>At this point, the leadership team begins operating as a single leadership system, stabilising all seven COMPASS domains."</a:t>
            </a:r>
          </a:p>
          <a:p>
            <a:r>
              <a:rPr lang="en-GB" dirty="0"/>
              <a:t>Without this, the organisation receives multiple interpretations of strategy, causing instability across all seven COMPASS domains.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THE CONVERGING ZONE: WHAT COLLECTIVE INTELLIGENCE CREATES (FOUNDATION)</a:t>
            </a:r>
          </a:p>
          <a:p>
            <a:endParaRPr lang="en-GB" dirty="0"/>
          </a:p>
          <a:p>
            <a:r>
              <a:rPr lang="en-GB" b="1" dirty="0"/>
              <a:t>HOW TO TEACH IT:</a:t>
            </a:r>
          </a:p>
          <a:p>
            <a:endParaRPr lang="en-GB" dirty="0"/>
          </a:p>
          <a:p>
            <a:r>
              <a:rPr lang="en-GB" b="1" dirty="0"/>
              <a:t>1. Teach the first state: with Collective Intelligence.</a:t>
            </a:r>
          </a:p>
          <a:p>
            <a:r>
              <a:rPr lang="en-GB" dirty="0"/>
              <a:t>- Direction remains clear across all layers.</a:t>
            </a:r>
          </a:p>
          <a:p>
            <a:r>
              <a:rPr lang="en-GB" dirty="0"/>
              <a:t>- Resources reinforce priorities.</a:t>
            </a:r>
          </a:p>
          <a:p>
            <a:r>
              <a:rPr lang="en-GB" dirty="0"/>
              <a:t>- Systems enable execution.</a:t>
            </a:r>
          </a:p>
          <a:p>
            <a:r>
              <a:rPr lang="en-GB" dirty="0"/>
              <a:t>- People move with coordinated effort.</a:t>
            </a:r>
          </a:p>
          <a:p>
            <a:r>
              <a:rPr lang="en-GB" dirty="0"/>
              <a:t>Say: "One coherent signal across the organisation. COMPASS domains become leverage points for performance."</a:t>
            </a:r>
          </a:p>
          <a:p>
            <a:endParaRPr lang="en-GB" dirty="0"/>
          </a:p>
          <a:p>
            <a:r>
              <a:rPr lang="en-GB" b="1" dirty="0"/>
              <a:t>2. Teach the second state: without Collective Intelligence.</a:t>
            </a:r>
          </a:p>
          <a:p>
            <a:r>
              <a:rPr lang="en-GB" dirty="0"/>
              <a:t>- Different leaders transmit different interpretations.</a:t>
            </a:r>
          </a:p>
          <a:p>
            <a:r>
              <a:rPr lang="en-GB" dirty="0"/>
              <a:t>- COMPASS domains begin to drift.</a:t>
            </a:r>
          </a:p>
          <a:p>
            <a:r>
              <a:rPr lang="en-GB" dirty="0"/>
              <a:t>- Functions receive competing signals.</a:t>
            </a:r>
          </a:p>
          <a:p>
            <a:r>
              <a:rPr lang="en-GB" dirty="0"/>
              <a:t>- Strategic instability spreads invisibly.</a:t>
            </a:r>
          </a:p>
          <a:p>
            <a:r>
              <a:rPr lang="en-GB" dirty="0"/>
              <a:t>Say: "Multiple conflicting signals. Leverage zones become sources of execution friction."</a:t>
            </a:r>
          </a:p>
          <a:p>
            <a:endParaRPr lang="en-GB" dirty="0"/>
          </a:p>
          <a:p>
            <a:r>
              <a:rPr lang="en-GB" b="1" dirty="0"/>
              <a:t>3. Run the two states exercise.</a:t>
            </a:r>
          </a:p>
          <a:p>
            <a:r>
              <a:rPr lang="en-GB" dirty="0"/>
              <a:t>Ask: "Which state is your organisation currently closer to?"</a:t>
            </a:r>
          </a:p>
          <a:p>
            <a:r>
              <a:rPr lang="en-GB" dirty="0"/>
              <a:t>Then ask: "What is the single most important convergence you need to achieve before your next major strategy initiative?"</a:t>
            </a:r>
          </a:p>
          <a:p>
            <a:endParaRPr lang="en-GB" dirty="0"/>
          </a:p>
          <a:p>
            <a:r>
              <a:rPr lang="en-GB" b="1" dirty="0"/>
              <a:t>ON THE PORTAL, AFTER THE TEACHING:</a:t>
            </a:r>
          </a:p>
          <a:p>
            <a:r>
              <a:rPr lang="en-GB" dirty="0"/>
              <a:t>Participants write the reflection of 4.1 in the participant file:</a:t>
            </a:r>
          </a:p>
          <a:p>
            <a:r>
              <a:rPr lang="en-GB" dirty="0"/>
              <a:t>"Which state is your organisation currently closer to? What is the single most important convergence you need to achieve before your next major strategy initiative?"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4.2 — COLLECTIVE INTELLIGENCE ACROSS THE LEADERSHIP TEAM (CLICK A ROLE)</a:t>
            </a:r>
          </a:p>
          <a:p>
            <a:endParaRPr lang="en-GB" dirty="0"/>
          </a:p>
          <a:p>
            <a:r>
              <a:rPr lang="en-GB" b="1" dirty="0"/>
              <a:t>HOW TO TEACH IT:</a:t>
            </a:r>
          </a:p>
          <a:p>
            <a:endParaRPr lang="en-GB" dirty="0"/>
          </a:p>
          <a:p>
            <a:r>
              <a:rPr lang="en-GB" b="1" dirty="0"/>
              <a:t>1. Frame the grid on the slide.</a:t>
            </a:r>
          </a:p>
          <a:p>
            <a:r>
              <a:rPr lang="en-GB" dirty="0"/>
              <a:t>Say: "Each CXO function contributes to Collective Intelligence, and each most directly activates two COMPASS domains."</a:t>
            </a:r>
          </a:p>
          <a:p>
            <a:endParaRPr lang="en-GB" dirty="0"/>
          </a:p>
          <a:p>
            <a:r>
              <a:rPr lang="en-GB" b="1" dirty="0"/>
              <a:t>2. Ask each participant to find their own role first.</a:t>
            </a:r>
          </a:p>
          <a:p>
            <a:r>
              <a:rPr lang="en-GB" dirty="0"/>
              <a:t>Ask: "Do you recognise this description? Is this how your team experiences your alignment contribution?"</a:t>
            </a:r>
          </a:p>
          <a:p>
            <a:r>
              <a:rPr lang="en-GB" dirty="0"/>
              <a:t>Then ask them to read the roles closest to their own. This is particularly powerful when the full CXO team attends.</a:t>
            </a:r>
          </a:p>
          <a:p>
            <a:endParaRPr lang="en-GB" dirty="0"/>
          </a:p>
          <a:p>
            <a:r>
              <a:rPr lang="en-GB" b="1" dirty="0"/>
              <a:t>3. Walk the ten roles.</a:t>
            </a:r>
          </a:p>
          <a:p>
            <a:r>
              <a:rPr lang="en-GB" dirty="0"/>
              <a:t>CEO · Clarity of Direction, Organisational Alignment.</a:t>
            </a:r>
          </a:p>
          <a:p>
            <a:r>
              <a:rPr lang="en-GB" dirty="0"/>
              <a:t>Integrates all seven COMPASS domains into one coherent strategic narrative. The CEO’s primary alignment responsibility is preventing the “Chinese Whispers” effect by keeping the strategic story intact as it moves through the organisation.</a:t>
            </a:r>
          </a:p>
          <a:p>
            <a:r>
              <a:rPr lang="en-GB" dirty="0"/>
              <a:t>When the CEO’s alignment is absent or inconsistent, all other roles struggle to converge.</a:t>
            </a:r>
          </a:p>
          <a:p>
            <a:endParaRPr lang="en-GB" dirty="0"/>
          </a:p>
          <a:p>
            <a:r>
              <a:rPr lang="en-GB" dirty="0"/>
              <a:t>CFO · Allocation of Resources, Management Discipline.</a:t>
            </a:r>
          </a:p>
          <a:p>
            <a:r>
              <a:rPr lang="en-GB" dirty="0"/>
              <a:t>Ensures capital allocation and financial discipline reinforce strategic intent and concentrate resources on the agreed priorities.</a:t>
            </a:r>
          </a:p>
          <a:p>
            <a:r>
              <a:rPr lang="en-GB" dirty="0"/>
              <a:t>When the CFO’s alignment is absent, resources follow inertia, and the credibility of strategic priorities collapses.</a:t>
            </a:r>
          </a:p>
          <a:p>
            <a:endParaRPr lang="en-GB" dirty="0"/>
          </a:p>
          <a:p>
            <a:r>
              <a:rPr lang="en-GB" dirty="0"/>
              <a:t>COO · Systems &amp; Execution, Management Discipline.</a:t>
            </a:r>
          </a:p>
          <a:p>
            <a:r>
              <a:rPr lang="en-GB" dirty="0"/>
              <a:t>Converts strategy into operational flow, ensuring execution routines, coordination, and hand-offs move the organisation forward.</a:t>
            </a:r>
          </a:p>
          <a:p>
            <a:r>
              <a:rPr lang="en-GB" dirty="0"/>
              <a:t>When COO alignment is absent, execution machinery runs efficiently but in the wrong direction.</a:t>
            </a:r>
          </a:p>
          <a:p>
            <a:endParaRPr lang="en-GB" dirty="0"/>
          </a:p>
          <a:p>
            <a:r>
              <a:rPr lang="en-GB" dirty="0"/>
              <a:t>CHRO · People &amp; Capability, Organisational Alignment.</a:t>
            </a:r>
          </a:p>
          <a:p>
            <a:r>
              <a:rPr lang="en-GB" dirty="0"/>
              <a:t>Aligns leadership behaviour, capability development, and organisational trust with the strategic direction.</a:t>
            </a:r>
          </a:p>
          <a:p>
            <a:r>
              <a:rPr lang="en-GB" dirty="0"/>
              <a:t>When CHRO alignment is absent, strategy consistently exceeds the human system’s capacity to carry it.</a:t>
            </a:r>
          </a:p>
          <a:p>
            <a:endParaRPr lang="en-GB" dirty="0"/>
          </a:p>
          <a:p>
            <a:r>
              <a:rPr lang="en-GB" dirty="0"/>
              <a:t>CTO/CIO · Systems &amp; Execution, Sensing &amp; Adaptation.</a:t>
            </a:r>
          </a:p>
          <a:p>
            <a:r>
              <a:rPr lang="en-GB" dirty="0"/>
              <a:t>Aligns technology architecture and data capability with the organisation’s strategic priorities and future operating model.</a:t>
            </a:r>
          </a:p>
          <a:p>
            <a:r>
              <a:rPr lang="en-GB" dirty="0"/>
              <a:t>When CTO/CIO alignment is absent, technology investments produce demonstrations with no capability shift.</a:t>
            </a:r>
          </a:p>
          <a:p>
            <a:endParaRPr lang="en-GB" dirty="0"/>
          </a:p>
          <a:p>
            <a:r>
              <a:rPr lang="en-GB" dirty="0"/>
              <a:t>CMO · Clarity of Direction, Sensing &amp; Adaptation.</a:t>
            </a:r>
          </a:p>
          <a:p>
            <a:r>
              <a:rPr lang="en-GB" dirty="0"/>
              <a:t>Aligns market positioning and brand promise with the organisation’s operational ability to deliver.</a:t>
            </a:r>
          </a:p>
          <a:p>
            <a:r>
              <a:rPr lang="en-GB" dirty="0"/>
              <a:t>When CMO alignment is absent, market signals are disconnected from strategic direction, and brand promises outpace operational reality.</a:t>
            </a:r>
          </a:p>
          <a:p>
            <a:endParaRPr lang="en-GB" dirty="0"/>
          </a:p>
          <a:p>
            <a:r>
              <a:rPr lang="en-GB" dirty="0"/>
              <a:t>CCO · Allocation of Resources, Organisational Alignment.</a:t>
            </a:r>
          </a:p>
          <a:p>
            <a:r>
              <a:rPr lang="en-GB" dirty="0"/>
              <a:t>Aligns revenue generation and customer growth strategies with enterprise positioning and operational capacity.</a:t>
            </a:r>
          </a:p>
          <a:p>
            <a:r>
              <a:rPr lang="en-GB" dirty="0"/>
              <a:t>When CCO alignment is absent, growth strategies create internal incoherence that compounds over time.</a:t>
            </a:r>
          </a:p>
          <a:p>
            <a:endParaRPr lang="en-GB" dirty="0"/>
          </a:p>
          <a:p>
            <a:r>
              <a:rPr lang="en-GB" dirty="0"/>
              <a:t>CPO · Systems &amp; Execution, Allocation of Resources.</a:t>
            </a:r>
          </a:p>
          <a:p>
            <a:r>
              <a:rPr lang="en-GB" dirty="0"/>
              <a:t>Ensures procurement decisions strengthen operational capability and reinforce strategic priorities.</a:t>
            </a:r>
          </a:p>
          <a:p>
            <a:r>
              <a:rPr lang="en-GB" dirty="0"/>
              <a:t>When CPO alignment is absent, procurement optimises for cost at the expense of strategic capability.</a:t>
            </a:r>
          </a:p>
          <a:p>
            <a:endParaRPr lang="en-GB" dirty="0"/>
          </a:p>
          <a:p>
            <a:r>
              <a:rPr lang="en-GB" dirty="0"/>
              <a:t>CRO · Management Discipline, Systems &amp; Execution.</a:t>
            </a:r>
          </a:p>
          <a:p>
            <a:r>
              <a:rPr lang="en-GB" dirty="0"/>
              <a:t>Aligns enterprise risk interpretation so that strategic initiatives operate within a shared risk appetite framework.</a:t>
            </a:r>
          </a:p>
          <a:p>
            <a:r>
              <a:rPr lang="en-GB" dirty="0"/>
              <a:t>When CRO alignment is absent, risk appetite becomes function-by-function interpretation, creating asymmetric exposure.</a:t>
            </a:r>
          </a:p>
          <a:p>
            <a:endParaRPr lang="en-GB" dirty="0"/>
          </a:p>
          <a:p>
            <a:r>
              <a:rPr lang="en-GB" dirty="0"/>
              <a:t>CSO · Clarity of Direction, Sensing &amp; Adaptation.</a:t>
            </a:r>
          </a:p>
          <a:p>
            <a:r>
              <a:rPr lang="en-GB" dirty="0"/>
              <a:t>Maintains the integrity of the strategic narrative as it moves from formulation into execution across the organisation.</a:t>
            </a:r>
          </a:p>
          <a:p>
            <a:r>
              <a:rPr lang="en-GB" dirty="0"/>
              <a:t>When CSO alignment is absent, the strategic narrative fragments and different layers execute different versions of the strategy.</a:t>
            </a:r>
          </a:p>
          <a:p>
            <a:endParaRPr lang="en-GB" dirty="0"/>
          </a:p>
          <a:p>
            <a:r>
              <a:rPr lang="en-GB" dirty="0"/>
              <a:t>Deepen, say: "Healthy cultures value distinct contribution and collaboration together.</a:t>
            </a:r>
          </a:p>
          <a:p>
            <a:r>
              <a:rPr lang="en-GB" dirty="0"/>
              <a:t>They discourage empire-building and needless overlap, and help people strengthen the whole through clear roles and mutual support."</a:t>
            </a:r>
          </a:p>
          <a:p>
            <a:r>
              <a:rPr lang="en-GB" dirty="0"/>
              <a:t>(Insight: Distinct contribution, shared whole. Source: Journal, 28 August 2026 — Professional Insights: Culture)</a:t>
            </a:r>
          </a:p>
          <a:p>
            <a:endParaRPr lang="en-GB" dirty="0"/>
          </a:p>
          <a:p>
            <a:r>
              <a:rPr lang="en-GB" b="1" dirty="0"/>
              <a:t>4. Ask the question that becomes a commitment.</a:t>
            </a:r>
          </a:p>
          <a:p>
            <a:r>
              <a:rPr lang="en-GB" dirty="0"/>
              <a:t>After each leader has reviewed their own role, invite them to look at the role most adjacent to theirs.</a:t>
            </a:r>
          </a:p>
          <a:p>
            <a:r>
              <a:rPr lang="en-GB" dirty="0"/>
              <a:t>Ask: "What is the most important alignment conversation you need to have with that role in the next 30 days?"</a:t>
            </a:r>
          </a:p>
          <a:p>
            <a:r>
              <a:rPr lang="en-GB" dirty="0"/>
              <a:t>The answer frequently becomes a direct post-session commitment.</a:t>
            </a:r>
          </a:p>
          <a:p>
            <a:endParaRPr lang="en-GB" dirty="0"/>
          </a:p>
          <a:p>
            <a:r>
              <a:rPr lang="en-GB" b="1" dirty="0"/>
              <a:t>ON THE PORTAL, AFTER THE TEACHING:</a:t>
            </a:r>
          </a:p>
          <a:p>
            <a:r>
              <a:rPr lang="en-GB" dirty="0"/>
              <a:t>Participants write the reflection of 4.2 in the participant file:</a:t>
            </a:r>
          </a:p>
          <a:p>
            <a:r>
              <a:rPr lang="en-GB" dirty="0"/>
              <a:t>"What is the most important alignment conversation you need to have with a closely adjacent role in the next 30 days? What would that conversation need to address?"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4.3 — LEADING CHANGE WITH ONE VOICE (FOUR COMMITMENTS)</a:t>
            </a:r>
          </a:p>
          <a:p>
            <a:endParaRPr lang="en-GB" dirty="0"/>
          </a:p>
          <a:p>
            <a:r>
              <a:rPr lang="en-GB" b="1" dirty="0"/>
              <a:t>HOW TO TEACH IT:</a:t>
            </a:r>
          </a:p>
          <a:p>
            <a:endParaRPr lang="en-GB" dirty="0"/>
          </a:p>
          <a:p>
            <a:r>
              <a:rPr lang="en-GB" b="1" dirty="0"/>
              <a:t>1. Frame the part.</a:t>
            </a:r>
          </a:p>
          <a:p>
            <a:r>
              <a:rPr lang="en-GB" dirty="0"/>
              <a:t>Say: "The 4 Checks describe what one group of people needs from one leader.</a:t>
            </a:r>
          </a:p>
          <a:p>
            <a:r>
              <a:rPr lang="en-GB" dirty="0"/>
              <a:t>Most changes reach a group through several leaders at once.</a:t>
            </a:r>
          </a:p>
          <a:p>
            <a:r>
              <a:rPr lang="en-GB" dirty="0"/>
              <a:t>People hear from their own leader, watch the others, and compare.</a:t>
            </a:r>
          </a:p>
          <a:p>
            <a:r>
              <a:rPr lang="en-GB" dirty="0"/>
              <a:t>Where the leaders differ, the group takes the difference as the real message."</a:t>
            </a:r>
          </a:p>
          <a:p>
            <a:r>
              <a:rPr lang="en-GB" dirty="0"/>
              <a:t>Say: "In the Converging Zone, the leadership team makes four commitments that no single function can make alone. Each one protects a check."</a:t>
            </a:r>
          </a:p>
          <a:p>
            <a:endParaRPr lang="en-GB" dirty="0"/>
          </a:p>
          <a:p>
            <a:r>
              <a:rPr lang="en-GB" b="1" dirty="0"/>
              <a:t>2. Teach the four commitments on the slide.</a:t>
            </a:r>
          </a:p>
          <a:p>
            <a:r>
              <a:rPr lang="en-GB" dirty="0"/>
              <a:t>One message · Protects Mind</a:t>
            </a:r>
          </a:p>
          <a:p>
            <a:r>
              <a:rPr lang="en-GB" dirty="0"/>
              <a:t>Every leader gives the same Shift, Stake and Step for each change. The test is the 3S Check applied to the leadership team itself. Each leader writes the three for the same change, and the versions are compared before anyone speaks to their people.</a:t>
            </a:r>
          </a:p>
          <a:p>
            <a:r>
              <a:rPr lang="en-GB" dirty="0"/>
              <a:t>When absent: each function hears a different change, and the 3S Check fails across the organisation.</a:t>
            </a:r>
          </a:p>
          <a:p>
            <a:endParaRPr lang="en-GB" dirty="0"/>
          </a:p>
          <a:p>
            <a:r>
              <a:rPr lang="en-GB" dirty="0"/>
              <a:t>One example · Protects Heart</a:t>
            </a:r>
          </a:p>
          <a:p>
            <a:r>
              <a:rPr lang="en-GB" dirty="0"/>
              <a:t>Leaders show the ACE-IT behaviours the change needs before they ask for them. People read a leader’s diary, questions and decisions as the real message.</a:t>
            </a:r>
          </a:p>
          <a:p>
            <a:r>
              <a:rPr lang="en-GB" dirty="0"/>
              <a:t>When absent: people copy what leaders do and discount what leaders say.</a:t>
            </a:r>
          </a:p>
          <a:p>
            <a:endParaRPr lang="en-GB" dirty="0"/>
          </a:p>
          <a:p>
            <a:r>
              <a:rPr lang="en-GB" dirty="0"/>
              <a:t>One sequence · Protects Hands</a:t>
            </a:r>
          </a:p>
          <a:p>
            <a:r>
              <a:rPr lang="en-GB" dirty="0"/>
              <a:t>Leaders pool their changes and count how many land on the same group in the same period. The team then agrees the order and the pace. Time is the first STAT element to give way under the total load.</a:t>
            </a:r>
          </a:p>
          <a:p>
            <a:r>
              <a:rPr lang="en-GB" dirty="0"/>
              <a:t>When absent: one group is asked to absorb several changes together, and its willingness falls.</a:t>
            </a:r>
          </a:p>
          <a:p>
            <a:r>
              <a:rPr lang="en-GB" dirty="0"/>
              <a:t>Data: employees’ willingness to support enterprise change fell from 74% in 2016 to 43% in 2022, while planned changes per employee rose from two to ten (Gartner, reported in Harvard Business Review, 2023).</a:t>
            </a:r>
          </a:p>
          <a:p>
            <a:endParaRPr lang="en-GB" dirty="0"/>
          </a:p>
          <a:p>
            <a:r>
              <a:rPr lang="en-GB" dirty="0"/>
              <a:t>One owner · Protects Habit</a:t>
            </a:r>
          </a:p>
          <a:p>
            <a:r>
              <a:rPr lang="en-GB" dirty="0"/>
              <a:t>Each transition has one named leader who answers for adoption, through to Habit. The owner runs the 4 Checks, reports which check the change has reached, and stays with it after the launch.</a:t>
            </a:r>
          </a:p>
          <a:p>
            <a:r>
              <a:rPr lang="en-GB" dirty="0"/>
              <a:t>When absent: the change is installed and nobody answers for whether it is adopted.</a:t>
            </a:r>
          </a:p>
          <a:p>
            <a:r>
              <a:rPr lang="en-GB" dirty="0"/>
              <a:t>Data: projects with extremely effective sponsors were 79% likely to meet their objectives, against 27% with extremely ineffective sponsors (Prosci, Best Practices in Change Management, 12th edition).</a:t>
            </a:r>
          </a:p>
          <a:p>
            <a:endParaRPr lang="en-GB" dirty="0"/>
          </a:p>
          <a:p>
            <a:r>
              <a:rPr lang="en-GB" b="1" dirty="0"/>
              <a:t>3. Run the change load count.</a:t>
            </a:r>
          </a:p>
          <a:p>
            <a:r>
              <a:rPr lang="en-GB" dirty="0"/>
              <a:t>Choose one named group and list in the chat every change the leadership team is asking of it this quarter. Let the count open the discussion on sequence.</a:t>
            </a:r>
          </a:p>
          <a:p>
            <a:r>
              <a:rPr lang="en-GB" dirty="0"/>
              <a:t>Ask: "If this group can absorb two of these well, which two come first, and who tells the owners of the rest?"</a:t>
            </a:r>
          </a:p>
          <a:p>
            <a:r>
              <a:rPr lang="en-GB" dirty="0"/>
              <a:t>Watch for: each leader defending their own change. Return the discussion to the group that has to absorb them.</a:t>
            </a:r>
          </a:p>
          <a:p>
            <a:endParaRPr lang="en-GB" dirty="0"/>
          </a:p>
          <a:p>
            <a:r>
              <a:rPr lang="en-GB" b="1" dirty="0"/>
              <a:t>4. Test one message.</a:t>
            </a:r>
          </a:p>
          <a:p>
            <a:r>
              <a:rPr lang="en-GB" dirty="0"/>
              <a:t>Repeat the 3S test from 1.4 with the whole team on one enterprise-wide change. Participants post their versions in the chat.</a:t>
            </a:r>
          </a:p>
          <a:p>
            <a:endParaRPr lang="en-GB" dirty="0"/>
          </a:p>
          <a:p>
            <a:r>
              <a:rPr lang="en-GB" b="1" dirty="0"/>
              <a:t>ON THE PORTAL, AFTER THE TEACHING:</a:t>
            </a:r>
          </a:p>
          <a:p>
            <a:r>
              <a:rPr lang="en-GB" dirty="0"/>
              <a:t>Participants write the reflection of 4.3 in the participant file:</a:t>
            </a:r>
          </a:p>
          <a:p>
            <a:r>
              <a:rPr lang="en-GB" dirty="0"/>
              <a:t>"Choose one group in your organisation. List every change the leadership team is asking of it this quarter. How many are there? Which of the four commitments is weakest in your team today?"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APPLICATION — IN PRACTICE</a:t>
            </a:r>
          </a:p>
          <a:p>
            <a:endParaRPr lang="en-GB" dirty="0"/>
          </a:p>
          <a:p>
            <a:r>
              <a:rPr lang="en-GB" b="1" dirty="0"/>
              <a:t>HOW THIS SECTION RUNS:</a:t>
            </a:r>
          </a:p>
          <a:p>
            <a:r>
              <a:rPr lang="en-GB" dirty="0"/>
              <a:t>1. Step 1 · Change Transition Map: each participant maps two changes. Portfolio work.</a:t>
            </a:r>
          </a:p>
          <a:p>
            <a:r>
              <a:rPr lang="en-GB" dirty="0"/>
              <a:t>2. Step 2 · Role Connections: each participant sets out their own role and the two roles they depend on most. Portfolio work.</a:t>
            </a:r>
          </a:p>
          <a:p>
            <a:r>
              <a:rPr lang="en-GB" dirty="0"/>
              <a:t>3. Step 3 · Exchange &amp; Dialogue: participants test the map and the table with a colleague. Portfolio work.</a:t>
            </a:r>
          </a:p>
          <a:p>
            <a:r>
              <a:rPr lang="en-GB" dirty="0"/>
              <a:t>4. Step 4 · Plenary Synthesis: the group agrees three entries. Capstone work. Each participant then writes one 30-day behavioural commitment.</a:t>
            </a:r>
          </a:p>
          <a:p>
            <a:endParaRPr lang="en-GB" dirty="0"/>
          </a:p>
          <a:p>
            <a:r>
              <a:rPr lang="en-GB" b="1" dirty="0"/>
              <a:t>SECTION LEARNING OUTCOMES:</a:t>
            </a:r>
          </a:p>
          <a:p>
            <a:r>
              <a:rPr lang="en-GB" dirty="0"/>
              <a:t>1. Formulate how one strategic change will be led and how leadership roles connect to support it.</a:t>
            </a:r>
          </a:p>
          <a:p>
            <a:r>
              <a:rPr lang="en-GB" dirty="0"/>
              <a:t>2. Demonstrate commitment through a behavioural change that strengthens collective alignment.</a:t>
            </a:r>
          </a:p>
          <a:p>
            <a:endParaRPr lang="en-GB" dirty="0"/>
          </a:p>
          <a:p>
            <a:r>
              <a:rPr lang="en-GB" b="1" dirty="0"/>
              <a:t>HOW TO OPEN THE SECTION:</a:t>
            </a:r>
          </a:p>
          <a:p>
            <a:endParaRPr lang="en-GB" dirty="0"/>
          </a:p>
          <a:p>
            <a:r>
              <a:rPr lang="en-GB" b="1" dirty="0"/>
              <a:t>1. Say what the exercise does.</a:t>
            </a:r>
          </a:p>
          <a:p>
            <a:r>
              <a:rPr lang="en-GB" dirty="0"/>
              <a:t>Say: "This exercise highlights how Collective Intelligence emerges when leaders understand each other’s alignment responsibilities.</a:t>
            </a:r>
          </a:p>
          <a:p>
            <a:r>
              <a:rPr lang="en-GB" dirty="0"/>
              <a:t>The goal is to move from individual interpretations to a shared understanding of how roles jointly stabilise all seven COMPASS domains.</a:t>
            </a:r>
          </a:p>
          <a:p>
            <a:r>
              <a:rPr lang="en-GB" dirty="0"/>
              <a:t>The exercise starts from two real changes your strategy requires."</a:t>
            </a:r>
          </a:p>
          <a:p>
            <a:endParaRPr lang="en-GB" dirty="0"/>
          </a:p>
          <a:p>
            <a:r>
              <a:rPr lang="en-GB" b="1" dirty="0"/>
              <a:t>2. Say the order.</a:t>
            </a:r>
          </a:p>
          <a:p>
            <a:r>
              <a:rPr lang="en-GB" dirty="0"/>
              <a:t>Say: "Steps 1 and 2 are individual. Step 3 is a paired exchange. Step 4 is the plenary synthesis."</a:t>
            </a:r>
          </a:p>
          <a:p>
            <a:r>
              <a:rPr lang="en-GB" dirty="0"/>
              <a:t>Do not rush Steps 1–3. The quality of the plenary depends entirely on the depth of individual reflection and peer dialogue that precedes it.</a:t>
            </a:r>
          </a:p>
          <a:p>
            <a:endParaRPr lang="en-GB" dirty="0"/>
          </a:p>
          <a:p>
            <a:r>
              <a:rPr lang="en-GB" b="1" dirty="0"/>
              <a:t>3. Say which work goes where.</a:t>
            </a:r>
          </a:p>
          <a:p>
            <a:r>
              <a:rPr lang="en-GB" dirty="0"/>
              <a:t>Say: "Steps 1 to 3 are portfolio work. Step 4 is Capstone work: your group’s confirmed outputs feed your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STEP 1 — CHANGE TRANSITION MAP (PORTFOLIO WORK)</a:t>
            </a:r>
          </a:p>
          <a:p>
            <a:endParaRPr lang="en-GB" dirty="0"/>
          </a:p>
          <a:p>
            <a:r>
              <a:rPr lang="en-GB" b="1" dirty="0"/>
              <a:t>HOW TO TEACH IT:</a:t>
            </a:r>
          </a:p>
          <a:p>
            <a:endParaRPr lang="en-GB" dirty="0"/>
          </a:p>
          <a:p>
            <a:r>
              <a:rPr lang="en-GB" b="1" dirty="0"/>
              <a:t>1. Say what the map is.</a:t>
            </a:r>
          </a:p>
          <a:p>
            <a:r>
              <a:rPr lang="en-GB" dirty="0"/>
              <a:t>Say: "The map turns the 4 Checks into a plan for one change: who it affects, where it will stall, what they need and who answers for it."</a:t>
            </a:r>
          </a:p>
          <a:p>
            <a:endParaRPr lang="en-GB" dirty="0"/>
          </a:p>
          <a:p>
            <a:r>
              <a:rPr lang="en-GB" b="1" dirty="0"/>
              <a:t>2. Say which changes are mapped.</a:t>
            </a:r>
          </a:p>
          <a:p>
            <a:r>
              <a:rPr lang="en-GB" dirty="0"/>
              <a:t>Say: "You choose two changes your strategy requires of people: one practice they must start and one they must stop.</a:t>
            </a:r>
          </a:p>
          <a:p>
            <a:r>
              <a:rPr lang="en-GB" dirty="0"/>
              <a:t>You take them from the Start and Stop lists your group confirmed in Unit 3.</a:t>
            </a:r>
          </a:p>
          <a:p>
            <a:r>
              <a:rPr lang="en-GB" dirty="0"/>
              <a:t>You complete the map once for each change."</a:t>
            </a:r>
          </a:p>
          <a:p>
            <a:r>
              <a:rPr lang="en-GB" dirty="0"/>
              <a:t>Leaders use the change they carried through the unit as their first map.</a:t>
            </a:r>
          </a:p>
          <a:p>
            <a:endParaRPr lang="en-GB" dirty="0"/>
          </a:p>
          <a:p>
            <a:r>
              <a:rPr lang="en-GB" b="1" dirty="0"/>
              <a:t>3. Walk the eight fields on the slide, using the worked example.</a:t>
            </a:r>
          </a:p>
          <a:p>
            <a:endParaRPr lang="en-GB" dirty="0"/>
          </a:p>
          <a:p>
            <a:r>
              <a:rPr lang="en-GB" b="1" dirty="0"/>
              <a:t>EXAMPLE</a:t>
            </a:r>
          </a:p>
          <a:p>
            <a:r>
              <a:rPr lang="en-GB" dirty="0"/>
              <a:t>The change: one practice people must start, or one they must stop. Name the practice, the group and the date.</a:t>
            </a:r>
          </a:p>
          <a:p>
            <a:r>
              <a:rPr lang="en-GB" dirty="0"/>
              <a:t>Worked example: Start: from March, resolve complaints at first contact.</a:t>
            </a:r>
          </a:p>
          <a:p>
            <a:endParaRPr lang="en-GB" dirty="0"/>
          </a:p>
          <a:p>
            <a:r>
              <a:rPr lang="en-GB" dirty="0"/>
              <a:t>Who is most affected: the group whose daily work changes most. Name a team, and avoid “staff” or “the business”.</a:t>
            </a:r>
          </a:p>
          <a:p>
            <a:r>
              <a:rPr lang="en-GB" dirty="0"/>
              <a:t>Worked example: Contact-centre agents and their team leaders.</a:t>
            </a:r>
          </a:p>
          <a:p>
            <a:endParaRPr lang="en-GB" dirty="0"/>
          </a:p>
          <a:p>
            <a:r>
              <a:rPr lang="en-GB" dirty="0"/>
              <a:t>Mind · 3S: the Shift, the Stake and the Step, as this group should be able to say them.</a:t>
            </a:r>
          </a:p>
          <a:p>
            <a:r>
              <a:rPr lang="en-GB" dirty="0"/>
              <a:t>Worked example: Shift: agents resolve complaints themselves, at first contact. Stake: we keep the customers who leave after a slow answer. If we stay as we are, complaints keep taking 48 hours. Step: I decide on the call, within my limit.</a:t>
            </a:r>
          </a:p>
          <a:p>
            <a:endParaRPr lang="en-GB" dirty="0"/>
          </a:p>
          <a:p>
            <a:r>
              <a:rPr lang="en-GB" dirty="0"/>
              <a:t>Heart · SCARF: what they give up, and the trigger it is most likely to fire.</a:t>
            </a:r>
          </a:p>
          <a:p>
            <a:r>
              <a:rPr lang="en-GB" dirty="0"/>
              <a:t>Worked example: They give up passing difficult cases to the back office. Certainty: “What happens if I decide wrongly?”</a:t>
            </a:r>
          </a:p>
          <a:p>
            <a:endParaRPr lang="en-GB" dirty="0"/>
          </a:p>
          <a:p>
            <a:r>
              <a:rPr lang="en-GB" dirty="0"/>
              <a:t>Hands · STAT: what is in place and what is missing: skill, time, authority, tools.</a:t>
            </a:r>
          </a:p>
          <a:p>
            <a:r>
              <a:rPr lang="en-GB" dirty="0"/>
              <a:t>Worked example: Skill: two practice sessions needed. Time: in place. Authority: no decision limit yet. Tools: no access to the refunds system.</a:t>
            </a:r>
          </a:p>
          <a:p>
            <a:endParaRPr lang="en-GB" dirty="0"/>
          </a:p>
          <a:p>
            <a:r>
              <a:rPr lang="en-GB" dirty="0"/>
              <a:t>Habit · ACE-IT: how the five behaviours will hold the new practice in place, and who notices.</a:t>
            </a:r>
          </a:p>
          <a:p>
            <a:r>
              <a:rPr lang="en-GB" dirty="0"/>
              <a:t>Worked example: Accountability: each agent owns the case to closure. Transparency: first-contact resolution is shown every week. Team leaders recognise it in the weekly review.</a:t>
            </a:r>
          </a:p>
          <a:p>
            <a:endParaRPr lang="en-GB" dirty="0"/>
          </a:p>
          <a:p>
            <a:r>
              <a:rPr lang="en-GB" dirty="0"/>
              <a:t>Weakest check: the first check that fails, and the support and involvement this group needs.</a:t>
            </a:r>
          </a:p>
          <a:p>
            <a:r>
              <a:rPr lang="en-GB" dirty="0"/>
              <a:t>Worked example: Hands. A decision limit, system access and two practice sessions. Team leaders help set the limits.</a:t>
            </a:r>
          </a:p>
          <a:p>
            <a:endParaRPr lang="en-GB" dirty="0"/>
          </a:p>
          <a:p>
            <a:r>
              <a:rPr lang="en-GB" dirty="0"/>
              <a:t>Leader who owns it: one named leader who answers for adoption.</a:t>
            </a:r>
          </a:p>
          <a:p>
            <a:r>
              <a:rPr lang="en-GB" dirty="0"/>
              <a:t>Worked example: Chief Operating Officer.</a:t>
            </a:r>
          </a:p>
          <a:p>
            <a:endParaRPr lang="en-GB" dirty="0"/>
          </a:p>
          <a:p>
            <a:r>
              <a:rPr lang="en-GB" b="1" dirty="0"/>
              <a:t>4. Give the standard for a complete map.</a:t>
            </a:r>
          </a:p>
          <a:p>
            <a:r>
              <a:rPr lang="en-GB" dirty="0"/>
              <a:t>- Names a specific group and a specific practice.</a:t>
            </a:r>
          </a:p>
          <a:p>
            <a:r>
              <a:rPr lang="en-GB" dirty="0"/>
              <a:t>- Gives the Shift, the Stake and the Step in the group’s own words.</a:t>
            </a:r>
          </a:p>
          <a:p>
            <a:r>
              <a:rPr lang="en-GB" dirty="0"/>
              <a:t>- Shows which STAT element is missing, with evidence.</a:t>
            </a:r>
          </a:p>
          <a:p>
            <a:r>
              <a:rPr lang="en-GB" dirty="0"/>
              <a:t>- Names one person as owner.</a:t>
            </a:r>
          </a:p>
          <a:p>
            <a:r>
              <a:rPr lang="en-GB" dirty="0"/>
              <a:t>Watch for: “staff” or “the business” as the affected group. Ask for the team whose Monday morning changes.</a:t>
            </a:r>
          </a:p>
          <a:p>
            <a:r>
              <a:rPr lang="en-GB" dirty="0"/>
              <a:t>Watch for: a committee or a function named as owner. Hold out for one person.</a:t>
            </a:r>
          </a:p>
          <a:p>
            <a:endParaRPr lang="en-GB" dirty="0"/>
          </a:p>
          <a:p>
            <a:r>
              <a:rPr lang="en-GB" b="1" dirty="0"/>
              <a:t>ON THE PORTAL, AFTER THE TEACHING:</a:t>
            </a:r>
          </a:p>
          <a:p>
            <a:r>
              <a:rPr lang="en-GB" dirty="0"/>
              <a:t>Each participant completes the Change Transition Map alone in Step 1 of the participant file. This is portfolio work.</a:t>
            </a:r>
          </a:p>
          <a:p>
            <a:r>
              <a:rPr lang="en-GB" dirty="0"/>
              <a:t>1. They choose two changes: one practice people must start and one they must stop, taken from the Start and Stop lists the group confirmed in Unit 3. Their page shows the two lists.</a:t>
            </a:r>
          </a:p>
          <a:p>
            <a:r>
              <a:rPr lang="en-GB" dirty="0"/>
              <a:t>2. They read the worked example.</a:t>
            </a:r>
          </a:p>
          <a:p>
            <a:r>
              <a:rPr lang="en-GB" dirty="0"/>
              <a:t>3. They complete the eight fields for each change.</a:t>
            </a:r>
          </a:p>
          <a:p>
            <a:endParaRPr lang="en-GB" dirty="0"/>
          </a:p>
          <a:p>
            <a:r>
              <a:rPr lang="en-GB" b="1" dirty="0"/>
              <a:t>AFTER THE SESSION:</a:t>
            </a:r>
          </a:p>
          <a:p>
            <a:r>
              <a:rPr lang="en-GB" dirty="0"/>
              <a:t>The maps reach you with each participant’s submission, under the heading Change Transition Map.</a:t>
            </a:r>
          </a:p>
          <a:p>
            <a:r>
              <a:rPr lang="en-GB" dirty="0"/>
              <a:t>Check that each map names a specific group, a specific practice and one person as owner.</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STEP 2 — ROLE CONNECTIONS (PORTFOLIO WORK)</a:t>
            </a:r>
          </a:p>
          <a:p>
            <a:endParaRPr lang="en-GB" dirty="0"/>
          </a:p>
          <a:p>
            <a:r>
              <a:rPr lang="en-GB" b="1" dirty="0"/>
              <a:t>HOW TO TEACH IT:</a:t>
            </a:r>
          </a:p>
          <a:p>
            <a:endParaRPr lang="en-GB" dirty="0"/>
          </a:p>
          <a:p>
            <a:r>
              <a:rPr lang="en-GB" b="1" dirty="0"/>
              <a:t>1. Brief the table.</a:t>
            </a:r>
          </a:p>
          <a:p>
            <a:r>
              <a:rPr lang="en-GB" dirty="0"/>
              <a:t>Say: "For the two changes you mapped, you complete the table for your own role and for the two roles you depend on most. Focus on the alignment mechanism."</a:t>
            </a:r>
          </a:p>
          <a:p>
            <a:r>
              <a:rPr lang="en-GB" dirty="0"/>
              <a:t>Each person works independently, with the two changes they mapped in Step 1 in view.</a:t>
            </a:r>
          </a:p>
          <a:p>
            <a:endParaRPr lang="en-GB" dirty="0"/>
          </a:p>
          <a:p>
            <a:r>
              <a:rPr lang="en-GB" b="1" dirty="0"/>
              <a:t>2. Walk the three rows on the slide.</a:t>
            </a:r>
          </a:p>
          <a:p>
            <a:r>
              <a:rPr lang="en-GB" dirty="0"/>
              <a:t>Row 1: Your Own Role. Leadership Role · Top Two COMPASS Domains Activated · How I Create Collective Intelligence.</a:t>
            </a:r>
          </a:p>
          <a:p>
            <a:r>
              <a:rPr lang="en-GB" dirty="0"/>
              <a:t>Row 2: First Closely Related Role. Leadership Role · Top Two COMPASS Domains Activated · Why This Role’s Alignment Is Critical to Mine.</a:t>
            </a:r>
          </a:p>
          <a:p>
            <a:r>
              <a:rPr lang="en-GB" dirty="0"/>
              <a:t>Row 3: Second Closely Related Role. Leadership Role · Top Two COMPASS Domains Activated · What Would Strengthen Our Alignment.</a:t>
            </a:r>
          </a:p>
          <a:p>
            <a:endParaRPr lang="en-GB" dirty="0"/>
          </a:p>
          <a:p>
            <a:r>
              <a:rPr lang="en-GB" b="1" dirty="0"/>
              <a:t>3. Set the standard.</a:t>
            </a:r>
          </a:p>
          <a:p>
            <a:r>
              <a:rPr lang="en-GB" dirty="0"/>
              <a:t>The “How I Create Collective Intelligence” column must go beyond job description. It should describe the alignment mechanism the role provides to the organisation.</a:t>
            </a:r>
          </a:p>
          <a:p>
            <a:r>
              <a:rPr lang="en-GB" dirty="0"/>
              <a:t>Watch for: participants who list tasks. Push them to name alignment contributions.</a:t>
            </a:r>
          </a:p>
          <a:p>
            <a:r>
              <a:rPr lang="en-GB" dirty="0"/>
              <a:t>Say: "That is what you do. What happens to the organisation’s alignment when you do it well? And when you don’t?"</a:t>
            </a:r>
          </a:p>
          <a:p>
            <a:endParaRPr lang="en-GB" dirty="0"/>
          </a:p>
          <a:p>
            <a:r>
              <a:rPr lang="en-GB" b="1" dirty="0"/>
              <a:t>ON THE PORTAL, AFTER THE TEACHING:</a:t>
            </a:r>
          </a:p>
          <a:p>
            <a:r>
              <a:rPr lang="en-GB" dirty="0"/>
              <a:t>Each participant completes the table alone in Step 2 of the participant file. This is portfolio work.</a:t>
            </a:r>
          </a:p>
          <a:p>
            <a:r>
              <a:rPr lang="en-GB" dirty="0"/>
              <a:t>Each row names the role, the two COMPASS domains it most directly activates and one statement on alignment.</a:t>
            </a:r>
          </a:p>
          <a:p>
            <a:endParaRPr lang="en-GB" dirty="0"/>
          </a:p>
          <a:p>
            <a:r>
              <a:rPr lang="en-GB" b="1" dirty="0"/>
              <a:t>AFTER THE SESSION:</a:t>
            </a:r>
          </a:p>
          <a:p>
            <a:r>
              <a:rPr lang="en-GB" dirty="0"/>
              <a:t>The tables reach you with each participant’s submission, under the heading COMPASS Role Alignment.</a:t>
            </a:r>
          </a:p>
          <a:p>
            <a:r>
              <a:rPr lang="en-GB" dirty="0"/>
              <a:t>Check that each row names a specific COMPASS domain and a concrete collaboration behaviour.</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STEP 3 — EXCHANGE &amp; DIALOGUE (PORTFOLIO WORK)</a:t>
            </a:r>
          </a:p>
          <a:p>
            <a:endParaRPr lang="en-GB" dirty="0"/>
          </a:p>
          <a:p>
            <a:r>
              <a:rPr lang="en-GB" b="1" dirty="0"/>
              <a:t>HOW TO TEACH IT:</a:t>
            </a:r>
          </a:p>
          <a:p>
            <a:endParaRPr lang="en-GB" dirty="0"/>
          </a:p>
          <a:p>
            <a:r>
              <a:rPr lang="en-GB" b="1" dirty="0"/>
              <a:t>1. Brief the exchange.</a:t>
            </a:r>
          </a:p>
          <a:p>
            <a:r>
              <a:rPr lang="en-GB" dirty="0"/>
              <a:t>Say: "You share your map and your table with the colleague, or colleagues, whose role you selected. You work through four exchange questions together."</a:t>
            </a:r>
          </a:p>
          <a:p>
            <a:r>
              <a:rPr lang="en-GB" dirty="0"/>
              <a:t>Pair participants from closely related roles.</a:t>
            </a:r>
          </a:p>
          <a:p>
            <a:endParaRPr lang="en-GB" dirty="0"/>
          </a:p>
          <a:p>
            <a:r>
              <a:rPr lang="en-GB" b="1" dirty="0"/>
              <a:t>2. Read the four exchange questions on the slide.</a:t>
            </a:r>
          </a:p>
          <a:p>
            <a:r>
              <a:rPr lang="en-GB" dirty="0"/>
              <a:t>Exchange 1: Does your colleague agree with how you described their alignment contribution?</a:t>
            </a:r>
          </a:p>
          <a:p>
            <a:r>
              <a:rPr lang="en-GB" dirty="0"/>
              <a:t>Exchange 2: Additional connectivity your colleague identified.</a:t>
            </a:r>
          </a:p>
          <a:p>
            <a:r>
              <a:rPr lang="en-GB" dirty="0"/>
              <a:t>Exchange 3: Where your interpretations diverged and what that signals.</a:t>
            </a:r>
          </a:p>
          <a:p>
            <a:r>
              <a:rPr lang="en-GB" dirty="0"/>
              <a:t>Exchange 4: Does your colleague agree with the weakest check and the owner you named for each change?</a:t>
            </a:r>
          </a:p>
          <a:p>
            <a:endParaRPr lang="en-GB" dirty="0"/>
          </a:p>
          <a:p>
            <a:r>
              <a:rPr lang="en-GB" b="1" dirty="0"/>
              <a:t>3. Hold the disagreements open.</a:t>
            </a:r>
          </a:p>
          <a:p>
            <a:r>
              <a:rPr lang="en-GB" dirty="0"/>
              <a:t>Where leaders disagree, do not resolve it. Name it explicitly.</a:t>
            </a:r>
          </a:p>
          <a:p>
            <a:r>
              <a:rPr lang="en-GB" dirty="0"/>
              <a:t>Say: "That disagreement is diagnostic. It tells you something about how these roles are currently experienced in the organisation."</a:t>
            </a:r>
          </a:p>
          <a:p>
            <a:endParaRPr lang="en-GB" dirty="0"/>
          </a:p>
          <a:p>
            <a:r>
              <a:rPr lang="en-GB" dirty="0"/>
              <a:t>Deepen, say: "Pressure and assumption turn silence into disengagement and intensity into instability.</a:t>
            </a:r>
          </a:p>
          <a:p>
            <a:r>
              <a:rPr lang="en-GB" dirty="0"/>
              <a:t>Before correcting, ask one open question, ‘What’s going on for you today?’, and wait for the answer."</a:t>
            </a:r>
          </a:p>
          <a:p>
            <a:r>
              <a:rPr lang="en-GB" dirty="0"/>
              <a:t>(Insight: One open question. Source: Journal, 4 May 2026 — Professional Insights: Leadership)</a:t>
            </a:r>
          </a:p>
          <a:p>
            <a:endParaRPr lang="en-GB" dirty="0"/>
          </a:p>
          <a:p>
            <a:r>
              <a:rPr lang="en-GB" b="1" dirty="0"/>
              <a:t>4. Take the divergences.</a:t>
            </a:r>
          </a:p>
          <a:p>
            <a:r>
              <a:rPr lang="en-GB" dirty="0"/>
              <a:t>Ask each pair where their interpretations diverged. Treat divergence as diagnostic and leave it unresolved.</a:t>
            </a:r>
          </a:p>
          <a:p>
            <a:endParaRPr lang="en-GB" dirty="0"/>
          </a:p>
          <a:p>
            <a:r>
              <a:rPr lang="en-GB" b="1" dirty="0"/>
              <a:t>ON THE PORTAL, AFTER THE TEACHING:</a:t>
            </a:r>
          </a:p>
          <a:p>
            <a:r>
              <a:rPr lang="en-GB" dirty="0"/>
              <a:t>Participants work in pairs from closely related roles. This is portfolio work.</a:t>
            </a:r>
          </a:p>
          <a:p>
            <a:r>
              <a:rPr lang="en-GB" dirty="0"/>
              <a:t>Each shares the map and the table, the pair works through the four exchange questions, and each participant types their own notes in Step 3 of the participant file.</a:t>
            </a:r>
          </a:p>
          <a:p>
            <a:endParaRPr lang="en-GB" dirty="0"/>
          </a:p>
          <a:p>
            <a:r>
              <a:rPr lang="en-GB" b="1" dirty="0"/>
              <a:t>AFTER THE SESSION:</a:t>
            </a:r>
          </a:p>
          <a:p>
            <a:r>
              <a:rPr lang="en-GB" dirty="0"/>
              <a:t>The notes reach you with each participant’s submission, under the heading Peer Exchange.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STEP 4 — PLENARY SYNTHESIS (CAPSTONE WORK)</a:t>
            </a:r>
          </a:p>
          <a:p>
            <a:endParaRPr lang="en-GB" dirty="0"/>
          </a:p>
          <a:p>
            <a:r>
              <a:rPr lang="en-GB" b="1" dirty="0"/>
              <a:t>HOW TO TEACH IT:</a:t>
            </a:r>
          </a:p>
          <a:p>
            <a:endParaRPr lang="en-GB" dirty="0"/>
          </a:p>
          <a:p>
            <a:r>
              <a:rPr lang="en-GB" b="1" dirty="0"/>
              <a:t>1. Explain how the group works.</a:t>
            </a:r>
          </a:p>
          <a:p>
            <a:r>
              <a:rPr lang="en-GB" dirty="0"/>
              <a:t>Say: "Your group agrees each entry.</a:t>
            </a:r>
          </a:p>
          <a:p>
            <a:r>
              <a:rPr lang="en-GB" dirty="0"/>
              <a:t>One member acts as scribe and types the agreed wording.</a:t>
            </a:r>
          </a:p>
          <a:p>
            <a:r>
              <a:rPr lang="en-GB" dirty="0"/>
              <a:t>Every member then types the agreed entries into their own page, in the session or after it."</a:t>
            </a:r>
          </a:p>
          <a:p>
            <a:endParaRPr lang="en-GB" dirty="0"/>
          </a:p>
          <a:p>
            <a:r>
              <a:rPr lang="en-GB" b="1" dirty="0"/>
              <a:t>2. Ask the first synthesis question.</a:t>
            </a:r>
          </a:p>
          <a:p>
            <a:r>
              <a:rPr lang="en-GB" dirty="0"/>
              <a:t>Ask: "Looking across all the tables, which COMPASS domain appears most frequently as underactivated or poorly understood? That is your team’s most critical alignment vulnerability."</a:t>
            </a:r>
          </a:p>
          <a:p>
            <a:endParaRPr lang="en-GB" dirty="0"/>
          </a:p>
          <a:p>
            <a:r>
              <a:rPr lang="en-GB" b="1" dirty="0"/>
              <a:t>3. Ask where alignment is already strong.</a:t>
            </a:r>
          </a:p>
          <a:p>
            <a:r>
              <a:rPr lang="en-GB" dirty="0"/>
              <a:t>Ask: "Which COMPASS domains are being strongly activated? Where is Collective Intelligence already working well?"</a:t>
            </a:r>
          </a:p>
          <a:p>
            <a:endParaRPr lang="en-GB" dirty="0"/>
          </a:p>
          <a:p>
            <a:r>
              <a:rPr lang="en-GB" b="1" dirty="0"/>
              <a:t>4. Ask the second synthesis question.</a:t>
            </a:r>
          </a:p>
          <a:p>
            <a:r>
              <a:rPr lang="en-GB" dirty="0"/>
              <a:t>Ask: "Which group appears on the most maps? What sequence does this team agree for the changes landing on it?"</a:t>
            </a:r>
          </a:p>
          <a:p>
            <a:endParaRPr lang="en-GB" dirty="0"/>
          </a:p>
          <a:p>
            <a:r>
              <a:rPr lang="en-GB" b="1" dirty="0"/>
              <a:t>5. Name the patterns.</a:t>
            </a:r>
          </a:p>
          <a:p>
            <a:r>
              <a:rPr lang="en-GB" dirty="0"/>
              <a:t>Your role in the plenary is to name patterns. When leaders disagree about connectivity, name it explicitly.</a:t>
            </a:r>
          </a:p>
          <a:p>
            <a:r>
              <a:rPr lang="en-GB" dirty="0"/>
              <a:t>Say: "That disagreement tells us something important about how alignment responsibilities are currently experienced in this team."</a:t>
            </a:r>
          </a:p>
          <a:p>
            <a:endParaRPr lang="en-GB" dirty="0"/>
          </a:p>
          <a:p>
            <a:r>
              <a:rPr lang="en-GB" b="1" dirty="0"/>
              <a:t>6. Say when the work is confirmed.</a:t>
            </a:r>
          </a:p>
          <a:p>
            <a:r>
              <a:rPr lang="en-GB" dirty="0"/>
              <a:t>Say: "When your group has agreed the three entries, each of you reads the record and confirms it."</a:t>
            </a:r>
          </a:p>
          <a:p>
            <a:endParaRPr lang="en-GB" dirty="0"/>
          </a:p>
          <a:p>
            <a:r>
              <a:rPr lang="en-GB" b="1" dirty="0"/>
              <a:t>7. Close with the commitment.</a:t>
            </a:r>
          </a:p>
          <a:p>
            <a:r>
              <a:rPr lang="en-GB" dirty="0"/>
              <a:t>Each leader names one specific behavioural change in the next 30 days to strengthen their alignment contribution.</a:t>
            </a:r>
          </a:p>
          <a:p>
            <a:r>
              <a:rPr lang="en-GB" dirty="0"/>
              <a:t>Ask each leader to tie the commitment to one of their mapped changes: the behaviour they will show first.</a:t>
            </a:r>
          </a:p>
          <a:p>
            <a:r>
              <a:rPr lang="en-GB" dirty="0"/>
              <a:t>Make these visible: each participant posts the commitment in the chat. Follow up at the next leadership forum.</a:t>
            </a:r>
          </a:p>
          <a:p>
            <a:endParaRPr lang="en-GB" dirty="0"/>
          </a:p>
          <a:p>
            <a:r>
              <a:rPr lang="en-GB" b="1" dirty="0"/>
              <a:t>ON THE PORTAL, AFTER THE TEACHING:</a:t>
            </a:r>
          </a:p>
          <a:p>
            <a:r>
              <a:rPr lang="en-GB" dirty="0"/>
              <a:t>Participants work as a group in Step 4 of the participant file. This is Capstone work.</a:t>
            </a:r>
          </a:p>
          <a:p>
            <a:r>
              <a:rPr lang="en-GB" dirty="0"/>
              <a:t>1. The group agrees the COMPASS domain, or domains, most often underactivated.</a:t>
            </a:r>
          </a:p>
          <a:p>
            <a:r>
              <a:rPr lang="en-GB" dirty="0"/>
              <a:t>2. The group agrees where alignment is already strong.</a:t>
            </a:r>
          </a:p>
          <a:p>
            <a:r>
              <a:rPr lang="en-GB" dirty="0"/>
              <a:t>3. The group agrees which group of people appears on the most maps, and the order and pace for the changes landing on it.</a:t>
            </a:r>
          </a:p>
          <a:p>
            <a:r>
              <a:rPr lang="en-GB" dirty="0"/>
              <a:t>4. A record shows the three entries. Each participant confirms the record. Print gives a copy.</a:t>
            </a:r>
          </a:p>
          <a:p>
            <a:r>
              <a:rPr lang="en-GB" dirty="0"/>
              <a:t>Each participant then writes one 30-day behavioural commitment. This is portfolio work.</a:t>
            </a:r>
          </a:p>
          <a:p>
            <a:endParaRPr lang="en-GB" dirty="0"/>
          </a:p>
          <a:p>
            <a:r>
              <a:rPr lang="en-GB" b="1" dirty="0"/>
              <a:t>AFTER THE SESSION:</a:t>
            </a:r>
          </a:p>
          <a:p>
            <a:r>
              <a:rPr lang="en-GB" dirty="0"/>
              <a:t>The record reaches you with each participant’s submission, under the heading Working Papers.</a:t>
            </a:r>
          </a:p>
          <a:p>
            <a:r>
              <a:rPr lang="en-GB" dirty="0"/>
              <a:t>The confirmed entry on the underactivated COMPASS domain feeds box 5C of the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SUMMARY (UNIT 5 SYNTHESIS)</a:t>
            </a:r>
          </a:p>
          <a:p>
            <a:endParaRPr lang="en-GB" dirty="0"/>
          </a:p>
          <a:p>
            <a:r>
              <a:rPr lang="en-GB" b="1" dirty="0"/>
              <a:t>HOW TO TEACH IT:</a:t>
            </a:r>
          </a:p>
          <a:p>
            <a:endParaRPr lang="en-GB" dirty="0"/>
          </a:p>
          <a:p>
            <a:r>
              <a:rPr lang="en-GB" b="1" dirty="0"/>
              <a:t>1. Recap the unit, section by section.</a:t>
            </a:r>
          </a:p>
          <a:p>
            <a:r>
              <a:rPr lang="en-GB" dirty="0"/>
              <a:t>Say: "This session was about the human conditions that decide whether a strategy ever moves.</a:t>
            </a:r>
          </a:p>
          <a:p>
            <a:r>
              <a:rPr lang="en-GB" dirty="0"/>
              <a:t>Aligning Heart &amp; Mind treated execution as first a human problem: strategy moves through people before it moves through systems."</a:t>
            </a:r>
          </a:p>
          <a:p>
            <a:r>
              <a:rPr lang="en-GB" dirty="0"/>
              <a:t>- 1 · Awareness: strategy enters through Cognition (Mind) and Emotion (Heart). Five principles describe how alignment is created and sustained.</a:t>
            </a:r>
          </a:p>
          <a:p>
            <a:r>
              <a:rPr lang="en-GB" dirty="0"/>
              <a:t>- 2 · Intelligence: Heart &amp; Mind alignment is the ignition point that converts strategic potential energy into kinetic energy. Compliance yields short-term output. Commitment sustains execution when leaders are not present.</a:t>
            </a:r>
          </a:p>
          <a:p>
            <a:r>
              <a:rPr lang="en-GB" dirty="0"/>
              <a:t>- 3 · Extrapolating: misalignment concentrates in seven High Flammable Zones, mapped by the COMPASS framework. A lit zone is a High Flammable or a Burning Platform.</a:t>
            </a:r>
          </a:p>
          <a:p>
            <a:r>
              <a:rPr lang="en-GB" dirty="0"/>
              <a:t>- 4 · Integration: in the Converging Zone functional interpretations integrate into a shared leadership signal. Each CXO role carries a distinct alignment responsibility.</a:t>
            </a:r>
          </a:p>
          <a:p>
            <a:r>
              <a:rPr lang="en-GB" dirty="0"/>
              <a:t>- 5 · Application: each participant maps the transition for two changes and tests it with a colleague. The group agrees its shared reading and the sequence for the changes landing on the same group.</a:t>
            </a:r>
          </a:p>
          <a:p>
            <a:r>
              <a:rPr lang="en-GB" dirty="0"/>
              <a:t>- Across the unit: a change is adopted when it passes the 4 Checks of Mind, Heart, Hands and Habit. The leader’s job is to explain, involve, equip and reinforce until it passes all four.</a:t>
            </a:r>
          </a:p>
          <a:p>
            <a:endParaRPr lang="en-GB" dirty="0"/>
          </a:p>
          <a:p>
            <a:r>
              <a:rPr lang="en-GB" b="1" dirty="0"/>
              <a:t>2. Ask the closing question on the slide.</a:t>
            </a:r>
          </a:p>
          <a:p>
            <a:r>
              <a:rPr lang="en-GB" dirty="0"/>
              <a:t>Ask: "Which COMPASS domain is this team most likely rating too generously — and which executive role has quietly stopped carrying its alignment responsibility there?"</a:t>
            </a:r>
          </a:p>
          <a:p>
            <a:r>
              <a:rPr lang="en-GB" dirty="0"/>
              <a:t>Take an answer from each group.</a:t>
            </a:r>
          </a:p>
          <a:p>
            <a:endParaRPr lang="en-GB" dirty="0"/>
          </a:p>
          <a:p>
            <a:r>
              <a:rPr lang="en-GB" b="1" dirty="0"/>
              <a:t>3. Close the unit.</a:t>
            </a:r>
          </a:p>
          <a:p>
            <a:r>
              <a:rPr lang="en-GB" dirty="0"/>
              <a:t>Say: "Aligned hearts and minds turn a strategy from a document the organisation has read into a direction the organisation is willing to move on."</a:t>
            </a:r>
          </a:p>
          <a:p>
            <a:r>
              <a:rPr lang="en-GB" dirty="0"/>
              <a:t>Connect the unit to what follows: Performance Management Setup and the translation of strategy into individual accountability across the enterprise.</a:t>
            </a:r>
          </a:p>
          <a:p>
            <a:endParaRPr lang="en-GB" dirty="0"/>
          </a:p>
          <a:p>
            <a:r>
              <a:rPr lang="en-GB" b="1" dirty="0"/>
              <a:t>4. Say what happens on the portal.</a:t>
            </a:r>
          </a:p>
          <a:p>
            <a:r>
              <a:rPr lang="en-GB" dirty="0"/>
              <a:t>Say: "You now complete the unit on the portal: your reflections, your Change Transition Map, your Role Connections, your exchange notes, your group’s Plenary Synthesis and your 30-day commitment.</a:t>
            </a:r>
          </a:p>
          <a:p>
            <a:r>
              <a:rPr lang="en-GB" dirty="0"/>
              <a:t>When your page is complete, you submit the unit."</a:t>
            </a:r>
          </a:p>
          <a:p>
            <a:endParaRPr lang="en-GB" dirty="0"/>
          </a:p>
          <a:p>
            <a:r>
              <a:rPr lang="en-GB" b="1" dirty="0"/>
              <a:t>ON THE PORTAL, AFTER THE TEACHING:</a:t>
            </a:r>
          </a:p>
          <a:p>
            <a:r>
              <a:rPr lang="en-GB" dirty="0"/>
              <a:t>Participants complete every part of the participant file and submit the unit to the facilitator from the end of Section 5.</a:t>
            </a:r>
          </a:p>
          <a:p>
            <a:endParaRPr lang="en-GB" dirty="0"/>
          </a:p>
          <a:p>
            <a:r>
              <a:rPr lang="en-GB" b="1" dirty="0"/>
              <a:t>AFTER THE SESSION:</a:t>
            </a:r>
          </a:p>
          <a:p>
            <a:r>
              <a:rPr lang="en-GB" dirty="0"/>
              <a:t>Each submission reaches you in the facilitator dashboard.</a:t>
            </a:r>
          </a:p>
          <a:p>
            <a:r>
              <a:rPr lang="en-GB" dirty="0"/>
              <a:t>The group’s confirmed entry on the underactivated COMPASS domain feeds box 5C of the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GB" b="1" dirty="0"/>
              <a:t>SECTION 1 REFLECTIONS · 1.4 TO 1.7</a:t>
            </a:r>
          </a:p>
          <a:p>
            <a:endParaRPr lang="en-GB" dirty="0"/>
          </a:p>
          <a:p>
            <a:r>
              <a:rPr lang="en-GB" b="1" dirty="0"/>
              <a:t>HOW TO USE THIS SLIDE:</a:t>
            </a:r>
          </a:p>
          <a:p>
            <a:endParaRPr lang="en-GB" dirty="0"/>
          </a:p>
          <a:p>
            <a:r>
              <a:rPr lang="en-GB" b="1" dirty="0"/>
              <a:t>1. Show the slide and read the prompts aloud.</a:t>
            </a:r>
          </a:p>
          <a:p>
            <a:r>
              <a:rPr lang="en-GB" dirty="0"/>
              <a:t>1.4 Reflection — The 3S Check: "Write the Shift, the Stake and the Step for the change you are carrying through this unit. Which of the three would your people find hardest to say back, and why?"</a:t>
            </a:r>
          </a:p>
          <a:p>
            <a:endParaRPr lang="en-GB" dirty="0"/>
          </a:p>
          <a:p>
            <a:r>
              <a:rPr lang="en-GB" dirty="0"/>
              <a:t>1.5 Reflection: "Which SCARF trigger is most frequently activated in your organisation during strategy implementation? What is the observable evidence? What counter-strategy would address the root cause?"</a:t>
            </a:r>
          </a:p>
          <a:p>
            <a:endParaRPr lang="en-GB" dirty="0"/>
          </a:p>
          <a:p>
            <a:r>
              <a:rPr lang="en-GB" dirty="0"/>
              <a:t>1.6 Reflection — The STAT Check: "Run STAT for the change you are carrying through this unit. Which element is missing for the people it affects most? What is your evidence, and what is yours to supply?"</a:t>
            </a:r>
          </a:p>
          <a:p>
            <a:endParaRPr lang="en-GB" dirty="0"/>
          </a:p>
          <a:p>
            <a:r>
              <a:rPr lang="en-GB" dirty="0"/>
              <a:t>1.7 Reflection: "If you audited your last leadership review against the ACE-IT behaviours — where would you find the biggest gap between the ideal and the observable? What one behavioural change would create the most impact?"</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1.4, write the Shift, the Stake and the Step in the words your people would use.</a:t>
            </a:r>
          </a:p>
          <a:p>
            <a:r>
              <a:rPr lang="en-GB" dirty="0"/>
              <a:t>For 1.5 and 1.7, name the observable evidence.</a:t>
            </a:r>
          </a:p>
          <a:p>
            <a:r>
              <a:rPr lang="en-GB" dirty="0"/>
              <a:t>For 1.6, say which STAT element is missing and what is yours to supply."</a:t>
            </a:r>
          </a:p>
          <a:p>
            <a:r>
              <a:rPr lang="en-GB" dirty="0"/>
              <a:t>Watch for: resistance named with no trigger. Ask: "Which of the five triggers is live?"</a:t>
            </a:r>
          </a:p>
          <a:p>
            <a:endParaRPr lang="en-GB" dirty="0"/>
          </a:p>
          <a:p>
            <a:r>
              <a:rPr lang="en-GB" b="1" dirty="0"/>
              <a:t>4. Bridge to Section 2.</a:t>
            </a:r>
          </a:p>
          <a:p>
            <a:r>
              <a:rPr lang="en-GB" dirty="0"/>
              <a:t>Say: "We know what alignment is and what a change must pass. Section 2 shows why this decides execution outcomes."</a:t>
            </a:r>
          </a:p>
          <a:p>
            <a:endParaRPr lang="en-GB" dirty="0"/>
          </a:p>
          <a:p>
            <a:r>
              <a:rPr lang="en-GB" b="1" dirty="0"/>
              <a:t>ON THE PORTAL, AFTER THE TEACHING:</a:t>
            </a:r>
          </a:p>
          <a:p>
            <a:r>
              <a:rPr lang="en-GB" dirty="0"/>
              <a:t>Participants write these four reflections in Section 1 of the participant file, at the foot of parts 1.4, 1.5, 1.6 and 1.7.</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GB" b="1" dirty="0"/>
              <a:t>SECTION 1 REFLECTIONS · 1.1 TO 1.3</a:t>
            </a:r>
          </a:p>
          <a:p>
            <a:endParaRPr lang="en-GB" dirty="0"/>
          </a:p>
          <a:p>
            <a:r>
              <a:rPr lang="en-GB" b="1" dirty="0"/>
              <a:t>HOW TO USE THIS SLIDE:</a:t>
            </a:r>
          </a:p>
          <a:p>
            <a:endParaRPr lang="en-GB" dirty="0"/>
          </a:p>
          <a:p>
            <a:r>
              <a:rPr lang="en-GB" b="1" dirty="0"/>
              <a:t>1. Show the slide and read the prompts aloud.</a:t>
            </a:r>
          </a:p>
          <a:p>
            <a:r>
              <a:rPr lang="en-GB" dirty="0"/>
              <a:t>1.1 Reflection: "In your current role, which filter (Mind or Heart) tends to shape your first response to a new strategic priority? What are the implications?"</a:t>
            </a:r>
          </a:p>
          <a:p>
            <a:endParaRPr lang="en-GB" dirty="0"/>
          </a:p>
          <a:p>
            <a:r>
              <a:rPr lang="en-GB" dirty="0"/>
              <a:t>1.2 Reflection: "Which of the Five Principles describes the most critical gap in your leadership team right now? What is the evidence for this?"</a:t>
            </a:r>
          </a:p>
          <a:p>
            <a:endParaRPr lang="en-GB" dirty="0"/>
          </a:p>
          <a:p>
            <a:r>
              <a:rPr lang="en-GB" dirty="0"/>
              <a:t>1.3 Reflection — The event and the transition: "Write down one change your strategy requires of a named group. You will carry this change through the rest of the unit. On the day it was announced, how far through their own transition were the leaders, and how far were the people affected?"</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1.1 and 1.2, give the evidence: what you saw or heard. For 1.3, name the change, the group and the date."</a:t>
            </a:r>
          </a:p>
          <a:p>
            <a:r>
              <a:rPr lang="en-GB" dirty="0"/>
              <a:t>Watch for: a change with no named group. Ask: "Whose Monday morning changes?"</a:t>
            </a:r>
          </a:p>
          <a:p>
            <a:endParaRPr lang="en-GB" dirty="0"/>
          </a:p>
          <a:p>
            <a:r>
              <a:rPr lang="en-GB" b="1" dirty="0"/>
              <a:t>4. Say that four more follow.</a:t>
            </a:r>
          </a:p>
          <a:p>
            <a:r>
              <a:rPr lang="en-GB" dirty="0"/>
              <a:t>Say: "The next slide holds the reflections on the four tools."</a:t>
            </a:r>
          </a:p>
          <a:p>
            <a:endParaRPr lang="en-GB" dirty="0"/>
          </a:p>
          <a:p>
            <a:r>
              <a:rPr lang="en-GB" b="1" dirty="0"/>
              <a:t>ON THE PORTAL, AFTER THE TEACHING:</a:t>
            </a:r>
          </a:p>
          <a:p>
            <a:r>
              <a:rPr lang="en-GB" dirty="0"/>
              <a:t>Participants write these three reflections in Section 1 of the participant file, at the foot of parts 1.1, 1.2 and 1.3.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GB" b="1" dirty="0"/>
              <a:t>SECTION 2 REFLECTIONS</a:t>
            </a:r>
          </a:p>
          <a:p>
            <a:endParaRPr lang="en-GB" dirty="0"/>
          </a:p>
          <a:p>
            <a:r>
              <a:rPr lang="en-GB" b="1" dirty="0"/>
              <a:t>HOW TO USE THIS SLIDE:</a:t>
            </a:r>
          </a:p>
          <a:p>
            <a:endParaRPr lang="en-GB" dirty="0"/>
          </a:p>
          <a:p>
            <a:r>
              <a:rPr lang="en-GB" b="1" dirty="0"/>
              <a:t>1. Show the slide and read the prompts aloud.</a:t>
            </a:r>
          </a:p>
          <a:p>
            <a:r>
              <a:rPr lang="en-GB" dirty="0"/>
              <a:t>2.1 Reflection: "Think of a time when you personally chose to go beyond compliance and genuinely committed to a strategic direction. What caused that shift? What would it take to create that same shift in your team?"</a:t>
            </a:r>
          </a:p>
          <a:p>
            <a:endParaRPr lang="en-GB" dirty="0"/>
          </a:p>
          <a:p>
            <a:r>
              <a:rPr lang="en-GB" dirty="0"/>
              <a:t>2.2 Reflection: "How much of your current leadership time is spent enforcing compliance? What is the opportunity cost of this?"</a:t>
            </a:r>
          </a:p>
          <a:p>
            <a:endParaRPr lang="en-GB" dirty="0"/>
          </a:p>
          <a:p>
            <a:r>
              <a:rPr lang="en-GB" dirty="0"/>
              <a:t>2.3 Reflection — Installed and adopted: "Name one change in your organisation that is installed and still awaiting adoption. Which check did it fail: Mind, Heart, Hands or Habit? What has the adoption gap cost so far?"</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2.1, name the moment and what caused it.</a:t>
            </a:r>
          </a:p>
          <a:p>
            <a:r>
              <a:rPr lang="en-GB" dirty="0"/>
              <a:t>For 2.2, give a share of your week and what it displaces.</a:t>
            </a:r>
          </a:p>
          <a:p>
            <a:r>
              <a:rPr lang="en-GB" dirty="0"/>
              <a:t>For 2.3, name the change, the check it failed and a figure for the cost."</a:t>
            </a:r>
          </a:p>
          <a:p>
            <a:r>
              <a:rPr lang="en-GB" dirty="0"/>
              <a:t>Watch for: a cost stated as a feeling. Ask: "What did it cost in rework, supervision or lost benefit?"</a:t>
            </a:r>
          </a:p>
          <a:p>
            <a:endParaRPr lang="en-GB" dirty="0"/>
          </a:p>
          <a:p>
            <a:r>
              <a:rPr lang="en-GB" b="1" dirty="0"/>
              <a:t>4. Bridge to Section 3.</a:t>
            </a:r>
          </a:p>
          <a:p>
            <a:r>
              <a:rPr lang="en-GB" dirty="0"/>
              <a:t>Say: "We know why alignment decides execution. Section 3 asks where in your organisation it is most at risk."</a:t>
            </a:r>
          </a:p>
          <a:p>
            <a:endParaRPr lang="en-GB" dirty="0"/>
          </a:p>
          <a:p>
            <a:r>
              <a:rPr lang="en-GB" b="1" dirty="0"/>
              <a:t>ON THE PORTAL, AFTER THE TEACHING:</a:t>
            </a:r>
          </a:p>
          <a:p>
            <a:r>
              <a:rPr lang="en-GB" dirty="0"/>
              <a:t>Participants write these three reflections in Section 2 of the participant file, at the foot of parts 2.1, 2.2 and 2.3.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prompts aloud.</a:t>
            </a:r>
          </a:p>
          <a:p>
            <a:r>
              <a:rPr lang="en-GB" dirty="0"/>
              <a:t>3.1 Reflection — COMPASS Diagnostic: "Write your seven ratings. Which domain did you rate highest risk? What is the observable evidence? Is it still a High Flammable or has it crossed to Burning Platform?"</a:t>
            </a:r>
          </a:p>
          <a:p>
            <a:endParaRPr lang="en-GB" dirty="0"/>
          </a:p>
          <a:p>
            <a:r>
              <a:rPr lang="en-GB" dirty="0"/>
              <a:t>3.3 Reflection — Readiness: "For the change you are carrying through this unit, list the groups it affects and rate each on the 4 Checks. Which group is least ready? Which check fails first, and what is your evidence?"</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3.1, write your seven ratings first, then the evidence for the highest.</a:t>
            </a:r>
          </a:p>
          <a:p>
            <a:r>
              <a:rPr lang="en-GB" dirty="0"/>
              <a:t>For 3.3, name each group, rate each check and say which check fails first."</a:t>
            </a:r>
          </a:p>
          <a:p>
            <a:r>
              <a:rPr lang="en-GB" dirty="0"/>
              <a:t>Watch for: an average score for a group. Ask: "Which check fails first for this group?"</a:t>
            </a:r>
          </a:p>
          <a:p>
            <a:endParaRPr lang="en-GB" dirty="0"/>
          </a:p>
          <a:p>
            <a:r>
              <a:rPr lang="en-GB" b="1" dirty="0"/>
              <a:t>4. Bridge to Section 4.</a:t>
            </a:r>
          </a:p>
          <a:p>
            <a:r>
              <a:rPr lang="en-GB" dirty="0"/>
              <a:t>Say: "We know where alignment is at risk. Section 4 shows how the leadership team holds it together."</a:t>
            </a:r>
          </a:p>
          <a:p>
            <a:endParaRPr lang="en-GB" dirty="0"/>
          </a:p>
          <a:p>
            <a:r>
              <a:rPr lang="en-GB" b="1" dirty="0"/>
              <a:t>ON THE PORTAL, AFTER THE TEACHING:</a:t>
            </a:r>
          </a:p>
          <a:p>
            <a:r>
              <a:rPr lang="en-GB" dirty="0"/>
              <a:t>Participants write these two reflections in Section 3 of the participant file, at the foot of parts 3.1 and 3.3.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GB" b="1" dirty="0"/>
              <a:t>SECTION 4 REFLECTIONS</a:t>
            </a:r>
          </a:p>
          <a:p>
            <a:endParaRPr lang="en-GB" dirty="0"/>
          </a:p>
          <a:p>
            <a:r>
              <a:rPr lang="en-GB" b="1" dirty="0"/>
              <a:t>HOW TO USE THIS SLIDE:</a:t>
            </a:r>
          </a:p>
          <a:p>
            <a:endParaRPr lang="en-GB" dirty="0"/>
          </a:p>
          <a:p>
            <a:r>
              <a:rPr lang="en-GB" b="1" dirty="0"/>
              <a:t>1. Show the slide and read the prompts aloud.</a:t>
            </a:r>
          </a:p>
          <a:p>
            <a:r>
              <a:rPr lang="en-GB" dirty="0"/>
              <a:t>4.1 Reflection: "Which state is your organisation currently closer to? What is the single most important convergence you need to achieve before your next major strategy initiative?"</a:t>
            </a:r>
          </a:p>
          <a:p>
            <a:endParaRPr lang="en-GB" dirty="0"/>
          </a:p>
          <a:p>
            <a:r>
              <a:rPr lang="en-GB" dirty="0"/>
              <a:t>4.2 Reflection: "What is the most important alignment conversation you need to have with a closely adjacent role in the next 30 days? What would that conversation need to address?"</a:t>
            </a:r>
          </a:p>
          <a:p>
            <a:endParaRPr lang="en-GB" dirty="0"/>
          </a:p>
          <a:p>
            <a:r>
              <a:rPr lang="en-GB" dirty="0"/>
              <a:t>4.3 Reflection — One voice: "Choose one group in your organisation. List every change the leadership team is asking of it this quarter. How many are there? Which of the four commitments is weakest in your team today?"</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4.1, name the state and one convergence.</a:t>
            </a:r>
          </a:p>
          <a:p>
            <a:r>
              <a:rPr lang="en-GB" dirty="0"/>
              <a:t>For 4.2, name the role and what the conversation must address.</a:t>
            </a:r>
          </a:p>
          <a:p>
            <a:r>
              <a:rPr lang="en-GB" dirty="0"/>
              <a:t>For 4.3, count the changes and name the weakest commitment."</a:t>
            </a:r>
          </a:p>
          <a:p>
            <a:r>
              <a:rPr lang="en-GB" dirty="0"/>
              <a:t>Watch for: a conversation with no named role. Ask: "Which role, and by when?"</a:t>
            </a:r>
          </a:p>
          <a:p>
            <a:endParaRPr lang="en-GB" dirty="0"/>
          </a:p>
          <a:p>
            <a:r>
              <a:rPr lang="en-GB" b="1" dirty="0"/>
              <a:t>4. Bridge to Section 5.</a:t>
            </a:r>
          </a:p>
          <a:p>
            <a:r>
              <a:rPr lang="en-GB" dirty="0"/>
              <a:t>Say: "We have the checks, the hot zones and the commitments. Section 5 applies them to two changes your strategy requires."</a:t>
            </a:r>
          </a:p>
          <a:p>
            <a:endParaRPr lang="en-GB" dirty="0"/>
          </a:p>
          <a:p>
            <a:r>
              <a:rPr lang="en-GB" b="1" dirty="0"/>
              <a:t>ON THE PORTAL, AFTER THE TEACHING:</a:t>
            </a:r>
          </a:p>
          <a:p>
            <a:r>
              <a:rPr lang="en-GB" dirty="0"/>
              <a:t>Participants write these three reflections in Section 4 of the participant file, at the foot of parts 4.1, 4.2 and 4.3.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3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36.xml"/></Relationships>
</file>

<file path=ppt/slides/_rels/slide20.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38.xml"/></Relationships>
</file>

<file path=ppt/slides/_rels/slide25.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39.xml"/></Relationships>
</file>

<file path=ppt/slides/_rels/slide30.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40.xml"/></Relationships>
</file>

<file path=ppt/slides/_rels/slide35.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tmp/claude-0/-home-claude/1549d9eb-9b61-52ab-9438-5da152783dac/scratchpad/u5/build/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5</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Aligning Heart &amp; Mind</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The human operating system that enables strategy to move from intention to execution</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Critically examine how functional expertise, personality, cognitive bias and emotional conditions influence the interpretation of strategy.</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Demonstrate shared strategic understanding and commitment across the leadership system.</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the organisational conditions that strengthen or weaken strategic alignment.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Lead people through the changes the strategy requires, with deliberate attention to readiness, resistance and adoption.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Aligning Heart &amp; Mind?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Examine how functional expertise, cognitive bias and emotion shape the interpretation of strategy.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what people need in order to adopt a strategic change, and the behaviours that sustain it.</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1.1 · The Human Terrain of Strategy Execution</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Cognition — Mind</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How individuals interpret what strategy means.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Shaped by professional expertise, mental shortcuts, past experience, and risk perception.</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sp>
      <p:pic>
        <p:nvPicPr>
          <p:cNvPr id="10"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Emotion — Heart</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How individuals experience the strategy.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Shapes engagement energy, morale, friction load, psychological safety, and values alignment.</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4" name="Text 10"/>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Execution begins inside the human system.</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200" b="1" dirty="0">
                <a:solidFill>
                  <a:srgbClr val="1A5C2C"/>
                </a:solidFill>
                <a:latin typeface="Cambria" pitchFamily="34" charset="0"/>
                <a:ea typeface="Cambria" pitchFamily="34" charset="-122"/>
                <a:cs typeface="Cambria" pitchFamily="34" charset="-120"/>
              </a:rPr>
              <a:t>1.2 · The Five Principles of Aligning Heart &amp; Mind</a:t>
            </a:r>
            <a:endParaRPr lang="en-US" sz="32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Principle 1  </a:t>
            </a:r>
            <a:pPr indent="0" marL="0">
              <a:buNone/>
            </a:pPr>
            <a:r>
              <a:rPr lang="en-US" sz="2400" dirty="0">
                <a:solidFill>
                  <a:srgbClr val="1F2A22"/>
                </a:solidFill>
                <a:latin typeface="Calibri" pitchFamily="34" charset="0"/>
                <a:ea typeface="Calibri" pitchFamily="34" charset="-122"/>
                <a:cs typeface="Calibri" pitchFamily="34" charset="-120"/>
              </a:rPr>
              <a:t>Strategy Moves Through People</a:t>
            </a:r>
            <a:pPr indent="0" marL="0">
              <a:buNone/>
            </a:pPr>
            <a:r>
              <a:rPr lang="en-US" sz="2400" dirty="0">
                <a:solidFill>
                  <a:srgbClr val="4E5E53"/>
                </a:solidFill>
                <a:latin typeface="Calibri" pitchFamily="34" charset="0"/>
                <a:ea typeface="Calibri" pitchFamily="34" charset="-122"/>
                <a:cs typeface="Calibri" pitchFamily="34" charset="-120"/>
              </a:rPr>
              <a:t> · </a:t>
            </a:r>
            <a:pPr indent="0" marL="0">
              <a:buNone/>
            </a:pPr>
            <a:r>
              <a:rPr lang="en-US" sz="2400" i="1" dirty="0">
                <a:solidFill>
                  <a:srgbClr val="4E5E53"/>
                </a:solidFill>
                <a:latin typeface="Calibri" pitchFamily="34" charset="0"/>
                <a:ea typeface="Calibri" pitchFamily="34" charset="-122"/>
                <a:cs typeface="Calibri" pitchFamily="34" charset="-120"/>
              </a:rPr>
              <a:t>the human entry point of execution</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Principle 2  </a:t>
            </a:r>
            <a:pPr indent="0" marL="0">
              <a:buNone/>
            </a:pPr>
            <a:r>
              <a:rPr lang="en-US" sz="2400" dirty="0">
                <a:solidFill>
                  <a:srgbClr val="1F2A22"/>
                </a:solidFill>
                <a:latin typeface="Calibri" pitchFamily="34" charset="0"/>
                <a:ea typeface="Calibri" pitchFamily="34" charset="-122"/>
                <a:cs typeface="Calibri" pitchFamily="34" charset="-120"/>
              </a:rPr>
              <a:t>Misalignment Fragments Effort</a:t>
            </a:r>
            <a:pPr indent="0" marL="0">
              <a:buNone/>
            </a:pPr>
            <a:r>
              <a:rPr lang="en-US" sz="2400" dirty="0">
                <a:solidFill>
                  <a:srgbClr val="4E5E53"/>
                </a:solidFill>
                <a:latin typeface="Calibri" pitchFamily="34" charset="0"/>
                <a:ea typeface="Calibri" pitchFamily="34" charset="-122"/>
                <a:cs typeface="Calibri" pitchFamily="34" charset="-120"/>
              </a:rPr>
              <a:t> · </a:t>
            </a:r>
            <a:pPr indent="0" marL="0">
              <a:buNone/>
            </a:pPr>
            <a:r>
              <a:rPr lang="en-US" sz="2400" i="1" dirty="0">
                <a:solidFill>
                  <a:srgbClr val="4E5E53"/>
                </a:solidFill>
                <a:latin typeface="Calibri" pitchFamily="34" charset="0"/>
                <a:ea typeface="Calibri" pitchFamily="34" charset="-122"/>
                <a:cs typeface="Calibri" pitchFamily="34" charset="-120"/>
              </a:rPr>
              <a:t>the cost of ignoring the human system</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Principle 3  </a:t>
            </a:r>
            <a:pPr indent="0" marL="0">
              <a:buNone/>
            </a:pPr>
            <a:r>
              <a:rPr lang="en-US" sz="2400" dirty="0">
                <a:solidFill>
                  <a:srgbClr val="1F2A22"/>
                </a:solidFill>
                <a:latin typeface="Calibri" pitchFamily="34" charset="0"/>
                <a:ea typeface="Calibri" pitchFamily="34" charset="-122"/>
                <a:cs typeface="Calibri" pitchFamily="34" charset="-120"/>
              </a:rPr>
              <a:t>Alignment Must Be Designed</a:t>
            </a:r>
            <a:pPr indent="0" marL="0">
              <a:buNone/>
            </a:pPr>
            <a:r>
              <a:rPr lang="en-US" sz="2400" dirty="0">
                <a:solidFill>
                  <a:srgbClr val="4E5E53"/>
                </a:solidFill>
                <a:latin typeface="Calibri" pitchFamily="34" charset="0"/>
                <a:ea typeface="Calibri" pitchFamily="34" charset="-122"/>
                <a:cs typeface="Calibri" pitchFamily="34" charset="-120"/>
              </a:rPr>
              <a:t> · </a:t>
            </a:r>
            <a:pPr indent="0" marL="0">
              <a:buNone/>
            </a:pPr>
            <a:r>
              <a:rPr lang="en-US" sz="2400" i="1" dirty="0">
                <a:solidFill>
                  <a:srgbClr val="4E5E53"/>
                </a:solidFill>
                <a:latin typeface="Calibri" pitchFamily="34" charset="0"/>
                <a:ea typeface="Calibri" pitchFamily="34" charset="-122"/>
                <a:cs typeface="Calibri" pitchFamily="34" charset="-120"/>
              </a:rPr>
              <a:t>the tools that create alignment</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Principle 4  </a:t>
            </a:r>
            <a:pPr indent="0" marL="0">
              <a:buNone/>
            </a:pPr>
            <a:r>
              <a:rPr lang="en-US" sz="2400" dirty="0">
                <a:solidFill>
                  <a:srgbClr val="1F2A22"/>
                </a:solidFill>
                <a:latin typeface="Calibri" pitchFamily="34" charset="0"/>
                <a:ea typeface="Calibri" pitchFamily="34" charset="-122"/>
                <a:cs typeface="Calibri" pitchFamily="34" charset="-120"/>
              </a:rPr>
              <a:t>Human Reactions Are Predictable</a:t>
            </a:r>
            <a:pPr indent="0" marL="0">
              <a:buNone/>
            </a:pPr>
            <a:r>
              <a:rPr lang="en-US" sz="2400" dirty="0">
                <a:solidFill>
                  <a:srgbClr val="4E5E53"/>
                </a:solidFill>
                <a:latin typeface="Calibri" pitchFamily="34" charset="0"/>
                <a:ea typeface="Calibri" pitchFamily="34" charset="-122"/>
                <a:cs typeface="Calibri" pitchFamily="34" charset="-120"/>
              </a:rPr>
              <a:t> · </a:t>
            </a:r>
            <a:pPr indent="0" marL="0">
              <a:buNone/>
            </a:pPr>
            <a:r>
              <a:rPr lang="en-US" sz="2400" i="1" dirty="0">
                <a:solidFill>
                  <a:srgbClr val="4E5E53"/>
                </a:solidFill>
                <a:latin typeface="Calibri" pitchFamily="34" charset="0"/>
                <a:ea typeface="Calibri" pitchFamily="34" charset="-122"/>
                <a:cs typeface="Calibri" pitchFamily="34" charset="-120"/>
              </a:rPr>
              <a:t>the behavioural dynamics that influence execution</a:t>
            </a:r>
            <a:endParaRPr lang="en-US" sz="24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Principle 5  </a:t>
            </a:r>
            <a:pPr indent="0" marL="0">
              <a:buNone/>
            </a:pPr>
            <a:r>
              <a:rPr lang="en-US" sz="2400" dirty="0">
                <a:solidFill>
                  <a:srgbClr val="1F2A22"/>
                </a:solidFill>
                <a:latin typeface="Calibri" pitchFamily="34" charset="0"/>
                <a:ea typeface="Calibri" pitchFamily="34" charset="-122"/>
                <a:cs typeface="Calibri" pitchFamily="34" charset="-120"/>
              </a:rPr>
              <a:t>Execution Must Be Visible in Behaviour</a:t>
            </a:r>
            <a:pPr indent="0" marL="0">
              <a:buNone/>
            </a:pPr>
            <a:r>
              <a:rPr lang="en-US" sz="2400" dirty="0">
                <a:solidFill>
                  <a:srgbClr val="4E5E53"/>
                </a:solidFill>
                <a:latin typeface="Calibri" pitchFamily="34" charset="0"/>
                <a:ea typeface="Calibri" pitchFamily="34" charset="-122"/>
                <a:cs typeface="Calibri" pitchFamily="34" charset="-120"/>
              </a:rPr>
              <a:t> · </a:t>
            </a:r>
            <a:pPr indent="0" marL="0">
              <a:buNone/>
            </a:pPr>
            <a:r>
              <a:rPr lang="en-US" sz="2400" i="1" dirty="0">
                <a:solidFill>
                  <a:srgbClr val="4E5E53"/>
                </a:solidFill>
                <a:latin typeface="Calibri" pitchFamily="34" charset="0"/>
                <a:ea typeface="Calibri" pitchFamily="34" charset="-122"/>
                <a:cs typeface="Calibri" pitchFamily="34" charset="-120"/>
              </a:rPr>
              <a:t>the observable standard for alignment</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Principle 1 — Strategy Moves Through People</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Cognitive alignment</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Identify dominant decision biases at executive level</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Name how those biases shape the S2R® process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Establish shared decision principles that counter predictable distortions</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sp>
      <p:pic>
        <p:nvPicPr>
          <p:cNvPr id="10"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Emotional alignment</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Naming the current emotional state through which strategy is being experienced</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Joy, Sadness, Anger, Fear, Disgust, Surprise</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4" name="Text 10"/>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Alignment of the mind (cognition) and heart (emotion) is the first execution system.</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Principle 2 — Misalignment Fragments Effort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Chinese Whispers</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Intent mutates as it travels downward.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Clarification Debt</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60–80% of leadership time spent re-explaining, correcting, realigning.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Silent Disengagement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People comply outwardly but withdraw inwardly.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Low-alignment organisations experience 41% lower productivity and 48% higher turnover.</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Principle 3 — Alignment Must Be Designed</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OCEAVL Assessment</a:t>
            </a:r>
            <a:endParaRPr lang="en-US" sz="2600" dirty="0"/>
          </a:p>
        </p:txBody>
      </p:sp>
      <p:sp>
        <p:nvSpPr>
          <p:cNvPr id="7" name="Text 4"/>
          <p:cNvSpPr txBox="1"/>
          <p:nvPr/>
        </p:nvSpPr>
        <p:spPr>
          <a:xfrm>
            <a:off x="777240" y="2560320"/>
            <a:ext cx="4951476" cy="274320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Surfaces psychological tendencies influencing executive decision-making.</a:t>
            </a:r>
            <a:endParaRPr lang="en-US" sz="2400" dirty="0"/>
          </a:p>
        </p:txBody>
      </p:sp>
      <p:sp>
        <p:nvSpPr>
          <p:cNvPr id="8" name="Shape 5"/>
          <p:cNvSpPr/>
          <p:nvPr/>
        </p:nvSpPr>
        <p:spPr>
          <a:xfrm>
            <a:off x="6231636" y="1508760"/>
            <a:ext cx="5408676" cy="3931920"/>
          </a:xfrm>
          <a:prstGeom prst="roundRect">
            <a:avLst>
              <a:gd name="adj" fmla="val 2326"/>
            </a:avLst>
          </a:prstGeom>
          <a:solidFill>
            <a:srgbClr val="1A5C2C"/>
          </a:solidFill>
          <a:ln w="12700">
            <a:solidFill>
              <a:srgbClr val="1A5C2C"/>
            </a:solidFill>
            <a:prstDash val="solid"/>
          </a:ln>
        </p:spPr>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923544"/>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Emotional Climate Assessment</a:t>
            </a:r>
            <a:endParaRPr lang="en-US" sz="2600" dirty="0"/>
          </a:p>
        </p:txBody>
      </p:sp>
      <p:sp>
        <p:nvSpPr>
          <p:cNvPr id="12" name="Text 8"/>
          <p:cNvSpPr txBox="1"/>
          <p:nvPr/>
        </p:nvSpPr>
        <p:spPr>
          <a:xfrm>
            <a:off x="6460236" y="2752344"/>
            <a:ext cx="4951476" cy="255117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Identifies the prevailing state of being across six core emotional categories: Joy, Sadness, Anger, Fear, Disgust, Surprise.</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4" name="Text 10"/>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Alignment rarely emerges naturally.</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Principle 4 — Human Reactions Are Predictable</a:t>
            </a:r>
            <a:endParaRPr lang="en-US" sz="3600" dirty="0"/>
          </a:p>
        </p:txBody>
      </p:sp>
      <p:sp>
        <p:nvSpPr>
          <p:cNvPr id="3" name="Shape 1"/>
          <p:cNvSpPr/>
          <p:nvPr/>
        </p:nvSpPr>
        <p:spPr>
          <a:xfrm>
            <a:off x="548640" y="182118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81200"/>
            <a:ext cx="320040" cy="320040"/>
          </a:xfrm>
          <a:prstGeom prst="rect">
            <a:avLst/>
          </a:prstGeom>
        </p:spPr>
      </p:pic>
      <p:sp>
        <p:nvSpPr>
          <p:cNvPr id="5" name="Text 2"/>
          <p:cNvSpPr txBox="1"/>
          <p:nvPr/>
        </p:nvSpPr>
        <p:spPr>
          <a:xfrm>
            <a:off x="1508760" y="1508760"/>
            <a:ext cx="10131552" cy="126492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Reactions to strategic change follow predictable psychological patterns.</a:t>
            </a:r>
            <a:endParaRPr lang="en-US" sz="2400" dirty="0"/>
          </a:p>
        </p:txBody>
      </p:sp>
      <p:sp>
        <p:nvSpPr>
          <p:cNvPr id="6" name="Shape 3"/>
          <p:cNvSpPr/>
          <p:nvPr/>
        </p:nvSpPr>
        <p:spPr>
          <a:xfrm>
            <a:off x="548640" y="308610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246120"/>
            <a:ext cx="320040" cy="320040"/>
          </a:xfrm>
          <a:prstGeom prst="rect">
            <a:avLst/>
          </a:prstGeom>
        </p:spPr>
      </p:pic>
      <p:sp>
        <p:nvSpPr>
          <p:cNvPr id="8" name="Text 4"/>
          <p:cNvSpPr txBox="1"/>
          <p:nvPr/>
        </p:nvSpPr>
        <p:spPr>
          <a:xfrm>
            <a:off x="1508760" y="2773680"/>
            <a:ext cx="10131552" cy="126492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The human brain processes social change using the same threat circuitry as physical danger</a:t>
            </a:r>
            <a:endParaRPr lang="en-US" sz="2400" dirty="0"/>
          </a:p>
        </p:txBody>
      </p:sp>
      <p:sp>
        <p:nvSpPr>
          <p:cNvPr id="9" name="Shape 5"/>
          <p:cNvSpPr/>
          <p:nvPr/>
        </p:nvSpPr>
        <p:spPr>
          <a:xfrm>
            <a:off x="548640" y="435102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511040"/>
            <a:ext cx="320040" cy="320040"/>
          </a:xfrm>
          <a:prstGeom prst="rect">
            <a:avLst/>
          </a:prstGeom>
        </p:spPr>
      </p:pic>
      <p:sp>
        <p:nvSpPr>
          <p:cNvPr id="11" name="Text 6"/>
          <p:cNvSpPr txBox="1"/>
          <p:nvPr/>
        </p:nvSpPr>
        <p:spPr>
          <a:xfrm>
            <a:off x="1508760" y="4038600"/>
            <a:ext cx="10131552" cy="126492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Any new goal, system, or way of working is evaluated emotionally before it is evaluated rationally</a:t>
            </a:r>
            <a:endParaRPr lang="en-US" sz="2400" dirty="0"/>
          </a:p>
        </p:txBody>
      </p:sp>
      <p:sp>
        <p:nvSpPr>
          <p:cNvPr id="12" name="Shape 7"/>
          <p:cNvSpPr/>
          <p:nvPr/>
        </p:nvSpPr>
        <p:spPr>
          <a:xfrm>
            <a:off x="548640" y="5440680"/>
            <a:ext cx="11091672" cy="960120"/>
          </a:xfrm>
          <a:prstGeom prst="roundRect">
            <a:avLst>
              <a:gd name="adj" fmla="val 9524"/>
            </a:avLst>
          </a:prstGeom>
          <a:solidFill>
            <a:srgbClr val="0F3B1C"/>
          </a:solidFill>
          <a:ln w="12700">
            <a:solidFill>
              <a:srgbClr val="0F3B1C"/>
            </a:solidFill>
            <a:prstDash val="solid"/>
          </a:ln>
        </p:spPr>
      </p:sp>
      <p:sp>
        <p:nvSpPr>
          <p:cNvPr id="13" name="Text 8"/>
          <p:cNvSpPr txBox="1"/>
          <p:nvPr/>
        </p:nvSpPr>
        <p:spPr>
          <a:xfrm>
            <a:off x="822960" y="5440680"/>
            <a:ext cx="10607040" cy="96012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The SCARF Model (David Rock) explains five social conditions that trigger emotional responses during change.</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200" b="1" dirty="0">
                <a:solidFill>
                  <a:srgbClr val="1A5C2C"/>
                </a:solidFill>
                <a:latin typeface="Cambria" pitchFamily="34" charset="0"/>
                <a:ea typeface="Cambria" pitchFamily="34" charset="-122"/>
                <a:cs typeface="Cambria" pitchFamily="34" charset="-120"/>
              </a:rPr>
              <a:t>Principle 5 — Execution Must Be Visible in Behaviour</a:t>
            </a:r>
            <a:endParaRPr lang="en-US" sz="3200" dirty="0"/>
          </a:p>
        </p:txBody>
      </p:sp>
      <p:sp>
        <p:nvSpPr>
          <p:cNvPr id="3" name="Shape 1"/>
          <p:cNvSpPr/>
          <p:nvPr/>
        </p:nvSpPr>
        <p:spPr>
          <a:xfrm>
            <a:off x="548640" y="18516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011680"/>
            <a:ext cx="320040" cy="320040"/>
          </a:xfrm>
          <a:prstGeom prst="rect">
            <a:avLst/>
          </a:prstGeom>
        </p:spPr>
      </p:pic>
      <p:sp>
        <p:nvSpPr>
          <p:cNvPr id="5" name="Text 2"/>
          <p:cNvSpPr txBox="1"/>
          <p:nvPr/>
        </p:nvSpPr>
        <p:spPr>
          <a:xfrm>
            <a:off x="1508760" y="1508760"/>
            <a:ext cx="10131552" cy="132588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Strategic alignment ultimately becomes visible through behaviour.</a:t>
            </a:r>
            <a:endParaRPr lang="en-US" sz="2400" dirty="0"/>
          </a:p>
        </p:txBody>
      </p:sp>
      <p:sp>
        <p:nvSpPr>
          <p:cNvPr id="6" name="Shape 3"/>
          <p:cNvSpPr/>
          <p:nvPr/>
        </p:nvSpPr>
        <p:spPr>
          <a:xfrm>
            <a:off x="548640" y="31775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337560"/>
            <a:ext cx="320040" cy="320040"/>
          </a:xfrm>
          <a:prstGeom prst="rect">
            <a:avLst/>
          </a:prstGeom>
        </p:spPr>
      </p:pic>
      <p:sp>
        <p:nvSpPr>
          <p:cNvPr id="8" name="Text 4"/>
          <p:cNvSpPr txBox="1"/>
          <p:nvPr/>
        </p:nvSpPr>
        <p:spPr>
          <a:xfrm>
            <a:off x="1508760" y="2834640"/>
            <a:ext cx="10131552" cy="132588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Without observable behaviour, alignment remains theoretical.</a:t>
            </a:r>
            <a:endParaRPr lang="en-US" sz="2400" dirty="0"/>
          </a:p>
        </p:txBody>
      </p:sp>
      <p:sp>
        <p:nvSpPr>
          <p:cNvPr id="9" name="Shape 5"/>
          <p:cNvSpPr/>
          <p:nvPr/>
        </p:nvSpPr>
        <p:spPr>
          <a:xfrm>
            <a:off x="548640" y="450342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663440"/>
            <a:ext cx="320040" cy="320040"/>
          </a:xfrm>
          <a:prstGeom prst="rect">
            <a:avLst/>
          </a:prstGeom>
        </p:spPr>
      </p:pic>
      <p:sp>
        <p:nvSpPr>
          <p:cNvPr id="11" name="Text 6"/>
          <p:cNvSpPr txBox="1"/>
          <p:nvPr/>
        </p:nvSpPr>
        <p:spPr>
          <a:xfrm>
            <a:off x="1508760" y="4160520"/>
            <a:ext cx="10131552" cy="132588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With behavioural standards, alignment becomes visible, measurable, and sustainable.</a:t>
            </a:r>
            <a:endParaRPr lang="en-US" sz="2400" dirty="0"/>
          </a:p>
        </p:txBody>
      </p:sp>
      <p:sp>
        <p:nvSpPr>
          <p:cNvPr id="12" name="Shape 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3" name="Text 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Accountability, Commitment, Engagement, Integrity, Transparency</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000" b="1" dirty="0">
                <a:solidFill>
                  <a:srgbClr val="1A5C2C"/>
                </a:solidFill>
                <a:latin typeface="Cambria" pitchFamily="34" charset="0"/>
                <a:ea typeface="Cambria" pitchFamily="34" charset="-122"/>
                <a:cs typeface="Cambria" pitchFamily="34" charset="-120"/>
              </a:rPr>
              <a:t>1.3a · Change Management: The Event and the Transition</a:t>
            </a:r>
            <a:endParaRPr lang="en-US" sz="30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The event</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 change is an event.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It is announced on a date, and on that date the structure, the system or the target is different.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event belongs to the organisation.</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sp>
      <p:pic>
        <p:nvPicPr>
          <p:cNvPr id="10"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The transition</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Letting go of a familiar practice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Working out what the new one asks of them</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Becoming able to do it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transition belongs to the person.</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4" name="Text 10"/>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Change management is the leadership discipline of moving people from current practice to the practice the strategy requires.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1.3b · Change Management: The 4 Checks of Mind, Heart, Hands and Habit</a:t>
            </a:r>
            <a:endParaRPr lang="en-US" sz="2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Mind · 3S · Explain  </a:t>
            </a:r>
            <a:pPr indent="0" marL="0">
              <a:buNone/>
            </a:pPr>
            <a:r>
              <a:rPr lang="en-US" sz="2400" dirty="0">
                <a:solidFill>
                  <a:srgbClr val="1F2A22"/>
                </a:solidFill>
                <a:latin typeface="Calibri" pitchFamily="34" charset="0"/>
                <a:ea typeface="Calibri" pitchFamily="34" charset="-122"/>
                <a:cs typeface="Calibri" pitchFamily="34" charset="-120"/>
              </a:rPr>
              <a:t>They understand the change, why it matters and what they do differently.</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Heart · SCARF · Involve  </a:t>
            </a:r>
            <a:pPr indent="0" marL="0">
              <a:buNone/>
            </a:pPr>
            <a:r>
              <a:rPr lang="en-US" sz="2400" dirty="0">
                <a:solidFill>
                  <a:srgbClr val="1F2A22"/>
                </a:solidFill>
                <a:latin typeface="Calibri" pitchFamily="34" charset="0"/>
                <a:ea typeface="Calibri" pitchFamily="34" charset="-122"/>
                <a:cs typeface="Calibri" pitchFamily="34" charset="-120"/>
              </a:rPr>
              <a:t>They want it to succeed.</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Hands · STAT · Equip  </a:t>
            </a:r>
            <a:pPr indent="0" marL="0">
              <a:buNone/>
            </a:pPr>
            <a:r>
              <a:rPr lang="en-US" sz="2400" dirty="0">
                <a:solidFill>
                  <a:srgbClr val="1F2A22"/>
                </a:solidFill>
                <a:latin typeface="Calibri" pitchFamily="34" charset="0"/>
                <a:ea typeface="Calibri" pitchFamily="34" charset="-122"/>
                <a:cs typeface="Calibri" pitchFamily="34" charset="-120"/>
              </a:rPr>
              <a:t>They are able to do it.</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Habit · ACE-IT · Reinforce  </a:t>
            </a:r>
            <a:pPr indent="0" marL="0">
              <a:buNone/>
            </a:pPr>
            <a:r>
              <a:rPr lang="en-US" sz="2400" dirty="0">
                <a:solidFill>
                  <a:srgbClr val="1F2A22"/>
                </a:solidFill>
                <a:latin typeface="Calibri" pitchFamily="34" charset="0"/>
                <a:ea typeface="Calibri" pitchFamily="34" charset="-122"/>
                <a:cs typeface="Calibri" pitchFamily="34" charset="-120"/>
              </a:rPr>
              <a:t>It has become the way they work.</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0"/>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 change stalls at the first check it fails.</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1.4 · The 3S Check: Shift, Stake, Step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Shift</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is changing?”</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Stake</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do we gain if we change, and what do we lose if we stay as we are?”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Step</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“What do I do differently?”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Mind passes when the people affected can say three things about the change in their own words.</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000" b="1" dirty="0">
                <a:solidFill>
                  <a:srgbClr val="1A5C2C"/>
                </a:solidFill>
                <a:latin typeface="Cambria" pitchFamily="34" charset="0"/>
                <a:ea typeface="Cambria" pitchFamily="34" charset="-122"/>
                <a:cs typeface="Cambria" pitchFamily="34" charset="-120"/>
              </a:rPr>
              <a:t>1.5 · The SCARF Model: Five Triggers of Human Resistance</a:t>
            </a:r>
            <a:endParaRPr lang="en-US" sz="30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Status  </a:t>
            </a:r>
            <a:pPr indent="0" marL="0">
              <a:buNone/>
            </a:pPr>
            <a:r>
              <a:rPr lang="en-US" sz="2600" dirty="0">
                <a:solidFill>
                  <a:srgbClr val="1F2A22"/>
                </a:solidFill>
                <a:latin typeface="Calibri" pitchFamily="34" charset="0"/>
                <a:ea typeface="Calibri" pitchFamily="34" charset="-122"/>
                <a:cs typeface="Calibri" pitchFamily="34" charset="-120"/>
              </a:rPr>
              <a:t>“Will this reduce my importance?”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Certainty  </a:t>
            </a:r>
            <a:pPr indent="0" marL="0">
              <a:buNone/>
            </a:pPr>
            <a:r>
              <a:rPr lang="en-US" sz="2600" dirty="0">
                <a:solidFill>
                  <a:srgbClr val="1F2A22"/>
                </a:solidFill>
                <a:latin typeface="Calibri" pitchFamily="34" charset="0"/>
                <a:ea typeface="Calibri" pitchFamily="34" charset="-122"/>
                <a:cs typeface="Calibri" pitchFamily="34" charset="-120"/>
              </a:rPr>
              <a:t>“Do I know what success looks like?”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Autonomy  </a:t>
            </a:r>
            <a:pPr indent="0" marL="0">
              <a:buNone/>
            </a:pPr>
            <a:r>
              <a:rPr lang="en-US" sz="2600" dirty="0">
                <a:solidFill>
                  <a:srgbClr val="1F2A22"/>
                </a:solidFill>
                <a:latin typeface="Calibri" pitchFamily="34" charset="0"/>
                <a:ea typeface="Calibri" pitchFamily="34" charset="-122"/>
                <a:cs typeface="Calibri" pitchFamily="34" charset="-120"/>
              </a:rPr>
              <a:t>“Am I losing control of my work?”</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Relatedness  </a:t>
            </a:r>
            <a:pPr indent="0" marL="0">
              <a:buNone/>
            </a:pPr>
            <a:r>
              <a:rPr lang="en-US" sz="2600" dirty="0">
                <a:solidFill>
                  <a:srgbClr val="1F2A22"/>
                </a:solidFill>
                <a:latin typeface="Calibri" pitchFamily="34" charset="0"/>
                <a:ea typeface="Calibri" pitchFamily="34" charset="-122"/>
                <a:cs typeface="Calibri" pitchFamily="34" charset="-120"/>
              </a:rPr>
              <a:t>“Do I still belong here?”</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Fairness  </a:t>
            </a:r>
            <a:pPr indent="0" marL="0">
              <a:buNone/>
            </a:pPr>
            <a:r>
              <a:rPr lang="en-US" sz="2600" dirty="0">
                <a:solidFill>
                  <a:srgbClr val="1F2A22"/>
                </a:solidFill>
                <a:latin typeface="Calibri" pitchFamily="34" charset="0"/>
                <a:ea typeface="Calibri" pitchFamily="34" charset="-122"/>
                <a:cs typeface="Calibri" pitchFamily="34" charset="-120"/>
              </a:rPr>
              <a:t>“Is this being applied equitably?”</a:t>
            </a:r>
            <a:endParaRPr lang="en-US" sz="2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200" b="1" dirty="0">
                <a:solidFill>
                  <a:srgbClr val="1A5C2C"/>
                </a:solidFill>
                <a:latin typeface="Cambria" pitchFamily="34" charset="0"/>
                <a:ea typeface="Cambria" pitchFamily="34" charset="-122"/>
                <a:cs typeface="Cambria" pitchFamily="34" charset="-120"/>
              </a:rPr>
              <a:t>1.6 · The STAT Check: Skill, Time, Authority, Tools</a:t>
            </a:r>
            <a:endParaRPr lang="en-US" sz="32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Skill</a:t>
            </a:r>
            <a:endParaRPr lang="en-US" sz="2800" dirty="0"/>
          </a:p>
        </p:txBody>
      </p:sp>
      <p:sp>
        <p:nvSpPr>
          <p:cNvPr id="7" name="Text 4"/>
          <p:cNvSpPr txBox="1"/>
          <p:nvPr/>
        </p:nvSpPr>
        <p:spPr>
          <a:xfrm>
            <a:off x="777240" y="2560320"/>
            <a:ext cx="4951476" cy="6400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“Do they know how to do it?”</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Time</a:t>
            </a:r>
            <a:endParaRPr lang="en-US" sz="2800" dirty="0"/>
          </a:p>
        </p:txBody>
      </p:sp>
      <p:sp>
        <p:nvSpPr>
          <p:cNvPr id="12" name="Text 8"/>
          <p:cNvSpPr txBox="1"/>
          <p:nvPr/>
        </p:nvSpPr>
        <p:spPr>
          <a:xfrm>
            <a:off x="6460236" y="2560320"/>
            <a:ext cx="4951476" cy="6400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“Do they have the hours to do it?”</a:t>
            </a:r>
            <a:endParaRPr lang="en-US" sz="2400" dirty="0"/>
          </a:p>
        </p:txBody>
      </p:sp>
      <p:sp>
        <p:nvSpPr>
          <p:cNvPr id="13" name="Shape 9"/>
          <p:cNvSpPr/>
          <p:nvPr/>
        </p:nvSpPr>
        <p:spPr>
          <a:xfrm>
            <a:off x="548640" y="3611880"/>
            <a:ext cx="5408676" cy="1828800"/>
          </a:xfrm>
          <a:prstGeom prst="roundRect">
            <a:avLst>
              <a:gd name="adj" fmla="val 5000"/>
            </a:avLst>
          </a:prstGeom>
          <a:solidFill>
            <a:srgbClr val="1A5C2C"/>
          </a:solidFill>
          <a:ln w="12700">
            <a:solidFill>
              <a:srgbClr val="1A5C2C"/>
            </a:solidFill>
            <a:prstDash val="solid"/>
          </a:ln>
        </p:spPr>
      </p:sp>
      <p:sp>
        <p:nvSpPr>
          <p:cNvPr id="14" name="Shape 10"/>
          <p:cNvSpPr/>
          <p:nvPr/>
        </p:nvSpPr>
        <p:spPr>
          <a:xfrm>
            <a:off x="777240" y="384048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937260" y="4000500"/>
            <a:ext cx="320040" cy="320040"/>
          </a:xfrm>
          <a:prstGeom prst="rect">
            <a:avLst/>
          </a:prstGeom>
        </p:spPr>
      </p:pic>
      <p:sp>
        <p:nvSpPr>
          <p:cNvPr id="16" name="Text 11"/>
          <p:cNvSpPr txBox="1"/>
          <p:nvPr/>
        </p:nvSpPr>
        <p:spPr>
          <a:xfrm>
            <a:off x="1600200" y="3794760"/>
            <a:ext cx="4128516" cy="73152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Authority</a:t>
            </a:r>
            <a:endParaRPr lang="en-US" sz="2800" dirty="0"/>
          </a:p>
        </p:txBody>
      </p:sp>
      <p:sp>
        <p:nvSpPr>
          <p:cNvPr id="17" name="Text 12"/>
          <p:cNvSpPr txBox="1"/>
          <p:nvPr/>
        </p:nvSpPr>
        <p:spPr>
          <a:xfrm>
            <a:off x="777240" y="4663440"/>
            <a:ext cx="4951476" cy="6400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“Are they allowed to decide and act?”</a:t>
            </a:r>
            <a:endParaRPr lang="en-US" sz="2400" dirty="0"/>
          </a:p>
        </p:txBody>
      </p:sp>
      <p:sp>
        <p:nvSpPr>
          <p:cNvPr id="18" name="Shape 13"/>
          <p:cNvSpPr/>
          <p:nvPr/>
        </p:nvSpPr>
        <p:spPr>
          <a:xfrm>
            <a:off x="6231636" y="3611880"/>
            <a:ext cx="5408676" cy="1828800"/>
          </a:xfrm>
          <a:prstGeom prst="roundRect">
            <a:avLst>
              <a:gd name="adj" fmla="val 5000"/>
            </a:avLst>
          </a:prstGeom>
          <a:solidFill>
            <a:srgbClr val="1A5C2C"/>
          </a:solidFill>
          <a:ln w="12700">
            <a:solidFill>
              <a:srgbClr val="1A5C2C"/>
            </a:solidFill>
            <a:prstDash val="solid"/>
          </a:ln>
        </p:spPr>
      </p:sp>
      <p:sp>
        <p:nvSpPr>
          <p:cNvPr id="19" name="Shape 14"/>
          <p:cNvSpPr/>
          <p:nvPr/>
        </p:nvSpPr>
        <p:spPr>
          <a:xfrm>
            <a:off x="6460236" y="3840480"/>
            <a:ext cx="640080" cy="640080"/>
          </a:xfrm>
          <a:prstGeom prst="ellipse">
            <a:avLst/>
          </a:prstGeom>
          <a:solidFill>
            <a:srgbClr val="C6A24C"/>
          </a:solidFill>
          <a:ln w="12700">
            <a:solidFill>
              <a:srgbClr val="C6A24C"/>
            </a:solidFill>
            <a:prstDash val="solid"/>
          </a:ln>
        </p:spPr>
      </p:sp>
      <p:pic>
        <p:nvPicPr>
          <p:cNvPr id="20" name="Image 3" descr="preencoded.png">    </p:cNvPr>
          <p:cNvPicPr>
            <a:picLocks noChangeAspect="1"/>
          </p:cNvPicPr>
          <p:nvPr/>
        </p:nvPicPr>
        <p:blipFill>
          <a:blip r:embed="rId4"/>
          <a:stretch>
            <a:fillRect/>
          </a:stretch>
        </p:blipFill>
        <p:spPr>
          <a:xfrm>
            <a:off x="6620256" y="4000500"/>
            <a:ext cx="320040" cy="320040"/>
          </a:xfrm>
          <a:prstGeom prst="rect">
            <a:avLst/>
          </a:prstGeom>
        </p:spPr>
      </p:pic>
      <p:sp>
        <p:nvSpPr>
          <p:cNvPr id="21" name="Text 15"/>
          <p:cNvSpPr txBox="1"/>
          <p:nvPr/>
        </p:nvSpPr>
        <p:spPr>
          <a:xfrm>
            <a:off x="7283196" y="3794760"/>
            <a:ext cx="4128516" cy="73152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Tools</a:t>
            </a:r>
            <a:endParaRPr lang="en-US" sz="2800" dirty="0"/>
          </a:p>
        </p:txBody>
      </p:sp>
      <p:sp>
        <p:nvSpPr>
          <p:cNvPr id="22" name="Text 16"/>
          <p:cNvSpPr txBox="1"/>
          <p:nvPr/>
        </p:nvSpPr>
        <p:spPr>
          <a:xfrm>
            <a:off x="6460236" y="4663440"/>
            <a:ext cx="4951476" cy="6400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“Do they have the systems and resources?”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Hands passes when all four elements are in place.</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1.7 · ACE-IT: The Observable Behaviour Standard</a:t>
            </a:r>
            <a:endParaRPr lang="en-US" sz="3600" dirty="0"/>
          </a:p>
        </p:txBody>
      </p:sp>
      <p:sp>
        <p:nvSpPr>
          <p:cNvPr id="3" name="Shape 1"/>
          <p:cNvSpPr/>
          <p:nvPr/>
        </p:nvSpPr>
        <p:spPr>
          <a:xfrm>
            <a:off x="548640" y="1628089"/>
            <a:ext cx="556870" cy="55687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87857" y="1767307"/>
            <a:ext cx="278435" cy="278435"/>
          </a:xfrm>
          <a:prstGeom prst="rect">
            <a:avLst/>
          </a:prstGeom>
        </p:spPr>
      </p:pic>
      <p:sp>
        <p:nvSpPr>
          <p:cNvPr id="5" name="Text 2"/>
          <p:cNvSpPr txBox="1"/>
          <p:nvPr/>
        </p:nvSpPr>
        <p:spPr>
          <a:xfrm>
            <a:off x="1425550" y="1508760"/>
            <a:ext cx="10214762" cy="79552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Accountability  </a:t>
            </a:r>
            <a:pPr indent="0" marL="0">
              <a:buNone/>
            </a:pPr>
            <a:r>
              <a:rPr lang="en-US" sz="2400" dirty="0">
                <a:solidFill>
                  <a:srgbClr val="1F2A22"/>
                </a:solidFill>
                <a:latin typeface="Calibri" pitchFamily="34" charset="0"/>
                <a:ea typeface="Calibri" pitchFamily="34" charset="-122"/>
                <a:cs typeface="Calibri" pitchFamily="34" charset="-120"/>
              </a:rPr>
              <a:t>Taking full ownership for results.</a:t>
            </a:r>
            <a:endParaRPr lang="en-US" sz="2400" dirty="0"/>
          </a:p>
        </p:txBody>
      </p:sp>
      <p:sp>
        <p:nvSpPr>
          <p:cNvPr id="6" name="Shape 3"/>
          <p:cNvSpPr/>
          <p:nvPr/>
        </p:nvSpPr>
        <p:spPr>
          <a:xfrm>
            <a:off x="548640" y="2423617"/>
            <a:ext cx="556870" cy="55687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87857" y="2562835"/>
            <a:ext cx="278435" cy="278435"/>
          </a:xfrm>
          <a:prstGeom prst="rect">
            <a:avLst/>
          </a:prstGeom>
        </p:spPr>
      </p:pic>
      <p:sp>
        <p:nvSpPr>
          <p:cNvPr id="8" name="Text 4"/>
          <p:cNvSpPr txBox="1"/>
          <p:nvPr/>
        </p:nvSpPr>
        <p:spPr>
          <a:xfrm>
            <a:off x="1425550" y="2304288"/>
            <a:ext cx="10214762" cy="79552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Commitment  </a:t>
            </a:r>
            <a:pPr indent="0" marL="0">
              <a:buNone/>
            </a:pPr>
            <a:r>
              <a:rPr lang="en-US" sz="2400" dirty="0">
                <a:solidFill>
                  <a:srgbClr val="1F2A22"/>
                </a:solidFill>
                <a:latin typeface="Calibri" pitchFamily="34" charset="0"/>
                <a:ea typeface="Calibri" pitchFamily="34" charset="-122"/>
                <a:cs typeface="Calibri" pitchFamily="34" charset="-120"/>
              </a:rPr>
              <a:t>Staying anchored to agreed strategic intent even when pressure rises.</a:t>
            </a:r>
            <a:endParaRPr lang="en-US" sz="2400" dirty="0"/>
          </a:p>
        </p:txBody>
      </p:sp>
      <p:sp>
        <p:nvSpPr>
          <p:cNvPr id="9" name="Shape 5"/>
          <p:cNvSpPr/>
          <p:nvPr/>
        </p:nvSpPr>
        <p:spPr>
          <a:xfrm>
            <a:off x="548640" y="3219145"/>
            <a:ext cx="556870" cy="55687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87857" y="3358363"/>
            <a:ext cx="278435" cy="278435"/>
          </a:xfrm>
          <a:prstGeom prst="rect">
            <a:avLst/>
          </a:prstGeom>
        </p:spPr>
      </p:pic>
      <p:sp>
        <p:nvSpPr>
          <p:cNvPr id="11" name="Text 6"/>
          <p:cNvSpPr txBox="1"/>
          <p:nvPr/>
        </p:nvSpPr>
        <p:spPr>
          <a:xfrm>
            <a:off x="1425550" y="3099816"/>
            <a:ext cx="10214762" cy="79552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Engagement  </a:t>
            </a:r>
            <a:pPr indent="0" marL="0">
              <a:buNone/>
            </a:pPr>
            <a:r>
              <a:rPr lang="en-US" sz="2400" dirty="0">
                <a:solidFill>
                  <a:srgbClr val="1F2A22"/>
                </a:solidFill>
                <a:latin typeface="Calibri" pitchFamily="34" charset="0"/>
                <a:ea typeface="Calibri" pitchFamily="34" charset="-122"/>
                <a:cs typeface="Calibri" pitchFamily="34" charset="-120"/>
              </a:rPr>
              <a:t>Actively involving self and others in sense-making, dialogue, and execution.</a:t>
            </a:r>
            <a:endParaRPr lang="en-US" sz="2400" dirty="0"/>
          </a:p>
        </p:txBody>
      </p:sp>
      <p:sp>
        <p:nvSpPr>
          <p:cNvPr id="12" name="Shape 7"/>
          <p:cNvSpPr/>
          <p:nvPr/>
        </p:nvSpPr>
        <p:spPr>
          <a:xfrm>
            <a:off x="548640" y="4014673"/>
            <a:ext cx="556870" cy="55687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87857" y="4153891"/>
            <a:ext cx="278435" cy="278435"/>
          </a:xfrm>
          <a:prstGeom prst="rect">
            <a:avLst/>
          </a:prstGeom>
        </p:spPr>
      </p:pic>
      <p:sp>
        <p:nvSpPr>
          <p:cNvPr id="14" name="Text 8"/>
          <p:cNvSpPr txBox="1"/>
          <p:nvPr/>
        </p:nvSpPr>
        <p:spPr>
          <a:xfrm>
            <a:off x="1425550" y="3895344"/>
            <a:ext cx="10214762" cy="79552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Integrity  </a:t>
            </a:r>
            <a:pPr indent="0" marL="0">
              <a:buNone/>
            </a:pPr>
            <a:r>
              <a:rPr lang="en-US" sz="2400" dirty="0">
                <a:solidFill>
                  <a:srgbClr val="1F2A22"/>
                </a:solidFill>
                <a:latin typeface="Calibri" pitchFamily="34" charset="0"/>
                <a:ea typeface="Calibri" pitchFamily="34" charset="-122"/>
                <a:cs typeface="Calibri" pitchFamily="34" charset="-120"/>
              </a:rPr>
              <a:t>Acting consistently with values, facts, and truth — even when inconvenient.</a:t>
            </a:r>
            <a:endParaRPr lang="en-US" sz="2400" dirty="0"/>
          </a:p>
        </p:txBody>
      </p:sp>
      <p:sp>
        <p:nvSpPr>
          <p:cNvPr id="15" name="Shape 9"/>
          <p:cNvSpPr/>
          <p:nvPr/>
        </p:nvSpPr>
        <p:spPr>
          <a:xfrm>
            <a:off x="548640" y="4810201"/>
            <a:ext cx="556870" cy="55687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87857" y="4949419"/>
            <a:ext cx="278435" cy="278435"/>
          </a:xfrm>
          <a:prstGeom prst="rect">
            <a:avLst/>
          </a:prstGeom>
        </p:spPr>
      </p:pic>
      <p:sp>
        <p:nvSpPr>
          <p:cNvPr id="17" name="Text 10"/>
          <p:cNvSpPr txBox="1"/>
          <p:nvPr/>
        </p:nvSpPr>
        <p:spPr>
          <a:xfrm>
            <a:off x="1425550" y="4690872"/>
            <a:ext cx="10214762" cy="79552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Transparency  </a:t>
            </a:r>
            <a:pPr indent="0" marL="0">
              <a:buNone/>
            </a:pPr>
            <a:r>
              <a:rPr lang="en-US" sz="2400" dirty="0">
                <a:solidFill>
                  <a:srgbClr val="1F2A22"/>
                </a:solidFill>
                <a:latin typeface="Calibri" pitchFamily="34" charset="0"/>
                <a:ea typeface="Calibri" pitchFamily="34" charset="-122"/>
                <a:cs typeface="Calibri" pitchFamily="34" charset="-120"/>
              </a:rPr>
              <a:t>Making reasoning, progress, and constraints visible to all stakeholders.</a:t>
            </a:r>
            <a:endParaRPr lang="en-US" sz="2400" dirty="0"/>
          </a:p>
        </p:txBody>
      </p:sp>
      <p:sp>
        <p:nvSpPr>
          <p:cNvPr id="18"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These five behaviours are what hold a new practice in place.</a:t>
            </a:r>
            <a:endParaRPr lang="en-US" sz="24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1 Reflections · 1.1 to 1.3</a:t>
            </a:r>
            <a:endParaRPr lang="en-US" sz="3600" dirty="0"/>
          </a:p>
        </p:txBody>
      </p:sp>
      <p:pic>
        <p:nvPicPr>
          <p:cNvPr id="3" name="Reflection 1.1" descr="1.1 Reflection: In your current role, which filter (Mind or Heart) tends to shape your first response to a new strategic priority? What are the implications?"/>
          <p:cNvPicPr>
            <a:picLocks noChangeAspect="1"/>
          </p:cNvPicPr>
          <p:nvPr/>
        </p:nvPicPr>
        <p:blipFill>
          <a:blip r:embed="rId2"/>
          <a:stretch>
            <a:fillRect/>
          </a:stretch>
        </p:blipFill>
        <p:spPr>
          <a:xfrm>
            <a:off x="1691640" y="1572768"/>
            <a:ext cx="9921240" cy="1023394"/>
          </a:xfrm>
          <a:prstGeom prst="rect">
            <a:avLst/>
          </a:prstGeom>
        </p:spPr>
      </p:pic>
      <p:sp>
        <p:nvSpPr>
          <p:cNvPr id="4" name="Part 1.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1.1</a:t>
            </a:r>
          </a:p>
        </p:txBody>
      </p:sp>
      <p:pic>
        <p:nvPicPr>
          <p:cNvPr id="5" name="Reflection 1.2" descr="1.2 Reflection: Which of the Five Principles describes the most critical gap in your leadership team right now? What is the evidence for this?"/>
          <p:cNvPicPr>
            <a:picLocks noChangeAspect="1"/>
          </p:cNvPicPr>
          <p:nvPr/>
        </p:nvPicPr>
        <p:blipFill>
          <a:blip r:embed="rId3"/>
          <a:stretch>
            <a:fillRect/>
          </a:stretch>
        </p:blipFill>
        <p:spPr>
          <a:xfrm>
            <a:off x="1691640" y="2888770"/>
            <a:ext cx="9921240" cy="1023394"/>
          </a:xfrm>
          <a:prstGeom prst="rect">
            <a:avLst/>
          </a:prstGeom>
        </p:spPr>
      </p:pic>
      <p:sp>
        <p:nvSpPr>
          <p:cNvPr id="6" name="Part 1.2"/>
          <p:cNvSpPr/>
          <p:nvPr/>
        </p:nvSpPr>
        <p:spPr>
          <a:xfrm>
            <a:off x="548640" y="296612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1.2</a:t>
            </a:r>
          </a:p>
        </p:txBody>
      </p:sp>
      <p:pic>
        <p:nvPicPr>
          <p:cNvPr id="7" name="Reflection 1.3" descr="1.3 Reflection — The event and the transition: Write down one change your strategy requires of a named group. You will carry this change through the rest of the unit. On the day it was announced, how far through their own transition were the leaders, and how far were the people affected?"/>
          <p:cNvPicPr>
            <a:picLocks noChangeAspect="1"/>
          </p:cNvPicPr>
          <p:nvPr/>
        </p:nvPicPr>
        <p:blipFill>
          <a:blip r:embed="rId4"/>
          <a:stretch>
            <a:fillRect/>
          </a:stretch>
        </p:blipFill>
        <p:spPr>
          <a:xfrm>
            <a:off x="1691640" y="4204772"/>
            <a:ext cx="9921240" cy="1208174"/>
          </a:xfrm>
          <a:prstGeom prst="rect">
            <a:avLst/>
          </a:prstGeom>
        </p:spPr>
      </p:pic>
      <p:sp>
        <p:nvSpPr>
          <p:cNvPr id="8" name="Part 1.3"/>
          <p:cNvSpPr/>
          <p:nvPr/>
        </p:nvSpPr>
        <p:spPr>
          <a:xfrm>
            <a:off x="548640" y="4374518"/>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1.3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1 Reflections · 1.4 to 1.7</a:t>
            </a:r>
            <a:endParaRPr lang="en-US" sz="3600" dirty="0"/>
          </a:p>
        </p:txBody>
      </p:sp>
      <p:pic>
        <p:nvPicPr>
          <p:cNvPr id="3" name="Reflection 1.4" descr="1.4 Reflection — The 3S Check: Write the Shift, the Stake and the Step for the change you are carrying through this unit. Which of the three would your people find hardest to say back, and why?"/>
          <p:cNvPicPr>
            <a:picLocks noChangeAspect="1"/>
          </p:cNvPicPr>
          <p:nvPr/>
        </p:nvPicPr>
        <p:blipFill>
          <a:blip r:embed="rId2"/>
          <a:stretch>
            <a:fillRect/>
          </a:stretch>
        </p:blipFill>
        <p:spPr>
          <a:xfrm>
            <a:off x="1691640" y="1572768"/>
            <a:ext cx="9921240" cy="1023394"/>
          </a:xfrm>
          <a:prstGeom prst="rect">
            <a:avLst/>
          </a:prstGeom>
        </p:spPr>
      </p:pic>
      <p:sp>
        <p:nvSpPr>
          <p:cNvPr id="4" name="Part 1.4"/>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1.4</a:t>
            </a:r>
          </a:p>
        </p:txBody>
      </p:sp>
      <p:pic>
        <p:nvPicPr>
          <p:cNvPr id="5" name="Reflection 1.5" descr="1.5 Reflection: Which SCARF trigger is most frequently activated in your organisation during strategy implementation? What is the observable evidence? What counter-strategy would address the root cause?"/>
          <p:cNvPicPr>
            <a:picLocks noChangeAspect="1"/>
          </p:cNvPicPr>
          <p:nvPr/>
        </p:nvPicPr>
        <p:blipFill>
          <a:blip r:embed="rId3"/>
          <a:stretch>
            <a:fillRect/>
          </a:stretch>
        </p:blipFill>
        <p:spPr>
          <a:xfrm>
            <a:off x="1691640" y="2888770"/>
            <a:ext cx="9921240" cy="1023394"/>
          </a:xfrm>
          <a:prstGeom prst="rect">
            <a:avLst/>
          </a:prstGeom>
        </p:spPr>
      </p:pic>
      <p:sp>
        <p:nvSpPr>
          <p:cNvPr id="6" name="Part 1.5"/>
          <p:cNvSpPr/>
          <p:nvPr/>
        </p:nvSpPr>
        <p:spPr>
          <a:xfrm>
            <a:off x="548640" y="296612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1.5</a:t>
            </a:r>
          </a:p>
        </p:txBody>
      </p:sp>
      <p:pic>
        <p:nvPicPr>
          <p:cNvPr id="7" name="Reflection 1.6" descr="1.6 Reflection — The STAT Check: Run STAT for the change you are carrying through this unit. Which element is missing for the people it affects most? What is your evidence, and what is yours to supply?"/>
          <p:cNvPicPr>
            <a:picLocks noChangeAspect="1"/>
          </p:cNvPicPr>
          <p:nvPr/>
        </p:nvPicPr>
        <p:blipFill>
          <a:blip r:embed="rId4"/>
          <a:stretch>
            <a:fillRect/>
          </a:stretch>
        </p:blipFill>
        <p:spPr>
          <a:xfrm>
            <a:off x="1691640" y="4204772"/>
            <a:ext cx="9921240" cy="1023394"/>
          </a:xfrm>
          <a:prstGeom prst="rect">
            <a:avLst/>
          </a:prstGeom>
        </p:spPr>
      </p:pic>
      <p:sp>
        <p:nvSpPr>
          <p:cNvPr id="8" name="Part 1.6"/>
          <p:cNvSpPr/>
          <p:nvPr/>
        </p:nvSpPr>
        <p:spPr>
          <a:xfrm>
            <a:off x="548640" y="4282129"/>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1.6</a:t>
            </a:r>
          </a:p>
        </p:txBody>
      </p:sp>
      <p:pic>
        <p:nvPicPr>
          <p:cNvPr id="9" name="Reflection 1.7" descr="1.7 Reflection: If you audited your last leadership review against the ACE-IT behaviours — where would you find the biggest gap between the ideal and the observable? What one behavioural change would create the most impact?"/>
          <p:cNvPicPr>
            <a:picLocks noChangeAspect="1"/>
          </p:cNvPicPr>
          <p:nvPr/>
        </p:nvPicPr>
        <p:blipFill>
          <a:blip r:embed="rId5"/>
          <a:stretch>
            <a:fillRect/>
          </a:stretch>
        </p:blipFill>
        <p:spPr>
          <a:xfrm>
            <a:off x="1691640" y="5520774"/>
            <a:ext cx="9921240" cy="1023394"/>
          </a:xfrm>
          <a:prstGeom prst="rect">
            <a:avLst/>
          </a:prstGeom>
        </p:spPr>
      </p:pic>
      <p:sp>
        <p:nvSpPr>
          <p:cNvPr id="10" name="Part 1.7"/>
          <p:cNvSpPr/>
          <p:nvPr/>
        </p:nvSpPr>
        <p:spPr>
          <a:xfrm>
            <a:off x="548640" y="559813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1.7</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Does Heart &amp; Mind Alignment Determine Execution Outcomes?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why shared understanding and commitment convert strategy into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commitment from compliance and explain why change delivers value only when it is adopted.</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2.1 · The Ignition Point of Strategy Execution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“This matters to me. I am willing to invest energy in making this succeed.”</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Until that moment occurs across the organisation, strategy remains theoretical.</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Three Foundational Logics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859536"/>
          </a:xfrm>
          <a:prstGeom prst="rect">
            <a:avLst/>
          </a:prstGeom>
          <a:noFill/>
          <a:ln/>
        </p:spPr>
        <p:txBody>
          <a:bodyPr wrap="square" lIns="0" tIns="0" rIns="0" bIns="0" rtlCol="0" anchor="t"/>
          <a:lstStyle/>
          <a:p>
            <a:pPr indent="0" marL="0">
              <a:buNone/>
            </a:pPr>
            <a:r>
              <a:rPr lang="en-US" sz="2400" b="1" dirty="0">
                <a:solidFill>
                  <a:srgbClr val="1A5C2C"/>
                </a:solidFill>
                <a:latin typeface="Cambria" pitchFamily="34" charset="0"/>
                <a:ea typeface="Cambria" pitchFamily="34" charset="-122"/>
                <a:cs typeface="Cambria" pitchFamily="34" charset="-120"/>
              </a:rPr>
              <a:t>I. Potential vs. Kinetic Energy Logic</a:t>
            </a:r>
            <a:endParaRPr lang="en-US" sz="2400" dirty="0"/>
          </a:p>
        </p:txBody>
      </p:sp>
      <p:sp>
        <p:nvSpPr>
          <p:cNvPr id="7" name="Text 4"/>
          <p:cNvSpPr txBox="1"/>
          <p:nvPr/>
        </p:nvSpPr>
        <p:spPr>
          <a:xfrm>
            <a:off x="777240" y="3511296"/>
            <a:ext cx="3057144" cy="179222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organisation does not move until people decide to move it.</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859536"/>
          </a:xfrm>
          <a:prstGeom prst="rect">
            <a:avLst/>
          </a:prstGeom>
          <a:noFill/>
          <a:ln/>
        </p:spPr>
        <p:txBody>
          <a:bodyPr wrap="square" lIns="0" tIns="0" rIns="0" bIns="0" rtlCol="0" anchor="t"/>
          <a:lstStyle/>
          <a:p>
            <a:pPr indent="0" marL="0">
              <a:buNone/>
            </a:pPr>
            <a:r>
              <a:rPr lang="en-US" sz="2400" b="1" dirty="0">
                <a:solidFill>
                  <a:srgbClr val="1A5C2C"/>
                </a:solidFill>
                <a:latin typeface="Cambria" pitchFamily="34" charset="0"/>
                <a:ea typeface="Cambria" pitchFamily="34" charset="-122"/>
                <a:cs typeface="Cambria" pitchFamily="34" charset="-120"/>
              </a:rPr>
              <a:t>II. Compliance vs. Commitment Logic</a:t>
            </a:r>
            <a:endParaRPr lang="en-US" sz="2400" dirty="0"/>
          </a:p>
        </p:txBody>
      </p:sp>
      <p:sp>
        <p:nvSpPr>
          <p:cNvPr id="12" name="Text 8"/>
          <p:cNvSpPr txBox="1"/>
          <p:nvPr/>
        </p:nvSpPr>
        <p:spPr>
          <a:xfrm>
            <a:off x="4565904" y="3511296"/>
            <a:ext cx="3057144" cy="179222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Execution continues even when leaders are not present.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1243584"/>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III. The Strategic Payoff of Alignment</a:t>
            </a:r>
            <a:endParaRPr lang="en-US" sz="2400" dirty="0"/>
          </a:p>
        </p:txBody>
      </p:sp>
      <p:sp>
        <p:nvSpPr>
          <p:cNvPr id="17" name="Text 12"/>
          <p:cNvSpPr txBox="1"/>
          <p:nvPr/>
        </p:nvSpPr>
        <p:spPr>
          <a:xfrm>
            <a:off x="8354568" y="3895344"/>
            <a:ext cx="3057144" cy="140817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Leaders spend less time correcting and more time advancing strategy.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Aligning Heart &amp; Mind is the mechanical conversion point where strategic potential becomes strategic movement.</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200" b="1" dirty="0">
                <a:solidFill>
                  <a:srgbClr val="1A5C2C"/>
                </a:solidFill>
                <a:latin typeface="Cambria" pitchFamily="34" charset="0"/>
                <a:ea typeface="Cambria" pitchFamily="34" charset="-122"/>
                <a:cs typeface="Cambria" pitchFamily="34" charset="-120"/>
              </a:rPr>
              <a:t>2.3 · Why Change Must Be Led: Installed and Adopted</a:t>
            </a:r>
            <a:endParaRPr lang="en-US" sz="32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Installed</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new system, structure or KPI is in place, and people have been told.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Installation is a project outcome.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What it yields: cost.</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sp>
      <p:pic>
        <p:nvPicPr>
          <p:cNvPr id="10"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Adopted</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People work the new way without supervision.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Adoption is a behavioural outcome.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What it yields: value.</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4" name="Text 10"/>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The time between installed and adopted is the adoption gap.</a:t>
            </a:r>
            <a:endParaRPr lang="en-US" sz="24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2.1 Reflection: Think of a time when you personally chose to go beyond compliance and genuinely committed to a strategic direction. What caused that shift? What would it take to create that same shift in your team?"/>
          <p:cNvPicPr>
            <a:picLocks noChangeAspect="1"/>
          </p:cNvPicPr>
          <p:nvPr/>
        </p:nvPicPr>
        <p:blipFill>
          <a:blip r:embed="rId2"/>
          <a:stretch>
            <a:fillRect/>
          </a:stretch>
        </p:blipFill>
        <p:spPr>
          <a:xfrm>
            <a:off x="1691640" y="1572768"/>
            <a:ext cx="9921240" cy="1023394"/>
          </a:xfrm>
          <a:prstGeom prst="rect">
            <a:avLst/>
          </a:prstGeom>
        </p:spPr>
      </p:pic>
      <p:sp>
        <p:nvSpPr>
          <p:cNvPr id="4" name="Part 2.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2.1</a:t>
            </a:r>
          </a:p>
        </p:txBody>
      </p:sp>
      <p:pic>
        <p:nvPicPr>
          <p:cNvPr id="5" name="Reflection 2.2" descr="2.2 Reflection: How much of your current leadership time is spent enforcing compliance? What is the opportunity cost of this?"/>
          <p:cNvPicPr>
            <a:picLocks noChangeAspect="1"/>
          </p:cNvPicPr>
          <p:nvPr/>
        </p:nvPicPr>
        <p:blipFill>
          <a:blip r:embed="rId3"/>
          <a:stretch>
            <a:fillRect/>
          </a:stretch>
        </p:blipFill>
        <p:spPr>
          <a:xfrm>
            <a:off x="1691640" y="2888770"/>
            <a:ext cx="9921240" cy="1023394"/>
          </a:xfrm>
          <a:prstGeom prst="rect">
            <a:avLst/>
          </a:prstGeom>
        </p:spPr>
      </p:pic>
      <p:sp>
        <p:nvSpPr>
          <p:cNvPr id="6" name="Part 2.2"/>
          <p:cNvSpPr/>
          <p:nvPr/>
        </p:nvSpPr>
        <p:spPr>
          <a:xfrm>
            <a:off x="548640" y="296612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2.2</a:t>
            </a:r>
          </a:p>
        </p:txBody>
      </p:sp>
      <p:pic>
        <p:nvPicPr>
          <p:cNvPr id="7" name="Reflection 2.3" descr="2.3 Reflection — Installed and adopted: Name one change in your organisation that is installed and still awaiting adoption. Which check did it fail: Mind, Heart, Hands or Habit? What has the adoption gap cost so far?"/>
          <p:cNvPicPr>
            <a:picLocks noChangeAspect="1"/>
          </p:cNvPicPr>
          <p:nvPr/>
        </p:nvPicPr>
        <p:blipFill>
          <a:blip r:embed="rId4"/>
          <a:stretch>
            <a:fillRect/>
          </a:stretch>
        </p:blipFill>
        <p:spPr>
          <a:xfrm>
            <a:off x="1691640" y="4204772"/>
            <a:ext cx="9921240" cy="1023394"/>
          </a:xfrm>
          <a:prstGeom prst="rect">
            <a:avLst/>
          </a:prstGeom>
        </p:spPr>
      </p:pic>
      <p:sp>
        <p:nvSpPr>
          <p:cNvPr id="8" name="Part 2.3"/>
          <p:cNvSpPr/>
          <p:nvPr/>
        </p:nvSpPr>
        <p:spPr>
          <a:xfrm>
            <a:off x="548640" y="4282129"/>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2.3</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Are the Alignment Hot Zones Across the Organisation?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where interpretation, emotional climate and behaviour strengthen or weaken alignment, and the signals that misalignment is escalating into crisis.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Assess the readiness of the people most affected by the changes the strategy requires.</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000" b="1" dirty="0">
                <a:solidFill>
                  <a:srgbClr val="1A5C2C"/>
                </a:solidFill>
                <a:latin typeface="Cambria" pitchFamily="34" charset="0"/>
                <a:ea typeface="Cambria" pitchFamily="34" charset="-122"/>
                <a:cs typeface="Cambria" pitchFamily="34" charset="-120"/>
              </a:rPr>
              <a:t>3.1 · The COMPASS Framework: Seven High Flammable Zones</a:t>
            </a:r>
            <a:endParaRPr lang="en-US" sz="30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  </a:t>
            </a:r>
            <a:pPr indent="0" marL="0">
              <a:buNone/>
            </a:pPr>
            <a:r>
              <a:rPr lang="en-US" sz="2400" dirty="0">
                <a:solidFill>
                  <a:srgbClr val="1F2A22"/>
                </a:solidFill>
                <a:latin typeface="Calibri" pitchFamily="34" charset="0"/>
                <a:ea typeface="Calibri" pitchFamily="34" charset="-122"/>
                <a:cs typeface="Calibri" pitchFamily="34" charset="-120"/>
              </a:rPr>
              <a:t>Clarity of Strategic Direction</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  </a:t>
            </a:r>
            <a:pPr indent="0" marL="0">
              <a:buNone/>
            </a:pPr>
            <a:r>
              <a:rPr lang="en-US" sz="2400" dirty="0">
                <a:solidFill>
                  <a:srgbClr val="1F2A22"/>
                </a:solidFill>
                <a:latin typeface="Calibri" pitchFamily="34" charset="0"/>
                <a:ea typeface="Calibri" pitchFamily="34" charset="-122"/>
                <a:cs typeface="Calibri" pitchFamily="34" charset="-120"/>
              </a:rPr>
              <a:t>Organisational Alignment</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  </a:t>
            </a:r>
            <a:pPr indent="0" marL="0">
              <a:buNone/>
            </a:pPr>
            <a:r>
              <a:rPr lang="en-US" sz="2400" dirty="0">
                <a:solidFill>
                  <a:srgbClr val="1F2A22"/>
                </a:solidFill>
                <a:latin typeface="Calibri" pitchFamily="34" charset="0"/>
                <a:ea typeface="Calibri" pitchFamily="34" charset="-122"/>
                <a:cs typeface="Calibri" pitchFamily="34" charset="-120"/>
              </a:rPr>
              <a:t>Management Discipline</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  </a:t>
            </a:r>
            <a:pPr indent="0" marL="0">
              <a:buNone/>
            </a:pPr>
            <a:r>
              <a:rPr lang="en-US" sz="2400" dirty="0">
                <a:solidFill>
                  <a:srgbClr val="1F2A22"/>
                </a:solidFill>
                <a:latin typeface="Calibri" pitchFamily="34" charset="0"/>
                <a:ea typeface="Calibri" pitchFamily="34" charset="-122"/>
                <a:cs typeface="Calibri" pitchFamily="34" charset="-120"/>
              </a:rPr>
              <a:t>People &amp; Capability</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  </a:t>
            </a:r>
            <a:pPr indent="0" marL="0">
              <a:buNone/>
            </a:pPr>
            <a:r>
              <a:rPr lang="en-US" sz="2400" dirty="0">
                <a:solidFill>
                  <a:srgbClr val="1F2A22"/>
                </a:solidFill>
                <a:latin typeface="Calibri" pitchFamily="34" charset="0"/>
                <a:ea typeface="Calibri" pitchFamily="34" charset="-122"/>
                <a:cs typeface="Calibri" pitchFamily="34" charset="-120"/>
              </a:rPr>
              <a:t>Allocation of Resources</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  </a:t>
            </a:r>
            <a:pPr indent="0" marL="0">
              <a:buNone/>
            </a:pPr>
            <a:r>
              <a:rPr lang="en-US" sz="2400" dirty="0">
                <a:solidFill>
                  <a:srgbClr val="1F2A22"/>
                </a:solidFill>
                <a:latin typeface="Calibri" pitchFamily="34" charset="0"/>
                <a:ea typeface="Calibri" pitchFamily="34" charset="-122"/>
                <a:cs typeface="Calibri" pitchFamily="34" charset="-120"/>
              </a:rPr>
              <a:t>Sensing &amp; Adaptation</a:t>
            </a:r>
            <a:endParaRPr lang="en-US" sz="2400" dirty="0"/>
          </a:p>
        </p:txBody>
      </p:sp>
      <p:sp>
        <p:nvSpPr>
          <p:cNvPr id="21" name="Shape 13"/>
          <p:cNvSpPr/>
          <p:nvPr/>
        </p:nvSpPr>
        <p:spPr>
          <a:xfrm>
            <a:off x="548640" y="5806767"/>
            <a:ext cx="489204" cy="489204"/>
          </a:xfrm>
          <a:prstGeom prst="ellipse">
            <a:avLst/>
          </a:prstGeom>
          <a:solidFill>
            <a:srgbClr val="1A5C2C"/>
          </a:solidFill>
          <a:ln w="12700">
            <a:solidFill>
              <a:srgbClr val="1A5C2C"/>
            </a:solidFill>
            <a:prstDash val="solid"/>
          </a:ln>
        </p:spPr>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  </a:t>
            </a:r>
            <a:pPr indent="0" marL="0">
              <a:buNone/>
            </a:pPr>
            <a:r>
              <a:rPr lang="en-US" sz="2400" dirty="0">
                <a:solidFill>
                  <a:srgbClr val="1F2A22"/>
                </a:solidFill>
                <a:latin typeface="Calibri" pitchFamily="34" charset="0"/>
                <a:ea typeface="Calibri" pitchFamily="34" charset="-122"/>
                <a:cs typeface="Calibri" pitchFamily="34" charset="-120"/>
              </a:rPr>
              <a:t>Systems &amp; Execution</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From High Flammables to Burning Platforms</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High Flammable Zone</a:t>
            </a:r>
            <a:endParaRPr lang="en-US" sz="2600" dirty="0"/>
          </a:p>
        </p:txBody>
      </p:sp>
      <p:sp>
        <p:nvSpPr>
          <p:cNvPr id="7" name="Text 4"/>
          <p:cNvSpPr txBox="1"/>
          <p:nvPr/>
        </p:nvSpPr>
        <p:spPr>
          <a:xfrm>
            <a:off x="868680" y="2697480"/>
            <a:ext cx="4846320" cy="35661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Organisational leverage points.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When alignment is strong: rapid clarity, coordinated effort, compounding momentum.</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When alignment is weak: distorted interpretation, defensive behaviour, multiplying friction.</a:t>
            </a:r>
            <a:endParaRPr lang="en-US" sz="2400" dirty="0"/>
          </a:p>
        </p:txBody>
      </p:sp>
      <p:sp>
        <p:nvSpPr>
          <p:cNvPr id="8" name="Shape 5"/>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sp>
      <p:pic>
        <p:nvPicPr>
          <p:cNvPr id="10"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Burning Platform</a:t>
            </a:r>
            <a:endParaRPr lang="en-US" sz="2600" dirty="0"/>
          </a:p>
        </p:txBody>
      </p:sp>
      <p:sp>
        <p:nvSpPr>
          <p:cNvPr id="12" name="Text 8"/>
          <p:cNvSpPr txBox="1"/>
          <p:nvPr/>
        </p:nvSpPr>
        <p:spPr>
          <a:xfrm>
            <a:off x="6565392" y="2697480"/>
            <a:ext cx="4846320" cy="35661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What a High Flammable becomes when misalignment persists and crosses the escalation threshold.</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Execution breakdown is visible and costly.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Reactive interventions cost exponentially more than proactive alignment would have.</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3.3 · Change Readiness Across the Organisation</a:t>
            </a:r>
            <a:endParaRPr lang="en-US" sz="3600" dirty="0"/>
          </a:p>
        </p:txBody>
      </p:sp>
      <p:sp>
        <p:nvSpPr>
          <p:cNvPr id="3" name="Shape 1"/>
          <p:cNvSpPr/>
          <p:nvPr/>
        </p:nvSpPr>
        <p:spPr>
          <a:xfrm>
            <a:off x="548640" y="18516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011680"/>
            <a:ext cx="320040" cy="320040"/>
          </a:xfrm>
          <a:prstGeom prst="rect">
            <a:avLst/>
          </a:prstGeom>
        </p:spPr>
      </p:pic>
      <p:sp>
        <p:nvSpPr>
          <p:cNvPr id="5" name="Text 2"/>
          <p:cNvSpPr txBox="1"/>
          <p:nvPr/>
        </p:nvSpPr>
        <p:spPr>
          <a:xfrm>
            <a:off x="1508760" y="1508760"/>
            <a:ext cx="10131552" cy="13258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1  </a:t>
            </a:r>
            <a:pPr indent="0" marL="0">
              <a:buNone/>
            </a:pPr>
            <a:r>
              <a:rPr lang="en-US" sz="2400" dirty="0">
                <a:solidFill>
                  <a:srgbClr val="1F2A22"/>
                </a:solidFill>
                <a:latin typeface="Calibri" pitchFamily="34" charset="0"/>
                <a:ea typeface="Calibri" pitchFamily="34" charset="-122"/>
                <a:cs typeface="Calibri" pitchFamily="34" charset="-120"/>
              </a:rPr>
              <a:t>Name one change and list the groups it affects.</a:t>
            </a:r>
            <a:endParaRPr lang="en-US" sz="2400" dirty="0"/>
          </a:p>
        </p:txBody>
      </p:sp>
      <p:sp>
        <p:nvSpPr>
          <p:cNvPr id="6" name="Shape 3"/>
          <p:cNvSpPr/>
          <p:nvPr/>
        </p:nvSpPr>
        <p:spPr>
          <a:xfrm>
            <a:off x="548640" y="31775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337560"/>
            <a:ext cx="320040" cy="320040"/>
          </a:xfrm>
          <a:prstGeom prst="rect">
            <a:avLst/>
          </a:prstGeom>
        </p:spPr>
      </p:pic>
      <p:sp>
        <p:nvSpPr>
          <p:cNvPr id="8" name="Text 4"/>
          <p:cNvSpPr txBox="1"/>
          <p:nvPr/>
        </p:nvSpPr>
        <p:spPr>
          <a:xfrm>
            <a:off x="1508760" y="2834640"/>
            <a:ext cx="10131552" cy="13258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2  </a:t>
            </a:r>
            <a:pPr indent="0" marL="0">
              <a:buNone/>
            </a:pPr>
            <a:r>
              <a:rPr lang="en-US" sz="2400" dirty="0">
                <a:solidFill>
                  <a:srgbClr val="1F2A22"/>
                </a:solidFill>
                <a:latin typeface="Calibri" pitchFamily="34" charset="0"/>
                <a:ea typeface="Calibri" pitchFamily="34" charset="-122"/>
                <a:cs typeface="Calibri" pitchFamily="34" charset="-120"/>
              </a:rPr>
              <a:t>Run the 4 Checks for each group. Rate each check from 1 (fully in place) to 5 (missing).</a:t>
            </a:r>
            <a:endParaRPr lang="en-US" sz="2400" dirty="0"/>
          </a:p>
        </p:txBody>
      </p:sp>
      <p:sp>
        <p:nvSpPr>
          <p:cNvPr id="9" name="Shape 5"/>
          <p:cNvSpPr/>
          <p:nvPr/>
        </p:nvSpPr>
        <p:spPr>
          <a:xfrm>
            <a:off x="548640" y="450342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663440"/>
            <a:ext cx="320040" cy="320040"/>
          </a:xfrm>
          <a:prstGeom prst="rect">
            <a:avLst/>
          </a:prstGeom>
        </p:spPr>
      </p:pic>
      <p:sp>
        <p:nvSpPr>
          <p:cNvPr id="11" name="Text 6"/>
          <p:cNvSpPr txBox="1"/>
          <p:nvPr/>
        </p:nvSpPr>
        <p:spPr>
          <a:xfrm>
            <a:off x="1508760" y="4160520"/>
            <a:ext cx="10131552" cy="13258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3  </a:t>
            </a:r>
            <a:pPr indent="0" marL="0">
              <a:buNone/>
            </a:pPr>
            <a:r>
              <a:rPr lang="en-US" sz="2400" dirty="0">
                <a:solidFill>
                  <a:srgbClr val="1F2A22"/>
                </a:solidFill>
                <a:latin typeface="Calibri" pitchFamily="34" charset="0"/>
                <a:ea typeface="Calibri" pitchFamily="34" charset="-122"/>
                <a:cs typeface="Calibri" pitchFamily="34" charset="-120"/>
              </a:rPr>
              <a:t>Find each group’s first check that scores 4 or 5. Leadership effort for that group starts there.</a:t>
            </a:r>
            <a:endParaRPr lang="en-US" sz="2400" dirty="0"/>
          </a:p>
        </p:txBody>
      </p:sp>
      <p:sp>
        <p:nvSpPr>
          <p:cNvPr id="12" name="Shape 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3" name="Text 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One change, three groups, three starting points.</a:t>
            </a:r>
            <a:endParaRPr lang="en-US" sz="24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3.1 Reflection — COMPASS Diagnostic: Write your seven ratings. Which domain did you rate highest risk? What is the observable evidence? Is it still a High Flammable or has it crossed to Burning Platform?"/>
          <p:cNvPicPr>
            <a:picLocks noChangeAspect="1"/>
          </p:cNvPicPr>
          <p:nvPr/>
        </p:nvPicPr>
        <p:blipFill>
          <a:blip r:embed="rId2"/>
          <a:stretch>
            <a:fillRect/>
          </a:stretch>
        </p:blipFill>
        <p:spPr>
          <a:xfrm>
            <a:off x="1691640" y="1572768"/>
            <a:ext cx="9921240" cy="1023394"/>
          </a:xfrm>
          <a:prstGeom prst="rect">
            <a:avLst/>
          </a:prstGeom>
        </p:spPr>
      </p:pic>
      <p:sp>
        <p:nvSpPr>
          <p:cNvPr id="4" name="Part 3.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3.1</a:t>
            </a:r>
          </a:p>
        </p:txBody>
      </p:sp>
      <p:pic>
        <p:nvPicPr>
          <p:cNvPr id="5" name="Reflection 3.3" descr="3.3 Reflection — Readiness: For the change you are carrying through this unit, list the groups it affects and rate each on the 4 Checks. Which group is least ready? Which check fails first, and what is your evidence?"/>
          <p:cNvPicPr>
            <a:picLocks noChangeAspect="1"/>
          </p:cNvPicPr>
          <p:nvPr/>
        </p:nvPicPr>
        <p:blipFill>
          <a:blip r:embed="rId3"/>
          <a:stretch>
            <a:fillRect/>
          </a:stretch>
        </p:blipFill>
        <p:spPr>
          <a:xfrm>
            <a:off x="1691640" y="2888770"/>
            <a:ext cx="9921240" cy="1023394"/>
          </a:xfrm>
          <a:prstGeom prst="rect">
            <a:avLst/>
          </a:prstGeom>
        </p:spPr>
      </p:pic>
      <p:sp>
        <p:nvSpPr>
          <p:cNvPr id="6" name="Part 3.3"/>
          <p:cNvSpPr/>
          <p:nvPr/>
        </p:nvSpPr>
        <p:spPr>
          <a:xfrm>
            <a:off x="548640" y="296612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3.3</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6">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How Aligning Heart &amp; Mind Creates Collective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how individual alignment responsibilities combine into a coherent enterprise interpretation.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where gaps in role alignment and competing change demands create enterprise vulnerability.</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4.1 · The Converging Zone: What Collective Intelligence Creates</a:t>
            </a:r>
            <a:endParaRPr lang="en-US" sz="2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With Collective Intelligence</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Direction remains clear across all layers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Resources reinforce priorities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Systems enable execution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People move with coordinated effort</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sp>
      <p:pic>
        <p:nvPicPr>
          <p:cNvPr id="10"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Without Collective Intelligence</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Different leaders transmit different interpretations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COMPASS domains begin to drift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Functions receive competing signals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Strategic instability spreads invisibly</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4" name="Text 10"/>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One coherent signal across the organisation.</a:t>
            </a:r>
            <a:endParaRPr lang="en-US" sz="2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000" b="1" dirty="0">
                <a:solidFill>
                  <a:srgbClr val="1A5C2C"/>
                </a:solidFill>
                <a:latin typeface="Cambria" pitchFamily="34" charset="0"/>
                <a:ea typeface="Cambria" pitchFamily="34" charset="-122"/>
                <a:cs typeface="Cambria" pitchFamily="34" charset="-120"/>
              </a:rPr>
              <a:t>4.2 · Collective Intelligence Across the Leadership Team</a:t>
            </a:r>
            <a:endParaRPr lang="en-US" sz="3000" dirty="0"/>
          </a:p>
        </p:txBody>
      </p:sp>
      <p:sp>
        <p:nvSpPr>
          <p:cNvPr id="3" name="Shape 1"/>
          <p:cNvSpPr/>
          <p:nvPr/>
        </p:nvSpPr>
        <p:spPr>
          <a:xfrm>
            <a:off x="548640" y="1508760"/>
            <a:ext cx="5454396" cy="822960"/>
          </a:xfrm>
          <a:prstGeom prst="roundRect">
            <a:avLst>
              <a:gd name="adj" fmla="val 11111"/>
            </a:avLst>
          </a:prstGeom>
          <a:solidFill>
            <a:srgbClr val="EEF4EF"/>
          </a:solidFill>
          <a:ln w="12700">
            <a:solidFill>
              <a:srgbClr val="EEF4EF"/>
            </a:solidFill>
            <a:prstDash val="solid"/>
          </a:ln>
        </p:spPr>
      </p:sp>
      <p:sp>
        <p:nvSpPr>
          <p:cNvPr id="4" name="Text 2"/>
          <p:cNvSpPr txBox="1"/>
          <p:nvPr/>
        </p:nvSpPr>
        <p:spPr>
          <a:xfrm>
            <a:off x="777240" y="1508760"/>
            <a:ext cx="4997196" cy="8229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CEO  </a:t>
            </a:r>
            <a:pPr indent="0" marL="0">
              <a:buNone/>
            </a:pPr>
            <a:r>
              <a:rPr lang="en-US" sz="2400" dirty="0">
                <a:solidFill>
                  <a:srgbClr val="1F2A22"/>
                </a:solidFill>
                <a:latin typeface="Calibri" pitchFamily="34" charset="0"/>
                <a:ea typeface="Calibri" pitchFamily="34" charset="-122"/>
                <a:cs typeface="Calibri" pitchFamily="34" charset="-120"/>
              </a:rPr>
              <a:t>Clarity of Direction</a:t>
            </a:r>
            <a:pPr indent="0" marL="0">
              <a:buNone/>
            </a:pPr>
            <a:r>
              <a:rPr lang="en-US" sz="2400" dirty="0">
                <a:solidFill>
                  <a:srgbClr val="4E5E53"/>
                </a:solidFill>
                <a:latin typeface="Calibri" pitchFamily="34" charset="0"/>
                <a:ea typeface="Calibri" pitchFamily="34" charset="-122"/>
                <a:cs typeface="Calibri" pitchFamily="34" charset="-120"/>
              </a:rPr>
              <a:t> · </a:t>
            </a:r>
            <a:pPr indent="0" marL="0">
              <a:buNone/>
            </a:pPr>
            <a:r>
              <a:rPr lang="en-US" sz="2400" dirty="0">
                <a:solidFill>
                  <a:srgbClr val="1F2A22"/>
                </a:solidFill>
                <a:latin typeface="Calibri" pitchFamily="34" charset="0"/>
                <a:ea typeface="Calibri" pitchFamily="34" charset="-122"/>
                <a:cs typeface="Calibri" pitchFamily="34" charset="-120"/>
              </a:rPr>
              <a:t>Organisational Alignment</a:t>
            </a:r>
            <a:endParaRPr lang="en-US" sz="2400" dirty="0"/>
          </a:p>
        </p:txBody>
      </p:sp>
      <p:sp>
        <p:nvSpPr>
          <p:cNvPr id="5" name="Shape 3"/>
          <p:cNvSpPr/>
          <p:nvPr/>
        </p:nvSpPr>
        <p:spPr>
          <a:xfrm>
            <a:off x="6185916" y="1508760"/>
            <a:ext cx="5454396" cy="822960"/>
          </a:xfrm>
          <a:prstGeom prst="roundRect">
            <a:avLst>
              <a:gd name="adj" fmla="val 11111"/>
            </a:avLst>
          </a:prstGeom>
          <a:solidFill>
            <a:srgbClr val="EEF4EF"/>
          </a:solidFill>
          <a:ln w="12700">
            <a:solidFill>
              <a:srgbClr val="EEF4EF"/>
            </a:solidFill>
            <a:prstDash val="solid"/>
          </a:ln>
        </p:spPr>
      </p:sp>
      <p:sp>
        <p:nvSpPr>
          <p:cNvPr id="6" name="Text 4"/>
          <p:cNvSpPr txBox="1"/>
          <p:nvPr/>
        </p:nvSpPr>
        <p:spPr>
          <a:xfrm>
            <a:off x="6414516" y="1508760"/>
            <a:ext cx="4997196" cy="8229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CFO  </a:t>
            </a:r>
            <a:pPr indent="0" marL="0">
              <a:buNone/>
            </a:pPr>
            <a:r>
              <a:rPr lang="en-US" sz="2400" dirty="0">
                <a:solidFill>
                  <a:srgbClr val="1F2A22"/>
                </a:solidFill>
                <a:latin typeface="Calibri" pitchFamily="34" charset="0"/>
                <a:ea typeface="Calibri" pitchFamily="34" charset="-122"/>
                <a:cs typeface="Calibri" pitchFamily="34" charset="-120"/>
              </a:rPr>
              <a:t>Allocation of Resources</a:t>
            </a:r>
            <a:pPr indent="0" marL="0">
              <a:buNone/>
            </a:pPr>
            <a:r>
              <a:rPr lang="en-US" sz="2400" dirty="0">
                <a:solidFill>
                  <a:srgbClr val="4E5E53"/>
                </a:solidFill>
                <a:latin typeface="Calibri" pitchFamily="34" charset="0"/>
                <a:ea typeface="Calibri" pitchFamily="34" charset="-122"/>
                <a:cs typeface="Calibri" pitchFamily="34" charset="-120"/>
              </a:rPr>
              <a:t> · </a:t>
            </a:r>
            <a:pPr indent="0" marL="0">
              <a:buNone/>
            </a:pPr>
            <a:r>
              <a:rPr lang="en-US" sz="2400" dirty="0">
                <a:solidFill>
                  <a:srgbClr val="1F2A22"/>
                </a:solidFill>
                <a:latin typeface="Calibri" pitchFamily="34" charset="0"/>
                <a:ea typeface="Calibri" pitchFamily="34" charset="-122"/>
                <a:cs typeface="Calibri" pitchFamily="34" charset="-120"/>
              </a:rPr>
              <a:t>Management Discipline</a:t>
            </a:r>
            <a:endParaRPr lang="en-US" sz="2400" dirty="0"/>
          </a:p>
        </p:txBody>
      </p:sp>
      <p:sp>
        <p:nvSpPr>
          <p:cNvPr id="7" name="Shape 5"/>
          <p:cNvSpPr/>
          <p:nvPr/>
        </p:nvSpPr>
        <p:spPr>
          <a:xfrm>
            <a:off x="548640" y="2514600"/>
            <a:ext cx="5454396" cy="822960"/>
          </a:xfrm>
          <a:prstGeom prst="roundRect">
            <a:avLst>
              <a:gd name="adj" fmla="val 11111"/>
            </a:avLst>
          </a:prstGeom>
          <a:solidFill>
            <a:srgbClr val="EEF4EF"/>
          </a:solidFill>
          <a:ln w="12700">
            <a:solidFill>
              <a:srgbClr val="EEF4EF"/>
            </a:solidFill>
            <a:prstDash val="solid"/>
          </a:ln>
        </p:spPr>
      </p:sp>
      <p:sp>
        <p:nvSpPr>
          <p:cNvPr id="8" name="Text 6"/>
          <p:cNvSpPr txBox="1"/>
          <p:nvPr/>
        </p:nvSpPr>
        <p:spPr>
          <a:xfrm>
            <a:off x="777240" y="2514600"/>
            <a:ext cx="4997196" cy="8229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COO  </a:t>
            </a:r>
            <a:pPr indent="0" marL="0">
              <a:buNone/>
            </a:pPr>
            <a:r>
              <a:rPr lang="en-US" sz="2400" dirty="0">
                <a:solidFill>
                  <a:srgbClr val="1F2A22"/>
                </a:solidFill>
                <a:latin typeface="Calibri" pitchFamily="34" charset="0"/>
                <a:ea typeface="Calibri" pitchFamily="34" charset="-122"/>
                <a:cs typeface="Calibri" pitchFamily="34" charset="-120"/>
              </a:rPr>
              <a:t>Systems &amp; Execution</a:t>
            </a:r>
            <a:pPr indent="0" marL="0">
              <a:buNone/>
            </a:pPr>
            <a:r>
              <a:rPr lang="en-US" sz="2400" dirty="0">
                <a:solidFill>
                  <a:srgbClr val="4E5E53"/>
                </a:solidFill>
                <a:latin typeface="Calibri" pitchFamily="34" charset="0"/>
                <a:ea typeface="Calibri" pitchFamily="34" charset="-122"/>
                <a:cs typeface="Calibri" pitchFamily="34" charset="-120"/>
              </a:rPr>
              <a:t> · </a:t>
            </a:r>
            <a:pPr indent="0" marL="0">
              <a:buNone/>
            </a:pPr>
            <a:r>
              <a:rPr lang="en-US" sz="2400" dirty="0">
                <a:solidFill>
                  <a:srgbClr val="1F2A22"/>
                </a:solidFill>
                <a:latin typeface="Calibri" pitchFamily="34" charset="0"/>
                <a:ea typeface="Calibri" pitchFamily="34" charset="-122"/>
                <a:cs typeface="Calibri" pitchFamily="34" charset="-120"/>
              </a:rPr>
              <a:t>Management Discipline</a:t>
            </a:r>
            <a:endParaRPr lang="en-US" sz="2400" dirty="0"/>
          </a:p>
        </p:txBody>
      </p:sp>
      <p:sp>
        <p:nvSpPr>
          <p:cNvPr id="9" name="Shape 7"/>
          <p:cNvSpPr/>
          <p:nvPr/>
        </p:nvSpPr>
        <p:spPr>
          <a:xfrm>
            <a:off x="6185916" y="2514600"/>
            <a:ext cx="5454396" cy="822960"/>
          </a:xfrm>
          <a:prstGeom prst="roundRect">
            <a:avLst>
              <a:gd name="adj" fmla="val 11111"/>
            </a:avLst>
          </a:prstGeom>
          <a:solidFill>
            <a:srgbClr val="EEF4EF"/>
          </a:solidFill>
          <a:ln w="12700">
            <a:solidFill>
              <a:srgbClr val="EEF4EF"/>
            </a:solidFill>
            <a:prstDash val="solid"/>
          </a:ln>
        </p:spPr>
      </p:sp>
      <p:sp>
        <p:nvSpPr>
          <p:cNvPr id="10" name="Text 8"/>
          <p:cNvSpPr txBox="1"/>
          <p:nvPr/>
        </p:nvSpPr>
        <p:spPr>
          <a:xfrm>
            <a:off x="6414516" y="2514600"/>
            <a:ext cx="4997196" cy="8229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CHRO  </a:t>
            </a:r>
            <a:pPr indent="0" marL="0">
              <a:buNone/>
            </a:pPr>
            <a:r>
              <a:rPr lang="en-US" sz="2400" dirty="0">
                <a:solidFill>
                  <a:srgbClr val="1F2A22"/>
                </a:solidFill>
                <a:latin typeface="Calibri" pitchFamily="34" charset="0"/>
                <a:ea typeface="Calibri" pitchFamily="34" charset="-122"/>
                <a:cs typeface="Calibri" pitchFamily="34" charset="-120"/>
              </a:rPr>
              <a:t>People &amp; Capability</a:t>
            </a:r>
            <a:pPr indent="0" marL="0">
              <a:buNone/>
            </a:pPr>
            <a:r>
              <a:rPr lang="en-US" sz="2400" dirty="0">
                <a:solidFill>
                  <a:srgbClr val="4E5E53"/>
                </a:solidFill>
                <a:latin typeface="Calibri" pitchFamily="34" charset="0"/>
                <a:ea typeface="Calibri" pitchFamily="34" charset="-122"/>
                <a:cs typeface="Calibri" pitchFamily="34" charset="-120"/>
              </a:rPr>
              <a:t> · </a:t>
            </a:r>
            <a:pPr indent="0" marL="0">
              <a:buNone/>
            </a:pPr>
            <a:r>
              <a:rPr lang="en-US" sz="2400" dirty="0">
                <a:solidFill>
                  <a:srgbClr val="1F2A22"/>
                </a:solidFill>
                <a:latin typeface="Calibri" pitchFamily="34" charset="0"/>
                <a:ea typeface="Calibri" pitchFamily="34" charset="-122"/>
                <a:cs typeface="Calibri" pitchFamily="34" charset="-120"/>
              </a:rPr>
              <a:t>Organisational Alignment</a:t>
            </a:r>
            <a:endParaRPr lang="en-US" sz="2400" dirty="0"/>
          </a:p>
        </p:txBody>
      </p:sp>
      <p:sp>
        <p:nvSpPr>
          <p:cNvPr id="11" name="Shape 9"/>
          <p:cNvSpPr/>
          <p:nvPr/>
        </p:nvSpPr>
        <p:spPr>
          <a:xfrm>
            <a:off x="548640" y="3520440"/>
            <a:ext cx="5454396" cy="822960"/>
          </a:xfrm>
          <a:prstGeom prst="roundRect">
            <a:avLst>
              <a:gd name="adj" fmla="val 11111"/>
            </a:avLst>
          </a:prstGeom>
          <a:solidFill>
            <a:srgbClr val="EEF4EF"/>
          </a:solidFill>
          <a:ln w="12700">
            <a:solidFill>
              <a:srgbClr val="EEF4EF"/>
            </a:solidFill>
            <a:prstDash val="solid"/>
          </a:ln>
        </p:spPr>
      </p:sp>
      <p:sp>
        <p:nvSpPr>
          <p:cNvPr id="12" name="Text 10"/>
          <p:cNvSpPr txBox="1"/>
          <p:nvPr/>
        </p:nvSpPr>
        <p:spPr>
          <a:xfrm>
            <a:off x="777240" y="3520440"/>
            <a:ext cx="4997196" cy="8229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CTO/CIO  </a:t>
            </a:r>
            <a:pPr indent="0" marL="0">
              <a:buNone/>
            </a:pPr>
            <a:r>
              <a:rPr lang="en-US" sz="2400" dirty="0">
                <a:solidFill>
                  <a:srgbClr val="1F2A22"/>
                </a:solidFill>
                <a:latin typeface="Calibri" pitchFamily="34" charset="0"/>
                <a:ea typeface="Calibri" pitchFamily="34" charset="-122"/>
                <a:cs typeface="Calibri" pitchFamily="34" charset="-120"/>
              </a:rPr>
              <a:t>Systems &amp; Execution</a:t>
            </a:r>
            <a:pPr indent="0" marL="0">
              <a:buNone/>
            </a:pPr>
            <a:r>
              <a:rPr lang="en-US" sz="2400" dirty="0">
                <a:solidFill>
                  <a:srgbClr val="4E5E53"/>
                </a:solidFill>
                <a:latin typeface="Calibri" pitchFamily="34" charset="0"/>
                <a:ea typeface="Calibri" pitchFamily="34" charset="-122"/>
                <a:cs typeface="Calibri" pitchFamily="34" charset="-120"/>
              </a:rPr>
              <a:t> · </a:t>
            </a:r>
            <a:pPr indent="0" marL="0">
              <a:buNone/>
            </a:pPr>
            <a:r>
              <a:rPr lang="en-US" sz="2400" dirty="0">
                <a:solidFill>
                  <a:srgbClr val="1F2A22"/>
                </a:solidFill>
                <a:latin typeface="Calibri" pitchFamily="34" charset="0"/>
                <a:ea typeface="Calibri" pitchFamily="34" charset="-122"/>
                <a:cs typeface="Calibri" pitchFamily="34" charset="-120"/>
              </a:rPr>
              <a:t>Sensing &amp; Adaptation</a:t>
            </a:r>
            <a:endParaRPr lang="en-US" sz="2400" dirty="0"/>
          </a:p>
        </p:txBody>
      </p:sp>
      <p:sp>
        <p:nvSpPr>
          <p:cNvPr id="13" name="Shape 11"/>
          <p:cNvSpPr/>
          <p:nvPr/>
        </p:nvSpPr>
        <p:spPr>
          <a:xfrm>
            <a:off x="6185916" y="3520440"/>
            <a:ext cx="5454396" cy="822960"/>
          </a:xfrm>
          <a:prstGeom prst="roundRect">
            <a:avLst>
              <a:gd name="adj" fmla="val 11111"/>
            </a:avLst>
          </a:prstGeom>
          <a:solidFill>
            <a:srgbClr val="EEF4EF"/>
          </a:solidFill>
          <a:ln w="12700">
            <a:solidFill>
              <a:srgbClr val="EEF4EF"/>
            </a:solidFill>
            <a:prstDash val="solid"/>
          </a:ln>
        </p:spPr>
      </p:sp>
      <p:sp>
        <p:nvSpPr>
          <p:cNvPr id="14" name="Text 12"/>
          <p:cNvSpPr txBox="1"/>
          <p:nvPr/>
        </p:nvSpPr>
        <p:spPr>
          <a:xfrm>
            <a:off x="6414516" y="3520440"/>
            <a:ext cx="4997196" cy="8229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CMO  </a:t>
            </a:r>
            <a:pPr indent="0" marL="0">
              <a:buNone/>
            </a:pPr>
            <a:r>
              <a:rPr lang="en-US" sz="2400" dirty="0">
                <a:solidFill>
                  <a:srgbClr val="1F2A22"/>
                </a:solidFill>
                <a:latin typeface="Calibri" pitchFamily="34" charset="0"/>
                <a:ea typeface="Calibri" pitchFamily="34" charset="-122"/>
                <a:cs typeface="Calibri" pitchFamily="34" charset="-120"/>
              </a:rPr>
              <a:t>Clarity of Direction</a:t>
            </a:r>
            <a:pPr indent="0" marL="0">
              <a:buNone/>
            </a:pPr>
            <a:r>
              <a:rPr lang="en-US" sz="2400" dirty="0">
                <a:solidFill>
                  <a:srgbClr val="4E5E53"/>
                </a:solidFill>
                <a:latin typeface="Calibri" pitchFamily="34" charset="0"/>
                <a:ea typeface="Calibri" pitchFamily="34" charset="-122"/>
                <a:cs typeface="Calibri" pitchFamily="34" charset="-120"/>
              </a:rPr>
              <a:t> · </a:t>
            </a:r>
            <a:pPr indent="0" marL="0">
              <a:buNone/>
            </a:pPr>
            <a:r>
              <a:rPr lang="en-US" sz="2400" dirty="0">
                <a:solidFill>
                  <a:srgbClr val="1F2A22"/>
                </a:solidFill>
                <a:latin typeface="Calibri" pitchFamily="34" charset="0"/>
                <a:ea typeface="Calibri" pitchFamily="34" charset="-122"/>
                <a:cs typeface="Calibri" pitchFamily="34" charset="-120"/>
              </a:rPr>
              <a:t>Sensing &amp; Adaptation</a:t>
            </a:r>
            <a:endParaRPr lang="en-US" sz="2400" dirty="0"/>
          </a:p>
        </p:txBody>
      </p:sp>
      <p:sp>
        <p:nvSpPr>
          <p:cNvPr id="15" name="Shape 13"/>
          <p:cNvSpPr/>
          <p:nvPr/>
        </p:nvSpPr>
        <p:spPr>
          <a:xfrm>
            <a:off x="548640" y="4526280"/>
            <a:ext cx="5454396" cy="822960"/>
          </a:xfrm>
          <a:prstGeom prst="roundRect">
            <a:avLst>
              <a:gd name="adj" fmla="val 11111"/>
            </a:avLst>
          </a:prstGeom>
          <a:solidFill>
            <a:srgbClr val="EEF4EF"/>
          </a:solidFill>
          <a:ln w="12700">
            <a:solidFill>
              <a:srgbClr val="EEF4EF"/>
            </a:solidFill>
            <a:prstDash val="solid"/>
          </a:ln>
        </p:spPr>
      </p:sp>
      <p:sp>
        <p:nvSpPr>
          <p:cNvPr id="16" name="Text 14"/>
          <p:cNvSpPr txBox="1"/>
          <p:nvPr/>
        </p:nvSpPr>
        <p:spPr>
          <a:xfrm>
            <a:off x="777240" y="4526280"/>
            <a:ext cx="4997196" cy="8229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CCO  </a:t>
            </a:r>
            <a:pPr indent="0" marL="0">
              <a:buNone/>
            </a:pPr>
            <a:r>
              <a:rPr lang="en-US" sz="2400" dirty="0">
                <a:solidFill>
                  <a:srgbClr val="1F2A22"/>
                </a:solidFill>
                <a:latin typeface="Calibri" pitchFamily="34" charset="0"/>
                <a:ea typeface="Calibri" pitchFamily="34" charset="-122"/>
                <a:cs typeface="Calibri" pitchFamily="34" charset="-120"/>
              </a:rPr>
              <a:t>Allocation of Resources</a:t>
            </a:r>
            <a:pPr indent="0" marL="0">
              <a:buNone/>
            </a:pPr>
            <a:r>
              <a:rPr lang="en-US" sz="2400" dirty="0">
                <a:solidFill>
                  <a:srgbClr val="4E5E53"/>
                </a:solidFill>
                <a:latin typeface="Calibri" pitchFamily="34" charset="0"/>
                <a:ea typeface="Calibri" pitchFamily="34" charset="-122"/>
                <a:cs typeface="Calibri" pitchFamily="34" charset="-120"/>
              </a:rPr>
              <a:t> · </a:t>
            </a:r>
            <a:pPr indent="0" marL="0">
              <a:buNone/>
            </a:pPr>
            <a:r>
              <a:rPr lang="en-US" sz="2400" dirty="0">
                <a:solidFill>
                  <a:srgbClr val="1F2A22"/>
                </a:solidFill>
                <a:latin typeface="Calibri" pitchFamily="34" charset="0"/>
                <a:ea typeface="Calibri" pitchFamily="34" charset="-122"/>
                <a:cs typeface="Calibri" pitchFamily="34" charset="-120"/>
              </a:rPr>
              <a:t>Organisational Alignment</a:t>
            </a:r>
            <a:endParaRPr lang="en-US" sz="2400" dirty="0"/>
          </a:p>
        </p:txBody>
      </p:sp>
      <p:sp>
        <p:nvSpPr>
          <p:cNvPr id="17" name="Shape 15"/>
          <p:cNvSpPr/>
          <p:nvPr/>
        </p:nvSpPr>
        <p:spPr>
          <a:xfrm>
            <a:off x="6185916" y="4526280"/>
            <a:ext cx="5454396" cy="822960"/>
          </a:xfrm>
          <a:prstGeom prst="roundRect">
            <a:avLst>
              <a:gd name="adj" fmla="val 11111"/>
            </a:avLst>
          </a:prstGeom>
          <a:solidFill>
            <a:srgbClr val="EEF4EF"/>
          </a:solidFill>
          <a:ln w="12700">
            <a:solidFill>
              <a:srgbClr val="EEF4EF"/>
            </a:solidFill>
            <a:prstDash val="solid"/>
          </a:ln>
        </p:spPr>
      </p:sp>
      <p:sp>
        <p:nvSpPr>
          <p:cNvPr id="18" name="Text 16"/>
          <p:cNvSpPr txBox="1"/>
          <p:nvPr/>
        </p:nvSpPr>
        <p:spPr>
          <a:xfrm>
            <a:off x="6414516" y="4526280"/>
            <a:ext cx="4997196" cy="8229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CPO  </a:t>
            </a:r>
            <a:pPr indent="0" marL="0">
              <a:buNone/>
            </a:pPr>
            <a:r>
              <a:rPr lang="en-US" sz="2400" dirty="0">
                <a:solidFill>
                  <a:srgbClr val="1F2A22"/>
                </a:solidFill>
                <a:latin typeface="Calibri" pitchFamily="34" charset="0"/>
                <a:ea typeface="Calibri" pitchFamily="34" charset="-122"/>
                <a:cs typeface="Calibri" pitchFamily="34" charset="-120"/>
              </a:rPr>
              <a:t>Systems &amp; Execution</a:t>
            </a:r>
            <a:pPr indent="0" marL="0">
              <a:buNone/>
            </a:pPr>
            <a:r>
              <a:rPr lang="en-US" sz="2400" dirty="0">
                <a:solidFill>
                  <a:srgbClr val="4E5E53"/>
                </a:solidFill>
                <a:latin typeface="Calibri" pitchFamily="34" charset="0"/>
                <a:ea typeface="Calibri" pitchFamily="34" charset="-122"/>
                <a:cs typeface="Calibri" pitchFamily="34" charset="-120"/>
              </a:rPr>
              <a:t> · </a:t>
            </a:r>
            <a:pPr indent="0" marL="0">
              <a:buNone/>
            </a:pPr>
            <a:r>
              <a:rPr lang="en-US" sz="2400" dirty="0">
                <a:solidFill>
                  <a:srgbClr val="1F2A22"/>
                </a:solidFill>
                <a:latin typeface="Calibri" pitchFamily="34" charset="0"/>
                <a:ea typeface="Calibri" pitchFamily="34" charset="-122"/>
                <a:cs typeface="Calibri" pitchFamily="34" charset="-120"/>
              </a:rPr>
              <a:t>Allocation of Resources</a:t>
            </a:r>
            <a:endParaRPr lang="en-US" sz="2400" dirty="0"/>
          </a:p>
        </p:txBody>
      </p:sp>
      <p:sp>
        <p:nvSpPr>
          <p:cNvPr id="19" name="Shape 17"/>
          <p:cNvSpPr/>
          <p:nvPr/>
        </p:nvSpPr>
        <p:spPr>
          <a:xfrm>
            <a:off x="548640" y="5532120"/>
            <a:ext cx="5454396" cy="822960"/>
          </a:xfrm>
          <a:prstGeom prst="roundRect">
            <a:avLst>
              <a:gd name="adj" fmla="val 11111"/>
            </a:avLst>
          </a:prstGeom>
          <a:solidFill>
            <a:srgbClr val="EEF4EF"/>
          </a:solidFill>
          <a:ln w="12700">
            <a:solidFill>
              <a:srgbClr val="EEF4EF"/>
            </a:solidFill>
            <a:prstDash val="solid"/>
          </a:ln>
        </p:spPr>
      </p:sp>
      <p:sp>
        <p:nvSpPr>
          <p:cNvPr id="20" name="Text 18"/>
          <p:cNvSpPr txBox="1"/>
          <p:nvPr/>
        </p:nvSpPr>
        <p:spPr>
          <a:xfrm>
            <a:off x="777240" y="5532120"/>
            <a:ext cx="4997196" cy="8229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CRO  </a:t>
            </a:r>
            <a:pPr indent="0" marL="0">
              <a:buNone/>
            </a:pPr>
            <a:r>
              <a:rPr lang="en-US" sz="2400" dirty="0">
                <a:solidFill>
                  <a:srgbClr val="1F2A22"/>
                </a:solidFill>
                <a:latin typeface="Calibri" pitchFamily="34" charset="0"/>
                <a:ea typeface="Calibri" pitchFamily="34" charset="-122"/>
                <a:cs typeface="Calibri" pitchFamily="34" charset="-120"/>
              </a:rPr>
              <a:t>Management Discipline</a:t>
            </a:r>
            <a:pPr indent="0" marL="0">
              <a:buNone/>
            </a:pPr>
            <a:r>
              <a:rPr lang="en-US" sz="2400" dirty="0">
                <a:solidFill>
                  <a:srgbClr val="4E5E53"/>
                </a:solidFill>
                <a:latin typeface="Calibri" pitchFamily="34" charset="0"/>
                <a:ea typeface="Calibri" pitchFamily="34" charset="-122"/>
                <a:cs typeface="Calibri" pitchFamily="34" charset="-120"/>
              </a:rPr>
              <a:t> · </a:t>
            </a:r>
            <a:pPr indent="0" marL="0">
              <a:buNone/>
            </a:pPr>
            <a:r>
              <a:rPr lang="en-US" sz="2400" dirty="0">
                <a:solidFill>
                  <a:srgbClr val="1F2A22"/>
                </a:solidFill>
                <a:latin typeface="Calibri" pitchFamily="34" charset="0"/>
                <a:ea typeface="Calibri" pitchFamily="34" charset="-122"/>
                <a:cs typeface="Calibri" pitchFamily="34" charset="-120"/>
              </a:rPr>
              <a:t>Systems &amp; Execution</a:t>
            </a:r>
            <a:endParaRPr lang="en-US" sz="2400" dirty="0"/>
          </a:p>
        </p:txBody>
      </p:sp>
      <p:sp>
        <p:nvSpPr>
          <p:cNvPr id="21" name="Shape 19"/>
          <p:cNvSpPr/>
          <p:nvPr/>
        </p:nvSpPr>
        <p:spPr>
          <a:xfrm>
            <a:off x="6185916" y="5532120"/>
            <a:ext cx="5454396" cy="822960"/>
          </a:xfrm>
          <a:prstGeom prst="roundRect">
            <a:avLst>
              <a:gd name="adj" fmla="val 11111"/>
            </a:avLst>
          </a:prstGeom>
          <a:solidFill>
            <a:srgbClr val="EEF4EF"/>
          </a:solidFill>
          <a:ln w="12700">
            <a:solidFill>
              <a:srgbClr val="EEF4EF"/>
            </a:solidFill>
            <a:prstDash val="solid"/>
          </a:ln>
        </p:spPr>
      </p:sp>
      <p:sp>
        <p:nvSpPr>
          <p:cNvPr id="22" name="Text 20"/>
          <p:cNvSpPr txBox="1"/>
          <p:nvPr/>
        </p:nvSpPr>
        <p:spPr>
          <a:xfrm>
            <a:off x="6414516" y="5532120"/>
            <a:ext cx="4997196" cy="8229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CSO  </a:t>
            </a:r>
            <a:pPr indent="0" marL="0">
              <a:buNone/>
            </a:pPr>
            <a:r>
              <a:rPr lang="en-US" sz="2400" dirty="0">
                <a:solidFill>
                  <a:srgbClr val="1F2A22"/>
                </a:solidFill>
                <a:latin typeface="Calibri" pitchFamily="34" charset="0"/>
                <a:ea typeface="Calibri" pitchFamily="34" charset="-122"/>
                <a:cs typeface="Calibri" pitchFamily="34" charset="-120"/>
              </a:rPr>
              <a:t>Clarity of Direction</a:t>
            </a:r>
            <a:pPr indent="0" marL="0">
              <a:buNone/>
            </a:pPr>
            <a:r>
              <a:rPr lang="en-US" sz="2400" dirty="0">
                <a:solidFill>
                  <a:srgbClr val="4E5E53"/>
                </a:solidFill>
                <a:latin typeface="Calibri" pitchFamily="34" charset="0"/>
                <a:ea typeface="Calibri" pitchFamily="34" charset="-122"/>
                <a:cs typeface="Calibri" pitchFamily="34" charset="-120"/>
              </a:rPr>
              <a:t> · </a:t>
            </a:r>
            <a:pPr indent="0" marL="0">
              <a:buNone/>
            </a:pPr>
            <a:r>
              <a:rPr lang="en-US" sz="2400" dirty="0">
                <a:solidFill>
                  <a:srgbClr val="1F2A22"/>
                </a:solidFill>
                <a:latin typeface="Calibri" pitchFamily="34" charset="0"/>
                <a:ea typeface="Calibri" pitchFamily="34" charset="-122"/>
                <a:cs typeface="Calibri" pitchFamily="34" charset="-120"/>
              </a:rPr>
              <a:t>Sensing &amp; Adaptation</a:t>
            </a:r>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Leading Change with One Voice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09928"/>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47088"/>
            <a:ext cx="274320" cy="274320"/>
          </a:xfrm>
          <a:prstGeom prst="rect">
            <a:avLst/>
          </a:prstGeom>
        </p:spPr>
      </p:pic>
      <p:sp>
        <p:nvSpPr>
          <p:cNvPr id="6" name="Text 3"/>
          <p:cNvSpPr txBox="1"/>
          <p:nvPr/>
        </p:nvSpPr>
        <p:spPr>
          <a:xfrm>
            <a:off x="1508760" y="1691640"/>
            <a:ext cx="4219956" cy="5943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One message</a:t>
            </a:r>
            <a:pPr indent="0" marL="0">
              <a:buNone/>
            </a:pPr>
            <a:r>
              <a:rPr lang="en-US" sz="2400" dirty="0">
                <a:solidFill>
                  <a:srgbClr val="4E5E53"/>
                </a:solidFill>
                <a:latin typeface="Calibri" pitchFamily="34" charset="0"/>
                <a:ea typeface="Calibri" pitchFamily="34" charset="-122"/>
                <a:cs typeface="Calibri" pitchFamily="34" charset="-120"/>
              </a:rPr>
              <a:t> · </a:t>
            </a:r>
            <a:pPr indent="0" marL="0">
              <a:buNone/>
            </a:pPr>
            <a:r>
              <a:rPr lang="en-US" sz="2400" i="1" dirty="0">
                <a:solidFill>
                  <a:srgbClr val="4E5E53"/>
                </a:solidFill>
                <a:latin typeface="Calibri" pitchFamily="34" charset="0"/>
                <a:ea typeface="Calibri" pitchFamily="34" charset="-122"/>
                <a:cs typeface="Calibri" pitchFamily="34" charset="-120"/>
              </a:rPr>
              <a:t>Protects Mind</a:t>
            </a:r>
            <a:endParaRPr lang="en-US" sz="2400" dirty="0"/>
          </a:p>
        </p:txBody>
      </p:sp>
      <p:sp>
        <p:nvSpPr>
          <p:cNvPr id="7" name="Text 4"/>
          <p:cNvSpPr txBox="1"/>
          <p:nvPr/>
        </p:nvSpPr>
        <p:spPr>
          <a:xfrm>
            <a:off x="777240" y="2423160"/>
            <a:ext cx="4951476" cy="123444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Every leader gives the same Shift, Stake and Step for each change.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09928"/>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47088"/>
            <a:ext cx="274320" cy="274320"/>
          </a:xfrm>
          <a:prstGeom prst="rect">
            <a:avLst/>
          </a:prstGeom>
        </p:spPr>
      </p:pic>
      <p:sp>
        <p:nvSpPr>
          <p:cNvPr id="11" name="Text 7"/>
          <p:cNvSpPr txBox="1"/>
          <p:nvPr/>
        </p:nvSpPr>
        <p:spPr>
          <a:xfrm>
            <a:off x="7191756" y="1691640"/>
            <a:ext cx="4219956" cy="5943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One example</a:t>
            </a:r>
            <a:pPr indent="0" marL="0">
              <a:buNone/>
            </a:pPr>
            <a:r>
              <a:rPr lang="en-US" sz="2400" dirty="0">
                <a:solidFill>
                  <a:srgbClr val="4E5E53"/>
                </a:solidFill>
                <a:latin typeface="Calibri" pitchFamily="34" charset="0"/>
                <a:ea typeface="Calibri" pitchFamily="34" charset="-122"/>
                <a:cs typeface="Calibri" pitchFamily="34" charset="-120"/>
              </a:rPr>
              <a:t> · </a:t>
            </a:r>
            <a:pPr indent="0" marL="0">
              <a:buNone/>
            </a:pPr>
            <a:r>
              <a:rPr lang="en-US" sz="2400" i="1" dirty="0">
                <a:solidFill>
                  <a:srgbClr val="4E5E53"/>
                </a:solidFill>
                <a:latin typeface="Calibri" pitchFamily="34" charset="0"/>
                <a:ea typeface="Calibri" pitchFamily="34" charset="-122"/>
                <a:cs typeface="Calibri" pitchFamily="34" charset="-120"/>
              </a:rPr>
              <a:t>Protects Heart</a:t>
            </a:r>
            <a:endParaRPr lang="en-US" sz="2400" dirty="0"/>
          </a:p>
        </p:txBody>
      </p:sp>
      <p:sp>
        <p:nvSpPr>
          <p:cNvPr id="12" name="Text 8"/>
          <p:cNvSpPr txBox="1"/>
          <p:nvPr/>
        </p:nvSpPr>
        <p:spPr>
          <a:xfrm>
            <a:off x="6460236" y="2423160"/>
            <a:ext cx="4951476" cy="123444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Leaders show the ACE-IT behaviours the change needs before they ask for them.</a:t>
            </a:r>
            <a:endParaRPr lang="en-US" sz="2400" dirty="0"/>
          </a:p>
        </p:txBody>
      </p:sp>
      <p:sp>
        <p:nvSpPr>
          <p:cNvPr id="13" name="Shape 9"/>
          <p:cNvSpPr/>
          <p:nvPr/>
        </p:nvSpPr>
        <p:spPr>
          <a:xfrm>
            <a:off x="548640" y="4069080"/>
            <a:ext cx="5408676" cy="2286000"/>
          </a:xfrm>
          <a:prstGeom prst="roundRect">
            <a:avLst>
              <a:gd name="adj" fmla="val 4000"/>
            </a:avLst>
          </a:prstGeom>
          <a:solidFill>
            <a:srgbClr val="1A5C2C"/>
          </a:solidFill>
          <a:ln w="12700">
            <a:solidFill>
              <a:srgbClr val="1A5C2C"/>
            </a:solidFill>
            <a:prstDash val="solid"/>
          </a:ln>
        </p:spPr>
      </p:sp>
      <p:sp>
        <p:nvSpPr>
          <p:cNvPr id="14" name="Shape 10"/>
          <p:cNvSpPr/>
          <p:nvPr/>
        </p:nvSpPr>
        <p:spPr>
          <a:xfrm>
            <a:off x="777240" y="4270248"/>
            <a:ext cx="548640" cy="54864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914400" y="4407408"/>
            <a:ext cx="274320" cy="274320"/>
          </a:xfrm>
          <a:prstGeom prst="rect">
            <a:avLst/>
          </a:prstGeom>
        </p:spPr>
      </p:pic>
      <p:sp>
        <p:nvSpPr>
          <p:cNvPr id="16" name="Text 11"/>
          <p:cNvSpPr txBox="1"/>
          <p:nvPr/>
        </p:nvSpPr>
        <p:spPr>
          <a:xfrm>
            <a:off x="1508760" y="4251960"/>
            <a:ext cx="4219956" cy="59436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One sequence</a:t>
            </a:r>
            <a:pPr indent="0" marL="0">
              <a:buNone/>
            </a:pPr>
            <a:r>
              <a:rPr lang="en-US" sz="2400" dirty="0">
                <a:solidFill>
                  <a:srgbClr val="E6D3A0"/>
                </a:solidFill>
                <a:latin typeface="Calibri" pitchFamily="34" charset="0"/>
                <a:ea typeface="Calibri" pitchFamily="34" charset="-122"/>
                <a:cs typeface="Calibri" pitchFamily="34" charset="-120"/>
              </a:rPr>
              <a:t> · </a:t>
            </a:r>
            <a:pPr indent="0" marL="0">
              <a:buNone/>
            </a:pPr>
            <a:r>
              <a:rPr lang="en-US" sz="2400" i="1" dirty="0">
                <a:solidFill>
                  <a:srgbClr val="E6D3A0"/>
                </a:solidFill>
                <a:latin typeface="Calibri" pitchFamily="34" charset="0"/>
                <a:ea typeface="Calibri" pitchFamily="34" charset="-122"/>
                <a:cs typeface="Calibri" pitchFamily="34" charset="-120"/>
              </a:rPr>
              <a:t>Protects Hands</a:t>
            </a:r>
            <a:endParaRPr lang="en-US" sz="2400" dirty="0"/>
          </a:p>
        </p:txBody>
      </p:sp>
      <p:sp>
        <p:nvSpPr>
          <p:cNvPr id="17" name="Text 12"/>
          <p:cNvSpPr txBox="1"/>
          <p:nvPr/>
        </p:nvSpPr>
        <p:spPr>
          <a:xfrm>
            <a:off x="777240" y="4983480"/>
            <a:ext cx="4951476" cy="123444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The team then agrees the order and the pace.</a:t>
            </a:r>
            <a:endParaRPr lang="en-US" sz="2400" dirty="0"/>
          </a:p>
        </p:txBody>
      </p:sp>
      <p:sp>
        <p:nvSpPr>
          <p:cNvPr id="18" name="Shape 13"/>
          <p:cNvSpPr/>
          <p:nvPr/>
        </p:nvSpPr>
        <p:spPr>
          <a:xfrm>
            <a:off x="6231636" y="4069080"/>
            <a:ext cx="5408676" cy="2286000"/>
          </a:xfrm>
          <a:prstGeom prst="roundRect">
            <a:avLst>
              <a:gd name="adj" fmla="val 4000"/>
            </a:avLst>
          </a:prstGeom>
          <a:solidFill>
            <a:srgbClr val="1A5C2C"/>
          </a:solidFill>
          <a:ln w="12700">
            <a:solidFill>
              <a:srgbClr val="1A5C2C"/>
            </a:solidFill>
            <a:prstDash val="solid"/>
          </a:ln>
        </p:spPr>
      </p:sp>
      <p:sp>
        <p:nvSpPr>
          <p:cNvPr id="19" name="Shape 14"/>
          <p:cNvSpPr/>
          <p:nvPr/>
        </p:nvSpPr>
        <p:spPr>
          <a:xfrm>
            <a:off x="6460236" y="4270248"/>
            <a:ext cx="548640" cy="548640"/>
          </a:xfrm>
          <a:prstGeom prst="ellipse">
            <a:avLst/>
          </a:prstGeom>
          <a:solidFill>
            <a:srgbClr val="C6A24C"/>
          </a:solidFill>
          <a:ln w="12700">
            <a:solidFill>
              <a:srgbClr val="C6A24C"/>
            </a:solidFill>
            <a:prstDash val="solid"/>
          </a:ln>
        </p:spPr>
      </p:sp>
      <p:pic>
        <p:nvPicPr>
          <p:cNvPr id="20" name="Image 3" descr="preencoded.png">    </p:cNvPr>
          <p:cNvPicPr>
            <a:picLocks noChangeAspect="1"/>
          </p:cNvPicPr>
          <p:nvPr/>
        </p:nvPicPr>
        <p:blipFill>
          <a:blip r:embed="rId4"/>
          <a:stretch>
            <a:fillRect/>
          </a:stretch>
        </p:blipFill>
        <p:spPr>
          <a:xfrm>
            <a:off x="6597396" y="4407408"/>
            <a:ext cx="274320" cy="274320"/>
          </a:xfrm>
          <a:prstGeom prst="rect">
            <a:avLst/>
          </a:prstGeom>
        </p:spPr>
      </p:pic>
      <p:sp>
        <p:nvSpPr>
          <p:cNvPr id="21" name="Text 15"/>
          <p:cNvSpPr txBox="1"/>
          <p:nvPr/>
        </p:nvSpPr>
        <p:spPr>
          <a:xfrm>
            <a:off x="7191756" y="4251960"/>
            <a:ext cx="4219956" cy="59436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One owner</a:t>
            </a:r>
            <a:pPr indent="0" marL="0">
              <a:buNone/>
            </a:pPr>
            <a:r>
              <a:rPr lang="en-US" sz="2400" dirty="0">
                <a:solidFill>
                  <a:srgbClr val="E6D3A0"/>
                </a:solidFill>
                <a:latin typeface="Calibri" pitchFamily="34" charset="0"/>
                <a:ea typeface="Calibri" pitchFamily="34" charset="-122"/>
                <a:cs typeface="Calibri" pitchFamily="34" charset="-120"/>
              </a:rPr>
              <a:t> · </a:t>
            </a:r>
            <a:pPr indent="0" marL="0">
              <a:buNone/>
            </a:pPr>
            <a:r>
              <a:rPr lang="en-US" sz="2400" i="1" dirty="0">
                <a:solidFill>
                  <a:srgbClr val="E6D3A0"/>
                </a:solidFill>
                <a:latin typeface="Calibri" pitchFamily="34" charset="0"/>
                <a:ea typeface="Calibri" pitchFamily="34" charset="-122"/>
                <a:cs typeface="Calibri" pitchFamily="34" charset="-120"/>
              </a:rPr>
              <a:t>Protects Habit</a:t>
            </a:r>
            <a:endParaRPr lang="en-US" sz="2400" dirty="0"/>
          </a:p>
        </p:txBody>
      </p:sp>
      <p:sp>
        <p:nvSpPr>
          <p:cNvPr id="22" name="Text 16"/>
          <p:cNvSpPr txBox="1"/>
          <p:nvPr/>
        </p:nvSpPr>
        <p:spPr>
          <a:xfrm>
            <a:off x="6460236" y="4983480"/>
            <a:ext cx="4951476" cy="123444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Each transition has one named leader who answers for adoption, through to Habit.</a:t>
            </a:r>
            <a:endParaRPr lang="en-US" sz="24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1" descr="4.1 Reflection: Which state is your organisation currently closer to? What is the single most important convergence you need to achieve before your next major strategy initiative?"/>
          <p:cNvPicPr>
            <a:picLocks noChangeAspect="1"/>
          </p:cNvPicPr>
          <p:nvPr/>
        </p:nvPicPr>
        <p:blipFill>
          <a:blip r:embed="rId2"/>
          <a:stretch>
            <a:fillRect/>
          </a:stretch>
        </p:blipFill>
        <p:spPr>
          <a:xfrm>
            <a:off x="1691640" y="1572768"/>
            <a:ext cx="9921240" cy="1023394"/>
          </a:xfrm>
          <a:prstGeom prst="rect">
            <a:avLst/>
          </a:prstGeom>
        </p:spPr>
      </p:pic>
      <p:sp>
        <p:nvSpPr>
          <p:cNvPr id="4" name="Part 4.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4.1</a:t>
            </a:r>
          </a:p>
        </p:txBody>
      </p:sp>
      <p:pic>
        <p:nvPicPr>
          <p:cNvPr id="5" name="Reflection 4.2" descr="4.2 Reflection: What is the most important alignment conversation you need to have with a closely adjacent role in the next 30 days? What would that conversation need to address?"/>
          <p:cNvPicPr>
            <a:picLocks noChangeAspect="1"/>
          </p:cNvPicPr>
          <p:nvPr/>
        </p:nvPicPr>
        <p:blipFill>
          <a:blip r:embed="rId3"/>
          <a:stretch>
            <a:fillRect/>
          </a:stretch>
        </p:blipFill>
        <p:spPr>
          <a:xfrm>
            <a:off x="1691640" y="2888770"/>
            <a:ext cx="9921240" cy="1023394"/>
          </a:xfrm>
          <a:prstGeom prst="rect">
            <a:avLst/>
          </a:prstGeom>
        </p:spPr>
      </p:pic>
      <p:sp>
        <p:nvSpPr>
          <p:cNvPr id="6" name="Part 4.2"/>
          <p:cNvSpPr/>
          <p:nvPr/>
        </p:nvSpPr>
        <p:spPr>
          <a:xfrm>
            <a:off x="548640" y="296612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4.2</a:t>
            </a:r>
          </a:p>
        </p:txBody>
      </p:sp>
      <p:pic>
        <p:nvPicPr>
          <p:cNvPr id="7" name="Reflection 4.3" descr="4.3 Reflection — One voice: Choose one group in your organisation. List every change the leadership team is asking of it this quarter. How many are there? Which of the four commitments is weakest in your team today?"/>
          <p:cNvPicPr>
            <a:picLocks noChangeAspect="1"/>
          </p:cNvPicPr>
          <p:nvPr/>
        </p:nvPicPr>
        <p:blipFill>
          <a:blip r:embed="rId4"/>
          <a:stretch>
            <a:fillRect/>
          </a:stretch>
        </p:blipFill>
        <p:spPr>
          <a:xfrm>
            <a:off x="1691640" y="4204772"/>
            <a:ext cx="9921240" cy="1023394"/>
          </a:xfrm>
          <a:prstGeom prst="rect">
            <a:avLst/>
          </a:prstGeom>
        </p:spPr>
      </p:pic>
      <p:sp>
        <p:nvSpPr>
          <p:cNvPr id="8" name="Part 4.3"/>
          <p:cNvSpPr/>
          <p:nvPr/>
        </p:nvSpPr>
        <p:spPr>
          <a:xfrm>
            <a:off x="548640" y="4282129"/>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4.3</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0">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Building Collective Intelligence Through Shared Interpretation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Formulate how one strategic change will be led and how leadership roles connect to support it.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Demonstrate commitment through a behavioural change that strengthens collective alignment.</a:t>
            </a:r>
            <a:endParaRPr lang="en-US" sz="2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Step 1 · Change Transition Map</a:t>
            </a:r>
            <a:endParaRPr lang="en-US" sz="3600" dirty="0"/>
          </a:p>
        </p:txBody>
      </p:sp>
      <p:sp>
        <p:nvSpPr>
          <p:cNvPr id="3" name="Shape 1"/>
          <p:cNvSpPr/>
          <p:nvPr/>
        </p:nvSpPr>
        <p:spPr>
          <a:xfrm>
            <a:off x="548640" y="1508760"/>
            <a:ext cx="5454396" cy="1074420"/>
          </a:xfrm>
          <a:prstGeom prst="roundRect">
            <a:avLst>
              <a:gd name="adj" fmla="val 8511"/>
            </a:avLst>
          </a:prstGeom>
          <a:solidFill>
            <a:srgbClr val="EEF4EF"/>
          </a:solidFill>
          <a:ln w="12700">
            <a:solidFill>
              <a:srgbClr val="EEF4EF"/>
            </a:solidFill>
            <a:prstDash val="solid"/>
          </a:ln>
        </p:spPr>
      </p:sp>
      <p:sp>
        <p:nvSpPr>
          <p:cNvPr id="4" name="Text 2"/>
          <p:cNvSpPr txBox="1"/>
          <p:nvPr/>
        </p:nvSpPr>
        <p:spPr>
          <a:xfrm>
            <a:off x="777240" y="1508760"/>
            <a:ext cx="4997196" cy="107442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The change  </a:t>
            </a:r>
            <a:pPr indent="0" marL="0">
              <a:buNone/>
            </a:pPr>
            <a:r>
              <a:rPr lang="en-US" sz="2400" dirty="0">
                <a:solidFill>
                  <a:srgbClr val="1F2A22"/>
                </a:solidFill>
                <a:latin typeface="Calibri" pitchFamily="34" charset="0"/>
                <a:ea typeface="Calibri" pitchFamily="34" charset="-122"/>
                <a:cs typeface="Calibri" pitchFamily="34" charset="-120"/>
              </a:rPr>
              <a:t>Name the practice, the group and the date.</a:t>
            </a:r>
            <a:endParaRPr lang="en-US" sz="2400" dirty="0"/>
          </a:p>
        </p:txBody>
      </p:sp>
      <p:sp>
        <p:nvSpPr>
          <p:cNvPr id="5" name="Shape 3"/>
          <p:cNvSpPr/>
          <p:nvPr/>
        </p:nvSpPr>
        <p:spPr>
          <a:xfrm>
            <a:off x="6185916" y="1508760"/>
            <a:ext cx="5454396" cy="1074420"/>
          </a:xfrm>
          <a:prstGeom prst="roundRect">
            <a:avLst>
              <a:gd name="adj" fmla="val 8511"/>
            </a:avLst>
          </a:prstGeom>
          <a:solidFill>
            <a:srgbClr val="EEF4EF"/>
          </a:solidFill>
          <a:ln w="12700">
            <a:solidFill>
              <a:srgbClr val="EEF4EF"/>
            </a:solidFill>
            <a:prstDash val="solid"/>
          </a:ln>
        </p:spPr>
      </p:sp>
      <p:sp>
        <p:nvSpPr>
          <p:cNvPr id="6" name="Text 4"/>
          <p:cNvSpPr txBox="1"/>
          <p:nvPr/>
        </p:nvSpPr>
        <p:spPr>
          <a:xfrm>
            <a:off x="6414516" y="1508760"/>
            <a:ext cx="4997196" cy="107442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Who is most affected  </a:t>
            </a:r>
            <a:pPr indent="0" marL="0">
              <a:buNone/>
            </a:pPr>
            <a:r>
              <a:rPr lang="en-US" sz="2400" dirty="0">
                <a:solidFill>
                  <a:srgbClr val="1F2A22"/>
                </a:solidFill>
                <a:latin typeface="Calibri" pitchFamily="34" charset="0"/>
                <a:ea typeface="Calibri" pitchFamily="34" charset="-122"/>
                <a:cs typeface="Calibri" pitchFamily="34" charset="-120"/>
              </a:rPr>
              <a:t>The group whose daily work changes most.</a:t>
            </a:r>
            <a:endParaRPr lang="en-US" sz="2400" dirty="0"/>
          </a:p>
        </p:txBody>
      </p:sp>
      <p:sp>
        <p:nvSpPr>
          <p:cNvPr id="7" name="Shape 5"/>
          <p:cNvSpPr/>
          <p:nvPr/>
        </p:nvSpPr>
        <p:spPr>
          <a:xfrm>
            <a:off x="548640" y="2766060"/>
            <a:ext cx="5454396" cy="1074420"/>
          </a:xfrm>
          <a:prstGeom prst="roundRect">
            <a:avLst>
              <a:gd name="adj" fmla="val 8511"/>
            </a:avLst>
          </a:prstGeom>
          <a:solidFill>
            <a:srgbClr val="EEF4EF"/>
          </a:solidFill>
          <a:ln w="12700">
            <a:solidFill>
              <a:srgbClr val="EEF4EF"/>
            </a:solidFill>
            <a:prstDash val="solid"/>
          </a:ln>
        </p:spPr>
      </p:sp>
      <p:sp>
        <p:nvSpPr>
          <p:cNvPr id="8" name="Text 6"/>
          <p:cNvSpPr txBox="1"/>
          <p:nvPr/>
        </p:nvSpPr>
        <p:spPr>
          <a:xfrm>
            <a:off x="777240" y="2766060"/>
            <a:ext cx="4997196" cy="107442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Mind · 3S  </a:t>
            </a:r>
            <a:pPr indent="0" marL="0">
              <a:buNone/>
            </a:pPr>
            <a:r>
              <a:rPr lang="en-US" sz="2400" dirty="0">
                <a:solidFill>
                  <a:srgbClr val="1F2A22"/>
                </a:solidFill>
                <a:latin typeface="Calibri" pitchFamily="34" charset="0"/>
                <a:ea typeface="Calibri" pitchFamily="34" charset="-122"/>
                <a:cs typeface="Calibri" pitchFamily="34" charset="-120"/>
              </a:rPr>
              <a:t>The Shift, the Stake and the Step</a:t>
            </a:r>
            <a:endParaRPr lang="en-US" sz="2400" dirty="0"/>
          </a:p>
        </p:txBody>
      </p:sp>
      <p:sp>
        <p:nvSpPr>
          <p:cNvPr id="9" name="Shape 7"/>
          <p:cNvSpPr/>
          <p:nvPr/>
        </p:nvSpPr>
        <p:spPr>
          <a:xfrm>
            <a:off x="6185916" y="2766060"/>
            <a:ext cx="5454396" cy="1074420"/>
          </a:xfrm>
          <a:prstGeom prst="roundRect">
            <a:avLst>
              <a:gd name="adj" fmla="val 8511"/>
            </a:avLst>
          </a:prstGeom>
          <a:solidFill>
            <a:srgbClr val="EEF4EF"/>
          </a:solidFill>
          <a:ln w="12700">
            <a:solidFill>
              <a:srgbClr val="EEF4EF"/>
            </a:solidFill>
            <a:prstDash val="solid"/>
          </a:ln>
        </p:spPr>
      </p:sp>
      <p:sp>
        <p:nvSpPr>
          <p:cNvPr id="10" name="Text 8"/>
          <p:cNvSpPr txBox="1"/>
          <p:nvPr/>
        </p:nvSpPr>
        <p:spPr>
          <a:xfrm>
            <a:off x="6414516" y="2766060"/>
            <a:ext cx="4997196" cy="107442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Heart · SCARF  </a:t>
            </a:r>
            <a:pPr indent="0" marL="0">
              <a:buNone/>
            </a:pPr>
            <a:r>
              <a:rPr lang="en-US" sz="2400" dirty="0">
                <a:solidFill>
                  <a:srgbClr val="1F2A22"/>
                </a:solidFill>
                <a:latin typeface="Calibri" pitchFamily="34" charset="0"/>
                <a:ea typeface="Calibri" pitchFamily="34" charset="-122"/>
                <a:cs typeface="Calibri" pitchFamily="34" charset="-120"/>
              </a:rPr>
              <a:t>What they give up, and the trigger it is most likely to fire.</a:t>
            </a:r>
            <a:endParaRPr lang="en-US" sz="2400" dirty="0"/>
          </a:p>
        </p:txBody>
      </p:sp>
      <p:sp>
        <p:nvSpPr>
          <p:cNvPr id="11" name="Shape 9"/>
          <p:cNvSpPr/>
          <p:nvPr/>
        </p:nvSpPr>
        <p:spPr>
          <a:xfrm>
            <a:off x="548640" y="4023360"/>
            <a:ext cx="5454396" cy="1074420"/>
          </a:xfrm>
          <a:prstGeom prst="roundRect">
            <a:avLst>
              <a:gd name="adj" fmla="val 8511"/>
            </a:avLst>
          </a:prstGeom>
          <a:solidFill>
            <a:srgbClr val="EEF4EF"/>
          </a:solidFill>
          <a:ln w="12700">
            <a:solidFill>
              <a:srgbClr val="EEF4EF"/>
            </a:solidFill>
            <a:prstDash val="solid"/>
          </a:ln>
        </p:spPr>
      </p:sp>
      <p:sp>
        <p:nvSpPr>
          <p:cNvPr id="12" name="Text 10"/>
          <p:cNvSpPr txBox="1"/>
          <p:nvPr/>
        </p:nvSpPr>
        <p:spPr>
          <a:xfrm>
            <a:off x="777240" y="4023360"/>
            <a:ext cx="4997196" cy="107442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Hands · STAT  </a:t>
            </a:r>
            <a:pPr indent="0" marL="0">
              <a:buNone/>
            </a:pPr>
            <a:r>
              <a:rPr lang="en-US" sz="2400" dirty="0">
                <a:solidFill>
                  <a:srgbClr val="1F2A22"/>
                </a:solidFill>
                <a:latin typeface="Calibri" pitchFamily="34" charset="0"/>
                <a:ea typeface="Calibri" pitchFamily="34" charset="-122"/>
                <a:cs typeface="Calibri" pitchFamily="34" charset="-120"/>
              </a:rPr>
              <a:t>What is in place and what is missing</a:t>
            </a:r>
            <a:endParaRPr lang="en-US" sz="2400" dirty="0"/>
          </a:p>
        </p:txBody>
      </p:sp>
      <p:sp>
        <p:nvSpPr>
          <p:cNvPr id="13" name="Shape 11"/>
          <p:cNvSpPr/>
          <p:nvPr/>
        </p:nvSpPr>
        <p:spPr>
          <a:xfrm>
            <a:off x="6185916" y="4023360"/>
            <a:ext cx="5454396" cy="1074420"/>
          </a:xfrm>
          <a:prstGeom prst="roundRect">
            <a:avLst>
              <a:gd name="adj" fmla="val 8511"/>
            </a:avLst>
          </a:prstGeom>
          <a:solidFill>
            <a:srgbClr val="EEF4EF"/>
          </a:solidFill>
          <a:ln w="12700">
            <a:solidFill>
              <a:srgbClr val="EEF4EF"/>
            </a:solidFill>
            <a:prstDash val="solid"/>
          </a:ln>
        </p:spPr>
      </p:sp>
      <p:sp>
        <p:nvSpPr>
          <p:cNvPr id="14" name="Text 12"/>
          <p:cNvSpPr txBox="1"/>
          <p:nvPr/>
        </p:nvSpPr>
        <p:spPr>
          <a:xfrm>
            <a:off x="6414516" y="4023360"/>
            <a:ext cx="4997196" cy="107442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Habit · ACE-IT  </a:t>
            </a:r>
            <a:pPr indent="0" marL="0">
              <a:buNone/>
            </a:pPr>
            <a:r>
              <a:rPr lang="en-US" sz="2400" dirty="0">
                <a:solidFill>
                  <a:srgbClr val="1F2A22"/>
                </a:solidFill>
                <a:latin typeface="Calibri" pitchFamily="34" charset="0"/>
                <a:ea typeface="Calibri" pitchFamily="34" charset="-122"/>
                <a:cs typeface="Calibri" pitchFamily="34" charset="-120"/>
              </a:rPr>
              <a:t>How the five behaviours will hold the new practice in place</a:t>
            </a:r>
            <a:endParaRPr lang="en-US" sz="2400" dirty="0"/>
          </a:p>
        </p:txBody>
      </p:sp>
      <p:sp>
        <p:nvSpPr>
          <p:cNvPr id="15" name="Shape 13"/>
          <p:cNvSpPr/>
          <p:nvPr/>
        </p:nvSpPr>
        <p:spPr>
          <a:xfrm>
            <a:off x="548640" y="5280660"/>
            <a:ext cx="5454396" cy="1074420"/>
          </a:xfrm>
          <a:prstGeom prst="roundRect">
            <a:avLst>
              <a:gd name="adj" fmla="val 8511"/>
            </a:avLst>
          </a:prstGeom>
          <a:solidFill>
            <a:srgbClr val="EEF4EF"/>
          </a:solidFill>
          <a:ln w="12700">
            <a:solidFill>
              <a:srgbClr val="EEF4EF"/>
            </a:solidFill>
            <a:prstDash val="solid"/>
          </a:ln>
        </p:spPr>
      </p:sp>
      <p:sp>
        <p:nvSpPr>
          <p:cNvPr id="16" name="Text 14"/>
          <p:cNvSpPr txBox="1"/>
          <p:nvPr/>
        </p:nvSpPr>
        <p:spPr>
          <a:xfrm>
            <a:off x="777240" y="5280660"/>
            <a:ext cx="4997196" cy="107442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Weakest check  </a:t>
            </a:r>
            <a:pPr indent="0" marL="0">
              <a:buNone/>
            </a:pPr>
            <a:r>
              <a:rPr lang="en-US" sz="2400" dirty="0">
                <a:solidFill>
                  <a:srgbClr val="1F2A22"/>
                </a:solidFill>
                <a:latin typeface="Calibri" pitchFamily="34" charset="0"/>
                <a:ea typeface="Calibri" pitchFamily="34" charset="-122"/>
                <a:cs typeface="Calibri" pitchFamily="34" charset="-120"/>
              </a:rPr>
              <a:t>The first check that fails</a:t>
            </a:r>
            <a:endParaRPr lang="en-US" sz="2400" dirty="0"/>
          </a:p>
        </p:txBody>
      </p:sp>
      <p:sp>
        <p:nvSpPr>
          <p:cNvPr id="17" name="Shape 15"/>
          <p:cNvSpPr/>
          <p:nvPr/>
        </p:nvSpPr>
        <p:spPr>
          <a:xfrm>
            <a:off x="6185916" y="5280660"/>
            <a:ext cx="5454396" cy="1074420"/>
          </a:xfrm>
          <a:prstGeom prst="roundRect">
            <a:avLst>
              <a:gd name="adj" fmla="val 8511"/>
            </a:avLst>
          </a:prstGeom>
          <a:solidFill>
            <a:srgbClr val="EEF4EF"/>
          </a:solidFill>
          <a:ln w="12700">
            <a:solidFill>
              <a:srgbClr val="EEF4EF"/>
            </a:solidFill>
            <a:prstDash val="solid"/>
          </a:ln>
        </p:spPr>
      </p:sp>
      <p:sp>
        <p:nvSpPr>
          <p:cNvPr id="18" name="Text 16"/>
          <p:cNvSpPr txBox="1"/>
          <p:nvPr/>
        </p:nvSpPr>
        <p:spPr>
          <a:xfrm>
            <a:off x="6414516" y="5280660"/>
            <a:ext cx="4997196" cy="107442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Leader who owns it  </a:t>
            </a:r>
            <a:pPr indent="0" marL="0">
              <a:buNone/>
            </a:pPr>
            <a:r>
              <a:rPr lang="en-US" sz="2400" dirty="0">
                <a:solidFill>
                  <a:srgbClr val="1F2A22"/>
                </a:solidFill>
                <a:latin typeface="Calibri" pitchFamily="34" charset="0"/>
                <a:ea typeface="Calibri" pitchFamily="34" charset="-122"/>
                <a:cs typeface="Calibri" pitchFamily="34" charset="-120"/>
              </a:rPr>
              <a:t>One named leader who answers for adoption.</a:t>
            </a:r>
            <a:endParaRPr lang="en-US" sz="2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Step 2 · Role Connections</a:t>
            </a:r>
            <a:endParaRPr lang="en-US" sz="3600" dirty="0"/>
          </a:p>
        </p:txBody>
      </p:sp>
      <p:sp>
        <p:nvSpPr>
          <p:cNvPr id="3" name="Shape 1"/>
          <p:cNvSpPr/>
          <p:nvPr/>
        </p:nvSpPr>
        <p:spPr>
          <a:xfrm>
            <a:off x="548640" y="18516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011680"/>
            <a:ext cx="320040" cy="320040"/>
          </a:xfrm>
          <a:prstGeom prst="rect">
            <a:avLst/>
          </a:prstGeom>
        </p:spPr>
      </p:pic>
      <p:sp>
        <p:nvSpPr>
          <p:cNvPr id="5" name="Text 2"/>
          <p:cNvSpPr txBox="1"/>
          <p:nvPr/>
        </p:nvSpPr>
        <p:spPr>
          <a:xfrm>
            <a:off x="1508760" y="1508760"/>
            <a:ext cx="10131552" cy="13258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Row 1: Your Own Role  </a:t>
            </a:r>
            <a:pPr indent="0" marL="0">
              <a:buNone/>
            </a:pPr>
            <a:r>
              <a:rPr lang="en-US" sz="2400" dirty="0">
                <a:solidFill>
                  <a:srgbClr val="1F2A22"/>
                </a:solidFill>
                <a:latin typeface="Calibri" pitchFamily="34" charset="0"/>
                <a:ea typeface="Calibri" pitchFamily="34" charset="-122"/>
                <a:cs typeface="Calibri" pitchFamily="34" charset="-120"/>
              </a:rPr>
              <a:t>How I Create Collective Intelligence</a:t>
            </a:r>
            <a:endParaRPr lang="en-US" sz="2400" dirty="0"/>
          </a:p>
        </p:txBody>
      </p:sp>
      <p:sp>
        <p:nvSpPr>
          <p:cNvPr id="6" name="Shape 3"/>
          <p:cNvSpPr/>
          <p:nvPr/>
        </p:nvSpPr>
        <p:spPr>
          <a:xfrm>
            <a:off x="548640" y="31775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337560"/>
            <a:ext cx="320040" cy="320040"/>
          </a:xfrm>
          <a:prstGeom prst="rect">
            <a:avLst/>
          </a:prstGeom>
        </p:spPr>
      </p:pic>
      <p:sp>
        <p:nvSpPr>
          <p:cNvPr id="8" name="Text 4"/>
          <p:cNvSpPr txBox="1"/>
          <p:nvPr/>
        </p:nvSpPr>
        <p:spPr>
          <a:xfrm>
            <a:off x="1508760" y="2834640"/>
            <a:ext cx="10131552" cy="13258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Row 2: First Closely Related Role  </a:t>
            </a:r>
            <a:pPr indent="0" marL="0">
              <a:buNone/>
            </a:pPr>
            <a:r>
              <a:rPr lang="en-US" sz="2400" dirty="0">
                <a:solidFill>
                  <a:srgbClr val="1F2A22"/>
                </a:solidFill>
                <a:latin typeface="Calibri" pitchFamily="34" charset="0"/>
                <a:ea typeface="Calibri" pitchFamily="34" charset="-122"/>
                <a:cs typeface="Calibri" pitchFamily="34" charset="-120"/>
              </a:rPr>
              <a:t>Why This Role’s Alignment Is Critical to Mine</a:t>
            </a:r>
            <a:endParaRPr lang="en-US" sz="2400" dirty="0"/>
          </a:p>
        </p:txBody>
      </p:sp>
      <p:sp>
        <p:nvSpPr>
          <p:cNvPr id="9" name="Shape 5"/>
          <p:cNvSpPr/>
          <p:nvPr/>
        </p:nvSpPr>
        <p:spPr>
          <a:xfrm>
            <a:off x="548640" y="450342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663440"/>
            <a:ext cx="320040" cy="320040"/>
          </a:xfrm>
          <a:prstGeom prst="rect">
            <a:avLst/>
          </a:prstGeom>
        </p:spPr>
      </p:pic>
      <p:sp>
        <p:nvSpPr>
          <p:cNvPr id="11" name="Text 6"/>
          <p:cNvSpPr txBox="1"/>
          <p:nvPr/>
        </p:nvSpPr>
        <p:spPr>
          <a:xfrm>
            <a:off x="1508760" y="4160520"/>
            <a:ext cx="10131552" cy="13258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Row 3: Second Closely Related Role  </a:t>
            </a:r>
            <a:pPr indent="0" marL="0">
              <a:buNone/>
            </a:pPr>
            <a:r>
              <a:rPr lang="en-US" sz="2400" dirty="0">
                <a:solidFill>
                  <a:srgbClr val="1F2A22"/>
                </a:solidFill>
                <a:latin typeface="Calibri" pitchFamily="34" charset="0"/>
                <a:ea typeface="Calibri" pitchFamily="34" charset="-122"/>
                <a:cs typeface="Calibri" pitchFamily="34" charset="-120"/>
              </a:rPr>
              <a:t>What Would Strengthen Our Alignment</a:t>
            </a:r>
            <a:endParaRPr lang="en-US" sz="2400" dirty="0"/>
          </a:p>
        </p:txBody>
      </p:sp>
      <p:sp>
        <p:nvSpPr>
          <p:cNvPr id="12" name="Shape 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3" name="Text 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Focus on the alignment mechanism.</a:t>
            </a:r>
            <a:endParaRPr lang="en-US" sz="2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Step 3 · Exchange &amp; Dialogue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Exchange 1:  </a:t>
            </a:r>
            <a:pPr indent="0" marL="0">
              <a:buNone/>
            </a:pPr>
            <a:r>
              <a:rPr lang="en-US" sz="2400" dirty="0">
                <a:solidFill>
                  <a:srgbClr val="1F2A22"/>
                </a:solidFill>
                <a:latin typeface="Calibri" pitchFamily="34" charset="0"/>
                <a:ea typeface="Calibri" pitchFamily="34" charset="-122"/>
                <a:cs typeface="Calibri" pitchFamily="34" charset="-120"/>
              </a:rPr>
              <a:t>Does your colleague agree with how you described their alignment contribution?</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Exchange 2:  </a:t>
            </a:r>
            <a:pPr indent="0" marL="0">
              <a:buNone/>
            </a:pPr>
            <a:r>
              <a:rPr lang="en-US" sz="2400" dirty="0">
                <a:solidFill>
                  <a:srgbClr val="1F2A22"/>
                </a:solidFill>
                <a:latin typeface="Calibri" pitchFamily="34" charset="0"/>
                <a:ea typeface="Calibri" pitchFamily="34" charset="-122"/>
                <a:cs typeface="Calibri" pitchFamily="34" charset="-120"/>
              </a:rPr>
              <a:t>Additional connectivity your colleague identified</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Exchange 3:  </a:t>
            </a:r>
            <a:pPr indent="0" marL="0">
              <a:buNone/>
            </a:pPr>
            <a:r>
              <a:rPr lang="en-US" sz="2400" dirty="0">
                <a:solidFill>
                  <a:srgbClr val="1F2A22"/>
                </a:solidFill>
                <a:latin typeface="Calibri" pitchFamily="34" charset="0"/>
                <a:ea typeface="Calibri" pitchFamily="34" charset="-122"/>
                <a:cs typeface="Calibri" pitchFamily="34" charset="-120"/>
              </a:rPr>
              <a:t>Where your interpretations diverged and what that signals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Exchange 4:  </a:t>
            </a:r>
            <a:pPr indent="0" marL="0">
              <a:buNone/>
            </a:pPr>
            <a:r>
              <a:rPr lang="en-US" sz="2400" dirty="0">
                <a:solidFill>
                  <a:srgbClr val="1F2A22"/>
                </a:solidFill>
                <a:latin typeface="Calibri" pitchFamily="34" charset="0"/>
                <a:ea typeface="Calibri" pitchFamily="34" charset="-122"/>
                <a:cs typeface="Calibri" pitchFamily="34" charset="-120"/>
              </a:rPr>
              <a:t>Does your colleague agree with the weakest check and the owner you named for each change?</a:t>
            </a:r>
            <a:endParaRPr lang="en-US" sz="2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Step 4 · Plenary Synthesis</a:t>
            </a:r>
            <a:endParaRPr lang="en-US" sz="3600" dirty="0"/>
          </a:p>
        </p:txBody>
      </p:sp>
      <p:sp>
        <p:nvSpPr>
          <p:cNvPr id="3" name="Shape 1"/>
          <p:cNvSpPr/>
          <p:nvPr/>
        </p:nvSpPr>
        <p:spPr>
          <a:xfrm>
            <a:off x="548640" y="166306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23085"/>
            <a:ext cx="320040" cy="320040"/>
          </a:xfrm>
          <a:prstGeom prst="rect">
            <a:avLst/>
          </a:prstGeom>
        </p:spPr>
      </p:pic>
      <p:sp>
        <p:nvSpPr>
          <p:cNvPr id="5" name="Text 2"/>
          <p:cNvSpPr txBox="1"/>
          <p:nvPr/>
        </p:nvSpPr>
        <p:spPr>
          <a:xfrm>
            <a:off x="1508760" y="1508760"/>
            <a:ext cx="10131552" cy="94869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Most Frequently Underactivated COMPASS Domain(s)</a:t>
            </a:r>
            <a:endParaRPr lang="en-US" sz="2400" dirty="0"/>
          </a:p>
        </p:txBody>
      </p:sp>
      <p:sp>
        <p:nvSpPr>
          <p:cNvPr id="6" name="Shape 3"/>
          <p:cNvSpPr/>
          <p:nvPr/>
        </p:nvSpPr>
        <p:spPr>
          <a:xfrm>
            <a:off x="548640" y="261175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771775"/>
            <a:ext cx="320040" cy="320040"/>
          </a:xfrm>
          <a:prstGeom prst="rect">
            <a:avLst/>
          </a:prstGeom>
        </p:spPr>
      </p:pic>
      <p:sp>
        <p:nvSpPr>
          <p:cNvPr id="8" name="Text 4"/>
          <p:cNvSpPr txBox="1"/>
          <p:nvPr/>
        </p:nvSpPr>
        <p:spPr>
          <a:xfrm>
            <a:off x="1508760" y="2457450"/>
            <a:ext cx="10131552" cy="94869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Shared Patterns — Where Alignment Is Already Strong</a:t>
            </a:r>
            <a:endParaRPr lang="en-US" sz="2400" dirty="0"/>
          </a:p>
        </p:txBody>
      </p:sp>
      <p:sp>
        <p:nvSpPr>
          <p:cNvPr id="9" name="Shape 5"/>
          <p:cNvSpPr/>
          <p:nvPr/>
        </p:nvSpPr>
        <p:spPr>
          <a:xfrm>
            <a:off x="548640" y="35604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20465"/>
            <a:ext cx="320040" cy="320040"/>
          </a:xfrm>
          <a:prstGeom prst="rect">
            <a:avLst/>
          </a:prstGeom>
        </p:spPr>
      </p:pic>
      <p:sp>
        <p:nvSpPr>
          <p:cNvPr id="11" name="Text 6"/>
          <p:cNvSpPr txBox="1"/>
          <p:nvPr/>
        </p:nvSpPr>
        <p:spPr>
          <a:xfrm>
            <a:off x="1508760" y="3406140"/>
            <a:ext cx="10131552" cy="94869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Changes Landing on the Same Group, and the Sequence the Team Agrees</a:t>
            </a:r>
            <a:endParaRPr lang="en-US" sz="2400" dirty="0"/>
          </a:p>
        </p:txBody>
      </p:sp>
      <p:sp>
        <p:nvSpPr>
          <p:cNvPr id="12" name="Shape 7"/>
          <p:cNvSpPr/>
          <p:nvPr/>
        </p:nvSpPr>
        <p:spPr>
          <a:xfrm>
            <a:off x="548640" y="450913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4669155"/>
            <a:ext cx="320040" cy="320040"/>
          </a:xfrm>
          <a:prstGeom prst="rect">
            <a:avLst/>
          </a:prstGeom>
        </p:spPr>
      </p:pic>
      <p:sp>
        <p:nvSpPr>
          <p:cNvPr id="14" name="Text 8"/>
          <p:cNvSpPr txBox="1"/>
          <p:nvPr/>
        </p:nvSpPr>
        <p:spPr>
          <a:xfrm>
            <a:off x="1508760" y="4354830"/>
            <a:ext cx="10131552" cy="94869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Your 30-Day Behavioural Commitment</a:t>
            </a:r>
            <a:endParaRPr lang="en-US" sz="2400" dirty="0"/>
          </a:p>
        </p:txBody>
      </p:sp>
      <p:sp>
        <p:nvSpPr>
          <p:cNvPr id="15" name="Shape 9"/>
          <p:cNvSpPr/>
          <p:nvPr/>
        </p:nvSpPr>
        <p:spPr>
          <a:xfrm>
            <a:off x="548640" y="5440680"/>
            <a:ext cx="11091672" cy="960120"/>
          </a:xfrm>
          <a:prstGeom prst="roundRect">
            <a:avLst>
              <a:gd name="adj" fmla="val 9524"/>
            </a:avLst>
          </a:prstGeom>
          <a:solidFill>
            <a:srgbClr val="0F3B1C"/>
          </a:solidFill>
          <a:ln w="12700">
            <a:solidFill>
              <a:srgbClr val="0F3B1C"/>
            </a:solidFill>
            <a:prstDash val="solid"/>
          </a:ln>
        </p:spPr>
      </p:sp>
      <p:sp>
        <p:nvSpPr>
          <p:cNvPr id="16" name="Text 10"/>
          <p:cNvSpPr txBox="1"/>
          <p:nvPr/>
        </p:nvSpPr>
        <p:spPr>
          <a:xfrm>
            <a:off x="822960" y="5440680"/>
            <a:ext cx="10607040" cy="96012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Step 4 is Capstone work: your group’s confirmed outputs feed your team’s Capstone Blueprint.</a:t>
            </a:r>
            <a:endParaRPr lang="en-US" sz="2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The closing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Which COMPASS domain is this team most likely rating too generously — and which executive role has quietly stopped carrying its alignment responsibility there?</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5 · Aligning Heart &amp; Mind</dc:title>
  <dc:subject>PptxGenJS Presentation</dc:subject>
  <dc:creator>Institute of Behavioural Strategy &amp; Leadership</dc:creator>
  <cp:lastModifiedBy>Institute of Behavioural Strategy &amp; Leadership</cp:lastModifiedBy>
  <cp:revision>1</cp:revision>
  <dcterms:created xsi:type="dcterms:W3CDTF">2026-10-08T11:58:03Z</dcterms:created>
  <dcterms:modified xsi:type="dcterms:W3CDTF">2026-10-08T11:58:03Z</dcterms:modified>
</cp:coreProperties>
</file>