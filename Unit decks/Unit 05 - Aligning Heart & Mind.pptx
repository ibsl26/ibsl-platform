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5 · ALIGNING HEART &amp; MIND
Module 3 · Influence · Unit 5
Unit intent (Facilitator Guide):
Unit 5 establishes the human operating system of execution. Strategy moves through people, and functional expertise, bias and emotion shape how each leader interprets it. The unit builds a shared enterprise interpretation and the behaviours that sustain commitment.
SCARF explains resistance, ACE-IT sets the behaviour standard and COMPASS locates the hot zones. The Section 5 exercise, in which leaders map how their roles connect, is the centrepiece.
The 4 Checks of Mind, Heart, Hands and Habit give leaders one discipline for leading people through the changes the strategy requires: 3S tests Mind, SCARF reads Heart, STAT tests Hands and ACE-IT holds Habit. The Section 5 exercise opens with the Change Transition Map.
Unit overview (facilitator file): Before strategy becomes operational activity, it must be interpreted, experienced, and accepted by the people responsible for carrying it forward. This unit establishes the human operating system that enables strategy to move from intention to execution.
Time: section timings in the facilitator file add up to about 267–325 minutes (4½ to 5½ hours), plus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Critically examine how functional expertise, personality, cognitive bias and emotional conditions influence the interpretation of strategy.
2. Demonstrate shared strategic understanding and commitment across the leadership system.
3. Recognise the organisational conditions that strengthen or weaken strategic alignment.
4. Lead people through the changes the strategy requires, with deliberate attention to readiness, resistance and adoption.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by section (from the facilitator file):
- Section 1 · Awareness — What: 80–100 minutes
- Section 2 · Intelligence — Why: 35–40 minutes
- Section 3 · Extrapolating — Where: 50–60 minutes
- Section 4 · Integration — Collective: 40–50 minutes
- Section 5 · Application — In Practice: Step 1 15 min · Step 2 12–15 min · Step 3 15–20 min · Step 4 20–25 min
Key Facilitation Questions
“What is the dominant emotion your team carries into the current strategy, and how does it change what people invest?”
“Which SCARF trigger does the current strategy activate most for your people?”
“For the most important change in your strategy, which check would your people fail first: Mind, Heart, Hands or Habit?”
“Which COMPASS zone would flare first in your organisation under pressure? What is the early warning?”
“What behavioural change will you model in the next month so others can see alignment in action?”
Tone &amp; Watch Points
Watch for: compliance mistaken for commitment. Probe: “Would they still act this way if no one were checking?”
Watch for: installation reported as adoption. Probe: “Would the new practice hold on a busy day with no one checking?”
Watch for: emotion treated as a side topic. Connect each emotional state to an execution consequence.
Watch for: commitments that describe intentions. Each behavioural change must be observable by the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is Aligning Heart &amp; Mind?
Interrogative Anchor · Before any strategy can be executed, it must travel through people. People arrive at every strategy meeting carrying a personality profile, emotional defaults, and personal motives that determine how much energy they will invest in the organisation’s goals.
Section learning outcomes:
1. Examine how functional expertise, cognitive bias and emotion shape the interpretation of strategy.
2. Recognise what people need in order to adopt a strategic change, and the behaviours that sustain it.
FACILITATOR GUIDANCE — Section 1 · Awareness
Section intent: Establish the foundational insight that strategy is first and foremost a human interpretation problem. Leaders must feel this before they can act on it. Resist the urge to move to solutions quickly — create space for recognition.
Opening provocation: “Think of a strategy that was perfectly designed and then failed in execution. What broke? Was it the plan — or the people who had to carry it?” Pause. Use silence productively. This question surfaces the lived experience that anchors the entire unit.
On the Five Principles: Work through these sequentially. Each builds on the previous. Do not allow leaders to skip to SCARF or ACE-IT without first establishing the foundational logic. Suggested section time: 80–100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THE HUMAN TERRAIN OF STRATEGY EXECUTION (Foundation)
FACILITATOR GUIDANCE — Section 1.1
The Functional Bias Problem: Ask leaders to honestly name their primary perspective. The CFO thinks in capital efficiency. The COO in delivery flow. The CHRO in capability. None is wrong — but when these operate without deliberate integration, strategy fragments invisibly. Suggested time: 10–12 minutes.
Key facilitation question: “When your leadership team last debated a strategic priority — were you all interpreting the same data from the same perspective? Or from the perspective of your function?”
Content:
Strategy enters an organisation through the people responsible for interpreting and acting on it. Before strategy becomes operational activity, it passes through two human filters:
Cognition — Mind
How individuals interpret what strategy means. Shaped by professional expertise, mental shortcuts, past experience, and risk perception.
Emotion — Heart
How individuals experience the strategy. Shapes engagement energy, morale, friction load, psychological safety, and values alignment.
The Result
Whether strategy produces clarity or confusion, commitment or compliance, momentum or hesitation. Execution begins inside the human system.
The deeper challenge behind execution friction: Strategy is fundamentally a human interpretation problem. The Functional Bias Problem reveals that organisations do not interpret strategy as a single, shared reality. When perspectives diverge, even highly capable executives can unintentionally pull the organisation in different directions.
Participant file (1.1 — The Human Terrain of Strategy Execution) — prompts participants complete:
- ✎ Reflection In your current role, which filter (Mind or Heart) tends to shape your first response to a new strategic priority? What are the implications?</a:t>
            </a:r>
            <a:endParaRPr lang="en-US" dirty="0"/>
          </a:p>
          <a:p/>
          <a:p>
            <a:r>
              <a:t>Professional insights:</a:t>
            </a:r>
          </a:p>
          <a:p/>
          <a:p>
            <a:r>
              <a:t>Cognition — Mind: Many leaders are one bad interior sentence away from a quarter of poor decisions: the silent conclusion that the situation is unwinnable or that the board has already decided. Ask participants to write down the sentence running in their head about the future and test it against the evidence.</a:t>
            </a:r>
          </a:p>
          <a:p>
            <a:r>
              <a:t>Source: Journal, 18 May 2026 — Professional Insights: Strategy</a:t>
            </a:r>
          </a:p>
          <a:p/>
          <a:p>
            <a:r>
              <a:t>Emotion — Heart: Organisations that reduce everything to deliverables and KPIs, with no sense of what it is all for, produce people who show up physically and are absent in every other way. People need to feel the significance of what they are part of.</a:t>
            </a:r>
          </a:p>
          <a:p>
            <a:r>
              <a:t>Source: Journal, 12 January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FIVE PRINCIPLES OF ALIGNING HEART &amp; MIND (Expand Each Principle)
FACILITATOR GUIDANCE — Section 1.2
Pacing: Open each principle card and read the insight aloud before inviting reflection. Do not let the group race through. Principle 2 (Misalignment Fragments Effort) generates the most immediate recognition — use it as a pivot.
After all five: “Which principle describes the most critical gap in your leadership team right now? Choose one.” The choice itself is diagnostic. Suggested time: 15–18 minutes.
Content: the five principles follow in order, one slide each. The detail for each principle is in the notes of its slide.
Participant file (1.2 — The Five Principles of Aligning Heart &amp; Mind) — prompts participants complete:
- ✎ Reflection Which of the Five Principles describes the most critical gap in your leadership team right now? What is the evidence for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PRINCIPLE 1 — STRATEGY MOVES THROUGH PEOPLE
Content:
Principle 1
Strategy Moves Through People
The human entry point of execution. Alignment of the mind (cognition) and heart (emotion) is the first execution system.
Cognitive alignment focuses on making biases visible so they can be managed deliberately. In practice: identify dominant decision biases at executive level, name how those biases shape the S2R® process, establish shared decision principles that counter predictable distortions.
Emotional alignment requires naming the current emotional state through which strategy is being experienced. Leaders operate from a dominant state of being (Joy, Sadness, Anger, Fear, Disgust, Surprise). Each state influences engagement energy, morale drain, friction load, psychological safety, and values alignment.
➤ Facilitation insight: Ask leaders to name the dominant emotion in their current team right now. If they cannot name it, they cannot manage it — and it will manage them.</a:t>
            </a:r>
            <a:endParaRPr lang="en-US" dirty="0"/>
          </a:p>
          <a:p/>
          <a:p>
            <a:r>
              <a:t>Professional insights:</a:t>
            </a:r>
          </a:p>
          <a:p/>
          <a:p>
            <a:r>
              <a:t>Principle 1 · Strategy moves through people: Leaders who consistently explain the why behind hard decisions, structural changes and accountability moments build a culture of understanding. Every significant leadership act should leave people knowing something true about the organisation’s direction and character.</a:t>
            </a:r>
          </a:p>
          <a:p>
            <a:r>
              <a:t>Source: Journal, 2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PRINCIPLE 2 — MISALIGNMENT FRAGMENTS EFFORT
Content:
Principle 2
Misalignment Fragments Effort
The cost of ignoring the human system. When interpretation and emotional experience are not aligned, effort begins to fragment. Everyone remains active, yet the organisation moves with split effort.
Chinese Whispers
Intent mutates as it travels downward. Frontline execution bears little resemblance to boardroom intent.
Clarification Debt
60–80% of leadership time spent re-explaining, correcting, realigning. Leaders are patching.
Silent Disengagement
People comply outwardly but withdraw inwardly. Looks like cooperation. Feels like exhaustion.
Data: Low-alignment organisations experience 41% lower productivity and 48% higher turnover. This drift is dangerous because it is gradual, rationalised, and expensive (Gallup; PMI).
Guidance: Principle 2 (Misalignment Fragments Effort) generates the most immediate recognition — use it as a pivot.</a:t>
            </a:r>
            <a:endParaRPr lang="en-US" dirty="0"/>
          </a:p>
          <a:p/>
          <a:p>
            <a:r>
              <a:t>Professional insights:</a:t>
            </a:r>
          </a:p>
          <a:p/>
          <a:p>
            <a:r>
              <a:t>Chinese Whispers: Organisations that communicate direction only in crisis moments find that the alignment achieved has dissipated by the next one. Consistent, continuous direction communication produces lasting alignment.</a:t>
            </a:r>
          </a:p>
          <a:p>
            <a:r>
              <a:t>Source: Journal, 17 February 2026 — Professional Insights: Strategy</a:t>
            </a:r>
          </a:p>
          <a:p/>
          <a:p>
            <a:r>
              <a:t>Clarification Debt: Leadership communication must be designed for the receiver. Expertise becomes ineffective when it cannot be translated into clear understanding.</a:t>
            </a:r>
          </a:p>
          <a:p>
            <a:r>
              <a:t>Source: Journal, 11 September 2026 — Professional Insights: Leadership</a:t>
            </a:r>
          </a:p>
          <a:p/>
          <a:p>
            <a:r>
              <a:t>Leaders own the knowledge gap: Where people do not know the governing principles, the strategic direction or the cultural standards, drift follows. The leaders responsible for communicating them are accountable for the gap between what people know and what they need to know.</a:t>
            </a:r>
          </a:p>
          <a:p>
            <a:r>
              <a:t>Source: Journal, 26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PRINCIPLE 3 — ALIGNMENT MUST BE DESIGNED
Content:
Principle 3
Alignment Must Be Designed
Alignment rarely emerges naturally. It must be intentionally designed through structured interventions that make interpretation and emotional climate visible. Two diagnostic assessments support this design:
OCEAVL Assessment
Surfaces psychological tendencies influencing executive decision-making. Dimensions: Openness, Conscientiousness, Extraversion, Agreeableness, Emotional Stability, Values Alignment, Learning Orientation. Available on demand — excel or HTML format with facilitated report generation.
Emotional Climate Assessment
Identifies the prevailing state of being across six core emotional categories: Joy, Sadness, Anger, Fear, Disgust, Surprise. Allows leaders to stabilise engagement before demanding execution. Available on demand.
➤ Facilitation insight: These assessments are diagnostic tools. Their power lies in the conversation they generate. Frame them as leadership mirrors.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PRINCIPLE 4 — HUMAN REACTIONS ARE PREDICTABLE
Content:
Principle 4
Human Reactions Are Predictable
Reactions to strategic change follow predictable psychological patterns. The SCARF Model (David Rock) explains five social conditions that trigger emotional responses during change. The human brain processes social change using the same threat circuitry as physical danger — any new goal, system, or way of working is evaluated emotionally before it is evaluated rationally.
The five SCARF triggers are explored in detail in section 1.5. The SCARF Tool is available on demand for leaders who want to monitor observable behaviours and proactively strengthen their alignment of heart and mind.
➤ Facilitation insight: The power of SCARF lies in the recognition. When a leader can name which trigger is driving resistance, they can address the root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PRINCIPLE 5 — EXECUTION MUST BE VISIBLE IN BEHAVIOUR
Content:
Principle 5
Execution Must Be Visible in Behaviour
Strategic alignment ultimately becomes visible through behaviour. Without observable behaviour, alignment remains theoretical. With behavioural standards, alignment becomes visible, measurable, and sustainable.
The ACE-IT Framework defines five universally desired behaviours: Accountability, Commitment, Engagement, Integrity, Transparency. These behaviours are independent of an organisation’s stated values — they represent the minimum behavioural standard for any leadership team serious about execution. Explored in detail in section 1.7.
➤ Facilitation insight: Ask leaders: “If someone external observed your team for one week, which ACE-IT behaviour would they see most clearly? Which would be absent?” The honest answer is a diagnostic.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CHANGE MANAGEMENT: THE 4 CHECKS OF MIND, HEART, HANDS AND HABIT (Expand Each Check)
FACILITATOR GUIDANCE — Section 1.3
Section intent: Establish change management as a leadership discipline with a clear test of success. Leaders leave 1.3 able to say which check a change has reached.
Opening provocation: “Think of a change your organisation announced well and still struggled to land. On the day after the announcement, what did you believe was done?” Use the answers to separate the event from the transition.
Set-up for the unit: Each leader writes down one live change their strategy requires of a named group. They carry it through every later part and into the Section 5 exercise.
Key facilitation question: “For that change, which check would your people fail first?” Take three answers. Note which checks are named and which are left out, and return to the list in 1.6.
Watch for: leaders who treat the four checks as four communications. Only the first is about the message. Suggested time: 10–12 minutes.
Content:
1.1 showed that strategy reaches people through two filters, Mind and Heart. 1.2 showed that alignment has to be designed. This part applies both to the moment a strategy asks people to work differently.
Change management is the leadership discipline of moving people from current practice to the practice the strategy requires.
The event and the transition
A change is an event. It is announced on a date, and on that date the structure, the system or the target is different. The transition is what each affected person goes through afterwards: letting go of a familiar practice, working out what the new one asks of them, and becoming able to do it. The event belongs to the organisation. The transition belongs to the person.
A leadership team debates a change for months before announcing it. Leaders finish their own transition on the day everyone else begins theirs. The distance between the two is where impatience on one side meets resistance on the other. Change management is the work of leading people across that distance.
Participant file (1.3 — Change Management: The 4 Checks of Mind, Heart, Hands and Habit) — prompts participants complete:
- ✎ Reflection — The event and the transition Write down one change your strategy requires of a named group. You will carry this change through the rest of the unit. On the day it was announced, how far through their own transition were the leaders, and how far were the people 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4 CHECKS OF MIND, HEART, HANDS AND HABIT
Guidance:
Key facilitation question: “For that change, which check would your people fail first?” Take three answers. Note which checks are named and which are left out, and return to the list in 1.6.
Watch for: leaders who treat the four checks as four communications. Only the first is about the message. Suggested time: 10–12 minutes.
Content:
The 4 Checks of Mind, Heart, Hands and Habit
A change is adopted when it passes four checks for the people it affects. Mind and Heart are the two filters from 1.1. Hands and Habit extend the same path to the point where the new practice is real. Each check asks one question and has one tool. Expand each check.
Check 1 · Mind
They understand the change, why it matters and what they do differently.
Understanding is tested by what people can say back in their own words. An announcement shows that the leader has spoken. The check shows what the people have understood, after each of them has passed the message through their own expertise, shortcuts, experience and sense of risk.
Tool: the 3S Check (1.4).
✓ Passed when: people in the same team describe the change in the same way.
⚠ Failed when: people repeat the slogan and cannot say what they personally do differently.
Check 2 · Heart
They want it to succeed.
Wanting is a decision each person makes. It is the ignition point described in Section 2: “This matters to me.” Most changes threaten something for the people they touch: standing, certainty, control, belonging or fairness. Until that threat is addressed, a person who understands the change holds back their energy.
Tool: the SCARF Model (1.5).
✓ Passed when: people bring problems and ideas to the change.
⚠ Failed when: the room is quiet, effort is minimal and people say they are “waiting for alignment”.
Check 3 · Hands
They are able to do it.
Ability is practical. It rests on four things: skill, time, authority and tools. A person can understand a change and want it, and still be unable to do it on an ordinary working day. From a distance, that person looks the same as one who is unwilling.
Tool: the STAT Check (1.6).
✓ Passed when: people do the new work unaided.
⚠ Failed when: workarounds appear, decisions are passed upward and the new practice is done last.
Check 4 · Habit
It has become the way they work.
A practice becomes habit when it is repeated, noticed and expected. Until then it depends on effort and attention, and both fall away under pressure. The five ACE-IT behaviours are what hold a new practice in place after the launch has passed.
Tool: ACE-IT (1.7).
✓ Passed when: the practice holds when the leader is absent.
⚠ Failed when: the old way returns under the first pressure.
Why the order matters
Each check depends on the one before it. A person cannot want a change they have misread. They will not perform a change they do not want, and skill offered to an unwilling person is left unused. A practice cannot become habit while most people are unable to perform it.
The practical rule follows. A change stalls at the first check it fails, and that check is where the leader’s effort belongs. Effort spent further along the path is lost.
A team that understands a change and resents it has stalled at Heart. More explanation will not move it.
A team that wants a change and has no authority to act has stalled at Hands. More encouragement will not move it.
A team that did it well for a month and drifted back has stalled at Habit. A relaunch will not hold it.
The leader’s four jobs
Leading the transition means doing one job at each check. Each job is taught with its tool in the four parts that follow.
Check | Tool | Leader’s job | Complete when
Mind | 3S | Explain | Three people from the affected group give the same Shift, Stake and Step.
Heart | SCARF | Involve | The people affected can point to a part of the change they shaped.
Hands | STAT | Equip | A person can perform the new practice from start to finish without asking permission or using a workaround.
Habit | ACE-IT | Reinforce | The practice holds through a full review period with the leader absent.
Industry parallel: the Prosci ADKAR® Model (Awareness, Desire, Knowledge, Ability, Reinforcement).
➤ Insight: For the last change you announced, which check has it reached today? If you cannot name the check, the change has been announced and left to chance.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THE 3S CHECK: SHIFT, STAKE, STEP (Three Questions)
FACILITATOR GUIDANCE — Section 1.4
Live demonstration: Ask two leaders to write the Shift, the Stake and the Step for the same change, without conferring, and read them aloud. The difference between the two versions is the lesson. Two leaders with different versions pass on two different changes.
On the Stake: Check that each Stake gives both sides. Where only the gain is given, ask: “What happens to this team in a year if nothing changes?”
Watch for: Explain rated as complete because an announcement went out. Probe: “What would a front-line employee say back to you?”
Watch for: a Step written for the organisation. Ask the leader to say it in the first person, as a member of the affected group. Suggested time: 10–12 minutes.
Content:
3S is the Mind check. It asks whether the people affected have understood the change as the leader intended it. Understanding is interpretation. Each person rebuilds the message through their own expertise, mental shortcuts, past experience and risk perception. The Functional Bias Problem from 1.1 applies in full: finance hears a cost decision, operations hears a process change, and the front line hears a judgement on how they have worked until now.
Leaders are poorly placed to judge this for themselves. After months inside a change, its logic feels obvious to them, and an obvious message feels like a clear one. The 3S Check replaces that feeling with a test. Mind passes when the people affected can say three things about the change in their own words.
Shift
“What is changing?”
What It Is
The Shift names the practice that ends and the practice that begins, for a named group, from a named date. It is concrete enough to be observed: someone watching the work could tell whether it is happening. A direction such as “more customer-focused” leaves every person to decide what it means, and each will decide differently.
Weak
“We are becoming more customer-focused.”
Clear
“From March, agents resolve complaints on the first call.”
Shows Up As
People describe the old practice under a new name • Different teams describe different changes
⚠ Execution: Chinese Whispers. The change mutates as it travels, and each function executes its own version.
➤ Leader’s move: State the Shift as from and to: what stops, what starts, for whom, from when.
Stake
“What do we gain if we change, and what do we lose if we stay as we are?”
What It Is
The Stake is why the change matters, and it has two sides. The gain says what the change is for. The loss says what standing still will cost. Both are needed, because people weigh a loss more heavily than an equal gain. A change described only by its benefits leaves the people affected holding the one visible loss: the practice they are asked to give up. Naming what is lost by staying put places a second loss on the scales. The Stake is stated in terms the affected group cares about. An enterprise benefit that never reaches their work reads as someone else’s reason.
Weak
“It supports our strategy.”
Clear
“We keep the customers who now leave after a two-day wait. If we stay as we are, we keep losing them.”
Shows Up As
“Because head office said so” • People can describe the change and cannot say what it is for
⚠ Execution: Compliance without conviction. The change is carried out while it is watched and set aside under pressure.
➤ Leader’s move: State the gain and the loss together, in the group’s own terms.
Step
“What do I do differently?”
What It Is
The Step is the person’s own part. It is said in the first person and is small enough to do next week. The Shift belongs to the organisation and the Step belongs to the person, so each role affected needs its own. A change with a clear Shift and no Step is understood as something that will happen to other people.
Weak
“Embrace the new process.”
Clear
“I decide on the call, within my limit.”
Shows Up As
“I am waiting to be told” • People agree with the change and carry on as before
⚠ Execution: Agreement without movement. The change is endorsed in meetings and absent from daily work.
➤ Leader’s move: Give each affected role its own Step, and ask people to say it back.
How to run the 3S Check
Write your own Shift, Stake and Step for the change.
Ask three people from the affected group to say theirs, without prompting.
Compare their versions with yours and with each other.
Reading the result
What you hear | What it tells you
The versions match. | Mind passes. Move to the Heart check.
Same Shift, different Stake. | People know what is changing and disagree on why. Restate the Stake in their terms.
Shift and Stake are clear, and there is no Step. | People see the change as someone else’s. Give each role its own Step.
Different Shifts. | Chinese Whispers. Return to one message, said in the same words by every leader.
Where a version differs from yours, the person’s own filter has reshaped it. The difference is information. It shows which part of the message to restate, and to whom.
The leader’s job at this check · Mind — Explain
The job: give people a version of the change they can repeat. State the Shift, the Stake and the Step in the same words each time, in every forum, until people can say them back. Repetition feels excessive to the leader long before the message has landed.
Complete when: three people from the affected group give the same Shift, Stake and Step.
Sounds like: “From March, complaints are resolved on the first call. We are losing customers who wait two days for an answer. Your part is to decide on the call, within your limit.”
⚠ When skipped: people fill the gap with their own version, and Clarification Debt builds: leadership time is spent re-explaining a change that was never understood the first time.
Participant file (1.4 — The 3S Check: Shift, Stake, Step) — prompts participants complete:
- ✎ Reflection — The 3S Check Write the Shift, the Stake and the Step for the change you are carrying through this unit. Which of the three would your people find hardest to say back,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 THE SCARF MODEL: FIVE TRIGGERS OF HUMAN RESISTANCE (Expand Each Trigger)
FACILITATOR GUIDANCE — Section 1.5
Framing: Open by naming SCARF as the Heart check. The trigger cards are taught as they are today.
On pacing: Open each SCARF card and read the trigger question aloud. Then pause: “In your last major strategy implementation — which of these triggers did you observe most? How did you know?”
Key distinction: The SCARF triggers activate universally. Leaders who manage it well are distinguished by awareness and deliberate counter-strategy.
On involvement: Involvement is about how the change is done. The decision that it will be done stays with the leader. Leaders who blur the two invite a debate they did not intend. Suggested time: 15–18 minutes.
SCARF Tool
Available on demand for leaders who want to actively monitor observable behaviours during strategy discussions or change initiatives. Helps identify the underlying social concerns influencing reactions — enabling leaders to adjust their approach in real time.
Content:
SCARF is the Heart check. When a trigger fires, a person who understands the change still withholds their energy from it.
Expand each trigger to explore what activates it, how it shows up in behaviour, its execution impact, and the counter-strategy that addresses it.
Status
“Will this reduce my importance?”
Activated By
New leaders • New KPIs exposing performance • New systems shifting expertise • Changed reporting lines
Shows Up As
Defensive behaviour • Undermining decisions • Withholding information or cooperation
⚠ Execution: Political friction • Slowed decisions • Misalignment masked as professionalism
➤ Counter: Explicitly acknowledge existing credibility. Involve senior leaders in co-designing new structures — status is protected when people have agency in the change.
Certainty
“Do I know what success looks like?”
Activated By
New goals • Ambiguous ownership • Changing metrics or timelines • Shifting review processes
Shows Up As
Repeated clarification requests • Delay disguised as “waiting for alignment” • Reversion to old habits
⚠ Execution: Loss of momentum • Paralysis under pressure • Risk avoidance
➤ Counter: Create visible milestones early. The brain seeks pattern — give it enough structure to move without removing all ambiguity.
Autonomy
“Am I losing control of my work?”
Activated By
New systems • Standardised processes • Centralised decision rights • Increased oversight or reporting
Shows Up As
Passive compliance • Minimal effort delivery • Resistance through bureaucracy
⚠ Execution: Low engagement energy • Mechanical execution • Fragile performance
➤ Counter: Standardise the what and offer bounded choice on the how. Bounded choice preserves autonomy while honouring the mandate.
Relatedness
“Do I still belong here?”
Activated By
Team restructuring • New leaders or external hires • Cross-functional initiatives • Remote or hybrid shifts
Shows Up As
Silo behaviour • Reduced collaboration • Guarded communication
⚠ Execution: Trust erosion • Coordination breakdown • Rework and duplication
➤ Counter: Create visible connection rituals during transitions. People need to feel part of the tribe before they will share resources or risk vulnerability.
Fairness
“Is this being applied equitably?”
Activated By
Uneven workload • Selective enforcement of rules • Inconsistent rewards • Unclear decision rationale
Shows Up As
Cynicism • Gossip replacing dialogue • Emotional withdrawal
⚠ Execution: Values misalignment • Morale drain • Cultural decay
➤ Counter: Proactively explain rationale behind decisions — especially asymmetric ones. Transparency about trade-offs is perceived as fairness even when outcomes differ.
The leader’s job at this check · Heart — Involve
The job: give people a hand in shaping how the change lands. The leader decides what changes and opens up how it is done. Name plainly what people give up. Identify the live SCARF trigger and apply its counter. Involve their managers first, because managers carry the change into every team conversation.
Why it works: a part in the decision answers each trigger. Being consulted restores Status. Seeing the plan early restores Certainty. Choosing how restores Autonomy. Working on it together restores Relatedness. Hearing the reasons restores Fairness.
Complete when: the people affected can point to a part of the change they shaped.
Sounds like: “You know these calls better than I do. Where should the decision limit sit?”
⚠ When skipped: Silent Disengagement. People comply, do the minimum and wait to be chased.
Participant file (1.5 — The SCARF Model: Five Triggers of Human Resistance) — prompts participants complete:
- ✎ Reflection Which SCARF trigger is most frequently activated in your organisation during strategy implementation? What is the observable evidence? What counter-strategy would address the root cause?</a:t>
            </a:r>
            <a:endParaRPr lang="en-US" dirty="0"/>
          </a:p>
          <a:p/>
          <a:p>
            <a:r>
              <a:t>Professional insights:</a:t>
            </a:r>
          </a:p>
          <a:p/>
          <a:p>
            <a:r>
              <a:t>Certainty: In unfamiliar territory, address the fear in the team directly, promise presence and support, and describe what success looks like and how the team will know it has been achieved.</a:t>
            </a:r>
          </a:p>
          <a:p>
            <a:r>
              <a:t>Source: Journal, 29 January 2026 — Professional Insights: Strategy</a:t>
            </a:r>
          </a:p>
          <a:p/>
          <a:p>
            <a:r>
              <a:t>Resistance and legitimacy: Leaders who answer resistance with escalating force are solving for control when the problem is legitimacy. Ask why the resistance exists before deciding how to respond.</a:t>
            </a:r>
          </a:p>
          <a:p>
            <a:r>
              <a:t>Source: Journal, 3 February 2026 — Professional Insights: Strategy</a:t>
            </a:r>
          </a:p>
          <a:p/>
          <a:p>
            <a:r>
              <a:t>Resistance as information: Repeated resistance can be the signal of a genuine obstacle. Leaders who suppress it without investigating its source risk striking the messenger and missing the obstacle.</a:t>
            </a:r>
          </a:p>
          <a:p>
            <a:r>
              <a:t>Source: Journal, 11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 THE STAT CHECK: SKILL, TIME, AUTHORITY, TOOLS (Four Elements)
FACILITATOR GUIDANCE — Section 1.6
Demonstration: Take one leader’s change and run the four questions in front of the group. Stay longest on Authority. Ask: “What can this person now decide without asking you?”
Return to 1.3: Revisit the checks leaders named as most likely to fail. Ask whether any of the “resistance” they described could be a Hands gap.
Watch for: training offered as the answer to every Hands gap. Ask which STAT element the training closes. Suggested time: 8–10 minutes.
Content:
STAT is the Hands check. It asks whether people who understand a change and want it are able to carry it out on an ordinary working day. Mind and Heart sit inside the person. Hands sits largely in the conditions around the person, and those conditions are set by leaders.
This is the check most easily misread. A person who is unable to perform a change looks, from a distance, like a person who is unwilling: the new practice is late, partial or missing. A leader who reads that as resistance answers with more persuasion, when the gap is a missing decision right or a system that still fits the old way. STAT separates the two. Hands passes when all four elements are in place.
Skill
“Do they know how to do it?”
What It Is
Skill is the practised ability to do the new work to standard. It is built by doing the work with feedback. A briefing transfers information, and information becomes skill only after a person has performed the practice several times and been corrected.
Shows Up As
Errors and rework • Reliance on one or two experts • People reverting to the old method “to get it done”
⚠ Execution: Quality falls at the moment the change needs to prove itself, and the old way looks safer.
➤ Leader’s move: Teach, practise on real work and coach on the job. Pair the experts with the rest.
Time
“Do they have the hours to do it?”
What It Is
Time is the working capacity to perform the new practice properly. Most changes are added to a full day. When nothing is removed, the new work competes with the old, and the old work has the deadlines, the habits and the measures on its side.
Shows Up As
The new practice is done last • Done in a rush • Dropped on a busy day
⚠ Execution: The change is alive in quiet weeks and absent in busy ones.
➤ Leader’s move: Take old work away before adding new work, and say what stops.
Authority
“Are they allowed to decide and act?”
What It Is
Authority is the permission to decide and act as the change requires. Many changes move decisions closer to the customer or the front line. Until the limit of the new decision is stated, the safest course for the individual is to ask permission, and the decision travels back up to where it used to sit.
Shows Up As
Escalations • People ask permission for what the change asks them to do
⚠ Execution: The change runs slower than the practice it replaced, and leaders become the bottleneck.
➤ Leader’s move: Set the decision limit, state it openly, and back the first decisions made under it. The first decision that is overruled teaches everyone to keep asking.
Tools
“Do they have the systems and resources?”
What It Is
Tools are the systems, information and resources the new practice depends on. A practice has to be possible in the system people use every day. Where the system, the form or the budget still fits the old way, people build workarounds, and a workaround is the old practice surviving inside the new one.
Shows Up As
Spreadsheets beside the system • Manual steps • Requests waiting on another team
⚠ Execution: Two versions of the truth, extra effort and errors that stay hidden.
➤ Leader’s move: Provide access and budget before the start date, and retire the old form or route.
One missing element is enough to stop people who understand and want the change. Training closes a Skill gap. It leaves a Time, Authority or Tools gap exactly where it was.
The leader’s job at this check · Hands — Equip
The job: make the new practice possible on an ordinary working day. Run the STAT Check with the people affected, since they know what is missing. Supply it, and remove the old work, rules and approvals that stand in the way.
Complete when: a person can perform the new practice from start to finish without asking permission or using a workaround.
Sounds like: “What do you need from me to do this on Monday?”
⚠ When skipped: willing people fail, and their failure is read as resistance. Heart, which had passed, begins to fail as well.
➤ Insight: Which of the four is your organisation quickest to supply, and which is it slowest to grant?
Participant file (1.6 — The STAT Check: Skill, Time, Authority, Tools) — prompts participants complete:
- ✎ Reflection — The STAT Check Run STAT for the change you are carrying through this unit. Which element is missing for the people it affects most? What is your evidence, and what is yours to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ACE-IT: THE OBSERVABLE BEHAVIOUR STANDARD (Expand Each Behaviour)
FACILITATOR GUIDANCE — Section 1.7
Framing: Open by naming ACE-IT as the Habit check. The behaviour cards are taught as they are today.
Key framing: ACE-IT is a behavioural standard, independent of the organisation’s stated values. It describes the minimum visible behaviours required for strategic alignment to be real and visible.
After all five: “If you audited your last leadership review against these five behaviours — where would you find the biggest gap between the ideal and the observable?”
Closing Section 1: Ask each leader to state, for the change they are carrying, the check they expect it to fail first and the job that follows. This sentence is the bridge into Section 2. Suggested time: 13–16 minutes.
Content:
ACE-IT is the Habit check. These five behaviours are what hold a new practice in place.
A
Accountability
Definition
Taking full ownership for results. Acknowledging missteps and driving corrective action.
Desired Behaviour
Defines clear ownership • Acknowledges missteps • Holds self and others to measurable standards
✓ Observable: Commitments tracked • Reviews end with named owners • “We missed it, here’s the fix” language common
C
Commitment
Definition
Staying anchored to agreed strategic intent even when pressure rises. Following through despite discomfort.
Desired Behaviour
Aligns daily choices to long-term direction • Protects priorities from noise • Closes loops they open
✓ Observable: Strategic priorities stay consistent • Leaders decline non-strategic work • Promises kept visibly
E
Engagement
Definition
Actively involving self and others in sense-making, dialogue, and execution. Listening to understand.
Desired Behaviour
Invites participation and dissent • Connects roles to purpose • Creates two-way dialogue
✓ Observable: Team meetings are two-way • Feedback loops visible • People quote the shared “why”
I
Integrity
Definition
Acting consistently with values, facts, and truth — even when inconvenient. Declaring conflicts of interest early.
Desired Behaviour
Says what is true, even when it is hard • Uses data to support choices • References values in trade-offs
✓ Observable: Evidence cited before decisions • Values referenced in hard choices • Teams trust word matches deed
T
Transparency
Definition
Making reasoning, progress, and constraints visible to all stakeholders. Sharing challenges openly.
Desired Behaviour
Communicates decisions with rationale • Documents choices and lessons • Shares progress including setbacks
✓ Observable: Dashboards updated regularly • Decisions logged and accessible • “No surprises” culture evident
How ACE-IT holds a new practice
Habit is the last check and the one asked earliest. The question is put before the change starts: how will the five behaviours hold the new practice in place? A change with no answer has no plan for the day after launch.
Behaviour | What it does for a new practice
Accountability | One named person owns the practice and its result.
Commitment | The practice is kept when pressure rises and the old way is quicker.
Engagement | People talk about how it is going and improve it together.
Integrity | Slips are reported as they are, and early.
Transparency | Its results are visible to everyone the change affects.
The leader’s job at this check · Habit — Reinforce
The job: make the new practice the expected practice. Show it yourself first. Notice it when it happens, recognise it by name and correct a slip early. Put it into the regular review so that it is asked about every time. What leaders ask about, people repeat. A practice that is never asked about is understood to be optional.
Complete when: the practice holds through a full review period with the leader absent.
Sounds like: “I saw you close that case on the call. That is the standard.”
⚠ When skipped: the old way returns under the first pressure, and the organisation concludes that the change was a phase.
Participant file (1.7 — ACE-IT: The Observable Behaviour Standard) — prompts participants complete:
- ✎ Reflection If you audited your last leadership review against the ACE-IT behaviours — where would you find the biggest gap between the ideal and the observable? What one behavioural change would create the most impact?</a:t>
            </a:r>
            <a:endParaRPr lang="en-US" dirty="0"/>
          </a:p>
          <a:p/>
          <a:p>
            <a:r>
              <a:t>Professional insights:</a:t>
            </a:r>
          </a:p>
          <a:p/>
          <a:p>
            <a:r>
              <a:t>Integrity: The team reads the practice and discounts the statement, and the gap between the two is where credibility erodes fastest. Ask leaders to name where their stated position and lived practice run in opposite directions, and to close the gap before someone else names it.</a:t>
            </a:r>
          </a:p>
          <a:p>
            <a:r>
              <a:t>Source: Journal, 21 April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Does Heart &amp; Mind Alignment Determine Execution Outcomes?
Ignition Point · Within the Strategy2Results® process, Aligning Hearts and Minds functions as the ignition point of execution — the moment where strategy transitions from a document describing intent into a system capable of producing movement.
Section learning outcomes:
1. Explain why shared understanding and commitment convert strategy into execution.
2. Distinguish commitment from compliance and explain why change delivers value only when it is adopted.
FACILITATOR GUIDANCE — Section 2 · Intelligence
Section intent: Move from describing the concept of alignment to understanding its strategic necessity. Leaders must understand why this is the mechanical conversion point of strategy. This section should create a shift from intellectual understanding to operational conviction.
The energy analogy: The Potential vs. Kinetic Energy logic is highly effective with CXO-level audiences. Engineers, finance leaders, and operators all recognise this from their domain. Use it as an anchor before moving to the compliance/commitment distinction. Suggested section time: 35–40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THE IGNITION POINT OF STRATEGY EXECUTION (Foundation Logic)
FACILITATOR GUIDANCE — Section 2.1
On the ignition metaphor: An ignition point is where fuel becomes power. A strategy document is stored potential. The moment a person decides “This matters to me” is when kinetic energy begins. Without that moment, the fuel stays fuel.
Discussion prompt: “Think of a time when you personally chose to go beyond compliance and genuinely committed to a strategic direction. What caused that shift? What would it take to create that same shift in your team?” Suggested time: 8–10 minutes.
Content:
A strategy document contains strategic potential. It articulates direction, ambition, and possibility. However, potential by definition represents energy at rest. For strategic potential to convert into kinetic energy — movement, execution, and results — human action must occur. No system executes itself.
Execution begins the moment an individual decides: “This matters to me. I am willing to invest energy in making this succeed.” Until that moment occurs across the organisation, strategy remains theoretical. Aligning Hearts and Minds activates the human energy required to convert intention into action. This is the ignition point.
Without this ignition point, strategy remains defined but not delivered. With it, the organisation shifts from supervised effort to self-driven momentum — the strategic payoff that makes alignment the highest-leverage leadership intervention available.
Participant file (2.1 — The Ignition Point of Strategy Execution) — prompts participants complete:
- ✎ Reflection Think of a time when you personally chose to go beyond compliance and genuinely committed to a strategic direction. What caused that shift? What would it take to create that same shift in your team?</a:t>
            </a:r>
            <a:endParaRPr lang="en-US" dirty="0"/>
          </a:p>
          <a:p/>
          <a:p>
            <a:r>
              <a:t>Professional insights:</a:t>
            </a:r>
          </a:p>
          <a:p/>
          <a:p>
            <a:r>
              <a:t>Published and understood: Organisations often assume that completing a restructure, implementing a system or publishing a strategy means transformation has occurred. Sustainable results require people to understand what the change means, why it matters and what they must now do differently.</a:t>
            </a:r>
          </a:p>
          <a:p>
            <a:r>
              <a:t>Source: Journal, 9 August 2026 — Professional Insights: Strategy</a:t>
            </a:r>
          </a:p>
          <a:p/>
          <a:p>
            <a:r>
              <a:t>Knowing and committing: Strategic paralysis often comes from the gap between knowing what needs to happen and committing to do it. If the strategy has been articulated and nothing has moved in a quarter, the bottleneck is the commitment.</a:t>
            </a:r>
          </a:p>
          <a:p>
            <a:r>
              <a:t>Source: Journal, 13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THREE FOUNDATIONAL LOGICS (Why It Matters Operationally)
FACILITATOR GUIDANCE — Section 2.2
Logic II (Compliance vs. Commitment) typically generates the highest impact with CXO audiences. Leaders recognise compliance-driven execution immediately — they have managed it and been frustrated by it. Ask: “How much of your leadership time is currently spent enforcing compliance?” The honest answer is usually sobering. Suggested time: 12–15 minutes.
Content:
I. Potential vs. Kinetic Energy Logic
A strategy document is strategic potential — energy at rest. For it to become kinetic energy (movement, execution, results), a human decision must activate it. The alignment of heart and mind is precisely the conversion mechanism. Every day that decision is not made is a day strategic potential sits unused. The organisation does not move until people decide to move it. Leadership cannot shortcut this decision — it can only create the conditions for it.
II. Compliance vs. Commitment Logic
Compliance — Mind Only
People act because authority requires it, rules enforce it, or systems monitor it. Produces visible output short-term. Requires continuous supervision. Creates hidden costs: leadership time consumed by follow-ups, teams dependent on instruction, decision-making slows as control increases. Mechanical and brittle.
Commitment — Mind &amp; Heart
People act because they understand strategic intent, believe the direction is meaningful, and feel personal ownership. Generates behaviours compliance cannot sustain: discretionary effort, adaptive problem-solving, resilience when conditions change. Execution continues even when leaders are not present.
III. The Strategic Payoff of Alignment
When both cognition and emotion are aligned: people act with ownership, coordination improves across functions, and leaders spend less time correcting and more time advancing strategy. This shift reduces rework, lowers escalation, and preserves leadership capacity for decisions that truly require executive attention. Aligning Hearts and Minds is the mechanical conversion point where strategic potential becomes strategic movement.
Participant file (2.2 — Three Foundational Logics) — prompts participants complete:
- ✎ Reflection How much of your current leadership time is spent enforcing compliance? What is the opportunity cost of this?</a:t>
            </a:r>
            <a:endParaRPr lang="en-US" dirty="0"/>
          </a:p>
          <a:p/>
          <a:p>
            <a:r>
              <a:t>Professional insights:</a:t>
            </a:r>
          </a:p>
          <a:p/>
          <a:p>
            <a:r>
              <a:t>Resilient when leaders are absent: A leader can manage someone’s conduct without ever securing their conviction. The question to ask about the people being developed: do they understand why well enough to sustain it without me? Dependence on the leader’s presence is managed behaviour.</a:t>
            </a:r>
          </a:p>
          <a:p>
            <a:r>
              <a:t>Source: Journal, 24 June 2026 — Professional Insights: Leadership</a:t>
            </a:r>
          </a:p>
          <a:p/>
          <a:p>
            <a:r>
              <a:t>Engagement without adoption: A draining pattern in mature teams is engagement without adoption: the team attends, questions and challenges, and the decision is never received. Name the pattern directly, then either revise the decision or close the debate and call for adoption.</a:t>
            </a:r>
          </a:p>
          <a:p>
            <a:r>
              <a:t>Source: Journal, 19 April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WHY CHANGE MUST BE LED: INSTALLED AND ADOPTED (The Value Logic)
FACILITATOR GUIDANCE — Section 2.3
Key distinction: Installation is a project milestone and adoption is a behaviour. Ask which of the two the leadership team currently reports on.
Link to 2.2: Return to the energy logic. An installed change is potential energy. Adoption is the point at which it becomes kinetic.
Discussion prompt: “Name one change that is installed and still awaiting adoption. What has the wait cost in rework, supervision or lost benefit?” Ask for a figure, even a rough one.
Watch for: the gap blamed on the people affected. Ask which check failed, and whose job that check was. Suggested time: 8–10 minutes.
Content:
2.2 described a strategy as potential energy that a human decision converts into movement. A change follows the same logic. On the day it is installed, its value is still potential. The value is earned later, when people work the new way without being watched.
Installed
The new system, structure or KPI is in place, and people have been told.
Installation is a project outcome. It can be planned, funded and delivered on a date, and it is easy to report as success.
What you see: the launch is complete, the training register is signed and the dashboard is live.
What it yields: cost. The organisation has paid for the change and is still working the old way.
Adopted
People work the new way without supervision. The change has passed all four checks.
Adoption is a behavioural outcome. It arrives group by group, at the pace of each group’s slowest check, and no launch date can declare it.
What you see: the new practice holds on a busy day, people correct each other, and the old workaround has gone.
What it yields: value. The benefit the strategy counted on is being earned.
The adoption gap
The time between installed and adopted is the adoption gap. While it lasts, the organisation runs two practices at once: the new one it has built and the old one people still use. Supervision rises, because compliance has to be checked. The benefits counted when the strategy was approved remain unearned.
The gap also has a cost that outlasts the change itself. Every change that is installed and left unadopted teaches the organisation that a change can be waited out. The next change starts with less belief, and Heart is harder to pass.
The gap closes one check at a time. Compliance can install a change. Commitment is what carries it through to Habit, and adoption holds when leaders notice and reinforce the new practice.
Three signals a change is installed and awaiting adoption
Use of the new practice falls when the leader is absent.
Reports are complete and the result has not moved.
People call it “the new system” and describe their own work as unchanged.
Data: 81% of those who planned for reinforcement met or exceeded their project objectives (Prosci, Best Practices in Change Management, 12th edition).
Participant file (2.3 — Why Change Must Be Led: Installed and Adopted) — prompts participants complete:
- ✎ Reflection — Installed and adopted Name one change in your organisation that is installed and still awaiting adoption. Which check did it fail: Mind, Heart, Hands or Habit? What has the adoption gap cost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Are the Alignment Hot Zones Across the Organisation?
The Alignment Brigade · The COMPASS framework identifies seven High Flammable Zones where human interpretation, emotional climate, and behaviour directly influence strategic outcomes. These are the leverage points — and the danger zones.
Section learning outcomes:
1. Recognise where interpretation, emotional climate and behaviour strengthen or weaken alignment, and the signals that misalignment is escalating into crisis.
2. Assess the readiness of the people most affected by the changes the strategy requires.
FACILITATOR GUIDANCE — Section 3 · Extrapolating
Section intent: Make the alignment concept specific and organisationally urgent. Leaders must finish this section knowing where their most significant alignment risks live, in named domains of their enterprise.
Diagnostic exercise: Before revealing the COMPASS narratives, ask participants to independently rate their organisation on each domain (1 = strong alignment, 5 = severe misalignment). Then compare ratings across the leadership team. Divergent ratings are themselves diagnostic. Suggested section time: 50–60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COMPASS FRAMEWORK: SEVEN HIGH FLAMMABLE ZONES (Click a Domain)
FACILITATOR GUIDANCE — Section 3.1
On the COMPASS cards: Invite leaders to click the domain they rated highest risk first. Then ask the group: “Who has a different view? Where does your assessment diverge?” Divergence in the room is itself a signal — name it explicitly.
Key distinction: High Flammables are leverage points — dangerous, but early intervention stabilises them. Burning Platforms are what happens when leverage points are ignored. The COMPASS diagnostic is about catching zones before they ignite. Suggested time: 18–22 minutes.
Content:
Click each COMPASS domain to explore the signal narrative, how it appears when lit, and the facilitation question that drives early intervention.
C
Clarity of Strategic Direction
O
Organisational Alignment
M
Management Discipline
P
People &amp; Capability
A
Allocation of Resources
S
Sensing &amp; Adaptation
S
Systems &amp; Execution
The Signal Narrative
The most dangerous fire in any organisation is the quiet combustion when leaders believe they are aligned but are navigating by different compasses. Clarity of Strategic Direction is whether people can describe the strategy in the same language, connect it to daily decisions, and hold it steady under pressure.
When this signal flares: confidence in meetings, confusion in corridors. Priorities multiply. Trade-offs are avoided. Frontline execution diverges from boardroom intent when the destination was never made unambiguous enough to follow.
Observable Indicators
Executives presenting polished strategies that fracture the moment they leave the room. Multiple competing priorities in different functions. Leaders spending time re-explaining decisions that should already be settled.
⚠ Signal lit: “Everyone has a different version of what we said.”
➤ Facilitation question: “Can every person in this room describe the top three strategic priorities in the same order, using the same language? Try it now.”
The Signal Narrative
Alignment is coordinated behaviour outside the room. Leaders declare alignment after a planning session, observe nodding in forums, and interpret absence of challenge as shared commitment. They are often wrong. True alignment is only visible in behaviour.
When this signal ignites, it burns slowly and spreads widely. Silos deepen. Functions execute their own version of the strategy. The informal system quietly undermines the formal one.
Observable Indicators
Agreements reached in meetings relitigated through resource approvals and parallel conversations. Initiatives requiring cross-functional collaboration consistently stall. Senior arbitration required for decisions that should be self-coordinating.
⚠ Signal lit: “We agreed on this — why is it not happening?”
➤ Facilitation question: “Where in your organisation do decisions made at the top not survive the journey to implementation? What sits between the decision and the delivery?”
The Signal Narrative
Strategy fails in the gap between what leaders decide and what managers actually enforce, measure, and hold accountable. Management Discipline is the signal that tells you whether the operating rhythm — reviews, escalation norms, accountability structures, governance forums — is a genuine engine of delivery or an elaborate performance of oversight.
When this signal flares, performance reviews recycle the same issues without resolution. The same gaps appear in consecutive cycles and are explained and left uncorrected.
Observable Indicators
Accountability is diffuse — owned collectively, which means owned by no one. Leaders tolerate persistent underperformance. The culture has decided that explanation is an acceptable substitute for consequence.
⚠ Signal lit: “We keep discussing the same issues with no resolution.”
➤ Facilitation question: “In your last three performance reviews, what was the single most recurring issue? Has it been resolved, or has it been re-explained?”
The Signal Narrative
Organisations frequently approve strategies that their people are not yet equipped to deliver. The People &amp; Capability signal is alight when there is a meaningful distance between the skills, capacity, and engagement required and what the organisation actually has available.
This signal is particularly dangerous because it is slow-burning and easy to rationalise. Leaders attribute execution failures to process or strategy when the root cause is a capability system never designed to carry the weight being placed on it.
Observable Indicators
Middle managers stretched beyond bandwidth. Succession plans that exist as documents but not operational reality. Engagement scores declining while leadership describes culture as resilient. Key talent exiting quietly. Institutional knowledge walking out the door.
⚠ Signal lit: “We have the strategy but not the people to execute it.”
➤ Facilitation question: “If you had to deliver your strategy with the team you have today — which specific capability gaps would most limit you? When did you last name those gaps explicitly?”
The Signal Narrative
An organisation’s true strategy is found in its budget. When this signal ignites, there is a visible gap between what leadership declares as strategic and what gets funded, staffed, and protected when decisions become difficult.
Legacy spend continues by inertia. New priorities are approved in language but starved in practice. The longer resources misalign with stated direction, the more credibility erodes, and the harder it becomes to mobilise genuine commitment behind any priority.
Observable Indicators
Stated priorities and funded priorities are clearly different. Strategy decks bear no resemblance to budget allocation. “Strategic” initiatives consistently underfunded or deferred. Leaders handed responsibility without resources to honour it.
⚠ Signal lit: “We say this is a priority but the resources tell a different story.”
➤ Facilitation question: “Look at your budget allocation. Does money follow the stated strategy? Where is the gap between declared priority and funded priority?”
The Signal Narrative
Markets shift. Customer needs evolve. Competitive dynamics change faster than planning cycles. The Sensing &amp; Adaptation signal measures whether the organisation is genuinely learning from what is happening around it — or whether it is processing information selectively, defending existing plans, and mistaking activity for responsiveness.
The deeper danger is cultural — when leaders learn that raising uncomfortable signals carries social cost, the organisation gradually loses its early warning system entirely.
Observable Indicators
Customer data reviewed but not acted on. Market shifts acknowledged then filed away. Leaders defending forecasts the evidence no longer supports. Early warning signals dismissed as noise. The organisation confuses having a strategy with having the right strategy.
⚠ Signal lit: “We knew this was coming, but we didn’t adapt fast enough.”
➤ Facilitation question: “What is one market or customer signal your organisation is receiving that is not yet reflected in your strategic plan? What would it take to act on it?”
The Signal Narrative
A new strategy running through an old machine will always produce the same result. Systems &amp; Execution asks the hardest question: is the organisation actually built to deliver what it has committed to, in its architecture? Does the operating model match the strategic priorities?
When this signal is lit, technology investments produce impressive demonstrations and negligible adoption. Operating models built for stability are asked to deliver agility. Leaders sense something fundamental is misaligned but reach for tactical interventions when what is required is a willingness to redesign the machine.
Observable Indicators
The organisation invests in transformation while being structurally configured to resist it. Structural ambiguities create friction compounding with every execution cycle. Leaders sense misalignment but add governance layers, urgency, or communication, and leave the structure unchanged.
⚠ Signal lit: “The structure is working against the strategy.”
➤ Facilitation question: “Is your current operating model designed for the strategy you have now — or for a strategy you had two years ago? What would redesigning the machine actually require?”
Participant file (3.1 — The COMPASS Framework: Seven High Flammable Zones) — prompts participants complete:
- ✎ Reflection — COMPASS Diagnostic Which domain did you rate highest risk? What is the observable evidence? Is it still a High Flammable or has it crossed to Burning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FROM HIGH FLAMMABLES TO BURNING PLATFORMS (Escalation Threshold)
FACILITATOR GUIDANCE — Section 3.2
On the escalation threshold: High Flammable Zones are pressure points with high leverage. They become Burning Platforms only when alignment is consistently absent and the zone crosses a tipping point. Ask: “Which of your COMPASS domains is closest to that threshold right now?”
Enterprise COMPASS Screening Tool: Available on demand. Helps teams move from vague alignment concerns to clear diagnosis and targeted intervention. Recommended for use at strategy reviews and execution forums. Suggested time: 8–10 minutes.
Enterprise COMPASS Screening Tool
Available on demand for structured diagnostic baseline. Used regularly during strategy reviews, execution forums, or leadership discussions to identify which zones are approaching the escalation threshold before they cross it. Converts vague “alignment concerns” into specific diagnosis and targeted intervention.
Content:
High Flammable Zone
Organisational leverage points. When alignment is strong: rapid clarity, coordinated effort, compounding momentum. When alignment is weak: distorted interpretation, defensive behaviour, multiplying friction.
✓ Early intervention stabilises the zone and converts it into a performance amplifier.
Burning Platform
What a High Flammable becomes when misalignment persists and crosses the escalation threshold. By this point, execution breakdown is visible and costly. Reactive interventions cost exponentially more than proactive alignment would have.
⚠ The same zone that was manageable as a leverage point becomes a crisis requiring systemic rebuilding.</a:t>
            </a:r>
            <a:endParaRPr lang="en-US" dirty="0"/>
          </a:p>
          <a:p/>
          <a:p>
            <a:r>
              <a:t>Professional insights:</a:t>
            </a:r>
          </a:p>
          <a:p/>
          <a:p>
            <a:r>
              <a:t>Listening to strain: A strategy that cannot absorb honest feedback becomes disconnected from reality. When operational strain, excessive demands or declining trust are raised, assess how people are experiencing the system. Early listening is the intervention that stabilises a High Flammable Zone.</a:t>
            </a:r>
          </a:p>
          <a:p>
            <a:r>
              <a:t>Source: Journal, 17 July 2026 — Professional Insights: Strategy</a:t>
            </a:r>
          </a:p>
          <a:p/>
          <a:p>
            <a:r>
              <a:t>Diagnose the soil: The same input lands differently depending on the ground it falls on. When a change initiative fails to take, the reflex is to blame the message. First diagnose the conditions stopping good input from rooting.</a:t>
            </a:r>
          </a:p>
          <a:p>
            <a:r>
              <a:t>Source: Journal, 21 May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 CHANGE READINESS ACROSS THE ORGANISATION (Readiness Scan)
FACILITATOR GUIDANCE — Section 3.3
Process: Leaders rate their own change individually and in silence, using the rating guide. Then pair leaders who share an affected group and compare their ratings.
Key facilitation move: Where two leaders rate the same group differently, leave it unresolved and name it: “You are leading the same people through the same change with two different readings.”
On the worked scan: Draw attention to the team leaders. They score best on Mind and are the group most likely to block the change. Understanding a change and wanting it are separate checks.
Watch for: one plan for every group. Ask which group the plan was written for. Suggested time: 12–15 minutes.
Content:
COMPASS shows where the organisation is exposed. Readiness shows how far each group of people has come through the 4 Checks for one specific change. The two are read together.
Readiness belongs to a group and a change together. The same group can be ready for one change and unready for another. The same change finds different groups at different checks, because it asks something different of each: one group gives up a decision, another gains one, a third carries on as before and feels overlooked.
How to run the scan
Name one change and list the groups it affects.
Run the 4 Checks for each group. Rate each check from 1 (fully in place) to 5 (missing).
Find each group’s first check that scores 4 or 5. Leadership effort for that group starts there.
Rating guide
Check | 1 · Fully in place | 3 · Partly in place | 5 · Missing
Mind · 3S | People give the same Shift, Stake and Step. | People give the Shift and differ on the Stake or the Step. | People give different versions of the change.
Heart · SCARF | People bring ideas and problems to the change. | People comply and stay quiet. | A SCARF trigger is live and resistance is open or hidden.
Hands · STAT | Skill, time, authority and tools are all in place. | One STAT element is missing. | Two or more STAT elements are missing.
Habit · ACE-IT | The practice holds when the leader is absent. | The practice holds when it is checked. | The new practice has not started, or the old one has returned.
Scores of 2 and 4 fall between these descriptions.
Worked scan · resolve complaints at first contact
Group | Mind | Heart | Hands | Habit | Start here
Contact-centre agents | 2 | 3 | 5 | 4 | Hands
Team leaders | 1 | 4 | 2 | 4 | Heart
Back-office specialists | 4 | 4 | 1 | 3 | Mind
Reading the scan
Contact-centre agents
Start at Hands. Agents understand the change and broadly accept it. They have no decision limit and no access to the refunds system. Further communication adds nothing for this group until authority and tools are in place.
Team leaders
Start at Heart. Team leaders understand the change best of all. It moves decisions from them to their agents, which fires Status and Autonomy. Until that is addressed, they are unlikely to coach agents to use the new authority, and the agents’ Hands gap will stay open.
Back-office specialists
Start at Mind. Specialists have the ability and have not been told what the change means for their own work. A strong Hands score has no effect while Mind fails.
One change, three groups, three starting points. A single plan written for every group serves one of them.
Three misreadings to avoid
Reading quiet as ready. A group that complies and stays silent scores 3 on Heart. Silence is the absence of information.
Reading a Hands gap as resistance. Late or partial practice looks the same whether people are unwilling or unable. Run STAT before concluding.
Averaging the scores. A group strong on three checks and failing one is stalled at that one. The first failing check decides, and an average hides it.
Readiness and COMPASS
Now place each group in its COMPASS zone from 3.1. Low readiness inside a High Flammable Zone marks where a change is most likely to cross the escalation threshold and become a Burning Platform. Those groups come first.
Participant file (3.3 — Change Readiness Across the Organisation) — prompts participants complete:
- ✎ Reflection — Readiness For the change you are carrying through this unit, list the groups it affects and rate each on the 4 Checks. Which group is least ready? Which check fails first, and what is your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How Aligning Heart &amp; Mind Creates Collective Intelligence
The Converging Zone · The executive team enters the Converging Zone, where individual functional perspectives integrate into a shared leadership interpretation. At this point, the leadership team begins operating as a single leadership system, stabilising all seven COMPASS domains.
Section learning outcomes:
1. Explain how individual alignment responsibilities combine into a coherent enterprise interpretation.
2. Recognise where gaps in role alignment and competing change demands create enterprise vulnerability.
FACILITATOR GUIDANCE — Section 4 · Integration
Section intent: Lift the focus from individual alignment to systemic leadership alignment. The Converging Zone is where individual functional expertise becomes coordinated leadership judgement. Without this, the organisation receives multiple interpretations of strategy, causing instability across all seven COMPASS domains.
On the role grid: Ask each leader to click their own role card first. Then: “Do you recognise this description? Is this how your team experiences your alignment contribution?” Then invite leaders to look at each other’s cards. This is particularly powerful when the full CXO team is in the room. Suggested section time: 40–50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THE CONVERGING ZONE: WHAT COLLECTIVE INTELLIGENCE CREATES (Foundation)
FACILITATOR GUIDANCE — Section 4.1
Two states exercise: Ask leaders to identify which state their organisation is currently closer to. Then: “What is the single most important convergence you need to achieve before your next major strategy initiative?” Suggested time: 8–10 minutes.
Content:
With Collective Intelligence
Direction remains clear across all layers
Resources reinforce priorities
Systems enable execution
People move with coordinated effort
✓ One coherent signal across the organisation. COMPASS domains become leverage points for performance.
Without Collective Intelligence
Different leaders transmit different interpretations
COMPASS domains begin to drift
Functions receive competing signals
Strategic instability spreads invisibly
⚠ Multiple conflicting signals. Leverage zones become sources of execution friction.
Participant file (4.1 — The Converging Zone: What Collective Intelligence Creates) — prompts participants complete:
- ✎ Reflection Which state is your organisation currently closer to? What is the single most important convergence you need to achieve before your next major strategy initiative?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COLLECTIVE INTELLIGENCE ACROSS THE LEADERSHIP TEAM (Click a Role)
FACILITATOR GUIDANCE — Section 4.2
Key facilitation: After each leader has reviewed their own role, invite them to look at the role most adjacent to theirs. Ask: “What is the most important alignment conversation you need to have with that role in the next 30 days?” The answer frequently becomes a direct post-session commitment. Suggested time: 15–18 minutes.
Content:
Click a role to explore how each CXO function contributes to Collective Intelligence and which COMPASS domains it most directly activates.
CEO
Chief Executive
CFO
Chief Financial
COO
Chief Operating
CHRO
Chief Human Resources
CTO/CIO
Chief Technology/Information
CMO
Chief Marketing
CCO
Chief Commercial
CPO
Chief Procurement
CRO
Chief Risk
CSO
Chief Strategy
Converging Zone Contribution
Integrates all seven COMPASS domains into one coherent strategic narrative. Ensures direction, priorities, and trade-offs are communicated with one leadership voice. The CEO’s primary alignment responsibility is preventing the “Chinese Whispers” effect by keeping the strategic story intact as it moves through the organisation.
Primary COMPASS Activation
Clarity of DirectionOrganisational Alignment
When the CEO’s alignment is absent or inconsistent, all other roles struggle to converge — the COMPASS framework loses its anchor point.
Converging Zone Contribution
Ensures capital allocation and financial discipline reinforce strategic intent and concentrate resources on the agreed priorities. The CFO’s alignment responsibility is making the budget reflect the stated strategy — and having the courage to make trade-offs visible when they arise.
Primary COMPASS Activation
Allocation of ResourcesManagement Discipline
When the CFO’s alignment is absent, resources follow inertia, and the credibility of strategic priorities collapses.
Converging Zone Contribution
Converts strategy into operational flow, ensuring execution routines, coordination, and hand-offs move the organisation forward. The COO’s alignment responsibility is ensuring the operating system is configured for the current strategy.
Primary COMPASS Activation
Systems &amp; ExecutionManagement Discipline
When COO alignment is absent, execution machinery runs efficiently but in the wrong direction.
Converging Zone Contribution
Aligns leadership behaviour, capability development, and organisational trust with the strategic direction. The CHRO’s alignment responsibility is ensuring the human system has the capacity, engagement, and psychological safety to carry the strategy forward.
Primary COMPASS Activation
People &amp; CapabilityOrganisational Alignment
When CHRO alignment is absent, strategy consistently exceeds the human system’s capacity to carry it.
Converging Zone Contribution
Aligns technology architecture and data capability with the organisation’s strategic priorities and future operating model. The CTO/CIO’s alignment responsibility is ensuring technology investments actually change how the organisation works.
Primary COMPASS Activation
Systems &amp; ExecutionSensing &amp; Adaptation
When CTO/CIO alignment is absent, technology investments produce demonstrations with no capability shift.
Converging Zone Contribution
Aligns market positioning and brand promise with the organisation’s operational ability to deliver. The CMO’s alignment responsibility is ensuring that demand created externally can be fulfilled internally — and that the brand promise is one the organisation can keep consistently.
Primary COMPASS Activation
Clarity of DirectionSensing &amp; Adaptation
When CMO alignment is absent, market signals are disconnected from strategic direction, and brand promises outpace operational reality.
Converging Zone Contribution
Aligns revenue generation and customer growth strategies with enterprise positioning and operational capacity. The CCO’s alignment responsibility is ensuring all deals strengthen the organisation’s distinctive positioning — that all revenue is strategic revenue.
Primary COMPASS Activation
Allocation of ResourcesOrganisational Alignment
When CCO alignment is absent, growth strategies create internal incoherence that compounds over time.
Converging Zone Contribution
Ensures procurement decisions strengthen operational capability and reinforce strategic priorities. The CPO’s alignment responsibility is ensuring cost efficiency decisions serve the customer’s end-game and the strategy’s priorities.
Primary COMPASS Activation
Systems &amp; ExecutionAllocation of Resources
When CPO alignment is absent, procurement optimises for cost at the expense of strategic capability.
Converging Zone Contribution
Aligns enterprise risk interpretation so that strategic initiatives operate within a shared risk appetite framework. The CRO’s alignment responsibility is ensuring risk assessment enables strategic ambition — and that risk tolerance is consistently interpreted across all functions.
Primary COMPASS Activation
Management DisciplineSystems &amp; Execution
When CRO alignment is absent, risk appetite becomes function-by-function interpretation, creating asymmetric exposure.
Converging Zone Contribution
Maintains the integrity of the strategic narrative as it moves from formulation into execution across the organisation. The CSO’s alignment responsibility is ensuring the strategy survives the transition from idea to implementation — that strategic intent does not mutate as it moves through the organisation.
Primary COMPASS Activation
Clarity of DirectionSensing &amp; Adaptation
When CSO alignment is absent, the strategic narrative fragments and different layers execute different versions of the strategy.
Participant file (4.2 — Collective Intelligence Across the Leadership Team) — prompts participants complete:
- ✎ Reflection What is the most important alignment conversation you need to have with a closely adjacent role in the next 30 days? What would that conversation need to address?</a:t>
            </a:r>
            <a:endParaRPr lang="en-US" dirty="0"/>
          </a:p>
          <a:p/>
          <a:p>
            <a:r>
              <a:t>Professional insights:</a:t>
            </a:r>
          </a:p>
          <a:p/>
          <a:p>
            <a:r>
              <a:t>Distinct contribution, shared whole: Healthy cultures value distinct contribution and collaboration together. They discourage empire-building and needless overlap, and help people strengthen the whole through clear roles and mutual support.</a:t>
            </a:r>
          </a:p>
          <a:p>
            <a:r>
              <a:t>Source: Journal, 28 August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 LEADING CHANGE WITH ONE VOICE (Four Commitments)
FACILITATOR GUIDANCE — Section 4.3
Change load count: Choose one named group and list on one sheet every change the leadership team is asking of it this quarter. Let the count open the discussion on sequence.
Key facilitation question: “If this group can absorb two of these well, which two come first, and who tells the owners of the rest?”
On one message: If time allows, repeat the 3S test from 1.4 with the whole team on one enterprise-wide change. Post the versions side by side.
Watch for: each leader defending their own change. Return the room to the group that has to absorb them. Suggested time: 10–12 minutes.
Content:
The 4 Checks describe what one group of people needs from one leader. Most changes reach a group through several leaders at once. People hear from their own leader, watch the others, and compare. Where the leaders differ, the group takes the difference as the real message.
In the Converging Zone, the leadership team makes four commitments that no single function can make alone. Each one protects a check. Expand each commitment.
One message
Protects Mind
What The Team Does
Every leader gives the same Shift, Stake and Step for each change. The Functional Bias Problem works on leaders first: each one translates the change through their own function before passing it on. The test is the 3S Check applied to the leadership team itself. Each leader writes the three for the same change, and the versions are compared before anyone speaks to their people.
⚠ When absent: Each function hears a different change, and the 3S Check fails across the organisation.
One example
Protects Heart
What The Team Does
Leaders show the ACE-IT behaviours the change needs before they ask for them. People read a leader’s diary, questions and decisions as the real message. A leader who asks for the new practice and keeps to the old one has told the organisation which of the two is safe.
⚠ When absent: People copy what leaders do and discount what leaders say.
One sequence
Protects Hands
What The Team Does
Leaders pool their changes and count how many land on the same group in the same period. The team then agrees the order and the pace. Each function sees its own change, and each change looks reasonable alone. The total load on a group is visible only when the team looks together, and Time is the first STAT element to give way under it.
⚠ When absent: One group is asked to absorb several changes together, and its willingness falls.
Data: Employees’ willingness to support enterprise change fell from 74% in 2016 to 43% in 2022, while planned changes per employee rose from two to ten (Gartner, reported in Harvard Business Review, 2023).
One owner
Protects Habit
What The Team Does
Each transition has one named leader who answers for adoption, through to Habit. The owner runs the 4 Checks, reports which check the change has reached, and stays with it after the launch, when attention moves to the next priority.
⚠ When absent: The change is installed and nobody answers for whether it is adopted.
Data: Projects with extremely effective sponsors were 79% likely to meet their objectives, against 27% with extremely ineffective sponsors (Prosci, Best Practices in Change Management, 12th edition).
Participant file (4.3 — Leading Change with One Voice) — prompts participants complete:
- ✎ Reflection — One voice Choose one group in your organisation. List every change the leadership team is asking of it this quarter. How many are there? Which of the four commitments is weakest in your team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Building Collective Intelligence Through Shared Interpretation
Application · This exercise highlights how Collective Intelligence emerges when leaders understand each other’s alignment responsibilities. The goal: move from individual interpretations to a shared understanding of how roles jointly stabilise all seven COMPASS domains. The exercise starts from two real changes your strategy requires.
Section learning outcomes:
1. Formulate how one strategic change will be led and how leadership roles connect to support it.
2. Demonstrate commitment through a behavioural change that strengthens collective alignment.
FACILITATOR GUIDANCE — Section 5 · Application
Timing: Step 1 is individual — 15 minutes. Step 2 is individual — 12–15 minutes. Step 3 is paired exchange — 15–20 minutes. Step 4 is plenary synthesis — 20–25 minutes. Do not rush Steps 1–3. The quality of the plenary depends entirely on the depth of individual reflection and peer dialogue that precedes it.
Facilitation principle: Your role in the plenary is to name patterns. When leaders disagree about connectivity, name it explicitly: “That disagreement tells us something important about how alignment responsibilities are currently experienced in this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EXERCISE · STEP 1 — THE CHANGE TRANSITION MAP
FACILITATOR GUIDANCE — Step 1
Briefing: Each person works independently and completes the map once for each change. Allow 15 minutes. Leaders use the change they carried through the unit as their first map.
Watch for: “Staff” or “the business” as the affected group. Ask for the team whose Monday morning changes.
Watch for: a committee or a function named as owner. Hold out for one person.
FACILITATOR GUIDANCE
Participants complete the Change Transition Map in their own file, once for each change. Circulate and check that each map names a specific group, a specific practice and one person as owner.
Content:
Work independently. Choose two changes your strategy requires of people: one practice they must start and one they must stop. Draw them from your KISS table where you have one. Run the 4 Checks and complete the map once for each change.
The map turns the 4 Checks into a plan for one change: who it affects, where it will stall, what they need and who answers for it.
Worked example
Field | What to record | Worked example
The change | One practice people must start, or one they must stop. Name the practice, the group and the date. | Start: from March, resolve complaints at first contact.
Who is most affected | The group whose daily work changes most. Name a team, and avoid “staff” or “the business”. | Contact-centre agents and their team leaders.
Mind · 3S | The Shift, the Stake and the Step, as this group should be able to say them. | Shift: agents resolve complaints themselves, at first contact. Stake: we keep the customers who leave after a slow answer. If we stay as we are, complaints keep taking 48 hours. Step: I decide on the call, within my limit.
Heart · SCARF | What they give up, and the trigger it is most likely to fire. | They give up passing difficult cases to the back office. Certainty: “What happens if I decide wrongly?”
Hands · STAT | What is in place and what is missing: skill, time, authority, tools. | Skill: two practice sessions needed. Time: in place. Authority: no decision limit yet. Tools: no access to the refunds system.
Habit · ACE-IT | How the five behaviours will hold the new practice in place, and who notices. | Accountability: each agent owns the case to closure. Transparency: first-contact resolution is shown every week. Team leaders recognise it in the weekly review.
Weakest check | The first check that fails, and the support and involvement this group needs. | Hands. A decision limit, system access and two practice sessions. Team leaders help set the limits.
Leader who owns it | One named leader who answers for adoption. | Chief Operating Officer.
A complete map
Names a specific group and a specific practice.
Gives the Shift, the Stake and the Step in the group’s own words.
Shows which STAT element is missing, with evidence.
Names one person as owner.
Participant file (Section 5, Step 1) — what participants complete:
Work independently. Choose two changes your strategy requires of people: one practice they must start and one they must stop. Draw them from your KISS table where you have one. Run the 4 Checks and complete the map once for each change.
The map turns the 4 Checks into a plan for one change: who it affects, where it will stall, what they need and who answers for it.
👥 Team &amp; Executive Identity
Identify yourself and your team so your facilitator can attribute this working paper.
Team Name
Your Name
Your Role
Worked example
Field | What to record | Worked example
The change | One practice people must start, or one they must stop. Name the practice, the group and the date. | Start: from March, resolve complaints at first contact.
Who is most affected | The group whose daily work changes most. Name a team, and avoid “staff” or “the business”. | Contact-centre agents and their team leaders.
Mind · 3S | The Shift, the Stake and the Step, as this group should be able to say them. | Shift: agents resolve complaints themselves, at first contact. Stake: we keep the customers who leave after a slow answer. If we stay as we are, complaints keep taking 48 hours. Step: I decide on the call, within my limit.
Heart · SCARF | What they give up, and the trigger it is most likely to fire. | They give up passing difficult cases to the back office. Certainty: “What happens if I decide wrongly?”
Hands · STAT | What is in place and what is missing: skill, time, authority, tools. | Skill: two practice sessions needed. Time: in place. Authority: no decision limit yet. Tools: no access to the refunds system.
Habit · ACE-IT | How the five behaviours will hold the new practice in place, and who notices. | Accountability: each agent owns the case to closure. Transparency: first-contact resolution is shown every week. Team leaders recognise it in the weekly review.
Weakest check | The first check that fails, and the support and involvement this group needs. | Hands. A decision limit, system access and two practice sessions. Team leaders help set the limits.
Leader who owns it | One named leader who answers for adoption. | Chief Operating Officer.
Change 1 · A practice people must start
Change 1 · The change
Change 1 · Who is most affected
Change 1 · Mind · 3S
Change 1 · Heart · SCARF
Change 1 · Hands · STAT
Change 1 · Habit · ACE-IT
Change 1 · Weakest check
Change 1 · Leader who owns it
Change 2 · A practice people must stop
Change 2 · The change
Change 2 · Who is most affected
Change 2 · Mind · 3S
Change 2 · Heart · SCARF
Change 2 · Hands · STAT
Change 2 · Habit · ACE-IT
Change 2 · Weakest check
Change 2 · Leader who owns it
A complete map
Names a specific group and a specific practice.
Gives the Shift, the Stake and the Step in the group’s own words.
Shows which STAT element is missing, with evidence.
Names one person as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EXERCISE · STEPS 2–4
FACILITATOR GUIDANCE — Step 2
Briefing: Each person works independently, with the two changes they mapped in Step 1 in view. They complete the table for their own role first, then for the two roles they depend on most. The “How We Create Collective Intelligence” column must go beyond job description — it should describe the alignment mechanism the role provides to the organisation.
Watch for: Participants who list tasks; push them to name alignment contributions. Redirect: “That’s what you do — what happens to the organisation’s alignment when you do it well? And when you don’t?”
FACILITATOR GUIDANCE
Participants complete the table for their own role and the two roles they depend on most. Circulate and check that each row names a specific COMPASS domain and a concrete collaboration behaviour.
FACILITATOR GUIDANCE — Step 3
Process: Each leader shares their map and their table with the colleague(s) whose role they selected. Four exchange questions: (1) Do you agree with how I described your alignment contribution? (2) How else do you create Collective Intelligence that I missed? (3) Where do our interpretations diverge? (4) Do you agree with the weakest check and the owner I named for each change?
Key facilitation move: Where leaders disagree, do not resolve it. Name it explicitly: “That disagreement is diagnostic. It tells you something about how these roles are currently experienced in the organisation.”
FACILITATOR GUIDANCE
Pair participants from closely related roles. Allow five minutes per person, then ask each pair where their interpretations diverged. Treat divergence as diagnostic and leave it unresolved.
FACILITATOR GUIDANCE — Step 4
Synthesis question: “Looking at all the tables in the room — which COMPASS domain appears most frequently as underactivated or poorly understood? That is your team’s most critical alignment vulnerability.”
Second synthesis question: “Which group appears on the most maps? What sequence does this team agree for the changes landing on it?”
Closing commitment: Each leader names one specific behavioural change in the next 30 days to strengthen their alignment contribution. Ask each leader to tie the commitment to one of their mapped changes: the behaviour they will show first. Make these visible — write them on the board or capture them centrally. Follow up at the next leadership forum.
FACILITATOR GUIDANCE
Facilitate the group synthesis: the most underactivated COMPASS domain, shared strengths, connectivity gaps and the sequence for changes landing on the same group. Close by asking each participant to read one 30-day behavioural commitment aloud.
Content:
Work independently. For the two changes you mapped, complete the table for your own role and for the two roles you depend on most. Focus on the alignment mechanism.
Unit Outcome: The organisation leaves this session with aligned leadership interpretation, emotional commitment to the strategy, clear visibility of the conditions that will enable or constrain execution, and a transition mapped for two of the changes the strategy requires — the human foundation for the next stage of the Strategy2Results® journey.
Participant file (Section 5, Steps 2–4) — what participants complete:
Work independently. For the two changes you mapped, complete the table for your own role and for the two roles you depend on most. Focus on the alignment mechanism.
Row 1: Your Own Role
Leadership Role
Top Two COMPASS Domains Activated
How I Create Collective Intelligence
Row 2: First Closely Related Role
Leadership Role
Top Two COMPASS Domains Activated
Why This Role’s Alignment Is Critical to Mine
Row 3: Second Closely Related Role
Leadership Role
Top Two COMPASS Domains Activated
What Would Strengthen Our Alignment
Share your map and your table with the colleague(s) whose role you selected. Four exchange questions to explore together:
Exchange 1: Does your colleague agree with how you described their alignment contribution?
Exchange 2: Additional connectivity your colleague identified
Exchange 3: Where your interpretations diverged and what that signals
Exchange 4: Does your colleague agree with the weakest check and the owner you named for each change?
Most Frequently Underactivated COMPASS Domain(s)
Shared Patterns — Where Alignment Is Already Strong
Changes Landing on the Same Group, and the Sequence the Team Agrees
Your 30-Day Behavioural Commitment
Unit Outcome: The organisation leaves this session with aligned leadership interpretation, emotional commitment to the strategy, clear visibility of the conditions that will enable or constrain execution, and a transition mapped for two of the changes the strategy requires — the human foundation for the next stage of the Strategy2Results® journey.</a:t>
            </a:r>
            <a:endParaRPr lang="en-US" dirty="0"/>
          </a:p>
          <a:p/>
          <a:p>
            <a:r>
              <a:t>Professional insights:</a:t>
            </a:r>
          </a:p>
          <a:p/>
          <a:p>
            <a:r>
              <a:t>Listening first: Teams that move straight from “here is what changed” to “here is what we need you to do next” produce resistance they cannot explain. The resistance signals that people do not yet feel understood. Use this for Step 3 · Exchange &amp; Dialogue.</a:t>
            </a:r>
          </a:p>
          <a:p>
            <a:r>
              <a:t>Source: Journal, 25 June 2026 — Professional Insights: Culture</a:t>
            </a:r>
          </a:p>
          <a:p/>
          <a:p>
            <a:r>
              <a:t>One open question: Pressure and assumption turn silence into disengagement and intensity into instability. Before correcting, ask one open question (“What’s going on for you today?”) and wait for the answer.</a:t>
            </a:r>
          </a:p>
          <a:p>
            <a:r>
              <a:t>Source: Journal, 4 May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5 synthesis)
FACILITATOR GUIDANCE — Unit Summary
Closing the unit: Use this summary to close the session, to brief sponsors or observers beforehand, or to re-anchor the group at the start of a later session. Reserve the final five minutes for one pointed question: “Which COMPASS domain is this team most likely rating too generously — and which executive role has quietly stopped carrying its alignment responsibility there?” It is also the reference point for connecting this unit to what follows — Performance Management Setup and the translation of strategy into individual accountability across the enterprise.
Content:
This session was about the human conditions that decide whether a strategy ever moves. We have all watched sound strategies stall because the people meant to execute it never aligned in how they interpreted it or whether they were committed to it. Aligning Hearts &amp; Minds treated execution as first a human problem: strategy moves through people before it moves through systems.
Here is a recap of how we moved from fragmented functional interpretations to a single, committed leadership signal.
1 — Awareness: Strategy Enters Through Two Human Filters
We began with the What. Strategy enters through Cognition (Mind), how each leader interprets it, and Emotion (Heart), how each leader experiences it. When these diverge across a team, the Functional Bias Problem fragments execution into competing interpretations. The unit established Five Principles:
Strategy Moves Through People — direction is carried by interpretation.
Misalignment Fragments Effort — surfacing as Chinese Whispers, Clarification Debt, and Silent Disengagement.
Alignment Must Be Designed — diagnosed with the OCEAVL Assessment and the Emotional Climate Assessment.
Human Reactions Are Predictable — the SCARF Model (Status, Certainty, Autonomy, Relatedness, Fairness) trips the same threat circuitry as physical danger.
Execution Must Be Visible in Behaviour — the ACE-IT standard: Accountability, Commitment, Engagement, Integrity, Transparency.
2 — Intelligence: Why Alignment Is the Ignition Point
This stage explored the Why. Heart &amp; Mind alignment is the ignition point that converts strategic potential energy (the document at rest) into kinetic energy (movement and results). Three logics make the stakes operational:
Potential vs Kinetic Energy — the organisation does not move until people decide to move it.
Compliance vs Commitment — compliance (Mind only) yields short-term output but is mechanical and consumes leadership time; commitment (Mind + Heart) generates discretionary effort, adaptive problem-solving, and resilience when leaders are not present.
The Strategic Payoff — aligned teams act with ownership, coordinate across functions, and free leaders to advance strategy.
3 — Extrapolating: Where Misalignment Concentrates
Next, the Where. Misalignment concentrates in seven High Flammable Zones, mapped by the COMPASS framework:
Clarity of Strategic Direction
Organisational Alignment
Management Discipline
People &amp; Capability
Allocation of Resources
Sensing &amp; Adaptation
Systems &amp; Execution
Each domain carries a signal narrative and a diagnostic question, and is rated 1 (strong alignment) to 5 (severe misalignment). A lit zone is either a High Flammable — a live leverage point — or a Burning Platform, escalated and consuming resources. Mapping where the signals are lit tells leaders where alignment work earns the highest return.
4 — Converging Zone: Collective Intelligence
The session culminated in the Converging Zone, where functional interpretations integrate into a shared leadership signal and the team begins operating as a single leadership system. Each CXO role carries a distinct alignment responsibility, mapped to two primary COMPASS activations:
CEO — anchors Clarity of Strategic Direction and Organisational Alignment
CFO / CPO — activate Allocation of Resources
COO / CTO / CRO — drive Systems &amp; Execution
CHRO — carries People &amp; Capability
CMO / CSO — maintain Clarity and Sensing &amp; Adaptation
When any role drops its responsibility, the COMPASS framework loses an anchor and the rest cannot fully converge. Collective Intelligence is the combined signal.
Across the Unit — Leading People Through Change
We also took on the discipline of leading people through change. A change is an event, and the transition is what each person goes through afterwards. A change is adopted when it passes the 4 Checks:
Mind — people can say the Shift, the Stake and the Step.
Heart — no SCARF trigger is holding them back.
Hands — they have the skill, time, authority and tools.
Habit — the ACE-IT behaviours hold the new practice in place.
A change stalls at the first check it fails, and the leader’s job is to explain, involve, equip and reinforce until it passes all four.
Aligned hearts and minds turn a strategy from a document the organisation has read into a direction the organisation is willing to move on — the human foundation for Performance Management Setup and the translation of strategy into individual accountability across the enterprise.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3 · Influence · Unit 5</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Aligning Heart &amp; Mind</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The human operating system that moves strategy from intention to execution</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Critically examine how functional expertise, personality, cognitive bias and emotional conditions influence the interpretation of strategy.</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Demonstrate shared strategic understanding and commitment across the leadership system.</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Recognise the organisational conditions that strengthen or weaken strategic alignment.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Lead people through the changes the strategy requires, with deliberate attention to readiness, resistance and adoption.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Aligning Heart &amp; Mind?</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Examine how functional expertise, cognitive bias and emotion shape the interpretation of strategy.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what people need in order to adopt a strategic change, and the behaviours that sustain it.</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1.1 · The human terrain of strategy execution</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Cognition — Mind</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How strategy is interpreted</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Professional expertise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Mental shortcuts and past experience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Risk perception</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Emotion — Heart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How strategy is experienced</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Engagement energy and morale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Friction load</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Psychological safety and values</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Execution begins inside the human system.</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Five principles of aligning heart and mind</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1 · Strategy Moves Through People  </a:t>
            </a:r>
            <a:pPr indent="0" marL="0">
              <a:buNone/>
            </a:pPr>
            <a:r>
              <a:rPr lang="en-US" sz="2400" dirty="0">
                <a:solidFill>
                  <a:srgbClr val="1F2A22"/>
                </a:solidFill>
                <a:latin typeface="Calibri" pitchFamily="34" charset="0"/>
                <a:ea typeface="Calibri" pitchFamily="34" charset="-122"/>
                <a:cs typeface="Calibri" pitchFamily="34" charset="-120"/>
              </a:rPr>
              <a:t>the human entry point of execution</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2 · Misalignment Fragments Effort  </a:t>
            </a:r>
            <a:pPr indent="0" marL="0">
              <a:buNone/>
            </a:pPr>
            <a:r>
              <a:rPr lang="en-US" sz="2400" dirty="0">
                <a:solidFill>
                  <a:srgbClr val="1F2A22"/>
                </a:solidFill>
                <a:latin typeface="Calibri" pitchFamily="34" charset="0"/>
                <a:ea typeface="Calibri" pitchFamily="34" charset="-122"/>
                <a:cs typeface="Calibri" pitchFamily="34" charset="-120"/>
              </a:rPr>
              <a:t>the cost of ignoring the human system</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3 · Alignment Must Be Designed  </a:t>
            </a:r>
            <a:pPr indent="0" marL="0">
              <a:buNone/>
            </a:pPr>
            <a:r>
              <a:rPr lang="en-US" sz="2400" dirty="0">
                <a:solidFill>
                  <a:srgbClr val="1F2A22"/>
                </a:solidFill>
                <a:latin typeface="Calibri" pitchFamily="34" charset="0"/>
                <a:ea typeface="Calibri" pitchFamily="34" charset="-122"/>
                <a:cs typeface="Calibri" pitchFamily="34" charset="-120"/>
              </a:rPr>
              <a:t>the tools that create alignment</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4 · Human Reactions Are Predictable  </a:t>
            </a:r>
            <a:pPr indent="0" marL="0">
              <a:buNone/>
            </a:pPr>
            <a:r>
              <a:rPr lang="en-US" sz="2400" dirty="0">
                <a:solidFill>
                  <a:srgbClr val="1F2A22"/>
                </a:solidFill>
                <a:latin typeface="Calibri" pitchFamily="34" charset="0"/>
                <a:ea typeface="Calibri" pitchFamily="34" charset="-122"/>
                <a:cs typeface="Calibri" pitchFamily="34" charset="-120"/>
              </a:rPr>
              <a:t>the behavioural dynamics that influence execution</a:t>
            </a:r>
            <a:endParaRPr lang="en-US" sz="24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5 · Execution Must Be Visible in Behaviour  </a:t>
            </a:r>
            <a:pPr indent="0" marL="0">
              <a:buNone/>
            </a:pPr>
            <a:r>
              <a:rPr lang="en-US" sz="2400" dirty="0">
                <a:solidFill>
                  <a:srgbClr val="1F2A22"/>
                </a:solidFill>
                <a:latin typeface="Calibri" pitchFamily="34" charset="0"/>
                <a:ea typeface="Calibri" pitchFamily="34" charset="-122"/>
                <a:cs typeface="Calibri" pitchFamily="34" charset="-120"/>
              </a:rPr>
              <a:t>the observable standard for alignment</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Principle 1 — Strategy Moves Through People</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Cognitive alignment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Mind · interpretation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Make decision biases visible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Name how they shape the S2R® process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Agree shared decision principles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Emotional alignment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Heart · experience</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Name the current emotional state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Joy, Sadness, Anger, Fear, Disgust, Surprise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Each state shapes energy, morale and safety</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Alignment of the mind and heart is the first execution system.</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Principle 2 — Misalignment Fragments Effort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Chinese Whispers</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Intent mutates as it travels downward.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Clarification Debt</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60–80% of leadership time spent re-explaining.</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Silent Disengagement</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Outward compliance, inward withdrawal.</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Low alignment: 41% lower productivity, 48% higher turnover (Gallup; PMI).</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Principle 3 — Alignment Must Be Designed</a:t>
            </a:r>
            <a:endParaRPr lang="en-US" sz="3600" dirty="0"/>
          </a:p>
        </p:txBody>
      </p:sp>
      <p:sp>
        <p:nvSpPr>
          <p:cNvPr id="3" name="Shape 1"/>
          <p:cNvSpPr/>
          <p:nvPr/>
        </p:nvSpPr>
        <p:spPr>
          <a:xfrm>
            <a:off x="548640" y="1508760"/>
            <a:ext cx="5408676"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OCEAVL Assessment</a:t>
            </a:r>
            <a:endParaRPr lang="en-US" sz="2600" dirty="0"/>
          </a:p>
        </p:txBody>
      </p:sp>
      <p:sp>
        <p:nvSpPr>
          <p:cNvPr id="7" name="Text 4"/>
          <p:cNvSpPr txBox="1"/>
          <p:nvPr/>
        </p:nvSpPr>
        <p:spPr>
          <a:xfrm>
            <a:off x="777240" y="2560320"/>
            <a:ext cx="4951476" cy="274320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Surfaces the psychological tendencies that influence executive decision-making.</a:t>
            </a:r>
            <a:endParaRPr lang="en-US" sz="2400" dirty="0"/>
          </a:p>
        </p:txBody>
      </p:sp>
      <p:sp>
        <p:nvSpPr>
          <p:cNvPr id="8" name="Shape 5"/>
          <p:cNvSpPr/>
          <p:nvPr/>
        </p:nvSpPr>
        <p:spPr>
          <a:xfrm>
            <a:off x="6231636" y="1508760"/>
            <a:ext cx="5408676" cy="3931920"/>
          </a:xfrm>
          <a:prstGeom prst="roundRect">
            <a:avLst>
              <a:gd name="adj" fmla="val 2326"/>
            </a:avLst>
          </a:prstGeom>
          <a:solidFill>
            <a:srgbClr val="EEF4EF"/>
          </a:solidFill>
          <a:ln w="12700">
            <a:solidFill>
              <a:srgbClr val="EEF4EF"/>
            </a:solidFill>
            <a:prstDash val="solid"/>
          </a:ln>
        </p:spPr>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7283196" y="1691640"/>
            <a:ext cx="412851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Emotional Climate Assessment</a:t>
            </a:r>
            <a:endParaRPr lang="en-US" sz="2600" dirty="0"/>
          </a:p>
        </p:txBody>
      </p:sp>
      <p:sp>
        <p:nvSpPr>
          <p:cNvPr id="12" name="Text 8"/>
          <p:cNvSpPr txBox="1"/>
          <p:nvPr/>
        </p:nvSpPr>
        <p:spPr>
          <a:xfrm>
            <a:off x="6460236" y="2752344"/>
            <a:ext cx="4951476" cy="255117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Identifies the prevailing state of being across six core emotions.</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4" name="Text 10"/>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Alignment rarely emerges naturally. It must be intentionally designed.</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Principle 4 — Human Reactions Are Predictable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Predictable:  </a:t>
            </a:r>
            <a:pPr indent="0" marL="0">
              <a:buNone/>
            </a:pPr>
            <a:r>
              <a:rPr lang="en-US" sz="2600" dirty="0">
                <a:solidFill>
                  <a:srgbClr val="1F2A22"/>
                </a:solidFill>
                <a:latin typeface="Calibri" pitchFamily="34" charset="0"/>
                <a:ea typeface="Calibri" pitchFamily="34" charset="-122"/>
                <a:cs typeface="Calibri" pitchFamily="34" charset="-120"/>
              </a:rPr>
              <a:t>reactions to strategic change follow psychological patterns</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Threat circuitry:  </a:t>
            </a:r>
            <a:pPr indent="0" marL="0">
              <a:buNone/>
            </a:pPr>
            <a:r>
              <a:rPr lang="en-US" sz="2600" dirty="0">
                <a:solidFill>
                  <a:srgbClr val="1F2A22"/>
                </a:solidFill>
                <a:latin typeface="Calibri" pitchFamily="34" charset="0"/>
                <a:ea typeface="Calibri" pitchFamily="34" charset="-122"/>
                <a:cs typeface="Calibri" pitchFamily="34" charset="-120"/>
              </a:rPr>
              <a:t>the brain treats social change like physical danger</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Emotion first:  </a:t>
            </a:r>
            <a:pPr indent="0" marL="0">
              <a:buNone/>
            </a:pPr>
            <a:r>
              <a:rPr lang="en-US" sz="2600" dirty="0">
                <a:solidFill>
                  <a:srgbClr val="1F2A22"/>
                </a:solidFill>
                <a:latin typeface="Calibri" pitchFamily="34" charset="0"/>
                <a:ea typeface="Calibri" pitchFamily="34" charset="-122"/>
                <a:cs typeface="Calibri" pitchFamily="34" charset="-120"/>
              </a:rPr>
              <a:t>change is evaluated emotionally before rationally</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The SCARF Model names the five triggers (1.5).</a:t>
            </a:r>
            <a:endParaRPr lang="en-US" sz="2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Principle 5 — Execution Must Be Visible in Behaviour</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Observable:  </a:t>
            </a:r>
            <a:pPr indent="0" marL="0">
              <a:buNone/>
            </a:pPr>
            <a:r>
              <a:rPr lang="en-US" sz="2600" dirty="0">
                <a:solidFill>
                  <a:srgbClr val="1F2A22"/>
                </a:solidFill>
                <a:latin typeface="Calibri" pitchFamily="34" charset="0"/>
                <a:ea typeface="Calibri" pitchFamily="34" charset="-122"/>
                <a:cs typeface="Calibri" pitchFamily="34" charset="-120"/>
              </a:rPr>
              <a:t>without behaviour, alignment remains theoretical</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Five behaviours:  </a:t>
            </a:r>
            <a:pPr indent="0" marL="0">
              <a:buNone/>
            </a:pPr>
            <a:r>
              <a:rPr lang="en-US" sz="2600" dirty="0">
                <a:solidFill>
                  <a:srgbClr val="1F2A22"/>
                </a:solidFill>
                <a:latin typeface="Calibri" pitchFamily="34" charset="0"/>
                <a:ea typeface="Calibri" pitchFamily="34" charset="-122"/>
                <a:cs typeface="Calibri" pitchFamily="34" charset="-120"/>
              </a:rPr>
              <a:t>Accountability, Commitment, Engagement, Integrity, Transparency</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Independent of stated values:  </a:t>
            </a:r>
            <a:pPr indent="0" marL="0">
              <a:buNone/>
            </a:pPr>
            <a:r>
              <a:rPr lang="en-US" sz="2600" dirty="0">
                <a:solidFill>
                  <a:srgbClr val="1F2A22"/>
                </a:solidFill>
                <a:latin typeface="Calibri" pitchFamily="34" charset="0"/>
                <a:ea typeface="Calibri" pitchFamily="34" charset="-122"/>
                <a:cs typeface="Calibri" pitchFamily="34" charset="-120"/>
              </a:rPr>
              <a:t>the minimum standard for execution</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ACE-IT sets the observable standard (1.7).</a:t>
            </a:r>
            <a:endParaRPr lang="en-US" sz="2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1.3a · Change management: event and transition</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The event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Belongs to the organisation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Announced on a date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structure, system or target is different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Leaders have finished their own transition</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The transition</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Belongs to the person</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Letting go of a familiar practice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Working out what the new one asks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Becoming able to do it</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Moving people from current practice to the practice the strategy requires.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1.3b · The 4 Checks of Mind, Heart, Hands and Habit</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Mind · 3S · Explain  </a:t>
            </a:r>
            <a:pPr indent="0" marL="0">
              <a:buNone/>
            </a:pPr>
            <a:r>
              <a:rPr lang="en-US" sz="2400" dirty="0">
                <a:solidFill>
                  <a:srgbClr val="1F2A22"/>
                </a:solidFill>
                <a:latin typeface="Calibri" pitchFamily="34" charset="0"/>
                <a:ea typeface="Calibri" pitchFamily="34" charset="-122"/>
                <a:cs typeface="Calibri" pitchFamily="34" charset="-120"/>
              </a:rPr>
              <a:t>They understand the change, why it matters and what they do differently.</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Heart · SCARF · Involve  </a:t>
            </a:r>
            <a:pPr indent="0" marL="0">
              <a:buNone/>
            </a:pPr>
            <a:r>
              <a:rPr lang="en-US" sz="2400" dirty="0">
                <a:solidFill>
                  <a:srgbClr val="1F2A22"/>
                </a:solidFill>
                <a:latin typeface="Calibri" pitchFamily="34" charset="0"/>
                <a:ea typeface="Calibri" pitchFamily="34" charset="-122"/>
                <a:cs typeface="Calibri" pitchFamily="34" charset="-120"/>
              </a:rPr>
              <a:t>They want it to succeed.</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Hands · STAT · Equip  </a:t>
            </a:r>
            <a:pPr indent="0" marL="0">
              <a:buNone/>
            </a:pPr>
            <a:r>
              <a:rPr lang="en-US" sz="2400" dirty="0">
                <a:solidFill>
                  <a:srgbClr val="1F2A22"/>
                </a:solidFill>
                <a:latin typeface="Calibri" pitchFamily="34" charset="0"/>
                <a:ea typeface="Calibri" pitchFamily="34" charset="-122"/>
                <a:cs typeface="Calibri" pitchFamily="34" charset="-120"/>
              </a:rPr>
              <a:t>They are able to do it.</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Habit · ACE-IT · Reinforce  </a:t>
            </a:r>
            <a:pPr indent="0" marL="0">
              <a:buNone/>
            </a:pPr>
            <a:r>
              <a:rPr lang="en-US" sz="2400" dirty="0">
                <a:solidFill>
                  <a:srgbClr val="1F2A22"/>
                </a:solidFill>
                <a:latin typeface="Calibri" pitchFamily="34" charset="0"/>
                <a:ea typeface="Calibri" pitchFamily="34" charset="-122"/>
                <a:cs typeface="Calibri" pitchFamily="34" charset="-120"/>
              </a:rPr>
              <a:t>It has become the way they work.</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A change stalls at the first check it fails.</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1.4 · The 3S Check: Shift, Stake, Step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Shift</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is changing?”</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Stake</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do we gain if we change, and what do we lose if we stay as we are?”</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Step</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do I do differently?”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Mind passes when three people give the same Shift, Stake and Step.</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1.5 · SCARF: five triggers of human resistance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Status  </a:t>
            </a:r>
            <a:pPr indent="0" marL="0">
              <a:buNone/>
            </a:pPr>
            <a:r>
              <a:rPr lang="en-US" sz="2600" dirty="0">
                <a:solidFill>
                  <a:srgbClr val="1F2A22"/>
                </a:solidFill>
                <a:latin typeface="Calibri" pitchFamily="34" charset="0"/>
                <a:ea typeface="Calibri" pitchFamily="34" charset="-122"/>
                <a:cs typeface="Calibri" pitchFamily="34" charset="-120"/>
              </a:rPr>
              <a:t>“Will this reduce my importance?”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Certainty  </a:t>
            </a:r>
            <a:pPr indent="0" marL="0">
              <a:buNone/>
            </a:pPr>
            <a:r>
              <a:rPr lang="en-US" sz="2600" dirty="0">
                <a:solidFill>
                  <a:srgbClr val="1F2A22"/>
                </a:solidFill>
                <a:latin typeface="Calibri" pitchFamily="34" charset="0"/>
                <a:ea typeface="Calibri" pitchFamily="34" charset="-122"/>
                <a:cs typeface="Calibri" pitchFamily="34" charset="-120"/>
              </a:rPr>
              <a:t>“Do I know what success looks like?”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Autonomy  </a:t>
            </a:r>
            <a:pPr indent="0" marL="0">
              <a:buNone/>
            </a:pPr>
            <a:r>
              <a:rPr lang="en-US" sz="2600" dirty="0">
                <a:solidFill>
                  <a:srgbClr val="1F2A22"/>
                </a:solidFill>
                <a:latin typeface="Calibri" pitchFamily="34" charset="0"/>
                <a:ea typeface="Calibri" pitchFamily="34" charset="-122"/>
                <a:cs typeface="Calibri" pitchFamily="34" charset="-120"/>
              </a:rPr>
              <a:t>“Am I losing control of my work?”</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Relatedness  </a:t>
            </a:r>
            <a:pPr indent="0" marL="0">
              <a:buNone/>
            </a:pPr>
            <a:r>
              <a:rPr lang="en-US" sz="2600" dirty="0">
                <a:solidFill>
                  <a:srgbClr val="1F2A22"/>
                </a:solidFill>
                <a:latin typeface="Calibri" pitchFamily="34" charset="0"/>
                <a:ea typeface="Calibri" pitchFamily="34" charset="-122"/>
                <a:cs typeface="Calibri" pitchFamily="34" charset="-120"/>
              </a:rPr>
              <a:t>“Do I still belong here?”</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Fairness  </a:t>
            </a:r>
            <a:pPr indent="0" marL="0">
              <a:buNone/>
            </a:pPr>
            <a:r>
              <a:rPr lang="en-US" sz="2600" dirty="0">
                <a:solidFill>
                  <a:srgbClr val="1F2A22"/>
                </a:solidFill>
                <a:latin typeface="Calibri" pitchFamily="34" charset="0"/>
                <a:ea typeface="Calibri" pitchFamily="34" charset="-122"/>
                <a:cs typeface="Calibri" pitchFamily="34" charset="-120"/>
              </a:rPr>
              <a:t>“Is this being applied equitably?”</a:t>
            </a:r>
            <a:endParaRPr lang="en-US" sz="2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1.6 · The STAT Check: Skill, Time, Authority, Tools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Skill</a:t>
            </a:r>
            <a:endParaRPr lang="en-US" sz="2600" dirty="0"/>
          </a:p>
        </p:txBody>
      </p:sp>
      <p:sp>
        <p:nvSpPr>
          <p:cNvPr id="7" name="Text 4"/>
          <p:cNvSpPr txBox="1"/>
          <p:nvPr/>
        </p:nvSpPr>
        <p:spPr>
          <a:xfrm>
            <a:off x="777240" y="2560320"/>
            <a:ext cx="4951476" cy="10972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“Do they know how to do it?”</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Time</a:t>
            </a:r>
            <a:endParaRPr lang="en-US" sz="2600" dirty="0"/>
          </a:p>
        </p:txBody>
      </p:sp>
      <p:sp>
        <p:nvSpPr>
          <p:cNvPr id="12" name="Text 8"/>
          <p:cNvSpPr txBox="1"/>
          <p:nvPr/>
        </p:nvSpPr>
        <p:spPr>
          <a:xfrm>
            <a:off x="6460236" y="2560320"/>
            <a:ext cx="4951476" cy="10972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“Do they have the hours to do it?”</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37260" y="4457700"/>
            <a:ext cx="320040" cy="320040"/>
          </a:xfrm>
          <a:prstGeom prst="rect">
            <a:avLst/>
          </a:prstGeom>
        </p:spPr>
      </p:pic>
      <p:sp>
        <p:nvSpPr>
          <p:cNvPr id="16" name="Text 11"/>
          <p:cNvSpPr txBox="1"/>
          <p:nvPr/>
        </p:nvSpPr>
        <p:spPr>
          <a:xfrm>
            <a:off x="1600200" y="4251960"/>
            <a:ext cx="4128516"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Authority</a:t>
            </a:r>
            <a:endParaRPr lang="en-US" sz="2600" dirty="0"/>
          </a:p>
        </p:txBody>
      </p:sp>
      <p:sp>
        <p:nvSpPr>
          <p:cNvPr id="17" name="Text 12"/>
          <p:cNvSpPr txBox="1"/>
          <p:nvPr/>
        </p:nvSpPr>
        <p:spPr>
          <a:xfrm>
            <a:off x="777240" y="5120640"/>
            <a:ext cx="4951476" cy="10972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“Are they allowed to decide and act?”</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640080" cy="64008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620256" y="4457700"/>
            <a:ext cx="320040" cy="320040"/>
          </a:xfrm>
          <a:prstGeom prst="rect">
            <a:avLst/>
          </a:prstGeom>
        </p:spPr>
      </p:pic>
      <p:sp>
        <p:nvSpPr>
          <p:cNvPr id="21" name="Text 15"/>
          <p:cNvSpPr txBox="1"/>
          <p:nvPr/>
        </p:nvSpPr>
        <p:spPr>
          <a:xfrm>
            <a:off x="7283196" y="4251960"/>
            <a:ext cx="4128516"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Tools</a:t>
            </a:r>
            <a:endParaRPr lang="en-US" sz="2600" dirty="0"/>
          </a:p>
        </p:txBody>
      </p:sp>
      <p:sp>
        <p:nvSpPr>
          <p:cNvPr id="22" name="Text 16"/>
          <p:cNvSpPr txBox="1"/>
          <p:nvPr/>
        </p:nvSpPr>
        <p:spPr>
          <a:xfrm>
            <a:off x="6460236" y="5120640"/>
            <a:ext cx="4951476" cy="10972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“Do they have the systems and resources?”</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1.7 · ACE-IT: the observable behaviour standard</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 · Accountability  </a:t>
            </a:r>
            <a:pPr indent="0" marL="0">
              <a:buNone/>
            </a:pPr>
            <a:r>
              <a:rPr lang="en-US" sz="2600" dirty="0">
                <a:solidFill>
                  <a:srgbClr val="1F2A22"/>
                </a:solidFill>
                <a:latin typeface="Calibri" pitchFamily="34" charset="0"/>
                <a:ea typeface="Calibri" pitchFamily="34" charset="-122"/>
                <a:cs typeface="Calibri" pitchFamily="34" charset="-120"/>
              </a:rPr>
              <a:t>full ownership for results</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 · Commitment  </a:t>
            </a:r>
            <a:pPr indent="0" marL="0">
              <a:buNone/>
            </a:pPr>
            <a:r>
              <a:rPr lang="en-US" sz="2600" dirty="0">
                <a:solidFill>
                  <a:srgbClr val="1F2A22"/>
                </a:solidFill>
                <a:latin typeface="Calibri" pitchFamily="34" charset="0"/>
                <a:ea typeface="Calibri" pitchFamily="34" charset="-122"/>
                <a:cs typeface="Calibri" pitchFamily="34" charset="-120"/>
              </a:rPr>
              <a:t>anchored to agreed strategic intent</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 · Engagement  </a:t>
            </a:r>
            <a:pPr indent="0" marL="0">
              <a:buNone/>
            </a:pPr>
            <a:r>
              <a:rPr lang="en-US" sz="2600" dirty="0">
                <a:solidFill>
                  <a:srgbClr val="1F2A22"/>
                </a:solidFill>
                <a:latin typeface="Calibri" pitchFamily="34" charset="0"/>
                <a:ea typeface="Calibri" pitchFamily="34" charset="-122"/>
                <a:cs typeface="Calibri" pitchFamily="34" charset="-120"/>
              </a:rPr>
              <a:t>listening to understand</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I · Integrity  </a:t>
            </a:r>
            <a:pPr indent="0" marL="0">
              <a:buNone/>
            </a:pPr>
            <a:r>
              <a:rPr lang="en-US" sz="2600" dirty="0">
                <a:solidFill>
                  <a:srgbClr val="1F2A22"/>
                </a:solidFill>
                <a:latin typeface="Calibri" pitchFamily="34" charset="0"/>
                <a:ea typeface="Calibri" pitchFamily="34" charset="-122"/>
                <a:cs typeface="Calibri" pitchFamily="34" charset="-120"/>
              </a:rPr>
              <a:t>consistent with values, facts and truth</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 · Transparency  </a:t>
            </a:r>
            <a:pPr indent="0" marL="0">
              <a:buNone/>
            </a:pPr>
            <a:r>
              <a:rPr lang="en-US" sz="2600" dirty="0">
                <a:solidFill>
                  <a:srgbClr val="1F2A22"/>
                </a:solidFill>
                <a:latin typeface="Calibri" pitchFamily="34" charset="0"/>
                <a:ea typeface="Calibri" pitchFamily="34" charset="-122"/>
                <a:cs typeface="Calibri" pitchFamily="34" charset="-120"/>
              </a:rPr>
              <a:t>reasoning, progress and constraints visible</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Does Heart &amp; Mind Alignment Determine Execution Outcomes?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why shared understanding and commitment convert strategy into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commitment from compliance and explain why change delivers value only when it is adopted.</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2.1 · The ignition point of strategy execution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“This matters to me. I am willing to invest energy in making this succeed.”</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Until that moment occurs across the organisation, strategy remains theoretical.</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Compliance and commitment</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Compliance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Mind only</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Authority, rules or monitoring</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Continuous supervision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Mechanical</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Commitment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Mind and heart</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Understanding, belief, ownership</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Discretionary effort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Resilient when leaders are absent</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Alignment is the conversion point where strategic potential becomes movement.</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Installed and adopted</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Installed</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A project outcome</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System, structure or KPI is in place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People have been told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Yields cost</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Adopted</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A behavioural outcome</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People work the new way unsupervised</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change has passed all four checks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Yields value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The time between installed and adopted is the adoption gap.</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Are the Alignment Hot Zones Across the Organisation?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where interpretation, emotional climate and behaviour strengthen or weaken alignment, and the signals that misalignment is escalating into crisis.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Assess the readiness of the people most affected by the changes the strategy requires.</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COMPASS: seven High Flammable Zones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  </a:t>
            </a:r>
            <a:pPr indent="0" marL="0">
              <a:buNone/>
            </a:pPr>
            <a:r>
              <a:rPr lang="en-US" sz="2400" dirty="0">
                <a:solidFill>
                  <a:srgbClr val="1F2A22"/>
                </a:solidFill>
                <a:latin typeface="Calibri" pitchFamily="34" charset="0"/>
                <a:ea typeface="Calibri" pitchFamily="34" charset="-122"/>
                <a:cs typeface="Calibri" pitchFamily="34" charset="-120"/>
              </a:rPr>
              <a:t>Clarity of Strategic Direction</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  </a:t>
            </a:r>
            <a:pPr indent="0" marL="0">
              <a:buNone/>
            </a:pPr>
            <a:r>
              <a:rPr lang="en-US" sz="2400" dirty="0">
                <a:solidFill>
                  <a:srgbClr val="1F2A22"/>
                </a:solidFill>
                <a:latin typeface="Calibri" pitchFamily="34" charset="0"/>
                <a:ea typeface="Calibri" pitchFamily="34" charset="-122"/>
                <a:cs typeface="Calibri" pitchFamily="34" charset="-120"/>
              </a:rPr>
              <a:t>Organisational Alignment</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  </a:t>
            </a:r>
            <a:pPr indent="0" marL="0">
              <a:buNone/>
            </a:pPr>
            <a:r>
              <a:rPr lang="en-US" sz="2400" dirty="0">
                <a:solidFill>
                  <a:srgbClr val="1F2A22"/>
                </a:solidFill>
                <a:latin typeface="Calibri" pitchFamily="34" charset="0"/>
                <a:ea typeface="Calibri" pitchFamily="34" charset="-122"/>
                <a:cs typeface="Calibri" pitchFamily="34" charset="-120"/>
              </a:rPr>
              <a:t>Management Discipline</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  </a:t>
            </a:r>
            <a:pPr indent="0" marL="0">
              <a:buNone/>
            </a:pPr>
            <a:r>
              <a:rPr lang="en-US" sz="2400" dirty="0">
                <a:solidFill>
                  <a:srgbClr val="1F2A22"/>
                </a:solidFill>
                <a:latin typeface="Calibri" pitchFamily="34" charset="0"/>
                <a:ea typeface="Calibri" pitchFamily="34" charset="-122"/>
                <a:cs typeface="Calibri" pitchFamily="34" charset="-120"/>
              </a:rPr>
              <a:t>People &amp; Capability</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  </a:t>
            </a:r>
            <a:pPr indent="0" marL="0">
              <a:buNone/>
            </a:pPr>
            <a:r>
              <a:rPr lang="en-US" sz="2400" dirty="0">
                <a:solidFill>
                  <a:srgbClr val="1F2A22"/>
                </a:solidFill>
                <a:latin typeface="Calibri" pitchFamily="34" charset="0"/>
                <a:ea typeface="Calibri" pitchFamily="34" charset="-122"/>
                <a:cs typeface="Calibri" pitchFamily="34" charset="-120"/>
              </a:rPr>
              <a:t>Allocation of Resources</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  </a:t>
            </a:r>
            <a:pPr indent="0" marL="0">
              <a:buNone/>
            </a:pPr>
            <a:r>
              <a:rPr lang="en-US" sz="2400" dirty="0">
                <a:solidFill>
                  <a:srgbClr val="1F2A22"/>
                </a:solidFill>
                <a:latin typeface="Calibri" pitchFamily="34" charset="0"/>
                <a:ea typeface="Calibri" pitchFamily="34" charset="-122"/>
                <a:cs typeface="Calibri" pitchFamily="34" charset="-120"/>
              </a:rPr>
              <a:t>Sensing &amp; Adaptation</a:t>
            </a:r>
            <a:endParaRPr lang="en-US" sz="2400" dirty="0"/>
          </a:p>
        </p:txBody>
      </p:sp>
      <p:sp>
        <p:nvSpPr>
          <p:cNvPr id="21" name="Shape 13"/>
          <p:cNvSpPr/>
          <p:nvPr/>
        </p:nvSpPr>
        <p:spPr>
          <a:xfrm>
            <a:off x="548640" y="5806767"/>
            <a:ext cx="489204" cy="489204"/>
          </a:xfrm>
          <a:prstGeom prst="ellipse">
            <a:avLst/>
          </a:prstGeom>
          <a:solidFill>
            <a:srgbClr val="1A5C2C"/>
          </a:solidFill>
          <a:ln w="12700">
            <a:solidFill>
              <a:srgbClr val="1A5C2C"/>
            </a:solidFill>
            <a:prstDash val="solid"/>
          </a:ln>
        </p:spPr>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  </a:t>
            </a:r>
            <a:pPr indent="0" marL="0">
              <a:buNone/>
            </a:pPr>
            <a:r>
              <a:rPr lang="en-US" sz="2400" dirty="0">
                <a:solidFill>
                  <a:srgbClr val="1F2A22"/>
                </a:solidFill>
                <a:latin typeface="Calibri" pitchFamily="34" charset="0"/>
                <a:ea typeface="Calibri" pitchFamily="34" charset="-122"/>
                <a:cs typeface="Calibri" pitchFamily="34" charset="-120"/>
              </a:rPr>
              <a:t>Systems &amp; Execution</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From High Flammable to Burning Platform</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High Flammable Zone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A leverage point</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Strong alignment: compounding momentum</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Weak alignment: multiplying friction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Early intervention stabilises it</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Burning Platform</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Past the escalation threshold</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Breakdown visible and costly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Reactive fixes cost far more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Requires systemic rebuilding</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3.3 · Change readiness: the scan</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a:t>
            </a:r>
            <a:pPr indent="0" marL="0">
              <a:buNone/>
            </a:pPr>
            <a:r>
              <a:rPr lang="en-US" sz="2600" dirty="0">
                <a:solidFill>
                  <a:srgbClr val="1F2A22"/>
                </a:solidFill>
                <a:latin typeface="Calibri" pitchFamily="34" charset="0"/>
                <a:ea typeface="Calibri" pitchFamily="34" charset="-122"/>
                <a:cs typeface="Calibri" pitchFamily="34" charset="-120"/>
              </a:rPr>
              <a:t>Name one change and list the groups it affects.</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a:t>
            </a:r>
            <a:pPr indent="0" marL="0">
              <a:buNone/>
            </a:pPr>
            <a:r>
              <a:rPr lang="en-US" sz="2600" dirty="0">
                <a:solidFill>
                  <a:srgbClr val="1F2A22"/>
                </a:solidFill>
                <a:latin typeface="Calibri" pitchFamily="34" charset="0"/>
                <a:ea typeface="Calibri" pitchFamily="34" charset="-122"/>
                <a:cs typeface="Calibri" pitchFamily="34" charset="-120"/>
              </a:rPr>
              <a:t>Rate each group on the 4 Checks: 1 (fully in place) to 5 (missing).</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a:t>
            </a:r>
            <a:pPr indent="0" marL="0">
              <a:buNone/>
            </a:pPr>
            <a:r>
              <a:rPr lang="en-US" sz="2600" dirty="0">
                <a:solidFill>
                  <a:srgbClr val="1F2A22"/>
                </a:solidFill>
                <a:latin typeface="Calibri" pitchFamily="34" charset="0"/>
                <a:ea typeface="Calibri" pitchFamily="34" charset="-122"/>
                <a:cs typeface="Calibri" pitchFamily="34" charset="-120"/>
              </a:rPr>
              <a:t>Start at each group’s first check that scores 4 or 5.</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Low readiness inside a High Flammable Zone comes first.</a:t>
            </a:r>
            <a:endParaRPr lang="en-US" sz="2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How Aligning Heart &amp; Mind Creates Collective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how individual alignment responsibilities combine into a coherent enterprise interpretation.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where gaps in role alignment and competing change demands create enterprise vulnerability.</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The Converging Zone</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Without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Collective Intelligence</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Different interpretations transmitted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COMPASS domains drift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Competing signals</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With</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Collective Intelligence</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Direction clear across all layers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Resources reinforce priorities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One coherent signal</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Collective intelligence by role</a:t>
            </a:r>
            <a:endParaRPr lang="en-US" sz="3600" dirty="0"/>
          </a:p>
        </p:txBody>
      </p:sp>
      <p:sp>
        <p:nvSpPr>
          <p:cNvPr id="3" name="Text 1"/>
          <p:cNvSpPr txBox="1"/>
          <p:nvPr/>
        </p:nvSpPr>
        <p:spPr>
          <a:xfrm>
            <a:off x="548640" y="1417320"/>
            <a:ext cx="1097280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Primary COMPASS activation by role</a:t>
            </a:r>
            <a:endParaRPr lang="en-US" sz="2400" dirty="0"/>
          </a:p>
        </p:txBody>
      </p:sp>
      <p:sp>
        <p:nvSpPr>
          <p:cNvPr id="4" name="Shape 2"/>
          <p:cNvSpPr/>
          <p:nvPr/>
        </p:nvSpPr>
        <p:spPr>
          <a:xfrm>
            <a:off x="548640" y="1965960"/>
            <a:ext cx="5440680" cy="777240"/>
          </a:xfrm>
          <a:prstGeom prst="roundRect">
            <a:avLst>
              <a:gd name="adj" fmla="val 11765"/>
            </a:avLst>
          </a:prstGeom>
          <a:solidFill>
            <a:srgbClr val="EEF4EF"/>
          </a:solidFill>
          <a:ln w="12700">
            <a:solidFill>
              <a:srgbClr val="EEF4EF"/>
            </a:solidFill>
            <a:prstDash val="solid"/>
          </a:ln>
        </p:spPr>
      </p:sp>
      <p:sp>
        <p:nvSpPr>
          <p:cNvPr id="5" name="Text 3"/>
          <p:cNvSpPr txBox="1"/>
          <p:nvPr/>
        </p:nvSpPr>
        <p:spPr>
          <a:xfrm>
            <a:off x="777240" y="1965960"/>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CEO   </a:t>
            </a:r>
            <a:pPr indent="0" marL="0">
              <a:buNone/>
            </a:pPr>
            <a:r>
              <a:rPr lang="en-US" sz="2400" dirty="0">
                <a:solidFill>
                  <a:srgbClr val="1F2A22"/>
                </a:solidFill>
                <a:latin typeface="Calibri" pitchFamily="34" charset="0"/>
                <a:ea typeface="Calibri" pitchFamily="34" charset="-122"/>
                <a:cs typeface="Calibri" pitchFamily="34" charset="-120"/>
              </a:rPr>
              <a:t>Clarity · Alignment</a:t>
            </a:r>
            <a:endParaRPr lang="en-US" sz="2400" dirty="0"/>
          </a:p>
        </p:txBody>
      </p:sp>
      <p:sp>
        <p:nvSpPr>
          <p:cNvPr id="6" name="Shape 4"/>
          <p:cNvSpPr/>
          <p:nvPr/>
        </p:nvSpPr>
        <p:spPr>
          <a:xfrm>
            <a:off x="6172200" y="1965960"/>
            <a:ext cx="5440680" cy="777240"/>
          </a:xfrm>
          <a:prstGeom prst="roundRect">
            <a:avLst>
              <a:gd name="adj" fmla="val 11765"/>
            </a:avLst>
          </a:prstGeom>
          <a:solidFill>
            <a:srgbClr val="EEF4EF"/>
          </a:solidFill>
          <a:ln w="12700">
            <a:solidFill>
              <a:srgbClr val="EEF4EF"/>
            </a:solidFill>
            <a:prstDash val="solid"/>
          </a:ln>
        </p:spPr>
      </p:sp>
      <p:sp>
        <p:nvSpPr>
          <p:cNvPr id="7" name="Text 5"/>
          <p:cNvSpPr txBox="1"/>
          <p:nvPr/>
        </p:nvSpPr>
        <p:spPr>
          <a:xfrm>
            <a:off x="6400800" y="1965960"/>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CFO   </a:t>
            </a:r>
            <a:pPr indent="0" marL="0">
              <a:buNone/>
            </a:pPr>
            <a:r>
              <a:rPr lang="en-US" sz="2400" dirty="0">
                <a:solidFill>
                  <a:srgbClr val="1F2A22"/>
                </a:solidFill>
                <a:latin typeface="Calibri" pitchFamily="34" charset="0"/>
                <a:ea typeface="Calibri" pitchFamily="34" charset="-122"/>
                <a:cs typeface="Calibri" pitchFamily="34" charset="-120"/>
              </a:rPr>
              <a:t>Resources · Discipline</a:t>
            </a:r>
            <a:endParaRPr lang="en-US" sz="2400" dirty="0"/>
          </a:p>
        </p:txBody>
      </p:sp>
      <p:sp>
        <p:nvSpPr>
          <p:cNvPr id="8" name="Shape 6"/>
          <p:cNvSpPr/>
          <p:nvPr/>
        </p:nvSpPr>
        <p:spPr>
          <a:xfrm>
            <a:off x="548640" y="2862072"/>
            <a:ext cx="5440680" cy="777240"/>
          </a:xfrm>
          <a:prstGeom prst="roundRect">
            <a:avLst>
              <a:gd name="adj" fmla="val 11765"/>
            </a:avLst>
          </a:prstGeom>
          <a:solidFill>
            <a:srgbClr val="EEF4EF"/>
          </a:solidFill>
          <a:ln w="12700">
            <a:solidFill>
              <a:srgbClr val="EEF4EF"/>
            </a:solidFill>
            <a:prstDash val="solid"/>
          </a:ln>
        </p:spPr>
      </p:sp>
      <p:sp>
        <p:nvSpPr>
          <p:cNvPr id="9" name="Text 7"/>
          <p:cNvSpPr txBox="1"/>
          <p:nvPr/>
        </p:nvSpPr>
        <p:spPr>
          <a:xfrm>
            <a:off x="777240" y="2862072"/>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COO   </a:t>
            </a:r>
            <a:pPr indent="0" marL="0">
              <a:buNone/>
            </a:pPr>
            <a:r>
              <a:rPr lang="en-US" sz="2400" dirty="0">
                <a:solidFill>
                  <a:srgbClr val="1F2A22"/>
                </a:solidFill>
                <a:latin typeface="Calibri" pitchFamily="34" charset="0"/>
                <a:ea typeface="Calibri" pitchFamily="34" charset="-122"/>
                <a:cs typeface="Calibri" pitchFamily="34" charset="-120"/>
              </a:rPr>
              <a:t>Systems · Discipline</a:t>
            </a:r>
            <a:endParaRPr lang="en-US" sz="2400" dirty="0"/>
          </a:p>
        </p:txBody>
      </p:sp>
      <p:sp>
        <p:nvSpPr>
          <p:cNvPr id="10" name="Shape 8"/>
          <p:cNvSpPr/>
          <p:nvPr/>
        </p:nvSpPr>
        <p:spPr>
          <a:xfrm>
            <a:off x="6172200" y="2862072"/>
            <a:ext cx="5440680" cy="777240"/>
          </a:xfrm>
          <a:prstGeom prst="roundRect">
            <a:avLst>
              <a:gd name="adj" fmla="val 11765"/>
            </a:avLst>
          </a:prstGeom>
          <a:solidFill>
            <a:srgbClr val="EEF4EF"/>
          </a:solidFill>
          <a:ln w="12700">
            <a:solidFill>
              <a:srgbClr val="EEF4EF"/>
            </a:solidFill>
            <a:prstDash val="solid"/>
          </a:ln>
        </p:spPr>
      </p:sp>
      <p:sp>
        <p:nvSpPr>
          <p:cNvPr id="11" name="Text 9"/>
          <p:cNvSpPr txBox="1"/>
          <p:nvPr/>
        </p:nvSpPr>
        <p:spPr>
          <a:xfrm>
            <a:off x="6400800" y="2862072"/>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CHRO   </a:t>
            </a:r>
            <a:pPr indent="0" marL="0">
              <a:buNone/>
            </a:pPr>
            <a:r>
              <a:rPr lang="en-US" sz="2400" dirty="0">
                <a:solidFill>
                  <a:srgbClr val="1F2A22"/>
                </a:solidFill>
                <a:latin typeface="Calibri" pitchFamily="34" charset="0"/>
                <a:ea typeface="Calibri" pitchFamily="34" charset="-122"/>
                <a:cs typeface="Calibri" pitchFamily="34" charset="-120"/>
              </a:rPr>
              <a:t>People · Alignment</a:t>
            </a:r>
            <a:endParaRPr lang="en-US" sz="2400" dirty="0"/>
          </a:p>
        </p:txBody>
      </p:sp>
      <p:sp>
        <p:nvSpPr>
          <p:cNvPr id="12" name="Shape 10"/>
          <p:cNvSpPr/>
          <p:nvPr/>
        </p:nvSpPr>
        <p:spPr>
          <a:xfrm>
            <a:off x="548640" y="3758184"/>
            <a:ext cx="5440680" cy="777240"/>
          </a:xfrm>
          <a:prstGeom prst="roundRect">
            <a:avLst>
              <a:gd name="adj" fmla="val 11765"/>
            </a:avLst>
          </a:prstGeom>
          <a:solidFill>
            <a:srgbClr val="EEF4EF"/>
          </a:solidFill>
          <a:ln w="12700">
            <a:solidFill>
              <a:srgbClr val="EEF4EF"/>
            </a:solidFill>
            <a:prstDash val="solid"/>
          </a:ln>
        </p:spPr>
      </p:sp>
      <p:sp>
        <p:nvSpPr>
          <p:cNvPr id="13" name="Text 11"/>
          <p:cNvSpPr txBox="1"/>
          <p:nvPr/>
        </p:nvSpPr>
        <p:spPr>
          <a:xfrm>
            <a:off x="777240" y="3758184"/>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CTO/CIO   </a:t>
            </a:r>
            <a:pPr indent="0" marL="0">
              <a:buNone/>
            </a:pPr>
            <a:r>
              <a:rPr lang="en-US" sz="2400" dirty="0">
                <a:solidFill>
                  <a:srgbClr val="1F2A22"/>
                </a:solidFill>
                <a:latin typeface="Calibri" pitchFamily="34" charset="0"/>
                <a:ea typeface="Calibri" pitchFamily="34" charset="-122"/>
                <a:cs typeface="Calibri" pitchFamily="34" charset="-120"/>
              </a:rPr>
              <a:t>Systems · Sensing</a:t>
            </a:r>
            <a:endParaRPr lang="en-US" sz="2400" dirty="0"/>
          </a:p>
        </p:txBody>
      </p:sp>
      <p:sp>
        <p:nvSpPr>
          <p:cNvPr id="14" name="Shape 12"/>
          <p:cNvSpPr/>
          <p:nvPr/>
        </p:nvSpPr>
        <p:spPr>
          <a:xfrm>
            <a:off x="6172200" y="3758184"/>
            <a:ext cx="5440680" cy="777240"/>
          </a:xfrm>
          <a:prstGeom prst="roundRect">
            <a:avLst>
              <a:gd name="adj" fmla="val 11765"/>
            </a:avLst>
          </a:prstGeom>
          <a:solidFill>
            <a:srgbClr val="EEF4EF"/>
          </a:solidFill>
          <a:ln w="12700">
            <a:solidFill>
              <a:srgbClr val="EEF4EF"/>
            </a:solidFill>
            <a:prstDash val="solid"/>
          </a:ln>
        </p:spPr>
      </p:sp>
      <p:sp>
        <p:nvSpPr>
          <p:cNvPr id="15" name="Text 13"/>
          <p:cNvSpPr txBox="1"/>
          <p:nvPr/>
        </p:nvSpPr>
        <p:spPr>
          <a:xfrm>
            <a:off x="6400800" y="3758184"/>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CMO   </a:t>
            </a:r>
            <a:pPr indent="0" marL="0">
              <a:buNone/>
            </a:pPr>
            <a:r>
              <a:rPr lang="en-US" sz="2400" dirty="0">
                <a:solidFill>
                  <a:srgbClr val="1F2A22"/>
                </a:solidFill>
                <a:latin typeface="Calibri" pitchFamily="34" charset="0"/>
                <a:ea typeface="Calibri" pitchFamily="34" charset="-122"/>
                <a:cs typeface="Calibri" pitchFamily="34" charset="-120"/>
              </a:rPr>
              <a:t>Clarity · Sensing</a:t>
            </a:r>
            <a:endParaRPr lang="en-US" sz="2400" dirty="0"/>
          </a:p>
        </p:txBody>
      </p:sp>
      <p:sp>
        <p:nvSpPr>
          <p:cNvPr id="16" name="Shape 14"/>
          <p:cNvSpPr/>
          <p:nvPr/>
        </p:nvSpPr>
        <p:spPr>
          <a:xfrm>
            <a:off x="548640" y="4654296"/>
            <a:ext cx="5440680" cy="777240"/>
          </a:xfrm>
          <a:prstGeom prst="roundRect">
            <a:avLst>
              <a:gd name="adj" fmla="val 11765"/>
            </a:avLst>
          </a:prstGeom>
          <a:solidFill>
            <a:srgbClr val="EEF4EF"/>
          </a:solidFill>
          <a:ln w="12700">
            <a:solidFill>
              <a:srgbClr val="EEF4EF"/>
            </a:solidFill>
            <a:prstDash val="solid"/>
          </a:ln>
        </p:spPr>
      </p:sp>
      <p:sp>
        <p:nvSpPr>
          <p:cNvPr id="17" name="Text 15"/>
          <p:cNvSpPr txBox="1"/>
          <p:nvPr/>
        </p:nvSpPr>
        <p:spPr>
          <a:xfrm>
            <a:off x="777240" y="4654296"/>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CCO   </a:t>
            </a:r>
            <a:pPr indent="0" marL="0">
              <a:buNone/>
            </a:pPr>
            <a:r>
              <a:rPr lang="en-US" sz="2400" dirty="0">
                <a:solidFill>
                  <a:srgbClr val="1F2A22"/>
                </a:solidFill>
                <a:latin typeface="Calibri" pitchFamily="34" charset="0"/>
                <a:ea typeface="Calibri" pitchFamily="34" charset="-122"/>
                <a:cs typeface="Calibri" pitchFamily="34" charset="-120"/>
              </a:rPr>
              <a:t>Resources · Alignment</a:t>
            </a:r>
            <a:endParaRPr lang="en-US" sz="2400" dirty="0"/>
          </a:p>
        </p:txBody>
      </p:sp>
      <p:sp>
        <p:nvSpPr>
          <p:cNvPr id="18" name="Shape 16"/>
          <p:cNvSpPr/>
          <p:nvPr/>
        </p:nvSpPr>
        <p:spPr>
          <a:xfrm>
            <a:off x="6172200" y="4654296"/>
            <a:ext cx="5440680" cy="777240"/>
          </a:xfrm>
          <a:prstGeom prst="roundRect">
            <a:avLst>
              <a:gd name="adj" fmla="val 11765"/>
            </a:avLst>
          </a:prstGeom>
          <a:solidFill>
            <a:srgbClr val="EEF4EF"/>
          </a:solidFill>
          <a:ln w="12700">
            <a:solidFill>
              <a:srgbClr val="EEF4EF"/>
            </a:solidFill>
            <a:prstDash val="solid"/>
          </a:ln>
        </p:spPr>
      </p:sp>
      <p:sp>
        <p:nvSpPr>
          <p:cNvPr id="19" name="Text 17"/>
          <p:cNvSpPr txBox="1"/>
          <p:nvPr/>
        </p:nvSpPr>
        <p:spPr>
          <a:xfrm>
            <a:off x="6400800" y="4654296"/>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CPO   </a:t>
            </a:r>
            <a:pPr indent="0" marL="0">
              <a:buNone/>
            </a:pPr>
            <a:r>
              <a:rPr lang="en-US" sz="2400" dirty="0">
                <a:solidFill>
                  <a:srgbClr val="1F2A22"/>
                </a:solidFill>
                <a:latin typeface="Calibri" pitchFamily="34" charset="0"/>
                <a:ea typeface="Calibri" pitchFamily="34" charset="-122"/>
                <a:cs typeface="Calibri" pitchFamily="34" charset="-120"/>
              </a:rPr>
              <a:t>Systems · Resources</a:t>
            </a:r>
            <a:endParaRPr lang="en-US" sz="2400" dirty="0"/>
          </a:p>
        </p:txBody>
      </p:sp>
      <p:sp>
        <p:nvSpPr>
          <p:cNvPr id="20" name="Shape 18"/>
          <p:cNvSpPr/>
          <p:nvPr/>
        </p:nvSpPr>
        <p:spPr>
          <a:xfrm>
            <a:off x="548640" y="5550408"/>
            <a:ext cx="5440680" cy="777240"/>
          </a:xfrm>
          <a:prstGeom prst="roundRect">
            <a:avLst>
              <a:gd name="adj" fmla="val 11765"/>
            </a:avLst>
          </a:prstGeom>
          <a:solidFill>
            <a:srgbClr val="EEF4EF"/>
          </a:solidFill>
          <a:ln w="12700">
            <a:solidFill>
              <a:srgbClr val="EEF4EF"/>
            </a:solidFill>
            <a:prstDash val="solid"/>
          </a:ln>
        </p:spPr>
      </p:sp>
      <p:sp>
        <p:nvSpPr>
          <p:cNvPr id="21" name="Text 19"/>
          <p:cNvSpPr txBox="1"/>
          <p:nvPr/>
        </p:nvSpPr>
        <p:spPr>
          <a:xfrm>
            <a:off x="777240" y="5550408"/>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CRO   </a:t>
            </a:r>
            <a:pPr indent="0" marL="0">
              <a:buNone/>
            </a:pPr>
            <a:r>
              <a:rPr lang="en-US" sz="2400" dirty="0">
                <a:solidFill>
                  <a:srgbClr val="1F2A22"/>
                </a:solidFill>
                <a:latin typeface="Calibri" pitchFamily="34" charset="0"/>
                <a:ea typeface="Calibri" pitchFamily="34" charset="-122"/>
                <a:cs typeface="Calibri" pitchFamily="34" charset="-120"/>
              </a:rPr>
              <a:t>Discipline · Systems</a:t>
            </a:r>
            <a:endParaRPr lang="en-US" sz="2400" dirty="0"/>
          </a:p>
        </p:txBody>
      </p:sp>
      <p:sp>
        <p:nvSpPr>
          <p:cNvPr id="22" name="Shape 20"/>
          <p:cNvSpPr/>
          <p:nvPr/>
        </p:nvSpPr>
        <p:spPr>
          <a:xfrm>
            <a:off x="6172200" y="5550408"/>
            <a:ext cx="5440680" cy="777240"/>
          </a:xfrm>
          <a:prstGeom prst="roundRect">
            <a:avLst>
              <a:gd name="adj" fmla="val 11765"/>
            </a:avLst>
          </a:prstGeom>
          <a:solidFill>
            <a:srgbClr val="EEF4EF"/>
          </a:solidFill>
          <a:ln w="12700">
            <a:solidFill>
              <a:srgbClr val="EEF4EF"/>
            </a:solidFill>
            <a:prstDash val="solid"/>
          </a:ln>
        </p:spPr>
      </p:sp>
      <p:sp>
        <p:nvSpPr>
          <p:cNvPr id="23" name="Text 21"/>
          <p:cNvSpPr txBox="1"/>
          <p:nvPr/>
        </p:nvSpPr>
        <p:spPr>
          <a:xfrm>
            <a:off x="6400800" y="5550408"/>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CSO   </a:t>
            </a:r>
            <a:pPr indent="0" marL="0">
              <a:buNone/>
            </a:pPr>
            <a:r>
              <a:rPr lang="en-US" sz="2400" dirty="0">
                <a:solidFill>
                  <a:srgbClr val="1F2A22"/>
                </a:solidFill>
                <a:latin typeface="Calibri" pitchFamily="34" charset="0"/>
                <a:ea typeface="Calibri" pitchFamily="34" charset="-122"/>
                <a:cs typeface="Calibri" pitchFamily="34" charset="-120"/>
              </a:rPr>
              <a:t>Clarity · Sensing</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Leading change with one voice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One message</a:t>
            </a:r>
            <a:endParaRPr lang="en-US" sz="2600" dirty="0"/>
          </a:p>
        </p:txBody>
      </p:sp>
      <p:sp>
        <p:nvSpPr>
          <p:cNvPr id="7" name="Text 4"/>
          <p:cNvSpPr txBox="1"/>
          <p:nvPr/>
        </p:nvSpPr>
        <p:spPr>
          <a:xfrm>
            <a:off x="777240" y="2560320"/>
            <a:ext cx="4951476" cy="10972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Protects Mind: every leader gives the same Shift, Stake and Step.</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One example</a:t>
            </a:r>
            <a:endParaRPr lang="en-US" sz="2600" dirty="0"/>
          </a:p>
        </p:txBody>
      </p:sp>
      <p:sp>
        <p:nvSpPr>
          <p:cNvPr id="12" name="Text 8"/>
          <p:cNvSpPr txBox="1"/>
          <p:nvPr/>
        </p:nvSpPr>
        <p:spPr>
          <a:xfrm>
            <a:off x="6460236" y="2560320"/>
            <a:ext cx="4951476" cy="10972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Protects Heart: leaders show the behaviours before they ask for them.</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37260" y="4457700"/>
            <a:ext cx="320040" cy="320040"/>
          </a:xfrm>
          <a:prstGeom prst="rect">
            <a:avLst/>
          </a:prstGeom>
        </p:spPr>
      </p:pic>
      <p:sp>
        <p:nvSpPr>
          <p:cNvPr id="16" name="Text 11"/>
          <p:cNvSpPr txBox="1"/>
          <p:nvPr/>
        </p:nvSpPr>
        <p:spPr>
          <a:xfrm>
            <a:off x="1600200" y="4251960"/>
            <a:ext cx="4128516"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One sequence</a:t>
            </a:r>
            <a:endParaRPr lang="en-US" sz="2600" dirty="0"/>
          </a:p>
        </p:txBody>
      </p:sp>
      <p:sp>
        <p:nvSpPr>
          <p:cNvPr id="17" name="Text 12"/>
          <p:cNvSpPr txBox="1"/>
          <p:nvPr/>
        </p:nvSpPr>
        <p:spPr>
          <a:xfrm>
            <a:off x="777240" y="5120640"/>
            <a:ext cx="4951476" cy="10972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Protects Hands: the team agrees the order and pace of its changes.</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640080" cy="64008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620256" y="4457700"/>
            <a:ext cx="320040" cy="320040"/>
          </a:xfrm>
          <a:prstGeom prst="rect">
            <a:avLst/>
          </a:prstGeom>
        </p:spPr>
      </p:pic>
      <p:sp>
        <p:nvSpPr>
          <p:cNvPr id="21" name="Text 15"/>
          <p:cNvSpPr txBox="1"/>
          <p:nvPr/>
        </p:nvSpPr>
        <p:spPr>
          <a:xfrm>
            <a:off x="7283196" y="4251960"/>
            <a:ext cx="4128516"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One owner</a:t>
            </a:r>
            <a:endParaRPr lang="en-US" sz="2600" dirty="0"/>
          </a:p>
        </p:txBody>
      </p:sp>
      <p:sp>
        <p:nvSpPr>
          <p:cNvPr id="22" name="Text 16"/>
          <p:cNvSpPr txBox="1"/>
          <p:nvPr/>
        </p:nvSpPr>
        <p:spPr>
          <a:xfrm>
            <a:off x="6460236" y="5120640"/>
            <a:ext cx="4951476" cy="10972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Protects Habit: one named leader answers for adoption.</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Building Collective Intelligence Through Shared Interpretation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Formulate how one strategic change will be led and how leadership roles connect to support it.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Demonstrate commitment through a behavioural change that strengthens collective alignment.</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Step 1 · The Change Transition Map</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Two changes (15 min):  </a:t>
            </a:r>
            <a:pPr indent="0" marL="0">
              <a:buNone/>
            </a:pPr>
            <a:r>
              <a:rPr lang="en-US" sz="2600" dirty="0">
                <a:solidFill>
                  <a:srgbClr val="1F2A22"/>
                </a:solidFill>
                <a:latin typeface="Calibri" pitchFamily="34" charset="0"/>
                <a:ea typeface="Calibri" pitchFamily="34" charset="-122"/>
                <a:cs typeface="Calibri" pitchFamily="34" charset="-120"/>
              </a:rPr>
              <a:t>one practice to start, one to stop</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Run the 4 Checks:  </a:t>
            </a:r>
            <a:pPr indent="0" marL="0">
              <a:buNone/>
            </a:pPr>
            <a:r>
              <a:rPr lang="en-US" sz="2600" dirty="0">
                <a:solidFill>
                  <a:srgbClr val="1F2A22"/>
                </a:solidFill>
                <a:latin typeface="Calibri" pitchFamily="34" charset="0"/>
                <a:ea typeface="Calibri" pitchFamily="34" charset="-122"/>
                <a:cs typeface="Calibri" pitchFamily="34" charset="-120"/>
              </a:rPr>
              <a:t>Mind · 3S, Heart · SCARF, Hands · STAT, Habit · ACE-IT</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Weakest check:  </a:t>
            </a:r>
            <a:pPr indent="0" marL="0">
              <a:buNone/>
            </a:pPr>
            <a:r>
              <a:rPr lang="en-US" sz="2600" dirty="0">
                <a:solidFill>
                  <a:srgbClr val="1F2A22"/>
                </a:solidFill>
                <a:latin typeface="Calibri" pitchFamily="34" charset="0"/>
                <a:ea typeface="Calibri" pitchFamily="34" charset="-122"/>
                <a:cs typeface="Calibri" pitchFamily="34" charset="-120"/>
              </a:rPr>
              <a:t>the first check that fails, and what the group needs</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Owner:  </a:t>
            </a:r>
            <a:pPr indent="0" marL="0">
              <a:buNone/>
            </a:pPr>
            <a:r>
              <a:rPr lang="en-US" sz="2600" dirty="0">
                <a:solidFill>
                  <a:srgbClr val="1F2A22"/>
                </a:solidFill>
                <a:latin typeface="Calibri" pitchFamily="34" charset="0"/>
                <a:ea typeface="Calibri" pitchFamily="34" charset="-122"/>
                <a:cs typeface="Calibri" pitchFamily="34" charset="-120"/>
              </a:rPr>
              <a:t>one named leader who answers for adoption</a:t>
            </a:r>
            <a:endParaRPr lang="en-US" sz="2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Steps 2–4 · Mapping how our roles connect</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2 · Role Connections (12–15 min):  </a:t>
            </a:r>
            <a:pPr indent="0" marL="0">
              <a:buNone/>
            </a:pPr>
            <a:r>
              <a:rPr lang="en-US" sz="2600" dirty="0">
                <a:solidFill>
                  <a:srgbClr val="1F2A22"/>
                </a:solidFill>
                <a:latin typeface="Calibri" pitchFamily="34" charset="0"/>
                <a:ea typeface="Calibri" pitchFamily="34" charset="-122"/>
                <a:cs typeface="Calibri" pitchFamily="34" charset="-120"/>
              </a:rPr>
              <a:t>your role and the two you depend on most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3 · Exchange &amp; Dialogue (15–20 min):  </a:t>
            </a:r>
            <a:pPr indent="0" marL="0">
              <a:buNone/>
            </a:pPr>
            <a:r>
              <a:rPr lang="en-US" sz="2600" dirty="0">
                <a:solidFill>
                  <a:srgbClr val="1F2A22"/>
                </a:solidFill>
                <a:latin typeface="Calibri" pitchFamily="34" charset="0"/>
                <a:ea typeface="Calibri" pitchFamily="34" charset="-122"/>
                <a:cs typeface="Calibri" pitchFamily="34" charset="-120"/>
              </a:rPr>
              <a:t>test each other’s maps and tables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4 · Plenary Synthesis (20–25 min):  </a:t>
            </a:r>
            <a:pPr indent="0" marL="0">
              <a:buNone/>
            </a:pPr>
            <a:r>
              <a:rPr lang="en-US" sz="2600" dirty="0">
                <a:solidFill>
                  <a:srgbClr val="1F2A22"/>
                </a:solidFill>
                <a:latin typeface="Calibri" pitchFamily="34" charset="0"/>
                <a:ea typeface="Calibri" pitchFamily="34" charset="-122"/>
                <a:cs typeface="Calibri" pitchFamily="34" charset="-120"/>
              </a:rPr>
              <a:t>the weakest domain and the change sequence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30-day commitment:  </a:t>
            </a:r>
            <a:pPr indent="0" marL="0">
              <a:buNone/>
            </a:pPr>
            <a:r>
              <a:rPr lang="en-US" sz="2600" dirty="0">
                <a:solidFill>
                  <a:srgbClr val="1F2A22"/>
                </a:solidFill>
                <a:latin typeface="Calibri" pitchFamily="34" charset="0"/>
                <a:ea typeface="Calibri" pitchFamily="34" charset="-122"/>
                <a:cs typeface="Calibri" pitchFamily="34" charset="-120"/>
              </a:rPr>
              <a:t>one behaviour, tied to a mapped change</a:t>
            </a:r>
            <a:endParaRPr lang="en-US" sz="2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Which COMPASS domain is this team most likely rating too generously — and which executive role has quietly stopped carrying its alignment responsibility there?</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5 · Aligning Heart &amp; Mind</dc:title>
  <dc:subject>PptxGenJS Presentation</dc:subject>
  <dc:creator>Institute of Behavioural Strategy &amp; Leadership</dc:creator>
  <cp:lastModifiedBy>Institute of Behavioural Strategy &amp; Leadership</cp:lastModifiedBy>
  <cp:revision>1</cp:revision>
  <dcterms:created xsi:type="dcterms:W3CDTF">2026-10-02T18:48:24Z</dcterms:created>
  <dcterms:modified xsi:type="dcterms:W3CDTF">2026-10-02T18:48:24Z</dcterms:modified>
</cp:coreProperties>
</file>