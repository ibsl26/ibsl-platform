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the OCEAVL Assessment shows the behavioural profile the leadership team brings to the strategy.</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chooses its scribe for this work.</a:t>
            </a:r>
          </a:p>
          <a:p>
            <a:r>
              <a:rPr lang="en-GB" dirty="0"/>
              <a:t>The scribe types what the group agrees, the entries appear on every member’s page, and each member then selects Agree.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endParaRPr lang="en-GB" dirty="0"/>
          </a:p>
          <a:p>
            <a:r>
              <a:rPr lang="en-GB" dirty="0"/>
              <a:t>Where the outputs go next:</a:t>
            </a:r>
          </a:p>
          <a:p>
            <a:r>
              <a:rPr lang="en-GB" dirty="0"/>
              <a:t>- Each member’s submitted OCEAVL scores feed the team’s profile in the Capstone S2R Blueprint once every member has submitted. The team sees levels and counts, with no names.</a:t>
            </a:r>
          </a:p>
          <a:p>
            <a:r>
              <a:rPr lang="en-GB" dirty="0"/>
              <a:t>- The group’s confirmed record from Section 5 feeds boxes 5B and 5C. The team writes box 5A under its team profile.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OCEAVL Assessment, which each participant completes for themselves, and the profile the team brings together.</a:t>
            </a:r>
          </a:p>
          <a:p>
            <a:endParaRPr lang="en-GB" dirty="0"/>
          </a:p>
          <a:p>
            <a:r>
              <a:rPr lang="en-GB" dirty="0"/>
              <a:t>- Section 4 · Integration — Collective: leading change with one voice, then the Converging Zone Contribution and the Alignment Hot Zone of each leadership role.</a:t>
            </a:r>
          </a:p>
          <a:p>
            <a:endParaRPr lang="en-GB" dirty="0"/>
          </a:p>
          <a:p>
            <a:r>
              <a:rPr lang="en-GB" dirty="0"/>
              <a:t>- Section 5 · Application — In Practice: Leading with Clarity. Each group states its Shift, Stake and Step, then the ACE-IT behaviours it expects from the leadership team.</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"On which OCEAVL dimension does your team’s level carry the highest risk for this strategy? Where has that risk already shown up?"</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expected behaviours that describe intentions. Each behaviour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Interpret how expertise, cognitive bias and emotion affect strategic understanding and intervene to reduce distortion.</a:t>
            </a:r>
          </a:p>
          <a:p>
            <a:r>
              <a:rPr lang="en-GB" dirty="0"/>
              <a:t>2. Determine the behavioural and support conditions needed for people to adopt strategic change.</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1.3.1 TO 1.3.4</a:t>
            </a:r>
          </a:p>
          <a:p>
            <a:endParaRPr lang="en-GB" dirty="0"/>
          </a:p>
          <a:p>
            <a:r>
              <a:rPr lang="en-GB" b="1" dirty="0"/>
              <a:t>HOW TO USE THIS SLIDE:</a:t>
            </a:r>
          </a:p>
          <a:p>
            <a:endParaRPr lang="en-GB" dirty="0"/>
          </a:p>
          <a:p>
            <a:r>
              <a:rPr lang="en-GB" b="1" dirty="0"/>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endParaRPr lang="en-GB" dirty="0"/>
          </a:p>
          <a:p>
            <a:r>
              <a:rPr lang="en-GB" dirty="0"/>
              <a:t>1.3.2 Reflection: "Which SCARF trigger is most frequently activated in your organisation during strategy implementation? What is the observable evidence? What counter-strategy would address the root cause?"</a:t>
            </a:r>
          </a:p>
          <a:p>
            <a:endParaRPr lang="en-GB" dirty="0"/>
          </a:p>
          <a:p>
            <a:r>
              <a:rPr lang="en-GB" dirty="0"/>
              <a:t>1.3.3 Reflection — The STAT Check: "Run STAT for the change you are carrying through this unit. Which element is missing for the people it affects most? What is your evidence, and what is yours to supply?"</a:t>
            </a:r>
          </a:p>
          <a:p>
            <a:endParaRPr lang="en-GB" dirty="0"/>
          </a:p>
          <a:p>
            <a:r>
              <a:rPr lang="en-GB" dirty="0"/>
              <a:t>1.3.4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Build shared understanding and commitment that translate strategy into coordinated action.</a:t>
            </a:r>
          </a:p>
          <a:p>
            <a:r>
              <a:rPr lang="en-GB" dirty="0"/>
              <a:t>2. Differentiate compliance from genuine adoption and strengthen commitment to change.</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OCEAVL Assessment and its seven dimensions.</a:t>
            </a:r>
          </a:p>
          <a:p>
            <a:r>
              <a:rPr lang="en-GB" dirty="0"/>
              <a:t>2. The Section 3 Reflections slide: the reflection participants write on the portal after the teaching.</a:t>
            </a:r>
          </a:p>
          <a:p>
            <a:endParaRPr lang="en-GB" dirty="0"/>
          </a:p>
          <a:p>
            <a:r>
              <a:rPr lang="en-GB" b="1" dirty="0"/>
              <a:t>SECTION LEARNING OUTCOMES:</a:t>
            </a:r>
          </a:p>
          <a:p>
            <a:r>
              <a:rPr lang="en-GB" dirty="0"/>
              <a:t>1. Detect emerging misalignment across interpretation, emotional climate and behaviour and respond early.</a:t>
            </a:r>
          </a:p>
          <a:p>
            <a:r>
              <a:rPr lang="en-GB" dirty="0"/>
              <a:t>2. Assess change readiness and tailor leadership responses to adoption barriers.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endParaRPr lang="en-GB" dirty="0"/>
          </a:p>
          <a:p>
            <a:r>
              <a:rPr lang="en-GB" b="1" dirty="0"/>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S2R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THE SEVEN DIMENSIONS</a:t>
            </a:r>
          </a:p>
          <a:p>
            <a:endParaRPr lang="en-GB" dirty="0"/>
          </a:p>
          <a:p>
            <a:r>
              <a:rPr lang="en-GB" b="1" dirty="0"/>
              <a:t>HOW TO TEACH IT:</a:t>
            </a:r>
          </a:p>
          <a:p>
            <a:endParaRPr lang="en-GB" dirty="0"/>
          </a:p>
          <a:p>
            <a:r>
              <a:rPr lang="en-ZA" b="1" dirty="0"/>
              <a:t>Link The Assessment To Principle 3</a:t>
            </a:r>
            <a:endParaRPr lang="en-ZA" dirty="0"/>
          </a:p>
          <a:p>
            <a:r>
              <a:rPr lang="en-ZA" b="1" dirty="0"/>
              <a:t>Say:</a:t>
            </a:r>
          </a:p>
          <a:p>
            <a:r>
              <a:rPr lang="en-ZA" dirty="0"/>
              <a:t>“Principle 3 established that alignment must be designed.</a:t>
            </a:r>
          </a:p>
          <a:p>
            <a:r>
              <a:rPr lang="en-ZA" dirty="0"/>
              <a:t>One way to design alignment is to understand the human tendencies that shape how leaders read strategy, handle disagreement, make decisions and respond under pressure.</a:t>
            </a:r>
          </a:p>
          <a:p>
            <a:endParaRPr lang="en-ZA" dirty="0"/>
          </a:p>
          <a:p>
            <a:r>
              <a:rPr lang="en-ZA" dirty="0"/>
              <a:t>For this programme, we use the OCEAVL Assessment.</a:t>
            </a:r>
          </a:p>
          <a:p>
            <a:r>
              <a:rPr lang="en-ZA" dirty="0"/>
              <a:t>OCEAVL is adapted from the Big Five personality model. We use it here as a strategy execution tool.</a:t>
            </a:r>
          </a:p>
          <a:p>
            <a:endParaRPr lang="en-ZA" dirty="0"/>
          </a:p>
          <a:p>
            <a:r>
              <a:rPr lang="en-ZA" dirty="0"/>
              <a:t>The assessment surfaces seven psychological tendencies that may influence executive decision-making and team coherence.</a:t>
            </a:r>
          </a:p>
          <a:p>
            <a:r>
              <a:rPr lang="en-ZA" dirty="0"/>
              <a:t>It gives each leader a profile across seven dimensions. </a:t>
            </a:r>
          </a:p>
          <a:p>
            <a:r>
              <a:rPr lang="en-ZA" dirty="0"/>
              <a:t>For each dimension, the tool shows whether the tendency is expressed at a low, balanced or high level.</a:t>
            </a:r>
          </a:p>
          <a:p>
            <a:endParaRPr lang="en-ZA" dirty="0"/>
          </a:p>
          <a:p>
            <a:r>
              <a:rPr lang="en-ZA" dirty="0"/>
              <a:t>Each level then gives three things:</a:t>
            </a:r>
          </a:p>
          <a:p>
            <a:pPr marL="228600" lvl="0" indent="-228600">
              <a:buFont typeface="+mj-lt"/>
              <a:buAutoNum type="arabicPeriod"/>
            </a:pPr>
            <a:r>
              <a:rPr lang="en-ZA" dirty="0"/>
              <a:t>The risk this disposition may create for strategy execution.</a:t>
            </a:r>
          </a:p>
          <a:p>
            <a:pPr marL="228600" lvl="0" indent="-228600">
              <a:buFont typeface="+mj-lt"/>
              <a:buAutoNum type="arabicPeriod"/>
            </a:pPr>
            <a:r>
              <a:rPr lang="en-ZA" dirty="0"/>
              <a:t>The response required to manage the risk.</a:t>
            </a:r>
          </a:p>
          <a:p>
            <a:pPr marL="228600" lvl="0" indent="-228600">
              <a:buFont typeface="+mj-lt"/>
              <a:buAutoNum type="arabicPeriod"/>
            </a:pPr>
            <a:r>
              <a:rPr lang="en-ZA" dirty="0"/>
              <a:t>The routine that turns the response into repeated leadership practice.”</a:t>
            </a:r>
          </a:p>
          <a:p>
            <a:endParaRPr lang="en-ZA" dirty="0"/>
          </a:p>
          <a:p>
            <a:r>
              <a:rPr lang="en-ZA" dirty="0"/>
              <a:t>Then add:</a:t>
            </a:r>
          </a:p>
          <a:p>
            <a:r>
              <a:rPr lang="en-ZA" dirty="0"/>
              <a:t>“The value of the tool is not the score. The value is the insight. </a:t>
            </a:r>
          </a:p>
          <a:p>
            <a:r>
              <a:rPr lang="en-ZA" dirty="0"/>
              <a:t>It helps us see how our personal disposition may be helping or hurting alignment before the strategy reaches execution.”</a:t>
            </a:r>
          </a:p>
          <a:p>
            <a:endParaRPr lang="en-ZA" b="1" dirty="0"/>
          </a:p>
          <a:p>
            <a:r>
              <a:rPr lang="en-ZA" b="1" dirty="0"/>
              <a:t>Explain How To Read The Tool</a:t>
            </a:r>
            <a:endParaRPr lang="en-ZA" dirty="0"/>
          </a:p>
          <a:p>
            <a:r>
              <a:rPr lang="en-ZA" b="1" dirty="0"/>
              <a:t>Say:</a:t>
            </a:r>
          </a:p>
          <a:p>
            <a:r>
              <a:rPr lang="en-ZA" dirty="0"/>
              <a:t>“When you read your profile, read it as a map of how the team tends to respond.</a:t>
            </a:r>
          </a:p>
          <a:p>
            <a:r>
              <a:rPr lang="en-ZA" dirty="0"/>
              <a:t>The tool is asking four simple questions:</a:t>
            </a:r>
          </a:p>
          <a:p>
            <a:pPr marL="228600" lvl="0" indent="-228600">
              <a:buFont typeface="+mj-lt"/>
              <a:buAutoNum type="arabicPeriod"/>
            </a:pPr>
            <a:r>
              <a:rPr lang="en-ZA" dirty="0"/>
              <a:t>What tendency is showing up?</a:t>
            </a:r>
          </a:p>
          <a:p>
            <a:pPr marL="228600" lvl="0" indent="-228600">
              <a:buFont typeface="+mj-lt"/>
              <a:buAutoNum type="arabicPeriod"/>
            </a:pPr>
            <a:r>
              <a:rPr lang="en-ZA" dirty="0"/>
              <a:t>At what level is it showing up? Low, balanced or high</a:t>
            </a:r>
          </a:p>
          <a:p>
            <a:pPr marL="228600" lvl="0" indent="-228600">
              <a:buFont typeface="+mj-lt"/>
              <a:buAutoNum type="arabicPeriod"/>
            </a:pPr>
            <a:r>
              <a:rPr lang="en-ZA" dirty="0"/>
              <a:t>What risk could this create for strategy execution?</a:t>
            </a:r>
          </a:p>
          <a:p>
            <a:pPr marL="228600" lvl="0" indent="-228600">
              <a:buFont typeface="+mj-lt"/>
              <a:buAutoNum type="arabicPeriod"/>
            </a:pPr>
            <a:r>
              <a:rPr lang="en-ZA" dirty="0"/>
              <a:t>What routine can help us manage that risk?”</a:t>
            </a:r>
          </a:p>
          <a:p>
            <a:endParaRPr lang="en-ZA" dirty="0"/>
          </a:p>
          <a:p>
            <a:r>
              <a:rPr lang="en-ZA" b="1" dirty="0"/>
              <a:t>Then explain:</a:t>
            </a:r>
          </a:p>
          <a:p>
            <a:r>
              <a:rPr lang="en-ZA" dirty="0"/>
              <a:t>“A low level is not automatically bad. </a:t>
            </a:r>
          </a:p>
          <a:p>
            <a:r>
              <a:rPr lang="en-ZA" dirty="0"/>
              <a:t>A high level is not automatically good. </a:t>
            </a:r>
          </a:p>
          <a:p>
            <a:r>
              <a:rPr lang="en-ZA" dirty="0"/>
              <a:t>A balanced level is not automatically safe.</a:t>
            </a:r>
          </a:p>
          <a:p>
            <a:endParaRPr lang="en-ZA" dirty="0"/>
          </a:p>
          <a:p>
            <a:r>
              <a:rPr lang="en-ZA" dirty="0"/>
              <a:t>Every level has a contribution. Every level also has a possible risk.</a:t>
            </a:r>
          </a:p>
          <a:p>
            <a:r>
              <a:rPr lang="en-ZA" dirty="0"/>
              <a:t>The question is: what does this strategy require from us now?”</a:t>
            </a:r>
          </a:p>
          <a:p>
            <a:endParaRPr lang="en-ZA" b="1" dirty="0"/>
          </a:p>
          <a:p>
            <a:r>
              <a:rPr lang="en-ZA" b="1" dirty="0"/>
              <a:t>Say How Each Participant Completes It</a:t>
            </a:r>
            <a:endParaRPr lang="en-ZA" dirty="0"/>
          </a:p>
          <a:p>
            <a:r>
              <a:rPr lang="en-ZA" b="1" dirty="0"/>
              <a:t>Say:</a:t>
            </a:r>
          </a:p>
          <a:p>
            <a:r>
              <a:rPr lang="en-ZA" dirty="0"/>
              <a:t>“You will complete the assessment alone, on your own page.</a:t>
            </a:r>
          </a:p>
          <a:p>
            <a:r>
              <a:rPr lang="en-ZA" dirty="0"/>
              <a:t>You will score yourself from 1 to 5 on each of the seven dimensions.</a:t>
            </a:r>
          </a:p>
          <a:p>
            <a:r>
              <a:rPr lang="en-ZA" dirty="0"/>
              <a:t>After that, you will read your own profile. Your profile will show your level for each dimension, the possible risk, the response and the suggested routine.</a:t>
            </a:r>
          </a:p>
          <a:p>
            <a:r>
              <a:rPr lang="en-ZA" dirty="0"/>
              <a:t>You will then select </a:t>
            </a:r>
            <a:r>
              <a:rPr lang="en-ZA" b="1" dirty="0"/>
              <a:t>Submit to My Team’s Capstone</a:t>
            </a:r>
            <a:r>
              <a:rPr lang="en-ZA" dirty="0"/>
              <a:t>.”</a:t>
            </a:r>
          </a:p>
          <a:p>
            <a:endParaRPr lang="en-ZA" dirty="0"/>
          </a:p>
          <a:p>
            <a:r>
              <a:rPr lang="en-ZA" b="1" dirty="0"/>
              <a:t>Add:</a:t>
            </a:r>
          </a:p>
          <a:p>
            <a:r>
              <a:rPr lang="en-ZA" dirty="0"/>
              <a:t>“This is personal reflection first. </a:t>
            </a:r>
          </a:p>
          <a:p>
            <a:r>
              <a:rPr lang="en-ZA" dirty="0"/>
              <a:t>Do not rush to compare yourself with others. </a:t>
            </a:r>
          </a:p>
          <a:p>
            <a:r>
              <a:rPr lang="en-ZA" dirty="0"/>
              <a:t>First ask: what does this reveal about how I read and lead strategy?”</a:t>
            </a:r>
          </a:p>
          <a:p>
            <a:endParaRPr lang="en-ZA" b="1" dirty="0"/>
          </a:p>
          <a:p>
            <a:r>
              <a:rPr lang="en-ZA" b="1" dirty="0"/>
              <a:t>Say What The Team Sees</a:t>
            </a:r>
            <a:endParaRPr lang="en-ZA" dirty="0"/>
          </a:p>
          <a:p>
            <a:r>
              <a:rPr lang="en-ZA" b="1" dirty="0"/>
              <a:t>Say:</a:t>
            </a:r>
          </a:p>
          <a:p>
            <a:r>
              <a:rPr lang="en-ZA" dirty="0"/>
              <a:t>“Your team does not see individual names or single personal scores.</a:t>
            </a:r>
          </a:p>
          <a:p>
            <a:r>
              <a:rPr lang="en-ZA" dirty="0"/>
              <a:t>The team sees the team’s overall level on each dimension and the count at each level.</a:t>
            </a:r>
          </a:p>
          <a:p>
            <a:r>
              <a:rPr lang="en-ZA" dirty="0"/>
              <a:t>This allows the team to discuss its collective behavioural pattern without exposing individual profiles.”</a:t>
            </a:r>
          </a:p>
          <a:p>
            <a:endParaRPr lang="en-ZA" dirty="0"/>
          </a:p>
          <a:p>
            <a:r>
              <a:rPr lang="en-ZA" b="1" dirty="0"/>
              <a:t>Then add:</a:t>
            </a:r>
          </a:p>
          <a:p>
            <a:r>
              <a:rPr lang="en-ZA" dirty="0"/>
              <a:t>“The team discussion is not about who scored what. It is about what the collective pattern could mean for the strategy.”</a:t>
            </a:r>
          </a:p>
          <a:p>
            <a:endParaRPr lang="en-ZA" b="1" dirty="0"/>
          </a:p>
          <a:p>
            <a:r>
              <a:rPr lang="en-ZA" b="1" dirty="0"/>
              <a:t>Walk The Seven Dimensions On The Slide</a:t>
            </a:r>
            <a:endParaRPr lang="en-ZA" dirty="0"/>
          </a:p>
          <a:p>
            <a:r>
              <a:rPr lang="en-ZA" b="1" dirty="0"/>
              <a:t>Say:</a:t>
            </a:r>
          </a:p>
          <a:p>
            <a:r>
              <a:rPr lang="en-ZA" dirty="0"/>
              <a:t>“These are the seven dimensions we are assessing. Each one tells us something about how leaders carry strategy.”</a:t>
            </a:r>
          </a:p>
          <a:p>
            <a:endParaRPr lang="en-ZA" b="1" dirty="0"/>
          </a:p>
          <a:p>
            <a:r>
              <a:rPr lang="en-ZA" b="1" dirty="0"/>
              <a:t>1. Openness</a:t>
            </a:r>
            <a:endParaRPr lang="en-ZA" dirty="0"/>
          </a:p>
          <a:p>
            <a:r>
              <a:rPr lang="en-ZA" dirty="0"/>
              <a:t>“Openness is about curiosity, creativity and adaptability to new approaches.</a:t>
            </a:r>
          </a:p>
          <a:p>
            <a:r>
              <a:rPr lang="en-ZA" dirty="0"/>
              <a:t>It shows how willing a leader is to consider new ideas, question old assumptions and respond to change.</a:t>
            </a:r>
          </a:p>
          <a:p>
            <a:r>
              <a:rPr lang="en-ZA" dirty="0"/>
              <a:t>In strategy, openness matters because the environment keeps changing. </a:t>
            </a:r>
          </a:p>
          <a:p>
            <a:r>
              <a:rPr lang="en-ZA" dirty="0"/>
              <a:t>A team with too little openness may stay too attached to familiar ways. </a:t>
            </a:r>
          </a:p>
          <a:p>
            <a:r>
              <a:rPr lang="en-ZA" dirty="0"/>
              <a:t>A team with too much openness may chase too many ideas at once.”</a:t>
            </a:r>
          </a:p>
          <a:p>
            <a:endParaRPr lang="en-ZA" b="1" dirty="0"/>
          </a:p>
          <a:p>
            <a:r>
              <a:rPr lang="en-ZA" b="1" dirty="0"/>
              <a:t>2. Conscientiousness</a:t>
            </a:r>
            <a:endParaRPr lang="en-ZA" dirty="0"/>
          </a:p>
          <a:p>
            <a:r>
              <a:rPr lang="en-ZA" dirty="0"/>
              <a:t>“Conscientiousness is about discipline, planning and follow-through on commitments.</a:t>
            </a:r>
          </a:p>
          <a:p>
            <a:r>
              <a:rPr lang="en-ZA" dirty="0"/>
              <a:t>It shows how reliably a leader organises work, tracks commitments and completes what has been agreed.</a:t>
            </a:r>
          </a:p>
          <a:p>
            <a:r>
              <a:rPr lang="en-ZA" dirty="0"/>
              <a:t>In strategy, conscientiousness matters because execution needs structure. </a:t>
            </a:r>
          </a:p>
          <a:p>
            <a:r>
              <a:rPr lang="en-ZA" dirty="0"/>
              <a:t>Without discipline, strategy remains a statement. </a:t>
            </a:r>
          </a:p>
          <a:p>
            <a:r>
              <a:rPr lang="en-ZA" dirty="0"/>
              <a:t>With discipline, strategy becomes action, ownership and review.”</a:t>
            </a:r>
          </a:p>
          <a:p>
            <a:endParaRPr lang="en-ZA" b="1" dirty="0"/>
          </a:p>
          <a:p>
            <a:r>
              <a:rPr lang="en-ZA" b="1" dirty="0"/>
              <a:t>3. Extraversion</a:t>
            </a:r>
            <a:endParaRPr lang="en-ZA" dirty="0"/>
          </a:p>
          <a:p>
            <a:r>
              <a:rPr lang="en-ZA" dirty="0"/>
              <a:t>“Extraversion is about outward energy, communication and comfort with collaboration.</a:t>
            </a:r>
          </a:p>
          <a:p>
            <a:r>
              <a:rPr lang="en-ZA" dirty="0"/>
              <a:t>It shows how easily a leader engages others, speaks into the room and helps move energy through the team.</a:t>
            </a:r>
          </a:p>
          <a:p>
            <a:r>
              <a:rPr lang="en-ZA" dirty="0"/>
              <a:t>In strategy, extraversion matters because strategy must be communicated. </a:t>
            </a:r>
          </a:p>
          <a:p>
            <a:r>
              <a:rPr lang="en-ZA" dirty="0"/>
              <a:t>People do not align to a document alone. They align through conversation, explanation and leadership signals.”</a:t>
            </a:r>
          </a:p>
          <a:p>
            <a:endParaRPr lang="en-ZA" b="1" dirty="0"/>
          </a:p>
          <a:p>
            <a:r>
              <a:rPr lang="en-ZA" b="1" dirty="0"/>
              <a:t>4. Agreeableness</a:t>
            </a:r>
            <a:endParaRPr lang="en-ZA" dirty="0"/>
          </a:p>
          <a:p>
            <a:r>
              <a:rPr lang="en-ZA" dirty="0"/>
              <a:t>“Agreeableness is about harmony, conflict management and cooperation.</a:t>
            </a:r>
          </a:p>
          <a:p>
            <a:r>
              <a:rPr lang="en-ZA" dirty="0"/>
              <a:t>It shows how a leader works with others, handles tension and protects relationships.</a:t>
            </a:r>
          </a:p>
          <a:p>
            <a:r>
              <a:rPr lang="en-ZA" dirty="0"/>
              <a:t>In strategy, agreeableness matters because execution depends on trust and cooperation. </a:t>
            </a:r>
          </a:p>
          <a:p>
            <a:r>
              <a:rPr lang="en-ZA" dirty="0"/>
              <a:t>But harmony must not replace honesty. A team can agree politely and still avoid the difficult issue.”</a:t>
            </a:r>
          </a:p>
          <a:p>
            <a:endParaRPr lang="en-ZA" b="1" dirty="0"/>
          </a:p>
          <a:p>
            <a:r>
              <a:rPr lang="en-ZA" b="1" dirty="0"/>
              <a:t>5. Emotional Stability</a:t>
            </a:r>
            <a:endParaRPr lang="en-ZA" dirty="0"/>
          </a:p>
          <a:p>
            <a:r>
              <a:rPr lang="en-ZA" dirty="0"/>
              <a:t>“Emotional Stability is about composure under pressure and emotional resilience.</a:t>
            </a:r>
          </a:p>
          <a:p>
            <a:r>
              <a:rPr lang="en-ZA" dirty="0"/>
              <a:t>It shows how a leader behaves when there is stress, criticism, uncertainty or failure.</a:t>
            </a:r>
          </a:p>
          <a:p>
            <a:r>
              <a:rPr lang="en-ZA" dirty="0"/>
              <a:t>In strategy, emotional stability matters because execution always brings pressure.</a:t>
            </a:r>
          </a:p>
          <a:p>
            <a:r>
              <a:rPr lang="en-ZA" dirty="0"/>
              <a:t>If leaders become reactive, the team spends its energy managing emotions, and the strategy waits.”</a:t>
            </a:r>
          </a:p>
          <a:p>
            <a:endParaRPr lang="en-ZA" b="1" dirty="0"/>
          </a:p>
          <a:p>
            <a:r>
              <a:rPr lang="en-ZA" b="1" dirty="0"/>
              <a:t>6. Values Alignment</a:t>
            </a:r>
            <a:endParaRPr lang="en-ZA" dirty="0"/>
          </a:p>
          <a:p>
            <a:r>
              <a:rPr lang="en-ZA" dirty="0"/>
              <a:t>“Values Alignment is about consistency between stated values and lived behaviour.</a:t>
            </a:r>
          </a:p>
          <a:p>
            <a:r>
              <a:rPr lang="en-ZA" dirty="0"/>
              <a:t>It shows whether a leader’s choices, actions and trade-offs match what the organisation says it stands for.</a:t>
            </a:r>
          </a:p>
          <a:p>
            <a:r>
              <a:rPr lang="en-ZA" dirty="0"/>
              <a:t>In strategy, values alignment matters because people watch behaviour more than slogans. </a:t>
            </a:r>
          </a:p>
          <a:p>
            <a:r>
              <a:rPr lang="en-ZA" dirty="0"/>
              <a:t>When values and decisions match, trust grows. When they do not match, people comply and commitment weakens.”</a:t>
            </a:r>
          </a:p>
          <a:p>
            <a:endParaRPr lang="en-ZA" b="1" dirty="0"/>
          </a:p>
          <a:p>
            <a:r>
              <a:rPr lang="en-ZA" b="1" dirty="0"/>
              <a:t>7. Learning Orientation</a:t>
            </a:r>
            <a:endParaRPr lang="en-ZA" dirty="0"/>
          </a:p>
          <a:p>
            <a:r>
              <a:rPr lang="en-ZA" dirty="0"/>
              <a:t>“Learning Orientation is about growth mindset, openness to feedback and skill development.</a:t>
            </a:r>
          </a:p>
          <a:p>
            <a:r>
              <a:rPr lang="en-ZA" dirty="0"/>
              <a:t>It shows whether a leader can learn, adapt and improve through experience.</a:t>
            </a:r>
          </a:p>
          <a:p>
            <a:r>
              <a:rPr lang="en-ZA" dirty="0"/>
              <a:t>In strategy, learning orientation matters because strategy is iterative. </a:t>
            </a:r>
          </a:p>
          <a:p>
            <a:r>
              <a:rPr lang="en-ZA" dirty="0"/>
              <a:t>We decide, test, learn and refine. A team that cannot learn will keep defending old choices even when reality has changed.”</a:t>
            </a:r>
          </a:p>
          <a:p>
            <a:endParaRPr lang="en-ZA" b="1" dirty="0"/>
          </a:p>
          <a:p>
            <a:r>
              <a:rPr lang="en-ZA" b="1" dirty="0"/>
              <a:t>Explain The Three Levels Of Disposition</a:t>
            </a:r>
            <a:endParaRPr lang="en-ZA" dirty="0"/>
          </a:p>
          <a:p>
            <a:r>
              <a:rPr lang="en-ZA" b="1" dirty="0"/>
              <a:t>Say:</a:t>
            </a:r>
          </a:p>
          <a:p>
            <a:r>
              <a:rPr lang="en-ZA" dirty="0"/>
              <a:t>“For each dimension, the tool reads the tendency at three levels: Low, Balanced and High.</a:t>
            </a:r>
          </a:p>
          <a:p>
            <a:r>
              <a:rPr lang="en-ZA" dirty="0"/>
              <a:t>Low means the tendency is less visible or less naturally used.</a:t>
            </a:r>
          </a:p>
          <a:p>
            <a:r>
              <a:rPr lang="en-ZA" dirty="0"/>
              <a:t>Balanced means the tendency is present in a moderate way.</a:t>
            </a:r>
          </a:p>
          <a:p>
            <a:r>
              <a:rPr lang="en-ZA" dirty="0"/>
              <a:t>High means the tendency is strongly visible.</a:t>
            </a:r>
          </a:p>
          <a:p>
            <a:endParaRPr lang="en-ZA" dirty="0"/>
          </a:p>
          <a:p>
            <a:r>
              <a:rPr lang="en-ZA" dirty="0"/>
              <a:t>None of these levels is automatically good or bad. </a:t>
            </a:r>
          </a:p>
          <a:p>
            <a:r>
              <a:rPr lang="en-ZA" dirty="0"/>
              <a:t>The level becomes useful or risky depending on the strategy being carried.”</a:t>
            </a:r>
          </a:p>
          <a:p>
            <a:endParaRPr lang="en-ZA" dirty="0"/>
          </a:p>
          <a:p>
            <a:r>
              <a:rPr lang="en-ZA" dirty="0"/>
              <a:t>Then add:</a:t>
            </a:r>
          </a:p>
          <a:p>
            <a:r>
              <a:rPr lang="en-ZA" dirty="0"/>
              <a:t>“For example, high openness may help innovation, but it may also create too many ideas. Low openness may protect stability, but it may also delay adaptation. Balanced openness may support careful experimentation, but it may still avoid uncomfortable change.”</a:t>
            </a:r>
          </a:p>
          <a:p>
            <a:endParaRPr lang="en-ZA" b="1" dirty="0"/>
          </a:p>
          <a:p>
            <a:r>
              <a:rPr lang="en-ZA" b="1" dirty="0"/>
              <a:t>Use One Worked Example</a:t>
            </a:r>
            <a:endParaRPr lang="en-ZA" dirty="0"/>
          </a:p>
          <a:p>
            <a:r>
              <a:rPr lang="en-ZA" b="1" dirty="0"/>
              <a:t>Say:</a:t>
            </a:r>
          </a:p>
          <a:p>
            <a:r>
              <a:rPr lang="en-ZA" dirty="0"/>
              <a:t>“Let us take one example so that you can see how the tool works.”</a:t>
            </a:r>
          </a:p>
          <a:p>
            <a:r>
              <a:rPr lang="en-ZA" b="1" dirty="0"/>
              <a:t>Example: High Agreeableness</a:t>
            </a:r>
            <a:endParaRPr lang="en-ZA" dirty="0"/>
          </a:p>
          <a:p>
            <a:r>
              <a:rPr lang="en-ZA" dirty="0"/>
              <a:t>“High agreeableness means the leader is kind, warm, cooperative and ready to help.</a:t>
            </a:r>
          </a:p>
          <a:p>
            <a:r>
              <a:rPr lang="en-ZA" dirty="0"/>
              <a:t>This is a strength because it builds trust. People feel supported and respected.</a:t>
            </a:r>
          </a:p>
          <a:p>
            <a:r>
              <a:rPr lang="en-ZA" dirty="0"/>
              <a:t>But the risk is that agreement may be given without real commitment. People may avoid saying no. The team may over-commit because nobody wants to disappoint others. Resentment may build under the surface.”</a:t>
            </a:r>
          </a:p>
          <a:p>
            <a:endParaRPr lang="en-ZA" dirty="0"/>
          </a:p>
          <a:p>
            <a:r>
              <a:rPr lang="en-ZA" b="1" dirty="0"/>
              <a:t>Say:</a:t>
            </a:r>
          </a:p>
          <a:p>
            <a:r>
              <a:rPr lang="en-ZA" dirty="0"/>
              <a:t>“The response is to create a formal challenge role. Someone must be allowed to ask the difficult question without being seen as negative.”</a:t>
            </a:r>
          </a:p>
          <a:p>
            <a:endParaRPr lang="en-ZA" dirty="0"/>
          </a:p>
          <a:p>
            <a:r>
              <a:rPr lang="en-ZA" b="1" dirty="0"/>
              <a:t>Say:</a:t>
            </a:r>
          </a:p>
          <a:p>
            <a:r>
              <a:rPr lang="en-ZA" dirty="0"/>
              <a:t>“The routine is the Rotating Challenger. In each major discussion, one person is assigned to challenge assumptions, name risks and ask what the team may be avoiding.”</a:t>
            </a:r>
          </a:p>
          <a:p>
            <a:endParaRPr lang="en-ZA" dirty="0"/>
          </a:p>
          <a:p>
            <a:r>
              <a:rPr lang="en-ZA" dirty="0"/>
              <a:t>Then connect to S2R®:</a:t>
            </a:r>
          </a:p>
          <a:p>
            <a:r>
              <a:rPr lang="en-ZA" dirty="0"/>
              <a:t>“In Strategy2Results®, this protects alignment. It helps the team move from polite agreement to real commitment.”</a:t>
            </a:r>
          </a:p>
          <a:p>
            <a:endParaRPr lang="en-ZA" b="1" dirty="0"/>
          </a:p>
          <a:p>
            <a:r>
              <a:rPr lang="en-ZA" b="1" dirty="0"/>
              <a:t>Refer Participants To The Portal</a:t>
            </a:r>
            <a:endParaRPr lang="en-ZA" dirty="0"/>
          </a:p>
          <a:p>
            <a:r>
              <a:rPr lang="en-ZA" dirty="0"/>
              <a:t>Say:</a:t>
            </a:r>
          </a:p>
          <a:p>
            <a:r>
              <a:rPr lang="en-ZA" dirty="0"/>
              <a:t>“We will not teach every risk, response and routine in class. The full detail is in the portal.</a:t>
            </a:r>
          </a:p>
          <a:p>
            <a:r>
              <a:rPr lang="en-ZA" dirty="0"/>
              <a:t>In the portal, you will find all seven dimensions. For each one, you will see the low, balanced and high levels, with the matching risk, response and routine.</a:t>
            </a:r>
          </a:p>
          <a:p>
            <a:r>
              <a:rPr lang="en-ZA" dirty="0"/>
              <a:t>Your task is to complete the assessment, read your personal profile and then reflect on the disposition that may carry the highest risk for how you read and lead strategy.”</a:t>
            </a:r>
          </a:p>
          <a:p>
            <a:endParaRPr lang="en-ZA" b="1" dirty="0"/>
          </a:p>
          <a:p>
            <a:r>
              <a:rPr lang="en-ZA" b="1" dirty="0"/>
              <a:t>Close</a:t>
            </a:r>
            <a:endParaRPr lang="en-ZA" dirty="0"/>
          </a:p>
          <a:p>
            <a:r>
              <a:rPr lang="en-ZA" dirty="0"/>
              <a:t>Say:</a:t>
            </a:r>
          </a:p>
          <a:p>
            <a:r>
              <a:rPr lang="en-ZA" dirty="0"/>
              <a:t>“OCEAVL helps us see the human pattern behind strategy execution. Once we can see the pattern, we can design the right guardrails. That is how alignment is designed.”</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OCEAVL: "Which of your own levels carries the highest risk for how you read and lead the strategy? Where has that risk already shown up?"</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"Name the level, the risk it carries and one place where that risk has already shown up."</a:t>
            </a:r>
          </a:p>
          <a:p>
            <a:r>
              <a:rPr lang="en-GB" dirty="0"/>
              <a:t>Watch for: a reflection that lists scores. Ask for one level and its risk.</a:t>
            </a:r>
          </a:p>
          <a:p>
            <a:endParaRPr lang="en-GB" dirty="0"/>
          </a:p>
          <a:p>
            <a:r>
              <a:rPr lang="en-GB" b="1" dirty="0"/>
              <a:t>4. Bridge to Section 4.</a:t>
            </a:r>
          </a:p>
          <a:p>
            <a:r>
              <a:rPr lang="en-GB" dirty="0"/>
              <a:t>Say: "You know the profile you bring. Section 4 shows how the leadership team holds alignment together."</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Integrate leadership interpretations into one coherent enterprise message.</a:t>
            </a:r>
          </a:p>
          <a:p>
            <a:r>
              <a:rPr lang="en-GB" dirty="0"/>
              <a:t>2. Diagnose role-alignment gaps and competing change demands that threaten enterprise coherence.</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LEADING CHANGE WITH ONE VOICE (FOUR COMMITMENTS)</a:t>
            </a:r>
          </a:p>
          <a:p>
            <a:endParaRPr lang="en-GB" dirty="0"/>
          </a:p>
          <a:p>
            <a:r>
              <a:rPr lang="en-GB" b="1" dirty="0"/>
              <a:t>HOW TO TEACH IT:</a:t>
            </a:r>
          </a:p>
          <a:p>
            <a:endParaRPr lang="en-GB" dirty="0"/>
          </a:p>
          <a:p>
            <a:r>
              <a:rPr lang="en-GB" b="1" dirty="0"/>
              <a:t>1. Frame the part.</a:t>
            </a:r>
          </a:p>
          <a:p>
            <a:r>
              <a:rPr lang="en-GB" dirty="0"/>
              <a:t>Say: </a:t>
            </a:r>
            <a:r>
              <a:rPr lang="en-ZA" sz="1200" b="0" i="0" kern="1200" dirty="0">
                <a:solidFill>
                  <a:schemeClr val="tx1"/>
                </a:solidFill>
                <a:effectLst/>
                <a:latin typeface="+mn-lt"/>
                <a:ea typeface="+mn-ea"/>
                <a:cs typeface="+mn-cs"/>
              </a:rPr>
              <a:t>The Converging Zone is the point where the separate views of each function come together into one shared reading of the strategy. </a:t>
            </a:r>
          </a:p>
          <a:p>
            <a:r>
              <a:rPr lang="en-ZA" sz="1200" b="0" i="0" kern="1200" dirty="0">
                <a:solidFill>
                  <a:schemeClr val="tx1"/>
                </a:solidFill>
                <a:effectLst/>
                <a:latin typeface="+mn-lt"/>
                <a:ea typeface="+mn-ea"/>
                <a:cs typeface="+mn-cs"/>
              </a:rPr>
              <a:t>A leadership team that reaches it has Collective Intelligence, and the organisation hears one voice.</a:t>
            </a:r>
            <a:endParaRPr lang="en-GB" dirty="0"/>
          </a:p>
          <a:p>
            <a:endParaRPr lang="en-GB" dirty="0"/>
          </a:p>
          <a:p>
            <a:r>
              <a:rPr lang="en-GB" dirty="0"/>
              <a:t>To lead with one voice leaders must send one message, exhibit one example, demonstrate one way of landing the message and assign one leader to keep the glue tight.</a:t>
            </a:r>
          </a:p>
          <a:p>
            <a:endParaRPr lang="en-GB" dirty="0"/>
          </a:p>
          <a:p>
            <a:r>
              <a:rPr lang="en-GB" dirty="0"/>
              <a:t>"The 4 Checks describe what one group of people needs from one leadership team.</a:t>
            </a:r>
          </a:p>
          <a:p>
            <a:endParaRPr lang="en-GB" dirty="0"/>
          </a:p>
          <a:p>
            <a:r>
              <a:rPr lang="en-GB" dirty="0"/>
              <a:t>Most changes reach a group through several leaders at once.</a:t>
            </a:r>
          </a:p>
          <a:p>
            <a:r>
              <a:rPr lang="en-GB" dirty="0"/>
              <a:t>People hear from their own leader, watch the others, and compare.</a:t>
            </a:r>
          </a:p>
          <a:p>
            <a:endParaRPr lang="en-GB" dirty="0"/>
          </a:p>
          <a:p>
            <a:r>
              <a:rPr lang="en-GB" dirty="0"/>
              <a:t>Where the leaders differ, the group takes the difference as the real message."</a:t>
            </a:r>
          </a:p>
          <a:p>
            <a:endParaRPr lang="en-GB" dirty="0"/>
          </a:p>
          <a:p>
            <a:r>
              <a:rPr lang="en-GB" dirty="0"/>
              <a:t>Say: "In the Converging Zone, the leadership team makes four commitments that no single function can make alone. </a:t>
            </a:r>
          </a:p>
          <a:p>
            <a:endParaRPr lang="en-GB" b="1" dirty="0"/>
          </a:p>
          <a:p>
            <a:r>
              <a:rPr lang="en-GB" b="1" dirty="0"/>
              <a:t>2. Teach the four commitments on the slide.</a:t>
            </a:r>
          </a:p>
          <a:p>
            <a:r>
              <a:rPr lang="en-GB" b="1" dirty="0"/>
              <a:t>One message · Protects Mind</a:t>
            </a:r>
          </a:p>
          <a:p>
            <a:r>
              <a:rPr lang="en-GB" dirty="0"/>
              <a:t>Every leader gives the same Shift, Stake and Step for each change. </a:t>
            </a:r>
          </a:p>
          <a:p>
            <a:r>
              <a:rPr lang="en-GB" dirty="0"/>
              <a:t>The test is the 3S Check applied to the leadership team itself. </a:t>
            </a:r>
          </a:p>
          <a:p>
            <a:r>
              <a:rPr lang="en-GB" dirty="0"/>
              <a:t>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b="1" dirty="0"/>
              <a:t>One example · Protects Heart</a:t>
            </a:r>
          </a:p>
          <a:p>
            <a:r>
              <a:rPr lang="en-GB" dirty="0"/>
              <a:t>Leaders show the ACE-IT behaviours the change needs before they ask for them. </a:t>
            </a:r>
          </a:p>
          <a:p>
            <a:r>
              <a:rPr lang="en-GB" dirty="0"/>
              <a:t>People read a leader’s diary, questions and decisions as the real message.</a:t>
            </a:r>
          </a:p>
          <a:p>
            <a:r>
              <a:rPr lang="en-GB" dirty="0"/>
              <a:t>When absent: people copy what leaders do and discount what leaders say.</a:t>
            </a:r>
          </a:p>
          <a:p>
            <a:endParaRPr lang="en-GB" dirty="0"/>
          </a:p>
          <a:p>
            <a:r>
              <a:rPr lang="en-GB" b="1" dirty="0"/>
              <a:t>One sequence · Protects Hands</a:t>
            </a:r>
          </a:p>
          <a:p>
            <a:r>
              <a:rPr lang="en-GB" dirty="0"/>
              <a:t>Leaders pool their changes and count how many land on the same group in the same period. </a:t>
            </a:r>
          </a:p>
          <a:p>
            <a:r>
              <a:rPr lang="en-GB" dirty="0"/>
              <a:t>The team then agrees the order and the pace. Time is the first STAT element to give way under the total load.</a:t>
            </a:r>
          </a:p>
          <a:p>
            <a:r>
              <a:rPr lang="en-GB" dirty="0"/>
              <a:t>When absent: one group is asked to absorb several changes together, and its willingness falls.</a:t>
            </a:r>
          </a:p>
          <a:p>
            <a:endParaRPr lang="en-GB" dirty="0"/>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b="1" dirty="0"/>
              <a:t>One owner · Protects Habit</a:t>
            </a:r>
          </a:p>
          <a:p>
            <a:r>
              <a:rPr lang="en-GB" dirty="0"/>
              <a:t>Each transition has one named leader who answers for adoption, through to Habit. </a:t>
            </a:r>
          </a:p>
          <a:p>
            <a:r>
              <a:rPr lang="en-GB" dirty="0"/>
              <a:t>The owner runs the 4 Checks, reports which check the change has reached, and stays with it after the launch.</a:t>
            </a:r>
          </a:p>
          <a:p>
            <a:r>
              <a:rPr lang="en-GB" dirty="0"/>
              <a:t>When absent: the change is installed and nobody answers for whether it is adopted.</a:t>
            </a:r>
          </a:p>
          <a:p>
            <a:endParaRPr lang="en-GB" dirty="0"/>
          </a:p>
          <a:p>
            <a:r>
              <a:rPr lang="en-GB" dirty="0"/>
              <a:t>Data: projects with extremely effective sponsors were 79% likely to meet their objectives, against 27% with extremely ineffective sponsors (Prosci, Best Practices in Change Management, 12th edition).</a:t>
            </a:r>
          </a:p>
          <a:p>
            <a:endParaRPr lang="en-GB" dirty="0"/>
          </a:p>
          <a:p>
            <a:endParaRPr lang="en-GB" dirty="0"/>
          </a:p>
          <a:p>
            <a:r>
              <a:rPr lang="en-GB" b="1" dirty="0"/>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ZA" dirty="0"/>
              <a:t>They are the </a:t>
            </a:r>
            <a:r>
              <a:rPr lang="en-ZA" b="1" dirty="0"/>
              <a:t>specific alignment responsibilities each executive role must clarify when the organisation is moving through change or a new strategic trajectory</a:t>
            </a:r>
            <a:r>
              <a:rPr lang="en-ZA" dirty="0"/>
              <a:t>.</a:t>
            </a:r>
          </a:p>
          <a:p>
            <a:r>
              <a:rPr lang="en-ZA" dirty="0"/>
              <a:t>“Every role carries a different part of the change into the organisation. If that role does not clarify its part, people lose alignment at that point.”</a:t>
            </a:r>
          </a:p>
          <a:p>
            <a:endParaRPr lang="en-ZA" dirty="0"/>
          </a:p>
          <a:p>
            <a:r>
              <a:rPr lang="en-ZA" dirty="0"/>
              <a:t>That means for example - The CEO can clarify direction, but the CFO must clarify resource logic, the COO must clarify operating capacity, and the CHRO must clarify human capability.</a:t>
            </a:r>
          </a:p>
          <a:p>
            <a:endParaRPr lang="en-ZA" dirty="0"/>
          </a:p>
          <a:p>
            <a:r>
              <a:rPr lang="en-ZA" dirty="0"/>
              <a:t>What is important is for leaders to know which lever to pull when aligning people heart and mind to create collective intelligence for execution whether as a leadership team or as a leader for a team.</a:t>
            </a:r>
          </a:p>
          <a:p>
            <a:endParaRPr lang="en-GB" dirty="0"/>
          </a:p>
          <a:p>
            <a:r>
              <a:rPr lang="en-GB" b="1" dirty="0"/>
              <a:t>3. Walk some selected roles</a:t>
            </a:r>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endParaRPr lang="en-GB" dirty="0"/>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endParaRPr lang="en-GB" dirty="0"/>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endParaRPr lang="en-GB" dirty="0"/>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endParaRPr lang="en-GB" dirty="0"/>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endParaRPr lang="en-GB" dirty="0"/>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endParaRPr lang="en-GB" dirty="0"/>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endParaRPr lang="en-GB" dirty="0"/>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endParaRPr lang="en-GB" dirty="0"/>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endParaRPr lang="en-GB" dirty="0"/>
          </a:p>
          <a:p>
            <a:endParaRPr lang="en-GB" b="1"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next with a closely adjacent role?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endParaRPr lang="en-GB" dirty="0"/>
          </a:p>
          <a:p>
            <a:r>
              <a:rPr lang="en-GB" dirty="0"/>
              <a:t>4.2 Reflection: "What is the most important alignment conversation you need to have next with a closely adjacent role? What would that conversation need to address?"</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endParaRPr lang="en-GB" dirty="0"/>
          </a:p>
          <a:p>
            <a:r>
              <a:rPr lang="en-GB" b="1" dirty="0"/>
              <a:t>4. Bridge to Section 5.</a:t>
            </a:r>
          </a:p>
          <a:p>
            <a:r>
              <a:rPr lang="en-GB" dirty="0"/>
              <a:t>Say: "We have the checks, the commitments and the hot zones. Section 5 applies two of the tools to the strategy in your Capstone S2R Blueprint."</a:t>
            </a:r>
          </a:p>
          <a:p>
            <a:endParaRPr lang="en-GB" dirty="0"/>
          </a:p>
          <a:p>
            <a:r>
              <a:rPr lang="en-GB" b="1" dirty="0"/>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endParaRPr lang="en-GB"/>
          </a:p>
          <a:p>
            <a:r>
              <a:rPr lang="en-GB"/>
              <a:t>HOW THIS SECTION RUNS:</a:t>
            </a:r>
          </a:p>
          <a:p>
            <a:r>
              <a:rPr lang="en-GB"/>
              <a:t>Step 1 · The 3S Check. Your group states three things for the strategy in your Capstone S2R Blueprint: the Shift (what is changing), the Stake (what the organisation gains if it changes, and what it loses if it stays as it is) and the Step (what must be done differently). The guide from part 1.3.1 sits beside each box.</a:t>
            </a:r>
          </a:p>
          <a:p>
            <a:endParaRPr lang="en-GB"/>
          </a:p>
          <a:p>
            <a:r>
              <a:rPr lang="en-GB"/>
              <a:t>Step 2 · ACE-IT. Your group reads its team OCEAVL profile and names the two dimensions on which the team carries the highest risk for the strategy, with the response to each. It then states the behaviour it expects from the leadership team under each of the five ACE-IT behaviours: Accountability, Commitment, Engagement, Integrity and Transparency. The guide from part 1.3.4 sits beside each box.</a:t>
            </a:r>
          </a:p>
          <a:p>
            <a:r>
              <a:rPr lang="en-GB"/>
              <a:t>You then select Agree. This is Capstone work, and when every member has agreed, your record feeds your team’s Capstone S2R Blueprint.</a:t>
            </a:r>
          </a:p>
          <a:p>
            <a:endParaRPr lang="en-GB"/>
          </a:p>
          <a:p>
            <a:r>
              <a:rPr lang="en-GB"/>
              <a:t>SECTION LEARNING OUTCOMES:</a:t>
            </a:r>
          </a:p>
          <a:p>
            <a:r>
              <a:rPr lang="en-GB"/>
              <a:t>1. Develop an approach to landing the strategy that builds understanding, readiness and adoption.</a:t>
            </a:r>
          </a:p>
          <a:p>
            <a:r>
              <a:rPr lang="en-GB"/>
              <a:t>2. Model and reinforce leadership behaviours that strengthen collective strategic alignment.</a:t>
            </a:r>
          </a:p>
          <a:p>
            <a:endParaRPr lang="en-GB"/>
          </a:p>
          <a:p>
            <a:r>
              <a:rPr lang="en-GB"/>
              <a:t>HOW TO OPEN THE SECTION:</a:t>
            </a:r>
          </a:p>
          <a:p>
            <a:endParaRPr lang="en-GB"/>
          </a:p>
          <a:p>
            <a:r>
              <a:rPr lang="en-GB"/>
              <a:t>1. Say what the section does.</a:t>
            </a:r>
          </a:p>
          <a:p>
            <a:r>
              <a:rPr lang="en-GB"/>
              <a:t>Say: "In this section your group builds the case for the change your strategy asks of people.</a:t>
            </a:r>
          </a:p>
          <a:p>
            <a:r>
              <a:rPr lang="en-GB"/>
              <a:t>With the 3S Check you state the change.</a:t>
            </a:r>
          </a:p>
          <a:p>
            <a:r>
              <a:rPr lang="en-GB"/>
              <a:t>With ACE-IT you state the leadership behaviours that will hold it in place."</a:t>
            </a:r>
          </a:p>
          <a:p>
            <a:endParaRPr lang="en-GB"/>
          </a:p>
          <a:p>
            <a:r>
              <a:rPr lang="en-GB"/>
              <a:t>2. Say how the group works.</a:t>
            </a:r>
          </a:p>
          <a:p>
            <a:r>
              <a:rPr lang="en-GB"/>
              <a:t>Say: "Both steps are group work.</a:t>
            </a:r>
          </a:p>
          <a:p>
            <a:r>
              <a:rPr lang="en-GB"/>
              <a:t>Your group agrees each entry.</a:t>
            </a:r>
          </a:p>
          <a:p>
            <a:r>
              <a:rPr lang="en-GB"/>
              <a:t>Your group chooses its scribe for this work.</a:t>
            </a:r>
          </a:p>
          <a:p>
            <a:r>
              <a:rPr lang="en-GB"/>
              <a:t>The entries appear on every member’s page, and each member then selects Agree."</a:t>
            </a:r>
          </a:p>
          <a:p>
            <a:endParaRPr lang="en-GB"/>
          </a:p>
          <a:p>
            <a:r>
              <a:rPr lang="en-GB"/>
              <a:t>3. Say where the work goes.</a:t>
            </a:r>
          </a:p>
          <a:p>
            <a:r>
              <a:rPr lang="en-GB"/>
              <a:t>Say: "This is Capstone work. Your group’s confirmed record feeds your team’s Capstone S2R Blueprint."</a:t>
            </a:r>
          </a:p>
          <a:p>
            <a:r>
              <a:rPr lang="en-GB"/>
              <a:t>Step 2 needs the team’s OCEAVL profile. Every member completes and submits the assessment in 3.1 first.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3S CHECK (CAPSTONE WORK)</a:t>
            </a:r>
          </a:p>
          <a:p>
            <a:endParaRPr lang="en-GB" dirty="0"/>
          </a:p>
          <a:p>
            <a:r>
              <a:rPr lang="en-GB" b="1" dirty="0"/>
              <a:t>HOW TO TEACH IT:</a:t>
            </a:r>
          </a:p>
          <a:p>
            <a:r>
              <a:rPr lang="en-ZA" sz="1200" b="0" i="0" kern="1200" dirty="0">
                <a:solidFill>
                  <a:schemeClr val="tx1"/>
                </a:solidFill>
                <a:effectLst/>
                <a:latin typeface="+mn-lt"/>
                <a:ea typeface="+mn-ea"/>
                <a:cs typeface="+mn-cs"/>
              </a:rPr>
              <a:t>This is group work. Your group builds the case for the change your strategy asks of people, in two steps:</a:t>
            </a:r>
          </a:p>
          <a:p>
            <a:pPr lvl="0"/>
            <a:endParaRPr lang="en-ZA" sz="1200" b="1" i="0" kern="1200" dirty="0">
              <a:solidFill>
                <a:schemeClr val="tx1"/>
              </a:solidFill>
              <a:effectLst/>
              <a:latin typeface="+mn-lt"/>
              <a:ea typeface="+mn-ea"/>
              <a:cs typeface="+mn-cs"/>
            </a:endParaRPr>
          </a:p>
          <a:p>
            <a:endParaRPr lang="en-GB" dirty="0"/>
          </a:p>
          <a:p>
            <a:r>
              <a:rPr lang="en-GB" b="1" dirty="0"/>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endParaRPr lang="en-GB" dirty="0"/>
          </a:p>
          <a:p>
            <a:r>
              <a:rPr lang="en-GB" b="1" dirty="0"/>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endParaRPr lang="en-GB" dirty="0"/>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endParaRPr lang="en-GB" dirty="0"/>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endParaRPr lang="en-GB" dirty="0"/>
          </a:p>
          <a:p>
            <a:endParaRPr lang="en-GB" dirty="0"/>
          </a:p>
          <a:p>
            <a:r>
              <a:rPr lang="en-GB" b="1" dirty="0"/>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STEP 2 — ACE-IT (CAPSTONE WORK)</a:t>
            </a:r>
          </a:p>
          <a:p>
            <a:endParaRPr lang="en-GB"/>
          </a:p>
          <a:p>
            <a:r>
              <a:rPr lang="en-GB"/>
              <a:t>HOW TO TEACH IT:</a:t>
            </a:r>
          </a:p>
          <a:p>
            <a:endParaRPr lang="en-GB"/>
          </a:p>
          <a:p>
            <a:r>
              <a:rPr lang="en-GB"/>
              <a:t>1. Open with the team’s OCEAVL profile.</a:t>
            </a:r>
          </a:p>
          <a:p>
            <a:r>
              <a:rPr lang="en-GB"/>
              <a:t>Say: "Your page shows your team’s OCEAVL profile: the team’s level on each dimension, with its risk and its response.</a:t>
            </a:r>
          </a:p>
          <a:p>
            <a:r>
              <a:rPr lang="en-GB"/>
              <a:t>It appears once every member of your team has submitted their scores in part 3.1."</a:t>
            </a:r>
          </a:p>
          <a:p>
            <a:r>
              <a:rPr lang="en-GB"/>
              <a:t>Where a member has not yet submitted, the profile shows how many have. The group completes 3.1 first.</a:t>
            </a:r>
          </a:p>
          <a:p>
            <a:endParaRPr lang="en-GB"/>
          </a:p>
          <a:p>
            <a:r>
              <a:rPr lang="en-GB"/>
              <a:t>Deepen, say: "The same input lands differently depending on the ground it falls on.</a:t>
            </a:r>
          </a:p>
          <a:p>
            <a:r>
              <a:rPr lang="en-GB"/>
              <a:t>When a change initiative fails to take, the reflex is to blame the message.</a:t>
            </a:r>
          </a:p>
          <a:p>
            <a:r>
              <a:rPr lang="en-GB"/>
              <a:t>First diagnose the conditions stopping good input from rooting."</a:t>
            </a:r>
          </a:p>
          <a:p>
            <a:r>
              <a:rPr lang="en-GB"/>
              <a:t>(Insight: Diagnose the soil. Source: Journal, 21 May 2026 — Professional Insights: Culture)</a:t>
            </a:r>
          </a:p>
          <a:p>
            <a:endParaRPr lang="en-GB"/>
          </a:p>
          <a:p>
            <a:r>
              <a:rPr lang="en-GB"/>
              <a:t>2. Name the two highest-risk dimensions.</a:t>
            </a:r>
          </a:p>
          <a:p>
            <a:r>
              <a:rPr lang="en-GB"/>
              <a:t>Say: "From your team’s profile, your group names the two dimensions on which your executive team carries the highest risk for the strategy, and the response your team adopts for each.</a:t>
            </a:r>
          </a:p>
          <a:p>
            <a:r>
              <a:rPr lang="en-GB"/>
              <a:t>The profile gives the risk and the response at your team’s level."</a:t>
            </a:r>
          </a:p>
          <a:p>
            <a:r>
              <a:rPr lang="en-GB"/>
              <a:t>Ask: "Which level in your team’s profile carries the highest risk for this change? Which ACE-IT behaviour answers it?"</a:t>
            </a:r>
          </a:p>
          <a:p>
            <a:endParaRPr lang="en-GB"/>
          </a:p>
          <a:p>
            <a:r>
              <a:rPr lang="en-GB"/>
              <a:t>3. Teach each of the five behaviours with its guide.</a:t>
            </a:r>
          </a:p>
          <a:p>
            <a:r>
              <a:rPr lang="en-GB"/>
              <a:t>The guide beside each box is the lesson of 1.3.4.</a:t>
            </a:r>
          </a:p>
          <a:p>
            <a:r>
              <a:rPr lang="en-GB"/>
              <a:t>Accountability</a:t>
            </a:r>
          </a:p>
          <a:p>
            <a:r>
              <a:rPr lang="en-GB"/>
              <a:t>Definition: Taking full ownership for results. Acknowledging missteps and driving corrective action.</a:t>
            </a:r>
          </a:p>
          <a:p>
            <a:r>
              <a:rPr lang="en-GB"/>
              <a:t>What it does for a new practice: One named person owns the practice and its result.</a:t>
            </a:r>
          </a:p>
          <a:p>
            <a:r>
              <a:rPr lang="en-GB"/>
              <a:t>Observable: Commitments tracked • Reviews end with named owners • “We missed it, here’s the fix” language common</a:t>
            </a:r>
          </a:p>
          <a:p>
            <a:endParaRPr lang="en-GB"/>
          </a:p>
          <a:p>
            <a:r>
              <a:rPr lang="en-GB"/>
              <a:t>Commitment</a:t>
            </a:r>
          </a:p>
          <a:p>
            <a:r>
              <a:rPr lang="en-GB"/>
              <a:t>Definition: Staying anchored to agreed strategic intent even when pressure rises. Following through despite discomfort.</a:t>
            </a:r>
          </a:p>
          <a:p>
            <a:r>
              <a:rPr lang="en-GB"/>
              <a:t>What it does for a new practice: The practice is kept when pressure rises and the old way is quicker.</a:t>
            </a:r>
          </a:p>
          <a:p>
            <a:r>
              <a:rPr lang="en-GB"/>
              <a:t>Observable: Strategic priorities stay consistent • Leaders decline non-strategic work • Promises kept visibly</a:t>
            </a:r>
          </a:p>
          <a:p>
            <a:endParaRPr lang="en-GB"/>
          </a:p>
          <a:p>
            <a:r>
              <a:rPr lang="en-GB"/>
              <a:t>Engagement</a:t>
            </a:r>
          </a:p>
          <a:p>
            <a:r>
              <a:rPr lang="en-GB"/>
              <a:t>Definition: Actively involving self and others in sense-making, dialogue, and execution. Listening to understand.</a:t>
            </a:r>
          </a:p>
          <a:p>
            <a:r>
              <a:rPr lang="en-GB"/>
              <a:t>What it does for a new practice: People talk about how it is going and improve it together.</a:t>
            </a:r>
          </a:p>
          <a:p>
            <a:r>
              <a:rPr lang="en-GB"/>
              <a:t>Observable: Team meetings are two-way • Feedback loops visible • People quote the shared “why”</a:t>
            </a:r>
          </a:p>
          <a:p>
            <a:endParaRPr lang="en-GB"/>
          </a:p>
          <a:p>
            <a:r>
              <a:rPr lang="en-GB"/>
              <a:t>Integrity</a:t>
            </a:r>
          </a:p>
          <a:p>
            <a:r>
              <a:rPr lang="en-GB"/>
              <a:t>Definition: Acting consistently with values, facts, and truth — even when inconvenient. Declaring conflicts of interest early.</a:t>
            </a:r>
          </a:p>
          <a:p>
            <a:r>
              <a:rPr lang="en-GB"/>
              <a:t>What it does for a new practice: Slips are reported as they are, and early.</a:t>
            </a:r>
          </a:p>
          <a:p>
            <a:r>
              <a:rPr lang="en-GB"/>
              <a:t>Observable: Evidence cited before decisions • Values referenced in hard choices • Teams trust word matches deed</a:t>
            </a:r>
          </a:p>
          <a:p>
            <a:endParaRPr lang="en-GB"/>
          </a:p>
          <a:p>
            <a:r>
              <a:rPr lang="en-GB"/>
              <a:t>Transparency</a:t>
            </a:r>
          </a:p>
          <a:p>
            <a:r>
              <a:rPr lang="en-GB"/>
              <a:t>Definition: Making reasoning, progress, and constraints visible to all stakeholders. Sharing challenges openly.</a:t>
            </a:r>
          </a:p>
          <a:p>
            <a:r>
              <a:rPr lang="en-GB"/>
              <a:t>What it does for a new practice: Its results are visible to everyone the change affects.</a:t>
            </a:r>
          </a:p>
          <a:p>
            <a:r>
              <a:rPr lang="en-GB"/>
              <a:t>Observable: Dashboards updated regularly • Decisions logged and accessible • “No surprises” culture evident</a:t>
            </a:r>
          </a:p>
          <a:p>
            <a:endParaRPr lang="en-GB"/>
          </a:p>
          <a:p>
            <a:r>
              <a:rPr lang="en-GB"/>
              <a:t>For each behaviour the group writes: the behaviour we expect from our leadership team.</a:t>
            </a:r>
          </a:p>
          <a:p>
            <a:endParaRPr lang="en-GB"/>
          </a:p>
          <a:p>
            <a:r>
              <a:rPr lang="en-GB"/>
              <a:t>4. Give the example.</a:t>
            </a:r>
          </a:p>
          <a:p>
            <a:endParaRPr lang="en-GB"/>
          </a:p>
          <a:p>
            <a:r>
              <a:rPr lang="en-GB"/>
              <a:t>EXAMPLE</a:t>
            </a:r>
          </a:p>
          <a:p>
            <a:r>
              <a:rPr lang="en-GB"/>
              <a:t>The team’s level on Agreeableness is High.</a:t>
            </a:r>
          </a:p>
          <a:p>
            <a:r>
              <a:rPr lang="en-GB"/>
              <a:t>Risk: Agreement given without genuine commitment; team over-commits; resentment builds beneath surface harmony.</a:t>
            </a:r>
          </a:p>
          <a:p>
            <a:r>
              <a:rPr lang="en-GB"/>
              <a:t>Expected behaviour under Commitment: “Each of us states our capacity before we accept new work for this change.”</a:t>
            </a:r>
          </a:p>
          <a:p>
            <a:endParaRPr lang="en-GB"/>
          </a:p>
          <a:p>
            <a:r>
              <a:rPr lang="en-GB"/>
              <a:t>ON THE PORTAL, AFTER THE TEACHING:</a:t>
            </a:r>
          </a:p>
          <a:p>
            <a:r>
              <a:rPr lang="en-GB"/>
              <a:t>Participants work as a group in Step 2 of Section 5 of the participant file. This is Capstone work.</a:t>
            </a:r>
          </a:p>
          <a:p>
            <a:r>
              <a:rPr lang="en-GB"/>
              <a:t>1. The group reads its team OCEAVL profile, shown on each page once every member of the team has submitted their scores in part 3.1.</a:t>
            </a:r>
          </a:p>
          <a:p>
            <a:r>
              <a:rPr lang="en-GB"/>
              <a:t>2. The group names the two dimensions on which its executive team carries the highest risk for the strategy, and the response it adopts for each.</a:t>
            </a:r>
          </a:p>
          <a:p>
            <a:r>
              <a:rPr lang="en-GB"/>
              <a:t>3. The group reads the guide in each card. It is the lesson from part 1.3.4.</a:t>
            </a:r>
          </a:p>
          <a:p>
            <a:r>
              <a:rPr lang="en-GB"/>
              <a:t>4. For each behaviour, the group agrees what it expects to see the leadership team do so that the change in Step 1 holds. Where the team’s level carries a risk for this change, the group states the behaviour that answers it.</a:t>
            </a:r>
          </a:p>
          <a:p>
            <a:r>
              <a:rPr lang="en-GB"/>
              <a:t>5. Each participant reads the record and selects Agree. Print gives a copy of the record.</a:t>
            </a:r>
          </a:p>
          <a:p>
            <a:endParaRPr lang="en-GB"/>
          </a:p>
          <a:p>
            <a:r>
              <a:rPr lang="en-GB"/>
              <a:t>AFTER THE SESSION:</a:t>
            </a:r>
          </a:p>
          <a:p>
            <a:r>
              <a:rPr lang="en-GB"/>
              <a:t>The record reaches you with each participant’s submission, under the heading Leading with Clarity.</a:t>
            </a:r>
          </a:p>
          <a:p>
            <a:r>
              <a:rPr lang="en-GB"/>
              <a:t>The agreed record feeds boxes 5A to 5C of the team’s Capstone S2R Blueprint: the two highest-risk dimensions in 5A,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5 SYNTHESIS)</a:t>
            </a:r>
          </a:p>
          <a:p>
            <a:endParaRPr lang="en-GB"/>
          </a:p>
          <a:p>
            <a:r>
              <a:rPr lang="en-GB"/>
              <a:t>HOW TO TEACH IT:</a:t>
            </a:r>
          </a:p>
          <a:p>
            <a:endParaRPr lang="en-GB"/>
          </a:p>
          <a:p>
            <a:r>
              <a:rPr lang="en-GB"/>
              <a:t>1. Recap the unit, section by section.</a:t>
            </a:r>
          </a:p>
          <a:p>
            <a:r>
              <a:rPr lang="en-GB"/>
              <a:t>Say: "This session was about the human conditions that decide whether a strategy ever moves.</a:t>
            </a:r>
          </a:p>
          <a:p>
            <a:r>
              <a:rPr lang="en-GB"/>
              <a:t>Aligning Heart &amp; Mind treated execution as first a human problem: strategy moves through people before it moves through systems."</a:t>
            </a:r>
          </a:p>
          <a:p>
            <a:r>
              <a:rPr lang="en-GB"/>
              <a:t>- 1 · Awareness: strategy enters through Cognition (Mind) and Emotion (Heart). Five principles describe how alignment is created and sustained.</a:t>
            </a:r>
          </a:p>
          <a:p>
            <a:r>
              <a:rPr lang="en-GB"/>
              <a:t>- 2 · Intelligence: Heart &amp; Mind alignment is the ignition point that converts strategic potential energy into kinetic energy. Compliance yields short-term output. Commitment sustains execution when leaders are not present.</a:t>
            </a:r>
          </a:p>
          <a:p>
            <a:r>
              <a:rPr lang="en-GB"/>
              <a:t>- 3 · Extrapolating: each participant completes the OCEAVL Assessment across seven dimensions. The level held by most members is the team’s level, and every level carries a risk, a response and three routines.</a:t>
            </a:r>
          </a:p>
          <a:p>
            <a:r>
              <a:rPr lang="en-GB"/>
              <a:t>- 4 · Integration: the leadership team leads change with one voice through four commitments. Each CXO role brings a Converging Zone Contribution and carries an Alignment Hot Zone.</a:t>
            </a:r>
          </a:p>
          <a:p>
            <a:r>
              <a:rPr lang="en-GB"/>
              <a:t>- 5 · Application: each group states its Shift, Stake and Step for the strategy, reads its team OCEAVL profile, names its two highest-risk dimensions with the response to each, and states the ACE-IT behaviours it expects from the leadership team.</a:t>
            </a:r>
          </a:p>
          <a:p>
            <a:r>
              <a:rPr lang="en-GB"/>
              <a:t>- Across the unit: a change is adopted when it passes the 4 Checks of Mind, Heart, Hands and Habit. The leader’s job is to explain, involve, equip and reinforce until it passes all four.</a:t>
            </a:r>
          </a:p>
          <a:p>
            <a:endParaRPr lang="en-GB"/>
          </a:p>
          <a:p>
            <a:r>
              <a:rPr lang="en-GB"/>
              <a:t>2. Ask the closing question on the slide.</a:t>
            </a:r>
          </a:p>
          <a:p>
            <a:r>
              <a:rPr lang="en-GB"/>
              <a:t>Ask: "Which ACE-IT behaviour in your record will be hardest for this leadership team to show, and what in the team’s OCEAVL profile makes it so?"</a:t>
            </a:r>
          </a:p>
          <a:p>
            <a:r>
              <a:rPr lang="en-GB"/>
              <a:t>Take an answer from each group.</a:t>
            </a:r>
          </a:p>
          <a:p>
            <a:endParaRPr lang="en-GB"/>
          </a:p>
          <a:p>
            <a:r>
              <a:rPr lang="en-GB"/>
              <a:t>3. Close the unit.</a:t>
            </a:r>
          </a:p>
          <a:p>
            <a:r>
              <a:rPr lang="en-GB"/>
              <a:t>Say: "Aligned hearts and minds turn a strategy from a document the organisation has read into a direction the organisation is willing to move on."</a:t>
            </a:r>
          </a:p>
          <a:p>
            <a:r>
              <a:rPr lang="en-GB"/>
              <a:t>Connect the unit to what follows: Performance Management Setup and the translation of strategy into individual accountability across the enterprise.</a:t>
            </a:r>
          </a:p>
          <a:p>
            <a:endParaRPr lang="en-GB"/>
          </a:p>
          <a:p>
            <a:r>
              <a:rPr lang="en-GB"/>
              <a:t>4. Say what happens on the portal.</a:t>
            </a:r>
          </a:p>
          <a:p>
            <a:r>
              <a:rPr lang="en-GB"/>
              <a:t>Say: "You now complete the unit on the portal: your reflections, your OCEAVL Assessment and your group’s record in Section 5.</a:t>
            </a:r>
          </a:p>
          <a:p>
            <a:r>
              <a:rPr lang="en-GB"/>
              <a:t>When your page is complete, you submit the unit."</a:t>
            </a:r>
          </a:p>
          <a:p>
            <a:endParaRPr lang="en-GB"/>
          </a:p>
          <a:p>
            <a:r>
              <a:rPr lang="en-GB"/>
              <a:t>ON THE PORTAL, AFTER THE TEACHING:</a:t>
            </a:r>
          </a:p>
          <a:p>
            <a:r>
              <a:rPr lang="en-GB"/>
              <a:t>Participants complete every part of the participant file and submit the unit to the facilitator from the end of Section 5.</a:t>
            </a:r>
          </a:p>
          <a:p>
            <a:endParaRPr lang="en-GB"/>
          </a:p>
          <a:p>
            <a:r>
              <a:rPr lang="en-GB"/>
              <a:t>AFTER THE SESSION:</a:t>
            </a:r>
          </a:p>
          <a:p>
            <a:r>
              <a:rPr lang="en-GB"/>
              <a:t>Each submission reaches you in the facilitator dashboard.</a:t>
            </a:r>
          </a:p>
          <a:p>
            <a:r>
              <a:rPr lang="en-GB"/>
              <a:t>Each member’s OCEAVL scores feed the team’s profile in the Capstone S2R Blueprint. The group’s confirmed record feeds boxes 5B and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Diagnose and mitigate distortions in strategic interpretation caused by expertise, personality, bias and emotion.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Assess and strengthen the human conditions required for sustained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strategic change by addressing readiness, resistance and behavioural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expertise, cognitive bias and emotion affect strategic understanding and intervene to reduce distortion.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behavioural and support conditions needed for people to adopt strategic change.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572768"/>
            <a:ext cx="9921240" cy="1059836"/>
          </a:xfrm>
          <a:prstGeom prst="rect">
            <a:avLst/>
          </a:prstGeom>
        </p:spPr>
      </p:pic>
      <p:sp>
        <p:nvSpPr>
          <p:cNvPr id="4" name="Part 1.3.1"/>
          <p:cNvSpPr/>
          <p:nvPr/>
        </p:nvSpPr>
        <p:spPr>
          <a:xfrm>
            <a:off x="548640" y="166834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925211"/>
            <a:ext cx="9921240" cy="1059836"/>
          </a:xfrm>
          <a:prstGeom prst="rect">
            <a:avLst/>
          </a:prstGeom>
        </p:spPr>
      </p:pic>
      <p:sp>
        <p:nvSpPr>
          <p:cNvPr id="6" name="Part 1.3.2"/>
          <p:cNvSpPr/>
          <p:nvPr/>
        </p:nvSpPr>
        <p:spPr>
          <a:xfrm>
            <a:off x="548640" y="302078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4277654"/>
            <a:ext cx="9921240" cy="1059836"/>
          </a:xfrm>
          <a:prstGeom prst="rect">
            <a:avLst/>
          </a:prstGeom>
        </p:spPr>
      </p:pic>
      <p:sp>
        <p:nvSpPr>
          <p:cNvPr id="8" name="Part 1.3.3"/>
          <p:cNvSpPr/>
          <p:nvPr/>
        </p:nvSpPr>
        <p:spPr>
          <a:xfrm>
            <a:off x="548640" y="43732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630097"/>
            <a:ext cx="9921240" cy="1251195"/>
          </a:xfrm>
          <a:prstGeom prst="rect">
            <a:avLst/>
          </a:prstGeom>
        </p:spPr>
      </p:pic>
      <p:sp>
        <p:nvSpPr>
          <p:cNvPr id="10" name="Part 1.3.4"/>
          <p:cNvSpPr/>
          <p:nvPr/>
        </p:nvSpPr>
        <p:spPr>
          <a:xfrm>
            <a:off x="548640" y="582135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shared understanding and commitment that translate strategy into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compliance from genuine adoption and strengthen commitment to change.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emerging misalignment across interpretation, emotional climate and behaviour and respond early.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change readiness and tailor leadership responses to adoption barriers.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leadership interpretations into one coherent enterprise message.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role-alignment gaps and competing change demands that threaten enterprise coherence.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009934"/>
            <a:ext cx="5227093" cy="5920398"/>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6856635" y="1120289"/>
            <a:ext cx="4708478" cy="573771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9" name="Reflection 4.2" descr="image.png"/>
          <p:cNvPicPr>
            <a:picLocks noChangeAspect="1"/>
          </p:cNvPicPr>
          <p:nvPr/>
        </p:nvPicPr>
        <p:blipFill>
          <a:blip r:embed="rId5"/>
          <a:stretch>
            <a:fillRect/>
          </a:stretch>
        </p:blipFill>
        <p:spPr>
          <a:xfrm>
            <a:off x="1691640" y="2888770"/>
            <a:ext cx="9921240" cy="1066035"/>
          </a:xfrm>
          <a:prstGeom prst="rect">
            <a:avLst/>
          </a:prstGeom>
        </p:spPr>
      </p:pic>
      <p:sp>
        <p:nvSpPr>
          <p:cNvPr id="6" name="Part 4.2"/>
          <p:cNvSpPr/>
          <p:nvPr/>
        </p:nvSpPr>
        <p:spPr>
          <a:xfrm>
            <a:off x="548640" y="298744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Develop an approach to landing the strategy that builds understanding, readiness and adoption.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Model and reinforce leadership behaviours that strengthen collective strategic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S2R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First name your two highest-risk dimensions. Then state the behaviour that answers each risk.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20905</Words>
  <Application>Microsoft Office PowerPoint</Application>
  <PresentationFormat>Widescreen</PresentationFormat>
  <Paragraphs>1729</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2026-10-09T12:29:32Z</dcterms:modified>
</cp:coreProperties>
</file>