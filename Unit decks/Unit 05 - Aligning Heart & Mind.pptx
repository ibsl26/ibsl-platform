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UNIT 5 · ALIGNING HEART &amp; MIND</a:t>
            </a:r>
          </a:p>
          <a:p>
            <a:r>
              <a:rPr lang="en-GB" dirty="0"/>
              <a:t>Module 3 · Influence · Unit 5</a:t>
            </a:r>
          </a:p>
          <a:p/>
          <a:p>
            <a:r>
              <a:rPr lang="en-GB" dirty="0" b="1"/>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p>
            <a:r>
              <a:rPr lang="en-GB" dirty="0"/>
              <a:t>SCARF explains resistance, ACE-IT sets the behaviour standard and the OCEAVL Assessment shows the behavioural profile the leadership team brings to the strategy.</a:t>
            </a:r>
          </a:p>
          <a:p/>
          <a:p>
            <a:r>
              <a:rPr lang="en-GB" dirty="0"/>
              <a:t>The 4 Checks of Mind, Heart, Hands and Habit give leaders one discipline for leading people through the changes the strategy requires: 3S tests Mind, SCARF reads Heart, STAT tests Hands and ACE-IT holds Habit.</a:t>
            </a:r>
          </a:p>
          <a:p/>
          <a:p>
            <a:r>
              <a:rPr lang="en-GB" dirty="0" b="1"/>
              <a:t>WHERE THE UNIT SITS:</a:t>
            </a:r>
          </a:p>
          <a:p>
            <a:r>
              <a:rPr lang="en-GB" dirty="0"/>
              <a:t>Unit 5 opens Module 3, Influence. Influence mobilises the people and performance systems through which strategy is carried into execution. The module moves from Unit 5, Aligning Heart &amp; Mind (people alignment), to Unit 6, Performance Management Setup (performance architecture), Unit 7, Establishing Performance Expectations (owned commitments), Unit 8, Performance Measurement (review discipline), and Unit 9, Strategic Unclogging (flow of execution).</a:t>
            </a:r>
          </a:p>
          <a:p/>
          <a:p>
            <a:r>
              <a:rPr lang="en-GB" dirty="0" b="1"/>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p>
            <a:r>
              <a:rPr lang="en-GB" dirty="0" b="1"/>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chooses its scribe for this work.</a:t>
            </a:r>
          </a:p>
          <a:p>
            <a:r>
              <a:rPr lang="en-GB" dirty="0"/>
              <a:t>The scribe types what the group agrees, the entries appear on every member’s page, and each member then selects Agree.</a:t>
            </a:r>
          </a:p>
          <a:p/>
          <a:p>
            <a:r>
              <a:rPr lang="en-GB" dirty="0"/>
              <a:t>Each slide’s notes end with a block headed "On the portal, after the teaching" wherever participants have something to complete for that part.</a:t>
            </a:r>
          </a:p>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p>
            <a:r>
              <a:rPr lang="en-GB" dirty="0"/>
              <a:t>Where the outputs go next:</a:t>
            </a:r>
          </a:p>
          <a:p>
            <a:r>
              <a:rPr lang="en-GB" dirty="0"/>
              <a:t>- Each member’s submitted OCEAVL scores feed the team’s profile in the Capstone S2R® Blueprint once every member has submitted. The team sees levels and counts, with no names.</a:t>
            </a:r>
          </a:p>
          <a:p>
            <a:r>
              <a:rPr lang="en-GB" dirty="0"/>
              <a:t>- The group’s agreed record from Section 5 feeds boxes 5A to 5C of the Capstone S2R® Blueprint: the two highest-risk dimensions in 5A, the Shift, Stake and Step in 5B and the expected leadership behaviours in 5C.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FACILITATOR GUIDE · SESSION OVERVIEW</a:t>
            </a:r>
          </a:p>
          <a:p/>
          <a:p>
            <a:r>
              <a:rPr lang="en-GB" dirty="0" b="1"/>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r>
              <a:rPr lang="en-GB" dirty="0"/>
              <a:t>4. Bridge to Section 1. Say: "We start where every strategy starts its journey into execution: with the people who have to carry it."</a:t>
            </a:r>
          </a:p>
          <a:p/>
          <a:p>
            <a:r>
              <a:rPr lang="en-GB" dirty="0" b="1"/>
              <a:t>THE FIVE SECTIONS:</a:t>
            </a:r>
          </a:p>
          <a:p>
            <a:r>
              <a:rPr lang="en-GB" dirty="0"/>
              <a:t>- Section 1 · Awareness — What: the two human filters, the five principles, then change management: the 4 Checks of Mind, Heart, Hands and Habit and the tool for each check (3S, SCARF, STAT, ACE-IT).</a:t>
            </a:r>
          </a:p>
          <a:p/>
          <a:p>
            <a:r>
              <a:rPr lang="en-GB" dirty="0"/>
              <a:t>- Section 2 · Intelligence — Why: the ignition point of execution, the three foundational logics, and why a change delivers value only when it is adopted.</a:t>
            </a:r>
          </a:p>
          <a:p/>
          <a:p>
            <a:r>
              <a:rPr lang="en-GB" dirty="0"/>
              <a:t>- Section 3 · Extrapolating — Where: the OCEAVL Assessment, which each participant completes for themselves, and the profile the team brings together.</a:t>
            </a:r>
          </a:p>
          <a:p/>
          <a:p>
            <a:r>
              <a:rPr lang="en-GB" dirty="0"/>
              <a:t>- Section 4 · Integration — Collective: leading change with one voice, then the Converging Zone Contribution and the Alignment Hot Zone of each leadership role.</a:t>
            </a:r>
          </a:p>
          <a:p/>
          <a:p>
            <a:r>
              <a:rPr lang="en-GB" dirty="0"/>
              <a:t>- Section 5 · Application — In Practice: Leading with Clarity. Each group states its Shift, Stake and Step, then the ACE-IT behaviours it expects from the leadership team.</a:t>
            </a:r>
          </a:p>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Interpret how expertise, cognitive bias and emotion affect strategic understanding and intervene to reduce distortion.</a:t>
            </a:r>
          </a:p>
          <a:p>
            <a:r>
              <a:rPr lang="en-GB" dirty="0"/>
              <a:t>2. Determine the behavioural and support conditions needed for people to adopt strategic change.</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1 REFLECTIONS · 1.3.1 TO 1.3.4</a:t>
            </a:r>
          </a:p>
          <a:p/>
          <a:p>
            <a:r>
              <a:rPr lang="en-GB" dirty="0" b="1"/>
              <a:t>HOW TO USE THIS SLIDE:</a:t>
            </a:r>
          </a:p>
          <a:p/>
          <a:p>
            <a:r>
              <a:rPr lang="en-GB" dirty="0" b="1"/>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p>
            <a:r>
              <a:rPr lang="en-GB" dirty="0"/>
              <a:t>1.3.2 Reflection: "Which SCARF trigger is most frequently activated in your organisation during strategy implementation? What is the observable evidence? What counter-strategy would address the root cause?"</a:t>
            </a:r>
          </a:p>
          <a:p/>
          <a:p>
            <a:r>
              <a:rPr lang="en-GB" dirty="0"/>
              <a:t>1.3.3 Reflection — The STAT Check: "Run STAT for the change you are carrying through this unit. Which element is missing for the people it affects most? What is your evidence, and what is yours to supply?"</a:t>
            </a:r>
          </a:p>
          <a:p/>
          <a:p>
            <a:r>
              <a:rPr lang="en-GB" dirty="0"/>
              <a:t>1.3.4 Reflection: "If you audited your last leadership review against the ACE-IT behaviours — where would you find the biggest gap between the ideal and the observable? What one behavioural change would create the most impact?"</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p>
            <a:r>
              <a:rPr lang="en-GB" dirty="0" b="1"/>
              <a:t>4. Close Section 1 and bridge to Section 2.</a:t>
            </a:r>
          </a:p>
          <a:p>
            <a:r>
              <a:rPr lang="en-GB" dirty="0"/>
              <a:t>Say: "Leaders who address both the mind and the heart prepare people to understand, accept and act on the change a strategy requires. Section 2 examines why aligning heart and mind determines execution outcomes, and why change must be led to adoption."</a:t>
            </a:r>
          </a:p>
          <a:p/>
          <a:p>
            <a:r>
              <a:rPr lang="en-GB" dirty="0" b="1"/>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Build shared understanding and commitment that translate strategy into coordinated action.</a:t>
            </a:r>
          </a:p>
          <a:p>
            <a:r>
              <a:rPr lang="en-GB" dirty="0"/>
              <a:t>2. Differentiate compliance from genuine adoption and strengthen commitment to change.</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2 REFLECTIONS</a:t>
            </a:r>
          </a:p>
          <a:p/>
          <a:p>
            <a:r>
              <a:rPr lang="en-GB" dirty="0" b="1"/>
              <a:t>HOW TO USE THIS SLIDE:</a:t>
            </a:r>
          </a:p>
          <a:p/>
          <a:p>
            <a:r>
              <a:rPr lang="en-GB" dirty="0" b="1"/>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p>
            <a:r>
              <a:rPr lang="en-GB" dirty="0"/>
              <a:t>2.2 Reflection: "How much of your current leadership time is spent enforcing compliance? What is the opportunity cost of this?"</a:t>
            </a:r>
          </a:p>
          <a:p/>
          <a:p>
            <a:r>
              <a:rPr lang="en-GB" dirty="0"/>
              <a:t>2.3 Reflection — Installed and adopted: "Name one change in your organisation that is installed and still awaiting adoption. Which check did it fail: Mind, Heart, Hands or Habit? What has the adoption gap cost so far?"</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p>
            <a:r>
              <a:rPr lang="en-GB" dirty="0" b="1"/>
              <a:t>4. Close Section 2 and bridge to Section 3.</a:t>
            </a:r>
          </a:p>
          <a:p>
            <a:r>
              <a:rPr lang="en-GB" dirty="0"/>
              <a:t>Say: "Execution ignites when people move from compliance to genuine adoption of the change. Section 3 examines where the leadership team stands, through the behavioural profile each member and the team bring to the strategy."</a:t>
            </a:r>
          </a:p>
          <a:p/>
          <a:p>
            <a:r>
              <a:rPr lang="en-GB" dirty="0" b="1"/>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3 · EXTRAPOLATING — WHERE</a:t>
            </a:r>
          </a:p>
          <a:p/>
          <a:p>
            <a:r>
              <a:rPr lang="en-GB" dirty="0" b="1"/>
              <a:t>HOW THIS SECTION RUNS:</a:t>
            </a:r>
          </a:p>
          <a:p>
            <a:r>
              <a:rPr lang="en-GB" dirty="0"/>
              <a:t>1. 3.1: the OCEAVL Assessment and its seven dimensions.</a:t>
            </a:r>
          </a:p>
          <a:p>
            <a:r>
              <a:rPr lang="en-GB" dirty="0"/>
              <a:t>2. The Section 3 Reflections slide: the reflection participants write on the portal after the teaching.</a:t>
            </a:r>
          </a:p>
          <a:p/>
          <a:p>
            <a:r>
              <a:rPr lang="en-GB" dirty="0" b="1"/>
              <a:t>SECTION LEARNING OUTCOMES:</a:t>
            </a:r>
          </a:p>
          <a:p>
            <a:r>
              <a:rPr lang="en-GB" dirty="0"/>
              <a:t>1. Detect emerging misalignment across interpretation, emotional climate and behaviour and respond early.</a:t>
            </a:r>
          </a:p>
          <a:p>
            <a:r>
              <a:rPr lang="en-GB" dirty="0"/>
              <a:t>2. Assess change readiness and tailor leadership responses to adoption barriers.</a:t>
            </a:r>
          </a:p>
          <a:p/>
          <a:p>
            <a:r>
              <a:rPr lang="en-GB" dirty="0" b="1"/>
              <a:t>HOW TO OPEN THE SECTION:</a:t>
            </a:r>
          </a:p>
          <a:p/>
          <a:p>
            <a:r>
              <a:rPr lang="en-GB" dirty="0" b="1"/>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p>
            <a:r>
              <a:rPr lang="en-GB" dirty="0" b="1"/>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S2R®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3.1 — THE OCEAVL ASSESSMENT: PERSONAL AND TEAM BEHAVIOURAL PROFILE (SEVEN DIMENSIONS) · THE SEVEN DIMENSIONS</a:t>
            </a:r>
          </a:p>
          <a:p/>
          <a:p>
            <a:r>
              <a:rPr lang="en-GB" dirty="0" b="1"/>
              <a:t>HOW TO TEACH IT:</a:t>
            </a:r>
          </a:p>
          <a:p/>
          <a:p>
            <a:r>
              <a:rPr lang="en-GB" dirty="0" b="1"/>
              <a:t>1. Link the assessment to Principle 3.</a:t>
            </a:r>
          </a:p>
          <a:p>
            <a:r>
              <a:rPr lang="en-GB" dirty="0"/>
              <a:t>Say: "Principle 3 established that alignment must be designed. One way to design alignment is to understand the human tendencies that shape how leaders read strategy, handle disagreement, make decisions and respond under pressure."</a:t>
            </a:r>
          </a:p>
          <a:p>
            <a:r>
              <a:rPr lang="en-GB" dirty="0"/>
              <a:t>Say: "For this programme we use the OCEAVL Assessment. OCEAVL is adapted from the Big Five personality model, and we use it here as a strategy execution tool. It surfaces seven psychological tendencies that may influence executive decision-making and team coherence. It gives each leader a profile across seven dimensions, and for each dimension it shows whether the tendency is expressed at a low, balanced or high level."</a:t>
            </a:r>
          </a:p>
          <a:p>
            <a:r>
              <a:rPr lang="en-GB" dirty="0"/>
              <a:t>Say: "Each level then gives three things: the risk this disposition may create for strategy execution, the response required to manage the risk, and the routine that turns the response into repeated leadership practice."</a:t>
            </a:r>
          </a:p>
          <a:p>
            <a:r>
              <a:rPr lang="en-GB" dirty="0"/>
              <a:t>Say: "The value of the tool lies in the insight it gives. It helps us see how our personal disposition may be helping or hurting alignment before the strategy reaches execution."</a:t>
            </a:r>
          </a:p>
          <a:p/>
          <a:p>
            <a:r>
              <a:rPr lang="en-GB" dirty="0" b="1"/>
              <a:t>2. Explain how to read the tool.</a:t>
            </a:r>
          </a:p>
          <a:p>
            <a:r>
              <a:rPr lang="en-GB" dirty="0"/>
              <a:t>Say: "When you read a profile, read it as a map of how you tend to respond. The tool asks four simple questions. What tendency is showing up? At what level is it showing up: low, balanced or high? What risk could this create for strategy execution? What routine can help us manage that risk?"</a:t>
            </a:r>
          </a:p>
          <a:p/>
          <a:p>
            <a:r>
              <a:rPr lang="en-GB" dirty="0" b="1"/>
              <a:t>3. Walk the seven dimensions on the slide.</a:t>
            </a:r>
          </a:p>
          <a:p>
            <a:r>
              <a:rPr lang="en-GB" dirty="0"/>
              <a:t>Say: "These are the seven dimensions we assess. Each one tells us something about how leaders carry strategy."</a:t>
            </a:r>
          </a:p>
          <a:p>
            <a:r>
              <a:rPr lang="en-GB" dirty="0"/>
              <a:t>Openness. Say: "Openness is about curiosity, creativity and adaptability to new approaches. It shows how willing a leader is to consider new ideas, question old assumptions and respond to change. In strategy, openness matters because the environment keeps changing. A team with too little openness may stay too attached to familiar ways. A team with too much openness may chase too many ideas at once."</a:t>
            </a:r>
          </a:p>
          <a:p>
            <a:r>
              <a:rPr lang="en-GB" dirty="0"/>
              <a:t>Conscientiousness. Say: "Conscientiousness is about discipline, planning and follow-through on commitments. It shows how reliably a leader organises work, tracks commitments and completes what has been agreed. In strategy, conscientiousness matters because execution needs structure. Without discipline, strategy remains a statement. With discipline, strategy becomes action, ownership and review."</a:t>
            </a:r>
          </a:p>
          <a:p>
            <a:r>
              <a:rPr lang="en-GB" dirty="0"/>
              <a:t>Extraversion. Say: "Extraversion is about outward energy, communication and comfort with collaboration. It shows how easily a leader engages others, speaks into the room and helps move energy through the team. In strategy, extraversion matters because strategy must be communicated. People align through conversation, explanation and leadership signals, and a document alone moves no one."</a:t>
            </a:r>
          </a:p>
          <a:p>
            <a:r>
              <a:rPr lang="en-GB" dirty="0"/>
              <a:t>Agreeableness. Say: "Agreeableness is about harmony, conflict management and cooperation. It shows how a leader works with others, handles tension and protects relationships. In strategy, agreeableness matters because execution depends on trust and cooperation. Harmony must still leave room for honesty. A team can agree politely and still avoid the difficult issue."</a:t>
            </a:r>
          </a:p>
          <a:p>
            <a:r>
              <a:rPr lang="en-GB" dirty="0"/>
              <a:t>Emotional Stability. Say: "Emotional Stability is about composure under pressure and emotional resilience. It shows how a leader behaves when there is stress, criticism, uncertainty or failure. In strategy, emotional stability matters because execution always brings pressure. If leaders become reactive, the team spends its energy managing emotions, and the strategy waits."</a:t>
            </a:r>
          </a:p>
          <a:p>
            <a:r>
              <a:rPr lang="en-GB" dirty="0"/>
              <a:t>Values Alignment. Say: "Values Alignment is about consistency between stated values and lived behaviour. It shows whether a leader’s choices, actions and trade-offs match what the organisation says it stands for. In strategy, values alignment matters because people watch behaviour more closely than slogans. When values and decisions match, trust grows. When they diverge, people comply and commitment weakens."</a:t>
            </a:r>
          </a:p>
          <a:p>
            <a:r>
              <a:rPr lang="en-GB" dirty="0"/>
              <a:t>Learning Orientation. Say: "Learning Orientation is about growth mindset, openness to feedback and skill development. It shows whether a leader can learn, adapt and improve through experience. In strategy, learning orientation matters because strategy is iterative. We decide, test, learn and refine. A team that cannot learn will keep defending old choices even when reality has changed."</a:t>
            </a:r>
          </a:p>
          <a:p/>
          <a:p>
            <a:r>
              <a:rPr lang="en-GB" dirty="0" b="1"/>
              <a:t>4. Explain the three levels of disposition.</a:t>
            </a:r>
          </a:p>
          <a:p>
            <a:r>
              <a:rPr lang="en-GB" dirty="0"/>
              <a:t>Say: "For each dimension the tool reads the tendency at three levels. Low means the tendency is less visible or less naturally used. Balanced means the tendency is present in a moderate way. High means the tendency is strongly visible."</a:t>
            </a:r>
          </a:p>
          <a:p>
            <a:r>
              <a:rPr lang="en-GB" dirty="0"/>
              <a:t>Say: "Each level carries its own contribution and its own possible risk. A level becomes useful or risky depending on the strategy being carried. The question is: what does this strategy require from us now?"</a:t>
            </a:r>
          </a:p>
          <a:p>
            <a:r>
              <a:rPr lang="en-GB" dirty="0"/>
              <a:t>Say: "For example, high openness may help innovation and may also create too many ideas. Low openness may protect stability and may also delay adaptation. Balanced openness may support careful experimentation and may still avoid uncomfortable change."</a:t>
            </a:r>
          </a:p>
          <a:p>
            <a:r>
              <a:rPr lang="en-GB" dirty="0"/>
              <a:t>Listen for: a High level read as a strength with no risk. Ask participants to read the risk of their High levels first.</a:t>
            </a:r>
          </a:p>
          <a:p/>
          <a:p>
            <a:r>
              <a:rPr lang="en-GB" dirty="0" b="1"/>
              <a:t>5. Use one worked example: High Agreeableness.</a:t>
            </a:r>
          </a:p>
          <a:p>
            <a:r>
              <a:rPr lang="en-GB" dirty="0"/>
              <a:t>Say: "Let us take one example so that you can see how the tool works. High agreeableness means the leader is kind, warm, cooperative and ready to help. This is a strength because it builds trust. People feel supported and respected."</a:t>
            </a:r>
          </a:p>
          <a:p>
            <a:r>
              <a:rPr lang="en-GB" dirty="0"/>
              <a:t>Say: "The risk is that agreement may be given without real commitment. People may avoid saying no. The team may over-commit because nobody wants to disappoint others. Resentment may build under the surface."</a:t>
            </a:r>
          </a:p>
          <a:p>
            <a:r>
              <a:rPr lang="en-GB" dirty="0"/>
              <a:t>Say: "The response is to create a formal challenge role. Someone must be allowed to ask the difficult question without being seen as negative."</a:t>
            </a:r>
          </a:p>
          <a:p>
            <a:r>
              <a:rPr lang="en-GB" dirty="0"/>
              <a:t>Say: "The routine is the Rotating Challenger. In each major discussion, one person is assigned to challenge assumptions, name risks and ask what the team may be avoiding."</a:t>
            </a:r>
          </a:p>
          <a:p>
            <a:r>
              <a:rPr lang="en-GB" dirty="0"/>
              <a:t>Say: "In Strategy2Results®, this protects alignment. It helps the team move from polite agreement to real commitment."</a:t>
            </a:r>
          </a:p>
          <a:p/>
          <a:p>
            <a:r>
              <a:rPr lang="en-GB" dirty="0" b="1"/>
              <a:t>6. Say how the assessment works.</a:t>
            </a:r>
          </a:p>
          <a:p>
            <a:r>
              <a:rPr lang="en-GB" dirty="0"/>
              <a:t>Say: "OCEAVL is a personal assessment. Each of you completes it alone. You score yourself from 1 to 5 on each of the seven dimensions: 1 is strongly low, 3 is balanced and 5 is strongly high. A score of 4 or 5 is High, 3 is Balanced, and 1 or 2 is Low. Your profile then shows your level on each dimension, with its risk, its response and three routines."</a:t>
            </a:r>
          </a:p>
          <a:p>
            <a:r>
              <a:rPr lang="en-GB" dirty="0"/>
              <a:t>Say: "This is personal reflection first. Before you compare yourself with anyone, ask: what does this reveal about how I read and lead strategy? No one states a score to the group, and no one records a score for another member."</a:t>
            </a:r>
          </a:p>
          <a:p>
            <a:r>
              <a:rPr lang="en-GB" dirty="0"/>
              <a:t>Say: "Your team sees no names and no single personal scores. The level held by most members is the team’s level for each dimension, and the team sees that level with the count at each level. The team discussion is about what the collective pattern could mean for the strategy."</a:t>
            </a:r>
          </a:p>
          <a:p/>
          <a:p>
            <a:r>
              <a:rPr lang="en-GB" dirty="0" b="1"/>
              <a:t>7. Close the part.</a:t>
            </a:r>
          </a:p>
          <a:p>
            <a:r>
              <a:rPr lang="en-GB" dirty="0"/>
              <a:t>Say: "OCEAVL helps us see the human pattern behind strategy execution. Once we can see the pattern, we can design the right guardrails. That is how alignment is designed."</a:t>
            </a:r>
          </a:p>
          <a:p/>
          <a:p>
            <a:r>
              <a:rPr lang="en-GB" dirty="0" b="1"/>
              <a:t>ON THE PORTAL, AFTER THE TEACHING:</a:t>
            </a:r>
          </a:p>
          <a:p>
            <a:r>
              <a:rPr lang="en-GB" dirty="0"/>
              <a:t>Each participant completes the OCEAVL Assessment alone in part 3.1 of the participant file, as portfolio work. They score first and read the seven dimensions afterwards.</a:t>
            </a:r>
          </a:p>
          <a:p>
            <a:r>
              <a:rPr lang="en-GB" dirty="0"/>
              <a:t>1. They score themselves from 1 to 5 on each of the seven dimensions.</a:t>
            </a:r>
          </a:p>
          <a:p>
            <a:r>
              <a:rPr lang="en-GB" dirty="0"/>
              <a:t>2. They read their own profile: for each dimension, the level with its risk, its response and three routines. The full low, balanced and high detail for all seven dimensions is on the page.</a:t>
            </a:r>
          </a:p>
          <a:p>
            <a:r>
              <a:rPr lang="en-GB" dirty="0"/>
              <a:t>3. They select Submit to My Team’s Capstone. Print gives a copy of their own profile.</a:t>
            </a:r>
          </a:p>
          <a:p>
            <a:r>
              <a:rPr lang="en-GB" dirty="0"/>
              <a:t>The team’s profile appears in the team’s Capstone S2R® Blueprint once every member has submitted. Step 2 of Section 5 needs it, so every member submits before the group starts that step.</a:t>
            </a:r>
          </a:p>
          <a:p>
            <a:r>
              <a:rPr lang="en-GB" dirty="0"/>
              <a:t>Each participant then writes the reflection of 3.1: "Which of your own levels carries the highest risk for how you read and lead the strategy? Where has that risk already shown up?"</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3 REFLECTIONS</a:t>
            </a:r>
          </a:p>
          <a:p/>
          <a:p>
            <a:r>
              <a:rPr lang="en-GB" dirty="0" b="1"/>
              <a:t>HOW TO USE THIS SLIDE:</a:t>
            </a:r>
          </a:p>
          <a:p/>
          <a:p>
            <a:r>
              <a:rPr lang="en-GB" dirty="0" b="1"/>
              <a:t>1. Show the slide and read the prompt aloud.</a:t>
            </a:r>
          </a:p>
          <a:p>
            <a:r>
              <a:rPr lang="en-GB" dirty="0"/>
              <a:t>3.1 Reflection — OCEAVL: "Which of your own levels carries the highest risk for how you read and lead the strategy? Where has that risk already shown up?"</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"Name the level, the risk it carries and one place where that risk has already shown up."</a:t>
            </a:r>
          </a:p>
          <a:p>
            <a:r>
              <a:rPr lang="en-GB" dirty="0"/>
              <a:t>Watch for: a reflection that lists scores. Ask for one level and its risk.</a:t>
            </a:r>
          </a:p>
          <a:p/>
          <a:p>
            <a:r>
              <a:rPr lang="en-GB" dirty="0" b="1"/>
              <a:t>4. Close Section 3 and bridge to Section 4.</a:t>
            </a:r>
          </a:p>
          <a:p>
            <a:r>
              <a:rPr lang="en-GB" dirty="0"/>
              <a:t>Say: "The team’s behavioural profile shows where alignment is strong and where it carries risk for the strategy. Section 4 examines how the leadership team converges its perspectives into one interpretation and one message."</a:t>
            </a:r>
          </a:p>
          <a:p/>
          <a:p>
            <a:r>
              <a:rPr lang="en-GB" dirty="0" b="1"/>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Integrate leadership interpretations into one coherent enterprise message.</a:t>
            </a:r>
          </a:p>
          <a:p>
            <a:r>
              <a:rPr lang="en-GB" dirty="0"/>
              <a:t>2. Diagnose role-alignment gaps and competing change demands that threaten enterprise coherence.</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 — LEADING CHANGE WITH ONE VOICE (FOUR COMMITMENTS)</a:t>
            </a:r>
          </a:p>
          <a:p/>
          <a:p>
            <a:r>
              <a:rPr lang="en-GB" dirty="0" b="1"/>
              <a:t>HOW TO TEACH IT:</a:t>
            </a:r>
          </a:p>
          <a:p/>
          <a:p>
            <a:r>
              <a:rPr lang="en-GB" dirty="0" b="1"/>
              <a:t>1. Say why one voice matters.</a:t>
            </a:r>
          </a:p>
          <a:p>
            <a:r>
              <a:rPr lang="en-GB" dirty="0"/>
              <a:t>Say: "The 4 Checks describe what one group of people needs from one leader. Most changes reach a group through several leaders at once. People hear from their own leader, watch the others, and compare. Where the leaders differ, the group takes the difference as the real message."</a:t>
            </a:r>
          </a:p>
          <a:p/>
          <a:p>
            <a:r>
              <a:rPr lang="en-GB" dirty="0" b="1"/>
              <a:t>2. Define the Converging Zone.</a:t>
            </a:r>
          </a:p>
          <a:p>
            <a:r>
              <a:rPr lang="en-GB" dirty="0"/>
              <a:t>Say: "The Converging Zone is the point where the separate views of each function come together into one shared reading of the strategy. A leadership team that reaches it has Collective Intelligence, and the organisation hears one voice."</a:t>
            </a:r>
          </a:p>
          <a:p>
            <a:r>
              <a:rPr lang="en-GB" dirty="0"/>
              <a:t>Say: "With Collective Intelligence, direction remains clear across all layers, resources reinforce priorities, systems enable execution and people move with coordinated effort. One coherent signal reaches the organisation, and changes pass the 4 Checks of Mind, Heart, Hands and Habit."</a:t>
            </a:r>
          </a:p>
          <a:p>
            <a:r>
              <a:rPr lang="en-GB" dirty="0"/>
              <a:t>Say: "Without it, different leaders transmit different interpretations, changes stall at the first check they fail, functions receive competing signals and strategic instability spreads invisibly. Each function becomes a source of execution friction."</a:t>
            </a:r>
          </a:p>
          <a:p>
            <a:r>
              <a:rPr lang="en-GB" dirty="0"/>
              <a:t>Ask: "Which of these two states is your organisation closer to today?"</a:t>
            </a:r>
          </a:p>
          <a:p/>
          <a:p>
            <a:r>
              <a:rPr lang="en-GB" dirty="0" b="1"/>
              <a:t>3. Teach the four commitments on the slide.</a:t>
            </a:r>
          </a:p>
          <a:p>
            <a:r>
              <a:rPr lang="en-GB" dirty="0"/>
              <a:t>Say: "To lead with one voice, the leadership team makes four commitments that no single function can make alone. Each one protects a check."</a:t>
            </a:r>
          </a:p>
          <a:p>
            <a:r>
              <a:rPr lang="en-GB" dirty="0"/>
              <a:t>One message · Protects Mind. Say: "Every leader gives the same Shift, Stake and Step for each change. The Functional Bias Problem works on leaders first: each one translates the change through their own function before passing it on. The test is the 3S Check applied to the leadership team itself. Each leader writes the three for the same change, and the versions are compared before anyone speaks to their people."</a:t>
            </a:r>
          </a:p>
          <a:p>
            <a:r>
              <a:rPr lang="en-GB" dirty="0"/>
              <a:t>When absent: each function hears a different change, and the 3S Check fails across the organisation.</a:t>
            </a:r>
          </a:p>
          <a:p>
            <a:r>
              <a:rPr lang="en-GB" dirty="0"/>
              <a:t>One example · Protects Heart. Say: "Leaders show the ACE-IT behaviours the change needs before they ask for them. People read a leader’s diary, questions and decisions as the real message. A leader who asks for the new practice and keeps to the old one has told the organisation which of the two is safe."</a:t>
            </a:r>
          </a:p>
          <a:p>
            <a:r>
              <a:rPr lang="en-GB" dirty="0"/>
              <a:t>When absent: people copy what leaders do and discount what leaders say.</a:t>
            </a:r>
          </a:p>
          <a:p>
            <a:r>
              <a:rPr lang="en-GB" dirty="0"/>
              <a:t>One sequence · Protects Hands. Say: "Leaders pool their changes and count how many land on the same group in the same period. The team then agrees the order and the pace. Each function sees its own change, and each change looks reasonable alone. The total load on a group is visible only when the team looks together, and Time is the first STAT element to give way under it."</a:t>
            </a:r>
          </a:p>
          <a:p>
            <a:r>
              <a:rPr lang="en-GB" dirty="0"/>
              <a:t>When absent: one group is asked to absorb several changes together, and its willingness falls.</a:t>
            </a:r>
          </a:p>
          <a:p>
            <a:r>
              <a:rPr lang="en-GB" dirty="0"/>
              <a:t>Data: employees’ willingness to support enterprise change fell from 74% in 2016 to 43% in 2022, while planned changes per employee rose from two to ten (Gartner, reported in Harvard Business Review, 2023).</a:t>
            </a:r>
          </a:p>
          <a:p>
            <a:r>
              <a:rPr lang="en-GB" dirty="0"/>
              <a:t>One owner · Protects Habit. Say: "Each transition has one named leader who answers for adoption, through to Habit. The owner runs the 4 Checks, reports which check the change has reached, and stays with it after the launch, when attention moves to the next priority."</a:t>
            </a:r>
          </a:p>
          <a:p>
            <a:r>
              <a:rPr lang="en-GB" dirty="0"/>
              <a:t>When absent: the change is installed and nobody answers for whether it is adopted.</a:t>
            </a:r>
          </a:p>
          <a:p>
            <a:r>
              <a:rPr lang="en-GB" dirty="0"/>
              <a:t>Data: projects with extremely effective sponsors were 79% likely to meet their objectives, against 27% with extremely ineffective sponsors (Prosci, Best Practices in Change Management, 12th edition).</a:t>
            </a:r>
          </a:p>
          <a:p/>
          <a:p>
            <a:r>
              <a:rPr lang="en-GB" dirty="0" b="1"/>
              <a:t>4. Count the change load.</a:t>
            </a:r>
          </a:p>
          <a:p>
            <a:r>
              <a:rPr lang="en-GB" dirty="0"/>
              <a:t>Say: "Choose one named group in your organisation and list in the chat every change the leadership team is asking of it this quarter."</a:t>
            </a:r>
          </a:p>
          <a:p>
            <a:r>
              <a:rPr lang="en-GB" dirty="0"/>
              <a:t>Let the count open the discussion on sequence.</a:t>
            </a:r>
          </a:p>
          <a:p>
            <a:r>
              <a:rPr lang="en-GB" dirty="0"/>
              <a:t>Ask: "If this group can absorb two of these well, which two come first, and who tells the owners of the rest?"</a:t>
            </a:r>
          </a:p>
          <a:p>
            <a:r>
              <a:rPr lang="en-GB" dirty="0"/>
              <a:t>Listen for: each leader defending their own change. Return the discussion to the group that has to absorb them.</a:t>
            </a:r>
          </a:p>
          <a:p/>
          <a:p>
            <a:r>
              <a:rPr lang="en-GB" dirty="0" b="1"/>
              <a:t>5. Test one message on the room.</a:t>
            </a:r>
          </a:p>
          <a:p>
            <a:r>
              <a:rPr lang="en-GB" dirty="0"/>
              <a:t>Repeat the 3S test from 1.3.1 with the whole team on one enterprise-wide change. Participants post their Shift, Stake and Step in the chat, and the room compares the versions.</a:t>
            </a:r>
          </a:p>
          <a:p>
            <a:r>
              <a:rPr lang="en-GB" dirty="0"/>
              <a:t>Ask: "What is the single most important convergence you need to achieve before your next major strategy initiative?"</a:t>
            </a:r>
          </a:p>
          <a:p/>
          <a:p>
            <a:r>
              <a:rPr lang="en-GB" dirty="0" b="1"/>
              <a:t>6. Bridge to 4.2.</a:t>
            </a:r>
          </a:p>
          <a:p>
            <a:r>
              <a:rPr lang="en-GB" dirty="0"/>
              <a:t>Say: "One voice depends on every role. 4.2 shows what each role brings to the shared reading of the strategy, and where each role is most likely to lose people."</a:t>
            </a:r>
          </a:p>
          <a:p/>
          <a:p>
            <a:r>
              <a:rPr lang="en-GB" dirty="0" b="1"/>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4.2 — COLLECTIVE INTELLIGENCE ACROSS THE LEADERSHIP TEAM (CLICK A ROLE)</a:t>
            </a:r>
          </a:p>
          <a:p/>
          <a:p>
            <a:r>
              <a:rPr lang="en-GB" dirty="0" b="1"/>
              <a:t>HOW TO TEACH IT:</a:t>
            </a:r>
          </a:p>
          <a:p/>
          <a:p>
            <a:r>
              <a:rPr lang="en-GB" dirty="0" b="1"/>
              <a:t>1. Frame the grid on the slide.</a:t>
            </a:r>
          </a:p>
          <a:p>
            <a:r>
              <a:rPr lang="en-GB" dirty="0"/>
              <a:t>Say: "Every role on a leadership team affects alignment in two ways at once. Each role carries a different part of the change into the organisation. If that role does not clarify its part, people lose alignment at that point."</a:t>
            </a:r>
          </a:p>
          <a:p>
            <a:r>
              <a:rPr lang="en-GB" dirty="0"/>
              <a:t>Say: "The CEO clarifies direction. The CFO must clarify resource logic, the COO operating capacity and the CHRO human capability. Leaders need to know which lever to pull when aligning people’s hearts and minds, whether as a leadership team or as the leader of a team."</a:t>
            </a:r>
          </a:p>
          <a:p/>
          <a:p>
            <a:r>
              <a:rPr lang="en-GB" dirty="0" b="1"/>
              <a:t>2. Teach the two terms.</a:t>
            </a:r>
          </a:p>
          <a:p>
            <a:r>
              <a:rPr lang="en-GB" dirty="0"/>
              <a:t>Say: "The Converging Zone Contribution is what a role brings so that the leadership team reads the strategy as one. It is the part of that shared reading only that role can supply."</a:t>
            </a:r>
          </a:p>
          <a:p>
            <a:r>
              <a:rPr lang="en-GB" dirty="0"/>
              <a:t>Say: "The Alignment Hot Zone is the one place where a role is most likely to lose people as it does its normal work. It is one of the 17 elements of 3S, SCARF, STAT and ACE-IT taught in 1.3.1 to 1.3.4. It tells the leader which check the role puts at risk: people’s understanding (Mind), their willingness (Heart), their ability to act (Hands) or their follow-through (Habit)."</a:t>
            </a:r>
          </a:p>
          <a:p>
            <a:r>
              <a:rPr lang="en-GB" dirty="0"/>
              <a:t>Say: "The two come from the same work. The work that makes a role valuable to the team is the work that creates its hot zone. The CEO sets direction: that is the contribution. A direction announced in broad terms leaves people unsure what changes for them: that is the hot zone. A leader who knows both keeps giving the contribution and guards the hot zone."</a:t>
            </a:r>
          </a:p>
          <a:p/>
          <a:p>
            <a:r>
              <a:rPr lang="en-GB" dirty="0" b="1"/>
              <a:t>3. Walk the roles, starting with the CEO.</a:t>
            </a:r>
          </a:p>
          <a:p>
            <a:r>
              <a:rPr lang="en-GB" dirty="0"/>
              <a:t>Use the CEO card as the example: the contribution first, then the hot zone, and the one piece of work that produces both. Then take the roles in the room.</a:t>
            </a:r>
          </a:p>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p>
            <a:r>
              <a:rPr lang="en-GB" dirty="0" b="1"/>
              <a:t>4. Ask each leader to read their own role.</a:t>
            </a:r>
          </a:p>
          <a:p>
            <a:r>
              <a:rPr lang="en-GB" dirty="0"/>
              <a:t>Ask each participant to find their own role first.</a:t>
            </a:r>
          </a:p>
          <a:p>
            <a:r>
              <a:rPr lang="en-GB" dirty="0"/>
              <a:t>Ask: "Do you recognise this description? Is this how your team experiences your alignment contribution?"</a:t>
            </a:r>
          </a:p>
          <a:p>
            <a:r>
              <a:rPr lang="en-GB" dirty="0"/>
              <a:t>Then ask them to read the roles closest to their own. This is particularly powerful when the full CXO team attends.</a:t>
            </a:r>
          </a:p>
          <a:p/>
          <a:p>
            <a:r>
              <a:rPr lang="en-GB" dirty="0" b="1"/>
              <a:t>5. Name the next alignment conversation.</a:t>
            </a:r>
          </a:p>
          <a:p>
            <a:r>
              <a:rPr lang="en-GB" dirty="0"/>
              <a:t>Ask: "Look at the role most adjacent to yours. What is the most important alignment conversation you need to have next with that role?"</a:t>
            </a:r>
          </a:p>
          <a:p>
            <a:r>
              <a:rPr lang="en-GB" dirty="0"/>
              <a:t>The answer frequently becomes a direct commitment after the session.</a:t>
            </a:r>
          </a:p>
          <a:p/>
          <a:p>
            <a:r>
              <a:rPr lang="en-GB" dirty="0" b="1"/>
              <a:t>6. Bridge to the reflections.</a:t>
            </a:r>
          </a:p>
          <a:p>
            <a:r>
              <a:rPr lang="en-GB" dirty="0"/>
              <a:t>Say: "When any role drops its contribution, the rest cannot fully converge. Collective Intelligence is the combined signal. Two reflections close this section."</a:t>
            </a:r>
          </a:p>
          <a:p/>
          <a:p>
            <a:r>
              <a:rPr lang="en-GB" dirty="0" b="1"/>
              <a:t>ON THE PORTAL, AFTER THE TEACHING:</a:t>
            </a:r>
          </a:p>
          <a:p>
            <a:r>
              <a:rPr lang="en-GB" dirty="0"/>
              <a:t>Participants write the reflection of 4.2 in the participant file:</a:t>
            </a:r>
          </a:p>
          <a:p>
            <a:r>
              <a:rPr lang="en-GB" dirty="0"/>
              <a:t>"What is the most important alignment conversation you need to have next with a closely adjacent role?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4 REFLECTIONS</a:t>
            </a:r>
          </a:p>
          <a:p/>
          <a:p>
            <a:r>
              <a:rPr lang="en-GB" dirty="0" b="1"/>
              <a:t>HOW TO USE THIS SLIDE:</a:t>
            </a:r>
          </a:p>
          <a:p/>
          <a:p>
            <a:r>
              <a:rPr lang="en-GB" dirty="0" b="1"/>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p>
            <a:r>
              <a:rPr lang="en-GB" dirty="0"/>
              <a:t>4.2 Reflection: "What is the most important alignment conversation you need to have next with a closely adjacent role? What would that conversation need to address?"</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p>
            <a:r>
              <a:rPr lang="en-GB" dirty="0" b="1"/>
              <a:t>4. Close Section 4 and bridge to Section 5.</a:t>
            </a:r>
          </a:p>
          <a:p>
            <a:r>
              <a:rPr lang="en-GB" dirty="0"/>
              <a:t>Say: "A leadership team aligns people when its members interpret the strategy together and speak about the change with one voice. In Section 5 each group states the change its strategy requires and the leadership behaviours that will hold it in place."</a:t>
            </a:r>
          </a:p>
          <a:p/>
          <a:p>
            <a:r>
              <a:rPr lang="en-GB" dirty="0" b="1"/>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SECTION 5 · APPLICATION — IN PRACTICE</a:t>
            </a:r>
          </a:p>
          <a:p/>
          <a:p>
            <a:r>
              <a:rPr lang="en-GB" dirty="0"/>
              <a:t>HOW THIS SECTION RUNS:</a:t>
            </a:r>
          </a:p>
          <a:p>
            <a:r>
              <a:rPr lang="en-GB" dirty="0"/>
              <a:t>Step 1 · The 3S Check. Your group states three things for the strategy in your Capstone S2R® Blueprint: the Shift (what is changing), the Stake (what the organisation gains if it changes, and what it loses if it stays as it is) and the Step (what must be done differently). The guide from part 1.3.1 sits beside each box.</a:t>
            </a:r>
          </a:p>
          <a:p/>
          <a:p>
            <a:r>
              <a:rPr lang="en-GB" dirty="0"/>
              <a:t>Step 2 · ACE-IT. Your group reads its team OCEAVL profile and names the two dimensions on which the team carries the highest risk for the strategy, with the response to each. It then states the behaviour it expects from the leadership team under each of the five ACE-IT behaviours: Accountability, Commitment, Engagement, Integrity and Transparency. The guide from part 1.3.4 sits beside each box.</a:t>
            </a:r>
          </a:p>
          <a:p>
            <a:r>
              <a:rPr lang="en-GB" dirty="0"/>
              <a:t>You then select Agree. This is Capstone work, and when every member has agreed, your record feeds your team’s Capstone S2R® Blueprint.</a:t>
            </a:r>
          </a:p>
          <a:p/>
          <a:p>
            <a:r>
              <a:rPr lang="en-GB" dirty="0"/>
              <a:t>SECTION LEARNING OUTCOMES:</a:t>
            </a:r>
          </a:p>
          <a:p>
            <a:r>
              <a:rPr lang="en-GB" dirty="0"/>
              <a:t>1. Develop an approach to landing the strategy that builds understanding, readiness and adoption.</a:t>
            </a:r>
          </a:p>
          <a:p>
            <a:r>
              <a:rPr lang="en-GB" dirty="0"/>
              <a:t>2. Model and reinforce leadership behaviours that strengthen collective strategic alignment.</a:t>
            </a:r>
          </a:p>
          <a:p/>
          <a:p>
            <a:r>
              <a:rPr lang="en-GB" dirty="0"/>
              <a:t>HOW TO OPEN THE SECTION:</a:t>
            </a:r>
          </a:p>
          <a:p/>
          <a:p>
            <a:r>
              <a:rPr lang="en-GB" dirty="0"/>
              <a:t>1. Say what the section does.</a:t>
            </a:r>
          </a:p>
          <a:p>
            <a:r>
              <a:rPr lang="en-GB" dirty="0"/>
              <a:t>Say: "In this section your group builds the case for the change your strategy asks of people.</a:t>
            </a:r>
          </a:p>
          <a:p>
            <a:r>
              <a:rPr lang="en-GB" dirty="0"/>
              <a:t>With the 3S Check you state the change.</a:t>
            </a:r>
          </a:p>
          <a:p>
            <a:r>
              <a:rPr lang="en-GB" dirty="0"/>
              <a:t>With ACE-IT you state the leadership behaviours that will hold it in place."</a:t>
            </a:r>
          </a:p>
          <a:p/>
          <a:p>
            <a:r>
              <a:rPr lang="en-GB" dirty="0"/>
              <a:t>2. Say how the group works.</a:t>
            </a:r>
          </a:p>
          <a:p>
            <a:r>
              <a:rPr lang="en-GB" dirty="0"/>
              <a:t>Say: "Both steps are group work.</a:t>
            </a:r>
          </a:p>
          <a:p>
            <a:r>
              <a:rPr lang="en-GB" dirty="0"/>
              <a:t>Your group agrees each entry.</a:t>
            </a:r>
          </a:p>
          <a:p>
            <a:r>
              <a:rPr lang="en-GB" dirty="0"/>
              <a:t>Your group chooses its scribe for this work.</a:t>
            </a:r>
          </a:p>
          <a:p>
            <a:r>
              <a:rPr lang="en-GB" dirty="0"/>
              <a:t>The entries appear on every member’s page, and each member then selects Agree."</a:t>
            </a:r>
          </a:p>
          <a:p/>
          <a:p>
            <a:r>
              <a:rPr lang="en-GB" dirty="0"/>
              <a:t>3. Say where the work goes.</a:t>
            </a:r>
          </a:p>
          <a:p>
            <a:r>
              <a:rPr lang="en-GB" dirty="0"/>
              <a:t>Say: "This is Capstone work. Your group’s confirmed record feeds your team’s Capstone S2R® Blueprint."</a:t>
            </a:r>
          </a:p>
          <a:p>
            <a:r>
              <a:rPr lang="en-GB" dirty="0"/>
              <a:t>Step 2 needs the team’s OCEAVL profile. Every member completes and submits the assessment in 3.1 first.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5 · STEP 1 — THE 3S CHECK (CAPSTONE WORK)</a:t>
            </a:r>
          </a:p>
          <a:p/>
          <a:p>
            <a:r>
              <a:rPr lang="en-GB" dirty="0" b="1"/>
              <a:t>HOW TO TEACH IT:</a:t>
            </a:r>
          </a:p>
          <a:p>
            <a:r>
              <a:rPr lang="en-GB" dirty="0" b="1"/>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p>
            <a:r>
              <a:rPr lang="en-GB" dirty="0" b="1"/>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p>
            <a:r>
              <a:rPr lang="en-GB" dirty="0" b="1"/>
              <a:t>3. Bridge to Step 2.</a:t>
            </a:r>
          </a:p>
          <a:p>
            <a:r>
              <a:rPr lang="en-GB" dirty="0"/>
              <a:t>Say: "With the change stated, Step 2 names the leadership behaviours that will hold it in place."</a:t>
            </a:r>
          </a:p>
          <a:p/>
          <a:p/>
          <a:p>
            <a:r>
              <a:rPr lang="en-GB" dirty="0" b="1"/>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a:p/>
          <a:p>
            <a:r>
              <a:rPr lang="en-GB" dirty="0" b="1"/>
              <a:t>LATER, WHEN THE GROUPS DO THE WORK ON THE PORTAL:</a:t>
            </a:r>
          </a:p>
          <a:p>
            <a:r>
              <a:rPr lang="en-GB" dirty="0"/>
              <a:t>The group chooses its scribe for this work. The scribe types what the group agrees, and the entries appear on every member’s page.</a:t>
            </a:r>
          </a:p>
          <a:p>
            <a:r>
              <a:rPr lang="en-GB" dirty="0"/>
              <a:t>Guide each group to test each statement against its guide. A statement that could be said of any organisation has not yet been written for this strategy.</a:t>
            </a:r>
          </a:p>
          <a:p>
            <a:r>
              <a:rPr lang="en-GB" dirty="0"/>
              <a:t>The Shift: the group states what stops, what starts, for whom and from when. The Stake: the group states the gain and what the organisation loses if it stays as it is. The Step: each member states their own part in the first person.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SECTION 5 · STEP 2 — ACE-IT (CAPSTONE WORK)</a:t>
            </a:r>
          </a:p>
          <a:p/>
          <a:p>
            <a:r>
              <a:rPr lang="en-GB" dirty="0"/>
              <a:t>HOW TO TEACH IT:</a:t>
            </a:r>
          </a:p>
          <a:p/>
          <a:p>
            <a:r>
              <a:rPr lang="en-GB" dirty="0"/>
              <a:t>1. Open with the team’s OCEAVL profile.</a:t>
            </a:r>
          </a:p>
          <a:p>
            <a:r>
              <a:rPr lang="en-GB" dirty="0"/>
              <a:t>Say: "Your page shows your team’s OCEAVL profile: the team’s level on each dimension, with its risk and its response.</a:t>
            </a:r>
          </a:p>
          <a:p>
            <a:r>
              <a:rPr lang="en-GB" dirty="0"/>
              <a:t>It appears once every member of your team has submitted their scores in part 3.1."</a:t>
            </a:r>
          </a:p>
          <a:p>
            <a:r>
              <a:rPr lang="en-GB" dirty="0"/>
              <a:t>Where a member has not yet submitted, the profile shows how many have. The group completes 3.1 first.</a:t>
            </a:r>
          </a:p>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p>
            <a:r>
              <a:rPr lang="en-GB" dirty="0"/>
              <a:t>2. Name the two highest-risk dimensions.</a:t>
            </a:r>
          </a:p>
          <a:p>
            <a:r>
              <a:rPr lang="en-GB" dirty="0"/>
              <a:t>Say: "From your team’s profile, your group names the two dimensions on which your executive team carries the highest risk for the strategy, and the response your team adopts for each.</a:t>
            </a:r>
          </a:p>
          <a:p>
            <a:r>
              <a:rPr lang="en-GB" dirty="0"/>
              <a:t>The profile gives the risk and the response at your team’s level."</a:t>
            </a:r>
          </a:p>
          <a:p>
            <a:r>
              <a:rPr lang="en-GB" dirty="0"/>
              <a:t>Ask: "Which level in your team’s profile carries the highest risk for this change? Which ACE-IT behaviour answers it?"</a:t>
            </a:r>
          </a:p>
          <a:p/>
          <a:p>
            <a:r>
              <a:rPr lang="en-GB" dirty="0"/>
              <a:t>3. Teach each of the five behaviours with its guide.</a:t>
            </a:r>
          </a:p>
          <a:p>
            <a:r>
              <a:rPr lang="en-GB" dirty="0"/>
              <a:t>The guide beside each box is the lesson of 1.3.4.</a:t>
            </a:r>
          </a:p>
          <a:p>
            <a:r>
              <a:rPr lang="en-GB" dirty="0"/>
              <a:t>Accountability</a:t>
            </a:r>
          </a:p>
          <a:p>
            <a:r>
              <a:rPr lang="en-GB" dirty="0"/>
              <a:t>Definition: Taking full ownership for results. Acknowledging missteps and driving corrective action.</a:t>
            </a:r>
          </a:p>
          <a:p>
            <a:r>
              <a:rPr lang="en-GB" dirty="0"/>
              <a:t>What it does for a new practice: One named person owns the practice and its result.</a:t>
            </a:r>
          </a:p>
          <a:p>
            <a:r>
              <a:rPr lang="en-GB" dirty="0"/>
              <a:t>Observable: Commitments tracked • Reviews end with named owners • “We missed it, here’s the fix” language common</a:t>
            </a:r>
          </a:p>
          <a:p/>
          <a:p>
            <a:r>
              <a:rPr lang="en-GB" dirty="0"/>
              <a:t>Commitment</a:t>
            </a:r>
          </a:p>
          <a:p>
            <a:r>
              <a:rPr lang="en-GB" dirty="0"/>
              <a:t>Definition: Staying anchored to agreed strategic intent even when pressure rises. Following through despite discomfort.</a:t>
            </a:r>
          </a:p>
          <a:p>
            <a:r>
              <a:rPr lang="en-GB" dirty="0"/>
              <a:t>What it does for a new practice: The practice is kept when pressure rises and the old way is quicker.</a:t>
            </a:r>
          </a:p>
          <a:p>
            <a:r>
              <a:rPr lang="en-GB" dirty="0"/>
              <a:t>Observable: Strategic priorities stay consistent • Leaders decline non-strategic work • Promises kept visibly</a:t>
            </a:r>
          </a:p>
          <a:p/>
          <a:p>
            <a:r>
              <a:rPr lang="en-GB" dirty="0"/>
              <a:t>Engagement</a:t>
            </a:r>
          </a:p>
          <a:p>
            <a:r>
              <a:rPr lang="en-GB" dirty="0"/>
              <a:t>Definition: Actively involving self and others in sense-making, dialogue, and execution. Listening to understand.</a:t>
            </a:r>
          </a:p>
          <a:p>
            <a:r>
              <a:rPr lang="en-GB" dirty="0"/>
              <a:t>What it does for a new practice: People talk about how it is going and improve it together.</a:t>
            </a:r>
          </a:p>
          <a:p>
            <a:r>
              <a:rPr lang="en-GB" dirty="0"/>
              <a:t>Observable: Team meetings are two-way • Feedback loops visible • People quote the shared “why”</a:t>
            </a:r>
          </a:p>
          <a:p/>
          <a:p>
            <a:r>
              <a:rPr lang="en-GB" dirty="0"/>
              <a:t>Integrity</a:t>
            </a:r>
          </a:p>
          <a:p>
            <a:r>
              <a:rPr lang="en-GB" dirty="0"/>
              <a:t>Definition: Acting consistently with values, facts, and truth — even when inconvenient. Declaring conflicts of interest early.</a:t>
            </a:r>
          </a:p>
          <a:p>
            <a:r>
              <a:rPr lang="en-GB" dirty="0"/>
              <a:t>What it does for a new practice: Slips are reported as they are, and early.</a:t>
            </a:r>
          </a:p>
          <a:p>
            <a:r>
              <a:rPr lang="en-GB" dirty="0"/>
              <a:t>Observable: Evidence cited before decisions • Values referenced in hard choices • Teams trust word matches deed</a:t>
            </a:r>
          </a:p>
          <a:p/>
          <a:p>
            <a:r>
              <a:rPr lang="en-GB" dirty="0"/>
              <a:t>Transparency</a:t>
            </a:r>
          </a:p>
          <a:p>
            <a:r>
              <a:rPr lang="en-GB" dirty="0"/>
              <a:t>Definition: Making reasoning, progress, and constraints visible to all stakeholders. Sharing challenges openly.</a:t>
            </a:r>
          </a:p>
          <a:p>
            <a:r>
              <a:rPr lang="en-GB" dirty="0"/>
              <a:t>What it does for a new practice: Its results are visible to everyone the change affects.</a:t>
            </a:r>
          </a:p>
          <a:p>
            <a:r>
              <a:rPr lang="en-GB" dirty="0"/>
              <a:t>Observable: Dashboards updated regularly • Decisions logged and accessible • “No surprises” culture evident</a:t>
            </a:r>
          </a:p>
          <a:p/>
          <a:p>
            <a:r>
              <a:rPr lang="en-GB" dirty="0"/>
              <a:t>For each behaviour the group writes: the behaviour we expect from our leadership team.</a:t>
            </a:r>
          </a:p>
          <a:p/>
          <a:p>
            <a:r>
              <a:rPr lang="en-GB" dirty="0"/>
              <a:t>4. Give the example.</a:t>
            </a:r>
          </a:p>
          <a:p/>
          <a:p>
            <a:r>
              <a:rPr lang="en-GB" dirty="0"/>
              <a:t>EXAMPLE</a:t>
            </a:r>
          </a:p>
          <a:p>
            <a:r>
              <a:rPr lang="en-GB" dirty="0"/>
              <a:t>The team’s level on Agreeableness is High.</a:t>
            </a:r>
          </a:p>
          <a:p>
            <a:r>
              <a:rPr lang="en-GB" dirty="0"/>
              <a:t>Risk: Agreement given without genuine commitment; team over-commits; resentment builds beneath surface harmony.</a:t>
            </a:r>
          </a:p>
          <a:p>
            <a:r>
              <a:rPr lang="en-GB" dirty="0"/>
              <a:t>Expected behaviour under Commitment: “Each of us states our capacity before we accept new work for this change.”</a:t>
            </a:r>
          </a:p>
          <a:p/>
          <a:p>
            <a:r>
              <a:rPr lang="en-GB" dirty="0" b="1"/>
              <a:t>5. Bridge to the Unit Summary.</a:t>
            </a:r>
          </a:p>
          <a:p>
            <a:r>
              <a:rPr lang="en-GB" dirty="0"/>
              <a:t>Say: "With the change and the behaviours stated, we close the unit."</a:t>
            </a:r>
          </a:p>
          <a:p/>
          <a:p>
            <a:r>
              <a:rPr lang="en-GB" dirty="0" b="1"/>
              <a:t>LATER, WHEN THE GROUPS DO THE WORK ON THE PORTAL:</a:t>
            </a:r>
          </a:p>
          <a:p>
            <a:r>
              <a:rPr lang="en-GB" dirty="0"/>
              <a:t>The group opens with its team OCEAVL profile. Where a member has not yet submitted, the profile shows how many have; that member completes 3.1 first.</a:t>
            </a:r>
          </a:p>
          <a:p>
            <a:r>
              <a:rPr lang="en-GB" dirty="0"/>
              <a:t>Each behaviour: the group writes what a colleague would see the leadership team do. A value such as “we will be accountable” becomes a behaviour once it is stated that way.</a:t>
            </a:r>
          </a:p>
          <a:p>
            <a:r>
              <a:rPr lang="en-GB" dirty="0"/>
              <a:t>Whose behaviour: the five boxes hold the leadership team’s own behaviour.</a:t>
            </a:r>
          </a:p>
          <a:p/>
          <a:p>
            <a:r>
              <a:rPr lang="en-GB" dirty="0"/>
              <a:t>ON THE PORTAL, AFTER THE TEACHING:</a:t>
            </a:r>
          </a:p>
          <a:p>
            <a:r>
              <a:rPr lang="en-GB" dirty="0"/>
              <a:t>Participants work as a group in Step 2 of Section 5 of the participant file. This is Capstone work.</a:t>
            </a:r>
          </a:p>
          <a:p>
            <a:r>
              <a:rPr lang="en-GB" dirty="0"/>
              <a:t>1. The group reads its team OCEAVL profile, shown on each page once every member of the team has submitted their scores in part 3.1.</a:t>
            </a:r>
          </a:p>
          <a:p>
            <a:r>
              <a:rPr lang="en-GB" dirty="0"/>
              <a:t>2. The group names the two dimensions on which its executive team carries the highest risk for the strategy, and the response it adopts for each.</a:t>
            </a:r>
          </a:p>
          <a:p>
            <a:r>
              <a:rPr lang="en-GB" dirty="0"/>
              <a:t>3. The group reads the guide in each card. It is the lesson from part 1.3.4.</a:t>
            </a:r>
          </a:p>
          <a:p>
            <a:r>
              <a:rPr lang="en-GB" dirty="0"/>
              <a:t>4. For each behaviour, the group agrees what it expects to see the leadership team do so that the change in Step 1 holds. Where the team’s level carries a risk for this change, the group states the behaviour that answers it.</a:t>
            </a:r>
          </a:p>
          <a:p>
            <a:r>
              <a:rPr lang="en-GB" dirty="0"/>
              <a:t>5. Each participant reads the record and selects Agree. Print gives a copy of the record.</a:t>
            </a:r>
          </a:p>
          <a:p/>
          <a:p>
            <a:r>
              <a:rPr lang="en-GB" dirty="0" b="1"/>
              <a:t>WHERE THE RECORD GOES:</a:t>
            </a:r>
          </a:p>
          <a:p>
            <a:r>
              <a:rPr lang="en-GB" dirty="0"/>
              <a:t>The agreed record feeds boxes 5A to 5C of the team’s Capstone S2R® Blueprint: the two highest-risk dimensions in 5A,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UNIT SUMMARY (UNIT 5 SYNTHESIS)</a:t>
            </a:r>
          </a:p>
          <a:p/>
          <a:p>
            <a:r>
              <a:rPr lang="en-GB" dirty="0"/>
              <a:t>HOW TO TEACH IT:</a:t>
            </a:r>
          </a:p>
          <a:p/>
          <a:p>
            <a:r>
              <a:rPr lang="en-GB"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the leadership team leads change with one voice through four commitments. Each CXO role brings a Converging Zone Contribution and carries an Alignment Hot Zone.</a:t>
            </a:r>
          </a:p>
          <a:p>
            <a:r>
              <a:rPr lang="en-GB" dirty="0"/>
              <a:t>- 5 · Application: each group states its Shift, Stake and Step for the strategy, reads its team OCEAVL profile, names its two highest-risk dimensions with the response to each, and states the ACE-IT behaviours it expects from the leadership team.</a:t>
            </a:r>
          </a:p>
          <a:p>
            <a:r>
              <a:rPr lang="en-GB" dirty="0"/>
              <a:t>- Across the unit: a change is adopted when it passes the 4 Checks of Mind, Heart, Hands and Habit. The leader’s job is to explain, involve, equip and reinforce until it passes all four.</a:t>
            </a:r>
          </a:p>
          <a:p/>
          <a:p>
            <a:r>
              <a:rPr lang="en-GB" dirty="0"/>
              <a:t>2. Ask the closing question on the slide.</a:t>
            </a:r>
          </a:p>
          <a:p>
            <a:r>
              <a:rPr lang="en-GB" dirty="0"/>
              <a:t>Ask: "Which ACE-IT behaviour in your record will be hardest for this leadership team to show, and what in the team’s OCEAVL profile makes it so?"</a:t>
            </a:r>
          </a:p>
          <a:p>
            <a:r>
              <a:rPr lang="en-GB" dirty="0"/>
              <a:t>Take an answer from each group.</a:t>
            </a:r>
          </a:p>
          <a:p/>
          <a:p>
            <a:r>
              <a:rPr lang="en-GB" dirty="0"/>
              <a:t>3. Close the unit.</a:t>
            </a:r>
          </a:p>
          <a:p>
            <a:r>
              <a:rPr lang="en-GB" dirty="0"/>
              <a:t>Say: "Aligned hearts and minds turn a strategy from a document the organisation has read into a direction the organisation is willing to move on."</a:t>
            </a:r>
          </a:p>
          <a:p>
            <a:r>
              <a:rPr lang="en-GB" dirty="0"/>
              <a:t>Say: "Each group has stated the change and the leadership behaviours that will hold it in place."</a:t>
            </a:r>
          </a:p>
          <a:p/>
          <a:p>
            <a:r>
              <a:rPr lang="en-GB" dirty="0" b="1"/>
              <a:t>4. Bridge to Unit 6.</a:t>
            </a:r>
          </a:p>
          <a:p>
            <a:r>
              <a:rPr lang="en-GB" dirty="0"/>
              <a:t>Say: "Unit 6 builds the system that connects enterprise results to the contributions of people and the conditions the organisation provides."</a:t>
            </a:r>
          </a:p>
          <a:p/>
          <a:p/>
          <a:p>
            <a:r>
              <a:rPr lang="en-GB" dirty="0"/>
              <a:t>ON THE PORTAL, AFTER THE TEACHING:</a:t>
            </a:r>
          </a:p>
          <a:p>
            <a:r>
              <a:rPr lang="en-GB" dirty="0"/>
              <a:t>Participants complete every part of the participant file: the thirteen reflections, the OCEAVL Assessment and the group’s record in Section 5. When the page is complete, each participant submits the unit to the facilitator from the end of Section 5.</a:t>
            </a:r>
          </a:p>
          <a:p/>
          <a:p>
            <a:r>
              <a:rPr lang="en-GB" dirty="0"/>
              <a:t>AFTER THE SESSION:</a:t>
            </a:r>
          </a:p>
          <a:p>
            <a:r>
              <a:rPr lang="en-GB" dirty="0"/>
              <a:t>Each submission reaches you in the facilitator dashboard.</a:t>
            </a:r>
          </a:p>
          <a:p>
            <a:r>
              <a:rPr lang="en-GB" dirty="0"/>
              <a:t>Each member’s OCEAVL scores feed the team’s profile in the Capstone S2R® Blueprint. The group’s agreed record feeds boxes 5A to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Diagnose and mitigate distortions in strategic interpretation caused by expertise, personality, bias and emotion.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Assess and strengthen the human conditions required for sustained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strategic change by addressing readiness, resistance and behavioural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expertise, cognitive bias and emotion affect strategic understanding and intervene to reduce distortion.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behavioural and support conditions needed for people to adopt strategic change.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7498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7498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74980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74980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371600"/>
            <a:ext cx="9921240" cy="1059836"/>
          </a:xfrm>
          <a:prstGeom prst="rect">
            <a:avLst/>
          </a:prstGeom>
        </p:spPr>
      </p:pic>
      <p:sp>
        <p:nvSpPr>
          <p:cNvPr id="4" name="Part 1.3.1"/>
          <p:cNvSpPr/>
          <p:nvPr/>
        </p:nvSpPr>
        <p:spPr>
          <a:xfrm>
            <a:off x="548640" y="14671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670048"/>
            <a:ext cx="9921240" cy="1059836"/>
          </a:xfrm>
          <a:prstGeom prst="rect">
            <a:avLst/>
          </a:prstGeom>
        </p:spPr>
      </p:pic>
      <p:sp>
        <p:nvSpPr>
          <p:cNvPr id="6" name="Part 1.3.2"/>
          <p:cNvSpPr/>
          <p:nvPr/>
        </p:nvSpPr>
        <p:spPr>
          <a:xfrm>
            <a:off x="548640" y="2765626"/>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3968496"/>
            <a:ext cx="9921240" cy="1059836"/>
          </a:xfrm>
          <a:prstGeom prst="rect">
            <a:avLst/>
          </a:prstGeom>
        </p:spPr>
      </p:pic>
      <p:sp>
        <p:nvSpPr>
          <p:cNvPr id="8" name="Part 1.3.3"/>
          <p:cNvSpPr/>
          <p:nvPr/>
        </p:nvSpPr>
        <p:spPr>
          <a:xfrm>
            <a:off x="548640" y="406407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266944"/>
            <a:ext cx="9921240" cy="1251195"/>
          </a:xfrm>
          <a:prstGeom prst="rect">
            <a:avLst/>
          </a:prstGeom>
        </p:spPr>
      </p:pic>
      <p:sp>
        <p:nvSpPr>
          <p:cNvPr id="10" name="Part 1.3.4"/>
          <p:cNvSpPr/>
          <p:nvPr/>
        </p:nvSpPr>
        <p:spPr>
          <a:xfrm>
            <a:off x="548640" y="545820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shared understanding and commitment that translate strategy into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compliance from genuine adoption and strengthen commitment to change.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emerging misalignment across interpretation, emotional climate and behaviour and respond early.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change readiness and tailor leadership responses to adoption barriers.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leadership interpretations into one coherent enterprise message.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role-alignment gaps and competing change demands that threaten enterprise coherence.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713232"/>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713232"/>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713232"/>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713232"/>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417320"/>
            <a:ext cx="4688737" cy="5303520"/>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7284151" y="1417320"/>
            <a:ext cx="4356160" cy="530352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9" name="Reflection 4.2" descr="image.png"/>
          <p:cNvPicPr>
            <a:picLocks noChangeAspect="1"/>
          </p:cNvPicPr>
          <p:nvPr/>
        </p:nvPicPr>
        <p:blipFill>
          <a:blip r:embed="rId5"/>
          <a:stretch>
            <a:fillRect/>
          </a:stretch>
        </p:blipFill>
        <p:spPr>
          <a:xfrm>
            <a:off x="1691640" y="2888770"/>
            <a:ext cx="9921240" cy="1066035"/>
          </a:xfrm>
          <a:prstGeom prst="rect">
            <a:avLst/>
          </a:prstGeom>
        </p:spPr>
      </p:pic>
      <p:sp>
        <p:nvSpPr>
          <p:cNvPr id="6" name="Part 4.2"/>
          <p:cNvSpPr/>
          <p:nvPr/>
        </p:nvSpPr>
        <p:spPr>
          <a:xfrm>
            <a:off x="548640" y="298744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Develop an approach to landing the strategy that builds understanding, readiness and adoption.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Model and reinforce leadership behaviours that strengthen collective strategic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S2R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First name your two highest-risk dimensions. Then state the behaviour that answers each risk.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20905</Words>
  <Application>Microsoft Office PowerPoint</Application>
  <PresentationFormat>Widescreen</PresentationFormat>
  <Paragraphs>1729</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2026-10-09T12:29:32Z</dcterms:modified>
</cp:coreProperties>
</file>