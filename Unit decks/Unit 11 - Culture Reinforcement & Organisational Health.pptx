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11 · CULTURE REINFORCEMENT &amp; ORGANISATIONAL HEALTH
Module 4 · Grounding · Unit 11
HOW TO TEACH IT:
1. Place the unit in the Grounding module.
Say: "Grounding establishes the organisational capabilities and healthy operating status required to anchor and sustain strategic performance. It considers how the enterprise is configured to deliver results, the organisational health that sustains performance, and how both are leveraged over time."
Say: "In Unit 10 we worked on ESRG Alignment: the organisational operating environment. This unit turns to culture. Unit 12, Sustaining Performance, then leverages both to sustain high performance."
2. State the intent of the unit.
Say: "In this unit you develop the capability to assess how organisational values become lived culture, and how that culture shapes organisational health. Then you establish the practices required to reinforce healthy organisational behaviour."
3. Name the progression you will hold throughout.
Say: "Keep one progression in front of you for the whole unit. Values establish behavioural principles. Culture reflects how these principles are lived. Organisational health reflects the resulting collective condition."
Use participants' own organisations as the reference points throughout the unit.
4. Set the expectation for the Capstone.
Say: "Everything you build in Section 5 goes into your team's Capstone S2R® Blueprint. The executive team presentation takes place only at the final programme panel assessment."
5. Open with the question the unit answers.
Ask: "Think of the best team environment you have ever been part of. What made it feel different?"
Take two or three answers. Listen for: openness, clarity, people who cared, people who stayed.
Deepen, say: "Culture is the accumulated experience people have of how the organisation actually works. Conduct, order and service reveal more than formal declarations."
(Insight: Culture as experience. Source: Journal, 16 July 2026 — Professional Insights: Culture)
6. Bridge to the outcomes.
Say: "By the end of this unit you will be able to read that difference with evidence, price what its absence costs, and build the norms that carry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LEARNING OUTCOMES
HOW TO TEACH IT:
1. Read the two outcomes aloud.
Say: "This unit has two Key learning outcomes."
Read outcome 1: "Diagnose organisational health by evaluating how organisational values and cultural norms influence collective behaviour and strategic performance."
Read outcome 2: "Shape and reinforce organisational culture by establishing behavioural standards and embedding cultural operating norms that strengthen organisational health."
2. Link the outcomes to the module.
Say: "These two outcomes serve the second Grounding outcome of the module: shape organisational culture by establishing and embedding the conditions and practices that strengthen organisational health."
Say: "Unit 10 configured the operating conditions. This unit shapes the culture. Unit 12 integrates both and institutionalises their sustainability."
3. Show where each outcome is built.
Say: "Outcome 1, diagnosis, is built in Sections 1 to 3: what organisational health is, why it decides execution performance, and where its signals show. Outcome 2, shaping culture, is built in Sections 4 and 5: the Cross-CXO Health Architecture, the Cultural Operating Code, and the Health Clinic your group completes for the Capstone."
4. Bridge to the unit journey.
Say: "Here is how the five sections take us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 JOURNEY
HOW TO TEACH IT:
1. Walk the five sections in order.
Say: "Section 1, Awareness, asks what: organisational values, culture and health; the Cultural Operating Code; the Five Observable Health Traits; and the Organisational Health Pyramid."
Say: "Section 2, Intelligence, asks why: organisational health as a performance multiplier, execution velocity, the price of poor health, and health and sustained performance."
Say: "Section 3, Extrapolating, asks where: the organisational health signals and the thermometer, CXO functional bias and debiasing, and your personal health profile."
Say: "Section 4, Integration, is collective: the Cross-CXO Health Architecture, which covers the thermometer, functional scores, loss quantification and the enterprise position, then the move from values to a Cultural Operating Code, and an individual reflection."
Say: "Section 5, Application, is in practice: the Cross-CXO Organisational Health Clinic. Your group works through functional assessments, consolidation, Review–Realign–Restore, the Organisational Health Response and your group's Cultural Operating Code."
2. Name the thread.
Say: "Each section moves one step along the same line: from what we stand for, to how we behave, to the condition that results, to what that condition costs, to what leaders do about it."
3. Bridge to Section 1.
Say: "We begin with values: what an organisation stands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 AWARENESS — WHAT
Values, Culture &amp; Organisational Health
HOW THIS SECTION RUNS:
Three parts in order: 1.1 Organisational Values (what we stand for), 1.2 Organisational Culture (how we do things, and the Cultural Operating Code), 1.3 Organisational Health (the resulting condition: the Five Observable Health Traits, the Organisational Health Pyramid, and how the two connect). The section closes with its Closing Insight and the transition to Section 2.
SECTION LEARNING OUTCOMES:
1. Evaluate how organisational values translate into cultural norms and practices that shape organisational health.
2. Diagnose organisational health strengths and vulnerabilities across observable behaviour and its underlying conditions.
HOW TO OPEN THE SECTION:
1. Frame the section.
Say: "This section looks at how organisational values become lived culture, and how that culture shows in the condition of organisational health."
2. Read the outcomes.
Read both section learning outcomes aloud.
3. Bridge to 1.1.
Say: "Every culture starts from what the organisation says it stands for. Let us begin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1.1A — ORGANISATIONAL VALUES: WHAT WE STAND FOR
HOW TO TEACH IT:
1. Define organisational values.
Say: "Organisational values are the fundamental principles that guide how an organisation conducts itself in pursuit of its purpose and strategic objectives. They establish the standards of behaviour expected of leaders and employees, influencing how people are treated, responsibilities are fulfilled and performance is achieved."
2. Teach the first purpose.
Point to the left card.
Say: "Values establish behavioural expectations. They define the standards of conduct expected across the organisation. They guide how people interact, exercise authority, fulfil responsibilities and collaborate in delivering strategic priorities."
3. Teach the second purpose.
Point to the right card.
Say: "Values provide a basis for accountability. They establish the principles against which organisational conduct can be assessed. They enable leaders to evaluate how results are achieved, alongside the results themselves."
Deepen, say: "Organisations that make commercial success the primary culture signal produce cultures where ethical shortcuts become routine whenever they pay. Value clarity must come before commercial pressure."
(Insight: Values before commercial pressure. Source: Journal, 16 January 2026 — Professional Insights: Culture)
4. Test the room.
Ask: "In your organisation, when a result is delivered, how often is the way it was achieved assessed as well?"
Listen for: reviews that look only at the number; values that appear on walls and in induction packs and are absent from performance conversations.
5. Bridge to 1.1b.
Say: "A value can only guide conduct when people can see what it looks like in behaviour. That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1.1B — TRANSLATING VALUES INTO BEHAVIOURAL STANDARDS
HOW TO TEACH IT:
1. State the principle.
Say: "For values to influence organisational conduct, they must be expressed through observable behaviours."
2. Walk the table row by row.
Say: "Integrity: act honestly, communicate transparently and uphold ethical commitments."
Say: "Accountability: take ownership of responsibilities, honour commitments and report progress accurately."
Say: "Respect: treat others fairly, listen constructively and recognise different perspectives."
Say: "Excellence: maintain high standards, address performance gaps and pursue continuous improvement."
Say: "Collaboration: share information, coordinate efforts and contribute to collective outcomes."
3. Name the limit of standards.
Say: "These behavioural standards clarify what organisational values mean in practice. However, the existence of values and behavioural standards does not guarantee their consistent application."
Say: "Their influence depends on whether leaders and employees repeatedly demonstrate, reinforce and uphold them through everyday organisational practices. It is through this consistent application that organisational values become embedded in organisational culture."
Deepen, say: "People cannot live by standards they have never understood. Repeated teaching creates a common language through which behaviour can be interpreted and corrected, and culture becomes credible when declared beliefs are visible in everyday behaviour."
(Insight: Culture is formed deliberately. Source: Journal, 19 July 2026 — Professional Insights: Culture)
4. Ask about their own values.
Ask: "Take one of your organisation's stated values. Could you describe the behaviour that proves it as clearly as these rows do?"
Listen for: values stated as single words with no behaviour attached; standards that differ from manager to manager.
5. Bridge to 1.2.
Say: "When behaviours are repeated, they become culture. That is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ORGANISATIONAL CULTURE: HOW WE DO THINGS
HOW TO TEACH IT:
1. Define culture.
Point to the left column.
Say: "Organisational culture is the system of shared behavioural norms that determines how people conduct themselves and work together. Culture develops as organisational values are translated into behavioural expectations and repeatedly demonstrated through everyday interactions and ways of working."
Say: "Over time, these behaviours become accepted as 'the way we do things around here'. The organisation's actual culture therefore reflects the behaviours that have become normal, regardless of its stated values."
Deepen, say: "Cultural drift happens through a series of small, unchallenged accommodations: what is tolerated becomes normal. By the time the values have shifted, no one can point to the moment it happened."
(Insight: Drift by toleration. Source: Journal, 16 April 2026 — Professional Insights: Culture)
2. Introduce the Cultural Operating Code.
Point to the right column.
Say: "The deliberate translation of organisational values into shared cultural norms forms the foundation of a Cultural Operating Code, which establishes how organisational values are consistently lived and reinforced."
Say: "A Cultural Operating Code makes explicit the behavioural expectations that govern how people work together, exercise accountability, communicate and contribute to organisational priorities."
Say: "When consistently practised and reinforced, these norms become embedded in the organisation's culture. The culture established through these shared norms and everyday practices determines how organisational values are experienced and reflected in organisational health."
Say: "You will see a full worked Code in Section 4, part 4.7, and your group builds its own in Section 5."
3. Test the gap between stated and actual.
Ask: "Which behaviour has become normal in your organisation that none of your stated values would endorse?"
Listen for: late meetings that start without consequence, silence in reviews, decisions reopened after they are made.
Deepen, say: "A team's actual culture is what it produces consistently: the quality of the work, the way conflict is handled, the speed of follow-through and the treatment of junior staff."
(Insight: The fruit test. Source: Journal, 27 April 2026 — Professional Insights: Culture)
4. Bridge to 1.3.
Say: "If culture is how we do things, organisational health is the condition that results. That is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1.3A — ORGANISATIONAL HEALTH AND THE FIVE OBSERVABLE HEALTH TRAITS
HOW TO TEACH IT:
1. Define organisational health.
Say: "Organisational health reflects how effectively organisational values are lived out within the culture that has been established. It is evident in the quality of collective working relationships, clarity of expectations, employee commitment, accountability and the organisation's ability to function effectively in pursuit of strategic objectives."
Say: "Patrick Lencioni describes a healthy organisation as one that is whole, consistent and complete, with its management, operations, strategy and culture working together coherently. Within Strategy2Results®, organisational health provides an indication of how effectively organisational values have become embedded in the culture experienced by employees."
2. Introduce the traits.
Say: "The Five Observable Health Traits provide visible indicators of the condition of organisational health."
3. Walk the five traits.
Say: "Minimal Politics: employees collaborate openly, with limited personal agendas, territorial behaviour and internal competition."
Deepen, say: "Most grievances in a senior team have been aired in three corridor conversations before they reach the colleague concerned. Have the conversation with the colleague first, quietly and directly."
(Insight: Trait 1 · Minimal Politics. Source: Journal, 7 May 2026 — Professional Insights: Leadership)
Say: "Minimal Confusion: people understand organisational direction, priorities, responsibilities and performance expectations."
Deepen, say: "When the stakes are high, role clarity becomes a survival requirement: no overlapping mandates and no ambiguous accountabilities."
(Insight: Trait 2 · Minimal Confusion. Source: Journal, 2 March 2026 — Professional Insights)
Say: "High Morale: employees demonstrate commitment, motivation and confidence in their working environment."
Say: "High Productivity: collective effort is coordinated effectively and translates into meaningful performance outcomes."
Say: "Low Turnover: the organisation retains capable employees through a working environment that supports commitment and contribution."
4. Name what the traits are.
Say: "These traits describe what organisational health looks like when it is strong. However, the traits are only the visible surface of organisational health. To understand how they are produced, we examine the underlying conditions through the Organisational Health Pyramid."
5. Bridge to 1.3b.
Say: "Let us look beneath the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1.3B — THE ORGANISATIONAL HEALTH PYRAMID
HOW TO TEACH IT:
1. Explain what the pyramid shows.
Say: "The Organisational Health Pyramid explains how organisational health develops from the inside outward. It illustrates how trust influences employees' experiences, how those experiences shape beliefs, how beliefs influence actions and how actions produce organisational results: Trust, Experiences, Beliefs, Actions, Results."
2. Trust: the foundation.
Say: "Trust forms the foundation of organisational health. It develops through consistent leadership behaviour, including keeping commitments, communicating transparently, acknowledging mistakes and treating people fairly. When trust is established, employees develop confidence in their leaders and colleagues. They become more willing to communicate openly, raise concerns and contribute to collective objectives."
Say: "Leadership implication: organisational health begins with the trust established through consistent leadership conduct."
Deepen, say: "The leader who keeps commitments that carry no external enforcement builds the trust that survives pressure. People watch what you do with the obligations you could quietly drop."
(Insight: Trust · the foundation. Source: Journal, 27 May 2026 — Professional Insights: Leadership)
3. Experiences: shaped by trust.
Say: "Employees experience organisational culture through everyday interactions, meetings, performance conversations, leadership decisions and recognition practices. These experiences communicate what the organisation genuinely values and the behaviours it considers acceptable. For example, the way leaders respond to mistakes influences whether employees experience the organisation as supportive of learning or inclined towards blame."
Say: "Leadership implication: everyday organisational experiences reinforce or weaken the values leadership seeks to establish."
Deepen, say: "Collective behaviour follows the signals communicated by those in authority. Once people learn that honest correction attracts punishment, silence becomes a survival mechanism."
(Insight: Signals from authority. Source: Journal, 21 July 2026 — Professional Insights: Culture)
4. Beliefs: formed by experiences.
Say: "Through repeated experiences, employees develop beliefs about how the organisation operates. They form assumptions about whether leaders listen, whether commitments matter, whether effort is recognised and whether honest communication is encouraged. Over time, these beliefs influence how employees interpret organisational expectations and their own responsibilities."
Say: "Leadership implication: repeated organisational experiences establish the beliefs that influence collective behaviour."
5. Actions: driven by beliefs.
Say: "Employees' beliefs influence how they behave and contribute to organisational performance. When employees believe their contributions are valued, they are more likely to share ideas, collaborate and take initiative. When they believe accountability is consistently reinforced, they are more likely to take ownership of responsibilities and honour commitments."
Say: "Leadership implication: the beliefs established through organisational culture influence the behaviours employees demonstrate."
Deepen, say: "Sustainable correction happens when the underlying logic changes. Ask what people are doing, and also: what belief is making this behaviour seem reasonable?"
(Insight: The belief beneath the behaviour. Source: Journal, 28 September 2026 — Professional Insights: Leadership)
6. Results: the visible traits.
Say: "The actions employees consistently demonstrate produce collective organisational outcomes. These outcomes become visible through the Five Observable Health Traits: Minimal Politics, Minimal Confusion, High Morale, High Productivity and Low Turnover. At the apex of the pyramid, organisational results reflect the cumulative influence of trust, experiences, beliefs and actions. A commitment to continuous improvement helps sustain these results as the organisation evolves."
Say: "Leadership implication: the visible condition of organisational health reflects the underlying cultural experiences and behaviours established throughout the organisation."
7. Ask for an example.
Ask: "Think of one experience in your organisation in the last month, such as how a mistake was handled. What belief would it have taught the people who saw it?"
Listen for: the link from a single leadership response to a belief, and from the belief to what people now do.
8. Bridge to 1.3c.
Say: "Now we put the traits and the pyramid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1.3C — CONNECTING THE FIVE TRAITS AND THE PYRAMID
HOW TO TEACH IT:
1. Contrast what each tool does.
Point to the left column.
Say: "The Five Observable Health Traits describe what we see. They indicate the visible condition of organisational health."
Point to the right column.
Say: "The Organisational Health Pyramid explains how that condition develops. It examines the underlying trust, experiences, beliefs and actions that influence organisational results."
2. Show how health deteriorates.
Point to the band.
Say: "When trust deteriorates, employees' experiences may create scepticism, their beliefs may become defensive and their actions may shift towards self-protection. Over time, these patterns can weaken the visible traits of organisational health."
Deepen, say: "A promise to recognise, promote or advocate for someone that is never kept is one of the most damaging trust events in an organisation. Cultures that forget the promises made in high moments breed a cynicism that is hard to reverse."
(Insight: Broken promises. Source: Journal, 25 January 2026 — Professional Insights: Culture)
3. Draw the leadership conclusion.
Say: "Strengthening organisational health therefore requires leadership attention to the underlying cultural conditions that shape everyday employee experiences."
4. Close the section with the Closing Insight.
Say: "Values establish the principles that guide organisational behaviour. Culture reflects how those principles become established ways of working. Organisational health reveals how effectively those values are lived through the culture that has developed."
5. Bridge to Section 2.
Say: "Section 2 examines why organisational health determines execution performance: how it multiplies execution capability, what poor health costs the enterprise and how it sustains performance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 INTELLIGENCE — WHY
Why Organisational Health Determines Execution Performance
HOW THIS SECTION RUNS:
Five parts in order: 2.1 Organisational Health as a Performance Multiplier, 2.2 Organisational Health and Execution Velocity, 2.3 The Price of Poor Organisational Health (with the illustrative annual costs), 2.4 Organisational Health and Sustained Performance, and 2.5 Executive Reflection. The section closes with its Closing Insight and the transition to Section 3.
SECTION LEARNING OUTCOMES:
1. Determine how organisational health can be leveraged to strengthen strategy execution capability and sustain enterprise performance.
2. Quantify the enterprise cost of poor organisational health to direct leadership attention to its performance implications.
HOW TO OPEN THE SECTION:
1. Frame the section.
Say: "This section looks at how organisational health multiplies execution capability, what poor health costs the enterprise, and how health sustains performance over time."
2. Read the outcomes.
Read both section learning outcomes aloud. Point out that the second asks you to put a number on poor health.
3. Bridge to 2.1.
Say: "We start with the multiplier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 ORGANISATIONAL HEALTH AS A PERFORMANCE MULTIPLIER
HOW TO TEACH IT:
1. State the claim.
Say: "Organisational health influences how effectively an organisation converts its strategic intentions into results. An organisation may have clear priorities, capable employees and established performance systems, yet their effectiveness depends partly on the culture through which people work together."
Say: "When organisational health is strong, people collaborate, fulfil commitments, address problems early and focus on collective priorities. When it deteriorates, mistrust, confusion, internal competition and disengagement can reduce the effectiveness of otherwise sound strategic systems."
2. Walk the multiplier effect.
Say: "Organisational health acts as a multiplier of strategy execution capability. It influences the effectiveness of existing capabilities."
Say: "Strategic Direction: shared commitment strengthens alignment around organisational priorities."
Say: "Execution Accountability: trust and ownership support consistent delivery of commitments."
Say: "Performance Management: openness enables constructive performance conversations and corrective action."
Say: "Enterprise Collaboration: shared responsibility strengthens coordination across organisational functions."
Say: "Organisational Adaptability: confidence and collective commitment support responsiveness to changing conditions."
3. Connect to the programme.
Say: "Each of these capabilities was built earlier in the programme: direction in Module 2, accountability and performance management in Module 3. Health decides how much of that work converts into results."
4. Give the key insight.
Say: "Key insight: the effectiveness of a strategy depends partly on the organisational health of the people and teams responsible for delivering it."
Ask: "Which of these five capabilities is weakest in your organisation because of how people work together, while the system itself is sound?"
Listen for: performance reviews that exist and produce no corrective action; strategies that are clear on paper and contested in practice.
5. Bridge to 2.2.
Say: "Health also changes the speed at which strategy moves. That is execution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 ORGANISATIONAL HEALTH AND EXECUTION VELOCITY
HOW TO TEACH IT:
1. Define execution velocity.
Say: "Execution velocity refers to an organisation's ability to convert strategic priorities into coordinated action and sustained results. Organisational health influences this velocity through the quality of collaboration, communication, accountability and collective commitment."
2. Walk the five conditions.
Say: "In a healthy organisation, performance concerns are raised and addressed early; decisions and commitments are followed through; information moves effectively across organisational functions; teams coordinate their contributions towards shared priorities; and employees remain engaged in delivering organisational objectives."
Say: "These conditions reduce unnecessary friction and support consistent performance momentum."
Deepen, say: "In some organisations people say what is safe, meetings perform consensus and difficult feedback never reaches the leader. Test one regular forum: if something were wrong with the strategy, would anyone in the room say so?"
(Insight: Does truth travel? Source: Journal, 5 May 2026 — Professional Insights: Culture)
3. Tell the two-organisation story.
Say: "Consider two organisations implementing similar strategic priorities. Both have established objectives, KPIs, execution plans and review mechanisms. In the first, leaders encourage open reporting, departments coordinate their contributions and employees take ownership of commitments. In the second, employees avoid difficult conversations, departments protect their own interests and performance reviews become defensive."
Say: "Although both organisations have similar execution systems, their ability to convert those systems into results may differ significantly. The difference lies partly in the organisational health supporting execution."
4. Ask which organisation they lead.
Ask: "Which of the two organisations is closer to yours, and where do you feel the friction most?"
Listen for: concerns raised late, decisions that are not followed through, information held inside functions.
5. Give the strategic implication and bridge.
Say: "Strategic implication: as organisational health deteriorates, execution friction increases and performance momentum becomes more difficult to sustain."
Say: "That friction has a price. Let us put a number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2.3A — THE PRICE OF POOR ORGANISATIONAL HEALTH
HOW TO TEACH IT:
1. Explain why the costs stay hidden.
Say: "Poor organisational health creates costs that are often overlooked because they do not appear as separate items in financial or performance reports. These costs accumulate through everyday organisational practices and eventually affect enterprise performance."
2. Lost Time.
Say: "Lost Time shows as repeated work, unclear communication, unnecessary meetings and unresolved disagreements. The consequence is reduced productivity and slower execution."
3. Employee Disengagement.
Say: "Employee Disengagement shows as reduced initiative, limited discretionary effort and withdrawal from collective responsibilities. The consequence is lower contribution and weakened performance momentum."
Deepen, say: "The common response to a threat from within is suppression. Ask what created the conditions for it, and talk with someone whose quiet disengagement has been ignored."
(Insight: Quiet disengagement. Source: Journal, 10 June 2026 — Professional Insights: Leadership)
4. Declining Trust.
Say: "Declining Trust shows as defensive communication, withholding information and protection of departmental interests. The consequence is reduced collaboration and slower problem resolution."
5. Emotional Fatigue.
Say: "Emotional Fatigue shows as persistent frustration, uncertainty, interpersonal tension and self-protective behaviour. The consequence is reduced morale, commitment and employee effectiveness."
Deepen, say: "Organisations that run in constant urgency, with no predictable rhythms or recovery seasons, produce people who are always bracing for impact. Rhythm gives people the structure to plan, rest and work."
(Insight: Emotional fatigue. Source: Journal, 8 January 2026 — Professional Insights: Culture)
6. Talent Loss.
Say: "Talent Loss: capable employees leave environments characterised by poor leadership practices and unhealthy working relationships. The consequence is loss of institutional knowledge, capability and continuity."
Deepen, say: "The loudest, most senior or most publicly celebrated contributors are not necessarily the most critical. Leaders need to understand where indispensable capability actually sits within the system."
(Insight: Where capability sits. Source: Journal, 9 September 2026 — Professional Insights: Leadership)
7. Ask where they see it.
Ask: "Which of these five costs is most visible in your organisation right now?"
8. Bridge to 2.3b.
Say: "Seen one at a time, these costs look small. Now we add them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2.3B — HOW THE HIDDEN COSTS ACCUMULATE
HOW TO TEACH IT:
1. Say why we quantify.
Say: "The costs of poor organisational health often remain hidden within everyday operating expenses, lost productivity and reduced employee contribution. Quantifying these losses enables executives to establish their financial impact, identify the most significant sources of performance loss and prioritise corrective interventions."
Say: "By calculating the costs associated with lost time, employee disengagement, declining trust, emotional fatigue and talent loss, organisations can build a measurable business case for strengthening organisational health and track the value recovered through improvement."
2. Walk the five calculations.
Say: "Lost Time: 20 employees each lose 2 hours weekly to rework or unclear communication, over 46 working weeks, at R350 an hour. 20 × 2 × 46 = 1,840 hours; 1,840 × R350 = R644,000 a year."
Say: "Employee Disengagement: 30 employees each contribute 1 fewer productive hour per week, over 46 weeks, at R300 an hour. 30 × 1 × 46 = 1,380 hours; an indicative capacity value of R414,000 a year."
Say: "Declining Trust: eight managers each spend 3 extra hours a month on defensive reviews and duplicated checks, at R600 an hour. 8 × 3 × 12 = 288 hours; 288 × R600 = R172,800 a year."
Say: "Emotional Fatigue: a 50-person team records an additional 1 absence day per person a year, at an average daily employment cost of R2,000. 50 × 1 × R2,000 = R100,000 a year in indicative absence-related employment cost."
Say: "Talent Loss: four avoidable departures, at an estimated replacement and onboarding cost of R85,000 each. 4 × R85,000 = R340,000 a year, excluding any unmeasured disruption."
3. State the caution.
Say: "Calculations are illustrative and should be adapted using organisational data and reasonable assumptions. Overlapping costs should be adjusted to avoid double counting."
4. Give the key insight.
Point to the band.
Say: "Key insight: repeated losses in time, engagement, trust, wellbeing and retention can accumulate into a material annual cost of poor organisational health."
Ask: "If you ran the Lost Time line with your own headcount and hourly cost, what number would you expect?"
Listen for: participants who are surprised by the size of the figure; questions on overlap between categories (welcome them: this is the discipline Section 4 asks for).
5. Bridge to 2.4.
Say: "Cost is one side. The other is what health makes possible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 ORGANISATIONAL HEALTH AND SUSTAINED PERFORMANCE
HOW TO TEACH IT:
1. Distinguish short-term and sustained results.
Say: "Organisational health influences the ability to sustain performance over time. Short-term results may be achieved through intensive intervention, individual effort or temporary pressure. Sustained performance requires a culture that consistently reinforces the behaviours necessary for collective execution."
Deepen, say: "A culture can look cohesive in the annual survey and fracture under the first serious pressure. Pressure reveals the weakness that was already there."
(Insight: Fair-weather results. Source: Journal, 5 March 2026 — Professional Insights)
2. Explain how embedded values reduce dependence on the leader.
Say: "When values are embedded in everyday practices, employees develop shared expectations about accountability, collaboration, communication and performance. These expectations reduce dependence on constant leadership intervention and strengthen execution discipline."
Deepen, say: "Whatever the culture does because the leader is watching will stop when the leader is absent. Convert leader-dependent behaviours into structurally embedded ones through systems, rituals and named commitments."
(Insight: Beyond the leader's presence. Source: Journal, 21 April 2026 — Professional Insights: Culture)
3. Walk what health supports.
Say: "Organisational health supports consistent execution of organisational priorities, constructive performance accountability, effective collaboration across functions, employee commitment and capability retention, and organisational learning and continuous improvement."
4. Give the strategic implication.
Say: "Strategic implication: a healthy organisation is better positioned to maintain performance discipline as leadership responsibilities, strategic priorities and operating conditions change."
Ask: "Which result in your organisation holds only while a particular leader keeps pushing it?"
5. Bridge to 2.5.
Say: "Now turn this on your own 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 EXECUTIVE REFLECTION
HOW TO TEACH IT:
1. Set up the reflection.
Say: "Consider an important strategic priority currently being implemented in your organisation. Hold that one priority in mind for all four questions."
2. Work through the four questions.
Ask: "Where is organisational health strengthening execution performance?"
Ask: "Which hidden costs of poor organisational health are most evident?"
Ask: "What is the estimated annual cost of the most significant organisational health loss?"
Ask: "Which leadership response would reduce that loss, and how would its financial impact be tracked?"
Take answers from two or three participants on each question.
Listen for: a named priority; one named hidden cost; an estimate built from an assumption (headcount, hours, hourly cost) in the way 2.3 showed; a response that a leader controls.
3. Close the section with the Closing Insight.
Say: "Organisational health influences how effectively strategic capabilities translate into results. When health deteriorates, execution friction increases, performance systems lose effectiveness and the cost of delivering strategy rises."
4. Bridge to Section 3.
Say: "Section 3 examines where cultural practices and organisational health vulnerabilities are affecting performance, using the Organisational Health Thermometer to identify areas requiring leadership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 EXTRAPOLATING — WHERE
Where Are the Organisational Health Signals?
HOW THIS SECTION RUNS:
Three parts in order: 3.1 Organisational Health Signals and the Health Thermometer (strong and vulnerable signals per trait, and how to read Strong, Vulnerable and Poor), 3.2 CXO Functional Bias in Organisational Health Diagnosis (five executive perspectives with their debiasing techniques), and 3.3 Self-Reflection: My Organisational Health Profile. The section closes with its Closing Insight and the transition to Section 4.
SECTION LEARNING OUTCOMES:
1. Diagnose people-performance vulnerabilities to establish how organisational culture shapes employee behaviour and contribution.
2. Apply debiasing techniques to challenge functional assumptions and establish evidence-based assessments of organisational health.
HOW TO OPEN THE SECTION:
1. Frame the section.
Say: "This section reads the Five Observable Health Traits for people-performance signals, and tests each reading against functional bias."
2. Read the outcomes.
Read both section learning outcomes aloud.
3. Bridge to 3.1.
Say: "First, what does each trait look like when it is strong, and when it is starting to weaken?"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3.1A — ORGANISATIONAL HEALTH SIGNALS
HOW TO TEACH IT:
1. Link the traits to the thermometer.
Say: "The Five Observable Health Traits reveal how organisational values are experienced through employee behaviour, relationships and contribution. The Organisational Health Thermometer uses these same traits to assess whether people-performance conditions are strong, vulnerable or poor. You assess each trait using observable employee behaviour and supporting evidence."
2. Walk the signals, trait by trait.
Say: "Minimal Politics. Strong: employees cooperate, share information and prioritise collective outcomes. Vulnerable: territorial behaviour, withholding information, personal agendas and internal competition."
Deepen, say: "Unprocessed conflict, the moment of unfairness, the overlooked contribution, the public criticism, waits for the next pressure point to surface. Creating the conditions to process difficult moments honestly is operational hygiene."
(Insight: Unprocessed conflict. Source: Journal, 27 January 2026 — Professional Insights: Culture)
Say: "Minimal Confusion. Strong: employees understand expectations, responsibilities and their contribution to organisational priorities. Vulnerable: uncertainty about expectations, conflicting instructions and inconsistent accountability."
Say: "High Morale. Strong: employees demonstrate commitment, initiative, confidence and willingness to contribute. Vulnerable: withdrawal, reduced initiative, dissatisfaction and disengagement."
Say: "High Productivity. Strong: employees fulfil commitments, maintain performance standards and contribute effectively. Vulnerable: declining individual contribution, repeated missed commitments and reduced discretionary effort."
Say: "Low Turnover. Strong: capable employees remain committed to the organisation and its purpose. Vulnerable: increasing voluntary departures, retention concerns and loss of experienced employees."
3. Ask for a vulnerable signal they recognise.
Ask: "Which vulnerable signal on this slide have you seen in the last quarter, and in which part of the organisation?"
Listen for: a specific team and a specific behaviour, with evidence.
4. Bridge to 3.1b.
Say: "Once you see the signals, you need a consistent way to rate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3.1B — READING THE HEALTH THERMOMETER
HOW TO TEACH IT:
1. Walk the three readings.
Say: "Strong: positive behaviours are consistently observed."
Say: "Vulnerable: negative signals are emerging or uneven."
Say: "Poor: negative signals are persistent or widespread."
2. Insist on evidence.
Point to the band.
Say: "Ratings must be supported by evidence. For each trait, compare observed employee behaviour with the thermometer descriptions, identify supporting evidence and record whether the condition is strong, vulnerable or poor. A poor condition reflects persistent or widespread vulnerability signals."
Deepen, say: "Organisations that measure culture by the experience of their most senior people miss how most people experience it. Ask: how is the newest person experiencing this culture?"
(Insight: Measure from the bottom. Source: Journal, 13 February 2026 — Professional Insights: Culture)
3. Show what the reading does and does not tell you.
Say: "This assessment identifies where organisational health may be affecting people performance. Part 3.2 examines how functional bias may influence the interpretation."
4. Bridge to 3.2.
Say: "Two executives can look at the same evidence and read it differently. Let us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 CXO FUNCTIONAL BIAS IN ORGANISATIONAL HEALTH DIAGNOSIS
HOW TO TEACH IT:
1. Define functional bias.
Say: "Executives interpret organisational health through the people-performance signals they encounter in their respective functions. Their responsibilities influence what they observe, what they consider important and how they explain employee behaviour."
Say: "Functional bias occurs when an executive's professional perspective influences the interpretation of organisational health signals, potentially leading to an incomplete or inaccurate diagnosis. The Five Observable Health Traits provide a common basis for examining these differences."
2. CEO: Minimal Politics and High Morale.
Say: "A possible biased reading on Minimal Politics: 'My executive team works well together, so collaboration across the organisation must be healthy.' The debiasing technique is to test across levels: compare executive perceptions with employee experiences of cooperation, conflict and information sharing."
Say: "On High Morale: 'Employees are quiet in meetings because they have nothing to contribute.' Examine employee experiences: establish whether employees believe their contributions are welcomed and taken seriously."
3. CFO: High Productivity and Low Turnover.
Say: "On High Productivity: 'Employment costs are increasing without equivalent output; employees must be underperforming.' Separate effort from conditions: examine whether employees have clear expectations, appropriate support and a culture that reinforces contribution."
Say: "On Low Turnover: 'Turnover is costly, so retaining employees means our people performance is healthy.' Examine retention quality: assess whether the organisation is retaining capable, committed employees and understand the experiences influencing their decisions to stay."
4. CHRO: Minimal Confusion, High Morale and Low Turnover.
Say: "On Minimal Confusion: 'Everyone has a job description, so role expectations must be clear.' Test lived expectations: compare formal role descriptions with the expectations employees actually receive from their managers."
Say: "On High Morale: 'Our engagement survey scores are positive, so employee morale is strong.' Triangulate evidence: compare survey findings with participation, initiative, absenteeism and employee feedback."
Say: "On Low Turnover: 'Our turnover is low, which demonstrates that employees are satisfied.' Challenge the assumption: examine whether employees remain because of commitment, limited alternatives or other circumstances."
Deepen, say: "Leaders who never create genuine safety find that people manage them from a distance, assessing the relational risk before being open. Its absence shows up as managed distance."
(Insight: Psychological safety. Source: Journal, 1 February 2026 — Professional Insights: Leadership)
5. COO: Minimal Politics and High Productivity.
Say: "On Minimal Politics: 'Departments are protecting their interests because employees are unwilling to cooperate.' Examine reinforced norms: determine whether leaders reward functional achievement while neglecting collective contribution."
Say: "On High Productivity: 'Employees keep missing commitments because they lack discipline.' Trace expectations and experiences: examine whether accountability standards are clear, consistently reinforced and experienced as fair."
Deepen, say: "Leaders shape culture through what they repeatedly tolerate, celebrate or ignore, as well as through their decisions."
(Insight: What leaders tolerate. Source: Journal, 27 July 2026 — Professional Insights: Leadership)
6. CSO: Minimal Confusion.
Say: "On Minimal Confusion: 'We communicated the strategy clearly; employees should know what is expected.' Verify understanding: ask employees to explain their priorities, responsibilities and expected contributions in their own words."
7. Keep the examples fair.
Say: "These examples illustrate potential functional biases. They do not imply that executives in these roles necessarily hold these assumptions."
8. Ask each participant to test their own role.
Ask: "Which of these readings is closest to how you would explain a weak trait in your own function, and which debiasing technique would test it?"
Listen for: participants naming their own likely reading before commenting on another role.
9. Give the key insight and bridge.
Say: "Key insight: the Five Observable Health Traits reveal where people-performance vulnerabilities are emerging. Executives strengthen diagnosis by recognising how their functional perspectives may influence interpretation and applying appropriate debiasing techniques."
Say: "The last step in this section turns the traits on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 — SELF-REFLECTION: MY ORGANISATIONAL HEALTH PROFILE
HOW TO TEACH IT:
1. Set up the self-reflection.
Say: "Diagnosis of others is incomplete without a view of what you contribute yourself. Four questions."
2. Ask the four questions.
Ask: "Which of the Five Observable Health Traits do I personally strengthen through my everyday conduct?"
Ask: "Which trait may be weakened by my own habits, responses or leadership practices?"
Ask: "What assumptions or functional biases do I bring when interpreting the behaviour and performance of others?"
Ask: "What specific change in my own behaviour would help me model the organisational values more consistently?"
Give participants a moment with each question. Invite two or three to share an answer to the last question.
Listen for: a specific behaviour (for example, how they respond to bad news in meetings); a named bias from 3.2.
Deepen, say: "Reforms announced for the rest of the organisation will not hold until the compromised practice inside the leader's own team is dismantled."
(Insight: The leader's own team. Source: Journal, 20 April 2026 — Professional Insights: Culture)
3. Close the section with the Closing Insight.
Say: "The Five Observable Health Traits show where culture is influencing people performance. A credible assessment requires evidence, awareness of functional bias and personal accountability for the behaviours leaders reinforce."
4. Bridge to Section 4.
Say: "Section 4 sets out the Cross-CXO Health Architecture: how functional health is measured, quantified, consolidated into an enterprise position and sustained through a Cultural Operating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 INTEGRATION — COLLECTIVE
Cross-CXO Health Architecture: Grounding People Performance Through Collective Leadership Accountability
HOW THIS SECTION RUNS:
Seven parts in order: 4.1 Grounding People Performance Through Leadership Accountability, 4.2 The Organisational Health Thermometer (the instrument and Reading Your Temperature), 4.3 From Individual Assessments to Functional Health Scores (worked example: Operations), 4.4 Quantifying the People-Performance Losses, 4.5 Consolidating Functional Health into an Enterprise Position, 4.6 Sustaining the Cross-CXO Health Architecture, and 4.7 From Values to a Cultural Operating Code (worked example: the IBSL Code). The section ends with the individual reflection, My Functional Health Accountability, then its Closing Insight and the transition to Section 5.
SECTION LEARNING OUTCOMES:
1. Establish a functional organisational health accountability discipline that enables executives to interpret team-generated health assessments and quantify associated people-performance losses.
2. Embed cultural operating norms that leaders model, recognise and correct, so that organisational health strengthens across functions.
HOW TO OPEN THE SECTION:
1. Frame the section.
Say: "This section moves from reading health to owning it: every executive for their function, and the executive team for the enterprise."
2. Read the outcomes.
Read both section learning outcomes aloud.
3. Bridge to 4.1.
Say: "We start with who is accountable, and at which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 — GROUNDING PEOPLE PERFORMANCE THROUGH LEADERSHIP ACCOUNTABILITY
HOW TO TEACH IT:
1. State the leadership responsibility.
Say: "Organisational health is shaped by the cultural conditions leaders establish and reinforce within their teams. The extent to which employees experience trust, clarity, commitment and accountability influences how they behave, collaborate and contribute to performance."
Say: "Every executive therefore has a responsibility to understand the health of their function and identify where prevailing cultural norms may be undermining people performance. Organisational health also extends beyond individual functions: employees interact across departments, and behaviours reinforced by one leadership team can strengthen or weaken performance elsewhere."
2. Explain who assesses.
Say: "Sustaining organisational health requires both functional accountability and collective executive responsibility. Each CXO should periodically examine the organisational health of their function against the Five Observable Health Traits, identify cultural vulnerabilities and quantify associated people-performance losses."
Say: "To strengthen objectivity and minimise leadership bias, the Organisational Health Thermometer is circulated to individual employees within each function. Employees independently assess the cultural conditions they experience. Their responses are consolidated into a functional health score, which the responsible executive receives for interpretation, investigation of cultural vulnerabilities and quantification of associated people-performance losses."
Point to the band.
3. Walk the two levels.
Point to the left column.
Say: "Functional level: the CXO interprets the team's consolidated score, investigates vulnerabilities and quantifies evidenced losses. The output is the functional health and loss position."
Point to the right column.
Say: "Enterprise level: EXCO consolidates functional results, examines shared vulnerabilities and agrees enterprise priorities. The output is the enterprise health and loss position."
4. Name the architecture.
Say: "This integrated approach forms the Cross-CXO Health Architecture: a structured mechanism connecting functional leadership accountability with collective responsibility for organisational health and sustained people performance. A quarterly assessment and review rhythm allows leaders to examine changes and reinforce healthy cultural practices."
Ask: "Who in your organisation owns the health of each function today, and who owns it across functions?"
Listen for: health owned by HR alone; no forum where the executive team looks at health together.
5. Bridge to 4.2.
Say: "The architecture rests on one common instrument: the thermometer."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4.2A — THE ORGANISATIONAL HEALTH THERMOMETER
HOW TO TEACH IT:
1. Explain the instrument.
Say: "The Organisational Health Thermometer provides a common instrument for assessing the five traits of organisational health. The thermometer is circulated to employees, allowing each person to independently rate the 20 statements based on their experience of the prevailing cultural conditions. Individual assessments are consolidated to produce the overall functional health score and a score for each trait. The functional leader receives the consolidated results and remains accountable for interpreting the findings, investigating vulnerabilities and quantifying associated people-performance losses."
2. Explain the scoring.
Say: "Each employee rates the 20 statements on a frequency scale from 1, Never, to 5, Always: Never, Rarely, Sometimes, Usually, Always. Each trait contains four statements, a maximum of 20 points, producing an overall individual score out of 100."
3. Read one statement per trait.
Say: "Minimal Politics: 'Issues and concerns are raised openly in meetings and addressed there.'"
Say: "Minimal Confusion: 'Decision authority is clear — people know who should decide what, at what level.'"
Say: "High Morale: 'People invest discretionary effort — they go beyond the minimum because they believe in what we are doing.'"
Say: "High Productivity: 'Meetings resolve issues and move work forward.'"
Say: "Low Turnover: 'Knowledge is retained when people move on.'"
The full 20 statements are in part 4.2 of the facilitator and participant pages, four per trait. Read more of them if the room wants to hear the full instrument.
4. State the safeguard.
Point to the band.
Say: "Employee responses should be collected confidentially. Executives receive consolidated function-level results only; individual responses remain unidentifiable. Small teams require appropriate aggregation to protect confidentiality."
Ask: "What would make your employees trust that their answers are confidential?"
5. Bridge to 4.2b.
Say: "A score out of 100 then reads as a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4.2B — READING YOUR TEMPERATURE
HOW TO TEACH IT:
1. Walk the four bands.
Say: "80 to 100: Healthy &amp; Thriving. Minimal politics, clear leadership, strong morale. Maintain momentum through continuous reinforcement."
Say: "60 to 79: Stable but Uneven. Generally healthy but pockets of confusion or disengagement exist. Targeted intervention required."
Say: "40 to 59: Caution Zone. Signs of mistrust, fatigue or unclear direction beginning to surface. Immediate leadership attention needed."
Say: "20 to 39: Unhealthy. High politics, low trust and rising turnover risk. Leadership credibility is at stake."
Deepen, say: "Culture regresses quickly when boundaries and reinforcing systems weaken. Commitments need systems, expectations, accountability and people willing to intervene when drift appears."
(Insight: Reinforcing systems. Source: Journal, 11 August 2026 — Professional Insights: Culture)
2. Ask for a first estimate.
Ask: "Without scoring anything, in which band would you expect your own function to fall?"
Listen for: confident answers. Remind participants that 3.2 showed how a leader's view and employees' experience can differ; the thermometer is completed by employees for that reason.
3. Bridge to 4.3.
Say: "Now we see how individual answers become a functional score, using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 — FROM INDIVIDUAL ASSESSMENTS TO FUNCTIONAL HEALTH SCORES
HOW TO TEACH IT:
1. Explain the consolidation.
Say: "After employees independently submit their thermometer responses, the assessments are consolidated by function. For each trait, add the valid individual trait totals and divide by the number of valid responses. Add the five functional trait averages to obtain the functional score out of 100. The leader receives this consolidated score and the trait-level results; the scores come from the employees' assessments."
Say: "Functional Trait Score equals the sum of individual trait totals divided by the number of valid responses. Functional Health Score, out of 100, equals the sum of the five functional trait scores, each out of 20."
2. Set up the worked example.
Say: "An organisation has 250 employees, including 100 in Operations. The thermometer is circulated individually to Operations employees; 85 employees submit independent assessments, 85% participation. Their responses are consolidated, and the COO receives the resulting functional and trait-level scores."
3. Walk the trait changes.
Say: "Minimal Politics moves from 16 to 8, down 8: investigate collaboration and information sharing. Minimal Confusion from 16 to 12, down 4: expectations and responsibilities. High Morale from 16 to 8, down 8: commitment and initiative. High Productivity from 16 to 12, down 4: contribution and delivery. Low Turnover from 16 to 12, down 4: retention vulnerabilities."
Point to the big number.
Say: "Overall, 80 out of 100 in Q1 and 52 in Q2, down 28. Operations moves from Healthy &amp; Thriving to the Caution Zone. Minimal Politics and High Morale show the largest declines."
4. Say what the COO does with it.
Say: "The COO should examine observable behaviour, relevant people-performance evidence and the Organisational Health Pyramid, using the Section 3 debiasing techniques to challenge initial assumptions. The thermometer signals vulnerability; cause and monetary loss require separate evidence."
Ask: "If you were this COO, which debiasing technique from 3.2 would you use first, and why?"
Listen for: examine reinforced norms (Minimal Politics); trace expectations and experiences; going back to the pyramid to look at trust.
5. Bridge to 4.4.
Say: "The next question for the COO is what this decline is costing."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 — QUANTIFYING THE PEOPLE-PERFORMANCE LOSSES
HOW TO TEACH IT:
1. Set up the calculation.
Say: "The COO investigates whether the identified health vulnerabilities are associated with measurable losses in the five categories introduced in Section 2. The estimates are illustrative for a 12-week quarter and a 100-person Operations function."
2. Walk the five lines.
Say: "Lost Time: 100 employees lose 30 minutes per week, at an hourly employment cost of R200. 100 × 0.5 × R200 × 12 = R120,000."
Say: "Employee Disengagement: 20 employees show an estimated 5% reduced contribution, at a quarterly employment cost of R90,000 each. 20 × R90,000 × 5% = R90,000."
Say: "Declining Trust: 10 managers spend 2 additional hours monthly on avoidable tensions, at R400 an hour. 10 × 2 × R400 × 3 = R24,000."
Say: "Emotional Fatigue: 15 employees each record one additional absence day linked to workplace strain, at R1,500 a day. 15 × R1,500 = R22,500."
Say: "Talent Loss: two avoidable departures, at a replacement and onboarding cost of R45,000 each. 2 × R45,000 = R90,000."
Point to the big number.
Say: "Total: an illustrative gross exposure of R346,500 before overlap adjustments."
3. State the evidence standard.
Say: "These estimates require evidence supporting the link to organisational health, appropriate cost assumptions and reconciliation of overlapping categories before being treated as verified losses. The leader should distinguish observed losses from assumptions and potential exposure."
4. Show the functional health position.
Say: "The COO's functional health position for Q2 reads: accountable executive, the COO; assessment source, 85 of 100 Operations employees; functional health score, 52 out of 100, down 28 from 80; priority traits, Minimal Politics and High Morale; illustrative gross quarterly loss exposure, R346,500; leadership priority, examine and strengthen collaboration, trust and commitment."
Ask: "Which of these five lines would you challenge first, and what evidence would you ask for?"
Listen for: overlap between Lost Time and Disengagement; whether the absences are linked to workplace strain.
5. Bridge to 4.5.
Say: "Every executive produces a position like this. EXCO then brings them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 CONSOLIDATING FUNCTIONAL HEALTH INTO AN ENTERPRISE POSITION
HOW TO TEACH IT:
1. Explain the enterprise step.
Say: "Each executive receives the consolidated assessment for their function, examines vulnerabilities and quantifies associated losses. EXCO brings the functional positions together to establish an enterprise view of organisational health and its implications for people performance."
2. Walk the table.
Say: "Corporate, CEO, 20 employees: 84 to 82, R25,000 exposure. Finance, CFO, 40 employees: 78 to 72, R70,000. Human Resources, CHRO, 30 employees: 82 to 80, R30,000. Operations, COO, 100 employees: 80 to 52, R346,500. Strategy, CSO, 60 employees: 78 to 70, R95,000. Enterprise, EXCO, 250 employees: 79.8 to 65.3, down 14.5, R566,500."
3. Explain the weighting.
Say: "Enterprise Health Score equals the sum of each functional score times its valid responses, divided by total valid responses. The illustrative enterprise scores here are headcount-weighted, assuming equal response rates across functions: (82 × 20) + (72 × 40) + (80 × 30) + (52 × 100) + (70 × 60), divided by 250, gives 65.28, about 65.3. The Q1 result is 79.76, about 79.8. In actual reporting, calculate the enterprise average using the number of valid employee responses per function; report response rates and headcount separately."
4. Read what the enterprise view hides.
Say: "The enterprise is Stable but Uneven, and the Operations function is in the Caution Zone. EXCO should review both the enterprise score and each function's trait profile so that significant local vulnerabilities remain visible behind the average."
Say: "The R566,500 figure is an illustrative sum of functional gross exposures; overlapping costs within or across functions must be reconciled before establishing a defensible enterprise loss estimate."
Ask: "What would an executive team miss if it looked only at the enterprise score of 65.3?"
Listen for: Operations at 52; the one function carrying most of the exposure.
5. Bridge to 4.6.
Say: "One assessment shows a position. A rhythm sustains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 — SUSTAINING THE CROSS-CXO HEALTH ARCHITECTURE
HOW TO TEACH IT:
1. Explain why a rhythm is needed.
Say: "Organisational health requires consistent leadership attention because cultural conditions develop through repeated behaviours and experiences."
2. Walk the quarterly cycle.
Say: "Each quarter, the thermometer is circulated to individual employees in each function for independent assessment. The responses are consolidated confidentially, and each CXO receives the functional health score and trait-level results. The executive interprets the findings, investigates cultural vulnerabilities and quantifies associated people-performance losses. EXCO then consolidates the functional positions to understand enterprise health and shared priorities for strengthening people performance."
Deepen, say: "Run three questions across one ritual: what value did this protect when it was created? Does it still protect that value? What would protect it now? Redesign the ritual or retire it."
(Insight: Rituals that outlived their meaning. Source: Journal, 4 May 2026 — Professional Insights: Culture)
3. Ask where the rhythm would sit.
Ask: "Which existing quarterly forum in your organisation could carry this review?"
Listen for: the quarterly business review, the EXCO strategy session; the risk that health becomes a separate agenda item nobody owns.
4. Bridge to 4.7.
Say: "The architecture tells leaders where health is weak. The Cultural Operating Code tells everyone which behaviours will strengthen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4.7A — FROM VALUES TO A CULTURAL OPERATING CODE
HOW TO TEACH IT:
1. Connect the Code to the architecture.
Say: "Organisational health reflects the behaviours that have become normal in each function. Stated values shape those behaviours only when people can see what each value requires of them, practise it and be held to it. A Cultural Operating Code makes this explicit: for each organisational value, it names one norm built from three observable actions that every leader and employee can recognise, use and be assessed against."
Say: "The Code connects the health architecture to daily leadership practice. When executives model, recognise and correct behaviour against the same norms, the conditions the Organisational Health Thermometer measures begin to change: shared accountability reduces politics, explicit expectations reduce confusion, and consistent consequences protect morale."
2. Teach the three steps with one IBSL value.
Use one IBSL value, Accountability, to teach the three steps before showing the full Code. Start with the behaviour; the acronym only packages it.
Say: "Step 1, define the behaviour. Describe what a leader who genuinely lives the value does differently from one who only states it. Write the answer as a specific, observable behaviour. For Accountability: a leader who lives it surfaces a gap before being asked, with the cause, the impact and the recovery action."
Deepen, say: "Many cultural change initiatives fail because they operate at the level of slogans and posters. Translate one value into a specific operational instruction: what the team does, in what circumstance, by default, when the leader is absent."
(Insight: Step 1 · Define the behaviour. Source: Journal, 30 April 2026 — Professional Insights: Culture)
Say: "Step 2, build the acronym. Take the first letters of three action words that capture the behaviour. Each word is an action a person performs. The acronym is short enough to use in a corridor conversation. For Accountability: Own it, Act on it, Report it: OAR."
Say: "Step 3, write the norm statement. One sentence explaining what the value means in daily practice, specific enough that a new employee reading it on the first day knows which behaviour will be recognised and which will be corrected. For Accountability: Accountability begins the moment a commitment is made. We report the truth and fix the gap."
Deepen, say: "When new staff ask 'what should I actually do here?', a healthy culture gives concrete, immediate answers. Take one value, write down the single specific action that proves it, and say it out loud to the team."
(Insight: Step 3 · Write the norm statement. Source: Journal, 5 June 2026 — Professional Insights: Culture)
3. Bridge to 4.7b.
Say: "A norm on paper is still a slogan. Four conditions make the Code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4.7B — WHAT MAKES THE CODE REAL
HOW TO TEACH IT:
1. Walk the four conditions.
Say: "Demonstrable: every value is translated into observable, specific behaviours."
Say: "Assessed: the norms appear in 360-degree feedback, so how results are achieved is assessed alongside what is achieved."
Say: "Enforced: consequences apply consistently regardless of seniority."
Say: "Maintained: norms are explicit, modelled by executives, reinforced in reviews and revisited periodically."
Deepen, say: "New cultural commitments are often launched with ceremony and then passed from team to team because no one does the work of hosting them. Name the function or team that will carry each norm."
(Insight: Hosting the value. Source: Journal, 6 May 2026 — Professional Insights: Culture)
2. Ask which condition is weakest.
Ask: "Of the four, which condition is weakest for the values in your organisation today?"
Listen for: values absent from 360-degree feedback; consequences that differ by seniority.
3. Bridge to 4.7c.
Say: "Before a norm goes into the Code, it must pass three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4.7C — THREE TESTS FOR EVERY NORM
HOW TO TEACH IT:
1. Teach the three tests.
Say: "The New Employee Test: would a new employee reading this norm on the first day know exactly which behaviour will be recognised and which will be corrected?"
Deepen, say: "Audit the culture by asking whether a stranger watching the team for a week could infer the stated values from what people actually do."
(Insight: Test 1 · The New Employee Test. Source: Journal, 1 July 2026 — Professional Insights: Culture)
Say: "The Pressure Test: does the norm hold when a senior leader breaches it, when a high performer contradicts it, and when telling the truth is costly?"
Deepen, say: "Culture becomes most visible when normal conditions disappear. A culture may claim empowerment until something goes wrong and every decision is pulled upward, or claim openness until someone challenges a senior leader."
(Insight: Test 2 · The Pressure Test. Source: Journal, 29 September 2026 — Professional Insights: Culture)
Say: "The Mirror Test: would every executive be comfortable being assessed against this norm in their own 360-degree feedback?"
2. Apply the tests to one IBSL norm.
Use the three tests on one IBSL norm so participants see how a norm holds under pressure. Take OAR: Own it, Act on it, Report it.
Ask: "Would a new employee know what OAR asks of them on day one?"
Ask: "Does OAR hold when the person who missed the commitment is the CEO, or the top performer?"
Ask: "Would every executive in this room accept OAR in their own 360-degree feedback?"
Listen for: the Pressure Test as the hardest; the point that a norm that bends for seniority stops being a norm.
3. Bridge to 4.7d.
Say: "Here is a complete Code, built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4.7D — WORKED EXAMPLE: THE IBSL CULTURAL OPERATING CODE (1)
HOW TO TEACH IT:
1. Introduce the IBSL values.
Say: "IBSL's values are Intentionality, Integrity, Collaboration, Accountability, Excellence and Human-Centricity. Each value carries one acronym-based norm: AIM, SAY, ONE, OAR, SET, SEE."
2. Intentionality · AIM: leading with purpose, clarity and discipline.
Say: "Act with purpose, Interrogate assumptions, Maintain the discipline. Intentionality is the discipline of knowing exactly why you are doing what you are doing, and holding that line when conditions make it inconvenient."
Ask: "Before your last three major commitments, could you state the strategic purpose, the assumption you were making and the standard you held yourself to?"
3. Integrity · SAY: consistency between words, behaviour and outcomes.
Say: "Say what you mean, Act on what you say, Yield the truth regardless of consequence. Integrity is consistency between word, behaviour and outcome, including when telling the truth is uncomfortable. What we say and what we do are the same thing."
Ask: "In your last performance review, did you name what was promised, what was delivered and what the gap cost before being asked?"
Deepen, say: "A leader who needs approval more than integrity softens difficult realities, avoids necessary confrontation and lets dysfunction continue."
(Insight: Softening. Source: Journal, 23 July 2026 — Professional Insights: Leadership)
4. Collaboration · ONE: leveraging diversity of thought and collective intelligence.
Say: "Own a shared outcome, Navigate difference with respect, Execute as a unified force. Collaboration is the decision to produce together what no single function could produce alone. The result belongs to the team."
Ask: "In your last cross-functional review, did you present the shared outcome alongside your function's contribution?"
5. Bridge to the second half of the Code.
Say: "Three more values complete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4.7E — WORKED EXAMPLE: THE IBSL CULTURAL OPERATING CODE (2)
HOW TO TEACH IT:
1. Accountability · OAR: owning results and reinforcing transparency.
Say: "Own it, Act on it, Report it. Accountability begins the moment a commitment is made. We report the truth and fix the gap."
Ask: "When did you last surface a gap before being asked, with the cause, the impact and the recovery action already identified?"
2. Excellence · SET: upholding rigour, learning and measurable impact.
Say: "Set the standard, Earn the evidence, Transform through learning. Excellence is a daily discipline: being better than last quarter, and proving it with evidence."
Ask: "At your last review, could you answer: what standard did we set, what evidence do we have, and what have we changed as a result?"
3. Human-Centricity · SEE: placing people at the core of leadership and execution.
Say: "See the person behind the role, Enable growth deliberately, Ensure dignity in every interaction. Leadership serves people. We invest in growth and protect dignity, and we never reduce a person to their output."
Ask: "In your last performance conversation, did you open with the person before moving to the result?"
4. Read the full Code together.
Point to the band.
Say: "AIM, SAY, ONE, OAR, SET, SEE: six values, each with one norm built from three observable actions."
5. Bridge to the reflection.
Say: "Your group builds its own Code in Section 5. Before that, one individual reflection on the function you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REFLECTION — MY FUNCTIONAL HEALTH ACCOUNTABILITY
HOW TO USE THIS SLIDE:
1. Introduce the reflection.
Say: "This reflection is individual. You answer it about the function you lead, using what Section 4 taught: the thermometer, the five hidden costs and the evidence standard."
2. Read the five questions.
Say: "One: which of the Five Observable Health Traits would my employees most likely rate lowest on the thermometer, and what evidence do I see?"
Say: "Two: which of the five hidden costs (lost time, employee disengagement, declining trust, emotional fatigue, talent loss) is that vulnerability most likely creating in my function, and what evidence links it to organisational health?"
Say: "Three: using an assumption I can defend, what is the estimated quarterly loss exposure for that cost, and how did I calculate it?"
Say: "Four: which part of that estimate is observed loss and which is assumption, and where could it overlap with another cost category?"
Say: "Five: what leadership action will I take as the accountable executive to reduce that loss, and how will I track the value recovered next quarter?"
3. Point to the worked examples.
Say: "For question three, use the calculations in 4.4 as your model: number of people, time or share affected, cost per hour or per person, and the period."
4. Close Section 4 with the Closing Insight.
Say: "Organisational health is strengthened when leaders understand how their teams experience the culture they establish, take accountability for the resulting people-performance conditions and collectively address vulnerabilities affecting enterprise performance."
5. Bridge to Section 5.
Say: "In Section 5 your group applies the Cross-CXO Health Architecture: you interpret functional health assessments, examine cultural vulnerabilities, quantify associated losses, consolidate the findings into an enterprise organisational health position, and build your organisation's Cultural Operating Code."
ON THE PORTAL, AFTER THE TEACHING:
Participants answer the five questions in the Section 4 reflection, My Functional Health Accountability, on their unit page. The reflection is individual portfolio work, and the facilitator gives feedback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 APPLICATION — IN PRACTICE
The Cross-CXO Organisational Health Clinic: From Functional Health Assessments to Enterprise People-Performance Restoration
HOW THIS SECTION RUNS:
Nine parts in order: 5.1 Application Overview; 5.2 Functional Organisational Health Assessment (Task 1); 5.3 Quantifying Functional People-Performance Losses (Task 2); 5.4 Consolidating the Capstone Group Health Position (Tasks 3 and 4); 5.5 Quantifying Losses Across the Selected Functions (Tasks 5 and 6); 5.6 Review–Realign–Restore; 5.7 Consolidated Organisational Health Response (Task 7); 5.8 Build Your Cultural Operating Code (Task 8); 5.9 Capstone Assessment Output. This is group Capstone work: each group completes one shared record, which goes into boxes 11A to 11E of its Capstone S2R® Blueprint.
SECTION LEARNING OUTCOMES:
1. Consolidate functional organisational health assessments and quantify enterprise-level people-performance losses to establish an evidence-based organisational health position.
2. Commit the executive team to coordinated remedial actions and shared behavioural norms that restore people performance and strengthen organisational health.
HOW TO OPEN THE SECTION:
1. Frame the Clinic.
Say: "Section 4 gave you the Cross-CXO Health Architecture. In this Clinic you use it as an executive team: you bring the functional positions together for collective executive decision-making."
2. Read the outcomes.
Read both section learning outcomes aloud.
3. Bridge to 5.1.
Say: "Here is what your group will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 — APPLICATION OVERVIEW
HOW TO TEACH IT:
1. Recap what the Clinic builds on.
Say: "Individual employees independently complete the Organisational Health Thermometer; their responses are consolidated into functional health scores. Each CXO interprets the consolidated results, investigates potential cultural vulnerabilities and estimates associated people-performance losses. This capstone application brings the functional positions together for collective executive decision-making."
2. Walk the four pieces of work.
Say: "Your group uses only the CXO roles already assigned within your capstone group. You will, one, interpret the corresponding functional assessments; two, consolidate the scores and losses for those represented functions; three, determine remedial actions through Review–Realign–Restore; and four, build the organisation's Cultural Operating Code from its values."
3. Give the capstone instruction.
Say: "Each of you assesses the function associated with your existing capstone CXO role. Your group consolidates only the functions represented by its members. The 10 functional examples are a reference set from which your group selects its relevant roles; there is no requirement to assess or include all 10 functions. The completed group analysis is used in the final capstone panel assessment."
4. Bridge to Tasks 1 and 2.
Say: "The work starts with each function."
LATER, WHEN THE GROUPS DO THE WORK ON THE PORTAL:
Each group chooses its scribe for this work in the group record bar. The scribe types what the group agrees, and the entries appear on every member's page. In part 5.2 the group ticks the CXO roles represented in the group; roles named in the Problem Charter's executive team are ticked already, and the scribe can change them. When the record is complete, each member selects Agree, and the group's work goes into boxes 11A to 11E of the team's Capstone S2R® Blueprint.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5.2–5.3 — TASKS 1 AND 2: FUNCTIONAL HEALTH AND FUNCTIONAL LOSSES
HOW TO TEACH IT:
1. Explain the reference scores.
Say: "Part 5.2 gives example functional health scores consolidated from individual employee assessments using the Section 4 thermometer, for ten CXO functions: CEO 82, CFO 70, COO 50, CHRO 80, CTO/CIO 59, CMO 70, CCO 58, CPO 58, CRO 78 and CSO 66. Use only the rows corresponding to the CXO roles represented in your capstone group. Each trait is scored out of 20; the functional total is out of 100. Politics and Confusion refer to Minimal Politics and Minimal Confusion."
2. Teach Task 1.
Point to the left column.
Say: "Task 1, interpret the functional health position. Each of you uses your capstone CXO role and the thermometer to interpret the corresponding functional score. Determine the health classification, the two weakest traits, possible people-performance implications and evidence requiring further investigation."
Say: "The classifications: 80 to 100 Healthy &amp; Thriving; 60 to 79 Stable but Uneven; 40 to 59 Caution Zone; 20 to 39 Unhealthy."
Say: "For each function you record: the CXO role and function, the functional score and classification, the two weakest traits, potential cultural vulnerabilities, and evidence requiring investigation."
3. Teach Task 2.
Point to the right column.
Say: "Part 5.3 gives illustrative preliminary gross quarterly exposure estimates in South African rand for each function, under the five hidden costs from Section 2. For example, the COO line totals R555,000 and the CEO line R28,000. Each estimate requires verification before it is treated as a financial loss."
Say: "Task 2, interpret functional losses. For the assigned function, identify the largest hidden cost, examine possible links to the two weakest health traits, specify evidence needed to validate the estimates, and flag any potential overlap or double counting. Distinguish estimated exposure from validated loss."
4. Bridge to the group position.
Say: "Once each function is read, the group consolidates."
LATER, WHEN THE GROUPS DO THE WORK ON THE PORTAL:
Each function the group ticked has its own card in part 5.2, for Task 1 and for Task 2. Guide the groups to complete one card per represented role, with the member who holds that role leading the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5.4–5.5 — TASKS 3 TO 6: THE GROUP HEALTH POSITION AND EXPOSURE
HOW TO TEACH IT:
1. Teach the weighted consolidation.
Point to the left column.
Say: "Consolidate only the functional assessments corresponding to the CXO roles represented in your capstone group. Weight each trait score by valid employee responses for those selected functions. The resulting consolidated position represents only the functions in the group."
Say: "Group Consolidated Trait Score equals the sum of each selected functional trait score times its valid responses, divided by the total valid responses in the selected functions. Group Consolidated Health Score equals the sum of the five weighted trait scores. This is the method you saw in 4.5."
2. Teach Tasks 3 and 4.
Say: "Task 3: calculate the consolidated score for each of the five traits and the consolidated health score out of 100."
Say: "Task 4: determine the consolidated score and thermometer classification for the functions represented in your group; identify the two weakest traits, the functions contributing most to those weaknesses, and the vulnerabilities requiring cross-functional leadership attention. Apply the result only to the functions assessed."
3. Teach Tasks 5 and 6.
Point to the right column.
Say: "Task 5: sum the functional estimates only for the CXO roles represented in your group, by hidden-cost category. Flag possible overlaps before presenting gross exposure as validated financial loss. Losses for unrepresented functions stay out of the total."
Say: "Task 6: establish the consolidated health diagnosis. Identify the two largest cost categories, the functions contributing most to gross exposure, plausible relationships between health traits and losses, and estimates requiring verification. A health score indicates where to look; financial causation requires evidence."
Say: "The diagnosis records the enterprise health score and classification, the two weakest traits, the most vulnerable functions, the gross quarterly exposure, the two largest hidden-cost categories, the priority cultural vulnerabilities and the priority people-performance concerns."
4. Bridge to 5.6.
Say: "With the position established, the executive team decides what to do about it."
LATER, WHEN THE GROUPS DO THE WORK ON THE PORTAL:
The page calculates the consolidated trait scores, the health score and the exposure from the roles the group ticked. The group writes its interpretation: the functions contributing most, the vulnerabilities requiring cross-functional attention, the overlaps flagged, and the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 — DETERMINE REMEDIAL ACTIONS THROUGH REVIEW–REALIGN–RESTORE
HOW TO TEACH IT:
1. Connect to the cycle the programme has used.
Say: "You have used Review–Realign–Restore in Module 3 for performance. Here it is applied to organisational health."
2. Review.
Say: "Review: establish priority health concerns. Examine the consolidated health position, functional vulnerabilities and financial exposure. Determine which traits require attention, which functions are affected, what employee experiences may explain the scores, and what supporting evidence is available. Output: a prioritised organisational health diagnosis."
Deepen, say: "The surface complaint is often the one that is safe to raise. The real issue, about authority, recognition or influence, is harder to name."
(Insight: Stated issue and real issue. Source: Journal, 6 March 2026 — Professional Insights)
3. Realign.
Say: "Realign: reinforce cultural conditions. Identify the organisational values, behavioural expectations and leadership practices requiring reinforcement. Determine the cross-functional expectations and CXO accountabilities needed to address the diagnosed conditions. Output: agreed cultural reinforcement actions with named executive accountability."
4. Restore.
Say: "Restore: establish measurable improvement. Set next-quarter improvement expectations for priority health traits and associated financial exposures. Define the evidence and review measures that will show whether employee experiences and people-performance conditions are improving. Output: measurable health and performance commitments."
Deepen, say: "Organisations that discover a fundamental misalignment between stated values and actual practice face a choice: respond completely, or address only what is comfortable. The part left untouched is the part that resurfaces."
(Insight: A complete response. Source: Journal, 29 June 2026 — Professional Insights: Strategy)
5. Bridge to 5.7.
Say: "The three outputs come together in one response."
LATER, WHEN THE GROUPS DO THE WORK ON THE PORTAL:
The group records one output for each step: the prioritised diagnosis, the reinforcement actions with named executive accountability, and the measurable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 — TASK 7: THE CONSOLIDATED ORGANISATIONAL HEALTH RESPONSE
HOW TO TEACH IT:
1. Explain the task.
Say: "Identify the lowest-scoring health trait from the consolidated assessment of the CXO functions represented in your capstone group. Apply Review–Realign–Restore to agree on the remedial action, assign the accountable CXO or CXOs, set a health improvement target, identify the associated hidden cost and establish a financial reduction target."
2. Walk the columns.
Say: "The response has six columns: the priority health trait; the Review–Realign–Restore action; the accountable CXO or CXOs; the health improvement target; the associated hidden cost; and the financial target, written as current, target and reduction."
3. Set the discipline.
Say: "Use one row for the lowest-scoring health trait. Add another row only if your group identifies a further priority requiring a distinct response. Financial targets are illustrative commitments and should be supported by evidence; avoid double counting."
Deepen, say: "Reorganisations, communications drives and new frameworks can multiply as substitutes for the one hard conversation that is actually required. Name it and schedule it."
(Insight: The avoided conversation. Source: Journal, 11 May 2026 — Professional Insights: Leadership)
4. Bridge to 5.8.
Say: "The response sets out what must change. Your Cultural Operating Code defines the behaviours that carry the change."
LATER, WHEN THE GROUPS DO THE WORK ON THE PORTAL:
The group completes one row of the response for its lowest-scoring trait, and a second row only for a further distinct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 — TASK 8: BUILD YOUR CULTURAL OPERATING CODE
HOW TO TEACH IT:
1. Link the Code to the response.
Say: "Your Organisational Health Response sets out what must change. Your Cultural Operating Code defines the behaviours that carry the change: it translates your organisation's values into norms your executive team models, recognises and corrects. You build it the way part 4.7 showed with the IBSL Code."
2. Step 1: your organisation's values.
Say: "List the values of your capstone organisation, three to six, each with what it means in one line. Where your organisation's values are not yet stated, agree them now as its executive team."
Deepen, say: "Value clarity must come before commercial pressure."
(Insight: Values before commercial pressure. Source: Journal, 16 January 2026 — Professional Insights: Culture)
3. Step 2: translate the values into norms.
Say: "Translate at least three of your values. For each: the value, the observable behaviour, the acronym from three action words, the three actions and the norm statement. Begin each norm with the behaviour; the acronym only packages it."
4. Step 3: test your strongest norm.
Say: "Choose your strongest norm and record how it passes each of the three tests from part 4.7, the New Employee Test, the Pressure Test and the Mirror Test, or what your group changed so that it passes."
5. Say where it goes.
Say: "Your Cultural Operating Code forms part of the final capstone panel assessment, in Capstone box 11E."
6. Bridge to 5.9.
Say: "Here is what the panel will see from this unit."
LATER, WHEN THE GROUPS DO THE WORK ON THE PORTAL:
Each group builds the Code for its capstone organisation, using that organisation's values. Where a group has not yet stated its organisation's values, it agrees them first as the executive team. Guide the groups to begin each norm with the behaviour and to apply the three tests from part 4.7 to their strongest norm before they agree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 — CAPSTONE ASSESSMENT OUTPUT
HOW TO TEACH IT:
1. Describe the output.
Say: "The completed Organisational Health Response forms part of the final capstone panel assessment. It includes the consolidated health score and gross quarterly exposure for only the functions represented in your group, the lowest-scoring health trait and one integrated Review–Realign–Restore response with accountable CXO or CXOs, a health improvement target and a financial reduction target. It also includes your group's Cultural Operating Code."
2. Walk the five Capstone boxes.
Say: "11A, Functional health assessments: for each CXO function represented in your executive team, the functional health score and classification and the two weakest traits, with your interpretation."
Say: "11B, Consolidated health position: the response-weighted health score and classification for the represented functions, the weakest traits and the gross quarterly exposure."
Say: "11C, Review–Realign–Restore: the prioritised organisational health diagnosis, the cultural reinforcement actions with named executive accountability, and the measurable commitments."
Say: "11D, Organisational Health Response: for the lowest-scoring health trait, the action, accountable CXO or CXOs, health improvement target, associated hidden cost and financial target."
Say: "11E, Cultural Operating Code: your organisation's values, each translated norm, and your strongest norm with how it passes the three tests."
3. Set the presentation expectation.
Say: "This work is presented only during the final capstone panel assessment."
4. Bridge to the close.
Say: "Let us close the unit."</a:t>
            </a:r>
            <a:endParaRPr lang="en-US" dirty="0"/>
          </a:p>
          <a:p>
            <a:r>
              <a:rPr lang="en-US" dirty="0"/>
              <a:t>Close the group work with Our Position. Say: "When your record is complete, write as a group a short summary statement of your team's position from this unit, in the unit's own terms. Every member agrees it with the rest of the record. It closes this unit's section of your Capstone S2R Blueprint and guides the assessors through your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 TRANSITION TO UNIT 12
HOW TO TEACH IT:
1. Give the Section 5 Closing Insight.
Say: "Organisational health improves when the executive team reads it from evidence, prices what poor health costs, acts on the lowest-scoring conditions with named accountability, and models the norms of its Cultural Operating Code."
2. Return to the progression of the unit.
Say: "We began with one progression. Values establish behavioural principles. Culture reflects how these principles are lived. Organisational health reflects the resulting collective condition. You have now read that condition, priced it and set out the norms that will change it."
Ask: "Which one norm from your group's Code will be hardest for you, personally, to model next quarter?"
Listen for: honest answers that name a behaviour; connect them to the Mirror Test.
3. Bridge to Unit 12.
Say: "Unit 12, Sustaining Performance, brings ESRG alignment and organisational health together to sustain performance quarter by quarter. The ESRG position from Unit 10 and the health position you build in this unit both come into Unit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1.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slideLayout" Target="../slideLayouts/slideLayout1.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slideLayout" Target="../slideLayouts/slideLayout1.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1C"/>
        </a:solidFill>
      </p:bgPr>
    </p:bg>
    <p:spTree>
      <p:nvGrpSpPr>
        <p:cNvPr id="1" name=""/>
        <p:cNvGrpSpPr/>
        <p:nvPr/>
      </p:nvGrpSpPr>
      <p:grpSpPr>
        <a:xfrm>
          <a:off x="0" y="0"/>
          <a:ext cx="0" cy="0"/>
          <a:chOff x="0" y="0"/>
          <a:chExt cx="0" cy="0"/>
        </a:xfrm>
      </p:grpSpPr>
      <p:pic>
        <p:nvPicPr>
          <p:cNvPr id="2" name="Image 0" descr="logo.png">    </p:cNvPr>
          <p:cNvPicPr>
            <a:picLocks noChangeAspect="1"/>
          </p:cNvPicPr>
          <p:nvPr/>
        </p:nvPicPr>
        <p:blipFill>
          <a:blip r:embed="rId1"/>
          <a:stretch>
            <a:fillRect/>
          </a:stretch>
        </p:blipFill>
        <p:spPr>
          <a:xfrm>
            <a:off x="8259775" y="1325880"/>
            <a:ext cx="3108960" cy="3017520"/>
          </a:xfrm>
          <a:prstGeom prst="rect">
            <a:avLst/>
          </a:prstGeom>
        </p:spPr>
      </p:pic>
      <p:sp>
        <p:nvSpPr>
          <p:cNvPr id="3" name="Text 0"/>
          <p:cNvSpPr txBox="1"/>
          <p:nvPr/>
        </p:nvSpPr>
        <p:spPr>
          <a:xfrm>
            <a:off x="731520" y="1188720"/>
            <a:ext cx="73152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Module 4 · Grounding · Unit 11</a:t>
            </a:r>
            <a:endParaRPr lang="en-US" sz="2400" dirty="0"/>
          </a:p>
        </p:txBody>
      </p:sp>
      <p:sp>
        <p:nvSpPr>
          <p:cNvPr id="4" name="Text 1"/>
          <p:cNvSpPr txBox="1"/>
          <p:nvPr/>
        </p:nvSpPr>
        <p:spPr>
          <a:xfrm>
            <a:off x="731520" y="1783080"/>
            <a:ext cx="7223760" cy="20116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Culture Reinforcement &amp; Organisational Health</a:t>
            </a:r>
            <a:endParaRPr lang="en-US" sz="4800" dirty="0"/>
          </a:p>
        </p:txBody>
      </p:sp>
      <p:sp>
        <p:nvSpPr>
          <p:cNvPr id="5" name="Text 2"/>
          <p:cNvSpPr txBox="1"/>
          <p:nvPr/>
        </p:nvSpPr>
        <p:spPr>
          <a:xfrm>
            <a:off x="731520" y="3977640"/>
            <a:ext cx="7223760" cy="1188720"/>
          </a:xfrm>
          <a:prstGeom prst="rect">
            <a:avLst/>
          </a:prstGeom>
          <a:noFill/>
          <a:ln/>
        </p:spPr>
        <p:txBody>
          <a:bodyPr wrap="square" lIns="0" tIns="0" rIns="0" bIns="0" rtlCol="0" anchor="t"/>
          <a:lstStyle/>
          <a:p>
            <a:pPr indent="0" marL="0">
              <a:buNone/>
            </a:pPr>
            <a:r>
              <a:rPr lang="en-US" sz="2400" i="1" dirty="0">
                <a:solidFill>
                  <a:srgbClr val="DDE8DF"/>
                </a:solidFill>
                <a:latin typeface="Calibri" pitchFamily="34" charset="0"/>
                <a:ea typeface="Calibri" pitchFamily="34" charset="-122"/>
                <a:cs typeface="Calibri" pitchFamily="34" charset="-120"/>
              </a:rPr>
              <a:t>How organisational values become lived culture, and how that culture shows in organisational health</a:t>
            </a:r>
            <a:endParaRPr lang="en-US" sz="2400" dirty="0"/>
          </a:p>
        </p:txBody>
      </p:sp>
      <p:sp>
        <p:nvSpPr>
          <p:cNvPr id="6" name="Text 3"/>
          <p:cNvSpPr txBox="1"/>
          <p:nvPr/>
        </p:nvSpPr>
        <p:spPr>
          <a:xfrm>
            <a:off x="731520" y="5669280"/>
            <a:ext cx="7315200" cy="457200"/>
          </a:xfrm>
          <a:prstGeom prst="rect">
            <a:avLst/>
          </a:prstGeom>
          <a:noFill/>
          <a:ln/>
        </p:spPr>
        <p:txBody>
          <a:bodyPr wrap="square" lIns="0" tIns="0" rIns="0" bIns="0" rtlCol="0" anchor="t"/>
          <a:lstStyle/>
          <a:p>
            <a:pPr indent="0" marL="0">
              <a:buNone/>
            </a:pPr>
            <a:r>
              <a:rPr lang="en-US" sz="2400" dirty="0">
                <a:solidFill>
                  <a:srgbClr val="E6D3A0"/>
                </a:solidFill>
                <a:latin typeface="Calibri" pitchFamily="34" charset="0"/>
                <a:ea typeface="Calibri" pitchFamily="34" charset="-122"/>
                <a:cs typeface="Calibri" pitchFamily="34" charset="-120"/>
              </a:rPr>
              <a:t>Strategy2Results® · Facilitator deck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Key learning outcomes</a:t>
            </a:r>
            <a:endParaRPr lang="en-US" sz="3600" dirty="0"/>
          </a:p>
        </p:txBody>
      </p:sp>
      <p:sp>
        <p:nvSpPr>
          <p:cNvPr id="3" name="Shape 1"/>
          <p:cNvSpPr/>
          <p:nvPr/>
        </p:nvSpPr>
        <p:spPr>
          <a:xfrm>
            <a:off x="548640" y="2411730"/>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2571750"/>
            <a:ext cx="320040" cy="320040"/>
          </a:xfrm>
          <a:prstGeom prst="rect">
            <a:avLst/>
          </a:prstGeom>
        </p:spPr>
      </p:pic>
      <p:sp>
        <p:nvSpPr>
          <p:cNvPr id="5" name="Text 2"/>
          <p:cNvSpPr txBox="1"/>
          <p:nvPr/>
        </p:nvSpPr>
        <p:spPr>
          <a:xfrm>
            <a:off x="1508760" y="1508760"/>
            <a:ext cx="10131552" cy="2446020"/>
          </a:xfrm>
          <a:prstGeom prst="rect">
            <a:avLst/>
          </a:prstGeom>
          <a:noFill/>
          <a:ln/>
        </p:spPr>
        <p:txBody>
          <a:bodyPr wrap="square" lIns="0" tIns="0" rIns="0" bIns="0" rtlCol="0" anchor="ctr"/>
          <a:lstStyle/>
          <a:p>
            <a:pPr indent="0" marL="0">
              <a:buNone/>
            </a:pPr>
            <a:r>
              <a:rPr lang="en-US" sz="2600" dirty="0">
                <a:solidFill>
                  <a:srgbClr val="1F2A22"/>
                </a:solidFill>
                <a:latin typeface="Calibri" pitchFamily="34" charset="0"/>
                <a:ea typeface="Calibri" pitchFamily="34" charset="-122"/>
                <a:cs typeface="Calibri" pitchFamily="34" charset="-120"/>
              </a:rPr>
              <a:t>Diagnose organisational health by evaluating how organisational values and cultural norms influence collective behaviour and strategic performance.</a:t>
            </a:r>
            <a:endParaRPr lang="en-US" sz="2600" dirty="0"/>
          </a:p>
        </p:txBody>
      </p:sp>
      <p:sp>
        <p:nvSpPr>
          <p:cNvPr id="6" name="Shape 3"/>
          <p:cNvSpPr/>
          <p:nvPr/>
        </p:nvSpPr>
        <p:spPr>
          <a:xfrm>
            <a:off x="548640" y="4857750"/>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5017770"/>
            <a:ext cx="320040" cy="320040"/>
          </a:xfrm>
          <a:prstGeom prst="rect">
            <a:avLst/>
          </a:prstGeom>
        </p:spPr>
      </p:pic>
      <p:sp>
        <p:nvSpPr>
          <p:cNvPr id="8" name="Text 4"/>
          <p:cNvSpPr txBox="1"/>
          <p:nvPr/>
        </p:nvSpPr>
        <p:spPr>
          <a:xfrm>
            <a:off x="1508760" y="3954780"/>
            <a:ext cx="10131552" cy="2446020"/>
          </a:xfrm>
          <a:prstGeom prst="rect">
            <a:avLst/>
          </a:prstGeom>
          <a:noFill/>
          <a:ln/>
        </p:spPr>
        <p:txBody>
          <a:bodyPr wrap="square" lIns="0" tIns="0" rIns="0" bIns="0" rtlCol="0" anchor="ctr"/>
          <a:lstStyle/>
          <a:p>
            <a:pPr indent="0" marL="0">
              <a:buNone/>
            </a:pPr>
            <a:r>
              <a:rPr lang="en-US" sz="2600" dirty="0">
                <a:solidFill>
                  <a:srgbClr val="1F2A22"/>
                </a:solidFill>
                <a:latin typeface="Calibri" pitchFamily="34" charset="0"/>
                <a:ea typeface="Calibri" pitchFamily="34" charset="-122"/>
                <a:cs typeface="Calibri" pitchFamily="34" charset="-120"/>
              </a:rPr>
              <a:t>Shape and reinforce organisational culture by establishing behavioural standards and embedding cultural operating norms that strengthen organisational health.</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The unit journey</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Section 1 · Awareness — What  </a:t>
            </a:r>
            <a:pPr indent="0" marL="0">
              <a:buNone/>
            </a:pPr>
            <a:r>
              <a:rPr lang="en-US" sz="2400" dirty="0">
                <a:solidFill>
                  <a:srgbClr val="1F2A22"/>
                </a:solidFill>
                <a:latin typeface="Calibri" pitchFamily="34" charset="0"/>
                <a:ea typeface="Calibri" pitchFamily="34" charset="-122"/>
                <a:cs typeface="Calibri" pitchFamily="34" charset="-120"/>
              </a:rPr>
              <a:t>Values, culture and organisational health</a:t>
            </a:r>
            <a:endParaRPr lang="en-US" sz="24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Section 2 · Intelligence — Why  </a:t>
            </a:r>
            <a:pPr indent="0" marL="0">
              <a:buNone/>
            </a:pPr>
            <a:r>
              <a:rPr lang="en-US" sz="2400" dirty="0">
                <a:solidFill>
                  <a:srgbClr val="1F2A22"/>
                </a:solidFill>
                <a:latin typeface="Calibri" pitchFamily="34" charset="0"/>
                <a:ea typeface="Calibri" pitchFamily="34" charset="-122"/>
                <a:cs typeface="Calibri" pitchFamily="34" charset="-120"/>
              </a:rPr>
              <a:t>Health as a performance multiplier</a:t>
            </a:r>
            <a:endParaRPr lang="en-US" sz="24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Section 3 · Extrapolating — Where  </a:t>
            </a:r>
            <a:pPr indent="0" marL="0">
              <a:buNone/>
            </a:pPr>
            <a:r>
              <a:rPr lang="en-US" sz="2400" dirty="0">
                <a:solidFill>
                  <a:srgbClr val="1F2A22"/>
                </a:solidFill>
                <a:latin typeface="Calibri" pitchFamily="34" charset="0"/>
                <a:ea typeface="Calibri" pitchFamily="34" charset="-122"/>
                <a:cs typeface="Calibri" pitchFamily="34" charset="-120"/>
              </a:rPr>
              <a:t>Health signals and functional bias</a:t>
            </a:r>
            <a:endParaRPr lang="en-US" sz="24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sp>
      <p:pic>
        <p:nvPicPr>
          <p:cNvPr id="13" name="Image 3" descr="preencoded.png">    </p:cNvPr>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Section 4 · Integration — Collective  </a:t>
            </a:r>
            <a:pPr indent="0" marL="0">
              <a:buNone/>
            </a:pPr>
            <a:r>
              <a:rPr lang="en-US" sz="2400" dirty="0">
                <a:solidFill>
                  <a:srgbClr val="1F2A22"/>
                </a:solidFill>
                <a:latin typeface="Calibri" pitchFamily="34" charset="0"/>
                <a:ea typeface="Calibri" pitchFamily="34" charset="-122"/>
                <a:cs typeface="Calibri" pitchFamily="34" charset="-120"/>
              </a:rPr>
              <a:t>The Cross-CXO Health Architecture</a:t>
            </a:r>
            <a:endParaRPr lang="en-US" sz="2400" dirty="0"/>
          </a:p>
        </p:txBody>
      </p:sp>
      <p:sp>
        <p:nvSpPr>
          <p:cNvPr id="15" name="Shape 9"/>
          <p:cNvSpPr/>
          <p:nvPr/>
        </p:nvSpPr>
        <p:spPr>
          <a:xfrm>
            <a:off x="548640" y="5591556"/>
            <a:ext cx="640080" cy="640080"/>
          </a:xfrm>
          <a:prstGeom prst="ellipse">
            <a:avLst/>
          </a:prstGeom>
          <a:solidFill>
            <a:srgbClr val="C6A24C"/>
          </a:solidFill>
          <a:ln w="12700">
            <a:solidFill>
              <a:srgbClr val="C6A24C"/>
            </a:solidFill>
            <a:prstDash val="solid"/>
          </a:ln>
        </p:spPr>
      </p:sp>
      <p:pic>
        <p:nvPicPr>
          <p:cNvPr id="16" name="Image 4" descr="preencoded.png">    </p:cNvPr>
          <p:cNvPicPr>
            <a:picLocks noChangeAspect="1"/>
          </p:cNvPicPr>
          <p:nvPr/>
        </p:nvPicPr>
        <p:blipFill>
          <a:blip r:embed="rId5"/>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Section 5 · Application — In Practice  </a:t>
            </a:r>
            <a:pPr indent="0" marL="0">
              <a:buNone/>
            </a:pPr>
            <a:r>
              <a:rPr lang="en-US" sz="2400" dirty="0">
                <a:solidFill>
                  <a:srgbClr val="1F2A22"/>
                </a:solidFill>
                <a:latin typeface="Calibri" pitchFamily="34" charset="0"/>
                <a:ea typeface="Calibri" pitchFamily="34" charset="-122"/>
                <a:cs typeface="Calibri" pitchFamily="34" charset="-120"/>
              </a:rPr>
              <a:t>The Organisational Health Clinic</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1</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Awareness — What</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Values, Culture &amp; Organisational Health</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859536"/>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Evaluate how organisational values translate into cultural norms and practices that shape organisational health.</a:t>
            </a:r>
            <a:endParaRPr lang="en-US" sz="2400" dirty="0"/>
          </a:p>
        </p:txBody>
      </p:sp>
      <p:sp>
        <p:nvSpPr>
          <p:cNvPr id="10" name="Shape 7"/>
          <p:cNvSpPr/>
          <p:nvPr/>
        </p:nvSpPr>
        <p:spPr>
          <a:xfrm>
            <a:off x="2743200" y="4864608"/>
            <a:ext cx="384048" cy="384048"/>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2839212" y="4960620"/>
            <a:ext cx="192024" cy="192024"/>
          </a:xfrm>
          <a:prstGeom prst="rect">
            <a:avLst/>
          </a:prstGeom>
        </p:spPr>
      </p:pic>
      <p:sp>
        <p:nvSpPr>
          <p:cNvPr id="12" name="Text 8"/>
          <p:cNvSpPr txBox="1"/>
          <p:nvPr/>
        </p:nvSpPr>
        <p:spPr>
          <a:xfrm>
            <a:off x="3291840" y="4791456"/>
            <a:ext cx="8412480" cy="859536"/>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Diagnose organisational health strengths and vulnerabilities across observable behaviour and its underlying conditions.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1.1a · Organisational values: what we stand for</a:t>
            </a:r>
            <a:endParaRPr lang="en-US" sz="3600" dirty="0"/>
          </a:p>
        </p:txBody>
      </p:sp>
      <p:sp>
        <p:nvSpPr>
          <p:cNvPr id="3" name="Shape 1"/>
          <p:cNvSpPr/>
          <p:nvPr/>
        </p:nvSpPr>
        <p:spPr>
          <a:xfrm>
            <a:off x="548640" y="1508760"/>
            <a:ext cx="5408676" cy="3931920"/>
          </a:xfrm>
          <a:prstGeom prst="roundRect">
            <a:avLst>
              <a:gd name="adj" fmla="val 2326"/>
            </a:avLst>
          </a:prstGeom>
          <a:solidFill>
            <a:srgbClr val="EEF4EF"/>
          </a:solidFill>
          <a:ln w="12700">
            <a:solidFill>
              <a:srgbClr val="EEF4EF"/>
            </a:solidFill>
            <a:prstDash val="solid"/>
          </a:ln>
        </p:spPr>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4951476" cy="923544"/>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Establish behavioural expectations</a:t>
            </a:r>
            <a:endParaRPr lang="en-US" sz="2600" dirty="0"/>
          </a:p>
        </p:txBody>
      </p:sp>
      <p:sp>
        <p:nvSpPr>
          <p:cNvPr id="7" name="Text 4"/>
          <p:cNvSpPr txBox="1"/>
          <p:nvPr/>
        </p:nvSpPr>
        <p:spPr>
          <a:xfrm>
            <a:off x="777240" y="3575304"/>
            <a:ext cx="4951476" cy="1728216"/>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Values define the standards of conduct expected across the organisation.</a:t>
            </a:r>
            <a:endParaRPr lang="en-US" sz="2400" dirty="0"/>
          </a:p>
        </p:txBody>
      </p:sp>
      <p:sp>
        <p:nvSpPr>
          <p:cNvPr id="8" name="Shape 5"/>
          <p:cNvSpPr/>
          <p:nvPr/>
        </p:nvSpPr>
        <p:spPr>
          <a:xfrm>
            <a:off x="6231636" y="1508760"/>
            <a:ext cx="5408676" cy="3931920"/>
          </a:xfrm>
          <a:prstGeom prst="roundRect">
            <a:avLst>
              <a:gd name="adj" fmla="val 2326"/>
            </a:avLst>
          </a:prstGeom>
          <a:solidFill>
            <a:srgbClr val="1A5C2C"/>
          </a:solidFill>
          <a:ln w="12700">
            <a:solidFill>
              <a:srgbClr val="1A5C2C"/>
            </a:solidFill>
            <a:prstDash val="solid"/>
          </a:ln>
        </p:spPr>
      </p:sp>
      <p:sp>
        <p:nvSpPr>
          <p:cNvPr id="9" name="Shape 6"/>
          <p:cNvSpPr/>
          <p:nvPr/>
        </p:nvSpPr>
        <p:spPr>
          <a:xfrm>
            <a:off x="6460236" y="1737360"/>
            <a:ext cx="640080" cy="640080"/>
          </a:xfrm>
          <a:prstGeom prst="ellipse">
            <a:avLst/>
          </a:prstGeom>
          <a:solidFill>
            <a:srgbClr val="C6A24C"/>
          </a:solidFill>
          <a:ln w="12700">
            <a:solidFill>
              <a:srgbClr val="C6A24C"/>
            </a:solidFill>
            <a:prstDash val="solid"/>
          </a:ln>
        </p:spPr>
      </p:sp>
      <p:pic>
        <p:nvPicPr>
          <p:cNvPr id="10" name="Image 1" descr="preencoded.png">    </p:cNvPr>
          <p:cNvPicPr>
            <a:picLocks noChangeAspect="1"/>
          </p:cNvPicPr>
          <p:nvPr/>
        </p:nvPicPr>
        <p:blipFill>
          <a:blip r:embed="rId2"/>
          <a:stretch>
            <a:fillRect/>
          </a:stretch>
        </p:blipFill>
        <p:spPr>
          <a:xfrm>
            <a:off x="6620256" y="1897380"/>
            <a:ext cx="320040" cy="320040"/>
          </a:xfrm>
          <a:prstGeom prst="rect">
            <a:avLst/>
          </a:prstGeom>
        </p:spPr>
      </p:pic>
      <p:sp>
        <p:nvSpPr>
          <p:cNvPr id="11" name="Text 7"/>
          <p:cNvSpPr txBox="1"/>
          <p:nvPr/>
        </p:nvSpPr>
        <p:spPr>
          <a:xfrm>
            <a:off x="6460236" y="2514600"/>
            <a:ext cx="4951476" cy="923544"/>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Provide a basis for accountability</a:t>
            </a:r>
            <a:endParaRPr lang="en-US" sz="2600" dirty="0"/>
          </a:p>
        </p:txBody>
      </p:sp>
      <p:sp>
        <p:nvSpPr>
          <p:cNvPr id="12" name="Text 8"/>
          <p:cNvSpPr txBox="1"/>
          <p:nvPr/>
        </p:nvSpPr>
        <p:spPr>
          <a:xfrm>
            <a:off x="6460236" y="3575304"/>
            <a:ext cx="4951476" cy="1728216"/>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Leaders evaluate how results are achieved, alongside the results themselves.</a:t>
            </a:r>
            <a:endParaRPr lang="en-US" sz="2400" dirty="0"/>
          </a:p>
        </p:txBody>
      </p:sp>
      <p:sp>
        <p:nvSpPr>
          <p:cNvPr id="13"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sp>
      <p:sp>
        <p:nvSpPr>
          <p:cNvPr id="14" name="Text 10"/>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Values are the principles that guide how an organisation conducts itself.</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1.1b · Values into behavioural standards</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651760"/>
                <a:gridCol w="8439912"/>
              </a:tblGrid>
              <a:tr h="658368">
                <a:tc>
                  <a:txBody>
                    <a:bodyPr/>
                    <a:lstStyle/>
                    <a:p>
                      <a:pPr indent="0" marL="0">
                        <a:buNone/>
                      </a:pPr>
                      <a:r>
                        <a:rPr lang="en-US" sz="2400" b="1" dirty="0">
                          <a:solidFill>
                            <a:srgbClr val="FFFFFF"/>
                          </a:solidFill>
                          <a:latin typeface="Cambria" pitchFamily="34" charset="0"/>
                          <a:ea typeface="Cambria" pitchFamily="34" charset="-122"/>
                          <a:cs typeface="Cambria" pitchFamily="34" charset="-120"/>
                        </a:rPr>
                        <a:t>Value</a:t>
                      </a:r>
                      <a:endParaRPr lang="en-US" sz="2400" dirty="0">
                        <a:latin typeface="Cambria" charset="0"/>
                        <a:ea typeface="Cambria" charset="0"/>
                        <a:cs typeface="Cambria"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1A5C2C"/>
                    </a:solidFill>
                  </a:tcPr>
                </a:tc>
                <a:tc>
                  <a:txBody>
                    <a:bodyPr/>
                    <a:lstStyle/>
                    <a:p>
                      <a:pPr indent="0" marL="0">
                        <a:buNone/>
                      </a:pPr>
                      <a:r>
                        <a:rPr lang="en-US" sz="2400" b="1" dirty="0">
                          <a:solidFill>
                            <a:srgbClr val="FFFFFF"/>
                          </a:solidFill>
                          <a:latin typeface="Cambria" pitchFamily="34" charset="0"/>
                          <a:ea typeface="Cambria" pitchFamily="34" charset="-122"/>
                          <a:cs typeface="Cambria" pitchFamily="34" charset="-120"/>
                        </a:rPr>
                        <a:t>Expected behavioural standard</a:t>
                      </a:r>
                      <a:endParaRPr lang="en-US" sz="2400" dirty="0">
                        <a:latin typeface="Cambria" charset="0"/>
                        <a:ea typeface="Cambria" charset="0"/>
                        <a:cs typeface="Cambria"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1A5C2C"/>
                    </a:solidFill>
                  </a:tcPr>
                </a:tc>
              </a:tr>
              <a:tr h="658368">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Integrity</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Act honestly, communicate transparently, uphold ethical commitments</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r>
              <a:tr h="658368">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Accountability</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Take ownership, honour commitments, report progress accurately</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r>
              <a:tr h="658368">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Respect</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Treat others fairly, listen constructively, recognise perspectives</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r>
              <a:tr h="658368">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Excellence</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Maintain high standards, address gaps, keep improving</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r>
              <a:tr h="658368">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Collaboration</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Share information, coordinate efforts, contribute to collective outcomes</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1.2 · Organisational culture: how we do things</a:t>
            </a:r>
            <a:endParaRPr lang="en-US" sz="3600" dirty="0"/>
          </a:p>
        </p:txBody>
      </p:sp>
      <p:sp>
        <p:nvSpPr>
          <p:cNvPr id="3" name="Shape 1"/>
          <p:cNvSpPr/>
          <p:nvPr/>
        </p:nvSpPr>
        <p:spPr>
          <a:xfrm>
            <a:off x="548640" y="1508760"/>
            <a:ext cx="5394960" cy="4846320"/>
          </a:xfrm>
          <a:prstGeom prst="roundRect">
            <a:avLst>
              <a:gd name="adj" fmla="val 1887"/>
            </a:avLst>
          </a:prstGeom>
          <a:solidFill>
            <a:srgbClr val="EEF4EF"/>
          </a:solidFill>
          <a:ln w="12700">
            <a:solidFill>
              <a:srgbClr val="EEF4EF"/>
            </a:solidFill>
            <a:prstDash val="solid"/>
          </a:ln>
        </p:spPr>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indent="0" marL="0">
              <a:buNone/>
            </a:pPr>
            <a:r>
              <a:rPr lang="en-US" sz="2800" b="1" dirty="0">
                <a:solidFill>
                  <a:srgbClr val="1A5C2C"/>
                </a:solidFill>
                <a:latin typeface="Cambria" pitchFamily="34" charset="0"/>
                <a:ea typeface="Cambria" pitchFamily="34" charset="-122"/>
                <a:cs typeface="Cambria" pitchFamily="34" charset="-120"/>
              </a:rPr>
              <a:t>Culture</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indent="0" marL="0">
              <a:buNone/>
            </a:pPr>
            <a:r>
              <a:rPr lang="en-US" sz="2400" i="1" dirty="0">
                <a:solidFill>
                  <a:srgbClr val="4E5E53"/>
                </a:solidFill>
                <a:latin typeface="Calibri" pitchFamily="34" charset="0"/>
                <a:ea typeface="Calibri" pitchFamily="34" charset="-122"/>
                <a:cs typeface="Calibri" pitchFamily="34" charset="-120"/>
              </a:rPr>
              <a:t>Shared behavioural norms</a:t>
            </a:r>
            <a:endParaRPr lang="en-US" sz="2400" dirty="0"/>
          </a:p>
        </p:txBody>
      </p:sp>
      <p:sp>
        <p:nvSpPr>
          <p:cNvPr id="8" name="Text 5"/>
          <p:cNvSpPr txBox="1"/>
          <p:nvPr/>
        </p:nvSpPr>
        <p:spPr>
          <a:xfrm>
            <a:off x="868680"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Values become behavioural expectations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Behaviours repeat in daily work</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“The way we do things around here”</a:t>
            </a:r>
            <a:endParaRPr lang="en-US" sz="2400" dirty="0"/>
          </a:p>
        </p:txBody>
      </p:sp>
      <p:sp>
        <p:nvSpPr>
          <p:cNvPr id="9" name="Shape 6"/>
          <p:cNvSpPr/>
          <p:nvPr/>
        </p:nvSpPr>
        <p:spPr>
          <a:xfrm>
            <a:off x="6245352" y="1508760"/>
            <a:ext cx="5394960" cy="4846320"/>
          </a:xfrm>
          <a:prstGeom prst="roundRect">
            <a:avLst>
              <a:gd name="adj" fmla="val 1887"/>
            </a:avLst>
          </a:prstGeom>
          <a:solidFill>
            <a:srgbClr val="1A5C2C"/>
          </a:solidFill>
          <a:ln w="12700">
            <a:solidFill>
              <a:srgbClr val="1A5C2C"/>
            </a:solidFill>
            <a:prstDash val="solid"/>
          </a:ln>
        </p:spPr>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Cultural Operating Code</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indent="0" marL="0">
              <a:buNone/>
            </a:pPr>
            <a:r>
              <a:rPr lang="en-US" sz="2400" i="1" dirty="0">
                <a:solidFill>
                  <a:srgbClr val="E6D3A0"/>
                </a:solidFill>
                <a:latin typeface="Calibri" pitchFamily="34" charset="0"/>
                <a:ea typeface="Calibri" pitchFamily="34" charset="-122"/>
                <a:cs typeface="Calibri" pitchFamily="34" charset="-120"/>
              </a:rPr>
              <a:t>Values made explicit as norms</a:t>
            </a:r>
            <a:endParaRPr lang="en-US" sz="2400" dirty="0"/>
          </a:p>
        </p:txBody>
      </p:sp>
      <p:sp>
        <p:nvSpPr>
          <p:cNvPr id="14" name="Text 10"/>
          <p:cNvSpPr txBox="1"/>
          <p:nvPr/>
        </p:nvSpPr>
        <p:spPr>
          <a:xfrm>
            <a:off x="6565392"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How people work together</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How accountability is exercised</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How people communicate and contribute</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1.3a · The Five Observable Health Traits</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Minimal Politics  </a:t>
            </a:r>
            <a:pPr indent="0" marL="0">
              <a:buNone/>
            </a:pPr>
            <a:r>
              <a:rPr lang="en-US" sz="2400" dirty="0">
                <a:solidFill>
                  <a:srgbClr val="1F2A22"/>
                </a:solidFill>
                <a:latin typeface="Calibri" pitchFamily="34" charset="0"/>
                <a:ea typeface="Calibri" pitchFamily="34" charset="-122"/>
                <a:cs typeface="Calibri" pitchFamily="34" charset="-120"/>
              </a:rPr>
              <a:t>open collaboration, limited personal agendas</a:t>
            </a:r>
            <a:endParaRPr lang="en-US" sz="24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Minimal Confusion  </a:t>
            </a:r>
            <a:pPr indent="0" marL="0">
              <a:buNone/>
            </a:pPr>
            <a:r>
              <a:rPr lang="en-US" sz="2400" dirty="0">
                <a:solidFill>
                  <a:srgbClr val="1F2A22"/>
                </a:solidFill>
                <a:latin typeface="Calibri" pitchFamily="34" charset="0"/>
                <a:ea typeface="Calibri" pitchFamily="34" charset="-122"/>
                <a:cs typeface="Calibri" pitchFamily="34" charset="-120"/>
              </a:rPr>
              <a:t>direction, priorities and responsibilities understood</a:t>
            </a:r>
            <a:endParaRPr lang="en-US" sz="24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High Morale  </a:t>
            </a:r>
            <a:pPr indent="0" marL="0">
              <a:buNone/>
            </a:pPr>
            <a:r>
              <a:rPr lang="en-US" sz="2400" dirty="0">
                <a:solidFill>
                  <a:srgbClr val="1F2A22"/>
                </a:solidFill>
                <a:latin typeface="Calibri" pitchFamily="34" charset="0"/>
                <a:ea typeface="Calibri" pitchFamily="34" charset="-122"/>
                <a:cs typeface="Calibri" pitchFamily="34" charset="-120"/>
              </a:rPr>
              <a:t>commitment, motivation and confidence</a:t>
            </a:r>
            <a:endParaRPr lang="en-US" sz="24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sp>
      <p:pic>
        <p:nvPicPr>
          <p:cNvPr id="13" name="Image 3" descr="preencoded.png">    </p:cNvPr>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High Productivity  </a:t>
            </a:r>
            <a:pPr indent="0" marL="0">
              <a:buNone/>
            </a:pPr>
            <a:r>
              <a:rPr lang="en-US" sz="2400" dirty="0">
                <a:solidFill>
                  <a:srgbClr val="1F2A22"/>
                </a:solidFill>
                <a:latin typeface="Calibri" pitchFamily="34" charset="0"/>
                <a:ea typeface="Calibri" pitchFamily="34" charset="-122"/>
                <a:cs typeface="Calibri" pitchFamily="34" charset="-120"/>
              </a:rPr>
              <a:t>coordinated effort that produces outcomes</a:t>
            </a:r>
            <a:endParaRPr lang="en-US" sz="2400" dirty="0"/>
          </a:p>
        </p:txBody>
      </p:sp>
      <p:sp>
        <p:nvSpPr>
          <p:cNvPr id="15" name="Shape 9"/>
          <p:cNvSpPr/>
          <p:nvPr/>
        </p:nvSpPr>
        <p:spPr>
          <a:xfrm>
            <a:off x="548640" y="5591556"/>
            <a:ext cx="640080" cy="640080"/>
          </a:xfrm>
          <a:prstGeom prst="ellipse">
            <a:avLst/>
          </a:prstGeom>
          <a:solidFill>
            <a:srgbClr val="C6A24C"/>
          </a:solidFill>
          <a:ln w="12700">
            <a:solidFill>
              <a:srgbClr val="C6A24C"/>
            </a:solidFill>
            <a:prstDash val="solid"/>
          </a:ln>
        </p:spPr>
      </p:sp>
      <p:pic>
        <p:nvPicPr>
          <p:cNvPr id="16" name="Image 4" descr="preencoded.png">    </p:cNvPr>
          <p:cNvPicPr>
            <a:picLocks noChangeAspect="1"/>
          </p:cNvPicPr>
          <p:nvPr/>
        </p:nvPicPr>
        <p:blipFill>
          <a:blip r:embed="rId5"/>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Low Turnover  </a:t>
            </a:r>
            <a:pPr indent="0" marL="0">
              <a:buNone/>
            </a:pPr>
            <a:r>
              <a:rPr lang="en-US" sz="2400" dirty="0">
                <a:solidFill>
                  <a:srgbClr val="1F2A22"/>
                </a:solidFill>
                <a:latin typeface="Calibri" pitchFamily="34" charset="0"/>
                <a:ea typeface="Calibri" pitchFamily="34" charset="-122"/>
                <a:cs typeface="Calibri" pitchFamily="34" charset="-120"/>
              </a:rPr>
              <a:t>capable employees choose to stay</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1.3b · The Organisational Health Pyramid</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1 · Trust  </a:t>
            </a:r>
            <a:pPr indent="0" marL="0">
              <a:buNone/>
            </a:pPr>
            <a:r>
              <a:rPr lang="en-US" sz="2600" dirty="0">
                <a:solidFill>
                  <a:srgbClr val="1F2A22"/>
                </a:solidFill>
                <a:latin typeface="Calibri" pitchFamily="34" charset="0"/>
                <a:ea typeface="Calibri" pitchFamily="34" charset="-122"/>
                <a:cs typeface="Calibri" pitchFamily="34" charset="-120"/>
              </a:rPr>
              <a:t>the foundation</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2 · Experiences  </a:t>
            </a:r>
            <a:pPr indent="0" marL="0">
              <a:buNone/>
            </a:pPr>
            <a:r>
              <a:rPr lang="en-US" sz="2600" dirty="0">
                <a:solidFill>
                  <a:srgbClr val="1F2A22"/>
                </a:solidFill>
                <a:latin typeface="Calibri" pitchFamily="34" charset="0"/>
                <a:ea typeface="Calibri" pitchFamily="34" charset="-122"/>
                <a:cs typeface="Calibri" pitchFamily="34" charset="-120"/>
              </a:rPr>
              <a:t>shaped by trust</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3 · Beliefs  </a:t>
            </a:r>
            <a:pPr indent="0" marL="0">
              <a:buNone/>
            </a:pPr>
            <a:r>
              <a:rPr lang="en-US" sz="2600" dirty="0">
                <a:solidFill>
                  <a:srgbClr val="1F2A22"/>
                </a:solidFill>
                <a:latin typeface="Calibri" pitchFamily="34" charset="0"/>
                <a:ea typeface="Calibri" pitchFamily="34" charset="-122"/>
                <a:cs typeface="Calibri" pitchFamily="34" charset="-120"/>
              </a:rPr>
              <a:t>formed by experiences</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sp>
      <p:pic>
        <p:nvPicPr>
          <p:cNvPr id="13" name="Image 3" descr="preencoded.png">    </p:cNvPr>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4 · Actions  </a:t>
            </a:r>
            <a:pPr indent="0" marL="0">
              <a:buNone/>
            </a:pPr>
            <a:r>
              <a:rPr lang="en-US" sz="2600" dirty="0">
                <a:solidFill>
                  <a:srgbClr val="1F2A22"/>
                </a:solidFill>
                <a:latin typeface="Calibri" pitchFamily="34" charset="0"/>
                <a:ea typeface="Calibri" pitchFamily="34" charset="-122"/>
                <a:cs typeface="Calibri" pitchFamily="34" charset="-120"/>
              </a:rPr>
              <a:t>driven by beliefs</a:t>
            </a:r>
            <a:endParaRPr lang="en-US" sz="2600" dirty="0"/>
          </a:p>
        </p:txBody>
      </p:sp>
      <p:sp>
        <p:nvSpPr>
          <p:cNvPr id="15" name="Shape 9"/>
          <p:cNvSpPr/>
          <p:nvPr/>
        </p:nvSpPr>
        <p:spPr>
          <a:xfrm>
            <a:off x="548640" y="5591556"/>
            <a:ext cx="640080" cy="640080"/>
          </a:xfrm>
          <a:prstGeom prst="ellipse">
            <a:avLst/>
          </a:prstGeom>
          <a:solidFill>
            <a:srgbClr val="C6A24C"/>
          </a:solidFill>
          <a:ln w="12700">
            <a:solidFill>
              <a:srgbClr val="C6A24C"/>
            </a:solidFill>
            <a:prstDash val="solid"/>
          </a:ln>
        </p:spPr>
      </p:sp>
      <p:pic>
        <p:nvPicPr>
          <p:cNvPr id="16" name="Image 4" descr="preencoded.png">    </p:cNvPr>
          <p:cNvPicPr>
            <a:picLocks noChangeAspect="1"/>
          </p:cNvPicPr>
          <p:nvPr/>
        </p:nvPicPr>
        <p:blipFill>
          <a:blip r:embed="rId5"/>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5 · Results  </a:t>
            </a:r>
            <a:pPr indent="0" marL="0">
              <a:buNone/>
            </a:pPr>
            <a:r>
              <a:rPr lang="en-US" sz="2600" dirty="0">
                <a:solidFill>
                  <a:srgbClr val="1F2A22"/>
                </a:solidFill>
                <a:latin typeface="Calibri" pitchFamily="34" charset="0"/>
                <a:ea typeface="Calibri" pitchFamily="34" charset="-122"/>
                <a:cs typeface="Calibri" pitchFamily="34" charset="-120"/>
              </a:rPr>
              <a:t>the visible traits</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1.3c · Connecting the traits and the pyramid</a:t>
            </a:r>
            <a:endParaRPr lang="en-US" sz="36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indent="0" marL="0">
              <a:buNone/>
            </a:pPr>
            <a:r>
              <a:rPr lang="en-US" sz="2800" b="1" dirty="0">
                <a:solidFill>
                  <a:srgbClr val="1A5C2C"/>
                </a:solidFill>
                <a:latin typeface="Cambria" pitchFamily="34" charset="0"/>
                <a:ea typeface="Cambria" pitchFamily="34" charset="-122"/>
                <a:cs typeface="Cambria" pitchFamily="34" charset="-120"/>
              </a:rPr>
              <a:t>The Five Traits</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indent="0" marL="0">
              <a:buNone/>
            </a:pPr>
            <a:r>
              <a:rPr lang="en-US" sz="2400" i="1" dirty="0">
                <a:solidFill>
                  <a:srgbClr val="4E5E53"/>
                </a:solidFill>
                <a:latin typeface="Calibri" pitchFamily="34" charset="0"/>
                <a:ea typeface="Calibri" pitchFamily="34" charset="-122"/>
                <a:cs typeface="Calibri" pitchFamily="34" charset="-120"/>
              </a:rPr>
              <a:t>What we see</a:t>
            </a:r>
            <a:endParaRPr lang="en-US" sz="2400" dirty="0"/>
          </a:p>
        </p:txBody>
      </p:sp>
      <p:sp>
        <p:nvSpPr>
          <p:cNvPr id="8" name="Text 5"/>
          <p:cNvSpPr txBox="1"/>
          <p:nvPr/>
        </p:nvSpPr>
        <p:spPr>
          <a:xfrm>
            <a:off x="868680"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The visible condition of organisational health</a:t>
            </a:r>
            <a:endParaRPr lang="en-US" sz="2400" dirty="0"/>
          </a:p>
        </p:txBody>
      </p:sp>
      <p:sp>
        <p:nvSpPr>
          <p:cNvPr id="9" name="Shape 6"/>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The Pyramid</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indent="0" marL="0">
              <a:buNone/>
            </a:pPr>
            <a:r>
              <a:rPr lang="en-US" sz="2400" i="1" dirty="0">
                <a:solidFill>
                  <a:srgbClr val="E6D3A0"/>
                </a:solidFill>
                <a:latin typeface="Calibri" pitchFamily="34" charset="0"/>
                <a:ea typeface="Calibri" pitchFamily="34" charset="-122"/>
                <a:cs typeface="Calibri" pitchFamily="34" charset="-120"/>
              </a:rPr>
              <a:t>How it develops</a:t>
            </a:r>
            <a:endParaRPr lang="en-US" sz="2400" dirty="0"/>
          </a:p>
        </p:txBody>
      </p:sp>
      <p:sp>
        <p:nvSpPr>
          <p:cNvPr id="14" name="Text 10"/>
          <p:cNvSpPr txBox="1"/>
          <p:nvPr/>
        </p:nvSpPr>
        <p:spPr>
          <a:xfrm>
            <a:off x="6565392"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Trust, experiences, beliefs and actions beneath the results</a:t>
            </a:r>
            <a:endParaRPr lang="en-US" sz="2400" dirty="0"/>
          </a:p>
        </p:txBody>
      </p:sp>
      <p:sp>
        <p:nvSpPr>
          <p:cNvPr id="15" name="Shape 1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sp>
      <p:sp>
        <p:nvSpPr>
          <p:cNvPr id="16" name="Text 12"/>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When trust deteriorates, the visible traits weaken over time.</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2</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Intelligence — Why</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Why Organisational Health Determines Execution Performance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243584"/>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Determine how organisational health can be leveraged to strengthen strategy execution capability and sustain enterprise performance.</a:t>
            </a:r>
            <a:endParaRPr lang="en-US" sz="2400" dirty="0"/>
          </a:p>
        </p:txBody>
      </p:sp>
      <p:sp>
        <p:nvSpPr>
          <p:cNvPr id="10" name="Shape 7"/>
          <p:cNvSpPr/>
          <p:nvPr/>
        </p:nvSpPr>
        <p:spPr>
          <a:xfrm>
            <a:off x="2743200" y="5248656"/>
            <a:ext cx="384048" cy="384048"/>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2839212" y="5344668"/>
            <a:ext cx="192024" cy="192024"/>
          </a:xfrm>
          <a:prstGeom prst="rect">
            <a:avLst/>
          </a:prstGeom>
        </p:spPr>
      </p:pic>
      <p:sp>
        <p:nvSpPr>
          <p:cNvPr id="12" name="Text 8"/>
          <p:cNvSpPr txBox="1"/>
          <p:nvPr/>
        </p:nvSpPr>
        <p:spPr>
          <a:xfrm>
            <a:off x="3291840" y="5175504"/>
            <a:ext cx="8412480" cy="1243584"/>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Quantify the enterprise cost of poor organisational health to direct leadership attention to its performance implications.</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2.1 · Health as a performance multiplier</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Strategic Direction  </a:t>
            </a:r>
            <a:pPr indent="0" marL="0">
              <a:buNone/>
            </a:pPr>
            <a:r>
              <a:rPr lang="en-US" sz="2400" dirty="0">
                <a:solidFill>
                  <a:srgbClr val="1F2A22"/>
                </a:solidFill>
                <a:latin typeface="Calibri" pitchFamily="34" charset="0"/>
                <a:ea typeface="Calibri" pitchFamily="34" charset="-122"/>
                <a:cs typeface="Calibri" pitchFamily="34" charset="-120"/>
              </a:rPr>
              <a:t>shared commitment strengthens alignment</a:t>
            </a:r>
            <a:endParaRPr lang="en-US" sz="24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Execution Accountability  </a:t>
            </a:r>
            <a:pPr indent="0" marL="0">
              <a:buNone/>
            </a:pPr>
            <a:r>
              <a:rPr lang="en-US" sz="2400" dirty="0">
                <a:solidFill>
                  <a:srgbClr val="1F2A22"/>
                </a:solidFill>
                <a:latin typeface="Calibri" pitchFamily="34" charset="0"/>
                <a:ea typeface="Calibri" pitchFamily="34" charset="-122"/>
                <a:cs typeface="Calibri" pitchFamily="34" charset="-120"/>
              </a:rPr>
              <a:t>trust and ownership support delivery</a:t>
            </a:r>
            <a:endParaRPr lang="en-US" sz="24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Performance Management  </a:t>
            </a:r>
            <a:pPr indent="0" marL="0">
              <a:buNone/>
            </a:pPr>
            <a:r>
              <a:rPr lang="en-US" sz="2400" dirty="0">
                <a:solidFill>
                  <a:srgbClr val="1F2A22"/>
                </a:solidFill>
                <a:latin typeface="Calibri" pitchFamily="34" charset="0"/>
                <a:ea typeface="Calibri" pitchFamily="34" charset="-122"/>
                <a:cs typeface="Calibri" pitchFamily="34" charset="-120"/>
              </a:rPr>
              <a:t>openness enables corrective action</a:t>
            </a:r>
            <a:endParaRPr lang="en-US" sz="24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sp>
      <p:pic>
        <p:nvPicPr>
          <p:cNvPr id="13" name="Image 3" descr="preencoded.png">    </p:cNvPr>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Enterprise Collaboration  </a:t>
            </a:r>
            <a:pPr indent="0" marL="0">
              <a:buNone/>
            </a:pPr>
            <a:r>
              <a:rPr lang="en-US" sz="2400" dirty="0">
                <a:solidFill>
                  <a:srgbClr val="1F2A22"/>
                </a:solidFill>
                <a:latin typeface="Calibri" pitchFamily="34" charset="0"/>
                <a:ea typeface="Calibri" pitchFamily="34" charset="-122"/>
                <a:cs typeface="Calibri" pitchFamily="34" charset="-120"/>
              </a:rPr>
              <a:t>shared responsibility strengthens coordination</a:t>
            </a:r>
            <a:endParaRPr lang="en-US" sz="2400" dirty="0"/>
          </a:p>
        </p:txBody>
      </p:sp>
      <p:sp>
        <p:nvSpPr>
          <p:cNvPr id="15" name="Shape 9"/>
          <p:cNvSpPr/>
          <p:nvPr/>
        </p:nvSpPr>
        <p:spPr>
          <a:xfrm>
            <a:off x="548640" y="5591556"/>
            <a:ext cx="640080" cy="640080"/>
          </a:xfrm>
          <a:prstGeom prst="ellipse">
            <a:avLst/>
          </a:prstGeom>
          <a:solidFill>
            <a:srgbClr val="C6A24C"/>
          </a:solidFill>
          <a:ln w="12700">
            <a:solidFill>
              <a:srgbClr val="C6A24C"/>
            </a:solidFill>
            <a:prstDash val="solid"/>
          </a:ln>
        </p:spPr>
      </p:sp>
      <p:pic>
        <p:nvPicPr>
          <p:cNvPr id="16" name="Image 4" descr="preencoded.png">    </p:cNvPr>
          <p:cNvPicPr>
            <a:picLocks noChangeAspect="1"/>
          </p:cNvPicPr>
          <p:nvPr/>
        </p:nvPicPr>
        <p:blipFill>
          <a:blip r:embed="rId5"/>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Organisational Adaptability  </a:t>
            </a:r>
            <a:pPr indent="0" marL="0">
              <a:buNone/>
            </a:pPr>
            <a:r>
              <a:rPr lang="en-US" sz="2400" dirty="0">
                <a:solidFill>
                  <a:srgbClr val="1F2A22"/>
                </a:solidFill>
                <a:latin typeface="Calibri" pitchFamily="34" charset="0"/>
                <a:ea typeface="Calibri" pitchFamily="34" charset="-122"/>
                <a:cs typeface="Calibri" pitchFamily="34" charset="-120"/>
              </a:rPr>
              <a:t>confidence supports responsiveness</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2.2 · Organisational health and execution velocity</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Performance concerns are raised and addressed early.</a:t>
            </a:r>
            <a:endParaRPr lang="en-US" sz="24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Decisions and commitments are followed through.</a:t>
            </a:r>
            <a:endParaRPr lang="en-US" sz="24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Information moves effectively across functions.</a:t>
            </a:r>
            <a:endParaRPr lang="en-US" sz="24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sp>
      <p:pic>
        <p:nvPicPr>
          <p:cNvPr id="13" name="Image 3" descr="preencoded.png">    </p:cNvPr>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Teams coordinate contributions towards shared priorities.</a:t>
            </a:r>
            <a:endParaRPr lang="en-US" sz="2400" dirty="0"/>
          </a:p>
        </p:txBody>
      </p:sp>
      <p:sp>
        <p:nvSpPr>
          <p:cNvPr id="15" name="Shape 9"/>
          <p:cNvSpPr/>
          <p:nvPr/>
        </p:nvSpPr>
        <p:spPr>
          <a:xfrm>
            <a:off x="548640" y="5591556"/>
            <a:ext cx="640080" cy="640080"/>
          </a:xfrm>
          <a:prstGeom prst="ellipse">
            <a:avLst/>
          </a:prstGeom>
          <a:solidFill>
            <a:srgbClr val="C6A24C"/>
          </a:solidFill>
          <a:ln w="12700">
            <a:solidFill>
              <a:srgbClr val="C6A24C"/>
            </a:solidFill>
            <a:prstDash val="solid"/>
          </a:ln>
        </p:spPr>
      </p:sp>
      <p:pic>
        <p:nvPicPr>
          <p:cNvPr id="16" name="Image 4" descr="preencoded.png">    </p:cNvPr>
          <p:cNvPicPr>
            <a:picLocks noChangeAspect="1"/>
          </p:cNvPicPr>
          <p:nvPr/>
        </p:nvPicPr>
        <p:blipFill>
          <a:blip r:embed="rId5"/>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Employees remain engaged in delivering objectives.</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2.3a · The price of poor organisational health</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Lost Time  </a:t>
            </a:r>
            <a:pPr indent="0" marL="0">
              <a:buNone/>
            </a:pPr>
            <a:r>
              <a:rPr lang="en-US" sz="2400" dirty="0">
                <a:solidFill>
                  <a:srgbClr val="1F2A22"/>
                </a:solidFill>
                <a:latin typeface="Calibri" pitchFamily="34" charset="0"/>
                <a:ea typeface="Calibri" pitchFamily="34" charset="-122"/>
                <a:cs typeface="Calibri" pitchFamily="34" charset="-120"/>
              </a:rPr>
              <a:t>reduced productivity and slower execution</a:t>
            </a:r>
            <a:endParaRPr lang="en-US" sz="24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Employee Disengagement  </a:t>
            </a:r>
            <a:pPr indent="0" marL="0">
              <a:buNone/>
            </a:pPr>
            <a:r>
              <a:rPr lang="en-US" sz="2400" dirty="0">
                <a:solidFill>
                  <a:srgbClr val="1F2A22"/>
                </a:solidFill>
                <a:latin typeface="Calibri" pitchFamily="34" charset="0"/>
                <a:ea typeface="Calibri" pitchFamily="34" charset="-122"/>
                <a:cs typeface="Calibri" pitchFamily="34" charset="-120"/>
              </a:rPr>
              <a:t>lower contribution, weaker momentum</a:t>
            </a:r>
            <a:endParaRPr lang="en-US" sz="24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Declining Trust  </a:t>
            </a:r>
            <a:pPr indent="0" marL="0">
              <a:buNone/>
            </a:pPr>
            <a:r>
              <a:rPr lang="en-US" sz="2400" dirty="0">
                <a:solidFill>
                  <a:srgbClr val="1F2A22"/>
                </a:solidFill>
                <a:latin typeface="Calibri" pitchFamily="34" charset="0"/>
                <a:ea typeface="Calibri" pitchFamily="34" charset="-122"/>
                <a:cs typeface="Calibri" pitchFamily="34" charset="-120"/>
              </a:rPr>
              <a:t>reduced collaboration, slower resolution</a:t>
            </a:r>
            <a:endParaRPr lang="en-US" sz="24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sp>
      <p:pic>
        <p:nvPicPr>
          <p:cNvPr id="13" name="Image 3" descr="preencoded.png">    </p:cNvPr>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Emotional Fatigue  </a:t>
            </a:r>
            <a:pPr indent="0" marL="0">
              <a:buNone/>
            </a:pPr>
            <a:r>
              <a:rPr lang="en-US" sz="2400" dirty="0">
                <a:solidFill>
                  <a:srgbClr val="1F2A22"/>
                </a:solidFill>
                <a:latin typeface="Calibri" pitchFamily="34" charset="0"/>
                <a:ea typeface="Calibri" pitchFamily="34" charset="-122"/>
                <a:cs typeface="Calibri" pitchFamily="34" charset="-120"/>
              </a:rPr>
              <a:t>reduced morale, commitment, effectiveness</a:t>
            </a:r>
            <a:endParaRPr lang="en-US" sz="2400" dirty="0"/>
          </a:p>
        </p:txBody>
      </p:sp>
      <p:sp>
        <p:nvSpPr>
          <p:cNvPr id="15" name="Shape 9"/>
          <p:cNvSpPr/>
          <p:nvPr/>
        </p:nvSpPr>
        <p:spPr>
          <a:xfrm>
            <a:off x="548640" y="5591556"/>
            <a:ext cx="640080" cy="640080"/>
          </a:xfrm>
          <a:prstGeom prst="ellipse">
            <a:avLst/>
          </a:prstGeom>
          <a:solidFill>
            <a:srgbClr val="C6A24C"/>
          </a:solidFill>
          <a:ln w="12700">
            <a:solidFill>
              <a:srgbClr val="C6A24C"/>
            </a:solidFill>
            <a:prstDash val="solid"/>
          </a:ln>
        </p:spPr>
      </p:sp>
      <p:pic>
        <p:nvPicPr>
          <p:cNvPr id="16" name="Image 4" descr="preencoded.png">    </p:cNvPr>
          <p:cNvPicPr>
            <a:picLocks noChangeAspect="1"/>
          </p:cNvPicPr>
          <p:nvPr/>
        </p:nvPicPr>
        <p:blipFill>
          <a:blip r:embed="rId5"/>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Talent Loss  </a:t>
            </a:r>
            <a:pPr indent="0" marL="0">
              <a:buNone/>
            </a:pPr>
            <a:r>
              <a:rPr lang="en-US" sz="2400" dirty="0">
                <a:solidFill>
                  <a:srgbClr val="1F2A22"/>
                </a:solidFill>
                <a:latin typeface="Calibri" pitchFamily="34" charset="0"/>
                <a:ea typeface="Calibri" pitchFamily="34" charset="-122"/>
                <a:cs typeface="Calibri" pitchFamily="34" charset="-120"/>
              </a:rPr>
              <a:t>lost knowledge, capability, continuity</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2.3b · How the hidden costs accumulate</a:t>
            </a:r>
            <a:endParaRPr lang="en-US" sz="3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5943600"/>
                <a:gridCol w="5148072"/>
              </a:tblGrid>
              <a:tr h="566928">
                <a:tc>
                  <a:txBody>
                    <a:bodyPr/>
                    <a:lstStyle/>
                    <a:p>
                      <a:pPr indent="0" marL="0">
                        <a:buNone/>
                      </a:pPr>
                      <a:r>
                        <a:rPr lang="en-US" sz="2400" b="1" dirty="0">
                          <a:solidFill>
                            <a:srgbClr val="FFFFFF"/>
                          </a:solidFill>
                          <a:latin typeface="Cambria" pitchFamily="34" charset="0"/>
                          <a:ea typeface="Cambria" pitchFamily="34" charset="-122"/>
                          <a:cs typeface="Cambria" pitchFamily="34" charset="-120"/>
                        </a:rPr>
                        <a:t>Hidden cost</a:t>
                      </a:r>
                      <a:endParaRPr lang="en-US" sz="2400" dirty="0">
                        <a:latin typeface="Cambria" charset="0"/>
                        <a:ea typeface="Cambria" charset="0"/>
                        <a:cs typeface="Cambria"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1A5C2C"/>
                    </a:solidFill>
                  </a:tcPr>
                </a:tc>
                <a:tc>
                  <a:txBody>
                    <a:bodyPr/>
                    <a:lstStyle/>
                    <a:p>
                      <a:pPr indent="0" marL="0">
                        <a:buNone/>
                      </a:pPr>
                      <a:r>
                        <a:rPr lang="en-US" sz="2400" b="1" dirty="0">
                          <a:solidFill>
                            <a:srgbClr val="FFFFFF"/>
                          </a:solidFill>
                          <a:latin typeface="Cambria" pitchFamily="34" charset="0"/>
                          <a:ea typeface="Cambria" pitchFamily="34" charset="-122"/>
                          <a:cs typeface="Cambria" pitchFamily="34" charset="-120"/>
                        </a:rPr>
                        <a:t>Illustrative annual cost</a:t>
                      </a:r>
                      <a:endParaRPr lang="en-US" sz="2400" dirty="0">
                        <a:latin typeface="Cambria" charset="0"/>
                        <a:ea typeface="Cambria" charset="0"/>
                        <a:cs typeface="Cambria"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1A5C2C"/>
                    </a:solidFill>
                  </a:tcPr>
                </a:tc>
              </a:tr>
              <a:tr h="566928">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Lost Time</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R644,000</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r>
              <a:tr h="566928">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Employee Disengagement</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R414,000</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r>
              <a:tr h="566928">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Declining Trust</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R172,800</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r>
              <a:tr h="566928">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Emotional Fatigue</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R100,000</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r>
              <a:tr h="566928">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Talent Loss</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R340,000</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r>
            </a:tbl>
          </a:graphicData>
        </a:graphic>
      </p:graphicFrame>
      <p:sp>
        <p:nvSpPr>
          <p:cNvPr id="4" name="Shape 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sp>
      <p:sp>
        <p:nvSpPr>
          <p:cNvPr id="5" name="Text 2"/>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Small, recurring losses accumulate into a material annual cost.</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2.4 · Health and sustained performance</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Consistent execution of organisational priorities</a:t>
            </a:r>
            <a:endParaRPr lang="en-US" sz="24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Constructive performance accountability</a:t>
            </a:r>
            <a:endParaRPr lang="en-US" sz="24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Effective collaboration across functions</a:t>
            </a:r>
            <a:endParaRPr lang="en-US" sz="24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sp>
      <p:pic>
        <p:nvPicPr>
          <p:cNvPr id="13" name="Image 3" descr="preencoded.png">    </p:cNvPr>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Employee commitment and capability retention</a:t>
            </a:r>
            <a:endParaRPr lang="en-US" sz="2400" dirty="0"/>
          </a:p>
        </p:txBody>
      </p:sp>
      <p:sp>
        <p:nvSpPr>
          <p:cNvPr id="15" name="Shape 9"/>
          <p:cNvSpPr/>
          <p:nvPr/>
        </p:nvSpPr>
        <p:spPr>
          <a:xfrm>
            <a:off x="548640" y="5591556"/>
            <a:ext cx="640080" cy="640080"/>
          </a:xfrm>
          <a:prstGeom prst="ellipse">
            <a:avLst/>
          </a:prstGeom>
          <a:solidFill>
            <a:srgbClr val="C6A24C"/>
          </a:solidFill>
          <a:ln w="12700">
            <a:solidFill>
              <a:srgbClr val="C6A24C"/>
            </a:solidFill>
            <a:prstDash val="solid"/>
          </a:ln>
        </p:spPr>
      </p:sp>
      <p:pic>
        <p:nvPicPr>
          <p:cNvPr id="16" name="Image 4" descr="preencoded.png">    </p:cNvPr>
          <p:cNvPicPr>
            <a:picLocks noChangeAspect="1"/>
          </p:cNvPicPr>
          <p:nvPr/>
        </p:nvPicPr>
        <p:blipFill>
          <a:blip r:embed="rId5"/>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Organisational learning and continuous improvement</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2.5 · Executive reflection</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Where is organisational health strengthening execution performance?</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Which hidden costs of poor organisational health are most evident?</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What is the estimated annual cost of the most significant loss?</a:t>
            </a:r>
            <a:endParaRPr lang="en-US" sz="24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sp>
      <p:pic>
        <p:nvPicPr>
          <p:cNvPr id="13" name="Image 3" descr="preencoded.png">    </p:cNvPr>
          <p:cNvPicPr>
            <a:picLocks noChangeAspect="1"/>
          </p:cNvPicPr>
          <p:nvPr/>
        </p:nvPicPr>
        <p:blipFill>
          <a:blip r:embed="rId4"/>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Which leadership response would reduce it, and how would its financial impact be tracked?</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3</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Extrapolating — Where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Where Are the Organisational Health Signals?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243584"/>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Diagnose people-performance vulnerabilities to establish how organisational culture shapes employee behaviour and contribution.</a:t>
            </a:r>
            <a:endParaRPr lang="en-US" sz="2400" dirty="0"/>
          </a:p>
        </p:txBody>
      </p:sp>
      <p:sp>
        <p:nvSpPr>
          <p:cNvPr id="10" name="Shape 7"/>
          <p:cNvSpPr/>
          <p:nvPr/>
        </p:nvSpPr>
        <p:spPr>
          <a:xfrm>
            <a:off x="2743200" y="5248656"/>
            <a:ext cx="384048" cy="384048"/>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2839212" y="5344668"/>
            <a:ext cx="192024" cy="192024"/>
          </a:xfrm>
          <a:prstGeom prst="rect">
            <a:avLst/>
          </a:prstGeom>
        </p:spPr>
      </p:pic>
      <p:sp>
        <p:nvSpPr>
          <p:cNvPr id="12" name="Text 8"/>
          <p:cNvSpPr txBox="1"/>
          <p:nvPr/>
        </p:nvSpPr>
        <p:spPr>
          <a:xfrm>
            <a:off x="3291840" y="5175504"/>
            <a:ext cx="8412480" cy="1243584"/>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Apply debiasing techniques to challenge functional assumptions and establish evidence-based assessments of organisational health.</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3.1a · Health signals: strong and vulnerable</a:t>
            </a:r>
            <a:endParaRPr lang="en-US" sz="3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3291840"/>
                <a:gridCol w="3904488"/>
                <a:gridCol w="3895344"/>
              </a:tblGrid>
              <a:tr h="685800">
                <a:tc>
                  <a:txBody>
                    <a:bodyPr/>
                    <a:lstStyle/>
                    <a:p>
                      <a:pPr indent="0" marL="0">
                        <a:buNone/>
                      </a:pPr>
                      <a:r>
                        <a:rPr lang="en-US" sz="2400" b="1" dirty="0">
                          <a:solidFill>
                            <a:srgbClr val="FFFFFF"/>
                          </a:solidFill>
                          <a:latin typeface="Cambria" pitchFamily="34" charset="0"/>
                          <a:ea typeface="Cambria" pitchFamily="34" charset="-122"/>
                          <a:cs typeface="Cambria" pitchFamily="34" charset="-120"/>
                        </a:rPr>
                        <a:t>Trait</a:t>
                      </a:r>
                      <a:endParaRPr lang="en-US" sz="2400" dirty="0">
                        <a:latin typeface="Cambria" charset="0"/>
                        <a:ea typeface="Cambria" charset="0"/>
                        <a:cs typeface="Cambria"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1A5C2C"/>
                    </a:solidFill>
                  </a:tcPr>
                </a:tc>
                <a:tc>
                  <a:txBody>
                    <a:bodyPr/>
                    <a:lstStyle/>
                    <a:p>
                      <a:pPr indent="0" marL="0">
                        <a:buNone/>
                      </a:pPr>
                      <a:r>
                        <a:rPr lang="en-US" sz="2400" b="1" dirty="0">
                          <a:solidFill>
                            <a:srgbClr val="FFFFFF"/>
                          </a:solidFill>
                          <a:latin typeface="Cambria" pitchFamily="34" charset="0"/>
                          <a:ea typeface="Cambria" pitchFamily="34" charset="-122"/>
                          <a:cs typeface="Cambria" pitchFamily="34" charset="-120"/>
                        </a:rPr>
                        <a:t>Strong signal</a:t>
                      </a:r>
                      <a:endParaRPr lang="en-US" sz="2400" dirty="0">
                        <a:latin typeface="Cambria" charset="0"/>
                        <a:ea typeface="Cambria" charset="0"/>
                        <a:cs typeface="Cambria"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1A5C2C"/>
                    </a:solidFill>
                  </a:tcPr>
                </a:tc>
                <a:tc>
                  <a:txBody>
                    <a:bodyPr/>
                    <a:lstStyle/>
                    <a:p>
                      <a:pPr indent="0" marL="0">
                        <a:buNone/>
                      </a:pPr>
                      <a:r>
                        <a:rPr lang="en-US" sz="2400" b="1" dirty="0">
                          <a:solidFill>
                            <a:srgbClr val="FFFFFF"/>
                          </a:solidFill>
                          <a:latin typeface="Cambria" pitchFamily="34" charset="0"/>
                          <a:ea typeface="Cambria" pitchFamily="34" charset="-122"/>
                          <a:cs typeface="Cambria" pitchFamily="34" charset="-120"/>
                        </a:rPr>
                        <a:t>Vulnerable signal</a:t>
                      </a:r>
                      <a:endParaRPr lang="en-US" sz="2400" dirty="0">
                        <a:latin typeface="Cambria" charset="0"/>
                        <a:ea typeface="Cambria" charset="0"/>
                        <a:cs typeface="Cambria"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1A5C2C"/>
                    </a:solidFill>
                  </a:tcPr>
                </a:tc>
              </a:tr>
              <a:tr h="685800">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Minimal Politics</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Information is shared</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Territorial behaviour</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r>
              <a:tr h="685800">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Minimal Confusion</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Expectations understood</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Conflicting instructions</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r>
              <a:tr h="685800">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High Morale</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Initiative and confidence</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Withdrawal</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r>
              <a:tr h="685800">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High Productivity</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Commitments fulfilled</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Missed commitments</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r>
              <a:tr h="685800">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Low Turnover</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Capable people stay</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Rising departures</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3.1b · Reading the Health Thermometer</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Strong</a:t>
            </a:r>
            <a:endParaRPr lang="en-US" sz="2600" dirty="0"/>
          </a:p>
        </p:txBody>
      </p:sp>
      <p:sp>
        <p:nvSpPr>
          <p:cNvPr id="7" name="Text 4"/>
          <p:cNvSpPr txBox="1"/>
          <p:nvPr/>
        </p:nvSpPr>
        <p:spPr>
          <a:xfrm>
            <a:off x="777240" y="3159252"/>
            <a:ext cx="3057144" cy="214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Positive behaviours are consistently observed.</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sp>
      <p:pic>
        <p:nvPicPr>
          <p:cNvPr id="10" name="Image 1" descr="preencoded.png">    </p:cNvPr>
          <p:cNvPicPr>
            <a:picLocks noChangeAspect="1"/>
          </p:cNvPicPr>
          <p:nvPr/>
        </p:nvPicPr>
        <p:blipFill>
          <a:blip r:embed="rId2"/>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Vulnerable</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Negative signals are emerging or uneven.</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sp>
      <p:pic>
        <p:nvPicPr>
          <p:cNvPr id="15" name="Image 2" descr="preencoded.png">    </p:cNvPr>
          <p:cNvPicPr>
            <a:picLocks noChangeAspect="1"/>
          </p:cNvPicPr>
          <p:nvPr/>
        </p:nvPicPr>
        <p:blipFill>
          <a:blip r:embed="rId3"/>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Poor</a:t>
            </a:r>
            <a:endParaRPr lang="en-US" sz="2600" dirty="0"/>
          </a:p>
        </p:txBody>
      </p:sp>
      <p:sp>
        <p:nvSpPr>
          <p:cNvPr id="17" name="Text 12"/>
          <p:cNvSpPr txBox="1"/>
          <p:nvPr/>
        </p:nvSpPr>
        <p:spPr>
          <a:xfrm>
            <a:off x="8354568" y="3159252"/>
            <a:ext cx="3057144" cy="2144268"/>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Negative signals are persistent or widespread.</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sp>
      <p:sp>
        <p:nvSpPr>
          <p:cNvPr id="19" name="Text 14"/>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Ratings must be supported by evidence.</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3.2 · CXO functional bias in health diagnosis</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CEO  </a:t>
            </a:r>
            <a:pPr indent="0" marL="0">
              <a:buNone/>
            </a:pPr>
            <a:r>
              <a:rPr lang="en-US" sz="2400" dirty="0">
                <a:solidFill>
                  <a:srgbClr val="1F2A22"/>
                </a:solidFill>
                <a:latin typeface="Calibri" pitchFamily="34" charset="0"/>
                <a:ea typeface="Calibri" pitchFamily="34" charset="-122"/>
                <a:cs typeface="Calibri" pitchFamily="34" charset="-120"/>
              </a:rPr>
              <a:t>Test across levels · Examine employee experiences</a:t>
            </a:r>
            <a:endParaRPr lang="en-US" sz="24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CFO  </a:t>
            </a:r>
            <a:pPr indent="0" marL="0">
              <a:buNone/>
            </a:pPr>
            <a:r>
              <a:rPr lang="en-US" sz="2400" dirty="0">
                <a:solidFill>
                  <a:srgbClr val="1F2A22"/>
                </a:solidFill>
                <a:latin typeface="Calibri" pitchFamily="34" charset="0"/>
                <a:ea typeface="Calibri" pitchFamily="34" charset="-122"/>
                <a:cs typeface="Calibri" pitchFamily="34" charset="-120"/>
              </a:rPr>
              <a:t>Separate effort from conditions · Examine retention quality</a:t>
            </a:r>
            <a:endParaRPr lang="en-US" sz="24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CHRO  </a:t>
            </a:r>
            <a:pPr indent="0" marL="0">
              <a:buNone/>
            </a:pPr>
            <a:r>
              <a:rPr lang="en-US" sz="2400" dirty="0">
                <a:solidFill>
                  <a:srgbClr val="1F2A22"/>
                </a:solidFill>
                <a:latin typeface="Calibri" pitchFamily="34" charset="0"/>
                <a:ea typeface="Calibri" pitchFamily="34" charset="-122"/>
                <a:cs typeface="Calibri" pitchFamily="34" charset="-120"/>
              </a:rPr>
              <a:t>Test lived expectations · Triangulate · Challenge the assumption</a:t>
            </a:r>
            <a:endParaRPr lang="en-US" sz="24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sp>
      <p:pic>
        <p:nvPicPr>
          <p:cNvPr id="13" name="Image 3" descr="preencoded.png">    </p:cNvPr>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COO  </a:t>
            </a:r>
            <a:pPr indent="0" marL="0">
              <a:buNone/>
            </a:pPr>
            <a:r>
              <a:rPr lang="en-US" sz="2400" dirty="0">
                <a:solidFill>
                  <a:srgbClr val="1F2A22"/>
                </a:solidFill>
                <a:latin typeface="Calibri" pitchFamily="34" charset="0"/>
                <a:ea typeface="Calibri" pitchFamily="34" charset="-122"/>
                <a:cs typeface="Calibri" pitchFamily="34" charset="-120"/>
              </a:rPr>
              <a:t>Examine reinforced norms · Trace expectations and experiences</a:t>
            </a:r>
            <a:endParaRPr lang="en-US" sz="2400" dirty="0"/>
          </a:p>
        </p:txBody>
      </p:sp>
      <p:sp>
        <p:nvSpPr>
          <p:cNvPr id="15" name="Shape 9"/>
          <p:cNvSpPr/>
          <p:nvPr/>
        </p:nvSpPr>
        <p:spPr>
          <a:xfrm>
            <a:off x="548640" y="5591556"/>
            <a:ext cx="640080" cy="640080"/>
          </a:xfrm>
          <a:prstGeom prst="ellipse">
            <a:avLst/>
          </a:prstGeom>
          <a:solidFill>
            <a:srgbClr val="C6A24C"/>
          </a:solidFill>
          <a:ln w="12700">
            <a:solidFill>
              <a:srgbClr val="C6A24C"/>
            </a:solidFill>
            <a:prstDash val="solid"/>
          </a:ln>
        </p:spPr>
      </p:sp>
      <p:pic>
        <p:nvPicPr>
          <p:cNvPr id="16" name="Image 4" descr="preencoded.png">    </p:cNvPr>
          <p:cNvPicPr>
            <a:picLocks noChangeAspect="1"/>
          </p:cNvPicPr>
          <p:nvPr/>
        </p:nvPicPr>
        <p:blipFill>
          <a:blip r:embed="rId5"/>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CSO  </a:t>
            </a:r>
            <a:pPr indent="0" marL="0">
              <a:buNone/>
            </a:pPr>
            <a:r>
              <a:rPr lang="en-US" sz="2400" dirty="0">
                <a:solidFill>
                  <a:srgbClr val="1F2A22"/>
                </a:solidFill>
                <a:latin typeface="Calibri" pitchFamily="34" charset="0"/>
                <a:ea typeface="Calibri" pitchFamily="34" charset="-122"/>
                <a:cs typeface="Calibri" pitchFamily="34" charset="-120"/>
              </a:rPr>
              <a:t>Verify understanding</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3.3 · Self-reflection: my health profile</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Which trait do I strengthen through my everyday conduct?</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Which trait may my own habits or practices weaken?</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What assumptions or functional biases do I bring?</a:t>
            </a:r>
            <a:endParaRPr lang="en-US" sz="24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sp>
      <p:pic>
        <p:nvPicPr>
          <p:cNvPr id="13" name="Image 3" descr="preencoded.png">    </p:cNvPr>
          <p:cNvPicPr>
            <a:picLocks noChangeAspect="1"/>
          </p:cNvPicPr>
          <p:nvPr/>
        </p:nvPicPr>
        <p:blipFill>
          <a:blip r:embed="rId4"/>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What change in my behaviour would model our values more consistently?</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4</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Integration — Collective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Cross-CXO Health Architecture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627632"/>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Establish a functional organisational health accountability discipline that enables executives to interpret team-generated health assessments and quantify associated people-performance losses.</a:t>
            </a:r>
            <a:endParaRPr lang="en-US" sz="2400" dirty="0"/>
          </a:p>
        </p:txBody>
      </p:sp>
      <p:sp>
        <p:nvSpPr>
          <p:cNvPr id="10" name="Shape 7"/>
          <p:cNvSpPr/>
          <p:nvPr/>
        </p:nvSpPr>
        <p:spPr>
          <a:xfrm>
            <a:off x="2743200" y="5632704"/>
            <a:ext cx="384048" cy="384048"/>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2839212" y="5728716"/>
            <a:ext cx="192024" cy="192024"/>
          </a:xfrm>
          <a:prstGeom prst="rect">
            <a:avLst/>
          </a:prstGeom>
        </p:spPr>
      </p:pic>
      <p:sp>
        <p:nvSpPr>
          <p:cNvPr id="12" name="Text 8"/>
          <p:cNvSpPr txBox="1"/>
          <p:nvPr/>
        </p:nvSpPr>
        <p:spPr>
          <a:xfrm>
            <a:off x="3291840" y="5559552"/>
            <a:ext cx="8412480" cy="1243584"/>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Embed cultural operating norms that leaders model, recognise and correct, so that organisational health strengthens across functions.</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4.1 · Two levels of leadership accountability</a:t>
            </a:r>
            <a:endParaRPr lang="en-US" sz="36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indent="0" marL="0">
              <a:buNone/>
            </a:pPr>
            <a:r>
              <a:rPr lang="en-US" sz="2800" b="1" dirty="0">
                <a:solidFill>
                  <a:srgbClr val="1A5C2C"/>
                </a:solidFill>
                <a:latin typeface="Cambria" pitchFamily="34" charset="0"/>
                <a:ea typeface="Cambria" pitchFamily="34" charset="-122"/>
                <a:cs typeface="Cambria" pitchFamily="34" charset="-120"/>
              </a:rPr>
              <a:t>Functional</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indent="0" marL="0">
              <a:buNone/>
            </a:pPr>
            <a:r>
              <a:rPr lang="en-US" sz="2400" i="1" dirty="0">
                <a:solidFill>
                  <a:srgbClr val="4E5E53"/>
                </a:solidFill>
                <a:latin typeface="Calibri" pitchFamily="34" charset="0"/>
                <a:ea typeface="Calibri" pitchFamily="34" charset="-122"/>
                <a:cs typeface="Calibri" pitchFamily="34" charset="-120"/>
              </a:rPr>
              <a:t>The CXO</a:t>
            </a:r>
            <a:endParaRPr lang="en-US" sz="2400" dirty="0"/>
          </a:p>
        </p:txBody>
      </p:sp>
      <p:sp>
        <p:nvSpPr>
          <p:cNvPr id="8" name="Text 5"/>
          <p:cNvSpPr txBox="1"/>
          <p:nvPr/>
        </p:nvSpPr>
        <p:spPr>
          <a:xfrm>
            <a:off x="868680"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Interprets the team’s consolidated score</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Investigates vulnerabilities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Quantifies evidenced losses</a:t>
            </a:r>
            <a:endParaRPr lang="en-US" sz="2400" dirty="0"/>
          </a:p>
        </p:txBody>
      </p:sp>
      <p:sp>
        <p:nvSpPr>
          <p:cNvPr id="9" name="Shape 6"/>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Enterprise</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indent="0" marL="0">
              <a:buNone/>
            </a:pPr>
            <a:r>
              <a:rPr lang="en-US" sz="2400" i="1" dirty="0">
                <a:solidFill>
                  <a:srgbClr val="E6D3A0"/>
                </a:solidFill>
                <a:latin typeface="Calibri" pitchFamily="34" charset="0"/>
                <a:ea typeface="Calibri" pitchFamily="34" charset="-122"/>
                <a:cs typeface="Calibri" pitchFamily="34" charset="-120"/>
              </a:rPr>
              <a:t>EXCO</a:t>
            </a:r>
            <a:endParaRPr lang="en-US" sz="2400" dirty="0"/>
          </a:p>
        </p:txBody>
      </p:sp>
      <p:sp>
        <p:nvSpPr>
          <p:cNvPr id="14" name="Text 10"/>
          <p:cNvSpPr txBox="1"/>
          <p:nvPr/>
        </p:nvSpPr>
        <p:spPr>
          <a:xfrm>
            <a:off x="6565392"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Consolidates functional results</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Examines shared vulnerabilities</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Agrees enterprise priorities</a:t>
            </a:r>
            <a:endParaRPr lang="en-US" sz="2400" dirty="0"/>
          </a:p>
        </p:txBody>
      </p:sp>
      <p:sp>
        <p:nvSpPr>
          <p:cNvPr id="15" name="Shape 1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sp>
      <p:sp>
        <p:nvSpPr>
          <p:cNvPr id="16" name="Text 12"/>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Employees assess; the executive interprets and is accountable.</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4.2a · The Organisational Health Thermometer</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20 statements</a:t>
            </a:r>
            <a:endParaRPr lang="en-US" sz="2600" dirty="0"/>
          </a:p>
        </p:txBody>
      </p:sp>
      <p:sp>
        <p:nvSpPr>
          <p:cNvPr id="7" name="Text 4"/>
          <p:cNvSpPr txBox="1"/>
          <p:nvPr/>
        </p:nvSpPr>
        <p:spPr>
          <a:xfrm>
            <a:off x="777240" y="3159252"/>
            <a:ext cx="3057144" cy="214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Four for each of the five traits</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sp>
      <p:pic>
        <p:nvPicPr>
          <p:cNvPr id="10" name="Image 1" descr="preencoded.png">    </p:cNvPr>
          <p:cNvPicPr>
            <a:picLocks noChangeAspect="1"/>
          </p:cNvPicPr>
          <p:nvPr/>
        </p:nvPicPr>
        <p:blipFill>
          <a:blip r:embed="rId2"/>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Rated 1 to 5</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Never, Rarely, Sometimes, Usually, Always</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sp>
      <p:pic>
        <p:nvPicPr>
          <p:cNvPr id="15" name="Image 2" descr="preencoded.png">    </p:cNvPr>
          <p:cNvPicPr>
            <a:picLocks noChangeAspect="1"/>
          </p:cNvPicPr>
          <p:nvPr/>
        </p:nvPicPr>
        <p:blipFill>
          <a:blip r:embed="rId3"/>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Scored out of 100</a:t>
            </a:r>
            <a:endParaRPr lang="en-US" sz="2600" dirty="0"/>
          </a:p>
        </p:txBody>
      </p:sp>
      <p:sp>
        <p:nvSpPr>
          <p:cNvPr id="17" name="Text 12"/>
          <p:cNvSpPr txBox="1"/>
          <p:nvPr/>
        </p:nvSpPr>
        <p:spPr>
          <a:xfrm>
            <a:off x="8354568" y="3159252"/>
            <a:ext cx="3057144" cy="2144268"/>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Each trait out of 20</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sp>
      <p:sp>
        <p:nvSpPr>
          <p:cNvPr id="19" name="Text 14"/>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Employees rate independently and confidentially.</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4.2b · Reading your temperature</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80–100  </a:t>
            </a:r>
            <a:pPr indent="0" marL="0">
              <a:buNone/>
            </a:pPr>
            <a:r>
              <a:rPr lang="en-US" sz="2600" dirty="0">
                <a:solidFill>
                  <a:srgbClr val="1F2A22"/>
                </a:solidFill>
                <a:latin typeface="Calibri" pitchFamily="34" charset="0"/>
                <a:ea typeface="Calibri" pitchFamily="34" charset="-122"/>
                <a:cs typeface="Calibri" pitchFamily="34" charset="-120"/>
              </a:rPr>
              <a:t>Healthy &amp; Thriving</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60–79  </a:t>
            </a:r>
            <a:pPr indent="0" marL="0">
              <a:buNone/>
            </a:pPr>
            <a:r>
              <a:rPr lang="en-US" sz="2600" dirty="0">
                <a:solidFill>
                  <a:srgbClr val="1F2A22"/>
                </a:solidFill>
                <a:latin typeface="Calibri" pitchFamily="34" charset="0"/>
                <a:ea typeface="Calibri" pitchFamily="34" charset="-122"/>
                <a:cs typeface="Calibri" pitchFamily="34" charset="-120"/>
              </a:rPr>
              <a:t>Stable but Uneven</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40–59  </a:t>
            </a:r>
            <a:pPr indent="0" marL="0">
              <a:buNone/>
            </a:pPr>
            <a:r>
              <a:rPr lang="en-US" sz="2600" dirty="0">
                <a:solidFill>
                  <a:srgbClr val="1F2A22"/>
                </a:solidFill>
                <a:latin typeface="Calibri" pitchFamily="34" charset="0"/>
                <a:ea typeface="Calibri" pitchFamily="34" charset="-122"/>
                <a:cs typeface="Calibri" pitchFamily="34" charset="-120"/>
              </a:rPr>
              <a:t>Caution Zone</a:t>
            </a:r>
            <a:endParaRPr lang="en-US" sz="26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sp>
      <p:pic>
        <p:nvPicPr>
          <p:cNvPr id="13" name="Image 3" descr="preencoded.png">    </p:cNvPr>
          <p:cNvPicPr>
            <a:picLocks noChangeAspect="1"/>
          </p:cNvPicPr>
          <p:nvPr/>
        </p:nvPicPr>
        <p:blipFill>
          <a:blip r:embed="rId4"/>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20–39  </a:t>
            </a:r>
            <a:pPr indent="0" marL="0">
              <a:buNone/>
            </a:pPr>
            <a:r>
              <a:rPr lang="en-US" sz="2600" dirty="0">
                <a:solidFill>
                  <a:srgbClr val="1F2A22"/>
                </a:solidFill>
                <a:latin typeface="Calibri" pitchFamily="34" charset="0"/>
                <a:ea typeface="Calibri" pitchFamily="34" charset="-122"/>
                <a:cs typeface="Calibri" pitchFamily="34" charset="-120"/>
              </a:rPr>
              <a:t>Unhealthy</a:t>
            </a:r>
            <a:endParaRPr lang="en-US" sz="2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4.3 · From assessments to functional scores</a:t>
            </a:r>
            <a:endParaRPr lang="en-US" sz="3600" dirty="0"/>
          </a:p>
        </p:txBody>
      </p:sp>
      <p:sp>
        <p:nvSpPr>
          <p:cNvPr id="3" name="Shape 1"/>
          <p:cNvSpPr/>
          <p:nvPr/>
        </p:nvSpPr>
        <p:spPr>
          <a:xfrm>
            <a:off x="548640" y="1508760"/>
            <a:ext cx="3657600" cy="4846320"/>
          </a:xfrm>
          <a:prstGeom prst="roundRect">
            <a:avLst>
              <a:gd name="adj" fmla="val 2500"/>
            </a:avLst>
          </a:prstGeom>
          <a:solidFill>
            <a:srgbClr val="1A5C2C"/>
          </a:solidFill>
          <a:ln w="12700">
            <a:solidFill>
              <a:srgbClr val="1A5C2C"/>
            </a:solidFill>
            <a:prstDash val="solid"/>
          </a:ln>
        </p:spPr>
      </p:sp>
      <p:sp>
        <p:nvSpPr>
          <p:cNvPr id="4" name="Text 2"/>
          <p:cNvSpPr txBox="1"/>
          <p:nvPr/>
        </p:nvSpPr>
        <p:spPr>
          <a:xfrm>
            <a:off x="640080" y="1737360"/>
            <a:ext cx="3474720" cy="1463040"/>
          </a:xfrm>
          <a:prstGeom prst="rect">
            <a:avLst/>
          </a:prstGeom>
          <a:noFill/>
          <a:ln/>
        </p:spPr>
        <p:txBody>
          <a:bodyPr wrap="square" lIns="0" tIns="0" rIns="0" bIns="0" rtlCol="0" anchor="ctr"/>
          <a:lstStyle/>
          <a:p>
            <a:pPr algn="ctr" indent="0" marL="0">
              <a:buNone/>
            </a:pPr>
            <a:r>
              <a:rPr lang="en-US" sz="6600" b="1" dirty="0">
                <a:solidFill>
                  <a:srgbClr val="C6A24C"/>
                </a:solidFill>
                <a:latin typeface="Cambria" pitchFamily="34" charset="0"/>
                <a:ea typeface="Cambria" pitchFamily="34" charset="-122"/>
                <a:cs typeface="Cambria" pitchFamily="34" charset="-120"/>
              </a:rPr>
              <a:t>80 → 52</a:t>
            </a:r>
            <a:endParaRPr lang="en-US" sz="6600" dirty="0"/>
          </a:p>
        </p:txBody>
      </p:sp>
      <p:sp>
        <p:nvSpPr>
          <p:cNvPr id="5" name="Text 3"/>
          <p:cNvSpPr txBox="1"/>
          <p:nvPr/>
        </p:nvSpPr>
        <p:spPr>
          <a:xfrm>
            <a:off x="777240" y="3291840"/>
            <a:ext cx="3200400" cy="2926080"/>
          </a:xfrm>
          <a:prstGeom prst="rect">
            <a:avLst/>
          </a:prstGeom>
          <a:noFill/>
          <a:ln/>
        </p:spPr>
        <p:txBody>
          <a:bodyPr wrap="square" lIns="0" tIns="0" rIns="0" bIns="0" rtlCol="0" anchor="t"/>
          <a:lstStyle/>
          <a:p>
            <a:pPr algn="ctr" indent="0" marL="0">
              <a:buNone/>
            </a:pPr>
            <a:r>
              <a:rPr lang="en-US" sz="2400" dirty="0">
                <a:solidFill>
                  <a:srgbClr val="FFFFFF"/>
                </a:solidFill>
                <a:latin typeface="Calibri" pitchFamily="34" charset="0"/>
                <a:ea typeface="Calibri" pitchFamily="34" charset="-122"/>
                <a:cs typeface="Calibri" pitchFamily="34" charset="-120"/>
              </a:rPr>
              <a:t>Operations, Q1 to Q2: from Healthy &amp; Thriving to the Caution Zone</a:t>
            </a:r>
            <a:endParaRPr lang="en-US" sz="2400" dirty="0"/>
          </a:p>
        </p:txBody>
      </p:sp>
      <p:sp>
        <p:nvSpPr>
          <p:cNvPr id="6" name="Shape 4"/>
          <p:cNvSpPr/>
          <p:nvPr/>
        </p:nvSpPr>
        <p:spPr>
          <a:xfrm>
            <a:off x="4526280" y="1709928"/>
            <a:ext cx="566928" cy="566928"/>
          </a:xfrm>
          <a:prstGeom prst="ellipse">
            <a:avLst/>
          </a:prstGeom>
          <a:solidFill>
            <a:srgbClr val="1A5C2C"/>
          </a:solidFill>
          <a:ln w="12700">
            <a:solidFill>
              <a:srgbClr val="1A5C2C"/>
            </a:solidFill>
            <a:prstDash val="solid"/>
          </a:ln>
        </p:spPr>
      </p:sp>
      <p:pic>
        <p:nvPicPr>
          <p:cNvPr id="7" name="Image 0" descr="preencoded.png">    </p:cNvPr>
          <p:cNvPicPr>
            <a:picLocks noChangeAspect="1"/>
          </p:cNvPicPr>
          <p:nvPr/>
        </p:nvPicPr>
        <p:blipFill>
          <a:blip r:embed="rId1"/>
          <a:stretch>
            <a:fillRect/>
          </a:stretch>
        </p:blipFill>
        <p:spPr>
          <a:xfrm>
            <a:off x="4668012" y="1851660"/>
            <a:ext cx="283464" cy="283464"/>
          </a:xfrm>
          <a:prstGeom prst="rect">
            <a:avLst/>
          </a:prstGeom>
        </p:spPr>
      </p:pic>
      <p:sp>
        <p:nvSpPr>
          <p:cNvPr id="8" name="Text 5"/>
          <p:cNvSpPr txBox="1"/>
          <p:nvPr/>
        </p:nvSpPr>
        <p:spPr>
          <a:xfrm>
            <a:off x="5303520" y="1508760"/>
            <a:ext cx="6336792" cy="96926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Minimal Politics  </a:t>
            </a:r>
            <a:pPr indent="0" marL="0">
              <a:buNone/>
            </a:pPr>
            <a:r>
              <a:rPr lang="en-US" sz="2400" dirty="0">
                <a:solidFill>
                  <a:srgbClr val="4E5E53"/>
                </a:solidFill>
                <a:latin typeface="Calibri" pitchFamily="34" charset="0"/>
                <a:ea typeface="Calibri" pitchFamily="34" charset="-122"/>
                <a:cs typeface="Calibri" pitchFamily="34" charset="-120"/>
              </a:rPr>
              <a:t>16 → 8</a:t>
            </a:r>
            <a:endParaRPr lang="en-US" sz="2400" dirty="0"/>
          </a:p>
        </p:txBody>
      </p:sp>
      <p:sp>
        <p:nvSpPr>
          <p:cNvPr id="9" name="Shape 6"/>
          <p:cNvSpPr/>
          <p:nvPr/>
        </p:nvSpPr>
        <p:spPr>
          <a:xfrm>
            <a:off x="4526280" y="2679192"/>
            <a:ext cx="566928" cy="566928"/>
          </a:xfrm>
          <a:prstGeom prst="ellipse">
            <a:avLst/>
          </a:prstGeom>
          <a:solidFill>
            <a:srgbClr val="1A5C2C"/>
          </a:solidFill>
          <a:ln w="12700">
            <a:solidFill>
              <a:srgbClr val="1A5C2C"/>
            </a:solidFill>
            <a:prstDash val="solid"/>
          </a:ln>
        </p:spPr>
      </p:sp>
      <p:pic>
        <p:nvPicPr>
          <p:cNvPr id="10" name="Image 1" descr="preencoded.png">    </p:cNvPr>
          <p:cNvPicPr>
            <a:picLocks noChangeAspect="1"/>
          </p:cNvPicPr>
          <p:nvPr/>
        </p:nvPicPr>
        <p:blipFill>
          <a:blip r:embed="rId2"/>
          <a:stretch>
            <a:fillRect/>
          </a:stretch>
        </p:blipFill>
        <p:spPr>
          <a:xfrm>
            <a:off x="4668012" y="2820924"/>
            <a:ext cx="283464" cy="283464"/>
          </a:xfrm>
          <a:prstGeom prst="rect">
            <a:avLst/>
          </a:prstGeom>
        </p:spPr>
      </p:pic>
      <p:sp>
        <p:nvSpPr>
          <p:cNvPr id="11" name="Text 7"/>
          <p:cNvSpPr txBox="1"/>
          <p:nvPr/>
        </p:nvSpPr>
        <p:spPr>
          <a:xfrm>
            <a:off x="5303520" y="2478024"/>
            <a:ext cx="6336792" cy="96926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Minimal Confusion  </a:t>
            </a:r>
            <a:pPr indent="0" marL="0">
              <a:buNone/>
            </a:pPr>
            <a:r>
              <a:rPr lang="en-US" sz="2400" dirty="0">
                <a:solidFill>
                  <a:srgbClr val="4E5E53"/>
                </a:solidFill>
                <a:latin typeface="Calibri" pitchFamily="34" charset="0"/>
                <a:ea typeface="Calibri" pitchFamily="34" charset="-122"/>
                <a:cs typeface="Calibri" pitchFamily="34" charset="-120"/>
              </a:rPr>
              <a:t>16 → 12</a:t>
            </a:r>
            <a:endParaRPr lang="en-US" sz="2400" dirty="0"/>
          </a:p>
        </p:txBody>
      </p:sp>
      <p:sp>
        <p:nvSpPr>
          <p:cNvPr id="12" name="Shape 8"/>
          <p:cNvSpPr/>
          <p:nvPr/>
        </p:nvSpPr>
        <p:spPr>
          <a:xfrm>
            <a:off x="4526280" y="3648456"/>
            <a:ext cx="566928" cy="566928"/>
          </a:xfrm>
          <a:prstGeom prst="ellipse">
            <a:avLst/>
          </a:prstGeom>
          <a:solidFill>
            <a:srgbClr val="1A5C2C"/>
          </a:solidFill>
          <a:ln w="12700">
            <a:solidFill>
              <a:srgbClr val="1A5C2C"/>
            </a:solidFill>
            <a:prstDash val="solid"/>
          </a:ln>
        </p:spPr>
      </p:sp>
      <p:pic>
        <p:nvPicPr>
          <p:cNvPr id="13" name="Image 2" descr="preencoded.png">    </p:cNvPr>
          <p:cNvPicPr>
            <a:picLocks noChangeAspect="1"/>
          </p:cNvPicPr>
          <p:nvPr/>
        </p:nvPicPr>
        <p:blipFill>
          <a:blip r:embed="rId3"/>
          <a:stretch>
            <a:fillRect/>
          </a:stretch>
        </p:blipFill>
        <p:spPr>
          <a:xfrm>
            <a:off x="4668012" y="3790188"/>
            <a:ext cx="283464" cy="283464"/>
          </a:xfrm>
          <a:prstGeom prst="rect">
            <a:avLst/>
          </a:prstGeom>
        </p:spPr>
      </p:pic>
      <p:sp>
        <p:nvSpPr>
          <p:cNvPr id="14" name="Text 9"/>
          <p:cNvSpPr txBox="1"/>
          <p:nvPr/>
        </p:nvSpPr>
        <p:spPr>
          <a:xfrm>
            <a:off x="5303520" y="3447288"/>
            <a:ext cx="6336792" cy="96926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High Morale  </a:t>
            </a:r>
            <a:pPr indent="0" marL="0">
              <a:buNone/>
            </a:pPr>
            <a:r>
              <a:rPr lang="en-US" sz="2400" dirty="0">
                <a:solidFill>
                  <a:srgbClr val="4E5E53"/>
                </a:solidFill>
                <a:latin typeface="Calibri" pitchFamily="34" charset="0"/>
                <a:ea typeface="Calibri" pitchFamily="34" charset="-122"/>
                <a:cs typeface="Calibri" pitchFamily="34" charset="-120"/>
              </a:rPr>
              <a:t>16 → 8</a:t>
            </a:r>
            <a:endParaRPr lang="en-US" sz="2400" dirty="0"/>
          </a:p>
        </p:txBody>
      </p:sp>
      <p:sp>
        <p:nvSpPr>
          <p:cNvPr id="15" name="Shape 10"/>
          <p:cNvSpPr/>
          <p:nvPr/>
        </p:nvSpPr>
        <p:spPr>
          <a:xfrm>
            <a:off x="4526280" y="4617720"/>
            <a:ext cx="566928" cy="566928"/>
          </a:xfrm>
          <a:prstGeom prst="ellipse">
            <a:avLst/>
          </a:prstGeom>
          <a:solidFill>
            <a:srgbClr val="1A5C2C"/>
          </a:solidFill>
          <a:ln w="12700">
            <a:solidFill>
              <a:srgbClr val="1A5C2C"/>
            </a:solidFill>
            <a:prstDash val="solid"/>
          </a:ln>
        </p:spPr>
      </p:sp>
      <p:pic>
        <p:nvPicPr>
          <p:cNvPr id="16" name="Image 3" descr="preencoded.png">    </p:cNvPr>
          <p:cNvPicPr>
            <a:picLocks noChangeAspect="1"/>
          </p:cNvPicPr>
          <p:nvPr/>
        </p:nvPicPr>
        <p:blipFill>
          <a:blip r:embed="rId4"/>
          <a:stretch>
            <a:fillRect/>
          </a:stretch>
        </p:blipFill>
        <p:spPr>
          <a:xfrm>
            <a:off x="4668012" y="4759452"/>
            <a:ext cx="283464" cy="283464"/>
          </a:xfrm>
          <a:prstGeom prst="rect">
            <a:avLst/>
          </a:prstGeom>
        </p:spPr>
      </p:pic>
      <p:sp>
        <p:nvSpPr>
          <p:cNvPr id="17" name="Text 11"/>
          <p:cNvSpPr txBox="1"/>
          <p:nvPr/>
        </p:nvSpPr>
        <p:spPr>
          <a:xfrm>
            <a:off x="5303520" y="4416552"/>
            <a:ext cx="6336792" cy="96926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High Productivity  </a:t>
            </a:r>
            <a:pPr indent="0" marL="0">
              <a:buNone/>
            </a:pPr>
            <a:r>
              <a:rPr lang="en-US" sz="2400" dirty="0">
                <a:solidFill>
                  <a:srgbClr val="4E5E53"/>
                </a:solidFill>
                <a:latin typeface="Calibri" pitchFamily="34" charset="0"/>
                <a:ea typeface="Calibri" pitchFamily="34" charset="-122"/>
                <a:cs typeface="Calibri" pitchFamily="34" charset="-120"/>
              </a:rPr>
              <a:t>16 → 12</a:t>
            </a:r>
            <a:endParaRPr lang="en-US" sz="2400" dirty="0"/>
          </a:p>
        </p:txBody>
      </p:sp>
      <p:sp>
        <p:nvSpPr>
          <p:cNvPr id="18" name="Shape 12"/>
          <p:cNvSpPr/>
          <p:nvPr/>
        </p:nvSpPr>
        <p:spPr>
          <a:xfrm>
            <a:off x="4526280" y="5586984"/>
            <a:ext cx="566928" cy="566928"/>
          </a:xfrm>
          <a:prstGeom prst="ellipse">
            <a:avLst/>
          </a:prstGeom>
          <a:solidFill>
            <a:srgbClr val="1A5C2C"/>
          </a:solidFill>
          <a:ln w="12700">
            <a:solidFill>
              <a:srgbClr val="1A5C2C"/>
            </a:solidFill>
            <a:prstDash val="solid"/>
          </a:ln>
        </p:spPr>
      </p:sp>
      <p:pic>
        <p:nvPicPr>
          <p:cNvPr id="19" name="Image 4" descr="preencoded.png">    </p:cNvPr>
          <p:cNvPicPr>
            <a:picLocks noChangeAspect="1"/>
          </p:cNvPicPr>
          <p:nvPr/>
        </p:nvPicPr>
        <p:blipFill>
          <a:blip r:embed="rId5"/>
          <a:stretch>
            <a:fillRect/>
          </a:stretch>
        </p:blipFill>
        <p:spPr>
          <a:xfrm>
            <a:off x="4668012" y="5728716"/>
            <a:ext cx="283464" cy="283464"/>
          </a:xfrm>
          <a:prstGeom prst="rect">
            <a:avLst/>
          </a:prstGeom>
        </p:spPr>
      </p:pic>
      <p:sp>
        <p:nvSpPr>
          <p:cNvPr id="20" name="Text 13"/>
          <p:cNvSpPr txBox="1"/>
          <p:nvPr/>
        </p:nvSpPr>
        <p:spPr>
          <a:xfrm>
            <a:off x="5303520" y="5385816"/>
            <a:ext cx="6336792" cy="96926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Low Turnover  </a:t>
            </a:r>
            <a:pPr indent="0" marL="0">
              <a:buNone/>
            </a:pPr>
            <a:r>
              <a:rPr lang="en-US" sz="2400" dirty="0">
                <a:solidFill>
                  <a:srgbClr val="4E5E53"/>
                </a:solidFill>
                <a:latin typeface="Calibri" pitchFamily="34" charset="0"/>
                <a:ea typeface="Calibri" pitchFamily="34" charset="-122"/>
                <a:cs typeface="Calibri" pitchFamily="34" charset="-120"/>
              </a:rPr>
              <a:t>16 → 12</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4.4 · Quantifying the people-performance losses</a:t>
            </a:r>
            <a:endParaRPr lang="en-US" sz="3600" dirty="0"/>
          </a:p>
        </p:txBody>
      </p:sp>
      <p:sp>
        <p:nvSpPr>
          <p:cNvPr id="3" name="Shape 1"/>
          <p:cNvSpPr/>
          <p:nvPr/>
        </p:nvSpPr>
        <p:spPr>
          <a:xfrm>
            <a:off x="548640" y="1508760"/>
            <a:ext cx="3657600" cy="4846320"/>
          </a:xfrm>
          <a:prstGeom prst="roundRect">
            <a:avLst>
              <a:gd name="adj" fmla="val 2500"/>
            </a:avLst>
          </a:prstGeom>
          <a:solidFill>
            <a:srgbClr val="1A5C2C"/>
          </a:solidFill>
          <a:ln w="12700">
            <a:solidFill>
              <a:srgbClr val="1A5C2C"/>
            </a:solidFill>
            <a:prstDash val="solid"/>
          </a:ln>
        </p:spPr>
      </p:sp>
      <p:sp>
        <p:nvSpPr>
          <p:cNvPr id="4" name="Text 2"/>
          <p:cNvSpPr txBox="1"/>
          <p:nvPr/>
        </p:nvSpPr>
        <p:spPr>
          <a:xfrm>
            <a:off x="640080" y="1737360"/>
            <a:ext cx="3474720" cy="1463040"/>
          </a:xfrm>
          <a:prstGeom prst="rect">
            <a:avLst/>
          </a:prstGeom>
          <a:noFill/>
          <a:ln/>
        </p:spPr>
        <p:txBody>
          <a:bodyPr wrap="square" lIns="0" tIns="0" rIns="0" bIns="0" rtlCol="0" anchor="ctr"/>
          <a:lstStyle/>
          <a:p>
            <a:pPr algn="ctr" indent="0" marL="0">
              <a:buNone/>
            </a:pPr>
            <a:r>
              <a:rPr lang="en-US" sz="5400" b="1" dirty="0">
                <a:solidFill>
                  <a:srgbClr val="C6A24C"/>
                </a:solidFill>
                <a:latin typeface="Cambria" pitchFamily="34" charset="0"/>
                <a:ea typeface="Cambria" pitchFamily="34" charset="-122"/>
                <a:cs typeface="Cambria" pitchFamily="34" charset="-120"/>
              </a:rPr>
              <a:t>R346,500</a:t>
            </a:r>
            <a:endParaRPr lang="en-US" sz="5400" dirty="0"/>
          </a:p>
        </p:txBody>
      </p:sp>
      <p:sp>
        <p:nvSpPr>
          <p:cNvPr id="5" name="Text 3"/>
          <p:cNvSpPr txBox="1"/>
          <p:nvPr/>
        </p:nvSpPr>
        <p:spPr>
          <a:xfrm>
            <a:off x="777240" y="3291840"/>
            <a:ext cx="3200400" cy="2926080"/>
          </a:xfrm>
          <a:prstGeom prst="rect">
            <a:avLst/>
          </a:prstGeom>
          <a:noFill/>
          <a:ln/>
        </p:spPr>
        <p:txBody>
          <a:bodyPr wrap="square" lIns="0" tIns="0" rIns="0" bIns="0" rtlCol="0" anchor="t"/>
          <a:lstStyle/>
          <a:p>
            <a:pPr algn="ctr" indent="0" marL="0">
              <a:buNone/>
            </a:pPr>
            <a:r>
              <a:rPr lang="en-US" sz="2400" dirty="0">
                <a:solidFill>
                  <a:srgbClr val="FFFFFF"/>
                </a:solidFill>
                <a:latin typeface="Calibri" pitchFamily="34" charset="0"/>
                <a:ea typeface="Calibri" pitchFamily="34" charset="-122"/>
                <a:cs typeface="Calibri" pitchFamily="34" charset="-120"/>
              </a:rPr>
              <a:t>Operations: illustrative gross exposure for one quarter</a:t>
            </a:r>
            <a:endParaRPr lang="en-US" sz="2400" dirty="0"/>
          </a:p>
        </p:txBody>
      </p:sp>
      <p:sp>
        <p:nvSpPr>
          <p:cNvPr id="6" name="Shape 4"/>
          <p:cNvSpPr/>
          <p:nvPr/>
        </p:nvSpPr>
        <p:spPr>
          <a:xfrm>
            <a:off x="4526280" y="1709928"/>
            <a:ext cx="566928" cy="566928"/>
          </a:xfrm>
          <a:prstGeom prst="ellipse">
            <a:avLst/>
          </a:prstGeom>
          <a:solidFill>
            <a:srgbClr val="1A5C2C"/>
          </a:solidFill>
          <a:ln w="12700">
            <a:solidFill>
              <a:srgbClr val="1A5C2C"/>
            </a:solidFill>
            <a:prstDash val="solid"/>
          </a:ln>
        </p:spPr>
      </p:sp>
      <p:pic>
        <p:nvPicPr>
          <p:cNvPr id="7" name="Image 0" descr="preencoded.png">    </p:cNvPr>
          <p:cNvPicPr>
            <a:picLocks noChangeAspect="1"/>
          </p:cNvPicPr>
          <p:nvPr/>
        </p:nvPicPr>
        <p:blipFill>
          <a:blip r:embed="rId1"/>
          <a:stretch>
            <a:fillRect/>
          </a:stretch>
        </p:blipFill>
        <p:spPr>
          <a:xfrm>
            <a:off x="4668012" y="1851660"/>
            <a:ext cx="283464" cy="283464"/>
          </a:xfrm>
          <a:prstGeom prst="rect">
            <a:avLst/>
          </a:prstGeom>
        </p:spPr>
      </p:pic>
      <p:sp>
        <p:nvSpPr>
          <p:cNvPr id="8" name="Text 5"/>
          <p:cNvSpPr txBox="1"/>
          <p:nvPr/>
        </p:nvSpPr>
        <p:spPr>
          <a:xfrm>
            <a:off x="5303520" y="1508760"/>
            <a:ext cx="6336792" cy="96926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Lost Time  </a:t>
            </a:r>
            <a:pPr indent="0" marL="0">
              <a:buNone/>
            </a:pPr>
            <a:r>
              <a:rPr lang="en-US" sz="2400" dirty="0">
                <a:solidFill>
                  <a:srgbClr val="4E5E53"/>
                </a:solidFill>
                <a:latin typeface="Calibri" pitchFamily="34" charset="0"/>
                <a:ea typeface="Calibri" pitchFamily="34" charset="-122"/>
                <a:cs typeface="Calibri" pitchFamily="34" charset="-120"/>
              </a:rPr>
              <a:t>R120,000</a:t>
            </a:r>
            <a:endParaRPr lang="en-US" sz="2400" dirty="0"/>
          </a:p>
        </p:txBody>
      </p:sp>
      <p:sp>
        <p:nvSpPr>
          <p:cNvPr id="9" name="Shape 6"/>
          <p:cNvSpPr/>
          <p:nvPr/>
        </p:nvSpPr>
        <p:spPr>
          <a:xfrm>
            <a:off x="4526280" y="2679192"/>
            <a:ext cx="566928" cy="566928"/>
          </a:xfrm>
          <a:prstGeom prst="ellipse">
            <a:avLst/>
          </a:prstGeom>
          <a:solidFill>
            <a:srgbClr val="1A5C2C"/>
          </a:solidFill>
          <a:ln w="12700">
            <a:solidFill>
              <a:srgbClr val="1A5C2C"/>
            </a:solidFill>
            <a:prstDash val="solid"/>
          </a:ln>
        </p:spPr>
      </p:sp>
      <p:pic>
        <p:nvPicPr>
          <p:cNvPr id="10" name="Image 1" descr="preencoded.png">    </p:cNvPr>
          <p:cNvPicPr>
            <a:picLocks noChangeAspect="1"/>
          </p:cNvPicPr>
          <p:nvPr/>
        </p:nvPicPr>
        <p:blipFill>
          <a:blip r:embed="rId2"/>
          <a:stretch>
            <a:fillRect/>
          </a:stretch>
        </p:blipFill>
        <p:spPr>
          <a:xfrm>
            <a:off x="4668012" y="2820924"/>
            <a:ext cx="283464" cy="283464"/>
          </a:xfrm>
          <a:prstGeom prst="rect">
            <a:avLst/>
          </a:prstGeom>
        </p:spPr>
      </p:pic>
      <p:sp>
        <p:nvSpPr>
          <p:cNvPr id="11" name="Text 7"/>
          <p:cNvSpPr txBox="1"/>
          <p:nvPr/>
        </p:nvSpPr>
        <p:spPr>
          <a:xfrm>
            <a:off x="5303520" y="2478024"/>
            <a:ext cx="6336792" cy="96926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Disengagement  </a:t>
            </a:r>
            <a:pPr indent="0" marL="0">
              <a:buNone/>
            </a:pPr>
            <a:r>
              <a:rPr lang="en-US" sz="2400" dirty="0">
                <a:solidFill>
                  <a:srgbClr val="4E5E53"/>
                </a:solidFill>
                <a:latin typeface="Calibri" pitchFamily="34" charset="0"/>
                <a:ea typeface="Calibri" pitchFamily="34" charset="-122"/>
                <a:cs typeface="Calibri" pitchFamily="34" charset="-120"/>
              </a:rPr>
              <a:t>R90,000</a:t>
            </a:r>
            <a:endParaRPr lang="en-US" sz="2400" dirty="0"/>
          </a:p>
        </p:txBody>
      </p:sp>
      <p:sp>
        <p:nvSpPr>
          <p:cNvPr id="12" name="Shape 8"/>
          <p:cNvSpPr/>
          <p:nvPr/>
        </p:nvSpPr>
        <p:spPr>
          <a:xfrm>
            <a:off x="4526280" y="3648456"/>
            <a:ext cx="566928" cy="566928"/>
          </a:xfrm>
          <a:prstGeom prst="ellipse">
            <a:avLst/>
          </a:prstGeom>
          <a:solidFill>
            <a:srgbClr val="1A5C2C"/>
          </a:solidFill>
          <a:ln w="12700">
            <a:solidFill>
              <a:srgbClr val="1A5C2C"/>
            </a:solidFill>
            <a:prstDash val="solid"/>
          </a:ln>
        </p:spPr>
      </p:sp>
      <p:pic>
        <p:nvPicPr>
          <p:cNvPr id="13" name="Image 2" descr="preencoded.png">    </p:cNvPr>
          <p:cNvPicPr>
            <a:picLocks noChangeAspect="1"/>
          </p:cNvPicPr>
          <p:nvPr/>
        </p:nvPicPr>
        <p:blipFill>
          <a:blip r:embed="rId3"/>
          <a:stretch>
            <a:fillRect/>
          </a:stretch>
        </p:blipFill>
        <p:spPr>
          <a:xfrm>
            <a:off x="4668012" y="3790188"/>
            <a:ext cx="283464" cy="283464"/>
          </a:xfrm>
          <a:prstGeom prst="rect">
            <a:avLst/>
          </a:prstGeom>
        </p:spPr>
      </p:pic>
      <p:sp>
        <p:nvSpPr>
          <p:cNvPr id="14" name="Text 9"/>
          <p:cNvSpPr txBox="1"/>
          <p:nvPr/>
        </p:nvSpPr>
        <p:spPr>
          <a:xfrm>
            <a:off x="5303520" y="3447288"/>
            <a:ext cx="6336792" cy="96926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Declining Trust  </a:t>
            </a:r>
            <a:pPr indent="0" marL="0">
              <a:buNone/>
            </a:pPr>
            <a:r>
              <a:rPr lang="en-US" sz="2400" dirty="0">
                <a:solidFill>
                  <a:srgbClr val="4E5E53"/>
                </a:solidFill>
                <a:latin typeface="Calibri" pitchFamily="34" charset="0"/>
                <a:ea typeface="Calibri" pitchFamily="34" charset="-122"/>
                <a:cs typeface="Calibri" pitchFamily="34" charset="-120"/>
              </a:rPr>
              <a:t>R24,000</a:t>
            </a:r>
            <a:endParaRPr lang="en-US" sz="2400" dirty="0"/>
          </a:p>
        </p:txBody>
      </p:sp>
      <p:sp>
        <p:nvSpPr>
          <p:cNvPr id="15" name="Shape 10"/>
          <p:cNvSpPr/>
          <p:nvPr/>
        </p:nvSpPr>
        <p:spPr>
          <a:xfrm>
            <a:off x="4526280" y="4617720"/>
            <a:ext cx="566928" cy="566928"/>
          </a:xfrm>
          <a:prstGeom prst="ellipse">
            <a:avLst/>
          </a:prstGeom>
          <a:solidFill>
            <a:srgbClr val="1A5C2C"/>
          </a:solidFill>
          <a:ln w="12700">
            <a:solidFill>
              <a:srgbClr val="1A5C2C"/>
            </a:solidFill>
            <a:prstDash val="solid"/>
          </a:ln>
        </p:spPr>
      </p:sp>
      <p:pic>
        <p:nvPicPr>
          <p:cNvPr id="16" name="Image 3" descr="preencoded.png">    </p:cNvPr>
          <p:cNvPicPr>
            <a:picLocks noChangeAspect="1"/>
          </p:cNvPicPr>
          <p:nvPr/>
        </p:nvPicPr>
        <p:blipFill>
          <a:blip r:embed="rId4"/>
          <a:stretch>
            <a:fillRect/>
          </a:stretch>
        </p:blipFill>
        <p:spPr>
          <a:xfrm>
            <a:off x="4668012" y="4759452"/>
            <a:ext cx="283464" cy="283464"/>
          </a:xfrm>
          <a:prstGeom prst="rect">
            <a:avLst/>
          </a:prstGeom>
        </p:spPr>
      </p:pic>
      <p:sp>
        <p:nvSpPr>
          <p:cNvPr id="17" name="Text 11"/>
          <p:cNvSpPr txBox="1"/>
          <p:nvPr/>
        </p:nvSpPr>
        <p:spPr>
          <a:xfrm>
            <a:off x="5303520" y="4416552"/>
            <a:ext cx="6336792" cy="96926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Emotional Fatigue  </a:t>
            </a:r>
            <a:pPr indent="0" marL="0">
              <a:buNone/>
            </a:pPr>
            <a:r>
              <a:rPr lang="en-US" sz="2400" dirty="0">
                <a:solidFill>
                  <a:srgbClr val="4E5E53"/>
                </a:solidFill>
                <a:latin typeface="Calibri" pitchFamily="34" charset="0"/>
                <a:ea typeface="Calibri" pitchFamily="34" charset="-122"/>
                <a:cs typeface="Calibri" pitchFamily="34" charset="-120"/>
              </a:rPr>
              <a:t>R22,500</a:t>
            </a:r>
            <a:endParaRPr lang="en-US" sz="2400" dirty="0"/>
          </a:p>
        </p:txBody>
      </p:sp>
      <p:sp>
        <p:nvSpPr>
          <p:cNvPr id="18" name="Shape 12"/>
          <p:cNvSpPr/>
          <p:nvPr/>
        </p:nvSpPr>
        <p:spPr>
          <a:xfrm>
            <a:off x="4526280" y="5586984"/>
            <a:ext cx="566928" cy="566928"/>
          </a:xfrm>
          <a:prstGeom prst="ellipse">
            <a:avLst/>
          </a:prstGeom>
          <a:solidFill>
            <a:srgbClr val="1A5C2C"/>
          </a:solidFill>
          <a:ln w="12700">
            <a:solidFill>
              <a:srgbClr val="1A5C2C"/>
            </a:solidFill>
            <a:prstDash val="solid"/>
          </a:ln>
        </p:spPr>
      </p:sp>
      <p:pic>
        <p:nvPicPr>
          <p:cNvPr id="19" name="Image 4" descr="preencoded.png">    </p:cNvPr>
          <p:cNvPicPr>
            <a:picLocks noChangeAspect="1"/>
          </p:cNvPicPr>
          <p:nvPr/>
        </p:nvPicPr>
        <p:blipFill>
          <a:blip r:embed="rId5"/>
          <a:stretch>
            <a:fillRect/>
          </a:stretch>
        </p:blipFill>
        <p:spPr>
          <a:xfrm>
            <a:off x="4668012" y="5728716"/>
            <a:ext cx="283464" cy="283464"/>
          </a:xfrm>
          <a:prstGeom prst="rect">
            <a:avLst/>
          </a:prstGeom>
        </p:spPr>
      </p:pic>
      <p:sp>
        <p:nvSpPr>
          <p:cNvPr id="20" name="Text 13"/>
          <p:cNvSpPr txBox="1"/>
          <p:nvPr/>
        </p:nvSpPr>
        <p:spPr>
          <a:xfrm>
            <a:off x="5303520" y="5385816"/>
            <a:ext cx="6336792" cy="96926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Talent Loss  </a:t>
            </a:r>
            <a:pPr indent="0" marL="0">
              <a:buNone/>
            </a:pPr>
            <a:r>
              <a:rPr lang="en-US" sz="2400" dirty="0">
                <a:solidFill>
                  <a:srgbClr val="4E5E53"/>
                </a:solidFill>
                <a:latin typeface="Calibri" pitchFamily="34" charset="0"/>
                <a:ea typeface="Calibri" pitchFamily="34" charset="-122"/>
                <a:cs typeface="Calibri" pitchFamily="34" charset="-120"/>
              </a:rPr>
              <a:t>R90,000</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4.5 · Consolidating into an enterprise position</a:t>
            </a:r>
            <a:endParaRPr lang="en-US" sz="36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3749040"/>
                <a:gridCol w="1463040"/>
                <a:gridCol w="1463040"/>
                <a:gridCol w="1737360"/>
                <a:gridCol w="2679192"/>
              </a:tblGrid>
              <a:tr h="566928">
                <a:tc>
                  <a:txBody>
                    <a:bodyPr/>
                    <a:lstStyle/>
                    <a:p>
                      <a:pPr indent="0" marL="0">
                        <a:buNone/>
                      </a:pPr>
                      <a:r>
                        <a:rPr lang="en-US" sz="2400" b="1" dirty="0">
                          <a:solidFill>
                            <a:srgbClr val="FFFFFF"/>
                          </a:solidFill>
                          <a:latin typeface="Cambria" pitchFamily="34" charset="0"/>
                          <a:ea typeface="Cambria" pitchFamily="34" charset="-122"/>
                          <a:cs typeface="Cambria" pitchFamily="34" charset="-120"/>
                        </a:rPr>
                        <a:t>Function</a:t>
                      </a:r>
                      <a:endParaRPr lang="en-US" sz="2400" dirty="0">
                        <a:latin typeface="Cambria" charset="0"/>
                        <a:ea typeface="Cambria" charset="0"/>
                        <a:cs typeface="Cambria"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1A5C2C"/>
                    </a:solidFill>
                  </a:tcPr>
                </a:tc>
                <a:tc>
                  <a:txBody>
                    <a:bodyPr/>
                    <a:lstStyle/>
                    <a:p>
                      <a:pPr indent="0" marL="0">
                        <a:buNone/>
                      </a:pPr>
                      <a:r>
                        <a:rPr lang="en-US" sz="2400" b="1" dirty="0">
                          <a:solidFill>
                            <a:srgbClr val="FFFFFF"/>
                          </a:solidFill>
                          <a:latin typeface="Cambria" pitchFamily="34" charset="0"/>
                          <a:ea typeface="Cambria" pitchFamily="34" charset="-122"/>
                          <a:cs typeface="Cambria" pitchFamily="34" charset="-120"/>
                        </a:rPr>
                        <a:t>Q1</a:t>
                      </a:r>
                      <a:endParaRPr lang="en-US" sz="2400" dirty="0">
                        <a:latin typeface="Cambria" charset="0"/>
                        <a:ea typeface="Cambria" charset="0"/>
                        <a:cs typeface="Cambria"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1A5C2C"/>
                    </a:solidFill>
                  </a:tcPr>
                </a:tc>
                <a:tc>
                  <a:txBody>
                    <a:bodyPr/>
                    <a:lstStyle/>
                    <a:p>
                      <a:pPr indent="0" marL="0">
                        <a:buNone/>
                      </a:pPr>
                      <a:r>
                        <a:rPr lang="en-US" sz="2400" b="1" dirty="0">
                          <a:solidFill>
                            <a:srgbClr val="FFFFFF"/>
                          </a:solidFill>
                          <a:latin typeface="Cambria" pitchFamily="34" charset="0"/>
                          <a:ea typeface="Cambria" pitchFamily="34" charset="-122"/>
                          <a:cs typeface="Cambria" pitchFamily="34" charset="-120"/>
                        </a:rPr>
                        <a:t>Q2</a:t>
                      </a:r>
                      <a:endParaRPr lang="en-US" sz="2400" dirty="0">
                        <a:latin typeface="Cambria" charset="0"/>
                        <a:ea typeface="Cambria" charset="0"/>
                        <a:cs typeface="Cambria"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1A5C2C"/>
                    </a:solidFill>
                  </a:tcPr>
                </a:tc>
                <a:tc>
                  <a:txBody>
                    <a:bodyPr/>
                    <a:lstStyle/>
                    <a:p>
                      <a:pPr indent="0" marL="0">
                        <a:buNone/>
                      </a:pPr>
                      <a:r>
                        <a:rPr lang="en-US" sz="2400" b="1" dirty="0">
                          <a:solidFill>
                            <a:srgbClr val="FFFFFF"/>
                          </a:solidFill>
                          <a:latin typeface="Cambria" pitchFamily="34" charset="0"/>
                          <a:ea typeface="Cambria" pitchFamily="34" charset="-122"/>
                          <a:cs typeface="Cambria" pitchFamily="34" charset="-120"/>
                        </a:rPr>
                        <a:t>Change</a:t>
                      </a:r>
                      <a:endParaRPr lang="en-US" sz="2400" dirty="0">
                        <a:latin typeface="Cambria" charset="0"/>
                        <a:ea typeface="Cambria" charset="0"/>
                        <a:cs typeface="Cambria"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1A5C2C"/>
                    </a:solidFill>
                  </a:tcPr>
                </a:tc>
                <a:tc>
                  <a:txBody>
                    <a:bodyPr/>
                    <a:lstStyle/>
                    <a:p>
                      <a:pPr indent="0" marL="0">
                        <a:buNone/>
                      </a:pPr>
                      <a:r>
                        <a:rPr lang="en-US" sz="2400" b="1" dirty="0">
                          <a:solidFill>
                            <a:srgbClr val="FFFFFF"/>
                          </a:solidFill>
                          <a:latin typeface="Cambria" pitchFamily="34" charset="0"/>
                          <a:ea typeface="Cambria" pitchFamily="34" charset="-122"/>
                          <a:cs typeface="Cambria" pitchFamily="34" charset="-120"/>
                        </a:rPr>
                        <a:t>Q2 exposure</a:t>
                      </a:r>
                      <a:endParaRPr lang="en-US" sz="2400" dirty="0">
                        <a:latin typeface="Cambria" charset="0"/>
                        <a:ea typeface="Cambria" charset="0"/>
                        <a:cs typeface="Cambria"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1A5C2C"/>
                    </a:solidFill>
                  </a:tcPr>
                </a:tc>
              </a:tr>
              <a:tr h="566928">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Corporate · CEO</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84</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82</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−2</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R25,000</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r>
              <a:tr h="566928">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Finance · CFO</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78</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72</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−6</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R70,000</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r>
              <a:tr h="566928">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HR · CHRO</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82</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80</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−2</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R30,000</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r>
              <a:tr h="566928">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Operations · COO</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80</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52</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−28</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R346,500</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r>
              <a:tr h="566928">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Strategy · CSO</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78</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70</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−8</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R95,000</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r>
              <a:tr h="566928">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Enterprise · EXCO</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79.8</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65.3</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−14.5</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R566,500</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4.6 · Sustaining the Cross-CXO Health Architecture</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Each quarter  </a:t>
            </a:r>
            <a:pPr indent="0" marL="0">
              <a:buNone/>
            </a:pPr>
            <a:r>
              <a:rPr lang="en-US" sz="2400" dirty="0">
                <a:solidFill>
                  <a:srgbClr val="1F2A22"/>
                </a:solidFill>
                <a:latin typeface="Calibri" pitchFamily="34" charset="0"/>
                <a:ea typeface="Calibri" pitchFamily="34" charset="-122"/>
                <a:cs typeface="Calibri" pitchFamily="34" charset="-120"/>
              </a:rPr>
              <a:t>employees in each function complete the thermometer</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Confidential  </a:t>
            </a:r>
            <a:pPr indent="0" marL="0">
              <a:buNone/>
            </a:pPr>
            <a:r>
              <a:rPr lang="en-US" sz="2400" dirty="0">
                <a:solidFill>
                  <a:srgbClr val="1F2A22"/>
                </a:solidFill>
                <a:latin typeface="Calibri" pitchFamily="34" charset="0"/>
                <a:ea typeface="Calibri" pitchFamily="34" charset="-122"/>
                <a:cs typeface="Calibri" pitchFamily="34" charset="-120"/>
              </a:rPr>
              <a:t>responses are consolidated by function</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Each CXO  </a:t>
            </a:r>
            <a:pPr indent="0" marL="0">
              <a:buNone/>
            </a:pPr>
            <a:r>
              <a:rPr lang="en-US" sz="2400" dirty="0">
                <a:solidFill>
                  <a:srgbClr val="1F2A22"/>
                </a:solidFill>
                <a:latin typeface="Calibri" pitchFamily="34" charset="0"/>
                <a:ea typeface="Calibri" pitchFamily="34" charset="-122"/>
                <a:cs typeface="Calibri" pitchFamily="34" charset="-120"/>
              </a:rPr>
              <a:t>interprets, investigates and quantifies losses</a:t>
            </a:r>
            <a:endParaRPr lang="en-US" sz="24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sp>
      <p:pic>
        <p:nvPicPr>
          <p:cNvPr id="13" name="Image 3" descr="preencoded.png">    </p:cNvPr>
          <p:cNvPicPr>
            <a:picLocks noChangeAspect="1"/>
          </p:cNvPicPr>
          <p:nvPr/>
        </p:nvPicPr>
        <p:blipFill>
          <a:blip r:embed="rId4"/>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EXCO  </a:t>
            </a:r>
            <a:pPr indent="0" marL="0">
              <a:buNone/>
            </a:pPr>
            <a:r>
              <a:rPr lang="en-US" sz="2400" dirty="0">
                <a:solidFill>
                  <a:srgbClr val="1F2A22"/>
                </a:solidFill>
                <a:latin typeface="Calibri" pitchFamily="34" charset="0"/>
                <a:ea typeface="Calibri" pitchFamily="34" charset="-122"/>
                <a:cs typeface="Calibri" pitchFamily="34" charset="-120"/>
              </a:rPr>
              <a:t>consolidates into enterprise health and priorities</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4.7a · From values to a Cultural Operating Code</a:t>
            </a:r>
            <a:endParaRPr lang="en-US" sz="3600" dirty="0"/>
          </a:p>
        </p:txBody>
      </p:sp>
      <p:sp>
        <p:nvSpPr>
          <p:cNvPr id="3" name="Shape 1"/>
          <p:cNvSpPr/>
          <p:nvPr/>
        </p:nvSpPr>
        <p:spPr>
          <a:xfrm>
            <a:off x="548640" y="2004060"/>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2164080"/>
            <a:ext cx="320040" cy="320040"/>
          </a:xfrm>
          <a:prstGeom prst="rect">
            <a:avLst/>
          </a:prstGeom>
        </p:spPr>
      </p:pic>
      <p:sp>
        <p:nvSpPr>
          <p:cNvPr id="5" name="Text 2"/>
          <p:cNvSpPr txBox="1"/>
          <p:nvPr/>
        </p:nvSpPr>
        <p:spPr>
          <a:xfrm>
            <a:off x="1508760" y="1508760"/>
            <a:ext cx="10131552" cy="16306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1 · Define the behaviour  </a:t>
            </a:r>
            <a:pPr indent="0" marL="0">
              <a:buNone/>
            </a:pPr>
            <a:r>
              <a:rPr lang="en-US" sz="2600" dirty="0">
                <a:solidFill>
                  <a:srgbClr val="1F2A22"/>
                </a:solidFill>
                <a:latin typeface="Calibri" pitchFamily="34" charset="0"/>
                <a:ea typeface="Calibri" pitchFamily="34" charset="-122"/>
                <a:cs typeface="Calibri" pitchFamily="34" charset="-120"/>
              </a:rPr>
              <a:t>what a leader who lives the value does</a:t>
            </a:r>
            <a:endParaRPr lang="en-US" sz="2600" dirty="0"/>
          </a:p>
        </p:txBody>
      </p:sp>
      <p:sp>
        <p:nvSpPr>
          <p:cNvPr id="6" name="Shape 3"/>
          <p:cNvSpPr/>
          <p:nvPr/>
        </p:nvSpPr>
        <p:spPr>
          <a:xfrm>
            <a:off x="548640" y="3634740"/>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3794760"/>
            <a:ext cx="320040" cy="320040"/>
          </a:xfrm>
          <a:prstGeom prst="rect">
            <a:avLst/>
          </a:prstGeom>
        </p:spPr>
      </p:pic>
      <p:sp>
        <p:nvSpPr>
          <p:cNvPr id="8" name="Text 4"/>
          <p:cNvSpPr txBox="1"/>
          <p:nvPr/>
        </p:nvSpPr>
        <p:spPr>
          <a:xfrm>
            <a:off x="1508760" y="3139440"/>
            <a:ext cx="10131552" cy="16306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2 · Build the acronym  </a:t>
            </a:r>
            <a:pPr indent="0" marL="0">
              <a:buNone/>
            </a:pPr>
            <a:r>
              <a:rPr lang="en-US" sz="2600" dirty="0">
                <a:solidFill>
                  <a:srgbClr val="1F2A22"/>
                </a:solidFill>
                <a:latin typeface="Calibri" pitchFamily="34" charset="0"/>
                <a:ea typeface="Calibri" pitchFamily="34" charset="-122"/>
                <a:cs typeface="Calibri" pitchFamily="34" charset="-120"/>
              </a:rPr>
              <a:t>three action words</a:t>
            </a:r>
            <a:endParaRPr lang="en-US" sz="2600" dirty="0"/>
          </a:p>
        </p:txBody>
      </p:sp>
      <p:sp>
        <p:nvSpPr>
          <p:cNvPr id="9" name="Shape 5"/>
          <p:cNvSpPr/>
          <p:nvPr/>
        </p:nvSpPr>
        <p:spPr>
          <a:xfrm>
            <a:off x="548640" y="5265420"/>
            <a:ext cx="640080" cy="640080"/>
          </a:xfrm>
          <a:prstGeom prst="ellipse">
            <a:avLst/>
          </a:prstGeom>
          <a:solidFill>
            <a:srgbClr val="C6A24C"/>
          </a:solidFill>
          <a:ln w="12700">
            <a:solidFill>
              <a:srgbClr val="C6A24C"/>
            </a:solidFill>
            <a:prstDash val="solid"/>
          </a:ln>
        </p:spPr>
      </p:sp>
      <p:pic>
        <p:nvPicPr>
          <p:cNvPr id="10" name="Image 2" descr="preencoded.png">    </p:cNvPr>
          <p:cNvPicPr>
            <a:picLocks noChangeAspect="1"/>
          </p:cNvPicPr>
          <p:nvPr/>
        </p:nvPicPr>
        <p:blipFill>
          <a:blip r:embed="rId3"/>
          <a:stretch>
            <a:fillRect/>
          </a:stretch>
        </p:blipFill>
        <p:spPr>
          <a:xfrm>
            <a:off x="708660" y="5425440"/>
            <a:ext cx="320040" cy="320040"/>
          </a:xfrm>
          <a:prstGeom prst="rect">
            <a:avLst/>
          </a:prstGeom>
        </p:spPr>
      </p:pic>
      <p:sp>
        <p:nvSpPr>
          <p:cNvPr id="11" name="Text 6"/>
          <p:cNvSpPr txBox="1"/>
          <p:nvPr/>
        </p:nvSpPr>
        <p:spPr>
          <a:xfrm>
            <a:off x="1508760" y="4770120"/>
            <a:ext cx="10131552" cy="16306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3 · Write the norm statement  </a:t>
            </a:r>
            <a:pPr indent="0" marL="0">
              <a:buNone/>
            </a:pPr>
            <a:r>
              <a:rPr lang="en-US" sz="2600" dirty="0">
                <a:solidFill>
                  <a:srgbClr val="1F2A22"/>
                </a:solidFill>
                <a:latin typeface="Calibri" pitchFamily="34" charset="0"/>
                <a:ea typeface="Calibri" pitchFamily="34" charset="-122"/>
                <a:cs typeface="Calibri" pitchFamily="34" charset="-120"/>
              </a:rPr>
              <a:t>one sentence for daily practice</a:t>
            </a:r>
            <a:endParaRPr lang="en-US" sz="2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4.7b · What makes the Code real</a:t>
            </a:r>
            <a:endParaRPr lang="en-US" sz="3600" dirty="0"/>
          </a:p>
        </p:txBody>
      </p:sp>
      <p:sp>
        <p:nvSpPr>
          <p:cNvPr id="3" name="Shape 1"/>
          <p:cNvSpPr/>
          <p:nvPr/>
        </p:nvSpPr>
        <p:spPr>
          <a:xfrm>
            <a:off x="548640" y="1508760"/>
            <a:ext cx="5408676" cy="2286000"/>
          </a:xfrm>
          <a:prstGeom prst="roundRect">
            <a:avLst>
              <a:gd name="adj" fmla="val 4000"/>
            </a:avLst>
          </a:prstGeom>
          <a:solidFill>
            <a:srgbClr val="EEF4EF"/>
          </a:solidFill>
          <a:ln w="12700">
            <a:solidFill>
              <a:srgbClr val="EEF4EF"/>
            </a:solidFill>
            <a:prstDash val="solid"/>
          </a:ln>
        </p:spPr>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914400" y="1874520"/>
            <a:ext cx="274320" cy="274320"/>
          </a:xfrm>
          <a:prstGeom prst="rect">
            <a:avLst/>
          </a:prstGeom>
        </p:spPr>
      </p:pic>
      <p:sp>
        <p:nvSpPr>
          <p:cNvPr id="6" name="Text 3"/>
          <p:cNvSpPr txBox="1"/>
          <p:nvPr/>
        </p:nvSpPr>
        <p:spPr>
          <a:xfrm>
            <a:off x="1508760" y="1691640"/>
            <a:ext cx="4219956" cy="6400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Demonstrable</a:t>
            </a:r>
            <a:endParaRPr lang="en-US" sz="2600" dirty="0"/>
          </a:p>
        </p:txBody>
      </p:sp>
      <p:sp>
        <p:nvSpPr>
          <p:cNvPr id="7" name="Text 4"/>
          <p:cNvSpPr txBox="1"/>
          <p:nvPr/>
        </p:nvSpPr>
        <p:spPr>
          <a:xfrm>
            <a:off x="777240" y="2468880"/>
            <a:ext cx="4951476" cy="1188720"/>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Observable, specific behaviours</a:t>
            </a:r>
            <a:endParaRPr lang="en-US" sz="2400" dirty="0"/>
          </a:p>
        </p:txBody>
      </p:sp>
      <p:sp>
        <p:nvSpPr>
          <p:cNvPr id="8" name="Shape 5"/>
          <p:cNvSpPr/>
          <p:nvPr/>
        </p:nvSpPr>
        <p:spPr>
          <a:xfrm>
            <a:off x="6231636" y="1508760"/>
            <a:ext cx="5408676" cy="2286000"/>
          </a:xfrm>
          <a:prstGeom prst="roundRect">
            <a:avLst>
              <a:gd name="adj" fmla="val 4000"/>
            </a:avLst>
          </a:prstGeom>
          <a:solidFill>
            <a:srgbClr val="EEF4EF"/>
          </a:solidFill>
          <a:ln w="12700">
            <a:solidFill>
              <a:srgbClr val="EEF4EF"/>
            </a:solidFill>
            <a:prstDash val="solid"/>
          </a:ln>
        </p:spPr>
      </p:sp>
      <p:sp>
        <p:nvSpPr>
          <p:cNvPr id="9" name="Shape 6"/>
          <p:cNvSpPr/>
          <p:nvPr/>
        </p:nvSpPr>
        <p:spPr>
          <a:xfrm>
            <a:off x="6460236" y="1737360"/>
            <a:ext cx="548640" cy="548640"/>
          </a:xfrm>
          <a:prstGeom prst="ellipse">
            <a:avLst/>
          </a:prstGeom>
          <a:solidFill>
            <a:srgbClr val="1A5C2C"/>
          </a:solidFill>
          <a:ln w="12700">
            <a:solidFill>
              <a:srgbClr val="1A5C2C"/>
            </a:solidFill>
            <a:prstDash val="solid"/>
          </a:ln>
        </p:spPr>
      </p:sp>
      <p:pic>
        <p:nvPicPr>
          <p:cNvPr id="10" name="Image 1" descr="preencoded.png">    </p:cNvPr>
          <p:cNvPicPr>
            <a:picLocks noChangeAspect="1"/>
          </p:cNvPicPr>
          <p:nvPr/>
        </p:nvPicPr>
        <p:blipFill>
          <a:blip r:embed="rId2"/>
          <a:stretch>
            <a:fillRect/>
          </a:stretch>
        </p:blipFill>
        <p:spPr>
          <a:xfrm>
            <a:off x="6597396" y="1874520"/>
            <a:ext cx="274320" cy="274320"/>
          </a:xfrm>
          <a:prstGeom prst="rect">
            <a:avLst/>
          </a:prstGeom>
        </p:spPr>
      </p:pic>
      <p:sp>
        <p:nvSpPr>
          <p:cNvPr id="11" name="Text 7"/>
          <p:cNvSpPr txBox="1"/>
          <p:nvPr/>
        </p:nvSpPr>
        <p:spPr>
          <a:xfrm>
            <a:off x="7191756" y="1691640"/>
            <a:ext cx="4219956" cy="6400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Assessed</a:t>
            </a:r>
            <a:endParaRPr lang="en-US" sz="2600" dirty="0"/>
          </a:p>
        </p:txBody>
      </p:sp>
      <p:sp>
        <p:nvSpPr>
          <p:cNvPr id="12" name="Text 8"/>
          <p:cNvSpPr txBox="1"/>
          <p:nvPr/>
        </p:nvSpPr>
        <p:spPr>
          <a:xfrm>
            <a:off x="6460236" y="2468880"/>
            <a:ext cx="4951476" cy="1188720"/>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In 360-degree feedback</a:t>
            </a:r>
            <a:endParaRPr lang="en-US" sz="2400" dirty="0"/>
          </a:p>
        </p:txBody>
      </p:sp>
      <p:sp>
        <p:nvSpPr>
          <p:cNvPr id="13" name="Shape 9"/>
          <p:cNvSpPr/>
          <p:nvPr/>
        </p:nvSpPr>
        <p:spPr>
          <a:xfrm>
            <a:off x="548640" y="4069080"/>
            <a:ext cx="5408676" cy="2286000"/>
          </a:xfrm>
          <a:prstGeom prst="roundRect">
            <a:avLst>
              <a:gd name="adj" fmla="val 4000"/>
            </a:avLst>
          </a:prstGeom>
          <a:solidFill>
            <a:srgbClr val="EEF4EF"/>
          </a:solidFill>
          <a:ln w="12700">
            <a:solidFill>
              <a:srgbClr val="EEF4EF"/>
            </a:solidFill>
            <a:prstDash val="solid"/>
          </a:ln>
        </p:spPr>
      </p:sp>
      <p:sp>
        <p:nvSpPr>
          <p:cNvPr id="14" name="Shape 10"/>
          <p:cNvSpPr/>
          <p:nvPr/>
        </p:nvSpPr>
        <p:spPr>
          <a:xfrm>
            <a:off x="777240" y="4297680"/>
            <a:ext cx="548640" cy="548640"/>
          </a:xfrm>
          <a:prstGeom prst="ellipse">
            <a:avLst/>
          </a:prstGeom>
          <a:solidFill>
            <a:srgbClr val="1A5C2C"/>
          </a:solidFill>
          <a:ln w="12700">
            <a:solidFill>
              <a:srgbClr val="1A5C2C"/>
            </a:solidFill>
            <a:prstDash val="solid"/>
          </a:ln>
        </p:spPr>
      </p:sp>
      <p:pic>
        <p:nvPicPr>
          <p:cNvPr id="15" name="Image 2" descr="preencoded.png">    </p:cNvPr>
          <p:cNvPicPr>
            <a:picLocks noChangeAspect="1"/>
          </p:cNvPicPr>
          <p:nvPr/>
        </p:nvPicPr>
        <p:blipFill>
          <a:blip r:embed="rId3"/>
          <a:stretch>
            <a:fillRect/>
          </a:stretch>
        </p:blipFill>
        <p:spPr>
          <a:xfrm>
            <a:off x="914400" y="4434840"/>
            <a:ext cx="274320" cy="274320"/>
          </a:xfrm>
          <a:prstGeom prst="rect">
            <a:avLst/>
          </a:prstGeom>
        </p:spPr>
      </p:pic>
      <p:sp>
        <p:nvSpPr>
          <p:cNvPr id="16" name="Text 11"/>
          <p:cNvSpPr txBox="1"/>
          <p:nvPr/>
        </p:nvSpPr>
        <p:spPr>
          <a:xfrm>
            <a:off x="1508760" y="4251960"/>
            <a:ext cx="4219956" cy="6400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Enforced</a:t>
            </a:r>
            <a:endParaRPr lang="en-US" sz="2600" dirty="0"/>
          </a:p>
        </p:txBody>
      </p:sp>
      <p:sp>
        <p:nvSpPr>
          <p:cNvPr id="17" name="Text 12"/>
          <p:cNvSpPr txBox="1"/>
          <p:nvPr/>
        </p:nvSpPr>
        <p:spPr>
          <a:xfrm>
            <a:off x="777240" y="5029200"/>
            <a:ext cx="4951476" cy="1188720"/>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Consequences regardless of seniority</a:t>
            </a:r>
            <a:endParaRPr lang="en-US" sz="2400" dirty="0"/>
          </a:p>
        </p:txBody>
      </p:sp>
      <p:sp>
        <p:nvSpPr>
          <p:cNvPr id="18" name="Shape 13"/>
          <p:cNvSpPr/>
          <p:nvPr/>
        </p:nvSpPr>
        <p:spPr>
          <a:xfrm>
            <a:off x="6231636" y="4069080"/>
            <a:ext cx="5408676" cy="2286000"/>
          </a:xfrm>
          <a:prstGeom prst="roundRect">
            <a:avLst>
              <a:gd name="adj" fmla="val 4000"/>
            </a:avLst>
          </a:prstGeom>
          <a:solidFill>
            <a:srgbClr val="1A5C2C"/>
          </a:solidFill>
          <a:ln w="12700">
            <a:solidFill>
              <a:srgbClr val="1A5C2C"/>
            </a:solidFill>
            <a:prstDash val="solid"/>
          </a:ln>
        </p:spPr>
      </p:sp>
      <p:sp>
        <p:nvSpPr>
          <p:cNvPr id="19" name="Shape 14"/>
          <p:cNvSpPr/>
          <p:nvPr/>
        </p:nvSpPr>
        <p:spPr>
          <a:xfrm>
            <a:off x="6460236" y="4297680"/>
            <a:ext cx="548640" cy="548640"/>
          </a:xfrm>
          <a:prstGeom prst="ellipse">
            <a:avLst/>
          </a:prstGeom>
          <a:solidFill>
            <a:srgbClr val="C6A24C"/>
          </a:solidFill>
          <a:ln w="12700">
            <a:solidFill>
              <a:srgbClr val="C6A24C"/>
            </a:solidFill>
            <a:prstDash val="solid"/>
          </a:ln>
        </p:spPr>
      </p:sp>
      <p:pic>
        <p:nvPicPr>
          <p:cNvPr id="20" name="Image 3" descr="preencoded.png">    </p:cNvPr>
          <p:cNvPicPr>
            <a:picLocks noChangeAspect="1"/>
          </p:cNvPicPr>
          <p:nvPr/>
        </p:nvPicPr>
        <p:blipFill>
          <a:blip r:embed="rId4"/>
          <a:stretch>
            <a:fillRect/>
          </a:stretch>
        </p:blipFill>
        <p:spPr>
          <a:xfrm>
            <a:off x="6597396" y="4434840"/>
            <a:ext cx="274320" cy="274320"/>
          </a:xfrm>
          <a:prstGeom prst="rect">
            <a:avLst/>
          </a:prstGeom>
        </p:spPr>
      </p:pic>
      <p:sp>
        <p:nvSpPr>
          <p:cNvPr id="21" name="Text 15"/>
          <p:cNvSpPr txBox="1"/>
          <p:nvPr/>
        </p:nvSpPr>
        <p:spPr>
          <a:xfrm>
            <a:off x="7191756" y="4251960"/>
            <a:ext cx="4219956" cy="6400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Maintained</a:t>
            </a:r>
            <a:endParaRPr lang="en-US" sz="2600" dirty="0"/>
          </a:p>
        </p:txBody>
      </p:sp>
      <p:sp>
        <p:nvSpPr>
          <p:cNvPr id="22" name="Text 16"/>
          <p:cNvSpPr txBox="1"/>
          <p:nvPr/>
        </p:nvSpPr>
        <p:spPr>
          <a:xfrm>
            <a:off x="6460236" y="5029200"/>
            <a:ext cx="4951476" cy="118872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Modelled, reinforced, revisited</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4.7c · Three tests for every norm</a:t>
            </a:r>
            <a:endParaRPr lang="en-US" sz="3600" dirty="0"/>
          </a:p>
        </p:txBody>
      </p:sp>
      <p:sp>
        <p:nvSpPr>
          <p:cNvPr id="3" name="Shape 1"/>
          <p:cNvSpPr/>
          <p:nvPr/>
        </p:nvSpPr>
        <p:spPr>
          <a:xfrm>
            <a:off x="548640" y="1508760"/>
            <a:ext cx="3514344" cy="4846320"/>
          </a:xfrm>
          <a:prstGeom prst="roundRect">
            <a:avLst>
              <a:gd name="adj" fmla="val 2602"/>
            </a:avLst>
          </a:prstGeom>
          <a:solidFill>
            <a:srgbClr val="EEF4EF"/>
          </a:solidFill>
          <a:ln w="12700">
            <a:solidFill>
              <a:srgbClr val="EEF4EF"/>
            </a:solidFill>
            <a:prstDash val="solid"/>
          </a:ln>
        </p:spPr>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New Employee Test</a:t>
            </a:r>
            <a:endParaRPr lang="en-US" sz="2600" dirty="0"/>
          </a:p>
        </p:txBody>
      </p:sp>
      <p:sp>
        <p:nvSpPr>
          <p:cNvPr id="7" name="Text 4"/>
          <p:cNvSpPr txBox="1"/>
          <p:nvPr/>
        </p:nvSpPr>
        <p:spPr>
          <a:xfrm>
            <a:off x="777240" y="3159252"/>
            <a:ext cx="3057144" cy="30586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Is the behaviour clear on day one?</a:t>
            </a:r>
            <a:endParaRPr lang="en-US" sz="2400" dirty="0"/>
          </a:p>
        </p:txBody>
      </p:sp>
      <p:sp>
        <p:nvSpPr>
          <p:cNvPr id="8" name="Shape 5"/>
          <p:cNvSpPr/>
          <p:nvPr/>
        </p:nvSpPr>
        <p:spPr>
          <a:xfrm>
            <a:off x="4337304" y="1508760"/>
            <a:ext cx="3514344" cy="4846320"/>
          </a:xfrm>
          <a:prstGeom prst="roundRect">
            <a:avLst>
              <a:gd name="adj" fmla="val 2602"/>
            </a:avLst>
          </a:prstGeom>
          <a:solidFill>
            <a:srgbClr val="EEF4EF"/>
          </a:solidFill>
          <a:ln w="12700">
            <a:solidFill>
              <a:srgbClr val="EEF4EF"/>
            </a:solidFill>
            <a:prstDash val="solid"/>
          </a:ln>
        </p:spPr>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sp>
      <p:pic>
        <p:nvPicPr>
          <p:cNvPr id="10" name="Image 1" descr="preencoded.png">    </p:cNvPr>
          <p:cNvPicPr>
            <a:picLocks noChangeAspect="1"/>
          </p:cNvPicPr>
          <p:nvPr/>
        </p:nvPicPr>
        <p:blipFill>
          <a:blip r:embed="rId2"/>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Pressure Test</a:t>
            </a:r>
            <a:endParaRPr lang="en-US" sz="2600" dirty="0"/>
          </a:p>
        </p:txBody>
      </p:sp>
      <p:sp>
        <p:nvSpPr>
          <p:cNvPr id="12" name="Text 8"/>
          <p:cNvSpPr txBox="1"/>
          <p:nvPr/>
        </p:nvSpPr>
        <p:spPr>
          <a:xfrm>
            <a:off x="4565904" y="3159252"/>
            <a:ext cx="3057144" cy="30586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Does it hold under pressure?</a:t>
            </a:r>
            <a:endParaRPr lang="en-US" sz="2400" dirty="0"/>
          </a:p>
        </p:txBody>
      </p:sp>
      <p:sp>
        <p:nvSpPr>
          <p:cNvPr id="13" name="Shape 9"/>
          <p:cNvSpPr/>
          <p:nvPr/>
        </p:nvSpPr>
        <p:spPr>
          <a:xfrm>
            <a:off x="8125968" y="1508760"/>
            <a:ext cx="3514344" cy="4846320"/>
          </a:xfrm>
          <a:prstGeom prst="roundRect">
            <a:avLst>
              <a:gd name="adj" fmla="val 2602"/>
            </a:avLst>
          </a:prstGeom>
          <a:solidFill>
            <a:srgbClr val="1A5C2C"/>
          </a:solidFill>
          <a:ln w="12700">
            <a:solidFill>
              <a:srgbClr val="1A5C2C"/>
            </a:solidFill>
            <a:prstDash val="solid"/>
          </a:ln>
        </p:spPr>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sp>
      <p:pic>
        <p:nvPicPr>
          <p:cNvPr id="15" name="Image 2" descr="preencoded.png">    </p:cNvPr>
          <p:cNvPicPr>
            <a:picLocks noChangeAspect="1"/>
          </p:cNvPicPr>
          <p:nvPr/>
        </p:nvPicPr>
        <p:blipFill>
          <a:blip r:embed="rId3"/>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Mirror Test</a:t>
            </a:r>
            <a:endParaRPr lang="en-US" sz="2600" dirty="0"/>
          </a:p>
        </p:txBody>
      </p:sp>
      <p:sp>
        <p:nvSpPr>
          <p:cNvPr id="17" name="Text 12"/>
          <p:cNvSpPr txBox="1"/>
          <p:nvPr/>
        </p:nvSpPr>
        <p:spPr>
          <a:xfrm>
            <a:off x="8354568" y="3159252"/>
            <a:ext cx="3057144" cy="3058668"/>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Would every executive accept it in their own 360?</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4.7d · The IBSL Cultural Operating Code (1)</a:t>
            </a:r>
            <a:endParaRPr lang="en-US" sz="3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514600"/>
                <a:gridCol w="1005840"/>
                <a:gridCol w="7571232"/>
              </a:tblGrid>
              <a:tr h="822960">
                <a:tc>
                  <a:txBody>
                    <a:bodyPr/>
                    <a:lstStyle/>
                    <a:p>
                      <a:pPr indent="0" marL="0">
                        <a:buNone/>
                      </a:pPr>
                      <a:r>
                        <a:rPr lang="en-US" sz="2400" b="1" dirty="0">
                          <a:solidFill>
                            <a:srgbClr val="FFFFFF"/>
                          </a:solidFill>
                          <a:latin typeface="Cambria" pitchFamily="34" charset="0"/>
                          <a:ea typeface="Cambria" pitchFamily="34" charset="-122"/>
                          <a:cs typeface="Cambria" pitchFamily="34" charset="-120"/>
                        </a:rPr>
                        <a:t>Value</a:t>
                      </a:r>
                      <a:endParaRPr lang="en-US" sz="2400" dirty="0">
                        <a:latin typeface="Cambria" charset="0"/>
                        <a:ea typeface="Cambria" charset="0"/>
                        <a:cs typeface="Cambria"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1A5C2C"/>
                    </a:solidFill>
                  </a:tcPr>
                </a:tc>
                <a:tc>
                  <a:txBody>
                    <a:bodyPr/>
                    <a:lstStyle/>
                    <a:p>
                      <a:pPr indent="0" marL="0">
                        <a:buNone/>
                      </a:pPr>
                      <a:r>
                        <a:rPr lang="en-US" sz="2400" b="1" dirty="0">
                          <a:solidFill>
                            <a:srgbClr val="FFFFFF"/>
                          </a:solidFill>
                          <a:latin typeface="Cambria" pitchFamily="34" charset="0"/>
                          <a:ea typeface="Cambria" pitchFamily="34" charset="-122"/>
                          <a:cs typeface="Cambria" pitchFamily="34" charset="-120"/>
                        </a:rPr>
                        <a:t>Code</a:t>
                      </a:r>
                      <a:endParaRPr lang="en-US" sz="2400" dirty="0">
                        <a:latin typeface="Cambria" charset="0"/>
                        <a:ea typeface="Cambria" charset="0"/>
                        <a:cs typeface="Cambria"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1A5C2C"/>
                    </a:solidFill>
                  </a:tcPr>
                </a:tc>
                <a:tc>
                  <a:txBody>
                    <a:bodyPr/>
                    <a:lstStyle/>
                    <a:p>
                      <a:pPr indent="0" marL="0">
                        <a:buNone/>
                      </a:pPr>
                      <a:r>
                        <a:rPr lang="en-US" sz="2400" b="1" dirty="0">
                          <a:solidFill>
                            <a:srgbClr val="FFFFFF"/>
                          </a:solidFill>
                          <a:latin typeface="Cambria" pitchFamily="34" charset="0"/>
                          <a:ea typeface="Cambria" pitchFamily="34" charset="-122"/>
                          <a:cs typeface="Cambria" pitchFamily="34" charset="-120"/>
                        </a:rPr>
                        <a:t>The three actions</a:t>
                      </a:r>
                      <a:endParaRPr lang="en-US" sz="2400" dirty="0">
                        <a:latin typeface="Cambria" charset="0"/>
                        <a:ea typeface="Cambria" charset="0"/>
                        <a:cs typeface="Cambria"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1A5C2C"/>
                    </a:solidFill>
                  </a:tcPr>
                </a:tc>
              </a:tr>
              <a:tr h="822960">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Intentionality</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AIM</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Act with purpose · Interrogate assumptions · Maintain the discipline</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r>
              <a:tr h="822960">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Integrity</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SAY</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Say what you mean · Act on what you say · Yield the truth regardless of consequence</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r>
              <a:tr h="822960">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Collaboration</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ONE</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Own a shared outcome · Navigate difference with respect · Execute as a unified force</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r>
            </a:tbl>
          </a:graphicData>
        </a:graphic>
      </p:graphicFrame>
      <p:sp>
        <p:nvSpPr>
          <p:cNvPr id="4" name="Shape 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sp>
      <p:sp>
        <p:nvSpPr>
          <p:cNvPr id="5" name="Text 2"/>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AIM · SAY · ONE · OAR · SET · SEE</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4.7e · The IBSL Cultural Operating Code (2)</a:t>
            </a:r>
            <a:endParaRPr lang="en-US" sz="36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514600"/>
                <a:gridCol w="1005840"/>
                <a:gridCol w="7571232"/>
              </a:tblGrid>
              <a:tr h="822960">
                <a:tc>
                  <a:txBody>
                    <a:bodyPr/>
                    <a:lstStyle/>
                    <a:p>
                      <a:pPr indent="0" marL="0">
                        <a:buNone/>
                      </a:pPr>
                      <a:r>
                        <a:rPr lang="en-US" sz="2400" b="1" dirty="0">
                          <a:solidFill>
                            <a:srgbClr val="FFFFFF"/>
                          </a:solidFill>
                          <a:latin typeface="Cambria" pitchFamily="34" charset="0"/>
                          <a:ea typeface="Cambria" pitchFamily="34" charset="-122"/>
                          <a:cs typeface="Cambria" pitchFamily="34" charset="-120"/>
                        </a:rPr>
                        <a:t>Value</a:t>
                      </a:r>
                      <a:endParaRPr lang="en-US" sz="2400" dirty="0">
                        <a:latin typeface="Cambria" charset="0"/>
                        <a:ea typeface="Cambria" charset="0"/>
                        <a:cs typeface="Cambria"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1A5C2C"/>
                    </a:solidFill>
                  </a:tcPr>
                </a:tc>
                <a:tc>
                  <a:txBody>
                    <a:bodyPr/>
                    <a:lstStyle/>
                    <a:p>
                      <a:pPr indent="0" marL="0">
                        <a:buNone/>
                      </a:pPr>
                      <a:r>
                        <a:rPr lang="en-US" sz="2400" b="1" dirty="0">
                          <a:solidFill>
                            <a:srgbClr val="FFFFFF"/>
                          </a:solidFill>
                          <a:latin typeface="Cambria" pitchFamily="34" charset="0"/>
                          <a:ea typeface="Cambria" pitchFamily="34" charset="-122"/>
                          <a:cs typeface="Cambria" pitchFamily="34" charset="-120"/>
                        </a:rPr>
                        <a:t>Code</a:t>
                      </a:r>
                      <a:endParaRPr lang="en-US" sz="2400" dirty="0">
                        <a:latin typeface="Cambria" charset="0"/>
                        <a:ea typeface="Cambria" charset="0"/>
                        <a:cs typeface="Cambria"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1A5C2C"/>
                    </a:solidFill>
                  </a:tcPr>
                </a:tc>
                <a:tc>
                  <a:txBody>
                    <a:bodyPr/>
                    <a:lstStyle/>
                    <a:p>
                      <a:pPr indent="0" marL="0">
                        <a:buNone/>
                      </a:pPr>
                      <a:r>
                        <a:rPr lang="en-US" sz="2400" b="1" dirty="0">
                          <a:solidFill>
                            <a:srgbClr val="FFFFFF"/>
                          </a:solidFill>
                          <a:latin typeface="Cambria" pitchFamily="34" charset="0"/>
                          <a:ea typeface="Cambria" pitchFamily="34" charset="-122"/>
                          <a:cs typeface="Cambria" pitchFamily="34" charset="-120"/>
                        </a:rPr>
                        <a:t>The three actions</a:t>
                      </a:r>
                      <a:endParaRPr lang="en-US" sz="2400" dirty="0">
                        <a:latin typeface="Cambria" charset="0"/>
                        <a:ea typeface="Cambria" charset="0"/>
                        <a:cs typeface="Cambria"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1A5C2C"/>
                    </a:solidFill>
                  </a:tcPr>
                </a:tc>
              </a:tr>
              <a:tr h="822960">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Accountability</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OAR</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Own it · Act on it · Report it</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r>
              <a:tr h="822960">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Excellence</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SET</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Set the standard · Earn the evidence · Transform through learning</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FFFFFF"/>
                    </a:solidFill>
                  </a:tcPr>
                </a:tc>
              </a:tr>
              <a:tr h="822960">
                <a:tc>
                  <a:txBody>
                    <a:bodyPr/>
                    <a:lstStyle/>
                    <a:p>
                      <a:pPr indent="0" marL="0">
                        <a:buNone/>
                      </a:pPr>
                      <a:r>
                        <a:rPr lang="en-US" sz="2400" b="1" dirty="0">
                          <a:solidFill>
                            <a:srgbClr val="1F2A22"/>
                          </a:solidFill>
                          <a:latin typeface="Calibri" pitchFamily="34" charset="0"/>
                          <a:ea typeface="Calibri" pitchFamily="34" charset="-122"/>
                          <a:cs typeface="Calibri" pitchFamily="34" charset="-120"/>
                        </a:rPr>
                        <a:t>Human-Centricity</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SEE</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c>
                  <a:txBody>
                    <a:bodyPr/>
                    <a:lstStyle/>
                    <a:p>
                      <a:pPr indent="0" marL="0">
                        <a:buNone/>
                      </a:pPr>
                      <a:r>
                        <a:rPr lang="en-US" sz="2400" dirty="0">
                          <a:solidFill>
                            <a:srgbClr val="1F2A22"/>
                          </a:solidFill>
                          <a:latin typeface="Calibri" pitchFamily="34" charset="0"/>
                          <a:ea typeface="Calibri" pitchFamily="34" charset="-122"/>
                          <a:cs typeface="Calibri" pitchFamily="34" charset="-120"/>
                        </a:rPr>
                        <a:t>See the person behind the role · Enable growth deliberately · Ensure dignity in every interaction</a:t>
                      </a:r>
                      <a:endParaRPr lang="en-US" sz="2400" dirty="0">
                        <a:latin typeface="Calibri" charset="0"/>
                        <a:ea typeface="Calibri" charset="0"/>
                        <a:cs typeface="Calibri" charset="0"/>
                      </a:endParaRPr>
                    </a:p>
                  </a:txBody>
                  <a:tcPr marL="73152" marR="73152" marT="73152" marB="73152" anchor="ctr">
                    <a:lnL w="12700" cap="flat" cmpd="sng" algn="ctr">
                      <a:solidFill>
                        <a:srgbClr val="D5DED7"/>
                      </a:solidFill>
                      <a:prstDash val="solid"/>
                      <a:round/>
                      <a:headEnd type="none" w="med" len="med"/>
                      <a:tailEnd type="none" w="med" len="med"/>
                    </a:lnL>
                    <a:lnR w="12700" cap="flat" cmpd="sng" algn="ctr">
                      <a:solidFill>
                        <a:srgbClr val="D5DED7"/>
                      </a:solidFill>
                      <a:prstDash val="solid"/>
                      <a:round/>
                      <a:headEnd type="none" w="med" len="med"/>
                      <a:tailEnd type="none" w="med" len="med"/>
                    </a:lnR>
                    <a:lnT w="12700" cap="flat" cmpd="sng" algn="ctr">
                      <a:solidFill>
                        <a:srgbClr val="D5DED7"/>
                      </a:solidFill>
                      <a:prstDash val="solid"/>
                      <a:round/>
                      <a:headEnd type="none" w="med" len="med"/>
                      <a:tailEnd type="none" w="med" len="med"/>
                    </a:lnT>
                    <a:lnB w="12700" cap="flat" cmpd="sng" algn="ctr">
                      <a:solidFill>
                        <a:srgbClr val="D5DED7"/>
                      </a:solidFill>
                      <a:prstDash val="solid"/>
                      <a:round/>
                      <a:headEnd type="none" w="med" len="med"/>
                      <a:tailEnd type="none" w="med" len="med"/>
                    </a:lnB>
                    <a:solidFill>
                      <a:srgbClr val="EEF4EF"/>
                    </a:solidFill>
                  </a:tcPr>
                </a:tc>
              </a:tr>
            </a:tbl>
          </a:graphicData>
        </a:graphic>
      </p:graphicFrame>
      <p:sp>
        <p:nvSpPr>
          <p:cNvPr id="4" name="Shape 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sp>
      <p:sp>
        <p:nvSpPr>
          <p:cNvPr id="5" name="Text 2"/>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AIM · SAY · ONE · OAR · SET · SEE</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Section 4 Reflection</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Which trait would my employees rate lowest, and what evidence do I see?</a:t>
            </a:r>
            <a:endParaRPr lang="en-US" sz="24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Which hidden cost is that vulnerability most likely creating?</a:t>
            </a:r>
            <a:endParaRPr lang="en-US" sz="24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What is the estimated quarterly loss exposure, and how did I calculate it?</a:t>
            </a:r>
            <a:endParaRPr lang="en-US" sz="24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sp>
      <p:pic>
        <p:nvPicPr>
          <p:cNvPr id="13" name="Image 3" descr="preencoded.png">    </p:cNvPr>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Which part is observed loss, which is assumption, and where could it overlap?</a:t>
            </a:r>
            <a:endParaRPr lang="en-US" sz="2400" dirty="0"/>
          </a:p>
        </p:txBody>
      </p:sp>
      <p:sp>
        <p:nvSpPr>
          <p:cNvPr id="15" name="Shape 9"/>
          <p:cNvSpPr/>
          <p:nvPr/>
        </p:nvSpPr>
        <p:spPr>
          <a:xfrm>
            <a:off x="548640" y="5591556"/>
            <a:ext cx="640080" cy="640080"/>
          </a:xfrm>
          <a:prstGeom prst="ellipse">
            <a:avLst/>
          </a:prstGeom>
          <a:solidFill>
            <a:srgbClr val="C6A24C"/>
          </a:solidFill>
          <a:ln w="12700">
            <a:solidFill>
              <a:srgbClr val="C6A24C"/>
            </a:solidFill>
            <a:prstDash val="solid"/>
          </a:ln>
        </p:spPr>
      </p:sp>
      <p:pic>
        <p:nvPicPr>
          <p:cNvPr id="16" name="Image 4" descr="preencoded.png">    </p:cNvPr>
          <p:cNvPicPr>
            <a:picLocks noChangeAspect="1"/>
          </p:cNvPicPr>
          <p:nvPr/>
        </p:nvPicPr>
        <p:blipFill>
          <a:blip r:embed="rId5"/>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What action will I take, and how will I track the value recovered?</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5</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5</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Application — In Practice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The Cross-CXO Organisational Health Clinic</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243584"/>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Consolidate functional organisational health assessments and quantify enterprise-level people-performance losses to establish an evidence-based organisational health position.</a:t>
            </a:r>
            <a:endParaRPr lang="en-US" sz="2400" dirty="0"/>
          </a:p>
        </p:txBody>
      </p:sp>
      <p:sp>
        <p:nvSpPr>
          <p:cNvPr id="10" name="Shape 7"/>
          <p:cNvSpPr/>
          <p:nvPr/>
        </p:nvSpPr>
        <p:spPr>
          <a:xfrm>
            <a:off x="2743200" y="5248656"/>
            <a:ext cx="384048" cy="384048"/>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2839212" y="5344668"/>
            <a:ext cx="192024" cy="192024"/>
          </a:xfrm>
          <a:prstGeom prst="rect">
            <a:avLst/>
          </a:prstGeom>
        </p:spPr>
      </p:pic>
      <p:sp>
        <p:nvSpPr>
          <p:cNvPr id="12" name="Text 8"/>
          <p:cNvSpPr txBox="1"/>
          <p:nvPr/>
        </p:nvSpPr>
        <p:spPr>
          <a:xfrm>
            <a:off x="3291840" y="5175504"/>
            <a:ext cx="8412480" cy="1243584"/>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Commit the executive team to coordinated remedial actions and shared behavioural norms that restore people performance and strengthen organisational health.</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5.1 · The Clinic: four pieces of group work</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Interpret  </a:t>
            </a:r>
            <a:pPr indent="0" marL="0">
              <a:buNone/>
            </a:pPr>
            <a:r>
              <a:rPr lang="en-US" sz="2400" dirty="0">
                <a:solidFill>
                  <a:srgbClr val="1F2A22"/>
                </a:solidFill>
                <a:latin typeface="Calibri" pitchFamily="34" charset="0"/>
                <a:ea typeface="Calibri" pitchFamily="34" charset="-122"/>
                <a:cs typeface="Calibri" pitchFamily="34" charset="-120"/>
              </a:rPr>
              <a:t>the functional assessments of your CXO roles</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Consolidate  </a:t>
            </a:r>
            <a:pPr indent="0" marL="0">
              <a:buNone/>
            </a:pPr>
            <a:r>
              <a:rPr lang="en-US" sz="2400" dirty="0">
                <a:solidFill>
                  <a:srgbClr val="1F2A22"/>
                </a:solidFill>
                <a:latin typeface="Calibri" pitchFamily="34" charset="0"/>
                <a:ea typeface="Calibri" pitchFamily="34" charset="-122"/>
                <a:cs typeface="Calibri" pitchFamily="34" charset="-120"/>
              </a:rPr>
              <a:t>scores and losses for the represented functions</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Review–Realign–Restore  </a:t>
            </a:r>
            <a:pPr indent="0" marL="0">
              <a:buNone/>
            </a:pPr>
            <a:r>
              <a:rPr lang="en-US" sz="2400" dirty="0">
                <a:solidFill>
                  <a:srgbClr val="1F2A22"/>
                </a:solidFill>
                <a:latin typeface="Calibri" pitchFamily="34" charset="0"/>
                <a:ea typeface="Calibri" pitchFamily="34" charset="-122"/>
                <a:cs typeface="Calibri" pitchFamily="34" charset="-120"/>
              </a:rPr>
              <a:t>determine the remedial actions</a:t>
            </a:r>
            <a:endParaRPr lang="en-US" sz="24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sp>
      <p:pic>
        <p:nvPicPr>
          <p:cNvPr id="13" name="Image 3" descr="preencoded.png">    </p:cNvPr>
          <p:cNvPicPr>
            <a:picLocks noChangeAspect="1"/>
          </p:cNvPicPr>
          <p:nvPr/>
        </p:nvPicPr>
        <p:blipFill>
          <a:blip r:embed="rId4"/>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Build  </a:t>
            </a:r>
            <a:pPr indent="0" marL="0">
              <a:buNone/>
            </a:pPr>
            <a:r>
              <a:rPr lang="en-US" sz="2400" dirty="0">
                <a:solidFill>
                  <a:srgbClr val="1F2A22"/>
                </a:solidFill>
                <a:latin typeface="Calibri" pitchFamily="34" charset="0"/>
                <a:ea typeface="Calibri" pitchFamily="34" charset="-122"/>
                <a:cs typeface="Calibri" pitchFamily="34" charset="-120"/>
              </a:rPr>
              <a:t>your organisation’s Cultural Operating Code</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5.2–5.3 · Tasks 1 and 2: each function</a:t>
            </a:r>
            <a:endParaRPr lang="en-US" sz="3600" dirty="0"/>
          </a:p>
        </p:txBody>
      </p:sp>
      <p:sp>
        <p:nvSpPr>
          <p:cNvPr id="3" name="Shape 1"/>
          <p:cNvSpPr/>
          <p:nvPr/>
        </p:nvSpPr>
        <p:spPr>
          <a:xfrm>
            <a:off x="548640" y="1508760"/>
            <a:ext cx="5394960" cy="4846320"/>
          </a:xfrm>
          <a:prstGeom prst="roundRect">
            <a:avLst>
              <a:gd name="adj" fmla="val 1887"/>
            </a:avLst>
          </a:prstGeom>
          <a:solidFill>
            <a:srgbClr val="EEF4EF"/>
          </a:solidFill>
          <a:ln w="12700">
            <a:solidFill>
              <a:srgbClr val="EEF4EF"/>
            </a:solidFill>
            <a:prstDash val="solid"/>
          </a:ln>
        </p:spPr>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indent="0" marL="0">
              <a:buNone/>
            </a:pPr>
            <a:r>
              <a:rPr lang="en-US" sz="2800" b="1" dirty="0">
                <a:solidFill>
                  <a:srgbClr val="1A5C2C"/>
                </a:solidFill>
                <a:latin typeface="Cambria" pitchFamily="34" charset="0"/>
                <a:ea typeface="Cambria" pitchFamily="34" charset="-122"/>
                <a:cs typeface="Cambria" pitchFamily="34" charset="-120"/>
              </a:rPr>
              <a:t>Task 1</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indent="0" marL="0">
              <a:buNone/>
            </a:pPr>
            <a:r>
              <a:rPr lang="en-US" sz="2400" i="1" dirty="0">
                <a:solidFill>
                  <a:srgbClr val="4E5E53"/>
                </a:solidFill>
                <a:latin typeface="Calibri" pitchFamily="34" charset="0"/>
                <a:ea typeface="Calibri" pitchFamily="34" charset="-122"/>
                <a:cs typeface="Calibri" pitchFamily="34" charset="-120"/>
              </a:rPr>
              <a:t>Functional health position</a:t>
            </a:r>
            <a:endParaRPr lang="en-US" sz="2400" dirty="0"/>
          </a:p>
        </p:txBody>
      </p:sp>
      <p:sp>
        <p:nvSpPr>
          <p:cNvPr id="8" name="Text 5"/>
          <p:cNvSpPr txBox="1"/>
          <p:nvPr/>
        </p:nvSpPr>
        <p:spPr>
          <a:xfrm>
            <a:off x="868680"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Score and classification</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Two weakest traits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Evidence to investigate</a:t>
            </a:r>
            <a:endParaRPr lang="en-US" sz="2400" dirty="0"/>
          </a:p>
        </p:txBody>
      </p:sp>
      <p:sp>
        <p:nvSpPr>
          <p:cNvPr id="9" name="Shape 6"/>
          <p:cNvSpPr/>
          <p:nvPr/>
        </p:nvSpPr>
        <p:spPr>
          <a:xfrm>
            <a:off x="6245352" y="1508760"/>
            <a:ext cx="5394960" cy="4846320"/>
          </a:xfrm>
          <a:prstGeom prst="roundRect">
            <a:avLst>
              <a:gd name="adj" fmla="val 1887"/>
            </a:avLst>
          </a:prstGeom>
          <a:solidFill>
            <a:srgbClr val="1A5C2C"/>
          </a:solidFill>
          <a:ln w="12700">
            <a:solidFill>
              <a:srgbClr val="1A5C2C"/>
            </a:solidFill>
            <a:prstDash val="solid"/>
          </a:ln>
        </p:spPr>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Task 2</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indent="0" marL="0">
              <a:buNone/>
            </a:pPr>
            <a:r>
              <a:rPr lang="en-US" sz="2400" i="1" dirty="0">
                <a:solidFill>
                  <a:srgbClr val="E6D3A0"/>
                </a:solidFill>
                <a:latin typeface="Calibri" pitchFamily="34" charset="0"/>
                <a:ea typeface="Calibri" pitchFamily="34" charset="-122"/>
                <a:cs typeface="Calibri" pitchFamily="34" charset="-120"/>
              </a:rPr>
              <a:t>The functional losses</a:t>
            </a:r>
            <a:endParaRPr lang="en-US" sz="2400" dirty="0"/>
          </a:p>
        </p:txBody>
      </p:sp>
      <p:sp>
        <p:nvSpPr>
          <p:cNvPr id="14" name="Text 10"/>
          <p:cNvSpPr txBox="1"/>
          <p:nvPr/>
        </p:nvSpPr>
        <p:spPr>
          <a:xfrm>
            <a:off x="6565392"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Largest hidden cost</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Links to the weakest traits</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Overlaps and double counting</a:t>
            </a: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5.4–5.5 · Tasks 3 to 6: the group position</a:t>
            </a:r>
            <a:endParaRPr lang="en-US" sz="3600" dirty="0"/>
          </a:p>
        </p:txBody>
      </p:sp>
      <p:sp>
        <p:nvSpPr>
          <p:cNvPr id="3" name="Shape 1"/>
          <p:cNvSpPr/>
          <p:nvPr/>
        </p:nvSpPr>
        <p:spPr>
          <a:xfrm>
            <a:off x="548640" y="1508760"/>
            <a:ext cx="5394960" cy="4846320"/>
          </a:xfrm>
          <a:prstGeom prst="roundRect">
            <a:avLst>
              <a:gd name="adj" fmla="val 1887"/>
            </a:avLst>
          </a:prstGeom>
          <a:solidFill>
            <a:srgbClr val="EEF4EF"/>
          </a:solidFill>
          <a:ln w="12700">
            <a:solidFill>
              <a:srgbClr val="EEF4EF"/>
            </a:solidFill>
            <a:prstDash val="solid"/>
          </a:ln>
        </p:spPr>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indent="0" marL="0">
              <a:buNone/>
            </a:pPr>
            <a:r>
              <a:rPr lang="en-US" sz="2800" b="1" dirty="0">
                <a:solidFill>
                  <a:srgbClr val="1A5C2C"/>
                </a:solidFill>
                <a:latin typeface="Cambria" pitchFamily="34" charset="0"/>
                <a:ea typeface="Cambria" pitchFamily="34" charset="-122"/>
                <a:cs typeface="Cambria" pitchFamily="34" charset="-120"/>
              </a:rPr>
              <a:t>Tasks 3 and 4</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indent="0" marL="0">
              <a:buNone/>
            </a:pPr>
            <a:r>
              <a:rPr lang="en-US" sz="2400" i="1" dirty="0">
                <a:solidFill>
                  <a:srgbClr val="4E5E53"/>
                </a:solidFill>
                <a:latin typeface="Calibri" pitchFamily="34" charset="0"/>
                <a:ea typeface="Calibri" pitchFamily="34" charset="-122"/>
                <a:cs typeface="Calibri" pitchFamily="34" charset="-120"/>
              </a:rPr>
              <a:t>Consolidated health score</a:t>
            </a:r>
            <a:endParaRPr lang="en-US" sz="2400" dirty="0"/>
          </a:p>
        </p:txBody>
      </p:sp>
      <p:sp>
        <p:nvSpPr>
          <p:cNvPr id="8" name="Text 5"/>
          <p:cNvSpPr txBox="1"/>
          <p:nvPr/>
        </p:nvSpPr>
        <p:spPr>
          <a:xfrm>
            <a:off x="868680"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Weighted by valid responses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Classification and weakest traits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Functions contributing most</a:t>
            </a:r>
            <a:endParaRPr lang="en-US" sz="2400" dirty="0"/>
          </a:p>
        </p:txBody>
      </p:sp>
      <p:sp>
        <p:nvSpPr>
          <p:cNvPr id="9" name="Shape 6"/>
          <p:cNvSpPr/>
          <p:nvPr/>
        </p:nvSpPr>
        <p:spPr>
          <a:xfrm>
            <a:off x="6245352" y="1508760"/>
            <a:ext cx="5394960" cy="4846320"/>
          </a:xfrm>
          <a:prstGeom prst="roundRect">
            <a:avLst>
              <a:gd name="adj" fmla="val 1887"/>
            </a:avLst>
          </a:prstGeom>
          <a:solidFill>
            <a:srgbClr val="1A5C2C"/>
          </a:solidFill>
          <a:ln w="12700">
            <a:solidFill>
              <a:srgbClr val="1A5C2C"/>
            </a:solidFill>
            <a:prstDash val="solid"/>
          </a:ln>
        </p:spPr>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Tasks 5 and 6</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indent="0" marL="0">
              <a:buNone/>
            </a:pPr>
            <a:r>
              <a:rPr lang="en-US" sz="2400" i="1" dirty="0">
                <a:solidFill>
                  <a:srgbClr val="E6D3A0"/>
                </a:solidFill>
                <a:latin typeface="Calibri" pitchFamily="34" charset="0"/>
                <a:ea typeface="Calibri" pitchFamily="34" charset="-122"/>
                <a:cs typeface="Calibri" pitchFamily="34" charset="-120"/>
              </a:rPr>
              <a:t>Gross quarterly exposure</a:t>
            </a:r>
            <a:endParaRPr lang="en-US" sz="2400" dirty="0"/>
          </a:p>
        </p:txBody>
      </p:sp>
      <p:sp>
        <p:nvSpPr>
          <p:cNvPr id="14" name="Text 10"/>
          <p:cNvSpPr txBox="1"/>
          <p:nvPr/>
        </p:nvSpPr>
        <p:spPr>
          <a:xfrm>
            <a:off x="6565392"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Sum for represented roles only</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Two largest cost categories</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Estimates to verify</a:t>
            </a:r>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5.6 · Review–Realign–Restore</a:t>
            </a:r>
            <a:endParaRPr lang="en-US" sz="3600" dirty="0"/>
          </a:p>
        </p:txBody>
      </p:sp>
      <p:sp>
        <p:nvSpPr>
          <p:cNvPr id="3" name="Shape 1"/>
          <p:cNvSpPr/>
          <p:nvPr/>
        </p:nvSpPr>
        <p:spPr>
          <a:xfrm>
            <a:off x="548640" y="1508760"/>
            <a:ext cx="3514344" cy="4846320"/>
          </a:xfrm>
          <a:prstGeom prst="roundRect">
            <a:avLst>
              <a:gd name="adj" fmla="val 2602"/>
            </a:avLst>
          </a:prstGeom>
          <a:solidFill>
            <a:srgbClr val="EEF4EF"/>
          </a:solidFill>
          <a:ln w="12700">
            <a:solidFill>
              <a:srgbClr val="EEF4EF"/>
            </a:solidFill>
            <a:prstDash val="solid"/>
          </a:ln>
        </p:spPr>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Review</a:t>
            </a:r>
            <a:endParaRPr lang="en-US" sz="2600" dirty="0"/>
          </a:p>
        </p:txBody>
      </p:sp>
      <p:sp>
        <p:nvSpPr>
          <p:cNvPr id="7" name="Text 4"/>
          <p:cNvSpPr txBox="1"/>
          <p:nvPr/>
        </p:nvSpPr>
        <p:spPr>
          <a:xfrm>
            <a:off x="777240" y="3159252"/>
            <a:ext cx="3057144" cy="30586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A prioritised organisational health diagnosis</a:t>
            </a:r>
            <a:endParaRPr lang="en-US" sz="2400" dirty="0"/>
          </a:p>
        </p:txBody>
      </p:sp>
      <p:sp>
        <p:nvSpPr>
          <p:cNvPr id="8" name="Shape 5"/>
          <p:cNvSpPr/>
          <p:nvPr/>
        </p:nvSpPr>
        <p:spPr>
          <a:xfrm>
            <a:off x="4337304" y="1508760"/>
            <a:ext cx="3514344" cy="4846320"/>
          </a:xfrm>
          <a:prstGeom prst="roundRect">
            <a:avLst>
              <a:gd name="adj" fmla="val 2602"/>
            </a:avLst>
          </a:prstGeom>
          <a:solidFill>
            <a:srgbClr val="EEF4EF"/>
          </a:solidFill>
          <a:ln w="12700">
            <a:solidFill>
              <a:srgbClr val="EEF4EF"/>
            </a:solidFill>
            <a:prstDash val="solid"/>
          </a:ln>
        </p:spPr>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sp>
      <p:pic>
        <p:nvPicPr>
          <p:cNvPr id="10" name="Image 1" descr="preencoded.png">    </p:cNvPr>
          <p:cNvPicPr>
            <a:picLocks noChangeAspect="1"/>
          </p:cNvPicPr>
          <p:nvPr/>
        </p:nvPicPr>
        <p:blipFill>
          <a:blip r:embed="rId2"/>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Realign</a:t>
            </a:r>
            <a:endParaRPr lang="en-US" sz="2600" dirty="0"/>
          </a:p>
        </p:txBody>
      </p:sp>
      <p:sp>
        <p:nvSpPr>
          <p:cNvPr id="12" name="Text 8"/>
          <p:cNvSpPr txBox="1"/>
          <p:nvPr/>
        </p:nvSpPr>
        <p:spPr>
          <a:xfrm>
            <a:off x="4565904" y="3159252"/>
            <a:ext cx="3057144" cy="30586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Cultural reinforcement actions with named accountability</a:t>
            </a:r>
            <a:endParaRPr lang="en-US" sz="2400" dirty="0"/>
          </a:p>
        </p:txBody>
      </p:sp>
      <p:sp>
        <p:nvSpPr>
          <p:cNvPr id="13" name="Shape 9"/>
          <p:cNvSpPr/>
          <p:nvPr/>
        </p:nvSpPr>
        <p:spPr>
          <a:xfrm>
            <a:off x="8125968" y="1508760"/>
            <a:ext cx="3514344" cy="4846320"/>
          </a:xfrm>
          <a:prstGeom prst="roundRect">
            <a:avLst>
              <a:gd name="adj" fmla="val 2602"/>
            </a:avLst>
          </a:prstGeom>
          <a:solidFill>
            <a:srgbClr val="1A5C2C"/>
          </a:solidFill>
          <a:ln w="12700">
            <a:solidFill>
              <a:srgbClr val="1A5C2C"/>
            </a:solidFill>
            <a:prstDash val="solid"/>
          </a:ln>
        </p:spPr>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sp>
      <p:pic>
        <p:nvPicPr>
          <p:cNvPr id="15" name="Image 2" descr="preencoded.png">    </p:cNvPr>
          <p:cNvPicPr>
            <a:picLocks noChangeAspect="1"/>
          </p:cNvPicPr>
          <p:nvPr/>
        </p:nvPicPr>
        <p:blipFill>
          <a:blip r:embed="rId3"/>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Restore</a:t>
            </a:r>
            <a:endParaRPr lang="en-US" sz="2600" dirty="0"/>
          </a:p>
        </p:txBody>
      </p:sp>
      <p:sp>
        <p:nvSpPr>
          <p:cNvPr id="17" name="Text 12"/>
          <p:cNvSpPr txBox="1"/>
          <p:nvPr/>
        </p:nvSpPr>
        <p:spPr>
          <a:xfrm>
            <a:off x="8354568" y="3159252"/>
            <a:ext cx="3057144" cy="3058668"/>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Measurable health and performance commitments</a:t>
            </a: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5.7 · Task 7: the Organisational Health Response</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Priority trait  </a:t>
            </a:r>
            <a:pPr indent="0" marL="0">
              <a:buNone/>
            </a:pPr>
            <a:r>
              <a:rPr lang="en-US" sz="2400" dirty="0">
                <a:solidFill>
                  <a:srgbClr val="1F2A22"/>
                </a:solidFill>
                <a:latin typeface="Calibri" pitchFamily="34" charset="0"/>
                <a:ea typeface="Calibri" pitchFamily="34" charset="-122"/>
                <a:cs typeface="Calibri" pitchFamily="34" charset="-120"/>
              </a:rPr>
              <a:t>the lowest-scoring health trait</a:t>
            </a:r>
            <a:endParaRPr lang="en-US" sz="24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Action  </a:t>
            </a:r>
            <a:pPr indent="0" marL="0">
              <a:buNone/>
            </a:pPr>
            <a:r>
              <a:rPr lang="en-US" sz="2400" dirty="0">
                <a:solidFill>
                  <a:srgbClr val="1F2A22"/>
                </a:solidFill>
                <a:latin typeface="Calibri" pitchFamily="34" charset="0"/>
                <a:ea typeface="Calibri" pitchFamily="34" charset="-122"/>
                <a:cs typeface="Calibri" pitchFamily="34" charset="-120"/>
              </a:rPr>
              <a:t>from Review–Realign–Restore</a:t>
            </a:r>
            <a:endParaRPr lang="en-US" sz="24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Accountable CXO(s)  </a:t>
            </a:r>
            <a:pPr indent="0" marL="0">
              <a:buNone/>
            </a:pPr>
            <a:r>
              <a:rPr lang="en-US" sz="2400" dirty="0">
                <a:solidFill>
                  <a:srgbClr val="1F2A22"/>
                </a:solidFill>
                <a:latin typeface="Calibri" pitchFamily="34" charset="0"/>
                <a:ea typeface="Calibri" pitchFamily="34" charset="-122"/>
                <a:cs typeface="Calibri" pitchFamily="34" charset="-120"/>
              </a:rPr>
              <a:t>named executive ownership</a:t>
            </a:r>
            <a:endParaRPr lang="en-US" sz="24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sp>
      <p:pic>
        <p:nvPicPr>
          <p:cNvPr id="13" name="Image 3" descr="preencoded.png">    </p:cNvPr>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Health target  </a:t>
            </a:r>
            <a:pPr indent="0" marL="0">
              <a:buNone/>
            </a:pPr>
            <a:r>
              <a:rPr lang="en-US" sz="2400" dirty="0">
                <a:solidFill>
                  <a:srgbClr val="1F2A22"/>
                </a:solidFill>
                <a:latin typeface="Calibri" pitchFamily="34" charset="0"/>
                <a:ea typeface="Calibri" pitchFamily="34" charset="-122"/>
                <a:cs typeface="Calibri" pitchFamily="34" charset="-120"/>
              </a:rPr>
              <a:t>the improvement expected</a:t>
            </a:r>
            <a:endParaRPr lang="en-US" sz="2400" dirty="0"/>
          </a:p>
        </p:txBody>
      </p:sp>
      <p:sp>
        <p:nvSpPr>
          <p:cNvPr id="15" name="Shape 9"/>
          <p:cNvSpPr/>
          <p:nvPr/>
        </p:nvSpPr>
        <p:spPr>
          <a:xfrm>
            <a:off x="548640" y="5591556"/>
            <a:ext cx="640080" cy="640080"/>
          </a:xfrm>
          <a:prstGeom prst="ellipse">
            <a:avLst/>
          </a:prstGeom>
          <a:solidFill>
            <a:srgbClr val="C6A24C"/>
          </a:solidFill>
          <a:ln w="12700">
            <a:solidFill>
              <a:srgbClr val="C6A24C"/>
            </a:solidFill>
            <a:prstDash val="solid"/>
          </a:ln>
        </p:spPr>
      </p:sp>
      <p:pic>
        <p:nvPicPr>
          <p:cNvPr id="16" name="Image 4" descr="preencoded.png">    </p:cNvPr>
          <p:cNvPicPr>
            <a:picLocks noChangeAspect="1"/>
          </p:cNvPicPr>
          <p:nvPr/>
        </p:nvPicPr>
        <p:blipFill>
          <a:blip r:embed="rId5"/>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Financial target  </a:t>
            </a:r>
            <a:pPr indent="0" marL="0">
              <a:buNone/>
            </a:pPr>
            <a:r>
              <a:rPr lang="en-US" sz="2400" dirty="0">
                <a:solidFill>
                  <a:srgbClr val="1F2A22"/>
                </a:solidFill>
                <a:latin typeface="Calibri" pitchFamily="34" charset="0"/>
                <a:ea typeface="Calibri" pitchFamily="34" charset="-122"/>
                <a:cs typeface="Calibri" pitchFamily="34" charset="-120"/>
              </a:rPr>
              <a:t>current → target (reduction)</a:t>
            </a:r>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5.8 · Task 8: build your Cultural Operating Code</a:t>
            </a:r>
            <a:endParaRPr lang="en-US" sz="3600" dirty="0"/>
          </a:p>
        </p:txBody>
      </p:sp>
      <p:sp>
        <p:nvSpPr>
          <p:cNvPr id="3" name="Shape 1"/>
          <p:cNvSpPr/>
          <p:nvPr/>
        </p:nvSpPr>
        <p:spPr>
          <a:xfrm>
            <a:off x="548640" y="2004060"/>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2164080"/>
            <a:ext cx="320040" cy="320040"/>
          </a:xfrm>
          <a:prstGeom prst="rect">
            <a:avLst/>
          </a:prstGeom>
        </p:spPr>
      </p:pic>
      <p:sp>
        <p:nvSpPr>
          <p:cNvPr id="5" name="Text 2"/>
          <p:cNvSpPr txBox="1"/>
          <p:nvPr/>
        </p:nvSpPr>
        <p:spPr>
          <a:xfrm>
            <a:off x="1508760" y="1508760"/>
            <a:ext cx="10131552" cy="16306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Step 1  </a:t>
            </a:r>
            <a:pPr indent="0" marL="0">
              <a:buNone/>
            </a:pPr>
            <a:r>
              <a:rPr lang="en-US" sz="2600" dirty="0">
                <a:solidFill>
                  <a:srgbClr val="1F2A22"/>
                </a:solidFill>
                <a:latin typeface="Calibri" pitchFamily="34" charset="0"/>
                <a:ea typeface="Calibri" pitchFamily="34" charset="-122"/>
                <a:cs typeface="Calibri" pitchFamily="34" charset="-120"/>
              </a:rPr>
              <a:t>list your organisation’s values</a:t>
            </a:r>
            <a:endParaRPr lang="en-US" sz="2600" dirty="0"/>
          </a:p>
        </p:txBody>
      </p:sp>
      <p:sp>
        <p:nvSpPr>
          <p:cNvPr id="6" name="Shape 3"/>
          <p:cNvSpPr/>
          <p:nvPr/>
        </p:nvSpPr>
        <p:spPr>
          <a:xfrm>
            <a:off x="548640" y="3634740"/>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3794760"/>
            <a:ext cx="320040" cy="320040"/>
          </a:xfrm>
          <a:prstGeom prst="rect">
            <a:avLst/>
          </a:prstGeom>
        </p:spPr>
      </p:pic>
      <p:sp>
        <p:nvSpPr>
          <p:cNvPr id="8" name="Text 4"/>
          <p:cNvSpPr txBox="1"/>
          <p:nvPr/>
        </p:nvSpPr>
        <p:spPr>
          <a:xfrm>
            <a:off x="1508760" y="3139440"/>
            <a:ext cx="10131552" cy="16306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Step 2  </a:t>
            </a:r>
            <a:pPr indent="0" marL="0">
              <a:buNone/>
            </a:pPr>
            <a:r>
              <a:rPr lang="en-US" sz="2600" dirty="0">
                <a:solidFill>
                  <a:srgbClr val="1F2A22"/>
                </a:solidFill>
                <a:latin typeface="Calibri" pitchFamily="34" charset="0"/>
                <a:ea typeface="Calibri" pitchFamily="34" charset="-122"/>
                <a:cs typeface="Calibri" pitchFamily="34" charset="-120"/>
              </a:rPr>
              <a:t>translate at least three into norms</a:t>
            </a:r>
            <a:endParaRPr lang="en-US" sz="2600" dirty="0"/>
          </a:p>
        </p:txBody>
      </p:sp>
      <p:sp>
        <p:nvSpPr>
          <p:cNvPr id="9" name="Shape 5"/>
          <p:cNvSpPr/>
          <p:nvPr/>
        </p:nvSpPr>
        <p:spPr>
          <a:xfrm>
            <a:off x="548640" y="5265420"/>
            <a:ext cx="640080" cy="640080"/>
          </a:xfrm>
          <a:prstGeom prst="ellipse">
            <a:avLst/>
          </a:prstGeom>
          <a:solidFill>
            <a:srgbClr val="C6A24C"/>
          </a:solidFill>
          <a:ln w="12700">
            <a:solidFill>
              <a:srgbClr val="C6A24C"/>
            </a:solidFill>
            <a:prstDash val="solid"/>
          </a:ln>
        </p:spPr>
      </p:sp>
      <p:pic>
        <p:nvPicPr>
          <p:cNvPr id="10" name="Image 2" descr="preencoded.png">    </p:cNvPr>
          <p:cNvPicPr>
            <a:picLocks noChangeAspect="1"/>
          </p:cNvPicPr>
          <p:nvPr/>
        </p:nvPicPr>
        <p:blipFill>
          <a:blip r:embed="rId3"/>
          <a:stretch>
            <a:fillRect/>
          </a:stretch>
        </p:blipFill>
        <p:spPr>
          <a:xfrm>
            <a:off x="708660" y="5425440"/>
            <a:ext cx="320040" cy="320040"/>
          </a:xfrm>
          <a:prstGeom prst="rect">
            <a:avLst/>
          </a:prstGeom>
        </p:spPr>
      </p:pic>
      <p:sp>
        <p:nvSpPr>
          <p:cNvPr id="11" name="Text 6"/>
          <p:cNvSpPr txBox="1"/>
          <p:nvPr/>
        </p:nvSpPr>
        <p:spPr>
          <a:xfrm>
            <a:off x="1508760" y="4770120"/>
            <a:ext cx="10131552" cy="16306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Step 3  </a:t>
            </a:r>
            <a:pPr indent="0" marL="0">
              <a:buNone/>
            </a:pPr>
            <a:r>
              <a:rPr lang="en-US" sz="2600" dirty="0">
                <a:solidFill>
                  <a:srgbClr val="1F2A22"/>
                </a:solidFill>
                <a:latin typeface="Calibri" pitchFamily="34" charset="0"/>
                <a:ea typeface="Calibri" pitchFamily="34" charset="-122"/>
                <a:cs typeface="Calibri" pitchFamily="34" charset="-120"/>
              </a:rPr>
              <a:t>test your strongest norm</a:t>
            </a:r>
            <a:endParaRPr lang="en-US" sz="2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5.9 · Capstone assessment output</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11A  </a:t>
            </a:r>
            <a:pPr indent="0" marL="0">
              <a:buNone/>
            </a:pPr>
            <a:r>
              <a:rPr lang="en-US" sz="2400" dirty="0">
                <a:solidFill>
                  <a:srgbClr val="1F2A22"/>
                </a:solidFill>
                <a:latin typeface="Calibri" pitchFamily="34" charset="0"/>
                <a:ea typeface="Calibri" pitchFamily="34" charset="-122"/>
                <a:cs typeface="Calibri" pitchFamily="34" charset="-120"/>
              </a:rPr>
              <a:t>Functional health assessments</a:t>
            </a:r>
            <a:endParaRPr lang="en-US" sz="24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11B  </a:t>
            </a:r>
            <a:pPr indent="0" marL="0">
              <a:buNone/>
            </a:pPr>
            <a:r>
              <a:rPr lang="en-US" sz="2400" dirty="0">
                <a:solidFill>
                  <a:srgbClr val="1F2A22"/>
                </a:solidFill>
                <a:latin typeface="Calibri" pitchFamily="34" charset="0"/>
                <a:ea typeface="Calibri" pitchFamily="34" charset="-122"/>
                <a:cs typeface="Calibri" pitchFamily="34" charset="-120"/>
              </a:rPr>
              <a:t>Consolidated health position</a:t>
            </a:r>
            <a:endParaRPr lang="en-US" sz="24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11C  </a:t>
            </a:r>
            <a:pPr indent="0" marL="0">
              <a:buNone/>
            </a:pPr>
            <a:r>
              <a:rPr lang="en-US" sz="2400" dirty="0">
                <a:solidFill>
                  <a:srgbClr val="1F2A22"/>
                </a:solidFill>
                <a:latin typeface="Calibri" pitchFamily="34" charset="0"/>
                <a:ea typeface="Calibri" pitchFamily="34" charset="-122"/>
                <a:cs typeface="Calibri" pitchFamily="34" charset="-120"/>
              </a:rPr>
              <a:t>Review–Realign–Restore</a:t>
            </a:r>
            <a:endParaRPr lang="en-US" sz="24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sp>
      <p:pic>
        <p:nvPicPr>
          <p:cNvPr id="13" name="Image 3" descr="preencoded.png">    </p:cNvPr>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11D  </a:t>
            </a:r>
            <a:pPr indent="0" marL="0">
              <a:buNone/>
            </a:pPr>
            <a:r>
              <a:rPr lang="en-US" sz="2400" dirty="0">
                <a:solidFill>
                  <a:srgbClr val="1F2A22"/>
                </a:solidFill>
                <a:latin typeface="Calibri" pitchFamily="34" charset="0"/>
                <a:ea typeface="Calibri" pitchFamily="34" charset="-122"/>
                <a:cs typeface="Calibri" pitchFamily="34" charset="-120"/>
              </a:rPr>
              <a:t>Organisational Health Response</a:t>
            </a:r>
            <a:endParaRPr lang="en-US" sz="2400" dirty="0"/>
          </a:p>
        </p:txBody>
      </p:sp>
      <p:sp>
        <p:nvSpPr>
          <p:cNvPr id="15" name="Shape 9"/>
          <p:cNvSpPr/>
          <p:nvPr/>
        </p:nvSpPr>
        <p:spPr>
          <a:xfrm>
            <a:off x="548640" y="5591556"/>
            <a:ext cx="640080" cy="640080"/>
          </a:xfrm>
          <a:prstGeom prst="ellipse">
            <a:avLst/>
          </a:prstGeom>
          <a:solidFill>
            <a:srgbClr val="C6A24C"/>
          </a:solidFill>
          <a:ln w="12700">
            <a:solidFill>
              <a:srgbClr val="C6A24C"/>
            </a:solidFill>
            <a:prstDash val="solid"/>
          </a:ln>
        </p:spPr>
      </p:sp>
      <p:pic>
        <p:nvPicPr>
          <p:cNvPr id="16" name="Image 4" descr="preencoded.png">    </p:cNvPr>
          <p:cNvPicPr>
            <a:picLocks noChangeAspect="1"/>
          </p:cNvPicPr>
          <p:nvPr/>
        </p:nvPicPr>
        <p:blipFill>
          <a:blip r:embed="rId5"/>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11E  </a:t>
            </a:r>
            <a:pPr indent="0" marL="0">
              <a:buNone/>
            </a:pPr>
            <a:r>
              <a:rPr lang="en-US" sz="2400" dirty="0">
                <a:solidFill>
                  <a:srgbClr val="1F2A22"/>
                </a:solidFill>
                <a:latin typeface="Calibri" pitchFamily="34" charset="0"/>
                <a:ea typeface="Calibri" pitchFamily="34" charset="-122"/>
                <a:cs typeface="Calibri" pitchFamily="34" charset="-120"/>
              </a:rPr>
              <a:t>Cultural Operating Code</a:t>
            </a:r>
            <a:endParaRPr 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F3B1C"/>
        </a:solidFill>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sp>
      <p:pic>
        <p:nvPicPr>
          <p:cNvPr id="3" name="Image 0" descr="preencoded.png">    </p:cNvPr>
          <p:cNvPicPr>
            <a:picLocks noChangeAspect="1"/>
          </p:cNvPicPr>
          <p:nvPr/>
        </p:nvPicPr>
        <p:blipFill>
          <a:blip r:embed="rId1"/>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indent="0" marL="0">
              <a:buNone/>
            </a:pPr>
            <a:r>
              <a:rPr lang="en-US" sz="2600" b="1" dirty="0">
                <a:solidFill>
                  <a:srgbClr val="C6A24C"/>
                </a:solidFill>
                <a:latin typeface="Calibri" pitchFamily="34" charset="0"/>
                <a:ea typeface="Calibri" pitchFamily="34" charset="-122"/>
                <a:cs typeface="Calibri" pitchFamily="34" charset="-120"/>
              </a:rPr>
              <a:t>Closing · Transition to Unit 12</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indent="0" marL="0">
              <a:buNone/>
            </a:pPr>
            <a:r>
              <a:rPr lang="en-US" sz="3600" i="1" dirty="0">
                <a:solidFill>
                  <a:srgbClr val="FFFFFF"/>
                </a:solidFill>
                <a:latin typeface="Cambria" pitchFamily="34" charset="0"/>
                <a:ea typeface="Cambria" pitchFamily="34" charset="-122"/>
                <a:cs typeface="Cambria" pitchFamily="34" charset="-120"/>
              </a:rPr>
              <a:t>Read health from evidence, price what poor health costs, act on the lowest-scoring conditions and model the norms of your Code.</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Unit 12 brings ESRG alignment and organisational health together to sustain performance.</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IBSL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11 · Culture Reinforcement &amp; Organisational Health</dc:title>
  <dc:subject>PptxGenJS Presentation</dc:subject>
  <dc:creator>Institute of Behavioural Strategy &amp; Leadership</dc:creator>
  <cp:lastModifiedBy>Institute of Behavioural Strategy &amp; Leadership</cp:lastModifiedBy>
  <cp:revision>1</cp:revision>
  <dcterms:created xsi:type="dcterms:W3CDTF">2026-10-28T11:09:21Z</dcterms:created>
  <dcterms:modified xsi:type="dcterms:W3CDTF">2026-10-28T11:09:21Z</dcterms:modified>
</cp:coreProperties>
</file>