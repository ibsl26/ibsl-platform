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11 · CULTURE REINFORCEMENT &amp; ORGANISATIONAL HEALTH
Module 4 · Grounding · Unit 11
Unit intent (Facilitator Guide):
Unit 11 addresses the question beneath every strategy conversation but rarely asked directly: is the internal environment of this organisation actually capable of sustaining the performance it is being asked to deliver? Where Unit 10 examined the structural conditions (ESRG), Unit 11 examines the behavioural and cultural conditions — the human system that determines whether those structures actually work.
The three core frameworks are: the Five Observable Health Traits (what healthy organisations look like), the Organisational Health Pyramid (how health is built from the inside outward), and the ACE-IT Coaching Model (how leaders intervene when health declines). The Extrapolating section introduces the live Health Thermometer diagnostic. The Application section is the centrepiece — protect the full 40 minutes.
Unit overview (facilitator file): Organisational health is the internal condition that determines whether strategy can actually be executed. This unit builds leaders’ ability to recognise, diagnose, and actively maintain the health of the organisation as the foundation upon which all performance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LEARNING OUTCOMES (identical in the participant and facilitator files)
1. Analyse the relationship between organisational culture, leadership conduct, employee experience and performance.
2. Recognise the characteristics of organisational health and the indicators of cultural strain.
3. Evaluate whether prevailing beliefs and behaviours support strategic intent and responsible performance.
4. Demonstrate executive accountability for a healthy, cohesive and high-performing organisation.
Each section slide carries that section’s two learning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FACILITATOR GUIDE · SESSION OVERVIEW
Time: the facilitator file gives two timings: 8–10 minutes of silent individual scoring for the Health Thermometer (Section 3), and 40 minutes for the Application exercise (10 minutes choose and prepare, 20 minutes coaching in pairs, 10 minutes debrief).
Key Facilitation Questions
“Think of the best team environment you have ever been part of. What made it feel different from ordinary workplaces? That difference is what Lencioni calls organisational health.”
“If trust shapes experiences, experiences shape beliefs, and beliefs shape actions — where in that chain would you say your organisation needs the most attention right now?”
“Which of the five health traits is your organisation strongest on? Which is it most vulnerable on — and has that always been the case?”
“When you look at the CXO Health Architecture table — which executive domain in this organisation is most actively stewarded, and which is most neglected?”
“In the ACE-IT coaching exercise — which behaviour do you apply easily when conversations are comfortable, and which do you abandon when they become difficult? That gap is your development edge.”
Tone &amp; Watch Points
Watch for: leaders who intellectually agree with everything but struggle to name a specific health issue in their own organisation. The thermometer exercise should surface this. If someone scores themselves 85+ on all five traits, gently probe: “What would your team say if they completed the same thermometer about your function?”
Watch for: the Application exercise sliding into discussion and losing the coaching practice. Leaders must actually conduct the conversation. Keep the pairs working and intervene if they slip into strategy conversation mode.
The COMPASS connection: If participants ask how this relates to Unit 9, the answer is precise. COMPASS identified where execution friction appears. The Health Pyramid explains why it appears. ACE-IT is how leaders respond. All three are the same diagnostic system at different levels of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 AWARENESS — WHAT
What is Organisational Health?
Introducing the five observable traits of healthy organisations and the Pyramid that explains how those traits are produced from the inside outward.
Section learning outcomes:
1. Recognise the characteristics of a healthy organisation.
2. Analyse how trust, experience and belief shape conduct and performance.
FACILITATOR GUIDANCE — Awareness
Open with the Lencioni framing: organisational health is the greatest untapped competitive advantage in business. Ask the room to recall the best team environment they have experienced — then ask what made it different. That difference is organisational health.
The Five Traits section is the “what we see” layer. Work through each card and invite leaders to rate their own organisation on each trait mentally. The Pyramid section is the “why it happens” layer — this is the conceptual breakthrough. Emphasise the sequencing: leaders cannot produce the visible traits directly. They can only build the conditions — trust, meaningful experience, sound belief — from which the traits emerge naturally.
Close Awareness with the connecting statement: The pyramid explains the traits. The traits tell you what to look for. The pyramid tells you where to look when they are missing.
Time: the facilitator file gives no minute timing for this section.</a:t>
            </a:r>
            <a:endParaRPr lang="en-US" dirty="0"/>
          </a:p>
          <a:p/>
          <a:p>
            <a:r>
              <a:t>Professional insights:</a:t>
            </a:r>
          </a:p>
          <a:p/>
          <a:p>
            <a:r>
              <a:t>Signals from authority: Collective behaviour follows the signals communicated by those in authority. Once people learn that honest correction attracts punishment, silence becomes a survival mechanism. Such an environment can look orderly while being internally fragile, because risks and failures stay undisclosed.</a:t>
            </a:r>
          </a:p>
          <a:p>
            <a:r>
              <a:t>Source: Journal, 21 July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WHAT IS ORGANISATIONAL HEALTH?
Content:
There is a quality that the best organisations possess that is almost impossible to articulate in a strategy document, but unmistakable when you experience it. You feel it in meetings where people speak freely and challenge ideas without fear. You sense it in the ease of collaboration between teams that would otherwise be competing for resources. You notice it in the way difficult performance conversations happen quickly and honestly, well before they become crises.
Patrick Lencioni defines organisational health as the state in which an organisation is whole, consistent, and complete — where its management, operations, strategy, and culture fit together and make sense. This unit is about the discipline of measuring, understanding, and actively maintaining the health of the organisation as the infrastructure that determines whether everything else can actually work.
Participant file (1.1 — What is Organisational Health?) — prompts participants complete:
- ✎ Reflection — Think of the best team environment you have experienced. What made it feel different from an ordinary workplace? What specifically would you name as the source of that difference?</a:t>
            </a:r>
            <a:endParaRPr lang="en-US" dirty="0"/>
          </a:p>
          <a:p/>
          <a:p>
            <a:r>
              <a:t>Professional insights:</a:t>
            </a:r>
          </a:p>
          <a:p/>
          <a:p>
            <a:r>
              <a:t>Culture as experience: Culture is the accumulated experience people have of how the organisation actually works. Conduct, order and service reveal more than formal declarations. Fear reduces participation, narrows imagination and keeps people focused on protection.</a:t>
            </a:r>
          </a:p>
          <a:p>
            <a:r>
              <a:t>Source: Journal, 16 July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THE FIVE OBSERVABLE TRAITS (Select each trait to explore)
Content:
Healthy organisations display five observable traits. These are patterns of behaviour that become visible in daily operations.
Trait 1
Minimal Politics
Issues surface quickly and are addressed directly
In politically healthy organisations, issues surface quickly and are addressed directly. Leaders do not manage information to strengthen their own influence or protect functional territory. Discussions focus on what serves the enterprise best. Decisions are based on evidence and shared priorities.
Trait 2
Minimal Confusion
Clarity about direction, ownership, and decision authority
Clarity exists about direction, ownership, and decision authority. People know what the organisation is trying to achieve and how their role contributes to that outcome. They understand where responsibility begins and ends. This reduces the constant escalation that occurs when people are unsure who should decide or act.
Trait 3
High Morale
People remain engaged because they experience purpose and recognition
People remain engaged because they experience purpose and recognition. High morale means people feel that their effort contributes to something meaningful and that their contribution is valued. When morale is strong, individuals invest discretionary energy.
Trait 4
High Productivity
Effort converts efficiently into results
In healthy organisations, effort converts efficiently into results. Work flows smoothly between teams. There is less duplication, fewer misunderstandings, and far less time correcting avoidable errors. Productivity increases because the system itself is clean and coordinated.
Trait 5
Low Turnover
People choose to stay because the environment supports their growth
People choose to stay because the environment supports their growth and contribution. Institutional knowledge accumulates over time. Relationships deepen. Execution capability strengthens over time.
When these five traits exist simultaneously, the organisation develops execution momentum — the ability to sustain performance without constant managerial pressure.
Participant file (1.2 — The Five Observable Traits) — prompts participants complete:
- ✎ Which of the five traits is your organisation strongest on? Which is it most vulnerable on? Strongest trait Most vulnerable trait What is the most visible evidence of that vulnerability?</a:t>
            </a:r>
            <a:endParaRPr lang="en-US" dirty="0"/>
          </a:p>
          <a:p/>
          <a:p>
            <a:r>
              <a:t>Professional insights:</a:t>
            </a:r>
          </a:p>
          <a:p/>
          <a:p>
            <a:r>
              <a:t>Trait 1 · Minimal Politics: Most grievances in a senior team have been aired in three corridor conversations before they reach the colleague concerned. Have the conversation with the colleague first, quietly and directly.</a:t>
            </a:r>
          </a:p>
          <a:p>
            <a:r>
              <a:t>Source: Journal, 7 May 2026 — Professional Insights: Leadership</a:t>
            </a:r>
          </a:p>
          <a:p/>
          <a:p>
            <a:r>
              <a:t>Unprocessed conflict: Unprocessed conflict (the moment of unfairness, the overlooked contribution, the public criticism) waits for the next pressure point to surface. Creating the conditions to process difficult moments honestly is operational hygiene.</a:t>
            </a:r>
          </a:p>
          <a:p>
            <a:r>
              <a:t>Source: Journal, 27 January 2026 — Professional Insights: Culture</a:t>
            </a:r>
          </a:p>
          <a:p/>
          <a:p>
            <a:r>
              <a:t>Trait 2 · Minimal Confusion: When the stakes are high, role clarity becomes a survival requirement: no overlapping mandates and no ambiguous accountabilities.</a:t>
            </a:r>
          </a:p>
          <a:p>
            <a:r>
              <a:t>Source: Journal, 2 March 2026 — Professional Insights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THE ORGANISATIONAL HEALTH PYRAMID (How the traits are produced)
Content:
The five traits are only the visible surface of organisational health. The Organisational Health Pyramid explains how healthy organisations develop from the inside outward — and why addressing the visible traits directly, without addressing the foundations, never works.
Trust
The Foundation
Experiences
Shaped by Trust
Beliefs
Formed by Experiences
Actions
Driven by Beliefs
Results
The Visible Traits
Trust — The Foundation
Trust forms the emotional infrastructure of the organisation. It develops through consistent behaviour: keeping commitments, sharing credit, admitting mistakes, and communicating transparently about difficult realities. When trust is present, people feel safe to speak honestly and reveal concerns early. Without trust, individuals begin to protect themselves and communication becomes filtered and cautious.
Experiences — Shaped by Trust
Every day, employees encounter leadership through meetings, feedback conversations, decisions, and recognition moments. These experiences quietly shape how people interpret the organisation. The way leaders respond to mistakes communicates whether learning is valued or punished. The way decisions are explained communicates whether fairness and transparency exist.
Beliefs — Formed by Experiences
Employees form shared assumptions about the organisation. They decide whether leaders listen, whether effort is recognised, and whether honesty is safe. These beliefs become the internal narrative people carry about their workplace. Once formed, beliefs filter everything a person subsequently experiences — they see evidence that confirms what they already believe.
Actions — Driven by Beliefs
When people believe their voice matters, they contribute ideas more freely. When they believe collaboration is valued, they share information openly. When they believe their effort will be recognised, they invest more energy in their work. Beliefs produce behaviour, consistently and at scale across the organisation.
Results — The Visible Traits
The five observable traits of healthy organisations are the natural outcomes of a healthy internal pyramid. Minimal politics, minimal confusion, high morale, high productivity, and low turnover are what appears when trust, experiences, beliefs, and actions are aligned and self-reinforcing.
Trust → Experiences → Beliefs → Actions → Results
Participant file (1.3 — The Organisational Health Pyramid) — prompts participants complete:
- ✎ Where in the pyramid does your organisation need the most attention right now? Layer What evidence leads you to that conclusion? What would change if that layer strengthened?</a:t>
            </a:r>
            <a:endParaRPr lang="en-US" dirty="0"/>
          </a:p>
          <a:p/>
          <a:p>
            <a:r>
              <a:t>Professional insights:</a:t>
            </a:r>
          </a:p>
          <a:p/>
          <a:p>
            <a:r>
              <a:t>Trust · the foundation: The leader who keeps commitments that carry no external enforcement builds the trust that survives pressure. People watch what you do with the obligations you could quietly drop.</a:t>
            </a:r>
          </a:p>
          <a:p>
            <a:r>
              <a:t>Source: Journal, 27 May 2026 — Professional Insights: Leadership</a:t>
            </a:r>
          </a:p>
          <a:p/>
          <a:p>
            <a:r>
              <a:t>Beliefs to actions: Shared culture emerges when common beliefs become visible behaviours. Communication alone cannot sustain it; practices must reinforce what the community says it values.</a:t>
            </a:r>
          </a:p>
          <a:p>
            <a:r>
              <a:t>Source: Journal, 9 August 2026 — Professional Insights: Culture</a:t>
            </a:r>
          </a:p>
          <a:p/>
          <a:p>
            <a:r>
              <a:t>The belief beneath the behaviour: Sustainable correction happens when the underlying logic changes. Ask what people are doing, and also: what belief is making this behaviour seem reasonable?</a:t>
            </a:r>
          </a:p>
          <a:p>
            <a:r>
              <a:t>Source: Journal, 28 September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 CONNECTING THE TWO MODELS
Content:
The Five Traits describe what we see when organisational health is strong. The Pyramid explains how those traits are produced. When trust erodes, the opposite pattern emerges: experiences create scepticism, beliefs become defensive, actions shift toward self-protection, and the visible traits deteriorate.
Politics increase as people stop trusting shared decisions
Confusion spreads as people stop communicating clearly
Morale declines as people stop believing their effort matters
Productivity drops as energy is absorbed by internal friction
Turnover rises as people stop believing the organisation is worth staying in
This is why organisational health cannot be repaired through policy changes or cultural messaging alone. Leaders must address the deep layers of the pyramid — where trust and experience are formed — before the visible traits begin to recover.
Guidance (Section 1) closing statement: The pyramid explains the traits. The traits tell you what to look for. The pyramid tells you where to look when they are missing.</a:t>
            </a:r>
            <a:endParaRPr lang="en-US" dirty="0"/>
          </a:p>
          <a:p/>
          <a:p>
            <a:r>
              <a:t>Professional insights:</a:t>
            </a:r>
          </a:p>
          <a:p/>
          <a:p>
            <a:r>
              <a:t>Drift by toleration: Cultural drift happens through a series of small, unchallenged accommodations: what is tolerated becomes normal. By the time the values have shifted, no one can point to the moment it happened. Act on early drift.</a:t>
            </a:r>
          </a:p>
          <a:p>
            <a:r>
              <a:t>Source: Journal, 16 April 2026 — Professional Insights: Culture</a:t>
            </a:r>
          </a:p>
          <a:p/>
          <a:p>
            <a:r>
              <a:t>Broken promises: A promise to recognise, promote or advocate for someone that is never kept is one of the most damaging trust events in an organisation. Cultures that forget the promises made in high moments breed a cynicism that is hard to reverse. Use this with “Morale declines”.</a:t>
            </a:r>
          </a:p>
          <a:p>
            <a:r>
              <a:t>Source: Journal, 25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 INTELLIGENCE — WHY
Why Organisational Health Determines the Performance Ceiling
Understanding how health acts as the multiplier of every strategic system — and what organisations pay when health deteriorates.
Section learning outcomes:
1. Analyse how organisational health sets the ceiling on execution performance.
2. Identify the hidden costs of poor organisational health.
FACILITATOR GUIDANCE — Intelligence
The key insight for this section is the multiplier effect: organisational health multiplies or divides every strategic system. A strong strategy in an unhealthy organisation underperforms a moderate strategy in a healthy one. Make this concrete: ask leaders to think of a time when a good plan failed because the environment couldn’t carry it.
The Price of Poor Health section tends to land hardest. Pause after each cost and ask: “Where do you see this in your organisation right now?” The emotional fatigue point often produces the most honest response in the room.
Content:
Leaders create organisational health through consistent behaviours that shape the experiences people have every day. Those experiences accumulate into beliefs. Those beliefs shape behaviour. And those behaviours ultimately determine whether the organisation becomes a place where strategy can truly come to life.
Time: the facilitator file gives no minute timing for this section.</a:t>
            </a:r>
            <a:endParaRPr lang="en-US" dirty="0"/>
          </a:p>
          <a:p/>
          <a:p>
            <a:r>
              <a:t>Professional insights:</a:t>
            </a:r>
          </a:p>
          <a:p/>
          <a:p>
            <a:r>
              <a:t>Where capability sits: The loudest, most senior or most publicly celebrated contributors are not necessarily the most critical. Leaders need to understand where indispensable capability actually sits within the system.</a:t>
            </a:r>
          </a:p>
          <a:p>
            <a:r>
              <a:t>Source: Journal, 9 September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 WHAT WE SEE: THE SIGNALS OF HEALTH
Content:
When organisational health is strong, specific patterns become visible across the organisation. Issues surface quickly and are addressed directly. Leaders and teams focus on what serves the enterprise. Clarity is evident — people understand the organisation’s direction, their role in delivering it, and how decisions move through the system.
Energy remains constructive. People stay engaged because they experience purpose, recognition, and belonging. Work moves efficiently. Teams collaborate effectively, communication flows clearly, and the organisation’s effort converts reliably into results. Over time, talented people remain, relationships deepen, and institutional knowledge accumulates.
Together — low politics, high clarity, strong morale, productive collaboration, and stable teams — these are the signals we recognise when organisational health is present. This is what can be described as execution velocity: the organisation’s ability to convert strategic ambition into consistent, sustained performance.
———
2.2 — WHAT WE CREATE: THE CONDITIONS OF HEALTH
Content:
The visible signals of organisational health emerge from the environment leaders create. At the foundation lies trust. Trust shapes the experiences people have in the organisation. Those experiences gradually form shared beliefs. Beliefs influence behaviour. Behaviours accumulate into the visible signals we observe across the organisation.
In this way, organisational health emerges from the conditions leaders consistently reinforce through their behaviour, their decisions, and the systems they design. When leaders intentionally create the right conditions, the visible signs of organisational health follow naturally.</a:t>
            </a:r>
            <a:endParaRPr lang="en-US" dirty="0"/>
          </a:p>
          <a:p/>
          <a:p>
            <a:r>
              <a:t>Professional insights:</a:t>
            </a:r>
          </a:p>
          <a:p/>
          <a:p>
            <a:r>
              <a:t>The fruit test: A team’s actual culture is what it produces consistently: the quality of the work, the way conflict is handled, the speed of follow-through and the treatment of junior staff. List five concrete outputs and behaviours from the last quarter and ask whether they match the culture the team claims.</a:t>
            </a:r>
          </a:p>
          <a:p>
            <a:r>
              <a:t>Source: Journal, 27 April 2026 — Professional Insights: Culture</a:t>
            </a:r>
          </a:p>
          <a:p/>
          <a:p>
            <a:r>
              <a:t>Does truth travel?: In some organisations people say what is safe, meetings perform consensus and difficult feedback never reaches the leader. Test one regular forum: if something were wrong with the strategy, would anyone in the room say so? Start by asking the most junior person to speak first.</a:t>
            </a:r>
          </a:p>
          <a:p>
            <a:r>
              <a:t>Source: Journal, 5 May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 THE PRICE OF POOR HEALTH
Content:
An unhealthy organisation loses energy before it loses performance. Politics, bureaucracy, and mistrust slowly drain attention, collaboration, and initiative. The real costs often remain unseen until they become irreversible:
Time lost through unclear communication and repeated work — the visible cost of minimum-clarity execution
Quiet disengagement from capable employees — the hidden cost of missing the conditions that make discretionary effort sustainable
Declining trust as focus shifts from shared purpose to protection of turf — the structural cost of misaligned incentives and governance
Emotional fatigue as people move from contribution to self-preservation — the human cost of an environment that asks for commitment without reciprocating with safety
When the health temperature drops, every performance system established earlier becomes less effective. OKRs are pursued with less energy. KPI reviews become defensive. ESRG alignment gaps widen. The strategy remains architecturally sound — but the human system that delivers it begins to break down.
Guidance (Section 2): Pause after each cost and ask: “Where do you see this in your organisation right now?”
Participant file (2.3 — The Price of Poor Health) — prompts participants complete:
- ✎ Which of the four costs is most visible in your organisation right now? The cost most visible Where specifically is it appearing? What has it cost in execution momentum this quarter?</a:t>
            </a:r>
            <a:endParaRPr lang="en-US" dirty="0"/>
          </a:p>
          <a:p/>
          <a:p>
            <a:r>
              <a:t>Professional insights:</a:t>
            </a:r>
          </a:p>
          <a:p/>
          <a:p>
            <a:r>
              <a:t>Quiet disengagement: The common response to a threat from within is suppression. Ask what created the conditions for it, and talk this week with someone whose quiet disengagement has been ignored.</a:t>
            </a:r>
          </a:p>
          <a:p>
            <a:r>
              <a:t>Source: Journal, 10 June 2026 — Professional Insights: Leadership</a:t>
            </a:r>
          </a:p>
          <a:p/>
          <a:p>
            <a:r>
              <a:t>Emotional fatigue: Organisations that run in constant urgency, with no predictable rhythms or recovery seasons, produce people who are always bracing for impact. Rhythm gives people the structure to plan, rest and work.</a:t>
            </a:r>
          </a:p>
          <a:p>
            <a:r>
              <a:t>Source: Journal, 8 January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 EXTRAPOLATING — WHERE
Where Are the Organisational Health Signals?
Using the Organisational Health Thermometer to detect where health is strengthening or weakening — before results decline.
Section learning outcomes:
1. Assess the organisation’s health to detect early indicators of cultural strain.
2. Interpret variation in health perceptions across the leadership team.
FACILITATOR GUIDANCE — Extrapolating
The thermometer is the most significant practical tool in this unit. Give participants 8–10 minutes to complete it individually and in silence — do not discuss while they are scoring. Once complete, collect scores and enter them into the Team Consolidation Excel before the Integration section discussion.
Watch the variance as well as the average. If two leaders score Trait 3 (High Morale) at 18 and 7 respectively, that 11-point variance tells you the organisation is not experiencing morale consistently. That inconsistency is as important as any individual score.
If someone scores themselves 80+ across all five traits, use this question: “What would your team score you on if they completed this thermometer about your function — and would the number be the same?”
Time: 8–10 minutes for participants to complete the thermometer individually and in silence (no discussion while scoring).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 — THE ORGANISATIONAL HEALTH THERMOMETER (Live interactive assessment)
PARTICIPANT ACTIVITY
Participants complete this activity in their own file. The content below is for your preparation.
Content:
Rate each statement honestly on a scale of 1 to 5. The thermometer auto-calculates your total and temperature reading.
1
Never
2
Rarely
3
Sometimes
4
Usually
5
Always
TRAIT 1 — MINIMAL POLITICS
Max score: 20
1
Issues and concerns are raised openly in the meeting where they can be resolved.
2
Leaders share information freely and openly.
3
Decisions are guided by what serves the enterprise.
4
When conflicts arise between teams, they are resolved directly and honestly, in the open.
Trait 1 Total
0 / 20
TRAIT 2 — MINIMAL CONFUSION
Max score: 20
1
People understand the strategic direction and how their role contributes to it.
2
Decision authority is clear — people know who should decide what, at what level.
3
Responsibilities at the interfaces between teams are understood without constant escalation.
4
Priorities are stable and consistently communicated — people are not pulled in competing directions.
Trait 2 Total
0 / 20
TRAIT 3 — HIGH MORALE
Max score: 20
1
People invest discretionary effort — they go beyond the minimum because they believe in what we are doing.
2
Contribution is recognised and valued in ways that feel meaningful.
3
Even during demanding periods, the environment sustains commitment.
4
People feel a genuine sense of belonging and purpose in this organisation.
Trait 3 Total
0 / 20
TRAIT 4 — HIGH PRODUCTIVITY
Max score: 20
1
Work flows smoothly between teams — handoffs are clean and coordination is efficient.
2
Meetings resolve issues and move work forward.
3
Our systems and processes support collaboration between teams.
4
Effort converts reliably into results — we do not lose significant output to rework or miscommunication.
Trait 4 Total
0 / 20
TRAIT 5 — LOW TURNOVER
Max score: 20
1
People with capability and institutional knowledge choose to stay and grow within this organisation.
2
Leadership behaviour creates an environment where long-term commitment feels worthwhile.
3
Knowledge is retained — it is not constantly lost when people move on.
4
Relationships deepen over time, strengthening our collective execution capability.
Trait 5 Total
0 / 20
Your Total Score
0
/ 100
Temperature Reading
Enter scores above</a:t>
            </a:r>
            <a:endParaRPr lang="en-US" dirty="0"/>
          </a:p>
          <a:p/>
          <a:p>
            <a:r>
              <a:t>Professional insights:</a:t>
            </a:r>
          </a:p>
          <a:p/>
          <a:p>
            <a:r>
              <a:t>Fair-weather results: A culture can look cohesive in the annual survey and fracture under the first serious pressure. Pressure reveals the weakness that was already there. Ask participants to rate the culture as it behaves under pressure.</a:t>
            </a:r>
          </a:p>
          <a:p>
            <a:r>
              <a:t>Source: Journal, 5 March 2026 — Professional Insights</a:t>
            </a:r>
          </a:p>
          <a:p/>
          <a:p>
            <a:r>
              <a:t>Measure from the bottom: Organisations that measure culture by the experience of their most senior people miss how most people experience it. Ask: how is the newest person experiencing this culture?</a:t>
            </a:r>
          </a:p>
          <a:p>
            <a:r>
              <a:t>Source: Journal, 13 February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 — READING YOUR TEMPERATURE
Content:
🟢 80–100 | Healthy &amp; Thriving | Minimal politics, clear leadership, strong morale. Maintain momentum through continuous reinforcement.
🟡 60–79 | Stable but Uneven | Generally healthy but pockets of confusion or disengagement exist. Targeted intervention required.
🟠 40–59 | Caution Zone | Signs of mistrust, fatigue, or unclear direction beginning to surface. Immediate leadership attention needed.
🔴 20–39 | Unhealthy | High politics, low trust, and rising turnover risk. Leadership credibility is at stake.
Participant file (3.2 — Reading Your Temperature) — prompts participants complete:
- ✎ Reflection — Your Score My lowest-scoring trait The honest reason for that score The trait I am most surprised 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 ACE-IT GUARDRAIL PRIORITIES BY TEMPERATURE
Content:
When negative signals appear, leaders activate the ACE-IT behavioural guardrails as the leadership response system. Each temperature level has priority guardrails:
🟢 Healthy &amp; Thriving | Commitment + Transparency. Watch: Accountability — high performers can drift into complacency.
🟡 Stable but Uneven | Engagement + Accountability. Watch: Transparency — pockets of confusion often trace to information gaps.
🟠 Caution Zone | Integrity + Engagement + Transparency. All five guardrails are under pressure.
🔴 Unhealthy | All five ACE-IT guardrails are critical. Begin with Accountability — leaders must own the diagnosis before rebuilding begins.
The Team Consolidation Excel captures all six participant scores, auto-averages by trait, flags high variance, and displays the team temperature. Enter individual scores before the Integration section discussion.</a:t>
            </a:r>
            <a:endParaRPr lang="en-US" dirty="0"/>
          </a:p>
          <a:p/>
          <a:p>
            <a:r>
              <a:t>Professional insights:</a:t>
            </a:r>
          </a:p>
          <a:p/>
          <a:p>
            <a:r>
              <a:t>Rituals that outlived their meaning: Run three questions across one ritual: what value did this protect when it was created? Does it still protect that value? What would protect it now? Redesign the ritual or retire it; doing nothing is how cultures hollow out.</a:t>
            </a:r>
          </a:p>
          <a:p>
            <a:r>
              <a:t>Source: Journal, 4 May 2026 — Professional Insights: Culture</a:t>
            </a:r>
          </a:p>
          <a:p/>
          <a:p>
            <a:r>
              <a:t>Reinforcing systems: Culture regresses quickly when boundaries and reinforcing systems weaken. Commitments cannot rely on moments of enthusiasm; they need systems, expectations, accountability and people willing to intervene when drift appears.</a:t>
            </a:r>
          </a:p>
          <a:p>
            <a:r>
              <a:t>Source: Journal, 11 August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4 · INTEGRATION — COLLECTIVE
Cross-CXO Health Architecture
Establishing a shared leadership contract for organisational health across the entire executive team — each role anchors a specific health domain.
Section learning outcomes:
1. Demonstrate executive accountability for the health domain each leadership role anchors.
2. Identify which health domains are well stewarded and which are neglected.
FACILITATOR GUIDANCE — Integration
This session brings the team’s consolidated thermometer score into the room for the first time. Open by revealing the team average and temperature. Then use the CXO Architecture as the discussion frame: “Based on our consolidated temperature, which of these executive domains needs the most deliberate attention before the next quarterly review?”
The most powerful facilitation moment here is asking each leader to name their own domain first — before commenting on others. Self-diagnosis builds the psychological safety required for honest collective conversation.
Time: the facilitator file gives no minute timing for this section.
The CXO Health Architecture content is in the notes of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CXO HEALTH ARCHITECTURE (select each role in the file)
Content:
Every executive role contributes to maintaining the organisation’s health temperature. When these contributions operate in alignment, they reinforce the five foundational health traits. When leadership attention withdraws from any of these domains, organisational health begins to deteriorate. Select each role to see the commitment required and the risk if attention weakens.
CEO
Clarity of direction and leadership alignment
Key Organisational Commitment
Communicates strategic direction clearly and repeatedly. Ensures the executive team presents a unified message and demonstrates the behaviours expected throughout the organisation.
Health Risk if Attention Weakens
When the CEO does not maintain clear and consistent direction, leaders begin interpreting strategy differently. Conflicting priorities emerge, internal politics increase, and employees lose confidence in the organisation’s direction.
CFO
Resource fairness and financial transparency
Key Organisational Commitment
Ensures financial decisions clearly support strategic priorities and explains resource allocation decisions openly so that teams understand the logic behind them.
Health Risk if Attention Weakens
When financial decisions appear unclear or unfair, departments begin competing for resources. This competition creates political behaviour and damages trust in leadership decisions.
COO
Operational clarity and execution discipline
Key Organisational Commitment
Establishes clear operational processes, decision-making routines, and execution standards so teams understand how work should flow across the organisation.
Health Risk if Attention Weakens
When operational systems are inconsistent or poorly coordinated, employees become unsure about priorities, responsibilities, and processes. Confusion slows execution and reduces morale.
CHRO
Psychological safety and talent experience
Key Organisational Commitment
Ensures leadership behaviour supports trust, fairness, and a positive employee experience. Designs people systems that reinforce healthy leadership behaviour across the organisation.
Health Risk if Attention Weakens
When employee experience is neglected, trust in leadership declines. Employees disengage, morale drops, and talent retention becomes increasingly difficult.
CTO / CIO
Technology-enabled productivity
Key Organisational Commitment
Ensures technology systems simplify work, improve collaboration, and remove unnecessary friction so employees can focus on productive activities.
Health Risk if Attention Weakens
When systems are complex or unreliable, employees spend excessive time managing technology and lose productive time. Frustration grows and productivity declines.
CMO
Purpose and organisational meaning
Key Organisational Commitment
Ensures the organisation’s brand message accurately reflects how the organisation operates internally, reinforcing pride and purpose among employees.
Health Risk if Attention Weakens
When the brand message does not match employees’ actual experience, employees become cynical and lose belief in the organisation’s mission.
CCO
Commercial team health
Key Organisational Commitment
Ensures commercial targets are supported by adequate tools, training, coaching, and operational support so teams can deliver results consistently.
Health Risk if Attention Weakens
When sales pressure is high but support is limited, commercial teams experience burnout and higher turnover, which ultimately damages revenue performance.
CPO
Operational fairness and cross-functional respect
Key Organisational Commitment
Ensures procurement decisions follow transparent and fair processes so departments feel treated consistently and respectfully.
Health Risk if Attention Weakens
When procurement decisions appear inconsistent or biased, departments begin competing against each other and internal politics increase.
CRO
Safety to raise risks and concerns
Key Organisational Commitment
Designs risk governance processes that encourage employees to report concerns early without fear of punishment.
Health Risk if Attention Weakens
When employees fear reporting problems, important risks remain hidden until they become major crises that damage performance and trust.
CSO
Strategic coherence
Key Organisational Commitment
Ensures the strategic narrative remains clear and understandable so employees can see how their work contributes to the organisation’s direction.
Health Risk if Attention Weakens
When strategy becomes unclear or disconnected from daily work, employees gradually disengage because they no longer understand how their efforts contribute to the organisation’s goals.
The Organisational Health Architecture demonstrates that organisational health is an executive system. No single executive can build it alone — and no single executive’s neglect leaves the rest of the system intact.
Guidance (Section 4): Open by revealing the team average and temperature. Ask each leader to name their own domain first — before commenting on others.</a:t>
            </a:r>
            <a:endParaRPr lang="en-US" dirty="0"/>
          </a:p>
          <a:p/>
          <a:p>
            <a:r>
              <a:t>Professional insights:</a:t>
            </a:r>
          </a:p>
          <a:p/>
          <a:p>
            <a:r>
              <a:t>What leaders tolerate: Leaders shape culture through what they repeatedly tolerate, celebrate or ignore, as well as through their decisions.</a:t>
            </a:r>
          </a:p>
          <a:p>
            <a:r>
              <a:t>Source: Journal, 27 July 2026 — Professional Insights: Leadership</a:t>
            </a:r>
          </a:p>
          <a:p/>
          <a:p>
            <a:r>
              <a:t>CFO · Resource fairness: Leaders lose credibility when they demand sacrifice from others while insulating themselves from its consequences.</a:t>
            </a:r>
          </a:p>
          <a:p>
            <a:r>
              <a:t>Source: Journal, 7 August 2026 — Professional Insights: Leadership</a:t>
            </a:r>
          </a:p>
          <a:p/>
          <a:p>
            <a:r>
              <a:t>CHRO · Psychological safety: Leaders who never create genuine safety find that people manage them from a distance, assessing the relational risk before being open. Safety is built in small moments over a long time, and its absence shows up as managed distance.</a:t>
            </a:r>
          </a:p>
          <a:p>
            <a:r>
              <a:t>Source: Journal, 1 February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 · APPLICATION — IN PRACTICE
ACE-IT as a Coaching Model
Organisational health has been compromised. Choose a scenario and use the ACE-IT Coaching Protocol to prepare and conduct a real leadership conversation.
Section learning outcomes:
1. Prepare and conduct a coaching conversation that restores healthy leadership conduct.
2. Commit to a specific coaching conversation with a named person, topic and date.
FACILITATOR GUIDANCE — Application
Protect the full 40 minutes. The most common facilitation failure in this exercise is allowing Part 2 to become a discussion about what leaders would say, with no actual coaching practice. Keep pairs working. If a pair finishes early, ask: “Did you say the honest thing? Go again and say it.”
For the debrief question — which ACE-IT behaviour did you abandon? — expect most leaders to name Integrity or Transparency. These are the behaviours that require the most personal exposure. The value of naming them publicly is that the room holds each other accountable from that moment forward.
Close with the commitment statement: each leader names the person, the topic, and the date. Write them on a visible surface. These commitments are the output of the unit.
Content:
Organisational health is maintained by daily leadership behaviour. This exercise produces the most direct available intervention in organisational health: a conversation that actually happens.
Time: 40 minutes — Part 1 · 10 minutes choose and prepare; Part 2 · 20 minutes coach in pairs (ten minutes each direction); Part 3 · 10 minutes debrief. Protect the full 40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 — STEP 1 · CHOOSE YOUR SCENARIO (Select the one closest to your reality)
Content:
Read all four scenarios. Choose the one that most closely mirrors something happening in your organisation right now — or the one you find most challenging to navigate.
Scenario 1
The Corridor Consensus
Health Traits Compromised: Minimal Politics · Minimal Confusion
David is a senior manager with fifteen years in the organisation. He is articulate, well-liked, and performs well individually. In meetings he nods, agrees, and rarely challenges. Within forty-eight hours of every significant decision, he has quietly spoken to three or four colleagues, introduced doubt, and begun building an alternative view. Two strategic initiatives have stalled in the past quarter. When pressed, teams cite “mixed signals from leadership.” David is the source of those signals. He has never been directly confronted because he is careful, experienced, and his individual results remain strong. The dysfunction is visible to everyone except, apparently, David.
Your task: Coach David on his behaviour and its impact on the organisation’s ability to execute.
Scenario 2
The Confusion Spiral
Health Traits Compromised: Minimal Confusion · High Productivity
Priya is a talented team lead with genuine potential. She manages a cross-functional delivery team responsible for three strategic initiatives simultaneously. Over the past two months she has received conflicting direction from three different executives — each of whom believes their initiative is the priority. Priya has not pushed back, has not escalated, and has told each executive separately that things are “on track.” Nothing is on track. Her team is exhausted, delivery is slipping across all three initiatives, and two team members have privately approached HR about workload. Priya is failing because she has not yet learned to manage upward, hold boundaries, or surface the truth under pressure.
Your task: Coach Priya on how she needs to show up differently — both with her team and with senior leadership.
Scenario 3
The Quiet Exit
Health Traits Compromised: High Morale · Low Turnover
James was, eighteen months ago, your highest-energy performer. He led from the front, mentored junior colleagues, and brought ideas to every review. Something changed. He now arrives on time and leaves on time. He contributes when asked and not a moment beyond. His work is technically adequate. His discretionary effort has disappeared. Two of his peers have privately told you they think he is interviewing elsewhere. The real issue — which you suspect but have not addressed — is that six months ago he was passed over for a promotion he was promised, and the explanation he received was inadequate. He has never raised it formally. Neither have you.
Your task: Coach James. Begin by acknowledging what you know happened. Then coach him back into full contribution.
Scenario 4
The Execution Drag
Health Traits Compromised: High Productivity · Minimal Politics
Fatima leads a cross-functional delivery team that has missed its quarterly commitments for three consecutive cycles. Each review produces a well-structured explanation — resourcing constraints, dependency delays, scope changes from other functions. Each explanation holds up on its own. The pattern is the problem. Fatima is intelligent, politically skilled, and has learned that a good explanation protects her better than an uncomfortable conversation with the functions causing the dependencies. She has stopped owning the outcome and started managing the narrative. Her team has picked up on this. Accountability within the team has softened accordingly.
Your task: Coach Fatima on the difference between explaining the problem and owning it — and what owning it actually requires from her.</a:t>
            </a:r>
            <a:endParaRPr lang="en-US" dirty="0"/>
          </a:p>
          <a:p/>
          <a:p>
            <a:r>
              <a:t>Professional insights:</a:t>
            </a:r>
          </a:p>
          <a:p/>
          <a:p>
            <a:r>
              <a:t>Stated issue and real issue: The surface complaint is often the one that is safe to raise. The real issue, about authority, recognition or influence, is harder to name. Coaching works on the real issue.</a:t>
            </a:r>
          </a:p>
          <a:p>
            <a:r>
              <a:t>Source: Journal, 6 March 2026 — Professional Insights</a:t>
            </a:r>
          </a:p>
          <a:p/>
          <a:p>
            <a:r>
              <a:t>The soft-rebuke window: Every leader has a private list of things noticed and not addressed. For each, ask whether it is still in the soft-rebuke window or has moved into harder territory. Postponement is its own decision, and its cost compounds.</a:t>
            </a:r>
          </a:p>
          <a:p>
            <a:r>
              <a:t>Source: Journal, 5 May 2026 — Professional Insights: Strategy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 STEP 2 · THE ACE-IT COACHING PROTOCOL (15 guiding principles across 5 stances)
Content:
Before you enter the conversation, prepare your approach using the five coaching stances below. For each behaviour, complete: “In this conversation, [behaviour] means I will...”
A
ACCOUNTABILITY
Own the conversation before you expect them to own the problem
Name the pattern
Describe the behaviour you have observed. “I have noticed that after decisions are made, the direction often changes informally” names the behaviour.
Invite their version before offering yours
Ask what they see before telling them what you see. Their answer will tell you whether this is a blind spot or a choice.
Define the ownership you are asking for
Be specific about what “owning this” looks like. “I need you to raise concerns in the room” defines ownership precisely.
C
COMMITMENT
Ask for something real
Press for specificity
A real commitment has a date, a measure, and a named action. “By next Friday’s review, you will raise your concern in the room” closes the loop.
Test the commitment
Before the conversation ends, ask: “What will get in the way of this?” Their answer tells you whether the commitment is real or performative.
Close the loop explicitly
Agree how and when you will follow up. State it aloud. A commitment with no follow-up mechanism is a wish.
E
ENGAGEMENT
Create the conditions for honesty
Ask more than you tell
The ratio in a coaching conversation should be 70% questions, 30% statements. If you are talking more than they are, you are instructing.
Listen for what is not being said
The hesitation, the qualifier, the deflection is often the real information. “Things are generally fine” from someone who has stopped contributing is a warning sign. Pause and go deeper.
Acknowledge before advancing
People cannot receive direction until they feel heard. Reflect back what you have heard before moving to what needs to change.
I
INTEGRITY
Say the honest thing, especially when it is uncomfortable
Name what you have been avoiding
If you have been softening the message across previous conversations, this is the moment to stop. Name the real issue clearly and without apology.
Separate observation from interpretation
“I have noticed X” keeps the conversation in integrity. Ground every difficult statement in what you have directly observed.
Hold the standard without holding a grudge
Name the gap between expectation and behaviour — then focus entirely forward. The purpose is alignment for the future.
T
TRANSPARENCY
Share your context so they can trust your intention
Explain the why behind the conversation
People engage better when they understand the reason for the discussion. “I am having this conversation because I believe you are capable of more” gives the person a reason to engage.
Acknowledge your own role
If leadership behaviour contributed to this situation — unclear direction, broken promises, inadequate feedback — name it. This is the integrity that makes the conversation credible.
Be honest about stakes
If there are consequences attached to this conversation continuing to go unresolved, say so clearly and early. A person cannot make a real choice without real information.
Participant file (5.2 — Step 2 · The ACE-IT Coaching Protocol) — prompts participants complete:
- ✎ My preparation — In this conversation, ACCOUNTABILITY means I will... — Write your preparation sentence here...
- ✎ My preparation — In this conversation, COMMITMENT means I will... — Write your preparation sentence here...
- ✎ My preparation — In this conversation, ENGAGEMENT means I will... — Write your preparation sentence here...
- ✎ My preparation — In this conversation, INTEGRITY means I will... — Write your preparation sentence here...
- ✎ My preparation — In this conversation, TRANSPARENCY means I will... — Write your preparation sentence here...</a:t>
            </a:r>
            <a:endParaRPr lang="en-US" dirty="0"/>
          </a:p>
          <a:p/>
          <a:p>
            <a:r>
              <a:t>Professional insights:</a:t>
            </a:r>
          </a:p>
          <a:p/>
          <a:p>
            <a:r>
              <a:t>A · Own the conversation first: Credibility is built through consistent personal commitment. The leader who has not decided cannot credibly call others to decide, so make your own commitment explicit before asking for theirs.</a:t>
            </a:r>
          </a:p>
          <a:p>
            <a:r>
              <a:t>Source: Journal, 14 April 2026 — Professional Insights: Leadership</a:t>
            </a:r>
          </a:p>
          <a:p/>
          <a:p>
            <a:r>
              <a:t>C · Ask for something real: A leader who keeps compensating for someone’s stuckness relieves their own friction and leaves the person’s will untouched. Ask directly whether they want to move: capability can be resourced, and the desire to change has to come from them.</a:t>
            </a:r>
          </a:p>
          <a:p>
            <a:r>
              <a:t>Source: Journal, 1 July 2026 — Professional Insights: Leadership</a:t>
            </a:r>
          </a:p>
          <a:p/>
          <a:p>
            <a:r>
              <a:t>I · Say the honest thing: People defend against accusation and recognise themselves in a mirror. Feedback that triggers self-recognition changes behaviour more than feedback experienced as attack.</a:t>
            </a:r>
          </a:p>
          <a:p>
            <a:r>
              <a:t>Source: Journal, 28 May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 — STEP 3 · THE EXERCISE (40 MINUTES)
Content:
Part 1 · 10 min
Choose &amp; Prepare
Part 2 · 20 min
Coach in Pairs
Part 3 · 10 min
Debrief
Choose and Prepare — Individual
Read all four scenarios. Choose the one closest to your reality. Using the ACE-IT Coaching Protocol, complete the preparation sentence for each of the five behaviours: “In this conversation, [behaviour] means I will...”
Coach in Pairs
One leader coaches, one plays the team member. Ten minutes each direction. The coaching partner’s role is to play the scenario honestly. After ten minutes, switch. The coach becomes the team member.
If a pair finishes early: did you say the honest thing? Go again and say it without softening.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DEBRIEF IN THE ROOM (Part 3 · 10 minutes)
Content:
Debrief in the Room
Each leader answers one question aloud:
“Which ACE-IT behaviour did you find easiest to apply — and which did you abandon or soften when the conversation became uncomfortable?”
Then each leader completes the commitment statement: “The conversation I am committing to have is with [role], about [topic], before [date].”
“The gap between the ACE-IT behaviour you apply when conversations are comfortable and the one you abandon when they become difficult — that gap is your leadership development edge. The health of your organisation lives in that gap.”
Guidance (Application): For the debrief question, expect most leaders to name Integrity or Transparency. These are the behaviours that require the most personal exposure. The value of naming them publicly is that the room holds each other accountable from that moment forward.
Close with the commitment statement: each leader names the person, the topic, and the date. Write them on a visible surface. These commitments are the output of the unit.</a:t>
            </a:r>
            <a:endParaRPr lang="en-US" dirty="0"/>
          </a:p>
          <a:p/>
          <a:p>
            <a:r>
              <a:t>Professional insights:</a:t>
            </a:r>
          </a:p>
          <a:p/>
          <a:p>
            <a:r>
              <a:t>Softening: A leader who needs approval more than integrity softens difficult realities, avoids necessary confrontation and lets dysfunction continue. Use this with “which did you abandon or soften?”</a:t>
            </a:r>
          </a:p>
          <a:p>
            <a:r>
              <a:t>Source: Journal, 23 July 2026 — Professional Insights: Leadership</a:t>
            </a:r>
          </a:p>
          <a:p/>
          <a:p>
            <a:r>
              <a:t>The avoided conversation: Reorganisations, communications drives and new frameworks can multiply as substitutes for the one hard conversation that is actually required. Name it and schedule it.</a:t>
            </a:r>
          </a:p>
          <a:p>
            <a:r>
              <a:t>Source: Journal, 11 May 2026 — Professional Insights: Leadership</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SUMMARY (Unit 11 synthesis)
Content:
Organisational health is where the entire S2R® programme finds its human foundation. Direction without health produces strategies that no one believes in. Influence without health produces change that no one sustains. Grounding without health produces systems that no one trusts enough to use honestly.
Awareness — What
Leaders recognise what organisational health is and how it becomes visible in everyday behaviour. Five observable traits — minimal politics, minimal confusion, high morale, high productivity, low turnover — are the visible outcomes of the Organisational Health Pyramid. Trust shapes experiences. Experiences shape beliefs. Beliefs shape actions. Actions produce the visible traits.
Intelligence — Why
Organisational health is the performance ceiling of strategy execution. Even the most carefully designed strategy underperforms in an unhealthy environment. Health functions as the multiplier of every strategic system. When health is strong, execution accelerates. When health deteriorates, OKRs, KPIs, and ESRG alignment all lose effectiveness.
Extrapolating — Where
The Health Thermometer detects where signals are emerging at the team level — early, before results decline. Variance across participants is as important as the average. The ACE-IT guardrails provide the leadership response system, prioritised by temperature level.
Integration — Collective
Every executive role anchors a specific health domain. No single executive can build organisational health alone, and no single executive’s neglect leaves the rest of the system intact. The CXO Health Architecture transforms organisational health from an abstract concept into a clearly defined shared leadership responsibility.
Application — In Practice
The ACE-IT Coaching Model translates the unit into practice. Four scenarios, each with health traits compromised. Fifteen guiding principles across five coaching stances. Leaders choose the scenario closest to their reality and use ACE-IT to prepare and conduct the conversation. The gap between the ACE-IT behaviour applied in comfortable conversations and the one abandoned in difficult ones — that gap is the leadership development edge.
The organisation that invests in its health is making the most direct available investment in its ability to execute those ambitions — consistently, sustainably, and at pace.
That is a performance strategy.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1"/>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Module 4 · Grounding · Unit 11</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Culture Reinforcement &amp; Organisational Health</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indent="0" marL="0">
              <a:buNone/>
            </a:pPr>
            <a:r>
              <a:rPr lang="en-US" sz="2400" i="1" dirty="0">
                <a:solidFill>
                  <a:srgbClr val="DDE8DF"/>
                </a:solidFill>
                <a:latin typeface="Calibri" pitchFamily="34" charset="0"/>
                <a:ea typeface="Calibri" pitchFamily="34" charset="-122"/>
                <a:cs typeface="Calibri" pitchFamily="34" charset="-120"/>
              </a:rPr>
              <a:t>The internal condition that determines whether strategy can actually be executed</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indent="0" marL="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Analyse the relationship between organisational culture, leadership conduct, employee experience and performance.</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Recognise the characteristics of organisational health and the indicators of cultural strain.</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Evaluate whether prevailing beliefs and behaviours support strategic intent and responsible performance.</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dirty="0">
                <a:solidFill>
                  <a:srgbClr val="1F2A22"/>
                </a:solidFill>
                <a:latin typeface="Calibri" pitchFamily="34" charset="0"/>
                <a:ea typeface="Calibri" pitchFamily="34" charset="-122"/>
                <a:cs typeface="Calibri" pitchFamily="34" charset="-120"/>
              </a:rPr>
              <a:t>Demonstrate executive accountability for a healthy, cohesive and high-performing organisation.</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1 · Awareness  </a:t>
            </a:r>
            <a:pPr indent="0" marL="0">
              <a:buNone/>
            </a:pP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2 · Intelligence  </a:t>
            </a:r>
            <a:pPr indent="0" marL="0">
              <a:buNone/>
            </a:pP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3 · Extrapolating  </a:t>
            </a:r>
            <a:pPr indent="0" marL="0">
              <a:buNone/>
            </a:pP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4 · Integration  </a:t>
            </a:r>
            <a:pPr indent="0" marL="0">
              <a:buNone/>
            </a:pP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800" b="1" dirty="0">
                <a:solidFill>
                  <a:srgbClr val="1A5C2C"/>
                </a:solidFill>
                <a:latin typeface="Cambria" pitchFamily="34" charset="0"/>
                <a:ea typeface="Cambria" pitchFamily="34" charset="-122"/>
                <a:cs typeface="Cambria" pitchFamily="34" charset="-120"/>
              </a:rPr>
              <a:t>Section 5 · Application  </a:t>
            </a:r>
            <a:pPr indent="0" marL="0">
              <a:buNone/>
            </a:pP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What is Organisational Health?</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Recognise the characteristics of a healthy organisation.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Analyse how trust, experience and belief shape conduct and performance.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1.1 · What is organisational health?</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Think of the best team environment you have ever been part of. What made it feel different?</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That difference is what Lencioni calls organisational health.</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1.2 · The five observable traits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Trait 1 · Minimal Politics  </a:t>
            </a:r>
            <a:pPr indent="0" marL="0">
              <a:buNone/>
            </a:pPr>
            <a:r>
              <a:rPr lang="en-US" sz="2600" dirty="0">
                <a:solidFill>
                  <a:srgbClr val="1F2A22"/>
                </a:solidFill>
                <a:latin typeface="Calibri" pitchFamily="34" charset="0"/>
                <a:ea typeface="Calibri" pitchFamily="34" charset="-122"/>
                <a:cs typeface="Calibri" pitchFamily="34" charset="-120"/>
              </a:rPr>
              <a:t>issues surface and are addressed directly</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Trait 2 · Minimal Confusion  </a:t>
            </a:r>
            <a:pPr indent="0" marL="0">
              <a:buNone/>
            </a:pPr>
            <a:r>
              <a:rPr lang="en-US" sz="2600" dirty="0">
                <a:solidFill>
                  <a:srgbClr val="1F2A22"/>
                </a:solidFill>
                <a:latin typeface="Calibri" pitchFamily="34" charset="0"/>
                <a:ea typeface="Calibri" pitchFamily="34" charset="-122"/>
                <a:cs typeface="Calibri" pitchFamily="34" charset="-120"/>
              </a:rPr>
              <a:t>clear direction, ownership, authority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Trait 3 · High Morale  </a:t>
            </a:r>
            <a:pPr indent="0" marL="0">
              <a:buNone/>
            </a:pPr>
            <a:r>
              <a:rPr lang="en-US" sz="2600" dirty="0">
                <a:solidFill>
                  <a:srgbClr val="1F2A22"/>
                </a:solidFill>
                <a:latin typeface="Calibri" pitchFamily="34" charset="0"/>
                <a:ea typeface="Calibri" pitchFamily="34" charset="-122"/>
                <a:cs typeface="Calibri" pitchFamily="34" charset="-120"/>
              </a:rPr>
              <a:t>purpose and recognition</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Trait 4 · High Productivity  </a:t>
            </a:r>
            <a:pPr indent="0" marL="0">
              <a:buNone/>
            </a:pPr>
            <a:r>
              <a:rPr lang="en-US" sz="2600" dirty="0">
                <a:solidFill>
                  <a:srgbClr val="1F2A22"/>
                </a:solidFill>
                <a:latin typeface="Calibri" pitchFamily="34" charset="0"/>
                <a:ea typeface="Calibri" pitchFamily="34" charset="-122"/>
                <a:cs typeface="Calibri" pitchFamily="34" charset="-120"/>
              </a:rPr>
              <a:t>effort converts into results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Trait 5 · Low Turnover  </a:t>
            </a:r>
            <a:pPr indent="0" marL="0">
              <a:buNone/>
            </a:pPr>
            <a:r>
              <a:rPr lang="en-US" sz="2600" dirty="0">
                <a:solidFill>
                  <a:srgbClr val="1F2A22"/>
                </a:solidFill>
                <a:latin typeface="Calibri" pitchFamily="34" charset="0"/>
                <a:ea typeface="Calibri" pitchFamily="34" charset="-122"/>
                <a:cs typeface="Calibri" pitchFamily="34" charset="-120"/>
              </a:rPr>
              <a:t>people choose to stay</a:t>
            </a:r>
            <a:endParaRPr lang="en-US" sz="2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1.3 · The Organisational Health Pyramid</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Trust  </a:t>
            </a:r>
            <a:pPr indent="0" marL="0">
              <a:buNone/>
            </a:pPr>
            <a:r>
              <a:rPr lang="en-US" sz="2600" dirty="0">
                <a:solidFill>
                  <a:srgbClr val="1F2A22"/>
                </a:solidFill>
                <a:latin typeface="Calibri" pitchFamily="34" charset="0"/>
                <a:ea typeface="Calibri" pitchFamily="34" charset="-122"/>
                <a:cs typeface="Calibri" pitchFamily="34" charset="-120"/>
              </a:rPr>
              <a:t>the foundation</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Experiences  </a:t>
            </a:r>
            <a:pPr indent="0" marL="0">
              <a:buNone/>
            </a:pPr>
            <a:r>
              <a:rPr lang="en-US" sz="2600" dirty="0">
                <a:solidFill>
                  <a:srgbClr val="1F2A22"/>
                </a:solidFill>
                <a:latin typeface="Calibri" pitchFamily="34" charset="0"/>
                <a:ea typeface="Calibri" pitchFamily="34" charset="-122"/>
                <a:cs typeface="Calibri" pitchFamily="34" charset="-120"/>
              </a:rPr>
              <a:t>shaped by trust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Beliefs  </a:t>
            </a:r>
            <a:pPr indent="0" marL="0">
              <a:buNone/>
            </a:pPr>
            <a:r>
              <a:rPr lang="en-US" sz="2600" dirty="0">
                <a:solidFill>
                  <a:srgbClr val="1F2A22"/>
                </a:solidFill>
                <a:latin typeface="Calibri" pitchFamily="34" charset="0"/>
                <a:ea typeface="Calibri" pitchFamily="34" charset="-122"/>
                <a:cs typeface="Calibri" pitchFamily="34" charset="-120"/>
              </a:rPr>
              <a:t>formed by experiences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Actions  </a:t>
            </a:r>
            <a:pPr indent="0" marL="0">
              <a:buNone/>
            </a:pPr>
            <a:r>
              <a:rPr lang="en-US" sz="2600" dirty="0">
                <a:solidFill>
                  <a:srgbClr val="1F2A22"/>
                </a:solidFill>
                <a:latin typeface="Calibri" pitchFamily="34" charset="0"/>
                <a:ea typeface="Calibri" pitchFamily="34" charset="-122"/>
                <a:cs typeface="Calibri" pitchFamily="34" charset="-120"/>
              </a:rPr>
              <a:t>driven by beliefs</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Results  </a:t>
            </a:r>
            <a:pPr indent="0" marL="0">
              <a:buNone/>
            </a:pPr>
            <a:r>
              <a:rPr lang="en-US" sz="2600" dirty="0">
                <a:solidFill>
                  <a:srgbClr val="1F2A22"/>
                </a:solidFill>
                <a:latin typeface="Calibri" pitchFamily="34" charset="0"/>
                <a:ea typeface="Calibri" pitchFamily="34" charset="-122"/>
                <a:cs typeface="Calibri" pitchFamily="34" charset="-120"/>
              </a:rPr>
              <a:t>the visible traits</a:t>
            </a:r>
            <a:endParaRPr lang="en-US"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1.4 · When trust erodes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Politics increase  </a:t>
            </a:r>
            <a:pPr indent="0" marL="0">
              <a:buNone/>
            </a:pPr>
            <a:r>
              <a:rPr lang="en-US" sz="2600" dirty="0">
                <a:solidFill>
                  <a:srgbClr val="1F2A22"/>
                </a:solidFill>
                <a:latin typeface="Calibri" pitchFamily="34" charset="0"/>
                <a:ea typeface="Calibri" pitchFamily="34" charset="-122"/>
                <a:cs typeface="Calibri" pitchFamily="34" charset="-120"/>
              </a:rPr>
              <a:t>as people stop trusting shared decisions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Confusion spreads  </a:t>
            </a:r>
            <a:pPr indent="0" marL="0">
              <a:buNone/>
            </a:pPr>
            <a:r>
              <a:rPr lang="en-US" sz="2600" dirty="0">
                <a:solidFill>
                  <a:srgbClr val="1F2A22"/>
                </a:solidFill>
                <a:latin typeface="Calibri" pitchFamily="34" charset="0"/>
                <a:ea typeface="Calibri" pitchFamily="34" charset="-122"/>
                <a:cs typeface="Calibri" pitchFamily="34" charset="-120"/>
              </a:rPr>
              <a:t>as communication stops being clear</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Morale declines  </a:t>
            </a:r>
            <a:pPr indent="0" marL="0">
              <a:buNone/>
            </a:pPr>
            <a:r>
              <a:rPr lang="en-US" sz="2600" dirty="0">
                <a:solidFill>
                  <a:srgbClr val="1F2A22"/>
                </a:solidFill>
                <a:latin typeface="Calibri" pitchFamily="34" charset="0"/>
                <a:ea typeface="Calibri" pitchFamily="34" charset="-122"/>
                <a:cs typeface="Calibri" pitchFamily="34" charset="-120"/>
              </a:rPr>
              <a:t>as effort stops seeming to matter</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Productivity drops  </a:t>
            </a:r>
            <a:pPr indent="0" marL="0">
              <a:buNone/>
            </a:pPr>
            <a:r>
              <a:rPr lang="en-US" sz="2600" dirty="0">
                <a:solidFill>
                  <a:srgbClr val="1F2A22"/>
                </a:solidFill>
                <a:latin typeface="Calibri" pitchFamily="34" charset="0"/>
                <a:ea typeface="Calibri" pitchFamily="34" charset="-122"/>
                <a:cs typeface="Calibri" pitchFamily="34" charset="-120"/>
              </a:rPr>
              <a:t>as energy goes to internal friction</a:t>
            </a:r>
            <a:endParaRPr lang="en-US" sz="26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Turnover rises  </a:t>
            </a:r>
            <a:pPr indent="0" marL="0">
              <a:buNone/>
            </a:pPr>
            <a:r>
              <a:rPr lang="en-US" sz="2600" dirty="0">
                <a:solidFill>
                  <a:srgbClr val="1F2A22"/>
                </a:solidFill>
                <a:latin typeface="Calibri" pitchFamily="34" charset="0"/>
                <a:ea typeface="Calibri" pitchFamily="34" charset="-122"/>
                <a:cs typeface="Calibri" pitchFamily="34" charset="-120"/>
              </a:rPr>
              <a:t>as the organisation stops seeming worth staying in</a:t>
            </a:r>
            <a:endParaRPr lang="en-US" sz="2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Why Organisational Health Determines the Performance Ceiling</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Analyse how organisational health sets the ceiling on execution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the hidden costs of poor organisational health.</a:t>
            </a:r>
            <a:endParaRPr lang="en-US" sz="2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2.1–2.2 · Signals and conditions of health</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indent="0" marL="0">
              <a:buNone/>
            </a:pPr>
            <a:r>
              <a:rPr lang="en-US" sz="2800" b="1" dirty="0">
                <a:solidFill>
                  <a:srgbClr val="1A5C2C"/>
                </a:solidFill>
                <a:latin typeface="Cambria" pitchFamily="34" charset="0"/>
                <a:ea typeface="Cambria" pitchFamily="34" charset="-122"/>
                <a:cs typeface="Cambria" pitchFamily="34" charset="-120"/>
              </a:rPr>
              <a:t>What we see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indent="0" marL="0">
              <a:buNone/>
            </a:pPr>
            <a:r>
              <a:rPr lang="en-US" sz="2400" i="1" dirty="0">
                <a:solidFill>
                  <a:srgbClr val="4E5E53"/>
                </a:solidFill>
                <a:latin typeface="Calibri" pitchFamily="34" charset="0"/>
                <a:ea typeface="Calibri" pitchFamily="34" charset="-122"/>
                <a:cs typeface="Calibri" pitchFamily="34" charset="-120"/>
              </a:rPr>
              <a:t>The signals of health</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Low politics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High clarity</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Strong morale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Productive collaboration</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Stable teams</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What we create</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indent="0" marL="0">
              <a:buNone/>
            </a:pPr>
            <a:r>
              <a:rPr lang="en-US" sz="2400" i="1" dirty="0">
                <a:solidFill>
                  <a:srgbClr val="E6D3A0"/>
                </a:solidFill>
                <a:latin typeface="Calibri" pitchFamily="34" charset="0"/>
                <a:ea typeface="Calibri" pitchFamily="34" charset="-122"/>
                <a:cs typeface="Calibri" pitchFamily="34" charset="-120"/>
              </a:rPr>
              <a:t>The conditions of health</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Trust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Experiences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Shared beliefs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Behaviour</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2.3 · The price of poor health</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Time lost  </a:t>
            </a:r>
            <a:pPr indent="0" marL="0">
              <a:buNone/>
            </a:pPr>
            <a:r>
              <a:rPr lang="en-US" sz="2600" dirty="0">
                <a:solidFill>
                  <a:srgbClr val="1F2A22"/>
                </a:solidFill>
                <a:latin typeface="Calibri" pitchFamily="34" charset="0"/>
                <a:ea typeface="Calibri" pitchFamily="34" charset="-122"/>
                <a:cs typeface="Calibri" pitchFamily="34" charset="-120"/>
              </a:rPr>
              <a:t>through unclear communication and repeated work</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Quiet disengagement  </a:t>
            </a:r>
            <a:pPr indent="0" marL="0">
              <a:buNone/>
            </a:pPr>
            <a:r>
              <a:rPr lang="en-US" sz="2600" dirty="0">
                <a:solidFill>
                  <a:srgbClr val="1F2A22"/>
                </a:solidFill>
                <a:latin typeface="Calibri" pitchFamily="34" charset="0"/>
                <a:ea typeface="Calibri" pitchFamily="34" charset="-122"/>
                <a:cs typeface="Calibri" pitchFamily="34" charset="-120"/>
              </a:rPr>
              <a:t>from capable employees</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Declining trust  </a:t>
            </a:r>
            <a:pPr indent="0" marL="0">
              <a:buNone/>
            </a:pPr>
            <a:r>
              <a:rPr lang="en-US" sz="2600" dirty="0">
                <a:solidFill>
                  <a:srgbClr val="1F2A22"/>
                </a:solidFill>
                <a:latin typeface="Calibri" pitchFamily="34" charset="0"/>
                <a:ea typeface="Calibri" pitchFamily="34" charset="-122"/>
                <a:cs typeface="Calibri" pitchFamily="34" charset="-120"/>
              </a:rPr>
              <a:t>as focus shifts to protecting turf</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Emotional fatigue  </a:t>
            </a:r>
            <a:pPr indent="0" marL="0">
              <a:buNone/>
            </a:pPr>
            <a:r>
              <a:rPr lang="en-US" sz="2600" dirty="0">
                <a:solidFill>
                  <a:srgbClr val="1F2A22"/>
                </a:solidFill>
                <a:latin typeface="Calibri" pitchFamily="34" charset="0"/>
                <a:ea typeface="Calibri" pitchFamily="34" charset="-122"/>
                <a:cs typeface="Calibri" pitchFamily="34" charset="-120"/>
              </a:rPr>
              <a:t>as contribution turns to self-preservation</a:t>
            </a:r>
            <a:endParaRPr lang="en-US" sz="2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Where Are the Organisational Health Signals?</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Assess the organisation’s health to detect early indicators of cultural strain.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Interpret variation in health perceptions across the leadership team.</a:t>
            </a:r>
            <a:endParaRPr lang="en-US" sz="2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3.1 · The Organisational Health Thermometer</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Rate each of the 20 statements honestly, 1 to 5. Complete it individually and in silence.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Five traits · four statements each · a total out of 100.</a:t>
            </a:r>
            <a:endParaRPr lang="en-US" sz="2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3.2 · Reading your temperature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80–100  </a:t>
            </a:r>
            <a:pPr indent="0" marL="0">
              <a:buNone/>
            </a:pPr>
            <a:r>
              <a:rPr lang="en-US" sz="2600" dirty="0">
                <a:solidFill>
                  <a:srgbClr val="1F2A22"/>
                </a:solidFill>
                <a:latin typeface="Calibri" pitchFamily="34" charset="0"/>
                <a:ea typeface="Calibri" pitchFamily="34" charset="-122"/>
                <a:cs typeface="Calibri" pitchFamily="34" charset="-120"/>
              </a:rPr>
              <a:t>Healthy &amp; Thriving</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60–79  </a:t>
            </a:r>
            <a:pPr indent="0" marL="0">
              <a:buNone/>
            </a:pPr>
            <a:r>
              <a:rPr lang="en-US" sz="2600" dirty="0">
                <a:solidFill>
                  <a:srgbClr val="1F2A22"/>
                </a:solidFill>
                <a:latin typeface="Calibri" pitchFamily="34" charset="0"/>
                <a:ea typeface="Calibri" pitchFamily="34" charset="-122"/>
                <a:cs typeface="Calibri" pitchFamily="34" charset="-120"/>
              </a:rPr>
              <a:t>Stable but Uneven</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40–59  </a:t>
            </a:r>
            <a:pPr indent="0" marL="0">
              <a:buNone/>
            </a:pPr>
            <a:r>
              <a:rPr lang="en-US" sz="2600" dirty="0">
                <a:solidFill>
                  <a:srgbClr val="1F2A22"/>
                </a:solidFill>
                <a:latin typeface="Calibri" pitchFamily="34" charset="0"/>
                <a:ea typeface="Calibri" pitchFamily="34" charset="-122"/>
                <a:cs typeface="Calibri" pitchFamily="34" charset="-120"/>
              </a:rPr>
              <a:t>Caution Zone</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20–39  </a:t>
            </a:r>
            <a:pPr indent="0" marL="0">
              <a:buNone/>
            </a:pPr>
            <a:r>
              <a:rPr lang="en-US" sz="2600" dirty="0">
                <a:solidFill>
                  <a:srgbClr val="1F2A22"/>
                </a:solidFill>
                <a:latin typeface="Calibri" pitchFamily="34" charset="0"/>
                <a:ea typeface="Calibri" pitchFamily="34" charset="-122"/>
                <a:cs typeface="Calibri" pitchFamily="34" charset="-120"/>
              </a:rPr>
              <a:t>Unhealthy</a:t>
            </a:r>
            <a:endParaRPr lang="en-US" sz="2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3.3 · ACE-IT guardrail priorities by temperature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Healthy &amp; Thriving  </a:t>
            </a:r>
            <a:pPr indent="0" marL="0">
              <a:buNone/>
            </a:pPr>
            <a:r>
              <a:rPr lang="en-US" sz="2400" dirty="0">
                <a:solidFill>
                  <a:srgbClr val="1F2A22"/>
                </a:solidFill>
                <a:latin typeface="Calibri" pitchFamily="34" charset="0"/>
                <a:ea typeface="Calibri" pitchFamily="34" charset="-122"/>
                <a:cs typeface="Calibri" pitchFamily="34" charset="-120"/>
              </a:rPr>
              <a:t>Commitment + Transparency</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Stable but Uneven  </a:t>
            </a:r>
            <a:pPr indent="0" marL="0">
              <a:buNone/>
            </a:pPr>
            <a:r>
              <a:rPr lang="en-US" sz="2400" dirty="0">
                <a:solidFill>
                  <a:srgbClr val="1F2A22"/>
                </a:solidFill>
                <a:latin typeface="Calibri" pitchFamily="34" charset="0"/>
                <a:ea typeface="Calibri" pitchFamily="34" charset="-122"/>
                <a:cs typeface="Calibri" pitchFamily="34" charset="-120"/>
              </a:rPr>
              <a:t>Engagement + Accountability</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Caution Zone  </a:t>
            </a:r>
            <a:pPr indent="0" marL="0">
              <a:buNone/>
            </a:pPr>
            <a:r>
              <a:rPr lang="en-US" sz="2400" dirty="0">
                <a:solidFill>
                  <a:srgbClr val="1F2A22"/>
                </a:solidFill>
                <a:latin typeface="Calibri" pitchFamily="34" charset="0"/>
                <a:ea typeface="Calibri" pitchFamily="34" charset="-122"/>
                <a:cs typeface="Calibri" pitchFamily="34" charset="-120"/>
              </a:rPr>
              <a:t>Integrity + Engagement + Transparency</a:t>
            </a:r>
            <a:endParaRPr lang="en-US" sz="24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sp>
      <p:pic>
        <p:nvPicPr>
          <p:cNvPr id="13" name="Image 3" descr="preencoded.png">    </p:cNvPr>
          <p:cNvPicPr>
            <a:picLocks noChangeAspect="1"/>
          </p:cNvPicPr>
          <p:nvPr/>
        </p:nvPicPr>
        <p:blipFill>
          <a:blip r:embed="rId4"/>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Unhealthy  </a:t>
            </a:r>
            <a:pPr indent="0" marL="0">
              <a:buNone/>
            </a:pPr>
            <a:r>
              <a:rPr lang="en-US" sz="2400" dirty="0">
                <a:solidFill>
                  <a:srgbClr val="1F2A22"/>
                </a:solidFill>
                <a:latin typeface="Calibri" pitchFamily="34" charset="0"/>
                <a:ea typeface="Calibri" pitchFamily="34" charset="-122"/>
                <a:cs typeface="Calibri" pitchFamily="34" charset="-120"/>
              </a:rPr>
              <a:t>all five; begin with Accountability</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Cross-CXO Health Architecture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Demonstrate executive accountability for the health domain each leadership role anchors.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Identify which health domains are well stewarded and which are neglected.</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The CXO Health Architecture</a:t>
            </a:r>
            <a:endParaRPr lang="en-US" sz="3600" dirty="0"/>
          </a:p>
        </p:txBody>
      </p:sp>
      <p:sp>
        <p:nvSpPr>
          <p:cNvPr id="3" name="Shape 1"/>
          <p:cNvSpPr/>
          <p:nvPr/>
        </p:nvSpPr>
        <p:spPr>
          <a:xfrm>
            <a:off x="548640" y="1554480"/>
            <a:ext cx="5440680" cy="822960"/>
          </a:xfrm>
          <a:prstGeom prst="roundRect">
            <a:avLst>
              <a:gd name="adj" fmla="val 11111"/>
            </a:avLst>
          </a:prstGeom>
          <a:solidFill>
            <a:srgbClr val="EEF4EF"/>
          </a:solidFill>
          <a:ln w="12700">
            <a:solidFill>
              <a:srgbClr val="EEF4EF"/>
            </a:solidFill>
            <a:prstDash val="solid"/>
          </a:ln>
        </p:spPr>
      </p:sp>
      <p:sp>
        <p:nvSpPr>
          <p:cNvPr id="4" name="Text 2"/>
          <p:cNvSpPr txBox="1"/>
          <p:nvPr/>
        </p:nvSpPr>
        <p:spPr>
          <a:xfrm>
            <a:off x="77724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CEO   </a:t>
            </a:r>
            <a:pPr indent="0" marL="0">
              <a:buNone/>
            </a:pPr>
            <a:r>
              <a:rPr lang="en-US" sz="2600" dirty="0">
                <a:solidFill>
                  <a:srgbClr val="1F2A22"/>
                </a:solidFill>
                <a:latin typeface="Calibri" pitchFamily="34" charset="0"/>
                <a:ea typeface="Calibri" pitchFamily="34" charset="-122"/>
                <a:cs typeface="Calibri" pitchFamily="34" charset="-120"/>
              </a:rPr>
              <a:t>Clarity of direction</a:t>
            </a:r>
            <a:endParaRPr lang="en-US" sz="2600" dirty="0"/>
          </a:p>
        </p:txBody>
      </p:sp>
      <p:sp>
        <p:nvSpPr>
          <p:cNvPr id="5" name="Shape 3"/>
          <p:cNvSpPr/>
          <p:nvPr/>
        </p:nvSpPr>
        <p:spPr>
          <a:xfrm>
            <a:off x="6172200" y="1554480"/>
            <a:ext cx="5440680" cy="822960"/>
          </a:xfrm>
          <a:prstGeom prst="roundRect">
            <a:avLst>
              <a:gd name="adj" fmla="val 11111"/>
            </a:avLst>
          </a:prstGeom>
          <a:solidFill>
            <a:srgbClr val="EEF4EF"/>
          </a:solidFill>
          <a:ln w="12700">
            <a:solidFill>
              <a:srgbClr val="EEF4EF"/>
            </a:solidFill>
            <a:prstDash val="solid"/>
          </a:ln>
        </p:spPr>
      </p:sp>
      <p:sp>
        <p:nvSpPr>
          <p:cNvPr id="6" name="Text 4"/>
          <p:cNvSpPr txBox="1"/>
          <p:nvPr/>
        </p:nvSpPr>
        <p:spPr>
          <a:xfrm>
            <a:off x="6400800" y="155448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CFO   </a:t>
            </a:r>
            <a:pPr indent="0" marL="0">
              <a:buNone/>
            </a:pPr>
            <a:r>
              <a:rPr lang="en-US" sz="2600" dirty="0">
                <a:solidFill>
                  <a:srgbClr val="1F2A22"/>
                </a:solidFill>
                <a:latin typeface="Calibri" pitchFamily="34" charset="0"/>
                <a:ea typeface="Calibri" pitchFamily="34" charset="-122"/>
                <a:cs typeface="Calibri" pitchFamily="34" charset="-120"/>
              </a:rPr>
              <a:t>Resource fairness</a:t>
            </a:r>
            <a:endParaRPr lang="en-US" sz="2600" dirty="0"/>
          </a:p>
        </p:txBody>
      </p:sp>
      <p:sp>
        <p:nvSpPr>
          <p:cNvPr id="7" name="Shape 5"/>
          <p:cNvSpPr/>
          <p:nvPr/>
        </p:nvSpPr>
        <p:spPr>
          <a:xfrm>
            <a:off x="548640" y="2514600"/>
            <a:ext cx="5440680" cy="822960"/>
          </a:xfrm>
          <a:prstGeom prst="roundRect">
            <a:avLst>
              <a:gd name="adj" fmla="val 11111"/>
            </a:avLst>
          </a:prstGeom>
          <a:solidFill>
            <a:srgbClr val="EEF4EF"/>
          </a:solidFill>
          <a:ln w="12700">
            <a:solidFill>
              <a:srgbClr val="EEF4EF"/>
            </a:solidFill>
            <a:prstDash val="solid"/>
          </a:ln>
        </p:spPr>
      </p:sp>
      <p:sp>
        <p:nvSpPr>
          <p:cNvPr id="8" name="Text 6"/>
          <p:cNvSpPr txBox="1"/>
          <p:nvPr/>
        </p:nvSpPr>
        <p:spPr>
          <a:xfrm>
            <a:off x="77724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COO   </a:t>
            </a:r>
            <a:pPr indent="0" marL="0">
              <a:buNone/>
            </a:pPr>
            <a:r>
              <a:rPr lang="en-US" sz="2600" dirty="0">
                <a:solidFill>
                  <a:srgbClr val="1F2A22"/>
                </a:solidFill>
                <a:latin typeface="Calibri" pitchFamily="34" charset="0"/>
                <a:ea typeface="Calibri" pitchFamily="34" charset="-122"/>
                <a:cs typeface="Calibri" pitchFamily="34" charset="-120"/>
              </a:rPr>
              <a:t>Operational clarity</a:t>
            </a:r>
            <a:endParaRPr lang="en-US" sz="2600" dirty="0"/>
          </a:p>
        </p:txBody>
      </p:sp>
      <p:sp>
        <p:nvSpPr>
          <p:cNvPr id="9" name="Shape 7"/>
          <p:cNvSpPr/>
          <p:nvPr/>
        </p:nvSpPr>
        <p:spPr>
          <a:xfrm>
            <a:off x="6172200" y="2514600"/>
            <a:ext cx="5440680" cy="822960"/>
          </a:xfrm>
          <a:prstGeom prst="roundRect">
            <a:avLst>
              <a:gd name="adj" fmla="val 11111"/>
            </a:avLst>
          </a:prstGeom>
          <a:solidFill>
            <a:srgbClr val="EEF4EF"/>
          </a:solidFill>
          <a:ln w="12700">
            <a:solidFill>
              <a:srgbClr val="EEF4EF"/>
            </a:solidFill>
            <a:prstDash val="solid"/>
          </a:ln>
        </p:spPr>
      </p:sp>
      <p:sp>
        <p:nvSpPr>
          <p:cNvPr id="10" name="Text 8"/>
          <p:cNvSpPr txBox="1"/>
          <p:nvPr/>
        </p:nvSpPr>
        <p:spPr>
          <a:xfrm>
            <a:off x="6400800" y="251460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CHRO   </a:t>
            </a:r>
            <a:pPr indent="0" marL="0">
              <a:buNone/>
            </a:pPr>
            <a:r>
              <a:rPr lang="en-US" sz="2600" dirty="0">
                <a:solidFill>
                  <a:srgbClr val="1F2A22"/>
                </a:solidFill>
                <a:latin typeface="Calibri" pitchFamily="34" charset="0"/>
                <a:ea typeface="Calibri" pitchFamily="34" charset="-122"/>
                <a:cs typeface="Calibri" pitchFamily="34" charset="-120"/>
              </a:rPr>
              <a:t>Psychological safety</a:t>
            </a:r>
            <a:endParaRPr lang="en-US" sz="2600" dirty="0"/>
          </a:p>
        </p:txBody>
      </p:sp>
      <p:sp>
        <p:nvSpPr>
          <p:cNvPr id="11" name="Shape 9"/>
          <p:cNvSpPr/>
          <p:nvPr/>
        </p:nvSpPr>
        <p:spPr>
          <a:xfrm>
            <a:off x="548640" y="3474720"/>
            <a:ext cx="5440680" cy="822960"/>
          </a:xfrm>
          <a:prstGeom prst="roundRect">
            <a:avLst>
              <a:gd name="adj" fmla="val 11111"/>
            </a:avLst>
          </a:prstGeom>
          <a:solidFill>
            <a:srgbClr val="EEF4EF"/>
          </a:solidFill>
          <a:ln w="12700">
            <a:solidFill>
              <a:srgbClr val="EEF4EF"/>
            </a:solidFill>
            <a:prstDash val="solid"/>
          </a:ln>
        </p:spPr>
      </p:sp>
      <p:sp>
        <p:nvSpPr>
          <p:cNvPr id="12" name="Text 10"/>
          <p:cNvSpPr txBox="1"/>
          <p:nvPr/>
        </p:nvSpPr>
        <p:spPr>
          <a:xfrm>
            <a:off x="77724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CTO/CIO   </a:t>
            </a:r>
            <a:pPr indent="0" marL="0">
              <a:buNone/>
            </a:pPr>
            <a:r>
              <a:rPr lang="en-US" sz="2600" dirty="0">
                <a:solidFill>
                  <a:srgbClr val="1F2A22"/>
                </a:solidFill>
                <a:latin typeface="Calibri" pitchFamily="34" charset="0"/>
                <a:ea typeface="Calibri" pitchFamily="34" charset="-122"/>
                <a:cs typeface="Calibri" pitchFamily="34" charset="-120"/>
              </a:rPr>
              <a:t>Productive technology</a:t>
            </a:r>
            <a:endParaRPr lang="en-US" sz="2600" dirty="0"/>
          </a:p>
        </p:txBody>
      </p:sp>
      <p:sp>
        <p:nvSpPr>
          <p:cNvPr id="13" name="Shape 11"/>
          <p:cNvSpPr/>
          <p:nvPr/>
        </p:nvSpPr>
        <p:spPr>
          <a:xfrm>
            <a:off x="6172200" y="3474720"/>
            <a:ext cx="5440680" cy="822960"/>
          </a:xfrm>
          <a:prstGeom prst="roundRect">
            <a:avLst>
              <a:gd name="adj" fmla="val 11111"/>
            </a:avLst>
          </a:prstGeom>
          <a:solidFill>
            <a:srgbClr val="EEF4EF"/>
          </a:solidFill>
          <a:ln w="12700">
            <a:solidFill>
              <a:srgbClr val="EEF4EF"/>
            </a:solidFill>
            <a:prstDash val="solid"/>
          </a:ln>
        </p:spPr>
      </p:sp>
      <p:sp>
        <p:nvSpPr>
          <p:cNvPr id="14" name="Text 12"/>
          <p:cNvSpPr txBox="1"/>
          <p:nvPr/>
        </p:nvSpPr>
        <p:spPr>
          <a:xfrm>
            <a:off x="6400800" y="347472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CMO   </a:t>
            </a:r>
            <a:pPr indent="0" marL="0">
              <a:buNone/>
            </a:pPr>
            <a:r>
              <a:rPr lang="en-US" sz="2600" dirty="0">
                <a:solidFill>
                  <a:srgbClr val="1F2A22"/>
                </a:solidFill>
                <a:latin typeface="Calibri" pitchFamily="34" charset="0"/>
                <a:ea typeface="Calibri" pitchFamily="34" charset="-122"/>
                <a:cs typeface="Calibri" pitchFamily="34" charset="-120"/>
              </a:rPr>
              <a:t>Purpose and meaning</a:t>
            </a:r>
            <a:endParaRPr lang="en-US" sz="2600" dirty="0"/>
          </a:p>
        </p:txBody>
      </p:sp>
      <p:sp>
        <p:nvSpPr>
          <p:cNvPr id="15" name="Shape 13"/>
          <p:cNvSpPr/>
          <p:nvPr/>
        </p:nvSpPr>
        <p:spPr>
          <a:xfrm>
            <a:off x="548640" y="4434840"/>
            <a:ext cx="5440680" cy="822960"/>
          </a:xfrm>
          <a:prstGeom prst="roundRect">
            <a:avLst>
              <a:gd name="adj" fmla="val 11111"/>
            </a:avLst>
          </a:prstGeom>
          <a:solidFill>
            <a:srgbClr val="EEF4EF"/>
          </a:solidFill>
          <a:ln w="12700">
            <a:solidFill>
              <a:srgbClr val="EEF4EF"/>
            </a:solidFill>
            <a:prstDash val="solid"/>
          </a:ln>
        </p:spPr>
      </p:sp>
      <p:sp>
        <p:nvSpPr>
          <p:cNvPr id="16" name="Text 14"/>
          <p:cNvSpPr txBox="1"/>
          <p:nvPr/>
        </p:nvSpPr>
        <p:spPr>
          <a:xfrm>
            <a:off x="77724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CCO   </a:t>
            </a:r>
            <a:pPr indent="0" marL="0">
              <a:buNone/>
            </a:pPr>
            <a:r>
              <a:rPr lang="en-US" sz="2600" dirty="0">
                <a:solidFill>
                  <a:srgbClr val="1F2A22"/>
                </a:solidFill>
                <a:latin typeface="Calibri" pitchFamily="34" charset="0"/>
                <a:ea typeface="Calibri" pitchFamily="34" charset="-122"/>
                <a:cs typeface="Calibri" pitchFamily="34" charset="-120"/>
              </a:rPr>
              <a:t>Commercial team health</a:t>
            </a:r>
            <a:endParaRPr lang="en-US" sz="2600" dirty="0"/>
          </a:p>
        </p:txBody>
      </p:sp>
      <p:sp>
        <p:nvSpPr>
          <p:cNvPr id="17" name="Shape 15"/>
          <p:cNvSpPr/>
          <p:nvPr/>
        </p:nvSpPr>
        <p:spPr>
          <a:xfrm>
            <a:off x="6172200" y="4434840"/>
            <a:ext cx="5440680" cy="822960"/>
          </a:xfrm>
          <a:prstGeom prst="roundRect">
            <a:avLst>
              <a:gd name="adj" fmla="val 11111"/>
            </a:avLst>
          </a:prstGeom>
          <a:solidFill>
            <a:srgbClr val="EEF4EF"/>
          </a:solidFill>
          <a:ln w="12700">
            <a:solidFill>
              <a:srgbClr val="EEF4EF"/>
            </a:solidFill>
            <a:prstDash val="solid"/>
          </a:ln>
        </p:spPr>
      </p:sp>
      <p:sp>
        <p:nvSpPr>
          <p:cNvPr id="18" name="Text 16"/>
          <p:cNvSpPr txBox="1"/>
          <p:nvPr/>
        </p:nvSpPr>
        <p:spPr>
          <a:xfrm>
            <a:off x="6400800" y="443484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CPO   </a:t>
            </a:r>
            <a:pPr indent="0" marL="0">
              <a:buNone/>
            </a:pPr>
            <a:r>
              <a:rPr lang="en-US" sz="2600" dirty="0">
                <a:solidFill>
                  <a:srgbClr val="1F2A22"/>
                </a:solidFill>
                <a:latin typeface="Calibri" pitchFamily="34" charset="0"/>
                <a:ea typeface="Calibri" pitchFamily="34" charset="-122"/>
                <a:cs typeface="Calibri" pitchFamily="34" charset="-120"/>
              </a:rPr>
              <a:t>Operational fairness</a:t>
            </a:r>
            <a:endParaRPr lang="en-US" sz="2600" dirty="0"/>
          </a:p>
        </p:txBody>
      </p:sp>
      <p:sp>
        <p:nvSpPr>
          <p:cNvPr id="19" name="Shape 17"/>
          <p:cNvSpPr/>
          <p:nvPr/>
        </p:nvSpPr>
        <p:spPr>
          <a:xfrm>
            <a:off x="548640" y="5394960"/>
            <a:ext cx="5440680" cy="822960"/>
          </a:xfrm>
          <a:prstGeom prst="roundRect">
            <a:avLst>
              <a:gd name="adj" fmla="val 11111"/>
            </a:avLst>
          </a:prstGeom>
          <a:solidFill>
            <a:srgbClr val="EEF4EF"/>
          </a:solidFill>
          <a:ln w="12700">
            <a:solidFill>
              <a:srgbClr val="EEF4EF"/>
            </a:solidFill>
            <a:prstDash val="solid"/>
          </a:ln>
        </p:spPr>
      </p:sp>
      <p:sp>
        <p:nvSpPr>
          <p:cNvPr id="20" name="Text 18"/>
          <p:cNvSpPr txBox="1"/>
          <p:nvPr/>
        </p:nvSpPr>
        <p:spPr>
          <a:xfrm>
            <a:off x="77724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CRO   </a:t>
            </a:r>
            <a:pPr indent="0" marL="0">
              <a:buNone/>
            </a:pPr>
            <a:r>
              <a:rPr lang="en-US" sz="2600" dirty="0">
                <a:solidFill>
                  <a:srgbClr val="1F2A22"/>
                </a:solidFill>
                <a:latin typeface="Calibri" pitchFamily="34" charset="0"/>
                <a:ea typeface="Calibri" pitchFamily="34" charset="-122"/>
                <a:cs typeface="Calibri" pitchFamily="34" charset="-120"/>
              </a:rPr>
              <a:t>Safety to raise risks</a:t>
            </a:r>
            <a:endParaRPr lang="en-US" sz="2600" dirty="0"/>
          </a:p>
        </p:txBody>
      </p:sp>
      <p:sp>
        <p:nvSpPr>
          <p:cNvPr id="21" name="Shape 19"/>
          <p:cNvSpPr/>
          <p:nvPr/>
        </p:nvSpPr>
        <p:spPr>
          <a:xfrm>
            <a:off x="6172200" y="5394960"/>
            <a:ext cx="5440680" cy="822960"/>
          </a:xfrm>
          <a:prstGeom prst="roundRect">
            <a:avLst>
              <a:gd name="adj" fmla="val 11111"/>
            </a:avLst>
          </a:prstGeom>
          <a:solidFill>
            <a:srgbClr val="EEF4EF"/>
          </a:solidFill>
          <a:ln w="12700">
            <a:solidFill>
              <a:srgbClr val="EEF4EF"/>
            </a:solidFill>
            <a:prstDash val="solid"/>
          </a:ln>
        </p:spPr>
      </p:sp>
      <p:sp>
        <p:nvSpPr>
          <p:cNvPr id="22" name="Text 20"/>
          <p:cNvSpPr txBox="1"/>
          <p:nvPr/>
        </p:nvSpPr>
        <p:spPr>
          <a:xfrm>
            <a:off x="6400800" y="5394960"/>
            <a:ext cx="5029200" cy="82296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CSO   </a:t>
            </a:r>
            <a:pPr indent="0" marL="0">
              <a:buNone/>
            </a:pPr>
            <a:r>
              <a:rPr lang="en-US" sz="2600" dirty="0">
                <a:solidFill>
                  <a:srgbClr val="1F2A22"/>
                </a:solidFill>
                <a:latin typeface="Calibri" pitchFamily="34" charset="0"/>
                <a:ea typeface="Calibri" pitchFamily="34" charset="-122"/>
                <a:cs typeface="Calibri" pitchFamily="34" charset="-120"/>
              </a:rPr>
              <a:t>Strategic coherence</a:t>
            </a:r>
            <a:endParaRPr lang="en-US" sz="2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A5C2C"/>
        </a:solidFill>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indent="0" marL="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indent="0" marL="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indent="0" marL="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indent="0" marL="0">
              <a:buNone/>
            </a:pPr>
            <a:r>
              <a:rPr lang="en-US" sz="2600" i="1" dirty="0">
                <a:solidFill>
                  <a:srgbClr val="DDE8DF"/>
                </a:solidFill>
                <a:latin typeface="Calibri" pitchFamily="34" charset="0"/>
                <a:ea typeface="Calibri" pitchFamily="34" charset="-122"/>
                <a:cs typeface="Calibri" pitchFamily="34" charset="-120"/>
              </a:rPr>
              <a:t>ACE-IT as a Coaching Model</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indent="0" marL="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sp>
      <p:pic>
        <p:nvPicPr>
          <p:cNvPr id="8" name="Image 0" descr="preencoded.png">    </p:cNvPr>
          <p:cNvPicPr>
            <a:picLocks noChangeAspect="1"/>
          </p:cNvPicPr>
          <p:nvPr/>
        </p:nvPicPr>
        <p:blipFill>
          <a:blip r:embed="rId1"/>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Prepare and conduct a coaching conversation that restores healthy leadership conduct.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sp>
      <p:pic>
        <p:nvPicPr>
          <p:cNvPr id="11" name="Image 1" descr="preencoded.png">    </p:cNvPr>
          <p:cNvPicPr>
            <a:picLocks noChangeAspect="1"/>
          </p:cNvPicPr>
          <p:nvPr/>
        </p:nvPicPr>
        <p:blipFill>
          <a:blip r:embed="rId2"/>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Commit to a specific coaching conversation with a named person, topic and date.</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5.1 · Choose your scenario</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14400" y="1874520"/>
            <a:ext cx="274320" cy="274320"/>
          </a:xfrm>
          <a:prstGeom prst="rect">
            <a:avLst/>
          </a:prstGeom>
        </p:spPr>
      </p:pic>
      <p:sp>
        <p:nvSpPr>
          <p:cNvPr id="6" name="Text 3"/>
          <p:cNvSpPr txBox="1"/>
          <p:nvPr/>
        </p:nvSpPr>
        <p:spPr>
          <a:xfrm>
            <a:off x="1508760"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1 · The Corridor Consensus</a:t>
            </a:r>
            <a:endParaRPr lang="en-US" sz="2600" dirty="0"/>
          </a:p>
        </p:txBody>
      </p:sp>
      <p:sp>
        <p:nvSpPr>
          <p:cNvPr id="7" name="Text 4"/>
          <p:cNvSpPr txBox="1"/>
          <p:nvPr/>
        </p:nvSpPr>
        <p:spPr>
          <a:xfrm>
            <a:off x="777240"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David · Minimal Politics, Minimal Confusion</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2 · The Confusion Spiral</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Priya · Minimal Confusion, High Productivity</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sp>
      <p:pic>
        <p:nvPicPr>
          <p:cNvPr id="15" name="Image 2" descr="preencoded.png">    </p:cNvPr>
          <p:cNvPicPr>
            <a:picLocks noChangeAspect="1"/>
          </p:cNvPicPr>
          <p:nvPr/>
        </p:nvPicPr>
        <p:blipFill>
          <a:blip r:embed="rId3"/>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3 · The Quiet Exit</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James · High Morale, Low Turnover</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sp>
      <p:pic>
        <p:nvPicPr>
          <p:cNvPr id="20" name="Image 3" descr="preencoded.png">    </p:cNvPr>
          <p:cNvPicPr>
            <a:picLocks noChangeAspect="1"/>
          </p:cNvPicPr>
          <p:nvPr/>
        </p:nvPicPr>
        <p:blipFill>
          <a:blip r:embed="rId4"/>
          <a:stretch>
            <a:fillRect/>
          </a:stretch>
        </p:blipFill>
        <p:spPr>
          <a:xfrm>
            <a:off x="6597396" y="4434840"/>
            <a:ext cx="274320" cy="274320"/>
          </a:xfrm>
          <a:prstGeom prst="rect">
            <a:avLst/>
          </a:prstGeom>
        </p:spPr>
      </p:pic>
      <p:sp>
        <p:nvSpPr>
          <p:cNvPr id="21" name="Text 15"/>
          <p:cNvSpPr txBox="1"/>
          <p:nvPr/>
        </p:nvSpPr>
        <p:spPr>
          <a:xfrm>
            <a:off x="7191756" y="4251960"/>
            <a:ext cx="4219956" cy="640080"/>
          </a:xfrm>
          <a:prstGeom prst="rect">
            <a:avLst/>
          </a:prstGeom>
          <a:noFill/>
          <a:ln/>
        </p:spPr>
        <p:txBody>
          <a:bodyPr wrap="square" lIns="0" tIns="0" rIns="0" bIns="0" rtlCol="0" anchor="ctr"/>
          <a:lstStyle/>
          <a:p>
            <a:pPr indent="0" marL="0">
              <a:buNone/>
            </a:pPr>
            <a:r>
              <a:rPr lang="en-US" sz="2600" b="1" dirty="0">
                <a:solidFill>
                  <a:srgbClr val="1A5C2C"/>
                </a:solidFill>
                <a:latin typeface="Cambria" pitchFamily="34" charset="0"/>
                <a:ea typeface="Cambria" pitchFamily="34" charset="-122"/>
                <a:cs typeface="Cambria" pitchFamily="34" charset="-120"/>
              </a:rPr>
              <a:t>4 · The Execution Drag</a:t>
            </a:r>
            <a:endParaRPr lang="en-US" sz="2600" dirty="0"/>
          </a:p>
        </p:txBody>
      </p:sp>
      <p:sp>
        <p:nvSpPr>
          <p:cNvPr id="22" name="Text 16"/>
          <p:cNvSpPr txBox="1"/>
          <p:nvPr/>
        </p:nvSpPr>
        <p:spPr>
          <a:xfrm>
            <a:off x="6460236" y="5029200"/>
            <a:ext cx="4951476" cy="1188720"/>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Fatima · High Productivity, Minimal Politics</a:t>
            </a:r>
            <a:endParaRPr lang="en-US" sz="2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5.2 · The ACE-IT Coaching Protocol</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sp>
      <p:pic>
        <p:nvPicPr>
          <p:cNvPr id="4" name="Image 0" descr="preencoded.png">    </p:cNvPr>
          <p:cNvPicPr>
            <a:picLocks noChangeAspect="1"/>
          </p:cNvPicPr>
          <p:nvPr/>
        </p:nvPicPr>
        <p:blipFill>
          <a:blip r:embed="rId1"/>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A · Accountability  </a:t>
            </a:r>
            <a:pPr indent="0" marL="0">
              <a:buNone/>
            </a:pPr>
            <a:r>
              <a:rPr lang="en-US" sz="2400" dirty="0">
                <a:solidFill>
                  <a:srgbClr val="1F2A22"/>
                </a:solidFill>
                <a:latin typeface="Calibri" pitchFamily="34" charset="0"/>
                <a:ea typeface="Calibri" pitchFamily="34" charset="-122"/>
                <a:cs typeface="Calibri" pitchFamily="34" charset="-120"/>
              </a:rPr>
              <a:t>own the conversation first</a:t>
            </a:r>
            <a:endParaRPr lang="en-US" sz="24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sp>
      <p:pic>
        <p:nvPicPr>
          <p:cNvPr id="7" name="Image 1" descr="preencoded.png">    </p:cNvPr>
          <p:cNvPicPr>
            <a:picLocks noChangeAspect="1"/>
          </p:cNvPicPr>
          <p:nvPr/>
        </p:nvPicPr>
        <p:blipFill>
          <a:blip r:embed="rId2"/>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C · Commitment  </a:t>
            </a:r>
            <a:pPr indent="0" marL="0">
              <a:buNone/>
            </a:pPr>
            <a:r>
              <a:rPr lang="en-US" sz="2400" dirty="0">
                <a:solidFill>
                  <a:srgbClr val="1F2A22"/>
                </a:solidFill>
                <a:latin typeface="Calibri" pitchFamily="34" charset="0"/>
                <a:ea typeface="Calibri" pitchFamily="34" charset="-122"/>
                <a:cs typeface="Calibri" pitchFamily="34" charset="-120"/>
              </a:rPr>
              <a:t>ask for something real</a:t>
            </a:r>
            <a:endParaRPr lang="en-US" sz="24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sp>
      <p:pic>
        <p:nvPicPr>
          <p:cNvPr id="10" name="Image 2" descr="preencoded.png">    </p:cNvPr>
          <p:cNvPicPr>
            <a:picLocks noChangeAspect="1"/>
          </p:cNvPicPr>
          <p:nvPr/>
        </p:nvPicPr>
        <p:blipFill>
          <a:blip r:embed="rId3"/>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E · Engagement  </a:t>
            </a:r>
            <a:pPr indent="0" marL="0">
              <a:buNone/>
            </a:pPr>
            <a:r>
              <a:rPr lang="en-US" sz="2400" dirty="0">
                <a:solidFill>
                  <a:srgbClr val="1F2A22"/>
                </a:solidFill>
                <a:latin typeface="Calibri" pitchFamily="34" charset="0"/>
                <a:ea typeface="Calibri" pitchFamily="34" charset="-122"/>
                <a:cs typeface="Calibri" pitchFamily="34" charset="-120"/>
              </a:rPr>
              <a:t>create the conditions for honesty</a:t>
            </a:r>
            <a:endParaRPr lang="en-US" sz="24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sp>
      <p:pic>
        <p:nvPicPr>
          <p:cNvPr id="13" name="Image 3" descr="preencoded.png">    </p:cNvPr>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I · Integrity  </a:t>
            </a:r>
            <a:pPr indent="0" marL="0">
              <a:buNone/>
            </a:pPr>
            <a:r>
              <a:rPr lang="en-US" sz="2400" dirty="0">
                <a:solidFill>
                  <a:srgbClr val="1F2A22"/>
                </a:solidFill>
                <a:latin typeface="Calibri" pitchFamily="34" charset="0"/>
                <a:ea typeface="Calibri" pitchFamily="34" charset="-122"/>
                <a:cs typeface="Calibri" pitchFamily="34" charset="-120"/>
              </a:rPr>
              <a:t>say the honest thing</a:t>
            </a:r>
            <a:endParaRPr lang="en-US" sz="2400" dirty="0"/>
          </a:p>
        </p:txBody>
      </p:sp>
      <p:sp>
        <p:nvSpPr>
          <p:cNvPr id="15" name="Shape 9"/>
          <p:cNvSpPr/>
          <p:nvPr/>
        </p:nvSpPr>
        <p:spPr>
          <a:xfrm>
            <a:off x="548640" y="5591556"/>
            <a:ext cx="640080" cy="640080"/>
          </a:xfrm>
          <a:prstGeom prst="ellipse">
            <a:avLst/>
          </a:prstGeom>
          <a:solidFill>
            <a:srgbClr val="C6A24C"/>
          </a:solidFill>
          <a:ln w="12700">
            <a:solidFill>
              <a:srgbClr val="C6A24C"/>
            </a:solidFill>
            <a:prstDash val="solid"/>
          </a:ln>
        </p:spPr>
      </p:sp>
      <p:pic>
        <p:nvPicPr>
          <p:cNvPr id="16" name="Image 4" descr="preencoded.png">    </p:cNvPr>
          <p:cNvPicPr>
            <a:picLocks noChangeAspect="1"/>
          </p:cNvPicPr>
          <p:nvPr/>
        </p:nvPicPr>
        <p:blipFill>
          <a:blip r:embed="rId5"/>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indent="0" marL="0">
              <a:buNone/>
            </a:pPr>
            <a:r>
              <a:rPr lang="en-US" sz="2400" b="1" dirty="0">
                <a:solidFill>
                  <a:srgbClr val="1A5C2C"/>
                </a:solidFill>
                <a:latin typeface="Cambria" pitchFamily="34" charset="0"/>
                <a:ea typeface="Cambria" pitchFamily="34" charset="-122"/>
                <a:cs typeface="Cambria" pitchFamily="34" charset="-120"/>
              </a:rPr>
              <a:t>T · Transparency  </a:t>
            </a:r>
            <a:pPr indent="0" marL="0">
              <a:buNone/>
            </a:pPr>
            <a:r>
              <a:rPr lang="en-US" sz="2400" dirty="0">
                <a:solidFill>
                  <a:srgbClr val="1F2A22"/>
                </a:solidFill>
                <a:latin typeface="Calibri" pitchFamily="34" charset="0"/>
                <a:ea typeface="Calibri" pitchFamily="34" charset="-122"/>
                <a:cs typeface="Calibri" pitchFamily="34" charset="-120"/>
              </a:rPr>
              <a:t>share your context</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3600" b="1" dirty="0">
                <a:solidFill>
                  <a:srgbClr val="1A5C2C"/>
                </a:solidFill>
                <a:latin typeface="Cambria" pitchFamily="34" charset="0"/>
                <a:ea typeface="Cambria" pitchFamily="34" charset="-122"/>
                <a:cs typeface="Cambria" pitchFamily="34" charset="-120"/>
              </a:rPr>
              <a:t>5.3 · The exercise: 40 minutes</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sp>
      <p:pic>
        <p:nvPicPr>
          <p:cNvPr id="5" name="Image 0" descr="preencoded.png">    </p:cNvPr>
          <p:cNvPicPr>
            <a:picLocks noChangeAspect="1"/>
          </p:cNvPicPr>
          <p:nvPr/>
        </p:nvPicPr>
        <p:blipFill>
          <a:blip r:embed="rId1"/>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Part 1 · 10 min</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Choose and prepare</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sp>
      <p:pic>
        <p:nvPicPr>
          <p:cNvPr id="10" name="Image 1" descr="preencoded.png">    </p:cNvPr>
          <p:cNvPicPr>
            <a:picLocks noChangeAspect="1"/>
          </p:cNvPicPr>
          <p:nvPr/>
        </p:nvPicPr>
        <p:blipFill>
          <a:blip r:embed="rId2"/>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indent="0" marL="0">
              <a:buNone/>
            </a:pPr>
            <a:r>
              <a:rPr lang="en-US" sz="2600" b="1" dirty="0">
                <a:solidFill>
                  <a:srgbClr val="1A5C2C"/>
                </a:solidFill>
                <a:latin typeface="Cambria" pitchFamily="34" charset="0"/>
                <a:ea typeface="Cambria" pitchFamily="34" charset="-122"/>
                <a:cs typeface="Cambria" pitchFamily="34" charset="-120"/>
              </a:rPr>
              <a:t>Part 2 · 20 min</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indent="0" marL="0">
              <a:buNone/>
            </a:pPr>
            <a:r>
              <a:rPr lang="en-US" sz="2400" dirty="0">
                <a:solidFill>
                  <a:srgbClr val="1F2A22"/>
                </a:solidFill>
                <a:latin typeface="Calibri" pitchFamily="34" charset="0"/>
                <a:ea typeface="Calibri" pitchFamily="34" charset="-122"/>
                <a:cs typeface="Calibri" pitchFamily="34" charset="-120"/>
              </a:rPr>
              <a:t>Coach in pairs</a:t>
            </a:r>
            <a:endParaRPr lang="en-US" sz="2400" dirty="0"/>
          </a:p>
        </p:txBody>
      </p:sp>
      <p:sp>
        <p:nvSpPr>
          <p:cNvPr id="13" name="Shape 9"/>
          <p:cNvSpPr/>
          <p:nvPr/>
        </p:nvSpPr>
        <p:spPr>
          <a:xfrm>
            <a:off x="8125968" y="1508760"/>
            <a:ext cx="3514344" cy="3931920"/>
          </a:xfrm>
          <a:prstGeom prst="roundRect">
            <a:avLst>
              <a:gd name="adj" fmla="val 2602"/>
            </a:avLst>
          </a:prstGeom>
          <a:solidFill>
            <a:srgbClr val="1A5C2C"/>
          </a:solidFill>
          <a:ln w="12700">
            <a:solidFill>
              <a:srgbClr val="1A5C2C"/>
            </a:solidFill>
            <a:prstDash val="solid"/>
          </a:ln>
        </p:spPr>
      </p:sp>
      <p:sp>
        <p:nvSpPr>
          <p:cNvPr id="14" name="Shape 10"/>
          <p:cNvSpPr/>
          <p:nvPr/>
        </p:nvSpPr>
        <p:spPr>
          <a:xfrm>
            <a:off x="8354568" y="1737360"/>
            <a:ext cx="640080" cy="640080"/>
          </a:xfrm>
          <a:prstGeom prst="ellipse">
            <a:avLst/>
          </a:prstGeom>
          <a:solidFill>
            <a:srgbClr val="C6A24C"/>
          </a:solidFill>
          <a:ln w="12700">
            <a:solidFill>
              <a:srgbClr val="C6A24C"/>
            </a:solidFill>
            <a:prstDash val="solid"/>
          </a:ln>
        </p:spPr>
      </p:sp>
      <p:pic>
        <p:nvPicPr>
          <p:cNvPr id="15" name="Image 2" descr="preencoded.png">    </p:cNvPr>
          <p:cNvPicPr>
            <a:picLocks noChangeAspect="1"/>
          </p:cNvPicPr>
          <p:nvPr/>
        </p:nvPicPr>
        <p:blipFill>
          <a:blip r:embed="rId3"/>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Part 3 · 10 min</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indent="0" marL="0">
              <a:buNone/>
            </a:pPr>
            <a:r>
              <a:rPr lang="en-US" sz="2400" dirty="0">
                <a:solidFill>
                  <a:srgbClr val="FFFFFF"/>
                </a:solidFill>
                <a:latin typeface="Calibri" pitchFamily="34" charset="0"/>
                <a:ea typeface="Calibri" pitchFamily="34" charset="-122"/>
                <a:cs typeface="Calibri" pitchFamily="34" charset="-120"/>
              </a:rPr>
              <a:t>Debrief in the room</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sp>
      <p:sp>
        <p:nvSpPr>
          <p:cNvPr id="19" name="Text 14"/>
          <p:cNvSpPr txBox="1"/>
          <p:nvPr/>
        </p:nvSpPr>
        <p:spPr>
          <a:xfrm>
            <a:off x="822960" y="5623560"/>
            <a:ext cx="10607040" cy="777240"/>
          </a:xfrm>
          <a:prstGeom prst="rect">
            <a:avLst/>
          </a:prstGeom>
          <a:noFill/>
          <a:ln/>
        </p:spPr>
        <p:txBody>
          <a:bodyPr wrap="square" lIns="0" tIns="0" rIns="0" bIns="0" rtlCol="0" anchor="ctr"/>
          <a:lstStyle/>
          <a:p>
            <a:pPr indent="0" marL="0">
              <a:buNone/>
            </a:pPr>
            <a:r>
              <a:rPr lang="en-US" sz="2400" i="1" dirty="0">
                <a:solidFill>
                  <a:srgbClr val="FFFFFF"/>
                </a:solidFill>
                <a:latin typeface="Calibri" pitchFamily="34" charset="0"/>
                <a:ea typeface="Calibri" pitchFamily="34" charset="-122"/>
                <a:cs typeface="Calibri" pitchFamily="34" charset="-120"/>
              </a:rPr>
              <a:t>Did you say the honest thing? Go again and say it without softening.</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Debrief in the room</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“Which ACE-IT behaviour did you find easiest to apply — and which did you abandon or soften?”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“The conversation I am committing to have is with [role], about [topic], before [date].”</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F3B1C"/>
        </a:solidFill>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sp>
      <p:pic>
        <p:nvPicPr>
          <p:cNvPr id="3" name="Image 0" descr="preencoded.png">    </p:cNvPr>
          <p:cNvPicPr>
            <a:picLocks noChangeAspect="1"/>
          </p:cNvPicPr>
          <p:nvPr/>
        </p:nvPicPr>
        <p:blipFill>
          <a:blip r:embed="rId1"/>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indent="0" marL="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indent="0" marL="0">
              <a:buNone/>
            </a:pPr>
            <a:r>
              <a:rPr lang="en-US" sz="3600" i="1" dirty="0">
                <a:solidFill>
                  <a:srgbClr val="FFFFFF"/>
                </a:solidFill>
                <a:latin typeface="Cambria" pitchFamily="34" charset="0"/>
                <a:ea typeface="Cambria" pitchFamily="34" charset="-122"/>
                <a:cs typeface="Cambria" pitchFamily="34" charset="-120"/>
              </a:rPr>
              <a:t>Organisational health is where the entire S2R® programme finds its human foundation.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indent="0" marL="0">
              <a:buNone/>
            </a:pPr>
            <a:r>
              <a:rPr lang="en-US" sz="2400" dirty="0">
                <a:solidFill>
                  <a:srgbClr val="DDE8DF"/>
                </a:solidFill>
                <a:latin typeface="Calibri" pitchFamily="34" charset="0"/>
                <a:ea typeface="Calibri" pitchFamily="34" charset="-122"/>
                <a:cs typeface="Calibri" pitchFamily="34" charset="-120"/>
              </a:rPr>
              <a:t>Direction without health produces strategies that no one believes in.</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11 · Culture Reinforcement &amp; Organisational Health</dc:title>
  <dc:subject>PptxGenJS Presentation</dc:subject>
  <dc:creator>Institute of Behavioural Strategy &amp; Leadership</dc:creator>
  <cp:lastModifiedBy>Institute of Behavioural Strategy &amp; Leadership</cp:lastModifiedBy>
  <cp:revision>1</cp:revision>
  <dcterms:created xsi:type="dcterms:W3CDTF">2026-09-29T13:20:49Z</dcterms:created>
  <dcterms:modified xsi:type="dcterms:W3CDTF">2026-09-29T13:20:49Z</dcterms:modified>
</cp:coreProperties>
</file>