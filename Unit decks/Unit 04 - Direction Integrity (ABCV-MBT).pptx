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4 · DIRECTION INTEGRITY (ABCV-MBT)
Module 2 · Direction · Unit 4
Unit intent (Facilitator Guide):
Unit 4 tests whether the chosen direction is strategically sound. The four ABCV checkpoints (Arena, Boundaries, Competition and Value Proposition) and their Must-Be-True conditions turn assumptions into named, verifiable conditions with owners.
The ABCV–MBT Working Papers in Section 4 and the diagnosis exercise in Section 5 carry the unit. Insist on specific conditions and named owners.
Unit overview (facilitator file): Ensuring OKRs are anchored in customer reality, resilient to operational friction, and coherent with your organisation’s unique value before execution begins.
Time: section timings in the facilitator file add up to 120–150 minutes (about 2 to 2.5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evaluate the coherence and credibility of the organisation’s strategic direction.
2. Appraise the assumptions, dependencies and uncertainties that influence the viability of strategic choices.
3. Judge the extent to which strategic priorities are differentiated, internally consistent and responsive to the operating environment.
4. Demonstrate executive confidence and collective accountability for the integrity of the chosen direction.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20–25 minutes
- Section 2 · Intelligence — Why: 20–25 minutes
- Section 3 · Extrapolating — Where: 20–25 minutes
- Section 4 · Integration — Collective: 40–50 minutes
- Section 5 · Application — In Practice: 20–25 minutes
Key Facilitation Questions
“What is your current strategy assuming about customers that nobody has verified?”
“Who else solves your customer’s problem, including those outside your industry?”
“Which ABCV checkpoint is your executive function least likely to examine? What risk does that create for the enterprise?”
“What is the one Must-Be-True condition your team is most likely to avoid naming, and who will verify it before the next strategic review?”
Tone &amp; Watch Points
Watch for: Must-Be-True conditions written as risks or concerns. Each must be a condition that is either true or false.
Watch for: competition defined as industry rivals only. Push for every alternative the customer can choose, including doing nothing.
Close: reserve the final minutes for the unnamed Must-Be-True question above. A named owner and date are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are the ABCV–MBT Integrity Checkpoints?
Interrogative Anchor · Leaders have defined their OKRs. Now the question is whether they are strategically sound. The ABCV–MBT framework is the stress test for reality.
Section learning outcomes:
1. Recognise why well-formulated objectives can still lack strategic credibility.
2. Distinguish objectives that are measurable from those that are strategically coherent.
FACILITATOR GUIDANCE — Section 1 · Awareness
Section intent: This opening section introduces the ABCV–MBT framework as a strategic integrity filter. Create a felt sense of productive discomfort: "Are our OKRs actually grounded in reality?" Leaders must feel the danger of unnamed assumptions before they can value the discipline of naming them.
Opening frame: Before content, ask: "How many of you have experienced a well-crafted strategy that fell apart once execution started because of assumptions we hadn't named until they broke?" Pause. Use the silence. Then introduce ABCV–MBT as the tool that names those invisible assumptions before they become expensive failures.
On the checkpoint cards: Invite leaders to expand each card and pause on the MBT condition. Ask them to mentally apply it to one of their own Key Results before the group moves on. Suggested section time: 20–25 minutes.</a:t>
            </a:r>
            <a:endParaRPr lang="en-US" dirty="0"/>
          </a:p>
          <a:p/>
          <a:p>
            <a:r>
              <a:t>Source detail (S2R® manuscript):</a:t>
            </a:r>
          </a:p>
          <a:p/>
          <a:p>
            <a:r>
              <a:t>What this section covers: The section breaks down a two-part framework designed to audit strategic integrity.</a:t>
            </a:r>
          </a:p>
          <a:p>
            <a:r>
              <a:t>ABCV (the strategic checkpoints): a structure used to interrogate the strategy through four critical dimensions: Arena, Boundaries, Competition and Value Proposition.</a:t>
            </a:r>
          </a:p>
          <a:p>
            <a:r>
              <a:t>MBT (Must-Be-True conditions): for every checkpoint, leaders must name the specific condition that must remain true for the goal to succeed. If an MBT condition weakens, the strategy is at risk.</a:t>
            </a:r>
          </a:p>
          <a:p/>
          <a:p>
            <a:r>
              <a:t>The final outcome: The purpose of the Awareness stage is to ensure that strategic priorities are:</a:t>
            </a:r>
          </a:p>
          <a:p>
            <a:r>
              <a:t>- Anchored in customer reality.</a:t>
            </a:r>
          </a:p>
          <a:p>
            <a:r>
              <a:t>- Designed to withstand operational constraints.</a:t>
            </a:r>
          </a:p>
          <a:p>
            <a:r>
              <a:t>- Positioned accurately against the competitive landscape.</a:t>
            </a:r>
          </a:p>
          <a:p>
            <a:r>
              <a:t>- Coherent with the organisation’s core value.</a:t>
            </a:r>
          </a:p>
          <a:p>
            <a:r>
              <a:t>By naming these conditions early, leaders create an early-warning system that allows them to detect risks and pivot before a “well-written ambition” collapses under the weight of reality.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PROBLEM WITH WELL-WRITTEN OKRS (Strategic Context)
FACILITATOR GUIDANCE — Section 1
Key message: Most strategies fail from unnamed conditions. The cost of discovering those conditions during execution is exponentially higher than naming them now.
Discussion prompt: "Think of a goal that failed in your organisation. Was it a lack of effort, or was there an assumption that turned out to be wrong — one you didn't name until it broke?" Suggested time: 5–7 minutes.
Content:
The leaders have done the hard work of defining what 'Success in Practice' looks like. They have translated those visions into OKRs that look great on paper — measurable, ambitious, and with deadlines.
The next step is to move past 'well-written' OKRs and ask: are they strategically sound?
Most strategies fail because of 'unnamed conditions.' We often build our goals on a bed of invisible assumptions that we only discover once execution begins and things start to break. By then, the cost of correction is massive.
The ABCV–MBT framework is the 'stress test' for reality. ABCV gives the interrogation structure — the four checkpoints of strategy. MBT (Must-Be-True) forces leaders to name the 'load-bearing walls' of their goals. For every checkpoint, leaders must identify the specific condition that must remain true for their Key Result to survive. This ensures OKRs are anchored in the real world.
The ABCV–MBT Checkpoints serve as a strategic early-warning system. By surfacing conditions now, we plan for success and build the resilience to handle the moment the world changes.
Participant file (1.1 — The Problem with Well-Written OKRs) — prompts participants complete:
- ✎ Reflection Think of a current strategic objective your organisation is pursuing. What is it assuming about the world that has not yet been verified?</a:t>
            </a:r>
            <a:endParaRPr lang="en-US" dirty="0"/>
          </a:p>
          <a:p/>
          <a:p>
            <a:r>
              <a:t>Source detail (S2R® manuscript):</a:t>
            </a:r>
          </a:p>
          <a:p/>
          <a:p>
            <a:r>
              <a:t>Abbreviation: “Success in Practice” is shortened to SiP.</a:t>
            </a:r>
          </a:p>
          <a:p>
            <a:r>
              <a:t>Fragile by design: If one of the Must-Be-True conditions shifts or fails, the Key Result becomes fragile by design. The discipline goes beyond ticking boxes: it ensures the OKRs are anchored in the real world, where customers are fickle, friction is real, and the competition is rarely who you think it is.</a:t>
            </a:r>
          </a:p>
          <a:p>
            <a:r>
              <a:t>What the early-warning system protects: The checkpoints ensure our priorities are deeply integrated into the customer’s reality and the organisation’s unique strengths, so that they are more than “to-do lists” with numbers attached.</a:t>
            </a:r>
          </a:p>
          <a:p/>
          <a:p>
            <a:r>
              <a:t>Professional insights:</a:t>
            </a:r>
          </a:p>
          <a:p/>
          <a:p>
            <a:r>
              <a:t>Unnamed conditions: A sound strategy fails when internal reality does not match stated intent. Until the hidden misalignment is dealt with, no amount of planning produces the result. Address what is blocking forward movement before improving the plan.</a:t>
            </a:r>
          </a:p>
          <a:p>
            <a:r>
              <a:t>Source: Journal, 6 April 2026 — Professional Insights: Strategy</a:t>
            </a:r>
          </a:p>
          <a:p/>
          <a:p>
            <a:r>
              <a:t>Uncomfortably specific: A senior team often resists strategic clarity because the direction is uncomfortably specific. The reluctance is personal more than analytical. Ask: which piece of strategic direction is your function hiding from?</a:t>
            </a:r>
          </a:p>
          <a:p>
            <a:r>
              <a:t>Source: Journal, 9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FOUR ABCV INTEGRITY CHECKPOINTS (Click Each Checkpoint)
FACILITATOR GUIDANCE — Section 2
Directing participants: Ask leaders to expand each checkpoint card and pause on the Must-Be-True condition. Invite them to mentally test one of their team's Key Results against each MBT before group discussion. Do not allow the group to rush through all four in rapid succession — each deserves a moment of real reflection.
The ARENA card typically surfaces enough recognition to anchor the whole framework — use it as the gateway. Suggested time: 10–12 minutes including reflection.
Facilitator Move — After the Cards
Ask: "If you had to identify the single ABCV checkpoint your organisation most consistently overlooks when setting strategy — which would it be? And what has that cost you?" The answers surface role-based blind spots you will revisit in the Extrapolating section.
Content:
Expand each checkpoint below to explore the strategic logic, the interrogation question, and the Must-Be-True condition that anchors it.
Arena
Customer End Game
🎯
Strategic Logic
Strategy starts with a shift in perspective: we compete for a customer need. If we define our arena by our products, we miss the forest for the trees.
Interrogative Anchor
What is the customer actually trying to achieve? What functional, emotional, or social 'job' are they hiring us to do?
Must-Be-True Condition
What must remain true about customer behaviour or demand for this Key Result to stay relevant?
Boundaries
Friction Architecture
🚧
Strategic Logic
Every arena has invisible walls: operational limits, regulations, or simple human resistance to change. A strategy that ignores friction is a wish.
Interrogative Anchor
What is going to push back against us? What internal or external friction could slow this Key Result down or stop it entirely?
Must-Be-True Condition
What must remain true operationally or regulatorily for us to actually deliver this without breaking?
Competition
The True Landscape
🔍
Strategic Logic
Once you define the Arena by the customer's need, your 'competitors' change. You are fighting anyone who solves that same problem in a different way, peers included.
Interrogative Anchor
Who else is solving this problem — even if they look nothing like us? Who is the 'alternative' the customer might choose?
Must-Be-True Condition
What must remain true about our specific advantage compared to these other options?
Value Proposition
Coherent Advantage
💎
Strategic Logic
Strategy wins when you are distinct. Every Key Result should make your unique DNA stronger. If a goal dilutes your brand or confuses your value, it's a distraction.
Interrogative Anchor
How does this goal make us more 'us'? Does this Key Result sharpen our distinctive edge or just add noise?
Must-Be-True Condition
What must remain true about our value architecture for this Key Result to stay coherent and profitable?
Participant file (1.2 — The Four ABCV Integrity Checkpoints) — prompts participants complete:
- ✎ Reflection Which of the four ABCV checkpoints is your organisation least likely to examine rigorously before launching a new strategic initiative? What does that pattern cost you?</a:t>
            </a:r>
            <a:endParaRPr lang="en-US" dirty="0"/>
          </a:p>
          <a:p/>
          <a:p>
            <a:r>
              <a:t>Source detail (S2R® manuscript):</a:t>
            </a:r>
          </a:p>
          <a:p/>
          <a:p>
            <a:r>
              <a:t>The four checkpoints in one line each:</a:t>
            </a:r>
          </a:p>
          <a:p>
            <a:r>
              <a:t>Arena: defining the space by the customer’s “end game” (their true need), which reaches beyond a product category.</a:t>
            </a:r>
          </a:p>
          <a:p>
            <a:r>
              <a:t>Boundaries: identifying the internal and external “friction” (regulations, dependencies, or resistance) that could stall progress.</a:t>
            </a:r>
          </a:p>
          <a:p>
            <a:r>
              <a:t>Competition: identifying the true landscape of who else solves the customer’s problem, even those outside the industry.</a:t>
            </a:r>
          </a:p>
          <a:p>
            <a:r>
              <a:t>Value Proposition: ensuring the goal actually strengthens the organisation’s unique identity and “value architecture”.</a:t>
            </a:r>
          </a:p>
          <a:p/>
          <a:p>
            <a:r>
              <a:t>How to read each card: Strategic Logic is the “why”. The Interrogative Anchor is the “search”. The Must-Be-True Condition is the “foundation”.</a:t>
            </a:r>
          </a:p>
          <a:p/>
          <a:p>
            <a:r>
              <a:t>Professional insights:</a:t>
            </a:r>
          </a:p>
          <a:p/>
          <a:p>
            <a:r>
              <a:t>Competition: The most effective competitive strategies target the specific assumptions on which a competitor’s position rests. Identify the foundational assumption, and the position built on it becomes unstable.</a:t>
            </a:r>
          </a:p>
          <a:p>
            <a:r>
              <a:t>Source: Journal, 6 February 2026 — Professional Insights: Strategy</a:t>
            </a:r>
          </a:p>
          <a:p/>
          <a:p>
            <a:r>
              <a:t>Value Proposition · coherence: Strategy is proven by the quality and consistency of the environment it produces. Organisations weaken their credibility when branding, claims or public positioning exceed the quality of the lived experience.</a:t>
            </a:r>
          </a:p>
          <a:p>
            <a:r>
              <a:t>Source: Journal, 16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Conduct ABCV–MBT Checkpoints?
Ignition Point · Most strategic plans look bulletproof on paper. They wither in execution under the weight of unexamined assumptions left unnamed.
Section learning outcomes:
1. Judge whether strategic priorities respond to the outcomes customers pursue.
2. Articulate the assumptions on which each strategic objective depends.
FACILITATOR GUIDANCE — Section 2 · Intelligence
Section intent: Shift leaders from passive understanding to personal conviction. They should finish this section believing their current planning process has a structural blind spot that this framework corrects. The goal is recognition.
Opening provocation: "We instinctively define ourselves by our business cards. But here is the cold truth: industry categories were made for administrators." Pause. Let it land. Then ask who has been stung by a competitor they didn't see coming. Suggested section time: 20–25 minutes.</a:t>
            </a:r>
            <a:endParaRPr lang="en-US" dirty="0"/>
          </a:p>
          <a:p/>
          <a:p>
            <a:r>
              <a:t>Source detail (S2R® manuscript):</a:t>
            </a:r>
          </a:p>
          <a:p/>
          <a:p>
            <a:r>
              <a:t>Opening (full wording): On paper, most strategic plans look bulletproof. We see clear priorities, tidy OKRs, and inspiring goals. Yet we have all seen these same plans wither once they hit the pavement of execution. Hustle and talent are rarely what is missing: the weight of unexamined assumptions kills them.</a:t>
            </a:r>
          </a:p>
          <a:p>
            <a:r>
              <a:t>One of the most dangerous traps in strategy is how we define the space where we play.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INDUSTRY ILLUSION &amp; THE ARENA SHIFT (Core Reframe)
FACILITATOR GUIDANCE — Section 2.1
The Nokia moment: Use the smartphone analogy specifically. Nokia defined themselves as a telecoms company. The smartphone redefined the arena entirely. Ask: "Who in your industry is playing a different game that you're only just starting to notice?"
The three dimensions: After presenting Functional, Emotional, Social needs, ask leaders to apply them to their primary customer. Most find the Emotional and Social dimensions are rarely discussed in their strategy sessions — which is exactly the blind spot. Suggested time: 6–8 minutes.
Facilitator Example — Netflix
Functionally: video. Emotionally: escape. Socially: connection to the global water-cooler conversation. If Netflix had only thought they were in the “DVD-by-mail industry,” they'd be a footnote in history. Ask: "What industry definition is keeping your organisation from seeing its true arena?"
Content:
The cold truth: Industry categories were made for administrators. Customers wake up thinking: “I need to feel secure about my family's future.” When we define our world by our industry, we watch our traditional neighbours while a stranger from a different 'industry' walks away with our customers.
The Three Dimensions of Customer Need
Functional
The actual task they need to finish. The concrete outcome they are paying for.
Emotional
How they want to feel while doing it. “I want to feel in control.” “I want this to be effortless.”
Social
How they want others to see them. “I want to be seen as a pioneer.” “I want credibility.”
Participant file (2.1 — The Industry Illusion &amp; the Arena Shift) — prompts participants complete:
- ✎ Reflection In your own market, which of the three Arena dimensions (functional, emotional, social) is changing fastest? What does that tell you about the MBT conditions your strategy currently assumes?</a:t>
            </a:r>
            <a:endParaRPr lang="en-US" dirty="0"/>
          </a:p>
          <a:p/>
          <a:p>
            <a:r>
              <a:t>Source detail (S2R® manuscript):</a:t>
            </a:r>
          </a:p>
          <a:p/>
          <a:p>
            <a:r>
              <a:t>The “industry” illusion: We say, “We are in banking,” “We are in logistics,” or “We are in media.” It feels safe because it aligns with how we report to regulators and how the news groups us.</a:t>
            </a:r>
          </a:p>
          <a:p>
            <a:r>
              <a:t>Customers do not wake up and think, “I need a product from the banking industry today.” A second example of what they do think: “I need to move this money before the bill is due.” When we define our world by our industry, we put on blinders.</a:t>
            </a:r>
          </a:p>
          <a:p/>
          <a:p>
            <a:r>
              <a:t>From industry to Arena: Think about the smartphone. If Nokia or Motorola stayed stuck in the “telecommunications industry”, they were just making phones. But the smartphone didn’t stay a phone. It became a camera, a map, a bank, and a personal assistant. It moved into multiple Arenas simultaneously.</a:t>
            </a:r>
          </a:p>
          <a:p>
            <a:r>
              <a:t>The industry tells you who you think you are competing with. The Arena tells you who you are actually competing with.</a:t>
            </a:r>
          </a:p>
          <a:p>
            <a:r>
              <a:t>To find your true Arena, you have to look at the Customer End Game. It is a three-dimensional human experience that reaches beyond a transaction: functional, emotional and social.</a:t>
            </a:r>
          </a:p>
          <a:p/>
          <a:p>
            <a:r>
              <a:t>Professional insights:</a:t>
            </a:r>
          </a:p>
          <a:p/>
          <a:p>
            <a:r>
              <a:t>Arena · who we serve: Every organisation exists to do something specific for someone specific. When it loses its sense of who it serves and what it provides, it loses the culture built around that service. Keep the specific customer and mission visible.</a:t>
            </a:r>
          </a:p>
          <a:p>
            <a:r>
              <a:t>Source: Journal, 31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NAMING THE MUST-BE-TRUES (From Ambition to Commitment)
FACILITATOR GUIDANCE — Section 2.2
The MBT concept: Help leaders distinguish between a strategy and a hope. Use this language: "Every OKR is built on assumptions. MBT forces you to name them out loud — because if you can't name them, you can't monitor them, and if you can't monitor them, you can't protect your strategy."
Practical check: Ask each leader to try naming one MBT condition for one of their Key Results right now. If they struggle, that difficulty is itself the lesson. Suggested time: 7–8 minutes.
Content:
Even a strong checkpoint can miss a hidden crack. Every strategy is built on a “load-bearing” assumption — something we believe to be true but haven't said out loud. The MBT turns these whispers into explicit commitments.
ARENAAre we solving a real customer end-game, or just pushing a product?
BOUNDARIESWhat are the “laws of physics” here? What regulations or internal frictions will push back?
COMPETITIONWho else is solving this problem — even the competitors who don't look like us?
VALUE PROPDoes this goal actually make us more distinct, or are we just blending in?
By naming MBT conditions, we transform strategy from a “hopeful ambition” into a tested commitment. The ABCV–MBT checkpoints ensure that when you hit the gas, the wheels are actually attached to the car.
Participant file (2.2 — Naming the Must-Be-Trues) — prompts participants complete:
- ✎ Reflection For your most important current strategic objective: write one MBT condition per checkpoint. Which checkpoint was hardest to complete? What does that tell you?</a:t>
            </a:r>
            <a:endParaRPr lang="en-US" dirty="0"/>
          </a:p>
          <a:p/>
          <a:p>
            <a:r>
              <a:t>Source detail (S2R® manuscript):</a:t>
            </a:r>
          </a:p>
          <a:p/>
          <a:p>
            <a:r>
              <a:t>The integrity filter: Understanding your Arena is the first step. The next is to stress-test your goals against the friction of reality. This is why the Strategy2Results® programme uses the ABCV–MBT Integrity Checkpoints: four checkpoints to interrogate strategy direction (the OKRs).</a:t>
            </a:r>
          </a:p>
          <a:p/>
          <a:p>
            <a:r>
              <a:t>Two worked Must-Be-Trues:</a:t>
            </a:r>
          </a:p>
          <a:p>
            <a:r>
              <a:t>- If your Key Result relies on a specific customer habit, then “Customer habit X must remain stable” is your MBT.</a:t>
            </a:r>
          </a:p>
          <a:p>
            <a:r>
              <a:t>- If it relies on a new tech stack, then “Our infrastructure must handle 10x load” is your MBT.</a:t>
            </a:r>
          </a:p>
          <a:p/>
          <a:p>
            <a:r>
              <a:t>The bottom line: The checkpoints ensure your direction is:</a:t>
            </a:r>
          </a:p>
          <a:p>
            <a:r>
              <a:t>- Grounded in what customers actually do.</a:t>
            </a:r>
          </a:p>
          <a:p>
            <a:r>
              <a:t>- Built to survive real-world friction.</a:t>
            </a:r>
          </a:p>
          <a:p>
            <a:r>
              <a:t>- Aware of the true competitive threats.</a:t>
            </a:r>
          </a:p>
          <a:p>
            <a:r>
              <a:t>- True to your organisation’s unique value.</a:t>
            </a:r>
          </a:p>
          <a:p>
            <a:r>
              <a:t>When leaders find these truths early, they plan for success and build a strategy that can survive the collision with reality.</a:t>
            </a:r>
          </a:p>
          <a:p/>
          <a:p>
            <a:r>
              <a:t>Professional insights:</a:t>
            </a:r>
          </a:p>
          <a:p/>
          <a:p>
            <a:r>
              <a:t>Known, assumed, unseen: Strategic certainty should be proportional to the available evidence. Leaders must act, and they should distinguish clearly between what is known, what is assumed and what remains outside current visibility. Use this to frame every Must-Be-True.</a:t>
            </a:r>
          </a:p>
          <a:p>
            <a:r>
              <a:t>Source: Journal, 3 September 2026 — Professional Insights: Strategy</a:t>
            </a:r>
          </a:p>
          <a:p/>
          <a:p>
            <a:r>
              <a:t>Today’s fix, tomorrow’s cost: A decision can solve today’s problem while creating future instability. Assess each objective by the capability, dependency, risk and future consequence it creates.</a:t>
            </a:r>
          </a:p>
          <a:p>
            <a:r>
              <a:t>Source: Journal, 19 July 2026 — Professional Insights: Strategy</a:t>
            </a:r>
          </a:p>
          <a:p/>
          <a:p>
            <a:r>
              <a:t>The question behind the question: Senior teams often act on the first piece of internal data about an opportunity and miss the second-order question. On every major opportunity, ask the question behind the question before committing. Use this with Boundaries.</a:t>
            </a:r>
          </a:p>
          <a:p>
            <a:r>
              <a:t>Source: Journal, 16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Directional Integrity Break Down?
The Alignment Brigade · Every executive role is trained to protect a different part of the enterprise system. These specialisations create selective attention — and predictable strategic blind spots across the leadership mandate.
Section learning outcomes:
1. Identify the dimensions of strategic integrity most often overlooked in their own executive function.
2. Appraise how functional blind spots compound into enterprise-wide strategic risk.
FACILITATOR GUIDANCE — Section 3 · Extrapolating
Section intent: Make the ABCV framework personal to each leader's role. The aim is illumination. Leaders should finish knowing which ABCV checkpoint is most likely their organisational blind spot and why it creates specific downstream consequences.
On the hot zone grid: Ask each leader to click their own role card first. Then invite the group: "Look at the gaps across all roles. Which checkpoint appears most frequently as an overlooked dimension?" That answer is the team's most critical strategic vulnerability. Suggested section time: 20–25 minutes.</a:t>
            </a:r>
            <a:endParaRPr lang="en-US" dirty="0"/>
          </a:p>
          <a:p/>
          <a:p>
            <a:r>
              <a:t>Source detail (S2R® manuscript):</a:t>
            </a:r>
          </a:p>
          <a:p/>
          <a:p>
            <a:r>
              <a:t>Locate the hot zones: Where does directional integrity break down across leadership mandates?</a:t>
            </a:r>
          </a:p>
          <a:p>
            <a:r>
              <a:t>Role expertise is essential for execution, and it also creates selective attention: each leader naturally focuses on the dimension of strategy closest to their mandate.</a:t>
            </a:r>
          </a:p>
          <a:p>
            <a:r>
              <a:t>When the ABCV–MBT checkpoints are not interrogated collectively, these functional perspectives can create directional blind spots. One executive may see customer relevance clearly while another sees operational friction. A third may detect competitive threats that others overlook.</a:t>
            </a:r>
          </a:p>
          <a:p>
            <a:r>
              <a:t>Directional integrity therefore strengthens when each leader interrogates the strategy from their role perspective, and when the team recognises which ABCV element is most likely to be underweighted in each role.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EXECUTIVE HOT ZONE: ROLE-BASED BLIND SPOTS (Click a Role)
FACILITATOR GUIDANCE — Section 3.1
The key insight: The “What they start asking” column shows the symptoms — the questions leaders only ask when the underlying ABCV condition has already failed. These are late signals. ABCV–MBT creates early signals.
Facilitation move: After the group has explored the grid: "Which of these symptoms have you heard in your leadership conversations in the last quarter? What does that tell you about where your blind spot sits?" Suggested time: 10–12 minutes.
Content:
Click a role below to see what typically gets overlooked, what it feels like in the organisation, and what questions leaders begin asking when the condition has already failed.
CEO
Chief Executive
CFO
Chief Financial
COO
Chief Operating
CHRO
Chief Human Resources
CTO
Chief Technology
CMO
Chief Marketing
CCO
Chief Commercial
CPO
Chief Procurement
CSO
Chief Strategy
What Gets Overlooked
Boundaries. The CEO holds the vision and drives narrative — but operational friction is rarely in the chief executive's focus until execution stalls significantly.
⚠ Symptom: “Why are we not seeing the results when our strategy is clear?”
What the ABCV Checkpoint Reveals
The Boundaries checkpoint forces explicit naming of the regulatory, structural, and behavioural friction standing between the vision and its delivery. Vision without friction-mapping is only a speech.
✓ Right question: “What specific conditions must remain true for execution to sustain the pace we've planned for?”
What Gets Overlooked
Arena. The CFO tracks whether the model works — but whether the underlying customer demand is still real and growing is often outside the financial reporting frame.
⚠ Symptom: “The model works… so why is performance lagging?”
What the ABCV Checkpoint Reveals
The Arena checkpoint reframes financial health as dependent on customer-need relevance. Revenue can be temporarily maintained even as the underlying arena is shifting away from your value proposition.
✓ Right question: “Is the customer end-game we designed this model around still the right end-game?”
What Gets Overlooked
Competition. Operational leaders optimise the machine — but if the machine is serving the wrong arena, efficiency just accelerates the organisation in the wrong direction.
⚠ Symptom: “We've optimised everything — what are we missing?”
What the ABCV Checkpoint Reveals
The Competition checkpoint asks: who else is solving the customer's problem, even those who look nothing like us? Operational excellence means nothing if the alternatives are more convenient for the customer.
✓ Right question: “Are our efficiency gains making us meaningfully more competitive against the real alternatives customers have?”
What Gets Overlooked
Competition. People alignment and engagement are the CHRO's primary checkpoint — but a highly engaged team executing the wrong strategy still loses to a competitor solving the problem better.
⚠ Symptom: “Our people are committed — why isn't it translating?”
What the ABCV Checkpoint Reveals
The Competition checkpoint reveals that motivation and alignment are necessary but insufficient if strategic direction points at the wrong competitive target. Energy without direction is enthusiasm without results.
✓ Right question: “Are we aligning our people's energy toward the right competitive arena, or building capability for yesterday's contest?”
What Gets Overlooked
Arena. Technical delivery is the CTO's primary accountability — but whether the solution addresses the customer's actual end-game (functional, emotional, social) is often assumed and left untested.
⚠ Symptom: “We delivered the system — why isn't adoption there?”
What the ABCV Checkpoint Reveals
The Arena checkpoint asks: did we build for what the customer is actually trying to achieve — or for the specification handed to us? These are not always the same thing. Adoption requires arena-alignment as well as technical delivery.
✓ Right question: “Does this solution address the functional, emotional, and social outcome the customer is actually pursuing?”
What Gets Overlooked
Boundaries. The CMO creates demand — but if the operational infrastructure cannot fulfil that demand, the campaign creates frustration and brand damage.
⚠ Symptom: “We created demand — why can't we fulfil it?”
What the ABCV Checkpoint Reveals
The Boundaries checkpoint identifies the internal and external friction that must remain within tolerance for demand to convert to delivered value. Demand without delivery capacity is brand erosion.
✓ Right question: “Do our operational boundaries allow us to fulfil the demand our marketing is designed to generate?”
What Gets Overlooked
Value Proposition. Revenue growth is the CCO's scorecard — but growing by winning the wrong business can dilute the organisation's distinctive identity and long-term positioning in ways that compound over time.
⚠ Symptom: “We're closing deals — but at what cost to who we are?”
What the ABCV Checkpoint Reveals
The Value Proposition checkpoint asks: does this contract strengthen or dilute our distinctive edge? Not all revenue is strategic revenue. Some growth makes the organisation less coherent.
✓ Right question: “Does this deal sharpen our value architecture or compromise it for short-term volume?”
What Gets Overlooked
Arena. Cost reduction and supply chain resilience are the CPO's primary mandate — but savings that are not connected to the customer's end-game do not translate into strategic progress.
⚠ Symptom: “We've saved money — but has it actually mattered?”
What the ABCV Checkpoint Reveals
The Arena checkpoint asks: does this procurement decision improve our ability to deliver on the customer's actual need? Cost efficiency that doesn't serve the customer's end-game is operational tidiness.
✓ Right question: “Does this cost initiative strengthen our ability to compete in the arena our customers actually operate in?”
What Gets Overlooked
Boundaries. Strategy clarity is the CSO's domain — but without explicit identification of operational friction, strategies that are coherent in design break down repeatedly in execution.
⚠ Symptom: “Why does execution keep breaking after alignment?”
What the ABCV Checkpoint Reveals
The Boundaries checkpoint identifies structural, cultural, and regulatory friction points that strategy must be designed around. Clarity without friction-mapping is strategy without implementation physics.
✓ Right question: “Which operational friction points have we built our strategy around — and which are we still hoping won't materialise?”
Participant file (3.1 — The Executive Hot Zone: Role-Based Blind Spots) — prompts participants complete:
- ✎ Reflection Having explored your role’s typical blind spot: what is one MBT condition in that checkpoint that your organisation is currently assuming without confirmation? What would it take to verify it?</a:t>
            </a:r>
            <a:endParaRPr lang="en-US" dirty="0"/>
          </a:p>
          <a:p/>
          <a:p>
            <a:r>
              <a:t>Source detail (S2R® manuscript):</a:t>
            </a:r>
          </a:p>
          <a:p/>
          <a:p>
            <a:r>
              <a:t>Examples of how this may play out in practice. What it feels like in the organisation, by role:</a:t>
            </a:r>
          </a:p>
          <a:p>
            <a:r>
              <a:t>CEO (Boundaries overlooked): Execution feels slower and heavier than expected despite a clear vision.</a:t>
            </a:r>
          </a:p>
          <a:p>
            <a:r>
              <a:t>CFO (Arena overlooked): Financials look strong, but underlying demand is weakening.</a:t>
            </a:r>
          </a:p>
          <a:p>
            <a:r>
              <a:t>COO (Competition overlooked): Operations are efficient, but the organisation is still losing ground.</a:t>
            </a:r>
          </a:p>
          <a:p>
            <a:r>
              <a:t>CHRO (Competition overlooked): People are aligned and engaged, but results are not improving.</a:t>
            </a:r>
          </a:p>
          <a:p>
            <a:r>
              <a:t>CTO / CIO (Arena overlooked): Well-built solutions are not being adopted or used effectively.</a:t>
            </a:r>
          </a:p>
          <a:p>
            <a:r>
              <a:t>CMO (Boundaries overlooked): Demand is created, but delivery cannot keep up.</a:t>
            </a:r>
          </a:p>
          <a:p>
            <a:r>
              <a:t>CCO (Value Proposition overlooked): Revenue grows, but the organisation starts losing its distinctiveness.</a:t>
            </a:r>
          </a:p>
          <a:p>
            <a:r>
              <a:t>CPO (Arena overlooked): Costs are reduced, but it does not translate into strategic progress.</a:t>
            </a:r>
          </a:p>
          <a:p>
            <a:r>
              <a:t>CSO (Boundaries overlooked): Strategy is clear, but execution repeatedly breaks down.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ABCV–MBT Working Papers
From individual insight to collective strategic commitment
Section learning outcomes:
1. Appraise the assumptions, dependencies and uncertainties behind the organisation’s strategic objectives.
2. Demonstrate collective accountability by assigning ownership for verifying critical conditions.
FACILITATOR GUIDANCE — Section 4 · Integration
Section intent: This is where individual strategic reasoning becomes a shared leadership artefact. The four steps move the group from personal analysis (Step 1) through collective synthesis (Step 2) to ownership assignment (Step 3) and partner mapping (Step 4). Each step builds on the previous — do not skip.
Pacing: Step 1 is individual and takes 15–20 minutes. Steps 2–4 are collective and take 20–30 minutes together. Build in transition time between individual and group phases. Suggested total section time: 40–50 minutes.</a:t>
            </a:r>
            <a:endParaRPr lang="en-US" dirty="0"/>
          </a:p>
          <a:p/>
          <a:p>
            <a:r>
              <a:t>Source detail (S2R® manuscript):</a:t>
            </a:r>
          </a:p>
          <a:p/>
          <a:p>
            <a:r>
              <a:t>Collective Intelligence of Execution: the cross-leadership OKR filter.</a:t>
            </a:r>
          </a:p>
          <a:p>
            <a:r>
              <a:t>The Converging Zone (this section) is the defining moment where a leadership team stops looking at strategy through functional silos and starts seeing it as a single, shared enterprise position.</a:t>
            </a:r>
          </a:p>
          <a:p>
            <a:r>
              <a:t>By this stage, each leader already knows the ABCV checkpoints and has seen how “fragile” OKRs can be when their assumptions stay hidden. Now it is time to put that knowledge to work. This is where leaders apply the ABCV–MBT framework to their agreed-upon OKRs and find the common ground required to actually win.</a:t>
            </a:r>
          </a:p>
          <a:p/>
          <a:p>
            <a:r>
              <a:t>The power of the Converging Zone: When a team finishes this process, they leave the room with three things they did not have before:</a:t>
            </a:r>
          </a:p>
          <a:p>
            <a:r>
              <a:t>- Shared Assumptions: those “gut feelings” are now explicit, agreed-upon pillars that everyone can see.</a:t>
            </a:r>
          </a:p>
          <a:p>
            <a:r>
              <a:t>- Early Warning Systems: the team knows exactly where the strategy is “fragile” before a cent is spent, and can strengthen the plan before execution starts.</a:t>
            </a:r>
          </a:p>
          <a:p>
            <a:r>
              <a:t>- Collective Ownership: the Key Result stops being “that team’s goal” and becomes an enterprise-wide commitment. Every leader now understands the support systems, the risks, and the signals they need to watch for.</a:t>
            </a:r>
          </a:p>
          <a:p>
            <a:r>
              <a:t>Strategic principle: Strategy becomes resilient when its assumptions are named individually and owned collectively.</a:t>
            </a:r>
          </a:p>
          <a:p>
            <a:r>
              <a:t>The Converging Zone turns well-written ambitions into battle-tested commitments grounded in reality. This is how high-performing teams turn “planning” into collective intelligence for execution.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CASE STUDY (participant file, Section 4 · ABCV–MBT Working Papers)
Participant file introduction: Team Exercise · Collective Intelligence This is a group exercise. Working from the shared case study below, each leader first analyses the strategy individually in their executive role (Step 1). You then consolidate those perspectives as a leadership team across Steps 2–4 — turning individual judgement into a single collective view of the strategy’s integrity.
Team identity: participants enter a Team Name, their Executive Name and an Executive Role. “Adopt one C-suite role for the duration of this exercise. Your facilitator uses this to attribute your contribution consistently across the leadership team.”
Case (read aloud): Meridian Health Group. A regional private-hospital group built its reputation on premium, in-person specialist care. Under margin pressure and the rapid rise of tele-health, the board has approved a strategy to launch a digital-first virtual-care platform aimed at younger, lower-acuity patients — while sustaining the premium specialist business that defines the brand. Leadership is confident in the financial model and the technology. As the executive team, your task is to stress-test this strategic direction through the four ABCV checkpoints before execution begins, and to name the Must-Be-True conditions the strategy is silently assuming.
Note: the case study text sits in the participant file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ABCV–MBT WORKING PAPERS · STEPS 1–4
Time: Step 1 is individual and takes 15–20 minutes. Steps 2–4 are collective and take 20–30 minutes together.
FACILITATOR GUIDANCE — Step 1
Briefing for participants: Each person works independently. They select up to three objectives from their current OKR/strategic plan and apply all four ABCV checkpoints to each. The MBT condition they name must be specific enough that someone else could attempt to verify it. Vague MBTs (“the market must support us”) are not sufficient — push for precision.
Watch for: Participants who struggle to name MBT conditions. This is a signal that the objective itself may not be sufficiently grounded. Use this as productive friction: “If you cannot name a Must-Be-True, what does that tell you about this objective?”
PARTICIPANT ACTIVITY
Participants complete the ABCV–MBT analysis in Step 1 of their own file: up to three current strategic objectives, with one Must-Be-True condition per checkpoint.
FACILITATOR GUIDANCE — Step 2
Process: Ask each participant to share one MBT condition from each checkpoint they found most revealing. Look for patterns: which checkpoint recurs as most challenging? Which MBT conditions appear in multiple participants’ papers? These are your organisation’s strategic pressure points.
Key facilitation move: Where participants disagree on what the MBT condition should be, do not resolve the disagreement prematurely. Disagreement on MBTs often signals that the objective itself has not been defined precisely enough. Sit in that discomfort productively. Suggested time: 15–20 minutes.
FACILITATOR GUIDANCE
Participants capture the shared themes, strategic disagreements and top five priority MBT conditions in their own worksheet. Ask one participant to read the agreed top five aloud, then test each with: ‘What evidence would prove this condition is true?’
FACILITATOR GUIDANCE — Step 3
Key distinction: “Lead Owner” means the person accountable for ensuring the MBT condition is verified before the dependent strategy is executed. Every MBT must have a named owner — shared ownership is no ownership.
Watch for: Leaders who assign themselves as owner of every high-priority MBT — this signals either genuine accountability or reluctance to trust colleagues. Leaders who avoid ownership of any MBT — this signals disengagement from the strategic process. Both are worth naming. Suggested time: 10–15 minutes.
PARTICIPANT ACTIVITY
Participants assign a lead owner to each priority MBT condition from Step 2 in Step 3 of their own file.
FACILITATOR GUIDANCE — Step 4
Purpose: MBT verification rarely falls within the ownership of a single leader. This step surfaces the cross-functional coordination required to confirm or disconfirm each condition. It often reveals that the organisation’s structures make verification harder than it should be — which is itself a strategic insight.
Closing the integration: End this section with a commitment question: “Which one MBT condition, if left unverified, represents the greatest risk to our strategy’s integrity? Who is leaving this room responsible for that verification?” Suggested time: 10–15 minutes.
FACILITATOR GUIDANCE
Participants record the evidence, data sources and verification timeline in their worksheet. Before closing, confirm every priority MBT condition has a named owner and a date.
Participant file instructions by step:
Step 1: Working from the shared case study above and in your executive role, select up to three of the organisation’s strategic objectives and apply all four ABCV checkpoints to each. Name one Must-Be-True condition per checkpoint — make it specific enough that someone could verify it. Work individually here; you will consolidate as a team in the next steps.
Step 2: As a team, share one MBT condition from each checkpoint. Look for patterns together: which checkpoint recurs as the most challenging across the group? (Fields: Shared Themes · Areas of Disagreement · Top 5 Priority MBT Conditions (Team Consensus))
Step 3: As a team, assign clear leadership ownership to each priority MBT condition. Every condition must have a named owner — shared ownership is no ownership.
Step 4: As a team, identify the internal and external support needed to verify your priority MBT conditions, and agree a verification timeline. (Fields: Internal Partners Required · External Data or Partners Required · Verification Timeline)</a:t>
            </a:r>
            <a:endParaRPr lang="en-US" dirty="0"/>
          </a:p>
          <a:p/>
          <a:p>
            <a:r>
              <a:t>Source detail (S2R® manuscript):</a:t>
            </a:r>
          </a:p>
          <a:p/>
          <a:p>
            <a:r>
              <a:t>Step 1 · The individual reality check: Before the group comes together, every executive independently completes the ABCV–MBT tool for the selected Key Result. Working through their specific functional perspective (whether it is Finance, Operations, or People), they interrogate the OKR using the four ABCV filters:</a:t>
            </a:r>
          </a:p>
          <a:p>
            <a:r>
              <a:t>- Arena: Is this anchored in a real, long-term customer need?</a:t>
            </a:r>
          </a:p>
          <a:p>
            <a:r>
              <a:t>- Boundaries: What friction (regulatory, structural, or behavioural) is standing in our way?</a:t>
            </a:r>
          </a:p>
          <a:p>
            <a:r>
              <a:t>- Competition: Who else is solving this, and how might they disrupt us?</a:t>
            </a:r>
          </a:p>
          <a:p>
            <a:r>
              <a:t>- Value Proposition: Does this actually sharpen our unique organisational “value architecture”?</a:t>
            </a:r>
          </a:p>
          <a:p>
            <a:r>
              <a:t>For every checkpoint, each leader names the Must-Be-True condition that has to hold for this Key Result to survive. This stage is executed independently for a reason: honest reflection and unvarnished expertise are required before the group discussion starts to shape them.</a:t>
            </a:r>
          </a:p>
          <a:p>
            <a:r>
              <a:t>Limit: Leaders conduct the ABCV–MBT working paper individually, with a maximum of 3 objectives and 2 Key Results per objective.</a:t>
            </a:r>
          </a:p>
          <a:p/>
          <a:p>
            <a:r>
              <a:t>Step 2 · Forging executive consensus: Once the individual work is done, the team brings their perspectives together. The purpose is collecting intelligence; nobody is there to defend an individual department. When all the leaders’ responses are collated, the truth emerges. These patterns are likely to emerge:</a:t>
            </a:r>
          </a:p>
          <a:p>
            <a:r>
              <a:t>- Where the team is aligned.</a:t>
            </a:r>
          </a:p>
          <a:p>
            <a:r>
              <a:t>- Where the team’s perspectives diverge (the “strategic friction”).</a:t>
            </a:r>
          </a:p>
          <a:p>
            <a:r>
              <a:t>- Which Must-Be-True conditions are the most dangerous if they fail.</a:t>
            </a:r>
          </a:p>
          <a:p>
            <a:r>
              <a:t>The goal is to move past functional viewpoints and adopt a collective position. Leaders walk away agreeing on the critical signals to monitor and identifying which dimension presents the greatest risk to success.</a:t>
            </a:r>
          </a:p>
          <a:p/>
          <a:p>
            <a:r>
              <a:t>Step 3 · Leadership ownership for the OKR (establishing execution accountability): Once the executive team finishes the heavy lifting (nailing down the OKRs, checking the “integrity” of the plan, and spotting potential roadblocks), there is one final, vital move: putting a name next to the goal.</a:t>
            </a:r>
          </a:p>
          <a:p>
            <a:r>
              <a:t>This is called leadership ownership. It sounds formal, and its purpose is practical: preventing “strategy drift”. We have all seen it happen: a great idea starts strong, but because no one person is truly “it”, the objective starts floating between departments. Responsibility gets fuzzy, progress relies on “checking in” while nobody drives forward, and eventually the momentum just dies.</a:t>
            </a:r>
          </a:p>
          <a:p>
            <a:r>
              <a:t>Assigning an owner anchors the strategy. It ensures that every goal has a champion at the highest level to protect its progress and keep everyone moving in the same direction.</a:t>
            </a:r>
          </a:p>
          <a:p>
            <a:r>
              <a:t>What the Lead Owner actually does: Think of the responsible leader as the steward of the outcome. The work itself stays shared, because most big wins require a massive cross-functional effort. This leader’s job is to keep the organisation’s eyes on the prize and clear the tracks before the train hits a snag. Their real-world responsibilities include:</a:t>
            </a:r>
          </a:p>
          <a:p>
            <a:r>
              <a:t>- Keeping Score: making sure everyone can see exactly how we are doing against our Key Results.</a:t>
            </a:r>
          </a:p>
          <a:p>
            <a:r>
              <a:t>- Playing Connector: bridging the gaps between different teams so they actually collaborate.</a:t>
            </a:r>
          </a:p>
          <a:p>
            <a:r>
              <a:t>- Unsticking the Gears: stepping in with the “Unclogging Tool” the moment things start to slow down.</a:t>
            </a:r>
          </a:p>
          <a:p>
            <a:r>
              <a:t>- Calling for Backup: knowing when a barrier is too big for one team and needs the whole executive suite to weigh in.</a:t>
            </a:r>
          </a:p>
          <a:p>
            <a:r>
              <a:t>- The Gut Check: ensuring the OKR stays true to our four core pillars: Customer Experience, Operations, Culture, and Finance.</a:t>
            </a:r>
          </a:p>
          <a:p/>
          <a:p>
            <a:r>
              <a:t>Step 4 · Better together, supporting partners: Because no executive is an island, every owner needs partners. These leaders bring the specific “muscles” (the budget, the people, or the systems) needed to cross the finish line. Identify key partners for the OKR.</a:t>
            </a:r>
          </a:p>
          <a:p>
            <a:r>
              <a:t>- The CEO might champion the overall vision and keep the board aligned.</a:t>
            </a:r>
          </a:p>
          <a:p>
            <a:r>
              <a:t>- The COO handles the “how” and keeps the daily rhythm steady.</a:t>
            </a:r>
          </a:p>
          <a:p>
            <a:r>
              <a:t>- The CHRO ensures the team has the right skills and the right energy.</a:t>
            </a:r>
          </a:p>
          <a:p>
            <a:r>
              <a:t>- The CFO keeps the resources flowing and the discipline sharp.</a:t>
            </a:r>
          </a:p>
          <a:p>
            <a:r>
              <a:t>The purpose is clarity. No new hierarchy is created, and no leader is “bossing” other leaders. One person leads the charge; the others ensure their specific parts of the business are empowering that success.</a:t>
            </a:r>
          </a:p>
          <a:p/>
          <a:p>
            <a:r>
              <a:t>Keeping the pulse: Once ownership is set, the OKR is more than a slide in a deck: it is a living part of how leaders run the organisation. During regular reviews, the lead executive shares the wins, flags the risks, and identifies “clogs” in real time. This discipline allows the team to fix problems while they are small, so that no one is performing an autopsy on a failed project six months later.</a:t>
            </a:r>
          </a:p>
          <a:p>
            <a:r>
              <a:t>Why this is the “make or break” step: Most strategies fail because accountability was vague; the idea itself was seldom bad. By assigning a clear owner, you close that gap. You give the objective a steward, a support system, and a clear path forward when things get messy. It reinforces a simple truth: strategy moves through systems, and it only wins when leadership is unmistakable.</a:t>
            </a:r>
          </a:p>
          <a:p>
            <a:r>
              <a:t>Final action: Leaders update the final validated OKRs with ownership.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Cause of Death — Match the Breakdown
Diagnose the strategic failure. Defuse the mine before it detonates.
Section learning outcomes:
1. Evaluate realistic strategic failures to diagnose where directional integrity broke down.
2. Judge which integrity checkpoint would have protected the chosen direction.
FACILITATOR GUIDANCE — Section 5 · Application
Section intent: Learners apply ABCV diagnostic thinking under pressure. Each scenario is a real-world strategy failure. The mine mechanic rewards precision — guessing the right checkpoint for the wrong reason will eventually surface. Push participants to articulate their reasoning before selecting an answer.
Debrief move: After the game, ask: “Which mine was hardest to defuse? What does that tell you about your organisation’s own ABCV blind spot?” Suggested section time: 20–25 minutes.
📌 Facilitator: The Answer Key accordion below is visible only in this facilitator file. Participants see the same game without the key.</a:t>
            </a:r>
            <a:endParaRPr lang="en-US" dirty="0"/>
          </a:p>
          <a:p/>
          <a:p>
            <a:r>
              <a:t>Source detail (S2R® manuscript):</a:t>
            </a:r>
          </a:p>
          <a:p/>
          <a:p>
            <a:r>
              <a:t>Card version of “Cause of Death: Match the Breakdown”, for the facilitator to draw on. The portal version described above is the one to run. Set-up:</a:t>
            </a:r>
          </a:p>
          <a:p>
            <a:r>
              <a:t>Objective: Identify why the strategy failed by correctly matching Scenario → Investigation Question → Checkpoint.</a:t>
            </a:r>
          </a:p>
          <a:p>
            <a:r>
              <a:t>What participants receive: Each team (or individual) is given 4 Cause of Death (scenario) cards, 4 Investigation Question cards (shuffled), and 4 checkpoint cards: Arena, Boundaries, Competition, Value Proposition.</a:t>
            </a:r>
          </a:p>
          <a:p>
            <a:r>
              <a:t>The steps of the card version are in the notes of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CAUSE OF DEATH — MATCH THE BREAKDOWN
Scoring: 2 points per mine, maximum 8.
Participant activity (participant file, Section 5): Each scenario below describes a real-world strategy that failed. Your task: identify the investigation question that would have exposed the failure, and the ABCV checkpoint it belongs to. Choose carefully — wrong answers detonate.
Mine 1 — The Ghost Ship: A SaaS platform achieved 85% retention in year one. By year three, churn reached 70%. Nothing in the product changed. Support tickets were low. The platform worked exactly as designed. Post-exit interviews revealed: customers had changed what they were trying to achieve — and the platform never followed.
Mine 2 — The Ferrari in the Mud: A leading logistics firm invested R120m in a new digital operations platform. Eighteen months in, less than 30% of staff were using it consistently. Field teams had developed workarounds. Middle management had quietly reverted to spreadsheets. The system was technically excellent. The organisation was not designed to absorb it.
Mine 3 — The Invisible Disruption: A financial advisory firm was ranked #1 in client satisfaction for four consecutive years. Then revenue began declining. No competitor had taken their clients. No scandal. No service failure. The problem: a fintech app was letting clients self-manage what the firm had always managed for them — and clients preferred it for 60% of use cases.
Mine 4 — The Identity Crisis: A boutique consulting firm built its reputation on deep-sector expertise and bespoke strategy work. Under revenue pressure, they began accepting large implementation contracts — work that paid well but required different skills, different team profiles, and a different culture. Within two years, they won more work but lost their most experienced strategists and their distinctiveness with clients who valued exactly what they had been.
The investigation questions participants choose from (each mine):
Q1: What functional, emotional, and social outcome is the customer truly pursuing — and has it shifted?
Q2: What internal or external friction is preventing strategy from delivering at scale?
Q3: Who else is solving this problem — including those who don’t look like competitors?
Q4: Does our distinctive value architecture still create coherent, defensible advantage?
Checkpoint options: Arena · Boundaries · Competition · Value Proposition.
Push participants to articulate their reasoning before selecting an answer.</a:t>
            </a:r>
            <a:endParaRPr lang="en-US" dirty="0"/>
          </a:p>
          <a:p/>
          <a:p>
            <a:r>
              <a:t>Source detail (S2R® manuscript):</a:t>
            </a:r>
          </a:p>
          <a:p/>
          <a:p>
            <a:r>
              <a:t>Card version, Steps 1 to 4:</a:t>
            </a:r>
          </a:p>
          <a:p>
            <a:r>
              <a:t>Step 1 · Read the scenario: Select one scenario. Ask: “What is actually going wrong here?” Participants must focus on the underlying issue beneath the surface symptom.</a:t>
            </a:r>
          </a:p>
          <a:p>
            <a:r>
              <a:t>Step 2 · Match the investigation: From the shuffled cards, select the one investigation question that best explains the failure. Rule: the choice must be justified using the scenario. No guessing.</a:t>
            </a:r>
          </a:p>
          <a:p>
            <a:r>
              <a:t>Step 3 · Assign the checkpoint: Select the strategic checkpoint where the breakdown occurred: Arena, Boundaries, Competition or Value Proposition.</a:t>
            </a:r>
          </a:p>
          <a:p>
            <a:r>
              <a:t>Step 4 · Lock the answer: The final submission must be in this format: Scenario → Investigation Question → Checkpoint. No changes after submission.</a:t>
            </a:r>
          </a:p>
          <a:p/>
          <a:p>
            <a:r>
              <a:t>Optional scoring (card version): 2 points for a fully correct match; 1 point for the correct checkpoint only; additional credit for strong reasoning during the wild card discussion.</a:t>
            </a:r>
          </a:p>
          <a:p>
            <a:r>
              <a:t>Steps 5 and 6 (reveal, discussion and the wild card) are in the notes of the answer key slide.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ANSWER KEY (FAC ONLY)
FACILITATOR GUIDANCE — Answer Key
Use this key for post-game debrief. Do not reveal answers before participants have attempted each mine. The value is in the diagnostic reasoning.
Content:
Mine
Correct Question
ABCV Checkpoint
Core Insight
Ghost Ship
Q1 — Customer end-game
Arena
The product was unchanged; the customer’s desired outcome evolved. Arena failure.
Ferrari in the Mud
Q2 — Internal/external friction
Boundaries
The system worked; the organisation couldn’t absorb it. Boundaries failure.
Invisible Disruption
Q3 — Alternative solvers
Competition
No traditional competitor took share; a non-industry player made them irrelevant. Competition failure.
Identity Crisis
Q4 — Distinctive architecture
Value Proposition
Revenue grew but distinctiveness eroded. Value Proposition failure.</a:t>
            </a:r>
            <a:endParaRPr lang="en-US" dirty="0"/>
          </a:p>
          <a:p/>
          <a:p>
            <a:r>
              <a:t>Source detail (S2R® manuscript):</a:t>
            </a:r>
          </a:p>
          <a:p/>
          <a:p>
            <a:r>
              <a:t>Card version, Step 5 · Reveal and discuss (facilitator-led): Reveal the correct match. Facilitator prompts:</a:t>
            </a:r>
          </a:p>
          <a:p>
            <a:r>
              <a:t>- What led you to this conclusion?</a:t>
            </a:r>
          </a:p>
          <a:p>
            <a:r>
              <a:t>- Where did interpretations differ across teams?</a:t>
            </a:r>
          </a:p>
          <a:p>
            <a:r>
              <a:t>- What signals were overlooked?</a:t>
            </a:r>
          </a:p>
          <a:p/>
          <a:p>
            <a:r>
              <a:t>Step 6 · Wild card challenge: Introduce a variation to the scenario. Ask: “If this condition changes, does your diagnosis still hold?” Participants must decide whether to maintain their original answer or revise the checkpoint and reasoning.</a:t>
            </a:r>
          </a:p>
          <a:p/>
          <a:p>
            <a:r>
              <a:t>Close: Strategy failure most often comes from incorrect diagnosis; effort is rarely what is missing. If the breakdown is misidentified, the organisation will apply the wrong intervention and reinforce the problem.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4 synthesis)
FACILITATOR GUIDANCE — Unit Summary
Closing the unit: Unit 4 reframes strategy integrity as a testable condition. Use the final five minutes to ask: “What is the one MBT condition your team is most likely to avoid naming? Why? And what will you do about it before the next strategic review?”
Content:
This session was about ensuring strategic direction is structurally sound before the first move of execution is made. We’ve all seen well-written OKRs collapse because the assumptions holding them up were never tested. The ABCV–MBT framework served as our strategic integrity filter: the stress test to ensure Key Results are anchored in customer reality, resilient to friction, and true to the organisation’s identity.
Here is a recap of how we moved from individual functional perspectives to a unified executive judgement.
1 — Awareness: The Integrity Checkpoints
We began with the What. The ABCV checkpoints interrogated strategy across four critical dimensions:
Arena — The specific customer end-game we are playing for.
Boundaries — The operational or regulatory “clog points” that could slow us down.
Competition — All the alternatives, including direct rivals, competing for the same need.
Value Proposition — The distinctive edge that defines our organisational identity.
For every checkpoint, the team identified the Must-Be-True (MBT) condition — the “load-bearing” assumption that must hold for the strategy to survive. This is the early warning system: exposing risks before they become expensive failures.
2 — Intelligence: Why Strategic Integrity Matters
This stage explored the Why. Most strategies fail because of unexamined assumptions.
We shifted thinking from rigid industry categories to Customer Arenas, recognising that customers chase functional, emotional, and social outcomes. By naming MBT conditions early, the team moved the strategy from a hopeful ambition to a battle-tested commitment.
3 — Extrapolating: Locating the Blind Spots
Next, the Where. Every CXO sees the world through a specialised perspective:
CEOs lean toward narrative and stakeholder credibility
CFOs hunt for financial viability and return logic
COOs focus on operational feasibility and delivery rhythm
CHROs look at culture and leadership readiness
While these perspectives are vital, they naturally create selective attention. Applying the ABCV–MBT checkpoints across all roles surfaced the hidden risks that usually only emerge halfway through the execution cycle.
4 — Integration: Collective Intelligence
The session culminated in the Converging Zone — the moment the team consolidated individual perspectives into a single enterprise interpretation. By reviewing consolidated responses, the team was able to:
Identify patterns of agreement and surface strategic disagreements
Determine the most critical “deal-breaker” execution conditions
Agree on the severity of the MBT requirements
The ABCV–MBT checkpoints have transformed your OKRs from polished aspirations into resilient execution signals, grounded in the hard realities of the enterprise system.
Participant file (Section 5 · ✍ Closing Commitment): “What is one MBT condition your organisation is currently avoiding naming? Why? What will you do about it before your next strategic review?”
Output (Facilitator Guide): a named owner and date.</a:t>
            </a:r>
            <a:endParaRPr lang="en-US" dirty="0"/>
          </a:p>
          <a:p/>
          <a:p>
            <a:r>
              <a:t>Source detail (S2R® manuscript):</a:t>
            </a:r>
          </a:p>
          <a:p/>
          <a:p>
            <a:r>
              <a:t>The final output: The ABCV–MBT Collective Intelligence Report marks the transition from functional interpretation to true enterprise ownership.</a:t>
            </a:r>
          </a:p>
          <a:p/>
          <a:p>
            <a:r>
              <a:t>The outcome (resilient execution): As a result of this unit, the leadership team now possesses:</a:t>
            </a:r>
          </a:p>
          <a:p>
            <a:r>
              <a:t>- Shared Strategic Assumptions: hidden beliefs about customers and capabilities are finally explicit.</a:t>
            </a:r>
          </a:p>
          <a:p>
            <a:r>
              <a:t>- Early Warning Signals: the team knows exactly which conditions could destabilise an OKR during execution.</a:t>
            </a:r>
          </a:p>
          <a:p>
            <a:r>
              <a:t>- Enterprise Ownership of Direction: the Key Result has moved from a functional task to a collective commitment.</a:t>
            </a:r>
          </a:p>
          <a:p/>
          <a:p>
            <a:r>
              <a:t>Professional insights:</a:t>
            </a:r>
          </a:p>
          <a:p/>
          <a:p>
            <a:r>
              <a:t>Named and avoided: The instinct to manage the appearance of a known exposure, and leave the exposure itself unaddressed, turns a survivable warning into a failure. A risk that has been named and then avoided chooses its own moment. Treat a clear warning as a directive to act.</a:t>
            </a:r>
          </a:p>
          <a:p>
            <a:r>
              <a:t>Source: Journal, 16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Direction Integrity (ABCV-MBT)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evaluate the coherence and credibility of the organisation’s strategic direction.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Appraise the assumptions, dependencies and uncertainties that influence the viability of strategic choices.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Judge the extent to which strategic priorities are differentiated, internally consistent and responsive to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executive confidence and collective accountability for the integrity of the chosen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why well-formulated objectives can still lack strategic credibility.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objectives that are measurable from those that are strategically coherent.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problem with well-written OKRs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Our OKRs look great on paper. Are they strategically sound?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Most strategies fail because of unnamed conditions.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four ABCV integrity checkpoints</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Arena</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Customer End Game</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Boundaries</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Friction Architecture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Competition</a:t>
            </a:r>
            <a:endParaRPr lang="en-US" sz="2800" dirty="0"/>
          </a:p>
        </p:txBody>
      </p:sp>
      <p:sp>
        <p:nvSpPr>
          <p:cNvPr id="17" name="Text 12"/>
          <p:cNvSpPr txBox="1"/>
          <p:nvPr/>
        </p:nvSpPr>
        <p:spPr>
          <a:xfrm>
            <a:off x="6460236" y="3639312"/>
            <a:ext cx="2109978"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True Landscape</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987552"/>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Value Proposition</a:t>
            </a:r>
            <a:endParaRPr lang="en-US" sz="2800" dirty="0"/>
          </a:p>
        </p:txBody>
      </p:sp>
      <p:sp>
        <p:nvSpPr>
          <p:cNvPr id="22" name="Text 16"/>
          <p:cNvSpPr txBox="1"/>
          <p:nvPr/>
        </p:nvSpPr>
        <p:spPr>
          <a:xfrm>
            <a:off x="9301734" y="3639312"/>
            <a:ext cx="2109978" cy="166420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Coherent Advantage</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For every checkpoint, name the Must-Be-True condition.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Conduct ABCV–MBT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Judge whether strategic priorities respond to the outcomes customers pursue.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the assumptions on which each strategic objective depends.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industry illusion and the arena shift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Functional</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actual task they need to finish.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Emotional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How they want to feel while doing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Social</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How they want others to see them.</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Industry categories were made for administrators.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Naming the Must-Be-Trues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Arena:  </a:t>
            </a:r>
            <a:pPr indent="0" marL="0">
              <a:buNone/>
            </a:pPr>
            <a:r>
              <a:rPr lang="en-US" sz="2600" dirty="0">
                <a:solidFill>
                  <a:srgbClr val="1F2A22"/>
                </a:solidFill>
                <a:latin typeface="Calibri" pitchFamily="34" charset="0"/>
                <a:ea typeface="Calibri" pitchFamily="34" charset="-122"/>
                <a:cs typeface="Calibri" pitchFamily="34" charset="-120"/>
              </a:rPr>
              <a:t>a real customer end-game, or just pushing a product?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Boundaries:  </a:t>
            </a:r>
            <a:pPr indent="0" marL="0">
              <a:buNone/>
            </a:pPr>
            <a:r>
              <a:rPr lang="en-US" sz="2600" dirty="0">
                <a:solidFill>
                  <a:srgbClr val="1F2A22"/>
                </a:solidFill>
                <a:latin typeface="Calibri" pitchFamily="34" charset="0"/>
                <a:ea typeface="Calibri" pitchFamily="34" charset="-122"/>
                <a:cs typeface="Calibri" pitchFamily="34" charset="-120"/>
              </a:rPr>
              <a:t>what regulations or internal frictions will push back?</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Competition:  </a:t>
            </a:r>
            <a:pPr indent="0" marL="0">
              <a:buNone/>
            </a:pPr>
            <a:r>
              <a:rPr lang="en-US" sz="2600" dirty="0">
                <a:solidFill>
                  <a:srgbClr val="1F2A22"/>
                </a:solidFill>
                <a:latin typeface="Calibri" pitchFamily="34" charset="0"/>
                <a:ea typeface="Calibri" pitchFamily="34" charset="-122"/>
                <a:cs typeface="Calibri" pitchFamily="34" charset="-120"/>
              </a:rPr>
              <a:t>who else is solving this problem?</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Value Proposition:  </a:t>
            </a:r>
            <a:pPr indent="0" marL="0">
              <a:buNone/>
            </a:pPr>
            <a:r>
              <a:rPr lang="en-US" sz="2600" dirty="0">
                <a:solidFill>
                  <a:srgbClr val="1F2A22"/>
                </a:solidFill>
                <a:latin typeface="Calibri" pitchFamily="34" charset="0"/>
                <a:ea typeface="Calibri" pitchFamily="34" charset="-122"/>
                <a:cs typeface="Calibri" pitchFamily="34" charset="-120"/>
              </a:rPr>
              <a:t>does this goal make us more distinct?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dimensions of strategic integrity most often overlooked in their own executive function.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Appraise how functional blind spots compound into enterprise-wide strategic risk.</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executive hot zone: role-based blind spots</a:t>
            </a:r>
            <a:endParaRPr lang="en-US" sz="3600" dirty="0"/>
          </a:p>
        </p:txBody>
      </p:sp>
      <p:sp>
        <p:nvSpPr>
          <p:cNvPr id="3" name="Text 1"/>
          <p:cNvSpPr txBox="1"/>
          <p:nvPr/>
        </p:nvSpPr>
        <p:spPr>
          <a:xfrm>
            <a:off x="548640" y="1417320"/>
            <a:ext cx="1097280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What each role most often overlooks</a:t>
            </a:r>
            <a:endParaRPr lang="en-US" sz="2400" dirty="0"/>
          </a:p>
        </p:txBody>
      </p:sp>
      <p:sp>
        <p:nvSpPr>
          <p:cNvPr id="4" name="Shape 2"/>
          <p:cNvSpPr/>
          <p:nvPr/>
        </p:nvSpPr>
        <p:spPr>
          <a:xfrm>
            <a:off x="548640" y="2011680"/>
            <a:ext cx="3520440" cy="1234440"/>
          </a:xfrm>
          <a:prstGeom prst="roundRect">
            <a:avLst>
              <a:gd name="adj" fmla="val 7407"/>
            </a:avLst>
          </a:prstGeom>
          <a:solidFill>
            <a:srgbClr val="EEF4EF"/>
          </a:solidFill>
          <a:ln w="12700">
            <a:solidFill>
              <a:srgbClr val="EEF4EF"/>
            </a:solidFill>
            <a:prstDash val="solid"/>
          </a:ln>
        </p:spPr>
      </p:sp>
      <p:sp>
        <p:nvSpPr>
          <p:cNvPr id="5" name="Text 3"/>
          <p:cNvSpPr txBox="1"/>
          <p:nvPr/>
        </p:nvSpPr>
        <p:spPr>
          <a:xfrm>
            <a:off x="777240" y="201168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
        <p:nvSpPr>
          <p:cNvPr id="6" name="Shape 4"/>
          <p:cNvSpPr/>
          <p:nvPr/>
        </p:nvSpPr>
        <p:spPr>
          <a:xfrm>
            <a:off x="4297680" y="2011680"/>
            <a:ext cx="3520440" cy="1234440"/>
          </a:xfrm>
          <a:prstGeom prst="roundRect">
            <a:avLst>
              <a:gd name="adj" fmla="val 7407"/>
            </a:avLst>
          </a:prstGeom>
          <a:solidFill>
            <a:srgbClr val="EEF4EF"/>
          </a:solidFill>
          <a:ln w="12700">
            <a:solidFill>
              <a:srgbClr val="EEF4EF"/>
            </a:solidFill>
            <a:prstDash val="solid"/>
          </a:ln>
        </p:spPr>
      </p:sp>
      <p:sp>
        <p:nvSpPr>
          <p:cNvPr id="7" name="Text 5"/>
          <p:cNvSpPr txBox="1"/>
          <p:nvPr/>
        </p:nvSpPr>
        <p:spPr>
          <a:xfrm>
            <a:off x="4526280" y="201168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8" name="Shape 6"/>
          <p:cNvSpPr/>
          <p:nvPr/>
        </p:nvSpPr>
        <p:spPr>
          <a:xfrm>
            <a:off x="8046720" y="2011680"/>
            <a:ext cx="3520440" cy="1234440"/>
          </a:xfrm>
          <a:prstGeom prst="roundRect">
            <a:avLst>
              <a:gd name="adj" fmla="val 7407"/>
            </a:avLst>
          </a:prstGeom>
          <a:solidFill>
            <a:srgbClr val="EEF4EF"/>
          </a:solidFill>
          <a:ln w="12700">
            <a:solidFill>
              <a:srgbClr val="EEF4EF"/>
            </a:solidFill>
            <a:prstDash val="solid"/>
          </a:ln>
        </p:spPr>
      </p:sp>
      <p:sp>
        <p:nvSpPr>
          <p:cNvPr id="9" name="Text 7"/>
          <p:cNvSpPr txBox="1"/>
          <p:nvPr/>
        </p:nvSpPr>
        <p:spPr>
          <a:xfrm>
            <a:off x="8275320" y="201168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Competition</a:t>
            </a:r>
            <a:endParaRPr lang="en-US" sz="2600" dirty="0"/>
          </a:p>
        </p:txBody>
      </p:sp>
      <p:sp>
        <p:nvSpPr>
          <p:cNvPr id="10" name="Shape 8"/>
          <p:cNvSpPr/>
          <p:nvPr/>
        </p:nvSpPr>
        <p:spPr>
          <a:xfrm>
            <a:off x="548640" y="3474720"/>
            <a:ext cx="3520440" cy="1234440"/>
          </a:xfrm>
          <a:prstGeom prst="roundRect">
            <a:avLst>
              <a:gd name="adj" fmla="val 7407"/>
            </a:avLst>
          </a:prstGeom>
          <a:solidFill>
            <a:srgbClr val="EEF4EF"/>
          </a:solidFill>
          <a:ln w="12700">
            <a:solidFill>
              <a:srgbClr val="EEF4EF"/>
            </a:solidFill>
            <a:prstDash val="solid"/>
          </a:ln>
        </p:spPr>
      </p:sp>
      <p:sp>
        <p:nvSpPr>
          <p:cNvPr id="11" name="Text 9"/>
          <p:cNvSpPr txBox="1"/>
          <p:nvPr/>
        </p:nvSpPr>
        <p:spPr>
          <a:xfrm>
            <a:off x="777240" y="347472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Competition</a:t>
            </a:r>
            <a:endParaRPr lang="en-US" sz="2600" dirty="0"/>
          </a:p>
        </p:txBody>
      </p:sp>
      <p:sp>
        <p:nvSpPr>
          <p:cNvPr id="12" name="Shape 10"/>
          <p:cNvSpPr/>
          <p:nvPr/>
        </p:nvSpPr>
        <p:spPr>
          <a:xfrm>
            <a:off x="4297680" y="3474720"/>
            <a:ext cx="3520440" cy="1234440"/>
          </a:xfrm>
          <a:prstGeom prst="roundRect">
            <a:avLst>
              <a:gd name="adj" fmla="val 7407"/>
            </a:avLst>
          </a:prstGeom>
          <a:solidFill>
            <a:srgbClr val="EEF4EF"/>
          </a:solidFill>
          <a:ln w="12700">
            <a:solidFill>
              <a:srgbClr val="EEF4EF"/>
            </a:solidFill>
            <a:prstDash val="solid"/>
          </a:ln>
        </p:spPr>
      </p:sp>
      <p:sp>
        <p:nvSpPr>
          <p:cNvPr id="13" name="Text 11"/>
          <p:cNvSpPr txBox="1"/>
          <p:nvPr/>
        </p:nvSpPr>
        <p:spPr>
          <a:xfrm>
            <a:off x="4526280" y="347472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14" name="Shape 12"/>
          <p:cNvSpPr/>
          <p:nvPr/>
        </p:nvSpPr>
        <p:spPr>
          <a:xfrm>
            <a:off x="8046720" y="3474720"/>
            <a:ext cx="3520440" cy="1234440"/>
          </a:xfrm>
          <a:prstGeom prst="roundRect">
            <a:avLst>
              <a:gd name="adj" fmla="val 7407"/>
            </a:avLst>
          </a:prstGeom>
          <a:solidFill>
            <a:srgbClr val="EEF4EF"/>
          </a:solidFill>
          <a:ln w="12700">
            <a:solidFill>
              <a:srgbClr val="EEF4EF"/>
            </a:solidFill>
            <a:prstDash val="solid"/>
          </a:ln>
        </p:spPr>
      </p:sp>
      <p:sp>
        <p:nvSpPr>
          <p:cNvPr id="15" name="Text 13"/>
          <p:cNvSpPr txBox="1"/>
          <p:nvPr/>
        </p:nvSpPr>
        <p:spPr>
          <a:xfrm>
            <a:off x="8275320" y="347472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
        <p:nvSpPr>
          <p:cNvPr id="16" name="Shape 14"/>
          <p:cNvSpPr/>
          <p:nvPr/>
        </p:nvSpPr>
        <p:spPr>
          <a:xfrm>
            <a:off x="548640" y="4937760"/>
            <a:ext cx="3520440" cy="1234440"/>
          </a:xfrm>
          <a:prstGeom prst="roundRect">
            <a:avLst>
              <a:gd name="adj" fmla="val 7407"/>
            </a:avLst>
          </a:prstGeom>
          <a:solidFill>
            <a:srgbClr val="EEF4EF"/>
          </a:solidFill>
          <a:ln w="12700">
            <a:solidFill>
              <a:srgbClr val="EEF4EF"/>
            </a:solidFill>
            <a:prstDash val="solid"/>
          </a:ln>
        </p:spPr>
      </p:sp>
      <p:sp>
        <p:nvSpPr>
          <p:cNvPr id="17" name="Text 15"/>
          <p:cNvSpPr txBox="1"/>
          <p:nvPr/>
        </p:nvSpPr>
        <p:spPr>
          <a:xfrm>
            <a:off x="777240" y="493776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Value Prop</a:t>
            </a:r>
            <a:endParaRPr lang="en-US" sz="2600" dirty="0"/>
          </a:p>
        </p:txBody>
      </p:sp>
      <p:sp>
        <p:nvSpPr>
          <p:cNvPr id="18" name="Shape 16"/>
          <p:cNvSpPr/>
          <p:nvPr/>
        </p:nvSpPr>
        <p:spPr>
          <a:xfrm>
            <a:off x="4297680" y="4937760"/>
            <a:ext cx="3520440" cy="1234440"/>
          </a:xfrm>
          <a:prstGeom prst="roundRect">
            <a:avLst>
              <a:gd name="adj" fmla="val 7407"/>
            </a:avLst>
          </a:prstGeom>
          <a:solidFill>
            <a:srgbClr val="EEF4EF"/>
          </a:solidFill>
          <a:ln w="12700">
            <a:solidFill>
              <a:srgbClr val="EEF4EF"/>
            </a:solidFill>
            <a:prstDash val="solid"/>
          </a:ln>
        </p:spPr>
      </p:sp>
      <p:sp>
        <p:nvSpPr>
          <p:cNvPr id="19" name="Text 17"/>
          <p:cNvSpPr txBox="1"/>
          <p:nvPr/>
        </p:nvSpPr>
        <p:spPr>
          <a:xfrm>
            <a:off x="4526280" y="493776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20" name="Shape 18"/>
          <p:cNvSpPr/>
          <p:nvPr/>
        </p:nvSpPr>
        <p:spPr>
          <a:xfrm>
            <a:off x="8046720" y="4937760"/>
            <a:ext cx="3520440" cy="1234440"/>
          </a:xfrm>
          <a:prstGeom prst="roundRect">
            <a:avLst>
              <a:gd name="adj" fmla="val 7407"/>
            </a:avLst>
          </a:prstGeom>
          <a:solidFill>
            <a:srgbClr val="EEF4EF"/>
          </a:solidFill>
          <a:ln w="12700">
            <a:solidFill>
              <a:srgbClr val="EEF4EF"/>
            </a:solidFill>
            <a:prstDash val="solid"/>
          </a:ln>
        </p:spPr>
      </p:sp>
      <p:sp>
        <p:nvSpPr>
          <p:cNvPr id="21" name="Text 19"/>
          <p:cNvSpPr txBox="1"/>
          <p:nvPr/>
        </p:nvSpPr>
        <p:spPr>
          <a:xfrm>
            <a:off x="8275320" y="4937760"/>
            <a:ext cx="3108960" cy="12344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Appraise the assumptions, dependencies and uncertainties behind the organisation’s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collective accountability by assigning ownership for verifying critical conditions.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Shared case study · Meridian Health Group</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 premium specialist hospital group launches a digital-first virtual-care platform. Stress-test the direction before execution begins.</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ABCV–MBT Working Papers: four steps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 Individual Working Paper:  </a:t>
            </a:r>
            <a:pPr indent="0" marL="0">
              <a:buNone/>
            </a:pPr>
            <a:r>
              <a:rPr lang="en-US" sz="2600" dirty="0">
                <a:solidFill>
                  <a:srgbClr val="1F2A22"/>
                </a:solidFill>
                <a:latin typeface="Calibri" pitchFamily="34" charset="0"/>
                <a:ea typeface="Calibri" pitchFamily="34" charset="-122"/>
                <a:cs typeface="Calibri" pitchFamily="34" charset="-120"/>
              </a:rPr>
              <a:t>up to three objectives, all four checkpoints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Consensus &amp; Synthesis:  </a:t>
            </a:r>
            <a:pPr indent="0" marL="0">
              <a:buNone/>
            </a:pPr>
            <a:r>
              <a:rPr lang="en-US" sz="2600" dirty="0">
                <a:solidFill>
                  <a:srgbClr val="1F2A22"/>
                </a:solidFill>
                <a:latin typeface="Calibri" pitchFamily="34" charset="0"/>
                <a:ea typeface="Calibri" pitchFamily="34" charset="-122"/>
                <a:cs typeface="Calibri" pitchFamily="34" charset="-120"/>
              </a:rPr>
              <a:t>top five priority MBT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Leadership Ownership:  </a:t>
            </a:r>
            <a:pPr indent="0" marL="0">
              <a:buNone/>
            </a:pPr>
            <a:r>
              <a:rPr lang="en-US" sz="2600" dirty="0">
                <a:solidFill>
                  <a:srgbClr val="1F2A22"/>
                </a:solidFill>
                <a:latin typeface="Calibri" pitchFamily="34" charset="0"/>
                <a:ea typeface="Calibri" pitchFamily="34" charset="-122"/>
                <a:cs typeface="Calibri" pitchFamily="34" charset="-120"/>
              </a:rPr>
              <a:t>a named owner for every condition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4 · Supporting Partners:  </a:t>
            </a:r>
            <a:pPr indent="0" marL="0">
              <a:buNone/>
            </a:pPr>
            <a:r>
              <a:rPr lang="en-US" sz="2600" dirty="0">
                <a:solidFill>
                  <a:srgbClr val="1F2A22"/>
                </a:solidFill>
                <a:latin typeface="Calibri" pitchFamily="34" charset="0"/>
                <a:ea typeface="Calibri" pitchFamily="34" charset="-122"/>
                <a:cs typeface="Calibri" pitchFamily="34" charset="-120"/>
              </a:rPr>
              <a:t>evidence, sources and timeline</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realistic strategic failures to diagnose where directional integrity broke down.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Judge which integrity checkpoint would have protected the chosen direction.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Cause of Death: four mines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1 · The Ghost Ship</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Retention collapsed; the product never changed.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2 · The Ferrari in the Mud</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Excellent system; under 30% consistent use.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3 · The Invisible Disruption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#1 in satisfaction; revenue declining.</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Mine 4 · The Identity Crisis</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More work won; distinctiveness lost.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Answer key (facilitator only)</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Ghost Ship:  </a:t>
            </a:r>
            <a:pPr indent="0" marL="0">
              <a:buNone/>
            </a:pPr>
            <a:r>
              <a:rPr lang="en-US" sz="2600" dirty="0">
                <a:solidFill>
                  <a:srgbClr val="1F2A22"/>
                </a:solidFill>
                <a:latin typeface="Calibri" pitchFamily="34" charset="0"/>
                <a:ea typeface="Calibri" pitchFamily="34" charset="-122"/>
                <a:cs typeface="Calibri" pitchFamily="34" charset="-120"/>
              </a:rPr>
              <a:t>Q1 · Arena</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Ferrari in the Mud:  </a:t>
            </a:r>
            <a:pPr indent="0" marL="0">
              <a:buNone/>
            </a:pPr>
            <a:r>
              <a:rPr lang="en-US" sz="2600" dirty="0">
                <a:solidFill>
                  <a:srgbClr val="1F2A22"/>
                </a:solidFill>
                <a:latin typeface="Calibri" pitchFamily="34" charset="0"/>
                <a:ea typeface="Calibri" pitchFamily="34" charset="-122"/>
                <a:cs typeface="Calibri" pitchFamily="34" charset="-120"/>
              </a:rPr>
              <a:t>Q2 · Boundaries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Invisible Disruption:  </a:t>
            </a:r>
            <a:pPr indent="0" marL="0">
              <a:buNone/>
            </a:pPr>
            <a:r>
              <a:rPr lang="en-US" sz="2600" dirty="0">
                <a:solidFill>
                  <a:srgbClr val="1F2A22"/>
                </a:solidFill>
                <a:latin typeface="Calibri" pitchFamily="34" charset="0"/>
                <a:ea typeface="Calibri" pitchFamily="34" charset="-122"/>
                <a:cs typeface="Calibri" pitchFamily="34" charset="-120"/>
              </a:rPr>
              <a:t>Q3 · Competition</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Identity Crisis:  </a:t>
            </a:r>
            <a:pPr indent="0" marL="0">
              <a:buNone/>
            </a:pPr>
            <a:r>
              <a:rPr lang="en-US" sz="2600" dirty="0">
                <a:solidFill>
                  <a:srgbClr val="1F2A22"/>
                </a:solidFill>
                <a:latin typeface="Calibri" pitchFamily="34" charset="0"/>
                <a:ea typeface="Calibri" pitchFamily="34" charset="-122"/>
                <a:cs typeface="Calibri" pitchFamily="34" charset="-120"/>
              </a:rPr>
              <a:t>Q4 · Value Proposition</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 commitment</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Institute of Behavioural Strategy &amp; Leadership</cp:lastModifiedBy>
  <cp:revision>1</cp:revision>
  <dcterms:created xsi:type="dcterms:W3CDTF">2026-09-29T13:20:21Z</dcterms:created>
  <dcterms:modified xsi:type="dcterms:W3CDTF">2026-09-29T13:20:21Z</dcterms:modified>
</cp:coreProperties>
</file>