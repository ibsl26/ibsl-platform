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91" r:id="rId42"/>
    <p:sldId id="271" r:id="rId17"/>
    <p:sldId id="272" r:id="rId18"/>
    <p:sldId id="273" r:id="rId19"/>
    <p:sldId id="274" r:id="rId20"/>
    <p:sldId id="275" r:id="rId21"/>
    <p:sldId id="276" r:id="rId22"/>
    <p:sldId id="277" r:id="rId23"/>
    <p:sldId id="292" r:id="rId43"/>
    <p:sldId id="278" r:id="rId24"/>
    <p:sldId id="279" r:id="rId25"/>
    <p:sldId id="280" r:id="rId26"/>
    <p:sldId id="281" r:id="rId27"/>
    <p:sldId id="282" r:id="rId28"/>
    <p:sldId id="283" r:id="rId29"/>
    <p:sldId id="284" r:id="rId30"/>
    <p:sldId id="285" r:id="rId31"/>
    <p:sldId id="286" r:id="rId32"/>
    <p:sldId id="287" r:id="rId33"/>
    <p:sldId id="288" r:id="rId34"/>
    <p:sldId id="289" r:id="rId35"/>
    <p:sldId id="293" r:id="rId44"/>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8.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16.xml"/><Relationship Id="rId43" Type="http://schemas.openxmlformats.org/officeDocument/2006/relationships/slide" Target="slides/slide24.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4 · DIRECTION INTEGRITY (ABCV-MBT)</a:t>
            </a:r>
          </a:p>
          <a:p>
            <a:r>
              <a:rPr lang="en-GB" dirty="0"/>
              <a:t>Module 2 · Direction · Unit 4</a:t>
            </a:r>
          </a:p>
          <a:p>
            <a:endParaRPr lang="en-GB" dirty="0"/>
          </a:p>
          <a:p>
            <a:r>
              <a:rPr lang="en-GB" b="1" dirty="0"/>
              <a:t>UNIT INTENT</a:t>
            </a:r>
          </a:p>
          <a:p>
            <a:r>
              <a:rPr lang="en-GB" dirty="0"/>
              <a:t>Unit overview (facilitator file): Ensuring OKRs are anchored in customer reality, resilient to operational friction, and coherent with your organisation’s unique value before execution begins.</a:t>
            </a:r>
          </a:p>
          <a:p>
            <a:endParaRPr lang="en-GB" dirty="0"/>
          </a:p>
          <a:p>
            <a:r>
              <a:rPr lang="en-GB" dirty="0"/>
              <a:t>Unit 4 tests whether the chosen direction is strategically sound. The four ABCV checkpoints (Arena, Boundaries, Competition and Value Proposition) and their Must-Be-True conditions turn assumptions into named, verifiable conditions.</a:t>
            </a:r>
          </a:p>
          <a:p>
            <a:endParaRPr lang="en-GB" dirty="0"/>
          </a:p>
          <a:p>
            <a:r>
              <a:rPr lang="en-GB" dirty="0"/>
              <a:t>The Key Results tested are the ones the group confirmed in Unit 3: no new objective or metric enters the unit.</a:t>
            </a:r>
          </a:p>
          <a:p>
            <a:endParaRPr lang="en-GB" dirty="0"/>
          </a:p>
          <a:p>
            <a:r>
              <a:rPr lang="en-GB" b="1" dirty="0"/>
              <a:t>WHAT THE UNIT PRODUCES:</a:t>
            </a:r>
          </a:p>
          <a:p>
            <a:r>
              <a:rPr lang="en-GB" dirty="0"/>
              <a:t>1. Each group produces its ABCV–MBT record: every Key Result it confirmed in Unit 3, taken through four steps, with one Must-Be-True condition named at each step. This is Capstone work.</a:t>
            </a:r>
          </a:p>
          <a:p>
            <a:r>
              <a:rPr lang="en-GB" dirty="0"/>
              <a:t>2. Each participant produces two pieces of portfolio work: the Industry Illusion game of Section 2 and the Cause of Death game of Section 5.</a:t>
            </a:r>
          </a:p>
          <a:p>
            <a:r>
              <a:rPr lang="en-GB" dirty="0"/>
              <a:t>3. Each participant writes four reflections, the last of them a closing commitment.</a:t>
            </a:r>
          </a:p>
          <a:p>
            <a:endParaRPr lang="en-GB" dirty="0"/>
          </a:p>
          <a:p>
            <a:r>
              <a:rPr lang="en-GB" b="1" dirty="0"/>
              <a:t>HOW THE UNIT RUNS:</a:t>
            </a:r>
          </a:p>
          <a:p>
            <a:r>
              <a:rPr lang="en-GB" dirty="0"/>
              <a:t>1. You teach the whole unit from this deck first, from Section 1 to the Unit Summary. The deck is the teaching material. The teaching includes the Industry Illusion game, played with the room in groups.</a:t>
            </a:r>
          </a:p>
          <a:p>
            <a:r>
              <a:rPr lang="en-GB" dirty="0"/>
              <a:t>2. Participants then complete their own page on the portal, in the session or after it: the reflections, their own Industry Illusion game, the group work of Section 4 and the Cause of Death game.</a:t>
            </a:r>
          </a:p>
          <a:p>
            <a:r>
              <a:rPr lang="en-GB" dirty="0"/>
              <a:t>3. Section 4 on the portal is group work for the Capstone. The group agrees each entry and one member acts as scribe.</a:t>
            </a:r>
          </a:p>
          <a:p>
            <a:r>
              <a:rPr lang="en-GB" dirty="0"/>
              <a:t>Every member then types the agreed entries into their own page.</a:t>
            </a:r>
          </a:p>
          <a:p>
            <a:r>
              <a:rPr lang="en-GB" dirty="0"/>
              <a:t>4. The Industry Illusion game in Section 2 and the Cause of Death game in Section 5 are portfolio work, completed by each participant alone.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2, part 2.2, so that the Industry Illusion game can be shared when you reach it.</a:t>
            </a:r>
          </a:p>
          <a:p>
            <a:r>
              <a:rPr lang="en-GB" dirty="0"/>
              <a:t>- Each group needs its confirmed Enterprise OKRs from Unit 3 in front of it: every exercise in this unit works on those Key Results.</a:t>
            </a:r>
          </a:p>
          <a:p>
            <a:endParaRPr lang="en-GB" dirty="0"/>
          </a:p>
          <a:p>
            <a:r>
              <a:rPr lang="en-GB" dirty="0"/>
              <a:t>Where the outputs go next:</a:t>
            </a:r>
          </a:p>
          <a:p>
            <a:r>
              <a:rPr lang="en-GB" dirty="0"/>
              <a:t>- The confirmed Must-Be-True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four ABCV checkpoints) and produced in 4.2, where each group tests its own Key Results.</a:t>
            </a:r>
          </a:p>
          <a:p>
            <a:r>
              <a:rPr lang="en-GB" dirty="0"/>
              <a:t>- Outcome 2 is built at each checkpoint, where a Must-Be-True condition is named, and shown in 4.1 (the worked example: one Key Result, four steps, four conditions).</a:t>
            </a:r>
          </a:p>
          <a:p>
            <a:r>
              <a:rPr lang="en-GB" dirty="0"/>
              <a:t>- Outcome 3 is built in 1.3 and 1.4 (Competition and Value Proposition) and in Section 2 (the Industry Illusion).</a:t>
            </a:r>
          </a:p>
          <a:p>
            <a:r>
              <a:rPr lang="en-GB" dirty="0"/>
              <a:t>- Outcome 4 is built in Section 3 (the blind spot of each executive role) and produced in 4.2, where the group confirms its conditions together.</a:t>
            </a:r>
          </a:p>
          <a:p>
            <a:endParaRPr lang="en-GB" dirty="0"/>
          </a:p>
          <a:p>
            <a:r>
              <a:rPr lang="en-GB" dirty="0"/>
              <a:t>Each section slide carries that section’s two learning outcomes.</a:t>
            </a:r>
          </a:p>
          <a:p>
            <a:endParaRPr lang="en-GB" dirty="0"/>
          </a:p>
          <a:p>
            <a:r>
              <a:rPr lang="en-GB" b="1" dirty="0"/>
              <a:t>QUESTION TO ASK:</a:t>
            </a:r>
          </a:p>
          <a:p>
            <a:r>
              <a:rPr lang="en-GB" dirty="0"/>
              <a:t>"What is your current strategy assuming about customers that nobody has verified?"</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4 is where each group tests its own Key Results for the Capstone, and Section 5 is a diagnosis game each participant plays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Section 1 · Awareness — What: the flow from Unit 3 to Unit 4, then the four ABCV checkpoints one at a time (Arena, Boundaries, Competition, Value Proposition), each with its Must-Be-True condition, then the four brought together.</a:t>
            </a:r>
          </a:p>
          <a:p>
            <a:endParaRPr lang="en-GB" dirty="0"/>
          </a:p>
          <a:p>
            <a:r>
              <a:rPr lang="en-GB" dirty="0"/>
              <a:t>- Section 2 · Intelligence — Why: the Industry Illusion and its three traps (Familiarity, Exclusion, Complacency), then the Industry Illusion game on the case of a university.</a:t>
            </a:r>
          </a:p>
          <a:p>
            <a:endParaRPr lang="en-GB" dirty="0"/>
          </a:p>
          <a:p>
            <a:r>
              <a:rPr lang="en-GB" dirty="0"/>
              <a:t>- Section 3 · Extrapolating — Where: the ABCV checkpoint each executive role most often overlooks.</a:t>
            </a:r>
          </a:p>
          <a:p>
            <a:endParaRPr lang="en-GB" dirty="0"/>
          </a:p>
          <a:p>
            <a:r>
              <a:rPr lang="en-GB" dirty="0"/>
              <a:t>- Section 4 · Integration — Collective: one worked example, then each group takes its Unit 3 Key Results through the same four steps.</a:t>
            </a:r>
          </a:p>
          <a:p>
            <a:endParaRPr lang="en-GB" dirty="0"/>
          </a:p>
          <a:p>
            <a:r>
              <a:rPr lang="en-GB" dirty="0"/>
              <a:t>- Section 5 · Application — In Practice: Cause of Death, four failed strategies tested against the Industry Illusion.</a:t>
            </a:r>
          </a:p>
          <a:p>
            <a:endParaRPr lang="en-GB" dirty="0"/>
          </a:p>
          <a:p>
            <a:r>
              <a:rPr lang="en-GB" b="1" dirty="0"/>
              <a:t>KEY FACILITATION QUESTIONS:</a:t>
            </a:r>
          </a:p>
          <a:p>
            <a:r>
              <a:rPr lang="en-GB" dirty="0"/>
              <a:t>- "Who else solves your customer’s problem, including those outside your industry?"</a:t>
            </a:r>
          </a:p>
          <a:p>
            <a:r>
              <a:rPr lang="en-GB" dirty="0"/>
              <a:t>- "Which ABCV checkpoint is your executive function least likely to examine? What risk does that create for the enterprise?"</a:t>
            </a:r>
          </a:p>
          <a:p>
            <a:r>
              <a:rPr lang="en-GB" dirty="0"/>
              <a:t>- "What is the one Must-Be-True condition your team is most likely to avoid naming, and who will verify it before the next strategic review?"</a:t>
            </a:r>
          </a:p>
          <a:p>
            <a:endParaRPr lang="en-GB" dirty="0"/>
          </a:p>
          <a:p>
            <a:r>
              <a:rPr lang="en-GB" b="1" dirty="0"/>
              <a:t>TONE AND WATCH POINTS:</a:t>
            </a:r>
          </a:p>
          <a:p>
            <a:r>
              <a:rPr lang="en-GB" dirty="0"/>
              <a:t>- Watch for Must-Be-True conditions written as risks or concerns. Each must be a condition that is either true or false.</a:t>
            </a:r>
          </a:p>
          <a:p>
            <a:r>
              <a:rPr lang="en-GB" dirty="0"/>
              <a:t>- Watch for competition defined as industry rivals only. Push for every alternative the customer can choose, including doing nothing.</a:t>
            </a:r>
          </a:p>
          <a:p>
            <a:r>
              <a:rPr lang="en-GB" dirty="0"/>
              <a:t>- Insist on specific conditions.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The overview: the flow from Unit 3 to Unit 4 and the logic of the four steps.</a:t>
            </a:r>
          </a:p>
          <a:p>
            <a:r>
              <a:rPr lang="en-GB" dirty="0"/>
              <a:t>2. 1.1 to 1.4: the four checkpoints, one at a time. Each has two slides: the checkpoint itself, then its Must-Be-True condition.</a:t>
            </a:r>
          </a:p>
          <a:p>
            <a:r>
              <a:rPr lang="en-GB" dirty="0"/>
              <a:t>3. Bringing ABCV Together: the integrated view.</a:t>
            </a:r>
          </a:p>
          <a:p>
            <a:r>
              <a:rPr lang="en-GB" dirty="0"/>
              <a:t>4. The Section 1 Reflections slide: the two reflections participants write on the portal after the teaching.</a:t>
            </a:r>
          </a:p>
          <a:p>
            <a:endParaRPr lang="en-GB" dirty="0"/>
          </a:p>
          <a:p>
            <a:r>
              <a:rPr lang="en-GB" b="1" dirty="0"/>
              <a:t>SECTION LEARNING OUTCOMES:</a:t>
            </a:r>
          </a:p>
          <a:p>
            <a:r>
              <a:rPr lang="en-GB" dirty="0"/>
              <a:t>1. Recognise why well-formulated objectives can still lack strategic credibility.</a:t>
            </a:r>
          </a:p>
          <a:p>
            <a:r>
              <a:rPr lang="en-GB" dirty="0"/>
              <a:t>2. Distinguish objectives that are measurable from those that are strategically coherent.</a:t>
            </a:r>
          </a:p>
          <a:p>
            <a:endParaRPr lang="en-GB" dirty="0"/>
          </a:p>
          <a:p>
            <a:r>
              <a:rPr lang="en-GB" b="1" dirty="0"/>
              <a:t>HOW TO OPEN THE SECTION:</a:t>
            </a:r>
          </a:p>
          <a:p>
            <a:endParaRPr lang="en-GB" dirty="0"/>
          </a:p>
          <a:p>
            <a:r>
              <a:rPr lang="en-GB" b="1" dirty="0"/>
              <a:t>1. Open with the question that creates the need.</a:t>
            </a:r>
          </a:p>
          <a:p>
            <a:r>
              <a:rPr lang="en-GB" dirty="0"/>
              <a:t>Ask: "How many of you have experienced a well-crafted strategy that fell apart once execution started because of assumptions we hadn’t named until they broke?"</a:t>
            </a:r>
          </a:p>
          <a:p>
            <a:r>
              <a:rPr lang="en-GB" dirty="0"/>
              <a:t>Pause. Use the silence.</a:t>
            </a:r>
          </a:p>
          <a:p>
            <a:endParaRPr lang="en-GB" dirty="0"/>
          </a:p>
          <a:p>
            <a:r>
              <a:rPr lang="en-GB" b="1" dirty="0"/>
              <a:t>2. Introduce ABCV–MBT.</a:t>
            </a:r>
          </a:p>
          <a:p>
            <a:r>
              <a:rPr lang="en-GB" dirty="0"/>
              <a:t>Say: "ABCV–MBT is the tool that names those invisible assumptions before they become expensive failures."</a:t>
            </a:r>
          </a:p>
          <a:p>
            <a:r>
              <a:rPr lang="en-GB" dirty="0"/>
              <a:t>Section intent: leaders must feel the danger of unnamed assumptions before they can value the discipline of naming them.</a:t>
            </a:r>
          </a:p>
          <a:p>
            <a:endParaRPr lang="en-GB" dirty="0"/>
          </a:p>
          <a:p>
            <a:r>
              <a:rPr lang="en-GB" b="1" dirty="0"/>
              <a:t>3. Say what each group brings into the unit.</a:t>
            </a:r>
          </a:p>
          <a:p>
            <a:r>
              <a:rPr lang="en-GB" dirty="0"/>
              <a:t>Say: "You arrive with the Enterprise OKRs your group confirmed in Unit 3. Every exercise in this unit works on those Key Results."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FROM UNIT 3 TO UNIT 4 (STRATEGIC CONTEXT)</a:t>
            </a:r>
          </a:p>
          <a:p>
            <a:endParaRPr lang="en-GB" dirty="0"/>
          </a:p>
          <a:p>
            <a:r>
              <a:rPr lang="en-GB" b="1" dirty="0"/>
              <a:t>HOW TO TEACH IT:</a:t>
            </a:r>
          </a:p>
          <a:p>
            <a:endParaRPr lang="en-GB" dirty="0"/>
          </a:p>
          <a:p>
            <a:r>
              <a:rPr lang="en-GB" b="1" dirty="0"/>
              <a:t>1. Read the statement on the slide aloud.</a:t>
            </a:r>
          </a:p>
          <a:p>
            <a:r>
              <a:rPr lang="en-GB" dirty="0"/>
              <a:t>"Your group has defined its OKRs. Now the question is whether they are strategically sound."</a:t>
            </a:r>
          </a:p>
          <a:p>
            <a:endParaRPr lang="en-GB" dirty="0"/>
          </a:p>
          <a:p>
            <a:r>
              <a:rPr lang="en-GB" b="1" dirty="0"/>
              <a:t>2. Say where the room stands.</a:t>
            </a:r>
          </a:p>
          <a:p>
            <a:r>
              <a:rPr lang="en-GB" dirty="0"/>
              <a:t>Say: "In Unit 3 your group translated its Success in Practice into Enterprise OKRs.</a:t>
            </a:r>
          </a:p>
          <a:p>
            <a:r>
              <a:rPr lang="en-GB" dirty="0"/>
              <a:t>They are measurable, they are ambitious and they have deadlines.</a:t>
            </a:r>
          </a:p>
          <a:p>
            <a:r>
              <a:rPr lang="en-GB" dirty="0"/>
              <a:t>The next step is to move past well-written OKRs and ask whether they are strategically sound."</a:t>
            </a:r>
          </a:p>
          <a:p>
            <a:endParaRPr lang="en-GB" dirty="0"/>
          </a:p>
          <a:p>
            <a:r>
              <a:rPr lang="en-GB" b="1" dirty="0"/>
              <a:t>3. Name the danger.</a:t>
            </a:r>
          </a:p>
          <a:p>
            <a:r>
              <a:rPr lang="en-GB" dirty="0"/>
              <a:t>Say: "Most strategies fail because of unnamed conditions.</a:t>
            </a:r>
          </a:p>
          <a:p>
            <a:r>
              <a:rPr lang="en-GB" dirty="0"/>
              <a:t>Goals are built on a bed of invisible assumptions that are discovered only once execution begins and things start to break.</a:t>
            </a:r>
          </a:p>
          <a:p>
            <a:r>
              <a:rPr lang="en-GB" dirty="0"/>
              <a:t>By then, the cost of correction is massive."</a:t>
            </a:r>
          </a:p>
          <a:p>
            <a:r>
              <a:rPr lang="en-GB" dirty="0"/>
              <a:t>Ask: "Think of a goal that failed in your organisation. Was it a lack of effort, or was there an assumption that turned out to be wrong, one you didn’t name until it broke?"</a:t>
            </a:r>
          </a:p>
          <a:p>
            <a:r>
              <a:rPr lang="en-GB" dirty="0"/>
              <a:t>Take two or three answers.</a:t>
            </a:r>
          </a:p>
          <a:p>
            <a:endParaRPr lang="en-GB" dirty="0"/>
          </a:p>
          <a:p>
            <a:r>
              <a:rPr lang="en-GB" dirty="0"/>
              <a:t>Deepen, say: "A sound strategy fails when internal reality does not match stated intent.</a:t>
            </a:r>
          </a:p>
          <a:p>
            <a:r>
              <a:rPr lang="en-GB" dirty="0"/>
              <a:t>Until the hidden misalignment is dealt with, no amount of planning produces the result.</a:t>
            </a:r>
          </a:p>
          <a:p>
            <a:r>
              <a:rPr lang="en-GB" dirty="0"/>
              <a:t>Address what is blocking forward movement before improving the plan."</a:t>
            </a:r>
          </a:p>
          <a:p>
            <a:r>
              <a:rPr lang="en-GB" dirty="0"/>
              <a:t>(Insight: Unnamed conditions. Source: Journal, 6 April 2026 — Professional Insights: Strategy)</a:t>
            </a:r>
          </a:p>
          <a:p>
            <a:endParaRPr lang="en-GB" dirty="0"/>
          </a:p>
          <a:p>
            <a:r>
              <a:rPr lang="en-GB" b="1" dirty="0"/>
              <a:t>4. Bridge to the logic.</a:t>
            </a:r>
          </a:p>
          <a:p>
            <a:r>
              <a:rPr lang="en-GB" dirty="0"/>
              <a:t>Say: "ABCV is used to interrogate whether an agreed strategic direction is sound enough to carry into execution. The next slide shows how it works."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THE LOGIC (4 STEPS · 1 CONDITION AT EACH)</a:t>
            </a:r>
          </a:p>
          <a:p>
            <a:endParaRPr lang="en-GB" dirty="0"/>
          </a:p>
          <a:p>
            <a:r>
              <a:rPr lang="en-GB" b="1" dirty="0"/>
              <a:t>HOW TO TEACH IT:</a:t>
            </a:r>
          </a:p>
          <a:p>
            <a:endParaRPr lang="en-GB" dirty="0"/>
          </a:p>
          <a:p>
            <a:r>
              <a:rPr lang="en-GB" b="1" dirty="0"/>
              <a:t>1. Walk the four steps on the slide.</a:t>
            </a:r>
          </a:p>
          <a:p>
            <a:r>
              <a:rPr lang="en-GB" dirty="0"/>
              <a:t>Say: "ABCV forces leaders to examine the strategic logic through four checkpoints."</a:t>
            </a:r>
          </a:p>
          <a:p>
            <a:r>
              <a:rPr lang="en-GB" dirty="0"/>
              <a:t>- Step 1 · Define the Arena. Are we anchored in the right customer end game?</a:t>
            </a:r>
          </a:p>
          <a:p>
            <a:r>
              <a:rPr lang="en-GB" dirty="0"/>
              <a:t>- Step 2 · Understand the Boundaries. What conditions could constrain our ability to deliver?</a:t>
            </a:r>
          </a:p>
          <a:p>
            <a:r>
              <a:rPr lang="en-GB" dirty="0"/>
              <a:t>- Step 3 · See the Competition. Who or what else can satisfy that end game?</a:t>
            </a:r>
          </a:p>
          <a:p>
            <a:r>
              <a:rPr lang="en-GB" dirty="0"/>
              <a:t>- Step 4 · Establish the Value Proposition. Why should the customer choose the value we create?</a:t>
            </a:r>
          </a:p>
          <a:p>
            <a:endParaRPr lang="en-GB" dirty="0"/>
          </a:p>
          <a:p>
            <a:r>
              <a:rPr lang="en-GB" b="1" dirty="0"/>
              <a:t>2. Introduce Must-Be-True, from the foot of the slide.</a:t>
            </a:r>
          </a:p>
          <a:p>
            <a:r>
              <a:rPr lang="en-GB" dirty="0"/>
              <a:t>Say: "For each checkpoint, MBT, Must-Be-True, makes the underlying assumption explicit.</a:t>
            </a:r>
          </a:p>
          <a:p>
            <a:r>
              <a:rPr lang="en-GB" dirty="0"/>
              <a:t>It names the load-bearing walls of the goals: the specific condition that must remain true for a Key Result to survive.</a:t>
            </a:r>
          </a:p>
          <a:p>
            <a:r>
              <a:rPr lang="en-GB" dirty="0"/>
              <a:t>If one of these conditions shifts or fails, the Key Result becomes fragile by design."</a:t>
            </a:r>
          </a:p>
          <a:p>
            <a:endParaRPr lang="en-GB" dirty="0"/>
          </a:p>
          <a:p>
            <a:r>
              <a:rPr lang="en-GB" b="1" dirty="0"/>
              <a:t>3. Show the flow from Unit 3 to Unit 4.</a:t>
            </a:r>
          </a:p>
          <a:p>
            <a:r>
              <a:rPr lang="en-GB" dirty="0"/>
              <a:t>Say the three stages in order:</a:t>
            </a:r>
          </a:p>
          <a:p>
            <a:r>
              <a:rPr lang="en-GB" dirty="0"/>
              <a:t>- From Unit 3: the group’s Enterprise OKRs, the Objectives and Key Results it confirmed.</a:t>
            </a:r>
          </a:p>
          <a:p>
            <a:r>
              <a:rPr lang="en-GB" dirty="0"/>
              <a:t>- Four checkpoints: Arena, Boundaries, Competition, Value Proposition.</a:t>
            </a:r>
          </a:p>
          <a:p>
            <a:r>
              <a:rPr lang="en-GB" dirty="0"/>
              <a:t>- Must-Be-True conditions: one at each checkpoint, for each Key Result.</a:t>
            </a:r>
          </a:p>
          <a:p>
            <a:r>
              <a:rPr lang="en-GB" dirty="0"/>
              <a:t>Say: "No new objective and no new measure enters this unit. We test the Key Results you already hold."</a:t>
            </a:r>
          </a:p>
          <a:p>
            <a:endParaRPr lang="en-GB" dirty="0"/>
          </a:p>
          <a:p>
            <a:r>
              <a:rPr lang="en-GB" b="1" dirty="0"/>
              <a:t>4. Say what the test secures.</a:t>
            </a:r>
          </a:p>
          <a:p>
            <a:r>
              <a:rPr lang="en-GB" dirty="0"/>
              <a:t>Say: "The test secures strategic priorities that are anchored in customer reality, designed to withstand operational constraints, positioned accurately against the competitive landscape, and coherent with the organisation’s core value."</a:t>
            </a:r>
          </a:p>
          <a:p>
            <a:r>
              <a:rPr lang="en-GB" dirty="0"/>
              <a:t>Say: "By naming these conditions early, you create an early-warning system that detects risks before a well-written ambition collapses under the weight of reality."</a:t>
            </a:r>
          </a:p>
          <a:p>
            <a:endParaRPr lang="en-GB" dirty="0"/>
          </a:p>
          <a:p>
            <a:r>
              <a:rPr lang="en-GB" b="1" dirty="0"/>
              <a:t>5. Bridge to 1.1.</a:t>
            </a:r>
          </a:p>
          <a:p>
            <a:r>
              <a:rPr lang="en-GB" dirty="0"/>
              <a:t>Say: "We take the four checkpoints one at a time. We start with Arena."</a:t>
            </a:r>
          </a:p>
          <a:p>
            <a:endParaRPr lang="en-GB" dirty="0"/>
          </a:p>
          <a:p>
            <a:r>
              <a:rPr lang="en-GB" b="1" dirty="0"/>
              <a:t>ON THE PORTAL, AFTER THE TEACHING:</a:t>
            </a:r>
          </a:p>
          <a:p>
            <a:r>
              <a:rPr lang="en-GB" dirty="0"/>
              <a:t>Participants write the first reflection in Section 1 of the participant file, under the overview. It is shown on the Section 1 Reflections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ARENA (CUSTOMER END GAME)</a:t>
            </a:r>
          </a:p>
          <a:p>
            <a:endParaRPr lang="en-GB" dirty="0"/>
          </a:p>
          <a:p>
            <a:r>
              <a:rPr lang="en-GB" b="1" dirty="0"/>
              <a:t>HOW TO TEACH IT:</a:t>
            </a:r>
          </a:p>
          <a:p>
            <a:endParaRPr lang="en-GB" dirty="0"/>
          </a:p>
          <a:p>
            <a:r>
              <a:rPr lang="en-GB" b="1" dirty="0"/>
              <a:t>1. Read the question of the checkpoint.</a:t>
            </a:r>
          </a:p>
          <a:p>
            <a:r>
              <a:rPr lang="en-GB" dirty="0"/>
              <a:t>"What is the customer ultimately trying to achieve?"</a:t>
            </a:r>
          </a:p>
          <a:p>
            <a:endParaRPr lang="en-GB" dirty="0"/>
          </a:p>
          <a:p>
            <a:r>
              <a:rPr lang="en-GB" b="1" dirty="0"/>
              <a:t>2. Give the strategic logic.</a:t>
            </a:r>
          </a:p>
          <a:p>
            <a:r>
              <a:rPr lang="en-GB" dirty="0"/>
              <a:t>Say: "Strategy starts with a shift in perspective: we compete for a customer need.</a:t>
            </a:r>
          </a:p>
          <a:p>
            <a:r>
              <a:rPr lang="en-GB" dirty="0"/>
              <a:t>If we define our arena by our products, we miss the forest for the trees."</a:t>
            </a:r>
          </a:p>
          <a:p>
            <a:r>
              <a:rPr lang="en-GB" dirty="0"/>
              <a:t>Say: "Arena defines the space in which value is being sought and contested."</a:t>
            </a:r>
          </a:p>
          <a:p>
            <a:r>
              <a:rPr lang="en-GB" dirty="0"/>
              <a:t>Say: "Organisations naturally describe themselves through what they produce or the industry in which they operate: we are a university, we are a bank, we are a mine, we provide insurance.</a:t>
            </a:r>
          </a:p>
          <a:p>
            <a:r>
              <a:rPr lang="en-GB" dirty="0"/>
              <a:t>Those descriptions tell us something important about the organisation.</a:t>
            </a:r>
          </a:p>
          <a:p>
            <a:r>
              <a:rPr lang="en-GB" dirty="0"/>
              <a:t>They do not necessarily tell us what the customer is ultimately trying to accomplish."</a:t>
            </a:r>
          </a:p>
          <a:p>
            <a:endParaRPr lang="en-GB" dirty="0"/>
          </a:p>
          <a:p>
            <a:r>
              <a:rPr lang="en-GB" b="1" dirty="0"/>
              <a:t>3. Use the smartphone.</a:t>
            </a:r>
          </a:p>
          <a:p>
            <a:r>
              <a:rPr lang="en-GB" dirty="0"/>
              <a:t>Say: "Think about the smartphone.</a:t>
            </a:r>
          </a:p>
          <a:p>
            <a:r>
              <a:rPr lang="en-GB" dirty="0"/>
              <a:t>Inside the telecommunications industry, Nokia and Motorola were making phones.</a:t>
            </a:r>
          </a:p>
          <a:p>
            <a:r>
              <a:rPr lang="en-GB" dirty="0"/>
              <a:t>The smartphone became a camera, a map, a bank and a personal assistant.</a:t>
            </a:r>
          </a:p>
          <a:p>
            <a:r>
              <a:rPr lang="en-GB" dirty="0"/>
              <a:t>It moved into multiple Arenas simultaneously."</a:t>
            </a:r>
          </a:p>
          <a:p>
            <a:r>
              <a:rPr lang="en-GB" dirty="0"/>
              <a:t>Ask: "Who in your industry is playing a different game that you’re only just starting to notice?"</a:t>
            </a:r>
          </a:p>
          <a:p>
            <a:endParaRPr lang="en-GB" dirty="0"/>
          </a:p>
          <a:p>
            <a:r>
              <a:rPr lang="en-GB" dirty="0"/>
              <a:t>Deepen, say: "Every organisation exists to do something specific for someone specific.</a:t>
            </a:r>
          </a:p>
          <a:p>
            <a:r>
              <a:rPr lang="en-GB" dirty="0"/>
              <a:t>When it loses its sense of who it serves and what it provides, it loses the culture built around that service.</a:t>
            </a:r>
          </a:p>
          <a:p>
            <a:r>
              <a:rPr lang="en-GB" dirty="0"/>
              <a:t>Keep the specific customer and mission visible."</a:t>
            </a:r>
          </a:p>
          <a:p>
            <a:r>
              <a:rPr lang="en-GB" dirty="0"/>
              <a:t>(Insight: Arena · who we serve. Source: Journal, 31 January 2026 — Professional Insights: Culture)</a:t>
            </a:r>
          </a:p>
          <a:p>
            <a:endParaRPr lang="en-GB" dirty="0"/>
          </a:p>
          <a:p>
            <a:r>
              <a:rPr lang="en-GB" b="1" dirty="0"/>
              <a:t>4. Teach the three depths on the slide, one at a time.</a:t>
            </a:r>
          </a:p>
          <a:p>
            <a:r>
              <a:rPr lang="en-GB" dirty="0"/>
              <a:t>Say: "Arena deliberately returns attention to the Customer End Game. To understand that end game properly, we interrogate it at three depths."</a:t>
            </a:r>
          </a:p>
          <a:p>
            <a:endParaRPr lang="en-GB" dirty="0"/>
          </a:p>
          <a:p>
            <a:r>
              <a:rPr lang="en-GB" dirty="0"/>
              <a:t>Functional — What are they trying to achieve?</a:t>
            </a:r>
          </a:p>
          <a:p>
            <a:r>
              <a:rPr lang="en-GB" dirty="0"/>
              <a:t>Ask: "What needs to get done, solved, accessed, changed or achieved?"</a:t>
            </a:r>
          </a:p>
          <a:p>
            <a:r>
              <a:rPr lang="en-GB" dirty="0"/>
              <a:t>Example: A learner wants to develop relevant capability.</a:t>
            </a:r>
          </a:p>
          <a:p>
            <a:endParaRPr lang="en-GB" dirty="0"/>
          </a:p>
          <a:p>
            <a:r>
              <a:rPr lang="en-GB" dirty="0"/>
              <a:t>Experiential — What matters about how they achieve it?</a:t>
            </a:r>
          </a:p>
          <a:p>
            <a:r>
              <a:rPr lang="en-GB" dirty="0"/>
              <a:t>Ask: "What matters to the customer about the experience of achieving the functional outcome?"</a:t>
            </a:r>
          </a:p>
          <a:p>
            <a:r>
              <a:rPr lang="en-GB" dirty="0"/>
              <a:t>Example: For a working professional, developing capability may need to be flexible, accessible and compatible with employment.</a:t>
            </a:r>
          </a:p>
          <a:p>
            <a:endParaRPr lang="en-GB" dirty="0"/>
          </a:p>
          <a:p>
            <a:r>
              <a:rPr lang="en-GB" dirty="0"/>
              <a:t>Consequential — What does achieving it ultimately enable?</a:t>
            </a:r>
          </a:p>
          <a:p>
            <a:r>
              <a:rPr lang="en-GB" dirty="0"/>
              <a:t>Ask: "What becomes possible, better or different for the customer once this outcome has been achieved?"</a:t>
            </a:r>
          </a:p>
          <a:p>
            <a:r>
              <a:rPr lang="en-GB" dirty="0"/>
              <a:t>Example: A learner develops capability → to progress professionally, access opportunity or improve earning potential.</a:t>
            </a:r>
          </a:p>
          <a:p>
            <a:endParaRPr lang="en-GB" dirty="0"/>
          </a:p>
          <a:p>
            <a:r>
              <a:rPr lang="en-GB" b="1" dirty="0"/>
              <a:t>5. Read the three together.</a:t>
            </a:r>
          </a:p>
          <a:p>
            <a:r>
              <a:rPr lang="en-GB" dirty="0"/>
              <a:t>Say: "These are three depths of one interrogation. Together, they help define the Customer End Game."</a:t>
            </a:r>
          </a:p>
          <a:p>
            <a:endParaRPr lang="en-GB" dirty="0"/>
          </a:p>
          <a:p>
            <a:r>
              <a:rPr lang="en-GB" b="1" dirty="0"/>
              <a:t>EXAMPLE</a:t>
            </a:r>
          </a:p>
          <a:p>
            <a:r>
              <a:rPr lang="en-GB" dirty="0"/>
              <a:t>Higher education.</a:t>
            </a:r>
          </a:p>
          <a:p>
            <a:r>
              <a:rPr lang="en-GB" dirty="0"/>
              <a:t>Functional: Build relevant and credible capability.</a:t>
            </a:r>
          </a:p>
          <a:p>
            <a:r>
              <a:rPr lang="en-GB" dirty="0"/>
              <a:t>Experiential: Do so through learning that is flexible, accessible and compatible with work.</a:t>
            </a:r>
          </a:p>
          <a:p>
            <a:r>
              <a:rPr lang="en-GB" dirty="0"/>
              <a:t>Consequential: Translate that capability into career progression and economic opportunity.</a:t>
            </a:r>
          </a:p>
          <a:p>
            <a:r>
              <a:rPr lang="en-GB" dirty="0"/>
              <a:t>The Arena can therefore be expressed as: Enabling working professionals to build credible capability, in ways compatible with their working lives, that advances career and economic opportunity.</a:t>
            </a:r>
          </a:p>
          <a:p>
            <a:r>
              <a:rPr lang="en-GB" dirty="0"/>
              <a:t>The organisation now has a much richer strategic space to interrogate than “We provide postgraduate education.”</a:t>
            </a:r>
          </a:p>
          <a:p>
            <a:endParaRPr lang="en-GB" dirty="0"/>
          </a:p>
          <a:p>
            <a:r>
              <a:rPr lang="en-GB" b="1" dirty="0"/>
              <a:t>6. Ask the room to apply the three depths.</a:t>
            </a:r>
          </a:p>
          <a:p>
            <a:r>
              <a:rPr lang="en-GB" dirty="0"/>
              <a:t>Ask leaders to apply the three depths to their primary customer. Online: ask them to post one line for each depth in the chat.</a:t>
            </a:r>
          </a:p>
          <a:p>
            <a:r>
              <a:rPr lang="en-GB" dirty="0"/>
              <a:t>Listen for: the experiential and consequential depths. Most leaders find these are rarely discussed in their strategy sessions. That is the blind spot.</a:t>
            </a:r>
          </a:p>
          <a:p>
            <a:endParaRPr lang="en-GB" dirty="0"/>
          </a:p>
          <a:p>
            <a:r>
              <a:rPr lang="en-GB" b="1" dirty="0"/>
              <a:t>7. Land the line at the foot of the slide.</a:t>
            </a:r>
          </a:p>
          <a:p>
            <a:r>
              <a:rPr lang="en-GB" dirty="0"/>
              <a:t>Read it in full: "The Industry tells you who you think you are competing with. The Arena tells you who you are actually competing with."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ARENA: WHAT MUST BE TRUE</a:t>
            </a:r>
          </a:p>
          <a:p>
            <a:endParaRPr lang="en-GB" dirty="0"/>
          </a:p>
          <a:p>
            <a:r>
              <a:rPr lang="en-GB" b="1" dirty="0"/>
              <a:t>HOW TO TEACH IT:</a:t>
            </a:r>
          </a:p>
          <a:p>
            <a:endParaRPr lang="en-GB" dirty="0"/>
          </a:p>
          <a:p>
            <a:r>
              <a:rPr lang="en-GB" b="1" dirty="0"/>
              <a:t>1. Ask the Must-Be-True question on the slide.</a:t>
            </a:r>
          </a:p>
          <a:p>
            <a:r>
              <a:rPr lang="en-GB" dirty="0"/>
              <a:t>Once Arena has been defined, ask:</a:t>
            </a:r>
          </a:p>
          <a:p>
            <a:r>
              <a:rPr lang="en-GB" dirty="0"/>
              <a:t>"What must remain true about customer need, behaviour or demand for this Arena to remain strategically relevant?"</a:t>
            </a:r>
          </a:p>
          <a:p>
            <a:endParaRPr lang="en-GB" dirty="0"/>
          </a:p>
          <a:p>
            <a:r>
              <a:rPr lang="en-GB" b="1" dirty="0"/>
              <a:t>2. Give the teaching example.</a:t>
            </a:r>
          </a:p>
          <a:p>
            <a:r>
              <a:rPr lang="en-GB" dirty="0"/>
              <a:t>Example, from higher education: Working professionals must continue to value externally validated capability strongly enough to invest time and money in acquiring it.</a:t>
            </a:r>
          </a:p>
          <a:p>
            <a:r>
              <a:rPr lang="en-GB" dirty="0"/>
              <a:t>Say: "That is an assumption leadership can now monitor."</a:t>
            </a:r>
          </a:p>
          <a:p>
            <a:endParaRPr lang="en-GB" dirty="0"/>
          </a:p>
          <a:p>
            <a:r>
              <a:rPr lang="en-GB" b="1" dirty="0"/>
              <a:t>3. Show the checkpoint on a Key Result.</a:t>
            </a:r>
          </a:p>
          <a:p>
            <a:r>
              <a:rPr lang="en-GB" dirty="0"/>
              <a:t>The slide shows one Key Result of the client services company from Unit 3, part 2.2, and its condition. The same two Key Results run through all four checkpoints.</a:t>
            </a:r>
          </a:p>
          <a:p>
            <a:endParaRPr lang="en-GB" dirty="0"/>
          </a:p>
          <a:p>
            <a:r>
              <a:rPr lang="en-GB" b="1" dirty="0"/>
              <a:t>EXAMPLE</a:t>
            </a:r>
          </a:p>
          <a:p>
            <a:r>
              <a:rPr lang="en-GB" dirty="0"/>
              <a:t>Two Key Results of the client services company participants met in Unit 3, part 2.2:</a:t>
            </a:r>
          </a:p>
          <a:p>
            <a:r>
              <a:rPr lang="en-GB" dirty="0"/>
              <a:t>Key Result: Reduce average response time to customer requests from 12 hours to 4 hours by 30 June 2027</a:t>
            </a:r>
          </a:p>
          <a:p>
            <a:r>
              <a:rPr lang="en-GB" dirty="0"/>
              <a:t>Arena · Must-Be-True: Experiential. Clients continue to rank speed of response among their top three reasons for choosing a service partner.</a:t>
            </a:r>
          </a:p>
          <a:p>
            <a:endParaRPr lang="en-GB" dirty="0"/>
          </a:p>
          <a:p>
            <a:r>
              <a:rPr lang="en-GB" dirty="0"/>
              <a:t>Key Result: Improve operating margin from 14% to 18% by 31 December 2027</a:t>
            </a:r>
          </a:p>
          <a:p>
            <a:r>
              <a:rPr lang="en-GB" dirty="0"/>
              <a:t>Arena · Must-Be-True: Consequential. Fast, consistent service continues to protect clients’ own operations, so they keep paying current price levels for it.</a:t>
            </a:r>
          </a:p>
          <a:p>
            <a:endParaRPr lang="en-GB" dirty="0"/>
          </a:p>
          <a:p>
            <a:r>
              <a:rPr lang="en-GB" b="1" dirty="0"/>
              <a:t>4. Apply it to one of the room’s own Key Results.</a:t>
            </a:r>
          </a:p>
          <a:p>
            <a:r>
              <a:rPr lang="en-GB" dirty="0"/>
              <a:t>Take one of the Key Results a group confirmed in Unit 3.</a:t>
            </a:r>
          </a:p>
          <a:p>
            <a:r>
              <a:rPr lang="en-GB" dirty="0"/>
              <a:t>Ask: "Which part of the Customer End Game does this Key Result serve: the functional outcome, the experience of achieving it, or what achieving it enables?"</a:t>
            </a:r>
          </a:p>
          <a:p>
            <a:r>
              <a:rPr lang="en-GB" dirty="0"/>
              <a:t>Then ask: "What must remain true about that functional, experiential or consequential need for this Key Result to stay relevant?"</a:t>
            </a:r>
          </a:p>
          <a:p>
            <a:r>
              <a:rPr lang="en-GB" dirty="0"/>
              <a:t>Hold out for a condition that is either true or false.</a:t>
            </a:r>
          </a:p>
          <a:p>
            <a:endParaRPr lang="en-GB" dirty="0"/>
          </a:p>
          <a:p>
            <a:r>
              <a:rPr lang="en-GB" b="1" dirty="0"/>
              <a:t>5. Say which depth the condition rests on.</a:t>
            </a:r>
          </a:p>
          <a:p>
            <a:r>
              <a:rPr lang="en-GB" dirty="0"/>
              <a:t>Each Arena condition rests on one of the three depths. Example (experiential): “Clients must continue to value a response inside four hours.”</a:t>
            </a:r>
          </a:p>
          <a:p>
            <a:endParaRPr lang="en-GB" dirty="0"/>
          </a:p>
          <a:p>
            <a:r>
              <a:rPr lang="en-GB" b="1" dirty="0"/>
              <a:t>6. Bridge to 1.2.</a:t>
            </a:r>
          </a:p>
          <a:p>
            <a:r>
              <a:rPr lang="en-GB" dirty="0"/>
              <a:t>Say: "Arena tells us what the customer is trying to achieve. Boundaries asks what could stop us delivering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BOUNDARIES (FRICTION ARCHITECTURE)</a:t>
            </a:r>
          </a:p>
          <a:p>
            <a:endParaRPr lang="en-GB" dirty="0"/>
          </a:p>
          <a:p>
            <a:r>
              <a:rPr lang="en-GB" b="1" dirty="0"/>
              <a:t>HOW TO TEACH IT:</a:t>
            </a:r>
          </a:p>
          <a:p>
            <a:endParaRPr lang="en-GB" dirty="0"/>
          </a:p>
          <a:p>
            <a:r>
              <a:rPr lang="en-GB" b="1" dirty="0"/>
              <a:t>1. Read the question of the checkpoint.</a:t>
            </a:r>
          </a:p>
          <a:p>
            <a:r>
              <a:rPr lang="en-GB" dirty="0"/>
              <a:t>"What could constrain our ability to deliver within this Arena?"</a:t>
            </a:r>
          </a:p>
          <a:p>
            <a:endParaRPr lang="en-GB" dirty="0"/>
          </a:p>
          <a:p>
            <a:r>
              <a:rPr lang="en-GB" b="1" dirty="0"/>
              <a:t>2. Give the strategic logic.</a:t>
            </a:r>
          </a:p>
          <a:p>
            <a:r>
              <a:rPr lang="en-GB" dirty="0"/>
              <a:t>Say: "Every arena has invisible walls: operational limits, regulations, or simple human resistance to change. A strategy that ignores friction is a wish."</a:t>
            </a:r>
          </a:p>
          <a:p>
            <a:r>
              <a:rPr lang="en-GB" dirty="0"/>
              <a:t>Say: "Every strategic choice operates within conditions that enable, restrict or shape what can actually be delivered. These are Boundaries."</a:t>
            </a:r>
          </a:p>
          <a:p>
            <a:r>
              <a:rPr lang="en-GB" dirty="0"/>
              <a:t>Key message: defining the right Arena is only the first test. The organisation must also be able to deliver within it.</a:t>
            </a:r>
          </a:p>
          <a:p>
            <a:endParaRPr lang="en-GB" dirty="0"/>
          </a:p>
          <a:p>
            <a:r>
              <a:rPr lang="en-GB" b="1" dirty="0"/>
              <a:t>3. Walk the six kinds of boundary on the slide.</a:t>
            </a:r>
          </a:p>
          <a:p>
            <a:r>
              <a:rPr lang="en-GB" dirty="0"/>
              <a:t>- Regulatory: laws, licences, standards, accreditation.</a:t>
            </a:r>
          </a:p>
          <a:p>
            <a:r>
              <a:rPr lang="en-GB" dirty="0"/>
              <a:t>- Operational: processes, infrastructure, capacity, supply chains.</a:t>
            </a:r>
          </a:p>
          <a:p>
            <a:r>
              <a:rPr lang="en-GB" dirty="0"/>
              <a:t>- Technological: systems, data, interoperability, technical capability.</a:t>
            </a:r>
          </a:p>
          <a:p>
            <a:r>
              <a:rPr lang="en-GB" dirty="0"/>
              <a:t>- Structural: governance, decision rights, organisational dependencies.</a:t>
            </a:r>
          </a:p>
          <a:p>
            <a:r>
              <a:rPr lang="en-GB" dirty="0"/>
              <a:t>- Financial: capital, affordability, economics, funding.</a:t>
            </a:r>
          </a:p>
          <a:p>
            <a:r>
              <a:rPr lang="en-GB" dirty="0"/>
              <a:t>- Behavioural: capability, incentives, resistance, habits, adoption.</a:t>
            </a:r>
          </a:p>
          <a:p>
            <a:r>
              <a:rPr lang="en-GB" dirty="0"/>
              <a:t>Say: "The purpose is to find the boundaries material enough to affect the strategic outcome. A long risk register is of no use here."</a:t>
            </a:r>
          </a:p>
          <a:p>
            <a:endParaRPr lang="en-GB" dirty="0"/>
          </a:p>
          <a:p>
            <a:r>
              <a:rPr lang="en-GB" b="1" dirty="0"/>
              <a:t>4. Give the example.</a:t>
            </a:r>
          </a:p>
          <a:p>
            <a:endParaRPr lang="en-GB" dirty="0"/>
          </a:p>
          <a:p>
            <a:r>
              <a:rPr lang="en-GB" b="1" dirty="0"/>
              <a:t>EXAMPLE</a:t>
            </a:r>
          </a:p>
          <a:p>
            <a:r>
              <a:rPr lang="en-GB" dirty="0"/>
              <a:t>Higher education. The university’s Arena requires flexible capability development for working professionals. But:</a:t>
            </a:r>
          </a:p>
          <a:p>
            <a:r>
              <a:rPr lang="en-GB" dirty="0"/>
              <a:t>- Programme approvals take 12 months.</a:t>
            </a:r>
          </a:p>
          <a:p>
            <a:r>
              <a:rPr lang="en-GB" dirty="0"/>
              <a:t>- Faculty contracts are designed around semesters.</a:t>
            </a:r>
          </a:p>
          <a:p>
            <a:r>
              <a:rPr lang="en-GB" dirty="0"/>
              <a:t>- Systems require fixed annual enrolment periods.</a:t>
            </a:r>
          </a:p>
          <a:p>
            <a:r>
              <a:rPr lang="en-GB" dirty="0"/>
              <a:t>- Accreditation limits how credentials can be structured.</a:t>
            </a:r>
          </a:p>
          <a:p>
            <a:r>
              <a:rPr lang="en-GB" dirty="0"/>
              <a:t>These conditions reveal the friction architecture surrounding the Arena. The Arena itself still stands.</a:t>
            </a:r>
          </a:p>
          <a:p>
            <a:endParaRPr lang="en-GB" dirty="0"/>
          </a:p>
          <a:p>
            <a:r>
              <a:rPr lang="en-GB" b="1" dirty="0"/>
              <a:t>5. Ask the strategic question.</a:t>
            </a:r>
          </a:p>
          <a:p>
            <a:r>
              <a:rPr lang="en-GB" dirty="0"/>
              <a:t>Ask: "Which conditions could materially slow, restrict or prevent us from delivering the customer end game we have defined?"</a:t>
            </a:r>
          </a:p>
          <a:p>
            <a:endParaRPr lang="en-GB" dirty="0"/>
          </a:p>
          <a:p>
            <a:r>
              <a:rPr lang="en-GB" dirty="0"/>
              <a:t>Deepen, say: "Senior teams often act on the first piece of internal data about an opportunity and miss the second-order question.</a:t>
            </a:r>
          </a:p>
          <a:p>
            <a:r>
              <a:rPr lang="en-GB" dirty="0"/>
              <a:t>On every major opportunity, ask the question behind the question before committing."</a:t>
            </a:r>
          </a:p>
          <a:p>
            <a:r>
              <a:rPr lang="en-GB" dirty="0"/>
              <a:t>(Insight: The question behind the question. Source: Journal, 16 May 2026 — Professional Insights: Strategy)</a:t>
            </a:r>
          </a:p>
          <a:p>
            <a:endParaRPr lang="en-GB" dirty="0"/>
          </a:p>
          <a:p>
            <a:r>
              <a:rPr lang="en-GB" b="1" dirty="0"/>
              <a:t>6. Sort the boundaries.</a:t>
            </a:r>
          </a:p>
          <a:p>
            <a:r>
              <a:rPr lang="en-GB" dirty="0"/>
              <a:t>Distinguish between three kinds:</a:t>
            </a:r>
          </a:p>
          <a:p>
            <a:r>
              <a:rPr lang="en-GB" dirty="0"/>
              <a:t>- A boundary we must accept. For example, legislation.</a:t>
            </a:r>
          </a:p>
          <a:p>
            <a:r>
              <a:rPr lang="en-GB" dirty="0"/>
              <a:t>- A boundary we can influence. Perhaps an industry standard.</a:t>
            </a:r>
          </a:p>
          <a:p>
            <a:r>
              <a:rPr lang="en-GB" dirty="0"/>
              <a:t>- A boundary we created ourselves. Perhaps an internal process, structure or policy.</a:t>
            </a:r>
          </a:p>
          <a:p>
            <a:r>
              <a:rPr lang="en-GB" dirty="0"/>
              <a:t>Ask: "Which of your boundaries did your own organisation create?"</a:t>
            </a:r>
          </a:p>
          <a:p>
            <a:r>
              <a:rPr lang="en-GB" dirty="0"/>
              <a:t>Stay here. The self-created boundary generates particularly useful executive discussion.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BOUNDARIES: WHAT MUST BE TRUE</a:t>
            </a:r>
          </a:p>
          <a:p>
            <a:endParaRPr lang="en-GB" dirty="0"/>
          </a:p>
          <a:p>
            <a:r>
              <a:rPr lang="en-GB" b="1" dirty="0"/>
              <a:t>HOW TO TEACH IT:</a:t>
            </a:r>
          </a:p>
          <a:p>
            <a:endParaRPr lang="en-GB" dirty="0"/>
          </a:p>
          <a:p>
            <a:r>
              <a:rPr lang="en-GB" b="1" dirty="0"/>
              <a:t>1. Ask the Must-Be-True question on the slide.</a:t>
            </a:r>
          </a:p>
          <a:p>
            <a:r>
              <a:rPr lang="en-GB" dirty="0"/>
              <a:t>Now ask:</a:t>
            </a:r>
          </a:p>
          <a:p>
            <a:r>
              <a:rPr lang="en-GB" dirty="0"/>
              <a:t>"What must remain true operationally, structurally or regulatorily for this strategic direction to be deliverable?"</a:t>
            </a:r>
          </a:p>
          <a:p>
            <a:endParaRPr lang="en-GB" dirty="0"/>
          </a:p>
          <a:p>
            <a:r>
              <a:rPr lang="en-GB" b="1" dirty="0"/>
              <a:t>2. Give the teaching example.</a:t>
            </a:r>
          </a:p>
          <a:p>
            <a:r>
              <a:rPr lang="en-GB" dirty="0"/>
              <a:t>Example, from higher education: We must be able to approve and deploy new learning products within the timeframe demanded by the market.</a:t>
            </a:r>
          </a:p>
          <a:p>
            <a:r>
              <a:rPr lang="en-GB" dirty="0"/>
              <a:t>Say: "Now the boundary is connected directly to strategic viability."</a:t>
            </a:r>
          </a:p>
          <a:p>
            <a:endParaRPr lang="en-GB" dirty="0"/>
          </a:p>
          <a:p>
            <a:r>
              <a:rPr lang="en-GB" b="1" dirty="0"/>
              <a:t>3. Show the checkpoint on a Key Result.</a:t>
            </a:r>
          </a:p>
          <a:p>
            <a:r>
              <a:rPr lang="en-GB" dirty="0"/>
              <a:t>The slide shows one Key Result of the client services company from Unit 3, part 2.2, and its condition. The same two Key Results run through all four checkpoints.</a:t>
            </a:r>
          </a:p>
          <a:p>
            <a:endParaRPr lang="en-GB" dirty="0"/>
          </a:p>
          <a:p>
            <a:r>
              <a:rPr lang="en-GB" b="1" dirty="0"/>
              <a:t>EXAMPLE</a:t>
            </a:r>
          </a:p>
          <a:p>
            <a:r>
              <a:rPr lang="en-GB" dirty="0"/>
              <a:t>Two Key Results of the client services company participants met in Unit 3, part 2.2:</a:t>
            </a:r>
          </a:p>
          <a:p>
            <a:r>
              <a:rPr lang="en-GB" dirty="0"/>
              <a:t>Key Result: Reduce average response time to customer requests from 12 hours to 4 hours by 30 June 2027</a:t>
            </a:r>
          </a:p>
          <a:p>
            <a:r>
              <a:rPr lang="en-GB" dirty="0"/>
              <a:t>Boundaries · Must-Be-True: Handovers between Commercial, Operations and Customer Service are completed inside four hours.</a:t>
            </a:r>
          </a:p>
          <a:p>
            <a:endParaRPr lang="en-GB" dirty="0"/>
          </a:p>
          <a:p>
            <a:r>
              <a:rPr lang="en-GB" dirty="0"/>
              <a:t>Key Result: Improve operating margin from 14% to 18% by 31 December 2027</a:t>
            </a:r>
          </a:p>
          <a:p>
            <a:r>
              <a:rPr lang="en-GB" dirty="0"/>
              <a:t>Boundaries · Must-Be-True: Salary, input and regulatory costs stay within the planning range.</a:t>
            </a:r>
          </a:p>
          <a:p>
            <a:endParaRPr lang="en-GB" dirty="0"/>
          </a:p>
          <a:p>
            <a:r>
              <a:rPr lang="en-GB" b="1" dirty="0"/>
              <a:t>4. Apply it to one of the room’s own Key Results.</a:t>
            </a:r>
          </a:p>
          <a:p>
            <a:r>
              <a:rPr lang="en-GB" dirty="0"/>
              <a:t>Take one of the Key Results a group confirmed in Unit 3.</a:t>
            </a:r>
          </a:p>
          <a:p>
            <a:r>
              <a:rPr lang="en-GB" dirty="0"/>
              <a:t>Ask: "What is going to push back against us? What internal or external friction could slow this Key Result down or stop it entirely?"</a:t>
            </a:r>
          </a:p>
          <a:p>
            <a:r>
              <a:rPr lang="en-GB" dirty="0"/>
              <a:t>Then ask: "What must remain true operationally or regulatorily for us to actually deliver this without breaking?"</a:t>
            </a:r>
          </a:p>
          <a:p>
            <a:r>
              <a:rPr lang="en-GB" dirty="0"/>
              <a:t>Hold out for a condition that is either true or false.</a:t>
            </a:r>
          </a:p>
          <a:p>
            <a:endParaRPr lang="en-GB" dirty="0"/>
          </a:p>
          <a:p>
            <a:r>
              <a:rPr lang="en-GB" b="1" dirty="0"/>
              <a:t>5. Bridge to 1.3.</a:t>
            </a:r>
          </a:p>
          <a:p>
            <a:r>
              <a:rPr lang="en-GB" dirty="0"/>
              <a:t>Say: "We know what the customer is trying to achieve and what could constrain us. Competition asks who else can give the customer the same outcome."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COMPETITION (THE TRUE LANDSCAPE)</a:t>
            </a:r>
          </a:p>
          <a:p>
            <a:endParaRPr lang="en-GB" dirty="0"/>
          </a:p>
          <a:p>
            <a:r>
              <a:rPr lang="en-GB" b="1" dirty="0"/>
              <a:t>HOW TO TEACH IT:</a:t>
            </a:r>
          </a:p>
          <a:p>
            <a:endParaRPr lang="en-GB" dirty="0"/>
          </a:p>
          <a:p>
            <a:r>
              <a:rPr lang="en-GB" b="1" dirty="0"/>
              <a:t>1. Read the question of the checkpoint.</a:t>
            </a:r>
          </a:p>
          <a:p>
            <a:r>
              <a:rPr lang="en-GB" dirty="0"/>
              <a:t>"Who or what else can satisfy the same Customer End Game?"</a:t>
            </a:r>
          </a:p>
          <a:p>
            <a:endParaRPr lang="en-GB" dirty="0"/>
          </a:p>
          <a:p>
            <a:r>
              <a:rPr lang="en-GB" b="1" dirty="0"/>
              <a:t>2. Give the strategic logic.</a:t>
            </a:r>
          </a:p>
          <a:p>
            <a:r>
              <a:rPr lang="en-GB" dirty="0"/>
              <a:t>Say: "Once you define the Arena by the customer’s need, your ‘competitors’ change.</a:t>
            </a:r>
          </a:p>
          <a:p>
            <a:r>
              <a:rPr lang="en-GB" dirty="0"/>
              <a:t>You are fighting anyone who solves that same problem in a different way, peers included."</a:t>
            </a:r>
          </a:p>
          <a:p>
            <a:r>
              <a:rPr lang="en-GB" dirty="0"/>
              <a:t>Say: "Competition follows Arena deliberately.</a:t>
            </a:r>
          </a:p>
          <a:p>
            <a:r>
              <a:rPr lang="en-GB" dirty="0"/>
              <a:t>If leaders define Arena through their industry, they will probably identify competitors through their industry.</a:t>
            </a:r>
          </a:p>
          <a:p>
            <a:r>
              <a:rPr lang="en-GB" dirty="0"/>
              <a:t>If Arena is defined around the Customer End Game, the competitive field can look very different."</a:t>
            </a:r>
          </a:p>
          <a:p>
            <a:endParaRPr lang="en-GB" dirty="0"/>
          </a:p>
          <a:p>
            <a:r>
              <a:rPr lang="en-GB" b="1" dirty="0"/>
              <a:t>3. Read the two questions on the slide, left then right.</a:t>
            </a:r>
          </a:p>
          <a:p>
            <a:r>
              <a:rPr lang="en-GB" dirty="0"/>
              <a:t>- Who sells something similar to us?</a:t>
            </a:r>
          </a:p>
          <a:p>
            <a:r>
              <a:rPr lang="en-GB" dirty="0"/>
              <a:t>- What alternatives does the customer have for achieving the end game?</a:t>
            </a:r>
          </a:p>
          <a:p>
            <a:r>
              <a:rPr lang="en-GB" dirty="0"/>
              <a:t>The critical distinction is between these two questions.</a:t>
            </a:r>
          </a:p>
          <a:p>
            <a:r>
              <a:rPr lang="en-GB" dirty="0"/>
              <a:t>Say: "The competitor does not have to look like us, sell the same product, use the same business model or belong to the same industry.</a:t>
            </a:r>
          </a:p>
          <a:p>
            <a:r>
              <a:rPr lang="en-GB" dirty="0"/>
              <a:t>It only needs to offer the customer a credible alternative route to the outcome."</a:t>
            </a:r>
          </a:p>
          <a:p>
            <a:endParaRPr lang="en-GB" dirty="0"/>
          </a:p>
          <a:p>
            <a:r>
              <a:rPr lang="en-GB" b="1" dirty="0"/>
              <a:t>4. Give the example.</a:t>
            </a:r>
          </a:p>
          <a:p>
            <a:endParaRPr lang="en-GB" dirty="0"/>
          </a:p>
          <a:p>
            <a:r>
              <a:rPr lang="en-GB" b="1" dirty="0"/>
              <a:t>EXAMPLE</a:t>
            </a:r>
          </a:p>
          <a:p>
            <a:r>
              <a:rPr lang="en-GB" dirty="0"/>
              <a:t>Higher education. If we say “We provide postgraduate qualifications”, we will probably compare ourselves with other universities.</a:t>
            </a:r>
          </a:p>
          <a:p>
            <a:r>
              <a:rPr lang="en-GB" dirty="0"/>
              <a:t>The Arena has now been defined more deeply: build credible capability, flexibly, to advance career opportunity. Who or what else can enable that? The landscape may include:</a:t>
            </a:r>
          </a:p>
          <a:p>
            <a:r>
              <a:rPr lang="en-GB" dirty="0"/>
              <a:t>- Professional bodies.</a:t>
            </a:r>
          </a:p>
          <a:p>
            <a:r>
              <a:rPr lang="en-GB" dirty="0"/>
              <a:t>- Corporate academies.</a:t>
            </a:r>
          </a:p>
          <a:p>
            <a:r>
              <a:rPr lang="en-GB" dirty="0"/>
              <a:t>- Industry certifications.</a:t>
            </a:r>
          </a:p>
          <a:p>
            <a:r>
              <a:rPr lang="en-GB" dirty="0"/>
              <a:t>- Specialist training providers.</a:t>
            </a:r>
          </a:p>
          <a:p>
            <a:r>
              <a:rPr lang="en-GB" dirty="0"/>
              <a:t>- Digital learning platforms.</a:t>
            </a:r>
          </a:p>
          <a:p>
            <a:r>
              <a:rPr lang="en-GB" dirty="0"/>
              <a:t>- Employer-led development.</a:t>
            </a:r>
          </a:p>
          <a:p>
            <a:r>
              <a:rPr lang="en-GB" dirty="0"/>
              <a:t>- Alternative credential providers.</a:t>
            </a:r>
          </a:p>
          <a:p>
            <a:r>
              <a:rPr lang="en-GB" dirty="0"/>
              <a:t>And potentially emerging models we have not historically classified as higher education.</a:t>
            </a:r>
          </a:p>
          <a:p>
            <a:endParaRPr lang="en-GB" dirty="0"/>
          </a:p>
          <a:p>
            <a:r>
              <a:rPr lang="en-GB" b="1" dirty="0"/>
              <a:t>5. Widen the list of alternatives, using the right-hand card.</a:t>
            </a:r>
          </a:p>
          <a:p>
            <a:r>
              <a:rPr lang="en-GB" dirty="0"/>
              <a:t>Say: "Competition can also be: do it internally, do it themselves, use technology, postpone it, choose a completely different solution, or do nothing."</a:t>
            </a:r>
          </a:p>
          <a:p>
            <a:r>
              <a:rPr lang="en-GB" dirty="0"/>
              <a:t>Ask: "Who else solves your customer’s problem, including those outside your industry?"</a:t>
            </a:r>
          </a:p>
          <a:p>
            <a:r>
              <a:rPr lang="en-GB" dirty="0"/>
              <a:t>Listen for: competition defined as industry rivals only. Push for every alternative route the customer has to the outcome, including doing nothing.</a:t>
            </a:r>
          </a:p>
          <a:p>
            <a:endParaRPr lang="en-GB" dirty="0"/>
          </a:p>
          <a:p>
            <a:r>
              <a:rPr lang="en-GB" dirty="0"/>
              <a:t>Deepen, say: "The most effective competitive strategies target the specific assumptions on which a competitor’s position rests.</a:t>
            </a:r>
          </a:p>
          <a:p>
            <a:r>
              <a:rPr lang="en-GB" dirty="0"/>
              <a:t>Identify the foundational assumption, and the position built on it becomes unstable."</a:t>
            </a:r>
          </a:p>
          <a:p>
            <a:r>
              <a:rPr lang="en-GB" dirty="0"/>
              <a:t>(Insight: Competition. Source: Journal, 6 February 2026 — Professional Insights: Strategy)</a:t>
            </a:r>
          </a:p>
          <a:p>
            <a:endParaRPr lang="en-GB" dirty="0"/>
          </a:p>
          <a:p>
            <a:r>
              <a:rPr lang="en-GB" b="1" dirty="0"/>
              <a:t>6. Land the point.</a:t>
            </a:r>
          </a:p>
          <a:p>
            <a:r>
              <a:rPr lang="en-GB" dirty="0"/>
              <a:t>Say: "The customer is choosing between routes to an outcome."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COMPETITION: WHAT MUST BE TRUE</a:t>
            </a:r>
          </a:p>
          <a:p>
            <a:endParaRPr lang="en-GB" dirty="0"/>
          </a:p>
          <a:p>
            <a:r>
              <a:rPr lang="en-GB" b="1" dirty="0"/>
              <a:t>HOW TO TEACH IT:</a:t>
            </a:r>
          </a:p>
          <a:p>
            <a:endParaRPr lang="en-GB" dirty="0"/>
          </a:p>
          <a:p>
            <a:r>
              <a:rPr lang="en-GB" b="1" dirty="0"/>
              <a:t>1. Ask the Must-Be-True question on the slide.</a:t>
            </a:r>
          </a:p>
          <a:p>
            <a:r>
              <a:rPr lang="en-GB" dirty="0"/>
              <a:t>Once the competitive landscape has been established, ask:</a:t>
            </a:r>
          </a:p>
          <a:p>
            <a:r>
              <a:rPr lang="en-GB" dirty="0"/>
              <a:t>"What must remain true about our advantage relative to the customer’s alternatives?"</a:t>
            </a:r>
          </a:p>
          <a:p>
            <a:endParaRPr lang="en-GB" dirty="0"/>
          </a:p>
          <a:p>
            <a:r>
              <a:rPr lang="en-GB" b="1" dirty="0"/>
              <a:t>2. Give the teaching example.</a:t>
            </a:r>
          </a:p>
          <a:p>
            <a:r>
              <a:rPr lang="en-GB" dirty="0"/>
              <a:t>Example, from higher education: Employers and learners must continue to perceive our credential and learning experience as sufficiently valuable to justify its additional time and cost relative to alternative capability pathways.</a:t>
            </a:r>
          </a:p>
          <a:p>
            <a:r>
              <a:rPr lang="en-GB" dirty="0"/>
              <a:t>Say: "That assumption can be monitored. If it begins to weaken, the strategy receives an early-warning signal."</a:t>
            </a:r>
          </a:p>
          <a:p>
            <a:endParaRPr lang="en-GB" dirty="0"/>
          </a:p>
          <a:p>
            <a:r>
              <a:rPr lang="en-GB" b="1" dirty="0"/>
              <a:t>3. Show the checkpoint on a Key Result.</a:t>
            </a:r>
          </a:p>
          <a:p>
            <a:r>
              <a:rPr lang="en-GB" dirty="0"/>
              <a:t>The slide shows one Key Result of the client services company from Unit 3, part 2.2, and its condition. The same two Key Results run through all four checkpoints.</a:t>
            </a:r>
          </a:p>
          <a:p>
            <a:endParaRPr lang="en-GB" dirty="0"/>
          </a:p>
          <a:p>
            <a:r>
              <a:rPr lang="en-GB" b="1" dirty="0"/>
              <a:t>EXAMPLE</a:t>
            </a:r>
          </a:p>
          <a:p>
            <a:r>
              <a:rPr lang="en-GB" dirty="0"/>
              <a:t>Two Key Results of the client services company participants met in Unit 3, part 2.2:</a:t>
            </a:r>
          </a:p>
          <a:p>
            <a:r>
              <a:rPr lang="en-GB" dirty="0"/>
              <a:t>Key Result: Reduce average response time to customer requests from 12 hours to 4 hours by 30 June 2027</a:t>
            </a:r>
          </a:p>
          <a:p>
            <a:r>
              <a:rPr lang="en-GB" dirty="0"/>
              <a:t>Competition · Must-Be-True: A four-hour response remains faster than rival firms and clients’ in-house options provide.</a:t>
            </a:r>
          </a:p>
          <a:p>
            <a:endParaRPr lang="en-GB" dirty="0"/>
          </a:p>
          <a:p>
            <a:r>
              <a:rPr lang="en-GB" dirty="0"/>
              <a:t>Key Result: Improve operating margin from 14% to 18% by 31 December 2027</a:t>
            </a:r>
          </a:p>
          <a:p>
            <a:r>
              <a:rPr lang="en-GB" dirty="0"/>
              <a:t>Competition · Must-Be-True: Competitors and lower-cost alternatives force no price reduction in the core client segments.</a:t>
            </a:r>
          </a:p>
          <a:p>
            <a:endParaRPr lang="en-GB" dirty="0"/>
          </a:p>
          <a:p>
            <a:r>
              <a:rPr lang="en-GB" b="1" dirty="0"/>
              <a:t>4. Apply it to one of the room’s own Key Results.</a:t>
            </a:r>
          </a:p>
          <a:p>
            <a:r>
              <a:rPr lang="en-GB" dirty="0"/>
              <a:t>Take one of the Key Results a group confirmed in Unit 3.</a:t>
            </a:r>
          </a:p>
          <a:p>
            <a:r>
              <a:rPr lang="en-GB" dirty="0"/>
              <a:t>Ask: "Who else is solving this problem, even if they look nothing like us? Who is the ‘alternative’ the customer might choose?"</a:t>
            </a:r>
          </a:p>
          <a:p>
            <a:r>
              <a:rPr lang="en-GB" dirty="0"/>
              <a:t>Then ask: "What must remain true about our specific advantage compared to these other options?"</a:t>
            </a:r>
          </a:p>
          <a:p>
            <a:r>
              <a:rPr lang="en-GB" dirty="0"/>
              <a:t>Hold out for a condition that is either true or false.</a:t>
            </a:r>
          </a:p>
          <a:p>
            <a:endParaRPr lang="en-GB" dirty="0"/>
          </a:p>
          <a:p>
            <a:r>
              <a:rPr lang="en-GB" b="1" dirty="0"/>
              <a:t>5. Say why the condition matters.</a:t>
            </a:r>
          </a:p>
          <a:p>
            <a:r>
              <a:rPr lang="en-GB" dirty="0"/>
              <a:t>Say: "That assumption can be monitored. If it begins to weaken, the strategy receives an early-warning signal."</a:t>
            </a:r>
          </a:p>
          <a:p>
            <a:endParaRPr lang="en-GB" dirty="0"/>
          </a:p>
          <a:p>
            <a:r>
              <a:rPr lang="en-GB" b="1" dirty="0"/>
              <a:t>6. Bridge to 1.4.</a:t>
            </a:r>
          </a:p>
          <a:p>
            <a:r>
              <a:rPr lang="en-GB" dirty="0"/>
              <a:t>Say: "Given those alternatives, why should the customer choose us? That is the Value Proposition."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VALUE PROPOSITION (COHERENT ADVANTAGE)</a:t>
            </a:r>
          </a:p>
          <a:p>
            <a:endParaRPr lang="en-GB" dirty="0"/>
          </a:p>
          <a:p>
            <a:r>
              <a:rPr lang="en-GB" b="1" dirty="0"/>
              <a:t>HOW TO TEACH IT:</a:t>
            </a:r>
          </a:p>
          <a:p>
            <a:endParaRPr lang="en-GB" dirty="0"/>
          </a:p>
          <a:p>
            <a:r>
              <a:rPr lang="en-GB" b="1" dirty="0"/>
              <a:t>1. Read the question of the checkpoint.</a:t>
            </a:r>
          </a:p>
          <a:p>
            <a:r>
              <a:rPr lang="en-GB" dirty="0"/>
              <a:t>"Why should the customer choose the value we create?"</a:t>
            </a:r>
          </a:p>
          <a:p>
            <a:endParaRPr lang="en-GB" dirty="0"/>
          </a:p>
          <a:p>
            <a:r>
              <a:rPr lang="en-GB" b="1" dirty="0"/>
              <a:t>2. Give the strategic logic.</a:t>
            </a:r>
          </a:p>
          <a:p>
            <a:r>
              <a:rPr lang="en-GB" dirty="0"/>
              <a:t>Say: "Strategy wins when you are distinct.</a:t>
            </a:r>
          </a:p>
          <a:p>
            <a:r>
              <a:rPr lang="en-GB" dirty="0"/>
              <a:t>Every Key Result should make your unique DNA stronger.</a:t>
            </a:r>
          </a:p>
          <a:p>
            <a:r>
              <a:rPr lang="en-GB" dirty="0"/>
              <a:t>If a goal dilutes your brand or confuses your value, it is a distraction."</a:t>
            </a:r>
          </a:p>
          <a:p>
            <a:r>
              <a:rPr lang="en-GB" dirty="0"/>
              <a:t>Say: "Arena established what the customer is ultimately trying to achieve.</a:t>
            </a:r>
          </a:p>
          <a:p>
            <a:r>
              <a:rPr lang="en-GB" dirty="0"/>
              <a:t>Boundaries established the conditions within which we must deliver it.</a:t>
            </a:r>
          </a:p>
          <a:p>
            <a:r>
              <a:rPr lang="en-GB" dirty="0"/>
              <a:t>Competition revealed the alternatives available to the customer.</a:t>
            </a:r>
          </a:p>
          <a:p>
            <a:r>
              <a:rPr lang="en-GB" dirty="0"/>
              <a:t>Value Proposition now asks: given those alternatives, why should the customer choose us?"</a:t>
            </a:r>
          </a:p>
          <a:p>
            <a:endParaRPr lang="en-GB" dirty="0"/>
          </a:p>
          <a:p>
            <a:r>
              <a:rPr lang="en-GB" b="1" dirty="0"/>
              <a:t>3. Clear away the positive attributes.</a:t>
            </a:r>
          </a:p>
          <a:p>
            <a:r>
              <a:rPr lang="en-GB" dirty="0"/>
              <a:t>Say: "A Value Proposition is more than a description of what the organisation offers.</a:t>
            </a:r>
          </a:p>
          <a:p>
            <a:r>
              <a:rPr lang="en-GB" dirty="0"/>
              <a:t>High quality, customer focused, innovative, excellent service, experienced people: all of these may be positive attributes.</a:t>
            </a:r>
          </a:p>
          <a:p>
            <a:r>
              <a:rPr lang="en-GB" dirty="0"/>
              <a:t>On their own they establish no strategic value."</a:t>
            </a:r>
          </a:p>
          <a:p>
            <a:r>
              <a:rPr lang="en-GB" dirty="0"/>
              <a:t>Ask: "What combination of value do we create that matters to this customer, in this Arena, relative to the alternatives available?"</a:t>
            </a:r>
          </a:p>
          <a:p>
            <a:endParaRPr lang="en-GB" dirty="0"/>
          </a:p>
          <a:p>
            <a:r>
              <a:rPr lang="en-GB" b="1" dirty="0"/>
              <a:t>4. Teach the three tests on the slide.</a:t>
            </a:r>
          </a:p>
          <a:p>
            <a:endParaRPr lang="en-GB" dirty="0"/>
          </a:p>
          <a:p>
            <a:r>
              <a:rPr lang="en-GB" dirty="0"/>
              <a:t>Relevance — Does it matter?</a:t>
            </a:r>
          </a:p>
          <a:p>
            <a:r>
              <a:rPr lang="en-GB" dirty="0"/>
              <a:t>Does the value proposition address something important in the Customer End Game? If the customer does not materially value it, it is not an advantage.</a:t>
            </a:r>
          </a:p>
          <a:p>
            <a:endParaRPr lang="en-GB" dirty="0"/>
          </a:p>
          <a:p>
            <a:r>
              <a:rPr lang="en-GB" dirty="0"/>
              <a:t>Distinctiveness — Does it differentiate?</a:t>
            </a:r>
          </a:p>
          <a:p>
            <a:r>
              <a:rPr lang="en-GB" dirty="0"/>
              <a:t>Is there something meaningfully different about the value created, or can credible alternatives make essentially the same claim?</a:t>
            </a:r>
          </a:p>
          <a:p>
            <a:endParaRPr lang="en-GB" dirty="0"/>
          </a:p>
          <a:p>
            <a:r>
              <a:rPr lang="en-GB" dirty="0"/>
              <a:t>Deliverability — Can we consistently produce it?</a:t>
            </a:r>
          </a:p>
          <a:p>
            <a:r>
              <a:rPr lang="en-GB" dirty="0"/>
              <a:t>A promise becomes strategically valuable only when the organisation possesses the capability and system to deliver it repeatedly.</a:t>
            </a:r>
          </a:p>
          <a:p>
            <a:endParaRPr lang="en-GB" dirty="0"/>
          </a:p>
          <a:p>
            <a:r>
              <a:rPr lang="en-GB" dirty="0"/>
              <a:t>Read the foot of the slide: RELEVANT + DISTINCTIVE + DELIVERABLE = STRATEGIC VALUE.</a:t>
            </a:r>
          </a:p>
          <a:p>
            <a:endParaRPr lang="en-GB" dirty="0"/>
          </a:p>
          <a:p>
            <a:r>
              <a:rPr lang="en-GB" dirty="0"/>
              <a:t>Deepen, say: "Strategy is proven by the quality and consistency of the environment it produces.</a:t>
            </a:r>
          </a:p>
          <a:p>
            <a:r>
              <a:rPr lang="en-GB" dirty="0"/>
              <a:t>Organisations weaken their credibility when branding, claims or public positioning exceed the quality of the lived experience."</a:t>
            </a:r>
          </a:p>
          <a:p>
            <a:r>
              <a:rPr lang="en-GB" dirty="0"/>
              <a:t>(Insight: Value Proposition · coherence. Source: Journal, 16 July 2026 — Professional Insights: Strategy)</a:t>
            </a:r>
          </a:p>
          <a:p>
            <a:endParaRPr lang="en-GB" dirty="0"/>
          </a:p>
          <a:p>
            <a:r>
              <a:rPr lang="en-GB" b="1" dirty="0"/>
              <a:t>5. Give the example.</a:t>
            </a:r>
          </a:p>
          <a:p>
            <a:endParaRPr lang="en-GB" dirty="0"/>
          </a:p>
          <a:p>
            <a:r>
              <a:rPr lang="en-GB" b="1" dirty="0"/>
              <a:t>EXAMPLE</a:t>
            </a:r>
          </a:p>
          <a:p>
            <a:r>
              <a:rPr lang="en-GB" dirty="0"/>
              <a:t>Higher education. Suppose Apex says: “We provide high-quality executive education.” That is positive but strategically weak. Interrogate it.</a:t>
            </a:r>
          </a:p>
          <a:p>
            <a:r>
              <a:rPr lang="en-GB" dirty="0"/>
              <a:t>Relevant? Working executives value capability that translates into workplace performance.</a:t>
            </a:r>
          </a:p>
          <a:p>
            <a:r>
              <a:rPr lang="en-GB" dirty="0"/>
              <a:t>Distinctive? Apex integrates real organisational strategy challenges into assessed learning.</a:t>
            </a:r>
          </a:p>
          <a:p>
            <a:r>
              <a:rPr lang="en-GB" dirty="0"/>
              <a:t>Deliverable? Its faculty, practitioner network and learning architecture consistently support applied workplace learning.</a:t>
            </a:r>
          </a:p>
          <a:p>
            <a:r>
              <a:rPr lang="en-GB" dirty="0"/>
              <a:t>The value proposition becomes more meaningful: Applied, credible executive capability development built around real organisational challenges and designed for working professionals.</a:t>
            </a:r>
          </a:p>
          <a:p>
            <a:r>
              <a:rPr lang="en-GB" dirty="0"/>
              <a:t>Now there is something that can actually be tested against alternatives.</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VALUE PROPOSITION: WHAT MUST BE TRUE</a:t>
            </a:r>
          </a:p>
          <a:p>
            <a:endParaRPr lang="en-GB" dirty="0"/>
          </a:p>
          <a:p>
            <a:r>
              <a:rPr lang="en-GB" b="1" dirty="0"/>
              <a:t>HOW TO TEACH IT:</a:t>
            </a:r>
          </a:p>
          <a:p>
            <a:endParaRPr lang="en-GB" dirty="0"/>
          </a:p>
          <a:p>
            <a:r>
              <a:rPr lang="en-GB" b="1" dirty="0"/>
              <a:t>1. Ask the Must-Be-True question on the slide.</a:t>
            </a:r>
          </a:p>
          <a:p>
            <a:r>
              <a:rPr lang="en-GB" dirty="0"/>
              <a:t>Finally ask:</a:t>
            </a:r>
          </a:p>
          <a:p>
            <a:r>
              <a:rPr lang="en-GB" dirty="0"/>
              <a:t>"What must remain true about our value architecture for this proposition to remain relevant, distinctive and economically sustainable?"</a:t>
            </a:r>
          </a:p>
          <a:p>
            <a:endParaRPr lang="en-GB" dirty="0"/>
          </a:p>
          <a:p>
            <a:r>
              <a:rPr lang="en-GB" b="1" dirty="0"/>
              <a:t>2. Give the teaching example.</a:t>
            </a:r>
          </a:p>
          <a:p>
            <a:r>
              <a:rPr lang="en-GB" dirty="0"/>
              <a:t>Example, from higher education: Customers and employers must continue to place sufficient value on applied workplace integration to prefer Apex over lower-cost content-based alternatives.</a:t>
            </a:r>
          </a:p>
          <a:p>
            <a:r>
              <a:rPr lang="en-GB" dirty="0"/>
              <a:t>Say: "Again, the hidden assumption has become visible."</a:t>
            </a:r>
          </a:p>
          <a:p>
            <a:endParaRPr lang="en-GB" dirty="0"/>
          </a:p>
          <a:p>
            <a:r>
              <a:rPr lang="en-GB" b="1" dirty="0"/>
              <a:t>3. Show the checkpoint on a Key Result.</a:t>
            </a:r>
          </a:p>
          <a:p>
            <a:r>
              <a:rPr lang="en-GB" dirty="0"/>
              <a:t>The slide shows one Key Result of the client services company from Unit 3, part 2.2, and its condition. The same two Key Results run through all four checkpoints.</a:t>
            </a:r>
          </a:p>
          <a:p>
            <a:endParaRPr lang="en-GB" dirty="0"/>
          </a:p>
          <a:p>
            <a:r>
              <a:rPr lang="en-GB" b="1" dirty="0"/>
              <a:t>EXAMPLE</a:t>
            </a:r>
          </a:p>
          <a:p>
            <a:r>
              <a:rPr lang="en-GB" dirty="0"/>
              <a:t>Two Key Results of the client services company participants met in Unit 3, part 2.2:</a:t>
            </a:r>
          </a:p>
          <a:p>
            <a:r>
              <a:rPr lang="en-GB" dirty="0"/>
              <a:t>Key Result: Reduce average response time to customer requests from 12 hours to 4 hours by 30 June 2027</a:t>
            </a:r>
          </a:p>
          <a:p>
            <a:r>
              <a:rPr lang="en-GB" dirty="0"/>
              <a:t>Value Proposition · Must-Be-True: Faster response is delivered with no loss in the quality of the answer the client receives.</a:t>
            </a:r>
          </a:p>
          <a:p>
            <a:endParaRPr lang="en-GB" dirty="0"/>
          </a:p>
          <a:p>
            <a:r>
              <a:rPr lang="en-GB" dirty="0"/>
              <a:t>Key Result: Improve operating margin from 14% to 18% by 31 December 2027</a:t>
            </a:r>
          </a:p>
          <a:p>
            <a:r>
              <a:rPr lang="en-GB" dirty="0"/>
              <a:t>Value Proposition · Must-Be-True: No saving reduces the service quality clients choose the company for.</a:t>
            </a:r>
          </a:p>
          <a:p>
            <a:endParaRPr lang="en-GB" dirty="0"/>
          </a:p>
          <a:p>
            <a:r>
              <a:rPr lang="en-GB" b="1" dirty="0"/>
              <a:t>4. Apply it to one of the room’s own Key Results.</a:t>
            </a:r>
          </a:p>
          <a:p>
            <a:r>
              <a:rPr lang="en-GB" dirty="0"/>
              <a:t>Take one of the Key Results a group confirmed in Unit 3.</a:t>
            </a:r>
          </a:p>
          <a:p>
            <a:r>
              <a:rPr lang="en-GB" dirty="0"/>
              <a:t>Ask: "How does this goal make us more ‘us’? Does this Key Result sharpen our distinctive edge or just add noise?"</a:t>
            </a:r>
          </a:p>
          <a:p>
            <a:r>
              <a:rPr lang="en-GB" dirty="0"/>
              <a:t>Then ask: "What must remain true about our value architecture for this Key Result to stay coherent and profitable?"</a:t>
            </a:r>
          </a:p>
          <a:p>
            <a:r>
              <a:rPr lang="en-GB" dirty="0"/>
              <a:t>Hold out for a condition that is either true or false.</a:t>
            </a:r>
          </a:p>
          <a:p>
            <a:endParaRPr lang="en-GB" dirty="0"/>
          </a:p>
          <a:p>
            <a:r>
              <a:rPr lang="en-GB" b="1" dirty="0"/>
              <a:t>5. Bridge to the integrated view.</a:t>
            </a:r>
          </a:p>
          <a:p>
            <a:r>
              <a:rPr lang="en-GB" dirty="0"/>
              <a:t>Say: "We have four checkpoints and a condition at each. Now we bring them together."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BRINGING ABCV TOGETHER (THE INTEGRATED VIEW)</a:t>
            </a:r>
          </a:p>
          <a:p>
            <a:endParaRPr lang="en-GB" dirty="0"/>
          </a:p>
          <a:p>
            <a:r>
              <a:rPr lang="en-GB" b="1" dirty="0"/>
              <a:t>HOW TO TEACH IT:</a:t>
            </a:r>
          </a:p>
          <a:p>
            <a:endParaRPr lang="en-GB" dirty="0"/>
          </a:p>
          <a:p>
            <a:r>
              <a:rPr lang="en-GB" b="1" dirty="0"/>
              <a:t>1. Walk down the chain on the slide once.</a:t>
            </a:r>
          </a:p>
          <a:p>
            <a:r>
              <a:rPr lang="en-GB" dirty="0"/>
              <a:t>- A — Arena: What is the customer ultimately trying to achieve? Functional, Experiential, Consequential.</a:t>
            </a:r>
          </a:p>
          <a:p>
            <a:r>
              <a:rPr lang="en-GB" dirty="0"/>
              <a:t>- B — Boundaries: What could constrain our ability to deliver that outcome?</a:t>
            </a:r>
          </a:p>
          <a:p>
            <a:r>
              <a:rPr lang="en-GB" dirty="0"/>
              <a:t>- C — Competition: Who or what else can enable the customer to achieve it?</a:t>
            </a:r>
          </a:p>
          <a:p>
            <a:r>
              <a:rPr lang="en-GB" dirty="0"/>
              <a:t>- V — Value Proposition: Why should the customer choose the value we create?</a:t>
            </a:r>
          </a:p>
          <a:p>
            <a:r>
              <a:rPr lang="en-GB" dirty="0"/>
              <a:t>- MBT — Must Be True: What conditions must hold for our strategic logic to remain valid?</a:t>
            </a:r>
          </a:p>
          <a:p>
            <a:endParaRPr lang="en-GB" dirty="0"/>
          </a:p>
          <a:p>
            <a:r>
              <a:rPr lang="en-GB" b="1" dirty="0"/>
              <a:t>2. Land the line at the foot of the slide.</a:t>
            </a:r>
          </a:p>
          <a:p>
            <a:r>
              <a:rPr lang="en-GB" dirty="0"/>
              <a:t>Read it aloud: "ABCV does not ask whether an OKR is well written. It asks whether the strategic logic underneath it can survive reality."</a:t>
            </a:r>
          </a:p>
          <a:p>
            <a:endParaRPr lang="en-GB" dirty="0"/>
          </a:p>
          <a:p>
            <a:r>
              <a:rPr lang="en-GB" dirty="0"/>
              <a:t>Deepen, say: "Strategic certainty should be proportional to the available evidence.</a:t>
            </a:r>
          </a:p>
          <a:p>
            <a:r>
              <a:rPr lang="en-GB" dirty="0"/>
              <a:t>Leaders must act, and they should distinguish clearly between what is known, what is assumed and what remains outside current visibility."</a:t>
            </a:r>
          </a:p>
          <a:p>
            <a:r>
              <a:rPr lang="en-GB" dirty="0"/>
              <a:t>(Insight: Known, assumed, unseen. Source: Journal, 3 September 2026 — Professional Insights: Strategy)</a:t>
            </a:r>
          </a:p>
          <a:p>
            <a:endParaRPr lang="en-GB" dirty="0"/>
          </a:p>
          <a:p>
            <a:r>
              <a:rPr lang="en-GB" b="1" dirty="0"/>
              <a:t>3. Ask the room.</a:t>
            </a:r>
          </a:p>
          <a:p>
            <a:r>
              <a:rPr lang="en-GB" dirty="0"/>
              <a:t>Ask: "If you had to identify the single ABCV checkpoint your organisation most consistently overlooks when setting strategy, which would it be? And what has that cost you?"</a:t>
            </a:r>
          </a:p>
          <a:p>
            <a:r>
              <a:rPr lang="en-GB" dirty="0"/>
              <a:t>Online: ask participants to post the checkpoint in the chat.</a:t>
            </a:r>
          </a:p>
          <a:p>
            <a:r>
              <a:rPr lang="en-GB" dirty="0"/>
              <a:t>Keep the answers. They surface the role-based blind spots you return to in Section 3.</a:t>
            </a:r>
          </a:p>
          <a:p>
            <a:endParaRPr lang="en-GB" dirty="0"/>
          </a:p>
          <a:p>
            <a:r>
              <a:rPr lang="en-GB" b="1" dirty="0"/>
              <a:t>ON THE PORTAL, AFTER THE TEACHING:</a:t>
            </a:r>
          </a:p>
          <a:p>
            <a:r>
              <a:rPr lang="en-GB" dirty="0"/>
              <a:t>Participants answer the same question as a reflection in Section 1 of the participant file. It is shown on the Section 1 Reflections slide.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Industry Illusion and its three traps.</a:t>
            </a:r>
          </a:p>
          <a:p>
            <a:r>
              <a:rPr lang="en-GB" dirty="0"/>
              <a:t>2. 2.2: the Industry Illusion game, played with the room in groups, from the facilitator file.</a:t>
            </a:r>
          </a:p>
          <a:p>
            <a:r>
              <a:rPr lang="en-GB" dirty="0"/>
              <a:t>3. 2.2, after the game: the Arena question, back on the deck.</a:t>
            </a:r>
          </a:p>
          <a:p>
            <a:endParaRPr lang="en-GB" dirty="0"/>
          </a:p>
          <a:p>
            <a:r>
              <a:rPr lang="en-GB" b="1" dirty="0"/>
              <a:t>SECTION LEARNING OUTCOMES:</a:t>
            </a:r>
          </a:p>
          <a:p>
            <a:r>
              <a:rPr lang="en-GB" dirty="0"/>
              <a:t>1. Judge whether strategic priorities respond to the outcomes customers pursue.</a:t>
            </a:r>
          </a:p>
          <a:p>
            <a:r>
              <a:rPr lang="en-GB" dirty="0"/>
              <a:t>2. Articulate the assumptions on which each strategic objective depends.</a:t>
            </a:r>
          </a:p>
          <a:p>
            <a:endParaRPr lang="en-GB" dirty="0"/>
          </a:p>
          <a:p>
            <a:r>
              <a:rPr lang="en-GB" b="1" dirty="0"/>
              <a:t>HOW TO OPEN THE SECTION:</a:t>
            </a:r>
          </a:p>
          <a:p>
            <a:endParaRPr lang="en-GB" dirty="0"/>
          </a:p>
          <a:p>
            <a:r>
              <a:rPr lang="en-GB" b="1" dirty="0"/>
              <a:t>1. Say what the section does.</a:t>
            </a:r>
          </a:p>
          <a:p>
            <a:r>
              <a:rPr lang="en-GB" dirty="0"/>
              <a:t>Say: "In this section you discover, through your own decisions, how an industry frame shapes what leaders notice, dismiss and trust."</a:t>
            </a:r>
          </a:p>
          <a:p>
            <a:r>
              <a:rPr lang="en-GB" dirty="0"/>
              <a:t>Section intent: the game supplies the evidence. Arena supplies the test.</a:t>
            </a:r>
          </a:p>
          <a:p>
            <a:endParaRPr lang="en-GB" dirty="0"/>
          </a:p>
          <a:p>
            <a:r>
              <a:rPr lang="en-GB" b="1" dirty="0"/>
              <a:t>2. Read the line under the section title.</a:t>
            </a:r>
          </a:p>
          <a:p>
            <a:r>
              <a:rPr lang="en-GB" dirty="0"/>
              <a:t>"The industry we understand becomes the boundary of the world we examine."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INDUSTRY ILLUSION (3 TRAPS)</a:t>
            </a:r>
          </a:p>
          <a:p>
            <a:endParaRPr lang="en-GB" dirty="0"/>
          </a:p>
          <a:p>
            <a:r>
              <a:rPr lang="en-GB" b="1" dirty="0"/>
              <a:t>HOW TO TEACH IT:</a:t>
            </a:r>
          </a:p>
          <a:p>
            <a:endParaRPr lang="en-GB" dirty="0"/>
          </a:p>
          <a:p>
            <a:r>
              <a:rPr lang="en-GB" b="1" dirty="0"/>
              <a:t>1. Start with the value of industry knowledge.</a:t>
            </a:r>
          </a:p>
          <a:p>
            <a:r>
              <a:rPr lang="en-GB" dirty="0"/>
              <a:t>Say: "Industry knowledge is essential to strategy.</a:t>
            </a:r>
          </a:p>
          <a:p>
            <a:r>
              <a:rPr lang="en-GB" dirty="0"/>
              <a:t>Over time, leaders build a deep understanding of how their industry works: its customers, competitors, economics, regulations, technologies and established ways of creating value.</a:t>
            </a:r>
          </a:p>
          <a:p>
            <a:r>
              <a:rPr lang="en-GB" dirty="0"/>
              <a:t>That knowledge also creates a frame through which leaders interpret their environment."</a:t>
            </a:r>
          </a:p>
          <a:p>
            <a:r>
              <a:rPr lang="en-GB" dirty="0"/>
              <a:t>Say: "The Industry Illusion occurs when that frame becomes so familiar that leaders begin to treat it as the boundary of what is strategically relevant."</a:t>
            </a:r>
          </a:p>
          <a:p>
            <a:endParaRPr lang="en-GB" dirty="0"/>
          </a:p>
          <a:p>
            <a:r>
              <a:rPr lang="en-GB" b="1" dirty="0"/>
              <a:t>2. Familiarity — We know this industry.</a:t>
            </a:r>
          </a:p>
          <a:p>
            <a:r>
              <a:rPr lang="en-GB" dirty="0"/>
              <a:t>Say: "Experience creates confidence in our understanding of how the industry works.</a:t>
            </a:r>
          </a:p>
          <a:p>
            <a:r>
              <a:rPr lang="en-GB" dirty="0"/>
              <a:t>We know the established players, customer patterns, sources of value and indicators we normally monitor.</a:t>
            </a:r>
          </a:p>
          <a:p>
            <a:r>
              <a:rPr lang="en-GB" dirty="0"/>
              <a:t>The trap occurs when what we know becomes what we expect to continue seeing."</a:t>
            </a:r>
          </a:p>
          <a:p>
            <a:r>
              <a:rPr lang="en-GB" dirty="0"/>
              <a:t>Strategic risk: We interpret the future through patterns established by the past.</a:t>
            </a:r>
          </a:p>
          <a:p>
            <a:endParaRPr lang="en-GB" dirty="0"/>
          </a:p>
          <a:p>
            <a:r>
              <a:rPr lang="en-GB" b="1" dirty="0"/>
              <a:t>3. Exclusion — We discount what doesn’t fit it.</a:t>
            </a:r>
          </a:p>
          <a:p>
            <a:r>
              <a:rPr lang="en-GB" dirty="0"/>
              <a:t>Say: "Once we have a familiar picture of the industry, developments that fit that picture receive our attention.</a:t>
            </a:r>
          </a:p>
          <a:p>
            <a:r>
              <a:rPr lang="en-GB" dirty="0"/>
              <a:t>Signals that sit outside it can appear less relevant because they do not resemble the customers, competitors, technologies or business models we associate with our industry.</a:t>
            </a:r>
          </a:p>
          <a:p>
            <a:r>
              <a:rPr lang="en-GB" dirty="0"/>
              <a:t>The trap is that we may see the signal but exclude it from serious strategic consideration."</a:t>
            </a:r>
          </a:p>
          <a:p>
            <a:r>
              <a:rPr lang="en-GB" dirty="0"/>
              <a:t>Strategic risk: What does not fit our industry frame gets underestimated.</a:t>
            </a:r>
          </a:p>
          <a:p>
            <a:endParaRPr lang="en-GB" dirty="0"/>
          </a:p>
          <a:p>
            <a:r>
              <a:rPr lang="en-GB" b="1" dirty="0"/>
              <a:t>4. Complacency — We become confident in the world we can see.</a:t>
            </a:r>
          </a:p>
          <a:p>
            <a:r>
              <a:rPr lang="en-GB" dirty="0"/>
              <a:t>Say: "When the organisation continues to perform, our established view of the industry appears to be validated.</a:t>
            </a:r>
          </a:p>
          <a:p>
            <a:r>
              <a:rPr lang="en-GB" dirty="0"/>
              <a:t>Market position, reputation, customer demand or past success can reinforce the belief that we understand what matters.</a:t>
            </a:r>
          </a:p>
          <a:p>
            <a:r>
              <a:rPr lang="en-GB" dirty="0"/>
              <a:t>The trap occurs when evidence of current success becomes reassurance about future relevance."</a:t>
            </a:r>
          </a:p>
          <a:p>
            <a:r>
              <a:rPr lang="en-GB" dirty="0"/>
              <a:t>Strategic risk: We continue looking in the same places because nothing has yet forced us to look elsewhere.</a:t>
            </a:r>
          </a:p>
          <a:p>
            <a:endParaRPr lang="en-GB" dirty="0"/>
          </a:p>
          <a:p>
            <a:r>
              <a:rPr lang="en-GB" b="1" dirty="0"/>
              <a:t>5. Show how the illusion forms.</a:t>
            </a:r>
          </a:p>
          <a:p>
            <a:r>
              <a:rPr lang="en-GB" dirty="0"/>
              <a:t>Read the three cards from left to right, then the foot of the slide:</a:t>
            </a:r>
          </a:p>
          <a:p>
            <a:r>
              <a:rPr lang="en-GB" dirty="0"/>
              <a:t>- Familiarity: We know this industry.</a:t>
            </a:r>
          </a:p>
          <a:p>
            <a:r>
              <a:rPr lang="en-GB" dirty="0"/>
              <a:t>- Exclusion: We discount what doesn’t fit it.</a:t>
            </a:r>
          </a:p>
          <a:p>
            <a:r>
              <a:rPr lang="en-GB" dirty="0"/>
              <a:t>- Complacency: We become confident in the world we can see.</a:t>
            </a:r>
          </a:p>
          <a:p>
            <a:r>
              <a:rPr lang="en-GB" dirty="0"/>
              <a:t>- Industry Illusion: The industry we understand becomes the boundary of the world we examine.</a:t>
            </a:r>
          </a:p>
          <a:p>
            <a:r>
              <a:rPr lang="en-GB" dirty="0"/>
              <a:t>Each trap reinforces the next. Keep the examples general here: the game supplies the case.</a:t>
            </a:r>
          </a:p>
          <a:p>
            <a:endParaRPr lang="en-GB" dirty="0"/>
          </a:p>
          <a:p>
            <a:r>
              <a:rPr lang="en-GB" b="1" dirty="0"/>
              <a:t>6. Bridge to the game.</a:t>
            </a:r>
          </a:p>
          <a:p>
            <a:r>
              <a:rPr lang="en-GB" dirty="0"/>
              <a:t>Say: "You are about to make three decisions as an executive team. Make each one as you would at work."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THE INDUSTRY ILLUSION GAME: THE FUTURE OF A UNIVERSITY (3 ROUNDS)</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2, part 2.2.</a:t>
            </a:r>
          </a:p>
          <a:p>
            <a:r>
              <a:rPr lang="en-GB" dirty="0"/>
              <a:t>Have that page ready before the lesson begins.</a:t>
            </a:r>
          </a:p>
          <a:p>
            <a:r>
              <a:rPr lang="en-GB" dirty="0"/>
              <a:t>The page holds six steps in order: Case Brief, Round 1, Round 2, Round 3, The Reveal, Apply Arena.</a:t>
            </a:r>
          </a:p>
          <a:p>
            <a:r>
              <a:rPr lang="en-GB" dirty="0"/>
              <a:t>Play the game with the room in groups. Each group makes its decision and defends it.</a:t>
            </a:r>
          </a:p>
          <a:p>
            <a:r>
              <a:rPr lang="en-GB" dirty="0"/>
              <a:t>Important: do not tell participants which trap each round is testing. Do not correct their answers during the game. Capture their decisions. Reveal the traps only at the end.</a:t>
            </a:r>
          </a:p>
          <a:p>
            <a:endParaRPr lang="en-GB" dirty="0"/>
          </a:p>
          <a:p>
            <a:r>
              <a:rPr lang="en-GB" b="1" dirty="0"/>
              <a:t>2. Give the case brief.</a:t>
            </a:r>
          </a:p>
          <a:p>
            <a:r>
              <a:rPr lang="en-GB" dirty="0"/>
              <a:t>Say: "You are the executive team of Apex University, an established private university."</a:t>
            </a:r>
          </a:p>
          <a:p>
            <a:r>
              <a:rPr lang="en-GB" dirty="0"/>
              <a:t>Read the brief on the screen: 18,000 students; strong undergraduate and postgraduate programmes; recognised accreditation; a respected business school; growing online delivery; strong relationships with employers; good graduate employment outcomes; stable enrolment.</a:t>
            </a:r>
          </a:p>
          <a:p>
            <a:r>
              <a:rPr lang="en-GB" dirty="0"/>
              <a:t>Say: "The Board is beginning development of the university’s 2032 Strategy.</a:t>
            </a:r>
          </a:p>
          <a:p>
            <a:r>
              <a:rPr lang="en-GB" dirty="0"/>
              <a:t>Your task is to advise the Board on where it should focus its strategic attention."</a:t>
            </a:r>
          </a:p>
          <a:p>
            <a:endParaRPr lang="en-GB" dirty="0"/>
          </a:p>
          <a:p>
            <a:r>
              <a:rPr lang="en-GB" b="1" dirty="0"/>
              <a:t>3. Round 1 — Where would you look?</a:t>
            </a:r>
          </a:p>
          <a:p>
            <a:r>
              <a:rPr lang="en-GB" dirty="0"/>
              <a:t>Say: "You have been asked to understand how Apex University’s environment is changing. Where would you look for intelligence?"</a:t>
            </a:r>
          </a:p>
          <a:p>
            <a:r>
              <a:rPr lang="en-GB" dirty="0"/>
              <a:t>Show the eight intelligence sources, A to H, on the screen.</a:t>
            </a:r>
          </a:p>
          <a:p>
            <a:r>
              <a:rPr lang="en-GB" dirty="0"/>
              <a:t>Say: "Select four that you would prioritise."</a:t>
            </a:r>
          </a:p>
          <a:p>
            <a:r>
              <a:rPr lang="en-GB" dirty="0"/>
              <a:t>Each group posts its four letters in the chat. Record the choices.</a:t>
            </a:r>
          </a:p>
          <a:p>
            <a:r>
              <a:rPr lang="en-GB" dirty="0"/>
              <a:t>What this round tests, for you only: Familiarity. Do participants gravitate toward A to D because these are recognisably higher-education indicators? Do not reveal this.</a:t>
            </a:r>
          </a:p>
          <a:p>
            <a:endParaRPr lang="en-GB" dirty="0"/>
          </a:p>
          <a:p>
            <a:r>
              <a:rPr lang="en-GB" b="1" dirty="0"/>
              <a:t>4. Round 2 — What deserves attention?</a:t>
            </a:r>
          </a:p>
          <a:p>
            <a:r>
              <a:rPr lang="en-GB" dirty="0"/>
              <a:t>Say: "Your strategy team has brought six developments to the executive committee. You only have capacity to investigate three in depth."</a:t>
            </a:r>
          </a:p>
          <a:p>
            <a:r>
              <a:rPr lang="en-GB" dirty="0"/>
              <a:t>Show the six signals on the screen.</a:t>
            </a:r>
          </a:p>
          <a:p>
            <a:r>
              <a:rPr lang="en-GB" dirty="0"/>
              <a:t>Ask: "Which three warrant immediate strategic investigation?"</a:t>
            </a:r>
          </a:p>
          <a:p>
            <a:r>
              <a:rPr lang="en-GB" dirty="0"/>
              <a:t>Then ask: "Which three would you deprioritise?"</a:t>
            </a:r>
          </a:p>
          <a:p>
            <a:r>
              <a:rPr lang="en-GB" dirty="0"/>
              <a:t>Require each group to make the decision. Capture what it excluded and, importantly, why.</a:t>
            </a:r>
          </a:p>
          <a:p>
            <a:r>
              <a:rPr lang="en-GB" dirty="0"/>
              <a:t>What this round tests, for you only: Exclusion. Are signals 3, 4 and 6 discounted because they do not initially look like developments inside higher education? Do not reveal the trap.</a:t>
            </a:r>
          </a:p>
          <a:p>
            <a:endParaRPr lang="en-GB" dirty="0"/>
          </a:p>
          <a:p>
            <a:r>
              <a:rPr lang="en-GB" b="1" dirty="0"/>
              <a:t>5. Round 3 — Should we be worried?</a:t>
            </a:r>
          </a:p>
          <a:p>
            <a:r>
              <a:rPr lang="en-GB" dirty="0"/>
              <a:t>Show the Apex University performance report on the screen: enrolment +5%, revenue +7%, graduate employment 86%, accreditation strong, student satisfaction 82%, market position top 3 private university, online enrolment +12%.</a:t>
            </a:r>
          </a:p>
          <a:p>
            <a:r>
              <a:rPr lang="en-GB" dirty="0"/>
              <a:t>Say: "The Board asks whether the university needs to reconsider its fundamental strategic direction."</a:t>
            </a:r>
          </a:p>
          <a:p>
            <a:r>
              <a:rPr lang="en-GB" dirty="0"/>
              <a:t>Give the three choices: A, no major change; B, adjust; C, re-examine. Each group must select one and defend it.</a:t>
            </a:r>
          </a:p>
          <a:p>
            <a:r>
              <a:rPr lang="en-GB" dirty="0"/>
              <a:t>What this round tests, for you only: Complacency. Does strong current performance reassure participants that the university understands its future? Choice A is a reasonable answer on the page: the numbers genuinely look good.</a:t>
            </a:r>
          </a:p>
          <a:p>
            <a:endParaRPr lang="en-GB" dirty="0"/>
          </a:p>
          <a:p>
            <a:r>
              <a:rPr lang="en-GB" b="1" dirty="0"/>
              <a:t>6. The Reveal.</a:t>
            </a:r>
          </a:p>
          <a:p>
            <a:r>
              <a:rPr lang="en-GB" dirty="0"/>
              <a:t>Now return to their decisions, round by round.</a:t>
            </a:r>
          </a:p>
          <a:p>
            <a:r>
              <a:rPr lang="en-GB" dirty="0"/>
              <a:t>Round 1, where did you look? Reveal Familiarity: We know this industry.</a:t>
            </a:r>
          </a:p>
          <a:p>
            <a:r>
              <a:rPr lang="en-GB" dirty="0"/>
              <a:t>Ask: "How much of your attention went toward the world you already recognised as higher education?"</a:t>
            </a:r>
          </a:p>
          <a:p>
            <a:r>
              <a:rPr lang="en-GB" dirty="0"/>
              <a:t>Round 2, what did you exclude? Reveal Exclusion: We discount what doesn’t fit it.</a:t>
            </a:r>
          </a:p>
          <a:p>
            <a:r>
              <a:rPr lang="en-GB" dirty="0"/>
              <a:t>Ask: "Which signals did you deprioritise because they appeared to sit outside the conventional higher-education environment?"</a:t>
            </a:r>
          </a:p>
          <a:p>
            <a:r>
              <a:rPr lang="en-GB" dirty="0"/>
              <a:t>Round 3, what reassured you? Reveal Complacency: We become confident in the world we can see.</a:t>
            </a:r>
          </a:p>
          <a:p>
            <a:r>
              <a:rPr lang="en-GB" dirty="0"/>
              <a:t>Ask: "Did strong current performance influence how urgently you believed the university needed to question its future?"</a:t>
            </a:r>
          </a:p>
          <a:p>
            <a:r>
              <a:rPr lang="en-GB" dirty="0"/>
              <a:t>Then give the crucial insight.</a:t>
            </a:r>
          </a:p>
          <a:p>
            <a:r>
              <a:rPr lang="en-GB" dirty="0"/>
              <a:t>Say: "Apex did not lack information. The question is what its industry frame caused leaders to notice, dismiss and trust."</a:t>
            </a:r>
          </a:p>
          <a:p>
            <a:endParaRPr lang="en-GB" dirty="0"/>
          </a:p>
          <a:p>
            <a:r>
              <a:rPr lang="en-GB" b="1" dirty="0"/>
              <a:t>7. Return to the deck.</a:t>
            </a:r>
          </a:p>
          <a:p>
            <a:r>
              <a:rPr lang="en-GB" dirty="0"/>
              <a:t>Stop sharing the facilitator file and return to the deck. The next slide carries the Arena question.</a:t>
            </a:r>
          </a:p>
          <a:p>
            <a:endParaRPr lang="en-GB" dirty="0"/>
          </a:p>
          <a:p>
            <a:r>
              <a:rPr lang="en-GB" b="1" dirty="0"/>
              <a:t>AFTER THE SESSION:</a:t>
            </a:r>
          </a:p>
          <a:p>
            <a:r>
              <a:rPr lang="en-GB" dirty="0"/>
              <a:t>Each participant’s own game reaches you with the submission, under the heading Industry Illusion Game.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AFTER THE REVEAL: APPLY ARENA (THE LEARNING MOMENT)</a:t>
            </a:r>
          </a:p>
          <a:p>
            <a:endParaRPr lang="en-GB" dirty="0"/>
          </a:p>
          <a:p>
            <a:r>
              <a:rPr lang="en-GB" b="1" dirty="0"/>
              <a:t>HOW TO TEACH IT:</a:t>
            </a:r>
          </a:p>
          <a:p>
            <a:endParaRPr lang="en-GB" dirty="0"/>
          </a:p>
          <a:p>
            <a:r>
              <a:rPr lang="en-GB" b="1" dirty="0"/>
              <a:t>1. Ask the question on the slide.</a:t>
            </a:r>
          </a:p>
          <a:p>
            <a:r>
              <a:rPr lang="en-GB" dirty="0"/>
              <a:t>Only after the reveal, bring the room back to ABCV.</a:t>
            </a:r>
          </a:p>
          <a:p>
            <a:r>
              <a:rPr lang="en-GB" dirty="0"/>
              <a:t>Ask: "What is the Apex learner actually trying to achieve?"</a:t>
            </a:r>
          </a:p>
          <a:p>
            <a:r>
              <a:rPr lang="en-GB" dirty="0"/>
              <a:t>Do not give the answer.</a:t>
            </a:r>
          </a:p>
          <a:p>
            <a:endParaRPr lang="en-GB" dirty="0"/>
          </a:p>
          <a:p>
            <a:r>
              <a:rPr lang="en-GB" b="1" dirty="0"/>
              <a:t>2. Make the groups work through the three depths of 1.1.</a:t>
            </a:r>
          </a:p>
          <a:p>
            <a:r>
              <a:rPr lang="en-GB" dirty="0"/>
              <a:t>- Functional: What are they trying to achieve?</a:t>
            </a:r>
          </a:p>
          <a:p>
            <a:r>
              <a:rPr lang="en-GB" dirty="0"/>
              <a:t>- Experiential: What matters about how they achieve it?</a:t>
            </a:r>
          </a:p>
          <a:p>
            <a:r>
              <a:rPr lang="en-GB" dirty="0"/>
              <a:t>- Consequential: What does achieving it ultimately enable?</a:t>
            </a:r>
          </a:p>
          <a:p>
            <a:r>
              <a:rPr lang="en-GB" dirty="0"/>
              <a:t>Each group posts one line for each depth in the chat.</a:t>
            </a:r>
          </a:p>
          <a:p>
            <a:endParaRPr lang="en-GB" dirty="0"/>
          </a:p>
          <a:p>
            <a:r>
              <a:rPr lang="en-GB" b="1" dirty="0"/>
              <a:t>3. Give the final challenge, from the foot of the slide.</a:t>
            </a:r>
          </a:p>
          <a:p>
            <a:r>
              <a:rPr lang="en-GB" dirty="0"/>
              <a:t>Say: "Now look again at everything you deprioritised in Rounds 1 and 2.</a:t>
            </a:r>
          </a:p>
          <a:p>
            <a:r>
              <a:rPr lang="en-GB" dirty="0"/>
              <a:t>Does defining the Arena around the customer’s end game change what you consider strategically relevant?"</a:t>
            </a:r>
          </a:p>
          <a:p>
            <a:r>
              <a:rPr lang="en-GB" dirty="0"/>
              <a:t>Take answers from two or three groups.</a:t>
            </a:r>
          </a:p>
          <a:p>
            <a:endParaRPr lang="en-GB" dirty="0"/>
          </a:p>
          <a:p>
            <a:r>
              <a:rPr lang="en-GB" b="1" dirty="0"/>
              <a:t>4. Land the learning moment.</a:t>
            </a:r>
          </a:p>
          <a:p>
            <a:r>
              <a:rPr lang="en-GB" dirty="0"/>
              <a:t>Say: "The game has not told you that you suffer from the Industry Illusion.</a:t>
            </a:r>
          </a:p>
          <a:p>
            <a:r>
              <a:rPr lang="en-GB" dirty="0"/>
              <a:t>Your own choices provide the evidence.</a:t>
            </a:r>
          </a:p>
          <a:p>
            <a:r>
              <a:rPr lang="en-GB" dirty="0"/>
              <a:t>Arena is the mechanism for testing and expanding your field of strategic attention."</a:t>
            </a:r>
          </a:p>
          <a:p>
            <a:endParaRPr lang="en-GB" dirty="0"/>
          </a:p>
          <a:p>
            <a:r>
              <a:rPr lang="en-GB" b="1" dirty="0"/>
              <a:t>5. Hand the game to the participants.</a:t>
            </a:r>
          </a:p>
          <a:p>
            <a:r>
              <a:rPr lang="en-GB" dirty="0"/>
              <a:t>Say: "After the teaching, each of you plays the game alone, in 2.2 of your own page.</a:t>
            </a:r>
          </a:p>
          <a:p>
            <a:r>
              <a:rPr lang="en-GB" dirty="0"/>
              <a:t>You play Round 1, Round 2 and Round 3 in order, and each decision is locked.</a:t>
            </a:r>
          </a:p>
          <a:p>
            <a:r>
              <a:rPr lang="en-GB" dirty="0"/>
              <a:t>The Reveal then shows your own decisions beside each trap, and you answer the Arena questions and the final challenge.</a:t>
            </a:r>
          </a:p>
          <a:p>
            <a:r>
              <a:rPr lang="en-GB" dirty="0"/>
              <a:t>This is portfolio work.</a:t>
            </a:r>
          </a:p>
          <a:p>
            <a:r>
              <a:rPr lang="en-GB" dirty="0"/>
              <a:t>Your game is saved on your page and reaches me when you submit the unit."</a:t>
            </a:r>
          </a:p>
          <a:p>
            <a:endParaRPr lang="en-GB" dirty="0"/>
          </a:p>
          <a:p>
            <a:r>
              <a:rPr lang="en-GB" b="1" dirty="0"/>
              <a:t>6. Bridge to Section 3.</a:t>
            </a:r>
          </a:p>
          <a:p>
            <a:r>
              <a:rPr lang="en-GB" dirty="0"/>
              <a:t>Say: "The illusion works on a whole leadership team. Section 3 asks where it works on each role."</a:t>
            </a:r>
          </a:p>
          <a:p>
            <a:endParaRPr lang="en-GB" dirty="0"/>
          </a:p>
          <a:p>
            <a:r>
              <a:rPr lang="en-GB" b="1" dirty="0"/>
              <a:t>ON THE PORTAL, AFTER THE TEACHING:</a:t>
            </a:r>
          </a:p>
          <a:p>
            <a:r>
              <a:rPr lang="en-GB" dirty="0"/>
              <a:t>Each participant completes the Industry Illusion game alone in 2.2 of the participant file: the case brief, three locked rounds, The Reveal, the Arena questions and the final challenge.</a:t>
            </a:r>
          </a:p>
          <a:p>
            <a:endParaRPr lang="en-GB" dirty="0"/>
          </a:p>
          <a:p>
            <a:r>
              <a:rPr lang="en-GB" b="1" dirty="0"/>
              <a:t>AFTER THE SESSION:</a:t>
            </a:r>
          </a:p>
          <a:p>
            <a:r>
              <a:rPr lang="en-GB" dirty="0"/>
              <a:t>Each participant’s decisions and Arena answers reach you with the submission, under the heading Industry Illusion Game.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nine executive roles and the checkpoint each most often overlooks.</a:t>
            </a:r>
          </a:p>
          <a:p>
            <a:r>
              <a:rPr lang="en-GB" dirty="0"/>
              <a:t>2. 3.1b: one role card in full, the CEO.</a:t>
            </a:r>
          </a:p>
          <a:p>
            <a:r>
              <a:rPr lang="en-GB" dirty="0"/>
              <a:t>3. The Section 3 Reflections slide: the reflection participants write on the portal after the teaching.</a:t>
            </a:r>
          </a:p>
          <a:p>
            <a:endParaRPr lang="en-GB" dirty="0"/>
          </a:p>
          <a:p>
            <a:r>
              <a:rPr lang="en-GB" b="1" dirty="0"/>
              <a:t>SECTION LEARNING OUTCOMES:</a:t>
            </a:r>
          </a:p>
          <a:p>
            <a:r>
              <a:rPr lang="en-GB" dirty="0"/>
              <a:t>1. Identify the dimensions of strategic integrity most often overlooked in their own executive function.</a:t>
            </a:r>
          </a:p>
          <a:p>
            <a:r>
              <a:rPr lang="en-GB" dirty="0"/>
              <a:t>2. Appraise how functional blind spots compound into enterprise-wide strategic risk.</a:t>
            </a:r>
          </a:p>
          <a:p>
            <a:endParaRPr lang="en-GB" dirty="0"/>
          </a:p>
          <a:p>
            <a:r>
              <a:rPr lang="en-GB" b="1" dirty="0"/>
              <a:t>HOW TO OPEN THE SECTION:</a:t>
            </a:r>
          </a:p>
          <a:p>
            <a:endParaRPr lang="en-GB" dirty="0"/>
          </a:p>
          <a:p>
            <a:r>
              <a:rPr lang="en-GB" b="1" dirty="0"/>
              <a:t>1. Say what the section does.</a:t>
            </a:r>
          </a:p>
          <a:p>
            <a:r>
              <a:rPr lang="en-GB" dirty="0"/>
              <a:t>Say: "Every executive role is trained to protect a different part of the enterprise system.</a:t>
            </a:r>
          </a:p>
          <a:p>
            <a:r>
              <a:rPr lang="en-GB" dirty="0"/>
              <a:t>These specialisations create selective attention, and predictable strategic blind spots across the leadership mandate."</a:t>
            </a:r>
          </a:p>
          <a:p>
            <a:r>
              <a:rPr lang="en-GB" dirty="0"/>
              <a:t>Section intent: make the ABCV framework personal to each leader’s role. The aim is illumination. Leaders should finish knowing which ABCV checkpoint is most likely their organisational blind spot and why it creates specific downstream consequences.</a:t>
            </a:r>
          </a:p>
          <a:p>
            <a:endParaRPr lang="en-GB" dirty="0"/>
          </a:p>
          <a:p>
            <a:r>
              <a:rPr lang="en-GB" b="1" dirty="0"/>
              <a:t>2. Return to the answers from Section 1.</a:t>
            </a:r>
          </a:p>
          <a:p>
            <a:r>
              <a:rPr lang="en-GB" dirty="0"/>
              <a:t>Recall the checkpoints the room named as most consistently overlooked at the end of Section 1. Section 3 shows where those answers come from.</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EXECUTIVE HOT ZONE: ROLE-BASED BLIND SPOTS (9 ROLES)</a:t>
            </a:r>
          </a:p>
          <a:p>
            <a:endParaRPr lang="en-GB" dirty="0"/>
          </a:p>
          <a:p>
            <a:r>
              <a:rPr lang="en-GB" b="1" dirty="0"/>
              <a:t>HOW TO TEACH IT:</a:t>
            </a:r>
          </a:p>
          <a:p>
            <a:endParaRPr lang="en-GB" dirty="0"/>
          </a:p>
          <a:p>
            <a:r>
              <a:rPr lang="en-GB" b="1" dirty="0"/>
              <a:t>1. Show the grid.</a:t>
            </a:r>
          </a:p>
          <a:p>
            <a:r>
              <a:rPr lang="en-GB" dirty="0"/>
              <a:t>Say: "For each role the slide shows the ABCV checkpoint that typically gets overlooked."</a:t>
            </a:r>
          </a:p>
          <a:p>
            <a:r>
              <a:rPr lang="en-GB" dirty="0"/>
              <a:t>- CEO: Boundaries</a:t>
            </a:r>
          </a:p>
          <a:p>
            <a:r>
              <a:rPr lang="en-GB" dirty="0"/>
              <a:t>- CFO: Arena</a:t>
            </a:r>
          </a:p>
          <a:p>
            <a:r>
              <a:rPr lang="en-GB" dirty="0"/>
              <a:t>- COO: Competition</a:t>
            </a:r>
          </a:p>
          <a:p>
            <a:r>
              <a:rPr lang="en-GB" dirty="0"/>
              <a:t>- CHRO: Competition</a:t>
            </a:r>
          </a:p>
          <a:p>
            <a:r>
              <a:rPr lang="en-GB" dirty="0"/>
              <a:t>- CTO: Arena</a:t>
            </a:r>
          </a:p>
          <a:p>
            <a:r>
              <a:rPr lang="en-GB" dirty="0"/>
              <a:t>- CMO: Boundaries</a:t>
            </a:r>
          </a:p>
          <a:p>
            <a:r>
              <a:rPr lang="en-GB" dirty="0"/>
              <a:t>- CCO: Value Proposition</a:t>
            </a:r>
          </a:p>
          <a:p>
            <a:r>
              <a:rPr lang="en-GB" dirty="0"/>
              <a:t>- CPO: Arena</a:t>
            </a:r>
          </a:p>
          <a:p>
            <a:r>
              <a:rPr lang="en-GB" dirty="0"/>
              <a:t>- CSO: Boundaries</a:t>
            </a:r>
          </a:p>
          <a:p>
            <a:endParaRPr lang="en-GB" dirty="0"/>
          </a:p>
          <a:p>
            <a:r>
              <a:rPr lang="en-GB" b="1" dirty="0"/>
              <a:t>2. Ask each leader to find their own role first.</a:t>
            </a:r>
          </a:p>
          <a:p>
            <a:r>
              <a:rPr lang="en-GB" dirty="0"/>
              <a:t>Ask: "Does the checkpoint beside your role match what your function examines least?"</a:t>
            </a:r>
          </a:p>
          <a:p>
            <a:r>
              <a:rPr lang="en-GB" dirty="0"/>
              <a:t>Online: ask participants to post their role and one word, yes or no, in the chat.</a:t>
            </a:r>
          </a:p>
          <a:p>
            <a:endParaRPr lang="en-GB" dirty="0"/>
          </a:p>
          <a:p>
            <a:r>
              <a:rPr lang="en-GB" b="1" dirty="0"/>
              <a:t>3. Read the grid as a team.</a:t>
            </a:r>
          </a:p>
          <a:p>
            <a:r>
              <a:rPr lang="en-GB" dirty="0"/>
              <a:t>Ask: "Look at the gaps across all roles. Which checkpoint appears most frequently as an overlooked dimension?"</a:t>
            </a:r>
          </a:p>
          <a:p>
            <a:r>
              <a:rPr lang="en-GB" dirty="0"/>
              <a:t>That answer is the team’s most critical strategic vulnerability.</a:t>
            </a:r>
          </a:p>
          <a:p>
            <a:endParaRPr lang="en-GB" dirty="0"/>
          </a:p>
          <a:p>
            <a:r>
              <a:rPr lang="en-GB" b="1" dirty="0"/>
              <a:t>4. Bridge to the role card.</a:t>
            </a:r>
          </a:p>
          <a:p>
            <a:r>
              <a:rPr lang="en-GB" dirty="0"/>
              <a:t>Say: "Each role has a full card. We read one together: the CEO."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A HOT ZONE CARD: THE CEO</a:t>
            </a:r>
          </a:p>
          <a:p>
            <a:endParaRPr lang="en-GB" dirty="0"/>
          </a:p>
          <a:p>
            <a:r>
              <a:rPr lang="en-GB" b="1" dirty="0"/>
              <a:t>HOW TO TEACH IT:</a:t>
            </a:r>
          </a:p>
          <a:p>
            <a:endParaRPr lang="en-GB" dirty="0"/>
          </a:p>
          <a:p>
            <a:r>
              <a:rPr lang="en-GB" b="1" dirty="0"/>
              <a:t>1. Read the card from the top left.</a:t>
            </a:r>
          </a:p>
          <a:p>
            <a:r>
              <a:rPr lang="en-GB" dirty="0"/>
              <a:t>What gets overlooked: Boundaries.</a:t>
            </a:r>
          </a:p>
          <a:p>
            <a:r>
              <a:rPr lang="en-GB" dirty="0"/>
              <a:t>Say: "The CEO holds the vision and drives narrative, and operational friction is rarely in the chief executive's focus until execution stalls significantly."</a:t>
            </a:r>
          </a:p>
          <a:p>
            <a:r>
              <a:rPr lang="en-GB" dirty="0"/>
              <a:t>Symptom: “Why are we not seeing the results when our strategy is clear?”</a:t>
            </a:r>
          </a:p>
          <a:p>
            <a:endParaRPr lang="en-GB" dirty="0"/>
          </a:p>
          <a:p>
            <a:r>
              <a:rPr lang="en-GB" b="1" dirty="0"/>
              <a:t>2. Read what the checkpoint reveals.</a:t>
            </a:r>
          </a:p>
          <a:p>
            <a:r>
              <a:rPr lang="en-GB" dirty="0"/>
              <a:t>Say: "The Boundaries checkpoint forces explicit naming of the regulatory, structural, and behavioural friction standing between the vision and its delivery.</a:t>
            </a:r>
          </a:p>
          <a:p>
            <a:r>
              <a:rPr lang="en-GB" dirty="0"/>
              <a:t>Vision without friction-mapping is only a speech."</a:t>
            </a:r>
          </a:p>
          <a:p>
            <a:r>
              <a:rPr lang="en-GB" dirty="0"/>
              <a:t>Right question: “What specific conditions must remain true for execution to sustain the pace we've planned for?”</a:t>
            </a:r>
          </a:p>
          <a:p>
            <a:endParaRPr lang="en-GB" dirty="0"/>
          </a:p>
          <a:p>
            <a:r>
              <a:rPr lang="en-GB" b="1" dirty="0"/>
              <a:t>3. Teach the key insight.</a:t>
            </a:r>
          </a:p>
          <a:p>
            <a:r>
              <a:rPr lang="en-GB" dirty="0"/>
              <a:t>Say: "The symptom is the question leaders only ask when the underlying ABCV condition has already failed.</a:t>
            </a:r>
          </a:p>
          <a:p>
            <a:r>
              <a:rPr lang="en-GB" dirty="0"/>
              <a:t>These are late signals.</a:t>
            </a:r>
          </a:p>
          <a:p>
            <a:r>
              <a:rPr lang="en-GB" dirty="0"/>
              <a:t>ABCV–MBT creates early signals."</a:t>
            </a:r>
          </a:p>
          <a:p>
            <a:endParaRPr lang="en-GB" dirty="0"/>
          </a:p>
          <a:p>
            <a:r>
              <a:rPr lang="en-GB" b="1" dirty="0"/>
              <a:t>4. Ask the room.</a:t>
            </a:r>
          </a:p>
          <a:p>
            <a:r>
              <a:rPr lang="en-GB" dirty="0"/>
              <a:t>Ask: "Which of these symptoms have you heard in your leadership conversations in the last quarter? What does that tell you about where your blind spot sits?"</a:t>
            </a:r>
          </a:p>
          <a:p>
            <a:r>
              <a:rPr lang="en-GB" dirty="0"/>
              <a:t>Take two or three answers.</a:t>
            </a:r>
          </a:p>
          <a:p>
            <a:endParaRPr lang="en-GB" dirty="0"/>
          </a:p>
          <a:p>
            <a:r>
              <a:rPr lang="en-GB" b="1" dirty="0"/>
              <a:t>5. Say where the other eight cards are.</a:t>
            </a:r>
          </a:p>
          <a:p>
            <a:r>
              <a:rPr lang="en-GB" dirty="0"/>
              <a:t>Say: "Each of the nine roles has its own card: what gets overlooked, the symptom, what the checkpoint reveals and the right question.</a:t>
            </a:r>
          </a:p>
          <a:p>
            <a:r>
              <a:rPr lang="en-GB" dirty="0"/>
              <a:t>You read your own card on the portal after the teaching."</a:t>
            </a:r>
          </a:p>
          <a:p>
            <a:endParaRPr lang="en-GB" dirty="0"/>
          </a:p>
          <a:p>
            <a:r>
              <a:rPr lang="en-GB" b="1" dirty="0"/>
              <a:t>ON THE PORTAL, AFTER THE TEACHING:</a:t>
            </a:r>
          </a:p>
          <a:p>
            <a:r>
              <a:rPr lang="en-GB" dirty="0"/>
              <a:t>Participants read the nine role cards in 3.1 of the participant file and write the Section 3 reflection.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worked example. One Key Result of the client services company from Unit 3, taken through four steps, on six slides.</a:t>
            </a:r>
          </a:p>
          <a:p>
            <a:r>
              <a:rPr lang="en-GB" dirty="0"/>
              <a:t>2. 4.2: the briefing for the Capstone work. Each group takes its own Unit 3 Key Results through the same four steps.</a:t>
            </a:r>
          </a:p>
          <a:p>
            <a:endParaRPr lang="en-GB" dirty="0"/>
          </a:p>
          <a:p>
            <a:r>
              <a:rPr lang="en-GB" b="1" dirty="0"/>
              <a:t>SECTION LEARNING OUTCOMES:</a:t>
            </a:r>
          </a:p>
          <a:p>
            <a:r>
              <a:rPr lang="en-GB" dirty="0"/>
              <a:t>1. Appraise the assumptions, dependencies and uncertainties behind the organisation’s strategic objectives.</a:t>
            </a:r>
          </a:p>
          <a:p>
            <a:r>
              <a:rPr lang="en-GB" dirty="0"/>
              <a:t>2. Demonstrate collective accountability by assigning ownership for verifying critical conditions.</a:t>
            </a:r>
          </a:p>
          <a:p>
            <a:endParaRPr lang="en-GB" dirty="0"/>
          </a:p>
          <a:p>
            <a:r>
              <a:rPr lang="en-GB" b="1" dirty="0"/>
              <a:t>HOW TO OPEN THE SECTION:</a:t>
            </a:r>
          </a:p>
          <a:p>
            <a:endParaRPr lang="en-GB" dirty="0"/>
          </a:p>
          <a:p>
            <a:r>
              <a:rPr lang="en-GB" b="1" dirty="0"/>
              <a:t>1. Say what the section does.</a:t>
            </a:r>
          </a:p>
          <a:p>
            <a:r>
              <a:rPr lang="en-GB" dirty="0"/>
              <a:t>Say: "This is where the checkpoints are applied to your own direction.</a:t>
            </a:r>
          </a:p>
          <a:p>
            <a:r>
              <a:rPr lang="en-GB" dirty="0"/>
              <a:t>Your group brings in the Key Results it confirmed in Unit 3 and takes each one through four steps.</a:t>
            </a:r>
          </a:p>
          <a:p>
            <a:r>
              <a:rPr lang="en-GB" dirty="0"/>
              <a:t>At each step it names the condition that must remain true."</a:t>
            </a:r>
          </a:p>
          <a:p>
            <a:r>
              <a:rPr lang="en-GB" dirty="0"/>
              <a:t>This is Capstone work: the confirmed outputs feed each team’s Capstone Blueprint.</a:t>
            </a:r>
          </a:p>
          <a:p>
            <a:endParaRPr lang="en-GB" dirty="0"/>
          </a:p>
          <a:p>
            <a:r>
              <a:rPr lang="en-GB" b="1" dirty="0"/>
              <a:t>2. Say the order.</a:t>
            </a:r>
          </a:p>
          <a:p>
            <a:r>
              <a:rPr lang="en-GB" dirty="0"/>
              <a:t>Say: "We first walk one worked example in full. Your exercise then follows the worked example step for step."</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STRESS-TESTING A KEY RESULT (4 STEPS)</a:t>
            </a:r>
          </a:p>
          <a:p>
            <a:endParaRPr lang="en-GB" dirty="0"/>
          </a:p>
          <a:p>
            <a:r>
              <a:rPr lang="en-GB" b="1" dirty="0"/>
              <a:t>HOW TO TEACH IT:</a:t>
            </a:r>
          </a:p>
          <a:p>
            <a:endParaRPr lang="en-GB" dirty="0"/>
          </a:p>
          <a:p>
            <a:r>
              <a:rPr lang="en-GB" b="1" dirty="0"/>
              <a:t>1. Recall the company.</a:t>
            </a:r>
          </a:p>
          <a:p>
            <a:r>
              <a:rPr lang="en-GB" dirty="0"/>
              <a:t>Say: "This example continues the client services company you met in Unit 3, part 2.2."</a:t>
            </a:r>
          </a:p>
          <a:p>
            <a:r>
              <a:rPr lang="en-GB" dirty="0"/>
              <a:t>Its Success in Practice reads: “We will be the service partner our clients rely on first, by ensuring every client experiences fast, consistent and effortless service.”</a:t>
            </a:r>
          </a:p>
          <a:p>
            <a:endParaRPr lang="en-GB" dirty="0"/>
          </a:p>
          <a:p>
            <a:r>
              <a:rPr lang="en-GB" b="1" dirty="0"/>
              <a:t>2. Read the Key Result on the slide aloud.</a:t>
            </a:r>
          </a:p>
          <a:p>
            <a:r>
              <a:rPr lang="en-GB" dirty="0"/>
              <a:t>Objective: Deliver consistently fast and effortless service experiences for customers</a:t>
            </a:r>
          </a:p>
          <a:p>
            <a:r>
              <a:rPr lang="en-GB" dirty="0"/>
              <a:t>Key Result: Reduce average response time to customer requests from 12 hours to 4 hours by 30 June 2027</a:t>
            </a:r>
          </a:p>
          <a:p>
            <a:endParaRPr lang="en-GB" dirty="0"/>
          </a:p>
          <a:p>
            <a:r>
              <a:rPr lang="en-GB" b="1" dirty="0"/>
              <a:t>3. Say how the example runs.</a:t>
            </a:r>
          </a:p>
          <a:p>
            <a:r>
              <a:rPr lang="en-GB" dirty="0"/>
              <a:t>Say: "The company takes this one Key Result through the four steps. Each step ends with the condition that must remain true for the Key Result to hold."</a:t>
            </a:r>
          </a:p>
          <a:p>
            <a:r>
              <a:rPr lang="en-GB" dirty="0"/>
              <a:t>At the end of each step, read the Must-Be-True condition aloud and ask what it would look like if it failed. Each condition is either true or false.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 STEP 1: DEFINE THE ARENA</a:t>
            </a:r>
          </a:p>
          <a:p>
            <a:endParaRPr lang="en-GB" dirty="0"/>
          </a:p>
          <a:p>
            <a:r>
              <a:rPr lang="en-GB" b="1" dirty="0"/>
              <a:t>HOW TO TEACH IT:</a:t>
            </a:r>
          </a:p>
          <a:p>
            <a:endParaRPr lang="en-GB" dirty="0"/>
          </a:p>
          <a:p>
            <a:r>
              <a:rPr lang="en-GB" b="1" dirty="0"/>
              <a:t>1. Read the question of the step from the slide.</a:t>
            </a:r>
          </a:p>
          <a:p>
            <a:r>
              <a:rPr lang="en-GB" dirty="0"/>
              <a:t>"Which customer need does “Reduce average response time to customer requests from 12 hours to 4 hours by 30 June 2027” serve: functional, experiential or consequential?"</a:t>
            </a:r>
          </a:p>
          <a:p>
            <a:endParaRPr lang="en-GB" dirty="0"/>
          </a:p>
          <a:p>
            <a:r>
              <a:rPr lang="en-GB" b="1" dirty="0"/>
              <a:t>2. Read the company’s answers.</a:t>
            </a:r>
          </a:p>
          <a:p>
            <a:r>
              <a:rPr lang="en-GB" dirty="0"/>
              <a:t>Functional · What does the customer need done that this Key Result serves? Have a service request answered and resolved.</a:t>
            </a:r>
          </a:p>
          <a:p>
            <a:r>
              <a:rPr lang="en-GB" dirty="0"/>
              <a:t>Experiential · What matters to the customer about how it is done? Fast and effortless: one contact, no chasing.</a:t>
            </a:r>
          </a:p>
          <a:p>
            <a:r>
              <a:rPr lang="en-GB" dirty="0"/>
              <a:t>Consequential · What does this Key Result enable for the customer? Keep their own operations running and their commitments to their own customers met.</a:t>
            </a:r>
          </a:p>
          <a:p>
            <a:endParaRPr lang="en-GB" dirty="0"/>
          </a:p>
          <a:p>
            <a:r>
              <a:rPr lang="en-GB" b="1" dirty="0"/>
              <a:t>3. Read the Must-Be-True condition.</a:t>
            </a:r>
          </a:p>
          <a:p>
            <a:r>
              <a:rPr lang="en-GB" dirty="0"/>
              <a:t>The question: "What must remain true about that functional, experiential or consequential need for “Reduce average response time to customer requests from 12 hours to 4 hours by 30 June 2027” to stay relevant?"</a:t>
            </a:r>
          </a:p>
          <a:p>
            <a:r>
              <a:rPr lang="en-GB" dirty="0"/>
              <a:t>The condition: Experiential: clients continue to rank speed of response among their top three reasons for choosing a service partner.</a:t>
            </a:r>
          </a:p>
          <a:p>
            <a:r>
              <a:rPr lang="en-GB" dirty="0"/>
              <a:t>Ask: "What would we see first if clients stopped ranking speed of response among their top three reasons?"</a:t>
            </a:r>
          </a:p>
          <a:p>
            <a:endParaRPr lang="en-GB" dirty="0"/>
          </a:p>
          <a:p>
            <a:r>
              <a:rPr lang="en-GB" b="1" dirty="0"/>
              <a:t>4. Point out the depth.</a:t>
            </a:r>
          </a:p>
          <a:p>
            <a:r>
              <a:rPr lang="en-GB" dirty="0"/>
              <a:t>Say: "The condition rests on the experiential depth. The company says so in the first word."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 STEP 2: UNDERSTAND THE BOUNDARIES</a:t>
            </a:r>
          </a:p>
          <a:p>
            <a:endParaRPr lang="en-GB" dirty="0"/>
          </a:p>
          <a:p>
            <a:r>
              <a:rPr lang="en-GB" b="1" dirty="0"/>
              <a:t>HOW TO TEACH IT:</a:t>
            </a:r>
          </a:p>
          <a:p>
            <a:endParaRPr lang="en-GB" dirty="0"/>
          </a:p>
          <a:p>
            <a:r>
              <a:rPr lang="en-GB" b="1" dirty="0"/>
              <a:t>1. Read the question of the step from the slide.</a:t>
            </a:r>
          </a:p>
          <a:p>
            <a:r>
              <a:rPr lang="en-GB" dirty="0"/>
              <a:t>"Which conditions could materially slow, restrict or prevent us from delivering “Reduce average response time to customer requests from 12 hours to 4 hours by 30 June 2027”?"</a:t>
            </a:r>
          </a:p>
          <a:p>
            <a:endParaRPr lang="en-GB" dirty="0"/>
          </a:p>
          <a:p>
            <a:r>
              <a:rPr lang="en-GB" b="1" dirty="0"/>
              <a:t>2. Read the company’s answers.</a:t>
            </a:r>
          </a:p>
          <a:p>
            <a:r>
              <a:rPr lang="en-GB" dirty="0"/>
              <a:t>The slide lists four boundaries. For each one, give its kind and say whether the company must accept it, can influence it, or created it itself:</a:t>
            </a:r>
          </a:p>
          <a:p>
            <a:r>
              <a:rPr lang="en-GB" dirty="0"/>
              <a:t>- Requests that cross Commercial, Operations and Customer Service wait at each handover. Operational · Created ourselves.</a:t>
            </a:r>
          </a:p>
          <a:p>
            <a:r>
              <a:rPr lang="en-GB" dirty="0"/>
              <a:t>- Front-line staff lack the authority and the client information to answer alone. Behavioural · Created ourselves.</a:t>
            </a:r>
          </a:p>
          <a:p>
            <a:r>
              <a:rPr lang="en-GB" dirty="0"/>
              <a:t>- Each function records requests in its own system, with no shared view. Technological · Created ourselves.</a:t>
            </a:r>
          </a:p>
          <a:p>
            <a:r>
              <a:rPr lang="en-GB" dirty="0"/>
              <a:t>- Request volumes peak at month-end. Operational · Must accept.</a:t>
            </a:r>
          </a:p>
          <a:p>
            <a:endParaRPr lang="en-GB" dirty="0"/>
          </a:p>
          <a:p>
            <a:r>
              <a:rPr lang="en-GB" b="1" dirty="0"/>
              <a:t>3. Read the Must-Be-True condition.</a:t>
            </a:r>
          </a:p>
          <a:p>
            <a:r>
              <a:rPr lang="en-GB" dirty="0"/>
              <a:t>The question: "What must remain true operationally or regulatorily for us to deliver “Reduce average response time to customer requests from 12 hours to 4 hours by 30 June 2027” without breaking?"</a:t>
            </a:r>
          </a:p>
          <a:p>
            <a:r>
              <a:rPr lang="en-GB" dirty="0"/>
              <a:t>The condition: Handovers between Commercial, Operations and Customer Service are completed inside four hours.</a:t>
            </a:r>
          </a:p>
          <a:p>
            <a:r>
              <a:rPr lang="en-GB" dirty="0"/>
              <a:t>Ask: "What would we see first if handovers took longer than four hours?"</a:t>
            </a:r>
          </a:p>
          <a:p>
            <a:endParaRPr lang="en-GB" dirty="0"/>
          </a:p>
          <a:p>
            <a:r>
              <a:rPr lang="en-GB" b="1" dirty="0"/>
              <a:t>4. Point out the pattern.</a:t>
            </a:r>
          </a:p>
          <a:p>
            <a:r>
              <a:rPr lang="en-GB" dirty="0"/>
              <a:t>Say: "Three of the four boundaries were created by the company itself. Those are the ones it can remove."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 STEP 3: SEE THE COMPETITION</a:t>
            </a:r>
          </a:p>
          <a:p>
            <a:endParaRPr lang="en-GB" dirty="0"/>
          </a:p>
          <a:p>
            <a:r>
              <a:rPr lang="en-GB" b="1" dirty="0"/>
              <a:t>HOW TO TEACH IT:</a:t>
            </a:r>
          </a:p>
          <a:p>
            <a:endParaRPr lang="en-GB" dirty="0"/>
          </a:p>
          <a:p>
            <a:r>
              <a:rPr lang="en-GB" b="1" dirty="0"/>
              <a:t>1. Read the question of the step from the slide.</a:t>
            </a:r>
          </a:p>
          <a:p>
            <a:r>
              <a:rPr lang="en-GB" dirty="0"/>
              <a:t>"Who or what else can give the customer what “Reduce average response time to customer requests from 12 hours to 4 hours by 30 June 2027” delivers?"</a:t>
            </a:r>
          </a:p>
          <a:p>
            <a:endParaRPr lang="en-GB" dirty="0"/>
          </a:p>
          <a:p>
            <a:r>
              <a:rPr lang="en-GB" b="1" dirty="0"/>
              <a:t>2. Read the company’s answers.</a:t>
            </a:r>
          </a:p>
          <a:p>
            <a:r>
              <a:rPr lang="en-GB" dirty="0"/>
              <a:t>The slide lists five alternatives:</a:t>
            </a:r>
          </a:p>
          <a:p>
            <a:r>
              <a:rPr lang="en-GB" dirty="0"/>
              <a:t>- Rival client services firms.</a:t>
            </a:r>
          </a:p>
          <a:p>
            <a:r>
              <a:rPr lang="en-GB" dirty="0"/>
              <a:t>- Larger providers with round-the-clock service desks.</a:t>
            </a:r>
          </a:p>
          <a:p>
            <a:r>
              <a:rPr lang="en-GB" dirty="0"/>
              <a:t>- The client’s own in-house team.</a:t>
            </a:r>
          </a:p>
          <a:p>
            <a:r>
              <a:rPr lang="en-GB" dirty="0"/>
              <a:t>- Self-service tools that answer simple requests at once.</a:t>
            </a:r>
          </a:p>
          <a:p>
            <a:r>
              <a:rPr lang="en-GB" dirty="0"/>
              <a:t>- Doing nothing: the client lives with a slower answer.</a:t>
            </a:r>
          </a:p>
          <a:p>
            <a:endParaRPr lang="en-GB" dirty="0"/>
          </a:p>
          <a:p>
            <a:r>
              <a:rPr lang="en-GB" b="1" dirty="0"/>
              <a:t>3. Read the Must-Be-True condition.</a:t>
            </a:r>
          </a:p>
          <a:p>
            <a:r>
              <a:rPr lang="en-GB" dirty="0"/>
              <a:t>The question: "What must remain true about the advantage “Reduce average response time to customer requests from 12 hours to 4 hours by 30 June 2027” gives us compared to these other options?"</a:t>
            </a:r>
          </a:p>
          <a:p>
            <a:r>
              <a:rPr lang="en-GB" dirty="0"/>
              <a:t>The condition: A four-hour response remains faster than rival firms and clients’ in-house options provide.</a:t>
            </a:r>
          </a:p>
          <a:p>
            <a:r>
              <a:rPr lang="en-GB" dirty="0"/>
              <a:t>Ask: "Which of the five alternatives would close the gap first?"</a:t>
            </a:r>
          </a:p>
          <a:p>
            <a:endParaRPr lang="en-GB" dirty="0"/>
          </a:p>
          <a:p>
            <a:r>
              <a:rPr lang="en-GB" b="1" dirty="0"/>
              <a:t>4. Point out the width of the list.</a:t>
            </a:r>
          </a:p>
          <a:p>
            <a:r>
              <a:rPr lang="en-GB" dirty="0"/>
              <a:t>Say: "Two of the five alternatives sit outside the industry, and one is doing nothing."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 STEP 4: ESTABLISH THE VALUE PROPOSITION</a:t>
            </a:r>
          </a:p>
          <a:p>
            <a:endParaRPr lang="en-GB" dirty="0"/>
          </a:p>
          <a:p>
            <a:r>
              <a:rPr lang="en-GB" b="1" dirty="0"/>
              <a:t>HOW TO TEACH IT:</a:t>
            </a:r>
          </a:p>
          <a:p>
            <a:endParaRPr lang="en-GB" dirty="0"/>
          </a:p>
          <a:p>
            <a:r>
              <a:rPr lang="en-GB" b="1" dirty="0"/>
              <a:t>1. Read the question of the step from the slide.</a:t>
            </a:r>
          </a:p>
          <a:p>
            <a:r>
              <a:rPr lang="en-GB" dirty="0"/>
              <a:t>"What about “Reduce average response time to customer requests from 12 hours to 4 hours by 30 June 2027” will make customers choose us?"</a:t>
            </a:r>
          </a:p>
          <a:p>
            <a:endParaRPr lang="en-GB" dirty="0"/>
          </a:p>
          <a:p>
            <a:r>
              <a:rPr lang="en-GB" b="1" dirty="0"/>
              <a:t>2. Read the company’s answers.</a:t>
            </a:r>
          </a:p>
          <a:p>
            <a:r>
              <a:rPr lang="en-GB" dirty="0"/>
              <a:t>Relevant · Does this Key Result matter to the customer? Speed of response is among the main reasons clients choose a service partner.</a:t>
            </a:r>
          </a:p>
          <a:p>
            <a:r>
              <a:rPr lang="en-GB" dirty="0"/>
              <a:t>Distinctive · What does it give the customer that the alternatives do not? One joined-up team answers the request. Larger providers pass it between departments.</a:t>
            </a:r>
          </a:p>
          <a:p>
            <a:r>
              <a:rPr lang="en-GB" dirty="0"/>
              <a:t>Deliverable · Can we consistently produce it? Cross-functional execution routines and named owners make a four-hour response repeatable.</a:t>
            </a:r>
          </a:p>
          <a:p>
            <a:endParaRPr lang="en-GB" dirty="0"/>
          </a:p>
          <a:p>
            <a:r>
              <a:rPr lang="en-GB" b="1" dirty="0"/>
              <a:t>3. Read the Must-Be-True condition.</a:t>
            </a:r>
          </a:p>
          <a:p>
            <a:r>
              <a:rPr lang="en-GB" dirty="0"/>
              <a:t>The question: "What must remain true about our value architecture for “Reduce average response time to customer requests from 12 hours to 4 hours by 30 June 2027” to stay coherent and profitable?"</a:t>
            </a:r>
          </a:p>
          <a:p>
            <a:r>
              <a:rPr lang="en-GB" dirty="0"/>
              <a:t>The condition: Faster response is delivered with no loss in the quality of the answer the client receives.</a:t>
            </a:r>
          </a:p>
          <a:p>
            <a:r>
              <a:rPr lang="en-GB" dirty="0"/>
              <a:t>Ask: "What would clients notice first if speed came at the cost of the quality of the answer?"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FOUR STEPS, FOUR CONDITIONS</a:t>
            </a:r>
          </a:p>
          <a:p>
            <a:endParaRPr lang="en-GB" dirty="0"/>
          </a:p>
          <a:p>
            <a:r>
              <a:rPr lang="en-GB" b="1" dirty="0"/>
              <a:t>HOW TO TEACH IT:</a:t>
            </a:r>
          </a:p>
          <a:p>
            <a:endParaRPr lang="en-GB" dirty="0"/>
          </a:p>
          <a:p>
            <a:r>
              <a:rPr lang="en-GB" b="1" dirty="0"/>
              <a:t>1. Read the four conditions in order.</a:t>
            </a:r>
          </a:p>
          <a:p>
            <a:r>
              <a:rPr lang="en-GB" dirty="0"/>
              <a:t>- Arena: Experiential: clients continue to rank speed of response among their top three reasons for choosing a service partner.</a:t>
            </a:r>
          </a:p>
          <a:p>
            <a:r>
              <a:rPr lang="en-GB" dirty="0"/>
              <a:t>- Boundaries: Handovers between Commercial, Operations and Customer Service are completed inside four hours.</a:t>
            </a:r>
          </a:p>
          <a:p>
            <a:r>
              <a:rPr lang="en-GB" dirty="0"/>
              <a:t>- Competition: A four-hour response remains faster than rival firms and clients’ in-house options provide.</a:t>
            </a:r>
          </a:p>
          <a:p>
            <a:r>
              <a:rPr lang="en-GB" dirty="0"/>
              <a:t>- Value Proposition: Faster response is delivered with no loss in the quality of the answer the client receives.</a:t>
            </a:r>
          </a:p>
          <a:p>
            <a:endParaRPr lang="en-GB" dirty="0"/>
          </a:p>
          <a:p>
            <a:r>
              <a:rPr lang="en-GB" b="1" dirty="0"/>
              <a:t>2. Land the line at the foot of the slide.</a:t>
            </a:r>
          </a:p>
          <a:p>
            <a:r>
              <a:rPr lang="en-GB" dirty="0"/>
              <a:t>Say: "Four steps, four conditions. If one of them shifts or fails, the Key Result becomes fragile by design."</a:t>
            </a:r>
          </a:p>
          <a:p>
            <a:endParaRPr lang="en-GB" dirty="0"/>
          </a:p>
          <a:p>
            <a:r>
              <a:rPr lang="en-GB" b="1" dirty="0"/>
              <a:t>3. Test the standard.</a:t>
            </a:r>
          </a:p>
          <a:p>
            <a:r>
              <a:rPr lang="en-GB" dirty="0"/>
              <a:t>Ask: "Could someone outside this company verify each of these four conditions?"</a:t>
            </a:r>
          </a:p>
          <a:p>
            <a:r>
              <a:rPr lang="en-GB" dirty="0"/>
              <a:t>Say: "That is the standard for your own conditions: specific enough that someone else could attempt to verify them."</a:t>
            </a:r>
          </a:p>
          <a:p>
            <a:endParaRPr lang="en-GB" dirty="0"/>
          </a:p>
          <a:p>
            <a:r>
              <a:rPr lang="en-GB" dirty="0"/>
              <a:t>Deepen, say: "A decision can solve today’s problem while creating future instability.</a:t>
            </a:r>
          </a:p>
          <a:p>
            <a:r>
              <a:rPr lang="en-GB" dirty="0"/>
              <a:t>Assess each objective by the capability, dependency, risk and future consequence it creates."</a:t>
            </a:r>
          </a:p>
          <a:p>
            <a:r>
              <a:rPr lang="en-GB" dirty="0"/>
              <a:t>(Insight: Today’s fix, tomorrow’s cost. Source: Journal, 19 July 2026 — Professional Insights: Strategy)</a:t>
            </a:r>
          </a:p>
          <a:p>
            <a:endParaRPr lang="en-GB" dirty="0"/>
          </a:p>
          <a:p>
            <a:r>
              <a:rPr lang="en-GB" b="1" dirty="0"/>
              <a:t>4. Bridge to 4.2.</a:t>
            </a:r>
          </a:p>
          <a:p>
            <a:r>
              <a:rPr lang="en-GB" dirty="0"/>
              <a:t>Say: "Your exercise is this example repeated on your own Key Results: the same four steps, in the same order."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STRESS-TESTING YOUR KEY RESULTS · HOW THE GROUP WORKS</a:t>
            </a:r>
          </a:p>
          <a:p>
            <a:endParaRPr lang="en-GB" dirty="0"/>
          </a:p>
          <a:p>
            <a:r>
              <a:rPr lang="en-GB" b="1" dirty="0"/>
              <a:t>HOW TO TEACH IT:</a:t>
            </a:r>
          </a:p>
          <a:p>
            <a:endParaRPr lang="en-GB" dirty="0"/>
          </a:p>
          <a:p>
            <a:r>
              <a:rPr lang="en-GB" b="1" dirty="0"/>
              <a:t>1. Explain how the group works, using the four lines on the slide.</a:t>
            </a:r>
          </a:p>
          <a:p>
            <a:r>
              <a:rPr lang="en-GB" dirty="0"/>
              <a:t>Say: "Your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r>
              <a:rPr lang="en-GB" b="1" dirty="0"/>
              <a:t>2. Say what the group works on.</a:t>
            </a:r>
          </a:p>
          <a:p>
            <a:r>
              <a:rPr lang="en-GB" dirty="0"/>
              <a:t>Say: "Your group does for its own Key Results what the worked example did.</a:t>
            </a:r>
          </a:p>
          <a:p>
            <a:r>
              <a:rPr lang="en-GB" dirty="0"/>
              <a:t>Your confirmed Key Results from Unit 3 are already listed on your page.</a:t>
            </a:r>
          </a:p>
          <a:p>
            <a:r>
              <a:rPr lang="en-GB" dirty="0"/>
              <a:t>No new objective or measure is added."</a:t>
            </a:r>
          </a:p>
          <a:p>
            <a:endParaRPr lang="en-GB" dirty="0"/>
          </a:p>
          <a:p>
            <a:r>
              <a:rPr lang="en-GB" b="1" dirty="0"/>
              <a:t>3. Say when the work is confirmed.</a:t>
            </a:r>
          </a:p>
          <a:p>
            <a:r>
              <a:rPr lang="en-GB" dirty="0"/>
              <a:t>Say: "When every Key Result has been taken through the four steps, each of you confirms the record."</a:t>
            </a:r>
          </a:p>
          <a:p>
            <a:r>
              <a:rPr lang="en-GB" dirty="0"/>
              <a:t>Read the foot of the slide aloud.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STRESS-TESTING YOUR KEY RESULTS · THE FOUR STEPS (CAPSTONE WORK)</a:t>
            </a:r>
          </a:p>
          <a:p>
            <a:endParaRPr lang="en-GB" dirty="0"/>
          </a:p>
          <a:p>
            <a:r>
              <a:rPr lang="en-GB" b="1" dirty="0"/>
              <a:t>HOW TO TEACH IT:</a:t>
            </a:r>
          </a:p>
          <a:p>
            <a:endParaRPr lang="en-GB" dirty="0"/>
          </a:p>
          <a:p>
            <a:r>
              <a:rPr lang="en-GB" b="1" dirty="0"/>
              <a:t>1. Walk the four steps on the slide. Each one is taken for one Key Result at a time.</a:t>
            </a:r>
          </a:p>
          <a:p>
            <a:r>
              <a:rPr lang="en-GB" dirty="0"/>
              <a:t>- Step 1 · Define the Arena. The group says which customer need the Key Result serves, at three depths (functional, experiential, consequential). Then it names what must remain true about that need.</a:t>
            </a:r>
          </a:p>
          <a:p>
            <a:r>
              <a:rPr lang="en-GB" dirty="0"/>
              <a:t>- Step 2 · Understand the Boundaries. The group lists the boundaries material enough to slow, restrict or prevent delivery of the Key Result, with the kind of each and whether it must be accepted, can be influenced or was created by the organisation itself. Then it names what must remain true for delivery.</a:t>
            </a:r>
          </a:p>
          <a:p>
            <a:r>
              <a:rPr lang="en-GB" dirty="0"/>
              <a:t>- Step 3 · See the Competition. The group lists who or what else can give the customer what the Key Result delivers, including alternatives outside the industry and doing nothing. Then it names what must remain true about its advantage.</a:t>
            </a:r>
          </a:p>
          <a:p>
            <a:r>
              <a:rPr lang="en-GB" dirty="0"/>
              <a:t>- Step 4 · Establish the Value Proposition. The group says what about the Key Result will make customers choose the organisation, using the three tests (relevant, distinctive, deliverable). Then it names what must remain true about its value architecture.</a:t>
            </a:r>
          </a:p>
          <a:p>
            <a:endParaRPr lang="en-GB" dirty="0"/>
          </a:p>
          <a:p>
            <a:r>
              <a:rPr lang="en-GB" b="1" dirty="0"/>
              <a:t>2. Say how the questions read on the page.</a:t>
            </a:r>
          </a:p>
          <a:p>
            <a:r>
              <a:rPr lang="en-GB" dirty="0"/>
              <a:t>Say: "On your page every question names your own Key Result, word for word. You answer about that Key Result and no other."</a:t>
            </a:r>
          </a:p>
          <a:p>
            <a:endParaRPr lang="en-GB" dirty="0"/>
          </a:p>
          <a:p>
            <a:r>
              <a:rPr lang="en-GB" b="1" dirty="0"/>
              <a:t>3. Set the standard for a condition.</a:t>
            </a:r>
          </a:p>
          <a:p>
            <a:r>
              <a:rPr lang="en-GB" dirty="0"/>
              <a:t>Say: "The condition your group names must be specific enough that someone else could attempt to verify it.</a:t>
            </a:r>
          </a:p>
          <a:p>
            <a:r>
              <a:rPr lang="en-GB" dirty="0"/>
              <a:t>“The market must support us” is too vague to verify.</a:t>
            </a:r>
          </a:p>
          <a:p>
            <a:r>
              <a:rPr lang="en-GB" dirty="0"/>
              <a:t>Push for precision."</a:t>
            </a:r>
          </a:p>
          <a:p>
            <a:r>
              <a:rPr lang="en-GB" dirty="0"/>
              <a:t>Watch for: conditions written as risks or concerns. Each must be a condition that is either true or false.</a:t>
            </a:r>
          </a:p>
          <a:p>
            <a:r>
              <a:rPr lang="en-GB" dirty="0"/>
              <a:t>Watch for: groups that struggle to name a condition. This is a signal that the Key Result itself may be insufficiently grounded. Use it as productive friction.</a:t>
            </a:r>
          </a:p>
          <a:p>
            <a:r>
              <a:rPr lang="en-GB" dirty="0"/>
              <a:t>Ask: "If you cannot name a Must-Be-True, what does that tell you about this Key Result?"</a:t>
            </a:r>
          </a:p>
          <a:p>
            <a:endParaRPr lang="en-GB" dirty="0"/>
          </a:p>
          <a:p>
            <a:r>
              <a:rPr lang="en-GB" dirty="0"/>
              <a:t>Deepen, say: "A senior team often resists strategic clarity because the direction is uncomfortably specific.</a:t>
            </a:r>
          </a:p>
          <a:p>
            <a:r>
              <a:rPr lang="en-GB" dirty="0"/>
              <a:t>The reluctance is personal more than analytical.</a:t>
            </a:r>
          </a:p>
          <a:p>
            <a:r>
              <a:rPr lang="en-GB" dirty="0"/>
              <a:t>Ask: which piece of strategic direction is your function hiding from?"</a:t>
            </a:r>
          </a:p>
          <a:p>
            <a:r>
              <a:rPr lang="en-GB" dirty="0"/>
              <a:t>(Insight: Uncomfortably specific. Source: Journal, 9 May 2026 — Professional Insights: Strategy)</a:t>
            </a:r>
          </a:p>
          <a:p>
            <a:endParaRPr lang="en-GB" dirty="0"/>
          </a:p>
          <a:p>
            <a:r>
              <a:rPr lang="en-GB" b="1" dirty="0"/>
              <a:t>4. Close the section with the commitment question.</a:t>
            </a:r>
          </a:p>
          <a:p>
            <a:r>
              <a:rPr lang="en-GB" dirty="0"/>
              <a:t>Ask: "Which one MBT condition, if left unverified, represents the greatest risk to our strategy’s integrity? Who is leaving this room responsible for that verification?"</a:t>
            </a:r>
          </a:p>
          <a:p>
            <a:endParaRPr lang="en-GB" dirty="0"/>
          </a:p>
          <a:p>
            <a:r>
              <a:rPr lang="en-GB" b="1" dirty="0"/>
              <a:t>ON THE PORTAL, AFTER THE TEACHING:</a:t>
            </a:r>
          </a:p>
          <a:p>
            <a:r>
              <a:rPr lang="en-GB" dirty="0"/>
              <a:t>Participants work in their groups in 4.2 of the participant file. This is Capstone work.</a:t>
            </a:r>
          </a:p>
          <a:p>
            <a:r>
              <a:rPr lang="en-GB" dirty="0"/>
              <a:t>1. The group’s confirmed Key Results from Unit 3 are listed in 4.2.</a:t>
            </a:r>
          </a:p>
          <a:p>
            <a:r>
              <a:rPr lang="en-GB" dirty="0"/>
              <a:t>2. The group takes one Key Result through the four steps and names the condition at each step.</a:t>
            </a:r>
          </a:p>
          <a:p>
            <a:r>
              <a:rPr lang="en-GB" dirty="0"/>
              <a:t>3. The group takes the next Key Result through the same four steps, until every Key Result is complete.</a:t>
            </a:r>
          </a:p>
          <a:p>
            <a:r>
              <a:rPr lang="en-GB" dirty="0"/>
              <a:t>4. A record shows the condition named at each step for every Key Result. Each participant confirms the record. Print gives a copy.</a:t>
            </a:r>
          </a:p>
          <a:p>
            <a:endParaRPr lang="en-GB" dirty="0"/>
          </a:p>
          <a:p>
            <a:r>
              <a:rPr lang="en-GB" b="1" dirty="0"/>
              <a:t>AFTER THE SESSION:</a:t>
            </a:r>
          </a:p>
          <a:p>
            <a:r>
              <a:rPr lang="en-GB" dirty="0"/>
              <a:t>The record reaches you with each participant’s submission, under the heading ABCV–MBT: Stress-Testing the Key Results.</a:t>
            </a:r>
          </a:p>
          <a:p>
            <a:r>
              <a:rPr lang="en-GB" dirty="0"/>
              <a:t>The confirmed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Cause of Death: how the game is played.</a:t>
            </a:r>
          </a:p>
          <a:p>
            <a:r>
              <a:rPr lang="en-GB" dirty="0"/>
              <a:t>2. The four mines.</a:t>
            </a:r>
          </a:p>
          <a:p>
            <a:r>
              <a:rPr lang="en-GB" dirty="0"/>
              <a:t>3. The Section 5 Reflections slide: the closing commitment.</a:t>
            </a:r>
          </a:p>
          <a:p>
            <a:r>
              <a:rPr lang="en-GB" dirty="0"/>
              <a:t>4. The Unit Summary.</a:t>
            </a:r>
          </a:p>
          <a:p>
            <a:endParaRPr lang="en-GB" dirty="0"/>
          </a:p>
          <a:p>
            <a:r>
              <a:rPr lang="en-GB" b="1" dirty="0"/>
              <a:t>SECTION LEARNING OUTCOMES:</a:t>
            </a:r>
          </a:p>
          <a:p>
            <a:r>
              <a:rPr lang="en-GB" dirty="0"/>
              <a:t>1. Evaluate realistic strategic failures to diagnose where directional integrity broke down.</a:t>
            </a:r>
          </a:p>
          <a:p>
            <a:r>
              <a:rPr lang="en-GB" dirty="0"/>
              <a:t>2. Judge which integrity checkpoint would have protected the chosen direction.</a:t>
            </a:r>
          </a:p>
          <a:p>
            <a:endParaRPr lang="en-GB" dirty="0"/>
          </a:p>
          <a:p>
            <a:r>
              <a:rPr lang="en-GB" b="1" dirty="0"/>
              <a:t>HOW TO OPEN THE SECTION:</a:t>
            </a:r>
          </a:p>
          <a:p>
            <a:endParaRPr lang="en-GB" dirty="0"/>
          </a:p>
          <a:p>
            <a:r>
              <a:rPr lang="en-GB" b="1" dirty="0"/>
              <a:t>1. Say what the section does.</a:t>
            </a:r>
          </a:p>
          <a:p>
            <a:r>
              <a:rPr lang="en-GB" dirty="0"/>
              <a:t>Say: "You now apply ABCV diagnostic thinking under pressure.</a:t>
            </a:r>
          </a:p>
          <a:p>
            <a:r>
              <a:rPr lang="en-GB" dirty="0"/>
              <a:t>Each scenario is a real-world strategy failure in which an Industry Illusion kept leaders from seeing the breakdown."</a:t>
            </a:r>
          </a:p>
          <a:p>
            <a:r>
              <a:rPr lang="en-GB" dirty="0"/>
              <a:t>Section intent: participants find the illusion first, then the ABCV checkpoint where that illusion sits.</a:t>
            </a:r>
          </a:p>
          <a:p>
            <a:endParaRPr lang="en-GB" dirty="0"/>
          </a:p>
          <a:p>
            <a:r>
              <a:rPr lang="en-GB" b="1" dirty="0"/>
              <a:t>2. Say who plays.</a:t>
            </a:r>
          </a:p>
          <a:p>
            <a:r>
              <a:rPr lang="en-GB" dirty="0"/>
              <a:t>Say: "Each of you plays this game alone, on the portal, after the teaching. It is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CAUSE OF DEATH — MATCH THE BREAKDOWN (2 PARTS · PORTFOLIO WORK)</a:t>
            </a:r>
          </a:p>
          <a:p>
            <a:endParaRPr lang="en-GB" dirty="0"/>
          </a:p>
          <a:p>
            <a:r>
              <a:rPr lang="en-GB" b="1" dirty="0"/>
              <a:t>HOW TO TEACH IT:</a:t>
            </a:r>
          </a:p>
          <a:p>
            <a:endParaRPr lang="en-GB" dirty="0"/>
          </a:p>
          <a:p>
            <a:r>
              <a:rPr lang="en-GB" b="1" dirty="0"/>
              <a:t>1. Explain the two parts on the slide.</a:t>
            </a:r>
          </a:p>
          <a:p>
            <a:r>
              <a:rPr lang="en-GB" dirty="0"/>
              <a:t>Say: "Each scenario is answered in two parts. First you find the illusion. Then you find where it sits."</a:t>
            </a:r>
          </a:p>
          <a:p>
            <a:r>
              <a:rPr lang="en-GB" dirty="0"/>
              <a:t>- Find the illusion: the participant chooses the investigation question the scenario answers. Each question reveals one illusion.</a:t>
            </a:r>
          </a:p>
          <a:p>
            <a:r>
              <a:rPr lang="en-GB" dirty="0"/>
              <a:t>- Find where it sits: the participant chooses the ABCV checkpoint the illusion hid from leaders: Arena, Boundaries, Competition or Value Proposition.</a:t>
            </a:r>
          </a:p>
          <a:p>
            <a:endParaRPr lang="en-GB" dirty="0"/>
          </a:p>
          <a:p>
            <a:r>
              <a:rPr lang="en-GB" b="1" dirty="0"/>
              <a:t>2. Read the three investigation questions.</a:t>
            </a:r>
          </a:p>
          <a:p>
            <a:r>
              <a:rPr lang="en-GB" dirty="0"/>
              <a:t>- Question 1: What did leaders expect to continue seeing because it was what they already knew?</a:t>
            </a:r>
          </a:p>
          <a:p>
            <a:r>
              <a:rPr lang="en-GB" dirty="0"/>
              <a:t>- Question 2: Which signal did leaders see and then discount because it did not fit their established picture?</a:t>
            </a:r>
          </a:p>
          <a:p>
            <a:r>
              <a:rPr lang="en-GB" dirty="0"/>
              <a:t>- Question 3: Which evidence of current success did leaders treat as reassurance about the future?</a:t>
            </a:r>
          </a:p>
          <a:p>
            <a:r>
              <a:rPr lang="en-GB" dirty="0"/>
              <a:t>Do not say which illusion each question reveals. The participants work that out.</a:t>
            </a:r>
          </a:p>
          <a:p>
            <a:endParaRPr lang="en-GB" dirty="0"/>
          </a:p>
          <a:p>
            <a:r>
              <a:rPr lang="en-GB" b="1" dirty="0"/>
              <a:t>3. Explain the mine.</a:t>
            </a:r>
          </a:p>
          <a:p>
            <a:r>
              <a:rPr lang="en-GB" dirty="0"/>
              <a:t>Say: "When both parts are right, the mine is defused.</a:t>
            </a:r>
          </a:p>
          <a:p>
            <a:r>
              <a:rPr lang="en-GB" dirty="0"/>
              <a:t>A wrong answer detonates it: you read the hint and try again.</a:t>
            </a:r>
          </a:p>
          <a:p>
            <a:r>
              <a:rPr lang="en-GB" dirty="0"/>
              <a:t>A mine defused at the first attempt earns 2 points, at a later attempt 1 point.</a:t>
            </a:r>
          </a:p>
          <a:p>
            <a:r>
              <a:rPr lang="en-GB" dirty="0"/>
              <a:t>The maximum is 8."</a:t>
            </a:r>
          </a:p>
          <a:p>
            <a:r>
              <a:rPr lang="en-GB" dirty="0"/>
              <a:t>Say: "The same illusion can sit behind more than one mine."</a:t>
            </a:r>
          </a:p>
          <a:p>
            <a:endParaRPr lang="en-GB" dirty="0"/>
          </a:p>
          <a:p>
            <a:r>
              <a:rPr lang="en-GB" b="1" dirty="0"/>
              <a:t>4. Set the standard.</a:t>
            </a:r>
          </a:p>
          <a:p>
            <a:r>
              <a:rPr lang="en-GB" dirty="0"/>
              <a:t>Say: "Say your reasoning to yourself before you answer. Guessing the right checkpoint for the wrong reason will surface."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CAUSE OF DEATH — THE FOUR MINES</a:t>
            </a:r>
          </a:p>
          <a:p>
            <a:endParaRPr lang="en-GB" dirty="0"/>
          </a:p>
          <a:p>
            <a:r>
              <a:rPr lang="en-GB" b="1" dirty="0"/>
              <a:t>HOW TO TEACH IT:</a:t>
            </a:r>
          </a:p>
          <a:p>
            <a:endParaRPr lang="en-GB" dirty="0"/>
          </a:p>
          <a:p>
            <a:r>
              <a:rPr lang="en-GB" b="1" dirty="0"/>
              <a:t>1. Introduce the four scenarios, one line each.</a:t>
            </a:r>
          </a:p>
          <a:p>
            <a:r>
              <a:rPr lang="en-GB" dirty="0"/>
              <a:t>- Mine 1, The Ghost Ship: a SaaS platform with strong retention in year one and 70% churn by year three.</a:t>
            </a:r>
          </a:p>
          <a:p>
            <a:r>
              <a:rPr lang="en-GB" dirty="0"/>
              <a:t>- Mine 2, The Ferrari in the Mud: a logistics firm whose new digital operations platform is used consistently by less than 30% of staff.</a:t>
            </a:r>
          </a:p>
          <a:p>
            <a:r>
              <a:rPr lang="en-GB" dirty="0"/>
              <a:t>- Mine 3, The Invisible Disruption: a financial advisory firm that loses revenue while no rival firm takes its clients.</a:t>
            </a:r>
          </a:p>
          <a:p>
            <a:r>
              <a:rPr lang="en-GB" dirty="0"/>
              <a:t>- Mine 4, The Identity Crisis: a boutique consulting firm whose revenue rises while its distinctiveness is lost.</a:t>
            </a:r>
          </a:p>
          <a:p>
            <a:r>
              <a:rPr lang="en-GB" dirty="0"/>
              <a:t>Do not give the answers. The value is in the diagnostic reasoning.</a:t>
            </a:r>
          </a:p>
          <a:p>
            <a:endParaRPr lang="en-GB" dirty="0"/>
          </a:p>
          <a:p>
            <a:r>
              <a:rPr lang="en-GB" b="1" dirty="0"/>
              <a:t>2. Hand the game to the participants.</a:t>
            </a:r>
          </a:p>
          <a:p>
            <a:r>
              <a:rPr lang="en-GB" dirty="0"/>
              <a:t>Say: "After the teaching, each of you defuses all four mines in Section 5 of your own page.</a:t>
            </a:r>
          </a:p>
          <a:p>
            <a:r>
              <a:rPr lang="en-GB" dirty="0"/>
              <a:t>Your score and your attempts are saved on your page and reach me when you submit the unit."</a:t>
            </a:r>
          </a:p>
          <a:p>
            <a:endParaRPr lang="en-GB" dirty="0"/>
          </a:p>
          <a:p>
            <a:r>
              <a:rPr lang="en-GB" b="1" dirty="0"/>
              <a:t>3. Debrief at the next session, or when all have played.</a:t>
            </a:r>
          </a:p>
          <a:p>
            <a:r>
              <a:rPr lang="en-GB" dirty="0"/>
              <a:t>Ask: "Which mine was hardest to defuse? What does that tell you about your organisation’s own ABCV blind spot?"</a:t>
            </a:r>
          </a:p>
          <a:p>
            <a:endParaRPr lang="en-GB" dirty="0"/>
          </a:p>
          <a:p>
            <a:r>
              <a:rPr lang="en-GB" b="1" dirty="0"/>
              <a:t>EXAMPLE</a:t>
            </a:r>
          </a:p>
          <a:p>
            <a:r>
              <a:rPr lang="en-GB" dirty="0"/>
              <a:t>Answer key, for you only. It is in the facilitator file, Section 5.</a:t>
            </a:r>
          </a:p>
          <a:p>
            <a:r>
              <a:rPr lang="en-GB" dirty="0"/>
              <a:t>- The Ghost Ship: Complacency, sitting in Arena. Strong retention and a quiet support desk reassured leaders that customers were committed. The customer end game had shifted, and nobody was asking what customers were now trying to achieve.</a:t>
            </a:r>
          </a:p>
          <a:p>
            <a:r>
              <a:rPr lang="en-GB" dirty="0"/>
              <a:t>- The Ferrari in the Mud: Familiarity, sitting in Boundaries. Leaders expected this roll-out to go the way earlier ones had. The behavioural and structural boundaries (habits, incentives, middle-management routines) were never mapped.</a:t>
            </a:r>
          </a:p>
          <a:p>
            <a:r>
              <a:rPr lang="en-GB" dirty="0"/>
              <a:t>- The Invisible Disruption: Exclusion, sitting in Competition. The firm saw the app and discounted it because it did not look like an advisory firm. Clients had an alternative route to the same outcome.</a:t>
            </a:r>
          </a:p>
          <a:p>
            <a:r>
              <a:rPr lang="en-GB" dirty="0"/>
              <a:t>- The Identity Crisis: Complacency, sitting in Value Proposition. Rising revenue reassured the partners while the work they accepted diluted what made the firm distinct.</a:t>
            </a:r>
          </a:p>
          <a:p>
            <a:endParaRPr lang="en-GB" dirty="0"/>
          </a:p>
          <a:p>
            <a:r>
              <a:rPr lang="en-GB" b="1" dirty="0"/>
              <a:t>ON THE PORTAL, AFTER THE TEACHING:</a:t>
            </a:r>
          </a:p>
          <a:p>
            <a:r>
              <a:rPr lang="en-GB" dirty="0"/>
              <a:t>Each participant plays Cause of Death alone in Section 5 of the participant file and defuses all four mines.</a:t>
            </a:r>
          </a:p>
          <a:p>
            <a:endParaRPr lang="en-GB" dirty="0"/>
          </a:p>
          <a:p>
            <a:r>
              <a:rPr lang="en-GB" b="1" dirty="0"/>
              <a:t>AFTER THE SESSION:</a:t>
            </a:r>
          </a:p>
          <a:p>
            <a:r>
              <a:rPr lang="en-GB" dirty="0"/>
              <a:t>Each participant’s score and attempts reach you with the submission, under the heading Cause of Death.</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4 SYNTHESIS)</a:t>
            </a:r>
          </a:p>
          <a:p>
            <a:endParaRPr lang="en-GB" dirty="0"/>
          </a:p>
          <a:p>
            <a:r>
              <a:rPr lang="en-GB" b="1" dirty="0"/>
              <a:t>HOW TO TEACH IT:</a:t>
            </a:r>
          </a:p>
          <a:p>
            <a:endParaRPr lang="en-GB" dirty="0"/>
          </a:p>
          <a:p>
            <a:r>
              <a:rPr lang="en-GB" b="1" dirty="0"/>
              <a:t>1. Recap the unit, section by section.</a:t>
            </a:r>
          </a:p>
          <a:p>
            <a:r>
              <a:rPr lang="en-GB" dirty="0"/>
              <a:t>Say: "This session was about ensuring strategic direction is structurally sound before the first move of execution is made.</a:t>
            </a:r>
          </a:p>
          <a:p>
            <a:r>
              <a:rPr lang="en-GB" dirty="0"/>
              <a:t>The ABCV–MBT framework served as our strategic integrity filter."</a:t>
            </a:r>
          </a:p>
          <a:p>
            <a:r>
              <a:rPr lang="en-GB" dirty="0"/>
              <a:t>- 1 · Awareness: a well-written OKR can still rest on unnamed conditions. ABCV examines the strategic logic at four checkpoints, and a Must-Be-True condition at each makes the underlying assumption explicit.</a:t>
            </a:r>
          </a:p>
          <a:p>
            <a:r>
              <a:rPr lang="en-GB" dirty="0"/>
              <a:t>- 2 · Intelligence: industry knowledge becomes a frame, and three reinforcing traps (Familiarity, Exclusion and Complacency) turn that frame into the boundary of the world leaders examine.</a:t>
            </a:r>
          </a:p>
          <a:p>
            <a:r>
              <a:rPr lang="en-GB" dirty="0"/>
              <a:t>- 3 · Extrapolating: every executive role sees through a specialised perspective, and each has a checkpoint it most often overlooks.</a:t>
            </a:r>
          </a:p>
          <a:p>
            <a:r>
              <a:rPr lang="en-GB" dirty="0"/>
              <a:t>- 4 · Integration: each group takes the Key Results it confirmed in Unit 3 through four steps and names the condition that must remain true at each step.</a:t>
            </a:r>
          </a:p>
          <a:p>
            <a:r>
              <a:rPr lang="en-GB" dirty="0"/>
              <a:t>- 5 · Application: in Cause of Death each participant tests four failed strategies against the Industry Illusion.</a:t>
            </a:r>
          </a:p>
          <a:p>
            <a:endParaRPr lang="en-GB" dirty="0"/>
          </a:p>
          <a:p>
            <a:r>
              <a:rPr lang="en-GB" b="1" dirty="0"/>
              <a:t>2. Ask the closing question on the slide.</a:t>
            </a:r>
          </a:p>
          <a:p>
            <a:r>
              <a:rPr lang="en-GB" dirty="0"/>
              <a:t>Ask: "What is the one MBT condition your team is most likely to avoid naming? Why? And what will you do about it before the next strategic review?"</a:t>
            </a:r>
          </a:p>
          <a:p>
            <a:r>
              <a:rPr lang="en-GB" dirty="0"/>
              <a:t>Take an answer from each group.</a:t>
            </a:r>
          </a:p>
          <a:p>
            <a:endParaRPr lang="en-GB" dirty="0"/>
          </a:p>
          <a:p>
            <a:r>
              <a:rPr lang="en-GB" b="1" dirty="0"/>
              <a:t>3. Close the unit.</a:t>
            </a:r>
          </a:p>
          <a:p>
            <a:r>
              <a:rPr lang="en-GB" dirty="0"/>
              <a:t>Say: "The ABCV–MBT checkpoints turn your OKRs from polished aspirations into resilient execution signals, grounded in the hard realities of the enterprise system."</a:t>
            </a:r>
          </a:p>
          <a:p>
            <a:endParaRPr lang="en-GB" dirty="0"/>
          </a:p>
          <a:p>
            <a:r>
              <a:rPr lang="en-GB" b="1" dirty="0"/>
              <a:t>4. Say what happens on the portal.</a:t>
            </a:r>
          </a:p>
          <a:p>
            <a:r>
              <a:rPr lang="en-GB" dirty="0"/>
              <a:t>Say: "You now complete the unit on the portal: your reflections, your own Industry Illusion game, your group’s work in Section 4, Cause of Death and your closing commitment.</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The confirmed Must-Be-True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two prompts aloud.</a:t>
            </a:r>
          </a:p>
          <a:p>
            <a:r>
              <a:rPr lang="en-GB" dirty="0"/>
              <a:t>1 · Overview reflection: "Take one Key Result your group confirmed in Unit 3. What is it assuming about the world that has not yet been verified?"</a:t>
            </a:r>
          </a:p>
          <a:p>
            <a:endParaRPr lang="en-GB" dirty="0"/>
          </a:p>
          <a:p>
            <a:r>
              <a:rPr lang="en-GB" dirty="0"/>
              <a:t>2 · Bringing ABCV Together reflection: "Which of the four ABCV checkpoints is your organisation least likely to examine rigorously before launching a new strategic initiative? What does that pattern cost you?"</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"For the first reflection, name one real Key Result of your group and one thing it assumes. For the second, name the checkpoint and one real cost."</a:t>
            </a:r>
          </a:p>
          <a:p>
            <a:r>
              <a:rPr lang="en-GB" dirty="0"/>
              <a:t>Listen for: an assumption stated as a worry. Ask: "Written as a condition, is it true or false today?"</a:t>
            </a:r>
          </a:p>
          <a:p>
            <a:endParaRPr lang="en-GB" dirty="0"/>
          </a:p>
          <a:p>
            <a:r>
              <a:rPr lang="en-GB" b="1" dirty="0"/>
              <a:t>4. Bridge to Section 2.</a:t>
            </a:r>
          </a:p>
          <a:p>
            <a:r>
              <a:rPr lang="en-GB" dirty="0"/>
              <a:t>Say: "We have the four checkpoints. Section 2 asks why leaders so often fail to use them."</a:t>
            </a:r>
          </a:p>
          <a:p>
            <a:endParaRPr lang="en-GB" dirty="0"/>
          </a:p>
          <a:p>
            <a:r>
              <a:rPr lang="en-GB" b="1" dirty="0"/>
              <a:t>ON THE PORTAL, AFTER THE TEACHING:</a:t>
            </a:r>
          </a:p>
          <a:p>
            <a:r>
              <a:rPr lang="en-GB" dirty="0"/>
              <a:t>Participants write the two reflections in Section 1 of the participant file: under the overview, and under Bringing ABCV Together.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"Having explored your role’s typical blind spot: what is one MBT condition in that checkpoint that your organisation is currently assuming without confirmation? What would it take to verify it?"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checkpoint of your role.</a:t>
            </a:r>
          </a:p>
          <a:p>
            <a:r>
              <a:rPr lang="en-GB" dirty="0"/>
              <a:t>Write one condition your organisation is assuming, in a form that is either true or false.</a:t>
            </a:r>
          </a:p>
          <a:p>
            <a:r>
              <a:rPr lang="en-GB" dirty="0"/>
              <a:t>Then say what evidence would verify it and who holds that evidence."</a:t>
            </a:r>
          </a:p>
          <a:p>
            <a:r>
              <a:rPr lang="en-GB" dirty="0"/>
              <a:t>Listen for: a general concern where a condition is needed. Ask: "What exactly must remain true?"</a:t>
            </a:r>
          </a:p>
          <a:p>
            <a:endParaRPr lang="en-GB" dirty="0"/>
          </a:p>
          <a:p>
            <a:r>
              <a:rPr lang="en-GB" b="1" dirty="0"/>
              <a:t>4. Bridge to Section 4.</a:t>
            </a:r>
          </a:p>
          <a:p>
            <a:r>
              <a:rPr lang="en-GB" dirty="0"/>
              <a:t>Say: "We know the checkpoints and we know our blind spots. Section 4 applies both to your own Key Results."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5 REFLECTIONS</a:t>
            </a:r>
          </a:p>
          <a:p>
            <a:endParaRPr lang="en-GB" dirty="0"/>
          </a:p>
          <a:p>
            <a:r>
              <a:rPr lang="en-GB" b="1" dirty="0"/>
              <a:t>HOW TO USE THIS SLIDE:</a:t>
            </a:r>
          </a:p>
          <a:p>
            <a:endParaRPr lang="en-GB" dirty="0"/>
          </a:p>
          <a:p>
            <a:r>
              <a:rPr lang="en-GB" b="1" dirty="0"/>
              <a:t>1. Show the slide and read the prompt aloud.</a:t>
            </a:r>
          </a:p>
          <a:p>
            <a:r>
              <a:rPr lang="en-GB" dirty="0"/>
              <a:t>Closing Commitment: "What is one MBT condition your organisation is currently avoiding naming? Why? What will you do about it before your next strategic review?"</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condition, in a form that is either true or false.</a:t>
            </a:r>
          </a:p>
          <a:p>
            <a:r>
              <a:rPr lang="en-GB" dirty="0"/>
              <a:t>Say why it is being avoided.</a:t>
            </a:r>
          </a:p>
          <a:p>
            <a:r>
              <a:rPr lang="en-GB" dirty="0"/>
              <a:t>Then name one action and the date of your next strategic review."</a:t>
            </a:r>
          </a:p>
          <a:p>
            <a:endParaRPr lang="en-GB" dirty="0"/>
          </a:p>
          <a:p>
            <a:r>
              <a:rPr lang="en-GB" dirty="0"/>
              <a:t>Deepen, say: "The instinct to manage the appearance of a known exposure, and leave the exposure itself unaddressed, turns a survivable warning into a failure.</a:t>
            </a:r>
          </a:p>
          <a:p>
            <a:r>
              <a:rPr lang="en-GB" dirty="0"/>
              <a:t>A risk that has been named and then avoided chooses its own moment.</a:t>
            </a:r>
          </a:p>
          <a:p>
            <a:r>
              <a:rPr lang="en-GB" dirty="0"/>
              <a:t>Treat a clear warning as a directive to act."</a:t>
            </a:r>
          </a:p>
          <a:p>
            <a:r>
              <a:rPr lang="en-GB" dirty="0"/>
              <a:t>(Insight: Named and avoided. Source: Journal, 16 June 2026 — Professional Insights: Strategy)</a:t>
            </a:r>
          </a:p>
          <a:p>
            <a:endParaRPr lang="en-GB" dirty="0"/>
          </a:p>
          <a:p>
            <a:r>
              <a:rPr lang="en-GB" b="1" dirty="0"/>
              <a:t>ON THE PORTAL, AFTER THE TEACHING:</a:t>
            </a:r>
          </a:p>
          <a:p>
            <a:r>
              <a:rPr lang="en-GB" dirty="0"/>
              <a:t>Participants write the Closing Commitment at the end of Section 5 of the participant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17.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home/claude/deck/build/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Direction Integrity</a:t>
            </a:r>
            <a:endParaRPr lang="en-US" sz="4800" dirty="0"/>
          </a:p>
          <a:p>
            <a:pPr indent="0" marL="0">
              <a:buNone/>
            </a:pPr>
            <a:r>
              <a:rPr lang="en-US" sz="4800" b="1" dirty="0">
                <a:solidFill>
                  <a:srgbClr val="FFFFFF"/>
                </a:solidFill>
                <a:latin typeface="Cambria" pitchFamily="34" charset="0"/>
                <a:ea typeface="Cambria" pitchFamily="34" charset="-122"/>
                <a:cs typeface="Cambria" pitchFamily="34" charset="-120"/>
              </a:rPr>
              <a:t>(ABCV-MBT)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evaluate the coherence and credibility of the organisation’s strategic direction.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Appraise the assumptions, dependencies and uncertainties that influence the viability of strategic choices.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Judge the extent to which strategic priorities are differentiated, internally consistent and responsive to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executive confidence and collective accountability for the integrity of the chosen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why well-formulated objectives can still lack strategic credibility.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objectives that are measurable from those that are strategically coherent.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Overview · From Unit 3 to Unit 4</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Your group has defined its OKRs. Now the question is whether they are strategically sound.</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Overview · The Logic</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1 · Define the Arena  </a:t>
            </a:r>
            <a:pPr indent="0" marL="0">
              <a:buNone/>
            </a:pPr>
            <a:r>
              <a:rPr lang="en-US" sz="2400" dirty="0">
                <a:solidFill>
                  <a:srgbClr val="1F2A22"/>
                </a:solidFill>
                <a:latin typeface="Calibri" pitchFamily="34" charset="0"/>
                <a:ea typeface="Calibri" pitchFamily="34" charset="-122"/>
                <a:cs typeface="Calibri" pitchFamily="34" charset="-120"/>
              </a:rPr>
              <a:t>Are we anchored in the right customer end game?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2 · Understand the Boundaries  </a:t>
            </a:r>
            <a:pPr indent="0" marL="0">
              <a:buNone/>
            </a:pPr>
            <a:r>
              <a:rPr lang="en-US" sz="2400" dirty="0">
                <a:solidFill>
                  <a:srgbClr val="1F2A22"/>
                </a:solidFill>
                <a:latin typeface="Calibri" pitchFamily="34" charset="0"/>
                <a:ea typeface="Calibri" pitchFamily="34" charset="-122"/>
                <a:cs typeface="Calibri" pitchFamily="34" charset="-120"/>
              </a:rPr>
              <a:t>What conditions could constrain our ability to deliver?</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3 · See the Competition  </a:t>
            </a:r>
            <a:pPr indent="0" marL="0">
              <a:buNone/>
            </a:pPr>
            <a:r>
              <a:rPr lang="en-US" sz="2400" dirty="0">
                <a:solidFill>
                  <a:srgbClr val="1F2A22"/>
                </a:solidFill>
                <a:latin typeface="Calibri" pitchFamily="34" charset="0"/>
                <a:ea typeface="Calibri" pitchFamily="34" charset="-122"/>
                <a:cs typeface="Calibri" pitchFamily="34" charset="-120"/>
              </a:rPr>
              <a:t>Who or what else can satisfy that end game?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Step 4 · Establish the Value Proposition  </a:t>
            </a:r>
            <a:pPr indent="0" marL="0">
              <a:buNone/>
            </a:pPr>
            <a:r>
              <a:rPr lang="en-US" sz="2400" dirty="0">
                <a:solidFill>
                  <a:srgbClr val="1F2A22"/>
                </a:solidFill>
                <a:latin typeface="Calibri" pitchFamily="34" charset="0"/>
                <a:ea typeface="Calibri" pitchFamily="34" charset="-122"/>
                <a:cs typeface="Calibri" pitchFamily="34" charset="-120"/>
              </a:rPr>
              <a:t>Why should the customer choose the value we create?</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At each step, name what Must Be True.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1.1a · Arena: the Customer End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Functional</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are they trying to achieve?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Experiential</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matters about how they achieve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Consequential</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What does achieving it ultimately enable?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Arena tells you who you are actually competing with.</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1.1b · Arena: what Must Be True</a:t>
            </a:r>
            <a:endParaRPr lang="en-US" sz="3600" dirty="0"/>
          </a:p>
        </p:txBody>
      </p:sp>
      <p:sp>
        <p:nvSpPr>
          <p:cNvPr id="3" name="Shape 1"/>
          <p:cNvSpPr/>
          <p:nvPr/>
        </p:nvSpPr>
        <p:spPr>
          <a:xfrm>
            <a:off x="548640" y="1508760"/>
            <a:ext cx="11091672" cy="1600200"/>
          </a:xfrm>
          <a:prstGeom prst="roundRect">
            <a:avLst>
              <a:gd name="adj" fmla="val 5714"/>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45920" y="1508760"/>
            <a:ext cx="9784080" cy="160020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Ask  </a:t>
            </a:r>
            <a:pPr indent="0" marL="0">
              <a:buNone/>
            </a:pPr>
            <a:r>
              <a:rPr lang="en-US" sz="2400" dirty="0">
                <a:solidFill>
                  <a:srgbClr val="1F2A22"/>
                </a:solidFill>
                <a:latin typeface="Calibri" pitchFamily="34" charset="0"/>
                <a:ea typeface="Calibri" pitchFamily="34" charset="-122"/>
                <a:cs typeface="Calibri" pitchFamily="34" charset="-120"/>
              </a:rPr>
              <a:t>What must remain true about customer need, behaviour or demand for this Arena to remain strategically relevant?</a:t>
            </a:r>
            <a:endParaRPr lang="en-US" sz="2400" dirty="0"/>
          </a:p>
        </p:txBody>
      </p:sp>
      <p:sp>
        <p:nvSpPr>
          <p:cNvPr id="7" name="Shape 4"/>
          <p:cNvSpPr/>
          <p:nvPr/>
        </p:nvSpPr>
        <p:spPr>
          <a:xfrm>
            <a:off x="548640" y="3291840"/>
            <a:ext cx="11091672" cy="3108960"/>
          </a:xfrm>
          <a:prstGeom prst="roundRect">
            <a:avLst>
              <a:gd name="adj" fmla="val 2941"/>
            </a:avLst>
          </a:prstGeom>
          <a:solidFill>
            <a:srgbClr val="1A5C2C"/>
          </a:solidFill>
          <a:ln w="12700">
            <a:solidFill>
              <a:srgbClr val="1A5C2C"/>
            </a:solidFill>
            <a:prstDash val="solid"/>
          </a:ln>
        </p:spPr>
      </p:sp>
      <p:sp>
        <p:nvSpPr>
          <p:cNvPr id="8" name="Shape 5"/>
          <p:cNvSpPr/>
          <p:nvPr/>
        </p:nvSpPr>
        <p:spPr>
          <a:xfrm>
            <a:off x="777240" y="3520440"/>
            <a:ext cx="640080" cy="640080"/>
          </a:xfrm>
          <a:prstGeom prst="ellipse">
            <a:avLst/>
          </a:prstGeom>
          <a:solidFill>
            <a:srgbClr val="C6A24C"/>
          </a:solidFill>
          <a:ln w="12700">
            <a:solidFill>
              <a:srgbClr val="C6A24C"/>
            </a:solidFill>
            <a:prstDash val="solid"/>
          </a:ln>
        </p:spPr>
      </p:sp>
      <p:pic>
        <p:nvPicPr>
          <p:cNvPr id="9" name="Image 1" descr="preencoded.png">    </p:cNvPr>
          <p:cNvPicPr>
            <a:picLocks noChangeAspect="1"/>
          </p:cNvPicPr>
          <p:nvPr/>
        </p:nvPicPr>
        <p:blipFill>
          <a:blip r:embed="rId2"/>
          <a:stretch>
            <a:fillRect/>
          </a:stretch>
        </p:blipFill>
        <p:spPr>
          <a:xfrm>
            <a:off x="937260" y="3680460"/>
            <a:ext cx="320040" cy="320040"/>
          </a:xfrm>
          <a:prstGeom prst="rect">
            <a:avLst/>
          </a:prstGeom>
        </p:spPr>
      </p:pic>
      <p:sp>
        <p:nvSpPr>
          <p:cNvPr id="10" name="Text 6"/>
          <p:cNvSpPr txBox="1"/>
          <p:nvPr/>
        </p:nvSpPr>
        <p:spPr>
          <a:xfrm>
            <a:off x="1645920" y="352044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On a Key Result from Unit 3</a:t>
            </a:r>
            <a:endParaRPr lang="en-US" sz="2600" dirty="0"/>
          </a:p>
        </p:txBody>
      </p:sp>
      <p:sp>
        <p:nvSpPr>
          <p:cNvPr id="11" name="Text 7"/>
          <p:cNvSpPr txBox="1"/>
          <p:nvPr/>
        </p:nvSpPr>
        <p:spPr>
          <a:xfrm>
            <a:off x="822960" y="4297680"/>
            <a:ext cx="10561320" cy="86868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Reduce average response time to customer requests from 12 hours to 4 hours by 30 June 2027</a:t>
            </a:r>
            <a:endParaRPr lang="en-US" sz="2400" dirty="0"/>
          </a:p>
        </p:txBody>
      </p:sp>
      <p:sp>
        <p:nvSpPr>
          <p:cNvPr id="12" name="Text 8"/>
          <p:cNvSpPr txBox="1"/>
          <p:nvPr/>
        </p:nvSpPr>
        <p:spPr>
          <a:xfrm>
            <a:off x="822960" y="5212080"/>
            <a:ext cx="10561320" cy="109728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Must be true:  </a:t>
            </a:r>
            <a:pPr indent="0" marL="0">
              <a:buNone/>
            </a:pPr>
            <a:r>
              <a:rPr lang="en-US" sz="2400" dirty="0">
                <a:solidFill>
                  <a:srgbClr val="FFFFFF"/>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1.2a · Boundaries: the Friction Architecture</a:t>
            </a:r>
            <a:endParaRPr lang="en-US" sz="3600" dirty="0"/>
          </a:p>
        </p:txBody>
      </p:sp>
      <p:sp>
        <p:nvSpPr>
          <p:cNvPr id="3" name="Shape 1"/>
          <p:cNvSpPr/>
          <p:nvPr/>
        </p:nvSpPr>
        <p:spPr>
          <a:xfrm>
            <a:off x="548640" y="1508760"/>
            <a:ext cx="3514344"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2325624"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Regulatory</a:t>
            </a:r>
            <a:endParaRPr lang="en-US" sz="2600" dirty="0"/>
          </a:p>
        </p:txBody>
      </p:sp>
      <p:sp>
        <p:nvSpPr>
          <p:cNvPr id="7" name="Text 4"/>
          <p:cNvSpPr txBox="1"/>
          <p:nvPr/>
        </p:nvSpPr>
        <p:spPr>
          <a:xfrm>
            <a:off x="777240" y="2468880"/>
            <a:ext cx="3057144"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Laws, licences, standards, accreditation</a:t>
            </a:r>
            <a:endParaRPr lang="en-US" sz="2400" dirty="0"/>
          </a:p>
        </p:txBody>
      </p:sp>
      <p:sp>
        <p:nvSpPr>
          <p:cNvPr id="8" name="Shape 5"/>
          <p:cNvSpPr/>
          <p:nvPr/>
        </p:nvSpPr>
        <p:spPr>
          <a:xfrm>
            <a:off x="4337304" y="1508760"/>
            <a:ext cx="3514344"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4565904"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03064" y="1874520"/>
            <a:ext cx="274320" cy="274320"/>
          </a:xfrm>
          <a:prstGeom prst="rect">
            <a:avLst/>
          </a:prstGeom>
        </p:spPr>
      </p:pic>
      <p:sp>
        <p:nvSpPr>
          <p:cNvPr id="11" name="Text 7"/>
          <p:cNvSpPr txBox="1"/>
          <p:nvPr/>
        </p:nvSpPr>
        <p:spPr>
          <a:xfrm>
            <a:off x="5297424" y="1691640"/>
            <a:ext cx="2325624"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2468880"/>
            <a:ext cx="3057144"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Processes, infrastructure, capacity, supply chains</a:t>
            </a:r>
            <a:endParaRPr lang="en-US" sz="2400" dirty="0"/>
          </a:p>
        </p:txBody>
      </p:sp>
      <p:sp>
        <p:nvSpPr>
          <p:cNvPr id="13" name="Shape 9"/>
          <p:cNvSpPr/>
          <p:nvPr/>
        </p:nvSpPr>
        <p:spPr>
          <a:xfrm>
            <a:off x="8125968" y="1508760"/>
            <a:ext cx="3514344"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8354568" y="173736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491728" y="1874520"/>
            <a:ext cx="274320" cy="274320"/>
          </a:xfrm>
          <a:prstGeom prst="rect">
            <a:avLst/>
          </a:prstGeom>
        </p:spPr>
      </p:pic>
      <p:sp>
        <p:nvSpPr>
          <p:cNvPr id="16" name="Text 11"/>
          <p:cNvSpPr txBox="1"/>
          <p:nvPr/>
        </p:nvSpPr>
        <p:spPr>
          <a:xfrm>
            <a:off x="9086088" y="1691640"/>
            <a:ext cx="2325624"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Technological</a:t>
            </a:r>
            <a:endParaRPr lang="en-US" sz="2600" dirty="0"/>
          </a:p>
        </p:txBody>
      </p:sp>
      <p:sp>
        <p:nvSpPr>
          <p:cNvPr id="17" name="Text 12"/>
          <p:cNvSpPr txBox="1"/>
          <p:nvPr/>
        </p:nvSpPr>
        <p:spPr>
          <a:xfrm>
            <a:off x="8354568" y="2468880"/>
            <a:ext cx="3057144"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Systems, data, interoperability, technical capability</a:t>
            </a:r>
            <a:endParaRPr lang="en-US" sz="2400" dirty="0"/>
          </a:p>
        </p:txBody>
      </p:sp>
      <p:sp>
        <p:nvSpPr>
          <p:cNvPr id="18" name="Shape 13"/>
          <p:cNvSpPr/>
          <p:nvPr/>
        </p:nvSpPr>
        <p:spPr>
          <a:xfrm>
            <a:off x="548640" y="4069080"/>
            <a:ext cx="3514344"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777240"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914400" y="4434840"/>
            <a:ext cx="274320" cy="274320"/>
          </a:xfrm>
          <a:prstGeom prst="rect">
            <a:avLst/>
          </a:prstGeom>
        </p:spPr>
      </p:pic>
      <p:sp>
        <p:nvSpPr>
          <p:cNvPr id="21" name="Text 15"/>
          <p:cNvSpPr txBox="1"/>
          <p:nvPr/>
        </p:nvSpPr>
        <p:spPr>
          <a:xfrm>
            <a:off x="1508760" y="4251960"/>
            <a:ext cx="2325624"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Structural</a:t>
            </a:r>
            <a:endParaRPr lang="en-US" sz="2600" dirty="0"/>
          </a:p>
        </p:txBody>
      </p:sp>
      <p:sp>
        <p:nvSpPr>
          <p:cNvPr id="22" name="Text 16"/>
          <p:cNvSpPr txBox="1"/>
          <p:nvPr/>
        </p:nvSpPr>
        <p:spPr>
          <a:xfrm>
            <a:off x="777240" y="5029200"/>
            <a:ext cx="3057144"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Governance, decision rights, organisational dependencies</a:t>
            </a:r>
            <a:endParaRPr lang="en-US" sz="2400" dirty="0"/>
          </a:p>
        </p:txBody>
      </p:sp>
      <p:sp>
        <p:nvSpPr>
          <p:cNvPr id="23" name="Shape 17"/>
          <p:cNvSpPr/>
          <p:nvPr/>
        </p:nvSpPr>
        <p:spPr>
          <a:xfrm>
            <a:off x="4337304" y="4069080"/>
            <a:ext cx="3514344" cy="2286000"/>
          </a:xfrm>
          <a:prstGeom prst="roundRect">
            <a:avLst>
              <a:gd name="adj" fmla="val 4000"/>
            </a:avLst>
          </a:prstGeom>
          <a:solidFill>
            <a:srgbClr val="EEF4EF"/>
          </a:solidFill>
          <a:ln w="12700">
            <a:solidFill>
              <a:srgbClr val="EEF4EF"/>
            </a:solidFill>
            <a:prstDash val="solid"/>
          </a:ln>
        </p:spPr>
      </p:sp>
      <p:sp>
        <p:nvSpPr>
          <p:cNvPr id="24" name="Shape 18"/>
          <p:cNvSpPr/>
          <p:nvPr/>
        </p:nvSpPr>
        <p:spPr>
          <a:xfrm>
            <a:off x="4565904" y="4297680"/>
            <a:ext cx="548640" cy="548640"/>
          </a:xfrm>
          <a:prstGeom prst="ellipse">
            <a:avLst/>
          </a:prstGeom>
          <a:solidFill>
            <a:srgbClr val="1A5C2C"/>
          </a:solidFill>
          <a:ln w="12700">
            <a:solidFill>
              <a:srgbClr val="1A5C2C"/>
            </a:solidFill>
            <a:prstDash val="solid"/>
          </a:ln>
        </p:spPr>
      </p:sp>
      <p:pic>
        <p:nvPicPr>
          <p:cNvPr id="25" name="Image 4" descr="preencoded.png">    </p:cNvPr>
          <p:cNvPicPr>
            <a:picLocks noChangeAspect="1"/>
          </p:cNvPicPr>
          <p:nvPr/>
        </p:nvPicPr>
        <p:blipFill>
          <a:blip r:embed="rId5"/>
          <a:stretch>
            <a:fillRect/>
          </a:stretch>
        </p:blipFill>
        <p:spPr>
          <a:xfrm>
            <a:off x="4703064" y="4434840"/>
            <a:ext cx="274320" cy="274320"/>
          </a:xfrm>
          <a:prstGeom prst="rect">
            <a:avLst/>
          </a:prstGeom>
        </p:spPr>
      </p:pic>
      <p:sp>
        <p:nvSpPr>
          <p:cNvPr id="26" name="Text 19"/>
          <p:cNvSpPr txBox="1"/>
          <p:nvPr/>
        </p:nvSpPr>
        <p:spPr>
          <a:xfrm>
            <a:off x="5297424" y="4251960"/>
            <a:ext cx="2325624"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Financial</a:t>
            </a:r>
            <a:endParaRPr lang="en-US" sz="2600" dirty="0"/>
          </a:p>
        </p:txBody>
      </p:sp>
      <p:sp>
        <p:nvSpPr>
          <p:cNvPr id="27" name="Text 20"/>
          <p:cNvSpPr txBox="1"/>
          <p:nvPr/>
        </p:nvSpPr>
        <p:spPr>
          <a:xfrm>
            <a:off x="4565904" y="5029200"/>
            <a:ext cx="3057144"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Capital, affordability, economics, funding</a:t>
            </a:r>
            <a:endParaRPr lang="en-US" sz="2400" dirty="0"/>
          </a:p>
        </p:txBody>
      </p:sp>
      <p:sp>
        <p:nvSpPr>
          <p:cNvPr id="28" name="Shape 21"/>
          <p:cNvSpPr/>
          <p:nvPr/>
        </p:nvSpPr>
        <p:spPr>
          <a:xfrm>
            <a:off x="8125968" y="4069080"/>
            <a:ext cx="3514344" cy="2286000"/>
          </a:xfrm>
          <a:prstGeom prst="roundRect">
            <a:avLst>
              <a:gd name="adj" fmla="val 4000"/>
            </a:avLst>
          </a:prstGeom>
          <a:solidFill>
            <a:srgbClr val="EEF4EF"/>
          </a:solidFill>
          <a:ln w="12700">
            <a:solidFill>
              <a:srgbClr val="EEF4EF"/>
            </a:solidFill>
            <a:prstDash val="solid"/>
          </a:ln>
        </p:spPr>
      </p:sp>
      <p:sp>
        <p:nvSpPr>
          <p:cNvPr id="29" name="Shape 22"/>
          <p:cNvSpPr/>
          <p:nvPr/>
        </p:nvSpPr>
        <p:spPr>
          <a:xfrm>
            <a:off x="8354568" y="4297680"/>
            <a:ext cx="548640" cy="548640"/>
          </a:xfrm>
          <a:prstGeom prst="ellipse">
            <a:avLst/>
          </a:prstGeom>
          <a:solidFill>
            <a:srgbClr val="1A5C2C"/>
          </a:solidFill>
          <a:ln w="12700">
            <a:solidFill>
              <a:srgbClr val="1A5C2C"/>
            </a:solidFill>
            <a:prstDash val="solid"/>
          </a:ln>
        </p:spPr>
      </p:sp>
      <p:pic>
        <p:nvPicPr>
          <p:cNvPr id="30" name="Image 5" descr="preencoded.png">    </p:cNvPr>
          <p:cNvPicPr>
            <a:picLocks noChangeAspect="1"/>
          </p:cNvPicPr>
          <p:nvPr/>
        </p:nvPicPr>
        <p:blipFill>
          <a:blip r:embed="rId6"/>
          <a:stretch>
            <a:fillRect/>
          </a:stretch>
        </p:blipFill>
        <p:spPr>
          <a:xfrm>
            <a:off x="8491728" y="4434840"/>
            <a:ext cx="274320" cy="274320"/>
          </a:xfrm>
          <a:prstGeom prst="rect">
            <a:avLst/>
          </a:prstGeom>
        </p:spPr>
      </p:pic>
      <p:sp>
        <p:nvSpPr>
          <p:cNvPr id="31" name="Text 23"/>
          <p:cNvSpPr txBox="1"/>
          <p:nvPr/>
        </p:nvSpPr>
        <p:spPr>
          <a:xfrm>
            <a:off x="9086088" y="4251960"/>
            <a:ext cx="2325624"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Behavioural</a:t>
            </a:r>
            <a:endParaRPr lang="en-US" sz="2600" dirty="0"/>
          </a:p>
        </p:txBody>
      </p:sp>
      <p:sp>
        <p:nvSpPr>
          <p:cNvPr id="32" name="Text 24"/>
          <p:cNvSpPr txBox="1"/>
          <p:nvPr/>
        </p:nvSpPr>
        <p:spPr>
          <a:xfrm>
            <a:off x="8354568" y="5029200"/>
            <a:ext cx="3057144"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Capability, incentives, resistance, habits, adoption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1.2b · Boundaries: what Must Be True</a:t>
            </a:r>
            <a:endParaRPr lang="en-US" sz="3600" dirty="0"/>
          </a:p>
        </p:txBody>
      </p:sp>
      <p:sp>
        <p:nvSpPr>
          <p:cNvPr id="3" name="Shape 1"/>
          <p:cNvSpPr/>
          <p:nvPr/>
        </p:nvSpPr>
        <p:spPr>
          <a:xfrm>
            <a:off x="548640" y="1508760"/>
            <a:ext cx="11091672" cy="1600200"/>
          </a:xfrm>
          <a:prstGeom prst="roundRect">
            <a:avLst>
              <a:gd name="adj" fmla="val 5714"/>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45920" y="1508760"/>
            <a:ext cx="9784080" cy="160020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Ask  </a:t>
            </a:r>
            <a:pPr indent="0" marL="0">
              <a:buNone/>
            </a:pPr>
            <a:r>
              <a:rPr lang="en-US" sz="2400" dirty="0">
                <a:solidFill>
                  <a:srgbClr val="1F2A22"/>
                </a:solidFill>
                <a:latin typeface="Calibri" pitchFamily="34" charset="0"/>
                <a:ea typeface="Calibri" pitchFamily="34" charset="-122"/>
                <a:cs typeface="Calibri" pitchFamily="34" charset="-120"/>
              </a:rPr>
              <a:t>What must remain true operationally, structurally or regulatorily for this strategic direction to be deliverable?</a:t>
            </a:r>
            <a:endParaRPr lang="en-US" sz="2400" dirty="0"/>
          </a:p>
        </p:txBody>
      </p:sp>
      <p:sp>
        <p:nvSpPr>
          <p:cNvPr id="7" name="Shape 4"/>
          <p:cNvSpPr/>
          <p:nvPr/>
        </p:nvSpPr>
        <p:spPr>
          <a:xfrm>
            <a:off x="548640" y="3291840"/>
            <a:ext cx="11091672" cy="3108960"/>
          </a:xfrm>
          <a:prstGeom prst="roundRect">
            <a:avLst>
              <a:gd name="adj" fmla="val 2941"/>
            </a:avLst>
          </a:prstGeom>
          <a:solidFill>
            <a:srgbClr val="1A5C2C"/>
          </a:solidFill>
          <a:ln w="12700">
            <a:solidFill>
              <a:srgbClr val="1A5C2C"/>
            </a:solidFill>
            <a:prstDash val="solid"/>
          </a:ln>
        </p:spPr>
      </p:sp>
      <p:sp>
        <p:nvSpPr>
          <p:cNvPr id="8" name="Shape 5"/>
          <p:cNvSpPr/>
          <p:nvPr/>
        </p:nvSpPr>
        <p:spPr>
          <a:xfrm>
            <a:off x="777240" y="3520440"/>
            <a:ext cx="640080" cy="640080"/>
          </a:xfrm>
          <a:prstGeom prst="ellipse">
            <a:avLst/>
          </a:prstGeom>
          <a:solidFill>
            <a:srgbClr val="C6A24C"/>
          </a:solidFill>
          <a:ln w="12700">
            <a:solidFill>
              <a:srgbClr val="C6A24C"/>
            </a:solidFill>
            <a:prstDash val="solid"/>
          </a:ln>
        </p:spPr>
      </p:sp>
      <p:pic>
        <p:nvPicPr>
          <p:cNvPr id="9" name="Image 1" descr="preencoded.png">    </p:cNvPr>
          <p:cNvPicPr>
            <a:picLocks noChangeAspect="1"/>
          </p:cNvPicPr>
          <p:nvPr/>
        </p:nvPicPr>
        <p:blipFill>
          <a:blip r:embed="rId2"/>
          <a:stretch>
            <a:fillRect/>
          </a:stretch>
        </p:blipFill>
        <p:spPr>
          <a:xfrm>
            <a:off x="937260" y="3680460"/>
            <a:ext cx="320040" cy="320040"/>
          </a:xfrm>
          <a:prstGeom prst="rect">
            <a:avLst/>
          </a:prstGeom>
        </p:spPr>
      </p:pic>
      <p:sp>
        <p:nvSpPr>
          <p:cNvPr id="10" name="Text 6"/>
          <p:cNvSpPr txBox="1"/>
          <p:nvPr/>
        </p:nvSpPr>
        <p:spPr>
          <a:xfrm>
            <a:off x="1645920" y="352044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On a Key Result from Unit 3</a:t>
            </a:r>
            <a:endParaRPr lang="en-US" sz="2600" dirty="0"/>
          </a:p>
        </p:txBody>
      </p:sp>
      <p:sp>
        <p:nvSpPr>
          <p:cNvPr id="11" name="Text 7"/>
          <p:cNvSpPr txBox="1"/>
          <p:nvPr/>
        </p:nvSpPr>
        <p:spPr>
          <a:xfrm>
            <a:off x="822960" y="4297680"/>
            <a:ext cx="10561320" cy="86868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Reduce average response time to customer requests from 12 hours to 4 hours by 30 June 2027</a:t>
            </a:r>
            <a:endParaRPr lang="en-US" sz="2400" dirty="0"/>
          </a:p>
        </p:txBody>
      </p:sp>
      <p:sp>
        <p:nvSpPr>
          <p:cNvPr id="12" name="Text 8"/>
          <p:cNvSpPr txBox="1"/>
          <p:nvPr/>
        </p:nvSpPr>
        <p:spPr>
          <a:xfrm>
            <a:off x="822960" y="5212080"/>
            <a:ext cx="10561320" cy="109728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Must be true:  </a:t>
            </a:r>
            <a:pPr indent="0" marL="0">
              <a:buNone/>
            </a:pPr>
            <a:r>
              <a:rPr lang="en-US" sz="2400" dirty="0">
                <a:solidFill>
                  <a:srgbClr val="FFFFFF"/>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1.3a · Competition: the True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4951476"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Who sells something similar to us?</a:t>
            </a:r>
            <a:endParaRPr lang="en-US" sz="2600" dirty="0"/>
          </a:p>
        </p:txBody>
      </p:sp>
      <p:sp>
        <p:nvSpPr>
          <p:cNvPr id="7" name="Text 4"/>
          <p:cNvSpPr txBox="1"/>
          <p:nvPr/>
        </p:nvSpPr>
        <p:spPr>
          <a:xfrm>
            <a:off x="777240" y="3575304"/>
            <a:ext cx="4951476"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leaders define Arena through their industry, they will probably identify competitors through their industry.</a:t>
            </a:r>
            <a:endParaRPr lang="en-US" sz="2400" dirty="0"/>
          </a:p>
        </p:txBody>
      </p:sp>
      <p:sp>
        <p:nvSpPr>
          <p:cNvPr id="8" name="Shape 5"/>
          <p:cNvSpPr/>
          <p:nvPr/>
        </p:nvSpPr>
        <p:spPr>
          <a:xfrm>
            <a:off x="6231636" y="1508760"/>
            <a:ext cx="5408676" cy="4846320"/>
          </a:xfrm>
          <a:prstGeom prst="roundRect">
            <a:avLst>
              <a:gd name="adj" fmla="val 1887"/>
            </a:avLst>
          </a:prstGeom>
          <a:solidFill>
            <a:srgbClr val="1A5C2C"/>
          </a:solidFill>
          <a:ln w="12700">
            <a:solidFill>
              <a:srgbClr val="1A5C2C"/>
            </a:solidFill>
            <a:prstDash val="solid"/>
          </a:ln>
        </p:spPr>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6460236" y="2514600"/>
            <a:ext cx="4951476" cy="1339596"/>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alternatives does the customer have for achieving the end game?</a:t>
            </a:r>
            <a:endParaRPr lang="en-US" sz="2600" dirty="0"/>
          </a:p>
        </p:txBody>
      </p:sp>
      <p:sp>
        <p:nvSpPr>
          <p:cNvPr id="12" name="Text 8"/>
          <p:cNvSpPr txBox="1"/>
          <p:nvPr/>
        </p:nvSpPr>
        <p:spPr>
          <a:xfrm>
            <a:off x="6460236" y="3991356"/>
            <a:ext cx="4951476" cy="22265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Do it internally. Do it themselves. Use technology instead. Postpone it. Choose a completely different solution. Do nothing.</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1.3b · Competition: what Must Be True</a:t>
            </a:r>
            <a:endParaRPr lang="en-US" sz="3600" dirty="0"/>
          </a:p>
        </p:txBody>
      </p:sp>
      <p:sp>
        <p:nvSpPr>
          <p:cNvPr id="3" name="Shape 1"/>
          <p:cNvSpPr/>
          <p:nvPr/>
        </p:nvSpPr>
        <p:spPr>
          <a:xfrm>
            <a:off x="548640" y="1508760"/>
            <a:ext cx="11091672" cy="1600200"/>
          </a:xfrm>
          <a:prstGeom prst="roundRect">
            <a:avLst>
              <a:gd name="adj" fmla="val 5714"/>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45920" y="1508760"/>
            <a:ext cx="9784080" cy="160020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Ask  </a:t>
            </a:r>
            <a:pPr indent="0" marL="0">
              <a:buNone/>
            </a:pPr>
            <a:r>
              <a:rPr lang="en-US" sz="2400" dirty="0">
                <a:solidFill>
                  <a:srgbClr val="1F2A22"/>
                </a:solidFill>
                <a:latin typeface="Calibri" pitchFamily="34" charset="0"/>
                <a:ea typeface="Calibri" pitchFamily="34" charset="-122"/>
                <a:cs typeface="Calibri" pitchFamily="34" charset="-120"/>
              </a:rPr>
              <a:t>What must remain true about our advantage relative to the customer’s alternatives?</a:t>
            </a:r>
            <a:endParaRPr lang="en-US" sz="2400" dirty="0"/>
          </a:p>
        </p:txBody>
      </p:sp>
      <p:sp>
        <p:nvSpPr>
          <p:cNvPr id="7" name="Shape 4"/>
          <p:cNvSpPr/>
          <p:nvPr/>
        </p:nvSpPr>
        <p:spPr>
          <a:xfrm>
            <a:off x="548640" y="3291840"/>
            <a:ext cx="11091672" cy="3108960"/>
          </a:xfrm>
          <a:prstGeom prst="roundRect">
            <a:avLst>
              <a:gd name="adj" fmla="val 2941"/>
            </a:avLst>
          </a:prstGeom>
          <a:solidFill>
            <a:srgbClr val="1A5C2C"/>
          </a:solidFill>
          <a:ln w="12700">
            <a:solidFill>
              <a:srgbClr val="1A5C2C"/>
            </a:solidFill>
            <a:prstDash val="solid"/>
          </a:ln>
        </p:spPr>
      </p:sp>
      <p:sp>
        <p:nvSpPr>
          <p:cNvPr id="8" name="Shape 5"/>
          <p:cNvSpPr/>
          <p:nvPr/>
        </p:nvSpPr>
        <p:spPr>
          <a:xfrm>
            <a:off x="777240" y="3520440"/>
            <a:ext cx="640080" cy="640080"/>
          </a:xfrm>
          <a:prstGeom prst="ellipse">
            <a:avLst/>
          </a:prstGeom>
          <a:solidFill>
            <a:srgbClr val="C6A24C"/>
          </a:solidFill>
          <a:ln w="12700">
            <a:solidFill>
              <a:srgbClr val="C6A24C"/>
            </a:solidFill>
            <a:prstDash val="solid"/>
          </a:ln>
        </p:spPr>
      </p:sp>
      <p:pic>
        <p:nvPicPr>
          <p:cNvPr id="9" name="Image 1" descr="preencoded.png">    </p:cNvPr>
          <p:cNvPicPr>
            <a:picLocks noChangeAspect="1"/>
          </p:cNvPicPr>
          <p:nvPr/>
        </p:nvPicPr>
        <p:blipFill>
          <a:blip r:embed="rId2"/>
          <a:stretch>
            <a:fillRect/>
          </a:stretch>
        </p:blipFill>
        <p:spPr>
          <a:xfrm>
            <a:off x="937260" y="3680460"/>
            <a:ext cx="320040" cy="320040"/>
          </a:xfrm>
          <a:prstGeom prst="rect">
            <a:avLst/>
          </a:prstGeom>
        </p:spPr>
      </p:pic>
      <p:sp>
        <p:nvSpPr>
          <p:cNvPr id="10" name="Text 6"/>
          <p:cNvSpPr txBox="1"/>
          <p:nvPr/>
        </p:nvSpPr>
        <p:spPr>
          <a:xfrm>
            <a:off x="1645920" y="352044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On a Key Result from Unit 3</a:t>
            </a:r>
            <a:endParaRPr lang="en-US" sz="2600" dirty="0"/>
          </a:p>
        </p:txBody>
      </p:sp>
      <p:sp>
        <p:nvSpPr>
          <p:cNvPr id="11" name="Text 7"/>
          <p:cNvSpPr txBox="1"/>
          <p:nvPr/>
        </p:nvSpPr>
        <p:spPr>
          <a:xfrm>
            <a:off x="822960" y="4297680"/>
            <a:ext cx="10561320" cy="86868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Reduce average response time to customer requests from 12 hours to 4 hours by 30 June 2027</a:t>
            </a:r>
            <a:endParaRPr lang="en-US" sz="2400" dirty="0"/>
          </a:p>
        </p:txBody>
      </p:sp>
      <p:sp>
        <p:nvSpPr>
          <p:cNvPr id="12" name="Text 8"/>
          <p:cNvSpPr txBox="1"/>
          <p:nvPr/>
        </p:nvSpPr>
        <p:spPr>
          <a:xfrm>
            <a:off x="822960" y="5212080"/>
            <a:ext cx="10561320" cy="109728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Must be true:  </a:t>
            </a:r>
            <a:pPr indent="0" marL="0">
              <a:buNone/>
            </a:pPr>
            <a:r>
              <a:rPr lang="en-US" sz="2400" dirty="0">
                <a:solidFill>
                  <a:srgbClr val="FFFFFF"/>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1.4a · Value Proposition: Coherent Advantage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Relevance</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Does it matter?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Distinctiveness</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Does it differentiate?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Deliverability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Can we consistently produce it?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RELEVANT + DISTINCTIVE + DELIVERABLE = STRATEGIC VALUE</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1.4b · Value Proposition: what Must Be True</a:t>
            </a:r>
            <a:endParaRPr lang="en-US" sz="3600" dirty="0"/>
          </a:p>
        </p:txBody>
      </p:sp>
      <p:sp>
        <p:nvSpPr>
          <p:cNvPr id="3" name="Shape 1"/>
          <p:cNvSpPr/>
          <p:nvPr/>
        </p:nvSpPr>
        <p:spPr>
          <a:xfrm>
            <a:off x="548640" y="1508760"/>
            <a:ext cx="11091672" cy="1600200"/>
          </a:xfrm>
          <a:prstGeom prst="roundRect">
            <a:avLst>
              <a:gd name="adj" fmla="val 5714"/>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45920" y="1508760"/>
            <a:ext cx="9784080" cy="160020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Ask  </a:t>
            </a:r>
            <a:pPr indent="0" marL="0">
              <a:buNone/>
            </a:pPr>
            <a:r>
              <a:rPr lang="en-US" sz="2400" dirty="0">
                <a:solidFill>
                  <a:srgbClr val="1F2A22"/>
                </a:solidFill>
                <a:latin typeface="Calibri" pitchFamily="34" charset="0"/>
                <a:ea typeface="Calibri" pitchFamily="34" charset="-122"/>
                <a:cs typeface="Calibri" pitchFamily="34" charset="-120"/>
              </a:rPr>
              <a:t>What must remain true about our value architecture for this proposition to remain relevant, distinctive and economically sustainable?</a:t>
            </a:r>
            <a:endParaRPr lang="en-US" sz="2400" dirty="0"/>
          </a:p>
        </p:txBody>
      </p:sp>
      <p:sp>
        <p:nvSpPr>
          <p:cNvPr id="7" name="Shape 4"/>
          <p:cNvSpPr/>
          <p:nvPr/>
        </p:nvSpPr>
        <p:spPr>
          <a:xfrm>
            <a:off x="548640" y="3291840"/>
            <a:ext cx="11091672" cy="3108960"/>
          </a:xfrm>
          <a:prstGeom prst="roundRect">
            <a:avLst>
              <a:gd name="adj" fmla="val 2941"/>
            </a:avLst>
          </a:prstGeom>
          <a:solidFill>
            <a:srgbClr val="1A5C2C"/>
          </a:solidFill>
          <a:ln w="12700">
            <a:solidFill>
              <a:srgbClr val="1A5C2C"/>
            </a:solidFill>
            <a:prstDash val="solid"/>
          </a:ln>
        </p:spPr>
      </p:sp>
      <p:sp>
        <p:nvSpPr>
          <p:cNvPr id="8" name="Shape 5"/>
          <p:cNvSpPr/>
          <p:nvPr/>
        </p:nvSpPr>
        <p:spPr>
          <a:xfrm>
            <a:off x="777240" y="3520440"/>
            <a:ext cx="640080" cy="640080"/>
          </a:xfrm>
          <a:prstGeom prst="ellipse">
            <a:avLst/>
          </a:prstGeom>
          <a:solidFill>
            <a:srgbClr val="C6A24C"/>
          </a:solidFill>
          <a:ln w="12700">
            <a:solidFill>
              <a:srgbClr val="C6A24C"/>
            </a:solidFill>
            <a:prstDash val="solid"/>
          </a:ln>
        </p:spPr>
      </p:sp>
      <p:pic>
        <p:nvPicPr>
          <p:cNvPr id="9" name="Image 1" descr="preencoded.png">    </p:cNvPr>
          <p:cNvPicPr>
            <a:picLocks noChangeAspect="1"/>
          </p:cNvPicPr>
          <p:nvPr/>
        </p:nvPicPr>
        <p:blipFill>
          <a:blip r:embed="rId2"/>
          <a:stretch>
            <a:fillRect/>
          </a:stretch>
        </p:blipFill>
        <p:spPr>
          <a:xfrm>
            <a:off x="937260" y="3680460"/>
            <a:ext cx="320040" cy="320040"/>
          </a:xfrm>
          <a:prstGeom prst="rect">
            <a:avLst/>
          </a:prstGeom>
        </p:spPr>
      </p:pic>
      <p:sp>
        <p:nvSpPr>
          <p:cNvPr id="10" name="Text 6"/>
          <p:cNvSpPr txBox="1"/>
          <p:nvPr/>
        </p:nvSpPr>
        <p:spPr>
          <a:xfrm>
            <a:off x="1645920" y="352044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On a Key Result from Unit 3</a:t>
            </a:r>
            <a:endParaRPr lang="en-US" sz="2600" dirty="0"/>
          </a:p>
        </p:txBody>
      </p:sp>
      <p:sp>
        <p:nvSpPr>
          <p:cNvPr id="11" name="Text 7"/>
          <p:cNvSpPr txBox="1"/>
          <p:nvPr/>
        </p:nvSpPr>
        <p:spPr>
          <a:xfrm>
            <a:off x="822960" y="4297680"/>
            <a:ext cx="10561320" cy="86868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Reduce average response time to customer requests from 12 hours to 4 hours by 30 June 2027</a:t>
            </a:r>
            <a:endParaRPr lang="en-US" sz="2400" dirty="0"/>
          </a:p>
        </p:txBody>
      </p:sp>
      <p:sp>
        <p:nvSpPr>
          <p:cNvPr id="12" name="Text 8"/>
          <p:cNvSpPr txBox="1"/>
          <p:nvPr/>
        </p:nvSpPr>
        <p:spPr>
          <a:xfrm>
            <a:off x="822960" y="5212080"/>
            <a:ext cx="10561320" cy="109728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Must be true:  </a:t>
            </a:r>
            <a:pPr indent="0" marL="0">
              <a:buNone/>
            </a:pPr>
            <a:r>
              <a:rPr lang="en-US" sz="2400" dirty="0">
                <a:solidFill>
                  <a:srgbClr val="FFFFFF"/>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Bringing ABCV Together</a:t>
            </a:r>
            <a:endParaRPr lang="en-US" sz="3600" dirty="0"/>
          </a:p>
        </p:txBody>
      </p:sp>
      <p:sp>
        <p:nvSpPr>
          <p:cNvPr id="3" name="Shape 1"/>
          <p:cNvSpPr/>
          <p:nvPr/>
        </p:nvSpPr>
        <p:spPr>
          <a:xfrm>
            <a:off x="548640" y="1619860"/>
            <a:ext cx="518465" cy="518465"/>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8256" y="1749476"/>
            <a:ext cx="259232" cy="259232"/>
          </a:xfrm>
          <a:prstGeom prst="rect">
            <a:avLst/>
          </a:prstGeom>
        </p:spPr>
      </p:pic>
      <p:sp>
        <p:nvSpPr>
          <p:cNvPr id="5" name="Text 2"/>
          <p:cNvSpPr txBox="1"/>
          <p:nvPr/>
        </p:nvSpPr>
        <p:spPr>
          <a:xfrm>
            <a:off x="1387145" y="1508760"/>
            <a:ext cx="10253167" cy="7406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 Arena  </a:t>
            </a:r>
            <a:pPr indent="0" marL="0">
              <a:buNone/>
            </a:pPr>
            <a:r>
              <a:rPr lang="en-US" sz="2400" dirty="0">
                <a:solidFill>
                  <a:srgbClr val="1F2A22"/>
                </a:solidFill>
                <a:latin typeface="Calibri" pitchFamily="34" charset="0"/>
                <a:ea typeface="Calibri" pitchFamily="34" charset="-122"/>
                <a:cs typeface="Calibri" pitchFamily="34" charset="-120"/>
              </a:rPr>
              <a:t>What is the customer ultimately trying to achieve?</a:t>
            </a:r>
            <a:endParaRPr lang="en-US" sz="2400" dirty="0"/>
          </a:p>
        </p:txBody>
      </p:sp>
      <p:sp>
        <p:nvSpPr>
          <p:cNvPr id="6" name="Shape 3"/>
          <p:cNvSpPr/>
          <p:nvPr/>
        </p:nvSpPr>
        <p:spPr>
          <a:xfrm>
            <a:off x="548640" y="2360524"/>
            <a:ext cx="518465" cy="518465"/>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8256" y="2490140"/>
            <a:ext cx="259232" cy="259232"/>
          </a:xfrm>
          <a:prstGeom prst="rect">
            <a:avLst/>
          </a:prstGeom>
        </p:spPr>
      </p:pic>
      <p:sp>
        <p:nvSpPr>
          <p:cNvPr id="8" name="Text 4"/>
          <p:cNvSpPr txBox="1"/>
          <p:nvPr/>
        </p:nvSpPr>
        <p:spPr>
          <a:xfrm>
            <a:off x="1387145" y="2249424"/>
            <a:ext cx="10253167" cy="7406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B — Boundaries  </a:t>
            </a:r>
            <a:pPr indent="0" marL="0">
              <a:buNone/>
            </a:pPr>
            <a:r>
              <a:rPr lang="en-US" sz="2400" dirty="0">
                <a:solidFill>
                  <a:srgbClr val="1F2A22"/>
                </a:solidFill>
                <a:latin typeface="Calibri" pitchFamily="34" charset="0"/>
                <a:ea typeface="Calibri" pitchFamily="34" charset="-122"/>
                <a:cs typeface="Calibri" pitchFamily="34" charset="-120"/>
              </a:rPr>
              <a:t>What could constrain our ability to deliver that outcome?</a:t>
            </a:r>
            <a:endParaRPr lang="en-US" sz="2400" dirty="0"/>
          </a:p>
        </p:txBody>
      </p:sp>
      <p:sp>
        <p:nvSpPr>
          <p:cNvPr id="9" name="Shape 5"/>
          <p:cNvSpPr/>
          <p:nvPr/>
        </p:nvSpPr>
        <p:spPr>
          <a:xfrm>
            <a:off x="548640" y="3101188"/>
            <a:ext cx="518465" cy="518465"/>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8256" y="3230804"/>
            <a:ext cx="259232" cy="259232"/>
          </a:xfrm>
          <a:prstGeom prst="rect">
            <a:avLst/>
          </a:prstGeom>
        </p:spPr>
      </p:pic>
      <p:sp>
        <p:nvSpPr>
          <p:cNvPr id="11" name="Text 6"/>
          <p:cNvSpPr txBox="1"/>
          <p:nvPr/>
        </p:nvSpPr>
        <p:spPr>
          <a:xfrm>
            <a:off x="1387145" y="2990088"/>
            <a:ext cx="10253167" cy="7406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 Competition  </a:t>
            </a:r>
            <a:pPr indent="0" marL="0">
              <a:buNone/>
            </a:pPr>
            <a:r>
              <a:rPr lang="en-US" sz="2400" dirty="0">
                <a:solidFill>
                  <a:srgbClr val="1F2A22"/>
                </a:solidFill>
                <a:latin typeface="Calibri" pitchFamily="34" charset="0"/>
                <a:ea typeface="Calibri" pitchFamily="34" charset="-122"/>
                <a:cs typeface="Calibri" pitchFamily="34" charset="-120"/>
              </a:rPr>
              <a:t>Who or what else can enable the customer to achieve it?</a:t>
            </a:r>
            <a:endParaRPr lang="en-US" sz="2400" dirty="0"/>
          </a:p>
        </p:txBody>
      </p:sp>
      <p:sp>
        <p:nvSpPr>
          <p:cNvPr id="12" name="Shape 7"/>
          <p:cNvSpPr/>
          <p:nvPr/>
        </p:nvSpPr>
        <p:spPr>
          <a:xfrm>
            <a:off x="548640" y="3841852"/>
            <a:ext cx="518465" cy="518465"/>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8256" y="3971468"/>
            <a:ext cx="259232" cy="259232"/>
          </a:xfrm>
          <a:prstGeom prst="rect">
            <a:avLst/>
          </a:prstGeom>
        </p:spPr>
      </p:pic>
      <p:sp>
        <p:nvSpPr>
          <p:cNvPr id="14" name="Text 8"/>
          <p:cNvSpPr txBox="1"/>
          <p:nvPr/>
        </p:nvSpPr>
        <p:spPr>
          <a:xfrm>
            <a:off x="1387145" y="3730752"/>
            <a:ext cx="10253167" cy="7406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 — Value Proposition  </a:t>
            </a:r>
            <a:pPr indent="0" marL="0">
              <a:buNone/>
            </a:pPr>
            <a:r>
              <a:rPr lang="en-US" sz="2400" dirty="0">
                <a:solidFill>
                  <a:srgbClr val="1F2A22"/>
                </a:solidFill>
                <a:latin typeface="Calibri" pitchFamily="34" charset="0"/>
                <a:ea typeface="Calibri" pitchFamily="34" charset="-122"/>
                <a:cs typeface="Calibri" pitchFamily="34" charset="-120"/>
              </a:rPr>
              <a:t>Why should the customer choose the value we create?</a:t>
            </a:r>
            <a:endParaRPr lang="en-US" sz="2400" dirty="0"/>
          </a:p>
        </p:txBody>
      </p:sp>
      <p:sp>
        <p:nvSpPr>
          <p:cNvPr id="15" name="Shape 9"/>
          <p:cNvSpPr/>
          <p:nvPr/>
        </p:nvSpPr>
        <p:spPr>
          <a:xfrm>
            <a:off x="548640" y="4582516"/>
            <a:ext cx="518465" cy="518465"/>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678256" y="4712132"/>
            <a:ext cx="259232" cy="259232"/>
          </a:xfrm>
          <a:prstGeom prst="rect">
            <a:avLst/>
          </a:prstGeom>
        </p:spPr>
      </p:pic>
      <p:sp>
        <p:nvSpPr>
          <p:cNvPr id="17" name="Text 10"/>
          <p:cNvSpPr txBox="1"/>
          <p:nvPr/>
        </p:nvSpPr>
        <p:spPr>
          <a:xfrm>
            <a:off x="1387145" y="4471416"/>
            <a:ext cx="10253167" cy="7406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MBT — Must Be True  </a:t>
            </a:r>
            <a:pPr indent="0" marL="0">
              <a:buNone/>
            </a:pPr>
            <a:r>
              <a:rPr lang="en-US" sz="2400" dirty="0">
                <a:solidFill>
                  <a:srgbClr val="1F2A22"/>
                </a:solidFill>
                <a:latin typeface="Calibri" pitchFamily="34" charset="0"/>
                <a:ea typeface="Calibri" pitchFamily="34" charset="-122"/>
                <a:cs typeface="Calibri" pitchFamily="34" charset="-120"/>
              </a:rPr>
              <a:t>What conditions must hold for our strategic logic to remain valid?</a:t>
            </a:r>
            <a:endParaRPr lang="en-US" sz="2400" dirty="0"/>
          </a:p>
        </p:txBody>
      </p:sp>
      <p:sp>
        <p:nvSpPr>
          <p:cNvPr id="18" name="Shape 11"/>
          <p:cNvSpPr/>
          <p:nvPr/>
        </p:nvSpPr>
        <p:spPr>
          <a:xfrm>
            <a:off x="548640" y="5349240"/>
            <a:ext cx="11091672" cy="1051560"/>
          </a:xfrm>
          <a:prstGeom prst="roundRect">
            <a:avLst>
              <a:gd name="adj" fmla="val 8696"/>
            </a:avLst>
          </a:prstGeom>
          <a:solidFill>
            <a:srgbClr val="0F3B1C"/>
          </a:solidFill>
          <a:ln w="12700">
            <a:solidFill>
              <a:srgbClr val="0F3B1C"/>
            </a:solidFill>
            <a:prstDash val="solid"/>
          </a:ln>
        </p:spPr>
      </p:sp>
      <p:sp>
        <p:nvSpPr>
          <p:cNvPr id="19" name="Text 12"/>
          <p:cNvSpPr txBox="1"/>
          <p:nvPr/>
        </p:nvSpPr>
        <p:spPr>
          <a:xfrm>
            <a:off x="822960" y="5349240"/>
            <a:ext cx="10607040" cy="105156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ABCV does not ask whether an OKR is well written. It asks whether the strategic logic underneath it can survive reality.</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 descr="Overview reflection: Take one Key Result your group confirmed in Unit 3. What is it assuming about the world that has not yet been verified?"/>
          <p:cNvPicPr>
            <a:picLocks noChangeAspect="1"/>
          </p:cNvPicPr>
          <p:nvPr/>
        </p:nvPicPr>
        <p:blipFill>
          <a:blip r:embed="rId2"/>
          <a:stretch>
            <a:fillRect/>
          </a:stretch>
        </p:blipFill>
        <p:spPr>
          <a:xfrm>
            <a:off x="1691640" y="1572768"/>
            <a:ext cx="9921240" cy="946167"/>
          </a:xfrm>
          <a:prstGeom prst="rect">
            <a:avLst/>
          </a:prstGeom>
        </p:spPr>
      </p:pic>
      <p:sp>
        <p:nvSpPr>
          <p:cNvPr id="4" name="Part 1"/>
          <p:cNvSpPr/>
          <p:nvPr/>
        </p:nvSpPr>
        <p:spPr>
          <a:xfrm>
            <a:off x="548640" y="16115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a:t>
            </a:r>
          </a:p>
        </p:txBody>
      </p:sp>
      <p:pic>
        <p:nvPicPr>
          <p:cNvPr id="5" name="Reflection 2" descr="Bringing ABCV Together reflection: Which of the four ABCV checkpoints is your organisation least likely to examine rigorously before launching a new strategic initiative? What does that pattern cost you?"/>
          <p:cNvPicPr>
            <a:picLocks noChangeAspect="1"/>
          </p:cNvPicPr>
          <p:nvPr/>
        </p:nvPicPr>
        <p:blipFill>
          <a:blip r:embed="rId3"/>
          <a:stretch>
            <a:fillRect/>
          </a:stretch>
        </p:blipFill>
        <p:spPr>
          <a:xfrm>
            <a:off x="1691640" y="2811543"/>
            <a:ext cx="9921240" cy="1182917"/>
          </a:xfrm>
          <a:prstGeom prst="rect">
            <a:avLst/>
          </a:prstGeom>
        </p:spPr>
      </p:pic>
      <p:sp>
        <p:nvSpPr>
          <p:cNvPr id="6" name="Part 2"/>
          <p:cNvSpPr/>
          <p:nvPr/>
        </p:nvSpPr>
        <p:spPr>
          <a:xfrm>
            <a:off x="548640" y="296866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Industry Illusion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Judge whether strategic priorities respond to the outcomes customers pursue.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the assumptions on which each strategic objective depends.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Industry Illusion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Familiarity</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We know this industry.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Exclusion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We discount what doesn’t fit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Complacency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We become confident in the world we can see.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industry we understand becomes the boundary of the world we examine.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2.2a · The Industry Illusion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Round 1</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would you look?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Round 2</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deserves attention?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Round 3</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Should we be worried?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case: The Future of a University. Three rounds, then The Reveal.</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2.2b · After The Reveal: Apply Arena</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the Apex learner actually trying to achieve?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Now look again at everything you deprioritised in Rounds 1 and 2.</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dimensions of strategic integrity most often overlooked in their own executive function.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Appraise how functional blind spots compound into enterprise-wide strategic risk.</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3.1a · The Executive Hot Zone</a:t>
            </a:r>
            <a:endParaRPr lang="en-US" sz="36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Role-based blind spots: the ABCV checkpoint each role most often overlooks</a:t>
            </a:r>
            <a:endParaRPr lang="en-US" sz="2400" dirty="0"/>
          </a:p>
        </p:txBody>
      </p:sp>
      <p:sp>
        <p:nvSpPr>
          <p:cNvPr id="4" name="Shape 2"/>
          <p:cNvSpPr/>
          <p:nvPr/>
        </p:nvSpPr>
        <p:spPr>
          <a:xfrm>
            <a:off x="548640" y="2011680"/>
            <a:ext cx="3566160" cy="1280160"/>
          </a:xfrm>
          <a:prstGeom prst="roundRect">
            <a:avLst>
              <a:gd name="adj" fmla="val 7143"/>
            </a:avLst>
          </a:prstGeom>
          <a:solidFill>
            <a:srgbClr val="EEF4EF"/>
          </a:solidFill>
          <a:ln w="12700">
            <a:solidFill>
              <a:srgbClr val="EEF4EF"/>
            </a:solidFill>
            <a:prstDash val="solid"/>
          </a:ln>
        </p:spPr>
      </p:sp>
      <p:sp>
        <p:nvSpPr>
          <p:cNvPr id="5" name="Text 3"/>
          <p:cNvSpPr txBox="1"/>
          <p:nvPr/>
        </p:nvSpPr>
        <p:spPr>
          <a:xfrm>
            <a:off x="777240" y="2011680"/>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
        <p:nvSpPr>
          <p:cNvPr id="6" name="Shape 4"/>
          <p:cNvSpPr/>
          <p:nvPr/>
        </p:nvSpPr>
        <p:spPr>
          <a:xfrm>
            <a:off x="4306824" y="2011680"/>
            <a:ext cx="3566160" cy="1280160"/>
          </a:xfrm>
          <a:prstGeom prst="roundRect">
            <a:avLst>
              <a:gd name="adj" fmla="val 7143"/>
            </a:avLst>
          </a:prstGeom>
          <a:solidFill>
            <a:srgbClr val="EEF4EF"/>
          </a:solidFill>
          <a:ln w="12700">
            <a:solidFill>
              <a:srgbClr val="EEF4EF"/>
            </a:solidFill>
            <a:prstDash val="solid"/>
          </a:ln>
        </p:spPr>
      </p:sp>
      <p:sp>
        <p:nvSpPr>
          <p:cNvPr id="7" name="Text 5"/>
          <p:cNvSpPr txBox="1"/>
          <p:nvPr/>
        </p:nvSpPr>
        <p:spPr>
          <a:xfrm>
            <a:off x="4535424" y="2011680"/>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8" name="Shape 6"/>
          <p:cNvSpPr/>
          <p:nvPr/>
        </p:nvSpPr>
        <p:spPr>
          <a:xfrm>
            <a:off x="8065008" y="2011680"/>
            <a:ext cx="3566160" cy="1280160"/>
          </a:xfrm>
          <a:prstGeom prst="roundRect">
            <a:avLst>
              <a:gd name="adj" fmla="val 7143"/>
            </a:avLst>
          </a:prstGeom>
          <a:solidFill>
            <a:srgbClr val="EEF4EF"/>
          </a:solidFill>
          <a:ln w="12700">
            <a:solidFill>
              <a:srgbClr val="EEF4EF"/>
            </a:solidFill>
            <a:prstDash val="solid"/>
          </a:ln>
        </p:spPr>
      </p:sp>
      <p:sp>
        <p:nvSpPr>
          <p:cNvPr id="9" name="Text 7"/>
          <p:cNvSpPr txBox="1"/>
          <p:nvPr/>
        </p:nvSpPr>
        <p:spPr>
          <a:xfrm>
            <a:off x="8293608" y="2011680"/>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Competition</a:t>
            </a:r>
            <a:endParaRPr lang="en-US" sz="2600" dirty="0"/>
          </a:p>
        </p:txBody>
      </p:sp>
      <p:sp>
        <p:nvSpPr>
          <p:cNvPr id="10" name="Shape 8"/>
          <p:cNvSpPr/>
          <p:nvPr/>
        </p:nvSpPr>
        <p:spPr>
          <a:xfrm>
            <a:off x="548640" y="3493008"/>
            <a:ext cx="3566160" cy="1280160"/>
          </a:xfrm>
          <a:prstGeom prst="roundRect">
            <a:avLst>
              <a:gd name="adj" fmla="val 7143"/>
            </a:avLst>
          </a:prstGeom>
          <a:solidFill>
            <a:srgbClr val="EEF4EF"/>
          </a:solidFill>
          <a:ln w="12700">
            <a:solidFill>
              <a:srgbClr val="EEF4EF"/>
            </a:solidFill>
            <a:prstDash val="solid"/>
          </a:ln>
        </p:spPr>
      </p:sp>
      <p:sp>
        <p:nvSpPr>
          <p:cNvPr id="11" name="Text 9"/>
          <p:cNvSpPr txBox="1"/>
          <p:nvPr/>
        </p:nvSpPr>
        <p:spPr>
          <a:xfrm>
            <a:off x="777240" y="3493008"/>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Competition</a:t>
            </a:r>
            <a:endParaRPr lang="en-US" sz="2600" dirty="0"/>
          </a:p>
        </p:txBody>
      </p:sp>
      <p:sp>
        <p:nvSpPr>
          <p:cNvPr id="12" name="Shape 10"/>
          <p:cNvSpPr/>
          <p:nvPr/>
        </p:nvSpPr>
        <p:spPr>
          <a:xfrm>
            <a:off x="4306824" y="3493008"/>
            <a:ext cx="3566160" cy="1280160"/>
          </a:xfrm>
          <a:prstGeom prst="roundRect">
            <a:avLst>
              <a:gd name="adj" fmla="val 7143"/>
            </a:avLst>
          </a:prstGeom>
          <a:solidFill>
            <a:srgbClr val="EEF4EF"/>
          </a:solidFill>
          <a:ln w="12700">
            <a:solidFill>
              <a:srgbClr val="EEF4EF"/>
            </a:solidFill>
            <a:prstDash val="solid"/>
          </a:ln>
        </p:spPr>
      </p:sp>
      <p:sp>
        <p:nvSpPr>
          <p:cNvPr id="13" name="Text 11"/>
          <p:cNvSpPr txBox="1"/>
          <p:nvPr/>
        </p:nvSpPr>
        <p:spPr>
          <a:xfrm>
            <a:off x="4535424" y="3493008"/>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14" name="Shape 12"/>
          <p:cNvSpPr/>
          <p:nvPr/>
        </p:nvSpPr>
        <p:spPr>
          <a:xfrm>
            <a:off x="8065008" y="3493008"/>
            <a:ext cx="3566160" cy="1280160"/>
          </a:xfrm>
          <a:prstGeom prst="roundRect">
            <a:avLst>
              <a:gd name="adj" fmla="val 7143"/>
            </a:avLst>
          </a:prstGeom>
          <a:solidFill>
            <a:srgbClr val="EEF4EF"/>
          </a:solidFill>
          <a:ln w="12700">
            <a:solidFill>
              <a:srgbClr val="EEF4EF"/>
            </a:solidFill>
            <a:prstDash val="solid"/>
          </a:ln>
        </p:spPr>
      </p:sp>
      <p:sp>
        <p:nvSpPr>
          <p:cNvPr id="15" name="Text 13"/>
          <p:cNvSpPr txBox="1"/>
          <p:nvPr/>
        </p:nvSpPr>
        <p:spPr>
          <a:xfrm>
            <a:off x="8293608" y="3493008"/>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
        <p:nvSpPr>
          <p:cNvPr id="16" name="Shape 14"/>
          <p:cNvSpPr/>
          <p:nvPr/>
        </p:nvSpPr>
        <p:spPr>
          <a:xfrm>
            <a:off x="548640" y="4974336"/>
            <a:ext cx="3566160" cy="1280160"/>
          </a:xfrm>
          <a:prstGeom prst="roundRect">
            <a:avLst>
              <a:gd name="adj" fmla="val 7143"/>
            </a:avLst>
          </a:prstGeom>
          <a:solidFill>
            <a:srgbClr val="EEF4EF"/>
          </a:solidFill>
          <a:ln w="12700">
            <a:solidFill>
              <a:srgbClr val="EEF4EF"/>
            </a:solidFill>
            <a:prstDash val="solid"/>
          </a:ln>
        </p:spPr>
      </p:sp>
      <p:sp>
        <p:nvSpPr>
          <p:cNvPr id="17" name="Text 15"/>
          <p:cNvSpPr txBox="1"/>
          <p:nvPr/>
        </p:nvSpPr>
        <p:spPr>
          <a:xfrm>
            <a:off x="777240" y="4974336"/>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Value Proposition</a:t>
            </a:r>
            <a:endParaRPr lang="en-US" sz="2600" dirty="0"/>
          </a:p>
        </p:txBody>
      </p:sp>
      <p:sp>
        <p:nvSpPr>
          <p:cNvPr id="18" name="Shape 16"/>
          <p:cNvSpPr/>
          <p:nvPr/>
        </p:nvSpPr>
        <p:spPr>
          <a:xfrm>
            <a:off x="4306824" y="4974336"/>
            <a:ext cx="3566160" cy="1280160"/>
          </a:xfrm>
          <a:prstGeom prst="roundRect">
            <a:avLst>
              <a:gd name="adj" fmla="val 7143"/>
            </a:avLst>
          </a:prstGeom>
          <a:solidFill>
            <a:srgbClr val="EEF4EF"/>
          </a:solidFill>
          <a:ln w="12700">
            <a:solidFill>
              <a:srgbClr val="EEF4EF"/>
            </a:solidFill>
            <a:prstDash val="solid"/>
          </a:ln>
        </p:spPr>
      </p:sp>
      <p:sp>
        <p:nvSpPr>
          <p:cNvPr id="19" name="Text 17"/>
          <p:cNvSpPr txBox="1"/>
          <p:nvPr/>
        </p:nvSpPr>
        <p:spPr>
          <a:xfrm>
            <a:off x="4535424" y="4974336"/>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Arena</a:t>
            </a:r>
            <a:endParaRPr lang="en-US" sz="2600" dirty="0"/>
          </a:p>
        </p:txBody>
      </p:sp>
      <p:sp>
        <p:nvSpPr>
          <p:cNvPr id="20" name="Shape 18"/>
          <p:cNvSpPr/>
          <p:nvPr/>
        </p:nvSpPr>
        <p:spPr>
          <a:xfrm>
            <a:off x="8065008" y="4974336"/>
            <a:ext cx="3566160" cy="1280160"/>
          </a:xfrm>
          <a:prstGeom prst="roundRect">
            <a:avLst>
              <a:gd name="adj" fmla="val 7143"/>
            </a:avLst>
          </a:prstGeom>
          <a:solidFill>
            <a:srgbClr val="EEF4EF"/>
          </a:solidFill>
          <a:ln w="12700">
            <a:solidFill>
              <a:srgbClr val="EEF4EF"/>
            </a:solidFill>
            <a:prstDash val="solid"/>
          </a:ln>
        </p:spPr>
      </p:sp>
      <p:sp>
        <p:nvSpPr>
          <p:cNvPr id="21" name="Text 19"/>
          <p:cNvSpPr txBox="1"/>
          <p:nvPr/>
        </p:nvSpPr>
        <p:spPr>
          <a:xfrm>
            <a:off x="8293608" y="4974336"/>
            <a:ext cx="3108960" cy="12801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a:t>
            </a: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Boundaries</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3.1b · A Hot Zone Card: the CEO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What Gets Overlooked</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Boundaries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Symptom</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“Why are we not seeing the results when our strategy is clear?”</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sp>
      <p:sp>
        <p:nvSpPr>
          <p:cNvPr id="14" name="Shape 10"/>
          <p:cNvSpPr/>
          <p:nvPr/>
        </p:nvSpPr>
        <p:spPr>
          <a:xfrm>
            <a:off x="777240" y="4297680"/>
            <a:ext cx="548640" cy="54864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Checkpoint Reveals</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Vision without friction-mapping is only a speech.</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Right Question</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“What specific conditions must remain true for execution to sustain the pace we've planned for?”</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Having explored your role’s typical blind spot: what is one MBT condition in that checkpoint that your organisation is currently assuming without confirmation? What would it take to verify it?"/>
          <p:cNvPicPr>
            <a:picLocks noChangeAspect="1"/>
          </p:cNvPicPr>
          <p:nvPr/>
        </p:nvPicPr>
        <p:blipFill>
          <a:blip r:embed="rId2"/>
          <a:stretch>
            <a:fillRect/>
          </a:stretch>
        </p:blipFill>
        <p:spPr>
          <a:xfrm>
            <a:off x="1691640" y="1572768"/>
            <a:ext cx="9921240" cy="1257051"/>
          </a:xfrm>
          <a:prstGeom prst="rect">
            <a:avLst/>
          </a:prstGeom>
        </p:spPr>
      </p:pic>
      <p:sp>
        <p:nvSpPr>
          <p:cNvPr id="4" name="Part 3.1"/>
          <p:cNvSpPr/>
          <p:nvPr/>
        </p:nvSpPr>
        <p:spPr>
          <a:xfrm>
            <a:off x="548640" y="1766953"/>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3.1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Appraise the assumptions, dependencies and uncertainties behind the organisation’s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collective accountability by assigning ownership for verifying critical conditions.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188720"/>
            <a:ext cx="548640" cy="548640"/>
          </a:xfrm>
          <a:prstGeom prst="rect">
            <a:avLst/>
          </a:prstGeom>
        </p:spPr>
      </p:pic>
      <p:sp>
        <p:nvSpPr>
          <p:cNvPr id="4" name="Text 1"/>
          <p:cNvSpPr txBox="1"/>
          <p:nvPr/>
        </p:nvSpPr>
        <p:spPr>
          <a:xfrm>
            <a:off x="2103120" y="1097280"/>
            <a:ext cx="941832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4.1 · Worked Example: Stress-Testing a Key Result</a:t>
            </a:r>
            <a:endParaRPr lang="en-US" sz="2600" dirty="0"/>
          </a:p>
        </p:txBody>
      </p:sp>
      <p:sp>
        <p:nvSpPr>
          <p:cNvPr id="5" name="Text 2"/>
          <p:cNvSpPr txBox="1"/>
          <p:nvPr/>
        </p:nvSpPr>
        <p:spPr>
          <a:xfrm>
            <a:off x="2103120" y="1965960"/>
            <a:ext cx="9418320" cy="237744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Reduce average response time to customer requests from 12 hours to 4 hours by 30 June 2027</a:t>
            </a:r>
            <a:endParaRPr lang="en-US" sz="3600" dirty="0"/>
          </a:p>
        </p:txBody>
      </p:sp>
      <p:sp>
        <p:nvSpPr>
          <p:cNvPr id="6" name="Text 3"/>
          <p:cNvSpPr txBox="1"/>
          <p:nvPr/>
        </p:nvSpPr>
        <p:spPr>
          <a:xfrm>
            <a:off x="2103120" y="4526280"/>
            <a:ext cx="9418320" cy="86868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Objective: Deliver consistently fast and effortless service experiences for customers</a:t>
            </a:r>
            <a:endParaRPr lang="en-US" sz="2400" dirty="0"/>
          </a:p>
        </p:txBody>
      </p:sp>
      <p:sp>
        <p:nvSpPr>
          <p:cNvPr id="7" name="Text 4"/>
          <p:cNvSpPr txBox="1"/>
          <p:nvPr/>
        </p:nvSpPr>
        <p:spPr>
          <a:xfrm>
            <a:off x="2103120" y="5760720"/>
            <a:ext cx="9418320" cy="54864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client services company · from Unit 3, part 2.2</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Step 1: Define the Arena</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sp>
      <p:sp>
        <p:nvSpPr>
          <p:cNvPr id="4" name="Text 2"/>
          <p:cNvSpPr txBox="1"/>
          <p:nvPr/>
        </p:nvSpPr>
        <p:spPr>
          <a:xfrm>
            <a:off x="822960" y="1371600"/>
            <a:ext cx="10561320" cy="1325880"/>
          </a:xfrm>
          <a:prstGeom prst="rect">
            <a:avLst/>
          </a:prstGeom>
          <a:noFill/>
          <a:ln/>
        </p:spPr>
        <p:txBody>
          <a:bodyPr wrap="square" lIns="0" tIns="0" rIns="0" bIns="0" rtlCol="0" anchor="ctr"/>
          <a:lstStyle/>
          <a:p>
            <a:pPr indent="0" marL="0">
              <a:buNone/>
            </a:pPr>
            <a:r>
              <a:rPr lang="en-US" sz="2400" i="1" dirty="0">
                <a:solidFill>
                  <a:srgbClr val="1A5C2C"/>
                </a:solidFill>
                <a:latin typeface="Calibri" pitchFamily="34" charset="0"/>
                <a:ea typeface="Calibri" pitchFamily="34" charset="-122"/>
                <a:cs typeface="Calibri" pitchFamily="34" charset="-120"/>
              </a:rPr>
              <a:t>Which customer need does “Reduce average response time to customer requests from 12 hours to 4 hours by 30 June 2027” serve: functional, experiential or consequential?</a:t>
            </a:r>
            <a:endParaRPr lang="en-US" sz="2400" dirty="0"/>
          </a:p>
        </p:txBody>
      </p:sp>
      <p:sp>
        <p:nvSpPr>
          <p:cNvPr id="5" name="Text 3"/>
          <p:cNvSpPr txBox="1"/>
          <p:nvPr/>
        </p:nvSpPr>
        <p:spPr>
          <a:xfrm>
            <a:off x="685800" y="2834640"/>
            <a:ext cx="10835640" cy="2240280"/>
          </a:xfrm>
          <a:prstGeom prst="rect">
            <a:avLst/>
          </a:prstGeom>
          <a:noFill/>
          <a:ln/>
        </p:spPr>
        <p:txBody>
          <a:bodyPr wrap="square" lIns="0" tIns="0" rIns="0" bIns="0" rtlCol="0" anchor="ctr"/>
          <a:lstStyle/>
          <a:p>
            <a:pPr indent="0" marL="0">
              <a:spcAft>
                <a:spcPts val="600"/>
              </a:spcAft>
              <a:buNone/>
            </a:pPr>
            <a:r>
              <a:rPr lang="en-US" sz="2400" b="1" dirty="0">
                <a:solidFill>
                  <a:srgbClr val="1A5C2C"/>
                </a:solidFill>
                <a:latin typeface="Cambria" pitchFamily="34" charset="0"/>
                <a:ea typeface="Cambria" pitchFamily="34" charset="-122"/>
                <a:cs typeface="Cambria" pitchFamily="34" charset="-120"/>
              </a:rPr>
              <a:t>Functional  </a:t>
            </a:r>
            <a:pPr indent="0" marL="0">
              <a:spcAft>
                <a:spcPts val="600"/>
              </a:spcAft>
              <a:buNone/>
            </a:pPr>
            <a:r>
              <a:rPr lang="en-US" sz="2400" dirty="0">
                <a:solidFill>
                  <a:srgbClr val="1F2A22"/>
                </a:solidFill>
                <a:latin typeface="Calibri" pitchFamily="34" charset="0"/>
                <a:ea typeface="Calibri" pitchFamily="34" charset="-122"/>
                <a:cs typeface="Calibri" pitchFamily="34" charset="-120"/>
              </a:rPr>
              <a:t>Have a service request answered and resolved.</a:t>
            </a:r>
            <a:endParaRPr lang="en-US" sz="2400" dirty="0"/>
          </a:p>
          <a:p>
            <a:pPr indent="0" marL="0">
              <a:spcAft>
                <a:spcPts val="600"/>
              </a:spcAft>
              <a:buNone/>
            </a:pPr>
            <a:r>
              <a:rPr lang="en-US" sz="2400" b="1" dirty="0">
                <a:solidFill>
                  <a:srgbClr val="1A5C2C"/>
                </a:solidFill>
                <a:latin typeface="Cambria" pitchFamily="34" charset="0"/>
                <a:ea typeface="Cambria" pitchFamily="34" charset="-122"/>
                <a:cs typeface="Cambria" pitchFamily="34" charset="-120"/>
              </a:rPr>
              <a:t>Experiential  </a:t>
            </a:r>
            <a:pPr indent="0" marL="0">
              <a:spcAft>
                <a:spcPts val="600"/>
              </a:spcAft>
              <a:buNone/>
            </a:pPr>
            <a:r>
              <a:rPr lang="en-US" sz="2400" dirty="0">
                <a:solidFill>
                  <a:srgbClr val="1F2A22"/>
                </a:solidFill>
                <a:latin typeface="Calibri" pitchFamily="34" charset="0"/>
                <a:ea typeface="Calibri" pitchFamily="34" charset="-122"/>
                <a:cs typeface="Calibri" pitchFamily="34" charset="-120"/>
              </a:rPr>
              <a:t>Fast and effortless: one contact, no chasing.</a:t>
            </a:r>
            <a:endParaRPr lang="en-US" sz="2400" dirty="0"/>
          </a:p>
          <a:p>
            <a:pPr indent="0" marL="0">
              <a:spcAft>
                <a:spcPts val="600"/>
              </a:spcAft>
              <a:buNone/>
            </a:pPr>
            <a:r>
              <a:rPr lang="en-US" sz="2400" b="1" dirty="0">
                <a:solidFill>
                  <a:srgbClr val="1A5C2C"/>
                </a:solidFill>
                <a:latin typeface="Cambria" pitchFamily="34" charset="0"/>
                <a:ea typeface="Cambria" pitchFamily="34" charset="-122"/>
                <a:cs typeface="Cambria" pitchFamily="34" charset="-120"/>
              </a:rPr>
              <a:t>Consequential  </a:t>
            </a:r>
            <a:pPr indent="0" marL="0">
              <a:spcAft>
                <a:spcPts val="600"/>
              </a:spcAft>
              <a:buNone/>
            </a:pPr>
            <a:r>
              <a:rPr lang="en-US" sz="2400" dirty="0">
                <a:solidFill>
                  <a:srgbClr val="1F2A22"/>
                </a:solidFill>
                <a:latin typeface="Calibri" pitchFamily="34" charset="0"/>
                <a:ea typeface="Calibri" pitchFamily="34" charset="-122"/>
                <a:cs typeface="Calibri" pitchFamily="34" charset="-120"/>
              </a:rPr>
              <a:t>Keep their own operations running and their commitments to their own customers met.</a:t>
            </a:r>
            <a:endParaRPr lang="en-US" sz="2400" dirty="0"/>
          </a:p>
        </p:txBody>
      </p:sp>
      <p:sp>
        <p:nvSpPr>
          <p:cNvPr id="6" name="Shape 4"/>
          <p:cNvSpPr/>
          <p:nvPr/>
        </p:nvSpPr>
        <p:spPr>
          <a:xfrm>
            <a:off x="548640" y="5212080"/>
            <a:ext cx="11091672" cy="1188720"/>
          </a:xfrm>
          <a:prstGeom prst="roundRect">
            <a:avLst>
              <a:gd name="adj" fmla="val 7692"/>
            </a:avLst>
          </a:prstGeom>
          <a:solidFill>
            <a:srgbClr val="0F3B1C"/>
          </a:solidFill>
          <a:ln w="12700">
            <a:solidFill>
              <a:srgbClr val="0F3B1C"/>
            </a:solidFill>
            <a:prstDash val="solid"/>
          </a:ln>
        </p:spPr>
      </p:sp>
      <p:sp>
        <p:nvSpPr>
          <p:cNvPr id="7" name="Text 5"/>
          <p:cNvSpPr txBox="1"/>
          <p:nvPr/>
        </p:nvSpPr>
        <p:spPr>
          <a:xfrm>
            <a:off x="822960" y="5212080"/>
            <a:ext cx="10561320" cy="1188720"/>
          </a:xfrm>
          <a:prstGeom prst="rect">
            <a:avLst/>
          </a:prstGeom>
          <a:noFill/>
          <a:ln/>
        </p:spPr>
        <p:txBody>
          <a:bodyPr wrap="square" lIns="0" tIns="0" rIns="0" bIns="0" rtlCol="0" anchor="ctr"/>
          <a:lstStyle/>
          <a:p>
            <a:pPr indent="0" marL="0">
              <a:buNone/>
            </a:pPr>
            <a:r>
              <a:rPr lang="en-US" sz="2400" b="1" dirty="0">
                <a:solidFill>
                  <a:srgbClr val="C6A24C"/>
                </a:solidFill>
                <a:latin typeface="Calibri" pitchFamily="34" charset="0"/>
                <a:ea typeface="Calibri" pitchFamily="34" charset="-122"/>
                <a:cs typeface="Calibri" pitchFamily="34" charset="-120"/>
              </a:rPr>
              <a:t>Must be true:  </a:t>
            </a:r>
            <a:pPr indent="0" marL="0">
              <a:buNone/>
            </a:pPr>
            <a:r>
              <a:rPr lang="en-US" sz="2400" dirty="0">
                <a:solidFill>
                  <a:srgbClr val="FFFFFF"/>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Step 2: Understand the Boundaries</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sp>
      <p:sp>
        <p:nvSpPr>
          <p:cNvPr id="4" name="Text 2"/>
          <p:cNvSpPr txBox="1"/>
          <p:nvPr/>
        </p:nvSpPr>
        <p:spPr>
          <a:xfrm>
            <a:off x="822960" y="1371600"/>
            <a:ext cx="10561320" cy="1325880"/>
          </a:xfrm>
          <a:prstGeom prst="rect">
            <a:avLst/>
          </a:prstGeom>
          <a:noFill/>
          <a:ln/>
        </p:spPr>
        <p:txBody>
          <a:bodyPr wrap="square" lIns="0" tIns="0" rIns="0" bIns="0" rtlCol="0" anchor="ctr"/>
          <a:lstStyle/>
          <a:p>
            <a:pPr indent="0" marL="0">
              <a:buNone/>
            </a:pPr>
            <a:r>
              <a:rPr lang="en-US" sz="2400" i="1" dirty="0">
                <a:solidFill>
                  <a:srgbClr val="1A5C2C"/>
                </a:solidFill>
                <a:latin typeface="Calibri" pitchFamily="34" charset="0"/>
                <a:ea typeface="Calibri" pitchFamily="34" charset="-122"/>
                <a:cs typeface="Calibri" pitchFamily="34" charset="-120"/>
              </a:rPr>
              <a:t>Which conditions could materially slow, restrict or prevent us from delivering “Reduce average response time to customer requests from 12 hours to 4 hours by 30 June 2027”?</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Requests that cross Commercial, Operations and Customer Service wait at each handover.</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Front-line staff lack the authority and the client information to answer alone.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Each function records requests in its own system, with no shared view.</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 volumes peak at month-end.</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sp>
      <p:sp>
        <p:nvSpPr>
          <p:cNvPr id="7" name="Text 5"/>
          <p:cNvSpPr txBox="1"/>
          <p:nvPr/>
        </p:nvSpPr>
        <p:spPr>
          <a:xfrm>
            <a:off x="822960" y="5486400"/>
            <a:ext cx="10561320" cy="914400"/>
          </a:xfrm>
          <a:prstGeom prst="rect">
            <a:avLst/>
          </a:prstGeom>
          <a:noFill/>
          <a:ln/>
        </p:spPr>
        <p:txBody>
          <a:bodyPr wrap="square" lIns="0" tIns="0" rIns="0" bIns="0" rtlCol="0" anchor="ctr"/>
          <a:lstStyle/>
          <a:p>
            <a:pPr indent="0" marL="0">
              <a:buNone/>
            </a:pPr>
            <a:r>
              <a:rPr lang="en-US" sz="2400" b="1" dirty="0">
                <a:solidFill>
                  <a:srgbClr val="C6A24C"/>
                </a:solidFill>
                <a:latin typeface="Calibri" pitchFamily="34" charset="0"/>
                <a:ea typeface="Calibri" pitchFamily="34" charset="-122"/>
                <a:cs typeface="Calibri" pitchFamily="34" charset="-120"/>
              </a:rPr>
              <a:t>Must be true:  </a:t>
            </a:r>
            <a:pPr indent="0" marL="0">
              <a:buNone/>
            </a:pPr>
            <a:r>
              <a:rPr lang="en-US" sz="2400" dirty="0">
                <a:solidFill>
                  <a:srgbClr val="FFFFFF"/>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Step 3: See the Competition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sp>
      <p:sp>
        <p:nvSpPr>
          <p:cNvPr id="4" name="Text 2"/>
          <p:cNvSpPr txBox="1"/>
          <p:nvPr/>
        </p:nvSpPr>
        <p:spPr>
          <a:xfrm>
            <a:off x="822960" y="1371600"/>
            <a:ext cx="10561320" cy="1325880"/>
          </a:xfrm>
          <a:prstGeom prst="rect">
            <a:avLst/>
          </a:prstGeom>
          <a:noFill/>
          <a:ln/>
        </p:spPr>
        <p:txBody>
          <a:bodyPr wrap="square" lIns="0" tIns="0" rIns="0" bIns="0" rtlCol="0" anchor="ctr"/>
          <a:lstStyle/>
          <a:p>
            <a:pPr indent="0" marL="0">
              <a:buNone/>
            </a:pPr>
            <a:r>
              <a:rPr lang="en-US" sz="2400" i="1" dirty="0">
                <a:solidFill>
                  <a:srgbClr val="1A5C2C"/>
                </a:solidFill>
                <a:latin typeface="Calibri" pitchFamily="34" charset="0"/>
                <a:ea typeface="Calibri" pitchFamily="34" charset="-122"/>
                <a:cs typeface="Calibri" pitchFamily="34" charset="-120"/>
              </a:rPr>
              <a:t>Who or what else can give the customer what “Reduce average response time to customer requests from 12 hours to 4 hours by 30 June 2027” delivers?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Rival client services firms.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Larger providers with round-the-clock service desks.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The client’s own in-house team.</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Self-service tools that answer simple requests at once.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Doing nothing: the client lives with a slower answer.</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sp>
      <p:sp>
        <p:nvSpPr>
          <p:cNvPr id="7" name="Text 5"/>
          <p:cNvSpPr txBox="1"/>
          <p:nvPr/>
        </p:nvSpPr>
        <p:spPr>
          <a:xfrm>
            <a:off x="822960" y="5486400"/>
            <a:ext cx="10561320" cy="914400"/>
          </a:xfrm>
          <a:prstGeom prst="rect">
            <a:avLst/>
          </a:prstGeom>
          <a:noFill/>
          <a:ln/>
        </p:spPr>
        <p:txBody>
          <a:bodyPr wrap="square" lIns="0" tIns="0" rIns="0" bIns="0" rtlCol="0" anchor="ctr"/>
          <a:lstStyle/>
          <a:p>
            <a:pPr indent="0" marL="0">
              <a:buNone/>
            </a:pPr>
            <a:r>
              <a:rPr lang="en-US" sz="2400" b="1" dirty="0">
                <a:solidFill>
                  <a:srgbClr val="C6A24C"/>
                </a:solidFill>
                <a:latin typeface="Calibri" pitchFamily="34" charset="0"/>
                <a:ea typeface="Calibri" pitchFamily="34" charset="-122"/>
                <a:cs typeface="Calibri" pitchFamily="34" charset="-120"/>
              </a:rPr>
              <a:t>Must be true:  </a:t>
            </a:r>
            <a:pPr indent="0" marL="0">
              <a:buNone/>
            </a:pPr>
            <a:r>
              <a:rPr lang="en-US" sz="2400" dirty="0">
                <a:solidFill>
                  <a:srgbClr val="FFFFFF"/>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Step 4: Establish the Value Proposition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sp>
      <p:sp>
        <p:nvSpPr>
          <p:cNvPr id="4" name="Text 2"/>
          <p:cNvSpPr txBox="1"/>
          <p:nvPr/>
        </p:nvSpPr>
        <p:spPr>
          <a:xfrm>
            <a:off x="822960" y="1371600"/>
            <a:ext cx="10561320" cy="1325880"/>
          </a:xfrm>
          <a:prstGeom prst="rect">
            <a:avLst/>
          </a:prstGeom>
          <a:noFill/>
          <a:ln/>
        </p:spPr>
        <p:txBody>
          <a:bodyPr wrap="square" lIns="0" tIns="0" rIns="0" bIns="0" rtlCol="0" anchor="ctr"/>
          <a:lstStyle/>
          <a:p>
            <a:pPr indent="0" marL="0">
              <a:buNone/>
            </a:pPr>
            <a:r>
              <a:rPr lang="en-US" sz="2400" i="1" dirty="0">
                <a:solidFill>
                  <a:srgbClr val="1A5C2C"/>
                </a:solidFill>
                <a:latin typeface="Calibri" pitchFamily="34" charset="0"/>
                <a:ea typeface="Calibri" pitchFamily="34" charset="-122"/>
                <a:cs typeface="Calibri" pitchFamily="34" charset="-120"/>
              </a:rPr>
              <a:t>What about “Reduce average response time to customer requests from 12 hours to 4 hours by 30 June 2027” will make customers choose us?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indent="0" marL="0">
              <a:spcAft>
                <a:spcPts val="600"/>
              </a:spcAft>
              <a:buNone/>
            </a:pPr>
            <a:r>
              <a:rPr lang="en-US" sz="2400" b="1" dirty="0">
                <a:solidFill>
                  <a:srgbClr val="1A5C2C"/>
                </a:solidFill>
                <a:latin typeface="Cambria" pitchFamily="34" charset="0"/>
                <a:ea typeface="Cambria" pitchFamily="34" charset="-122"/>
                <a:cs typeface="Cambria" pitchFamily="34" charset="-120"/>
              </a:rPr>
              <a:t>Relevant  </a:t>
            </a:r>
            <a:pPr indent="0" marL="0">
              <a:spcAft>
                <a:spcPts val="600"/>
              </a:spcAft>
              <a:buNone/>
            </a:pPr>
            <a:r>
              <a:rPr lang="en-US" sz="2400" dirty="0">
                <a:solidFill>
                  <a:srgbClr val="1F2A22"/>
                </a:solidFill>
                <a:latin typeface="Calibri" pitchFamily="34" charset="0"/>
                <a:ea typeface="Calibri" pitchFamily="34" charset="-122"/>
                <a:cs typeface="Calibri" pitchFamily="34" charset="-120"/>
              </a:rPr>
              <a:t>Speed of response is among the main reasons clients choose a service partner.</a:t>
            </a:r>
            <a:endParaRPr lang="en-US" sz="2400" dirty="0"/>
          </a:p>
          <a:p>
            <a:pPr indent="0" marL="0">
              <a:spcAft>
                <a:spcPts val="600"/>
              </a:spcAft>
              <a:buNone/>
            </a:pPr>
            <a:r>
              <a:rPr lang="en-US" sz="2400" b="1" dirty="0">
                <a:solidFill>
                  <a:srgbClr val="1A5C2C"/>
                </a:solidFill>
                <a:latin typeface="Cambria" pitchFamily="34" charset="0"/>
                <a:ea typeface="Cambria" pitchFamily="34" charset="-122"/>
                <a:cs typeface="Cambria" pitchFamily="34" charset="-120"/>
              </a:rPr>
              <a:t>Distinctive  </a:t>
            </a:r>
            <a:pPr indent="0" marL="0">
              <a:spcAft>
                <a:spcPts val="600"/>
              </a:spcAft>
              <a:buNone/>
            </a:pPr>
            <a:r>
              <a:rPr lang="en-US" sz="2400" dirty="0">
                <a:solidFill>
                  <a:srgbClr val="1F2A22"/>
                </a:solidFill>
                <a:latin typeface="Calibri" pitchFamily="34" charset="0"/>
                <a:ea typeface="Calibri" pitchFamily="34" charset="-122"/>
                <a:cs typeface="Calibri" pitchFamily="34" charset="-120"/>
              </a:rPr>
              <a:t>One joined-up team answers the request. Larger providers pass it between departments.</a:t>
            </a:r>
            <a:endParaRPr lang="en-US" sz="2400" dirty="0"/>
          </a:p>
          <a:p>
            <a:pPr indent="0" marL="0">
              <a:spcAft>
                <a:spcPts val="600"/>
              </a:spcAft>
              <a:buNone/>
            </a:pPr>
            <a:r>
              <a:rPr lang="en-US" sz="2400" b="1" dirty="0">
                <a:solidFill>
                  <a:srgbClr val="1A5C2C"/>
                </a:solidFill>
                <a:latin typeface="Cambria" pitchFamily="34" charset="0"/>
                <a:ea typeface="Cambria" pitchFamily="34" charset="-122"/>
                <a:cs typeface="Cambria" pitchFamily="34" charset="-120"/>
              </a:rPr>
              <a:t>Deliverable  </a:t>
            </a:r>
            <a:pPr indent="0" marL="0">
              <a:spcAft>
                <a:spcPts val="600"/>
              </a:spcAft>
              <a:buNone/>
            </a:pPr>
            <a:r>
              <a:rPr lang="en-US" sz="2400" dirty="0">
                <a:solidFill>
                  <a:srgbClr val="1F2A22"/>
                </a:solidFill>
                <a:latin typeface="Calibri" pitchFamily="34" charset="0"/>
                <a:ea typeface="Calibri" pitchFamily="34" charset="-122"/>
                <a:cs typeface="Calibri" pitchFamily="34" charset="-120"/>
              </a:rPr>
              <a:t>Cross-functional execution routines and named owners make a four-hour response repeatable.</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sp>
      <p:sp>
        <p:nvSpPr>
          <p:cNvPr id="7" name="Text 5"/>
          <p:cNvSpPr txBox="1"/>
          <p:nvPr/>
        </p:nvSpPr>
        <p:spPr>
          <a:xfrm>
            <a:off x="822960" y="5486400"/>
            <a:ext cx="10561320" cy="914400"/>
          </a:xfrm>
          <a:prstGeom prst="rect">
            <a:avLst/>
          </a:prstGeom>
          <a:noFill/>
          <a:ln/>
        </p:spPr>
        <p:txBody>
          <a:bodyPr wrap="square" lIns="0" tIns="0" rIns="0" bIns="0" rtlCol="0" anchor="ctr"/>
          <a:lstStyle/>
          <a:p>
            <a:pPr indent="0" marL="0">
              <a:buNone/>
            </a:pPr>
            <a:r>
              <a:rPr lang="en-US" sz="2400" b="1" dirty="0">
                <a:solidFill>
                  <a:srgbClr val="C6A24C"/>
                </a:solidFill>
                <a:latin typeface="Calibri" pitchFamily="34" charset="0"/>
                <a:ea typeface="Calibri" pitchFamily="34" charset="-122"/>
                <a:cs typeface="Calibri" pitchFamily="34" charset="-120"/>
              </a:rPr>
              <a:t>Must be true:  </a:t>
            </a:r>
            <a:pPr indent="0" marL="0">
              <a:buNone/>
            </a:pPr>
            <a:r>
              <a:rPr lang="en-US" sz="2400" dirty="0">
                <a:solidFill>
                  <a:srgbClr val="FFFFFF"/>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Four Steps, Four Conditions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Arena  </a:t>
            </a:r>
            <a:pPr indent="0" marL="0">
              <a:buNone/>
            </a:pPr>
            <a:r>
              <a:rPr lang="en-US" sz="2400" dirty="0">
                <a:solidFill>
                  <a:srgbClr val="1F2A22"/>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Boundaries  </a:t>
            </a:r>
            <a:pPr indent="0" marL="0">
              <a:buNone/>
            </a:pPr>
            <a:r>
              <a:rPr lang="en-US" sz="2400" dirty="0">
                <a:solidFill>
                  <a:srgbClr val="1F2A22"/>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Competition  </a:t>
            </a:r>
            <a:pPr indent="0" marL="0">
              <a:buNone/>
            </a:pPr>
            <a:r>
              <a:rPr lang="en-US" sz="2400" dirty="0">
                <a:solidFill>
                  <a:srgbClr val="1F2A22"/>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Value Proposition  </a:t>
            </a:r>
            <a:pPr indent="0" marL="0">
              <a:buNone/>
            </a:pPr>
            <a:r>
              <a:rPr lang="en-US" sz="2400" dirty="0">
                <a:solidFill>
                  <a:srgbClr val="1F2A22"/>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If one of them shifts or fails, the Key Result becomes fragile by design.</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4.2a · Stress-Testing Your Key Results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Agree:  </a:t>
            </a:r>
            <a:pPr indent="0" marL="0">
              <a:buNone/>
            </a:pPr>
            <a:r>
              <a:rPr lang="en-US" sz="2600" dirty="0">
                <a:solidFill>
                  <a:srgbClr val="1F2A22"/>
                </a:solidFill>
                <a:latin typeface="Calibri" pitchFamily="34" charset="0"/>
                <a:ea typeface="Calibri" pitchFamily="34" charset="-122"/>
                <a:cs typeface="Calibri" pitchFamily="34" charset="-120"/>
              </a:rPr>
              <a:t>the group agrees each entry</a:t>
            </a:r>
            <a:endParaRPr lang="en-US" sz="26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Scribe:  </a:t>
            </a:r>
            <a:pPr indent="0" marL="0">
              <a:buNone/>
            </a:pPr>
            <a:r>
              <a:rPr lang="en-US" sz="2600" dirty="0">
                <a:solidFill>
                  <a:srgbClr val="1F2A22"/>
                </a:solidFill>
                <a:latin typeface="Calibri" pitchFamily="34" charset="0"/>
                <a:ea typeface="Calibri" pitchFamily="34" charset="-122"/>
                <a:cs typeface="Calibri" pitchFamily="34" charset="-120"/>
              </a:rPr>
              <a:t>one member types the agreed wording</a:t>
            </a:r>
            <a:endParaRPr lang="en-US" sz="26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Own page:  </a:t>
            </a:r>
            <a:pPr indent="0" marL="0">
              <a:buNone/>
            </a:pPr>
            <a:r>
              <a:rPr lang="en-US" sz="2600" dirty="0">
                <a:solidFill>
                  <a:srgbClr val="1F2A22"/>
                </a:solidFill>
                <a:latin typeface="Calibri" pitchFamily="34" charset="0"/>
                <a:ea typeface="Calibri" pitchFamily="34" charset="-122"/>
                <a:cs typeface="Calibri" pitchFamily="34" charset="-120"/>
              </a:rPr>
              <a:t>every member types the agreed entries, in the session or after it</a:t>
            </a:r>
            <a:endParaRPr lang="en-US" sz="2600" dirty="0"/>
          </a:p>
        </p:txBody>
      </p:sp>
      <p:sp>
        <p:nvSpPr>
          <p:cNvPr id="12" name="Shape 7"/>
          <p:cNvSpPr/>
          <p:nvPr/>
        </p:nvSpPr>
        <p:spPr>
          <a:xfrm>
            <a:off x="548640" y="46691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Confirm:  </a:t>
            </a:r>
            <a:pPr indent="0" marL="0">
              <a:buNone/>
            </a:pPr>
            <a:r>
              <a:rPr lang="en-US" sz="2600" dirty="0">
                <a:solidFill>
                  <a:srgbClr val="1F2A22"/>
                </a:solidFill>
                <a:latin typeface="Calibri" pitchFamily="34" charset="0"/>
                <a:ea typeface="Calibri" pitchFamily="34" charset="-122"/>
                <a:cs typeface="Calibri" pitchFamily="34" charset="-120"/>
              </a:rPr>
              <a:t>every Key Result, through the four steps</a:t>
            </a:r>
            <a:endParaRPr lang="en-US" sz="26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This is Capstone work: your confirmed outputs feed your team’s Capstone Blueprint.</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4.2b · Your Key Results: the Four Steps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Define the Arena  </a:t>
            </a:r>
            <a:pPr indent="0" marL="0">
              <a:buNone/>
            </a:pPr>
            <a:r>
              <a:rPr lang="en-US" sz="2400" dirty="0">
                <a:solidFill>
                  <a:srgbClr val="1F2A22"/>
                </a:solidFill>
                <a:latin typeface="Calibri" pitchFamily="34" charset="0"/>
                <a:ea typeface="Calibri" pitchFamily="34" charset="-122"/>
                <a:cs typeface="Calibri" pitchFamily="34" charset="-120"/>
              </a:rPr>
              <a:t>which customer need the Key Result serves</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Understand the Boundaries  </a:t>
            </a:r>
            <a:pPr indent="0" marL="0">
              <a:buNone/>
            </a:pPr>
            <a:r>
              <a:rPr lang="en-US" sz="2400" dirty="0">
                <a:solidFill>
                  <a:srgbClr val="1F2A22"/>
                </a:solidFill>
                <a:latin typeface="Calibri" pitchFamily="34" charset="0"/>
                <a:ea typeface="Calibri" pitchFamily="34" charset="-122"/>
                <a:cs typeface="Calibri" pitchFamily="34" charset="-120"/>
              </a:rPr>
              <a:t>what could slow, restrict or prevent delivery</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See the Competition  </a:t>
            </a:r>
            <a:pPr indent="0" marL="0">
              <a:buNone/>
            </a:pPr>
            <a:r>
              <a:rPr lang="en-US" sz="2400" dirty="0">
                <a:solidFill>
                  <a:srgbClr val="1F2A22"/>
                </a:solidFill>
                <a:latin typeface="Calibri" pitchFamily="34" charset="0"/>
                <a:ea typeface="Calibri" pitchFamily="34" charset="-122"/>
                <a:cs typeface="Calibri" pitchFamily="34" charset="-120"/>
              </a:rPr>
              <a:t>who or what else can give the customer what it delivers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Establish the Value Proposition  </a:t>
            </a:r>
            <a:pPr indent="0" marL="0">
              <a:buNone/>
            </a:pPr>
            <a:r>
              <a:rPr lang="en-US" sz="2400" dirty="0">
                <a:solidFill>
                  <a:srgbClr val="1F2A22"/>
                </a:solidFill>
                <a:latin typeface="Calibri" pitchFamily="34" charset="0"/>
                <a:ea typeface="Calibri" pitchFamily="34" charset="-122"/>
                <a:cs typeface="Calibri" pitchFamily="34" charset="-120"/>
              </a:rPr>
              <a:t>what about it will make customers choose you</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At each step, name what Must Be True.</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realistic strategic failures to diagnose where directional integrity broke down.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Judge which integrity checkpoint would have protected the chosen direction.</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Cause of Death · Match the Breakdown</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Find the illusion</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Choose the investigation question the scenario answers: Familiarity, Exclusion or Complacency.</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 · Find where it sits</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Choose the ABCV checkpoint the illusion hid from leaders: Arena, Boundaries, Competition or Value Proposition.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Four failed strategies. Defuse the mine before it detonates.</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Cause of Death · The Four Mines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The Ghost Ship</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 SaaS platform</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The Ferrari in the Mud</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 leading logistics firm</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The Invisible Disruption</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 financial advisory firm</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The Identity Crisis</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 boutique consulting firm</a:t>
            </a:r>
            <a:endParaRPr lang="en-US" sz="2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pic>
        <p:nvPicPr>
          <p:cNvPr id="3" name="Reflection 5" descr="Closing Commitment: What is one MBT condition your organisation is currently avoiding naming? Why? What will you do about it before your next strategic review?"/>
          <p:cNvPicPr>
            <a:picLocks noChangeAspect="1"/>
          </p:cNvPicPr>
          <p:nvPr/>
        </p:nvPicPr>
        <p:blipFill>
          <a:blip r:embed="rId2"/>
          <a:stretch>
            <a:fillRect/>
          </a:stretch>
        </p:blipFill>
        <p:spPr>
          <a:xfrm>
            <a:off x="1691640" y="1572768"/>
            <a:ext cx="9921240" cy="890368"/>
          </a:xfrm>
          <a:prstGeom prst="rect">
            <a:avLst/>
          </a:prstGeom>
        </p:spPr>
      </p:pic>
      <p:sp>
        <p:nvSpPr>
          <p:cNvPr id="4" name="Part 5"/>
          <p:cNvSpPr/>
          <p:nvPr/>
        </p:nvSpPr>
        <p:spPr>
          <a:xfrm>
            <a:off x="548640" y="15836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5</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Institute of Behavioural Strategy &amp; Leadership</cp:lastModifiedBy>
  <cp:revision>1</cp:revision>
  <dcterms:created xsi:type="dcterms:W3CDTF">2026-10-07T20:39:21Z</dcterms:created>
  <dcterms:modified xsi:type="dcterms:W3CDTF">2026-10-07T20:39:21Z</dcterms:modified>
</cp:coreProperties>
</file>