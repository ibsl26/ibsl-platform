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4" r:id="rId10"/>
    <p:sldId id="262" r:id="rId8"/>
    <p:sldId id="281" r:id="rId32"/>
    <p:sldId id="290" r:id="rId23"/>
    <p:sldId id="286" r:id="rId37"/>
    <p:sldId id="263" r:id="rId9"/>
    <p:sldId id="265" r:id="rId11"/>
    <p:sldId id="266" r:id="rId12"/>
    <p:sldId id="287" r:id="rId38"/>
    <p:sldId id="267" r:id="rId13"/>
    <p:sldId id="268" r:id="rId14"/>
    <p:sldId id="288" r:id="rId39"/>
    <p:sldId id="270" r:id="rId16"/>
    <p:sldId id="271" r:id="rId17"/>
    <p:sldId id="272" r:id="rId18"/>
    <p:sldId id="273" r:id="rId19"/>
    <p:sldId id="282" r:id="rId33"/>
    <p:sldId id="283" r:id="rId34"/>
    <p:sldId id="289" r:id="rId40"/>
    <p:sldId id="274" r:id="rId20"/>
    <p:sldId id="279" r:id="rId25"/>
    <p:sldId id="275" r:id="rId21"/>
    <p:sldId id="284" r:id="rId35"/>
    <p:sldId id="285" r:id="rId36"/>
    <p:sldId id="276" r:id="rId22"/>
    <p:sldId id="278" r:id="rId24"/>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9.xml"/><Relationship Id="rId10" Type="http://schemas.openxmlformats.org/officeDocument/2006/relationships/slide" Target="slides/slide10.xml"/><Relationship Id="rId11" Type="http://schemas.openxmlformats.org/officeDocument/2006/relationships/slide" Target="slides/slide11.xml"/><Relationship Id="rId12" Type="http://schemas.openxmlformats.org/officeDocument/2006/relationships/slide" Target="slides/slide12.xml"/><Relationship Id="rId13" Type="http://schemas.openxmlformats.org/officeDocument/2006/relationships/slide" Target="slides/slide14.xml"/><Relationship Id="rId14" Type="http://schemas.openxmlformats.org/officeDocument/2006/relationships/slide" Target="slides/slide15.xml"/><Relationship Id="rId16" Type="http://schemas.openxmlformats.org/officeDocument/2006/relationships/slide" Target="slides/slide17.xml"/><Relationship Id="rId17" Type="http://schemas.openxmlformats.org/officeDocument/2006/relationships/slide" Target="slides/slide18.xml"/><Relationship Id="rId18" Type="http://schemas.openxmlformats.org/officeDocument/2006/relationships/slide" Target="slides/slide19.xml"/><Relationship Id="rId19" Type="http://schemas.openxmlformats.org/officeDocument/2006/relationships/slide" Target="slides/slide20.xml"/><Relationship Id="rId20" Type="http://schemas.openxmlformats.org/officeDocument/2006/relationships/slide" Target="slides/slide24.xml"/><Relationship Id="rId21" Type="http://schemas.openxmlformats.org/officeDocument/2006/relationships/slide" Target="slides/slide26.xml"/><Relationship Id="rId22" Type="http://schemas.openxmlformats.org/officeDocument/2006/relationships/slide" Target="slides/slide29.xml"/><Relationship Id="rId23" Type="http://schemas.openxmlformats.org/officeDocument/2006/relationships/slide" Target="slides/slide32.xml"/><Relationship Id="rId24" Type="http://schemas.openxmlformats.org/officeDocument/2006/relationships/slide" Target="slides/slide30.xml"/><Relationship Id="rId25" Type="http://schemas.openxmlformats.org/officeDocument/2006/relationships/slide" Target="slides/slide25.xml"/><Relationship Id="rId26" Type="http://schemas.openxmlformats.org/officeDocument/2006/relationships/slide" Target="slides/slide31.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openxmlformats.org/officeDocument/2006/relationships/slide" Target="slides/slide7.xml"/><Relationship Id="rId33" Type="http://schemas.openxmlformats.org/officeDocument/2006/relationships/slide" Target="slides/slide21.xml"/><Relationship Id="rId34" Type="http://schemas.openxmlformats.org/officeDocument/2006/relationships/slide" Target="slides/slide22.xml"/><Relationship Id="rId35" Type="http://schemas.openxmlformats.org/officeDocument/2006/relationships/slide" Target="slides/slide27.xml"/><Relationship Id="rId36" Type="http://schemas.openxmlformats.org/officeDocument/2006/relationships/slide" Target="slides/slide28.xml"/><Relationship Id="rId37" Type="http://schemas.openxmlformats.org/officeDocument/2006/relationships/slide" Target="slides/slide8.xml"/><Relationship Id="rId38" Type="http://schemas.openxmlformats.org/officeDocument/2006/relationships/slide" Target="slides/slide13.xml"/><Relationship Id="rId39" Type="http://schemas.openxmlformats.org/officeDocument/2006/relationships/slide" Target="slides/slide16.xml"/><Relationship Id="rId40"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UNIT 9 · STRATEGIC UNCLOGGING</a:t>
            </a:r>
          </a:p>
          <a:p>
            <a:endParaRPr lang="en-GB"/>
          </a:p>
          <a:p>
            <a:r>
              <a:rPr lang="en-GB"/>
              <a:t>Content:</a:t>
            </a:r>
          </a:p>
          <a:p>
            <a:r>
              <a:rPr lang="en-GB"/>
              <a:t>Module 3 · Influence · Unit 9</a:t>
            </a:r>
          </a:p>
          <a:p>
            <a:endParaRPr lang="en-GB"/>
          </a:p>
          <a:p>
            <a:r>
              <a:rPr lang="en-GB"/>
              <a:t>Unit intent (Facilitator Guide):</a:t>
            </a:r>
          </a:p>
          <a:p>
            <a:endParaRPr lang="en-GB"/>
          </a:p>
          <a:p>
            <a:r>
              <a:rPr lang="en-GB"/>
              <a:t>Unit overview (facilitator file): When strategy stalls, the failure usually sits in the system that carries the plan. This unit equips leaders to diagnose the blockages preventing strategic intent from flowing into real-world execution — and to intervene with precision using the 7 Strategic Unclogging Levers.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LEARNING OUTCOMES (identical in the participant and facilitator files)
1. Diagnose systemic constraints in people and organisational performance that impede strategy delivery.
2. Differentiate visible performance symptoms from underlying causes to target intervention.
3. Evaluate and resolve interdependent enterprise conditions contributing to stalled performance.
4. Mobilise coordinated organisational responses that restore strategic coherence and momentum.
Each section slide carries that section’s two learning outcomes.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FACILITATOR GUIDE · SESSION OVERVIEW</a:t>
            </a:r>
          </a:p>
          <a:p>
            <a:endParaRPr lang="en-GB"/>
          </a:p>
          <a:p>
            <a:r>
              <a:rPr lang="en-GB"/>
              <a:t>Content:</a:t>
            </a:r>
          </a:p>
          <a:p>
            <a:r>
              <a:rPr lang="en-GB"/>
              <a:t>Key Facilitation Questions</a:t>
            </a:r>
          </a:p>
          <a:p>
            <a:endParaRPr lang="en-GB"/>
          </a:p>
          <a:p>
            <a:r>
              <a:rPr lang="en-GB"/>
              <a:t>Tone &amp; Watch Points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1 · AWARENESS — WHAT</a:t>
            </a:r>
          </a:p>
          <a:p>
            <a:endParaRPr lang="en-GB"/>
          </a:p>
          <a:p>
            <a:r>
              <a:rPr lang="en-GB"/>
              <a:t>TEACHING NOTES:</a:t>
            </a:r>
          </a:p>
          <a:p>
            <a:r>
              <a:rPr lang="en-GB"/>
              <a:t>The central reframe: a clog is a signal. Clogs are evidence that organisational performance and people performance have not yet adapted to the strategy. Leaders who understand this stop asking "Why are we failing?" and start asking "Where are our people and our organisational conditions not yet ready to carry the strategy?"</a:t>
            </a:r>
          </a:p>
          <a:p>
            <a:r>
              <a:rPr lang="en-GB"/>
              <a:t>1.1 · Build the case before the two sides: the strategy is clear, KPIs are with individuals and teams, the organisational conditions are agreed, and still a Key Result stops moving. Name that as a Strategic Clog, teach the four ABCV elements, then where clogs form: in the tasks individuals execute and in the organisational conditions around them.</a:t>
            </a:r>
          </a:p>
          <a:p>
            <a:r>
              <a:rPr lang="en-GB"/>
              <a:t>1.2 · Teach the two dimensions of performance first. Then open the seven clogs one card at a time: the system reality, the contribution reality, the patterns, the early warnings, the impact and the diagnostic question. Close with the ABCV connection, the three lines of sight and the customer service example.</a:t>
            </a:r>
          </a:p>
          <a:p>
            <a:endParaRPr lang="en-GB"/>
          </a:p>
          <a:p>
            <a:r>
              <a:rPr lang="en-GB"/>
              <a:t>Content:</a:t>
            </a:r>
          </a:p>
          <a:p>
            <a:r>
              <a:rPr lang="en-GB"/>
              <a:t>What is a Strategic Clog?</a:t>
            </a:r>
          </a:p>
          <a:p>
            <a:r>
              <a:rPr lang="en-GB"/>
              <a:t>Naming the internal blockages that prevent strategic intent from flowing into execution — and introducing the 7-clog diagnostic map aligned to ABCV Directional Integrity.</a:t>
            </a:r>
          </a:p>
          <a:p>
            <a:endParaRPr lang="en-GB"/>
          </a:p>
          <a:p>
            <a:r>
              <a:rPr lang="en-GB"/>
              <a:t>Section learning outcomes:</a:t>
            </a:r>
          </a:p>
          <a:p>
            <a:r>
              <a:rPr lang="en-GB"/>
              <a:t>1. Diagnose systemic blockages between strategic intent and execution.</a:t>
            </a:r>
          </a:p>
          <a:p>
            <a:r>
              <a:rPr lang="en-GB"/>
              <a:t>2. Interpret early friction signals to locate constraints in people and organisational conditions.</a:t>
            </a:r>
          </a:p>
          <a:p>
            <a:endParaRPr lang="en-GB"/>
          </a:p>
          <a:p>
            <a:r>
              <a:rPr lang="en-GB"/>
              <a:t>Source detail (S2R® manuscript):</a:t>
            </a:r>
          </a:p>
          <a:p>
            <a:endParaRPr lang="en-GB"/>
          </a:p>
          <a:p>
            <a:r>
              <a:rPr lang="en-GB"/>
              <a:t>Facilitator script (closing lines): The friction may well be a failure of flow while the strategy itself holds. When the “what” and the “why” are settled and the “how” remains erratic, the leadership team is facing an organisational blockage.</a:t>
            </a:r>
          </a:p>
          <a:p>
            <a:endParaRPr lang="en-GB"/>
          </a:p>
          <a:p>
            <a:r>
              <a:rPr lang="en-GB"/>
              <a:t>Professional insights:</a:t>
            </a:r>
          </a:p>
          <a:p>
            <a:endParaRPr lang="en-GB"/>
          </a:p>
          <a:p>
            <a:r>
              <a:rPr lang="en-GB"/>
              <a:t>Symptom and root: Suppressing a crisis leaves its cause in place, and an organisation that treats the end of one disruption as stability will be caught off guard by the next. Diagnose and resolve the root condition; putting down the symptom only sets the timer on its recurrence.</a:t>
            </a:r>
          </a:p>
          <a:p>
            <a:r>
              <a:rPr lang="en-GB"/>
              <a:t>Source: Journal, 1 June 2026 — Professional Insights: Strategy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1.1 — WHAT IS A STRATEGIC CLOG? (Core concept)</a:t>
            </a:r>
          </a:p>
          <a:p>
            <a:endParaRPr lang="en-GB"/>
          </a:p>
          <a:p>
            <a:r>
              <a:rPr lang="en-GB"/>
              <a:t>Content:</a:t>
            </a:r>
          </a:p>
          <a:p>
            <a:r>
              <a:rPr lang="en-GB"/>
              <a:t>At this point, the strategy is clear. Objectives are defined. Performance expectations are in motion. Each Key Result has been translated into KPIs that individuals and teams deliver. Leaders have agreed the organisational conditions that support the execution of those individuals’ tasks. A rhythm of review tracks the progress of both.</a:t>
            </a:r>
          </a:p>
          <a:p>
            <a:r>
              <a:rPr lang="en-GB"/>
              <a:t>Then the gears begin grinding.</a:t>
            </a:r>
          </a:p>
          <a:p>
            <a:r>
              <a:rPr lang="en-GB"/>
              <a:t>Progress slows on a Key Result that everyone supports. Reviews record effort, explanations and revised dates, and the result does not move. The plan still stands. What holds it back is a Strategic Clog.</a:t>
            </a:r>
          </a:p>
          <a:p>
            <a:r>
              <a:rPr lang="en-GB"/>
              <a:t>At its simplest, a Strategic Clog is an internal blockage that prevents strategic intent from flowing into real-world execution. It is the widening gap between what we said we would do and what is actually happening. These are fundamental misalignments where the organisation’s current state — its habits, its structures, its very DNA — works actively against its future goals.</a:t>
            </a:r>
          </a:p>
          <a:p>
            <a:r>
              <a:rPr lang="en-GB"/>
              <a:t>Strategy sets the destination. Flow determines whether you have the power to arrive.</a:t>
            </a:r>
          </a:p>
          <a:p>
            <a:r>
              <a:rPr lang="en-GB"/>
              <a:t>To navigate this phase of the execution climb, leadership must evolve. Designing the strategy starts the work. The role of the leadership team is to become Engineers of Execution Flow — developing the diagnostic eyes to detect clogs early, before they compound into stalled momentum or declining performance.</a:t>
            </a:r>
          </a:p>
          <a:p>
            <a:r>
              <a:rPr lang="en-GB"/>
              <a:t>Every clog interferes with one or more elements of ABCV Directional Integrity:</a:t>
            </a:r>
          </a:p>
          <a:p>
            <a:r>
              <a:rPr lang="en-GB"/>
              <a:t>Arena — clarity of the problem space and customer end-game</a:t>
            </a:r>
          </a:p>
          <a:p>
            <a:r>
              <a:rPr lang="en-GB"/>
              <a:t>Boundaries — structural, operational, and regulatory constraints</a:t>
            </a:r>
          </a:p>
          <a:p>
            <a:r>
              <a:rPr lang="en-GB"/>
              <a:t>Competition — how the organisation defines alternatives and threats</a:t>
            </a:r>
          </a:p>
          <a:p>
            <a:r>
              <a:rPr lang="en-GB"/>
              <a:t>Value Proposition — how the organisation creates distinct value</a:t>
            </a:r>
          </a:p>
          <a:p>
            <a:r>
              <a:rPr lang="en-GB"/>
              <a:t>When execution is clogged, strategy loses directional integrity — gradually and silently.</a:t>
            </a:r>
          </a:p>
          <a:p>
            <a:r>
              <a:rPr lang="en-GB"/>
              <a:t>System Logic: A clog acts like a pressure distortion point in the system. It redirects effort away from intended outcomes, weakens coherence across functions, and creates misinterpretation of strategic intent.</a:t>
            </a:r>
          </a:p>
          <a:p>
            <a:r>
              <a:rPr lang="en-GB"/>
              <a:t>Where clogs form</a:t>
            </a:r>
          </a:p>
          <a:p>
            <a:r>
              <a:rPr lang="en-GB"/>
              <a:t>Strategic intent reaches the Key Result through the tasks that individuals and teams execute. Those tasks depend on the organisational conditions around them. These conditions are the Environment, Systems, Resources and Governance (ESRG): the environment people work in, the systems they rely on, the resources they are given and the governance that guides decisions. A clog can form in either, and it usually acts on both.</a:t>
            </a:r>
          </a:p>
          <a:p>
            <a:r>
              <a:rPr lang="en-GB"/>
              <a:t>People performance</a:t>
            </a:r>
          </a:p>
          <a:p>
            <a:r>
              <a:rPr lang="en-GB"/>
              <a:t>A clog shows in the performance of individuals and teams. Decisions wait, effort pulls in different directions, and tasks are completed while the KPI holds still. The review sees this first, because the individuals’ numbers are reviewed.</a:t>
            </a:r>
          </a:p>
          <a:p>
            <a:r>
              <a:rPr lang="en-GB"/>
              <a:t>Organisational performance</a:t>
            </a:r>
          </a:p>
          <a:p>
            <a:r>
              <a:rPr lang="en-GB"/>
              <a:t>A clog shows when the organisational conditions no longer support the execution of the individuals’ tasks, as the strategy places new weight on them. Organisational performance seldom carries a number of its own, so it stays unseen until leaders ask for it.</a:t>
            </a:r>
          </a:p>
          <a:p>
            <a:endParaRPr lang="en-GB"/>
          </a:p>
          <a:p>
            <a:r>
              <a:rPr lang="en-GB"/>
              <a:t>Participant file — what participants complete:</a:t>
            </a:r>
          </a:p>
          <a:p>
            <a:r>
              <a:rPr lang="en-GB"/>
              <a:t>- ✎ Reflection — Strategic Clog in Your Organisation — Think of a strategy initiative that stalled in your organisation. Was the plan wrong, or was something in the system blocking its flow? What was the blockage? Could it have been named earlier? Which organisational condition did the individuals’ tasks depend on, and did it support their execution?</a:t>
            </a:r>
          </a:p>
          <a:p>
            <a:endParaRPr lang="en-GB"/>
          </a:p>
          <a:p>
            <a:r>
              <a:rPr lang="en-GB"/>
              <a:t>Source detail (S2R® manuscript):</a:t>
            </a:r>
          </a:p>
          <a:p>
            <a:endParaRPr lang="en-GB"/>
          </a:p>
          <a:p>
            <a:r>
              <a:rPr lang="en-GB"/>
              <a:t>Scale of a clog: Clogs go well beyond minor inconveniences or “growing pains”.</a:t>
            </a:r>
          </a:p>
          <a:p>
            <a:r>
              <a:rPr lang="en-GB"/>
              <a:t>Why detection takes diagnostic “eyes”: When execution is clogged, strategy does not fail visibly.</a:t>
            </a:r>
          </a:p>
          <a:p>
            <a:endParaRPr lang="en-GB"/>
          </a:p>
          <a:p>
            <a:r>
              <a:rPr lang="en-GB"/>
              <a:t>Professional insights:</a:t>
            </a:r>
          </a:p>
          <a:p>
            <a:endParaRPr lang="en-GB"/>
          </a:p>
          <a:p>
            <a:r>
              <a:rPr lang="en-GB"/>
              <a:t>Looking at the source: Organisations that look away from what went wrong delay the examination until the cost is higher. Look directly at what is causing the damage and stop managing the distance from it.</a:t>
            </a:r>
          </a:p>
          <a:p>
            <a:r>
              <a:rPr lang="en-GB"/>
              <a:t>Source: Journal, 11 March 2026 — Professional Insights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1.3 — THE SEVEN PERFORMANCE CLOGS (ABCV-aligned · Select each clog to explore)</a:t>
            </a:r>
          </a:p>
          <a:p>
            <a:endParaRPr lang="en-GB"/>
          </a:p>
          <a:p>
            <a:r>
              <a:rPr lang="en-GB"/>
              <a:t>TEACHING NOTES:</a:t>
            </a:r>
          </a:p>
          <a:p>
            <a:r>
              <a:rPr lang="en-GB"/>
              <a:t>1.3 · Teach the seven clogs one card at a time.</a:t>
            </a:r>
          </a:p>
          <a:p>
            <a:endParaRPr lang="en-GB"/>
          </a:p>
          <a:p>
            <a:r>
              <a:rPr lang="en-GB"/>
              <a:t>Content:</a:t>
            </a:r>
          </a:p>
          <a:p>
            <a:r>
              <a:rPr lang="en-GB"/>
              <a:t>Participants select each clog to examine its organisational conditions, effects on people, observable patterns, early warnings and strategic consequences.</a:t>
            </a:r>
          </a:p>
          <a:p>
            <a:r>
              <a:rPr lang="en-GB"/>
              <a:t>Clog 01</a:t>
            </a:r>
          </a:p>
          <a:p>
            <a:r>
              <a:rPr lang="en-GB"/>
              <a:t>Structural Misfit</a:t>
            </a:r>
          </a:p>
          <a:p>
            <a:r>
              <a:rPr lang="en-GB"/>
              <a:t>Boundaries▼</a:t>
            </a:r>
          </a:p>
          <a:p>
            <a:r>
              <a:rPr lang="en-GB"/>
              <a:t>Organisational performance · System reality</a:t>
            </a:r>
          </a:p>
          <a:p>
            <a:r>
              <a:rPr lang="en-GB"/>
              <a:t>The organisational design no longer supports the work required by the strategy. Roles, reporting relationships, governance arrangements, accountability boundaries and functional interfaces may still reflect earlier business priorities. Work requiring integrated contributions is divided across departments without sufficient coordination or shared ownership.</a:t>
            </a:r>
          </a:p>
          <a:p>
            <a:r>
              <a:rPr lang="en-GB"/>
              <a:t>People performance · Contribution reality</a:t>
            </a:r>
          </a:p>
          <a:p>
            <a:r>
              <a:rPr lang="en-GB"/>
              <a:t>Employees may understand their individual responsibilities but struggle to see how their contributions connect to the enterprise outcome. Managers can become protective of functional territory, while teams experience competing instructions and repeated handoffs. Performance suffers when people are held accountable for outcomes they cannot deliver without decisions or inputs controlled elsewhere.</a:t>
            </a:r>
          </a:p>
          <a:p>
            <a:r>
              <a:rPr lang="en-GB"/>
              <a:t>Observable performance patterns</a:t>
            </a:r>
          </a:p>
          <a:p>
            <a:r>
              <a:rPr lang="en-GB"/>
              <a:t>Duplication of work across functions</a:t>
            </a:r>
          </a:p>
          <a:p>
            <a:r>
              <a:rPr lang="en-GB"/>
              <a:t>Repeated bottlenecks at functional handoffs</a:t>
            </a:r>
          </a:p>
          <a:p>
            <a:r>
              <a:rPr lang="en-GB"/>
              <a:t>Fragmented ownership of strategic outcomes</a:t>
            </a:r>
          </a:p>
          <a:p>
            <a:r>
              <a:rPr lang="en-GB"/>
              <a:t>Front-office and back-office coordination failures</a:t>
            </a:r>
          </a:p>
          <a:p>
            <a:r>
              <a:rPr lang="en-GB"/>
              <a:t>Conflicting priorities between departments</a:t>
            </a:r>
          </a:p>
          <a:p>
            <a:r>
              <a:rPr lang="en-GB"/>
              <a:t>Early warning signals</a:t>
            </a:r>
          </a:p>
          <a:p>
            <a:r>
              <a:rPr lang="en-GB"/>
              <a:t>Increasing time spent coordinating routine work</a:t>
            </a:r>
          </a:p>
          <a:p>
            <a:r>
              <a:rPr lang="en-GB"/>
              <a:t>Greater dependence on informal relationships and workarounds</a:t>
            </a:r>
          </a:p>
          <a:p>
            <a:r>
              <a:rPr lang="en-GB"/>
              <a:t>Repeated escalation of cross-functional disagreements</a:t>
            </a:r>
          </a:p>
          <a:p>
            <a:r>
              <a:rPr lang="en-GB"/>
              <a:t>Performance gaps concentrated at handoff points</a:t>
            </a:r>
          </a:p>
          <a:p>
            <a:r>
              <a:rPr lang="en-GB"/>
              <a:t>Strategic impact: Resources and effort are absorbed by internal friction. Individuals may achieve their functional targets while enterprise outcomes remain weak. The organisation loses the ability to coordinate delivery across its full value chain.</a:t>
            </a:r>
          </a:p>
          <a:p>
            <a:r>
              <a:rPr lang="en-GB"/>
              <a:t>Diagnostic question: Are results being constrained by how responsibilities, authority and work are organised?</a:t>
            </a:r>
          </a:p>
          <a:p>
            <a:r>
              <a:rPr lang="en-GB"/>
              <a:t>Worked example</a:t>
            </a:r>
          </a:p>
          <a:p>
            <a:r>
              <a:rPr lang="en-GB"/>
              <a:t>A customer service team is measured on response time, but it depends on operations and finance to resolve enquiries. No function owns the complete customer-resolution outcome. Staff work hard, yet customer complaints continue.</a:t>
            </a:r>
          </a:p>
          <a:p>
            <a:r>
              <a:rPr lang="en-GB"/>
              <a:t>Clog 02</a:t>
            </a:r>
          </a:p>
          <a:p>
            <a:r>
              <a:rPr lang="en-GB"/>
              <a:t>Capability Gaps</a:t>
            </a:r>
          </a:p>
          <a:p>
            <a:r>
              <a:rPr lang="en-GB"/>
              <a:t>Arena▼</a:t>
            </a:r>
          </a:p>
          <a:p>
            <a:r>
              <a:rPr lang="en-GB"/>
              <a:t>Organisational performance · System reality</a:t>
            </a:r>
          </a:p>
          <a:p>
            <a:r>
              <a:rPr lang="en-GB"/>
              <a:t>The organisation lacks, or has uneven access to, the capabilities required to succeed in its chosen strategic arena. Gaps may involve technical expertise, management capacity, specialised equipment, operating processes, digital competence, partnerships, funding or the ability to scale. Existing capabilities may support current operations but remain insufficient for the new strategic ambition.</a:t>
            </a:r>
          </a:p>
          <a:p>
            <a:r>
              <a:rPr lang="en-GB"/>
              <a:t>People performance · Contribution reality</a:t>
            </a:r>
          </a:p>
          <a:p>
            <a:r>
              <a:rPr lang="en-GB"/>
              <a:t>Individuals may lack the skills, experience, knowledge, tools or support needed to meet new performance expectations. Others may possess strong capabilities but be deployed in roles that underuse them. Repeated reliance on a few specialists creates overload and makes delivery vulnerable. Without adequate development and support, employees can lose confidence, improvise unsuitable methods or avoid unfamiliar tasks.</a:t>
            </a:r>
          </a:p>
          <a:p>
            <a:r>
              <a:rPr lang="en-GB"/>
              <a:t>Observable performance patterns</a:t>
            </a:r>
          </a:p>
          <a:p>
            <a:r>
              <a:rPr lang="en-GB"/>
              <a:t>Strategic initiatives stall despite clear objectives</a:t>
            </a:r>
          </a:p>
          <a:p>
            <a:r>
              <a:rPr lang="en-GB"/>
              <a:t>Repeated rework and inconsistent quality</a:t>
            </a:r>
          </a:p>
          <a:p>
            <a:r>
              <a:rPr lang="en-GB"/>
              <a:t>Critical work depends on a small number of specialists</a:t>
            </a:r>
          </a:p>
          <a:p>
            <a:r>
              <a:rPr lang="en-GB"/>
              <a:t>Similar teams produce widely different performance results</a:t>
            </a:r>
          </a:p>
          <a:p>
            <a:r>
              <a:rPr lang="en-GB"/>
              <a:t>Outsourcing becomes necessary for strategically essential work</a:t>
            </a:r>
          </a:p>
          <a:p>
            <a:r>
              <a:rPr lang="en-GB"/>
              <a:t>Early warning signals</a:t>
            </a:r>
          </a:p>
          <a:p>
            <a:r>
              <a:rPr lang="en-GB"/>
              <a:t>Training needs persist across several review cycles</a:t>
            </a:r>
          </a:p>
          <a:p>
            <a:r>
              <a:rPr lang="en-GB"/>
              <a:t>Key employees carry unsustainable workloads</a:t>
            </a:r>
          </a:p>
          <a:p>
            <a:r>
              <a:rPr lang="en-GB"/>
              <a:t>New initiatives repeatedly miss readiness milestones</a:t>
            </a:r>
          </a:p>
          <a:p>
            <a:r>
              <a:rPr lang="en-GB"/>
              <a:t>Capability gaps emerge when operations expand</a:t>
            </a:r>
          </a:p>
          <a:p>
            <a:r>
              <a:rPr lang="en-GB"/>
              <a:t>Strategic impact: The enterprise cannot consistently deliver the value promised by its strategic positioning. People face expectations that exceed available capability, and the organisation struggles to compete, scale or sustain improved results.</a:t>
            </a:r>
          </a:p>
          <a:p>
            <a:r>
              <a:rPr lang="en-GB"/>
              <a:t>Diagnostic question: Does the organisation possess and deploy the capabilities necessary to operate successfully in its chosen arena?</a:t>
            </a:r>
          </a:p>
          <a:p>
            <a:r>
              <a:rPr lang="en-GB"/>
              <a:t>Worked example</a:t>
            </a:r>
          </a:p>
          <a:p>
            <a:r>
              <a:rPr lang="en-GB"/>
              <a:t>A healthcare provider introduces a digital patient-care model, but staff lack the necessary digital skills and the organisation has insufficient technical support. Service quality varies, adoption slows and employees become frustrated.</a:t>
            </a:r>
          </a:p>
          <a:p>
            <a:r>
              <a:rPr lang="en-GB"/>
              <a:t>Clog 03</a:t>
            </a:r>
          </a:p>
          <a:p>
            <a:r>
              <a:rPr lang="en-GB"/>
              <a:t>Decision Bottlenecks</a:t>
            </a:r>
          </a:p>
          <a:p>
            <a:r>
              <a:rPr lang="en-GB"/>
              <a:t>Boundaries▼</a:t>
            </a:r>
          </a:p>
          <a:p>
            <a:r>
              <a:rPr lang="en-GB"/>
              <a:t>Organisational performance · System reality</a:t>
            </a:r>
          </a:p>
          <a:p>
            <a:r>
              <a:rPr lang="en-GB"/>
              <a:t>Decision rights, delegation limits, approval processes or governance layers prevent decisions from being made at the appropriate level and speed. Authority is concentrated away from the people closest to the relevant information or delivery responsibility. Escalation processes do not consistently distinguish strategic decisions from routine operational decisions.</a:t>
            </a:r>
          </a:p>
          <a:p>
            <a:r>
              <a:rPr lang="en-GB"/>
              <a:t>People performance · Contribution reality</a:t>
            </a:r>
          </a:p>
          <a:p>
            <a:r>
              <a:rPr lang="en-GB"/>
              <a:t>Managers become hesitant to exercise judgement because they are uncertain about their authority or fear being blamed for decisions. Teams learn to seek approval for matters they could reasonably resolve. Senior leaders become overloaded, while middle managers lose initiative and confidence. Accountability becomes difficult to enforce where responsibility is assigned without corresponding authority.</a:t>
            </a:r>
          </a:p>
          <a:p>
            <a:r>
              <a:rPr lang="en-GB"/>
              <a:t>Observable performance patterns</a:t>
            </a:r>
          </a:p>
          <a:p>
            <a:r>
              <a:rPr lang="en-GB"/>
              <a:t>Routine matters repeatedly require senior approval</a:t>
            </a:r>
          </a:p>
          <a:p>
            <a:r>
              <a:rPr lang="en-GB"/>
              <a:t>Decisions return to meetings without resolution</a:t>
            </a:r>
          </a:p>
          <a:p>
            <a:r>
              <a:rPr lang="en-GB"/>
              <a:t>Project teams wait for sign-off before proceeding</a:t>
            </a:r>
          </a:p>
          <a:p>
            <a:r>
              <a:rPr lang="en-GB"/>
              <a:t>Managers avoid taking ownership of reasonable decisions</a:t>
            </a:r>
          </a:p>
          <a:p>
            <a:r>
              <a:rPr lang="en-GB"/>
              <a:t>Senior executives become involved in minor operational matters</a:t>
            </a:r>
          </a:p>
          <a:p>
            <a:r>
              <a:rPr lang="en-GB"/>
              <a:t>Early warning signals</a:t>
            </a:r>
          </a:p>
          <a:p>
            <a:r>
              <a:rPr lang="en-GB"/>
              <a:t>Increasing decision turnaround times</a:t>
            </a:r>
          </a:p>
          <a:p>
            <a:r>
              <a:rPr lang="en-GB"/>
              <a:t>Growing queues of unresolved approvals</a:t>
            </a:r>
          </a:p>
          <a:p>
            <a:r>
              <a:rPr lang="en-GB"/>
              <a:t>Recurring agenda items without closure</a:t>
            </a:r>
          </a:p>
          <a:p>
            <a:r>
              <a:rPr lang="en-GB"/>
              <a:t>Teams repeatedly report that they are waiting for a decision</a:t>
            </a:r>
          </a:p>
          <a:p>
            <a:r>
              <a:rPr lang="en-GB"/>
              <a:t>Strategic impact: Execution velocity slows because work cannot progress at the speed required. Employees lose ownership, management capacity is consumed by avoidable escalation, and the organisation becomes less responsive to customers and environmental changes.</a:t>
            </a:r>
          </a:p>
          <a:p>
            <a:r>
              <a:rPr lang="en-GB"/>
              <a:t>Diagnostic question: Are decisions being made by the right people, with sufficient authority, information and speed?</a:t>
            </a:r>
          </a:p>
          <a:p>
            <a:r>
              <a:rPr lang="en-GB"/>
              <a:t>Worked example</a:t>
            </a:r>
          </a:p>
          <a:p>
            <a:r>
              <a:rPr lang="en-GB"/>
              <a:t>A branch manager identifies a service problem but cannot approve a small process adjustment without head-office authorisation. The delay affects customers, although the branch has the knowledge and resources to respond.</a:t>
            </a:r>
          </a:p>
          <a:p>
            <a:r>
              <a:rPr lang="en-GB"/>
              <a:t>Clog 04</a:t>
            </a:r>
          </a:p>
          <a:p>
            <a:r>
              <a:rPr lang="en-GB"/>
              <a:t>Misaligned Metrics &amp; Incentives</a:t>
            </a:r>
          </a:p>
          <a:p>
            <a:r>
              <a:rPr lang="en-GB"/>
              <a:t>Value Proposition▼</a:t>
            </a:r>
          </a:p>
          <a:p>
            <a:r>
              <a:rPr lang="en-GB"/>
              <a:t>Organisational performance · System reality</a:t>
            </a:r>
          </a:p>
          <a:p>
            <a:r>
              <a:rPr lang="en-GB"/>
              <a:t>The performance management system measures, rewards or reinforces activities that do not adequately reflect the strategic value the organisation intends to deliver. Functional scorecards may remain unchanged after strategic priorities shift. Individual and departmental targets can encourage local optimisation while enterprise-wide outcomes deteriorate.</a:t>
            </a:r>
          </a:p>
          <a:p>
            <a:r>
              <a:rPr lang="en-GB"/>
              <a:t>People performance · Contribution reality</a:t>
            </a:r>
          </a:p>
          <a:p>
            <a:r>
              <a:rPr lang="en-GB"/>
              <a:t>Employees naturally pay attention to the outcomes for which they are evaluated, recognised or rewarded. When metrics are poorly aligned, people may prioritise target achievement over customer value, collaboration, quality or sustainable results. Even committed employees face tension when doing what is strategically necessary threatens their formal performance rating.</a:t>
            </a:r>
          </a:p>
          <a:p>
            <a:r>
              <a:rPr lang="en-GB"/>
              <a:t>Observable performance patterns</a:t>
            </a:r>
          </a:p>
          <a:p>
            <a:r>
              <a:rPr lang="en-GB"/>
              <a:t>Strong departmental KPI scores coexist with disappointing enterprise results</a:t>
            </a:r>
          </a:p>
          <a:p>
            <a:r>
              <a:rPr lang="en-GB"/>
              <a:t>Teams protect their own targets at the expense of shared outcomes</a:t>
            </a:r>
          </a:p>
          <a:p>
            <a:r>
              <a:rPr lang="en-GB"/>
              <a:t>Employees focus on measurable volume at the expense of quality or value</a:t>
            </a:r>
          </a:p>
          <a:p>
            <a:r>
              <a:rPr lang="en-GB"/>
              <a:t>Performance discussions concentrate on score achievement without examining contribution</a:t>
            </a:r>
          </a:p>
          <a:p>
            <a:r>
              <a:rPr lang="en-GB"/>
              <a:t>Incentives discourage collaboration or long-term improvement</a:t>
            </a:r>
          </a:p>
          <a:p>
            <a:r>
              <a:rPr lang="en-GB"/>
              <a:t>Early warning signals</a:t>
            </a:r>
          </a:p>
          <a:p>
            <a:r>
              <a:rPr lang="en-GB"/>
              <a:t>Reported performance improves while customer outcomes deteriorate</a:t>
            </a:r>
          </a:p>
          <a:p>
            <a:r>
              <a:rPr lang="en-GB"/>
              <a:t>Departments present contradictory accounts of success</a:t>
            </a:r>
          </a:p>
          <a:p>
            <a:r>
              <a:rPr lang="en-GB"/>
              <a:t>Targets are achieved through reclassification or selective reporting</a:t>
            </a:r>
          </a:p>
          <a:p>
            <a:r>
              <a:rPr lang="en-GB"/>
              <a:t>Employees question why strategically valuable work receives little recognition</a:t>
            </a:r>
          </a:p>
          <a:p>
            <a:r>
              <a:rPr lang="en-GB"/>
              <a:t>Strategic impact: The enterprise generates measurable activity without achieving the intended value proposition. Performance systems unintentionally reinforce behaviours that undermine the strategy, reducing both organisational effectiveness and the integrity of individual accountability.</a:t>
            </a:r>
          </a:p>
          <a:p>
            <a:r>
              <a:rPr lang="en-GB"/>
              <a:t>Diagnostic question: Are people being measured and rewarded for contributions that genuinely produce the intended strategic value?</a:t>
            </a:r>
          </a:p>
          <a:p>
            <a:r>
              <a:rPr lang="en-GB"/>
              <a:t>Worked example</a:t>
            </a:r>
          </a:p>
          <a:p>
            <a:r>
              <a:rPr lang="en-GB"/>
              <a:t>A customer contact centre rewards agents for the number of calls completed. Agents shorten conversations to meet targets, but repeat calls increase and customer satisfaction falls.</a:t>
            </a:r>
          </a:p>
          <a:p>
            <a:r>
              <a:rPr lang="en-GB"/>
              <a:t>Clog 05</a:t>
            </a:r>
          </a:p>
          <a:p>
            <a:r>
              <a:rPr lang="en-GB"/>
              <a:t>Cultural Resistance</a:t>
            </a:r>
          </a:p>
          <a:p>
            <a:r>
              <a:rPr lang="en-GB"/>
              <a:t>Value Proposition▼</a:t>
            </a:r>
          </a:p>
          <a:p>
            <a:r>
              <a:rPr lang="en-GB"/>
              <a:t>Organisational performance · System reality</a:t>
            </a:r>
          </a:p>
          <a:p>
            <a:r>
              <a:rPr lang="en-GB"/>
              <a:t>Established norms, shared assumptions, informal rules and everyday practices do not support the behavioural changes required by the strategy. The formal strategy may demand collaboration, experimentation, customer responsiveness or accountability, while the prevailing culture reinforces hierarchy, risk avoidance, silence or functional protection.</a:t>
            </a:r>
          </a:p>
          <a:p>
            <a:r>
              <a:rPr lang="en-GB"/>
              <a:t>People performance · Contribution reality</a:t>
            </a:r>
          </a:p>
          <a:p>
            <a:r>
              <a:rPr lang="en-GB"/>
              <a:t>Individuals interpret the strategy through previous experiences and the behaviours they observe being rewarded or tolerated. Employees may understand the new direction but hesitate to adopt it because they do not trust its sustainability, feel unsafe challenging established practices or see leaders behaving inconsistently. Resistance can also signal unresolved concerns about feasibility, fairness or capability.</a:t>
            </a:r>
          </a:p>
          <a:p>
            <a:r>
              <a:rPr lang="en-GB"/>
              <a:t>Observable performance patterns</a:t>
            </a:r>
          </a:p>
          <a:p>
            <a:r>
              <a:rPr lang="en-GB"/>
              <a:t>Teams return to familiar practices under pressure</a:t>
            </a:r>
          </a:p>
          <a:p>
            <a:r>
              <a:rPr lang="en-GB"/>
              <a:t>Employees comply formally without changing everyday behaviours</a:t>
            </a:r>
          </a:p>
          <a:p>
            <a:r>
              <a:rPr lang="en-GB"/>
              <a:t>Constructive challenge and initiative remain limited</a:t>
            </a:r>
          </a:p>
          <a:p>
            <a:r>
              <a:rPr lang="en-GB"/>
              <a:t>Cross-functional collaboration is resisted</a:t>
            </a:r>
          </a:p>
          <a:p>
            <a:r>
              <a:rPr lang="en-GB"/>
              <a:t>Informal workplace narratives undermine formal strategic messages</a:t>
            </a:r>
          </a:p>
          <a:p>
            <a:r>
              <a:rPr lang="en-GB"/>
              <a:t>Early warning signals</a:t>
            </a:r>
          </a:p>
          <a:p>
            <a:r>
              <a:rPr lang="en-GB"/>
              <a:t>Employees remain silent during important performance discussions</a:t>
            </a:r>
          </a:p>
          <a:p>
            <a:r>
              <a:rPr lang="en-GB"/>
              <a:t>Low participation in improvement initiatives</a:t>
            </a:r>
          </a:p>
          <a:p>
            <a:r>
              <a:rPr lang="en-GB"/>
              <a:t>Repeated expressions of scepticism about change</a:t>
            </a:r>
          </a:p>
          <a:p>
            <a:r>
              <a:rPr lang="en-GB"/>
              <a:t>Leaders publicly endorse behaviours they do not consistently demonstrate</a:t>
            </a:r>
          </a:p>
          <a:p>
            <a:r>
              <a:rPr lang="en-GB"/>
              <a:t>Strategic impact: The organisation struggles to translate strategic intent into sustained behaviour. New systems and processes are adopted superficially, while underlying habits continue to shape delivery. Improvements are difficult to sustain because the operating culture repeatedly pulls performance back toward established practices.</a:t>
            </a:r>
          </a:p>
          <a:p>
            <a:r>
              <a:rPr lang="en-GB"/>
              <a:t>Diagnostic question: Which established beliefs, norms and behaviours are reinforcing or obstructing the contributions required by the strategy?</a:t>
            </a:r>
          </a:p>
          <a:p>
            <a:r>
              <a:rPr lang="en-GB"/>
              <a:t>Worked example</a:t>
            </a:r>
          </a:p>
          <a:p>
            <a:r>
              <a:rPr lang="en-GB"/>
              <a:t>A company introduces a customer-first strategy, but employees are still criticised for taking initiative outside rigid procedures. Teams continue to escalate customer problems they could resolve themselves.</a:t>
            </a:r>
          </a:p>
          <a:p>
            <a:r>
              <a:rPr lang="en-GB"/>
              <a:t>Clog 06</a:t>
            </a:r>
          </a:p>
          <a:p>
            <a:r>
              <a:rPr lang="en-GB"/>
              <a:t>Technology / Infrastructure Lag</a:t>
            </a:r>
          </a:p>
          <a:p>
            <a:r>
              <a:rPr lang="en-GB"/>
              <a:t>Competition▼</a:t>
            </a:r>
          </a:p>
          <a:p>
            <a:r>
              <a:rPr lang="en-GB"/>
              <a:t>Organisational performance · System reality</a:t>
            </a:r>
          </a:p>
          <a:p>
            <a:r>
              <a:rPr lang="en-GB"/>
              <a:t>Technology, information architecture, operational infrastructure or physical assets are not sufficiently reliable, integrated or scalable to support strategic demands. Legacy platforms create fragmented information flows, weak visibility, manual intervention and constraints on service capacity. The infrastructure may also restrict the speed at which the organisation adapts to external developments.</a:t>
            </a:r>
          </a:p>
          <a:p>
            <a:r>
              <a:rPr lang="en-GB"/>
              <a:t>People performance · Contribution reality</a:t>
            </a:r>
          </a:p>
          <a:p>
            <a:r>
              <a:rPr lang="en-GB"/>
              <a:t>Employees spend excessive time correcting data, reconciling records, duplicating entries and finding workarounds. Managers make decisions with incomplete or outdated information. Employees may be evaluated against efficiency standards that existing systems cannot support. Repeated technology frustrations also reduce motivation and confidence in improvement initiatives.</a:t>
            </a:r>
          </a:p>
          <a:p>
            <a:r>
              <a:rPr lang="en-GB"/>
              <a:t>Observable performance patterns</a:t>
            </a:r>
          </a:p>
          <a:p>
            <a:r>
              <a:rPr lang="en-GB"/>
              <a:t>Heavy reliance on spreadsheets and manual reporting</a:t>
            </a:r>
          </a:p>
          <a:p>
            <a:r>
              <a:rPr lang="en-GB"/>
              <a:t>Duplicate data entry across systems</a:t>
            </a:r>
          </a:p>
          <a:p>
            <a:r>
              <a:rPr lang="en-GB"/>
              <a:t>Delayed or inconsistent management information</a:t>
            </a:r>
          </a:p>
          <a:p>
            <a:r>
              <a:rPr lang="en-GB"/>
              <a:t>Operational errors increase with workload</a:t>
            </a:r>
          </a:p>
          <a:p>
            <a:r>
              <a:rPr lang="en-GB"/>
              <a:t>Employees maintain unofficial systems to complete essential tasks</a:t>
            </a:r>
          </a:p>
          <a:p>
            <a:r>
              <a:rPr lang="en-GB"/>
              <a:t>Early warning signals</a:t>
            </a:r>
          </a:p>
          <a:p>
            <a:r>
              <a:rPr lang="en-GB"/>
              <a:t>Reporting cycles become progressively longer</a:t>
            </a:r>
          </a:p>
          <a:p>
            <a:r>
              <a:rPr lang="en-GB"/>
              <a:t>Discrepancies appear between information sources</a:t>
            </a:r>
          </a:p>
          <a:p>
            <a:r>
              <a:rPr lang="en-GB"/>
              <a:t>Routine tasks demand increasing manual effort</a:t>
            </a:r>
          </a:p>
          <a:p>
            <a:r>
              <a:rPr lang="en-GB"/>
              <a:t>System downtime or integration failures affect critical delivery</a:t>
            </a:r>
          </a:p>
          <a:p>
            <a:r>
              <a:rPr lang="en-GB"/>
              <a:t>Strategic impact: The organisation loses operational speed, information quality and the ability to scale reliably. People devote capacity to compensating for infrastructure limitations, reducing time available for value-creating work. Competitive responsiveness weakens as the enterprise struggles to match required standards of efficiency, reliability or service.</a:t>
            </a:r>
          </a:p>
          <a:p>
            <a:r>
              <a:rPr lang="en-GB"/>
              <a:t>Diagnostic question: Can the organisation’s technology and infrastructure support the speed, reliability, visibility and scale required by its strategy?</a:t>
            </a:r>
          </a:p>
          <a:p>
            <a:r>
              <a:rPr lang="en-GB"/>
              <a:t>Worked example</a:t>
            </a:r>
          </a:p>
          <a:p>
            <a:r>
              <a:rPr lang="en-GB"/>
              <a:t>A logistics company promises real-time delivery visibility, but its transport and customer systems do not communicate. Staff compile updates manually, customers receive inconsistent information and service confidence declines.</a:t>
            </a:r>
          </a:p>
          <a:p>
            <a:r>
              <a:rPr lang="en-GB"/>
              <a:t>Clog 07</a:t>
            </a:r>
          </a:p>
          <a:p>
            <a:r>
              <a:rPr lang="en-GB"/>
              <a:t>Leadership Avoidance</a:t>
            </a:r>
          </a:p>
          <a:p>
            <a:r>
              <a:rPr lang="en-GB"/>
              <a:t>Arena + Boundaries▼</a:t>
            </a:r>
          </a:p>
          <a:p>
            <a:r>
              <a:rPr lang="en-GB"/>
              <a:t>Organisational performance · System reality</a:t>
            </a:r>
          </a:p>
          <a:p>
            <a:r>
              <a:rPr lang="en-GB"/>
              <a:t>Leadership mechanisms fail to resolve material trade-offs, repeated underperformance, resource conflicts, accountability gaps or strategic tensions. Difficult matters are discussed without binding decisions or clear follow-through. Governance and review forums become reporting rituals that leave the conditions obstructing performance unresolved.</a:t>
            </a:r>
          </a:p>
          <a:p>
            <a:r>
              <a:rPr lang="en-GB"/>
              <a:t>People performance · Contribution reality</a:t>
            </a:r>
          </a:p>
          <a:p>
            <a:r>
              <a:rPr lang="en-GB"/>
              <a:t>Managers and employees receive mixed signals about priorities, standards and consequences. Some learn that difficult issues can be postponed without consequence. Others become discouraged when their concerns repeatedly go unresolved. Confidence in leadership declines, and individuals may protect themselves by avoiding ownership, escalating responsibility or lowering their performance expectations.</a:t>
            </a:r>
          </a:p>
          <a:p>
            <a:r>
              <a:rPr lang="en-GB"/>
              <a:t>Observable performance patterns</a:t>
            </a:r>
          </a:p>
          <a:p>
            <a:r>
              <a:rPr lang="en-GB"/>
              <a:t>Strategic problems recur across successive reviews</a:t>
            </a:r>
          </a:p>
          <a:p>
            <a:r>
              <a:rPr lang="en-GB"/>
              <a:t>Decisions are recorded but not consistently implemented</a:t>
            </a:r>
          </a:p>
          <a:p>
            <a:r>
              <a:rPr lang="en-GB"/>
              <a:t>Underperformance continues without meaningful intervention</a:t>
            </a:r>
          </a:p>
          <a:p>
            <a:r>
              <a:rPr lang="en-GB"/>
              <a:t>Leaders repeatedly change priorities without resolving trade-offs</a:t>
            </a:r>
          </a:p>
          <a:p>
            <a:r>
              <a:rPr lang="en-GB"/>
              <a:t>Accountability is assigned without the support required to deliver</a:t>
            </a:r>
          </a:p>
          <a:p>
            <a:r>
              <a:rPr lang="en-GB"/>
              <a:t>Early warning signals</a:t>
            </a:r>
          </a:p>
          <a:p>
            <a:r>
              <a:rPr lang="en-GB"/>
              <a:t>The same issues appear in multiple performance cycles</a:t>
            </a:r>
          </a:p>
          <a:p>
            <a:r>
              <a:rPr lang="en-GB"/>
              <a:t>Employees stop raising problems because they expect no action</a:t>
            </a:r>
          </a:p>
          <a:p>
            <a:r>
              <a:rPr lang="en-GB"/>
              <a:t>Escalations remain unresolved despite leadership attention</a:t>
            </a:r>
          </a:p>
          <a:p>
            <a:r>
              <a:rPr lang="en-GB"/>
              <a:t>Teams become uncertain about which priorities matter most</a:t>
            </a:r>
          </a:p>
          <a:p>
            <a:r>
              <a:rPr lang="en-GB"/>
              <a:t>Strategic impact: Strategic focus weakens as unresolved issues accumulate. The organisation loses direction and delivery discipline, while people become less willing to take ownership. Over time, leadership avoidance can reinforce all six other performance clogs because their underlying causes remain unaddressed.</a:t>
            </a:r>
          </a:p>
          <a:p>
            <a:r>
              <a:rPr lang="en-GB"/>
              <a:t>Diagnostic question: Are leaders making and following through on the decisions necessary to remove performance constraints?</a:t>
            </a:r>
          </a:p>
          <a:p>
            <a:r>
              <a:rPr lang="en-GB"/>
              <a:t>Worked example</a:t>
            </a:r>
          </a:p>
          <a:p>
            <a:r>
              <a:rPr lang="en-GB"/>
              <a:t>A management team repeatedly identifies poor coordination between sales and operations but avoids changing responsibilities because two senior executives disagree. The problem continues, and both teams are blamed for missed delivery targets.</a:t>
            </a:r>
          </a:p>
          <a:p>
            <a:endParaRPr lang="en-GB"/>
          </a:p>
          <a:p>
            <a:r>
              <a:rPr lang="en-GB"/>
              <a:t>Source detail (S2R® manuscript):</a:t>
            </a:r>
          </a:p>
          <a:p>
            <a:endParaRPr lang="en-GB"/>
          </a:p>
          <a:p>
            <a:r>
              <a:rPr lang="en-GB"/>
              <a:t>The map in full: Strategic Clog Map, Deep Diagnostic Layer (ABCV-aligned). Its columns are: Root Cause; What It Looks Like (Structural Reality); How It Shows Up (Observable Patterns); Signal Indicators (Early Warnings); ABCV Element Distorted; Strategic Impact (System Consequence).</a:t>
            </a:r>
          </a:p>
          <a:p>
            <a:r>
              <a:rPr lang="en-GB"/>
              <a:t>How to use the map, in three moves:</a:t>
            </a:r>
          </a:p>
          <a:p>
            <a:r>
              <a:rPr lang="en-GB"/>
              <a:t>1. Diagnose at the level of distortion. Replace the question “What is going wrong?” with the question in the Diagnostic Principle above.</a:t>
            </a:r>
          </a:p>
          <a:p>
            <a:r>
              <a:rPr lang="en-GB"/>
              <a:t>2. Look for pattern clustering. Read where multiple signals point, as set out in the Diagnostic Principle above.</a:t>
            </a:r>
          </a:p>
          <a:p>
            <a:r>
              <a:rPr lang="en-GB"/>
              <a:t>3. Anchor the intervention correctly. Each clog requires targeted intervention; general pressure will not clear it.</a:t>
            </a:r>
          </a:p>
          <a:p>
            <a:r>
              <a:rPr lang="en-GB"/>
              <a:t>Closing point for the map: Strategic clogs are points where direction and execution lose alignment. The role of leadership is to identify where the distortion is occurring and restore the system so that strategy can flow as intended.</a:t>
            </a:r>
          </a:p>
          <a:p>
            <a:endParaRPr lang="en-GB"/>
          </a:p>
          <a:p>
            <a:r>
              <a:rPr lang="en-GB"/>
              <a:t>Professional insights:</a:t>
            </a:r>
          </a:p>
          <a:p>
            <a:endParaRPr lang="en-GB"/>
          </a:p>
          <a:p>
            <a:r>
              <a:rPr lang="en-GB"/>
              <a:t>01 · Structural Misfit: Many failures in growing organisations are failures of structural readiness: the team has scaled past its systems and the work has outgrown its structures. Find one process that no longer fits the volume, a meeting cadence that no longer serves the work or a reporting line that has become a bottleneck, and replace it.</a:t>
            </a:r>
          </a:p>
          <a:p>
            <a:r>
              <a:rPr lang="en-GB"/>
              <a:t>Source: Journal, 29 April 2026 — Professional Insights: Culture</a:t>
            </a:r>
          </a:p>
          <a:p>
            <a:r>
              <a:rPr lang="en-GB"/>
              <a:t>03 · Decision Bottlenecks: The single leader who handles everything because no one else is appointed to handle anything is one of the most common and costly organisational design failures. Structure the work so each matter is handled at the appropriate level.</a:t>
            </a:r>
          </a:p>
          <a:p>
            <a:r>
              <a:rPr lang="en-GB"/>
              <a:t>Source: Journal, 11 February 2026 — Professional Insights: Strategy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2 · INTELLIGENCE — WHY</a:t>
            </a:r>
          </a:p>
          <a:p>
            <a:r>
              <a:rPr lang="en-GB"/>
              <a:t>Why Disciplined Intervention Clears Strategic Clogs</a:t>
            </a:r>
          </a:p>
          <a:p>
            <a:r>
              <a:rPr lang="en-GB"/>
              <a:t>Building the three disciplines that detect, classify and resolve strategic clogs, and applying the 7 Strategic Unclogging Levers across people and organisational performance.</a:t>
            </a:r>
          </a:p>
          <a:p>
            <a:endParaRPr lang="en-GB"/>
          </a:p>
          <a:p>
            <a:r>
              <a:rPr lang="en-GB"/>
              <a:t>Section learning outcomes:</a:t>
            </a:r>
          </a:p>
          <a:p>
            <a:r>
              <a:rPr lang="en-GB"/>
              <a:t>1. Select and apply responses to strategic clogs across people and organisational performance.</a:t>
            </a:r>
          </a:p>
          <a:p>
            <a:r>
              <a:rPr lang="en-GB"/>
              <a:t>2. Intervene early in emerging execution friction before it compounds.</a:t>
            </a:r>
          </a:p>
          <a:p>
            <a:endParaRPr lang="en-GB"/>
          </a:p>
          <a:p>
            <a:r>
              <a:rPr lang="en-GB"/>
              <a:t>HOW TO TEACH THE SECTION:</a:t>
            </a:r>
          </a:p>
          <a:p>
            <a:r>
              <a:rPr lang="en-GB"/>
              <a:t>The ignition point of this section is the mindset shift: from “Why is the strategy failing?” to “Where are our people and our organisational conditions not yet ready to carry the strategy?” This is a fundamentally different diagnostic posture that moves leadership from blame to engineering.</a:t>
            </a:r>
          </a:p>
          <a:p>
            <a:r>
              <a:rPr lang="en-GB"/>
              <a:t>Open with the section narrative: a named clog still holds until leaders act on it. Then teach the three disciplines one at a time, each in people performance and in organisational performance: leaders detect the signals early, name the clog with the evidence of the three lines of sight, and intervene on the condition behind it.</a:t>
            </a:r>
          </a:p>
          <a:p>
            <a:r>
              <a:rPr lang="en-GB"/>
              <a:t>For the 7 levers: teach what each lever changes in people performance and in organisational performance. Rarely does a single lever clear a clog alone. The diagnostic question is always: which lever combination addresses the root cause?</a:t>
            </a:r>
          </a:p>
          <a:p>
            <a:endParaRPr lang="en-GB"/>
          </a:p>
          <a:p>
            <a:r>
              <a:rPr lang="en-GB"/>
              <a:t>Section opening (on the page):</a:t>
            </a:r>
          </a:p>
          <a:p>
            <a:r>
              <a:rPr lang="en-GB"/>
              <a:t>Section 1 traced how a strategic clog forms and how it shows: in the result that falls short, in what individuals and teams are doing or unable to do, and in the organisational conditions behind their behaviour. A named clog still holds until leaders act on it.</a:t>
            </a:r>
          </a:p>
          <a:p>
            <a:r>
              <a:rPr lang="en-GB"/>
              <a:t>Leaders resolve clogs through three disciplines. They identify the clog early, while it is still a signal. They classify it accurately, so the response addresses its cause. They intervene with the lever that removes that cause. Each discipline is a habit the executive team builds through practice in every review.</a:t>
            </a:r>
          </a:p>
          <a:p>
            <a:r>
              <a:rPr lang="en-GB"/>
              <a:t>Early action matters because a clog compounds. The delay it causes in one function becomes the constraint on the next, and a matter that one adjustment would have resolved early grows into a recovery effort across several functions.</a:t>
            </a:r>
          </a:p>
          <a:p>
            <a:r>
              <a:rPr lang="en-GB"/>
              <a:t>Every response works on two sides at once. In people performance, it restores the authority, capability, focus and confidence individuals need to deliver their tasks. In organisational performance, it changes the structures, processes, systems, resources and governance so that they support the execution of those tasks. A response confined to one side leaves the clog in place on the other.</a:t>
            </a:r>
          </a:p>
          <a:p>
            <a:r>
              <a:rPr lang="en-GB"/>
              <a:t>Part 2.1 sets out the three disciplines. Part 2.2 sets out the 7 Strategic Unclogging Levers, the interventions leaders apply once the clog is named.</a:t>
            </a:r>
          </a:p>
          <a:p>
            <a:endParaRPr lang="en-GB"/>
          </a:p>
          <a:p>
            <a:endParaRPr lang="en-GB"/>
          </a:p>
          <a:p>
            <a:r>
              <a:rPr lang="en-GB"/>
              <a:t>Source detail (S2R® manuscript):</a:t>
            </a:r>
          </a:p>
          <a:p>
            <a:endParaRPr lang="en-GB"/>
          </a:p>
          <a:p>
            <a:r>
              <a:rPr lang="en-GB"/>
              <a:t>Purpose of the unit: In complex systems, some level of friction is unavoidable, so eliminating clogs entirely is outside the purpose of this unit. The objective is to ensure that clogs are identified early, understood correctly, and addressed deliberately.</a:t>
            </a:r>
          </a:p>
          <a:p>
            <a:r>
              <a:rPr lang="en-GB"/>
              <a:t>At that moment, the leadership team transitions from reacting to stalled initiatives to actively engineering the flow of execution. That shift marks the ignition point of execution mastery.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1.2 — UNDERSTANDING WHERE PERFORMANCE BECOMES CONSTRAINED (Why clogs form · Two dimensions of performance)</a:t>
            </a:r>
          </a:p>
          <a:p>
            <a:endParaRPr lang="en-GB"/>
          </a:p>
          <a:p>
            <a:r>
              <a:rPr lang="en-GB"/>
              <a:t>TEACHING NOTES:</a:t>
            </a:r>
          </a:p>
          <a:p>
            <a:r>
              <a:rPr lang="en-GB"/>
              <a:t>1.2 · Teach why clogs form where the strategy stretches today’s organisation, then the two dimensions of performance. Participants write the reflection on where their organisation is not yet ready in their own file.</a:t>
            </a:r>
          </a:p>
          <a:p>
            <a:endParaRPr lang="en-GB"/>
          </a:p>
          <a:p>
            <a:r>
              <a:rPr lang="en-GB"/>
              <a:t>Content:</a:t>
            </a:r>
          </a:p>
          <a:p>
            <a:r>
              <a:rPr lang="en-GB"/>
              <a:t>When leaders define a strategy, they set a new direction for the organisation. The organisation executes that direction through what it has today: its structure, decision rights, culture, measures, capabilities and technology, and the ways of working its people have built within them. Where any of these has not yet adapted to the strategy, friction appears.</a:t>
            </a:r>
          </a:p>
          <a:p>
            <a:r>
              <a:rPr lang="en-GB"/>
              <a:t>Clogs form where the strategy stretches today’s organisation beyond what it was designed to carry. A strategy that requires rapid coordination across functions exposes Structural Misfit. A strategy that depends on data-driven decisions reveals Capability Gaps. A strategy that requires decisions closer to the customer exposes Decision Bottlenecks. Each strategy places its weight on known parts of the organisation, so leaders can anticipate where its clogs will form.</a:t>
            </a:r>
          </a:p>
          <a:p>
            <a:r>
              <a:rPr lang="en-GB"/>
              <a:t>Experienced leadership teams read a clog as a signal of where the organisation must adapt next. Setting the direction is one part of their role; ensuring the organisation can carry it is the other. To read the signal, leaders examine where performance becomes constrained.</a:t>
            </a:r>
          </a:p>
          <a:p>
            <a:r>
              <a:rPr lang="en-GB"/>
              <a:t>Strategy depends on the organisation’s ability to convert its strategic intent into coordinated contributions and measurable results. This requires two connected dimensions of performance:</a:t>
            </a:r>
          </a:p>
          <a:p>
            <a:r>
              <a:rPr lang="en-GB"/>
              <a:t>Organisational performance</a:t>
            </a:r>
          </a:p>
          <a:p>
            <a:r>
              <a:rPr lang="en-GB"/>
              <a:t>The enterprise’s ability to create, deliver and sustain value. It reflects how effectively structures, processes, resources, capabilities, governance and operating systems work together to produce strategic outcomes.</a:t>
            </a:r>
          </a:p>
          <a:p>
            <a:r>
              <a:rPr lang="en-GB"/>
              <a:t>People performance</a:t>
            </a:r>
          </a:p>
          <a:p>
            <a:r>
              <a:rPr lang="en-GB"/>
              <a:t>How effectively individuals and teams understand expectations, make decisions, exercise judgement, apply capabilities, collaborate and deliver their contributions to organisational results.</a:t>
            </a:r>
          </a:p>
          <a:p>
            <a:r>
              <a:rPr lang="en-GB"/>
              <a:t>Both dimensions operate within the same enterprise system. When organisational conditions are weak, even capable and committed people may struggle to perform. They experience delays, conflicting priorities, unclear responsibilities, resource shortages and barriers beyond their authority to resolve.</a:t>
            </a:r>
          </a:p>
          <a:p>
            <a:r>
              <a:rPr lang="en-GB"/>
              <a:t>When people performance is weak, the organisation may have adequate resources and well-designed processes but still experience poor judgement, inconsistent behaviours, weak collaboration, limited ownership and unreliable delivery.</a:t>
            </a:r>
          </a:p>
          <a:p>
            <a:r>
              <a:rPr lang="en-GB"/>
              <a:t>These conditions often reinforce one another. For example, unclear decision rights create hesitation among managers. Repeated hesitation then encourages senior leaders to centralise decisions further, increasing the original bottleneck.</a:t>
            </a:r>
          </a:p>
          <a:p>
            <a:r>
              <a:rPr lang="en-GB"/>
              <a:t>The 7-Clog Diagnostic Map identifies seven recurring conditions that constrain the organisation’s capacity to deliver its strategy. The diagnostic examines both the condition of the organisational system and the performance patterns emerging within it.</a:t>
            </a:r>
          </a:p>
          <a:p>
            <a:endParaRPr lang="en-GB"/>
          </a:p>
          <a:p>
            <a:r>
              <a:rPr lang="en-GB"/>
              <a:t>Participant file — what participants complete:</a:t>
            </a:r>
          </a:p>
          <a:p>
            <a:r>
              <a:rPr lang="en-GB"/>
              <a:t>- ✎ Reflection — Where Is Your System Not Yet Ready? — the element of their operating system most likely to create friction under their current strategic direction, and why this is predictable given their strategy.</a:t>
            </a:r>
          </a:p>
          <a:p>
            <a:endParaRPr lang="en-GB"/>
          </a:p>
          <a:p>
            <a:r>
              <a:rPr lang="en-GB"/>
              <a:t>Source detail (S2R® manuscript):</a:t>
            </a:r>
          </a:p>
          <a:p>
            <a:endParaRPr lang="en-GB"/>
          </a:p>
          <a:p>
            <a:r>
              <a:rPr lang="en-GB"/>
              <a:t>Today’s operating system in full. That system includes:</a:t>
            </a:r>
          </a:p>
          <a:p>
            <a:r>
              <a:rPr lang="en-GB"/>
              <a:t>- organisational structure</a:t>
            </a:r>
          </a:p>
          <a:p>
            <a:r>
              <a:rPr lang="en-GB"/>
              <a:t>- decision rights and governance pathways</a:t>
            </a:r>
          </a:p>
          <a:p>
            <a:r>
              <a:rPr lang="en-GB"/>
              <a:t>- cultural norms and behavioural expectations</a:t>
            </a:r>
          </a:p>
          <a:p>
            <a:r>
              <a:rPr lang="en-GB"/>
              <a:t>- performance metrics and incentives</a:t>
            </a:r>
          </a:p>
          <a:p>
            <a:r>
              <a:rPr lang="en-GB"/>
              <a:t>- capabilities, skills, and leadership capacity</a:t>
            </a:r>
          </a:p>
          <a:p>
            <a:r>
              <a:rPr lang="en-GB"/>
              <a:t>- technology platforms and operational infrastructure</a:t>
            </a:r>
          </a:p>
          <a:p>
            <a:endParaRPr lang="en-GB"/>
          </a:p>
          <a:p>
            <a:r>
              <a:rPr lang="en-GB"/>
              <a:t>Clogs emerge at organisational pressure points. The four examples in full:</a:t>
            </a:r>
          </a:p>
          <a:p>
            <a:r>
              <a:rPr lang="en-GB"/>
              <a:t>- A strategy requiring rapid cross-functional coordination will expose structural misfits in reporting lines and governance processes.</a:t>
            </a:r>
          </a:p>
          <a:p>
            <a:r>
              <a:rPr lang="en-GB"/>
              <a:t>- A strategy dependent on data-driven decision-making will reveal capability gaps in analytical skills and technology platforms.</a:t>
            </a:r>
          </a:p>
          <a:p>
            <a:r>
              <a:rPr lang="en-GB"/>
              <a:t>- A strategy requiring decentralised execution will expose decision bottlenecks embedded in hierarchical approval structures.</a:t>
            </a:r>
          </a:p>
          <a:p>
            <a:r>
              <a:rPr lang="en-GB"/>
              <a:t>- A strategy dependent on collaboration will surface cultural resistance where incentives reward individual performance.</a:t>
            </a:r>
          </a:p>
          <a:p>
            <a:endParaRPr lang="en-GB"/>
          </a:p>
          <a:p>
            <a:r>
              <a:rPr lang="en-GB"/>
              <a:t>The mindset: Experienced leadership teams recognise that execution friction is a normal consequence of strategic change. Moving from the question “Why is the strategy failing?” to the question on the slide reframes execution from reactive troubleshooting to proactive execution architecture.</a:t>
            </a:r>
          </a:p>
          <a:p>
            <a:r>
              <a:rPr lang="en-GB"/>
              <a:t>The CXO role: Within the DIG framework, the CXO plays a critical role in managing execution flow. Their responsibility is to detect and manage clogs before they compound into systemic execution failures.</a:t>
            </a:r>
          </a:p>
          <a:p>
            <a:endParaRPr lang="en-GB"/>
          </a:p>
          <a:p>
            <a:r>
              <a:rPr lang="en-GB"/>
              <a:t>Professional insights:</a:t>
            </a:r>
          </a:p>
          <a:p>
            <a:endParaRPr lang="en-GB"/>
          </a:p>
          <a:p>
            <a:r>
              <a:rPr lang="en-GB"/>
              <a:t>Resistance is predictable: The first response to significant change is almost always resistance and escalation, and intensifying friction can be evidence that the direction is right. Plan for the first phase of resistance before launching the change.</a:t>
            </a:r>
          </a:p>
          <a:p>
            <a:r>
              <a:rPr lang="en-GB"/>
              <a:t>Source: Journal, 5 February 2026 — Professional Insights: Strategy</a:t>
            </a:r>
          </a:p>
          <a:p>
            <a:endParaRPr lang="en-GB"/>
          </a:p>
          <a:p>
            <a:r>
              <a:rPr lang="en-GB"/>
              <a:t>A structural problem: Leaders caught between what they know is right and what their environment allows must address the environment as well as the decision. The problem is structural.</a:t>
            </a:r>
          </a:p>
          <a:p>
            <a:r>
              <a:rPr lang="en-GB"/>
              <a:t>Source: Journal, 17 February 2026 — Professional Insights: Leadership</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2.1 — THREE DISCIPLINES OF EXECUTION ENGINEERING (Step through each)</a:t>
            </a:r>
          </a:p>
          <a:p>
            <a:endParaRPr lang="en-GB"/>
          </a:p>
          <a:p>
            <a:r>
              <a:rPr lang="en-GB"/>
              <a:t>TEACHING NOTES:</a:t>
            </a:r>
          </a:p>
          <a:p>
            <a:r>
              <a:rPr lang="en-GB"/>
              <a:t>Teach the three disciplines one at a time. For each, teach the discipline, then what it means in people performance and in organisational performance, using the examples on the page.</a:t>
            </a:r>
          </a:p>
          <a:p>
            <a:endParaRPr lang="en-GB"/>
          </a:p>
          <a:p>
            <a:r>
              <a:rPr lang="en-GB"/>
              <a:t>Content:</a:t>
            </a:r>
          </a:p>
          <a:p>
            <a:r>
              <a:rPr lang="en-GB"/>
              <a:t>Discipline 1</a:t>
            </a:r>
          </a:p>
          <a:p>
            <a:r>
              <a:rPr lang="en-GB"/>
              <a:t>Early Identification</a:t>
            </a:r>
          </a:p>
          <a:p>
            <a:r>
              <a:rPr lang="en-GB"/>
              <a:t>Discipline 2</a:t>
            </a:r>
          </a:p>
          <a:p>
            <a:r>
              <a:rPr lang="en-GB"/>
              <a:t>Accurate Classification</a:t>
            </a:r>
          </a:p>
          <a:p>
            <a:r>
              <a:rPr lang="en-GB"/>
              <a:t>Discipline 3</a:t>
            </a:r>
          </a:p>
          <a:p>
            <a:r>
              <a:rPr lang="en-GB"/>
              <a:t>Targeted Intervention</a:t>
            </a:r>
          </a:p>
          <a:p>
            <a:r>
              <a:rPr lang="en-GB"/>
              <a:t>Detect Signals Before They Compound</a:t>
            </a:r>
          </a:p>
          <a:p>
            <a:r>
              <a:rPr lang="en-GB"/>
              <a:t>Leaders must detect the signals that indicate friction is forming. Bottlenecks, repeated coordination failures, declining execution speed, or growing ambiguity in decision rights are all early indicators that a clog is emerging.</a:t>
            </a:r>
          </a:p>
          <a:p>
            <a:r>
              <a:rPr lang="en-GB"/>
              <a:t>The strategic value of early identification is significant. A clog detected when it is a friction signal requires a targeted structural adjustment. The same clog discovered six months later, after it has compounded into a systemic execution failure, requires a crisis response. The cost — in time, capital, and leadership credibility — is vastly different.</a:t>
            </a:r>
          </a:p>
          <a:p>
            <a:r>
              <a:rPr lang="en-GB"/>
              <a:t>This discipline requires leaders to build signal literacy: the ability to read organisational patterns as early indicators of structural misalignment.</a:t>
            </a:r>
          </a:p>
          <a:p>
            <a:r>
              <a:rPr lang="en-GB"/>
              <a:t>Early signals appear in the rhythm of work before they appear in the results. Leaders find them in three places: in the review, where the same items carry forward and explanations replace progress; in the flow of work, where hand-offs slow, approvals queue and workarounds multiply; and in conversation, where people stop raising problems or raise the same one repeatedly.</a:t>
            </a:r>
          </a:p>
          <a:p>
            <a:r>
              <a:rPr lang="en-GB"/>
              <a:t>The early warning signals listed for each of the seven clogs give leaders a reference to read against. Signal literacy grows through practice: leaders ask for the signals in every review, compare them across functions and record them before the result moves.</a:t>
            </a:r>
          </a:p>
          <a:p>
            <a:r>
              <a:rPr lang="en-GB"/>
              <a:t>People performance</a:t>
            </a:r>
          </a:p>
          <a:p>
            <a:r>
              <a:rPr lang="en-GB"/>
              <a:t>Leaders read the signals in how individuals and teams work: decisions held for approval that the individual could take, rework rising on the same tasks, longer hours for the same output, and silence in meetings where challenge is needed. These signals appear before the KPI falls. Leaders who ask a team what is slowing its work hear them within weeks; a review that reads only the KPI sees them a quarter later.</a:t>
            </a:r>
          </a:p>
          <a:p>
            <a:r>
              <a:rPr lang="en-GB"/>
              <a:t>Organisational performance</a:t>
            </a:r>
          </a:p>
          <a:p>
            <a:r>
              <a:rPr lang="en-GB"/>
              <a:t>Leaders read the signals in the organisational conditions that support the execution of the individuals’ tasks.</a:t>
            </a:r>
          </a:p>
          <a:p>
            <a:r>
              <a:rPr lang="en-GB"/>
              <a:t>Governance · review forums. The same unresolved item appears on three consecutive agendas, and each team waiting on it reports its delay separately.</a:t>
            </a:r>
          </a:p>
          <a:p>
            <a:r>
              <a:rPr lang="en-GB"/>
              <a:t>Systems · data integrity. Two reports give different figures for the same measure, and teams spend their time reconciling them.</a:t>
            </a:r>
          </a:p>
          <a:p>
            <a:r>
              <a:rPr lang="en-GB"/>
              <a:t>Resources · workforce capacity. One specialist’s queue grows each week while the projects that depend on that person report small slips.</a:t>
            </a:r>
          </a:p>
          <a:p>
            <a:r>
              <a:rPr lang="en-GB"/>
              <a:t>None of these carries a number in the review, so leaders ask for them by name.</a:t>
            </a:r>
          </a:p>
          <a:p>
            <a:r>
              <a:rPr lang="en-GB"/>
              <a:t>Name the Clog Precisely Before Intervening</a:t>
            </a:r>
          </a:p>
          <a:p>
            <a:r>
              <a:rPr lang="en-GB"/>
              <a:t>Each clog belongs to a specific category of organisational friction. Structural misfit, capability gaps, decision bottlenecks, misaligned incentives, cultural resistance, technological constraints, or leadership avoidance each require fundamentally different forms of intervention.</a:t>
            </a:r>
          </a:p>
          <a:p>
            <a:r>
              <a:rPr lang="en-GB"/>
              <a:t>The most common diagnostic failure is applying the wrong lever to a correctly identified symptom. A leader who observes “slow execution” and responds by adding resources is applying a capability lever to what may be a decision bottleneck. The additional resources do not accelerate execution because the constraint is approval latency.</a:t>
            </a:r>
          </a:p>
          <a:p>
            <a:r>
              <a:rPr lang="en-GB"/>
              <a:t>Accurate classification requires resisting the impulse to solve before diagnosing. The first question is “What type of friction is this, and what does it tell us about the system?”</a:t>
            </a:r>
          </a:p>
          <a:p>
            <a:r>
              <a:rPr lang="en-GB"/>
              <a:t>Classification uses the evidence of the Three Performance Lines of Sight. The outcome confirms that a clog exists. The behaviour shows how it acts on individuals and teams. The condition names the clog. Leaders test the evidence against each of the seven clogs in turn and keep the one that explains why the pattern persists.</a:t>
            </a:r>
          </a:p>
          <a:p>
            <a:r>
              <a:rPr lang="en-GB"/>
              <a:t>Several clogs often act together. Leaders name the primary clog, the one whose removal releases the others, and record the contributing clogs beside it.</a:t>
            </a:r>
          </a:p>
          <a:p>
            <a:r>
              <a:rPr lang="en-GB"/>
              <a:t>People performance</a:t>
            </a:r>
          </a:p>
          <a:p>
            <a:r>
              <a:rPr lang="en-GB"/>
              <a:t>Leaders separate what is within the individual’s control from what the conditions impose. An individual who delays decisions may lack confidence. The same delay appears when the individual lacks the authority to decide. Classification establishes which applies, with evidence from the individual’s work, before a capability or accountability response is chosen.</a:t>
            </a:r>
          </a:p>
          <a:p>
            <a:r>
              <a:rPr lang="en-GB"/>
              <a:t>Organisational performance</a:t>
            </a:r>
          </a:p>
          <a:p>
            <a:r>
              <a:rPr lang="en-GB"/>
              <a:t>Leaders locate the condition behind the behaviour.</a:t>
            </a:r>
          </a:p>
          <a:p>
            <a:r>
              <a:rPr lang="en-GB"/>
              <a:t>Governance · decision authority. Approvals for routine work sit two levels above the people doing it. The slow delivery is a Decision Bottleneck.</a:t>
            </a:r>
          </a:p>
          <a:p>
            <a:r>
              <a:rPr lang="en-GB"/>
              <a:t>Systems · process clarity. The hand-offs between three functions have no single owner. The same slow delivery is Structural Misfit.</a:t>
            </a:r>
          </a:p>
          <a:p>
            <a:r>
              <a:rPr lang="en-GB"/>
              <a:t>One symptom leads to two different clogs, and to two different levers. Classification decides which one the team pulls.</a:t>
            </a:r>
          </a:p>
          <a:p>
            <a:r>
              <a:rPr lang="en-GB"/>
              <a:t>Pull the Right Lever with Precision</a:t>
            </a:r>
          </a:p>
          <a:p>
            <a:r>
              <a:rPr lang="en-GB"/>
              <a:t>Once the clog is identified and classified, it must be addressed through the appropriate strategic lever. Clogs rarely clear themselves through trying harder or working more hours. They require a deliberate adjustment to the organisation’s structural, behavioural, and operational settings.</a:t>
            </a:r>
          </a:p>
          <a:p>
            <a:r>
              <a:rPr lang="en-GB"/>
              <a:t>Targeted intervention means matching the lever to the root cause. It also means accepting that rarely does a single clog require just one fix. A Capability Gap may require both Upgrade (systems) and Reinforce (skills). A Leadership Avoidance clog may require both Clarify (decision rights) and Rebuild Trust (credibility restoration).</a:t>
            </a:r>
          </a:p>
          <a:p>
            <a:r>
              <a:rPr lang="en-GB"/>
              <a:t>A targeted intervention names what will change, who will change it and the evidence that will show the clog clearing. Leaders set that evidence before they act: the signal they expect to fall, the behaviour they expect to change and the result they expect to move.</a:t>
            </a:r>
          </a:p>
          <a:p>
            <a:r>
              <a:rPr lang="en-GB"/>
              <a:t>Leaders also sequence the response. Where two levers are needed, the lever that changes the condition usually comes first, and the lever that builds the people’s capability or confidence follows, so that individuals apply new skills in conditions that support them.</a:t>
            </a:r>
          </a:p>
          <a:p>
            <a:r>
              <a:rPr lang="en-GB"/>
              <a:t>People performance</a:t>
            </a:r>
          </a:p>
          <a:p>
            <a:r>
              <a:rPr lang="en-GB"/>
              <a:t>The intervention equips individuals to deliver their tasks under the changed conditions: clear authority, the skills the strategy now requires, coaching through the first cycles and consistent consequences. Leaders confirm the change in the individuals’ work: decisions taken at the right level, less rework and problems raised early.</a:t>
            </a:r>
          </a:p>
          <a:p>
            <a:r>
              <a:rPr lang="en-GB"/>
              <a:t>Organisational performance</a:t>
            </a:r>
          </a:p>
          <a:p>
            <a:r>
              <a:rPr lang="en-GB"/>
              <a:t>The intervention changes the organisational condition behind the clog.</a:t>
            </a:r>
          </a:p>
          <a:p>
            <a:r>
              <a:rPr lang="en-GB"/>
              <a:t>Governance · decision authority. Delegation limits for routine decisions are reset and published.</a:t>
            </a:r>
          </a:p>
          <a:p>
            <a:r>
              <a:rPr lang="en-GB"/>
              <a:t>Systems · data integrity. One source of customer data replaces three, and every report draws on it.</a:t>
            </a:r>
          </a:p>
          <a:p>
            <a:r>
              <a:rPr lang="en-GB"/>
              <a:t>Resources · capability alignment. Specialist capacity is added where the strategy concentrates demand.</a:t>
            </a:r>
          </a:p>
          <a:p>
            <a:r>
              <a:rPr lang="en-GB"/>
              <a:t>Leaders confirm the change in the condition itself, then in the Key Result.</a:t>
            </a:r>
          </a:p>
          <a:p>
            <a:r>
              <a:rPr lang="en-GB"/>
              <a:t>The goal is to develop a leadership rhythm that moves quickly and precisely: Identify the Clog → Select the Lever → Targeted Intervention.</a:t>
            </a:r>
          </a:p>
          <a:p>
            <a:endParaRPr lang="en-GB"/>
          </a:p>
          <a:p>
            <a:r>
              <a:rPr lang="en-GB"/>
              <a:t>Source detail (S2R® manuscript):</a:t>
            </a:r>
          </a:p>
          <a:p>
            <a:endParaRPr lang="en-GB"/>
          </a:p>
          <a:p>
            <a:r>
              <a:rPr lang="en-GB"/>
              <a:t>From diagnosis to intervention: Once a clog is identified, the leadership task shifts from diagnosis to intervention. The deliberate adjustment is to the organisation’s “plumbing”: the structural, behavioural, and operational settings that dictate how work actually gets done.</a:t>
            </a:r>
          </a:p>
          <a:p>
            <a:r>
              <a:rPr lang="en-GB"/>
              <a:t>What mastery of the rhythm gives: When leaders master this, execution stops being a stressful, reactive struggle. It becomes a resilient, continuous process of adjustment, allowing them to execute consistently and at scale.</a:t>
            </a:r>
          </a:p>
          <a:p>
            <a:endParaRPr lang="en-GB"/>
          </a:p>
          <a:p>
            <a:r>
              <a:rPr lang="en-GB"/>
              <a:t>Professional insights:</a:t>
            </a:r>
          </a:p>
          <a:p>
            <a:endParaRPr lang="en-GB"/>
          </a:p>
          <a:p>
            <a:r>
              <a:rPr lang="en-GB"/>
              <a:t>Early Identification: Confident diagnosis from incomplete data is a common failure. Distinguish present difficulty from final outcome.</a:t>
            </a:r>
          </a:p>
          <a:p>
            <a:r>
              <a:rPr lang="en-GB"/>
              <a:t>Source: Journal, 21 August 2026 — Professional Insights: Strategy</a:t>
            </a:r>
          </a:p>
          <a:p>
            <a:endParaRPr lang="en-GB"/>
          </a:p>
          <a:p>
            <a:r>
              <a:rPr lang="en-GB"/>
              <a:t>Accurate Classification: Misdiagnosis leads to wrong action. Challenge the assumptions behind a diagnosis before choosing the intervention.</a:t>
            </a:r>
          </a:p>
          <a:p>
            <a:r>
              <a:rPr lang="en-GB"/>
              <a:t>Source: Journal, 5 July 2026 — Professional Insights: Strategy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2.2 — THE 7 STRATEGIC UNCLOGGING LEVERS (Select each lever to explore)</a:t>
            </a:r>
          </a:p>
          <a:p>
            <a:endParaRPr lang="en-GB"/>
          </a:p>
          <a:p>
            <a:r>
              <a:rPr lang="en-GB"/>
              <a:t>TEACHING NOTES:</a:t>
            </a:r>
          </a:p>
          <a:p>
            <a:r>
              <a:rPr lang="en-GB"/>
              <a:t>Open the levers one at a time: what the lever does, how it works, and what it changes in people performance and in organisational performance. Rarely does a single lever clear a clog alone: ask which lever combination addresses the root cause.</a:t>
            </a:r>
          </a:p>
          <a:p>
            <a:endParaRPr lang="en-GB"/>
          </a:p>
          <a:p>
            <a:r>
              <a:rPr lang="en-GB"/>
              <a:t>Content:</a:t>
            </a:r>
          </a:p>
          <a:p>
            <a:r>
              <a:rPr lang="en-GB"/>
              <a:t>Think of these seven levers as the leadership toolkit for execution architecture. They restore the conditions that allow the strategy to move through the organisation at the speed and quality intended. Each lever targets a specific dimension of the system.</a:t>
            </a:r>
          </a:p>
          <a:p>
            <a:r>
              <a:rPr lang="en-GB"/>
              <a:t>Lever 01</a:t>
            </a:r>
          </a:p>
          <a:p>
            <a:r>
              <a:rPr lang="en-GB"/>
              <a:t>Standardise</a:t>
            </a:r>
          </a:p>
          <a:p>
            <a:r>
              <a:rPr lang="en-GB"/>
              <a:t>Ensure Consistency</a:t>
            </a:r>
          </a:p>
          <a:p>
            <a:r>
              <a:rPr lang="en-GB"/>
              <a:t>▼</a:t>
            </a:r>
          </a:p>
          <a:p>
            <a:r>
              <a:rPr lang="en-GB"/>
              <a:t>Harmonises processes and service levels across teams so everyone plays by the same rules.</a:t>
            </a:r>
          </a:p>
          <a:p>
            <a:r>
              <a:rPr lang="en-GB"/>
              <a:t>Variability is a silent killer of speed. By establishing a shared “way we work,” you reduce duplication and ensure every unit pulls in the same direction. Apply when: Variability across teams is creating drag. Best applied to: Structural Misfit, Misaligned Metrics &amp; Incentives, Technology / Infrastructure Lag.</a:t>
            </a:r>
          </a:p>
          <a:p>
            <a:r>
              <a:rPr lang="en-GB"/>
              <a:t>How it works. Standardise sets one agreed way of working where the strategy needs consistent results across teams, sites or channels. Leaders define the standard, the measure that shows it is met and the leader responsible for keeping it current. The standard covers the work that must be consistent and leaves local judgement where the strategy needs it.</a:t>
            </a:r>
          </a:p>
          <a:p>
            <a:r>
              <a:rPr lang="en-GB"/>
              <a:t>People performance</a:t>
            </a:r>
          </a:p>
          <a:p>
            <a:r>
              <a:rPr lang="en-GB"/>
              <a:t>Individuals work to one set of expectations, so effort is no longer lost translating between teams. Leaders train every team on the standard and hold each individual to the same measure of quality and timeliness.</a:t>
            </a:r>
          </a:p>
          <a:p>
            <a:r>
              <a:rPr lang="en-GB"/>
              <a:t>Organisational performance</a:t>
            </a:r>
          </a:p>
          <a:p>
            <a:r>
              <a:rPr lang="en-GB"/>
              <a:t>Systems · process clarity. Three regions run three versions of customer onboarding. One process replaces them, with one set of service levels.</a:t>
            </a:r>
          </a:p>
          <a:p>
            <a:r>
              <a:rPr lang="en-GB"/>
              <a:t>Governance · clear accountability. A named leader maintains the standard and reviews compliance each quarter.</a:t>
            </a:r>
          </a:p>
          <a:p>
            <a:r>
              <a:rPr lang="en-GB"/>
              <a:t>Lever 02</a:t>
            </a:r>
          </a:p>
          <a:p>
            <a:r>
              <a:rPr lang="en-GB"/>
              <a:t>Streamline</a:t>
            </a:r>
          </a:p>
          <a:p>
            <a:r>
              <a:rPr lang="en-GB"/>
              <a:t>Increase Speed</a:t>
            </a:r>
          </a:p>
          <a:p>
            <a:r>
              <a:rPr lang="en-GB"/>
              <a:t>▼</a:t>
            </a:r>
          </a:p>
          <a:p>
            <a:r>
              <a:rPr lang="en-GB"/>
              <a:t>Simplifies workflows and removes the red tape layers that add no value to execution.</a:t>
            </a:r>
          </a:p>
          <a:p>
            <a:r>
              <a:rPr lang="en-GB"/>
              <a:t>Leaner processes mean faster approvals and a team that can pivot as quickly as the market demands. Apply when: Approval processes are creating latency. Best applied to: Decision Bottlenecks, Structural Misfit.</a:t>
            </a:r>
          </a:p>
          <a:p>
            <a:r>
              <a:rPr lang="en-GB"/>
              <a:t>How it works. Streamline removes the steps, approvals and hand-offs that add time without adding control or value. Leaders map the path a piece of work takes, mark each point where it waits, and remove or combine the steps that change nothing in the outcome. Controls that protect the organisation stay, placed at the point of greatest risk.</a:t>
            </a:r>
          </a:p>
          <a:p>
            <a:r>
              <a:rPr lang="en-GB"/>
              <a:t>People performance</a:t>
            </a:r>
          </a:p>
          <a:p>
            <a:r>
              <a:rPr lang="en-GB"/>
              <a:t>Individuals spend their time on the task itself. Managers decide within clear limits, teams stop chasing approvals, and work moves at the pace the strategy requires.</a:t>
            </a:r>
          </a:p>
          <a:p>
            <a:r>
              <a:rPr lang="en-GB"/>
              <a:t>Organisational performance</a:t>
            </a:r>
          </a:p>
          <a:p>
            <a:r>
              <a:rPr lang="en-GB"/>
              <a:t>Governance · decision authority. Routine purchases below an agreed limit no longer need senior approval.</a:t>
            </a:r>
          </a:p>
          <a:p>
            <a:r>
              <a:rPr lang="en-GB"/>
              <a:t>Systems · approvals. One electronic approval route replaces email chains, and every request shows where it sits.</a:t>
            </a:r>
          </a:p>
          <a:p>
            <a:r>
              <a:rPr lang="en-GB"/>
              <a:t>Lever 03</a:t>
            </a:r>
          </a:p>
          <a:p>
            <a:r>
              <a:rPr lang="en-GB"/>
              <a:t>Clarify</a:t>
            </a:r>
          </a:p>
          <a:p>
            <a:r>
              <a:rPr lang="en-GB"/>
              <a:t>Eliminate Confusion</a:t>
            </a:r>
          </a:p>
          <a:p>
            <a:r>
              <a:rPr lang="en-GB"/>
              <a:t>▼</a:t>
            </a:r>
          </a:p>
          <a:p>
            <a:r>
              <a:rPr lang="en-GB"/>
              <a:t>Defines exactly who owns what, where the handoffs are, and who has the final say.</a:t>
            </a:r>
          </a:p>
          <a:p>
            <a:r>
              <a:rPr lang="en-GB"/>
              <a:t>Ambiguity breeds hesitation. When people know their roles and decision rights, accountability returns and work stops getting stuck in limbo. Apply when: Ownership ambiguity is causing hesitation. Best applied to: Decision Bottlenecks, Structural Misfit, Leadership Avoidance.</a:t>
            </a:r>
          </a:p>
          <a:p>
            <a:r>
              <a:rPr lang="en-GB"/>
              <a:t>How it works. Clarify settles who owns each outcome, who decides, who must be consulted and where work passes from one team to the next. Leaders write the decision rights and hand-offs down, agree them across the functions involved and communicate them to everyone who works across the boundary.</a:t>
            </a:r>
          </a:p>
          <a:p>
            <a:r>
              <a:rPr lang="en-GB"/>
              <a:t>People performance</a:t>
            </a:r>
          </a:p>
          <a:p>
            <a:r>
              <a:rPr lang="en-GB"/>
              <a:t>Individuals know which decisions are theirs and act on them. Escalation falls, ownership returns to the level closest to the work, and accountability can be applied fairly because responsibility now carries matching authority.</a:t>
            </a:r>
          </a:p>
          <a:p>
            <a:r>
              <a:rPr lang="en-GB"/>
              <a:t>Organisational performance</a:t>
            </a:r>
          </a:p>
          <a:p>
            <a:r>
              <a:rPr lang="en-GB"/>
              <a:t>Governance · clear accountability. One executive owns the end-to-end customer-resolution outcome across service, operations and finance.</a:t>
            </a:r>
          </a:p>
          <a:p>
            <a:r>
              <a:rPr lang="en-GB"/>
              <a:t>Governance · review forums. Each open trade-off has a named decision-maker and a date by which the decision is made.</a:t>
            </a:r>
          </a:p>
          <a:p>
            <a:r>
              <a:rPr lang="en-GB"/>
              <a:t>Lever 04</a:t>
            </a:r>
          </a:p>
          <a:p>
            <a:r>
              <a:rPr lang="en-GB"/>
              <a:t>Upgrade</a:t>
            </a:r>
          </a:p>
          <a:p>
            <a:r>
              <a:rPr lang="en-GB"/>
              <a:t>Remove Bottlenecks</a:t>
            </a:r>
          </a:p>
          <a:p>
            <a:r>
              <a:rPr lang="en-GB"/>
              <a:t>▼</a:t>
            </a:r>
          </a:p>
          <a:p>
            <a:r>
              <a:rPr lang="en-GB"/>
              <a:t>Fixes underperforming technology and infrastructure that holds execution back.</a:t>
            </a:r>
          </a:p>
          <a:p>
            <a:r>
              <a:rPr lang="en-GB"/>
              <a:t>You cannot run a modern strategy on yesterday’s tools. Upgrading removes the physical and digital friction that makes scaling feel impossible. Apply when: Systems are creating friction that blocks flow. Best applied to: Technology / Infrastructure Lag, Capability Gaps.</a:t>
            </a:r>
          </a:p>
          <a:p>
            <a:r>
              <a:rPr lang="en-GB"/>
              <a:t>How it works. Upgrade replaces or improves the technology, infrastructure or capability that cannot carry the strategy’s demands. Leaders define the performance the strategy requires in speed, reliability, visibility and scale, measure the gap and invest where the gap constrains the Key Result most.</a:t>
            </a:r>
          </a:p>
          <a:p>
            <a:r>
              <a:rPr lang="en-GB"/>
              <a:t>People performance</a:t>
            </a:r>
          </a:p>
          <a:p>
            <a:r>
              <a:rPr lang="en-GB"/>
              <a:t>Individuals stop spending their time on workarounds: re-keying data, reconciling records and building reports by hand. That time returns to the work the strategy needs, and confidence in improvement initiatives recovers.</a:t>
            </a:r>
          </a:p>
          <a:p>
            <a:r>
              <a:rPr lang="en-GB"/>
              <a:t>Organisational performance</a:t>
            </a:r>
          </a:p>
          <a:p>
            <a:r>
              <a:rPr lang="en-GB"/>
              <a:t>Systems · data integrity. The customer and transport systems are connected, so delivery status updates without manual entry.</a:t>
            </a:r>
          </a:p>
          <a:p>
            <a:r>
              <a:rPr lang="en-GB"/>
              <a:t>Environment · infrastructure. Field teams receive reliable connectivity, so orders reach operations the same day.</a:t>
            </a:r>
          </a:p>
          <a:p>
            <a:r>
              <a:rPr lang="en-GB"/>
              <a:t>Lever 05</a:t>
            </a:r>
          </a:p>
          <a:p>
            <a:r>
              <a:rPr lang="en-GB"/>
              <a:t>Reinforce</a:t>
            </a:r>
          </a:p>
          <a:p>
            <a:r>
              <a:rPr lang="en-GB"/>
              <a:t>Strengthen Behaviour</a:t>
            </a:r>
          </a:p>
          <a:p>
            <a:r>
              <a:rPr lang="en-GB"/>
              <a:t>▼</a:t>
            </a:r>
          </a:p>
          <a:p>
            <a:r>
              <a:rPr lang="en-GB"/>
              <a:t>Equips the team with the skills, coaching, and confidence they need to actually deliver.</a:t>
            </a:r>
          </a:p>
          <a:p>
            <a:r>
              <a:rPr lang="en-GB"/>
              <a:t>Strategy requires new behaviours. Reinforcement ensures your people are capable of making the change. Apply when: Skills or confidence are the limiting factor. Best applied to: Capability Gaps, Cultural Resistance.</a:t>
            </a:r>
          </a:p>
          <a:p>
            <a:r>
              <a:rPr lang="en-GB"/>
              <a:t>How it works. Reinforce builds the skills, habits and confidence the strategy requires of individuals and teams. Leaders identify the behaviours the strategy depends on, provide training and coaching, model the behaviours themselves and recognise them when they appear.</a:t>
            </a:r>
          </a:p>
          <a:p>
            <a:r>
              <a:rPr lang="en-GB"/>
              <a:t>People performance</a:t>
            </a:r>
          </a:p>
          <a:p>
            <a:r>
              <a:rPr lang="en-GB"/>
              <a:t>Individuals gain the capability to meet the new expectations and the confidence to apply it. Coaching through the first cycles turns new skills into habits, and recognition shows people that the new behaviours count.</a:t>
            </a:r>
          </a:p>
          <a:p>
            <a:r>
              <a:rPr lang="en-GB"/>
              <a:t>Organisational performance</a:t>
            </a:r>
          </a:p>
          <a:p>
            <a:r>
              <a:rPr lang="en-GB"/>
              <a:t>Resources · capability alignment. A development programme in digital credit assessment is funded for the whole lending team.</a:t>
            </a:r>
          </a:p>
          <a:p>
            <a:r>
              <a:rPr lang="en-GB"/>
              <a:t>Environment · values and consequences. Leaders’ own decisions and recognition reflect the behaviours the strategy asks for.</a:t>
            </a:r>
          </a:p>
          <a:p>
            <a:r>
              <a:rPr lang="en-GB"/>
              <a:t>Lever 06</a:t>
            </a:r>
          </a:p>
          <a:p>
            <a:r>
              <a:rPr lang="en-GB"/>
              <a:t>Realign</a:t>
            </a:r>
          </a:p>
          <a:p>
            <a:r>
              <a:rPr lang="en-GB"/>
              <a:t>Focus on Results</a:t>
            </a:r>
          </a:p>
          <a:p>
            <a:r>
              <a:rPr lang="en-GB"/>
              <a:t>▼</a:t>
            </a:r>
          </a:p>
          <a:p>
            <a:r>
              <a:rPr lang="en-GB"/>
              <a:t>Adjusts metrics and rewards so they actually match current strategic priorities.</a:t>
            </a:r>
          </a:p>
          <a:p>
            <a:r>
              <a:rPr lang="en-GB"/>
              <a:t>People do what they are measured on. When you fix the incentives, the team’s energy naturally shifts from protecting their patch to creating enterprise value. Apply when: Effort is flowing only to what is measured. Best applied to: Misaligned Metrics &amp; Incentives.</a:t>
            </a:r>
          </a:p>
          <a:p>
            <a:r>
              <a:rPr lang="en-GB"/>
              <a:t>How it works. Realign changes measures, targets and rewards so that they reinforce the contributions the strategy needs. Leaders trace each scorecard measure to the Key Result it serves, remove or reweight the measures that reward local results at the expense of the enterprise outcome, and add measures for shared results.</a:t>
            </a:r>
          </a:p>
          <a:p>
            <a:r>
              <a:rPr lang="en-GB"/>
              <a:t>People performance</a:t>
            </a:r>
          </a:p>
          <a:p>
            <a:r>
              <a:rPr lang="en-GB"/>
              <a:t>Individuals no longer have to choose between their rating and the strategy. Collaboration, quality and contribution to shared outcomes are recognised, so committed people can do what the strategy requires without personal cost.</a:t>
            </a:r>
          </a:p>
          <a:p>
            <a:r>
              <a:rPr lang="en-GB"/>
              <a:t>Organisational performance</a:t>
            </a:r>
          </a:p>
          <a:p>
            <a:r>
              <a:rPr lang="en-GB"/>
              <a:t>Governance · consistent consequences. Sales bonuses are paid on margin and customer retention alongside volume.</a:t>
            </a:r>
          </a:p>
          <a:p>
            <a:r>
              <a:rPr lang="en-GB"/>
              <a:t>Systems · performance data. Shared enterprise measures appear on every functional scorecard that contributes to them.</a:t>
            </a:r>
          </a:p>
          <a:p>
            <a:r>
              <a:rPr lang="en-GB"/>
              <a:t>Lever 07</a:t>
            </a:r>
          </a:p>
          <a:p>
            <a:r>
              <a:rPr lang="en-GB"/>
              <a:t>Rebuild Trust</a:t>
            </a:r>
          </a:p>
          <a:p>
            <a:r>
              <a:rPr lang="en-GB"/>
              <a:t>Restore Credibility</a:t>
            </a:r>
          </a:p>
          <a:p>
            <a:r>
              <a:rPr lang="en-GB"/>
              <a:t>▼</a:t>
            </a:r>
          </a:p>
          <a:p>
            <a:r>
              <a:rPr lang="en-GB"/>
              <a:t>Heals relationships and introduces the transparency needed for people to commit again.</a:t>
            </a:r>
          </a:p>
          <a:p>
            <a:r>
              <a:rPr lang="en-GB"/>
              <a:t>Trust is the social grease of execution. Without it, the system seizes up. Rebuilding it restores the psychological safety required for high-stakes work. Apply when: Psychological safety or leadership credibility is the constraint. Best applied to: Cultural Resistance, Leadership Avoidance.</a:t>
            </a:r>
          </a:p>
          <a:p>
            <a:r>
              <a:rPr lang="en-GB"/>
              <a:t>How it works. Rebuild Trust restores the credibility of leadership and the safety people need to speak, challenge and commit. Leaders acknowledge what has gone wrong, act on the concerns people raise, follow through on their decisions and make the reasons for those decisions visible.</a:t>
            </a:r>
          </a:p>
          <a:p>
            <a:r>
              <a:rPr lang="en-GB"/>
              <a:t>People performance</a:t>
            </a:r>
          </a:p>
          <a:p>
            <a:r>
              <a:rPr lang="en-GB"/>
              <a:t>Individuals raise problems early again, offer ideas and commit to decisions they helped shape. Strong performers regain confidence in the direction.</a:t>
            </a:r>
          </a:p>
          <a:p>
            <a:r>
              <a:rPr lang="en-GB"/>
              <a:t>Organisational performance</a:t>
            </a:r>
          </a:p>
          <a:p>
            <a:r>
              <a:rPr lang="en-GB"/>
              <a:t>Environment · psychological safety. Leaders open each review by asking what is blocking delivery, and act on what they hear.</a:t>
            </a:r>
          </a:p>
          <a:p>
            <a:r>
              <a:rPr lang="en-GB"/>
              <a:t>Governance · consistent consequences. Commitments missed at senior level are addressed to the same standard applied elsewhere.</a:t>
            </a:r>
          </a:p>
          <a:p>
            <a:endParaRPr lang="en-GB"/>
          </a:p>
          <a:p>
            <a:r>
              <a:rPr lang="en-GB"/>
              <a:t>Participant file — what participants complete:</a:t>
            </a:r>
          </a:p>
          <a:p>
            <a:r>
              <a:rPr lang="en-GB"/>
              <a:t>- ✎ Reflection — Your Lever — the primary lever and the second lever they would pull for the clog they identified in Awareness, and why this combination.</a:t>
            </a:r>
          </a:p>
          <a:p>
            <a:endParaRPr lang="en-GB"/>
          </a:p>
          <a:p>
            <a:r>
              <a:rPr lang="en-GB"/>
              <a:t>Source detail (S2R® manuscript):</a:t>
            </a:r>
          </a:p>
          <a:p>
            <a:endParaRPr lang="en-GB"/>
          </a:p>
          <a:p>
            <a:r>
              <a:rPr lang="en-GB"/>
              <a:t>Role of the levers: The levers are not meant to replace the organisational strategy. Friction can come from anywhere: outdated tech, confusing reporting lines, or a lack of trust. Together, the levers allow a leadership team to stop fighting the system and start fine-tuning it.</a:t>
            </a:r>
          </a:p>
          <a:p>
            <a:r>
              <a:rPr lang="en-GB"/>
              <a:t>How each lever entry reads: Strategic Role; What It Enables; Why This Lever Works.</a:t>
            </a:r>
          </a:p>
          <a:p>
            <a:r>
              <a:rPr lang="en-GB"/>
              <a:t>02 · Streamline (why it works): This lever is about removing bureaucratic weight.</a:t>
            </a:r>
          </a:p>
          <a:p>
            <a:r>
              <a:rPr lang="en-GB"/>
              <a:t>05 · Reinforce (in the Capability Gap example): the team’s skills are reinforced through training.</a:t>
            </a:r>
          </a:p>
          <a:p>
            <a:endParaRPr lang="en-GB"/>
          </a:p>
          <a:p>
            <a:r>
              <a:rPr lang="en-GB"/>
              <a:t>Professional insights:</a:t>
            </a:r>
          </a:p>
          <a:p>
            <a:endParaRPr lang="en-GB"/>
          </a:p>
          <a:p>
            <a:r>
              <a:rPr lang="en-GB"/>
              <a:t>02 · Streamline: Drift sets in when accumulated processes, activities and traditions become more important than the value they were meant to serve. Protect the core from the additions that obscure it.</a:t>
            </a:r>
          </a:p>
          <a:p>
            <a:r>
              <a:rPr lang="en-GB"/>
              <a:t>Source: Journal, 25 September 2026 — Professional Insights: Strategy</a:t>
            </a:r>
          </a:p>
          <a:p>
            <a:endParaRPr lang="en-GB"/>
          </a:p>
          <a:p>
            <a:r>
              <a:rPr lang="en-GB"/>
              <a:t>04 · Upgrade: Leaders who remain at the centre of every decision create dependency, slow decision-making and limited growth in others. Place responsibility close to the people who hold the knowledge and authority to carry it.</a:t>
            </a:r>
          </a:p>
          <a:p>
            <a:r>
              <a:rPr lang="en-GB"/>
              <a:t>Source: Journal, 10 July 2026 — Professional Insights: Leadership</a:t>
            </a:r>
          </a:p>
          <a:p>
            <a:endParaRPr lang="en-GB"/>
          </a:p>
          <a:p>
            <a:r>
              <a:rPr lang="en-GB"/>
              <a:t>Mechanisms for action: Organisations often stay frustrated because they announce priorities without creating the mechanisms through which people can act on them. A practical mechanism converts intention into measurable progress.</a:t>
            </a:r>
          </a:p>
          <a:p>
            <a:r>
              <a:rPr lang="en-GB"/>
              <a:t>Source: Journal, 21 July 2026 — Professional Insights: Strategy</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3 · EXTRAPOLATING — WHERE</a:t>
            </a:r>
          </a:p>
          <a:p>
            <a:endParaRPr lang="en-GB"/>
          </a:p>
          <a:p>
            <a:r>
              <a:rPr lang="en-GB"/>
              <a:t>Content:</a:t>
            </a:r>
          </a:p>
          <a:p>
            <a:r>
              <a:rPr lang="en-GB"/>
              <a:t>Where Do Executive Decisions and Practices Contribute to Performance Clogs?</a:t>
            </a:r>
          </a:p>
          <a:p>
            <a:r>
              <a:rPr lang="en-GB"/>
              <a:t>Examining how decisions and management practices within executive functions influence people performance, organisational conditions and strategic results.</a:t>
            </a:r>
          </a:p>
          <a:p>
            <a:endParaRPr lang="en-GB"/>
          </a:p>
          <a:p>
            <a:r>
              <a:rPr lang="en-GB"/>
              <a:t>Section learning outcomes:</a:t>
            </a:r>
          </a:p>
          <a:p>
            <a:r>
              <a:rPr lang="en-GB"/>
              <a:t>1. Evaluate how executive decisions and practices create or reinforce performance clogs.</a:t>
            </a:r>
          </a:p>
          <a:p>
            <a:r>
              <a:rPr lang="en-GB"/>
              <a:t>2. Anticipate and manage cross-functional performance consequences of executive decisions.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3.1 — THE CXO PERFORMANCE CLOG CONTRIBUTORS (Select each executive role to explore)</a:t>
            </a:r>
          </a:p>
          <a:p>
            <a:endParaRPr lang="en-GB"/>
          </a:p>
          <a:p>
            <a:r>
              <a:rPr lang="en-GB"/>
              <a:t>TEACHING NOTES:</a:t>
            </a:r>
          </a:p>
          <a:p>
            <a:r>
              <a:rPr lang="en-GB"/>
              <a:t>Begin with each participant’s own executive role, then the two roles closest to it. For each card, read the decision or practice, then trace it through the three lines of sight: the result affected, how people respond, and the clog that follows.</a:t>
            </a:r>
          </a:p>
          <a:p>
            <a:r>
              <a:rPr lang="en-GB"/>
              <a:t>Name the clog on each card: CEO, Leadership Avoidance; CFO, Decision Bottlenecks; COO, Structural Misfit; CHRO, Misaligned Metrics &amp; Incentives; CTO/CIO, Technology / Infrastructure Lag; CMO, Structural Misfit; CCO, Misaligned Metrics &amp; Incentives; CPO, Misaligned Metrics &amp; Incentives; CRO, Decision Bottlenecks; CSO, Structural Misfit.</a:t>
            </a:r>
          </a:p>
          <a:p>
            <a:r>
              <a:rPr lang="en-GB"/>
              <a:t>Close with the Closing Insight: executive decisions shape the conditions in which people and teams perform.</a:t>
            </a:r>
          </a:p>
          <a:p>
            <a:endParaRPr lang="en-GB"/>
          </a:p>
          <a:p>
            <a:r>
              <a:rPr lang="en-GB"/>
              <a:t>Content:</a:t>
            </a:r>
          </a:p>
          <a:p>
            <a:r>
              <a:rPr lang="en-GB"/>
              <a:t>Executive roles carry responsibility for different parts of the organisation’s operating system. Through their decisions, executives determine how resources are allocated, work is organised, people are managed, performance is measured and risks are controlled. These decisions shape the conditions in which individuals and teams contribute to strategic results.</a:t>
            </a:r>
          </a:p>
          <a:p>
            <a:r>
              <a:rPr lang="en-GB"/>
              <a:t>A performance clog can form when a decision or management practice in one executive function creates difficulties for people working elsewhere. Participants select an executive role to examine a realistic decision and its consequences through the Three Performance Lines of Sight.</a:t>
            </a:r>
          </a:p>
          <a:p>
            <a:r>
              <a:rPr lang="en-GB"/>
              <a:t>CEOEnterprise DirectionCFOFinancial StewardshipCOOOperational DisciplineCHROPeople and CultureCTO/CIOTechnology and InformationCMOMarket and Customer InsightCCOCommercial PerformanceCPOProcurement and SupplyCRORisk and GovernanceCSOStrategic Integration</a:t>
            </a:r>
          </a:p>
          <a:p>
            <a:r>
              <a:rPr lang="en-GB"/>
              <a:t>CEO · Enterprise Direction</a:t>
            </a:r>
          </a:p>
          <a:p>
            <a:r>
              <a:rPr lang="en-GB"/>
              <a:t>Executive decision or practice</a:t>
            </a:r>
          </a:p>
          <a:p>
            <a:r>
              <a:rPr lang="en-GB"/>
              <a:t>The CEO repeatedly postpones a decision about which of two competing strategic initiatives should receive priority.</a:t>
            </a:r>
          </a:p>
          <a:p>
            <a:r>
              <a:rPr lang="en-GB"/>
              <a:t>Line of Sight 1 — Performance Outcome</a:t>
            </a:r>
          </a:p>
          <a:p>
            <a:r>
              <a:rPr lang="en-GB"/>
              <a:t>Both initiatives fall behind their planned delivery milestones.</a:t>
            </a:r>
          </a:p>
          <a:p>
            <a:r>
              <a:rPr lang="en-GB"/>
              <a:t>Line of Sight 2 — Performance Behaviour</a:t>
            </a:r>
          </a:p>
          <a:p>
            <a:r>
              <a:rPr lang="en-GB"/>
              <a:t>Executive teams continue pursuing competing priorities. Managers divide resources between both initiatives and delay commitments while awaiting direction.</a:t>
            </a:r>
          </a:p>
          <a:p>
            <a:r>
              <a:rPr lang="en-GB"/>
              <a:t>Line of Sight 3 — Performance Condition</a:t>
            </a:r>
          </a:p>
          <a:p>
            <a:r>
              <a:rPr lang="en-GB"/>
              <a:t>Leadership Avoidance. The unresolved trade-off sustains conflicting priorities and prevents resources and attention from being concentrated on an agreed direction.</a:t>
            </a:r>
          </a:p>
          <a:p>
            <a:r>
              <a:rPr lang="en-GB"/>
              <a:t>Question for participants: Which unresolved strategic trade-off may be causing competing priorities across the organisation?</a:t>
            </a:r>
          </a:p>
          <a:p>
            <a:r>
              <a:rPr lang="en-GB"/>
              <a:t>CFO · Financial Stewardship</a:t>
            </a:r>
          </a:p>
          <a:p>
            <a:r>
              <a:rPr lang="en-GB"/>
              <a:t>Executive decision or practice</a:t>
            </a:r>
          </a:p>
          <a:p>
            <a:r>
              <a:rPr lang="en-GB"/>
              <a:t>The CFO introduces additional senior-level approvals for routine operational expenditure.</a:t>
            </a:r>
          </a:p>
          <a:p>
            <a:r>
              <a:rPr lang="en-GB"/>
              <a:t>Line of Sight 1 — Performance Outcome</a:t>
            </a:r>
          </a:p>
          <a:p>
            <a:r>
              <a:rPr lang="en-GB"/>
              <a:t>Operational delivery milestones are repeatedly missed despite adequate budget provision.</a:t>
            </a:r>
          </a:p>
          <a:p>
            <a:r>
              <a:rPr lang="en-GB"/>
              <a:t>Line of Sight 2 — Performance Behaviour</a:t>
            </a:r>
          </a:p>
          <a:p>
            <a:r>
              <a:rPr lang="en-GB"/>
              <a:t>Managers wait for purchasing approval, employees delay scheduled work, and teams frequently escalate routine expenditure requests.</a:t>
            </a:r>
          </a:p>
          <a:p>
            <a:r>
              <a:rPr lang="en-GB"/>
              <a:t>Line of Sight 3 — Performance Condition</a:t>
            </a:r>
          </a:p>
          <a:p>
            <a:r>
              <a:rPr lang="en-GB"/>
              <a:t>Decision Bottlenecks. Financial authority is positioned too far from routine operational decisions, slowing the flow of work.</a:t>
            </a:r>
          </a:p>
          <a:p>
            <a:r>
              <a:rPr lang="en-GB"/>
              <a:t>Question for participants: Where might our financial controls be delaying decisions needed for operational delivery?</a:t>
            </a:r>
          </a:p>
          <a:p>
            <a:r>
              <a:rPr lang="en-GB"/>
              <a:t>COO · Operational Discipline</a:t>
            </a:r>
          </a:p>
          <a:p>
            <a:r>
              <a:rPr lang="en-GB"/>
              <a:t>Executive decision or practice</a:t>
            </a:r>
          </a:p>
          <a:p>
            <a:r>
              <a:rPr lang="en-GB"/>
              <a:t>The COO maintains separate departmental responsibilities for activities that require coordinated end-to-end delivery.</a:t>
            </a:r>
          </a:p>
          <a:p>
            <a:r>
              <a:rPr lang="en-GB"/>
              <a:t>Line of Sight 1 — Performance Outcome</a:t>
            </a:r>
          </a:p>
          <a:p>
            <a:r>
              <a:rPr lang="en-GB"/>
              <a:t>Customer service resolution times remain below the required standard.</a:t>
            </a:r>
          </a:p>
          <a:p>
            <a:r>
              <a:rPr lang="en-GB"/>
              <a:t>Line of Sight 2 — Performance Behaviour</a:t>
            </a:r>
          </a:p>
          <a:p>
            <a:r>
              <a:rPr lang="en-GB"/>
              <a:t>Teams complete their assigned tasks but transfer unresolved cases between departments. Employees spend time following up on work controlled by other teams.</a:t>
            </a:r>
          </a:p>
          <a:p>
            <a:r>
              <a:rPr lang="en-GB"/>
              <a:t>Line of Sight 3 — Performance Condition</a:t>
            </a:r>
          </a:p>
          <a:p>
            <a:r>
              <a:rPr lang="en-GB"/>
              <a:t>Structural Misfit. The operating arrangement fragments ownership of the customer outcome and creates delays at functional boundaries.</a:t>
            </a:r>
          </a:p>
          <a:p>
            <a:r>
              <a:rPr lang="en-GB"/>
              <a:t>Question for participants: Which operating arrangements make it difficult for teams to deliver shared outcomes?</a:t>
            </a:r>
          </a:p>
          <a:p>
            <a:r>
              <a:rPr lang="en-GB"/>
              <a:t>CHRO · People and Culture</a:t>
            </a:r>
          </a:p>
          <a:p>
            <a:r>
              <a:rPr lang="en-GB"/>
              <a:t>Executive decision or practice</a:t>
            </a:r>
          </a:p>
          <a:p>
            <a:r>
              <a:rPr lang="en-GB"/>
              <a:t>The CHRO maintains individual performance measures focused on task completion when the strategy requires greater cross-functional collaboration.</a:t>
            </a:r>
          </a:p>
          <a:p>
            <a:r>
              <a:rPr lang="en-GB"/>
              <a:t>Line of Sight 1 — Performance Outcome</a:t>
            </a:r>
          </a:p>
          <a:p>
            <a:r>
              <a:rPr lang="en-GB"/>
              <a:t>Functional targets are achieved while shared enterprise outcomes remain weak.</a:t>
            </a:r>
          </a:p>
          <a:p>
            <a:r>
              <a:rPr lang="en-GB"/>
              <a:t>Line of Sight 2 — Performance Behaviour</a:t>
            </a:r>
          </a:p>
          <a:p>
            <a:r>
              <a:rPr lang="en-GB"/>
              <a:t>Employees prioritise their own scorecards and give less attention to activities that support other teams or shared results.</a:t>
            </a:r>
          </a:p>
          <a:p>
            <a:r>
              <a:rPr lang="en-GB"/>
              <a:t>Line of Sight 3 — Performance Condition</a:t>
            </a:r>
          </a:p>
          <a:p>
            <a:r>
              <a:rPr lang="en-GB"/>
              <a:t>Misaligned Metrics &amp; Incentives. The performance management system reinforces individual outputs without sufficient recognition of contributions to enterprise outcomes.</a:t>
            </a:r>
          </a:p>
          <a:p>
            <a:r>
              <a:rPr lang="en-GB"/>
              <a:t>Question for participants: Which performance measures may be reinforcing behaviours that undermine collaboration?</a:t>
            </a:r>
          </a:p>
          <a:p>
            <a:r>
              <a:rPr lang="en-GB"/>
              <a:t>CTO/CIO · Technology and Information</a:t>
            </a:r>
          </a:p>
          <a:p>
            <a:r>
              <a:rPr lang="en-GB"/>
              <a:t>Executive decision or practice</a:t>
            </a:r>
          </a:p>
          <a:p>
            <a:r>
              <a:rPr lang="en-GB"/>
              <a:t>The CTO/CIO approves separate technology platforms without sufficiently addressing the integration required between functions.</a:t>
            </a:r>
          </a:p>
          <a:p>
            <a:r>
              <a:rPr lang="en-GB"/>
              <a:t>Line of Sight 1 — Performance Outcome</a:t>
            </a:r>
          </a:p>
          <a:p>
            <a:r>
              <a:rPr lang="en-GB"/>
              <a:t>Service turnaround times and management information reliability deteriorate.</a:t>
            </a:r>
          </a:p>
          <a:p>
            <a:r>
              <a:rPr lang="en-GB"/>
              <a:t>Line of Sight 2 — Performance Behaviour</a:t>
            </a:r>
          </a:p>
          <a:p>
            <a:r>
              <a:rPr lang="en-GB"/>
              <a:t>Employees duplicate information across systems, reconcile conflicting records and rely on manual updates.</a:t>
            </a:r>
          </a:p>
          <a:p>
            <a:r>
              <a:rPr lang="en-GB"/>
              <a:t>Line of Sight 3 — Performance Condition</a:t>
            </a:r>
          </a:p>
          <a:p>
            <a:r>
              <a:rPr lang="en-GB"/>
              <a:t>Technology / Infrastructure Lag. Fragmented information systems make routine work slower and reduce the visibility needed for coordinated delivery.</a:t>
            </a:r>
          </a:p>
          <a:p>
            <a:r>
              <a:rPr lang="en-GB"/>
              <a:t>Question for participants: Where are technology limitations forcing employees to rely on workarounds?</a:t>
            </a:r>
          </a:p>
          <a:p>
            <a:r>
              <a:rPr lang="en-GB"/>
              <a:t>CMO · Market and Customer Insight</a:t>
            </a:r>
          </a:p>
          <a:p>
            <a:r>
              <a:rPr lang="en-GB"/>
              <a:t>Executive decision or practice</a:t>
            </a:r>
          </a:p>
          <a:p>
            <a:r>
              <a:rPr lang="en-GB"/>
              <a:t>The CMO increases promotional activity without confirming whether the organisation can fulfil the resulting demand.</a:t>
            </a:r>
          </a:p>
          <a:p>
            <a:r>
              <a:rPr lang="en-GB"/>
              <a:t>Line of Sight 1 — Performance Outcome</a:t>
            </a:r>
          </a:p>
          <a:p>
            <a:r>
              <a:rPr lang="en-GB"/>
              <a:t>Customer complaints increase despite improved campaign performance.</a:t>
            </a:r>
          </a:p>
          <a:p>
            <a:r>
              <a:rPr lang="en-GB"/>
              <a:t>Line of Sight 2 — Performance Behaviour</a:t>
            </a:r>
          </a:p>
          <a:p>
            <a:r>
              <a:rPr lang="en-GB"/>
              <a:t>Customer-facing employees make commitments that fulfilment teams struggle to meet. Teams spend more time managing complaints and expectations.</a:t>
            </a:r>
          </a:p>
          <a:p>
            <a:r>
              <a:rPr lang="en-GB"/>
              <a:t>Line of Sight 3 — Performance Condition</a:t>
            </a:r>
          </a:p>
          <a:p>
            <a:r>
              <a:rPr lang="en-GB"/>
              <a:t>Structural Misfit. Market-facing activity and delivery capacity are insufficiently coordinated, creating strain across the customer value chain.</a:t>
            </a:r>
          </a:p>
          <a:p>
            <a:r>
              <a:rPr lang="en-GB"/>
              <a:t>Question for participants: Where might our market-facing decisions be creating delivery expectations that other functions cannot meet?</a:t>
            </a:r>
          </a:p>
          <a:p>
            <a:r>
              <a:rPr lang="en-GB"/>
              <a:t>CCO · Commercial Performance</a:t>
            </a:r>
          </a:p>
          <a:p>
            <a:r>
              <a:rPr lang="en-GB"/>
              <a:t>Executive decision or practice</a:t>
            </a:r>
          </a:p>
          <a:p>
            <a:r>
              <a:rPr lang="en-GB"/>
              <a:t>The CCO introduces aggressive sales-volume incentives without adequately incorporating delivery quality and customer retention.</a:t>
            </a:r>
          </a:p>
          <a:p>
            <a:r>
              <a:rPr lang="en-GB"/>
              <a:t>Line of Sight 1 — Performance Outcome</a:t>
            </a:r>
          </a:p>
          <a:p>
            <a:r>
              <a:rPr lang="en-GB"/>
              <a:t>Sales volumes increase while margins and customer retention deteriorate.</a:t>
            </a:r>
          </a:p>
          <a:p>
            <a:r>
              <a:rPr lang="en-GB"/>
              <a:t>Line of Sight 2 — Performance Behaviour</a:t>
            </a:r>
          </a:p>
          <a:p>
            <a:r>
              <a:rPr lang="en-GB"/>
              <a:t>Commercial teams prioritise closing transactions and offer commitments that place pressure on fulfilment teams.</a:t>
            </a:r>
          </a:p>
          <a:p>
            <a:r>
              <a:rPr lang="en-GB"/>
              <a:t>Line of Sight 3 — Performance Condition</a:t>
            </a:r>
          </a:p>
          <a:p>
            <a:r>
              <a:rPr lang="en-GB"/>
              <a:t>Misaligned Metrics &amp; Incentives. The incentive system rewards immediate commercial output without sufficient attention to sustainable customer and enterprise value.</a:t>
            </a:r>
          </a:p>
          <a:p>
            <a:r>
              <a:rPr lang="en-GB"/>
              <a:t>Question for participants: Which commercial targets might encourage short-term gains that weaken overall results?</a:t>
            </a:r>
          </a:p>
          <a:p>
            <a:r>
              <a:rPr lang="en-GB"/>
              <a:t>CPO · Procurement and Supply</a:t>
            </a:r>
          </a:p>
          <a:p>
            <a:r>
              <a:rPr lang="en-GB"/>
              <a:t>Executive decision or practice</a:t>
            </a:r>
          </a:p>
          <a:p>
            <a:r>
              <a:rPr lang="en-GB"/>
              <a:t>The CPO prioritises lowest purchase price without sufficiently considering reliability and operational quality requirements.</a:t>
            </a:r>
          </a:p>
          <a:p>
            <a:r>
              <a:rPr lang="en-GB"/>
              <a:t>Line of Sight 1 — Performance Outcome</a:t>
            </a:r>
          </a:p>
          <a:p>
            <a:r>
              <a:rPr lang="en-GB"/>
              <a:t>Production interruptions and quality failures increase despite reported procurement savings.</a:t>
            </a:r>
          </a:p>
          <a:p>
            <a:r>
              <a:rPr lang="en-GB"/>
              <a:t>Line of Sight 2 — Performance Behaviour</a:t>
            </a:r>
          </a:p>
          <a:p>
            <a:r>
              <a:rPr lang="en-GB"/>
              <a:t>Operational teams spend time resolving supply problems, replacing unsuitable inputs and adjusting production schedules.</a:t>
            </a:r>
          </a:p>
          <a:p>
            <a:r>
              <a:rPr lang="en-GB"/>
              <a:t>Line of Sight 3 — Performance Condition</a:t>
            </a:r>
          </a:p>
          <a:p>
            <a:r>
              <a:rPr lang="en-GB"/>
              <a:t>Misaligned Metrics &amp; Incentives. Procurement performance is evaluated through savings while the cost of unreliable supply is experienced elsewhere.</a:t>
            </a:r>
          </a:p>
          <a:p>
            <a:r>
              <a:rPr lang="en-GB"/>
              <a:t>Question for participants: Where might procurement measures be encouraging savings that increase costs or delays in other functions?</a:t>
            </a:r>
          </a:p>
          <a:p>
            <a:r>
              <a:rPr lang="en-GB"/>
              <a:t>CRO · Risk and Governance</a:t>
            </a:r>
          </a:p>
          <a:p>
            <a:r>
              <a:rPr lang="en-GB"/>
              <a:t>Executive decision or practice</a:t>
            </a:r>
          </a:p>
          <a:p>
            <a:r>
              <a:rPr lang="en-GB"/>
              <a:t>The CRO requires the same extensive approval process for routine low-risk changes as for significant strategic decisions.</a:t>
            </a:r>
          </a:p>
          <a:p>
            <a:r>
              <a:rPr lang="en-GB"/>
              <a:t>Line of Sight 1 — Performance Outcome</a:t>
            </a:r>
          </a:p>
          <a:p>
            <a:r>
              <a:rPr lang="en-GB"/>
              <a:t>Operational improvements and responses to emerging issues are repeatedly delayed.</a:t>
            </a:r>
          </a:p>
          <a:p>
            <a:r>
              <a:rPr lang="en-GB"/>
              <a:t>Line of Sight 2 — Performance Behaviour</a:t>
            </a:r>
          </a:p>
          <a:p>
            <a:r>
              <a:rPr lang="en-GB"/>
              <a:t>Managers defer small improvements, submit repeated approval requests and avoid making decisions within their operational responsibilities.</a:t>
            </a:r>
          </a:p>
          <a:p>
            <a:r>
              <a:rPr lang="en-GB"/>
              <a:t>Line of Sight 3 — Performance Condition</a:t>
            </a:r>
          </a:p>
          <a:p>
            <a:r>
              <a:rPr lang="en-GB"/>
              <a:t>Decision Bottlenecks. Governance requirements are disproportionate to the decisions involved, slowing action and weakening ownership.</a:t>
            </a:r>
          </a:p>
          <a:p>
            <a:r>
              <a:rPr lang="en-GB"/>
              <a:t>Question for participants: Which approval requirements may be slowing routine decisions without materially improving risk control?</a:t>
            </a:r>
          </a:p>
          <a:p>
            <a:r>
              <a:rPr lang="en-GB"/>
              <a:t>CSO · Strategic Integration</a:t>
            </a:r>
          </a:p>
          <a:p>
            <a:r>
              <a:rPr lang="en-GB"/>
              <a:t>Executive decision or practice</a:t>
            </a:r>
          </a:p>
          <a:p>
            <a:r>
              <a:rPr lang="en-GB"/>
              <a:t>The CSO continues reporting strategic initiative progress without adequately examining unresolved dependencies between functions.</a:t>
            </a:r>
          </a:p>
          <a:p>
            <a:r>
              <a:rPr lang="en-GB"/>
              <a:t>Line of Sight 1 — Performance Outcome</a:t>
            </a:r>
          </a:p>
          <a:p>
            <a:r>
              <a:rPr lang="en-GB"/>
              <a:t>Strategic milestones repeatedly slip despite satisfactory functional progress reports.</a:t>
            </a:r>
          </a:p>
          <a:p>
            <a:r>
              <a:rPr lang="en-GB"/>
              <a:t>Line of Sight 2 — Performance Behaviour</a:t>
            </a:r>
          </a:p>
          <a:p>
            <a:r>
              <a:rPr lang="en-GB"/>
              <a:t>Functional leaders report their own activities while cross-functional obstacles remain unresolved.</a:t>
            </a:r>
          </a:p>
          <a:p>
            <a:r>
              <a:rPr lang="en-GB"/>
              <a:t>Line of Sight 3 — Performance Condition</a:t>
            </a:r>
          </a:p>
          <a:p>
            <a:r>
              <a:rPr lang="en-GB"/>
              <a:t>Structural Misfit. The strategy review process does not sufficiently surface fragmented contribution ownership and delivery dependencies.</a:t>
            </a:r>
          </a:p>
          <a:p>
            <a:r>
              <a:rPr lang="en-GB"/>
              <a:t>Question for participants: Which interdependencies remain unresolved despite regular strategic progress reporting?</a:t>
            </a:r>
          </a:p>
          <a:p>
            <a:r>
              <a:rPr lang="en-GB"/>
              <a:t>Personal reflection · Portfolio Work: My Executive Contribution to Performance</a:t>
            </a:r>
          </a:p>
          <a:p>
            <a:r>
              <a:rPr lang="en-GB"/>
              <a:t>Participants think about one decision, policy or management practice within their own executive function that may be affecting the performance of another team or function, and examine its consequences through the Three Performance Lines of Sight.</a:t>
            </a:r>
          </a:p>
          <a:p>
            <a:r>
              <a:rPr lang="en-GB"/>
              <a:t>The questions participants answer in their own file:</a:t>
            </a:r>
          </a:p>
          <a:p>
            <a:r>
              <a:rPr lang="en-GB"/>
              <a:t>What participants record · The question they answer</a:t>
            </a:r>
          </a:p>
          <a:p>
            <a:r>
              <a:rPr lang="en-GB"/>
              <a:t>My executive function · “Identify your executive function.”</a:t>
            </a:r>
          </a:p>
          <a:p>
            <a:r>
              <a:rPr lang="en-GB"/>
              <a:t>Decision or management practice · “What one decision, policy or practice within your function may be affecting another function?”</a:t>
            </a:r>
          </a:p>
          <a:p>
            <a:r>
              <a:rPr lang="en-GB"/>
              <a:t>1 · Performance Outcome · “Which organisational result is affected?”</a:t>
            </a:r>
          </a:p>
          <a:p>
            <a:r>
              <a:rPr lang="en-GB"/>
              <a:t>2 · Performance Behaviour · “What are people doing, delaying or unable to do because of this decision?”</a:t>
            </a:r>
          </a:p>
          <a:p>
            <a:r>
              <a:rPr lang="en-GB"/>
              <a:t>3 · Performance Condition · “Which of the seven clogs does the decision or practice create or reinforce?”</a:t>
            </a:r>
          </a:p>
          <a:p>
            <a:endParaRPr lang="en-GB"/>
          </a:p>
          <a:p>
            <a:r>
              <a:rPr lang="en-GB"/>
              <a:t>Participant file — what participants complete:</a:t>
            </a:r>
          </a:p>
          <a:p>
            <a:r>
              <a:rPr lang="en-GB"/>
              <a:t>- ✎ Reflection — My Executive Contribution to Performance (Portfolio work): my executive function; one decision or management practice; 1 · Performance Outcome; 2 · Performance Behaviour; 3 · Performance Condition.</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4 · INTEGRATION — COLLECTIVE</a:t>
            </a:r>
          </a:p>
          <a:p>
            <a:endParaRPr lang="en-GB"/>
          </a:p>
          <a:p>
            <a:r>
              <a:rPr lang="en-GB"/>
              <a:t>Content:</a:t>
            </a:r>
          </a:p>
          <a:p>
            <a:r>
              <a:rPr lang="en-GB"/>
              <a:t>Cross Leadership Clog Ownership</a:t>
            </a:r>
          </a:p>
          <a:p>
            <a:r>
              <a:rPr lang="en-GB"/>
              <a:t>Building the collective discipline of normalising the unclog, where detecting and clearing performance friction becomes a shared leadership habit.</a:t>
            </a:r>
          </a:p>
          <a:p>
            <a:endParaRPr lang="en-GB"/>
          </a:p>
          <a:p>
            <a:r>
              <a:rPr lang="en-GB"/>
              <a:t>Section learning outcomes:</a:t>
            </a:r>
          </a:p>
          <a:p>
            <a:r>
              <a:rPr lang="en-GB"/>
              <a:t>1. Mobilise cross-functional leadership to restore shared performance momentum.</a:t>
            </a:r>
          </a:p>
          <a:p>
            <a:r>
              <a:rPr lang="en-GB"/>
              <a:t>2. Establish a collective leadership rhythm for surfacing and resolving performance friction.</a:t>
            </a:r>
          </a:p>
          <a:p>
            <a:endParaRPr lang="en-GB"/>
          </a:p>
          <a:p>
            <a:r>
              <a:rPr lang="en-GB"/>
              <a:t>Professional insights:</a:t>
            </a:r>
          </a:p>
          <a:p>
            <a:endParaRPr lang="en-GB"/>
          </a:p>
          <a:p>
            <a:r>
              <a:rPr lang="en-GB"/>
              <a:t>Owning inherited problems: Leaders who own only what they personally initiated leave inherited breaches to fester. Accept the full liabilities of the position: the authority to fix a problem comes with the willingness to be accountable for it.</a:t>
            </a:r>
          </a:p>
          <a:p>
            <a:r>
              <a:rPr lang="en-GB"/>
              <a:t>Source: Journal, 2 June 2026 — Professional Insights: Leadership</a:t>
            </a:r>
          </a:p>
          <a:p>
            <a:r>
              <a:rPr lang="en-GB"/>
              <a:t>Self-generated dysfunction: Organisations are more effective at dismantling inherited problems than at confronting the ones current leadership has grown comfortable with. A complete audit asks what the current leadership is leaving in place.</a:t>
            </a:r>
          </a:p>
          <a:p>
            <a:r>
              <a:rPr lang="en-GB"/>
              <a:t>Source: Journal, 23 June 2026 — Professional Insights: Strategy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4.1 — NORMALISING THE UNCLOG: FROM CRISIS TO HABIT (The collective discipline)</a:t>
            </a:r>
          </a:p>
          <a:p>
            <a:endParaRPr lang="en-GB"/>
          </a:p>
          <a:p>
            <a:r>
              <a:rPr lang="en-GB"/>
              <a:t>TEACHING NOTES:</a:t>
            </a:r>
          </a:p>
          <a:p>
            <a:r>
              <a:rPr lang="en-GB"/>
              <a:t>Teach friction as a normal feature of organisational life. Without a shared discipline, problems are discussed informally, handled in silos or carried from review to review.</a:t>
            </a:r>
          </a:p>
          <a:p>
            <a:r>
              <a:rPr lang="en-GB"/>
              <a:t>Teach the consistent path: REVIEW, REALIGN, RESTORE. Then the collective leadership principle: every executive makes emerging friction visible; the leaders who control the contributing conditions act together, with clear individual ownership of each commitment.</a:t>
            </a:r>
          </a:p>
          <a:p>
            <a:endParaRPr lang="en-GB"/>
          </a:p>
          <a:p>
            <a:r>
              <a:rPr lang="en-GB"/>
              <a:t>Content:</a:t>
            </a:r>
          </a:p>
          <a:p>
            <a:r>
              <a:rPr lang="en-GB"/>
              <a:t>Performance friction is a normal feature of organisational life. Strategic priorities shift, resources become constrained, dependencies increase and existing operating arrangements may no longer support the required results. Without a shared leadership discipline, these problems are discussed informally, addressed within silos or left unresolved across successive performance reviews.</a:t>
            </a:r>
          </a:p>
          <a:p>
            <a:r>
              <a:rPr lang="en-GB"/>
              <a:t>Normalising the unclog means making the early detection and removal of performance constraints part of how the executive team operates. Leaders raise concerns through evidence, examine the contributing conditions together and agree on an accountable response. Surfacing friction is treated as a contribution to organisational learning and performance, including when the condition involves another executive portfolio.</a:t>
            </a:r>
          </a:p>
          <a:p>
            <a:r>
              <a:rPr lang="en-GB"/>
              <a:t>The leadership team follows a consistent path: REVIEW the performance evidence and confirm the clog; REALIGN executive ownership and the changes required across people and organisational performance; RESTORE by activating the relevant Seven Unclogging Lever and verifying recovery. Review–Realign–Restore is the cycle every performance review follows. Here the executive team applies it together, as the Unclogging Cycle, to a clog that crosses executive portfolios.</a:t>
            </a:r>
          </a:p>
          <a:p>
            <a:r>
              <a:rPr lang="en-GB"/>
              <a:t>Collective leadership principle. Every executive is responsible for making emerging friction visible. The leaders who control the contributing conditions must act together to remove it, with clear individual ownership for each agreed commitment.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4.2 — THE UNCLOGGING CYCLE: REVIEW–REALIGN–RESTORE · REVIEW</a:t>
            </a:r>
          </a:p>
          <a:p>
            <a:endParaRPr lang="en-GB"/>
          </a:p>
          <a:p>
            <a:r>
              <a:rPr lang="en-GB"/>
              <a:t>TEACHING NOTES:</a:t>
            </a:r>
          </a:p>
          <a:p>
            <a:r>
              <a:rPr lang="en-GB"/>
              <a:t>Teach REVIEW as one stage of the Unclogging Cycle: what the stage establishes, what it means in people performance and in organisational performance, and what it adds to the Unclogging Record.</a:t>
            </a:r>
          </a:p>
          <a:p>
            <a:endParaRPr lang="en-GB"/>
          </a:p>
          <a:p>
            <a:r>
              <a:rPr lang="en-GB"/>
              <a:t>Content:</a:t>
            </a:r>
          </a:p>
          <a:p>
            <a:r>
              <a:rPr lang="en-GB"/>
              <a:t>The Unclogging Cycle is the S2R® discipline the executive team follows to remove a clog. REVIEW establishes the performance reality and confirms the clog. REALIGN settles which leaders act and what must change. RESTORE activates the Unclogging Lever and verifies recovery. Each stage completes one part of the Unclogging Record, so the record the team holds at the end is the evidence of the whole cycle.</a:t>
            </a:r>
          </a:p>
          <a:p>
            <a:r>
              <a:rPr lang="en-GB"/>
              <a:t>REVIEW establishes a shared, evidence-based understanding of the result falling short and the organisational condition contributing to it. Leaders use the Three Performance Lines of Sight to distinguish the outcome from the behaviours observed and the conditions causing or reinforcing them.</a:t>
            </a:r>
          </a:p>
          <a:p>
            <a:r>
              <a:rPr lang="en-GB"/>
              <a:t>Performance Outcome — Confirm the Key Result or KPI that is underperforming and establish the actual gap.</a:t>
            </a:r>
          </a:p>
          <a:p>
            <a:r>
              <a:rPr lang="en-GB"/>
              <a:t>Performance Behaviour — Identify what individuals or teams are doing, delaying or unable to do that contributes to the gap.</a:t>
            </a:r>
          </a:p>
          <a:p>
            <a:r>
              <a:rPr lang="en-GB"/>
              <a:t>Performance Condition — Test the evidence against the Seven Clogs and identify the condition sustaining the behaviour.</a:t>
            </a:r>
          </a:p>
          <a:p>
            <a:r>
              <a:rPr lang="en-GB"/>
              <a:t>The review conversation must allow leaders to surface performance friction across functional boundaries. Concerns should be examined through observable evidence, including where the condition may sit within another executive portfolio.</a:t>
            </a:r>
          </a:p>
          <a:p>
            <a:r>
              <a:rPr lang="en-GB"/>
              <a:t>People performance</a:t>
            </a:r>
          </a:p>
          <a:p>
            <a:r>
              <a:rPr lang="en-GB"/>
              <a:t>REVIEW examines what individuals and teams are doing, delaying or unable to do, and separates what is within their control from what the conditions impose. Leaders draw the evidence from the work itself: decisions waiting, hand-offs repeated, rework recorded.</a:t>
            </a:r>
          </a:p>
          <a:p>
            <a:r>
              <a:rPr lang="en-GB"/>
              <a:t>Organisational performance</a:t>
            </a:r>
          </a:p>
          <a:p>
            <a:r>
              <a:rPr lang="en-GB"/>
              <a:t>REVIEW tests whether the organisational conditions support the execution of the individuals’ tasks, and locates the condition sustaining the behaviour. Leaders examine the evidence across executive portfolios, because the condition often sits outside the function where the clog shows.</a:t>
            </a:r>
          </a:p>
          <a:p>
            <a:r>
              <a:rPr lang="en-GB"/>
              <a:t>REVIEW is complete when the executive team agrees on the performance gap, the supporting evidence and the clog requiring intervention.</a:t>
            </a:r>
          </a:p>
          <a:p>
            <a:r>
              <a:rPr lang="en-GB"/>
              <a:t>Into the Unclogging Record: the performance gap, the evidence from the three lines of sight and the confirmed clog.</a:t>
            </a:r>
          </a:p>
          <a:p>
            <a:endParaRPr lang="en-GB"/>
          </a:p>
          <a:p>
            <a:r>
              <a:rPr lang="en-GB"/>
              <a:t>Professional insights:</a:t>
            </a:r>
          </a:p>
          <a:p>
            <a:endParaRPr lang="en-GB"/>
          </a:p>
          <a:p>
            <a:r>
              <a:rPr lang="en-GB"/>
              <a:t>Surfacing early: Naming a hidden problem specifically restores the capacity for forward movement. Build the conditions in which hidden problems can surface safely and early, before they surface at the worst possible moment.</a:t>
            </a:r>
          </a:p>
          <a:p>
            <a:r>
              <a:rPr lang="en-GB"/>
              <a:t>Source: Journal, 6 April 2026 — Professional Insights: Culture</a:t>
            </a:r>
          </a:p>
          <a:p>
            <a:r>
              <a:rPr lang="en-GB"/>
              <a:t>The arithmetic of the cover-up: Every resource spent hiding a problem compounds its eventual cost. Make it cheaper to disclose than to hide, and model disclosure yourself; the leader who covers teaches everyone below to cover too.</a:t>
            </a:r>
          </a:p>
          <a:p>
            <a:r>
              <a:rPr lang="en-GB"/>
              <a:t>Source: Journal, 28 May 2026 — Professional Insights: Leadership</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4.2 — THE UNCLOGGING CYCLE: REVIEW–REALIGN–RESTORE · REALIGN</a:t>
            </a:r>
          </a:p>
          <a:p>
            <a:endParaRPr lang="en-GB"/>
          </a:p>
          <a:p>
            <a:r>
              <a:rPr lang="en-GB"/>
              <a:t>TEACHING NOTES:</a:t>
            </a:r>
          </a:p>
          <a:p>
            <a:r>
              <a:rPr lang="en-GB"/>
              <a:t>Teach REALIGN as one stage of the Unclogging Cycle: what the stage establishes, what it means in people performance and in organisational performance, and what it adds to the Unclogging Record.</a:t>
            </a:r>
          </a:p>
          <a:p>
            <a:endParaRPr lang="en-GB"/>
          </a:p>
          <a:p>
            <a:r>
              <a:rPr lang="en-GB"/>
              <a:t>Content:</a:t>
            </a:r>
          </a:p>
          <a:p>
            <a:r>
              <a:rPr lang="en-GB"/>
              <a:t>Once a performance clog has been confirmed, the executive team must determine which organisational condition needs to change and which leaders have the authority and responsibility to act. A clog may be experienced in one function but sustained by a decision or operating arrangement in another.</a:t>
            </a:r>
          </a:p>
          <a:p>
            <a:r>
              <a:rPr lang="en-GB"/>
              <a:t>Three Leadership Decisions</a:t>
            </a:r>
          </a:p>
          <a:p>
            <a:r>
              <a:rPr lang="en-GB"/>
              <a:t>What must change? Identify the specific organisational arrangement, practice or decision sustaining the clog.</a:t>
            </a:r>
          </a:p>
          <a:p>
            <a:r>
              <a:rPr lang="en-GB"/>
              <a:t>Who must act together? Appoint one coordinating executive owner and name the contributing executives needed to resolve the condition.</a:t>
            </a:r>
          </a:p>
          <a:p>
            <a:r>
              <a:rPr lang="en-GB"/>
              <a:t>What must be agreed? Establish the decisions, responsibilities, resources and timelines required for the intervention.</a:t>
            </a:r>
          </a:p>
          <a:p>
            <a:r>
              <a:rPr lang="en-GB"/>
              <a:t>Before finalising the response, leaders consider the implications for both dimensions of performance:</a:t>
            </a:r>
          </a:p>
          <a:p>
            <a:r>
              <a:rPr lang="en-GB"/>
              <a:t>People performance</a:t>
            </a:r>
          </a:p>
          <a:p>
            <a:r>
              <a:rPr lang="en-GB"/>
              <a:t>What must change in expectations, authority, capabilities, behaviours or support so individuals and teams can deliver their contributions?</a:t>
            </a:r>
          </a:p>
          <a:p>
            <a:r>
              <a:rPr lang="en-GB"/>
              <a:t>The answer becomes the commitments made to the people delivering the result: the authority they receive, the support they are given and what is expected of them.</a:t>
            </a:r>
          </a:p>
          <a:p>
            <a:r>
              <a:rPr lang="en-GB"/>
              <a:t>Organisational performance</a:t>
            </a:r>
          </a:p>
          <a:p>
            <a:r>
              <a:rPr lang="en-GB"/>
              <a:t>What must change in structures, processes, systems, resources, decision rights or governance so the enterprise can produce the intended result?</a:t>
            </a:r>
          </a:p>
          <a:p>
            <a:r>
              <a:rPr lang="en-GB"/>
              <a:t>The answer becomes the organisational change the executives agree, with the leader responsible for each part.</a:t>
            </a:r>
          </a:p>
          <a:p>
            <a:r>
              <a:rPr lang="en-GB"/>
              <a:t>The agreed intervention should address the confirmed organisational condition while enabling the people responsible for delivery to perform effectively.</a:t>
            </a:r>
          </a:p>
          <a:p>
            <a:r>
              <a:rPr lang="en-GB"/>
              <a:t>Every executive has a responsibility to recognise and surface performance friction. Collective ownership is supported by clear individual accountability: one leader coordinates the resolution, while other executives remain accountable for their agreed contributions.</a:t>
            </a:r>
          </a:p>
          <a:p>
            <a:r>
              <a:rPr lang="en-GB"/>
              <a:t>REALIGN is complete when the relevant leaders have agreed what must change, who will act and what each executive must deliver.</a:t>
            </a:r>
          </a:p>
          <a:p>
            <a:r>
              <a:rPr lang="en-GB"/>
              <a:t>Into the Unclogging Record: the coordinating executive, the contributing executives and the agreed changes for people and organisational performance.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5 · APPLICATION — IN PRACTICE</a:t>
            </a:r>
          </a:p>
          <a:p>
            <a:endParaRPr lang="en-GB"/>
          </a:p>
          <a:p>
            <a:r>
              <a:rPr lang="en-GB"/>
              <a:t>Content:</a:t>
            </a:r>
          </a:p>
          <a:p>
            <a:r>
              <a:rPr lang="en-GB"/>
              <a:t>The Strategic Unclogging Clinic</a:t>
            </a:r>
          </a:p>
          <a:p>
            <a:r>
              <a:rPr lang="en-GB"/>
              <a:t>Returning to an original work-based challenge, identifying the performance clog, selecting the corresponding Strategic Unclogging Lever and applying Review–Realign–Restore within the Capstone organisation.</a:t>
            </a:r>
          </a:p>
          <a:p>
            <a:endParaRPr lang="en-GB"/>
          </a:p>
          <a:p>
            <a:r>
              <a:rPr lang="en-GB"/>
              <a:t>Section learning outcomes:</a:t>
            </a:r>
          </a:p>
          <a:p>
            <a:r>
              <a:rPr lang="en-GB"/>
              <a:t>1. Diagnose a Capstone challenge using the Seven Performance Clogs and select a suitable Unclogging Lever.</a:t>
            </a:r>
          </a:p>
          <a:p>
            <a:r>
              <a:rPr lang="en-GB"/>
              <a:t>2. Develop an integrated Review–Realign–Restore response addressing people and organisational performance.</a:t>
            </a:r>
          </a:p>
          <a:p>
            <a:endParaRPr lang="en-GB"/>
          </a:p>
          <a:p>
            <a:r>
              <a:rPr lang="en-GB"/>
              <a:t>How Section 5 works:</a:t>
            </a:r>
          </a:p>
          <a:p>
            <a:r>
              <a:rPr lang="en-GB"/>
              <a:t>1. Each group selects one challenge from its Problem Charter and links it to one of its Objectives and Key Results (5.1).</a:t>
            </a:r>
          </a:p>
          <a:p>
            <a:r>
              <a:rPr lang="en-GB"/>
              <a:t>2. The group identifies the performance clog (5.2) and selects the Strategic Unclogging Lever (5.3).</a:t>
            </a:r>
          </a:p>
          <a:p>
            <a:r>
              <a:rPr lang="en-GB"/>
              <a:t>3. The group simulates the Unclogging Cycle, Review–Realign–Restore (5.4), then tests its response against the Diagnostic Quality Check (5.5).</a:t>
            </a:r>
          </a:p>
          <a:p>
            <a:r>
              <a:rPr lang="en-GB"/>
              <a:t>4. The group chooses its scribe for this work. The scribe types what the group agrees, and the entries appear on every member’s page.</a:t>
            </a:r>
          </a:p>
          <a:p>
            <a:r>
              <a:rPr lang="en-GB"/>
              <a:t>5. In part 5.6 each member reads the group’s record and selects Agree. When every member has agreed, the record feeds the team’s Capstone Blueprint.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5.1 — RETURN TO YOUR ORIGINAL WORK-BASED CHALLENGE (Capstone Work)</a:t>
            </a:r>
          </a:p>
          <a:p>
            <a:endParaRPr lang="en-GB"/>
          </a:p>
          <a:p>
            <a:r>
              <a:rPr lang="en-GB"/>
              <a:t>TEACHING NOTES:</a:t>
            </a:r>
          </a:p>
          <a:p>
            <a:r>
              <a:rPr lang="en-GB"/>
              <a:t>Each group returns to the challenges in its Problem Charter, and selects one that is still relevant to its Capstone organisation and clearly linked to disappointing results.</a:t>
            </a:r>
          </a:p>
          <a:p>
            <a:r>
              <a:rPr lang="en-GB"/>
              <a:t>Group work, Capstone work: the group agrees each entry and chooses its scribe for this work, and the entries appear on every member’s page.</a:t>
            </a:r>
          </a:p>
          <a:p>
            <a:endParaRPr lang="en-GB"/>
          </a:p>
          <a:p>
            <a:r>
              <a:rPr lang="en-GB"/>
              <a:t>Content:</a:t>
            </a:r>
          </a:p>
          <a:p>
            <a:r>
              <a:rPr lang="en-GB"/>
              <a:t>Each group selects one challenge from its Problem Charter that remains relevant to its Capstone organisation and has a clear connection to disappointing organisational results.</a:t>
            </a:r>
          </a:p>
          <a:p>
            <a:r>
              <a:rPr lang="en-GB"/>
              <a:t>What each group completes</a:t>
            </a:r>
          </a:p>
          <a:p>
            <a:r>
              <a:rPr lang="en-GB"/>
              <a:t>Selected original challengeThe group selects the challenge from its Problem Charter.</a:t>
            </a:r>
          </a:p>
          <a:p>
            <a:r>
              <a:rPr lang="en-GB"/>
              <a:t>Strategic connectionThe group selects the strategic Objective and Key Result the challenge affects.</a:t>
            </a:r>
          </a:p>
          <a:p>
            <a:r>
              <a:rPr lang="en-GB"/>
              <a:t>Use existing Capstone performance information where available. If the group has not established a current result, agree on a realistic illustrative figure consistent with its organisational scenario.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5.4 — SIMULATE THE UNCLOGGING CYCLE (Capstone Work)</a:t>
            </a:r>
          </a:p>
          <a:p>
            <a:endParaRPr lang="en-GB"/>
          </a:p>
          <a:p>
            <a:r>
              <a:rPr lang="en-GB"/>
              <a:t>TEACHING NOTES:</a:t>
            </a:r>
          </a:p>
          <a:p>
            <a:r>
              <a:rPr lang="en-GB"/>
              <a:t>The group simulates how its executive team takes the selected challenge through the Unclogging Cycle, working through REVIEW, REALIGN and RESTORE in turn. Together they complete the group’s Strategic Unclogging Clinic Record.</a:t>
            </a:r>
          </a:p>
          <a:p>
            <a:r>
              <a:rPr lang="en-GB"/>
              <a:t>REVIEW: the group uses the three lines of sight on its own challenge and checks whether the evidence confirms the clog selected in 5.2.</a:t>
            </a:r>
          </a:p>
          <a:p>
            <a:r>
              <a:rPr lang="en-GB"/>
              <a:t>REALIGN: as the simulated executive team, the group sets out what must change for people performance and for organisational performance, and agrees the coordinating owner, the contributing functions, the agreed change and each executive’s contribution.</a:t>
            </a:r>
          </a:p>
          <a:p>
            <a:r>
              <a:rPr lang="en-GB"/>
              <a:t>RESTORE: the group specifies the intervention, the action and completion, the evidence on both sides and when the executive team will review progress.</a:t>
            </a:r>
          </a:p>
          <a:p>
            <a:endParaRPr lang="en-GB"/>
          </a:p>
          <a:p>
            <a:r>
              <a:rPr lang="en-GB"/>
              <a:t>Content:</a:t>
            </a:r>
          </a:p>
          <a:p>
            <a:r>
              <a:rPr lang="en-GB"/>
              <a:t>REVIEW — Confirm the Performance Reality</a:t>
            </a:r>
          </a:p>
          <a:p>
            <a:r>
              <a:rPr lang="en-GB"/>
              <a:t>The group uses the Three Performance Lines of Sight to test the initial diagnosis and establish the evidence for intervention.</a:t>
            </a:r>
          </a:p>
          <a:p>
            <a:r>
              <a:rPr lang="en-GB"/>
              <a:t>What each group completes</a:t>
            </a:r>
          </a:p>
          <a:p>
            <a:r>
              <a:rPr lang="en-GB"/>
              <a:t>REVIEW · Line of sight 1 · Performance OutcomeState the affected Key Result or KPI, its current result and target.</a:t>
            </a:r>
          </a:p>
          <a:p>
            <a:r>
              <a:rPr lang="en-GB"/>
              <a:t>REVIEW · Line of sight 2 · Performance BehaviourDescribe what individuals and teams are doing, delaying or unable to do.</a:t>
            </a:r>
          </a:p>
          <a:p>
            <a:r>
              <a:rPr lang="en-GB"/>
              <a:t>REVIEW · Line of sight 3 · Performance ConditionIdentify the organisational condition causing or reinforcing those behaviours.</a:t>
            </a:r>
          </a:p>
          <a:p>
            <a:r>
              <a:rPr lang="en-GB"/>
              <a:t>REVIEW · Diagnosis checkDoes this evidence confirm the clog selected in 5.2? If not, revise both the clog and the lever before proceeding.</a:t>
            </a:r>
          </a:p>
          <a:p>
            <a:r>
              <a:rPr lang="en-GB"/>
              <a:t>REALIGN — Agree on the Collective Response</a:t>
            </a:r>
          </a:p>
          <a:p>
            <a:r>
              <a:rPr lang="en-GB"/>
              <a:t>As the simulated executive team, the group determines what must change and identifies who has the authority and responsibility to act. It explicitly considers both dimensions of performance.</a:t>
            </a:r>
          </a:p>
          <a:p>
            <a:r>
              <a:rPr lang="en-GB"/>
              <a:t>What each group completes</a:t>
            </a:r>
          </a:p>
          <a:p>
            <a:r>
              <a:rPr lang="en-GB"/>
              <a:t>REALIGN · People performanceWhat must change in expectations, decision authority, capability, behaviours or support so people can fulfil their contributions?</a:t>
            </a:r>
          </a:p>
          <a:p>
            <a:r>
              <a:rPr lang="en-GB"/>
              <a:t>REALIGN · Organisational performanceWhat must change in structures, systems, processes, resources or governance so the enterprise can achieve the intended result?</a:t>
            </a:r>
          </a:p>
          <a:p>
            <a:r>
              <a:rPr lang="en-GB"/>
              <a:t>Leadership agreement</a:t>
            </a:r>
          </a:p>
          <a:p>
            <a:r>
              <a:rPr lang="en-GB"/>
              <a:t>REALIGN · Coordinating executive ownerCoordinating executive owner</a:t>
            </a:r>
          </a:p>
          <a:p>
            <a:r>
              <a:rPr lang="en-GB"/>
              <a:t>REALIGN · Contributing executive functionsContributing executive functions</a:t>
            </a:r>
          </a:p>
          <a:p>
            <a:r>
              <a:rPr lang="en-GB"/>
              <a:t>REALIGN · Agreed organisational changeAgreed organisational change</a:t>
            </a:r>
          </a:p>
          <a:p>
            <a:r>
              <a:rPr lang="en-GB"/>
              <a:t>REALIGN · Each executive’s contributionEach executive’s contribution</a:t>
            </a:r>
          </a:p>
          <a:p>
            <a:r>
              <a:rPr lang="en-GB"/>
              <a:t>RESTORE — Activate the Selected Lever</a:t>
            </a:r>
          </a:p>
          <a:p>
            <a:r>
              <a:rPr lang="en-GB"/>
              <a:t>The group specifies how the confirmed Strategic Unclogging Lever will be applied. The action must directly remove or reduce the identified condition and be clear enough for the responsible executive to implement.</a:t>
            </a:r>
          </a:p>
          <a:p>
            <a:r>
              <a:rPr lang="en-GB"/>
              <a:t>What each group completes</a:t>
            </a:r>
          </a:p>
          <a:p>
            <a:r>
              <a:rPr lang="en-GB"/>
              <a:t>RESTORE · InterventionWhat precisely will change through the selected lever?</a:t>
            </a:r>
          </a:p>
          <a:p>
            <a:r>
              <a:rPr lang="en-GB"/>
              <a:t>RESTORE · Action and completionWhat will the coordinating and contributing executives implement, and by when?</a:t>
            </a:r>
          </a:p>
          <a:p>
            <a:r>
              <a:rPr lang="en-GB"/>
              <a:t>RESTORE · People performance evidenceWhat improvement in capability, decisions, behaviours or contribution will show that employees and teams are better enabled?</a:t>
            </a:r>
          </a:p>
          <a:p>
            <a:r>
              <a:rPr lang="en-GB"/>
              <a:t>RESTORE · Organisational performance evidenceWhat improvement in the relevant operating condition and strategic Key Result or KPI will demonstrate recovery?</a:t>
            </a:r>
          </a:p>
          <a:p>
            <a:r>
              <a:rPr lang="en-GB"/>
              <a:t>RESTORE · Review commitmentWhen will the executive team check progress and decide whether further action is necessary?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1.5 — WORKED DIAGNOSTIC EXAMPLE: IMPROVING CUSTOMER SERVICE (Tracing the three lines of sight)</a:t>
            </a:r>
          </a:p>
          <a:p>
            <a:endParaRPr lang="en-GB"/>
          </a:p>
          <a:p>
            <a:r>
              <a:rPr lang="en-GB"/>
              <a:t>TEACHING NOTES:</a:t>
            </a:r>
          </a:p>
          <a:p>
            <a:r>
              <a:rPr lang="en-GB"/>
              <a:t>1.5 · Work through the worked example and the Closing Diagnostic Principle. Participants complete the self-assessment in their own file.</a:t>
            </a:r>
          </a:p>
          <a:p>
            <a:endParaRPr lang="en-GB"/>
          </a:p>
          <a:p>
            <a:r>
              <a:rPr lang="en-GB"/>
              <a:t>Content:</a:t>
            </a:r>
          </a:p>
          <a:p>
            <a:r>
              <a:rPr lang="en-GB"/>
              <a:t>Enterprise Objective. Deliver a reliable and responsive customer service experience.</a:t>
            </a:r>
          </a:p>
          <a:p>
            <a:r>
              <a:rPr lang="en-GB"/>
              <a:t>Enterprise Key Result. Increase customer enquiries resolved within 48 hours from 65% to 90% by year-end.</a:t>
            </a:r>
          </a:p>
          <a:p>
            <a:r>
              <a:rPr lang="en-GB"/>
              <a:t>Performance figures are illustrative.</a:t>
            </a:r>
          </a:p>
          <a:p>
            <a:r>
              <a:rPr lang="en-GB"/>
              <a:t>Line of Sight 1 — Performance Outcome</a:t>
            </a:r>
          </a:p>
          <a:p>
            <a:r>
              <a:rPr lang="en-GB"/>
              <a:t>Only 65% of customer enquiries are resolved within 48 hours against a target of 90%. The enterprise is falling short of its intended customer responsiveness and service reliability.</a:t>
            </a:r>
          </a:p>
          <a:p>
            <a:r>
              <a:rPr lang="en-GB"/>
              <a:t>Line of Sight 2 — Performance Behaviour</a:t>
            </a:r>
          </a:p>
          <a:p>
            <a:r>
              <a:rPr lang="en-GB"/>
              <a:t>Service agents process enquiries and escalate cases requiring other departments. Cases are frequently transferred without end-to-end ownership, managers wait for approval on routine refunds, and staff spend their time requesting updates while customer problems wait. Employees may be achieving their activity targets while the collective resolution outcome remains weak.</a:t>
            </a:r>
          </a:p>
          <a:p>
            <a:r>
              <a:rPr lang="en-GB"/>
              <a:t>Line of Sight 3 — Performance Condition</a:t>
            </a:r>
          </a:p>
          <a:p>
            <a:r>
              <a:rPr lang="en-GB"/>
              <a:t>The diagnostic identifies the organisational conditions that help explain the behaviour:</a:t>
            </a:r>
          </a:p>
          <a:p>
            <a:r>
              <a:rPr lang="en-GB"/>
              <a:t>Evidence · Clog · How it constrains performance</a:t>
            </a:r>
          </a:p>
          <a:p>
            <a:r>
              <a:rPr lang="en-GB"/>
              <a:t>40% of delayed cases require another department. · Structural Misfit · Fragmented ownership and weak cross-functional handoffs delay resolution.</a:t>
            </a:r>
          </a:p>
          <a:p>
            <a:r>
              <a:rPr lang="en-GB"/>
              <a:t>Routine refunds require senior-management approval. · Decision Bottlenecks · People closest to the enquiry lack sufficient authority to resolve it.</a:t>
            </a:r>
          </a:p>
          <a:p>
            <a:r>
              <a:rPr lang="en-GB"/>
              <a:t>Employee scorecards emphasise enquiries processed. · Misaligned Metrics &amp; Incentives · Volume is reinforced more strongly than complete and timely resolution.</a:t>
            </a:r>
          </a:p>
          <a:p>
            <a:r>
              <a:rPr lang="en-GB"/>
              <a:t>Employees cannot track cases after escalation. · Technology / Infrastructure Lag · Fragmented information prevents timely follow-through.</a:t>
            </a:r>
          </a:p>
          <a:p>
            <a:r>
              <a:rPr lang="en-GB"/>
              <a:t>Organisational performance interpretation</a:t>
            </a:r>
          </a:p>
          <a:p>
            <a:r>
              <a:rPr lang="en-GB"/>
              <a:t>The coordination processes, decision rights, measures and information systems are not sufficiently aligned to the customer-resolution outcome. These conditions create recurring delays across the service chain.</a:t>
            </a:r>
          </a:p>
          <a:p>
            <a:r>
              <a:rPr lang="en-GB"/>
              <a:t>People performance interpretation</a:t>
            </a:r>
          </a:p>
          <a:p>
            <a:r>
              <a:rPr lang="en-GB"/>
              <a:t>Customer service employees may complete assigned tasks but still lack the authority, information and cross-functional support needed to resolve cases. Any individual capability or behavioural gaps must be assessed against these conditions and the standards within each person’s control.</a:t>
            </a:r>
          </a:p>
          <a:p>
            <a:r>
              <a:rPr lang="en-GB"/>
              <a:t>Strategic interpretation</a:t>
            </a:r>
          </a:p>
          <a:p>
            <a:r>
              <a:rPr lang="en-GB"/>
              <a:t>The customer value proposition promises responsive service, but operating arrangements do not consistently enable its delivery. The principal ABCV distortion concerns the Value Proposition, with contributing constraints in Boundaries and Competition.</a:t>
            </a:r>
          </a:p>
          <a:p>
            <a:r>
              <a:rPr lang="en-GB"/>
              <a:t>Required management response</a:t>
            </a:r>
          </a:p>
          <a:p>
            <a:r>
              <a:rPr lang="en-GB"/>
              <a:t>Clarify end-to-end resolution ownership, adjust routine decision authority, align measures to resolution outcomes and improve case visibility across departments. Provide coaching or accountability interventions where evidence confirms individual capability or behavioural gaps.</a:t>
            </a:r>
          </a:p>
          <a:p>
            <a:r>
              <a:rPr lang="en-GB"/>
              <a:t>Closing Diagnostic Principle</a:t>
            </a:r>
          </a:p>
          <a:p>
            <a:r>
              <a:rPr lang="en-GB"/>
              <a:t>Performance is produced through people operating within an organisational system. A sound diagnosis examines the result, the behaviours shaping contributions and the organisational conditions that enable or constrain them.</a:t>
            </a:r>
          </a:p>
          <a:p>
            <a:r>
              <a:rPr lang="en-GB"/>
              <a:t>The 7-Clog Diagnostic Map helps leaders identify where these relationships have become misaligned, which ABCV elements are affected and what must change to restore performance.</a:t>
            </a:r>
          </a:p>
          <a:p>
            <a:endParaRPr lang="en-GB"/>
          </a:p>
          <a:p>
            <a:r>
              <a:rPr lang="en-GB"/>
              <a:t>Participant file — what participants complete:</a:t>
            </a:r>
          </a:p>
          <a:p>
            <a:r>
              <a:rPr lang="en-GB"/>
              <a:t>- ✎ Reflection — Which Clogs Are Active? — a rating of each of the seven clogs, and the clog most active in their organisation with the organisational condition it sits in.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5.5 — DIAGNOSTIC QUALITY CHECK (Before the response is finalised)</a:t>
            </a:r>
          </a:p>
          <a:p>
            <a:endParaRPr lang="en-GB"/>
          </a:p>
          <a:p>
            <a:r>
              <a:rPr lang="en-GB"/>
              <a:t>TEACHING NOTES:</a:t>
            </a:r>
          </a:p>
          <a:p>
            <a:r>
              <a:rPr lang="en-GB"/>
              <a:t>The group tests its own response against the four criteria and returns to the relevant step where a criterion is not met.</a:t>
            </a:r>
          </a:p>
          <a:p>
            <a:endParaRPr lang="en-GB"/>
          </a:p>
          <a:p>
            <a:r>
              <a:rPr lang="en-GB"/>
              <a:t>Content:</a:t>
            </a:r>
          </a:p>
          <a:p>
            <a:r>
              <a:rPr lang="en-GB"/>
              <a:t>Before the group finalises its response, it tests the response against four criteria:</a:t>
            </a:r>
          </a:p>
          <a:p>
            <a:r>
              <a:rPr lang="en-GB"/>
              <a:t>The original challenge is linked to a specific strategic result and supported by realistic performance evidence.</a:t>
            </a:r>
          </a:p>
          <a:p>
            <a:r>
              <a:rPr lang="en-GB"/>
              <a:t>The selected clog names the underlying organisational condition behind the symptom.</a:t>
            </a:r>
          </a:p>
          <a:p>
            <a:r>
              <a:rPr lang="en-GB"/>
              <a:t>The lever addresses the confirmed clog, and REALIGN considers both people and organisational performance.</a:t>
            </a:r>
          </a:p>
          <a:p>
            <a:r>
              <a:rPr lang="en-GB"/>
              <a:t>The RESTORE intervention is specific, owned, time-bound and supported by evidence that will show whether performance is recovering.</a:t>
            </a:r>
          </a:p>
          <a:p>
            <a:r>
              <a:rPr lang="en-GB"/>
              <a:t>If any criterion is not met, the group returns to the relevant step and refines the response.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5 · CAPSTONE PORTFOLIO OUTPUT (before the exercise)</a:t>
            </a:r>
          </a:p>
          <a:p>
            <a:endParaRPr lang="en-GB"/>
          </a:p>
          <a:p>
            <a:r>
              <a:rPr lang="en-GB"/>
              <a:t>TEACHING NOTES:</a:t>
            </a:r>
          </a:p>
          <a:p>
            <a:r>
              <a:rPr lang="en-GB"/>
              <a:t>Show the group what it will submit before the exercise begins: one Strategic Unclogging Clinic Record with the original challenge, the clog and the reason, the lever and its purpose, and the Review–Realign–Restore responses with executive ownership and evidence of recovery.</a:t>
            </a:r>
          </a:p>
          <a:p>
            <a:r>
              <a:rPr lang="en-GB"/>
              <a:t>At the end, in part 5.6, each member reads the group’s record on their own page and selects Agree. When every member has agreed, the record feeds boxes 9A to 9E of the team’s Capstone Blueprint.</a:t>
            </a:r>
          </a:p>
          <a:p>
            <a:endParaRPr lang="en-GB"/>
          </a:p>
          <a:p>
            <a:r>
              <a:rPr lang="en-GB"/>
              <a:t>Facilitator Closing Note — Application</a:t>
            </a:r>
          </a:p>
          <a:p>
            <a:endParaRPr lang="en-GB"/>
          </a:p>
          <a:p>
            <a:r>
              <a:rPr lang="en-GB"/>
              <a:t>Content:</a:t>
            </a:r>
          </a:p>
          <a:p>
            <a:r>
              <a:rPr lang="en-GB"/>
              <a:t>The group submits one Strategic Unclogging Clinic Record containing:</a:t>
            </a:r>
          </a:p>
          <a:p>
            <a:r>
              <a:rPr lang="en-GB"/>
              <a:t>1. The original work-based challenge selected from its Problem Charter.</a:t>
            </a:r>
          </a:p>
          <a:p>
            <a:r>
              <a:rPr lang="en-GB"/>
              <a:t>2. The identified Seven Performance Clog and reason for the diagnosis.</a:t>
            </a:r>
          </a:p>
          <a:p>
            <a:r>
              <a:rPr lang="en-GB"/>
              <a:t>3. The selected Seven Strategic Unclogging Lever and its intended purpose.</a:t>
            </a:r>
          </a:p>
          <a:p>
            <a:r>
              <a:rPr lang="en-GB"/>
              <a:t>4. The completed REVIEW, REALIGN and RESTORE responses, with executive ownership and evidence of recovery.</a:t>
            </a:r>
          </a:p>
          <a:p>
            <a:r>
              <a:rPr lang="en-GB"/>
              <a:t>The completed record is incorporated into the existing Capstone portfolio.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UNIT SUMMARY (Unit 9 synthesis)</a:t>
            </a:r>
          </a:p>
          <a:p>
            <a:endParaRPr lang="en-GB"/>
          </a:p>
          <a:p>
            <a:r>
              <a:rPr lang="en-GB"/>
              <a:t>Content:</a:t>
            </a:r>
          </a:p>
          <a:p>
            <a:r>
              <a:rPr lang="en-GB"/>
              <a:t>Awareness — What</a:t>
            </a:r>
          </a:p>
          <a:p>
            <a:r>
              <a:rPr lang="en-GB"/>
              <a:t>A Strategic Clog is an internal blockage that prevents strategic intent from flowing into execution. Clogs form where the strategy stretches today’s organisation. Performance has two connected dimensions, organisational performance and people performance. The 7-Clog Diagnostic Map, aligned to ABCV Directional Integrity, examines both, and the Three Performance Lines of Sight trace a result from its outcome to the behaviours and the conditions behind it.</a:t>
            </a:r>
          </a:p>
          <a:p>
            <a:r>
              <a:rPr lang="en-GB"/>
              <a:t>Intelligence — Why</a:t>
            </a:r>
          </a:p>
          <a:p>
            <a:r>
              <a:rPr lang="en-GB"/>
              <a:t>Leaders resolve clogs through three disciplines: early identification, accurate classification and targeted intervention. The 7 Strategic Unclogging Levers act on people performance and organisational performance together.</a:t>
            </a:r>
          </a:p>
          <a:p>
            <a:r>
              <a:rPr lang="en-GB"/>
              <a:t>Extrapolating — Where</a:t>
            </a:r>
          </a:p>
          <a:p>
            <a:r>
              <a:rPr lang="en-GB"/>
              <a:t>Every executive function shapes the conditions in which other teams work. Traced through the Three Performance Lines of Sight, a decision or practice in one function can create or reinforce a clog in another.</a:t>
            </a:r>
          </a:p>
          <a:p>
            <a:r>
              <a:rPr lang="en-GB"/>
              <a:t>Integration — Collective</a:t>
            </a:r>
          </a:p>
          <a:p>
            <a:r>
              <a:rPr lang="en-GB"/>
              <a:t>Clogs rarely stay in one lane. The leadership team removes them together through the Unclogging Cycle: REVIEW confirms the clog, REALIGN agrees collective ownership and the changes for people and organisational performance, and RESTORE activates the Unclogging Lever and verifies recovery. Each stage completes part of the Unclogging Record.</a:t>
            </a:r>
          </a:p>
          <a:p>
            <a:r>
              <a:rPr lang="en-GB"/>
              <a:t>Application — In Practice</a:t>
            </a:r>
          </a:p>
          <a:p>
            <a:r>
              <a:rPr lang="en-GB"/>
              <a:t>Each group selected a challenge from its Problem Charter, identified the clog, selected the lever and simulated the Unclogging Cycle within its Capstone organisation. The agreed record feeds the team’s Capstone Blueprint.</a:t>
            </a:r>
          </a:p>
          <a:p>
            <a:r>
              <a:rPr lang="en-GB"/>
              <a:t>“When unclogging becomes a habit, everything changes. Friction is a signal telling you how the organisation needs to evolve next. You start engineering flow.”</a:t>
            </a:r>
          </a:p>
          <a:p>
            <a:r>
              <a:rPr lang="en-GB"/>
              <a:t>◆ Facilitator Closing Note</a:t>
            </a:r>
          </a:p>
          <a:p>
            <a:r>
              <a:rPr lang="en-GB"/>
              <a:t>Close by asking each leader to name one clog that has been present in their organisation for more than six months — visible, discussed, but not yet cleared. Ask them: “What has it actually cost the organisation in strategic momentum? And what is the real reason it hasn’t been cleared yet?” The answers to the second question are almost always the true clogs beneath the clogs. That conversation is the beginning of genuine execution engineering. Remind participants that the group’s confirmed Section 5 record feeds the team’s Capstone Blueprint.</a:t>
            </a:r>
          </a:p>
          <a:p>
            <a:endParaRPr lang="en-GB"/>
          </a:p>
          <a:p>
            <a:r>
              <a:rPr lang="en-GB"/>
              <a:t>Professional insights:</a:t>
            </a:r>
          </a:p>
          <a:p>
            <a:endParaRPr lang="en-GB"/>
          </a:p>
          <a:p>
            <a:r>
              <a:rPr lang="en-GB"/>
              <a:t>Old breaches: Some present problems are the bill for a past breach. When a recurring problem resists treatment, investigate what older, unsettled matter it may be surfacing.</a:t>
            </a:r>
          </a:p>
          <a:p>
            <a:r>
              <a:rPr lang="en-GB"/>
              <a:t>Source: Journal, 2 June 2026 — Professional Insights: Strategy</a:t>
            </a:r>
          </a:p>
          <a:p>
            <a:r>
              <a:rPr lang="en-GB"/>
              <a:t>Stepping over: A dangerous cultural failure is high-performing indifference: people who step over a problem every day without registering it as theirs to solve. Put it on the agenda before the stepping-over becomes the culture.</a:t>
            </a:r>
          </a:p>
          <a:p>
            <a:r>
              <a:rPr lang="en-GB"/>
              <a:t>Source: Journal, 17 June 2026 — Professional Insights: Culture</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1.4 — THE THREE PERFORMANCE LINES OF SIGHT FROM THE SEVEN CLOGS (From the result to its cause)</a:t>
            </a:r>
          </a:p>
          <a:p>
            <a:endParaRPr lang="en-GB"/>
          </a:p>
          <a:p>
            <a:r>
              <a:rPr lang="en-GB"/>
              <a:t>TEACHING NOTES:</a:t>
            </a:r>
          </a:p>
          <a:p>
            <a:r>
              <a:rPr lang="en-GB"/>
              <a:t>1.4 · Teach the Three Performance Lines of Sight.</a:t>
            </a:r>
          </a:p>
          <a:p>
            <a:endParaRPr lang="en-GB"/>
          </a:p>
          <a:p>
            <a:r>
              <a:rPr lang="en-GB"/>
              <a:t>Content:</a:t>
            </a:r>
          </a:p>
          <a:p>
            <a:r>
              <a:rPr lang="en-GB"/>
              <a:t>The central discipline is to distinguish three levels of performance evidence. Each line of sight reveals a different part of the performance problem and helps leaders move from symptoms to causes.</a:t>
            </a:r>
          </a:p>
          <a:p>
            <a:r>
              <a:rPr lang="en-GB"/>
              <a:t>1</a:t>
            </a:r>
          </a:p>
          <a:p>
            <a:r>
              <a:rPr lang="en-GB"/>
              <a:t>Performance outcome</a:t>
            </a:r>
          </a:p>
          <a:p>
            <a:r>
              <a:rPr lang="en-GB"/>
              <a:t>What result is falling short? Establish the intended strategic outcome, the actual result and the size or nature of the gap.</a:t>
            </a:r>
          </a:p>
          <a:p>
            <a:r>
              <a:rPr lang="en-GB"/>
              <a:t>2</a:t>
            </a:r>
          </a:p>
          <a:p>
            <a:r>
              <a:rPr lang="en-GB"/>
              <a:t>Performance behaviour</a:t>
            </a:r>
          </a:p>
          <a:p>
            <a:r>
              <a:rPr lang="en-GB"/>
              <a:t>What are people or teams doing, or unable to do, that contributes to the gap? Observe specific decisions, actions, omissions, collaboration patterns and delivery practices.</a:t>
            </a:r>
          </a:p>
          <a:p>
            <a:r>
              <a:rPr lang="en-GB"/>
              <a:t>3</a:t>
            </a:r>
          </a:p>
          <a:p>
            <a:r>
              <a:rPr lang="en-GB"/>
              <a:t>Performance condition</a:t>
            </a:r>
          </a:p>
          <a:p>
            <a:r>
              <a:rPr lang="en-GB"/>
              <a:t>What organisational arrangements, capabilities, incentives or leadership practices are causing or reinforcing that behaviour? Test the seven clogs to explain why the pattern persists.</a:t>
            </a:r>
          </a:p>
          <a:p>
            <a:r>
              <a:rPr lang="en-GB"/>
              <a:t>This distinction helps leaders avoid treating every disappointing result as an individual performance failure. It also keeps people accountable for actions within their control while recognising the organisation’s responsibility for enabling conditions.</a:t>
            </a:r>
          </a:p>
          <a:p>
            <a:r>
              <a:rPr lang="en-GB"/>
              <a:t>A single performance outcome can reflect several interacting clogs. The following example traces the three lines of sight before identifying the organisational conditions that require attention.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4.2 — THE UNCLOGGING CYCLE: REVIEW–REALIGN–RESTORE · RESTORE</a:t>
            </a:r>
          </a:p>
          <a:p>
            <a:endParaRPr lang="en-GB"/>
          </a:p>
          <a:p>
            <a:r>
              <a:rPr lang="en-GB"/>
              <a:t>TEACHING NOTES:</a:t>
            </a:r>
          </a:p>
          <a:p>
            <a:r>
              <a:rPr lang="en-GB"/>
              <a:t>Teach RESTORE as one stage of the Unclogging Cycle: what the stage establishes, what it means in people performance and in organisational performance, and what it adds to the Unclogging Record.</a:t>
            </a:r>
          </a:p>
          <a:p>
            <a:endParaRPr lang="en-GB"/>
          </a:p>
          <a:p>
            <a:r>
              <a:rPr lang="en-GB"/>
              <a:t>Content:</a:t>
            </a:r>
          </a:p>
          <a:p>
            <a:r>
              <a:rPr lang="en-GB"/>
              <a:t>RESTORE converts the agreed leadership response into organisational action. The Seven Unclogging Levers provide the established S2R® interventions for addressing the conditions represented by the Seven Performance Clogs. The executive team selects the relevant lever, implements the agreed changes and reviews evidence of recovery.</a:t>
            </a:r>
          </a:p>
          <a:p>
            <a:r>
              <a:rPr lang="en-GB"/>
              <a:t>Established lever · Purpose · Best applied to</a:t>
            </a:r>
          </a:p>
          <a:p>
            <a:r>
              <a:rPr lang="en-GB"/>
              <a:t>01 — Standardise · Ensure Consistency · Structural Misfit; Misaligned Metrics &amp; Incentives; Technology / Infrastructure Lag</a:t>
            </a:r>
          </a:p>
          <a:p>
            <a:r>
              <a:rPr lang="en-GB"/>
              <a:t>02 — Streamline · Increase Speed · Decision Bottlenecks; Structural Misfit</a:t>
            </a:r>
          </a:p>
          <a:p>
            <a:r>
              <a:rPr lang="en-GB"/>
              <a:t>03 — Clarify · Eliminate Confusion · Decision Bottlenecks; Structural Misfit; Leadership Avoidance</a:t>
            </a:r>
          </a:p>
          <a:p>
            <a:r>
              <a:rPr lang="en-GB"/>
              <a:t>04 — Upgrade · Remove Bottlenecks · Technology / Infrastructure Lag; Capability Gaps</a:t>
            </a:r>
          </a:p>
          <a:p>
            <a:r>
              <a:rPr lang="en-GB"/>
              <a:t>05 — Reinforce · Strengthen Behaviour · Capability Gaps; Cultural Resistance</a:t>
            </a:r>
          </a:p>
          <a:p>
            <a:r>
              <a:rPr lang="en-GB"/>
              <a:t>06 — Realign · Focus on Results · Misaligned Metrics &amp; Incentives</a:t>
            </a:r>
          </a:p>
          <a:p>
            <a:r>
              <a:rPr lang="en-GB"/>
              <a:t>07 — Rebuild Trust · Restore Credibility · Cultural Resistance; Leadership Avoidance</a:t>
            </a:r>
          </a:p>
          <a:p>
            <a:r>
              <a:rPr lang="en-GB"/>
              <a:t>These are the established Seven Strategic Unclogging Levers introduced in Section 2. The executive team chooses a lever according to the confirmed condition and the specific obstruction to be removed. The S2R® REALIGN stage is the collective decision and ownership step; Lever 06 — Realign is the distinct intervention used to adjust metrics and rewards.</a:t>
            </a:r>
          </a:p>
          <a:p>
            <a:r>
              <a:rPr lang="en-GB"/>
              <a:t>Select the relevant Unclogging Lever. Choose the intervention that addresses the confirmed clog.</a:t>
            </a:r>
          </a:p>
          <a:p>
            <a:r>
              <a:rPr lang="en-GB"/>
              <a:t>Activate the intervention. Implement the decisions and changes agreed during REALIGN.</a:t>
            </a:r>
          </a:p>
          <a:p>
            <a:r>
              <a:rPr lang="en-GB"/>
              <a:t>Verify performance recovery. Confirm that the obstruction is reducing and that the affected performance measures are moving in the intended direction.</a:t>
            </a:r>
          </a:p>
          <a:p>
            <a:r>
              <a:rPr lang="en-GB"/>
              <a:t>Removing a clog requires evidence that the organisational condition has changed. Sustained improvement is verified through the normal performance review rhythm.</a:t>
            </a:r>
          </a:p>
          <a:p>
            <a:r>
              <a:rPr lang="en-GB"/>
              <a:t>People performance</a:t>
            </a:r>
          </a:p>
          <a:p>
            <a:r>
              <a:rPr lang="en-GB"/>
              <a:t>RESTORE equips individuals to deliver under the changed conditions and verifies the change in their work: decisions taken at the right level, delays falling, rework reducing and problems raised early.</a:t>
            </a:r>
          </a:p>
          <a:p>
            <a:r>
              <a:rPr lang="en-GB"/>
              <a:t>Organisational performance</a:t>
            </a:r>
          </a:p>
          <a:p>
            <a:r>
              <a:rPr lang="en-GB"/>
              <a:t>RESTORE applies the lever to the organisational condition and verifies that the condition has changed: the approval route, the data source, the decision right or the measure now supports the execution of the individuals’ tasks, and the Key Result begins to move.</a:t>
            </a:r>
          </a:p>
          <a:p>
            <a:r>
              <a:rPr lang="en-GB"/>
              <a:t>Into the Unclogging Record: the selected lever, the actions with their owners and completion dates, the evidence of recovery and the date of the next review.</a:t>
            </a:r>
          </a:p>
          <a:p>
            <a:r>
              <a:rPr lang="en-GB"/>
              <a:t>The Unclogging Record holds the outcome of each stage in one place. The executive team completes it as it moves through the cycle, then uses it at each later review to check that the agreed actions are complete and the evidence is moving.</a:t>
            </a:r>
          </a:p>
          <a:p>
            <a:r>
              <a:rPr lang="en-GB"/>
              <a:t>Stage · What the record holds</a:t>
            </a:r>
          </a:p>
          <a:p>
            <a:r>
              <a:rPr lang="en-GB"/>
              <a:t>REVIEW · The performance gap, the evidence from the three lines of sight and the confirmed clog.</a:t>
            </a:r>
          </a:p>
          <a:p>
            <a:r>
              <a:rPr lang="en-GB"/>
              <a:t>REALIGN · The coordinating executive, the contributing executives and the agreed changes for people and organisational performance.</a:t>
            </a:r>
          </a:p>
          <a:p>
            <a:r>
              <a:rPr lang="en-GB"/>
              <a:t>RESTORE · The selected lever, the actions with their owners and completion dates, the evidence of recovery and the date of the next review.</a:t>
            </a:r>
          </a:p>
          <a:p>
            <a:r>
              <a:rPr lang="en-GB"/>
              <a:t>The worked example in 4.3 ends with a completed Unclogging Record.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4.3 — WORKED EXAMPLE: THE UNCLOGGING CYCLE (A manufacturing case)</a:t>
            </a:r>
          </a:p>
          <a:p>
            <a:endParaRPr lang="en-GB"/>
          </a:p>
          <a:p>
            <a:r>
              <a:rPr lang="en-GB"/>
              <a:t>TEACHING NOTES:</a:t>
            </a:r>
          </a:p>
          <a:p>
            <a:r>
              <a:rPr lang="en-GB"/>
              <a:t>Walk the example step by step: the evidence table of REVIEW, the leadership decisions of REALIGN with the people and organisational implications, the activation of Streamline in RESTORE and the four verification measures. Close on the Completed Unclogging Record.</a:t>
            </a:r>
          </a:p>
          <a:p>
            <a:r>
              <a:rPr lang="en-GB"/>
              <a:t>Then guide participants to apply the same process to their Capstone organisation in Section 5.</a:t>
            </a:r>
          </a:p>
          <a:p>
            <a:endParaRPr lang="en-GB"/>
          </a:p>
          <a:p>
            <a:r>
              <a:rPr lang="en-GB"/>
              <a:t>Content:</a:t>
            </a:r>
          </a:p>
          <a:p>
            <a:r>
              <a:rPr lang="en-GB"/>
              <a:t>Enterprise Objective. Improve production reliability and on-time customer delivery.</a:t>
            </a:r>
          </a:p>
          <a:p>
            <a:r>
              <a:rPr lang="en-GB"/>
              <a:t>Enterprise Key Result. Increase customer orders delivered on time from 72% to 95% by year-end.</a:t>
            </a:r>
          </a:p>
          <a:p>
            <a:r>
              <a:rPr lang="en-GB"/>
              <a:t>Performance figures are illustrative. The executive team notices that production interruptions are contributing to late deliveries.</a:t>
            </a:r>
          </a:p>
          <a:p>
            <a:r>
              <a:rPr lang="en-GB"/>
              <a:t>Step 1 — REVIEW: Confirm the Performance Clog</a:t>
            </a:r>
          </a:p>
          <a:p>
            <a:r>
              <a:rPr lang="en-GB"/>
              <a:t>Line of sight · Diagnostic finding</a:t>
            </a:r>
          </a:p>
          <a:p>
            <a:r>
              <a:rPr lang="en-GB"/>
              <a:t>Performance Outcome · Only 72% of customer orders are delivered on time, against the 95% target.</a:t>
            </a:r>
          </a:p>
          <a:p>
            <a:r>
              <a:rPr lang="en-GB"/>
              <a:t>Performance Behaviour · Maintenance managers wait for approval before ordering routine replacement parts. Equipment repairs and production schedules are delayed.</a:t>
            </a:r>
          </a:p>
          <a:p>
            <a:r>
              <a:rPr lang="en-GB"/>
              <a:t>Performance Condition · Financial approval requirements place routine maintenance decisions at senior management level, slowing necessary purchases.</a:t>
            </a:r>
          </a:p>
          <a:p>
            <a:r>
              <a:rPr lang="en-GB"/>
              <a:t>Identified clog. Decision Bottlenecks.</a:t>
            </a:r>
          </a:p>
          <a:p>
            <a:r>
              <a:rPr lang="en-GB"/>
              <a:t>The team confirms that avoidable approval delays contribute to maintenance downtime and late customer deliveries.</a:t>
            </a:r>
          </a:p>
          <a:p>
            <a:r>
              <a:rPr lang="en-GB"/>
              <a:t>Step 2 — REALIGN: Agree on Collective Ownership</a:t>
            </a:r>
          </a:p>
          <a:p>
            <a:r>
              <a:rPr lang="en-GB"/>
              <a:t>The CFO and COO agree that routine maintenance decisions must be faster while appropriate financial controls remain in place.</a:t>
            </a:r>
          </a:p>
          <a:p>
            <a:r>
              <a:rPr lang="en-GB"/>
              <a:t>Leadership decision · Agreed response</a:t>
            </a:r>
          </a:p>
          <a:p>
            <a:r>
              <a:rPr lang="en-GB"/>
              <a:t>What must change? · Approval authority for routine maintenance expenditure.</a:t>
            </a:r>
          </a:p>
          <a:p>
            <a:r>
              <a:rPr lang="en-GB"/>
              <a:t>Who coordinates? · CFO — revise financial approval arrangements.</a:t>
            </a:r>
          </a:p>
          <a:p>
            <a:r>
              <a:rPr lang="en-GB"/>
              <a:t>Who contributes? · COO — define operational requirements and ensure adoption.</a:t>
            </a:r>
          </a:p>
          <a:p>
            <a:r>
              <a:rPr lang="en-GB"/>
              <a:t>What must be agreed? · Delegated thresholds, control requirements, responsibilities and an implementation date.</a:t>
            </a:r>
          </a:p>
          <a:p>
            <a:r>
              <a:rPr lang="en-GB"/>
              <a:t>People performance implication</a:t>
            </a:r>
          </a:p>
          <a:p>
            <a:r>
              <a:rPr lang="en-GB"/>
              <a:t>Maintenance managers gain clear authority to purchase approved routine replacement parts and can act promptly within defined controls.</a:t>
            </a:r>
          </a:p>
          <a:p>
            <a:r>
              <a:rPr lang="en-GB"/>
              <a:t>Organisational performance implication</a:t>
            </a:r>
          </a:p>
          <a:p>
            <a:r>
              <a:rPr lang="en-GB"/>
              <a:t>The approval system preserves financial oversight while enabling reliable equipment maintenance and uninterrupted production flow.</a:t>
            </a:r>
          </a:p>
          <a:p>
            <a:r>
              <a:rPr lang="en-GB"/>
              <a:t>Step 3 — RESTORE: Activate the Unclogging Lever</a:t>
            </a:r>
          </a:p>
          <a:p>
            <a:r>
              <a:rPr lang="en-GB"/>
              <a:t>Selected lever. Lever 02 — Streamline | Increase Speed.</a:t>
            </a:r>
          </a:p>
          <a:p>
            <a:r>
              <a:rPr lang="en-GB"/>
              <a:t>Streamline simplifies workflows and removes approval layers that add no value to execution. It is appropriate because the confirmed clog is Decision Bottlenecks, and routine maintenance purchases are delayed by unnecessary approval steps.</a:t>
            </a:r>
          </a:p>
          <a:p>
            <a:r>
              <a:rPr lang="en-GB"/>
              <a:t>Activation. The CFO and COO implement the following changes:</a:t>
            </a:r>
          </a:p>
          <a:p>
            <a:r>
              <a:rPr lang="en-GB"/>
              <a:t>Identify approval steps that cause avoidable delays to routine maintenance purchases.</a:t>
            </a:r>
          </a:p>
          <a:p>
            <a:r>
              <a:rPr lang="en-GB"/>
              <a:t>Remove redundant approvals and simplify the routine purchase workflow.</a:t>
            </a:r>
          </a:p>
          <a:p>
            <a:r>
              <a:rPr lang="en-GB"/>
              <a:t>Retain appropriate controls and senior approval for exceptional or higher-risk expenditure.</a:t>
            </a:r>
          </a:p>
          <a:p>
            <a:r>
              <a:rPr lang="en-GB"/>
              <a:t>Communicate and implement the streamlined process with maintenance and operational teams.</a:t>
            </a:r>
          </a:p>
          <a:p>
            <a:r>
              <a:rPr lang="en-GB"/>
              <a:t>People performance after Streamline</a:t>
            </a:r>
          </a:p>
          <a:p>
            <a:r>
              <a:rPr lang="en-GB"/>
              <a:t>Maintenance managers can obtain routine replacement parts promptly and fulfil their responsibilities within clear approval limits, without repeated unnecessary escalation.</a:t>
            </a:r>
          </a:p>
          <a:p>
            <a:r>
              <a:rPr lang="en-GB"/>
              <a:t>Organisational performance after Streamline</a:t>
            </a:r>
          </a:p>
          <a:p>
            <a:r>
              <a:rPr lang="en-GB"/>
              <a:t>Reduced approval time lowers maintenance downtime, supports production continuity and helps restore on-time customer delivery while preserving financial control.</a:t>
            </a:r>
          </a:p>
          <a:p>
            <a:r>
              <a:rPr lang="en-GB"/>
              <a:t>Verification. At the agreed executive review, examine:</a:t>
            </a:r>
          </a:p>
          <a:p>
            <a:r>
              <a:rPr lang="en-GB"/>
              <a:t>Routine maintenance approval turnaround time.</a:t>
            </a:r>
          </a:p>
          <a:p>
            <a:r>
              <a:rPr lang="en-GB"/>
              <a:t>Equipment downtime caused by delayed replacement parts.</a:t>
            </a:r>
          </a:p>
          <a:p>
            <a:r>
              <a:rPr lang="en-GB"/>
              <a:t>On-time customer delivery performance.</a:t>
            </a:r>
          </a:p>
          <a:p>
            <a:r>
              <a:rPr lang="en-GB"/>
              <a:t>Compliance with the revised financial controls.</a:t>
            </a:r>
          </a:p>
          <a:p>
            <a:r>
              <a:rPr lang="en-GB"/>
              <a:t>The intervention is working when maintenance managers can exercise the revised authority confidently, routine decisions are made faster, approval-related downtime falls and customer delivery performance begins to recover without weakening financial control.</a:t>
            </a:r>
          </a:p>
          <a:p>
            <a:r>
              <a:rPr lang="en-GB"/>
              <a:t>Completed Unclogging Record</a:t>
            </a:r>
          </a:p>
          <a:p>
            <a:r>
              <a:rPr lang="en-GB"/>
              <a:t>S2R® discipline · Leadership record</a:t>
            </a:r>
          </a:p>
          <a:p>
            <a:r>
              <a:rPr lang="en-GB"/>
              <a:t>REVIEW · Decision Bottlenecks are contributing to maintenance and production delays.</a:t>
            </a:r>
          </a:p>
          <a:p>
            <a:r>
              <a:rPr lang="en-GB"/>
              <a:t>REALIGN · CFO coordinates; COO contributes. Both agree on revised approval authority and controls.</a:t>
            </a:r>
          </a:p>
          <a:p>
            <a:r>
              <a:rPr lang="en-GB"/>
              <a:t>RESTORE · Activate Lever 02 — Streamline and verify improvement through approval time, downtime, delivery and financial-control evidence.</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5.2 — IDENTIFY THE PERFORMANCE CLOG (Capstone Work)</a:t>
            </a:r>
          </a:p>
          <a:p>
            <a:endParaRPr lang="en-GB"/>
          </a:p>
          <a:p>
            <a:r>
              <a:rPr lang="en-GB"/>
              <a:t>TEACHING NOTES:</a:t>
            </a:r>
          </a:p>
          <a:p>
            <a:r>
              <a:rPr lang="en-GB"/>
              <a:t>The challenge describes what has been experienced; the clog names the organisational condition believed to be constraining performance. The group selects one clog and states the observations behind it.</a:t>
            </a:r>
          </a:p>
          <a:p>
            <a:r>
              <a:rPr lang="en-GB"/>
              <a:t>This is the initial diagnosis. The group tests it in REVIEW and corrects the clog and the lever if the evidence points elsewhere.</a:t>
            </a:r>
          </a:p>
          <a:p>
            <a:endParaRPr lang="en-GB"/>
          </a:p>
          <a:p>
            <a:r>
              <a:rPr lang="en-GB"/>
              <a:t>Content:</a:t>
            </a:r>
          </a:p>
          <a:p>
            <a:r>
              <a:rPr lang="en-GB"/>
              <a:t>The group examines the selected challenge and identifies which of the Seven Performance Clogs best explains the difficulty. The challenge describes what has been experienced; the clog identifies the organisational condition believed to be constraining performance.</a:t>
            </a:r>
          </a:p>
          <a:p>
            <a:r>
              <a:rPr lang="en-GB"/>
              <a:t>Seven Performance Clogs · Diagnostic focus</a:t>
            </a:r>
          </a:p>
          <a:p>
            <a:r>
              <a:rPr lang="en-GB"/>
              <a:t>01 — Structural Misfit · Roles, reporting, ownership and coordination arrangements</a:t>
            </a:r>
          </a:p>
          <a:p>
            <a:r>
              <a:rPr lang="en-GB"/>
              <a:t>02 — Capability Gaps · Skills, resources, tools or capacity required for delivery</a:t>
            </a:r>
          </a:p>
          <a:p>
            <a:r>
              <a:rPr lang="en-GB"/>
              <a:t>03 — Decision Bottlenecks · Decision authority, approvals and escalation</a:t>
            </a:r>
          </a:p>
          <a:p>
            <a:r>
              <a:rPr lang="en-GB"/>
              <a:t>04 — Misaligned Metrics &amp; Incentives · Measures and rewards reinforcing the wrong contributions</a:t>
            </a:r>
          </a:p>
          <a:p>
            <a:r>
              <a:rPr lang="en-GB"/>
              <a:t>05 — Cultural Resistance · Established beliefs, norms and habits obstructing change</a:t>
            </a:r>
          </a:p>
          <a:p>
            <a:r>
              <a:rPr lang="en-GB"/>
              <a:t>06 — Technology / Infrastructure Lag · Systems, information and infrastructure limiting delivery</a:t>
            </a:r>
          </a:p>
          <a:p>
            <a:r>
              <a:rPr lang="en-GB"/>
              <a:t>07 — Leadership Avoidance · Unresolved leadership decisions, trade-offs and accountability</a:t>
            </a:r>
          </a:p>
          <a:p>
            <a:r>
              <a:rPr lang="en-GB"/>
              <a:t>What each group completes</a:t>
            </a:r>
          </a:p>
          <a:p>
            <a:r>
              <a:rPr lang="en-GB"/>
              <a:t>Selected clogWhich single category best explains the current challenge?</a:t>
            </a:r>
          </a:p>
          <a:p>
            <a:r>
              <a:rPr lang="en-GB"/>
              <a:t>Reason for selectionWhat specific observations make this the most likely clog?</a:t>
            </a:r>
          </a:p>
          <a:p>
            <a:r>
              <a:rPr lang="en-GB"/>
              <a:t>Treat this as the initial diagnosis. The group will test it during REVIEW.</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5.3 — SELECT THE STRATEGIC UNCLOGGING LEVER (Capstone Work)</a:t>
            </a:r>
          </a:p>
          <a:p>
            <a:endParaRPr lang="en-GB"/>
          </a:p>
          <a:p>
            <a:r>
              <a:rPr lang="en-GB"/>
              <a:t>TEACHING NOTES:</a:t>
            </a:r>
          </a:p>
          <a:p>
            <a:r>
              <a:rPr lang="en-GB"/>
              <a:t>One clog may have more than one suitable lever; the group selects the primary lever for the specific condition in its case and states how it addresses the clog.</a:t>
            </a:r>
          </a:p>
          <a:p>
            <a:r>
              <a:rPr lang="en-GB"/>
              <a:t>Selecting the lever does not start the intervention: the lever is tested and activated through Review–Realign–Restore.</a:t>
            </a:r>
          </a:p>
          <a:p>
            <a:endParaRPr lang="en-GB"/>
          </a:p>
          <a:p>
            <a:r>
              <a:rPr lang="en-GB"/>
              <a:t>Content:</a:t>
            </a:r>
          </a:p>
          <a:p>
            <a:r>
              <a:rPr lang="en-GB"/>
              <a:t>The group now selects the established Strategic Unclogging Lever most appropriate for removing the identified obstruction. One clog may have more than one suitable lever; the group selects the primary lever that best addresses the specific condition in its case.</a:t>
            </a:r>
          </a:p>
          <a:p>
            <a:r>
              <a:rPr lang="en-GB"/>
              <a:t>Seven Strategic Unclogging Levers · Purpose · Common application</a:t>
            </a:r>
          </a:p>
          <a:p>
            <a:r>
              <a:rPr lang="en-GB"/>
              <a:t>01 — Standardise · Ensure Consistency · Structural Misfit; Misaligned Metrics &amp; Incentives; Technology / Infrastructure Lag</a:t>
            </a:r>
          </a:p>
          <a:p>
            <a:r>
              <a:rPr lang="en-GB"/>
              <a:t>02 — Streamline · Increase Speed · Decision Bottlenecks; Structural Misfit</a:t>
            </a:r>
          </a:p>
          <a:p>
            <a:r>
              <a:rPr lang="en-GB"/>
              <a:t>03 — Clarify · Eliminate Confusion · Decision Bottlenecks; Structural Misfit; Leadership Avoidance</a:t>
            </a:r>
          </a:p>
          <a:p>
            <a:r>
              <a:rPr lang="en-GB"/>
              <a:t>04 — Upgrade · Remove Bottlenecks · Technology / Infrastructure Lag; Capability Gaps</a:t>
            </a:r>
          </a:p>
          <a:p>
            <a:r>
              <a:rPr lang="en-GB"/>
              <a:t>05 — Reinforce · Strengthen Behaviour · Capability Gaps; Cultural Resistance</a:t>
            </a:r>
          </a:p>
          <a:p>
            <a:r>
              <a:rPr lang="en-GB"/>
              <a:t>06 — Realign · Focus on Results · Misaligned Metrics &amp; Incentives</a:t>
            </a:r>
          </a:p>
          <a:p>
            <a:r>
              <a:rPr lang="en-GB"/>
              <a:t>07 — Rebuild Trust · Restore Credibility · Cultural Resistance; Leadership Avoidance</a:t>
            </a:r>
          </a:p>
          <a:p>
            <a:r>
              <a:rPr lang="en-GB"/>
              <a:t>What each group completes</a:t>
            </a:r>
          </a:p>
          <a:p>
            <a:r>
              <a:rPr lang="en-GB"/>
              <a:t>Selected leverWhich of the seven levers will the group use?</a:t>
            </a:r>
          </a:p>
          <a:p>
            <a:r>
              <a:rPr lang="en-GB"/>
              <a:t>Reason for selectionHow does this lever address the identified clog?</a:t>
            </a:r>
          </a:p>
          <a:p>
            <a:r>
              <a:rPr lang="en-GB"/>
              <a:t>The selected lever is tested and activated through Review–Realign–Restore. Selection at this stage does not mean intervention begins before the diagnosis has been confirmed.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1 REFLECTIONS</a:t>
            </a:r>
          </a:p>
          <a:p>
            <a:endParaRPr lang="en-GB"/>
          </a:p>
          <a:p>
            <a:r>
              <a:rPr lang="en-GB"/>
              <a:t>Participants complete these reflections in their own file after the teaching.</a:t>
            </a:r>
          </a:p>
          <a:p>
            <a:r>
              <a:rPr lang="en-GB"/>
              <a:t>1.1 · Strategic Clog in Your Organisation: a strategy initiative that stalled, the blockage behind it, whether it could have been named earlier, and the organisational condition the individuals’ tasks depended on.</a:t>
            </a:r>
          </a:p>
          <a:p>
            <a:r>
              <a:rPr lang="en-GB"/>
              <a:t>1.2 · Where Is Your System Not Yet Ready?: the element of their operating system most likely to create friction under their current strategic direction, and why.</a:t>
            </a:r>
          </a:p>
          <a:p>
            <a:r>
              <a:rPr lang="en-GB"/>
              <a:t>1.5 · Which Clogs Are Active?: a rating of each of the seven clogs, and the clog most active in their organisation with the organisational condition it sits in.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2 REFLECTIONS</a:t>
            </a:r>
          </a:p>
          <a:p>
            <a:endParaRPr lang="en-GB"/>
          </a:p>
          <a:p>
            <a:r>
              <a:rPr lang="en-GB"/>
              <a:t>Participants complete this reflection in their own file after the teaching.</a:t>
            </a:r>
          </a:p>
          <a:p>
            <a:r>
              <a:rPr lang="en-GB"/>
              <a:t>2.2 · Your Lever: the primary lever and the second lever they would pull for the clog they identified in Awareness, and why this combination.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3 REFLECTIONS</a:t>
            </a:r>
          </a:p>
          <a:p>
            <a:endParaRPr lang="en-GB"/>
          </a:p>
          <a:p>
            <a:r>
              <a:rPr lang="en-GB"/>
              <a:t>Participants complete this reflection in their own file after the teaching, as Portfolio work.</a:t>
            </a:r>
          </a:p>
          <a:p>
            <a:r>
              <a:rPr lang="en-GB"/>
              <a:t>3.1 · My Executive Contribution to Performance: one decision, policy or management practice within their own executive function that may be affecting another team or function, traced through the Three Performance Lines of Sight to the clog it creates or reinforces.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a:t>SECTION 4 REFLECTIONS</a:t>
            </a:r>
          </a:p>
          <a:p>
            <a:endParaRPr lang="en-GB"/>
          </a:p>
          <a:p>
            <a:r>
              <a:rPr lang="en-GB"/>
              <a:t>Participants complete this personal reflection in their own file after the teaching, as Portfolio work.</a:t>
            </a:r>
          </a:p>
          <a:p>
            <a:r>
              <a:rPr lang="en-GB"/>
              <a:t>My Leadership Contribution to Strategic Unclogging: REVIEW (the clog, its effect on people’s performance and on organisational performance); REALIGN (their own contribution to the clog, what they must change and the leaders they need to engage); RESTORE (the Unclogging Lever, the action and the evidence of improvement).</a:t>
            </a:r>
          </a:p>
          <a:p>
            <a:endParaRPr lang="en-GB"/>
          </a:p>
          <a:p>
            <a:r>
              <a:rPr lang="en-GB"/>
              <a:t>Facilitator Closing Note — Integration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1.xml"/><Relationship Id="rId9" Type="http://schemas.openxmlformats.org/officeDocument/2006/relationships/notesSlide" Target="../notesSlides/notesSlide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1.png"/><Relationship Id="rId3" Type="http://schemas.openxmlformats.org/officeDocument/2006/relationships/image" Target="../media/image-21-2.png"/><Relationship Id="rId4" Type="http://schemas.openxmlformats.org/officeDocument/2006/relationships/image" Target="../media/image-21-3.png"/><Relationship Id="rId5" Type="http://schemas.openxmlformats.org/officeDocument/2006/relationships/image" Target="../media/image-21-4.png"/><Relationship Id="rId6" Type="http://schemas.openxmlformats.org/officeDocument/2006/relationships/notesSlide" Target="../notesSlides/notesSlide2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notesSlide" Target="../notesSlides/notesSlide31.xml"/><Relationship Id="rId10" Type="http://schemas.openxmlformats.org/officeDocument/2006/relationships/image" Target="../media/image1.png"/><Relationship Id="rId11" Type="http://schemas.openxmlformats.org/officeDocument/2006/relationships/image" Target="../media/image2.png"/><Relationship Id="rId12"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slideLayout" Target="../slideLayouts/slideLayout1.xml"/><Relationship Id="rId9"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notesSlide" Target="../notesSlides/notesSlide32.xml"/><Relationship Id="rId10" Type="http://schemas.openxmlformats.org/officeDocument/2006/relationships/image" Target="../media/image3.png"/><Relationship Id="rId11"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slideLayout" Target="../slideLayouts/slideLayout1.xml"/><Relationship Id="rId4"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slideLayout" Target="../slideLayouts/slideLayout1.xml"/><Relationship Id="rId9"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notesSlide" Target="../notesSlides/notesSlide33.xml"/><Relationship Id="rId10"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slideLayout" Target="../slideLayouts/slideLayout1.xml"/><Relationship Id="rId6"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1.xml"/><Relationship Id="rId5"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image" Target="../media/image-11-6.png"/><Relationship Id="rId8" Type="http://schemas.openxmlformats.org/officeDocument/2006/relationships/image" Target="../media/image-11-7.png"/><Relationship Id="rId9" Type="http://schemas.openxmlformats.org/officeDocument/2006/relationships/notesSlide" Target="../notesSlides/notesSlide2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1.png"/><Relationship Id="rId3" Type="http://schemas.openxmlformats.org/officeDocument/2006/relationships/image" Target="../media/image-18-2.png"/><Relationship Id="rId4" Type="http://schemas.openxmlformats.org/officeDocument/2006/relationships/image" Target="../media/image-18-3.png"/><Relationship Id="rId5" Type="http://schemas.openxmlformats.org/officeDocument/2006/relationships/notesSlide" Target="../notesSlides/notesSlide28.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notesSlide" Target="../notesSlides/notesSlide34.xml"/><Relationship Id="rId10"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1.xml"/><Relationship Id="rId4" Type="http://schemas.openxmlformats.org/officeDocument/2006/relationships/notesSlide" Target="../notesSlides/notesSlide19.xml"/></Relationships>
</file>

<file path=ppt/slides/_rels/slide25.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1.xml"/><Relationship Id="rId5"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image" Target="../media/image-20-3.png"/><Relationship Id="rId4" Type="http://schemas.openxmlformats.org/officeDocument/2006/relationships/slideLayout" Target="../slideLayouts/slideLayout1.xml"/><Relationship Id="rId5" Type="http://schemas.openxmlformats.org/officeDocument/2006/relationships/notesSlide" Target="../notesSlides/notesSlide20.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image" Target="../media/image-7-6.png"/><Relationship Id="rId8" Type="http://schemas.openxmlformats.org/officeDocument/2006/relationships/image" Target="../media/image-7-7.png"/><Relationship Id="rId9" Type="http://schemas.openxmlformats.org/officeDocument/2006/relationships/notesSlide" Target="../notesSlides/notesSlide2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1.png"/><Relationship Id="rId3"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image" Target="../media/image-11-5.png"/><Relationship Id="rId7" Type="http://schemas.openxmlformats.org/officeDocument/2006/relationships/image" Target="../media/image-11-6.png"/><Relationship Id="rId8" Type="http://schemas.openxmlformats.org/officeDocument/2006/relationships/image" Target="../media/image-11-7.png"/><Relationship Id="rId9" Type="http://schemas.openxmlformats.org/officeDocument/2006/relationships/notesSlide" Target="../notesSlides/notesSlide30.xml"/></Relationships>
</file>

<file path=ppt/slides/_rels/slide29.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image" Target="../media/image-21-3.png"/><Relationship Id="rId4" Type="http://schemas.openxmlformats.org/officeDocument/2006/relationships/image" Target="../media/image-21-4.png"/><Relationship Id="rId5" Type="http://schemas.openxmlformats.org/officeDocument/2006/relationships/slideLayout" Target="../slideLayouts/slideLayout1.xml"/><Relationship Id="rId6" Type="http://schemas.openxmlformats.org/officeDocument/2006/relationships/notesSlide" Target="../notesSlides/notesSlide21.xml"/></Relationships>
</file>

<file path=ppt/slides/_rels/slide30.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1.xml"/><Relationship Id="rId6" Type="http://schemas.openxmlformats.org/officeDocument/2006/relationships/notesSlide" Target="../notesSlides/notesSlide23.xml"/></Relationships>
</file>

<file path=ppt/slides/_rels/slide31.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1.png"/><Relationship Id="rId3" Type="http://schemas.openxmlformats.org/officeDocument/2006/relationships/image" Target="../media/image-21-2.png"/><Relationship Id="rId4" Type="http://schemas.openxmlformats.org/officeDocument/2006/relationships/image" Target="../media/image-21-3.png"/><Relationship Id="rId5" Type="http://schemas.openxmlformats.org/officeDocument/2006/relationships/image" Target="../media/image-21-4.png"/><Relationship Id="rId6"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3B1C"/>
        </a:solidFill>
      </p:bgPr>
    </p:bg>
    <p:spTree>
      <p:nvGrpSpPr>
        <p:cNvPr id="1" name=""/>
        <p:cNvGrpSpPr/>
        <p:nvPr/>
      </p:nvGrpSpPr>
      <p:grpSpPr>
        <a:xfrm>
          <a:off x="0" y="0"/>
          <a:ext cx="0" cy="0"/>
          <a:chOff x="0" y="0"/>
          <a:chExt cx="0" cy="0"/>
        </a:xfrm>
      </p:grpSpPr>
      <p:pic>
        <p:nvPicPr>
          <p:cNvPr id="2" name="Image 0" descr="logo.png">    </p:cNvPr>
          <p:cNvPicPr>
            <a:picLocks noChangeAspect="1"/>
          </p:cNvPicPr>
          <p:nvPr/>
        </p:nvPicPr>
        <p:blipFill>
          <a:blip r:embed="rId1"/>
          <a:stretch>
            <a:fillRect/>
          </a:stretch>
        </p:blipFill>
        <p:spPr>
          <a:xfrm>
            <a:off x="8259775" y="1325880"/>
            <a:ext cx="3108960" cy="3017520"/>
          </a:xfrm>
          <a:prstGeom prst="rect">
            <a:avLst/>
          </a:prstGeom>
        </p:spPr>
      </p:pic>
      <p:sp>
        <p:nvSpPr>
          <p:cNvPr id="3" name="Text 0"/>
          <p:cNvSpPr txBox="1"/>
          <p:nvPr/>
        </p:nvSpPr>
        <p:spPr>
          <a:xfrm>
            <a:off x="731520" y="1188720"/>
            <a:ext cx="73152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Module 3 · Influence · Unit 9</a:t>
            </a:r>
            <a:endParaRPr lang="en-US" sz="2400" dirty="0"/>
          </a:p>
        </p:txBody>
      </p:sp>
      <p:sp>
        <p:nvSpPr>
          <p:cNvPr id="4" name="Text 1"/>
          <p:cNvSpPr txBox="1"/>
          <p:nvPr/>
        </p:nvSpPr>
        <p:spPr>
          <a:xfrm>
            <a:off x="731520" y="1783080"/>
            <a:ext cx="7223760" cy="20116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Strategic Unclogging</a:t>
            </a:r>
            <a:endParaRPr lang="en-US" sz="4800" dirty="0"/>
          </a:p>
        </p:txBody>
      </p:sp>
      <p:sp>
        <p:nvSpPr>
          <p:cNvPr id="5" name="Text 2"/>
          <p:cNvSpPr txBox="1"/>
          <p:nvPr/>
        </p:nvSpPr>
        <p:spPr>
          <a:xfrm>
            <a:off x="731520" y="3977640"/>
            <a:ext cx="7223760" cy="1188720"/>
          </a:xfrm>
          <a:prstGeom prst="rect">
            <a:avLst/>
          </a:prstGeom>
          <a:noFill/>
          <a:ln/>
        </p:spPr>
        <p:txBody>
          <a:bodyPr wrap="square" lIns="0" tIns="0" rIns="0" bIns="0" rtlCol="0" anchor="t"/>
          <a:lstStyle/>
          <a:p>
            <a:pPr indent="0" marL="0">
              <a:buNone/>
            </a:pPr>
            <a:r>
              <a:rPr lang="en-US" sz="2400" i="1" dirty="0">
                <a:solidFill>
                  <a:srgbClr val="DDE8DF"/>
                </a:solidFill>
                <a:latin typeface="Calibri" pitchFamily="34" charset="0"/>
                <a:ea typeface="Calibri" pitchFamily="34" charset="-122"/>
                <a:cs typeface="Calibri" pitchFamily="34" charset="-120"/>
              </a:rPr>
              <a:t>Engineering the Flow of Execution</a:t>
            </a:r>
            <a:endParaRPr lang="en-US" sz="2400" dirty="0"/>
          </a:p>
        </p:txBody>
      </p:sp>
      <p:sp>
        <p:nvSpPr>
          <p:cNvPr id="6" name="Text 3"/>
          <p:cNvSpPr txBox="1"/>
          <p:nvPr/>
        </p:nvSpPr>
        <p:spPr>
          <a:xfrm>
            <a:off x="731520" y="5669280"/>
            <a:ext cx="7315200" cy="457200"/>
          </a:xfrm>
          <a:prstGeom prst="rect">
            <a:avLst/>
          </a:prstGeom>
          <a:noFill/>
          <a:ln/>
        </p:spPr>
        <p:txBody>
          <a:bodyPr wrap="square" lIns="0" tIns="0" rIns="0" bIns="0" rtlCol="0" anchor="t"/>
          <a:lstStyle/>
          <a:p>
            <a:pPr indent="0" marL="0">
              <a:buNone/>
            </a:pPr>
            <a:r>
              <a:rPr lang="en-US" sz="2400" dirty="0">
                <a:solidFill>
                  <a:srgbClr val="E6D3A0"/>
                </a:solidFill>
                <a:latin typeface="Calibri" pitchFamily="34" charset="0"/>
                <a:ea typeface="Calibri" pitchFamily="34" charset="-122"/>
                <a:cs typeface="Calibri" pitchFamily="34" charset="-120"/>
              </a:rPr>
              <a:t>Strategy2Results® · Facilitator deck</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Key learning outcomes</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1"/>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Diagnose systemic constraints in people and organisational performance that impede strategy delivery.</a:t>
            </a:r>
            <a:endParaRPr lang="en-US" sz="24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2"/>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Differentiate visible performance symptoms from underlying causes to target intervention.</a:t>
            </a:r>
            <a:endParaRPr lang="en-US" sz="24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Evaluate and resolve interdependent enterprise conditions contributing to stalled performance.</a:t>
            </a:r>
            <a:endParaRPr lang="en-US" sz="24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p/>
        </p:txBody>
      </p:sp>
      <p:pic>
        <p:nvPicPr>
          <p:cNvPr id="13" name="Image 3" descr="preencoded.png">    </p:cNvPr>
          <p:cNvPicPr>
            <a:picLocks noChangeAspect="1"/>
          </p:cNvPicPr>
          <p:nvPr/>
        </p:nvPicPr>
        <p:blipFill>
          <a:blip r:embed="rId4"/>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indent="0" marL="0">
              <a:buNone/>
            </a:pPr>
            <a:r>
              <a:rPr lang="en-US" sz="2400" dirty="0">
                <a:solidFill>
                  <a:srgbClr val="1F2A22"/>
                </a:solidFill>
                <a:latin typeface="Calibri" pitchFamily="34" charset="0"/>
                <a:ea typeface="Calibri" pitchFamily="34" charset="-122"/>
                <a:cs typeface="Calibri" pitchFamily="34" charset="-120"/>
              </a:rPr>
              <a:t>Mobilise coordinated organisational responses that restore strategic coherence and momentum.</a:t>
            </a:r>
            <a:endParaRPr lang="en-US" sz="2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The unit journey</a:t>
            </a:r>
            <a:endParaRPr lang="en-US" sz="3600" dirty="0"/>
          </a:p>
        </p:txBody>
      </p:sp>
      <p:sp>
        <p:nvSpPr>
          <p:cNvPr id="3" name="Shape 1"/>
          <p:cNvSpPr/>
          <p:nvPr/>
        </p:nvSpPr>
        <p:spPr>
          <a:xfrm>
            <a:off x="548640" y="1677924"/>
            <a:ext cx="640080" cy="640080"/>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1"/>
          <a:stretch>
            <a:fillRect/>
          </a:stretch>
        </p:blipFill>
        <p:spPr>
          <a:xfrm>
            <a:off x="708660" y="1837944"/>
            <a:ext cx="320040" cy="320040"/>
          </a:xfrm>
          <a:prstGeom prst="rect">
            <a:avLst/>
          </a:prstGeom>
        </p:spPr>
      </p:pic>
      <p:sp>
        <p:nvSpPr>
          <p:cNvPr id="5" name="Text 2"/>
          <p:cNvSpPr txBox="1"/>
          <p:nvPr/>
        </p:nvSpPr>
        <p:spPr>
          <a:xfrm>
            <a:off x="1508760" y="1508760"/>
            <a:ext cx="10131552" cy="978408"/>
          </a:xfrm>
          <a:prstGeom prst="rect">
            <a:avLst/>
          </a:prstGeom>
          <a:noFill/>
          <a:ln/>
        </p:spPr>
        <p:txBody>
          <a:bodyPr wrap="square" lIns="0" tIns="0" rIns="0" bIns="0" rtlCol="0" anchor="ctr"/>
          <a:lstStyle/>
          <a:p>
            <a:pPr indent="0" marL="0">
              <a:buNone/>
            </a:pPr>
            <a:r>
              <a:rPr lang="en-US" sz="2800" b="1" dirty="0">
                <a:solidFill>
                  <a:srgbClr val="1A5C2C"/>
                </a:solidFill>
                <a:latin typeface="Cambria" pitchFamily="34" charset="0"/>
                <a:ea typeface="Cambria" pitchFamily="34" charset="-122"/>
                <a:cs typeface="Cambria" pitchFamily="34" charset="-120"/>
              </a:rPr>
              <a:t>Section 1 · Awareness  </a:t>
            </a:r>
            <a:pPr indent="0" marL="0">
              <a:buNone/>
            </a:pPr>
            <a:r>
              <a:rPr lang="en-US" sz="2800" dirty="0">
                <a:solidFill>
                  <a:srgbClr val="1F2A22"/>
                </a:solidFill>
                <a:latin typeface="Calibri" pitchFamily="34" charset="0"/>
                <a:ea typeface="Calibri" pitchFamily="34" charset="-122"/>
                <a:cs typeface="Calibri" pitchFamily="34" charset="-120"/>
              </a:rPr>
              <a:t>— What</a:t>
            </a:r>
            <a:endParaRPr lang="en-US" sz="2800" dirty="0"/>
          </a:p>
        </p:txBody>
      </p:sp>
      <p:sp>
        <p:nvSpPr>
          <p:cNvPr id="6" name="Shape 3"/>
          <p:cNvSpPr/>
          <p:nvPr/>
        </p:nvSpPr>
        <p:spPr>
          <a:xfrm>
            <a:off x="548640" y="2656332"/>
            <a:ext cx="640080" cy="640080"/>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2"/>
          <a:stretch>
            <a:fillRect/>
          </a:stretch>
        </p:blipFill>
        <p:spPr>
          <a:xfrm>
            <a:off x="708660" y="2816352"/>
            <a:ext cx="320040" cy="320040"/>
          </a:xfrm>
          <a:prstGeom prst="rect">
            <a:avLst/>
          </a:prstGeom>
        </p:spPr>
      </p:pic>
      <p:sp>
        <p:nvSpPr>
          <p:cNvPr id="8" name="Text 4"/>
          <p:cNvSpPr txBox="1"/>
          <p:nvPr/>
        </p:nvSpPr>
        <p:spPr>
          <a:xfrm>
            <a:off x="1508760" y="2487168"/>
            <a:ext cx="10131552" cy="978408"/>
          </a:xfrm>
          <a:prstGeom prst="rect">
            <a:avLst/>
          </a:prstGeom>
          <a:noFill/>
          <a:ln/>
        </p:spPr>
        <p:txBody>
          <a:bodyPr wrap="square" lIns="0" tIns="0" rIns="0" bIns="0" rtlCol="0" anchor="ctr"/>
          <a:lstStyle/>
          <a:p>
            <a:pPr indent="0" marL="0">
              <a:buNone/>
            </a:pPr>
            <a:r>
              <a:rPr lang="en-US" sz="2800" b="1" dirty="0">
                <a:solidFill>
                  <a:srgbClr val="1A5C2C"/>
                </a:solidFill>
                <a:latin typeface="Cambria" pitchFamily="34" charset="0"/>
                <a:ea typeface="Cambria" pitchFamily="34" charset="-122"/>
                <a:cs typeface="Cambria" pitchFamily="34" charset="-120"/>
              </a:rPr>
              <a:t>Section 2 · Intelligence  </a:t>
            </a:r>
            <a:pPr indent="0" marL="0">
              <a:buNone/>
            </a:pPr>
            <a:r>
              <a:rPr lang="en-US" sz="2800" dirty="0">
                <a:solidFill>
                  <a:srgbClr val="1F2A22"/>
                </a:solidFill>
                <a:latin typeface="Calibri" pitchFamily="34" charset="0"/>
                <a:ea typeface="Calibri" pitchFamily="34" charset="-122"/>
                <a:cs typeface="Calibri" pitchFamily="34" charset="-120"/>
              </a:rPr>
              <a:t>— Why</a:t>
            </a:r>
            <a:endParaRPr lang="en-US" sz="2800" dirty="0"/>
          </a:p>
        </p:txBody>
      </p:sp>
      <p:sp>
        <p:nvSpPr>
          <p:cNvPr id="9" name="Shape 5"/>
          <p:cNvSpPr/>
          <p:nvPr/>
        </p:nvSpPr>
        <p:spPr>
          <a:xfrm>
            <a:off x="548640" y="3634740"/>
            <a:ext cx="640080" cy="640080"/>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3"/>
          <a:stretch>
            <a:fillRect/>
          </a:stretch>
        </p:blipFill>
        <p:spPr>
          <a:xfrm>
            <a:off x="708660" y="3794760"/>
            <a:ext cx="320040" cy="320040"/>
          </a:xfrm>
          <a:prstGeom prst="rect">
            <a:avLst/>
          </a:prstGeom>
        </p:spPr>
      </p:pic>
      <p:sp>
        <p:nvSpPr>
          <p:cNvPr id="11" name="Text 6"/>
          <p:cNvSpPr txBox="1"/>
          <p:nvPr/>
        </p:nvSpPr>
        <p:spPr>
          <a:xfrm>
            <a:off x="1508760" y="3465576"/>
            <a:ext cx="10131552" cy="978408"/>
          </a:xfrm>
          <a:prstGeom prst="rect">
            <a:avLst/>
          </a:prstGeom>
          <a:noFill/>
          <a:ln/>
        </p:spPr>
        <p:txBody>
          <a:bodyPr wrap="square" lIns="0" tIns="0" rIns="0" bIns="0" rtlCol="0" anchor="ctr"/>
          <a:lstStyle/>
          <a:p>
            <a:pPr indent="0" marL="0">
              <a:buNone/>
            </a:pPr>
            <a:r>
              <a:rPr lang="en-US" sz="2800" b="1" dirty="0">
                <a:solidFill>
                  <a:srgbClr val="1A5C2C"/>
                </a:solidFill>
                <a:latin typeface="Cambria" pitchFamily="34" charset="0"/>
                <a:ea typeface="Cambria" pitchFamily="34" charset="-122"/>
                <a:cs typeface="Cambria" pitchFamily="34" charset="-120"/>
              </a:rPr>
              <a:t>Section 3 · Extrapolating  </a:t>
            </a:r>
            <a:pPr indent="0" marL="0">
              <a:buNone/>
            </a:pPr>
            <a:r>
              <a:rPr lang="en-US" sz="2800" dirty="0">
                <a:solidFill>
                  <a:srgbClr val="1F2A22"/>
                </a:solidFill>
                <a:latin typeface="Calibri" pitchFamily="34" charset="0"/>
                <a:ea typeface="Calibri" pitchFamily="34" charset="-122"/>
                <a:cs typeface="Calibri" pitchFamily="34" charset="-120"/>
              </a:rPr>
              <a:t>— Where</a:t>
            </a:r>
            <a:endParaRPr lang="en-US" sz="2800" dirty="0"/>
          </a:p>
        </p:txBody>
      </p:sp>
      <p:sp>
        <p:nvSpPr>
          <p:cNvPr id="12" name="Shape 7"/>
          <p:cNvSpPr/>
          <p:nvPr/>
        </p:nvSpPr>
        <p:spPr>
          <a:xfrm>
            <a:off x="548640" y="4613148"/>
            <a:ext cx="640080" cy="640080"/>
          </a:xfrm>
          <a:prstGeom prst="ellipse">
            <a:avLst/>
          </a:prstGeom>
          <a:solidFill>
            <a:srgbClr val="1A5C2C"/>
          </a:solidFill>
          <a:ln w="12700">
            <a:solidFill>
              <a:srgbClr val="1A5C2C"/>
            </a:solidFill>
            <a:prstDash val="solid"/>
          </a:ln>
        </p:spPr>
        <p:txBody>
          <a:bodyPr/>
          <a:p/>
        </p:txBody>
      </p:sp>
      <p:pic>
        <p:nvPicPr>
          <p:cNvPr id="13" name="Image 3" descr="preencoded.png">    </p:cNvPr>
          <p:cNvPicPr>
            <a:picLocks noChangeAspect="1"/>
          </p:cNvPicPr>
          <p:nvPr/>
        </p:nvPicPr>
        <p:blipFill>
          <a:blip r:embed="rId4"/>
          <a:stretch>
            <a:fillRect/>
          </a:stretch>
        </p:blipFill>
        <p:spPr>
          <a:xfrm>
            <a:off x="708660" y="4773168"/>
            <a:ext cx="320040" cy="320040"/>
          </a:xfrm>
          <a:prstGeom prst="rect">
            <a:avLst/>
          </a:prstGeom>
        </p:spPr>
      </p:pic>
      <p:sp>
        <p:nvSpPr>
          <p:cNvPr id="14" name="Text 8"/>
          <p:cNvSpPr txBox="1"/>
          <p:nvPr/>
        </p:nvSpPr>
        <p:spPr>
          <a:xfrm>
            <a:off x="1508760" y="4443984"/>
            <a:ext cx="10131552" cy="978408"/>
          </a:xfrm>
          <a:prstGeom prst="rect">
            <a:avLst/>
          </a:prstGeom>
          <a:noFill/>
          <a:ln/>
        </p:spPr>
        <p:txBody>
          <a:bodyPr wrap="square" lIns="0" tIns="0" rIns="0" bIns="0" rtlCol="0" anchor="ctr"/>
          <a:lstStyle/>
          <a:p>
            <a:pPr indent="0" marL="0">
              <a:buNone/>
            </a:pPr>
            <a:r>
              <a:rPr lang="en-US" sz="2800" b="1" dirty="0">
                <a:solidFill>
                  <a:srgbClr val="1A5C2C"/>
                </a:solidFill>
                <a:latin typeface="Cambria" pitchFamily="34" charset="0"/>
                <a:ea typeface="Cambria" pitchFamily="34" charset="-122"/>
                <a:cs typeface="Cambria" pitchFamily="34" charset="-120"/>
              </a:rPr>
              <a:t>Section 4 · Integration  </a:t>
            </a:r>
            <a:pPr indent="0" marL="0">
              <a:buNone/>
            </a:pPr>
            <a:r>
              <a:rPr lang="en-US" sz="2800" dirty="0">
                <a:solidFill>
                  <a:srgbClr val="1F2A22"/>
                </a:solidFill>
                <a:latin typeface="Calibri" pitchFamily="34" charset="0"/>
                <a:ea typeface="Calibri" pitchFamily="34" charset="-122"/>
                <a:cs typeface="Calibri" pitchFamily="34" charset="-120"/>
              </a:rPr>
              <a:t>— Collective</a:t>
            </a:r>
            <a:endParaRPr lang="en-US" sz="2800" dirty="0"/>
          </a:p>
        </p:txBody>
      </p:sp>
      <p:sp>
        <p:nvSpPr>
          <p:cNvPr id="15" name="Shape 9"/>
          <p:cNvSpPr/>
          <p:nvPr/>
        </p:nvSpPr>
        <p:spPr>
          <a:xfrm>
            <a:off x="548640" y="5591556"/>
            <a:ext cx="640080" cy="640080"/>
          </a:xfrm>
          <a:prstGeom prst="ellipse">
            <a:avLst/>
          </a:prstGeom>
          <a:solidFill>
            <a:srgbClr val="1A5C2C"/>
          </a:solidFill>
          <a:ln w="12700">
            <a:solidFill>
              <a:srgbClr val="1A5C2C"/>
            </a:solidFill>
            <a:prstDash val="solid"/>
          </a:ln>
        </p:spPr>
        <p:txBody>
          <a:bodyPr/>
          <a:p/>
        </p:txBody>
      </p:sp>
      <p:pic>
        <p:nvPicPr>
          <p:cNvPr id="16" name="Image 4" descr="preencoded.png">    </p:cNvPr>
          <p:cNvPicPr>
            <a:picLocks noChangeAspect="1"/>
          </p:cNvPicPr>
          <p:nvPr/>
        </p:nvPicPr>
        <p:blipFill>
          <a:blip r:embed="rId5"/>
          <a:stretch>
            <a:fillRect/>
          </a:stretch>
        </p:blipFill>
        <p:spPr>
          <a:xfrm>
            <a:off x="708660" y="5751576"/>
            <a:ext cx="320040" cy="320040"/>
          </a:xfrm>
          <a:prstGeom prst="rect">
            <a:avLst/>
          </a:prstGeom>
        </p:spPr>
      </p:pic>
      <p:sp>
        <p:nvSpPr>
          <p:cNvPr id="17" name="Text 10"/>
          <p:cNvSpPr txBox="1"/>
          <p:nvPr/>
        </p:nvSpPr>
        <p:spPr>
          <a:xfrm>
            <a:off x="1508760" y="5422392"/>
            <a:ext cx="10131552" cy="978408"/>
          </a:xfrm>
          <a:prstGeom prst="rect">
            <a:avLst/>
          </a:prstGeom>
          <a:noFill/>
          <a:ln/>
        </p:spPr>
        <p:txBody>
          <a:bodyPr wrap="square" lIns="0" tIns="0" rIns="0" bIns="0" rtlCol="0" anchor="ctr"/>
          <a:lstStyle/>
          <a:p>
            <a:pPr indent="0" marL="0">
              <a:buNone/>
            </a:pPr>
            <a:r>
              <a:rPr lang="en-US" sz="2800" b="1" dirty="0">
                <a:solidFill>
                  <a:srgbClr val="1A5C2C"/>
                </a:solidFill>
                <a:latin typeface="Cambria" pitchFamily="34" charset="0"/>
                <a:ea typeface="Cambria" pitchFamily="34" charset="-122"/>
                <a:cs typeface="Cambria" pitchFamily="34" charset="-120"/>
              </a:rPr>
              <a:t>Section 5 · Application  </a:t>
            </a:r>
            <a:pPr indent="0" marL="0">
              <a:buNone/>
            </a:pPr>
            <a:r>
              <a:rPr lang="en-US" sz="2800" dirty="0">
                <a:solidFill>
                  <a:srgbClr val="1F2A22"/>
                </a:solidFill>
                <a:latin typeface="Calibri" pitchFamily="34" charset="0"/>
                <a:ea typeface="Calibri" pitchFamily="34" charset="-122"/>
                <a:cs typeface="Calibri" pitchFamily="34" charset="-120"/>
              </a:rPr>
              <a:t>— In Practice</a:t>
            </a:r>
            <a:endParaRPr lang="en-US" sz="2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1</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1</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Awareness — What</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What is a Strategic Clog?</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p/>
        </p:txBody>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Diagnose systemic blockages between strategic intent and execution.</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Interpret early friction signals to locate constraints in people and organisational conditions.</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3B1C"/>
        </a:solidFill>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p/>
        </p:txBody>
      </p:sp>
      <p:pic>
        <p:nvPicPr>
          <p:cNvPr id="3" name="Image 0" descr="preencoded.png">    </p:cNvPr>
          <p:cNvPicPr>
            <a:picLocks noChangeAspect="1"/>
          </p:cNvPicPr>
          <p:nvPr/>
        </p:nvPicPr>
        <p:blipFill>
          <a:blip r:embed="rId1"/>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indent="0" marL="0">
              <a:buNone/>
            </a:pPr>
            <a:r>
              <a:rPr lang="en-US" sz="2600" b="1" dirty="0">
                <a:solidFill>
                  <a:srgbClr val="C6A24C"/>
                </a:solidFill>
                <a:latin typeface="Calibri" pitchFamily="34" charset="0"/>
                <a:ea typeface="Calibri" pitchFamily="34" charset="-122"/>
                <a:cs typeface="Calibri" pitchFamily="34" charset="-120"/>
              </a:rPr>
              <a:t>1.1 · What is a Strategic Clog?</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indent="0" marL="0">
              <a:buNone/>
            </a:pPr>
            <a:r>
              <a:rPr lang="en-US" sz="3600" i="1" dirty="0">
                <a:solidFill>
                  <a:srgbClr val="FFFFFF"/>
                </a:solidFill>
                <a:latin typeface="Cambria" pitchFamily="34" charset="0"/>
                <a:ea typeface="Cambria" pitchFamily="34" charset="-122"/>
                <a:cs typeface="Cambria" pitchFamily="34" charset="-120"/>
              </a:rPr>
              <a:t>Strategy sets the destination. Flow determines whether you have the power to arrive.</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A clog is an internal blockage that prevents strategic intent from flowing into execution.</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1.3 · The Seven Performance Clogs</a:t>
            </a:r>
            <a:endParaRPr lang="en-US" sz="3600" dirty="0"/>
          </a:p>
        </p:txBody>
      </p:sp>
      <p:sp>
        <p:nvSpPr>
          <p:cNvPr id="3" name="Shape 1"/>
          <p:cNvSpPr/>
          <p:nvPr/>
        </p:nvSpPr>
        <p:spPr>
          <a:xfrm>
            <a:off x="548640" y="1613589"/>
            <a:ext cx="489204" cy="489204"/>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1"/>
          <a:stretch>
            <a:fillRect/>
          </a:stretch>
        </p:blipFill>
        <p:spPr>
          <a:xfrm>
            <a:off x="670941" y="1735890"/>
            <a:ext cx="244602" cy="244602"/>
          </a:xfrm>
          <a:prstGeom prst="rect">
            <a:avLst/>
          </a:prstGeom>
        </p:spPr>
      </p:pic>
      <p:sp>
        <p:nvSpPr>
          <p:cNvPr id="5" name="Text 2"/>
          <p:cNvSpPr txBox="1"/>
          <p:nvPr/>
        </p:nvSpPr>
        <p:spPr>
          <a:xfrm>
            <a:off x="1357884" y="1508760"/>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01 · Structural Misfit  </a:t>
            </a:r>
            <a:pPr indent="0" marL="0">
              <a:buNone/>
            </a:pPr>
            <a:r>
              <a:rPr lang="en-US" sz="2400" dirty="0">
                <a:solidFill>
                  <a:srgbClr val="1F2A22"/>
                </a:solidFill>
                <a:latin typeface="Calibri" pitchFamily="34" charset="0"/>
                <a:ea typeface="Calibri" pitchFamily="34" charset="-122"/>
                <a:cs typeface="Calibri" pitchFamily="34" charset="-120"/>
              </a:rPr>
              <a:t>· Boundaries</a:t>
            </a:r>
            <a:endParaRPr lang="en-US" sz="2400" dirty="0"/>
          </a:p>
        </p:txBody>
      </p:sp>
      <p:sp>
        <p:nvSpPr>
          <p:cNvPr id="6" name="Shape 3"/>
          <p:cNvSpPr/>
          <p:nvPr/>
        </p:nvSpPr>
        <p:spPr>
          <a:xfrm>
            <a:off x="548640" y="2312452"/>
            <a:ext cx="489204" cy="489204"/>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2"/>
          <a:stretch>
            <a:fillRect/>
          </a:stretch>
        </p:blipFill>
        <p:spPr>
          <a:xfrm>
            <a:off x="670941" y="2434753"/>
            <a:ext cx="244602" cy="244602"/>
          </a:xfrm>
          <a:prstGeom prst="rect">
            <a:avLst/>
          </a:prstGeom>
        </p:spPr>
      </p:pic>
      <p:sp>
        <p:nvSpPr>
          <p:cNvPr id="8" name="Text 4"/>
          <p:cNvSpPr txBox="1"/>
          <p:nvPr/>
        </p:nvSpPr>
        <p:spPr>
          <a:xfrm>
            <a:off x="1357884" y="2207623"/>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02 · Capability Gaps  </a:t>
            </a:r>
            <a:pPr indent="0" marL="0">
              <a:buNone/>
            </a:pPr>
            <a:r>
              <a:rPr lang="en-US" sz="2400" dirty="0">
                <a:solidFill>
                  <a:srgbClr val="1F2A22"/>
                </a:solidFill>
                <a:latin typeface="Calibri" pitchFamily="34" charset="0"/>
                <a:ea typeface="Calibri" pitchFamily="34" charset="-122"/>
                <a:cs typeface="Calibri" pitchFamily="34" charset="-120"/>
              </a:rPr>
              <a:t>· Arena</a:t>
            </a:r>
            <a:endParaRPr lang="en-US" sz="2400" dirty="0"/>
          </a:p>
        </p:txBody>
      </p:sp>
      <p:sp>
        <p:nvSpPr>
          <p:cNvPr id="9" name="Shape 5"/>
          <p:cNvSpPr/>
          <p:nvPr/>
        </p:nvSpPr>
        <p:spPr>
          <a:xfrm>
            <a:off x="548640" y="3011315"/>
            <a:ext cx="489204" cy="489204"/>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3"/>
          <a:stretch>
            <a:fillRect/>
          </a:stretch>
        </p:blipFill>
        <p:spPr>
          <a:xfrm>
            <a:off x="670941" y="3133616"/>
            <a:ext cx="244602" cy="244602"/>
          </a:xfrm>
          <a:prstGeom prst="rect">
            <a:avLst/>
          </a:prstGeom>
        </p:spPr>
      </p:pic>
      <p:sp>
        <p:nvSpPr>
          <p:cNvPr id="11" name="Text 6"/>
          <p:cNvSpPr txBox="1"/>
          <p:nvPr/>
        </p:nvSpPr>
        <p:spPr>
          <a:xfrm>
            <a:off x="1357884" y="2906486"/>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03 · Decision Bottlenecks  </a:t>
            </a:r>
            <a:pPr indent="0" marL="0">
              <a:buNone/>
            </a:pPr>
            <a:r>
              <a:rPr lang="en-US" sz="2400" dirty="0">
                <a:solidFill>
                  <a:srgbClr val="1F2A22"/>
                </a:solidFill>
                <a:latin typeface="Calibri" pitchFamily="34" charset="0"/>
                <a:ea typeface="Calibri" pitchFamily="34" charset="-122"/>
                <a:cs typeface="Calibri" pitchFamily="34" charset="-120"/>
              </a:rPr>
              <a:t>· Boundaries</a:t>
            </a:r>
            <a:endParaRPr lang="en-US" sz="2400" dirty="0"/>
          </a:p>
        </p:txBody>
      </p:sp>
      <p:sp>
        <p:nvSpPr>
          <p:cNvPr id="12" name="Shape 7"/>
          <p:cNvSpPr/>
          <p:nvPr/>
        </p:nvSpPr>
        <p:spPr>
          <a:xfrm>
            <a:off x="548640" y="3710178"/>
            <a:ext cx="489204" cy="489204"/>
          </a:xfrm>
          <a:prstGeom prst="ellipse">
            <a:avLst/>
          </a:prstGeom>
          <a:solidFill>
            <a:srgbClr val="1A5C2C"/>
          </a:solidFill>
          <a:ln w="12700">
            <a:solidFill>
              <a:srgbClr val="1A5C2C"/>
            </a:solidFill>
            <a:prstDash val="solid"/>
          </a:ln>
        </p:spPr>
        <p:txBody>
          <a:bodyPr/>
          <a:p/>
        </p:txBody>
      </p:sp>
      <p:pic>
        <p:nvPicPr>
          <p:cNvPr id="13" name="Image 3" descr="preencoded.png">    </p:cNvPr>
          <p:cNvPicPr>
            <a:picLocks noChangeAspect="1"/>
          </p:cNvPicPr>
          <p:nvPr/>
        </p:nvPicPr>
        <p:blipFill>
          <a:blip r:embed="rId4"/>
          <a:stretch>
            <a:fillRect/>
          </a:stretch>
        </p:blipFill>
        <p:spPr>
          <a:xfrm>
            <a:off x="670941" y="3832479"/>
            <a:ext cx="244602" cy="244602"/>
          </a:xfrm>
          <a:prstGeom prst="rect">
            <a:avLst/>
          </a:prstGeom>
        </p:spPr>
      </p:pic>
      <p:sp>
        <p:nvSpPr>
          <p:cNvPr id="14" name="Text 8"/>
          <p:cNvSpPr txBox="1"/>
          <p:nvPr/>
        </p:nvSpPr>
        <p:spPr>
          <a:xfrm>
            <a:off x="1357884" y="3605349"/>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04 · Misaligned Metrics &amp; Incentives  </a:t>
            </a:r>
            <a:pPr indent="0" marL="0">
              <a:buNone/>
            </a:pPr>
            <a:r>
              <a:rPr lang="en-US" sz="2400" dirty="0">
                <a:solidFill>
                  <a:srgbClr val="1F2A22"/>
                </a:solidFill>
                <a:latin typeface="Calibri" pitchFamily="34" charset="0"/>
                <a:ea typeface="Calibri" pitchFamily="34" charset="-122"/>
                <a:cs typeface="Calibri" pitchFamily="34" charset="-120"/>
              </a:rPr>
              <a:t>· Value Proposition</a:t>
            </a:r>
            <a:endParaRPr lang="en-US" sz="2400" dirty="0"/>
          </a:p>
        </p:txBody>
      </p:sp>
      <p:sp>
        <p:nvSpPr>
          <p:cNvPr id="15" name="Shape 9"/>
          <p:cNvSpPr/>
          <p:nvPr/>
        </p:nvSpPr>
        <p:spPr>
          <a:xfrm>
            <a:off x="548640" y="4409041"/>
            <a:ext cx="489204" cy="489204"/>
          </a:xfrm>
          <a:prstGeom prst="ellipse">
            <a:avLst/>
          </a:prstGeom>
          <a:solidFill>
            <a:srgbClr val="1A5C2C"/>
          </a:solidFill>
          <a:ln w="12700">
            <a:solidFill>
              <a:srgbClr val="1A5C2C"/>
            </a:solidFill>
            <a:prstDash val="solid"/>
          </a:ln>
        </p:spPr>
        <p:txBody>
          <a:bodyPr/>
          <a:p/>
        </p:txBody>
      </p:sp>
      <p:pic>
        <p:nvPicPr>
          <p:cNvPr id="16" name="Image 4" descr="preencoded.png">    </p:cNvPr>
          <p:cNvPicPr>
            <a:picLocks noChangeAspect="1"/>
          </p:cNvPicPr>
          <p:nvPr/>
        </p:nvPicPr>
        <p:blipFill>
          <a:blip r:embed="rId5"/>
          <a:stretch>
            <a:fillRect/>
          </a:stretch>
        </p:blipFill>
        <p:spPr>
          <a:xfrm>
            <a:off x="670941" y="4531342"/>
            <a:ext cx="244602" cy="244602"/>
          </a:xfrm>
          <a:prstGeom prst="rect">
            <a:avLst/>
          </a:prstGeom>
        </p:spPr>
      </p:pic>
      <p:sp>
        <p:nvSpPr>
          <p:cNvPr id="17" name="Text 10"/>
          <p:cNvSpPr txBox="1"/>
          <p:nvPr/>
        </p:nvSpPr>
        <p:spPr>
          <a:xfrm>
            <a:off x="1357884" y="4304211"/>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05 · Cultural Resistance  </a:t>
            </a:r>
            <a:pPr indent="0" marL="0">
              <a:buNone/>
            </a:pPr>
            <a:r>
              <a:rPr lang="en-US" sz="2400" dirty="0">
                <a:solidFill>
                  <a:srgbClr val="1F2A22"/>
                </a:solidFill>
                <a:latin typeface="Calibri" pitchFamily="34" charset="0"/>
                <a:ea typeface="Calibri" pitchFamily="34" charset="-122"/>
                <a:cs typeface="Calibri" pitchFamily="34" charset="-120"/>
              </a:rPr>
              <a:t>· Value Proposition</a:t>
            </a:r>
            <a:endParaRPr lang="en-US" sz="2400" dirty="0"/>
          </a:p>
        </p:txBody>
      </p:sp>
      <p:sp>
        <p:nvSpPr>
          <p:cNvPr id="18" name="Shape 11"/>
          <p:cNvSpPr/>
          <p:nvPr/>
        </p:nvSpPr>
        <p:spPr>
          <a:xfrm>
            <a:off x="548640" y="5107904"/>
            <a:ext cx="489204" cy="489204"/>
          </a:xfrm>
          <a:prstGeom prst="ellipse">
            <a:avLst/>
          </a:prstGeom>
          <a:solidFill>
            <a:srgbClr val="1A5C2C"/>
          </a:solidFill>
          <a:ln w="12700">
            <a:solidFill>
              <a:srgbClr val="1A5C2C"/>
            </a:solidFill>
            <a:prstDash val="solid"/>
          </a:ln>
        </p:spPr>
        <p:txBody>
          <a:bodyPr/>
          <a:p/>
        </p:txBody>
      </p:sp>
      <p:pic>
        <p:nvPicPr>
          <p:cNvPr id="19" name="Image 5" descr="preencoded.png">    </p:cNvPr>
          <p:cNvPicPr>
            <a:picLocks noChangeAspect="1"/>
          </p:cNvPicPr>
          <p:nvPr/>
        </p:nvPicPr>
        <p:blipFill>
          <a:blip r:embed="rId6"/>
          <a:stretch>
            <a:fillRect/>
          </a:stretch>
        </p:blipFill>
        <p:spPr>
          <a:xfrm>
            <a:off x="670941" y="5230205"/>
            <a:ext cx="244602" cy="244602"/>
          </a:xfrm>
          <a:prstGeom prst="rect">
            <a:avLst/>
          </a:prstGeom>
        </p:spPr>
      </p:pic>
      <p:sp>
        <p:nvSpPr>
          <p:cNvPr id="20" name="Text 12"/>
          <p:cNvSpPr txBox="1"/>
          <p:nvPr/>
        </p:nvSpPr>
        <p:spPr>
          <a:xfrm>
            <a:off x="1357884" y="5003074"/>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06 · Technology / Infrastructure Lag  </a:t>
            </a:r>
            <a:pPr indent="0" marL="0">
              <a:buNone/>
            </a:pPr>
            <a:r>
              <a:rPr lang="en-US" sz="2400" dirty="0">
                <a:solidFill>
                  <a:srgbClr val="1F2A22"/>
                </a:solidFill>
                <a:latin typeface="Calibri" pitchFamily="34" charset="0"/>
                <a:ea typeface="Calibri" pitchFamily="34" charset="-122"/>
                <a:cs typeface="Calibri" pitchFamily="34" charset="-120"/>
              </a:rPr>
              <a:t>· Competition</a:t>
            </a:r>
            <a:endParaRPr lang="en-US" sz="2400" dirty="0"/>
          </a:p>
        </p:txBody>
      </p:sp>
      <p:sp>
        <p:nvSpPr>
          <p:cNvPr id="21" name="Shape 13"/>
          <p:cNvSpPr/>
          <p:nvPr/>
        </p:nvSpPr>
        <p:spPr>
          <a:xfrm>
            <a:off x="548640" y="5806767"/>
            <a:ext cx="489204" cy="489204"/>
          </a:xfrm>
          <a:prstGeom prst="ellipse">
            <a:avLst/>
          </a:prstGeom>
          <a:solidFill>
            <a:srgbClr val="C6A24C"/>
          </a:solidFill>
          <a:ln w="12700">
            <a:solidFill>
              <a:srgbClr val="C6A24C"/>
            </a:solidFill>
            <a:prstDash val="solid"/>
          </a:ln>
        </p:spPr>
        <p:txBody>
          <a:bodyPr/>
          <a:p/>
        </p:txBody>
      </p:sp>
      <p:pic>
        <p:nvPicPr>
          <p:cNvPr id="22" name="Image 6" descr="preencoded.png">    </p:cNvPr>
          <p:cNvPicPr>
            <a:picLocks noChangeAspect="1"/>
          </p:cNvPicPr>
          <p:nvPr/>
        </p:nvPicPr>
        <p:blipFill>
          <a:blip r:embed="rId7"/>
          <a:stretch>
            <a:fillRect/>
          </a:stretch>
        </p:blipFill>
        <p:spPr>
          <a:xfrm>
            <a:off x="670941" y="5929068"/>
            <a:ext cx="244602" cy="244602"/>
          </a:xfrm>
          <a:prstGeom prst="rect">
            <a:avLst/>
          </a:prstGeom>
        </p:spPr>
      </p:pic>
      <p:sp>
        <p:nvSpPr>
          <p:cNvPr id="23" name="Text 14"/>
          <p:cNvSpPr txBox="1"/>
          <p:nvPr/>
        </p:nvSpPr>
        <p:spPr>
          <a:xfrm>
            <a:off x="1357884" y="5701937"/>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07 · Leadership Avoidance  </a:t>
            </a:r>
            <a:pPr indent="0" marL="0">
              <a:buNone/>
            </a:pPr>
            <a:r>
              <a:rPr lang="en-US" sz="2400" dirty="0">
                <a:solidFill>
                  <a:srgbClr val="1F2A22"/>
                </a:solidFill>
                <a:latin typeface="Calibri" pitchFamily="34" charset="0"/>
                <a:ea typeface="Calibri" pitchFamily="34" charset="-122"/>
                <a:cs typeface="Calibri" pitchFamily="34" charset="-120"/>
              </a:rPr>
              <a:t>· Arena + Boundaries</a:t>
            </a:r>
            <a:endParaRPr lang="en-US" sz="2400" dirty="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1.4 · Three performance lines of sight</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2"/>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1  Performance outcome  </a:t>
            </a:r>
            <a:pPr indent="0" marL="0">
              <a:buNone/>
            </a:pPr>
            <a:r>
              <a:rPr lang="en-US" sz="2600" dirty="0">
                <a:solidFill>
                  <a:srgbClr val="1F2A22"/>
                </a:solidFill>
                <a:latin typeface="Calibri" pitchFamily="34" charset="0"/>
                <a:ea typeface="Calibri" pitchFamily="34" charset="-122"/>
                <a:cs typeface="Calibri" pitchFamily="34" charset="-120"/>
              </a:rPr>
              <a:t>What result is falling short?</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3"/>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2  Performance behaviour  </a:t>
            </a:r>
            <a:pPr indent="0" marL="0">
              <a:buNone/>
            </a:pPr>
            <a:r>
              <a:rPr lang="en-US" sz="2600" dirty="0">
                <a:solidFill>
                  <a:srgbClr val="1F2A22"/>
                </a:solidFill>
                <a:latin typeface="Calibri" pitchFamily="34" charset="0"/>
                <a:ea typeface="Calibri" pitchFamily="34" charset="-122"/>
                <a:cs typeface="Calibri" pitchFamily="34" charset="-120"/>
              </a:rPr>
              <a:t>What are people doing, or unable to do?</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4"/>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3  Performance condition  </a:t>
            </a:r>
            <a:pPr indent="0" marL="0">
              <a:buNone/>
            </a:pPr>
            <a:r>
              <a:rPr lang="en-US" sz="2600" dirty="0">
                <a:solidFill>
                  <a:srgbClr val="1F2A22"/>
                </a:solidFill>
                <a:latin typeface="Calibri" pitchFamily="34" charset="0"/>
                <a:ea typeface="Calibri" pitchFamily="34" charset="-122"/>
                <a:cs typeface="Calibri" pitchFamily="34" charset="-120"/>
              </a:rPr>
              <a:t>What is causing or reinforcing it?</a:t>
            </a:r>
            <a:endParaRPr lang="en-US" sz="2600" dirty="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Section 1 Reflections</a:t>
            </a:r>
            <a:endParaRPr lang="en-US" sz="3600" dirty="0"/>
          </a:p>
        </p:txBody>
      </p:sp>
      <p:pic>
        <p:nvPicPr>
          <p:cNvPr id="3" name="Reflection 1.1" descr="ref_1.1.png"/>
          <p:cNvPicPr>
            <a:picLocks noChangeAspect="1"/>
          </p:cNvPicPr>
          <p:nvPr/>
        </p:nvPicPr>
        <p:blipFill>
          <a:blip r:embed="rId10"/>
          <a:stretch>
            <a:fillRect/>
          </a:stretch>
        </p:blipFill>
        <p:spPr>
          <a:xfrm>
            <a:off x="1691640" y="1463040"/>
            <a:ext cx="10058400" cy="1657186"/>
          </a:xfrm>
          <a:prstGeom prst="rect">
            <a:avLst/>
          </a:prstGeom>
        </p:spPr>
      </p:pic>
      <p:sp>
        <p:nvSpPr>
          <p:cNvPr id="4" name="Part 1.1"/>
          <p:cNvSpPr/>
          <p:nvPr/>
        </p:nvSpPr>
        <p:spPr>
          <a:xfrm>
            <a:off x="548640" y="1857293"/>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1.1</a:t>
            </a:r>
          </a:p>
        </p:txBody>
      </p:sp>
      <p:pic>
        <p:nvPicPr>
          <p:cNvPr id="5" name="Reflection 1.5" descr="ref_1.2.png"/>
          <p:cNvPicPr>
            <a:picLocks noChangeAspect="1"/>
          </p:cNvPicPr>
          <p:nvPr/>
        </p:nvPicPr>
        <p:blipFill>
          <a:blip r:embed="rId11"/>
          <a:stretch>
            <a:fillRect/>
          </a:stretch>
        </p:blipFill>
        <p:spPr>
          <a:xfrm>
            <a:off x="1691640" y="4980205"/>
            <a:ext cx="10058400" cy="1311339"/>
          </a:xfrm>
          <a:prstGeom prst="rect">
            <a:avLst/>
          </a:prstGeom>
        </p:spPr>
      </p:pic>
      <p:sp>
        <p:nvSpPr>
          <p:cNvPr id="6" name="Part 1.5"/>
          <p:cNvSpPr/>
          <p:nvPr/>
        </p:nvSpPr>
        <p:spPr>
          <a:xfrm>
            <a:off x="548640" y="5201534"/>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1.5</a:t>
            </a:r>
          </a:p>
        </p:txBody>
      </p:sp>
      <p:pic>
        <p:nvPicPr>
          <p:cNvPr id="7" name="Reflection 1.2" descr="image.png"/>
          <p:cNvPicPr>
            <a:picLocks noChangeAspect="1"/>
          </p:cNvPicPr>
          <p:nvPr/>
        </p:nvPicPr>
        <p:blipFill>
          <a:blip r:embed="rId12"/>
          <a:stretch>
            <a:fillRect/>
          </a:stretch>
        </p:blipFill>
        <p:spPr>
          <a:xfrm>
            <a:off x="1691640" y="3394546"/>
            <a:ext cx="10058400" cy="1311339"/>
          </a:xfrm>
          <a:prstGeom prst="rect">
            <a:avLst/>
          </a:prstGeom>
        </p:spPr>
      </p:pic>
      <p:sp>
        <p:nvSpPr>
          <p:cNvPr id="8" name="Part 1.2"/>
          <p:cNvSpPr/>
          <p:nvPr/>
        </p:nvSpPr>
        <p:spPr>
          <a:xfrm>
            <a:off x="548640" y="3615875"/>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1.2</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2</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2</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Intelligence — Why</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Why Disciplined Intervention Clears Strategic Clogs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p/>
        </p:txBody>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Select and apply responses to strategic clogs across people and organisational performance.</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Intervene early in emerging execution friction before it compounds.</a:t>
            </a:r>
            <a:endParaRPr lang="en-US"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0F3B1C"/>
        </a:solidFill>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p/>
        </p:txBody>
      </p:sp>
      <p:pic>
        <p:nvPicPr>
          <p:cNvPr id="3" name="Image 0" descr="preencoded.png">    </p:cNvPr>
          <p:cNvPicPr>
            <a:picLocks noChangeAspect="1"/>
          </p:cNvPicPr>
          <p:nvPr/>
        </p:nvPicPr>
        <p:blipFill>
          <a:blip r:embed="rId1"/>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indent="0" marL="0">
              <a:buNone/>
            </a:pPr>
            <a:r>
              <a:rPr lang="en-US" sz="2600" b="1" dirty="0">
                <a:solidFill>
                  <a:srgbClr val="C6A24C"/>
                </a:solidFill>
                <a:latin typeface="Calibri" pitchFamily="34" charset="0"/>
                <a:ea typeface="Calibri" pitchFamily="34" charset="-122"/>
                <a:cs typeface="Calibri" pitchFamily="34" charset="-120"/>
              </a:rPr>
              <a:t>1.2 · Where performance becomes constrained</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indent="0" marL="0">
              <a:buNone/>
            </a:pPr>
            <a:r>
              <a:rPr lang="en-US" sz="3600" i="1" dirty="0">
                <a:solidFill>
                  <a:srgbClr val="FFFFFF"/>
                </a:solidFill>
                <a:latin typeface="Cambria" pitchFamily="34" charset="0"/>
                <a:ea typeface="Cambria" pitchFamily="34" charset="-122"/>
                <a:cs typeface="Cambria" pitchFamily="34" charset="-120"/>
              </a:rPr>
              <a:t>Where are our people and our organisational conditions not yet ready to carry the strategy?</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Clogs form where the strategy stretches today’s organisation beyond what it was designed to carry.</a:t>
            </a:r>
            <a:endParaRPr lang="en-US" sz="2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2.1 · Three disciplines of execution engineering</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3057144" cy="923544"/>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Early Identification</a:t>
            </a:r>
            <a:endParaRPr lang="en-US" sz="2600" dirty="0"/>
          </a:p>
        </p:txBody>
      </p:sp>
      <p:sp>
        <p:nvSpPr>
          <p:cNvPr id="7" name="Text 4"/>
          <p:cNvSpPr txBox="1"/>
          <p:nvPr/>
        </p:nvSpPr>
        <p:spPr>
          <a:xfrm>
            <a:off x="777240" y="3575304"/>
            <a:ext cx="3057144" cy="1728216"/>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Detect signals before they compound.</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4725924" y="1897380"/>
            <a:ext cx="320040" cy="320040"/>
          </a:xfrm>
          <a:prstGeom prst="rect">
            <a:avLst/>
          </a:prstGeom>
        </p:spPr>
      </p:pic>
      <p:sp>
        <p:nvSpPr>
          <p:cNvPr id="11" name="Text 7"/>
          <p:cNvSpPr txBox="1"/>
          <p:nvPr/>
        </p:nvSpPr>
        <p:spPr>
          <a:xfrm>
            <a:off x="4565904" y="2514600"/>
            <a:ext cx="3057144" cy="923544"/>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Accurate Classification</a:t>
            </a:r>
            <a:endParaRPr lang="en-US" sz="2600" dirty="0"/>
          </a:p>
        </p:txBody>
      </p:sp>
      <p:sp>
        <p:nvSpPr>
          <p:cNvPr id="12" name="Text 8"/>
          <p:cNvSpPr txBox="1"/>
          <p:nvPr/>
        </p:nvSpPr>
        <p:spPr>
          <a:xfrm>
            <a:off x="4565904" y="3575304"/>
            <a:ext cx="3057144" cy="1728216"/>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Name the clog precisely before intervening.</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8514588" y="1897380"/>
            <a:ext cx="320040" cy="320040"/>
          </a:xfrm>
          <a:prstGeom prst="rect">
            <a:avLst/>
          </a:prstGeom>
        </p:spPr>
      </p:pic>
      <p:sp>
        <p:nvSpPr>
          <p:cNvPr id="16" name="Text 11"/>
          <p:cNvSpPr txBox="1"/>
          <p:nvPr/>
        </p:nvSpPr>
        <p:spPr>
          <a:xfrm>
            <a:off x="8354568" y="2514600"/>
            <a:ext cx="3057144" cy="923544"/>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Targeted Intervention</a:t>
            </a:r>
            <a:endParaRPr lang="en-US" sz="2600" dirty="0"/>
          </a:p>
        </p:txBody>
      </p:sp>
      <p:sp>
        <p:nvSpPr>
          <p:cNvPr id="17" name="Text 12"/>
          <p:cNvSpPr txBox="1"/>
          <p:nvPr/>
        </p:nvSpPr>
        <p:spPr>
          <a:xfrm>
            <a:off x="8354568" y="3575304"/>
            <a:ext cx="3057144" cy="1728216"/>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Pull the right lever with precision.</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Identify the Clog → Select the Lever → Targeted Intervention</a:t>
            </a:r>
            <a:endParaRPr lang="en-US" sz="24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2.2 · The 7 Strategic Unclogging Levers</a:t>
            </a:r>
            <a:endParaRPr lang="en-US" sz="3600" dirty="0"/>
          </a:p>
        </p:txBody>
      </p:sp>
      <p:sp>
        <p:nvSpPr>
          <p:cNvPr id="3" name="Shape 1"/>
          <p:cNvSpPr/>
          <p:nvPr/>
        </p:nvSpPr>
        <p:spPr>
          <a:xfrm>
            <a:off x="548640" y="1613589"/>
            <a:ext cx="489204" cy="489204"/>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1"/>
          <a:stretch>
            <a:fillRect/>
          </a:stretch>
        </p:blipFill>
        <p:spPr>
          <a:xfrm>
            <a:off x="670941" y="1735890"/>
            <a:ext cx="244602" cy="244602"/>
          </a:xfrm>
          <a:prstGeom prst="rect">
            <a:avLst/>
          </a:prstGeom>
        </p:spPr>
      </p:pic>
      <p:sp>
        <p:nvSpPr>
          <p:cNvPr id="5" name="Text 2"/>
          <p:cNvSpPr txBox="1"/>
          <p:nvPr/>
        </p:nvSpPr>
        <p:spPr>
          <a:xfrm>
            <a:off x="1357884" y="1508760"/>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01 · Standardise  </a:t>
            </a:r>
            <a:pPr indent="0" marL="0">
              <a:buNone/>
            </a:pPr>
            <a:r>
              <a:rPr lang="en-US" sz="2400" dirty="0">
                <a:solidFill>
                  <a:srgbClr val="1F2A22"/>
                </a:solidFill>
                <a:latin typeface="Calibri" pitchFamily="34" charset="0"/>
                <a:ea typeface="Calibri" pitchFamily="34" charset="-122"/>
                <a:cs typeface="Calibri" pitchFamily="34" charset="-120"/>
              </a:rPr>
              <a:t>ensure consistency</a:t>
            </a:r>
            <a:endParaRPr lang="en-US" sz="2400" dirty="0"/>
          </a:p>
        </p:txBody>
      </p:sp>
      <p:sp>
        <p:nvSpPr>
          <p:cNvPr id="6" name="Shape 3"/>
          <p:cNvSpPr/>
          <p:nvPr/>
        </p:nvSpPr>
        <p:spPr>
          <a:xfrm>
            <a:off x="548640" y="2312452"/>
            <a:ext cx="489204" cy="489204"/>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2"/>
          <a:stretch>
            <a:fillRect/>
          </a:stretch>
        </p:blipFill>
        <p:spPr>
          <a:xfrm>
            <a:off x="670941" y="2434753"/>
            <a:ext cx="244602" cy="244602"/>
          </a:xfrm>
          <a:prstGeom prst="rect">
            <a:avLst/>
          </a:prstGeom>
        </p:spPr>
      </p:pic>
      <p:sp>
        <p:nvSpPr>
          <p:cNvPr id="8" name="Text 4"/>
          <p:cNvSpPr txBox="1"/>
          <p:nvPr/>
        </p:nvSpPr>
        <p:spPr>
          <a:xfrm>
            <a:off x="1357884" y="2207623"/>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02 · Streamline  </a:t>
            </a:r>
            <a:pPr indent="0" marL="0">
              <a:buNone/>
            </a:pPr>
            <a:r>
              <a:rPr lang="en-US" sz="2400" dirty="0">
                <a:solidFill>
                  <a:srgbClr val="1F2A22"/>
                </a:solidFill>
                <a:latin typeface="Calibri" pitchFamily="34" charset="0"/>
                <a:ea typeface="Calibri" pitchFamily="34" charset="-122"/>
                <a:cs typeface="Calibri" pitchFamily="34" charset="-120"/>
              </a:rPr>
              <a:t>increase speed</a:t>
            </a:r>
            <a:endParaRPr lang="en-US" sz="2400" dirty="0"/>
          </a:p>
        </p:txBody>
      </p:sp>
      <p:sp>
        <p:nvSpPr>
          <p:cNvPr id="9" name="Shape 5"/>
          <p:cNvSpPr/>
          <p:nvPr/>
        </p:nvSpPr>
        <p:spPr>
          <a:xfrm>
            <a:off x="548640" y="3011315"/>
            <a:ext cx="489204" cy="489204"/>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3"/>
          <a:stretch>
            <a:fillRect/>
          </a:stretch>
        </p:blipFill>
        <p:spPr>
          <a:xfrm>
            <a:off x="670941" y="3133616"/>
            <a:ext cx="244602" cy="244602"/>
          </a:xfrm>
          <a:prstGeom prst="rect">
            <a:avLst/>
          </a:prstGeom>
        </p:spPr>
      </p:pic>
      <p:sp>
        <p:nvSpPr>
          <p:cNvPr id="11" name="Text 6"/>
          <p:cNvSpPr txBox="1"/>
          <p:nvPr/>
        </p:nvSpPr>
        <p:spPr>
          <a:xfrm>
            <a:off x="1357884" y="2906486"/>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03 · Clarify  </a:t>
            </a:r>
            <a:pPr indent="0" marL="0">
              <a:buNone/>
            </a:pPr>
            <a:r>
              <a:rPr lang="en-US" sz="2400" dirty="0">
                <a:solidFill>
                  <a:srgbClr val="1F2A22"/>
                </a:solidFill>
                <a:latin typeface="Calibri" pitchFamily="34" charset="0"/>
                <a:ea typeface="Calibri" pitchFamily="34" charset="-122"/>
                <a:cs typeface="Calibri" pitchFamily="34" charset="-120"/>
              </a:rPr>
              <a:t>eliminate confusion</a:t>
            </a:r>
            <a:endParaRPr lang="en-US" sz="2400" dirty="0"/>
          </a:p>
        </p:txBody>
      </p:sp>
      <p:sp>
        <p:nvSpPr>
          <p:cNvPr id="12" name="Shape 7"/>
          <p:cNvSpPr/>
          <p:nvPr/>
        </p:nvSpPr>
        <p:spPr>
          <a:xfrm>
            <a:off x="548640" y="3710178"/>
            <a:ext cx="489204" cy="489204"/>
          </a:xfrm>
          <a:prstGeom prst="ellipse">
            <a:avLst/>
          </a:prstGeom>
          <a:solidFill>
            <a:srgbClr val="1A5C2C"/>
          </a:solidFill>
          <a:ln w="12700">
            <a:solidFill>
              <a:srgbClr val="1A5C2C"/>
            </a:solidFill>
            <a:prstDash val="solid"/>
          </a:ln>
        </p:spPr>
        <p:txBody>
          <a:bodyPr/>
          <a:p/>
        </p:txBody>
      </p:sp>
      <p:pic>
        <p:nvPicPr>
          <p:cNvPr id="13" name="Image 3" descr="preencoded.png">    </p:cNvPr>
          <p:cNvPicPr>
            <a:picLocks noChangeAspect="1"/>
          </p:cNvPicPr>
          <p:nvPr/>
        </p:nvPicPr>
        <p:blipFill>
          <a:blip r:embed="rId4"/>
          <a:stretch>
            <a:fillRect/>
          </a:stretch>
        </p:blipFill>
        <p:spPr>
          <a:xfrm>
            <a:off x="670941" y="3832479"/>
            <a:ext cx="244602" cy="244602"/>
          </a:xfrm>
          <a:prstGeom prst="rect">
            <a:avLst/>
          </a:prstGeom>
        </p:spPr>
      </p:pic>
      <p:sp>
        <p:nvSpPr>
          <p:cNvPr id="14" name="Text 8"/>
          <p:cNvSpPr txBox="1"/>
          <p:nvPr/>
        </p:nvSpPr>
        <p:spPr>
          <a:xfrm>
            <a:off x="1357884" y="3605349"/>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04 · Upgrade  </a:t>
            </a:r>
            <a:pPr indent="0" marL="0">
              <a:buNone/>
            </a:pPr>
            <a:r>
              <a:rPr lang="en-US" sz="2400" dirty="0">
                <a:solidFill>
                  <a:srgbClr val="1F2A22"/>
                </a:solidFill>
                <a:latin typeface="Calibri" pitchFamily="34" charset="0"/>
                <a:ea typeface="Calibri" pitchFamily="34" charset="-122"/>
                <a:cs typeface="Calibri" pitchFamily="34" charset="-120"/>
              </a:rPr>
              <a:t>remove bottlenecks</a:t>
            </a:r>
            <a:endParaRPr lang="en-US" sz="2400" dirty="0"/>
          </a:p>
        </p:txBody>
      </p:sp>
      <p:sp>
        <p:nvSpPr>
          <p:cNvPr id="15" name="Shape 9"/>
          <p:cNvSpPr/>
          <p:nvPr/>
        </p:nvSpPr>
        <p:spPr>
          <a:xfrm>
            <a:off x="548640" y="4409041"/>
            <a:ext cx="489204" cy="489204"/>
          </a:xfrm>
          <a:prstGeom prst="ellipse">
            <a:avLst/>
          </a:prstGeom>
          <a:solidFill>
            <a:srgbClr val="1A5C2C"/>
          </a:solidFill>
          <a:ln w="12700">
            <a:solidFill>
              <a:srgbClr val="1A5C2C"/>
            </a:solidFill>
            <a:prstDash val="solid"/>
          </a:ln>
        </p:spPr>
        <p:txBody>
          <a:bodyPr/>
          <a:p/>
        </p:txBody>
      </p:sp>
      <p:pic>
        <p:nvPicPr>
          <p:cNvPr id="16" name="Image 4" descr="preencoded.png">    </p:cNvPr>
          <p:cNvPicPr>
            <a:picLocks noChangeAspect="1"/>
          </p:cNvPicPr>
          <p:nvPr/>
        </p:nvPicPr>
        <p:blipFill>
          <a:blip r:embed="rId5"/>
          <a:stretch>
            <a:fillRect/>
          </a:stretch>
        </p:blipFill>
        <p:spPr>
          <a:xfrm>
            <a:off x="670941" y="4531342"/>
            <a:ext cx="244602" cy="244602"/>
          </a:xfrm>
          <a:prstGeom prst="rect">
            <a:avLst/>
          </a:prstGeom>
        </p:spPr>
      </p:pic>
      <p:sp>
        <p:nvSpPr>
          <p:cNvPr id="17" name="Text 10"/>
          <p:cNvSpPr txBox="1"/>
          <p:nvPr/>
        </p:nvSpPr>
        <p:spPr>
          <a:xfrm>
            <a:off x="1357884" y="4304211"/>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05 · Reinforce  </a:t>
            </a:r>
            <a:pPr indent="0" marL="0">
              <a:buNone/>
            </a:pPr>
            <a:r>
              <a:rPr lang="en-US" sz="2400" dirty="0">
                <a:solidFill>
                  <a:srgbClr val="1F2A22"/>
                </a:solidFill>
                <a:latin typeface="Calibri" pitchFamily="34" charset="0"/>
                <a:ea typeface="Calibri" pitchFamily="34" charset="-122"/>
                <a:cs typeface="Calibri" pitchFamily="34" charset="-120"/>
              </a:rPr>
              <a:t>strengthen behaviour</a:t>
            </a:r>
            <a:endParaRPr lang="en-US" sz="2400" dirty="0"/>
          </a:p>
        </p:txBody>
      </p:sp>
      <p:sp>
        <p:nvSpPr>
          <p:cNvPr id="18" name="Shape 11"/>
          <p:cNvSpPr/>
          <p:nvPr/>
        </p:nvSpPr>
        <p:spPr>
          <a:xfrm>
            <a:off x="548640" y="5107904"/>
            <a:ext cx="489204" cy="489204"/>
          </a:xfrm>
          <a:prstGeom prst="ellipse">
            <a:avLst/>
          </a:prstGeom>
          <a:solidFill>
            <a:srgbClr val="1A5C2C"/>
          </a:solidFill>
          <a:ln w="12700">
            <a:solidFill>
              <a:srgbClr val="1A5C2C"/>
            </a:solidFill>
            <a:prstDash val="solid"/>
          </a:ln>
        </p:spPr>
        <p:txBody>
          <a:bodyPr/>
          <a:p/>
        </p:txBody>
      </p:sp>
      <p:pic>
        <p:nvPicPr>
          <p:cNvPr id="19" name="Image 5" descr="preencoded.png">    </p:cNvPr>
          <p:cNvPicPr>
            <a:picLocks noChangeAspect="1"/>
          </p:cNvPicPr>
          <p:nvPr/>
        </p:nvPicPr>
        <p:blipFill>
          <a:blip r:embed="rId6"/>
          <a:stretch>
            <a:fillRect/>
          </a:stretch>
        </p:blipFill>
        <p:spPr>
          <a:xfrm>
            <a:off x="670941" y="5230205"/>
            <a:ext cx="244602" cy="244602"/>
          </a:xfrm>
          <a:prstGeom prst="rect">
            <a:avLst/>
          </a:prstGeom>
        </p:spPr>
      </p:pic>
      <p:sp>
        <p:nvSpPr>
          <p:cNvPr id="20" name="Text 12"/>
          <p:cNvSpPr txBox="1"/>
          <p:nvPr/>
        </p:nvSpPr>
        <p:spPr>
          <a:xfrm>
            <a:off x="1357884" y="5003074"/>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06 · Realign  </a:t>
            </a:r>
            <a:pPr indent="0" marL="0">
              <a:buNone/>
            </a:pPr>
            <a:r>
              <a:rPr lang="en-US" sz="2400" dirty="0">
                <a:solidFill>
                  <a:srgbClr val="1F2A22"/>
                </a:solidFill>
                <a:latin typeface="Calibri" pitchFamily="34" charset="0"/>
                <a:ea typeface="Calibri" pitchFamily="34" charset="-122"/>
                <a:cs typeface="Calibri" pitchFamily="34" charset="-120"/>
              </a:rPr>
              <a:t>focus on results</a:t>
            </a:r>
            <a:endParaRPr lang="en-US" sz="2400" dirty="0"/>
          </a:p>
        </p:txBody>
      </p:sp>
      <p:sp>
        <p:nvSpPr>
          <p:cNvPr id="21" name="Shape 13"/>
          <p:cNvSpPr/>
          <p:nvPr/>
        </p:nvSpPr>
        <p:spPr>
          <a:xfrm>
            <a:off x="548640" y="5806767"/>
            <a:ext cx="489204" cy="489204"/>
          </a:xfrm>
          <a:prstGeom prst="ellipse">
            <a:avLst/>
          </a:prstGeom>
          <a:solidFill>
            <a:srgbClr val="C6A24C"/>
          </a:solidFill>
          <a:ln w="12700">
            <a:solidFill>
              <a:srgbClr val="C6A24C"/>
            </a:solidFill>
            <a:prstDash val="solid"/>
          </a:ln>
        </p:spPr>
        <p:txBody>
          <a:bodyPr/>
          <a:p/>
        </p:txBody>
      </p:sp>
      <p:pic>
        <p:nvPicPr>
          <p:cNvPr id="22" name="Image 6" descr="preencoded.png">    </p:cNvPr>
          <p:cNvPicPr>
            <a:picLocks noChangeAspect="1"/>
          </p:cNvPicPr>
          <p:nvPr/>
        </p:nvPicPr>
        <p:blipFill>
          <a:blip r:embed="rId7"/>
          <a:stretch>
            <a:fillRect/>
          </a:stretch>
        </p:blipFill>
        <p:spPr>
          <a:xfrm>
            <a:off x="670941" y="5929068"/>
            <a:ext cx="244602" cy="244602"/>
          </a:xfrm>
          <a:prstGeom prst="rect">
            <a:avLst/>
          </a:prstGeom>
        </p:spPr>
      </p:pic>
      <p:sp>
        <p:nvSpPr>
          <p:cNvPr id="23" name="Text 14"/>
          <p:cNvSpPr txBox="1"/>
          <p:nvPr/>
        </p:nvSpPr>
        <p:spPr>
          <a:xfrm>
            <a:off x="1357884" y="5701937"/>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07 · Rebuild Trust  </a:t>
            </a:r>
            <a:pPr indent="0" marL="0">
              <a:buNone/>
            </a:pPr>
            <a:r>
              <a:rPr lang="en-US" sz="2400" dirty="0">
                <a:solidFill>
                  <a:srgbClr val="1F2A22"/>
                </a:solidFill>
                <a:latin typeface="Calibri" pitchFamily="34" charset="0"/>
                <a:ea typeface="Calibri" pitchFamily="34" charset="-122"/>
                <a:cs typeface="Calibri" pitchFamily="34" charset="-120"/>
              </a:rPr>
              <a:t>restore credibility</a:t>
            </a:r>
            <a:endParaRPr lang="en-US" sz="2400" dirty="0"/>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Section 2 Reflections</a:t>
            </a:r>
            <a:endParaRPr lang="en-US" sz="3600" dirty="0"/>
          </a:p>
        </p:txBody>
      </p:sp>
      <p:pic>
        <p:nvPicPr>
          <p:cNvPr id="5" name="Reflection 2.2" descr="ref_2.3.png"/>
          <p:cNvPicPr>
            <a:picLocks noChangeAspect="1"/>
          </p:cNvPicPr>
          <p:nvPr/>
        </p:nvPicPr>
        <p:blipFill>
          <a:blip r:embed="rId11"/>
          <a:stretch>
            <a:fillRect/>
          </a:stretch>
        </p:blipFill>
        <p:spPr>
          <a:xfrm>
            <a:off x="1691640" y="1463040"/>
            <a:ext cx="10058400" cy="1311339"/>
          </a:xfrm>
          <a:prstGeom prst="rect">
            <a:avLst/>
          </a:prstGeom>
        </p:spPr>
      </p:pic>
      <p:sp>
        <p:nvSpPr>
          <p:cNvPr id="6" name="Part 2.2"/>
          <p:cNvSpPr/>
          <p:nvPr/>
        </p:nvSpPr>
        <p:spPr>
          <a:xfrm>
            <a:off x="548640" y="1684369"/>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2.2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2">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3</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3</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Extrapolating — Where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Where Do Executive Decisions and Practices Contribute to Performance Clogs?</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p/>
        </p:txBody>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Evaluate how executive decisions and practices create or reinforce performance clogs.</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Anticipate and manage cross-functional performance consequences of executive decisions.</a:t>
            </a: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3.1 · The CXO performance clog contributors</a:t>
            </a:r>
            <a:endParaRPr lang="en-US" sz="3600" dirty="0"/>
          </a:p>
        </p:txBody>
      </p:sp>
      <p:sp>
        <p:nvSpPr>
          <p:cNvPr id="3" name="Shape 1"/>
          <p:cNvSpPr/>
          <p:nvPr/>
        </p:nvSpPr>
        <p:spPr>
          <a:xfrm>
            <a:off x="548640" y="1600000"/>
            <a:ext cx="489204" cy="489204"/>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1"/>
          <a:stretch>
            <a:fillRect/>
          </a:stretch>
        </p:blipFill>
        <p:spPr>
          <a:xfrm>
            <a:off x="670941" y="1722301"/>
            <a:ext cx="244602" cy="244602"/>
          </a:xfrm>
          <a:prstGeom prst="rect">
            <a:avLst/>
          </a:prstGeom>
        </p:spPr>
      </p:pic>
      <p:sp>
        <p:nvSpPr>
          <p:cNvPr id="5" name="Text 2"/>
          <p:cNvSpPr txBox="1"/>
          <p:nvPr/>
        </p:nvSpPr>
        <p:spPr>
          <a:xfrm>
            <a:off x="1357884" y="145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CEO  </a:t>
            </a:r>
            <a:pPr indent="0" marL="0">
              <a:buNone/>
            </a:pPr>
            <a:r>
              <a:rPr lang="en-US" sz="2400" dirty="0">
                <a:solidFill>
                  <a:srgbClr val="1F2A22"/>
                </a:solidFill>
                <a:latin typeface="Calibri" pitchFamily="34" charset="0"/>
                <a:ea typeface="Calibri" pitchFamily="34" charset="-122"/>
                <a:cs typeface="Calibri" pitchFamily="34" charset="-120"/>
              </a:rPr>
              <a:t>Enterprise Direction</a:t>
            </a:r>
            <a:endParaRPr lang="en-US" sz="2400" dirty="0"/>
          </a:p>
        </p:txBody>
      </p:sp>
      <p:sp>
        <p:nvSpPr>
          <p:cNvPr id="6" name="Shape 3"/>
          <p:cNvSpPr/>
          <p:nvPr/>
        </p:nvSpPr>
        <p:spPr>
          <a:xfrm>
            <a:off x="548640" y="2560000"/>
            <a:ext cx="489204" cy="489204"/>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2"/>
          <a:stretch>
            <a:fillRect/>
          </a:stretch>
        </p:blipFill>
        <p:spPr>
          <a:xfrm>
            <a:off x="670941" y="2682301"/>
            <a:ext cx="244602" cy="244602"/>
          </a:xfrm>
          <a:prstGeom prst="rect">
            <a:avLst/>
          </a:prstGeom>
        </p:spPr>
      </p:pic>
      <p:sp>
        <p:nvSpPr>
          <p:cNvPr id="8" name="Text 4"/>
          <p:cNvSpPr txBox="1"/>
          <p:nvPr/>
        </p:nvSpPr>
        <p:spPr>
          <a:xfrm>
            <a:off x="1357884" y="241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CFO  </a:t>
            </a:r>
            <a:pPr indent="0" marL="0">
              <a:buNone/>
            </a:pPr>
            <a:r>
              <a:rPr lang="en-US" sz="2400" dirty="0">
                <a:solidFill>
                  <a:srgbClr val="1F2A22"/>
                </a:solidFill>
                <a:latin typeface="Calibri" pitchFamily="34" charset="0"/>
                <a:ea typeface="Calibri" pitchFamily="34" charset="-122"/>
                <a:cs typeface="Calibri" pitchFamily="34" charset="-120"/>
              </a:rPr>
              <a:t>Financial Stewardship</a:t>
            </a:r>
            <a:endParaRPr lang="en-US" sz="2400" dirty="0"/>
          </a:p>
        </p:txBody>
      </p:sp>
      <p:sp>
        <p:nvSpPr>
          <p:cNvPr id="9" name="Shape 5"/>
          <p:cNvSpPr/>
          <p:nvPr/>
        </p:nvSpPr>
        <p:spPr>
          <a:xfrm>
            <a:off x="548640" y="3520000"/>
            <a:ext cx="489204" cy="489204"/>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3"/>
          <a:stretch>
            <a:fillRect/>
          </a:stretch>
        </p:blipFill>
        <p:spPr>
          <a:xfrm>
            <a:off x="670941" y="3642301"/>
            <a:ext cx="244602" cy="244602"/>
          </a:xfrm>
          <a:prstGeom prst="rect">
            <a:avLst/>
          </a:prstGeom>
        </p:spPr>
      </p:pic>
      <p:sp>
        <p:nvSpPr>
          <p:cNvPr id="11" name="Text 6"/>
          <p:cNvSpPr txBox="1"/>
          <p:nvPr/>
        </p:nvSpPr>
        <p:spPr>
          <a:xfrm>
            <a:off x="1357884" y="337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COO  </a:t>
            </a:r>
            <a:pPr indent="0" marL="0">
              <a:buNone/>
            </a:pPr>
            <a:r>
              <a:rPr lang="en-US" sz="2400" dirty="0">
                <a:solidFill>
                  <a:srgbClr val="1F2A22"/>
                </a:solidFill>
                <a:latin typeface="Calibri" pitchFamily="34" charset="0"/>
                <a:ea typeface="Calibri" pitchFamily="34" charset="-122"/>
                <a:cs typeface="Calibri" pitchFamily="34" charset="-120"/>
              </a:rPr>
              <a:t>Operational Discipline</a:t>
            </a:r>
            <a:endParaRPr lang="en-US" sz="2400" dirty="0"/>
          </a:p>
        </p:txBody>
      </p:sp>
      <p:sp>
        <p:nvSpPr>
          <p:cNvPr id="12" name="Shape 7"/>
          <p:cNvSpPr/>
          <p:nvPr/>
        </p:nvSpPr>
        <p:spPr>
          <a:xfrm>
            <a:off x="548640" y="4480000"/>
            <a:ext cx="489204" cy="489204"/>
          </a:xfrm>
          <a:prstGeom prst="ellipse">
            <a:avLst/>
          </a:prstGeom>
          <a:solidFill>
            <a:srgbClr val="1A5C2C"/>
          </a:solidFill>
          <a:ln w="12700">
            <a:solidFill>
              <a:srgbClr val="1A5C2C"/>
            </a:solidFill>
            <a:prstDash val="solid"/>
          </a:ln>
        </p:spPr>
        <p:txBody>
          <a:bodyPr/>
          <a:p/>
        </p:txBody>
      </p:sp>
      <p:pic>
        <p:nvPicPr>
          <p:cNvPr id="13" name="Image 3" descr="preencoded.png">    </p:cNvPr>
          <p:cNvPicPr>
            <a:picLocks noChangeAspect="1"/>
          </p:cNvPicPr>
          <p:nvPr/>
        </p:nvPicPr>
        <p:blipFill>
          <a:blip r:embed="rId4"/>
          <a:stretch>
            <a:fillRect/>
          </a:stretch>
        </p:blipFill>
        <p:spPr>
          <a:xfrm>
            <a:off x="670941" y="4602301"/>
            <a:ext cx="244602" cy="244602"/>
          </a:xfrm>
          <a:prstGeom prst="rect">
            <a:avLst/>
          </a:prstGeom>
        </p:spPr>
      </p:pic>
      <p:sp>
        <p:nvSpPr>
          <p:cNvPr id="14" name="Text 8"/>
          <p:cNvSpPr txBox="1"/>
          <p:nvPr/>
        </p:nvSpPr>
        <p:spPr>
          <a:xfrm>
            <a:off x="1357884" y="433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CHRO  </a:t>
            </a:r>
            <a:pPr indent="0" marL="0">
              <a:buNone/>
            </a:pPr>
            <a:r>
              <a:rPr lang="en-US" sz="2400" dirty="0">
                <a:solidFill>
                  <a:srgbClr val="1F2A22"/>
                </a:solidFill>
                <a:latin typeface="Calibri" pitchFamily="34" charset="0"/>
                <a:ea typeface="Calibri" pitchFamily="34" charset="-122"/>
                <a:cs typeface="Calibri" pitchFamily="34" charset="-120"/>
              </a:rPr>
              <a:t>People and Culture</a:t>
            </a:r>
            <a:endParaRPr lang="en-US" sz="2400" dirty="0"/>
          </a:p>
        </p:txBody>
      </p:sp>
      <p:sp>
        <p:nvSpPr>
          <p:cNvPr id="15" name="Shape 9"/>
          <p:cNvSpPr/>
          <p:nvPr/>
        </p:nvSpPr>
        <p:spPr>
          <a:xfrm>
            <a:off x="548640" y="5440000"/>
            <a:ext cx="489204" cy="489204"/>
          </a:xfrm>
          <a:prstGeom prst="ellipse">
            <a:avLst/>
          </a:prstGeom>
          <a:solidFill>
            <a:srgbClr val="1A5C2C"/>
          </a:solidFill>
          <a:ln w="12700">
            <a:solidFill>
              <a:srgbClr val="1A5C2C"/>
            </a:solidFill>
            <a:prstDash val="solid"/>
          </a:ln>
        </p:spPr>
        <p:txBody>
          <a:bodyPr/>
          <a:p/>
        </p:txBody>
      </p:sp>
      <p:pic>
        <p:nvPicPr>
          <p:cNvPr id="16" name="Image 4" descr="preencoded.png">    </p:cNvPr>
          <p:cNvPicPr>
            <a:picLocks noChangeAspect="1"/>
          </p:cNvPicPr>
          <p:nvPr/>
        </p:nvPicPr>
        <p:blipFill>
          <a:blip r:embed="rId5"/>
          <a:stretch>
            <a:fillRect/>
          </a:stretch>
        </p:blipFill>
        <p:spPr>
          <a:xfrm>
            <a:off x="670941" y="5562301"/>
            <a:ext cx="244602" cy="244602"/>
          </a:xfrm>
          <a:prstGeom prst="rect">
            <a:avLst/>
          </a:prstGeom>
        </p:spPr>
      </p:pic>
      <p:sp>
        <p:nvSpPr>
          <p:cNvPr id="17" name="Text 10"/>
          <p:cNvSpPr txBox="1"/>
          <p:nvPr/>
        </p:nvSpPr>
        <p:spPr>
          <a:xfrm>
            <a:off x="1357884" y="529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CTO/CIO  </a:t>
            </a:r>
            <a:pPr indent="0" marL="0">
              <a:buNone/>
            </a:pPr>
            <a:r>
              <a:rPr lang="en-US" sz="2400" dirty="0">
                <a:solidFill>
                  <a:srgbClr val="1F2A22"/>
                </a:solidFill>
                <a:latin typeface="Calibri" pitchFamily="34" charset="0"/>
                <a:ea typeface="Calibri" pitchFamily="34" charset="-122"/>
                <a:cs typeface="Calibri" pitchFamily="34" charset="-120"/>
              </a:rPr>
              <a:t>Technology and Information</a:t>
            </a:r>
            <a:endParaRPr lang="en-US" sz="2400" dirty="0"/>
          </a:p>
        </p:txBody>
      </p:sp>
      <p:sp>
        <p:nvSpPr>
          <p:cNvPr id="18" name="Shape 11"/>
          <p:cNvSpPr/>
          <p:nvPr/>
        </p:nvSpPr>
        <p:spPr>
          <a:xfrm>
            <a:off x="6250000" y="1600000"/>
            <a:ext cx="489204" cy="489204"/>
          </a:xfrm>
          <a:prstGeom prst="ellipse">
            <a:avLst/>
          </a:prstGeom>
          <a:solidFill>
            <a:srgbClr val="1A5C2C"/>
          </a:solidFill>
          <a:ln w="12700">
            <a:solidFill>
              <a:srgbClr val="1A5C2C"/>
            </a:solidFill>
            <a:prstDash val="solid"/>
          </a:ln>
        </p:spPr>
        <p:txBody>
          <a:bodyPr/>
          <a:p/>
        </p:txBody>
      </p:sp>
      <p:pic>
        <p:nvPicPr>
          <p:cNvPr id="19" name="Image 5" descr="preencoded.png">    </p:cNvPr>
          <p:cNvPicPr>
            <a:picLocks noChangeAspect="1"/>
          </p:cNvPicPr>
          <p:nvPr/>
        </p:nvPicPr>
        <p:blipFill>
          <a:blip r:embed="rId6"/>
          <a:stretch>
            <a:fillRect/>
          </a:stretch>
        </p:blipFill>
        <p:spPr>
          <a:xfrm>
            <a:off x="6372301" y="1722301"/>
            <a:ext cx="244602" cy="244602"/>
          </a:xfrm>
          <a:prstGeom prst="rect">
            <a:avLst/>
          </a:prstGeom>
        </p:spPr>
      </p:pic>
      <p:sp>
        <p:nvSpPr>
          <p:cNvPr id="20" name="Text 12"/>
          <p:cNvSpPr txBox="1"/>
          <p:nvPr/>
        </p:nvSpPr>
        <p:spPr>
          <a:xfrm>
            <a:off x="7059244" y="145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CMO  </a:t>
            </a:r>
            <a:pPr indent="0" marL="0">
              <a:buNone/>
            </a:pPr>
            <a:r>
              <a:rPr lang="en-US" sz="2400" dirty="0">
                <a:solidFill>
                  <a:srgbClr val="1F2A22"/>
                </a:solidFill>
                <a:latin typeface="Calibri" pitchFamily="34" charset="0"/>
                <a:ea typeface="Calibri" pitchFamily="34" charset="-122"/>
                <a:cs typeface="Calibri" pitchFamily="34" charset="-120"/>
              </a:rPr>
              <a:t>Market and Customer Insight</a:t>
            </a:r>
            <a:endParaRPr lang="en-US" sz="2400" dirty="0"/>
          </a:p>
        </p:txBody>
      </p:sp>
      <p:sp>
        <p:nvSpPr>
          <p:cNvPr id="21" name="Shape 13"/>
          <p:cNvSpPr/>
          <p:nvPr/>
        </p:nvSpPr>
        <p:spPr>
          <a:xfrm>
            <a:off x="6250000" y="2560000"/>
            <a:ext cx="489204" cy="489204"/>
          </a:xfrm>
          <a:prstGeom prst="ellipse">
            <a:avLst/>
          </a:prstGeom>
          <a:solidFill>
            <a:srgbClr val="C6A24C"/>
          </a:solidFill>
          <a:ln w="12700">
            <a:solidFill>
              <a:srgbClr val="C6A24C"/>
            </a:solidFill>
            <a:prstDash val="solid"/>
          </a:ln>
        </p:spPr>
        <p:txBody>
          <a:bodyPr/>
          <a:p/>
        </p:txBody>
      </p:sp>
      <p:pic>
        <p:nvPicPr>
          <p:cNvPr id="22" name="Image 6" descr="preencoded.png">    </p:cNvPr>
          <p:cNvPicPr>
            <a:picLocks noChangeAspect="1"/>
          </p:cNvPicPr>
          <p:nvPr/>
        </p:nvPicPr>
        <p:blipFill>
          <a:blip r:embed="rId7"/>
          <a:stretch>
            <a:fillRect/>
          </a:stretch>
        </p:blipFill>
        <p:spPr>
          <a:xfrm>
            <a:off x="6372301" y="2682301"/>
            <a:ext cx="244602" cy="244602"/>
          </a:xfrm>
          <a:prstGeom prst="rect">
            <a:avLst/>
          </a:prstGeom>
        </p:spPr>
      </p:pic>
      <p:sp>
        <p:nvSpPr>
          <p:cNvPr id="23" name="Text 14"/>
          <p:cNvSpPr txBox="1"/>
          <p:nvPr/>
        </p:nvSpPr>
        <p:spPr>
          <a:xfrm>
            <a:off x="7059244" y="241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CCO  </a:t>
            </a:r>
            <a:pPr indent="0" marL="0">
              <a:buNone/>
            </a:pPr>
            <a:r>
              <a:rPr lang="en-US" sz="2400" dirty="0">
                <a:solidFill>
                  <a:srgbClr val="1F2A22"/>
                </a:solidFill>
                <a:latin typeface="Calibri" pitchFamily="34" charset="0"/>
                <a:ea typeface="Calibri" pitchFamily="34" charset="-122"/>
                <a:cs typeface="Calibri" pitchFamily="34" charset="-120"/>
              </a:rPr>
              <a:t>Commercial Performance</a:t>
            </a:r>
            <a:endParaRPr lang="en-US" sz="2400" dirty="0"/>
          </a:p>
        </p:txBody>
      </p:sp>
      <p:sp>
        <p:nvSpPr>
          <p:cNvPr id="21" name="Shape 13_x0"/>
          <p:cNvSpPr/>
          <p:nvPr/>
        </p:nvSpPr>
        <p:spPr>
          <a:xfrm>
            <a:off x="6250000" y="3520000"/>
            <a:ext cx="489204" cy="489204"/>
          </a:xfrm>
          <a:prstGeom prst="ellipse">
            <a:avLst/>
          </a:prstGeom>
          <a:solidFill>
            <a:srgbClr val="C6A24C"/>
          </a:solidFill>
          <a:ln w="12700">
            <a:solidFill>
              <a:srgbClr val="C6A24C"/>
            </a:solidFill>
            <a:prstDash val="solid"/>
          </a:ln>
        </p:spPr>
        <p:txBody>
          <a:bodyPr/>
          <a:p/>
        </p:txBody>
      </p:sp>
      <p:pic>
        <p:nvPicPr>
          <p:cNvPr id="22" name="Image 6_x0" descr="preencoded.png">    </p:cNvPr>
          <p:cNvPicPr>
            <a:picLocks noChangeAspect="1"/>
          </p:cNvPicPr>
          <p:nvPr/>
        </p:nvPicPr>
        <p:blipFill>
          <a:blip r:embed="rId7"/>
          <a:stretch>
            <a:fillRect/>
          </a:stretch>
        </p:blipFill>
        <p:spPr>
          <a:xfrm>
            <a:off x="6372301" y="3642301"/>
            <a:ext cx="244602" cy="244602"/>
          </a:xfrm>
          <a:prstGeom prst="rect">
            <a:avLst/>
          </a:prstGeom>
        </p:spPr>
      </p:pic>
      <p:sp>
        <p:nvSpPr>
          <p:cNvPr id="23" name="Text 14_x0"/>
          <p:cNvSpPr txBox="1"/>
          <p:nvPr/>
        </p:nvSpPr>
        <p:spPr>
          <a:xfrm>
            <a:off x="7059244" y="337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CPO  </a:t>
            </a:r>
            <a:pPr indent="0" marL="0">
              <a:buNone/>
            </a:pPr>
            <a:r>
              <a:rPr lang="en-US" sz="2400" dirty="0">
                <a:solidFill>
                  <a:srgbClr val="1F2A22"/>
                </a:solidFill>
                <a:latin typeface="Calibri" pitchFamily="34" charset="0"/>
                <a:ea typeface="Calibri" pitchFamily="34" charset="-122"/>
                <a:cs typeface="Calibri" pitchFamily="34" charset="-120"/>
              </a:rPr>
              <a:t>Procurement and Supply</a:t>
            </a:r>
            <a:endParaRPr lang="en-US" sz="2400" dirty="0"/>
          </a:p>
        </p:txBody>
      </p:sp>
      <p:sp>
        <p:nvSpPr>
          <p:cNvPr id="21" name="Shape 13_x1"/>
          <p:cNvSpPr/>
          <p:nvPr/>
        </p:nvSpPr>
        <p:spPr>
          <a:xfrm>
            <a:off x="6250000" y="4480000"/>
            <a:ext cx="489204" cy="489204"/>
          </a:xfrm>
          <a:prstGeom prst="ellipse">
            <a:avLst/>
          </a:prstGeom>
          <a:solidFill>
            <a:srgbClr val="C6A24C"/>
          </a:solidFill>
          <a:ln w="12700">
            <a:solidFill>
              <a:srgbClr val="C6A24C"/>
            </a:solidFill>
            <a:prstDash val="solid"/>
          </a:ln>
        </p:spPr>
        <p:txBody>
          <a:bodyPr/>
          <a:p/>
        </p:txBody>
      </p:sp>
      <p:pic>
        <p:nvPicPr>
          <p:cNvPr id="22" name="Image 6_x1" descr="preencoded.png">    </p:cNvPr>
          <p:cNvPicPr>
            <a:picLocks noChangeAspect="1"/>
          </p:cNvPicPr>
          <p:nvPr/>
        </p:nvPicPr>
        <p:blipFill>
          <a:blip r:embed="rId7"/>
          <a:stretch>
            <a:fillRect/>
          </a:stretch>
        </p:blipFill>
        <p:spPr>
          <a:xfrm>
            <a:off x="6372301" y="4602301"/>
            <a:ext cx="244602" cy="244602"/>
          </a:xfrm>
          <a:prstGeom prst="rect">
            <a:avLst/>
          </a:prstGeom>
        </p:spPr>
      </p:pic>
      <p:sp>
        <p:nvSpPr>
          <p:cNvPr id="23" name="Text 14_x1"/>
          <p:cNvSpPr txBox="1"/>
          <p:nvPr/>
        </p:nvSpPr>
        <p:spPr>
          <a:xfrm>
            <a:off x="7059244" y="433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CRO  </a:t>
            </a:r>
            <a:pPr indent="0" marL="0">
              <a:buNone/>
            </a:pPr>
            <a:r>
              <a:rPr lang="en-US" sz="2400" dirty="0">
                <a:solidFill>
                  <a:srgbClr val="1F2A22"/>
                </a:solidFill>
                <a:latin typeface="Calibri" pitchFamily="34" charset="0"/>
                <a:ea typeface="Calibri" pitchFamily="34" charset="-122"/>
                <a:cs typeface="Calibri" pitchFamily="34" charset="-120"/>
              </a:rPr>
              <a:t>Risk and Governance</a:t>
            </a:r>
            <a:endParaRPr lang="en-US" sz="2400" dirty="0"/>
          </a:p>
        </p:txBody>
      </p:sp>
      <p:sp>
        <p:nvSpPr>
          <p:cNvPr id="21" name="Shape 13_x2"/>
          <p:cNvSpPr/>
          <p:nvPr/>
        </p:nvSpPr>
        <p:spPr>
          <a:xfrm>
            <a:off x="6250000" y="5440000"/>
            <a:ext cx="489204" cy="489204"/>
          </a:xfrm>
          <a:prstGeom prst="ellipse">
            <a:avLst/>
          </a:prstGeom>
          <a:solidFill>
            <a:srgbClr val="C6A24C"/>
          </a:solidFill>
          <a:ln w="12700">
            <a:solidFill>
              <a:srgbClr val="C6A24C"/>
            </a:solidFill>
            <a:prstDash val="solid"/>
          </a:ln>
        </p:spPr>
        <p:txBody>
          <a:bodyPr/>
          <a:p/>
        </p:txBody>
      </p:sp>
      <p:pic>
        <p:nvPicPr>
          <p:cNvPr id="22" name="Image 6_x2" descr="preencoded.png">    </p:cNvPr>
          <p:cNvPicPr>
            <a:picLocks noChangeAspect="1"/>
          </p:cNvPicPr>
          <p:nvPr/>
        </p:nvPicPr>
        <p:blipFill>
          <a:blip r:embed="rId7"/>
          <a:stretch>
            <a:fillRect/>
          </a:stretch>
        </p:blipFill>
        <p:spPr>
          <a:xfrm>
            <a:off x="6372301" y="5562301"/>
            <a:ext cx="244602" cy="244602"/>
          </a:xfrm>
          <a:prstGeom prst="rect">
            <a:avLst/>
          </a:prstGeom>
        </p:spPr>
      </p:pic>
      <p:sp>
        <p:nvSpPr>
          <p:cNvPr id="23" name="Text 14_x2"/>
          <p:cNvSpPr txBox="1"/>
          <p:nvPr/>
        </p:nvSpPr>
        <p:spPr>
          <a:xfrm>
            <a:off x="7059244" y="5290000"/>
            <a:ext cx="4750000" cy="789204"/>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CSO  </a:t>
            </a:r>
            <a:pPr indent="0" marL="0">
              <a:buNone/>
            </a:pPr>
            <a:r>
              <a:rPr lang="en-US" sz="2400" dirty="0">
                <a:solidFill>
                  <a:srgbClr val="1F2A22"/>
                </a:solidFill>
                <a:latin typeface="Calibri" pitchFamily="34" charset="0"/>
                <a:ea typeface="Calibri" pitchFamily="34" charset="-122"/>
                <a:cs typeface="Calibri" pitchFamily="34" charset="-120"/>
              </a:rPr>
              <a:t>Strategic Integration</a:t>
            </a:r>
            <a:endParaRPr lang="en-US" sz="2400" dirty="0"/>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Section 3 Reflections</a:t>
            </a:r>
            <a:endParaRPr lang="en-US" sz="3600" dirty="0"/>
          </a:p>
        </p:txBody>
      </p:sp>
      <p:pic>
        <p:nvPicPr>
          <p:cNvPr id="3" name="Reflection 3.1" descr="ref_3.1.png"/>
          <p:cNvPicPr>
            <a:picLocks noChangeAspect="1"/>
          </p:cNvPicPr>
          <p:nvPr/>
        </p:nvPicPr>
        <p:blipFill>
          <a:blip r:embed="rId10"/>
          <a:stretch>
            <a:fillRect/>
          </a:stretch>
        </p:blipFill>
        <p:spPr>
          <a:xfrm>
            <a:off x="1691640" y="1463040"/>
            <a:ext cx="10058400" cy="1311339"/>
          </a:xfrm>
          <a:prstGeom prst="rect">
            <a:avLst/>
          </a:prstGeom>
        </p:spPr>
      </p:pic>
      <p:sp>
        <p:nvSpPr>
          <p:cNvPr id="4" name="Part 3.1"/>
          <p:cNvSpPr/>
          <p:nvPr/>
        </p:nvSpPr>
        <p:spPr>
          <a:xfrm>
            <a:off x="548640" y="1684369"/>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3.1</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5">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4</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4</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Integration — Collective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Cross Leadership Clog Ownership</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p/>
        </p:txBody>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Mobilise cross-functional leadership to restore shared performance momentum.</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Establish a collective leadership rhythm for surfacing and resolving performance friction.</a:t>
            </a:r>
            <a:endParaRPr lang="en-US" sz="24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4.1 · Normalising the unclog: from crisis to habit</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1"/>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REVIEW  </a:t>
            </a:r>
            <a:pPr indent="0" marL="0">
              <a:buNone/>
            </a:pPr>
            <a:r>
              <a:rPr lang="en-US" sz="2600" dirty="0">
                <a:solidFill>
                  <a:srgbClr val="1F2A22"/>
                </a:solidFill>
                <a:latin typeface="Calibri" pitchFamily="34" charset="0"/>
                <a:ea typeface="Calibri" pitchFamily="34" charset="-122"/>
                <a:cs typeface="Calibri" pitchFamily="34" charset="-120"/>
              </a:rPr>
              <a:t>the evidence, and confirm the clog</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2"/>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REALIGN  </a:t>
            </a:r>
            <a:pPr indent="0" marL="0">
              <a:buNone/>
            </a:pPr>
            <a:r>
              <a:rPr lang="en-US" sz="2600" dirty="0">
                <a:solidFill>
                  <a:srgbClr val="1F2A22"/>
                </a:solidFill>
                <a:latin typeface="Calibri" pitchFamily="34" charset="0"/>
                <a:ea typeface="Calibri" pitchFamily="34" charset="-122"/>
                <a:cs typeface="Calibri" pitchFamily="34" charset="-120"/>
              </a:rPr>
              <a:t>ownership, and the changes on both sides</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RESTORE  </a:t>
            </a:r>
            <a:pPr indent="0" marL="0">
              <a:buNone/>
            </a:pPr>
            <a:r>
              <a:rPr lang="en-US" sz="2600" dirty="0">
                <a:solidFill>
                  <a:srgbClr val="1F2A22"/>
                </a:solidFill>
                <a:latin typeface="Calibri" pitchFamily="34" charset="0"/>
                <a:ea typeface="Calibri" pitchFamily="34" charset="-122"/>
                <a:cs typeface="Calibri" pitchFamily="34" charset="-120"/>
              </a:rPr>
              <a:t>activate the lever, and verify recovery</a:t>
            </a:r>
            <a:endParaRPr lang="en-US" sz="26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txBody>
          <a:bodyPr/>
          <a:p/>
        </p:txBody>
      </p:sp>
      <p:pic>
        <p:nvPicPr>
          <p:cNvPr id="13" name="Image 3" descr="preencoded.png">    </p:cNvPr>
          <p:cNvPicPr>
            <a:picLocks noChangeAspect="1"/>
          </p:cNvPicPr>
          <p:nvPr/>
        </p:nvPicPr>
        <p:blipFill>
          <a:blip r:embed="rId4"/>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Every executive  </a:t>
            </a:r>
            <a:pPr indent="0" marL="0">
              <a:buNone/>
            </a:pPr>
            <a:r>
              <a:rPr lang="en-US" sz="2600" dirty="0">
                <a:solidFill>
                  <a:srgbClr val="1F2A22"/>
                </a:solidFill>
                <a:latin typeface="Calibri" pitchFamily="34" charset="0"/>
                <a:ea typeface="Calibri" pitchFamily="34" charset="-122"/>
                <a:cs typeface="Calibri" pitchFamily="34" charset="-120"/>
              </a:rPr>
              <a:t>makes emerging friction visible</a:t>
            </a:r>
            <a:endParaRPr lang="en-US" sz="26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7">
    <p:bg>
      <p:bgPr>
        <a:solidFill>
          <a:srgbClr val="0F3B1C"/>
        </a:solidFill>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p/>
        </p:txBody>
      </p:sp>
      <p:pic>
        <p:nvPicPr>
          <p:cNvPr id="3" name="Image 0" descr="preencoded.png">    </p:cNvPr>
          <p:cNvPicPr>
            <a:picLocks noChangeAspect="1"/>
          </p:cNvPicPr>
          <p:nvPr/>
        </p:nvPicPr>
        <p:blipFill>
          <a:blip r:embed="rId1"/>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indent="0" marL="0">
              <a:buNone/>
            </a:pPr>
            <a:r>
              <a:rPr lang="en-US" sz="2600" b="1" dirty="0">
                <a:solidFill>
                  <a:srgbClr val="C6A24C"/>
                </a:solidFill>
                <a:latin typeface="Calibri" pitchFamily="34" charset="0"/>
                <a:ea typeface="Calibri" pitchFamily="34" charset="-122"/>
                <a:cs typeface="Calibri" pitchFamily="34" charset="-120"/>
              </a:rPr>
              <a:t>4.2 · The Unclogging Cycle: REVIEW</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indent="0" marL="0">
              <a:buNone/>
            </a:pPr>
            <a:r>
              <a:rPr lang="en-US" sz="3600" i="1" dirty="0">
                <a:solidFill>
                  <a:srgbClr val="FFFFFF"/>
                </a:solidFill>
                <a:latin typeface="Cambria" pitchFamily="34" charset="0"/>
                <a:ea typeface="Cambria" pitchFamily="34" charset="-122"/>
                <a:cs typeface="Cambria" pitchFamily="34" charset="-120"/>
              </a:rPr>
              <a:t>REVIEW is complete when the executive team agrees on the performance gap, the supporting evidence and the clog requiring intervention.</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Outcome, behaviour, condition: the Three Performance Lines of Sight.</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4.2 · The Unclogging Cycle: REALIGN</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What must change?</a:t>
            </a:r>
            <a:endParaRPr lang="en-US" sz="2600" dirty="0"/>
          </a:p>
        </p:txBody>
      </p:sp>
      <p:sp>
        <p:nvSpPr>
          <p:cNvPr id="7" name="Text 4"/>
          <p:cNvSpPr txBox="1"/>
          <p:nvPr/>
        </p:nvSpPr>
        <p:spPr>
          <a:xfrm>
            <a:off x="777240" y="3539252"/>
            <a:ext cx="3057144" cy="176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The arrangement, practice or decision sustaining the clog.</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Who must act together?</a:t>
            </a:r>
            <a:endParaRPr lang="en-US" sz="2600" dirty="0"/>
          </a:p>
        </p:txBody>
      </p:sp>
      <p:sp>
        <p:nvSpPr>
          <p:cNvPr id="12" name="Text 8"/>
          <p:cNvSpPr txBox="1"/>
          <p:nvPr/>
        </p:nvSpPr>
        <p:spPr>
          <a:xfrm>
            <a:off x="4565904" y="3539252"/>
            <a:ext cx="3057144" cy="176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One coordinating owner, and the contributing executives.</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What must be agreed?</a:t>
            </a:r>
            <a:endParaRPr lang="en-US" sz="2600" dirty="0"/>
          </a:p>
        </p:txBody>
      </p:sp>
      <p:sp>
        <p:nvSpPr>
          <p:cNvPr id="17" name="Text 12"/>
          <p:cNvSpPr txBox="1"/>
          <p:nvPr/>
        </p:nvSpPr>
        <p:spPr>
          <a:xfrm>
            <a:off x="8354568" y="3539252"/>
            <a:ext cx="3057144" cy="1764268"/>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Decisions, responsibilities, resources and timelines.</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Consider both: people performance and organisational performance.</a:t>
            </a:r>
            <a:endParaRPr lang="en-US" sz="2400" dirty="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4.2 · The Unclogging Cycle: RESTORE</a:t>
            </a:r>
            <a:endParaRPr lang="en-US" sz="3600" dirty="0"/>
          </a:p>
        </p:txBody>
      </p:sp>
      <p:sp>
        <p:nvSpPr>
          <p:cNvPr id="3" name="Shape 1"/>
          <p:cNvSpPr/>
          <p:nvPr/>
        </p:nvSpPr>
        <p:spPr>
          <a:xfrm>
            <a:off x="548640" y="1613589"/>
            <a:ext cx="489204" cy="489204"/>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2"/>
          <a:stretch>
            <a:fillRect/>
          </a:stretch>
        </p:blipFill>
        <p:spPr>
          <a:xfrm>
            <a:off x="670941" y="1735890"/>
            <a:ext cx="244602" cy="244602"/>
          </a:xfrm>
          <a:prstGeom prst="rect">
            <a:avLst/>
          </a:prstGeom>
        </p:spPr>
      </p:pic>
      <p:sp>
        <p:nvSpPr>
          <p:cNvPr id="5" name="Text 2"/>
          <p:cNvSpPr txBox="1"/>
          <p:nvPr/>
        </p:nvSpPr>
        <p:spPr>
          <a:xfrm>
            <a:off x="1357884" y="1508760"/>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01 · Standardise  </a:t>
            </a:r>
            <a:pPr indent="0" marL="0">
              <a:buNone/>
            </a:pPr>
            <a:r>
              <a:rPr lang="en-US" sz="2400" dirty="0">
                <a:solidFill>
                  <a:srgbClr val="1F2A22"/>
                </a:solidFill>
                <a:latin typeface="Calibri" pitchFamily="34" charset="0"/>
                <a:ea typeface="Calibri" pitchFamily="34" charset="-122"/>
                <a:cs typeface="Calibri" pitchFamily="34" charset="-120"/>
              </a:rPr>
              <a:t>ensure consistency</a:t>
            </a:r>
            <a:endParaRPr lang="en-US" sz="2400" dirty="0"/>
          </a:p>
        </p:txBody>
      </p:sp>
      <p:sp>
        <p:nvSpPr>
          <p:cNvPr id="6" name="Shape 3"/>
          <p:cNvSpPr/>
          <p:nvPr/>
        </p:nvSpPr>
        <p:spPr>
          <a:xfrm>
            <a:off x="548640" y="2312452"/>
            <a:ext cx="489204" cy="489204"/>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3"/>
          <a:stretch>
            <a:fillRect/>
          </a:stretch>
        </p:blipFill>
        <p:spPr>
          <a:xfrm>
            <a:off x="670941" y="2434753"/>
            <a:ext cx="244602" cy="244602"/>
          </a:xfrm>
          <a:prstGeom prst="rect">
            <a:avLst/>
          </a:prstGeom>
        </p:spPr>
      </p:pic>
      <p:sp>
        <p:nvSpPr>
          <p:cNvPr id="8" name="Text 4"/>
          <p:cNvSpPr txBox="1"/>
          <p:nvPr/>
        </p:nvSpPr>
        <p:spPr>
          <a:xfrm>
            <a:off x="1357884" y="2207623"/>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02 · Streamline  </a:t>
            </a:r>
            <a:pPr indent="0" marL="0">
              <a:buNone/>
            </a:pPr>
            <a:r>
              <a:rPr lang="en-US" sz="2400" dirty="0">
                <a:solidFill>
                  <a:srgbClr val="1F2A22"/>
                </a:solidFill>
                <a:latin typeface="Calibri" pitchFamily="34" charset="0"/>
                <a:ea typeface="Calibri" pitchFamily="34" charset="-122"/>
                <a:cs typeface="Calibri" pitchFamily="34" charset="-120"/>
              </a:rPr>
              <a:t>increase speed</a:t>
            </a:r>
            <a:endParaRPr lang="en-US" sz="2400" dirty="0"/>
          </a:p>
        </p:txBody>
      </p:sp>
      <p:sp>
        <p:nvSpPr>
          <p:cNvPr id="9" name="Shape 5"/>
          <p:cNvSpPr/>
          <p:nvPr/>
        </p:nvSpPr>
        <p:spPr>
          <a:xfrm>
            <a:off x="548640" y="3011315"/>
            <a:ext cx="489204" cy="489204"/>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4"/>
          <a:stretch>
            <a:fillRect/>
          </a:stretch>
        </p:blipFill>
        <p:spPr>
          <a:xfrm>
            <a:off x="670941" y="3133616"/>
            <a:ext cx="244602" cy="244602"/>
          </a:xfrm>
          <a:prstGeom prst="rect">
            <a:avLst/>
          </a:prstGeom>
        </p:spPr>
      </p:pic>
      <p:sp>
        <p:nvSpPr>
          <p:cNvPr id="11" name="Text 6"/>
          <p:cNvSpPr txBox="1"/>
          <p:nvPr/>
        </p:nvSpPr>
        <p:spPr>
          <a:xfrm>
            <a:off x="1357884" y="2906486"/>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03 · Clarify  </a:t>
            </a:r>
            <a:pPr indent="0" marL="0">
              <a:buNone/>
            </a:pPr>
            <a:r>
              <a:rPr lang="en-US" sz="2400" dirty="0">
                <a:solidFill>
                  <a:srgbClr val="1F2A22"/>
                </a:solidFill>
                <a:latin typeface="Calibri" pitchFamily="34" charset="0"/>
                <a:ea typeface="Calibri" pitchFamily="34" charset="-122"/>
                <a:cs typeface="Calibri" pitchFamily="34" charset="-120"/>
              </a:rPr>
              <a:t>eliminate confusion</a:t>
            </a:r>
            <a:endParaRPr lang="en-US" sz="2400" dirty="0"/>
          </a:p>
        </p:txBody>
      </p:sp>
      <p:sp>
        <p:nvSpPr>
          <p:cNvPr id="12" name="Shape 7"/>
          <p:cNvSpPr/>
          <p:nvPr/>
        </p:nvSpPr>
        <p:spPr>
          <a:xfrm>
            <a:off x="548640" y="3710178"/>
            <a:ext cx="489204" cy="489204"/>
          </a:xfrm>
          <a:prstGeom prst="ellipse">
            <a:avLst/>
          </a:prstGeom>
          <a:solidFill>
            <a:srgbClr val="1A5C2C"/>
          </a:solidFill>
          <a:ln w="12700">
            <a:solidFill>
              <a:srgbClr val="1A5C2C"/>
            </a:solidFill>
            <a:prstDash val="solid"/>
          </a:ln>
        </p:spPr>
        <p:txBody>
          <a:bodyPr/>
          <a:p/>
        </p:txBody>
      </p:sp>
      <p:pic>
        <p:nvPicPr>
          <p:cNvPr id="13" name="Image 3" descr="preencoded.png">    </p:cNvPr>
          <p:cNvPicPr>
            <a:picLocks noChangeAspect="1"/>
          </p:cNvPicPr>
          <p:nvPr/>
        </p:nvPicPr>
        <p:blipFill>
          <a:blip r:embed="rId5"/>
          <a:stretch>
            <a:fillRect/>
          </a:stretch>
        </p:blipFill>
        <p:spPr>
          <a:xfrm>
            <a:off x="670941" y="3832479"/>
            <a:ext cx="244602" cy="244602"/>
          </a:xfrm>
          <a:prstGeom prst="rect">
            <a:avLst/>
          </a:prstGeom>
        </p:spPr>
      </p:pic>
      <p:sp>
        <p:nvSpPr>
          <p:cNvPr id="14" name="Text 8"/>
          <p:cNvSpPr txBox="1"/>
          <p:nvPr/>
        </p:nvSpPr>
        <p:spPr>
          <a:xfrm>
            <a:off x="1357884" y="3605349"/>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04 · Upgrade  </a:t>
            </a:r>
            <a:pPr indent="0" marL="0">
              <a:buNone/>
            </a:pPr>
            <a:r>
              <a:rPr lang="en-US" sz="2400" dirty="0">
                <a:solidFill>
                  <a:srgbClr val="1F2A22"/>
                </a:solidFill>
                <a:latin typeface="Calibri" pitchFamily="34" charset="0"/>
                <a:ea typeface="Calibri" pitchFamily="34" charset="-122"/>
                <a:cs typeface="Calibri" pitchFamily="34" charset="-120"/>
              </a:rPr>
              <a:t>remove bottlenecks</a:t>
            </a:r>
            <a:endParaRPr lang="en-US" sz="2400" dirty="0"/>
          </a:p>
        </p:txBody>
      </p:sp>
      <p:sp>
        <p:nvSpPr>
          <p:cNvPr id="15" name="Shape 9"/>
          <p:cNvSpPr/>
          <p:nvPr/>
        </p:nvSpPr>
        <p:spPr>
          <a:xfrm>
            <a:off x="548640" y="4409041"/>
            <a:ext cx="489204" cy="489204"/>
          </a:xfrm>
          <a:prstGeom prst="ellipse">
            <a:avLst/>
          </a:prstGeom>
          <a:solidFill>
            <a:srgbClr val="1A5C2C"/>
          </a:solidFill>
          <a:ln w="12700">
            <a:solidFill>
              <a:srgbClr val="1A5C2C"/>
            </a:solidFill>
            <a:prstDash val="solid"/>
          </a:ln>
        </p:spPr>
        <p:txBody>
          <a:bodyPr/>
          <a:p/>
        </p:txBody>
      </p:sp>
      <p:pic>
        <p:nvPicPr>
          <p:cNvPr id="16" name="Image 4" descr="preencoded.png">    </p:cNvPr>
          <p:cNvPicPr>
            <a:picLocks noChangeAspect="1"/>
          </p:cNvPicPr>
          <p:nvPr/>
        </p:nvPicPr>
        <p:blipFill>
          <a:blip r:embed="rId6"/>
          <a:stretch>
            <a:fillRect/>
          </a:stretch>
        </p:blipFill>
        <p:spPr>
          <a:xfrm>
            <a:off x="670941" y="4531342"/>
            <a:ext cx="244602" cy="244602"/>
          </a:xfrm>
          <a:prstGeom prst="rect">
            <a:avLst/>
          </a:prstGeom>
        </p:spPr>
      </p:pic>
      <p:sp>
        <p:nvSpPr>
          <p:cNvPr id="17" name="Text 10"/>
          <p:cNvSpPr txBox="1"/>
          <p:nvPr/>
        </p:nvSpPr>
        <p:spPr>
          <a:xfrm>
            <a:off x="1357884" y="4304211"/>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05 · Reinforce  </a:t>
            </a:r>
            <a:pPr indent="0" marL="0">
              <a:buNone/>
            </a:pPr>
            <a:r>
              <a:rPr lang="en-US" sz="2400" dirty="0">
                <a:solidFill>
                  <a:srgbClr val="1F2A22"/>
                </a:solidFill>
                <a:latin typeface="Calibri" pitchFamily="34" charset="0"/>
                <a:ea typeface="Calibri" pitchFamily="34" charset="-122"/>
                <a:cs typeface="Calibri" pitchFamily="34" charset="-120"/>
              </a:rPr>
              <a:t>strengthen behaviour</a:t>
            </a:r>
            <a:endParaRPr lang="en-US" sz="2400" dirty="0"/>
          </a:p>
        </p:txBody>
      </p:sp>
      <p:sp>
        <p:nvSpPr>
          <p:cNvPr id="18" name="Shape 11"/>
          <p:cNvSpPr/>
          <p:nvPr/>
        </p:nvSpPr>
        <p:spPr>
          <a:xfrm>
            <a:off x="548640" y="5107904"/>
            <a:ext cx="489204" cy="489204"/>
          </a:xfrm>
          <a:prstGeom prst="ellipse">
            <a:avLst/>
          </a:prstGeom>
          <a:solidFill>
            <a:srgbClr val="1A5C2C"/>
          </a:solidFill>
          <a:ln w="12700">
            <a:solidFill>
              <a:srgbClr val="1A5C2C"/>
            </a:solidFill>
            <a:prstDash val="solid"/>
          </a:ln>
        </p:spPr>
        <p:txBody>
          <a:bodyPr/>
          <a:p/>
        </p:txBody>
      </p:sp>
      <p:pic>
        <p:nvPicPr>
          <p:cNvPr id="19" name="Image 5" descr="preencoded.png">    </p:cNvPr>
          <p:cNvPicPr>
            <a:picLocks noChangeAspect="1"/>
          </p:cNvPicPr>
          <p:nvPr/>
        </p:nvPicPr>
        <p:blipFill>
          <a:blip r:embed="rId7"/>
          <a:stretch>
            <a:fillRect/>
          </a:stretch>
        </p:blipFill>
        <p:spPr>
          <a:xfrm>
            <a:off x="670941" y="5230205"/>
            <a:ext cx="244602" cy="244602"/>
          </a:xfrm>
          <a:prstGeom prst="rect">
            <a:avLst/>
          </a:prstGeom>
        </p:spPr>
      </p:pic>
      <p:sp>
        <p:nvSpPr>
          <p:cNvPr id="20" name="Text 12"/>
          <p:cNvSpPr txBox="1"/>
          <p:nvPr/>
        </p:nvSpPr>
        <p:spPr>
          <a:xfrm>
            <a:off x="1357884" y="5003074"/>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06 · Realign  </a:t>
            </a:r>
            <a:pPr indent="0" marL="0">
              <a:buNone/>
            </a:pPr>
            <a:r>
              <a:rPr lang="en-US" sz="2400" dirty="0">
                <a:solidFill>
                  <a:srgbClr val="1F2A22"/>
                </a:solidFill>
                <a:latin typeface="Calibri" pitchFamily="34" charset="0"/>
                <a:ea typeface="Calibri" pitchFamily="34" charset="-122"/>
                <a:cs typeface="Calibri" pitchFamily="34" charset="-120"/>
              </a:rPr>
              <a:t>focus on results</a:t>
            </a:r>
            <a:endParaRPr lang="en-US" sz="2400" dirty="0"/>
          </a:p>
        </p:txBody>
      </p:sp>
      <p:sp>
        <p:nvSpPr>
          <p:cNvPr id="21" name="Shape 13"/>
          <p:cNvSpPr/>
          <p:nvPr/>
        </p:nvSpPr>
        <p:spPr>
          <a:xfrm>
            <a:off x="548640" y="5806767"/>
            <a:ext cx="489204" cy="489204"/>
          </a:xfrm>
          <a:prstGeom prst="ellipse">
            <a:avLst/>
          </a:prstGeom>
          <a:solidFill>
            <a:srgbClr val="C6A24C"/>
          </a:solidFill>
          <a:ln w="12700">
            <a:solidFill>
              <a:srgbClr val="C6A24C"/>
            </a:solidFill>
            <a:prstDash val="solid"/>
          </a:ln>
        </p:spPr>
        <p:txBody>
          <a:bodyPr/>
          <a:p/>
        </p:txBody>
      </p:sp>
      <p:pic>
        <p:nvPicPr>
          <p:cNvPr id="22" name="Image 6" descr="preencoded.png">    </p:cNvPr>
          <p:cNvPicPr>
            <a:picLocks noChangeAspect="1"/>
          </p:cNvPicPr>
          <p:nvPr/>
        </p:nvPicPr>
        <p:blipFill>
          <a:blip r:embed="rId8"/>
          <a:stretch>
            <a:fillRect/>
          </a:stretch>
        </p:blipFill>
        <p:spPr>
          <a:xfrm>
            <a:off x="670941" y="5929068"/>
            <a:ext cx="244602" cy="244602"/>
          </a:xfrm>
          <a:prstGeom prst="rect">
            <a:avLst/>
          </a:prstGeom>
        </p:spPr>
      </p:pic>
      <p:sp>
        <p:nvSpPr>
          <p:cNvPr id="23" name="Text 14"/>
          <p:cNvSpPr txBox="1"/>
          <p:nvPr/>
        </p:nvSpPr>
        <p:spPr>
          <a:xfrm>
            <a:off x="1357884" y="5701937"/>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07 · Rebuild Trust  </a:t>
            </a:r>
            <a:pPr indent="0" marL="0">
              <a:buNone/>
            </a:pPr>
            <a:r>
              <a:rPr lang="en-US" sz="2400" dirty="0">
                <a:solidFill>
                  <a:srgbClr val="1F2A22"/>
                </a:solidFill>
                <a:latin typeface="Calibri" pitchFamily="34" charset="0"/>
                <a:ea typeface="Calibri" pitchFamily="34" charset="-122"/>
                <a:cs typeface="Calibri" pitchFamily="34" charset="-120"/>
              </a:rPr>
              <a:t>restore credibility</a:t>
            </a:r>
            <a:endParaRPr lang="en-US" sz="2400" dirty="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4.3 · Worked example: the Unclogging Cycle</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p/>
        </p:txBody>
      </p:sp>
      <p:pic>
        <p:nvPicPr>
          <p:cNvPr id="5" name="Image 0" descr="preencoded.png">    </p:cNvPr>
          <p:cNvPicPr>
            <a:picLocks noChangeAspect="1"/>
          </p:cNvPicPr>
          <p:nvPr/>
        </p:nvPicPr>
        <p:blipFill>
          <a:blip r:embed="rId2"/>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REVIEW</a:t>
            </a:r>
            <a:endParaRPr lang="en-US" sz="2600" dirty="0"/>
          </a:p>
        </p:txBody>
      </p:sp>
      <p:sp>
        <p:nvSpPr>
          <p:cNvPr id="7" name="Text 4"/>
          <p:cNvSpPr txBox="1"/>
          <p:nvPr/>
        </p:nvSpPr>
        <p:spPr>
          <a:xfrm>
            <a:off x="777240" y="3159252"/>
            <a:ext cx="3057144" cy="214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Decision Bottlenecks: routine maintenance purchases wait for senior approval.</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p/>
        </p:txBody>
      </p:sp>
      <p:pic>
        <p:nvPicPr>
          <p:cNvPr id="10" name="Image 1" descr="preencoded.png">    </p:cNvPr>
          <p:cNvPicPr>
            <a:picLocks noChangeAspect="1"/>
          </p:cNvPicPr>
          <p:nvPr/>
        </p:nvPicPr>
        <p:blipFill>
          <a:blip r:embed="rId3"/>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REALIGN</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The CFO coordinates and the COO contributes: revised approval authority and controls.</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p/>
        </p:txBody>
      </p:sp>
      <p:pic>
        <p:nvPicPr>
          <p:cNvPr id="15" name="Image 2" descr="preencoded.png">    </p:cNvPr>
          <p:cNvPicPr>
            <a:picLocks noChangeAspect="1"/>
          </p:cNvPicPr>
          <p:nvPr/>
        </p:nvPicPr>
        <p:blipFill>
          <a:blip r:embed="rId4"/>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RESTORE</a:t>
            </a:r>
            <a:endParaRPr lang="en-US" sz="2600" dirty="0"/>
          </a:p>
        </p:txBody>
      </p:sp>
      <p:sp>
        <p:nvSpPr>
          <p:cNvPr id="17" name="Text 12"/>
          <p:cNvSpPr txBox="1"/>
          <p:nvPr/>
        </p:nvSpPr>
        <p:spPr>
          <a:xfrm>
            <a:off x="8354568" y="3159252"/>
            <a:ext cx="3057144" cy="2144268"/>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Lever 02 · Streamline, verified through approval time, downtime, delivery and controls.</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Increase customer orders delivered on time from 72% to 95% by year-end.</a:t>
            </a:r>
            <a:endParaRPr lang="en-US" sz="2400" dirty="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Section 4 Reflections</a:t>
            </a:r>
            <a:endParaRPr lang="en-US" sz="3600" dirty="0"/>
          </a:p>
        </p:txBody>
      </p:sp>
      <p:pic>
        <p:nvPicPr>
          <p:cNvPr id="3" name="Reflection 4" descr="ref_4.png"/>
          <p:cNvPicPr>
            <a:picLocks noChangeAspect="1"/>
          </p:cNvPicPr>
          <p:nvPr/>
        </p:nvPicPr>
        <p:blipFill>
          <a:blip r:embed="rId10"/>
          <a:stretch>
            <a:fillRect/>
          </a:stretch>
        </p:blipFill>
        <p:spPr>
          <a:xfrm>
            <a:off x="1691640" y="1463040"/>
            <a:ext cx="10058400" cy="1657186"/>
          </a:xfrm>
          <a:prstGeom prst="rect">
            <a:avLst/>
          </a:prstGeom>
        </p:spPr>
      </p:pic>
      <p:sp>
        <p:nvSpPr>
          <p:cNvPr id="4" name="Part 4"/>
          <p:cNvSpPr/>
          <p:nvPr/>
        </p:nvSpPr>
        <p:spPr>
          <a:xfrm>
            <a:off x="548640" y="1857293"/>
            <a:ext cx="868680" cy="868680"/>
          </a:xfrm>
          <a:prstGeom prst="ellipse">
            <a:avLst/>
          </a:prstGeom>
          <a:solidFill>
            <a:srgbClr val="C6A24C"/>
          </a:solidFill>
          <a:ln>
            <a:solidFill>
              <a:srgbClr val="C6A24C"/>
            </a:solidFill>
          </a:ln>
          <a:effectLst/>
        </p:spPr>
        <p:txBody>
          <a:bodyPr wrap="none" lIns="0" tIns="0" rIns="0" bIns="0" rtlCol="0" anchor="ctr"/>
          <a:lstStyle/>
          <a:p>
            <a:pPr algn="ctr"/>
            <a:r>
              <a:rPr lang="en-GB" sz="2400" b="1">
                <a:solidFill>
                  <a:srgbClr val="FFFFFF"/>
                </a:solidFill>
                <a:latin typeface="Calibri"/>
              </a:rPr>
              <a:t>4.3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9">
    <p:bg>
      <p:bgPr>
        <a:solidFill>
          <a:srgbClr val="1A5C2C"/>
        </a:solidFill>
      </p:bgPr>
    </p:bg>
    <p:spTree>
      <p:nvGrpSpPr>
        <p:cNvPr id="1" name=""/>
        <p:cNvGrpSpPr/>
        <p:nvPr/>
      </p:nvGrpSpPr>
      <p:grpSpPr>
        <a:xfrm>
          <a:off x="0" y="0"/>
          <a:ext cx="0" cy="0"/>
          <a:chOff x="0" y="0"/>
          <a:chExt cx="0" cy="0"/>
        </a:xfrm>
      </p:grpSpPr>
      <p:sp>
        <p:nvSpPr>
          <p:cNvPr id="2" name="Text 0"/>
          <p:cNvSpPr txBox="1"/>
          <p:nvPr/>
        </p:nvSpPr>
        <p:spPr>
          <a:xfrm>
            <a:off x="457200" y="822960"/>
            <a:ext cx="2103120" cy="2194560"/>
          </a:xfrm>
          <a:prstGeom prst="rect">
            <a:avLst/>
          </a:prstGeom>
          <a:noFill/>
          <a:ln/>
        </p:spPr>
        <p:txBody>
          <a:bodyPr wrap="square" lIns="0" tIns="0" rIns="0" bIns="0" rtlCol="0" anchor="t"/>
          <a:lstStyle/>
          <a:p>
            <a:pPr indent="0" marL="0">
              <a:buNone/>
            </a:pPr>
            <a:r>
              <a:rPr lang="en-US" sz="15000" b="1" dirty="0">
                <a:solidFill>
                  <a:srgbClr val="C6A24C"/>
                </a:solidFill>
                <a:latin typeface="Cambria" pitchFamily="34" charset="0"/>
                <a:ea typeface="Cambria" pitchFamily="34" charset="-122"/>
                <a:cs typeface="Cambria" pitchFamily="34" charset="-120"/>
              </a:rPr>
              <a:t>5</a:t>
            </a:r>
            <a:endParaRPr lang="en-US" sz="15000" dirty="0"/>
          </a:p>
        </p:txBody>
      </p:sp>
      <p:sp>
        <p:nvSpPr>
          <p:cNvPr id="3" name="Text 1"/>
          <p:cNvSpPr txBox="1"/>
          <p:nvPr/>
        </p:nvSpPr>
        <p:spPr>
          <a:xfrm>
            <a:off x="2743200" y="914400"/>
            <a:ext cx="8229600" cy="457200"/>
          </a:xfrm>
          <a:prstGeom prst="rect">
            <a:avLst/>
          </a:prstGeom>
          <a:noFill/>
          <a:ln/>
        </p:spPr>
        <p:txBody>
          <a:bodyPr wrap="square" lIns="0" tIns="0" rIns="0" bIns="0" rtlCol="0" anchor="t"/>
          <a:lstStyle/>
          <a:p>
            <a:pPr indent="0" marL="0">
              <a:buNone/>
            </a:pPr>
            <a:r>
              <a:rPr lang="en-US" sz="2400" b="1" dirty="0">
                <a:solidFill>
                  <a:srgbClr val="E6D3A0"/>
                </a:solidFill>
                <a:latin typeface="Calibri" pitchFamily="34" charset="0"/>
                <a:ea typeface="Calibri" pitchFamily="34" charset="-122"/>
                <a:cs typeface="Calibri" pitchFamily="34" charset="-120"/>
              </a:rPr>
              <a:t>Section 5</a:t>
            </a:r>
            <a:endParaRPr lang="en-US" sz="2400" dirty="0"/>
          </a:p>
        </p:txBody>
      </p:sp>
      <p:sp>
        <p:nvSpPr>
          <p:cNvPr id="4" name="Text 2"/>
          <p:cNvSpPr txBox="1"/>
          <p:nvPr/>
        </p:nvSpPr>
        <p:spPr>
          <a:xfrm>
            <a:off x="2743200" y="1371600"/>
            <a:ext cx="8961120" cy="868680"/>
          </a:xfrm>
          <a:prstGeom prst="rect">
            <a:avLst/>
          </a:prstGeom>
          <a:noFill/>
          <a:ln/>
        </p:spPr>
        <p:txBody>
          <a:bodyPr wrap="square" lIns="0" tIns="0" rIns="0" bIns="0" rtlCol="0" anchor="t"/>
          <a:lstStyle/>
          <a:p>
            <a:pPr indent="0" marL="0">
              <a:buNone/>
            </a:pPr>
            <a:r>
              <a:rPr lang="en-US" sz="4400" b="1" dirty="0">
                <a:solidFill>
                  <a:srgbClr val="FFFFFF"/>
                </a:solidFill>
                <a:latin typeface="Cambria" pitchFamily="34" charset="0"/>
                <a:ea typeface="Cambria" pitchFamily="34" charset="-122"/>
                <a:cs typeface="Cambria" pitchFamily="34" charset="-120"/>
              </a:rPr>
              <a:t>Application — In Practice</a:t>
            </a:r>
            <a:endParaRPr lang="en-US" sz="4400" dirty="0"/>
          </a:p>
        </p:txBody>
      </p:sp>
      <p:sp>
        <p:nvSpPr>
          <p:cNvPr id="5" name="Text 3"/>
          <p:cNvSpPr txBox="1"/>
          <p:nvPr/>
        </p:nvSpPr>
        <p:spPr>
          <a:xfrm>
            <a:off x="2743200" y="2240280"/>
            <a:ext cx="8961120" cy="868680"/>
          </a:xfrm>
          <a:prstGeom prst="rect">
            <a:avLst/>
          </a:prstGeom>
          <a:noFill/>
          <a:ln/>
        </p:spPr>
        <p:txBody>
          <a:bodyPr wrap="square" lIns="0" tIns="0" rIns="0" bIns="0" rtlCol="0" anchor="t"/>
          <a:lstStyle/>
          <a:p>
            <a:pPr indent="0" marL="0">
              <a:buNone/>
            </a:pPr>
            <a:r>
              <a:rPr lang="en-US" sz="2600" i="1" dirty="0">
                <a:solidFill>
                  <a:srgbClr val="DDE8DF"/>
                </a:solidFill>
                <a:latin typeface="Calibri" pitchFamily="34" charset="0"/>
                <a:ea typeface="Calibri" pitchFamily="34" charset="-122"/>
                <a:cs typeface="Calibri" pitchFamily="34" charset="-120"/>
              </a:rPr>
              <a:t>The Strategic Unclogging Clinic</a:t>
            </a:r>
            <a:endParaRPr lang="en-US" sz="2600" dirty="0"/>
          </a:p>
        </p:txBody>
      </p:sp>
      <p:sp>
        <p:nvSpPr>
          <p:cNvPr id="6" name="Text 4"/>
          <p:cNvSpPr txBox="1"/>
          <p:nvPr/>
        </p:nvSpPr>
        <p:spPr>
          <a:xfrm>
            <a:off x="2743200" y="3246120"/>
            <a:ext cx="8229600" cy="457200"/>
          </a:xfrm>
          <a:prstGeom prst="rect">
            <a:avLst/>
          </a:prstGeom>
          <a:noFill/>
          <a:ln/>
        </p:spPr>
        <p:txBody>
          <a:bodyPr wrap="square" lIns="0" tIns="0" rIns="0" bIns="0" rtlCol="0" anchor="t"/>
          <a:lstStyle/>
          <a:p>
            <a:pPr indent="0" marL="0">
              <a:buNone/>
            </a:pPr>
            <a:r>
              <a:rPr lang="en-US" sz="2400" b="1" dirty="0">
                <a:solidFill>
                  <a:srgbClr val="C6A24C"/>
                </a:solidFill>
                <a:latin typeface="Calibri" pitchFamily="34" charset="0"/>
                <a:ea typeface="Calibri" pitchFamily="34" charset="-122"/>
                <a:cs typeface="Calibri" pitchFamily="34" charset="-120"/>
              </a:rPr>
              <a:t>Section learning outcomes</a:t>
            </a:r>
            <a:endParaRPr lang="en-US" sz="2400" dirty="0"/>
          </a:p>
        </p:txBody>
      </p:sp>
      <p:sp>
        <p:nvSpPr>
          <p:cNvPr id="7" name="Shape 5"/>
          <p:cNvSpPr/>
          <p:nvPr/>
        </p:nvSpPr>
        <p:spPr>
          <a:xfrm>
            <a:off x="2743200" y="3822192"/>
            <a:ext cx="384048" cy="384048"/>
          </a:xfrm>
          <a:prstGeom prst="ellipse">
            <a:avLst/>
          </a:prstGeom>
          <a:solidFill>
            <a:srgbClr val="C6A24C"/>
          </a:solidFill>
          <a:ln w="12700">
            <a:solidFill>
              <a:srgbClr val="C6A24C"/>
            </a:solidFill>
            <a:prstDash val="solid"/>
          </a:ln>
        </p:spPr>
        <p:txBody>
          <a:bodyPr/>
          <a:p/>
        </p:txBody>
      </p:sp>
      <p:pic>
        <p:nvPicPr>
          <p:cNvPr id="8" name="Image 0" descr="preencoded.png">    </p:cNvPr>
          <p:cNvPicPr>
            <a:picLocks noChangeAspect="1"/>
          </p:cNvPicPr>
          <p:nvPr/>
        </p:nvPicPr>
        <p:blipFill>
          <a:blip r:embed="rId1"/>
          <a:stretch>
            <a:fillRect/>
          </a:stretch>
        </p:blipFill>
        <p:spPr>
          <a:xfrm>
            <a:off x="2839212" y="3918204"/>
            <a:ext cx="192024" cy="192024"/>
          </a:xfrm>
          <a:prstGeom prst="rect">
            <a:avLst/>
          </a:prstGeom>
        </p:spPr>
      </p:pic>
      <p:sp>
        <p:nvSpPr>
          <p:cNvPr id="9" name="Text 6"/>
          <p:cNvSpPr txBox="1"/>
          <p:nvPr/>
        </p:nvSpPr>
        <p:spPr>
          <a:xfrm>
            <a:off x="3291840" y="374904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Diagnose a Capstone challenge using the Seven Performance Clogs and select a suitable Unclogging Lever.</a:t>
            </a:r>
            <a:endParaRPr lang="en-US" sz="2400" dirty="0"/>
          </a:p>
        </p:txBody>
      </p:sp>
      <p:sp>
        <p:nvSpPr>
          <p:cNvPr id="10" name="Shape 7"/>
          <p:cNvSpPr/>
          <p:nvPr/>
        </p:nvSpPr>
        <p:spPr>
          <a:xfrm>
            <a:off x="2743200" y="5010912"/>
            <a:ext cx="384048" cy="384048"/>
          </a:xfrm>
          <a:prstGeom prst="ellipse">
            <a:avLst/>
          </a:prstGeom>
          <a:solidFill>
            <a:srgbClr val="C6A24C"/>
          </a:solidFill>
          <a:ln w="12700">
            <a:solidFill>
              <a:srgbClr val="C6A24C"/>
            </a:solidFill>
            <a:prstDash val="solid"/>
          </a:ln>
        </p:spPr>
        <p:txBody>
          <a:bodyPr/>
          <a:p/>
        </p:txBody>
      </p:sp>
      <p:pic>
        <p:nvPicPr>
          <p:cNvPr id="11" name="Image 1" descr="preencoded.png">    </p:cNvPr>
          <p:cNvPicPr>
            <a:picLocks noChangeAspect="1"/>
          </p:cNvPicPr>
          <p:nvPr/>
        </p:nvPicPr>
        <p:blipFill>
          <a:blip r:embed="rId2"/>
          <a:stretch>
            <a:fillRect/>
          </a:stretch>
        </p:blipFill>
        <p:spPr>
          <a:xfrm>
            <a:off x="2839212" y="5106924"/>
            <a:ext cx="192024" cy="192024"/>
          </a:xfrm>
          <a:prstGeom prst="rect">
            <a:avLst/>
          </a:prstGeom>
        </p:spPr>
      </p:pic>
      <p:sp>
        <p:nvSpPr>
          <p:cNvPr id="12" name="Text 8"/>
          <p:cNvSpPr txBox="1"/>
          <p:nvPr/>
        </p:nvSpPr>
        <p:spPr>
          <a:xfrm>
            <a:off x="3291840" y="4937760"/>
            <a:ext cx="8412480" cy="1097280"/>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Develop an integrated Review–Realign–Restore response addressing people and organisational performance.</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Section 5 · Capstone portfolio output</a:t>
            </a:r>
            <a:endParaRPr lang="en-US" sz="3600" dirty="0"/>
          </a:p>
        </p:txBody>
      </p:sp>
      <p:sp>
        <p:nvSpPr>
          <p:cNvPr id="3" name="Shape 1"/>
          <p:cNvSpPr/>
          <p:nvPr/>
        </p:nvSpPr>
        <p:spPr>
          <a:xfrm>
            <a:off x="548640" y="1508760"/>
            <a:ext cx="3514344" cy="4846320"/>
          </a:xfrm>
          <a:prstGeom prst="roundRect">
            <a:avLst>
              <a:gd name="adj" fmla="val 2602"/>
            </a:avLst>
          </a:prstGeom>
          <a:solidFill>
            <a:srgbClr val="EEF4EF"/>
          </a:solidFill>
          <a:ln w="12700">
            <a:solidFill>
              <a:srgbClr val="EEF4EF"/>
            </a:solidFill>
            <a:prstDash val="solid"/>
          </a:ln>
        </p:spPr>
        <p:txBody>
          <a:bodyPr/>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3057144" cy="923544"/>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Challenge and clog</a:t>
            </a:r>
            <a:endParaRPr lang="en-US" sz="2600" dirty="0"/>
          </a:p>
        </p:txBody>
      </p:sp>
      <p:sp>
        <p:nvSpPr>
          <p:cNvPr id="7" name="Text 4"/>
          <p:cNvSpPr txBox="1"/>
          <p:nvPr/>
        </p:nvSpPr>
        <p:spPr>
          <a:xfrm>
            <a:off x="777240" y="3955304"/>
            <a:ext cx="3057144" cy="2262616"/>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The original challenge, the clog, and the reason for the diagnosis.</a:t>
            </a:r>
            <a:endParaRPr lang="en-US" sz="2400" dirty="0"/>
          </a:p>
        </p:txBody>
      </p:sp>
      <p:sp>
        <p:nvSpPr>
          <p:cNvPr id="8" name="Shape 5"/>
          <p:cNvSpPr/>
          <p:nvPr/>
        </p:nvSpPr>
        <p:spPr>
          <a:xfrm>
            <a:off x="4337304" y="1508760"/>
            <a:ext cx="3514344" cy="4846320"/>
          </a:xfrm>
          <a:prstGeom prst="roundRect">
            <a:avLst>
              <a:gd name="adj" fmla="val 2602"/>
            </a:avLst>
          </a:prstGeom>
          <a:solidFill>
            <a:srgbClr val="EEF4EF"/>
          </a:solidFill>
          <a:ln w="12700">
            <a:solidFill>
              <a:srgbClr val="EEF4EF"/>
            </a:solidFill>
            <a:prstDash val="solid"/>
          </a:ln>
        </p:spPr>
        <p:txBody>
          <a:bodyPr/>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4725924" y="1897380"/>
            <a:ext cx="320040" cy="320040"/>
          </a:xfrm>
          <a:prstGeom prst="rect">
            <a:avLst/>
          </a:prstGeom>
        </p:spPr>
      </p:pic>
      <p:sp>
        <p:nvSpPr>
          <p:cNvPr id="11" name="Text 7"/>
          <p:cNvSpPr txBox="1"/>
          <p:nvPr/>
        </p:nvSpPr>
        <p:spPr>
          <a:xfrm>
            <a:off x="4565904" y="2514600"/>
            <a:ext cx="3057144" cy="923544"/>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The lever</a:t>
            </a:r>
            <a:endParaRPr lang="en-US" sz="2600" dirty="0"/>
          </a:p>
        </p:txBody>
      </p:sp>
      <p:sp>
        <p:nvSpPr>
          <p:cNvPr id="12" name="Text 8"/>
          <p:cNvSpPr txBox="1"/>
          <p:nvPr/>
        </p:nvSpPr>
        <p:spPr>
          <a:xfrm>
            <a:off x="4565904" y="3955304"/>
            <a:ext cx="3057144" cy="2262616"/>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The selected lever and its intended purpose.</a:t>
            </a:r>
            <a:endParaRPr lang="en-US" sz="2400" dirty="0"/>
          </a:p>
        </p:txBody>
      </p:sp>
      <p:sp>
        <p:nvSpPr>
          <p:cNvPr id="13" name="Shape 9"/>
          <p:cNvSpPr/>
          <p:nvPr/>
        </p:nvSpPr>
        <p:spPr>
          <a:xfrm>
            <a:off x="8125968" y="1508760"/>
            <a:ext cx="3514344" cy="4846320"/>
          </a:xfrm>
          <a:prstGeom prst="roundRect">
            <a:avLst>
              <a:gd name="adj" fmla="val 2602"/>
            </a:avLst>
          </a:prstGeom>
          <a:solidFill>
            <a:srgbClr val="1A5C2C"/>
          </a:solidFill>
          <a:ln w="12700">
            <a:solidFill>
              <a:srgbClr val="1A5C2C"/>
            </a:solidFill>
            <a:prstDash val="solid"/>
          </a:ln>
        </p:spPr>
        <p:txBody>
          <a:bodyPr/>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8514588" y="1897380"/>
            <a:ext cx="320040" cy="320040"/>
          </a:xfrm>
          <a:prstGeom prst="rect">
            <a:avLst/>
          </a:prstGeom>
        </p:spPr>
      </p:pic>
      <p:sp>
        <p:nvSpPr>
          <p:cNvPr id="16" name="Text 11"/>
          <p:cNvSpPr txBox="1"/>
          <p:nvPr/>
        </p:nvSpPr>
        <p:spPr>
          <a:xfrm>
            <a:off x="8354568" y="2514600"/>
            <a:ext cx="3057144" cy="923544"/>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Review–Realign–Restore</a:t>
            </a:r>
            <a:endParaRPr lang="en-US" sz="2600" dirty="0"/>
          </a:p>
        </p:txBody>
      </p:sp>
      <p:sp>
        <p:nvSpPr>
          <p:cNvPr id="17" name="Text 12"/>
          <p:cNvSpPr txBox="1"/>
          <p:nvPr/>
        </p:nvSpPr>
        <p:spPr>
          <a:xfrm>
            <a:off x="8354568" y="3955304"/>
            <a:ext cx="3057144" cy="2262616"/>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With executive ownership and evidence of recovery.</a:t>
            </a:r>
            <a:endParaRPr lang="en-US" sz="2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5.1 · Return to your original work-based challenge</a:t>
            </a:r>
            <a:endParaRPr lang="en-US" sz="3600" dirty="0"/>
          </a:p>
        </p:txBody>
      </p:sp>
      <p:sp>
        <p:nvSpPr>
          <p:cNvPr id="3" name="Shape 1"/>
          <p:cNvSpPr/>
          <p:nvPr/>
        </p:nvSpPr>
        <p:spPr>
          <a:xfrm>
            <a:off x="548640" y="1508760"/>
            <a:ext cx="3514344" cy="3931920"/>
          </a:xfrm>
          <a:prstGeom prst="roundRect">
            <a:avLst>
              <a:gd name="adj" fmla="val 2602"/>
            </a:avLst>
          </a:prstGeom>
          <a:solidFill>
            <a:srgbClr val="EEF4EF"/>
          </a:solidFill>
          <a:ln w="12700">
            <a:solidFill>
              <a:srgbClr val="EEF4EF"/>
            </a:solidFill>
            <a:prstDash val="solid"/>
          </a:ln>
        </p:spPr>
        <p:txBody>
          <a:bodyPr/>
          <a:p/>
        </p:txBody>
      </p:sp>
      <p:sp>
        <p:nvSpPr>
          <p:cNvPr id="4" name="Shape 2"/>
          <p:cNvSpPr/>
          <p:nvPr/>
        </p:nvSpPr>
        <p:spPr>
          <a:xfrm>
            <a:off x="777240" y="1737360"/>
            <a:ext cx="640080" cy="640080"/>
          </a:xfrm>
          <a:prstGeom prst="ellipse">
            <a:avLst/>
          </a:prstGeom>
          <a:solidFill>
            <a:srgbClr val="1A5C2C"/>
          </a:solidFill>
          <a:ln w="12700">
            <a:solidFill>
              <a:srgbClr val="1A5C2C"/>
            </a:solidFill>
            <a:prstDash val="solid"/>
          </a:ln>
        </p:spPr>
        <p:txBody>
          <a:bodyPr/>
          <a:p/>
        </p:txBody>
      </p:sp>
      <p:pic>
        <p:nvPicPr>
          <p:cNvPr id="5" name="Image 0" descr="preencoded.png">    </p:cNvPr>
          <p:cNvPicPr>
            <a:picLocks noChangeAspect="1"/>
          </p:cNvPicPr>
          <p:nvPr/>
        </p:nvPicPr>
        <p:blipFill>
          <a:blip r:embed="rId1"/>
          <a:stretch>
            <a:fillRect/>
          </a:stretch>
        </p:blipFill>
        <p:spPr>
          <a:xfrm>
            <a:off x="937260" y="1897380"/>
            <a:ext cx="320040" cy="320040"/>
          </a:xfrm>
          <a:prstGeom prst="rect">
            <a:avLst/>
          </a:prstGeom>
        </p:spPr>
      </p:pic>
      <p:sp>
        <p:nvSpPr>
          <p:cNvPr id="6" name="Text 3"/>
          <p:cNvSpPr txBox="1"/>
          <p:nvPr/>
        </p:nvSpPr>
        <p:spPr>
          <a:xfrm>
            <a:off x="777240"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The challenge</a:t>
            </a:r>
            <a:endParaRPr lang="en-US" sz="2600" dirty="0"/>
          </a:p>
        </p:txBody>
      </p:sp>
      <p:sp>
        <p:nvSpPr>
          <p:cNvPr id="7" name="Text 4"/>
          <p:cNvSpPr txBox="1"/>
          <p:nvPr/>
        </p:nvSpPr>
        <p:spPr>
          <a:xfrm>
            <a:off x="777240" y="3159252"/>
            <a:ext cx="3057144" cy="214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One challenge from your group’s Problem Charter.</a:t>
            </a:r>
            <a:endParaRPr lang="en-US" sz="2400" dirty="0"/>
          </a:p>
        </p:txBody>
      </p:sp>
      <p:sp>
        <p:nvSpPr>
          <p:cNvPr id="8" name="Shape 5"/>
          <p:cNvSpPr/>
          <p:nvPr/>
        </p:nvSpPr>
        <p:spPr>
          <a:xfrm>
            <a:off x="4337304" y="1508760"/>
            <a:ext cx="3514344" cy="3931920"/>
          </a:xfrm>
          <a:prstGeom prst="roundRect">
            <a:avLst>
              <a:gd name="adj" fmla="val 2602"/>
            </a:avLst>
          </a:prstGeom>
          <a:solidFill>
            <a:srgbClr val="EEF4EF"/>
          </a:solidFill>
          <a:ln w="12700">
            <a:solidFill>
              <a:srgbClr val="EEF4EF"/>
            </a:solidFill>
            <a:prstDash val="solid"/>
          </a:ln>
        </p:spPr>
        <p:txBody>
          <a:bodyPr/>
          <a:p/>
        </p:txBody>
      </p:sp>
      <p:sp>
        <p:nvSpPr>
          <p:cNvPr id="9" name="Shape 6"/>
          <p:cNvSpPr/>
          <p:nvPr/>
        </p:nvSpPr>
        <p:spPr>
          <a:xfrm>
            <a:off x="4565904" y="1737360"/>
            <a:ext cx="640080" cy="640080"/>
          </a:xfrm>
          <a:prstGeom prst="ellipse">
            <a:avLst/>
          </a:prstGeom>
          <a:solidFill>
            <a:srgbClr val="1A5C2C"/>
          </a:solidFill>
          <a:ln w="12700">
            <a:solidFill>
              <a:srgbClr val="1A5C2C"/>
            </a:solidFill>
            <a:prstDash val="solid"/>
          </a:ln>
        </p:spPr>
        <p:txBody>
          <a:bodyPr/>
          <a:p/>
        </p:txBody>
      </p:sp>
      <p:pic>
        <p:nvPicPr>
          <p:cNvPr id="10" name="Image 1" descr="preencoded.png">    </p:cNvPr>
          <p:cNvPicPr>
            <a:picLocks noChangeAspect="1"/>
          </p:cNvPicPr>
          <p:nvPr/>
        </p:nvPicPr>
        <p:blipFill>
          <a:blip r:embed="rId2"/>
          <a:stretch>
            <a:fillRect/>
          </a:stretch>
        </p:blipFill>
        <p:spPr>
          <a:xfrm>
            <a:off x="4725924" y="1897380"/>
            <a:ext cx="320040" cy="320040"/>
          </a:xfrm>
          <a:prstGeom prst="rect">
            <a:avLst/>
          </a:prstGeom>
        </p:spPr>
      </p:pic>
      <p:sp>
        <p:nvSpPr>
          <p:cNvPr id="11" name="Text 7"/>
          <p:cNvSpPr txBox="1"/>
          <p:nvPr/>
        </p:nvSpPr>
        <p:spPr>
          <a:xfrm>
            <a:off x="4565904" y="2514600"/>
            <a:ext cx="3057144" cy="507492"/>
          </a:xfrm>
          <a:prstGeom prst="rect">
            <a:avLst/>
          </a:prstGeom>
          <a:noFill/>
          <a:ln/>
        </p:spPr>
        <p:txBody>
          <a:bodyPr wrap="square" lIns="0" tIns="0" rIns="0" bIns="0" rtlCol="0" anchor="t"/>
          <a:lstStyle/>
          <a:p>
            <a:pPr indent="0" marL="0">
              <a:buNone/>
            </a:pPr>
            <a:r>
              <a:rPr lang="en-US" sz="2600" b="1" dirty="0">
                <a:solidFill>
                  <a:srgbClr val="1A5C2C"/>
                </a:solidFill>
                <a:latin typeface="Cambria" pitchFamily="34" charset="0"/>
                <a:ea typeface="Cambria" pitchFamily="34" charset="-122"/>
                <a:cs typeface="Cambria" pitchFamily="34" charset="-120"/>
              </a:rPr>
              <a:t>The connection</a:t>
            </a:r>
            <a:endParaRPr lang="en-US" sz="2600" dirty="0"/>
          </a:p>
        </p:txBody>
      </p:sp>
      <p:sp>
        <p:nvSpPr>
          <p:cNvPr id="12" name="Text 8"/>
          <p:cNvSpPr txBox="1"/>
          <p:nvPr/>
        </p:nvSpPr>
        <p:spPr>
          <a:xfrm>
            <a:off x="4565904" y="3159252"/>
            <a:ext cx="3057144" cy="2144268"/>
          </a:xfrm>
          <a:prstGeom prst="rect">
            <a:avLst/>
          </a:prstGeom>
          <a:noFill/>
          <a:ln/>
        </p:spPr>
        <p:txBody>
          <a:bodyPr wrap="square" lIns="0" tIns="0" rIns="0" bIns="0" rtlCol="0" anchor="t"/>
          <a:lstStyle/>
          <a:p>
            <a:pPr indent="0" marL="0">
              <a:buNone/>
            </a:pPr>
            <a:r>
              <a:rPr lang="en-US" sz="2400" dirty="0">
                <a:solidFill>
                  <a:srgbClr val="1F2A22"/>
                </a:solidFill>
                <a:latin typeface="Calibri" pitchFamily="34" charset="0"/>
                <a:ea typeface="Calibri" pitchFamily="34" charset="-122"/>
                <a:cs typeface="Calibri" pitchFamily="34" charset="-120"/>
              </a:rPr>
              <a:t>The Objective, and the Key Result or KPI it affects.</a:t>
            </a:r>
            <a:endParaRPr lang="en-US" sz="2400" dirty="0"/>
          </a:p>
        </p:txBody>
      </p:sp>
      <p:sp>
        <p:nvSpPr>
          <p:cNvPr id="13" name="Shape 9"/>
          <p:cNvSpPr/>
          <p:nvPr/>
        </p:nvSpPr>
        <p:spPr>
          <a:xfrm>
            <a:off x="8125968" y="1508760"/>
            <a:ext cx="3514344" cy="3931920"/>
          </a:xfrm>
          <a:prstGeom prst="roundRect">
            <a:avLst>
              <a:gd name="adj" fmla="val 2602"/>
            </a:avLst>
          </a:prstGeom>
          <a:solidFill>
            <a:srgbClr val="1A5C2C"/>
          </a:solidFill>
          <a:ln w="12700">
            <a:solidFill>
              <a:srgbClr val="1A5C2C"/>
            </a:solidFill>
            <a:prstDash val="solid"/>
          </a:ln>
        </p:spPr>
        <p:txBody>
          <a:bodyPr/>
          <a:p/>
        </p:txBody>
      </p:sp>
      <p:sp>
        <p:nvSpPr>
          <p:cNvPr id="14" name="Shape 10"/>
          <p:cNvSpPr/>
          <p:nvPr/>
        </p:nvSpPr>
        <p:spPr>
          <a:xfrm>
            <a:off x="8354568" y="1737360"/>
            <a:ext cx="640080" cy="640080"/>
          </a:xfrm>
          <a:prstGeom prst="ellipse">
            <a:avLst/>
          </a:prstGeom>
          <a:solidFill>
            <a:srgbClr val="C6A24C"/>
          </a:solidFill>
          <a:ln w="12700">
            <a:solidFill>
              <a:srgbClr val="C6A24C"/>
            </a:solidFill>
            <a:prstDash val="solid"/>
          </a:ln>
        </p:spPr>
        <p:txBody>
          <a:bodyPr/>
          <a:p/>
        </p:txBody>
      </p:sp>
      <p:pic>
        <p:nvPicPr>
          <p:cNvPr id="15" name="Image 2" descr="preencoded.png">    </p:cNvPr>
          <p:cNvPicPr>
            <a:picLocks noChangeAspect="1"/>
          </p:cNvPicPr>
          <p:nvPr/>
        </p:nvPicPr>
        <p:blipFill>
          <a:blip r:embed="rId3"/>
          <a:stretch>
            <a:fillRect/>
          </a:stretch>
        </p:blipFill>
        <p:spPr>
          <a:xfrm>
            <a:off x="8514588" y="1897380"/>
            <a:ext cx="320040" cy="320040"/>
          </a:xfrm>
          <a:prstGeom prst="rect">
            <a:avLst/>
          </a:prstGeom>
        </p:spPr>
      </p:pic>
      <p:sp>
        <p:nvSpPr>
          <p:cNvPr id="16" name="Text 11"/>
          <p:cNvSpPr txBox="1"/>
          <p:nvPr/>
        </p:nvSpPr>
        <p:spPr>
          <a:xfrm>
            <a:off x="8354568" y="2514600"/>
            <a:ext cx="3057144" cy="507492"/>
          </a:xfrm>
          <a:prstGeom prst="rect">
            <a:avLst/>
          </a:prstGeom>
          <a:noFill/>
          <a:ln/>
        </p:spPr>
        <p:txBody>
          <a:bodyPr wrap="square" lIns="0" tIns="0" rIns="0" bIns="0" rtlCol="0" anchor="t"/>
          <a:lstStyle/>
          <a:p>
            <a:pPr indent="0" marL="0">
              <a:buNone/>
            </a:pPr>
            <a:r>
              <a:rPr lang="en-US" sz="2600" b="1" dirty="0">
                <a:solidFill>
                  <a:srgbClr val="FFFFFF"/>
                </a:solidFill>
                <a:latin typeface="Cambria" pitchFamily="34" charset="0"/>
                <a:ea typeface="Cambria" pitchFamily="34" charset="-122"/>
                <a:cs typeface="Cambria" pitchFamily="34" charset="-120"/>
              </a:rPr>
              <a:t>The evidence</a:t>
            </a:r>
            <a:endParaRPr lang="en-US" sz="2600" dirty="0"/>
          </a:p>
        </p:txBody>
      </p:sp>
      <p:sp>
        <p:nvSpPr>
          <p:cNvPr id="17" name="Text 12"/>
          <p:cNvSpPr txBox="1"/>
          <p:nvPr/>
        </p:nvSpPr>
        <p:spPr>
          <a:xfrm>
            <a:off x="8354568" y="3159252"/>
            <a:ext cx="3057144" cy="2144268"/>
          </a:xfrm>
          <a:prstGeom prst="rect">
            <a:avLst/>
          </a:prstGeom>
          <a:noFill/>
          <a:ln/>
        </p:spPr>
        <p:txBody>
          <a:bodyPr wrap="square" lIns="0" tIns="0" rIns="0" bIns="0" rtlCol="0" anchor="t"/>
          <a:lstStyle/>
          <a:p>
            <a:pPr indent="0" marL="0">
              <a:buNone/>
            </a:pPr>
            <a:r>
              <a:rPr lang="en-US" sz="2400" dirty="0">
                <a:solidFill>
                  <a:srgbClr val="FFFFFF"/>
                </a:solidFill>
                <a:latin typeface="Calibri" pitchFamily="34" charset="0"/>
                <a:ea typeface="Calibri" pitchFamily="34" charset="-122"/>
                <a:cs typeface="Calibri" pitchFamily="34" charset="-120"/>
              </a:rPr>
              <a:t>The current result, or a realistic illustrative figure.</a:t>
            </a:r>
            <a:endParaRPr lang="en-US" sz="2400" dirty="0"/>
          </a:p>
        </p:txBody>
      </p:sp>
      <p:sp>
        <p:nvSpPr>
          <p:cNvPr id="18" name="Shape 13"/>
          <p:cNvSpPr/>
          <p:nvPr/>
        </p:nvSpPr>
        <p:spPr>
          <a:xfrm>
            <a:off x="548640" y="5623560"/>
            <a:ext cx="11091672" cy="777240"/>
          </a:xfrm>
          <a:prstGeom prst="roundRect">
            <a:avLst>
              <a:gd name="adj" fmla="val 11765"/>
            </a:avLst>
          </a:prstGeom>
          <a:solidFill>
            <a:srgbClr val="0F3B1C"/>
          </a:solidFill>
          <a:ln w="12700">
            <a:solidFill>
              <a:srgbClr val="0F3B1C"/>
            </a:solidFill>
            <a:prstDash val="solid"/>
          </a:ln>
        </p:spPr>
        <p:txBody>
          <a:bodyPr/>
          <a:p/>
        </p:txBody>
      </p:sp>
      <p:sp>
        <p:nvSpPr>
          <p:cNvPr id="19" name="Text 14"/>
          <p:cNvSpPr txBox="1"/>
          <p:nvPr/>
        </p:nvSpPr>
        <p:spPr>
          <a:xfrm>
            <a:off x="822960" y="5623560"/>
            <a:ext cx="10607040" cy="777240"/>
          </a:xfrm>
          <a:prstGeom prst="rect">
            <a:avLst/>
          </a:prstGeom>
          <a:noFill/>
          <a:ln/>
        </p:spPr>
        <p:txBody>
          <a:bodyPr wrap="square" lIns="0" tIns="0" rIns="0" bIns="0" rtlCol="0" anchor="ctr"/>
          <a:lstStyle/>
          <a:p>
            <a:pPr indent="0" marL="0">
              <a:buNone/>
            </a:pPr>
            <a:r>
              <a:rPr lang="en-US" sz="2400" i="1" dirty="0">
                <a:solidFill>
                  <a:srgbClr val="FFFFFF"/>
                </a:solidFill>
                <a:latin typeface="Calibri" pitchFamily="34" charset="0"/>
                <a:ea typeface="Calibri" pitchFamily="34" charset="-122"/>
                <a:cs typeface="Calibri" pitchFamily="34" charset="-120"/>
              </a:rPr>
              <a:t>Choose a challenge with a clear connection to disappointing results.</a:t>
            </a:r>
            <a:endParaRPr lang="en-US" sz="2400" dirty="0"/>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5.2 · Identify the performance clog</a:t>
            </a:r>
            <a:endParaRPr lang="en-US" sz="3600" dirty="0"/>
          </a:p>
        </p:txBody>
      </p:sp>
      <p:sp>
        <p:nvSpPr>
          <p:cNvPr id="3" name="Shape 1"/>
          <p:cNvSpPr/>
          <p:nvPr/>
        </p:nvSpPr>
        <p:spPr>
          <a:xfrm>
            <a:off x="548640" y="1613589"/>
            <a:ext cx="489204" cy="489204"/>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2"/>
          <a:stretch>
            <a:fillRect/>
          </a:stretch>
        </p:blipFill>
        <p:spPr>
          <a:xfrm>
            <a:off x="670941" y="1735890"/>
            <a:ext cx="244602" cy="244602"/>
          </a:xfrm>
          <a:prstGeom prst="rect">
            <a:avLst/>
          </a:prstGeom>
        </p:spPr>
      </p:pic>
      <p:sp>
        <p:nvSpPr>
          <p:cNvPr id="5" name="Text 2"/>
          <p:cNvSpPr txBox="1"/>
          <p:nvPr/>
        </p:nvSpPr>
        <p:spPr>
          <a:xfrm>
            <a:off x="1357884" y="1508760"/>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01 · Structural Misfit  </a:t>
            </a:r>
            <a:pPr indent="0" marL="0">
              <a:buNone/>
            </a:pPr>
            <a:r>
              <a:rPr lang="en-US" sz="2400" dirty="0">
                <a:solidFill>
                  <a:srgbClr val="1F2A22"/>
                </a:solidFill>
                <a:latin typeface="Calibri" pitchFamily="34" charset="0"/>
                <a:ea typeface="Calibri" pitchFamily="34" charset="-122"/>
                <a:cs typeface="Calibri" pitchFamily="34" charset="-120"/>
              </a:rPr>
              <a:t>Roles, ownership, coordination</a:t>
            </a:r>
            <a:endParaRPr lang="en-US" sz="2400" dirty="0"/>
          </a:p>
        </p:txBody>
      </p:sp>
      <p:sp>
        <p:nvSpPr>
          <p:cNvPr id="6" name="Shape 3"/>
          <p:cNvSpPr/>
          <p:nvPr/>
        </p:nvSpPr>
        <p:spPr>
          <a:xfrm>
            <a:off x="548640" y="2312452"/>
            <a:ext cx="489204" cy="489204"/>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3"/>
          <a:stretch>
            <a:fillRect/>
          </a:stretch>
        </p:blipFill>
        <p:spPr>
          <a:xfrm>
            <a:off x="670941" y="2434753"/>
            <a:ext cx="244602" cy="244602"/>
          </a:xfrm>
          <a:prstGeom prst="rect">
            <a:avLst/>
          </a:prstGeom>
        </p:spPr>
      </p:pic>
      <p:sp>
        <p:nvSpPr>
          <p:cNvPr id="8" name="Text 4"/>
          <p:cNvSpPr txBox="1"/>
          <p:nvPr/>
        </p:nvSpPr>
        <p:spPr>
          <a:xfrm>
            <a:off x="1357884" y="2207623"/>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02 · Capability Gaps  </a:t>
            </a:r>
            <a:pPr indent="0" marL="0">
              <a:buNone/>
            </a:pPr>
            <a:r>
              <a:rPr lang="en-US" sz="2400" dirty="0">
                <a:solidFill>
                  <a:srgbClr val="1F2A22"/>
                </a:solidFill>
                <a:latin typeface="Calibri" pitchFamily="34" charset="0"/>
                <a:ea typeface="Calibri" pitchFamily="34" charset="-122"/>
                <a:cs typeface="Calibri" pitchFamily="34" charset="-120"/>
              </a:rPr>
              <a:t>Skills, tools, capacity</a:t>
            </a:r>
            <a:endParaRPr lang="en-US" sz="2400" dirty="0"/>
          </a:p>
        </p:txBody>
      </p:sp>
      <p:sp>
        <p:nvSpPr>
          <p:cNvPr id="9" name="Shape 5"/>
          <p:cNvSpPr/>
          <p:nvPr/>
        </p:nvSpPr>
        <p:spPr>
          <a:xfrm>
            <a:off x="548640" y="3011315"/>
            <a:ext cx="489204" cy="489204"/>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4"/>
          <a:stretch>
            <a:fillRect/>
          </a:stretch>
        </p:blipFill>
        <p:spPr>
          <a:xfrm>
            <a:off x="670941" y="3133616"/>
            <a:ext cx="244602" cy="244602"/>
          </a:xfrm>
          <a:prstGeom prst="rect">
            <a:avLst/>
          </a:prstGeom>
        </p:spPr>
      </p:pic>
      <p:sp>
        <p:nvSpPr>
          <p:cNvPr id="11" name="Text 6"/>
          <p:cNvSpPr txBox="1"/>
          <p:nvPr/>
        </p:nvSpPr>
        <p:spPr>
          <a:xfrm>
            <a:off x="1357884" y="2906486"/>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03 · Decision Bottlenecks  </a:t>
            </a:r>
            <a:pPr indent="0" marL="0">
              <a:buNone/>
            </a:pPr>
            <a:r>
              <a:rPr lang="en-US" sz="2400" dirty="0">
                <a:solidFill>
                  <a:srgbClr val="1F2A22"/>
                </a:solidFill>
                <a:latin typeface="Calibri" pitchFamily="34" charset="0"/>
                <a:ea typeface="Calibri" pitchFamily="34" charset="-122"/>
                <a:cs typeface="Calibri" pitchFamily="34" charset="-120"/>
              </a:rPr>
              <a:t>Authority, approvals, escalation</a:t>
            </a:r>
            <a:endParaRPr lang="en-US" sz="2400" dirty="0"/>
          </a:p>
        </p:txBody>
      </p:sp>
      <p:sp>
        <p:nvSpPr>
          <p:cNvPr id="12" name="Shape 7"/>
          <p:cNvSpPr/>
          <p:nvPr/>
        </p:nvSpPr>
        <p:spPr>
          <a:xfrm>
            <a:off x="548640" y="3710178"/>
            <a:ext cx="489204" cy="489204"/>
          </a:xfrm>
          <a:prstGeom prst="ellipse">
            <a:avLst/>
          </a:prstGeom>
          <a:solidFill>
            <a:srgbClr val="1A5C2C"/>
          </a:solidFill>
          <a:ln w="12700">
            <a:solidFill>
              <a:srgbClr val="1A5C2C"/>
            </a:solidFill>
            <a:prstDash val="solid"/>
          </a:ln>
        </p:spPr>
        <p:txBody>
          <a:bodyPr/>
          <a:p/>
        </p:txBody>
      </p:sp>
      <p:pic>
        <p:nvPicPr>
          <p:cNvPr id="13" name="Image 3" descr="preencoded.png">    </p:cNvPr>
          <p:cNvPicPr>
            <a:picLocks noChangeAspect="1"/>
          </p:cNvPicPr>
          <p:nvPr/>
        </p:nvPicPr>
        <p:blipFill>
          <a:blip r:embed="rId5"/>
          <a:stretch>
            <a:fillRect/>
          </a:stretch>
        </p:blipFill>
        <p:spPr>
          <a:xfrm>
            <a:off x="670941" y="3832479"/>
            <a:ext cx="244602" cy="244602"/>
          </a:xfrm>
          <a:prstGeom prst="rect">
            <a:avLst/>
          </a:prstGeom>
        </p:spPr>
      </p:pic>
      <p:sp>
        <p:nvSpPr>
          <p:cNvPr id="14" name="Text 8"/>
          <p:cNvSpPr txBox="1"/>
          <p:nvPr/>
        </p:nvSpPr>
        <p:spPr>
          <a:xfrm>
            <a:off x="1357884" y="3605349"/>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04 · Misaligned Metrics &amp; Incentives  </a:t>
            </a:r>
            <a:pPr indent="0" marL="0">
              <a:buNone/>
            </a:pPr>
            <a:r>
              <a:rPr lang="en-US" sz="2400" dirty="0">
                <a:solidFill>
                  <a:srgbClr val="1F2A22"/>
                </a:solidFill>
                <a:latin typeface="Calibri" pitchFamily="34" charset="0"/>
                <a:ea typeface="Calibri" pitchFamily="34" charset="-122"/>
                <a:cs typeface="Calibri" pitchFamily="34" charset="-120"/>
              </a:rPr>
              <a:t>Measures and rewards</a:t>
            </a:r>
            <a:endParaRPr lang="en-US" sz="2400" dirty="0"/>
          </a:p>
        </p:txBody>
      </p:sp>
      <p:sp>
        <p:nvSpPr>
          <p:cNvPr id="15" name="Shape 9"/>
          <p:cNvSpPr/>
          <p:nvPr/>
        </p:nvSpPr>
        <p:spPr>
          <a:xfrm>
            <a:off x="548640" y="4409041"/>
            <a:ext cx="489204" cy="489204"/>
          </a:xfrm>
          <a:prstGeom prst="ellipse">
            <a:avLst/>
          </a:prstGeom>
          <a:solidFill>
            <a:srgbClr val="1A5C2C"/>
          </a:solidFill>
          <a:ln w="12700">
            <a:solidFill>
              <a:srgbClr val="1A5C2C"/>
            </a:solidFill>
            <a:prstDash val="solid"/>
          </a:ln>
        </p:spPr>
        <p:txBody>
          <a:bodyPr/>
          <a:p/>
        </p:txBody>
      </p:sp>
      <p:pic>
        <p:nvPicPr>
          <p:cNvPr id="16" name="Image 4" descr="preencoded.png">    </p:cNvPr>
          <p:cNvPicPr>
            <a:picLocks noChangeAspect="1"/>
          </p:cNvPicPr>
          <p:nvPr/>
        </p:nvPicPr>
        <p:blipFill>
          <a:blip r:embed="rId6"/>
          <a:stretch>
            <a:fillRect/>
          </a:stretch>
        </p:blipFill>
        <p:spPr>
          <a:xfrm>
            <a:off x="670941" y="4531342"/>
            <a:ext cx="244602" cy="244602"/>
          </a:xfrm>
          <a:prstGeom prst="rect">
            <a:avLst/>
          </a:prstGeom>
        </p:spPr>
      </p:pic>
      <p:sp>
        <p:nvSpPr>
          <p:cNvPr id="17" name="Text 10"/>
          <p:cNvSpPr txBox="1"/>
          <p:nvPr/>
        </p:nvSpPr>
        <p:spPr>
          <a:xfrm>
            <a:off x="1357884" y="4304211"/>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05 · Cultural Resistance  </a:t>
            </a:r>
            <a:pPr indent="0" marL="0">
              <a:buNone/>
            </a:pPr>
            <a:r>
              <a:rPr lang="en-US" sz="2400" dirty="0">
                <a:solidFill>
                  <a:srgbClr val="1F2A22"/>
                </a:solidFill>
                <a:latin typeface="Calibri" pitchFamily="34" charset="0"/>
                <a:ea typeface="Calibri" pitchFamily="34" charset="-122"/>
                <a:cs typeface="Calibri" pitchFamily="34" charset="-120"/>
              </a:rPr>
              <a:t>Beliefs, norms, habits</a:t>
            </a:r>
            <a:endParaRPr lang="en-US" sz="2400" dirty="0"/>
          </a:p>
        </p:txBody>
      </p:sp>
      <p:sp>
        <p:nvSpPr>
          <p:cNvPr id="18" name="Shape 11"/>
          <p:cNvSpPr/>
          <p:nvPr/>
        </p:nvSpPr>
        <p:spPr>
          <a:xfrm>
            <a:off x="548640" y="5107904"/>
            <a:ext cx="489204" cy="489204"/>
          </a:xfrm>
          <a:prstGeom prst="ellipse">
            <a:avLst/>
          </a:prstGeom>
          <a:solidFill>
            <a:srgbClr val="1A5C2C"/>
          </a:solidFill>
          <a:ln w="12700">
            <a:solidFill>
              <a:srgbClr val="1A5C2C"/>
            </a:solidFill>
            <a:prstDash val="solid"/>
          </a:ln>
        </p:spPr>
        <p:txBody>
          <a:bodyPr/>
          <a:p/>
        </p:txBody>
      </p:sp>
      <p:pic>
        <p:nvPicPr>
          <p:cNvPr id="19" name="Image 5" descr="preencoded.png">    </p:cNvPr>
          <p:cNvPicPr>
            <a:picLocks noChangeAspect="1"/>
          </p:cNvPicPr>
          <p:nvPr/>
        </p:nvPicPr>
        <p:blipFill>
          <a:blip r:embed="rId7"/>
          <a:stretch>
            <a:fillRect/>
          </a:stretch>
        </p:blipFill>
        <p:spPr>
          <a:xfrm>
            <a:off x="670941" y="5230205"/>
            <a:ext cx="244602" cy="244602"/>
          </a:xfrm>
          <a:prstGeom prst="rect">
            <a:avLst/>
          </a:prstGeom>
        </p:spPr>
      </p:pic>
      <p:sp>
        <p:nvSpPr>
          <p:cNvPr id="20" name="Text 12"/>
          <p:cNvSpPr txBox="1"/>
          <p:nvPr/>
        </p:nvSpPr>
        <p:spPr>
          <a:xfrm>
            <a:off x="1357884" y="5003074"/>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06 · Technology / Infrastructure Lag  </a:t>
            </a:r>
            <a:pPr indent="0" marL="0">
              <a:buNone/>
            </a:pPr>
            <a:r>
              <a:rPr lang="en-US" sz="2400" dirty="0">
                <a:solidFill>
                  <a:srgbClr val="1F2A22"/>
                </a:solidFill>
                <a:latin typeface="Calibri" pitchFamily="34" charset="0"/>
                <a:ea typeface="Calibri" pitchFamily="34" charset="-122"/>
                <a:cs typeface="Calibri" pitchFamily="34" charset="-120"/>
              </a:rPr>
              <a:t>Systems, information</a:t>
            </a:r>
            <a:endParaRPr lang="en-US" sz="2400" dirty="0"/>
          </a:p>
        </p:txBody>
      </p:sp>
      <p:sp>
        <p:nvSpPr>
          <p:cNvPr id="21" name="Shape 13"/>
          <p:cNvSpPr/>
          <p:nvPr/>
        </p:nvSpPr>
        <p:spPr>
          <a:xfrm>
            <a:off x="548640" y="5806767"/>
            <a:ext cx="489204" cy="489204"/>
          </a:xfrm>
          <a:prstGeom prst="ellipse">
            <a:avLst/>
          </a:prstGeom>
          <a:solidFill>
            <a:srgbClr val="C6A24C"/>
          </a:solidFill>
          <a:ln w="12700">
            <a:solidFill>
              <a:srgbClr val="C6A24C"/>
            </a:solidFill>
            <a:prstDash val="solid"/>
          </a:ln>
        </p:spPr>
        <p:txBody>
          <a:bodyPr/>
          <a:p/>
        </p:txBody>
      </p:sp>
      <p:pic>
        <p:nvPicPr>
          <p:cNvPr id="22" name="Image 6" descr="preencoded.png">    </p:cNvPr>
          <p:cNvPicPr>
            <a:picLocks noChangeAspect="1"/>
          </p:cNvPicPr>
          <p:nvPr/>
        </p:nvPicPr>
        <p:blipFill>
          <a:blip r:embed="rId8"/>
          <a:stretch>
            <a:fillRect/>
          </a:stretch>
        </p:blipFill>
        <p:spPr>
          <a:xfrm>
            <a:off x="670941" y="5929068"/>
            <a:ext cx="244602" cy="244602"/>
          </a:xfrm>
          <a:prstGeom prst="rect">
            <a:avLst/>
          </a:prstGeom>
        </p:spPr>
      </p:pic>
      <p:sp>
        <p:nvSpPr>
          <p:cNvPr id="23" name="Text 14"/>
          <p:cNvSpPr txBox="1"/>
          <p:nvPr/>
        </p:nvSpPr>
        <p:spPr>
          <a:xfrm>
            <a:off x="1357884" y="5701937"/>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07 · Leadership Avoidance  </a:t>
            </a:r>
            <a:pPr indent="0" marL="0">
              <a:buNone/>
            </a:pPr>
            <a:r>
              <a:rPr lang="en-US" sz="2400" dirty="0">
                <a:solidFill>
                  <a:srgbClr val="1F2A22"/>
                </a:solidFill>
                <a:latin typeface="Calibri" pitchFamily="34" charset="0"/>
                <a:ea typeface="Calibri" pitchFamily="34" charset="-122"/>
                <a:cs typeface="Calibri" pitchFamily="34" charset="-120"/>
              </a:rPr>
              <a:t>Unresolved decisions, trade-offs</a:t>
            </a:r>
            <a:endParaRPr lang="en-US" sz="2400" dirty="0"/>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5.3 · Select the Strategic Unclogging Lever</a:t>
            </a:r>
            <a:endParaRPr lang="en-US" sz="3600" dirty="0"/>
          </a:p>
        </p:txBody>
      </p:sp>
      <p:sp>
        <p:nvSpPr>
          <p:cNvPr id="3" name="Shape 1"/>
          <p:cNvSpPr/>
          <p:nvPr/>
        </p:nvSpPr>
        <p:spPr>
          <a:xfrm>
            <a:off x="548640" y="1613589"/>
            <a:ext cx="489204" cy="489204"/>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2"/>
          <a:stretch>
            <a:fillRect/>
          </a:stretch>
        </p:blipFill>
        <p:spPr>
          <a:xfrm>
            <a:off x="670941" y="1735890"/>
            <a:ext cx="244602" cy="244602"/>
          </a:xfrm>
          <a:prstGeom prst="rect">
            <a:avLst/>
          </a:prstGeom>
        </p:spPr>
      </p:pic>
      <p:sp>
        <p:nvSpPr>
          <p:cNvPr id="5" name="Text 2"/>
          <p:cNvSpPr txBox="1"/>
          <p:nvPr/>
        </p:nvSpPr>
        <p:spPr>
          <a:xfrm>
            <a:off x="1357884" y="1508760"/>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01 · Standardise  </a:t>
            </a:r>
            <a:pPr indent="0" marL="0">
              <a:buNone/>
            </a:pPr>
            <a:r>
              <a:rPr lang="en-US" sz="2400" dirty="0">
                <a:solidFill>
                  <a:srgbClr val="1F2A22"/>
                </a:solidFill>
                <a:latin typeface="Calibri" pitchFamily="34" charset="0"/>
                <a:ea typeface="Calibri" pitchFamily="34" charset="-122"/>
                <a:cs typeface="Calibri" pitchFamily="34" charset="-120"/>
              </a:rPr>
              <a:t>ensure consistency</a:t>
            </a:r>
            <a:endParaRPr lang="en-US" sz="2400" dirty="0"/>
          </a:p>
        </p:txBody>
      </p:sp>
      <p:sp>
        <p:nvSpPr>
          <p:cNvPr id="6" name="Shape 3"/>
          <p:cNvSpPr/>
          <p:nvPr/>
        </p:nvSpPr>
        <p:spPr>
          <a:xfrm>
            <a:off x="548640" y="2312452"/>
            <a:ext cx="489204" cy="489204"/>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3"/>
          <a:stretch>
            <a:fillRect/>
          </a:stretch>
        </p:blipFill>
        <p:spPr>
          <a:xfrm>
            <a:off x="670941" y="2434753"/>
            <a:ext cx="244602" cy="244602"/>
          </a:xfrm>
          <a:prstGeom prst="rect">
            <a:avLst/>
          </a:prstGeom>
        </p:spPr>
      </p:pic>
      <p:sp>
        <p:nvSpPr>
          <p:cNvPr id="8" name="Text 4"/>
          <p:cNvSpPr txBox="1"/>
          <p:nvPr/>
        </p:nvSpPr>
        <p:spPr>
          <a:xfrm>
            <a:off x="1357884" y="2207623"/>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02 · Streamline  </a:t>
            </a:r>
            <a:pPr indent="0" marL="0">
              <a:buNone/>
            </a:pPr>
            <a:r>
              <a:rPr lang="en-US" sz="2400" dirty="0">
                <a:solidFill>
                  <a:srgbClr val="1F2A22"/>
                </a:solidFill>
                <a:latin typeface="Calibri" pitchFamily="34" charset="0"/>
                <a:ea typeface="Calibri" pitchFamily="34" charset="-122"/>
                <a:cs typeface="Calibri" pitchFamily="34" charset="-120"/>
              </a:rPr>
              <a:t>increase speed</a:t>
            </a:r>
            <a:endParaRPr lang="en-US" sz="2400" dirty="0"/>
          </a:p>
        </p:txBody>
      </p:sp>
      <p:sp>
        <p:nvSpPr>
          <p:cNvPr id="9" name="Shape 5"/>
          <p:cNvSpPr/>
          <p:nvPr/>
        </p:nvSpPr>
        <p:spPr>
          <a:xfrm>
            <a:off x="548640" y="3011315"/>
            <a:ext cx="489204" cy="489204"/>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4"/>
          <a:stretch>
            <a:fillRect/>
          </a:stretch>
        </p:blipFill>
        <p:spPr>
          <a:xfrm>
            <a:off x="670941" y="3133616"/>
            <a:ext cx="244602" cy="244602"/>
          </a:xfrm>
          <a:prstGeom prst="rect">
            <a:avLst/>
          </a:prstGeom>
        </p:spPr>
      </p:pic>
      <p:sp>
        <p:nvSpPr>
          <p:cNvPr id="11" name="Text 6"/>
          <p:cNvSpPr txBox="1"/>
          <p:nvPr/>
        </p:nvSpPr>
        <p:spPr>
          <a:xfrm>
            <a:off x="1357884" y="2906486"/>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03 · Clarify  </a:t>
            </a:r>
            <a:pPr indent="0" marL="0">
              <a:buNone/>
            </a:pPr>
            <a:r>
              <a:rPr lang="en-US" sz="2400" dirty="0">
                <a:solidFill>
                  <a:srgbClr val="1F2A22"/>
                </a:solidFill>
                <a:latin typeface="Calibri" pitchFamily="34" charset="0"/>
                <a:ea typeface="Calibri" pitchFamily="34" charset="-122"/>
                <a:cs typeface="Calibri" pitchFamily="34" charset="-120"/>
              </a:rPr>
              <a:t>eliminate confusion</a:t>
            </a:r>
            <a:endParaRPr lang="en-US" sz="2400" dirty="0"/>
          </a:p>
        </p:txBody>
      </p:sp>
      <p:sp>
        <p:nvSpPr>
          <p:cNvPr id="12" name="Shape 7"/>
          <p:cNvSpPr/>
          <p:nvPr/>
        </p:nvSpPr>
        <p:spPr>
          <a:xfrm>
            <a:off x="548640" y="3710178"/>
            <a:ext cx="489204" cy="489204"/>
          </a:xfrm>
          <a:prstGeom prst="ellipse">
            <a:avLst/>
          </a:prstGeom>
          <a:solidFill>
            <a:srgbClr val="1A5C2C"/>
          </a:solidFill>
          <a:ln w="12700">
            <a:solidFill>
              <a:srgbClr val="1A5C2C"/>
            </a:solidFill>
            <a:prstDash val="solid"/>
          </a:ln>
        </p:spPr>
        <p:txBody>
          <a:bodyPr/>
          <a:p/>
        </p:txBody>
      </p:sp>
      <p:pic>
        <p:nvPicPr>
          <p:cNvPr id="13" name="Image 3" descr="preencoded.png">    </p:cNvPr>
          <p:cNvPicPr>
            <a:picLocks noChangeAspect="1"/>
          </p:cNvPicPr>
          <p:nvPr/>
        </p:nvPicPr>
        <p:blipFill>
          <a:blip r:embed="rId5"/>
          <a:stretch>
            <a:fillRect/>
          </a:stretch>
        </p:blipFill>
        <p:spPr>
          <a:xfrm>
            <a:off x="670941" y="3832479"/>
            <a:ext cx="244602" cy="244602"/>
          </a:xfrm>
          <a:prstGeom prst="rect">
            <a:avLst/>
          </a:prstGeom>
        </p:spPr>
      </p:pic>
      <p:sp>
        <p:nvSpPr>
          <p:cNvPr id="14" name="Text 8"/>
          <p:cNvSpPr txBox="1"/>
          <p:nvPr/>
        </p:nvSpPr>
        <p:spPr>
          <a:xfrm>
            <a:off x="1357884" y="3605349"/>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04 · Upgrade  </a:t>
            </a:r>
            <a:pPr indent="0" marL="0">
              <a:buNone/>
            </a:pPr>
            <a:r>
              <a:rPr lang="en-US" sz="2400" dirty="0">
                <a:solidFill>
                  <a:srgbClr val="1F2A22"/>
                </a:solidFill>
                <a:latin typeface="Calibri" pitchFamily="34" charset="0"/>
                <a:ea typeface="Calibri" pitchFamily="34" charset="-122"/>
                <a:cs typeface="Calibri" pitchFamily="34" charset="-120"/>
              </a:rPr>
              <a:t>remove bottlenecks</a:t>
            </a:r>
            <a:endParaRPr lang="en-US" sz="2400" dirty="0"/>
          </a:p>
        </p:txBody>
      </p:sp>
      <p:sp>
        <p:nvSpPr>
          <p:cNvPr id="15" name="Shape 9"/>
          <p:cNvSpPr/>
          <p:nvPr/>
        </p:nvSpPr>
        <p:spPr>
          <a:xfrm>
            <a:off x="548640" y="4409041"/>
            <a:ext cx="489204" cy="489204"/>
          </a:xfrm>
          <a:prstGeom prst="ellipse">
            <a:avLst/>
          </a:prstGeom>
          <a:solidFill>
            <a:srgbClr val="1A5C2C"/>
          </a:solidFill>
          <a:ln w="12700">
            <a:solidFill>
              <a:srgbClr val="1A5C2C"/>
            </a:solidFill>
            <a:prstDash val="solid"/>
          </a:ln>
        </p:spPr>
        <p:txBody>
          <a:bodyPr/>
          <a:p/>
        </p:txBody>
      </p:sp>
      <p:pic>
        <p:nvPicPr>
          <p:cNvPr id="16" name="Image 4" descr="preencoded.png">    </p:cNvPr>
          <p:cNvPicPr>
            <a:picLocks noChangeAspect="1"/>
          </p:cNvPicPr>
          <p:nvPr/>
        </p:nvPicPr>
        <p:blipFill>
          <a:blip r:embed="rId6"/>
          <a:stretch>
            <a:fillRect/>
          </a:stretch>
        </p:blipFill>
        <p:spPr>
          <a:xfrm>
            <a:off x="670941" y="4531342"/>
            <a:ext cx="244602" cy="244602"/>
          </a:xfrm>
          <a:prstGeom prst="rect">
            <a:avLst/>
          </a:prstGeom>
        </p:spPr>
      </p:pic>
      <p:sp>
        <p:nvSpPr>
          <p:cNvPr id="17" name="Text 10"/>
          <p:cNvSpPr txBox="1"/>
          <p:nvPr/>
        </p:nvSpPr>
        <p:spPr>
          <a:xfrm>
            <a:off x="1357884" y="4304211"/>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05 · Reinforce  </a:t>
            </a:r>
            <a:pPr indent="0" marL="0">
              <a:buNone/>
            </a:pPr>
            <a:r>
              <a:rPr lang="en-US" sz="2400" dirty="0">
                <a:solidFill>
                  <a:srgbClr val="1F2A22"/>
                </a:solidFill>
                <a:latin typeface="Calibri" pitchFamily="34" charset="0"/>
                <a:ea typeface="Calibri" pitchFamily="34" charset="-122"/>
                <a:cs typeface="Calibri" pitchFamily="34" charset="-120"/>
              </a:rPr>
              <a:t>strengthen behaviour</a:t>
            </a:r>
            <a:endParaRPr lang="en-US" sz="2400" dirty="0"/>
          </a:p>
        </p:txBody>
      </p:sp>
      <p:sp>
        <p:nvSpPr>
          <p:cNvPr id="18" name="Shape 11"/>
          <p:cNvSpPr/>
          <p:nvPr/>
        </p:nvSpPr>
        <p:spPr>
          <a:xfrm>
            <a:off x="548640" y="5107904"/>
            <a:ext cx="489204" cy="489204"/>
          </a:xfrm>
          <a:prstGeom prst="ellipse">
            <a:avLst/>
          </a:prstGeom>
          <a:solidFill>
            <a:srgbClr val="1A5C2C"/>
          </a:solidFill>
          <a:ln w="12700">
            <a:solidFill>
              <a:srgbClr val="1A5C2C"/>
            </a:solidFill>
            <a:prstDash val="solid"/>
          </a:ln>
        </p:spPr>
        <p:txBody>
          <a:bodyPr/>
          <a:p/>
        </p:txBody>
      </p:sp>
      <p:pic>
        <p:nvPicPr>
          <p:cNvPr id="19" name="Image 5" descr="preencoded.png">    </p:cNvPr>
          <p:cNvPicPr>
            <a:picLocks noChangeAspect="1"/>
          </p:cNvPicPr>
          <p:nvPr/>
        </p:nvPicPr>
        <p:blipFill>
          <a:blip r:embed="rId7"/>
          <a:stretch>
            <a:fillRect/>
          </a:stretch>
        </p:blipFill>
        <p:spPr>
          <a:xfrm>
            <a:off x="670941" y="5230205"/>
            <a:ext cx="244602" cy="244602"/>
          </a:xfrm>
          <a:prstGeom prst="rect">
            <a:avLst/>
          </a:prstGeom>
        </p:spPr>
      </p:pic>
      <p:sp>
        <p:nvSpPr>
          <p:cNvPr id="20" name="Text 12"/>
          <p:cNvSpPr txBox="1"/>
          <p:nvPr/>
        </p:nvSpPr>
        <p:spPr>
          <a:xfrm>
            <a:off x="1357884" y="5003074"/>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06 · Realign  </a:t>
            </a:r>
            <a:pPr indent="0" marL="0">
              <a:buNone/>
            </a:pPr>
            <a:r>
              <a:rPr lang="en-US" sz="2400" dirty="0">
                <a:solidFill>
                  <a:srgbClr val="1F2A22"/>
                </a:solidFill>
                <a:latin typeface="Calibri" pitchFamily="34" charset="0"/>
                <a:ea typeface="Calibri" pitchFamily="34" charset="-122"/>
                <a:cs typeface="Calibri" pitchFamily="34" charset="-120"/>
              </a:rPr>
              <a:t>focus on results</a:t>
            </a:r>
            <a:endParaRPr lang="en-US" sz="2400" dirty="0"/>
          </a:p>
        </p:txBody>
      </p:sp>
      <p:sp>
        <p:nvSpPr>
          <p:cNvPr id="21" name="Shape 13"/>
          <p:cNvSpPr/>
          <p:nvPr/>
        </p:nvSpPr>
        <p:spPr>
          <a:xfrm>
            <a:off x="548640" y="5806767"/>
            <a:ext cx="489204" cy="489204"/>
          </a:xfrm>
          <a:prstGeom prst="ellipse">
            <a:avLst/>
          </a:prstGeom>
          <a:solidFill>
            <a:srgbClr val="C6A24C"/>
          </a:solidFill>
          <a:ln w="12700">
            <a:solidFill>
              <a:srgbClr val="C6A24C"/>
            </a:solidFill>
            <a:prstDash val="solid"/>
          </a:ln>
        </p:spPr>
        <p:txBody>
          <a:bodyPr/>
          <a:p/>
        </p:txBody>
      </p:sp>
      <p:pic>
        <p:nvPicPr>
          <p:cNvPr id="22" name="Image 6" descr="preencoded.png">    </p:cNvPr>
          <p:cNvPicPr>
            <a:picLocks noChangeAspect="1"/>
          </p:cNvPicPr>
          <p:nvPr/>
        </p:nvPicPr>
        <p:blipFill>
          <a:blip r:embed="rId8"/>
          <a:stretch>
            <a:fillRect/>
          </a:stretch>
        </p:blipFill>
        <p:spPr>
          <a:xfrm>
            <a:off x="670941" y="5929068"/>
            <a:ext cx="244602" cy="244602"/>
          </a:xfrm>
          <a:prstGeom prst="rect">
            <a:avLst/>
          </a:prstGeom>
        </p:spPr>
      </p:pic>
      <p:sp>
        <p:nvSpPr>
          <p:cNvPr id="23" name="Text 14"/>
          <p:cNvSpPr txBox="1"/>
          <p:nvPr/>
        </p:nvSpPr>
        <p:spPr>
          <a:xfrm>
            <a:off x="1357884" y="5701937"/>
            <a:ext cx="10282428" cy="698863"/>
          </a:xfrm>
          <a:prstGeom prst="rect">
            <a:avLst/>
          </a:prstGeom>
          <a:noFill/>
          <a:ln/>
        </p:spPr>
        <p:txBody>
          <a:bodyPr wrap="square" lIns="0" tIns="0" rIns="0" bIns="0" rtlCol="0" anchor="ctr"/>
          <a:lstStyle/>
          <a:p>
            <a:pPr indent="0" marL="0">
              <a:buNone/>
            </a:pPr>
            <a:r>
              <a:rPr lang="en-US" sz="2400" b="1" dirty="0">
                <a:solidFill>
                  <a:srgbClr val="1A5C2C"/>
                </a:solidFill>
                <a:latin typeface="Cambria" pitchFamily="34" charset="0"/>
                <a:ea typeface="Cambria" pitchFamily="34" charset="-122"/>
                <a:cs typeface="Cambria" pitchFamily="34" charset="-120"/>
              </a:rPr>
              <a:t>07 · Rebuild Trust  </a:t>
            </a:r>
            <a:pPr indent="0" marL="0">
              <a:buNone/>
            </a:pPr>
            <a:r>
              <a:rPr lang="en-US" sz="2400" dirty="0">
                <a:solidFill>
                  <a:srgbClr val="1F2A22"/>
                </a:solidFill>
                <a:latin typeface="Calibri" pitchFamily="34" charset="0"/>
                <a:ea typeface="Calibri" pitchFamily="34" charset="-122"/>
                <a:cs typeface="Calibri" pitchFamily="34" charset="-120"/>
              </a:rPr>
              <a:t>restore credibility</a:t>
            </a:r>
            <a:endParaRPr lang="en-US" sz="2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5.4 · Simulate the Unclogging Cycle</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1"/>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REVIEW  </a:t>
            </a:r>
            <a:pPr indent="0" marL="0">
              <a:buNone/>
            </a:pPr>
            <a:r>
              <a:rPr lang="en-US" sz="2600" dirty="0">
                <a:solidFill>
                  <a:srgbClr val="1F2A22"/>
                </a:solidFill>
                <a:latin typeface="Calibri" pitchFamily="34" charset="0"/>
                <a:ea typeface="Calibri" pitchFamily="34" charset="-122"/>
                <a:cs typeface="Calibri" pitchFamily="34" charset="-120"/>
              </a:rPr>
              <a:t>test the diagnosis against the evidence</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2"/>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REALIGN  </a:t>
            </a:r>
            <a:pPr indent="0" marL="0">
              <a:buNone/>
            </a:pPr>
            <a:r>
              <a:rPr lang="en-US" sz="2600" dirty="0">
                <a:solidFill>
                  <a:srgbClr val="1F2A22"/>
                </a:solidFill>
                <a:latin typeface="Calibri" pitchFamily="34" charset="0"/>
                <a:ea typeface="Calibri" pitchFamily="34" charset="-122"/>
                <a:cs typeface="Calibri" pitchFamily="34" charset="-120"/>
              </a:rPr>
              <a:t>agree what must change, and who acts</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RESTORE  </a:t>
            </a:r>
            <a:pPr indent="0" marL="0">
              <a:buNone/>
            </a:pPr>
            <a:r>
              <a:rPr lang="en-US" sz="2600" dirty="0">
                <a:solidFill>
                  <a:srgbClr val="1F2A22"/>
                </a:solidFill>
                <a:latin typeface="Calibri" pitchFamily="34" charset="0"/>
                <a:ea typeface="Calibri" pitchFamily="34" charset="-122"/>
                <a:cs typeface="Calibri" pitchFamily="34" charset="-120"/>
              </a:rPr>
              <a:t>apply the lever, with owners and dates</a:t>
            </a:r>
            <a:endParaRPr lang="en-US" sz="2600" dirty="0"/>
          </a:p>
        </p:txBody>
      </p:sp>
      <p:sp>
        <p:nvSpPr>
          <p:cNvPr id="12" name="Shape 7"/>
          <p:cNvSpPr/>
          <p:nvPr/>
        </p:nvSpPr>
        <p:spPr>
          <a:xfrm>
            <a:off x="548640" y="5469255"/>
            <a:ext cx="640080" cy="640080"/>
          </a:xfrm>
          <a:prstGeom prst="ellipse">
            <a:avLst/>
          </a:prstGeom>
          <a:solidFill>
            <a:srgbClr val="C6A24C"/>
          </a:solidFill>
          <a:ln w="12700">
            <a:solidFill>
              <a:srgbClr val="C6A24C"/>
            </a:solidFill>
            <a:prstDash val="solid"/>
          </a:ln>
        </p:spPr>
        <p:txBody>
          <a:bodyPr/>
          <a:p/>
        </p:txBody>
      </p:sp>
      <p:pic>
        <p:nvPicPr>
          <p:cNvPr id="13" name="Image 3" descr="preencoded.png">    </p:cNvPr>
          <p:cNvPicPr>
            <a:picLocks noChangeAspect="1"/>
          </p:cNvPicPr>
          <p:nvPr/>
        </p:nvPicPr>
        <p:blipFill>
          <a:blip r:embed="rId4"/>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Evidence  </a:t>
            </a:r>
            <a:pPr indent="0" marL="0">
              <a:buNone/>
            </a:pPr>
            <a:r>
              <a:rPr lang="en-US" sz="2600" dirty="0">
                <a:solidFill>
                  <a:srgbClr val="1F2A22"/>
                </a:solidFill>
                <a:latin typeface="Calibri" pitchFamily="34" charset="0"/>
                <a:ea typeface="Calibri" pitchFamily="34" charset="-122"/>
                <a:cs typeface="Calibri" pitchFamily="34" charset="-120"/>
              </a:rPr>
              <a:t>of recovery, on both sides</a:t>
            </a:r>
            <a:endParaRPr lang="en-US" sz="26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5.5 · Diagnostic quality check</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1"/>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01  </a:t>
            </a:r>
            <a:pPr indent="0" marL="0">
              <a:buNone/>
            </a:pPr>
            <a:r>
              <a:rPr lang="en-US" sz="2600" dirty="0">
                <a:solidFill>
                  <a:srgbClr val="1F2A22"/>
                </a:solidFill>
                <a:latin typeface="Calibri" pitchFamily="34" charset="0"/>
                <a:ea typeface="Calibri" pitchFamily="34" charset="-122"/>
                <a:cs typeface="Calibri" pitchFamily="34" charset="-120"/>
              </a:rPr>
              <a:t>Linked to a specific strategic result</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2"/>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02  </a:t>
            </a:r>
            <a:pPr indent="0" marL="0">
              <a:buNone/>
            </a:pPr>
            <a:r>
              <a:rPr lang="en-US" sz="2600" dirty="0">
                <a:solidFill>
                  <a:srgbClr val="1F2A22"/>
                </a:solidFill>
                <a:latin typeface="Calibri" pitchFamily="34" charset="0"/>
                <a:ea typeface="Calibri" pitchFamily="34" charset="-122"/>
                <a:cs typeface="Calibri" pitchFamily="34" charset="-120"/>
              </a:rPr>
              <a:t>The clog names the condition behind the symptom</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3"/>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03  </a:t>
            </a:r>
            <a:pPr indent="0" marL="0">
              <a:buNone/>
            </a:pPr>
            <a:r>
              <a:rPr lang="en-US" sz="2600" dirty="0">
                <a:solidFill>
                  <a:srgbClr val="1F2A22"/>
                </a:solidFill>
                <a:latin typeface="Calibri" pitchFamily="34" charset="0"/>
                <a:ea typeface="Calibri" pitchFamily="34" charset="-122"/>
                <a:cs typeface="Calibri" pitchFamily="34" charset="-120"/>
              </a:rPr>
              <a:t>The lever fits; both sides are considered</a:t>
            </a:r>
            <a:endParaRPr lang="en-US" sz="2600" dirty="0"/>
          </a:p>
        </p:txBody>
      </p:sp>
      <p:sp>
        <p:nvSpPr>
          <p:cNvPr id="12" name="Shape 7"/>
          <p:cNvSpPr/>
          <p:nvPr/>
        </p:nvSpPr>
        <p:spPr>
          <a:xfrm>
            <a:off x="548640" y="5469255"/>
            <a:ext cx="640080" cy="640080"/>
          </a:xfrm>
          <a:prstGeom prst="ellipse">
            <a:avLst/>
          </a:prstGeom>
          <a:solidFill>
            <a:srgbClr val="1A5C2C"/>
          </a:solidFill>
          <a:ln w="12700">
            <a:solidFill>
              <a:srgbClr val="1A5C2C"/>
            </a:solidFill>
            <a:prstDash val="solid"/>
          </a:ln>
        </p:spPr>
        <p:txBody>
          <a:bodyPr/>
          <a:p/>
        </p:txBody>
      </p:sp>
      <p:pic>
        <p:nvPicPr>
          <p:cNvPr id="13" name="Image 3" descr="preencoded.png">    </p:cNvPr>
          <p:cNvPicPr>
            <a:picLocks noChangeAspect="1"/>
          </p:cNvPicPr>
          <p:nvPr/>
        </p:nvPicPr>
        <p:blipFill>
          <a:blip r:embed="rId4"/>
          <a:stretch>
            <a:fillRect/>
          </a:stretch>
        </p:blipFill>
        <p:spPr>
          <a:xfrm>
            <a:off x="708660" y="5629275"/>
            <a:ext cx="320040" cy="320040"/>
          </a:xfrm>
          <a:prstGeom prst="rect">
            <a:avLst/>
          </a:prstGeom>
        </p:spPr>
      </p:pic>
      <p:sp>
        <p:nvSpPr>
          <p:cNvPr id="14" name="Text 8"/>
          <p:cNvSpPr txBox="1"/>
          <p:nvPr/>
        </p:nvSpPr>
        <p:spPr>
          <a:xfrm>
            <a:off x="1508760" y="517779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04  </a:t>
            </a:r>
            <a:pPr indent="0" marL="0">
              <a:buNone/>
            </a:pPr>
            <a:r>
              <a:rPr lang="en-US" sz="2600" dirty="0">
                <a:solidFill>
                  <a:srgbClr val="1F2A22"/>
                </a:solidFill>
                <a:latin typeface="Calibri" pitchFamily="34" charset="0"/>
                <a:ea typeface="Calibri" pitchFamily="34" charset="-122"/>
                <a:cs typeface="Calibri" pitchFamily="34" charset="-120"/>
              </a:rPr>
              <a:t>Specific, owned, time-bound and evidenced</a:t>
            </a:r>
            <a:endParaRPr lang="en-US" sz="2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5">
    <p:bg>
      <p:bgPr>
        <a:solidFill>
          <a:srgbClr val="0F3B1C"/>
        </a:solidFill>
      </p:bgPr>
    </p:bg>
    <p:spTree>
      <p:nvGrpSpPr>
        <p:cNvPr id="1" name=""/>
        <p:cNvGrpSpPr/>
        <p:nvPr/>
      </p:nvGrpSpPr>
      <p:grpSpPr>
        <a:xfrm>
          <a:off x="0" y="0"/>
          <a:ext cx="0" cy="0"/>
          <a:chOff x="0" y="0"/>
          <a:chExt cx="0" cy="0"/>
        </a:xfrm>
      </p:grpSpPr>
      <p:sp>
        <p:nvSpPr>
          <p:cNvPr id="2" name="Shape 0"/>
          <p:cNvSpPr/>
          <p:nvPr/>
        </p:nvSpPr>
        <p:spPr>
          <a:xfrm>
            <a:off x="731520" y="1097280"/>
            <a:ext cx="1097280" cy="1097280"/>
          </a:xfrm>
          <a:prstGeom prst="ellipse">
            <a:avLst/>
          </a:prstGeom>
          <a:solidFill>
            <a:srgbClr val="C6A24C"/>
          </a:solidFill>
          <a:ln w="12700">
            <a:solidFill>
              <a:srgbClr val="C6A24C"/>
            </a:solidFill>
            <a:prstDash val="solid"/>
          </a:ln>
        </p:spPr>
        <p:txBody>
          <a:bodyPr/>
          <a:p/>
        </p:txBody>
      </p:sp>
      <p:pic>
        <p:nvPicPr>
          <p:cNvPr id="3" name="Image 0" descr="preencoded.png">    </p:cNvPr>
          <p:cNvPicPr>
            <a:picLocks noChangeAspect="1"/>
          </p:cNvPicPr>
          <p:nvPr/>
        </p:nvPicPr>
        <p:blipFill>
          <a:blip r:embed="rId1"/>
          <a:stretch>
            <a:fillRect/>
          </a:stretch>
        </p:blipFill>
        <p:spPr>
          <a:xfrm>
            <a:off x="1005840" y="1371600"/>
            <a:ext cx="548640" cy="548640"/>
          </a:xfrm>
          <a:prstGeom prst="rect">
            <a:avLst/>
          </a:prstGeom>
        </p:spPr>
      </p:pic>
      <p:sp>
        <p:nvSpPr>
          <p:cNvPr id="4" name="Text 1"/>
          <p:cNvSpPr txBox="1"/>
          <p:nvPr/>
        </p:nvSpPr>
        <p:spPr>
          <a:xfrm>
            <a:off x="2103120" y="1280160"/>
            <a:ext cx="9144000" cy="640080"/>
          </a:xfrm>
          <a:prstGeom prst="rect">
            <a:avLst/>
          </a:prstGeom>
          <a:noFill/>
          <a:ln/>
        </p:spPr>
        <p:txBody>
          <a:bodyPr wrap="square" lIns="0" tIns="0" rIns="0" bIns="0" rtlCol="0" anchor="t"/>
          <a:lstStyle/>
          <a:p>
            <a:pPr indent="0" marL="0">
              <a:buNone/>
            </a:pPr>
            <a:r>
              <a:rPr lang="en-US" sz="2600" b="1" dirty="0">
                <a:solidFill>
                  <a:srgbClr val="C6A24C"/>
                </a:solidFill>
                <a:latin typeface="Calibri" pitchFamily="34" charset="0"/>
                <a:ea typeface="Calibri" pitchFamily="34" charset="-122"/>
                <a:cs typeface="Calibri" pitchFamily="34" charset="-120"/>
              </a:rPr>
              <a:t>Unit Summary · Closing</a:t>
            </a:r>
            <a:endParaRPr lang="en-US" sz="2600" dirty="0"/>
          </a:p>
        </p:txBody>
      </p:sp>
      <p:sp>
        <p:nvSpPr>
          <p:cNvPr id="5" name="Text 2"/>
          <p:cNvSpPr txBox="1"/>
          <p:nvPr/>
        </p:nvSpPr>
        <p:spPr>
          <a:xfrm>
            <a:off x="2103120" y="2103120"/>
            <a:ext cx="9418320" cy="3474720"/>
          </a:xfrm>
          <a:prstGeom prst="rect">
            <a:avLst/>
          </a:prstGeom>
          <a:noFill/>
          <a:ln/>
        </p:spPr>
        <p:txBody>
          <a:bodyPr wrap="square" lIns="0" tIns="0" rIns="0" bIns="0" rtlCol="0" anchor="t"/>
          <a:lstStyle/>
          <a:p>
            <a:pPr indent="0" marL="0">
              <a:buNone/>
            </a:pPr>
            <a:r>
              <a:rPr lang="en-US" sz="3600" i="1" dirty="0">
                <a:solidFill>
                  <a:srgbClr val="FFFFFF"/>
                </a:solidFill>
                <a:latin typeface="Cambria" pitchFamily="34" charset="0"/>
                <a:ea typeface="Cambria" pitchFamily="34" charset="-122"/>
                <a:cs typeface="Cambria" pitchFamily="34" charset="-120"/>
              </a:rPr>
              <a:t>Name one clog that has been present in your organisation for more than six months.</a:t>
            </a:r>
            <a:endParaRPr lang="en-US" sz="3600" dirty="0"/>
          </a:p>
        </p:txBody>
      </p:sp>
      <p:sp>
        <p:nvSpPr>
          <p:cNvPr id="6" name="Text 3"/>
          <p:cNvSpPr txBox="1"/>
          <p:nvPr/>
        </p:nvSpPr>
        <p:spPr>
          <a:xfrm>
            <a:off x="2103120" y="5577840"/>
            <a:ext cx="9418320" cy="822960"/>
          </a:xfrm>
          <a:prstGeom prst="rect">
            <a:avLst/>
          </a:prstGeom>
          <a:noFill/>
          <a:ln/>
        </p:spPr>
        <p:txBody>
          <a:bodyPr wrap="square" lIns="0" tIns="0" rIns="0" bIns="0" rtlCol="0" anchor="t"/>
          <a:lstStyle/>
          <a:p>
            <a:pPr indent="0" marL="0">
              <a:buNone/>
            </a:pPr>
            <a:r>
              <a:rPr lang="en-US" sz="2400" dirty="0">
                <a:solidFill>
                  <a:srgbClr val="DDE8DF"/>
                </a:solidFill>
                <a:latin typeface="Calibri" pitchFamily="34" charset="0"/>
                <a:ea typeface="Calibri" pitchFamily="34" charset="-122"/>
                <a:cs typeface="Calibri" pitchFamily="34" charset="-120"/>
              </a:rPr>
              <a:t>“What has it actually cost the organisation in strategic momentum? And what is the real reason it hasn’t been cleared yet?”</a:t>
            </a:r>
            <a:endParaRPr lang="en-US" sz="2400" dirty="0"/>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p:bgPr>
    </p:bg>
    <p:spTree>
      <p:nvGrpSpPr>
        <p:cNvPr id="1" name=""/>
        <p:cNvGrpSpPr/>
        <p:nvPr/>
      </p:nvGrpSpPr>
      <p:grpSpPr/>
      <p:sp>
        <p:nvSpPr>
          <p:cNvPr id="2" name="Text 0"/>
          <p:cNvSpPr txBox="1"/>
          <p:nvPr/>
        </p:nvSpPr>
        <p:spPr>
          <a:xfrm>
            <a:off x="548640" y="411480"/>
            <a:ext cx="11064240" cy="868680"/>
          </a:xfrm>
          <a:prstGeom prst="rect">
            <a:avLst/>
          </a:prstGeom>
          <a:noFill/>
          <a:ln/>
        </p:spPr>
        <p:txBody>
          <a:bodyPr wrap="square" lIns="0" tIns="0" rIns="0" bIns="0" rtlCol="0" anchor="ctr"/>
          <a:lstStyle/>
          <a:p>
            <a:pPr indent="0" marL="0">
              <a:buNone/>
            </a:pPr>
            <a:r>
              <a:rPr lang="en-US" sz="3600" b="1" dirty="0">
                <a:solidFill>
                  <a:srgbClr val="1A5C2C"/>
                </a:solidFill>
                <a:latin typeface="Cambria" pitchFamily="34" charset="0"/>
                <a:ea typeface="Cambria" pitchFamily="34" charset="-122"/>
                <a:cs typeface="Cambria" pitchFamily="34" charset="-120"/>
              </a:rPr>
              <a:t>1.5 · Worked example: improving customer service</a:t>
            </a:r>
            <a:endParaRPr lang="en-US" sz="3600" dirty="0"/>
          </a:p>
        </p:txBody>
      </p:sp>
      <p:sp>
        <p:nvSpPr>
          <p:cNvPr id="3" name="Shape 1"/>
          <p:cNvSpPr/>
          <p:nvPr/>
        </p:nvSpPr>
        <p:spPr>
          <a:xfrm>
            <a:off x="548640" y="1800225"/>
            <a:ext cx="640080" cy="640080"/>
          </a:xfrm>
          <a:prstGeom prst="ellipse">
            <a:avLst/>
          </a:prstGeom>
          <a:solidFill>
            <a:srgbClr val="1A5C2C"/>
          </a:solidFill>
          <a:ln w="12700">
            <a:solidFill>
              <a:srgbClr val="1A5C2C"/>
            </a:solidFill>
            <a:prstDash val="solid"/>
          </a:ln>
        </p:spPr>
        <p:txBody>
          <a:bodyPr/>
          <a:p/>
        </p:txBody>
      </p:sp>
      <p:pic>
        <p:nvPicPr>
          <p:cNvPr id="4" name="Image 0" descr="preencoded.png">    </p:cNvPr>
          <p:cNvPicPr>
            <a:picLocks noChangeAspect="1"/>
          </p:cNvPicPr>
          <p:nvPr/>
        </p:nvPicPr>
        <p:blipFill>
          <a:blip r:embed="rId2"/>
          <a:stretch>
            <a:fillRect/>
          </a:stretch>
        </p:blipFill>
        <p:spPr>
          <a:xfrm>
            <a:off x="708660" y="1960245"/>
            <a:ext cx="320040" cy="320040"/>
          </a:xfrm>
          <a:prstGeom prst="rect">
            <a:avLst/>
          </a:prstGeom>
        </p:spPr>
      </p:pic>
      <p:sp>
        <p:nvSpPr>
          <p:cNvPr id="5" name="Text 2"/>
          <p:cNvSpPr txBox="1"/>
          <p:nvPr/>
        </p:nvSpPr>
        <p:spPr>
          <a:xfrm>
            <a:off x="1508760" y="150876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1  Performance outcome  </a:t>
            </a:r>
            <a:pPr indent="0" marL="0">
              <a:buNone/>
            </a:pPr>
            <a:r>
              <a:rPr lang="en-US" sz="2600" dirty="0">
                <a:solidFill>
                  <a:srgbClr val="1F2A22"/>
                </a:solidFill>
                <a:latin typeface="Calibri" pitchFamily="34" charset="0"/>
                <a:ea typeface="Calibri" pitchFamily="34" charset="-122"/>
                <a:cs typeface="Calibri" pitchFamily="34" charset="-120"/>
              </a:rPr>
              <a:t>65% of enquiries resolved within 48 hours, against 90%.</a:t>
            </a:r>
            <a:endParaRPr lang="en-US" sz="2600" dirty="0"/>
          </a:p>
        </p:txBody>
      </p:sp>
      <p:sp>
        <p:nvSpPr>
          <p:cNvPr id="6" name="Shape 3"/>
          <p:cNvSpPr/>
          <p:nvPr/>
        </p:nvSpPr>
        <p:spPr>
          <a:xfrm>
            <a:off x="548640" y="3023235"/>
            <a:ext cx="640080" cy="640080"/>
          </a:xfrm>
          <a:prstGeom prst="ellipse">
            <a:avLst/>
          </a:prstGeom>
          <a:solidFill>
            <a:srgbClr val="1A5C2C"/>
          </a:solidFill>
          <a:ln w="12700">
            <a:solidFill>
              <a:srgbClr val="1A5C2C"/>
            </a:solidFill>
            <a:prstDash val="solid"/>
          </a:ln>
        </p:spPr>
        <p:txBody>
          <a:bodyPr/>
          <a:p/>
        </p:txBody>
      </p:sp>
      <p:pic>
        <p:nvPicPr>
          <p:cNvPr id="7" name="Image 1" descr="preencoded.png">    </p:cNvPr>
          <p:cNvPicPr>
            <a:picLocks noChangeAspect="1"/>
          </p:cNvPicPr>
          <p:nvPr/>
        </p:nvPicPr>
        <p:blipFill>
          <a:blip r:embed="rId3"/>
          <a:stretch>
            <a:fillRect/>
          </a:stretch>
        </p:blipFill>
        <p:spPr>
          <a:xfrm>
            <a:off x="708660" y="3183255"/>
            <a:ext cx="320040" cy="320040"/>
          </a:xfrm>
          <a:prstGeom prst="rect">
            <a:avLst/>
          </a:prstGeom>
        </p:spPr>
      </p:pic>
      <p:sp>
        <p:nvSpPr>
          <p:cNvPr id="8" name="Text 4"/>
          <p:cNvSpPr txBox="1"/>
          <p:nvPr/>
        </p:nvSpPr>
        <p:spPr>
          <a:xfrm>
            <a:off x="1508760" y="273177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2  Performance behaviour  </a:t>
            </a:r>
            <a:pPr indent="0" marL="0">
              <a:buNone/>
            </a:pPr>
            <a:r>
              <a:rPr lang="en-US" sz="2600" dirty="0">
                <a:solidFill>
                  <a:srgbClr val="1F2A22"/>
                </a:solidFill>
                <a:latin typeface="Calibri" pitchFamily="34" charset="0"/>
                <a:ea typeface="Calibri" pitchFamily="34" charset="-122"/>
                <a:cs typeface="Calibri" pitchFamily="34" charset="-120"/>
              </a:rPr>
              <a:t>Cases pass between departments; routine refunds wait for approval.</a:t>
            </a:r>
            <a:endParaRPr lang="en-US" sz="2600" dirty="0"/>
          </a:p>
        </p:txBody>
      </p:sp>
      <p:sp>
        <p:nvSpPr>
          <p:cNvPr id="9" name="Shape 5"/>
          <p:cNvSpPr/>
          <p:nvPr/>
        </p:nvSpPr>
        <p:spPr>
          <a:xfrm>
            <a:off x="548640" y="4246245"/>
            <a:ext cx="640080" cy="640080"/>
          </a:xfrm>
          <a:prstGeom prst="ellipse">
            <a:avLst/>
          </a:prstGeom>
          <a:solidFill>
            <a:srgbClr val="1A5C2C"/>
          </a:solidFill>
          <a:ln w="12700">
            <a:solidFill>
              <a:srgbClr val="1A5C2C"/>
            </a:solidFill>
            <a:prstDash val="solid"/>
          </a:ln>
        </p:spPr>
        <p:txBody>
          <a:bodyPr/>
          <a:p/>
        </p:txBody>
      </p:sp>
      <p:pic>
        <p:nvPicPr>
          <p:cNvPr id="10" name="Image 2" descr="preencoded.png">    </p:cNvPr>
          <p:cNvPicPr>
            <a:picLocks noChangeAspect="1"/>
          </p:cNvPicPr>
          <p:nvPr/>
        </p:nvPicPr>
        <p:blipFill>
          <a:blip r:embed="rId4"/>
          <a:stretch>
            <a:fillRect/>
          </a:stretch>
        </p:blipFill>
        <p:spPr>
          <a:xfrm>
            <a:off x="708660" y="4406265"/>
            <a:ext cx="320040" cy="320040"/>
          </a:xfrm>
          <a:prstGeom prst="rect">
            <a:avLst/>
          </a:prstGeom>
        </p:spPr>
      </p:pic>
      <p:sp>
        <p:nvSpPr>
          <p:cNvPr id="11" name="Text 6"/>
          <p:cNvSpPr txBox="1"/>
          <p:nvPr/>
        </p:nvSpPr>
        <p:spPr>
          <a:xfrm>
            <a:off x="1508760" y="3954780"/>
            <a:ext cx="10131552" cy="1223010"/>
          </a:xfrm>
          <a:prstGeom prst="rect">
            <a:avLst/>
          </a:prstGeom>
          <a:noFill/>
          <a:ln/>
        </p:spPr>
        <p:txBody>
          <a:bodyPr wrap="square" lIns="0" tIns="0" rIns="0" bIns="0" rtlCol="0" anchor="ctr"/>
          <a:lstStyle/>
          <a:p>
            <a:pPr indent="0" marL="0">
              <a:buNone/>
            </a:pPr>
            <a:r>
              <a:rPr lang="en-US" sz="2600" b="1" dirty="0">
                <a:solidFill>
                  <a:srgbClr val="1A5C2C"/>
                </a:solidFill>
                <a:latin typeface="Cambria" pitchFamily="34" charset="0"/>
                <a:ea typeface="Cambria" pitchFamily="34" charset="-122"/>
                <a:cs typeface="Cambria" pitchFamily="34" charset="-120"/>
              </a:rPr>
              <a:t>3  Performance condition  </a:t>
            </a:r>
            <a:pPr indent="0" marL="0">
              <a:buNone/>
            </a:pPr>
            <a:r>
              <a:rPr lang="en-US" sz="2600" dirty="0">
                <a:solidFill>
                  <a:srgbClr val="1F2A22"/>
                </a:solidFill>
                <a:latin typeface="Calibri" pitchFamily="34" charset="0"/>
                <a:ea typeface="Calibri" pitchFamily="34" charset="-122"/>
                <a:cs typeface="Calibri" pitchFamily="34" charset="-120"/>
              </a:rPr>
              <a:t>Structural Misfit, Decision Bottlenecks, Misaligned Metrics, Technology Lag.</a:t>
            </a:r>
            <a:endParaRPr lang="en-US" sz="2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IBSL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Unit 9 · Strategic Unclogging</dc:title>
  <dc:subject>PptxGenJS Presentation</dc:subject>
  <dc:creator>Institute of Behavioural Strategy &amp; Leadership</dc:creator>
  <cp:lastModifiedBy>Institute of Behavioural Strategy &amp; Leadership</cp:lastModifiedBy>
  <cp:revision>1</cp:revision>
  <dcterms:created xsi:type="dcterms:W3CDTF">2026-09-29T13:20:41Z</dcterms:created>
  <dcterms:modified xsi:type="dcterms:W3CDTF">2026-09-29T13:20:41Z</dcterms:modified>
</cp:coreProperties>
</file>