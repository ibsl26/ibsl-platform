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4" r:id="rId9"/>
    <p:sldId id="266" r:id="rId10"/>
    <p:sldId id="268" r:id="rId11"/>
    <p:sldId id="291" r:id="rId12"/>
    <p:sldId id="271" r:id="rId13"/>
    <p:sldId id="272" r:id="rId14"/>
    <p:sldId id="273" r:id="rId15"/>
    <p:sldId id="275" r:id="rId16"/>
    <p:sldId id="276" r:id="rId17"/>
    <p:sldId id="292" r:id="rId18"/>
    <p:sldId id="287" r:id="rId27"/>
    <p:sldId id="288" r:id="rId28"/>
    <p:sldId id="293" r:id="rId29"/>
    <p:sldId id="278" r:id="rId19"/>
    <p:sldId id="279" r:id="rId20"/>
    <p:sldId id="280" r:id="rId21"/>
    <p:sldId id="281" r:id="rId22"/>
    <p:sldId id="282" r:id="rId23"/>
    <p:sldId id="283" r:id="rId24"/>
    <p:sldId id="284" r:id="rId25"/>
    <p:sldId id="286" r:id="rId26"/>
    <p:sldId id="294" r:id="rId36"/>
    <p:sldId id="290"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2991" autoAdjust="0"/>
  </p:normalViewPr>
  <p:slideViewPr>
    <p:cSldViewPr snapToGrid="0" snapToObjects="1">
      <p:cViewPr varScale="1">
        <p:scale>
          <a:sx n="37" d="100"/>
          <a:sy n="37" d="100"/>
        </p:scale>
        <p:origin x="1574" y="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21.xml"/><Relationship Id="rId20" Type="http://schemas.openxmlformats.org/officeDocument/2006/relationships/slide" Target="slides/slide22.xml"/><Relationship Id="rId21" Type="http://schemas.openxmlformats.org/officeDocument/2006/relationships/slide" Target="slides/slide23.xml"/><Relationship Id="rId22" Type="http://schemas.openxmlformats.org/officeDocument/2006/relationships/slide" Target="slides/slide24.xml"/><Relationship Id="rId23" Type="http://schemas.openxmlformats.org/officeDocument/2006/relationships/slide" Target="slides/slide25.xml"/><Relationship Id="rId24" Type="http://schemas.openxmlformats.org/officeDocument/2006/relationships/slide" Target="slides/slide26.xml"/><Relationship Id="rId25" Type="http://schemas.openxmlformats.org/officeDocument/2006/relationships/slide" Target="slides/slide27.xml"/><Relationship Id="rId26" Type="http://schemas.openxmlformats.org/officeDocument/2006/relationships/slide" Target="slides/slide28.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214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UNIT 4 · DIRECTION INTEGRITY (ABCV-MBT)</a:t>
            </a:r>
          </a:p>
          <a:p>
            <a:r>
              <a:rPr lang="en-GB" dirty="0"/>
              <a:t>Module 2 · Direction · Unit 4</a:t>
            </a:r>
          </a:p>
          <a:p>
            <a:endParaRPr lang="en-GB" dirty="0"/>
          </a:p>
          <a:p>
            <a:r>
              <a:rPr lang="en-GB" b="1" dirty="0"/>
              <a:t>UNIT INTENT</a:t>
            </a:r>
          </a:p>
          <a:p>
            <a:r>
              <a:rPr lang="en-GB" dirty="0"/>
              <a:t>Unit 4 tests whether the chosen direction is strategically sound. </a:t>
            </a:r>
          </a:p>
          <a:p>
            <a:r>
              <a:rPr lang="en-GB" dirty="0"/>
              <a:t>The four ABCV checkpoints (Arena, Boundaries, Competition and Value Proposition) and their Must-Be-True conditions turn assumptions into named, verifiable conditions.</a:t>
            </a:r>
          </a:p>
          <a:p>
            <a:endParaRPr lang="en-GB" dirty="0"/>
          </a:p>
          <a:p>
            <a:r>
              <a:rPr lang="en-GB" dirty="0"/>
              <a:t>The Key Results tested are the ones the group confirmed in Unit 3: no new objective or metric enters the unit.</a:t>
            </a:r>
          </a:p>
          <a:p>
            <a:endParaRPr lang="en-GB" dirty="0"/>
          </a:p>
          <a:p>
            <a:r>
              <a:rPr lang="en-GB" b="1" dirty="0"/>
              <a:t>WHAT THE UNIT PRODUCES:</a:t>
            </a:r>
          </a:p>
          <a:p>
            <a:r>
              <a:rPr lang="en-GB" dirty="0"/>
              <a:t>1. Each group produces its ABCV–MBT record: every Key Result it confirmed in Unit 3, taken through four steps, with one Must-Be-True condition named at each step. This is Capstone work.</a:t>
            </a:r>
          </a:p>
          <a:p>
            <a:r>
              <a:rPr lang="en-GB" dirty="0"/>
              <a:t>2. Each participant produces two pieces of portfolio work: the Industry Illusion game of Section 2 and the Cause of Death game of Section 4.</a:t>
            </a:r>
          </a:p>
          <a:p>
            <a:r>
              <a:rPr lang="en-GB" dirty="0"/>
              <a:t>3. Each participant writes four reflections, the last of them a closing commitment.</a:t>
            </a:r>
          </a:p>
          <a:p>
            <a:endParaRPr lang="en-GB" dirty="0"/>
          </a:p>
          <a:p>
            <a:r>
              <a:rPr lang="en-GB" b="1" dirty="0"/>
              <a:t>HOW THE UNIT RUNS:</a:t>
            </a:r>
          </a:p>
          <a:p>
            <a:r>
              <a:rPr lang="en-GB" dirty="0"/>
              <a:t>1. You teach the whole unit from this deck first, from Section 1 to the Unit Summary. The deck is the teaching material. The teaching includes the Industry Illusion game, played with the room in groups.</a:t>
            </a:r>
          </a:p>
          <a:p>
            <a:r>
              <a:rPr lang="en-GB" dirty="0"/>
              <a:t>2. Participants then complete their own page on the portal, in the session or after it: the reflections, their own Industry Illusion game, the group work of Section 5 and the Cause of Death game.</a:t>
            </a:r>
          </a:p>
          <a:p>
            <a:r>
              <a:rPr lang="en-GB" dirty="0"/>
              <a:t>3. Section 5 on the portal is group work for the Capstone. The group chooses its scribe for this work.</a:t>
            </a:r>
          </a:p>
          <a:p>
            <a:r>
              <a:rPr lang="en-GB" dirty="0"/>
              <a:t>The scribe types what the group agrees, the entries appear on every member’s page, and each member then selects Agree.</a:t>
            </a:r>
          </a:p>
          <a:p>
            <a:r>
              <a:rPr lang="en-GB" dirty="0"/>
              <a:t>4. The Industry Illusion game in Section 2 and the Cause of Death game in Section 4 are portfolio work, completed by each participant alone.</a:t>
            </a:r>
          </a:p>
          <a:p>
            <a:endParaRPr lang="en-GB" dirty="0"/>
          </a:p>
          <a:p>
            <a:r>
              <a:rPr lang="en-GB" dirty="0"/>
              <a:t>Each slide’s notes end with a block headed "On the portal, after the teaching" wherever participants have something to complete for that part.</a:t>
            </a:r>
          </a:p>
          <a:p>
            <a:endParaRPr lang="en-GB" dirty="0"/>
          </a:p>
          <a:p>
            <a:r>
              <a:rPr lang="en-GB" dirty="0"/>
              <a:t>Your preparation as facilitator:</a:t>
            </a:r>
          </a:p>
          <a:p>
            <a:r>
              <a:rPr lang="en-GB" dirty="0"/>
              <a:t>- Read the Facilitator Guide tab and every section of the facilitator file.</a:t>
            </a:r>
          </a:p>
          <a:p>
            <a:r>
              <a:rPr lang="en-GB" dirty="0"/>
              <a:t>- Have the facilitator file ready in your browser at Section 2, part 2.2, so that the Industry Illusion game can be shared when you reach it.</a:t>
            </a:r>
          </a:p>
          <a:p>
            <a:r>
              <a:rPr lang="en-GB" dirty="0"/>
              <a:t>- Each group needs its confirmed Enterprise OKRs from Unit 3 in front of it: every exercise in this unit works on those Key Results.</a:t>
            </a:r>
          </a:p>
          <a:p>
            <a:endParaRPr lang="en-GB" dirty="0"/>
          </a:p>
          <a:p>
            <a:r>
              <a:rPr lang="en-GB" dirty="0"/>
              <a:t>Where the outputs go next:</a:t>
            </a:r>
          </a:p>
          <a:p>
            <a:r>
              <a:rPr lang="en-GB" dirty="0"/>
              <a:t>- The confirmed Must-Be-True conditions feed boxes 4A to 4D of the team’s Capstone Blueprint.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KEY LEARNING OUTCOMES</a:t>
            </a:r>
          </a:p>
          <a:p>
            <a:endParaRPr lang="en-GB" dirty="0"/>
          </a:p>
          <a:p>
            <a:r>
              <a:rPr lang="en-GB" b="1" dirty="0"/>
              <a:t>HOW TO USE THIS SLIDE:</a:t>
            </a:r>
          </a:p>
          <a:p>
            <a:r>
              <a:rPr lang="en-GB" dirty="0"/>
              <a:t>Read the four outcomes aloud and say where the unit delivers each one.</a:t>
            </a:r>
          </a:p>
          <a:p>
            <a:pPr marL="171450" indent="-171450">
              <a:buFontTx/>
              <a:buChar char="-"/>
            </a:pPr>
            <a:r>
              <a:rPr lang="en-GB" dirty="0"/>
              <a:t>Outcome 1 is built in Section 1 (the four ABCV checkpoints) and produced in 5.2, where each group tests its own Key Results. </a:t>
            </a:r>
          </a:p>
          <a:p>
            <a:pPr marL="171450" indent="-171450">
              <a:buFontTx/>
              <a:buChar char="-"/>
            </a:pPr>
            <a:endParaRPr lang="en-GB" dirty="0"/>
          </a:p>
          <a:p>
            <a:pPr marL="171450" indent="-171450">
              <a:buFontTx/>
              <a:buChar char="-"/>
            </a:pPr>
            <a:r>
              <a:rPr lang="en-GB" dirty="0"/>
              <a:t>Outcome 2 is built at each checkpoint, where a Must-Be-True condition is named, and shown in 5.1 (the worked example: one Key Result, four steps, four conditions).</a:t>
            </a:r>
          </a:p>
          <a:p>
            <a:pPr marL="171450" indent="-171450">
              <a:buFontTx/>
              <a:buChar char="-"/>
            </a:pPr>
            <a:endParaRPr lang="en-GB" dirty="0"/>
          </a:p>
          <a:p>
            <a:pPr marL="171450" indent="-171450">
              <a:buFontTx/>
              <a:buChar char="-"/>
            </a:pPr>
            <a:r>
              <a:rPr lang="en-GB" dirty="0"/>
              <a:t>Outcome 3 is built in 1.3 and 1.4 (Competition and Value Proposition) and in Section 2 (the Industry Illusion).</a:t>
            </a:r>
          </a:p>
          <a:p>
            <a:pPr marL="171450" indent="-171450">
              <a:buFontTx/>
              <a:buChar char="-"/>
            </a:pPr>
            <a:endParaRPr lang="en-GB" dirty="0"/>
          </a:p>
          <a:p>
            <a:r>
              <a:rPr lang="en-GB" dirty="0"/>
              <a:t>- Outcome 4 is built in Section 3 (the blind spot of each executive role) and produced in 5.2, where the group confirms its conditions together.</a:t>
            </a:r>
          </a:p>
          <a:p>
            <a:endParaRPr lang="en-GB" dirty="0"/>
          </a:p>
          <a:p>
            <a:r>
              <a:rPr lang="en-GB" dirty="0"/>
              <a:t>Each section slide carries that section’s two learning outcomes.</a:t>
            </a:r>
          </a:p>
          <a:p>
            <a:endParaRPr lang="en-GB" dirty="0"/>
          </a:p>
          <a:p>
            <a:r>
              <a:rPr lang="en-GB" b="1" dirty="0"/>
              <a:t>QUESTION TO ASK:</a:t>
            </a:r>
          </a:p>
          <a:p>
            <a:r>
              <a:rPr lang="en-GB" dirty="0"/>
              <a:t>"What is your current strategy assuming about customers that nobody has verified?"</a:t>
            </a:r>
          </a:p>
          <a:p>
            <a:endParaRPr lang="en-GB" dirty="0"/>
          </a:p>
          <a:p>
            <a:r>
              <a:rPr lang="en-GB" dirty="0"/>
              <a:t>Take two or three answers. They tell you where the room expects the most from the unit.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FACILITATOR GUIDE · SESSION OVERVIEW</a:t>
            </a:r>
          </a:p>
          <a:p>
            <a:endParaRPr lang="en-GB" dirty="0"/>
          </a:p>
          <a:p>
            <a:r>
              <a:rPr lang="en-GB" b="1" dirty="0"/>
              <a:t>HOW TO USE THIS SLIDE:</a:t>
            </a:r>
          </a:p>
          <a:p>
            <a:r>
              <a:rPr lang="en-GB" dirty="0"/>
              <a:t>1. Walk the five sections in one sentence each, using the list below.</a:t>
            </a:r>
          </a:p>
          <a:p>
            <a:r>
              <a:rPr lang="en-GB" dirty="0"/>
              <a:t>2. Say plainly that Sections 1 to 3 prepare the thinking, Section 5 is where each group tests its own Key Results for the Capstone, and Section 4 is a diagnosis game each participant plays alone.</a:t>
            </a:r>
          </a:p>
          <a:p>
            <a:r>
              <a:rPr lang="en-GB" dirty="0"/>
              <a:t>3. Tell participants how the unit runs: you teach all five sections from the deck first, and they then complete the unit on the portal, in the session or after it.</a:t>
            </a:r>
          </a:p>
          <a:p>
            <a:endParaRPr lang="en-GB" dirty="0"/>
          </a:p>
          <a:p>
            <a:r>
              <a:rPr lang="en-GB" b="1" dirty="0"/>
              <a:t>THE FIVE SECTIONS:</a:t>
            </a:r>
          </a:p>
          <a:p>
            <a:r>
              <a:rPr lang="en-GB" b="1" dirty="0"/>
              <a:t>- Section 1 · Awareness </a:t>
            </a:r>
            <a:r>
              <a:rPr lang="en-GB" dirty="0"/>
              <a:t>— What: the flow from Unit 3 to Unit 4, then the four ABCV checkpoints one at a time (Arena, Boundaries, Competition, Value Proposition), each with its Must-Be-True condition, then the four brought together.</a:t>
            </a:r>
          </a:p>
          <a:p>
            <a:endParaRPr lang="en-GB" dirty="0"/>
          </a:p>
          <a:p>
            <a:r>
              <a:rPr lang="en-GB" b="1" dirty="0"/>
              <a:t>- Section 2 · Intelligence </a:t>
            </a:r>
            <a:r>
              <a:rPr lang="en-GB" dirty="0"/>
              <a:t>— Why: the Industry Illusion and its three traps (Familiarity, Exclusion, Complacency), then the Industry Illusion game on the case of a university.</a:t>
            </a:r>
          </a:p>
          <a:p>
            <a:endParaRPr lang="en-GB" dirty="0"/>
          </a:p>
          <a:p>
            <a:r>
              <a:rPr lang="en-GB" b="1" dirty="0"/>
              <a:t>- Section 3 · Extrapolating </a:t>
            </a:r>
            <a:r>
              <a:rPr lang="en-GB" dirty="0"/>
              <a:t>— Where: the ABCV checkpoint each executive role most often overlooks.</a:t>
            </a:r>
          </a:p>
          <a:p>
            <a:endParaRPr lang="en-GB" dirty="0"/>
          </a:p>
          <a:p>
            <a:r>
              <a:rPr lang="en-GB" b="1" dirty="0"/>
              <a:t>- Section 4 · Integration </a:t>
            </a:r>
            <a:r>
              <a:rPr lang="en-GB" dirty="0"/>
              <a:t>— Collective: Cause of Death, four failed strategies tested against the Industry Illusion.</a:t>
            </a:r>
          </a:p>
          <a:p>
            <a:endParaRPr lang="en-GB" dirty="0"/>
          </a:p>
          <a:p>
            <a:r>
              <a:rPr lang="en-GB" b="1" dirty="0"/>
              <a:t>- Section 5 · Application </a:t>
            </a:r>
            <a:r>
              <a:rPr lang="en-GB" dirty="0"/>
              <a:t>— In Practice: one worked example, then each group takes its Unit 3 Key Results through the same four steps.</a:t>
            </a:r>
          </a:p>
          <a:p>
            <a:endParaRPr lang="en-GB" dirty="0"/>
          </a:p>
          <a:p>
            <a:r>
              <a:rPr lang="en-GB" b="1" dirty="0"/>
              <a:t>KEY FACILITATION QUESTIONS:</a:t>
            </a:r>
          </a:p>
          <a:p>
            <a:r>
              <a:rPr lang="en-GB" dirty="0"/>
              <a:t>- "Who else solves your customer’s problem, including those outside your industry?"</a:t>
            </a:r>
          </a:p>
          <a:p>
            <a:r>
              <a:rPr lang="en-GB" dirty="0"/>
              <a:t>- "Which ABCV checkpoint is your executive function least likely to examine? What risk does that create for the enterprise?"</a:t>
            </a:r>
          </a:p>
          <a:p>
            <a:r>
              <a:rPr lang="en-GB" dirty="0"/>
              <a:t>- "What is the one Must-Be-True condition your team is most likely to avoid naming, and who will verify it before the next strategic review?"</a:t>
            </a:r>
          </a:p>
          <a:p>
            <a:endParaRPr lang="en-GB" dirty="0"/>
          </a:p>
          <a:p>
            <a:r>
              <a:rPr lang="en-GB" b="1" dirty="0"/>
              <a:t>TONE AND WATCH POINTS:</a:t>
            </a:r>
          </a:p>
          <a:p>
            <a:r>
              <a:rPr lang="en-GB" dirty="0"/>
              <a:t>- Teach: a Must-Be-True condition is written so that it is either true or false. A risk or a concern becomes a condition once it is stated as what must hold.</a:t>
            </a:r>
          </a:p>
          <a:p>
            <a:r>
              <a:rPr lang="en-GB" dirty="0"/>
              <a:t>- Teach: competition covers every alternative the customer can choose, including doing nothing.</a:t>
            </a:r>
          </a:p>
          <a:p>
            <a:r>
              <a:rPr lang="en-GB" dirty="0"/>
              <a:t>- Insist on specific conditions.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1 · AWARENESS — WHAT</a:t>
            </a:r>
          </a:p>
          <a:p>
            <a:endParaRPr lang="en-GB" dirty="0"/>
          </a:p>
          <a:p>
            <a:r>
              <a:rPr lang="en-GB" b="1" dirty="0"/>
              <a:t>HOW THIS SECTION RUNS:</a:t>
            </a:r>
          </a:p>
          <a:p>
            <a:r>
              <a:rPr lang="en-GB" dirty="0"/>
              <a:t>1. The overview: the flow from Unit 3 to Unit 4 and the logic of the four steps.</a:t>
            </a:r>
          </a:p>
          <a:p>
            <a:r>
              <a:rPr lang="en-GB" dirty="0"/>
              <a:t>2. 1.1 to 1.4: the four checkpoints, one at a time. Each has two slides: the checkpoint itself, then its Must-Be-True condition.</a:t>
            </a:r>
          </a:p>
          <a:p>
            <a:r>
              <a:rPr lang="en-GB" dirty="0"/>
              <a:t>3. Bringing ABCV Together: the integrated view.</a:t>
            </a:r>
          </a:p>
          <a:p>
            <a:r>
              <a:rPr lang="en-GB" dirty="0"/>
              <a:t>4. The Section 1 Reflections slide: the two reflections participants write on the portal after the teaching.</a:t>
            </a:r>
          </a:p>
          <a:p>
            <a:endParaRPr lang="en-GB" dirty="0"/>
          </a:p>
          <a:p>
            <a:r>
              <a:rPr lang="en-GB" b="1" dirty="0"/>
              <a:t>SECTION LEARNING OUTCOMES:</a:t>
            </a:r>
          </a:p>
          <a:p>
            <a:r>
              <a:rPr lang="en-GB" dirty="0"/>
              <a:t>1. Assess whether measurable objectives are also strategically credible.</a:t>
            </a:r>
          </a:p>
          <a:p>
            <a:r>
              <a:rPr lang="en-GB" dirty="0"/>
              <a:t>2. Evaluate objectives against customer value, strategic boundaries and competitive realities.</a:t>
            </a:r>
          </a:p>
          <a:p>
            <a:endParaRPr lang="en-GB" dirty="0"/>
          </a:p>
          <a:p>
            <a:r>
              <a:rPr lang="en-GB" b="1" dirty="0"/>
              <a:t>HOW TO OPEN THE SECTION:</a:t>
            </a:r>
          </a:p>
          <a:p>
            <a:endParaRPr lang="en-GB" dirty="0"/>
          </a:p>
          <a:p>
            <a:r>
              <a:rPr lang="en-GB" b="1" dirty="0"/>
              <a:t>1. Open with the question that creates the need.</a:t>
            </a:r>
          </a:p>
          <a:p>
            <a:r>
              <a:rPr lang="en-GB" dirty="0"/>
              <a:t>Ask: "How many of you have experienced a well-crafted strategy that fell apart once execution started because of assumptions we hadn’t named until they broke?"</a:t>
            </a:r>
          </a:p>
          <a:p>
            <a:r>
              <a:rPr lang="en-GB" dirty="0"/>
              <a:t>Pause. Use the silence.</a:t>
            </a:r>
          </a:p>
          <a:p>
            <a:endParaRPr lang="en-GB" dirty="0"/>
          </a:p>
          <a:p>
            <a:r>
              <a:rPr lang="en-GB" b="1" dirty="0"/>
              <a:t>2. Introduce ABCV–MBT.</a:t>
            </a:r>
          </a:p>
          <a:p>
            <a:r>
              <a:rPr lang="en-GB" dirty="0"/>
              <a:t>Say: "ABCV–MBT is the tool that names those invisible assumptions before they become expensive failures."</a:t>
            </a:r>
          </a:p>
          <a:p>
            <a:r>
              <a:rPr lang="en-GB" dirty="0"/>
              <a:t>Section intent: leaders must feel the danger of unnamed assumptions before they can value the discipline of naming them.</a:t>
            </a:r>
          </a:p>
          <a:p>
            <a:endParaRPr lang="en-GB" dirty="0"/>
          </a:p>
          <a:p>
            <a:r>
              <a:rPr lang="en-GB" b="1" dirty="0"/>
              <a:t>3. Say what each group brings into the unit.</a:t>
            </a:r>
          </a:p>
          <a:p>
            <a:r>
              <a:rPr lang="en-GB" dirty="0"/>
              <a:t>Say: "You arrive with the Enterprise OKRs your group confirmed in Unit 3. Every exercise in this unit works on those Key Results."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OVERVIEW — FROM UNIT 3 TO UNIT 4 (STRATEGIC CONTEXT)</a:t>
            </a:r>
          </a:p>
          <a:p>
            <a:endParaRPr lang="en-GB" dirty="0"/>
          </a:p>
          <a:p>
            <a:r>
              <a:rPr lang="en-GB" b="1" dirty="0"/>
              <a:t>HOW TO TEACH IT:</a:t>
            </a:r>
          </a:p>
          <a:p>
            <a:endParaRPr lang="en-GB" dirty="0"/>
          </a:p>
          <a:p>
            <a:r>
              <a:rPr lang="en-GB" b="1" dirty="0"/>
              <a:t>1. Read the statement on the slide aloud.</a:t>
            </a:r>
          </a:p>
          <a:p>
            <a:r>
              <a:rPr lang="en-GB" dirty="0"/>
              <a:t>"Your group has defined its OKRs. Now the question is whether they are strategically sound."</a:t>
            </a:r>
          </a:p>
          <a:p>
            <a:endParaRPr lang="en-GB" dirty="0"/>
          </a:p>
          <a:p>
            <a:r>
              <a:rPr lang="en-GB" b="1" dirty="0"/>
              <a:t>2. Say where the room stands.</a:t>
            </a:r>
          </a:p>
          <a:p>
            <a:r>
              <a:rPr lang="en-GB" dirty="0"/>
              <a:t>Say: "In Unit 3 your group translated its Success in Practice into Enterprise OKRs.</a:t>
            </a:r>
          </a:p>
          <a:p>
            <a:r>
              <a:rPr lang="en-GB" dirty="0"/>
              <a:t>They are measurable, they are ambitious and they have deadlines.</a:t>
            </a:r>
          </a:p>
          <a:p>
            <a:r>
              <a:rPr lang="en-GB" dirty="0"/>
              <a:t>The next step is to move past well-written OKRs and ask whether they are strategically sound."</a:t>
            </a:r>
          </a:p>
          <a:p>
            <a:endParaRPr lang="en-GB" dirty="0"/>
          </a:p>
          <a:p>
            <a:r>
              <a:rPr lang="en-ZA" b="1" dirty="0"/>
              <a:t>The GPS Analogy — Perfect Execution, Wrong Assumptions</a:t>
            </a:r>
          </a:p>
          <a:p>
            <a:r>
              <a:rPr lang="en-ZA" b="1" dirty="0"/>
              <a:t>Say:</a:t>
            </a:r>
          </a:p>
          <a:p>
            <a:r>
              <a:rPr lang="en-ZA" dirty="0"/>
              <a:t>"Have you ever followed your GPS so faithfully that even when the road starts looking suspicious, you keep driving?</a:t>
            </a:r>
          </a:p>
          <a:p>
            <a:r>
              <a:rPr lang="en-ZA" dirty="0"/>
              <a:t>The road gets narrower. The tar disappears. You pass a few goats.</a:t>
            </a:r>
          </a:p>
          <a:p>
            <a:endParaRPr lang="en-ZA" dirty="0"/>
          </a:p>
          <a:p>
            <a:r>
              <a:rPr lang="en-ZA" dirty="0"/>
              <a:t>But the GPS confidently announces, </a:t>
            </a:r>
            <a:r>
              <a:rPr lang="en-ZA" i="1" dirty="0"/>
              <a:t>'You are on the fastest route.'</a:t>
            </a:r>
            <a:endParaRPr lang="en-ZA" dirty="0"/>
          </a:p>
          <a:p>
            <a:r>
              <a:rPr lang="en-ZA" dirty="0"/>
              <a:t>And because we're committed to the destination, we keep going!</a:t>
            </a:r>
          </a:p>
          <a:p>
            <a:r>
              <a:rPr lang="en-ZA" dirty="0"/>
              <a:t>Eventually, you arrive at a locked farm gate.</a:t>
            </a:r>
          </a:p>
          <a:p>
            <a:endParaRPr lang="en-ZA" b="1" dirty="0"/>
          </a:p>
          <a:p>
            <a:r>
              <a:rPr lang="en-ZA" b="1" dirty="0"/>
              <a:t>Congratulations! You have executed the instructions perfectly. You are also completely lost.</a:t>
            </a:r>
            <a:r>
              <a:rPr lang="en-ZA" dirty="0"/>
              <a:t>"</a:t>
            </a:r>
          </a:p>
          <a:p>
            <a:r>
              <a:rPr lang="en-ZA" dirty="0"/>
              <a:t>(Pause for laughter.)</a:t>
            </a:r>
          </a:p>
          <a:p>
            <a:endParaRPr lang="en-ZA" dirty="0"/>
          </a:p>
          <a:p>
            <a:r>
              <a:rPr lang="en-ZA" dirty="0"/>
              <a:t>"That's the danger with strategy.</a:t>
            </a:r>
          </a:p>
          <a:p>
            <a:endParaRPr lang="en-ZA" dirty="0"/>
          </a:p>
          <a:p>
            <a:r>
              <a:rPr lang="en-ZA" dirty="0"/>
              <a:t>Your OKRs can be perfectly written.</a:t>
            </a:r>
          </a:p>
          <a:p>
            <a:r>
              <a:rPr lang="en-ZA" dirty="0"/>
              <a:t> Your targets can be measurable. Your deadlines can be clear. </a:t>
            </a:r>
          </a:p>
          <a:p>
            <a:r>
              <a:rPr lang="en-ZA" dirty="0"/>
              <a:t>Everyone can be accountable.</a:t>
            </a:r>
          </a:p>
          <a:p>
            <a:r>
              <a:rPr lang="en-ZA" dirty="0"/>
              <a:t>But what if the assumptions behind your chosen route are wrong?</a:t>
            </a:r>
          </a:p>
          <a:p>
            <a:r>
              <a:rPr lang="en-ZA" b="1" dirty="0"/>
              <a:t>You can achieve every milestone on the way to the wrong outcome.</a:t>
            </a:r>
            <a:r>
              <a:rPr lang="en-ZA" dirty="0"/>
              <a:t>"</a:t>
            </a:r>
          </a:p>
          <a:p>
            <a:endParaRPr lang="en-ZA" b="1" dirty="0"/>
          </a:p>
          <a:p>
            <a:r>
              <a:rPr lang="en-ZA" b="1" dirty="0"/>
              <a:t>Bridge to Unit 4:</a:t>
            </a:r>
            <a:endParaRPr lang="en-ZA" dirty="0"/>
          </a:p>
          <a:p>
            <a:r>
              <a:rPr lang="en-ZA" dirty="0"/>
              <a:t>"Unit 3 gave us the destination and the milestones.</a:t>
            </a:r>
          </a:p>
          <a:p>
            <a:r>
              <a:rPr lang="en-ZA" dirty="0"/>
              <a:t>In Unit 4, ABCV helps us interrogate the strategic context before we commit to the route.</a:t>
            </a:r>
          </a:p>
          <a:p>
            <a:r>
              <a:rPr lang="en-ZA" dirty="0"/>
              <a:t>Because sometimes the smartest strategic decision is to question the GPS before we run out of petrol."</a:t>
            </a:r>
          </a:p>
          <a:p>
            <a:br>
              <a:rPr lang="en-ZA" dirty="0"/>
            </a:br>
            <a:endParaRPr lang="en-ZA"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OVERVIEW — THE LOGIC (4 STEPS · 1 CONDITION AT EACH)</a:t>
            </a:r>
          </a:p>
          <a:p>
            <a:endParaRPr lang="en-GB" dirty="0"/>
          </a:p>
          <a:p>
            <a:r>
              <a:rPr lang="en-GB" b="1" dirty="0"/>
              <a:t>HOW TO TEACH IT:</a:t>
            </a:r>
          </a:p>
          <a:p>
            <a:endParaRPr lang="en-GB" dirty="0"/>
          </a:p>
          <a:p>
            <a:r>
              <a:rPr lang="en-GB" b="1" dirty="0"/>
              <a:t>1. Walk the four steps on the slide.</a:t>
            </a:r>
          </a:p>
          <a:p>
            <a:r>
              <a:rPr lang="en-GB" dirty="0"/>
              <a:t>Say: "ABCV forces leaders to examine the strategic logic through four checkpoints."</a:t>
            </a:r>
          </a:p>
          <a:p>
            <a:r>
              <a:rPr lang="en-GB" dirty="0"/>
              <a:t>- Checkpoint 1 · Define the Arena. Are we anchored in the right customer end game?</a:t>
            </a:r>
          </a:p>
          <a:p>
            <a:r>
              <a:rPr lang="en-GB" dirty="0"/>
              <a:t>- Checkpoint 2 · Understand the Boundaries. What conditions could constrain our ability to deliver?</a:t>
            </a:r>
          </a:p>
          <a:p>
            <a:r>
              <a:rPr lang="en-GB" dirty="0"/>
              <a:t>- Checkpoint 3 · See the Competition. Who or what else can satisfy that end game?</a:t>
            </a:r>
          </a:p>
          <a:p>
            <a:r>
              <a:rPr lang="en-GB" dirty="0"/>
              <a:t>- Checkpoint 4 · Establish the Value Proposition. Why should the customer choose the value we create?</a:t>
            </a:r>
          </a:p>
          <a:p>
            <a:endParaRPr lang="en-GB" dirty="0"/>
          </a:p>
          <a:p>
            <a:r>
              <a:rPr lang="en-GB" b="1" dirty="0"/>
              <a:t>2. Introduce Must-Be-True, from the foot of the slide.</a:t>
            </a:r>
          </a:p>
          <a:p>
            <a:r>
              <a:rPr lang="en-GB" dirty="0"/>
              <a:t>Say: "For each checkpoint, there has to be an underlying assumption that hold true if we are to achieve our Key results. Must-Be-True, makes the underlying assumption explicit.</a:t>
            </a:r>
          </a:p>
          <a:p>
            <a:r>
              <a:rPr lang="en-GB" dirty="0"/>
              <a:t>It names the load-bearing walls of the goals: the specific condition that must remain true for a Key Result to survive.</a:t>
            </a:r>
          </a:p>
          <a:p>
            <a:r>
              <a:rPr lang="en-GB" dirty="0"/>
              <a:t>If one of these conditions shifts or fails, the Key Result becomes fragile by design."</a:t>
            </a:r>
          </a:p>
          <a:p>
            <a:endParaRPr lang="en-GB" dirty="0"/>
          </a:p>
          <a:p>
            <a:r>
              <a:rPr lang="en-GB" b="1" dirty="0"/>
              <a:t>3. Show the flow from Unit 3 to Unit 4.</a:t>
            </a:r>
          </a:p>
          <a:p>
            <a:r>
              <a:rPr lang="en-GB" b="1" dirty="0"/>
              <a:t>Say</a:t>
            </a:r>
            <a:r>
              <a:rPr lang="en-GB" dirty="0"/>
              <a:t> the three stages in order:</a:t>
            </a:r>
          </a:p>
          <a:p>
            <a:r>
              <a:rPr lang="en-GB" dirty="0"/>
              <a:t>- From Unit 3: the group’s Enterprise OKRs, the Objectives and Key Results it confirmed.</a:t>
            </a:r>
          </a:p>
          <a:p>
            <a:r>
              <a:rPr lang="en-GB" dirty="0"/>
              <a:t>- Four checkpoints: Arena, Boundaries, Competition, Value Proposition.</a:t>
            </a:r>
          </a:p>
          <a:p>
            <a:r>
              <a:rPr lang="en-GB" dirty="0"/>
              <a:t>- Must-Be-True conditions: one at each checkpoint, for each Key Result.</a:t>
            </a:r>
          </a:p>
          <a:p>
            <a:endParaRPr lang="en-GB" b="1" dirty="0"/>
          </a:p>
          <a:p>
            <a:r>
              <a:rPr lang="en-GB" b="1" dirty="0"/>
              <a:t>Say</a:t>
            </a:r>
            <a:r>
              <a:rPr lang="en-GB" dirty="0"/>
              <a:t>: "No new objective and no new measure enters this unit. We test the Key Results you already hold."</a:t>
            </a:r>
          </a:p>
          <a:p>
            <a:endParaRPr lang="en-GB" dirty="0"/>
          </a:p>
          <a:p>
            <a:r>
              <a:rPr lang="en-GB" b="1" dirty="0"/>
              <a:t>4. Say what the test secures.</a:t>
            </a:r>
          </a:p>
          <a:p>
            <a:r>
              <a:rPr lang="en-GB" b="1" dirty="0"/>
              <a:t>Say: </a:t>
            </a:r>
            <a:r>
              <a:rPr lang="en-GB" dirty="0"/>
              <a:t>"The test secures strategic priorities that are anchored in customer reality, designed to withstand operational constraints, positioned accurately against the competitive landscape, and coherent with the organisation’s core value.“</a:t>
            </a:r>
          </a:p>
          <a:p>
            <a:endParaRPr lang="en-GB" dirty="0"/>
          </a:p>
          <a:p>
            <a:r>
              <a:rPr lang="en-GB" b="1" dirty="0"/>
              <a:t>Say: </a:t>
            </a:r>
            <a:r>
              <a:rPr lang="en-GB" dirty="0"/>
              <a:t>"By naming these conditions early, you create an early-warning system that detects risks before a well-written ambition collapses under the weight of reality."</a:t>
            </a:r>
          </a:p>
          <a:p>
            <a:endParaRPr lang="en-GB" dirty="0"/>
          </a:p>
          <a:p>
            <a:r>
              <a:rPr lang="en-GB" b="1" dirty="0"/>
              <a:t>5. Bridge to 1.1.</a:t>
            </a:r>
          </a:p>
          <a:p>
            <a:r>
              <a:rPr lang="en-GB" dirty="0"/>
              <a:t>Say: "We take the four checkpoints one at a time. We start with Arena."</a:t>
            </a:r>
          </a:p>
          <a:p>
            <a:endParaRPr lang="en-GB" dirty="0"/>
          </a:p>
          <a:p>
            <a:r>
              <a:rPr lang="en-GB" b="1" dirty="0"/>
              <a:t>ON THE PORTAL, AFTER THE TEACHING:</a:t>
            </a:r>
          </a:p>
          <a:p>
            <a:r>
              <a:rPr lang="en-GB" dirty="0"/>
              <a:t>Participants write the first reflection in Section 1 of the participant file, under the overview. It is shown on the Section 1 Reflections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1.1 — ARENA (CUSTOMER END GAME)</a:t>
            </a:r>
          </a:p>
          <a:p>
            <a:endParaRPr lang="en-GB" dirty="0"/>
          </a:p>
          <a:p>
            <a:r>
              <a:rPr lang="en-GB" b="1" dirty="0"/>
              <a:t>HOW TO TEACH IT:</a:t>
            </a:r>
          </a:p>
          <a:p>
            <a:endParaRPr lang="en-GB" dirty="0"/>
          </a:p>
          <a:p>
            <a:r>
              <a:rPr lang="en-GB" b="1" dirty="0"/>
              <a:t>1. Read the question of the checkpoint.</a:t>
            </a:r>
          </a:p>
          <a:p>
            <a:r>
              <a:rPr lang="en-GB" dirty="0"/>
              <a:t>"What is the customer ultimately trying to achieve?"</a:t>
            </a:r>
          </a:p>
          <a:p>
            <a:endParaRPr lang="en-GB" dirty="0"/>
          </a:p>
          <a:p>
            <a:r>
              <a:rPr lang="en-GB" b="1" dirty="0"/>
              <a:t>2. Give the strategic logic.</a:t>
            </a:r>
          </a:p>
          <a:p>
            <a:r>
              <a:rPr lang="en-GB" b="1" dirty="0"/>
              <a:t>Say</a:t>
            </a:r>
            <a:r>
              <a:rPr lang="en-GB" dirty="0"/>
              <a:t>: "Strategy starts with a shift in perspective: we compete for a customer need.</a:t>
            </a:r>
          </a:p>
          <a:p>
            <a:r>
              <a:rPr lang="en-GB" dirty="0"/>
              <a:t>If we define our arena by our products, we miss the forest for the trees."</a:t>
            </a:r>
          </a:p>
          <a:p>
            <a:endParaRPr lang="en-GB" dirty="0"/>
          </a:p>
          <a:p>
            <a:r>
              <a:rPr lang="en-GB" b="1" dirty="0"/>
              <a:t>Say: </a:t>
            </a:r>
            <a:r>
              <a:rPr lang="en-GB" dirty="0"/>
              <a:t>"Arena defines the space in which value is being sought and contested."</a:t>
            </a:r>
          </a:p>
          <a:p>
            <a:endParaRPr lang="en-GB" b="1" dirty="0"/>
          </a:p>
          <a:p>
            <a:r>
              <a:rPr lang="en-GB" b="1" dirty="0"/>
              <a:t>Say: </a:t>
            </a:r>
            <a:r>
              <a:rPr lang="en-GB" dirty="0"/>
              <a:t>"Organisations naturally describe themselves through what they produce or the industry in which they operate: </a:t>
            </a:r>
          </a:p>
          <a:p>
            <a:r>
              <a:rPr lang="en-GB" dirty="0"/>
              <a:t>we are a university, </a:t>
            </a:r>
          </a:p>
          <a:p>
            <a:r>
              <a:rPr lang="en-GB" dirty="0"/>
              <a:t>we are a bank, </a:t>
            </a:r>
          </a:p>
          <a:p>
            <a:r>
              <a:rPr lang="en-GB" dirty="0"/>
              <a:t>we are a mine, </a:t>
            </a:r>
          </a:p>
          <a:p>
            <a:r>
              <a:rPr lang="en-GB" dirty="0"/>
              <a:t>we provide insurance.</a:t>
            </a:r>
          </a:p>
          <a:p>
            <a:r>
              <a:rPr lang="en-GB" dirty="0"/>
              <a:t>Those descriptions tell us something important about the organisation.</a:t>
            </a:r>
          </a:p>
          <a:p>
            <a:r>
              <a:rPr lang="en-GB" dirty="0"/>
              <a:t>They do not necessarily tell us what customer need the organisation is ultimately trying to meet."</a:t>
            </a:r>
          </a:p>
          <a:p>
            <a:endParaRPr lang="en-GB" dirty="0"/>
          </a:p>
          <a:p>
            <a:r>
              <a:rPr lang="en-GB" b="1" dirty="0"/>
              <a:t>3. Use the smartphone.</a:t>
            </a:r>
          </a:p>
          <a:p>
            <a:r>
              <a:rPr lang="en-GB" dirty="0"/>
              <a:t>Say: "Think about the smartphone.</a:t>
            </a:r>
          </a:p>
          <a:p>
            <a:r>
              <a:rPr lang="en-GB" dirty="0"/>
              <a:t>Inside the telecommunications industry, Nokia and Motorola were making phones.</a:t>
            </a:r>
          </a:p>
          <a:p>
            <a:r>
              <a:rPr lang="en-GB" dirty="0"/>
              <a:t>The smartphone became a camera, a map, a bank and a personal assistant.</a:t>
            </a:r>
          </a:p>
          <a:p>
            <a:r>
              <a:rPr lang="en-GB" dirty="0"/>
              <a:t>It moved into multiple Arenas simultaneously."</a:t>
            </a:r>
          </a:p>
          <a:p>
            <a:endParaRPr lang="en-GB" dirty="0"/>
          </a:p>
          <a:p>
            <a:r>
              <a:rPr lang="en-GB" dirty="0"/>
              <a:t>Ask: "Who in your industry is playing a different game that you’re only just starting to notice?"</a:t>
            </a:r>
          </a:p>
          <a:p>
            <a:endParaRPr lang="en-GB" dirty="0"/>
          </a:p>
          <a:p>
            <a:r>
              <a:rPr lang="en-GB" b="1" dirty="0"/>
              <a:t>Deepen, say: </a:t>
            </a:r>
            <a:r>
              <a:rPr lang="en-GB" dirty="0"/>
              <a:t>"Every organisation exists to do something specific for someone specific.</a:t>
            </a:r>
          </a:p>
          <a:p>
            <a:r>
              <a:rPr lang="en-GB" dirty="0"/>
              <a:t>When it loses its sense of who it serves and what it provides, it loses the culture built around that service.</a:t>
            </a:r>
          </a:p>
          <a:p>
            <a:r>
              <a:rPr lang="en-GB" dirty="0"/>
              <a:t>Keep the specific customer and mission visible."</a:t>
            </a:r>
          </a:p>
          <a:p>
            <a:r>
              <a:rPr lang="en-GB" dirty="0"/>
              <a:t>(Insight: Arena · who we serve. Source: Journal, 31 January 2026 — Professional Insights: Culture)</a:t>
            </a:r>
          </a:p>
          <a:p>
            <a:endParaRPr lang="en-GB" dirty="0"/>
          </a:p>
          <a:p>
            <a:r>
              <a:rPr lang="en-GB" b="1" dirty="0"/>
              <a:t>4. Teach the three depths on the slide, one at a time.</a:t>
            </a:r>
          </a:p>
          <a:p>
            <a:r>
              <a:rPr lang="en-GB" dirty="0"/>
              <a:t>Say: "Arena deliberately returns attention to the Customer End Game. To understand that end game properly, we interrogate it at three depths."</a:t>
            </a:r>
          </a:p>
          <a:p>
            <a:endParaRPr lang="en-GB" dirty="0"/>
          </a:p>
          <a:p>
            <a:r>
              <a:rPr lang="en-GB" b="1" dirty="0"/>
              <a:t>Functional — What are they trying to achieve?</a:t>
            </a:r>
          </a:p>
          <a:p>
            <a:r>
              <a:rPr lang="en-GB" dirty="0"/>
              <a:t>Ask: "What needs to get done, solved, accessed, changed or achieved?"</a:t>
            </a:r>
          </a:p>
          <a:p>
            <a:r>
              <a:rPr lang="en-GB" dirty="0"/>
              <a:t>Example: A learner wants to develop relevant capability.</a:t>
            </a:r>
          </a:p>
          <a:p>
            <a:endParaRPr lang="en-GB" dirty="0"/>
          </a:p>
          <a:p>
            <a:r>
              <a:rPr lang="en-GB" b="1" dirty="0"/>
              <a:t>Experiential — What matters about how they achieve it?</a:t>
            </a:r>
          </a:p>
          <a:p>
            <a:r>
              <a:rPr lang="en-GB" dirty="0"/>
              <a:t>Ask: "What matters to the customer about the experience of achieving the functional outcome?"</a:t>
            </a:r>
          </a:p>
          <a:p>
            <a:r>
              <a:rPr lang="en-GB" dirty="0"/>
              <a:t>Example: For a working professional, developing capability may need to be flexible, accessible and compatible with employment.</a:t>
            </a:r>
          </a:p>
          <a:p>
            <a:endParaRPr lang="en-GB" dirty="0"/>
          </a:p>
          <a:p>
            <a:r>
              <a:rPr lang="en-GB" b="1" dirty="0"/>
              <a:t>Consequential — What does achieving it ultimately enable?</a:t>
            </a:r>
          </a:p>
          <a:p>
            <a:r>
              <a:rPr lang="en-GB" dirty="0"/>
              <a:t>Ask: "What becomes possible, better or different for the customer once this outcome has been achieved?"</a:t>
            </a:r>
          </a:p>
          <a:p>
            <a:r>
              <a:rPr lang="en-GB" dirty="0"/>
              <a:t>Example: A learner develops capability → to progress professionally, access opportunity or improve earning potential.</a:t>
            </a:r>
          </a:p>
          <a:p>
            <a:endParaRPr lang="en-GB" dirty="0"/>
          </a:p>
          <a:p>
            <a:r>
              <a:rPr lang="en-GB" b="1" dirty="0"/>
              <a:t>5. Read the three together.</a:t>
            </a:r>
          </a:p>
          <a:p>
            <a:r>
              <a:rPr lang="en-GB" dirty="0"/>
              <a:t>Say: "These are three depths of one interrogation. Together, they help define the Customer End Game."</a:t>
            </a:r>
          </a:p>
          <a:p>
            <a:endParaRPr lang="en-GB" dirty="0"/>
          </a:p>
          <a:p>
            <a:endParaRPr lang="en-GB" dirty="0"/>
          </a:p>
          <a:p>
            <a:r>
              <a:rPr lang="en-GB" b="1" dirty="0"/>
              <a:t>EXAMPLE</a:t>
            </a:r>
          </a:p>
          <a:p>
            <a:r>
              <a:rPr lang="en-GB" dirty="0"/>
              <a:t>Higher education.</a:t>
            </a:r>
          </a:p>
          <a:p>
            <a:r>
              <a:rPr lang="en-GB" dirty="0"/>
              <a:t>Functional: Build relevant and credible capability.</a:t>
            </a:r>
          </a:p>
          <a:p>
            <a:r>
              <a:rPr lang="en-GB" dirty="0"/>
              <a:t>Experiential: Do so through learning that is flexible, accessible and compatible with work.</a:t>
            </a:r>
          </a:p>
          <a:p>
            <a:r>
              <a:rPr lang="en-GB" dirty="0"/>
              <a:t>Consequential: Translate that capability into career progression and economic opportunity.</a:t>
            </a:r>
          </a:p>
          <a:p>
            <a:endParaRPr lang="en-GB" dirty="0"/>
          </a:p>
          <a:p>
            <a:r>
              <a:rPr lang="en-GB" dirty="0"/>
              <a:t>The Arena can therefore be expressed as: Enabling working professionals to build credible capability, in ways compatible with their working lives, that advances career and economic opportunity.</a:t>
            </a:r>
          </a:p>
          <a:p>
            <a:endParaRPr lang="en-GB" dirty="0"/>
          </a:p>
          <a:p>
            <a:r>
              <a:rPr lang="en-GB" dirty="0"/>
              <a:t>The organisation now has a much richer strategic space to interrogate than “We provide postgraduate education.”</a:t>
            </a:r>
          </a:p>
          <a:p>
            <a:endParaRPr lang="en-GB" dirty="0"/>
          </a:p>
          <a:p>
            <a:r>
              <a:rPr lang="en-GB" dirty="0"/>
              <a:t>And for that statement to hold there must an assumption that we are making which we must monitor – that working professionals continue to value personal development</a:t>
            </a:r>
            <a:r>
              <a:rPr lang="en-GB"/>
              <a:t>. at </a:t>
            </a:r>
            <a:endParaRPr lang="en-GB" dirty="0"/>
          </a:p>
          <a:p>
            <a:endParaRPr lang="en-GB" dirty="0"/>
          </a:p>
          <a:p>
            <a:r>
              <a:rPr lang="en-GB" b="1" dirty="0"/>
              <a:t>6. Ask the room to apply the three depths.</a:t>
            </a:r>
          </a:p>
          <a:p>
            <a:r>
              <a:rPr lang="en-GB" dirty="0"/>
              <a:t>Ask leaders to apply the three depths to their primary customer. Online: ask them to post one line for each depth in the chat.</a:t>
            </a:r>
          </a:p>
          <a:p>
            <a:r>
              <a:rPr lang="en-GB" dirty="0"/>
              <a:t>Listen for: the experiential and consequential depths. Most leaders find these are rarely discussed in their strategy sessions. That is the blind spot.</a:t>
            </a:r>
          </a:p>
          <a:p>
            <a:endParaRPr lang="en-GB" dirty="0"/>
          </a:p>
          <a:p>
            <a:r>
              <a:rPr lang="en-GB" b="1" dirty="0"/>
              <a:t>7. Land the line at the foot of the slide.</a:t>
            </a:r>
          </a:p>
          <a:p>
            <a:r>
              <a:rPr lang="en-GB" dirty="0"/>
              <a:t>Read it in full: "The Industry tells you who you think you are competing with. The Arena tells you who you are actually competing with."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1.2 — BOUNDARIES (FRICTION ARCHITECTURE)</a:t>
            </a:r>
          </a:p>
          <a:p>
            <a:endParaRPr lang="en-GB" dirty="0"/>
          </a:p>
          <a:p>
            <a:r>
              <a:rPr lang="en-GB" b="1" dirty="0"/>
              <a:t>HOW TO TEACH IT:</a:t>
            </a:r>
          </a:p>
          <a:p>
            <a:endParaRPr lang="en-GB" dirty="0"/>
          </a:p>
          <a:p>
            <a:r>
              <a:rPr lang="en-GB" b="1" dirty="0"/>
              <a:t>1. Read the question of the checkpoint.</a:t>
            </a:r>
          </a:p>
          <a:p>
            <a:r>
              <a:rPr lang="en-GB" dirty="0"/>
              <a:t>"What could constrain our ability to deliver within this Arena?"</a:t>
            </a:r>
          </a:p>
          <a:p>
            <a:endParaRPr lang="en-GB" dirty="0"/>
          </a:p>
          <a:p>
            <a:r>
              <a:rPr lang="en-GB" b="1" dirty="0"/>
              <a:t>2. Give the strategic logic.</a:t>
            </a:r>
          </a:p>
          <a:p>
            <a:r>
              <a:rPr lang="en-GB" b="1" dirty="0"/>
              <a:t>Say: </a:t>
            </a:r>
            <a:r>
              <a:rPr lang="en-GB" dirty="0"/>
              <a:t>"Every arena has invisible walls: operational limits, regulations, or simple human resistance to change. A strategy that ignores friction is a wish."</a:t>
            </a:r>
          </a:p>
          <a:p>
            <a:r>
              <a:rPr lang="en-GB" b="1" dirty="0"/>
              <a:t>Say: </a:t>
            </a:r>
            <a:r>
              <a:rPr lang="en-GB" dirty="0"/>
              <a:t>"Every strategic choice operates within conditions that enable, restrict or shape what can actually be delivered. These are Boundaries."</a:t>
            </a:r>
          </a:p>
          <a:p>
            <a:r>
              <a:rPr lang="en-GB" dirty="0"/>
              <a:t>Key message: defining the right Arena is only the first test. The organisation must also be able to deliver within it.</a:t>
            </a:r>
          </a:p>
          <a:p>
            <a:endParaRPr lang="en-GB" dirty="0"/>
          </a:p>
          <a:p>
            <a:r>
              <a:rPr lang="en-GB" b="1" dirty="0"/>
              <a:t>3. Walk the six kinds of boundary on the slide.</a:t>
            </a:r>
          </a:p>
          <a:p>
            <a:r>
              <a:rPr lang="en-GB" dirty="0"/>
              <a:t>- Regulatory: laws, licences, standards, accreditation.</a:t>
            </a:r>
          </a:p>
          <a:p>
            <a:r>
              <a:rPr lang="en-GB" dirty="0"/>
              <a:t>- Operational: processes, infrastructure, capacity, supply chains.</a:t>
            </a:r>
          </a:p>
          <a:p>
            <a:r>
              <a:rPr lang="en-GB" dirty="0"/>
              <a:t>- Technological: systems, data, interoperability, technical capability.</a:t>
            </a:r>
          </a:p>
          <a:p>
            <a:r>
              <a:rPr lang="en-GB" dirty="0"/>
              <a:t>- Structural: governance, decision rights, organisational dependencies.</a:t>
            </a:r>
          </a:p>
          <a:p>
            <a:r>
              <a:rPr lang="en-GB" dirty="0"/>
              <a:t>- Financial: capital, affordability, economics, funding.</a:t>
            </a:r>
          </a:p>
          <a:p>
            <a:r>
              <a:rPr lang="en-GB" dirty="0"/>
              <a:t>- Behavioural: capability, incentives, resistance, habits, adoption.</a:t>
            </a:r>
          </a:p>
          <a:p>
            <a:r>
              <a:rPr lang="en-GB" dirty="0"/>
              <a:t>Say: "The purpose is to find the boundaries material enough to affect the strategic outcome. A long risk register is of no use here."</a:t>
            </a:r>
          </a:p>
          <a:p>
            <a:endParaRPr lang="en-GB" dirty="0"/>
          </a:p>
          <a:p>
            <a:r>
              <a:rPr lang="en-GB" b="1" dirty="0"/>
              <a:t>4. Give the example.</a:t>
            </a:r>
          </a:p>
          <a:p>
            <a:endParaRPr lang="en-GB" dirty="0"/>
          </a:p>
          <a:p>
            <a:r>
              <a:rPr lang="en-GB" b="1" dirty="0"/>
              <a:t>EXAMPLE</a:t>
            </a:r>
          </a:p>
          <a:p>
            <a:r>
              <a:rPr lang="en-GB" dirty="0"/>
              <a:t>Higher education. The university’s Arena requires flexible capability development for working professionals. But:</a:t>
            </a:r>
          </a:p>
          <a:p>
            <a:r>
              <a:rPr lang="en-GB" dirty="0"/>
              <a:t>- Programme approvals take 12 months.</a:t>
            </a:r>
          </a:p>
          <a:p>
            <a:r>
              <a:rPr lang="en-GB" dirty="0"/>
              <a:t>- Faculty contracts are designed around semesters.</a:t>
            </a:r>
          </a:p>
          <a:p>
            <a:r>
              <a:rPr lang="en-GB" dirty="0"/>
              <a:t>- Systems require fixed annual enrolment periods.</a:t>
            </a:r>
          </a:p>
          <a:p>
            <a:r>
              <a:rPr lang="en-GB" dirty="0"/>
              <a:t>- Accreditation limits how credentials can be structured.</a:t>
            </a:r>
          </a:p>
          <a:p>
            <a:r>
              <a:rPr lang="en-GB" dirty="0"/>
              <a:t>These conditions reveal the friction architecture surrounding the Arena. The Arena itself still stands.</a:t>
            </a:r>
          </a:p>
          <a:p>
            <a:endParaRPr lang="en-GB" dirty="0"/>
          </a:p>
          <a:p>
            <a:r>
              <a:rPr lang="en-GB" b="1" dirty="0"/>
              <a:t>5. Ask the strategic question.</a:t>
            </a:r>
          </a:p>
          <a:p>
            <a:r>
              <a:rPr lang="en-GB" dirty="0"/>
              <a:t>Ask: "Which conditions could materially slow, restrict or prevent us from delivering the customer end game we have defined?"</a:t>
            </a:r>
          </a:p>
          <a:p>
            <a:endParaRPr lang="en-GB" dirty="0"/>
          </a:p>
          <a:p>
            <a:r>
              <a:rPr lang="en-GB" b="1" dirty="0"/>
              <a:t>Deepen, say: </a:t>
            </a:r>
            <a:r>
              <a:rPr lang="en-GB" dirty="0"/>
              <a:t>"Senior teams often act on the first piece of internal data about an opportunity and miss the second-order question.</a:t>
            </a:r>
          </a:p>
          <a:p>
            <a:r>
              <a:rPr lang="en-GB" dirty="0"/>
              <a:t>On every major opportunity, ask the question behind the question before committing."</a:t>
            </a:r>
          </a:p>
          <a:p>
            <a:r>
              <a:rPr lang="en-GB" dirty="0"/>
              <a:t>(Insight: The question behind the question. Source: Journal, 16 May 2026 — Professional Insights: Strategy)</a:t>
            </a:r>
          </a:p>
          <a:p>
            <a:endParaRPr lang="en-GB" dirty="0"/>
          </a:p>
          <a:p>
            <a:r>
              <a:rPr lang="en-GB" b="1" dirty="0"/>
              <a:t>6. The three types of boundaries.</a:t>
            </a:r>
          </a:p>
          <a:p>
            <a:r>
              <a:rPr lang="en-GB" dirty="0"/>
              <a:t>Distinguish between three kinds:</a:t>
            </a:r>
          </a:p>
          <a:p>
            <a:r>
              <a:rPr lang="en-GB" dirty="0"/>
              <a:t>- A boundary we must accept. For example, legislation.</a:t>
            </a:r>
          </a:p>
          <a:p>
            <a:r>
              <a:rPr lang="en-GB" dirty="0"/>
              <a:t>- A boundary we can influence. Perhaps an industry standard.</a:t>
            </a:r>
          </a:p>
          <a:p>
            <a:r>
              <a:rPr lang="en-GB" dirty="0"/>
              <a:t>- A boundary we created ourselves. Perhaps an internal process, structure or policy.</a:t>
            </a:r>
          </a:p>
          <a:p>
            <a:endParaRPr lang="en-GB" dirty="0"/>
          </a:p>
          <a:p>
            <a:r>
              <a:rPr lang="en-GB" dirty="0"/>
              <a:t>Again for each boundary – leaders must ask "What is going to push back against us? </a:t>
            </a:r>
          </a:p>
          <a:p>
            <a:r>
              <a:rPr lang="en-GB" dirty="0"/>
              <a:t>What internal or external friction could slow this Key Result down or stop it entirely?"</a:t>
            </a:r>
          </a:p>
          <a:p>
            <a:r>
              <a:rPr lang="en-GB" dirty="0"/>
              <a:t>Then ask: "What must remain true operationally or regulatorily for us to actually deliver this without breaking?"</a:t>
            </a:r>
          </a:p>
          <a:p>
            <a:r>
              <a:rPr lang="en-GB" dirty="0"/>
              <a:t>Hold out for a condition that is either true or false.</a:t>
            </a:r>
          </a:p>
          <a:p>
            <a:endParaRPr lang="en-GB" dirty="0"/>
          </a:p>
          <a:p>
            <a:r>
              <a:rPr lang="en-GB" dirty="0"/>
              <a:t>Ask: "Which of your boundaries did your own organisation create?"</a:t>
            </a:r>
          </a:p>
          <a:p>
            <a:r>
              <a:rPr lang="en-GB" dirty="0"/>
              <a:t>Stay here. The self-created boundary generates particularly useful executive discussion.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1.3 — COMPETITION (THE TRUE LANDSCAPE)</a:t>
            </a:r>
          </a:p>
          <a:p>
            <a:endParaRPr lang="en-GB" dirty="0"/>
          </a:p>
          <a:p>
            <a:r>
              <a:rPr lang="en-GB" b="1" dirty="0"/>
              <a:t>HOW TO TEACH IT:</a:t>
            </a:r>
          </a:p>
          <a:p>
            <a:endParaRPr lang="en-GB" dirty="0"/>
          </a:p>
          <a:p>
            <a:r>
              <a:rPr lang="en-GB" b="1" dirty="0"/>
              <a:t>1. Read the question of the checkpoint.</a:t>
            </a:r>
          </a:p>
          <a:p>
            <a:r>
              <a:rPr lang="en-GB" dirty="0"/>
              <a:t>"Who or what else can satisfy the same Customer End Game?"</a:t>
            </a:r>
          </a:p>
          <a:p>
            <a:endParaRPr lang="en-GB" dirty="0"/>
          </a:p>
          <a:p>
            <a:r>
              <a:rPr lang="en-GB" b="1" dirty="0"/>
              <a:t>2. Give the strategic logic.</a:t>
            </a:r>
          </a:p>
          <a:p>
            <a:r>
              <a:rPr lang="en-GB" b="1" dirty="0"/>
              <a:t>Say: </a:t>
            </a:r>
            <a:r>
              <a:rPr lang="en-GB" dirty="0"/>
              <a:t>"Once you define the Arena by the customer’s need, your ‘competitors’ change.</a:t>
            </a:r>
          </a:p>
          <a:p>
            <a:r>
              <a:rPr lang="en-GB" dirty="0"/>
              <a:t>You are fighting anyone who solves that same problem in a different way, peers included."</a:t>
            </a:r>
          </a:p>
          <a:p>
            <a:endParaRPr lang="en-GB" dirty="0"/>
          </a:p>
          <a:p>
            <a:r>
              <a:rPr lang="en-GB" b="1" dirty="0"/>
              <a:t>Say: </a:t>
            </a:r>
            <a:r>
              <a:rPr lang="en-GB" dirty="0"/>
              <a:t>"Competition follows Arena deliberately.</a:t>
            </a:r>
          </a:p>
          <a:p>
            <a:r>
              <a:rPr lang="en-GB" dirty="0"/>
              <a:t>If leaders define Arena through their industry, they will probably identify competitors through their industry.</a:t>
            </a:r>
          </a:p>
          <a:p>
            <a:r>
              <a:rPr lang="en-GB" dirty="0"/>
              <a:t>If Arena is defined around the Customer End Game, the competitive field can look very different."</a:t>
            </a:r>
          </a:p>
          <a:p>
            <a:endParaRPr lang="en-GB" dirty="0"/>
          </a:p>
          <a:p>
            <a:r>
              <a:rPr lang="en-GB" b="1" dirty="0"/>
              <a:t>3. Read the two questions on the slide, left then right.</a:t>
            </a:r>
          </a:p>
          <a:p>
            <a:r>
              <a:rPr lang="en-GB" dirty="0"/>
              <a:t>- Who sells something similar to us?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What alternatives does the customer have for achieving the end game? </a:t>
            </a:r>
            <a:endParaRPr lang="en-US" sz="1200" dirty="0"/>
          </a:p>
          <a:p>
            <a:endParaRPr lang="en-GB" dirty="0"/>
          </a:p>
          <a:p>
            <a:r>
              <a:rPr lang="en-GB" dirty="0"/>
              <a:t>The critical distinction is between these two questions.</a:t>
            </a:r>
          </a:p>
          <a:p>
            <a:endParaRPr lang="en-GB" dirty="0"/>
          </a:p>
          <a:p>
            <a:r>
              <a:rPr lang="en-GB" b="1" dirty="0"/>
              <a:t>Say: </a:t>
            </a:r>
            <a:r>
              <a:rPr lang="en-GB" dirty="0"/>
              <a:t>"The competitor does not have to look like us, sell the same product, use the same business model or belong to the same industry.</a:t>
            </a:r>
          </a:p>
          <a:p>
            <a:r>
              <a:rPr lang="en-GB" dirty="0"/>
              <a:t>It only needs to offer the customer a credible alternative route to the outcome."</a:t>
            </a:r>
          </a:p>
          <a:p>
            <a:endParaRPr lang="en-GB" dirty="0"/>
          </a:p>
          <a:p>
            <a:r>
              <a:rPr lang="en-GB" b="1" dirty="0"/>
              <a:t>4. Give the example.</a:t>
            </a:r>
          </a:p>
          <a:p>
            <a:endParaRPr lang="en-GB" dirty="0"/>
          </a:p>
          <a:p>
            <a:r>
              <a:rPr lang="en-GB" b="1" dirty="0"/>
              <a:t>EXAMPLE</a:t>
            </a:r>
          </a:p>
          <a:p>
            <a:r>
              <a:rPr lang="en-GB" dirty="0"/>
              <a:t>Higher education. If we say “We provide postgraduate qualifications”, we will probably compare ourselves with other universities.</a:t>
            </a:r>
          </a:p>
          <a:p>
            <a:r>
              <a:rPr lang="en-GB" dirty="0"/>
              <a:t>The Arena has now been defined more deeply: build credible capability, flexibly, to advance career opportunity. Who or what else can enable that? The landscape may include:</a:t>
            </a:r>
          </a:p>
          <a:p>
            <a:r>
              <a:rPr lang="en-GB" dirty="0"/>
              <a:t>- Professional bodies.</a:t>
            </a:r>
          </a:p>
          <a:p>
            <a:r>
              <a:rPr lang="en-GB" dirty="0"/>
              <a:t>- Corporate academies.</a:t>
            </a:r>
          </a:p>
          <a:p>
            <a:r>
              <a:rPr lang="en-GB" dirty="0"/>
              <a:t>- Industry certifications.</a:t>
            </a:r>
          </a:p>
          <a:p>
            <a:r>
              <a:rPr lang="en-GB" dirty="0"/>
              <a:t>- Specialist training providers.</a:t>
            </a:r>
          </a:p>
          <a:p>
            <a:r>
              <a:rPr lang="en-GB" dirty="0"/>
              <a:t>- Digital learning platforms.</a:t>
            </a:r>
          </a:p>
          <a:p>
            <a:r>
              <a:rPr lang="en-GB" dirty="0"/>
              <a:t>- Employer-led development.</a:t>
            </a:r>
          </a:p>
          <a:p>
            <a:r>
              <a:rPr lang="en-GB" dirty="0"/>
              <a:t>- Alternative credential providers.</a:t>
            </a:r>
          </a:p>
          <a:p>
            <a:endParaRPr lang="en-GB" dirty="0"/>
          </a:p>
          <a:p>
            <a:r>
              <a:rPr lang="en-GB" dirty="0"/>
              <a:t>And potentially emerging models we have not historically classified as higher education.</a:t>
            </a:r>
          </a:p>
          <a:p>
            <a:endParaRPr lang="en-GB" dirty="0"/>
          </a:p>
          <a:p>
            <a:r>
              <a:rPr lang="en-GB" b="1" dirty="0"/>
              <a:t>5. Widen the list of alternatives, using the right-hand card.</a:t>
            </a:r>
          </a:p>
          <a:p>
            <a:r>
              <a:rPr lang="en-GB" b="1" dirty="0"/>
              <a:t>Say</a:t>
            </a:r>
            <a:r>
              <a:rPr lang="en-GB" dirty="0"/>
              <a:t>: "Competition can also be: do it internally, do it themselves, use technology, postpone it, choose a completely different solution, or do nothing."</a:t>
            </a:r>
          </a:p>
          <a:p>
            <a:endParaRPr lang="en-GB" b="1" dirty="0"/>
          </a:p>
          <a:p>
            <a:r>
              <a:rPr lang="en-GB" b="1" dirty="0"/>
              <a:t>Ask: </a:t>
            </a:r>
            <a:r>
              <a:rPr lang="en-GB" dirty="0"/>
              <a:t>"Who else solves your customer’s problem, including those outside your industry?"</a:t>
            </a:r>
          </a:p>
          <a:p>
            <a:r>
              <a:rPr lang="en-GB" dirty="0"/>
              <a:t>Listen for: competition defined as industry rivals only. Push for every alternative route the customer has to the outcome, including doing nothing.</a:t>
            </a:r>
          </a:p>
          <a:p>
            <a:endParaRPr lang="en-GB" dirty="0"/>
          </a:p>
          <a:p>
            <a:r>
              <a:rPr lang="en-GB" b="1" dirty="0"/>
              <a:t>Deepen, say: </a:t>
            </a:r>
            <a:r>
              <a:rPr lang="en-GB" dirty="0"/>
              <a:t>"The most effective competitive strategies target the specific assumptions on which a competitor’s position rests.</a:t>
            </a:r>
          </a:p>
          <a:p>
            <a:r>
              <a:rPr lang="en-GB" dirty="0"/>
              <a:t>Identify the foundational assumption, and the position built on it becomes unstable."</a:t>
            </a:r>
          </a:p>
          <a:p>
            <a:r>
              <a:rPr lang="en-GB" dirty="0"/>
              <a:t>(Insight: Competition. Source: Journal, 6 February 2026 — Professional Insights: Strategy)</a:t>
            </a:r>
          </a:p>
          <a:p>
            <a:endParaRPr lang="en-GB" dirty="0"/>
          </a:p>
          <a:p>
            <a:r>
              <a:rPr lang="en-GB" dirty="0"/>
              <a:t>Say: Again leaders must ask what must be true for who else is meeting the customer needs for our strategy to hold.</a:t>
            </a:r>
          </a:p>
          <a:p>
            <a:r>
              <a:rPr lang="en-GB" dirty="0"/>
              <a:t>Example, from higher education: Employers and learners must continue to perceive our credential and learning experience as sufficiently valuable to justify its additional time and cost relative to alternative capability pathways.</a:t>
            </a:r>
          </a:p>
          <a:p>
            <a:r>
              <a:rPr lang="en-GB" dirty="0"/>
              <a:t>Say: "That assumption can be monitored. If it begins to weaken, the strategy receives an early-warning signal."</a:t>
            </a:r>
          </a:p>
          <a:p>
            <a:endParaRPr lang="en-GB" dirty="0"/>
          </a:p>
          <a:p>
            <a:r>
              <a:rPr lang="en-GB" b="1" dirty="0"/>
              <a:t>6. Land the point.</a:t>
            </a:r>
          </a:p>
          <a:p>
            <a:r>
              <a:rPr lang="en-GB" b="1" dirty="0"/>
              <a:t>Say: "The customer is choosing between routes to an outcome."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1.4 — VALUE PROPOSITION (COHERENT ADVANTAGE)</a:t>
            </a:r>
          </a:p>
          <a:p>
            <a:endParaRPr lang="en-GB" dirty="0"/>
          </a:p>
          <a:p>
            <a:r>
              <a:rPr lang="en-GB" b="1" dirty="0"/>
              <a:t>HOW TO TEACH IT:</a:t>
            </a:r>
          </a:p>
          <a:p>
            <a:endParaRPr lang="en-GB" dirty="0"/>
          </a:p>
          <a:p>
            <a:r>
              <a:rPr lang="en-GB" b="1" dirty="0"/>
              <a:t>1. Read the question of the checkpoint.</a:t>
            </a:r>
          </a:p>
          <a:p>
            <a:r>
              <a:rPr lang="en-GB" dirty="0"/>
              <a:t>"Why should the customer choose the value we create?"</a:t>
            </a:r>
          </a:p>
          <a:p>
            <a:endParaRPr lang="en-GB" dirty="0"/>
          </a:p>
          <a:p>
            <a:r>
              <a:rPr lang="en-GB" b="1" dirty="0"/>
              <a:t>2. Give the strategic logic.</a:t>
            </a:r>
          </a:p>
          <a:p>
            <a:r>
              <a:rPr lang="en-GB" b="1" dirty="0"/>
              <a:t>Say: </a:t>
            </a:r>
            <a:r>
              <a:rPr lang="en-GB" dirty="0"/>
              <a:t>"Strategy wins when you are distinct.</a:t>
            </a:r>
          </a:p>
          <a:p>
            <a:endParaRPr lang="en-GB" dirty="0"/>
          </a:p>
          <a:p>
            <a:r>
              <a:rPr lang="en-GB" dirty="0"/>
              <a:t>Every Key Result should make your unique DNA stronger.</a:t>
            </a:r>
          </a:p>
          <a:p>
            <a:r>
              <a:rPr lang="en-GB" dirty="0"/>
              <a:t>If a goal dilutes your brand or confuses your value, it is a distraction."</a:t>
            </a:r>
          </a:p>
          <a:p>
            <a:endParaRPr lang="en-GB" dirty="0"/>
          </a:p>
          <a:p>
            <a:r>
              <a:rPr lang="en-GB" b="1" dirty="0"/>
              <a:t>Say: </a:t>
            </a:r>
            <a:r>
              <a:rPr lang="en-GB" dirty="0"/>
              <a:t>"Arena established what the customer is ultimately trying to achieve.</a:t>
            </a:r>
          </a:p>
          <a:p>
            <a:r>
              <a:rPr lang="en-GB" dirty="0"/>
              <a:t>Boundaries established the conditions within which we must deliver it.</a:t>
            </a:r>
          </a:p>
          <a:p>
            <a:r>
              <a:rPr lang="en-GB" dirty="0"/>
              <a:t>Competition revealed the alternatives available to the customer.</a:t>
            </a:r>
          </a:p>
          <a:p>
            <a:r>
              <a:rPr lang="en-GB" dirty="0"/>
              <a:t>Value Proposition now asks: given those alternatives, why should the customer choose us?"</a:t>
            </a:r>
          </a:p>
          <a:p>
            <a:endParaRPr lang="en-GB" dirty="0"/>
          </a:p>
          <a:p>
            <a:r>
              <a:rPr lang="en-GB" b="1" dirty="0"/>
              <a:t>3. Clear away the positive attributes.</a:t>
            </a:r>
          </a:p>
          <a:p>
            <a:r>
              <a:rPr lang="en-GB" b="1" dirty="0"/>
              <a:t>Say: </a:t>
            </a:r>
            <a:r>
              <a:rPr lang="en-GB" dirty="0"/>
              <a:t>"A Value Proposition is more than a description of what the organisation offers.</a:t>
            </a:r>
          </a:p>
          <a:p>
            <a:r>
              <a:rPr lang="en-GB" dirty="0"/>
              <a:t>High quality, customer focused, innovative, excellent service, experienced people: all of these may be positive attributes.</a:t>
            </a:r>
          </a:p>
          <a:p>
            <a:r>
              <a:rPr lang="en-GB" dirty="0"/>
              <a:t>On their own they establish no strategic value."</a:t>
            </a:r>
          </a:p>
          <a:p>
            <a:r>
              <a:rPr lang="en-GB" b="1" dirty="0"/>
              <a:t>Ask</a:t>
            </a:r>
            <a:r>
              <a:rPr lang="en-GB" dirty="0"/>
              <a:t>: "What combination of value do we create that matters to this customer, in this Arena, relative to the alternatives available?"</a:t>
            </a:r>
          </a:p>
          <a:p>
            <a:endParaRPr lang="en-GB" dirty="0"/>
          </a:p>
          <a:p>
            <a:r>
              <a:rPr lang="en-GB" b="1" dirty="0"/>
              <a:t>4. Teach the three tests on the slide.</a:t>
            </a:r>
          </a:p>
          <a:p>
            <a:endParaRPr lang="en-GB" dirty="0"/>
          </a:p>
          <a:p>
            <a:r>
              <a:rPr lang="en-GB" b="1" dirty="0"/>
              <a:t>Relevance</a:t>
            </a:r>
            <a:r>
              <a:rPr lang="en-GB" dirty="0"/>
              <a:t> — Does it matter?</a:t>
            </a:r>
          </a:p>
          <a:p>
            <a:r>
              <a:rPr lang="en-GB" dirty="0"/>
              <a:t>Does the value proposition address something important in the Customer End Game? If the customer does not materially value it, it is not an advantage.</a:t>
            </a:r>
          </a:p>
          <a:p>
            <a:endParaRPr lang="en-GB" dirty="0"/>
          </a:p>
          <a:p>
            <a:r>
              <a:rPr lang="en-GB" b="1" dirty="0"/>
              <a:t>Distinctiveness</a:t>
            </a:r>
            <a:r>
              <a:rPr lang="en-GB" dirty="0"/>
              <a:t> — Does it differentiate?</a:t>
            </a:r>
          </a:p>
          <a:p>
            <a:r>
              <a:rPr lang="en-GB" dirty="0"/>
              <a:t>Is there something meaningfully different about the value created, or can credible alternatives make essentially the same claim?</a:t>
            </a:r>
          </a:p>
          <a:p>
            <a:endParaRPr lang="en-GB" dirty="0"/>
          </a:p>
          <a:p>
            <a:r>
              <a:rPr lang="en-GB" b="1" dirty="0"/>
              <a:t>Deliverability</a:t>
            </a:r>
            <a:r>
              <a:rPr lang="en-GB" dirty="0"/>
              <a:t> — Can we consistently produce it?</a:t>
            </a:r>
          </a:p>
          <a:p>
            <a:r>
              <a:rPr lang="en-GB" dirty="0"/>
              <a:t>A promise becomes strategically valuable only when the organisation possesses the capability and system to deliver it repeatedly.</a:t>
            </a:r>
          </a:p>
          <a:p>
            <a:endParaRPr lang="en-GB" dirty="0"/>
          </a:p>
          <a:p>
            <a:r>
              <a:rPr lang="en-GB" b="1" dirty="0"/>
              <a:t>Read the foot of the slide: RELEVANT + DISTINCTIVE + DELIVERABLE = STRATEGIC VALUE.</a:t>
            </a:r>
          </a:p>
          <a:p>
            <a:endParaRPr lang="en-GB" dirty="0"/>
          </a:p>
          <a:p>
            <a:r>
              <a:rPr lang="en-GB" dirty="0"/>
              <a:t>Deepen, say: "Strategy is proven by the quality and consistency of the environment it produces.</a:t>
            </a:r>
          </a:p>
          <a:p>
            <a:r>
              <a:rPr lang="en-GB" dirty="0"/>
              <a:t>Organisations weaken their credibility when branding, claims or public positioning exceed the quality of the lived experience."</a:t>
            </a:r>
          </a:p>
          <a:p>
            <a:r>
              <a:rPr lang="en-GB" dirty="0"/>
              <a:t>(Insight: Value Proposition · coherence. Source: Journal, 16 July 2026 — Professional Insights: Strategy)</a:t>
            </a:r>
          </a:p>
          <a:p>
            <a:endParaRPr lang="en-GB" dirty="0"/>
          </a:p>
          <a:p>
            <a:r>
              <a:rPr lang="en-GB" b="1" dirty="0"/>
              <a:t>5. Give the example.</a:t>
            </a:r>
          </a:p>
          <a:p>
            <a:endParaRPr lang="en-GB" dirty="0"/>
          </a:p>
          <a:p>
            <a:r>
              <a:rPr lang="en-GB" b="1" dirty="0"/>
              <a:t>EXAMPLE</a:t>
            </a:r>
          </a:p>
          <a:p>
            <a:r>
              <a:rPr lang="en-ZA" b="1" dirty="0"/>
              <a:t>S2R® EXAMPLE — RELEVANCE, DISTINCTIVENESS AND DELIVERABILITY</a:t>
            </a:r>
          </a:p>
          <a:p>
            <a:r>
              <a:rPr lang="en-ZA" b="1" dirty="0"/>
              <a:t>Say:</a:t>
            </a:r>
            <a:endParaRPr lang="en-ZA" dirty="0"/>
          </a:p>
          <a:p>
            <a:r>
              <a:rPr lang="en-ZA" dirty="0"/>
              <a:t>"Let me illustrate how we applied these three tests when developing Strategy2Results®.</a:t>
            </a:r>
          </a:p>
          <a:p>
            <a:endParaRPr lang="en-ZA" b="1" dirty="0"/>
          </a:p>
          <a:p>
            <a:r>
              <a:rPr lang="en-ZA" b="1" dirty="0"/>
              <a:t>1. Relevance — Does it matter?</a:t>
            </a:r>
            <a:endParaRPr lang="en-ZA" dirty="0"/>
          </a:p>
          <a:p>
            <a:r>
              <a:rPr lang="en-ZA" dirty="0"/>
              <a:t>We began by examining a persistent organisational problem: companies invest heavily in strategy development but struggle to translate strategic intent into consistent results.</a:t>
            </a:r>
          </a:p>
          <a:p>
            <a:r>
              <a:rPr lang="en-ZA" dirty="0"/>
              <a:t>We identified the Customer End Game as achieving measurable, sustained strategic results. This became the problem S2R® was designed to address.</a:t>
            </a:r>
          </a:p>
          <a:p>
            <a:endParaRPr lang="en-ZA" b="1" dirty="0"/>
          </a:p>
          <a:p>
            <a:r>
              <a:rPr lang="en-ZA" b="1" dirty="0"/>
              <a:t>2. Distinctiveness — Does it differentiate?</a:t>
            </a:r>
            <a:endParaRPr lang="en-ZA" dirty="0"/>
          </a:p>
          <a:p>
            <a:r>
              <a:rPr lang="en-ZA" dirty="0"/>
              <a:t>We then asked why organisations would choose S2R® when other strategy and execution solutions already exist.</a:t>
            </a:r>
          </a:p>
          <a:p>
            <a:r>
              <a:rPr lang="en-ZA" dirty="0"/>
              <a:t>We identified gaps between strategy design, functional contributions and execution discipline. This informed our DIG framework: Direction, Influence and Grounding.</a:t>
            </a:r>
          </a:p>
          <a:p>
            <a:r>
              <a:rPr lang="en-ZA" dirty="0"/>
              <a:t>We developed an integrated methodology supported by diagnostics, contribution mapping and practical execution tools. Our intended differentiation lies in connecting these elements into one coherent strategy-to-results system.</a:t>
            </a:r>
          </a:p>
          <a:p>
            <a:endParaRPr lang="en-ZA" b="1" dirty="0"/>
          </a:p>
          <a:p>
            <a:r>
              <a:rPr lang="en-ZA" b="1" dirty="0"/>
              <a:t>3. Deliverability — Can we consistently produce it?</a:t>
            </a:r>
            <a:endParaRPr lang="en-ZA" dirty="0"/>
          </a:p>
          <a:p>
            <a:r>
              <a:rPr lang="en-ZA" dirty="0"/>
              <a:t>We recognised that different customers need different ways to access and apply S2R®. We therefore designed three delivery models:</a:t>
            </a:r>
          </a:p>
          <a:p>
            <a:pPr lvl="0"/>
            <a:r>
              <a:rPr lang="en-ZA" b="1" dirty="0"/>
              <a:t>CESI Intensive and Flexi:</a:t>
            </a:r>
            <a:r>
              <a:rPr lang="en-ZA" dirty="0"/>
              <a:t> Two pathways to the same professional credential, developing internal strategy integration capability.</a:t>
            </a:r>
          </a:p>
          <a:p>
            <a:pPr lvl="0"/>
            <a:r>
              <a:rPr lang="en-ZA" b="1" dirty="0"/>
              <a:t>Company Retreats:</a:t>
            </a:r>
            <a:r>
              <a:rPr lang="en-ZA" dirty="0"/>
              <a:t> Facilitated application of S2R® by leadership teams to address real organisational challenges and produce shared strategic outputs.</a:t>
            </a:r>
          </a:p>
          <a:p>
            <a:pPr lvl="0"/>
            <a:r>
              <a:rPr lang="en-ZA" b="1" dirty="0"/>
              <a:t>Open Workshops:</a:t>
            </a:r>
            <a:r>
              <a:rPr lang="en-ZA" dirty="0"/>
              <a:t> Focused learning experiences that develop specific strategic capabilities and practical skills.</a:t>
            </a:r>
          </a:p>
          <a:p>
            <a:endParaRPr lang="en-ZA" dirty="0"/>
          </a:p>
          <a:p>
            <a:r>
              <a:rPr lang="en-ZA" dirty="0"/>
              <a:t>We established IBSL to deliver these capability-development programmes, while Impactis Consulting provides organisational diagnostics, consulting interventions and digital S2R® tools.</a:t>
            </a:r>
          </a:p>
          <a:p>
            <a:endParaRPr lang="en-ZA" dirty="0"/>
          </a:p>
          <a:p>
            <a:r>
              <a:rPr lang="en-ZA" dirty="0"/>
              <a:t>This creates a structured foundation for consistent delivery, with repeatability to be demonstrated through client outcomes.</a:t>
            </a:r>
          </a:p>
          <a:p>
            <a:endParaRPr lang="en-ZA" b="1" dirty="0"/>
          </a:p>
          <a:p>
            <a:r>
              <a:rPr lang="en-ZA" b="1" dirty="0"/>
              <a:t>Close:</a:t>
            </a:r>
            <a:endParaRPr lang="en-ZA" dirty="0"/>
          </a:p>
          <a:p>
            <a:r>
              <a:rPr lang="en-ZA" dirty="0"/>
              <a:t>"Notice the sequence. We identified a problem customers genuinely care about, developed an approach intended to create distinctive value, and then designed the capabilities and delivery models needed to fulfil that promise.</a:t>
            </a:r>
          </a:p>
          <a:p>
            <a:r>
              <a:rPr lang="en-ZA" b="1" dirty="0"/>
              <a:t>That is the discipline behind testing a value proposition for Relevance, Distinctiveness and Deliverability.</a:t>
            </a:r>
            <a:r>
              <a:rPr lang="en-ZA" dirty="0"/>
              <a:t>“</a:t>
            </a:r>
          </a:p>
          <a:p>
            <a:endParaRPr lang="en-ZA" dirty="0"/>
          </a:p>
          <a:p>
            <a:r>
              <a:rPr lang="en-ZA" b="1" dirty="0"/>
              <a:t>Say </a:t>
            </a:r>
            <a:r>
              <a:rPr lang="en-ZA" dirty="0"/>
              <a:t>apply to your Key Results</a:t>
            </a:r>
          </a:p>
          <a:p>
            <a:r>
              <a:rPr lang="en-GB" dirty="0"/>
              <a:t>Take one of the Key Results a group confirmed in Unit 3.</a:t>
            </a:r>
          </a:p>
          <a:p>
            <a:r>
              <a:rPr lang="en-GB" dirty="0"/>
              <a:t>Ask: "How does this goal make us more ‘us’? Does this Key Result sharpen our distinctive edge or just add noise?"</a:t>
            </a:r>
          </a:p>
          <a:p>
            <a:r>
              <a:rPr lang="en-GB" dirty="0"/>
              <a:t>Then ask: "What must remain true about our value architecture for this Key Result to stay coherent and profitable?"</a:t>
            </a:r>
          </a:p>
          <a:p>
            <a:r>
              <a:rPr lang="en-GB" dirty="0"/>
              <a:t>Hold out for a condition that is either true or false.</a:t>
            </a:r>
          </a:p>
          <a:p>
            <a:endParaRPr lang="en-ZA" dirty="0"/>
          </a:p>
          <a:p>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a:t>SECTION 1 REFLECTIONS</a:t>
            </a:r>
          </a:p>
          <a:p>
            <a:endParaRPr lang="en-GB" dirty="0"/>
          </a:p>
          <a:p>
            <a:r>
              <a:rPr lang="en-GB" b="1" dirty="0"/>
              <a:t>HOW TO USE THIS SLIDE:</a:t>
            </a:r>
          </a:p>
          <a:p>
            <a:endParaRPr lang="en-GB" dirty="0"/>
          </a:p>
          <a:p>
            <a:r>
              <a:rPr lang="en-GB" b="1" dirty="0"/>
              <a:t>1. Show the slide and read the two prompts aloud.</a:t>
            </a:r>
          </a:p>
          <a:p>
            <a:r>
              <a:rPr lang="en-GB" dirty="0"/>
              <a:t>1 · Overview reflection: "Take one Key Result your group confirmed in Unit 3. What is it assuming about the world that has not yet been verified?"</a:t>
            </a:r>
          </a:p>
          <a:p>
            <a:endParaRPr lang="en-GB" dirty="0"/>
          </a:p>
          <a:p>
            <a:r>
              <a:rPr lang="en-GB" dirty="0"/>
              <a:t>2 · Bringing ABCV Together reflection: "Which of the four ABCV checkpoints is your organisation least likely to examine rigorously before launching a new strategic initiative? What does that pattern cost you?"</a:t>
            </a:r>
          </a:p>
          <a:p>
            <a:endParaRPr lang="en-GB" dirty="0"/>
          </a:p>
          <a:p>
            <a:r>
              <a:rPr lang="en-GB" b="1" dirty="0"/>
              <a:t>2. Say what the reflection is for.</a:t>
            </a:r>
          </a:p>
          <a:p>
            <a:r>
              <a:rPr lang="en-GB" dirty="0"/>
              <a:t>Point learners to the portal section that they will be required to complete with as much depth as possible.</a:t>
            </a:r>
          </a:p>
          <a:p>
            <a:r>
              <a:rPr lang="en-GB" dirty="0"/>
              <a:t>The reflections build the learning portfolio they receive at the end of the programme.</a:t>
            </a:r>
          </a:p>
          <a:p>
            <a:endParaRPr lang="en-GB" dirty="0"/>
          </a:p>
          <a:p>
            <a:r>
              <a:rPr lang="en-GB" dirty="0"/>
              <a:t>Say: "You write this reflection on the portal after the teaching, with as much depth as you can."</a:t>
            </a:r>
          </a:p>
          <a:p>
            <a:endParaRPr lang="en-GB" dirty="0"/>
          </a:p>
          <a:p>
            <a:r>
              <a:rPr lang="en-GB" b="1" dirty="0"/>
              <a:t>3. Set the standard.</a:t>
            </a:r>
          </a:p>
          <a:p>
            <a:r>
              <a:rPr lang="en-GB" dirty="0"/>
              <a:t>Say: "For the first reflection, name one real Key Result of your group and one thing it assumes. For the second, name the checkpoint and one real cost."</a:t>
            </a:r>
          </a:p>
          <a:p>
            <a:r>
              <a:rPr lang="en-GB" dirty="0"/>
              <a:t>Listen for: an assumption stated as a worry. Ask: "Written as a condition, is it true or false today?"</a:t>
            </a:r>
          </a:p>
          <a:p>
            <a:endParaRPr lang="en-GB" dirty="0"/>
          </a:p>
          <a:p>
            <a:r>
              <a:rPr lang="en-GB" b="1" dirty="0"/>
              <a:t>4. Bridge to Section 2.</a:t>
            </a:r>
          </a:p>
          <a:p>
            <a:r>
              <a:rPr lang="en-GB" dirty="0"/>
              <a:t>Say: "We have the four checkpoints. Section 2 asks why leaders so often fail to use them."</a:t>
            </a:r>
          </a:p>
          <a:p>
            <a:endParaRPr lang="en-GB" dirty="0"/>
          </a:p>
          <a:p>
            <a:r>
              <a:rPr lang="en-GB" b="1" dirty="0"/>
              <a:t>ON THE PORTAL, AFTER THE TEACHING:</a:t>
            </a:r>
          </a:p>
          <a:p>
            <a:r>
              <a:rPr lang="en-GB" dirty="0"/>
              <a:t>Participants write the two reflections in Section 1 of the participant file: under the overview, and under Bringing ABCV Together.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2 · INTELLIGENCE — WHY</a:t>
            </a:r>
          </a:p>
          <a:p>
            <a:endParaRPr lang="en-GB" dirty="0"/>
          </a:p>
          <a:p>
            <a:r>
              <a:rPr lang="en-GB" b="1" dirty="0"/>
              <a:t>HOW THIS SECTION RUNS:</a:t>
            </a:r>
          </a:p>
          <a:p>
            <a:r>
              <a:rPr lang="en-GB" dirty="0"/>
              <a:t>1. 2.1: the Industry Illusion and its three traps.</a:t>
            </a:r>
          </a:p>
          <a:p>
            <a:r>
              <a:rPr lang="en-GB" dirty="0"/>
              <a:t>2. 2.2: the Industry Illusion game, played with the room in groups, from the facilitator file.</a:t>
            </a:r>
          </a:p>
          <a:p>
            <a:r>
              <a:rPr lang="en-GB" dirty="0"/>
              <a:t>3. 2.2, after the game: the Arena question, back on the deck.</a:t>
            </a:r>
          </a:p>
          <a:p>
            <a:endParaRPr lang="en-GB" dirty="0"/>
          </a:p>
          <a:p>
            <a:r>
              <a:rPr lang="en-GB" b="1" dirty="0"/>
              <a:t>SECTION LEARNING OUTCOMES:</a:t>
            </a:r>
          </a:p>
          <a:p>
            <a:r>
              <a:rPr lang="en-GB" dirty="0"/>
              <a:t>1. Test strategic priorities against the outcomes customers seek.</a:t>
            </a:r>
          </a:p>
          <a:p>
            <a:r>
              <a:rPr lang="en-GB" dirty="0"/>
              <a:t>2. Surface and challenge assumptions underpinning strategic objectives.</a:t>
            </a:r>
          </a:p>
          <a:p>
            <a:endParaRPr lang="en-GB" dirty="0"/>
          </a:p>
          <a:p>
            <a:r>
              <a:rPr lang="en-GB" b="1" dirty="0"/>
              <a:t>HOW TO OPEN THE SECTION:</a:t>
            </a:r>
          </a:p>
          <a:p>
            <a:endParaRPr lang="en-GB" dirty="0"/>
          </a:p>
          <a:p>
            <a:r>
              <a:rPr lang="en-GB" b="1" dirty="0"/>
              <a:t>1. Say what the section does.</a:t>
            </a:r>
          </a:p>
          <a:p>
            <a:r>
              <a:rPr lang="en-GB" dirty="0"/>
              <a:t>Say: "In this section you discover, through your own decisions, how an industry frame shapes what leaders notice, dismiss and trust."</a:t>
            </a:r>
          </a:p>
          <a:p>
            <a:r>
              <a:rPr lang="en-GB" dirty="0"/>
              <a:t>Section intent: the game supplies the evidence. Arena supplies the test.</a:t>
            </a:r>
          </a:p>
          <a:p>
            <a:endParaRPr lang="en-GB" dirty="0"/>
          </a:p>
          <a:p>
            <a:r>
              <a:rPr lang="en-GB" b="1" dirty="0"/>
              <a:t>2. Read the line under the section title.</a:t>
            </a:r>
          </a:p>
          <a:p>
            <a:r>
              <a:rPr lang="en-GB" dirty="0"/>
              <a:t>"The industry we understand becomes the boundary of the world we examine."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2.1 — THE INDUSTRY ILLUSION (3 TRAPS)</a:t>
            </a:r>
          </a:p>
          <a:p>
            <a:endParaRPr lang="en-GB" dirty="0"/>
          </a:p>
          <a:p>
            <a:r>
              <a:rPr lang="en-GB" b="1" dirty="0"/>
              <a:t>HOW TO TEACH IT:</a:t>
            </a:r>
          </a:p>
          <a:p>
            <a:endParaRPr lang="en-GB" dirty="0"/>
          </a:p>
          <a:p>
            <a:r>
              <a:rPr lang="en-GB" b="1" dirty="0"/>
              <a:t>Start with the value of industry knowledge.</a:t>
            </a:r>
          </a:p>
          <a:p>
            <a:r>
              <a:rPr lang="en-GB" b="1" dirty="0"/>
              <a:t>Say: </a:t>
            </a:r>
            <a:r>
              <a:rPr lang="en-GB" dirty="0"/>
              <a:t>"Industry knowledge is essential to strategy.</a:t>
            </a:r>
          </a:p>
          <a:p>
            <a:r>
              <a:rPr lang="en-GB" dirty="0"/>
              <a:t>Over time, leaders build a deep understanding of how their industry works: its customers, competitors, economics, regulations, technologies and established ways of creating value.</a:t>
            </a:r>
          </a:p>
          <a:p>
            <a:r>
              <a:rPr lang="en-GB" dirty="0"/>
              <a:t>That knowledge also creates a frame through which leaders interpret their environment, birthing what we call the industry illusion.</a:t>
            </a:r>
          </a:p>
          <a:p>
            <a:endParaRPr lang="en-GB" dirty="0"/>
          </a:p>
          <a:p>
            <a:r>
              <a:rPr lang="en-GB" b="1" dirty="0"/>
              <a:t>Say: </a:t>
            </a:r>
            <a:r>
              <a:rPr lang="en-GB" dirty="0"/>
              <a:t>"The Industry Illusion occurs when that frame becomes so familiar that leaders begin to treat it as the boundary of what is strategically relevant.“</a:t>
            </a:r>
          </a:p>
          <a:p>
            <a:endParaRPr lang="en-GB" dirty="0"/>
          </a:p>
          <a:p>
            <a:r>
              <a:rPr lang="en-GB" b="1" dirty="0"/>
              <a:t>There are three forms of industry illusion</a:t>
            </a:r>
            <a:endParaRPr lang="en-GB" dirty="0"/>
          </a:p>
          <a:p>
            <a:endParaRPr lang="en-GB" dirty="0"/>
          </a:p>
          <a:p>
            <a:r>
              <a:rPr lang="en-GB" b="1" dirty="0"/>
              <a:t>1. Familiarity — We know this industry.</a:t>
            </a:r>
          </a:p>
          <a:p>
            <a:r>
              <a:rPr lang="en-GB" b="1" dirty="0"/>
              <a:t>Say: </a:t>
            </a:r>
            <a:r>
              <a:rPr lang="en-GB" dirty="0"/>
              <a:t>"Experience creates confidence in our understanding of how the industry works.</a:t>
            </a:r>
          </a:p>
          <a:p>
            <a:r>
              <a:rPr lang="en-GB" dirty="0"/>
              <a:t>We know the established players, customer patterns, sources of value and indicators we normally monitor.</a:t>
            </a:r>
          </a:p>
          <a:p>
            <a:endParaRPr lang="en-GB" dirty="0"/>
          </a:p>
          <a:p>
            <a:r>
              <a:rPr lang="en-GB" b="1" dirty="0"/>
              <a:t>The trap occurs </a:t>
            </a:r>
            <a:r>
              <a:rPr lang="en-GB" dirty="0"/>
              <a:t>when what we know becomes what we expect to continue seeing."</a:t>
            </a:r>
          </a:p>
          <a:p>
            <a:r>
              <a:rPr lang="en-GB" b="1" dirty="0"/>
              <a:t>Strategic risk: </a:t>
            </a:r>
            <a:r>
              <a:rPr lang="en-GB" dirty="0"/>
              <a:t>We interpret the future through patterns established by the past.</a:t>
            </a:r>
          </a:p>
          <a:p>
            <a:endParaRPr lang="en-GB" dirty="0"/>
          </a:p>
          <a:p>
            <a:r>
              <a:rPr lang="en-GB" b="1" dirty="0"/>
              <a:t>2. Exclusion — We discount what doesn’t fit it.</a:t>
            </a:r>
          </a:p>
          <a:p>
            <a:r>
              <a:rPr lang="en-GB" dirty="0"/>
              <a:t>Say: "Once we have a familiar picture of the industry, developments that fit that picture receive our attention.</a:t>
            </a:r>
          </a:p>
          <a:p>
            <a:r>
              <a:rPr lang="en-GB" dirty="0"/>
              <a:t>Signals that sit outside it can appear less relevant because they do not resemble the customers, competitors, technologies or business models we associate with our industry.</a:t>
            </a:r>
          </a:p>
          <a:p>
            <a:endParaRPr lang="en-GB" dirty="0"/>
          </a:p>
          <a:p>
            <a:r>
              <a:rPr lang="en-GB" b="1" dirty="0"/>
              <a:t>The trap </a:t>
            </a:r>
            <a:r>
              <a:rPr lang="en-GB" dirty="0"/>
              <a:t>is that we may see the signal but exclude it from serious strategic consideration."</a:t>
            </a:r>
          </a:p>
          <a:p>
            <a:r>
              <a:rPr lang="en-GB" b="1" dirty="0"/>
              <a:t>Strategic risk: </a:t>
            </a:r>
            <a:r>
              <a:rPr lang="en-GB" dirty="0"/>
              <a:t>What does not fit our industry frame gets underestimated.</a:t>
            </a:r>
          </a:p>
          <a:p>
            <a:endParaRPr lang="en-GB" dirty="0"/>
          </a:p>
          <a:p>
            <a:r>
              <a:rPr lang="en-GB" b="1" dirty="0"/>
              <a:t>3. Complacency — We become confident in the world we can see.</a:t>
            </a:r>
          </a:p>
          <a:p>
            <a:r>
              <a:rPr lang="en-GB" dirty="0"/>
              <a:t>Say: "When the organisation continues to perform, our established view of the industry appears to be validated.</a:t>
            </a:r>
          </a:p>
          <a:p>
            <a:r>
              <a:rPr lang="en-GB" dirty="0"/>
              <a:t>Market position, reputation, customer demand or past success can reinforce the belief that we understand what matters.</a:t>
            </a:r>
          </a:p>
          <a:p>
            <a:endParaRPr lang="en-GB" dirty="0"/>
          </a:p>
          <a:p>
            <a:r>
              <a:rPr lang="en-GB" b="1" dirty="0"/>
              <a:t>The trap occurs </a:t>
            </a:r>
            <a:r>
              <a:rPr lang="en-GB" dirty="0"/>
              <a:t>when evidence of current success becomes reassurance about future relevance."</a:t>
            </a:r>
          </a:p>
          <a:p>
            <a:r>
              <a:rPr lang="en-GB" b="1" dirty="0"/>
              <a:t>Strategic risk</a:t>
            </a:r>
            <a:r>
              <a:rPr lang="en-GB" dirty="0"/>
              <a:t>: We continue looking in the same places because nothing has yet forced us to look elsewhere.</a:t>
            </a:r>
          </a:p>
          <a:p>
            <a:endParaRPr lang="en-GB" dirty="0"/>
          </a:p>
          <a:p>
            <a:r>
              <a:rPr lang="en-GB" b="1" dirty="0"/>
              <a:t>Bridge to the game.</a:t>
            </a:r>
          </a:p>
          <a:p>
            <a:r>
              <a:rPr lang="en-GB" dirty="0"/>
              <a:t>Say: "You are about to make three decisions as an executive team. Make each one as you would at work."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2.2 — THE INDUSTRY ILLUSION GAME: THE FUTURE OF A UNIVERSITY (3 ROUNDS)</a:t>
            </a:r>
          </a:p>
          <a:p>
            <a:endParaRPr lang="en-GB" dirty="0"/>
          </a:p>
          <a:p>
            <a:r>
              <a:rPr lang="en-GB" b="1" dirty="0"/>
              <a:t>HOW TO TEACH IT:</a:t>
            </a:r>
          </a:p>
          <a:p>
            <a:endParaRPr lang="en-GB" dirty="0"/>
          </a:p>
          <a:p>
            <a:r>
              <a:rPr lang="en-GB" b="1" dirty="0"/>
              <a:t>1. Share the game.</a:t>
            </a:r>
          </a:p>
          <a:p>
            <a:r>
              <a:rPr lang="en-GB" dirty="0"/>
              <a:t>Stop sharing the deck and share the browser window that holds the facilitator file, at Section 2, part 2.2.</a:t>
            </a:r>
          </a:p>
          <a:p>
            <a:r>
              <a:rPr lang="en-GB" dirty="0"/>
              <a:t>Have that page ready before the lesson begins.</a:t>
            </a:r>
          </a:p>
          <a:p>
            <a:r>
              <a:rPr lang="en-GB" dirty="0"/>
              <a:t>The page holds six steps in order: Case Brief, Round 1, Round 2, Round 3, The Reveal, Apply Arena.</a:t>
            </a:r>
          </a:p>
          <a:p>
            <a:r>
              <a:rPr lang="en-GB" dirty="0"/>
              <a:t>Play the game with the room in groups. Each group makes its decision and defends it.</a:t>
            </a:r>
          </a:p>
          <a:p>
            <a:r>
              <a:rPr lang="en-GB" dirty="0"/>
              <a:t>Important: do not tell participants which trap each round is testing. Do not correct their answers during the game. Capture their decisions. Reveal the traps only at the end.</a:t>
            </a:r>
          </a:p>
          <a:p>
            <a:endParaRPr lang="en-GB" dirty="0"/>
          </a:p>
          <a:p>
            <a:r>
              <a:rPr lang="en-GB" b="1" dirty="0"/>
              <a:t>2. Give the case brief.</a:t>
            </a:r>
          </a:p>
          <a:p>
            <a:r>
              <a:rPr lang="en-GB" b="1" dirty="0"/>
              <a:t>Say</a:t>
            </a:r>
            <a:r>
              <a:rPr lang="en-GB" dirty="0"/>
              <a:t>: "You are the executive team of Apex University, an established private university."</a:t>
            </a:r>
          </a:p>
          <a:p>
            <a:r>
              <a:rPr lang="en-GB" dirty="0"/>
              <a:t>Read the brief on the screen: 18,000 students; strong undergraduate and postgraduate programmes; recognised accreditation; a respected business school; growing online delivery; strong relationships with employers; good graduate employment outcomes; stable enrolment.</a:t>
            </a:r>
          </a:p>
          <a:p>
            <a:r>
              <a:rPr lang="en-GB" dirty="0"/>
              <a:t>Say: "The Board is beginning development of the university’s 2032 Strategy.</a:t>
            </a:r>
          </a:p>
          <a:p>
            <a:r>
              <a:rPr lang="en-GB" dirty="0"/>
              <a:t>Your task is to advise the Board on where it should focus its strategic attention."</a:t>
            </a:r>
          </a:p>
          <a:p>
            <a:endParaRPr lang="en-GB" dirty="0"/>
          </a:p>
          <a:p>
            <a:r>
              <a:rPr lang="en-GB" b="1" dirty="0"/>
              <a:t>3. Round 1 — Where would you look?</a:t>
            </a:r>
          </a:p>
          <a:p>
            <a:r>
              <a:rPr lang="en-GB" dirty="0"/>
              <a:t>Say: "You have been asked to understand how Apex University’s environment is changing. Where would you look for intelligence?"</a:t>
            </a:r>
          </a:p>
          <a:p>
            <a:r>
              <a:rPr lang="en-GB" dirty="0"/>
              <a:t>Show the eight intelligence sources, A to H, on the screen.</a:t>
            </a:r>
          </a:p>
          <a:p>
            <a:r>
              <a:rPr lang="en-GB" dirty="0"/>
              <a:t>Say: "Select four that you would prioritise."</a:t>
            </a:r>
          </a:p>
          <a:p>
            <a:r>
              <a:rPr lang="en-GB" dirty="0"/>
              <a:t>Each group posts its four letters in the chat. Record the choices.</a:t>
            </a:r>
          </a:p>
          <a:p>
            <a:r>
              <a:rPr lang="en-GB" dirty="0"/>
              <a:t>What this round tests, for you only: Familiarity. Do participants gravitate toward A to D because these are recognisably higher-education indicators? Do not reveal this.</a:t>
            </a:r>
          </a:p>
          <a:p>
            <a:endParaRPr lang="en-GB" dirty="0"/>
          </a:p>
          <a:p>
            <a:r>
              <a:rPr lang="en-GB" b="1" dirty="0"/>
              <a:t>4. Round 2 — What deserves attention?</a:t>
            </a:r>
          </a:p>
          <a:p>
            <a:r>
              <a:rPr lang="en-GB" dirty="0"/>
              <a:t>Say: "Your strategy team has brought six developments to the executive committee. You only have capacity to investigate three in depth."</a:t>
            </a:r>
          </a:p>
          <a:p>
            <a:r>
              <a:rPr lang="en-GB" dirty="0"/>
              <a:t>Show the six signals on the screen.</a:t>
            </a:r>
          </a:p>
          <a:p>
            <a:r>
              <a:rPr lang="en-GB" dirty="0"/>
              <a:t>Ask: "Which three warrant immediate strategic investigation?"</a:t>
            </a:r>
          </a:p>
          <a:p>
            <a:r>
              <a:rPr lang="en-GB" dirty="0"/>
              <a:t>Then ask: "Which three would you deprioritise?"</a:t>
            </a:r>
          </a:p>
          <a:p>
            <a:r>
              <a:rPr lang="en-GB" dirty="0"/>
              <a:t>Require each group to make the decision. Capture what it excluded and, importantly, why.</a:t>
            </a:r>
          </a:p>
          <a:p>
            <a:r>
              <a:rPr lang="en-GB" dirty="0"/>
              <a:t>What this round tests, for you only: Exclusion. Are signals 3, 4 and 6 discounted because they do not initially look like developments inside higher education? Do not reveal the trap.</a:t>
            </a:r>
          </a:p>
          <a:p>
            <a:endParaRPr lang="en-GB" dirty="0"/>
          </a:p>
          <a:p>
            <a:r>
              <a:rPr lang="en-GB" b="1" dirty="0"/>
              <a:t>5. Round 3 — Should we be worried?</a:t>
            </a:r>
          </a:p>
          <a:p>
            <a:r>
              <a:rPr lang="en-GB" dirty="0"/>
              <a:t>Show the Apex University performance report on the screen: enrolment +5%, revenue +7%, graduate employment 86%, accreditation strong, student satisfaction 82%, market position top 3 private university, online enrolment +12%.</a:t>
            </a:r>
          </a:p>
          <a:p>
            <a:r>
              <a:rPr lang="en-GB" dirty="0"/>
              <a:t>Say: "The Board asks whether the university needs to reconsider its fundamental strategic direction."</a:t>
            </a:r>
          </a:p>
          <a:p>
            <a:r>
              <a:rPr lang="en-GB" dirty="0"/>
              <a:t>Give the three choices: A, no major change; B, adjust; C, re-examine. Each group must select one and defend it.</a:t>
            </a:r>
          </a:p>
          <a:p>
            <a:r>
              <a:rPr lang="en-GB" dirty="0"/>
              <a:t>What this round tests, for you only: Complacency. Does strong current performance reassure participants that the university understands its future? Choice A is a reasonable answer on the page: the numbers genuinely look good.</a:t>
            </a:r>
          </a:p>
          <a:p>
            <a:endParaRPr lang="en-GB" dirty="0"/>
          </a:p>
          <a:p>
            <a:r>
              <a:rPr lang="en-GB" b="1" dirty="0"/>
              <a:t>6. The Reveal.</a:t>
            </a:r>
          </a:p>
          <a:p>
            <a:r>
              <a:rPr lang="en-GB" dirty="0"/>
              <a:t>Now return to their decisions, round by round.</a:t>
            </a:r>
          </a:p>
          <a:p>
            <a:r>
              <a:rPr lang="en-GB" dirty="0"/>
              <a:t>Round 1, where did you look? Reveal Familiarity: We know this industry.</a:t>
            </a:r>
          </a:p>
          <a:p>
            <a:r>
              <a:rPr lang="en-GB" dirty="0"/>
              <a:t>Ask: "How much of your attention went toward the world you already recognised as higher education?"</a:t>
            </a:r>
          </a:p>
          <a:p>
            <a:r>
              <a:rPr lang="en-GB" dirty="0"/>
              <a:t>Round 2, what did you exclude? Reveal Exclusion: We discount what doesn’t fit it.</a:t>
            </a:r>
          </a:p>
          <a:p>
            <a:r>
              <a:rPr lang="en-GB" dirty="0"/>
              <a:t>Ask: "Which signals did you deprioritise because they appeared to sit outside the conventional higher-education environment?"</a:t>
            </a:r>
          </a:p>
          <a:p>
            <a:r>
              <a:rPr lang="en-GB" dirty="0"/>
              <a:t>Round 3, what reassured you? Reveal Complacency: We become confident in the world we can see.</a:t>
            </a:r>
          </a:p>
          <a:p>
            <a:r>
              <a:rPr lang="en-GB" dirty="0"/>
              <a:t>Ask: "Did strong current performance influence how urgently you believed the university needed to question its future?"</a:t>
            </a:r>
          </a:p>
          <a:p>
            <a:r>
              <a:rPr lang="en-GB" dirty="0"/>
              <a:t>Then give the crucial insight.</a:t>
            </a:r>
          </a:p>
          <a:p>
            <a:r>
              <a:rPr lang="en-GB" dirty="0"/>
              <a:t>Say: "Apex did not lack information. The question is what its industry frame caused leaders to notice, dismiss and trust."</a:t>
            </a:r>
          </a:p>
          <a:p>
            <a:endParaRPr lang="en-GB" dirty="0"/>
          </a:p>
          <a:p>
            <a:r>
              <a:rPr lang="en-GB" b="1" dirty="0"/>
              <a:t>7. Return to the deck.</a:t>
            </a:r>
          </a:p>
          <a:p>
            <a:r>
              <a:rPr lang="en-GB" dirty="0"/>
              <a:t>Stop sharing the facilitator file and return to the deck. The next slide carries the Arena question.</a:t>
            </a:r>
          </a:p>
          <a:p>
            <a:endParaRPr lang="en-GB" dirty="0"/>
          </a:p>
          <a:p>
            <a:r>
              <a:rPr lang="en-GB" b="1" dirty="0"/>
              <a:t>AFTER THE SESSION:</a:t>
            </a:r>
          </a:p>
          <a:p>
            <a:r>
              <a:rPr lang="en-GB" dirty="0"/>
              <a:t>Each participant’s own game reaches you with the submission, under the heading Industry Illusion Game.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3 · EXTRAPOLATING — WHERE</a:t>
            </a:r>
          </a:p>
          <a:p>
            <a:endParaRPr lang="en-GB" dirty="0"/>
          </a:p>
          <a:p>
            <a:r>
              <a:rPr lang="en-GB" b="1" dirty="0"/>
              <a:t>HOW THIS SECTION RUNS:</a:t>
            </a:r>
          </a:p>
          <a:p>
            <a:r>
              <a:rPr lang="en-GB" dirty="0"/>
              <a:t>1. 3.1a: the nine executive roles and the checkpoint each most often overlooks.</a:t>
            </a:r>
          </a:p>
          <a:p>
            <a:r>
              <a:rPr lang="en-GB" dirty="0"/>
              <a:t>2. 3.1b: one role card in full, the CEO.</a:t>
            </a:r>
          </a:p>
          <a:p>
            <a:r>
              <a:rPr lang="en-GB" dirty="0"/>
              <a:t>3. The Section 3 Reflections slide: the reflection participants write on the portal after the teaching.</a:t>
            </a:r>
          </a:p>
          <a:p>
            <a:endParaRPr lang="en-GB" dirty="0"/>
          </a:p>
          <a:p>
            <a:r>
              <a:rPr lang="en-GB" b="1" dirty="0"/>
              <a:t>SECTION LEARNING OUTCOMES:</a:t>
            </a:r>
          </a:p>
          <a:p>
            <a:r>
              <a:rPr lang="en-GB" dirty="0"/>
              <a:t>1. Diagnose integrity blind spots arising from functional perspectives.</a:t>
            </a:r>
          </a:p>
          <a:p>
            <a:r>
              <a:rPr lang="en-GB" dirty="0"/>
              <a:t>2. Assess how functional blind spots combine into enterprise strategic risk.</a:t>
            </a:r>
          </a:p>
          <a:p>
            <a:endParaRPr lang="en-GB" dirty="0"/>
          </a:p>
          <a:p>
            <a:r>
              <a:rPr lang="en-GB" b="1" dirty="0"/>
              <a:t>HOW TO OPEN THE SECTION:</a:t>
            </a:r>
          </a:p>
          <a:p>
            <a:endParaRPr lang="en-GB" dirty="0"/>
          </a:p>
          <a:p>
            <a:r>
              <a:rPr lang="en-GB" b="1" dirty="0"/>
              <a:t>1. Say what the section does.</a:t>
            </a:r>
          </a:p>
          <a:p>
            <a:r>
              <a:rPr lang="en-GB" dirty="0"/>
              <a:t>Say: "Every executive role is trained to protect a different part of the enterprise system.</a:t>
            </a:r>
          </a:p>
          <a:p>
            <a:r>
              <a:rPr lang="en-GB" dirty="0"/>
              <a:t>These specialisations create selective attention, and predictable strategic blind spots across the leadership mandate."</a:t>
            </a:r>
          </a:p>
          <a:p>
            <a:r>
              <a:rPr lang="en-GB" dirty="0"/>
              <a:t>Section intent: make the ABCV framework personal to each leader’s role. The aim is illumination. Leaders should finish knowing which ABCV checkpoint is most likely their organisational blind spot and why it creates specific downstream consequences.</a:t>
            </a:r>
          </a:p>
          <a:p>
            <a:endParaRPr lang="en-GB" dirty="0"/>
          </a:p>
          <a:p>
            <a:r>
              <a:rPr lang="en-GB" b="1" dirty="0"/>
              <a:t>2. Return to the answers from Section 1.</a:t>
            </a:r>
          </a:p>
          <a:p>
            <a:r>
              <a:rPr lang="en-GB" dirty="0"/>
              <a:t>Recall the checkpoints the room named as most consistently overlooked at the end of Section 1. Section 3 shows where those answers come from.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3.1 — THE EXECUTIVE HOT ZONE: ROLE-BASED BLIND SPOTS (9 ROLES)</a:t>
            </a:r>
          </a:p>
          <a:p>
            <a:endParaRPr lang="en-GB" dirty="0"/>
          </a:p>
          <a:p>
            <a:r>
              <a:rPr lang="en-GB" b="1" dirty="0"/>
              <a:t>HOW TO TEACH IT:</a:t>
            </a:r>
          </a:p>
          <a:p>
            <a:endParaRPr lang="en-GB" dirty="0"/>
          </a:p>
          <a:p>
            <a:r>
              <a:rPr lang="en-GB" dirty="0"/>
              <a:t>The elephant story and biases will always show up as leaders give their input to the strategy.</a:t>
            </a:r>
          </a:p>
          <a:p>
            <a:endParaRPr lang="en-GB" dirty="0"/>
          </a:p>
          <a:p>
            <a:r>
              <a:rPr lang="en-GB" dirty="0"/>
              <a:t>And what we is that the biases show up on the basis of the role the leader holds more than their character.</a:t>
            </a:r>
          </a:p>
          <a:p>
            <a:endParaRPr lang="en-GB" dirty="0"/>
          </a:p>
          <a:p>
            <a:r>
              <a:rPr lang="en-ZA" b="1" dirty="0"/>
              <a:t>Say:</a:t>
            </a:r>
            <a:endParaRPr lang="en-ZA" dirty="0"/>
          </a:p>
          <a:p>
            <a:r>
              <a:rPr lang="en-ZA" dirty="0"/>
              <a:t>"Every executive looks at strategy through the eyes of their responsibility. That view gives them expertise, but it can also create blind spots.</a:t>
            </a:r>
          </a:p>
          <a:p>
            <a:r>
              <a:rPr lang="en-ZA" dirty="0"/>
              <a:t>Let's examine four executives. Each is competent, each is doing their job, and each may still overlook something important about the organisation's strategic context.“</a:t>
            </a:r>
          </a:p>
          <a:p>
            <a:endParaRPr lang="en-ZA" dirty="0"/>
          </a:p>
          <a:p>
            <a:r>
              <a:rPr lang="en-ZA" b="1" dirty="0"/>
              <a:t>2. Walk through the four characters</a:t>
            </a:r>
          </a:p>
          <a:p>
            <a:endParaRPr lang="en-ZA" dirty="0"/>
          </a:p>
          <a:p>
            <a:r>
              <a:rPr lang="en-ZA" b="1" dirty="0"/>
              <a:t>CEO — Blind Spot: Boundaries</a:t>
            </a:r>
            <a:endParaRPr lang="en-ZA" dirty="0"/>
          </a:p>
          <a:p>
            <a:r>
              <a:rPr lang="en-ZA" dirty="0"/>
              <a:t>"The CEO sees the vision and wants the organisation to move. But sometimes the excitement about where we are going overshadows the conditions that could prevent us from getting there.</a:t>
            </a:r>
          </a:p>
          <a:p>
            <a:r>
              <a:rPr lang="en-ZA" dirty="0"/>
              <a:t>The ABCV question becomes: </a:t>
            </a:r>
            <a:r>
              <a:rPr lang="en-ZA" b="1" dirty="0"/>
              <a:t>What boundaries could prevent us from achieving our strategic ambition, and which can we influence or redesign?</a:t>
            </a:r>
            <a:r>
              <a:rPr lang="en-ZA" dirty="0"/>
              <a:t>"</a:t>
            </a:r>
          </a:p>
          <a:p>
            <a:endParaRPr lang="en-ZA" b="1" dirty="0"/>
          </a:p>
          <a:p>
            <a:r>
              <a:rPr lang="en-ZA" b="1" dirty="0"/>
              <a:t>CFO — Blind Spot: Arena</a:t>
            </a:r>
            <a:endParaRPr lang="en-ZA" dirty="0"/>
          </a:p>
          <a:p>
            <a:r>
              <a:rPr lang="en-ZA" dirty="0"/>
              <a:t>"The CFO examines financial viability, revenue, costs and returns. The numbers may look healthy, but financial performance often tells us what has happened. It says less about whether the underlying customer need is changing.</a:t>
            </a:r>
          </a:p>
          <a:p>
            <a:r>
              <a:rPr lang="en-ZA" dirty="0"/>
              <a:t>An organisation can continue generating revenue from a business model whose relevance is gradually declining.</a:t>
            </a:r>
          </a:p>
          <a:p>
            <a:r>
              <a:rPr lang="en-ZA" dirty="0"/>
              <a:t>The ABCV question becomes: </a:t>
            </a:r>
            <a:r>
              <a:rPr lang="en-ZA" b="1" dirty="0"/>
              <a:t>Are we still operating in an arena where the customer need is important, relevant and sustainable?</a:t>
            </a:r>
            <a:r>
              <a:rPr lang="en-ZA" dirty="0"/>
              <a:t>"</a:t>
            </a:r>
          </a:p>
          <a:p>
            <a:endParaRPr lang="en-ZA" b="1" dirty="0"/>
          </a:p>
          <a:p>
            <a:r>
              <a:rPr lang="en-ZA" b="1" dirty="0"/>
              <a:t>CHRO — Blind Spot: Competition</a:t>
            </a:r>
            <a:endParaRPr lang="en-ZA" dirty="0"/>
          </a:p>
          <a:p>
            <a:r>
              <a:rPr lang="en-ZA" dirty="0"/>
              <a:t>"The CHRO focuses on people capability, engagement and alignment. These are essential to execution.</a:t>
            </a:r>
          </a:p>
          <a:p>
            <a:r>
              <a:rPr lang="en-ZA" dirty="0"/>
              <a:t>But imagine having highly motivated employees, excellent teamwork and strong performance management, all directed towards a strategy that competitors are already making irrelevant.</a:t>
            </a:r>
          </a:p>
          <a:p>
            <a:r>
              <a:rPr lang="en-ZA" dirty="0"/>
              <a:t>The ABCV question becomes: </a:t>
            </a:r>
            <a:r>
              <a:rPr lang="en-ZA" b="1" dirty="0"/>
              <a:t>Are we building and aligning our people's capabilities to compete effectively in the market we are targeting?</a:t>
            </a:r>
            <a:r>
              <a:rPr lang="en-ZA" dirty="0"/>
              <a:t>"</a:t>
            </a:r>
          </a:p>
          <a:p>
            <a:endParaRPr lang="en-ZA" b="1" dirty="0"/>
          </a:p>
          <a:p>
            <a:r>
              <a:rPr lang="en-ZA" b="1" dirty="0"/>
              <a:t>CTO — Blind Spot: Value Proposition</a:t>
            </a:r>
            <a:endParaRPr lang="en-ZA" dirty="0"/>
          </a:p>
          <a:p>
            <a:r>
              <a:rPr lang="en-ZA" dirty="0"/>
              <a:t>"The CTO may focus on technological capability, system performance and innovation.</a:t>
            </a:r>
          </a:p>
          <a:p>
            <a:r>
              <a:rPr lang="en-ZA" dirty="0"/>
              <a:t>We can build a sophisticated digital platform, automate processes and introduce advanced technology. But technological excellence does not automatically translate into customer value.</a:t>
            </a:r>
          </a:p>
          <a:p>
            <a:r>
              <a:rPr lang="en-ZA" dirty="0"/>
              <a:t>The ABCV question becomes: </a:t>
            </a:r>
            <a:r>
              <a:rPr lang="en-ZA" b="1" dirty="0"/>
              <a:t>Does our solution create value customers genuinely care about, and is that value meaningfully different from available alternatives?</a:t>
            </a:r>
            <a:r>
              <a:rPr lang="en-ZA" dirty="0"/>
              <a:t>"</a:t>
            </a:r>
          </a:p>
          <a:p>
            <a:endParaRPr lang="en-ZA" b="1" dirty="0"/>
          </a:p>
          <a:p>
            <a:r>
              <a:rPr lang="en-ZA" b="1" dirty="0"/>
              <a:t>3. Draw Out the Strategic Insight</a:t>
            </a:r>
          </a:p>
          <a:p>
            <a:r>
              <a:rPr lang="en-ZA" b="1" dirty="0"/>
              <a:t>Say:</a:t>
            </a:r>
            <a:endParaRPr lang="en-ZA" dirty="0"/>
          </a:p>
          <a:p>
            <a:r>
              <a:rPr lang="en-ZA" dirty="0"/>
              <a:t>"Notice something interesting. None of these executives is necessarily wrong.</a:t>
            </a:r>
          </a:p>
          <a:p>
            <a:r>
              <a:rPr lang="en-ZA" dirty="0"/>
              <a:t>The CEO is right to pursue the vision. The CFO is right to protect financial viability. The CHRO is right to develop people. The CTO is right to strengthen technological capability.</a:t>
            </a:r>
          </a:p>
          <a:p>
            <a:endParaRPr lang="en-ZA" b="1" dirty="0"/>
          </a:p>
          <a:p>
            <a:r>
              <a:rPr lang="en-ZA" b="1" dirty="0"/>
              <a:t>The problem emerges when each executive's functional perspective becomes the organisation's entire strategic perspective.</a:t>
            </a:r>
            <a:endParaRPr lang="en-ZA" dirty="0"/>
          </a:p>
          <a:p>
            <a:r>
              <a:rPr lang="en-ZA" dirty="0"/>
              <a:t>That is how we can end up with a strategy that makes perfect sense within individual functions but fails when tested against the broader strategic context."</a:t>
            </a:r>
          </a:p>
          <a:p>
            <a:endParaRPr lang="en-ZA" b="1" dirty="0"/>
          </a:p>
          <a:p>
            <a:r>
              <a:rPr lang="en-ZA" b="1" dirty="0"/>
              <a:t>4. Engage Participants</a:t>
            </a:r>
          </a:p>
          <a:p>
            <a:r>
              <a:rPr lang="en-ZA" b="1" dirty="0"/>
              <a:t>Ask:</a:t>
            </a:r>
            <a:endParaRPr lang="en-ZA" dirty="0"/>
          </a:p>
          <a:p>
            <a:r>
              <a:rPr lang="en-ZA" dirty="0"/>
              <a:t>"Looking at these four characters, which blind spot do you recognise most in your organisation?"</a:t>
            </a:r>
          </a:p>
          <a:p>
            <a:r>
              <a:rPr lang="en-ZA" dirty="0"/>
              <a:t>Take two or three responses.</a:t>
            </a:r>
          </a:p>
          <a:p>
            <a:r>
              <a:rPr lang="en-ZA" dirty="0"/>
              <a:t>Then ask:</a:t>
            </a:r>
          </a:p>
          <a:p>
            <a:r>
              <a:rPr lang="en-ZA" dirty="0"/>
              <a:t>"Can you think of a situation where an executive was making a perfectly reasonable decision from their functional perspective, but that decision created a problem for the wider organisation?"</a:t>
            </a:r>
          </a:p>
          <a:p>
            <a:endParaRPr lang="en-ZA" b="1" dirty="0"/>
          </a:p>
          <a:p>
            <a:r>
              <a:rPr lang="en-ZA" b="1" dirty="0"/>
              <a:t>5. Close and Reinforce</a:t>
            </a:r>
          </a:p>
          <a:p>
            <a:r>
              <a:rPr lang="en-ZA" b="1" dirty="0"/>
              <a:t>Say:</a:t>
            </a:r>
            <a:endParaRPr lang="en-ZA" dirty="0"/>
          </a:p>
          <a:p>
            <a:r>
              <a:rPr lang="en-ZA" dirty="0"/>
              <a:t>"This is why ABCV matters.</a:t>
            </a:r>
          </a:p>
          <a:p>
            <a:r>
              <a:rPr lang="en-ZA" dirty="0"/>
              <a:t>Boundaries, Arena, Competition and Value Proposition help us examine strategic direction from perspectives that individual functions may overlook.</a:t>
            </a:r>
          </a:p>
          <a:p>
            <a:r>
              <a:rPr lang="en-ZA" dirty="0"/>
              <a:t>And remember, these are illustrative blind spots. A CEO could overlook competition, a CFO could overlook boundaries, and a CTO could overlook the arena.</a:t>
            </a:r>
          </a:p>
          <a:p>
            <a:r>
              <a:rPr lang="en-ZA" b="1" dirty="0"/>
              <a:t>The lesson is that functional expertise gives us depth, but strategic integration gives us the enterprise view.</a:t>
            </a:r>
            <a:endParaRPr lang="en-ZA" dirty="0"/>
          </a:p>
          <a:p>
            <a:r>
              <a:rPr lang="en-ZA" dirty="0"/>
              <a:t>When we bring these perspectives together, we improve our ability to identify the assumptions, constraints and competitive realities that could undermine our strategy before we commit to execution."</a:t>
            </a:r>
          </a:p>
          <a:p>
            <a:r>
              <a:rPr lang="en-ZA" b="1" dirty="0"/>
              <a:t>Final reflection:</a:t>
            </a:r>
            <a:endParaRPr lang="en-ZA" dirty="0"/>
          </a:p>
          <a:p>
            <a:r>
              <a:rPr lang="en-ZA" dirty="0"/>
              <a:t>"Which part of ABCV would your own functional expertise naturally lead you to overlook?"</a:t>
            </a:r>
          </a:p>
          <a:p>
            <a:endParaRPr lang="en-GB" dirty="0"/>
          </a:p>
          <a:p>
            <a:endParaRPr lang="en-GB" dirty="0"/>
          </a:p>
          <a:p>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a:t>SECTION 3 REFLECTIONS</a:t>
            </a:r>
          </a:p>
          <a:p>
            <a:endParaRPr lang="en-GB" dirty="0"/>
          </a:p>
          <a:p>
            <a:r>
              <a:rPr lang="en-GB" b="1" dirty="0"/>
              <a:t>HOW TO USE THIS SLIDE:</a:t>
            </a:r>
          </a:p>
          <a:p>
            <a:endParaRPr lang="en-GB" dirty="0"/>
          </a:p>
          <a:p>
            <a:r>
              <a:rPr lang="en-GB" b="1" dirty="0"/>
              <a:t>1. Show the slide and read the prompt aloud.</a:t>
            </a:r>
          </a:p>
          <a:p>
            <a:r>
              <a:rPr lang="en-GB" dirty="0"/>
              <a:t>3.1 Reflection: "Having explored your role’s typical blind spot: what is one MBT condition in that checkpoint that your organisation is currently assuming without confirmation? What would it take to verify it?"</a:t>
            </a:r>
          </a:p>
          <a:p>
            <a:endParaRPr lang="en-GB" dirty="0"/>
          </a:p>
          <a:p>
            <a:r>
              <a:rPr lang="en-GB" b="1" dirty="0"/>
              <a:t>2. Say what the reflection is for.</a:t>
            </a:r>
          </a:p>
          <a:p>
            <a:r>
              <a:rPr lang="en-GB" dirty="0"/>
              <a:t>Point learners to the portal section that they will be required to complete with as much depth as possible.</a:t>
            </a:r>
          </a:p>
          <a:p>
            <a:r>
              <a:rPr lang="en-GB" dirty="0"/>
              <a:t>The reflections build the learning portfolio they receive at the end of the programme.</a:t>
            </a:r>
          </a:p>
          <a:p>
            <a:endParaRPr lang="en-GB" dirty="0"/>
          </a:p>
          <a:p>
            <a:r>
              <a:rPr lang="en-GB" dirty="0"/>
              <a:t>Say: "You write this reflection on the portal after the teaching, with as much depth as you can."</a:t>
            </a:r>
          </a:p>
          <a:p>
            <a:endParaRPr lang="en-GB" dirty="0"/>
          </a:p>
          <a:p>
            <a:r>
              <a:rPr lang="en-GB" b="1" dirty="0"/>
              <a:t>3. Set the standard.</a:t>
            </a:r>
          </a:p>
          <a:p>
            <a:r>
              <a:rPr lang="en-GB" dirty="0"/>
              <a:t>Say: "Name the checkpoint of your role.</a:t>
            </a:r>
          </a:p>
          <a:p>
            <a:r>
              <a:rPr lang="en-GB" dirty="0"/>
              <a:t>Write one condition your organisation is assuming, in a form that is either true or false.</a:t>
            </a:r>
          </a:p>
          <a:p>
            <a:r>
              <a:rPr lang="en-GB" dirty="0"/>
              <a:t>Then say what evidence would verify it and who holds that evidence."</a:t>
            </a:r>
          </a:p>
          <a:p>
            <a:r>
              <a:rPr lang="en-GB" dirty="0"/>
              <a:t>Listen for: a general concern where a condition is needed. Ask: "What exactly must remain true?"</a:t>
            </a:r>
          </a:p>
          <a:p>
            <a:endParaRPr lang="en-GB" dirty="0"/>
          </a:p>
          <a:p>
            <a:r>
              <a:rPr lang="en-GB" b="1" dirty="0"/>
              <a:t>4. Bridge to Section 5.</a:t>
            </a:r>
          </a:p>
          <a:p>
            <a:r>
              <a:rPr lang="en-GB" dirty="0"/>
              <a:t>Say: "We know the checkpoints and we know our blind spots. Section 5 applies both to your own Key Results."</a:t>
            </a:r>
          </a:p>
          <a:p>
            <a:endParaRPr lang="en-GB" dirty="0"/>
          </a:p>
          <a:p>
            <a:r>
              <a:rPr lang="en-GB" b="1" dirty="0"/>
              <a:t>ON THE PORTAL, AFTER THE TEACHING:</a:t>
            </a:r>
          </a:p>
          <a:p>
            <a:r>
              <a:rPr lang="en-GB" dirty="0"/>
              <a:t>Participants write the reflection in Section 3 of the participant file: 3.1 Reflection.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SECTION 5 · APPLICATION — IN PRACTICE</a:t>
            </a:r>
          </a:p>
          <a:p>
            <a:endParaRPr lang="en-GB"/>
          </a:p>
          <a:p>
            <a:r>
              <a:rPr lang="en-GB"/>
              <a:t>HOW THIS SECTION RUNS:</a:t>
            </a:r>
          </a:p>
          <a:p>
            <a:r>
              <a:rPr lang="en-GB"/>
              <a:t>1. 5.1: the worked example. One Key Result of the client services company from Unit 3, taken through four steps, on six slides.</a:t>
            </a:r>
          </a:p>
          <a:p>
            <a:r>
              <a:rPr lang="en-GB"/>
              <a:t>2. 5.2: the briefing for the Capstone work. Each group takes its own Unit 3 Key Results through the same four steps.</a:t>
            </a:r>
          </a:p>
          <a:p>
            <a:r>
              <a:rPr lang="en-GB"/>
              <a:t>3. 5.3: verification ownership and the executive blind spot. The group assigns each critical condition to an executive and names the checkpoint its team is most likely to overlook.</a:t>
            </a:r>
          </a:p>
          <a:p>
            <a:endParaRPr lang="en-GB"/>
          </a:p>
          <a:p>
            <a:r>
              <a:rPr lang="en-GB"/>
              <a:t>SECTION LEARNING OUTCOMES:</a:t>
            </a:r>
          </a:p>
          <a:p>
            <a:r>
              <a:rPr lang="en-GB"/>
              <a:t>1. Validate the critical assumptions, dependencies and uncertainties behind strategic objectives.</a:t>
            </a:r>
          </a:p>
          <a:p>
            <a:r>
              <a:rPr lang="en-GB"/>
              <a:t>2. Assign and coordinate executive accountability for validating strategic conditions.</a:t>
            </a:r>
          </a:p>
          <a:p>
            <a:endParaRPr lang="en-GB"/>
          </a:p>
          <a:p>
            <a:r>
              <a:rPr lang="en-GB"/>
              <a:t>HOW TO OPEN THE SECTION:</a:t>
            </a:r>
          </a:p>
          <a:p>
            <a:endParaRPr lang="en-GB"/>
          </a:p>
          <a:p>
            <a:r>
              <a:rPr lang="en-GB"/>
              <a:t>1. Say what the section does.</a:t>
            </a:r>
          </a:p>
          <a:p>
            <a:r>
              <a:rPr lang="en-GB"/>
              <a:t>Say: "This is where the checkpoints are applied to your own direction.</a:t>
            </a:r>
          </a:p>
          <a:p>
            <a:r>
              <a:rPr lang="en-GB"/>
              <a:t>Your group brings in the Key Results it confirmed in Unit 3 and takes each one through four steps.</a:t>
            </a:r>
          </a:p>
          <a:p>
            <a:r>
              <a:rPr lang="en-GB"/>
              <a:t>At each step it names the condition that must remain true."</a:t>
            </a:r>
          </a:p>
          <a:p>
            <a:r>
              <a:rPr lang="en-GB"/>
              <a:t>This is Capstone work: the confirmed outputs feed each team’s Capstone Blueprint.</a:t>
            </a:r>
          </a:p>
          <a:p>
            <a:endParaRPr lang="en-GB"/>
          </a:p>
          <a:p>
            <a:r>
              <a:rPr lang="en-GB"/>
              <a:t>2. Say the order.</a:t>
            </a:r>
          </a:p>
          <a:p>
            <a:r>
              <a:rPr lang="en-GB"/>
              <a:t>Say: "We first walk one worked example in full. Your exercise then follows the worked example step for step."</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5.1 — WORKED EXAMPLE: STRESS-TESTING A KEY RESULT (4 STEPS)</a:t>
            </a:r>
          </a:p>
          <a:p>
            <a:endParaRPr lang="en-GB" dirty="0"/>
          </a:p>
          <a:p>
            <a:r>
              <a:rPr lang="en-GB" b="1" dirty="0"/>
              <a:t>HOW TO TEACH IT:</a:t>
            </a:r>
          </a:p>
          <a:p>
            <a:endParaRPr lang="en-GB" dirty="0"/>
          </a:p>
          <a:p>
            <a:r>
              <a:rPr lang="en-GB" b="1" dirty="0"/>
              <a:t>1. Recall the company.</a:t>
            </a:r>
          </a:p>
          <a:p>
            <a:r>
              <a:rPr lang="en-GB" dirty="0"/>
              <a:t>Say: "This example continues the client services company you met in Unit 3, part 2.2."</a:t>
            </a:r>
          </a:p>
          <a:p>
            <a:r>
              <a:rPr lang="en-GB" dirty="0"/>
              <a:t>Its Success in Practice reads: “We will be the service partner our clients rely on first, by ensuring every client experiences fast, consistent and effortless service.”</a:t>
            </a:r>
          </a:p>
          <a:p>
            <a:endParaRPr lang="en-GB" dirty="0"/>
          </a:p>
          <a:p>
            <a:r>
              <a:rPr lang="en-GB" b="1" dirty="0"/>
              <a:t>2. Read the Key Result on the slide aloud.</a:t>
            </a:r>
          </a:p>
          <a:p>
            <a:r>
              <a:rPr lang="en-GB" dirty="0"/>
              <a:t>Objective: Deliver consistently fast and effortless service experiences for customers</a:t>
            </a:r>
          </a:p>
          <a:p>
            <a:r>
              <a:rPr lang="en-GB" dirty="0"/>
              <a:t>Key Result: Reduce average response time to customer requests from 12 hours to 4 hours by 30 June 2027</a:t>
            </a:r>
          </a:p>
          <a:p>
            <a:endParaRPr lang="en-GB" dirty="0"/>
          </a:p>
          <a:p>
            <a:r>
              <a:rPr lang="en-GB" b="1" dirty="0"/>
              <a:t>3. Say how the example runs.</a:t>
            </a:r>
          </a:p>
          <a:p>
            <a:r>
              <a:rPr lang="en-GB" dirty="0"/>
              <a:t>Say: "The company takes this one Key Result through the four steps. Each step ends with the condition that must remain true for the Key Result to hold."</a:t>
            </a:r>
          </a:p>
          <a:p>
            <a:r>
              <a:rPr lang="en-GB" dirty="0"/>
              <a:t>At the end of each step, read the Must-Be-True condition aloud and ask what it would look like if it failed. Each condition is either true or false.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5.1 — WORKED EXAMPLE · STEP 1: DEFINE THE ARENA</a:t>
            </a:r>
          </a:p>
          <a:p>
            <a:endParaRPr lang="en-GB" dirty="0"/>
          </a:p>
          <a:p>
            <a:r>
              <a:rPr lang="en-GB" b="1" dirty="0"/>
              <a:t>HOW TO TEACH IT:</a:t>
            </a:r>
          </a:p>
          <a:p>
            <a:endParaRPr lang="en-GB" dirty="0"/>
          </a:p>
          <a:p>
            <a:r>
              <a:rPr lang="en-GB" b="1" dirty="0"/>
              <a:t>1. Read the question of the step from the slide.</a:t>
            </a:r>
          </a:p>
          <a:p>
            <a:r>
              <a:rPr lang="en-GB" dirty="0"/>
              <a:t>"Which customer need does “Reduce average response time to customer requests from 12 hours to 4 hours by 30 June 2027” serve: functional, experiential or consequential?"</a:t>
            </a:r>
          </a:p>
          <a:p>
            <a:endParaRPr lang="en-GB" dirty="0"/>
          </a:p>
          <a:p>
            <a:r>
              <a:rPr lang="en-GB" b="1" dirty="0"/>
              <a:t>2. Read the company’s answers.</a:t>
            </a:r>
          </a:p>
          <a:p>
            <a:r>
              <a:rPr lang="en-GB" dirty="0"/>
              <a:t>Functional · What does the customer need done that this Key Result serves? Have a service request answered and resolved.</a:t>
            </a:r>
          </a:p>
          <a:p>
            <a:r>
              <a:rPr lang="en-GB" dirty="0"/>
              <a:t>Experiential · What matters to the customer about how it is done? Fast and effortless: one contact, no chasing.</a:t>
            </a:r>
          </a:p>
          <a:p>
            <a:r>
              <a:rPr lang="en-GB" dirty="0"/>
              <a:t>Consequential · What does this Key Result enable for the customer? Keep their own operations running and their commitments to their own customers met.</a:t>
            </a:r>
          </a:p>
          <a:p>
            <a:endParaRPr lang="en-GB" dirty="0"/>
          </a:p>
          <a:p>
            <a:r>
              <a:rPr lang="en-GB" b="1" dirty="0"/>
              <a:t>3. Read the Must-Be-True condition.</a:t>
            </a:r>
          </a:p>
          <a:p>
            <a:r>
              <a:rPr lang="en-GB" dirty="0"/>
              <a:t>The question: "What must remain true about that functional, experiential or consequential need for “Reduce average response time to customer requests from 12 hours to 4 hours by 30 June 2027” to stay relevant?"</a:t>
            </a:r>
          </a:p>
          <a:p>
            <a:r>
              <a:rPr lang="en-GB" dirty="0"/>
              <a:t>The condition: Experiential: clients continue to rank speed of response among their top three reasons for choosing a service partner.</a:t>
            </a:r>
          </a:p>
          <a:p>
            <a:r>
              <a:rPr lang="en-GB" dirty="0"/>
              <a:t>Ask: "What would we see first if clients stopped ranking speed of response among their top three reasons?"</a:t>
            </a:r>
          </a:p>
          <a:p>
            <a:endParaRPr lang="en-GB" dirty="0"/>
          </a:p>
          <a:p>
            <a:r>
              <a:rPr lang="en-GB" b="1" dirty="0"/>
              <a:t>4. Point out the depth.</a:t>
            </a:r>
          </a:p>
          <a:p>
            <a:r>
              <a:rPr lang="en-GB" dirty="0"/>
              <a:t>Say: "The condition rests on the experiential depth. The company says so in the first word."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5.1 — WORKED EXAMPLE · STEP 2: UNDERSTAND THE BOUNDARIES</a:t>
            </a:r>
          </a:p>
          <a:p>
            <a:endParaRPr lang="en-GB" dirty="0"/>
          </a:p>
          <a:p>
            <a:r>
              <a:rPr lang="en-GB" b="1" dirty="0"/>
              <a:t>HOW TO TEACH IT:</a:t>
            </a:r>
          </a:p>
          <a:p>
            <a:endParaRPr lang="en-GB" dirty="0"/>
          </a:p>
          <a:p>
            <a:r>
              <a:rPr lang="en-GB" b="1" dirty="0"/>
              <a:t>1. Read the question of the step from the slide.</a:t>
            </a:r>
          </a:p>
          <a:p>
            <a:r>
              <a:rPr lang="en-GB" dirty="0"/>
              <a:t>"Which conditions could materially slow, restrict or prevent us from delivering “</a:t>
            </a:r>
          </a:p>
          <a:p>
            <a:r>
              <a:rPr lang="en-GB" dirty="0"/>
              <a:t>Reduce average response time to customer requests from 12 hours to 4 hours by 30 June 2027”?"</a:t>
            </a:r>
          </a:p>
          <a:p>
            <a:endParaRPr lang="en-GB" dirty="0"/>
          </a:p>
          <a:p>
            <a:r>
              <a:rPr lang="en-GB" b="1" dirty="0"/>
              <a:t>2. Read the company’s answers.</a:t>
            </a:r>
          </a:p>
          <a:p>
            <a:r>
              <a:rPr lang="en-GB" dirty="0"/>
              <a:t>The slide lists four boundaries. For each one, give its kind and say whether the company must accept it, can influence it, or created it itself:</a:t>
            </a:r>
          </a:p>
          <a:p>
            <a:r>
              <a:rPr lang="en-GB" dirty="0"/>
              <a:t>- Requests that cross Commercial, Operations and Customer Service wait at each handover. Operational · Created ourselves.</a:t>
            </a:r>
          </a:p>
          <a:p>
            <a:r>
              <a:rPr lang="en-GB" dirty="0"/>
              <a:t>- Front-line staff lack the authority and the client information to answer alone. Behavioural · Created ourselves.</a:t>
            </a:r>
          </a:p>
          <a:p>
            <a:r>
              <a:rPr lang="en-GB" dirty="0"/>
              <a:t>- Each function records requests in its own system, with no shared view. Technological · Created ourselves.</a:t>
            </a:r>
          </a:p>
          <a:p>
            <a:r>
              <a:rPr lang="en-GB" dirty="0"/>
              <a:t>- Request volumes peak at month-end. Operational · Must accept.</a:t>
            </a:r>
          </a:p>
          <a:p>
            <a:endParaRPr lang="en-GB" dirty="0"/>
          </a:p>
          <a:p>
            <a:r>
              <a:rPr lang="en-GB" b="1" dirty="0"/>
              <a:t>3. Read the Must-Be-True condition.</a:t>
            </a:r>
          </a:p>
          <a:p>
            <a:r>
              <a:rPr lang="en-GB" dirty="0"/>
              <a:t>The question: "What must remain true operationally or regulatorily for us to deliver “Reduce average response time to customer requests from 12 hours to 4 hours by 30 June 2027” without breaking?"</a:t>
            </a:r>
          </a:p>
          <a:p>
            <a:r>
              <a:rPr lang="en-GB" dirty="0"/>
              <a:t>The condition: Handovers between Commercial, Operations and Customer Service are completed inside four hours.</a:t>
            </a:r>
          </a:p>
          <a:p>
            <a:r>
              <a:rPr lang="en-GB" dirty="0"/>
              <a:t>Ask: "What would we see first if handovers took longer than four hours?"</a:t>
            </a:r>
          </a:p>
          <a:p>
            <a:endParaRPr lang="en-GB" dirty="0"/>
          </a:p>
          <a:p>
            <a:r>
              <a:rPr lang="en-GB" b="1" dirty="0"/>
              <a:t>4. Point out the pattern.</a:t>
            </a:r>
          </a:p>
          <a:p>
            <a:r>
              <a:rPr lang="en-GB" dirty="0"/>
              <a:t>Say: "Three of the four boundaries were created by the company itself. Those are the ones it can remove."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5.1 — WORKED EXAMPLE · STEP 3: SEE THE COMPETITION</a:t>
            </a:r>
          </a:p>
          <a:p>
            <a:endParaRPr lang="en-GB" dirty="0"/>
          </a:p>
          <a:p>
            <a:r>
              <a:rPr lang="en-GB" b="1" dirty="0"/>
              <a:t>HOW TO TEACH IT:</a:t>
            </a:r>
          </a:p>
          <a:p>
            <a:endParaRPr lang="en-GB" dirty="0"/>
          </a:p>
          <a:p>
            <a:r>
              <a:rPr lang="en-GB" b="1" dirty="0"/>
              <a:t>1. Read the question of the step from the slide.</a:t>
            </a:r>
          </a:p>
          <a:p>
            <a:r>
              <a:rPr lang="en-GB" dirty="0"/>
              <a:t>"Who or what else can give the customer what “Reduce average response time to customer requests from 12 hours to 4 hours by 30 June 2027” delivers?"</a:t>
            </a:r>
          </a:p>
          <a:p>
            <a:endParaRPr lang="en-GB" dirty="0"/>
          </a:p>
          <a:p>
            <a:r>
              <a:rPr lang="en-GB" b="1" dirty="0"/>
              <a:t>2. Read the company’s answers.</a:t>
            </a:r>
          </a:p>
          <a:p>
            <a:r>
              <a:rPr lang="en-GB" dirty="0"/>
              <a:t>The slide lists five alternatives:</a:t>
            </a:r>
          </a:p>
          <a:p>
            <a:r>
              <a:rPr lang="en-GB" dirty="0"/>
              <a:t>- Rival client services firms.</a:t>
            </a:r>
          </a:p>
          <a:p>
            <a:r>
              <a:rPr lang="en-GB" dirty="0"/>
              <a:t>- Larger providers with round-the-clock service desks.</a:t>
            </a:r>
          </a:p>
          <a:p>
            <a:r>
              <a:rPr lang="en-GB" dirty="0"/>
              <a:t>- The client’s own in-house team.</a:t>
            </a:r>
          </a:p>
          <a:p>
            <a:r>
              <a:rPr lang="en-GB" dirty="0"/>
              <a:t>- Self-service tools that answer simple requests at once.</a:t>
            </a:r>
          </a:p>
          <a:p>
            <a:r>
              <a:rPr lang="en-GB" dirty="0"/>
              <a:t>- Doing nothing: the client lives with a slower answer.</a:t>
            </a:r>
          </a:p>
          <a:p>
            <a:endParaRPr lang="en-GB" dirty="0"/>
          </a:p>
          <a:p>
            <a:r>
              <a:rPr lang="en-GB" b="1" dirty="0"/>
              <a:t>3. Read the Must-Be-True condition.</a:t>
            </a:r>
          </a:p>
          <a:p>
            <a:r>
              <a:rPr lang="en-GB" dirty="0"/>
              <a:t>The question: "What must remain true about the advantage “Reduce average response time to customer requests from 12 hours to 4 hours by 30 June 2027” gives us compared to these other options?"</a:t>
            </a:r>
          </a:p>
          <a:p>
            <a:r>
              <a:rPr lang="en-GB" dirty="0"/>
              <a:t>The condition: A four-hour response remains faster than rival firms and clients’ in-house options provide.</a:t>
            </a:r>
          </a:p>
          <a:p>
            <a:r>
              <a:rPr lang="en-GB" dirty="0"/>
              <a:t>Ask: "Which of the five alternatives would close the gap first?"</a:t>
            </a:r>
          </a:p>
          <a:p>
            <a:endParaRPr lang="en-GB" dirty="0"/>
          </a:p>
          <a:p>
            <a:r>
              <a:rPr lang="en-GB" b="1" dirty="0"/>
              <a:t>4. Point out the width of the list.</a:t>
            </a:r>
          </a:p>
          <a:p>
            <a:r>
              <a:rPr lang="en-GB" dirty="0"/>
              <a:t>Say: "Two of the five alternatives sit outside the industry, and one is doing nothing."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5.1 — WORKED EXAMPLE · STEP 4: ESTABLISH THE VALUE PROPOSITION</a:t>
            </a:r>
          </a:p>
          <a:p>
            <a:endParaRPr lang="en-GB" dirty="0"/>
          </a:p>
          <a:p>
            <a:r>
              <a:rPr lang="en-GB" b="1" dirty="0"/>
              <a:t>HOW TO TEACH IT:</a:t>
            </a:r>
          </a:p>
          <a:p>
            <a:endParaRPr lang="en-GB" dirty="0"/>
          </a:p>
          <a:p>
            <a:r>
              <a:rPr lang="en-GB" b="1" dirty="0"/>
              <a:t>1. Read the question of the step from the slide.</a:t>
            </a:r>
          </a:p>
          <a:p>
            <a:r>
              <a:rPr lang="en-GB" dirty="0"/>
              <a:t>"What about “Reduce average response time to customer requests from 12 hours to 4 hours by 30 June 2027” will make customers choose us?"</a:t>
            </a:r>
          </a:p>
          <a:p>
            <a:endParaRPr lang="en-GB" dirty="0"/>
          </a:p>
          <a:p>
            <a:r>
              <a:rPr lang="en-GB" b="1" dirty="0"/>
              <a:t>2. Read the company’s answers.</a:t>
            </a:r>
          </a:p>
          <a:p>
            <a:r>
              <a:rPr lang="en-GB" dirty="0"/>
              <a:t>Relevant · Does this Key Result matter to the customer? Speed of response is among the main reasons clients choose a service partner.</a:t>
            </a:r>
          </a:p>
          <a:p>
            <a:r>
              <a:rPr lang="en-GB" dirty="0"/>
              <a:t>Distinctive · What does it give the customer that the alternatives do not? One joined-up team answers the request. Larger providers pass it between departments.</a:t>
            </a:r>
          </a:p>
          <a:p>
            <a:r>
              <a:rPr lang="en-GB" dirty="0"/>
              <a:t>Deliverable · Can we consistently produce it? Cross-functional execution routines and named owners make a four-hour response repeatable.</a:t>
            </a:r>
          </a:p>
          <a:p>
            <a:endParaRPr lang="en-GB" dirty="0"/>
          </a:p>
          <a:p>
            <a:r>
              <a:rPr lang="en-GB" b="1" dirty="0"/>
              <a:t>3. Read the Must-Be-True condition.</a:t>
            </a:r>
          </a:p>
          <a:p>
            <a:r>
              <a:rPr lang="en-GB" dirty="0"/>
              <a:t>The question: "What must remain true about our value architecture for “Reduce average response time to customer requests from 12 hours to 4 hours by 30 June 2027” to stay coherent and profitable?"</a:t>
            </a:r>
          </a:p>
          <a:p>
            <a:r>
              <a:rPr lang="en-GB" dirty="0"/>
              <a:t>The condition: Faster response is delivered with no loss in the quality of the answer the client receives.</a:t>
            </a:r>
          </a:p>
          <a:p>
            <a:r>
              <a:rPr lang="en-GB" dirty="0"/>
              <a:t>Ask: "What would clients notice first if speed came at the cost of the quality of the answer?"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5.1 — WORKED EXAMPLE: FOUR STEPS, FOUR CONDITIONS</a:t>
            </a:r>
          </a:p>
          <a:p>
            <a:endParaRPr lang="en-GB" dirty="0"/>
          </a:p>
          <a:p>
            <a:r>
              <a:rPr lang="en-GB" b="1" dirty="0"/>
              <a:t>HOW TO TEACH IT:</a:t>
            </a:r>
          </a:p>
          <a:p>
            <a:endParaRPr lang="en-GB" dirty="0"/>
          </a:p>
          <a:p>
            <a:r>
              <a:rPr lang="en-GB" b="1" dirty="0"/>
              <a:t>1. Read the four conditions in order.</a:t>
            </a:r>
          </a:p>
          <a:p>
            <a:r>
              <a:rPr lang="en-GB" dirty="0"/>
              <a:t>- Arena: Experiential: clients continue to rank speed of response among their top three reasons for choosing a service partner.</a:t>
            </a:r>
          </a:p>
          <a:p>
            <a:r>
              <a:rPr lang="en-GB" dirty="0"/>
              <a:t>- Boundaries: Handovers between Commercial, Operations and Customer Service are completed inside four hours.</a:t>
            </a:r>
          </a:p>
          <a:p>
            <a:r>
              <a:rPr lang="en-GB" dirty="0"/>
              <a:t>- Competition: A four-hour response remains faster than rival firms and clients’ in-house options provide.</a:t>
            </a:r>
          </a:p>
          <a:p>
            <a:r>
              <a:rPr lang="en-GB" dirty="0"/>
              <a:t>- Value Proposition: Faster response is delivered with no loss in the quality of the answer the client receives.</a:t>
            </a:r>
          </a:p>
          <a:p>
            <a:endParaRPr lang="en-GB" dirty="0"/>
          </a:p>
          <a:p>
            <a:r>
              <a:rPr lang="en-GB" b="1" dirty="0"/>
              <a:t>2. Land the line at the foot of the slide.</a:t>
            </a:r>
          </a:p>
          <a:p>
            <a:r>
              <a:rPr lang="en-GB" dirty="0"/>
              <a:t>Say: "Four steps, four conditions. If one of them shifts or fails, the Key Result becomes fragile by design."</a:t>
            </a:r>
          </a:p>
          <a:p>
            <a:endParaRPr lang="en-GB" dirty="0"/>
          </a:p>
          <a:p>
            <a:r>
              <a:rPr lang="en-GB" b="1" dirty="0"/>
              <a:t>3. Test the standard.</a:t>
            </a:r>
          </a:p>
          <a:p>
            <a:r>
              <a:rPr lang="en-GB" dirty="0"/>
              <a:t>Ask: "Could someone outside this company verify each of these four conditions?"</a:t>
            </a:r>
          </a:p>
          <a:p>
            <a:r>
              <a:rPr lang="en-GB" dirty="0"/>
              <a:t>Say: "That is the standard for your own conditions: specific enough that someone else could attempt to verify them."</a:t>
            </a:r>
          </a:p>
          <a:p>
            <a:endParaRPr lang="en-GB" dirty="0"/>
          </a:p>
          <a:p>
            <a:r>
              <a:rPr lang="en-GB" dirty="0"/>
              <a:t>Deepen, say: "A decision can solve today’s problem while creating future instability.</a:t>
            </a:r>
          </a:p>
          <a:p>
            <a:r>
              <a:rPr lang="en-GB" dirty="0"/>
              <a:t>Assess each objective by the capability, dependency, risk and future consequence it creates."</a:t>
            </a:r>
          </a:p>
          <a:p>
            <a:r>
              <a:rPr lang="en-GB" dirty="0"/>
              <a:t>(Insight: Today’s fix, tomorrow’s cost. Source: Journal, 19 July 2026 — Professional Insights: Strategy)</a:t>
            </a:r>
          </a:p>
          <a:p>
            <a:endParaRPr lang="en-GB" dirty="0"/>
          </a:p>
          <a:p>
            <a:r>
              <a:rPr lang="en-GB" b="1" dirty="0"/>
              <a:t>4. Bridge to 5.2.</a:t>
            </a:r>
          </a:p>
          <a:p>
            <a:r>
              <a:rPr lang="en-GB" dirty="0"/>
              <a:t>Say: "Your exercise is this example repeated on your own Key Results: the same four steps, in the same order."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5.2 — STRESS-TESTING YOUR KEY RESULTS · THE FOUR STEPS (CAPSTONE WORK)</a:t>
            </a:r>
          </a:p>
          <a:p>
            <a:endParaRPr lang="en-GB"/>
          </a:p>
          <a:p>
            <a:r>
              <a:rPr lang="en-GB"/>
              <a:t>HOW TO TEACH IT:</a:t>
            </a:r>
          </a:p>
          <a:p>
            <a:endParaRPr lang="en-GB"/>
          </a:p>
          <a:p>
            <a:r>
              <a:rPr lang="en-GB"/>
              <a:t>Explain how the group works, using the four lines on the slide.</a:t>
            </a:r>
          </a:p>
          <a:p>
            <a:r>
              <a:rPr lang="en-GB"/>
              <a:t>Say: "Your group agrees each entry.</a:t>
            </a:r>
          </a:p>
          <a:p>
            <a:r>
              <a:rPr lang="en-GB"/>
              <a:t>The group chooses its scribe, who types the agreed wording.</a:t>
            </a:r>
          </a:p>
          <a:p>
            <a:r>
              <a:rPr lang="en-GB"/>
              <a:t>The entries appear on every member’s page, and each member then selects Agree."</a:t>
            </a:r>
          </a:p>
          <a:p>
            <a:endParaRPr lang="en-GB"/>
          </a:p>
          <a:p>
            <a:r>
              <a:rPr lang="en-GB"/>
              <a:t>Say what the group works on.</a:t>
            </a:r>
          </a:p>
          <a:p>
            <a:r>
              <a:rPr lang="en-GB"/>
              <a:t>Say: "Your group does for its own Key Results what the worked example did.</a:t>
            </a:r>
          </a:p>
          <a:p>
            <a:r>
              <a:rPr lang="en-GB"/>
              <a:t>Your confirmed Key Results from Unit 3 are already listed on your page.</a:t>
            </a:r>
          </a:p>
          <a:p>
            <a:r>
              <a:rPr lang="en-GB"/>
              <a:t>No new objective or measure is added."</a:t>
            </a:r>
          </a:p>
          <a:p>
            <a:endParaRPr lang="en-GB"/>
          </a:p>
          <a:p>
            <a:r>
              <a:rPr lang="en-GB"/>
              <a:t>Say what follows.</a:t>
            </a:r>
          </a:p>
          <a:p>
            <a:r>
              <a:rPr lang="en-GB"/>
              <a:t>Say: "When every Key Result has been taken through the four steps, your group goes on to 5.3."</a:t>
            </a:r>
          </a:p>
          <a:p>
            <a:endParaRPr lang="en-GB"/>
          </a:p>
          <a:p>
            <a:endParaRPr lang="en-GB"/>
          </a:p>
          <a:p>
            <a:r>
              <a:rPr lang="en-GB"/>
              <a:t>Walk the four steps on the slide. Each one is taken for one Key Result at a time.</a:t>
            </a:r>
          </a:p>
          <a:p>
            <a:r>
              <a:rPr lang="en-GB"/>
              <a:t>Step 1 · Define the Arena. The group says which customer need the Key Result serves, at three depths (functional, experiential, consequential). Then names what must remain true about that need.</a:t>
            </a:r>
          </a:p>
          <a:p>
            <a:endParaRPr lang="en-GB"/>
          </a:p>
          <a:p>
            <a:r>
              <a:rPr lang="en-GB"/>
              <a:t>Step 2 · Understand the Boundaries. The group lists the boundaries material enough to slow, restrict or prevent delivery of the Key Result, with the kind of each and whether it must be accepted, can be influenced or was created by the organisation itself. Then it names what must remain true for delivery.</a:t>
            </a:r>
          </a:p>
          <a:p>
            <a:endParaRPr lang="en-GB"/>
          </a:p>
          <a:p>
            <a:r>
              <a:rPr lang="en-GB"/>
              <a:t>Step 3 · See the Competition. The group lists who or what else can give the customer what the Key Result delivers, including alternatives outside the industry and doing nothing. Then it names what must remain true about its advantage.</a:t>
            </a:r>
          </a:p>
          <a:p>
            <a:endParaRPr lang="en-GB"/>
          </a:p>
          <a:p>
            <a:r>
              <a:rPr lang="en-GB"/>
              <a:t>Step 4 · Establish the Value Proposition. The group says what about the Key Result will make customers choose the organisation, using the three tests (relevant, distinctive, deliverable). Then it names what must remain true about its value architecture.</a:t>
            </a:r>
          </a:p>
          <a:p>
            <a:endParaRPr lang="en-GB"/>
          </a:p>
          <a:p>
            <a:endParaRPr lang="en-GB"/>
          </a:p>
          <a:p>
            <a:r>
              <a:rPr lang="en-GB"/>
              <a:t>2. Say how the questions read on the page.</a:t>
            </a:r>
          </a:p>
          <a:p>
            <a:r>
              <a:rPr lang="en-GB"/>
              <a:t>Say: "On your page every question names your own Key Result, word for word. You answer about that Key Result and no other."</a:t>
            </a:r>
          </a:p>
          <a:p>
            <a:endParaRPr lang="en-GB"/>
          </a:p>
          <a:p>
            <a:r>
              <a:rPr lang="en-GB"/>
              <a:t>3. Set the standard for a condition.</a:t>
            </a:r>
          </a:p>
          <a:p>
            <a:r>
              <a:rPr lang="en-GB"/>
              <a:t>Say: "The condition your group names must be specific enough that someone else could attempt to verify it.</a:t>
            </a:r>
          </a:p>
          <a:p>
            <a:r>
              <a:rPr lang="en-GB"/>
              <a:t>“The market must support us” becomes a condition once it names what must be true, for whom and by when.</a:t>
            </a:r>
          </a:p>
          <a:p>
            <a:r>
              <a:rPr lang="en-GB"/>
              <a:t>"</a:t>
            </a:r>
          </a:p>
          <a:p>
            <a:r>
              <a:rPr lang="en-GB"/>
              <a:t>How each condition is written: as a statement that is either true or false. The group restates a risk or a concern as the condition that must hold.</a:t>
            </a:r>
          </a:p>
          <a:p>
            <a:r>
              <a:rPr lang="en-GB"/>
              <a:t>Where a group cannot name a condition: the Key Result itself may be insufficiently grounded. The group asks itself what that tells it about the Key Result.</a:t>
            </a:r>
          </a:p>
          <a:p>
            <a:r>
              <a:rPr lang="en-GB"/>
              <a:t>Ask: "If you cannot name a Must-Be-True, what does that tell you about this Key Result?"</a:t>
            </a:r>
          </a:p>
          <a:p>
            <a:endParaRPr lang="en-GB"/>
          </a:p>
          <a:p>
            <a:endParaRPr lang="en-GB"/>
          </a:p>
          <a:p>
            <a:r>
              <a:rPr lang="en-GB"/>
              <a:t>Lead into 5.3 with the question it answers.</a:t>
            </a:r>
          </a:p>
          <a:p>
            <a:r>
              <a:rPr lang="en-GB"/>
              <a:t>Ask: "Which one MBT condition, if left unverified, represents the greatest risk to our strategy’s integrity? Who is responsible for that verification?"</a:t>
            </a:r>
          </a:p>
          <a:p>
            <a:endParaRPr lang="en-GB"/>
          </a:p>
          <a:p>
            <a:r>
              <a:rPr lang="en-GB"/>
              <a:t>ON THE PORTAL, AFTER THE TEACHING:</a:t>
            </a:r>
          </a:p>
          <a:p>
            <a:r>
              <a:rPr lang="en-GB"/>
              <a:t>Participants work in their groups in 5.2 of the participant file. This is Capstone work.</a:t>
            </a:r>
          </a:p>
          <a:p>
            <a:r>
              <a:rPr lang="en-GB"/>
              <a:t>1. The group’s confirmed Key Results from Unit 3 are listed in 5.2.</a:t>
            </a:r>
          </a:p>
          <a:p>
            <a:r>
              <a:rPr lang="en-GB"/>
              <a:t>2. The group takes one Key Result through the four steps and names the condition at each step.</a:t>
            </a:r>
          </a:p>
          <a:p>
            <a:r>
              <a:rPr lang="en-GB"/>
              <a:t>3. The group takes the next Key Result through the same four steps, until every Key Result is complete.</a:t>
            </a:r>
          </a:p>
          <a:p>
            <a:r>
              <a:rPr lang="en-GB"/>
              <a:t>4. A record shows the condition named at each step for every Key Result. The group then goes on to 5.3.</a:t>
            </a:r>
          </a:p>
          <a:p>
            <a:endParaRPr lang="en-GB"/>
          </a:p>
          <a:p>
            <a:r>
              <a:rPr lang="en-GB"/>
              <a:t>AFTER THE SESSION:</a:t>
            </a:r>
          </a:p>
          <a:p>
            <a:r>
              <a:rPr lang="en-GB"/>
              <a:t>The record reaches you with each participant’s submission, under the heading ABCV–MBT: Stress-Testing the Key Results.</a:t>
            </a:r>
          </a:p>
          <a:p>
            <a:r>
              <a:rPr lang="en-GB"/>
              <a:t>The confirmed conditions feed boxes 4A to 4D of the team’s Capstone Blueprint.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4 · INTEGRATION — COLLECTIVE</a:t>
            </a:r>
          </a:p>
          <a:p>
            <a:endParaRPr lang="en-GB" dirty="0"/>
          </a:p>
          <a:p>
            <a:r>
              <a:rPr lang="en-GB" b="1" dirty="0"/>
              <a:t>HOW THIS SECTION RUNS:</a:t>
            </a:r>
          </a:p>
          <a:p>
            <a:r>
              <a:rPr lang="en-GB" dirty="0"/>
              <a:t>1. Cause of Death: how the game is played.</a:t>
            </a:r>
          </a:p>
          <a:p>
            <a:r>
              <a:rPr lang="en-GB" dirty="0"/>
              <a:t>2. The four mines.</a:t>
            </a:r>
          </a:p>
          <a:p>
            <a:r>
              <a:rPr lang="en-GB" dirty="0"/>
              <a:t>3. The Section 4 Reflections slide: the closing commitment.</a:t>
            </a:r>
          </a:p>
          <a:p>
            <a:r>
              <a:rPr lang="en-GB" dirty="0"/>
              <a:t>4. The Unit Summary.</a:t>
            </a:r>
          </a:p>
          <a:p>
            <a:endParaRPr lang="en-GB" dirty="0"/>
          </a:p>
          <a:p>
            <a:r>
              <a:rPr lang="en-GB" b="1" dirty="0"/>
              <a:t>SECTION LEARNING OUTCOMES:</a:t>
            </a:r>
          </a:p>
          <a:p>
            <a:r>
              <a:rPr lang="en-GB" dirty="0"/>
              <a:t>1. Diagnose failures of directional integrity in realistic strategic situations.</a:t>
            </a:r>
          </a:p>
          <a:p>
            <a:r>
              <a:rPr lang="en-GB" dirty="0"/>
              <a:t>2. Select integrity checks that would prevent or reduce identified strategic failures.</a:t>
            </a:r>
          </a:p>
          <a:p>
            <a:endParaRPr lang="en-GB" dirty="0"/>
          </a:p>
          <a:p>
            <a:r>
              <a:rPr lang="en-GB" b="1" dirty="0"/>
              <a:t>HOW TO OPEN THE SECTION:</a:t>
            </a:r>
          </a:p>
          <a:p>
            <a:endParaRPr lang="en-GB" dirty="0"/>
          </a:p>
          <a:p>
            <a:r>
              <a:rPr lang="en-GB" b="1" dirty="0"/>
              <a:t>1. Say what the section does.</a:t>
            </a:r>
          </a:p>
          <a:p>
            <a:r>
              <a:rPr lang="en-GB" dirty="0"/>
              <a:t>Say: "You now apply ABCV diagnostic thinking under pressure.</a:t>
            </a:r>
          </a:p>
          <a:p>
            <a:r>
              <a:rPr lang="en-GB" dirty="0"/>
              <a:t>Each scenario is a real-world strategy failure in which an Industry Illusion kept leaders from seeing the breakdown."</a:t>
            </a:r>
          </a:p>
          <a:p>
            <a:r>
              <a:rPr lang="en-GB" dirty="0"/>
              <a:t>Section intent: participants find the illusion first, then the ABCV checkpoint where that illusion sits.</a:t>
            </a:r>
          </a:p>
          <a:p>
            <a:endParaRPr lang="en-GB" dirty="0"/>
          </a:p>
          <a:p>
            <a:r>
              <a:rPr lang="en-GB" b="1" dirty="0"/>
              <a:t>2. Say who plays.</a:t>
            </a:r>
          </a:p>
          <a:p>
            <a:r>
              <a:rPr lang="en-GB" dirty="0"/>
              <a:t>Say: "Each of you plays this game alone, on the portal, after the teaching. It is portfolio work."</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CAUSE OF DEATH — MATCH THE BREAKDOWN (2 PARTS · PORTFOLIO WORK)</a:t>
            </a:r>
          </a:p>
          <a:p>
            <a:endParaRPr lang="en-GB" dirty="0"/>
          </a:p>
          <a:p>
            <a:r>
              <a:rPr lang="en-GB" b="1" dirty="0"/>
              <a:t>HOW TO TEACH IT:</a:t>
            </a:r>
          </a:p>
          <a:p>
            <a:endParaRPr lang="en-GB" dirty="0"/>
          </a:p>
          <a:p>
            <a:r>
              <a:rPr lang="en-GB" b="1" dirty="0"/>
              <a:t>1. Explain the two parts on the slide.</a:t>
            </a:r>
          </a:p>
          <a:p>
            <a:r>
              <a:rPr lang="en-GB" dirty="0"/>
              <a:t>Say: "Each scenario is answered in two parts. First you find the illusion. Then you find where it sits."</a:t>
            </a:r>
          </a:p>
          <a:p>
            <a:r>
              <a:rPr lang="en-GB" dirty="0"/>
              <a:t>- Find the illusion: the participant chooses the investigation question the scenario answers. Each question reveals one illusion.</a:t>
            </a:r>
          </a:p>
          <a:p>
            <a:r>
              <a:rPr lang="en-GB" dirty="0"/>
              <a:t>- Find where it sits: the participant chooses the ABCV checkpoint the illusion hid from leaders: Arena, Boundaries, Competition or Value Proposition.</a:t>
            </a:r>
          </a:p>
          <a:p>
            <a:endParaRPr lang="en-GB" dirty="0"/>
          </a:p>
          <a:p>
            <a:r>
              <a:rPr lang="en-GB" b="1" dirty="0"/>
              <a:t>2. Read the three investigation questions.</a:t>
            </a:r>
          </a:p>
          <a:p>
            <a:r>
              <a:rPr lang="en-GB" dirty="0"/>
              <a:t>- Question 1: What did leaders expect to continue seeing because it was what they already knew?</a:t>
            </a:r>
          </a:p>
          <a:p>
            <a:r>
              <a:rPr lang="en-GB" dirty="0"/>
              <a:t>- Question 2: Which signal did leaders see and then discount because it did not fit their established picture?</a:t>
            </a:r>
          </a:p>
          <a:p>
            <a:r>
              <a:rPr lang="en-GB" dirty="0"/>
              <a:t>- Question 3: Which evidence of current success did leaders treat as reassurance about the future?</a:t>
            </a:r>
          </a:p>
          <a:p>
            <a:r>
              <a:rPr lang="en-GB" dirty="0"/>
              <a:t>Do not say which illusion each question reveals. The participants work that out.</a:t>
            </a:r>
          </a:p>
          <a:p>
            <a:endParaRPr lang="en-GB" dirty="0"/>
          </a:p>
          <a:p>
            <a:r>
              <a:rPr lang="en-GB" b="1" dirty="0"/>
              <a:t>3. Explain the mine.</a:t>
            </a:r>
          </a:p>
          <a:p>
            <a:r>
              <a:rPr lang="en-GB" dirty="0"/>
              <a:t>Say: "When both parts are right, the mine is defused.</a:t>
            </a:r>
          </a:p>
          <a:p>
            <a:r>
              <a:rPr lang="en-GB" dirty="0"/>
              <a:t>A wrong answer detonates it: you read the hint and try again.</a:t>
            </a:r>
          </a:p>
          <a:p>
            <a:r>
              <a:rPr lang="en-GB" dirty="0"/>
              <a:t>A mine defused at the first attempt earns 2 points, at a later attempt 1 point.</a:t>
            </a:r>
          </a:p>
          <a:p>
            <a:r>
              <a:rPr lang="en-GB" dirty="0"/>
              <a:t>The maximum is 8."</a:t>
            </a:r>
          </a:p>
          <a:p>
            <a:r>
              <a:rPr lang="en-GB" dirty="0"/>
              <a:t>Say: "The same illusion can sit behind more than one mine."</a:t>
            </a:r>
          </a:p>
          <a:p>
            <a:endParaRPr lang="en-GB" dirty="0"/>
          </a:p>
          <a:p>
            <a:r>
              <a:rPr lang="en-GB" b="1" dirty="0"/>
              <a:t>4. Set the standard.</a:t>
            </a:r>
          </a:p>
          <a:p>
            <a:r>
              <a:rPr lang="en-GB" dirty="0"/>
              <a:t>Say: "Say your reasoning to yourself before you answer. Guessing the right checkpoint for the wrong reason will surface."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a:t>SECTION 4 REFLECTIONS</a:t>
            </a:r>
          </a:p>
          <a:p>
            <a:endParaRPr lang="en-GB" dirty="0"/>
          </a:p>
          <a:p>
            <a:r>
              <a:rPr lang="en-GB" b="1" dirty="0"/>
              <a:t>HOW TO USE THIS SLIDE:</a:t>
            </a:r>
          </a:p>
          <a:p>
            <a:endParaRPr lang="en-GB" dirty="0"/>
          </a:p>
          <a:p>
            <a:r>
              <a:rPr lang="en-GB" b="1" dirty="0"/>
              <a:t>1. Show the slide and read the prompt aloud.</a:t>
            </a:r>
          </a:p>
          <a:p>
            <a:r>
              <a:rPr lang="en-GB" dirty="0"/>
              <a:t>Closing Commitment: "What is one MBT condition your organisation is currently avoiding naming? Why? What will you do about it before your next strategic review?"</a:t>
            </a:r>
          </a:p>
          <a:p>
            <a:endParaRPr lang="en-GB" dirty="0"/>
          </a:p>
          <a:p>
            <a:r>
              <a:rPr lang="en-GB" b="1" dirty="0"/>
              <a:t>2. Say what the reflection is for.</a:t>
            </a:r>
          </a:p>
          <a:p>
            <a:r>
              <a:rPr lang="en-GB" dirty="0"/>
              <a:t>Point learners to the portal section that they will be required to complete with as much depth as possible.</a:t>
            </a:r>
          </a:p>
          <a:p>
            <a:r>
              <a:rPr lang="en-GB" dirty="0"/>
              <a:t>The reflections build the learning portfolio they receive at the end of the programme.</a:t>
            </a:r>
          </a:p>
          <a:p>
            <a:endParaRPr lang="en-GB" dirty="0"/>
          </a:p>
          <a:p>
            <a:r>
              <a:rPr lang="en-GB" dirty="0"/>
              <a:t>Say: "You write this reflection on the portal after the teaching, with as much depth as you can."</a:t>
            </a:r>
          </a:p>
          <a:p>
            <a:endParaRPr lang="en-GB" dirty="0"/>
          </a:p>
          <a:p>
            <a:r>
              <a:rPr lang="en-GB" b="1" dirty="0"/>
              <a:t>3. Set the standard.</a:t>
            </a:r>
          </a:p>
          <a:p>
            <a:r>
              <a:rPr lang="en-GB" dirty="0"/>
              <a:t>Say: "Name one condition, in a form that is either true or false.</a:t>
            </a:r>
          </a:p>
          <a:p>
            <a:r>
              <a:rPr lang="en-GB" dirty="0"/>
              <a:t>Say why it is being avoided.</a:t>
            </a:r>
          </a:p>
          <a:p>
            <a:r>
              <a:rPr lang="en-GB" dirty="0"/>
              <a:t>Then name one action and the date of your next strategic review."</a:t>
            </a:r>
          </a:p>
          <a:p>
            <a:endParaRPr lang="en-GB" dirty="0"/>
          </a:p>
          <a:p>
            <a:r>
              <a:rPr lang="en-GB" dirty="0"/>
              <a:t>Deepen, say: "The instinct to manage the appearance of a known exposure, and leave the exposure itself unaddressed, turns a survivable warning into a failure.</a:t>
            </a:r>
          </a:p>
          <a:p>
            <a:r>
              <a:rPr lang="en-GB" dirty="0"/>
              <a:t>A risk that has been named and then avoided chooses its own moment.</a:t>
            </a:r>
          </a:p>
          <a:p>
            <a:r>
              <a:rPr lang="en-GB" dirty="0"/>
              <a:t>Treat a clear warning as a directive to act."</a:t>
            </a:r>
          </a:p>
          <a:p>
            <a:r>
              <a:rPr lang="en-GB" dirty="0"/>
              <a:t>(Insight: Named and avoided. Source: Journal, 16 June 2026 — Professional Insights: Strategy)</a:t>
            </a:r>
          </a:p>
          <a:p>
            <a:endParaRPr lang="en-GB" dirty="0"/>
          </a:p>
          <a:p>
            <a:r>
              <a:rPr lang="en-GB" b="1" dirty="0"/>
              <a:t>ON THE PORTAL, AFTER THE TEACHING:</a:t>
            </a:r>
          </a:p>
          <a:p>
            <a:r>
              <a:rPr lang="en-GB" dirty="0"/>
              <a:t>Participants write the Closing Commitment at the end of Section 4 of the participant file.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UNIT SUMMARY (UNIT 4 SYNTHESIS)</a:t>
            </a:r>
          </a:p>
          <a:p>
            <a:endParaRPr lang="en-GB"/>
          </a:p>
          <a:p>
            <a:r>
              <a:rPr lang="en-GB"/>
              <a:t>HOW TO TEACH IT:</a:t>
            </a:r>
          </a:p>
          <a:p>
            <a:endParaRPr lang="en-GB"/>
          </a:p>
          <a:p>
            <a:r>
              <a:rPr lang="en-GB"/>
              <a:t>1. Recap the unit, section by section.</a:t>
            </a:r>
          </a:p>
          <a:p>
            <a:r>
              <a:rPr lang="en-GB"/>
              <a:t>Say: "This session was about ensuring strategic direction is structurally sound before the first move of execution is made.</a:t>
            </a:r>
          </a:p>
          <a:p>
            <a:r>
              <a:rPr lang="en-GB"/>
              <a:t>The ABCV–MBT framework served as our strategic integrity filter."</a:t>
            </a:r>
          </a:p>
          <a:p>
            <a:r>
              <a:rPr lang="en-GB"/>
              <a:t>- 1 · Awareness: a well-written OKR can still rest on unnamed conditions. ABCV examines the strategic logic at four checkpoints, and a Must-Be-True condition at each makes the underlying assumption explicit.</a:t>
            </a:r>
          </a:p>
          <a:p>
            <a:r>
              <a:rPr lang="en-GB"/>
              <a:t>- 2 · Intelligence: industry knowledge becomes a frame, and three reinforcing traps (Familiarity, Exclusion and Complacency) turn that frame into the boundary of the world leaders examine.</a:t>
            </a:r>
          </a:p>
          <a:p>
            <a:r>
              <a:rPr lang="en-GB"/>
              <a:t>- 3 · Extrapolating: every executive role sees through a specialised perspective, and each has a checkpoint it most often overlooks.</a:t>
            </a:r>
          </a:p>
          <a:p>
            <a:r>
              <a:rPr lang="en-GB"/>
              <a:t>- 4 · Integration: in Cause of Death each participant tests four failed strategies against the Industry Illusion.</a:t>
            </a:r>
          </a:p>
          <a:p>
            <a:r>
              <a:rPr lang="en-GB"/>
              <a:t>- 5 · Application: each group takes the Key Results it confirmed in Unit 3 through four steps, names the condition that must remain true at each step, assigns each critical condition to an executive and names the checkpoint its team is most likely to overlook.</a:t>
            </a:r>
          </a:p>
          <a:p>
            <a:endParaRPr lang="en-GB"/>
          </a:p>
          <a:p>
            <a:r>
              <a:rPr lang="en-GB"/>
              <a:t>2. Ask the closing question on the slide.</a:t>
            </a:r>
          </a:p>
          <a:p>
            <a:r>
              <a:rPr lang="en-GB"/>
              <a:t>Ask: "What is the one MBT condition your team is most likely to avoid naming? Why? And what will you do about it before the next strategic review?"</a:t>
            </a:r>
          </a:p>
          <a:p>
            <a:r>
              <a:rPr lang="en-GB"/>
              <a:t>Take an answer from each group.</a:t>
            </a:r>
          </a:p>
          <a:p>
            <a:endParaRPr lang="en-GB"/>
          </a:p>
          <a:p>
            <a:r>
              <a:rPr lang="en-GB"/>
              <a:t>3. Close the unit.</a:t>
            </a:r>
          </a:p>
          <a:p>
            <a:r>
              <a:rPr lang="en-GB"/>
              <a:t>Say: "The ABCV–MBT checkpoints turn your OKRs from polished aspirations into resilient execution signals, grounded in the hard realities of the enterprise system."</a:t>
            </a:r>
          </a:p>
          <a:p>
            <a:endParaRPr lang="en-GB"/>
          </a:p>
          <a:p>
            <a:r>
              <a:rPr lang="en-GB"/>
              <a:t>4. Say what happens on the portal.</a:t>
            </a:r>
          </a:p>
          <a:p>
            <a:r>
              <a:rPr lang="en-GB"/>
              <a:t>Say: "You now complete the unit on the portal: your reflections, your own Industry Illusion game, your group’s work in Section 5, Cause of Death and your closing commitment.</a:t>
            </a:r>
          </a:p>
          <a:p>
            <a:r>
              <a:rPr lang="en-GB"/>
              <a:t>When your page is complete, you submit the unit."</a:t>
            </a:r>
          </a:p>
          <a:p>
            <a:endParaRPr lang="en-GB"/>
          </a:p>
          <a:p>
            <a:r>
              <a:rPr lang="en-GB"/>
              <a:t>ON THE PORTAL, AFTER THE TEACHING:</a:t>
            </a:r>
          </a:p>
          <a:p>
            <a:r>
              <a:rPr lang="en-GB"/>
              <a:t>Participants complete every part of the participant file and submit the unit to the facilitator from the end of Section 4.</a:t>
            </a:r>
          </a:p>
          <a:p>
            <a:endParaRPr lang="en-GB"/>
          </a:p>
          <a:p>
            <a:r>
              <a:rPr lang="en-GB"/>
              <a:t>AFTER THE SESSION:</a:t>
            </a:r>
          </a:p>
          <a:p>
            <a:r>
              <a:rPr lang="en-GB"/>
              <a:t>Each submission reaches you in the facilitator dashboard.</a:t>
            </a:r>
          </a:p>
          <a:p>
            <a:r>
              <a:rPr lang="en-GB"/>
              <a:t>The group’s agreed Section 5 work feeds boxes 4A to 4F of the team’s Capstone Blueprint.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5.3 — VERIFICATION OWNERSHIP AND EXECUTIVE BLIND SPOTS (CAPSTONE WORK)</a:t>
            </a:r>
          </a:p>
          <a:p>
            <a:endParaRPr lang="en-GB"/>
          </a:p>
          <a:p>
            <a:r>
              <a:rPr lang="en-GB"/>
              <a:t>HOW TO TEACH IT:</a:t>
            </a:r>
          </a:p>
          <a:p>
            <a:endParaRPr lang="en-GB"/>
          </a:p>
          <a:p>
            <a:r>
              <a:rPr lang="en-GB"/>
              <a:t>1. Say why ownership matters.</a:t>
            </a:r>
          </a:p>
          <a:p>
            <a:r>
              <a:rPr lang="en-GB"/>
              <a:t>Say: "Each Must-Be-True condition your group named in 5.2 holds only while someone checks it.</a:t>
            </a:r>
          </a:p>
          <a:p>
            <a:r>
              <a:rPr lang="en-GB"/>
              <a:t>In 5.3 your group assigns each check to an executive."</a:t>
            </a:r>
          </a:p>
          <a:p>
            <a:endParaRPr lang="en-GB"/>
          </a:p>
          <a:p>
            <a:r>
              <a:rPr lang="en-GB"/>
              <a:t>2. Teach verification ownership.</a:t>
            </a:r>
          </a:p>
          <a:p>
            <a:r>
              <a:rPr lang="en-GB"/>
              <a:t>Say: "For each critical condition, name the executive accountable for verifying it, the evidence that will confirm it still holds, and the date of the first check."</a:t>
            </a:r>
          </a:p>
          <a:p>
            <a:r>
              <a:rPr lang="en-GB"/>
              <a:t>One executive owns each check, with evidence someone else could inspect and a date.</a:t>
            </a:r>
          </a:p>
          <a:p>
            <a:endParaRPr lang="en-GB"/>
          </a:p>
          <a:p>
            <a:r>
              <a:rPr lang="en-GB"/>
              <a:t>3. Teach the executive blind spot.</a:t>
            </a:r>
          </a:p>
          <a:p>
            <a:r>
              <a:rPr lang="en-GB"/>
              <a:t>Say: "Section 3 showed that each executive role tends to overlook one checkpoint.</a:t>
            </a:r>
          </a:p>
          <a:p>
            <a:r>
              <a:rPr lang="en-GB"/>
              <a:t>Look around your table: which checkpoint is your executive team most likely to overlook? What is the enterprise risk if it does?"</a:t>
            </a:r>
          </a:p>
          <a:p>
            <a:endParaRPr lang="en-GB"/>
          </a:p>
          <a:p>
            <a:r>
              <a:rPr lang="en-GB"/>
              <a:t>4. Ask the question 5.3 answers.</a:t>
            </a:r>
          </a:p>
          <a:p>
            <a:r>
              <a:rPr lang="en-GB"/>
              <a:t>Ask: "Which one MBT condition, if left unverified, represents the greatest risk to our strategy’s integrity? Who is responsible for that verification?"</a:t>
            </a:r>
          </a:p>
          <a:p>
            <a:endParaRPr lang="en-GB"/>
          </a:p>
          <a:p>
            <a:r>
              <a:rPr lang="en-GB"/>
              <a:t>ON THE PORTAL, AFTER THE TEACHING:</a:t>
            </a:r>
          </a:p>
          <a:p>
            <a:r>
              <a:rPr lang="en-GB"/>
              <a:t>Participants work in their groups in 5.3 of the participant file. This is Capstone work, typed by the group’s scribe.</a:t>
            </a:r>
          </a:p>
          <a:p>
            <a:r>
              <a:rPr lang="en-GB"/>
              <a:t>1. The group reads its Must-Be-True conditions from 5.2, listed in 5.3.</a:t>
            </a:r>
          </a:p>
          <a:p>
            <a:r>
              <a:rPr lang="en-GB"/>
              <a:t>2. For each critical condition, the group names the executive accountable, the evidence and the date of the first check.</a:t>
            </a:r>
          </a:p>
          <a:p>
            <a:r>
              <a:rPr lang="en-GB"/>
              <a:t>3. The group selects the checkpoint its executive team is most likely to overlook, and states the enterprise risk.</a:t>
            </a:r>
          </a:p>
          <a:p>
            <a:r>
              <a:rPr lang="en-GB"/>
              <a:t>4. Each participant reads the record and selects Agree. Print gives a copy of the record.</a:t>
            </a:r>
          </a:p>
          <a:p>
            <a:endParaRPr lang="en-GB"/>
          </a:p>
          <a:p>
            <a:r>
              <a:rPr lang="en-GB"/>
              <a:t>AFTER THE SESSION:</a:t>
            </a:r>
          </a:p>
          <a:p>
            <a:r>
              <a:rPr lang="en-GB"/>
              <a:t>The record reaches you with each participant’s submission, under the heading ABCV–MBT: Stress-Testing the Key Results.</a:t>
            </a:r>
          </a:p>
          <a:p>
            <a:r>
              <a:rPr lang="en-GB"/>
              <a:t>The agreed work feeds boxes 4A to 4F of the team’s Capstone Blueprint: the conditions in 4A to 4D, verification ownership in 4E and the executive blind spot in 4F.</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3.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8.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3.pn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B1C"/>
        </a:solidFill>
        <a:effectLst/>
      </p:bgPr>
    </p:bg>
    <p:spTree>
      <p:nvGrpSpPr>
        <p:cNvPr id="1" name=""/>
        <p:cNvGrpSpPr/>
        <p:nvPr/>
      </p:nvGrpSpPr>
      <p:grpSpPr>
        <a:xfrm>
          <a:off x="0" y="0"/>
          <a:ext cx="0" cy="0"/>
          <a:chOff x="0" y="0"/>
          <a:chExt cx="0" cy="0"/>
        </a:xfrm>
      </p:grpSpPr>
      <p:pic>
        <p:nvPicPr>
          <p:cNvPr id="2" name="Image 0" descr="/home/claude/deck/build/logo.png"/>
          <p:cNvPicPr>
            <a:picLocks noChangeAspect="1"/>
          </p:cNvPicPr>
          <p:nvPr/>
        </p:nvPicPr>
        <p:blipFill>
          <a:blip r:embed="rId3"/>
          <a:stretch>
            <a:fillRect/>
          </a:stretch>
        </p:blipFill>
        <p:spPr>
          <a:xfrm>
            <a:off x="8259775" y="1325880"/>
            <a:ext cx="3108960" cy="3017520"/>
          </a:xfrm>
          <a:prstGeom prst="rect">
            <a:avLst/>
          </a:prstGeom>
        </p:spPr>
      </p:pic>
      <p:sp>
        <p:nvSpPr>
          <p:cNvPr id="3" name="Text 0"/>
          <p:cNvSpPr txBox="1"/>
          <p:nvPr/>
        </p:nvSpPr>
        <p:spPr>
          <a:xfrm>
            <a:off x="731520" y="1188720"/>
            <a:ext cx="73152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Module 2 · Direction · Unit 4</a:t>
            </a:r>
            <a:endParaRPr lang="en-US" sz="2400" dirty="0"/>
          </a:p>
        </p:txBody>
      </p:sp>
      <p:sp>
        <p:nvSpPr>
          <p:cNvPr id="4" name="Text 1"/>
          <p:cNvSpPr txBox="1"/>
          <p:nvPr/>
        </p:nvSpPr>
        <p:spPr>
          <a:xfrm>
            <a:off x="731520" y="1783080"/>
            <a:ext cx="7223760" cy="20116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Direction Integrity</a:t>
            </a:r>
            <a:endParaRPr lang="en-US" sz="4800" dirty="0"/>
          </a:p>
          <a:p>
            <a:pPr marL="0" indent="0">
              <a:buNone/>
            </a:pPr>
            <a:r>
              <a:rPr lang="en-US" sz="4800" b="1" dirty="0">
                <a:solidFill>
                  <a:srgbClr val="FFFFFF"/>
                </a:solidFill>
                <a:latin typeface="Cambria" pitchFamily="34" charset="0"/>
                <a:ea typeface="Cambria" pitchFamily="34" charset="-122"/>
                <a:cs typeface="Cambria" pitchFamily="34" charset="-120"/>
              </a:rPr>
              <a:t>(ABCV-MBT)</a:t>
            </a:r>
            <a:endParaRPr lang="en-US" sz="4800" dirty="0"/>
          </a:p>
        </p:txBody>
      </p:sp>
      <p:sp>
        <p:nvSpPr>
          <p:cNvPr id="5" name="Text 2"/>
          <p:cNvSpPr txBox="1"/>
          <p:nvPr/>
        </p:nvSpPr>
        <p:spPr>
          <a:xfrm>
            <a:off x="731520" y="3977640"/>
            <a:ext cx="7223760" cy="1188720"/>
          </a:xfrm>
          <a:prstGeom prst="rect">
            <a:avLst/>
          </a:prstGeom>
          <a:noFill/>
          <a:ln/>
        </p:spPr>
        <p:txBody>
          <a:bodyPr wrap="square" lIns="0" tIns="0" rIns="0" bIns="0" rtlCol="0" anchor="t"/>
          <a:lstStyle/>
          <a:p>
            <a:pPr marL="0" indent="0">
              <a:buNone/>
            </a:pPr>
            <a:r>
              <a:rPr lang="en-US" sz="2400" i="1" dirty="0">
                <a:solidFill>
                  <a:srgbClr val="DDE8DF"/>
                </a:solidFill>
                <a:latin typeface="Calibri" pitchFamily="34" charset="0"/>
                <a:ea typeface="Calibri" pitchFamily="34" charset="-122"/>
                <a:cs typeface="Calibri" pitchFamily="34" charset="-120"/>
              </a:rPr>
              <a:t>Testing whether the chosen direction is strategically sound before execution begins</a:t>
            </a:r>
            <a:endParaRPr lang="en-US" sz="2400" dirty="0"/>
          </a:p>
        </p:txBody>
      </p:sp>
      <p:sp>
        <p:nvSpPr>
          <p:cNvPr id="6" name="Text 3"/>
          <p:cNvSpPr txBox="1"/>
          <p:nvPr/>
        </p:nvSpPr>
        <p:spPr>
          <a:xfrm>
            <a:off x="731520" y="5669280"/>
            <a:ext cx="7315200" cy="457200"/>
          </a:xfrm>
          <a:prstGeom prst="rect">
            <a:avLst/>
          </a:prstGeom>
          <a:noFill/>
          <a:ln/>
        </p:spPr>
        <p:txBody>
          <a:bodyPr wrap="square" lIns="0" tIns="0" rIns="0" bIns="0" rtlCol="0" anchor="t"/>
          <a:lstStyle/>
          <a:p>
            <a:pPr marL="0" indent="0">
              <a:buNone/>
            </a:pPr>
            <a:r>
              <a:rPr lang="en-US" sz="2400" dirty="0">
                <a:solidFill>
                  <a:srgbClr val="E6D3A0"/>
                </a:solidFill>
                <a:latin typeface="Calibri" pitchFamily="34" charset="0"/>
                <a:ea typeface="Calibri" pitchFamily="34" charset="-122"/>
                <a:cs typeface="Calibri" pitchFamily="34" charset="-120"/>
              </a:rPr>
              <a:t>Strategy2Results® · Facilitator deck</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Key learning outcomes</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Critically validate the coherence and credibility of strategic direction before execution.</a:t>
            </a:r>
            <a:endParaRPr lang="en-US" sz="24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Test strategic choices against critical assumptions, dependencies and uncertainties.</a:t>
            </a:r>
            <a:endParaRPr lang="en-US" sz="24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Evaluate strategic priorities for differentiation, internal consistency and environmental fit.</a:t>
            </a:r>
            <a:endParaRPr lang="en-US" sz="2400" dirty="0"/>
          </a:p>
        </p:txBody>
      </p:sp>
      <p:sp>
        <p:nvSpPr>
          <p:cNvPr id="12" name="Shape 7"/>
          <p:cNvSpPr/>
          <p:nvPr/>
        </p:nvSpPr>
        <p:spPr>
          <a:xfrm>
            <a:off x="548640" y="54692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3"/>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Exercise collective executive judgement and accountability over strategic direction integrity.</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The unit journey</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1 · Awareness  </a:t>
            </a:r>
            <a:r>
              <a:rPr lang="en-US" sz="2800" dirty="0">
                <a:solidFill>
                  <a:srgbClr val="1F2A22"/>
                </a:solidFill>
                <a:latin typeface="Calibri" pitchFamily="34" charset="0"/>
                <a:ea typeface="Calibri" pitchFamily="34" charset="-122"/>
                <a:cs typeface="Calibri" pitchFamily="34" charset="-120"/>
              </a:rPr>
              <a:t>— What</a:t>
            </a:r>
            <a:endParaRPr lang="en-US" sz="28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2 · Intelligence  </a:t>
            </a:r>
            <a:r>
              <a:rPr lang="en-US" sz="2800" dirty="0">
                <a:solidFill>
                  <a:srgbClr val="1F2A22"/>
                </a:solidFill>
                <a:latin typeface="Calibri" pitchFamily="34" charset="0"/>
                <a:ea typeface="Calibri" pitchFamily="34" charset="-122"/>
                <a:cs typeface="Calibri" pitchFamily="34" charset="-120"/>
              </a:rPr>
              <a:t>— Why</a:t>
            </a:r>
            <a:endParaRPr lang="en-US" sz="28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3 · Extrapolating  </a:t>
            </a:r>
            <a:r>
              <a:rPr lang="en-US" sz="2800" dirty="0">
                <a:solidFill>
                  <a:srgbClr val="1F2A22"/>
                </a:solidFill>
                <a:latin typeface="Calibri" pitchFamily="34" charset="0"/>
                <a:ea typeface="Calibri" pitchFamily="34" charset="-122"/>
                <a:cs typeface="Calibri" pitchFamily="34" charset="-120"/>
              </a:rPr>
              <a:t>— Where</a:t>
            </a:r>
            <a:endParaRPr lang="en-US" sz="28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4 · Integration  </a:t>
            </a:r>
            <a:r>
              <a:rPr lang="en-US" sz="2800" dirty="0">
                <a:solidFill>
                  <a:srgbClr val="1F2A22"/>
                </a:solidFill>
                <a:latin typeface="Calibri" pitchFamily="34" charset="0"/>
                <a:ea typeface="Calibri" pitchFamily="34" charset="-122"/>
                <a:cs typeface="Calibri" pitchFamily="34" charset="-120"/>
              </a:rPr>
              <a:t>— Collective</a:t>
            </a:r>
            <a:endParaRPr lang="en-US" sz="28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5 · Application  </a:t>
            </a:r>
            <a:r>
              <a:rPr lang="en-US" sz="2800" dirty="0">
                <a:solidFill>
                  <a:srgbClr val="1F2A22"/>
                </a:solidFill>
                <a:latin typeface="Calibri" pitchFamily="34" charset="0"/>
                <a:ea typeface="Calibri" pitchFamily="34" charset="-122"/>
                <a:cs typeface="Calibri" pitchFamily="34" charset="-120"/>
              </a:rPr>
              <a:t>— In Practice</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1</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1</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Awareness — What</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What are the ABCV–MBT Integrity Checkpoints?</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Assess whether measurable objectives are also strategically credible.</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Evaluate objectives against customer value, strategic boundaries and competitive realities.</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GB" sz="2600" b="1" dirty="0">
                <a:solidFill>
                  <a:srgbClr val="C6A24C"/>
                </a:solidFill>
                <a:latin typeface="Calibri" pitchFamily="34" charset="0"/>
                <a:ea typeface="Calibri" pitchFamily="34" charset="-122"/>
                <a:cs typeface="Calibri" pitchFamily="34" charset="-120"/>
              </a:rPr>
              <a:t>The Problem with Well-Written OKRs</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Your group has defined its OKRs. Now the question is whether they are strategically sound.</a:t>
            </a:r>
            <a:endParaRPr lang="en-US"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GB" sz="3600" b="1" dirty="0">
                <a:solidFill>
                  <a:srgbClr val="1A5C2C"/>
                </a:solidFill>
                <a:latin typeface="Cambria" pitchFamily="34" charset="0"/>
                <a:ea typeface="Cambria" pitchFamily="34" charset="-122"/>
                <a:cs typeface="Cambria" pitchFamily="34" charset="-120"/>
              </a:rPr>
              <a:t>The Four ABCV Integrity Checkpoints</a:t>
            </a:r>
            <a:endParaRPr lang="en-US" sz="3600" dirty="0"/>
          </a:p>
        </p:txBody>
      </p:sp>
      <p:sp>
        <p:nvSpPr>
          <p:cNvPr id="3" name="Shape 1"/>
          <p:cNvSpPr/>
          <p:nvPr/>
        </p:nvSpPr>
        <p:spPr>
          <a:xfrm>
            <a:off x="548640" y="16859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45945"/>
            <a:ext cx="320040" cy="320040"/>
          </a:xfrm>
          <a:prstGeom prst="rect">
            <a:avLst/>
          </a:prstGeom>
        </p:spPr>
      </p:pic>
      <p:sp>
        <p:nvSpPr>
          <p:cNvPr id="5" name="Text 2"/>
          <p:cNvSpPr txBox="1"/>
          <p:nvPr/>
        </p:nvSpPr>
        <p:spPr>
          <a:xfrm>
            <a:off x="1508760" y="150876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Arena: </a:t>
            </a:r>
            <a:r>
              <a:rPr lang="en-US" sz="2400" dirty="0">
                <a:solidFill>
                  <a:srgbClr val="1F2A22"/>
                </a:solidFill>
                <a:latin typeface="Calibri" pitchFamily="34" charset="0"/>
                <a:ea typeface="Calibri" pitchFamily="34" charset="-122"/>
                <a:cs typeface="Calibri" pitchFamily="34" charset="-120"/>
              </a:rPr>
              <a:t>Are we anchored in the right customer end game?</a:t>
            </a:r>
            <a:endParaRPr lang="en-US" sz="2400" dirty="0"/>
          </a:p>
        </p:txBody>
      </p:sp>
      <p:sp>
        <p:nvSpPr>
          <p:cNvPr id="6" name="Shape 3"/>
          <p:cNvSpPr/>
          <p:nvPr/>
        </p:nvSpPr>
        <p:spPr>
          <a:xfrm>
            <a:off x="548640" y="26803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40355"/>
            <a:ext cx="320040" cy="320040"/>
          </a:xfrm>
          <a:prstGeom prst="rect">
            <a:avLst/>
          </a:prstGeom>
        </p:spPr>
      </p:pic>
      <p:sp>
        <p:nvSpPr>
          <p:cNvPr id="8" name="Text 4"/>
          <p:cNvSpPr txBox="1"/>
          <p:nvPr/>
        </p:nvSpPr>
        <p:spPr>
          <a:xfrm>
            <a:off x="1508760" y="250317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Boundaries: </a:t>
            </a:r>
            <a:r>
              <a:rPr lang="en-US" sz="2400" dirty="0">
                <a:solidFill>
                  <a:srgbClr val="1F2A22"/>
                </a:solidFill>
                <a:latin typeface="Calibri" pitchFamily="34" charset="0"/>
                <a:ea typeface="Calibri" pitchFamily="34" charset="-122"/>
                <a:cs typeface="Calibri" pitchFamily="34" charset="-120"/>
              </a:rPr>
              <a:t>What conditions could constrain our ability to deliver?</a:t>
            </a:r>
            <a:endParaRPr lang="en-US" sz="2400" dirty="0"/>
          </a:p>
        </p:txBody>
      </p:sp>
      <p:sp>
        <p:nvSpPr>
          <p:cNvPr id="9" name="Shape 5"/>
          <p:cNvSpPr/>
          <p:nvPr/>
        </p:nvSpPr>
        <p:spPr>
          <a:xfrm>
            <a:off x="548640" y="36747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834765"/>
            <a:ext cx="320040" cy="320040"/>
          </a:xfrm>
          <a:prstGeom prst="rect">
            <a:avLst/>
          </a:prstGeom>
        </p:spPr>
      </p:pic>
      <p:sp>
        <p:nvSpPr>
          <p:cNvPr id="11" name="Text 6"/>
          <p:cNvSpPr txBox="1"/>
          <p:nvPr/>
        </p:nvSpPr>
        <p:spPr>
          <a:xfrm>
            <a:off x="1508760" y="349758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Competition:  </a:t>
            </a:r>
            <a:r>
              <a:rPr lang="en-US" sz="2400" dirty="0">
                <a:solidFill>
                  <a:srgbClr val="1F2A22"/>
                </a:solidFill>
                <a:latin typeface="Calibri" pitchFamily="34" charset="0"/>
                <a:ea typeface="Calibri" pitchFamily="34" charset="-122"/>
                <a:cs typeface="Calibri" pitchFamily="34" charset="-120"/>
              </a:rPr>
              <a:t>Who or what else can satisfy that end game?</a:t>
            </a:r>
            <a:endParaRPr lang="en-US" sz="2400" dirty="0"/>
          </a:p>
        </p:txBody>
      </p:sp>
      <p:sp>
        <p:nvSpPr>
          <p:cNvPr id="12" name="Shape 7"/>
          <p:cNvSpPr/>
          <p:nvPr/>
        </p:nvSpPr>
        <p:spPr>
          <a:xfrm>
            <a:off x="548640" y="46691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829175"/>
            <a:ext cx="320040" cy="320040"/>
          </a:xfrm>
          <a:prstGeom prst="rect">
            <a:avLst/>
          </a:prstGeom>
        </p:spPr>
      </p:pic>
      <p:sp>
        <p:nvSpPr>
          <p:cNvPr id="14" name="Text 8"/>
          <p:cNvSpPr txBox="1"/>
          <p:nvPr/>
        </p:nvSpPr>
        <p:spPr>
          <a:xfrm>
            <a:off x="1508760" y="449199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Value Proposition:  </a:t>
            </a:r>
            <a:r>
              <a:rPr lang="en-US" sz="2400" dirty="0">
                <a:solidFill>
                  <a:srgbClr val="1F2A22"/>
                </a:solidFill>
                <a:latin typeface="Calibri" pitchFamily="34" charset="0"/>
                <a:ea typeface="Calibri" pitchFamily="34" charset="-122"/>
                <a:cs typeface="Calibri" pitchFamily="34" charset="-120"/>
              </a:rPr>
              <a:t>Why should the customer choose the value we create?</a:t>
            </a:r>
            <a:endParaRPr lang="en-US" sz="2400" dirty="0"/>
          </a:p>
        </p:txBody>
      </p:sp>
      <p:sp>
        <p:nvSpPr>
          <p:cNvPr id="15"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At each check-point, there has to be a Must Be True condition.</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1.1 · Arena: the Customer End Game</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Functional</a:t>
            </a:r>
            <a:endParaRPr lang="en-US" sz="2800" dirty="0"/>
          </a:p>
        </p:txBody>
      </p:sp>
      <p:sp>
        <p:nvSpPr>
          <p:cNvPr id="7" name="Text 4"/>
          <p:cNvSpPr txBox="1"/>
          <p:nvPr/>
        </p:nvSpPr>
        <p:spPr>
          <a:xfrm>
            <a:off x="777240"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are they trying to achieve?</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Experiential</a:t>
            </a:r>
            <a:endParaRPr lang="en-US" sz="2800" dirty="0"/>
          </a:p>
        </p:txBody>
      </p:sp>
      <p:sp>
        <p:nvSpPr>
          <p:cNvPr id="12" name="Text 8"/>
          <p:cNvSpPr txBox="1"/>
          <p:nvPr/>
        </p:nvSpPr>
        <p:spPr>
          <a:xfrm>
            <a:off x="4565904"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matters about how they achieve it?</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39496"/>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Consequential</a:t>
            </a:r>
            <a:endParaRPr lang="en-US" sz="2800" dirty="0"/>
          </a:p>
        </p:txBody>
      </p:sp>
      <p:sp>
        <p:nvSpPr>
          <p:cNvPr id="17" name="Text 12"/>
          <p:cNvSpPr txBox="1"/>
          <p:nvPr/>
        </p:nvSpPr>
        <p:spPr>
          <a:xfrm>
            <a:off x="8354568" y="3191256"/>
            <a:ext cx="3057144" cy="2112264"/>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What does achieving it ultimately enable?</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The Arena tells you who you are actually competing with.</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1.2 · Boundaries: the Friction Architecture</a:t>
            </a:r>
            <a:endParaRPr lang="en-US" sz="3600" dirty="0"/>
          </a:p>
        </p:txBody>
      </p:sp>
      <p:sp>
        <p:nvSpPr>
          <p:cNvPr id="3" name="Shape 1"/>
          <p:cNvSpPr/>
          <p:nvPr/>
        </p:nvSpPr>
        <p:spPr>
          <a:xfrm>
            <a:off x="548640" y="1508760"/>
            <a:ext cx="3514344"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14400" y="1874520"/>
            <a:ext cx="274320" cy="274320"/>
          </a:xfrm>
          <a:prstGeom prst="rect">
            <a:avLst/>
          </a:prstGeom>
        </p:spPr>
      </p:pic>
      <p:sp>
        <p:nvSpPr>
          <p:cNvPr id="6" name="Text 3"/>
          <p:cNvSpPr txBox="1"/>
          <p:nvPr/>
        </p:nvSpPr>
        <p:spPr>
          <a:xfrm>
            <a:off x="1508760" y="1691640"/>
            <a:ext cx="2325624"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Regulatory</a:t>
            </a:r>
            <a:endParaRPr lang="en-US" sz="2600" dirty="0"/>
          </a:p>
        </p:txBody>
      </p:sp>
      <p:sp>
        <p:nvSpPr>
          <p:cNvPr id="7" name="Text 4"/>
          <p:cNvSpPr txBox="1"/>
          <p:nvPr/>
        </p:nvSpPr>
        <p:spPr>
          <a:xfrm>
            <a:off x="777240" y="2468880"/>
            <a:ext cx="3057144"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Laws, licences, standards, accreditation</a:t>
            </a:r>
            <a:endParaRPr lang="en-US" sz="2400" dirty="0"/>
          </a:p>
        </p:txBody>
      </p:sp>
      <p:sp>
        <p:nvSpPr>
          <p:cNvPr id="8" name="Shape 5"/>
          <p:cNvSpPr/>
          <p:nvPr/>
        </p:nvSpPr>
        <p:spPr>
          <a:xfrm>
            <a:off x="4337304" y="1508760"/>
            <a:ext cx="3514344"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03064" y="1874520"/>
            <a:ext cx="274320" cy="274320"/>
          </a:xfrm>
          <a:prstGeom prst="rect">
            <a:avLst/>
          </a:prstGeom>
        </p:spPr>
      </p:pic>
      <p:sp>
        <p:nvSpPr>
          <p:cNvPr id="11" name="Text 7"/>
          <p:cNvSpPr txBox="1"/>
          <p:nvPr/>
        </p:nvSpPr>
        <p:spPr>
          <a:xfrm>
            <a:off x="5297424" y="1691640"/>
            <a:ext cx="2325624"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Operational</a:t>
            </a:r>
            <a:endParaRPr lang="en-US" sz="2600" dirty="0"/>
          </a:p>
        </p:txBody>
      </p:sp>
      <p:sp>
        <p:nvSpPr>
          <p:cNvPr id="12" name="Text 8"/>
          <p:cNvSpPr txBox="1"/>
          <p:nvPr/>
        </p:nvSpPr>
        <p:spPr>
          <a:xfrm>
            <a:off x="4565904" y="2468880"/>
            <a:ext cx="3057144"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Processes, infrastructure, capacity, supply chains</a:t>
            </a:r>
            <a:endParaRPr lang="en-US" sz="2400" dirty="0"/>
          </a:p>
        </p:txBody>
      </p:sp>
      <p:sp>
        <p:nvSpPr>
          <p:cNvPr id="13" name="Shape 9"/>
          <p:cNvSpPr/>
          <p:nvPr/>
        </p:nvSpPr>
        <p:spPr>
          <a:xfrm>
            <a:off x="8125968" y="1508760"/>
            <a:ext cx="3514344"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8354568"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491728" y="1874520"/>
            <a:ext cx="274320" cy="274320"/>
          </a:xfrm>
          <a:prstGeom prst="rect">
            <a:avLst/>
          </a:prstGeom>
        </p:spPr>
      </p:pic>
      <p:sp>
        <p:nvSpPr>
          <p:cNvPr id="16" name="Text 11"/>
          <p:cNvSpPr txBox="1"/>
          <p:nvPr/>
        </p:nvSpPr>
        <p:spPr>
          <a:xfrm>
            <a:off x="9086088" y="1691640"/>
            <a:ext cx="2325624"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Technological</a:t>
            </a:r>
            <a:endParaRPr lang="en-US" sz="2600" dirty="0"/>
          </a:p>
        </p:txBody>
      </p:sp>
      <p:sp>
        <p:nvSpPr>
          <p:cNvPr id="17" name="Text 12"/>
          <p:cNvSpPr txBox="1"/>
          <p:nvPr/>
        </p:nvSpPr>
        <p:spPr>
          <a:xfrm>
            <a:off x="8354568" y="2468880"/>
            <a:ext cx="3057144"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Systems, data, interoperability, technical capability</a:t>
            </a:r>
            <a:endParaRPr lang="en-US" sz="2400" dirty="0"/>
          </a:p>
        </p:txBody>
      </p:sp>
      <p:sp>
        <p:nvSpPr>
          <p:cNvPr id="18" name="Shape 13"/>
          <p:cNvSpPr/>
          <p:nvPr/>
        </p:nvSpPr>
        <p:spPr>
          <a:xfrm>
            <a:off x="548640" y="4069080"/>
            <a:ext cx="3514344"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9" name="Shape 14"/>
          <p:cNvSpPr/>
          <p:nvPr/>
        </p:nvSpPr>
        <p:spPr>
          <a:xfrm>
            <a:off x="777240"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20" name="Image 3" descr="preencoded.png"/>
          <p:cNvPicPr>
            <a:picLocks noChangeAspect="1"/>
          </p:cNvPicPr>
          <p:nvPr/>
        </p:nvPicPr>
        <p:blipFill>
          <a:blip r:embed="rId6"/>
          <a:stretch>
            <a:fillRect/>
          </a:stretch>
        </p:blipFill>
        <p:spPr>
          <a:xfrm>
            <a:off x="914400" y="4434840"/>
            <a:ext cx="274320" cy="274320"/>
          </a:xfrm>
          <a:prstGeom prst="rect">
            <a:avLst/>
          </a:prstGeom>
        </p:spPr>
      </p:pic>
      <p:sp>
        <p:nvSpPr>
          <p:cNvPr id="21" name="Text 15"/>
          <p:cNvSpPr txBox="1"/>
          <p:nvPr/>
        </p:nvSpPr>
        <p:spPr>
          <a:xfrm>
            <a:off x="1508760" y="4251960"/>
            <a:ext cx="2325624"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Structural</a:t>
            </a:r>
            <a:endParaRPr lang="en-US" sz="2600" dirty="0"/>
          </a:p>
        </p:txBody>
      </p:sp>
      <p:sp>
        <p:nvSpPr>
          <p:cNvPr id="22" name="Text 16"/>
          <p:cNvSpPr txBox="1"/>
          <p:nvPr/>
        </p:nvSpPr>
        <p:spPr>
          <a:xfrm>
            <a:off x="777240" y="5029200"/>
            <a:ext cx="3057144"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Governance, decision rights, organisational dependencies</a:t>
            </a:r>
            <a:endParaRPr lang="en-US" sz="2400" dirty="0"/>
          </a:p>
        </p:txBody>
      </p:sp>
      <p:sp>
        <p:nvSpPr>
          <p:cNvPr id="23" name="Shape 17"/>
          <p:cNvSpPr/>
          <p:nvPr/>
        </p:nvSpPr>
        <p:spPr>
          <a:xfrm>
            <a:off x="4337304" y="4069080"/>
            <a:ext cx="3514344"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24" name="Shape 18"/>
          <p:cNvSpPr/>
          <p:nvPr/>
        </p:nvSpPr>
        <p:spPr>
          <a:xfrm>
            <a:off x="4565904"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25" name="Image 4" descr="preencoded.png"/>
          <p:cNvPicPr>
            <a:picLocks noChangeAspect="1"/>
          </p:cNvPicPr>
          <p:nvPr/>
        </p:nvPicPr>
        <p:blipFill>
          <a:blip r:embed="rId7"/>
          <a:stretch>
            <a:fillRect/>
          </a:stretch>
        </p:blipFill>
        <p:spPr>
          <a:xfrm>
            <a:off x="4703064" y="4434840"/>
            <a:ext cx="274320" cy="274320"/>
          </a:xfrm>
          <a:prstGeom prst="rect">
            <a:avLst/>
          </a:prstGeom>
        </p:spPr>
      </p:pic>
      <p:sp>
        <p:nvSpPr>
          <p:cNvPr id="26" name="Text 19"/>
          <p:cNvSpPr txBox="1"/>
          <p:nvPr/>
        </p:nvSpPr>
        <p:spPr>
          <a:xfrm>
            <a:off x="5297424" y="4251960"/>
            <a:ext cx="2325624"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Financial</a:t>
            </a:r>
            <a:endParaRPr lang="en-US" sz="2600" dirty="0"/>
          </a:p>
        </p:txBody>
      </p:sp>
      <p:sp>
        <p:nvSpPr>
          <p:cNvPr id="27" name="Text 20"/>
          <p:cNvSpPr txBox="1"/>
          <p:nvPr/>
        </p:nvSpPr>
        <p:spPr>
          <a:xfrm>
            <a:off x="4565904" y="5029200"/>
            <a:ext cx="3057144"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Capital, affordability, economics, funding</a:t>
            </a:r>
            <a:endParaRPr lang="en-US" sz="2400" dirty="0"/>
          </a:p>
        </p:txBody>
      </p:sp>
      <p:sp>
        <p:nvSpPr>
          <p:cNvPr id="28" name="Shape 21"/>
          <p:cNvSpPr/>
          <p:nvPr/>
        </p:nvSpPr>
        <p:spPr>
          <a:xfrm>
            <a:off x="8125968" y="4069080"/>
            <a:ext cx="3514344"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29" name="Shape 22"/>
          <p:cNvSpPr/>
          <p:nvPr/>
        </p:nvSpPr>
        <p:spPr>
          <a:xfrm>
            <a:off x="8354568"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30" name="Image 5" descr="preencoded.png"/>
          <p:cNvPicPr>
            <a:picLocks noChangeAspect="1"/>
          </p:cNvPicPr>
          <p:nvPr/>
        </p:nvPicPr>
        <p:blipFill>
          <a:blip r:embed="rId8"/>
          <a:stretch>
            <a:fillRect/>
          </a:stretch>
        </p:blipFill>
        <p:spPr>
          <a:xfrm>
            <a:off x="8491728" y="4434840"/>
            <a:ext cx="274320" cy="274320"/>
          </a:xfrm>
          <a:prstGeom prst="rect">
            <a:avLst/>
          </a:prstGeom>
        </p:spPr>
      </p:pic>
      <p:sp>
        <p:nvSpPr>
          <p:cNvPr id="31" name="Text 23"/>
          <p:cNvSpPr txBox="1"/>
          <p:nvPr/>
        </p:nvSpPr>
        <p:spPr>
          <a:xfrm>
            <a:off x="9086088" y="4251960"/>
            <a:ext cx="2325624"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Behavioural</a:t>
            </a:r>
            <a:endParaRPr lang="en-US" sz="2600" dirty="0"/>
          </a:p>
        </p:txBody>
      </p:sp>
      <p:sp>
        <p:nvSpPr>
          <p:cNvPr id="32" name="Text 24"/>
          <p:cNvSpPr txBox="1"/>
          <p:nvPr/>
        </p:nvSpPr>
        <p:spPr>
          <a:xfrm>
            <a:off x="8354568" y="5029200"/>
            <a:ext cx="3057144"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Capability, incentives, resistance, habits, adoption</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1.3 · Competition: the True Landscape</a:t>
            </a:r>
            <a:endParaRPr lang="en-US" sz="3600" dirty="0"/>
          </a:p>
        </p:txBody>
      </p:sp>
      <p:sp>
        <p:nvSpPr>
          <p:cNvPr id="3" name="Shape 1"/>
          <p:cNvSpPr/>
          <p:nvPr/>
        </p:nvSpPr>
        <p:spPr>
          <a:xfrm>
            <a:off x="548640" y="1508760"/>
            <a:ext cx="5408676" cy="3323013"/>
          </a:xfrm>
          <a:prstGeom prst="roundRect">
            <a:avLst>
              <a:gd name="adj" fmla="val 1887"/>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4951476"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Who sells something similar to us?</a:t>
            </a:r>
            <a:endParaRPr lang="en-US" sz="2600" dirty="0"/>
          </a:p>
        </p:txBody>
      </p:sp>
      <p:sp>
        <p:nvSpPr>
          <p:cNvPr id="8" name="Shape 5"/>
          <p:cNvSpPr/>
          <p:nvPr/>
        </p:nvSpPr>
        <p:spPr>
          <a:xfrm>
            <a:off x="6231636" y="1508760"/>
            <a:ext cx="5408676" cy="3323013"/>
          </a:xfrm>
          <a:prstGeom prst="roundRect">
            <a:avLst>
              <a:gd name="adj" fmla="val 1887"/>
            </a:avLst>
          </a:prstGeom>
          <a:solidFill>
            <a:srgbClr val="1A5C2C"/>
          </a:solidFill>
          <a:ln w="12700">
            <a:solidFill>
              <a:srgbClr val="1A5C2C"/>
            </a:solidFill>
            <a:prstDash val="solid"/>
          </a:ln>
        </p:spPr>
        <p:txBody>
          <a:bodyPr/>
          <a:lstStyle/>
          <a:p>
            <a:endParaRPr lang="en-ZA"/>
          </a:p>
        </p:txBody>
      </p:sp>
      <p:sp>
        <p:nvSpPr>
          <p:cNvPr id="9" name="Shape 6"/>
          <p:cNvSpPr/>
          <p:nvPr/>
        </p:nvSpPr>
        <p:spPr>
          <a:xfrm>
            <a:off x="6460236"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620256" y="1897380"/>
            <a:ext cx="320040" cy="320040"/>
          </a:xfrm>
          <a:prstGeom prst="rect">
            <a:avLst/>
          </a:prstGeom>
        </p:spPr>
      </p:pic>
      <p:sp>
        <p:nvSpPr>
          <p:cNvPr id="11" name="Text 7"/>
          <p:cNvSpPr txBox="1"/>
          <p:nvPr/>
        </p:nvSpPr>
        <p:spPr>
          <a:xfrm>
            <a:off x="6460236" y="2514600"/>
            <a:ext cx="4951476" cy="1339596"/>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What alternatives does the customer have for achieving the end game?</a:t>
            </a:r>
            <a:endParaRPr lang="en-US" sz="2600" dirty="0"/>
          </a:p>
        </p:txBody>
      </p:sp>
      <p:sp>
        <p:nvSpPr>
          <p:cNvPr id="14" name="TextBox 13">
            <a:extLst>
              <a:ext uri="{FF2B5EF4-FFF2-40B4-BE49-F238E27FC236}">
                <a16:creationId xmlns:a16="http://schemas.microsoft.com/office/drawing/2014/main" id="{4FD7211F-2731-A14A-D419-658F4EA5536D}"/>
              </a:ext>
            </a:extLst>
          </p:cNvPr>
          <p:cNvSpPr txBox="1"/>
          <p:nvPr/>
        </p:nvSpPr>
        <p:spPr>
          <a:xfrm>
            <a:off x="548639" y="5372723"/>
            <a:ext cx="11390515" cy="646331"/>
          </a:xfrm>
          <a:prstGeom prst="rect">
            <a:avLst/>
          </a:prstGeom>
          <a:noFill/>
        </p:spPr>
        <p:txBody>
          <a:bodyPr wrap="square">
            <a:spAutoFit/>
          </a:bodyPr>
          <a:lstStyle/>
          <a:p>
            <a:r>
              <a:rPr lang="en-GB" sz="3600" b="1" i="1" dirty="0">
                <a:latin typeface="Aptos Light" panose="020B0004020202020204" pitchFamily="34" charset="0"/>
              </a:rPr>
              <a:t>The customer is choosing between routes to an outcome</a:t>
            </a:r>
            <a:endParaRPr lang="en-ZA" sz="3600" b="1" i="1" dirty="0">
              <a:latin typeface="Aptos Light" panose="020B00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1.4 · Value Proposition: Coherent Advantage</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Relevance</a:t>
            </a:r>
            <a:endParaRPr lang="en-US" sz="2800" dirty="0"/>
          </a:p>
        </p:txBody>
      </p:sp>
      <p:sp>
        <p:nvSpPr>
          <p:cNvPr id="7" name="Text 4"/>
          <p:cNvSpPr txBox="1"/>
          <p:nvPr/>
        </p:nvSpPr>
        <p:spPr>
          <a:xfrm>
            <a:off x="777240"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Does it matter?</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Distinctiveness</a:t>
            </a:r>
            <a:endParaRPr lang="en-US" sz="2800" dirty="0"/>
          </a:p>
        </p:txBody>
      </p:sp>
      <p:sp>
        <p:nvSpPr>
          <p:cNvPr id="12" name="Text 8"/>
          <p:cNvSpPr txBox="1"/>
          <p:nvPr/>
        </p:nvSpPr>
        <p:spPr>
          <a:xfrm>
            <a:off x="4565904"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Does it differentiate?</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39496"/>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Deliverability</a:t>
            </a:r>
            <a:endParaRPr lang="en-US" sz="2800" dirty="0"/>
          </a:p>
        </p:txBody>
      </p:sp>
      <p:sp>
        <p:nvSpPr>
          <p:cNvPr id="17" name="Text 12"/>
          <p:cNvSpPr txBox="1"/>
          <p:nvPr/>
        </p:nvSpPr>
        <p:spPr>
          <a:xfrm>
            <a:off x="8354568" y="3191256"/>
            <a:ext cx="3057144" cy="2112264"/>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Can we consistently produce it?</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RELEVANT + DISTINCTIVE + DELIVERABLE = STRATEGIC VALUE</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1 Reflections</a:t>
            </a:r>
            <a:endParaRPr lang="en-US" sz="3600" dirty="0"/>
          </a:p>
        </p:txBody>
      </p:sp>
      <p:pic>
        <p:nvPicPr>
          <p:cNvPr id="3" name="Reflection 1" descr="Overview reflection: Take one Key Result your group confirmed in Unit 3. What is it assuming about the world that has not yet been verified?"/>
          <p:cNvPicPr>
            <a:picLocks noChangeAspect="1"/>
          </p:cNvPicPr>
          <p:nvPr/>
        </p:nvPicPr>
        <p:blipFill>
          <a:blip r:embed="rId3"/>
          <a:stretch>
            <a:fillRect/>
          </a:stretch>
        </p:blipFill>
        <p:spPr>
          <a:xfrm>
            <a:off x="1691640" y="1572768"/>
            <a:ext cx="9921240" cy="946167"/>
          </a:xfrm>
          <a:prstGeom prst="rect">
            <a:avLst/>
          </a:prstGeom>
        </p:spPr>
      </p:pic>
      <p:sp>
        <p:nvSpPr>
          <p:cNvPr id="4" name="Part 1"/>
          <p:cNvSpPr/>
          <p:nvPr/>
        </p:nvSpPr>
        <p:spPr>
          <a:xfrm>
            <a:off x="548640" y="1611511"/>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a:t>
            </a:r>
          </a:p>
        </p:txBody>
      </p:sp>
      <p:pic>
        <p:nvPicPr>
          <p:cNvPr id="5" name="Reflection 2" descr="Bringing ABCV Together reflection: Which of the four ABCV checkpoints is your organisation least likely to examine rigorously before launching a new strategic initiative? What does that pattern cost you?"/>
          <p:cNvPicPr>
            <a:picLocks noChangeAspect="1"/>
          </p:cNvPicPr>
          <p:nvPr/>
        </p:nvPicPr>
        <p:blipFill>
          <a:blip r:embed="rId4"/>
          <a:stretch>
            <a:fillRect/>
          </a:stretch>
        </p:blipFill>
        <p:spPr>
          <a:xfrm>
            <a:off x="1691640" y="2811543"/>
            <a:ext cx="9921240" cy="1182917"/>
          </a:xfrm>
          <a:prstGeom prst="rect">
            <a:avLst/>
          </a:prstGeom>
        </p:spPr>
      </p:pic>
      <p:sp>
        <p:nvSpPr>
          <p:cNvPr id="6" name="Part 2"/>
          <p:cNvSpPr/>
          <p:nvPr/>
        </p:nvSpPr>
        <p:spPr>
          <a:xfrm>
            <a:off x="548640" y="2968661"/>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2</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2</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Intelligence — Why</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The Industry Illusion</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Test strategic priorities against the outcomes customers seek.</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Surface and challenge assumptions underpinning strategic objectives.</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2.1 · The Industry Illusion</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Familiarity</a:t>
            </a:r>
            <a:endParaRPr lang="en-US" sz="2800" dirty="0"/>
          </a:p>
        </p:txBody>
      </p:sp>
      <p:sp>
        <p:nvSpPr>
          <p:cNvPr id="7" name="Text 4"/>
          <p:cNvSpPr txBox="1"/>
          <p:nvPr/>
        </p:nvSpPr>
        <p:spPr>
          <a:xfrm>
            <a:off x="777240"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We know this industry.</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Exclusion</a:t>
            </a:r>
            <a:endParaRPr lang="en-US" sz="2800" dirty="0"/>
          </a:p>
        </p:txBody>
      </p:sp>
      <p:sp>
        <p:nvSpPr>
          <p:cNvPr id="12" name="Text 8"/>
          <p:cNvSpPr txBox="1"/>
          <p:nvPr/>
        </p:nvSpPr>
        <p:spPr>
          <a:xfrm>
            <a:off x="4565904"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We discount what doesn’t fit it.</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39496"/>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Complacency</a:t>
            </a:r>
            <a:endParaRPr lang="en-US" sz="2800" dirty="0"/>
          </a:p>
        </p:txBody>
      </p:sp>
      <p:sp>
        <p:nvSpPr>
          <p:cNvPr id="17" name="Text 12"/>
          <p:cNvSpPr txBox="1"/>
          <p:nvPr/>
        </p:nvSpPr>
        <p:spPr>
          <a:xfrm>
            <a:off x="8354568" y="3191256"/>
            <a:ext cx="3057144" cy="2112264"/>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We become confident in the world we can see.</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The industry we understand becomes the boundary of the world we examine.</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2.2a · The Industry Illusion Game</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Round 1</a:t>
            </a:r>
            <a:endParaRPr lang="en-US" sz="2800" dirty="0"/>
          </a:p>
        </p:txBody>
      </p:sp>
      <p:sp>
        <p:nvSpPr>
          <p:cNvPr id="7" name="Text 4"/>
          <p:cNvSpPr txBox="1"/>
          <p:nvPr/>
        </p:nvSpPr>
        <p:spPr>
          <a:xfrm>
            <a:off x="777240"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Where would you look?</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Round 2</a:t>
            </a:r>
            <a:endParaRPr lang="en-US" sz="2800" dirty="0"/>
          </a:p>
        </p:txBody>
      </p:sp>
      <p:sp>
        <p:nvSpPr>
          <p:cNvPr id="12" name="Text 8"/>
          <p:cNvSpPr txBox="1"/>
          <p:nvPr/>
        </p:nvSpPr>
        <p:spPr>
          <a:xfrm>
            <a:off x="4565904"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deserves attention?</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39496"/>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Round 3</a:t>
            </a:r>
            <a:endParaRPr lang="en-US" sz="2800" dirty="0"/>
          </a:p>
        </p:txBody>
      </p:sp>
      <p:sp>
        <p:nvSpPr>
          <p:cNvPr id="17" name="Text 12"/>
          <p:cNvSpPr txBox="1"/>
          <p:nvPr/>
        </p:nvSpPr>
        <p:spPr>
          <a:xfrm>
            <a:off x="8354568" y="3191256"/>
            <a:ext cx="3057144" cy="2112264"/>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Should we be worried?</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The case: The Future of a University. Three rounds, then The Reveal.</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0">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3</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3</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Extrapolating — Where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Where Does Directional Integrity Break Down?</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Diagnose integrity blind spots arising from functional perspectives.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Assess how functional blind spots combine into enterprise strategic risk.</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3.1a · The Executive Hot Zone</a:t>
            </a:r>
            <a:endParaRPr lang="en-US" sz="3600" dirty="0"/>
          </a:p>
        </p:txBody>
      </p:sp>
      <p:sp>
        <p:nvSpPr>
          <p:cNvPr id="3" name="Text 1"/>
          <p:cNvSpPr txBox="1"/>
          <p:nvPr/>
        </p:nvSpPr>
        <p:spPr>
          <a:xfrm>
            <a:off x="548640" y="1371600"/>
            <a:ext cx="11064240" cy="457200"/>
          </a:xfrm>
          <a:prstGeom prst="rect">
            <a:avLst/>
          </a:prstGeom>
          <a:noFill/>
          <a:ln/>
        </p:spPr>
        <p:txBody>
          <a:bodyPr wrap="square" lIns="0" tIns="0" rIns="0" bIns="0" rtlCol="0" anchor="t"/>
          <a:lstStyle/>
          <a:p>
            <a:pPr marL="0" indent="0">
              <a:buNone/>
            </a:pPr>
            <a:r>
              <a:rPr lang="en-US" sz="2400" i="1" dirty="0">
                <a:solidFill>
                  <a:srgbClr val="4E5E53"/>
                </a:solidFill>
                <a:latin typeface="Calibri" pitchFamily="34" charset="0"/>
                <a:ea typeface="Calibri" pitchFamily="34" charset="-122"/>
                <a:cs typeface="Calibri" pitchFamily="34" charset="-120"/>
              </a:rPr>
              <a:t>Role-based blind spots: the ABCV checkpoint each role most often overlooks</a:t>
            </a:r>
            <a:endParaRPr lang="en-US" sz="2400" dirty="0"/>
          </a:p>
        </p:txBody>
      </p:sp>
      <p:pic>
        <p:nvPicPr>
          <p:cNvPr id="23" name="Picture 22">
            <a:extLst>
              <a:ext uri="{FF2B5EF4-FFF2-40B4-BE49-F238E27FC236}">
                <a16:creationId xmlns:a16="http://schemas.microsoft.com/office/drawing/2014/main" id="{177A0855-320A-493E-39D2-9F25C2065CBA}"/>
              </a:ext>
            </a:extLst>
          </p:cNvPr>
          <p:cNvPicPr>
            <a:picLocks noChangeAspect="1"/>
          </p:cNvPicPr>
          <p:nvPr/>
        </p:nvPicPr>
        <p:blipFill>
          <a:blip r:embed="rId3"/>
          <a:stretch>
            <a:fillRect/>
          </a:stretch>
        </p:blipFill>
        <p:spPr>
          <a:xfrm>
            <a:off x="13855" y="1749479"/>
            <a:ext cx="12192000" cy="521243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3 Reflections</a:t>
            </a:r>
            <a:endParaRPr lang="en-US" sz="3600" dirty="0"/>
          </a:p>
        </p:txBody>
      </p:sp>
      <p:pic>
        <p:nvPicPr>
          <p:cNvPr id="3" name="Reflection 3.1" descr="Reflection 3.1: Having explored your role’s typical blind spot: what is one MBT condition in that checkpoint that your organisation is currently assuming without confirmation? What would it take to verify it?"/>
          <p:cNvPicPr>
            <a:picLocks noChangeAspect="1"/>
          </p:cNvPicPr>
          <p:nvPr/>
        </p:nvPicPr>
        <p:blipFill>
          <a:blip r:embed="rId3"/>
          <a:stretch>
            <a:fillRect/>
          </a:stretch>
        </p:blipFill>
        <p:spPr>
          <a:xfrm>
            <a:off x="1691640" y="1572768"/>
            <a:ext cx="9921240" cy="1257051"/>
          </a:xfrm>
          <a:prstGeom prst="rect">
            <a:avLst/>
          </a:prstGeom>
        </p:spPr>
      </p:pic>
      <p:sp>
        <p:nvSpPr>
          <p:cNvPr id="4" name="Part 3.1"/>
          <p:cNvSpPr/>
          <p:nvPr/>
        </p:nvSpPr>
        <p:spPr>
          <a:xfrm>
            <a:off x="548640" y="1766953"/>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3.1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2">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4</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4</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Integration — Collective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Cause of Death — Match the Breakdown</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Diagnose failures of directional integrity in realistic strategic situations.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Select integrity checks that would prevent or reduce identified strategic failures.</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Cause of Death · Match the Breakdown</a:t>
            </a:r>
            <a:endParaRPr lang="en-US" sz="3600" dirty="0"/>
          </a:p>
        </p:txBody>
      </p:sp>
      <p:sp>
        <p:nvSpPr>
          <p:cNvPr id="3" name="Shape 1"/>
          <p:cNvSpPr/>
          <p:nvPr/>
        </p:nvSpPr>
        <p:spPr>
          <a:xfrm>
            <a:off x="548640" y="1508760"/>
            <a:ext cx="5408676" cy="3931920"/>
          </a:xfrm>
          <a:prstGeom prst="roundRect">
            <a:avLst>
              <a:gd name="adj" fmla="val 2326"/>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1600200" y="1691640"/>
            <a:ext cx="4128516" cy="73152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1 · Find the illusion</a:t>
            </a:r>
            <a:endParaRPr lang="en-US" sz="2600" dirty="0"/>
          </a:p>
        </p:txBody>
      </p:sp>
      <p:sp>
        <p:nvSpPr>
          <p:cNvPr id="7" name="Text 4"/>
          <p:cNvSpPr txBox="1"/>
          <p:nvPr/>
        </p:nvSpPr>
        <p:spPr>
          <a:xfrm>
            <a:off x="777240" y="2560320"/>
            <a:ext cx="4951476" cy="274320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Choose the investigation question the scenario answers: Familiarity, Exclusion or Complacency.</a:t>
            </a:r>
            <a:endParaRPr lang="en-US" sz="2400" dirty="0"/>
          </a:p>
        </p:txBody>
      </p:sp>
      <p:sp>
        <p:nvSpPr>
          <p:cNvPr id="8" name="Shape 5"/>
          <p:cNvSpPr/>
          <p:nvPr/>
        </p:nvSpPr>
        <p:spPr>
          <a:xfrm>
            <a:off x="6231636" y="1508760"/>
            <a:ext cx="5408676" cy="3931920"/>
          </a:xfrm>
          <a:prstGeom prst="roundRect">
            <a:avLst>
              <a:gd name="adj" fmla="val 2326"/>
            </a:avLst>
          </a:prstGeom>
          <a:solidFill>
            <a:srgbClr val="1A5C2C"/>
          </a:solidFill>
          <a:ln w="12700">
            <a:solidFill>
              <a:srgbClr val="1A5C2C"/>
            </a:solidFill>
            <a:prstDash val="solid"/>
          </a:ln>
        </p:spPr>
        <p:txBody>
          <a:bodyPr/>
          <a:lstStyle/>
          <a:p>
            <a:endParaRPr lang="en-ZA"/>
          </a:p>
        </p:txBody>
      </p:sp>
      <p:sp>
        <p:nvSpPr>
          <p:cNvPr id="9" name="Shape 6"/>
          <p:cNvSpPr/>
          <p:nvPr/>
        </p:nvSpPr>
        <p:spPr>
          <a:xfrm>
            <a:off x="6460236"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620256" y="1897380"/>
            <a:ext cx="320040" cy="320040"/>
          </a:xfrm>
          <a:prstGeom prst="rect">
            <a:avLst/>
          </a:prstGeom>
        </p:spPr>
      </p:pic>
      <p:sp>
        <p:nvSpPr>
          <p:cNvPr id="11" name="Text 7"/>
          <p:cNvSpPr txBox="1"/>
          <p:nvPr/>
        </p:nvSpPr>
        <p:spPr>
          <a:xfrm>
            <a:off x="7283196" y="1691640"/>
            <a:ext cx="4128516" cy="73152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2 · Find where it sits</a:t>
            </a:r>
            <a:endParaRPr lang="en-US" sz="2600" dirty="0"/>
          </a:p>
        </p:txBody>
      </p:sp>
      <p:sp>
        <p:nvSpPr>
          <p:cNvPr id="12" name="Text 8"/>
          <p:cNvSpPr txBox="1"/>
          <p:nvPr/>
        </p:nvSpPr>
        <p:spPr>
          <a:xfrm>
            <a:off x="6460236" y="2560320"/>
            <a:ext cx="4951476" cy="274320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Choose the ABCV checkpoint the illusion hid from leaders: Arena, Boundaries, Competition or Value Proposition.</a:t>
            </a:r>
            <a:endParaRPr lang="en-US" sz="2400" dirty="0"/>
          </a:p>
        </p:txBody>
      </p:sp>
      <p:sp>
        <p:nvSpPr>
          <p:cNvPr id="13"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4"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Four failed strategies. Defuse the mine before it detonates.</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4 Reflections</a:t>
            </a:r>
            <a:endParaRPr lang="en-US" sz="3600" dirty="0"/>
          </a:p>
        </p:txBody>
      </p:sp>
      <p:pic>
        <p:nvPicPr>
          <p:cNvPr id="3" name="Reflection 5" descr="Closing Commitment: What is one MBT condition your organisation is currently avoiding naming? Why? What will you do about it before your next strategic review?"/>
          <p:cNvPicPr>
            <a:picLocks noChangeAspect="1"/>
          </p:cNvPicPr>
          <p:nvPr/>
        </p:nvPicPr>
        <p:blipFill>
          <a:blip r:embed="rId3"/>
          <a:stretch>
            <a:fillRect/>
          </a:stretch>
        </p:blipFill>
        <p:spPr>
          <a:xfrm>
            <a:off x="1691640" y="1572768"/>
            <a:ext cx="9921240" cy="890368"/>
          </a:xfrm>
          <a:prstGeom prst="rect">
            <a:avLst/>
          </a:prstGeom>
        </p:spPr>
      </p:pic>
      <p:sp>
        <p:nvSpPr>
          <p:cNvPr id="4" name="Part 5"/>
          <p:cNvSpPr/>
          <p:nvPr/>
        </p:nvSpPr>
        <p:spPr>
          <a:xfrm>
            <a:off x="548640" y="1583611"/>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5</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5</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Application — In Practice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ABCV–MBT Working Papers</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Validate the critical assumptions, dependencies and uncertainties behind strategic objectives.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Assign and coordinate executive accountability for validating strategic conditions.</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91440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188720"/>
            <a:ext cx="548640" cy="548640"/>
          </a:xfrm>
          <a:prstGeom prst="rect">
            <a:avLst/>
          </a:prstGeom>
        </p:spPr>
      </p:pic>
      <p:sp>
        <p:nvSpPr>
          <p:cNvPr id="4" name="Text 1"/>
          <p:cNvSpPr txBox="1"/>
          <p:nvPr/>
        </p:nvSpPr>
        <p:spPr>
          <a:xfrm>
            <a:off x="2103120" y="1097280"/>
            <a:ext cx="941832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5.1 · Worked Example: Stress-Testing a Key Result</a:t>
            </a:r>
            <a:endParaRPr lang="en-US" sz="2600" dirty="0"/>
          </a:p>
        </p:txBody>
      </p:sp>
      <p:sp>
        <p:nvSpPr>
          <p:cNvPr id="5" name="Text 2"/>
          <p:cNvSpPr txBox="1"/>
          <p:nvPr/>
        </p:nvSpPr>
        <p:spPr>
          <a:xfrm>
            <a:off x="2103120" y="1965960"/>
            <a:ext cx="9418320" cy="237744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Reduce average response time to customer requests from 12 hours to 4 hours by 30 June 2027</a:t>
            </a:r>
            <a:endParaRPr lang="en-US" sz="3600" dirty="0"/>
          </a:p>
        </p:txBody>
      </p:sp>
      <p:sp>
        <p:nvSpPr>
          <p:cNvPr id="6" name="Text 3"/>
          <p:cNvSpPr txBox="1"/>
          <p:nvPr/>
        </p:nvSpPr>
        <p:spPr>
          <a:xfrm>
            <a:off x="2103120" y="4526280"/>
            <a:ext cx="9418320" cy="868680"/>
          </a:xfrm>
          <a:prstGeom prst="rect">
            <a:avLst/>
          </a:prstGeom>
          <a:noFill/>
          <a:ln/>
        </p:spPr>
        <p:txBody>
          <a:bodyPr wrap="square" lIns="0" tIns="0" rIns="0" bIns="0" rtlCol="0" anchor="t"/>
          <a:lstStyle/>
          <a:p>
            <a:pPr marL="0" indent="0">
              <a:buNone/>
            </a:pPr>
            <a:r>
              <a:rPr lang="en-US" sz="2400" dirty="0">
                <a:solidFill>
                  <a:srgbClr val="E6D3A0"/>
                </a:solidFill>
                <a:latin typeface="Calibri" pitchFamily="34" charset="0"/>
                <a:ea typeface="Calibri" pitchFamily="34" charset="-122"/>
                <a:cs typeface="Calibri" pitchFamily="34" charset="-120"/>
              </a:rPr>
              <a:t>Objective: Deliver consistently fast and effortless service experiences for customers</a:t>
            </a:r>
            <a:endParaRPr lang="en-US" sz="2400" dirty="0"/>
          </a:p>
        </p:txBody>
      </p:sp>
      <p:sp>
        <p:nvSpPr>
          <p:cNvPr id="7" name="Text 4"/>
          <p:cNvSpPr txBox="1"/>
          <p:nvPr/>
        </p:nvSpPr>
        <p:spPr>
          <a:xfrm>
            <a:off x="2103120" y="5760720"/>
            <a:ext cx="9418320" cy="548640"/>
          </a:xfrm>
          <a:prstGeom prst="rect">
            <a:avLst/>
          </a:prstGeom>
          <a:noFill/>
          <a:ln/>
        </p:spPr>
        <p:txBody>
          <a:bodyPr wrap="square" lIns="0" tIns="0" rIns="0" bIns="0" rtlCol="0" anchor="t"/>
          <a:lstStyle/>
          <a:p>
            <a:pPr marL="0" indent="0">
              <a:buNone/>
            </a:pPr>
            <a:r>
              <a:rPr lang="en-US" sz="2400" dirty="0">
                <a:solidFill>
                  <a:srgbClr val="DDE8DF"/>
                </a:solidFill>
                <a:latin typeface="Calibri" pitchFamily="34" charset="0"/>
                <a:ea typeface="Calibri" pitchFamily="34" charset="-122"/>
                <a:cs typeface="Calibri" pitchFamily="34" charset="-120"/>
              </a:rPr>
              <a:t>A client services company · from Unit 3, part 2.2</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5.1 · Step 1: Define the Arena</a:t>
            </a:r>
            <a:endParaRPr lang="en-US" sz="3600" dirty="0"/>
          </a:p>
        </p:txBody>
      </p:sp>
      <p:sp>
        <p:nvSpPr>
          <p:cNvPr id="3" name="Shape 1"/>
          <p:cNvSpPr/>
          <p:nvPr/>
        </p:nvSpPr>
        <p:spPr>
          <a:xfrm>
            <a:off x="548640" y="1371600"/>
            <a:ext cx="11091672" cy="1325880"/>
          </a:xfrm>
          <a:prstGeom prst="roundRect">
            <a:avLst>
              <a:gd name="adj" fmla="val 6897"/>
            </a:avLst>
          </a:prstGeom>
          <a:solidFill>
            <a:srgbClr val="EEF4EF"/>
          </a:solidFill>
          <a:ln w="12700">
            <a:solidFill>
              <a:srgbClr val="EEF4EF"/>
            </a:solidFill>
            <a:prstDash val="solid"/>
          </a:ln>
        </p:spPr>
        <p:txBody>
          <a:bodyPr/>
          <a:lstStyle/>
          <a:p>
            <a:endParaRPr lang="en-ZA"/>
          </a:p>
        </p:txBody>
      </p:sp>
      <p:sp>
        <p:nvSpPr>
          <p:cNvPr id="4" name="Text 2"/>
          <p:cNvSpPr txBox="1"/>
          <p:nvPr/>
        </p:nvSpPr>
        <p:spPr>
          <a:xfrm>
            <a:off x="822960" y="1371600"/>
            <a:ext cx="10561320" cy="1325880"/>
          </a:xfrm>
          <a:prstGeom prst="rect">
            <a:avLst/>
          </a:prstGeom>
          <a:noFill/>
          <a:ln/>
        </p:spPr>
        <p:txBody>
          <a:bodyPr wrap="square" lIns="0" tIns="0" rIns="0" bIns="0" rtlCol="0" anchor="ctr"/>
          <a:lstStyle/>
          <a:p>
            <a:pPr marL="0" indent="0">
              <a:buNone/>
            </a:pPr>
            <a:r>
              <a:rPr lang="en-US" sz="2400" i="1" dirty="0">
                <a:solidFill>
                  <a:srgbClr val="1A5C2C"/>
                </a:solidFill>
                <a:latin typeface="Calibri" pitchFamily="34" charset="0"/>
                <a:ea typeface="Calibri" pitchFamily="34" charset="-122"/>
                <a:cs typeface="Calibri" pitchFamily="34" charset="-120"/>
              </a:rPr>
              <a:t>Which customer need does “Reduce average response time to customer requests from 12 hours to 4 hours by 30 June 2027” serve: functional, experiential or consequential?</a:t>
            </a:r>
            <a:endParaRPr lang="en-US" sz="2400" dirty="0"/>
          </a:p>
        </p:txBody>
      </p:sp>
      <p:sp>
        <p:nvSpPr>
          <p:cNvPr id="5" name="Text 3"/>
          <p:cNvSpPr txBox="1"/>
          <p:nvPr/>
        </p:nvSpPr>
        <p:spPr>
          <a:xfrm>
            <a:off x="685800" y="2834640"/>
            <a:ext cx="10835640" cy="2240280"/>
          </a:xfrm>
          <a:prstGeom prst="rect">
            <a:avLst/>
          </a:prstGeom>
          <a:noFill/>
          <a:ln/>
        </p:spPr>
        <p:txBody>
          <a:bodyPr wrap="square" lIns="0" tIns="0" rIns="0" bIns="0" rtlCol="0" anchor="ctr"/>
          <a:lstStyle/>
          <a:p>
            <a:pPr marL="0" indent="0">
              <a:spcAft>
                <a:spcPts val="600"/>
              </a:spcAft>
              <a:buNone/>
            </a:pPr>
            <a:r>
              <a:rPr lang="en-US" sz="2400" b="1" dirty="0">
                <a:solidFill>
                  <a:srgbClr val="1A5C2C"/>
                </a:solidFill>
                <a:latin typeface="Cambria" pitchFamily="34" charset="0"/>
                <a:ea typeface="Cambria" pitchFamily="34" charset="-122"/>
                <a:cs typeface="Cambria" pitchFamily="34" charset="-120"/>
              </a:rPr>
              <a:t>Functional  </a:t>
            </a:r>
            <a:r>
              <a:rPr lang="en-US" sz="2400" dirty="0">
                <a:solidFill>
                  <a:srgbClr val="1F2A22"/>
                </a:solidFill>
                <a:latin typeface="Calibri" pitchFamily="34" charset="0"/>
                <a:ea typeface="Calibri" pitchFamily="34" charset="-122"/>
                <a:cs typeface="Calibri" pitchFamily="34" charset="-120"/>
              </a:rPr>
              <a:t>Have a service request answered and resolved.</a:t>
            </a:r>
            <a:endParaRPr lang="en-US" sz="2400" dirty="0"/>
          </a:p>
          <a:p>
            <a:pPr marL="0" indent="0">
              <a:spcAft>
                <a:spcPts val="600"/>
              </a:spcAft>
              <a:buNone/>
            </a:pPr>
            <a:r>
              <a:rPr lang="en-US" sz="2400" b="1" dirty="0">
                <a:solidFill>
                  <a:srgbClr val="1A5C2C"/>
                </a:solidFill>
                <a:latin typeface="Cambria" pitchFamily="34" charset="0"/>
                <a:ea typeface="Cambria" pitchFamily="34" charset="-122"/>
                <a:cs typeface="Cambria" pitchFamily="34" charset="-120"/>
              </a:rPr>
              <a:t>Experiential  </a:t>
            </a:r>
            <a:r>
              <a:rPr lang="en-US" sz="2400" dirty="0">
                <a:solidFill>
                  <a:srgbClr val="1F2A22"/>
                </a:solidFill>
                <a:latin typeface="Calibri" pitchFamily="34" charset="0"/>
                <a:ea typeface="Calibri" pitchFamily="34" charset="-122"/>
                <a:cs typeface="Calibri" pitchFamily="34" charset="-120"/>
              </a:rPr>
              <a:t>Fast and effortless: one contact, no chasing.</a:t>
            </a:r>
            <a:endParaRPr lang="en-US" sz="2400" dirty="0"/>
          </a:p>
          <a:p>
            <a:pPr marL="0" indent="0">
              <a:spcAft>
                <a:spcPts val="600"/>
              </a:spcAft>
              <a:buNone/>
            </a:pPr>
            <a:r>
              <a:rPr lang="en-US" sz="2400" b="1" dirty="0">
                <a:solidFill>
                  <a:srgbClr val="1A5C2C"/>
                </a:solidFill>
                <a:latin typeface="Cambria" pitchFamily="34" charset="0"/>
                <a:ea typeface="Cambria" pitchFamily="34" charset="-122"/>
                <a:cs typeface="Cambria" pitchFamily="34" charset="-120"/>
              </a:rPr>
              <a:t>Consequential  </a:t>
            </a:r>
            <a:r>
              <a:rPr lang="en-US" sz="2400" dirty="0">
                <a:solidFill>
                  <a:srgbClr val="1F2A22"/>
                </a:solidFill>
                <a:latin typeface="Calibri" pitchFamily="34" charset="0"/>
                <a:ea typeface="Calibri" pitchFamily="34" charset="-122"/>
                <a:cs typeface="Calibri" pitchFamily="34" charset="-120"/>
              </a:rPr>
              <a:t>Keep their own operations running and their commitments to their own customers met.</a:t>
            </a:r>
            <a:endParaRPr lang="en-US" sz="2400" dirty="0"/>
          </a:p>
        </p:txBody>
      </p:sp>
      <p:sp>
        <p:nvSpPr>
          <p:cNvPr id="6" name="Shape 4"/>
          <p:cNvSpPr/>
          <p:nvPr/>
        </p:nvSpPr>
        <p:spPr>
          <a:xfrm>
            <a:off x="548640" y="5212080"/>
            <a:ext cx="11091672" cy="1188720"/>
          </a:xfrm>
          <a:prstGeom prst="roundRect">
            <a:avLst>
              <a:gd name="adj" fmla="val 7692"/>
            </a:avLst>
          </a:prstGeom>
          <a:solidFill>
            <a:srgbClr val="0F3B1C"/>
          </a:solidFill>
          <a:ln w="12700">
            <a:solidFill>
              <a:srgbClr val="0F3B1C"/>
            </a:solidFill>
            <a:prstDash val="solid"/>
          </a:ln>
        </p:spPr>
        <p:txBody>
          <a:bodyPr/>
          <a:lstStyle/>
          <a:p>
            <a:endParaRPr lang="en-ZA"/>
          </a:p>
        </p:txBody>
      </p:sp>
      <p:sp>
        <p:nvSpPr>
          <p:cNvPr id="7" name="Text 5"/>
          <p:cNvSpPr txBox="1"/>
          <p:nvPr/>
        </p:nvSpPr>
        <p:spPr>
          <a:xfrm>
            <a:off x="822960" y="5212080"/>
            <a:ext cx="10561320" cy="1188720"/>
          </a:xfrm>
          <a:prstGeom prst="rect">
            <a:avLst/>
          </a:prstGeom>
          <a:noFill/>
          <a:ln/>
        </p:spPr>
        <p:txBody>
          <a:bodyPr wrap="square" lIns="0" tIns="0" rIns="0" bIns="0" rtlCol="0" anchor="ctr"/>
          <a:lstStyle/>
          <a:p>
            <a:pPr marL="0" indent="0">
              <a:buNone/>
            </a:pPr>
            <a:r>
              <a:rPr lang="en-US" sz="2400" b="1" dirty="0">
                <a:solidFill>
                  <a:srgbClr val="C6A24C"/>
                </a:solidFill>
                <a:latin typeface="Calibri" pitchFamily="34" charset="0"/>
                <a:ea typeface="Calibri" pitchFamily="34" charset="-122"/>
                <a:cs typeface="Calibri" pitchFamily="34" charset="-120"/>
              </a:rPr>
              <a:t>Must be true:  </a:t>
            </a:r>
            <a:r>
              <a:rPr lang="en-US" sz="2400" dirty="0">
                <a:solidFill>
                  <a:srgbClr val="FFFFFF"/>
                </a:solidFill>
                <a:latin typeface="Calibri" pitchFamily="34" charset="0"/>
                <a:ea typeface="Calibri" pitchFamily="34" charset="-122"/>
                <a:cs typeface="Calibri" pitchFamily="34" charset="-120"/>
              </a:rPr>
              <a:t>Experiential: clients continue to rank speed of response among their top three reasons for choosing a service partner.</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5.1 · Step 2: Understand the Boundaries</a:t>
            </a:r>
            <a:endParaRPr lang="en-US" sz="3600" dirty="0"/>
          </a:p>
        </p:txBody>
      </p:sp>
      <p:sp>
        <p:nvSpPr>
          <p:cNvPr id="3" name="Shape 1"/>
          <p:cNvSpPr/>
          <p:nvPr/>
        </p:nvSpPr>
        <p:spPr>
          <a:xfrm>
            <a:off x="548640" y="1371600"/>
            <a:ext cx="11091672" cy="1325880"/>
          </a:xfrm>
          <a:prstGeom prst="roundRect">
            <a:avLst>
              <a:gd name="adj" fmla="val 6897"/>
            </a:avLst>
          </a:prstGeom>
          <a:solidFill>
            <a:srgbClr val="EEF4EF"/>
          </a:solidFill>
          <a:ln w="12700">
            <a:solidFill>
              <a:srgbClr val="EEF4EF"/>
            </a:solidFill>
            <a:prstDash val="solid"/>
          </a:ln>
        </p:spPr>
        <p:txBody>
          <a:bodyPr/>
          <a:lstStyle/>
          <a:p>
            <a:endParaRPr lang="en-ZA"/>
          </a:p>
        </p:txBody>
      </p:sp>
      <p:sp>
        <p:nvSpPr>
          <p:cNvPr id="4" name="Text 2"/>
          <p:cNvSpPr txBox="1"/>
          <p:nvPr/>
        </p:nvSpPr>
        <p:spPr>
          <a:xfrm>
            <a:off x="822960" y="1371600"/>
            <a:ext cx="10561320" cy="1325880"/>
          </a:xfrm>
          <a:prstGeom prst="rect">
            <a:avLst/>
          </a:prstGeom>
          <a:noFill/>
          <a:ln/>
        </p:spPr>
        <p:txBody>
          <a:bodyPr wrap="square" lIns="0" tIns="0" rIns="0" bIns="0" rtlCol="0" anchor="ctr"/>
          <a:lstStyle/>
          <a:p>
            <a:pPr marL="0" indent="0">
              <a:buNone/>
            </a:pPr>
            <a:r>
              <a:rPr lang="en-US" sz="2400" i="1" dirty="0">
                <a:solidFill>
                  <a:srgbClr val="1A5C2C"/>
                </a:solidFill>
                <a:latin typeface="Calibri" pitchFamily="34" charset="0"/>
                <a:ea typeface="Calibri" pitchFamily="34" charset="-122"/>
                <a:cs typeface="Calibri" pitchFamily="34" charset="-120"/>
              </a:rPr>
              <a:t>Which conditions could materially slow, restrict or prevent us from delivering “Reduce average response time to customer requests from 12 hours to 4 hours by 30 June 2027”?</a:t>
            </a:r>
            <a:endParaRPr lang="en-US" sz="2400" dirty="0"/>
          </a:p>
        </p:txBody>
      </p:sp>
      <p:sp>
        <p:nvSpPr>
          <p:cNvPr id="5" name="Text 3"/>
          <p:cNvSpPr txBox="1"/>
          <p:nvPr/>
        </p:nvSpPr>
        <p:spPr>
          <a:xfrm>
            <a:off x="685800" y="2834640"/>
            <a:ext cx="10835640" cy="2514600"/>
          </a:xfrm>
          <a:prstGeom prst="rect">
            <a:avLst/>
          </a:prstGeom>
          <a:noFill/>
          <a:ln/>
        </p:spPr>
        <p:txBody>
          <a:bodyPr wrap="square" lIns="0" tIns="0" rIns="0" bIns="0" rtlCol="0" anchor="ctr"/>
          <a:lstStyle/>
          <a:p>
            <a:pPr marL="342900" indent="-342900">
              <a:spcAft>
                <a:spcPts val="200"/>
              </a:spcAft>
              <a:buSzPct val="100000"/>
              <a:buChar char="•"/>
            </a:pPr>
            <a:r>
              <a:rPr lang="en-US" sz="2400" dirty="0">
                <a:solidFill>
                  <a:srgbClr val="1F2A22"/>
                </a:solidFill>
                <a:latin typeface="Calibri" pitchFamily="34" charset="0"/>
                <a:ea typeface="Calibri" pitchFamily="34" charset="-122"/>
                <a:cs typeface="Calibri" pitchFamily="34" charset="-120"/>
              </a:rPr>
              <a:t>Requests that cross Commercial, Operations and Customer Service wait at each handover.</a:t>
            </a:r>
            <a:endParaRPr lang="en-US" sz="2400" dirty="0"/>
          </a:p>
          <a:p>
            <a:pPr marL="342900" indent="-342900">
              <a:spcAft>
                <a:spcPts val="200"/>
              </a:spcAft>
              <a:buSzPct val="100000"/>
              <a:buChar char="•"/>
            </a:pPr>
            <a:r>
              <a:rPr lang="en-US" sz="2400" dirty="0">
                <a:solidFill>
                  <a:srgbClr val="1F2A22"/>
                </a:solidFill>
                <a:latin typeface="Calibri" pitchFamily="34" charset="0"/>
                <a:ea typeface="Calibri" pitchFamily="34" charset="-122"/>
                <a:cs typeface="Calibri" pitchFamily="34" charset="-120"/>
              </a:rPr>
              <a:t>Front-line staff lack the authority and the client information to answer alone.</a:t>
            </a:r>
            <a:endParaRPr lang="en-US" sz="2400" dirty="0"/>
          </a:p>
          <a:p>
            <a:pPr marL="342900" indent="-342900">
              <a:spcAft>
                <a:spcPts val="200"/>
              </a:spcAft>
              <a:buSzPct val="100000"/>
              <a:buChar char="•"/>
            </a:pPr>
            <a:r>
              <a:rPr lang="en-US" sz="2400" dirty="0">
                <a:solidFill>
                  <a:srgbClr val="1F2A22"/>
                </a:solidFill>
                <a:latin typeface="Calibri" pitchFamily="34" charset="0"/>
                <a:ea typeface="Calibri" pitchFamily="34" charset="-122"/>
                <a:cs typeface="Calibri" pitchFamily="34" charset="-120"/>
              </a:rPr>
              <a:t>Each function records requests in its own system, with no shared view.</a:t>
            </a:r>
            <a:endParaRPr lang="en-US" sz="2400" dirty="0"/>
          </a:p>
          <a:p>
            <a:pPr marL="342900" indent="-342900">
              <a:spcAft>
                <a:spcPts val="200"/>
              </a:spcAft>
              <a:buSzPct val="100000"/>
              <a:buChar char="•"/>
            </a:pPr>
            <a:r>
              <a:rPr lang="en-US" sz="2400" dirty="0">
                <a:solidFill>
                  <a:srgbClr val="1F2A22"/>
                </a:solidFill>
                <a:latin typeface="Calibri" pitchFamily="34" charset="0"/>
                <a:ea typeface="Calibri" pitchFamily="34" charset="-122"/>
                <a:cs typeface="Calibri" pitchFamily="34" charset="-120"/>
              </a:rPr>
              <a:t>Request volumes peak at month-end.</a:t>
            </a:r>
            <a:endParaRPr lang="en-US" sz="2400" dirty="0"/>
          </a:p>
        </p:txBody>
      </p:sp>
      <p:sp>
        <p:nvSpPr>
          <p:cNvPr id="6" name="Shape 4"/>
          <p:cNvSpPr/>
          <p:nvPr/>
        </p:nvSpPr>
        <p:spPr>
          <a:xfrm>
            <a:off x="548640" y="5486400"/>
            <a:ext cx="11091672" cy="914400"/>
          </a:xfrm>
          <a:prstGeom prst="roundRect">
            <a:avLst>
              <a:gd name="adj" fmla="val 10000"/>
            </a:avLst>
          </a:prstGeom>
          <a:solidFill>
            <a:srgbClr val="0F3B1C"/>
          </a:solidFill>
          <a:ln w="12700">
            <a:solidFill>
              <a:srgbClr val="0F3B1C"/>
            </a:solidFill>
            <a:prstDash val="solid"/>
          </a:ln>
        </p:spPr>
        <p:txBody>
          <a:bodyPr/>
          <a:lstStyle/>
          <a:p>
            <a:endParaRPr lang="en-ZA"/>
          </a:p>
        </p:txBody>
      </p:sp>
      <p:sp>
        <p:nvSpPr>
          <p:cNvPr id="7" name="Text 5"/>
          <p:cNvSpPr txBox="1"/>
          <p:nvPr/>
        </p:nvSpPr>
        <p:spPr>
          <a:xfrm>
            <a:off x="822960" y="5486400"/>
            <a:ext cx="10561320" cy="914400"/>
          </a:xfrm>
          <a:prstGeom prst="rect">
            <a:avLst/>
          </a:prstGeom>
          <a:noFill/>
          <a:ln/>
        </p:spPr>
        <p:txBody>
          <a:bodyPr wrap="square" lIns="0" tIns="0" rIns="0" bIns="0" rtlCol="0" anchor="ctr"/>
          <a:lstStyle/>
          <a:p>
            <a:pPr marL="0" indent="0">
              <a:buNone/>
            </a:pPr>
            <a:r>
              <a:rPr lang="en-US" sz="2400" b="1" dirty="0">
                <a:solidFill>
                  <a:srgbClr val="C6A24C"/>
                </a:solidFill>
                <a:latin typeface="Calibri" pitchFamily="34" charset="0"/>
                <a:ea typeface="Calibri" pitchFamily="34" charset="-122"/>
                <a:cs typeface="Calibri" pitchFamily="34" charset="-120"/>
              </a:rPr>
              <a:t>Must be true:  </a:t>
            </a:r>
            <a:r>
              <a:rPr lang="en-US" sz="2400" dirty="0">
                <a:solidFill>
                  <a:srgbClr val="FFFFFF"/>
                </a:solidFill>
                <a:latin typeface="Calibri" pitchFamily="34" charset="0"/>
                <a:ea typeface="Calibri" pitchFamily="34" charset="-122"/>
                <a:cs typeface="Calibri" pitchFamily="34" charset="-120"/>
              </a:rPr>
              <a:t>Handovers between Commercial, Operations and Customer Service are completed inside four hours.</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5.1 · Step 3: See the Competition</a:t>
            </a:r>
            <a:endParaRPr lang="en-US" sz="3600" dirty="0"/>
          </a:p>
        </p:txBody>
      </p:sp>
      <p:sp>
        <p:nvSpPr>
          <p:cNvPr id="3" name="Shape 1"/>
          <p:cNvSpPr/>
          <p:nvPr/>
        </p:nvSpPr>
        <p:spPr>
          <a:xfrm>
            <a:off x="548640" y="1371600"/>
            <a:ext cx="11091672" cy="1325880"/>
          </a:xfrm>
          <a:prstGeom prst="roundRect">
            <a:avLst>
              <a:gd name="adj" fmla="val 6897"/>
            </a:avLst>
          </a:prstGeom>
          <a:solidFill>
            <a:srgbClr val="EEF4EF"/>
          </a:solidFill>
          <a:ln w="12700">
            <a:solidFill>
              <a:srgbClr val="EEF4EF"/>
            </a:solidFill>
            <a:prstDash val="solid"/>
          </a:ln>
        </p:spPr>
        <p:txBody>
          <a:bodyPr/>
          <a:lstStyle/>
          <a:p>
            <a:endParaRPr lang="en-ZA"/>
          </a:p>
        </p:txBody>
      </p:sp>
      <p:sp>
        <p:nvSpPr>
          <p:cNvPr id="4" name="Text 2"/>
          <p:cNvSpPr txBox="1"/>
          <p:nvPr/>
        </p:nvSpPr>
        <p:spPr>
          <a:xfrm>
            <a:off x="822960" y="1371600"/>
            <a:ext cx="10561320" cy="1325880"/>
          </a:xfrm>
          <a:prstGeom prst="rect">
            <a:avLst/>
          </a:prstGeom>
          <a:noFill/>
          <a:ln/>
        </p:spPr>
        <p:txBody>
          <a:bodyPr wrap="square" lIns="0" tIns="0" rIns="0" bIns="0" rtlCol="0" anchor="ctr"/>
          <a:lstStyle/>
          <a:p>
            <a:pPr marL="0" indent="0">
              <a:buNone/>
            </a:pPr>
            <a:r>
              <a:rPr lang="en-US" sz="2400" i="1" dirty="0">
                <a:solidFill>
                  <a:srgbClr val="1A5C2C"/>
                </a:solidFill>
                <a:latin typeface="Calibri" pitchFamily="34" charset="0"/>
                <a:ea typeface="Calibri" pitchFamily="34" charset="-122"/>
                <a:cs typeface="Calibri" pitchFamily="34" charset="-120"/>
              </a:rPr>
              <a:t>Who or what else can give the customer what “Reduce average response time to customer requests from 12 hours to 4 hours by 30 June 2027” delivers?</a:t>
            </a:r>
            <a:endParaRPr lang="en-US" sz="2400" dirty="0"/>
          </a:p>
        </p:txBody>
      </p:sp>
      <p:sp>
        <p:nvSpPr>
          <p:cNvPr id="5" name="Text 3"/>
          <p:cNvSpPr txBox="1"/>
          <p:nvPr/>
        </p:nvSpPr>
        <p:spPr>
          <a:xfrm>
            <a:off x="685800" y="2834640"/>
            <a:ext cx="10835640" cy="2514600"/>
          </a:xfrm>
          <a:prstGeom prst="rect">
            <a:avLst/>
          </a:prstGeom>
          <a:noFill/>
          <a:ln/>
        </p:spPr>
        <p:txBody>
          <a:bodyPr wrap="square" lIns="0" tIns="0" rIns="0" bIns="0" rtlCol="0" anchor="ctr"/>
          <a:lstStyle/>
          <a:p>
            <a:pPr marL="342900" indent="-342900">
              <a:spcAft>
                <a:spcPts val="200"/>
              </a:spcAft>
              <a:buSzPct val="100000"/>
              <a:buChar char="•"/>
            </a:pPr>
            <a:r>
              <a:rPr lang="en-US" sz="2400" dirty="0">
                <a:solidFill>
                  <a:srgbClr val="1F2A22"/>
                </a:solidFill>
                <a:latin typeface="Calibri" pitchFamily="34" charset="0"/>
                <a:ea typeface="Calibri" pitchFamily="34" charset="-122"/>
                <a:cs typeface="Calibri" pitchFamily="34" charset="-120"/>
              </a:rPr>
              <a:t>Rival client services firms.</a:t>
            </a:r>
            <a:endParaRPr lang="en-US" sz="2400" dirty="0"/>
          </a:p>
          <a:p>
            <a:pPr marL="342900" indent="-342900">
              <a:spcAft>
                <a:spcPts val="200"/>
              </a:spcAft>
              <a:buSzPct val="100000"/>
              <a:buChar char="•"/>
            </a:pPr>
            <a:r>
              <a:rPr lang="en-US" sz="2400" dirty="0">
                <a:solidFill>
                  <a:srgbClr val="1F2A22"/>
                </a:solidFill>
                <a:latin typeface="Calibri" pitchFamily="34" charset="0"/>
                <a:ea typeface="Calibri" pitchFamily="34" charset="-122"/>
                <a:cs typeface="Calibri" pitchFamily="34" charset="-120"/>
              </a:rPr>
              <a:t>Larger providers with round-the-clock service desks.</a:t>
            </a:r>
            <a:endParaRPr lang="en-US" sz="2400" dirty="0"/>
          </a:p>
          <a:p>
            <a:pPr marL="342900" indent="-342900">
              <a:spcAft>
                <a:spcPts val="200"/>
              </a:spcAft>
              <a:buSzPct val="100000"/>
              <a:buChar char="•"/>
            </a:pPr>
            <a:r>
              <a:rPr lang="en-US" sz="2400" dirty="0">
                <a:solidFill>
                  <a:srgbClr val="1F2A22"/>
                </a:solidFill>
                <a:latin typeface="Calibri" pitchFamily="34" charset="0"/>
                <a:ea typeface="Calibri" pitchFamily="34" charset="-122"/>
                <a:cs typeface="Calibri" pitchFamily="34" charset="-120"/>
              </a:rPr>
              <a:t>The client’s own in-house team.</a:t>
            </a:r>
            <a:endParaRPr lang="en-US" sz="2400" dirty="0"/>
          </a:p>
          <a:p>
            <a:pPr marL="342900" indent="-342900">
              <a:spcAft>
                <a:spcPts val="200"/>
              </a:spcAft>
              <a:buSzPct val="100000"/>
              <a:buChar char="•"/>
            </a:pPr>
            <a:r>
              <a:rPr lang="en-US" sz="2400" dirty="0">
                <a:solidFill>
                  <a:srgbClr val="1F2A22"/>
                </a:solidFill>
                <a:latin typeface="Calibri" pitchFamily="34" charset="0"/>
                <a:ea typeface="Calibri" pitchFamily="34" charset="-122"/>
                <a:cs typeface="Calibri" pitchFamily="34" charset="-120"/>
              </a:rPr>
              <a:t>Self-service tools that answer simple requests at once.</a:t>
            </a:r>
            <a:endParaRPr lang="en-US" sz="2400" dirty="0"/>
          </a:p>
          <a:p>
            <a:pPr marL="342900" indent="-342900">
              <a:spcAft>
                <a:spcPts val="200"/>
              </a:spcAft>
              <a:buSzPct val="100000"/>
              <a:buChar char="•"/>
            </a:pPr>
            <a:r>
              <a:rPr lang="en-US" sz="2400" dirty="0">
                <a:solidFill>
                  <a:srgbClr val="1F2A22"/>
                </a:solidFill>
                <a:latin typeface="Calibri" pitchFamily="34" charset="0"/>
                <a:ea typeface="Calibri" pitchFamily="34" charset="-122"/>
                <a:cs typeface="Calibri" pitchFamily="34" charset="-120"/>
              </a:rPr>
              <a:t>Doing nothing: the client lives with a slower answer.</a:t>
            </a:r>
            <a:endParaRPr lang="en-US" sz="2400" dirty="0"/>
          </a:p>
        </p:txBody>
      </p:sp>
      <p:sp>
        <p:nvSpPr>
          <p:cNvPr id="6" name="Shape 4"/>
          <p:cNvSpPr/>
          <p:nvPr/>
        </p:nvSpPr>
        <p:spPr>
          <a:xfrm>
            <a:off x="548640" y="5486400"/>
            <a:ext cx="11091672" cy="914400"/>
          </a:xfrm>
          <a:prstGeom prst="roundRect">
            <a:avLst>
              <a:gd name="adj" fmla="val 10000"/>
            </a:avLst>
          </a:prstGeom>
          <a:solidFill>
            <a:srgbClr val="0F3B1C"/>
          </a:solidFill>
          <a:ln w="12700">
            <a:solidFill>
              <a:srgbClr val="0F3B1C"/>
            </a:solidFill>
            <a:prstDash val="solid"/>
          </a:ln>
        </p:spPr>
        <p:txBody>
          <a:bodyPr/>
          <a:lstStyle/>
          <a:p>
            <a:endParaRPr lang="en-ZA"/>
          </a:p>
        </p:txBody>
      </p:sp>
      <p:sp>
        <p:nvSpPr>
          <p:cNvPr id="7" name="Text 5"/>
          <p:cNvSpPr txBox="1"/>
          <p:nvPr/>
        </p:nvSpPr>
        <p:spPr>
          <a:xfrm>
            <a:off x="822960" y="5486400"/>
            <a:ext cx="10561320" cy="914400"/>
          </a:xfrm>
          <a:prstGeom prst="rect">
            <a:avLst/>
          </a:prstGeom>
          <a:noFill/>
          <a:ln/>
        </p:spPr>
        <p:txBody>
          <a:bodyPr wrap="square" lIns="0" tIns="0" rIns="0" bIns="0" rtlCol="0" anchor="ctr"/>
          <a:lstStyle/>
          <a:p>
            <a:pPr marL="0" indent="0">
              <a:buNone/>
            </a:pPr>
            <a:r>
              <a:rPr lang="en-US" sz="2400" b="1" dirty="0">
                <a:solidFill>
                  <a:srgbClr val="C6A24C"/>
                </a:solidFill>
                <a:latin typeface="Calibri" pitchFamily="34" charset="0"/>
                <a:ea typeface="Calibri" pitchFamily="34" charset="-122"/>
                <a:cs typeface="Calibri" pitchFamily="34" charset="-120"/>
              </a:rPr>
              <a:t>Must be true:  </a:t>
            </a:r>
            <a:r>
              <a:rPr lang="en-US" sz="2400" dirty="0">
                <a:solidFill>
                  <a:srgbClr val="FFFFFF"/>
                </a:solidFill>
                <a:latin typeface="Calibri" pitchFamily="34" charset="0"/>
                <a:ea typeface="Calibri" pitchFamily="34" charset="-122"/>
                <a:cs typeface="Calibri" pitchFamily="34" charset="-120"/>
              </a:rPr>
              <a:t>A four-hour response remains faster than rival firms and clients’ in-house options provide.</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5.1 · Step 4: Establish the Value Proposition</a:t>
            </a:r>
            <a:endParaRPr lang="en-US" sz="3600" dirty="0"/>
          </a:p>
        </p:txBody>
      </p:sp>
      <p:sp>
        <p:nvSpPr>
          <p:cNvPr id="3" name="Shape 1"/>
          <p:cNvSpPr/>
          <p:nvPr/>
        </p:nvSpPr>
        <p:spPr>
          <a:xfrm>
            <a:off x="548640" y="1371600"/>
            <a:ext cx="11091672" cy="1325880"/>
          </a:xfrm>
          <a:prstGeom prst="roundRect">
            <a:avLst>
              <a:gd name="adj" fmla="val 6897"/>
            </a:avLst>
          </a:prstGeom>
          <a:solidFill>
            <a:srgbClr val="EEF4EF"/>
          </a:solidFill>
          <a:ln w="12700">
            <a:solidFill>
              <a:srgbClr val="EEF4EF"/>
            </a:solidFill>
            <a:prstDash val="solid"/>
          </a:ln>
        </p:spPr>
        <p:txBody>
          <a:bodyPr/>
          <a:lstStyle/>
          <a:p>
            <a:endParaRPr lang="en-ZA"/>
          </a:p>
        </p:txBody>
      </p:sp>
      <p:sp>
        <p:nvSpPr>
          <p:cNvPr id="4" name="Text 2"/>
          <p:cNvSpPr txBox="1"/>
          <p:nvPr/>
        </p:nvSpPr>
        <p:spPr>
          <a:xfrm>
            <a:off x="822960" y="1371600"/>
            <a:ext cx="10561320" cy="1325880"/>
          </a:xfrm>
          <a:prstGeom prst="rect">
            <a:avLst/>
          </a:prstGeom>
          <a:noFill/>
          <a:ln/>
        </p:spPr>
        <p:txBody>
          <a:bodyPr wrap="square" lIns="0" tIns="0" rIns="0" bIns="0" rtlCol="0" anchor="ctr"/>
          <a:lstStyle/>
          <a:p>
            <a:pPr marL="0" indent="0">
              <a:buNone/>
            </a:pPr>
            <a:r>
              <a:rPr lang="en-US" sz="2400" i="1" dirty="0">
                <a:solidFill>
                  <a:srgbClr val="1A5C2C"/>
                </a:solidFill>
                <a:latin typeface="Calibri" pitchFamily="34" charset="0"/>
                <a:ea typeface="Calibri" pitchFamily="34" charset="-122"/>
                <a:cs typeface="Calibri" pitchFamily="34" charset="-120"/>
              </a:rPr>
              <a:t>What about “Reduce average response time to customer requests from 12 hours to 4 hours by 30 June 2027” will make customers choose us?</a:t>
            </a:r>
            <a:endParaRPr lang="en-US" sz="2400" dirty="0"/>
          </a:p>
        </p:txBody>
      </p:sp>
      <p:sp>
        <p:nvSpPr>
          <p:cNvPr id="5" name="Text 3"/>
          <p:cNvSpPr txBox="1"/>
          <p:nvPr/>
        </p:nvSpPr>
        <p:spPr>
          <a:xfrm>
            <a:off x="685800" y="2834640"/>
            <a:ext cx="10835640" cy="2514600"/>
          </a:xfrm>
          <a:prstGeom prst="rect">
            <a:avLst/>
          </a:prstGeom>
          <a:noFill/>
          <a:ln/>
        </p:spPr>
        <p:txBody>
          <a:bodyPr wrap="square" lIns="0" tIns="0" rIns="0" bIns="0" rtlCol="0" anchor="ctr"/>
          <a:lstStyle/>
          <a:p>
            <a:pPr marL="0" indent="0">
              <a:spcAft>
                <a:spcPts val="600"/>
              </a:spcAft>
              <a:buNone/>
            </a:pPr>
            <a:r>
              <a:rPr lang="en-US" sz="2400" b="1" dirty="0">
                <a:solidFill>
                  <a:srgbClr val="1A5C2C"/>
                </a:solidFill>
                <a:latin typeface="Cambria" pitchFamily="34" charset="0"/>
                <a:ea typeface="Cambria" pitchFamily="34" charset="-122"/>
                <a:cs typeface="Cambria" pitchFamily="34" charset="-120"/>
              </a:rPr>
              <a:t>Relevant  </a:t>
            </a:r>
            <a:r>
              <a:rPr lang="en-US" sz="2400" dirty="0">
                <a:solidFill>
                  <a:srgbClr val="1F2A22"/>
                </a:solidFill>
                <a:latin typeface="Calibri" pitchFamily="34" charset="0"/>
                <a:ea typeface="Calibri" pitchFamily="34" charset="-122"/>
                <a:cs typeface="Calibri" pitchFamily="34" charset="-120"/>
              </a:rPr>
              <a:t>Speed of response is among the main reasons clients choose a service partner.</a:t>
            </a:r>
            <a:endParaRPr lang="en-US" sz="2400" dirty="0"/>
          </a:p>
          <a:p>
            <a:pPr marL="0" indent="0">
              <a:spcAft>
                <a:spcPts val="600"/>
              </a:spcAft>
              <a:buNone/>
            </a:pPr>
            <a:r>
              <a:rPr lang="en-US" sz="2400" b="1" dirty="0">
                <a:solidFill>
                  <a:srgbClr val="1A5C2C"/>
                </a:solidFill>
                <a:latin typeface="Cambria" pitchFamily="34" charset="0"/>
                <a:ea typeface="Cambria" pitchFamily="34" charset="-122"/>
                <a:cs typeface="Cambria" pitchFamily="34" charset="-120"/>
              </a:rPr>
              <a:t>Distinctive  </a:t>
            </a:r>
            <a:r>
              <a:rPr lang="en-US" sz="2400" dirty="0">
                <a:solidFill>
                  <a:srgbClr val="1F2A22"/>
                </a:solidFill>
                <a:latin typeface="Calibri" pitchFamily="34" charset="0"/>
                <a:ea typeface="Calibri" pitchFamily="34" charset="-122"/>
                <a:cs typeface="Calibri" pitchFamily="34" charset="-120"/>
              </a:rPr>
              <a:t>One joined-up team answers the request. Larger providers pass it between departments.</a:t>
            </a:r>
            <a:endParaRPr lang="en-US" sz="2400" dirty="0"/>
          </a:p>
          <a:p>
            <a:pPr marL="0" indent="0">
              <a:spcAft>
                <a:spcPts val="600"/>
              </a:spcAft>
              <a:buNone/>
            </a:pPr>
            <a:r>
              <a:rPr lang="en-US" sz="2400" b="1" dirty="0">
                <a:solidFill>
                  <a:srgbClr val="1A5C2C"/>
                </a:solidFill>
                <a:latin typeface="Cambria" pitchFamily="34" charset="0"/>
                <a:ea typeface="Cambria" pitchFamily="34" charset="-122"/>
                <a:cs typeface="Cambria" pitchFamily="34" charset="-120"/>
              </a:rPr>
              <a:t>Deliverable  </a:t>
            </a:r>
            <a:r>
              <a:rPr lang="en-US" sz="2400" dirty="0">
                <a:solidFill>
                  <a:srgbClr val="1F2A22"/>
                </a:solidFill>
                <a:latin typeface="Calibri" pitchFamily="34" charset="0"/>
                <a:ea typeface="Calibri" pitchFamily="34" charset="-122"/>
                <a:cs typeface="Calibri" pitchFamily="34" charset="-120"/>
              </a:rPr>
              <a:t>Cross-functional execution routines and named owners make a four-hour response repeatable.</a:t>
            </a:r>
            <a:endParaRPr lang="en-US" sz="2400" dirty="0"/>
          </a:p>
        </p:txBody>
      </p:sp>
      <p:sp>
        <p:nvSpPr>
          <p:cNvPr id="6" name="Shape 4"/>
          <p:cNvSpPr/>
          <p:nvPr/>
        </p:nvSpPr>
        <p:spPr>
          <a:xfrm>
            <a:off x="548640" y="5486400"/>
            <a:ext cx="11091672" cy="914400"/>
          </a:xfrm>
          <a:prstGeom prst="roundRect">
            <a:avLst>
              <a:gd name="adj" fmla="val 10000"/>
            </a:avLst>
          </a:prstGeom>
          <a:solidFill>
            <a:srgbClr val="0F3B1C"/>
          </a:solidFill>
          <a:ln w="12700">
            <a:solidFill>
              <a:srgbClr val="0F3B1C"/>
            </a:solidFill>
            <a:prstDash val="solid"/>
          </a:ln>
        </p:spPr>
        <p:txBody>
          <a:bodyPr/>
          <a:lstStyle/>
          <a:p>
            <a:endParaRPr lang="en-ZA"/>
          </a:p>
        </p:txBody>
      </p:sp>
      <p:sp>
        <p:nvSpPr>
          <p:cNvPr id="7" name="Text 5"/>
          <p:cNvSpPr txBox="1"/>
          <p:nvPr/>
        </p:nvSpPr>
        <p:spPr>
          <a:xfrm>
            <a:off x="822960" y="5486400"/>
            <a:ext cx="10561320" cy="914400"/>
          </a:xfrm>
          <a:prstGeom prst="rect">
            <a:avLst/>
          </a:prstGeom>
          <a:noFill/>
          <a:ln/>
        </p:spPr>
        <p:txBody>
          <a:bodyPr wrap="square" lIns="0" tIns="0" rIns="0" bIns="0" rtlCol="0" anchor="ctr"/>
          <a:lstStyle/>
          <a:p>
            <a:pPr marL="0" indent="0">
              <a:buNone/>
            </a:pPr>
            <a:r>
              <a:rPr lang="en-US" sz="2400" b="1" dirty="0">
                <a:solidFill>
                  <a:srgbClr val="C6A24C"/>
                </a:solidFill>
                <a:latin typeface="Calibri" pitchFamily="34" charset="0"/>
                <a:ea typeface="Calibri" pitchFamily="34" charset="-122"/>
                <a:cs typeface="Calibri" pitchFamily="34" charset="-120"/>
              </a:rPr>
              <a:t>Must be true:  </a:t>
            </a:r>
            <a:r>
              <a:rPr lang="en-US" sz="2400" dirty="0">
                <a:solidFill>
                  <a:srgbClr val="FFFFFF"/>
                </a:solidFill>
                <a:latin typeface="Calibri" pitchFamily="34" charset="0"/>
                <a:ea typeface="Calibri" pitchFamily="34" charset="-122"/>
                <a:cs typeface="Calibri" pitchFamily="34" charset="-120"/>
              </a:rPr>
              <a:t>Faster response is delivered with no loss in the quality of the answer the client receives.</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5.1 · Four Steps, Four Conditions</a:t>
            </a:r>
            <a:endParaRPr lang="en-US" sz="3600" dirty="0"/>
          </a:p>
        </p:txBody>
      </p:sp>
      <p:sp>
        <p:nvSpPr>
          <p:cNvPr id="3" name="Shape 1"/>
          <p:cNvSpPr/>
          <p:nvPr/>
        </p:nvSpPr>
        <p:spPr>
          <a:xfrm>
            <a:off x="548640" y="16859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45945"/>
            <a:ext cx="320040" cy="320040"/>
          </a:xfrm>
          <a:prstGeom prst="rect">
            <a:avLst/>
          </a:prstGeom>
        </p:spPr>
      </p:pic>
      <p:sp>
        <p:nvSpPr>
          <p:cNvPr id="5" name="Text 2"/>
          <p:cNvSpPr txBox="1"/>
          <p:nvPr/>
        </p:nvSpPr>
        <p:spPr>
          <a:xfrm>
            <a:off x="1508760" y="150876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Arena  </a:t>
            </a:r>
            <a:r>
              <a:rPr lang="en-US" sz="2400" dirty="0">
                <a:solidFill>
                  <a:srgbClr val="1F2A22"/>
                </a:solidFill>
                <a:latin typeface="Calibri" pitchFamily="34" charset="0"/>
                <a:ea typeface="Calibri" pitchFamily="34" charset="-122"/>
                <a:cs typeface="Calibri" pitchFamily="34" charset="-120"/>
              </a:rPr>
              <a:t>Experiential: clients continue to rank speed of response among their top three reasons for choosing a service partner.</a:t>
            </a:r>
            <a:endParaRPr lang="en-US" sz="2400" dirty="0"/>
          </a:p>
        </p:txBody>
      </p:sp>
      <p:sp>
        <p:nvSpPr>
          <p:cNvPr id="6" name="Shape 3"/>
          <p:cNvSpPr/>
          <p:nvPr/>
        </p:nvSpPr>
        <p:spPr>
          <a:xfrm>
            <a:off x="548640" y="26803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40355"/>
            <a:ext cx="320040" cy="320040"/>
          </a:xfrm>
          <a:prstGeom prst="rect">
            <a:avLst/>
          </a:prstGeom>
        </p:spPr>
      </p:pic>
      <p:sp>
        <p:nvSpPr>
          <p:cNvPr id="8" name="Text 4"/>
          <p:cNvSpPr txBox="1"/>
          <p:nvPr/>
        </p:nvSpPr>
        <p:spPr>
          <a:xfrm>
            <a:off x="1508760" y="250317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Boundaries  </a:t>
            </a:r>
            <a:r>
              <a:rPr lang="en-US" sz="2400" dirty="0">
                <a:solidFill>
                  <a:srgbClr val="1F2A22"/>
                </a:solidFill>
                <a:latin typeface="Calibri" pitchFamily="34" charset="0"/>
                <a:ea typeface="Calibri" pitchFamily="34" charset="-122"/>
                <a:cs typeface="Calibri" pitchFamily="34" charset="-120"/>
              </a:rPr>
              <a:t>Handovers between Commercial, Operations and Customer Service are completed inside four hours.</a:t>
            </a:r>
            <a:endParaRPr lang="en-US" sz="2400" dirty="0"/>
          </a:p>
        </p:txBody>
      </p:sp>
      <p:sp>
        <p:nvSpPr>
          <p:cNvPr id="9" name="Shape 5"/>
          <p:cNvSpPr/>
          <p:nvPr/>
        </p:nvSpPr>
        <p:spPr>
          <a:xfrm>
            <a:off x="548640" y="36747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834765"/>
            <a:ext cx="320040" cy="320040"/>
          </a:xfrm>
          <a:prstGeom prst="rect">
            <a:avLst/>
          </a:prstGeom>
        </p:spPr>
      </p:pic>
      <p:sp>
        <p:nvSpPr>
          <p:cNvPr id="11" name="Text 6"/>
          <p:cNvSpPr txBox="1"/>
          <p:nvPr/>
        </p:nvSpPr>
        <p:spPr>
          <a:xfrm>
            <a:off x="1508760" y="349758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Competition  </a:t>
            </a:r>
            <a:r>
              <a:rPr lang="en-US" sz="2400" dirty="0">
                <a:solidFill>
                  <a:srgbClr val="1F2A22"/>
                </a:solidFill>
                <a:latin typeface="Calibri" pitchFamily="34" charset="0"/>
                <a:ea typeface="Calibri" pitchFamily="34" charset="-122"/>
                <a:cs typeface="Calibri" pitchFamily="34" charset="-120"/>
              </a:rPr>
              <a:t>A four-hour response remains faster than rival firms and clients’ in-house options provide.</a:t>
            </a:r>
            <a:endParaRPr lang="en-US" sz="2400" dirty="0"/>
          </a:p>
        </p:txBody>
      </p:sp>
      <p:sp>
        <p:nvSpPr>
          <p:cNvPr id="12" name="Shape 7"/>
          <p:cNvSpPr/>
          <p:nvPr/>
        </p:nvSpPr>
        <p:spPr>
          <a:xfrm>
            <a:off x="548640" y="46691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829175"/>
            <a:ext cx="320040" cy="320040"/>
          </a:xfrm>
          <a:prstGeom prst="rect">
            <a:avLst/>
          </a:prstGeom>
        </p:spPr>
      </p:pic>
      <p:sp>
        <p:nvSpPr>
          <p:cNvPr id="14" name="Text 8"/>
          <p:cNvSpPr txBox="1"/>
          <p:nvPr/>
        </p:nvSpPr>
        <p:spPr>
          <a:xfrm>
            <a:off x="1508760" y="449199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Value Proposition  </a:t>
            </a:r>
            <a:r>
              <a:rPr lang="en-US" sz="2400" dirty="0">
                <a:solidFill>
                  <a:srgbClr val="1F2A22"/>
                </a:solidFill>
                <a:latin typeface="Calibri" pitchFamily="34" charset="0"/>
                <a:ea typeface="Calibri" pitchFamily="34" charset="-122"/>
                <a:cs typeface="Calibri" pitchFamily="34" charset="-120"/>
              </a:rPr>
              <a:t>Faster response is delivered with no loss in the quality of the answer the client receives.</a:t>
            </a:r>
            <a:endParaRPr lang="en-US" sz="2400" dirty="0"/>
          </a:p>
        </p:txBody>
      </p:sp>
      <p:sp>
        <p:nvSpPr>
          <p:cNvPr id="15"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If one of them shifts or fails, the Key Result becomes fragile by design.</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5.2b · Stress Test Your Key Results: the Four Steps</a:t>
            </a:r>
            <a:endParaRPr lang="en-US" sz="3600" dirty="0"/>
          </a:p>
        </p:txBody>
      </p:sp>
      <p:sp>
        <p:nvSpPr>
          <p:cNvPr id="3" name="Shape 1"/>
          <p:cNvSpPr/>
          <p:nvPr/>
        </p:nvSpPr>
        <p:spPr>
          <a:xfrm>
            <a:off x="548640" y="16859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45945"/>
            <a:ext cx="320040" cy="320040"/>
          </a:xfrm>
          <a:prstGeom prst="rect">
            <a:avLst/>
          </a:prstGeom>
        </p:spPr>
      </p:pic>
      <p:sp>
        <p:nvSpPr>
          <p:cNvPr id="5" name="Text 2"/>
          <p:cNvSpPr txBox="1"/>
          <p:nvPr/>
        </p:nvSpPr>
        <p:spPr>
          <a:xfrm>
            <a:off x="1508760" y="150876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1 · Define the Arena  </a:t>
            </a:r>
            <a:r>
              <a:rPr lang="en-US" sz="2400" dirty="0">
                <a:solidFill>
                  <a:srgbClr val="1F2A22"/>
                </a:solidFill>
                <a:latin typeface="Calibri" pitchFamily="34" charset="0"/>
                <a:ea typeface="Calibri" pitchFamily="34" charset="-122"/>
                <a:cs typeface="Calibri" pitchFamily="34" charset="-120"/>
              </a:rPr>
              <a:t>which customer need the Key Result serves</a:t>
            </a:r>
            <a:endParaRPr lang="en-US" sz="2400" dirty="0"/>
          </a:p>
        </p:txBody>
      </p:sp>
      <p:sp>
        <p:nvSpPr>
          <p:cNvPr id="6" name="Shape 3"/>
          <p:cNvSpPr/>
          <p:nvPr/>
        </p:nvSpPr>
        <p:spPr>
          <a:xfrm>
            <a:off x="548640" y="26803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40355"/>
            <a:ext cx="320040" cy="320040"/>
          </a:xfrm>
          <a:prstGeom prst="rect">
            <a:avLst/>
          </a:prstGeom>
        </p:spPr>
      </p:pic>
      <p:sp>
        <p:nvSpPr>
          <p:cNvPr id="8" name="Text 4"/>
          <p:cNvSpPr txBox="1"/>
          <p:nvPr/>
        </p:nvSpPr>
        <p:spPr>
          <a:xfrm>
            <a:off x="1508760" y="250317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2 · Understand the Boundaries  </a:t>
            </a:r>
            <a:r>
              <a:rPr lang="en-US" sz="2400" dirty="0">
                <a:solidFill>
                  <a:srgbClr val="1F2A22"/>
                </a:solidFill>
                <a:latin typeface="Calibri" pitchFamily="34" charset="0"/>
                <a:ea typeface="Calibri" pitchFamily="34" charset="-122"/>
                <a:cs typeface="Calibri" pitchFamily="34" charset="-120"/>
              </a:rPr>
              <a:t>what could slow, restrict or prevent delivery</a:t>
            </a:r>
            <a:endParaRPr lang="en-US" sz="2400" dirty="0"/>
          </a:p>
        </p:txBody>
      </p:sp>
      <p:sp>
        <p:nvSpPr>
          <p:cNvPr id="9" name="Shape 5"/>
          <p:cNvSpPr/>
          <p:nvPr/>
        </p:nvSpPr>
        <p:spPr>
          <a:xfrm>
            <a:off x="548640" y="36747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834765"/>
            <a:ext cx="320040" cy="320040"/>
          </a:xfrm>
          <a:prstGeom prst="rect">
            <a:avLst/>
          </a:prstGeom>
        </p:spPr>
      </p:pic>
      <p:sp>
        <p:nvSpPr>
          <p:cNvPr id="11" name="Text 6"/>
          <p:cNvSpPr txBox="1"/>
          <p:nvPr/>
        </p:nvSpPr>
        <p:spPr>
          <a:xfrm>
            <a:off x="1508760" y="349758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3 · See the Competition  </a:t>
            </a:r>
            <a:r>
              <a:rPr lang="en-US" sz="2400" dirty="0">
                <a:solidFill>
                  <a:srgbClr val="1F2A22"/>
                </a:solidFill>
                <a:latin typeface="Calibri" pitchFamily="34" charset="0"/>
                <a:ea typeface="Calibri" pitchFamily="34" charset="-122"/>
                <a:cs typeface="Calibri" pitchFamily="34" charset="-120"/>
              </a:rPr>
              <a:t>who or what else can give the customer what it delivers</a:t>
            </a:r>
            <a:endParaRPr lang="en-US" sz="2400" dirty="0"/>
          </a:p>
        </p:txBody>
      </p:sp>
      <p:sp>
        <p:nvSpPr>
          <p:cNvPr id="12" name="Shape 7"/>
          <p:cNvSpPr/>
          <p:nvPr/>
        </p:nvSpPr>
        <p:spPr>
          <a:xfrm>
            <a:off x="548640" y="46691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829175"/>
            <a:ext cx="320040" cy="320040"/>
          </a:xfrm>
          <a:prstGeom prst="rect">
            <a:avLst/>
          </a:prstGeom>
        </p:spPr>
      </p:pic>
      <p:sp>
        <p:nvSpPr>
          <p:cNvPr id="14" name="Text 8"/>
          <p:cNvSpPr txBox="1"/>
          <p:nvPr/>
        </p:nvSpPr>
        <p:spPr>
          <a:xfrm>
            <a:off x="1508760" y="449199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4 · Establish the Value Proposition  </a:t>
            </a:r>
            <a:r>
              <a:rPr lang="en-US" sz="2400" dirty="0">
                <a:solidFill>
                  <a:srgbClr val="1F2A22"/>
                </a:solidFill>
                <a:latin typeface="Calibri" pitchFamily="34" charset="0"/>
                <a:ea typeface="Calibri" pitchFamily="34" charset="-122"/>
                <a:cs typeface="Calibri" pitchFamily="34" charset="-120"/>
              </a:rPr>
              <a:t>what about it will make customers choose you</a:t>
            </a:r>
            <a:endParaRPr lang="en-US" sz="2400" dirty="0"/>
          </a:p>
        </p:txBody>
      </p:sp>
      <p:sp>
        <p:nvSpPr>
          <p:cNvPr id="15"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At each step, name what Must Be True.</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5">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Unit Summary · The closing question</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What is the one MBT condition your team is most likely to avoid naming? Why? And what will you do about it before the next strategic review?</a:t>
            </a:r>
            <a:endParaRPr lang="en-US" sz="3600"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5.3 · Verification Ownership and Executive Blind Spots</a:t>
            </a:r>
            <a:endParaRPr lang="en-US" sz="3600" dirty="0"/>
          </a:p>
        </p:txBody>
      </p:sp>
      <p:sp>
        <p:nvSpPr>
          <p:cNvPr id="3" name="Shape 1"/>
          <p:cNvSpPr/>
          <p:nvPr/>
        </p:nvSpPr>
        <p:spPr>
          <a:xfrm>
            <a:off x="548640" y="16859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2"/>
          <a:stretch>
            <a:fillRect/>
          </a:stretch>
        </p:blipFill>
        <p:spPr>
          <a:xfrm>
            <a:off x="708660" y="1845945"/>
            <a:ext cx="320040" cy="320040"/>
          </a:xfrm>
          <a:prstGeom prst="rect">
            <a:avLst/>
          </a:prstGeom>
        </p:spPr>
      </p:pic>
      <p:sp>
        <p:nvSpPr>
          <p:cNvPr id="5" name="Text 2"/>
          <p:cNvSpPr txBox="1"/>
          <p:nvPr/>
        </p:nvSpPr>
        <p:spPr>
          <a:xfrm>
            <a:off x="1508760" y="150876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1 · Read your conditions  </a:t>
            </a:r>
            <a:r>
              <a:rPr lang="en-US" sz="2400" dirty="0">
                <a:solidFill>
                  <a:srgbClr val="1F2A22"/>
                </a:solidFill>
                <a:latin typeface="Calibri" pitchFamily="34" charset="0"/>
                <a:ea typeface="Calibri" pitchFamily="34" charset="-122"/>
                <a:cs typeface="Calibri" pitchFamily="34" charset="-120"/>
              </a:rPr>
              <a:t>the Must-Be-True conditions your group named in 5.2</a:t>
            </a:r>
            <a:endParaRPr lang="en-US" sz="2400" dirty="0"/>
          </a:p>
        </p:txBody>
      </p:sp>
      <p:sp>
        <p:nvSpPr>
          <p:cNvPr id="6" name="Shape 3"/>
          <p:cNvSpPr/>
          <p:nvPr/>
        </p:nvSpPr>
        <p:spPr>
          <a:xfrm>
            <a:off x="548640" y="26803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708660" y="2840355"/>
            <a:ext cx="320040" cy="320040"/>
          </a:xfrm>
          <a:prstGeom prst="rect">
            <a:avLst/>
          </a:prstGeom>
        </p:spPr>
      </p:pic>
      <p:sp>
        <p:nvSpPr>
          <p:cNvPr id="8" name="Text 4"/>
          <p:cNvSpPr txBox="1"/>
          <p:nvPr/>
        </p:nvSpPr>
        <p:spPr>
          <a:xfrm>
            <a:off x="1508760" y="250317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2 · Verification ownership  </a:t>
            </a:r>
            <a:r>
              <a:rPr lang="en-US" sz="2400" dirty="0">
                <a:solidFill>
                  <a:srgbClr val="1F2A22"/>
                </a:solidFill>
                <a:latin typeface="Calibri" pitchFamily="34" charset="0"/>
                <a:ea typeface="Calibri" pitchFamily="34" charset="-122"/>
                <a:cs typeface="Calibri" pitchFamily="34" charset="-120"/>
              </a:rPr>
              <a:t>the executive, the evidence and the date of the first check</a:t>
            </a:r>
            <a:endParaRPr lang="en-US" sz="2400" dirty="0"/>
          </a:p>
        </p:txBody>
      </p:sp>
      <p:sp>
        <p:nvSpPr>
          <p:cNvPr id="9" name="Shape 5"/>
          <p:cNvSpPr/>
          <p:nvPr/>
        </p:nvSpPr>
        <p:spPr>
          <a:xfrm>
            <a:off x="548640" y="36747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4"/>
          <a:stretch>
            <a:fillRect/>
          </a:stretch>
        </p:blipFill>
        <p:spPr>
          <a:xfrm>
            <a:off x="708660" y="3834765"/>
            <a:ext cx="320040" cy="320040"/>
          </a:xfrm>
          <a:prstGeom prst="rect">
            <a:avLst/>
          </a:prstGeom>
        </p:spPr>
      </p:pic>
      <p:sp>
        <p:nvSpPr>
          <p:cNvPr id="11" name="Text 6"/>
          <p:cNvSpPr txBox="1"/>
          <p:nvPr/>
        </p:nvSpPr>
        <p:spPr>
          <a:xfrm>
            <a:off x="1508760" y="349758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3 · Executive blind spot  </a:t>
            </a:r>
            <a:r>
              <a:rPr lang="en-US" sz="2400" dirty="0">
                <a:solidFill>
                  <a:srgbClr val="1F2A22"/>
                </a:solidFill>
                <a:latin typeface="Calibri" pitchFamily="34" charset="0"/>
                <a:ea typeface="Calibri" pitchFamily="34" charset="-122"/>
                <a:cs typeface="Calibri" pitchFamily="34" charset="-120"/>
              </a:rPr>
              <a:t>the checkpoint your team is most likely to overlook, and the risk</a:t>
            </a:r>
            <a:endParaRPr lang="en-US" sz="2400" dirty="0"/>
          </a:p>
        </p:txBody>
      </p:sp>
      <p:sp>
        <p:nvSpPr>
          <p:cNvPr id="12" name="Shape 7"/>
          <p:cNvSpPr/>
          <p:nvPr/>
        </p:nvSpPr>
        <p:spPr>
          <a:xfrm>
            <a:off x="548640" y="46691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5"/>
          <a:stretch>
            <a:fillRect/>
          </a:stretch>
        </p:blipFill>
        <p:spPr>
          <a:xfrm>
            <a:off x="708660" y="4829175"/>
            <a:ext cx="320040" cy="320040"/>
          </a:xfrm>
          <a:prstGeom prst="rect">
            <a:avLst/>
          </a:prstGeom>
        </p:spPr>
      </p:pic>
      <p:sp>
        <p:nvSpPr>
          <p:cNvPr id="14" name="Text 8"/>
          <p:cNvSpPr txBox="1"/>
          <p:nvPr/>
        </p:nvSpPr>
        <p:spPr>
          <a:xfrm>
            <a:off x="1508760" y="449199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4 · Agree  </a:t>
            </a:r>
            <a:r>
              <a:rPr lang="en-US" sz="2400" dirty="0">
                <a:solidFill>
                  <a:srgbClr val="1F2A22"/>
                </a:solidFill>
                <a:latin typeface="Calibri" pitchFamily="34" charset="0"/>
                <a:ea typeface="Calibri" pitchFamily="34" charset="-122"/>
                <a:cs typeface="Calibri" pitchFamily="34" charset="-120"/>
              </a:rPr>
              <a:t>every member agrees; the work feeds boxes 4A to 4F</a:t>
            </a:r>
            <a:endParaRPr lang="en-US" sz="2400" dirty="0"/>
          </a:p>
        </p:txBody>
      </p:sp>
      <p:sp>
        <p:nvSpPr>
          <p:cNvPr id="15"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Every condition has an executive who checks it.</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TotalTime>
  <Words>12301</Words>
  <Application>Microsoft Office PowerPoint</Application>
  <PresentationFormat>Widescreen</PresentationFormat>
  <Paragraphs>1142</Paragraphs>
  <Slides>29</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Aptos Light</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IBSL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4 · Direction Integrity (ABCV-MBT)</dc:title>
  <dc:subject>PptxGenJS Presentation</dc:subject>
  <dc:creator>Institute of Behavioural Strategy &amp; Leadership</dc:creator>
  <cp:lastModifiedBy>Carol Lupiya</cp:lastModifiedBy>
  <cp:revision>2</cp:revision>
  <dcterms:created xsi:type="dcterms:W3CDTF">2026-10-07T20:39:21Z</dcterms:created>
  <dcterms:modified xsi:type="dcterms:W3CDTF">2026-10-08T09:20:02Z</dcterms:modified>
</cp:coreProperties>
</file>