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 PERFORMANCE MANAGEMENT SETUP
Module 3 · Influence · Unit 6
Unit intent (Facilitator Guide):
Unit 6 bridges strategy and execution accountability. Many organisations have measurement systems but lack management systems. Participants should leave understanding the distinction — and knowing how to build the management side. The emphasis is on design thinking: how to construct a system that drives behaviour as well as tracking it. This is one of the more technical units in S2R® — keep the energy applied.
Unit overview (facilitator file): A performance management system is an execution architecture. This unit equips leaders to design systems that translate strategy into individual accountability, calibrate progress rhythms, and sustain collective ownership across the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Evaluate whether organisational performance arrangements support the achievement of strategic priorities.
2. Define clear relationships between enterprise outcomes, leadership accountability and performance evidence.
3. Exercise consistent executive judgement on performance status and its strategic significance.
4. Interpret performance insight in ways that strengthen accountability, decision quality and organisational responsiveness.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suggested timing only for the Section 5 simulation: individual work 15 min → table discussion 15 min → group debrief 15 min.
Key Facilitation Questions
“In your organisation, are you measuring what happened — or managing what will happen next?”
“If your team stopped producing reports tomorrow, what decisions would you lose the ability to make?”
“Is your current PM system designed to generate compliance — or to build commitment?”
“Where in your organisation does measurement transparency break down? Who does not see their numbers?”
“When you review performance, are you looking at activity or at cumulative progress toward target?”
Tone &amp; Watch Points
Avoid: turning the FACES or EXECUTION frameworks into a compliance checklist. They are diagnostic and design tools.
Watch for: leaders who equate “we have a scorecard” with “we have a PM system.” Probe: “What happens after you look at the scorecard? What changes? Who decides what?”
The Solid Gold reframe (Rating 3 = Solid Gold) is intentional and often powerful. Bring it to life with an example of a consistent contributor who reliably delivers and is still overlooked.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Foundations of Performance Management
Establishing the conceptual ground: what performance management actually is, how it differs from measurement, and the functional architecture that makes it work.
Section learning outcomes:
1. Distinguish the management of performance from its measurement.
2. Exercise consistent judgement on performance status and the leadership response it requires.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MEASUREMENT VS MANAGEMENT (The core distinction)
FACILITATOR GUIDANCE
Ask: “In your organisation, which comes first — the data collection system or the definition of success? How many reports exist that nobody acts on?” Most will recognise that measurement infrastructure was built first and management systems are retrofitted — or entirely absent.
Content:
Performance management and performance measurement are distinct disciplines. This distinction is the single most important conceptual anchor in Unit 6 — and the one most organisations get wrong.
Measurement answers: What happened? It is an input — data, results, scores, dashboards.
Management answers: What do we do about it? It is the leadership response that turns data into decisions, actions, and accountability.
Most organisations have built sophisticated measurement systems and mistakenly believe they have performance management systems. A measurement system without a management architecture produces reports. A management system converts those reports into movement.</a:t>
            </a:r>
            <a:endParaRPr lang="en-US" dirty="0"/>
          </a:p>
          <a:p/>
          <a:p>
            <a:r>
              <a:t>Professional insights:</a:t>
            </a:r>
          </a:p>
          <a:p/>
          <a:p>
            <a:r>
              <a:t>Numbers and judgement: Numbers should inform decision-making while judgement stays in charge. A dashboard can show strength while the heart of the system is drifting. Use this with “A management system converts reports into movement”.</a:t>
            </a:r>
          </a:p>
          <a:p>
            <a:r>
              <a:t>Source: Journal, 8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CORRECT SEQUENCE
Content:
The Correct Sequence
Step 1
Define Success
Before any system is designed, leadership must be explicit about what success looks like. What are we trying to achieve? By when? At what level of quality or scale? Without this, measurement has no target and management has no compass.
Step 2
Design the Management System
Design the system for managing toward success. What conversations will we have? How often? Who is accountable? What decisions will be made, and by whom? The management architecture must exist before measurement is collected — otherwise data accumulates with no system to act on it.
Step 3
Design the Measurement Infrastructure
Design the measurement tools that will feed the management system. What data do we need? How frequently? In what format? Measurement should serve the management conversations already defined.
Step 4
Manage Using Data
Execute the management system using measurement data as the evidence base for conversations, interventions, recognition, and course correction. This is where most organisations start — collecting data before having a system to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FACES FRAMEWORK (Five functions of PM)
FACILITATOR GUIDANCE
Ask participants to rate their current PM system against each FACES dimension (1–5). Typical gap: most organisations score highest on “Create Measurement Transparency” (they have dashboards) and lowest on “Embed Shared Accountability” (accountability lives with the leader alone).
Content:
A complete performance management system serves five interconnected functions. These are simultaneous functions that every well-designed PM system must perform.
F
Foster a Results Culture
The PM system must reinforce a culture in which results matter, are visible, and are celebrated or addressed consistently. Culture is shaped by what gets measured, what gets discussed, and what gets rewarded. A PM system that avoids difficult conversations actively undermines results culture — no matter how sophisticated the dashboard.
Facilitation cue: “What does your PM system reward? Does it reward activity or results? Compliance or commitment?”
A
Align Individual Performance
Every individual must see a clear line of sight between their daily work and the organisation’s strategic outcomes. Without this alignment, effort is misdirected. The PM system must decompose strategic outcomes into team and individual targets that are genuinely connected.
C
Create Measurement Transparency
People perform at a higher level when they can see their own performance data and understand how it is calculated. Transparency ensures that the logic of measurement is understood and trusted. Hidden formulas and opaque scoring destroy confidence in the PM system.
E
Embed Shared Accountability
The PM system must embed accountability as a shared expectation. Shared accountability means teams co-own the results — they participate in setting targets, understand the evidence, and are part of the intervention process. Systems that locate accountability solely in the leader create dependency and fragility.
S
Support Continuous Development
The PM system must identify what performance reveals about capability gaps, development needs, and growth trajectories. Performance data is a development signal as well as an accountability score. Leaders who use PM data only for ratings miss its most powerful application: designing targeted development that improves future performance.
Participant file (1.2 — The FACES Framework) — prompts participants complete:
- ✎ Reflection — FACES Diagnostic Rate your current PM system against each FACES function (1–5). Where is the highest gap? What would closing it change? FFoster a Results Culture AAlign Individual Performance CCreate Measurement Transparency EEmbed Shared Accountability SSupport Continuous Development Biggest gap &amp; what closing it would change — The biggest FACES gap is… and closing it would change…
- ✎ Reflection — FACES Diagnostic Rate your current PM system against each FACES function (1–5). Where is the highest gap? What would closing it change? FFoster a Results Culture AAlign Individual Performance CCreate Measurement Transparency EEmbed Shared Accountability SSupport Continuous Development Biggest gap &amp; what closing it would change</a:t>
            </a:r>
            <a:endParaRPr lang="en-US" dirty="0"/>
          </a:p>
          <a:p/>
          <a:p>
            <a:r>
              <a:t>Professional insights:</a:t>
            </a:r>
          </a:p>
          <a:p/>
          <a:p>
            <a:r>
              <a:t>F · Foster a Results Culture: Culture is revealed through the way work is assigned, recognised and maintained. When only highly visible work is rewarded, essential support functions disengage. People need to know their contribution matters even when senior leaders do not see it.</a:t>
            </a:r>
          </a:p>
          <a:p>
            <a:r>
              <a:t>Source: Journal, 10 July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THREE SIGHTS OF PROGRESS (What gets measured)
FACILITATOR GUIDANCE
A common gap: organisations measure Sight 1 and Sight 2 rigorously but treat Sight 3 as a subjective add-on. Surface this: “In your current system, what weight does behavioural alignment carry in the final performance rating? Is it measured formally or informally?”
Content:
A well-designed PM system tracks performance across three distinct categories. Each sight provides a different angle on whether the organisation is progressing toward its strategic intent. At the individual level, weightings are assigned according to role and function.
Sight 1
Strategy Category
What it measures
Strategic OKRs directly connected to the organisation’s multi-year strategy. This sight asks: Are we making progress on the things that matter most for where we are going?
Individual weighting
Typically 30–50% at senior levels; lower for frontline roles. Reviewed quarterly with executive visibility.
Sight 2
Operational Category
What it measures
Departmental KPIs tracking the operational engine — efficiency, output, quality, and service delivery. This sight asks: Are our operations performing at the standard required to sustain strategy?
Individual weighting
Typically 30–50% across most role levels; highest for frontline and specialist roles. Reviewed monthly or fortnightly.
Sight 3
Behavioural &amp; Values Alignment
What it measures
How individuals demonstrate the organisation’s values and leadership behaviours — assessed through 360° feedback and peer observation. How results are achieved matters as much as what results are achieved.
Individual weighting
Typically 20–40% across role levels; higher for leadership and customer-facing roles. Assessed bi-annually or annually via structured 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1–5 RATING SCALE (Ratings &amp; leadership responses)
FACILITATOR GUIDANCE
The Solid Gold reframe generates significant discussion. Invite reflection: “What message has your body language, tone, or incentive system sent to people rated 3?” Also surface the Rating 5 accountability point: “In the last three years, how many people received a Rating 5? What happened to them afterwards?”
Content:
A rating scale only has value if it is consistently understood and each rating triggers a defined leadership response.
Rating 1 — Poor
Leadership response: Immediate PIP within 30 days
Definition: Performance is significantly below the minimum standard. Output is insufficient, quality is unacceptable, or behaviour is actively damaging.
Leadership response: Immediate intervention. A formal performance improvement plan within 30 days. Weekly check-ins. Assess whether the gap is capability, motivation, or role-fit. A Rating 1 sustained beyond 60 days without visible movement is a role-fit decision.
Rating 2 — Needs Improvement
Leadership response: Structured development plan
Definition: Performance is below the expected standard in one or more significant areas. The individual shows some capability but has consistent gaps in output, quality, or behaviour.
Leadership response: Structured development plan with specific targets and milestones. Fortnightly check-ins. Clear articulation of the standard required to achieve a Rating 3 by the next review cycle.
Rating 3 — Meets Expectations SOLID GOLD
Leadership response: Recognition &amp; retention conversation
Definition: Performance fully meets the standard expected for this role, at this level, in this context. Output is consistent, quality is reliable, behaviour is aligned. This is exactly what the role requires.
The Solid Gold Reframe: Most PM systems implicitly treat a Rating 3 as mediocre — a design flaw that erodes morale and incentivises performative overreach. A Rating 3 is “Solid Gold”: a person who reliably delivers and represents the backbone of execution in any high-performing organisation.
Leadership response: Recognition of consistent contribution. Exploration of growth aspirations — without implying that remaining at a 3 is a failure. Many exceptional contributors are sustainably and appropriately at a 3.
Rating 4 — Exceeds Expectations
Leadership response: Stretch opportunities; retention investment
Definition: Performance consistently goes beyond what the role requires. The individual proactively adds value, solves problems beyond their mandate, and elevates the team. A Rating 4 is a pattern.
Leadership response: Explicit recognition and visibility with senior leadership. Conversation about stretch opportunities, expanded scope, or accelerated development. Failure to invest in a sustained Rating 4 is a retention risk.
Rating 5 — Outstanding
Leadership response: Mandatory structural follow-through
Definition: Performance is transformational within the context of the role. The individual exceeds their own targets and demonstrably elevates others and advances the organisation. A Rating 5 is rare and must be ratified.
Leadership response: A Rating 5 carries a leadership obligation — increased scope, a promotion discussion, a compensation review, or a high-impact project assignment. A Rating 5 acknowledged verbally with no structural follow-through is a trust-destroying event. The individual will note that outstanding performance produced no change — and will adjust their effort accordingly.
Participant file (1.4 — The 1–5 Rating Scale) — prompts participants complete:
- ✎ Reflection — Your Rating Experience Thinking about your current team or role: which rating most accurately reflects the performance standard you are measuring toward? What does the leadership response to that rating look like in practice? — My reflection on the rating scale and how it applies to my current context...</a:t>
            </a:r>
            <a:endParaRPr lang="en-US" dirty="0"/>
          </a:p>
          <a:p/>
          <a:p>
            <a:r>
              <a:t>Professional insights:</a:t>
            </a:r>
          </a:p>
          <a:p/>
          <a:p>
            <a:r>
              <a:t>Accurate ratings: The most meaningful feedback is the most accurate. Leaders who inflate assessments to avoid discomfort deprive people of the truth they need to grow. Use this with 3 · Meets Expectations as SOLID GOLD.</a:t>
            </a:r>
          </a:p>
          <a:p>
            <a:r>
              <a:t>Source: Journal, 31 January 2026 — Professional Insights: Leadership</a:t>
            </a:r>
          </a:p>
          <a:p/>
          <a:p>
            <a:r>
              <a:t>Discretionary effort: Reviews usually account for results, milestones and behaviours, and rarely for who showed up when the work got hard. Add one question to the review: when the last difficult initiative needed discretionary effort, who came and who stayed away?</a:t>
            </a:r>
          </a:p>
          <a:p>
            <a:r>
              <a:t>Source: Journal, 19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PM as an Execution Bridge
Understanding the structural logic of how performance management connects strategy to individual action, and why most PM systems fail to make that connection.
Section learning outcomes:
1. Define how performance management connects enterprise outcomes to individual accountability.
2. Evaluate whether current performance arrangements build compliance or commitment.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PM AS THE EXECUTION BRIDGE (Four bridge functions)
FACILITATOR GUIDANCE
Ask participants to identify which bridge function is most underdeveloped. “Where does your strategy most commonly leak? At decomposition, at defining success, at the rhythm, or at the quality of the conversation?”
Content:
A performance management system performs four critical bridging functions between strategy and execution. When any one is missing, the bridge develops a structural gap — and strategy leaks through it.
Bridge 1
Decomposing the Big Picture
Strategy lives at the enterprise level. PM translates it into progressively smaller, actionable units: enterprise outcomes → business unit contributions → team targets → individual responsibilities. Without decomposition, strategy remains a declaration and never becomes a task.
Bridge 2
Defining the Logic of Success
The PM system must make explicit what “success” looks like at each level — as a measurable, observable outcome with defined evidence. When the logic of success is ambiguous, individuals define it for themselves — and those self-definitions are rarely aligned.
Bridge 3
Calibrating the Rhythm
Strategy operates on an annual or multi-year timeline. Individual performance operates daily. The PM system must establish a structured rhythm connecting these timelines. Without rhythm, PM becomes an isolated event.
Progress per Period = (End Target − Baseline) ÷ Number of Periods
This establishes the expected incremental progress in each review period, creating a visible trajectory through the year.
Bridge 4
Structuring the Dialogue
Data without conversation is noise. The PM system must structure the dialogue that turns performance data into decisions. Define: who speaks, how frequently, about what, and with what authority to decide. The quality of the PM conversation is the quality of the PM system.
Participant file (2.1 — PM as the Execution Bridge) — prompts participants complete:
- ✎ Reflection — Your Weakest Bridge Which of the four bridge functions is most underdeveloped in your organisation? Where does your strategy most commonly leak? — The bridge function most underdeveloped in my organisation is... Strategy leaks most often at...</a:t>
            </a:r>
            <a:endParaRPr lang="en-US" dirty="0"/>
          </a:p>
          <a:p/>
          <a:p>
            <a:r>
              <a:t>Professional insights:</a:t>
            </a:r>
          </a:p>
          <a:p/>
          <a:p>
            <a:r>
              <a:t>Bridge 1 · Decomposing the Big Picture: Large efforts succeed when the work is organised into manageable sections with clear ownership, after a disciplined assessment of the true starting condition.</a:t>
            </a:r>
          </a:p>
          <a:p>
            <a:r>
              <a:t>Source: Journal, 5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COMPLIANCE VS COMMITMENT ARCHITECTURE (The design choice)
FACILITATOR GUIDANCE
Most organisations have compliance systems that use commitment language. The test: “When performance data shows underperformance, what is the first instinct of the leader — to fix the person, or to understand the system?” Invite leaders to identify the one structural change that would shift their system most decisively toward commitment.
Content:
Every PM system is built on one of two architectural orientations: compliance or commitment. The choice is rarely made explicitly — but it is always made. The six dimensions below reveal which architecture is currently operating.
Dimension
△ Compliance
△ Commitment
Purpose | Ensure minimum standards are met and deviations corrected | Generate shared ownership of results and continuous improvement
Ownership | Leader holds accountability; team is subject to it | Team co-owns accountability; leader facilitates
Tone | Assessment and judgement; hierarchical | Inquiry and problem-solving; collaborative
Underperformance | Consequence and control | Understanding root cause; co-designing recovery
Motivation | Avoiding negative consequence | Intrinsic meaning; shared pride in progress
PM experience | Anxiety-producing; done to the individual | Energy-generating; done with the individual
Participant file (2.2 — Compliance vs Commitment Architecture) — prompts participants complete:
- ✎ Reflection — Your Architecture Where would you honestly place your current PM system on the spectrum from compliance to commitment? What is the single structural change that would shift it most decisively? — My current PM architecture is closer to... because... The one structural change that would shift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RULES OF THE GAME (Two steps of the cascade)
FACILITATOR GUIDANCE
The most common failure in Step 1 is the evidence standard. Ask: “If two managers each gave someone a Rating 4, would they be using the same evidence?” Step 2 often breaks down at “Assign Ownership” — most cascade conversations end with team-level accountability that no single person is actually responsible for.
Content:
Before performance can be managed, the rules must be established and understood by everyone expected to play. Two steps structure this process.
Step 1: Prepare the Foundation
Rating Scale: Agree the 1–5 scale, definitions of each level, and evidence required to differentiate between them. Ambiguity here creates inconsistency and destroys trust.
Performance Thresholds: Define the minimum acceptable standard for each role. What constitutes a sustained Rating 2 requiring intervention?
Evidence Standards: Determine what counts as evidence of performance — output volume, quality metrics, peer feedback, customer satisfaction. Must be explicit.
Review Routine: Establish the cadence: how frequently performance is reviewed, in what format, with what participants. A routine that is skipped destroys PM system credibility.
Step 2: The Cascade
Verify the Data: Before any cascade conversation, confirm that data is accurate, current, and consistently interpreted. A cascade built on flawed data produces misaligned targets and erodes trust in the entire PM system.
Assign Ownership: Every metric must have a single named owner. Collective ownership without individual ownership is shared irresponsibility.
Focus on Learning: The cascade conversation is a learning conversation as well as target-setting. What does this target reveal about capability requirements? What barriers must be removed? Leaders who conduct the cascade purely as a negotiation miss its most important function.</a:t>
            </a:r>
            <a:endParaRPr lang="en-US" dirty="0"/>
          </a:p>
          <a:p/>
          <a:p>
            <a:r>
              <a:t>Professional insights:</a:t>
            </a:r>
          </a:p>
          <a:p/>
          <a:p>
            <a:r>
              <a:t>Step 1 · Prepare the Foundation: Strategy becomes executable when decision rights, boundaries and accountability are defined before the pressure arrives. Set the standards explicitly, and name the seriousness of a situation honestly when it comes.</a:t>
            </a:r>
          </a:p>
          <a:p>
            <a:r>
              <a:t>Source: Journal, 20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LEADER VS TEAM: A CRITICAL DISTINCTION (Who is measured on what)
FACILITATOR GUIDANCE
This is a powerful reframe for leaders who conflate team busyness with strategic progress. “Is your current PM review looking at your team’s activities — or at your cumulative outcome trajectory? When last did you review whether your team’s activities are actually producing the outcomes the strategy requires?”
Content:
One of the most frequently misunderstood aspects of performance management is the distinction between how a team is measured and how its leader is measured. Conflating the two creates misaligned incentives and obscures accountability.
Dimension
The Team Is Measured On
The Leader Is Measured On
Focus | Activities, outputs, and behaviours within the review period | Cumulative outcome trajectory across the full performance cycle
Time horizon | Current period: what was done, how it was done | End-of-cycle: are we on track to reach the target by year-end?
Evidence | Deliverable completion, quality scores, behavioural indicators | Cumulative progress calculation; gap to target; trend direction
Review frequency | Monthly / quarterly | Quarterly / bi-annually
The practical implication: A team can complete every planned activity on time (strong team performance) while the leader’s cumulative outcome trajectory is still off track (weak leadership performance). The leader is accountable for ensuring tasks are producing the outcomes the strategy requires.
Participant file (2.4 — Leader vs Team: A Critical Distinction) — prompts participants complete:
- ✎ Reflection — Reviewing Your Role When you last reviewed performance in your area, were you looking at team activities or at cumulative outcome trajectory? What would change if you shifted the focus? — In my last performance review I was mainly looking at... If I shifted to cumulative trajectory, I would see...</a:t>
            </a:r>
            <a:endParaRPr lang="en-US" dirty="0"/>
          </a:p>
          <a:p/>
          <a:p>
            <a:r>
              <a:t>Professional insights:</a:t>
            </a:r>
          </a:p>
          <a:p/>
          <a:p>
            <a:r>
              <a:t>Accountability at the top: A culture that holds everyone accountable except the most powerful runs on performance for junior people and immunity for senior ones. No role is above the standards the culture requires.</a:t>
            </a:r>
          </a:p>
          <a:p>
            <a:r>
              <a:t>Source: Journal, 15 January 2026 — Professional Insights: Culture</a:t>
            </a:r>
          </a:p>
          <a:p/>
          <a:p>
            <a:r>
              <a:t>The leader’s evidence: The condition of the organisation, the experience of its people and the consistency of its operations reveal whether leadership capability has been translated into practice. Use this with “Cumulative outcome trajectory”.</a:t>
            </a:r>
          </a:p>
          <a:p>
            <a:r>
              <a:t>Source: Journal, 16 July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PM in the Executive Context
Extending PM architecture to the enterprise level: how executive teams align their measurement signals, where execution gaps emerge, and how industry context is shifting.
Section learning outcomes:
1. Recognise each executive role’s contribution to the evidence of enterprise progress.
2. Evaluate the execution gaps that prevent performance arrangements from supporting strategic priorities.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ALIGNMENT BRIGADE (Executive team as PM system)
FACILITATOR GUIDANCE
Ask the executive team to independently write down the top three enterprise performance priorities right now — then compare answers. The degree of divergence is a direct measure of Alignment Brigade dysfunction. “If your executive team cannot agree on the top three, how does the organisation below you know where to focus?”
Content:
At the enterprise level, the performance management system sits in the executive team. The C-suite is, collectively, the organisation’s measurement alignment system. When the executive team is not aligned on what they are measuring, why, and what they are doing about it, the enterprise PM system is structurally broken regardless of the tools in place.
The Alignment Brigade concept recognises that each executive function carries a unique measurement responsibility — a “hot zone” of the enterprise that they are best positioned to track, interpret, and act upon. When these hot zones are integrated through a shared cadence and common language, the executive team becomes a precision measurement system. When they operate independently, they produce competing narratives of organisational performance.
The critical question for any executive team: “When we look at the same performance data, do we interpret it from the same perspective — or from the perspective of our function? And when the data tells us to act, do we act as a system or as a collection of functions?”
Participant file (3.1 — The Alignment Brigade) — prompts participants complete:
- ✎ Reflection — Your Enterprise Signal Write down what you believe are the top three enterprise performance priorities right now. Then compare with a colleague. What does any divergence reveal? — My top 3 enterprise performance priorities right now: 1. 2. 3. What any divergence with colleagues reveals...</a:t>
            </a:r>
            <a:endParaRPr lang="en-US" dirty="0"/>
          </a:p>
          <a:p/>
          <a:p>
            <a:r>
              <a:t>Professional insights:</a:t>
            </a:r>
          </a:p>
          <a:p/>
          <a:p>
            <a:r>
              <a:t>Same data, same truth: A system loses reliability when people say what authority wants to hear. Capability without alignment can still produce poor collective outcomes.</a:t>
            </a:r>
          </a:p>
          <a:p>
            <a:r>
              <a:t>Source: Journal, 30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CXO HOT ZONES (10 executive PM contributions)
FACILITATOR GUIDANCE
Invite participants to work through their own role card first, then two closely related roles. Key question: “In your last executive performance review, were all ten hot zones represented? What does the absence of a hot zone from the executive PM conversation produce in the organisation below?”
Content:
Each executive function owns a distinct hot zone in the enterprise PM architecture. Click a role to explore its measurement responsibility and contribution to the collective progress signal.
CEO
Enterprise Visibility
CFO
Financial Signals
COO
Execution Rhythm
CHRO
Capability &amp; Behaviour
CTO/CIO
System Enablement
CMO
Market Signal
CCO
Revenue Velocity
CPO
Supply Reliability
CRO
Risk &amp; Governance
CSO
Strategic Coherence
CEO — Enterprise Visibility: The CEO holds the integrated view of whether the organisation as a whole is on trajectory. The CEO’s PM role is to ensure the executive team is interpreting performance coherently and that the collective response is coordinated. The CEO is the only function with authority to enforce measurement alignment across all hot zones. When CEO PM visibility is absent, each function optimises its own metric at the expense of enterprise coherence.
CFO — Financial Signals: The CFO interprets the financial performance signal: revenue, cost, margin, liquidity, and capital efficiency. In the PM context, the CFO translates financial data into strategic resource allocation signals — identifying where investment is producing returns and where it is absorbed without output. When CFO PM insight is isolated, financial data becomes a constraint and loses its value as a strategic navigation tool.
COO — Execution Rhythm: The COO tracks the execution engine: throughput, cycle times, operational quality, and delivery consistency. The COO ensures operational performance rhythm is matched to strategic demand — the engine is running in the right direction at the right speed. When COO PM is activity-focused, the organisation confuses motion with progress.
CHRO — Capability &amp; Behaviour: The CHRO tracks the capability and behaviour signal: talent pipeline health, performance distribution, leadership effectiveness, and cultural alignment. The CHRO ensures the organisation has the human capability to execute the strategy — and that behaviour is aligned to values as well as outcomes. When CHRO PM data is absent from executive reviews, capability gaps become execution crises.
CTO/CIO — System Enablement: The CTO/CIO tracks system enablement: technology performance, digital capability, data quality, and system reliability. This function ensures technology is an execution accelerator. Poor system performance is a PM variable — it directly affects what people can deliver. When technology performance is excluded from PM reviews, teams are held accountable for gaps caused by system failures.
CMO — Market Signal: The CMO tracks brand perception, customer acquisition costs, pipeline health, campaign performance, and market share trajectory. The CMO provides the leading indicators of future revenue — the signal that tells the enterprise whether the market is responding to the strategy. When CMO PM data is lagged, the enterprise acts on market signals that are already 3–6 months old.
CCO — Revenue Velocity: The CCO tracks win rates, deal cycle times, customer retention, revenue per customer, and commercial pipeline conversion. The CCO translates commercial activity into revenue trajectory signals connecting market position to financial performance. When CCO PM is focused on activity, the organisation mistakes effort for momentum.
CPO — Supply Reliability: The CPO tracks supply reliability, product pipeline health, vendor performance, and input cost management. The CPO ensures the supply and product infrastructure can reliably support execution — that the organisation can deliver what it has committed to deliver. When CPO PM is reactive, supply disruptions become execution crises that consume leadership capacity.
CRO — Risk &amp; Governance: The CRO tracks regulatory compliance, risk appetite alignment, incident frequency, and control effectiveness. The CRO ensures strategic ambition is pursued within a coherent risk framework — enabling bold action without reckless exposure. When CRO PM is siloed, risk appetite is interpreted differently across functions, creating asymmetric exposure.
CSO — Strategic Coherence: The CSO tracks whether the organisation’s current activities, resource allocation, and performance trajectory are aligned to its multi-year strategic intent. The CSO provides the strategic integrity check — ensuring operational performance is not winning at the expense of strategic positioning. When CSO PM is absent, operational urgency systematically erodes strategic intent over time.
Participant file (3.2 — CXO Hot Zones) — prompts participants complete:
- ✎ Reflection — Your Hot Zone Having explored your hot zone and the two most adjacent roles: what is the most important alignment conversation you need to have with an adjacent function in the next 30 days? — My hot zone is most aligned with... and most in tension with... The alignment conversation I need to have: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THE THREE EXECUTION GAPS (Where PM breaks down)
FACILITATOR GUIDANCE
Ask the group to vote (anonymously if needed) on which Execution Gap is most present in their organisation. In most executive contexts, Gap 1 and Gap 3 will dominate. The discussion about why these gaps persist despite being well understood is where the real facilitation work happens. The answer is usually political: fixing the gap requires someone to give up control of a metric or accept shared accountability they have historically resisted.
Content:
Three structural gaps account for the majority of PM system failures at the enterprise level. Each gap is a predictable consequence of a specific design flaw.
Gap 1
Competing Definitions of Progress
Different functions or leaders are using different definitions of what constitutes progress — finance says margin, operations says throughput, sales says pipeline. Without a unified definition of progress at the enterprise level, each function optimises its own metric at the expense of collective momentum.
Intervention: Establish an enterprise progress definition in the executive PM session. Agree on the three to five metrics that, if achieved, confirm the strategy is working. Everything else is a supporting indicator.
Gap 2
Measurement Blind Spots
The organisation is systematically not measuring something that matters. Common blind spots: quality of cross-functional collaboration, health of the leadership pipeline, customer experience at key touchpoints. What is not measured is not managed — and eventually becomes a crisis.
Intervention: Map the current measurement system against the Three Sights of Progress. Ask: “What would we need to see to know our strategy is working before the financial results confirm it?”
Gap 3
Incentive Misalignment
The incentive structure rewards behaviour inconsistent with the strategic intent. Leaders are rewarded for short-term financial performance while the strategy requires long-term capability investment. People follow the incentives. When incentives and strategy diverge, strategy loses.
Intervention: Audit the current incentive structure against strategic priorities. Redesign to reward the behaviours the strategy actually requires. Where are incentives producing the wrong behaviour? Which strategic priorities have no incentive attached?
Participant file (3.3 — The Three Execution Gaps) — prompts participants complete:
- ✎ Reflection — Your Dominant Gap Which of the three Execution Gaps is most present in your organisation right now? Why does it persist despite being understood? — The dominant gap in my organisation is Gap ___ because... It persists despite being understood because... The intervention I would prioritise: ...</a:t>
            </a:r>
            <a:endParaRPr lang="en-US" dirty="0"/>
          </a:p>
          <a:p/>
          <a:p>
            <a:r>
              <a:t>Professional insights:</a:t>
            </a:r>
          </a:p>
          <a:p/>
          <a:p>
            <a:r>
              <a:t>Gap 3 · Incentive Misalignment: Cultures that take the value people produce without returning it equitably erode the motivation that produced it. People stop caring about the harvest when they know they will not share in it.</a:t>
            </a:r>
          </a:p>
          <a:p>
            <a:r>
              <a:t>Source: Journal, 2 February 2026 — Professional Insights: Culture</a:t>
            </a:r>
          </a:p>
          <a:p/>
          <a:p>
            <a:r>
              <a:t>What the system rewards: When an organisation visibly rewards self-promotion, people spend their energy positioning and the quiet contributor is overlooked. Raise the people who did the work without angling for the credit, so that contribution becomes the path upward.</a:t>
            </a:r>
          </a:p>
          <a:p>
            <a:r>
              <a:t>Source: Journal, 15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 — THE CONTINUOUS PM SHIFT (Industry context)
FACILITATOR GUIDANCE
Invite participants to locate their organisation on the spectrum from traditional (annual, rating-centric, individual) to leading-edge (continuous, development-centric, team-integrated). “Where are you now — and where do you need to be in three years?”
Content:
41% of organisations have moved to real-time or near-real-time feedback systems, replacing annual or bi-annual performance review cycles with continuous check-in models. This shift reflects a fundamental change in how high-performing organisations understand the relationship between feedback and performance.
Trend 1
From Annual to Continuous
The annual performance review is being supplemented or replaced by structured quarterly conversations, monthly check-ins, and continuous pulse feedback. The shift recognises that annual feedback is too infrequent to change behaviour and too delayed to be developmental.
Trend 2
From Rating-Centric to Development-Centric
Leading organisations are shifting from the rating (a backward-looking judgement) to development planning (a forward-looking investment). The rating becomes an input to development. Associated with higher engagement, stronger retention, and more rapid capability improvement.
Trend 3
From Individual to Team Performance
As organisations become more cross-functional, individual performance ratings are being complemented by team performance assessments. Most outcomes require coordinated contribution. Organisations that exclusively measure individual performance create hidden disincentives for collaboration.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Designing for Enterprise Performance
Synthesising awareness, intelligence, and context into an integrated enterprise PM design: the collective progress signal, three elements of enterprise PM, and the EXECUTION framework.
Section learning outcomes:
1. Define a shared enterprise signal of progress that anchors executive judgement.
2. Interpret cumulative progress to judge performance status and its strategic significance.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COLLECTIVE PROGRESS SIGNAL (Anchoring executive conversations)
FACILITATOR GUIDANCE
In most organisations, executive PM conversations are dominated by Traction questions with insufficient time for Balance and Intervention. “When last did your executive team have an Execution Balance conversation? When last did a performance review result in an explicit, named Intervention decision with an accountable owner and a deadline?”
Content:
At the integration level, the executive team converges on a single shared signal: are we collectively making progress toward our strategic intent? This Collective Progress Signal anchors three categories of executive question.
Question Type 1
Execution Traction
“Are our current activities generating the progress we expected?”
This assesses whether the execution engine is producing results at the rate and quality the strategy requires. Execution Traction questions are the most frequent in a well-functioning executive PM rhythm — they are the standing agenda item in every performance review. The risk: if only Traction questions are asked, the executive team optimises for current-period efficiency and loses sight of cumulative trajectory.
Question Type 2
Execution Balance
“Are we investing our resources in the right proportions across our strategic priorities?”
This steps back from individual metric performance to assess whether the portfolio of activity is balanced. High-performing organisations regularly discover that 80% of their resource is concentrated on the priority representing 30% of their strategic value — because that priority is most familiar or most politically visible.
Question Type 3
Execution Intervention
“Where must we intervene — with resources, decisions, or leadership attention — to prevent a performance gap from becoming a strategic failure?”
The most consequential question in the executive PM dialogue. It moves from analysis to action: a specific decision about where leadership will direct energy, resources, or authority to recover a trajectory that is currently off track. Organisations that defer intervention decisions until the gap is irreversible have compliance PM systems masquerading as management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THREE ELEMENTS OF ENTERPRISE PM DESIGN (When, what now, how far)
FACILITATOR GUIDANCE
The Cumulative Progress formula is a practical tool participants can apply immediately. Ask them to identify one current strategic priority and calculate their cumulative progress percentage. This frequently reveals that organisations are further behind their end-of-cycle target than their most recent period improvement suggests — a critical insight for Intervention decisions.
Content:
A complete enterprise PM design integrates three elements. Each answers a different question at a different time horizon. All three must be present for the PM system to function as a genuine management architecture.
Element 1
Reporting Cadence — When
Reporting Cadence defines the structured rhythm: when performance is reviewed, by whom, and with what mandate. Without a defined cadence, performance management reverts to crisis management — leaders look at the numbers only when something goes wrong.
Daily: Frontline operational metrics; team leader visibility
Weekly: Departmental progress checks; emerging issues flagged
Monthly: Functional performance review; Periodic Measure analysis
Quarterly: Enterprise PM review; Cumulative Progress assessment; Intervention decisions
Annually: Full PM cycle review; rating calibration; system redesign
Element 2
Periodic Measures — What Now
Periodic Measures are the performance data points collected and reviewed within each reporting period. They answer: What happened in this period? What is our current performance level? Periodic Measures must be:
Current: Reflecting performance within the most recent review period
Comparable: Measurable against the same standard as previous periods
Actionable: Capable of informing a decision or intervention in the next period
A Periodic Measure that is only collected, never acted on, is a reporting cost with no management value.
Element 3
Cumulative Progress — How Far
Cumulative Progress is the most strategically significant element and the most frequently absent. It answers: Across the full performance cycle, how far have we moved from where we started toward where we need to be?
Cumulative Progress % = (Baseline − Current) ÷ (Baseline − Target) × 100
Example: Complaint resolution baseline = 48 hrs, target = 12 hrs, current = 40 hrs.
Progress = (48−40) ÷ (48−12) × 100 = 8 ÷ 36 × 100 = 22% of journey complete.
This formula reveals whether the organisation is on trajectory to reach its target by end of cycle. A single-period improvement can mask a cumulative trajectory that is far behind target.
Participant file (4.2 — Three Elements of Enterprise PM Design) — prompts participants complete:
- ✎ Reflection — Apply the Formula Choose one current strategic priority. Calculate your cumulative progress percentage. What does the number tell you about whether you are on trajectory? — Strategic priority: ... Baseline: ___ | Current: ___ | Target: ___ Cumulative Progress % = ___ What this tells me about trajectory: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THE EXECUTION FRAMEWORK (Nine design principles)
FACILITATOR GUIDANCE
Run EXECUTION as a self-scoring diagnostic: ask each participant to rate their current PM system 1–5 against each letter. Compare scores across the group. “Which principle scored lowest? What is the cost of that gap? What is the one change that would address it?” This becomes the bridge into the Application section.
Content:
The EXECUTION framework synthesises the nine design principles of a high-quality enterprise PM system. Each letter represents a principle that, when absent, creates a specific and predictable PM failure mode. Use as a design tool and a diagnostic.
E
ENTERPRISE
Strategy First
The PM system must be anchored to enterprise strategy. Every metric should be traceable to a strategic outcome. The enterprise intent is the filter through which all PM design decisions are made.
X
eXECUTION
Line-of-Sight
Every individual must see a clear line of sight from their daily work to enterprise strategy. Line-of-sight is the translation mechanism that makes strategy personal. Without it, individuals execute their role description and lose sight of the strategy.
E
EVIDENCE
Evidence-Based Measurement
Performance assessments must be grounded in defined, agreed evidence. Evidence-based measurement protects the integrity of the PM system and builds trust. Without it, ratings are subjective and disputes are inevitable.
C
COLLECTIVE
Collective Ownership
Accountability for results must be shared across the team and organisation. Collective ownership means everyone with a contribution to an outcome has a stake in its measurement and a responsibility for its achievement.
U
UNDERSTAND
Outcomes First
The PM system must measure outcomes — the actual change produced. A team can be 100% active while producing 0% of the required outcome. Leaders must measure impact.
T
TRANSPARENT
Measurement Logic
The logic by which performance is calculated, rated, and rewarded must be transparent to everyone subject to it. Hidden formulas and opaque scoring destroy confidence in the system and generate cynicism that undermines the entire PM architecture.
I
INCENTIVE
Incentive Alignment
The incentive structure must reward the behaviours and outcomes the strategy requires. Misaligned incentives are one of the most reliable predictors of strategy failure. When what gets rewarded diverges from what the strategy needs, people follow the incentive — this is a design failure.
O
ONGOING
Review Rhythm
PM must be an ongoing rhythm. An annual review cycle produces information too infrequently to inform in-year course correction. The review rhythm must be consistent and embedded in the operational calendar so that PM is the way work is managed.
N
NAVIGATE
Collective Insight
The ultimate function of a PM system is navigation: using performance data, collectively interpreted, to make better decisions about where to go and how to get there. A PM system that collects data but does not generate collective insight is a reporting system dressed as management.
Participant file (4.3 — The EXECUTION Framework) — prompts participants complete:
- ✎ Reflection — EXECUTION Self-Score Rate your current PM system 1–5 against each letter. Which scored lowest? What is the cost of that gap in your current context? EEnterprise — Strategy First XeXecution — Line-of-Sight EEvidence — Evidence-Based CCollective — Shared Ownership UUnderstand — Outcomes First TTransparent — Measurement Logic IIncentive — Aligned Incentives OOngoing — Review Rhythm NNavigate — Collective Insight Lowest score, why, the cost, and one change you will make — My lowest score is ___ because… The cost of this gap is… One change I will make: …
- ✎ Reflection — EXECUTION Self-Score Rate your current PM system 1–5 against each letter. Which scored lowest? What is the cost of that gap in your current context? EEnterprise — Strategy First XeXecution — Line-of-Sight EEvidence — Evidence-Based CCollective — Shared Ownership UUnderstand — Outcomes First TTransparent — Measurement Logic IIncentive — Aligned Incentives OOngoing — Review Rhythm NNavigate — Collective Insight Lowest score, why, the cost, and one change you will make</a:t>
            </a:r>
            <a:endParaRPr lang="en-US" dirty="0"/>
          </a:p>
          <a:p/>
          <a:p>
            <a:r>
              <a:t>Professional insights:</a:t>
            </a:r>
          </a:p>
          <a:p/>
          <a:p>
            <a:r>
              <a:t>C · Collective Ownership: Organisations flourish when responsibility is shared, every unit contributes to the common purpose and dependence on a few individuals falls away.</a:t>
            </a:r>
          </a:p>
          <a:p>
            <a:r>
              <a:t>Source: Journal, 5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MyHealth Live Portal — PM Design Simulation
Applying the full unit to a realistic case: designing the performance management architecture for a hospital chain launching a digital patient engagement portal.
Section learning outcomes:
1. Design performance arrangements that link enterprise outcomes, leadership accountability and performance evidence.
2. Interpret progress data to strengthen accountability, decision quality and responsiveness.
FACILITATOR GUIDANCE — Simulation Setup
Briefing: Present the MyHealth Live Portal context. Participants work individually through each task first (15 min), then compare outputs at the table. The debrief should focus on design choices — there is no single correct answer. The richness is in the reasoning.
Suggested timing: Individual work 15 min → Table discussion 15 min → Group debrief 15 min. Tasks 5 and 6 can be combined for groups that move quickly through the earlier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CASE CONTEXT: MYHEALTH LIVE PORTAL
Content:
Organisation: A hospital chain operating 12 facilities across three regions. The board has approved a digital transformation initiative: the MyHealth Live Portal, a patient-facing platform enabling online appointment booking, real-time test results, and direct clinical communication.
Strategic Context: The portal is a strategic priority for the next 18 months. Three strategic outcomes have been defined by the executive team:
Outcome 1
Reduce patient complaint resolution time: 48 hrs → 12 hrs
Baseline: 48 hours Target: 12 hours
Key Result: Portal-based complaint submission and tracking live in all 12 facilities within 6 months; average resolution time below 12 hours within 12 months.
Outcome 2
Reduce clinical referral decision time: 10 days → 3 days
Baseline: 10 days Target: 3 days
Key Result: Digital referral pathway active for 80% of non-urgent referral types within 9 months; average decision time below 3 days within 15 months.
Outcome 3
Increase cross-facility clinical collaboration: 30% → 70%
Baseline: 30% of cases involve cross-facility input Target: 70%
Key Result: Shared case management module live within 6 months; cross-facility consultation rate at or above 70% within 18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THE SIX DESIGN TASKS
Participant activity: participants write each design in their own file, in the box beneath each task.
Content:
Task 1: PM Scorecard Architecture
Design a PM Scorecard for the Chief Operations Officer. The scorecard must integrate all Three Sights of Progress and reflect the organisation’s strategic outcomes.
Identify three to five metrics for each of the Three Sights (Strategic OKRs, Operational KPIs, Behavioural/Values Alignment)
Assign a weighting to each Sight that reflects the COO’s role and strategic context
Confirm that at least one metric in the Strategic OKR category is directly traceable to the MyHealth Live Portal strategic outcomes
Identify the single metric you consider the most critical lead indicator of overall execution traction
Participant file (5.2 — Task 1 · PM Scorecard Architecture) — prompts participants complete:
- Your Scorecard Design — Sight 1 — Strategic OKRs (weighting: __%) 1. 2. 3. Sight 2 — Operational KPIs (weighting: __%) 1. 2. 3. Sight 3 — Behavioural/Values (weighting: __%) 1. 2. Most critical lead indicator: ...
———
Content:
Task 2: Scoring Logic Design
Design the scoring logic for Outcome 1 (complaint resolution time). The logic must define how performance is translated into a 1–5 rating.
Define what performance level earns each rating from 1 to 5 for the complaint resolution time metric
Specify what evidence is required to confirm each rating (the number and how it is verified)
Identify any contextual factors that might legitimately affect the rating (e.g. facility size, patient volume)
Describe the leadership response that each rating should trigger in the monthly review
Participant file (5.3 — Task 2 · Scoring Logic Design) — prompts participants complete:
- Your Scoring Logic — Rating 5 (Outstanding): Resolution time = ___ hrs | Evidence: ... Rating 4 (Exceeds): Resolution time = ___ hrs | Evidence: ... Rating 3 (Solid Gold): Resolution time = ___ hrs | Evidence: ... Rating 2 (Needs Improvement): Resolution time = ___ hrs Rating 1 (Poor): Resolution time = ___ hrs Contextual factors to consider: ... Leadership response for each rating: ...
———
Content:
Task 4: Reporting Cadence Design
Design the full Reporting Cadence for the MyHealth Live Portal PM system, spanning from daily operational tracking through to the quarterly executive review.
For each cadence level (daily, weekly, monthly, quarterly), specify: what is reviewed, by whom, and what decisions can be made at that level
Identify which CXO Hot Zones must be present at the quarterly executive review and what each must bring
Design the escalation rule: at what threshold does a monthly performance gap automatically trigger a quarterly Execution Intervention discussion?
How would the cadence need to change at month 12 if Outcome 3 is still below 50%?
Participant file (5.5 — Task 4 · Reporting Cadence Design) — prompts participants complete:
- Your Cadence Design — Daily: Who reviews what / what decisions can be made Weekly: ... Monthly: ... Quarterly: ... (CXO Hot Zones required: ...) Escalation rule: A monthly gap triggers quarterly intervention when... Month 12 adjustment if Outcome 3 &lt;50%: ...
———
Content:
Task 5: Periodic Measures Selection
Select the Periodic Measures that will be tracked monthly across the three strategic outcomes. Each measure must be current, comparable, and actionable.
Identify three to four Periodic Measures for each strategic outcome; specify: what it tracks, how frequently collected, who owns the data, what action it triggers if it deteriorates
Identify one leading indicator for each outcome — a measure that signals future performance before the outcome metric itself changes
Identify any measures that would represent a Measurement Blind Spot if excluded
Participant file (5.6 — Task 5 · Periodic Measures Selection) — prompts participants complete:
- Your Periodic Measures — Outcome 1 Measures: | Owner: | Action if deteriorates: 1. 2. 3. Leading indicator: ... Outcome 2 Measures: | Owner: | Action if deteriorates: 1. 2. 3. Leading indicator: ... Outcome 3 Measures: ... Measurement Blind Spot if excluded: ...
———
Content:
Task 6: Reporting Tool Design
Design the structure of the reporting tool supporting the MyHealth Live Portal PM system. This is a content and structure design task: what information must the tool present, to whom, and at what level of detail?
Executive Summary view: What does the CEO see on a single page that tells them whether the Portal strategy is on track?
Operational Detail view: What does the COO see to manage execution and flag issues for escalation?
Team Performance view: What does a facility-level team leader see that connects their daily work to the strategic outcomes?
Identify the three most critical EXECUTION principles that must be embedded in the tool’s structure
Participant file (5.7 — Task 6 · Reporting Tool Design) — prompts participants complete:
- Your Tool Design — CEO Executive Summary view includes: ... COO Operational Detail view includes: ... Facility Team Leader view includes: ... Three critical EXECUTION principles embedded in the tool: 1. 2.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TASK 3 · BASELINE SIMULATION
Content:
Task 3: Baseline Simulation
Using the Cumulative Progress formula, calculate the current cumulative progress % for each strategic outcome. Assume the following data at month 6 of an 18-month cycle:
Outcome 1: Current = 40 hrs | Baseline = 48 hrs | Target = 12 hrs
Outcome 2: Current = 8 days | Baseline = 10 days | Target = 3 days
Outcome 3: Current = 42% | Baseline = 30% | Target = 70%
Cumulative % = (Baseline − Current) ÷ (Baseline − Target) × 100
Expected progress at month 6 of an 18-month cycle = 33%. Which outcome is most at risk? What Execution Intervention would you recommend?
Participant file (5.4 — Task 3 · Baseline Simulation) — prompts participants complete:
- Your Calculations &amp; Analysis — Outcome 1: (48-40)÷(48-12)×100 = ___% | Status vs 33% expected: ... Outcome 2: (10-8)÷(10-3)×100 = ___% | Status vs 33% expected: ... Outcome 3: (30-42)... note: this increases, adjust formula | Status: ... Most at risk: Outcome ___ because... Recommended Execution Intervention: ...
Worked calculation for the facilitator (applying the file’s formula):
- Outcome 1: (48 − 40) ÷ (48 − 12) × 100 = 22%
- Outcome 2: (10 − 8) ÷ (10 − 3) × 100 = 29%
- Outcome 3: (30 − 42) ÷ (30 − 70) × 100 = 30%
Against an expected 33%, Outcome 1 is furthest behind its trajectory.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6 synthesis)
Facilitator Closing Note
Close by asking each participant to name one design change they will make to their current PM system within the next 30 days. Make it specific: which FACES function, which EXECUTION principle, which of the Three Sights — and what, specifically, will change. Specificity is the test of whether the unit has converted into intent.
Content:
Awareness — What
PM is the leadership response to measurement. The correct sequence: define success, design the management system, design the measurement infrastructure, then manage using data.
Intelligence — Why
PM is an execution bridge with four functions: decomposing the big picture, defining the logic of success, calibrating the rhythm, and structuring the dialogue. The architecture choice — compliance vs commitment — shapes every conversation.
Extrapolating — Where
The executive team is the organisation’s measurement alignment system. Each CXO hot zone contributes a distinct signal. The Three Execution Gaps explain most PM failures at enterprise level.
Integration — Collective
The Collective Progress Signal anchors three executive question types: Traction, Balance, Intervention. Cumulative Progress calculation reveals whether the trajectory will reach target.
Application — In Practice
The MyHealth Live Portal simulation applies PM design across scorecard architecture, scoring logic, baseline calculation, cadence design, periodic measures, and reporting tool structure — integrating all unit content into a live design challenge.
“A performance management system that only measures has not yet become a management system. The moment measurement becomes the basis for a decision, a conversation, and an accountable intervention — that is the moment execution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1.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whether organisational performance arrangements support the achievement of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Define clear relationships between enterprise outcomes, leadership accountability and performance evidence.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consistent executive judgement on performance status and its strategic significance.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Interpret performance insight in ways that strengthen accountability, decision quality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Foundations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the management of performance from its measurement.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consistent judgement on performance status and the leadership response it requires.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correct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Define Success  </a:t>
            </a:r>
            <a:pPr indent="0" marL="0">
              <a:buNone/>
            </a:pPr>
            <a:r>
              <a:rPr lang="en-US" sz="2600" dirty="0">
                <a:solidFill>
                  <a:srgbClr val="1F2A22"/>
                </a:solidFill>
                <a:latin typeface="Calibri" pitchFamily="34" charset="0"/>
                <a:ea typeface="Calibri" pitchFamily="34" charset="-122"/>
                <a:cs typeface="Calibri" pitchFamily="34" charset="-120"/>
              </a:rPr>
              <a:t>what, by when, at what level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Design the Management System  </a:t>
            </a:r>
            <a:pPr indent="0" marL="0">
              <a:buNone/>
            </a:pPr>
            <a:r>
              <a:rPr lang="en-US" sz="2600" dirty="0">
                <a:solidFill>
                  <a:srgbClr val="1F2A22"/>
                </a:solidFill>
                <a:latin typeface="Calibri" pitchFamily="34" charset="0"/>
                <a:ea typeface="Calibri" pitchFamily="34" charset="-122"/>
                <a:cs typeface="Calibri" pitchFamily="34" charset="-120"/>
              </a:rPr>
              <a:t>conversations, owners, decisions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Design the Measurement Infrastructure  </a:t>
            </a:r>
            <a:pPr indent="0" marL="0">
              <a:buNone/>
            </a:pPr>
            <a:r>
              <a:rPr lang="en-US" sz="2600" dirty="0">
                <a:solidFill>
                  <a:srgbClr val="1F2A22"/>
                </a:solidFill>
                <a:latin typeface="Calibri" pitchFamily="34" charset="0"/>
                <a:ea typeface="Calibri" pitchFamily="34" charset="-122"/>
                <a:cs typeface="Calibri" pitchFamily="34" charset="-120"/>
              </a:rPr>
              <a:t>data that serves the conversations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Manage Using Data  </a:t>
            </a:r>
            <a:pPr indent="0" marL="0">
              <a:buNone/>
            </a:pPr>
            <a:r>
              <a:rPr lang="en-US" sz="2600" dirty="0">
                <a:solidFill>
                  <a:srgbClr val="1F2A22"/>
                </a:solidFill>
                <a:latin typeface="Calibri" pitchFamily="34" charset="0"/>
                <a:ea typeface="Calibri" pitchFamily="34" charset="-122"/>
                <a:cs typeface="Calibri" pitchFamily="34" charset="-120"/>
              </a:rPr>
              <a:t>where most organisations start</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  </a:t>
            </a:r>
            <a:pPr indent="0" marL="0">
              <a:buNone/>
            </a:pP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a:t>
            </a:r>
            <a:pPr indent="0" marL="0">
              <a:buNone/>
            </a:pPr>
            <a:r>
              <a:rPr lang="en-US" sz="2600" dirty="0">
                <a:solidFill>
                  <a:srgbClr val="1F2A22"/>
                </a:solidFill>
                <a:latin typeface="Calibri" pitchFamily="34" charset="0"/>
                <a:ea typeface="Calibri" pitchFamily="34" charset="-122"/>
                <a:cs typeface="Calibri" pitchFamily="34" charset="-120"/>
              </a:rPr>
              <a:t>Align Individual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a:t>
            </a:r>
            <a:pPr indent="0" marL="0">
              <a:buNone/>
            </a:pP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a:t>
            </a:r>
            <a:pPr indent="0" marL="0">
              <a:buNone/>
            </a:pP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a:t>
            </a:r>
            <a:pPr indent="0" marL="0">
              <a:buNone/>
            </a:pP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Three Sights of Progress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Sight 1 · Strategy</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OKRs · typically 30–50% at senior levels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Sight 2 · Operational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Departmental KPIs · typically 30–50%</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Sight 3 · Behavioural &amp; Values</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360° feedback · typically 20–40%</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1–5 rating scale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Poor  </a:t>
            </a:r>
            <a:pPr indent="0" marL="0">
              <a:buNone/>
            </a:pPr>
            <a:r>
              <a:rPr lang="en-US" sz="2400" dirty="0">
                <a:solidFill>
                  <a:srgbClr val="1F2A22"/>
                </a:solidFill>
                <a:latin typeface="Calibri" pitchFamily="34" charset="0"/>
                <a:ea typeface="Calibri" pitchFamily="34" charset="-122"/>
                <a:cs typeface="Calibri" pitchFamily="34" charset="-120"/>
              </a:rPr>
              <a:t>immediate PIP within 30 days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Needs Improvement  </a:t>
            </a:r>
            <a:pPr indent="0" marL="0">
              <a:buNone/>
            </a:pPr>
            <a:r>
              <a:rPr lang="en-US" sz="2400" dirty="0">
                <a:solidFill>
                  <a:srgbClr val="1F2A22"/>
                </a:solidFill>
                <a:latin typeface="Calibri" pitchFamily="34" charset="0"/>
                <a:ea typeface="Calibri" pitchFamily="34" charset="-122"/>
                <a:cs typeface="Calibri" pitchFamily="34" charset="-120"/>
              </a:rPr>
              <a:t>structured development plan</a:t>
            </a:r>
            <a:endParaRPr lang="en-US" sz="2400" dirty="0"/>
          </a:p>
        </p:txBody>
      </p:sp>
      <p:sp>
        <p:nvSpPr>
          <p:cNvPr id="9" name="Shape 5"/>
          <p:cNvSpPr/>
          <p:nvPr/>
        </p:nvSpPr>
        <p:spPr>
          <a:xfrm>
            <a:off x="548640" y="363474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Meets Expectations: SOLID GOLD  </a:t>
            </a:r>
            <a:pPr indent="0" marL="0">
              <a:buNone/>
            </a:pPr>
            <a:r>
              <a:rPr lang="en-US" sz="2400" dirty="0">
                <a:solidFill>
                  <a:srgbClr val="1F2A22"/>
                </a:solidFill>
                <a:latin typeface="Calibri" pitchFamily="34" charset="0"/>
                <a:ea typeface="Calibri" pitchFamily="34" charset="-122"/>
                <a:cs typeface="Calibri" pitchFamily="34" charset="-120"/>
              </a:rPr>
              <a:t>recognition and retention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Exceeds Expectations  </a:t>
            </a:r>
            <a:pPr indent="0" marL="0">
              <a:buNone/>
            </a:pPr>
            <a:r>
              <a:rPr lang="en-US" sz="2400" dirty="0">
                <a:solidFill>
                  <a:srgbClr val="1F2A22"/>
                </a:solidFill>
                <a:latin typeface="Calibri" pitchFamily="34" charset="0"/>
                <a:ea typeface="Calibri" pitchFamily="34" charset="-122"/>
                <a:cs typeface="Calibri" pitchFamily="34" charset="-120"/>
              </a:rPr>
              <a:t>stretch opportunities; retention investment</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 Outstanding  </a:t>
            </a:r>
            <a:pPr indent="0" marL="0">
              <a:buNone/>
            </a:pPr>
            <a:r>
              <a:rPr lang="en-US" sz="2400" dirty="0">
                <a:solidFill>
                  <a:srgbClr val="1F2A22"/>
                </a:solidFill>
                <a:latin typeface="Calibri" pitchFamily="34" charset="0"/>
                <a:ea typeface="Calibri" pitchFamily="34" charset="-122"/>
                <a:cs typeface="Calibri" pitchFamily="34" charset="-120"/>
              </a:rPr>
              <a:t>mandatory structural follow-through</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PM as an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Define how performance management connects enterprise outcomes to individual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whether current performance arrangements build compliance or commitment.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PM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1  </a:t>
            </a:r>
            <a:pPr indent="0" marL="0">
              <a:buNone/>
            </a:pP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2  </a:t>
            </a:r>
            <a:pPr indent="0" marL="0">
              <a:buNone/>
            </a:pP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3  </a:t>
            </a:r>
            <a:pPr indent="0" marL="0">
              <a:buNone/>
            </a:pP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4  </a:t>
            </a:r>
            <a:pPr indent="0" marL="0">
              <a:buNone/>
            </a:pP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Progress per Period =  </a:t>
            </a:r>
            <a:pPr indent="0" marL="0">
              <a:buNone/>
            </a:pPr>
            <a:r>
              <a:rPr lang="en-US" sz="2600" dirty="0">
                <a:solidFill>
                  <a:srgbClr val="1F2A22"/>
                </a:solidFill>
                <a:latin typeface="Calibri" pitchFamily="34" charset="0"/>
                <a:ea typeface="Calibri" pitchFamily="34" charset="-122"/>
                <a:cs typeface="Calibri" pitchFamily="34" charset="-120"/>
              </a:rPr>
              <a:t>(End Target − Baseline) ÷ Number of Periods</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Done to the individual</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 holds accountability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Assessment and judgement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Consequence and control</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Done with the individual</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Team co-owns accountability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Inquiry and problem-solving</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Root cause; co-designed recovery</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Rules of the game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Step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Prepare the Foundation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Rating Scale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Performance Thresholds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Evidence Standards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Review Routine</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Step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Cascade</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Verify the Data</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Assign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Focus on Learning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Leader and team: a critical distinction</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The team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is measured 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Activities, outputs,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current period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Monthly / quarterly review</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The leader</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is measured on</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Cumulative outcome trajectory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End of cycle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Quarterly / bi-annual review</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PM in the Executive Context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each executive role’s contribution to the evidence of enterprise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execution gaps that prevent performance arrangements from supporting strategic priorities.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3.1 · The Alignment Brigade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When we look at the same performance data, do we interpret it from the same perspective — or from the perspective of our function?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At enterprise level, the performance management system sits in the executive team.</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CXO hot zones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Enterprise Visibility</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Financial Signals</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Execution Rhythm</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Capability &amp; Behaviour</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System Enablement</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Signal</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Revenue Velocity</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Supply Reliability</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&amp; Governance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Three Execution Gaps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Gap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Competing Definitions of Progress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Gap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Measurement Blind Spots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Gap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Incentive Misalignment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When incentives and strategy diverge, strategy loses.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3.4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41%</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of organisations have moved to real-time or near-real-time feedback</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Trend 1  </a:t>
            </a:r>
            <a:pPr indent="0" marL="0">
              <a:buNone/>
            </a:pP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Trend 2  </a:t>
            </a:r>
            <a:pPr indent="0" marL="0">
              <a:buNone/>
            </a:pP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Trend 3  </a:t>
            </a:r>
            <a:pPr indent="0" marL="0">
              <a:buNone/>
            </a:pP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Designing for Enterprise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Define a shared enterprise signal of progress that anchors executive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cumulative progress to judge performance status and its strategic significance.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Collective Progress Signal</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Execution Traction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our activities generating the progress we expected?</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Execution Balance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resources in the right proportions?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Execution Intervention</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Where must we intervene?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Three elements of enterprise PM design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Reporting Cadence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When</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Periodic Measures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now</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Cumulative Progress</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How far</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Cumulative Progress % = (Baseline − Current) ÷ (Baseline − Target) × 100</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The EXECUTION framework</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  </a:t>
            </a:r>
            <a:pPr indent="0" marL="0">
              <a:buNone/>
            </a:pPr>
            <a:r>
              <a:rPr lang="en-US" sz="2400" dirty="0">
                <a:solidFill>
                  <a:srgbClr val="1F2A22"/>
                </a:solidFill>
                <a:latin typeface="Calibri" pitchFamily="34" charset="0"/>
                <a:ea typeface="Calibri" pitchFamily="34" charset="-122"/>
                <a:cs typeface="Calibri" pitchFamily="34" charset="-120"/>
              </a:rPr>
              <a:t>Enterprise: Strategy First</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X  </a:t>
            </a:r>
            <a:pPr indent="0" marL="0">
              <a:buNone/>
            </a:pPr>
            <a:r>
              <a:rPr lang="en-US" sz="2400" dirty="0">
                <a:solidFill>
                  <a:srgbClr val="1F2A22"/>
                </a:solidFill>
                <a:latin typeface="Calibri" pitchFamily="34" charset="0"/>
                <a:ea typeface="Calibri" pitchFamily="34" charset="-122"/>
                <a:cs typeface="Calibri" pitchFamily="34" charset="-120"/>
              </a:rPr>
              <a:t>eXecution: Line-of-Sight</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  </a:t>
            </a:r>
            <a:pPr indent="0" marL="0">
              <a:buNone/>
            </a:pPr>
            <a:r>
              <a:rPr lang="en-US" sz="2400" dirty="0">
                <a:solidFill>
                  <a:srgbClr val="1F2A22"/>
                </a:solidFill>
                <a:latin typeface="Calibri" pitchFamily="34" charset="0"/>
                <a:ea typeface="Calibri" pitchFamily="34" charset="-122"/>
                <a:cs typeface="Calibri" pitchFamily="34" charset="-120"/>
              </a:rPr>
              <a:t>Evidence: Evidence-Based Measurement</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Collective: Collective Ownership</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U  </a:t>
            </a:r>
            <a:pPr indent="0" marL="0">
              <a:buNone/>
            </a:pPr>
            <a:r>
              <a:rPr lang="en-US" sz="2400" dirty="0">
                <a:solidFill>
                  <a:srgbClr val="1F2A22"/>
                </a:solidFill>
                <a:latin typeface="Calibri" pitchFamily="34" charset="0"/>
                <a:ea typeface="Calibri" pitchFamily="34" charset="-122"/>
                <a:cs typeface="Calibri" pitchFamily="34" charset="-120"/>
              </a:rPr>
              <a:t>Understand: Outcomes First</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  </a:t>
            </a:r>
            <a:pPr indent="0" marL="0">
              <a:buNone/>
            </a:pPr>
            <a:r>
              <a:rPr lang="en-US" sz="2400" dirty="0">
                <a:solidFill>
                  <a:srgbClr val="1F2A22"/>
                </a:solidFill>
                <a:latin typeface="Calibri" pitchFamily="34" charset="0"/>
                <a:ea typeface="Calibri" pitchFamily="34" charset="-122"/>
                <a:cs typeface="Calibri" pitchFamily="34" charset="-120"/>
              </a:rPr>
              <a:t>Transparent: Measurement Logic</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  </a:t>
            </a:r>
            <a:pPr indent="0" marL="0">
              <a:buNone/>
            </a:pPr>
            <a:r>
              <a:rPr lang="en-US" sz="2400" dirty="0">
                <a:solidFill>
                  <a:srgbClr val="1F2A22"/>
                </a:solidFill>
                <a:latin typeface="Calibri" pitchFamily="34" charset="0"/>
                <a:ea typeface="Calibri" pitchFamily="34" charset="-122"/>
                <a:cs typeface="Calibri" pitchFamily="34" charset="-120"/>
              </a:rPr>
              <a:t>Incentive: Incentive Alignment</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sp>
      <p:pic>
        <p:nvPicPr>
          <p:cNvPr id="25" name="Image 7" descr="preencoded.png">    </p:cNvPr>
          <p:cNvPicPr>
            <a:picLocks noChangeAspect="1"/>
          </p:cNvPicPr>
          <p:nvPr/>
        </p:nvPicPr>
        <p:blipFill>
          <a:blip r:embed="rId8"/>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Ongoing: Review Rhythm</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sp>
      <p:pic>
        <p:nvPicPr>
          <p:cNvPr id="28" name="Image 8" descr="preencoded.png">    </p:cNvPr>
          <p:cNvPicPr>
            <a:picLocks noChangeAspect="1"/>
          </p:cNvPicPr>
          <p:nvPr/>
        </p:nvPicPr>
        <p:blipFill>
          <a:blip r:embed="rId9"/>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  </a:t>
            </a:r>
            <a:pPr indent="0" marL="0">
              <a:buNone/>
            </a:pPr>
            <a:r>
              <a:rPr lang="en-US" sz="2400" dirty="0">
                <a:solidFill>
                  <a:srgbClr val="1F2A22"/>
                </a:solidFill>
                <a:latin typeface="Calibri" pitchFamily="34" charset="0"/>
                <a:ea typeface="Calibri" pitchFamily="34" charset="-122"/>
                <a:cs typeface="Calibri" pitchFamily="34" charset="-120"/>
              </a:rPr>
              <a:t>Navigate: Collective Insight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MyHealth Live Portal — PM Design Simulation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Design performance arrangements that link enterprise outcomes, leadership accountability and performance evidence.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progress data to strengthen accountability, decision quality and responsiveness.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Case: MyHealth Live Portal</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Complaint resolution: 48 hrs → 12 hrs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Referral decision: 10 days → 3 days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Cross-facility collaboration: 30% → 70%</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 hospital chain: 12 facilities, three regions, an 18-month priority.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six design tasks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1  </a:t>
            </a:r>
            <a:pPr indent="0" marL="0">
              <a:buNone/>
            </a:pPr>
            <a:r>
              <a:rPr lang="en-US" sz="2400" dirty="0">
                <a:solidFill>
                  <a:srgbClr val="1F2A22"/>
                </a:solidFill>
                <a:latin typeface="Calibri" pitchFamily="34" charset="0"/>
                <a:ea typeface="Calibri" pitchFamily="34" charset="-122"/>
                <a:cs typeface="Calibri" pitchFamily="34" charset="-120"/>
              </a:rPr>
              <a:t>PM Scorecard Architecture (for the COO)</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2  </a:t>
            </a:r>
            <a:pPr indent="0" marL="0">
              <a:buNone/>
            </a:pPr>
            <a:r>
              <a:rPr lang="en-US" sz="2400" dirty="0">
                <a:solidFill>
                  <a:srgbClr val="1F2A22"/>
                </a:solidFill>
                <a:latin typeface="Calibri" pitchFamily="34" charset="0"/>
                <a:ea typeface="Calibri" pitchFamily="34" charset="-122"/>
                <a:cs typeface="Calibri" pitchFamily="34" charset="-120"/>
              </a:rPr>
              <a:t>Scoring Logic Design (Outcome 1)</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3  </a:t>
            </a:r>
            <a:pPr indent="0" marL="0">
              <a:buNone/>
            </a:pPr>
            <a:r>
              <a:rPr lang="en-US" sz="2400" dirty="0">
                <a:solidFill>
                  <a:srgbClr val="1F2A22"/>
                </a:solidFill>
                <a:latin typeface="Calibri" pitchFamily="34" charset="0"/>
                <a:ea typeface="Calibri" pitchFamily="34" charset="-122"/>
                <a:cs typeface="Calibri" pitchFamily="34" charset="-120"/>
              </a:rPr>
              <a:t>Baseline Simulation</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4  </a:t>
            </a:r>
            <a:pPr indent="0" marL="0">
              <a:buNone/>
            </a:pPr>
            <a:r>
              <a:rPr lang="en-US" sz="2400" dirty="0">
                <a:solidFill>
                  <a:srgbClr val="1F2A22"/>
                </a:solidFill>
                <a:latin typeface="Calibri" pitchFamily="34" charset="0"/>
                <a:ea typeface="Calibri" pitchFamily="34" charset="-122"/>
                <a:cs typeface="Calibri" pitchFamily="34" charset="-120"/>
              </a:rPr>
              <a:t>Reporting Cadence Design</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5  </a:t>
            </a:r>
            <a:pPr indent="0" marL="0">
              <a:buNone/>
            </a:pPr>
            <a:r>
              <a:rPr lang="en-US" sz="2400" dirty="0">
                <a:solidFill>
                  <a:srgbClr val="1F2A22"/>
                </a:solidFill>
                <a:latin typeface="Calibri" pitchFamily="34" charset="0"/>
                <a:ea typeface="Calibri" pitchFamily="34" charset="-122"/>
                <a:cs typeface="Calibri" pitchFamily="34" charset="-120"/>
              </a:rPr>
              <a:t>Periodic Measures Selection</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6  </a:t>
            </a:r>
            <a:pPr indent="0" marL="0">
              <a:buNone/>
            </a:pPr>
            <a:r>
              <a:rPr lang="en-US" sz="2400" dirty="0">
                <a:solidFill>
                  <a:srgbClr val="1F2A22"/>
                </a:solidFill>
                <a:latin typeface="Calibri" pitchFamily="34" charset="0"/>
                <a:ea typeface="Calibri" pitchFamily="34" charset="-122"/>
                <a:cs typeface="Calibri" pitchFamily="34" charset="-120"/>
              </a:rPr>
              <a:t>Reporting Tool Design</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3 · Baseline simulation at month 6 of 18</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Current 40 hrs · baseline 48 · target 12</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Current 8 days · baseline 10 · target 3</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Current 42% · baseline 30% · target 70%</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Expected progress at month 6 of an 18-month cycle = 33%.</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design change you will make to your current PM system within the next 30 days.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Which FACES function, which EXECUTION principle, which of the Three Sights — and what, specifically, will change?</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Institute of Behavioural Strategy &amp; Leadership</cp:lastModifiedBy>
  <cp:revision>1</cp:revision>
  <dcterms:created xsi:type="dcterms:W3CDTF">2026-09-29T13:20:29Z</dcterms:created>
  <dcterms:modified xsi:type="dcterms:W3CDTF">2026-09-29T13:20:29Z</dcterms:modified>
</cp:coreProperties>
</file>