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310" r:id="rId26"/>
    <p:sldId id="311" r:id="rId23"/>
    <p:sldId id="270" r:id="rId18"/>
    <p:sldId id="271" r:id="rId19"/>
    <p:sldId id="304" r:id="rId44"/>
    <p:sldId id="274" r:id="rId21"/>
    <p:sldId id="305" r:id="rId45"/>
    <p:sldId id="275" r:id="rId22"/>
    <p:sldId id="306" r:id="rId46"/>
    <p:sldId id="307" r:id="rId47"/>
    <p:sldId id="308" r:id="rId48"/>
    <p:sldId id="279" r:id="rId24"/>
    <p:sldId id="280" r:id="rId25"/>
    <p:sldId id="293" r:id="rId34"/>
    <p:sldId id="312" r:id="rId20"/>
    <p:sldId id="309" r:id="rId35"/>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35.xml"/><Relationship Id="rId21" Type="http://schemas.openxmlformats.org/officeDocument/2006/relationships/slide" Target="slides/slide26.xml"/><Relationship Id="rId22" Type="http://schemas.openxmlformats.org/officeDocument/2006/relationships/slide" Target="slides/slide28.xml"/><Relationship Id="rId23" Type="http://schemas.openxmlformats.org/officeDocument/2006/relationships/slide" Target="slides/slide22.xml"/><Relationship Id="rId24" Type="http://schemas.openxmlformats.org/officeDocument/2006/relationships/slide" Target="slides/slide32.xml"/><Relationship Id="rId25" Type="http://schemas.openxmlformats.org/officeDocument/2006/relationships/slide" Target="slides/slide33.xml"/><Relationship Id="rId26" Type="http://schemas.openxmlformats.org/officeDocument/2006/relationships/slide" Target="slides/slide21.xml"/><Relationship Id="rId27" Type="http://schemas.openxmlformats.org/officeDocument/2006/relationships/slide" Target="slides/slide7.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4.xml"/><Relationship Id="rId35" Type="http://schemas.openxmlformats.org/officeDocument/2006/relationships/slide" Target="slides/slide36.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5.xml"/><Relationship Id="rId45" Type="http://schemas.openxmlformats.org/officeDocument/2006/relationships/slide" Target="slides/slide27.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UNIT 6 · PERFORMANCE MANAGEMENT SETUP</a:t>
            </a:r>
          </a:p>
          <a:p>
            <a:r>
              <a:rPr lang="en-GB" dirty="0"/>
              <a:t>Module 3 · Influence · Unit 6</a:t>
            </a:r>
          </a:p>
          <a:p/>
          <a:p>
            <a:r>
              <a:rPr lang="en-GB" dirty="0" b="1"/>
              <a:t>HOW TO USE THIS SLIDE:</a:t>
            </a:r>
          </a:p>
          <a:p/>
          <a:p>
            <a:r>
              <a:rPr lang="en-GB" dirty="0" b="1"/>
              <a:t>1. Place the unit in Module 3.</a:t>
            </a:r>
          </a:p>
          <a:p>
            <a:r>
              <a:rPr lang="en-GB" dirty="0"/>
              <a:t>Say: "This unit sits in Module 3, Influence. Influence mobilises the people and performance systems through which strategy is carried into execution. Unit 5 aligned hearts and minds behind the strategy. Unit 6 builds the performance architecture that connects enterprise results to the contribution of people and the conditions the organisation provides. Unit 7 then turns that architecture into owned expectations, Unit 8 into review discipline and Unit 9 into the flow of execution."</a:t>
            </a:r>
          </a:p>
          <a:p/>
          <a:p>
            <a:r>
              <a:rPr lang="en-GB" dirty="0" b="1"/>
              <a:t>2. State the unit intent.</a:t>
            </a:r>
          </a:p>
          <a:p>
            <a:r>
              <a:rPr lang="en-GB" dirty="0"/>
              <a:t>Say: "Unit 6 sets up enterprise performance management on two operating systems. People performance is what people deliver: the Human Operating System. Organisational performance is what the organisation enables through its organisational conditions: the Organisational Operating System. You learn the S2R® Contribution Map™, which connects an enterprise Key Result to the contributions of business functions, people and organisational conditions, and FACES, the five functions through which those contributions are managed."</a:t>
            </a:r>
          </a:p>
          <a:p/>
          <a:p>
            <a:r>
              <a:rPr lang="en-GB" dirty="0" b="1"/>
              <a:t>3. Say what the unit produces.</a:t>
            </a:r>
          </a:p>
          <a:p>
            <a:r>
              <a:rPr lang="en-GB" dirty="0"/>
              <a:t>Say: "Each of you writes four personal reflections, in parts 1.2, 1.3, 1.4 and 3.2. They go into your Learning Portfolio. In Section 5 your group builds four connected components of its Enterprise Performance Management System for the strategy in your Capstone S2R® Blueprint: the Contribution Map, the FACES application, the CEO Performance Scorecard and the WARD check-up for one enterprise Key Result."</a:t>
            </a:r>
          </a:p>
          <a:p/>
          <a:p>
            <a:r>
              <a:rPr lang="en-GB" dirty="0" b="1"/>
              <a:t>4. Say how the unit runs.</a:t>
            </a:r>
          </a:p>
          <a:p>
            <a:r>
              <a:rPr lang="en-GB" dirty="0"/>
              <a:t>Teach the whole unit from this deck first, from Section 1 to the Unit Summary. Participants then complete their own page on the portal, in the session or after it.</a:t>
            </a:r>
          </a:p>
          <a:p>
            <a:r>
              <a:rPr lang="en-GB" dirty="0"/>
              <a:t>All three Section 5 activities are group work and Capstone work. Each group needs the Objectives and Key Results it confirmed in Unit 3, part 5.2. The group chooses its scribe; the scribe types what the group agrees, the entries appear on every member’s page, and each member then selects Agree.</a:t>
            </a:r>
          </a:p>
          <a:p/>
          <a:p>
            <a:r>
              <a:rPr lang="en-GB" dirty="0" b="1"/>
              <a:t>5. Bridge to the outcomes.</a:t>
            </a:r>
          </a:p>
          <a:p>
            <a:r>
              <a:rPr lang="en-GB" dirty="0"/>
              <a:t>Say: "Here is what you will be able to do by the end of the unit."</a:t>
            </a:r>
          </a:p>
          <a:p/>
          <a:p>
            <a:r>
              <a:rPr lang="en-GB" dirty="0" b="1"/>
              <a:t>WHERE THE OUTPUTS GO:</a:t>
            </a:r>
          </a:p>
          <a:p>
            <a:r>
              <a:rPr lang="en-GB" dirty="0"/>
              <a:t>The personal reflections go into each participant’s Learning Portfolio.</a:t>
            </a:r>
          </a:p>
          <a:p>
            <a:r>
              <a:rPr lang="en-GB" dirty="0"/>
              <a:t>The group’s agreed record feeds boxes 6A to 6D of the team’s Capstone S2R® Blueprint: the Contribution Map in 6A, the FACES application in 6B, the CEO Performance Scorecard in 6C and the WARD check-up in 6D.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KEY LEARNING OUTCOMES</a:t>
            </a:r>
          </a:p>
          <a:p/>
          <a:p>
            <a:r>
              <a:rPr lang="en-GB" dirty="0" b="1"/>
              <a:t>HOW TO USE THIS SLIDE:</a:t>
            </a:r>
          </a:p>
          <a:p/>
          <a:p>
            <a:r>
              <a:rPr lang="en-GB" dirty="0" b="1"/>
              <a:t>1. Read the four outcomes aloud.</a:t>
            </a:r>
          </a:p>
          <a:p>
            <a:r>
              <a:rPr lang="en-GB" dirty="0"/>
              <a:t>1. Evaluate and improve performance management arrangements against strategic priorities.</a:t>
            </a:r>
          </a:p>
          <a:p>
            <a:r>
              <a:rPr lang="en-GB" dirty="0"/>
              <a:t>2. Integrate enterprise results, leadership accountability and performance evidence into a coherent management system.</a:t>
            </a:r>
          </a:p>
          <a:p>
            <a:r>
              <a:rPr lang="en-GB" dirty="0"/>
              <a:t>3. Apply consistent executive judgement to performance status and its strategic implications.</a:t>
            </a:r>
          </a:p>
          <a:p>
            <a:r>
              <a:rPr lang="en-GB" dirty="0"/>
              <a:t>4. Use performance insight to improve accountability, decisions and organisational responsiveness.</a:t>
            </a:r>
          </a:p>
          <a:p/>
          <a:p>
            <a:r>
              <a:rPr lang="en-GB" dirty="0" b="1"/>
              <a:t>2. Say where the unit builds each one.</a:t>
            </a:r>
          </a:p>
          <a:p>
            <a:r>
              <a:rPr lang="en-GB" dirty="0"/>
              <a:t>Outcome 1 is built in Section 1, where measurement is separated from management, and in 3.2, where you place your own organisation on the three shifts in performance management practice.</a:t>
            </a:r>
          </a:p>
          <a:p>
            <a:r>
              <a:rPr lang="en-GB" dirty="0"/>
              <a:t>Outcome 2 is built in 1.3 and 4.1 with the S2R® Contribution Map™, and produced in Activity 1 of Section 5, where your group maps one of its own enterprise Key Results.</a:t>
            </a:r>
          </a:p>
          <a:p>
            <a:r>
              <a:rPr lang="en-GB" dirty="0"/>
              <a:t>Outcome 3 is built in Section 3, where the ten executive performance perspectives come together into one view of enterprise progress, and produced in Activity 4, where your group sets the waypoints, the alert and the decider for its Key Result.</a:t>
            </a:r>
          </a:p>
          <a:p>
            <a:r>
              <a:rPr lang="en-GB" dirty="0"/>
              <a:t>Outcome 4 is built in 1.4 and 4.2 with FACES and in 2.1 with the four execution bridges, and produced in Activity 2, where your group applies FACES to its own map.</a:t>
            </a:r>
          </a:p>
          <a:p/>
          <a:p>
            <a:r>
              <a:rPr lang="en-GB" dirty="0" b="1"/>
              <a:t>3. Connect the outcomes to the module.</a:t>
            </a:r>
          </a:p>
          <a:p>
            <a:r>
              <a:rPr lang="en-GB" dirty="0"/>
              <a:t>Say: "These outcomes carry the second outcome of Module 3: establishing performance arrangements that connect enterprise results to owned individual contributions and enabling organisational conditions."</a:t>
            </a:r>
          </a:p>
          <a:p/>
          <a:p>
            <a:r>
              <a:rPr lang="en-GB" dirty="0"/>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THE UNIT JOURNEY</a:t>
            </a:r>
          </a:p>
          <a:p/>
          <a:p>
            <a:r>
              <a:rPr lang="en-GB" dirty="0" b="1"/>
              <a:t>HOW TO USE THIS SLIDE:</a:t>
            </a:r>
          </a:p>
          <a:p/>
          <a:p>
            <a:r>
              <a:rPr lang="en-GB" dirty="0" b="1"/>
              <a:t>1. Walk the five sections, one sentence each.</a:t>
            </a:r>
          </a:p>
          <a:p>
            <a:r>
              <a:rPr lang="en-GB" dirty="0"/>
              <a:t>Section 1 · Awareness — What: what performance management must manage. The contribution of people and the conditions the organisation provides, connected to enterprise results through the S2R® Contribution Map™ and managed through FACES.</a:t>
            </a:r>
          </a:p>
          <a:p>
            <a:r>
              <a:rPr lang="en-GB" dirty="0"/>
              <a:t>Section 2 · Intelligence — Why: why enterprise performance depends on connecting strategic outcomes, human contributions and organisational operating capability. The four execution bridges, compliance and commitment architecture, and the performance scorecard that carries it to the individual.</a:t>
            </a:r>
          </a:p>
          <a:p>
            <a:r>
              <a:rPr lang="en-GB" dirty="0"/>
              <a:t>Section 3 · Extrapolating — Where: where enterprise performance management becomes vulnerable. How executive performance perspectives and the evolution of performance management practice shape what leaders see and how they respond.</a:t>
            </a:r>
          </a:p>
          <a:p>
            <a:r>
              <a:rPr lang="en-GB" dirty="0"/>
              <a:t>Section 4 · Integration — Collective: one worked example brings the unit together. The contributions an enterprise Key Result requires, mapped across four functions, and how FACES manages them.</a:t>
            </a:r>
          </a:p>
          <a:p>
            <a:r>
              <a:rPr lang="en-GB" dirty="0"/>
              <a:t>Section 5 · Application — In Practice: each group builds four connected components of its Enterprise Performance Management System for the strategy in its Capstone S2R® Blueprint: the Contribution Map, the FACES application, the CEO Performance Scorecard and the WARD check-up for its enterprise Key Result.</a:t>
            </a:r>
          </a:p>
          <a:p/>
          <a:p>
            <a:r>
              <a:rPr lang="en-GB" dirty="0" b="1"/>
              <a:t>2. Say how the sections connect.</a:t>
            </a:r>
          </a:p>
          <a:p>
            <a:r>
              <a:rPr lang="en-GB" dirty="0"/>
              <a:t>Say: "Sections 1 to 4 build the thinking, and one example runs through all of them: a customer service department that must raise enquiries resolved within 48 hours from 65% to 90% by year-end. Section 5 is where your group applies the same thinking to its own strategy."</a:t>
            </a:r>
          </a:p>
          <a:p/>
          <a:p>
            <a:r>
              <a:rPr lang="en-GB" dirty="0" b="1"/>
              <a:t>3. Bridge to Section 1.</a:t>
            </a:r>
          </a:p>
          <a:p>
            <a:r>
              <a:rPr lang="en-GB" dirty="0"/>
              <a:t>Say: "We start with what performance management must manage."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1 · AWARENESS — WHAT</a:t>
            </a:r>
          </a:p>
          <a:p>
            <a:r>
              <a:rPr lang="en-GB" dirty="0"/>
              <a:t>Foundations of Enterprise Performance Management System Design</a:t>
            </a:r>
          </a:p>
          <a:p/>
          <a:p>
            <a:r>
              <a:rPr lang="en-GB" dirty="0" b="1"/>
              <a:t>HOW THIS SECTION RUNS:</a:t>
            </a:r>
          </a:p>
          <a:p>
            <a:r>
              <a:rPr lang="en-GB" dirty="0"/>
              <a:t>1. 1.1: measurement and management, then the design sequence (two slides).</a:t>
            </a:r>
          </a:p>
          <a:p>
            <a:r>
              <a:rPr lang="en-GB" dirty="0"/>
              <a:t>2. 1.2: the two operating systems behind enterprise performance: the Human Operating System, the Organisational Operating System through ESRG, and how the two interact (three slides).</a:t>
            </a:r>
          </a:p>
          <a:p>
            <a:r>
              <a:rPr lang="en-GB" dirty="0"/>
              <a:t>3. 1.3: the S2R® Contribution Map™ and how it connects people performance and organisational performance (two slides).</a:t>
            </a:r>
          </a:p>
          <a:p>
            <a:r>
              <a:rPr lang="en-GB" dirty="0"/>
              <a:t>4. 1.4: the FACES framework, FACES for people and organisational performance, and how FACES works when the enterprise result falls short (three slides).</a:t>
            </a:r>
          </a:p>
          <a:p>
            <a:r>
              <a:rPr lang="en-GB" dirty="0"/>
              <a:t>5. The Section 1 Reflections slide: the three reflections participants write after the teaching.</a:t>
            </a:r>
          </a:p>
          <a:p/>
          <a:p>
            <a:r>
              <a:rPr lang="en-GB" dirty="0" b="1"/>
              <a:t>SECTION LEARNING OUTCOMES:</a:t>
            </a:r>
          </a:p>
          <a:p>
            <a:r>
              <a:rPr lang="en-GB" dirty="0"/>
              <a:t>1. Convert performance evidence into accountable decisions and follow-through.</a:t>
            </a:r>
          </a:p>
          <a:p>
            <a:r>
              <a:rPr lang="en-GB" dirty="0"/>
              <a:t>2. Manage human contributions and organisational conditions as interdependent drivers of results.</a:t>
            </a:r>
          </a:p>
          <a:p/>
          <a:p>
            <a:r>
              <a:rPr lang="en-GB" dirty="0" b="1"/>
              <a:t>HOW TO OPEN THE SECTION:</a:t>
            </a:r>
          </a:p>
          <a:p/>
          <a:p>
            <a:r>
              <a:rPr lang="en-GB" dirty="0" b="1"/>
              <a:t>1. Name the question the section answers.</a:t>
            </a:r>
          </a:p>
          <a:p>
            <a:r>
              <a:rPr lang="en-GB" dirty="0"/>
              <a:t>Say: "Section 1 answers one question: what must performance management manage? It must manage the contribution of people and the conditions the organisation provides, connected to enterprise results."</a:t>
            </a:r>
          </a:p>
          <a:p/>
          <a:p>
            <a:r>
              <a:rPr lang="en-GB" dirty="0" b="1"/>
              <a:t>2. Say the order.</a:t>
            </a:r>
          </a:p>
          <a:p>
            <a:r>
              <a:rPr lang="en-GB" dirty="0"/>
              <a:t>Say: "We first separate measuring performance from managing it. We then name the two operating systems behind every result, connect them to an enterprise Key Result with the S2R® Contribution Map™, and close with FACES, the five functions that manage those contributions."</a:t>
            </a:r>
          </a:p>
          <a:p/>
          <a:p>
            <a:r>
              <a:rPr lang="en-GB" dirty="0" b="1"/>
              <a:t>3. Bridge to 1.1.</a:t>
            </a:r>
          </a:p>
          <a:p>
            <a:r>
              <a:rPr lang="en-GB" dirty="0"/>
              <a:t>Say: "We start with the difference between measurement and management."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people performance and organisational performance. People Performance: what individuals and teams deliver through their KPIs, OKRs and demonstrated behaviours. Organisational Performance: how effectively the organisational conditions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organisational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1 REFLECTIONS</a:t>
            </a:r>
          </a:p>
          <a:p/>
          <a:p>
            <a:r>
              <a:rPr lang="en-GB" dirty="0" b="1"/>
              <a:t>HOW TO USE THIS SLIDE:</a:t>
            </a:r>
          </a:p>
          <a:p/>
          <a:p>
            <a:r>
              <a:rPr lang="en-GB" dirty="0" b="1"/>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organisational conditions? Which one management arrangement would strengthen it?"</a:t>
            </a:r>
          </a:p>
          <a:p/>
          <a:p>
            <a:r>
              <a:rPr lang="en-GB" dirty="0" b="1"/>
              <a:t>2. Say what the reflections are for.</a:t>
            </a:r>
          </a:p>
          <a:p>
            <a:r>
              <a:rPr lang="en-GB" dirty="0"/>
              <a:t>Say: "These reflections are personal. Name one real, recurring shortfall and look at whether your system covers the people and the organisational conditions. Then map one of your own organisation’s Key Results the way the Contribution Map does, and look at how your organisation manages those contributions through FACES."</a:t>
            </a:r>
          </a:p>
          <a:p/>
          <a:p>
            <a:r>
              <a:rPr lang="en-GB" dirty="0" b="1"/>
              <a:t>3. Close Section 1 and bridge to Section 2.</a:t>
            </a:r>
          </a:p>
          <a:p>
            <a:r>
              <a:rPr lang="en-GB" dirty="0"/>
              <a:t>Say: "Performance management connects enterprise results to the contributions of people and the conditions the organisation provides. Section 2 examines why performance management is the bridge between strategy and execution."</a:t>
            </a:r>
          </a:p>
          <a:p/>
          <a:p>
            <a:r>
              <a:rPr lang="en-GB" dirty="0" b="1"/>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2 · INTELLIGENCE — WHY</a:t>
            </a:r>
          </a:p>
          <a:p>
            <a:r>
              <a:rPr lang="en-GB" dirty="0"/>
              <a:t>Performance Management as the Execution Bridge</a:t>
            </a:r>
          </a:p>
          <a:p/>
          <a:p>
            <a:r>
              <a:rPr lang="en-GB" dirty="0" b="1"/>
              <a:t>HOW THIS SECTION RUNS:</a:t>
            </a:r>
          </a:p>
          <a:p>
            <a:r>
              <a:rPr lang="en-GB" dirty="0"/>
              <a:t>1. 2.1: performance management as the execution bridge. The four bridges, then how they work together (two slides).</a:t>
            </a:r>
          </a:p>
          <a:p>
            <a:r>
              <a:rPr lang="en-GB" dirty="0"/>
              <a:t>2. 2.2: compliance and commitment architecture. The four dimensions, then accountability for people performance and organisational performance (two slides).
3. 2.3: performance scorecard development. The three categories, then how a scorecard is developed (two slides).</a:t>
            </a:r>
          </a:p>
          <a:p>
            <a:r>
              <a:rPr lang="en-GB" dirty="0"/>
              <a:t>Section 2 carries no personal reflection. The section closes on the 2.3b slide and bridges to Section 3.</a:t>
            </a:r>
          </a:p>
          <a:p/>
          <a:p>
            <a:r>
              <a:rPr lang="en-GB" dirty="0" b="1"/>
              <a:t>SECTION LEARNING OUTCOMES:</a:t>
            </a:r>
          </a:p>
          <a:p>
            <a:r>
              <a:rPr lang="en-GB" dirty="0"/>
              <a:t>1. Establish management disciplines that sustain the connection between strategy and performance.</a:t>
            </a:r>
          </a:p>
          <a:p>
            <a:r>
              <a:rPr lang="en-GB" dirty="0"/>
              <a:t>2. Evaluate whether performance practices build genuine commitment or merely compliance.</a:t>
            </a:r>
          </a:p>
          <a:p/>
          <a:p>
            <a:r>
              <a:rPr lang="en-GB" dirty="0" b="1"/>
              <a:t>HOW TO OPEN THE SECTION:</a:t>
            </a:r>
          </a:p>
          <a:p/>
          <a:p>
            <a:r>
              <a:rPr lang="en-GB" dirty="0" b="1"/>
              <a:t>1. Link to Section 1.</a:t>
            </a:r>
          </a:p>
          <a:p>
            <a:r>
              <a:rPr lang="en-GB" dirty="0"/>
              <a:t>Say: "Section 1 set out what performance management must manage. The S2R® Contribution Map™ establishes the contributions an enterprise result requires, and FACES the five functions through which they are managed."</a:t>
            </a:r>
          </a:p>
          <a:p/>
          <a:p>
            <a:r>
              <a:rPr lang="en-GB" dirty="0" b="1"/>
              <a:t>2. Name the question of this section.</a:t>
            </a:r>
          </a:p>
          <a:p>
            <a:r>
              <a:rPr lang="en-GB" dirty="0"/>
              <a:t>Say: "Section 2 explains why enterprise performance depends on connecting strategic outcomes, human contributions and organisational operating capability through an integrated management system. Strategy is delivered over time, and the connection between intent and delivery weakens unless something sustains it."</a:t>
            </a:r>
          </a:p>
          <a:p/>
          <a:p>
            <a:r>
              <a:rPr lang="en-GB" dirty="0" b="1"/>
              <a:t>3. Bridge to 2.1.</a:t>
            </a:r>
          </a:p>
          <a:p>
            <a:r>
              <a:rPr lang="en-GB" dirty="0"/>
              <a:t>Say: "Performance management is that bridge. We look first at the four disciplines that hold it 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organisational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3 · EXTRAPOLATING — WHERE</a:t>
            </a:r>
          </a:p>
          <a:p>
            <a:r>
              <a:rPr lang="en-GB" dirty="0"/>
              <a:t>Executive Performance Integration and the Evolution of Performance Management</a:t>
            </a:r>
          </a:p>
          <a:p/>
          <a:p>
            <a:r>
              <a:rPr lang="en-GB" dirty="0" b="1"/>
              <a:t>HOW THIS SECTION RUNS:</a:t>
            </a:r>
          </a:p>
          <a:p>
            <a:r>
              <a:rPr lang="en-GB" dirty="0"/>
              <a:t>1. 3.1: Unity in Diversity. Executive performance perspectives and functional bias, then the ten executive performance hot zones (two slides).</a:t>
            </a:r>
          </a:p>
          <a:p>
            <a:r>
              <a:rPr lang="en-GB" dirty="0"/>
              <a:t>2. 3.2: the continuous performance management shift, through three shifts in practice.</a:t>
            </a:r>
          </a:p>
          <a:p>
            <a:r>
              <a:rPr lang="en-GB" dirty="0"/>
              <a:t>3. The Section 3 Reflections slide: the reflection participants write after the teaching.</a:t>
            </a:r>
          </a:p>
          <a:p/>
          <a:p>
            <a:r>
              <a:rPr lang="en-GB" dirty="0" b="1"/>
              <a:t>SECTION LEARNING OUTCOMES:</a:t>
            </a:r>
          </a:p>
          <a:p>
            <a:r>
              <a:rPr lang="en-GB" dirty="0"/>
              <a:t>1. Diagnose executive performance blind spots and determine corrective responses.</a:t>
            </a:r>
          </a:p>
          <a:p>
            <a:r>
              <a:rPr lang="en-GB" dirty="0"/>
              <a:t>2. Redesign performance practices towards continuous, developmental and team-based management.</a:t>
            </a:r>
          </a:p>
          <a:p/>
          <a:p>
            <a:r>
              <a:rPr lang="en-GB" dirty="0" b="1"/>
              <a:t>HOW TO OPEN THE SECTION:</a:t>
            </a:r>
          </a:p>
          <a:p/>
          <a:p>
            <a:r>
              <a:rPr lang="en-GB" dirty="0" b="1"/>
              <a:t>1. Link to Section 2.</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 and how a performance scorecard carries the connection to the individual."</a:t>
            </a:r>
          </a:p>
          <a:p/>
          <a:p>
            <a:r>
              <a:rPr lang="en-GB" dirty="0" b="1"/>
              <a:t>2. Name the two areas of the section.</a:t>
            </a:r>
          </a:p>
          <a:p>
            <a:r>
              <a:rPr lang="en-GB" dirty="0"/>
              <a:t>Say: "Section 3 examines where enterprise performance management becomes vulnerable, through two areas. Unity in Diversity: how executive performance perspectives influence what leaders notice, prioritise and interpret. The Continuous Performance Management Shift: how performance management practices are evolving to strengthen timely feedback, development and collective performance."</a:t>
            </a:r>
          </a:p>
          <a:p/>
          <a:p>
            <a:r>
              <a:rPr lang="en-GB" dirty="0" b="1"/>
              <a:t>3. Bridge to 3.1.</a:t>
            </a:r>
          </a:p>
          <a:p>
            <a:r>
              <a:rPr lang="en-GB" dirty="0"/>
              <a:t>Say: "We begin with the executive team itself, and the different ways each executive reads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people performance and organisational performance."</a:t>
            </a:r>
          </a:p>
          <a:p>
            <a:r>
              <a:rPr lang="en-GB" dirty="0"/>
              <a:t>People performance. Say: "Executives examine whether individuals and teams are delivering their agreed KPIs, OKRs and behavioural expectations. They also consider whether the required contributions are being coordinated effectively across functions."</a:t>
            </a:r>
          </a:p>
          <a:p>
            <a:r>
              <a:rPr lang="en-GB" dirty="0"/>
              <a:t>Organisational performance. Say: "Executives examine whether the relevant organisational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ACTIVITY 3: DESIGN THE CEO PERFORMANCE SCORECARD (CAPSTONE WORK)</a:t>
            </a:r>
          </a:p>
          <a:p>
            <a:r>
              <a:t/>
            </a:r>
          </a:p>
          <a:p>
            <a:r>
              <a:rPr b="1"/>
              <a:t>HOW TO TEACH IT:</a:t>
            </a:r>
          </a:p>
          <a:p>
            <a:r>
              <a:t/>
            </a:r>
          </a:p>
          <a:p>
            <a:r>
              <a:rPr b="1"/>
              <a:t>1. Open from part 2.3.</a:t>
            </a:r>
          </a:p>
          <a:p>
            <a:r>
              <a:t>Say: "In part 2.3 we set out the three categories of a performance scorecard and their typical weighting: Strategy 30–50% at senior levels, Operational 30–50% and Behavioural 20–40%. At executive level, the leader is measured on the cumulative outcome that the team's activities produce."</a:t>
            </a:r>
          </a:p>
          <a:p>
            <a:r>
              <a:t/>
            </a:r>
          </a:p>
          <a:p>
            <a:r>
              <a:rPr b="1"/>
              <a:t>2. Brief the activity.</a:t>
            </a:r>
          </a:p>
          <a:p>
            <a:r>
              <a:t>Say: "Your group designs one scorecard, for your CEO. The Strategy measures start from the enterprise Key Result you chose in Activity 1, and you can add a second Key Result from your Unit 3 OKRs. Then name the Operational KPIs and the Behavioural measures, and weight the three categories so that the weights add up to 100%."</a:t>
            </a:r>
          </a:p>
          <a:p>
            <a:r>
              <a:t/>
            </a:r>
          </a:p>
          <a:p>
            <a:r>
              <a:rPr b="1"/>
              <a:t>3. Walk through the template.</a:t>
            </a:r>
          </a:p>
          <a:p>
            <a:r>
              <a:t>Say: "The template on your page shows the enterprise Key Result from Activity 1. You complete five fields."</a:t>
            </a:r>
          </a:p>
          <a:p>
            <a:r>
              <a:t>Strategy · Key Result 1: what the CEO is measured on for the enterprise Key Result from Activity 1, and its weight.</a:t>
            </a:r>
          </a:p>
          <a:p>
            <a:r>
              <a:t>Strategy · Key Result 2 (optional): what the CEO is measured on for a second Key Result from your Unit 3 OKRs, and its weight.</a:t>
            </a:r>
          </a:p>
          <a:p>
            <a:r>
              <a:t>Operational: the operational KPIs the CEO is measured on, with their targets, and their weight.</a:t>
            </a:r>
          </a:p>
          <a:p>
            <a:r>
              <a:t>Behavioural: the values and leadership behaviours the CEO is measured on, how they are assessed, and their weight.</a:t>
            </a:r>
          </a:p>
          <a:p>
            <a:r>
              <a:t>Total weight: the weights add up to 100%.</a:t>
            </a:r>
          </a:p>
          <a:p>
            <a:r>
              <a:t/>
            </a:r>
          </a:p>
          <a:p>
            <a:r>
              <a:rPr b="1"/>
              <a:t>4. Ask the weighting question.</a:t>
            </a:r>
          </a:p>
          <a:p>
            <a:r>
              <a:t>Ask: "Does the Strategy weight reflect that the CEO is measured on the cumulative outcome the team's activities produce?"</a:t>
            </a:r>
          </a:p>
          <a:p>
            <a:r>
              <a:t/>
            </a:r>
          </a:p>
          <a:p>
            <a:r>
              <a:rPr b="1"/>
              <a:t>5. Read the completion check.</a:t>
            </a:r>
          </a:p>
          <a:p>
            <a:r>
              <a:t>Say: "Before you confirm, check four things."</a:t>
            </a:r>
          </a:p>
          <a:p>
            <a:r>
              <a:rPr b="1"/>
              <a:t>1. The Strategy measures come from your enterprise Key Results.</a:t>
            </a:r>
          </a:p>
          <a:p>
            <a:r>
              <a:rPr b="1"/>
              <a:t>2. Each category has a weight, and the weights add up to 100%.</a:t>
            </a:r>
          </a:p>
          <a:p>
            <a:r>
              <a:rPr b="1"/>
              <a:t>3. The weighting reflects the CEO's level and influence on the strategy.</a:t>
            </a:r>
          </a:p>
          <a:p>
            <a:r>
              <a:rPr b="1"/>
              <a:t>4. The Behavioural measures state how they are assessed.</a:t>
            </a:r>
          </a:p>
          <a:p>
            <a:r>
              <a:t/>
            </a:r>
          </a:p>
          <a:p>
            <a:r>
              <a:rPr b="1"/>
              <a:t>6. Bridge to Activity 4.</a:t>
            </a:r>
          </a:p>
          <a:p>
            <a:r>
              <a:t>Say: "With the CEO's measures set, Activity 4 sets the vital check-up for the Key Result itself."</a:t>
            </a:r>
          </a:p>
          <a:p>
            <a:r>
              <a:t/>
            </a:r>
          </a:p>
          <a:p>
            <a:r>
              <a:rPr b="1"/>
              <a:t>ON THE PORTAL, AFTER THE TEACHING:</a:t>
            </a:r>
          </a:p>
          <a:p>
            <a:r>
              <a:t>Participants work as a group in Activity 3 of Section 5 of the participant file. This is Capstone work. The group chooses its scribe for this work. The scribe types what the group agrees, and the entries appear on every member's page.</a:t>
            </a:r>
          </a:p>
          <a:p>
            <a:r>
              <a:rPr b="1"/>
              <a:t>1. The group sets the Strategy measures and their weight.</a:t>
            </a:r>
          </a:p>
          <a:p>
            <a:r>
              <a:rPr b="1"/>
              <a:t>2. The group sets the Operational and Behavioural measures and their weights.</a:t>
            </a:r>
          </a:p>
          <a:p>
            <a:r>
              <a:rPr b="1"/>
              <a:t>3. The group checks that the weights add up to 100%, then goes to Activity 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people performance and organisational performance.</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people performance and organisational performance: Human contributions and relevant organisational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people performance and organisational performance: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people performance and organisational performance: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4 · INTEGRATION — COLLECTIVE</a:t>
            </a:r>
          </a:p>
          <a:p>
            <a:r>
              <a:rPr lang="en-GB" dirty="0"/>
              <a:t>Integration of Human and Organisational Performance</a:t>
            </a:r>
          </a:p>
          <a:p/>
          <a:p>
            <a:r>
              <a:rPr lang="en-GB" dirty="0" b="1"/>
              <a:t>HOW THIS SECTION RUNS:</a:t>
            </a:r>
          </a:p>
          <a:p>
            <a:r>
              <a:rPr lang="en-GB" dirty="0"/>
              <a:t>1. 4.1: the worked example. The S2R® Contribution Map™ for one enterprise Key Result across Customer Service, IT, Operations and Workforce Planning, then how to interpret the map (two slides).</a:t>
            </a:r>
          </a:p>
          <a:p>
            <a:r>
              <a:rPr lang="en-GB" dirty="0"/>
              <a:t>2. 4.2: managing the same contributions through FACES across the four functions.</a:t>
            </a:r>
          </a:p>
          <a:p>
            <a:r>
              <a:rPr lang="en-GB" dirty="0"/>
              <a:t>Section 4 carries no personal reflection. The worked example is the model each group follows in Section 5.</a:t>
            </a:r>
          </a:p>
          <a:p/>
          <a:p>
            <a:r>
              <a:rPr lang="en-GB" dirty="0" b="1"/>
              <a:t>SECTION LEARNING OUTCOMES:</a:t>
            </a:r>
          </a:p>
          <a:p>
            <a:r>
              <a:rPr lang="en-GB" dirty="0"/>
              <a:t>1. Map the functional, human and organisational contributions required for enterprise results.</a:t>
            </a:r>
          </a:p>
          <a:p>
            <a:r>
              <a:rPr lang="en-GB" dirty="0"/>
              <a:t>2. Coordinate cross-functional contributions and enabling conditions towards shared results.</a:t>
            </a:r>
          </a:p>
          <a:p/>
          <a:p>
            <a:r>
              <a:rPr lang="en-GB" dirty="0" b="1"/>
              <a:t>HOW TO OPEN THE SECTION:</a:t>
            </a:r>
          </a:p>
          <a:p/>
          <a:p>
            <a:r>
              <a:rPr lang="en-GB" dirty="0" b="1"/>
              <a:t>1. Link the three sections before it.</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one worked example."</a:t>
            </a:r>
          </a:p>
          <a:p/>
          <a:p>
            <a:r>
              <a:rPr lang="en-GB" dirty="0" b="1"/>
              <a:t>2. Name the example.</a:t>
            </a:r>
          </a:p>
          <a:p>
            <a:r>
              <a:rPr lang="en-GB" dirty="0"/>
              <a:t>Say: "The enterprise objective is to deliver a reliable and responsive customer service experience. The Key Result is to increase customer enquiries resolved within 48 hours from 65% to 90% by year-end. You met this department in 1.2 and 1.4. Now we map and manage every contribution it depends on."</a:t>
            </a:r>
          </a:p>
          <a:p/>
          <a:p>
            <a:r>
              <a:rPr lang="en-GB" dirty="0" b="1"/>
              <a:t>3. Say why the example matters.</a:t>
            </a:r>
          </a:p>
          <a:p>
            <a:r>
              <a:rPr lang="en-GB" dirty="0"/>
              <a:t>Say: "In Section 5 your group builds the same three things for its own strategy. Read the example as the model you will follow."</a:t>
            </a:r>
          </a:p>
          <a:p/>
          <a:p>
            <a:r>
              <a:rPr lang="en-GB" dirty="0" b="1"/>
              <a:t>4. Bridge to 4.1.</a:t>
            </a:r>
          </a:p>
          <a:p>
            <a:r>
              <a:rPr lang="en-GB" dirty="0"/>
              <a:t>Say: "We start with the Contribution Map."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2.3.1 — DEVELOPING A PERFORMANCE SCORECARD</a:t>
            </a:r>
          </a:p>
          <a:p>
            <a:r>
              <a:t/>
            </a:r>
          </a:p>
          <a:p>
            <a:r>
              <a:rPr b="1"/>
              <a:t>HOW TO TEACH IT:</a:t>
            </a:r>
          </a:p>
          <a:p>
            <a:r>
              <a:t/>
            </a:r>
          </a:p>
          <a:p>
            <a:r>
              <a:rPr b="1"/>
              <a:t>1. Start from the enterprise Key Results.</a:t>
            </a:r>
          </a:p>
          <a:p>
            <a:r>
              <a:t>Say: "The Strategy measures come from the Key Results the role contributes to, as set out in the S2R® Contribution Map™."</a:t>
            </a:r>
          </a:p>
          <a:p>
            <a:r>
              <a:t/>
            </a:r>
          </a:p>
          <a:p>
            <a:r>
              <a:rPr b="1"/>
              <a:t>2. Add the Operational KPIs.</a:t>
            </a:r>
          </a:p>
          <a:p>
            <a:r>
              <a:t>Say: "Name the KPIs that show whether the role's function performs at the standard the strategy requires."</a:t>
            </a:r>
          </a:p>
          <a:p>
            <a:r>
              <a:t/>
            </a:r>
          </a:p>
          <a:p>
            <a:r>
              <a:rPr b="1"/>
              <a:t>3. Add the Behavioural measures.</a:t>
            </a:r>
          </a:p>
          <a:p>
            <a:r>
              <a:t>Say: "Name the values and leadership behaviours expected of the role, and how they will be assessed."</a:t>
            </a:r>
          </a:p>
          <a:p>
            <a:r>
              <a:t/>
            </a:r>
          </a:p>
          <a:p>
            <a:r>
              <a:rPr b="1"/>
              <a:t>4. Weight the three categories.</a:t>
            </a:r>
          </a:p>
          <a:p>
            <a:r>
              <a:t>Say: "Set the weight of each category to reflect the role's level and its influence on the strategy. The weights add up to 100%."</a:t>
            </a:r>
          </a:p>
          <a:p>
            <a:r>
              <a:t/>
            </a:r>
          </a:p>
          <a:p>
            <a:r>
              <a:rPr b="1"/>
              <a:t>5. Make it transparent.</a:t>
            </a:r>
          </a:p>
          <a:p>
            <a:r>
              <a:t>Say: "The role holder understands the KPIs, targets, weightings, behavioural standards and rating criteria on which performance will be assessed."</a:t>
            </a:r>
          </a:p>
          <a:p>
            <a:r>
              <a:t/>
            </a:r>
          </a:p>
          <a:p>
            <a:r>
              <a:rPr b="1"/>
              <a:t>6. Show how the weighting changes with the role's level.</a:t>
            </a:r>
          </a:p>
          <a:p>
            <a:r>
              <a:t>Say: "At executive level, the leader is measured on the cumulative outcome that the team's activities produce. The scorecard of a CEO therefore carries a higher Strategy weight than the scorecard of a frontline role. In Section 5, Activity 3, your group designs one scorecard, for its CEO."</a:t>
            </a:r>
          </a:p>
          <a:p>
            <a:r>
              <a:t/>
            </a:r>
          </a:p>
          <a:p>
            <a:r>
              <a:rPr b="1"/>
              <a:t>7. Close Section 2 and bridge to Section 3.</a:t>
            </a:r>
          </a:p>
          <a:p>
            <a:r>
              <a:t>Say: "Performance management bridges strategy and execution when it builds commitment to results, and the scorecard carries that commitment to each role. Section 3 examines where performance management becomes vulnerable across executive perspectives, and how its practice is evolving."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5 · APPLICATION — IN PRACTICE</a:t>
            </a:r>
          </a:p>
          <a:p>
            <a:r>
              <a:rPr lang="en-GB" dirty="0"/>
              <a:t>Building Your Enterprise Performance Management System</a:t>
            </a:r>
          </a:p>
          <a:p/>
          <a:p>
            <a:r>
              <a:rPr lang="en-GB" dirty="0" b="1"/>
              <a:t>HOW THIS SECTION RUNS:</a:t>
            </a:r>
          </a:p>
          <a:p>
            <a:r>
              <a:rPr lang="en-GB" dirty="0"/>
              <a:t>1. 5.1 · Activity 1: the S2R® Contribution Map™. Each group selects one enterprise Key Result from the Objectives and Key Results it confirmed in Unit 3, part 5.2, names three or four business functions and completes six fields for each.</a:t>
            </a:r>
          </a:p>
          <a:p>
            <a:r>
              <a:rPr lang="en-GB" dirty="0"/>
              <a:t>2. 5.2 · Activity 2: the FACES application. For each business function named in Activity 1, the group describes one practical management arrangement for each FACES function.</a:t>
            </a:r>
          </a:p>
          <a:p>
            <a:r>
              <a:rPr lang="en-GB" dirty="0"/>
              <a:t>3. 5.3 · Activity 3: the CEO Performance Scorecard. The group sets the Strategy, Operational and Behavioural measures on which its CEO is assessed, and the weight of each, using part 2.3.</a:t>
            </a:r>
          </a:p>
          <a:p>
            <a:r>
              <a:rPr lang="en-GB" dirty="0"/>
              <a:t>4. 5.4 · Activity 4: the WARD check-up. The group sets the waypoints, the alert, the recovery and the decider for the Key Result chosen in Activity 1, using the conditions named in its Contribution Map.</a:t>
            </a:r>
          </a:p>
          <a:p>
            <a:r>
              <a:rPr lang="en-GB" dirty="0"/>
              <a:t>All four activities are group work and Capstone work. Brief each activity from the worked example in Section 4. The groups then work through the steps on their own pages.</a:t>
            </a:r>
          </a:p>
          <a:p/>
          <a:p>
            <a:r>
              <a:rPr lang="en-GB" dirty="0" b="1"/>
              <a:t>SECTION LEARNING OUTCOMES:</a:t>
            </a:r>
          </a:p>
          <a:p>
            <a:r>
              <a:rPr lang="en-GB" dirty="0"/>
              <a:t>1. Design the contribution arrangements required to deliver a chosen enterprise Key Result.</a:t>
            </a:r>
          </a:p>
          <a:p>
            <a:r>
              <a:rPr lang="en-GB" dirty="0"/>
              <a:t>2. Establish shared management accountability for contributions across functions.</a:t>
            </a:r>
          </a:p>
          <a:p/>
          <a:p>
            <a:r>
              <a:rPr lang="en-GB" dirty="0" b="1"/>
              <a:t>HOW TO OPEN THE SECTION:</a:t>
            </a:r>
          </a:p>
          <a:p/>
          <a:p>
            <a:r>
              <a:rPr lang="en-GB" dirty="0" b="1"/>
              <a:t>1. Frame the application.</a:t>
            </a:r>
          </a:p>
          <a:p>
            <a:r>
              <a:rPr lang="en-GB" dirty="0"/>
              <a:t>Say: "Your group has already established its capstone organisation’s strategic direction, strategic objectives and Key Results. In this application you use that work to develop four connected components of your Enterprise Performance Management System: Activity 1, the S2R® Contribution Map™; Activity 2, the FACES application; Activity 3, the CEO Performance Scorecard; and Activity 4, the WARD check-up for your enterprise Key Result."</a:t>
            </a:r>
          </a:p>
          <a:p/>
          <a:p>
            <a:r>
              <a:rPr lang="en-GB" dirty="0" b="1"/>
              <a:t>2. Say how the activities connect.</a:t>
            </a:r>
          </a:p>
          <a:p>
            <a:r>
              <a:rPr lang="en-GB" dirty="0"/>
              <a:t>Say: "Each activity builds on the one before it. Activity 2 uses the business functions you name in Activity 1. Activity 3 builds the CEO Performance Scorecard from that Key Result. Activity 4 sets the check-up for the Key Result you choose in Activity 1, and its recovery uses the organisational conditions you name in your map."</a:t>
            </a:r>
          </a:p>
          <a:p/>
          <a:p>
            <a:r>
              <a:rPr lang="en-GB" dirty="0" b="1"/>
              <a:t>3. Say how the group works.</a:t>
            </a:r>
          </a:p>
          <a:p>
            <a:r>
              <a:rPr lang="en-GB" dirty="0"/>
              <a:t>Say: "This is group work. Your group chooses its scribe for this work. The scribe types what the group agrees, and the entries appear on every member’s page. When the record is complete, each member reads it and selects Agree."</a:t>
            </a:r>
          </a:p>
          <a:p/>
          <a:p>
            <a:r>
              <a:rPr lang="en-GB" dirty="0" b="1"/>
              <a:t>4. Say where the work goes.</a:t>
            </a:r>
          </a:p>
          <a:p>
            <a:r>
              <a:rPr lang="en-GB" dirty="0"/>
              <a:t>Say: "This is Capstone work. Your group’s agreed record feeds boxes 6A to 6D of your Capstone S2R® Blueprint."</a:t>
            </a:r>
          </a:p>
          <a:p/>
          <a:p>
            <a:r>
              <a:rPr lang="en-GB" dirty="0" b="1"/>
              <a:t>5. Bridge to Activity 1.</a:t>
            </a:r>
          </a:p>
          <a:p>
            <a:r>
              <a:rPr lang="en-GB" dirty="0"/>
              <a:t>Say: "We start with the Contribution Map for one of your own Key Results."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People Performance — Required Contribution: The work, results or behaviours expected from individuals and teams.</a:t>
            </a:r>
          </a:p>
          <a:p>
            <a:r>
              <a:rPr lang="en-GB" dirty="0"/>
              <a:t>People Performance — Performance Measure: One or two KPIs, OKRs or observable behavioural measures that demonstrate the required contribution.</a:t>
            </a:r>
          </a:p>
          <a:p>
            <a:r>
              <a:rPr lang="en-GB" dirty="0"/>
              <a:t>Required Organisational Condition: The critical organisational conditions needed to enable performance. Identify the relevant Environment, Systems, Resources or Governance requirements.</a:t>
            </a:r>
          </a:p>
          <a:p>
            <a:r>
              <a:rPr lang="en-GB" dirty="0"/>
              <a:t>Organisational Conditions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People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chooses its scribe for this work. The scribe types what the group agrees, and the entries appear on every member’s page.</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people performance required contribution and performance measure, required organisational condition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2.3 — PERFORMANCE SCORECARD DEVELOPMENT: THE THREE CATEGORIES</a:t>
            </a:r>
          </a:p>
          <a:p>
            <a:r>
              <a:t/>
            </a:r>
          </a:p>
          <a:p>
            <a:r>
              <a:rPr b="1"/>
              <a:t>HOW TO TEACH IT:</a:t>
            </a:r>
          </a:p>
          <a:p>
            <a:r>
              <a:t/>
            </a:r>
          </a:p>
          <a:p>
            <a:r>
              <a:rPr b="1"/>
              <a:t>1. Link to the execution bridges.</a:t>
            </a:r>
          </a:p>
          <a:p>
            <a:r>
              <a:t>Say: "The execution bridges carry enterprise results to the people who deliver them. The performance scorecard is where that connection reaches the individual: it states the measures on which a role's performance is assessed and the weight each carries."</a:t>
            </a:r>
          </a:p>
          <a:p>
            <a:r>
              <a:t/>
            </a:r>
          </a:p>
          <a:p>
            <a:r>
              <a:rPr b="1"/>
              <a:t>2. Name the three categories.</a:t>
            </a:r>
          </a:p>
          <a:p>
            <a:r>
              <a:t>Say: "A well-designed scorecard tracks performance in three categories: Strategy, Operational and Behavioural. Each gives a different angle on whether the organisation is progressing towards its strategic intent."</a:t>
            </a:r>
          </a:p>
          <a:p>
            <a:r>
              <a:t/>
            </a:r>
          </a:p>
          <a:p>
            <a:r>
              <a:rPr b="1"/>
              <a:t>3. Teach Strategy.</a:t>
            </a:r>
          </a:p>
          <a:p>
            <a:r>
              <a:t>Say: "Strategy measures are the strategic OKRs directly connected to the organisation's multi-year strategy. They ask: are we making progress on what matters most for where we are going? They typically carry 30–50% of the scorecard at senior levels, and less for frontline roles. They are reviewed quarterly, with executive visibility."</a:t>
            </a:r>
          </a:p>
          <a:p>
            <a:r>
              <a:t/>
            </a:r>
          </a:p>
          <a:p>
            <a:r>
              <a:rPr b="1"/>
              <a:t>4. Teach Operational.</a:t>
            </a:r>
          </a:p>
          <a:p>
            <a:r>
              <a:t>Say: "Operational measures are the departmental KPIs that track the operational engine: efficiency, output, quality and service delivery. They ask: are operations performing at the standard required to sustain the strategy? They carry 30–50% across most role levels, highest for frontline and specialist roles. They are reviewed monthly or fortnightly."</a:t>
            </a:r>
          </a:p>
          <a:p>
            <a:r>
              <a:t/>
            </a:r>
          </a:p>
          <a:p>
            <a:r>
              <a:rPr b="1"/>
              <a:t>5. Teach Behavioural.</a:t>
            </a:r>
          </a:p>
          <a:p>
            <a:r>
              <a:t>Say: "Behavioural measures cover how individuals demonstrate the organisation's values and leadership behaviours, assessed through 360° feedback and peer observation. They ask: how are our results being achieved? They carry 20–40% across role levels, higher for leadership and customer-facing roles. They are reviewed bi-annually, through structured 360° feedback."</a:t>
            </a:r>
          </a:p>
          <a:p>
            <a:r>
              <a:t>Point to the bar on the slide. Say: "How results are achieved matters as much as what results are achieved."</a:t>
            </a:r>
          </a:p>
          <a:p>
            <a:r>
              <a:t/>
            </a:r>
          </a:p>
          <a:p>
            <a:r>
              <a:rPr b="1"/>
              <a:t>6. Ask, now that the three categories are taught.</a:t>
            </a:r>
          </a:p>
          <a:p>
            <a:r>
              <a:t>Ask: "If your CEO's scorecard were published tomorrow, what share of it would be Strategy, Operational and Behavioural, and does that reflect the role?"</a:t>
            </a:r>
          </a:p>
          <a:p>
            <a:r>
              <a:t>Take two or three answers.</a:t>
            </a:r>
          </a:p>
          <a:p>
            <a:r>
              <a:t/>
            </a:r>
          </a:p>
          <a:p>
            <a:r>
              <a:rPr b="1"/>
              <a:t>7. Bridge to 2.3.1.</a:t>
            </a:r>
          </a:p>
          <a:p>
            <a:r>
              <a:t>Say: "Next, how a scorecard is put together for a role."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TWO OPERATING SYSTEMS BEHIND ENTERPRISE PERFORMANCE (Understanding what people deliver and what the organisation enables)</a:t>
            </a:r>
          </a:p>
          <a:p/>
          <a:p>
            <a:r>
              <a:rPr lang="en-GB" dirty="0" b="1"/>
              <a:t>HOW TO TEACH IT:</a:t>
            </a:r>
          </a:p>
          <a:p/>
          <a:p>
            <a:r>
              <a:rPr lang="en-GB" dirty="0" b="1"/>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p>
            <a:r>
              <a:rPr lang="en-GB" dirty="0" b="1"/>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p>
            <a:r>
              <a:rPr lang="en-GB" dirty="0" b="1"/>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p>
            <a:r>
              <a:rPr lang="en-GB" dirty="0" b="1"/>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each with three components. ESRG provides the structure for evaluating whether the organisation has the operating capability necessary to support its strategic ambition."</a:t>
            </a:r>
          </a:p>
          <a:p>
            <a:r>
              <a:rPr lang="en-GB" dirty="0"/>
              <a:t>The next slide takes the four domains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UNIT SUMMARY (UNIT 6 SYNTHESIS)</a:t>
            </a:r>
          </a:p>
          <a:p/>
          <a:p>
            <a:r>
              <a:rPr lang="en-GB" dirty="0"/>
              <a:t>HOW TO TEACH IT:</a:t>
            </a:r>
          </a:p>
          <a:p/>
          <a:p>
            <a:r>
              <a:rPr lang="en-GB" dirty="0"/>
              <a:t>1. Recap the unit, section by section.</a:t>
            </a:r>
          </a:p>
          <a:p>
            <a:r>
              <a:rPr lang="en-GB" dirty="0"/>
              <a:t>- 1 · Awareness: Performance measurement answers what happened; performance management decides what to do about it. Enterprise performance comes from people performance (results against KPIs and OKRs, and behaviours) and organisational performance (the organisational conditions: environment, systems, resources and governance).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organisational conditions that enable them, each with a measure or evidence. FACES then showed how those contributions are managed in practice.</a:t>
            </a:r>
          </a:p>
          <a:p>
            <a:r>
              <a:rPr lang="en-GB" dirty="0"/>
              <a:t>- 5 · Application: Each group built an S2R® Contribution Map™ for one of its own enterprise Key Results, applied FACES to manage each function’s contribution and set the WARD check-up for the Key Result. The confirmed record feeds the team’s Capstone S2R® Blueprint.</a:t>
            </a:r>
          </a:p>
          <a:p/>
          <a:p>
            <a:r>
              <a:rPr lang="en-GB"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p>
            <a:r>
              <a:rPr lang="en-GB" dirty="0" b="1"/>
              <a:t>3. Close the unit.</a:t>
            </a:r>
          </a:p>
          <a:p>
            <a:r>
              <a:rPr lang="en-GB" dirty="0"/>
              <a:t>Say: "A performance management system becomes a management system when measurement becomes the basis for a decision, a conversation and an accountable intervention. Execution begins at that moment."</a:t>
            </a:r>
          </a:p>
          <a:p>
            <a:r>
              <a:rPr lang="en-GB" dirty="0"/>
              <a:t>Say: "Each group’s Enterprise Performance Management System now links one Key Result to its contributions, their management and its vital check-up."</a:t>
            </a:r>
          </a:p>
          <a:p/>
          <a:p>
            <a:r>
              <a:rPr lang="en-GB" dirty="0" b="1"/>
              <a:t>4. Bridge to Unit 7.</a:t>
            </a:r>
          </a:p>
          <a:p>
            <a:r>
              <a:rPr lang="en-GB" dirty="0"/>
              <a:t>Say: "Unit 7 turns the contributions on your group’s Contribution Map into expectations their owners commit to."</a:t>
            </a:r>
          </a:p>
          <a:p/>
          <a:p>
            <a:r>
              <a:rPr lang="en-GB" dirty="0"/>
              <a:t>ON THE PORTAL, AFTER THE TEACHING:</a:t>
            </a:r>
          </a:p>
          <a:p>
            <a:r>
              <a:rPr lang="en-GB" dirty="0"/>
              <a:t>Participants complete every part of the participant file: the four personal reflections and the group’s record in Section 5. When the page is complete, each participant submits the unit to the facilitator from the end of Section 5.</a:t>
            </a:r>
          </a:p>
          <a:p/>
          <a:p>
            <a:r>
              <a:rPr lang="en-GB" dirty="0"/>
              <a:t>AFTER THE SESSION:</a:t>
            </a:r>
          </a:p>
          <a:p>
            <a:r>
              <a:rPr lang="en-GB" dirty="0"/>
              <a:t>Each submission reaches you in the facilitator dashboard. The personal reflections go to each participant’s Learning Portfolio; the group’s agreed record feeds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ACTIVITY 2: APPLY FACES TO YOUR CONTRIBUTION MAP™ (CAPSTONE WORK)</a:t>
            </a:r>
          </a:p>
          <a:p>
            <a:endParaRPr lang="en-GB"/>
          </a:p>
          <a:p>
            <a:r>
              <a:rPr lang="en-GB"/>
              <a:t>HOW TO TEACH IT:</a:t>
            </a:r>
          </a:p>
          <a:p>
            <a:endParaRPr lang="en-GB"/>
          </a:p>
          <a:p>
            <a:r>
              <a:rPr lang="en-GB"/>
              <a:t>1. Brief the activity.</a:t>
            </a:r>
          </a:p>
          <a:p>
            <a:r>
              <a:rPr lang="en-GB"/>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a:p>
          <a:p>
            <a:r>
              <a:rPr lang="en-GB"/>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a:p>
          <a:p>
            <a:r>
              <a:rPr lang="en-GB"/>
              <a:t>2. Step 3 · Teach the application question for each function.</a:t>
            </a:r>
          </a:p>
          <a:p>
            <a:r>
              <a:rPr lang="en-GB"/>
              <a:t>F · Foster a Results Culture: What routine or leadership practice will reinforce ownership of performance commitments and delivery obstacles? The template asks: How will employees and leaders demonstrate ownership of results?</a:t>
            </a:r>
          </a:p>
          <a:p>
            <a:r>
              <a:rPr lang="en-GB"/>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a:t>C · Create Measurement Transparency: What evidence will make both people performance and organisational constraints visible? The template asks: How will people performance and the effectiveness of the organisational conditions be made visible?</a:t>
            </a:r>
          </a:p>
          <a:p>
            <a:r>
              <a:rPr lang="en-GB"/>
              <a:t>E · Embed Shared Accountability: Who will own performance commitments, enabling conditions and decisions required to address performance gaps? The template asks: Who will be responsible for contributions, enabling conditions and corrective decisions?</a:t>
            </a:r>
          </a:p>
          <a:p>
            <a:r>
              <a:rPr lang="en-GB"/>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a:p>
          <a:p>
            <a:r>
              <a:rPr lang="en-GB"/>
              <a:t>3. Read the completion check.</a:t>
            </a:r>
          </a:p>
          <a:p>
            <a:r>
              <a:rPr lang="en-GB"/>
              <a:t>Before confirming, the group checks that:</a:t>
            </a:r>
          </a:p>
          <a:p>
            <a:r>
              <a:rPr lang="en-GB"/>
              <a:t>1. All five FACES functions have been addressed for each business function.</a:t>
            </a:r>
          </a:p>
          <a:p>
            <a:r>
              <a:rPr lang="en-GB"/>
              <a:t>2. Your responses describe practical management arrangements.</a:t>
            </a:r>
          </a:p>
          <a:p>
            <a:r>
              <a:rPr lang="en-GB"/>
              <a:t>3. Your FACES application uses the contributions and performance requirements established in Activity 1.</a:t>
            </a:r>
          </a:p>
          <a:p>
            <a:r>
              <a:rPr lang="en-GB"/>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a:p>
          <a:p>
            <a:r>
              <a:rPr lang="en-GB"/>
              <a:t>ON THE PORTAL, AFTER THE TEACHING:</a:t>
            </a:r>
          </a:p>
          <a:p>
            <a:r>
              <a:rPr lang="en-GB"/>
              <a:t>Participants work as a group in Activity 2 of Section 5 of the participant file. This is Capstone work. The group chooses its scribe for this work. The scribe types what the group agrees, and the entries appear on every member’s page.</a:t>
            </a:r>
          </a:p>
          <a:p>
            <a:r>
              <a:rPr lang="en-GB"/>
              <a:t>1. For each business function named in Activity 1, the group describes one practical management arrangement for each of the five FACES functions.</a:t>
            </a:r>
          </a:p>
          <a:p>
            <a:r>
              <a:rPr lang="en-GB"/>
              <a:t>2. The group reads the completion check, then goes to Activity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5.4 — ACTIVITY 4: WARD · YOUR KEY RESULT’S VITAL CHECK-UP (CAPSTONE WORK)</a:t>
            </a:r>
          </a:p>
          <a:p/>
          <a:p>
            <a:r>
              <a:rPr lang="en-GB" dirty="0"/>
              <a:t>HOW TO TEACH IT:</a:t>
            </a:r>
          </a:p>
          <a:p/>
          <a:p>
            <a:r>
              <a:rPr lang="en-GB" dirty="0"/>
              <a:t>1. Open with the check-up.</a:t>
            </a:r>
          </a:p>
          <a:p>
            <a:r>
              <a:rPr lang="en-GB" dirty="0"/>
              <a:t>Say: "Every Key Result your group set in Unit 3 has a baseline, a target and a deadline. Performance management must set out in advance when a Key Result will be checked and which result raises a red flag. Corrective action then starts early, while the gap is still small enough to close. WARD is the vital check-up that sets these points for your Key Result."</a:t>
            </a:r>
          </a:p>
          <a:p/>
          <a:p>
            <a:r>
              <a:rPr lang="en-GB" dirty="0"/>
              <a:t>2. Teach the four letters.</a:t>
            </a:r>
          </a:p>
          <a:p>
            <a:r>
              <a:rPr lang="en-GB" dirty="0"/>
              <a:t>W · Waypoints: The dates on which the Key Result is checked, and the level it must have reached by each.</a:t>
            </a:r>
          </a:p>
          <a:p>
            <a:r>
              <a:rPr lang="en-GB" dirty="0"/>
              <a:t>A · Alert: How far off a waypoint the result can be before it raises a red flag.</a:t>
            </a:r>
          </a:p>
          <a:p>
            <a:r>
              <a:rPr lang="en-GB" dirty="0"/>
              <a:t>R · Recovery: The corrective action that follows a red flag, for the individuals and for the organisational conditions.</a:t>
            </a:r>
          </a:p>
          <a:p>
            <a:r>
              <a:rPr lang="en-GB" dirty="0"/>
              <a:t>D · Decider: The executive who decides on the recovery and sees it through.</a:t>
            </a:r>
          </a:p>
          <a:p/>
          <a:p>
            <a:r>
              <a:rPr lang="en-GB" dirty="0"/>
              <a:t>3. Take the worked example through WARD.</a:t>
            </a:r>
          </a:p>
          <a:p>
            <a:r>
              <a:rPr lang="en-GB" dirty="0"/>
              <a:t>Enterprise Key Result from part 4.1: Increase customer enquiries resolved within 48 hours from 65% to 90% by year-end.</a:t>
            </a:r>
          </a:p>
          <a:p>
            <a:r>
              <a:rPr lang="en-GB" dirty="0"/>
              <a:t>W · Waypoints: 72% by the end of March, 80% by the end of June and 85% by the end of September, on the way to 90% at year-end.</a:t>
            </a:r>
          </a:p>
          <a:p>
            <a:r>
              <a:rPr lang="en-GB" dirty="0"/>
              <a:t>A · Alert: More than three percentage points below a waypoint at a monthly review.</a:t>
            </a:r>
          </a:p>
          <a:p>
            <a:r>
              <a:rPr lang="en-GB" dirty="0"/>
              <a:t>R · Recovery · individuals: Team leaders review every open enquiry with its owner each morning, and agents with repeated follow-through gaps are coached.</a:t>
            </a:r>
          </a:p>
          <a:p>
            <a:r>
              <a:rPr lang="en-GB" dirty="0"/>
              <a:t>R · Recovery · organisational conditions: The owner of the condition named in the Contribution Map restores it: IT for system availability, Workforce Planning for staffing coverage, Operations for approval delays.</a:t>
            </a:r>
          </a:p>
          <a:p>
            <a:r>
              <a:rPr lang="en-GB" dirty="0"/>
              <a:t>D · Decider: The Customer Service Executive.</a:t>
            </a:r>
          </a:p>
          <a:p>
            <a:r>
              <a:rPr lang="en-GB" dirty="0"/>
              <a:t>Ask: "At the end of June the result is 74%. What happens on Monday morning, and who decides?"</a:t>
            </a:r>
          </a:p>
          <a:p>
            <a:r>
              <a:rPr lang="en-GB" dirty="0"/>
              <a:t>Guide the groups to see that the waypoint, the alert and the recovery answer the question before the review takes place.</a:t>
            </a:r>
          </a:p>
          <a:p/>
          <a:p>
            <a:r>
              <a:rPr lang="en-GB" dirty="0"/>
              <a:t>4. Read the completion check.</a:t>
            </a:r>
          </a:p>
          <a:p>
            <a:r>
              <a:rPr lang="en-GB" dirty="0"/>
              <a:t>1. Each waypoint has a date and a level, and the waypoints lead to the target by the deadline.</a:t>
            </a:r>
          </a:p>
          <a:p>
            <a:r>
              <a:rPr lang="en-GB" dirty="0"/>
              <a:t>2. The alert is specific enough that every member reads the same result the same way.</a:t>
            </a:r>
          </a:p>
          <a:p>
            <a:r>
              <a:rPr lang="en-GB" dirty="0"/>
              <a:t>3. The recovery covers the individuals and the organisational conditions named in the Contribution Map.</a:t>
            </a:r>
          </a:p>
          <a:p>
            <a:r>
              <a:rPr lang="en-GB" dirty="0"/>
              <a:t>4. One executive is named as the decider.</a:t>
            </a:r>
          </a:p>
          <a:p>
            <a:r>
              <a:rPr lang="en-GB" dirty="0"/>
              <a:t>Say: "In Unit 8 your group tests its WARD: the alert fires, and you run the recovery."</a:t>
            </a:r>
          </a:p>
          <a:p/>
          <a:p>
            <a:r>
              <a:rPr lang="en-GB" dirty="0"/>
              <a:t>ON THE PORTAL, AFTER THE TEACHING:</a:t>
            </a:r>
          </a:p>
          <a:p>
            <a:r>
              <a:rPr lang="en-GB" dirty="0"/>
              <a:t>Participants work as a group in Activity 4 of Section 5 of the participant file. This is Capstone work. The group chooses its scribe for this work. The scribe types what the group agrees, and the entries appear on every member’s page.</a:t>
            </a:r>
          </a:p>
          <a:p>
            <a:r>
              <a:rPr lang="en-GB" dirty="0"/>
              <a:t>1. The group sets two or three waypoints for its enterprise Key Result: a date and a level for each.</a:t>
            </a:r>
          </a:p>
          <a:p>
            <a:r>
              <a:rPr lang="en-GB" dirty="0"/>
              <a:t>2. The group sets the alert, the recovery for the individuals and for the organisational conditions, and the decider.</a:t>
            </a:r>
          </a:p>
          <a:p>
            <a:r>
              <a:rPr lang="en-GB" dirty="0"/>
              <a:t>3. The group reads the completion check.</a:t>
            </a:r>
          </a:p>
          <a:p>
            <a:r>
              <a:rPr lang="en-GB" dirty="0"/>
              <a:t>4. Each participant reads the record and selects Agree. Print gives a copy.</a:t>
            </a:r>
          </a:p>
          <a:p>
            <a:r>
              <a:rPr lang="en-GB" dirty="0"/>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a:p>
            <a:r>
              <a:rPr lang="en-GB" dirty="0"/>
              <a:t>The agreed record feeds the team’s Capstone S2R® Blueprint.</a:t>
            </a:r>
          </a:p>
          <a:p/>
          <a:p>
            <a:r>
              <a:rPr lang="en-GB" dirty="0" b="1"/>
              <a:t>WHERE THE RECORD GOES:</a:t>
            </a:r>
          </a:p>
          <a:p>
            <a:r>
              <a:rPr lang="en-GB" dirty="0"/>
              <a:t>The agreed record feeds the Unit 6 boxes of the team’s Capstone S2R® Blueprint: the Contribution Map in 6A, the FACES application in 6B, the CEO Performance Scorecard in 6C and the WARD check-up in 6D. The external panel assesses the Blueprint.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THE ORGANISATIONAL OPERATING SYSTEM · ESRG</a:t>
            </a:r>
          </a:p>
          <a:p/>
          <a:p>
            <a:r>
              <a:rPr lang="en-GB" dirty="0" b="1"/>
              <a:t>HOW TO TEACH IT:</a:t>
            </a:r>
          </a:p>
          <a:p/>
          <a:p>
            <a:r>
              <a:rPr lang="en-GB" dirty="0" b="1"/>
              <a:t>1. Frame the four domains.</a:t>
            </a:r>
          </a:p>
          <a:p>
            <a:r>
              <a:rPr lang="en-GB" dirty="0"/>
              <a:t>Say: "Within S2R®, the organisational conditions are examined through ESRG: Environment, Systems, Resources and Governance. Each domain has three components. ESRG gives the structure for evaluating whether the organisation has the operating capability its strategic ambition requires."</a:t>
            </a:r>
          </a:p>
          <a:p>
            <a:r>
              <a:rPr lang="en-GB" dirty="0"/>
              <a:t>Say: "The capacity, capability and behaviour of people sit in the Human Operating System. ESRG covers what the organisation provides for them."</a:t>
            </a:r>
          </a:p>
          <a:p/>
          <a:p>
            <a:r>
              <a:rPr lang="en-GB" dirty="0" b="1"/>
              <a:t>2. Teach Environment · FIT.</a:t>
            </a:r>
          </a:p>
          <a:p>
            <a:r>
              <a:rPr lang="en-GB" dirty="0"/>
              <a:t>Say: "Environment covers Facilities, Infrastructure and Technology: the physical and technological setting in which the work takes place. Facilities suited to the planned activity, infrastructure that reliably carries operational demand, and technology that is available and fit for the required work."</a:t>
            </a:r>
          </a:p>
          <a:p>
            <a:r>
              <a:rPr lang="en-GB" dirty="0"/>
              <a:t>Example: a customer service team has clear targets, but repeated outages of the customer management system leave enquiries unresolved.</a:t>
            </a:r>
          </a:p>
          <a:p>
            <a:r>
              <a:rPr lang="en-GB" dirty="0"/>
              <a:t>Say: "The performance management question is: are the facilities, infrastructure and technology supporting or obstructing the achievement of expected results?"</a:t>
            </a:r>
          </a:p>
          <a:p/>
          <a:p>
            <a:r>
              <a:rPr lang="en-GB" dirty="0" b="1"/>
              <a:t>3. Teach Systems · SIP.</a:t>
            </a:r>
          </a:p>
          <a:p>
            <a:r>
              <a:rPr lang="en-GB" dirty="0"/>
              <a:t>Say: "Systems covers Standardisation, Integration and Process Efficiency: how work is defined, connected and performed across the organisation. Processes clearly defined and consistently applied, handovers that connect across functions, and process design that delivers the required output without unnecessary steps, delay or duplication."</a:t>
            </a:r>
          </a:p>
          <a:p>
            <a:r>
              <a:rPr lang="en-GB" dirty="0"/>
              <a:t>Example: employees may be expected to process 100 applications daily, but disconnected handovers between departments limit actual throughput to 60 applications.</a:t>
            </a:r>
          </a:p>
          <a:p>
            <a:r>
              <a:rPr lang="en-GB" dirty="0"/>
              <a:t>Say: "The question is: are the systems and processes capable of supporting the required performance standards?"</a:t>
            </a:r>
          </a:p>
          <a:p/>
          <a:p>
            <a:r>
              <a:rPr lang="en-GB" dirty="0" b="1"/>
              <a:t>4. Teach Resources · AIR.</a:t>
            </a:r>
          </a:p>
          <a:p>
            <a:r>
              <a:rPr lang="en-GB" dirty="0"/>
              <a:t>Say: "Resources covers Asset Availability, Investment and Resource Utilisation: the productive assets and funding required to deliver results, and how productively they are deployed against priorities. Resource adequacy must be evaluated against the level of performance the organisation expects."</a:t>
            </a:r>
          </a:p>
          <a:p>
            <a:r>
              <a:rPr lang="en-GB" dirty="0"/>
              <a:t>Example: a department may be required to double its service output with the same equipment and no additional budget.</a:t>
            </a:r>
          </a:p>
          <a:p>
            <a:r>
              <a:rPr lang="en-GB" dirty="0"/>
              <a:t>Say: "The question is: does the organisation have sufficient and appropriately deployed assets and funding to achieve its targets?"</a:t>
            </a:r>
          </a:p>
          <a:p/>
          <a:p>
            <a:r>
              <a:rPr lang="en-GB" dirty="0" b="1"/>
              <a:t>5. Teach Governance · PAR.</a:t>
            </a:r>
          </a:p>
          <a:p>
            <a:r>
              <a:rPr lang="en-GB" dirty="0"/>
              <a:t>Say: "Governance covers Policies and Procedures, Authority and Risk Management: the arrangements that guide organisational execution. Governance determines whether decisions can be made at the appropriate level and time, and whether risks to delivery are identified and managed."</a:t>
            </a:r>
          </a:p>
          <a:p>
            <a:r>
              <a:rPr lang="en-GB" dirty="0"/>
              <a:t>Example: a department may have the resources to complete a project, but repeated approval delays prevent it from meeting agreed milestones.</a:t>
            </a:r>
          </a:p>
          <a:p>
            <a:r>
              <a:rPr lang="en-GB" dirty="0"/>
              <a:t>Say: "The question is: do governance arrangements enable timely decisions, clear accountability and effective resolution of performance constraints?"</a:t>
            </a:r>
          </a:p>
          <a:p/>
          <a:p>
            <a:r>
              <a:rPr lang="en-GB" dirty="0" b="1"/>
              <a:t>6. Close the slide.</a:t>
            </a:r>
          </a:p>
          <a:p>
            <a:r>
              <a:rPr lang="en-GB" dirty="0"/>
              <a:t>Say: "The Organisational Operating System answers one question: does the organisation have the environment, systems, resources and governance necessary to deliver its expected results consistently? Unit 10 teaches how to use ESRG to develop the organisational capability that grounds performance."</a:t>
            </a:r>
          </a:p>
          <a:p/>
          <a:p>
            <a:r>
              <a:rPr lang="en-GB" dirty="0" b="1"/>
              <a:t>7. Bridge to how the two systems interact.</a:t>
            </a:r>
          </a:p>
          <a:p>
            <a:r>
              <a:rPr lang="en-GB" dirty="0"/>
              <a:t>Say: "We now put the two operating systems side by side on one missed target."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HOW THE TWO OPERATING SYSTEMS INTERACT</a:t>
            </a:r>
          </a:p>
          <a:p/>
          <a:p>
            <a:r>
              <a:rPr lang="en-GB" dirty="0" b="1"/>
              <a:t>HOW TO TEACH IT:</a:t>
            </a:r>
          </a:p>
          <a:p/>
          <a:p>
            <a:r>
              <a:rPr lang="en-GB" dirty="0" b="1"/>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p>
            <a:r>
              <a:rPr lang="en-GB" dirty="0" b="1"/>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the facilities, infrastructure and technology the team relies on available and reliable?</a:t>
            </a:r>
          </a:p>
          <a:p>
            <a:r>
              <a:rPr lang="en-GB" dirty="0"/>
              <a:t>Are employees following the required service procedures? | Systems: Is the customer management system functioning reliably?</a:t>
            </a:r>
          </a:p>
          <a:p>
            <a:r>
              <a:rPr lang="en-GB" dirty="0"/>
              <a:t>Are employees demonstrating accountability and responsiveness? | Resources: Are the equipment and funding sufficient for the volume of enquiries?</a:t>
            </a:r>
          </a:p>
          <a:p>
            <a:r>
              <a:rPr lang="en-GB" dirty="0"/>
              <a:t>Are team leaders meeting their supervisory commitments? | Governance: Are decisions and escalations being resolved within the required time?</a:t>
            </a:r>
          </a:p>
          <a:p/>
          <a:p>
            <a:r>
              <a:rPr lang="en-GB" dirty="0" b="1"/>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by itself establish its cause.</a:t>
            </a:r>
          </a:p>
          <a:p>
            <a:r>
              <a:rPr lang="en-GB" dirty="0"/>
              <a:t>Emphasise that leaders must examine both the contribution expected from people and the ESRG conditions required to enable delivery.</a:t>
            </a:r>
          </a:p>
          <a:p/>
          <a:p>
            <a:r>
              <a:rPr lang="en-GB" dirty="0" b="1"/>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p>
            <a:r>
              <a:rPr lang="en-GB" dirty="0" b="1"/>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people performance and organisational performance: people performance, the results and behaviours individuals and teams must deliver; and organisational performance, the organisational conditions (environment, systems, resources and governance)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support delivery."</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organisational conditions necessary to enable delivery, together with appropriate performance measures or evidence that those conditions are established and functioning.</a:t>
            </a:r>
          </a:p>
          <a:p>
            <a:r>
              <a:rPr lang="en-GB" dirty="0"/>
              <a:t>Only the organisational conditions relevant to the required contribution are included. Not every organisational condition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PEOPLE PERFORMANCE AND ORGANISATIONAL PERFORMANCE</a:t>
            </a:r>
          </a:p>
          <a:p>
            <a:endParaRPr lang="en-GB" dirty="0"/>
          </a:p>
          <a:p>
            <a:r>
              <a:rPr lang="en-GB" b="1" dirty="0"/>
              <a:t>HOW TO TEACH IT:</a:t>
            </a:r>
          </a:p>
          <a:p>
            <a:endParaRPr lang="en-GB" dirty="0"/>
          </a:p>
          <a:p>
            <a:r>
              <a:rPr lang="en-GB" b="1" dirty="0"/>
              <a:t>1. Teach the two dimensions.</a:t>
            </a:r>
          </a:p>
          <a:p>
            <a:r>
              <a:rPr lang="en-GB" dirty="0"/>
              <a:t>Say: "The S2R® Contribution Map™ integrates people performance and organisational performance into the design of enterprise performance. For every required functional contribution, the map identifies two interconnected dimensions."</a:t>
            </a:r>
          </a:p>
          <a:p>
            <a:r>
              <a:rPr lang="en-GB" dirty="0"/>
              <a:t>People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organisational conditions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people performance and organisational performance."</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organisational conditions.</a:t>
            </a:r>
          </a:p>
          <a:p>
            <a:endParaRPr lang="en-GB" dirty="0"/>
          </a:p>
          <a:p>
            <a:r>
              <a:rPr lang="en-GB" dirty="0"/>
              <a:t>F · Foster a Results Culture.</a:t>
            </a:r>
          </a:p>
          <a:p>
            <a:r>
              <a:rPr lang="en-GB" dirty="0"/>
              <a:t>People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constraints in the organisational conditions that repeatedly undermine delivery."</a:t>
            </a:r>
          </a:p>
          <a:p>
            <a:endParaRPr lang="en-GB" dirty="0"/>
          </a:p>
          <a:p>
            <a:r>
              <a:rPr lang="en-GB" dirty="0"/>
              <a:t>A · Align Performance.</a:t>
            </a:r>
          </a:p>
          <a:p>
            <a:r>
              <a:rPr lang="en-GB" dirty="0"/>
              <a:t>People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the organisational conditions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People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the organisational conditions are supporting or constraining delivery. This includes system availability, process efficiency, capacity against demand, cross-functional coordination and decision turnaround times. A missed departmental target reveals a performance gap; evidence on the organisational conditions helps establish why that gap exists and where intervention is required."</a:t>
            </a:r>
          </a:p>
          <a:p>
            <a:endParaRPr lang="en-GB" dirty="0"/>
          </a:p>
          <a:p>
            <a:r>
              <a:rPr lang="en-GB" dirty="0"/>
              <a:t>E · Embed Shared Accountability.</a:t>
            </a:r>
          </a:p>
          <a:p>
            <a:r>
              <a:rPr lang="en-GB" dirty="0"/>
              <a:t>People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each organisational condition must sit with the appropriate leader.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People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constraints in the organisational conditions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people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organisational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people performance and organisational performance."</a:t>
            </a:r>
          </a:p>
          <a:p>
            <a:r>
              <a:rPr lang="en-GB" dirty="0"/>
              <a:t>Take the bridges one at a time through the table: why each matters, what it sustains for the people, what it sustains for the organisational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People performance: Maintains the line of sight between enterprise objectives and individual or team expectations. Employees understand how their contributions support the intended result, including where delivery depends on other functions.</a:t>
            </a:r>
          </a:p>
          <a:p>
            <a:r>
              <a:rPr lang="en-GB" dirty="0"/>
              <a:t>Organisational performance: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People performance: Establishes clear expectations for results, performance standards, behaviours and evidence of achievement. Employees and managers have a credible basis for evaluating contribution.</a:t>
            </a:r>
          </a:p>
          <a:p>
            <a:r>
              <a:rPr lang="en-GB" dirty="0"/>
              <a:t>Organisational performance: Establishes how effective organisational enablement will be recognised. Relevant organisational conditions are assessed through appropriate measures or qualitative evidence of their effectiveness.</a:t>
            </a:r>
          </a:p>
          <a:p>
            <a:r>
              <a:rPr lang="en-GB" dirty="0"/>
              <a:t>What happens when the bridge weakens: Different functions interpret success differently. People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People performance: Provides regular visibility of individual and team progress, emerging performance gaps and development needs. Review frequency reflects the nature of the contribution and its effect on results.</a:t>
            </a:r>
          </a:p>
          <a:p>
            <a:r>
              <a:rPr lang="en-GB" dirty="0"/>
              <a:t>Organisational performance: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People performance: Enables evidence-based conversations about contribution, achievement, behaviour, performance gaps and improvement. Employees and managers establish appropriate responses and follow-through.</a:t>
            </a:r>
          </a:p>
          <a:p>
            <a:r>
              <a:rPr lang="en-GB" dirty="0"/>
              <a:t>Organisational performance: Enables leaders to examine constraints in the organisational conditions, determine their effect on delivery and assign decisions or interventions to the appropriate leaders.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2.2.2 — ACCOUNTABILITY FOR PEOPLE PERFORMANCE AND ORGANISATIONAL PERFORMANCE</a:t>
            </a:r>
          </a:p>
          <a:p/>
          <a:p>
            <a:r>
              <a:rPr lang="en-GB" dirty="0" b="1"/>
              <a:t>HOW TO TEACH IT:</a:t>
            </a:r>
          </a:p>
          <a:p/>
          <a:p>
            <a:r>
              <a:rPr lang="en-GB" dirty="0" b="1"/>
              <a:t>1. Apply the distinction to both systems.</a:t>
            </a:r>
          </a:p>
          <a:p>
            <a:r>
              <a:rPr lang="en-GB" dirty="0"/>
              <a:t>Say: "The distinction between compliance and commitment applies to both human and organisational performance."</a:t>
            </a:r>
          </a:p>
          <a:p>
            <a:r>
              <a:rPr lang="en-GB" dirty="0"/>
              <a:t>People performance.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performance.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p>
            <a:r>
              <a:rPr lang="en-GB" dirty="0" b="1"/>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p>
            <a:r>
              <a:rPr lang="en-GB" dirty="0" b="1"/>
              <a:t>3. Ask, now that the architectures are taught.</a:t>
            </a:r>
          </a:p>
          <a:p>
            <a:r>
              <a:rPr lang="en-GB" dirty="0"/>
              <a:t>Ask: "When a target is missed in your organisation, which of the two architectures does the review conversation sound like?" Take two or three answers in the chat.</a:t>
            </a:r>
          </a:p>
          <a:p/>
          <a:p>
            <a:r>
              <a:rPr lang="en-GB" dirty="0" b="1"/>
              <a:t>4. Bridge to 2.3.</a:t>
            </a:r>
          </a:p>
          <a:p>
            <a:r>
              <a:rPr lang="en-GB" dirty="0"/>
              <a:t>Say: "Commitment needs measures each person can see. The performance scorecard is where the connection between enterprise results and the people who deliver them reaches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people performance evidence alongside relevant organisational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3 REFLECTIONS</a:t>
            </a:r>
          </a:p>
          <a:p/>
          <a:p>
            <a:r>
              <a:rPr lang="en-GB" dirty="0" b="1"/>
              <a:t>HOW TO USE THIS SLIDE:</a:t>
            </a:r>
          </a:p>
          <a:p/>
          <a:p>
            <a:r>
              <a:rPr lang="en-GB" dirty="0" b="1"/>
              <a:t>1. Show the slide and read the prompt aloud.</a:t>
            </a:r>
          </a:p>
          <a:p>
            <a:r>
              <a:rPr lang="en-GB" dirty="0"/>
              <a:t>3.2 Reflection — Your Current PM System: "What is the current PM architecture of your organisation? Which PM system is currently being used?"</a:t>
            </a:r>
          </a:p>
          <a:p/>
          <a:p>
            <a:r>
              <a:rPr lang="en-GB" dirty="0" b="1"/>
              <a:t>2. Say what the reflection is for.</a:t>
            </a:r>
          </a:p>
          <a:p>
            <a:r>
              <a:rPr lang="en-GB" dirty="0"/>
              <a:t>Say: "This reflection is personal. Describe the performance management architecture you actually have today, and name the system your organisation uses."</a:t>
            </a:r>
          </a:p>
          <a:p/>
          <a:p>
            <a:r>
              <a:rPr lang="en-GB" dirty="0" b="1"/>
              <a:t>3. Set the standard.</a:t>
            </a:r>
          </a:p>
          <a:p>
            <a:r>
              <a:rPr lang="en-GB" dirty="0"/>
              <a:t>Say: "Read your architecture against the three shifts. How often is performance reviewed: once or twice a year, or throughout execution? Do review conversations centre on ratings, or on development and improvement? Are only individuals assessed, or are team and cross-functional contributions visible too? Then name the system or tool in use."</a:t>
            </a:r>
          </a:p>
          <a:p/>
          <a:p>
            <a:r>
              <a:rPr lang="en-GB" dirty="0" b="1"/>
              <a:t>4. Close Section 3 and bridge to Section 4.</a:t>
            </a:r>
          </a:p>
          <a:p>
            <a:r>
              <a:rPr lang="en-GB" dirty="0"/>
              <a:t>Say: "Executive perspectives on performance converge when performance management becomes continuous, developmental and team-based. Section 4 brings the unit together in one worked example: the contributions a Key Result requires and how FACES manages them."</a:t>
            </a:r>
          </a:p>
          <a:p/>
          <a:p>
            <a:r>
              <a:rPr lang="en-GB" dirty="0" b="1"/>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 — MAPPING THE CONTRIBUTIONS REQUIRED FOR ENTERPRISE RESULTS (Worked example: improving customer service)</a:t>
            </a:r>
          </a:p>
          <a:p/>
          <a:p>
            <a:r>
              <a:rPr lang="en-GB" dirty="0" b="1"/>
              <a:t>HOW TO TEACH IT:</a:t>
            </a:r>
          </a:p>
          <a:p/>
          <a:p>
            <a:r>
              <a:rPr lang="en-GB" dirty="0" b="1"/>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p>
            <a:r>
              <a:rPr lang="en-GB" dirty="0" b="1"/>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p>
            <a:r>
              <a:rPr lang="en-GB" dirty="0" b="1"/>
              <a:t>3. Walk through the Contribution Map.</a:t>
            </a:r>
          </a:p>
          <a:p>
            <a:r>
              <a:rPr lang="en-GB" dirty="0"/>
              <a:t>Use Customer Service to demonstrate the distinction between the functional contribution, people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p>
            <a:r>
              <a:rPr lang="en-GB" dirty="0"/>
              <a:t>Customer Service.</a:t>
            </a:r>
          </a:p>
          <a:p>
            <a:r>
              <a:rPr lang="en-GB" dirty="0"/>
              <a:t>Required functional contribution: Resolve customer enquiries accurately and within 48 hours.</a:t>
            </a:r>
          </a:p>
          <a:p>
            <a:r>
              <a:rPr lang="en-GB" dirty="0"/>
              <a:t>People performance, required contribution: Employees resolve assigned enquiries, follow up on outstanding cases and escalate delays requiring support from other functions.</a:t>
            </a:r>
          </a:p>
          <a:p>
            <a:r>
              <a:rPr lang="en-GB" dirty="0"/>
              <a:t>People performance metric: Resolution: ≥90% of enquiries within employees’ control resolved within 48 hours. Follow-through: ≥95% of outstanding enquiries followed up within the agreed period.</a:t>
            </a:r>
          </a:p>
          <a:p>
            <a:r>
              <a:rPr lang="en-GB" dirty="0"/>
              <a:t>Required organisational condition: Systems: An enquiry management system that records ownership, progress and resolution times. Governance: Clear escalation authority for enquiries requiring decisions outside Customer Service.</a:t>
            </a:r>
          </a:p>
          <a:p>
            <a:r>
              <a:rPr lang="en-GB" dirty="0"/>
              <a:t>Organisational conditions, measure or evidence of readiness: Systems: Enquiry records provide complete timestamps and assigned ownership. Governance: Documented escalation routes and named decision owners.</a:t>
            </a:r>
          </a:p>
          <a:p/>
          <a:p>
            <a:r>
              <a:rPr lang="en-GB" dirty="0"/>
              <a:t>IT.</a:t>
            </a:r>
          </a:p>
          <a:p>
            <a:r>
              <a:rPr lang="en-GB" dirty="0"/>
              <a:t>Required functional contribution: Maintain reliable customer management systems to support uninterrupted enquiry processing.</a:t>
            </a:r>
          </a:p>
          <a:p>
            <a:r>
              <a:rPr lang="en-GB" dirty="0"/>
              <a:t>People performance, required contribution: IT employees monitor system performance, respond to incidents and restore disrupted services.</a:t>
            </a:r>
          </a:p>
          <a:p>
            <a:r>
              <a:rPr lang="en-GB" dirty="0"/>
              <a:t>People performance metric: Incident resolution: ≥95% of critical incidents resolved within two hours. Communication: ≥95% of confirmed critical incidents communicated to affected departments within 15 minutes.</a:t>
            </a:r>
          </a:p>
          <a:p>
            <a:r>
              <a:rPr lang="en-GB" dirty="0"/>
              <a:t>Required organisational condition: Environment: Reliable infrastructure and monitoring technology to maintain system availability. Resources: A funded technical support contract covering service hours.</a:t>
            </a:r>
          </a:p>
          <a:p>
            <a:r>
              <a:rPr lang="en-GB" dirty="0"/>
              <a:t>Organisational conditions, measure or evidence of readiness: Environment: ≥99% customer management system availability during service hours. Resources: Approved support contract covering required service hours.</a:t>
            </a:r>
          </a:p>
          <a:p/>
          <a:p>
            <a:r>
              <a:rPr lang="en-GB" dirty="0"/>
              <a:t>Operations.</a:t>
            </a:r>
          </a:p>
          <a:p>
            <a:r>
              <a:rPr lang="en-GB" dirty="0"/>
              <a:t>Required functional contribution: Complete internal processing and approvals within the turnaround required for customer resolution.</a:t>
            </a:r>
          </a:p>
          <a:p>
            <a:r>
              <a:rPr lang="en-GB" dirty="0"/>
              <a:t>People performance, required contribution: Employees process assigned requests accurately and escalate exceptions that could delay customer resolution.</a:t>
            </a:r>
          </a:p>
          <a:p>
            <a:r>
              <a:rPr lang="en-GB" dirty="0"/>
              <a:t>People performance metric: Turnaround: ≥95% of assigned requests completed within eight working hours. Accuracy: ≥98% processing accuracy.</a:t>
            </a:r>
          </a:p>
          <a:p>
            <a:r>
              <a:rPr lang="en-GB" dirty="0"/>
              <a:t>Required organisational condition: Governance: Approval authority must be assigned at the appropriate level to prevent avoidable delays. Systems: Processing workflows must support timely handovers between Operations and Customer Service.</a:t>
            </a:r>
          </a:p>
          <a:p>
            <a:r>
              <a:rPr lang="en-GB" dirty="0"/>
              <a:t>Organisational conditions, measure or evidence of readiness: Governance: Documented approval limits and designated decision owners. Systems: ≥95% of internal processing requests completed within the agreed turnaround time.</a:t>
            </a:r>
          </a:p>
          <a:p/>
          <a:p>
            <a:r>
              <a:rPr lang="en-GB" dirty="0"/>
              <a:t>HR / Workforce Planning.</a:t>
            </a:r>
          </a:p>
          <a:p>
            <a:r>
              <a:rPr lang="en-GB" dirty="0"/>
              <a:t>Required functional contribution: Ensure customer-facing operations have sufficient staffing capacity and capabilities to meet enquiry demand.</a:t>
            </a:r>
          </a:p>
          <a:p>
            <a:r>
              <a:rPr lang="en-GB" dirty="0"/>
              <a:t>People performance, required contribution: Workforce Planning employees forecast staffing requirements, prepare schedules and coordinate responses to identified capacity gaps.</a:t>
            </a:r>
          </a:p>
          <a:p>
            <a:r>
              <a:rPr lang="en-GB" dirty="0"/>
              <a:t>People performance metric: Planning: 100% of staffing schedules completed before the agreed deadline. Responsiveness: ≥95% of identified staffing gaps addressed within the agreed response period.</a:t>
            </a:r>
          </a:p>
          <a:p>
            <a:r>
              <a:rPr lang="en-GB" dirty="0"/>
              <a:t>Required organisational condition: Resources: Funding approved for the staffing levels that forecast customer enquiry volumes require. Governance: Authority to approve staffing adjustments when demand exceeds available capacity.</a:t>
            </a:r>
          </a:p>
          <a:p>
            <a:r>
              <a:rPr lang="en-GB" dirty="0"/>
              <a:t>Organisational conditions, measure or evidence of readiness: Resources: ≥95% of the demand-based staffing budget approved and released. Governance: Agreed staffing adjustment authority and escalation arrangements.</a:t>
            </a:r>
          </a:p>
          <a:p/>
          <a:p>
            <a:r>
              <a:rPr lang="en-GB" dirty="0"/>
              <a:t>Performance targets are illustrative. The purpose is to establish sufficient evidence to determine whether the required contribution is being delivered and whether the organisation is enabling it.</a:t>
            </a:r>
          </a:p>
          <a:p/>
          <a:p>
            <a:r>
              <a:rPr lang="en-GB" dirty="0" b="1"/>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p>
            <a:r>
              <a:rPr lang="en-GB" dirty="0" b="1"/>
              <a:t>5. Consolidate the learning.</a:t>
            </a:r>
          </a:p>
          <a:p>
            <a:r>
              <a:rPr lang="en-GB" dirty="0"/>
              <a:t>Say: "The Contribution Map gives us an integrated view of what must be delivered and enabled across the organisation. It establishes the performance requirements against which contributions can be assessed."</a:t>
            </a:r>
          </a:p>
          <a:p/>
          <a:p>
            <a:r>
              <a:rPr lang="en-GB" dirty="0" b="1"/>
              <a:t>6. Bridge to interpreting the map.</a:t>
            </a:r>
          </a:p>
          <a:p>
            <a:r>
              <a:rPr lang="en-GB" dirty="0"/>
              <a:t>Say: "Read across any one function and the same three elements repeat.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4.1.2 — INTERPRETING THE CONTRIBUTION MAP</a:t>
            </a:r>
          </a:p>
          <a:p/>
          <a:p>
            <a:r>
              <a:rPr lang="en-GB" dirty="0" b="1"/>
              <a:t>HOW TO TEACH IT:</a:t>
            </a:r>
          </a:p>
          <a:p/>
          <a:p>
            <a:r>
              <a:rPr lang="en-GB" dirty="0" b="1"/>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People performance: what must individuals and teams deliver? The map identifies the results and behaviours required from people, supported by measurable performance expectations wherever practical.</a:t>
            </a:r>
          </a:p>
          <a:p>
            <a:r>
              <a:rPr lang="en-GB" dirty="0"/>
              <a:t>3 · Organisational performance: what conditions must the organisation provide? The map identifies the relevant organisational conditions necessary to enable the human contribution.</a:t>
            </a:r>
          </a:p>
          <a:p/>
          <a:p>
            <a:r>
              <a:rPr lang="en-GB" dirty="0" b="1"/>
              <a:t>2. Close on the measures for the organisational conditions.</a:t>
            </a:r>
          </a:p>
          <a:p>
            <a:r>
              <a:rPr lang="en-GB" dirty="0"/>
              <a:t>Say: "Only the organisational conditions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a:p/>
          <a:p>
            <a:r>
              <a:rPr lang="en-GB" dirty="0" b="1"/>
              <a:t>3. Bridge to 4.2.</a:t>
            </a:r>
          </a:p>
          <a:p>
            <a:r>
              <a:rPr lang="en-GB" dirty="0"/>
              <a:t>Say: "The map sets out what must be delivered and what must be enabled. FACES sets out how those contributions are managed."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4.2 — MANAGING THE CONTRIBUTIONS THROUGH FACES (Applying FACES across the four functions)</a:t>
            </a:r>
          </a:p>
          <a:p/>
          <a:p>
            <a:r>
              <a:rPr lang="en-GB" dirty="0" b="1"/>
              <a:t>HOW TO TEACH IT:</a:t>
            </a:r>
          </a:p>
          <a:p/>
          <a:p>
            <a:r>
              <a:rPr lang="en-GB" dirty="0" b="1"/>
              <a:t>1. Connect FACES to the Contribution Map.</a:t>
            </a:r>
          </a:p>
          <a:p>
            <a:r>
              <a:rPr lang="en-GB" dirty="0"/>
              <a:t>Say: "The Contribution Map™ has established the contributions required from Customer Service, IT, Operations and Workforce Planning, including the expected people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p>
            <a:r>
              <a:rPr lang="en-GB" dirty="0" b="1"/>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p>
            <a:r>
              <a:rPr lang="en-GB" dirty="0" b="1"/>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p>
            <a:r>
              <a:rPr lang="en-GB" dirty="0" b="1"/>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p>
            <a:r>
              <a:rPr lang="en-GB" dirty="0" b="1"/>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p>
            <a:r>
              <a:rPr lang="en-GB" dirty="0" b="1"/>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a:p/>
          <a:p>
            <a:r>
              <a:rPr lang="en-GB" dirty="0" b="1"/>
              <a:t>7. Close Section 4 and bridge to Section 5.</a:t>
            </a:r>
          </a:p>
          <a:p>
            <a:r>
              <a:rPr lang="en-GB" dirty="0"/>
              <a:t>Say: "One Key Result shows how mapped contributions and FACES together make people and organisational performance manageable. Your group now builds its own Contribution Map, applies FACES to it and sets the WARD check-up for its Key Result."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34.png"/><Relationship Id="rId10"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9.xml"/><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and improve performance management arrangements against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Integrate enterprise results, leadership accountability and performance evidence into a coherent management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Apply consistent executive judgement to performance status and its strategic implications.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Use performance insight to improve accountability, decisions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accountable decisions and follow-through.</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contributions and organisational conditions as interdependent drivers of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86868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60604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 FIT: facilities, infrastructure, technology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 SIP: standardisation, integration, process efficiency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 AIR: asset availability, investment, resource utilisation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 PAR: policies and procedures, authority, risk management</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86868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60604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Facilities and technology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Equipment and funding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1325880"/>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organisational conditions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77724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1.4 · FACES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Organisational conditions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Conditions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Conditions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leaders for the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Reflection 1.2" descr="image.png"/>
          <p:cNvPicPr>
            <a:picLocks noChangeAspect="1"/>
          </p:cNvPicPr>
          <p:nvPr/>
        </p:nvPicPr>
        <p:blipFill>
          <a:blip r:embed="rId7"/>
          <a:stretch>
            <a:fillRect/>
          </a:stretch>
        </p:blipFill>
        <p:spPr>
          <a:xfrm>
            <a:off x="1691640" y="1463040"/>
            <a:ext cx="10035396" cy="1452113"/>
          </a:xfrm>
          <a:prstGeom prst="rect">
            <a:avLst/>
          </a:prstGeom>
        </p:spPr>
      </p:pic>
      <p:sp>
        <p:nvSpPr>
          <p:cNvPr id="4" name="Part 1.2"/>
          <p:cNvSpPr/>
          <p:nvPr/>
        </p:nvSpPr>
        <p:spPr>
          <a:xfrm>
            <a:off x="548640" y="175475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10" name="Reflection 1.3" descr="image.png"/>
          <p:cNvPicPr>
            <a:picLocks noChangeAspect="1"/>
          </p:cNvPicPr>
          <p:nvPr/>
        </p:nvPicPr>
        <p:blipFill>
          <a:blip r:embed="rId8"/>
          <a:stretch>
            <a:fillRect/>
          </a:stretch>
        </p:blipFill>
        <p:spPr>
          <a:xfrm>
            <a:off x="1691640" y="3189473"/>
            <a:ext cx="10035396" cy="1797169"/>
          </a:xfrm>
          <a:prstGeom prst="rect">
            <a:avLst/>
          </a:prstGeom>
        </p:spPr>
      </p:pic>
      <p:sp>
        <p:nvSpPr>
          <p:cNvPr id="6" name="Part 1.3"/>
          <p:cNvSpPr/>
          <p:nvPr/>
        </p:nvSpPr>
        <p:spPr>
          <a:xfrm>
            <a:off x="548640" y="365371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11" name="Reflection 1.4" descr="image.png"/>
          <p:cNvPicPr>
            <a:picLocks noChangeAspect="1"/>
          </p:cNvPicPr>
          <p:nvPr/>
        </p:nvPicPr>
        <p:blipFill>
          <a:blip r:embed="rId9"/>
          <a:stretch>
            <a:fillRect/>
          </a:stretch>
        </p:blipFill>
        <p:spPr>
          <a:xfrm>
            <a:off x="1691640" y="5260962"/>
            <a:ext cx="10035396" cy="1452113"/>
          </a:xfrm>
          <a:prstGeom prst="rect">
            <a:avLst/>
          </a:prstGeom>
        </p:spPr>
      </p:pic>
      <p:sp>
        <p:nvSpPr>
          <p:cNvPr id="8" name="Part 1.4"/>
          <p:cNvSpPr/>
          <p:nvPr/>
        </p:nvSpPr>
        <p:spPr>
          <a:xfrm>
            <a:off x="548640" y="555267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management disciplines that sustain the connection between strategy and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performance practices build genuine commitment or merely compliance.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4572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4572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4572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2.2 · Accountability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2.3a · Performance scorecard: three categories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OKRs: progress on the multi-year strategy. 30–50% at senior levels.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the operational engine at standard. 30–50% at most levels.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Values and behaviours: how results are achieved. 20–40%.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How results are achieved matters as much as what results are achieved.</a:t>
            </a:r>
            <a:endParaRPr lang="en-US" sz="2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2.3b · Developing a performance scorecard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Start from the enterprise Key Results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Add the Operational KPIs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Add the Behavioural measures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Weight the three categories to 100%</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Make it transparent to the role holder</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and determine corrective responses.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Redesign performance practices towards continuous, developmental and team-based management.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functional, human and organisational contributions required for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cross-functional contributions and enabling conditions towards shared results.</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performance</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Organisational performance</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contribution arrangements required to deliver a chosen enterprise Key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shared management accountability for contributions across functions.</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organisational conditions,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5.3 · Activity 3: CEO Performance Scorecard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7"/>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Strategy: Key Result measures and their weight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8"/>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a:t>
            </a:r>
            <a:r>
              <a:rPr lang="en-US" sz="2600" dirty="0">
                <a:solidFill>
                  <a:srgbClr val="1F2A22"/>
                </a:solidFill>
                <a:latin typeface="Calibri" pitchFamily="34" charset="0"/>
                <a:ea typeface="Calibri" pitchFamily="34" charset="-122"/>
                <a:cs typeface="Calibri" pitchFamily="34" charset="-120"/>
              </a:rPr>
              <a:t>Operational: KPIs with targets and their weight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9"/>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  </a:t>
            </a:r>
            <a:r>
              <a:rPr lang="en-US" sz="2600" dirty="0">
                <a:solidFill>
                  <a:srgbClr val="1F2A22"/>
                </a:solidFill>
                <a:latin typeface="Calibri" pitchFamily="34" charset="0"/>
                <a:ea typeface="Calibri" pitchFamily="34" charset="-122"/>
                <a:cs typeface="Calibri" pitchFamily="34" charset="-120"/>
              </a:rPr>
              <a:t>Behavioural: values and behaviours, how assessed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  </a:t>
            </a:r>
            <a:r>
              <a:rPr lang="en-US" sz="2600" dirty="0">
                <a:solidFill>
                  <a:srgbClr val="1F2A22"/>
                </a:solidFill>
                <a:latin typeface="Calibri" pitchFamily="34" charset="0"/>
                <a:ea typeface="Calibri" pitchFamily="34" charset="-122"/>
                <a:cs typeface="Calibri" pitchFamily="34" charset="-120"/>
              </a:rPr>
              <a:t>The three weights add up to 100%</a:t>
            </a:r>
            <a:endParaRPr lang="en-US" sz="2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5.4 · Activity 4: WARD check-up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8"/>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a:t>
            </a:r>
            <a:r>
              <a:rPr lang="en-US" sz="2600" dirty="0">
                <a:solidFill>
                  <a:srgbClr val="1F2A22"/>
                </a:solidFill>
                <a:latin typeface="Calibri" pitchFamily="34" charset="0"/>
                <a:ea typeface="Calibri" pitchFamily="34" charset="-122"/>
                <a:cs typeface="Calibri" pitchFamily="34" charset="-120"/>
              </a:rPr>
              <a:t>Waypoints: when the Key Result is checked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9"/>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Alert: how far off raises a red flag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10"/>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Recovery: for individuals and conditions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  </a:t>
            </a:r>
            <a:r>
              <a:rPr lang="en-US" sz="2600" dirty="0">
                <a:solidFill>
                  <a:srgbClr val="1F2A22"/>
                </a:solidFill>
                <a:latin typeface="Calibri" pitchFamily="34" charset="0"/>
                <a:ea typeface="Calibri" pitchFamily="34" charset="-122"/>
                <a:cs typeface="Calibri" pitchFamily="34" charset="-120"/>
              </a:rPr>
              <a:t>Decider: who decides and acts</a:t>
            </a:r>
            <a:endParaRPr lang="en-US" sz="2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