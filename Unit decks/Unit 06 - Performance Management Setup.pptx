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84" r:id="rId11"/>
    <p:sldId id="291" r:id="rId12"/>
    <p:sldId id="265" r:id="rId13"/>
    <p:sldId id="266" r:id="rId14"/>
    <p:sldId id="267" r:id="rId15"/>
    <p:sldId id="269" r:id="rId16"/>
    <p:sldId id="292" r:id="rId17"/>
    <p:sldId id="270" r:id="rId18"/>
    <p:sldId id="271" r:id="rId19"/>
    <p:sldId id="273" r:id="rId20"/>
    <p:sldId id="274" r:id="rId21"/>
    <p:sldId id="275" r:id="rId22"/>
    <p:sldId id="278" r:id="rId23"/>
    <p:sldId id="279" r:id="rId24"/>
    <p:sldId id="281" r:id="rId26"/>
    <p:sldId id="293" r:id="rId34"/>
    <p:sldId id="294" r:id="rId35"/>
    <p:sldId id="280" r:id="rId25"/>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8796" autoAdjust="0"/>
  </p:normalViewPr>
  <p:slideViewPr>
    <p:cSldViewPr snapToGrid="0" snapToObjects="1">
      <p:cViewPr>
        <p:scale>
          <a:sx n="57" d="100"/>
          <a:sy n="57" d="100"/>
        </p:scale>
        <p:origin x="806" y="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59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 PERFORMANCE MANAGEMENT SETUP
Module 3 · Influence · Unit 6
Unit intent (Facilitator Guide):
Unit 6 bridges strategy and execution accountability. Many organisations have measurement systems but lack management systems. Participants should leave understanding the distinction — and knowing how to build the management side. The emphasis is on design thinking: how to construct a system that drives behaviour as well as tracking it. This is one of the more technical units in S2R® — keep the energy applied.
Unit overview (facilitator file): A performance management system is an execution architecture. This unit equips leaders to design systems that translate strategy into individual accountability, calibrate progress rhythms, and sustain collective ownership across the enterprise.</a:t>
            </a:r>
          </a:p>
          <a:p>
            <a:endParaRPr lang="en-US" dirty="0"/>
          </a:p>
          <a:p>
            <a:r>
              <a:t>Source detail (S2R® manuscript):</a:t>
            </a:r>
          </a:p>
          <a:p>
            <a:endParaRPr/>
          </a:p>
          <a:p>
            <a:r>
              <a:t>Module context: The Influence module equips participants to understand how each CXO role transforms strategic intent into execution reality. In this phase, leaders move from being architects of strategy to engineers of execution flow: unclogging resistance and establishing the accountability architecture required to sustain momentum under pressure.</a:t>
            </a:r>
          </a:p>
          <a:p>
            <a:r>
              <a:t>Throughout this module, participants explore how different functional perspectives interpret direction, and identify the specific steps where these interpretations create either cross-functional tension or powerful reinforcement.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Evaluate whether organisational performance arrangements support the achievement of strategic priorities.
2. Define clear relationships between enterprise outcomes, leadership accountability and performance evidence.
3. Exercise consistent executive judgement on performance status and its strategic significance.
4. Interpret performance insight in ways that strengthen accountability, decision quality and organisational responsiveness.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suggested timing only for the Section 5 simulation: individual work 15 min → table discussion 15 min → group debrief 15 min.
Key Facilitation Questions
“In your organisation, are you measuring what happened — or managing what will happen next?”
“If your team stopped producing reports tomorrow, what decisions would you lose the ability to make?”
“Is your current PM system designed to generate compliance — or to build commitment?”
“Where in your organisation does measurement transparency break down? Who does not see their numbers?”
“When you review performance, are you looking at activity or at cumulative progress toward target?”
Tone &amp; Watch Points
Avoid: turning the FACES or EXECUTION frameworks into a compliance checklist. They are diagnostic and design tools.
Watch for: leaders who equate “we have a scorecard” with “we have a PM system.” Probe: “What happens after you look at the scorecard? What changes? Who decides what?”
The Solid Gold reframe (Rating 3 = Solid Gold) is intentional and often powerful. Bring it to life with an example of a consistent contributor who reliably delivers and is still overlooked.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Foundations of Performance Management
Establishing the conceptual ground: what performance management actually is, how it differs from measurement, and the functional architecture that makes it work.
Section learning outcomes:
1. Distinguish the management of performance from its measurement.
2. Exercise consistent judgement on performance status and the leadership response it requires.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MEASUREMENT VS MANAGEMENT (The core distinction)
FACILITATOR GUIDANCE</a:t>
            </a:r>
          </a:p>
          <a:p>
            <a:r>
              <a:rPr lang="en-GB" dirty="0"/>
              <a:t>The central problem (activity and progress): </a:t>
            </a:r>
          </a:p>
          <a:p>
            <a:r>
              <a:rPr lang="en-GB" dirty="0"/>
              <a:t>Performance Management Setup creates the visibility infrastructure that allows your organisation to see whether the work being done is actually moving the Key Results forward. Surveillance and pressure have no place in it.</a:t>
            </a:r>
          </a:p>
          <a:p>
            <a:endParaRPr lang="en-GB" dirty="0"/>
          </a:p>
          <a:p>
            <a:r>
              <a:rPr lang="en-GB" b="1" dirty="0"/>
              <a:t>Facilitator framing: </a:t>
            </a:r>
            <a:r>
              <a:rPr lang="en-GB" dirty="0"/>
              <a:t>When you introduce Performance Management Setup, ask leaders to clear their minds of the words “surveillance” and “pressure”. Ask them to picture the dashboard of a high-performance vehicle. </a:t>
            </a:r>
          </a:p>
          <a:p>
            <a:r>
              <a:rPr lang="en-GB" dirty="0"/>
              <a:t>A dashboard gives the driver accurate, real-time information so that they can make better decisions: whether to accelerate, adjust course, or pull over and refuel. </a:t>
            </a:r>
          </a:p>
          <a:p>
            <a:r>
              <a:rPr lang="en-GB" dirty="0"/>
              <a:t>It passes no judgement on the driver. </a:t>
            </a:r>
          </a:p>
          <a:p>
            <a:r>
              <a:rPr lang="en-GB" dirty="0"/>
              <a:t>The Performance Management system is the organisational equivalent: the visibility infrastructure of strategy execution.</a:t>
            </a:r>
          </a:p>
          <a:p>
            <a:endParaRPr lang="en-GB" dirty="0"/>
          </a:p>
          <a:p>
            <a:r>
              <a:rPr lang="en-GB" dirty="0"/>
              <a:t>This setup is about creating the infrastructure that answers that question with confidence. </a:t>
            </a:r>
          </a:p>
          <a:p>
            <a:r>
              <a:rPr lang="en-GB" dirty="0"/>
              <a:t>It is the leadership discipline of monitoring strategy in real time: how leaders decide whether to stay the course, pivot, or double down, based on hard evidence.</a:t>
            </a:r>
          </a:p>
          <a:p>
            <a:endParaRPr lang="en-GB" dirty="0"/>
          </a:p>
          <a:p>
            <a:r>
              <a:rPr lang="en-GB" dirty="0"/>
              <a:t>The goal of this section: to shift the perspective of your team. Performance management is often dreaded because it is viewed as a policing tool.</a:t>
            </a:r>
          </a:p>
          <a:p>
            <a:r>
              <a:rPr lang="en-GB" dirty="0"/>
              <a:t>We need to reframe it as the visibility infrastructure of organisational progress toward the Success in Practice.</a:t>
            </a:r>
          </a:p>
          <a:p>
            <a:r>
              <a:rPr lang="en-US" dirty="0"/>
              <a:t>
</a:t>
            </a:r>
            <a:r>
              <a:rPr lang="en-US" b="1" dirty="0"/>
              <a:t>Content:</a:t>
            </a:r>
            <a:r>
              <a:rPr lang="en-US" dirty="0"/>
              <a:t>
Performance management and performance measurement are distinct disciplines. </a:t>
            </a:r>
          </a:p>
          <a:p>
            <a:r>
              <a:rPr lang="en-US" dirty="0"/>
              <a:t>This distinction is the single most important conceptual anchor in Unit 6 — and the one most organisations get wrong.
</a:t>
            </a:r>
          </a:p>
          <a:p>
            <a:r>
              <a:rPr dirty="0"/>
              <a:t>Why the distinction comes first: Before exploring how to design a Performance Management system, leaders must first resolve a confusion that undermines execution in most organisations. </a:t>
            </a:r>
            <a:endParaRPr lang="en-ZA" dirty="0"/>
          </a:p>
          <a:p>
            <a:r>
              <a:rPr dirty="0"/>
              <a:t>The terms performance measurement and performance management are routinely used as if they mean the same thing, and treating them as interchangeable is one of the most common reasons that well-designed scorecards produce no change in execution.</a:t>
            </a:r>
          </a:p>
          <a:p>
            <a:endParaRPr dirty="0"/>
          </a:p>
          <a:p>
            <a:r>
              <a:rPr lang="en-US" b="1" dirty="0"/>
              <a:t>Measurement answers: </a:t>
            </a:r>
            <a:r>
              <a:rPr lang="en-US" dirty="0"/>
              <a:t>What happened? It is an input — data, results, scores, dashboards.
</a:t>
            </a:r>
          </a:p>
          <a:p>
            <a:r>
              <a:rPr lang="en-US" b="1" dirty="0"/>
              <a:t>Management answers: </a:t>
            </a:r>
            <a:r>
              <a:rPr lang="en-US" dirty="0"/>
              <a:t>What do we do about it? It is the leadership response that turns data into decisions, actions, and accountability.
</a:t>
            </a:r>
          </a:p>
          <a:p>
            <a:r>
              <a:rPr lang="en-US" dirty="0"/>
              <a:t>Most organisations have built sophisticated measurement systems and mistakenly believe they have performance management systems. </a:t>
            </a:r>
          </a:p>
          <a:p>
            <a:endParaRPr lang="en-US" dirty="0"/>
          </a:p>
          <a:p>
            <a:r>
              <a:rPr lang="en-US" dirty="0"/>
              <a:t>A measurement system without a management architecture produces reports. A management system converts those reports into movement.</a:t>
            </a:r>
          </a:p>
          <a:p>
            <a:endParaRPr lang="en-ZA" b="1" dirty="0"/>
          </a:p>
          <a:p>
            <a:r>
              <a:rPr b="1" dirty="0"/>
              <a:t>Performance measurement in full: </a:t>
            </a:r>
            <a:endParaRPr lang="en-ZA" b="1" dirty="0"/>
          </a:p>
          <a:p>
            <a:r>
              <a:rPr dirty="0"/>
              <a:t>Performance measurement is the act of collecting, tracking, and interpreting data about results. </a:t>
            </a:r>
            <a:endParaRPr lang="en-ZA" dirty="0"/>
          </a:p>
          <a:p>
            <a:r>
              <a:rPr dirty="0"/>
              <a:t>It provides the evidence of what has occurred. </a:t>
            </a:r>
            <a:endParaRPr lang="en-ZA" dirty="0"/>
          </a:p>
          <a:p>
            <a:r>
              <a:rPr dirty="0"/>
              <a:t>A measurement system captures complaint resolution times, decision cycle durations, collaboration rates, revenue attainment, customer satisfaction scores: the numbers that describe organisational reality at a given point in time.</a:t>
            </a:r>
            <a:endParaRPr lang="en-ZA" dirty="0"/>
          </a:p>
          <a:p>
            <a:endParaRPr dirty="0"/>
          </a:p>
          <a:p>
            <a:r>
              <a:rPr b="1" dirty="0"/>
              <a:t>Performance management in full: </a:t>
            </a:r>
            <a:endParaRPr lang="en-ZA" b="1" dirty="0"/>
          </a:p>
          <a:p>
            <a:r>
              <a:rPr dirty="0"/>
              <a:t>Performance management is the broader leadership discipline of using that data, combined with accountability structures, deliberate conversations, and timely decisions, to shape what happens next. </a:t>
            </a:r>
            <a:endParaRPr lang="en-ZA" dirty="0"/>
          </a:p>
          <a:p>
            <a:r>
              <a:rPr dirty="0"/>
              <a:t>It reaches beyond any report or dashboard: it is the leadership response to what measurement reveals. </a:t>
            </a:r>
            <a:endParaRPr lang="en-ZA" dirty="0"/>
          </a:p>
          <a:p>
            <a:r>
              <a:rPr dirty="0"/>
              <a:t>It answers a different and more consequential question than measurement does.</a:t>
            </a:r>
          </a:p>
          <a:p>
            <a:endParaRPr lang="en-ZA" dirty="0"/>
          </a:p>
          <a:p>
            <a:r>
              <a:rPr dirty="0"/>
              <a:t>Measurement is an input. </a:t>
            </a:r>
            <a:endParaRPr lang="en-ZA" dirty="0"/>
          </a:p>
          <a:p>
            <a:r>
              <a:rPr dirty="0"/>
              <a:t>Management is the response. </a:t>
            </a:r>
            <a:endParaRPr lang="en-ZA" dirty="0"/>
          </a:p>
          <a:p>
            <a:endParaRPr lang="en-ZA" dirty="0"/>
          </a:p>
          <a:p>
            <a:r>
              <a:rPr dirty="0"/>
              <a:t>One without the other produces either data without direction, or instinct without evidence.</a:t>
            </a:r>
          </a:p>
          <a:p>
            <a:endParaRPr dirty="0"/>
          </a:p>
          <a:p>
            <a:r>
              <a:rPr dirty="0"/>
              <a:t>A critical distinction for every leader: Many organisations invest heavily in measurement infrastructure (dashboards, platforms, KPI libraries) and very little in management discipline. </a:t>
            </a:r>
            <a:endParaRPr lang="en-ZA" dirty="0"/>
          </a:p>
          <a:p>
            <a:r>
              <a:rPr dirty="0"/>
              <a:t>The result is that data exists in abundance, but the conversations, decisions, and interventions that should follow from that data never </a:t>
            </a:r>
            <a:r>
              <a:rPr dirty="0" err="1"/>
              <a:t>materialise</a:t>
            </a:r>
            <a:r>
              <a:rPr dirty="0"/>
              <a:t>. Leaders look at numbers. The numbers do not change the work.</a:t>
            </a:r>
          </a:p>
          <a:p>
            <a:r>
              <a:rPr dirty="0"/>
              <a:t>The purpose of the Performance Management Setup in S2R® is to build both: a rigorous measurement architecture and a leadership management discipline that converts data into execution momentum.</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CORRECT SEQUENCE
Content:
</a:t>
            </a:r>
          </a:p>
          <a:p>
            <a:r>
              <a:rPr lang="en-GB" dirty="0"/>
              <a:t>Most organisations confuse activity with progress. People are busy. Initiatives are running. Reports are produced. </a:t>
            </a:r>
          </a:p>
          <a:p>
            <a:r>
              <a:rPr lang="en-GB" dirty="0"/>
              <a:t>Yet the fundamental question (are we closer to the Success in Practice today than we were last month?) is rarely answered with confidence.</a:t>
            </a:r>
            <a:endParaRPr lang="en-US" dirty="0"/>
          </a:p>
          <a:p>
            <a:endParaRPr lang="en-US" dirty="0"/>
          </a:p>
          <a:p>
            <a:r>
              <a:rPr lang="en-US" b="1" dirty="0"/>
              <a:t>The recommended Sequence</a:t>
            </a:r>
            <a:r>
              <a:rPr lang="en-US" dirty="0"/>
              <a:t>
</a:t>
            </a:r>
            <a:r>
              <a:rPr lang="en-US" b="1" dirty="0"/>
              <a:t>Step 1</a:t>
            </a:r>
            <a:r>
              <a:rPr lang="en-US" dirty="0"/>
              <a:t>
</a:t>
            </a:r>
            <a:r>
              <a:rPr lang="en-US" b="1" dirty="0"/>
              <a:t>Define Success</a:t>
            </a:r>
            <a:r>
              <a:rPr lang="en-US" dirty="0"/>
              <a:t>
Before any system is designed, leadership must be explicit about what success looks like. </a:t>
            </a:r>
          </a:p>
          <a:p>
            <a:r>
              <a:rPr lang="en-US" dirty="0"/>
              <a:t>What are we trying to achieve? By when? At what level of quality or scale? </a:t>
            </a:r>
          </a:p>
          <a:p>
            <a:r>
              <a:rPr lang="en-GB" dirty="0"/>
              <a:t>What does excellent performance look like in this role, at this level, in this organisation? </a:t>
            </a:r>
            <a:endParaRPr lang="en-US" dirty="0"/>
          </a:p>
          <a:p>
            <a:r>
              <a:rPr lang="en-US" dirty="0"/>
              <a:t>Without this, measurement has no target and management has no compass.</a:t>
            </a:r>
          </a:p>
          <a:p>
            <a:r>
              <a:rPr lang="en-US" dirty="0"/>
              <a:t>In this case the Key Results that were established from the SIP are the starting point of how to define the success.
</a:t>
            </a:r>
          </a:p>
          <a:p>
            <a:r>
              <a:rPr lang="en-US" b="1" dirty="0"/>
              <a:t>Step 2</a:t>
            </a:r>
            <a:r>
              <a:rPr lang="en-US" dirty="0"/>
              <a:t>
</a:t>
            </a:r>
            <a:r>
              <a:rPr lang="en-US" b="1" dirty="0"/>
              <a:t>Design the Management Architecture</a:t>
            </a:r>
            <a:r>
              <a:rPr lang="en-US" dirty="0"/>
              <a:t>
Design the system for managing toward success. What conversations will we have? How often? </a:t>
            </a:r>
          </a:p>
          <a:p>
            <a:r>
              <a:rPr lang="en-US" dirty="0"/>
              <a:t>Who is accountable? What decisions will be made, and by whom? </a:t>
            </a:r>
          </a:p>
          <a:p>
            <a:r>
              <a:rPr lang="en-GB" dirty="0"/>
              <a:t>What structure, ownership, accountability, cadence, and consequences will govern how we respond to performance data? </a:t>
            </a:r>
            <a:endParaRPr lang="en-US" dirty="0"/>
          </a:p>
          <a:p>
            <a:r>
              <a:rPr lang="en-US" dirty="0"/>
              <a:t>The management architecture must exist before measurement is collected — otherwise data accumulates with no system to act on it.
</a:t>
            </a:r>
          </a:p>
          <a:p>
            <a:r>
              <a:rPr lang="en-US" b="1" dirty="0"/>
              <a:t>Step 3</a:t>
            </a:r>
            <a:r>
              <a:rPr lang="en-US" dirty="0"/>
              <a:t>
</a:t>
            </a:r>
            <a:r>
              <a:rPr lang="en-US" b="1" dirty="0"/>
              <a:t>Design the Measurement Infrastructure</a:t>
            </a:r>
            <a:r>
              <a:rPr lang="en-US" dirty="0"/>
              <a:t>
Design the measurement tools that will feed the management system. </a:t>
            </a:r>
          </a:p>
          <a:p>
            <a:r>
              <a:rPr lang="en-US" dirty="0"/>
              <a:t>What data do we need? How frequently? In what format?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What gets tracked, how often, by whom, and in what format?</a:t>
            </a:r>
          </a:p>
          <a:p>
            <a:r>
              <a:rPr lang="en-US" dirty="0"/>
              <a:t>Measurement should serve the management conversations already defined.
</a:t>
            </a:r>
          </a:p>
          <a:p>
            <a:r>
              <a:rPr lang="en-US" b="1" dirty="0"/>
              <a:t>Step 4</a:t>
            </a:r>
            <a:r>
              <a:rPr lang="en-US" dirty="0"/>
              <a:t>
</a:t>
            </a:r>
            <a:r>
              <a:rPr lang="en-US" b="1" dirty="0"/>
              <a:t>Manage Using Data</a:t>
            </a:r>
            <a:r>
              <a:rPr lang="en-US" dirty="0"/>
              <a:t>
Execute the management system using measurement data as the evidence base for conversations, interventions, recognition, and course correction. This is where most organisations start — collecting data before having a system to use it.</a:t>
            </a:r>
          </a:p>
          <a:p>
            <a:r>
              <a:rPr lang="en-GB" dirty="0"/>
              <a:t>What conversations, decisions, interventions, and recognitions does this data require from us?</a:t>
            </a:r>
            <a:endParaRPr lang="en-US" dirty="0"/>
          </a:p>
          <a:p>
            <a:endParaRPr lang="en-US" dirty="0"/>
          </a:p>
          <a:p>
            <a:r>
              <a:rPr dirty="0"/>
              <a:t>Before an organisation can measure performance, it must define what it is measuring toward. </a:t>
            </a:r>
            <a:endParaRPr lang="en-ZA" dirty="0"/>
          </a:p>
          <a:p>
            <a:r>
              <a:rPr dirty="0"/>
              <a:t>Before it can manage performance, it needs agreed standards against which to manage.</a:t>
            </a:r>
          </a:p>
          <a:p>
            <a:endParaRPr dirty="0"/>
          </a:p>
          <a:p>
            <a:r>
              <a:rPr dirty="0"/>
              <a:t>Why the sequence matters: Many organisations build dashboards before they have built accountability. </a:t>
            </a:r>
            <a:endParaRPr lang="en-ZA" dirty="0"/>
          </a:p>
          <a:p>
            <a:r>
              <a:rPr dirty="0"/>
              <a:t>They measure everything and manage nothing. The data exists. The conversations do not.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FACES FRAMEWORK (Five functions of PM)
</a:t>
            </a:r>
            <a:r>
              <a:rPr lang="en-GB" dirty="0"/>
              <a:t>Many organisations treat their PM system as a black box: data goes in, a rating comes out, and no one is entirely certain how the two are connected. </a:t>
            </a:r>
          </a:p>
          <a:p>
            <a:r>
              <a:rPr lang="en-GB" dirty="0"/>
              <a:t>When leaders understand only the mechanics of the system (which fields to complete, which buttons to click, which columns to populate), the system feels like a compliance exercise. It generates administrative burden without generating execution intelligence.</a:t>
            </a:r>
          </a:p>
          <a:p>
            <a:endParaRPr lang="en-GB" dirty="0"/>
          </a:p>
          <a:p>
            <a:r>
              <a:rPr lang="en-GB" dirty="0"/>
              <a:t>When leaders understand the logic of performance management (why the system is designed the way it is, what each component is intended to surface, and how the pieces connect to strategy), the same system transforms into a lever for clarity, alignment, and execution visibility. </a:t>
            </a:r>
          </a:p>
          <a:p>
            <a:endParaRPr lang="en-GB" dirty="0"/>
          </a:p>
          <a:p>
            <a:r>
              <a:rPr lang="en-GB" dirty="0"/>
              <a:t>The question changes from “Did people complete the form?” to “Does our performance system actually tell us whether the strategy is working?” That is the perspective from which every leader in this programme must engage with their PM system.</a:t>
            </a:r>
          </a:p>
          <a:p>
            <a:r>
              <a:rPr lang="en-US" dirty="0"/>
              <a:t>
Content:
A complete performance management system serves five interconnected functions. </a:t>
            </a:r>
          </a:p>
          <a:p>
            <a:r>
              <a:rPr lang="en-US" dirty="0"/>
              <a:t>These are simultaneous functions that every well-designed PM system must perform.
</a:t>
            </a:r>
          </a:p>
          <a:p>
            <a:r>
              <a:rPr lang="en-US" b="1" dirty="0"/>
              <a:t>F- Foster a Results Culture</a:t>
            </a:r>
            <a:r>
              <a:rPr lang="en-US" dirty="0"/>
              <a:t>
The PM system must reinforce a culture in which results matter, are visible, and are celebrated or addressed consistently. </a:t>
            </a:r>
          </a:p>
          <a:p>
            <a:r>
              <a:rPr lang="en-US" dirty="0"/>
              <a:t>Culture is shaped by what gets measured, what gets discussed, and what gets rewarded.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Function: </a:t>
            </a:r>
            <a:r>
              <a:rPr lang="en-GB" dirty="0"/>
              <a:t>creates a fair and consistent environment where behaviours that produce tangible results are recognised and valued.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The problem it solves: </a:t>
            </a:r>
            <a:r>
              <a:rPr lang="en-GB" dirty="0"/>
              <a:t>without this, organisations inadvertently reward visibility, seniority, or effort over actual results. High performers become frustrated. Underperformance is quietly tolerated.</a:t>
            </a:r>
          </a:p>
          <a:p>
            <a:endParaRPr lang="en-US" dirty="0"/>
          </a:p>
          <a:p>
            <a:r>
              <a:rPr lang="en-US" dirty="0"/>
              <a:t>A PM system that avoids difficult conversations actively undermines results culture — no matter how sophisticated the dashboard.
Facilitation cue: “What does your PM system reward? Does it reward activity or results? Compliance or commitment?”
</a:t>
            </a:r>
          </a:p>
          <a:p>
            <a:r>
              <a:rPr lang="en-US" b="1" dirty="0"/>
              <a:t>A - Align Individual Performance</a:t>
            </a:r>
            <a:r>
              <a:rPr lang="en-US" dirty="0"/>
              <a:t>
Every individual must see a clear line of sight between their daily work and the organisation’s strategic outcomes. </a:t>
            </a:r>
          </a:p>
          <a:p>
            <a:r>
              <a:rPr lang="en-US" dirty="0"/>
              <a:t>Without this alignment, effort is misdirected. The PM system must decompose strategic outcomes into team and individual targets that are genuinely connected.</a:t>
            </a:r>
          </a:p>
          <a:p>
            <a:endParaRPr lang="en-US" dirty="0"/>
          </a:p>
          <a:p>
            <a:r>
              <a:rPr lang="en-GB" b="1" dirty="0"/>
              <a:t>Function: </a:t>
            </a:r>
            <a:r>
              <a:rPr lang="en-GB" dirty="0"/>
              <a:t>creates a clear line of sight so each individual understands how their daily actions directly contribute to enterprise outcomes. </a:t>
            </a:r>
          </a:p>
          <a:p>
            <a:r>
              <a:rPr lang="en-GB" b="1" dirty="0"/>
              <a:t>The problem it solves: </a:t>
            </a:r>
            <a:r>
              <a:rPr lang="en-GB" dirty="0"/>
              <a:t>without this, employees are disconnected from strategy. </a:t>
            </a:r>
          </a:p>
          <a:p>
            <a:r>
              <a:rPr lang="en-GB" dirty="0"/>
              <a:t>They complete tasks without understanding which tasks actually move the needle and which ones are simply keeping them busy</a:t>
            </a:r>
            <a:r>
              <a:rPr lang="en-US" dirty="0"/>
              <a:t>
</a:t>
            </a:r>
          </a:p>
          <a:p>
            <a:r>
              <a:rPr lang="en-US" b="1" dirty="0"/>
              <a:t>C - Create Measurement Transparency</a:t>
            </a:r>
            <a:r>
              <a:rPr lang="en-US" dirty="0"/>
              <a:t>
People perform at a higher level when they can see their own performance data and understand how it is calculated. </a:t>
            </a:r>
          </a:p>
          <a:p>
            <a:r>
              <a:rPr lang="en-US" dirty="0"/>
              <a:t>Transparency ensures that the logic of measurement is understood and trusted. </a:t>
            </a:r>
          </a:p>
          <a:p>
            <a:r>
              <a:rPr lang="en-US" dirty="0"/>
              <a:t>Hidden formulas and opaque scoring destroy confidence in the PM system.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Function</a:t>
            </a:r>
            <a:r>
              <a:rPr lang="en-GB" dirty="0"/>
              <a:t>: removes ambiguity in performance evaluation by making the logic, criteria, and expectations visible and understood by all.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The problem it solves</a:t>
            </a:r>
            <a:r>
              <a:rPr lang="en-GB" dirty="0"/>
              <a:t>: without this, performance reviews feel arbitrary. Employees do not know what is being measured, how it is weighted, or what “excellent” actually looks like in practice.</a:t>
            </a:r>
          </a:p>
          <a:p>
            <a:r>
              <a:rPr lang="en-US" dirty="0"/>
              <a:t>
</a:t>
            </a:r>
          </a:p>
          <a:p>
            <a:r>
              <a:rPr lang="en-US" b="1" dirty="0"/>
              <a:t>E - Embed Shared Accountability</a:t>
            </a:r>
            <a:r>
              <a:rPr lang="en-US" dirty="0"/>
              <a:t>
The PM system must embed accountability as a shared expectation. </a:t>
            </a:r>
          </a:p>
          <a:p>
            <a:r>
              <a:rPr lang="en-US" dirty="0"/>
              <a:t>Shared accountability means teams co-own the results — they participate in setting targets, understand the evidence, and are part of the intervention process. Systems that locate accountability solely in the leader create dependency and fragility.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Function: </a:t>
            </a:r>
            <a:r>
              <a:rPr lang="en-GB" dirty="0"/>
              <a:t>ensures every Key Result or KPI is explicitly owned, making accountability visible, traceable, and non-transferable.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The problem it solves</a:t>
            </a:r>
            <a:r>
              <a:rPr lang="en-GB" dirty="0"/>
              <a:t>: without this, Key Results are owned by committees, which means they are owned by no one. When there is no name next to a number, there is no accountability, only the appearance of it.</a:t>
            </a:r>
          </a:p>
          <a:p>
            <a:endParaRPr lang="en-US" dirty="0"/>
          </a:p>
          <a:p>
            <a:endParaRPr lang="en-US" dirty="0"/>
          </a:p>
          <a:p>
            <a:r>
              <a:rPr lang="en-US" b="1" dirty="0"/>
              <a:t>S- Support Continuous Development</a:t>
            </a:r>
            <a:r>
              <a:rPr lang="en-US" dirty="0"/>
              <a:t>
The PM system must identify what performance reveals about capability gaps, development needs, and growth trajectories. </a:t>
            </a:r>
          </a:p>
          <a:p>
            <a:r>
              <a:rPr lang="en-US" dirty="0"/>
              <a:t>Performance data is a development signal as well as an accountability score. </a:t>
            </a:r>
          </a:p>
          <a:p>
            <a:r>
              <a:rPr lang="en-US" dirty="0"/>
              <a:t>Leaders who use PM data only for ratings miss its most powerful application: designing targeted development that improves future performance.</a:t>
            </a:r>
          </a:p>
          <a:p>
            <a:endParaRPr lang="en-US" dirty="0"/>
          </a:p>
          <a:p>
            <a:r>
              <a:rPr lang="en-GB" b="1" dirty="0"/>
              <a:t>Function: </a:t>
            </a:r>
            <a:r>
              <a:rPr lang="en-GB" dirty="0"/>
              <a:t>shifts performance conversations from judgement to coaching, identifying targeted areas for individual growth and capability building. </a:t>
            </a:r>
          </a:p>
          <a:p>
            <a:r>
              <a:rPr lang="en-GB" b="1" dirty="0"/>
              <a:t>The problem it solves: </a:t>
            </a:r>
            <a:r>
              <a:rPr lang="en-GB" dirty="0"/>
              <a:t>without this, reviews are retrospective verdicts. Leaders deliver a rating and move on. </a:t>
            </a:r>
          </a:p>
          <a:p>
            <a:r>
              <a:rPr lang="en-GB" dirty="0"/>
              <a:t>The employee leaves knowing what score they received, with no guidance on what to do differently.</a:t>
            </a:r>
          </a:p>
          <a:p>
            <a:endParaRPr lang="en-GB"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well-designed PM system must perform five distinct functions. Each function addresses a specific organisational dysfunction that, left unresolved, quietly erodes execution discipline. These five functions form the FACES framework.</a:t>
            </a:r>
          </a:p>
          <a:p>
            <a:endParaRPr lang="en-US" dirty="0"/>
          </a:p>
          <a:p>
            <a:r>
              <a:rPr lang="en-US" b="1" dirty="0"/>
              <a:t>Reflection</a:t>
            </a:r>
            <a:r>
              <a:rPr lang="en-US" dirty="0"/>
              <a:t>
Participants are to rate their organisation’s current FCAES as they deem it is/
Participant file (1.2 — The FACES Framework) — prompts participants complete:
</a:t>
            </a:r>
          </a:p>
          <a:p>
            <a:endParaRPr dirty="0"/>
          </a:p>
          <a:p>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THREE SIGHTS OF PROGRESS (What gets measured)
FACILITATOR GUIDANCE</a:t>
            </a:r>
          </a:p>
          <a:p>
            <a:r>
              <a:rPr lang="en-US" dirty="0"/>
              <a:t>There are three </a:t>
            </a:r>
            <a:r>
              <a:rPr lang="en-ZA" sz="1200" b="0" i="0" kern="1200" dirty="0">
                <a:solidFill>
                  <a:schemeClr val="tx1"/>
                </a:solidFill>
                <a:effectLst/>
                <a:latin typeface="+mn-lt"/>
                <a:ea typeface="+mn-ea"/>
                <a:cs typeface="+mn-cs"/>
              </a:rPr>
              <a:t>three main distinct categories</a:t>
            </a:r>
            <a:r>
              <a:rPr lang="en-US" dirty="0"/>
              <a:t> sights of progress that a leader must have visibility on.</a:t>
            </a:r>
          </a:p>
          <a:p>
            <a:r>
              <a:rPr lang="en-ZA" sz="1200" b="0" i="0" kern="1200" dirty="0">
                <a:solidFill>
                  <a:schemeClr val="tx1"/>
                </a:solidFill>
                <a:effectLst/>
                <a:latin typeface="+mn-lt"/>
                <a:ea typeface="+mn-ea"/>
                <a:cs typeface="+mn-cs"/>
              </a:rPr>
              <a:t>Each sight provides a different angle on whether the organisation is progressing toward its strategic intent.</a:t>
            </a:r>
          </a:p>
          <a:p>
            <a:r>
              <a:rPr lang="en-US" dirty="0"/>
              <a:t>
</a:t>
            </a:r>
            <a:r>
              <a:rPr lang="en-US" b="1" dirty="0"/>
              <a:t>Content:</a:t>
            </a:r>
            <a:r>
              <a:rPr lang="en-US" dirty="0"/>
              <a:t>
A well-designed PM system tracks performance across three distinct categories. </a:t>
            </a:r>
          </a:p>
          <a:p>
            <a:r>
              <a:rPr lang="en-US" dirty="0"/>
              <a:t>Each sight provides a different angle on whether the organisation is progressing toward its strategic intent. </a:t>
            </a:r>
          </a:p>
          <a:p>
            <a:r>
              <a:rPr lang="en-US" dirty="0"/>
              <a:t>At the individual level, weightings are assigned according to role and function.
</a:t>
            </a:r>
          </a:p>
          <a:p>
            <a:r>
              <a:rPr lang="en-US" b="1" dirty="0"/>
              <a:t>Sight 1</a:t>
            </a:r>
            <a:r>
              <a:rPr lang="en-US" dirty="0"/>
              <a:t>
</a:t>
            </a:r>
            <a:r>
              <a:rPr lang="en-US" b="1" dirty="0"/>
              <a:t>Strategy Category</a:t>
            </a:r>
            <a:r>
              <a:rPr lang="en-US" dirty="0"/>
              <a:t>
This sight asks: Are we making progress on the things that matter most for where we are going?</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Purpose: </a:t>
            </a:r>
            <a:r>
              <a:rPr lang="en-GB" dirty="0"/>
              <a:t>focuses on the organisation’s strategic priorities. Measures whether leaders are delivering the Key Results linked to enterprise OKRs that define the organisation’s future direction.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Typical measurement inputs</a:t>
            </a:r>
            <a:r>
              <a:rPr lang="en-GB" dirty="0"/>
              <a:t>: strategic OKRs, cross-functional initiatives, transformation milestones, enterprise impact metrics.</a:t>
            </a:r>
          </a:p>
          <a:p>
            <a:r>
              <a:rPr lang="en-US" dirty="0"/>
              <a:t>Typically 30–50% at senior levels; lower for frontline roles. Reviewed quarterly with executive visibility.
</a:t>
            </a:r>
          </a:p>
          <a:p>
            <a:r>
              <a:rPr lang="en-US" b="1" dirty="0"/>
              <a:t>Sight 2</a:t>
            </a:r>
            <a:r>
              <a:rPr lang="en-US" dirty="0"/>
              <a:t>
</a:t>
            </a:r>
            <a:r>
              <a:rPr lang="en-US" b="1" dirty="0"/>
              <a:t>Operational Category</a:t>
            </a:r>
            <a:r>
              <a:rPr lang="en-US" dirty="0"/>
              <a:t>
What it measures
</a:t>
            </a:r>
            <a:r>
              <a:rPr lang="en-US" b="1" dirty="0"/>
              <a:t>This sight asks: </a:t>
            </a:r>
            <a:r>
              <a:rPr lang="en-US" dirty="0"/>
              <a:t>Are our operations performing at the standard required to sustain strategy?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Purpose: </a:t>
            </a:r>
            <a:r>
              <a:rPr lang="en-GB" dirty="0"/>
              <a:t>represents the execution engine of the organisation.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Measures how effectively leaders manage the core responsibilities of their role, including quality, efficiency, and service delivery.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Typical measurement inputs: </a:t>
            </a:r>
            <a:r>
              <a:rPr lang="en-GB" dirty="0"/>
              <a:t>department KPIs, service levels, productivity, operational efficiency, budget adherence.</a:t>
            </a:r>
          </a:p>
          <a:p>
            <a:endParaRPr lang="en-US" dirty="0"/>
          </a:p>
          <a:p>
            <a:r>
              <a:rPr lang="en-US" dirty="0"/>
              <a:t>Typically 30–50% across most role levels; highest for frontline and specialist roles. Reviewed monthly or fortnightly.
</a:t>
            </a:r>
          </a:p>
          <a:p>
            <a:r>
              <a:rPr lang="en-US" b="1" dirty="0"/>
              <a:t>Sight 3</a:t>
            </a:r>
            <a:r>
              <a:rPr lang="en-US" dirty="0"/>
              <a:t>
Behavioural &amp; Values Alignment
How results are achieved matters as much as what results are achieved.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Purpose: </a:t>
            </a:r>
            <a:r>
              <a:rPr lang="en-GB" dirty="0"/>
              <a:t>ensures that performance is achieved in a way that strengthens the organisation’s culture and leadership standards.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Evaluates whether people consistently demonstrate the organisation’s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Typical measurement inputs</a:t>
            </a:r>
            <a:r>
              <a:rPr lang="en-GB" dirty="0"/>
              <a:t>: 360° feedback, demonstrated behaviours in daily interactions.</a:t>
            </a:r>
          </a:p>
          <a:p>
            <a:r>
              <a:rPr lang="en-US" dirty="0"/>
              <a:t>
Typically 5 – 10% across role levels; higher for leadership and customer-facing roles. </a:t>
            </a:r>
          </a:p>
          <a:p>
            <a:r>
              <a:rPr lang="en-US" dirty="0"/>
              <a:t>Assessed bi-annually or annually via structured 360°.</a:t>
            </a:r>
          </a:p>
          <a:p>
            <a:endParaRPr lang="en-US" dirty="0"/>
          </a:p>
          <a:p>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1–5 RATING SCALE (Ratings &amp; leadership responses)
FACILITATOR GUIDANCE
</a:t>
            </a:r>
            <a:r>
              <a:rPr lang="en-ZA" dirty="0"/>
              <a:t>A good performance management system reduces subjectivity in how people’s performance is evaluated. </a:t>
            </a:r>
          </a:p>
          <a:p>
            <a:r>
              <a:rPr lang="en-ZA" dirty="0"/>
              <a:t>It gives managers a common language for discussing contribution, results, behaviour and development.</a:t>
            </a:r>
          </a:p>
          <a:p>
            <a:r>
              <a:rPr lang="en-ZA" dirty="0"/>
              <a:t>That is why many organisations use a numbered rating system. The number is meant to create consistency. </a:t>
            </a:r>
          </a:p>
          <a:p>
            <a:r>
              <a:rPr lang="en-ZA" dirty="0"/>
              <a:t>It helps managers avoid vague judgements such as “doing well”, “not trying hard enough”, or “needs improvement” without evidence.</a:t>
            </a:r>
          </a:p>
          <a:p>
            <a:r>
              <a:rPr lang="en-US" dirty="0"/>
              <a:t>
</a:t>
            </a:r>
            <a:r>
              <a:rPr lang="en-US" b="1" dirty="0"/>
              <a:t>Content:</a:t>
            </a:r>
            <a:r>
              <a:rPr lang="en-US" dirty="0"/>
              <a:t>
</a:t>
            </a:r>
            <a:r>
              <a:rPr lang="en-ZA" dirty="0"/>
              <a:t>But the rating scale only works when everyone understands what each number means.</a:t>
            </a:r>
          </a:p>
          <a:p>
            <a:endParaRPr lang="en-ZA" dirty="0"/>
          </a:p>
          <a:p>
            <a:r>
              <a:rPr lang="en-ZA" dirty="0"/>
              <a:t>For example, a rating of </a:t>
            </a:r>
            <a:r>
              <a:rPr lang="en-ZA" b="1" dirty="0"/>
              <a:t>3</a:t>
            </a:r>
            <a:r>
              <a:rPr lang="en-ZA" dirty="0"/>
              <a:t> should not mean “average” to one manager, “safe” to another manager, and “not good enough” to another. </a:t>
            </a:r>
          </a:p>
          <a:p>
            <a:r>
              <a:rPr lang="en-ZA" dirty="0"/>
              <a:t>If the meaning is unclear, the system becomes subjective again, even though it looks objective.</a:t>
            </a:r>
          </a:p>
          <a:p>
            <a:endParaRPr lang="en-ZA" dirty="0"/>
          </a:p>
          <a:p>
            <a:r>
              <a:rPr lang="en-ZA" dirty="0"/>
              <a:t>The real value of a rating scale is not the number itself. The value is in the leadership action that follows the number.</a:t>
            </a:r>
          </a:p>
          <a:p>
            <a:endParaRPr lang="en-ZA" dirty="0"/>
          </a:p>
          <a:p>
            <a:r>
              <a:rPr lang="en-GB" dirty="0"/>
              <a:t>To maintain objectivity within the Performance Management system, organisations use a standardised scoring scale, typically a 1 to 5 scale. </a:t>
            </a:r>
          </a:p>
          <a:p>
            <a:r>
              <a:rPr lang="en-GB" dirty="0"/>
              <a:t>This scale defines, in precise and measurable terms, what each rating represents, ensuring a common language of performance that transcends departmental boundaries and minimises individual manager bias.</a:t>
            </a:r>
          </a:p>
          <a:p>
            <a:endParaRPr lang="en-GB" dirty="0"/>
          </a:p>
          <a:p>
            <a:r>
              <a:rPr lang="en-GB" dirty="0"/>
              <a:t>Each point on the scale is clearly defined with explicit performance descriptors and criteria. </a:t>
            </a:r>
          </a:p>
          <a:p>
            <a:r>
              <a:rPr lang="en-GB" dirty="0"/>
              <a:t>This ensures that ratings are based on demonstrated evidence of performance against agreed expectations, with subjective judgement removed. </a:t>
            </a:r>
          </a:p>
          <a:p>
            <a:r>
              <a:rPr lang="en-GB" dirty="0"/>
              <a:t>The scale is applied at an individual level across all performance components, with ratings assigned based on verifiable outcomes, behavioural demonstration, and delivery against Key Results or KPIs.</a:t>
            </a:r>
          </a:p>
          <a:p>
            <a:endParaRPr lang="en-GB" dirty="0"/>
          </a:p>
          <a:p>
            <a:r>
              <a:rPr lang="en-GB" dirty="0"/>
              <a:t>By anchoring performance in clearly defined standards, the system achieves three critical outcomes:</a:t>
            </a:r>
          </a:p>
          <a:p>
            <a:r>
              <a:rPr lang="en-GB" dirty="0"/>
              <a:t>- Personal bias is significantly reduced: ratings can be challenged and defended against explicit criteria, which take the place of managerial opinion.</a:t>
            </a:r>
          </a:p>
          <a:p>
            <a:r>
              <a:rPr lang="en-GB" dirty="0"/>
              <a:t>- A shared language of performance is established across teams and functions: a “3” means the same thing in Finance as it does in Operations.</a:t>
            </a:r>
          </a:p>
          <a:p>
            <a:r>
              <a:rPr lang="en-GB" dirty="0"/>
              <a:t>- Evaluation becomes consistent, comparable, and defensible, enabling fair decisions on rewards, development, and advancement</a:t>
            </a:r>
            <a:endParaRPr lang="en-ZA" dirty="0"/>
          </a:p>
          <a:p>
            <a:endParaRPr lang="en-ZA" dirty="0"/>
          </a:p>
          <a:p>
            <a:r>
              <a:rPr lang="en-ZA" dirty="0"/>
              <a:t>A rating should trigger a clear leadership response.</a:t>
            </a:r>
          </a:p>
          <a:p>
            <a:r>
              <a:rPr lang="en-ZA" dirty="0"/>
              <a:t>If performance is strong, the response may be recognition, stretch opportunities, succession consideration, or increased responsibility.</a:t>
            </a:r>
          </a:p>
          <a:p>
            <a:r>
              <a:rPr lang="en-ZA" dirty="0"/>
              <a:t>If performance is acceptable but not growing, the response may be coaching, clearer goals, or a development plan.</a:t>
            </a:r>
          </a:p>
          <a:p>
            <a:r>
              <a:rPr lang="en-ZA" dirty="0"/>
              <a:t>If performance is weak, the response may be closer supervision, targeted support, performance improvement actions, or consequences where needed.</a:t>
            </a:r>
          </a:p>
          <a:p>
            <a:endParaRPr lang="en-ZA" dirty="0"/>
          </a:p>
          <a:p>
            <a:r>
              <a:rPr lang="en-ZA" dirty="0"/>
              <a:t>So the question is not only:</a:t>
            </a:r>
          </a:p>
          <a:p>
            <a:r>
              <a:rPr lang="en-ZA" b="1" dirty="0"/>
              <a:t>What rating did this person receive?</a:t>
            </a:r>
            <a:endParaRPr lang="en-ZA" dirty="0"/>
          </a:p>
          <a:p>
            <a:endParaRPr lang="en-ZA" dirty="0"/>
          </a:p>
          <a:p>
            <a:r>
              <a:rPr lang="en-ZA" dirty="0"/>
              <a:t>The more important leadership question is:</a:t>
            </a:r>
          </a:p>
          <a:p>
            <a:r>
              <a:rPr lang="en-ZA" b="1" dirty="0"/>
              <a:t>What must we now do because of this rating?</a:t>
            </a:r>
            <a:endParaRPr lang="en-ZA" dirty="0"/>
          </a:p>
          <a:p>
            <a:r>
              <a:rPr lang="en-ZA" dirty="0"/>
              <a:t>That is why a rating scale only has value if it is consistently understood and if each rating leads to a defined leadership response that addresses current performance, whether the performance is good, average, declining or poor. </a:t>
            </a:r>
          </a:p>
          <a:p>
            <a:r>
              <a:rPr lang="en-ZA" dirty="0"/>
              <a:t>Otherwise, the rating becomes a label, not a management tool.</a:t>
            </a:r>
          </a:p>
          <a:p>
            <a:r>
              <a:rPr lang="en-US" dirty="0"/>
              <a:t>
</a:t>
            </a:r>
            <a:r>
              <a:rPr lang="en-US" b="1" dirty="0"/>
              <a:t>Explain examples of leadership responses</a:t>
            </a:r>
          </a:p>
          <a:p>
            <a:r>
              <a:rPr lang="en-US" b="1" dirty="0"/>
              <a:t>Rating 1 — Poor</a:t>
            </a:r>
            <a:r>
              <a:rPr lang="en-US" dirty="0"/>
              <a:t>
Leadership response: Immediate PIP within 30 days
Definition: Performance is significantly below the minimum standard. Output is insufficient, quality is unacceptable, or behaviour is actively damaging.
Leadership response: Immediate intervention. A formal performance improvement plan within 30 days. </a:t>
            </a:r>
          </a:p>
          <a:p>
            <a:r>
              <a:rPr lang="en-US" dirty="0"/>
              <a:t>Weekly check-ins. Assess whether the gap is capability, motivation, or role-fit. </a:t>
            </a:r>
          </a:p>
          <a:p>
            <a:r>
              <a:rPr lang="en-US" dirty="0"/>
              <a:t>A Rating 1 sustained beyond 60 days without visible movement is a role-fit decision.
</a:t>
            </a:r>
          </a:p>
          <a:p>
            <a:r>
              <a:rPr lang="en-US" b="1" dirty="0"/>
              <a:t>Rating 2 — Needs Improvement</a:t>
            </a:r>
            <a:r>
              <a:rPr lang="en-US" dirty="0"/>
              <a:t>
Leadership response: Structured development plan
Definition: Performance is below the expected standard in one or more significant areas. </a:t>
            </a:r>
          </a:p>
          <a:p>
            <a:r>
              <a:rPr lang="en-US" dirty="0"/>
              <a:t>The individual shows some capability but has consistent gaps in output, quality, or behaviour.
Leadership response: Structured development plan with specific targets and milestones. Fortnightly check-ins. Clear articulation of the standard required to achieve a Rating 3 by the next review cycle.
</a:t>
            </a:r>
          </a:p>
          <a:p>
            <a:r>
              <a:rPr lang="en-US" b="1" dirty="0"/>
              <a:t>Rating 3 — Meets Expectations SOLID GOLD</a:t>
            </a:r>
            <a:r>
              <a:rPr lang="en-US" dirty="0"/>
              <a:t>
Leadership response: Recognition &amp; retention conversation
Definition: Performance fully meets the standard expected for this role, at this level, in this context. </a:t>
            </a:r>
          </a:p>
          <a:p>
            <a:r>
              <a:rPr lang="en-US" dirty="0"/>
              <a:t>Output is consistent, quality is reliable, behaviour is aligned. This is exactly what the role requires.
Leadership response: Recognition of consistent contribution. Exploration of growth aspirations — without implying that remaining at a 3 is a failure. Many exceptional contributors are sustainably and appropriately at a 3.
</a:t>
            </a:r>
          </a:p>
          <a:p>
            <a:r>
              <a:rPr lang="en-US" b="1" dirty="0"/>
              <a:t>Rating 4 — Exceeds Expectations</a:t>
            </a:r>
            <a:r>
              <a:rPr lang="en-US" dirty="0"/>
              <a:t>
Leadership response: Stretch opportunities; retention investment
Definition: Performance consistently goes beyond what the role requires. </a:t>
            </a:r>
          </a:p>
          <a:p>
            <a:r>
              <a:rPr lang="en-US" dirty="0"/>
              <a:t>The individual proactively adds value, solves problems beyond their mandate, and elevates the team. A Rating 4 is a pattern.
Leadership response: Explicit recognition and visibility with senior leadership. Conversation about stretch opportunities, expanded scope, or accelerated development. Failure to invest in a sustained Rating 4 is a retention risk.
</a:t>
            </a:r>
          </a:p>
          <a:p>
            <a:r>
              <a:rPr lang="en-ZA" sz="1200" b="1" i="0" kern="1200" dirty="0">
                <a:solidFill>
                  <a:schemeClr val="tx1"/>
                </a:solidFill>
                <a:effectLst/>
                <a:latin typeface="+mn-lt"/>
                <a:ea typeface="+mn-ea"/>
                <a:cs typeface="+mn-cs"/>
              </a:rPr>
              <a:t>Rating 5 - Outstanding</a:t>
            </a:r>
            <a:r>
              <a:rPr lang="en-US" dirty="0"/>
              <a:t>
Leadership response: Mandatory structural follow-through
Definition: Performance is transformational within the context of the role. </a:t>
            </a:r>
          </a:p>
          <a:p>
            <a:r>
              <a:rPr lang="en-US" dirty="0"/>
              <a:t>The individual exceeds their own targets and demonstrably elevates others and advances the organisation. </a:t>
            </a:r>
          </a:p>
          <a:p>
            <a:r>
              <a:rPr lang="en-US" dirty="0"/>
              <a:t>A Rating 5 is rare and must be ratified.
Leadership response: A Rating 5 carries a leadership obligation — increased scope, a promotion discussion, a compensation review, or a high-impact project assignment. A Rating 5 acknowledged verbally with no structural follow-through is a trust-destroying event. </a:t>
            </a:r>
          </a:p>
          <a:p>
            <a:r>
              <a:rPr lang="en-US" dirty="0"/>
              <a:t>The individual will note that outstanding performance produced no change — and will adjust their effort accordingly.
</a:t>
            </a:r>
            <a:r>
              <a:rPr lang="en-US" b="1" dirty="0"/>
              <a:t>Ratings do not guarantee desired execution.</a:t>
            </a:r>
          </a:p>
          <a:p>
            <a:r>
              <a:rPr dirty="0"/>
              <a:t>Organisations fail because consistent execution is missing. </a:t>
            </a:r>
            <a:endParaRPr lang="en-ZA" dirty="0"/>
          </a:p>
          <a:p>
            <a:r>
              <a:rPr dirty="0"/>
              <a:t>Strategy depends on the ability of the majority of the organisation to deliver reliably over time. </a:t>
            </a:r>
            <a:endParaRPr lang="en-ZA" dirty="0"/>
          </a:p>
          <a:p>
            <a:r>
              <a:rPr dirty="0"/>
              <a:t>Without this stability, even the strongest strategy will not translate into results, and no strategy survives contact with execution.</a:t>
            </a:r>
          </a:p>
          <a:p>
            <a:r>
              <a:rPr dirty="0"/>
              <a:t>A small number of high performers cannot compensate for widespread inconsistency. </a:t>
            </a:r>
            <a:endParaRPr lang="en-ZA" dirty="0"/>
          </a:p>
          <a:p>
            <a:r>
              <a:rPr dirty="0"/>
              <a:t>Sustainable performance is built on a strong base of individuals who consistently meet expectations.</a:t>
            </a:r>
          </a:p>
          <a:p>
            <a:endParaRPr lang="en-ZA" dirty="0"/>
          </a:p>
          <a:p>
            <a:r>
              <a:rPr dirty="0"/>
              <a:t>Leaders must therefore reinforce that: a rating of 3 is the standard of professional performance; it is the baseline required for effective execution; higher ratings (4 and 5) represent differentiation beyond this foundation and do not replace it. </a:t>
            </a:r>
            <a:endParaRPr lang="en-ZA" dirty="0"/>
          </a:p>
          <a:p>
            <a:r>
              <a:rPr dirty="0"/>
              <a:t>Reinforce this with your teams: a 3 is the foundation on which everything else is built.</a:t>
            </a:r>
          </a:p>
          <a:p>
            <a:r>
              <a:rPr dirty="0"/>
              <a:t>When this framing is understood and applied consistently: ratings become credible and meaningful; performance conversations become honest and grounded in evidence; the organisation builds a stable execution engine capable of delivering strategy.</a:t>
            </a:r>
          </a:p>
          <a:p>
            <a:endParaRPr dirty="0"/>
          </a:p>
          <a:p>
            <a:r>
              <a:rPr b="1" dirty="0"/>
              <a:t>The impact of a calibrated system: </a:t>
            </a:r>
            <a:endParaRPr lang="en-ZA" b="1" dirty="0"/>
          </a:p>
          <a:p>
            <a:r>
              <a:rPr dirty="0"/>
              <a:t>When a performance management system is functioning correctly, the performance review becomes a no-surprise event. </a:t>
            </a:r>
            <a:endParaRPr lang="en-ZA" dirty="0"/>
          </a:p>
          <a:p>
            <a:r>
              <a:rPr dirty="0"/>
              <a:t>Because the criteria are transparent and the weighting is predetermined, team members understand exactly where they stand at any given moment. They know what is being measured, how much it counts, and what each rating means, including what leadership will do in response.</a:t>
            </a:r>
          </a:p>
          <a:p>
            <a:endParaRPr lang="en-ZA" dirty="0"/>
          </a:p>
          <a:p>
            <a:r>
              <a:rPr b="1" dirty="0"/>
              <a:t>This transparency produces three powerful shifts in the organisational dynamic:</a:t>
            </a:r>
          </a:p>
          <a:p>
            <a:r>
              <a:rPr b="1" dirty="0"/>
              <a:t>- Strategic Transparency: </a:t>
            </a:r>
            <a:r>
              <a:rPr dirty="0"/>
              <a:t>Every employee sees exactly how their specific contribution fuels the enterprise’s broader strategic goals. </a:t>
            </a:r>
            <a:endParaRPr lang="en-ZA" dirty="0"/>
          </a:p>
          <a:p>
            <a:r>
              <a:rPr dirty="0"/>
              <a:t>The line of sight between individual effort and organisational outcome becomes visible and motivating.</a:t>
            </a:r>
          </a:p>
          <a:p>
            <a:endParaRPr lang="en-ZA" dirty="0"/>
          </a:p>
          <a:p>
            <a:r>
              <a:rPr b="1" dirty="0"/>
              <a:t>- Shift in Dynamics: </a:t>
            </a:r>
            <a:r>
              <a:rPr dirty="0"/>
              <a:t>The relationship between a leader and their team evolves from one of top-down oversight to one of shared investment in a common outcome. The scorecard becomes a shared tool and stops being a judgement handed down from above.</a:t>
            </a:r>
          </a:p>
          <a:p>
            <a:endParaRPr lang="en-ZA" dirty="0"/>
          </a:p>
          <a:p>
            <a:r>
              <a:rPr b="1" dirty="0"/>
              <a:t>- Pathways to Excellence: </a:t>
            </a:r>
            <a:r>
              <a:rPr dirty="0"/>
              <a:t>The rating scale provides a clear roadmap for growth, showing exactly what is required to move from one level to the next. Ambition becomes actionable.</a:t>
            </a:r>
          </a:p>
          <a:p>
            <a:r>
              <a:rPr dirty="0"/>
              <a:t>By anchoring ratings in clear descriptors and decision triggers, the organisation replaces subjective, instinct-based assessment with a rigorous, high-alignment framework that drives execution.</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BFC6E-42A0-1F61-2B7D-ADFEDB7DD7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A89898-728D-30F6-3B9B-BFE2555FC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2A0B58-86BB-63CA-BA7F-E9CD6AB90C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1.5 — </a:t>
            </a:r>
            <a:r>
              <a:rPr lang="en-GB" b="1" dirty="0"/>
              <a:t>The impact of a calibrated system: </a:t>
            </a:r>
          </a:p>
          <a:p>
            <a:endParaRPr lang="en-US" dirty="0"/>
          </a:p>
          <a:p>
            <a:r>
              <a:rPr lang="en-US" b="1" dirty="0"/>
              <a:t>Ratings do not guarantee desired execution.</a:t>
            </a:r>
          </a:p>
          <a:p>
            <a:r>
              <a:rPr dirty="0"/>
              <a:t>Organisations fail because consistent execution is missing. </a:t>
            </a:r>
            <a:endParaRPr lang="en-ZA" dirty="0"/>
          </a:p>
          <a:p>
            <a:r>
              <a:rPr dirty="0"/>
              <a:t>Strategy depends on the ability of the majority of the organisation to deliver reliably over time. </a:t>
            </a:r>
            <a:endParaRPr lang="en-ZA" dirty="0"/>
          </a:p>
          <a:p>
            <a:r>
              <a:rPr dirty="0"/>
              <a:t>Without this stability, even the strongest strategy will not translate into results, and no strategy survives contact with execution.</a:t>
            </a:r>
          </a:p>
          <a:p>
            <a:r>
              <a:rPr dirty="0"/>
              <a:t>A small number of high performers cannot compensate for widespread inconsistency. </a:t>
            </a:r>
            <a:endParaRPr lang="en-ZA" dirty="0"/>
          </a:p>
          <a:p>
            <a:r>
              <a:rPr dirty="0"/>
              <a:t>Sustainable performance is built on a strong base of individuals who consistently meet expectations.</a:t>
            </a:r>
          </a:p>
          <a:p>
            <a:endParaRPr lang="en-ZA" dirty="0"/>
          </a:p>
          <a:p>
            <a:r>
              <a:rPr dirty="0"/>
              <a:t>Leaders must therefore reinforce that: a rating of 3 is the standard of professional performance; it is the baseline required for effective execution; higher ratings (4 and 5) represent differentiation beyond this foundation and do not replace it. </a:t>
            </a:r>
            <a:endParaRPr lang="en-ZA" dirty="0"/>
          </a:p>
          <a:p>
            <a:r>
              <a:rPr dirty="0"/>
              <a:t>Reinforce this with your teams: a 3 is the foundation on which everything else is built.</a:t>
            </a:r>
          </a:p>
          <a:p>
            <a:r>
              <a:rPr dirty="0"/>
              <a:t>When this framing is understood and applied consistently: ratings become credible and meaningful; performance conversations become honest and grounded in evidence; the organisation builds a stable execution engine capable of delivering strategy.</a:t>
            </a:r>
          </a:p>
          <a:p>
            <a:endParaRPr dirty="0"/>
          </a:p>
          <a:p>
            <a:r>
              <a:rPr dirty="0"/>
              <a:t>When a performance management system is functioning correctly, the performance review becomes a no-surprise event. </a:t>
            </a:r>
            <a:endParaRPr lang="en-ZA" dirty="0"/>
          </a:p>
          <a:p>
            <a:r>
              <a:rPr dirty="0"/>
              <a:t>Because the criteria are transparent and the weighting is predetermined, team members understand exactly where they stand at any given moment. They know what is being measured, how much it counts, and what each rating means, including what leadership will do in response.</a:t>
            </a:r>
          </a:p>
          <a:p>
            <a:endParaRPr lang="en-ZA" dirty="0"/>
          </a:p>
          <a:p>
            <a:r>
              <a:rPr b="1" dirty="0"/>
              <a:t>This transparency produces three powerful shifts in the organisational dynamic:</a:t>
            </a:r>
          </a:p>
          <a:p>
            <a:r>
              <a:rPr b="1" dirty="0"/>
              <a:t>- Strategic Transparency: </a:t>
            </a:r>
            <a:r>
              <a:rPr dirty="0"/>
              <a:t>Every employee sees exactly how their specific contribution fuels the enterprise’s broader strategic goals. </a:t>
            </a:r>
            <a:endParaRPr lang="en-ZA" dirty="0"/>
          </a:p>
          <a:p>
            <a:r>
              <a:rPr dirty="0"/>
              <a:t>The line of sight between individual effort and organisational outcome becomes visible and motivating.</a:t>
            </a:r>
          </a:p>
          <a:p>
            <a:endParaRPr lang="en-ZA" dirty="0"/>
          </a:p>
          <a:p>
            <a:r>
              <a:rPr b="1" dirty="0"/>
              <a:t>- Shift in Dynamics: </a:t>
            </a:r>
            <a:r>
              <a:rPr dirty="0"/>
              <a:t>The relationship between a leader and their team evolves from one of top-down oversight to one of shared investment in a common outcome. The scorecard becomes a shared tool and stops being a judgement handed down from above.</a:t>
            </a:r>
          </a:p>
          <a:p>
            <a:endParaRPr lang="en-ZA" dirty="0"/>
          </a:p>
          <a:p>
            <a:r>
              <a:rPr b="1" dirty="0"/>
              <a:t>- Pathways to Excellence: </a:t>
            </a:r>
            <a:r>
              <a:rPr dirty="0"/>
              <a:t>The rating scale provides a clear roadmap for growth, showing exactly what is required to move from one level to the next. Ambition becomes actionable.</a:t>
            </a:r>
          </a:p>
          <a:p>
            <a:r>
              <a:rPr dirty="0"/>
              <a:t>By anchoring ratings in clear descriptors and decision triggers, the organisation replaces subjective, instinct-based assessment with a rigorous, high-alignment framework that drives execution.</a:t>
            </a:r>
          </a:p>
          <a:p>
            <a:endParaRPr dirty="0"/>
          </a:p>
          <a:p>
            <a:endParaRPr dirty="0"/>
          </a:p>
        </p:txBody>
      </p:sp>
      <p:sp>
        <p:nvSpPr>
          <p:cNvPr id="4" name="Slide Number Placeholder 3">
            <a:extLst>
              <a:ext uri="{FF2B5EF4-FFF2-40B4-BE49-F238E27FC236}">
                <a16:creationId xmlns:a16="http://schemas.microsoft.com/office/drawing/2014/main" id="{C771D8C2-8EBD-B67B-D08E-399F9DA0D00B}"/>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1588676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ZA" sz="1200" b="0" i="0" kern="1200" dirty="0">
                <a:solidFill>
                  <a:schemeClr val="tx1"/>
                </a:solidFill>
                <a:effectLst/>
                <a:latin typeface="+mn-lt"/>
                <a:ea typeface="+mn-ea"/>
                <a:cs typeface="+mn-cs"/>
              </a:rPr>
              <a:t>Thinking about your current team or role: which rating most accurately reflects the performance standard you are measuring toward? What does the leadership response to that rating look like in practice?</a:t>
            </a:r>
            <a:endParaRPr lang="en-GB"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PM as an Execution Bridge
Understanding the structural logic of how performance management connects strategy to individual action, and why most PM systems fail to make that connection.
Section learning outcomes:
1. Define how performance management connects enterprise outcomes to individual accountability.
2. Evaluate whether current performance arrangements build compliance or commitment.
Time: the facilitator file gives no suggested time for this section.</a:t>
            </a:r>
          </a:p>
          <a:p>
            <a:endParaRPr lang="en-US" dirty="0"/>
          </a:p>
          <a:p>
            <a:r>
              <a:rPr dirty="0"/>
              <a:t>Source detail (S2R® manuscript):</a:t>
            </a:r>
          </a:p>
          <a:p>
            <a:endParaRPr dirty="0"/>
          </a:p>
          <a:p>
            <a:r>
              <a:rPr dirty="0"/>
              <a:t>Where this section sits: Performance management is the intelligence layer that determines whether the high-level organisational objectives actually translate into observable progress, or whether they remain aspirational statements in a presentation deck that is reviewed at the beginning of the year and quietly forgotten by the middle of it.</a:t>
            </a:r>
            <a:endParaRPr lang="en-ZA" dirty="0"/>
          </a:p>
          <a:p>
            <a:endParaRPr dirty="0"/>
          </a:p>
          <a:p>
            <a:r>
              <a:rPr dirty="0"/>
              <a:t>Moving from strategy design to execution requires a bridge. </a:t>
            </a:r>
            <a:endParaRPr lang="en-ZA" dirty="0"/>
          </a:p>
          <a:p>
            <a:r>
              <a:rPr dirty="0"/>
              <a:t>Without this bridge, strategic goals may be intellectually coherent but operationally invisible. </a:t>
            </a:r>
            <a:endParaRPr lang="en-ZA" dirty="0"/>
          </a:p>
          <a:p>
            <a:r>
              <a:rPr dirty="0"/>
              <a:t>They exist in language that leadership understands, but that language has not been translated into the daily decisions, priorities, and habits of the people responsible for delivery.</a:t>
            </a:r>
            <a:endParaRPr lang="en-ZA" dirty="0"/>
          </a:p>
          <a:p>
            <a:endParaRPr dirty="0"/>
          </a:p>
          <a:p>
            <a:r>
              <a:rPr dirty="0"/>
              <a:t>The primary purpose of performance management is to build and sustain that bridge, ensuring that every ounce of individual effort contributes to the organisation’s strategic direction. </a:t>
            </a:r>
            <a:endParaRPr lang="en-ZA" dirty="0"/>
          </a:p>
          <a:p>
            <a:r>
              <a:rPr dirty="0"/>
              <a:t>Without it, organisations generate what might be called random acts of excellence: genuine effort, real capability, strong intentions, none of which reliably move the needle.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 — PM AS THE EXECUTION BRIDGE (Four bridge functions)</a:t>
            </a:r>
            <a:r>
              <a:rPr lang="en-US" dirty="0"/>
              <a:t>
</a:t>
            </a:r>
            <a:r>
              <a:rPr lang="en-US" b="1" dirty="0"/>
              <a:t>Content:</a:t>
            </a:r>
            <a:r>
              <a:rPr lang="en-US" dirty="0"/>
              <a:t>
A performance management system performs four critical bridging functions between strategy and execution. </a:t>
            </a:r>
          </a:p>
          <a:p>
            <a:r>
              <a:rPr lang="en-US" dirty="0"/>
              <a:t>When any one is missing, the bridge develops a structural gap — and strategy leaks through it.
</a:t>
            </a:r>
          </a:p>
          <a:p>
            <a:r>
              <a:rPr lang="en-US" b="1" dirty="0"/>
              <a:t>Bridge 1</a:t>
            </a:r>
            <a:r>
              <a:rPr lang="en-US" dirty="0"/>
              <a:t>
</a:t>
            </a:r>
            <a:r>
              <a:rPr lang="en-US" b="1" dirty="0"/>
              <a:t>Decomposing the Big Picture</a:t>
            </a:r>
            <a:r>
              <a:rPr lang="en-US" dirty="0"/>
              <a:t>
Strategy lives at the enterprise level. PM translates it into progressively smaller, actionable units: enterprise outcomes → business unit contributions → team targets → individual responsibilities.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Breaking each Key Result into functional measurable delivery signals: the specific, daily contributions required from every team.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Strategy descends from the enterprise level to the desk and floor level.</a:t>
            </a:r>
          </a:p>
          <a:p>
            <a:r>
              <a:rPr lang="en-US" dirty="0"/>
              <a:t>Without decomposition, strategy remains a declaration and never becomes a task.</a:t>
            </a:r>
          </a:p>
          <a:p>
            <a:r>
              <a:rPr lang="en-US" dirty="0"/>
              <a:t>
</a:t>
            </a:r>
          </a:p>
          <a:p>
            <a:r>
              <a:rPr lang="en-US" b="1" dirty="0"/>
              <a:t>Bridge 2</a:t>
            </a:r>
            <a:r>
              <a:rPr lang="en-US" dirty="0"/>
              <a:t>
</a:t>
            </a:r>
            <a:r>
              <a:rPr lang="en-US" b="1" dirty="0"/>
              <a:t>Defining the Logic of Success</a:t>
            </a:r>
            <a:r>
              <a:rPr lang="en-US" dirty="0"/>
              <a:t>
The PM system must make explicit what “success” looks like at each level — as a measurable, observable outcome with defined evidence.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Establishing exactly how performance is measured, where the data comes from, and which levers carry the most weight.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removes ambiguity and ensures that the rules of the game are agreed before the game is played.</a:t>
            </a:r>
          </a:p>
          <a:p>
            <a:r>
              <a:rPr lang="en-US" dirty="0"/>
              <a:t>When the logic of success is ambiguous, individuals define it for themselves — and those self-definitions are rarely aligned.
</a:t>
            </a:r>
          </a:p>
          <a:p>
            <a:r>
              <a:rPr lang="en-US" b="1" dirty="0"/>
              <a:t>Bridge 3</a:t>
            </a:r>
            <a:r>
              <a:rPr lang="en-US" dirty="0"/>
              <a:t>
</a:t>
            </a:r>
            <a:r>
              <a:rPr lang="en-US" b="1" dirty="0"/>
              <a:t>Calibrating the Rhythm</a:t>
            </a:r>
            <a:r>
              <a:rPr lang="en-US" dirty="0"/>
              <a:t>
Strategy operates on an annual or multi-year timeline. Individual performance operates daily. </a:t>
            </a:r>
          </a:p>
          <a:p>
            <a:r>
              <a:rPr lang="en-US" dirty="0"/>
              <a:t>The PM system must establish a structured rhythm connecting these timelines. </a:t>
            </a:r>
          </a:p>
          <a:p>
            <a:r>
              <a:rPr lang="en-US" dirty="0"/>
              <a:t>Without rhythm, PM becomes an isolated event.
</a:t>
            </a:r>
            <a:r>
              <a:rPr lang="en-GB" dirty="0"/>
              <a:t>Setting incremental targets so that leaders are never guessing about whether they are on track.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calculation logic is straightforward, and it tells the leadership team exactly what “on track” looks like every single month.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Progress per Period = (End Target − Baseline) ÷ Number of Periods</a:t>
            </a:r>
          </a:p>
          <a:p>
            <a:r>
              <a:rPr lang="en-US" dirty="0"/>
              <a:t>This establishes the expected incremental progress in each review period, creating a visible trajectory through the year.
</a:t>
            </a:r>
          </a:p>
          <a:p>
            <a:r>
              <a:rPr lang="en-US" b="1" dirty="0"/>
              <a:t>Bridge 4</a:t>
            </a:r>
            <a:r>
              <a:rPr lang="en-US" dirty="0"/>
              <a:t>
</a:t>
            </a:r>
            <a:r>
              <a:rPr lang="en-US" b="1" dirty="0"/>
              <a:t>Structuring the Dialogue</a:t>
            </a:r>
            <a:r>
              <a:rPr lang="en-US" dirty="0"/>
              <a:t>
Data without conversation is noise. The PM system must structure the dialogue that turns performance data into decisions. </a:t>
            </a:r>
          </a:p>
          <a:p>
            <a:r>
              <a:rPr lang="en-US" dirty="0"/>
              <a:t>Define: who speaks, how frequently, about what, and with what authority to decide.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Establishing a cadence for reviews so that performance updates become active leadership conversations: structured moments where the team asks what this data means and what to do next. A performance update is more than a data entry.</a:t>
            </a:r>
          </a:p>
          <a:p>
            <a:r>
              <a:rPr lang="en-US" dirty="0"/>
              <a:t>The quality of the PM conversation is the quality of the PM system.
</a:t>
            </a:r>
            <a:r>
              <a:rPr b="1" dirty="0"/>
              <a:t>How the PM system builds the bridge: </a:t>
            </a:r>
            <a:endParaRPr lang="en-ZA" b="1" dirty="0"/>
          </a:p>
          <a:p>
            <a:r>
              <a:rPr dirty="0"/>
              <a:t>Performance management frameworks create a line of sight: a direct, visible connection between enterprise strategy and individual contribution. When this line of sight exists, performance management becomes a motivational system and stops being a compliance exercise. </a:t>
            </a:r>
            <a:endParaRPr lang="en-ZA" dirty="0"/>
          </a:p>
          <a:p>
            <a:r>
              <a:rPr dirty="0"/>
              <a:t>An employee can sit down on a Monday morning and understand precisely how their work connects to the organisation’s most critical outcomes.</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2.2 — COMPLIANCE VS COMMITMENT ARCHITECTURE (The design choice)</a:t>
            </a:r>
            <a:r>
              <a:rPr lang="en-US" dirty="0"/>
              <a:t>
</a:t>
            </a:r>
            <a:r>
              <a:rPr lang="en-US" b="1" dirty="0"/>
              <a:t>Content:</a:t>
            </a:r>
            <a:r>
              <a:rPr lang="en-US" dirty="0"/>
              <a:t>
Every PM system is built on one of two architectural orientations: compliance or commitment. </a:t>
            </a:r>
          </a:p>
          <a:p>
            <a:r>
              <a:rPr lang="en-US" dirty="0"/>
              <a:t>The choice is rarely made explicitly — but it is always made. The six dimensions below reveal which architecture is currently operating.
Dimension
△ Compliance
△ Commitment
</a:t>
            </a:r>
          </a:p>
          <a:p>
            <a:r>
              <a:rPr lang="en-ZA" dirty="0"/>
              <a:t>A</a:t>
            </a:r>
            <a:r>
              <a:rPr dirty="0"/>
              <a:t> PM system fails when it is built solely for compliance, using pressure and monitoring to force results.</a:t>
            </a:r>
            <a:endParaRPr lang="en-ZA" dirty="0"/>
          </a:p>
          <a:p>
            <a:endParaRPr lang="en-ZA" dirty="0"/>
          </a:p>
          <a:p>
            <a:r>
              <a:rPr lang="en-ZA" dirty="0"/>
              <a:t>In a compliance approach, performance management is mainly about control. The leader checks whether minimum standards have been met. The tone is assessment and judgement. Underperformance is treated as a problem to correct. The employee often experiences the process as something done to them.</a:t>
            </a:r>
          </a:p>
          <a:p>
            <a:r>
              <a:rPr lang="en-ZA" dirty="0"/>
              <a:t>That can produce anxiety. People may comply, but they may not necessarily take ownership.</a:t>
            </a:r>
          </a:p>
          <a:p>
            <a:endParaRPr lang="en-ZA" dirty="0"/>
          </a:p>
          <a:p>
            <a:r>
              <a:rPr lang="en-ZA" dirty="0"/>
              <a:t>In a commitment approach, performance management still has standards. It does not mean lowering accountability. The difference is that accountability is treated as shared work. The leader facilitates clarity, problem-solving and progress. The conversation asks, “What will help this person or team perform better?”</a:t>
            </a:r>
          </a:p>
          <a:p>
            <a:r>
              <a:rPr lang="en-ZA" dirty="0"/>
              <a:t>That creates a different experience. The employee is more likely to understand the result, own the gap, participate in the recovery plan, and take pride in improvement.</a:t>
            </a:r>
          </a:p>
          <a:p>
            <a:r>
              <a:rPr dirty="0"/>
              <a:t> </a:t>
            </a:r>
          </a:p>
          <a:p>
            <a:r>
              <a:rPr dirty="0"/>
              <a:t>A critical point for every leader in the room: Performance Management is a leadership discipline. It is the continuous monitoring of strategic intent. When a leader delegates performance management entirely to HR, they have effectively delegated responsibility for strategy execution, and surrendered their ability to know whether the strategy is working.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LEADER VS TEAM: A CRITICAL DISTINCTION (Who is measured on what)
One of the most frequently misunderstood aspects of performance management is the distinction between how a team is measured and how its leader is measured. </a:t>
            </a:r>
          </a:p>
          <a:p>
            <a:endParaRPr lang="en-US" dirty="0"/>
          </a:p>
          <a:p>
            <a:r>
              <a:rPr lang="en-US" dirty="0"/>
              <a:t>Conflating the two creates misaligned incentives and obscures accountability.
</a:t>
            </a:r>
            <a:r>
              <a:rPr lang="en-ZA" dirty="0"/>
              <a:t>The team and the leader are not measured in exactly the same way. </a:t>
            </a:r>
          </a:p>
          <a:p>
            <a:r>
              <a:rPr lang="en-ZA" dirty="0"/>
              <a:t>The team is measured on the activities, outputs and behaviours delivered within the review period. </a:t>
            </a:r>
          </a:p>
          <a:p>
            <a:r>
              <a:rPr lang="en-ZA" dirty="0"/>
              <a:t>This looks at what was done, how it was done, whether deliverables were completed, the quality of the work, and the behaviours demonstrated during the month or quarter. </a:t>
            </a:r>
          </a:p>
          <a:p>
            <a:endParaRPr lang="en-ZA" dirty="0"/>
          </a:p>
          <a:p>
            <a:r>
              <a:rPr lang="en-ZA" dirty="0"/>
              <a:t>The leader is measured on the cumulative outcome trajectory across the full performance cycle. T</a:t>
            </a:r>
          </a:p>
          <a:p>
            <a:r>
              <a:rPr lang="en-ZA" dirty="0"/>
              <a:t>his means asking whether the work being completed is moving the team or organisation towards the year-end target. </a:t>
            </a:r>
          </a:p>
          <a:p>
            <a:r>
              <a:rPr lang="en-ZA" dirty="0"/>
              <a:t>The evidence for the leader is therefore not only task completion, but cumulative progress, the gap to target and the direction of performance over time. </a:t>
            </a:r>
          </a:p>
          <a:p>
            <a:endParaRPr lang="en-ZA" dirty="0"/>
          </a:p>
          <a:p>
            <a:r>
              <a:rPr lang="en-ZA" dirty="0"/>
              <a:t>The practical implication is that a team can complete every planned activity on time and still be off track in terms of the outcome. </a:t>
            </a:r>
          </a:p>
          <a:p>
            <a:r>
              <a:rPr lang="en-ZA" dirty="0"/>
              <a:t>In that case, the team may be performing well at activity level, but the leader still carries accountability for ensuring that the work is producing the results the strategy requires.</a:t>
            </a:r>
          </a:p>
          <a:p>
            <a:endParaRPr dirty="0"/>
          </a:p>
          <a:p>
            <a:r>
              <a:rPr b="1" dirty="0"/>
              <a:t>Example: </a:t>
            </a:r>
            <a:endParaRPr lang="en-ZA" b="1" dirty="0"/>
          </a:p>
          <a:p>
            <a:r>
              <a:rPr dirty="0"/>
              <a:t>The strategic goal is to reduce complaint resolution time from 48 hours to 12 hours.</a:t>
            </a:r>
          </a:p>
          <a:p>
            <a:r>
              <a:rPr dirty="0"/>
              <a:t>The team is measured on their daily processing speed, quality of resolution, and adherence to handling protocols.</a:t>
            </a:r>
          </a:p>
          <a:p>
            <a:endParaRPr lang="en-ZA" dirty="0"/>
          </a:p>
          <a:p>
            <a:r>
              <a:rPr dirty="0"/>
              <a:t>The leader is measured on the steady, cumulative reduction in cycle time (the −0.42 hours of improvement per week) that demonstrates the strategy is gaining traction. If the team is active but the number is not moving, the leader must intervene.</a:t>
            </a:r>
          </a:p>
          <a:p>
            <a:endParaRPr lang="en-ZA" dirty="0"/>
          </a:p>
          <a:p>
            <a:endParaRPr lang="en-ZA" dirty="0"/>
          </a:p>
          <a:p>
            <a:endParaRPr lang="en-ZA" dirty="0"/>
          </a:p>
          <a:p>
            <a:endParaRPr lang="en-ZA"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F6BA0-E7AB-A655-2E2A-CCE575D99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BD8149-DAFF-72C3-1ADB-4584DEEB0E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9093DE9-FD6A-ADA8-2C17-F5C138C8DB5C}"/>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ZA" sz="1200" b="0" i="0" kern="1200" dirty="0">
                <a:solidFill>
                  <a:schemeClr val="tx1"/>
                </a:solidFill>
                <a:effectLst/>
                <a:latin typeface="+mn-lt"/>
                <a:ea typeface="+mn-ea"/>
                <a:cs typeface="+mn-cs"/>
              </a:rPr>
              <a:t>Thinking about your current PM</a:t>
            </a:r>
          </a:p>
          <a:p>
            <a:pPr marL="0" marR="0" lvl="0" indent="0" algn="l" defTabSz="914400" rtl="0" eaLnBrk="1" fontAlgn="auto" latinLnBrk="0" hangingPunct="1">
              <a:lnSpc>
                <a:spcPct val="100000"/>
              </a:lnSpc>
              <a:spcBef>
                <a:spcPts val="0"/>
              </a:spcBef>
              <a:spcAft>
                <a:spcPts val="0"/>
              </a:spcAft>
              <a:buClrTx/>
              <a:buSzTx/>
              <a:buFontTx/>
              <a:buNone/>
              <a:tabLst/>
              <a:defRPr/>
            </a:pPr>
            <a:r>
              <a:rPr lang="en-ZA" dirty="0"/>
              <a:t>Does our current PM provide this distinction between the team or individual evaluation and the leaders in this manner based on execution progress for the team member vs progress towards strategic outcome or key Result for the leader. If not what would be my contribution to closing this gap. </a:t>
            </a:r>
          </a:p>
          <a:p>
            <a:endParaRPr lang="en-GB" dirty="0"/>
          </a:p>
        </p:txBody>
      </p:sp>
      <p:sp>
        <p:nvSpPr>
          <p:cNvPr id="4" name="Slide Number Placeholder 3">
            <a:extLst>
              <a:ext uri="{FF2B5EF4-FFF2-40B4-BE49-F238E27FC236}">
                <a16:creationId xmlns:a16="http://schemas.microsoft.com/office/drawing/2014/main" id="{20C37BDB-52AC-DD44-21B0-06B042996A53}"/>
              </a:ext>
            </a:extLst>
          </p:cNvPr>
          <p:cNvSpPr>
            <a:spLocks noGrp="1"/>
          </p:cNvSpPr>
          <p:nvPr>
            <p:ph type="sldNum" sz="quarter" idx="5"/>
          </p:nvPr>
        </p:nvSpPr>
        <p:spPr/>
      </p:sp>
    </p:spTree>
    <p:extLst>
      <p:ext uri="{BB962C8B-B14F-4D97-AF65-F5344CB8AC3E}">
        <p14:creationId xmlns:p14="http://schemas.microsoft.com/office/powerpoint/2010/main" val="35623950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PM in the Executive Context
Extending PM architecture to the enterprise level: how executive teams align their measurement signals, where execution gaps emerge, and how industry context is shifting.
Section learning outcomes:
1. Recognise each executive role’s contribution to the evidence of enterprise progress.
2. Evaluate the execution gaps that prevent performance arrangements from supporting strategic priorities.
Time: the facilitator file gives no suggested time for this section.</a:t>
            </a:r>
          </a:p>
          <a:p>
            <a:endParaRPr lang="en-US" dirty="0"/>
          </a:p>
          <a:p>
            <a:r>
              <a:t>Source detail (S2R® manuscript):</a:t>
            </a:r>
          </a:p>
          <a:p>
            <a:endParaRPr/>
          </a:p>
          <a:p>
            <a:r>
              <a:t>Where this section sits: Performance management becomes fragile when success is measured in silos. If every department builds its own dashboard in isolation, the enterprise strategy dissolves into a collection of competing priorities, each legitimate within its own boundary, none of them aligned to a common direction.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ALIGNMENT BRIGADE (Executive team as PM system)
</a:t>
            </a:r>
            <a:r>
              <a:rPr dirty="0"/>
              <a:t>Every leader carries deep professional instincts about what “progress” looks like. </a:t>
            </a:r>
            <a:endParaRPr lang="en-ZA" dirty="0"/>
          </a:p>
          <a:p>
            <a:r>
              <a:rPr dirty="0"/>
              <a:t>A CFO sees progress in the margins.</a:t>
            </a:r>
            <a:endParaRPr lang="en-ZA" dirty="0"/>
          </a:p>
          <a:p>
            <a:r>
              <a:rPr dirty="0"/>
              <a:t> A CTO sees it in system uptime and deployment velocity.</a:t>
            </a:r>
            <a:endParaRPr lang="en-ZA" dirty="0"/>
          </a:p>
          <a:p>
            <a:r>
              <a:rPr dirty="0"/>
              <a:t> A CHRO sees it in engagement scores and leadership capability. </a:t>
            </a:r>
            <a:endParaRPr lang="en-ZA" dirty="0"/>
          </a:p>
          <a:p>
            <a:r>
              <a:rPr dirty="0"/>
              <a:t>These instincts are valuable, but if they are not </a:t>
            </a:r>
            <a:r>
              <a:rPr dirty="0" err="1"/>
              <a:t>synchronised</a:t>
            </a:r>
            <a:r>
              <a:rPr dirty="0"/>
              <a:t>, they create measurement imbalances that fragment the organisation’s understanding of its own performance.</a:t>
            </a:r>
          </a:p>
          <a:p>
            <a:endParaRPr lang="en-ZA" dirty="0"/>
          </a:p>
          <a:p>
            <a:r>
              <a:rPr dirty="0"/>
              <a:t>The </a:t>
            </a:r>
            <a:r>
              <a:rPr lang="en-ZA" dirty="0"/>
              <a:t>leader’s </a:t>
            </a:r>
            <a:r>
              <a:rPr dirty="0"/>
              <a:t> role is to ensure that these individual signals of success resonate together as a single, coherent enterprise system. </a:t>
            </a:r>
            <a:endParaRPr lang="en-ZA" dirty="0"/>
          </a:p>
          <a:p>
            <a:r>
              <a:rPr dirty="0"/>
              <a:t>By identifying the PM Hot Zones (the areas where each executive role naturally focuses its measurement attention), the leadership team can design a performance architecture that keeps the entire organisation moving in one direction.</a:t>
            </a:r>
          </a:p>
          <a:p>
            <a:endParaRPr lang="en-ZA" dirty="0"/>
          </a:p>
          <a:p>
            <a:r>
              <a:rPr lang="en-US" dirty="0"/>
              <a:t>Invite participants to work through their own role card first, then two closely related roles</a:t>
            </a:r>
          </a:p>
          <a:p>
            <a:endParaRPr lang="en-US" dirty="0"/>
          </a:p>
          <a:p>
            <a:r>
              <a:rPr lang="en-GB" b="1" dirty="0"/>
              <a:t>Natural bias and alignment contribution of each role:</a:t>
            </a:r>
          </a:p>
          <a:p>
            <a:r>
              <a:rPr lang="en-GB" dirty="0"/>
              <a:t>CEO · Enterprise Visibility. Natural bias: growth, milestones, and market position. Alignment contribution: connects the Big Picture organisational goals to functional execution signals across all departments.</a:t>
            </a:r>
          </a:p>
          <a:p>
            <a:endParaRPr lang="en-GB" dirty="0"/>
          </a:p>
          <a:p>
            <a:r>
              <a:rPr lang="en-GB" dirty="0"/>
              <a:t>CFO · Financial Signals. Natural bias: revenue, cost discipline, and ROI. Alignment contribution: links financial health to the operational drivers that create value, as well as to the outcomes they produce.</a:t>
            </a:r>
          </a:p>
          <a:p>
            <a:endParaRPr lang="en-GB" dirty="0"/>
          </a:p>
          <a:p>
            <a:r>
              <a:rPr lang="en-GB" dirty="0"/>
              <a:t>COO · Execution Rhythm. Natural bias: throughput, cycle times, and reliability. Alignment contribution: creates a sustainable and measurable pace of work that actually reaches strategic targets.</a:t>
            </a:r>
          </a:p>
          <a:p>
            <a:endParaRPr lang="en-GB" dirty="0"/>
          </a:p>
          <a:p>
            <a:r>
              <a:rPr lang="en-GB" dirty="0"/>
              <a:t>CHRO · Capability &amp; Behaviour. Natural bias: engagement and leadership effectiveness. Alignment contribution: ensures the “how” (culture) and the “who” (skills and capability) support execution.</a:t>
            </a:r>
          </a:p>
          <a:p>
            <a:endParaRPr lang="en-GB" dirty="0"/>
          </a:p>
          <a:p>
            <a:r>
              <a:rPr lang="en-GB" dirty="0"/>
              <a:t>CTO/CIO · System Enablement. Natural bias: system reliability and digital deployment. Alignment contribution: ensures that the data used for performance management is accurate, timely, and visible.</a:t>
            </a:r>
          </a:p>
          <a:p>
            <a:endParaRPr lang="en-GB" dirty="0"/>
          </a:p>
          <a:p>
            <a:r>
              <a:rPr lang="en-GB" dirty="0"/>
              <a:t>CMO · Market Signal. Natural bias: brand awareness and customer sentiment. Alignment contribution: measures the customer journey from first contact to long-term advocacy.</a:t>
            </a:r>
          </a:p>
          <a:p>
            <a:endParaRPr lang="en-GB" dirty="0"/>
          </a:p>
          <a:p>
            <a:r>
              <a:rPr lang="en-GB" dirty="0"/>
              <a:t>CCO · Revenue Velocity. Natural bias: pipeline strength and conversion speed. Alignment contribution: focuses on long-term customer value ahead of short-term transactional results.</a:t>
            </a:r>
          </a:p>
          <a:p>
            <a:endParaRPr lang="en-GB" dirty="0"/>
          </a:p>
          <a:p>
            <a:r>
              <a:rPr lang="en-GB" dirty="0"/>
              <a:t>CPO · Supply Reliability. Natural bias: procurement efficiency and resource flow. Alignment contribution: aligns supply chain and resource availability with the organisation’s actual execution capacity.</a:t>
            </a:r>
          </a:p>
          <a:p>
            <a:endParaRPr lang="en-GB" dirty="0"/>
          </a:p>
          <a:p>
            <a:r>
              <a:rPr lang="en-GB" dirty="0"/>
              <a:t>CRO · Risk &amp; Governance. Natural bias: compliance and operational risk signals. Alignment contribution: weaves stability and governance discipline into the way results are delivered.</a:t>
            </a:r>
          </a:p>
          <a:p>
            <a:endParaRPr lang="en-GB" dirty="0"/>
          </a:p>
          <a:p>
            <a:r>
              <a:rPr lang="en-GB" dirty="0"/>
              <a:t>CSO · Strategic Coherence. Natural bias: milestone tracking and initiative health. Alignment contribution: prevents measurement drift and keeps the enterprise anchored to the original strategic intent.</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THE THREE EXECUTION GAPS (Where PM breaks down)
</a:t>
            </a:r>
            <a:r>
              <a:rPr lang="en-US" b="1" dirty="0"/>
              <a:t>Content:</a:t>
            </a:r>
            <a:r>
              <a:rPr lang="en-US" dirty="0"/>
              <a:t>
</a:t>
            </a:r>
            <a:r>
              <a:rPr lang="en-GB" dirty="0"/>
              <a:t>The risk of the isolated measure: When leadership roles stop talking to each other and begin looking only at their own functional charts, three dangerous execution gaps appear, each capable of undermining strategy delivery even when individual departments are performing well.</a:t>
            </a:r>
          </a:p>
          <a:p>
            <a:r>
              <a:rPr lang="en-US" dirty="0"/>
              <a:t>
</a:t>
            </a:r>
            <a:r>
              <a:rPr lang="en-US" b="1" dirty="0"/>
              <a:t>Gap 1: Competing Definitions of Progress</a:t>
            </a:r>
            <a:r>
              <a:rPr lang="en-US" dirty="0"/>
              <a:t>
Different functions or leaders are using different definitions of what constitutes progress — finance says margin, operations says throughput, sales says pipeline. </a:t>
            </a:r>
          </a:p>
          <a:p>
            <a:r>
              <a:rPr lang="en-US" dirty="0"/>
              <a:t>Without a unified definition of progress at the enterprise level, each function optimises its own metric at the expense of collective momentum.
Intervention: Establish an enterprise progress definition in the executive PM session. Agree on the three to five metrics that, if achieved, confirm the strategy is working. Everything else is a supporting indicator.
</a:t>
            </a:r>
          </a:p>
          <a:p>
            <a:r>
              <a:rPr lang="en-US" b="1" dirty="0"/>
              <a:t>Gap 2: Measurement Blind Spots</a:t>
            </a:r>
            <a:r>
              <a:rPr lang="en-US" dirty="0"/>
              <a:t>
The organisation is systematically not measuring something that matters.</a:t>
            </a:r>
          </a:p>
          <a:p>
            <a:r>
              <a:rPr lang="en-US" dirty="0"/>
              <a:t> Common blind spots: quality of cross-functional collaboration, health of the leadership pipeline, customer experience at key touchpoints. What is not measured is not managed — and eventually becomes a crisis.
Intervention: Map the current measurement system against the Three Sights of Progress. Ask: “What would we need to see to know our strategy is working before the financial results confirm it?”
</a:t>
            </a:r>
          </a:p>
          <a:p>
            <a:r>
              <a:rPr lang="en-US" b="1" dirty="0"/>
              <a:t>Gap 3: Incentive Misalignment</a:t>
            </a:r>
            <a:r>
              <a:rPr lang="en-US" dirty="0"/>
              <a:t>
The incentive structure rewards behaviour inconsistent with the strategic intent. </a:t>
            </a:r>
          </a:p>
          <a:p>
            <a:r>
              <a:rPr lang="en-US" dirty="0"/>
              <a:t>Leaders are rewarded for short-term financial performance while the strategy requires long-term capability investment. People follow the incentives. When incentives and strategy diverge, strategy loses.
Intervention: Audit the current incentive structure against strategic priorities. Redesign to reward the behaviours the strategy actually requires. Where are incentives producing the wrong behaviour? Which strategic priorities have no incentive attached?
</a:t>
            </a:r>
            <a:endParaRPr dirty="0"/>
          </a:p>
          <a:p>
            <a:r>
              <a:rPr b="1" dirty="0"/>
              <a:t>The leadership imperative</a:t>
            </a:r>
            <a:r>
              <a:rPr dirty="0"/>
              <a:t>: Performance management is a collective discipline. </a:t>
            </a:r>
            <a:endParaRPr lang="en-ZA" dirty="0"/>
          </a:p>
          <a:p>
            <a:r>
              <a:rPr dirty="0"/>
              <a:t>While each leader brings a specialised perspective to the table, the goal is to weave those perspectives into a single Source of Truth: one agreed enterprise progress signal that the entire leadership team reads and interprets together. </a:t>
            </a:r>
            <a:endParaRPr lang="en-ZA" dirty="0"/>
          </a:p>
          <a:p>
            <a:r>
              <a:rPr dirty="0"/>
              <a:t>This ensures that when the organisation says it is making progress, it means it from every angle of the business, well beyond the one angle that is performing best this quarter.</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 — THE CONTINUOUS PM SHIFT (Industry context)
</a:t>
            </a:r>
            <a:r>
              <a:rPr lang="en-GB" dirty="0"/>
              <a:t>The shift in design logic: The design logic of performance management is evolving rapidly. For decades, organisations relied on the annual performance review as the primary mechanism for evaluating performance. </a:t>
            </a:r>
          </a:p>
          <a:p>
            <a:r>
              <a:rPr lang="en-GB" dirty="0"/>
              <a:t>That model is now being systematically replaced by Continuous Performance Management: a real-time, feedback-rich approach to monitoring and guiding execution.</a:t>
            </a:r>
          </a:p>
          <a:p>
            <a:r>
              <a:rPr lang="en-GB" dirty="0"/>
              <a:t>Research across global organisations reveals a clear and accelerating shift, and organisations using continuous feedback structures report significantly higher employee retention</a:t>
            </a:r>
            <a:endParaRPr lang="en-US" dirty="0"/>
          </a:p>
          <a:p>
            <a:r>
              <a:rPr lang="en-US" dirty="0"/>
              <a:t>This shift reflects a fundamental change in how high-performing organisations understand the relationship between feedback and performance.</a:t>
            </a:r>
          </a:p>
          <a:p>
            <a:endParaRPr lang="en-US" dirty="0"/>
          </a:p>
          <a:p>
            <a:r>
              <a:rPr lang="en-US" dirty="0"/>
              <a:t>We have observed three major shifts in this space:
</a:t>
            </a:r>
          </a:p>
          <a:p>
            <a:r>
              <a:rPr lang="en-US" b="1" dirty="0"/>
              <a:t>Trend 1: From Annual to Continuous</a:t>
            </a:r>
            <a:r>
              <a:rPr lang="en-US" dirty="0"/>
              <a:t>
The annual performance review is being supplemented or replaced by structured quarterly conversations, monthly check-ins, and continuous pulse feedback. The shift recognises that annual feedback is too infrequent to change behaviour and too delayed to be developmental.
</a:t>
            </a:r>
          </a:p>
          <a:p>
            <a:r>
              <a:rPr lang="en-US" b="1" dirty="0"/>
              <a:t>Trend 2: From Rating-Centric to Development-Centric</a:t>
            </a:r>
            <a:r>
              <a:rPr lang="en-US" dirty="0"/>
              <a:t>
Leading organisations are shifting from the rating (a backward-looking judgement) to development planning (a forward-looking investment). The rating becomes an input to development. Associated with higher engagement, stronger retention, and more rapid capability improvement.
</a:t>
            </a:r>
          </a:p>
          <a:p>
            <a:r>
              <a:rPr lang="en-US" b="1" dirty="0"/>
              <a:t>Trend 3: From Individual to Team Performance</a:t>
            </a:r>
            <a:r>
              <a:rPr lang="en-US" dirty="0"/>
              <a:t>
As organisations become more cross-functional, individual performance ratings are being complemented by team performance assessments. </a:t>
            </a:r>
          </a:p>
          <a:p>
            <a:r>
              <a:rPr lang="en-US" dirty="0"/>
              <a:t>Most outcomes require coordinated contribution. Organisations that exclusively measure individual performance create hidden disincentives for collaboration.</a:t>
            </a:r>
          </a:p>
          <a:p>
            <a:endParaRPr lang="en-US" dirty="0"/>
          </a:p>
          <a:p>
            <a:r>
              <a:rPr dirty="0"/>
              <a:t>Performance management in your organisation: It is highly likely that your organisation already has a formal Performance Management system in place, whether it is a global enterprise platform such as Workday or SAP SuccessFactors, a mid-market solution such as BambooHR or </a:t>
            </a:r>
            <a:r>
              <a:rPr dirty="0" err="1"/>
              <a:t>Personio</a:t>
            </a:r>
            <a:r>
              <a:rPr dirty="0"/>
              <a:t>, a specialised continuous feedback tool such as Lattice or 15Five, or a locally designed Excel-based scorecard.</a:t>
            </a:r>
          </a:p>
          <a:p>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Designing for Enterprise Performance
Synthesising awareness, intelligence, and context into an integrated enterprise PM design: the collective progress signal, three elements of enterprise PM, and the EXECUTION framework.
Section learning outcomes:
1. Define a shared enterprise signal of progress that anchors executive judgement.
2. Interpret cumulative progress to judge performance status and its strategic significance.
Time: the facilitator file gives no suggested time for this section.</a:t>
            </a:r>
          </a:p>
          <a:p>
            <a:endParaRPr lang="en-US" dirty="0"/>
          </a:p>
          <a:p>
            <a:r>
              <a:rPr dirty="0"/>
              <a:t>Source detail (S2R® manuscript):</a:t>
            </a:r>
          </a:p>
          <a:p>
            <a:endParaRPr dirty="0"/>
          </a:p>
          <a:p>
            <a:r>
              <a:rPr dirty="0"/>
              <a:t>The collective progress signal: The overall measure of enterprise performance is a collective progress signal. It integrates the movement of critical execution indicators across all functions into a single reference point that allows the executive team to answer one central question with shared understanding: Is the strategy advancing at the pace required to reach the intended outcome?</a:t>
            </a:r>
          </a:p>
          <a:p>
            <a:r>
              <a:rPr dirty="0"/>
              <a:t>Without an agreed overall progress signal, leadership conversations fragment. Operations sees improvement in cycle time. Finance sees no financial impact yet. HR sees cultural progress. Strategy sees milestone completion. Each function reports progress through its own perspective, and the leadership team never arrives at a shared verdict on whether the enterprise is winning.</a:t>
            </a:r>
          </a:p>
          <a:p>
            <a:r>
              <a:rPr dirty="0"/>
              <a:t>The Converging Zone prevents this fragmentation by creating one common interpretation of execution reality. Multiple narratives give way to a single progress signal, the agreed overall measure, that anchors every leadership dialogue about execution.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EXECUTION FRAMEWORK (Nine design principles)
</a:t>
            </a:r>
            <a:r>
              <a:rPr lang="en-ZA" dirty="0"/>
              <a:t>“FACES helped us understand the five jobs a performance management system must perform. </a:t>
            </a:r>
          </a:p>
          <a:p>
            <a:r>
              <a:rPr lang="en-ZA" dirty="0"/>
              <a:t>But knowing the function is not enough. </a:t>
            </a:r>
          </a:p>
          <a:p>
            <a:r>
              <a:rPr lang="en-ZA" dirty="0"/>
              <a:t>The system must be designed in a way that makes those functions possible. </a:t>
            </a:r>
          </a:p>
          <a:p>
            <a:endParaRPr lang="en-ZA" dirty="0"/>
          </a:p>
          <a:p>
            <a:r>
              <a:rPr lang="en-ZA" dirty="0"/>
              <a:t>That is where EXECUTION comes in. </a:t>
            </a:r>
          </a:p>
          <a:p>
            <a:endParaRPr lang="en-ZA" dirty="0"/>
          </a:p>
          <a:p>
            <a:r>
              <a:rPr lang="en-ZA" dirty="0"/>
              <a:t>EXECUTION gives us the nine design principles that determine whether performance management becomes a living management system or remains an administrative process.”</a:t>
            </a:r>
            <a:endParaRPr lang="en-US" dirty="0"/>
          </a:p>
          <a:p>
            <a:endParaRPr lang="en-US" dirty="0"/>
          </a:p>
          <a:p>
            <a:r>
              <a:rPr lang="en-GB" dirty="0"/>
              <a:t>FACES explains what performance management must do.</a:t>
            </a:r>
          </a:p>
          <a:p>
            <a:endParaRPr lang="en-GB" dirty="0"/>
          </a:p>
          <a:p>
            <a:r>
              <a:rPr lang="en-GB" dirty="0"/>
              <a:t>EXECUTION explains how to design it so it works.</a:t>
            </a:r>
          </a:p>
          <a:p>
            <a:endParaRPr lang="en-GB" dirty="0"/>
          </a:p>
          <a:p>
            <a:r>
              <a:rPr lang="en-GB" dirty="0"/>
              <a:t>FACES is the function test. It asks whether the PM system is serving its five essential purposes: building a results culture, aligning individual performance, making measurement transparent, embedding shared accountability, and supporting development. In simple terms, FACES answers: “What must this PM system achieve for people and performance?”</a:t>
            </a:r>
          </a:p>
          <a:p>
            <a:endParaRPr lang="en-GB" dirty="0"/>
          </a:p>
          <a:p>
            <a:r>
              <a:rPr lang="en-GB" dirty="0"/>
              <a:t>EXECUTION is the design quality test. It goes deeper into the architecture of the system. It asks whether the PM system has the right design principles: strategy anchoring, line of sight, evidence, collective ownership, outcomes, transparent logic, incentive alignment, review rhythm and collective insight. </a:t>
            </a:r>
          </a:p>
          <a:p>
            <a:endParaRPr lang="en-GB" dirty="0"/>
          </a:p>
          <a:p>
            <a:r>
              <a:rPr lang="en-GB" dirty="0"/>
              <a:t>In simple terms, EXECUTION answers: “How must this PM system be designed so that it actually produces those </a:t>
            </a:r>
            <a:r>
              <a:rPr lang="en-GB" dirty="0" err="1"/>
              <a:t>functions?”So</a:t>
            </a:r>
            <a:r>
              <a:rPr lang="en-GB" dirty="0"/>
              <a:t> they are connected, but they operate at different levels.</a:t>
            </a:r>
          </a:p>
          <a:p>
            <a:endParaRPr lang="en-GB" dirty="0"/>
          </a:p>
          <a:p>
            <a:r>
              <a:rPr lang="en-GB" dirty="0"/>
              <a:t>FACES is easier to introduce first because it gives participants the big picture of why PM exists. It helps them stop seeing PM as forms, ratings and annual reviews. It reframes PM as a system that shapes culture, alignment, accountability and development.</a:t>
            </a:r>
          </a:p>
          <a:p>
            <a:endParaRPr lang="en-GB" dirty="0"/>
          </a:p>
          <a:p>
            <a:r>
              <a:rPr lang="en-GB" dirty="0"/>
              <a:t>EXECUTION comes later because it gives them the design principles needed to build or diagnose the PM system properly. It is more technical and more diagnostic. It helps participants examine where the PM system fails and </a:t>
            </a:r>
            <a:r>
              <a:rPr lang="en-GB" dirty="0" err="1"/>
              <a:t>why.You</a:t>
            </a:r>
            <a:r>
              <a:rPr lang="en-GB" dirty="0"/>
              <a:t> can explain it like this:</a:t>
            </a:r>
          </a:p>
          <a:p>
            <a:endParaRPr lang="en-GB" dirty="0"/>
          </a:p>
          <a:p>
            <a:r>
              <a:rPr lang="en-GB" dirty="0"/>
              <a:t>FACES gives us the five functions of a complete PM system.</a:t>
            </a:r>
          </a:p>
          <a:p>
            <a:endParaRPr lang="en-GB" dirty="0"/>
          </a:p>
          <a:p>
            <a:r>
              <a:rPr lang="en-GB" dirty="0"/>
              <a:t>EXECUTION gives us the nine design principles that make those functions work in practice</a:t>
            </a:r>
            <a:r>
              <a:rPr lang="en-US" dirty="0"/>
              <a:t>
</a:t>
            </a:r>
            <a:r>
              <a:rPr lang="en-US" b="1" dirty="0"/>
              <a:t>Content:</a:t>
            </a:r>
            <a:r>
              <a:rPr lang="en-US" dirty="0"/>
              <a:t>
The EXECUTION framework synthesises the nine design principles of a high-quality enterprise PM system. </a:t>
            </a:r>
          </a:p>
          <a:p>
            <a:r>
              <a:rPr lang="en-US" dirty="0"/>
              <a:t>Each letter represents a principle that, when absent, creates a specific and predictable PM failure mode. Use as a design tool and a diagnostic.
</a:t>
            </a:r>
          </a:p>
          <a:p>
            <a:r>
              <a:rPr lang="en-US" b="1" dirty="0"/>
              <a:t>E- ENTERPRISE</a:t>
            </a:r>
            <a:r>
              <a:rPr lang="en-US" dirty="0"/>
              <a:t>
Strategy First
The PM system must be anchored to enterprise strategy. Every metric should be traceable to a strategic outcome. </a:t>
            </a:r>
          </a:p>
          <a:p>
            <a:r>
              <a:rPr lang="en-US" dirty="0"/>
              <a:t>The enterprise intent is the filter through which all PM design decisions are made.
</a:t>
            </a:r>
          </a:p>
          <a:p>
            <a:r>
              <a:rPr lang="en-US" b="1" dirty="0"/>
              <a:t>X - </a:t>
            </a:r>
            <a:r>
              <a:rPr lang="en-US" b="1" dirty="0" err="1"/>
              <a:t>eXECUTION</a:t>
            </a:r>
            <a:r>
              <a:rPr lang="en-US" dirty="0"/>
              <a:t>
Line-of-Sight
Every individual must see a clear line of sight from their daily work to enterprise strategy. </a:t>
            </a:r>
          </a:p>
          <a:p>
            <a:r>
              <a:rPr lang="en-US" dirty="0"/>
              <a:t>Line-of-sight is the translation mechanism that makes strategy personal. Without it, individuals execute their role description and lose sight of the strategy.
</a:t>
            </a:r>
          </a:p>
          <a:p>
            <a:r>
              <a:rPr lang="en-US" b="1" dirty="0"/>
              <a:t>E- EVIDENCE</a:t>
            </a:r>
            <a:r>
              <a:rPr lang="en-US" dirty="0"/>
              <a:t>
Evidence-Based Measurement
Performance assessments must be grounded in defined, agreed evidence. </a:t>
            </a:r>
          </a:p>
          <a:p>
            <a:r>
              <a:rPr lang="en-US" dirty="0"/>
              <a:t>Evidence-based measurement protects the integrity of the PM system and builds trust. Without it, ratings are subjective and disputes are inevitable.
</a:t>
            </a:r>
          </a:p>
          <a:p>
            <a:r>
              <a:rPr lang="en-US" b="1" dirty="0"/>
              <a:t>C-COLLECTIVE</a:t>
            </a:r>
            <a:r>
              <a:rPr lang="en-US" dirty="0"/>
              <a:t>
Collective Ownership
Accountability for results must be shared across the team and organisation. </a:t>
            </a:r>
          </a:p>
          <a:p>
            <a:r>
              <a:rPr lang="en-US" dirty="0"/>
              <a:t>Collective ownership means everyone with a contribution to an outcome has a stake in its measurement and a responsibility for its achievement.
</a:t>
            </a:r>
          </a:p>
          <a:p>
            <a:r>
              <a:rPr lang="en-US" b="1" dirty="0"/>
              <a:t>U-UNDERSTAND</a:t>
            </a:r>
            <a:r>
              <a:rPr lang="en-US" dirty="0"/>
              <a:t>
Outcomes First
The PM system must measure outcomes — the actual change produced. A team can be 100% active while producing 0% of the required outcome. Leaders must measure impact.
</a:t>
            </a:r>
          </a:p>
          <a:p>
            <a:r>
              <a:rPr lang="en-US" b="1" dirty="0"/>
              <a:t>T-TRANSPARENT</a:t>
            </a:r>
            <a:r>
              <a:rPr lang="en-US" dirty="0"/>
              <a:t>
Measurement Logic
The logic by which performance is calculated, rated, and rewarded must be transparent to everyone subject to it. Hidden formulas and opaque scoring destroy confidence in the system and generate cynicism that undermines the entire PM architecture.
</a:t>
            </a:r>
          </a:p>
          <a:p>
            <a:r>
              <a:rPr lang="en-US" b="1" dirty="0"/>
              <a:t>I- INCENTIVE</a:t>
            </a:r>
            <a:r>
              <a:rPr lang="en-US" dirty="0"/>
              <a:t>
Incentive Alignment
The incentive structure must reward the behaviours and outcomes the strategy requires. Misaligned incentives are one of the most reliable predictors of strategy failure. When what gets rewarded diverges from what the strategy needs, people follow the incentive — this is a design failure.
</a:t>
            </a:r>
          </a:p>
          <a:p>
            <a:r>
              <a:rPr lang="en-US" b="1" dirty="0"/>
              <a:t>O-ONGOING</a:t>
            </a:r>
            <a:r>
              <a:rPr lang="en-US" dirty="0"/>
              <a:t>
Review Rhythm
PM must be an ongoing rhythm. An annual review cycle produces information too infrequently to inform in-year course correction. The review rhythm must be consistent and embedded in the operational calendar so that PM is the way work is managed.
</a:t>
            </a:r>
          </a:p>
          <a:p>
            <a:r>
              <a:rPr lang="en-US" b="1" dirty="0"/>
              <a:t>N- NAVIGATE</a:t>
            </a:r>
            <a:r>
              <a:rPr lang="en-US" dirty="0"/>
              <a:t>
Collective Insight
The ultimate function of a PM system is navigation: using performance data, collectively interpreted, to make better decisions about where to go and how to get there. A PM system that collects data but does not generate collective insight is a reporting system dressed as management.
</a:t>
            </a:r>
            <a:r>
              <a:rPr dirty="0"/>
              <a:t>Purpose of the principles: Regardless of which platform an organisation uses, an effective Performance Management system should be guided by the EXECUTION principles. These principles ensure that performance management functions as an execution intelligence system.</a:t>
            </a:r>
          </a:p>
          <a:p>
            <a:endParaRPr dirty="0"/>
          </a:p>
          <a:p>
            <a:r>
              <a:rPr dirty="0"/>
              <a:t>When these principles guide the PM process, performance management stops being a reporting mechanism and becomes something far more valuable: a leadership system for monitoring strategy execution in real time, ensuring that leaders are tracking the organisation’s movement toward its strategic destination as well as measuring effort.</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This is group work. Your group designs the PM architecture for the strategy in your Capstone Blueprint, in four steps:</a:t>
            </a:r>
          </a:p>
          <a:p>
            <a:r>
              <a:rPr lang="en-GB" dirty="0"/>
              <a:t>Step 1 · Scoring Logic. Your group sets what each rating means, the evidence that confirms it and the leadership response it triggers in the monthly review. It then states the factors that may legitimately affect a rating, the lines of sight of progress it uses and its review cadence. The lessons from parts 1.3 and 1.4 sit above the boxes.</a:t>
            </a:r>
          </a:p>
          <a:p>
            <a:r>
              <a:rPr lang="en-GB" dirty="0"/>
              <a:t>Step 2 · FACES. Your group describes how its PM architecture will serve each of the five FACES functions. The lesson from part 1.2 sits above each box.</a:t>
            </a:r>
          </a:p>
          <a:p>
            <a:r>
              <a:rPr lang="en-GB" dirty="0"/>
              <a:t>Step 3 · EXECUTION. Your group describes how each of the nine EXECUTION principles is designed into its PM architecture. The lesson from part 4.1 sits above each box.</a:t>
            </a:r>
          </a:p>
          <a:p>
            <a:r>
              <a:rPr lang="en-GB" dirty="0"/>
              <a:t>Step 4 · PM Scorecards. Your group designs a PM scorecard for the CEO and one for the CFO. It uses two of the Key Results it confirmed in Unit 3 as the basis for measurement.</a:t>
            </a:r>
          </a:p>
          <a:p>
            <a:r>
              <a:rPr lang="en-GB" dirty="0"/>
              <a:t>You then read your group’s record at the foot of this section and select Confirm. This is Capstone work, and your confirmed record feeds your team’s Capstone Blueprint.</a:t>
            </a:r>
          </a:p>
          <a:p>
            <a:endParaRPr lang="en-GB" dirty="0"/>
          </a:p>
          <a:p>
            <a:r>
              <a:rPr lang="en-GB" b="1" dirty="0"/>
              <a:t>SECTION LEARNING OUTCOMES:</a:t>
            </a:r>
          </a:p>
          <a:p>
            <a:r>
              <a:rPr lang="en-GB" dirty="0"/>
              <a:t>1. Design performance arrangements that link enterprise outcomes, leadership accountability and performance evidence.</a:t>
            </a:r>
          </a:p>
          <a:p>
            <a:r>
              <a:rPr lang="en-GB" dirty="0"/>
              <a:t>2. Interpret progress data to strengthen accountability, decision quality and responsiveness.</a:t>
            </a:r>
          </a:p>
          <a:p>
            <a:endParaRPr lang="en-GB" dirty="0"/>
          </a:p>
          <a:p>
            <a:r>
              <a:rPr lang="en-GB" b="1" dirty="0"/>
              <a:t>HOW TO OPEN THE SECTION:</a:t>
            </a:r>
          </a:p>
          <a:p>
            <a:endParaRPr lang="en-GB" dirty="0"/>
          </a:p>
          <a:p>
            <a:r>
              <a:rPr lang="en-GB" b="1" dirty="0"/>
              <a:t>1. Say what the section does.</a:t>
            </a:r>
          </a:p>
          <a:p>
            <a:r>
              <a:rPr lang="en-GB" dirty="0"/>
              <a:t>Say: "In this section your group designs the PM architecture for the strategy in your Capstone Blueprint.</a:t>
            </a:r>
          </a:p>
          <a:p>
            <a:r>
              <a:rPr lang="en-GB" dirty="0"/>
              <a:t>You set the scoring logic. You describe the FACES and the EXECUTION of your architecture.</a:t>
            </a:r>
          </a:p>
          <a:p>
            <a:r>
              <a:rPr lang="en-GB" dirty="0"/>
              <a:t>You design a PM scorecard for the CEO and one for the CFO."</a:t>
            </a:r>
          </a:p>
          <a:p>
            <a:endParaRPr lang="en-GB" dirty="0"/>
          </a:p>
          <a:p>
            <a:r>
              <a:rPr lang="en-GB" b="1" dirty="0"/>
              <a:t>2. Say how the group works.</a:t>
            </a:r>
          </a:p>
          <a:p>
            <a:r>
              <a:rPr lang="en-GB" dirty="0"/>
              <a:t>Say: "All four steps are group work.</a:t>
            </a:r>
          </a:p>
          <a:p>
            <a:r>
              <a:rPr lang="en-GB" dirty="0"/>
              <a:t>Your group agrees each entry.</a:t>
            </a:r>
          </a:p>
          <a:p>
            <a:r>
              <a:rPr lang="en-GB" dirty="0"/>
              <a:t>One member acts as scribe.</a:t>
            </a:r>
          </a:p>
          <a:p>
            <a:r>
              <a:rPr lang="en-GB" dirty="0"/>
              <a:t>Every member then types the agreed entries into their own page, in the session or after it."</a:t>
            </a:r>
          </a:p>
          <a:p>
            <a:endParaRPr lang="en-GB" dirty="0"/>
          </a:p>
          <a:p>
            <a:r>
              <a:rPr lang="en-GB" b="1" dirty="0"/>
              <a:t>3. Say where the work goes.</a:t>
            </a:r>
          </a:p>
          <a:p>
            <a:r>
              <a:rPr lang="en-GB" dirty="0"/>
              <a:t>Say: "This is Capstone work. Your group’s confirmed record feeds your team’s Capstone Blueprint."</a:t>
            </a:r>
          </a:p>
          <a:p>
            <a:r>
              <a:rPr lang="en-GB" dirty="0"/>
              <a:t>Step 4 needs the group’s Enterprise OKRs. Each group confirms them in Unit 3, part 4.2, first.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4 — PM SCORECARDS (CAPSTONE WORK)</a:t>
            </a:r>
          </a:p>
          <a:p>
            <a:endParaRPr lang="en-GB" dirty="0"/>
          </a:p>
          <a:p>
            <a:r>
              <a:rPr lang="en-GB" b="1" dirty="0"/>
              <a:t>HOW TO TEACH IT:</a:t>
            </a:r>
          </a:p>
          <a:p>
            <a:endParaRPr lang="en-GB" dirty="0"/>
          </a:p>
          <a:p>
            <a:r>
              <a:rPr lang="en-GB" b="1" dirty="0"/>
              <a:t>1. Open with the group’s Key Results.</a:t>
            </a:r>
          </a:p>
          <a:p>
            <a:r>
              <a:rPr lang="en-GB" dirty="0"/>
              <a:t>Say: "Your page shows the Enterprise OKRs your group confirmed in Unit 3.</a:t>
            </a:r>
          </a:p>
          <a:p>
            <a:r>
              <a:rPr lang="en-GB" dirty="0"/>
              <a:t>Choose two of your Key Results as the basis for measurement."</a:t>
            </a:r>
          </a:p>
          <a:p>
            <a:endParaRPr lang="en-GB" dirty="0"/>
          </a:p>
          <a:p>
            <a:r>
              <a:rPr lang="en-GB" b="1" dirty="0"/>
              <a:t>2. Teach the scorecard.</a:t>
            </a:r>
          </a:p>
          <a:p>
            <a:r>
              <a:rPr lang="en-GB" dirty="0"/>
              <a:t>Say: "Each scorecard has four rows: Key Result 1, Key Result 2, the operational measures, and the behavioural and values measures.</a:t>
            </a:r>
          </a:p>
          <a:p>
            <a:r>
              <a:rPr lang="en-GB" dirty="0"/>
              <a:t>Each row carries a measure and a weight.</a:t>
            </a:r>
          </a:p>
          <a:p>
            <a:r>
              <a:rPr lang="en-GB" dirty="0"/>
              <a:t>The four weights add up to 100%."</a:t>
            </a:r>
          </a:p>
          <a:p>
            <a:r>
              <a:rPr lang="en-GB" dirty="0"/>
              <a:t>Recall part 2.3: The team is measured on the quality and completion of specific activities. The leader is measured on the cumulative outcome that those activities produce.</a:t>
            </a:r>
          </a:p>
          <a:p>
            <a:r>
              <a:rPr lang="en-GB" dirty="0"/>
              <a:t>Recall part 1.3 for the weight of each sight.</a:t>
            </a:r>
          </a:p>
          <a:p>
            <a:endParaRPr lang="en-GB" dirty="0"/>
          </a:p>
          <a:p>
            <a:r>
              <a:rPr lang="en-GB" b="1" dirty="0"/>
              <a:t>3. Design the scorecard for the CEO, then for the CFO.</a:t>
            </a:r>
          </a:p>
          <a:p>
            <a:r>
              <a:rPr lang="en-GB" dirty="0"/>
              <a:t>Say: "For the CEO, state what the CEO is measured on for each Key Result. Then add the operational measures and the behavioural and values measures.</a:t>
            </a:r>
          </a:p>
          <a:p>
            <a:r>
              <a:rPr lang="en-GB" dirty="0"/>
              <a:t>Design the PM scorecard for the CFO in the same way."</a:t>
            </a:r>
          </a:p>
          <a:p>
            <a:r>
              <a:rPr lang="en-GB" dirty="0"/>
              <a:t>Recall part 3.1: the hot zone of the CEO is Enterprise Visibility, and the hot zone of the CFO is Financial Signals.</a:t>
            </a:r>
          </a:p>
          <a:p>
            <a:r>
              <a:rPr lang="en-GB" dirty="0"/>
              <a:t>Watch for: the same measure on both scorecards. Ask: "What is each role best placed to track?"</a:t>
            </a:r>
          </a:p>
          <a:p>
            <a:endParaRPr lang="en-GB" dirty="0"/>
          </a:p>
          <a:p>
            <a:r>
              <a:rPr lang="en-GB" b="1" dirty="0"/>
              <a:t>ON THE PORTAL, AFTER THE TEACHING:</a:t>
            </a:r>
          </a:p>
          <a:p>
            <a:r>
              <a:rPr lang="en-GB" dirty="0"/>
              <a:t>Participants work as a group in Step 4 of Section 5 of the participant file. This is Capstone work.</a:t>
            </a:r>
          </a:p>
          <a:p>
            <a:r>
              <a:rPr lang="en-GB" dirty="0"/>
              <a:t>1. The group reads its Enterprise OKRs from Unit 3, shown on each page.</a:t>
            </a:r>
          </a:p>
          <a:p>
            <a:r>
              <a:rPr lang="en-GB" dirty="0"/>
              <a:t>2. The group chooses two of its Key Results as the basis for measurement.</a:t>
            </a:r>
          </a:p>
          <a:p>
            <a:r>
              <a:rPr lang="en-GB" dirty="0"/>
              <a:t>3. For the CEO, the group states what the role is measured on for each Key Result, then the operational measures and the behavioural and values measures, each with a weight.</a:t>
            </a:r>
          </a:p>
          <a:p>
            <a:r>
              <a:rPr lang="en-GB" dirty="0"/>
              <a:t>4. The group designs the PM scorecard for the CFO in the same way.</a:t>
            </a:r>
          </a:p>
          <a:p>
            <a:r>
              <a:rPr lang="en-GB" dirty="0"/>
              <a:t>5. Each participant reads the record and selects Confirm. Print gives a copy.</a:t>
            </a:r>
          </a:p>
          <a:p>
            <a:endParaRPr lang="en-GB" dirty="0"/>
          </a:p>
          <a:p>
            <a:r>
              <a:rPr lang="en-GB" b="1" dirty="0"/>
              <a:t>AFTER THE SESSION:</a:t>
            </a:r>
          </a:p>
          <a:p>
            <a:r>
              <a:rPr lang="en-GB" dirty="0"/>
              <a:t>The record reaches you with each participant’s submission, under the heading Designing the PM Architecture.</a:t>
            </a:r>
          </a:p>
          <a:p>
            <a:r>
              <a:rPr lang="en-GB" dirty="0"/>
              <a:t>The confirmed record feeds boxes 6A to 6D of the team’s Capstone Blueprint: the scoring logic in 6A, FACES in 6B, EXECUTION in 6C and the two scorecards in 6D.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1 — SCORING LOGIC (CAPSTONE WORK)</a:t>
            </a:r>
          </a:p>
          <a:p>
            <a:endParaRPr lang="en-GB" dirty="0"/>
          </a:p>
          <a:p>
            <a:r>
              <a:rPr lang="en-GB" b="1" dirty="0"/>
              <a:t>HOW TO TEACH IT:</a:t>
            </a:r>
          </a:p>
          <a:p>
            <a:endParaRPr lang="en-GB" dirty="0"/>
          </a:p>
          <a:p>
            <a:r>
              <a:rPr lang="en-GB" b="1" dirty="0"/>
              <a:t>1. Brief the step.</a:t>
            </a:r>
          </a:p>
          <a:p>
            <a:r>
              <a:rPr lang="en-GB" dirty="0"/>
              <a:t>Say: "Your group designs the scoring logic of its PM architecture. There are six things to agree. They are on the slide."</a:t>
            </a:r>
          </a:p>
          <a:p>
            <a:endParaRPr lang="en-GB" dirty="0"/>
          </a:p>
          <a:p>
            <a:r>
              <a:rPr lang="en-GB" b="1" dirty="0"/>
              <a:t>2. Teach the rating scale.</a:t>
            </a:r>
          </a:p>
          <a:p>
            <a:r>
              <a:rPr lang="en-GB" dirty="0"/>
              <a:t>Say: "For each rating from 1 to 5, your group agrees three things:</a:t>
            </a:r>
          </a:p>
          <a:p>
            <a:r>
              <a:rPr lang="en-GB" dirty="0"/>
              <a:t>the performance level that earns the rating,</a:t>
            </a:r>
          </a:p>
          <a:p>
            <a:r>
              <a:rPr lang="en-GB" dirty="0"/>
              <a:t>the evidence required to confirm it,</a:t>
            </a:r>
          </a:p>
          <a:p>
            <a:r>
              <a:rPr lang="en-GB" dirty="0"/>
              <a:t>and the leadership response it should trigger in the monthly review."</a:t>
            </a:r>
          </a:p>
          <a:p>
            <a:r>
              <a:rPr lang="en-GB" dirty="0"/>
              <a:t>The lesson above the three boxes is the rating card of part 1.4.</a:t>
            </a:r>
          </a:p>
          <a:p>
            <a:r>
              <a:rPr lang="en-GB" dirty="0"/>
              <a:t>Watch for: a performance level with no measure in it. Ask: "What would a manager see or count?"</a:t>
            </a:r>
          </a:p>
          <a:p>
            <a:r>
              <a:rPr lang="en-GB" dirty="0"/>
              <a:t>Watch for: one leadership response given for two ratings. Ask: "What changes for the person at each rating?"</a:t>
            </a:r>
          </a:p>
          <a:p>
            <a:endParaRPr lang="en-GB" dirty="0"/>
          </a:p>
          <a:p>
            <a:r>
              <a:rPr lang="en-GB" b="1" dirty="0"/>
              <a:t>3. Teach the contextual factors.</a:t>
            </a:r>
          </a:p>
          <a:p>
            <a:r>
              <a:rPr lang="en-GB" dirty="0"/>
              <a:t>Say: "Agree the contextual factors that might legitimately affect a rating."</a:t>
            </a:r>
          </a:p>
          <a:p>
            <a:r>
              <a:rPr lang="en-GB" dirty="0"/>
              <a:t>Examples on the page: the size of the unit, the volume of work, a change outside the person’s control.</a:t>
            </a:r>
          </a:p>
          <a:p>
            <a:endParaRPr lang="en-GB" dirty="0"/>
          </a:p>
          <a:p>
            <a:r>
              <a:rPr lang="en-GB" b="1" dirty="0"/>
              <a:t>4. Teach the lines of sight of progress.</a:t>
            </a:r>
          </a:p>
          <a:p>
            <a:r>
              <a:rPr lang="en-GB" dirty="0"/>
              <a:t>Say: "Describe how your PM architecture uses each of the Three Sights of Progress: Strategy, Operational, and Behavioural &amp; Values Alignment."</a:t>
            </a:r>
          </a:p>
          <a:p>
            <a:r>
              <a:rPr lang="en-GB" dirty="0"/>
              <a:t>The lesson above each box is part 1.3.</a:t>
            </a:r>
          </a:p>
          <a:p>
            <a:endParaRPr lang="en-GB" dirty="0"/>
          </a:p>
          <a:p>
            <a:r>
              <a:rPr lang="en-GB" b="1" dirty="0"/>
              <a:t>5. Teach the review cadence.</a:t>
            </a:r>
          </a:p>
          <a:p>
            <a:r>
              <a:rPr lang="en-GB" dirty="0"/>
              <a:t>Say: "Describe your review cadence and why your group chose it."</a:t>
            </a:r>
          </a:p>
          <a:p>
            <a:r>
              <a:rPr lang="en-GB" dirty="0"/>
              <a:t>Recall the Ongoing principle of part 4.1: Monthly reviews monitor operational signals. Quarterly reviews evaluate strategic progress. Annual reviews assess long-term performance and development.</a:t>
            </a:r>
          </a:p>
          <a:p>
            <a:endParaRPr lang="en-GB" dirty="0"/>
          </a:p>
          <a:p>
            <a:r>
              <a:rPr lang="en-GB" b="1" dirty="0"/>
              <a:t>ON THE PORTAL, AFTER THE TEACHING:</a:t>
            </a:r>
          </a:p>
          <a:p>
            <a:r>
              <a:rPr lang="en-GB" dirty="0"/>
              <a:t>Participants work as a group in Step 1 of Section 5 of the participant file. This is Capstone work.</a:t>
            </a:r>
          </a:p>
          <a:p>
            <a:r>
              <a:rPr lang="en-GB" dirty="0"/>
              <a:t>1. For each rating from 1 to 5, the group agrees the performance level that earns it, the evidence required to confirm it and the leadership response it should trigger in the monthly review.</a:t>
            </a:r>
          </a:p>
          <a:p>
            <a:r>
              <a:rPr lang="en-GB" dirty="0"/>
              <a:t>2. The group agrees the contextual factors that might legitimately affect a rating.</a:t>
            </a:r>
          </a:p>
          <a:p>
            <a:r>
              <a:rPr lang="en-GB" dirty="0"/>
              <a:t>3. The group describes the lines of sight of progress its PM architecture uses.</a:t>
            </a:r>
          </a:p>
          <a:p>
            <a:r>
              <a:rPr lang="en-GB" dirty="0"/>
              <a:t>4. The group describes its review cadence and why it chose it.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6 SYNTHESIS)</a:t>
            </a:r>
          </a:p>
          <a:p>
            <a:endParaRPr lang="en-GB" dirty="0"/>
          </a:p>
          <a:p>
            <a:r>
              <a:rPr lang="en-GB" b="1" dirty="0"/>
              <a:t>HOW TO TEACH IT:</a:t>
            </a:r>
          </a:p>
          <a:p>
            <a:endParaRPr lang="en-GB" dirty="0"/>
          </a:p>
          <a:p>
            <a:r>
              <a:rPr lang="en-GB" b="1" dirty="0"/>
              <a:t>1. Recap the unit, section by section.</a:t>
            </a:r>
          </a:p>
          <a:p>
            <a:r>
              <a:rPr lang="en-GB" dirty="0"/>
              <a:t>- 1 · Awareness: PM is the leadership response to measurement. The correct sequence: define success, design the management system, design the measurement infrastructure, then manage using data.</a:t>
            </a:r>
          </a:p>
          <a:p>
            <a:r>
              <a:rPr lang="en-GB" dirty="0"/>
              <a:t>- 2 · Intelligence: PM is an execution bridge with four functions: decomposing the big picture, defining the logic of success, calibrating the rhythm, and structuring the dialogue. The architecture choice — compliance vs commitment — shapes every conversation.</a:t>
            </a:r>
          </a:p>
          <a:p>
            <a:r>
              <a:rPr lang="en-GB" dirty="0"/>
              <a:t>- 3 · Extrapolating: The executive team is the organisation’s measurement alignment system. Each CXO hot zone contributes a distinct signal. The Three Execution Gaps explain most PM failures at enterprise level.</a:t>
            </a:r>
          </a:p>
          <a:p>
            <a:r>
              <a:rPr lang="en-GB" dirty="0"/>
              <a:t>- 4 · Integration: FACES tells us what a PM system must deliver. EXECUTION tells us what must be designed into the system for it to deliver: nine design principles, from strategy anchoring to collective insight.</a:t>
            </a:r>
          </a:p>
          <a:p>
            <a:r>
              <a:rPr lang="en-GB" dirty="0"/>
              <a:t>- 5 · Application: Each group designs the PM architecture for the strategy in its Capstone Blueprint: the scoring logic, the FACES and the EXECUTION of the architecture, and a PM scorecard for the CEO and for the CFO on two of the group’s Key Results. The confirmed record feeds the team’s Capstone Blueprint.</a:t>
            </a:r>
          </a:p>
          <a:p>
            <a:endParaRPr lang="en-GB" dirty="0"/>
          </a:p>
          <a:p>
            <a:r>
              <a:rPr lang="en-GB" b="1" dirty="0"/>
              <a:t>2. Ask the closing question on the slide.</a:t>
            </a:r>
          </a:p>
          <a:p>
            <a:r>
              <a:rPr lang="en-GB" dirty="0"/>
              <a:t>Ask: "Which part of your PM architecture was hardest for your group to agree, and what does that tell you about the PM system in your own organisation?"</a:t>
            </a:r>
          </a:p>
          <a:p>
            <a:r>
              <a:rPr lang="en-GB" dirty="0"/>
              <a:t>Take an answer from each group.</a:t>
            </a:r>
          </a:p>
          <a:p>
            <a:endParaRPr lang="en-GB" dirty="0"/>
          </a:p>
          <a:p>
            <a:r>
              <a:rPr lang="en-GB" b="1" dirty="0"/>
              <a:t>3. Close the unit.</a:t>
            </a:r>
          </a:p>
          <a:p>
            <a:r>
              <a:rPr lang="en-GB" dirty="0"/>
              <a:t>Say: "A performance management system that only measures has not yet become a management system.</a:t>
            </a:r>
          </a:p>
          <a:p>
            <a:r>
              <a:rPr lang="en-GB" dirty="0"/>
              <a:t>The moment measurement becomes the basis for a decision, a conversation, and an accountable intervention — that is the moment execution begins."</a:t>
            </a:r>
          </a:p>
          <a:p>
            <a:endParaRPr lang="en-GB" dirty="0"/>
          </a:p>
          <a:p>
            <a:r>
              <a:rPr lang="en-GB" b="1" dirty="0"/>
              <a:t>4. Say what happens on the portal.</a:t>
            </a:r>
          </a:p>
          <a:p>
            <a:r>
              <a:rPr lang="en-GB" dirty="0"/>
              <a:t>Say: "You now complete the unit on the portal: your reflections and your group’s record in Section 5.</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a:t>
            </a:r>
          </a:p>
          <a:p>
            <a:r>
              <a:rPr lang="en-GB" dirty="0"/>
              <a:t>The group’s confirmed record feeds boxes 6A to 6D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2 — FACES (CAPSTONE WORK)</a:t>
            </a:r>
          </a:p>
          <a:p>
            <a:endParaRPr lang="en-GB" dirty="0"/>
          </a:p>
          <a:p>
            <a:r>
              <a:rPr lang="en-GB" b="1" dirty="0"/>
              <a:t>HOW TO TEACH IT:</a:t>
            </a:r>
          </a:p>
          <a:p>
            <a:endParaRPr lang="en-GB" dirty="0"/>
          </a:p>
          <a:p>
            <a:r>
              <a:rPr lang="en-GB" b="1" dirty="0"/>
              <a:t>1. Brief the step.</a:t>
            </a:r>
          </a:p>
          <a:p>
            <a:r>
              <a:rPr lang="en-GB" dirty="0"/>
              <a:t>Say: "Your group describes how its PM architecture will serve each of the five FACES functions."</a:t>
            </a:r>
          </a:p>
          <a:p>
            <a:endParaRPr lang="en-GB" dirty="0"/>
          </a:p>
          <a:p>
            <a:r>
              <a:rPr lang="en-GB" b="1" dirty="0"/>
              <a:t>2. Recall each function with its guide.</a:t>
            </a:r>
          </a:p>
          <a:p>
            <a:r>
              <a:rPr lang="en-GB" dirty="0"/>
              <a:t>The guide above each box is the lesson of part 1.2.</a:t>
            </a:r>
          </a:p>
          <a:p>
            <a:r>
              <a:rPr lang="en-GB" dirty="0"/>
              <a:t>F · Foster a Results Culture: Culture is shaped by what gets measured, what gets discussed, and what gets rewarded.</a:t>
            </a:r>
          </a:p>
          <a:p>
            <a:r>
              <a:rPr lang="en-GB" dirty="0"/>
              <a:t>A · Align Individual Performance: Without this alignment, effort is misdirected.</a:t>
            </a:r>
          </a:p>
          <a:p>
            <a:r>
              <a:rPr lang="en-GB" dirty="0"/>
              <a:t>C · Create Measurement Transparency: Transparency ensures that the logic of measurement is understood and trusted.</a:t>
            </a:r>
          </a:p>
          <a:p>
            <a:r>
              <a:rPr lang="en-GB" dirty="0"/>
              <a:t>E · Embed Shared Accountability: Shared accountability means teams co-own the results — they participate in setting targets, understand the evidence, and are part of the intervention process.</a:t>
            </a:r>
          </a:p>
          <a:p>
            <a:r>
              <a:rPr lang="en-GB" dirty="0"/>
              <a:t>S · Support Continuous Development: Performance data is a development signal as well as an accountability score.</a:t>
            </a:r>
          </a:p>
          <a:p>
            <a:endParaRPr lang="en-GB" dirty="0"/>
          </a:p>
          <a:p>
            <a:r>
              <a:rPr lang="en-GB" b="1" dirty="0"/>
              <a:t>3. Set the standard.</a:t>
            </a:r>
          </a:p>
          <a:p>
            <a:r>
              <a:rPr lang="en-GB" dirty="0"/>
              <a:t>Say: "For each function, name what in your architecture makes it happen: a rule, a routine, a report or an owner."</a:t>
            </a:r>
          </a:p>
          <a:p>
            <a:r>
              <a:rPr lang="en-GB" dirty="0"/>
              <a:t>Watch for: a function restated in other words. Ask: "What in the architecture makes it happen?"</a:t>
            </a:r>
          </a:p>
          <a:p>
            <a:endParaRPr lang="en-GB" dirty="0"/>
          </a:p>
          <a:p>
            <a:r>
              <a:rPr lang="en-GB" b="1" dirty="0"/>
              <a:t>ON THE PORTAL, AFTER THE TEACHING:</a:t>
            </a:r>
          </a:p>
          <a:p>
            <a:r>
              <a:rPr lang="en-GB" dirty="0"/>
              <a:t>Participants work as a group in Step 2 of Section 5 of the participant file. This is Capstone work.</a:t>
            </a:r>
          </a:p>
          <a:p>
            <a:r>
              <a:rPr lang="en-GB" dirty="0"/>
              <a:t>1. The group reads the guide in each card. It is the lesson from part 1.2.</a:t>
            </a:r>
          </a:p>
          <a:p>
            <a:r>
              <a:rPr lang="en-GB" dirty="0"/>
              <a:t>2. For each of the five functions, the group describes how its PM architecture will serve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3 — EXECUTION (CAPSTONE WORK)</a:t>
            </a:r>
          </a:p>
          <a:p>
            <a:endParaRPr lang="en-GB" dirty="0"/>
          </a:p>
          <a:p>
            <a:r>
              <a:rPr lang="en-GB" b="1" dirty="0"/>
              <a:t>HOW TO TEACH IT:</a:t>
            </a:r>
          </a:p>
          <a:p>
            <a:endParaRPr lang="en-GB" dirty="0"/>
          </a:p>
          <a:p>
            <a:r>
              <a:rPr lang="en-GB" b="1" dirty="0"/>
              <a:t>1. Recall the distinction.</a:t>
            </a:r>
          </a:p>
          <a:p>
            <a:r>
              <a:rPr lang="en-GB" dirty="0"/>
              <a:t>Say: "FACES tells us what a PM system must deliver.</a:t>
            </a:r>
          </a:p>
          <a:p>
            <a:r>
              <a:rPr lang="en-GB" dirty="0"/>
              <a:t>EXECUTION tells us what must be designed into the system for it to deliver."</a:t>
            </a:r>
          </a:p>
          <a:p>
            <a:r>
              <a:rPr lang="en-GB" dirty="0"/>
              <a:t>Say: "Step 2 states what your PM architecture must deliver. Step 3 states what your group designs into it so that it delivers."</a:t>
            </a:r>
          </a:p>
          <a:p>
            <a:endParaRPr lang="en-GB" dirty="0"/>
          </a:p>
          <a:p>
            <a:r>
              <a:rPr lang="en-GB" b="1" dirty="0"/>
              <a:t>2. Recall each principle with its self-check question.</a:t>
            </a:r>
          </a:p>
          <a:p>
            <a:r>
              <a:rPr lang="en-GB" dirty="0"/>
              <a:t>The guide above each box is the lesson of part 4.1.</a:t>
            </a:r>
          </a:p>
          <a:p>
            <a:r>
              <a:rPr lang="en-GB" dirty="0"/>
              <a:t>E · ENTERPRISE — Strategy First: Can every metric in your PM system be traced back to a strategic priority?</a:t>
            </a:r>
          </a:p>
          <a:p>
            <a:r>
              <a:rPr lang="en-GB" dirty="0"/>
              <a:t>X · eXECUTION — Line-of-Sight: Can every person on your team draw a line between their daily work and the strategy?</a:t>
            </a:r>
          </a:p>
          <a:p>
            <a:r>
              <a:rPr lang="en-GB" dirty="0"/>
              <a:t>E · EVIDENCE — Evidence-Based Measurement: Does your team know exactly what evidence is required to achieve each rating?</a:t>
            </a:r>
          </a:p>
          <a:p>
            <a:r>
              <a:rPr lang="en-GB" dirty="0"/>
              <a:t>C · COLLECTIVE — Collective Ownership: When a result is missed, does accountability sit with one person or is it genuinely shared?</a:t>
            </a:r>
          </a:p>
          <a:p>
            <a:r>
              <a:rPr lang="en-GB" dirty="0"/>
              <a:t>U · UNDERSTAND — Outcomes First: If your team completed all planned activities this period, would outcomes automatically follow?</a:t>
            </a:r>
          </a:p>
          <a:p>
            <a:r>
              <a:rPr lang="en-GB" dirty="0"/>
              <a:t>T · TRANSPARENT — Measurement Logic: Does your team fully understand how their performance score is calculated?</a:t>
            </a:r>
          </a:p>
          <a:p>
            <a:r>
              <a:rPr lang="en-GB" dirty="0"/>
              <a:t>I · INCENTIVE — Incentive Alignment: What behaviours does your incentive system actually reward? Do they match your strategy?</a:t>
            </a:r>
          </a:p>
          <a:p>
            <a:r>
              <a:rPr lang="en-GB" dirty="0"/>
              <a:t>O · ONGOING — Review Rhythm: Is PM embedded in how your team works week to week, or does it only surface at review time?</a:t>
            </a:r>
          </a:p>
          <a:p>
            <a:r>
              <a:rPr lang="en-GB" dirty="0"/>
              <a:t>N · NAVIGATE — Collective Insight: In your last performance review, did you make a decision together that you would not have made individually?</a:t>
            </a:r>
          </a:p>
          <a:p>
            <a:endParaRPr lang="en-GB" dirty="0"/>
          </a:p>
          <a:p>
            <a:r>
              <a:rPr lang="en-GB" b="1" dirty="0"/>
              <a:t>3. Set the standard.</a:t>
            </a:r>
          </a:p>
          <a:p>
            <a:r>
              <a:rPr lang="en-GB" dirty="0"/>
              <a:t>Say: "For each principle, describe how it is designed into your PM architecture."</a:t>
            </a:r>
          </a:p>
          <a:p>
            <a:r>
              <a:rPr lang="en-GB" dirty="0"/>
              <a:t>Watch for: an entry that repeats the Step 2 answer. Ask: "How is it built into the system?"</a:t>
            </a:r>
          </a:p>
          <a:p>
            <a:endParaRPr lang="en-GB" dirty="0"/>
          </a:p>
          <a:p>
            <a:r>
              <a:rPr lang="en-GB" b="1" dirty="0"/>
              <a:t>ON THE PORTAL, AFTER THE TEACHING:</a:t>
            </a:r>
          </a:p>
          <a:p>
            <a:r>
              <a:rPr lang="en-GB" dirty="0"/>
              <a:t>Participants work as a group in Step 3 of Section 5 of the participant file. This is Capstone work.</a:t>
            </a:r>
          </a:p>
          <a:p>
            <a:r>
              <a:rPr lang="en-GB" dirty="0"/>
              <a:t>1. The group reads the guide in each card. It is the lesson from part 4.1.</a:t>
            </a:r>
          </a:p>
          <a:p>
            <a:r>
              <a:rPr lang="en-GB" dirty="0"/>
              <a:t>2. For each of the nine principles, the group describes how it is designed into its PM architecture.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30.png"/><Relationship Id="rId6" Type="http://schemas.openxmlformats.org/officeDocument/2006/relationships/image" Target="../media/image42.png"/><Relationship Id="rId7" Type="http://schemas.openxmlformats.org/officeDocument/2006/relationships/image" Target="../media/image9.png"/><Relationship Id="rId8"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whether organisational performance arrangements support the achievement of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clear relationships between enterprise outcomes, leadership accountability and performance evidence.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consistent executive judgement on performance status and its strategic significance.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insight in ways that strengthen accountability, decision quality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Foundations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the management of performance from its measurement.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Exercise consistent judgement on performance status and the leadership response it requires.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recommended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Define Success  </a:t>
            </a:r>
            <a:r>
              <a:rPr lang="en-US" sz="2600" dirty="0">
                <a:solidFill>
                  <a:srgbClr val="1F2A22"/>
                </a:solidFill>
                <a:latin typeface="Calibri" pitchFamily="34" charset="0"/>
                <a:ea typeface="Calibri" pitchFamily="34" charset="-122"/>
                <a:cs typeface="Calibri" pitchFamily="34" charset="-120"/>
              </a:rPr>
              <a:t>what, by when, at what level</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Design the Management Architecture  </a:t>
            </a:r>
            <a:r>
              <a:rPr lang="en-US" sz="2600" dirty="0">
                <a:solidFill>
                  <a:srgbClr val="1F2A22"/>
                </a:solidFill>
                <a:latin typeface="Calibri" pitchFamily="34" charset="0"/>
                <a:ea typeface="Calibri" pitchFamily="34" charset="-122"/>
                <a:cs typeface="Calibri" pitchFamily="34" charset="-120"/>
              </a:rPr>
              <a:t>What evidence of progress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Design the Measurement Infrastructure  </a:t>
            </a:r>
            <a:r>
              <a:rPr lang="en-US" sz="2600" dirty="0">
                <a:solidFill>
                  <a:srgbClr val="1F2A22"/>
                </a:solidFill>
                <a:latin typeface="Calibri" pitchFamily="34" charset="0"/>
                <a:ea typeface="Calibri" pitchFamily="34" charset="-122"/>
                <a:cs typeface="Calibri" pitchFamily="34" charset="-120"/>
              </a:rPr>
              <a:t>data that serves the conversations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Manage Using Data  </a:t>
            </a:r>
            <a:r>
              <a:rPr lang="en-US" sz="2600" dirty="0">
                <a:solidFill>
                  <a:srgbClr val="1F2A22"/>
                </a:solidFill>
                <a:latin typeface="Calibri" pitchFamily="34" charset="0"/>
                <a:ea typeface="Calibri" pitchFamily="34" charset="-122"/>
                <a:cs typeface="Calibri" pitchFamily="34" charset="-120"/>
              </a:rPr>
              <a:t>where most organisations start</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Individual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Three Sights of Progress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Sight 1 · Strategy</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OKRs · typically 30–50% at senior levels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Sight 2 · Operational</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Departmental KPIs · typically 30–50%</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Sight 3 · Behavioural &amp; Values</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360° feedback · typically 5 – 10%</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Leadership responses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Poor  </a:t>
            </a:r>
            <a:r>
              <a:rPr lang="en-US" sz="2400" dirty="0">
                <a:solidFill>
                  <a:srgbClr val="1F2A22"/>
                </a:solidFill>
                <a:latin typeface="Calibri" pitchFamily="34" charset="0"/>
                <a:ea typeface="Calibri" pitchFamily="34" charset="-122"/>
                <a:cs typeface="Calibri" pitchFamily="34" charset="-120"/>
              </a:rPr>
              <a:t>immediate improvement plan within 30 days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Needs Improvement  </a:t>
            </a:r>
            <a:r>
              <a:rPr lang="en-US" sz="2400" dirty="0">
                <a:solidFill>
                  <a:srgbClr val="1F2A22"/>
                </a:solidFill>
                <a:latin typeface="Calibri" pitchFamily="34" charset="0"/>
                <a:ea typeface="Calibri" pitchFamily="34" charset="-122"/>
                <a:cs typeface="Calibri" pitchFamily="34" charset="-120"/>
              </a:rPr>
              <a:t>structured development plan</a:t>
            </a:r>
            <a:endParaRPr lang="en-US" sz="2400" dirty="0"/>
          </a:p>
        </p:txBody>
      </p:sp>
      <p:sp>
        <p:nvSpPr>
          <p:cNvPr id="9" name="Shape 5"/>
          <p:cNvSpPr/>
          <p:nvPr/>
        </p:nvSpPr>
        <p:spPr>
          <a:xfrm>
            <a:off x="548640" y="363474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Meets Expectations: SOLID GOLD  </a:t>
            </a:r>
            <a:r>
              <a:rPr lang="en-US" sz="2400" dirty="0">
                <a:solidFill>
                  <a:srgbClr val="1F2A22"/>
                </a:solidFill>
                <a:latin typeface="Calibri" pitchFamily="34" charset="0"/>
                <a:ea typeface="Calibri" pitchFamily="34" charset="-122"/>
                <a:cs typeface="Calibri" pitchFamily="34" charset="-120"/>
              </a:rPr>
              <a:t>recognition and retention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Exceeds Expectations  </a:t>
            </a:r>
            <a:r>
              <a:rPr lang="en-US" sz="2400" dirty="0">
                <a:solidFill>
                  <a:srgbClr val="1F2A22"/>
                </a:solidFill>
                <a:latin typeface="Calibri" pitchFamily="34" charset="0"/>
                <a:ea typeface="Calibri" pitchFamily="34" charset="-122"/>
                <a:cs typeface="Calibri" pitchFamily="34" charset="-120"/>
              </a:rPr>
              <a:t>stretch opportunities; retention investment</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 Outstanding  </a:t>
            </a:r>
            <a:r>
              <a:rPr lang="en-US" sz="2400" dirty="0">
                <a:solidFill>
                  <a:srgbClr val="1F2A22"/>
                </a:solidFill>
                <a:latin typeface="Calibri" pitchFamily="34" charset="0"/>
                <a:ea typeface="Calibri" pitchFamily="34" charset="-122"/>
                <a:cs typeface="Calibri" pitchFamily="34" charset="-120"/>
              </a:rPr>
              <a:t>mandatory structural follow-through</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F9BAF56-8D02-7BD3-A40C-F12DF386E0B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9180F7A-37F8-042D-C707-DDDE125FCCFC}"/>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Impact of well-calibrated PM</a:t>
            </a:r>
            <a:endParaRPr lang="en-US" sz="3600" dirty="0"/>
          </a:p>
        </p:txBody>
      </p:sp>
      <p:sp>
        <p:nvSpPr>
          <p:cNvPr id="3" name="Shape 1">
            <a:extLst>
              <a:ext uri="{FF2B5EF4-FFF2-40B4-BE49-F238E27FC236}">
                <a16:creationId xmlns:a16="http://schemas.microsoft.com/office/drawing/2014/main" id="{A4EE0050-5C3C-1899-BDC7-D01835B33ED9}"/>
              </a:ext>
            </a:extLst>
          </p:cNvPr>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sp>
        <p:nvSpPr>
          <p:cNvPr id="5" name="Text 2">
            <a:extLst>
              <a:ext uri="{FF2B5EF4-FFF2-40B4-BE49-F238E27FC236}">
                <a16:creationId xmlns:a16="http://schemas.microsoft.com/office/drawing/2014/main" id="{0607F103-DD9C-D9EE-CCB5-9F4E130CA4FB}"/>
              </a:ext>
            </a:extLst>
          </p:cNvPr>
          <p:cNvSpPr txBox="1"/>
          <p:nvPr/>
        </p:nvSpPr>
        <p:spPr>
          <a:xfrm>
            <a:off x="1508760" y="1681199"/>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·Strategic Transparency: </a:t>
            </a:r>
            <a:r>
              <a:rPr lang="en-GB" sz="2400" dirty="0">
                <a:solidFill>
                  <a:srgbClr val="1F2A22"/>
                </a:solidFill>
                <a:latin typeface="Calibri" pitchFamily="34" charset="0"/>
                <a:ea typeface="Calibri" pitchFamily="34" charset="-122"/>
                <a:cs typeface="Calibri" pitchFamily="34" charset="-120"/>
              </a:rPr>
              <a:t>The line of sight between individual effort and organisational outcome becomes visible and motivating.</a:t>
            </a:r>
          </a:p>
          <a:p>
            <a:pPr marL="0" indent="0">
              <a:buNone/>
            </a:pPr>
            <a:endParaRPr lang="en-US" sz="2400" dirty="0"/>
          </a:p>
        </p:txBody>
      </p:sp>
      <p:sp>
        <p:nvSpPr>
          <p:cNvPr id="6" name="Shape 3">
            <a:extLst>
              <a:ext uri="{FF2B5EF4-FFF2-40B4-BE49-F238E27FC236}">
                <a16:creationId xmlns:a16="http://schemas.microsoft.com/office/drawing/2014/main" id="{63BB5964-12FB-1892-53F4-4C20870C795A}"/>
              </a:ext>
            </a:extLst>
          </p:cNvPr>
          <p:cNvSpPr/>
          <p:nvPr/>
        </p:nvSpPr>
        <p:spPr>
          <a:xfrm>
            <a:off x="548640" y="3099887"/>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8CACEDCE-7D4C-5A5B-9219-0D1B8D596A65}"/>
              </a:ext>
            </a:extLst>
          </p:cNvPr>
          <p:cNvPicPr>
            <a:picLocks noChangeAspect="1"/>
          </p:cNvPicPr>
          <p:nvPr/>
        </p:nvPicPr>
        <p:blipFill>
          <a:blip r:embed="rId3"/>
          <a:stretch>
            <a:fillRect/>
          </a:stretch>
        </p:blipFill>
        <p:spPr>
          <a:xfrm>
            <a:off x="708660" y="3259907"/>
            <a:ext cx="320040" cy="320040"/>
          </a:xfrm>
          <a:prstGeom prst="rect">
            <a:avLst/>
          </a:prstGeom>
        </p:spPr>
      </p:pic>
      <p:sp>
        <p:nvSpPr>
          <p:cNvPr id="8" name="Text 4">
            <a:extLst>
              <a:ext uri="{FF2B5EF4-FFF2-40B4-BE49-F238E27FC236}">
                <a16:creationId xmlns:a16="http://schemas.microsoft.com/office/drawing/2014/main" id="{052530FC-DB2C-4EE6-EEEC-768736E8D291}"/>
              </a:ext>
            </a:extLst>
          </p:cNvPr>
          <p:cNvSpPr txBox="1"/>
          <p:nvPr/>
        </p:nvSpPr>
        <p:spPr>
          <a:xfrm>
            <a:off x="1508760" y="310316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Shift in Dynamics: </a:t>
            </a:r>
            <a:r>
              <a:rPr lang="en-GB" sz="2400" dirty="0">
                <a:solidFill>
                  <a:srgbClr val="1F2A22"/>
                </a:solidFill>
                <a:latin typeface="Calibri" pitchFamily="34" charset="0"/>
                <a:ea typeface="Calibri" pitchFamily="34" charset="-122"/>
                <a:cs typeface="Calibri" pitchFamily="34" charset="-120"/>
              </a:rPr>
              <a:t>The scorecard becomes a shared tool and stops being a judgement handed down from above.</a:t>
            </a:r>
          </a:p>
          <a:p>
            <a:pPr marL="0" indent="0">
              <a:buNone/>
            </a:pPr>
            <a:endParaRPr lang="en-US" sz="2400" dirty="0"/>
          </a:p>
        </p:txBody>
      </p:sp>
      <p:sp>
        <p:nvSpPr>
          <p:cNvPr id="9" name="Shape 5">
            <a:extLst>
              <a:ext uri="{FF2B5EF4-FFF2-40B4-BE49-F238E27FC236}">
                <a16:creationId xmlns:a16="http://schemas.microsoft.com/office/drawing/2014/main" id="{A17F039A-EACE-C581-2538-11674F4A5453}"/>
              </a:ext>
            </a:extLst>
          </p:cNvPr>
          <p:cNvSpPr/>
          <p:nvPr/>
        </p:nvSpPr>
        <p:spPr>
          <a:xfrm>
            <a:off x="548640" y="4596911"/>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52FA28D6-253D-54CE-3F09-928EDB45733F}"/>
              </a:ext>
            </a:extLst>
          </p:cNvPr>
          <p:cNvPicPr>
            <a:picLocks noChangeAspect="1"/>
          </p:cNvPicPr>
          <p:nvPr/>
        </p:nvPicPr>
        <p:blipFill>
          <a:blip r:embed="rId4"/>
          <a:stretch>
            <a:fillRect/>
          </a:stretch>
        </p:blipFill>
        <p:spPr>
          <a:xfrm>
            <a:off x="708660" y="4756931"/>
            <a:ext cx="320040" cy="320040"/>
          </a:xfrm>
          <a:prstGeom prst="rect">
            <a:avLst/>
          </a:prstGeom>
        </p:spPr>
      </p:pic>
      <p:sp>
        <p:nvSpPr>
          <p:cNvPr id="11" name="Text 6">
            <a:extLst>
              <a:ext uri="{FF2B5EF4-FFF2-40B4-BE49-F238E27FC236}">
                <a16:creationId xmlns:a16="http://schemas.microsoft.com/office/drawing/2014/main" id="{3649B567-311F-DF8D-39A0-3536AEE42C7F}"/>
              </a:ext>
            </a:extLst>
          </p:cNvPr>
          <p:cNvSpPr txBox="1"/>
          <p:nvPr/>
        </p:nvSpPr>
        <p:spPr>
          <a:xfrm>
            <a:off x="1508760" y="4513967"/>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Pathways to Excellence:  </a:t>
            </a:r>
            <a:r>
              <a:rPr lang="en-GB" sz="2400" dirty="0">
                <a:solidFill>
                  <a:srgbClr val="1F2A22"/>
                </a:solidFill>
                <a:latin typeface="Calibri" pitchFamily="34" charset="0"/>
                <a:ea typeface="Calibri" pitchFamily="34" charset="-122"/>
                <a:cs typeface="Calibri" pitchFamily="34" charset="-120"/>
              </a:rPr>
              <a:t>The rating scale provides a clear roadmap for growth, showing exactly what is required to move from one level to the next. </a:t>
            </a:r>
            <a:endParaRPr lang="en-US" sz="2400" dirty="0"/>
          </a:p>
        </p:txBody>
      </p:sp>
      <p:pic>
        <p:nvPicPr>
          <p:cNvPr id="19" name="Image 4" descr="preencoded.png">
            <a:extLst>
              <a:ext uri="{FF2B5EF4-FFF2-40B4-BE49-F238E27FC236}">
                <a16:creationId xmlns:a16="http://schemas.microsoft.com/office/drawing/2014/main" id="{4FBED5BF-98EA-903E-1302-63AF7C9AA9AB}"/>
              </a:ext>
            </a:extLst>
          </p:cNvPr>
          <p:cNvPicPr>
            <a:picLocks noChangeAspect="1"/>
          </p:cNvPicPr>
          <p:nvPr/>
        </p:nvPicPr>
        <p:blipFill>
          <a:blip r:embed="rId5"/>
          <a:stretch>
            <a:fillRect/>
          </a:stretch>
        </p:blipFill>
        <p:spPr>
          <a:xfrm>
            <a:off x="708660" y="1821874"/>
            <a:ext cx="320040" cy="320040"/>
          </a:xfrm>
          <a:prstGeom prst="rect">
            <a:avLst/>
          </a:prstGeom>
        </p:spPr>
      </p:pic>
      <p:pic>
        <p:nvPicPr>
          <p:cNvPr id="23" name="Image 4" descr="preencoded.png">
            <a:extLst>
              <a:ext uri="{FF2B5EF4-FFF2-40B4-BE49-F238E27FC236}">
                <a16:creationId xmlns:a16="http://schemas.microsoft.com/office/drawing/2014/main" id="{FDC5558E-CE90-0DBC-4BDF-53AA2EB66A6D}"/>
              </a:ext>
            </a:extLst>
          </p:cNvPr>
          <p:cNvPicPr>
            <a:picLocks noChangeAspect="1"/>
          </p:cNvPicPr>
          <p:nvPr/>
        </p:nvPicPr>
        <p:blipFill>
          <a:blip r:embed="rId5"/>
          <a:stretch>
            <a:fillRect/>
          </a:stretch>
        </p:blipFill>
        <p:spPr>
          <a:xfrm>
            <a:off x="708660" y="5751576"/>
            <a:ext cx="320040" cy="320040"/>
          </a:xfrm>
          <a:prstGeom prst="rect">
            <a:avLst/>
          </a:prstGeom>
        </p:spPr>
      </p:pic>
      <p:pic>
        <p:nvPicPr>
          <p:cNvPr id="25" name="Image 4" descr="preencoded.png">
            <a:extLst>
              <a:ext uri="{FF2B5EF4-FFF2-40B4-BE49-F238E27FC236}">
                <a16:creationId xmlns:a16="http://schemas.microsoft.com/office/drawing/2014/main" id="{E0A765C8-2D4F-B662-8B0F-F64C0020EE23}"/>
              </a:ext>
            </a:extLst>
          </p:cNvPr>
          <p:cNvPicPr>
            <a:picLocks noChangeAspect="1"/>
          </p:cNvPicPr>
          <p:nvPr/>
        </p:nvPicPr>
        <p:blipFill>
          <a:blip r:embed="rId5"/>
          <a:stretch>
            <a:fillRect/>
          </a:stretch>
        </p:blipFill>
        <p:spPr>
          <a:xfrm>
            <a:off x="861060" y="5903976"/>
            <a:ext cx="320040" cy="320040"/>
          </a:xfrm>
          <a:prstGeom prst="rect">
            <a:avLst/>
          </a:prstGeom>
        </p:spPr>
      </p:pic>
    </p:spTree>
    <p:extLst>
      <p:ext uri="{BB962C8B-B14F-4D97-AF65-F5344CB8AC3E}">
        <p14:creationId xmlns:p14="http://schemas.microsoft.com/office/powerpoint/2010/main" val="6587387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1 Reflections </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FFFFFF"/>
                </a:solidFill>
                <a:effectLst/>
                <a:uLnTx/>
                <a:uFillTx/>
                <a:latin typeface="Calibri"/>
                <a:ea typeface="+mn-ea"/>
                <a:cs typeface="+mn-cs"/>
              </a:rPr>
              <a:t>1.1</a:t>
            </a:r>
          </a:p>
        </p:txBody>
      </p:sp>
      <p:pic>
        <p:nvPicPr>
          <p:cNvPr id="10" name="Picture 9">
            <a:extLst>
              <a:ext uri="{FF2B5EF4-FFF2-40B4-BE49-F238E27FC236}">
                <a16:creationId xmlns:a16="http://schemas.microsoft.com/office/drawing/2014/main" id="{C1F0DAF1-2E67-2CB8-A311-28613D8C3019}"/>
              </a:ext>
            </a:extLst>
          </p:cNvPr>
          <p:cNvPicPr>
            <a:picLocks noChangeAspect="1"/>
          </p:cNvPicPr>
          <p:nvPr/>
        </p:nvPicPr>
        <p:blipFill>
          <a:blip r:embed="rId3"/>
          <a:stretch>
            <a:fillRect/>
          </a:stretch>
        </p:blipFill>
        <p:spPr>
          <a:xfrm>
            <a:off x="1691640" y="1572768"/>
            <a:ext cx="9921240" cy="103214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PM as an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Define how performance management connects enterprise outcomes to individual accountability.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current performance arrangements build compliance or commitment.</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PM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Progress per Period =  </a:t>
            </a:r>
            <a:r>
              <a:rPr lang="en-US" sz="2600" dirty="0">
                <a:solidFill>
                  <a:srgbClr val="1F2A22"/>
                </a:solidFill>
                <a:latin typeface="Calibri" pitchFamily="34" charset="0"/>
                <a:ea typeface="Calibri" pitchFamily="34" charset="-122"/>
                <a:cs typeface="Calibri" pitchFamily="34" charset="-120"/>
              </a:rPr>
              <a:t>(End Target − Baseline) ÷ Number of Periods</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18" name="Rectangle 17">
            <a:extLst>
              <a:ext uri="{FF2B5EF4-FFF2-40B4-BE49-F238E27FC236}">
                <a16:creationId xmlns:a16="http://schemas.microsoft.com/office/drawing/2014/main" id="{15F679BE-6D94-9515-DCEB-DE9FE48D7025}"/>
              </a:ext>
            </a:extLst>
          </p:cNvPr>
          <p:cNvSpPr>
            <a:spLocks noGrp="1"/>
          </p:cNvSpPr>
          <p:nvPr/>
        </p:nvSpPr>
        <p:spPr>
          <a:xfrm>
            <a:off x="548640" y="1504094"/>
            <a:ext cx="2095500" cy="266700"/>
          </a:xfrm>
          <a:prstGeom prst="rect">
            <a:avLst/>
          </a:prstGeom>
          <a:noFill/>
          <a:ln w="0">
            <a:noFill/>
            <a:prstDash val="solid"/>
          </a:ln>
        </p:spPr>
        <p:txBody>
          <a:bodyPr/>
          <a:lstStyle>
            <a:defPPr>
              <a:defRPr sz="1050" b="1">
                <a:solidFill>
                  <a:srgbClr val="B9C5B4"/>
                </a:solidFill>
              </a:defRPr>
            </a:defPPr>
          </a:lstStyle>
          <a:p>
            <a:pPr>
              <a:defRPr sz="1050" b="1">
                <a:solidFill>
                  <a:srgbClr val="B9C5B4"/>
                </a:solidFill>
              </a:defRPr>
            </a:pPr>
            <a:r>
              <a:rPr sz="2400" b="1" dirty="0">
                <a:solidFill>
                  <a:schemeClr val="accent6">
                    <a:lumMod val="50000"/>
                  </a:schemeClr>
                </a:solidFill>
              </a:rPr>
              <a:t>DIMENSION</a:t>
            </a:r>
          </a:p>
        </p:txBody>
      </p:sp>
      <p:sp>
        <p:nvSpPr>
          <p:cNvPr id="20" name="Rectangle 19">
            <a:extLst>
              <a:ext uri="{FF2B5EF4-FFF2-40B4-BE49-F238E27FC236}">
                <a16:creationId xmlns:a16="http://schemas.microsoft.com/office/drawing/2014/main" id="{6BF2423B-8BE9-782B-1A1B-1CD797F6B112}"/>
              </a:ext>
            </a:extLst>
          </p:cNvPr>
          <p:cNvSpPr>
            <a:spLocks noGrp="1"/>
          </p:cNvSpPr>
          <p:nvPr/>
        </p:nvSpPr>
        <p:spPr>
          <a:xfrm>
            <a:off x="2891790" y="1504094"/>
            <a:ext cx="4381500" cy="266700"/>
          </a:xfrm>
          <a:prstGeom prst="rect">
            <a:avLst/>
          </a:prstGeom>
          <a:noFill/>
          <a:ln w="0">
            <a:noFill/>
            <a:prstDash val="solid"/>
          </a:ln>
        </p:spPr>
        <p:txBody>
          <a:bodyPr/>
          <a:lstStyle>
            <a:defPPr>
              <a:defRPr sz="1350" b="1">
                <a:solidFill>
                  <a:srgbClr val="FFB1AC"/>
                </a:solidFill>
              </a:defRPr>
            </a:defPPr>
          </a:lstStyle>
          <a:p>
            <a:pPr>
              <a:defRPr sz="1350" b="1">
                <a:solidFill>
                  <a:srgbClr val="FFB1AC"/>
                </a:solidFill>
              </a:defRPr>
            </a:pPr>
            <a:r>
              <a:rPr sz="2400" b="1">
                <a:solidFill>
                  <a:schemeClr val="accent6">
                    <a:lumMod val="50000"/>
                  </a:schemeClr>
                </a:solidFill>
              </a:rPr>
              <a:t>COMPLIANCE</a:t>
            </a:r>
          </a:p>
        </p:txBody>
      </p:sp>
      <p:sp>
        <p:nvSpPr>
          <p:cNvPr id="22" name="Rectangle 21">
            <a:extLst>
              <a:ext uri="{FF2B5EF4-FFF2-40B4-BE49-F238E27FC236}">
                <a16:creationId xmlns:a16="http://schemas.microsoft.com/office/drawing/2014/main" id="{E3BE8242-AF8A-FC24-ED3D-9A6CFA6A1667}"/>
              </a:ext>
            </a:extLst>
          </p:cNvPr>
          <p:cNvSpPr>
            <a:spLocks noGrp="1"/>
          </p:cNvSpPr>
          <p:nvPr/>
        </p:nvSpPr>
        <p:spPr>
          <a:xfrm>
            <a:off x="7520940" y="1504094"/>
            <a:ext cx="4381500" cy="266700"/>
          </a:xfrm>
          <a:prstGeom prst="rect">
            <a:avLst/>
          </a:prstGeom>
          <a:noFill/>
          <a:ln w="0">
            <a:noFill/>
            <a:prstDash val="solid"/>
          </a:ln>
        </p:spPr>
        <p:txBody>
          <a:bodyPr/>
          <a:lstStyle>
            <a:defPPr>
              <a:defRPr sz="1350" b="1">
                <a:solidFill>
                  <a:srgbClr val="95E2C5"/>
                </a:solidFill>
              </a:defRPr>
            </a:defPPr>
          </a:lstStyle>
          <a:p>
            <a:pPr>
              <a:defRPr sz="1350" b="1">
                <a:solidFill>
                  <a:srgbClr val="95E2C5"/>
                </a:solidFill>
              </a:defRPr>
            </a:pPr>
            <a:r>
              <a:rPr sz="2400" b="1">
                <a:solidFill>
                  <a:schemeClr val="accent6">
                    <a:lumMod val="50000"/>
                  </a:schemeClr>
                </a:solidFill>
              </a:rPr>
              <a:t>COMMITMENT</a:t>
            </a:r>
          </a:p>
        </p:txBody>
      </p:sp>
      <p:sp>
        <p:nvSpPr>
          <p:cNvPr id="24" name="Rectangle 23">
            <a:extLst>
              <a:ext uri="{FF2B5EF4-FFF2-40B4-BE49-F238E27FC236}">
                <a16:creationId xmlns:a16="http://schemas.microsoft.com/office/drawing/2014/main" id="{26D4F17B-3F40-87E3-143D-964538A243A8}"/>
              </a:ext>
            </a:extLst>
          </p:cNvPr>
          <p:cNvSpPr>
            <a:spLocks noGrp="1"/>
          </p:cNvSpPr>
          <p:nvPr/>
        </p:nvSpPr>
        <p:spPr>
          <a:xfrm>
            <a:off x="548640" y="208344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26" name="Rectangle 25">
            <a:extLst>
              <a:ext uri="{FF2B5EF4-FFF2-40B4-BE49-F238E27FC236}">
                <a16:creationId xmlns:a16="http://schemas.microsoft.com/office/drawing/2014/main" id="{FCDB8BCE-D47C-2A69-DEAB-C3E3C342351A}"/>
              </a:ext>
            </a:extLst>
          </p:cNvPr>
          <p:cNvSpPr>
            <a:spLocks noGrp="1"/>
          </p:cNvSpPr>
          <p:nvPr/>
        </p:nvSpPr>
        <p:spPr>
          <a:xfrm>
            <a:off x="548639" y="2100784"/>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dirty="0">
                <a:solidFill>
                  <a:schemeClr val="accent6">
                    <a:lumMod val="50000"/>
                  </a:schemeClr>
                </a:solidFill>
              </a:rPr>
              <a:t>PURPOSE</a:t>
            </a:r>
          </a:p>
        </p:txBody>
      </p:sp>
      <p:sp>
        <p:nvSpPr>
          <p:cNvPr id="28" name="Rectangle 27">
            <a:extLst>
              <a:ext uri="{FF2B5EF4-FFF2-40B4-BE49-F238E27FC236}">
                <a16:creationId xmlns:a16="http://schemas.microsoft.com/office/drawing/2014/main" id="{E3B9D6AA-5754-9C5F-52E0-0AC60ECE872A}"/>
              </a:ext>
            </a:extLst>
          </p:cNvPr>
          <p:cNvSpPr>
            <a:spLocks noGrp="1"/>
          </p:cNvSpPr>
          <p:nvPr/>
        </p:nvSpPr>
        <p:spPr>
          <a:xfrm>
            <a:off x="3097156" y="2097721"/>
            <a:ext cx="4999673"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lang="en-ZA" sz="2200" dirty="0">
                <a:solidFill>
                  <a:schemeClr val="tx1">
                    <a:lumMod val="95000"/>
                    <a:lumOff val="5000"/>
                  </a:schemeClr>
                </a:solidFill>
              </a:rPr>
              <a:t>M</a:t>
            </a:r>
            <a:r>
              <a:rPr sz="2200" b="0" dirty="0" err="1">
                <a:solidFill>
                  <a:schemeClr val="tx1">
                    <a:lumMod val="95000"/>
                    <a:lumOff val="5000"/>
                  </a:schemeClr>
                </a:solidFill>
              </a:rPr>
              <a:t>inimum</a:t>
            </a:r>
            <a:r>
              <a:rPr sz="2200" b="0" dirty="0">
                <a:solidFill>
                  <a:schemeClr val="tx1">
                    <a:lumMod val="95000"/>
                    <a:lumOff val="5000"/>
                  </a:schemeClr>
                </a:solidFill>
              </a:rPr>
              <a:t> standards </a:t>
            </a:r>
            <a:r>
              <a:rPr lang="en-ZA" sz="2200" b="0" dirty="0">
                <a:solidFill>
                  <a:schemeClr val="tx1">
                    <a:lumMod val="95000"/>
                    <a:lumOff val="5000"/>
                  </a:schemeClr>
                </a:solidFill>
              </a:rPr>
              <a:t>and </a:t>
            </a:r>
            <a:r>
              <a:rPr sz="2200" b="0" dirty="0">
                <a:solidFill>
                  <a:schemeClr val="tx1">
                    <a:lumMod val="95000"/>
                    <a:lumOff val="5000"/>
                  </a:schemeClr>
                </a:solidFill>
              </a:rPr>
              <a:t>correct</a:t>
            </a:r>
            <a:r>
              <a:rPr lang="en-ZA" sz="2200" b="0" dirty="0">
                <a:solidFill>
                  <a:schemeClr val="tx1">
                    <a:lumMod val="95000"/>
                    <a:lumOff val="5000"/>
                  </a:schemeClr>
                </a:solidFill>
              </a:rPr>
              <a:t>ions</a:t>
            </a:r>
            <a:endParaRPr sz="2200" b="0" dirty="0">
              <a:solidFill>
                <a:schemeClr val="tx1">
                  <a:lumMod val="95000"/>
                  <a:lumOff val="5000"/>
                </a:schemeClr>
              </a:solidFill>
            </a:endParaRPr>
          </a:p>
        </p:txBody>
      </p:sp>
      <p:sp>
        <p:nvSpPr>
          <p:cNvPr id="30" name="Rectangle 29">
            <a:extLst>
              <a:ext uri="{FF2B5EF4-FFF2-40B4-BE49-F238E27FC236}">
                <a16:creationId xmlns:a16="http://schemas.microsoft.com/office/drawing/2014/main" id="{00D78F66-A20B-4E0A-756F-4F82ACEDD320}"/>
              </a:ext>
            </a:extLst>
          </p:cNvPr>
          <p:cNvSpPr>
            <a:spLocks noGrp="1"/>
          </p:cNvSpPr>
          <p:nvPr/>
        </p:nvSpPr>
        <p:spPr>
          <a:xfrm>
            <a:off x="7520940" y="2102484"/>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lang="en-ZA" sz="2200" dirty="0">
                <a:solidFill>
                  <a:schemeClr val="tx1">
                    <a:lumMod val="95000"/>
                    <a:lumOff val="5000"/>
                  </a:schemeClr>
                </a:solidFill>
              </a:rPr>
              <a:t>S</a:t>
            </a:r>
            <a:r>
              <a:rPr sz="2200" b="0" dirty="0">
                <a:solidFill>
                  <a:schemeClr val="tx1">
                    <a:lumMod val="95000"/>
                    <a:lumOff val="5000"/>
                  </a:schemeClr>
                </a:solidFill>
              </a:rPr>
              <a:t>hared ownership of results</a:t>
            </a:r>
          </a:p>
        </p:txBody>
      </p:sp>
      <p:sp>
        <p:nvSpPr>
          <p:cNvPr id="32" name="Rectangle 31">
            <a:extLst>
              <a:ext uri="{FF2B5EF4-FFF2-40B4-BE49-F238E27FC236}">
                <a16:creationId xmlns:a16="http://schemas.microsoft.com/office/drawing/2014/main" id="{706F198F-AAEF-6B9B-F196-CC514152FE5D}"/>
              </a:ext>
            </a:extLst>
          </p:cNvPr>
          <p:cNvSpPr>
            <a:spLocks noGrp="1"/>
          </p:cNvSpPr>
          <p:nvPr/>
        </p:nvSpPr>
        <p:spPr>
          <a:xfrm>
            <a:off x="548640" y="2679591"/>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34" name="Rectangle 33">
            <a:extLst>
              <a:ext uri="{FF2B5EF4-FFF2-40B4-BE49-F238E27FC236}">
                <a16:creationId xmlns:a16="http://schemas.microsoft.com/office/drawing/2014/main" id="{2EC79F26-A96F-C316-5CD1-BAB0DA188A90}"/>
              </a:ext>
            </a:extLst>
          </p:cNvPr>
          <p:cNvSpPr>
            <a:spLocks noGrp="1"/>
          </p:cNvSpPr>
          <p:nvPr/>
        </p:nvSpPr>
        <p:spPr>
          <a:xfrm>
            <a:off x="548639" y="2696933"/>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a:solidFill>
                  <a:schemeClr val="accent6">
                    <a:lumMod val="50000"/>
                  </a:schemeClr>
                </a:solidFill>
              </a:rPr>
              <a:t>OWNERSHIP</a:t>
            </a:r>
          </a:p>
        </p:txBody>
      </p:sp>
      <p:sp>
        <p:nvSpPr>
          <p:cNvPr id="36" name="Rectangle 35">
            <a:extLst>
              <a:ext uri="{FF2B5EF4-FFF2-40B4-BE49-F238E27FC236}">
                <a16:creationId xmlns:a16="http://schemas.microsoft.com/office/drawing/2014/main" id="{4FEB652D-2DEE-B6DA-DBCF-104FCE0F8925}"/>
              </a:ext>
            </a:extLst>
          </p:cNvPr>
          <p:cNvSpPr>
            <a:spLocks noGrp="1"/>
          </p:cNvSpPr>
          <p:nvPr/>
        </p:nvSpPr>
        <p:spPr>
          <a:xfrm>
            <a:off x="3097157" y="2693870"/>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Leader holds accountability </a:t>
            </a:r>
          </a:p>
        </p:txBody>
      </p:sp>
      <p:sp>
        <p:nvSpPr>
          <p:cNvPr id="38" name="Rectangle 37">
            <a:extLst>
              <a:ext uri="{FF2B5EF4-FFF2-40B4-BE49-F238E27FC236}">
                <a16:creationId xmlns:a16="http://schemas.microsoft.com/office/drawing/2014/main" id="{0C47CEFA-9A6D-DB5F-8AA7-BE55B03FF40D}"/>
              </a:ext>
            </a:extLst>
          </p:cNvPr>
          <p:cNvSpPr>
            <a:spLocks noGrp="1"/>
          </p:cNvSpPr>
          <p:nvPr/>
        </p:nvSpPr>
        <p:spPr>
          <a:xfrm>
            <a:off x="7520940" y="2698633"/>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Team co-owns accountability</a:t>
            </a:r>
          </a:p>
        </p:txBody>
      </p:sp>
      <p:sp>
        <p:nvSpPr>
          <p:cNvPr id="40" name="Rectangle 39">
            <a:extLst>
              <a:ext uri="{FF2B5EF4-FFF2-40B4-BE49-F238E27FC236}">
                <a16:creationId xmlns:a16="http://schemas.microsoft.com/office/drawing/2014/main" id="{30766800-A731-AE17-211F-484C5EE73A15}"/>
              </a:ext>
            </a:extLst>
          </p:cNvPr>
          <p:cNvSpPr>
            <a:spLocks noGrp="1"/>
          </p:cNvSpPr>
          <p:nvPr/>
        </p:nvSpPr>
        <p:spPr>
          <a:xfrm>
            <a:off x="548640" y="3349705"/>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42" name="Rectangle 41">
            <a:extLst>
              <a:ext uri="{FF2B5EF4-FFF2-40B4-BE49-F238E27FC236}">
                <a16:creationId xmlns:a16="http://schemas.microsoft.com/office/drawing/2014/main" id="{44E76C88-659A-9C0E-9029-9B35837C1027}"/>
              </a:ext>
            </a:extLst>
          </p:cNvPr>
          <p:cNvSpPr>
            <a:spLocks noGrp="1"/>
          </p:cNvSpPr>
          <p:nvPr/>
        </p:nvSpPr>
        <p:spPr>
          <a:xfrm>
            <a:off x="548639" y="3367047"/>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a:solidFill>
                  <a:schemeClr val="accent6">
                    <a:lumMod val="50000"/>
                  </a:schemeClr>
                </a:solidFill>
              </a:rPr>
              <a:t>TONE</a:t>
            </a:r>
          </a:p>
        </p:txBody>
      </p:sp>
      <p:sp>
        <p:nvSpPr>
          <p:cNvPr id="44" name="Rectangle 43">
            <a:extLst>
              <a:ext uri="{FF2B5EF4-FFF2-40B4-BE49-F238E27FC236}">
                <a16:creationId xmlns:a16="http://schemas.microsoft.com/office/drawing/2014/main" id="{01C85AC6-4703-65F9-FFDE-2AB84E423E48}"/>
              </a:ext>
            </a:extLst>
          </p:cNvPr>
          <p:cNvSpPr>
            <a:spLocks noGrp="1"/>
          </p:cNvSpPr>
          <p:nvPr/>
        </p:nvSpPr>
        <p:spPr>
          <a:xfrm>
            <a:off x="3097157" y="3363984"/>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Assessment and judgement</a:t>
            </a:r>
          </a:p>
        </p:txBody>
      </p:sp>
      <p:sp>
        <p:nvSpPr>
          <p:cNvPr id="46" name="Rectangle 45">
            <a:extLst>
              <a:ext uri="{FF2B5EF4-FFF2-40B4-BE49-F238E27FC236}">
                <a16:creationId xmlns:a16="http://schemas.microsoft.com/office/drawing/2014/main" id="{7B89DD46-BE6D-0A0E-ED97-5D1A06512616}"/>
              </a:ext>
            </a:extLst>
          </p:cNvPr>
          <p:cNvSpPr>
            <a:spLocks noGrp="1"/>
          </p:cNvSpPr>
          <p:nvPr/>
        </p:nvSpPr>
        <p:spPr>
          <a:xfrm>
            <a:off x="7520940" y="3368747"/>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Inquiry and problem-solving</a:t>
            </a:r>
          </a:p>
        </p:txBody>
      </p:sp>
      <p:sp>
        <p:nvSpPr>
          <p:cNvPr id="48" name="Rectangle 47">
            <a:extLst>
              <a:ext uri="{FF2B5EF4-FFF2-40B4-BE49-F238E27FC236}">
                <a16:creationId xmlns:a16="http://schemas.microsoft.com/office/drawing/2014/main" id="{81D3D1E3-C63A-0624-80CC-C5B1F467E10F}"/>
              </a:ext>
            </a:extLst>
          </p:cNvPr>
          <p:cNvSpPr>
            <a:spLocks noGrp="1"/>
          </p:cNvSpPr>
          <p:nvPr/>
        </p:nvSpPr>
        <p:spPr>
          <a:xfrm>
            <a:off x="548640" y="3959309"/>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50" name="Rectangle 49">
            <a:extLst>
              <a:ext uri="{FF2B5EF4-FFF2-40B4-BE49-F238E27FC236}">
                <a16:creationId xmlns:a16="http://schemas.microsoft.com/office/drawing/2014/main" id="{F091545B-D420-92D8-75D6-6BDBCFC94606}"/>
              </a:ext>
            </a:extLst>
          </p:cNvPr>
          <p:cNvSpPr>
            <a:spLocks noGrp="1"/>
          </p:cNvSpPr>
          <p:nvPr/>
        </p:nvSpPr>
        <p:spPr>
          <a:xfrm>
            <a:off x="548639" y="3976651"/>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a:solidFill>
                  <a:schemeClr val="accent6">
                    <a:lumMod val="50000"/>
                  </a:schemeClr>
                </a:solidFill>
              </a:rPr>
              <a:t>UNDERPERFORMANCE</a:t>
            </a:r>
          </a:p>
        </p:txBody>
      </p:sp>
      <p:sp>
        <p:nvSpPr>
          <p:cNvPr id="52" name="Rectangle 51">
            <a:extLst>
              <a:ext uri="{FF2B5EF4-FFF2-40B4-BE49-F238E27FC236}">
                <a16:creationId xmlns:a16="http://schemas.microsoft.com/office/drawing/2014/main" id="{11DEFACA-78C9-65C3-EC8C-3084E5458F30}"/>
              </a:ext>
            </a:extLst>
          </p:cNvPr>
          <p:cNvSpPr>
            <a:spLocks noGrp="1"/>
          </p:cNvSpPr>
          <p:nvPr/>
        </p:nvSpPr>
        <p:spPr>
          <a:xfrm>
            <a:off x="3097157" y="3973588"/>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a:solidFill>
                  <a:schemeClr val="tx1">
                    <a:lumMod val="95000"/>
                    <a:lumOff val="5000"/>
                  </a:schemeClr>
                </a:solidFill>
              </a:rPr>
              <a:t>Consequence and control</a:t>
            </a:r>
          </a:p>
        </p:txBody>
      </p:sp>
      <p:sp>
        <p:nvSpPr>
          <p:cNvPr id="54" name="Rectangle 53">
            <a:extLst>
              <a:ext uri="{FF2B5EF4-FFF2-40B4-BE49-F238E27FC236}">
                <a16:creationId xmlns:a16="http://schemas.microsoft.com/office/drawing/2014/main" id="{CC4EB89C-FC63-6A9F-5440-946BD1A81D43}"/>
              </a:ext>
            </a:extLst>
          </p:cNvPr>
          <p:cNvSpPr>
            <a:spLocks noGrp="1"/>
          </p:cNvSpPr>
          <p:nvPr/>
        </p:nvSpPr>
        <p:spPr>
          <a:xfrm>
            <a:off x="7520940" y="3978351"/>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Root cause understanding</a:t>
            </a:r>
          </a:p>
        </p:txBody>
      </p:sp>
      <p:sp>
        <p:nvSpPr>
          <p:cNvPr id="56" name="Rectangle 55">
            <a:extLst>
              <a:ext uri="{FF2B5EF4-FFF2-40B4-BE49-F238E27FC236}">
                <a16:creationId xmlns:a16="http://schemas.microsoft.com/office/drawing/2014/main" id="{7E8827BE-F07B-3309-DB98-CC309F545F0D}"/>
              </a:ext>
            </a:extLst>
          </p:cNvPr>
          <p:cNvSpPr>
            <a:spLocks noGrp="1"/>
          </p:cNvSpPr>
          <p:nvPr/>
        </p:nvSpPr>
        <p:spPr>
          <a:xfrm>
            <a:off x="548640" y="4649598"/>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58" name="Rectangle 57">
            <a:extLst>
              <a:ext uri="{FF2B5EF4-FFF2-40B4-BE49-F238E27FC236}">
                <a16:creationId xmlns:a16="http://schemas.microsoft.com/office/drawing/2014/main" id="{FF20D3DE-EFAB-6790-0A00-B2535DECC9FB}"/>
              </a:ext>
            </a:extLst>
          </p:cNvPr>
          <p:cNvSpPr>
            <a:spLocks noGrp="1"/>
          </p:cNvSpPr>
          <p:nvPr/>
        </p:nvSpPr>
        <p:spPr>
          <a:xfrm>
            <a:off x="548639" y="4666940"/>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a:solidFill>
                  <a:schemeClr val="accent6">
                    <a:lumMod val="50000"/>
                  </a:schemeClr>
                </a:solidFill>
              </a:rPr>
              <a:t>MOTIVATION</a:t>
            </a:r>
          </a:p>
        </p:txBody>
      </p:sp>
      <p:sp>
        <p:nvSpPr>
          <p:cNvPr id="60" name="Rectangle 59">
            <a:extLst>
              <a:ext uri="{FF2B5EF4-FFF2-40B4-BE49-F238E27FC236}">
                <a16:creationId xmlns:a16="http://schemas.microsoft.com/office/drawing/2014/main" id="{BCF916B7-160D-115F-9B7F-C25746179418}"/>
              </a:ext>
            </a:extLst>
          </p:cNvPr>
          <p:cNvSpPr>
            <a:spLocks noGrp="1"/>
          </p:cNvSpPr>
          <p:nvPr/>
        </p:nvSpPr>
        <p:spPr>
          <a:xfrm>
            <a:off x="3097157" y="4663877"/>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a:solidFill>
                  <a:schemeClr val="tx1">
                    <a:lumMod val="95000"/>
                    <a:lumOff val="5000"/>
                  </a:schemeClr>
                </a:solidFill>
              </a:rPr>
              <a:t>Avoiding negative consequence</a:t>
            </a:r>
          </a:p>
        </p:txBody>
      </p:sp>
      <p:sp>
        <p:nvSpPr>
          <p:cNvPr id="62" name="Rectangle 61">
            <a:extLst>
              <a:ext uri="{FF2B5EF4-FFF2-40B4-BE49-F238E27FC236}">
                <a16:creationId xmlns:a16="http://schemas.microsoft.com/office/drawing/2014/main" id="{9346B83C-E38D-B61B-8A4B-6C156FB8119D}"/>
              </a:ext>
            </a:extLst>
          </p:cNvPr>
          <p:cNvSpPr>
            <a:spLocks noGrp="1"/>
          </p:cNvSpPr>
          <p:nvPr/>
        </p:nvSpPr>
        <p:spPr>
          <a:xfrm>
            <a:off x="7520940" y="4668640"/>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Intrinsic meaning and shared pride</a:t>
            </a:r>
          </a:p>
        </p:txBody>
      </p:sp>
      <p:sp>
        <p:nvSpPr>
          <p:cNvPr id="64" name="Rectangle 63">
            <a:extLst>
              <a:ext uri="{FF2B5EF4-FFF2-40B4-BE49-F238E27FC236}">
                <a16:creationId xmlns:a16="http://schemas.microsoft.com/office/drawing/2014/main" id="{A87AB4E0-D106-3A31-60DD-DCB7356C2DE0}"/>
              </a:ext>
            </a:extLst>
          </p:cNvPr>
          <p:cNvSpPr>
            <a:spLocks noGrp="1"/>
          </p:cNvSpPr>
          <p:nvPr/>
        </p:nvSpPr>
        <p:spPr>
          <a:xfrm>
            <a:off x="548640" y="5218860"/>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66" name="Rectangle 65">
            <a:extLst>
              <a:ext uri="{FF2B5EF4-FFF2-40B4-BE49-F238E27FC236}">
                <a16:creationId xmlns:a16="http://schemas.microsoft.com/office/drawing/2014/main" id="{5DE2347C-D6D4-FD78-0812-83B325A32D40}"/>
              </a:ext>
            </a:extLst>
          </p:cNvPr>
          <p:cNvSpPr>
            <a:spLocks noGrp="1"/>
          </p:cNvSpPr>
          <p:nvPr/>
        </p:nvSpPr>
        <p:spPr>
          <a:xfrm>
            <a:off x="548639" y="5444639"/>
            <a:ext cx="2719999" cy="266700"/>
          </a:xfrm>
          <a:prstGeom prst="rect">
            <a:avLst/>
          </a:prstGeom>
          <a:noFill/>
          <a:ln w="0">
            <a:noFill/>
            <a:prstDash val="solid"/>
          </a:ln>
        </p:spPr>
        <p:txBody>
          <a:bodyPr/>
          <a:lstStyle>
            <a:defPPr>
              <a:defRPr sz="1050" b="1">
                <a:solidFill>
                  <a:srgbClr val="AAB5A6"/>
                </a:solidFill>
              </a:defRPr>
            </a:defPPr>
          </a:lstStyle>
          <a:p>
            <a:pPr>
              <a:defRPr sz="1050" b="1">
                <a:solidFill>
                  <a:srgbClr val="AAB5A6"/>
                </a:solidFill>
              </a:defRPr>
            </a:pPr>
            <a:r>
              <a:rPr sz="2000" b="1" dirty="0">
                <a:solidFill>
                  <a:schemeClr val="accent6">
                    <a:lumMod val="50000"/>
                  </a:schemeClr>
                </a:solidFill>
              </a:rPr>
              <a:t>PM EXPERIENCE</a:t>
            </a:r>
          </a:p>
        </p:txBody>
      </p:sp>
      <p:sp>
        <p:nvSpPr>
          <p:cNvPr id="68" name="Rectangle 67">
            <a:extLst>
              <a:ext uri="{FF2B5EF4-FFF2-40B4-BE49-F238E27FC236}">
                <a16:creationId xmlns:a16="http://schemas.microsoft.com/office/drawing/2014/main" id="{45ECA6E9-1581-CE97-0951-3D2398881734}"/>
              </a:ext>
            </a:extLst>
          </p:cNvPr>
          <p:cNvSpPr>
            <a:spLocks noGrp="1"/>
          </p:cNvSpPr>
          <p:nvPr/>
        </p:nvSpPr>
        <p:spPr>
          <a:xfrm>
            <a:off x="3097157" y="5441576"/>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Anxiety-producing</a:t>
            </a:r>
          </a:p>
        </p:txBody>
      </p:sp>
      <p:sp>
        <p:nvSpPr>
          <p:cNvPr id="70" name="Rectangle 69">
            <a:extLst>
              <a:ext uri="{FF2B5EF4-FFF2-40B4-BE49-F238E27FC236}">
                <a16:creationId xmlns:a16="http://schemas.microsoft.com/office/drawing/2014/main" id="{4D38833D-C158-56FC-1A7C-F9055409B546}"/>
              </a:ext>
            </a:extLst>
          </p:cNvPr>
          <p:cNvSpPr>
            <a:spLocks noGrp="1"/>
          </p:cNvSpPr>
          <p:nvPr/>
        </p:nvSpPr>
        <p:spPr>
          <a:xfrm>
            <a:off x="7520940" y="5446339"/>
            <a:ext cx="4381500" cy="419100"/>
          </a:xfrm>
          <a:prstGeom prst="rect">
            <a:avLst/>
          </a:prstGeom>
          <a:noFill/>
          <a:ln w="0">
            <a:noFill/>
            <a:prstDash val="solid"/>
          </a:ln>
        </p:spPr>
        <p:txBody>
          <a:bodyPr/>
          <a:lstStyle>
            <a:defPPr>
              <a:defRPr sz="1200" b="0">
                <a:solidFill>
                  <a:srgbClr val="F0F3EF"/>
                </a:solidFill>
              </a:defRPr>
            </a:defPPr>
          </a:lstStyle>
          <a:p>
            <a:pPr>
              <a:defRPr sz="1200" b="0">
                <a:solidFill>
                  <a:srgbClr val="F0F3EF"/>
                </a:solidFill>
              </a:defRPr>
            </a:pPr>
            <a:r>
              <a:rPr sz="2200" b="0" dirty="0">
                <a:solidFill>
                  <a:schemeClr val="tx1">
                    <a:lumMod val="95000"/>
                    <a:lumOff val="5000"/>
                  </a:schemeClr>
                </a:solidFill>
              </a:rPr>
              <a:t>Energy-generating</a:t>
            </a:r>
          </a:p>
        </p:txBody>
      </p:sp>
      <p:sp>
        <p:nvSpPr>
          <p:cNvPr id="72" name="Rectangle 71">
            <a:extLst>
              <a:ext uri="{FF2B5EF4-FFF2-40B4-BE49-F238E27FC236}">
                <a16:creationId xmlns:a16="http://schemas.microsoft.com/office/drawing/2014/main" id="{D8189FF3-7283-A4F3-8CAA-F3609A0B756B}"/>
              </a:ext>
            </a:extLst>
          </p:cNvPr>
          <p:cNvSpPr>
            <a:spLocks noGrp="1"/>
          </p:cNvSpPr>
          <p:nvPr/>
        </p:nvSpPr>
        <p:spPr>
          <a:xfrm>
            <a:off x="548640" y="5922597"/>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Leader and team: a critical distinction</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The team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is measured 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Activities, outputs,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current period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Monthly / quarterly review</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The leader</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is measured on</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Cumulative outcome trajectory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End of cycle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Quarterly / bi-annual review</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BEA1-6AC9-5FAA-6EA8-1654FDAE736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F4D6929-ABC8-4F0F-13B3-6E0B004F52AD}"/>
              </a:ext>
            </a:extLst>
          </p:cNvPr>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2 Reflections </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Part 1.1">
            <a:extLst>
              <a:ext uri="{FF2B5EF4-FFF2-40B4-BE49-F238E27FC236}">
                <a16:creationId xmlns:a16="http://schemas.microsoft.com/office/drawing/2014/main" id="{899A2E07-92D5-BE0B-9805-940352E68948}"/>
              </a:ext>
            </a:extLst>
          </p:cNvPr>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FFFFFF"/>
                </a:solidFill>
                <a:effectLst/>
                <a:uLnTx/>
                <a:uFillTx/>
                <a:latin typeface="Calibri"/>
                <a:ea typeface="+mn-ea"/>
                <a:cs typeface="+mn-cs"/>
              </a:rPr>
              <a:t>2</a:t>
            </a:r>
            <a:r>
              <a:rPr kumimoji="0" sz="2400" b="1" i="0" u="none" strike="noStrike" kern="1200" cap="none" spc="0" normalizeH="0" baseline="0" noProof="0" dirty="0">
                <a:ln>
                  <a:noFill/>
                </a:ln>
                <a:solidFill>
                  <a:srgbClr val="FFFFFF"/>
                </a:solidFill>
                <a:effectLst/>
                <a:uLnTx/>
                <a:uFillTx/>
                <a:latin typeface="Calibri"/>
                <a:ea typeface="+mn-ea"/>
                <a:cs typeface="+mn-cs"/>
              </a:rPr>
              <a:t>.</a:t>
            </a:r>
            <a:r>
              <a:rPr kumimoji="0" lang="en-ZA" sz="2400" b="1" i="0" u="none" strike="noStrike" kern="1200" cap="none" spc="0" normalizeH="0" baseline="0" noProof="0" dirty="0">
                <a:ln>
                  <a:noFill/>
                </a:ln>
                <a:solidFill>
                  <a:srgbClr val="FFFFFF"/>
                </a:solidFill>
                <a:effectLst/>
                <a:uLnTx/>
                <a:uFillTx/>
                <a:latin typeface="Calibri"/>
                <a:ea typeface="+mn-ea"/>
                <a:cs typeface="+mn-cs"/>
              </a:rPr>
              <a:t>4</a:t>
            </a:r>
            <a:endParaRPr kumimoji="0" sz="2400" b="1" i="0"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1699874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PM in the Executive Context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each executive role’s contribution to the evidence of enterprise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execution gaps that prevent performance arrangements from supporting strategic priorities.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3.1 · The Alignment Brigade</a:t>
            </a:r>
            <a:endParaRPr lang="en-US" sz="2600" dirty="0"/>
          </a:p>
        </p:txBody>
      </p:sp>
      <p:pic>
        <p:nvPicPr>
          <p:cNvPr id="8" name="Picture 7">
            <a:extLst>
              <a:ext uri="{FF2B5EF4-FFF2-40B4-BE49-F238E27FC236}">
                <a16:creationId xmlns:a16="http://schemas.microsoft.com/office/drawing/2014/main" id="{F396C454-9F29-1E4F-756B-D14CB176E38C}"/>
              </a:ext>
            </a:extLst>
          </p:cNvPr>
          <p:cNvPicPr>
            <a:picLocks noChangeAspect="1"/>
          </p:cNvPicPr>
          <p:nvPr/>
        </p:nvPicPr>
        <p:blipFill>
          <a:blip r:embed="rId4"/>
          <a:stretch>
            <a:fillRect/>
          </a:stretch>
        </p:blipFill>
        <p:spPr>
          <a:xfrm>
            <a:off x="2003612" y="1920240"/>
            <a:ext cx="8773574" cy="49377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3.3 · The Three Execution Gaps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Gap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Competing Definitions of Progress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Gap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Measurement Blind Spots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Gap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Incentive Misalignment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When incentives and strategy diverge, strategy loses.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3.4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41%</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of organisations have moved to real-time or near-real-time feedback</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Trend 1  </a:t>
            </a: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Trend 2  </a:t>
            </a: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Trend 3  </a:t>
            </a: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Designing for Enterprise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Define a shared enterprise signal of progress that anchors executive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cumulative progress to judge performance status and its strategic significance.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EXECUTION framework</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  </a:t>
            </a:r>
            <a:r>
              <a:rPr lang="en-US" sz="2400" dirty="0">
                <a:solidFill>
                  <a:srgbClr val="1F2A22"/>
                </a:solidFill>
                <a:latin typeface="Calibri" pitchFamily="34" charset="0"/>
                <a:ea typeface="Calibri" pitchFamily="34" charset="-122"/>
                <a:cs typeface="Calibri" pitchFamily="34" charset="-120"/>
              </a:rPr>
              <a:t>Enterprise: Strategy First</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X  </a:t>
            </a:r>
            <a:r>
              <a:rPr lang="en-US" sz="2400" dirty="0">
                <a:solidFill>
                  <a:srgbClr val="1F2A22"/>
                </a:solidFill>
                <a:latin typeface="Calibri" pitchFamily="34" charset="0"/>
                <a:ea typeface="Calibri" pitchFamily="34" charset="-122"/>
                <a:cs typeface="Calibri" pitchFamily="34" charset="-120"/>
              </a:rPr>
              <a:t>eXecution: Line-of-Sight</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  </a:t>
            </a:r>
            <a:r>
              <a:rPr lang="en-US" sz="2400" dirty="0">
                <a:solidFill>
                  <a:srgbClr val="1F2A22"/>
                </a:solidFill>
                <a:latin typeface="Calibri" pitchFamily="34" charset="0"/>
                <a:ea typeface="Calibri" pitchFamily="34" charset="-122"/>
                <a:cs typeface="Calibri" pitchFamily="34" charset="-120"/>
              </a:rPr>
              <a:t>Evidence: Evidence-Based Measurement</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  </a:t>
            </a:r>
            <a:r>
              <a:rPr lang="en-US" sz="2400" dirty="0">
                <a:solidFill>
                  <a:srgbClr val="1F2A22"/>
                </a:solidFill>
                <a:latin typeface="Calibri" pitchFamily="34" charset="0"/>
                <a:ea typeface="Calibri" pitchFamily="34" charset="-122"/>
                <a:cs typeface="Calibri" pitchFamily="34" charset="-120"/>
              </a:rPr>
              <a:t>Collective: Collective Ownership</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U  </a:t>
            </a:r>
            <a:r>
              <a:rPr lang="en-US" sz="2400" dirty="0">
                <a:solidFill>
                  <a:srgbClr val="1F2A22"/>
                </a:solidFill>
                <a:latin typeface="Calibri" pitchFamily="34" charset="0"/>
                <a:ea typeface="Calibri" pitchFamily="34" charset="-122"/>
                <a:cs typeface="Calibri" pitchFamily="34" charset="-120"/>
              </a:rPr>
              <a:t>Understand: Outcomes First</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  </a:t>
            </a:r>
            <a:r>
              <a:rPr lang="en-US" sz="2400" dirty="0">
                <a:solidFill>
                  <a:srgbClr val="1F2A22"/>
                </a:solidFill>
                <a:latin typeface="Calibri" pitchFamily="34" charset="0"/>
                <a:ea typeface="Calibri" pitchFamily="34" charset="-122"/>
                <a:cs typeface="Calibri" pitchFamily="34" charset="-120"/>
              </a:rPr>
              <a:t>Transparent: Measurement Logic</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3"/>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  </a:t>
            </a:r>
            <a:r>
              <a:rPr lang="en-US" sz="2400" dirty="0">
                <a:solidFill>
                  <a:srgbClr val="1F2A22"/>
                </a:solidFill>
                <a:latin typeface="Calibri" pitchFamily="34" charset="0"/>
                <a:ea typeface="Calibri" pitchFamily="34" charset="-122"/>
                <a:cs typeface="Calibri" pitchFamily="34" charset="-120"/>
              </a:rPr>
              <a:t>Incentive: Incentive Alignment</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3"/>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  </a:t>
            </a:r>
            <a:r>
              <a:rPr lang="en-US" sz="2400" dirty="0">
                <a:solidFill>
                  <a:srgbClr val="1F2A22"/>
                </a:solidFill>
                <a:latin typeface="Calibri" pitchFamily="34" charset="0"/>
                <a:ea typeface="Calibri" pitchFamily="34" charset="-122"/>
                <a:cs typeface="Calibri" pitchFamily="34" charset="-120"/>
              </a:rPr>
              <a:t>Ongoing: Review Rhythm</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3"/>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  </a:t>
            </a:r>
            <a:r>
              <a:rPr lang="en-US" sz="2400" dirty="0">
                <a:solidFill>
                  <a:srgbClr val="1F2A22"/>
                </a:solidFill>
                <a:latin typeface="Calibri" pitchFamily="34" charset="0"/>
                <a:ea typeface="Calibri" pitchFamily="34" charset="-122"/>
                <a:cs typeface="Calibri" pitchFamily="34" charset="-120"/>
              </a:rPr>
              <a:t>Navigate: Collective Insight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Designing the PM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performance arrangements that link enterprise outcomes, leadership accountability and performance evidence.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progress data to strengthen accountability, decision quality and responsiveness.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Step 4 · PM Scorecards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Key Results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two of your Key Results as the basis for measurement.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CEO</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Design the PM scorecard for the CEO.</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CFO</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Design the PM scorecard for the CFO in the same way.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four weights add up to 100%.</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Step 1 · Scoring Logic</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Performance level that earns this rating</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Evidence required to confirm it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Contextual factors that might legitimately affect a rating</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Lines of sight of progress</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Review cadence and why</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Leadership response in the monthly review</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part of your PM architecture was hardest for your group to agree, and what does that tell you about the PM system in your own organisation?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Specificity is the test of whether the unit has converted into intent.</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Step 2 · FACES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Individual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Step 3 · EXECUTION</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  </a:t>
            </a:r>
            <a:r>
              <a:rPr lang="en-US" sz="2400" dirty="0">
                <a:solidFill>
                  <a:srgbClr val="1F2A22"/>
                </a:solidFill>
                <a:latin typeface="Calibri" pitchFamily="34" charset="0"/>
                <a:ea typeface="Calibri" pitchFamily="34" charset="-122"/>
                <a:cs typeface="Calibri" pitchFamily="34" charset="-120"/>
              </a:rPr>
              <a:t>Enterprise: Strategy First</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2"/>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X  </a:t>
            </a:r>
            <a:r>
              <a:rPr lang="en-US" sz="2400" dirty="0">
                <a:solidFill>
                  <a:srgbClr val="1F2A22"/>
                </a:solidFill>
                <a:latin typeface="Calibri" pitchFamily="34" charset="0"/>
                <a:ea typeface="Calibri" pitchFamily="34" charset="-122"/>
                <a:cs typeface="Calibri" pitchFamily="34" charset="-120"/>
              </a:rPr>
              <a:t>eXecution: Line-of-Sight</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2"/>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  </a:t>
            </a:r>
            <a:r>
              <a:rPr lang="en-US" sz="2400" dirty="0">
                <a:solidFill>
                  <a:srgbClr val="1F2A22"/>
                </a:solidFill>
                <a:latin typeface="Calibri" pitchFamily="34" charset="0"/>
                <a:ea typeface="Calibri" pitchFamily="34" charset="-122"/>
                <a:cs typeface="Calibri" pitchFamily="34" charset="-120"/>
              </a:rPr>
              <a:t>Evidence: Evidence-Based Measurement</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2"/>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  </a:t>
            </a:r>
            <a:r>
              <a:rPr lang="en-US" sz="2400" dirty="0">
                <a:solidFill>
                  <a:srgbClr val="1F2A22"/>
                </a:solidFill>
                <a:latin typeface="Calibri" pitchFamily="34" charset="0"/>
                <a:ea typeface="Calibri" pitchFamily="34" charset="-122"/>
                <a:cs typeface="Calibri" pitchFamily="34" charset="-120"/>
              </a:rPr>
              <a:t>Collective: Collective Ownership</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2"/>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U  </a:t>
            </a:r>
            <a:r>
              <a:rPr lang="en-US" sz="2400" dirty="0">
                <a:solidFill>
                  <a:srgbClr val="1F2A22"/>
                </a:solidFill>
                <a:latin typeface="Calibri" pitchFamily="34" charset="0"/>
                <a:ea typeface="Calibri" pitchFamily="34" charset="-122"/>
                <a:cs typeface="Calibri" pitchFamily="34" charset="-120"/>
              </a:rPr>
              <a:t>Understand: Outcomes First</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2"/>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  </a:t>
            </a:r>
            <a:r>
              <a:rPr lang="en-US" sz="2400" dirty="0">
                <a:solidFill>
                  <a:srgbClr val="1F2A22"/>
                </a:solidFill>
                <a:latin typeface="Calibri" pitchFamily="34" charset="0"/>
                <a:ea typeface="Calibri" pitchFamily="34" charset="-122"/>
                <a:cs typeface="Calibri" pitchFamily="34" charset="-120"/>
              </a:rPr>
              <a:t>Transparent: Measurement Logic</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2"/>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  </a:t>
            </a:r>
            <a:r>
              <a:rPr lang="en-US" sz="2400" dirty="0">
                <a:solidFill>
                  <a:srgbClr val="1F2A22"/>
                </a:solidFill>
                <a:latin typeface="Calibri" pitchFamily="34" charset="0"/>
                <a:ea typeface="Calibri" pitchFamily="34" charset="-122"/>
                <a:cs typeface="Calibri" pitchFamily="34" charset="-120"/>
              </a:rPr>
              <a:t>Incentive: Incentive Alignment</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2"/>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  </a:t>
            </a:r>
            <a:r>
              <a:rPr lang="en-US" sz="2400" dirty="0">
                <a:solidFill>
                  <a:srgbClr val="1F2A22"/>
                </a:solidFill>
                <a:latin typeface="Calibri" pitchFamily="34" charset="0"/>
                <a:ea typeface="Calibri" pitchFamily="34" charset="-122"/>
                <a:cs typeface="Calibri" pitchFamily="34" charset="-120"/>
              </a:rPr>
              <a:t>Ongoing: Review Rhythm</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2"/>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  </a:t>
            </a:r>
            <a:r>
              <a:rPr lang="en-US" sz="2400" dirty="0">
                <a:solidFill>
                  <a:srgbClr val="1F2A22"/>
                </a:solidFill>
                <a:latin typeface="Calibri" pitchFamily="34" charset="0"/>
                <a:ea typeface="Calibri" pitchFamily="34" charset="-122"/>
                <a:cs typeface="Calibri" pitchFamily="34" charset="-120"/>
              </a:rPr>
              <a:t>Navigate: Collective Insight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12913</Words>
  <Application>Microsoft Office PowerPoint</Application>
  <PresentationFormat>Widescreen</PresentationFormat>
  <Paragraphs>660</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Carol Lupiya</cp:lastModifiedBy>
  <cp:revision>2</cp:revision>
  <dcterms:created xsi:type="dcterms:W3CDTF">2026-09-29T13:20:29Z</dcterms:created>
  <dcterms:modified xsi:type="dcterms:W3CDTF">2026-10-09T14:40:59Z</dcterms:modified>
</cp:coreProperties>
</file>