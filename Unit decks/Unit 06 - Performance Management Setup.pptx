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1" Type="http://schemas.openxmlformats.org/officeDocument/2006/relationships/slide" Target="slides/slide24.xml"/><Relationship Id="rId22" Type="http://schemas.openxmlformats.org/officeDocument/2006/relationships/slide" Target="slides/slide26.xml"/><Relationship Id="rId24" Type="http://schemas.openxmlformats.org/officeDocument/2006/relationships/slide" Target="slides/slide30.xml"/><Relationship Id="rId25" Type="http://schemas.openxmlformats.org/officeDocument/2006/relationships/slide" Target="slides/slide31.xml"/><Relationship Id="rId27" Type="http://schemas.openxmlformats.org/officeDocument/2006/relationships/slide" Target="slides/slide7.xml"/><Relationship Id="rId28" Type="http://schemas.openxmlformats.org/officeDocument/2006/relationships/slide" Target="slides/slide33.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2.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3.xml"/><Relationship Id="rId45" Type="http://schemas.openxmlformats.org/officeDocument/2006/relationships/slide" Target="slides/slide25.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6 · PERFORMANCE MANAGEMENT SETUP</a:t>
            </a:r>
          </a:p>
          <a:p>
            <a:r>
              <a:rPr lang="en-GB" dirty="0"/>
              <a:t>Module 3 · Influence · Unit 6</a:t>
            </a:r>
          </a:p>
          <a:p>
            <a:endParaRPr lang="en-GB" dirty="0"/>
          </a:p>
          <a:p>
            <a:r>
              <a:rPr lang="en-GB" b="1" dirty="0"/>
              <a:t>HOW TO USE THIS SLIDE:</a:t>
            </a:r>
          </a:p>
          <a:p>
            <a:endParaRPr lang="en-GB" dirty="0"/>
          </a:p>
          <a:p>
            <a:r>
              <a:rPr lang="en-GB" b="1" dirty="0"/>
              <a:t>1. Open the unit with its intent.</a:t>
            </a:r>
          </a:p>
          <a:p>
            <a:r>
              <a:rPr lang="en-GB" dirty="0"/>
              <a:t>Unit 6 sets up enterprise performance management on two operating systems: people performance, what people deliver (the Human Operating System), and organisational performance, what the organisation enables through its organisational conditions (the Organisational Operating System).</a:t>
            </a:r>
          </a:p>
          <a:p>
            <a:r>
              <a:rPr lang="en-GB" dirty="0"/>
              <a:t>Participants learn the S2R® Contribution Map™, which connects an enterprise Key Result to the contributions of business functions, people and organisational conditions, and FACES, the five functions through which those contributions are managed. In Section 5 each group builds both for its own Capstone strategy.</a:t>
            </a:r>
          </a:p>
          <a:p>
            <a:endParaRPr lang="en-GB" dirty="0"/>
          </a:p>
          <a:p>
            <a:r>
              <a:rPr lang="en-GB" b="1" dirty="0"/>
              <a:t>2. Set the tone.</a:t>
            </a:r>
          </a:p>
          <a:p>
            <a:r>
              <a:rPr lang="en-GB" dirty="0"/>
              <a:t>Avoid: turning the Contribution Map or FACES into a compliance checklist. They are design and management tools.</a:t>
            </a:r>
          </a:p>
          <a:p>
            <a:r>
              <a:rPr lang="en-GB" dirty="0"/>
              <a:t>Keep in view: a missed target is evidence of a performance gap; it does not establish its cause.</a:t>
            </a:r>
          </a:p>
          <a:p>
            <a:r>
              <a:rPr lang="en-GB" dirty="0"/>
              <a:t>Probe leaders who equate "we have a scorecard" with "we have a PM system": "What happens after you look at the scorecard? What changes?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 (identical in the participant and facilitator files)</a:t>
            </a:r>
          </a:p>
          <a:p>
            <a:endParaRPr lang="en-GB" dirty="0"/>
          </a:p>
          <a:p>
            <a:r>
              <a:rPr lang="en-GB" b="1" dirty="0"/>
              <a:t>HOW TO USE THIS SLIDE:</a:t>
            </a:r>
          </a:p>
          <a:p>
            <a:endParaRPr lang="en-GB" dirty="0"/>
          </a:p>
          <a:p>
            <a:r>
              <a:rPr lang="en-GB" b="1" dirty="0"/>
              <a:t>1. Read the four outcomes.</a:t>
            </a:r>
          </a:p>
          <a:p>
            <a:r>
              <a:rPr lang="en-GB" dirty="0"/>
              <a:t>1. Evaluate whether organisational performance arrangements support the achievement of strategic priorities.</a:t>
            </a:r>
          </a:p>
          <a:p>
            <a:r>
              <a:rPr lang="en-GB" dirty="0"/>
              <a:t>2. Define clear relationships between enterprise outcomes, leadership accountability and performance evidence.</a:t>
            </a:r>
          </a:p>
          <a:p>
            <a:r>
              <a:rPr lang="en-GB" dirty="0"/>
              <a:t>3. Exercise consistent executive judgement on performance status and its strategic significance.</a:t>
            </a:r>
          </a:p>
          <a:p>
            <a:r>
              <a:rPr lang="en-GB" dirty="0"/>
              <a:t>4. Interpret performance insight in ways that strengthen accountability, decision quality and organisational responsiveness.</a:t>
            </a:r>
          </a:p>
          <a:p>
            <a:endParaRPr lang="en-GB" dirty="0"/>
          </a:p>
          <a:p>
            <a:r>
              <a:rPr lang="en-GB" dirty="0"/>
              <a:t>Each section slide carries that section’s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UNIT JOURNEY</a:t>
            </a:r>
          </a:p>
          <a:p>
            <a:endParaRPr lang="en-GB" dirty="0"/>
          </a:p>
          <a:p>
            <a:r>
              <a:rPr lang="en-GB" b="1" dirty="0"/>
              <a:t>HOW TO USE THIS SLIDE:</a:t>
            </a:r>
          </a:p>
          <a:p>
            <a:endParaRPr lang="en-GB" dirty="0"/>
          </a:p>
          <a:p>
            <a:r>
              <a:rPr lang="en-GB" b="1" dirty="0"/>
              <a:t>1. Walk the five sections.</a:t>
            </a:r>
          </a:p>
          <a:p>
            <a:r>
              <a:rPr lang="en-GB" dirty="0"/>
              <a:t>Section 1 · Awareness: measurement and management, people performance and organisational performance, the S2R® Contribution Map™ and FACES.</a:t>
            </a:r>
          </a:p>
          <a:p>
            <a:r>
              <a:rPr lang="en-GB" dirty="0"/>
              <a:t>Section 2 · Intelligence: performance management as the execution bridge, and compliance and commitment architecture.</a:t>
            </a:r>
          </a:p>
          <a:p>
            <a:r>
              <a:rPr lang="en-GB" dirty="0"/>
              <a:t>Section 3 · Extrapolating: executive performance perspectives and the continuous performance management shift.</a:t>
            </a:r>
          </a:p>
          <a:p>
            <a:r>
              <a:rPr lang="en-GB" dirty="0"/>
              <a:t>Section 4 · Integration: one worked example that maps the contributions to an enterprise Key Result and manages them through FACES.</a:t>
            </a:r>
          </a:p>
          <a:p>
            <a:r>
              <a:rPr lang="en-GB" dirty="0"/>
              <a:t>Section 5 · Application: each group builds its own Contribution Map and FACES application, as Capstone work.</a:t>
            </a:r>
          </a:p>
          <a:p>
            <a:endParaRPr lang="en-GB" dirty="0"/>
          </a:p>
          <a:p>
            <a:r>
              <a:rPr lang="en-GB" b="1" dirty="0"/>
              <a:t>2. Name the questions the unit keeps asking.</a:t>
            </a:r>
          </a:p>
          <a:p>
            <a:r>
              <a:rPr lang="en-GB" dirty="0"/>
              <a:t>"If your organisation stopped producing its performance reports tomorrow, which decisions would leaders no longer be able to make?"</a:t>
            </a:r>
          </a:p>
          <a:p>
            <a:r>
              <a:rPr lang="en-GB" dirty="0"/>
              <a:t>"When a target is missed, how do you distinguish an individual contribution problem from an organisational delivery problem?"</a:t>
            </a:r>
          </a:p>
          <a:p>
            <a:r>
              <a:rPr lang="en-GB" dirty="0"/>
              <a:t>"If employees are meeting their performance commitments but system outages continue to delay customer resolution, who must take responsibility for the performance gap?"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r>
              <a:rPr lang="en-GB" dirty="0"/>
              <a:t>Foundations of Enterprise Performance Management System Design</a:t>
            </a:r>
          </a:p>
          <a:p>
            <a:r>
              <a:rPr lang="en-GB" dirty="0"/>
              <a:t>What performance management must manage: the contribution of people and the conditions the organisation provides, connected to enterprise results.</a:t>
            </a:r>
          </a:p>
          <a:p>
            <a:endParaRPr lang="en-GB" dirty="0"/>
          </a:p>
          <a:p>
            <a:r>
              <a:rPr lang="en-GB" b="1" dirty="0"/>
              <a:t>Section learning outcomes:</a:t>
            </a:r>
          </a:p>
          <a:p>
            <a:r>
              <a:rPr lang="en-GB" dirty="0"/>
              <a:t>1. Distinguish performance measurement from the management system that converts evidence into decisions and action.</a:t>
            </a:r>
          </a:p>
          <a:p>
            <a:r>
              <a:rPr lang="en-GB" dirty="0"/>
              <a:t>2. Manage human contribution and organisational operating conditions together as they combine to produce enterprise results.</a:t>
            </a:r>
          </a:p>
          <a:p>
            <a:endParaRPr lang="en-GB" dirty="0"/>
          </a:p>
          <a:p>
            <a:r>
              <a:rPr lang="en-GB" b="1" dirty="0"/>
              <a:t>HOW TO TEACH IT:</a:t>
            </a:r>
          </a:p>
          <a:p>
            <a:endParaRPr lang="en-GB" dirty="0"/>
          </a:p>
          <a:p>
            <a:r>
              <a:rPr lang="en-GB" b="1" dirty="0"/>
              <a:t>1. Frame the section.</a:t>
            </a:r>
          </a:p>
          <a:p>
            <a:r>
              <a:rPr lang="en-GB" dirty="0"/>
              <a:t>Say: "This section sets the foundations: what performance management is, people performance and organisational performance behind enterprise performance, the S2R® Contribution Map™ that connects them to an enterprise result, and FACES, the five functions that manage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people performance and organisational performance. People Performance: what individuals and teams deliver through their KPIs, OKRs and demonstrated behaviours. Organisational Performance: how effectively the organisational conditions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organisational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organisational conditions? Which one management arrangement would strengthen it?"</a:t>
            </a:r>
          </a:p>
          <a:p>
            <a:endParaRPr lang="en-GB" dirty="0"/>
          </a:p>
          <a:p>
            <a:r>
              <a:rPr lang="en-GB" b="1" dirty="0"/>
              <a:t>2. Say what the reflections are for.</a:t>
            </a:r>
          </a:p>
          <a:p>
            <a:r>
              <a:rPr lang="en-GB" dirty="0"/>
              <a:t>Say: "These reflections are personal. Name one real, recurring shortfall and look at whether your system covers the people and the organisational conditions. Then map one of your own organisation’s Key Results the way the Contribution Map does, and look at how your organisation manages those contributions through FACES."</a:t>
            </a:r>
          </a:p>
          <a:p>
            <a:endParaRPr lang="en-GB" dirty="0"/>
          </a:p>
          <a:p>
            <a:r>
              <a:rPr lang="en-GB" b="1" dirty="0"/>
              <a:t>3. Bridge to Section 2.</a:t>
            </a:r>
          </a:p>
          <a:p>
            <a:r>
              <a:rPr lang="en-GB" dirty="0"/>
              <a:t>Say: "You now know what must be managed. Section 2 shows how performance management keeps strategy connected to performance throughout delivery."</a:t>
            </a:r>
          </a:p>
          <a:p>
            <a:endParaRPr lang="en-GB" dirty="0"/>
          </a:p>
          <a:p>
            <a:r>
              <a:rPr lang="en-GB" b="1" dirty="0"/>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Performance Management as the Execution Bridge</a:t>
            </a:r>
          </a:p>
          <a:p>
            <a:r>
              <a:rPr lang="en-GB" dirty="0"/>
              <a:t>Understanding why enterprise performance depends on connecting strategic outcomes, human contributions and organisational operating capability through an integrated management system.</a:t>
            </a:r>
          </a:p>
          <a:p>
            <a:endParaRPr lang="en-GB" dirty="0"/>
          </a:p>
          <a:p>
            <a:r>
              <a:rPr lang="en-GB" b="1" dirty="0"/>
              <a:t>Section learning outcomes:</a:t>
            </a:r>
          </a:p>
          <a:p>
            <a:r>
              <a:rPr lang="en-GB" dirty="0"/>
              <a:t>1. Determine the disciplines that keep strategy connected to performance throughout delivery.</a:t>
            </a:r>
          </a:p>
          <a:p>
            <a:r>
              <a:rPr lang="en-GB" dirty="0"/>
              <a:t>2. Assess the compliance and commitment characteristics of a performance management system.</a:t>
            </a:r>
          </a:p>
          <a:p>
            <a:endParaRPr lang="en-GB" dirty="0"/>
          </a:p>
          <a:p>
            <a:r>
              <a:rPr lang="en-GB" b="1" dirty="0"/>
              <a:t>HOW TO TEACH IT:</a:t>
            </a:r>
          </a:p>
          <a:p>
            <a:endParaRPr lang="en-GB" dirty="0"/>
          </a:p>
          <a:p>
            <a:r>
              <a:rPr lang="en-GB" b="1" dirty="0"/>
              <a:t>1. Frame the section.</a:t>
            </a:r>
          </a:p>
          <a:p>
            <a:r>
              <a:rPr lang="en-GB" dirty="0"/>
              <a:t>Say: "Section 1 set out what must be managed. Section 2 explains why performance management is the bridge that keeps strategy connected to performance throughout delivery, and how the architecture you choose shapes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organisational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Executive Performance Integration and the Evolution of Performance Management</a:t>
            </a:r>
          </a:p>
          <a:p>
            <a:r>
              <a:rPr lang="en-GB" dirty="0"/>
              <a:t>Where does enterprise performance management become vulnerable? How executive performance perspectives and the evolution of performance management practice shape what leaders see and how they respond.</a:t>
            </a:r>
          </a:p>
          <a:p>
            <a:endParaRPr lang="en-GB" dirty="0"/>
          </a:p>
          <a:p>
            <a:r>
              <a:rPr lang="en-GB" b="1" dirty="0"/>
              <a:t>Section learning outcomes:</a:t>
            </a:r>
          </a:p>
          <a:p>
            <a:r>
              <a:rPr lang="en-GB" dirty="0"/>
              <a:t>1. Diagnose executive performance blind spots that affect enterprise results.</a:t>
            </a:r>
          </a:p>
          <a:p>
            <a:r>
              <a:rPr lang="en-GB" dirty="0"/>
              <a:t>2. Assess where current performance management practice sits on the shift to continuous, development-centred and team-based performance.</a:t>
            </a:r>
          </a:p>
          <a:p>
            <a:endParaRPr lang="en-GB" dirty="0"/>
          </a:p>
          <a:p>
            <a:r>
              <a:rPr lang="en-GB" b="1" dirty="0"/>
              <a:t>HOW TO TEACH IT:</a:t>
            </a:r>
          </a:p>
          <a:p>
            <a:endParaRPr lang="en-GB" dirty="0"/>
          </a:p>
          <a:p>
            <a:r>
              <a:rPr lang="en-GB" b="1" dirty="0"/>
              <a:t>1. Frame the section.</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r>
              <a:rPr lang="en-GB" dirty="0"/>
              <a:t>Say: "Section 3 examines where enterprise performance management becomes vulnerable, through two areas: Unity in Diversity, how executive performance perspectives influence what leaders notice, prioritise and interpret; and the Continuous Performance Management Shift, how performance management practices are evolving to strengthen timely feedback, development and collective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people performance and organisational performance."</a:t>
            </a:r>
          </a:p>
          <a:p>
            <a:r>
              <a:rPr lang="en-GB" dirty="0"/>
              <a:t>People performance. Say: "Executives examine whether individuals and teams are delivering their agreed KPIs, OKRs and behavioural expectations. They also consider whether the required contributions are being coordinated effectively across functions."</a:t>
            </a:r>
          </a:p>
          <a:p>
            <a:r>
              <a:rPr lang="en-GB" dirty="0"/>
              <a:t>Organisational performance. Say: "Executives examine whether the relevant organisational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people performance and organisational performance.</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people performance and organisational performance: Human contributions and relevant organisational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people performance and organisational performance: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people performance and organisational performance: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Integration of Human and Organisational Performance</a:t>
            </a:r>
          </a:p>
          <a:p>
            <a:r>
              <a:rPr lang="en-GB" dirty="0"/>
              <a:t>One worked example brings the unit together: the contributions an enterprise Key Result requires, mapped across four functions, and how FACES manages them.</a:t>
            </a:r>
          </a:p>
          <a:p>
            <a:endParaRPr lang="en-GB" dirty="0"/>
          </a:p>
          <a:p>
            <a:r>
              <a:rPr lang="en-GB" b="1" dirty="0"/>
              <a:t>Section learning outcomes:</a:t>
            </a:r>
          </a:p>
          <a:p>
            <a:r>
              <a:rPr lang="en-GB" dirty="0"/>
              <a:t>1. Map enterprise performance requirements across functional, human and organisational contributions.</a:t>
            </a:r>
          </a:p>
          <a:p>
            <a:r>
              <a:rPr lang="en-GB" dirty="0"/>
              <a:t>2. Determine how those contributions are managed across business functions towards an enterprise result.</a:t>
            </a:r>
          </a:p>
          <a:p>
            <a:endParaRPr lang="en-GB" dirty="0"/>
          </a:p>
          <a:p>
            <a:r>
              <a:rPr lang="en-GB" b="1" dirty="0"/>
              <a:t>HOW TO TEACH IT:</a:t>
            </a:r>
          </a:p>
          <a:p>
            <a:endParaRPr lang="en-GB" dirty="0"/>
          </a:p>
          <a:p>
            <a:r>
              <a:rPr lang="en-GB" b="1" dirty="0"/>
              <a:t>1. Frame the section.</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a worked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Building Your Enterprise Performance Management System</a:t>
            </a:r>
          </a:p>
          <a:p>
            <a:r>
              <a:rPr lang="en-GB" dirty="0"/>
              <a:t>Application · Each group builds two connected components of the Enterprise Performance Management System for the strategy in its Capstone Blueprint: the S2R® Contribution Map™ and the FACES application.</a:t>
            </a:r>
          </a:p>
          <a:p>
            <a:endParaRPr lang="en-GB" dirty="0"/>
          </a:p>
          <a:p>
            <a:r>
              <a:rPr lang="en-GB" b="1" dirty="0"/>
              <a:t>Section learning outcomes:</a:t>
            </a:r>
          </a:p>
          <a:p>
            <a:r>
              <a:rPr lang="en-GB" dirty="0"/>
              <a:t>1. Design the functional, human and organisational contributions an enterprise Key Result requires.</a:t>
            </a:r>
          </a:p>
          <a:p>
            <a:r>
              <a:rPr lang="en-GB" dirty="0"/>
              <a:t>2. Establish how those contributions will be managed across business functions.</a:t>
            </a:r>
          </a:p>
          <a:p>
            <a:endParaRPr lang="en-GB" dirty="0"/>
          </a:p>
          <a:p>
            <a:r>
              <a:rPr lang="en-GB" b="1" dirty="0"/>
              <a:t>HOW TO TEACH IT:</a:t>
            </a:r>
          </a:p>
          <a:p>
            <a:endParaRPr lang="en-GB" dirty="0"/>
          </a:p>
          <a:p>
            <a:r>
              <a:rPr lang="en-GB" b="1" dirty="0"/>
              <a:t>1. Frame the application.</a:t>
            </a:r>
          </a:p>
          <a:p>
            <a:r>
              <a:rPr lang="en-GB" dirty="0"/>
              <a:t>Say: "You have already established your capstone organisation’s strategic direction, strategic objectives and Key Results. In this application, your group uses that work to develop two connected components of your Enterprise Performance Management System: Activity 1, the S2R® Contribution Map™, and Activity 2, the FACES application."</a:t>
            </a:r>
          </a:p>
          <a:p>
            <a:r>
              <a:rPr lang="en-GB" dirty="0"/>
              <a:t>Order: both activities are group work and Capstone work. Activity 1 needs the group’s confirmed Enterprise OKRs from Unit 3, part 5.2. Activity 2 uses the business functions the group names in Activity 1.</a:t>
            </a:r>
          </a:p>
          <a:p>
            <a:r>
              <a:rPr lang="en-GB" dirty="0"/>
              <a:t>How to guide the work: brief each activity from the worked example in Section 4, then let the groups work through the steps on their own pages. One member acts as scribe; every member types the agreed entries into their own page.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People Performance — Required Contribution: The work, results or behaviours expected from individuals and teams.</a:t>
            </a:r>
          </a:p>
          <a:p>
            <a:r>
              <a:rPr lang="en-GB" dirty="0"/>
              <a:t>People Performance — Performance Measure: One or two KPIs, OKRs or observable behavioural measures that demonstrate the required contribution.</a:t>
            </a:r>
          </a:p>
          <a:p>
            <a:r>
              <a:rPr lang="en-GB" dirty="0"/>
              <a:t>Required Organisational Condition: The critical organisational conditions needed to enable performance. Identify the relevant Environment, Systems, Resources or Governance requirements.</a:t>
            </a:r>
          </a:p>
          <a:p>
            <a:r>
              <a:rPr lang="en-GB" dirty="0"/>
              <a:t>Organisational Conditions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People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agrees each entry and one member acts as scribe. Every member then types the agreed entries into their own page, in the session or after it.</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people performance required contribution and performance measure, required organisational condition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TWO OPERATING SYSTEMS BEHIND ENTERPRISE PERFORMANCE (Understanding what people deliver and what the organisation enables)</a:t>
            </a:r>
          </a:p>
          <a:p>
            <a:endParaRPr lang="en-GB" dirty="0"/>
          </a:p>
          <a:p>
            <a:r>
              <a:rPr lang="en-GB" b="1" dirty="0"/>
              <a:t>HOW TO TEACH IT:</a:t>
            </a:r>
          </a:p>
          <a:p>
            <a:endParaRPr lang="en-GB" dirty="0"/>
          </a:p>
          <a:p>
            <a:r>
              <a:rPr lang="en-GB" b="1" dirty="0"/>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endParaRPr lang="en-GB" dirty="0"/>
          </a:p>
          <a:p>
            <a:r>
              <a:rPr lang="en-GB" b="1" dirty="0"/>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endParaRPr lang="en-GB" dirty="0"/>
          </a:p>
          <a:p>
            <a:r>
              <a:rPr lang="en-GB" b="1" dirty="0"/>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endParaRPr lang="en-GB" dirty="0"/>
          </a:p>
          <a:p>
            <a:r>
              <a:rPr lang="en-GB" b="1" dirty="0"/>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ESRG provides the structure for evaluating whether the organisation has the operating capability necessary to support its strategic ambition." The next slide takes the four elements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6 SYNTHESIS)</a:t>
            </a:r>
          </a:p>
          <a:p>
            <a:endParaRPr lang="en-GB" dirty="0"/>
          </a:p>
          <a:p>
            <a:r>
              <a:rPr lang="en-GB" b="1" dirty="0"/>
              <a:t>HOW TO TEACH IT:</a:t>
            </a:r>
          </a:p>
          <a:p>
            <a:endParaRPr lang="en-GB" dirty="0"/>
          </a:p>
          <a:p>
            <a:r>
              <a:rPr lang="en-GB" b="1" dirty="0"/>
              <a:t>1. Recap the unit, section by section.</a:t>
            </a:r>
          </a:p>
          <a:p>
            <a:r>
              <a:rPr lang="en-GB" dirty="0"/>
              <a:t>- 1 · Awareness: Performance measurement answers what happened; performance management decides what to do about it. Enterprise performance comes from people performance (results against KPIs and OKRs, and behaviours) and organisational performance (the organisational conditions: environment, systems, resources and governance).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organisational conditions that enable them, each with a measure or evidence. FACES then showed how those contributions are managed in practice.</a:t>
            </a:r>
          </a:p>
          <a:p>
            <a:r>
              <a:rPr lang="en-GB" dirty="0"/>
              <a:t>- 5 · Application: Each group built an S2R® Contribution Map™ for one of its own enterprise Key Results and applied FACES to manage each function’s contribution. The confirmed record feeds the team’s Capstone Blueprint.</a:t>
            </a:r>
          </a:p>
          <a:p>
            <a:endParaRPr lang="en-GB" dirty="0"/>
          </a:p>
          <a:p>
            <a:r>
              <a:rPr lang="en-GB" b="1"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endParaRPr lang="en-GB" dirty="0"/>
          </a:p>
          <a:p>
            <a:r>
              <a:rPr lang="en-GB" b="1" dirty="0"/>
              <a:t>3. Close the unit.</a:t>
            </a:r>
          </a:p>
          <a:p>
            <a:r>
              <a:rPr lang="en-GB" dirty="0"/>
              <a:t>Say: "A performance management system that only measures has not yet become a management system. The moment measurement becomes the basis for a decision, a conversation, and an accountable intervention — that is the moment execution begins."</a:t>
            </a:r>
          </a:p>
          <a:p>
            <a:endParaRPr lang="en-GB" dirty="0"/>
          </a:p>
          <a:p>
            <a:r>
              <a:rPr lang="en-GB" b="1" dirty="0"/>
              <a:t>4. Say what happens on the portal.</a:t>
            </a:r>
          </a:p>
          <a:p>
            <a:r>
              <a:rPr lang="en-GB" dirty="0"/>
              <a:t>Say: "You now complete the unit on the portal: your four personal reflections and your group’s record in Section 5. 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 The personal reflections go to each participant’s Learning Portfolio; the group’s confirmed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ACTIVITY 2: APPLY FACES TO YOUR CONTRIBUTION MAP™ (CAPSTONE WORK)</a:t>
            </a:r>
          </a:p>
          <a:p>
            <a:endParaRPr lang="en-GB" dirty="0"/>
          </a:p>
          <a:p>
            <a:r>
              <a:rPr lang="en-GB" b="1" dirty="0"/>
              <a:t>HOW TO TEACH IT:</a:t>
            </a:r>
          </a:p>
          <a:p>
            <a:endParaRPr lang="en-GB" dirty="0"/>
          </a:p>
          <a:p>
            <a:r>
              <a:rPr lang="en-GB" b="1" dirty="0"/>
              <a:t>1. Brief the activity.</a:t>
            </a:r>
          </a:p>
          <a:p>
            <a:r>
              <a:rPr lang="en-GB" dirty="0"/>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dirty="0"/>
          </a:p>
          <a:p>
            <a:r>
              <a:rPr lang="en-GB" dirty="0"/>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dirty="0"/>
          </a:p>
          <a:p>
            <a:r>
              <a:rPr lang="en-GB" b="1" dirty="0"/>
              <a:t>2. Step 3 · Teach the application question for each function.</a:t>
            </a:r>
          </a:p>
          <a:p>
            <a:r>
              <a:rPr lang="en-GB" dirty="0"/>
              <a:t>F · Foster a Results Culture: What routine or leadership practice will reinforce ownership of performance commitments and delivery obstacles? The template asks: How will employees and leaders demonstrate ownership of results?</a:t>
            </a:r>
          </a:p>
          <a:p>
            <a:r>
              <a:rPr lang="en-GB" dirty="0"/>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dirty="0"/>
              <a:t>C · Create Measurement Transparency: What evidence will make both people performance and organisational constraints visible? The template asks: How will people performance and the effectiveness of the organisational conditions be made visible?</a:t>
            </a:r>
          </a:p>
          <a:p>
            <a:r>
              <a:rPr lang="en-GB" dirty="0"/>
              <a:t>E · Embed Shared Accountability: Who will own performance commitments, enabling conditions and decisions required to address performance gaps? The template asks: Who will be responsible for contributions, enabling conditions and corrective decisions?</a:t>
            </a:r>
          </a:p>
          <a:p>
            <a:r>
              <a:rPr lang="en-GB" dirty="0"/>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dirty="0"/>
          </a:p>
          <a:p>
            <a:r>
              <a:rPr lang="en-GB" b="1" dirty="0"/>
              <a:t>3. Read the completion check.</a:t>
            </a:r>
          </a:p>
          <a:p>
            <a:r>
              <a:rPr lang="en-GB" dirty="0"/>
              <a:t>Before confirming, the group checks that:</a:t>
            </a:r>
          </a:p>
          <a:p>
            <a:r>
              <a:rPr lang="en-GB" dirty="0"/>
              <a:t>1. All five FACES functions have been addressed for each business function.</a:t>
            </a:r>
          </a:p>
          <a:p>
            <a:r>
              <a:rPr lang="en-GB" dirty="0"/>
              <a:t>2. Your responses describe practical management arrangements.</a:t>
            </a:r>
          </a:p>
          <a:p>
            <a:r>
              <a:rPr lang="en-GB" dirty="0"/>
              <a:t>3. Your FACES application uses the contributions and performance requirements established in Activity 1.</a:t>
            </a:r>
          </a:p>
          <a:p>
            <a:r>
              <a:rPr lang="en-GB" dirty="0"/>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dirty="0"/>
          </a:p>
          <a:p>
            <a:r>
              <a:rPr lang="en-GB" b="1" dirty="0"/>
              <a:t>ON THE PORTAL, AFTER THE TEACHING:</a:t>
            </a:r>
          </a:p>
          <a:p>
            <a:r>
              <a:rPr lang="en-GB" dirty="0"/>
              <a:t>Participants work as a group in Activity 2 of Section 5 of the participant file. This is Capstone work. The group agrees each entry and one member acts as scribe. Every member then types the agreed entries into their own page, in the session or after it.</a:t>
            </a:r>
          </a:p>
          <a:p>
            <a:r>
              <a:rPr lang="en-GB" dirty="0"/>
              <a:t>1. For each business function named in Activity 1, the group describes one practical management arrangement for each of the five FACES functions.</a:t>
            </a:r>
          </a:p>
          <a:p>
            <a:r>
              <a:rPr lang="en-GB" dirty="0"/>
              <a:t>2. The group reads the completion check.</a:t>
            </a:r>
          </a:p>
          <a:p>
            <a:r>
              <a:rPr lang="en-GB" dirty="0"/>
              <a:t>3. Each participant reads the record and selects Confirm. Print gives a copy.</a:t>
            </a:r>
          </a:p>
          <a:p>
            <a:r>
              <a:rPr lang="en-GB" dirty="0"/>
              <a:t>The confirmed record feeds the team’s Capstone Blueprint.</a:t>
            </a:r>
          </a:p>
          <a:p>
            <a:endParaRPr lang="en-GB" dirty="0"/>
          </a:p>
          <a:p>
            <a:r>
              <a:rPr lang="en-GB" b="1" dirty="0"/>
              <a:t>AFTER THE SESSION:</a:t>
            </a:r>
          </a:p>
          <a:p>
            <a:r>
              <a:rPr lang="en-GB" dirty="0"/>
              <a:t>The record reaches you with each participant’s submission, under the heading of Section 5. The confirmed record feeds the Unit 6 boxes of the team’s Capstone Blueprint: the Contribution Map and the FACES application.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ORGANISATIONAL OPERATING SYSTEM · ESRG</a:t>
            </a:r>
          </a:p>
          <a:p>
            <a:endParaRPr lang="en-GB" dirty="0"/>
          </a:p>
          <a:p>
            <a:r>
              <a:rPr lang="en-GB" b="1" dirty="0"/>
              <a:t>HOW TO TEACH IT:</a:t>
            </a:r>
          </a:p>
          <a:p>
            <a:endParaRPr lang="en-GB" dirty="0"/>
          </a:p>
          <a:p>
            <a:r>
              <a:rPr lang="en-GB" b="1" dirty="0"/>
              <a:t>1. Teach the four elements, one row at a time.</a:t>
            </a:r>
          </a:p>
          <a:p>
            <a:r>
              <a:rPr lang="en-GB" dirty="0"/>
              <a:t>E · Environment. Say: "The conditions within which people and organisational processes operate. These include the working environment, organisational climate, cross-functional relationships and external operating conditions that influence delivery."</a:t>
            </a:r>
          </a:p>
          <a:p>
            <a:r>
              <a:rPr lang="en-GB" dirty="0"/>
              <a:t>Example: a customer service team may have clear targets, but persistent conflict between departments prevents timely resolution of customer enquiries.</a:t>
            </a:r>
          </a:p>
          <a:p>
            <a:r>
              <a:rPr lang="en-GB" dirty="0"/>
              <a:t>Performance management consideration: Are the operating conditions supporting or obstructing the achievement of expected results?</a:t>
            </a:r>
          </a:p>
          <a:p>
            <a:endParaRPr lang="en-GB" dirty="0"/>
          </a:p>
          <a:p>
            <a:r>
              <a:rPr lang="en-GB" dirty="0"/>
              <a:t>S · Systems. Say: "The processes, workflows, technologies and operating mechanisms through which work is performed. Systems determine how efficiently and reliably the organisation converts effort and resources into outputs."</a:t>
            </a:r>
          </a:p>
          <a:p>
            <a:r>
              <a:rPr lang="en-GB" dirty="0"/>
              <a:t>Example: employees may be expected to process 100 applications daily, but an unreliable processing system limits actual throughput to 60 applications.</a:t>
            </a:r>
          </a:p>
          <a:p>
            <a:r>
              <a:rPr lang="en-GB" dirty="0"/>
              <a:t>Performance management consideration: Are the systems and processes capable of supporting the required performance standards?</a:t>
            </a:r>
          </a:p>
          <a:p>
            <a:endParaRPr lang="en-GB" dirty="0"/>
          </a:p>
          <a:p>
            <a:r>
              <a:rPr lang="en-GB" dirty="0"/>
              <a:t>R · Resources. Say: "The people, skills, capacity, funding, equipment, information and other resources required to deliver results. Resource adequacy must be evaluated against the level of performance the organisation expects."</a:t>
            </a:r>
          </a:p>
          <a:p>
            <a:r>
              <a:rPr lang="en-GB" dirty="0"/>
              <a:t>Example: a department may be required to double its service output while operating with the same capacity and equipment.</a:t>
            </a:r>
          </a:p>
          <a:p>
            <a:r>
              <a:rPr lang="en-GB" dirty="0"/>
              <a:t>Performance management consideration: Does the organisation have sufficient and appropriately deployed resources to achieve its targets?</a:t>
            </a:r>
          </a:p>
          <a:p>
            <a:endParaRPr lang="en-GB" dirty="0"/>
          </a:p>
          <a:p>
            <a:r>
              <a:rPr lang="en-GB" dirty="0"/>
              <a:t>G · Governance. Say: "The decision rights, accountability arrangements, policies, controls and escalation mechanisms that guide organisational execution. Governance determines whether decisions can be made at the appropriate level and whether constraints can be resolved in time."</a:t>
            </a:r>
          </a:p>
          <a:p>
            <a:r>
              <a:rPr lang="en-GB" dirty="0"/>
              <a:t>Example: a department may have the resources to complete a project, but repeated approval delays prevent it from meeting agreed milestones.</a:t>
            </a:r>
          </a:p>
          <a:p>
            <a:r>
              <a:rPr lang="en-GB" dirty="0"/>
              <a:t>Performance management consideration: Do governance arrangements enable timely decisions, clear accountability and effective resolution of performance constraints?</a:t>
            </a:r>
          </a:p>
          <a:p>
            <a:endParaRPr lang="en-GB" dirty="0"/>
          </a:p>
          <a:p>
            <a:r>
              <a:rPr lang="en-GB" b="1" dirty="0"/>
              <a:t>2. Close the slide.</a:t>
            </a:r>
          </a:p>
          <a:p>
            <a:r>
              <a:rPr lang="en-GB" dirty="0"/>
              <a:t>The Organisational Operating System answers: "Does the organisation have the environment, systems, resources and governance necessary to deliver its expected results consistently?"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HOW THE TWO OPERATING SYSTEMS INTERACT</a:t>
            </a:r>
          </a:p>
          <a:p>
            <a:endParaRPr lang="en-GB" dirty="0"/>
          </a:p>
          <a:p>
            <a:r>
              <a:rPr lang="en-GB" b="1" dirty="0"/>
              <a:t>HOW TO TEACH IT:</a:t>
            </a:r>
          </a:p>
          <a:p>
            <a:endParaRPr lang="en-GB" dirty="0"/>
          </a:p>
          <a:p>
            <a:r>
              <a:rPr lang="en-GB" b="1" dirty="0"/>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endParaRPr lang="en-GB" dirty="0"/>
          </a:p>
          <a:p>
            <a:r>
              <a:rPr lang="en-GB" b="1" dirty="0"/>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cross-functional working conditions supporting timely resolution?</a:t>
            </a:r>
          </a:p>
          <a:p>
            <a:r>
              <a:rPr lang="en-GB" dirty="0"/>
              <a:t>Are employees following the required service procedures? | Systems: Is the customer management system functioning reliably?</a:t>
            </a:r>
          </a:p>
          <a:p>
            <a:r>
              <a:rPr lang="en-GB" dirty="0"/>
              <a:t>Are employees demonstrating accountability and responsiveness? | Resources: Is staffing capacity sufficient for the volume of enquiries?</a:t>
            </a:r>
          </a:p>
          <a:p>
            <a:r>
              <a:rPr lang="en-GB" dirty="0"/>
              <a:t>Are team leaders meeting their supervisory commitments? | Governance: Are decisions and escalations being resolved within the required time?</a:t>
            </a:r>
          </a:p>
          <a:p>
            <a:endParaRPr lang="en-GB" dirty="0"/>
          </a:p>
          <a:p>
            <a:r>
              <a:rPr lang="en-GB" b="1" dirty="0"/>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automatically establish its cause.</a:t>
            </a:r>
          </a:p>
          <a:p>
            <a:r>
              <a:rPr lang="en-GB" dirty="0"/>
              <a:t>Emphasise that leaders must examine both the contribution expected from people and the ESRG conditions required to enable delivery.</a:t>
            </a:r>
          </a:p>
          <a:p>
            <a:endParaRPr lang="en-GB" dirty="0"/>
          </a:p>
          <a:p>
            <a:r>
              <a:rPr lang="en-GB" b="1" dirty="0"/>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endParaRPr lang="en-GB" dirty="0"/>
          </a:p>
          <a:p>
            <a:r>
              <a:rPr lang="en-GB" b="1" dirty="0"/>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people performance and organisational performance: people performance, the results and behaviours individuals and teams must deliver; and organisational performance, the organisational conditions (environment, systems, resources and governance)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support delivery."</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organisational conditions necessary to enable delivery, together with appropriate performance measures or evidence that those conditions are established and functioning.</a:t>
            </a:r>
          </a:p>
          <a:p>
            <a:r>
              <a:rPr lang="en-GB" dirty="0"/>
              <a:t>Only the organisational conditions relevant to the required contribution are included. Not every organisational condition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PEOPLE PERFORMANCE AND ORGANISATIONAL PERFORMANCE</a:t>
            </a:r>
          </a:p>
          <a:p>
            <a:endParaRPr lang="en-GB" dirty="0"/>
          </a:p>
          <a:p>
            <a:r>
              <a:rPr lang="en-GB" b="1" dirty="0"/>
              <a:t>HOW TO TEACH IT:</a:t>
            </a:r>
          </a:p>
          <a:p>
            <a:endParaRPr lang="en-GB" dirty="0"/>
          </a:p>
          <a:p>
            <a:r>
              <a:rPr lang="en-GB" b="1" dirty="0"/>
              <a:t>1. Teach the two dimensions.</a:t>
            </a:r>
          </a:p>
          <a:p>
            <a:r>
              <a:rPr lang="en-GB" dirty="0"/>
              <a:t>Say: "The S2R® Contribution Map™ integrates people performance and organisational performance into the design of enterprise performance. For every required functional contribution, the map identifies two interconnected dimensions."</a:t>
            </a:r>
          </a:p>
          <a:p>
            <a:r>
              <a:rPr lang="en-GB" dirty="0"/>
              <a:t>People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organisational conditions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people performance and organisational performance."</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organisational conditions.</a:t>
            </a:r>
          </a:p>
          <a:p>
            <a:endParaRPr lang="en-GB" dirty="0"/>
          </a:p>
          <a:p>
            <a:r>
              <a:rPr lang="en-GB" dirty="0"/>
              <a:t>F · Foster a Results Culture.</a:t>
            </a:r>
          </a:p>
          <a:p>
            <a:r>
              <a:rPr lang="en-GB" dirty="0"/>
              <a:t>People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constraints in the organisational conditions that repeatedly undermine delivery."</a:t>
            </a:r>
          </a:p>
          <a:p>
            <a:endParaRPr lang="en-GB" dirty="0"/>
          </a:p>
          <a:p>
            <a:r>
              <a:rPr lang="en-GB" dirty="0"/>
              <a:t>A · Align Performance.</a:t>
            </a:r>
          </a:p>
          <a:p>
            <a:r>
              <a:rPr lang="en-GB" dirty="0"/>
              <a:t>People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the organisational conditions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People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the organisational conditions are supporting or constraining delivery. This includes system availability, process efficiency, capacity against demand, cross-functional coordination and decision turnaround times. A missed departmental target reveals a performance gap; evidence on the organisational conditions helps establish why that gap exists and where intervention is required."</a:t>
            </a:r>
          </a:p>
          <a:p>
            <a:endParaRPr lang="en-GB" dirty="0"/>
          </a:p>
          <a:p>
            <a:r>
              <a:rPr lang="en-GB" dirty="0"/>
              <a:t>E · Embed Shared Accountability.</a:t>
            </a:r>
          </a:p>
          <a:p>
            <a:r>
              <a:rPr lang="en-GB" dirty="0"/>
              <a:t>People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each organisational condition must sit with the appropriate leader.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People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constraints in the organisational conditions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people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organisational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people performance and organisational performance."</a:t>
            </a:r>
          </a:p>
          <a:p>
            <a:r>
              <a:rPr lang="en-GB" dirty="0"/>
              <a:t>Take the bridges one at a time through the table: why each matters, what it sustains for the people, what it sustains for the organisational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People performance: Maintains the line of sight between enterprise objectives and individual or team expectations. Employees understand how their contributions support the intended result, including where delivery depends on other functions.</a:t>
            </a:r>
          </a:p>
          <a:p>
            <a:r>
              <a:rPr lang="en-GB" dirty="0"/>
              <a:t>Organisational performance: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People performance: Establishes clear expectations for results, performance standards, behaviours and evidence of achievement. Employees and managers have a credible basis for evaluating contribution.</a:t>
            </a:r>
          </a:p>
          <a:p>
            <a:r>
              <a:rPr lang="en-GB" dirty="0"/>
              <a:t>Organisational performance: Establishes how effective organisational enablement will be recognised. Relevant organisational conditions are assessed through appropriate measures or qualitative evidence of their effectiveness.</a:t>
            </a:r>
          </a:p>
          <a:p>
            <a:r>
              <a:rPr lang="en-GB" dirty="0"/>
              <a:t>What happens when the bridge weakens: Different functions interpret success differently. People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People performance: Provides regular visibility of individual and team progress, emerging performance gaps and development needs. Review frequency reflects the nature of the contribution and its effect on results.</a:t>
            </a:r>
          </a:p>
          <a:p>
            <a:r>
              <a:rPr lang="en-GB" dirty="0"/>
              <a:t>Organisational performance: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People performance: Enables evidence-based conversations about contribution, achievement, behaviour, performance gaps and improvement. Employees and managers establish appropriate responses and follow-through.</a:t>
            </a:r>
          </a:p>
          <a:p>
            <a:r>
              <a:rPr lang="en-GB" dirty="0"/>
              <a:t>Organisational performance: Enables leaders to examine constraints in the organisational conditions, determine their effect on delivery and assign decisions or interventions to the appropriate leaders.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2.2.2 — ACCOUNTABILITY FOR PEOPLE PERFORMANCE AND ORGANISATIONAL PERFORMANCE</a:t>
            </a:r>
          </a:p>
          <a:p>
            <a:endParaRPr lang="en-GB" dirty="0"/>
          </a:p>
          <a:p>
            <a:r>
              <a:rPr lang="en-GB" b="1" dirty="0"/>
              <a:t>HOW TO TEACH IT:</a:t>
            </a:r>
          </a:p>
          <a:p>
            <a:endParaRPr lang="en-GB" dirty="0"/>
          </a:p>
          <a:p>
            <a:r>
              <a:rPr lang="en-GB" b="1" dirty="0"/>
              <a:t>1. Apply the distinction to both systems.</a:t>
            </a:r>
          </a:p>
          <a:p>
            <a:r>
              <a:rPr lang="en-GB" dirty="0"/>
              <a:t>Say: "The distinction between compliance and commitment applies to both human and organisational performance."</a:t>
            </a:r>
          </a:p>
          <a:p>
            <a:r>
              <a:rPr lang="en-GB" dirty="0"/>
              <a:t>People performance.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performance.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endParaRPr lang="en-GB" dirty="0"/>
          </a:p>
          <a:p>
            <a:r>
              <a:rPr lang="en-GB" b="1" dirty="0"/>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endParaRPr lang="en-GB" dirty="0"/>
          </a:p>
          <a:p>
            <a:r>
              <a:rPr lang="en-GB" b="1" dirty="0"/>
              <a:t>3. Ask, now that the architectures are taught.</a:t>
            </a:r>
          </a:p>
          <a:p>
            <a:r>
              <a:rPr lang="en-GB" dirty="0"/>
              <a:t>Ask: "When a target is missed in your organisation, which of the two architectures does the review conversation sound like?"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people performance evidence alongside relevant organisational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3.2 Reflection — Your Current PM System: "What is the current PM architecture of your organisation? Which PM system is currently being used?"</a:t>
            </a:r>
          </a:p>
          <a:p>
            <a:endParaRPr lang="en-GB" dirty="0"/>
          </a:p>
          <a:p>
            <a:r>
              <a:rPr lang="en-GB" b="1" dirty="0"/>
              <a:t>2. Say what the reflection is for.</a:t>
            </a:r>
          </a:p>
          <a:p>
            <a:r>
              <a:rPr lang="en-GB" dirty="0"/>
              <a:t>Say: "Describe the architecture you actually have today, against the three shifts, and name the system your organisation uses."</a:t>
            </a:r>
          </a:p>
          <a:p>
            <a:endParaRPr lang="en-GB" dirty="0"/>
          </a:p>
          <a:p>
            <a:r>
              <a:rPr lang="en-GB" b="1" dirty="0"/>
              <a:t>3. Bridge to Section 4.</a:t>
            </a:r>
          </a:p>
          <a:p>
            <a:r>
              <a:rPr lang="en-GB" dirty="0"/>
              <a:t>Say: "Section 4 brings the unit together in one worked example: the contributions an enterprise Key Result requires, and how FACES manages them."</a:t>
            </a:r>
          </a:p>
          <a:p>
            <a:endParaRPr lang="en-GB" dirty="0"/>
          </a:p>
          <a:p>
            <a:r>
              <a:rPr lang="en-GB" b="1" dirty="0"/>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MAPPING THE CONTRIBUTIONS REQUIRED FOR ENTERPRISE RESULTS (Worked example: improving customer service)</a:t>
            </a:r>
          </a:p>
          <a:p>
            <a:endParaRPr lang="en-GB" dirty="0"/>
          </a:p>
          <a:p>
            <a:r>
              <a:rPr lang="en-GB" b="1" dirty="0"/>
              <a:t>HOW TO TEACH IT:</a:t>
            </a:r>
          </a:p>
          <a:p>
            <a:endParaRPr lang="en-GB" dirty="0"/>
          </a:p>
          <a:p>
            <a:r>
              <a:rPr lang="en-GB" b="1" dirty="0"/>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endParaRPr lang="en-GB" dirty="0"/>
          </a:p>
          <a:p>
            <a:r>
              <a:rPr lang="en-GB" b="1" dirty="0"/>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endParaRPr lang="en-GB" dirty="0"/>
          </a:p>
          <a:p>
            <a:r>
              <a:rPr lang="en-GB" b="1" dirty="0"/>
              <a:t>3. Walk through the Contribution Map.</a:t>
            </a:r>
          </a:p>
          <a:p>
            <a:r>
              <a:rPr lang="en-GB" dirty="0"/>
              <a:t>Use Customer Service to demonstrate the distinction between the functional contribution, people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endParaRPr lang="en-GB" dirty="0"/>
          </a:p>
          <a:p>
            <a:r>
              <a:rPr lang="en-GB" dirty="0"/>
              <a:t>Customer Service.</a:t>
            </a:r>
          </a:p>
          <a:p>
            <a:r>
              <a:rPr lang="en-GB" dirty="0"/>
              <a:t>Required functional contribution: Resolve customer enquiries accurately and within 48 hours.</a:t>
            </a:r>
          </a:p>
          <a:p>
            <a:r>
              <a:rPr lang="en-GB" dirty="0"/>
              <a:t>People performance, required contribution: Employees resolve assigned enquiries, follow up on outstanding cases and escalate delays requiring support from other functions.</a:t>
            </a:r>
          </a:p>
          <a:p>
            <a:r>
              <a:rPr lang="en-GB" dirty="0"/>
              <a:t>People performance metric: Resolution: ≥90% of enquiries within employees’ control resolved within 48 hours. Follow-through: ≥95% of outstanding enquiries followed up within the agreed period.</a:t>
            </a:r>
          </a:p>
          <a:p>
            <a:r>
              <a:rPr lang="en-GB" dirty="0"/>
              <a:t>Required organisational condition: Systems: An enquiry management system that records ownership, progress and resolution times. Governance: Clear escalation authority for enquiries requiring decisions outside Customer Service.</a:t>
            </a:r>
          </a:p>
          <a:p>
            <a:r>
              <a:rPr lang="en-GB" dirty="0"/>
              <a:t>Organisational conditions, measure or evidence of readiness: Systems: Enquiry records provide complete timestamps and assigned ownership. Governance: Documented escalation routes and named decision owners.</a:t>
            </a:r>
          </a:p>
          <a:p>
            <a:endParaRPr lang="en-GB" dirty="0"/>
          </a:p>
          <a:p>
            <a:r>
              <a:rPr lang="en-GB" dirty="0"/>
              <a:t>IT.</a:t>
            </a:r>
          </a:p>
          <a:p>
            <a:r>
              <a:rPr lang="en-GB" dirty="0"/>
              <a:t>Required functional contribution: Maintain reliable customer management systems to support uninterrupted enquiry processing.</a:t>
            </a:r>
          </a:p>
          <a:p>
            <a:r>
              <a:rPr lang="en-GB" dirty="0"/>
              <a:t>People performance, required contribution: IT employees monitor system performance, respond to incidents and restore disrupted services.</a:t>
            </a:r>
          </a:p>
          <a:p>
            <a:r>
              <a:rPr lang="en-GB" dirty="0"/>
              <a:t>People performance metric: Incident resolution: ≥95% of critical incidents resolved within two hours. Communication: ≥95% of confirmed critical incidents communicated to affected departments within 15 minutes.</a:t>
            </a:r>
          </a:p>
          <a:p>
            <a:r>
              <a:rPr lang="en-GB" dirty="0"/>
              <a:t>Required organisational condition: Systems: Reliable infrastructure and monitoring capability to maintain system availability. Resources: Sufficient technical support coverage during service hours.</a:t>
            </a:r>
          </a:p>
          <a:p>
            <a:r>
              <a:rPr lang="en-GB" dirty="0"/>
              <a:t>Organisational conditions, measure or evidence of readiness: Systems: ≥99% customer management system availability during service hours. Resources: Approved technical support roster covering required service hours.</a:t>
            </a:r>
          </a:p>
          <a:p>
            <a:endParaRPr lang="en-GB" dirty="0"/>
          </a:p>
          <a:p>
            <a:r>
              <a:rPr lang="en-GB" dirty="0"/>
              <a:t>Operations.</a:t>
            </a:r>
          </a:p>
          <a:p>
            <a:r>
              <a:rPr lang="en-GB" dirty="0"/>
              <a:t>Required functional contribution: Complete internal processing and approvals within the turnaround required for customer resolution.</a:t>
            </a:r>
          </a:p>
          <a:p>
            <a:r>
              <a:rPr lang="en-GB" dirty="0"/>
              <a:t>People performance, required contribution: Employees process assigned requests accurately and escalate exceptions that could delay customer resolution.</a:t>
            </a:r>
          </a:p>
          <a:p>
            <a:r>
              <a:rPr lang="en-GB" dirty="0"/>
              <a:t>People performance metric: Turnaround: ≥95% of assigned requests completed within eight working hours. Accuracy: ≥98% processing accuracy.</a:t>
            </a:r>
          </a:p>
          <a:p>
            <a:r>
              <a:rPr lang="en-GB" dirty="0"/>
              <a:t>Required organisational condition: Governance: Approval authority must be assigned at the appropriate level to prevent avoidable delays. Systems: Processing workflows must support timely handovers between Operations and Customer Service.</a:t>
            </a:r>
          </a:p>
          <a:p>
            <a:r>
              <a:rPr lang="en-GB" dirty="0"/>
              <a:t>Organisational conditions, measure or evidence of readiness: Governance: Documented approval limits and designated decision owners. Systems: ≥95% of internal processing requests completed within the agreed turnaround time.</a:t>
            </a:r>
          </a:p>
          <a:p>
            <a:endParaRPr lang="en-GB" dirty="0"/>
          </a:p>
          <a:p>
            <a:r>
              <a:rPr lang="en-GB" dirty="0"/>
              <a:t>HR / Workforce Planning.</a:t>
            </a:r>
          </a:p>
          <a:p>
            <a:r>
              <a:rPr lang="en-GB" dirty="0"/>
              <a:t>Required functional contribution: Ensure customer-facing operations have sufficient staffing capacity and capabilities to meet enquiry demand.</a:t>
            </a:r>
          </a:p>
          <a:p>
            <a:r>
              <a:rPr lang="en-GB" dirty="0"/>
              <a:t>People performance, required contribution: Workforce Planning employees forecast staffing requirements, prepare schedules and coordinate responses to identified capacity gaps.</a:t>
            </a:r>
          </a:p>
          <a:p>
            <a:r>
              <a:rPr lang="en-GB" dirty="0"/>
              <a:t>People performance metric: Planning: 100% of staffing schedules completed before the agreed deadline. Responsiveness: ≥95% of identified staffing gaps addressed within the agreed response period.</a:t>
            </a:r>
          </a:p>
          <a:p>
            <a:r>
              <a:rPr lang="en-GB" dirty="0"/>
              <a:t>Required organisational condition: Resources: Sufficient qualified staff available to meet forecast customer enquiry volumes. Governance: Authority to approve staffing adjustments when demand exceeds available capacity.</a:t>
            </a:r>
          </a:p>
          <a:p>
            <a:r>
              <a:rPr lang="en-GB" dirty="0"/>
              <a:t>Organisational conditions, measure or evidence of readiness: Resources: ≥95% staffing coverage against demand-based requirements. Governance: Agreed staffing adjustment authority and escalation arrangements.</a:t>
            </a:r>
          </a:p>
          <a:p>
            <a:endParaRPr lang="en-GB" dirty="0"/>
          </a:p>
          <a:p>
            <a:r>
              <a:rPr lang="en-GB" dirty="0"/>
              <a:t>Performance targets are illustrative. The purpose is to establish sufficient evidence to determine whether the required contribution is being delivered and whether the organisation is enabling it.</a:t>
            </a:r>
          </a:p>
          <a:p>
            <a:endParaRPr lang="en-GB" dirty="0"/>
          </a:p>
          <a:p>
            <a:r>
              <a:rPr lang="en-GB" b="1" dirty="0"/>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endParaRPr lang="en-GB" dirty="0"/>
          </a:p>
          <a:p>
            <a:r>
              <a:rPr lang="en-GB" b="1" dirty="0"/>
              <a:t>5. Consolidate the learning.</a:t>
            </a:r>
          </a:p>
          <a:p>
            <a:r>
              <a:rPr lang="en-GB" dirty="0"/>
              <a:t>Say: "The Contribution Map gives us an integrated view of what must be delivered and enabled across the organisation. It establishes the performance requirements against which contributions can be assessed."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4.1.2 — INTERPRETING THE CONTRIBUTION MAP</a:t>
            </a:r>
          </a:p>
          <a:p>
            <a:endParaRPr lang="en-GB" dirty="0"/>
          </a:p>
          <a:p>
            <a:r>
              <a:rPr lang="en-GB" b="1" dirty="0"/>
              <a:t>HOW TO TEACH IT:</a:t>
            </a:r>
          </a:p>
          <a:p>
            <a:endParaRPr lang="en-GB" dirty="0"/>
          </a:p>
          <a:p>
            <a:r>
              <a:rPr lang="en-GB" b="1" dirty="0"/>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People performance: what must individuals and teams deliver? The map identifies the results and behaviours required from people, supported by measurable performance expectations wherever practical.</a:t>
            </a:r>
          </a:p>
          <a:p>
            <a:r>
              <a:rPr lang="en-GB" dirty="0"/>
              <a:t>3 · Organisational performance: what conditions must the organisation provide? The map identifies the relevant organisational conditions necessary to enable the human contribution.</a:t>
            </a:r>
          </a:p>
          <a:p>
            <a:endParaRPr lang="en-GB" dirty="0"/>
          </a:p>
          <a:p>
            <a:r>
              <a:rPr lang="en-GB" b="1" dirty="0"/>
              <a:t>2. Close on the measures for the organisational conditions.</a:t>
            </a:r>
          </a:p>
          <a:p>
            <a:r>
              <a:rPr lang="en-GB" dirty="0"/>
              <a:t>Say: "Only the organisational conditions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MANAGING THE CONTRIBUTIONS THROUGH FACES (Applying FACES across the four functions)</a:t>
            </a:r>
          </a:p>
          <a:p>
            <a:endParaRPr lang="en-GB" dirty="0"/>
          </a:p>
          <a:p>
            <a:r>
              <a:rPr lang="en-GB" b="1" dirty="0"/>
              <a:t>HOW TO TEACH IT:</a:t>
            </a:r>
          </a:p>
          <a:p>
            <a:endParaRPr lang="en-GB" dirty="0"/>
          </a:p>
          <a:p>
            <a:r>
              <a:rPr lang="en-GB" b="1" dirty="0"/>
              <a:t>1. Connect FACES to the Contribution Map.</a:t>
            </a:r>
          </a:p>
          <a:p>
            <a:r>
              <a:rPr lang="en-GB" dirty="0"/>
              <a:t>Say: "The Contribution Map™ has established the contributions required from Customer Service, IT, Operations and Workforce Planning, including the expected people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endParaRPr lang="en-GB" dirty="0"/>
          </a:p>
          <a:p>
            <a:r>
              <a:rPr lang="en-GB" b="1" dirty="0"/>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endParaRPr lang="en-GB" dirty="0"/>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endParaRPr lang="en-GB" dirty="0"/>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endParaRPr lang="en-GB" dirty="0"/>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endParaRPr lang="en-GB" dirty="0"/>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endParaRPr lang="en-GB" dirty="0"/>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endParaRPr lang="en-GB" dirty="0"/>
          </a:p>
          <a:p>
            <a:r>
              <a:rPr lang="en-GB" b="1" dirty="0"/>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endParaRPr lang="en-GB" dirty="0"/>
          </a:p>
          <a:p>
            <a:r>
              <a:rPr lang="en-GB" b="1" dirty="0"/>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endParaRPr lang="en-GB" dirty="0"/>
          </a:p>
          <a:p>
            <a:r>
              <a:rPr lang="en-GB" b="1" dirty="0"/>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endParaRPr lang="en-GB" dirty="0"/>
          </a:p>
          <a:p>
            <a:r>
              <a:rPr lang="en-GB" b="1" dirty="0"/>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performance measurement from the management system that converts evidence into decisions and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 and organisational operating conditions together as they combine to produce enterprise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the conditions people work in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processes, workflows, technology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people, skills, capacity, funding</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decision rights, escalation</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conditions support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Capacity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organisational conditions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FACES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Organisational conditions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Conditions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Conditions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leaders for the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Reflection 1.2" descr="image.png"/>
          <p:cNvPicPr>
            <a:picLocks noChangeAspect="1"/>
          </p:cNvPicPr>
          <p:nvPr/>
        </p:nvPicPr>
        <p:blipFill>
          <a:blip r:embed="rId7"/>
          <a:stretch>
            <a:fillRect/>
          </a:stretch>
        </p:blipFill>
        <p:spPr>
          <a:xfrm>
            <a:off x="1691640" y="1463040"/>
            <a:ext cx="10035396" cy="1452113"/>
          </a:xfrm>
          <a:prstGeom prst="rect">
            <a:avLst/>
          </a:prstGeom>
        </p:spPr>
      </p:pic>
      <p:sp>
        <p:nvSpPr>
          <p:cNvPr id="4" name="Part 1.2"/>
          <p:cNvSpPr/>
          <p:nvPr/>
        </p:nvSpPr>
        <p:spPr>
          <a:xfrm>
            <a:off x="548640" y="175475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10" name="Reflection 1.3" descr="image.png"/>
          <p:cNvPicPr>
            <a:picLocks noChangeAspect="1"/>
          </p:cNvPicPr>
          <p:nvPr/>
        </p:nvPicPr>
        <p:blipFill>
          <a:blip r:embed="rId8"/>
          <a:stretch>
            <a:fillRect/>
          </a:stretch>
        </p:blipFill>
        <p:spPr>
          <a:xfrm>
            <a:off x="1691640" y="3189473"/>
            <a:ext cx="10035396" cy="1797169"/>
          </a:xfrm>
          <a:prstGeom prst="rect">
            <a:avLst/>
          </a:prstGeom>
        </p:spPr>
      </p:pic>
      <p:sp>
        <p:nvSpPr>
          <p:cNvPr id="6" name="Part 1.3"/>
          <p:cNvSpPr/>
          <p:nvPr/>
        </p:nvSpPr>
        <p:spPr>
          <a:xfrm>
            <a:off x="548640" y="365371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11" name="Reflection 1.4" descr="image.png"/>
          <p:cNvPicPr>
            <a:picLocks noChangeAspect="1"/>
          </p:cNvPicPr>
          <p:nvPr/>
        </p:nvPicPr>
        <p:blipFill>
          <a:blip r:embed="rId9"/>
          <a:stretch>
            <a:fillRect/>
          </a:stretch>
        </p:blipFill>
        <p:spPr>
          <a:xfrm>
            <a:off x="1691640" y="5260962"/>
            <a:ext cx="10035396" cy="1452113"/>
          </a:xfrm>
          <a:prstGeom prst="rect">
            <a:avLst/>
          </a:prstGeom>
        </p:spPr>
      </p:pic>
      <p:sp>
        <p:nvSpPr>
          <p:cNvPr id="8" name="Part 1.4"/>
          <p:cNvSpPr/>
          <p:nvPr/>
        </p:nvSpPr>
        <p:spPr>
          <a:xfrm>
            <a:off x="548640" y="555267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disciplines that keep strategy connected to performance throughout delivery.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compliance and commitment characteristics of a performance management system.</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Accountability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that affect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where current performance management practice sits on the shift to continuous, development-centred and team-based performance.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enterprise performance requirements across functional, human and organisational contributions.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how those contributions are managed across business functions towards an enterprise result.</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performance</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Organisational performance</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functional, human and organisational contributions an enterprise Key Result requires.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how those contributions will be managed across business functions.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organisational conditions,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