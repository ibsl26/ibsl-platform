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6 · PERFORMANCE MANAGEMENT SETUP
Module 3 · Influence · Unit 6
Unit intent (Facilitator Guide):
Unit 6 bridges strategy and execution accountability. Many organisations have measurement systems but lack management systems. Participants should leave understanding the distinction — and knowing how to build the management side. The emphasis is on design thinking: how to construct a system that drives behaviour as well as tracking it. This is one of the more technical units in S2R® — keep the energy applied.
Unit overview (facilitator file): A performance management system is an execution architecture. This unit equips leaders to design systems that translate strategy into individual accountability, calibrate progress rhythms, and sustain collective ownership across the enterprise.</a:t>
            </a:r>
            <a:endParaRPr lang="en-US" dirty="0"/>
          </a:p>
          <a:p/>
          <a:p>
            <a:r>
              <a:t>Source detail (S2R® manuscript):</a:t>
            </a:r>
          </a:p>
          <a:p/>
          <a:p>
            <a:r>
              <a:t>Module context: The Influence module equips participants to understand how each CXO role transforms strategic intent into execution reality. In this phase, leaders move from being architects of strategy to engineers of execution flow: unclogging resistance and establishing the accountability architecture required to sustain momentum under pressure.</a:t>
            </a:r>
          </a:p>
          <a:p>
            <a:r>
              <a:t>Throughout this module, participants explore how different functional perspectives interpret direction, and identify the specific steps where these interpretations create either cross-functional tension or powerful reinforcement.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Evaluate whether organisational performance arrangements support the achievement of strategic priorities.
2. Define clear relationships between enterprise outcomes, leadership accountability and performance evidence.
3. Exercise consistent executive judgement on performance status and its strategic significance.
4. Interpret performance insight in ways that strengthen accountability, decision quality and organisational responsiveness.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suggested timing only for the Section 5 simulation: individual work 15 min → table discussion 15 min → group debrief 15 min.
Key Facilitation Questions
“In your organisation, are you measuring what happened — or managing what will happen next?”
“If your team stopped producing reports tomorrow, what decisions would you lose the ability to make?”
“Is your current PM system designed to generate compliance — or to build commitment?”
“Where in your organisation does measurement transparency break down? Who does not see their numbers?”
“When you review performance, are you looking at activity or at cumulative progress toward target?”
Tone &amp; Watch Points
Avoid: turning the FACES or EXECUTION frameworks into a compliance checklist. They are diagnostic and design tools.
Watch for: leaders who equate “we have a scorecard” with “we have a PM system.” Probe: “What happens after you look at the scorecard? What changes? Who decides what?”
The Solid Gold reframe (Rating 3 = Solid Gold) is intentional and often powerful. Bring it to life with an example of a consistent contributor who reliably delivers and is still overlooked.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Foundations of Performance Management
Establishing the conceptual ground: what performance management actually is, how it differs from measurement, and the functional architecture that makes it work.
Section learning outcomes:
1. Distinguish the management of performance from its measurement.
2. Exercise consistent judgement on performance status and the leadership response it requires.
Time: the facilitator file gives no suggested time for this section.</a:t>
            </a:r>
            <a:endParaRPr lang="en-US" dirty="0"/>
          </a:p>
          <a:p/>
          <a:p>
            <a:r>
              <a:t>Source detail (S2R® manuscript):</a:t>
            </a:r>
          </a:p>
          <a:p/>
          <a:p>
            <a:r>
              <a:t>The central problem (activity and progress): Performance Management Setup creates the visibility infrastructure that allows your organisation to see whether the work being done is actually moving the Key Results forward. Surveillance and pressure have no place in it.</a:t>
            </a:r>
          </a:p>
          <a:p>
            <a:r>
              <a:t>Most organisations confuse activity with progress. People are busy. Initiatives are running. Reports are produced. Yet the fundamental question (are we closer to the Success in Practice today than we were last month?) is rarely answered with confidence.</a:t>
            </a:r>
          </a:p>
          <a:p>
            <a:r>
              <a:t>This setup is about creating the infrastructure that answers that question with confidence. It is the leadership discipline of monitoring strategy in real time: how leaders decide whether to stay the course, pivot, or double down, based on hard evidence.</a:t>
            </a:r>
          </a:p>
          <a:p/>
          <a:p>
            <a:r>
              <a:t>The goal of this section: to shift the perspective of your team. Performance management is often dreaded because it is viewed as a policing tool. We need to reframe it as the visibility infrastructure of organisational progress toward the Success in Practice.</a:t>
            </a:r>
          </a:p>
          <a:p/>
          <a:p>
            <a:r>
              <a:t>Facilitator framing: When you introduce Performance Management Setup, ask leaders to clear their minds of the words “surveillance” and “pressure”. Ask them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MEASUREMENT VS MANAGEMENT (The core distinction)
FACILITATOR GUIDANCE
Ask: “In your organisation, which comes first — the data collection system or the definition of success? How many reports exist that nobody acts on?” Most will recognise that measurement infrastructure was built first and management systems are retrofitted — or entirely absent.
Content:
Performance management and performance measurement are distinct disciplines. This distinction is the single most important conceptual anchor in Unit 6 — and the one most organisations get wrong.
Measurement answers: What happened? It is an input — data, results, scores, dashboards.
Management answers: What do we do about it? It is the leadership response that turns data into decisions, actions, and accountability.
Most organisations have built sophisticated measurement systems and mistakenly believe they have performance management systems. A measurement system without a management architecture produces reports. A management system converts those reports into movement.</a:t>
            </a:r>
            <a:endParaRPr lang="en-US" dirty="0"/>
          </a:p>
          <a:p/>
          <a:p>
            <a:r>
              <a:t>Source detail (S2R® manuscript):</a:t>
            </a:r>
          </a:p>
          <a:p/>
          <a:p>
            <a:r>
              <a:t>Why the distinction comes first: Before exploring how to design a Performance Management system, leaders must first resolve a confusion that undermines execution in most organisations. The terms performance measurement and performance management are routinely used as if they mean the same thing, and treating them as interchangeable is one of the most common reasons that well-designed scorecards produce no change in execution.</a:t>
            </a:r>
          </a:p>
          <a:p/>
          <a:p>
            <a:r>
              <a:t>Performance measurement in full: Performance measurement is the act of collecting, tracking, and interpreting data about results. It provides the evidence of what has occurred. A measurement system captures complaint resolution times, decision cycle durations, collaboration rates, revenue attainment, customer satisfaction scores: the numbers that describe organisational reality at a given point in time.</a:t>
            </a:r>
          </a:p>
          <a:p>
            <a:r>
              <a:t>Performance management in full: Performance management is the broader leadership discipline of using that data, combined with accountability structures, deliberate conversations, and timely decisions, to shape what happens next. It reaches beyond any report or dashboard: it is the leadership response to what measurement reveals. It answers a different and more consequential question than measurement does.</a:t>
            </a:r>
          </a:p>
          <a:p>
            <a:r>
              <a:t>Measurement is an input. Management is the response. One without the other produces either data without direction, or instinct without evidence.</a:t>
            </a:r>
          </a:p>
          <a:p/>
          <a:p>
            <a:r>
              <a:t>A critical distinction for every leader: Many organisations invest heavily in measurement infrastructure (dashboards, platforms, KPI libraries) and very little in management discipline. The result is that data exists in abundance, but the conversations, decisions, and interventions that should follow from that data never materialise. Leaders look at numbers. The numbers do not change the work.</a:t>
            </a:r>
          </a:p>
          <a:p>
            <a:r>
              <a:t>The purpose of the Performance Management Setup in S2R® is to build both: a rigorous measurement architecture and a leadership management discipline that converts data into execution momentum.</a:t>
            </a:r>
          </a:p>
          <a:p/>
          <a:p>
            <a:r>
              <a:t>Professional insights:</a:t>
            </a:r>
          </a:p>
          <a:p/>
          <a:p>
            <a:r>
              <a:t>Numbers and judgement: Numbers should inform decision-making while judgement stays in charge. A dashboard can show strength while the heart of the system is drifting. Use this with “A management system converts reports into movement”.</a:t>
            </a:r>
          </a:p>
          <a:p>
            <a:r>
              <a:t>Source: Journal, 8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THE CORRECT SEQUENCE
Content:
The Correct Sequence
Step 1
Define Success
Before any system is designed, leadership must be explicit about what success looks like. What are we trying to achieve? By when? At what level of quality or scale? Without this, measurement has no target and management has no compass.
Step 2
Design the Management System
Design the system for managing toward success. What conversations will we have? How often? Who is accountable? What decisions will be made, and by whom? The management architecture must exist before measurement is collected — otherwise data accumulates with no system to act on it.
Step 3
Design the Measurement Infrastructure
Design the measurement tools that will feed the management system. What data do we need? How frequently? In what format? Measurement should serve the management conversations already defined.
Step 4
Manage Using Data
Execute the management system using measurement data as the evidence base for conversations, interventions, recognition, and course correction. This is where most organisations start — collecting data before having a system to use it.</a:t>
            </a:r>
            <a:endParaRPr lang="en-US" dirty="0"/>
          </a:p>
          <a:p/>
          <a:p>
            <a:r>
              <a:t>Source detail (S2R® manuscript):</a:t>
            </a:r>
          </a:p>
          <a:p/>
          <a:p>
            <a:r>
              <a:t>What comes first: Neither measurement nor management comes first. Both are downstream of something more foundational: clarity about what success looks like. Before an organisation can measure performance, it must define what it is measuring toward. Before it can manage performance, it needs agreed standards against which to manage.</a:t>
            </a:r>
          </a:p>
          <a:p/>
          <a:p>
            <a:r>
              <a:t>The leadership question at each step of the sequence for building an effective PM system:</a:t>
            </a:r>
          </a:p>
          <a:p>
            <a:r>
              <a:t>1. Define success: What does excellent performance look like in this role, at this level, in this organisation? This is defined in the earlier units of the S2R® programme.</a:t>
            </a:r>
          </a:p>
          <a:p>
            <a:r>
              <a:t>2. Design the management system: What structure, ownership, accountability, cadence, and consequences will govern how we respond to performance data? This is the essence of this unit.</a:t>
            </a:r>
          </a:p>
          <a:p>
            <a:r>
              <a:t>3. Design the measurement infrastructure: What gets tracked, how often, by whom, and in what format?</a:t>
            </a:r>
          </a:p>
          <a:p>
            <a:r>
              <a:t>4. Manage using what measurement reveals: What conversations, decisions, interventions, and recognitions does this data require from us?</a:t>
            </a:r>
          </a:p>
          <a:p/>
          <a:p>
            <a:r>
              <a:t>Why the sequence matters: Many organisations build dashboards before they have built accountability. They measure everything and manage nothing. The data exists. The conversations do not.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FACES FRAMEWORK (Five functions of PM)
FACILITATOR GUIDANCE
Ask participants to rate their current PM system against each FACES dimension (1–5). Typical gap: most organisations score highest on “Create Measurement Transparency” (they have dashboards) and lowest on “Embed Shared Accountability” (accountability lives with the leader alone).
Content:
A complete performance management system serves five interconnected functions. These are simultaneous functions that every well-designed PM system must perform.
F
Foster a Results Culture
The PM system must reinforce a culture in which results matter, are visible, and are celebrated or addressed consistently. Culture is shaped by what gets measured, what gets discussed, and what gets rewarded. A PM system that avoids difficult conversations actively undermines results culture — no matter how sophisticated the dashboard.
Facilitation cue: “What does your PM system reward? Does it reward activity or results? Compliance or commitment?”
A
Align Individual Performance
Every individual must see a clear line of sight between their daily work and the organisation’s strategic outcomes. Without this alignment, effort is misdirected. The PM system must decompose strategic outcomes into team and individual targets that are genuinely connected.
C
Create Measurement Transparency
People perform at a higher level when they can see their own performance data and understand how it is calculated. Transparency ensures that the logic of measurement is understood and trusted. Hidden formulas and opaque scoring destroy confidence in the PM system.
E
Embed Shared Accountability
The PM system must embed accountability as a shared expectation. Shared accountability means teams co-own the results — they participate in setting targets, understand the evidence, and are part of the intervention process. Systems that locate accountability solely in the leader create dependency and fragility.
S
Support Continuous Development
The PM system must identify what performance reveals about capability gaps, development needs, and growth trajectories. Performance data is a development signal as well as an accountability score. Leaders who use PM data only for ratings miss its most powerful application: designing targeted development that improves future performance.
Participant file (1.2 — The FACES Framework) — prompts participants complete:
- ✎ Reflection — FACES Diagnostic Rate your current PM system against each FACES function (1–5). Where is the highest gap? What would closing it change? FFoster a Results Culture AAlign Individual Performance CCreate Measurement Transparency EEmbed Shared Accountability SSupport Continuous Development Biggest gap &amp; what closing it would change — The biggest FACES gap is… and closing it would change…
- ✎ Reflection — FACES Diagnostic Rate your current PM system against each FACES function (1–5). Where is the highest gap? What would closing it change? FFoster a Results Culture AAlign Individual Performance CCreate Measurement Transparency EEmbed Shared Accountability SSupport Continuous Development Biggest gap &amp; what closing it would change</a:t>
            </a:r>
            <a:endParaRPr lang="en-US" dirty="0"/>
          </a:p>
          <a:p/>
          <a:p>
            <a:r>
              <a:t>Source detail (S2R® manuscript):</a:t>
            </a:r>
          </a:p>
          <a:p/>
          <a:p>
            <a:r>
              <a:t>What the framework exists to do: At its core, a Performance Management system is a standardised framework, often visualised through a Performance Management Scorecard, that ensures everyone is playing by the same rules and moving in the same direction. Before examining the specific data components of such a system, it is important to understand what the framework exists to do: it bridges the gap between high-level strategy and daily habits.</a:t>
            </a:r>
          </a:p>
          <a:p>
            <a:r>
              <a:t>A well-designed PM system must perform five distinct functions. Each function addresses a specific organisational dysfunction that, left unresolved, quietly erodes execution discipline. These five functions form the FACES framework.</a:t>
            </a:r>
          </a:p>
          <a:p/>
          <a:p>
            <a:r>
              <a:t>Each function and the problem it solves:</a:t>
            </a:r>
          </a:p>
          <a:p>
            <a:r>
              <a:t>F · Foster a Results Culture. Function: creates a fair and consistent environment where behaviours that produce tangible results are recognised and valued. The problem it solves: without this, organisations inadvertently reward visibility, seniority, or effort over actual results. High performers become frustrated. Underperformance is quietly tolerated.</a:t>
            </a:r>
          </a:p>
          <a:p>
            <a:r>
              <a:t>A · Align Individual Performance. Function: creates a clear line of sight so each individual understands how their daily actions directly contribute to enterprise outcomes. The problem it solves: without this, employees are disconnected from strategy. They complete tasks without understanding which tasks actually move the needle and which ones are simply keeping them busy.</a:t>
            </a:r>
          </a:p>
          <a:p>
            <a:r>
              <a:t>C · Create Measurement Transparency. Function: removes ambiguity in performance evaluation by making the logic, criteria, and expectations visible and understood by all. The problem it solves: without this, performance reviews feel arbitrary. Employees do not know what is being measured, how it is weighted, or what “excellent” actually looks like in practice.</a:t>
            </a:r>
          </a:p>
          <a:p>
            <a:r>
              <a:t>E · Embed Shared Accountability. Function: ensures every Key Result or KPI is explicitly owned, making accountability visible, traceable, and non-transferable. The problem it solves: without this, Key Results are owned by committees, which means they are owned by no one. When there is no name next to a number, there is no accountability, only the appearance of it.</a:t>
            </a:r>
          </a:p>
          <a:p>
            <a:r>
              <a:t>S · Support Continuous Development. Function: shifts performance conversations from judgement to coaching, identifying targeted areas for individual growth and capability building. The problem it solves: without this, reviews are retrospective verdicts. Leaders deliver a rating and move on. The employee leaves knowing what score they received, with no guidance on what to do differently.</a:t>
            </a:r>
          </a:p>
          <a:p/>
          <a:p>
            <a:r>
              <a:t>Professional insights:</a:t>
            </a:r>
          </a:p>
          <a:p/>
          <a:p>
            <a:r>
              <a:t>F · Foster a Results Culture: Culture is revealed through the way work is assigned, recognised and maintained. When only highly visible work is rewarded, essential support functions disengage. People need to know their contribution matters even when senior leaders do not see it.</a:t>
            </a:r>
          </a:p>
          <a:p>
            <a:r>
              <a:t>Source: Journal, 10 July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THREE SIGHTS OF PROGRESS (What gets measured)
FACILITATOR GUIDANCE
A common gap: organisations measure Sight 1 and Sight 2 rigorously but treat Sight 3 as a subjective add-on. Surface this: “In your current system, what weight does behavioural alignment carry in the final performance rating? Is it measured formally or informally?”
Content:
A well-designed PM system tracks performance across three distinct categories. Each sight provides a different angle on whether the organisation is progressing toward its strategic intent. At the individual level, weightings are assigned according to role and function.
Sight 1
Strategy Category
What it measures
Strategic OKRs directly connected to the organisation’s multi-year strategy. This sight asks: Are we making progress on the things that matter most for where we are going?
Individual weighting
Typically 30–50% at senior levels; lower for frontline roles. Reviewed quarterly with executive visibility.
Sight 2
Operational Category
What it measures
Departmental KPIs tracking the operational engine — efficiency, output, quality, and service delivery. This sight asks: Are our operations performing at the standard required to sustain strategy?
Individual weighting
Typically 30–50% across most role levels; highest for frontline and specialist roles. Reviewed monthly or fortnightly.
Sight 3
Behavioural &amp; Values Alignment
What it measures
How individuals demonstrate the organisation’s values and leadership behaviours — assessed through 360° feedback and peer observation. How results are achieved matters as much as what results are achieved.
Individual weighting
Typically 20–40% across role levels; higher for leadership and customer-facing roles. Assessed bi-annually or annually via structured 360°.</a:t>
            </a:r>
            <a:endParaRPr lang="en-US" dirty="0"/>
          </a:p>
          <a:p/>
          <a:p>
            <a:r>
              <a:t>Source detail (S2R® manuscript):</a:t>
            </a:r>
          </a:p>
          <a:p/>
          <a:p>
            <a:r>
              <a:t>Why the architecture is needed: To ensure the Performance Management system functions effectively, leaders must define the accountability and measurement frameworks that will monitor performance objectively. These structures ensure that performance measurement captures what was achieved, how it was accomplished, and its overall impact on the organisation’s mission.</a:t>
            </a:r>
          </a:p>
          <a:p>
            <a:r>
              <a:t>A common framework is to set up categories of progress: progress directly contributing to Strategy advancement, progress directly attributable to Operational excellence, and progress directly attributable to cultural behaviour.</a:t>
            </a:r>
          </a:p>
          <a:p>
            <a:r>
              <a:t>The three categories together form the PM Scorecard Architecture. They reflect a deliberate leadership philosophy: that sustainable organisational performance requires leaders who deliver results, run strong operations, and strengthen the culture simultaneously. The Three Sights of Progress ensure that the organisation rewards those leaders, and withholds that reward from leaders who excel in one dimension at the expense of the others.</a:t>
            </a:r>
          </a:p>
          <a:p>
            <a:r>
              <a:t>These Three Sights of Progress are often given weights, either at an organisational level or at an individual level.</a:t>
            </a:r>
          </a:p>
          <a:p/>
          <a:p>
            <a:r>
              <a:t>Purpose and typical measurement inputs of each category:</a:t>
            </a:r>
          </a:p>
          <a:p>
            <a:r>
              <a:t>Strategy Category. Purpose: focuses on the organisation’s strategic priorities. Measures whether leaders are delivering the Key Results linked to enterprise OKRs that define the organisation’s future direction. Typical measurement inputs: strategic OKRs, cross-functional initiatives, transformation milestones, enterprise impact metrics.</a:t>
            </a:r>
          </a:p>
          <a:p>
            <a:r>
              <a:t>Operational Category. Purpose: represents the execution engine of the organisation. Measures how effectively leaders manage the core responsibilities of their role, including quality, efficiency, and service delivery. Typical measurement inputs: department KPIs, service levels, productivity, operational efficiency, budget adherence.</a:t>
            </a:r>
          </a:p>
          <a:p>
            <a:r>
              <a:t>Behavioural &amp; Values Alignment. Purpose: ensures that performance is achieved in a way that strengthens the organisation’s culture and leadership standards. Evaluates whether people consistently demonstrate the organisation’s values. Typical measurement inputs: 360° feedback, demonstrated behaviours in daily interactions.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THE 1–5 RATING SCALE (Ratings &amp; leadership responses)
FACILITATOR GUIDANCE
The Solid Gold reframe generates significant discussion. Invite reflection: “What message has your body language, tone, or incentive system sent to people rated 3?” Also surface the Rating 5 accountability point: “In the last three years, how many people received a Rating 5? What happened to them afterwards?”
Content:
A rating scale only has value if it is consistently understood and each rating triggers a defined leadership response.
Rating 1 — Poor
Leadership response: Immediate PIP within 30 days
Definition: Performance is significantly below the minimum standard. Output is insufficient, quality is unacceptable, or behaviour is actively damaging.
Leadership response: Immediate intervention. A formal performance improvement plan within 30 days. Weekly check-ins. Assess whether the gap is capability, motivation, or role-fit. A Rating 1 sustained beyond 60 days without visible movement is a role-fit decision.
Rating 2 — Needs Improvement
Leadership response: Structured development plan
Definition: Performance is below the expected standard in one or more significant areas. The individual shows some capability but has consistent gaps in output, quality, or behaviour.
Leadership response: Structured development plan with specific targets and milestones. Fortnightly check-ins. Clear articulation of the standard required to achieve a Rating 3 by the next review cycle.
Rating 3 — Meets Expectations SOLID GOLD
Leadership response: Recognition &amp; retention conversation
Definition: Performance fully meets the standard expected for this role, at this level, in this context. Output is consistent, quality is reliable, behaviour is aligned. This is exactly what the role requires.
The Solid Gold Reframe: Most PM systems implicitly treat a Rating 3 as mediocre — a design flaw that erodes morale and incentivises performative overreach. A Rating 3 is “Solid Gold”: a person who reliably delivers and represents the backbone of execution in any high-performing organisation.
Leadership response: Recognition of consistent contribution. Exploration of growth aspirations — without implying that remaining at a 3 is a failure. Many exceptional contributors are sustainably and appropriately at a 3.
Rating 4 — Exceeds Expectations
Leadership response: Stretch opportunities; retention investment
Definition: Performance consistently goes beyond what the role requires. The individual proactively adds value, solves problems beyond their mandate, and elevates the team. A Rating 4 is a pattern.
Leadership response: Explicit recognition and visibility with senior leadership. Conversation about stretch opportunities, expanded scope, or accelerated development. Failure to invest in a sustained Rating 4 is a retention risk.
Rating 5 — Outstanding
Leadership response: Mandatory structural follow-through
Definition: Performance is transformational within the context of the role. The individual exceeds their own targets and demonstrably elevates others and advances the organisation. A Rating 5 is rare and must be ratified.
Leadership response: A Rating 5 carries a leadership obligation — increased scope, a promotion discussion, a compensation review, or a high-impact project assignment. A Rating 5 acknowledged verbally with no structural follow-through is a trust-destroying event. The individual will note that outstanding performance produced no change — and will adjust their effort accordingly.
Participant file (1.4 — The 1–5 Rating Scale) — prompts participants complete:
- ✎ Reflection — Your Rating Experience Thinking about your current team or role: which rating most accurately reflects the performance standard you are measuring toward? What does the leadership response to that rating look like in practice? — My reflection on the rating scale and how it applies to my current context...</a:t>
            </a:r>
            <a:endParaRPr lang="en-US" dirty="0"/>
          </a:p>
          <a:p/>
          <a:p>
            <a:r>
              <a:t>Source detail (S2R® manuscript):</a:t>
            </a:r>
          </a:p>
          <a:p/>
          <a:p>
            <a:r>
              <a:t>Why a standardised scale: To maintain objectivity within the Performance Management system, organisations use a standardised scoring scale, typically a 1 to 5 scale. This scale defines, in precise and measurable terms, what each rating represents, ensuring a common language of performance that transcends departmental boundaries and minimises individual manager bias.</a:t>
            </a:r>
          </a:p>
          <a:p>
            <a:r>
              <a:t>Each point on the scale is clearly defined with explicit performance descriptors and criteria. This ensures that ratings are based on demonstrated evidence of performance against agreed expectations, with subjective judgement removed. The scale is applied at an individual level across all performance components, with ratings assigned based on verifiable outcomes, behavioural demonstration, and delivery against Key Results or KPIs.</a:t>
            </a:r>
          </a:p>
          <a:p>
            <a:r>
              <a:t>By anchoring performance in clearly defined standards, the system achieves three critical outcomes:</a:t>
            </a:r>
          </a:p>
          <a:p>
            <a:r>
              <a:t>- Personal bias is significantly reduced: ratings can be challenged and defended against explicit criteria, which take the place of managerial opinion.</a:t>
            </a:r>
          </a:p>
          <a:p>
            <a:r>
              <a:t>- A shared language of performance is established across teams and functions: a “3” means the same thing in Finance as it does in Operations.</a:t>
            </a:r>
          </a:p>
          <a:p>
            <a:r>
              <a:t>- Evaluation becomes consistent, comparable, and defensible, enabling fair decisions on rewards, development, and advancement.</a:t>
            </a:r>
          </a:p>
          <a:p/>
          <a:p>
            <a:r>
              <a:t>Performance descriptor and detailed criteria for each rating:</a:t>
            </a:r>
          </a:p>
          <a:p>
            <a:r>
              <a:t>1 · Poor: Delivery is consistently below the agreed standard. Fails to meet core expectations and requires immediate corrective action.</a:t>
            </a:r>
          </a:p>
          <a:p>
            <a:r>
              <a:t>2 · Needs Improvement: Performance is inconsistent or variable. While some targets may be met, the individual requires active intervention or coaching to achieve the baseline standard.</a:t>
            </a:r>
          </a:p>
          <a:p>
            <a:r>
              <a:t>3 · Meets Expectations: The “Solid Gold” standard. Consistently and reliably delivers on all agreed KPIs and behavioural expectations. This is the bedrock of organisational stability.</a:t>
            </a:r>
          </a:p>
          <a:p>
            <a:r>
              <a:t>4 · Exceeds Expectations: Regularly delivers above standard. Demonstrates significant initiative, high-quality output, and the ability to solve complex problems beyond the immediate scope of the role.</a:t>
            </a:r>
          </a:p>
          <a:p>
            <a:r>
              <a:t>5 · Outstanding: Proactive, self-directed, and transformative. These individuals exceed all targets and elevate the performance and morale of the teams around them.</a:t>
            </a:r>
          </a:p>
          <a:p/>
          <a:p>
            <a:r>
              <a:t>Scoring triggers decision: For the PM system to function as a management tool as well as a measurement tool, each rating level should trigger a specific leadership response. When a rating scale is not designed to trigger a decision, it undermines the very purpose for which it was designed. Leaders read the criteria and nod. Then they do not know what to do.</a:t>
            </a:r>
          </a:p>
          <a:p>
            <a:r>
              <a:t>Required leadership response at each rating (to read with the responses above):</a:t>
            </a:r>
          </a:p>
          <a:p>
            <a:r>
              <a:t>1 · Poor: Immediate corrective action plan. Formal performance discussion. Clear timeline for improvement with defined milestones.</a:t>
            </a:r>
          </a:p>
          <a:p>
            <a:r>
              <a:t>2 · Needs Improvement: Active coaching intervention. Structured support plan. Increased review frequency (bi-weekly check-ins).</a:t>
            </a:r>
          </a:p>
          <a:p>
            <a:r>
              <a:t>3 · Meets Expectations: Sustain and recognise. Identify specific development levers to move toward a 4.</a:t>
            </a:r>
          </a:p>
          <a:p>
            <a:r>
              <a:t>4 · Exceeds Expectations: Acknowledge contribution formally. Create stretch opportunities. Discuss advancement pathway.</a:t>
            </a:r>
          </a:p>
          <a:p>
            <a:r>
              <a:t>5 · Outstanding: Formal recognition. Strategic deployment: leverage this person’s capability to elevate others. Succession consideration.</a:t>
            </a:r>
          </a:p>
          <a:p/>
          <a:p>
            <a:r>
              <a:t>Facilitator note, the “Solid Gold” reframe in full: In many organisations, a rating of 3 (“Meets Expectations”) carries an unintended stigma. It is often interpreted as “average”, “ordinary”, or “just enough”. As a result, leaders may feel pressure to inflate ratings to avoid difficult conversations, while team members may feel undervalued despite delivering what is required. This interpretation is flawed and creates significant distortion in the performance management system.</a:t>
            </a:r>
          </a:p>
          <a:p>
            <a:r>
              <a:t>The “Solid Gold” framing for a rating of 3 is a deliberate reframe. A rating of 3 represents consistent, reliable delivery against agreed expectations. It signals that an individual is meeting their commitments, maintaining standards, and contributing predictably to the organisation’s execution. This level of performance is foundational.</a:t>
            </a:r>
          </a:p>
          <a:p>
            <a:r>
              <a:t>Organisations fail because consistent execution is missing. Strategy depends on the ability of the majority of the organisation to deliver reliably over time. Without this stability, even the strongest strategy will not translate into results, and no strategy survives contact with execution.</a:t>
            </a:r>
          </a:p>
          <a:p>
            <a:r>
              <a:t>For this reason, a rating of 3 should be positioned as “Solid Gold”. It reflects: dependability in delivery; consistency across key responsibilities; adherence to expected standards; contribution to overall execution stability.</a:t>
            </a:r>
          </a:p>
          <a:p>
            <a:r>
              <a:t>A small number of high performers cannot compensate for widespread inconsistency. Sustainable performance is built on a strong base of individuals who consistently meet expectations.</a:t>
            </a:r>
          </a:p>
          <a:p>
            <a:r>
              <a:t>Leaders must therefore reinforce that: a rating of 3 is the standard of professional performance; it is the baseline required for effective execution; higher ratings (4 and 5) represent differentiation beyond this foundation and do not replace it. Reinforce this with your teams: a 3 is the foundation on which everything else is built.</a:t>
            </a:r>
          </a:p>
          <a:p>
            <a:r>
              <a:t>When this framing is understood and applied consistently: ratings become credible and meaningful; performance conversations become honest and grounded in evidence; the organisation builds a stable execution engine capable of delivering strategy.</a:t>
            </a:r>
          </a:p>
          <a:p/>
          <a:p>
            <a:r>
              <a:t>The impact of a calibrated system: When a performance management system is functioning correctly, the performance review becomes a no-surprise event. Because the criteria are transparent and the weighting is predetermined, team members understand exactly where they stand at any given moment. They know what is being measured, how much it counts, and what each rating means, including what leadership will do in response.</a:t>
            </a:r>
          </a:p>
          <a:p>
            <a:r>
              <a:t>This transparency produces three powerful shifts in the organisational dynamic:</a:t>
            </a:r>
          </a:p>
          <a:p>
            <a:r>
              <a:t>- Strategic Transparency: Every employee sees exactly how their specific contribution fuels the enterprise’s broader strategic goals. The line of sight between individual effort and organisational outcome becomes visible and motivating.</a:t>
            </a:r>
          </a:p>
          <a:p>
            <a:r>
              <a:t>- Shift in Dynamics: The relationship between a leader and their team evolves from one of top-down oversight to one of shared investment in a common outcome. The scorecard becomes a shared tool and stops being a judgement handed down from above.</a:t>
            </a:r>
          </a:p>
          <a:p>
            <a:r>
              <a:t>- Pathways to Excellence: The rating scale provides a clear roadmap for growth, showing exactly what is required to move from one level to the next. Ambition becomes actionable.</a:t>
            </a:r>
          </a:p>
          <a:p>
            <a:r>
              <a:t>By anchoring ratings in clear descriptors and decision triggers, the organisation replaces subjective, instinct-based assessment with a rigorous, high-alignment framework that drives execution.</a:t>
            </a:r>
          </a:p>
          <a:p/>
          <a:p>
            <a:r>
              <a:t>Professional insights:</a:t>
            </a:r>
          </a:p>
          <a:p/>
          <a:p>
            <a:r>
              <a:t>Accurate ratings: The most meaningful feedback is the most accurate. Leaders who inflate assessments to avoid discomfort deprive people of the truth they need to grow. Use this with 3 · Meets Expectations as SOLID GOLD.</a:t>
            </a:r>
          </a:p>
          <a:p>
            <a:r>
              <a:t>Source: Journal, 31 January 2026 — Professional Insights: Leadership</a:t>
            </a:r>
          </a:p>
          <a:p/>
          <a:p>
            <a:r>
              <a:t>Discretionary effort: Reviews usually account for results, milestones and behaviours, and rarely for who showed up when the work got hard. Add one question to the review: when the last difficult initiative needed discretionary effort, who came and who stayed away?</a:t>
            </a:r>
          </a:p>
          <a:p>
            <a:r>
              <a:t>Source: Journal, 19 April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PM as an Execution Bridge
Understanding the structural logic of how performance management connects strategy to individual action, and why most PM systems fail to make that connection.
Section learning outcomes:
1. Define how performance management connects enterprise outcomes to individual accountability.
2. Evaluate whether current performance arrangements build compliance or commitment.
Time: the facilitator file gives no suggested time for this section.</a:t>
            </a:r>
            <a:endParaRPr lang="en-US" dirty="0"/>
          </a:p>
          <a:p/>
          <a:p>
            <a:r>
              <a:t>Source detail (S2R® manuscript):</a:t>
            </a:r>
          </a:p>
          <a:p/>
          <a:p>
            <a:r>
              <a:t>Where this section sits: Performance management is the intelligence layer that determines whether the high-level organisational objectives actually translate into observable progress, or whether they remain aspirational statements in a presentation deck that is reviewed at the beginning of the year and quietly forgotten by the middle of it.</a:t>
            </a:r>
          </a:p>
          <a:p>
            <a:r>
              <a:t>Moving from strategy design to execution requires a bridge. Without this bridge, strategic goals may be intellectually coherent but operationally invisible. They exist in language that leadership understands, but that language has not been translated into the daily decisions, priorities, and habits of the people responsible for delivery.</a:t>
            </a:r>
          </a:p>
          <a:p>
            <a:r>
              <a:t>The primary purpose of performance management is to build and sustain that bridge, ensuring that every ounce of individual effort contributes to the organisation’s strategic direction. Without it, organisations generate what might be called random acts of excellence: genuine effort, real capability, strong intentions, none of which reliably move the needle.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PM AS THE EXECUTION BRIDGE (Four bridge functions)
FACILITATOR GUIDANCE
Ask participants to identify which bridge function is most underdeveloped. “Where does your strategy most commonly leak? At decomposition, at defining success, at the rhythm, or at the quality of the conversation?”
Content:
A performance management system performs four critical bridging functions between strategy and execution. When any one is missing, the bridge develops a structural gap — and strategy leaks through it.
Bridge 1
Decomposing the Big Picture
Strategy lives at the enterprise level. PM translates it into progressively smaller, actionable units: enterprise outcomes → business unit contributions → team targets → individual responsibilities. Without decomposition, strategy remains a declaration and never becomes a task.
Bridge 2
Defining the Logic of Success
The PM system must make explicit what “success” looks like at each level — as a measurable, observable outcome with defined evidence. When the logic of success is ambiguous, individuals define it for themselves — and those self-definitions are rarely aligned.
Bridge 3
Calibrating the Rhythm
Strategy operates on an annual or multi-year timeline. Individual performance operates daily. The PM system must establish a structured rhythm connecting these timelines. Without rhythm, PM becomes an isolated event.
Progress per Period = (End Target − Baseline) ÷ Number of Periods
This establishes the expected incremental progress in each review period, creating a visible trajectory through the year.
Bridge 4
Structuring the Dialogue
Data without conversation is noise. The PM system must structure the dialogue that turns performance data into decisions. Define: who speaks, how frequently, about what, and with what authority to decide. The quality of the PM conversation is the quality of the PM system.
Participant file (2.1 — PM as the Execution Bridge) — prompts participants complete:
- ✎ Reflection — Your Weakest Bridge Which of the four bridge functions is most underdeveloped in your organisation? Where does your strategy most commonly leak? — The bridge function most underdeveloped in my organisation is... Strategy leaks most often at...</a:t>
            </a:r>
            <a:endParaRPr lang="en-US" dirty="0"/>
          </a:p>
          <a:p/>
          <a:p>
            <a:r>
              <a:t>Source detail (S2R® manuscript):</a:t>
            </a:r>
          </a:p>
          <a:p/>
          <a:p>
            <a:r>
              <a:t>How the PM system builds the bridge: Performance management frameworks create a line of sight: a direct, visible connection between enterprise strategy and individual contribution. When this line of sight exists, performance management becomes a motivational system and stops being a compliance exercise. An employee can sit down on a Monday morning and understand precisely how their work connects to the organisation’s most critical outcomes.</a:t>
            </a:r>
          </a:p>
          <a:p/>
          <a:p>
            <a:r>
              <a:t>What each bridge function does:</a:t>
            </a:r>
          </a:p>
          <a:p>
            <a:r>
              <a:t>Decomposing the Big Picture: Breaking each Key Result into functional measurable delivery signals: the specific, daily contributions required from every team. Strategy descends from the enterprise level to the desk level.</a:t>
            </a:r>
          </a:p>
          <a:p>
            <a:r>
              <a:t>Defining the Logic of Success: Establishing exactly how performance is measured, where the data comes from, and which levers carry the most weight. This removes ambiguity and ensures that the rules of the game are agreed before the game is played.</a:t>
            </a:r>
          </a:p>
          <a:p>
            <a:r>
              <a:t>Calibrating the Rhythm: Setting incremental targets so that leaders are never guessing about whether they are on track. The calculation logic is straightforward, and it tells the leadership team exactly what “on track” looks like every single month.</a:t>
            </a:r>
          </a:p>
          <a:p>
            <a:r>
              <a:t>Structuring the Dialogue: Establishing a cadence for reviews so that performance updates become active leadership conversations: structured moments where the team asks what this data means and what to do next. A performance update is more than a data entry.</a:t>
            </a:r>
          </a:p>
          <a:p/>
          <a:p>
            <a:r>
              <a:t>Professional insights:</a:t>
            </a:r>
          </a:p>
          <a:p/>
          <a:p>
            <a:r>
              <a:t>Bridge 1 · Decomposing the Big Picture: Large efforts succeed when the work is organised into manageable sections with clear ownership, after a disciplined assessment of the true starting condition.</a:t>
            </a:r>
          </a:p>
          <a:p>
            <a:r>
              <a:t>Source: Journal, 5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 COMPLIANCE VS COMMITMENT ARCHITECTURE (The design choice)
FACILITATOR GUIDANCE
Most organisations have compliance systems that use commitment language. The test: “When performance data shows underperformance, what is the first instinct of the leader — to fix the person, or to understand the system?” Invite leaders to identify the one structural change that would shift their system most decisively toward commitment.
Content:
Every PM system is built on one of two architectural orientations: compliance or commitment. The choice is rarely made explicitly — but it is always made. The six dimensions below reveal which architecture is currently operating.
Dimension
△ Compliance
△ Commitment
Purpose | Ensure minimum standards are met and deviations corrected | Generate shared ownership of results and continuous improvement
Ownership | Leader holds accountability; team is subject to it | Team co-owns accountability; leader facilitates
Tone | Assessment and judgement; hierarchical | Inquiry and problem-solving; collaborative
Underperformance | Consequence and control | Understanding root cause; co-designing recovery
Motivation | Avoiding negative consequence | Intrinsic meaning; shared pride in progress
PM experience | Anxiety-producing; done to the individual | Energy-generating; done with the individual
Participant file (2.2 — Compliance vs Commitment Architecture) — prompts participants complete:
- ✎ Reflection — Your Architecture Where would you honestly place your current PM system on the spectrum from compliance to commitment? What is the single structural change that would shift it most decisively? — My current PM architecture is closer to... because... The one structural change that would shift it: ...</a:t>
            </a:r>
            <a:endParaRPr lang="en-US" dirty="0"/>
          </a:p>
          <a:p/>
          <a:p>
            <a:r>
              <a:t>Source detail (S2R® manuscript):</a:t>
            </a:r>
          </a:p>
          <a:p/>
          <a:p>
            <a:r>
              <a:t>The S2R® position: A PM system fails when it is built solely for compliance, using pressure and monitoring to force results. The Strategy2Results® approach is built on a fundamentally different architecture: shared commitment, where the scorecard is a product of alignment and shared ownership, with no directive issued from above.</a:t>
            </a:r>
          </a:p>
          <a:p>
            <a:r>
              <a:t>Understanding the difference between these two architectures is essential for every leader.</a:t>
            </a:r>
          </a:p>
          <a:p/>
          <a:p>
            <a:r>
              <a:t>Five further pairs (compliance architecture first, commitment architecture second):</a:t>
            </a:r>
          </a:p>
          <a:p>
            <a:r>
              <a:t>Imposed: OKRs and KPIs are assigned from the top down. Co-Created: OKRs and KPIs are developed through alignment dialogue; the people responsible for delivery have a voice in how delivery is defined.</a:t>
            </a:r>
          </a:p>
          <a:p>
            <a:r>
              <a:t>Evaluative: Measurement is used to judge past failure. Educational: Measurement is used for learning and course correction.</a:t>
            </a:r>
          </a:p>
          <a:p>
            <a:r>
              <a:t>High Pressure: Targets are set at unrealistic maximums. Execution Reality: Targets are meaningful stretches grounded in operational reality.</a:t>
            </a:r>
          </a:p>
          <a:p>
            <a:r>
              <a:t>Retrospective: Reviews only look at what went wrong. Prospective: Reviews look back to adjust the path forward.</a:t>
            </a:r>
          </a:p>
          <a:p>
            <a:r>
              <a:t>Isolated: Accountability sits with the individual alone. Shared: Both the leader and the KPI owner share responsibility for outcomes.</a:t>
            </a:r>
          </a:p>
          <a:p/>
          <a:p>
            <a:r>
              <a:t>A critical point for every leader in the room: Performance Management is a leadership discipline. It is the continuous monitoring of strategic intent. When a leader delegates performance management entirely to HR, they have effectively delegated responsibility for strategy execution, and surrendered their ability to know whether the strategy is working.</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RULES OF THE GAME (Two steps of the cascade)
FACILITATOR GUIDANCE
The most common failure in Step 1 is the evidence standard. Ask: “If two managers each gave someone a Rating 4, would they be using the same evidence?” Step 2 often breaks down at “Assign Ownership” — most cascade conversations end with team-level accountability that no single person is actually responsible for.
Content:
Before performance can be managed, the rules must be established and understood by everyone expected to play. Two steps structure this process.
Step 1: Prepare the Foundation
Rating Scale: Agree the 1–5 scale, definitions of each level, and evidence required to differentiate between them. Ambiguity here creates inconsistency and destroys trust.
Performance Thresholds: Define the minimum acceptable standard for each role. What constitutes a sustained Rating 2 requiring intervention?
Evidence Standards: Determine what counts as evidence of performance — output volume, quality metrics, peer feedback, customer satisfaction. Must be explicit.
Review Routine: Establish the cadence: how frequently performance is reviewed, in what format, with what participants. A routine that is skipped destroys PM system credibility.
Step 2: The Cascade
Verify the Data: Before any cascade conversation, confirm that data is accurate, current, and consistently interpreted. A cascade built on flawed data produces misaligned targets and erodes trust in the entire PM system.
Assign Ownership: Every metric must have a single named owner. Collective ownership without individual ownership is shared irresponsibility.
Focus on Learning: The cascade conversation is a learning conversation as well as target-setting. What does this target reveal about capability requirements? What barriers must be removed? Leaders who conduct the cascade purely as a negotiation miss its most important function.</a:t>
            </a:r>
            <a:endParaRPr lang="en-US" dirty="0"/>
          </a:p>
          <a:p/>
          <a:p>
            <a:r>
              <a:t>Source detail (S2R® manuscript):</a:t>
            </a:r>
          </a:p>
          <a:p/>
          <a:p>
            <a:r>
              <a:t>Why the rules come first: Before cascading indicators into individual scorecards, a leader must standardise the rules of the game. This removes subjective judgement and replaces it with a data-driven framework for coaching and accountability.</a:t>
            </a:r>
          </a:p>
          <a:p/>
          <a:p>
            <a:r>
              <a:t>Step 1 · Prepare the Foundation, the leader’s actions:</a:t>
            </a:r>
          </a:p>
          <a:p>
            <a:r>
              <a:t>Rating Scale (select the scale): Use a numbering rating system with clear, non-negotiable descriptors. Ensure every leader in the organisation uses the same scale in the same way.</a:t>
            </a:r>
          </a:p>
          <a:p>
            <a:r>
              <a:t>Performance Thresholds (define thresholds): Articulate in concrete behavioural and results terms what “Outstanding” actually looks like in practice, in the specific context of each role.</a:t>
            </a:r>
          </a:p>
          <a:p>
            <a:r>
              <a:t>Evidence Standards (identify evidence): Decide now what data sources (system reports, operational audits, peer feedback, customer data) will be used to support each rating. This removes the potential for disputes later.</a:t>
            </a:r>
          </a:p>
          <a:p>
            <a:r>
              <a:t>Review Routine (establish the routine): Set the frequency of review: monthly dashboards for operational signals, quarterly deep-dives for strategic progress, annual reviews for overall performance and development.</a:t>
            </a:r>
          </a:p>
          <a:p/>
          <a:p>
            <a:r>
              <a:t>Step 2 · The Cascade, translating strategy to the frontline: Once the foundation is set, the leader works with the team to translate Key Results and Goals into individual delivery outcomes and KPIs. This is the cascade: the moment when enterprise strategy descends from the executive level to the individual desk. The leader’s role in the cascade is specific:</a:t>
            </a:r>
          </a:p>
          <a:p>
            <a:r>
              <a:t>Verify the Data (verify data sources): Ensure that every measure is supported by a verifiable, system-generated or independently auditable data source. Performance cannot be managed on the basis of “gut feelings” or self-reported progress.</a:t>
            </a:r>
          </a:p>
          <a:p>
            <a:r>
              <a:t>Assign Ownership: Every delivery goal or KPI must have a clear, named owner: a single individual who is accountable for its progress. A team, a committee or a shared responsibility cannot stand in as the owner.</a:t>
            </a:r>
          </a:p>
          <a:p>
            <a:r>
              <a:t>Focus on Learning: Ensure that review sessions are structured around solving bottlenecks and accelerating progress. Reporting numbers to confirm they have been entered correctly does not make a review.</a:t>
            </a:r>
          </a:p>
          <a:p/>
          <a:p>
            <a:r>
              <a:t>Professional insights:</a:t>
            </a:r>
          </a:p>
          <a:p/>
          <a:p>
            <a:r>
              <a:t>Step 1 · Prepare the Foundation: Strategy becomes executable when decision rights, boundaries and accountability are defined before the pressure arrives. Set the standards explicitly, and name the seriousness of a situation honestly when it comes.</a:t>
            </a:r>
          </a:p>
          <a:p>
            <a:r>
              <a:t>Source: Journal, 20 July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 LEADER VS TEAM: A CRITICAL DISTINCTION (Who is measured on what)
FACILITATOR GUIDANCE
This is a powerful reframe for leaders who conflate team busyness with strategic progress. “Is your current PM review looking at your team’s activities — or at your cumulative outcome trajectory? When last did you review whether your team’s activities are actually producing the outcomes the strategy requires?”
Content:
One of the most frequently misunderstood aspects of performance management is the distinction between how a team is measured and how its leader is measured. Conflating the two creates misaligned incentives and obscures accountability.
Dimension
The Team Is Measured On
The Leader Is Measured On
Focus | Activities, outputs, and behaviours within the review period | Cumulative outcome trajectory across the full performance cycle
Time horizon | Current period: what was done, how it was done | End-of-cycle: are we on track to reach the target by year-end?
Evidence | Deliverable completion, quality scores, behavioural indicators | Cumulative progress calculation; gap to target; trend direction
Review frequency | Monthly / quarterly | Quarterly / bi-annually
The practical implication: A team can complete every planned activity on time (strong team performance) while the leader’s cumulative outcome trajectory is still off track (weak leadership performance). The leader is accountable for ensuring tasks are producing the outcomes the strategy requires.
Participant file (2.4 — Leader vs Team: A Critical Distinction) — prompts participants complete:
- ✎ Reflection — Reviewing Your Role When you last reviewed performance in your area, were you looking at team activities or at cumulative outcome trajectory? What would change if you shifted the focus? — In my last performance review I was mainly looking at... If I shifted to cumulative trajectory, I would see...</a:t>
            </a:r>
            <a:endParaRPr lang="en-US" dirty="0"/>
          </a:p>
          <a:p/>
          <a:p>
            <a:r>
              <a:t>Source detail (S2R® manuscript):</a:t>
            </a:r>
          </a:p>
          <a:p/>
          <a:p>
            <a:r>
              <a:t>The distinction in one line: The team is measured on the quality and completion of specific activities. The leader is measured on the cumulative outcome that those activities produce.</a:t>
            </a:r>
          </a:p>
          <a:p/>
          <a:p>
            <a:r>
              <a:t>Example: The strategic goal is to reduce complaint resolution time from 48 hours to 12 hours.</a:t>
            </a:r>
          </a:p>
          <a:p>
            <a:r>
              <a:t>The team is measured on their daily processing speed, quality of resolution, and adherence to handling protocols.</a:t>
            </a:r>
          </a:p>
          <a:p>
            <a:r>
              <a:t>The leader is measured on the steady, cumulative reduction in cycle time (the −0.42 hours of improvement per week) that demonstrates the strategy is gaining traction. If the team is active but the number is not moving, the leader must intervene.</a:t>
            </a:r>
          </a:p>
          <a:p/>
          <a:p>
            <a:r>
              <a:t>Professional insights:</a:t>
            </a:r>
          </a:p>
          <a:p/>
          <a:p>
            <a:r>
              <a:t>Accountability at the top: A culture that holds everyone accountable except the most powerful runs on performance for junior people and immunity for senior ones. No role is above the standards the culture requires.</a:t>
            </a:r>
          </a:p>
          <a:p>
            <a:r>
              <a:t>Source: Journal, 15 January 2026 — Professional Insights: Culture</a:t>
            </a:r>
          </a:p>
          <a:p/>
          <a:p>
            <a:r>
              <a:t>The leader’s evidence: The condition of the organisation, the experience of its people and the consistency of its operations reveal whether leadership capability has been translated into practice. Use this with “Cumulative outcome trajectory”.</a:t>
            </a:r>
          </a:p>
          <a:p>
            <a:r>
              <a:t>Source: Journal, 16 July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PM in the Executive Context
Extending PM architecture to the enterprise level: how executive teams align their measurement signals, where execution gaps emerge, and how industry context is shifting.
Section learning outcomes:
1. Recognise each executive role’s contribution to the evidence of enterprise progress.
2. Evaluate the execution gaps that prevent performance arrangements from supporting strategic priorities.
Time: the facilitator file gives no suggested time for this section.</a:t>
            </a:r>
            <a:endParaRPr lang="en-US" dirty="0"/>
          </a:p>
          <a:p/>
          <a:p>
            <a:r>
              <a:t>Source detail (S2R® manuscript):</a:t>
            </a:r>
          </a:p>
          <a:p/>
          <a:p>
            <a:r>
              <a:t>Where this section sits: Performance management becomes fragile when success is measured in silos. If every department builds its own dashboard in isolation, the enterprise strategy dissolves into a collection of competing priorities, each legitimate within its own boundary, none of them aligned to a common direction.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ALIGNMENT BRIGADE (Executive team as PM system)
FACILITATOR GUIDANCE
Ask the executive team to independently write down the top three enterprise performance priorities right now — then compare answers. The degree of divergence is a direct measure of Alignment Brigade dysfunction. “If your executive team cannot agree on the top three, how does the organisation below you know where to focus?”
Content:
At the enterprise level, the performance management system sits in the executive team. The C-suite is, collectively, the organisation’s measurement alignment system. When the executive team is not aligned on what they are measuring, why, and what they are doing about it, the enterprise PM system is structurally broken regardless of the tools in place.
The Alignment Brigade concept recognises that each executive function carries a unique measurement responsibility — a “hot zone” of the enterprise that they are best positioned to track, interpret, and act upon. When these hot zones are integrated through a shared cadence and common language, the executive team becomes a precision measurement system. When they operate independently, they produce competing narratives of organisational performance.
The critical question for any executive team: “When we look at the same performance data, do we interpret it from the same perspective — or from the perspective of our function? And when the data tells us to act, do we act as a system or as a collection of functions?”
Participant file (3.1 — The Alignment Brigade) — prompts participants complete:
- ✎ Reflection — Your Enterprise Signal Write down what you believe are the top three enterprise performance priorities right now. Then compare with a colleague. What does any divergence reveal? — My top 3 enterprise performance priorities right now: 1. 2. 3. What any divergence with colleagues reveals...</a:t>
            </a:r>
            <a:endParaRPr lang="en-US" dirty="0"/>
          </a:p>
          <a:p/>
          <a:p>
            <a:r>
              <a:t>Source detail (S2R® manuscript):</a:t>
            </a:r>
          </a:p>
          <a:p/>
          <a:p>
            <a:r>
              <a:t>The Brigade image: Think of the executive team as The Alignment Brigade, more than heads of departments. Every leader carries deep professional instincts about what “progress” looks like. A CFO sees progress in the margins. A CTO sees it in system uptime and deployment velocity. A CHRO sees it in engagement scores and leadership capability. These instincts are valuable, but if they are not synchronised, they create measurement imbalances that fragment the organisation’s understanding of its own performance.</a:t>
            </a:r>
          </a:p>
          <a:p>
            <a:r>
              <a:t>The Brigade’s role is to ensure that these individual signals of success resonate together as a single, coherent enterprise system. By identifying the PM Hot Zones (the areas where each executive role naturally focuses its measurement attention), the leadership team can design a performance architecture that keeps the entire organisation moving in one direction.</a:t>
            </a:r>
          </a:p>
          <a:p/>
          <a:p>
            <a:r>
              <a:t>Professional insights:</a:t>
            </a:r>
          </a:p>
          <a:p/>
          <a:p>
            <a:r>
              <a:t>Same data, same truth: A system loses reliability when people say what authority wants to hear. Capability without alignment can still produce poor collective outcomes.</a:t>
            </a:r>
          </a:p>
          <a:p>
            <a:r>
              <a:t>Source: Journal, 30 August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CXO HOT ZONES (10 executive PM contributions)
FACILITATOR GUIDANCE
Invite participants to work through their own role card first, then two closely related roles. Key question: “In your last executive performance review, were all ten hot zones represented? What does the absence of a hot zone from the executive PM conversation produce in the organisation below?”
Content:
Each executive function owns a distinct hot zone in the enterprise PM architecture. Click a role to explore its measurement responsibility and contribution to the collective progress signal.
CEO
Enterprise Visibility
CFO
Financial Signals
COO
Execution Rhythm
CHRO
Capability &amp; Behaviour
CTO/CIO
System Enablement
CMO
Market Signal
CCO
Revenue Velocity
CPO
Supply Reliability
CRO
Risk &amp; Governance
CSO
Strategic Coherence
CEO — Enterprise Visibility: The CEO holds the integrated view of whether the organisation as a whole is on trajectory. The CEO’s PM role is to ensure the executive team is interpreting performance coherently and that the collective response is coordinated. The CEO is the only function with authority to enforce measurement alignment across all hot zones. When CEO PM visibility is absent, each function optimises its own metric at the expense of enterprise coherence.
CFO — Financial Signals: The CFO interprets the financial performance signal: revenue, cost, margin, liquidity, and capital efficiency. In the PM context, the CFO translates financial data into strategic resource allocation signals — identifying where investment is producing returns and where it is absorbed without output. When CFO PM insight is isolated, financial data becomes a constraint and loses its value as a strategic navigation tool.
COO — Execution Rhythm: The COO tracks the execution engine: throughput, cycle times, operational quality, and delivery consistency. The COO ensures operational performance rhythm is matched to strategic demand — the engine is running in the right direction at the right speed. When COO PM is activity-focused, the organisation confuses motion with progress.
CHRO — Capability &amp; Behaviour: The CHRO tracks the capability and behaviour signal: talent pipeline health, performance distribution, leadership effectiveness, and cultural alignment. The CHRO ensures the organisation has the human capability to execute the strategy — and that behaviour is aligned to values as well as outcomes. When CHRO PM data is absent from executive reviews, capability gaps become execution crises.
CTO/CIO — System Enablement: The CTO/CIO tracks system enablement: technology performance, digital capability, data quality, and system reliability. This function ensures technology is an execution accelerator. Poor system performance is a PM variable — it directly affects what people can deliver. When technology performance is excluded from PM reviews, teams are held accountable for gaps caused by system failures.
CMO — Market Signal: The CMO tracks brand perception, customer acquisition costs, pipeline health, campaign performance, and market share trajectory. The CMO provides the leading indicators of future revenue — the signal that tells the enterprise whether the market is responding to the strategy. When CMO PM data is lagged, the enterprise acts on market signals that are already 3–6 months old.
CCO — Revenue Velocity: The CCO tracks win rates, deal cycle times, customer retention, revenue per customer, and commercial pipeline conversion. The CCO translates commercial activity into revenue trajectory signals connecting market position to financial performance. When CCO PM is focused on activity, the organisation mistakes effort for momentum.
CPO — Supply Reliability: The CPO tracks supply reliability, product pipeline health, vendor performance, and input cost management. The CPO ensures the supply and product infrastructure can reliably support execution — that the organisation can deliver what it has committed to deliver. When CPO PM is reactive, supply disruptions become execution crises that consume leadership capacity.
CRO — Risk &amp; Governance: The CRO tracks regulatory compliance, risk appetite alignment, incident frequency, and control effectiveness. The CRO ensures strategic ambition is pursued within a coherent risk framework — enabling bold action without reckless exposure. When CRO PM is siloed, risk appetite is interpreted differently across functions, creating asymmetric exposure.
CSO — Strategic Coherence: The CSO tracks whether the organisation’s current activities, resource allocation, and performance trajectory are aligned to its multi-year strategic intent. The CSO provides the strategic integrity check — ensuring operational performance is not winning at the expense of strategic positioning. When CSO PM is absent, operational urgency systematically erodes strategic intent over time.
Participant file (3.2 — CXO Hot Zones) — prompts participants complete:
- ✎ Reflection — Your Hot Zone Having explored your hot zone and the two most adjacent roles: what is the most important alignment conversation you need to have with an adjacent function in the next 30 days? — My hot zone is most aligned with... and most in tension with... The alignment conversation I need to have: ...</a:t>
            </a:r>
            <a:endParaRPr lang="en-US" dirty="0"/>
          </a:p>
          <a:p/>
          <a:p>
            <a:r>
              <a:t>Source detail (S2R® manuscript):</a:t>
            </a:r>
          </a:p>
          <a:p/>
          <a:p>
            <a:r>
              <a:t>Natural bias and alignment contribution of each role:</a:t>
            </a:r>
          </a:p>
          <a:p>
            <a:r>
              <a:t>CEO · Enterprise Visibility. Natural bias: growth, milestones, and market position. Alignment contribution: connects the Big Picture organisational goals to functional execution signals across all departments.</a:t>
            </a:r>
          </a:p>
          <a:p>
            <a:r>
              <a:t>CFO · Financial Signals. Natural bias: revenue, cost discipline, and ROI. Alignment contribution: links financial health to the operational drivers that create value, as well as to the outcomes they produce.</a:t>
            </a:r>
          </a:p>
          <a:p>
            <a:r>
              <a:t>COO · Execution Rhythm. Natural bias: throughput, cycle times, and reliability. Alignment contribution: creates a sustainable and measurable pace of work that actually reaches strategic targets.</a:t>
            </a:r>
          </a:p>
          <a:p>
            <a:r>
              <a:t>CHRO · Capability &amp; Behaviour. Natural bias: engagement and leadership effectiveness. Alignment contribution: ensures the “how” (culture) and the “who” (skills and capability) support execution.</a:t>
            </a:r>
          </a:p>
          <a:p>
            <a:r>
              <a:t>CTO/CIO · System Enablement. Natural bias: system reliability and digital deployment. Alignment contribution: ensures that the data used for performance management is accurate, timely, and visible.</a:t>
            </a:r>
          </a:p>
          <a:p>
            <a:r>
              <a:t>CMO · Market Signal. Natural bias: brand awareness and customer sentiment. Alignment contribution: measures the customer journey from first contact to long-term advocacy.</a:t>
            </a:r>
          </a:p>
          <a:p>
            <a:r>
              <a:t>CCO · Revenue Velocity. Natural bias: pipeline strength and conversion speed. Alignment contribution: focuses on long-term customer value ahead of short-term transactional results.</a:t>
            </a:r>
          </a:p>
          <a:p>
            <a:r>
              <a:t>CPO · Supply Reliability. Natural bias: procurement efficiency and resource flow. Alignment contribution: aligns supply chain and resource availability with the organisation’s actual execution capacity.</a:t>
            </a:r>
          </a:p>
          <a:p>
            <a:r>
              <a:t>CRO · Risk &amp; Governance. Natural bias: compliance and operational risk signals. Alignment contribution: weaves stability and governance discipline into the way results are delivered.</a:t>
            </a:r>
          </a:p>
          <a:p>
            <a:r>
              <a:t>CSO · Strategic Coherence. Natural bias: milestone tracking and initiative health. Alignment contribution: prevents measurement drift and keeps the enterprise anchored to the original strategic intent.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THE THREE EXECUTION GAPS (Where PM breaks down)
FACILITATOR GUIDANCE
Ask the group to vote (anonymously if needed) on which Execution Gap is most present in their organisation. In most executive contexts, Gap 1 and Gap 3 will dominate. The discussion about why these gaps persist despite being well understood is where the real facilitation work happens. The answer is usually political: fixing the gap requires someone to give up control of a metric or accept shared accountability they have historically resisted.
Content:
Three structural gaps account for the majority of PM system failures at the enterprise level. Each gap is a predictable consequence of a specific design flaw.
Gap 1
Competing Definitions of Progress
Different functions or leaders are using different definitions of what constitutes progress — finance says margin, operations says throughput, sales says pipeline. Without a unified definition of progress at the enterprise level, each function optimises its own metric at the expense of collective momentum.
Intervention: Establish an enterprise progress definition in the executive PM session. Agree on the three to five metrics that, if achieved, confirm the strategy is working. Everything else is a supporting indicator.
Gap 2
Measurement Blind Spots
The organisation is systematically not measuring something that matters. Common blind spots: quality of cross-functional collaboration, health of the leadership pipeline, customer experience at key touchpoints. What is not measured is not managed — and eventually becomes a crisis.
Intervention: Map the current measurement system against the Three Sights of Progress. Ask: “What would we need to see to know our strategy is working before the financial results confirm it?”
Gap 3
Incentive Misalignment
The incentive structure rewards behaviour inconsistent with the strategic intent. Leaders are rewarded for short-term financial performance while the strategy requires long-term capability investment. People follow the incentives. When incentives and strategy diverge, strategy loses.
Intervention: Audit the current incentive structure against strategic priorities. Redesign to reward the behaviours the strategy actually requires. Where are incentives producing the wrong behaviour? Which strategic priorities have no incentive attached?
Participant file (3.3 — The Three Execution Gaps) — prompts participants complete:
- ✎ Reflection — Your Dominant Gap Which of the three Execution Gaps is most present in your organisation right now? Why does it persist despite being understood? — The dominant gap in my organisation is Gap ___ because... It persists despite being understood because... The intervention I would prioritise: ...</a:t>
            </a:r>
            <a:endParaRPr lang="en-US" dirty="0"/>
          </a:p>
          <a:p/>
          <a:p>
            <a:r>
              <a:t>Source detail (S2R® manuscript):</a:t>
            </a:r>
          </a:p>
          <a:p/>
          <a:p>
            <a:r>
              <a:t>The risk of the isolated measure: When leadership roles stop talking to each other and begin looking only at their own functional charts, three dangerous execution gaps appear, each capable of undermining strategy delivery even when individual departments are performing well.</a:t>
            </a:r>
          </a:p>
          <a:p/>
          <a:p>
            <a:r>
              <a:t>Gap 1 in practice: The Marketing Leader reports that leads are up and declares the quarter a success. The Operations Leader reports that the fulfilment backlog is growing and declares a crisis. The Finance Leader reports neutral margins and is uncertain what to conclude. All three are reading genuine data. None of them is reading the same story. Without an agreed enterprise progress signal, leadership conversations fragment into functional defences, and the organisation does not know whether it is winning or losing.</a:t>
            </a:r>
          </a:p>
          <a:p>
            <a:r>
              <a:t>Gap 2 in practice: The most strategically important work often happens between departments: in the handoffs, the integrations, the coordination zones that no single function owns. If that work is not visible on any specific functional dashboard, it becomes invisible and, by default, unmanaged. What is not managed does not improve.</a:t>
            </a:r>
          </a:p>
          <a:p>
            <a:r>
              <a:t>Gap 3 in practice: Teams will always play to the scoreboard. If the scoreboard only tracks their department’s metrics, they will optimise their own world, even when that optimisation inadvertently slows down the rest of the organisation. A sales team that closes deals without considering operational capacity creates a backlog. A finance function that optimises cost without considering capability creates a talent shortage. Misaligned scorecards are enough to produce incentive misalignment, even where intentions are good.</a:t>
            </a:r>
          </a:p>
          <a:p/>
          <a:p>
            <a:r>
              <a:t>The leadership imperative: Performance management is a collective discipline. While each leader brings a specialised perspective to the table, the goal is to weave those perspectives into a single Source of Truth: one agreed enterprise progress signal that the entire leadership team reads and interprets together. This ensures that when the organisation says it is making progress, it means it from every angle of the business, well beyond the one angle that is performing best this quarter.</a:t>
            </a:r>
          </a:p>
          <a:p/>
          <a:p>
            <a:r>
              <a:t>Professional insights:</a:t>
            </a:r>
          </a:p>
          <a:p/>
          <a:p>
            <a:r>
              <a:t>Gap 3 · Incentive Misalignment: Cultures that take the value people produce without returning it equitably erode the motivation that produced it. People stop caring about the harvest when they know they will not share in it.</a:t>
            </a:r>
          </a:p>
          <a:p>
            <a:r>
              <a:t>Source: Journal, 2 February 2026 — Professional Insights: Culture</a:t>
            </a:r>
          </a:p>
          <a:p/>
          <a:p>
            <a:r>
              <a:t>What the system rewards: When an organisation visibly rewards self-promotion, people spend their energy positioning and the quiet contributor is overlooked. Raise the people who did the work without angling for the credit, so that contribution becomes the path upward.</a:t>
            </a:r>
          </a:p>
          <a:p>
            <a:r>
              <a:t>Source: Journal, 15 June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 — THE CONTINUOUS PM SHIFT (Industry context)
FACILITATOR GUIDANCE
Invite participants to locate their organisation on the spectrum from traditional (annual, rating-centric, individual) to leading-edge (continuous, development-centric, team-integrated). “Where are you now — and where do you need to be in three years?”
Content:
41% of organisations have moved to real-time or near-real-time feedback systems, replacing annual or bi-annual performance review cycles with continuous check-in models. This shift reflects a fundamental change in how high-performing organisations understand the relationship between feedback and performance.
Trend 1
From Annual to Continuous
The annual performance review is being supplemented or replaced by structured quarterly conversations, monthly check-ins, and continuous pulse feedback. The shift recognises that annual feedback is too infrequent to change behaviour and too delayed to be developmental.
Trend 2
From Rating-Centric to Development-Centric
Leading organisations are shifting from the rating (a backward-looking judgement) to development planning (a forward-looking investment). The rating becomes an input to development. Associated with higher engagement, stronger retention, and more rapid capability improvement.
Trend 3
From Individual to Team Performance
As organisations become more cross-functional, individual performance ratings are being complemented by team performance assessments. Most outcomes require coordinated contribution. Organisations that exclusively measure individual performance create hidden disincentives for collaboration.</a:t>
            </a:r>
            <a:endParaRPr lang="en-US" dirty="0"/>
          </a:p>
          <a:p/>
          <a:p>
            <a:r>
              <a:t>Source detail (S2R® manuscript):</a:t>
            </a:r>
          </a:p>
          <a:p/>
          <a:p>
            <a:r>
              <a:t>The shift in design logic: The design logic of performance management is evolving rapidly. For decades, organisations relied on the annual performance review as the primary mechanism for evaluating performance. That model is now being systematically replaced by Continuous Performance Management: a real-time, feedback-rich approach to monitoring and guiding execution.</a:t>
            </a:r>
          </a:p>
          <a:p>
            <a:r>
              <a:t>Research across global organisations reveals a clear and accelerating shift, and organisations using continuous feedback structures report significantly higher employee retention. Quarterly check-ins and structured one-on-one conversations are replacing the once-a-year evaluation event.</a:t>
            </a:r>
          </a:p>
          <a:p>
            <a:r>
              <a:t>The reason is straightforward. In fast-moving operating environments, leadership cannot afford to wait twelve months to discover that execution has drifted off course. By the time an annual review reveals the gap between strategy and delivery, months of irreversible momentum have been lost. Performance management must operate as a living system of execution monitoring: responsive, forward-looking, and cadence-driven.</a:t>
            </a:r>
          </a:p>
          <a:p/>
          <a:p>
            <a:r>
              <a:t>Performance management in your organisation: It is highly likely that your organisation already has a formal Performance Management system in place, whether it is a global enterprise platform such as Workday or SAP SuccessFactors, a mid-market solution such as BambooHR or Personio, a specialised continuous feedback tool such as Lattice or 15Five, or a locally designed Excel-based scorecard.</a:t>
            </a:r>
          </a:p>
          <a:p>
            <a:r>
              <a:t>Many organisations treat their PM system as a black box: data goes in, a rating comes out, and no one is entirely certain how the two are connected. When leaders understand only the mechanics of the system (which fields to complete, which buttons to click, which columns to populate), the system feels like a compliance exercise. It generates administrative burden without generating execution intelligence.</a:t>
            </a:r>
          </a:p>
          <a:p>
            <a:r>
              <a:t>When leaders understand the logic of performance management (why the system is designed the way it is, what each component is intended to surface, and how the pieces connect to strategy), the same system transforms into a lever for clarity, alignment, and execution visibility. The question changes from “Did people complete the form?” to “Does our performance system actually tell us whether the strategy is working?” That is the perspective from which every leader in this programme must engage with their PM system.</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Designing for Enterprise Performance
Synthesising awareness, intelligence, and context into an integrated enterprise PM design: the collective progress signal, three elements of enterprise PM, and the EXECUTION framework.
Section learning outcomes:
1. Define a shared enterprise signal of progress that anchors executive judgement.
2. Interpret cumulative progress to judge performance status and its strategic significance.
Time: the facilitator file gives no suggested time for this section.</a:t>
            </a:r>
            <a:endParaRPr lang="en-US" dirty="0"/>
          </a:p>
          <a:p/>
          <a:p>
            <a:r>
              <a:t>Source detail (S2R® manuscript):</a:t>
            </a:r>
          </a:p>
          <a:p/>
          <a:p>
            <a:r>
              <a:t>The collective progress signal: The overall measure of enterprise performance is a collective progress signal. It integrates the movement of critical execution indicators across all functions into a single reference point that allows the executive team to answer one central question with shared understanding: Is the strategy advancing at the pace required to reach the intended outcome?</a:t>
            </a:r>
          </a:p>
          <a:p>
            <a:r>
              <a:t>Without an agreed overall progress signal, leadership conversations fragment. Operations sees improvement in cycle time. Finance sees no financial impact yet. HR sees cultural progress. Strategy sees milestone completion. Each function reports progress through its own perspective, and the leadership team never arrives at a shared verdict on whether the enterprise is winning.</a:t>
            </a:r>
          </a:p>
          <a:p>
            <a:r>
              <a:t>The Converging Zone prevents this fragmentation by creating one common interpretation of execution reality. Multiple narratives give way to a single progress signal, the agreed overall measure, that anchors every leadership dialogue about execution.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 — THE COLLECTIVE PROGRESS SIGNAL (Anchoring executive conversations)
FACILITATOR GUIDANCE
In most organisations, executive PM conversations are dominated by Traction questions with insufficient time for Balance and Intervention. “When last did your executive team have an Execution Balance conversation? When last did a performance review result in an explicit, named Intervention decision with an accountable owner and a deadline?”
Content:
At the integration level, the executive team converges on a single shared signal: are we collectively making progress toward our strategic intent? This Collective Progress Signal anchors three categories of executive question.
Question Type 1
Execution Traction
“Are our current activities generating the progress we expected?”
This assesses whether the execution engine is producing results at the rate and quality the strategy requires. Execution Traction questions are the most frequent in a well-functioning executive PM rhythm — they are the standing agenda item in every performance review. The risk: if only Traction questions are asked, the executive team optimises for current-period efficiency and loses sight of cumulative trajectory.
Question Type 2
Execution Balance
“Are we investing our resources in the right proportions across our strategic priorities?”
This steps back from individual metric performance to assess whether the portfolio of activity is balanced. High-performing organisations regularly discover that 80% of their resource is concentrated on the priority representing 30% of their strategic value — because that priority is most familiar or most politically visible.
Question Type 3
Execution Intervention
“Where must we intervene — with resources, decisions, or leadership attention — to prevent a performance gap from becoming a strategic failure?”
The most consequential question in the executive PM dialogue. It moves from analysis to action: a specific decision about where leadership will direct energy, resources, or authority to recover a trajectory that is currently off track. Organisations that defer intervention decisions until the gap is irreversible have compliance PM systems masquerading as management systems.</a:t>
            </a:r>
            <a:endParaRPr lang="en-US" dirty="0"/>
          </a:p>
          <a:p/>
          <a:p>
            <a:r>
              <a:t>Source detail (S2R® manuscript):</a:t>
            </a:r>
          </a:p>
          <a:p/>
          <a:p>
            <a:r>
              <a:t>How the collective progress signal is used: The agreed overall measure becomes the anchor for leadership dialogue. It supports three distinct types of executive question.</a:t>
            </a:r>
          </a:p>
          <a:p>
            <a:r>
              <a:t>What each question type reveals:</a:t>
            </a:r>
          </a:p>
          <a:p>
            <a:r>
              <a:t>Execution Traction: Is the strategy moving forward at the expected pace? Are we on track, ahead, or behind the planned trajectory?</a:t>
            </a:r>
          </a:p>
          <a:p>
            <a:r>
              <a:t>Execution Balance: Which strategic outcomes are advancing faster or slower than the collective index? Where is the organisation accelerating, and where is it lagging?</a:t>
            </a:r>
          </a:p>
          <a:p>
            <a:r>
              <a:t>Execution Intervention: Where should leadership attention focus to accelerate enterprise progress? Which bottlenecks require executive-level resolution?</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 — THREE ELEMENTS OF ENTERPRISE PM DESIGN (When, what now, how far)
FACILITATOR GUIDANCE
The Cumulative Progress formula is a practical tool participants can apply immediately. Ask them to identify one current strategic priority and calculate their cumulative progress percentage. This frequently reveals that organisations are further behind their end-of-cycle target than their most recent period improvement suggests — a critical insight for Intervention decisions.
Content:
A complete enterprise PM design integrates three elements. Each answers a different question at a different time horizon. All three must be present for the PM system to function as a genuine management architecture.
Element 1
Reporting Cadence — When
Reporting Cadence defines the structured rhythm: when performance is reviewed, by whom, and with what mandate. Without a defined cadence, performance management reverts to crisis management — leaders look at the numbers only when something goes wrong.
Daily: Frontline operational metrics; team leader visibility
Weekly: Departmental progress checks; emerging issues flagged
Monthly: Functional performance review; Periodic Measure analysis
Quarterly: Enterprise PM review; Cumulative Progress assessment; Intervention decisions
Annually: Full PM cycle review; rating calibration; system redesign
Element 2
Periodic Measures — What Now
Periodic Measures are the performance data points collected and reviewed within each reporting period. They answer: What happened in this period? What is our current performance level? Periodic Measures must be:
Current: Reflecting performance within the most recent review period
Comparable: Measurable against the same standard as previous periods
Actionable: Capable of informing a decision or intervention in the next period
A Periodic Measure that is only collected, never acted on, is a reporting cost with no management value.
Element 3
Cumulative Progress — How Far
Cumulative Progress is the most strategically significant element and the most frequently absent. It answers: Across the full performance cycle, how far have we moved from where we started toward where we need to be?
Cumulative Progress % = (Baseline − Current) ÷ (Baseline − Target) × 100
Example: Complaint resolution baseline = 48 hrs, target = 12 hrs, current = 40 hrs.
Progress = (48−40) ÷ (48−12) × 100 = 8 ÷ 36 × 100 = 22% of journey complete.
This formula reveals whether the organisation is on trajectory to reach its target by end of cycle. A single-period improvement can mask a cumulative trajectory that is far behind target.
Participant file (4.2 — Three Elements of Enterprise PM Design) — prompts participants complete:
- ✎ Reflection — Apply the Formula Choose one current strategic priority. Calculate your cumulative progress percentage. What does the number tell you about whether you are on trajectory? — Strategic priority: ... Baseline: ___ | Current: ___ | Target: ___ Cumulative Progress % = ___ What this tells me about trajectory: ...</a:t>
            </a:r>
            <a:endParaRPr lang="en-US" dirty="0"/>
          </a:p>
          <a:p/>
          <a:p>
            <a:r>
              <a:t>Source detail (S2R® manuscript):</a:t>
            </a:r>
          </a:p>
          <a:p/>
          <a:p>
            <a:r>
              <a:t>Completing the design: In the Converging Zone, the leadership team completes the design of the performance management system by agreeing on how progress will be observed over time. This agreement has three elements that work together to create the execution rhythm of the organisation.</a:t>
            </a:r>
          </a:p>
          <a:p/>
          <a:p>
            <a:r>
              <a:t>What each element answers and why it matters:</a:t>
            </a:r>
          </a:p>
          <a:p>
            <a:r>
              <a:t>Reporting Cadence. What it answers: When do we examine execution progress? Why it matters: Without an agreed rhythm, reviews become irregular and reactive. Leaders engage with performance data only when a crisis forces the issue, by which time drift has become entrenched.</a:t>
            </a:r>
          </a:p>
          <a:p>
            <a:r>
              <a:t>Periodic Measures. What it answers: What is the current performance level at each review point? Why it matters: Periodic measures provide the raw evidence of movement. They answer: what is the current state of execution right now? Alone, they do not show whether the organisation is progressing fast enough.</a:t>
            </a:r>
          </a:p>
          <a:p>
            <a:r>
              <a:t>Cumulative Progress. What it answers: How far have we moved toward the target, as a percentage of the total journey? Why it matters: Cumulative progress converts periodic measurements into a trajectory signal, showing the current number together with the direction and velocity of strategic movement.</a:t>
            </a:r>
          </a:p>
          <a:p/>
          <a:p>
            <a:r>
              <a:t>Reading the complaint resolution example: The value tells the leadership team that 22% of the strategic journey has been completed. It transforms the raw number (40 hours) into a directional signal, and triggers the leadership question: is 22% progress consistent with the time elapsed? If the organisation is 30% through the reporting period but has achieved only 22% of the target movement, the strategy is running behind pace and intervention is required.</a:t>
            </a:r>
          </a:p>
          <a:p/>
          <a:p>
            <a:r>
              <a:t>When the three are aligned: When reporting cadence, periodic measures, and cumulative progress are aligned, the leadership team gains continuous visibility of strategy execution. Every reporting cycle answers the same central question: are we moving closer to the Success in Practice? If the answer is yes, momentum is reinforced. If the answer is no, leadership intervenes. This is the discipline that transforms performance measurement into a living system of execution intelligence.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 — THE EXECUTION FRAMEWORK (Nine design principles)
FACILITATOR GUIDANCE
Run EXECUTION as a self-scoring diagnostic: ask each participant to rate their current PM system 1–5 against each letter. Compare scores across the group. “Which principle scored lowest? What is the cost of that gap? What is the one change that would address it?” This becomes the bridge into the Application section.
Content:
The EXECUTION framework synthesises the nine design principles of a high-quality enterprise PM system. Each letter represents a principle that, when absent, creates a specific and predictable PM failure mode. Use as a design tool and a diagnostic.
E
ENTERPRISE
Strategy First
The PM system must be anchored to enterprise strategy. Every metric should be traceable to a strategic outcome. The enterprise intent is the filter through which all PM design decisions are made.
X
eXECUTION
Line-of-Sight
Every individual must see a clear line of sight from their daily work to enterprise strategy. Line-of-sight is the translation mechanism that makes strategy personal. Without it, individuals execute their role description and lose sight of the strategy.
E
EVIDENCE
Evidence-Based Measurement
Performance assessments must be grounded in defined, agreed evidence. Evidence-based measurement protects the integrity of the PM system and builds trust. Without it, ratings are subjective and disputes are inevitable.
C
COLLECTIVE
Collective Ownership
Accountability for results must be shared across the team and organisation. Collective ownership means everyone with a contribution to an outcome has a stake in its measurement and a responsibility for its achievement.
U
UNDERSTAND
Outcomes First
The PM system must measure outcomes — the actual change produced. A team can be 100% active while producing 0% of the required outcome. Leaders must measure impact.
T
TRANSPARENT
Measurement Logic
The logic by which performance is calculated, rated, and rewarded must be transparent to everyone subject to it. Hidden formulas and opaque scoring destroy confidence in the system and generate cynicism that undermines the entire PM architecture.
I
INCENTIVE
Incentive Alignment
The incentive structure must reward the behaviours and outcomes the strategy requires. Misaligned incentives are one of the most reliable predictors of strategy failure. When what gets rewarded diverges from what the strategy needs, people follow the incentive — this is a design failure.
O
ONGOING
Review Rhythm
PM must be an ongoing rhythm. An annual review cycle produces information too infrequently to inform in-year course correction. The review rhythm must be consistent and embedded in the operational calendar so that PM is the way work is managed.
N
NAVIGATE
Collective Insight
The ultimate function of a PM system is navigation: using performance data, collectively interpreted, to make better decisions about where to go and how to get there. A PM system that collects data but does not generate collective insight is a reporting system dressed as management.
Participant file (4.3 — The EXECUTION Framework) — prompts participants complete:
- ✎ Reflection — EXECUTION Self-Score Rate your current PM system 1–5 against each letter. Which scored lowest? What is the cost of that gap in your current context? EEnterprise — Strategy First XeXecution — Line-of-Sight EEvidence — Evidence-Based CCollective — Shared Ownership UUnderstand — Outcomes First TTransparent — Measurement Logic IIncentive — Aligned Incentives OOngoing — Review Rhythm NNavigate — Collective Insight Lowest score, why, the cost, and one change you will make — My lowest score is ___ because… The cost of this gap is… One change I will make: …
- ✎ Reflection — EXECUTION Self-Score Rate your current PM system 1–5 against each letter. Which scored lowest? What is the cost of that gap in your current context? EEnterprise — Strategy First XeXecution — Line-of-Sight EEvidence — Evidence-Based CCollective — Shared Ownership UUnderstand — Outcomes First TTransparent — Measurement Logic IIncentive — Aligned Incentives OOngoing — Review Rhythm NNavigate — Collective Insight Lowest score, why, the cost, and one change you will make</a:t>
            </a:r>
            <a:endParaRPr lang="en-US" dirty="0"/>
          </a:p>
          <a:p/>
          <a:p>
            <a:r>
              <a:t>Source detail (S2R® manuscript):</a:t>
            </a:r>
          </a:p>
          <a:p/>
          <a:p>
            <a:r>
              <a:t>Purpose of the principles: Regardless of which platform an organisation uses, an effective Performance Management system should be guided by the EXECUTION principles. These principles ensure that performance management functions as an execution intelligence system.</a:t>
            </a:r>
          </a:p>
          <a:p/>
          <a:p>
            <a:r>
              <a:t>Further explanation and the leadership question for each principle:</a:t>
            </a:r>
          </a:p>
          <a:p>
            <a:r>
              <a:t>E · Enterprise: Strategy First. Performance management must begin with strategic intent, and metrics follow. The first question is “What strategic outcomes must the organisation deliver?”; “What should we measure?” comes second. Measures of progress should emerge directly from Key Results. When this principle is ignored, organisations measure activity and lose sight of progress. Leadership question: Are our measures directly tied to the strategic outcomes the organisation must deliver?</a:t>
            </a:r>
          </a:p>
          <a:p>
            <a:r>
              <a:t>X · eXecution: Line-of-Sight. A well-designed PM system creates a clear line of sight between enterprise strategy and individual contribution: from Strategy to Key Results to Operational Delivery to Individual Contribution. When this connection is visible, performance management becomes motivational and stops feeling administrative. Leadership question: Can every person in the organisation clearly explain how their work contributes to enterprise outcomes?</a:t>
            </a:r>
          </a:p>
          <a:p>
            <a:r>
              <a:t>E · Evidence: Evidence-Based Measurement. Performance evaluation must rely on clear and verifiable evidence. Leaders must know what data source supports each measure, how frequently data is updated, and who validates it. Evidence-based measurement grounds performance conversations in data and takes opinion out of them. Leadership question: Do we have reliable and verifiable data sources for every measure we track?</a:t>
            </a:r>
          </a:p>
          <a:p>
            <a:r>
              <a:t>C · Collective: Collective Ownership. Performance management must reinforce collective responsibility for execution. Strategy execution happens between functions as well as within them. The PM system must encourage cross-functional ownership, shared success metrics, and joint accountability. Leadership question: Are strategic outcomes owned collectively across functions, or isolated within departments?</a:t>
            </a:r>
          </a:p>
          <a:p>
            <a:r>
              <a:t>U · Understand: Outcomes First. Performance management must prioritise outcomes over activity. Activity measures answer “Did we do the work?” Outcome measures answer “Did the work produce the intended result?” The PM system must focus on signals that reveal whether strategy is advancing. Leadership question: Are we measuring meaningful outcomes or simply tracking activity?</a:t>
            </a:r>
          </a:p>
          <a:p>
            <a:r>
              <a:t>T · Transparent: Measurement Logic. Everyone should understand what is being measured, how it is measured, how ratings are determined, and what improvement looks like. Transparency builds trust and reduces the anxiety and perceived arbitrariness that undermine performance conversations. Leadership question: Do people clearly understand how performance ratings and evaluations are determined?</a:t>
            </a:r>
          </a:p>
          <a:p>
            <a:r>
              <a:t>I · Incentive: Incentive Alignment. Reward structures, recognition mechanisms, and career advancement signals must align with the measures of strategic progress. When incentives contradict the measures of delivery, individuals optimise for the reward at the expense of the strategy, weakening execution discipline. Leadership question: Do our incentives reinforce the strategic outcomes and behaviours we expect people to deliver?</a:t>
            </a:r>
          </a:p>
          <a:p>
            <a:r>
              <a:t>O · Ongoing: Review Rhythm. Performance management must operate through a consistent review cadence. Monthly reviews monitor operational signals. Quarterly reviews evaluate strategic progress. Annual reviews assess long-term performance and development. Without a defined rhythm, reviews become irregular and reactive. Leadership question: Do we have a consistent cadence for reviewing performance and strategy execution?</a:t>
            </a:r>
          </a:p>
          <a:p>
            <a:r>
              <a:t>N · Navigate: Collective Insight. Performance data must be interpreted collectively by the leadership team. Individual dashboards provide signals, but leadership must combine those signals into a shared interpretation of enterprise progress, particularly in the Converging Zone. Leadership question: Do leadership discussions produce a shared interpretation of enterprise progress?</a:t>
            </a:r>
          </a:p>
          <a:p/>
          <a:p>
            <a:r>
              <a:t>When these principles guide the PM process, performance management stops being a reporting mechanism and becomes something far more valuable: a leadership system for monitoring strategy execution in real time, ensuring that leaders are tracking the organisation’s movement toward its strategic destination as well as measuring effort.</a:t>
            </a:r>
          </a:p>
          <a:p/>
          <a:p>
            <a:r>
              <a:t>Professional insights:</a:t>
            </a:r>
          </a:p>
          <a:p/>
          <a:p>
            <a:r>
              <a:t>C · Collective Ownership: Organisations flourish when responsibility is shared, every unit contributes to the common purpose and dependence on a few individuals falls away.</a:t>
            </a:r>
          </a:p>
          <a:p>
            <a:r>
              <a:t>Source: Journal, 5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MyHealth Live Portal — PM Design Simulation
Applying the full unit to a realistic case: designing the performance management architecture for a hospital chain launching a digital patient engagement portal.
Section learning outcomes:
1. Design performance arrangements that link enterprise outcomes, leadership accountability and performance evidence.
2. Interpret progress data to strengthen accountability, decision quality and responsiveness.
FACILITATOR GUIDANCE — Simulation Setup
Briefing: Present the MyHealth Live Portal context. Participants work individually through each task first (15 min), then compare outputs at the table. The debrief should focus on design choices — there is no single correct answer. The richness is in the reasoning.
Suggested timing: Individual work 15 min → Table discussion 15 min → Group debrief 15 min. Tasks 5 and 6 can be combined for groups that move quickly through the earlier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CASE CONTEXT: MYHEALTH LIVE PORTAL
Content:
Organisation: A hospital chain operating 12 facilities across three regions. The board has approved a digital transformation initiative: the MyHealth Live Portal, a patient-facing platform enabling online appointment booking, real-time test results, and direct clinical communication.
Strategic Context: The portal is a strategic priority for the next 18 months. Three strategic outcomes have been defined by the executive team:
Outcome 1
Reduce patient complaint resolution time: 48 hrs → 12 hrs
Baseline: 48 hours Target: 12 hours
Key Result: Portal-based complaint submission and tracking live in all 12 facilities within 6 months; average resolution time below 12 hours within 12 months.
Outcome 2
Reduce clinical referral decision time: 10 days → 3 days
Baseline: 10 days Target: 3 days
Key Result: Digital referral pathway active for 80% of non-urgent referral types within 9 months; average decision time below 3 days within 15 months.
Outcome 3
Increase cross-facility clinical collaboration: 30% → 70%
Baseline: 30% of cases involve cross-facility input Target: 70%
Key Result: Shared case management module live within 6 months; cross-facility consultation rate at or above 70% within 18 months.</a:t>
            </a:r>
            <a:endParaRPr lang="en-US" dirty="0"/>
          </a:p>
          <a:p/>
          <a:p>
            <a:r>
              <a:t>Source detail (S2R® manuscript):</a:t>
            </a:r>
          </a:p>
          <a:p/>
          <a:p>
            <a:r>
              <a:t>Participant brief: You are the executive leadership team of a major hospital chain launching the MyHealth Live Portal. The system will give patients 24/7 access to diagnostic data, reduce administrative calls, and increase trust through transparency.</a:t>
            </a:r>
          </a:p>
          <a:p>
            <a:r>
              <a:t>The objective behind each outcome:</a:t>
            </a:r>
          </a:p>
          <a:p>
            <a:r>
              <a:t>Outcome 1: Be the standard for fast, effortless service.</a:t>
            </a:r>
          </a:p>
          <a:p>
            <a:r>
              <a:t>Outcome 2: Build a high-speed execution engine.</a:t>
            </a:r>
          </a:p>
          <a:p>
            <a:r>
              <a:t>Outcome 3: Build a culture of shared ownership.</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THE SIX DESIGN TASKS
Participant activity: participants write each design in their own file, in the box beneath each task.
Content:
Task 1: PM Scorecard Architecture
Design a PM Scorecard for the Chief Operations Officer. The scorecard must integrate all Three Sights of Progress and reflect the organisation’s strategic outcomes.
Identify three to five metrics for each of the Three Sights (Strategic OKRs, Operational KPIs, Behavioural/Values Alignment)
Assign a weighting to each Sight that reflects the COO’s role and strategic context
Confirm that at least one metric in the Strategic OKR category is directly traceable to the MyHealth Live Portal strategic outcomes
Identify the single metric you consider the most critical lead indicator of overall execution traction
Participant file (5.2 — Task 1 · PM Scorecard Architecture) — prompts participants complete:
- Your Scorecard Design — Sight 1 — Strategic OKRs (weighting: __%) 1. 2. 3. Sight 2 — Operational KPIs (weighting: __%) 1. 2. 3. Sight 3 — Behavioural/Values (weighting: __%) 1. 2. Most critical lead indicator: ...
———
Content:
Task 2: Scoring Logic Design
Design the scoring logic for Outcome 1 (complaint resolution time). The logic must define how performance is translated into a 1–5 rating.
Define what performance level earns each rating from 1 to 5 for the complaint resolution time metric
Specify what evidence is required to confirm each rating (the number and how it is verified)
Identify any contextual factors that might legitimately affect the rating (e.g. facility size, patient volume)
Describe the leadership response that each rating should trigger in the monthly review
Participant file (5.3 — Task 2 · Scoring Logic Design) — prompts participants complete:
- Your Scoring Logic — Rating 5 (Outstanding): Resolution time = ___ hrs | Evidence: ... Rating 4 (Exceeds): Resolution time = ___ hrs | Evidence: ... Rating 3 (Solid Gold): Resolution time = ___ hrs | Evidence: ... Rating 2 (Needs Improvement): Resolution time = ___ hrs Rating 1 (Poor): Resolution time = ___ hrs Contextual factors to consider: ... Leadership response for each rating: ...
———
Content:
Task 4: Reporting Cadence Design
Design the full Reporting Cadence for the MyHealth Live Portal PM system, spanning from daily operational tracking through to the quarterly executive review.
For each cadence level (daily, weekly, monthly, quarterly), specify: what is reviewed, by whom, and what decisions can be made at that level
Identify which CXO Hot Zones must be present at the quarterly executive review and what each must bring
Design the escalation rule: at what threshold does a monthly performance gap automatically trigger a quarterly Execution Intervention discussion?
How would the cadence need to change at month 12 if Outcome 3 is still below 50%?
Participant file (5.5 — Task 4 · Reporting Cadence Design) — prompts participants complete:
- Your Cadence Design — Daily: Who reviews what / what decisions can be made Weekly: ... Monthly: ... Quarterly: ... (CXO Hot Zones required: ...) Escalation rule: A monthly gap triggers quarterly intervention when... Month 12 adjustment if Outcome 3 &lt;50%: ...
———
Content:
Task 5: Periodic Measures Selection
Select the Periodic Measures that will be tracked monthly across the three strategic outcomes. Each measure must be current, comparable, and actionable.
Identify three to four Periodic Measures for each strategic outcome; specify: what it tracks, how frequently collected, who owns the data, what action it triggers if it deteriorates
Identify one leading indicator for each outcome — a measure that signals future performance before the outcome metric itself changes
Identify any measures that would represent a Measurement Blind Spot if excluded
Participant file (5.6 — Task 5 · Periodic Measures Selection) — prompts participants complete:
- Your Periodic Measures — Outcome 1 Measures: | Owner: | Action if deteriorates: 1. 2. 3. Leading indicator: ... Outcome 2 Measures: | Owner: | Action if deteriorates: 1. 2. 3. Leading indicator: ... Outcome 3 Measures: ... Measurement Blind Spot if excluded: ...
———
Content:
Task 6: Reporting Tool Design
Design the structure of the reporting tool supporting the MyHealth Live Portal PM system. This is a content and structure design task: what information must the tool present, to whom, and at what level of detail?
Executive Summary view: What does the CEO see on a single page that tells them whether the Portal strategy is on track?
Operational Detail view: What does the COO see to manage execution and flag issues for escalation?
Team Performance view: What does a facility-level team leader see that connects their daily work to the strategic outcomes?
Identify the three most critical EXECUTION principles that must be embedded in the tool’s structure
Participant file (5.7 — Task 6 · Reporting Tool Design) — prompts participants complete:
- Your Tool Design — CEO Executive Summary view includes: ... COO Operational Detail view includes: ... Facility Team Leader view includes: ... Three critical EXECUTION principles embedded in the tool: 1. 2. 3.</a:t>
            </a:r>
            <a:endParaRPr lang="en-US" dirty="0"/>
          </a:p>
          <a:p/>
          <a:p>
            <a:r>
              <a:t>Source detail (S2R® manuscript):</a:t>
            </a:r>
          </a:p>
          <a:p/>
          <a:p>
            <a:r>
              <a:t>Short task briefs and worksheet tables (each sits with the fuller task above):</a:t>
            </a:r>
          </a:p>
          <a:p>
            <a:r>
              <a:t>Task 1 · PM Scorecard Architecture: Design the categories your organisation will use to evaluate performance. Worksheet columns: PM Category; What Does This Category Measure?; Weight (%).</a:t>
            </a:r>
          </a:p>
          <a:p>
            <a:r>
              <a:t>Task 2 · Scoring Logic Design: Define the performance scoring logic for your organisation. Worksheet columns: Rating; Performance Meaning; Evidence Required.</a:t>
            </a:r>
          </a:p>
          <a:p>
            <a:r>
              <a:t>Task 4 · Reporting Cadence Design: Decide how often performance should be reviewed and provide the rationale for each decision. Worksheet columns: Cadence Option (Weekly, Monthly, Quarterly); Decision (Yes / No); Rationale.</a:t>
            </a:r>
          </a:p>
          <a:p>
            <a:r>
              <a:t>Task 5 · Periodic Measures Selection: Define the values that will be captured at each reporting period. Worksheet: one row for each Reporting Period (Period 1 to Period 4) and one column for each of the three strategic outcomes.</a:t>
            </a:r>
          </a:p>
          <a:p>
            <a:r>
              <a:t>Task 6 · Reporting Tool Design: Design the leadership dashboard that will track progress and calculate cumulative performance. This may be a simple Excel tool or structured Word document. Explain the calculation logic your team will use, and identify who owns each measure. Worksheet columns: Dashboard Component; Data Source; Calculation Logic / Owner.</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 — TASK 3 · BASELINE SIMULATION
Content:
Task 3: Baseline Simulation
Using the Cumulative Progress formula, calculate the current cumulative progress % for each strategic outcome. Assume the following data at month 6 of an 18-month cycle:
Outcome 1: Current = 40 hrs | Baseline = 48 hrs | Target = 12 hrs
Outcome 2: Current = 8 days | Baseline = 10 days | Target = 3 days
Outcome 3: Current = 42% | Baseline = 30% | Target = 70%
Cumulative % = (Baseline − Current) ÷ (Baseline − Target) × 100
Expected progress at month 6 of an 18-month cycle = 33%. Which outcome is most at risk? What Execution Intervention would you recommend?
Participant file (5.4 — Task 3 · Baseline Simulation) — prompts participants complete:
- Your Calculations &amp; Analysis — Outcome 1: (48-40)÷(48-12)×100 = ___% | Status vs 33% expected: ... Outcome 2: (10-8)÷(10-3)×100 = ___% | Status vs 33% expected: ... Outcome 3: (30-42)... note: this increases, adjust formula | Status: ... Most at risk: Outcome ___ because... Recommended Execution Intervention: ...
Worked calculation for the facilitator (applying the file’s formula):
- Outcome 1: (48 − 40) ÷ (48 − 12) × 100 = 22%
- Outcome 2: (10 − 8) ÷ (10 − 3) × 100 = 29%
- Outcome 3: (30 − 42) ÷ (30 − 70) × 100 = 30%
Against an expected 33%, Outcome 1 is furthest behind its trajectory.</a:t>
            </a:r>
            <a:endParaRPr lang="en-US" dirty="0"/>
          </a:p>
          <a:p/>
          <a:p>
            <a:r>
              <a:t>Source detail (S2R® manuscript):</a:t>
            </a:r>
          </a:p>
          <a:p/>
          <a:p>
            <a:r>
              <a:t>Short task brief (Simulate the Baseline): Estimate the current baseline performance levels for the organisation. Worksheet columns: Strategic Outcome; Baseline, with one row for each of the three strategic outcomes.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6 synthesis)
Facilitator Closing Note
Close by asking each participant to name one design change they will make to their current PM system within the next 30 days. Make it specific: which FACES function, which EXECUTION principle, which of the Three Sights — and what, specifically, will change. Specificity is the test of whether the unit has converted into intent.
Content:
Awareness — What
PM is the leadership response to measurement. The correct sequence: define success, design the management system, design the measurement infrastructure, then manage using data.
Intelligence — Why
PM is an execution bridge with four functions: decomposing the big picture, defining the logic of success, calibrating the rhythm, and structuring the dialogue. The architecture choice — compliance vs commitment — shapes every conversation.
Extrapolating — Where
The executive team is the organisation’s measurement alignment system. Each CXO hot zone contributes a distinct signal. The Three Execution Gaps explain most PM failures at enterprise level.
Integration — Collective
The Collective Progress Signal anchors three executive question types: Traction, Balance, Intervention. Cumulative Progress calculation reveals whether the trajectory will reach target.
Application — In Practice
The MyHealth Live Portal simulation applies PM design across scorecard architecture, scoring logic, baseline calculation, cadence design, periodic measures, and reporting tool structure — integrating all unit content into a live design challenge.
“A performance management system that only measures has not yet become a management system. The moment measurement becomes the basis for a decision, a conversation, and an accountable intervention — that is the moment execution begins.”</a:t>
            </a:r>
            <a:endParaRPr lang="en-US" dirty="0"/>
          </a:p>
          <a:p/>
          <a:p>
            <a:r>
              <a:t>Source detail (S2R® manuscript):</a:t>
            </a:r>
          </a:p>
          <a:p/>
          <a:p>
            <a:r>
              <a:t>The unit in summary: The Performance Management Setup unit establishes the visibility infrastructure of execution. It recognises a critical leadership reality: strategy only becomes real when progress toward its outcomes can be clearly observed, interpreted, and acted upon. Many organisations remain extremely busy yet struggle to determine whether their activity is actually advancing strategic results. Performance Management addresses this gap by creating a structured system that converts strategic intent into observable progress signals.</a:t>
            </a:r>
          </a:p>
          <a:p>
            <a:r>
              <a:t>The unit progresses through four stages that build this capability progressively.</a:t>
            </a:r>
          </a:p>
          <a:p>
            <a:r>
              <a:t>Awareness (What): Leaders develop a clear understanding of Performance Management as a system for monitoring strategy execution. The PM system operates as the organisational dashboard that reveals whether the work being done is moving the enterprise closer to its intended outcomes. The PM Scorecard architecture introduces a structured framework for evaluating performance across strategic priorities, operational delivery, and behavioural alignment. This architecture establishes transparency in how progress is measured and ensures that every Key Result has visible ownership and accountability.</a:t>
            </a:r>
          </a:p>
          <a:p>
            <a:r>
              <a:t>Intelligence (Why): Leaders explore why performance measurement disciplines determine execution outcomes. Strategy and execution are connected through the performance management system; without this bridge, strategic goals remain aspirational statements and never become operational realities. The PM system decomposes Key Results into measurable delivery signals, defines the evidence required to evaluate progress, and establishes the cadence through which leaders monitor advancement. The system also reinforces a commitment-based architecture of execution, where measures of progress are developed through alignment dialogue. In this way, performance management becomes a leadership mechanism for guiding learning, adjustment, and sustained strategic momentum.</a:t>
            </a:r>
          </a:p>
          <a:p>
            <a:r>
              <a:t>Extrapolating (Where): Leaders examine where performance management challenges most commonly emerge across the executive team. Each CXO role naturally interprets progress through its functional perspective: finance emphasises financial performance, operations prioritises throughput and reliability, technology focuses on system capability, and marketing interprets customer signals. When these perspectives operate independently, organisations develop fragmented dashboards and competing definitions of progress. The Alignment Brigade concept highlights the need for cross-CXO coordination in designing the performance architecture, ensuring that the measures of delivery across functions reinforce the same strategic direction.</a:t>
            </a:r>
          </a:p>
          <a:p>
            <a:r>
              <a:t>Integration (Collective): The Converging Zone establishes the enterprise performance architecture. The leadership team aligns on a shared interpretation of progress by defining three essential elements of the PM system: the reporting cadence, the periodic measures that capture execution signals, and the cumulative progress indicator that shows movement from baseline toward the strategic target. These elements combine to create a collective progress signal that becomes the strategic heartbeat of execution. Through this shared signal, leadership discussions shift from fragmented functional reporting to a unified interpretation of enterprise progress, enabling the executive team to determine whether the organisation is moving closer to the Success in Practice, and where intervention is required to sustain momentum.</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image" Target="../media/image-23-9.png"/><Relationship Id="rId10" Type="http://schemas.openxmlformats.org/officeDocument/2006/relationships/slideLayout" Target="../slideLayouts/slideLayout1.xml"/><Relationship Id="rId11"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slideLayout" Target="../slideLayouts/slideLayout1.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whether organisational performance arrangements support the achievement of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Define clear relationships between enterprise outcomes, leadership accountability and performance evidence.</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Exercise consistent executive judgement on performance status and its strategic significance.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Interpret performance insight in ways that strengthen accountability, decision quality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Foundations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Distinguish the management of performance from its measurement.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Exercise consistent judgement on performance status and the leadership response it requires.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6" name="Text 12"/>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1.1 · The correct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Define Success  </a:t>
            </a:r>
            <a:pPr indent="0" marL="0">
              <a:buNone/>
            </a:pPr>
            <a:r>
              <a:rPr lang="en-US" sz="2600" dirty="0">
                <a:solidFill>
                  <a:srgbClr val="1F2A22"/>
                </a:solidFill>
                <a:latin typeface="Calibri" pitchFamily="34" charset="0"/>
                <a:ea typeface="Calibri" pitchFamily="34" charset="-122"/>
                <a:cs typeface="Calibri" pitchFamily="34" charset="-120"/>
              </a:rPr>
              <a:t>what, by when, at what level</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Design the Management System  </a:t>
            </a:r>
            <a:pPr indent="0" marL="0">
              <a:buNone/>
            </a:pPr>
            <a:r>
              <a:rPr lang="en-US" sz="2600" dirty="0">
                <a:solidFill>
                  <a:srgbClr val="1F2A22"/>
                </a:solidFill>
                <a:latin typeface="Calibri" pitchFamily="34" charset="0"/>
                <a:ea typeface="Calibri" pitchFamily="34" charset="-122"/>
                <a:cs typeface="Calibri" pitchFamily="34" charset="-120"/>
              </a:rPr>
              <a:t>conversations, owners, decisions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Design the Measurement Infrastructure  </a:t>
            </a:r>
            <a:pPr indent="0" marL="0">
              <a:buNone/>
            </a:pPr>
            <a:r>
              <a:rPr lang="en-US" sz="2600" dirty="0">
                <a:solidFill>
                  <a:srgbClr val="1F2A22"/>
                </a:solidFill>
                <a:latin typeface="Calibri" pitchFamily="34" charset="0"/>
                <a:ea typeface="Calibri" pitchFamily="34" charset="-122"/>
                <a:cs typeface="Calibri" pitchFamily="34" charset="-120"/>
              </a:rPr>
              <a:t>data that serves the conversations</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Manage Using Data  </a:t>
            </a:r>
            <a:pPr indent="0" marL="0">
              <a:buNone/>
            </a:pPr>
            <a:r>
              <a:rPr lang="en-US" sz="2600" dirty="0">
                <a:solidFill>
                  <a:srgbClr val="1F2A22"/>
                </a:solidFill>
                <a:latin typeface="Calibri" pitchFamily="34" charset="0"/>
                <a:ea typeface="Calibri" pitchFamily="34" charset="-122"/>
                <a:cs typeface="Calibri" pitchFamily="34" charset="-120"/>
              </a:rPr>
              <a:t>where most organisations start</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F  </a:t>
            </a:r>
            <a:pPr indent="0" marL="0">
              <a:buNone/>
            </a:pP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  </a:t>
            </a:r>
            <a:pPr indent="0" marL="0">
              <a:buNone/>
            </a:pPr>
            <a:r>
              <a:rPr lang="en-US" sz="2600" dirty="0">
                <a:solidFill>
                  <a:srgbClr val="1F2A22"/>
                </a:solidFill>
                <a:latin typeface="Calibri" pitchFamily="34" charset="0"/>
                <a:ea typeface="Calibri" pitchFamily="34" charset="-122"/>
                <a:cs typeface="Calibri" pitchFamily="34" charset="-120"/>
              </a:rPr>
              <a:t>Align Individual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  </a:t>
            </a:r>
            <a:pPr indent="0" marL="0">
              <a:buNone/>
            </a:pP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  </a:t>
            </a:r>
            <a:pPr indent="0" marL="0">
              <a:buNone/>
            </a:pP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S  </a:t>
            </a:r>
            <a:pPr indent="0" marL="0">
              <a:buNone/>
            </a:pP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Three Sights of Progress</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1 · Strategy</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Strategic OKRs · typically 30–50% at senior levels</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2 · Operational</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Departmental KPIs · typically 30–50%</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Sight 3 · Behavioural &amp; Values</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360° feedback · typically 20–40%</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The 1–5 rating scale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1 · Poor  </a:t>
            </a:r>
            <a:pPr indent="0" marL="0">
              <a:buNone/>
            </a:pPr>
            <a:r>
              <a:rPr lang="en-US" sz="2400" dirty="0">
                <a:solidFill>
                  <a:srgbClr val="1F2A22"/>
                </a:solidFill>
                <a:latin typeface="Calibri" pitchFamily="34" charset="0"/>
                <a:ea typeface="Calibri" pitchFamily="34" charset="-122"/>
                <a:cs typeface="Calibri" pitchFamily="34" charset="-120"/>
              </a:rPr>
              <a:t>immediate PIP within 30 days</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2 · Needs Improvement  </a:t>
            </a:r>
            <a:pPr indent="0" marL="0">
              <a:buNone/>
            </a:pPr>
            <a:r>
              <a:rPr lang="en-US" sz="2400" dirty="0">
                <a:solidFill>
                  <a:srgbClr val="1F2A22"/>
                </a:solidFill>
                <a:latin typeface="Calibri" pitchFamily="34" charset="0"/>
                <a:ea typeface="Calibri" pitchFamily="34" charset="-122"/>
                <a:cs typeface="Calibri" pitchFamily="34" charset="-120"/>
              </a:rPr>
              <a:t>structured development plan</a:t>
            </a:r>
            <a:endParaRPr lang="en-US" sz="2400" dirty="0"/>
          </a:p>
        </p:txBody>
      </p:sp>
      <p:sp>
        <p:nvSpPr>
          <p:cNvPr id="9" name="Shape 5"/>
          <p:cNvSpPr/>
          <p:nvPr/>
        </p:nvSpPr>
        <p:spPr>
          <a:xfrm>
            <a:off x="548640" y="3634740"/>
            <a:ext cx="640080" cy="640080"/>
          </a:xfrm>
          <a:prstGeom prst="ellipse">
            <a:avLst/>
          </a:prstGeom>
          <a:solidFill>
            <a:srgbClr val="C6A24C"/>
          </a:solidFill>
          <a:ln w="12700">
            <a:solidFill>
              <a:srgbClr val="C6A24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3 · Meets Expectations: SOLID GOLD  </a:t>
            </a:r>
            <a:pPr indent="0" marL="0">
              <a:buNone/>
            </a:pPr>
            <a:r>
              <a:rPr lang="en-US" sz="2400" dirty="0">
                <a:solidFill>
                  <a:srgbClr val="1F2A22"/>
                </a:solidFill>
                <a:latin typeface="Calibri" pitchFamily="34" charset="0"/>
                <a:ea typeface="Calibri" pitchFamily="34" charset="-122"/>
                <a:cs typeface="Calibri" pitchFamily="34" charset="-120"/>
              </a:rPr>
              <a:t>recognition and retention</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4 · Exceeds Expectations  </a:t>
            </a:r>
            <a:pPr indent="0" marL="0">
              <a:buNone/>
            </a:pPr>
            <a:r>
              <a:rPr lang="en-US" sz="2400" dirty="0">
                <a:solidFill>
                  <a:srgbClr val="1F2A22"/>
                </a:solidFill>
                <a:latin typeface="Calibri" pitchFamily="34" charset="0"/>
                <a:ea typeface="Calibri" pitchFamily="34" charset="-122"/>
                <a:cs typeface="Calibri" pitchFamily="34" charset="-120"/>
              </a:rPr>
              <a:t>stretch opportunities; retention investment</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5 · Outstanding  </a:t>
            </a:r>
            <a:pPr indent="0" marL="0">
              <a:buNone/>
            </a:pPr>
            <a:r>
              <a:rPr lang="en-US" sz="2400" dirty="0">
                <a:solidFill>
                  <a:srgbClr val="1F2A22"/>
                </a:solidFill>
                <a:latin typeface="Calibri" pitchFamily="34" charset="0"/>
                <a:ea typeface="Calibri" pitchFamily="34" charset="-122"/>
                <a:cs typeface="Calibri" pitchFamily="34" charset="-120"/>
              </a:rPr>
              <a:t>mandatory structural follow-through</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PM as an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how performance management connects enterprise outcomes to individual accountability.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whether current performance arrangements build compliance or commitment.</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 · PM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1  </a:t>
            </a:r>
            <a:pPr indent="0" marL="0">
              <a:buNone/>
            </a:pP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2  </a:t>
            </a:r>
            <a:pPr indent="0" marL="0">
              <a:buNone/>
            </a:pP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3  </a:t>
            </a:r>
            <a:pPr indent="0" marL="0">
              <a:buNone/>
            </a:pP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Bridge 4  </a:t>
            </a:r>
            <a:pPr indent="0" marL="0">
              <a:buNone/>
            </a:pP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Progress per Period =  </a:t>
            </a:r>
            <a:pPr indent="0" marL="0">
              <a:buNone/>
            </a:pPr>
            <a:r>
              <a:rPr lang="en-US" sz="2600" dirty="0">
                <a:solidFill>
                  <a:srgbClr val="1F2A22"/>
                </a:solidFill>
                <a:latin typeface="Calibri" pitchFamily="34" charset="0"/>
                <a:ea typeface="Calibri" pitchFamily="34" charset="-122"/>
                <a:cs typeface="Calibri" pitchFamily="34" charset="-120"/>
              </a:rPr>
              <a:t>(End Target − Baseline) ÷ Number of Periods</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Compliance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Done to the individual</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Leader holds accountability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Assessment and judgement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Consequence and control</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Commitment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Done with the individual</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Team co-owns accountability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Inquiry and problem-solving</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Root cause; co-designed recovery</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Rules of the game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Step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Prepare the Foundation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Rating Scale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Performance Thresholds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Evidence Standards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Review Routine</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Step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Cascade</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Verify the Data</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Assign Ownership</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Focus on Learning</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2.4 · Leader and team: a critical distinction</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The team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is measured on</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Activities, outputs,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current period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Monthly / quarterly review</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The leader</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is measured on</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Cumulative outcome trajectory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End of cycle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Quarterly / bi-annual review</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PM in the Executive Context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each executive role’s contribution to the evidence of enterprise progress.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Evaluate the execution gaps that prevent performance arrangements from supporting strategic priorities.</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3.1 · The Alignment Brigade</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When we look at the same performance data, do we interpret it from the same perspective — or from the perspective of our function?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At enterprise level, the performance management system sits in the executive team.</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CXO hot zones</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Enterprise Visibility</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Financial Signals</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Execution Rhythm</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Capability &amp; Behaviour</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System Enablement</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Market Signal</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Revenue Velocity</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Supply Reliability</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Risk &amp; Governance</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The Three Execution Gaps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Gap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Competing Definitions of Progress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Gap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Measurement Blind Spots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Gap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Incentive Misalignment</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When incentives and strategy diverge, strategy loses.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3.4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sp>
      <p:sp>
        <p:nvSpPr>
          <p:cNvPr id="4" name="Text 2"/>
          <p:cNvSpPr txBox="1"/>
          <p:nvPr/>
        </p:nvSpPr>
        <p:spPr>
          <a:xfrm>
            <a:off x="640080" y="1737360"/>
            <a:ext cx="3474720" cy="1463040"/>
          </a:xfrm>
          <a:prstGeom prst="rect">
            <a:avLst/>
          </a:prstGeom>
          <a:noFill/>
          <a:ln/>
        </p:spPr>
        <p:txBody>
          <a:bodyPr wrap="square" lIns="0" tIns="0" rIns="0" bIns="0" rtlCol="0" anchor="ctr"/>
          <a:lstStyle/>
          <a:p>
            <a:pPr algn="ctr" indent="0" marL="0">
              <a:buNone/>
            </a:pPr>
            <a:r>
              <a:rPr lang="en-US" sz="8000" b="1" dirty="0">
                <a:solidFill>
                  <a:srgbClr val="C6A24C"/>
                </a:solidFill>
                <a:latin typeface="Cambria" pitchFamily="34" charset="0"/>
                <a:ea typeface="Cambria" pitchFamily="34" charset="-122"/>
                <a:cs typeface="Cambria" pitchFamily="34" charset="-120"/>
              </a:rPr>
              <a:t>41%</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algn="ctr" indent="0" marL="0">
              <a:buNone/>
            </a:pPr>
            <a:r>
              <a:rPr lang="en-US" sz="2400" dirty="0">
                <a:solidFill>
                  <a:srgbClr val="FFFFFF"/>
                </a:solidFill>
                <a:latin typeface="Calibri" pitchFamily="34" charset="0"/>
                <a:ea typeface="Calibri" pitchFamily="34" charset="-122"/>
                <a:cs typeface="Calibri" pitchFamily="34" charset="-120"/>
              </a:rPr>
              <a:t>of organisations have moved to real-time or near-real-time feedback</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sp>
      <p:pic>
        <p:nvPicPr>
          <p:cNvPr id="7" name="Image 0" descr="preencoded.png">    </p:cNvPr>
          <p:cNvPicPr>
            <a:picLocks noChangeAspect="1"/>
          </p:cNvPicPr>
          <p:nvPr/>
        </p:nvPicPr>
        <p:blipFill>
          <a:blip r:embed="rId1"/>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1  </a:t>
            </a:r>
            <a:pPr indent="0" marL="0">
              <a:buNone/>
            </a:pP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2  </a:t>
            </a:r>
            <a:pPr indent="0" marL="0">
              <a:buNone/>
            </a:pP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sp>
      <p:pic>
        <p:nvPicPr>
          <p:cNvPr id="13" name="Image 2" descr="preencoded.png">    </p:cNvPr>
          <p:cNvPicPr>
            <a:picLocks noChangeAspect="1"/>
          </p:cNvPicPr>
          <p:nvPr/>
        </p:nvPicPr>
        <p:blipFill>
          <a:blip r:embed="rId3"/>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Trend 3  </a:t>
            </a:r>
            <a:pPr indent="0" marL="0">
              <a:buNone/>
            </a:pP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Designing for Enterprise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Define a shared enterprise signal of progress that anchors executive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cumulative progress to judge performance status and its strategic significance.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4.1 · The Collective Progress Signal</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Traction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our activities generating the progress we expected?</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Execution Balance</a:t>
            </a:r>
            <a:endParaRPr lang="en-US" sz="2600" dirty="0"/>
          </a:p>
        </p:txBody>
      </p:sp>
      <p:sp>
        <p:nvSpPr>
          <p:cNvPr id="12" name="Text 8"/>
          <p:cNvSpPr txBox="1"/>
          <p:nvPr/>
        </p:nvSpPr>
        <p:spPr>
          <a:xfrm>
            <a:off x="4565904" y="3159252"/>
            <a:ext cx="3057144" cy="30586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Are resources in the right proportions?</a:t>
            </a:r>
            <a:endParaRPr lang="en-US" sz="2400" dirty="0"/>
          </a:p>
        </p:txBody>
      </p:sp>
      <p:sp>
        <p:nvSpPr>
          <p:cNvPr id="13" name="Shape 9"/>
          <p:cNvSpPr/>
          <p:nvPr/>
        </p:nvSpPr>
        <p:spPr>
          <a:xfrm>
            <a:off x="8125968" y="1508760"/>
            <a:ext cx="3514344" cy="48463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Execution Intervention</a:t>
            </a:r>
            <a:endParaRPr lang="en-US" sz="2600" dirty="0"/>
          </a:p>
        </p:txBody>
      </p:sp>
      <p:sp>
        <p:nvSpPr>
          <p:cNvPr id="17" name="Text 12"/>
          <p:cNvSpPr txBox="1"/>
          <p:nvPr/>
        </p:nvSpPr>
        <p:spPr>
          <a:xfrm>
            <a:off x="8354568" y="3575304"/>
            <a:ext cx="3057144" cy="26426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Where must we intervene?</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4.2 · Three elements of enterprise PM design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Reporting Cadence</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When</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Periodic Measures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What now</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Cumulative Progress</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How far</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Cumulative Progress % = (Baseline − Current) ÷ (Baseline − Target) × 100</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4.3 · The EXECUTION framework</a:t>
            </a:r>
            <a:endParaRPr lang="en-US" sz="3600" dirty="0"/>
          </a:p>
        </p:txBody>
      </p:sp>
      <p:sp>
        <p:nvSpPr>
          <p:cNvPr id="3" name="Shape 1"/>
          <p:cNvSpPr/>
          <p:nvPr/>
        </p:nvSpPr>
        <p:spPr>
          <a:xfrm>
            <a:off x="548640" y="1590294"/>
            <a:ext cx="380492" cy="380492"/>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43763" y="1685417"/>
            <a:ext cx="190246" cy="190246"/>
          </a:xfrm>
          <a:prstGeom prst="rect">
            <a:avLst/>
          </a:prstGeom>
        </p:spPr>
      </p:pic>
      <p:sp>
        <p:nvSpPr>
          <p:cNvPr id="5" name="Text 2"/>
          <p:cNvSpPr txBox="1"/>
          <p:nvPr/>
        </p:nvSpPr>
        <p:spPr>
          <a:xfrm>
            <a:off x="1249172" y="15087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a:t>
            </a:r>
            <a:pPr indent="0" marL="0">
              <a:buNone/>
            </a:pPr>
            <a:r>
              <a:rPr lang="en-US" sz="2400" dirty="0">
                <a:solidFill>
                  <a:srgbClr val="1F2A22"/>
                </a:solidFill>
                <a:latin typeface="Calibri" pitchFamily="34" charset="0"/>
                <a:ea typeface="Calibri" pitchFamily="34" charset="-122"/>
                <a:cs typeface="Calibri" pitchFamily="34" charset="-120"/>
              </a:rPr>
              <a:t>Enterprise: Strategy First</a:t>
            </a:r>
            <a:endParaRPr lang="en-US" sz="2400" dirty="0"/>
          </a:p>
        </p:txBody>
      </p:sp>
      <p:sp>
        <p:nvSpPr>
          <p:cNvPr id="6" name="Shape 3"/>
          <p:cNvSpPr/>
          <p:nvPr/>
        </p:nvSpPr>
        <p:spPr>
          <a:xfrm>
            <a:off x="548640" y="2133854"/>
            <a:ext cx="380492" cy="380492"/>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43763" y="2228977"/>
            <a:ext cx="190246" cy="190246"/>
          </a:xfrm>
          <a:prstGeom prst="rect">
            <a:avLst/>
          </a:prstGeom>
        </p:spPr>
      </p:pic>
      <p:sp>
        <p:nvSpPr>
          <p:cNvPr id="8" name="Text 4"/>
          <p:cNvSpPr txBox="1"/>
          <p:nvPr/>
        </p:nvSpPr>
        <p:spPr>
          <a:xfrm>
            <a:off x="1249172" y="20523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X  </a:t>
            </a:r>
            <a:pPr indent="0" marL="0">
              <a:buNone/>
            </a:pPr>
            <a:r>
              <a:rPr lang="en-US" sz="2400" dirty="0">
                <a:solidFill>
                  <a:srgbClr val="1F2A22"/>
                </a:solidFill>
                <a:latin typeface="Calibri" pitchFamily="34" charset="0"/>
                <a:ea typeface="Calibri" pitchFamily="34" charset="-122"/>
                <a:cs typeface="Calibri" pitchFamily="34" charset="-120"/>
              </a:rPr>
              <a:t>eXecution: Line-of-Sight</a:t>
            </a:r>
            <a:endParaRPr lang="en-US" sz="2400" dirty="0"/>
          </a:p>
        </p:txBody>
      </p:sp>
      <p:sp>
        <p:nvSpPr>
          <p:cNvPr id="9" name="Shape 5"/>
          <p:cNvSpPr/>
          <p:nvPr/>
        </p:nvSpPr>
        <p:spPr>
          <a:xfrm>
            <a:off x="548640" y="2677414"/>
            <a:ext cx="380492" cy="380492"/>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43763" y="2772537"/>
            <a:ext cx="190246" cy="190246"/>
          </a:xfrm>
          <a:prstGeom prst="rect">
            <a:avLst/>
          </a:prstGeom>
        </p:spPr>
      </p:pic>
      <p:sp>
        <p:nvSpPr>
          <p:cNvPr id="11" name="Text 6"/>
          <p:cNvSpPr txBox="1"/>
          <p:nvPr/>
        </p:nvSpPr>
        <p:spPr>
          <a:xfrm>
            <a:off x="1249172" y="25958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a:t>
            </a:r>
            <a:pPr indent="0" marL="0">
              <a:buNone/>
            </a:pPr>
            <a:r>
              <a:rPr lang="en-US" sz="2400" dirty="0">
                <a:solidFill>
                  <a:srgbClr val="1F2A22"/>
                </a:solidFill>
                <a:latin typeface="Calibri" pitchFamily="34" charset="0"/>
                <a:ea typeface="Calibri" pitchFamily="34" charset="-122"/>
                <a:cs typeface="Calibri" pitchFamily="34" charset="-120"/>
              </a:rPr>
              <a:t>Evidence: Evidence-Based Measurement</a:t>
            </a:r>
            <a:endParaRPr lang="en-US" sz="2400" dirty="0"/>
          </a:p>
        </p:txBody>
      </p:sp>
      <p:sp>
        <p:nvSpPr>
          <p:cNvPr id="12" name="Shape 7"/>
          <p:cNvSpPr/>
          <p:nvPr/>
        </p:nvSpPr>
        <p:spPr>
          <a:xfrm>
            <a:off x="548640" y="3220974"/>
            <a:ext cx="380492" cy="380492"/>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43763" y="3316097"/>
            <a:ext cx="190246" cy="190246"/>
          </a:xfrm>
          <a:prstGeom prst="rect">
            <a:avLst/>
          </a:prstGeom>
        </p:spPr>
      </p:pic>
      <p:sp>
        <p:nvSpPr>
          <p:cNvPr id="14" name="Text 8"/>
          <p:cNvSpPr txBox="1"/>
          <p:nvPr/>
        </p:nvSpPr>
        <p:spPr>
          <a:xfrm>
            <a:off x="1249172" y="31394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a:t>
            </a:r>
            <a:pPr indent="0" marL="0">
              <a:buNone/>
            </a:pPr>
            <a:r>
              <a:rPr lang="en-US" sz="2400" dirty="0">
                <a:solidFill>
                  <a:srgbClr val="1F2A22"/>
                </a:solidFill>
                <a:latin typeface="Calibri" pitchFamily="34" charset="0"/>
                <a:ea typeface="Calibri" pitchFamily="34" charset="-122"/>
                <a:cs typeface="Calibri" pitchFamily="34" charset="-120"/>
              </a:rPr>
              <a:t>Collective: Collective Ownership</a:t>
            </a:r>
            <a:endParaRPr lang="en-US" sz="2400" dirty="0"/>
          </a:p>
        </p:txBody>
      </p:sp>
      <p:sp>
        <p:nvSpPr>
          <p:cNvPr id="15" name="Shape 9"/>
          <p:cNvSpPr/>
          <p:nvPr/>
        </p:nvSpPr>
        <p:spPr>
          <a:xfrm>
            <a:off x="548640" y="3764534"/>
            <a:ext cx="380492" cy="380492"/>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43763" y="3859657"/>
            <a:ext cx="190246" cy="190246"/>
          </a:xfrm>
          <a:prstGeom prst="rect">
            <a:avLst/>
          </a:prstGeom>
        </p:spPr>
      </p:pic>
      <p:sp>
        <p:nvSpPr>
          <p:cNvPr id="17" name="Text 10"/>
          <p:cNvSpPr txBox="1"/>
          <p:nvPr/>
        </p:nvSpPr>
        <p:spPr>
          <a:xfrm>
            <a:off x="1249172" y="368300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U  </a:t>
            </a:r>
            <a:pPr indent="0" marL="0">
              <a:buNone/>
            </a:pPr>
            <a:r>
              <a:rPr lang="en-US" sz="2400" dirty="0">
                <a:solidFill>
                  <a:srgbClr val="1F2A22"/>
                </a:solidFill>
                <a:latin typeface="Calibri" pitchFamily="34" charset="0"/>
                <a:ea typeface="Calibri" pitchFamily="34" charset="-122"/>
                <a:cs typeface="Calibri" pitchFamily="34" charset="-120"/>
              </a:rPr>
              <a:t>Understand: Outcomes First</a:t>
            </a:r>
            <a:endParaRPr lang="en-US" sz="2400" dirty="0"/>
          </a:p>
        </p:txBody>
      </p:sp>
      <p:sp>
        <p:nvSpPr>
          <p:cNvPr id="18" name="Shape 11"/>
          <p:cNvSpPr/>
          <p:nvPr/>
        </p:nvSpPr>
        <p:spPr>
          <a:xfrm>
            <a:off x="548640" y="4308094"/>
            <a:ext cx="380492" cy="380492"/>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43763" y="4403217"/>
            <a:ext cx="190246" cy="190246"/>
          </a:xfrm>
          <a:prstGeom prst="rect">
            <a:avLst/>
          </a:prstGeom>
        </p:spPr>
      </p:pic>
      <p:sp>
        <p:nvSpPr>
          <p:cNvPr id="20" name="Text 12"/>
          <p:cNvSpPr txBox="1"/>
          <p:nvPr/>
        </p:nvSpPr>
        <p:spPr>
          <a:xfrm>
            <a:off x="1249172" y="422656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  </a:t>
            </a:r>
            <a:pPr indent="0" marL="0">
              <a:buNone/>
            </a:pPr>
            <a:r>
              <a:rPr lang="en-US" sz="2400" dirty="0">
                <a:solidFill>
                  <a:srgbClr val="1F2A22"/>
                </a:solidFill>
                <a:latin typeface="Calibri" pitchFamily="34" charset="0"/>
                <a:ea typeface="Calibri" pitchFamily="34" charset="-122"/>
                <a:cs typeface="Calibri" pitchFamily="34" charset="-120"/>
              </a:rPr>
              <a:t>Transparent: Measurement Logic</a:t>
            </a:r>
            <a:endParaRPr lang="en-US" sz="2400" dirty="0"/>
          </a:p>
        </p:txBody>
      </p:sp>
      <p:sp>
        <p:nvSpPr>
          <p:cNvPr id="21" name="Shape 13"/>
          <p:cNvSpPr/>
          <p:nvPr/>
        </p:nvSpPr>
        <p:spPr>
          <a:xfrm>
            <a:off x="548640" y="4851654"/>
            <a:ext cx="380492" cy="380492"/>
          </a:xfrm>
          <a:prstGeom prst="ellipse">
            <a:avLst/>
          </a:prstGeom>
          <a:solidFill>
            <a:srgbClr val="1A5C2C"/>
          </a:solidFill>
          <a:ln w="12700">
            <a:solidFill>
              <a:srgbClr val="1A5C2C"/>
            </a:solidFill>
            <a:prstDash val="solid"/>
          </a:ln>
        </p:spPr>
      </p:sp>
      <p:pic>
        <p:nvPicPr>
          <p:cNvPr id="22" name="Image 6" descr="preencoded.png">    </p:cNvPr>
          <p:cNvPicPr>
            <a:picLocks noChangeAspect="1"/>
          </p:cNvPicPr>
          <p:nvPr/>
        </p:nvPicPr>
        <p:blipFill>
          <a:blip r:embed="rId7"/>
          <a:stretch>
            <a:fillRect/>
          </a:stretch>
        </p:blipFill>
        <p:spPr>
          <a:xfrm>
            <a:off x="643763" y="4946777"/>
            <a:ext cx="190246" cy="190246"/>
          </a:xfrm>
          <a:prstGeom prst="rect">
            <a:avLst/>
          </a:prstGeom>
        </p:spPr>
      </p:pic>
      <p:sp>
        <p:nvSpPr>
          <p:cNvPr id="23" name="Text 14"/>
          <p:cNvSpPr txBox="1"/>
          <p:nvPr/>
        </p:nvSpPr>
        <p:spPr>
          <a:xfrm>
            <a:off x="1249172" y="477012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  </a:t>
            </a:r>
            <a:pPr indent="0" marL="0">
              <a:buNone/>
            </a:pPr>
            <a:r>
              <a:rPr lang="en-US" sz="2400" dirty="0">
                <a:solidFill>
                  <a:srgbClr val="1F2A22"/>
                </a:solidFill>
                <a:latin typeface="Calibri" pitchFamily="34" charset="0"/>
                <a:ea typeface="Calibri" pitchFamily="34" charset="-122"/>
                <a:cs typeface="Calibri" pitchFamily="34" charset="-120"/>
              </a:rPr>
              <a:t>Incentive: Incentive Alignment</a:t>
            </a:r>
            <a:endParaRPr lang="en-US" sz="2400" dirty="0"/>
          </a:p>
        </p:txBody>
      </p:sp>
      <p:sp>
        <p:nvSpPr>
          <p:cNvPr id="24" name="Shape 15"/>
          <p:cNvSpPr/>
          <p:nvPr/>
        </p:nvSpPr>
        <p:spPr>
          <a:xfrm>
            <a:off x="548640" y="5395214"/>
            <a:ext cx="380492" cy="380492"/>
          </a:xfrm>
          <a:prstGeom prst="ellipse">
            <a:avLst/>
          </a:prstGeom>
          <a:solidFill>
            <a:srgbClr val="1A5C2C"/>
          </a:solidFill>
          <a:ln w="12700">
            <a:solidFill>
              <a:srgbClr val="1A5C2C"/>
            </a:solidFill>
            <a:prstDash val="solid"/>
          </a:ln>
        </p:spPr>
      </p:sp>
      <p:pic>
        <p:nvPicPr>
          <p:cNvPr id="25" name="Image 7" descr="preencoded.png">    </p:cNvPr>
          <p:cNvPicPr>
            <a:picLocks noChangeAspect="1"/>
          </p:cNvPicPr>
          <p:nvPr/>
        </p:nvPicPr>
        <p:blipFill>
          <a:blip r:embed="rId8"/>
          <a:stretch>
            <a:fillRect/>
          </a:stretch>
        </p:blipFill>
        <p:spPr>
          <a:xfrm>
            <a:off x="643763" y="5490337"/>
            <a:ext cx="190246" cy="190246"/>
          </a:xfrm>
          <a:prstGeom prst="rect">
            <a:avLst/>
          </a:prstGeom>
        </p:spPr>
      </p:pic>
      <p:sp>
        <p:nvSpPr>
          <p:cNvPr id="26" name="Text 16"/>
          <p:cNvSpPr txBox="1"/>
          <p:nvPr/>
        </p:nvSpPr>
        <p:spPr>
          <a:xfrm>
            <a:off x="1249172" y="531368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O  </a:t>
            </a:r>
            <a:pPr indent="0" marL="0">
              <a:buNone/>
            </a:pPr>
            <a:r>
              <a:rPr lang="en-US" sz="2400" dirty="0">
                <a:solidFill>
                  <a:srgbClr val="1F2A22"/>
                </a:solidFill>
                <a:latin typeface="Calibri" pitchFamily="34" charset="0"/>
                <a:ea typeface="Calibri" pitchFamily="34" charset="-122"/>
                <a:cs typeface="Calibri" pitchFamily="34" charset="-120"/>
              </a:rPr>
              <a:t>Ongoing: Review Rhythm</a:t>
            </a:r>
            <a:endParaRPr lang="en-US" sz="2400" dirty="0"/>
          </a:p>
        </p:txBody>
      </p:sp>
      <p:sp>
        <p:nvSpPr>
          <p:cNvPr id="27" name="Shape 17"/>
          <p:cNvSpPr/>
          <p:nvPr/>
        </p:nvSpPr>
        <p:spPr>
          <a:xfrm>
            <a:off x="548640" y="5938774"/>
            <a:ext cx="380492" cy="380492"/>
          </a:xfrm>
          <a:prstGeom prst="ellipse">
            <a:avLst/>
          </a:prstGeom>
          <a:solidFill>
            <a:srgbClr val="1A5C2C"/>
          </a:solidFill>
          <a:ln w="12700">
            <a:solidFill>
              <a:srgbClr val="1A5C2C"/>
            </a:solidFill>
            <a:prstDash val="solid"/>
          </a:ln>
        </p:spPr>
      </p:sp>
      <p:pic>
        <p:nvPicPr>
          <p:cNvPr id="28" name="Image 8" descr="preencoded.png">    </p:cNvPr>
          <p:cNvPicPr>
            <a:picLocks noChangeAspect="1"/>
          </p:cNvPicPr>
          <p:nvPr/>
        </p:nvPicPr>
        <p:blipFill>
          <a:blip r:embed="rId9"/>
          <a:stretch>
            <a:fillRect/>
          </a:stretch>
        </p:blipFill>
        <p:spPr>
          <a:xfrm>
            <a:off x="643763" y="6033897"/>
            <a:ext cx="190246" cy="190246"/>
          </a:xfrm>
          <a:prstGeom prst="rect">
            <a:avLst/>
          </a:prstGeom>
        </p:spPr>
      </p:pic>
      <p:sp>
        <p:nvSpPr>
          <p:cNvPr id="29" name="Text 18"/>
          <p:cNvSpPr txBox="1"/>
          <p:nvPr/>
        </p:nvSpPr>
        <p:spPr>
          <a:xfrm>
            <a:off x="1249172" y="5857240"/>
            <a:ext cx="10391140" cy="54356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N  </a:t>
            </a:r>
            <a:pPr indent="0" marL="0">
              <a:buNone/>
            </a:pPr>
            <a:r>
              <a:rPr lang="en-US" sz="2400" dirty="0">
                <a:solidFill>
                  <a:srgbClr val="1F2A22"/>
                </a:solidFill>
                <a:latin typeface="Calibri" pitchFamily="34" charset="0"/>
                <a:ea typeface="Calibri" pitchFamily="34" charset="-122"/>
                <a:cs typeface="Calibri" pitchFamily="34" charset="-120"/>
              </a:rPr>
              <a:t>Navigate: Collective Insight</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MyHealth Live Portal — PM Design Simulation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Design performance arrangements that link enterprise outcomes, leadership accountability and performance evidence.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progress data to strengthen accountability, decision quality and responsiveness.</a:t>
            </a:r>
            <a:endParaRPr lang="en-US" sz="2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Case: MyHealth Live Portal</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Complaint resolution: 48 hrs → 12 hrs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Referral decision: 10 days → 3 days</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Cross-facility collaboration: 30% → 70%</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A hospital chain: 12 facilities, three regions, an 18-month priority.</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six design tasks</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1  </a:t>
            </a:r>
            <a:pPr indent="0" marL="0">
              <a:buNone/>
            </a:pPr>
            <a:r>
              <a:rPr lang="en-US" sz="2400" dirty="0">
                <a:solidFill>
                  <a:srgbClr val="1F2A22"/>
                </a:solidFill>
                <a:latin typeface="Calibri" pitchFamily="34" charset="0"/>
                <a:ea typeface="Calibri" pitchFamily="34" charset="-122"/>
                <a:cs typeface="Calibri" pitchFamily="34" charset="-120"/>
              </a:rPr>
              <a:t>PM Scorecard Architecture (for the COO)</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2  </a:t>
            </a:r>
            <a:pPr indent="0" marL="0">
              <a:buNone/>
            </a:pPr>
            <a:r>
              <a:rPr lang="en-US" sz="2400" dirty="0">
                <a:solidFill>
                  <a:srgbClr val="1F2A22"/>
                </a:solidFill>
                <a:latin typeface="Calibri" pitchFamily="34" charset="0"/>
                <a:ea typeface="Calibri" pitchFamily="34" charset="-122"/>
                <a:cs typeface="Calibri" pitchFamily="34" charset="-120"/>
              </a:rPr>
              <a:t>Scoring Logic Design (Outcome 1)</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3  </a:t>
            </a:r>
            <a:pPr indent="0" marL="0">
              <a:buNone/>
            </a:pPr>
            <a:r>
              <a:rPr lang="en-US" sz="2400" dirty="0">
                <a:solidFill>
                  <a:srgbClr val="1F2A22"/>
                </a:solidFill>
                <a:latin typeface="Calibri" pitchFamily="34" charset="0"/>
                <a:ea typeface="Calibri" pitchFamily="34" charset="-122"/>
                <a:cs typeface="Calibri" pitchFamily="34" charset="-120"/>
              </a:rPr>
              <a:t>Baseline Simulation</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4  </a:t>
            </a:r>
            <a:pPr indent="0" marL="0">
              <a:buNone/>
            </a:pPr>
            <a:r>
              <a:rPr lang="en-US" sz="2400" dirty="0">
                <a:solidFill>
                  <a:srgbClr val="1F2A22"/>
                </a:solidFill>
                <a:latin typeface="Calibri" pitchFamily="34" charset="0"/>
                <a:ea typeface="Calibri" pitchFamily="34" charset="-122"/>
                <a:cs typeface="Calibri" pitchFamily="34" charset="-120"/>
              </a:rPr>
              <a:t>Reporting Cadence Design</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5  </a:t>
            </a:r>
            <a:pPr indent="0" marL="0">
              <a:buNone/>
            </a:pPr>
            <a:r>
              <a:rPr lang="en-US" sz="2400" dirty="0">
                <a:solidFill>
                  <a:srgbClr val="1F2A22"/>
                </a:solidFill>
                <a:latin typeface="Calibri" pitchFamily="34" charset="0"/>
                <a:ea typeface="Calibri" pitchFamily="34" charset="-122"/>
                <a:cs typeface="Calibri" pitchFamily="34" charset="-120"/>
              </a:rPr>
              <a:t>Periodic Measures Selection</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sp>
      <p:pic>
        <p:nvPicPr>
          <p:cNvPr id="19" name="Image 5" descr="preencoded.png">    </p:cNvPr>
          <p:cNvPicPr>
            <a:picLocks noChangeAspect="1"/>
          </p:cNvPicPr>
          <p:nvPr/>
        </p:nvPicPr>
        <p:blipFill>
          <a:blip r:embed="rId6"/>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Task 6  </a:t>
            </a:r>
            <a:pPr indent="0" marL="0">
              <a:buNone/>
            </a:pPr>
            <a:r>
              <a:rPr lang="en-US" sz="2400" dirty="0">
                <a:solidFill>
                  <a:srgbClr val="1F2A22"/>
                </a:solidFill>
                <a:latin typeface="Calibri" pitchFamily="34" charset="0"/>
                <a:ea typeface="Calibri" pitchFamily="34" charset="-122"/>
                <a:cs typeface="Calibri" pitchFamily="34" charset="-120"/>
              </a:rPr>
              <a:t>Reporting Tool Design</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Task 3 · Baseline simulation at month 6 of 18</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1</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40 hrs · baseline 48 · target 12</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2</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8 days · baseline 10 · target 3</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Outcome 3</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Current 42% · baseline 30% · target 70%</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Expected progress at month 6 of an 18-month cycle = 33%.</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Name one design change you will make to your current PM system within the next 30 days.</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Which FACES function, which EXECUTION principle, which of the Three Sights — and what, specifically, will change?</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Institute of Behavioural Strategy &amp; Leadership</cp:lastModifiedBy>
  <cp:revision>1</cp:revision>
  <dcterms:created xsi:type="dcterms:W3CDTF">2026-09-29T13:20:29Z</dcterms:created>
  <dcterms:modified xsi:type="dcterms:W3CDTF">2026-09-29T13:20:29Z</dcterms:modified>
</cp:coreProperties>
</file>